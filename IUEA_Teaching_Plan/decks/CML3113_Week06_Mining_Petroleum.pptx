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4ebce2c40e4c5d" /><Relationship Type="http://schemas.openxmlformats.org/officeDocument/2006/relationships/extended-properties" Target="/docProps/app.xml" Id="Rb2b4ba682e42428b" /><Relationship Type="http://schemas.openxmlformats.org/officeDocument/2006/relationships/officeDocument" Target="/ppt/presentation.xml" Id="R2f8e38bc58324293" /></Relationships>
</file>

<file path=ppt/presentation.xml><?xml version="1.0" encoding="utf-8"?>
<p:presentation xmlns:p="http://schemas.openxmlformats.org/presentationml/2006/main">
  <p:sldMasterIdLst>
    <p:sldMasterId xmlns:r="http://schemas.openxmlformats.org/officeDocument/2006/relationships" id="2147483648" r:id="Rd25124871c3143fa"/>
  </p:sldMasterIdLst>
  <p:notesMasterIdLst>
    <p:notesMasterId xmlns:r="http://schemas.openxmlformats.org/officeDocument/2006/relationships" r:id="R0dddd55a4a054675"/>
  </p:notesMasterIdLst>
  <p:sldIdLst>
    <p:sldId xmlns:r="http://schemas.openxmlformats.org/officeDocument/2006/relationships" id="256" r:id="R08a51583f7594c12"/>
    <p:sldId xmlns:r="http://schemas.openxmlformats.org/officeDocument/2006/relationships" id="257" r:id="Rd4327c56d2eb4edb"/>
    <p:sldId xmlns:r="http://schemas.openxmlformats.org/officeDocument/2006/relationships" id="258" r:id="R6a42abc4bb5d4f3a"/>
    <p:sldId xmlns:r="http://schemas.openxmlformats.org/officeDocument/2006/relationships" id="259" r:id="R8ff877ba659744c7"/>
    <p:sldId xmlns:r="http://schemas.openxmlformats.org/officeDocument/2006/relationships" id="260" r:id="Redc8f696961541c9"/>
    <p:sldId xmlns:r="http://schemas.openxmlformats.org/officeDocument/2006/relationships" id="261" r:id="R5a16f6d8f2cd4517"/>
    <p:sldId xmlns:r="http://schemas.openxmlformats.org/officeDocument/2006/relationships" id="262" r:id="R5f47254df1534113"/>
    <p:sldId xmlns:r="http://schemas.openxmlformats.org/officeDocument/2006/relationships" id="263" r:id="Rc75ee30358324970"/>
    <p:sldId xmlns:r="http://schemas.openxmlformats.org/officeDocument/2006/relationships" id="264" r:id="R420cff1fb9ec4616"/>
    <p:sldId xmlns:r="http://schemas.openxmlformats.org/officeDocument/2006/relationships" id="265" r:id="Rc0f54c0b17554a2a"/>
    <p:sldId xmlns:r="http://schemas.openxmlformats.org/officeDocument/2006/relationships" id="266" r:id="R2b438bb8829c49ab"/>
    <p:sldId xmlns:r="http://schemas.openxmlformats.org/officeDocument/2006/relationships" id="267" r:id="R7ae19595beee4242"/>
    <p:sldId xmlns:r="http://schemas.openxmlformats.org/officeDocument/2006/relationships" id="268" r:id="R2b1cdb68a5494c1b"/>
    <p:sldId xmlns:r="http://schemas.openxmlformats.org/officeDocument/2006/relationships" id="269" r:id="R810501adfc8b47fa"/>
    <p:sldId xmlns:r="http://schemas.openxmlformats.org/officeDocument/2006/relationships" id="270" r:id="R45c4ba56d6ff48c9"/>
    <p:sldId xmlns:r="http://schemas.openxmlformats.org/officeDocument/2006/relationships" id="271" r:id="R7b39f3aaa5324c85"/>
    <p:sldId xmlns:r="http://schemas.openxmlformats.org/officeDocument/2006/relationships" id="272" r:id="Rec375f50b714475d"/>
    <p:sldId xmlns:r="http://schemas.openxmlformats.org/officeDocument/2006/relationships" id="273" r:id="R36ca30bd69c64686"/>
    <p:sldId xmlns:r="http://schemas.openxmlformats.org/officeDocument/2006/relationships" id="274" r:id="R21c1444731db4343"/>
    <p:sldId xmlns:r="http://schemas.openxmlformats.org/officeDocument/2006/relationships" id="275" r:id="R1bc8fd9f9fb3409a"/>
    <p:sldId xmlns:r="http://schemas.openxmlformats.org/officeDocument/2006/relationships" id="276" r:id="Rd4c1951e9a204187"/>
    <p:sldId xmlns:r="http://schemas.openxmlformats.org/officeDocument/2006/relationships" id="277" r:id="R8d26987afae0402b"/>
    <p:sldId xmlns:r="http://schemas.openxmlformats.org/officeDocument/2006/relationships" id="278" r:id="Ra0899a8f69284552"/>
    <p:sldId xmlns:r="http://schemas.openxmlformats.org/officeDocument/2006/relationships" id="279" r:id="Receff70ff81446a2"/>
    <p:sldId xmlns:r="http://schemas.openxmlformats.org/officeDocument/2006/relationships" id="280" r:id="Re4553473a6a0454c"/>
    <p:sldId xmlns:r="http://schemas.openxmlformats.org/officeDocument/2006/relationships" id="281" r:id="Rf6ba0b4099df4563"/>
    <p:sldId xmlns:r="http://schemas.openxmlformats.org/officeDocument/2006/relationships" id="282" r:id="Re2fc7e591f274f47"/>
    <p:sldId xmlns:r="http://schemas.openxmlformats.org/officeDocument/2006/relationships" id="283" r:id="R77c2c01f8bdf43ce"/>
    <p:sldId xmlns:r="http://schemas.openxmlformats.org/officeDocument/2006/relationships" id="284" r:id="Rce763e4d47fd4c8b"/>
    <p:sldId xmlns:r="http://schemas.openxmlformats.org/officeDocument/2006/relationships" id="285" r:id="Rb5aea0bcc13547e0"/>
    <p:sldId xmlns:r="http://schemas.openxmlformats.org/officeDocument/2006/relationships" id="286" r:id="Ref7134e8875f49c7"/>
    <p:sldId xmlns:r="http://schemas.openxmlformats.org/officeDocument/2006/relationships" id="287" r:id="Rcc9481c08fcf4bcd"/>
    <p:sldId xmlns:r="http://schemas.openxmlformats.org/officeDocument/2006/relationships" id="288" r:id="R5f03d551159b424d"/>
    <p:sldId xmlns:r="http://schemas.openxmlformats.org/officeDocument/2006/relationships" id="289" r:id="Rdd4caa5179ee47bf"/>
    <p:sldId xmlns:r="http://schemas.openxmlformats.org/officeDocument/2006/relationships" id="290" r:id="R1cfdbebe604241c9"/>
    <p:sldId xmlns:r="http://schemas.openxmlformats.org/officeDocument/2006/relationships" id="291" r:id="R346211a9858d4fb7"/>
    <p:sldId xmlns:r="http://schemas.openxmlformats.org/officeDocument/2006/relationships" id="292" r:id="R6121b46fb54d45c7"/>
    <p:sldId xmlns:r="http://schemas.openxmlformats.org/officeDocument/2006/relationships" id="293" r:id="Rc03543e6adc64bad"/>
    <p:sldId xmlns:r="http://schemas.openxmlformats.org/officeDocument/2006/relationships" id="294" r:id="R9adb4fca743741ca"/>
    <p:sldId xmlns:r="http://schemas.openxmlformats.org/officeDocument/2006/relationships" id="295" r:id="R6e528a3631e349f5"/>
    <p:sldId xmlns:r="http://schemas.openxmlformats.org/officeDocument/2006/relationships" id="296" r:id="Rd7b2168bc9de46c0"/>
    <p:sldId xmlns:r="http://schemas.openxmlformats.org/officeDocument/2006/relationships" id="297" r:id="R4d69752abd0a45ea"/>
    <p:sldId xmlns:r="http://schemas.openxmlformats.org/officeDocument/2006/relationships" id="298" r:id="Ra1a33405fd1a4124"/>
    <p:sldId xmlns:r="http://schemas.openxmlformats.org/officeDocument/2006/relationships" id="299" r:id="Rd685b5ee53ff4139"/>
    <p:sldId xmlns:r="http://schemas.openxmlformats.org/officeDocument/2006/relationships" id="300" r:id="R727e00b2f0264638"/>
    <p:sldId xmlns:r="http://schemas.openxmlformats.org/officeDocument/2006/relationships" id="301" r:id="Rad9f596566974b64"/>
    <p:sldId xmlns:r="http://schemas.openxmlformats.org/officeDocument/2006/relationships" id="302" r:id="R36f5cf5ca2f44469"/>
    <p:sldId xmlns:r="http://schemas.openxmlformats.org/officeDocument/2006/relationships" id="303" r:id="Rc5703903b6e34e6d"/>
    <p:sldId xmlns:r="http://schemas.openxmlformats.org/officeDocument/2006/relationships" id="304" r:id="R909e4a008e7544cd"/>
    <p:sldId xmlns:r="http://schemas.openxmlformats.org/officeDocument/2006/relationships" id="305" r:id="R356c5965494c4667"/>
    <p:sldId xmlns:r="http://schemas.openxmlformats.org/officeDocument/2006/relationships" id="306" r:id="R970f4664bec744c9"/>
    <p:sldId xmlns:r="http://schemas.openxmlformats.org/officeDocument/2006/relationships" id="307" r:id="Rf7d3976f92c345a8"/>
    <p:sldId xmlns:r="http://schemas.openxmlformats.org/officeDocument/2006/relationships" id="308" r:id="R47f227896d824899"/>
    <p:sldId xmlns:r="http://schemas.openxmlformats.org/officeDocument/2006/relationships" id="309" r:id="Re6b9a2748a7940c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4f5e3a5d174474" /><Relationship Type="http://schemas.openxmlformats.org/officeDocument/2006/relationships/slideMaster" Target="/ppt/slideMasters/slideMaster1.xml" Id="Rd25124871c3143fa" /><Relationship Type="http://schemas.openxmlformats.org/officeDocument/2006/relationships/notesMaster" Target="/ppt/notesMasters/notesMaster1.xml" Id="R0dddd55a4a054675" /><Relationship Type="http://schemas.openxmlformats.org/officeDocument/2006/relationships/presProps" Target="/ppt/presProps.xml" Id="R514ee224780c4c95" /><Relationship Type="http://schemas.openxmlformats.org/officeDocument/2006/relationships/tableStyles" Target="/ppt/tableStyles.xml" Id="R049ce3d254e74ce7" /><Relationship Type="http://schemas.openxmlformats.org/officeDocument/2006/relationships/slide" Target="/ppt/slides/slide1.xml" Id="R08a51583f7594c12" /><Relationship Type="http://schemas.openxmlformats.org/officeDocument/2006/relationships/slide" Target="/ppt/slides/slide2.xml" Id="Rd4327c56d2eb4edb" /><Relationship Type="http://schemas.openxmlformats.org/officeDocument/2006/relationships/slide" Target="/ppt/slides/slide3.xml" Id="R6a42abc4bb5d4f3a" /><Relationship Type="http://schemas.openxmlformats.org/officeDocument/2006/relationships/slide" Target="/ppt/slides/slide4.xml" Id="R8ff877ba659744c7" /><Relationship Type="http://schemas.openxmlformats.org/officeDocument/2006/relationships/slide" Target="/ppt/slides/slide5.xml" Id="Redc8f696961541c9" /><Relationship Type="http://schemas.openxmlformats.org/officeDocument/2006/relationships/slide" Target="/ppt/slides/slide6.xml" Id="R5a16f6d8f2cd4517" /><Relationship Type="http://schemas.openxmlformats.org/officeDocument/2006/relationships/slide" Target="/ppt/slides/slide7.xml" Id="R5f47254df1534113" /><Relationship Type="http://schemas.openxmlformats.org/officeDocument/2006/relationships/slide" Target="/ppt/slides/slide8.xml" Id="Rc75ee30358324970" /><Relationship Type="http://schemas.openxmlformats.org/officeDocument/2006/relationships/slide" Target="/ppt/slides/slide9.xml" Id="R420cff1fb9ec4616" /><Relationship Type="http://schemas.openxmlformats.org/officeDocument/2006/relationships/slide" Target="/ppt/slides/slide10.xml" Id="Rc0f54c0b17554a2a" /><Relationship Type="http://schemas.openxmlformats.org/officeDocument/2006/relationships/slide" Target="/ppt/slides/slide11.xml" Id="R2b438bb8829c49ab" /><Relationship Type="http://schemas.openxmlformats.org/officeDocument/2006/relationships/slide" Target="/ppt/slides/slide12.xml" Id="R7ae19595beee4242" /><Relationship Type="http://schemas.openxmlformats.org/officeDocument/2006/relationships/slide" Target="/ppt/slides/slide13.xml" Id="R2b1cdb68a5494c1b" /><Relationship Type="http://schemas.openxmlformats.org/officeDocument/2006/relationships/slide" Target="/ppt/slides/slide14.xml" Id="R810501adfc8b47fa" /><Relationship Type="http://schemas.openxmlformats.org/officeDocument/2006/relationships/slide" Target="/ppt/slides/slide15.xml" Id="R45c4ba56d6ff48c9" /><Relationship Type="http://schemas.openxmlformats.org/officeDocument/2006/relationships/slide" Target="/ppt/slides/slide16.xml" Id="R7b39f3aaa5324c85" /><Relationship Type="http://schemas.openxmlformats.org/officeDocument/2006/relationships/slide" Target="/ppt/slides/slide17.xml" Id="Rec375f50b714475d" /><Relationship Type="http://schemas.openxmlformats.org/officeDocument/2006/relationships/slide" Target="/ppt/slides/slide18.xml" Id="R36ca30bd69c64686" /><Relationship Type="http://schemas.openxmlformats.org/officeDocument/2006/relationships/slide" Target="/ppt/slides/slide19.xml" Id="R21c1444731db4343" /><Relationship Type="http://schemas.openxmlformats.org/officeDocument/2006/relationships/slide" Target="/ppt/slides/slide20.xml" Id="R1bc8fd9f9fb3409a" /><Relationship Type="http://schemas.openxmlformats.org/officeDocument/2006/relationships/slide" Target="/ppt/slides/slide21.xml" Id="Rd4c1951e9a204187" /><Relationship Type="http://schemas.openxmlformats.org/officeDocument/2006/relationships/slide" Target="/ppt/slides/slide22.xml" Id="R8d26987afae0402b" /><Relationship Type="http://schemas.openxmlformats.org/officeDocument/2006/relationships/slide" Target="/ppt/slides/slide23.xml" Id="Ra0899a8f69284552" /><Relationship Type="http://schemas.openxmlformats.org/officeDocument/2006/relationships/slide" Target="/ppt/slides/slide24.xml" Id="Receff70ff81446a2" /><Relationship Type="http://schemas.openxmlformats.org/officeDocument/2006/relationships/slide" Target="/ppt/slides/slide25.xml" Id="Re4553473a6a0454c" /><Relationship Type="http://schemas.openxmlformats.org/officeDocument/2006/relationships/slide" Target="/ppt/slides/slide26.xml" Id="Rf6ba0b4099df4563" /><Relationship Type="http://schemas.openxmlformats.org/officeDocument/2006/relationships/slide" Target="/ppt/slides/slide27.xml" Id="Re2fc7e591f274f47" /><Relationship Type="http://schemas.openxmlformats.org/officeDocument/2006/relationships/slide" Target="/ppt/slides/slide28.xml" Id="R77c2c01f8bdf43ce" /><Relationship Type="http://schemas.openxmlformats.org/officeDocument/2006/relationships/slide" Target="/ppt/slides/slide29.xml" Id="Rce763e4d47fd4c8b" /><Relationship Type="http://schemas.openxmlformats.org/officeDocument/2006/relationships/slide" Target="/ppt/slides/slide30.xml" Id="Rb5aea0bcc13547e0" /><Relationship Type="http://schemas.openxmlformats.org/officeDocument/2006/relationships/slide" Target="/ppt/slides/slide31.xml" Id="Ref7134e8875f49c7" /><Relationship Type="http://schemas.openxmlformats.org/officeDocument/2006/relationships/slide" Target="/ppt/slides/slide32.xml" Id="Rcc9481c08fcf4bcd" /><Relationship Type="http://schemas.openxmlformats.org/officeDocument/2006/relationships/slide" Target="/ppt/slides/slide33.xml" Id="R5f03d551159b424d" /><Relationship Type="http://schemas.openxmlformats.org/officeDocument/2006/relationships/slide" Target="/ppt/slides/slide34.xml" Id="Rdd4caa5179ee47bf" /><Relationship Type="http://schemas.openxmlformats.org/officeDocument/2006/relationships/slide" Target="/ppt/slides/slide35.xml" Id="R1cfdbebe604241c9" /><Relationship Type="http://schemas.openxmlformats.org/officeDocument/2006/relationships/slide" Target="/ppt/slides/slide36.xml" Id="R346211a9858d4fb7" /><Relationship Type="http://schemas.openxmlformats.org/officeDocument/2006/relationships/slide" Target="/ppt/slides/slide37.xml" Id="R6121b46fb54d45c7" /><Relationship Type="http://schemas.openxmlformats.org/officeDocument/2006/relationships/slide" Target="/ppt/slides/slide38.xml" Id="Rc03543e6adc64bad" /><Relationship Type="http://schemas.openxmlformats.org/officeDocument/2006/relationships/slide" Target="/ppt/slides/slide39.xml" Id="R9adb4fca743741ca" /><Relationship Type="http://schemas.openxmlformats.org/officeDocument/2006/relationships/slide" Target="/ppt/slides/slide40.xml" Id="R6e528a3631e349f5" /><Relationship Type="http://schemas.openxmlformats.org/officeDocument/2006/relationships/slide" Target="/ppt/slides/slide41.xml" Id="Rd7b2168bc9de46c0" /><Relationship Type="http://schemas.openxmlformats.org/officeDocument/2006/relationships/slide" Target="/ppt/slides/slide42.xml" Id="R4d69752abd0a45ea" /><Relationship Type="http://schemas.openxmlformats.org/officeDocument/2006/relationships/slide" Target="/ppt/slides/slide43.xml" Id="Ra1a33405fd1a4124" /><Relationship Type="http://schemas.openxmlformats.org/officeDocument/2006/relationships/slide" Target="/ppt/slides/slide44.xml" Id="Rd685b5ee53ff4139" /><Relationship Type="http://schemas.openxmlformats.org/officeDocument/2006/relationships/slide" Target="/ppt/slides/slide45.xml" Id="R727e00b2f0264638" /><Relationship Type="http://schemas.openxmlformats.org/officeDocument/2006/relationships/slide" Target="/ppt/slides/slide46.xml" Id="Rad9f596566974b64" /><Relationship Type="http://schemas.openxmlformats.org/officeDocument/2006/relationships/slide" Target="/ppt/slides/slide47.xml" Id="R36f5cf5ca2f44469" /><Relationship Type="http://schemas.openxmlformats.org/officeDocument/2006/relationships/slide" Target="/ppt/slides/slide48.xml" Id="Rc5703903b6e34e6d" /><Relationship Type="http://schemas.openxmlformats.org/officeDocument/2006/relationships/slide" Target="/ppt/slides/slide49.xml" Id="R909e4a008e7544cd" /><Relationship Type="http://schemas.openxmlformats.org/officeDocument/2006/relationships/slide" Target="/ppt/slides/slide50.xml" Id="R356c5965494c4667" /><Relationship Type="http://schemas.openxmlformats.org/officeDocument/2006/relationships/slide" Target="/ppt/slides/slide51.xml" Id="R970f4664bec744c9" /><Relationship Type="http://schemas.openxmlformats.org/officeDocument/2006/relationships/slide" Target="/ppt/slides/slide52.xml" Id="Rf7d3976f92c345a8" /><Relationship Type="http://schemas.openxmlformats.org/officeDocument/2006/relationships/slide" Target="/ppt/slides/slide53.xml" Id="R47f227896d824899" /><Relationship Type="http://schemas.openxmlformats.org/officeDocument/2006/relationships/slide" Target="/ppt/slides/slide54.xml" Id="Re6b9a2748a7940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585a4e04b84e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cba24795744613" /><Relationship Type="http://schemas.openxmlformats.org/officeDocument/2006/relationships/notesMaster" Target="/ppt/notesMasters/notesMaster1.xml" Id="R42a02eb07dae47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a98da0308e4e3a" /><Relationship Type="http://schemas.openxmlformats.org/officeDocument/2006/relationships/notesMaster" Target="/ppt/notesMasters/notesMaster1.xml" Id="R928c97bef24e4b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854905120554795" /><Relationship Type="http://schemas.openxmlformats.org/officeDocument/2006/relationships/notesMaster" Target="/ppt/notesMasters/notesMaster1.xml" Id="R8160b1d12f1147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a3e338735a441b" /><Relationship Type="http://schemas.openxmlformats.org/officeDocument/2006/relationships/notesMaster" Target="/ppt/notesMasters/notesMaster1.xml" Id="Rade140e7ae124a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8e4c0910834982" /><Relationship Type="http://schemas.openxmlformats.org/officeDocument/2006/relationships/notesMaster" Target="/ppt/notesMasters/notesMaster1.xml" Id="R8fa928b1d43445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5b50673774f0457e" /><Relationship Type="http://schemas.openxmlformats.org/officeDocument/2006/relationships/notesMaster" Target="/ppt/notesMasters/notesMaster1.xml" Id="R25d41788a6624e5a"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15db29a69945e0" /><Relationship Type="http://schemas.openxmlformats.org/officeDocument/2006/relationships/notesMaster" Target="/ppt/notesMasters/notesMaster1.xml" Id="R100d8494a8674fd3"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385118d4164c96" /><Relationship Type="http://schemas.openxmlformats.org/officeDocument/2006/relationships/notesMaster" Target="/ppt/notesMasters/notesMaster1.xml" Id="R5a9aaf424bd44bf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0673ffc5f94257" /><Relationship Type="http://schemas.openxmlformats.org/officeDocument/2006/relationships/notesMaster" Target="/ppt/notesMasters/notesMaster1.xml" Id="Rdf07d69453f74cb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8d562bc68c44bc2" /><Relationship Type="http://schemas.openxmlformats.org/officeDocument/2006/relationships/notesMaster" Target="/ppt/notesMasters/notesMaster1.xml" Id="Rf3489c65599d4e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edb504671344835" /><Relationship Type="http://schemas.openxmlformats.org/officeDocument/2006/relationships/notesMaster" Target="/ppt/notesMasters/notesMaster1.xml" Id="R0cff1c879e484d6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f7291629931486f" /><Relationship Type="http://schemas.openxmlformats.org/officeDocument/2006/relationships/notesMaster" Target="/ppt/notesMasters/notesMaster1.xml" Id="R020cfc9043b04a1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a1862362b2c46a9" /><Relationship Type="http://schemas.openxmlformats.org/officeDocument/2006/relationships/notesMaster" Target="/ppt/notesMasters/notesMaster1.xml" Id="Rb62a8333a20d48d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19bd133a3bd4fb8" /><Relationship Type="http://schemas.openxmlformats.org/officeDocument/2006/relationships/notesMaster" Target="/ppt/notesMasters/notesMaster1.xml" Id="Rbf080927c3e546e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c3b6c9681e843d8" /><Relationship Type="http://schemas.openxmlformats.org/officeDocument/2006/relationships/notesMaster" Target="/ppt/notesMasters/notesMaster1.xml" Id="R33654b7417164a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c4e3c917e4448c" /><Relationship Type="http://schemas.openxmlformats.org/officeDocument/2006/relationships/notesMaster" Target="/ppt/notesMasters/notesMaster1.xml" Id="Rd197350cb8c74e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2f9d95a6d2144a3" /><Relationship Type="http://schemas.openxmlformats.org/officeDocument/2006/relationships/notesMaster" Target="/ppt/notesMasters/notesMaster1.xml" Id="R1bd0c713100b489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82deea935c14ae0" /><Relationship Type="http://schemas.openxmlformats.org/officeDocument/2006/relationships/notesMaster" Target="/ppt/notesMasters/notesMaster1.xml" Id="R2a6ea57a565f473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cbcd5dc6a3d4a9c" /><Relationship Type="http://schemas.openxmlformats.org/officeDocument/2006/relationships/notesMaster" Target="/ppt/notesMasters/notesMaster1.xml" Id="R0278d6de2c5a4ef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5e65ab1adaa4e4d" /><Relationship Type="http://schemas.openxmlformats.org/officeDocument/2006/relationships/notesMaster" Target="/ppt/notesMasters/notesMaster1.xml" Id="R7ee471b75dd44cc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50ea19707224e7c" /><Relationship Type="http://schemas.openxmlformats.org/officeDocument/2006/relationships/notesMaster" Target="/ppt/notesMasters/notesMaster1.xml" Id="R462ca3d4b2994bd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bf48cde4b8442d3" /><Relationship Type="http://schemas.openxmlformats.org/officeDocument/2006/relationships/notesMaster" Target="/ppt/notesMasters/notesMaster1.xml" Id="R3f12439b08a0490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ef44b3ab65a4ecf" /><Relationship Type="http://schemas.openxmlformats.org/officeDocument/2006/relationships/notesMaster" Target="/ppt/notesMasters/notesMaster1.xml" Id="R3151bf6f3dd2469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775c58d5f5748f1" /><Relationship Type="http://schemas.openxmlformats.org/officeDocument/2006/relationships/notesMaster" Target="/ppt/notesMasters/notesMaster1.xml" Id="R215cca692ed0489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38dcde21364ed0" /><Relationship Type="http://schemas.openxmlformats.org/officeDocument/2006/relationships/notesMaster" Target="/ppt/notesMasters/notesMaster1.xml" Id="R3476ea0ea5494da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6739a3ae8d94844" /><Relationship Type="http://schemas.openxmlformats.org/officeDocument/2006/relationships/notesMaster" Target="/ppt/notesMasters/notesMaster1.xml" Id="R472702ce7c24413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c94ab850d5a44f3" /><Relationship Type="http://schemas.openxmlformats.org/officeDocument/2006/relationships/notesMaster" Target="/ppt/notesMasters/notesMaster1.xml" Id="Rebb450a2af2941e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d660020d18a4a86" /><Relationship Type="http://schemas.openxmlformats.org/officeDocument/2006/relationships/notesMaster" Target="/ppt/notesMasters/notesMaster1.xml" Id="R3dafd538a86041d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909459cb1254dfc" /><Relationship Type="http://schemas.openxmlformats.org/officeDocument/2006/relationships/notesMaster" Target="/ppt/notesMasters/notesMaster1.xml" Id="R6a6d9162bc5d48d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83a26a03b2e4be6" /><Relationship Type="http://schemas.openxmlformats.org/officeDocument/2006/relationships/notesMaster" Target="/ppt/notesMasters/notesMaster1.xml" Id="Rb1fc80bbd6db40e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3a6a8005a374c35" /><Relationship Type="http://schemas.openxmlformats.org/officeDocument/2006/relationships/notesMaster" Target="/ppt/notesMasters/notesMaster1.xml" Id="R9b86b818cd5040f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fd9c47380ed43e4" /><Relationship Type="http://schemas.openxmlformats.org/officeDocument/2006/relationships/notesMaster" Target="/ppt/notesMasters/notesMaster1.xml" Id="Rd159452367b74e0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8688b1ba4ad4e68" /><Relationship Type="http://schemas.openxmlformats.org/officeDocument/2006/relationships/notesMaster" Target="/ppt/notesMasters/notesMaster1.xml" Id="R04d1b72590e1468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a69d7d731094bad" /><Relationship Type="http://schemas.openxmlformats.org/officeDocument/2006/relationships/notesMaster" Target="/ppt/notesMasters/notesMaster1.xml" Id="Rb5d54b7cb37d4de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901025ada694d73" /><Relationship Type="http://schemas.openxmlformats.org/officeDocument/2006/relationships/notesMaster" Target="/ppt/notesMasters/notesMaster1.xml" Id="R8e7b61a455f84ac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73da08033144e35" /><Relationship Type="http://schemas.openxmlformats.org/officeDocument/2006/relationships/notesMaster" Target="/ppt/notesMasters/notesMaster1.xml" Id="R7f269c4583eb405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ab26d33348849c2" /><Relationship Type="http://schemas.openxmlformats.org/officeDocument/2006/relationships/notesMaster" Target="/ppt/notesMasters/notesMaster1.xml" Id="R4f01ce7166b5434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849c24af5ae4255" /><Relationship Type="http://schemas.openxmlformats.org/officeDocument/2006/relationships/notesMaster" Target="/ppt/notesMasters/notesMaster1.xml" Id="Rd74692b5c7dc455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3d87507f2414ad2" /><Relationship Type="http://schemas.openxmlformats.org/officeDocument/2006/relationships/notesMaster" Target="/ppt/notesMasters/notesMaster1.xml" Id="R34598d29a91644b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10095a91d454441" /><Relationship Type="http://schemas.openxmlformats.org/officeDocument/2006/relationships/notesMaster" Target="/ppt/notesMasters/notesMaster1.xml" Id="R9f8fd172c9114a0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0d4029d10c14026" /><Relationship Type="http://schemas.openxmlformats.org/officeDocument/2006/relationships/notesMaster" Target="/ppt/notesMasters/notesMaster1.xml" Id="Rd9431d36a452476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bae112a3b0a4a39" /><Relationship Type="http://schemas.openxmlformats.org/officeDocument/2006/relationships/notesMaster" Target="/ppt/notesMasters/notesMaster1.xml" Id="R4c1d21d777fe48e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7b419e604004a93" /><Relationship Type="http://schemas.openxmlformats.org/officeDocument/2006/relationships/notesMaster" Target="/ppt/notesMasters/notesMaster1.xml" Id="R3d1014dccf4f45e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491414a56cb46ed" /><Relationship Type="http://schemas.openxmlformats.org/officeDocument/2006/relationships/notesMaster" Target="/ppt/notesMasters/notesMaster1.xml" Id="R67de5549e95649f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168385b9b254b5c" /><Relationship Type="http://schemas.openxmlformats.org/officeDocument/2006/relationships/notesMaster" Target="/ppt/notesMasters/notesMaster1.xml" Id="R50dde59ec708447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b9918aa934444fa" /><Relationship Type="http://schemas.openxmlformats.org/officeDocument/2006/relationships/notesMaster" Target="/ppt/notesMasters/notesMaster1.xml" Id="R2cad3f0809ba46a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a0417bd996548a8" /><Relationship Type="http://schemas.openxmlformats.org/officeDocument/2006/relationships/notesMaster" Target="/ppt/notesMasters/notesMaster1.xml" Id="R587b6cff9915457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2985f05ef80431e" /><Relationship Type="http://schemas.openxmlformats.org/officeDocument/2006/relationships/notesMaster" Target="/ppt/notesMasters/notesMaster1.xml" Id="Rfb7de15d70d5471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8a87433631b4270" /><Relationship Type="http://schemas.openxmlformats.org/officeDocument/2006/relationships/notesMaster" Target="/ppt/notesMasters/notesMaster1.xml" Id="R424f9306ca904f5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b112993a9414c06" /><Relationship Type="http://schemas.openxmlformats.org/officeDocument/2006/relationships/notesMaster" Target="/ppt/notesMasters/notesMaster1.xml" Id="R36f8d17217e54d3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e9f77659d73414d" /><Relationship Type="http://schemas.openxmlformats.org/officeDocument/2006/relationships/notesMaster" Target="/ppt/notesMasters/notesMaster1.xml" Id="Re0d2f65ed0f042e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fb355f45b784cbd" /><Relationship Type="http://schemas.openxmlformats.org/officeDocument/2006/relationships/notesMaster" Target="/ppt/notesMasters/notesMaster1.xml" Id="R204dad391335406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5287239946e4ffe" /><Relationship Type="http://schemas.openxmlformats.org/officeDocument/2006/relationships/notesMaster" Target="/ppt/notesMasters/notesMaster1.xml" Id="R0c3b8ac18f4a429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30ad8e3d6af43e3" /><Relationship Type="http://schemas.openxmlformats.org/officeDocument/2006/relationships/notesMaster" Target="/ppt/notesMasters/notesMaster1.xml" Id="R205182578de74b27"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data and explaining changes</a:t>
            </a:r>
          </a:p>
          <a:p>
            <a:r>
              <a:t>CML3113, Week 6, slide 1</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6, slide 2</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Recognise missing values and repeated records.</a:t>
            </a:r>
          </a:p>
          <a:p>
            <a:r>
              <a:t/>
            </a:r>
          </a:p>
          <a:p>
            <a:r>
              <a:t>Make a working copy and record each cleaning action.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6, slide 3</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5 selected and summarised columns. Before trusting those summaries, inspect missing values, repeated observations and measurement units.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CML3113, Week 6, slide 4</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repeated record or a missing measurement can change a summary. We keep the original records, apply the stated cleaning rules and explain each change before plotting.</a:t>
            </a:r>
          </a:p>
          <a:p>
            <a:r>
              <a:t/>
            </a:r>
          </a:p>
          <a:p>
            <a:r>
              <a:t>Continue to</a:t>
            </a:r>
          </a:p>
          <a:p>
            <a:r>
              <a:t>Raw data and Missing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Raw data and Missing value</a:t>
            </a:r>
          </a:p>
          <a:p>
            <a:r>
              <a:t>CML3113, Week 6, slide 5</a:t>
            </a:r>
          </a:p>
          <a:p>
            <a:r>
              <a:t/>
            </a:r>
          </a:p>
          <a:p>
            <a:r>
              <a:t>Explanation to give</a:t>
            </a:r>
          </a:p>
          <a:p>
            <a:r>
              <a:t>Raw data is the original record of what was received. Work on a copy and record changes. Missing means unrecorded; zero may be a valid reading. An unusual value is a reason to investigate, not automatic permission to delete.</a:t>
            </a:r>
          </a:p>
          <a:p>
            <a:r>
              <a:t/>
            </a:r>
          </a:p>
          <a:p>
            <a:r>
              <a:t>Worked illustration / lecturer answer</a:t>
            </a:r>
          </a:p>
          <a:p>
            <a:r>
              <a:t>A temperature sensor can genuinely report zero degrees. A blank temperature conveys no reading. Treating both as zero would change the mean and disguise missingness.</a:t>
            </a:r>
          </a:p>
          <a:p>
            <a:r>
              <a:t/>
            </a:r>
          </a:p>
          <a:p>
            <a:r>
              <a:t>Misconception to address</a:t>
            </a:r>
          </a:p>
          <a:p>
            <a:r>
              <a:t>A negative value can be physically valid in some units and impossible in others. Use the stated measurement and instrument context.</a:t>
            </a:r>
          </a:p>
          <a:p>
            <a:r>
              <a:t/>
            </a:r>
          </a:p>
          <a:p>
            <a:r>
              <a:t>On this slide</a:t>
            </a:r>
          </a:p>
          <a:p>
            <a:r>
              <a:t>Raw data: The original supplied records. Keep these unchanged so another person can check your decisions.</a:t>
            </a:r>
          </a:p>
          <a:p>
            <a:r>
              <a:t>Missing value: A value that was not recorded, represented here by None in Python records. Missing does not automatically mean zero.</a:t>
            </a:r>
          </a:p>
          <a:p>
            <a:r>
              <a:t/>
            </a:r>
          </a:p>
          <a:p>
            <a:r>
              <a:t>Continue to</a:t>
            </a:r>
          </a:p>
          <a:p>
            <a:r>
              <a:t>Record and equipment ID and Median and imputation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Record and equipment ID and Median and imputation</a:t>
            </a:r>
          </a:p>
          <a:p>
            <a:r>
              <a:t>CML3113, Week 6, slide 6</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Record and equipment ID: A record ID identifies an observation. An equipment ID identifies the source and may repeat legitimately. Remove repeated observations only under the stated rule.</a:t>
            </a:r>
          </a:p>
          <a:p>
            <a:r>
              <a:t>Median and imputation: The median is the middle sorted value, or the mean of the two middle values. Imputation fills a missing value using an explicit rule and introduces uncertainty.</a:t>
            </a:r>
          </a:p>
          <a:p>
            <a:r>
              <a:t/>
            </a:r>
          </a:p>
          <a:p>
            <a:r>
              <a:t>Continue to</a:t>
            </a:r>
          </a:p>
          <a:p>
            <a:r>
              <a:t>An unusual value needs a reason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unusual value needs a reason</a:t>
            </a:r>
          </a:p>
          <a:p>
            <a:r>
              <a:t>CML3113, Week 6, slide 7</a:t>
            </a:r>
          </a:p>
          <a:p>
            <a:r>
              <a:t/>
            </a:r>
          </a:p>
          <a:p>
            <a:r>
              <a:t>Explanation to give</a:t>
            </a:r>
          </a:p>
          <a:p>
            <a:r>
              <a:t>Raw data is the original record of what was received. Work on a copy and record changes. Missing means unrecorded; zero may be a valid reading. An unusual value is a reason to investigate, not automatic permission to delete.</a:t>
            </a:r>
          </a:p>
          <a:p>
            <a:r>
              <a:t/>
            </a:r>
          </a:p>
          <a:p>
            <a:r>
              <a:t>Worked illustration / lecturer answer</a:t>
            </a:r>
          </a:p>
          <a:p>
            <a:r>
              <a:t>A temperature sensor can genuinely report zero degrees. A blank temperature conveys no reading. Treating both as zero would change the mean and disguise missingness.</a:t>
            </a:r>
          </a:p>
          <a:p>
            <a:r>
              <a:t/>
            </a:r>
          </a:p>
          <a:p>
            <a:r>
              <a:t>Misconception to address</a:t>
            </a:r>
          </a:p>
          <a:p>
            <a:r>
              <a:t>A negative value can be physically valid in some units and impossible in others. Use the stated measurement and instrument context.</a:t>
            </a:r>
          </a:p>
          <a:p>
            <a:r>
              <a:t/>
            </a:r>
          </a:p>
          <a:p>
            <a:r>
              <a:t>On this slide</a:t>
            </a:r>
          </a:p>
          <a:p>
            <a:r>
              <a:t>A missing reading has no recorded value.</a:t>
            </a:r>
          </a:p>
          <a:p>
            <a:r>
              <a:t/>
            </a:r>
          </a:p>
          <a:p>
            <a:r>
              <a:t>Zero is a recorded value and may be physically meaningful.</a:t>
            </a:r>
          </a:p>
          <a:p>
            <a:r>
              <a:t/>
            </a:r>
          </a:p>
          <a:p>
            <a:r>
              <a:t>A large or negative value needs instrument and unit context.</a:t>
            </a:r>
          </a:p>
          <a:p>
            <a:r>
              <a:t/>
            </a:r>
          </a:p>
          <a:p>
            <a:r>
              <a:t>Preserve the raw data and record every cleaning decision.</a:t>
            </a:r>
          </a:p>
          <a:p>
            <a:r>
              <a:t/>
            </a:r>
          </a:p>
          <a:p>
            <a:r>
              <a:t>Continue to</a:t>
            </a:r>
          </a:p>
          <a:p>
            <a:r>
              <a:t>Find the median by sorting the readings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Find the median by sorting the readings</a:t>
            </a:r>
          </a:p>
          <a:p>
            <a:r>
              <a:t>CML3113, Week 6, slide 8</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The median is a middle value after ordering the numbers from smallest to largest. In [2, 4, 30], the middle item is 4.</a:t>
            </a:r>
          </a:p>
          <a:p>
            <a:r>
              <a:t/>
            </a:r>
          </a:p>
          <a:p>
            <a:r>
              <a:t>With an even number of readings, average the two middle values. [20, 22, 24, 80] has middle values 22 and 24, so the median is 23.</a:t>
            </a:r>
          </a:p>
          <a:p>
            <a:r>
              <a:t/>
            </a:r>
          </a:p>
          <a:p>
            <a:r>
              <a:t>None is missing information in our list, not a number to sort. Collect only recorded values before calculating this median.</a:t>
            </a:r>
          </a:p>
          <a:p>
            <a:r>
              <a:t/>
            </a:r>
          </a:p>
          <a:p>
            <a:r>
              <a:t>Reference / existing resource</a:t>
            </a:r>
          </a:p>
          <a:p>
            <a:r>
              <a:t>https://docs.python.org/3/tutorial/introduction.html</a:t>
            </a:r>
          </a:p>
          <a:p>
            <a:r>
              <a:t>https://docs.python.org/3/tutorial/controlflow.html;</a:t>
            </a:r>
          </a:p>
          <a:p>
            <a:r>
              <a:t/>
            </a:r>
          </a:p>
          <a:p>
            <a:r>
              <a:t>Continue to</a:t>
            </a:r>
          </a:p>
          <a:p>
            <a:r>
              <a:t>Mean, median and unusual readings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Mean, median and unusual readings</a:t>
            </a:r>
          </a:p>
          <a:p>
            <a:r>
              <a:t>CML3113, Week 6, slide 9</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Readings | Mean | Median</a:t>
            </a:r>
          </a:p>
          <a:p>
            <a:r>
              <a:t>2, 4, 6 | 4 | 4</a:t>
            </a:r>
          </a:p>
          <a:p>
            <a:r>
              <a:t>2, 4, 30 | 12 | 4</a:t>
            </a:r>
          </a:p>
          <a:p>
            <a:r>
              <a:t>The mean uses every value. The median is the middle sorted value. A large value needs context.</a:t>
            </a:r>
          </a:p>
          <a:p>
            <a:r>
              <a:t/>
            </a:r>
          </a:p>
          <a:p>
            <a:r>
              <a:t>Continue to</a:t>
            </a:r>
          </a:p>
          <a:p>
            <a:r>
              <a:t>Testing for None and importing one tool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Testing for None and importing one tool</a:t>
            </a:r>
          </a:p>
          <a:p>
            <a:r>
              <a:t>CML3113, Week 6, slide 10</a:t>
            </a:r>
          </a:p>
          <a:p>
            <a:r>
              <a:t/>
            </a:r>
          </a:p>
          <a:p>
            <a:r>
              <a:t>Explanation to give</a:t>
            </a:r>
          </a:p>
          <a:p>
            <a:r>
              <a:t>Read “is None” as a check for Python's designated missing-result value in these records. It is different from asking whether the number equals zero or whether a string is empty.</a:t>
            </a:r>
          </a:p>
          <a:p>
            <a:r>
              <a:t/>
            </a:r>
          </a:p>
          <a:p>
            <a:r>
              <a:t>Worked illustration / lecturer answer</a:t>
            </a:r>
          </a:p>
          <a:p>
            <a:r>
              <a:t>For values [0, None, 4], testing value is not None retains 0 and 4. Testing merely if value would discard the valid zero too.</a:t>
            </a:r>
          </a:p>
          <a:p>
            <a:r>
              <a:t/>
            </a:r>
          </a:p>
          <a:p>
            <a:r>
              <a:t>Misconception to address</a:t>
            </a:r>
          </a:p>
          <a:p>
            <a:r>
              <a:t>A CSV blank is initially "", not None. The loader must convert it deliberately if the later function expects None.</a:t>
            </a:r>
          </a:p>
          <a:p>
            <a:r>
              <a:t/>
            </a:r>
          </a:p>
          <a:p>
            <a:r>
              <a:t>On this slide</a:t>
            </a:r>
          </a:p>
          <a:p>
            <a:r>
              <a:t>value is None asks whether value is the special None object. value is not None is the opposite question. Use these tests for Python None.</a:t>
            </a:r>
          </a:p>
          <a:p>
            <a:r>
              <a:t/>
            </a:r>
          </a:p>
          <a:p>
            <a:r>
              <a:t>This differs from ==, which compares values. Do not use is to compare ordinary numeric measurements.</a:t>
            </a:r>
          </a:p>
          <a:p>
            <a:r>
              <a:t/>
            </a:r>
          </a:p>
          <a:p>
            <a:r>
              <a:t>from statistics import median loads just the median function. statistics is a standard Python module; median is the callable tool used below.</a:t>
            </a:r>
          </a:p>
          <a:p>
            <a:r>
              <a:t/>
            </a:r>
          </a:p>
          <a:p>
            <a:r>
              <a:t>Reference / existing resource</a:t>
            </a:r>
          </a:p>
          <a:p>
            <a:r>
              <a:t>https://docs.python.org/3/tutorial/introduction.html</a:t>
            </a:r>
          </a:p>
          <a:p>
            <a:r>
              <a:t>https://docs.python.org/3/tutorial/controlflow.html;</a:t>
            </a:r>
          </a:p>
          <a:p>
            <a:r>
              <a:t/>
            </a:r>
          </a:p>
          <a:p>
            <a:r>
              <a:t>Continue to</a:t>
            </a:r>
          </a:p>
          <a:p>
            <a:r>
              <a:t>Filling a gap adds an estimate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Filling a gap adds an estimate</a:t>
            </a:r>
          </a:p>
          <a:p>
            <a:r>
              <a:t>CML3113, Week 6, slide 11</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The valid readings, sorted, are 20, 22, 24 and 80.</a:t>
            </a:r>
          </a:p>
          <a:p>
            <a:r>
              <a:t/>
            </a:r>
          </a:p>
          <a:p>
            <a:r>
              <a:t>The two middle values are 22 and 24. Their mean is 23.</a:t>
            </a:r>
          </a:p>
          <a:p>
            <a:r>
              <a:t/>
            </a:r>
          </a:p>
          <a:p>
            <a:r>
              <a:t>Using 23 for a blank is a declared cleaning rule. It does not recover the lost measurement.</a:t>
            </a:r>
          </a:p>
          <a:p>
            <a:r>
              <a:t/>
            </a:r>
          </a:p>
          <a:p>
            <a:r>
              <a:t>In Python, value is None tests for a missing marker. is not None tests that it is not that marker.</a:t>
            </a:r>
          </a:p>
          <a:p>
            <a:r>
              <a:t/>
            </a:r>
          </a:p>
          <a:p>
            <a:r>
              <a:t>Continue to</a:t>
            </a:r>
          </a:p>
          <a:p>
            <a:r>
              <a:t>Cleaning decisions and charts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in Python (1/2)</a:t>
            </a:r>
          </a:p>
          <a:p>
            <a:r>
              <a:t>CML3113, Week 6, slide 12</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Read the displayed code line by line</a:t>
            </a:r>
          </a:p>
          <a:p>
            <a:r>
              <a:t>from statistics import median</a:t>
            </a:r>
          </a:p>
          <a:p>
            <a:r>
              <a:t>Bring the named tool from this library into the current Python session.</a:t>
            </a:r>
          </a:p>
          <a:p>
            <a:r>
              <a:t/>
            </a:r>
          </a:p>
          <a:p>
            <a:r>
              <a:t>raw = [20, None, 22, 24, 80]</a:t>
            </a:r>
          </a:p>
          <a:p>
            <a:r>
              <a:t>Evaluate the complete right-hand expression first, then assign its result to the name or selected field on the left.</a:t>
            </a:r>
          </a:p>
          <a:p>
            <a:r>
              <a:t/>
            </a:r>
          </a:p>
          <a:p>
            <a:r>
              <a:t>known = []</a:t>
            </a:r>
          </a:p>
          <a:p>
            <a:r>
              <a:t>Evaluate the complete right-hand expression first, then assign its result to the name or selected field on the left.</a:t>
            </a:r>
          </a:p>
          <a:p>
            <a:r>
              <a:t/>
            </a:r>
          </a:p>
          <a:p>
            <a:r>
              <a:t>for value in raw:</a:t>
            </a:r>
          </a:p>
          <a:p>
            <a:r>
              <a:t>Take each item or pair in turn, assign the loop name(s), and repeat the indented body.</a:t>
            </a:r>
          </a:p>
          <a:p>
            <a:r>
              <a:t/>
            </a:r>
          </a:p>
          <a:p>
            <a:r>
              <a:t>if value is not None:</a:t>
            </a:r>
          </a:p>
          <a:p>
            <a:r>
              <a:t>Evaluate this yes/no condition. Execute its indented body only on the matching path.</a:t>
            </a:r>
          </a:p>
          <a:p>
            <a:r>
              <a:t/>
            </a:r>
          </a:p>
          <a:p>
            <a:r>
              <a:t>known.append(value)</a:t>
            </a:r>
          </a:p>
          <a:p>
            <a:r>
              <a:t>Evaluate the argument and add it as one new item at the end of this list.</a:t>
            </a:r>
          </a:p>
          <a:p>
            <a:r>
              <a:t/>
            </a:r>
          </a:p>
          <a:p>
            <a:r>
              <a:t>fill = median(known)</a:t>
            </a:r>
          </a:p>
          <a:p>
            <a:r>
              <a:t>Evaluate the complete right-hand expression first, then assign its result to the name or selected field on the left.</a:t>
            </a:r>
          </a:p>
          <a:p>
            <a:r>
              <a:t/>
            </a:r>
          </a:p>
          <a:p>
            <a:r>
              <a:t>cleaned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Cleaning decisions and charts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in Python (2/2)</a:t>
            </a:r>
          </a:p>
          <a:p>
            <a:r>
              <a:t>CML3113, Week 6, slide 13</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Read the displayed code line by line</a:t>
            </a:r>
          </a:p>
          <a:p>
            <a:r>
              <a:t>for value in raw:</a:t>
            </a:r>
          </a:p>
          <a:p>
            <a:r>
              <a:t>Take each item or pair in turn, assign the loop name(s), and repeat the indented body.</a:t>
            </a:r>
          </a:p>
          <a:p>
            <a:r>
              <a:t/>
            </a:r>
          </a:p>
          <a:p>
            <a:r>
              <a:t>if value is None:</a:t>
            </a:r>
          </a:p>
          <a:p>
            <a:r>
              <a:t>Evaluate this yes/no condition. Execute its indented body only on the matching path.</a:t>
            </a:r>
          </a:p>
          <a:p>
            <a:r>
              <a:t/>
            </a:r>
          </a:p>
          <a:p>
            <a:r>
              <a:t>cleaned.append(fill)</a:t>
            </a:r>
          </a:p>
          <a:p>
            <a:r>
              <a:t>Evaluate the argument and add it as one new item at the end of this list.</a:t>
            </a:r>
          </a:p>
          <a:p>
            <a:r>
              <a:t/>
            </a:r>
          </a:p>
          <a:p>
            <a:r>
              <a:t>else:</a:t>
            </a:r>
          </a:p>
          <a:p>
            <a:r>
              <a:t>Use this remaining path when the matching earlier condition did not succeed.</a:t>
            </a:r>
          </a:p>
          <a:p>
            <a:r>
              <a:t/>
            </a:r>
          </a:p>
          <a:p>
            <a:r>
              <a:t>cleaned.append(value)</a:t>
            </a:r>
          </a:p>
          <a:p>
            <a:r>
              <a:t>Evaluate the argument and add it as one new item at the end of this list.</a:t>
            </a:r>
          </a:p>
          <a:p>
            <a:r>
              <a:t/>
            </a:r>
          </a:p>
          <a:p>
            <a:r>
              <a:t>print(fill)</a:t>
            </a:r>
          </a:p>
          <a:p>
            <a:r>
              <a:t>Evaluate the expression inside the parentheses and display it. Displaying is separate from returning a function result.</a:t>
            </a:r>
          </a:p>
          <a:p>
            <a:r>
              <a:t/>
            </a:r>
          </a:p>
          <a:p>
            <a:r>
              <a:t>print(raw)</a:t>
            </a:r>
          </a:p>
          <a:p>
            <a:r>
              <a:t>Evaluate the expression inside the parentheses and display it. Displaying is separate from returning a function result.</a:t>
            </a:r>
          </a:p>
          <a:p>
            <a:r>
              <a:t/>
            </a:r>
          </a:p>
          <a:p>
            <a:r>
              <a:t>print(cleaned)</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Cleaning decisions and charts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results</a:t>
            </a:r>
          </a:p>
          <a:p>
            <a:r>
              <a:t>CML3113, Week 6, slide 14</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23.0</a:t>
            </a:r>
          </a:p>
          <a:p>
            <a:r>
              <a:t>[20, None, 22, 24, 80]</a:t>
            </a:r>
          </a:p>
          <a:p>
            <a:r>
              <a:t>[20, 23.0, 22, 24, 80]</a:t>
            </a:r>
          </a:p>
          <a:p>
            <a:r>
              <a:t/>
            </a:r>
          </a:p>
          <a:p>
            <a:r>
              <a:t>Continue to</a:t>
            </a:r>
          </a:p>
          <a:p>
            <a:r>
              <a:t>Copy a record and remember an ID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 a record and remember an ID</a:t>
            </a:r>
          </a:p>
          <a:p>
            <a:r>
              <a:t>CML3113, Week 6, slide 15</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dict(row): For our flat records, dict(row) makes a separate dictionary with the same fields. Changing a number in the copy leaves the original record unchanged.</a:t>
            </a:r>
          </a:p>
          <a:p>
            <a:r>
              <a:t>set, in, add and continue: set() starts an empty collection of unique items. in checks membership; add remembers an item. continue skips the rest of the current loop pass.</a:t>
            </a:r>
          </a:p>
          <a:p>
            <a:r>
              <a:t/>
            </a:r>
          </a:p>
          <a:p>
            <a:r>
              <a:t>Continue to</a:t>
            </a:r>
          </a:p>
          <a:p>
            <a:r>
              <a:t>A working copy preserves the original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working copy preserves the original</a:t>
            </a:r>
          </a:p>
          <a:p>
            <a:r>
              <a:t>CML3113, Week 6, slide 16</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In this separate four-record example, remove one repeated C record and fill B with (20 + 24) / 2 = 22.</a:t>
            </a:r>
          </a:p>
          <a:p>
            <a:r>
              <a:t/>
            </a:r>
          </a:p>
          <a:p>
            <a:r>
              <a:t>Continue to</a:t>
            </a:r>
          </a:p>
          <a:p>
            <a:r>
              <a:t>Copies and duplicate checks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Copies and duplicate checks</a:t>
            </a:r>
          </a:p>
          <a:p>
            <a:r>
              <a:t>CML3113, Week 6, slide 17</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row = {"id": "A", "reading": 4}</a:t>
            </a:r>
          </a:p>
          <a:p>
            <a:r>
              <a:t>Evaluate the complete right-hand expression first, then assign its result to the name or selected field on the left.</a:t>
            </a:r>
          </a:p>
          <a:p>
            <a:r>
              <a:t/>
            </a:r>
          </a:p>
          <a:p>
            <a:r>
              <a:t>copy = dict(row)</a:t>
            </a:r>
          </a:p>
          <a:p>
            <a:r>
              <a:t>Evaluate the complete right-hand expression first, then assign its result to the name or selected field on the left.</a:t>
            </a:r>
          </a:p>
          <a:p>
            <a:r>
              <a:t/>
            </a:r>
          </a:p>
          <a:p>
            <a:r>
              <a:t>copy["reading"] = 5</a:t>
            </a:r>
          </a:p>
          <a:p>
            <a:r>
              <a:t>Evaluate the complete right-hand expression first, then assign its result to the name or selected field on the left.</a:t>
            </a:r>
          </a:p>
          <a:p>
            <a:r>
              <a:t/>
            </a:r>
          </a:p>
          <a:p>
            <a:r>
              <a:t>seen = set()</a:t>
            </a:r>
          </a:p>
          <a:p>
            <a:r>
              <a:t>Evaluate the complete right-hand expression first, then assign its result to the name or selected field on the left.</a:t>
            </a:r>
          </a:p>
          <a:p>
            <a:r>
              <a:t/>
            </a:r>
          </a:p>
          <a:p>
            <a:r>
              <a:t>seen.add(row["id"])</a:t>
            </a:r>
          </a:p>
          <a:p>
            <a:r>
              <a:t>Remember this item in the set. Adding the same item again does not create a duplicate.</a:t>
            </a:r>
          </a:p>
          <a:p>
            <a:r>
              <a:t/>
            </a:r>
          </a:p>
          <a:p>
            <a:r>
              <a:t>print(row["reading"])</a:t>
            </a:r>
          </a:p>
          <a:p>
            <a:r>
              <a:t>Evaluate the expression inside the parentheses and display it. Displaying is separate from returning a function result.</a:t>
            </a:r>
          </a:p>
          <a:p>
            <a:r>
              <a:t/>
            </a:r>
          </a:p>
          <a:p>
            <a:r>
              <a:t>print("A" in seen)</a:t>
            </a:r>
          </a:p>
          <a:p>
            <a:r>
              <a:t>Evaluate the expression inside the parentheses and display it. Displaying is separate from returning a function result.</a:t>
            </a:r>
          </a:p>
          <a:p>
            <a:r>
              <a:t/>
            </a:r>
          </a:p>
          <a:p>
            <a:r>
              <a:t>Result / continuity</a:t>
            </a:r>
          </a:p>
          <a:p>
            <a:r>
              <a:t>dict(row) makes a shallow copy. A set keeps unique IDs.</a:t>
            </a:r>
          </a:p>
          <a:p>
            <a:r>
              <a:t/>
            </a:r>
          </a:p>
          <a:p>
            <a:r>
              <a:t>Continue to</a:t>
            </a:r>
          </a:p>
          <a:p>
            <a:r>
              <a:t>Trace the duplicate-record decision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duplicate-record decision</a:t>
            </a:r>
          </a:p>
          <a:p>
            <a:r>
              <a:t>CML3113, Week 6, slide 18</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Record ID | Already in seen? | Action</a:t>
            </a:r>
          </a:p>
          <a:p>
            <a:r>
              <a:t>1, first record | No | Remember 1; keep a copy</a:t>
            </a:r>
          </a:p>
          <a:p>
            <a:r>
              <a:t>1, repeated record | Yes | continue; skip this copy</a:t>
            </a:r>
          </a:p>
          <a:p>
            <a:r>
              <a:t>2, next record | No | Remember 2; keep a copy</a:t>
            </a:r>
          </a:p>
          <a:p>
            <a:r>
              <a:t>This example removes repeated record IDs, not every observation from repeated equipment.</a:t>
            </a:r>
          </a:p>
          <a:p>
            <a:r>
              <a:t/>
            </a:r>
          </a:p>
          <a:p>
            <a:r>
              <a:t>Reference / existing resource</a:t>
            </a:r>
          </a:p>
          <a:p>
            <a:r>
              <a:t>https://docs.python.org/3/tutorial/introduction.html</a:t>
            </a:r>
          </a:p>
          <a:p>
            <a:r>
              <a:t>https://docs.python.org/3/tutorial/controlflow.html;</a:t>
            </a:r>
          </a:p>
          <a:p>
            <a:r>
              <a:t/>
            </a:r>
          </a:p>
          <a:p>
            <a:r>
              <a:t>Continue to</a:t>
            </a:r>
          </a:p>
          <a:p>
            <a:r>
              <a:t>Following a cleaning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Following a cleaning loop</a:t>
            </a:r>
          </a:p>
          <a:p>
            <a:r>
              <a:t>CML3113, Week 6, slide 19</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Expression | Meaning</a:t>
            </a:r>
          </a:p>
          <a:p>
            <a:r>
              <a:t>seen = set() | Start an empty collection of IDs</a:t>
            </a:r>
          </a:p>
          <a:p>
            <a:r>
              <a:t>record_id in seen | Has this ID already been recorded?</a:t>
            </a:r>
          </a:p>
          <a:p>
            <a:r>
              <a:t>continue | Skip the remaining lines for this item</a:t>
            </a:r>
          </a:p>
          <a:p>
            <a:r>
              <a:t>value is None | Check for Python’s no-value marker</a:t>
            </a:r>
          </a:p>
          <a:p>
            <a:r>
              <a:t>An empty string "" and None are different values. Parse CSV fields according to the issued rule.</a:t>
            </a:r>
          </a:p>
          <a:p>
            <a:r>
              <a:t/>
            </a:r>
          </a:p>
          <a:p>
            <a:r>
              <a:t>Continue to</a:t>
            </a:r>
          </a:p>
          <a:p>
            <a:r>
              <a:t>Copying records and recognising repeats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Copying records and recognising repeats in Python (1/2)</a:t>
            </a:r>
          </a:p>
          <a:p>
            <a:r>
              <a:t>CML3113, Week 6, slide 20</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raw_records = [{"id": 1, "equipment": "A", "value": 10},</a:t>
            </a:r>
          </a:p>
          <a:p>
            <a:r>
              <a:t>Evaluate the complete right-hand expression first, then assign its result to the name or selected field on the left.</a:t>
            </a:r>
          </a:p>
          <a:p>
            <a:r>
              <a:t/>
            </a:r>
          </a:p>
          <a:p>
            <a:r>
              <a:t>{"id": 1, "equipment": "A", "value": 10},</a:t>
            </a:r>
          </a:p>
          <a:p>
            <a:r>
              <a:t>This line continues the surrounding expression or block; read it together with the preceding line rather than running it alone.</a:t>
            </a:r>
          </a:p>
          <a:p>
            <a:r>
              <a:t/>
            </a:r>
          </a:p>
          <a:p>
            <a:r>
              <a:t>{"id": 2, "equipment": "A", "value": 12}]</a:t>
            </a:r>
          </a:p>
          <a:p>
            <a:r>
              <a:t>This line continues the surrounding expression or block; read it together with the preceding line rather than running it alone.</a:t>
            </a:r>
          </a:p>
          <a:p>
            <a:r>
              <a:t/>
            </a:r>
          </a:p>
          <a:p>
            <a:r>
              <a:t>seen = set()</a:t>
            </a:r>
          </a:p>
          <a:p>
            <a:r>
              <a:t>Evaluate the complete right-hand expression first, then assign its result to the name or selected field on the left.</a:t>
            </a:r>
          </a:p>
          <a:p>
            <a:r>
              <a:t/>
            </a:r>
          </a:p>
          <a:p>
            <a:r>
              <a:t>kept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Copying records and recognising repeats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Copying records and recognising repeats in Python (2/2)</a:t>
            </a:r>
          </a:p>
          <a:p>
            <a:r>
              <a:t>CML3113, Week 6, slide 21</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for row in raw_records:</a:t>
            </a:r>
          </a:p>
          <a:p>
            <a:r>
              <a:t>Take each item or pair in turn, assign the loop name(s), and repeat the indented body.</a:t>
            </a:r>
          </a:p>
          <a:p>
            <a:r>
              <a:t/>
            </a:r>
          </a:p>
          <a:p>
            <a:r>
              <a:t>if row["id"] in seen:</a:t>
            </a:r>
          </a:p>
          <a:p>
            <a:r>
              <a:t>Evaluate this yes/no condition. Execute its indented body only on the matching path.</a:t>
            </a:r>
          </a:p>
          <a:p>
            <a:r>
              <a:t/>
            </a:r>
          </a:p>
          <a:p>
            <a:r>
              <a:t>continue</a:t>
            </a:r>
          </a:p>
          <a:p>
            <a:r>
              <a:t>Skip the rest of this iteration and proceed to the next item.</a:t>
            </a:r>
          </a:p>
          <a:p>
            <a:r>
              <a:t/>
            </a:r>
          </a:p>
          <a:p>
            <a:r>
              <a:t>seen.add(row["id"])</a:t>
            </a:r>
          </a:p>
          <a:p>
            <a:r>
              <a:t>Remember this item in the set. Adding the same item again does not create a duplicate.</a:t>
            </a:r>
          </a:p>
          <a:p>
            <a:r>
              <a:t/>
            </a:r>
          </a:p>
          <a:p>
            <a:r>
              <a:t>kept.append(dict(row))</a:t>
            </a:r>
          </a:p>
          <a:p>
            <a:r>
              <a:t>Evaluate the argument and add it as one new item at the end of this list.</a:t>
            </a:r>
          </a:p>
          <a:p>
            <a:r>
              <a:t/>
            </a:r>
          </a:p>
          <a:p>
            <a:r>
              <a:t>print(len(raw_records), len(kept))</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Summaries returned as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returned as a dictionary</a:t>
            </a:r>
          </a:p>
          <a:p>
            <a:r>
              <a:t>CML3113, Week 6, slide 22</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This example expects a nonempty list.</a:t>
            </a:r>
          </a:p>
          <a:p>
            <a:r>
              <a:t/>
            </a:r>
          </a:p>
          <a:p>
            <a:r>
              <a:t>It calculates a count and mean, then returns a dictionary with named outputs.</a:t>
            </a:r>
          </a:p>
          <a:p>
            <a:r>
              <a:t/>
            </a:r>
          </a:p>
          <a:p>
            <a:r>
              <a:t>Use the exact keys specified by the issued task when adapting this pattern.</a:t>
            </a:r>
          </a:p>
          <a:p>
            <a:r>
              <a:t/>
            </a:r>
          </a:p>
          <a:p>
            <a:r>
              <a:t>Continue to</a:t>
            </a:r>
          </a:p>
          <a:p>
            <a:r>
              <a:t>Summaries returned as a dictionary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returned as a dictionary in Python</a:t>
            </a:r>
          </a:p>
          <a:p>
            <a:r>
              <a:t>CML3113, Week 6, slide 23</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def describe(values):</a:t>
            </a:r>
          </a:p>
          <a:p>
            <a:r>
              <a:t>Store these instructions under this function name. Names in parentheses are its inputs; the body waits until a call.</a:t>
            </a:r>
          </a:p>
          <a:p>
            <a:r>
              <a:t/>
            </a:r>
          </a:p>
          <a:p>
            <a:r>
              <a:t>count = len(values)</a:t>
            </a:r>
          </a:p>
          <a:p>
            <a:r>
              <a:t>Evaluate the complete right-hand expression first, then assign its result to the name or selected field on the left.</a:t>
            </a:r>
          </a:p>
          <a:p>
            <a:r>
              <a:t/>
            </a:r>
          </a:p>
          <a:p>
            <a:r>
              <a:t>mean = sum(values) / count</a:t>
            </a:r>
          </a:p>
          <a:p>
            <a:r>
              <a:t>Evaluate the complete right-hand expression first, then assign its result to the name or selected field on the left.</a:t>
            </a:r>
          </a:p>
          <a:p>
            <a:r>
              <a:t/>
            </a:r>
          </a:p>
          <a:p>
            <a:r>
              <a:t>return {"count": count, "mean": mean}</a:t>
            </a:r>
          </a:p>
          <a:p>
            <a:r>
              <a:t>Evaluate this result and send it to the caller, ending this function call.</a:t>
            </a:r>
          </a:p>
          <a:p>
            <a:r>
              <a:t/>
            </a:r>
          </a:p>
          <a:p>
            <a:r>
              <a:t>print(describe([10, 12]))</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Reading a blank field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 blank field</a:t>
            </a:r>
          </a:p>
          <a:p>
            <a:r>
              <a:t>CML3113, Week 6, slide 24</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CSV values start as text.</a:t>
            </a:r>
          </a:p>
          <a:p>
            <a:r>
              <a:t/>
            </a:r>
          </a:p>
          <a:p>
            <a:r>
              <a:t>The if/else below stores None for a blank.</a:t>
            </a:r>
          </a:p>
          <a:p>
            <a:r>
              <a:t/>
            </a:r>
          </a:p>
          <a:p>
            <a:r>
              <a:t>Otherwise float converts the text into a number.</a:t>
            </a:r>
          </a:p>
          <a:p>
            <a:r>
              <a:t/>
            </a:r>
          </a:p>
          <a:p>
            <a:r>
              <a:t>Continue to</a:t>
            </a:r>
          </a:p>
          <a:p>
            <a:r>
              <a:t>Reading a blank field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 blank field in Python</a:t>
            </a:r>
          </a:p>
          <a:p>
            <a:r>
              <a:t>CML3113, Week 6, slide 25</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text_values = ["20", "", "24"]</a:t>
            </a:r>
          </a:p>
          <a:p>
            <a:r>
              <a:t>Evaluate the complete right-hand expression first, then assign its result to the name or selected field on the left.</a:t>
            </a:r>
          </a:p>
          <a:p>
            <a:r>
              <a:t/>
            </a:r>
          </a:p>
          <a:p>
            <a:r>
              <a:t>parsed = []</a:t>
            </a:r>
          </a:p>
          <a:p>
            <a:r>
              <a:t>Evaluate the complete right-hand expression first, then assign its result to the name or selected field on the left.</a:t>
            </a:r>
          </a:p>
          <a:p>
            <a:r>
              <a:t/>
            </a:r>
          </a:p>
          <a:p>
            <a:r>
              <a:t>for text in text_values:</a:t>
            </a:r>
          </a:p>
          <a:p>
            <a:r>
              <a:t>Take each item or pair in turn, assign the loop name(s), and repeat the indented body.</a:t>
            </a:r>
          </a:p>
          <a:p>
            <a:r>
              <a:t/>
            </a:r>
          </a:p>
          <a:p>
            <a:r>
              <a:t>if text == "":</a:t>
            </a:r>
          </a:p>
          <a:p>
            <a:r>
              <a:t>Evaluate this yes/no condition. Execute its indented body only on the matching path.</a:t>
            </a:r>
          </a:p>
          <a:p>
            <a:r>
              <a:t/>
            </a:r>
          </a:p>
          <a:p>
            <a:r>
              <a:t>parsed.append(None)</a:t>
            </a:r>
          </a:p>
          <a:p>
            <a:r>
              <a:t>Evaluate the argument and add it as one new item at the end of this list.</a:t>
            </a:r>
          </a:p>
          <a:p>
            <a:r>
              <a:t/>
            </a:r>
          </a:p>
          <a:p>
            <a:r>
              <a:t>else:</a:t>
            </a:r>
          </a:p>
          <a:p>
            <a:r>
              <a:t>Use this remaining path when the matching earlier condition did not succeed.</a:t>
            </a:r>
          </a:p>
          <a:p>
            <a:r>
              <a:t/>
            </a:r>
          </a:p>
          <a:p>
            <a:r>
              <a:t>parsed.append(float(text))</a:t>
            </a:r>
          </a:p>
          <a:p>
            <a:r>
              <a:t>Evaluate the argument and add it as one new item at the end of this list.</a:t>
            </a:r>
          </a:p>
          <a:p>
            <a:r>
              <a:t/>
            </a:r>
          </a:p>
          <a:p>
            <a:r>
              <a:t>print(parsed)</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Audit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Audit</a:t>
            </a:r>
          </a:p>
          <a:p>
            <a:r>
              <a:t>CML3113, Week 6, slide 26</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Audit: A count and explanation of what changed, why it changed and how many records remain.</a:t>
            </a:r>
          </a:p>
          <a:p>
            <a:r>
              <a:t/>
            </a:r>
          </a:p>
          <a:p>
            <a:r>
              <a:t>Continue to</a:t>
            </a:r>
          </a:p>
          <a:p>
            <a:r>
              <a:t>Every cleaning change needs a record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cleaning change needs a record</a:t>
            </a:r>
          </a:p>
          <a:p>
            <a:r>
              <a:t>CML3113, Week 6, slide 27</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 duplicate record ID suggests a repeated observation.</a:t>
            </a:r>
          </a:p>
          <a:p>
            <a:r>
              <a:t/>
            </a:r>
          </a:p>
          <a:p>
            <a:r>
              <a:t>Two different observations from the same equipment can both be valid.</a:t>
            </a:r>
          </a:p>
          <a:p>
            <a:r>
              <a:t/>
            </a:r>
          </a:p>
          <a:p>
            <a:r>
              <a:t>Record the evidence, action, number of affected rows and limitation.</a:t>
            </a:r>
          </a:p>
          <a:p>
            <a:r>
              <a:t/>
            </a:r>
          </a:p>
          <a:p>
            <a:r>
              <a:t>Continue to</a:t>
            </a:r>
          </a:p>
          <a:p>
            <a:r>
              <a:t>Chart axes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Chart axes</a:t>
            </a:r>
          </a:p>
          <a:p>
            <a:r>
              <a:t>CML3113, Week 6, slide 28</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Chart axes: A chart maps values to positions. Read the horizontal variable, vertical variable and their units before interpreting a pattern.</a:t>
            </a:r>
          </a:p>
          <a:p>
            <a:r>
              <a:t/>
            </a:r>
          </a:p>
          <a:p>
            <a:r>
              <a:t>Continue to</a:t>
            </a:r>
          </a:p>
          <a:p>
            <a:r>
              <a:t>A scatter plot pairs two measurements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scatter plot pairs two measurements</a:t>
            </a:r>
          </a:p>
          <a:p>
            <a:r>
              <a:t>CML3113, Week 6, slide 29</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The horizontal axis gives the input value.</a:t>
            </a:r>
          </a:p>
          <a:p>
            <a:r>
              <a:t/>
            </a:r>
          </a:p>
          <a:p>
            <a:r>
              <a:t>The vertical axis gives the corresponding reading.</a:t>
            </a:r>
          </a:p>
          <a:p>
            <a:r>
              <a:t/>
            </a:r>
          </a:p>
          <a:p>
            <a:r>
              <a:t>One point represents one observation. A pattern alone does not prove causation.</a:t>
            </a:r>
          </a:p>
          <a:p>
            <a:r>
              <a:t/>
            </a:r>
          </a:p>
          <a:p>
            <a:r>
              <a:t>Continue to</a:t>
            </a:r>
          </a:p>
          <a:p>
            <a:r>
              <a:t>Choose a chart after naming the question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Choose a chart after naming the question</a:t>
            </a:r>
          </a:p>
          <a:p>
            <a:r>
              <a:t>CML3113, Week 6, slide 30</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Scatter and bar: A scatter plot places one point for each paired measurement. A bar chart compares values across named groups. Label both axes and their units.</a:t>
            </a:r>
          </a:p>
          <a:p>
            <a:r>
              <a:t>Histogram and bins: A histogram counts observations in numerical intervals called bins. The horizontal axis is the measurement; the vertical axis is a count. Bin edges affect its appearance.</a:t>
            </a:r>
          </a:p>
          <a:p>
            <a:r>
              <a:t/>
            </a:r>
          </a:p>
          <a:p>
            <a:r>
              <a:t>Continue to</a:t>
            </a:r>
          </a:p>
          <a:p>
            <a:r>
              <a:t>Choosing a chart for the question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a chart for the question</a:t>
            </a:r>
          </a:p>
          <a:p>
            <a:r>
              <a:t>CML3113, Week 6, slide 31</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This week uses histograms, scatter plots and bar charts. The other chart types are reference examples.</a:t>
            </a:r>
          </a:p>
          <a:p>
            <a:r>
              <a:t/>
            </a:r>
          </a:p>
          <a:p>
            <a:r>
              <a:t>Continue to</a:t>
            </a:r>
          </a:p>
          <a:p>
            <a:r>
              <a:t>A chart with labelled axes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chart with labelled axes</a:t>
            </a:r>
          </a:p>
          <a:p>
            <a:r>
              <a:t>CML3113, Week 6, slide 32</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matplotlib is a plotting library. plt is the short name we give its pyplot module.</a:t>
            </a:r>
          </a:p>
          <a:p>
            <a:r>
              <a:t/>
            </a:r>
          </a:p>
          <a:p>
            <a:r>
              <a:t>fig, ax = plt.subplots() returns two objects: fig is the whole figure; ax is its plotting area. scatter places the paired measurements as points.</a:t>
            </a:r>
          </a:p>
          <a:p>
            <a:r>
              <a:t/>
            </a:r>
          </a:p>
          <a:p>
            <a:r>
              <a:t>ax.set_xlabel(...) labels the horizontal axis. set_ylabel labels the vertical axis. Keep fig when the task asks you to return a Figure object.</a:t>
            </a:r>
          </a:p>
          <a:p>
            <a:r>
              <a:t/>
            </a:r>
          </a:p>
          <a:p>
            <a:r>
              <a:t>Continue to</a:t>
            </a:r>
          </a:p>
          <a:p>
            <a:r>
              <a:t>A chart with labelled axes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chart with labelled axes in Python</a:t>
            </a:r>
          </a:p>
          <a:p>
            <a:r>
              <a:t>CML3113, Week 6, slide 33</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Read the displayed code line by line</a:t>
            </a:r>
          </a:p>
          <a:p>
            <a:r>
              <a:t>import matplotlib.pyplot as plt</a:t>
            </a:r>
          </a:p>
          <a:p>
            <a:r>
              <a:t>Load this library. An alias after as is the shorter name used below.</a:t>
            </a:r>
          </a:p>
          <a:p>
            <a:r>
              <a:t/>
            </a:r>
          </a:p>
          <a:p>
            <a:r>
              <a:t>inputs = [1, 2, 3, 4]</a:t>
            </a:r>
          </a:p>
          <a:p>
            <a:r>
              <a:t>Evaluate the complete right-hand expression first, then assign its result to the name or selected field on the left.</a:t>
            </a:r>
          </a:p>
          <a:p>
            <a:r>
              <a:t/>
            </a:r>
          </a:p>
          <a:p>
            <a:r>
              <a:t>readings = [12, 14, 13, 18]</a:t>
            </a:r>
          </a:p>
          <a:p>
            <a:r>
              <a:t>Evaluate the complete right-hand expression first, then assign its result to the name or selected field on the left.</a:t>
            </a:r>
          </a:p>
          <a:p>
            <a:r>
              <a:t/>
            </a:r>
          </a:p>
          <a:p>
            <a:r>
              <a:t>fig, ax = plt.subplots()</a:t>
            </a:r>
          </a:p>
          <a:p>
            <a:r>
              <a:t>Evaluate the complete right-hand expression first, then assign its result to the name or selected field on the left.</a:t>
            </a:r>
          </a:p>
          <a:p>
            <a:r>
              <a:t/>
            </a:r>
          </a:p>
          <a:p>
            <a:r>
              <a:t>ax.scatter(inputs, readings)</a:t>
            </a:r>
          </a:p>
          <a:p>
            <a:r>
              <a:t>Plot one point for each aligned x/y pair.</a:t>
            </a:r>
          </a:p>
          <a:p>
            <a:r>
              <a:t/>
            </a:r>
          </a:p>
          <a:p>
            <a:r>
              <a:t>ax.set_xlabel("Input (teaching units)")</a:t>
            </a:r>
          </a:p>
          <a:p>
            <a:r>
              <a:t>Label the horizontal axis with the named quantity and unit.</a:t>
            </a:r>
          </a:p>
          <a:p>
            <a:r>
              <a:t/>
            </a:r>
          </a:p>
          <a:p>
            <a:r>
              <a:t>ax.set_ylabel("Reading (teaching units)")</a:t>
            </a:r>
          </a:p>
          <a:p>
            <a:r>
              <a:t>Label the vertical axis with the named quantity and unit.</a:t>
            </a:r>
          </a:p>
          <a:p>
            <a:r>
              <a:t/>
            </a:r>
          </a:p>
          <a:p>
            <a:r>
              <a:t>ax.set_title("Four invented observations")</a:t>
            </a:r>
          </a:p>
          <a:p>
            <a:r>
              <a:t>This line continues the surrounding expression or block; read it together with the preceding line rather than running it alone.</a:t>
            </a:r>
          </a:p>
          <a:p>
            <a:r>
              <a:t/>
            </a:r>
          </a:p>
          <a:p>
            <a:r>
              <a:t>plt.show()</a:t>
            </a:r>
          </a:p>
          <a:p>
            <a:r>
              <a:t>This line continues the surrounding expression or block; read it together with the preceding line rather than running it alone.</a:t>
            </a:r>
          </a:p>
          <a:p>
            <a:r>
              <a:t/>
            </a:r>
          </a:p>
          <a:p>
            <a:r>
              <a:t>Result / continuity</a:t>
            </a:r>
          </a:p>
          <a:p>
            <a:r>
              <a:t>Read top to bottom. Run the complete example in the matching practice notebook.</a:t>
            </a:r>
          </a:p>
          <a:p>
            <a:r>
              <a:t/>
            </a:r>
          </a:p>
          <a:p>
            <a:r>
              <a:t>Continue to</a:t>
            </a:r>
          </a:p>
          <a:p>
            <a:r>
              <a:t>A bar chart and a histogram count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bar chart and a histogram count different things</a:t>
            </a:r>
          </a:p>
          <a:p>
            <a:r>
              <a:t>CML3113, Week 6, slide 34</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A bar chart has named groups. bar(["A", "B"], [13, 16]) makes one bar for each supplied group value.</a:t>
            </a:r>
          </a:p>
          <a:p>
            <a:r>
              <a:t/>
            </a:r>
          </a:p>
          <a:p>
            <a:r>
              <a:t>A histogram divides a numeric range into intervals called bins. hist(readings, bins=2) counts readings in two intervals.</a:t>
            </a:r>
          </a:p>
          <a:p>
            <a:r>
              <a:t/>
            </a:r>
          </a:p>
          <a:p>
            <a:r>
              <a:t>With [12, 14, 13, 18], the intervals run from 12 to 15 and 15 to 18. Counts are 3 and 1; the final interval includes the last endpoint.</a:t>
            </a:r>
          </a:p>
          <a:p>
            <a:r>
              <a:t/>
            </a:r>
          </a:p>
          <a:p>
            <a:r>
              <a:t>Reference / existing resource</a:t>
            </a:r>
          </a:p>
          <a:p>
            <a:r>
              <a:t>https://docs.python.org/3/tutorial/introduction.html</a:t>
            </a:r>
          </a:p>
          <a:p>
            <a:r>
              <a:t>https://docs.python.org/3/tutorial/controlflow.html;</a:t>
            </a:r>
          </a:p>
          <a:p>
            <a:r>
              <a:t/>
            </a:r>
          </a:p>
          <a:p>
            <a:r>
              <a:t>Continue to</a:t>
            </a:r>
          </a:p>
          <a:p>
            <a:r>
              <a:t>Comparing groups and a distribution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a:t>
            </a:r>
          </a:p>
          <a:p>
            <a:r>
              <a:t>CML3113, Week 6, slide 35</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bar compares one value for each named group. hist counts observations in value intervals called bins.</a:t>
            </a:r>
          </a:p>
          <a:p>
            <a:r>
              <a:t/>
            </a:r>
          </a:p>
          <a:p>
            <a:r>
              <a:t>Read the bar labels and both axes.</a:t>
            </a:r>
          </a:p>
          <a:p>
            <a:r>
              <a:t/>
            </a:r>
          </a:p>
          <a:p>
            <a:r>
              <a:t>This practice uses two bins; follow the exact bin rule in the test brief.</a:t>
            </a:r>
          </a:p>
          <a:p>
            <a:r>
              <a:t/>
            </a:r>
          </a:p>
          <a:p>
            <a:r>
              <a:t>Save and keep the Figure objects when a task asks for them.</a:t>
            </a:r>
          </a:p>
          <a:p>
            <a:r>
              <a:t/>
            </a:r>
          </a:p>
          <a:p>
            <a:r>
              <a:t>Continue to</a:t>
            </a:r>
          </a:p>
          <a:p>
            <a:r>
              <a:t>Comparing groups and a distribution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 in Python (1/2)</a:t>
            </a:r>
          </a:p>
          <a:p>
            <a:r>
              <a:t>CML3113, Week 6, slide 36</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Read the displayed code line by line</a:t>
            </a:r>
          </a:p>
          <a:p>
            <a:r>
              <a:t>bar_fig, bar_ax = plt.subplots()</a:t>
            </a:r>
          </a:p>
          <a:p>
            <a:r>
              <a:t>Evaluate the complete right-hand expression first, then assign its result to the name or selected field on the left.</a:t>
            </a:r>
          </a:p>
          <a:p>
            <a:r>
              <a:t/>
            </a:r>
          </a:p>
          <a:p>
            <a:r>
              <a:t>bar_ax.bar(["A", "B"], [13, 16])</a:t>
            </a:r>
          </a:p>
          <a:p>
            <a:r>
              <a:t>Draw one bar for each named category with the supplied height.</a:t>
            </a:r>
          </a:p>
          <a:p>
            <a:r>
              <a:t/>
            </a:r>
          </a:p>
          <a:p>
            <a:r>
              <a:t>bar_ax.set_xlabel("Group")</a:t>
            </a:r>
          </a:p>
          <a:p>
            <a:r>
              <a:t>Label the horizontal axis with the named quantity and unit.</a:t>
            </a:r>
          </a:p>
          <a:p>
            <a:r>
              <a:t/>
            </a:r>
          </a:p>
          <a:p>
            <a:r>
              <a:t>bar_ax.set_ylabel("Mean reading (teaching units)")</a:t>
            </a:r>
          </a:p>
          <a:p>
            <a:r>
              <a:t>Label the vertical axis with the named quantity and unit.</a:t>
            </a:r>
          </a:p>
          <a:p>
            <a:r>
              <a:t/>
            </a:r>
          </a:p>
          <a:p>
            <a:r>
              <a:t>bar_ax.set_title("Two invented group means")</a:t>
            </a:r>
          </a:p>
          <a:p>
            <a:r>
              <a:t>This line continues the surrounding expression or block; read it together with the preceding line rather than running it alone.</a:t>
            </a:r>
          </a:p>
          <a:p>
            <a:r>
              <a:t/>
            </a:r>
          </a:p>
          <a:p>
            <a:r>
              <a:t>hist_fig, hist_ax = plt.subplots()</a:t>
            </a:r>
          </a:p>
          <a:p>
            <a:r>
              <a:t>Evaluate the complete right-hand expression first, then assign its result to the name or selected field on the left.</a:t>
            </a:r>
          </a:p>
          <a:p>
            <a:r>
              <a:t/>
            </a:r>
          </a:p>
          <a:p>
            <a:r>
              <a:t>hist_ax.hist(readings, bins=2)</a:t>
            </a:r>
          </a:p>
          <a:p>
            <a:r>
              <a:t>Count numerical observations into intervals and display those counts.</a:t>
            </a:r>
          </a:p>
          <a:p>
            <a:r>
              <a:t/>
            </a:r>
          </a:p>
          <a:p>
            <a:r>
              <a:t>hist_ax.set_xlabel("Reading (teaching units)")</a:t>
            </a:r>
          </a:p>
          <a:p>
            <a:r>
              <a:t>Label the horizontal axis with the named quantity and unit.</a:t>
            </a:r>
          </a:p>
          <a:p>
            <a:r>
              <a:t/>
            </a:r>
          </a:p>
          <a:p>
            <a:r>
              <a:t>hist_ax.set_ylabel("Count of observations")</a:t>
            </a:r>
          </a:p>
          <a:p>
            <a:r>
              <a:t>Label the vertical axis with the named quantity and unit.</a:t>
            </a:r>
          </a:p>
          <a:p>
            <a:r>
              <a:t/>
            </a:r>
          </a:p>
          <a:p>
            <a:r>
              <a:t>Result / continuity</a:t>
            </a:r>
          </a:p>
          <a:p>
            <a:r>
              <a:t>Read top to bottom. Run the complete example in the matching practice notebook.</a:t>
            </a:r>
          </a:p>
          <a:p>
            <a:r>
              <a:t/>
            </a:r>
          </a:p>
          <a:p>
            <a:r>
              <a:t>Continue to</a:t>
            </a:r>
          </a:p>
          <a:p>
            <a:r>
              <a:t>Comparing groups and a distribution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 in Python (2/2)</a:t>
            </a:r>
          </a:p>
          <a:p>
            <a:r>
              <a:t>CML3113, Week 6, slide 37</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Read the displayed code line by line</a:t>
            </a:r>
          </a:p>
          <a:p>
            <a:r>
              <a:t>hist_ax.set_title("Distribution of four observations")</a:t>
            </a:r>
          </a:p>
          <a:p>
            <a:r>
              <a:t>This line continues the surrounding expression or block; read it together with the preceding line rather than running it alone.</a:t>
            </a:r>
          </a:p>
          <a:p>
            <a:r>
              <a:t/>
            </a:r>
          </a:p>
          <a:p>
            <a:r>
              <a:t>plt.show()</a:t>
            </a:r>
          </a:p>
          <a:p>
            <a:r>
              <a:t>This line continues the surrounding expression or block; read it together with the preceding line rather than running it alone.</a:t>
            </a:r>
          </a:p>
          <a:p>
            <a:r>
              <a:t/>
            </a:r>
          </a:p>
          <a:p>
            <a:r>
              <a:t>Result / continuity</a:t>
            </a:r>
          </a:p>
          <a:p>
            <a:r>
              <a:t>Continue the SAME cell; keep indentation. Run after all parts are entered.</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CML3113, Week 6, slide 38</a:t>
            </a:r>
          </a:p>
          <a:p>
            <a:r>
              <a:t/>
            </a:r>
          </a:p>
          <a:p>
            <a:r>
              <a:t>Explanation to give</a:t>
            </a:r>
          </a:p>
          <a:p>
            <a:r>
              <a:t>Use the displayed example as a short individual revision question, then explain the reasoning behind its answer.</a:t>
            </a:r>
          </a:p>
          <a:p>
            <a:r>
              <a:t/>
            </a:r>
          </a:p>
          <a:p>
            <a:r>
              <a:t>Worked illustration / lecturer answer</a:t>
            </a:r>
          </a:p>
          <a:p>
            <a:r>
              <a:t>Example: Explain why 80 was retained. Replace 24 with 26, predict the new fill value, and check that cleaning still leaves raw unchanged.</a:t>
            </a:r>
          </a:p>
          <a:p>
            <a:r>
              <a:t/>
            </a:r>
          </a:p>
          <a:p>
            <a:r>
              <a:t>Answer: An unusual value alone does not prove an error. The task did not authorize deleting 80. With 26 replacing 24, the middle known values are 22 and 26, so the new fill is 24. The raw list still contains None.</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Read a list comprehension after the full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a list comprehension after the full loop</a:t>
            </a:r>
          </a:p>
          <a:p>
            <a:r>
              <a:t>CML3113, Week 6, slide 39</a:t>
            </a:r>
          </a:p>
          <a:p>
            <a:r>
              <a:t/>
            </a:r>
          </a:p>
          <a:p>
            <a:r>
              <a:t>Explanation to give</a:t>
            </a:r>
          </a:p>
          <a:p>
            <a:r>
              <a:t>A comprehension is a compact way to construct a list. First show the equivalent full loop so the learner can identify the expression, the iteration and any condition.</a:t>
            </a:r>
          </a:p>
          <a:p>
            <a:r>
              <a:t/>
            </a:r>
          </a:p>
          <a:p>
            <a:r>
              <a:t>Worked illustration / lecturer answer</a:t>
            </a:r>
          </a:p>
          <a:p>
            <a:r>
              <a:t>squares = [x * x for x in [2, 3]] means initialise an empty list, take 2 then 3, and append each square. The result is [4, 9].</a:t>
            </a:r>
          </a:p>
          <a:p>
            <a:r>
              <a:t/>
            </a:r>
          </a:p>
          <a:p>
            <a:r>
              <a:t>Misconception to address</a:t>
            </a:r>
          </a:p>
          <a:p>
            <a:r>
              <a:t>This syntax is optional for these beginner tasks. A clear full loop is acceptable when it returns the required result.</a:t>
            </a:r>
          </a:p>
          <a:p>
            <a:r>
              <a:t/>
            </a:r>
          </a:p>
          <a:p>
            <a:r>
              <a:t>On this slide</a:t>
            </a:r>
          </a:p>
          <a:p>
            <a:r>
              <a:t>A list comprehension builds a new list using an expression for each visited item. [value * 2 for value in readings] doubles each reading.</a:t>
            </a:r>
          </a:p>
          <a:p>
            <a:r>
              <a:t/>
            </a:r>
          </a:p>
          <a:p>
            <a:r>
              <a:t>Its first part says what to store; its for part says which items supply value. [2, 4, 6] becomes [4, 8, 12].</a:t>
            </a:r>
          </a:p>
          <a:p>
            <a:r>
              <a:t/>
            </a:r>
          </a:p>
          <a:p>
            <a:r>
              <a:t>This compact spelling is optional. Use the expanded loop already taught when that is easier to explain.</a:t>
            </a:r>
          </a:p>
          <a:p>
            <a:r>
              <a:t/>
            </a:r>
          </a:p>
          <a:p>
            <a:r>
              <a:t>Reference / existing resource</a:t>
            </a:r>
          </a:p>
          <a:p>
            <a:r>
              <a:t>https://docs.python.org/3/tutorial/introduction.html</a:t>
            </a:r>
          </a:p>
          <a:p>
            <a:r>
              <a:t>https://docs.python.org/3/tutorial/controlflow.html;</a:t>
            </a:r>
          </a:p>
          <a:p>
            <a:r>
              <a:t/>
            </a:r>
          </a:p>
          <a:p>
            <a:r>
              <a:t>Continue to</a:t>
            </a:r>
          </a:p>
          <a:p>
            <a:r>
              <a:t>A compact loop is optional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compact loop is optional</a:t>
            </a:r>
          </a:p>
          <a:p>
            <a:r>
              <a:t>CML3113, Week 6, slide 40</a:t>
            </a:r>
          </a:p>
          <a:p>
            <a:r>
              <a:t/>
            </a:r>
          </a:p>
          <a:p>
            <a:r>
              <a:t>Explanation to give</a:t>
            </a:r>
          </a:p>
          <a:p>
            <a:r>
              <a:t>A comprehension is a compact way to construct a list. First show the equivalent full loop so the learner can identify the expression, the iteration and any condition.</a:t>
            </a:r>
          </a:p>
          <a:p>
            <a:r>
              <a:t/>
            </a:r>
          </a:p>
          <a:p>
            <a:r>
              <a:t>Worked illustration / lecturer answer</a:t>
            </a:r>
          </a:p>
          <a:p>
            <a:r>
              <a:t>squares = [x * x for x in [2, 3]] means initialise an empty list, take 2 then 3, and append each square. The result is [4, 9].</a:t>
            </a:r>
          </a:p>
          <a:p>
            <a:r>
              <a:t/>
            </a:r>
          </a:p>
          <a:p>
            <a:r>
              <a:t>Misconception to address</a:t>
            </a:r>
          </a:p>
          <a:p>
            <a:r>
              <a:t>This syntax is optional for these beginner tasks. A clear full loop is acceptable when it returns the required result.</a:t>
            </a:r>
          </a:p>
          <a:p>
            <a:r>
              <a:t/>
            </a:r>
          </a:p>
          <a:p>
            <a:r>
              <a:t>Read the displayed code line by line</a:t>
            </a:r>
          </a:p>
          <a:p>
            <a:r>
              <a:t>readings = [2, 4, 6]</a:t>
            </a:r>
          </a:p>
          <a:p>
            <a:r>
              <a:t>Evaluate the complete right-hand expression first, then assign its result to the name or selected field on the left.</a:t>
            </a:r>
          </a:p>
          <a:p>
            <a:r>
              <a:t/>
            </a:r>
          </a:p>
          <a:p>
            <a:r>
              <a:t>doubled = []</a:t>
            </a:r>
          </a:p>
          <a:p>
            <a:r>
              <a:t>Evaluate the complete right-hand expression first, then assign its result to the name or selected field on the left.</a:t>
            </a:r>
          </a:p>
          <a:p>
            <a:r>
              <a:t/>
            </a:r>
          </a:p>
          <a:p>
            <a:r>
              <a:t>for value in readings:</a:t>
            </a:r>
          </a:p>
          <a:p>
            <a:r>
              <a:t>Take each item or pair in turn, assign the loop name(s), and repeat the indented body.</a:t>
            </a:r>
          </a:p>
          <a:p>
            <a:r>
              <a:t/>
            </a:r>
          </a:p>
          <a:p>
            <a:r>
              <a:t>doubled.append(value * 2)</a:t>
            </a:r>
          </a:p>
          <a:p>
            <a:r>
              <a:t>Evaluate the argument and add it as one new item at the end of this list.</a:t>
            </a:r>
          </a:p>
          <a:p>
            <a:r>
              <a:t/>
            </a:r>
          </a:p>
          <a:p>
            <a:r>
              <a:t>print(doubled)</a:t>
            </a:r>
          </a:p>
          <a:p>
            <a:r>
              <a:t>Evaluate the expression inside the parentheses and display it. Displaying is separate from returning a function result.</a:t>
            </a:r>
          </a:p>
          <a:p>
            <a:r>
              <a:t/>
            </a:r>
          </a:p>
          <a:p>
            <a:r>
              <a:t>print([value * 2 for value in readings])</a:t>
            </a:r>
          </a:p>
          <a:p>
            <a:r>
              <a:t>Evaluate the expression inside the parentheses and display it. Displaying is separate from returning a function result.</a:t>
            </a:r>
          </a:p>
          <a:p>
            <a:r>
              <a:t/>
            </a:r>
          </a:p>
          <a:p>
            <a:r>
              <a:t>Result / continuity</a:t>
            </a:r>
          </a:p>
          <a:p>
            <a:r>
              <a:t>A list comprehension makes the same list. Learn the ordinary loop first.</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6, slide 41</a:t>
            </a:r>
          </a:p>
          <a:p>
            <a:r>
              <a:t/>
            </a:r>
          </a:p>
          <a:p>
            <a:r>
              <a:t>Explanation to give</a:t>
            </a:r>
          </a:p>
          <a:p>
            <a:r>
              <a:t>Describe the received table before changing it: its rows, columns, units and defects. Then explain each cleaning rule and preserve the original data.</a:t>
            </a:r>
          </a:p>
          <a:p>
            <a:r>
              <a:t/>
            </a:r>
          </a:p>
          <a:p>
            <a:r>
              <a:t>Worked illustration / lecturer answer</a:t>
            </a:r>
          </a:p>
          <a:p>
            <a:r>
              <a:t>A duplicate record ID and repeated equipment ID are different situations. Removing the former under a stated rule may be correct while removing the latter could discard legitimate observations.</a:t>
            </a:r>
          </a:p>
          <a:p>
            <a:r>
              <a:t/>
            </a:r>
          </a:p>
          <a:p>
            <a:r>
              <a:t>Misconception to address</a:t>
            </a:r>
          </a:p>
          <a:p>
            <a:r>
              <a:t>A correct output without a justification may not satisfy the reasoning criterion. Use the task’s exact rules rather than choosing whichever cleaning makes results look attractive.</a:t>
            </a:r>
          </a:p>
          <a:p>
            <a:r>
              <a:t/>
            </a:r>
          </a:p>
          <a:p>
            <a:r>
              <a:t>On this slide</a:t>
            </a:r>
          </a:p>
          <a:p>
            <a:r>
              <a:t>W06 uses a list of record dictionaries.</a:t>
            </a:r>
          </a:p>
          <a:p>
            <a:r>
              <a:t/>
            </a:r>
          </a:p>
          <a:p>
            <a:r>
              <a:t>Show one record and one field lookup before the function interfaces.</a:t>
            </a:r>
          </a:p>
          <a:p>
            <a:r>
              <a:t/>
            </a:r>
          </a:p>
          <a:p>
            <a:r>
              <a:t>Parse CSV blank numeric cells as None. dict(row) copies a record. append adds an item to a list.</a:t>
            </a:r>
          </a:p>
          <a:p>
            <a:r>
              <a:t/>
            </a:r>
          </a:p>
          <a:p>
            <a:r>
              <a:t>The task brief specifies the cleaning order and returned outputs.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CML3113, Week 6, slide 42</a:t>
            </a:r>
          </a:p>
          <a:p>
            <a:r>
              <a:t/>
            </a:r>
          </a:p>
          <a:p>
            <a:r>
              <a:t>Explanation to give</a:t>
            </a:r>
          </a:p>
          <a:p>
            <a:r>
              <a:t>Keep related equipment observations together so the validation really represents equipment the model has not seen.</a:t>
            </a:r>
          </a:p>
          <a:p>
            <a:r>
              <a:t/>
            </a:r>
          </a:p>
          <a:p>
            <a:r>
              <a:t>Worked illustration / lecturer answer</a:t>
            </a:r>
          </a:p>
          <a:p>
            <a:r>
              <a:t>The written question may supply a comparison scenario. Label those numbers as supplied scenario evidence; do not claim they came from a run of your own notebook.</a:t>
            </a:r>
          </a:p>
          <a:p>
            <a:r>
              <a:t/>
            </a:r>
          </a:p>
          <a:p>
            <a:r>
              <a:t>Misconception to address</a:t>
            </a:r>
          </a:p>
          <a:p>
            <a:r>
              <a:t>A supplied scenario and an observed experimental result have different provenance. Both can be interpreted, but should not be confused.</a:t>
            </a:r>
          </a:p>
          <a:p>
            <a:r>
              <a:t/>
            </a:r>
          </a:p>
          <a:p>
            <a:r>
              <a:t>On this slide</a:t>
            </a:r>
          </a:p>
          <a:p>
            <a:r>
              <a:t>A set records IDs already seen.</a:t>
            </a:r>
          </a:p>
          <a:p>
            <a:r>
              <a:t/>
            </a:r>
          </a:p>
          <a:p>
            <a:r>
              <a:t>Group summaries collect readings with the same equipment ID.</a:t>
            </a:r>
          </a:p>
          <a:p>
            <a:r>
              <a:t/>
            </a:r>
          </a:p>
          <a:p>
            <a:r>
              <a:t>Write your explanations in the My written evidence section.</a:t>
            </a:r>
          </a:p>
          <a:p>
            <a:r>
              <a:t/>
            </a:r>
          </a:p>
          <a:p>
            <a:r>
              <a:t>Continue to</a:t>
            </a:r>
          </a:p>
          <a:p>
            <a:r>
              <a:t>Cleaning choices and charts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choices and charts</a:t>
            </a:r>
          </a:p>
          <a:p>
            <a:r>
              <a:t>CML3113, Week 6, slide 43</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Filling blanks with zero changes the mean and may be unjustified.</a:t>
            </a:r>
          </a:p>
          <a:p>
            <a:r>
              <a:t/>
            </a:r>
          </a:p>
          <a:p>
            <a:r>
              <a:t>Dropping every row with any blank can remove valid observations.</a:t>
            </a:r>
          </a:p>
          <a:p>
            <a:r>
              <a:t/>
            </a:r>
          </a:p>
          <a:p>
            <a:r>
              <a:t>A failed numeric conversion identifies a problematic value to inspect rather than hide.</a:t>
            </a:r>
          </a:p>
          <a:p>
            <a:r>
              <a:t/>
            </a:r>
          </a:p>
          <a:p>
            <a:r>
              <a:t>A histogram describes one distribution; a scatter plot shows paired values; a grouped chart compares groups.</a:t>
            </a:r>
          </a:p>
          <a:p>
            <a:r>
              <a:t/>
            </a:r>
          </a:p>
          <a:p>
            <a:r>
              <a:t>Continue to</a:t>
            </a:r>
          </a:p>
          <a:p>
            <a:r>
              <a:t>Cleaning choices and charts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choices and charts continued</a:t>
            </a:r>
          </a:p>
          <a:p>
            <a:r>
              <a:t>CML3113, Week 6, slide 44</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Read both axes and units.</a:t>
            </a:r>
          </a:p>
          <a:p>
            <a:r>
              <a:t/>
            </a:r>
          </a:p>
          <a:p>
            <a:r>
              <a:t>A plausible extreme needs investigation before deletion.</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CML3113, Week 6, slide 45</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crusher energy demand.</a:t>
            </a:r>
          </a:p>
          <a:p>
            <a:r>
              <a:t/>
            </a:r>
          </a:p>
          <a:p>
            <a:r>
              <a:t>Target units: kWh/t.</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clean_records(records)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clean_records(records)</a:t>
            </a:r>
          </a:p>
          <a:p>
            <a:r>
              <a:t>CML3113, Week 6, slide 46</a:t>
            </a:r>
          </a:p>
          <a:p>
            <a:r>
              <a:t/>
            </a:r>
          </a:p>
          <a:p>
            <a:r>
              <a:t>Explanation to give</a:t>
            </a:r>
          </a:p>
          <a:p>
            <a:r>
              <a:t>Follow the stated cleaning order and record-ID policy on copied records. Preserve the caller’s input and keep legitimate repeated equipment observations.</a:t>
            </a:r>
          </a:p>
          <a:p>
            <a:r>
              <a:t/>
            </a:r>
          </a:p>
          <a:p>
            <a:r>
              <a:t>Worked illustration / lecturer answer</a:t>
            </a:r>
          </a:p>
          <a:p>
            <a:r>
              <a:t>An estimated replacement belongs only in the specified field. A row dropped earlier must not influence a later training or cleaning statistic.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copied records in original order: remove repeated record_id after its first occurrence, drop rows with missing target or load_pct outside 0–100 inclusive, then fill missing ambient_c with the median of retained non-missing ambient_c values.</a:t>
            </a:r>
          </a:p>
          <a:p>
            <a:r>
              <a:t/>
            </a:r>
          </a:p>
          <a:p>
            <a:r>
              <a:t>Preserve raw input.</a:t>
            </a:r>
          </a:p>
          <a:p>
            <a:r>
              <a:t/>
            </a:r>
          </a:p>
          <a:p>
            <a:r>
              <a:t>No other changes.</a:t>
            </a:r>
          </a:p>
          <a:p>
            <a:r>
              <a:t/>
            </a:r>
          </a:p>
          <a:p>
            <a:r>
              <a:t>Continue to</a:t>
            </a:r>
          </a:p>
          <a:p>
            <a:r>
              <a:t>summarize_records(clean_records)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summarize_records(clean_records)</a:t>
            </a:r>
          </a:p>
          <a:p>
            <a:r>
              <a:t>CML3113, Week 6, slide 47</a:t>
            </a:r>
          </a:p>
          <a:p>
            <a:r>
              <a:t/>
            </a:r>
          </a:p>
          <a:p>
            <a:r>
              <a:t>Explanation to give</a:t>
            </a:r>
          </a:p>
          <a:p>
            <a:r>
              <a:t>Produce a dictionary from each group label to its own mean, using each group’s valid count.</a:t>
            </a:r>
          </a:p>
          <a:p>
            <a:r>
              <a:t/>
            </a:r>
          </a:p>
          <a:p>
            <a:r>
              <a:t>Worked illustration / lecturer answer</a:t>
            </a:r>
          </a:p>
          <a:p>
            <a:r>
              <a:t>Group A with readings 2 and 4 has mean 3. Group B with a single 9 has mean 9. Dividing both by the overall count would be wrong.</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count, mean, minimum, maximum of target and group_means by equipment_id.</a:t>
            </a:r>
          </a:p>
          <a:p>
            <a:r>
              <a:t/>
            </a:r>
          </a:p>
          <a:p>
            <a:r>
              <a:t>Retain full precision.</a:t>
            </a:r>
          </a:p>
          <a:p>
            <a:r>
              <a:t/>
            </a:r>
          </a:p>
          <a:p>
            <a:r>
              <a:t>Continue to</a:t>
            </a:r>
          </a:p>
          <a:p>
            <a:r>
              <a:t>audit_cleaning(raw_records, cleaned_records)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audit_cleaning(raw_records, cleaned_records)</a:t>
            </a:r>
          </a:p>
          <a:p>
            <a:r>
              <a:t>CML3113, Week 6, slide 48</a:t>
            </a:r>
          </a:p>
          <a:p>
            <a:r>
              <a:t/>
            </a:r>
          </a:p>
          <a:p>
            <a:r>
              <a:t>Explanation to give</a:t>
            </a:r>
          </a:p>
          <a:p>
            <a:r>
              <a:t>Inspect the two lists actually passed in. Report their counts and any specified defects still present after cleaning; do not assume the cleaned input is flawless.</a:t>
            </a:r>
          </a:p>
          <a:p>
            <a:r>
              <a:t/>
            </a:r>
          </a:p>
          <a:p>
            <a:r>
              <a:t>Worked illustration / lecturer answer</a:t>
            </a:r>
          </a:p>
          <a:p>
            <a:r>
              <a:t>If an independently supplied cleaned list still contains one repeated record ID, the audit must report that remaining defect rather than return zero by assumption.</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raw_count and cleaned_count; duplicate_ids is the number of cleaned records beyond the first occurrence of each record_id; missing_targets counts None targets; invalid_loads counts cleaned load_pct outside 0–100 inclusive.</a:t>
            </a:r>
          </a:p>
          <a:p>
            <a:r>
              <a:t/>
            </a:r>
          </a:p>
          <a:p>
            <a:r>
              <a:t>Report the actual supplied data, which may still contain defects.</a:t>
            </a:r>
          </a:p>
          <a:p>
            <a:r>
              <a:t/>
            </a:r>
          </a:p>
          <a:p>
            <a:r>
              <a:t>Do not change either input.</a:t>
            </a:r>
          </a:p>
          <a:p>
            <a:r>
              <a:t/>
            </a:r>
          </a:p>
          <a:p>
            <a:r>
              <a:t>All five values are integer counts.</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CML3113, Week 6, slide 49</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Cleaning and quality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and quality submission</a:t>
            </a:r>
          </a:p>
          <a:p>
            <a:r>
              <a:t>CML3113, Week 6, slide 50</a:t>
            </a:r>
          </a:p>
          <a:p>
            <a:r>
              <a:t/>
            </a:r>
          </a:p>
          <a:p>
            <a:r>
              <a:t>Explanation to give</a:t>
            </a:r>
          </a:p>
          <a:p>
            <a:r>
              <a:t>This slide hands over CML3113 W06. Show the exact form title before uploading. The required packet is one completed .ipynb notebook.</a:t>
            </a:r>
          </a:p>
          <a:p>
            <a:r>
              <a:t/>
            </a:r>
          </a:p>
          <a:p>
            <a:r>
              <a:t>Worked illustration / lecturer answer</a:t>
            </a:r>
          </a:p>
          <a:p>
            <a:r>
              <a:t>The recorded cutoff for this form is 2026-10-23T08:00:00+03:00.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16 Oct 2026, 08:00 Kampala</a:t>
            </a:r>
          </a:p>
          <a:p>
            <a:r>
              <a:t/>
            </a:r>
          </a:p>
          <a:p>
            <a:r>
              <a:t>Deadline: 23 Oct 2026, 08:00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CML3113, Week 6, slide 51</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data analysis project brief.</a:t>
            </a:r>
          </a:p>
          <a:p>
            <a:r>
              <a:t/>
            </a:r>
          </a:p>
          <a:p>
            <a:r>
              <a:t>Build the evidence gradually in your project notebook.</a:t>
            </a:r>
          </a:p>
          <a:p>
            <a:r>
              <a:t/>
            </a:r>
          </a:p>
          <a:p>
            <a:r>
              <a:t>Keep raw data, labelled charts, run instructions and individual contributions.</a:t>
            </a:r>
          </a:p>
          <a:p>
            <a:r>
              <a:t/>
            </a:r>
          </a:p>
          <a:p>
            <a:r>
              <a:t>Published deadline: 30 Oct 2026, 08:00 Kampala</a:t>
            </a:r>
          </a:p>
          <a:p>
            <a:r>
              <a:t/>
            </a:r>
          </a:p>
          <a:p>
            <a:r>
              <a:t>Continue to</a:t>
            </a:r>
          </a:p>
          <a:p>
            <a:r>
              <a:t>Week 6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6 quiz</a:t>
            </a:r>
          </a:p>
          <a:p>
            <a:r>
              <a:t>CML3113, Week 6, slide 52</a:t>
            </a:r>
          </a:p>
          <a:p>
            <a:r>
              <a:t/>
            </a:r>
          </a:p>
          <a:p>
            <a:r>
              <a:t>Explanation to give</a:t>
            </a:r>
          </a:p>
          <a:p>
            <a:r>
              <a:t>This is the CML3113 Week 6 quiz. The student link opens the response form; it does not activate its window. In Quiz Controls use open_W6_CML3113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6, slide 53</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justify a change, show its effect and identify an estimated value.</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CML3113, Week 6, slide 54</a:t>
            </a:r>
          </a:p>
          <a:p>
            <a:r>
              <a:t/>
            </a:r>
          </a:p>
          <a:p>
            <a:r>
              <a:t>Explanation to give</a:t>
            </a:r>
          </a:p>
          <a:p>
            <a:r>
              <a:t>Give the viewing question before playing the excerpt: What does the box show, and does a point outside it prove an error?</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Boxplots are Awesome!!!</a:t>
            </a:r>
          </a:p>
          <a:p>
            <a:r>
              <a:t/>
            </a:r>
          </a:p>
          <a:p>
            <a:r>
              <a:t>Opening up to 04:00, optional preview-selected excerpt</a:t>
            </a:r>
          </a:p>
          <a:p>
            <a:r>
              <a:t/>
            </a:r>
          </a:p>
          <a:p>
            <a:r>
              <a:t>Listening question: What does the box show, and does a point outside it prove an error?</a:t>
            </a:r>
          </a:p>
          <a:p>
            <a:r>
              <a:t/>
            </a:r>
          </a:p>
          <a:p>
            <a:r>
              <a:t>Reference / existing resource</a:t>
            </a:r>
          </a:p>
          <a:p>
            <a:r>
              <a:t>https://www.youtube.com/watch?v=fHLhBnmwUM0</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3a386252c643a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20ca96229c49a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6d399363420456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b85509feca41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5707bb98694d9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057031c2cd41c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F2CB92C-483E-40C3-941A-28EA825BCC77}"/>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0C67E04-1F83-4A63-97C6-5E32F913301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83B5FB20-6D88-4417-843A-8EE773F308C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B0842CC-9964-4976-AA31-C8D8BB47F2C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107D93D-CA0F-4ABF-86B8-0A53B1FC91B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A4157B3-B1C9-4FFE-AEAF-24D05C46B5D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DF81244-127C-404C-8856-BAA922AD9C4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9C5253BC-57DC-4AC8-94CC-4CE75F8FA00B}"/>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8A79246-472E-4C77-B5C7-A1459461727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5943862-4F1F-400F-B36E-9ED15B10020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DAAB6AB-0E3D-4B54-93FC-4F5A76E6971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1AC75A3-3CE7-41D0-8FB1-A10727A5EF7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69F8092-9806-4EE4-BF03-81E249703FB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3790895-F875-4AC2-9885-8AF2BA019AF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3AF0946-46FC-4A69-872C-055D08C8707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6688dde9164663" /><Relationship Type="http://schemas.openxmlformats.org/officeDocument/2006/relationships/slideLayout" Target="/ppt/slideLayouts/slideLayout1.xml" Id="R208c968ab259476d" /><Relationship Type="http://schemas.openxmlformats.org/officeDocument/2006/relationships/slideLayout" Target="/ppt/slideLayouts/slideLayout2.xml" Id="R80f9f65eb9ef40b8" /><Relationship Type="http://schemas.openxmlformats.org/officeDocument/2006/relationships/slideLayout" Target="/ppt/slideLayouts/slideLayout3.xml" Id="R175cd1d5f7c84b2f" /><Relationship Type="http://schemas.openxmlformats.org/officeDocument/2006/relationships/slideLayout" Target="/ppt/slideLayouts/slideLayout4.xml" Id="R67cc5aa404d54b97" /><Relationship Type="http://schemas.openxmlformats.org/officeDocument/2006/relationships/slideLayout" Target="/ppt/slideLayouts/slideLayout5.xml" Id="R115b20daab5f442f" /><Relationship Type="http://schemas.openxmlformats.org/officeDocument/2006/relationships/slideLayout" Target="/ppt/slideLayouts/slideLayout6.xml" Id="Re1defddbc87a45e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8c968ab259476d"/>
    <p:sldLayoutId xmlns:r="http://schemas.openxmlformats.org/officeDocument/2006/relationships" id="2147483650" r:id="R80f9f65eb9ef40b8"/>
    <p:sldLayoutId xmlns:r="http://schemas.openxmlformats.org/officeDocument/2006/relationships" id="2147483651" r:id="R175cd1d5f7c84b2f"/>
    <p:sldLayoutId xmlns:r="http://schemas.openxmlformats.org/officeDocument/2006/relationships" id="2147483652" r:id="R67cc5aa404d54b97"/>
    <p:sldLayoutId xmlns:r="http://schemas.openxmlformats.org/officeDocument/2006/relationships" id="2147483653" r:id="R115b20daab5f442f"/>
    <p:sldLayoutId xmlns:r="http://schemas.openxmlformats.org/officeDocument/2006/relationships" id="2147483654" r:id="Re1defddbc87a45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d25627d1f404684" /><Relationship Type="http://schemas.openxmlformats.org/officeDocument/2006/relationships/image" Target="/ppt/media/image.png" Id="Rc50ea30af5794ea7" /><Relationship Type="http://schemas.openxmlformats.org/officeDocument/2006/relationships/notesSlide" Target="/ppt/notesSlides/notesSlide1.xml" Id="R4df104391e0942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e5805c4615f41fe" /><Relationship Type="http://schemas.openxmlformats.org/officeDocument/2006/relationships/notesSlide" Target="/ppt/notesSlides/notesSlide2.xml" Id="Rc024cc82395642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c08d6d9f704485f" /><Relationship Type="http://schemas.openxmlformats.org/officeDocument/2006/relationships/notesSlide" Target="/ppt/notesSlides/notesSlide3.xml" Id="Racebfe05749845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ae5780146f047d7" /><Relationship Type="http://schemas.openxmlformats.org/officeDocument/2006/relationships/notesSlide" Target="/ppt/notesSlides/notesSlide4.xml" Id="R19525cbc5e51451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dc00f43b1b548a3" /><Relationship Type="http://schemas.openxmlformats.org/officeDocument/2006/relationships/notesSlide" Target="/ppt/notesSlides/notesSlide5.xml" Id="Re1e92c3764a5424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ca8a00b8c684d17" /><Relationship Type="http://schemas.openxmlformats.org/officeDocument/2006/relationships/notesSlide" Target="/ppt/notesSlides/notesSlide6.xml" Id="R5a521d9baee34b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e0e1b5c5fc24d20" /><Relationship Type="http://schemas.openxmlformats.org/officeDocument/2006/relationships/notesSlide" Target="/ppt/notesSlides/notesSlide7.xml" Id="R3999b2e0fffc4f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99726de06d24913" /><Relationship Type="http://schemas.openxmlformats.org/officeDocument/2006/relationships/notesSlide" Target="/ppt/notesSlides/notesSlide8.xml" Id="R5136f0c8f7f643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deaefc3701846c2" /><Relationship Type="http://schemas.openxmlformats.org/officeDocument/2006/relationships/notesSlide" Target="/ppt/notesSlides/notesSlide9.xml" Id="R7ed23cc7fae7432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42abe8a8d0c4675" /><Relationship Type="http://schemas.openxmlformats.org/officeDocument/2006/relationships/notesSlide" Target="/ppt/notesSlides/notesSlide10.xml" Id="Reee2a12c29b546b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bad66012ea04f82" /><Relationship Type="http://schemas.openxmlformats.org/officeDocument/2006/relationships/notesSlide" Target="/ppt/notesSlides/notesSlide11.xml" Id="Rfd6139f9c98f440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36dd68765524f89" /><Relationship Type="http://schemas.openxmlformats.org/officeDocument/2006/relationships/notesSlide" Target="/ppt/notesSlides/notesSlide12.xml" Id="Rb52480637a74423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68077dce3b2409f" /><Relationship Type="http://schemas.openxmlformats.org/officeDocument/2006/relationships/notesSlide" Target="/ppt/notesSlides/notesSlide13.xml" Id="Rf7d4c0a4a65c423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de59dd7f9074891" /><Relationship Type="http://schemas.openxmlformats.org/officeDocument/2006/relationships/notesSlide" Target="/ppt/notesSlides/notesSlide14.xml" Id="R7a09c0072b2249a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f456275e55b4bbc" /><Relationship Type="http://schemas.openxmlformats.org/officeDocument/2006/relationships/notesSlide" Target="/ppt/notesSlides/notesSlide15.xml" Id="R7ef0c74b5a23416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e3a5a9d37fb4c8e" /><Relationship Type="http://schemas.openxmlformats.org/officeDocument/2006/relationships/image" Target="/ppt/media/image2.png" Id="Rb50c8813fd534e37" /><Relationship Type="http://schemas.openxmlformats.org/officeDocument/2006/relationships/notesSlide" Target="/ppt/notesSlides/notesSlide16.xml" Id="R791010ef7d4d40f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63ae2e572ea46e4" /><Relationship Type="http://schemas.openxmlformats.org/officeDocument/2006/relationships/notesSlide" Target="/ppt/notesSlides/notesSlide17.xml" Id="R59704cd3558d4e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97c6990a522477e" /><Relationship Type="http://schemas.openxmlformats.org/officeDocument/2006/relationships/notesSlide" Target="/ppt/notesSlides/notesSlide18.xml" Id="R50fea433f7704d8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08deb24f5404816" /><Relationship Type="http://schemas.openxmlformats.org/officeDocument/2006/relationships/notesSlide" Target="/ppt/notesSlides/notesSlide19.xml" Id="R8941f92bd70e4df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15556d3ab5741d0" /><Relationship Type="http://schemas.openxmlformats.org/officeDocument/2006/relationships/notesSlide" Target="/ppt/notesSlides/notesSlide20.xml" Id="Rbc5d10bcdc14452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382745cd6644dc3" /><Relationship Type="http://schemas.openxmlformats.org/officeDocument/2006/relationships/notesSlide" Target="/ppt/notesSlides/notesSlide21.xml" Id="Re9c5c5112d5b4d7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066d6dd6c441a6" /><Relationship Type="http://schemas.openxmlformats.org/officeDocument/2006/relationships/notesSlide" Target="/ppt/notesSlides/notesSlide22.xml" Id="R044d25d280d04cb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fccc33b8cfb46d2" /><Relationship Type="http://schemas.openxmlformats.org/officeDocument/2006/relationships/notesSlide" Target="/ppt/notesSlides/notesSlide23.xml" Id="R96606aa252c8430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f54291b86c6411b" /><Relationship Type="http://schemas.openxmlformats.org/officeDocument/2006/relationships/notesSlide" Target="/ppt/notesSlides/notesSlide24.xml" Id="R08ccfb64fe34414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411d26f3b80448e" /><Relationship Type="http://schemas.openxmlformats.org/officeDocument/2006/relationships/notesSlide" Target="/ppt/notesSlides/notesSlide25.xml" Id="R725a28e7e514498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57e6473f1024920" /><Relationship Type="http://schemas.openxmlformats.org/officeDocument/2006/relationships/notesSlide" Target="/ppt/notesSlides/notesSlide26.xml" Id="R00f3423ba18b4e9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bf0d094a9dd4a5f" /><Relationship Type="http://schemas.openxmlformats.org/officeDocument/2006/relationships/notesSlide" Target="/ppt/notesSlides/notesSlide27.xml" Id="Ree4b79876e75415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2bb2488ffac481d" /><Relationship Type="http://schemas.openxmlformats.org/officeDocument/2006/relationships/notesSlide" Target="/ppt/notesSlides/notesSlide28.xml" Id="Re1d6edc58bb04b8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0d07709910b423b" /><Relationship Type="http://schemas.openxmlformats.org/officeDocument/2006/relationships/notesSlide" Target="/ppt/notesSlides/notesSlide29.xml" Id="Rb88e52339fc346a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cfdcb8fc9654b56" /><Relationship Type="http://schemas.openxmlformats.org/officeDocument/2006/relationships/notesSlide" Target="/ppt/notesSlides/notesSlide30.xml" Id="R79a8e8fcd2f244e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f80ed8c4f3045bb" /><Relationship Type="http://schemas.openxmlformats.org/officeDocument/2006/relationships/image" Target="/ppt/media/image3.png" Id="R26601ad5ceab4e6a" /><Relationship Type="http://schemas.openxmlformats.org/officeDocument/2006/relationships/notesSlide" Target="/ppt/notesSlides/notesSlide31.xml" Id="Rbab88a0287c442a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0e99e7a687b45c2" /><Relationship Type="http://schemas.openxmlformats.org/officeDocument/2006/relationships/notesSlide" Target="/ppt/notesSlides/notesSlide32.xml" Id="R21f3a02c1671402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b699989f04b4264" /><Relationship Type="http://schemas.openxmlformats.org/officeDocument/2006/relationships/notesSlide" Target="/ppt/notesSlides/notesSlide33.xml" Id="R8c5955f6ab2a4cb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8b5a86a203c4d40" /><Relationship Type="http://schemas.openxmlformats.org/officeDocument/2006/relationships/notesSlide" Target="/ppt/notesSlides/notesSlide34.xml" Id="R04998810316348a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2094f50fb4742a4" /><Relationship Type="http://schemas.openxmlformats.org/officeDocument/2006/relationships/notesSlide" Target="/ppt/notesSlides/notesSlide35.xml" Id="R4ffbbe43b0774be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1408c898a544260" /><Relationship Type="http://schemas.openxmlformats.org/officeDocument/2006/relationships/notesSlide" Target="/ppt/notesSlides/notesSlide36.xml" Id="Rbc190bd7f74546c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79e32c89a9c4115" /><Relationship Type="http://schemas.openxmlformats.org/officeDocument/2006/relationships/notesSlide" Target="/ppt/notesSlides/notesSlide37.xml" Id="R8cb7727c2c7e4af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b1962029e744b7d" /><Relationship Type="http://schemas.openxmlformats.org/officeDocument/2006/relationships/notesSlide" Target="/ppt/notesSlides/notesSlide38.xml" Id="R8de6993496284be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4eb777d96b3e47f0" /><Relationship Type="http://schemas.openxmlformats.org/officeDocument/2006/relationships/notesSlide" Target="/ppt/notesSlides/notesSlide39.xml" Id="R8b104150b1544a3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f01dab13ff14188" /><Relationship Type="http://schemas.openxmlformats.org/officeDocument/2006/relationships/notesSlide" Target="/ppt/notesSlides/notesSlide40.xml" Id="R9c8c24518c4b453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dd1e7e154cd4e2c" /><Relationship Type="http://schemas.openxmlformats.org/officeDocument/2006/relationships/notesSlide" Target="/ppt/notesSlides/notesSlide41.xml" Id="Rea11cca8cd5042f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072a39212b74743" /><Relationship Type="http://schemas.openxmlformats.org/officeDocument/2006/relationships/notesSlide" Target="/ppt/notesSlides/notesSlide42.xml" Id="R3c0a86ce8d7b49e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c5429e0d7c343f3" /><Relationship Type="http://schemas.openxmlformats.org/officeDocument/2006/relationships/notesSlide" Target="/ppt/notesSlides/notesSlide43.xml" Id="Rb96a13eb0cd24b5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a9f03a82c004f3d" /><Relationship Type="http://schemas.openxmlformats.org/officeDocument/2006/relationships/notesSlide" Target="/ppt/notesSlides/notesSlide44.xml" Id="R4c3c2b08f5fa41a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c58619478e24a63" /><Relationship Type="http://schemas.openxmlformats.org/officeDocument/2006/relationships/notesSlide" Target="/ppt/notesSlides/notesSlide45.xml" Id="R60b88f46a2b34d3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cfc3061cf2bc44b7" /><Relationship Type="http://schemas.openxmlformats.org/officeDocument/2006/relationships/notesSlide" Target="/ppt/notesSlides/notesSlide46.xml" Id="R7ba6cd97e2ed4e5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d3b8e533d6646df" /><Relationship Type="http://schemas.openxmlformats.org/officeDocument/2006/relationships/notesSlide" Target="/ppt/notesSlides/notesSlide47.xml" Id="Reef5e98d67c14f3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63ae358d2114375" /><Relationship Type="http://schemas.openxmlformats.org/officeDocument/2006/relationships/notesSlide" Target="/ppt/notesSlides/notesSlide48.xml" Id="R9fa3c93be3874c3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c55a376e5734a49" /><Relationship Type="http://schemas.openxmlformats.org/officeDocument/2006/relationships/notesSlide" Target="/ppt/notesSlides/notesSlide49.xml" Id="R927cc0a8f3a4449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4bf89f75f864919" /><Relationship Type="http://schemas.openxmlformats.org/officeDocument/2006/relationships/hyperlink" Target="https://docs.google.com/forms/d/e/1FAIpQLSfTETySrIpbVK0xyJo7Zft9exWhC8kB0u4XRrbF8Vbm9Ajq7Q/viewform" TargetMode="External" Id="Rc591c1e1f7a2400e" /><Relationship Type="http://schemas.openxmlformats.org/officeDocument/2006/relationships/notesSlide" Target="/ppt/notesSlides/notesSlide50.xml" Id="R2c9a9c265a7d497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6ce20c76d084385" /><Relationship Type="http://schemas.openxmlformats.org/officeDocument/2006/relationships/notesSlide" Target="/ppt/notesSlides/notesSlide51.xml" Id="Ra2190707725446b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7785db3f00534d4a" /><Relationship Type="http://schemas.openxmlformats.org/officeDocument/2006/relationships/image" Target="/ppt/media/image4.png" Id="R25ba3ce232974a42" /><Relationship Type="http://schemas.openxmlformats.org/officeDocument/2006/relationships/hyperlink" Target="https://forms.gle/4SRNGRCUtUmKpTc1A" TargetMode="External" Id="Rfd1824f5b2d647af" /><Relationship Type="http://schemas.openxmlformats.org/officeDocument/2006/relationships/notesSlide" Target="/ppt/notesSlides/notesSlide52.xml" Id="R22459956d5ed405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5d6f647e6374632" /><Relationship Type="http://schemas.openxmlformats.org/officeDocument/2006/relationships/notesSlide" Target="/ppt/notesSlides/notesSlide53.xml" Id="R08b0b3f1a65f48d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051567b3182949f9" /><Relationship Type="http://schemas.openxmlformats.org/officeDocument/2006/relationships/hyperlink" Target="https://www.youtube.com/watch?v=fHLhBnmwUM0" TargetMode="External" Id="R881f7ff6334144a3" /><Relationship Type="http://schemas.openxmlformats.org/officeDocument/2006/relationships/notesSlide" Target="/ppt/notesSlides/notesSlide54.xml" Id="Rd3d09784ea1148d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50ea30af5794ea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516885-B52E-4156-AF7D-F9EF6F45603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FB354E0-C0D1-48E2-ADCE-EA4DEDF28DF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6</a:t>
            </a:r>
          </a:p>
        </p:txBody>
      </p:sp>
      <p:sp>
        <p:nvSpPr>
          <p:cNvPr id="4" name="">
            <a:extLst xmlns:a="http://schemas.openxmlformats.org/drawingml/2006/main">
              <a:ext uri="{FF2B5EF4-FFF2-40B4-BE49-F238E27FC236}">
                <a16:creationId xmlns:a16="http://schemas.microsoft.com/office/drawing/2014/main" id="{6F952DFC-F72C-4A78-B738-EA75E4AC039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3BEAF730-F5E9-4D5D-9010-3AB3CB404D4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6C6D9B8B-5D82-4F36-B507-6CCE3517B6F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5753495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A950FB-2EDE-457C-BCEE-A25B1CA128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F7F5E3-47E3-4EC2-89EE-6F982C598B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D65A586-E517-4399-A732-BE1728C1D9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17BC2E4-9802-4F01-A8B2-E5F5AD21E7B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E202A3-C776-4B93-AB95-918249B12C9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78D1D1D-0F9B-4D58-905E-0089EF7ED463}"/>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D96B109A-C200-444B-A35A-3BBE27988C98}"/>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AEE8069-2F1A-4F34-9E33-2CC7C870CEA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2037D0D4-481A-487E-8145-A8532E7446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a:t>
            </a:r>
          </a:p>
        </p:txBody>
      </p:sp>
    </p:spTree>
    <p:extLst>
      <p:ext uri="{BB962C8B-B14F-4D97-AF65-F5344CB8AC3E}">
        <p14:creationId xmlns:p14="http://schemas.microsoft.com/office/powerpoint/2010/main" val="114293947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DFFE9B-9731-480C-8120-CF2A10342C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BD7B4F-49A1-469B-9A8B-8E8AAB8C43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E18E315-7B21-4BFC-B27A-89DEB2EA5D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58D0013-E14D-49B9-9BAC-B1314B0BE29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984C6F-FE5F-49B4-9E24-2D1759F9262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5 selected and summarised columns.</a:t>
            </a:r>
          </a:p>
        </p:txBody>
      </p:sp>
      <p:sp>
        <p:nvSpPr>
          <p:cNvPr id="6" name="">
            <a:extLst xmlns:a="http://schemas.openxmlformats.org/drawingml/2006/main">
              <a:ext uri="{FF2B5EF4-FFF2-40B4-BE49-F238E27FC236}">
                <a16:creationId xmlns:a16="http://schemas.microsoft.com/office/drawing/2014/main" id="{AB4A9DC6-AAFF-486A-9EBD-C5C542DEB57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trusting those summaries, inspect missing values, repeated observations and measurement units.</a:t>
            </a:r>
          </a:p>
        </p:txBody>
      </p:sp>
      <p:sp>
        <p:nvSpPr>
          <p:cNvPr id="7" name="">
            <a:extLst xmlns:a="http://schemas.openxmlformats.org/drawingml/2006/main">
              <a:ext uri="{FF2B5EF4-FFF2-40B4-BE49-F238E27FC236}">
                <a16:creationId xmlns:a16="http://schemas.microsoft.com/office/drawing/2014/main" id="{7219D13C-EAE4-480C-829F-60177412D9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a:t>
            </a:r>
          </a:p>
        </p:txBody>
      </p:sp>
    </p:spTree>
    <p:extLst>
      <p:ext uri="{BB962C8B-B14F-4D97-AF65-F5344CB8AC3E}">
        <p14:creationId xmlns:p14="http://schemas.microsoft.com/office/powerpoint/2010/main" val="6006828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084530-2443-4035-A236-CF19FF697B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2785DA-1B81-4482-A5E8-DF5788B69B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B3709E-5165-41C8-9564-7297B71FF4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71A1D564-1397-40FF-91E0-1DA3CE72C87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3FCF50-9B25-4E8A-947A-017A6084387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repeated record or a missing measurement can change a summary.</a:t>
            </a:r>
          </a:p>
        </p:txBody>
      </p:sp>
      <p:sp>
        <p:nvSpPr>
          <p:cNvPr id="6" name="">
            <a:extLst xmlns:a="http://schemas.openxmlformats.org/drawingml/2006/main">
              <a:ext uri="{FF2B5EF4-FFF2-40B4-BE49-F238E27FC236}">
                <a16:creationId xmlns:a16="http://schemas.microsoft.com/office/drawing/2014/main" id="{FEA7AE87-2E88-4762-B826-DFC85CE999E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keep the original records, apply the stated cleaning rules and explain each change before plotting.</a:t>
            </a:r>
          </a:p>
        </p:txBody>
      </p:sp>
      <p:sp>
        <p:nvSpPr>
          <p:cNvPr id="7" name="">
            <a:extLst xmlns:a="http://schemas.openxmlformats.org/drawingml/2006/main">
              <a:ext uri="{FF2B5EF4-FFF2-40B4-BE49-F238E27FC236}">
                <a16:creationId xmlns:a16="http://schemas.microsoft.com/office/drawing/2014/main" id="{663AEC2E-9652-49BF-AC9D-E5470C9C24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a:t>
            </a:r>
          </a:p>
        </p:txBody>
      </p:sp>
    </p:spTree>
    <p:extLst>
      <p:ext uri="{BB962C8B-B14F-4D97-AF65-F5344CB8AC3E}">
        <p14:creationId xmlns:p14="http://schemas.microsoft.com/office/powerpoint/2010/main" val="11523815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D79E96-0F7F-4EDC-AB7F-D18997F6CD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7296AC-C2D1-4DD5-8685-CC38F1D458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51FF4F0-2111-4E1C-8AA3-9E20C1118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Raw data and Missing value</a:t>
            </a:r>
          </a:p>
        </p:txBody>
      </p:sp>
      <p:sp>
        <p:nvSpPr>
          <p:cNvPr id="4" name="">
            <a:extLst xmlns:a="http://schemas.openxmlformats.org/drawingml/2006/main">
              <a:ext uri="{FF2B5EF4-FFF2-40B4-BE49-F238E27FC236}">
                <a16:creationId xmlns:a16="http://schemas.microsoft.com/office/drawing/2014/main" id="{36D8A6A0-0D76-438D-A274-35F219B55B6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B3519D-9437-4FE4-B13D-E62724CCE06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9184DA4B-CE2F-4110-B865-C4FB15998CB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F249BB59-E287-4748-96A1-91C024756FC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EE2F04-21E1-48B7-9DC1-F87D37AF943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10A860B9-AAE5-4765-BB2A-74EB58DC860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F84A15A7-540E-4CE5-A83F-9B59C3B8E8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a:t>
            </a:r>
          </a:p>
        </p:txBody>
      </p:sp>
    </p:spTree>
    <p:extLst>
      <p:ext uri="{BB962C8B-B14F-4D97-AF65-F5344CB8AC3E}">
        <p14:creationId xmlns:p14="http://schemas.microsoft.com/office/powerpoint/2010/main" val="18353956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8245B2-0496-4433-B32A-BA8F5B397A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FDB571-714F-4A88-AFB5-CC8C270A44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1DFFEF7-8CCF-4265-A34E-14746B2164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and equipment ID and Median and imputation</a:t>
            </a:r>
          </a:p>
        </p:txBody>
      </p:sp>
      <p:sp>
        <p:nvSpPr>
          <p:cNvPr id="4" name="">
            <a:extLst xmlns:a="http://schemas.openxmlformats.org/drawingml/2006/main">
              <a:ext uri="{FF2B5EF4-FFF2-40B4-BE49-F238E27FC236}">
                <a16:creationId xmlns:a16="http://schemas.microsoft.com/office/drawing/2014/main" id="{0476449E-A1EA-49D8-B3C0-A64D16E769E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8F4317-5A17-499D-86CD-B42A86C2164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8ED6CA89-B3A9-4F98-B39F-ACEE8B40EA7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5DB52EA1-734A-4A06-AC97-6698113B6F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8A69DC-2A69-41F8-99F1-5ED9666BFCB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DE55225C-CDBF-46C0-8E2D-B5856776929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53D8FCCC-1724-4515-A076-E89FA84EF2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6</a:t>
            </a:r>
          </a:p>
        </p:txBody>
      </p:sp>
    </p:spTree>
    <p:extLst>
      <p:ext uri="{BB962C8B-B14F-4D97-AF65-F5344CB8AC3E}">
        <p14:creationId xmlns:p14="http://schemas.microsoft.com/office/powerpoint/2010/main" val="12607610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686E1A-D843-4D53-8497-082A495382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E93116-581B-4356-A46E-19E1BD23CB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EA218C-7A52-4977-8E53-C35AA749AA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3FEDD6CE-F340-4FC8-AB63-BBA813F2C4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9809F6-996F-4F24-A039-5B852895935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E33008E2-EFBC-4D89-9933-38F5A0F8D46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5B99EB-369B-4AAC-B0BB-390930578CC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26D47B7E-06A4-4561-A3DA-8EB7740215A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FB521C-D9CB-42A7-AB4B-838E83583A2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032A54AC-E0F0-4861-9D81-76A4A2BAF55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957C64-303D-44F4-B996-8586E3A411D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6932A4C2-84BF-445B-867D-90346BF179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7</a:t>
            </a:r>
          </a:p>
        </p:txBody>
      </p:sp>
    </p:spTree>
    <p:extLst>
      <p:ext uri="{BB962C8B-B14F-4D97-AF65-F5344CB8AC3E}">
        <p14:creationId xmlns:p14="http://schemas.microsoft.com/office/powerpoint/2010/main" val="9767327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953D0C-74A6-4DA6-A5EC-9F8E03F682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1889B8-A658-44A5-AB4E-B2F5F98140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ACBDA7-C666-47F8-B632-EFC03F10D1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the median by sorting the readings</a:t>
            </a:r>
          </a:p>
        </p:txBody>
      </p:sp>
      <p:sp>
        <p:nvSpPr>
          <p:cNvPr id="4" name="">
            <a:extLst xmlns:a="http://schemas.openxmlformats.org/drawingml/2006/main">
              <a:ext uri="{FF2B5EF4-FFF2-40B4-BE49-F238E27FC236}">
                <a16:creationId xmlns:a16="http://schemas.microsoft.com/office/drawing/2014/main" id="{F04A56B2-5BD6-47CE-9D64-26730486C5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277FC1-08EA-4EE1-A3C8-D09DE2333F5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a middle value after ordering the numbers from smallest to largest. In [2, 4, 30], the middle item is 4.</a:t>
            </a:r>
          </a:p>
        </p:txBody>
      </p:sp>
      <p:sp>
        <p:nvSpPr>
          <p:cNvPr id="6" name="">
            <a:extLst xmlns:a="http://schemas.openxmlformats.org/drawingml/2006/main">
              <a:ext uri="{FF2B5EF4-FFF2-40B4-BE49-F238E27FC236}">
                <a16:creationId xmlns:a16="http://schemas.microsoft.com/office/drawing/2014/main" id="{73C42088-2B67-49C4-8511-4F828E27E0B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D7EFC1-FF2F-4A19-A280-B0DA57CD955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an even number of readings, average the two middle values. [20, 22, 24, 80] has middle values 22 and 24, so the median is 23.</a:t>
            </a:r>
          </a:p>
        </p:txBody>
      </p:sp>
      <p:sp>
        <p:nvSpPr>
          <p:cNvPr id="8" name="">
            <a:extLst xmlns:a="http://schemas.openxmlformats.org/drawingml/2006/main">
              <a:ext uri="{FF2B5EF4-FFF2-40B4-BE49-F238E27FC236}">
                <a16:creationId xmlns:a16="http://schemas.microsoft.com/office/drawing/2014/main" id="{AECF2F29-250D-4677-BCC4-7BD35FA08F8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B5B14B-1B0C-408E-B766-522793F4E5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missing information in our list, not a number to sort. Collect only recorded values before calculating this median.</a:t>
            </a:r>
          </a:p>
        </p:txBody>
      </p:sp>
      <p:sp>
        <p:nvSpPr>
          <p:cNvPr id="10" name="">
            <a:extLst xmlns:a="http://schemas.openxmlformats.org/drawingml/2006/main">
              <a:ext uri="{FF2B5EF4-FFF2-40B4-BE49-F238E27FC236}">
                <a16:creationId xmlns:a16="http://schemas.microsoft.com/office/drawing/2014/main" id="{4BC913F3-D863-411A-9FBF-6800BC1E85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8</a:t>
            </a:r>
          </a:p>
        </p:txBody>
      </p:sp>
    </p:spTree>
    <p:extLst>
      <p:ext uri="{BB962C8B-B14F-4D97-AF65-F5344CB8AC3E}">
        <p14:creationId xmlns:p14="http://schemas.microsoft.com/office/powerpoint/2010/main" val="16845220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87CFF2-99B5-4A1F-B5B2-D4B9B0872E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AE2608-348E-44D9-A47A-B945ABBB73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8702F11-D420-4EC0-B724-850BB7C9B2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E614CC7-ADDA-47DC-A813-A88FA064631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9F34A31F-F9DA-45F7-A80C-1A03E33EA5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9</a:t>
            </a:r>
          </a:p>
        </p:txBody>
      </p:sp>
    </p:spTree>
    <p:extLst>
      <p:ext uri="{BB962C8B-B14F-4D97-AF65-F5344CB8AC3E}">
        <p14:creationId xmlns:p14="http://schemas.microsoft.com/office/powerpoint/2010/main" val="69677796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6A1A27-5CE8-4EC2-9413-B53607BF76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1F19F6-A9BF-4F9D-B6F9-76812CF83A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07BF4C-910C-4108-87C5-042AD195D3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Testing for None and importing one tool</a:t>
            </a:r>
          </a:p>
        </p:txBody>
      </p:sp>
      <p:sp>
        <p:nvSpPr>
          <p:cNvPr id="4" name="">
            <a:extLst xmlns:a="http://schemas.openxmlformats.org/drawingml/2006/main">
              <a:ext uri="{FF2B5EF4-FFF2-40B4-BE49-F238E27FC236}">
                <a16:creationId xmlns:a16="http://schemas.microsoft.com/office/drawing/2014/main" id="{A91FA528-35F0-487A-BE61-5372E8C134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2FB04E-0517-4072-8FD2-7C1113779AE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value is None asks whether value is the special None object. value is not None is the opposite question. Use these tests for Python None.</a:t>
            </a:r>
          </a:p>
        </p:txBody>
      </p:sp>
      <p:sp>
        <p:nvSpPr>
          <p:cNvPr id="6" name="">
            <a:extLst xmlns:a="http://schemas.openxmlformats.org/drawingml/2006/main">
              <a:ext uri="{FF2B5EF4-FFF2-40B4-BE49-F238E27FC236}">
                <a16:creationId xmlns:a16="http://schemas.microsoft.com/office/drawing/2014/main" id="{1450962C-8D7F-44F7-BC22-D1DD317D01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FFFF87-9ACD-40E3-BE53-5537592C82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 which compares values. Do not use is to compare ordinary numeric measurements.</a:t>
            </a:r>
          </a:p>
        </p:txBody>
      </p:sp>
      <p:sp>
        <p:nvSpPr>
          <p:cNvPr id="8" name="">
            <a:extLst xmlns:a="http://schemas.openxmlformats.org/drawingml/2006/main">
              <a:ext uri="{FF2B5EF4-FFF2-40B4-BE49-F238E27FC236}">
                <a16:creationId xmlns:a16="http://schemas.microsoft.com/office/drawing/2014/main" id="{CB612F3D-5D19-4759-A21A-352238F8CF9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350F3F-0E97-4E76-B622-616691311D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statistics import median loads just the median function. statistics is a standard Python module; median is the callable tool used below.</a:t>
            </a:r>
          </a:p>
        </p:txBody>
      </p:sp>
      <p:sp>
        <p:nvSpPr>
          <p:cNvPr id="10" name="">
            <a:extLst xmlns:a="http://schemas.openxmlformats.org/drawingml/2006/main">
              <a:ext uri="{FF2B5EF4-FFF2-40B4-BE49-F238E27FC236}">
                <a16:creationId xmlns:a16="http://schemas.microsoft.com/office/drawing/2014/main" id="{F3125202-33CB-43E4-BDEB-DA65983EE7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10</a:t>
            </a:r>
          </a:p>
        </p:txBody>
      </p:sp>
    </p:spTree>
    <p:extLst>
      <p:ext uri="{BB962C8B-B14F-4D97-AF65-F5344CB8AC3E}">
        <p14:creationId xmlns:p14="http://schemas.microsoft.com/office/powerpoint/2010/main" val="9342512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9AC160-1D55-47B1-81A3-49DE39E5BD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93FFE7-6E44-4038-ABB4-53518BBE72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C1593C-2830-4262-88C8-BC7AD0F4EB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E3D4BE31-A63A-4D67-9A9D-74C00C4E2D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B7FAD4-639C-446B-A921-9C3E1F51B60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91D51A18-224B-4349-99B7-3653403551A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9F4A9F-C407-4B48-B19E-FEB416B0041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FCFD9D67-03E3-43AF-A5F7-58FEAA2EE7A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B2C918-2893-47B1-AE9B-357CF9411E0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158B3F1D-A220-4BE0-9763-3EA583261D9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1A8DC3-40DF-432F-975B-00F4F8996DA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FCDC5F25-F3E9-48B9-A361-E7E349D153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11</a:t>
            </a:r>
          </a:p>
        </p:txBody>
      </p:sp>
    </p:spTree>
    <p:extLst>
      <p:ext uri="{BB962C8B-B14F-4D97-AF65-F5344CB8AC3E}">
        <p14:creationId xmlns:p14="http://schemas.microsoft.com/office/powerpoint/2010/main" val="186905648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3F4D8C-61CA-4F77-86DE-B047BD079C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9E4D4D-4E83-4C03-BB2A-5998CD0213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D6D32B-7A2D-4829-A249-5C1F8E3EC6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(1/2)</a:t>
            </a:r>
          </a:p>
        </p:txBody>
      </p:sp>
      <p:sp>
        <p:nvSpPr>
          <p:cNvPr id="4" name="">
            <a:extLst xmlns:a="http://schemas.openxmlformats.org/drawingml/2006/main">
              <a:ext uri="{FF2B5EF4-FFF2-40B4-BE49-F238E27FC236}">
                <a16:creationId xmlns:a16="http://schemas.microsoft.com/office/drawing/2014/main" id="{8161691F-E464-4852-888E-FD11500C8F0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7F9419-D6B5-49E8-B0D1-56408B03AD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FD6B9079-3074-4A54-8968-6DAE0626DBE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59638E6-580E-4FCB-B50B-99A3189D8DC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312F03AC-6CCE-48D8-B1CA-AC921C0B73C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B223451F-6F71-4A31-8249-D5C0C4C5441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666D12BA-F7A4-4FE0-AC2F-577D0777E38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ECBF63D-E6CC-4FEA-AD35-D3711ADF16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12</a:t>
            </a:r>
          </a:p>
        </p:txBody>
      </p:sp>
    </p:spTree>
    <p:extLst>
      <p:ext uri="{BB962C8B-B14F-4D97-AF65-F5344CB8AC3E}">
        <p14:creationId xmlns:p14="http://schemas.microsoft.com/office/powerpoint/2010/main" val="158045799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291779A-8173-4F2A-B509-42193E7CB9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2DDD24-E1FC-4E3C-AD67-7AF83ABE43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B64EE2-79A6-4A17-9029-EB7975F884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(2/2)</a:t>
            </a:r>
          </a:p>
        </p:txBody>
      </p:sp>
      <p:sp>
        <p:nvSpPr>
          <p:cNvPr id="4" name="">
            <a:extLst xmlns:a="http://schemas.openxmlformats.org/drawingml/2006/main">
              <a:ext uri="{FF2B5EF4-FFF2-40B4-BE49-F238E27FC236}">
                <a16:creationId xmlns:a16="http://schemas.microsoft.com/office/drawing/2014/main" id="{03F4E435-FA8D-4272-B7EF-34C2D2C3E5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79838C-71FA-425C-A290-965C92B4C30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AEB4F1CC-D2A2-439B-86EF-B5104AB6873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2A42839-53C1-431F-AB16-443FEF422D6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4234C992-766F-4399-9B40-D09A1EA88B4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1FE5404-6C28-4D7B-A674-C22709468A8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BFACF042-5908-4700-956C-103DB6EF08C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31D5C788-7509-4F4C-8CDE-D400A8B174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13</a:t>
            </a:r>
          </a:p>
        </p:txBody>
      </p:sp>
    </p:spTree>
    <p:extLst>
      <p:ext uri="{BB962C8B-B14F-4D97-AF65-F5344CB8AC3E}">
        <p14:creationId xmlns:p14="http://schemas.microsoft.com/office/powerpoint/2010/main" val="2098953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602AE1E-1DE9-4056-8FEC-FB3ED535E5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8851D3-2BE1-464B-8FB2-1741F86368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F53A248-2D65-4225-92DC-E57CED975D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results</a:t>
            </a:r>
          </a:p>
        </p:txBody>
      </p:sp>
      <p:sp>
        <p:nvSpPr>
          <p:cNvPr id="4" name="">
            <a:extLst xmlns:a="http://schemas.openxmlformats.org/drawingml/2006/main">
              <a:ext uri="{FF2B5EF4-FFF2-40B4-BE49-F238E27FC236}">
                <a16:creationId xmlns:a16="http://schemas.microsoft.com/office/drawing/2014/main" id="{179626BF-7404-4731-A2BF-FD2A2A5E71D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050E65-1780-4C0C-81A1-4E158FD864B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34487036-7EC4-411F-A9FA-C414E92CE368}"/>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98011AB-B65B-4204-8A5F-866932E114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14</a:t>
            </a:r>
          </a:p>
        </p:txBody>
      </p:sp>
    </p:spTree>
    <p:extLst>
      <p:ext uri="{BB962C8B-B14F-4D97-AF65-F5344CB8AC3E}">
        <p14:creationId xmlns:p14="http://schemas.microsoft.com/office/powerpoint/2010/main" val="19012844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86C87D-5A4A-4EFE-8148-9E09EB721B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DFC5D0-6CD6-4371-AD1C-733D437A27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57C1528-8765-4086-98D2-7F430AA95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64A56B44-4287-4977-9263-FAC606E3436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24BFAE-ECC5-4E20-AE49-C677F04FE5A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759F222E-288D-439E-951A-C16F23AF43E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6C608A33-7E2C-4FD0-851D-B09E46E179B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844009C-8827-47FD-BF1D-1A7680CFED2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B3D989E0-416E-4898-85F7-31B8508596D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4462B902-8BAE-462C-A04E-205DA1E9B0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15</a:t>
            </a:r>
          </a:p>
        </p:txBody>
      </p:sp>
    </p:spTree>
    <p:extLst>
      <p:ext uri="{BB962C8B-B14F-4D97-AF65-F5344CB8AC3E}">
        <p14:creationId xmlns:p14="http://schemas.microsoft.com/office/powerpoint/2010/main" val="122460657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EFF585-56A5-4FF7-907E-AA92E6C2644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4AD42C-4D00-4830-8760-4064B577CE5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50c8813fd534e3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8732A17-F79C-4309-AC3C-90CD5100123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32581E-B0CD-46BE-88F0-2057FF11E26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In this separate four-record example, remove one repeated C record and fill B with (20 + 24) / 2 = 22.</a:t>
            </a:r>
          </a:p>
        </p:txBody>
      </p:sp>
      <p:sp>
        <p:nvSpPr>
          <p:cNvPr id="6" name="">
            <a:extLst xmlns:a="http://schemas.openxmlformats.org/drawingml/2006/main">
              <a:ext uri="{FF2B5EF4-FFF2-40B4-BE49-F238E27FC236}">
                <a16:creationId xmlns:a16="http://schemas.microsoft.com/office/drawing/2014/main" id="{2BD92F60-8E88-49AE-934A-EA64B06980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16</a:t>
            </a:r>
          </a:p>
        </p:txBody>
      </p:sp>
    </p:spTree>
    <p:extLst>
      <p:ext uri="{BB962C8B-B14F-4D97-AF65-F5344CB8AC3E}">
        <p14:creationId xmlns:p14="http://schemas.microsoft.com/office/powerpoint/2010/main" val="8682201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72FE2DF-0EE6-4D9B-BFA4-810FF34D51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20D535-7674-4922-A665-958C87923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EF08EC-21C6-4EA2-AEB0-1FD2AB58AA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C73ADCAC-49E6-4271-9707-1225A1F9FA5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16E892-3D2D-4056-BAA6-8BECDE6A883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CFA64768-EFAB-4857-933C-15C20301A3C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2A9D5FD-B619-4D58-AA6C-84C33AD2416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86CD28D-0A76-4FB6-9279-A090FF717E7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7FE1CDD8-8119-462E-BF9B-AC07C16930C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1E65854C-0469-41D6-A6CE-8C1A0AA1AA1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2AB4F4E4-C06B-4236-A7FF-3B45E2419D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17</a:t>
            </a:r>
          </a:p>
        </p:txBody>
      </p:sp>
    </p:spTree>
    <p:extLst>
      <p:ext uri="{BB962C8B-B14F-4D97-AF65-F5344CB8AC3E}">
        <p14:creationId xmlns:p14="http://schemas.microsoft.com/office/powerpoint/2010/main" val="57808120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8F8D30-8B9E-45B6-B2FB-6847EFE517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DE30A5-A23B-431E-AFAA-815775792E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F3FB8ED-5421-4DDE-9646-56F1ECB260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duplicate-record decision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Already in seen?</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 first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1; keep a copy</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 repeated record</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continue; skip this copy</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2, next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2; keep a copy</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E8E5C73-394A-4C8F-8ACD-C1D1CC830C0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example removes repeated record IDs, not every observation from repeated equipment.</a:t>
            </a:r>
          </a:p>
        </p:txBody>
      </p:sp>
      <p:sp>
        <p:nvSpPr>
          <p:cNvPr id="6" name="">
            <a:extLst xmlns:a="http://schemas.openxmlformats.org/drawingml/2006/main">
              <a:ext uri="{FF2B5EF4-FFF2-40B4-BE49-F238E27FC236}">
                <a16:creationId xmlns:a16="http://schemas.microsoft.com/office/drawing/2014/main" id="{EB58388A-FE0A-406C-84B4-5D008BE74C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18</a:t>
            </a:r>
          </a:p>
        </p:txBody>
      </p:sp>
    </p:spTree>
    <p:extLst>
      <p:ext uri="{BB962C8B-B14F-4D97-AF65-F5344CB8AC3E}">
        <p14:creationId xmlns:p14="http://schemas.microsoft.com/office/powerpoint/2010/main" val="687677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43E9FB-46FC-4BDA-82DE-2872488358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A019DA-F4BE-45A9-9482-F59331BEE4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B463FA3-ADB4-4F12-8940-ECC6CE010B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303B8D6-33B2-4C15-ABF9-675BCF2D41D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F2E3D631-FDC3-4666-B010-8A8FD0D633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19</a:t>
            </a:r>
          </a:p>
        </p:txBody>
      </p:sp>
    </p:spTree>
    <p:extLst>
      <p:ext uri="{BB962C8B-B14F-4D97-AF65-F5344CB8AC3E}">
        <p14:creationId xmlns:p14="http://schemas.microsoft.com/office/powerpoint/2010/main" val="104550123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F61B9B-254D-49D3-87ED-A176551437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60E2FA-DD37-4C98-AF9B-FC220B4333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AF34DCE-B208-4B32-A1C9-1A7B751566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9623FF3A-1339-4386-B5DB-03C46BD0812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1145FE-2B74-445B-9266-FE3DB819B67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9C9D5E0E-01F9-45B0-A9BA-B6098024271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DA2DFCF5-5622-41CD-BEDE-D3832F5215E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910B81C-959A-4F6C-A694-4A589735C5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20</a:t>
            </a:r>
          </a:p>
        </p:txBody>
      </p:sp>
    </p:spTree>
    <p:extLst>
      <p:ext uri="{BB962C8B-B14F-4D97-AF65-F5344CB8AC3E}">
        <p14:creationId xmlns:p14="http://schemas.microsoft.com/office/powerpoint/2010/main" val="4223115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58FE935-01B0-4C9F-BF6F-9F7FB756C6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6C4B61-3001-4CA3-9FEE-96699A6BF6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201163-D3E1-4C9F-B4A9-4C88FB11DB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9C600170-DDB7-4692-9048-0BB652DD8CD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12E499-12F3-4C57-A534-A9AF593AFAA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FAD9D4FC-5895-4C92-8689-C39F2271ED9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287F629-2A80-46B8-9DC2-9DB8F3DB488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C57E6274-3A74-48AF-A9A1-43CE05146EE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39713B5-F89E-44D6-B852-6340EF132AB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6888E82F-480B-4B32-9CA0-543DB8DEFA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77417F26-F48F-4D67-8BB9-5EAA1EA7C1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21</a:t>
            </a:r>
          </a:p>
        </p:txBody>
      </p:sp>
    </p:spTree>
    <p:extLst>
      <p:ext uri="{BB962C8B-B14F-4D97-AF65-F5344CB8AC3E}">
        <p14:creationId xmlns:p14="http://schemas.microsoft.com/office/powerpoint/2010/main" val="186403703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85A899-4730-4367-A340-289C623A7C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2EE7C7-4864-4C2B-876A-3488E776C8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423F43-C4EA-46DC-9D9C-DA3AD20699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96C474B1-6047-4AC9-8C1F-43E36279A7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A15DC7-FE2B-4228-BC86-3B5CFD85C47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841B3F36-C863-4882-9C28-C93D9F0552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572514E-B466-4649-A782-3D2A3A3E9DE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0564821C-96EF-4BA4-BF40-537B1004D3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53693E-0B7D-4959-BA8C-51DCAE0CB33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116D5363-E8E1-461F-B70D-5DAFA231C8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22</a:t>
            </a:r>
          </a:p>
        </p:txBody>
      </p:sp>
    </p:spTree>
    <p:extLst>
      <p:ext uri="{BB962C8B-B14F-4D97-AF65-F5344CB8AC3E}">
        <p14:creationId xmlns:p14="http://schemas.microsoft.com/office/powerpoint/2010/main" val="191751737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FDE72B-6AE5-43E4-9EC0-0B6439BEED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951B57-D6BF-4AFE-9C65-43EA05543B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206BAD-98C8-4B71-BC73-5023263867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F927BAB2-A2CE-40FC-9695-E696E2DC60C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B47B77-C1DC-448F-8BF9-27E55A9225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3B5CAE3A-AD60-4496-97F2-560070DB5D8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FE80425-7014-4820-95A7-E6BC3C0CDC3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78D14D73-BDA8-420F-9ADF-25442E41E6B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5CB83AB3-EB8C-43DB-B979-331EA3C3910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721F5383-CBF0-4B1B-80A8-5249C6B9DD5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C65AC26-EB55-4746-AF3C-416E7DAFE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23</a:t>
            </a:r>
          </a:p>
        </p:txBody>
      </p:sp>
    </p:spTree>
    <p:extLst>
      <p:ext uri="{BB962C8B-B14F-4D97-AF65-F5344CB8AC3E}">
        <p14:creationId xmlns:p14="http://schemas.microsoft.com/office/powerpoint/2010/main" val="61797720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2D7969-4AC4-4B22-857C-5218E182BA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DCD52B-CCD0-41EB-B0D9-5A3E23D260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4DC51A-4BF3-4A3C-AE51-1589178D00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1086F64D-8C26-464D-899B-638A55B50C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6DD190-5277-43F8-8F1B-FDC0D96106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FEBDFBB6-4363-4AE9-BC30-073CB23F22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46D920-5804-4EAD-9CB4-23286A3424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65F624B9-EBBA-4E32-893B-7FC86CC0981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47A0EC-F9E2-4084-8932-06C4F893875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AD7FD369-7801-48AB-83D9-3DE012382D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24</a:t>
            </a:r>
          </a:p>
        </p:txBody>
      </p:sp>
    </p:spTree>
    <p:extLst>
      <p:ext uri="{BB962C8B-B14F-4D97-AF65-F5344CB8AC3E}">
        <p14:creationId xmlns:p14="http://schemas.microsoft.com/office/powerpoint/2010/main" val="193160609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94727F2-39BE-4EB7-B9D9-3DD23EFE38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73A39A-8BF1-45C0-BB93-D06755BB95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65BE33-210B-4725-A99C-F3716F9363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5225E00E-168E-4C31-8F30-4B762ACE7B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319D56-8A46-44CA-91CE-6E425A4B6C8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7C946B07-D0E3-473F-A9BE-D8A8795186B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18C30A-566C-4A55-B23C-33A11575796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0B6FCCE6-6C7A-45BA-9597-3C83EEA9B33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4DFFCB7-71F0-46B7-B451-63477D885E1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1BA2A622-2A1B-4573-BD36-B8A0C87746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D83BEC47-658E-455A-9B56-D0FC70B3C5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25</a:t>
            </a:r>
          </a:p>
        </p:txBody>
      </p:sp>
    </p:spTree>
    <p:extLst>
      <p:ext uri="{BB962C8B-B14F-4D97-AF65-F5344CB8AC3E}">
        <p14:creationId xmlns:p14="http://schemas.microsoft.com/office/powerpoint/2010/main" val="162467057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D0160A-9188-43F1-AB4A-B21E0F7012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631654-CFEB-40F7-82F2-F7BF5C8A49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3E4C99-482B-43A0-A16C-52A27BCAA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120312CC-DBEA-43F8-8AE1-9F73C708B4F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E84036-7B69-4BFC-9989-4EBA7495BCB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5B55B006-70A6-471E-9DBB-75510FB6BEE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3D8E8CF6-91C1-4654-84D3-E859DEAAC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26</a:t>
            </a:r>
          </a:p>
        </p:txBody>
      </p:sp>
    </p:spTree>
    <p:extLst>
      <p:ext uri="{BB962C8B-B14F-4D97-AF65-F5344CB8AC3E}">
        <p14:creationId xmlns:p14="http://schemas.microsoft.com/office/powerpoint/2010/main" val="121055199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9AF2F3-2C73-4D96-89B1-7C22CDA923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4AE808-BA4B-461A-8BCE-3FF9755621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9D96E5-9608-414E-BC42-438E369A46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D6954256-2817-4527-8662-6D254A3744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1643D4-1303-41F7-BB5F-72C3A46D2A7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F75BFE70-F52A-4892-B2CB-355CE8EA30E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AE7B06-E16C-42C4-9215-091F0218EF1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B13EDB87-1E18-4330-B29B-307D95935D7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531579-E7AB-4845-A740-FD6CDECE2F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8D1476B3-7ED7-4B51-A8AE-277F7F681A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27</a:t>
            </a:r>
          </a:p>
        </p:txBody>
      </p:sp>
    </p:spTree>
    <p:extLst>
      <p:ext uri="{BB962C8B-B14F-4D97-AF65-F5344CB8AC3E}">
        <p14:creationId xmlns:p14="http://schemas.microsoft.com/office/powerpoint/2010/main" val="38300044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F6CFA3-50AA-4C9D-8B9B-C03CA56EE6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7ED8C2-C9C5-4628-98E8-39FFC4F2B2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67CBA8F-16A6-48BC-BAD5-1DD9C9181A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FA7F3B7B-6D54-4AEB-9CFE-69D5A5D6302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DBC0CB-4506-4CA9-AEE1-F6DABB18519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02762077-5AAE-459A-B3E0-87561CE9F02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86241B69-7A2B-4F34-ABAC-9383750125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28</a:t>
            </a:r>
          </a:p>
        </p:txBody>
      </p:sp>
    </p:spTree>
    <p:extLst>
      <p:ext uri="{BB962C8B-B14F-4D97-AF65-F5344CB8AC3E}">
        <p14:creationId xmlns:p14="http://schemas.microsoft.com/office/powerpoint/2010/main" val="157480806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EAE5E55-D2AD-48ED-9028-96C4DA3F1B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E54F3A-D329-4A5B-A4F3-7016799577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D1EA76-5AF7-41C6-9CA2-062D2D78F3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AAF83129-83E1-466D-8848-7669FB3F93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AD64F7-FC00-4746-BA22-4D674DC264D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6B3558E9-5DAA-4B89-A174-72E3638C7A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0795EE-BCAE-46E1-B790-F0F828D3BD1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00EC9609-DC80-4843-8A95-DCA4787F320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EF4446-DCD3-4307-A414-C6F572059E3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6544DE59-D686-45E3-8ADC-F8EA6009CA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29</a:t>
            </a:r>
          </a:p>
        </p:txBody>
      </p:sp>
    </p:spTree>
    <p:extLst>
      <p:ext uri="{BB962C8B-B14F-4D97-AF65-F5344CB8AC3E}">
        <p14:creationId xmlns:p14="http://schemas.microsoft.com/office/powerpoint/2010/main" val="36732511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07DCE9-2A99-4CC8-BAC7-BB32075168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E55FC9-7F70-4A28-9429-6877D2A85E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D1034DB-B941-4CB4-BD80-84CD26ED8B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A0D91F14-9E3D-4F28-A5FC-73916D9BE82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6C151F-2CBD-462C-8338-E72693EC7B9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10ED2597-4BCB-4042-8FAD-AB19FB3E622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C71F51D4-A858-496F-A196-B5B14F4F104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0D98F3-0851-4B1A-91F9-D97DF3D59B8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41008800-D8F3-45B3-B74A-B5BAF34970D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0082925E-1CCB-47DE-8625-516F1351F9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30</a:t>
            </a:r>
          </a:p>
        </p:txBody>
      </p:sp>
    </p:spTree>
    <p:extLst>
      <p:ext uri="{BB962C8B-B14F-4D97-AF65-F5344CB8AC3E}">
        <p14:creationId xmlns:p14="http://schemas.microsoft.com/office/powerpoint/2010/main" val="150915459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FE3589-2B27-4599-B9CF-C75926C9A9F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484602-DA8E-43D2-8348-54BF91C250D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6601ad5ceab4e6a"/>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D3179EE-957B-47B4-9D46-59FC90B43FA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05560A-7EF6-4B3F-915D-01C44F4E2F8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60A03DF3-4F10-4B0D-B83B-BBD54A8571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31</a:t>
            </a:r>
          </a:p>
        </p:txBody>
      </p:sp>
    </p:spTree>
    <p:extLst>
      <p:ext uri="{BB962C8B-B14F-4D97-AF65-F5344CB8AC3E}">
        <p14:creationId xmlns:p14="http://schemas.microsoft.com/office/powerpoint/2010/main" val="164627567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CE4AA-E879-4660-919D-FD54CAEB3D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488F87-4C05-4146-85E2-5CFAC280BE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23D130-3D0C-4368-957C-594E38EEE8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60A9910E-B83A-4E9D-B5D2-41E8386FE3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2B1837-F6CE-4770-8873-BB3518D8503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is a plotting library. plt is the short name we give its pyplot module.</a:t>
            </a:r>
          </a:p>
        </p:txBody>
      </p:sp>
      <p:sp>
        <p:nvSpPr>
          <p:cNvPr id="6" name="">
            <a:extLst xmlns:a="http://schemas.openxmlformats.org/drawingml/2006/main">
              <a:ext uri="{FF2B5EF4-FFF2-40B4-BE49-F238E27FC236}">
                <a16:creationId xmlns:a16="http://schemas.microsoft.com/office/drawing/2014/main" id="{039FABD7-21F0-41FF-8322-58C79CC8D49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DAF052-5D69-4703-B932-76877ED37A6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fig, ax = plt.subplots() returns two objects: fig is the whole figure; ax is its plotting area. scatter places the paired measurements as points.</a:t>
            </a:r>
          </a:p>
        </p:txBody>
      </p:sp>
      <p:sp>
        <p:nvSpPr>
          <p:cNvPr id="8" name="">
            <a:extLst xmlns:a="http://schemas.openxmlformats.org/drawingml/2006/main">
              <a:ext uri="{FF2B5EF4-FFF2-40B4-BE49-F238E27FC236}">
                <a16:creationId xmlns:a16="http://schemas.microsoft.com/office/drawing/2014/main" id="{63F85288-9795-41AA-9304-36713FC5936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88D05E-C4CE-4BFC-8D73-8672F5878FA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ax.set_xlabel(...) labels the horizontal axis. set_ylabel labels the vertical axis. Keep fig when the task asks you to return a Figure object.</a:t>
            </a:r>
          </a:p>
        </p:txBody>
      </p:sp>
      <p:sp>
        <p:nvSpPr>
          <p:cNvPr id="10" name="">
            <a:extLst xmlns:a="http://schemas.openxmlformats.org/drawingml/2006/main">
              <a:ext uri="{FF2B5EF4-FFF2-40B4-BE49-F238E27FC236}">
                <a16:creationId xmlns:a16="http://schemas.microsoft.com/office/drawing/2014/main" id="{32D916CB-8C39-43F0-BD4C-3378ADCA9B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32</a:t>
            </a:r>
          </a:p>
        </p:txBody>
      </p:sp>
    </p:spTree>
    <p:extLst>
      <p:ext uri="{BB962C8B-B14F-4D97-AF65-F5344CB8AC3E}">
        <p14:creationId xmlns:p14="http://schemas.microsoft.com/office/powerpoint/2010/main" val="118867071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1380FD-FB5D-48C8-8101-FA52021157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655F14-5645-48BE-9B38-85883500E5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43288C6-A4E7-4000-9777-09182EEEF9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2890AA24-6B40-4910-ACEF-85F7AFEFAD7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A3C8E3-9FDB-4191-9800-C0CE283A16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EE4E72AD-2A79-456E-8828-CC776ED666F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ADB2F24-7D8C-4640-8C6D-D444D1AB904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2ADDB555-069C-4EC1-B554-5B107BCE04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9A86145A-5CBF-4635-8862-A1B2F8896D3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7EDE013A-3DE5-4C5B-9445-DAA2D628154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55CF68D7-06A5-4CE2-88B8-5C0504F804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33</a:t>
            </a:r>
          </a:p>
        </p:txBody>
      </p:sp>
    </p:spTree>
    <p:extLst>
      <p:ext uri="{BB962C8B-B14F-4D97-AF65-F5344CB8AC3E}">
        <p14:creationId xmlns:p14="http://schemas.microsoft.com/office/powerpoint/2010/main" val="100286803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DAE78D-8232-4E58-A880-9A3A2B6D4B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309485-1F13-45D9-86BE-4A59749354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BD41E3-6DC2-461A-9202-CE4143AA65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bar chart and a histogram count different things</a:t>
            </a:r>
          </a:p>
        </p:txBody>
      </p:sp>
      <p:sp>
        <p:nvSpPr>
          <p:cNvPr id="4" name="">
            <a:extLst xmlns:a="http://schemas.openxmlformats.org/drawingml/2006/main">
              <a:ext uri="{FF2B5EF4-FFF2-40B4-BE49-F238E27FC236}">
                <a16:creationId xmlns:a16="http://schemas.microsoft.com/office/drawing/2014/main" id="{CDA1A3E9-9CCE-48FD-87D0-FF46517573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CEDA11-6F77-4ABB-A6F4-6CE18A08AAC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has named groups. bar(["A", "B"], [13, 16]) makes one bar for each supplied group value.</a:t>
            </a:r>
          </a:p>
        </p:txBody>
      </p:sp>
      <p:sp>
        <p:nvSpPr>
          <p:cNvPr id="6" name="">
            <a:extLst xmlns:a="http://schemas.openxmlformats.org/drawingml/2006/main">
              <a:ext uri="{FF2B5EF4-FFF2-40B4-BE49-F238E27FC236}">
                <a16:creationId xmlns:a16="http://schemas.microsoft.com/office/drawing/2014/main" id="{98B54703-5215-41C2-89FE-631D204265D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96F22F-E49F-44C7-9D1C-3C6F2027C2C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divides a numeric range into intervals called bins. hist(readings, bins=2) counts readings in two intervals.</a:t>
            </a:r>
          </a:p>
        </p:txBody>
      </p:sp>
      <p:sp>
        <p:nvSpPr>
          <p:cNvPr id="8" name="">
            <a:extLst xmlns:a="http://schemas.openxmlformats.org/drawingml/2006/main">
              <a:ext uri="{FF2B5EF4-FFF2-40B4-BE49-F238E27FC236}">
                <a16:creationId xmlns:a16="http://schemas.microsoft.com/office/drawing/2014/main" id="{DC61263E-4E56-4541-9AB1-188EA2A357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B7CF57-F77E-446B-92AF-67B69EDC3B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[12, 14, 13, 18], the intervals run from 12 to 15 and 15 to 18. Counts are 3 and 1; the final interval includes the last endpoint.</a:t>
            </a:r>
          </a:p>
        </p:txBody>
      </p:sp>
      <p:sp>
        <p:nvSpPr>
          <p:cNvPr id="10" name="">
            <a:extLst xmlns:a="http://schemas.openxmlformats.org/drawingml/2006/main">
              <a:ext uri="{FF2B5EF4-FFF2-40B4-BE49-F238E27FC236}">
                <a16:creationId xmlns:a16="http://schemas.microsoft.com/office/drawing/2014/main" id="{16C3EFEF-EECB-480C-883B-39BD4F8751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34</a:t>
            </a:r>
          </a:p>
        </p:txBody>
      </p:sp>
    </p:spTree>
    <p:extLst>
      <p:ext uri="{BB962C8B-B14F-4D97-AF65-F5344CB8AC3E}">
        <p14:creationId xmlns:p14="http://schemas.microsoft.com/office/powerpoint/2010/main" val="184656746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FB3171-4198-437E-9405-6AA86BDC8A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0F9122-EB80-4A29-9E87-2AE4B7F0B9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FB414F-7E62-4B31-8E43-C10C3E3C07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D5143A21-3182-4E34-94AE-EBB5204FED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D7B42F-2403-4387-9AC7-3E5DFFC1FA9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986205B3-19E5-4AB8-9B15-6C8096C7AF0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AFCB46-553C-4B5A-B18B-42C56D80929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7283ED26-3DF1-4B92-9BE5-86DCD994FD5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4659F0-FFDE-48D2-B7A3-E6FECC7069F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E308CAAF-B641-44E4-9F5D-DB992F349EB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284B14-4187-4020-94AD-4F7C2B2620B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A72DAA3D-FA75-45D2-A2D0-FC03084252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35</a:t>
            </a:r>
          </a:p>
        </p:txBody>
      </p:sp>
    </p:spTree>
    <p:extLst>
      <p:ext uri="{BB962C8B-B14F-4D97-AF65-F5344CB8AC3E}">
        <p14:creationId xmlns:p14="http://schemas.microsoft.com/office/powerpoint/2010/main" val="147703836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F510BA-7C34-49E2-BA67-039D69FB3A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5247B7-51D2-4718-BADB-259AF1EFDC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678DAA0-69EE-498F-B939-6AB86DAE73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72B99D51-0C4A-4B70-B5ED-50B01D2BEC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9A857A-2C1A-4193-8351-F92F6AB81C9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3996EF6F-D773-4684-9C33-792E400CBCC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227FE761-9EB2-4BD8-A49C-1B62B0FDD78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D49016A-7D26-4C2B-9108-98AE6DD230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36</a:t>
            </a:r>
          </a:p>
        </p:txBody>
      </p:sp>
    </p:spTree>
    <p:extLst>
      <p:ext uri="{BB962C8B-B14F-4D97-AF65-F5344CB8AC3E}">
        <p14:creationId xmlns:p14="http://schemas.microsoft.com/office/powerpoint/2010/main" val="3160602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221FBD-0E4A-4A31-986F-26AF19A6A4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C307B3-366A-41E7-A006-5B6FA1A3E4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DEBC97C-AEEB-4785-8091-8854A84FB4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17DD2F96-5671-4821-841F-31BC6E5BBA7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A11003-A8F5-45C1-B974-195909C649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C62B9F85-198C-46E1-BEC3-99C2D09ABD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6C6E5F19-CC8E-41F4-8A24-7395B15D26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AA0EEE91-B4AB-4645-8B7B-91DADDC84D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37</a:t>
            </a:r>
          </a:p>
        </p:txBody>
      </p:sp>
    </p:spTree>
    <p:extLst>
      <p:ext uri="{BB962C8B-B14F-4D97-AF65-F5344CB8AC3E}">
        <p14:creationId xmlns:p14="http://schemas.microsoft.com/office/powerpoint/2010/main" val="45089193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74AF8B-452D-4083-9D25-829CB70BB3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2EF9F2-BA9E-4A8C-80AB-8C870DF8D5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013335-7E27-4656-B6AF-3F7CD9F483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ED33710F-02F3-4E6B-93A9-84A8E8F0C77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1D0CC0-F597-49C5-B26D-CB8641F558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C016CD-602C-4844-8433-AF8F2143CE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Explain why 80 was retained. Replace 24 with 26, predict the new fill value, and check that cleaning still leaves raw unchanged.</a:t>
            </a:r>
          </a:p>
        </p:txBody>
      </p:sp>
      <p:sp>
        <p:nvSpPr>
          <p:cNvPr id="7" name="">
            <a:extLst xmlns:a="http://schemas.openxmlformats.org/drawingml/2006/main">
              <a:ext uri="{FF2B5EF4-FFF2-40B4-BE49-F238E27FC236}">
                <a16:creationId xmlns:a16="http://schemas.microsoft.com/office/drawing/2014/main" id="{7667CBE7-C66D-4698-BDCC-F2110713835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An unusual value alone does not prove an error. The task did not authorize deleting 80. With 26 replacing 24, the middle known values are 22 and 26, so the new fill is 24. The raw list still contains None.</a:t>
            </a:r>
          </a:p>
        </p:txBody>
      </p:sp>
      <p:sp>
        <p:nvSpPr>
          <p:cNvPr id="8" name="">
            <a:extLst xmlns:a="http://schemas.openxmlformats.org/drawingml/2006/main">
              <a:ext uri="{FF2B5EF4-FFF2-40B4-BE49-F238E27FC236}">
                <a16:creationId xmlns:a16="http://schemas.microsoft.com/office/drawing/2014/main" id="{301E2705-173C-46AD-8772-C11D619BEF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38</a:t>
            </a:r>
          </a:p>
        </p:txBody>
      </p:sp>
    </p:spTree>
    <p:extLst>
      <p:ext uri="{BB962C8B-B14F-4D97-AF65-F5344CB8AC3E}">
        <p14:creationId xmlns:p14="http://schemas.microsoft.com/office/powerpoint/2010/main" val="4352130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6A78B1-F4FD-4E4A-B5DA-77D4B17D60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94240A-7D02-4B7E-8470-FA5A6D459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517552-B1C5-4BA1-A0A4-6D77D806E3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list comprehension after the full loop</a:t>
            </a:r>
          </a:p>
        </p:txBody>
      </p:sp>
      <p:sp>
        <p:nvSpPr>
          <p:cNvPr id="4" name="">
            <a:extLst xmlns:a="http://schemas.openxmlformats.org/drawingml/2006/main">
              <a:ext uri="{FF2B5EF4-FFF2-40B4-BE49-F238E27FC236}">
                <a16:creationId xmlns:a16="http://schemas.microsoft.com/office/drawing/2014/main" id="{520C44EC-D833-4709-9B6D-B1207DDA993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634F94-F886-4BE3-88B2-05B209FB426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list comprehension builds a new list using an expression for each visited item. [value * 2 for value in readings] doubles each reading.</a:t>
            </a:r>
          </a:p>
        </p:txBody>
      </p:sp>
      <p:sp>
        <p:nvSpPr>
          <p:cNvPr id="6" name="">
            <a:extLst xmlns:a="http://schemas.openxmlformats.org/drawingml/2006/main">
              <a:ext uri="{FF2B5EF4-FFF2-40B4-BE49-F238E27FC236}">
                <a16:creationId xmlns:a16="http://schemas.microsoft.com/office/drawing/2014/main" id="{A93B8341-1267-4932-806A-8F9521DD671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42475A-CC25-49BB-B2F1-8794D82B67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Its first part says what to store; its for part says which items supply value. [2, 4, 6] becomes [4, 8, 12].</a:t>
            </a:r>
          </a:p>
        </p:txBody>
      </p:sp>
      <p:sp>
        <p:nvSpPr>
          <p:cNvPr id="8" name="">
            <a:extLst xmlns:a="http://schemas.openxmlformats.org/drawingml/2006/main">
              <a:ext uri="{FF2B5EF4-FFF2-40B4-BE49-F238E27FC236}">
                <a16:creationId xmlns:a16="http://schemas.microsoft.com/office/drawing/2014/main" id="{9D50FF2E-3168-4888-A4F1-BBFE893267F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A9F466-9773-427A-8729-38BB8AD967E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compact spelling is optional. Use the expanded loop already taught when that is easier to explain.</a:t>
            </a:r>
          </a:p>
        </p:txBody>
      </p:sp>
      <p:sp>
        <p:nvSpPr>
          <p:cNvPr id="10" name="">
            <a:extLst xmlns:a="http://schemas.openxmlformats.org/drawingml/2006/main">
              <a:ext uri="{FF2B5EF4-FFF2-40B4-BE49-F238E27FC236}">
                <a16:creationId xmlns:a16="http://schemas.microsoft.com/office/drawing/2014/main" id="{9F1076E9-FD49-4BE0-83F3-04469C5AE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39</a:t>
            </a:r>
          </a:p>
        </p:txBody>
      </p:sp>
    </p:spTree>
    <p:extLst>
      <p:ext uri="{BB962C8B-B14F-4D97-AF65-F5344CB8AC3E}">
        <p14:creationId xmlns:p14="http://schemas.microsoft.com/office/powerpoint/2010/main" val="2958443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135B083-658D-4A9A-8572-9FD4B11648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88B27B-D3BF-4C40-958F-686D205FD1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920D1A9-DDD4-4126-8E19-8CBEB3012E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927A4FF5-5073-4AF6-8630-1B50C7756CD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DDC3CB-2AC1-413E-AC7C-CF2D5D1016F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A29B31B2-449C-47E9-9ECF-0BF84F7F17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8ABD9BA-1E84-4B1E-BC32-BD05D027CB0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B3EA3718-3024-4CF6-9282-858D0E41BA9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976F9D41-4445-4A1E-804F-70A5712E8BD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63C13104-07D9-4A2B-848D-00CC47DE19F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FABCCA05-909D-407E-8851-55D2389C00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40</a:t>
            </a:r>
          </a:p>
        </p:txBody>
      </p:sp>
    </p:spTree>
    <p:extLst>
      <p:ext uri="{BB962C8B-B14F-4D97-AF65-F5344CB8AC3E}">
        <p14:creationId xmlns:p14="http://schemas.microsoft.com/office/powerpoint/2010/main" val="142038673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759596-BB7B-4315-86D3-4BD64EAAF5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8B3959-49F8-4CD1-8208-B74CE72632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DD8F32-F6C9-4344-8BF5-2311729B72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1C781099-82F3-4DAE-84C1-611F31B238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B61E19-26EE-4B1C-B984-6AADC8E35EB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C93C83B4-545F-4239-BFD6-BF74DA05FC7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E6A3E0-127D-4E37-ABBE-989A98A4C78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5F35ED5D-A925-4B8F-A892-2F790152B19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59E1D0-2DF2-42A4-AE96-A5D71566214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4AD2DF99-8BF0-4C26-B1DC-71D03E86BB4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F728241-62BD-45F2-A5E9-C6BFEB2AB73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6DED9E85-B41D-4378-A309-D9AA36D8DA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41</a:t>
            </a:r>
          </a:p>
        </p:txBody>
      </p:sp>
    </p:spTree>
    <p:extLst>
      <p:ext uri="{BB962C8B-B14F-4D97-AF65-F5344CB8AC3E}">
        <p14:creationId xmlns:p14="http://schemas.microsoft.com/office/powerpoint/2010/main" val="198998205"/>
      </p:ext>
    </p:extLst>
  </p:cSld>
</p:sld>
</file>

<file path=ppt/slides/slide4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FA10CDFC-4BF1-4B93-850E-B648369212B4}"/>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99DEBC5D-0F85-4C82-96D8-C9FF53637FD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CC4FB1B1-CB00-4EBA-AE54-EA75F2881DE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a:ext uri="{FF2B5EF4-FFF2-40B4-BE49-F238E27FC236}">
                <ns2:creationId id="{3572C319-AB52-422E-83C5-DC3E3D931C74}"/>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B2E5793-4AD9-47AC-97D1-F8C3A40D8E99}"/>
              </a:ext>
            </a:extLst>
          </p:cNvPr>
          <p:cNvSpPr>
            <a:spLocks noGrp="1"/>
          </p:cNvSpPr>
          <p:nvPr/>
        </p:nvSpPr>
        <p:spPr>
          <a:xfrm>
            <a:off x="1381125" y="178117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a:ext uri="{FF2B5EF4-FFF2-40B4-BE49-F238E27FC236}">
                <ns2:creationId id="{DCD25100-057A-4373-AEF2-A86F968A66AB}"/>
              </a:ext>
            </a:extLst>
          </p:cNvPr>
          <p:cNvSpPr>
            <a:spLocks noGrp="1"/>
          </p:cNvSpPr>
          <p:nvPr/>
        </p:nvSpPr>
        <p:spPr>
          <a:xfrm>
            <a:off x="590550" y="320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D5B54551-A666-4762-ACFC-694C8D86DA5E}"/>
              </a:ext>
            </a:extLst>
          </p:cNvPr>
          <p:cNvSpPr>
            <a:spLocks noGrp="1"/>
          </p:cNvSpPr>
          <p:nvPr/>
        </p:nvSpPr>
        <p:spPr>
          <a:xfrm>
            <a:off x="1381125" y="3206750"/>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a:ext uri="{FF2B5EF4-FFF2-40B4-BE49-F238E27FC236}">
                <ns2:creationId id="{B4292CDF-74D7-4E4C-9D8B-DA203D83CCA5}"/>
              </a:ext>
            </a:extLst>
          </p:cNvPr>
          <p:cNvSpPr>
            <a:spLocks noGrp="1"/>
          </p:cNvSpPr>
          <p:nvPr/>
        </p:nvSpPr>
        <p:spPr>
          <a:xfrm>
            <a:off x="590550" y="46323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72511B4A-9A2F-4789-8685-CCF85B1E915C}"/>
              </a:ext>
            </a:extLst>
          </p:cNvPr>
          <p:cNvSpPr>
            <a:spLocks noGrp="1"/>
          </p:cNvSpPr>
          <p:nvPr/>
        </p:nvSpPr>
        <p:spPr>
          <a:xfrm>
            <a:off x="1381125" y="463232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explanations in the My written evidence section.</a:t>
            </a:r>
          </a:p>
        </p:txBody>
      </p:sp>
      <p:sp>
        <p:nvSpPr>
          <p:cNvPr id="10" name="">
            <a:extLst>
              <a:ext uri="{FF2B5EF4-FFF2-40B4-BE49-F238E27FC236}">
                <ns2:creationId id="{7C92FDEE-6597-4544-BA3D-D0C333D7C2C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42</a:t>
            </a:r>
          </a:p>
        </p:txBody>
      </p:sp>
    </p:spTree>
    <p:extLst>
      <p:ext uri="{BB962C8B-B14F-4D97-AF65-F5344CB8AC3E}">
        <ns3:creationId val="26287043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D8092A-5E19-456C-B83C-950517B6B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4B6076-A007-47BD-BE51-A351DB5AB8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A0A933-4D9E-4087-8F92-5DC4111782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300C3157-3B61-4441-B9E8-58EEDEFF6A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5CE52D-7147-401E-819B-1ADC443DED6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DBA4FD6E-94AD-4A7E-9622-12F758E1E92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868127-B1A3-4D75-B715-280FE1B320E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6549B855-8325-48F4-B190-3BC9DC1F61C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544519-EA48-491B-9A61-7229185C7C0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F118049F-9203-4C6E-8B3D-0E49E993B42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6B76277-102F-4094-B42C-FE4CC50FF32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22FD87AA-E6B2-472C-80C5-D39D2C5C3C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43</a:t>
            </a:r>
          </a:p>
        </p:txBody>
      </p:sp>
    </p:spTree>
    <p:extLst>
      <p:ext uri="{BB962C8B-B14F-4D97-AF65-F5344CB8AC3E}">
        <p14:creationId xmlns:p14="http://schemas.microsoft.com/office/powerpoint/2010/main" val="41629906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91D30F-3393-427B-B10E-4BE0D8A1E3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AA6F32-6E2D-471E-8366-7A3B9F2B15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628884-635E-44C9-90F1-7CABE9CA2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BCCCFCA5-5C0F-4592-845B-21C738CA2AA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0E11D8-A77B-49A0-A61C-7F6EE632B6F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9D030F7-1B43-4291-9B07-70C1B0888FE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49F1911D-9EB7-426E-9731-752B7FB38E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3F8E2398-41ED-4C02-ABCF-4B2221F10C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44</a:t>
            </a:r>
          </a:p>
        </p:txBody>
      </p:sp>
    </p:spTree>
    <p:extLst>
      <p:ext uri="{BB962C8B-B14F-4D97-AF65-F5344CB8AC3E}">
        <p14:creationId xmlns:p14="http://schemas.microsoft.com/office/powerpoint/2010/main" val="168965680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A466F5-B679-495B-BE72-5F87F85B02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2CA388-D73C-408C-AA86-5DAEB63BC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C48A71-3002-46C3-A920-D8CF3B6E74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E56A239-4A59-42CD-84F5-9CAFF12950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D42252-DE2C-4389-B3DA-28ECD07B280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F40CAF9D-3D49-47BB-BE54-068018A07CE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5BF25D-681D-42D3-B426-2F2CFA86011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A06577A5-F39D-4D72-8A56-961FC790085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FFCAA1-1141-4628-8574-A166F3B8055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419E1623-F464-4676-A9A8-7D06B45EE50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2A97C99-B8B7-4135-B679-AEE4CAA17AA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D5CA7FB-AD1C-4954-8998-4FD8C9DCEE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45</a:t>
            </a:r>
          </a:p>
        </p:txBody>
      </p:sp>
    </p:spTree>
    <p:extLst>
      <p:ext uri="{BB962C8B-B14F-4D97-AF65-F5344CB8AC3E}">
        <p14:creationId xmlns:p14="http://schemas.microsoft.com/office/powerpoint/2010/main" val="46289062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A9B7C5-A3CE-486B-9BDF-D78790473A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22F3D6-125D-4931-8741-09156FFCD1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2FB3E40-8DEE-4996-9058-8FA6B9ACD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21A6615A-2741-43C2-927B-A7E27991D6C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BBB52A-630B-4224-82D1-335C960A225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61250731-0624-4857-8342-4B66B5CB60F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7679839-2255-4A80-9CCD-2B6F218EE7E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F53D301-B3E9-47AE-ACC6-6CFAEBD90E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46</a:t>
            </a:r>
          </a:p>
        </p:txBody>
      </p:sp>
    </p:spTree>
    <p:extLst>
      <p:ext uri="{BB962C8B-B14F-4D97-AF65-F5344CB8AC3E}">
        <p14:creationId xmlns:p14="http://schemas.microsoft.com/office/powerpoint/2010/main" val="59829067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C10C40-76EA-461D-A05E-787D59E198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C3CE4A-05F4-4DF3-B2E2-797989B2E2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0B0E64B-9A44-4061-B69E-669E511423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E2884193-590F-4801-9466-B18FAC1CC6A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54E908-7CC7-4582-A6B6-C9027952F34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D0946019-F0A1-4D60-B903-E1F6E6C63AB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C2BEE20-B37C-43D3-A9F4-8C08060322C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BBEFCE0-9E57-4CD1-9BD9-44EDC91A46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47</a:t>
            </a:r>
          </a:p>
        </p:txBody>
      </p:sp>
    </p:spTree>
    <p:extLst>
      <p:ext uri="{BB962C8B-B14F-4D97-AF65-F5344CB8AC3E}">
        <p14:creationId xmlns:p14="http://schemas.microsoft.com/office/powerpoint/2010/main" val="3648651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FF6458-7658-4AAB-959B-A6CA58BD04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76D878-26C1-4EC5-9764-83E8A7FC97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09091AD-6369-4DA1-9391-37635B48A7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074A2504-1DD1-46A4-B422-4882E2DE050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4C56EC-DB05-46AA-8466-EC5ACF87D17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6FE6C807-9C2B-4CC3-B0D6-D236F539934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940FA4D-ADAF-4CCF-ACA4-29C5F849CC3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7BF7E59-A2B3-4697-80E7-E1AD141087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48</a:t>
            </a:r>
          </a:p>
        </p:txBody>
      </p:sp>
    </p:spTree>
    <p:extLst>
      <p:ext uri="{BB962C8B-B14F-4D97-AF65-F5344CB8AC3E}">
        <p14:creationId xmlns:p14="http://schemas.microsoft.com/office/powerpoint/2010/main" val="180079426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C25AE21-C3FC-4E7D-8557-405BBF8DD6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92181B-7E55-4816-B5F6-F0725F9333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C21FE6-FB79-4E28-9B37-403E5E5BA9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67A6360B-F64A-4750-8E96-62FA646B21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3075D9-09CD-4224-9C8A-3DCD7DE8852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0EB32381-AD25-4577-AA6A-EC00249B221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B732A8-9D80-4DD8-87DB-1B5343B9193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290FF70-9EAE-4AD9-ADBC-CE249437649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A85D4D-E5D0-49DC-848E-D44414DCB69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F6CE8FC-120D-4EE3-A531-F09B2BFC186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40692E1-6F9F-42C5-9724-12DC15703DC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62890A7-E3B6-42D0-8DDE-3F5C4724F4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49</a:t>
            </a:r>
          </a:p>
        </p:txBody>
      </p:sp>
    </p:spTree>
    <p:extLst>
      <p:ext uri="{BB962C8B-B14F-4D97-AF65-F5344CB8AC3E}">
        <p14:creationId xmlns:p14="http://schemas.microsoft.com/office/powerpoint/2010/main" val="155713853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FEF6F87-7260-40AD-9864-D0DD2A008A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FF848A-9160-4FEA-9B61-B9CEFD3FFC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66322BD-214C-49B1-81B0-7809F2131D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A73E3264-AAC9-46F4-A191-EE9C5C3C059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8D4690-FCA4-4890-8FC0-253FB62EF8A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08:00 Kampala</a:t>
            </a:r>
          </a:p>
        </p:txBody>
      </p:sp>
      <p:sp>
        <p:nvSpPr>
          <p:cNvPr id="6" name="">
            <a:extLst xmlns:a="http://schemas.openxmlformats.org/drawingml/2006/main">
              <a:ext uri="{FF2B5EF4-FFF2-40B4-BE49-F238E27FC236}">
                <a16:creationId xmlns:a16="http://schemas.microsoft.com/office/drawing/2014/main" id="{961A3DFE-2768-473F-AB54-8BD6ED02CE5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1E75B6-CDC1-410E-9F3C-62DD5E7B892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08:00 Kampala</a:t>
            </a:r>
          </a:p>
        </p:txBody>
      </p:sp>
      <p:sp>
        <p:nvSpPr>
          <p:cNvPr id="8" name="">
            <a:extLst xmlns:a="http://schemas.openxmlformats.org/drawingml/2006/main">
              <a:ext uri="{FF2B5EF4-FFF2-40B4-BE49-F238E27FC236}">
                <a16:creationId xmlns:a16="http://schemas.microsoft.com/office/drawing/2014/main" id="{9CEAD8E8-7707-461E-8A93-C839E5B4797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DF0C08-6760-48F8-9533-41162B37379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D3427A0-251C-4B3D-9129-F9C35555F27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B5A786-72AC-4D36-AE36-CAFB78C4008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EC001B2-72BA-4ED0-B5A2-47D74FF6784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857E7E0-CAF6-4DD8-B33C-CD54C2029D4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591c1e1f7a2400e"/>
              </a:rPr>
              <a:t>Open W06 assignment form</a:t>
            </a:r>
          </a:p>
        </p:txBody>
      </p:sp>
      <p:sp>
        <p:nvSpPr>
          <p:cNvPr id="14" name="">
            <a:extLst xmlns:a="http://schemas.openxmlformats.org/drawingml/2006/main">
              <a:ext uri="{FF2B5EF4-FFF2-40B4-BE49-F238E27FC236}">
                <a16:creationId xmlns:a16="http://schemas.microsoft.com/office/drawing/2014/main" id="{F0E41FDC-247B-464B-BDAE-8C484174A57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https://docs.google.com/forms/d/e/1FAIpQLSfTETySrIpbVK0xyJo7Zft9exWhC8kB0u4XRrbF8Vbm9Ajq7Q/viewform</a:t>
            </a:r>
          </a:p>
        </p:txBody>
      </p:sp>
      <p:sp>
        <p:nvSpPr>
          <p:cNvPr id="15" name="">
            <a:extLst xmlns:a="http://schemas.openxmlformats.org/drawingml/2006/main">
              <a:ext uri="{FF2B5EF4-FFF2-40B4-BE49-F238E27FC236}">
                <a16:creationId xmlns:a16="http://schemas.microsoft.com/office/drawing/2014/main" id="{2B0F3605-61E5-4B04-92D0-6798392895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50</a:t>
            </a:r>
          </a:p>
        </p:txBody>
      </p:sp>
    </p:spTree>
    <p:extLst>
      <p:ext uri="{BB962C8B-B14F-4D97-AF65-F5344CB8AC3E}">
        <p14:creationId xmlns:p14="http://schemas.microsoft.com/office/powerpoint/2010/main" val="210006542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74A1499-0390-4CDE-9BE1-DE1C405FCE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518D52-5488-4BDE-AC14-7ABEBEC620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B5E33FF-D3A1-48D3-B260-215D2C1B03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ADE4AF98-F244-4ED9-9C16-1D6351FF82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C8B834-F9F4-4218-9B2A-BAA78DD765E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A9D10E02-200A-4A68-9FD7-2812E552DBC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4FCA04-8236-442B-AF0E-122563FA50E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4B147882-2773-4146-BF37-22F51E3AAAD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E85A81-84DA-4B8C-ABB8-D4D2C1FEF6F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688E1104-FF44-4FEE-A3C6-E7BFF1598FA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23E7C54-99FB-46D5-AEFF-D965299BA4C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7D84EB32-84A2-46A4-8D82-DD940F7410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51</a:t>
            </a:r>
          </a:p>
        </p:txBody>
      </p:sp>
    </p:spTree>
    <p:extLst>
      <p:ext uri="{BB962C8B-B14F-4D97-AF65-F5344CB8AC3E}">
        <p14:creationId xmlns:p14="http://schemas.microsoft.com/office/powerpoint/2010/main" val="1101121472"/>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5FA02352-A82C-4D16-B31E-4F51B1E009F0}"/>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72D6E21A-4221-45FE-AF1F-C92D44268F30}"/>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DAB30382-6F37-4E0F-BD52-353C1B90ADBE}"/>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a:ext uri="{FF2B5EF4-FFF2-40B4-BE49-F238E27FC236}">
                <ns2:creationId id="{E29E935E-DDA2-42C9-AD1C-AB2602938C30}"/>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A44FF713-4665-46DC-90A8-70884777FC0D}"/>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0562CD25-500A-45F3-BAA1-1C93F5AB1B1B}"/>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AD4C7EA2-4238-4A8F-89C6-335AB8447477}"/>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F5951559-E734-4D7D-B118-78F4B2741245}"/>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EA784ED-67F0-4F90-B1C8-3920156FD0FC}"/>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937ABE6C-657E-4FC8-B9F5-570D35170FFA}"/>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9A324E7-5053-4F92-A5C1-E260A44B28AA}"/>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25ba3ce232974a42"/>
          <a:stretch/>
        </p:blipFill>
        <p:spPr>
          <a:xfrm>
            <a:off x="9134475" y="2095500"/>
            <a:ext cx="2190750" cy="2190750"/>
          </a:xfrm>
          <a:prstGeom prst="rect">
            <a:avLst/>
          </a:prstGeom>
        </p:spPr>
      </p:pic>
      <p:sp>
        <p:nvSpPr>
          <p:cNvPr id="13" name="">
            <a:extLst>
              <a:ext uri="{FF2B5EF4-FFF2-40B4-BE49-F238E27FC236}">
                <ns2:creationId id="{567703CF-0EC9-46AD-A8EE-0FC14F76793F}"/>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696CD7B6-E1CB-4B5F-80BD-1D4F3791BD29}"/>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883FB097-909B-4911-B37E-BA6F46791332}"/>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fd1824f5b2d647af"/>
              </a:rPr>
              <a:t>Open this week’s quiz</a:t>
            </a:r>
          </a:p>
        </p:txBody>
      </p:sp>
      <p:sp>
        <p:nvSpPr>
          <p:cNvPr id="16" name="">
            <a:extLst>
              <a:ext uri="{FF2B5EF4-FFF2-40B4-BE49-F238E27FC236}">
                <ns2:creationId id="{F789BA44-0839-4DC0-AF19-2A7A6BD169FA}"/>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https://forms.gle/4SRNGRCUtUmKpTc1A</a:t>
            </a:r>
          </a:p>
        </p:txBody>
      </p:sp>
      <p:sp>
        <p:nvSpPr>
          <p:cNvPr id="17" name="">
            <a:extLst>
              <a:ext uri="{FF2B5EF4-FFF2-40B4-BE49-F238E27FC236}">
                <ns2:creationId id="{554C1C10-A9ED-455F-B8BE-CCF097B2B17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52</a:t>
            </a:r>
          </a:p>
        </p:txBody>
      </p:sp>
    </p:spTree>
    <p:extLst>
      <p:ext uri="{BB962C8B-B14F-4D97-AF65-F5344CB8AC3E}">
        <ns4:creationId val="455985487"/>
      </p:ext>
    </p:extLst>
  </p:cSld>
</p:sld>
</file>

<file path=ppt/slides/slide5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16767BCA-F480-4ACF-9094-702B55691AA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7AE0CD62-7DD2-48D2-B654-12729F4A193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03ED5724-13D5-4E02-BD67-BBDC4DFF90D6}"/>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38B93F7D-C5BF-45C5-88AA-DDE8FB1DE372}"/>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56DF000B-2000-4CEE-B166-5A8EE3839839}"/>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ED4F0A71-7D7F-4E34-B965-A5EF266B481B}"/>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6   53</a:t>
            </a:r>
          </a:p>
        </p:txBody>
      </p:sp>
    </p:spTree>
    <p:extLst>
      <p:ext uri="{BB962C8B-B14F-4D97-AF65-F5344CB8AC3E}">
        <ns3:creationId val="6927225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247A241-664C-491B-BBDE-DF31C049AC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3B0019-EFCD-4915-94DF-7277295486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50FBB7F7-F1B3-41C1-8CB9-5C4FF01AB2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42394D6-4D7B-49B2-BBAF-7C1018B38E1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3C62F4-2B08-44A7-84E1-E0428B1E423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17878098-EE81-43E4-AF2D-8D4BBDBC82A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3B202F-7C77-4437-AF1F-0F7EB32D9FC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8E6C5203-E307-4888-8A4A-C07E0C2D673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F56E92-A9E4-4629-B6AF-37EDECCC2CC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581C52F8-E0D8-4AE1-8315-0CC55F992E3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B91FFF-ACDC-4502-AB62-7BCA1A01F23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3D12FF5C-3D10-486D-BE57-46DFAE1B69A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B3D3EBA-81D1-4DCF-BDB2-732B0500188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81f7ff6334144a3"/>
              </a:rPr>
              <a:t>Open explainer video</a:t>
            </a:r>
          </a:p>
        </p:txBody>
      </p:sp>
      <p:sp>
        <p:nvSpPr>
          <p:cNvPr id="14" name="">
            <a:extLst xmlns:a="http://schemas.openxmlformats.org/drawingml/2006/main">
              <a:ext uri="{FF2B5EF4-FFF2-40B4-BE49-F238E27FC236}">
                <a16:creationId xmlns:a16="http://schemas.microsoft.com/office/drawing/2014/main" id="{5A634F23-7A54-400E-A5D8-229751661E8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4BE270A5-2233-4963-A018-1B53ED52A0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54</a:t>
            </a:r>
          </a:p>
        </p:txBody>
      </p:sp>
    </p:spTree>
    <p:extLst>
      <p:ext uri="{BB962C8B-B14F-4D97-AF65-F5344CB8AC3E}">
        <p14:creationId xmlns:p14="http://schemas.microsoft.com/office/powerpoint/2010/main" val="10617887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2026-09-28T21:45:49.3100000Z</dcterms:created>
  <dcterms:modified xsi:type="dcterms:W3CDTF">2026-09-28T21:45:49.3100000Z</dcterms:modified>
</coreProperties>
</file>