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0ca4e46e3ae4871" /><Relationship Type="http://schemas.openxmlformats.org/officeDocument/2006/relationships/extended-properties" Target="/docProps/app.xml" Id="Rc23d27d6362d4a64" /><Relationship Type="http://schemas.openxmlformats.org/officeDocument/2006/relationships/officeDocument" Target="/ppt/presentation.xml" Id="R629b1832dd8f4365" /></Relationships>
</file>

<file path=ppt/presentation.xml><?xml version="1.0" encoding="utf-8"?>
<p:presentation xmlns:p="http://schemas.openxmlformats.org/presentationml/2006/main">
  <p:sldMasterIdLst>
    <p:sldMasterId xmlns:r="http://schemas.openxmlformats.org/officeDocument/2006/relationships" id="2147483648" r:id="R7a12cf25675a43dc"/>
  </p:sldMasterIdLst>
  <p:notesMasterIdLst>
    <p:notesMasterId xmlns:r="http://schemas.openxmlformats.org/officeDocument/2006/relationships" r:id="R55fa3b3eb9664ffc"/>
  </p:notesMasterIdLst>
  <p:sldIdLst>
    <p:sldId xmlns:r="http://schemas.openxmlformats.org/officeDocument/2006/relationships" id="256" r:id="Rae862db550b0423e"/>
    <p:sldId xmlns:r="http://schemas.openxmlformats.org/officeDocument/2006/relationships" id="257" r:id="R37ee8e6ad01942d9"/>
    <p:sldId xmlns:r="http://schemas.openxmlformats.org/officeDocument/2006/relationships" id="258" r:id="Rd384fc74f10c4099"/>
    <p:sldId xmlns:r="http://schemas.openxmlformats.org/officeDocument/2006/relationships" id="259" r:id="Rf366752048304110"/>
    <p:sldId xmlns:r="http://schemas.openxmlformats.org/officeDocument/2006/relationships" id="260" r:id="R18d9970281694b5f"/>
    <p:sldId xmlns:r="http://schemas.openxmlformats.org/officeDocument/2006/relationships" id="261" r:id="Rf97138ff4b3b42fc"/>
    <p:sldId xmlns:r="http://schemas.openxmlformats.org/officeDocument/2006/relationships" id="262" r:id="R08fe5c19ea9a4a43"/>
    <p:sldId xmlns:r="http://schemas.openxmlformats.org/officeDocument/2006/relationships" id="263" r:id="R41fdad091a76411f"/>
    <p:sldId xmlns:r="http://schemas.openxmlformats.org/officeDocument/2006/relationships" id="264" r:id="Red55ce0a2303483b"/>
    <p:sldId xmlns:r="http://schemas.openxmlformats.org/officeDocument/2006/relationships" id="265" r:id="R049353855e5e4a8e"/>
    <p:sldId xmlns:r="http://schemas.openxmlformats.org/officeDocument/2006/relationships" id="266" r:id="R72953a2665444997"/>
    <p:sldId xmlns:r="http://schemas.openxmlformats.org/officeDocument/2006/relationships" id="267" r:id="R71a1f9bb384b49e7"/>
    <p:sldId xmlns:r="http://schemas.openxmlformats.org/officeDocument/2006/relationships" id="268" r:id="R0bc42a49d357411d"/>
    <p:sldId xmlns:r="http://schemas.openxmlformats.org/officeDocument/2006/relationships" id="269" r:id="R2cdc8ef3605f4f15"/>
    <p:sldId xmlns:r="http://schemas.openxmlformats.org/officeDocument/2006/relationships" id="270" r:id="R7a1522ac67024c7c"/>
    <p:sldId xmlns:r="http://schemas.openxmlformats.org/officeDocument/2006/relationships" id="271" r:id="R2be7e61c888b49f4"/>
    <p:sldId xmlns:r="http://schemas.openxmlformats.org/officeDocument/2006/relationships" id="272" r:id="R244ffbc20b1d42f5"/>
    <p:sldId xmlns:r="http://schemas.openxmlformats.org/officeDocument/2006/relationships" id="273" r:id="R5600d6073a4e4a73"/>
    <p:sldId xmlns:r="http://schemas.openxmlformats.org/officeDocument/2006/relationships" id="274" r:id="Rf4c65c50a4024fd0"/>
    <p:sldId xmlns:r="http://schemas.openxmlformats.org/officeDocument/2006/relationships" id="275" r:id="Rca0b4089197a4032"/>
    <p:sldId xmlns:r="http://schemas.openxmlformats.org/officeDocument/2006/relationships" id="276" r:id="R29a27b8221454be0"/>
    <p:sldId xmlns:r="http://schemas.openxmlformats.org/officeDocument/2006/relationships" id="277" r:id="Rbfd5070c0a994f81"/>
    <p:sldId xmlns:r="http://schemas.openxmlformats.org/officeDocument/2006/relationships" id="278" r:id="R751fba2c5f564456"/>
    <p:sldId xmlns:r="http://schemas.openxmlformats.org/officeDocument/2006/relationships" id="279" r:id="Rae5fd9f7da0442eb"/>
    <p:sldId xmlns:r="http://schemas.openxmlformats.org/officeDocument/2006/relationships" id="280" r:id="R16b7e2da0ed14bed"/>
    <p:sldId xmlns:r="http://schemas.openxmlformats.org/officeDocument/2006/relationships" id="281" r:id="R21d6db95ea8f4f47"/>
    <p:sldId xmlns:r="http://schemas.openxmlformats.org/officeDocument/2006/relationships" id="282" r:id="Rba11843746b74fda"/>
    <p:sldId xmlns:r="http://schemas.openxmlformats.org/officeDocument/2006/relationships" id="283" r:id="R8797d0fcda3e4278"/>
    <p:sldId xmlns:r="http://schemas.openxmlformats.org/officeDocument/2006/relationships" id="284" r:id="R2b074ea3cd394b65"/>
    <p:sldId xmlns:r="http://schemas.openxmlformats.org/officeDocument/2006/relationships" id="285" r:id="Rc06f407a92824dd8"/>
    <p:sldId xmlns:r="http://schemas.openxmlformats.org/officeDocument/2006/relationships" id="286" r:id="Re4cd7ff3e795491a"/>
    <p:sldId xmlns:r="http://schemas.openxmlformats.org/officeDocument/2006/relationships" id="287" r:id="R3c90082a5f6d44d2"/>
    <p:sldId xmlns:r="http://schemas.openxmlformats.org/officeDocument/2006/relationships" id="288" r:id="R32741ad959de410d"/>
    <p:sldId xmlns:r="http://schemas.openxmlformats.org/officeDocument/2006/relationships" id="289" r:id="R7b54a8a6241949c0"/>
    <p:sldId xmlns:r="http://schemas.openxmlformats.org/officeDocument/2006/relationships" id="290" r:id="Ra65057c382f649d2"/>
    <p:sldId xmlns:r="http://schemas.openxmlformats.org/officeDocument/2006/relationships" id="291" r:id="Rbc521c7607bc4b47"/>
    <p:sldId xmlns:r="http://schemas.openxmlformats.org/officeDocument/2006/relationships" id="292" r:id="Rc8a3d2d12d7b4001"/>
    <p:sldId xmlns:r="http://schemas.openxmlformats.org/officeDocument/2006/relationships" id="293" r:id="Ra61c13df1ec143b6"/>
    <p:sldId xmlns:r="http://schemas.openxmlformats.org/officeDocument/2006/relationships" id="294" r:id="R1ca58c8503c54646"/>
    <p:sldId xmlns:r="http://schemas.openxmlformats.org/officeDocument/2006/relationships" id="295" r:id="Rdc8f9e0b54d94410"/>
    <p:sldId xmlns:r="http://schemas.openxmlformats.org/officeDocument/2006/relationships" id="296" r:id="Ra7a96f55952e4139"/>
    <p:sldId xmlns:r="http://schemas.openxmlformats.org/officeDocument/2006/relationships" id="297" r:id="R60741cca475f4ee7"/>
    <p:sldId xmlns:r="http://schemas.openxmlformats.org/officeDocument/2006/relationships" id="298" r:id="R29724614e19b4597"/>
    <p:sldId xmlns:r="http://schemas.openxmlformats.org/officeDocument/2006/relationships" id="299" r:id="R83e4cb8868b14279"/>
    <p:sldId xmlns:r="http://schemas.openxmlformats.org/officeDocument/2006/relationships" id="300" r:id="Rd41ab179060e4cdf"/>
    <p:sldId xmlns:r="http://schemas.openxmlformats.org/officeDocument/2006/relationships" id="301" r:id="R3ded43bdc9014755"/>
    <p:sldId xmlns:r="http://schemas.openxmlformats.org/officeDocument/2006/relationships" id="302" r:id="R39ae1b81cad04a66"/>
    <p:sldId xmlns:r="http://schemas.openxmlformats.org/officeDocument/2006/relationships" id="303" r:id="R226a85b5b593494b"/>
    <p:sldId xmlns:r="http://schemas.openxmlformats.org/officeDocument/2006/relationships" id="304" r:id="Rc3de91eaf557438a"/>
    <p:sldId xmlns:r="http://schemas.openxmlformats.org/officeDocument/2006/relationships" id="305" r:id="R2e0fd9c83de74552"/>
    <p:sldId xmlns:r="http://schemas.openxmlformats.org/officeDocument/2006/relationships" id="306" r:id="R46677b543f8f4988"/>
    <p:sldId xmlns:r="http://schemas.openxmlformats.org/officeDocument/2006/relationships" id="307" r:id="R41813e9a59884a27"/>
    <p:sldId xmlns:r="http://schemas.openxmlformats.org/officeDocument/2006/relationships" id="308" r:id="R08c845492bd54796"/>
    <p:sldId xmlns:r="http://schemas.openxmlformats.org/officeDocument/2006/relationships" id="309" r:id="Raad0e5b847354a7c"/>
    <p:sldId xmlns:r="http://schemas.openxmlformats.org/officeDocument/2006/relationships" id="310" r:id="R5155bd2d675b4d89"/>
    <p:sldId xmlns:r="http://schemas.openxmlformats.org/officeDocument/2006/relationships" id="311" r:id="R10c4065152f74383"/>
    <p:sldId xmlns:r="http://schemas.openxmlformats.org/officeDocument/2006/relationships" id="312" r:id="R7097aa7e207740cf"/>
    <p:sldId xmlns:r="http://schemas.openxmlformats.org/officeDocument/2006/relationships" id="313" r:id="R0ee12bf42e974adc"/>
    <p:sldId xmlns:r="http://schemas.openxmlformats.org/officeDocument/2006/relationships" id="314" r:id="Ref3596c3a4044aa4"/>
    <p:sldId xmlns:r="http://schemas.openxmlformats.org/officeDocument/2006/relationships" id="315" r:id="R9b5d1bebae594b26"/>
    <p:sldId xmlns:r="http://schemas.openxmlformats.org/officeDocument/2006/relationships" id="316" r:id="R8c5e1c8d3b8146c7"/>
    <p:sldId xmlns:r="http://schemas.openxmlformats.org/officeDocument/2006/relationships" id="317" r:id="Rc9153c1c716d4175"/>
    <p:sldId xmlns:r="http://schemas.openxmlformats.org/officeDocument/2006/relationships" id="318" r:id="Rdaaf0fbe5d8f4a63"/>
    <p:sldId xmlns:r="http://schemas.openxmlformats.org/officeDocument/2006/relationships" id="319" r:id="R963e1ae718574ce8"/>
    <p:sldId xmlns:r="http://schemas.openxmlformats.org/officeDocument/2006/relationships" id="320" r:id="R96281316412447f9"/>
    <p:sldId xmlns:r="http://schemas.openxmlformats.org/officeDocument/2006/relationships" id="321" r:id="Rca53322b2e1b46d6"/>
    <p:sldId xmlns:r="http://schemas.openxmlformats.org/officeDocument/2006/relationships" id="322" r:id="Re9d7cdaf9b834a7e"/>
    <p:sldId xmlns:r="http://schemas.openxmlformats.org/officeDocument/2006/relationships" id="323" r:id="Ra06d312adc9a4d83"/>
    <p:sldId xmlns:r="http://schemas.openxmlformats.org/officeDocument/2006/relationships" id="324" r:id="Rf57565d6fc9a4603"/>
    <p:sldId xmlns:r="http://schemas.openxmlformats.org/officeDocument/2006/relationships" id="325" r:id="R48c0b39a76e34376"/>
    <p:sldId xmlns:r="http://schemas.openxmlformats.org/officeDocument/2006/relationships" id="326" r:id="Rf3f9a77f0b834d78"/>
    <p:sldId xmlns:r="http://schemas.openxmlformats.org/officeDocument/2006/relationships" id="327" r:id="Ra174a18d5dd94513"/>
    <p:sldId xmlns:r="http://schemas.openxmlformats.org/officeDocument/2006/relationships" id="328" r:id="R991fbabb469c48b5"/>
    <p:sldId xmlns:r="http://schemas.openxmlformats.org/officeDocument/2006/relationships" id="329" r:id="R1aee8b684b384bc8"/>
    <p:sldId xmlns:r="http://schemas.openxmlformats.org/officeDocument/2006/relationships" id="330" r:id="Rd667c66fffe54654"/>
    <p:sldId xmlns:r="http://schemas.openxmlformats.org/officeDocument/2006/relationships" id="331" r:id="R397ee05cb8e14414"/>
    <p:sldId xmlns:r="http://schemas.openxmlformats.org/officeDocument/2006/relationships" id="332" r:id="R2c11ac99558a4d9f"/>
    <p:sldId xmlns:r="http://schemas.openxmlformats.org/officeDocument/2006/relationships" id="333" r:id="R6aaeab64aca44801"/>
    <p:sldId xmlns:r="http://schemas.openxmlformats.org/officeDocument/2006/relationships" id="334" r:id="Rebde2567a9cd4a2d"/>
    <p:sldId xmlns:r="http://schemas.openxmlformats.org/officeDocument/2006/relationships" id="335" r:id="R746c93d97bdc4326"/>
    <p:sldId xmlns:r="http://schemas.openxmlformats.org/officeDocument/2006/relationships" id="336" r:id="R62bc8368a3cd439f"/>
    <p:sldId xmlns:r="http://schemas.openxmlformats.org/officeDocument/2006/relationships" id="337" r:id="R65290ce765fe4d45"/>
    <p:sldId xmlns:r="http://schemas.openxmlformats.org/officeDocument/2006/relationships" id="338" r:id="R75a8c67be7804055"/>
    <p:sldId xmlns:r="http://schemas.openxmlformats.org/officeDocument/2006/relationships" id="339" r:id="Rc09240480b8f4a92"/>
    <p:sldId xmlns:r="http://schemas.openxmlformats.org/officeDocument/2006/relationships" id="340" r:id="R9a52001e9e1b4296"/>
    <p:sldId xmlns:r="http://schemas.openxmlformats.org/officeDocument/2006/relationships" id="341" r:id="R80c4f624768f442c"/>
    <p:sldId xmlns:r="http://schemas.openxmlformats.org/officeDocument/2006/relationships" id="342" r:id="Rb65da7018d874a89"/>
    <p:sldId xmlns:r="http://schemas.openxmlformats.org/officeDocument/2006/relationships" id="343" r:id="R2b2387d94abc4ba3"/>
    <p:sldId xmlns:r="http://schemas.openxmlformats.org/officeDocument/2006/relationships" id="344" r:id="R8fbf08a920d24cc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04f13b3a6dd4b8b" /><Relationship Type="http://schemas.openxmlformats.org/officeDocument/2006/relationships/slideMaster" Target="/ppt/slideMasters/slideMaster1.xml" Id="R7a12cf25675a43dc" /><Relationship Type="http://schemas.openxmlformats.org/officeDocument/2006/relationships/notesMaster" Target="/ppt/notesMasters/notesMaster1.xml" Id="R55fa3b3eb9664ffc" /><Relationship Type="http://schemas.openxmlformats.org/officeDocument/2006/relationships/presProps" Target="/ppt/presProps.xml" Id="Rb1f45858c818455a" /><Relationship Type="http://schemas.openxmlformats.org/officeDocument/2006/relationships/tableStyles" Target="/ppt/tableStyles.xml" Id="Rf2755ba6577143d4" /><Relationship Type="http://schemas.openxmlformats.org/officeDocument/2006/relationships/slide" Target="/ppt/slides/slide1.xml" Id="Rae862db550b0423e" /><Relationship Type="http://schemas.openxmlformats.org/officeDocument/2006/relationships/slide" Target="/ppt/slides/slide2.xml" Id="R37ee8e6ad01942d9" /><Relationship Type="http://schemas.openxmlformats.org/officeDocument/2006/relationships/slide" Target="/ppt/slides/slide3.xml" Id="Rd384fc74f10c4099" /><Relationship Type="http://schemas.openxmlformats.org/officeDocument/2006/relationships/slide" Target="/ppt/slides/slide4.xml" Id="Rf366752048304110" /><Relationship Type="http://schemas.openxmlformats.org/officeDocument/2006/relationships/slide" Target="/ppt/slides/slide5.xml" Id="R18d9970281694b5f" /><Relationship Type="http://schemas.openxmlformats.org/officeDocument/2006/relationships/slide" Target="/ppt/slides/slide6.xml" Id="Rf97138ff4b3b42fc" /><Relationship Type="http://schemas.openxmlformats.org/officeDocument/2006/relationships/slide" Target="/ppt/slides/slide7.xml" Id="R08fe5c19ea9a4a43" /><Relationship Type="http://schemas.openxmlformats.org/officeDocument/2006/relationships/slide" Target="/ppt/slides/slide8.xml" Id="R41fdad091a76411f" /><Relationship Type="http://schemas.openxmlformats.org/officeDocument/2006/relationships/slide" Target="/ppt/slides/slide9.xml" Id="Red55ce0a2303483b" /><Relationship Type="http://schemas.openxmlformats.org/officeDocument/2006/relationships/slide" Target="/ppt/slides/slide10.xml" Id="R049353855e5e4a8e" /><Relationship Type="http://schemas.openxmlformats.org/officeDocument/2006/relationships/slide" Target="/ppt/slides/slide11.xml" Id="R72953a2665444997" /><Relationship Type="http://schemas.openxmlformats.org/officeDocument/2006/relationships/slide" Target="/ppt/slides/slide12.xml" Id="R71a1f9bb384b49e7" /><Relationship Type="http://schemas.openxmlformats.org/officeDocument/2006/relationships/slide" Target="/ppt/slides/slide13.xml" Id="R0bc42a49d357411d" /><Relationship Type="http://schemas.openxmlformats.org/officeDocument/2006/relationships/slide" Target="/ppt/slides/slide14.xml" Id="R2cdc8ef3605f4f15" /><Relationship Type="http://schemas.openxmlformats.org/officeDocument/2006/relationships/slide" Target="/ppt/slides/slide15.xml" Id="R7a1522ac67024c7c" /><Relationship Type="http://schemas.openxmlformats.org/officeDocument/2006/relationships/slide" Target="/ppt/slides/slide16.xml" Id="R2be7e61c888b49f4" /><Relationship Type="http://schemas.openxmlformats.org/officeDocument/2006/relationships/slide" Target="/ppt/slides/slide17.xml" Id="R244ffbc20b1d42f5" /><Relationship Type="http://schemas.openxmlformats.org/officeDocument/2006/relationships/slide" Target="/ppt/slides/slide18.xml" Id="R5600d6073a4e4a73" /><Relationship Type="http://schemas.openxmlformats.org/officeDocument/2006/relationships/slide" Target="/ppt/slides/slide19.xml" Id="Rf4c65c50a4024fd0" /><Relationship Type="http://schemas.openxmlformats.org/officeDocument/2006/relationships/slide" Target="/ppt/slides/slide20.xml" Id="Rca0b4089197a4032" /><Relationship Type="http://schemas.openxmlformats.org/officeDocument/2006/relationships/slide" Target="/ppt/slides/slide21.xml" Id="R29a27b8221454be0" /><Relationship Type="http://schemas.openxmlformats.org/officeDocument/2006/relationships/slide" Target="/ppt/slides/slide22.xml" Id="Rbfd5070c0a994f81" /><Relationship Type="http://schemas.openxmlformats.org/officeDocument/2006/relationships/slide" Target="/ppt/slides/slide23.xml" Id="R751fba2c5f564456" /><Relationship Type="http://schemas.openxmlformats.org/officeDocument/2006/relationships/slide" Target="/ppt/slides/slide24.xml" Id="Rae5fd9f7da0442eb" /><Relationship Type="http://schemas.openxmlformats.org/officeDocument/2006/relationships/slide" Target="/ppt/slides/slide25.xml" Id="R16b7e2da0ed14bed" /><Relationship Type="http://schemas.openxmlformats.org/officeDocument/2006/relationships/slide" Target="/ppt/slides/slide26.xml" Id="R21d6db95ea8f4f47" /><Relationship Type="http://schemas.openxmlformats.org/officeDocument/2006/relationships/slide" Target="/ppt/slides/slide27.xml" Id="Rba11843746b74fda" /><Relationship Type="http://schemas.openxmlformats.org/officeDocument/2006/relationships/slide" Target="/ppt/slides/slide28.xml" Id="R8797d0fcda3e4278" /><Relationship Type="http://schemas.openxmlformats.org/officeDocument/2006/relationships/slide" Target="/ppt/slides/slide29.xml" Id="R2b074ea3cd394b65" /><Relationship Type="http://schemas.openxmlformats.org/officeDocument/2006/relationships/slide" Target="/ppt/slides/slide30.xml" Id="Rc06f407a92824dd8" /><Relationship Type="http://schemas.openxmlformats.org/officeDocument/2006/relationships/slide" Target="/ppt/slides/slide31.xml" Id="Re4cd7ff3e795491a" /><Relationship Type="http://schemas.openxmlformats.org/officeDocument/2006/relationships/slide" Target="/ppt/slides/slide32.xml" Id="R3c90082a5f6d44d2" /><Relationship Type="http://schemas.openxmlformats.org/officeDocument/2006/relationships/slide" Target="/ppt/slides/slide33.xml" Id="R32741ad959de410d" /><Relationship Type="http://schemas.openxmlformats.org/officeDocument/2006/relationships/slide" Target="/ppt/slides/slide34.xml" Id="R7b54a8a6241949c0" /><Relationship Type="http://schemas.openxmlformats.org/officeDocument/2006/relationships/slide" Target="/ppt/slides/slide35.xml" Id="Ra65057c382f649d2" /><Relationship Type="http://schemas.openxmlformats.org/officeDocument/2006/relationships/slide" Target="/ppt/slides/slide36.xml" Id="Rbc521c7607bc4b47" /><Relationship Type="http://schemas.openxmlformats.org/officeDocument/2006/relationships/slide" Target="/ppt/slides/slide37.xml" Id="Rc8a3d2d12d7b4001" /><Relationship Type="http://schemas.openxmlformats.org/officeDocument/2006/relationships/slide" Target="/ppt/slides/slide38.xml" Id="Ra61c13df1ec143b6" /><Relationship Type="http://schemas.openxmlformats.org/officeDocument/2006/relationships/slide" Target="/ppt/slides/slide39.xml" Id="R1ca58c8503c54646" /><Relationship Type="http://schemas.openxmlformats.org/officeDocument/2006/relationships/slide" Target="/ppt/slides/slide40.xml" Id="Rdc8f9e0b54d94410" /><Relationship Type="http://schemas.openxmlformats.org/officeDocument/2006/relationships/slide" Target="/ppt/slides/slide41.xml" Id="Ra7a96f55952e4139" /><Relationship Type="http://schemas.openxmlformats.org/officeDocument/2006/relationships/slide" Target="/ppt/slides/slide42.xml" Id="R60741cca475f4ee7" /><Relationship Type="http://schemas.openxmlformats.org/officeDocument/2006/relationships/slide" Target="/ppt/slides/slide43.xml" Id="R29724614e19b4597" /><Relationship Type="http://schemas.openxmlformats.org/officeDocument/2006/relationships/slide" Target="/ppt/slides/slide44.xml" Id="R83e4cb8868b14279" /><Relationship Type="http://schemas.openxmlformats.org/officeDocument/2006/relationships/slide" Target="/ppt/slides/slide45.xml" Id="Rd41ab179060e4cdf" /><Relationship Type="http://schemas.openxmlformats.org/officeDocument/2006/relationships/slide" Target="/ppt/slides/slide46.xml" Id="R3ded43bdc9014755" /><Relationship Type="http://schemas.openxmlformats.org/officeDocument/2006/relationships/slide" Target="/ppt/slides/slide47.xml" Id="R39ae1b81cad04a66" /><Relationship Type="http://schemas.openxmlformats.org/officeDocument/2006/relationships/slide" Target="/ppt/slides/slide48.xml" Id="R226a85b5b593494b" /><Relationship Type="http://schemas.openxmlformats.org/officeDocument/2006/relationships/slide" Target="/ppt/slides/slide49.xml" Id="Rc3de91eaf557438a" /><Relationship Type="http://schemas.openxmlformats.org/officeDocument/2006/relationships/slide" Target="/ppt/slides/slide50.xml" Id="R2e0fd9c83de74552" /><Relationship Type="http://schemas.openxmlformats.org/officeDocument/2006/relationships/slide" Target="/ppt/slides/slide51.xml" Id="R46677b543f8f4988" /><Relationship Type="http://schemas.openxmlformats.org/officeDocument/2006/relationships/slide" Target="/ppt/slides/slide52.xml" Id="R41813e9a59884a27" /><Relationship Type="http://schemas.openxmlformats.org/officeDocument/2006/relationships/slide" Target="/ppt/slides/slide53.xml" Id="R08c845492bd54796" /><Relationship Type="http://schemas.openxmlformats.org/officeDocument/2006/relationships/slide" Target="/ppt/slides/slide54.xml" Id="Raad0e5b847354a7c" /><Relationship Type="http://schemas.openxmlformats.org/officeDocument/2006/relationships/slide" Target="/ppt/slides/slide55.xml" Id="R5155bd2d675b4d89" /><Relationship Type="http://schemas.openxmlformats.org/officeDocument/2006/relationships/slide" Target="/ppt/slides/slide56.xml" Id="R10c4065152f74383" /><Relationship Type="http://schemas.openxmlformats.org/officeDocument/2006/relationships/slide" Target="/ppt/slides/slide57.xml" Id="R7097aa7e207740cf" /><Relationship Type="http://schemas.openxmlformats.org/officeDocument/2006/relationships/slide" Target="/ppt/slides/slide58.xml" Id="R0ee12bf42e974adc" /><Relationship Type="http://schemas.openxmlformats.org/officeDocument/2006/relationships/slide" Target="/ppt/slides/slide59.xml" Id="Ref3596c3a4044aa4" /><Relationship Type="http://schemas.openxmlformats.org/officeDocument/2006/relationships/slide" Target="/ppt/slides/slide60.xml" Id="R9b5d1bebae594b26" /><Relationship Type="http://schemas.openxmlformats.org/officeDocument/2006/relationships/slide" Target="/ppt/slides/slide61.xml" Id="R8c5e1c8d3b8146c7" /><Relationship Type="http://schemas.openxmlformats.org/officeDocument/2006/relationships/slide" Target="/ppt/slides/slide62.xml" Id="Rc9153c1c716d4175" /><Relationship Type="http://schemas.openxmlformats.org/officeDocument/2006/relationships/slide" Target="/ppt/slides/slide63.xml" Id="Rdaaf0fbe5d8f4a63" /><Relationship Type="http://schemas.openxmlformats.org/officeDocument/2006/relationships/slide" Target="/ppt/slides/slide64.xml" Id="R963e1ae718574ce8" /><Relationship Type="http://schemas.openxmlformats.org/officeDocument/2006/relationships/slide" Target="/ppt/slides/slide65.xml" Id="R96281316412447f9" /><Relationship Type="http://schemas.openxmlformats.org/officeDocument/2006/relationships/slide" Target="/ppt/slides/slide66.xml" Id="Rca53322b2e1b46d6" /><Relationship Type="http://schemas.openxmlformats.org/officeDocument/2006/relationships/slide" Target="/ppt/slides/slide67.xml" Id="Re9d7cdaf9b834a7e" /><Relationship Type="http://schemas.openxmlformats.org/officeDocument/2006/relationships/slide" Target="/ppt/slides/slide68.xml" Id="Ra06d312adc9a4d83" /><Relationship Type="http://schemas.openxmlformats.org/officeDocument/2006/relationships/slide" Target="/ppt/slides/slide69.xml" Id="Rf57565d6fc9a4603" /><Relationship Type="http://schemas.openxmlformats.org/officeDocument/2006/relationships/slide" Target="/ppt/slides/slide70.xml" Id="R48c0b39a76e34376" /><Relationship Type="http://schemas.openxmlformats.org/officeDocument/2006/relationships/slide" Target="/ppt/slides/slide71.xml" Id="Rf3f9a77f0b834d78" /><Relationship Type="http://schemas.openxmlformats.org/officeDocument/2006/relationships/slide" Target="/ppt/slides/slide72.xml" Id="Ra174a18d5dd94513" /><Relationship Type="http://schemas.openxmlformats.org/officeDocument/2006/relationships/slide" Target="/ppt/slides/slide73.xml" Id="R991fbabb469c48b5" /><Relationship Type="http://schemas.openxmlformats.org/officeDocument/2006/relationships/slide" Target="/ppt/slides/slide74.xml" Id="R1aee8b684b384bc8" /><Relationship Type="http://schemas.openxmlformats.org/officeDocument/2006/relationships/slide" Target="/ppt/slides/slide75.xml" Id="Rd667c66fffe54654" /><Relationship Type="http://schemas.openxmlformats.org/officeDocument/2006/relationships/slide" Target="/ppt/slides/slide76.xml" Id="R397ee05cb8e14414" /><Relationship Type="http://schemas.openxmlformats.org/officeDocument/2006/relationships/slide" Target="/ppt/slides/slide77.xml" Id="R2c11ac99558a4d9f" /><Relationship Type="http://schemas.openxmlformats.org/officeDocument/2006/relationships/slide" Target="/ppt/slides/slide78.xml" Id="R6aaeab64aca44801" /><Relationship Type="http://schemas.openxmlformats.org/officeDocument/2006/relationships/slide" Target="/ppt/slides/slide79.xml" Id="Rebde2567a9cd4a2d" /><Relationship Type="http://schemas.openxmlformats.org/officeDocument/2006/relationships/slide" Target="/ppt/slides/slide80.xml" Id="R746c93d97bdc4326" /><Relationship Type="http://schemas.openxmlformats.org/officeDocument/2006/relationships/slide" Target="/ppt/slides/slide81.xml" Id="R62bc8368a3cd439f" /><Relationship Type="http://schemas.openxmlformats.org/officeDocument/2006/relationships/slide" Target="/ppt/slides/slide82.xml" Id="R65290ce765fe4d45" /><Relationship Type="http://schemas.openxmlformats.org/officeDocument/2006/relationships/slide" Target="/ppt/slides/slide83.xml" Id="R75a8c67be7804055" /><Relationship Type="http://schemas.openxmlformats.org/officeDocument/2006/relationships/slide" Target="/ppt/slides/slide84.xml" Id="Rc09240480b8f4a92" /><Relationship Type="http://schemas.openxmlformats.org/officeDocument/2006/relationships/slide" Target="/ppt/slides/slide85.xml" Id="R9a52001e9e1b4296" /><Relationship Type="http://schemas.openxmlformats.org/officeDocument/2006/relationships/slide" Target="/ppt/slides/slide86.xml" Id="R80c4f624768f442c" /><Relationship Type="http://schemas.openxmlformats.org/officeDocument/2006/relationships/slide" Target="/ppt/slides/slide87.xml" Id="Rb65da7018d874a89" /><Relationship Type="http://schemas.openxmlformats.org/officeDocument/2006/relationships/slide" Target="/ppt/slides/slide88.xml" Id="R2b2387d94abc4ba3" /><Relationship Type="http://schemas.openxmlformats.org/officeDocument/2006/relationships/slide" Target="/ppt/slides/slide89.xml" Id="R8fbf08a920d24c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ab21bc4a64e40c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850dc4fa734a1e" /><Relationship Type="http://schemas.openxmlformats.org/officeDocument/2006/relationships/notesMaster" Target="/ppt/notesMasters/notesMaster1.xml" Id="Rd76cd85552b443f9"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9b430749c84b99" /><Relationship Type="http://schemas.openxmlformats.org/officeDocument/2006/relationships/notesMaster" Target="/ppt/notesMasters/notesMaster1.xml" Id="R621c93ad8cda4036" /></Relationships>
</file>

<file path=ppt/notesSlides/_rels/notesSlide3.xml.rels>&#65279;<?xml version="1.0" encoding="utf-8"?><Relationships xmlns="http://schemas.openxmlformats.org/package/2006/relationships"><Relationship Type="http://schemas.openxmlformats.org/officeDocument/2006/relationships/slide" Target="/ppt/slides/slide3.xml" Id="R64106021d4b54150" /><Relationship Type="http://schemas.openxmlformats.org/officeDocument/2006/relationships/notesMaster" Target="/ppt/notesMasters/notesMaster1.xml" Id="R2047f51524a14a5f" /></Relationships>
</file>

<file path=ppt/notesSlides/_rels/notesSlide4.xml.rels>&#65279;<?xml version="1.0" encoding="utf-8"?><Relationships xmlns="http://schemas.openxmlformats.org/package/2006/relationships"><Relationship Type="http://schemas.openxmlformats.org/officeDocument/2006/relationships/slide" Target="/ppt/slides/slide4.xml" Id="R8f75b7febf01406c" /><Relationship Type="http://schemas.openxmlformats.org/officeDocument/2006/relationships/notesMaster" Target="/ppt/notesMasters/notesMaster1.xml" Id="R9bb32095cbb348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b6ad64e934c54015" /><Relationship Type="http://schemas.openxmlformats.org/officeDocument/2006/relationships/notesMaster" Target="/ppt/notesMasters/notesMaster1.xml" Id="Raf97faa36b6346c6" /></Relationships>
</file>

<file path=ppt/notesSlides/_rels/notesSlide6.xml.rels>&#65279;<?xml version="1.0" encoding="utf-8"?><Relationships xmlns="http://schemas.openxmlformats.org/package/2006/relationships"><Relationship Type="http://schemas.openxmlformats.org/officeDocument/2006/relationships/slide" Target="/ppt/slides/slide6.xml" Id="R94c6de087e5f491e" /><Relationship Type="http://schemas.openxmlformats.org/officeDocument/2006/relationships/notesMaster" Target="/ppt/notesMasters/notesMaster1.xml" Id="R67b8a48d24844f2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2b89e1cb88642cf" /><Relationship Type="http://schemas.openxmlformats.org/officeDocument/2006/relationships/notesMaster" Target="/ppt/notesMasters/notesMaster1.xml" Id="R7ae0cbf0a1d546f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a59afdf3c144df4" /><Relationship Type="http://schemas.openxmlformats.org/officeDocument/2006/relationships/notesMaster" Target="/ppt/notesMasters/notesMaster1.xml" Id="R02248828733343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9680802d61164b60" /><Relationship Type="http://schemas.openxmlformats.org/officeDocument/2006/relationships/notesMaster" Target="/ppt/notesMasters/notesMaster1.xml" Id="Ref90e1fc84ed4a0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0814283cdfe4fa7" /><Relationship Type="http://schemas.openxmlformats.org/officeDocument/2006/relationships/notesMaster" Target="/ppt/notesMasters/notesMaster1.xml" Id="Rbdfb437fb3774f6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ff211b412c49a2" /><Relationship Type="http://schemas.openxmlformats.org/officeDocument/2006/relationships/notesMaster" Target="/ppt/notesMasters/notesMaster1.xml" Id="R252b538c381d481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a24586719db4ee0" /><Relationship Type="http://schemas.openxmlformats.org/officeDocument/2006/relationships/notesMaster" Target="/ppt/notesMasters/notesMaster1.xml" Id="Ra83a42fa417b461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92871703532428f" /><Relationship Type="http://schemas.openxmlformats.org/officeDocument/2006/relationships/notesMaster" Target="/ppt/notesMasters/notesMaster1.xml" Id="Rb147264562b2426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4d2aac25dea44de" /><Relationship Type="http://schemas.openxmlformats.org/officeDocument/2006/relationships/notesMaster" Target="/ppt/notesMasters/notesMaster1.xml" Id="R353154985b164b6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c3c5e40121942e8" /><Relationship Type="http://schemas.openxmlformats.org/officeDocument/2006/relationships/notesMaster" Target="/ppt/notesMasters/notesMaster1.xml" Id="R4cfc2532e9494c4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84d535977234379" /><Relationship Type="http://schemas.openxmlformats.org/officeDocument/2006/relationships/notesMaster" Target="/ppt/notesMasters/notesMaster1.xml" Id="R76f9dc7cd97f47d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09983cddd0c4208" /><Relationship Type="http://schemas.openxmlformats.org/officeDocument/2006/relationships/notesMaster" Target="/ppt/notesMasters/notesMaster1.xml" Id="R7e651bc4cd7b404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9203c5d20194dcf" /><Relationship Type="http://schemas.openxmlformats.org/officeDocument/2006/relationships/notesMaster" Target="/ppt/notesMasters/notesMaster1.xml" Id="R9304974714194dd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e4cc31bf6244a2a" /><Relationship Type="http://schemas.openxmlformats.org/officeDocument/2006/relationships/notesMaster" Target="/ppt/notesMasters/notesMaster1.xml" Id="R6f0407371a5b41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52c24918121476f" /><Relationship Type="http://schemas.openxmlformats.org/officeDocument/2006/relationships/notesMaster" Target="/ppt/notesMasters/notesMaster1.xml" Id="R28b2610d868a4ab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5a9bd1d3e1f4aab" /><Relationship Type="http://schemas.openxmlformats.org/officeDocument/2006/relationships/notesMaster" Target="/ppt/notesMasters/notesMaster1.xml" Id="R41d7fc79ab8848d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cdaaeec48ec4f83" /><Relationship Type="http://schemas.openxmlformats.org/officeDocument/2006/relationships/notesMaster" Target="/ppt/notesMasters/notesMaster1.xml" Id="R2f85357a26ed45a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86974a4c6044a78" /><Relationship Type="http://schemas.openxmlformats.org/officeDocument/2006/relationships/notesMaster" Target="/ppt/notesMasters/notesMaster1.xml" Id="R868ccdec857e431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c1b0de5ed634da9" /><Relationship Type="http://schemas.openxmlformats.org/officeDocument/2006/relationships/notesMaster" Target="/ppt/notesMasters/notesMaster1.xml" Id="R0bf1e1779e0c490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ba795f86fdd43c6" /><Relationship Type="http://schemas.openxmlformats.org/officeDocument/2006/relationships/notesMaster" Target="/ppt/notesMasters/notesMaster1.xml" Id="R7994e1acb96643a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32d3ffc015c45fa" /><Relationship Type="http://schemas.openxmlformats.org/officeDocument/2006/relationships/notesMaster" Target="/ppt/notesMasters/notesMaster1.xml" Id="Rdbec450b80f549e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907f3e334fe47bb" /><Relationship Type="http://schemas.openxmlformats.org/officeDocument/2006/relationships/notesMaster" Target="/ppt/notesMasters/notesMaster1.xml" Id="R96f1aac3ae7246d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dcdd18c98d148aa" /><Relationship Type="http://schemas.openxmlformats.org/officeDocument/2006/relationships/notesMaster" Target="/ppt/notesMasters/notesMaster1.xml" Id="R6088e29c9339427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c2c4e6c23d5496c" /><Relationship Type="http://schemas.openxmlformats.org/officeDocument/2006/relationships/notesMaster" Target="/ppt/notesMasters/notesMaster1.xml" Id="R89c6a115ad794bf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0df031f579b463c" /><Relationship Type="http://schemas.openxmlformats.org/officeDocument/2006/relationships/notesMaster" Target="/ppt/notesMasters/notesMaster1.xml" Id="Recf899ba2d354a4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66cd19bbeea41f7" /><Relationship Type="http://schemas.openxmlformats.org/officeDocument/2006/relationships/notesMaster" Target="/ppt/notesMasters/notesMaster1.xml" Id="R726035dd55f64fa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60d9d0dff2f48b8" /><Relationship Type="http://schemas.openxmlformats.org/officeDocument/2006/relationships/notesMaster" Target="/ppt/notesMasters/notesMaster1.xml" Id="Rb45f7adbdc4d403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a72c95002704d7e" /><Relationship Type="http://schemas.openxmlformats.org/officeDocument/2006/relationships/notesMaster" Target="/ppt/notesMasters/notesMaster1.xml" Id="Rd0f60acda2d7414d"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9c0e9ebda4e438d" /><Relationship Type="http://schemas.openxmlformats.org/officeDocument/2006/relationships/notesMaster" Target="/ppt/notesMasters/notesMaster1.xml" Id="Ref87a1ccfed243d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4940398e4e5437d" /><Relationship Type="http://schemas.openxmlformats.org/officeDocument/2006/relationships/notesMaster" Target="/ppt/notesMasters/notesMaster1.xml" Id="R16d0587f161343a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0badaf4b3484c5a" /><Relationship Type="http://schemas.openxmlformats.org/officeDocument/2006/relationships/notesMaster" Target="/ppt/notesMasters/notesMaster1.xml" Id="R9706bfa5443c4f1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7fd4baced4640ef" /><Relationship Type="http://schemas.openxmlformats.org/officeDocument/2006/relationships/notesMaster" Target="/ppt/notesMasters/notesMaster1.xml" Id="Rd81fd0c558c7455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04e7e296e794efe" /><Relationship Type="http://schemas.openxmlformats.org/officeDocument/2006/relationships/notesMaster" Target="/ppt/notesMasters/notesMaster1.xml" Id="Rad6626c88e6a466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2cc7d45d9ef40e5" /><Relationship Type="http://schemas.openxmlformats.org/officeDocument/2006/relationships/notesMaster" Target="/ppt/notesMasters/notesMaster1.xml" Id="Rd6c7a225a07d434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cab15be5a1e4eed" /><Relationship Type="http://schemas.openxmlformats.org/officeDocument/2006/relationships/notesMaster" Target="/ppt/notesMasters/notesMaster1.xml" Id="R893c5e0880e74f0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3fa23411544416c" /><Relationship Type="http://schemas.openxmlformats.org/officeDocument/2006/relationships/notesMaster" Target="/ppt/notesMasters/notesMaster1.xml" Id="R97ad7d0783484dc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282e86a47854560" /><Relationship Type="http://schemas.openxmlformats.org/officeDocument/2006/relationships/notesMaster" Target="/ppt/notesMasters/notesMaster1.xml" Id="R176cf606f14540d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aa58e2b45d14960" /><Relationship Type="http://schemas.openxmlformats.org/officeDocument/2006/relationships/notesMaster" Target="/ppt/notesMasters/notesMaster1.xml" Id="Rf26b7da6d36b444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2170e9b461d4aa2" /><Relationship Type="http://schemas.openxmlformats.org/officeDocument/2006/relationships/notesMaster" Target="/ppt/notesMasters/notesMaster1.xml" Id="Ra4ddeb3952ba40e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d02e2800d0c45bd" /><Relationship Type="http://schemas.openxmlformats.org/officeDocument/2006/relationships/notesMaster" Target="/ppt/notesMasters/notesMaster1.xml" Id="Rd3566c5adaf4459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ba5dc1e462841c0" /><Relationship Type="http://schemas.openxmlformats.org/officeDocument/2006/relationships/notesMaster" Target="/ppt/notesMasters/notesMaster1.xml" Id="Re125ea1e394440a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cfc31bbe15c4fbd" /><Relationship Type="http://schemas.openxmlformats.org/officeDocument/2006/relationships/notesMaster" Target="/ppt/notesMasters/notesMaster1.xml" Id="R2eaba39b166d457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ad046bde10c2442f" /><Relationship Type="http://schemas.openxmlformats.org/officeDocument/2006/relationships/notesMaster" Target="/ppt/notesMasters/notesMaster1.xml" Id="R3d41345d575c4d51"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8ee14f929234cb7" /><Relationship Type="http://schemas.openxmlformats.org/officeDocument/2006/relationships/notesMaster" Target="/ppt/notesMasters/notesMaster1.xml" Id="R8ba02574d224437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9b5b064c70c4566" /><Relationship Type="http://schemas.openxmlformats.org/officeDocument/2006/relationships/notesMaster" Target="/ppt/notesMasters/notesMaster1.xml" Id="Raa1e11b0c5874a5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f400bd7a33e474d" /><Relationship Type="http://schemas.openxmlformats.org/officeDocument/2006/relationships/notesMaster" Target="/ppt/notesMasters/notesMaster1.xml" Id="Rb40773b633574e8e"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bddf84b57a9e41fe" /><Relationship Type="http://schemas.openxmlformats.org/officeDocument/2006/relationships/notesMaster" Target="/ppt/notesMasters/notesMaster1.xml" Id="R20b61b8c541144d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06ad821dee248d4" /><Relationship Type="http://schemas.openxmlformats.org/officeDocument/2006/relationships/notesMaster" Target="/ppt/notesMasters/notesMaster1.xml" Id="Rd5822e13070f46b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3a105ec2d354776" /><Relationship Type="http://schemas.openxmlformats.org/officeDocument/2006/relationships/notesMaster" Target="/ppt/notesMasters/notesMaster1.xml" Id="R8fb81e18964c4b6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6e3b3b37d7140cd" /><Relationship Type="http://schemas.openxmlformats.org/officeDocument/2006/relationships/notesMaster" Target="/ppt/notesMasters/notesMaster1.xml" Id="Rd0a4b2b2c919494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93dfcd38e69441b" /><Relationship Type="http://schemas.openxmlformats.org/officeDocument/2006/relationships/notesMaster" Target="/ppt/notesMasters/notesMaster1.xml" Id="R185fcee0c92f48a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40bd0e91954433c" /><Relationship Type="http://schemas.openxmlformats.org/officeDocument/2006/relationships/notesMaster" Target="/ppt/notesMasters/notesMaster1.xml" Id="Rf72b7fb3a41b44a2"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bd1ced847d84b12" /><Relationship Type="http://schemas.openxmlformats.org/officeDocument/2006/relationships/notesMaster" Target="/ppt/notesMasters/notesMaster1.xml" Id="R26af9ca2b6c1467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e91bb754c3bb4c77" /><Relationship Type="http://schemas.openxmlformats.org/officeDocument/2006/relationships/notesMaster" Target="/ppt/notesMasters/notesMaster1.xml" Id="R5e82e42064dc42d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10e19edfd7c4102" /><Relationship Type="http://schemas.openxmlformats.org/officeDocument/2006/relationships/notesMaster" Target="/ppt/notesMasters/notesMaster1.xml" Id="R91e6d84c4945470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3fd8733a38e4747" /><Relationship Type="http://schemas.openxmlformats.org/officeDocument/2006/relationships/notesMaster" Target="/ppt/notesMasters/notesMaster1.xml" Id="Rebc892c083f149e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4f42c90be6a4b68" /><Relationship Type="http://schemas.openxmlformats.org/officeDocument/2006/relationships/notesMaster" Target="/ppt/notesMasters/notesMaster1.xml" Id="R78eb631150bc42d1"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94c3850588be44b4" /><Relationship Type="http://schemas.openxmlformats.org/officeDocument/2006/relationships/notesMaster" Target="/ppt/notesMasters/notesMaster1.xml" Id="Rb60f64d4b3d84424"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dd0b9a65b1c9455b" /><Relationship Type="http://schemas.openxmlformats.org/officeDocument/2006/relationships/notesMaster" Target="/ppt/notesMasters/notesMaster1.xml" Id="R7d80d3e44c204b11"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eeed2bec8df4423" /><Relationship Type="http://schemas.openxmlformats.org/officeDocument/2006/relationships/notesMaster" Target="/ppt/notesMasters/notesMaster1.xml" Id="R96a002d91408452a"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30000b7c79a64404" /><Relationship Type="http://schemas.openxmlformats.org/officeDocument/2006/relationships/notesMaster" Target="/ppt/notesMasters/notesMaster1.xml" Id="Rd349b562f3b3467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a3933e108814a6b" /><Relationship Type="http://schemas.openxmlformats.org/officeDocument/2006/relationships/notesMaster" Target="/ppt/notesMasters/notesMaster1.xml" Id="R0b1c5658b5ea4f4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28fcb9c9498422f" /><Relationship Type="http://schemas.openxmlformats.org/officeDocument/2006/relationships/notesMaster" Target="/ppt/notesMasters/notesMaster1.xml" Id="R57234b2ac9e4461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881dc716fbf4f37" /><Relationship Type="http://schemas.openxmlformats.org/officeDocument/2006/relationships/notesMaster" Target="/ppt/notesMasters/notesMaster1.xml" Id="Raf338efd270f4ec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65b4e4a01d624ec7" /><Relationship Type="http://schemas.openxmlformats.org/officeDocument/2006/relationships/notesMaster" Target="/ppt/notesMasters/notesMaster1.xml" Id="R9b07288d91744167"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ee6362deaa714b84" /><Relationship Type="http://schemas.openxmlformats.org/officeDocument/2006/relationships/notesMaster" Target="/ppt/notesMasters/notesMaster1.xml" Id="R0cf0eb4edb5c4ee4"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8b9fcca2d09a486a" /><Relationship Type="http://schemas.openxmlformats.org/officeDocument/2006/relationships/notesMaster" Target="/ppt/notesMasters/notesMaster1.xml" Id="R1c7400b03034477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41d2deceac7458e" /><Relationship Type="http://schemas.openxmlformats.org/officeDocument/2006/relationships/notesMaster" Target="/ppt/notesMasters/notesMaster1.xml" Id="Rbc4518817c4e4b8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030ed04303b4212" /><Relationship Type="http://schemas.openxmlformats.org/officeDocument/2006/relationships/notesMaster" Target="/ppt/notesMasters/notesMaster1.xml" Id="Rb53118a21b7c4444"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27d8102cc80c4c57" /><Relationship Type="http://schemas.openxmlformats.org/officeDocument/2006/relationships/notesMaster" Target="/ppt/notesMasters/notesMaster1.xml" Id="Rf6d32d9c918c4d4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6e112c9164149ed" /><Relationship Type="http://schemas.openxmlformats.org/officeDocument/2006/relationships/notesMaster" Target="/ppt/notesMasters/notesMaster1.xml" Id="R661b813603f9479e"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cdc5edc8d104032" /><Relationship Type="http://schemas.openxmlformats.org/officeDocument/2006/relationships/notesMaster" Target="/ppt/notesMasters/notesMaster1.xml" Id="R56131dc79b4345a2"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dc32a05a530948ee" /><Relationship Type="http://schemas.openxmlformats.org/officeDocument/2006/relationships/notesMaster" Target="/ppt/notesMasters/notesMaster1.xml" Id="R0503f96ab9c2479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5488acb83cdc467b" /><Relationship Type="http://schemas.openxmlformats.org/officeDocument/2006/relationships/notesMaster" Target="/ppt/notesMasters/notesMaster1.xml" Id="R8e1ce563c2e64a67"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7afc6839d46c4f48" /><Relationship Type="http://schemas.openxmlformats.org/officeDocument/2006/relationships/notesMaster" Target="/ppt/notesMasters/notesMaster1.xml" Id="R5054b3784ac74056"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4b5d57a940ea4712" /><Relationship Type="http://schemas.openxmlformats.org/officeDocument/2006/relationships/notesMaster" Target="/ppt/notesMasters/notesMaster1.xml" Id="R2fdc0bbcebc24774"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81d8977b2fe2400f" /><Relationship Type="http://schemas.openxmlformats.org/officeDocument/2006/relationships/notesMaster" Target="/ppt/notesMasters/notesMaster1.xml" Id="Rf9a01f3ea04e4642"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aefb9fa12c934b4f" /><Relationship Type="http://schemas.openxmlformats.org/officeDocument/2006/relationships/notesMaster" Target="/ppt/notesMasters/notesMaster1.xml" Id="R9baa1bc2d7f14d3b"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d8f5e219d23146d5" /><Relationship Type="http://schemas.openxmlformats.org/officeDocument/2006/relationships/notesMaster" Target="/ppt/notesMasters/notesMaster1.xml" Id="Ref5c703ae2e04ea0"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c813aed3c96b432b" /><Relationship Type="http://schemas.openxmlformats.org/officeDocument/2006/relationships/notesMaster" Target="/ppt/notesMasters/notesMaster1.xml" Id="R04c21f1fa39e423d"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cfcbd916c40f4425" /><Relationship Type="http://schemas.openxmlformats.org/officeDocument/2006/relationships/notesMaster" Target="/ppt/notesMasters/notesMaster1.xml" Id="R398d3d216d0644b7"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dbd8de707794b7d" /><Relationship Type="http://schemas.openxmlformats.org/officeDocument/2006/relationships/notesMaster" Target="/ppt/notesMasters/notesMaster1.xml" Id="R650b18e23ab84051"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962591d385be4cf2" /><Relationship Type="http://schemas.openxmlformats.org/officeDocument/2006/relationships/notesMaster" Target="/ppt/notesMasters/notesMaster1.xml" Id="R476a3e337c1e4e50"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78da89745df4186" /><Relationship Type="http://schemas.openxmlformats.org/officeDocument/2006/relationships/notesMaster" Target="/ppt/notesMasters/notesMaster1.xml" Id="R521fd0d3cd054c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calculations and reusable functions</a:t>
            </a:r>
          </a:p>
          <a:p xmlns:a="http://schemas.openxmlformats.org/drawingml/2006/main">
            <a:r>
              <a:t>CML3113, Week 3, slide 1</a:t>
            </a:r>
          </a:p>
          <a:p xmlns:a="http://schemas.openxmlformats.org/drawingml/2006/main">
            <a:r>
              <a:t/>
            </a:r>
          </a:p>
          <a:p xmlns:a="http://schemas.openxmlformats.org/drawingml/2006/main">
            <a:r>
              <a:t>Explanation to give</a:t>
            </a:r>
          </a:p>
          <a:p xmlns:a="http://schemas.openxmlformats.org/drawingml/2006/main">
            <a:r>
              <a:t>Build calculations from values and operators, then decisions and functions, then collections. Define each symbol before using it in the program.</a:t>
            </a:r>
          </a:p>
          <a:p xmlns:a="http://schemas.openxmlformats.org/drawingml/2006/main">
            <a:r>
              <a:t/>
            </a:r>
          </a:p>
          <a:p xmlns:a="http://schemas.openxmlformats.org/drawingml/2006/main">
            <a:r>
              <a:t>Worked illustration / lecturer answer</a:t>
            </a:r>
          </a:p>
          <a:p xmlns:a="http://schemas.openxmlformats.org/drawingml/2006/main">
            <a:r>
              <a:t>A definition stores instructions. double_value(4) runs them with x = 4 and returns 8. Printing that return value is a separate action.</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Mining and Petroleum Engineering</a:t>
            </a:r>
          </a:p>
          <a:p xmlns:a="http://schemas.openxmlformats.org/drawingml/2006/main">
            <a:r>
              <a:t/>
            </a:r>
          </a:p>
          <a:p xmlns:a="http://schemas.openxmlformats.org/drawingml/2006/main">
            <a:r>
              <a:t>Continue to</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Today’s learning</a:t>
            </a:r>
          </a:p>
          <a:p xmlns:a="http://schemas.openxmlformats.org/drawingml/2006/main">
            <a:r>
              <a:t>CML3113, Week 3, slide 2</a:t>
            </a:r>
          </a:p>
          <a:p xmlns:a="http://schemas.openxmlformats.org/drawingml/2006/main">
            <a:r>
              <a:t/>
            </a:r>
          </a:p>
          <a:p xmlns:a="http://schemas.openxmlformats.org/drawingml/2006/main">
            <a:r>
              <a:t>Explanation to give</a:t>
            </a:r>
          </a:p>
          <a:p xmlns:a="http://schemas.openxmlformats.org/drawingml/2006/main">
            <a:r>
              <a:t>Build calculations from values and operators, then decisions and functions, then collections. Define each symbol before using it in the program.</a:t>
            </a:r>
          </a:p>
          <a:p xmlns:a="http://schemas.openxmlformats.org/drawingml/2006/main">
            <a:r>
              <a:t/>
            </a:r>
          </a:p>
          <a:p xmlns:a="http://schemas.openxmlformats.org/drawingml/2006/main">
            <a:r>
              <a:t>Worked illustration / lecturer answer</a:t>
            </a:r>
          </a:p>
          <a:p xmlns:a="http://schemas.openxmlformats.org/drawingml/2006/main">
            <a:r>
              <a:t>A definition stores instructions. double_value(4) runs them with x = 4 and returns 8. Printing that return value is a separate action.</a:t>
            </a:r>
          </a:p>
          <a:p xmlns:a="http://schemas.openxmlformats.org/drawingml/2006/main">
            <a:r>
              <a:t/>
            </a:r>
          </a:p>
          <a:p xmlns:a="http://schemas.openxmlformats.org/drawingml/2006/main">
            <a:r>
              <a:t>Misconception to address</a:t>
            </a:r>
          </a:p>
          <a:p xmlns:a="http://schemas.openxmlformats.org/drawingml/2006/main">
            <a:r>
              <a:t>At the end, check the specific outcome shown here using a small previously demonstrated example. A completed file without an explanation is not evidence of understanding.</a:t>
            </a:r>
          </a:p>
          <a:p xmlns:a="http://schemas.openxmlformats.org/drawingml/2006/main">
            <a:r>
              <a:t/>
            </a:r>
          </a:p>
          <a:p xmlns:a="http://schemas.openxmlformats.org/drawingml/2006/main">
            <a:r>
              <a:t>On this slide</a:t>
            </a:r>
          </a:p>
          <a:p xmlns:a="http://schemas.openxmlformats.org/drawingml/2006/main">
            <a:r>
              <a:t>Read Python values and arithmetic symbols.</a:t>
            </a:r>
          </a:p>
          <a:p xmlns:a="http://schemas.openxmlformats.org/drawingml/2006/main">
            <a:r>
              <a:t/>
            </a:r>
          </a:p>
          <a:p xmlns:a="http://schemas.openxmlformats.org/drawingml/2006/main">
            <a:r>
              <a:t>Define a function, call it and check its inputs.</a:t>
            </a:r>
          </a:p>
          <a:p xmlns:a="http://schemas.openxmlformats.org/drawingml/2006/main">
            <a:r>
              <a:t/>
            </a:r>
          </a:p>
          <a:p xmlns:a="http://schemas.openxmlformats.org/drawingml/2006/main">
            <a:r>
              <a:t>Continue to</a:t>
            </a:r>
          </a:p>
          <a:p xmlns:a="http://schemas.openxmlformats.org/drawingml/2006/main">
            <a:r>
              <a:t>How to read the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to read the examples</a:t>
            </a:r>
          </a:p>
          <a:p xmlns:a="http://schemas.openxmlformats.org/drawingml/2006/main">
            <a:r>
              <a:t>CML3113, Week 3, slide 3</a:t>
            </a:r>
          </a:p>
          <a:p xmlns:a="http://schemas.openxmlformats.org/drawingml/2006/main">
            <a:r>
              <a:t/>
            </a:r>
          </a:p>
          <a:p xmlns:a="http://schemas.openxmlformats.org/drawingml/2006/main">
            <a:r>
              <a:t>Explanation to give</a:t>
            </a:r>
          </a:p>
          <a:p xmlns:a="http://schemas.openxmlformats.org/drawingml/2006/main">
            <a:r>
              <a:t>Point out the code block, the explanatory text and the displayed result as different objects. The learner types the code only.</a:t>
            </a:r>
          </a:p>
          <a:p xmlns:a="http://schemas.openxmlformats.org/drawingml/2006/main">
            <a:r>
              <a:t/>
            </a:r>
          </a:p>
          <a:p xmlns:a="http://schemas.openxmlformats.org/drawingml/2006/main">
            <a:r>
              <a:t>Worked illustration / lecturer answer</a:t>
            </a:r>
          </a:p>
          <a:p xmlns:a="http://schemas.openxmlformats.org/drawingml/2006/main">
            <a:r>
              <a:t>For print(2 + 3), the typed instruction contains print and parentheses. The result underneath is 5; the learner should not type the label Output or the explanatory sentence into the Python cell.</a:t>
            </a:r>
          </a:p>
          <a:p xmlns:a="http://schemas.openxmlformats.org/drawingml/2006/main">
            <a:r>
              <a:t/>
            </a:r>
          </a:p>
          <a:p xmlns:a="http://schemas.openxmlformats.org/drawingml/2006/main">
            <a:r>
              <a:t>Misconception to address</a:t>
            </a:r>
          </a:p>
          <a:p xmlns:a="http://schemas.openxmlformats.org/drawingml/2006/main">
            <a:r>
              <a:t>For a program split over consecutive slides, keep its setup and indentation together. A later fragment may use a name created on the preceding slide.</a:t>
            </a:r>
          </a:p>
          <a:p xmlns:a="http://schemas.openxmlformats.org/drawingml/2006/main">
            <a:r>
              <a:t/>
            </a:r>
          </a:p>
          <a:p xmlns:a="http://schemas.openxmlformats.org/drawingml/2006/main">
            <a:r>
              <a:t>On this slide</a:t>
            </a:r>
          </a:p>
          <a:p xmlns:a="http://schemas.openxmlformats.org/drawingml/2006/main">
            <a:r>
              <a:t>Code contains the instructions. Output shows the result.</a:t>
            </a:r>
          </a:p>
          <a:p xmlns:a="http://schemas.openxmlformats.org/drawingml/2006/main">
            <a:r>
              <a:t/>
            </a:r>
          </a:p>
          <a:p xmlns:a="http://schemas.openxmlformats.org/drawingml/2006/main">
            <a:r>
              <a:t>Type the code shown in the example. Run it, then compare your output with the result below.</a:t>
            </a:r>
          </a:p>
          <a:p xmlns:a="http://schemas.openxmlformats.org/drawingml/2006/main">
            <a:r>
              <a:t/>
            </a:r>
          </a:p>
          <a:p xmlns:a="http://schemas.openxmlformats.org/drawingml/2006/main">
            <a:r>
              <a:t>Continue to</a:t>
            </a:r>
          </a:p>
          <a:p xmlns:a="http://schemas.openxmlformats.org/drawingml/2006/main">
            <a:r>
              <a:t>The engineering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engineering context</a:t>
            </a:r>
          </a:p>
          <a:p xmlns:a="http://schemas.openxmlformats.org/drawingml/2006/main">
            <a:r>
              <a:t>CML3113, Week 3, slide 4</a:t>
            </a:r>
          </a:p>
          <a:p xmlns:a="http://schemas.openxmlformats.org/drawingml/2006/main">
            <a:r>
              <a:t/>
            </a:r>
          </a:p>
          <a:p xmlns:a="http://schemas.openxmlformats.org/drawingml/2006/main">
            <a:r>
              <a:t>Explanation to give</a:t>
            </a:r>
          </a:p>
          <a:p xmlns:a="http://schemas.openxmlformats.org/drawingml/2006/main">
            <a:r>
              <a:t>Use fluid moving through a system as the physical reference. Volume in litres divided by elapsed seconds gives a flow rate in L/s. Density and depth belong to a later pressure calculation.</a:t>
            </a:r>
          </a:p>
          <a:p xmlns:a="http://schemas.openxmlformats.org/drawingml/2006/main">
            <a:r>
              <a:t/>
            </a:r>
          </a:p>
          <a:p xmlns:a="http://schemas.openxmlformats.org/drawingml/2006/main">
            <a:r>
              <a:t>Worked illustration / lecturer answer</a:t>
            </a:r>
          </a:p>
          <a:p xmlns:a="http://schemas.openxmlformats.org/drawingml/2006/main">
            <a:r>
              <a:t>In the displayed introductory calculation, 18 L / 3 s = 6 L/s. For the later pressure task, density × g × depth yields Pa, then division by 1000 converts to kPa.</a:t>
            </a:r>
          </a:p>
          <a:p xmlns:a="http://schemas.openxmlformats.org/drawingml/2006/main">
            <a:r>
              <a:t/>
            </a:r>
          </a:p>
          <a:p xmlns:a="http://schemas.openxmlformats.org/drawingml/2006/main">
            <a:r>
              <a:t>Misconception to address</a:t>
            </a:r>
          </a:p>
          <a:p xmlns:a="http://schemas.openxmlformats.org/drawingml/2006/main">
            <a:r>
              <a:t>Flow rate and pressure are different physical quantities. Keep litres/seconds separate from the SI units specified for mud_pressure.</a:t>
            </a:r>
          </a:p>
          <a:p xmlns:a="http://schemas.openxmlformats.org/drawingml/2006/main">
            <a:r>
              <a:t/>
            </a:r>
          </a:p>
          <a:p xmlns:a="http://schemas.openxmlformats.org/drawingml/2006/main">
            <a:r>
              <a:t>On this slide</a:t>
            </a:r>
          </a:p>
          <a:p xmlns:a="http://schemas.openxmlformats.org/drawingml/2006/main">
            <a:r>
              <a:t>A pump team records temperature to investigate operation.</a:t>
            </a:r>
          </a:p>
          <a:p xmlns:a="http://schemas.openxmlformats.org/drawingml/2006/main">
            <a:r>
              <a:t/>
            </a:r>
          </a:p>
          <a:p xmlns:a="http://schemas.openxmlformats.org/drawingml/2006/main">
            <a:r>
              <a:t>Mining students can relate this to a dewatering pump; petroleum students to a transfer pump.</a:t>
            </a:r>
          </a:p>
          <a:p xmlns:a="http://schemas.openxmlformats.org/drawingml/2006/main">
            <a:r>
              <a:t/>
            </a:r>
          </a:p>
          <a:p xmlns:a="http://schemas.openxmlformats.org/drawingml/2006/main">
            <a:r>
              <a:t>These are teaching examples, not operating limits.</a:t>
            </a:r>
          </a:p>
          <a:p xmlns:a="http://schemas.openxmlformats.org/drawingml/2006/main">
            <a:r>
              <a:t/>
            </a:r>
          </a:p>
          <a:p xmlns:a="http://schemas.openxmlformats.org/drawingml/2006/main">
            <a:r>
              <a:t>Continue to</a:t>
            </a:r>
          </a:p>
          <a:p xmlns:a="http://schemas.openxmlformats.org/drawingml/2006/main">
            <a:r>
              <a:t>Start with numbers and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numbers and values</a:t>
            </a:r>
          </a:p>
          <a:p xmlns:a="http://schemas.openxmlformats.org/drawingml/2006/main">
            <a:r>
              <a:t>CML3113, Week 3, slide 5</a:t>
            </a:r>
          </a:p>
          <a:p xmlns:a="http://schemas.openxmlformats.org/drawingml/2006/main">
            <a:r>
              <a:t/>
            </a:r>
          </a:p>
          <a:p xmlns:a="http://schemas.openxmlformats.org/drawingml/2006/main">
            <a:r>
              <a:t>Explanation to give</a:t>
            </a:r>
          </a:p>
          <a:p xmlns:a="http://schemas.openxmlformats.org/drawingml/2006/main">
            <a:r>
              <a:t>Begin with a physical quantity: how many objects, or how much length? A number is the amount; a unit says what that amount measures. Python stores the number but does not automatically know the engineering unit.</a:t>
            </a:r>
          </a:p>
          <a:p xmlns:a="http://schemas.openxmlformats.org/drawingml/2006/main">
            <a:r>
              <a:t/>
            </a:r>
          </a:p>
          <a:p xmlns:a="http://schemas.openxmlformats.org/drawingml/2006/main">
            <a:r>
              <a:t>Worked illustration / lecturer answer</a:t>
            </a:r>
          </a:p>
          <a:p xmlns:a="http://schemas.openxmlformats.org/drawingml/2006/main">
            <a:r>
              <a:t>Put 3 bolts beside 3 metres on the board. Both use the number 3, but adding them would make no physical sense. A length of 2.5 m is two whole metres plus half a metre.</a:t>
            </a:r>
          </a:p>
          <a:p xmlns:a="http://schemas.openxmlformats.org/drawingml/2006/main">
            <a:r>
              <a:t/>
            </a:r>
          </a:p>
          <a:p xmlns:a="http://schemas.openxmlformats.org/drawingml/2006/main">
            <a:r>
              <a:t>Misconception to address</a:t>
            </a:r>
          </a:p>
          <a:p xmlns:a="http://schemas.openxmlformats.org/drawingml/2006/main">
            <a:r>
              <a:t>A decimal point does not supply a unit. Read the variable suffix, axis label or task definition before calculating.</a:t>
            </a:r>
          </a:p>
          <a:p xmlns:a="http://schemas.openxmlformats.org/drawingml/2006/main">
            <a:r>
              <a:t/>
            </a:r>
          </a:p>
          <a:p xmlns:a="http://schemas.openxmlformats.org/drawingml/2006/main">
            <a:r>
              <a:t>On this slide</a:t>
            </a:r>
          </a:p>
          <a:p xmlns:a="http://schemas.openxmlformats.org/drawingml/2006/main">
            <a:r>
              <a:t>Number: A number expresses how much or how many: 3 items or 2.5 metres. Whole numbers count; decimal numbers can describe a part of a unit.</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Continue to</a:t>
            </a:r>
          </a:p>
          <a:p xmlns:a="http://schemas.openxmlformats.org/drawingml/2006/main">
            <a:r>
              <a:t>Words we will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Words we will use</a:t>
            </a:r>
          </a:p>
          <a:p xmlns:a="http://schemas.openxmlformats.org/drawingml/2006/main">
            <a:r>
              <a:t>CML3113, Week 3, slide 6</a:t>
            </a:r>
          </a:p>
          <a:p xmlns:a="http://schemas.openxmlformats.org/drawingml/2006/main">
            <a:r>
              <a:t/>
            </a:r>
          </a:p>
          <a:p xmlns:a="http://schemas.openxmlformats.org/drawingml/2006/main">
            <a:r>
              <a:t>Explanation to give</a:t>
            </a:r>
          </a:p>
          <a:p xmlns:a="http://schemas.openxmlformats.org/drawingml/2006/main">
            <a:r>
              <a:t>Explain assignment as evaluating the right side and attaching the name on the left to that result. The name can later refer to a different value. Read the equals sign as “assign”, rather than as a mathematical claim that lasts forever.</a:t>
            </a:r>
          </a:p>
          <a:p xmlns:a="http://schemas.openxmlformats.org/drawingml/2006/main">
            <a:r>
              <a:t/>
            </a:r>
          </a:p>
          <a:p xmlns:a="http://schemas.openxmlformats.org/drawingml/2006/main">
            <a:r>
              <a:t>Worked illustration / lecturer answer</a:t>
            </a:r>
          </a:p>
          <a:p xmlns:a="http://schemas.openxmlformats.org/drawingml/2006/main">
            <a:r>
              <a:t>length_m = 4 makes length_m refer to 4. length_m = 6 replaces that association. Printing length_m now displays 6; the name does not remember a history of both values.</a:t>
            </a:r>
          </a:p>
          <a:p xmlns:a="http://schemas.openxmlformats.org/drawingml/2006/main">
            <a:r>
              <a:t/>
            </a:r>
          </a:p>
          <a:p xmlns:a="http://schemas.openxmlformats.org/drawingml/2006/main">
            <a:r>
              <a:t>Misconception to address</a:t>
            </a:r>
          </a:p>
          <a:p xmlns:a="http://schemas.openxmlformats.org/drawingml/2006/main">
            <a:r>
              <a:t>Changing text in a notebook cell changes the instructions. The runtime value changes only when that cell executes.</a:t>
            </a:r>
          </a:p>
          <a:p xmlns:a="http://schemas.openxmlformats.org/drawingml/2006/main">
            <a:r>
              <a:t/>
            </a:r>
          </a:p>
          <a:p xmlns:a="http://schemas.openxmlformats.org/drawingml/2006/main">
            <a:r>
              <a:t>On this slide</a:t>
            </a:r>
          </a:p>
          <a:p xmlns:a="http://schemas.openxmlformats.org/drawingml/2006/main">
            <a:r>
              <a:t>Variable: A name referring to a value. In length_m = 5, the right side is evaluated and assigned to length_m.</a:t>
            </a:r>
          </a:p>
          <a:p xmlns:a="http://schemas.openxmlformats.org/drawingml/2006/main">
            <a:r>
              <a:t>int, float, str, bool: int represents whole numbers; float represents approximate real numbers such as 2.5; str is text in quotes; bool is True or False.</a:t>
            </a:r>
          </a:p>
          <a:p xmlns:a="http://schemas.openxmlformats.org/drawingml/2006/main">
            <a:r>
              <a:t/>
            </a:r>
          </a:p>
          <a:p xmlns:a="http://schemas.openxmlformats.org/drawingml/2006/main">
            <a:r>
              <a:t>Continue to</a:t>
            </a:r>
          </a:p>
          <a:p xmlns:a="http://schemas.openxmlformats.org/drawingml/2006/main">
            <a:r>
              <a:t>A variable refers to its current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variable refers to its current value</a:t>
            </a:r>
          </a:p>
          <a:p xmlns:a="http://schemas.openxmlformats.org/drawingml/2006/main">
            <a:r>
              <a:t>CML3113, Week 3, slide 7</a:t>
            </a:r>
          </a:p>
          <a:p xmlns:a="http://schemas.openxmlformats.org/drawingml/2006/main">
            <a:r>
              <a:t/>
            </a:r>
          </a:p>
          <a:p xmlns:a="http://schemas.openxmlformats.org/drawingml/2006/main">
            <a:r>
              <a:t>Explanation to give</a:t>
            </a:r>
          </a:p>
          <a:p xmlns:a="http://schemas.openxmlformats.org/drawingml/2006/main">
            <a:r>
              <a:t>Explain assignment as evaluating the right side and attaching the name on the left to that result. The name can later refer to a different value. Read the equals sign as “assign”, rather than as a mathematical claim that lasts forever.</a:t>
            </a:r>
          </a:p>
          <a:p xmlns:a="http://schemas.openxmlformats.org/drawingml/2006/main">
            <a:r>
              <a:t/>
            </a:r>
          </a:p>
          <a:p xmlns:a="http://schemas.openxmlformats.org/drawingml/2006/main">
            <a:r>
              <a:t>Worked illustration / lecturer answer</a:t>
            </a:r>
          </a:p>
          <a:p xmlns:a="http://schemas.openxmlformats.org/drawingml/2006/main">
            <a:r>
              <a:t>length_m = 4 makes length_m refer to 4. length_m = 6 replaces that association. Printing length_m now displays 6; the name does not remember a history of both values.</a:t>
            </a:r>
          </a:p>
          <a:p xmlns:a="http://schemas.openxmlformats.org/drawingml/2006/main">
            <a:r>
              <a:t/>
            </a:r>
          </a:p>
          <a:p xmlns:a="http://schemas.openxmlformats.org/drawingml/2006/main">
            <a:r>
              <a:t>Misconception to address</a:t>
            </a:r>
          </a:p>
          <a:p xmlns:a="http://schemas.openxmlformats.org/drawingml/2006/main">
            <a:r>
              <a:t>Changing text in a notebook cell changes the instructions. The runtime value changes only when that cell executes.</a:t>
            </a:r>
          </a:p>
          <a:p xmlns:a="http://schemas.openxmlformats.org/drawingml/2006/main">
            <a:r>
              <a:t/>
            </a:r>
          </a:p>
          <a:p xmlns:a="http://schemas.openxmlformats.org/drawingml/2006/main">
            <a:r>
              <a:t>On this slide</a:t>
            </a:r>
          </a:p>
          <a:p xmlns:a="http://schemas.openxmlformats.org/drawingml/2006/main">
            <a:r>
              <a:t>After reassignment, thickness refers to 0.20.</a:t>
            </a:r>
          </a:p>
          <a:p xmlns:a="http://schemas.openxmlformats.org/drawingml/2006/main">
            <a:r>
              <a:t/>
            </a:r>
          </a:p>
          <a:p xmlns:a="http://schemas.openxmlformats.org/drawingml/2006/main">
            <a:r>
              <a:t>Continue to</a:t>
            </a:r>
          </a:p>
          <a:p xmlns:a="http://schemas.openxmlformats.org/drawingml/2006/main">
            <a:r>
              <a:t>Python values have types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values have types</a:t>
            </a:r>
          </a:p>
          <a:p xmlns:a="http://schemas.openxmlformats.org/drawingml/2006/main">
            <a:r>
              <a:t>CML3113, Week 3, slide 8</a:t>
            </a:r>
          </a:p>
          <a:p xmlns:a="http://schemas.openxmlformats.org/drawingml/2006/main">
            <a:r>
              <a:t/>
            </a:r>
          </a:p>
          <a:p xmlns:a="http://schemas.openxmlformats.org/drawingml/2006/main">
            <a:r>
              <a:t>Explanation to give</a:t>
            </a:r>
          </a:p>
          <a:p xmlns:a="http://schemas.openxmlformats.org/drawingml/2006/main">
            <a:r>
              <a:t>Explain a type as the kind of information and the operations allowed on it. Quotes make a string, even when every character is a digit. int is a whole number; float is an approximation used for decimal-valued calculations; bool is a truth value.</a:t>
            </a:r>
          </a:p>
          <a:p xmlns:a="http://schemas.openxmlformats.org/drawingml/2006/main">
            <a:r>
              <a:t/>
            </a:r>
          </a:p>
          <a:p xmlns:a="http://schemas.openxmlformats.org/drawingml/2006/main">
            <a:r>
              <a:t>Worked illustration / lecturer answer</a:t>
            </a:r>
          </a:p>
          <a:p xmlns:a="http://schemas.openxmlformats.org/drawingml/2006/main">
            <a:r>
              <a:t>4 + 5 produces 9. "4" + "5" produces the text "45". int("4") + int("5") produces 9 because conversion occurs before addition. None represents the absence of a result in our examples.</a:t>
            </a:r>
          </a:p>
          <a:p xmlns:a="http://schemas.openxmlformats.org/drawingml/2006/main">
            <a:r>
              <a:t/>
            </a:r>
          </a:p>
          <a:p xmlns:a="http://schemas.openxmlformats.org/drawingml/2006/main">
            <a:r>
              <a:t>Misconception to address</a:t>
            </a:r>
          </a:p>
          <a:p xmlns:a="http://schemas.openxmlformats.org/drawingml/2006/main">
            <a:r>
              <a:t>int("2.5") is invalid integer text. float("2.5") works. Converting a value is a deliberate action, not something Python always guesses.</a:t>
            </a:r>
          </a:p>
          <a:p xmlns:a="http://schemas.openxmlformats.org/drawingml/2006/main">
            <a:r>
              <a:t/>
            </a:r>
          </a:p>
          <a:p xmlns:a="http://schemas.openxmlformats.org/drawingml/2006/main">
            <a:r>
              <a:t>On this slide</a:t>
            </a:r>
          </a:p>
          <a:p xmlns:a="http://schemas.openxmlformats.org/drawingml/2006/main">
            <a:r>
              <a:t>Type | Example | Meaning</a:t>
            </a:r>
          </a:p>
          <a:p xmlns:a="http://schemas.openxmlformats.org/drawingml/2006/main">
            <a:r>
              <a:t>int | 3 | Whole number</a:t>
            </a:r>
          </a:p>
          <a:p xmlns:a="http://schemas.openxmlformats.org/drawingml/2006/main">
            <a:r>
              <a:t>float | 3.5 | Decimal approximation</a:t>
            </a:r>
          </a:p>
          <a:p xmlns:a="http://schemas.openxmlformats.org/drawingml/2006/main">
            <a:r>
              <a:t>str | "3.5" | Text in quotes</a:t>
            </a:r>
          </a:p>
          <a:p xmlns:a="http://schemas.openxmlformats.org/drawingml/2006/main">
            <a:r>
              <a:t>bool | True / False | Logical value</a:t>
            </a:r>
          </a:p>
          <a:p xmlns:a="http://schemas.openxmlformats.org/drawingml/2006/main">
            <a:r>
              <a:t>NoneType | None | No value supplied</a:t>
            </a:r>
          </a:p>
          <a:p xmlns:a="http://schemas.openxmlformats.org/drawingml/2006/main">
            <a:r>
              <a:t>3.5 + 2 gives 5.5. "3.5" + "2" joins text into "3.52".</a:t>
            </a:r>
          </a:p>
          <a:p xmlns:a="http://schemas.openxmlformats.org/drawingml/2006/main">
            <a:r>
              <a:t/>
            </a:r>
          </a:p>
          <a:p xmlns:a="http://schemas.openxmlformats.org/drawingml/2006/main">
            <a:r>
              <a:t>Continue to</a:t>
            </a:r>
          </a:p>
          <a:p xmlns:a="http://schemas.openxmlformats.org/drawingml/2006/main">
            <a:r>
              <a:t>Operator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Operator</a:t>
            </a:r>
          </a:p>
          <a:p xmlns:a="http://schemas.openxmlformats.org/drawingml/2006/main">
            <a:r>
              <a:t>CML3113, Week 3, slide 9</a:t>
            </a:r>
          </a:p>
          <a:p xmlns:a="http://schemas.openxmlformats.org/drawingml/2006/main">
            <a:r>
              <a:t/>
            </a:r>
          </a:p>
          <a:p xmlns:a="http://schemas.openxmlformats.org/drawingml/2006/main">
            <a:r>
              <a:t>Explanation to give</a:t>
            </a:r>
          </a:p>
          <a:p xmlns:a="http://schemas.openxmlformats.org/drawingml/2006/main">
            <a:r>
              <a:t>Translate the familiar written arithmetic signs into keyboard characters. Addition and subtraction look familiar; multiplication uses * and division uses /. Explain each operation on two small numbers before discussing variables.</a:t>
            </a:r>
          </a:p>
          <a:p xmlns:a="http://schemas.openxmlformats.org/drawingml/2006/main">
            <a:r>
              <a:t/>
            </a:r>
          </a:p>
          <a:p xmlns:a="http://schemas.openxmlformats.org/drawingml/2006/main">
            <a:r>
              <a:t>Worked illustration / lecturer answer</a:t>
            </a:r>
          </a:p>
          <a:p xmlns:a="http://schemas.openxmlformats.org/drawingml/2006/main">
            <a:r>
              <a:t>With 8 and 2: 8 + 2 is 10, 8 - 2 is 6, 8 * 2 is 16, and 8 / 2 is 4.0. Python 3 division produces a floating-point result even here.</a:t>
            </a:r>
          </a:p>
          <a:p xmlns:a="http://schemas.openxmlformats.org/drawingml/2006/main">
            <a:r>
              <a:t/>
            </a:r>
          </a:p>
          <a:p xmlns:a="http://schemas.openxmlformats.org/drawingml/2006/main">
            <a:r>
              <a:t>Misconception to address</a:t>
            </a:r>
          </a:p>
          <a:p xmlns:a="http://schemas.openxmlformats.org/drawingml/2006/main">
            <a:r>
              <a:t>The letter x and the printed multiplication sign × are not Python's multiplication operator. Division by zero raises an error.</a:t>
            </a:r>
          </a:p>
          <a:p xmlns:a="http://schemas.openxmlformats.org/drawingml/2006/main">
            <a:r>
              <a:t/>
            </a:r>
          </a:p>
          <a:p xmlns:a="http://schemas.openxmlformats.org/drawingml/2006/main">
            <a:r>
              <a:t>On this slide</a:t>
            </a:r>
          </a:p>
          <a:p xmlns:a="http://schemas.openxmlformats.org/drawingml/2006/main">
            <a:r>
              <a:t>Operator: A symbol for an operation: + adds, - subtracts, * multiplies, / divides, ** raises to a power. // floors a quotient, so -5 // 2 is -3.</a:t>
            </a:r>
          </a:p>
          <a:p xmlns:a="http://schemas.openxmlformats.org/drawingml/2006/main">
            <a:r>
              <a:t/>
            </a:r>
          </a:p>
          <a:p xmlns:a="http://schemas.openxmlformats.org/drawingml/2006/main">
            <a:r>
              <a:t>Continue to</a:t>
            </a:r>
          </a:p>
          <a:p xmlns:a="http://schemas.openxmlformats.org/drawingml/2006/main">
            <a:r>
              <a:t>Read a function call before using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a function call before using it</a:t>
            </a:r>
          </a:p>
          <a:p xmlns:a="http://schemas.openxmlformats.org/drawingml/2006/main">
            <a:r>
              <a:t>CML3113, Week 3, slide 10</a:t>
            </a:r>
          </a:p>
          <a:p xmlns:a="http://schemas.openxmlformats.org/drawingml/2006/main">
            <a:r>
              <a:t/>
            </a:r>
          </a:p>
          <a:p xmlns:a="http://schemas.openxmlformats.org/drawingml/2006/main">
            <a:r>
              <a:t>Explanation to give</a:t>
            </a:r>
          </a:p>
          <a:p xmlns:a="http://schemas.openxmlformats.org/drawingml/2006/main">
            <a:r>
              <a:t>A function call asks an existing tool to do a job. Read its name first, then the values between parentheses. The comma separates inputs when more than one is supplied. The returned result can become input to another call.</a:t>
            </a:r>
          </a:p>
          <a:p xmlns:a="http://schemas.openxmlformats.org/drawingml/2006/main">
            <a:r>
              <a:t/>
            </a:r>
          </a:p>
          <a:p xmlns:a="http://schemas.openxmlformats.org/drawingml/2006/main">
            <a:r>
              <a:t>Worked illustration / lecturer answer</a:t>
            </a:r>
          </a:p>
          <a:p xmlns:a="http://schemas.openxmlformats.org/drawingml/2006/main">
            <a:r>
              <a:t>In print(float("4.5")), the inner float call converts text to 4.5, then print displays it. In print("length", 4), print receives two inputs and normally separates them with a space.</a:t>
            </a:r>
          </a:p>
          <a:p xmlns:a="http://schemas.openxmlformats.org/drawingml/2006/main">
            <a:r>
              <a:t/>
            </a:r>
          </a:p>
          <a:p xmlns:a="http://schemas.openxmlformats.org/drawingml/2006/main">
            <a:r>
              <a:t>Misconception to address</a:t>
            </a:r>
          </a:p>
          <a:p xmlns:a="http://schemas.openxmlformats.org/drawingml/2006/main">
            <a:r>
              <a:t>Parentheses used for a call differ from parentheses used only to group arithmetic. Identify the preceding function name.</a:t>
            </a:r>
          </a:p>
          <a:p xmlns:a="http://schemas.openxmlformats.org/drawingml/2006/main">
            <a:r>
              <a:t/>
            </a:r>
          </a:p>
          <a:p xmlns:a="http://schemas.openxmlformats.org/drawingml/2006/main">
            <a:r>
              <a:t>On this slide</a:t>
            </a:r>
          </a:p>
          <a:p xmlns:a="http://schemas.openxmlformats.org/drawingml/2006/main">
            <a:r>
              <a:t>A built-in function: Python already provides tools such as print, type and float. A function call asks a named tool to do its work: print(3) displays 3.</a:t>
            </a:r>
          </a:p>
          <a:p xmlns:a="http://schemas.openxmlformats.org/drawingml/2006/main">
            <a:r>
              <a:t>Parentheses, quotes and comments: Parentheses hold the inputs to a call. Quotes make text: "3.5" is text; float("3.5") converts it to a number. # starts a comment that Python does not run.</a:t>
            </a:r>
          </a:p>
          <a:p xmlns:a="http://schemas.openxmlformats.org/drawingml/2006/main">
            <a:r>
              <a:t/>
            </a:r>
          </a:p>
          <a:p xmlns:a="http://schemas.openxmlformats.org/drawingml/2006/main">
            <a:r>
              <a:t>Continue to</a:t>
            </a:r>
          </a:p>
          <a:p xmlns:a="http://schemas.openxmlformats.org/drawingml/2006/main">
            <a:r>
              <a:t>Reading Python symbols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Python symbols</a:t>
            </a:r>
          </a:p>
          <a:p xmlns:a="http://schemas.openxmlformats.org/drawingml/2006/main">
            <a:r>
              <a:t>CML3113, Week 3, slide 11</a:t>
            </a:r>
          </a:p>
          <a:p xmlns:a="http://schemas.openxmlformats.org/drawingml/2006/main">
            <a:r>
              <a:t/>
            </a:r>
          </a:p>
          <a:p xmlns:a="http://schemas.openxmlformats.org/drawingml/2006/main">
            <a:r>
              <a:t>Explanation to give</a:t>
            </a:r>
          </a:p>
          <a:p xmlns:a="http://schemas.openxmlformats.org/drawingml/2006/main">
            <a:r>
              <a:t>Separate a value-producing expression from the instruction that uses it. Evaluate the calculation first, assign it second, and display it only if a print call asks for output. Explain parentheses, quotes and the comment symbol when pointing to them.</a:t>
            </a:r>
          </a:p>
          <a:p xmlns:a="http://schemas.openxmlformats.org/drawingml/2006/main">
            <a:r>
              <a:t/>
            </a:r>
          </a:p>
          <a:p xmlns:a="http://schemas.openxmlformats.org/drawingml/2006/main">
            <a:r>
              <a:t>Worked illustration / lecturer answer</a:t>
            </a:r>
          </a:p>
          <a:p xmlns:a="http://schemas.openxmlformats.org/drawingml/2006/main">
            <a:r>
              <a:t>total = 6 + 2 first calculates 8, then stores it under total. print(total) displays 8. total == 8 asks a question and produces True; it does not assign anything.</a:t>
            </a:r>
          </a:p>
          <a:p xmlns:a="http://schemas.openxmlformats.org/drawingml/2006/main">
            <a:r>
              <a:t/>
            </a:r>
          </a:p>
          <a:p xmlns:a="http://schemas.openxmlformats.org/drawingml/2006/main">
            <a:r>
              <a:t>Misconception to address</a:t>
            </a:r>
          </a:p>
          <a:p xmlns:a="http://schemas.openxmlformats.org/drawingml/2006/main">
            <a:r>
              <a:t>Do not read = and == interchangeably. A bare assignment normally produces no printed line in a notebook.</a:t>
            </a:r>
          </a:p>
          <a:p xmlns:a="http://schemas.openxmlformats.org/drawingml/2006/main">
            <a:r>
              <a:t/>
            </a:r>
          </a:p>
          <a:p xmlns:a="http://schemas.openxmlformats.org/drawingml/2006/main">
            <a:r>
              <a:t>On this slide</a:t>
            </a:r>
          </a:p>
          <a:p xmlns:a="http://schemas.openxmlformats.org/drawingml/2006/main">
            <a:r>
              <a:t>= assigns a value to a name. == compares two values.</a:t>
            </a:r>
          </a:p>
          <a:p xmlns:a="http://schemas.openxmlformats.org/drawingml/2006/main">
            <a:r>
              <a:t/>
            </a:r>
          </a:p>
          <a:p xmlns:a="http://schemas.openxmlformats.org/drawingml/2006/main">
            <a:r>
              <a:t>* multiplies. / divides. ** raises to a power.</a:t>
            </a:r>
          </a:p>
          <a:p xmlns:a="http://schemas.openxmlformats.org/drawingml/2006/main">
            <a:r>
              <a:t/>
            </a:r>
          </a:p>
          <a:p xmlns:a="http://schemas.openxmlformats.org/drawingml/2006/main">
            <a:r>
              <a:t>Parentheses pass inputs when we call a function.</a:t>
            </a:r>
          </a:p>
          <a:p xmlns:a="http://schemas.openxmlformats.org/drawingml/2006/main">
            <a:r>
              <a:t/>
            </a:r>
          </a:p>
          <a:p xmlns:a="http://schemas.openxmlformats.org/drawingml/2006/main">
            <a:r>
              <a:t>Indented lines belong to the block above them.</a:t>
            </a:r>
          </a:p>
          <a:p xmlns:a="http://schemas.openxmlformats.org/drawingml/2006/main">
            <a:r>
              <a:t/>
            </a:r>
          </a:p>
          <a:p xmlns:a="http://schemas.openxmlformats.org/drawingml/2006/main">
            <a:r>
              <a:t>Continue to</a:t>
            </a:r>
          </a:p>
          <a:p xmlns:a="http://schemas.openxmlformats.org/drawingml/2006/main">
            <a:r>
              <a:t>Names, conversion and comments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Names, conversion and comments</a:t>
            </a:r>
          </a:p>
          <a:p xmlns:a="http://schemas.openxmlformats.org/drawingml/2006/main">
            <a:r>
              <a:t>CML3113, Week 3, slide 12</a:t>
            </a:r>
          </a:p>
          <a:p xmlns:a="http://schemas.openxmlformats.org/drawingml/2006/main">
            <a:r>
              <a:t/>
            </a:r>
          </a:p>
          <a:p xmlns:a="http://schemas.openxmlformats.org/drawingml/2006/main">
            <a:r>
              <a:t>Explanation to give</a:t>
            </a:r>
          </a:p>
          <a:p xmlns:a="http://schemas.openxmlformats.org/drawingml/2006/main">
            <a:r>
              <a:t>Read the displayed program as five separate actions. float("3.5") turns numeric text into a float. width_m receives the integer 2. Multiplication calculates area_m2. The two print calls display the area and then the type of length_m.</a:t>
            </a:r>
          </a:p>
          <a:p xmlns:a="http://schemas.openxmlformats.org/drawingml/2006/main">
            <a:r>
              <a:t/>
            </a:r>
          </a:p>
          <a:p xmlns:a="http://schemas.openxmlformats.org/drawingml/2006/main">
            <a:r>
              <a:t>Worked illustration / lecturer answer</a:t>
            </a:r>
          </a:p>
          <a:p xmlns:a="http://schemas.openxmlformats.org/drawingml/2006/main">
            <a:r>
              <a:t>Trace the actual values: length_m is 3.5, width_m is 2, area_m2 is 7.0. The displayed lines are 7.0 and &lt;class 'float'&gt;. The comment beginning with # explains the line but does not execute.</a:t>
            </a:r>
          </a:p>
          <a:p xmlns:a="http://schemas.openxmlformats.org/drawingml/2006/main">
            <a:r>
              <a:t/>
            </a:r>
          </a:p>
          <a:p xmlns:a="http://schemas.openxmlformats.org/drawingml/2006/main">
            <a:r>
              <a:t>Misconception to address</a:t>
            </a:r>
          </a:p>
          <a:p xmlns:a="http://schemas.openxmlformats.org/drawingml/2006/main">
            <a:r>
              <a:t>The text inside quotes is initially a string. The name length_m becomes numeric because the conversion result is assigned to it.</a:t>
            </a:r>
          </a:p>
          <a:p xmlns:a="http://schemas.openxmlformats.org/drawingml/2006/main">
            <a:r>
              <a:t/>
            </a:r>
          </a:p>
          <a:p xmlns:a="http://schemas.openxmlformats.org/drawingml/2006/main">
            <a:r>
              <a:t>Read the displayed code line by line</a:t>
            </a:r>
          </a:p>
          <a:p xmlns:a="http://schemas.openxmlformats.org/drawingml/2006/main">
            <a:r>
              <a:t>length_m = float("3.5")  # text to number</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width_m = 2</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area_m2 = length_m * width_m</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print(area_m2)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print(type(length_m))</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type(...) reports the kind of value. &lt;class 'float'&gt; means a floating-point number.</a:t>
            </a:r>
          </a:p>
          <a:p xmlns:a="http://schemas.openxmlformats.org/drawingml/2006/main">
            <a:r>
              <a:t/>
            </a:r>
          </a:p>
          <a:p xmlns:a="http://schemas.openxmlformats.org/drawingml/2006/main">
            <a:r>
              <a:t>Continue to</a:t>
            </a:r>
          </a:p>
          <a:p xmlns:a="http://schemas.openxmlformats.org/drawingml/2006/main">
            <a:r>
              <a:t>Week 3 continuation</a:t>
            </a:r>
          </a:p>
          <a:p xmlns:a="http://schemas.openxmlformats.org/drawingml/2006/main">
            <a:r>
              <a:t/>
            </a:r>
          </a:p>
          <a:p xmlns:a="http://schemas.openxmlformats.org/drawingml/2006/main">
            <a:r>
              <a:t>Result from the supplied example</a:t>
            </a:r>
          </a:p>
          <a:p xmlns:a="http://schemas.openxmlformats.org/drawingml/2006/main">
            <a:r>
              <a:t>7.0</a:t>
            </a:r>
          </a:p>
          <a:p xmlns:a="http://schemas.openxmlformats.org/drawingml/2006/main">
            <a:r>
              <a:t>&lt;class 'float'&gt;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3 continuation</a:t>
            </a:r>
          </a:p>
          <a:p xmlns:a="http://schemas.openxmlformats.org/drawingml/2006/main">
            <a:r>
              <a:t>CML3113, Week 3, slide 13</a:t>
            </a:r>
          </a:p>
          <a:p xmlns:a="http://schemas.openxmlformats.org/drawingml/2006/main">
            <a:r>
              <a:t/>
            </a:r>
          </a:p>
          <a:p xmlns:a="http://schemas.openxmlformats.org/drawingml/2006/main">
            <a:r>
              <a:t>Explanation to give</a:t>
            </a:r>
          </a:p>
          <a:p xmlns:a="http://schemas.openxmlformats.org/drawingml/2006/main">
            <a:r>
              <a:t>This is now a recap point for CML3112, whose full Week 3 lesson was completed on 29 September. For CML3111/CML3113, begin the Week 3 deck at slide 1.</a:t>
            </a:r>
          </a:p>
          <a:p xmlns:a="http://schemas.openxmlformats.org/drawingml/2006/main">
            <a:r>
              <a:t/>
            </a:r>
          </a:p>
          <a:p xmlns:a="http://schemas.openxmlformats.org/drawingml/2006/main">
            <a:r>
              <a:t>Worked illustration / lecturer answer</a:t>
            </a:r>
          </a:p>
          <a:p xmlns:a="http://schemas.openxmlformats.org/drawingml/2006/main">
            <a:r>
              <a:t>Revisit the preceding result: float("3.5") gives 3.5 and multiplying by 2 gives 7.0. The printed type is &lt;class 'float'&gt;. Next extend these values into arithmetic and decisions.</a:t>
            </a:r>
          </a:p>
          <a:p xmlns:a="http://schemas.openxmlformats.org/drawingml/2006/main">
            <a:r>
              <a:t/>
            </a:r>
          </a:p>
          <a:p xmlns:a="http://schemas.openxmlformats.org/drawingml/2006/main">
            <a:r>
              <a:t>Misconception to address</a:t>
            </a:r>
          </a:p>
          <a:p xmlns:a="http://schemas.openxmlformats.org/drawingml/2006/main">
            <a:r>
              <a:t>Do not treat slide 13 as an instruction to skip the foundations in a cohort that has not covered them.</a:t>
            </a:r>
          </a:p>
          <a:p xmlns:a="http://schemas.openxmlformats.org/drawingml/2006/main">
            <a:r>
              <a:t/>
            </a:r>
          </a:p>
          <a:p xmlns:a="http://schemas.openxmlformats.org/drawingml/2006/main">
            <a:r>
              <a:t>On this slide</a:t>
            </a:r>
          </a:p>
          <a:p xmlns:a="http://schemas.openxmlformats.org/drawingml/2006/main">
            <a:r>
              <a:t>From slides 1–12: values have types, variables name values, = assigns, and print displays a result. float("3.5") converts text to a number. We now use those ideas in calculations and functions.</a:t>
            </a:r>
          </a:p>
          <a:p xmlns:a="http://schemas.openxmlformats.org/drawingml/2006/main">
            <a:r>
              <a:t/>
            </a:r>
          </a:p>
          <a:p xmlns:a="http://schemas.openxmlformats.org/drawingml/2006/main">
            <a:r>
              <a:t>Next: arithmetic, decisions, functions, then lists and the A3 brief.</a:t>
            </a:r>
          </a:p>
          <a:p xmlns:a="http://schemas.openxmlformats.org/drawingml/2006/main">
            <a:r>
              <a:t/>
            </a:r>
          </a:p>
          <a:p xmlns:a="http://schemas.openxmlformats.org/drawingml/2006/main">
            <a:r>
              <a:t>Continue to</a:t>
            </a:r>
          </a:p>
          <a:p xmlns:a="http://schemas.openxmlformats.org/drawingml/2006/main">
            <a:r>
              <a:t>Reading a Python expression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a Python expression</a:t>
            </a:r>
          </a:p>
          <a:p xmlns:a="http://schemas.openxmlformats.org/drawingml/2006/main">
            <a:r>
              <a:t>CML3113, Week 3, slide 14</a:t>
            </a:r>
          </a:p>
          <a:p xmlns:a="http://schemas.openxmlformats.org/drawingml/2006/main">
            <a:r>
              <a:t/>
            </a:r>
          </a:p>
          <a:p xmlns:a="http://schemas.openxmlformats.org/drawingml/2006/main">
            <a:r>
              <a:t>Explanation to give</a:t>
            </a:r>
          </a:p>
          <a:p xmlns:a="http://schemas.openxmlformats.org/drawingml/2006/main">
            <a:r>
              <a:t>Separate a value-producing expression from the instruction that uses it. Evaluate the calculation first, assign it second, and display it only if a print call asks for output. Explain parentheses, quotes and the comment symbol when pointing to them.</a:t>
            </a:r>
          </a:p>
          <a:p xmlns:a="http://schemas.openxmlformats.org/drawingml/2006/main">
            <a:r>
              <a:t/>
            </a:r>
          </a:p>
          <a:p xmlns:a="http://schemas.openxmlformats.org/drawingml/2006/main">
            <a:r>
              <a:t>Worked illustration / lecturer answer</a:t>
            </a:r>
          </a:p>
          <a:p xmlns:a="http://schemas.openxmlformats.org/drawingml/2006/main">
            <a:r>
              <a:t>total = 6 + 2 first calculates 8, then stores it under total. print(total) displays 8. total == 8 asks a question and produces True; it does not assign anything.</a:t>
            </a:r>
          </a:p>
          <a:p xmlns:a="http://schemas.openxmlformats.org/drawingml/2006/main">
            <a:r>
              <a:t/>
            </a:r>
          </a:p>
          <a:p xmlns:a="http://schemas.openxmlformats.org/drawingml/2006/main">
            <a:r>
              <a:t>Misconception to address</a:t>
            </a:r>
          </a:p>
          <a:p xmlns:a="http://schemas.openxmlformats.org/drawingml/2006/main">
            <a:r>
              <a:t>Do not read = and == interchangeably. A bare assignment normally produces no printed line in a notebook.</a:t>
            </a:r>
          </a:p>
          <a:p xmlns:a="http://schemas.openxmlformats.org/drawingml/2006/main">
            <a:r>
              <a:t/>
            </a:r>
          </a:p>
          <a:p xmlns:a="http://schemas.openxmlformats.org/drawingml/2006/main">
            <a:r>
              <a:t>On this slide</a:t>
            </a:r>
          </a:p>
          <a:p xmlns:a="http://schemas.openxmlformats.org/drawingml/2006/main">
            <a:r>
              <a:t>An expression is code that produces a value. In 7 + 2, the inputs are 7 and 2; the operator + tells Python to add them.</a:t>
            </a:r>
          </a:p>
          <a:p xmlns:a="http://schemas.openxmlformats.org/drawingml/2006/main">
            <a:r>
              <a:t/>
            </a:r>
          </a:p>
          <a:p xmlns:a="http://schemas.openxmlformats.org/drawingml/2006/main">
            <a:r>
              <a:t>A statement is an instruction. total = 7 + 2 calculates 9, then gives it the name total. print(total) displays the stored value.</a:t>
            </a:r>
          </a:p>
          <a:p xmlns:a="http://schemas.openxmlformats.org/drawingml/2006/main">
            <a:r>
              <a:t/>
            </a:r>
          </a:p>
          <a:p xmlns:a="http://schemas.openxmlformats.org/drawingml/2006/main">
            <a:r>
              <a:t>Read each symbol before running. Code is what you type; output is what Python displays. Do not type the word “Output”.</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Addition subtraction multiplication and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Addition subtraction multiplication and division</a:t>
            </a:r>
          </a:p>
          <a:p xmlns:a="http://schemas.openxmlformats.org/drawingml/2006/main">
            <a:r>
              <a:t>CML3113, Week 3, slide 15</a:t>
            </a:r>
          </a:p>
          <a:p xmlns:a="http://schemas.openxmlformats.org/drawingml/2006/main">
            <a:r>
              <a:t/>
            </a:r>
          </a:p>
          <a:p xmlns:a="http://schemas.openxmlformats.org/drawingml/2006/main">
            <a:r>
              <a:t>Explanation to give</a:t>
            </a:r>
          </a:p>
          <a:p xmlns:a="http://schemas.openxmlformats.org/drawingml/2006/main">
            <a:r>
              <a:t>Translate the familiar written arithmetic signs into keyboard characters. Addition and subtraction look familiar; multiplication uses * and division uses /. Explain each operation on two small numbers before discussing variables.</a:t>
            </a:r>
          </a:p>
          <a:p xmlns:a="http://schemas.openxmlformats.org/drawingml/2006/main">
            <a:r>
              <a:t/>
            </a:r>
          </a:p>
          <a:p xmlns:a="http://schemas.openxmlformats.org/drawingml/2006/main">
            <a:r>
              <a:t>Worked illustration / lecturer answer</a:t>
            </a:r>
          </a:p>
          <a:p xmlns:a="http://schemas.openxmlformats.org/drawingml/2006/main">
            <a:r>
              <a:t>With 8 and 2: 8 + 2 is 10, 8 - 2 is 6, 8 * 2 is 16, and 8 / 2 is 4.0. Python 3 division produces a floating-point result even here.</a:t>
            </a:r>
          </a:p>
          <a:p xmlns:a="http://schemas.openxmlformats.org/drawingml/2006/main">
            <a:r>
              <a:t/>
            </a:r>
          </a:p>
          <a:p xmlns:a="http://schemas.openxmlformats.org/drawingml/2006/main">
            <a:r>
              <a:t>Misconception to address</a:t>
            </a:r>
          </a:p>
          <a:p xmlns:a="http://schemas.openxmlformats.org/drawingml/2006/main">
            <a:r>
              <a:t>The letter x and the printed multiplication sign × are not Python's multiplication operator. Division by zero raises an error.</a:t>
            </a:r>
          </a:p>
          <a:p xmlns:a="http://schemas.openxmlformats.org/drawingml/2006/main">
            <a:r>
              <a:t/>
            </a:r>
          </a:p>
          <a:p xmlns:a="http://schemas.openxmlformats.org/drawingml/2006/main">
            <a:r>
              <a:t>On this slide</a:t>
            </a:r>
          </a:p>
          <a:p xmlns:a="http://schemas.openxmlformats.org/drawingml/2006/main">
            <a:r>
              <a:t>Operator | Meaning | Example and result</a:t>
            </a:r>
          </a:p>
          <a:p xmlns:a="http://schemas.openxmlformats.org/drawingml/2006/main">
            <a:r>
              <a:t>+ | Add | 7 + 2 gives 9</a:t>
            </a:r>
          </a:p>
          <a:p xmlns:a="http://schemas.openxmlformats.org/drawingml/2006/main">
            <a:r>
              <a:t>- | Subtract | 7 - 2 gives 5</a:t>
            </a:r>
          </a:p>
          <a:p xmlns:a="http://schemas.openxmlformats.org/drawingml/2006/main">
            <a:r>
              <a:t>* | Multiply | 7 * 2 gives 14</a:t>
            </a:r>
          </a:p>
          <a:p xmlns:a="http://schemas.openxmlformats.org/drawingml/2006/main">
            <a:r>
              <a:t>/ | Divide | 7 / 2 gives 3.5</a:t>
            </a:r>
          </a:p>
          <a:p xmlns:a="http://schemas.openxmlformats.org/drawingml/2006/main">
            <a:r>
              <a:t>Python uses * for multiplication, not ×. / can produce a fractional result.</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Run the four arithmetic operations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the four arithmetic operations</a:t>
            </a:r>
          </a:p>
          <a:p xmlns:a="http://schemas.openxmlformats.org/drawingml/2006/main">
            <a:r>
              <a:t>CML3113, Week 3, slide 16</a:t>
            </a:r>
          </a:p>
          <a:p xmlns:a="http://schemas.openxmlformats.org/drawingml/2006/main">
            <a:r>
              <a:t/>
            </a:r>
          </a:p>
          <a:p xmlns:a="http://schemas.openxmlformats.org/drawingml/2006/main">
            <a:r>
              <a:t>Explanation to give</a:t>
            </a:r>
          </a:p>
          <a:p xmlns:a="http://schemas.openxmlformats.org/drawingml/2006/main">
            <a:r>
              <a:t>Translate the familiar written arithmetic signs into keyboard characters. Addition and subtraction look familiar; multiplication uses * and division uses /. Explain each operation on two small numbers before discussing variables.</a:t>
            </a:r>
          </a:p>
          <a:p xmlns:a="http://schemas.openxmlformats.org/drawingml/2006/main">
            <a:r>
              <a:t/>
            </a:r>
          </a:p>
          <a:p xmlns:a="http://schemas.openxmlformats.org/drawingml/2006/main">
            <a:r>
              <a:t>Worked illustration / lecturer answer</a:t>
            </a:r>
          </a:p>
          <a:p xmlns:a="http://schemas.openxmlformats.org/drawingml/2006/main">
            <a:r>
              <a:t>With 8 and 2: 8 + 2 is 10, 8 - 2 is 6, 8 * 2 is 16, and 8 / 2 is 4.0. Python 3 division produces a floating-point result even here.</a:t>
            </a:r>
          </a:p>
          <a:p xmlns:a="http://schemas.openxmlformats.org/drawingml/2006/main">
            <a:r>
              <a:t/>
            </a:r>
          </a:p>
          <a:p xmlns:a="http://schemas.openxmlformats.org/drawingml/2006/main">
            <a:r>
              <a:t>Misconception to address</a:t>
            </a:r>
          </a:p>
          <a:p xmlns:a="http://schemas.openxmlformats.org/drawingml/2006/main">
            <a:r>
              <a:t>The letter x and the printed multiplication sign × are not Python's multiplication operator. Division by zero raises an error.</a:t>
            </a:r>
          </a:p>
          <a:p xmlns:a="http://schemas.openxmlformats.org/drawingml/2006/main">
            <a:r>
              <a:t/>
            </a:r>
          </a:p>
          <a:p xmlns:a="http://schemas.openxmlformats.org/drawingml/2006/main">
            <a:r>
              <a:t>Read the displayed code line by line</a:t>
            </a:r>
          </a:p>
          <a:p xmlns:a="http://schemas.openxmlformats.org/drawingml/2006/main">
            <a:r>
              <a:t>print(7 + 2)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print(7 - 2)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print(7 *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print(7 /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9; 5; 14; 3.5</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Floor division remainder and powers</a:t>
            </a:r>
          </a:p>
          <a:p xmlns:a="http://schemas.openxmlformats.org/drawingml/2006/main">
            <a:r>
              <a:t/>
            </a:r>
          </a:p>
          <a:p xmlns:a="http://schemas.openxmlformats.org/drawingml/2006/main">
            <a:r>
              <a:t>Result from the supplied example</a:t>
            </a:r>
          </a:p>
          <a:p xmlns:a="http://schemas.openxmlformats.org/drawingml/2006/main">
            <a:r>
              <a:t>9</a:t>
            </a:r>
          </a:p>
          <a:p xmlns:a="http://schemas.openxmlformats.org/drawingml/2006/main">
            <a:r>
              <a:t>5</a:t>
            </a:r>
          </a:p>
          <a:p xmlns:a="http://schemas.openxmlformats.org/drawingml/2006/main">
            <a:r>
              <a:t>14</a:t>
            </a:r>
          </a:p>
          <a:p xmlns:a="http://schemas.openxmlformats.org/drawingml/2006/main">
            <a:r>
              <a:t>3.5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Floor division remainder and powers</a:t>
            </a:r>
          </a:p>
          <a:p xmlns:a="http://schemas.openxmlformats.org/drawingml/2006/main">
            <a:r>
              <a:t>CML3113, Week 3, slide 17</a:t>
            </a:r>
          </a:p>
          <a:p xmlns:a="http://schemas.openxmlformats.org/drawingml/2006/main">
            <a:r>
              <a:t/>
            </a:r>
          </a:p>
          <a:p xmlns:a="http://schemas.openxmlformats.org/drawingml/2006/main">
            <a:r>
              <a:t>Explanation to give</a:t>
            </a:r>
          </a:p>
          <a:p xmlns:a="http://schemas.openxmlformats.org/drawingml/2006/main">
            <a:r>
              <a:t>Explain // as taking the floor of a quotient, % as the remainder and ** as repeated multiplication for a positive integer exponent. “Floor” means the greatest integer no larger than the quotient.</a:t>
            </a:r>
          </a:p>
          <a:p xmlns:a="http://schemas.openxmlformats.org/drawingml/2006/main">
            <a:r>
              <a:t/>
            </a:r>
          </a:p>
          <a:p xmlns:a="http://schemas.openxmlformats.org/drawingml/2006/main">
            <a:r>
              <a:t>Worked illustration / lecturer answer</a:t>
            </a:r>
          </a:p>
          <a:p xmlns:a="http://schemas.openxmlformats.org/drawingml/2006/main">
            <a:r>
              <a:t>9 = 2 × 4 + 1, so 9 // 4 is 2 and 9 % 4 is 1. 3 ** 2 is 9. For a negative example, -9 / 4 is -2.25, so -9 // 4 is -3.</a:t>
            </a:r>
          </a:p>
          <a:p xmlns:a="http://schemas.openxmlformats.org/drawingml/2006/main">
            <a:r>
              <a:t/>
            </a:r>
          </a:p>
          <a:p xmlns:a="http://schemas.openxmlformats.org/drawingml/2006/main">
            <a:r>
              <a:t>Misconception to address</a:t>
            </a:r>
          </a:p>
          <a:p xmlns:a="http://schemas.openxmlformats.org/drawingml/2006/main">
            <a:r>
              <a:t>% does not mean percentage. To turn 60% into a fraction, use 60 / 100. Negative floor division does not simply remove the decimal digits.</a:t>
            </a:r>
          </a:p>
          <a:p xmlns:a="http://schemas.openxmlformats.org/drawingml/2006/main">
            <a:r>
              <a:t/>
            </a:r>
          </a:p>
          <a:p xmlns:a="http://schemas.openxmlformats.org/drawingml/2006/main">
            <a:r>
              <a:t>On this slide</a:t>
            </a:r>
          </a:p>
          <a:p xmlns:a="http://schemas.openxmlformats.org/drawingml/2006/main">
            <a:r>
              <a:t>Operator | Meaning | Example and result</a:t>
            </a:r>
          </a:p>
          <a:p xmlns:a="http://schemas.openxmlformats.org/drawingml/2006/main">
            <a:r>
              <a:t>// | Floor the quotient | 7 // 2 gives 3</a:t>
            </a:r>
          </a:p>
          <a:p xmlns:a="http://schemas.openxmlformats.org/drawingml/2006/main">
            <a:r>
              <a:t>% | Remainder | 7 % 2 gives 1</a:t>
            </a:r>
          </a:p>
          <a:p xmlns:a="http://schemas.openxmlformats.org/drawingml/2006/main">
            <a:r>
              <a:t>** | Raise to a power | 2 ** 3 gives 8</a:t>
            </a:r>
          </a:p>
          <a:p xmlns:a="http://schemas.openxmlformats.org/drawingml/2006/main">
            <a:r>
              <a:t>7 contains three groups of 2 with 1 left over: 7 = 3 × 2 + 1.</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Reading powers signs and remainders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powers signs and remainders</a:t>
            </a:r>
          </a:p>
          <a:p xmlns:a="http://schemas.openxmlformats.org/drawingml/2006/main">
            <a:r>
              <a:t>CML3113, Week 3, slide 18</a:t>
            </a:r>
          </a:p>
          <a:p xmlns:a="http://schemas.openxmlformats.org/drawingml/2006/main">
            <a:r>
              <a:t/>
            </a:r>
          </a:p>
          <a:p xmlns:a="http://schemas.openxmlformats.org/drawingml/2006/main">
            <a:r>
              <a:t>Explanation to give</a:t>
            </a:r>
          </a:p>
          <a:p xmlns:a="http://schemas.openxmlformats.org/drawingml/2006/main">
            <a:r>
              <a:t>Explain // as taking the floor of a quotient, % as the remainder and ** as repeated multiplication for a positive integer exponent. “Floor” means the greatest integer no larger than the quotient.</a:t>
            </a:r>
          </a:p>
          <a:p xmlns:a="http://schemas.openxmlformats.org/drawingml/2006/main">
            <a:r>
              <a:t/>
            </a:r>
          </a:p>
          <a:p xmlns:a="http://schemas.openxmlformats.org/drawingml/2006/main">
            <a:r>
              <a:t>Worked illustration / lecturer answer</a:t>
            </a:r>
          </a:p>
          <a:p xmlns:a="http://schemas.openxmlformats.org/drawingml/2006/main">
            <a:r>
              <a:t>9 = 2 × 4 + 1, so 9 // 4 is 2 and 9 % 4 is 1. 3 ** 2 is 9. For a negative example, -9 / 4 is -2.25, so -9 // 4 is -3.</a:t>
            </a:r>
          </a:p>
          <a:p xmlns:a="http://schemas.openxmlformats.org/drawingml/2006/main">
            <a:r>
              <a:t/>
            </a:r>
          </a:p>
          <a:p xmlns:a="http://schemas.openxmlformats.org/drawingml/2006/main">
            <a:r>
              <a:t>Misconception to address</a:t>
            </a:r>
          </a:p>
          <a:p xmlns:a="http://schemas.openxmlformats.org/drawingml/2006/main">
            <a:r>
              <a:t>% does not mean percentage. To turn 60% into a fraction, use 60 / 100. Negative floor division does not simply remove the decimal digits.</a:t>
            </a:r>
          </a:p>
          <a:p xmlns:a="http://schemas.openxmlformats.org/drawingml/2006/main">
            <a:r>
              <a:t/>
            </a:r>
          </a:p>
          <a:p xmlns:a="http://schemas.openxmlformats.org/drawingml/2006/main">
            <a:r>
              <a:t>On this slide</a:t>
            </a:r>
          </a:p>
          <a:p xmlns:a="http://schemas.openxmlformats.org/drawingml/2006/main">
            <a:r>
              <a:t>2 ** 3 means 2 × 2 × 2. It does not mean 2 × 3. The left value is the base; the right value is the exponent.</a:t>
            </a:r>
          </a:p>
          <a:p xmlns:a="http://schemas.openxmlformats.org/drawingml/2006/main">
            <a:r>
              <a:t/>
            </a:r>
          </a:p>
          <a:p xmlns:a="http://schemas.openxmlformats.org/drawingml/2006/main">
            <a:r>
              <a:t>A leading minus makes a number negative: -7. Floor division rounds the quotient down: -7 / 2 is -3.5, so -7 // 2 is -4.</a:t>
            </a:r>
          </a:p>
          <a:p xmlns:a="http://schemas.openxmlformats.org/drawingml/2006/main">
            <a:r>
              <a:t/>
            </a:r>
          </a:p>
          <a:p xmlns:a="http://schemas.openxmlformats.org/drawingml/2006/main">
            <a:r>
              <a:t>% is remainder, not percentage. To turn 75% into a fraction, calculate 75 / 100. Do not divide by zero.</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Run floor division remainder and powers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floor division remainder and powers</a:t>
            </a:r>
          </a:p>
          <a:p xmlns:a="http://schemas.openxmlformats.org/drawingml/2006/main">
            <a:r>
              <a:t>CML3113, Week 3, slide 19</a:t>
            </a:r>
          </a:p>
          <a:p xmlns:a="http://schemas.openxmlformats.org/drawingml/2006/main">
            <a:r>
              <a:t/>
            </a:r>
          </a:p>
          <a:p xmlns:a="http://schemas.openxmlformats.org/drawingml/2006/main">
            <a:r>
              <a:t>Explanation to give</a:t>
            </a:r>
          </a:p>
          <a:p xmlns:a="http://schemas.openxmlformats.org/drawingml/2006/main">
            <a:r>
              <a:t>Explain // as taking the floor of a quotient, % as the remainder and ** as repeated multiplication for a positive integer exponent. “Floor” means the greatest integer no larger than the quotient.</a:t>
            </a:r>
          </a:p>
          <a:p xmlns:a="http://schemas.openxmlformats.org/drawingml/2006/main">
            <a:r>
              <a:t/>
            </a:r>
          </a:p>
          <a:p xmlns:a="http://schemas.openxmlformats.org/drawingml/2006/main">
            <a:r>
              <a:t>Worked illustration / lecturer answer</a:t>
            </a:r>
          </a:p>
          <a:p xmlns:a="http://schemas.openxmlformats.org/drawingml/2006/main">
            <a:r>
              <a:t>9 = 2 × 4 + 1, so 9 // 4 is 2 and 9 % 4 is 1. 3 ** 2 is 9. For a negative example, -9 / 4 is -2.25, so -9 // 4 is -3.</a:t>
            </a:r>
          </a:p>
          <a:p xmlns:a="http://schemas.openxmlformats.org/drawingml/2006/main">
            <a:r>
              <a:t/>
            </a:r>
          </a:p>
          <a:p xmlns:a="http://schemas.openxmlformats.org/drawingml/2006/main">
            <a:r>
              <a:t>Misconception to address</a:t>
            </a:r>
          </a:p>
          <a:p xmlns:a="http://schemas.openxmlformats.org/drawingml/2006/main">
            <a:r>
              <a:t>% does not mean percentage. To turn 60% into a fraction, use 60 / 100. Negative floor division does not simply remove the decimal digits.</a:t>
            </a:r>
          </a:p>
          <a:p xmlns:a="http://schemas.openxmlformats.org/drawingml/2006/main">
            <a:r>
              <a:t/>
            </a:r>
          </a:p>
          <a:p xmlns:a="http://schemas.openxmlformats.org/drawingml/2006/main">
            <a:r>
              <a:t>Read the displayed code line by line</a:t>
            </a:r>
          </a:p>
          <a:p xmlns:a="http://schemas.openxmlformats.org/drawingml/2006/main">
            <a:r>
              <a:t>print(7 //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print(7 %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print(2 ** 3)</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print(-7 //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print(75 / 100)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3; 1; 8; -4; 0.75</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Which operation happens first</a:t>
            </a:r>
          </a:p>
          <a:p xmlns:a="http://schemas.openxmlformats.org/drawingml/2006/main">
            <a:r>
              <a:t/>
            </a:r>
          </a:p>
          <a:p xmlns:a="http://schemas.openxmlformats.org/drawingml/2006/main">
            <a:r>
              <a:t>Result from the supplied example</a:t>
            </a:r>
          </a:p>
          <a:p xmlns:a="http://schemas.openxmlformats.org/drawingml/2006/main">
            <a:r>
              <a:t>3</a:t>
            </a:r>
          </a:p>
          <a:p xmlns:a="http://schemas.openxmlformats.org/drawingml/2006/main">
            <a:r>
              <a:t>1</a:t>
            </a:r>
          </a:p>
          <a:p xmlns:a="http://schemas.openxmlformats.org/drawingml/2006/main">
            <a:r>
              <a:t>8</a:t>
            </a:r>
          </a:p>
          <a:p xmlns:a="http://schemas.openxmlformats.org/drawingml/2006/main">
            <a:r>
              <a:t>-4</a:t>
            </a:r>
          </a:p>
          <a:p xmlns:a="http://schemas.openxmlformats.org/drawingml/2006/main">
            <a:r>
              <a:t>0.75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Which operation happens first</a:t>
            </a:r>
          </a:p>
          <a:p xmlns:a="http://schemas.openxmlformats.org/drawingml/2006/main">
            <a:r>
              <a:t>CML3113, Week 3, slide 20</a:t>
            </a:r>
          </a:p>
          <a:p xmlns:a="http://schemas.openxmlformats.org/drawingml/2006/main">
            <a:r>
              <a:t/>
            </a:r>
          </a:p>
          <a:p xmlns:a="http://schemas.openxmlformats.org/drawingml/2006/main">
            <a:r>
              <a:t>Explanation to give</a:t>
            </a:r>
          </a:p>
          <a:p xmlns:a="http://schemas.openxmlformats.org/drawingml/2006/main">
            <a:r>
              <a:t>Work from grouped subexpressions outward. Powers precede multiplication and division, which precede addition and subtraction. At the same multiplication/division level, work left to right.</a:t>
            </a:r>
          </a:p>
          <a:p xmlns:a="http://schemas.openxmlformats.org/drawingml/2006/main">
            <a:r>
              <a:t/>
            </a:r>
          </a:p>
          <a:p xmlns:a="http://schemas.openxmlformats.org/drawingml/2006/main">
            <a:r>
              <a:t>Worked illustration / lecturer answer</a:t>
            </a:r>
          </a:p>
          <a:p xmlns:a="http://schemas.openxmlformats.org/drawingml/2006/main">
            <a:r>
              <a:t>2 + 3 * 4 becomes 2 + 12 = 14. (2 + 3) * 4 becomes 5 * 4 = 20. 12 / 3 * 2 becomes 4.0 * 2 = 8.0.</a:t>
            </a:r>
          </a:p>
          <a:p xmlns:a="http://schemas.openxmlformats.org/drawingml/2006/main">
            <a:r>
              <a:t/>
            </a:r>
          </a:p>
          <a:p xmlns:a="http://schemas.openxmlformats.org/drawingml/2006/main">
            <a:r>
              <a:t>Misconception to address</a:t>
            </a:r>
          </a:p>
          <a:p xmlns:a="http://schemas.openxmlformats.org/drawingml/2006/main">
            <a:r>
              <a:t>Parentheses can change the meaning. For a negative base, (-2) ** 2 is 4, while -(2 ** 2) is -4. Use a tolerance for approximate decimal results.</a:t>
            </a:r>
          </a:p>
          <a:p xmlns:a="http://schemas.openxmlformats.org/drawingml/2006/main">
            <a:r>
              <a:t/>
            </a:r>
          </a:p>
          <a:p xmlns:a="http://schemas.openxmlformats.org/drawingml/2006/main">
            <a:r>
              <a:t>On this slide</a:t>
            </a:r>
          </a:p>
          <a:p xmlns:a="http://schemas.openxmlformats.org/drawingml/2006/main">
            <a:r>
              <a:t>Parentheses group a calculation: do (2 + 3) before multiplying it by 4.</a:t>
            </a:r>
          </a:p>
          <a:p xmlns:a="http://schemas.openxmlformats.org/drawingml/2006/main">
            <a:r>
              <a:t/>
            </a:r>
          </a:p>
          <a:p xmlns:a="http://schemas.openxmlformats.org/drawingml/2006/main">
            <a:r>
              <a:t>Powers come before multiplication and division. Multiplication, /, // and % come before addition and subtraction. Equal-level * and / run left to right.</a:t>
            </a:r>
          </a:p>
          <a:p xmlns:a="http://schemas.openxmlformats.org/drawingml/2006/main">
            <a:r>
              <a:t/>
            </a:r>
          </a:p>
          <a:p xmlns:a="http://schemas.openxmlformats.org/drawingml/2006/main">
            <a:r>
              <a:t>Use parentheses when the intended grouping might be unclear. For a negative base, write (-2) ** 2. This gives 4; -(2 ** 2) gives -4.</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Trace an expression before its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an expression before its output</a:t>
            </a:r>
          </a:p>
          <a:p xmlns:a="http://schemas.openxmlformats.org/drawingml/2006/main">
            <a:r>
              <a:t>CML3113, Week 3, slide 21</a:t>
            </a:r>
          </a:p>
          <a:p xmlns:a="http://schemas.openxmlformats.org/drawingml/2006/main">
            <a:r>
              <a:t/>
            </a:r>
          </a:p>
          <a:p xmlns:a="http://schemas.openxmlformats.org/drawingml/2006/main">
            <a:r>
              <a:t>Explanation to give</a:t>
            </a:r>
          </a:p>
          <a:p xmlns:a="http://schemas.openxmlformats.org/drawingml/2006/main">
            <a:r>
              <a:t>Work from grouped subexpressions outward. Powers precede multiplication and division, which precede addition and subtraction. At the same multiplication/division level, work left to right.</a:t>
            </a:r>
          </a:p>
          <a:p xmlns:a="http://schemas.openxmlformats.org/drawingml/2006/main">
            <a:r>
              <a:t/>
            </a:r>
          </a:p>
          <a:p xmlns:a="http://schemas.openxmlformats.org/drawingml/2006/main">
            <a:r>
              <a:t>Worked illustration / lecturer answer</a:t>
            </a:r>
          </a:p>
          <a:p xmlns:a="http://schemas.openxmlformats.org/drawingml/2006/main">
            <a:r>
              <a:t>2 + 3 * 4 becomes 2 + 12 = 14. (2 + 3) * 4 becomes 5 * 4 = 20. 12 / 3 * 2 becomes 4.0 * 2 = 8.0.</a:t>
            </a:r>
          </a:p>
          <a:p xmlns:a="http://schemas.openxmlformats.org/drawingml/2006/main">
            <a:r>
              <a:t/>
            </a:r>
          </a:p>
          <a:p xmlns:a="http://schemas.openxmlformats.org/drawingml/2006/main">
            <a:r>
              <a:t>Misconception to address</a:t>
            </a:r>
          </a:p>
          <a:p xmlns:a="http://schemas.openxmlformats.org/drawingml/2006/main">
            <a:r>
              <a:t>Parentheses can change the meaning. For a negative base, (-2) ** 2 is 4, while -(2 ** 2) is -4. Use a tolerance for approximate decimal results.</a:t>
            </a:r>
          </a:p>
          <a:p xmlns:a="http://schemas.openxmlformats.org/drawingml/2006/main">
            <a:r>
              <a:t/>
            </a:r>
          </a:p>
          <a:p xmlns:a="http://schemas.openxmlformats.org/drawingml/2006/main">
            <a:r>
              <a:t>On this slide</a:t>
            </a:r>
          </a:p>
          <a:p xmlns:a="http://schemas.openxmlformats.org/drawingml/2006/main">
            <a:r>
              <a:t>Expression | First calculation | Result</a:t>
            </a:r>
          </a:p>
          <a:p xmlns:a="http://schemas.openxmlformats.org/drawingml/2006/main">
            <a:r>
              <a:t>2 + 3 * 4 | 3 * 4 gives 12 | 2 + 12 gives 14</a:t>
            </a:r>
          </a:p>
          <a:p xmlns:a="http://schemas.openxmlformats.org/drawingml/2006/main">
            <a:r>
              <a:t>(2 + 3) * 4 | 2 + 3 gives 5 | 5 * 4 gives 20</a:t>
            </a:r>
          </a:p>
          <a:p xmlns:a="http://schemas.openxmlformats.org/drawingml/2006/main">
            <a:r>
              <a:t>12 / 3 * 2 | 12 / 3 gives 4.0 | 4.0 * 2 gives 8.0</a:t>
            </a:r>
          </a:p>
          <a:p xmlns:a="http://schemas.openxmlformats.org/drawingml/2006/main">
            <a:r>
              <a:t>Changing parentheses can change the answer even when the numbers stay the same.</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Check operation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 operation order</a:t>
            </a:r>
          </a:p>
          <a:p xmlns:a="http://schemas.openxmlformats.org/drawingml/2006/main">
            <a:r>
              <a:t>CML3113, Week 3, slide 22</a:t>
            </a:r>
          </a:p>
          <a:p xmlns:a="http://schemas.openxmlformats.org/drawingml/2006/main">
            <a:r>
              <a:t/>
            </a:r>
          </a:p>
          <a:p xmlns:a="http://schemas.openxmlformats.org/drawingml/2006/main">
            <a:r>
              <a:t>Explanation to give</a:t>
            </a:r>
          </a:p>
          <a:p xmlns:a="http://schemas.openxmlformats.org/drawingml/2006/main">
            <a:r>
              <a:t>Work from grouped subexpressions outward. Powers precede multiplication and division, which precede addition and subtraction. At the same multiplication/division level, work left to right.</a:t>
            </a:r>
          </a:p>
          <a:p xmlns:a="http://schemas.openxmlformats.org/drawingml/2006/main">
            <a:r>
              <a:t/>
            </a:r>
          </a:p>
          <a:p xmlns:a="http://schemas.openxmlformats.org/drawingml/2006/main">
            <a:r>
              <a:t>Worked illustration / lecturer answer</a:t>
            </a:r>
          </a:p>
          <a:p xmlns:a="http://schemas.openxmlformats.org/drawingml/2006/main">
            <a:r>
              <a:t>2 + 3 * 4 becomes 2 + 12 = 14. (2 + 3) * 4 becomes 5 * 4 = 20. 12 / 3 * 2 becomes 4.0 * 2 = 8.0.</a:t>
            </a:r>
          </a:p>
          <a:p xmlns:a="http://schemas.openxmlformats.org/drawingml/2006/main">
            <a:r>
              <a:t/>
            </a:r>
          </a:p>
          <a:p xmlns:a="http://schemas.openxmlformats.org/drawingml/2006/main">
            <a:r>
              <a:t>Misconception to address</a:t>
            </a:r>
          </a:p>
          <a:p xmlns:a="http://schemas.openxmlformats.org/drawingml/2006/main">
            <a:r>
              <a:t>Parentheses can change the meaning. For a negative base, (-2) ** 2 is 4, while -(2 ** 2) is -4. Use a tolerance for approximate decimal results.</a:t>
            </a:r>
          </a:p>
          <a:p xmlns:a="http://schemas.openxmlformats.org/drawingml/2006/main">
            <a:r>
              <a:t/>
            </a:r>
          </a:p>
          <a:p xmlns:a="http://schemas.openxmlformats.org/drawingml/2006/main">
            <a:r>
              <a:t>Read the displayed code line by line</a:t>
            </a:r>
          </a:p>
          <a:p xmlns:a="http://schemas.openxmlformats.org/drawingml/2006/main">
            <a:r>
              <a:t>print(2 + 3 * 4)</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print((2 + 3) * 4)</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print(12 / 3 *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14; 20; 8.0</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Assigning and updating a named value</a:t>
            </a:r>
          </a:p>
          <a:p xmlns:a="http://schemas.openxmlformats.org/drawingml/2006/main">
            <a:r>
              <a:t/>
            </a:r>
          </a:p>
          <a:p xmlns:a="http://schemas.openxmlformats.org/drawingml/2006/main">
            <a:r>
              <a:t>Result from the supplied example</a:t>
            </a:r>
          </a:p>
          <a:p xmlns:a="http://schemas.openxmlformats.org/drawingml/2006/main">
            <a:r>
              <a:t>14</a:t>
            </a:r>
          </a:p>
          <a:p xmlns:a="http://schemas.openxmlformats.org/drawingml/2006/main">
            <a:r>
              <a:t>20</a:t>
            </a:r>
          </a:p>
          <a:p xmlns:a="http://schemas.openxmlformats.org/drawingml/2006/main">
            <a:r>
              <a:t>8.0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Assigning and updating a named value</a:t>
            </a:r>
          </a:p>
          <a:p xmlns:a="http://schemas.openxmlformats.org/drawingml/2006/main">
            <a:r>
              <a:t>CML3113, Week 3, slide 23</a:t>
            </a:r>
          </a:p>
          <a:p xmlns:a="http://schemas.openxmlformats.org/drawingml/2006/main">
            <a:r>
              <a:t/>
            </a:r>
          </a:p>
          <a:p xmlns:a="http://schemas.openxmlformats.org/drawingml/2006/main">
            <a:r>
              <a:t>Explanation to give</a:t>
            </a:r>
          </a:p>
          <a:p xmlns:a="http://schemas.openxmlformats.org/drawingml/2006/main">
            <a:r>
              <a:t>Read the right-hand occurrence of the name as its old value. Calculate the new value, then replace the old association. This is why an update works in programming even though count = count + 1 is not an algebraic equality.</a:t>
            </a:r>
          </a:p>
          <a:p xmlns:a="http://schemas.openxmlformats.org/drawingml/2006/main">
            <a:r>
              <a:t/>
            </a:r>
          </a:p>
          <a:p xmlns:a="http://schemas.openxmlformats.org/drawingml/2006/main">
            <a:r>
              <a:t>Worked illustration / lecturer answer</a:t>
            </a:r>
          </a:p>
          <a:p xmlns:a="http://schemas.openxmlformats.org/drawingml/2006/main">
            <a:r>
              <a:t>Start at count = 2. The update computes 2 + 1 and count becomes 3. Another execution of the update gives 4. Re-executing the initialisation first returns the sequence to 2, then 3.</a:t>
            </a:r>
          </a:p>
          <a:p xmlns:a="http://schemas.openxmlformats.org/drawingml/2006/main">
            <a:r>
              <a:t/>
            </a:r>
          </a:p>
          <a:p xmlns:a="http://schemas.openxmlformats.org/drawingml/2006/main">
            <a:r>
              <a:t>Misconception to address</a:t>
            </a:r>
          </a:p>
          <a:p xmlns:a="http://schemas.openxmlformats.org/drawingml/2006/main">
            <a:r>
              <a:t>Initialise a running counter before the loop. Resetting it inside the loop throws away earlier progress.</a:t>
            </a:r>
          </a:p>
          <a:p xmlns:a="http://schemas.openxmlformats.org/drawingml/2006/main">
            <a:r>
              <a:t/>
            </a:r>
          </a:p>
          <a:p xmlns:a="http://schemas.openxmlformats.org/drawingml/2006/main">
            <a:r>
              <a:t>On this slide</a:t>
            </a:r>
          </a:p>
          <a:p xmlns:a="http://schemas.openxmlformats.org/drawingml/2006/main">
            <a:r>
              <a:t>count = 2 gives the name count the value 2. = means assignment; it does not ask whether two values are equal.</a:t>
            </a:r>
          </a:p>
          <a:p xmlns:a="http://schemas.openxmlformats.org/drawingml/2006/main">
            <a:r>
              <a:t/>
            </a:r>
          </a:p>
          <a:p xmlns:a="http://schemas.openxmlformats.org/drawingml/2006/main">
            <a:r>
              <a:t>count = count + 1 first reads the old value 2, calculates 3, then assigns 3 back to count.</a:t>
            </a:r>
          </a:p>
          <a:p xmlns:a="http://schemas.openxmlformats.org/drawingml/2006/main">
            <a:r>
              <a:t/>
            </a:r>
          </a:p>
          <a:p xmlns:a="http://schemas.openxmlformats.org/drawingml/2006/main">
            <a:r>
              <a:t>After the update, print(count) displays 3. Re-running only the update cell changes count again; restart and run from the beginning for the shown result.</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Trace one update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one update</a:t>
            </a:r>
          </a:p>
          <a:p xmlns:a="http://schemas.openxmlformats.org/drawingml/2006/main">
            <a:r>
              <a:t>CML3113, Week 3, slide 24</a:t>
            </a:r>
          </a:p>
          <a:p xmlns:a="http://schemas.openxmlformats.org/drawingml/2006/main">
            <a:r>
              <a:t/>
            </a:r>
          </a:p>
          <a:p xmlns:a="http://schemas.openxmlformats.org/drawingml/2006/main">
            <a:r>
              <a:t>Explanation to give</a:t>
            </a:r>
          </a:p>
          <a:p xmlns:a="http://schemas.openxmlformats.org/drawingml/2006/main">
            <a:r>
              <a:t>Read the right-hand occurrence of the name as its old value. Calculate the new value, then replace the old association. This is why an update works in programming even though count = count + 1 is not an algebraic equality.</a:t>
            </a:r>
          </a:p>
          <a:p xmlns:a="http://schemas.openxmlformats.org/drawingml/2006/main">
            <a:r>
              <a:t/>
            </a:r>
          </a:p>
          <a:p xmlns:a="http://schemas.openxmlformats.org/drawingml/2006/main">
            <a:r>
              <a:t>Worked illustration / lecturer answer</a:t>
            </a:r>
          </a:p>
          <a:p xmlns:a="http://schemas.openxmlformats.org/drawingml/2006/main">
            <a:r>
              <a:t>Start at count = 2. The update computes 2 + 1 and count becomes 3. Another execution of the update gives 4. Re-executing the initialisation first returns the sequence to 2, then 3.</a:t>
            </a:r>
          </a:p>
          <a:p xmlns:a="http://schemas.openxmlformats.org/drawingml/2006/main">
            <a:r>
              <a:t/>
            </a:r>
          </a:p>
          <a:p xmlns:a="http://schemas.openxmlformats.org/drawingml/2006/main">
            <a:r>
              <a:t>Misconception to address</a:t>
            </a:r>
          </a:p>
          <a:p xmlns:a="http://schemas.openxmlformats.org/drawingml/2006/main">
            <a:r>
              <a:t>Initialise a running counter before the loop. Resetting it inside the loop throws away earlier progress.</a:t>
            </a:r>
          </a:p>
          <a:p xmlns:a="http://schemas.openxmlformats.org/drawingml/2006/main">
            <a:r>
              <a:t/>
            </a:r>
          </a:p>
          <a:p xmlns:a="http://schemas.openxmlformats.org/drawingml/2006/main">
            <a:r>
              <a:t>Read the displayed code line by line</a:t>
            </a:r>
          </a:p>
          <a:p xmlns:a="http://schemas.openxmlformats.org/drawingml/2006/main">
            <a:r>
              <a:t>count = 2</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print(count)</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count = count + 1</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print(count)</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2; 3</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Numbers text and conversion</a:t>
            </a:r>
          </a:p>
          <a:p xmlns:a="http://schemas.openxmlformats.org/drawingml/2006/main">
            <a:r>
              <a:t/>
            </a:r>
          </a:p>
          <a:p xmlns:a="http://schemas.openxmlformats.org/drawingml/2006/main">
            <a:r>
              <a:t>Result from the supplied example</a:t>
            </a:r>
          </a:p>
          <a:p xmlns:a="http://schemas.openxmlformats.org/drawingml/2006/main">
            <a:r>
              <a:t>2</a:t>
            </a:r>
          </a:p>
          <a:p xmlns:a="http://schemas.openxmlformats.org/drawingml/2006/main">
            <a:r>
              <a:t>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Numbers text and conversion</a:t>
            </a:r>
          </a:p>
          <a:p xmlns:a="http://schemas.openxmlformats.org/drawingml/2006/main">
            <a:r>
              <a:t>CML3113, Week 3, slide 25</a:t>
            </a:r>
          </a:p>
          <a:p xmlns:a="http://schemas.openxmlformats.org/drawingml/2006/main">
            <a:r>
              <a:t/>
            </a:r>
          </a:p>
          <a:p xmlns:a="http://schemas.openxmlformats.org/drawingml/2006/main">
            <a:r>
              <a:t>Explanation to give</a:t>
            </a:r>
          </a:p>
          <a:p xmlns:a="http://schemas.openxmlformats.org/drawingml/2006/main">
            <a:r>
              <a:t>Explain a type as the kind of information and the operations allowed on it. Quotes make a string, even when every character is a digit. int is a whole number; float is an approximation used for decimal-valued calculations; bool is a truth value.</a:t>
            </a:r>
          </a:p>
          <a:p xmlns:a="http://schemas.openxmlformats.org/drawingml/2006/main">
            <a:r>
              <a:t/>
            </a:r>
          </a:p>
          <a:p xmlns:a="http://schemas.openxmlformats.org/drawingml/2006/main">
            <a:r>
              <a:t>Worked illustration / lecturer answer</a:t>
            </a:r>
          </a:p>
          <a:p xmlns:a="http://schemas.openxmlformats.org/drawingml/2006/main">
            <a:r>
              <a:t>4 + 5 produces 9. "4" + "5" produces the text "45". int("4") + int("5") produces 9 because conversion occurs before addition. None represents the absence of a result in our examples.</a:t>
            </a:r>
          </a:p>
          <a:p xmlns:a="http://schemas.openxmlformats.org/drawingml/2006/main">
            <a:r>
              <a:t/>
            </a:r>
          </a:p>
          <a:p xmlns:a="http://schemas.openxmlformats.org/drawingml/2006/main">
            <a:r>
              <a:t>Misconception to address</a:t>
            </a:r>
          </a:p>
          <a:p xmlns:a="http://schemas.openxmlformats.org/drawingml/2006/main">
            <a:r>
              <a:t>int("2.5") is invalid integer text. float("2.5") works. Converting a value is a deliberate action, not something Python always guesses.</a:t>
            </a:r>
          </a:p>
          <a:p xmlns:a="http://schemas.openxmlformats.org/drawingml/2006/main">
            <a:r>
              <a:t/>
            </a:r>
          </a:p>
          <a:p xmlns:a="http://schemas.openxmlformats.org/drawingml/2006/main">
            <a:r>
              <a:t>On this slide</a:t>
            </a:r>
          </a:p>
          <a:p xmlns:a="http://schemas.openxmlformats.org/drawingml/2006/main">
            <a:r>
              <a:t>7 is an integer. 7.0 is a decimal-valued float. "7" is text because it is inside quotes. Both single and double quotes can enclose text.</a:t>
            </a:r>
          </a:p>
          <a:p xmlns:a="http://schemas.openxmlformats.org/drawingml/2006/main">
            <a:r>
              <a:t/>
            </a:r>
          </a:p>
          <a:p xmlns:a="http://schemas.openxmlformats.org/drawingml/2006/main">
            <a:r>
              <a:t>"7" + "2" joins text into "72". To add those digits as numbers, convert each first: int("7") + int("2") gives 9.</a:t>
            </a:r>
          </a:p>
          <a:p xmlns:a="http://schemas.openxmlformats.org/drawingml/2006/main">
            <a:r>
              <a:t/>
            </a:r>
          </a:p>
          <a:p xmlns:a="http://schemas.openxmlformats.org/drawingml/2006/main">
            <a:r>
              <a:t>int converts valid integer text; float converts valid decimal text. str turns a value into text. print displays a value; type reports its Python type.</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Compare numeric addition with text joining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Compare numeric addition with text joining</a:t>
            </a:r>
          </a:p>
          <a:p xmlns:a="http://schemas.openxmlformats.org/drawingml/2006/main">
            <a:r>
              <a:t>CML3113, Week 3, slide 26</a:t>
            </a:r>
          </a:p>
          <a:p xmlns:a="http://schemas.openxmlformats.org/drawingml/2006/main">
            <a:r>
              <a:t/>
            </a:r>
          </a:p>
          <a:p xmlns:a="http://schemas.openxmlformats.org/drawingml/2006/main">
            <a:r>
              <a:t>Explanation to give</a:t>
            </a:r>
          </a:p>
          <a:p xmlns:a="http://schemas.openxmlformats.org/drawingml/2006/main">
            <a:r>
              <a:t>Explain a type as the kind of information and the operations allowed on it. Quotes make a string, even when every character is a digit. int is a whole number; float is an approximation used for decimal-valued calculations; bool is a truth value.</a:t>
            </a:r>
          </a:p>
          <a:p xmlns:a="http://schemas.openxmlformats.org/drawingml/2006/main">
            <a:r>
              <a:t/>
            </a:r>
          </a:p>
          <a:p xmlns:a="http://schemas.openxmlformats.org/drawingml/2006/main">
            <a:r>
              <a:t>Worked illustration / lecturer answer</a:t>
            </a:r>
          </a:p>
          <a:p xmlns:a="http://schemas.openxmlformats.org/drawingml/2006/main">
            <a:r>
              <a:t>4 + 5 produces 9. "4" + "5" produces the text "45". int("4") + int("5") produces 9 because conversion occurs before addition. None represents the absence of a result in our examples.</a:t>
            </a:r>
          </a:p>
          <a:p xmlns:a="http://schemas.openxmlformats.org/drawingml/2006/main">
            <a:r>
              <a:t/>
            </a:r>
          </a:p>
          <a:p xmlns:a="http://schemas.openxmlformats.org/drawingml/2006/main">
            <a:r>
              <a:t>Misconception to address</a:t>
            </a:r>
          </a:p>
          <a:p xmlns:a="http://schemas.openxmlformats.org/drawingml/2006/main">
            <a:r>
              <a:t>int("2.5") is invalid integer text. float("2.5") works. Converting a value is a deliberate action, not something Python always guesses.</a:t>
            </a:r>
          </a:p>
          <a:p xmlns:a="http://schemas.openxmlformats.org/drawingml/2006/main">
            <a:r>
              <a:t/>
            </a:r>
          </a:p>
          <a:p xmlns:a="http://schemas.openxmlformats.org/drawingml/2006/main">
            <a:r>
              <a:t>Read the displayed code line by line</a:t>
            </a:r>
          </a:p>
          <a:p xmlns:a="http://schemas.openxmlformats.org/drawingml/2006/main">
            <a:r>
              <a:t>print(7 + 2)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print("7" +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print(int("7") + int("2"))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print(float("2.5"))</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9; 72; 9; 2.5</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Arithmetic that needs care</a:t>
            </a:r>
          </a:p>
          <a:p xmlns:a="http://schemas.openxmlformats.org/drawingml/2006/main">
            <a:r>
              <a:t/>
            </a:r>
          </a:p>
          <a:p xmlns:a="http://schemas.openxmlformats.org/drawingml/2006/main">
            <a:r>
              <a:t>Result from the supplied example</a:t>
            </a:r>
          </a:p>
          <a:p xmlns:a="http://schemas.openxmlformats.org/drawingml/2006/main">
            <a:r>
              <a:t>9</a:t>
            </a:r>
          </a:p>
          <a:p xmlns:a="http://schemas.openxmlformats.org/drawingml/2006/main">
            <a:r>
              <a:t>72</a:t>
            </a:r>
          </a:p>
          <a:p xmlns:a="http://schemas.openxmlformats.org/drawingml/2006/main">
            <a:r>
              <a:t>9</a:t>
            </a:r>
          </a:p>
          <a:p xmlns:a="http://schemas.openxmlformats.org/drawingml/2006/main">
            <a:r>
              <a:t>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Arithmetic that needs care</a:t>
            </a:r>
          </a:p>
          <a:p xmlns:a="http://schemas.openxmlformats.org/drawingml/2006/main">
            <a:r>
              <a:t>CML3113, Week 3, slide 27</a:t>
            </a:r>
          </a:p>
          <a:p xmlns:a="http://schemas.openxmlformats.org/drawingml/2006/main">
            <a:r>
              <a:t/>
            </a:r>
          </a:p>
          <a:p xmlns:a="http://schemas.openxmlformats.org/drawingml/2006/main">
            <a:r>
              <a:t>Explanation to give</a:t>
            </a:r>
          </a:p>
          <a:p xmlns:a="http://schemas.openxmlformats.org/drawingml/2006/main">
            <a:r>
              <a:t>Work from grouped subexpressions outward. Powers precede multiplication and division, which precede addition and subtraction. At the same multiplication/division level, work left to right.</a:t>
            </a:r>
          </a:p>
          <a:p xmlns:a="http://schemas.openxmlformats.org/drawingml/2006/main">
            <a:r>
              <a:t/>
            </a:r>
          </a:p>
          <a:p xmlns:a="http://schemas.openxmlformats.org/drawingml/2006/main">
            <a:r>
              <a:t>Worked illustration / lecturer answer</a:t>
            </a:r>
          </a:p>
          <a:p xmlns:a="http://schemas.openxmlformats.org/drawingml/2006/main">
            <a:r>
              <a:t>2 + 3 * 4 becomes 2 + 12 = 14. (2 + 3) * 4 becomes 5 * 4 = 20. 12 / 3 * 2 becomes 4.0 * 2 = 8.0.</a:t>
            </a:r>
          </a:p>
          <a:p xmlns:a="http://schemas.openxmlformats.org/drawingml/2006/main">
            <a:r>
              <a:t/>
            </a:r>
          </a:p>
          <a:p xmlns:a="http://schemas.openxmlformats.org/drawingml/2006/main">
            <a:r>
              <a:t>Misconception to address</a:t>
            </a:r>
          </a:p>
          <a:p xmlns:a="http://schemas.openxmlformats.org/drawingml/2006/main">
            <a:r>
              <a:t>Parentheses can change the meaning. For a negative base, (-2) ** 2 is 4, while -(2 ** 2) is -4. Use a tolerance for approximate decimal results.</a:t>
            </a:r>
          </a:p>
          <a:p xmlns:a="http://schemas.openxmlformats.org/drawingml/2006/main">
            <a:r>
              <a:t/>
            </a:r>
          </a:p>
          <a:p xmlns:a="http://schemas.openxmlformats.org/drawingml/2006/main">
            <a:r>
              <a:t>On this slide</a:t>
            </a:r>
          </a:p>
          <a:p xmlns:a="http://schemas.openxmlformats.org/drawingml/2006/main">
            <a:r>
              <a:t>Parentheses run first: (2 + 4) / 2 is 3.0. Without them, division runs before addition: 2 + 4 / 2 is 4.0.</a:t>
            </a:r>
          </a:p>
          <a:p xmlns:a="http://schemas.openxmlformats.org/drawingml/2006/main">
            <a:r>
              <a:t/>
            </a:r>
          </a:p>
          <a:p xmlns:a="http://schemas.openxmlformats.org/drawingml/2006/main">
            <a:r>
              <a:t>/ gives a quotient. // rounds that quotient down: 7 // 2 is 3 and -7 // 2 is -4.</a:t>
            </a:r>
          </a:p>
          <a:p xmlns:a="http://schemas.openxmlformats.org/drawingml/2006/main">
            <a:r>
              <a:t/>
            </a:r>
          </a:p>
          <a:p xmlns:a="http://schemas.openxmlformats.org/drawingml/2006/main">
            <a:r>
              <a:t>Many decimal fractions are approximate in a computer. A tolerance is an allowed difference, for example 0.01 m when checking two calculated lengths.</a:t>
            </a:r>
          </a:p>
          <a:p xmlns:a="http://schemas.openxmlformats.org/drawingml/2006/main">
            <a:r>
              <a:t/>
            </a:r>
          </a:p>
          <a:p xmlns:a="http://schemas.openxmlformats.org/drawingml/2006/main">
            <a:r>
              <a:t>Continue to</a:t>
            </a:r>
          </a:p>
          <a:p xmlns:a="http://schemas.openxmlformats.org/drawingml/2006/main">
            <a:r>
              <a:t>Read the quantities in your programme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quantities in your programme example</a:t>
            </a:r>
          </a:p>
          <a:p xmlns:a="http://schemas.openxmlformats.org/drawingml/2006/main">
            <a:r>
              <a:t>CML3113, Week 3, slide 28</a:t>
            </a:r>
          </a:p>
          <a:p xmlns:a="http://schemas.openxmlformats.org/drawingml/2006/main">
            <a:r>
              <a:t/>
            </a:r>
          </a:p>
          <a:p xmlns:a="http://schemas.openxmlformats.org/drawingml/2006/main">
            <a:r>
              <a:t>Explanation to give</a:t>
            </a:r>
          </a:p>
          <a:p xmlns:a="http://schemas.openxmlformats.org/drawingml/2006/main">
            <a:r>
              <a:t>Use fluid moving through a system as the physical reference. Volume in litres divided by elapsed seconds gives a flow rate in L/s. Density and depth belong to a later pressure calculation.</a:t>
            </a:r>
          </a:p>
          <a:p xmlns:a="http://schemas.openxmlformats.org/drawingml/2006/main">
            <a:r>
              <a:t/>
            </a:r>
          </a:p>
          <a:p xmlns:a="http://schemas.openxmlformats.org/drawingml/2006/main">
            <a:r>
              <a:t>Worked illustration / lecturer answer</a:t>
            </a:r>
          </a:p>
          <a:p xmlns:a="http://schemas.openxmlformats.org/drawingml/2006/main">
            <a:r>
              <a:t>In the displayed introductory calculation, 18 L / 3 s = 6 L/s. For the later pressure task, density × g × depth yields Pa, then division by 1000 converts to kPa.</a:t>
            </a:r>
          </a:p>
          <a:p xmlns:a="http://schemas.openxmlformats.org/drawingml/2006/main">
            <a:r>
              <a:t/>
            </a:r>
          </a:p>
          <a:p xmlns:a="http://schemas.openxmlformats.org/drawingml/2006/main">
            <a:r>
              <a:t>Misconception to address</a:t>
            </a:r>
          </a:p>
          <a:p xmlns:a="http://schemas.openxmlformats.org/drawingml/2006/main">
            <a:r>
              <a:t>Flow rate and pressure are different physical quantities. Keep litres/seconds separate from the SI units specified for mud_pressure.</a:t>
            </a:r>
          </a:p>
          <a:p xmlns:a="http://schemas.openxmlformats.org/drawingml/2006/main">
            <a:r>
              <a:t/>
            </a:r>
          </a:p>
          <a:p xmlns:a="http://schemas.openxmlformats.org/drawingml/2006/main">
            <a:r>
              <a:t>On this slide</a:t>
            </a:r>
          </a:p>
          <a:p xmlns:a="http://schemas.openxmlformats.org/drawingml/2006/main">
            <a:r>
              <a:t>Volume, time and flow: Volume is how much space fluid occupies, here in litres. Time is measured in seconds. Flow is volume divided by time, in litres per second.</a:t>
            </a:r>
          </a:p>
          <a:p xmlns:a="http://schemas.openxmlformats.org/drawingml/2006/main">
            <a:r>
              <a:t>Density and pressure: Density is mass per volume in kg/m³. Pressure is force per area, measured in pascals (Pa). 1000 Pa = 1 kPa. Fluid density and depth determine the hydrostatic contribution.</a:t>
            </a:r>
          </a:p>
          <a:p xmlns:a="http://schemas.openxmlformats.org/drawingml/2006/main">
            <a:r>
              <a:t/>
            </a:r>
          </a:p>
          <a:p xmlns:a="http://schemas.openxmlformats.org/drawingml/2006/main">
            <a:r>
              <a:t>Continue to</a:t>
            </a:r>
          </a:p>
          <a:p xmlns:a="http://schemas.openxmlformats.org/drawingml/2006/main">
            <a:r>
              <a:t>A calculation for your programme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calculation for your programme</a:t>
            </a:r>
          </a:p>
          <a:p xmlns:a="http://schemas.openxmlformats.org/drawingml/2006/main">
            <a:r>
              <a:t>CML3113, Week 3, slide 29</a:t>
            </a:r>
          </a:p>
          <a:p xmlns:a="http://schemas.openxmlformats.org/drawingml/2006/main">
            <a:r>
              <a:t/>
            </a:r>
          </a:p>
          <a:p xmlns:a="http://schemas.openxmlformats.org/drawingml/2006/main">
            <a:r>
              <a:t>Explanation to give</a:t>
            </a:r>
          </a:p>
          <a:p xmlns:a="http://schemas.openxmlformats.org/drawingml/2006/main">
            <a:r>
              <a:t>Use fluid moving through a system as the physical reference. Volume in litres divided by elapsed seconds gives a flow rate in L/s. Density and depth belong to a later pressure calculation.</a:t>
            </a:r>
          </a:p>
          <a:p xmlns:a="http://schemas.openxmlformats.org/drawingml/2006/main">
            <a:r>
              <a:t/>
            </a:r>
          </a:p>
          <a:p xmlns:a="http://schemas.openxmlformats.org/drawingml/2006/main">
            <a:r>
              <a:t>Worked illustration / lecturer answer</a:t>
            </a:r>
          </a:p>
          <a:p xmlns:a="http://schemas.openxmlformats.org/drawingml/2006/main">
            <a:r>
              <a:t>In the displayed introductory calculation, 18 L / 3 s = 6 L/s. For the later pressure task, density × g × depth yields Pa, then division by 1000 converts to kPa.</a:t>
            </a:r>
          </a:p>
          <a:p xmlns:a="http://schemas.openxmlformats.org/drawingml/2006/main">
            <a:r>
              <a:t/>
            </a:r>
          </a:p>
          <a:p xmlns:a="http://schemas.openxmlformats.org/drawingml/2006/main">
            <a:r>
              <a:t>Misconception to address</a:t>
            </a:r>
          </a:p>
          <a:p xmlns:a="http://schemas.openxmlformats.org/drawingml/2006/main">
            <a:r>
              <a:t>Flow rate and pressure are different physical quantities. Keep litres/seconds separate from the SI units specified for mud_pressure.</a:t>
            </a:r>
          </a:p>
          <a:p xmlns:a="http://schemas.openxmlformats.org/drawingml/2006/main">
            <a:r>
              <a:t/>
            </a:r>
          </a:p>
          <a:p xmlns:a="http://schemas.openxmlformats.org/drawingml/2006/main">
            <a:r>
              <a:t>On this slide</a:t>
            </a:r>
          </a:p>
          <a:p xmlns:a="http://schemas.openxmlformats.org/drawingml/2006/main">
            <a:r>
              <a:t>A pump moves 18 litres in 3 seconds.</a:t>
            </a:r>
          </a:p>
          <a:p xmlns:a="http://schemas.openxmlformats.org/drawingml/2006/main">
            <a:r>
              <a:t/>
            </a:r>
          </a:p>
          <a:p xmlns:a="http://schemas.openxmlformats.org/drawingml/2006/main">
            <a:r>
              <a:t>Flow = volume ÷ time = 6 litres per second.</a:t>
            </a:r>
          </a:p>
          <a:p xmlns:a="http://schemas.openxmlformats.org/drawingml/2006/main">
            <a:r>
              <a:t/>
            </a:r>
          </a:p>
          <a:p xmlns:a="http://schemas.openxmlformats.org/drawingml/2006/main">
            <a:r>
              <a:t>Continue to</a:t>
            </a:r>
          </a:p>
          <a:p xmlns:a="http://schemas.openxmlformats.org/drawingml/2006/main">
            <a:r>
              <a:t>The calculation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calculation in Python</a:t>
            </a:r>
          </a:p>
          <a:p xmlns:a="http://schemas.openxmlformats.org/drawingml/2006/main">
            <a:r>
              <a:t>CML3113, Week 3, slide 30</a:t>
            </a:r>
          </a:p>
          <a:p xmlns:a="http://schemas.openxmlformats.org/drawingml/2006/main">
            <a:r>
              <a:t/>
            </a:r>
          </a:p>
          <a:p xmlns:a="http://schemas.openxmlformats.org/drawingml/2006/main">
            <a:r>
              <a:t>Explanation to give</a:t>
            </a:r>
          </a:p>
          <a:p xmlns:a="http://schemas.openxmlformats.org/drawingml/2006/main">
            <a:r>
              <a:t>Use fluid moving through a system as the physical reference. Volume in litres divided by elapsed seconds gives a flow rate in L/s. Density and depth belong to a later pressure calculation.</a:t>
            </a:r>
          </a:p>
          <a:p xmlns:a="http://schemas.openxmlformats.org/drawingml/2006/main">
            <a:r>
              <a:t/>
            </a:r>
          </a:p>
          <a:p xmlns:a="http://schemas.openxmlformats.org/drawingml/2006/main">
            <a:r>
              <a:t>Worked illustration / lecturer answer</a:t>
            </a:r>
          </a:p>
          <a:p xmlns:a="http://schemas.openxmlformats.org/drawingml/2006/main">
            <a:r>
              <a:t>In the displayed introductory calculation, 18 L / 3 s = 6 L/s. For the later pressure task, density × g × depth yields Pa, then division by 1000 converts to kPa.</a:t>
            </a:r>
          </a:p>
          <a:p xmlns:a="http://schemas.openxmlformats.org/drawingml/2006/main">
            <a:r>
              <a:t/>
            </a:r>
          </a:p>
          <a:p xmlns:a="http://schemas.openxmlformats.org/drawingml/2006/main">
            <a:r>
              <a:t>Misconception to address</a:t>
            </a:r>
          </a:p>
          <a:p xmlns:a="http://schemas.openxmlformats.org/drawingml/2006/main">
            <a:r>
              <a:t>Flow rate and pressure are different physical quantities. Keep litres/seconds separate from the SI units specified for mud_pressure.</a:t>
            </a:r>
          </a:p>
          <a:p xmlns:a="http://schemas.openxmlformats.org/drawingml/2006/main">
            <a:r>
              <a:t/>
            </a:r>
          </a:p>
          <a:p xmlns:a="http://schemas.openxmlformats.org/drawingml/2006/main">
            <a:r>
              <a:t>Read the displayed code line by line</a:t>
            </a:r>
          </a:p>
          <a:p xmlns:a="http://schemas.openxmlformats.org/drawingml/2006/main">
            <a:r>
              <a:t>volume_l = 18</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time_s = 3</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flow_l_s = volume_l / time_s</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print(flow_l_s)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Continue to</a:t>
            </a:r>
          </a:p>
          <a:p xmlns:a="http://schemas.openxmlformats.org/drawingml/2006/main">
            <a:r>
              <a:t>Reading an error message</a:t>
            </a:r>
          </a:p>
          <a:p xmlns:a="http://schemas.openxmlformats.org/drawingml/2006/main">
            <a:r>
              <a:t/>
            </a:r>
          </a:p>
          <a:p xmlns:a="http://schemas.openxmlformats.org/drawingml/2006/main">
            <a:r>
              <a:t>Result from the supplied example</a:t>
            </a:r>
          </a:p>
          <a:p xmlns:a="http://schemas.openxmlformats.org/drawingml/2006/main">
            <a:r>
              <a:t>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an error message</a:t>
            </a:r>
          </a:p>
          <a:p xmlns:a="http://schemas.openxmlformats.org/drawingml/2006/main">
            <a:r>
              <a:t>CML3113, Week 3, slide 31</a:t>
            </a:r>
          </a:p>
          <a:p xmlns:a="http://schemas.openxmlformats.org/drawingml/2006/main">
            <a:r>
              <a:t/>
            </a:r>
          </a:p>
          <a:p xmlns:a="http://schemas.openxmlformats.org/drawingml/2006/main">
            <a:r>
              <a:t>Explanation to give</a:t>
            </a:r>
          </a:p>
          <a:p xmlns:a="http://schemas.openxmlformats.org/drawingml/2006/main">
            <a:r>
              <a:t>Teach a diagnosis sequence: read the final error line, locate the indicated instruction, compare the expected input with what actually exists, and fix the first cause. Explain the error type rather than treating all red output alike.</a:t>
            </a:r>
          </a:p>
          <a:p xmlns:a="http://schemas.openxmlformats.org/drawingml/2006/main">
            <a:r>
              <a:t/>
            </a:r>
          </a:p>
          <a:p xmlns:a="http://schemas.openxmlformats.org/drawingml/2006/main">
            <a:r>
              <a:t>Worked illustration / lecturer answer</a:t>
            </a:r>
          </a:p>
          <a:p xmlns:a="http://schemas.openxmlformats.org/drawingml/2006/main">
            <a:r>
              <a:t>NameError often means a misspelled or not-yet-created name. FileNotFoundError means the named path was not found. TypeError can result from adding text and a number. A wrong answer can occur with no exception at all.</a:t>
            </a:r>
          </a:p>
          <a:p xmlns:a="http://schemas.openxmlformats.org/drawingml/2006/main">
            <a:r>
              <a:t/>
            </a:r>
          </a:p>
          <a:p xmlns:a="http://schemas.openxmlformats.org/drawingml/2006/main">
            <a:r>
              <a:t>Misconception to address</a:t>
            </a:r>
          </a:p>
          <a:p xmlns:a="http://schemas.openxmlformats.org/drawingml/2006/main">
            <a:r>
              <a:t>The highlighted line is where Python noticed a problem, not always its original cause. Do not install an unrelated package when the exercise deliberately names a nonexistent module.</a:t>
            </a:r>
          </a:p>
          <a:p xmlns:a="http://schemas.openxmlformats.org/drawingml/2006/main">
            <a:r>
              <a:t/>
            </a:r>
          </a:p>
          <a:p xmlns:a="http://schemas.openxmlformats.org/drawingml/2006/main">
            <a:r>
              <a:t>On this slide</a:t>
            </a:r>
          </a:p>
          <a:p xmlns:a="http://schemas.openxmlformats.org/drawingml/2006/main">
            <a:r>
              <a:t>Message | Meaning | First check</a:t>
            </a:r>
          </a:p>
          <a:p xmlns:a="http://schemas.openxmlformats.org/drawingml/2006/main">
            <a:r>
              <a:t>NameError | A name is unavailable | Spelling and run order</a:t>
            </a:r>
          </a:p>
          <a:p xmlns:a="http://schemas.openxmlformats.org/drawingml/2006/main">
            <a:r>
              <a:t>TypeError | Wrong kind of value | Text versus number</a:t>
            </a:r>
          </a:p>
          <a:p xmlns:a="http://schemas.openxmlformats.org/drawingml/2006/main">
            <a:r>
              <a:t>SyntaxError | Python cannot parse a line | Quotes, brackets, colon</a:t>
            </a:r>
          </a:p>
          <a:p xmlns:a="http://schemas.openxmlformats.org/drawingml/2006/main">
            <a:r>
              <a:t>IndentationError | Block spacing is invalid | Consistent spaces</a:t>
            </a:r>
          </a:p>
          <a:p xmlns:a="http://schemas.openxmlformats.org/drawingml/2006/main">
            <a:r>
              <a:t>The last line names the error. The indicated line shows where Python noticed it.</a:t>
            </a:r>
          </a:p>
          <a:p xmlns:a="http://schemas.openxmlformats.org/drawingml/2006/main">
            <a:r>
              <a:t/>
            </a:r>
          </a:p>
          <a:p xmlns:a="http://schemas.openxmlformats.org/drawingml/2006/main">
            <a:r>
              <a:t>Continue to</a:t>
            </a:r>
          </a:p>
          <a:p xmlns:a="http://schemas.openxmlformats.org/drawingml/2006/main">
            <a:r>
              <a:t>A comparison produces a Boolean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comparison produces a Boolean value</a:t>
            </a:r>
          </a:p>
          <a:p xmlns:a="http://schemas.openxmlformats.org/drawingml/2006/main">
            <a:r>
              <a:t>CML3113, Week 3, slide 32</a:t>
            </a:r>
          </a:p>
          <a:p xmlns:a="http://schemas.openxmlformats.org/drawingml/2006/main">
            <a:r>
              <a:t/>
            </a:r>
          </a:p>
          <a:p xmlns:a="http://schemas.openxmlformats.org/drawingml/2006/main">
            <a:r>
              <a:t>Explanation to give</a:t>
            </a:r>
          </a:p>
          <a:p xmlns:a="http://schemas.openxmlformats.org/drawingml/2006/main">
            <a:r>
              <a:t>A comparison produces a Boolean value, True or False. Read the whole comparison aloud, including whether the threshold itself counts. Explain equality and inequality before introducing a branch.</a:t>
            </a:r>
          </a:p>
          <a:p xmlns:a="http://schemas.openxmlformats.org/drawingml/2006/main">
            <a:r>
              <a:t/>
            </a:r>
          </a:p>
          <a:p xmlns:a="http://schemas.openxmlformats.org/drawingml/2006/main">
            <a:r>
              <a:t>Worked illustration / lecturer answer</a:t>
            </a:r>
          </a:p>
          <a:p xmlns:a="http://schemas.openxmlformats.org/drawingml/2006/main">
            <a:r>
              <a:t>With reading = 30, reading &gt; 30 is False while reading &gt;= 30 is True. reading == 30 is True and reading != 30 is False.</a:t>
            </a:r>
          </a:p>
          <a:p xmlns:a="http://schemas.openxmlformats.org/drawingml/2006/main">
            <a:r>
              <a:t/>
            </a:r>
          </a:p>
          <a:p xmlns:a="http://schemas.openxmlformats.org/drawingml/2006/main">
            <a:r>
              <a:t>Misconception to address</a:t>
            </a:r>
          </a:p>
          <a:p xmlns:a="http://schemas.openxmlformats.org/drawingml/2006/main">
            <a:r>
              <a:t>The boundary is a deliberate choice. Test below, exactly at and above it. "False" in quotes is text, not the Boolean False.</a:t>
            </a:r>
          </a:p>
          <a:p xmlns:a="http://schemas.openxmlformats.org/drawingml/2006/main">
            <a:r>
              <a:t/>
            </a:r>
          </a:p>
          <a:p xmlns:a="http://schemas.openxmlformats.org/drawingml/2006/main">
            <a:r>
              <a:t>On this slide</a:t>
            </a:r>
          </a:p>
          <a:p xmlns:a="http://schemas.openxmlformats.org/drawingml/2006/main">
            <a:r>
              <a:t>A comparison asks a yes/no question about values. Its Python result is True or False, written with capital first letters and no quotes.</a:t>
            </a:r>
          </a:p>
          <a:p xmlns:a="http://schemas.openxmlformats.org/drawingml/2006/main">
            <a:r>
              <a:t/>
            </a:r>
          </a:p>
          <a:p xmlns:a="http://schemas.openxmlformats.org/drawingml/2006/main">
            <a:r>
              <a:t>30 &gt;= 30 asks “Is 30 at least 30?” The answer is True. 28 &gt;= 30 gives False.</a:t>
            </a:r>
          </a:p>
          <a:p xmlns:a="http://schemas.openxmlformats.org/drawingml/2006/main">
            <a:r>
              <a:t/>
            </a:r>
          </a:p>
          <a:p xmlns:a="http://schemas.openxmlformats.org/drawingml/2006/main">
            <a:r>
              <a:t>True and False have type bool. "False" is text, not the Boolean value False. Conditions use Boolean results to choose what happens next.</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Equality and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Equality and difference</a:t>
            </a:r>
          </a:p>
          <a:p xmlns:a="http://schemas.openxmlformats.org/drawingml/2006/main">
            <a:r>
              <a:t>CML3113, Week 3, slide 33</a:t>
            </a:r>
          </a:p>
          <a:p xmlns:a="http://schemas.openxmlformats.org/drawingml/2006/main">
            <a:r>
              <a:t/>
            </a:r>
          </a:p>
          <a:p xmlns:a="http://schemas.openxmlformats.org/drawingml/2006/main">
            <a:r>
              <a:t>Explanation to give</a:t>
            </a:r>
          </a:p>
          <a:p xmlns:a="http://schemas.openxmlformats.org/drawingml/2006/main">
            <a:r>
              <a:t>A comparison produces a Boolean value, True or False. Read the whole comparison aloud, including whether the threshold itself counts. Explain equality and inequality before introducing a branch.</a:t>
            </a:r>
          </a:p>
          <a:p xmlns:a="http://schemas.openxmlformats.org/drawingml/2006/main">
            <a:r>
              <a:t/>
            </a:r>
          </a:p>
          <a:p xmlns:a="http://schemas.openxmlformats.org/drawingml/2006/main">
            <a:r>
              <a:t>Worked illustration / lecturer answer</a:t>
            </a:r>
          </a:p>
          <a:p xmlns:a="http://schemas.openxmlformats.org/drawingml/2006/main">
            <a:r>
              <a:t>With reading = 30, reading &gt; 30 is False while reading &gt;= 30 is True. reading == 30 is True and reading != 30 is False.</a:t>
            </a:r>
          </a:p>
          <a:p xmlns:a="http://schemas.openxmlformats.org/drawingml/2006/main">
            <a:r>
              <a:t/>
            </a:r>
          </a:p>
          <a:p xmlns:a="http://schemas.openxmlformats.org/drawingml/2006/main">
            <a:r>
              <a:t>Misconception to address</a:t>
            </a:r>
          </a:p>
          <a:p xmlns:a="http://schemas.openxmlformats.org/drawingml/2006/main">
            <a:r>
              <a:t>The boundary is a deliberate choice. Test below, exactly at and above it. "False" in quotes is text, not the Boolean False.</a:t>
            </a:r>
          </a:p>
          <a:p xmlns:a="http://schemas.openxmlformats.org/drawingml/2006/main">
            <a:r>
              <a:t/>
            </a:r>
          </a:p>
          <a:p xmlns:a="http://schemas.openxmlformats.org/drawingml/2006/main">
            <a:r>
              <a:t>On this slide</a:t>
            </a:r>
          </a:p>
          <a:p xmlns:a="http://schemas.openxmlformats.org/drawingml/2006/main">
            <a:r>
              <a:t>Symbol | Question | Example and result</a:t>
            </a:r>
          </a:p>
          <a:p xmlns:a="http://schemas.openxmlformats.org/drawingml/2006/main">
            <a:r>
              <a:t>== | Equal values? | 3 == 3 gives True</a:t>
            </a:r>
          </a:p>
          <a:p xmlns:a="http://schemas.openxmlformats.org/drawingml/2006/main">
            <a:r>
              <a:t>!= | Different values? | 3 != 4 gives True</a:t>
            </a:r>
          </a:p>
          <a:p xmlns:a="http://schemas.openxmlformats.org/drawingml/2006/main">
            <a:r>
              <a:t>= assigns a value. == compares values. They have different jobs.</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Comparing sizes and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Comparing sizes and boundaries</a:t>
            </a:r>
          </a:p>
          <a:p xmlns:a="http://schemas.openxmlformats.org/drawingml/2006/main">
            <a:r>
              <a:t>CML3113, Week 3, slide 34</a:t>
            </a:r>
          </a:p>
          <a:p xmlns:a="http://schemas.openxmlformats.org/drawingml/2006/main">
            <a:r>
              <a:t/>
            </a:r>
          </a:p>
          <a:p xmlns:a="http://schemas.openxmlformats.org/drawingml/2006/main">
            <a:r>
              <a:t>Explanation to give</a:t>
            </a:r>
          </a:p>
          <a:p xmlns:a="http://schemas.openxmlformats.org/drawingml/2006/main">
            <a:r>
              <a:t>A comparison produces a Boolean value, True or False. Read the whole comparison aloud, including whether the threshold itself counts. Explain equality and inequality before introducing a branch.</a:t>
            </a:r>
          </a:p>
          <a:p xmlns:a="http://schemas.openxmlformats.org/drawingml/2006/main">
            <a:r>
              <a:t/>
            </a:r>
          </a:p>
          <a:p xmlns:a="http://schemas.openxmlformats.org/drawingml/2006/main">
            <a:r>
              <a:t>Worked illustration / lecturer answer</a:t>
            </a:r>
          </a:p>
          <a:p xmlns:a="http://schemas.openxmlformats.org/drawingml/2006/main">
            <a:r>
              <a:t>With reading = 30, reading &gt; 30 is False while reading &gt;= 30 is True. reading == 30 is True and reading != 30 is False.</a:t>
            </a:r>
          </a:p>
          <a:p xmlns:a="http://schemas.openxmlformats.org/drawingml/2006/main">
            <a:r>
              <a:t/>
            </a:r>
          </a:p>
          <a:p xmlns:a="http://schemas.openxmlformats.org/drawingml/2006/main">
            <a:r>
              <a:t>Misconception to address</a:t>
            </a:r>
          </a:p>
          <a:p xmlns:a="http://schemas.openxmlformats.org/drawingml/2006/main">
            <a:r>
              <a:t>The boundary is a deliberate choice. Test below, exactly at and above it. "False" in quotes is text, not the Boolean False.</a:t>
            </a:r>
          </a:p>
          <a:p xmlns:a="http://schemas.openxmlformats.org/drawingml/2006/main">
            <a:r>
              <a:t/>
            </a:r>
          </a:p>
          <a:p xmlns:a="http://schemas.openxmlformats.org/drawingml/2006/main">
            <a:r>
              <a:t>On this slide</a:t>
            </a:r>
          </a:p>
          <a:p xmlns:a="http://schemas.openxmlformats.org/drawingml/2006/main">
            <a:r>
              <a:t>Symbol | Question | Example and result</a:t>
            </a:r>
          </a:p>
          <a:p xmlns:a="http://schemas.openxmlformats.org/drawingml/2006/main">
            <a:r>
              <a:t>&gt; | Greater than? | 3 &gt; 3 gives False</a:t>
            </a:r>
          </a:p>
          <a:p xmlns:a="http://schemas.openxmlformats.org/drawingml/2006/main">
            <a:r>
              <a:t>&gt;= | Greater than or equal? | 3 &gt;= 3 gives True</a:t>
            </a:r>
          </a:p>
          <a:p xmlns:a="http://schemas.openxmlformats.org/drawingml/2006/main">
            <a:r>
              <a:t>&lt; | Less than? | 2 &lt; 3 gives True</a:t>
            </a:r>
          </a:p>
          <a:p xmlns:a="http://schemas.openxmlformats.org/drawingml/2006/main">
            <a:r>
              <a:t>&lt;= | Less than or equal? | 3 &lt;= 3 gives True</a:t>
            </a:r>
          </a:p>
          <a:p xmlns:a="http://schemas.openxmlformats.org/drawingml/2006/main">
            <a:r>
              <a:t>The = part of &gt;= and &lt;= includes the boundary value.</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Display comparison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Display comparison results</a:t>
            </a:r>
          </a:p>
          <a:p xmlns:a="http://schemas.openxmlformats.org/drawingml/2006/main">
            <a:r>
              <a:t>CML3113, Week 3, slide 35</a:t>
            </a:r>
          </a:p>
          <a:p xmlns:a="http://schemas.openxmlformats.org/drawingml/2006/main">
            <a:r>
              <a:t/>
            </a:r>
          </a:p>
          <a:p xmlns:a="http://schemas.openxmlformats.org/drawingml/2006/main">
            <a:r>
              <a:t>Explanation to give</a:t>
            </a:r>
          </a:p>
          <a:p xmlns:a="http://schemas.openxmlformats.org/drawingml/2006/main">
            <a:r>
              <a:t>A comparison produces a Boolean value, True or False. Read the whole comparison aloud, including whether the threshold itself counts. Explain equality and inequality before introducing a branch.</a:t>
            </a:r>
          </a:p>
          <a:p xmlns:a="http://schemas.openxmlformats.org/drawingml/2006/main">
            <a:r>
              <a:t/>
            </a:r>
          </a:p>
          <a:p xmlns:a="http://schemas.openxmlformats.org/drawingml/2006/main">
            <a:r>
              <a:t>Worked illustration / lecturer answer</a:t>
            </a:r>
          </a:p>
          <a:p xmlns:a="http://schemas.openxmlformats.org/drawingml/2006/main">
            <a:r>
              <a:t>With reading = 30, reading &gt; 30 is False while reading &gt;= 30 is True. reading == 30 is True and reading != 30 is False.</a:t>
            </a:r>
          </a:p>
          <a:p xmlns:a="http://schemas.openxmlformats.org/drawingml/2006/main">
            <a:r>
              <a:t/>
            </a:r>
          </a:p>
          <a:p xmlns:a="http://schemas.openxmlformats.org/drawingml/2006/main">
            <a:r>
              <a:t>Misconception to address</a:t>
            </a:r>
          </a:p>
          <a:p xmlns:a="http://schemas.openxmlformats.org/drawingml/2006/main">
            <a:r>
              <a:t>The boundary is a deliberate choice. Test below, exactly at and above it. "False" in quotes is text, not the Boolean False.</a:t>
            </a:r>
          </a:p>
          <a:p xmlns:a="http://schemas.openxmlformats.org/drawingml/2006/main">
            <a:r>
              <a:t/>
            </a:r>
          </a:p>
          <a:p xmlns:a="http://schemas.openxmlformats.org/drawingml/2006/main">
            <a:r>
              <a:t>Read the displayed code line by line</a:t>
            </a:r>
          </a:p>
          <a:p xmlns:a="http://schemas.openxmlformats.org/drawingml/2006/main">
            <a:r>
              <a:t>reading = 30</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print(reading == 30)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print(reading != 30)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print(reading &gt; 30)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print(reading &gt;= 30)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print(reading &lt; 30)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print(reading &lt;= 30)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True; False; False; True; False; True</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 condition and an if block</a:t>
            </a:r>
          </a:p>
          <a:p xmlns:a="http://schemas.openxmlformats.org/drawingml/2006/main">
            <a:r>
              <a:t/>
            </a:r>
          </a:p>
          <a:p xmlns:a="http://schemas.openxmlformats.org/drawingml/2006/main">
            <a:r>
              <a:t>Result from the supplied example</a:t>
            </a:r>
          </a:p>
          <a:p xmlns:a="http://schemas.openxmlformats.org/drawingml/2006/main">
            <a:r>
              <a:t>True</a:t>
            </a:r>
          </a:p>
          <a:p xmlns:a="http://schemas.openxmlformats.org/drawingml/2006/main">
            <a:r>
              <a:t>False</a:t>
            </a:r>
          </a:p>
          <a:p xmlns:a="http://schemas.openxmlformats.org/drawingml/2006/main">
            <a:r>
              <a:t>False</a:t>
            </a:r>
          </a:p>
          <a:p xmlns:a="http://schemas.openxmlformats.org/drawingml/2006/main">
            <a:r>
              <a:t>True</a:t>
            </a:r>
          </a:p>
          <a:p xmlns:a="http://schemas.openxmlformats.org/drawingml/2006/main">
            <a:r>
              <a:t>False</a:t>
            </a:r>
          </a:p>
          <a:p xmlns:a="http://schemas.openxmlformats.org/drawingml/2006/main">
            <a:r>
              <a:t>True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condition and an if block</a:t>
            </a:r>
          </a:p>
          <a:p xmlns:a="http://schemas.openxmlformats.org/drawingml/2006/main">
            <a:r>
              <a:t>CML3113, Week 3, slide 36</a:t>
            </a:r>
          </a:p>
          <a:p xmlns:a="http://schemas.openxmlformats.org/drawingml/2006/main">
            <a:r>
              <a:t/>
            </a:r>
          </a:p>
          <a:p xmlns:a="http://schemas.openxmlformats.org/drawingml/2006/main">
            <a:r>
              <a:t>Explanation to give</a:t>
            </a:r>
          </a:p>
          <a:p xmlns:a="http://schemas.openxmlformats.org/drawingml/2006/main">
            <a:r>
              <a:t>Explain an if block as a gate. Python evaluates the condition once when it reaches the header. If True, it executes the indented statements; otherwise it skips them. The colon introduces the block.</a:t>
            </a:r>
          </a:p>
          <a:p xmlns:a="http://schemas.openxmlformats.org/drawingml/2006/main">
            <a:r>
              <a:t/>
            </a:r>
          </a:p>
          <a:p xmlns:a="http://schemas.openxmlformats.org/drawingml/2006/main">
            <a:r>
              <a:t>Worked illustration / lecturer answer</a:t>
            </a:r>
          </a:p>
          <a:p xmlns:a="http://schemas.openxmlformats.org/drawingml/2006/main">
            <a:r>
              <a:t>For reading = 28 and a condition reading &gt;= 30, the “warm” line is skipped. The unindented “check finished” line still runs. At 30, both lines run.</a:t>
            </a:r>
          </a:p>
          <a:p xmlns:a="http://schemas.openxmlformats.org/drawingml/2006/main">
            <a:r>
              <a:t/>
            </a:r>
          </a:p>
          <a:p xmlns:a="http://schemas.openxmlformats.org/drawingml/2006/main">
            <a:r>
              <a:t>Misconception to address</a:t>
            </a:r>
          </a:p>
          <a:p xmlns:a="http://schemas.openxmlformats.org/drawingml/2006/main">
            <a:r>
              <a:t>Indentation is part of the program, not decoration. Moving the last print four spaces right changes which path can execute it.</a:t>
            </a:r>
          </a:p>
          <a:p xmlns:a="http://schemas.openxmlformats.org/drawingml/2006/main">
            <a:r>
              <a:t/>
            </a:r>
          </a:p>
          <a:p xmlns:a="http://schemas.openxmlformats.org/drawingml/2006/main">
            <a:r>
              <a:t>On this slide</a:t>
            </a:r>
          </a:p>
          <a:p xmlns:a="http://schemas.openxmlformats.org/drawingml/2006/main">
            <a:r>
              <a:t>A condition is the question tested by an if statement. if reading &gt;= 30: checks whether reading is at least 30.</a:t>
            </a:r>
          </a:p>
          <a:p xmlns:a="http://schemas.openxmlformats.org/drawingml/2006/main">
            <a:r>
              <a:t/>
            </a:r>
          </a:p>
          <a:p xmlns:a="http://schemas.openxmlformats.org/drawingml/2006/main">
            <a:r>
              <a:t>The colon ends the header. The next line starts with four spaces; those spaces place it inside the block controlled by if.</a:t>
            </a:r>
          </a:p>
          <a:p xmlns:a="http://schemas.openxmlformats.org/drawingml/2006/main">
            <a:r>
              <a:t/>
            </a:r>
          </a:p>
          <a:p xmlns:a="http://schemas.openxmlformats.org/drawingml/2006/main">
            <a:r>
              <a:t>If the condition is True, run the block. If it is False, skip it. The next line without those four spaces is outside the block and runs afterwards.</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An if statement without else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if statement without else</a:t>
            </a:r>
          </a:p>
          <a:p xmlns:a="http://schemas.openxmlformats.org/drawingml/2006/main">
            <a:r>
              <a:t>CML3113, Week 3, slide 37</a:t>
            </a:r>
          </a:p>
          <a:p xmlns:a="http://schemas.openxmlformats.org/drawingml/2006/main">
            <a:r>
              <a:t/>
            </a:r>
          </a:p>
          <a:p xmlns:a="http://schemas.openxmlformats.org/drawingml/2006/main">
            <a:r>
              <a:t>Explanation to give</a:t>
            </a:r>
          </a:p>
          <a:p xmlns:a="http://schemas.openxmlformats.org/drawingml/2006/main">
            <a:r>
              <a:t>Explain an if block as a gate. Python evaluates the condition once when it reaches the header. If True, it executes the indented statements; otherwise it skips them. The colon introduces the block.</a:t>
            </a:r>
          </a:p>
          <a:p xmlns:a="http://schemas.openxmlformats.org/drawingml/2006/main">
            <a:r>
              <a:t/>
            </a:r>
          </a:p>
          <a:p xmlns:a="http://schemas.openxmlformats.org/drawingml/2006/main">
            <a:r>
              <a:t>Worked illustration / lecturer answer</a:t>
            </a:r>
          </a:p>
          <a:p xmlns:a="http://schemas.openxmlformats.org/drawingml/2006/main">
            <a:r>
              <a:t>For reading = 28 and a condition reading &gt;= 30, the “warm” line is skipped. The unindented “check finished” line still runs. At 30, both lines run.</a:t>
            </a:r>
          </a:p>
          <a:p xmlns:a="http://schemas.openxmlformats.org/drawingml/2006/main">
            <a:r>
              <a:t/>
            </a:r>
          </a:p>
          <a:p xmlns:a="http://schemas.openxmlformats.org/drawingml/2006/main">
            <a:r>
              <a:t>Misconception to address</a:t>
            </a:r>
          </a:p>
          <a:p xmlns:a="http://schemas.openxmlformats.org/drawingml/2006/main">
            <a:r>
              <a:t>Indentation is part of the program, not decoration. Moving the last print four spaces right changes which path can execute it.</a:t>
            </a:r>
          </a:p>
          <a:p xmlns:a="http://schemas.openxmlformats.org/drawingml/2006/main">
            <a:r>
              <a:t/>
            </a:r>
          </a:p>
          <a:p xmlns:a="http://schemas.openxmlformats.org/drawingml/2006/main">
            <a:r>
              <a:t>Read the displayed code line by line</a:t>
            </a:r>
          </a:p>
          <a:p xmlns:a="http://schemas.openxmlformats.org/drawingml/2006/main">
            <a:r>
              <a:t>reading = 28</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if reading &gt;= 30:</a:t>
            </a:r>
          </a:p>
          <a:p xmlns:a="http://schemas.openxmlformats.org/drawingml/2006/main">
            <a:r>
              <a:t>Evaluate this yes/no condition. Execute its indented body only on the matching path.</a:t>
            </a:r>
          </a:p>
          <a:p xmlns:a="http://schemas.openxmlformats.org/drawingml/2006/main">
            <a:r>
              <a:t/>
            </a:r>
          </a:p>
          <a:p xmlns:a="http://schemas.openxmlformats.org/drawingml/2006/main">
            <a:r>
              <a:t>print("warm")</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print("check finished")</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check finished</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Trace both paths through if</a:t>
            </a:r>
          </a:p>
          <a:p xmlns:a="http://schemas.openxmlformats.org/drawingml/2006/main">
            <a:r>
              <a:t/>
            </a:r>
          </a:p>
          <a:p xmlns:a="http://schemas.openxmlformats.org/drawingml/2006/main">
            <a:r>
              <a:t>Result from the supplied example</a:t>
            </a:r>
          </a:p>
          <a:p xmlns:a="http://schemas.openxmlformats.org/drawingml/2006/main">
            <a:r>
              <a:t>check finished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both paths through if</a:t>
            </a:r>
          </a:p>
          <a:p xmlns:a="http://schemas.openxmlformats.org/drawingml/2006/main">
            <a:r>
              <a:t>CML3113, Week 3, slide 38</a:t>
            </a:r>
          </a:p>
          <a:p xmlns:a="http://schemas.openxmlformats.org/drawingml/2006/main">
            <a:r>
              <a:t/>
            </a:r>
          </a:p>
          <a:p xmlns:a="http://schemas.openxmlformats.org/drawingml/2006/main">
            <a:r>
              <a:t>Explanation to give</a:t>
            </a:r>
          </a:p>
          <a:p xmlns:a="http://schemas.openxmlformats.org/drawingml/2006/main">
            <a:r>
              <a:t>Explain an if block as a gate. Python evaluates the condition once when it reaches the header. If True, it executes the indented statements; otherwise it skips them. The colon introduces the block.</a:t>
            </a:r>
          </a:p>
          <a:p xmlns:a="http://schemas.openxmlformats.org/drawingml/2006/main">
            <a:r>
              <a:t/>
            </a:r>
          </a:p>
          <a:p xmlns:a="http://schemas.openxmlformats.org/drawingml/2006/main">
            <a:r>
              <a:t>Worked illustration / lecturer answer</a:t>
            </a:r>
          </a:p>
          <a:p xmlns:a="http://schemas.openxmlformats.org/drawingml/2006/main">
            <a:r>
              <a:t>For reading = 28 and a condition reading &gt;= 30, the “warm” line is skipped. The unindented “check finished” line still runs. At 30, both lines run.</a:t>
            </a:r>
          </a:p>
          <a:p xmlns:a="http://schemas.openxmlformats.org/drawingml/2006/main">
            <a:r>
              <a:t/>
            </a:r>
          </a:p>
          <a:p xmlns:a="http://schemas.openxmlformats.org/drawingml/2006/main">
            <a:r>
              <a:t>Misconception to address</a:t>
            </a:r>
          </a:p>
          <a:p xmlns:a="http://schemas.openxmlformats.org/drawingml/2006/main">
            <a:r>
              <a:t>Indentation is part of the program, not decoration. Moving the last print four spaces right changes which path can execute it.</a:t>
            </a:r>
          </a:p>
          <a:p xmlns:a="http://schemas.openxmlformats.org/drawingml/2006/main">
            <a:r>
              <a:t/>
            </a:r>
          </a:p>
          <a:p xmlns:a="http://schemas.openxmlformats.org/drawingml/2006/main">
            <a:r>
              <a:t>On this slide</a:t>
            </a:r>
          </a:p>
          <a:p xmlns:a="http://schemas.openxmlformats.org/drawingml/2006/main">
            <a:r>
              <a:t>Value of reading | reading &gt;= 30 | Displayed lines</a:t>
            </a:r>
          </a:p>
          <a:p xmlns:a="http://schemas.openxmlformats.org/drawingml/2006/main">
            <a:r>
              <a:t>28 | False | check finished</a:t>
            </a:r>
          </a:p>
          <a:p xmlns:a="http://schemas.openxmlformats.org/drawingml/2006/main">
            <a:r>
              <a:t>30 | True | warm; check finished</a:t>
            </a:r>
          </a:p>
          <a:p xmlns:a="http://schemas.openxmlformats.org/drawingml/2006/main">
            <a:r>
              <a:t>31 | True | warm; check finished</a:t>
            </a:r>
          </a:p>
          <a:p xmlns:a="http://schemas.openxmlformats.org/drawingml/2006/main">
            <a:r>
              <a:t>Only the indented line is conditional. The outside line runs on either path.</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else gives the other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else gives the other path</a:t>
            </a:r>
          </a:p>
          <a:p xmlns:a="http://schemas.openxmlformats.org/drawingml/2006/main">
            <a:r>
              <a:t>CML3113, Week 3, slide 39</a:t>
            </a:r>
          </a:p>
          <a:p xmlns:a="http://schemas.openxmlformats.org/drawingml/2006/main">
            <a:r>
              <a:t/>
            </a:r>
          </a:p>
          <a:p xmlns:a="http://schemas.openxmlformats.org/drawingml/2006/main">
            <a:r>
              <a:t>Explanation to give</a:t>
            </a:r>
          </a:p>
          <a:p xmlns:a="http://schemas.openxmlformats.org/drawingml/2006/main">
            <a:r>
              <a:t>else is the alternative to the matching if. It has no new test. The two headers align vertically and their bodies sit one indentation level farther right.</a:t>
            </a:r>
          </a:p>
          <a:p xmlns:a="http://schemas.openxmlformats.org/drawingml/2006/main">
            <a:r>
              <a:t/>
            </a:r>
          </a:p>
          <a:p xmlns:a="http://schemas.openxmlformats.org/drawingml/2006/main">
            <a:r>
              <a:t>Worked illustration / lecturer answer</a:t>
            </a:r>
          </a:p>
          <a:p xmlns:a="http://schemas.openxmlformats.org/drawingml/2006/main">
            <a:r>
              <a:t>At temperature 28, the displayed example prints “below 30”. At 30 it prints “warm”. Exactly one branch runs in this if/else decision.</a:t>
            </a:r>
          </a:p>
          <a:p xmlns:a="http://schemas.openxmlformats.org/drawingml/2006/main">
            <a:r>
              <a:t/>
            </a:r>
          </a:p>
          <a:p xmlns:a="http://schemas.openxmlformats.org/drawingml/2006/main">
            <a:r>
              <a:t>Misconception to address</a:t>
            </a:r>
          </a:p>
          <a:p xmlns:a="http://schemas.openxmlformats.org/drawingml/2006/main">
            <a:r>
              <a:t>else is not an independent statement and cannot stand alone. Explain where the block ends before continuing to the next line.</a:t>
            </a:r>
          </a:p>
          <a:p xmlns:a="http://schemas.openxmlformats.org/drawingml/2006/main">
            <a:r>
              <a:t/>
            </a:r>
          </a:p>
          <a:p xmlns:a="http://schemas.openxmlformats.org/drawingml/2006/main">
            <a:r>
              <a:t>On this slide</a:t>
            </a:r>
          </a:p>
          <a:p xmlns:a="http://schemas.openxmlformats.org/drawingml/2006/main">
            <a:r>
              <a:t>else means “otherwise”. It has a colon but no extra condition. Align else with its matching if.</a:t>
            </a:r>
          </a:p>
          <a:p xmlns:a="http://schemas.openxmlformats.org/drawingml/2006/main">
            <a:r>
              <a:t/>
            </a:r>
          </a:p>
          <a:p xmlns:a="http://schemas.openxmlformats.org/drawingml/2006/main">
            <a:r>
              <a:t>The if block runs when its condition is True. The else block runs when that same condition is False. Only one of these blocks runs.</a:t>
            </a:r>
          </a:p>
          <a:p xmlns:a="http://schemas.openxmlformats.org/drawingml/2006/main">
            <a:r>
              <a:t/>
            </a:r>
          </a:p>
          <a:p xmlns:a="http://schemas.openxmlformats.org/drawingml/2006/main">
            <a:r>
              <a:t>Both branch bodies are indented by four spaces. Returning to the left margin ends the whole decision.</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 decision needs a colon and indentation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needs a colon and indentation</a:t>
            </a:r>
          </a:p>
          <a:p xmlns:a="http://schemas.openxmlformats.org/drawingml/2006/main">
            <a:r>
              <a:t>CML3113, Week 3, slide 40</a:t>
            </a:r>
          </a:p>
          <a:p xmlns:a="http://schemas.openxmlformats.org/drawingml/2006/main">
            <a:r>
              <a:t/>
            </a:r>
          </a:p>
          <a:p xmlns:a="http://schemas.openxmlformats.org/drawingml/2006/main">
            <a:r>
              <a:t>Explanation to give</a:t>
            </a:r>
          </a:p>
          <a:p xmlns:a="http://schemas.openxmlformats.org/drawingml/2006/main">
            <a:r>
              <a:t>else is the alternative to the matching if. It has no new test. The two headers align vertically and their bodies sit one indentation level farther right.</a:t>
            </a:r>
          </a:p>
          <a:p xmlns:a="http://schemas.openxmlformats.org/drawingml/2006/main">
            <a:r>
              <a:t/>
            </a:r>
          </a:p>
          <a:p xmlns:a="http://schemas.openxmlformats.org/drawingml/2006/main">
            <a:r>
              <a:t>Worked illustration / lecturer answer</a:t>
            </a:r>
          </a:p>
          <a:p xmlns:a="http://schemas.openxmlformats.org/drawingml/2006/main">
            <a:r>
              <a:t>At temperature 28, the displayed example prints “below 30”. At 30 it prints “warm”. Exactly one branch runs in this if/else decision.</a:t>
            </a:r>
          </a:p>
          <a:p xmlns:a="http://schemas.openxmlformats.org/drawingml/2006/main">
            <a:r>
              <a:t/>
            </a:r>
          </a:p>
          <a:p xmlns:a="http://schemas.openxmlformats.org/drawingml/2006/main">
            <a:r>
              <a:t>Misconception to address</a:t>
            </a:r>
          </a:p>
          <a:p xmlns:a="http://schemas.openxmlformats.org/drawingml/2006/main">
            <a:r>
              <a:t>else is not an independent statement and cannot stand alone. Explain where the block ends before continuing to the next line.</a:t>
            </a:r>
          </a:p>
          <a:p xmlns:a="http://schemas.openxmlformats.org/drawingml/2006/main">
            <a:r>
              <a:t/>
            </a:r>
          </a:p>
          <a:p xmlns:a="http://schemas.openxmlformats.org/drawingml/2006/main">
            <a:r>
              <a:t>Read the displayed code line by line</a:t>
            </a:r>
          </a:p>
          <a:p xmlns:a="http://schemas.openxmlformats.org/drawingml/2006/main">
            <a:r>
              <a:t>temperature = 28</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if temperature &gt;= 30:</a:t>
            </a:r>
          </a:p>
          <a:p xmlns:a="http://schemas.openxmlformats.org/drawingml/2006/main">
            <a:r>
              <a:t>Evaluate this yes/no condition. Execute its indented body only on the matching path.</a:t>
            </a:r>
          </a:p>
          <a:p xmlns:a="http://schemas.openxmlformats.org/drawingml/2006/main">
            <a:r>
              <a:t/>
            </a:r>
          </a:p>
          <a:p xmlns:a="http://schemas.openxmlformats.org/drawingml/2006/main">
            <a:r>
              <a:t>print("warm")</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else:</a:t>
            </a:r>
          </a:p>
          <a:p xmlns:a="http://schemas.openxmlformats.org/drawingml/2006/main">
            <a:r>
              <a:t>Use this remaining path when the matching earlier condition did not succeed.</a:t>
            </a:r>
          </a:p>
          <a:p xmlns:a="http://schemas.openxmlformats.org/drawingml/2006/main">
            <a:r>
              <a:t/>
            </a:r>
          </a:p>
          <a:p xmlns:a="http://schemas.openxmlformats.org/drawingml/2006/main">
            <a:r>
              <a:t>print("below 30")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&gt;= compares values. Only the chosen indented block runs.</a:t>
            </a:r>
          </a:p>
          <a:p xmlns:a="http://schemas.openxmlformats.org/drawingml/2006/main">
            <a:r>
              <a:t/>
            </a:r>
          </a:p>
          <a:p xmlns:a="http://schemas.openxmlformats.org/drawingml/2006/main">
            <a:r>
              <a:t>Continue to</a:t>
            </a:r>
          </a:p>
          <a:p xmlns:a="http://schemas.openxmlformats.org/drawingml/2006/main">
            <a:r>
              <a:t>Trace both paths through if else</a:t>
            </a:r>
          </a:p>
          <a:p xmlns:a="http://schemas.openxmlformats.org/drawingml/2006/main">
            <a:r>
              <a:t/>
            </a:r>
          </a:p>
          <a:p xmlns:a="http://schemas.openxmlformats.org/drawingml/2006/main">
            <a:r>
              <a:t>Result from the supplied example</a:t>
            </a:r>
          </a:p>
          <a:p xmlns:a="http://schemas.openxmlformats.org/drawingml/2006/main">
            <a:r>
              <a:t>below 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both paths through if else</a:t>
            </a:r>
          </a:p>
          <a:p xmlns:a="http://schemas.openxmlformats.org/drawingml/2006/main">
            <a:r>
              <a:t>CML3113, Week 3, slide 41</a:t>
            </a:r>
          </a:p>
          <a:p xmlns:a="http://schemas.openxmlformats.org/drawingml/2006/main">
            <a:r>
              <a:t/>
            </a:r>
          </a:p>
          <a:p xmlns:a="http://schemas.openxmlformats.org/drawingml/2006/main">
            <a:r>
              <a:t>Explanation to give</a:t>
            </a:r>
          </a:p>
          <a:p xmlns:a="http://schemas.openxmlformats.org/drawingml/2006/main">
            <a:r>
              <a:t>else is the alternative to the matching if. It has no new test. The two headers align vertically and their bodies sit one indentation level farther right.</a:t>
            </a:r>
          </a:p>
          <a:p xmlns:a="http://schemas.openxmlformats.org/drawingml/2006/main">
            <a:r>
              <a:t/>
            </a:r>
          </a:p>
          <a:p xmlns:a="http://schemas.openxmlformats.org/drawingml/2006/main">
            <a:r>
              <a:t>Worked illustration / lecturer answer</a:t>
            </a:r>
          </a:p>
          <a:p xmlns:a="http://schemas.openxmlformats.org/drawingml/2006/main">
            <a:r>
              <a:t>At temperature 28, the displayed example prints “below 30”. At 30 it prints “warm”. Exactly one branch runs in this if/else decision.</a:t>
            </a:r>
          </a:p>
          <a:p xmlns:a="http://schemas.openxmlformats.org/drawingml/2006/main">
            <a:r>
              <a:t/>
            </a:r>
          </a:p>
          <a:p xmlns:a="http://schemas.openxmlformats.org/drawingml/2006/main">
            <a:r>
              <a:t>Misconception to address</a:t>
            </a:r>
          </a:p>
          <a:p xmlns:a="http://schemas.openxmlformats.org/drawingml/2006/main">
            <a:r>
              <a:t>else is not an independent statement and cannot stand alone. Explain where the block ends before continuing to the next line.</a:t>
            </a:r>
          </a:p>
          <a:p xmlns:a="http://schemas.openxmlformats.org/drawingml/2006/main">
            <a:r>
              <a:t/>
            </a:r>
          </a:p>
          <a:p xmlns:a="http://schemas.openxmlformats.org/drawingml/2006/main">
            <a:r>
              <a:t>On this slide</a:t>
            </a:r>
          </a:p>
          <a:p xmlns:a="http://schemas.openxmlformats.org/drawingml/2006/main">
            <a:r>
              <a:t>temperature | temperature &gt;= 30 | Selected output</a:t>
            </a:r>
          </a:p>
          <a:p xmlns:a="http://schemas.openxmlformats.org/drawingml/2006/main">
            <a:r>
              <a:t>28 | False | below 30</a:t>
            </a:r>
          </a:p>
          <a:p xmlns:a="http://schemas.openxmlformats.org/drawingml/2006/main">
            <a:r>
              <a:t>30 | True | warm</a:t>
            </a:r>
          </a:p>
          <a:p xmlns:a="http://schemas.openxmlformats.org/drawingml/2006/main">
            <a:r>
              <a:t>31 | True | warm</a:t>
            </a:r>
          </a:p>
          <a:p xmlns:a="http://schemas.openxmlformats.org/drawingml/2006/main">
            <a:r>
              <a:t>Re-run the complete previous example for each value. Exactly one branch prints.</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More than two branches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More than two branches</a:t>
            </a:r>
          </a:p>
          <a:p xmlns:a="http://schemas.openxmlformats.org/drawingml/2006/main">
            <a:r>
              <a:t>CML3113, Week 3, slide 42</a:t>
            </a:r>
          </a:p>
          <a:p xmlns:a="http://schemas.openxmlformats.org/drawingml/2006/main">
            <a:r>
              <a:t/>
            </a:r>
          </a:p>
          <a:p xmlns:a="http://schemas.openxmlformats.org/drawingml/2006/main">
            <a:r>
              <a:t>Explanation to give</a:t>
            </a:r>
          </a:p>
          <a:p xmlns:a="http://schemas.openxmlformats.org/drawingml/2006/main">
            <a:r>
              <a:t>Read an if/elif/else chain from top to bottom. Stop checking the chain as soon as a condition matches. elif means “otherwise, test this next condition”.</a:t>
            </a:r>
          </a:p>
          <a:p xmlns:a="http://schemas.openxmlformats.org/drawingml/2006/main">
            <a:r>
              <a:t/>
            </a:r>
          </a:p>
          <a:p xmlns:a="http://schemas.openxmlformats.org/drawingml/2006/main">
            <a:r>
              <a:t>Worked illustration / lecturer answer</a:t>
            </a:r>
          </a:p>
          <a:p xmlns:a="http://schemas.openxmlformats.org/drawingml/2006/main">
            <a:r>
              <a:t>In the displayed level example, 7 fails &gt;= 10, passes &gt;= 5 and prints medium. A level of 10 prints high immediately. A level of 3 reaches low.</a:t>
            </a:r>
          </a:p>
          <a:p xmlns:a="http://schemas.openxmlformats.org/drawingml/2006/main">
            <a:r>
              <a:t/>
            </a:r>
          </a:p>
          <a:p xmlns:a="http://schemas.openxmlformats.org/drawingml/2006/main">
            <a:r>
              <a:t>Misconception to address</a:t>
            </a:r>
          </a:p>
          <a:p xmlns:a="http://schemas.openxmlformats.org/drawingml/2006/main">
            <a:r>
              <a:t>Putting &gt;= 5 before &gt;= 10 would classify 12 as medium. Two separate if statements can both run, unlike this single chain.</a:t>
            </a:r>
          </a:p>
          <a:p xmlns:a="http://schemas.openxmlformats.org/drawingml/2006/main">
            <a:r>
              <a:t/>
            </a:r>
          </a:p>
          <a:p xmlns:a="http://schemas.openxmlformats.org/drawingml/2006/main">
            <a:r>
              <a:t>On this slide</a:t>
            </a:r>
          </a:p>
          <a:p xmlns:a="http://schemas.openxmlformats.org/drawingml/2006/main">
            <a:r>
              <a:t>if tests the first condition. elif means “otherwise, if” and tests another condition only if the earlier one was false. else handles the remaining case.</a:t>
            </a:r>
          </a:p>
          <a:p xmlns:a="http://schemas.openxmlformats.org/drawingml/2006/main">
            <a:r>
              <a:t/>
            </a:r>
          </a:p>
          <a:p xmlns:a="http://schemas.openxmlformats.org/drawingml/2006/main">
            <a:r>
              <a:t>Python runs only the first matching branch. Put a narrower condition before a broader one that would also match. A colon and indentation mark each body.</a:t>
            </a:r>
          </a:p>
          <a:p xmlns:a="http://schemas.openxmlformats.org/drawingml/2006/main">
            <a:r>
              <a:t/>
            </a:r>
          </a:p>
          <a:p xmlns:a="http://schemas.openxmlformats.org/drawingml/2006/main">
            <a:r>
              <a:t>Continue to</a:t>
            </a:r>
          </a:p>
          <a:p xmlns:a="http://schemas.openxmlformats.org/drawingml/2006/main">
            <a:r>
              <a:t>Tracing an if elif else chain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Tracing an if elif else chain</a:t>
            </a:r>
          </a:p>
          <a:p xmlns:a="http://schemas.openxmlformats.org/drawingml/2006/main">
            <a:r>
              <a:t>CML3113, Week 3, slide 43</a:t>
            </a:r>
          </a:p>
          <a:p xmlns:a="http://schemas.openxmlformats.org/drawingml/2006/main">
            <a:r>
              <a:t/>
            </a:r>
          </a:p>
          <a:p xmlns:a="http://schemas.openxmlformats.org/drawingml/2006/main">
            <a:r>
              <a:t>Explanation to give</a:t>
            </a:r>
          </a:p>
          <a:p xmlns:a="http://schemas.openxmlformats.org/drawingml/2006/main">
            <a:r>
              <a:t>Read an if/elif/else chain from top to bottom. Stop checking the chain as soon as a condition matches. elif means “otherwise, test this next condition”.</a:t>
            </a:r>
          </a:p>
          <a:p xmlns:a="http://schemas.openxmlformats.org/drawingml/2006/main">
            <a:r>
              <a:t/>
            </a:r>
          </a:p>
          <a:p xmlns:a="http://schemas.openxmlformats.org/drawingml/2006/main">
            <a:r>
              <a:t>Worked illustration / lecturer answer</a:t>
            </a:r>
          </a:p>
          <a:p xmlns:a="http://schemas.openxmlformats.org/drawingml/2006/main">
            <a:r>
              <a:t>In the displayed level example, 7 fails &gt;= 10, passes &gt;= 5 and prints medium. A level of 10 prints high immediately. A level of 3 reaches low.</a:t>
            </a:r>
          </a:p>
          <a:p xmlns:a="http://schemas.openxmlformats.org/drawingml/2006/main">
            <a:r>
              <a:t/>
            </a:r>
          </a:p>
          <a:p xmlns:a="http://schemas.openxmlformats.org/drawingml/2006/main">
            <a:r>
              <a:t>Misconception to address</a:t>
            </a:r>
          </a:p>
          <a:p xmlns:a="http://schemas.openxmlformats.org/drawingml/2006/main">
            <a:r>
              <a:t>Putting &gt;= 5 before &gt;= 10 would classify 12 as medium. Two separate if statements can both run, unlike this single chain.</a:t>
            </a:r>
          </a:p>
          <a:p xmlns:a="http://schemas.openxmlformats.org/drawingml/2006/main">
            <a:r>
              <a:t/>
            </a:r>
          </a:p>
          <a:p xmlns:a="http://schemas.openxmlformats.org/drawingml/2006/main">
            <a:r>
              <a:t>Read the displayed code line by line</a:t>
            </a:r>
          </a:p>
          <a:p xmlns:a="http://schemas.openxmlformats.org/drawingml/2006/main">
            <a:r>
              <a:t>level = 7</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if level &gt;= 10:</a:t>
            </a:r>
          </a:p>
          <a:p xmlns:a="http://schemas.openxmlformats.org/drawingml/2006/main">
            <a:r>
              <a:t>Evaluate this yes/no condition. Execute its indented body only on the matching path.</a:t>
            </a:r>
          </a:p>
          <a:p xmlns:a="http://schemas.openxmlformats.org/drawingml/2006/main">
            <a:r>
              <a:t/>
            </a:r>
          </a:p>
          <a:p xmlns:a="http://schemas.openxmlformats.org/drawingml/2006/main">
            <a:r>
              <a:t>print("high")</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elif level &gt;= 5:</a:t>
            </a:r>
          </a:p>
          <a:p xmlns:a="http://schemas.openxmlformats.org/drawingml/2006/main">
            <a:r>
              <a:t>Evaluate this yes/no condition. Execute its indented body only on the matching path.</a:t>
            </a:r>
          </a:p>
          <a:p xmlns:a="http://schemas.openxmlformats.org/drawingml/2006/main">
            <a:r>
              <a:t/>
            </a:r>
          </a:p>
          <a:p xmlns:a="http://schemas.openxmlformats.org/drawingml/2006/main">
            <a:r>
              <a:t>print("medium")</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else:</a:t>
            </a:r>
          </a:p>
          <a:p xmlns:a="http://schemas.openxmlformats.org/drawingml/2006/main">
            <a:r>
              <a:t>Use this remaining path when the matching earlier condition did not succeed.</a:t>
            </a:r>
          </a:p>
          <a:p xmlns:a="http://schemas.openxmlformats.org/drawingml/2006/main">
            <a:r>
              <a:t/>
            </a:r>
          </a:p>
          <a:p xmlns:a="http://schemas.openxmlformats.org/drawingml/2006/main">
            <a:r>
              <a:t>print("low")</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medium. The first condition is false; the second is true.</a:t>
            </a:r>
          </a:p>
          <a:p xmlns:a="http://schemas.openxmlformats.org/drawingml/2006/main">
            <a:r>
              <a:t/>
            </a:r>
          </a:p>
          <a:p xmlns:a="http://schemas.openxmlformats.org/drawingml/2006/main">
            <a:r>
              <a:t>Continue to</a:t>
            </a:r>
          </a:p>
          <a:p xmlns:a="http://schemas.openxmlformats.org/drawingml/2006/main">
            <a:r>
              <a:t>Trace the if elif else chain</a:t>
            </a:r>
          </a:p>
          <a:p xmlns:a="http://schemas.openxmlformats.org/drawingml/2006/main">
            <a:r>
              <a:t/>
            </a:r>
          </a:p>
          <a:p xmlns:a="http://schemas.openxmlformats.org/drawingml/2006/main">
            <a:r>
              <a:t>Result from the supplied example</a:t>
            </a:r>
          </a:p>
          <a:p xmlns:a="http://schemas.openxmlformats.org/drawingml/2006/main">
            <a:r>
              <a:t>medium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if elif else chain</a:t>
            </a:r>
          </a:p>
          <a:p xmlns:a="http://schemas.openxmlformats.org/drawingml/2006/main">
            <a:r>
              <a:t>CML3113, Week 3, slide 44</a:t>
            </a:r>
          </a:p>
          <a:p xmlns:a="http://schemas.openxmlformats.org/drawingml/2006/main">
            <a:r>
              <a:t/>
            </a:r>
          </a:p>
          <a:p xmlns:a="http://schemas.openxmlformats.org/drawingml/2006/main">
            <a:r>
              <a:t>Explanation to give</a:t>
            </a:r>
          </a:p>
          <a:p xmlns:a="http://schemas.openxmlformats.org/drawingml/2006/main">
            <a:r>
              <a:t>Read an if/elif/else chain from top to bottom. Stop checking the chain as soon as a condition matches. elif means “otherwise, test this next condition”.</a:t>
            </a:r>
          </a:p>
          <a:p xmlns:a="http://schemas.openxmlformats.org/drawingml/2006/main">
            <a:r>
              <a:t/>
            </a:r>
          </a:p>
          <a:p xmlns:a="http://schemas.openxmlformats.org/drawingml/2006/main">
            <a:r>
              <a:t>Worked illustration / lecturer answer</a:t>
            </a:r>
          </a:p>
          <a:p xmlns:a="http://schemas.openxmlformats.org/drawingml/2006/main">
            <a:r>
              <a:t>In the displayed level example, 7 fails &gt;= 10, passes &gt;= 5 and prints medium. A level of 10 prints high immediately. A level of 3 reaches low.</a:t>
            </a:r>
          </a:p>
          <a:p xmlns:a="http://schemas.openxmlformats.org/drawingml/2006/main">
            <a:r>
              <a:t/>
            </a:r>
          </a:p>
          <a:p xmlns:a="http://schemas.openxmlformats.org/drawingml/2006/main">
            <a:r>
              <a:t>Misconception to address</a:t>
            </a:r>
          </a:p>
          <a:p xmlns:a="http://schemas.openxmlformats.org/drawingml/2006/main">
            <a:r>
              <a:t>Putting &gt;= 5 before &gt;= 10 would classify 12 as medium. Two separate if statements can both run, unlike this single chain.</a:t>
            </a:r>
          </a:p>
          <a:p xmlns:a="http://schemas.openxmlformats.org/drawingml/2006/main">
            <a:r>
              <a:t/>
            </a:r>
          </a:p>
          <a:p xmlns:a="http://schemas.openxmlformats.org/drawingml/2006/main">
            <a:r>
              <a:t>On this slide</a:t>
            </a:r>
          </a:p>
          <a:p xmlns:a="http://schemas.openxmlformats.org/drawingml/2006/main">
            <a:r>
              <a:t>level | Tests in order | Output</a:t>
            </a:r>
          </a:p>
          <a:p xmlns:a="http://schemas.openxmlformats.org/drawingml/2006/main">
            <a:r>
              <a:t>7 | 7 &gt;= 10: False; 7 &gt;= 5: True | medium</a:t>
            </a:r>
          </a:p>
          <a:p xmlns:a="http://schemas.openxmlformats.org/drawingml/2006/main">
            <a:r>
              <a:t>10 | 10 &gt;= 10: True; stop testing | high</a:t>
            </a:r>
          </a:p>
          <a:p xmlns:a="http://schemas.openxmlformats.org/drawingml/2006/main">
            <a:r>
              <a:t>3 | 3 &gt;= 10: False; 3 &gt;= 5: False | low</a:t>
            </a:r>
          </a:p>
          <a:p xmlns:a="http://schemas.openxmlformats.org/drawingml/2006/main">
            <a:r>
              <a:t>Python stops at the first True branch. else runs when neither test passes.</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Combining and reversing conditions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Combining and reversing conditions</a:t>
            </a:r>
          </a:p>
          <a:p xmlns:a="http://schemas.openxmlformats.org/drawingml/2006/main">
            <a:r>
              <a:t>CML3113, Week 3, slide 45</a:t>
            </a:r>
          </a:p>
          <a:p xmlns:a="http://schemas.openxmlformats.org/drawingml/2006/main">
            <a:r>
              <a:t/>
            </a:r>
          </a:p>
          <a:p xmlns:a="http://schemas.openxmlformats.org/drawingml/2006/main">
            <a:r>
              <a:t>Explanation to give</a:t>
            </a:r>
          </a:p>
          <a:p xmlns:a="http://schemas.openxmlformats.org/drawingml/2006/main">
            <a:r>
              <a:t>Evaluate each comparison before combining the resulting truth values. and needs both True, or needs at least one True, and not reverses a Boolean.</a:t>
            </a:r>
          </a:p>
          <a:p xmlns:a="http://schemas.openxmlformats.org/drawingml/2006/main">
            <a:r>
              <a:t/>
            </a:r>
          </a:p>
          <a:p xmlns:a="http://schemas.openxmlformats.org/drawingml/2006/main">
            <a:r>
              <a:t>Worked illustration / lecturer answer</a:t>
            </a:r>
          </a:p>
          <a:p xmlns:a="http://schemas.openxmlformats.org/drawingml/2006/main">
            <a:r>
              <a:t>For reading 25, (reading &gt;= 20) and (reading &lt;= 30) is True. Neither outside-range comparison is True, so (reading &lt; 20) or (reading &gt; 30) is False.</a:t>
            </a:r>
          </a:p>
          <a:p xmlns:a="http://schemas.openxmlformats.org/drawingml/2006/main">
            <a:r>
              <a:t/>
            </a:r>
          </a:p>
          <a:p xmlns:a="http://schemas.openxmlformats.org/drawingml/2006/main">
            <a:r>
              <a:t>Misconception to address</a:t>
            </a:r>
          </a:p>
          <a:p xmlns:a="http://schemas.openxmlformats.org/drawingml/2006/main">
            <a:r>
              <a:t>Saying “between” leaves boundary inclusion ambiguous. State whether 20 and 30 count, then test those values explicitly.</a:t>
            </a:r>
          </a:p>
          <a:p xmlns:a="http://schemas.openxmlformats.org/drawingml/2006/main">
            <a:r>
              <a:t/>
            </a:r>
          </a:p>
          <a:p xmlns:a="http://schemas.openxmlformats.org/drawingml/2006/main">
            <a:r>
              <a:t>On this slide</a:t>
            </a:r>
          </a:p>
          <a:p xmlns:a="http://schemas.openxmlformats.org/drawingml/2006/main">
            <a:r>
              <a:t>and asks for both conditions to be True. or asks for at least one to be True. not reverses a Boolean answer.</a:t>
            </a:r>
          </a:p>
          <a:p xmlns:a="http://schemas.openxmlformats.org/drawingml/2006/main">
            <a:r>
              <a:t/>
            </a:r>
          </a:p>
          <a:p xmlns:a="http://schemas.openxmlformats.org/drawingml/2006/main">
            <a:r>
              <a:t>Use parentheses to make each comparison readable: (reading &gt;= 20) and (reading &lt;= 30). This is an inclusive range check.</a:t>
            </a:r>
          </a:p>
          <a:p xmlns:a="http://schemas.openxmlformats.org/drawingml/2006/main">
            <a:r>
              <a:t/>
            </a:r>
          </a:p>
          <a:p xmlns:a="http://schemas.openxmlformats.org/drawingml/2006/main">
            <a:r>
              <a:t>For these lessons we combine comparisons, so their results are Boolean. Python also permits other operand types; those are not needed for the shown checks.</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and and or with Boolean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and and or with Boolean inputs</a:t>
            </a:r>
          </a:p>
          <a:p xmlns:a="http://schemas.openxmlformats.org/drawingml/2006/main">
            <a:r>
              <a:t>CML3113, Week 3, slide 46</a:t>
            </a:r>
          </a:p>
          <a:p xmlns:a="http://schemas.openxmlformats.org/drawingml/2006/main">
            <a:r>
              <a:t/>
            </a:r>
          </a:p>
          <a:p xmlns:a="http://schemas.openxmlformats.org/drawingml/2006/main">
            <a:r>
              <a:t>Explanation to give</a:t>
            </a:r>
          </a:p>
          <a:p xmlns:a="http://schemas.openxmlformats.org/drawingml/2006/main">
            <a:r>
              <a:t>Evaluate each comparison before combining the resulting truth values. and needs both True, or needs at least one True, and not reverses a Boolean.</a:t>
            </a:r>
          </a:p>
          <a:p xmlns:a="http://schemas.openxmlformats.org/drawingml/2006/main">
            <a:r>
              <a:t/>
            </a:r>
          </a:p>
          <a:p xmlns:a="http://schemas.openxmlformats.org/drawingml/2006/main">
            <a:r>
              <a:t>Worked illustration / lecturer answer</a:t>
            </a:r>
          </a:p>
          <a:p xmlns:a="http://schemas.openxmlformats.org/drawingml/2006/main">
            <a:r>
              <a:t>For reading 25, (reading &gt;= 20) and (reading &lt;= 30) is True. Neither outside-range comparison is True, so (reading &lt; 20) or (reading &gt; 30) is False.</a:t>
            </a:r>
          </a:p>
          <a:p xmlns:a="http://schemas.openxmlformats.org/drawingml/2006/main">
            <a:r>
              <a:t/>
            </a:r>
          </a:p>
          <a:p xmlns:a="http://schemas.openxmlformats.org/drawingml/2006/main">
            <a:r>
              <a:t>Misconception to address</a:t>
            </a:r>
          </a:p>
          <a:p xmlns:a="http://schemas.openxmlformats.org/drawingml/2006/main">
            <a:r>
              <a:t>Saying “between” leaves boundary inclusion ambiguous. State whether 20 and 30 count, then test those values explicitly.</a:t>
            </a:r>
          </a:p>
          <a:p xmlns:a="http://schemas.openxmlformats.org/drawingml/2006/main">
            <a:r>
              <a:t/>
            </a:r>
          </a:p>
          <a:p xmlns:a="http://schemas.openxmlformats.org/drawingml/2006/main">
            <a:r>
              <a:t>On this slide</a:t>
            </a:r>
          </a:p>
          <a:p xmlns:a="http://schemas.openxmlformats.org/drawingml/2006/main">
            <a:r>
              <a:t>Inputs | and result | or result</a:t>
            </a:r>
          </a:p>
          <a:p xmlns:a="http://schemas.openxmlformats.org/drawingml/2006/main">
            <a:r>
              <a:t>True, True | True | True</a:t>
            </a:r>
          </a:p>
          <a:p xmlns:a="http://schemas.openxmlformats.org/drawingml/2006/main">
            <a:r>
              <a:t>True, False | False | True</a:t>
            </a:r>
          </a:p>
          <a:p xmlns:a="http://schemas.openxmlformats.org/drawingml/2006/main">
            <a:r>
              <a:t>False, True | False | True</a:t>
            </a:r>
          </a:p>
          <a:p xmlns:a="http://schemas.openxmlformats.org/drawingml/2006/main">
            <a:r>
              <a:t>False, False | False | False</a:t>
            </a:r>
          </a:p>
          <a:p xmlns:a="http://schemas.openxmlformats.org/drawingml/2006/main">
            <a:r>
              <a:t>not True gives False; not False gives True.</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Check a permitted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 a permitted range</a:t>
            </a:r>
          </a:p>
          <a:p xmlns:a="http://schemas.openxmlformats.org/drawingml/2006/main">
            <a:r>
              <a:t>CML3113, Week 3, slide 47</a:t>
            </a:r>
          </a:p>
          <a:p xmlns:a="http://schemas.openxmlformats.org/drawingml/2006/main">
            <a:r>
              <a:t/>
            </a:r>
          </a:p>
          <a:p xmlns:a="http://schemas.openxmlformats.org/drawingml/2006/main">
            <a:r>
              <a:t>Explanation to give</a:t>
            </a:r>
          </a:p>
          <a:p xmlns:a="http://schemas.openxmlformats.org/drawingml/2006/main">
            <a:r>
              <a:t>Evaluate each comparison before combining the resulting truth values. and needs both True, or needs at least one True, and not reverses a Boolean.</a:t>
            </a:r>
          </a:p>
          <a:p xmlns:a="http://schemas.openxmlformats.org/drawingml/2006/main">
            <a:r>
              <a:t/>
            </a:r>
          </a:p>
          <a:p xmlns:a="http://schemas.openxmlformats.org/drawingml/2006/main">
            <a:r>
              <a:t>Worked illustration / lecturer answer</a:t>
            </a:r>
          </a:p>
          <a:p xmlns:a="http://schemas.openxmlformats.org/drawingml/2006/main">
            <a:r>
              <a:t>For reading 25, (reading &gt;= 20) and (reading &lt;= 30) is True. Neither outside-range comparison is True, so (reading &lt; 20) or (reading &gt; 30) is False.</a:t>
            </a:r>
          </a:p>
          <a:p xmlns:a="http://schemas.openxmlformats.org/drawingml/2006/main">
            <a:r>
              <a:t/>
            </a:r>
          </a:p>
          <a:p xmlns:a="http://schemas.openxmlformats.org/drawingml/2006/main">
            <a:r>
              <a:t>Misconception to address</a:t>
            </a:r>
          </a:p>
          <a:p xmlns:a="http://schemas.openxmlformats.org/drawingml/2006/main">
            <a:r>
              <a:t>Saying “between” leaves boundary inclusion ambiguous. State whether 20 and 30 count, then test those values explicitly.</a:t>
            </a:r>
          </a:p>
          <a:p xmlns:a="http://schemas.openxmlformats.org/drawingml/2006/main">
            <a:r>
              <a:t/>
            </a:r>
          </a:p>
          <a:p xmlns:a="http://schemas.openxmlformats.org/drawingml/2006/main">
            <a:r>
              <a:t>Read the displayed code line by line</a:t>
            </a:r>
          </a:p>
          <a:p xmlns:a="http://schemas.openxmlformats.org/drawingml/2006/main">
            <a:r>
              <a:t>reading = 25</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inside = (reading &gt;= 20) and (reading &lt;= 30)</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print(inside)</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print((reading &lt; 20) or (reading &gt; 30))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print(not inside)</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True; False; False</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Why a zero check comes first</a:t>
            </a:r>
          </a:p>
          <a:p xmlns:a="http://schemas.openxmlformats.org/drawingml/2006/main">
            <a:r>
              <a:t/>
            </a:r>
          </a:p>
          <a:p xmlns:a="http://schemas.openxmlformats.org/drawingml/2006/main">
            <a:r>
              <a:t>Result from the supplied example</a:t>
            </a:r>
          </a:p>
          <a:p xmlns:a="http://schemas.openxmlformats.org/drawingml/2006/main">
            <a:r>
              <a:t>True</a:t>
            </a:r>
          </a:p>
          <a:p xmlns:a="http://schemas.openxmlformats.org/drawingml/2006/main">
            <a:r>
              <a:t>False</a:t>
            </a:r>
          </a:p>
          <a:p xmlns:a="http://schemas.openxmlformats.org/drawingml/2006/main">
            <a:r>
              <a:t>False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a zero check comes first</a:t>
            </a:r>
          </a:p>
          <a:p xmlns:a="http://schemas.openxmlformats.org/drawingml/2006/main">
            <a:r>
              <a:t>CML3113, Week 3, slide 48</a:t>
            </a:r>
          </a:p>
          <a:p xmlns:a="http://schemas.openxmlformats.org/drawingml/2006/main">
            <a:r>
              <a:t/>
            </a:r>
          </a:p>
          <a:p xmlns:a="http://schemas.openxmlformats.org/drawingml/2006/main">
            <a:r>
              <a:t>Explanation to give</a:t>
            </a:r>
          </a:p>
          <a:p xmlns:a="http://schemas.openxmlformats.org/drawingml/2006/main">
            <a:r>
              <a:t>A guard handles an input that would make the main calculation invalid. Put it before the dangerous operation. return ends the function call immediately, so later lines do not execute on that path.</a:t>
            </a:r>
          </a:p>
          <a:p xmlns:a="http://schemas.openxmlformats.org/drawingml/2006/main">
            <a:r>
              <a:t/>
            </a:r>
          </a:p>
          <a:p xmlns:a="http://schemas.openxmlformats.org/drawingml/2006/main">
            <a:r>
              <a:t>Worked illustration / lecturer answer</a:t>
            </a:r>
          </a:p>
          <a:p xmlns:a="http://schemas.openxmlformats.org/drawingml/2006/main">
            <a:r>
              <a:t>safe_share(12, 3) reaches 12 / 3 and returns 4.0. safe_share(12, 0) takes the guard and returns None before division.</a:t>
            </a:r>
          </a:p>
          <a:p xmlns:a="http://schemas.openxmlformats.org/drawingml/2006/main">
            <a:r>
              <a:t/>
            </a:r>
          </a:p>
          <a:p xmlns:a="http://schemas.openxmlformats.org/drawingml/2006/main">
            <a:r>
              <a:t>Misconception to address</a:t>
            </a:r>
          </a:p>
          <a:p xmlns:a="http://schemas.openxmlformats.org/drawingml/2006/main">
            <a:r>
              <a:t>Returning None communicates no calculated share, not a zero share. Test for that case before doing further arithmetic with the result.</a:t>
            </a:r>
          </a:p>
          <a:p xmlns:a="http://schemas.openxmlformats.org/drawingml/2006/main">
            <a:r>
              <a:t/>
            </a:r>
          </a:p>
          <a:p xmlns:a="http://schemas.openxmlformats.org/drawingml/2006/main">
            <a:r>
              <a:t>On this slide</a:t>
            </a:r>
          </a:p>
          <a:p xmlns:a="http://schemas.openxmlformats.org/drawingml/2006/main">
            <a:r>
              <a:t>Python evaluates and from left to right. When the first Boolean comparison is False, it does not need to evaluate the second.</a:t>
            </a:r>
          </a:p>
          <a:p xmlns:a="http://schemas.openxmlformats.org/drawingml/2006/main">
            <a:r>
              <a:t/>
            </a:r>
          </a:p>
          <a:p xmlns:a="http://schemas.openxmlformats.org/drawingml/2006/main">
            <a:r>
              <a:t>For a simple zero guard, use if denominator == 0: before the division and return or handle that case explicitly.</a:t>
            </a:r>
          </a:p>
          <a:p xmlns:a="http://schemas.openxmlformats.org/drawingml/2006/main">
            <a:r>
              <a:t/>
            </a:r>
          </a:p>
          <a:p xmlns:a="http://schemas.openxmlformats.org/drawingml/2006/main">
            <a:r>
              <a:t>A guard checks an input before a calculation. The function example below uses def and return.</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Function</a:t>
            </a:r>
          </a:p>
          <a:p xmlns:a="http://schemas.openxmlformats.org/drawingml/2006/main">
            <a:r>
              <a:t>CML3113, Week 3, slide 49</a:t>
            </a:r>
          </a:p>
          <a:p xmlns:a="http://schemas.openxmlformats.org/drawingml/2006/main">
            <a:r>
              <a:t/>
            </a:r>
          </a:p>
          <a:p xmlns:a="http://schemas.openxmlformats.org/drawingml/2006/main">
            <a:r>
              <a:t>Explanation to give</a:t>
            </a:r>
          </a:p>
          <a:p xmlns:a="http://schemas.openxmlformats.org/drawingml/2006/main">
            <a:r>
              <a:t>Describe a function as instructions saved under a name. def stores the recipe. A call supplies ingredients and executes it. Parameters are the recipe's input names; arguments are the actual supplied values.</a:t>
            </a:r>
          </a:p>
          <a:p xmlns:a="http://schemas.openxmlformats.org/drawingml/2006/main">
            <a:r>
              <a:t/>
            </a:r>
          </a:p>
          <a:p xmlns:a="http://schemas.openxmlformats.org/drawingml/2006/main">
            <a:r>
              <a:t>Worked illustration / lecturer answer</a:t>
            </a:r>
          </a:p>
          <a:p xmlns:a="http://schemas.openxmlformats.org/drawingml/2006/main">
            <a:r>
              <a:t>For double_value(4), x receives 4, x * 2 produces 8 and return sends 8 back. answer receives that 8 and print displays it. The definition alone displays nothing.</a:t>
            </a:r>
          </a:p>
          <a:p xmlns:a="http://schemas.openxmlformats.org/drawingml/2006/main">
            <a:r>
              <a:t/>
            </a:r>
          </a:p>
          <a:p xmlns:a="http://schemas.openxmlformats.org/drawingml/2006/main">
            <a:r>
              <a:t>Misconception to address</a:t>
            </a:r>
          </a:p>
          <a:p xmlns:a="http://schemas.openxmlformats.org/drawingml/2006/main">
            <a:r>
              <a:t>Students often run only the definition and expect an answer. Point to the separate call. Changing the function body requires rerunning its definition before another call uses it.</a:t>
            </a:r>
          </a:p>
          <a:p xmlns:a="http://schemas.openxmlformats.org/drawingml/2006/main">
            <a:r>
              <a:t/>
            </a:r>
          </a:p>
          <a:p xmlns:a="http://schemas.openxmlformats.org/drawingml/2006/main">
            <a:r>
              <a:t>On this slide</a:t>
            </a:r>
          </a:p>
          <a:p xmlns:a="http://schemas.openxmlformats.org/drawingml/2006/main">
            <a:r>
              <a:t>Function: A named, reusable calculation or procedure. def introduces its definition. Parameters are the names for its inputs; arguments are the values supplied when calling it.</a:t>
            </a:r>
          </a:p>
          <a:p xmlns:a="http://schemas.openxmlformats.org/drawingml/2006/main">
            <a:r>
              <a:t/>
            </a:r>
          </a:p>
          <a:p xmlns:a="http://schemas.openxmlformats.org/drawingml/2006/main">
            <a:r>
              <a:t>Continue to</a:t>
            </a:r>
          </a:p>
          <a:p xmlns:a="http://schemas.openxmlformats.org/drawingml/2006/main">
            <a:r>
              <a:t>Indentation and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Indentation and return</a:t>
            </a:r>
          </a:p>
          <a:p xmlns:a="http://schemas.openxmlformats.org/drawingml/2006/main">
            <a:r>
              <a:t>CML3113, Week 3, slide 50</a:t>
            </a:r>
          </a:p>
          <a:p xmlns:a="http://schemas.openxmlformats.org/drawingml/2006/main">
            <a:r>
              <a:t/>
            </a:r>
          </a:p>
          <a:p xmlns:a="http://schemas.openxmlformats.org/drawingml/2006/main">
            <a:r>
              <a:t>Explanation to give</a:t>
            </a:r>
          </a:p>
          <a:p xmlns:a="http://schemas.openxmlformats.org/drawingml/2006/main">
            <a:r>
              <a:t>Distinguish delivering a result to another line of code from displaying it on the screen. return ends a function call and hands back a value. print displays information and itself returns None.</a:t>
            </a:r>
          </a:p>
          <a:p xmlns:a="http://schemas.openxmlformats.org/drawingml/2006/main">
            <a:r>
              <a:t/>
            </a:r>
          </a:p>
          <a:p xmlns:a="http://schemas.openxmlformats.org/drawingml/2006/main">
            <a:r>
              <a:t>Worked illustration / lecturer answer</a:t>
            </a:r>
          </a:p>
          <a:p xmlns:a="http://schemas.openxmlformats.org/drawingml/2006/main">
            <a:r>
              <a:t>If double_value returns 8, result = double_value(4) stores 8. If its body only prints 8, the screen shows 8 but result receives None. This difference matters when another calculation uses result.</a:t>
            </a:r>
          </a:p>
          <a:p xmlns:a="http://schemas.openxmlformats.org/drawingml/2006/main">
            <a:r>
              <a:t/>
            </a:r>
          </a:p>
          <a:p xmlns:a="http://schemas.openxmlformats.org/drawingml/2006/main">
            <a:r>
              <a:t>Misconception to address</a:t>
            </a:r>
          </a:p>
          <a:p xmlns:a="http://schemas.openxmlformats.org/drawingml/2006/main">
            <a:r>
              <a:t>A function that reaches its end without a return value also returns None. None is a real Python value, not the text "None" or the number zero.</a:t>
            </a:r>
          </a:p>
          <a:p xmlns:a="http://schemas.openxmlformats.org/drawingml/2006/main">
            <a:r>
              <a:t/>
            </a:r>
          </a:p>
          <a:p xmlns:a="http://schemas.openxmlformats.org/drawingml/2006/main">
            <a:r>
              <a:t>On this slide</a:t>
            </a:r>
          </a:p>
          <a:p xmlns:a="http://schemas.openxmlformats.org/drawingml/2006/main">
            <a:r>
              <a:t>Indentation and return: Spaces at the start of a line group the function body. return hands a result to the calling code. print displays a value and returns None.</a:t>
            </a:r>
          </a:p>
          <a:p xmlns:a="http://schemas.openxmlformats.org/drawingml/2006/main">
            <a:r>
              <a:t/>
            </a:r>
          </a:p>
          <a:p xmlns:a="http://schemas.openxmlformats.org/drawingml/2006/main">
            <a:r>
              <a:t>Continue to</a:t>
            </a:r>
          </a:p>
          <a:p xmlns:a="http://schemas.openxmlformats.org/drawingml/2006/main">
            <a:r>
              <a:t>A function definition and a call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definition and a call</a:t>
            </a:r>
          </a:p>
          <a:p xmlns:a="http://schemas.openxmlformats.org/drawingml/2006/main">
            <a:r>
              <a:t>CML3113, Week 3, slide 51</a:t>
            </a:r>
          </a:p>
          <a:p xmlns:a="http://schemas.openxmlformats.org/drawingml/2006/main">
            <a:r>
              <a:t/>
            </a:r>
          </a:p>
          <a:p xmlns:a="http://schemas.openxmlformats.org/drawingml/2006/main">
            <a:r>
              <a:t>Explanation to give</a:t>
            </a:r>
          </a:p>
          <a:p xmlns:a="http://schemas.openxmlformats.org/drawingml/2006/main">
            <a:r>
              <a:t>Describe a function as instructions saved under a name. def stores the recipe. A call supplies ingredients and executes it. Parameters are the recipe's input names; arguments are the actual supplied values.</a:t>
            </a:r>
          </a:p>
          <a:p xmlns:a="http://schemas.openxmlformats.org/drawingml/2006/main">
            <a:r>
              <a:t/>
            </a:r>
          </a:p>
          <a:p xmlns:a="http://schemas.openxmlformats.org/drawingml/2006/main">
            <a:r>
              <a:t>Worked illustration / lecturer answer</a:t>
            </a:r>
          </a:p>
          <a:p xmlns:a="http://schemas.openxmlformats.org/drawingml/2006/main">
            <a:r>
              <a:t>For double_value(4), x receives 4, x * 2 produces 8 and return sends 8 back. answer receives that 8 and print displays it. The definition alone displays nothing.</a:t>
            </a:r>
          </a:p>
          <a:p xmlns:a="http://schemas.openxmlformats.org/drawingml/2006/main">
            <a:r>
              <a:t/>
            </a:r>
          </a:p>
          <a:p xmlns:a="http://schemas.openxmlformats.org/drawingml/2006/main">
            <a:r>
              <a:t>Misconception to address</a:t>
            </a:r>
          </a:p>
          <a:p xmlns:a="http://schemas.openxmlformats.org/drawingml/2006/main">
            <a:r>
              <a:t>Students often run only the definition and expect an answer. Point to the separate call. Changing the function body requires rerunning its definition before another call uses it.</a:t>
            </a:r>
          </a:p>
          <a:p xmlns:a="http://schemas.openxmlformats.org/drawingml/2006/main">
            <a:r>
              <a:t/>
            </a:r>
          </a:p>
          <a:p xmlns:a="http://schemas.openxmlformats.org/drawingml/2006/main">
            <a:r>
              <a:t>On this slide</a:t>
            </a:r>
          </a:p>
          <a:p xmlns:a="http://schemas.openxmlformats.org/drawingml/2006/main">
            <a:r>
              <a:t>def gives a reusable calculation a name and inputs.</a:t>
            </a:r>
          </a:p>
          <a:p xmlns:a="http://schemas.openxmlformats.org/drawingml/2006/main">
            <a:r>
              <a:t/>
            </a:r>
          </a:p>
          <a:p xmlns:a="http://schemas.openxmlformats.org/drawingml/2006/main">
            <a:r>
              <a:t>Defining a function remembers the instructions.</a:t>
            </a:r>
          </a:p>
          <a:p xmlns:a="http://schemas.openxmlformats.org/drawingml/2006/main">
            <a:r>
              <a:t/>
            </a:r>
          </a:p>
          <a:p xmlns:a="http://schemas.openxmlformats.org/drawingml/2006/main">
            <a:r>
              <a:t>Calling the function runs those instructions with values.</a:t>
            </a:r>
          </a:p>
          <a:p xmlns:a="http://schemas.openxmlformats.org/drawingml/2006/main">
            <a:r>
              <a:t/>
            </a:r>
          </a:p>
          <a:p xmlns:a="http://schemas.openxmlformats.org/drawingml/2006/main">
            <a:r>
              <a:t>return sends the result back to the caller.</a:t>
            </a:r>
          </a:p>
          <a:p xmlns:a="http://schemas.openxmlformats.org/drawingml/2006/main">
            <a:r>
              <a:t/>
            </a:r>
          </a:p>
          <a:p xmlns:a="http://schemas.openxmlformats.org/drawingml/2006/main">
            <a:r>
              <a:t>Continue to</a:t>
            </a:r>
          </a:p>
          <a:p xmlns:a="http://schemas.openxmlformats.org/drawingml/2006/main">
            <a:r>
              <a:t>Inputs, instructions and a returned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Inputs, instructions and a returned result</a:t>
            </a:r>
          </a:p>
          <a:p xmlns:a="http://schemas.openxmlformats.org/drawingml/2006/main">
            <a:r>
              <a:t>CML3113, Week 3, slide 52</a:t>
            </a:r>
          </a:p>
          <a:p xmlns:a="http://schemas.openxmlformats.org/drawingml/2006/main">
            <a:r>
              <a:t/>
            </a:r>
          </a:p>
          <a:p xmlns:a="http://schemas.openxmlformats.org/drawingml/2006/main">
            <a:r>
              <a:t>Explanation to give</a:t>
            </a:r>
          </a:p>
          <a:p xmlns:a="http://schemas.openxmlformats.org/drawingml/2006/main">
            <a:r>
              <a:t>Describe a function as instructions saved under a name. def stores the recipe. A call supplies ingredients and executes it. Parameters are the recipe's input names; arguments are the actual supplied values.</a:t>
            </a:r>
          </a:p>
          <a:p xmlns:a="http://schemas.openxmlformats.org/drawingml/2006/main">
            <a:r>
              <a:t/>
            </a:r>
          </a:p>
          <a:p xmlns:a="http://schemas.openxmlformats.org/drawingml/2006/main">
            <a:r>
              <a:t>Worked illustration / lecturer answer</a:t>
            </a:r>
          </a:p>
          <a:p xmlns:a="http://schemas.openxmlformats.org/drawingml/2006/main">
            <a:r>
              <a:t>For double_value(4), x receives 4, x * 2 produces 8 and return sends 8 back. answer receives that 8 and print displays it. The definition alone displays nothing.</a:t>
            </a:r>
          </a:p>
          <a:p xmlns:a="http://schemas.openxmlformats.org/drawingml/2006/main">
            <a:r>
              <a:t/>
            </a:r>
          </a:p>
          <a:p xmlns:a="http://schemas.openxmlformats.org/drawingml/2006/main">
            <a:r>
              <a:t>Misconception to address</a:t>
            </a:r>
          </a:p>
          <a:p xmlns:a="http://schemas.openxmlformats.org/drawingml/2006/main">
            <a:r>
              <a:t>Students often run only the definition and expect an answer. Point to the separate call. Changing the function body requires rerunning its definition before another call uses it.</a:t>
            </a:r>
          </a:p>
          <a:p xmlns:a="http://schemas.openxmlformats.org/drawingml/2006/main">
            <a:r>
              <a:t/>
            </a:r>
          </a:p>
          <a:p xmlns:a="http://schemas.openxmlformats.org/drawingml/2006/main">
            <a:r>
              <a:t>On this slide</a:t>
            </a:r>
          </a:p>
          <a:p xmlns:a="http://schemas.openxmlformats.org/drawingml/2006/main">
            <a:r>
              <a:t>The illustration uses slab_volume: length × width × thickness. The next function uses the same input/body/return pattern.</a:t>
            </a:r>
          </a:p>
          <a:p xmlns:a="http://schemas.openxmlformats.org/drawingml/2006/main">
            <a:r>
              <a:t/>
            </a:r>
          </a:p>
          <a:p xmlns:a="http://schemas.openxmlformats.org/drawingml/2006/main">
            <a:r>
              <a:t>Continue to</a:t>
            </a:r>
          </a:p>
          <a:p xmlns:a="http://schemas.openxmlformats.org/drawingml/2006/main">
            <a:r>
              <a:t>Defining and calling double_value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Defining and calling double_value</a:t>
            </a:r>
          </a:p>
          <a:p xmlns:a="http://schemas.openxmlformats.org/drawingml/2006/main">
            <a:r>
              <a:t>CML3113, Week 3, slide 53</a:t>
            </a:r>
          </a:p>
          <a:p xmlns:a="http://schemas.openxmlformats.org/drawingml/2006/main">
            <a:r>
              <a:t/>
            </a:r>
          </a:p>
          <a:p xmlns:a="http://schemas.openxmlformats.org/drawingml/2006/main">
            <a:r>
              <a:t>Explanation to give</a:t>
            </a:r>
          </a:p>
          <a:p xmlns:a="http://schemas.openxmlformats.org/drawingml/2006/main">
            <a:r>
              <a:t>Describe a function as instructions saved under a name. def stores the recipe. A call supplies ingredients and executes it. Parameters are the recipe's input names; arguments are the actual supplied values.</a:t>
            </a:r>
          </a:p>
          <a:p xmlns:a="http://schemas.openxmlformats.org/drawingml/2006/main">
            <a:r>
              <a:t/>
            </a:r>
          </a:p>
          <a:p xmlns:a="http://schemas.openxmlformats.org/drawingml/2006/main">
            <a:r>
              <a:t>Worked illustration / lecturer answer</a:t>
            </a:r>
          </a:p>
          <a:p xmlns:a="http://schemas.openxmlformats.org/drawingml/2006/main">
            <a:r>
              <a:t>For double_value(4), x receives 4, x * 2 produces 8 and return sends 8 back. answer receives that 8 and print displays it. The definition alone displays nothing.</a:t>
            </a:r>
          </a:p>
          <a:p xmlns:a="http://schemas.openxmlformats.org/drawingml/2006/main">
            <a:r>
              <a:t/>
            </a:r>
          </a:p>
          <a:p xmlns:a="http://schemas.openxmlformats.org/drawingml/2006/main">
            <a:r>
              <a:t>Misconception to address</a:t>
            </a:r>
          </a:p>
          <a:p xmlns:a="http://schemas.openxmlformats.org/drawingml/2006/main">
            <a:r>
              <a:t>Students often run only the definition and expect an answer. Point to the separate call. Changing the function body requires rerunning its definition before another call uses it.</a:t>
            </a:r>
          </a:p>
          <a:p xmlns:a="http://schemas.openxmlformats.org/drawingml/2006/main">
            <a:r>
              <a:t/>
            </a:r>
          </a:p>
          <a:p xmlns:a="http://schemas.openxmlformats.org/drawingml/2006/main">
            <a:r>
              <a:t>Read the displayed code line by line</a:t>
            </a:r>
          </a:p>
          <a:p xmlns:a="http://schemas.openxmlformats.org/drawingml/2006/main">
            <a:r>
              <a:t>def double_value(x):</a:t>
            </a:r>
          </a:p>
          <a:p xmlns:a="http://schemas.openxmlformats.org/drawingml/2006/main">
            <a:r>
              <a:t>Store these instructions under this function name. Names in parentheses are its inputs; the body waits until a call.</a:t>
            </a:r>
          </a:p>
          <a:p xmlns:a="http://schemas.openxmlformats.org/drawingml/2006/main">
            <a:r>
              <a:t/>
            </a:r>
          </a:p>
          <a:p xmlns:a="http://schemas.openxmlformats.org/drawingml/2006/main">
            <a:r>
              <a:t>return x * 2</a:t>
            </a:r>
          </a:p>
          <a:p xmlns:a="http://schemas.openxmlformats.org/drawingml/2006/main">
            <a:r>
              <a:t>Evaluate this result and send it to the caller, ending this function call.</a:t>
            </a:r>
          </a:p>
          <a:p xmlns:a="http://schemas.openxmlformats.org/drawingml/2006/main">
            <a:r>
              <a:t/>
            </a:r>
          </a:p>
          <a:p xmlns:a="http://schemas.openxmlformats.org/drawingml/2006/main">
            <a:r>
              <a:t>answer = double_value(4)</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print(answer)</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8. Calling passes 4 to x; return sends 8 back; print displays it.</a:t>
            </a:r>
          </a:p>
          <a:p xmlns:a="http://schemas.openxmlformats.org/drawingml/2006/main">
            <a:r>
              <a:t/>
            </a:r>
          </a:p>
          <a:p xmlns:a="http://schemas.openxmlformats.org/drawingml/2006/main">
            <a:r>
              <a:t>Continue to</a:t>
            </a:r>
          </a:p>
          <a:p xmlns:a="http://schemas.openxmlformats.org/drawingml/2006/main">
            <a:r>
              <a:t>Trace one function call</a:t>
            </a:r>
          </a:p>
          <a:p xmlns:a="http://schemas.openxmlformats.org/drawingml/2006/main">
            <a:r>
              <a:t/>
            </a:r>
          </a:p>
          <a:p xmlns:a="http://schemas.openxmlformats.org/drawingml/2006/main">
            <a:r>
              <a:t>Result from the supplied example</a:t>
            </a:r>
          </a:p>
          <a:p xmlns:a="http://schemas.openxmlformats.org/drawingml/2006/main">
            <a:r>
              <a:t>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one function call</a:t>
            </a:r>
          </a:p>
          <a:p xmlns:a="http://schemas.openxmlformats.org/drawingml/2006/main">
            <a:r>
              <a:t>CML3113, Week 3, slide 54</a:t>
            </a:r>
          </a:p>
          <a:p xmlns:a="http://schemas.openxmlformats.org/drawingml/2006/main">
            <a:r>
              <a:t/>
            </a:r>
          </a:p>
          <a:p xmlns:a="http://schemas.openxmlformats.org/drawingml/2006/main">
            <a:r>
              <a:t>Explanation to give</a:t>
            </a:r>
          </a:p>
          <a:p xmlns:a="http://schemas.openxmlformats.org/drawingml/2006/main">
            <a:r>
              <a:t>Describe a function as instructions saved under a name. def stores the recipe. A call supplies ingredients and executes it. Parameters are the recipe's input names; arguments are the actual supplied values.</a:t>
            </a:r>
          </a:p>
          <a:p xmlns:a="http://schemas.openxmlformats.org/drawingml/2006/main">
            <a:r>
              <a:t/>
            </a:r>
          </a:p>
          <a:p xmlns:a="http://schemas.openxmlformats.org/drawingml/2006/main">
            <a:r>
              <a:t>Worked illustration / lecturer answer</a:t>
            </a:r>
          </a:p>
          <a:p xmlns:a="http://schemas.openxmlformats.org/drawingml/2006/main">
            <a:r>
              <a:t>For double_value(4), x receives 4, x * 2 produces 8 and return sends 8 back. answer receives that 8 and print displays it. The definition alone displays nothing.</a:t>
            </a:r>
          </a:p>
          <a:p xmlns:a="http://schemas.openxmlformats.org/drawingml/2006/main">
            <a:r>
              <a:t/>
            </a:r>
          </a:p>
          <a:p xmlns:a="http://schemas.openxmlformats.org/drawingml/2006/main">
            <a:r>
              <a:t>Misconception to address</a:t>
            </a:r>
          </a:p>
          <a:p xmlns:a="http://schemas.openxmlformats.org/drawingml/2006/main">
            <a:r>
              <a:t>Students often run only the definition and expect an answer. Point to the separate call. Changing the function body requires rerunning its definition before another call uses it.</a:t>
            </a:r>
          </a:p>
          <a:p xmlns:a="http://schemas.openxmlformats.org/drawingml/2006/main">
            <a:r>
              <a:t/>
            </a:r>
          </a:p>
          <a:p xmlns:a="http://schemas.openxmlformats.org/drawingml/2006/main">
            <a:r>
              <a:t>On this slide</a:t>
            </a:r>
          </a:p>
          <a:p xmlns:a="http://schemas.openxmlformats.org/drawingml/2006/main">
            <a:r>
              <a:t>Step | What Python does | Value</a:t>
            </a:r>
          </a:p>
          <a:p xmlns:a="http://schemas.openxmlformats.org/drawingml/2006/main">
            <a:r>
              <a:t>Define | Store the body; do not run it | No printed output</a:t>
            </a:r>
          </a:p>
          <a:p xmlns:a="http://schemas.openxmlformats.org/drawingml/2006/main">
            <a:r>
              <a:t>Call double_value(4) | Give parameter x the argument | x is 4</a:t>
            </a:r>
          </a:p>
          <a:p xmlns:a="http://schemas.openxmlformats.org/drawingml/2006/main">
            <a:r>
              <a:t>return x * 2 | Calculate and return | 8</a:t>
            </a:r>
          </a:p>
          <a:p xmlns:a="http://schemas.openxmlformats.org/drawingml/2006/main">
            <a:r>
              <a:t>Assign and print | Store returned 8 in answer; display | 8</a:t>
            </a:r>
          </a:p>
          <a:p xmlns:a="http://schemas.openxmlformats.org/drawingml/2006/main">
            <a:r>
              <a:t>return sends a value back to the caller. print displays it. These are different actions.</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Passing inputs by position or by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Passing inputs by position or by name</a:t>
            </a:r>
          </a:p>
          <a:p xmlns:a="http://schemas.openxmlformats.org/drawingml/2006/main">
            <a:r>
              <a:t>CML3113, Week 3, slide 55</a:t>
            </a:r>
          </a:p>
          <a:p xmlns:a="http://schemas.openxmlformats.org/drawingml/2006/main">
            <a:r>
              <a:t/>
            </a:r>
          </a:p>
          <a:p xmlns:a="http://schemas.openxmlformats.org/drawingml/2006/main">
            <a:r>
              <a:t>Explanation to give</a:t>
            </a:r>
          </a:p>
          <a:p xmlns:a="http://schemas.openxmlformats.org/drawingml/2006/main">
            <a:r>
              <a:t>Match each supplied argument to the parameter that receives it. Positional arguments match from left to right; keyword arguments name the destination directly.</a:t>
            </a:r>
          </a:p>
          <a:p xmlns:a="http://schemas.openxmlformats.org/drawingml/2006/main">
            <a:r>
              <a:t/>
            </a:r>
          </a:p>
          <a:p xmlns:a="http://schemas.openxmlformats.org/drawingml/2006/main">
            <a:r>
              <a:t>Worked illustration / lecturer answer</a:t>
            </a:r>
          </a:p>
          <a:p xmlns:a="http://schemas.openxmlformats.org/drawingml/2006/main">
            <a:r>
              <a:t>rectangle_area(3, 2) and rectangle_area(width=2, length=3) both use length 3 and width 2, returning 6. Say the parameter names aloud as you bind the values.</a:t>
            </a:r>
          </a:p>
          <a:p xmlns:a="http://schemas.openxmlformats.org/drawingml/2006/main">
            <a:r>
              <a:t/>
            </a:r>
          </a:p>
          <a:p xmlns:a="http://schemas.openxmlformats.org/drawingml/2006/main">
            <a:r>
              <a:t>Misconception to address</a:t>
            </a:r>
          </a:p>
          <a:p xmlns:a="http://schemas.openxmlformats.org/drawingml/2006/main">
            <a:r>
              <a:t>The equals sign in width=2 labels a call argument. It does not create a general width variable outside that call.</a:t>
            </a:r>
          </a:p>
          <a:p xmlns:a="http://schemas.openxmlformats.org/drawingml/2006/main">
            <a:r>
              <a:t/>
            </a:r>
          </a:p>
          <a:p xmlns:a="http://schemas.openxmlformats.org/drawingml/2006/main">
            <a:r>
              <a:t>On this slide</a:t>
            </a:r>
          </a:p>
          <a:p xmlns:a="http://schemas.openxmlformats.org/drawingml/2006/main">
            <a:r>
              <a:t>In def rectangle_area(length, width):, length and width are parameter names. A call supplies an argument value for each.</a:t>
            </a:r>
          </a:p>
          <a:p xmlns:a="http://schemas.openxmlformats.org/drawingml/2006/main">
            <a:r>
              <a:t/>
            </a:r>
          </a:p>
          <a:p xmlns:a="http://schemas.openxmlformats.org/drawingml/2006/main">
            <a:r>
              <a:t>rectangle_area(3, 2) binds 3 to length and 2 to width by position. rectangle_area(width=2, length=3) binds them by name.</a:t>
            </a:r>
          </a:p>
          <a:p xmlns:a="http://schemas.openxmlformats.org/drawingml/2006/main">
            <a:r>
              <a:t/>
            </a:r>
          </a:p>
          <a:p xmlns:a="http://schemas.openxmlformats.org/drawingml/2006/main">
            <a:r>
              <a:t>The = inside a named argument labels an input for the call. Both calls run the same function body with the same two values.</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Positional and named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Positional and named inputs</a:t>
            </a:r>
          </a:p>
          <a:p xmlns:a="http://schemas.openxmlformats.org/drawingml/2006/main">
            <a:r>
              <a:t>CML3113, Week 3, slide 56</a:t>
            </a:r>
          </a:p>
          <a:p xmlns:a="http://schemas.openxmlformats.org/drawingml/2006/main">
            <a:r>
              <a:t/>
            </a:r>
          </a:p>
          <a:p xmlns:a="http://schemas.openxmlformats.org/drawingml/2006/main">
            <a:r>
              <a:t>Explanation to give</a:t>
            </a:r>
          </a:p>
          <a:p xmlns:a="http://schemas.openxmlformats.org/drawingml/2006/main">
            <a:r>
              <a:t>Match each supplied argument to the parameter that receives it. Positional arguments match from left to right; keyword arguments name the destination directly.</a:t>
            </a:r>
          </a:p>
          <a:p xmlns:a="http://schemas.openxmlformats.org/drawingml/2006/main">
            <a:r>
              <a:t/>
            </a:r>
          </a:p>
          <a:p xmlns:a="http://schemas.openxmlformats.org/drawingml/2006/main">
            <a:r>
              <a:t>Worked illustration / lecturer answer</a:t>
            </a:r>
          </a:p>
          <a:p xmlns:a="http://schemas.openxmlformats.org/drawingml/2006/main">
            <a:r>
              <a:t>rectangle_area(3, 2) and rectangle_area(width=2, length=3) both use length 3 and width 2, returning 6. Say the parameter names aloud as you bind the values.</a:t>
            </a:r>
          </a:p>
          <a:p xmlns:a="http://schemas.openxmlformats.org/drawingml/2006/main">
            <a:r>
              <a:t/>
            </a:r>
          </a:p>
          <a:p xmlns:a="http://schemas.openxmlformats.org/drawingml/2006/main">
            <a:r>
              <a:t>Misconception to address</a:t>
            </a:r>
          </a:p>
          <a:p xmlns:a="http://schemas.openxmlformats.org/drawingml/2006/main">
            <a:r>
              <a:t>The equals sign in width=2 labels a call argument. It does not create a general width variable outside that call.</a:t>
            </a:r>
          </a:p>
          <a:p xmlns:a="http://schemas.openxmlformats.org/drawingml/2006/main">
            <a:r>
              <a:t/>
            </a:r>
          </a:p>
          <a:p xmlns:a="http://schemas.openxmlformats.org/drawingml/2006/main">
            <a:r>
              <a:t>Read the displayed code line by line</a:t>
            </a:r>
          </a:p>
          <a:p xmlns:a="http://schemas.openxmlformats.org/drawingml/2006/main">
            <a:r>
              <a:t>def rectangle_area(length, width):</a:t>
            </a:r>
          </a:p>
          <a:p xmlns:a="http://schemas.openxmlformats.org/drawingml/2006/main">
            <a:r>
              <a:t>Store these instructions under this function name. Names in parentheses are its inputs; the body waits until a call.</a:t>
            </a:r>
          </a:p>
          <a:p xmlns:a="http://schemas.openxmlformats.org/drawingml/2006/main">
            <a:r>
              <a:t/>
            </a:r>
          </a:p>
          <a:p xmlns:a="http://schemas.openxmlformats.org/drawingml/2006/main">
            <a:r>
              <a:t>return length * width</a:t>
            </a:r>
          </a:p>
          <a:p xmlns:a="http://schemas.openxmlformats.org/drawingml/2006/main">
            <a:r>
              <a:t>Evaluate this result and send it to the caller, ending this function call.</a:t>
            </a:r>
          </a:p>
          <a:p xmlns:a="http://schemas.openxmlformats.org/drawingml/2006/main">
            <a:r>
              <a:t/>
            </a:r>
          </a:p>
          <a:p xmlns:a="http://schemas.openxmlformats.org/drawingml/2006/main">
            <a:r>
              <a:t>print(rectangle_area(3, 2))</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print(rectangle_area(width=2, length=3))</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Both calls supply the same inputs. return makes the result reusable.</a:t>
            </a:r>
          </a:p>
          <a:p xmlns:a="http://schemas.openxmlformats.org/drawingml/2006/main">
            <a:r>
              <a:t/>
            </a:r>
          </a:p>
          <a:p xmlns:a="http://schemas.openxmlformats.org/drawingml/2006/main">
            <a:r>
              <a:t>Continue to</a:t>
            </a:r>
          </a:p>
          <a:p xmlns:a="http://schemas.openxmlformats.org/drawingml/2006/main">
            <a:r>
              <a:t>None means there is no result value</a:t>
            </a:r>
          </a:p>
          <a:p xmlns:a="http://schemas.openxmlformats.org/drawingml/2006/main">
            <a:r>
              <a:t/>
            </a:r>
          </a:p>
          <a:p xmlns:a="http://schemas.openxmlformats.org/drawingml/2006/main">
            <a:r>
              <a:t>Result from the supplied example</a:t>
            </a:r>
          </a:p>
          <a:p xmlns:a="http://schemas.openxmlformats.org/drawingml/2006/main">
            <a:r>
              <a:t>6</a:t>
            </a:r>
          </a:p>
          <a:p xmlns:a="http://schemas.openxmlformats.org/drawingml/2006/main">
            <a:r>
              <a:t>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None means there is no result value</a:t>
            </a:r>
          </a:p>
          <a:p xmlns:a="http://schemas.openxmlformats.org/drawingml/2006/main">
            <a:r>
              <a:t>CML3113, Week 3, slide 57</a:t>
            </a:r>
          </a:p>
          <a:p xmlns:a="http://schemas.openxmlformats.org/drawingml/2006/main">
            <a:r>
              <a:t/>
            </a:r>
          </a:p>
          <a:p xmlns:a="http://schemas.openxmlformats.org/drawingml/2006/main">
            <a:r>
              <a:t>Explanation to give</a:t>
            </a:r>
          </a:p>
          <a:p xmlns:a="http://schemas.openxmlformats.org/drawingml/2006/main">
            <a:r>
              <a:t>Distinguish delivering a result to another line of code from displaying it on the screen. return ends a function call and hands back a value. print displays information and itself returns None.</a:t>
            </a:r>
          </a:p>
          <a:p xmlns:a="http://schemas.openxmlformats.org/drawingml/2006/main">
            <a:r>
              <a:t/>
            </a:r>
          </a:p>
          <a:p xmlns:a="http://schemas.openxmlformats.org/drawingml/2006/main">
            <a:r>
              <a:t>Worked illustration / lecturer answer</a:t>
            </a:r>
          </a:p>
          <a:p xmlns:a="http://schemas.openxmlformats.org/drawingml/2006/main">
            <a:r>
              <a:t>If double_value returns 8, result = double_value(4) stores 8. If its body only prints 8, the screen shows 8 but result receives None. This difference matters when another calculation uses result.</a:t>
            </a:r>
          </a:p>
          <a:p xmlns:a="http://schemas.openxmlformats.org/drawingml/2006/main">
            <a:r>
              <a:t/>
            </a:r>
          </a:p>
          <a:p xmlns:a="http://schemas.openxmlformats.org/drawingml/2006/main">
            <a:r>
              <a:t>Misconception to address</a:t>
            </a:r>
          </a:p>
          <a:p xmlns:a="http://schemas.openxmlformats.org/drawingml/2006/main">
            <a:r>
              <a:t>A function that reaches its end without a return value also returns None. None is a real Python value, not the text "None" or the number zero.</a:t>
            </a:r>
          </a:p>
          <a:p xmlns:a="http://schemas.openxmlformats.org/drawingml/2006/main">
            <a:r>
              <a:t/>
            </a:r>
          </a:p>
          <a:p xmlns:a="http://schemas.openxmlformats.org/drawingml/2006/main">
            <a:r>
              <a:t>On this slide</a:t>
            </a:r>
          </a:p>
          <a:p xmlns:a="http://schemas.openxmlformats.org/drawingml/2006/main">
            <a:r>
              <a:t>None is a Python value used here to mean “no calculated answer”. It is not zero, an empty string, or the word "None".</a:t>
            </a:r>
          </a:p>
          <a:p xmlns:a="http://schemas.openxmlformats.org/drawingml/2006/main">
            <a:r>
              <a:t/>
            </a:r>
          </a:p>
          <a:p xmlns:a="http://schemas.openxmlformats.org/drawingml/2006/main">
            <a:r>
              <a:t>A function returns None explicitly with return None. A function also returns None if it reaches its end without a return value.</a:t>
            </a:r>
          </a:p>
          <a:p xmlns:a="http://schemas.openxmlformats.org/drawingml/2006/main">
            <a:r>
              <a:t/>
            </a:r>
          </a:p>
          <a:p xmlns:a="http://schemas.openxmlformats.org/drawingml/2006/main">
            <a:r>
              <a:t>A caller must handle None before trying arithmetic with the result. The next example returns it for division by zero.</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An input check before division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input check before division</a:t>
            </a:r>
          </a:p>
          <a:p xmlns:a="http://schemas.openxmlformats.org/drawingml/2006/main">
            <a:r>
              <a:t>CML3113, Week 3, slide 58</a:t>
            </a:r>
          </a:p>
          <a:p xmlns:a="http://schemas.openxmlformats.org/drawingml/2006/main">
            <a:r>
              <a:t/>
            </a:r>
          </a:p>
          <a:p xmlns:a="http://schemas.openxmlformats.org/drawingml/2006/main">
            <a:r>
              <a:t>Explanation to give</a:t>
            </a:r>
          </a:p>
          <a:p xmlns:a="http://schemas.openxmlformats.org/drawingml/2006/main">
            <a:r>
              <a:t>A guard handles an input that would make the main calculation invalid. Put it before the dangerous operation. return ends the function call immediately, so later lines do not execute on that path.</a:t>
            </a:r>
          </a:p>
          <a:p xmlns:a="http://schemas.openxmlformats.org/drawingml/2006/main">
            <a:r>
              <a:t/>
            </a:r>
          </a:p>
          <a:p xmlns:a="http://schemas.openxmlformats.org/drawingml/2006/main">
            <a:r>
              <a:t>Worked illustration / lecturer answer</a:t>
            </a:r>
          </a:p>
          <a:p xmlns:a="http://schemas.openxmlformats.org/drawingml/2006/main">
            <a:r>
              <a:t>safe_share(12, 3) reaches 12 / 3 and returns 4.0. safe_share(12, 0) takes the guard and returns None before division.</a:t>
            </a:r>
          </a:p>
          <a:p xmlns:a="http://schemas.openxmlformats.org/drawingml/2006/main">
            <a:r>
              <a:t/>
            </a:r>
          </a:p>
          <a:p xmlns:a="http://schemas.openxmlformats.org/drawingml/2006/main">
            <a:r>
              <a:t>Misconception to address</a:t>
            </a:r>
          </a:p>
          <a:p xmlns:a="http://schemas.openxmlformats.org/drawingml/2006/main">
            <a:r>
              <a:t>Returning None communicates no calculated share, not a zero share. Test for that case before doing further arithmetic with the result.</a:t>
            </a:r>
          </a:p>
          <a:p xmlns:a="http://schemas.openxmlformats.org/drawingml/2006/main">
            <a:r>
              <a:t/>
            </a:r>
          </a:p>
          <a:p xmlns:a="http://schemas.openxmlformats.org/drawingml/2006/main">
            <a:r>
              <a:t>On this slide</a:t>
            </a:r>
          </a:p>
          <a:p xmlns:a="http://schemas.openxmlformats.org/drawingml/2006/main">
            <a:r>
              <a:t>Division by zero raises ZeroDivisionError. We choose to return None when people is zero, so there is no calculated share.</a:t>
            </a:r>
          </a:p>
          <a:p xmlns:a="http://schemas.openxmlformats.org/drawingml/2006/main">
            <a:r>
              <a:t/>
            </a:r>
          </a:p>
          <a:p xmlns:a="http://schemas.openxmlformats.org/drawingml/2006/main">
            <a:r>
              <a:t>The check belongs inside the function, before the division. return ends that call immediately. A valid input follows the later return line.</a:t>
            </a:r>
          </a:p>
          <a:p xmlns:a="http://schemas.openxmlformats.org/drawingml/2006/main">
            <a:r>
              <a:t/>
            </a:r>
          </a:p>
          <a:p xmlns:a="http://schemas.openxmlformats.org/drawingml/2006/main">
            <a:r>
              <a:t>Continue to</a:t>
            </a:r>
          </a:p>
          <a:p xmlns:a="http://schemas.openxmlformats.org/drawingml/2006/main">
            <a:r>
              <a:t>A function with a zero-input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with a zero-input check</a:t>
            </a:r>
          </a:p>
          <a:p xmlns:a="http://schemas.openxmlformats.org/drawingml/2006/main">
            <a:r>
              <a:t>CML3113, Week 3, slide 59</a:t>
            </a:r>
          </a:p>
          <a:p xmlns:a="http://schemas.openxmlformats.org/drawingml/2006/main">
            <a:r>
              <a:t/>
            </a:r>
          </a:p>
          <a:p xmlns:a="http://schemas.openxmlformats.org/drawingml/2006/main">
            <a:r>
              <a:t>Explanation to give</a:t>
            </a:r>
          </a:p>
          <a:p xmlns:a="http://schemas.openxmlformats.org/drawingml/2006/main">
            <a:r>
              <a:t>A guard handles an input that would make the main calculation invalid. Put it before the dangerous operation. return ends the function call immediately, so later lines do not execute on that path.</a:t>
            </a:r>
          </a:p>
          <a:p xmlns:a="http://schemas.openxmlformats.org/drawingml/2006/main">
            <a:r>
              <a:t/>
            </a:r>
          </a:p>
          <a:p xmlns:a="http://schemas.openxmlformats.org/drawingml/2006/main">
            <a:r>
              <a:t>Worked illustration / lecturer answer</a:t>
            </a:r>
          </a:p>
          <a:p xmlns:a="http://schemas.openxmlformats.org/drawingml/2006/main">
            <a:r>
              <a:t>safe_share(12, 3) reaches 12 / 3 and returns 4.0. safe_share(12, 0) takes the guard and returns None before division.</a:t>
            </a:r>
          </a:p>
          <a:p xmlns:a="http://schemas.openxmlformats.org/drawingml/2006/main">
            <a:r>
              <a:t/>
            </a:r>
          </a:p>
          <a:p xmlns:a="http://schemas.openxmlformats.org/drawingml/2006/main">
            <a:r>
              <a:t>Misconception to address</a:t>
            </a:r>
          </a:p>
          <a:p xmlns:a="http://schemas.openxmlformats.org/drawingml/2006/main">
            <a:r>
              <a:t>Returning None communicates no calculated share, not a zero share. Test for that case before doing further arithmetic with the result.</a:t>
            </a:r>
          </a:p>
          <a:p xmlns:a="http://schemas.openxmlformats.org/drawingml/2006/main">
            <a:r>
              <a:t/>
            </a:r>
          </a:p>
          <a:p xmlns:a="http://schemas.openxmlformats.org/drawingml/2006/main">
            <a:r>
              <a:t>Read the displayed code line by line</a:t>
            </a:r>
          </a:p>
          <a:p xmlns:a="http://schemas.openxmlformats.org/drawingml/2006/main">
            <a:r>
              <a:t>def safe_share(total, people):</a:t>
            </a:r>
          </a:p>
          <a:p xmlns:a="http://schemas.openxmlformats.org/drawingml/2006/main">
            <a:r>
              <a:t>Store these instructions under this function name. Names in parentheses are its inputs; the body waits until a call.</a:t>
            </a:r>
          </a:p>
          <a:p xmlns:a="http://schemas.openxmlformats.org/drawingml/2006/main">
            <a:r>
              <a:t/>
            </a:r>
          </a:p>
          <a:p xmlns:a="http://schemas.openxmlformats.org/drawingml/2006/main">
            <a:r>
              <a:t>if people == 0:</a:t>
            </a:r>
          </a:p>
          <a:p xmlns:a="http://schemas.openxmlformats.org/drawingml/2006/main">
            <a:r>
              <a:t>Evaluate this yes/no condition. Execute its indented body only on the matching path.</a:t>
            </a:r>
          </a:p>
          <a:p xmlns:a="http://schemas.openxmlformats.org/drawingml/2006/main">
            <a:r>
              <a:t/>
            </a:r>
          </a:p>
          <a:p xmlns:a="http://schemas.openxmlformats.org/drawingml/2006/main">
            <a:r>
              <a:t>return None</a:t>
            </a:r>
          </a:p>
          <a:p xmlns:a="http://schemas.openxmlformats.org/drawingml/2006/main">
            <a:r>
              <a:t>Evaluate this result and send it to the caller, ending this function call.</a:t>
            </a:r>
          </a:p>
          <a:p xmlns:a="http://schemas.openxmlformats.org/drawingml/2006/main">
            <a:r>
              <a:t/>
            </a:r>
          </a:p>
          <a:p xmlns:a="http://schemas.openxmlformats.org/drawingml/2006/main">
            <a:r>
              <a:t>return total / people</a:t>
            </a:r>
          </a:p>
          <a:p xmlns:a="http://schemas.openxmlformats.org/drawingml/2006/main">
            <a:r>
              <a:t>Evaluate this result and send it to the caller, ending this function call.</a:t>
            </a:r>
          </a:p>
          <a:p xmlns:a="http://schemas.openxmlformats.org/drawingml/2006/main">
            <a:r>
              <a:t/>
            </a:r>
          </a:p>
          <a:p xmlns:a="http://schemas.openxmlformats.org/drawingml/2006/main">
            <a:r>
              <a:t>print(safe_share(12, 3))</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4.0. safe_share(12, 0) returns None before any division.</a:t>
            </a:r>
          </a:p>
          <a:p xmlns:a="http://schemas.openxmlformats.org/drawingml/2006/main">
            <a:r>
              <a:t/>
            </a:r>
          </a:p>
          <a:p xmlns:a="http://schemas.openxmlformats.org/drawingml/2006/main">
            <a:r>
              <a:t>Continue to</a:t>
            </a:r>
          </a:p>
          <a:p xmlns:a="http://schemas.openxmlformats.org/drawingml/2006/main">
            <a:r>
              <a:t>Trace the division guard</a:t>
            </a:r>
          </a:p>
          <a:p xmlns:a="http://schemas.openxmlformats.org/drawingml/2006/main">
            <a:r>
              <a:t/>
            </a:r>
          </a:p>
          <a:p xmlns:a="http://schemas.openxmlformats.org/drawingml/2006/main">
            <a:r>
              <a:t>Result from the supplied example</a:t>
            </a:r>
          </a:p>
          <a:p xmlns:a="http://schemas.openxmlformats.org/drawingml/2006/main">
            <a:r>
              <a:t>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 the division guard</a:t>
            </a:r>
          </a:p>
          <a:p xmlns:a="http://schemas.openxmlformats.org/drawingml/2006/main">
            <a:r>
              <a:t>CML3113, Week 3, slide 60</a:t>
            </a:r>
          </a:p>
          <a:p xmlns:a="http://schemas.openxmlformats.org/drawingml/2006/main">
            <a:r>
              <a:t/>
            </a:r>
          </a:p>
          <a:p xmlns:a="http://schemas.openxmlformats.org/drawingml/2006/main">
            <a:r>
              <a:t>Explanation to give</a:t>
            </a:r>
          </a:p>
          <a:p xmlns:a="http://schemas.openxmlformats.org/drawingml/2006/main">
            <a:r>
              <a:t>A guard handles an input that would make the main calculation invalid. Put it before the dangerous operation. return ends the function call immediately, so later lines do not execute on that path.</a:t>
            </a:r>
          </a:p>
          <a:p xmlns:a="http://schemas.openxmlformats.org/drawingml/2006/main">
            <a:r>
              <a:t/>
            </a:r>
          </a:p>
          <a:p xmlns:a="http://schemas.openxmlformats.org/drawingml/2006/main">
            <a:r>
              <a:t>Worked illustration / lecturer answer</a:t>
            </a:r>
          </a:p>
          <a:p xmlns:a="http://schemas.openxmlformats.org/drawingml/2006/main">
            <a:r>
              <a:t>safe_share(12, 3) reaches 12 / 3 and returns 4.0. safe_share(12, 0) takes the guard and returns None before division.</a:t>
            </a:r>
          </a:p>
          <a:p xmlns:a="http://schemas.openxmlformats.org/drawingml/2006/main">
            <a:r>
              <a:t/>
            </a:r>
          </a:p>
          <a:p xmlns:a="http://schemas.openxmlformats.org/drawingml/2006/main">
            <a:r>
              <a:t>Misconception to address</a:t>
            </a:r>
          </a:p>
          <a:p xmlns:a="http://schemas.openxmlformats.org/drawingml/2006/main">
            <a:r>
              <a:t>Returning None communicates no calculated share, not a zero share. Test for that case before doing further arithmetic with the result.</a:t>
            </a:r>
          </a:p>
          <a:p xmlns:a="http://schemas.openxmlformats.org/drawingml/2006/main">
            <a:r>
              <a:t/>
            </a:r>
          </a:p>
          <a:p xmlns:a="http://schemas.openxmlformats.org/drawingml/2006/main">
            <a:r>
              <a:t>On this slide</a:t>
            </a:r>
          </a:p>
          <a:p xmlns:a="http://schemas.openxmlformats.org/drawingml/2006/main">
            <a:r>
              <a:t>Call | First test | Returned result</a:t>
            </a:r>
          </a:p>
          <a:p xmlns:a="http://schemas.openxmlformats.org/drawingml/2006/main">
            <a:r>
              <a:t>safe_share(12, 3) | 3 == 0 is False | 12 / 3 gives 4.0</a:t>
            </a:r>
          </a:p>
          <a:p xmlns:a="http://schemas.openxmlformats.org/drawingml/2006/main">
            <a:r>
              <a:t>safe_share(12, 0) | 0 == 0 is True | None; division is skipped</a:t>
            </a:r>
          </a:p>
          <a:p xmlns:a="http://schemas.openxmlformats.org/drawingml/2006/main">
            <a:r>
              <a:t>return ends this function call immediately. Later lines inside it do not run.</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A branch with a clear boundary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branch with a clear boundary</a:t>
            </a:r>
          </a:p>
          <a:p xmlns:a="http://schemas.openxmlformats.org/drawingml/2006/main">
            <a:r>
              <a:t>CML3113, Week 3, slide 61</a:t>
            </a:r>
          </a:p>
          <a:p xmlns:a="http://schemas.openxmlformats.org/drawingml/2006/main">
            <a:r>
              <a:t/>
            </a:r>
          </a:p>
          <a:p xmlns:a="http://schemas.openxmlformats.org/drawingml/2006/main">
            <a:r>
              <a:t>Explanation to give</a:t>
            </a:r>
          </a:p>
          <a:p xmlns:a="http://schemas.openxmlformats.org/drawingml/2006/main">
            <a:r>
              <a:t>Trace the equality case first because it exposes whether the threshold is inclusive. In this function, return prevents execution from reaching the later return once the high condition is satisfied.</a:t>
            </a:r>
          </a:p>
          <a:p xmlns:a="http://schemas.openxmlformats.org/drawingml/2006/main">
            <a:r>
              <a:t/>
            </a:r>
          </a:p>
          <a:p xmlns:a="http://schemas.openxmlformats.org/drawingml/2006/main">
            <a:r>
              <a:t>Worked illustration / lecturer answer</a:t>
            </a:r>
          </a:p>
          <a:p xmlns:a="http://schemas.openxmlformats.org/drawingml/2006/main">
            <a:r>
              <a:t>check_level(10) returns high; check_level(9) returns low; check_level(11) returns high. Show which return line each call reaches.</a:t>
            </a:r>
          </a:p>
          <a:p xmlns:a="http://schemas.openxmlformats.org/drawingml/2006/main">
            <a:r>
              <a:t/>
            </a:r>
          </a:p>
          <a:p xmlns:a="http://schemas.openxmlformats.org/drawingml/2006/main">
            <a:r>
              <a:t>Misconception to address</a:t>
            </a:r>
          </a:p>
          <a:p xmlns:a="http://schemas.openxmlformats.org/drawingml/2006/main">
            <a:r>
              <a:t>An explicit else is unnecessary here because the first return already exits the call. That would change if the first branch only printed.</a:t>
            </a:r>
          </a:p>
          <a:p xmlns:a="http://schemas.openxmlformats.org/drawingml/2006/main">
            <a:r>
              <a:t/>
            </a:r>
          </a:p>
          <a:p xmlns:a="http://schemas.openxmlformats.org/drawingml/2006/main">
            <a:r>
              <a:t>On this slide</a:t>
            </a:r>
          </a:p>
          <a:p xmlns:a="http://schemas.openxmlformats.org/drawingml/2006/main">
            <a:r>
              <a:t>Read from the top. &gt;= includes the boundary.</a:t>
            </a:r>
          </a:p>
          <a:p xmlns:a="http://schemas.openxmlformats.org/drawingml/2006/main">
            <a:r>
              <a:t/>
            </a:r>
          </a:p>
          <a:p xmlns:a="http://schemas.openxmlformats.org/drawingml/2006/main">
            <a:r>
              <a:t>Only the selected branch runs.</a:t>
            </a:r>
          </a:p>
          <a:p xmlns:a="http://schemas.openxmlformats.org/drawingml/2006/main">
            <a:r>
              <a:t/>
            </a:r>
          </a:p>
          <a:p xmlns:a="http://schemas.openxmlformats.org/drawingml/2006/main">
            <a:r>
              <a:t>Try the value exactly at 10 as well as 9 and 11.</a:t>
            </a:r>
          </a:p>
          <a:p xmlns:a="http://schemas.openxmlformats.org/drawingml/2006/main">
            <a:r>
              <a:t/>
            </a:r>
          </a:p>
          <a:p xmlns:a="http://schemas.openxmlformats.org/drawingml/2006/main">
            <a:r>
              <a:t>Continue to</a:t>
            </a:r>
          </a:p>
          <a:p xmlns:a="http://schemas.openxmlformats.org/drawingml/2006/main">
            <a:r>
              <a:t>A branch with a clear boundary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branch with a clear boundary in Python</a:t>
            </a:r>
          </a:p>
          <a:p xmlns:a="http://schemas.openxmlformats.org/drawingml/2006/main">
            <a:r>
              <a:t>CML3113, Week 3, slide 62</a:t>
            </a:r>
          </a:p>
          <a:p xmlns:a="http://schemas.openxmlformats.org/drawingml/2006/main">
            <a:r>
              <a:t/>
            </a:r>
          </a:p>
          <a:p xmlns:a="http://schemas.openxmlformats.org/drawingml/2006/main">
            <a:r>
              <a:t>Explanation to give</a:t>
            </a:r>
          </a:p>
          <a:p xmlns:a="http://schemas.openxmlformats.org/drawingml/2006/main">
            <a:r>
              <a:t>Trace the equality case first because it exposes whether the threshold is inclusive. In this function, return prevents execution from reaching the later return once the high condition is satisfied.</a:t>
            </a:r>
          </a:p>
          <a:p xmlns:a="http://schemas.openxmlformats.org/drawingml/2006/main">
            <a:r>
              <a:t/>
            </a:r>
          </a:p>
          <a:p xmlns:a="http://schemas.openxmlformats.org/drawingml/2006/main">
            <a:r>
              <a:t>Worked illustration / lecturer answer</a:t>
            </a:r>
          </a:p>
          <a:p xmlns:a="http://schemas.openxmlformats.org/drawingml/2006/main">
            <a:r>
              <a:t>check_level(10) returns high; check_level(9) returns low; check_level(11) returns high. Show which return line each call reaches.</a:t>
            </a:r>
          </a:p>
          <a:p xmlns:a="http://schemas.openxmlformats.org/drawingml/2006/main">
            <a:r>
              <a:t/>
            </a:r>
          </a:p>
          <a:p xmlns:a="http://schemas.openxmlformats.org/drawingml/2006/main">
            <a:r>
              <a:t>Misconception to address</a:t>
            </a:r>
          </a:p>
          <a:p xmlns:a="http://schemas.openxmlformats.org/drawingml/2006/main">
            <a:r>
              <a:t>An explicit else is unnecessary here because the first return already exits the call. That would change if the first branch only printed.</a:t>
            </a:r>
          </a:p>
          <a:p xmlns:a="http://schemas.openxmlformats.org/drawingml/2006/main">
            <a:r>
              <a:t/>
            </a:r>
          </a:p>
          <a:p xmlns:a="http://schemas.openxmlformats.org/drawingml/2006/main">
            <a:r>
              <a:t>Read the displayed code line by line</a:t>
            </a:r>
          </a:p>
          <a:p xmlns:a="http://schemas.openxmlformats.org/drawingml/2006/main">
            <a:r>
              <a:t>def check_level(value):</a:t>
            </a:r>
          </a:p>
          <a:p xmlns:a="http://schemas.openxmlformats.org/drawingml/2006/main">
            <a:r>
              <a:t>Store these instructions under this function name. Names in parentheses are its inputs; the body waits until a call.</a:t>
            </a:r>
          </a:p>
          <a:p xmlns:a="http://schemas.openxmlformats.org/drawingml/2006/main">
            <a:r>
              <a:t/>
            </a:r>
          </a:p>
          <a:p xmlns:a="http://schemas.openxmlformats.org/drawingml/2006/main">
            <a:r>
              <a:t>if value &gt;= 10:</a:t>
            </a:r>
          </a:p>
          <a:p xmlns:a="http://schemas.openxmlformats.org/drawingml/2006/main">
            <a:r>
              <a:t>Evaluate this yes/no condition. Execute its indented body only on the matching path.</a:t>
            </a:r>
          </a:p>
          <a:p xmlns:a="http://schemas.openxmlformats.org/drawingml/2006/main">
            <a:r>
              <a:t/>
            </a:r>
          </a:p>
          <a:p xmlns:a="http://schemas.openxmlformats.org/drawingml/2006/main">
            <a:r>
              <a:t>return "high"</a:t>
            </a:r>
          </a:p>
          <a:p xmlns:a="http://schemas.openxmlformats.org/drawingml/2006/main">
            <a:r>
              <a:t>Evaluate this result and send it to the caller, ending this function call.</a:t>
            </a:r>
          </a:p>
          <a:p xmlns:a="http://schemas.openxmlformats.org/drawingml/2006/main">
            <a:r>
              <a:t/>
            </a:r>
          </a:p>
          <a:p xmlns:a="http://schemas.openxmlformats.org/drawingml/2006/main">
            <a:r>
              <a:t>return "low"</a:t>
            </a:r>
          </a:p>
          <a:p xmlns:a="http://schemas.openxmlformats.org/drawingml/2006/main">
            <a:r>
              <a:t>Evaluate this result and send it to the caller, ending this function call.</a:t>
            </a:r>
          </a:p>
          <a:p xmlns:a="http://schemas.openxmlformats.org/drawingml/2006/main">
            <a:r>
              <a:t/>
            </a:r>
          </a:p>
          <a:p xmlns:a="http://schemas.openxmlformats.org/drawingml/2006/main">
            <a:r>
              <a:t>print(check_level(10))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print(check_level(9))</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Continue to</a:t>
            </a:r>
          </a:p>
          <a:p xmlns:a="http://schemas.openxmlformats.org/drawingml/2006/main">
            <a:r>
              <a:t>One value and a collection of values</a:t>
            </a:r>
          </a:p>
          <a:p xmlns:a="http://schemas.openxmlformats.org/drawingml/2006/main">
            <a:r>
              <a:t/>
            </a:r>
          </a:p>
          <a:p xmlns:a="http://schemas.openxmlformats.org/drawingml/2006/main">
            <a:r>
              <a:t>Result from the supplied example</a:t>
            </a:r>
          </a:p>
          <a:p xmlns:a="http://schemas.openxmlformats.org/drawingml/2006/main">
            <a:r>
              <a:t>high</a:t>
            </a:r>
          </a:p>
          <a:p xmlns:a="http://schemas.openxmlformats.org/drawingml/2006/main">
            <a:r>
              <a:t>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value and a collection of values</a:t>
            </a:r>
          </a:p>
          <a:p xmlns:a="http://schemas.openxmlformats.org/drawingml/2006/main">
            <a:r>
              <a:t>CML3113, Week 3, slide 63</a:t>
            </a:r>
          </a:p>
          <a:p xmlns:a="http://schemas.openxmlformats.org/drawingml/2006/main">
            <a:r>
              <a:t/>
            </a:r>
          </a:p>
          <a:p xmlns:a="http://schemas.openxmlformats.org/drawingml/2006/main">
            <a:r>
              <a:t>Explanation to give</a:t>
            </a:r>
          </a:p>
          <a:p xmlns:a="http://schemas.openxmlformats.org/drawingml/2006/main">
            <a:r>
              <a:t>Compare the access rule for each collection. Lists and tuples use positions; dictionaries use keys; sets answer membership questions. Lists can change their items, while tuple positions cannot be reassigned.</a:t>
            </a:r>
          </a:p>
          <a:p xmlns:a="http://schemas.openxmlformats.org/drawingml/2006/main">
            <a:r>
              <a:t/>
            </a:r>
          </a:p>
          <a:p xmlns:a="http://schemas.openxmlformats.org/drawingml/2006/main">
            <a:r>
              <a:t>Worked illustration / lecturer answer</a:t>
            </a:r>
          </a:p>
          <a:p xmlns:a="http://schemas.openxmlformats.org/drawingml/2006/main">
            <a:r>
              <a:t>For readings use an ordered list. For a record with unit and reading fields use a dictionary. For a coordinate pair use a tuple. For IDs already seen use a set.</a:t>
            </a:r>
          </a:p>
          <a:p xmlns:a="http://schemas.openxmlformats.org/drawingml/2006/main">
            <a:r>
              <a:t/>
            </a:r>
          </a:p>
          <a:p xmlns:a="http://schemas.openxmlformats.org/drawingml/2006/main">
            <a:r>
              <a:t>Misconception to address</a:t>
            </a:r>
          </a:p>
          <a:p xmlns:a="http://schemas.openxmlformats.org/drawingml/2006/main">
            <a:r>
              <a:t>A set cannot be indexed. Dictionary keys are unique, but values may repeat. {} is an empty dictionary; set() is an empty set.</a:t>
            </a:r>
          </a:p>
          <a:p xmlns:a="http://schemas.openxmlformats.org/drawingml/2006/main">
            <a:r>
              <a:t/>
            </a:r>
          </a:p>
          <a:p xmlns:a="http://schemas.openxmlformats.org/drawingml/2006/main">
            <a:r>
              <a:t>On this slide</a:t>
            </a:r>
          </a:p>
          <a:p xmlns:a="http://schemas.openxmlformats.org/drawingml/2006/main">
            <a:r>
              <a:t>A variable can refer to one value: reading = 98. A collection stores several related values under one name.</a:t>
            </a:r>
          </a:p>
          <a:p xmlns:a="http://schemas.openxmlformats.org/drawingml/2006/main">
            <a:r>
              <a:t/>
            </a:r>
          </a:p>
          <a:p xmlns:a="http://schemas.openxmlformats.org/drawingml/2006/main">
            <a:r>
              <a:t>Python has several collection types. Choose one according to how you need to find, change or organise its contents.</a:t>
            </a:r>
          </a:p>
          <a:p xmlns:a="http://schemas.openxmlformats.org/drawingml/2006/main">
            <a:r>
              <a:t/>
            </a:r>
          </a:p>
          <a:p xmlns:a="http://schemas.openxmlformats.org/drawingml/2006/main">
            <a:r>
              <a:t>Continue to</a:t>
            </a:r>
          </a:p>
          <a:p xmlns:a="http://schemas.openxmlformats.org/drawingml/2006/main">
            <a:r>
              <a:t>Lists dictionaries tuples and 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Lists dictionaries tuples and sets</a:t>
            </a:r>
          </a:p>
          <a:p xmlns:a="http://schemas.openxmlformats.org/drawingml/2006/main">
            <a:r>
              <a:t>CML3113, Week 3, slide 64</a:t>
            </a:r>
          </a:p>
          <a:p xmlns:a="http://schemas.openxmlformats.org/drawingml/2006/main">
            <a:r>
              <a:t/>
            </a:r>
          </a:p>
          <a:p xmlns:a="http://schemas.openxmlformats.org/drawingml/2006/main">
            <a:r>
              <a:t>Explanation to give</a:t>
            </a:r>
          </a:p>
          <a:p xmlns:a="http://schemas.openxmlformats.org/drawingml/2006/main">
            <a:r>
              <a:t>Compare the access rule for each collection. Lists and tuples use positions; dictionaries use keys; sets answer membership questions. Lists can change their items, while tuple positions cannot be reassigned.</a:t>
            </a:r>
          </a:p>
          <a:p xmlns:a="http://schemas.openxmlformats.org/drawingml/2006/main">
            <a:r>
              <a:t/>
            </a:r>
          </a:p>
          <a:p xmlns:a="http://schemas.openxmlformats.org/drawingml/2006/main">
            <a:r>
              <a:t>Worked illustration / lecturer answer</a:t>
            </a:r>
          </a:p>
          <a:p xmlns:a="http://schemas.openxmlformats.org/drawingml/2006/main">
            <a:r>
              <a:t>For readings use an ordered list. For a record with unit and reading fields use a dictionary. For a coordinate pair use a tuple. For IDs already seen use a set.</a:t>
            </a:r>
          </a:p>
          <a:p xmlns:a="http://schemas.openxmlformats.org/drawingml/2006/main">
            <a:r>
              <a:t/>
            </a:r>
          </a:p>
          <a:p xmlns:a="http://schemas.openxmlformats.org/drawingml/2006/main">
            <a:r>
              <a:t>Misconception to address</a:t>
            </a:r>
          </a:p>
          <a:p xmlns:a="http://schemas.openxmlformats.org/drawingml/2006/main">
            <a:r>
              <a:t>A set cannot be indexed. Dictionary keys are unique, but values may repeat. {} is an empty dictionary; set() is an empty set.</a:t>
            </a:r>
          </a:p>
          <a:p xmlns:a="http://schemas.openxmlformats.org/drawingml/2006/main">
            <a:r>
              <a:t/>
            </a:r>
          </a:p>
          <a:p xmlns:a="http://schemas.openxmlformats.org/drawingml/2006/main">
            <a:r>
              <a:t>On this slide</a:t>
            </a:r>
          </a:p>
          <a:p xmlns:a="http://schemas.openxmlformats.org/drawingml/2006/main">
            <a:r>
              <a:t>Type | Example | Choose it for</a:t>
            </a:r>
          </a:p>
          <a:p xmlns:a="http://schemas.openxmlformats.org/drawingml/2006/main">
            <a:r>
              <a:t>list | [98, 105, 92] | Values in a changeable order</a:t>
            </a:r>
          </a:p>
          <a:p xmlns:a="http://schemas.openxmlformats.org/drawingml/2006/main">
            <a:r>
              <a:t>dict | {"reading": 98} | Values found by named keys</a:t>
            </a:r>
          </a:p>
          <a:p xmlns:a="http://schemas.openxmlformats.org/drawingml/2006/main">
            <a:r>
              <a:t>tuple | (2, 3) | Positions you will not reassign</a:t>
            </a:r>
          </a:p>
          <a:p xmlns:a="http://schemas.openxmlformats.org/drawingml/2006/main">
            <a:r>
              <a:t>set | {"A", "B"} | Distinct items and membership</a:t>
            </a:r>
          </a:p>
          <a:p xmlns:a="http://schemas.openxmlformats.org/drawingml/2006/main">
            <a:r>
              <a:t>List and tuple positions start at zero. Dictionaries use keys. Sets have no positional index.</a:t>
            </a:r>
          </a:p>
          <a:p xmlns:a="http://schemas.openxmlformats.org/drawingml/2006/main">
            <a:r>
              <a:t/>
            </a:r>
          </a:p>
          <a:p xmlns:a="http://schemas.openxmlformats.org/drawingml/2006/main">
            <a:r>
              <a:t>Continue to</a:t>
            </a:r>
          </a:p>
          <a:p xmlns:a="http://schemas.openxmlformats.org/drawingml/2006/main">
            <a:r>
              <a:t>A list stores values in positions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list stores values in positions</a:t>
            </a:r>
          </a:p>
          <a:p xmlns:a="http://schemas.openxmlformats.org/drawingml/2006/main">
            <a:r>
              <a:t>CML3113, Week 3, slide 65</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On this slide</a:t>
            </a:r>
          </a:p>
          <a:p xmlns:a="http://schemas.openxmlformats.org/drawingml/2006/main">
            <a:r>
              <a:t>readings = [98, 105, 92] creates a list. Square brackets enclose the items; commas separate them.</a:t>
            </a:r>
          </a:p>
          <a:p xmlns:a="http://schemas.openxmlformats.org/drawingml/2006/main">
            <a:r>
              <a:t/>
            </a:r>
          </a:p>
          <a:p xmlns:a="http://schemas.openxmlformats.org/drawingml/2006/main">
            <a:r>
              <a:t>An index is an item’s position. Python starts counting at zero: readings[0] is 98, readings[1] is 105, readings[2] is 92.</a:t>
            </a:r>
          </a:p>
          <a:p xmlns:a="http://schemas.openxmlformats.org/drawingml/2006/main">
            <a:r>
              <a:t/>
            </a:r>
          </a:p>
          <a:p xmlns:a="http://schemas.openxmlformats.org/drawingml/2006/main">
            <a:r>
              <a:t>Three items have positions 0, 1 and 2. readings[3] raises IndexError because there is no fourth item.</a:t>
            </a:r>
          </a:p>
          <a:p xmlns:a="http://schemas.openxmlformats.org/drawingml/2006/main">
            <a:r>
              <a:t/>
            </a:r>
          </a:p>
          <a:p xmlns:a="http://schemas.openxmlformats.org/drawingml/2006/main">
            <a:r>
              <a:t>Continue to</a:t>
            </a:r>
          </a:p>
          <a:p xmlns:a="http://schemas.openxmlformats.org/drawingml/2006/main">
            <a:r>
              <a:t>Count items before choosing a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 items before choosing a position</a:t>
            </a:r>
          </a:p>
          <a:p xmlns:a="http://schemas.openxmlformats.org/drawingml/2006/main">
            <a:r>
              <a:t>CML3113, Week 3, slide 66</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On this slide</a:t>
            </a:r>
          </a:p>
          <a:p xmlns:a="http://schemas.openxmlformats.org/drawingml/2006/main">
            <a:r>
              <a:t>len(readings) is a built-in function call that returns how many items the list contains. len([98, 105, 92]) is 3.</a:t>
            </a:r>
          </a:p>
          <a:p xmlns:a="http://schemas.openxmlformats.org/drawingml/2006/main">
            <a:r>
              <a:t/>
            </a:r>
          </a:p>
          <a:p xmlns:a="http://schemas.openxmlformats.org/drawingml/2006/main">
            <a:r>
              <a:t>A count and an index are different: the count is 3, while the valid positions are 0, 1 and 2.</a:t>
            </a:r>
          </a:p>
          <a:p xmlns:a="http://schemas.openxmlformats.org/drawingml/2006/main">
            <a:r>
              <a:t/>
            </a:r>
          </a:p>
          <a:p xmlns:a="http://schemas.openxmlformats.org/drawingml/2006/main">
            <a:r>
              <a:t>print(readings) displays the whole list. print(readings[0]) displays only the value at its first position.</a:t>
            </a:r>
          </a:p>
          <a:p xmlns:a="http://schemas.openxmlformats.org/drawingml/2006/main">
            <a:r>
              <a:t/>
            </a:r>
          </a:p>
          <a:p xmlns:a="http://schemas.openxmlformats.org/drawingml/2006/main">
            <a:r>
              <a:t>Reference / existing resource</a:t>
            </a:r>
          </a:p>
          <a:p xmlns:a="http://schemas.openxmlformats.org/drawingml/2006/main">
            <a:r>
              <a:t>https://docs.python.org/3/tutorial/introduction.html</a:t>
            </a:r>
          </a:p>
          <a:p xmlns:a="http://schemas.openxmlformats.org/drawingml/2006/main">
            <a:r>
              <a:t>https://docs.python.org/3/tutorial/controlflow.html;</a:t>
            </a:r>
          </a:p>
          <a:p xmlns:a="http://schemas.openxmlformats.org/drawingml/2006/main">
            <a:r>
              <a:t/>
            </a:r>
          </a:p>
          <a:p xmlns:a="http://schemas.openxmlformats.org/drawingml/2006/main">
            <a:r>
              <a:t>Continue to</a:t>
            </a:r>
          </a:p>
          <a:p xmlns:a="http://schemas.openxmlformats.org/drawingml/2006/main">
            <a:r>
              <a:t>Creating and reading a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and reading a list</a:t>
            </a:r>
          </a:p>
          <a:p xmlns:a="http://schemas.openxmlformats.org/drawingml/2006/main">
            <a:r>
              <a:t>CML3113, Week 3, slide 67</a:t>
            </a:r>
          </a:p>
          <a:p xmlns:a="http://schemas.openxmlformats.org/drawingml/2006/main">
            <a:r>
              <a:t/>
            </a:r>
          </a:p>
          <a:p xmlns:a="http://schemas.openxmlformats.org/drawingml/2006/main">
            <a:r>
              <a:t>Explanation to give</a:t>
            </a:r>
          </a:p>
          <a:p xmlns:a="http://schemas.openxmlformats.org/drawingml/2006/main">
            <a:r>
              <a:t>A list is an ordered collection. Draw labelled positions 0, 1 and 2 above three values. The position is the address, not the value stored there. A list may contain repeated values.</a:t>
            </a:r>
          </a:p>
          <a:p xmlns:a="http://schemas.openxmlformats.org/drawingml/2006/main">
            <a:r>
              <a:t/>
            </a:r>
          </a:p>
          <a:p xmlns:a="http://schemas.openxmlformats.org/drawingml/2006/main">
            <a:r>
              <a:t>Worked illustration / lecturer answer</a:t>
            </a:r>
          </a:p>
          <a:p xmlns:a="http://schemas.openxmlformats.org/drawingml/2006/main">
            <a:r>
              <a:t>For [2, 4, 6], position 0 contains 2 and position 2 contains 6. len returns 3. There is no position 3. append(8) adds a new final item and the count becomes 4.</a:t>
            </a:r>
          </a:p>
          <a:p xmlns:a="http://schemas.openxmlformats.org/drawingml/2006/main">
            <a:r>
              <a:t/>
            </a:r>
          </a:p>
          <a:p xmlns:a="http://schemas.openxmlformats.org/drawingml/2006/main">
            <a:r>
              <a:t>Misconception to address</a:t>
            </a:r>
          </a:p>
          <a:p xmlns:a="http://schemas.openxmlformats.org/drawingml/2006/main">
            <a:r>
              <a:t>Square brackets create a list when enclosing values, but select an item when placed after its name. Python counts list positions from zero.</a:t>
            </a:r>
          </a:p>
          <a:p xmlns:a="http://schemas.openxmlformats.org/drawingml/2006/main">
            <a:r>
              <a:t/>
            </a:r>
          </a:p>
          <a:p xmlns:a="http://schemas.openxmlformats.org/drawingml/2006/main">
            <a:r>
              <a:t>Read the displayed code line by line</a:t>
            </a:r>
          </a:p>
          <a:p xmlns:a="http://schemas.openxmlformats.org/drawingml/2006/main">
            <a:r>
              <a:t>readings = [98, 105, 92]</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print(readings[0])</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print(len(readings))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Output: [98, 105, 92], then 98, then 3.</a:t>
            </a:r>
          </a:p>
          <a:p xmlns:a="http://schemas.openxmlformats.org/drawingml/2006/main">
            <a:r>
              <a:t/>
            </a:r>
          </a:p>
          <a:p xmlns:a="http://schemas.openxmlformats.org/drawingml/2006/main">
            <a:r>
              <a:t>Continue to</a:t>
            </a:r>
          </a:p>
          <a:p xmlns:a="http://schemas.openxmlformats.org/drawingml/2006/main">
            <a:r>
              <a:t>Choosing the right collection</a:t>
            </a:r>
          </a:p>
          <a:p xmlns:a="http://schemas.openxmlformats.org/drawingml/2006/main">
            <a:r>
              <a:t/>
            </a:r>
          </a:p>
          <a:p xmlns:a="http://schemas.openxmlformats.org/drawingml/2006/main">
            <a:r>
              <a:t>Result from the supplied example</a:t>
            </a:r>
          </a:p>
          <a:p xmlns:a="http://schemas.openxmlformats.org/drawingml/2006/main">
            <a:r>
              <a:t>[98, 105, 92]</a:t>
            </a:r>
          </a:p>
          <a:p xmlns:a="http://schemas.openxmlformats.org/drawingml/2006/main">
            <a:r>
              <a:t>98</a:t>
            </a:r>
          </a:p>
          <a:p xmlns:a="http://schemas.openxmlformats.org/drawingml/2006/main">
            <a:r>
              <a:t>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Choosing the right collection</a:t>
            </a:r>
          </a:p>
          <a:p xmlns:a="http://schemas.openxmlformats.org/drawingml/2006/main">
            <a:r>
              <a:t>CML3113, Week 3, slide 68</a:t>
            </a:r>
          </a:p>
          <a:p xmlns:a="http://schemas.openxmlformats.org/drawingml/2006/main">
            <a:r>
              <a:t/>
            </a:r>
          </a:p>
          <a:p xmlns:a="http://schemas.openxmlformats.org/drawingml/2006/main">
            <a:r>
              <a:t>Explanation to give</a:t>
            </a:r>
          </a:p>
          <a:p xmlns:a="http://schemas.openxmlformats.org/drawingml/2006/main">
            <a:r>
              <a:t>Compare the access rule for each collection. Lists and tuples use positions; dictionaries use keys; sets answer membership questions. Lists can change their items, while tuple positions cannot be reassigned.</a:t>
            </a:r>
          </a:p>
          <a:p xmlns:a="http://schemas.openxmlformats.org/drawingml/2006/main">
            <a:r>
              <a:t/>
            </a:r>
          </a:p>
          <a:p xmlns:a="http://schemas.openxmlformats.org/drawingml/2006/main">
            <a:r>
              <a:t>Worked illustration / lecturer answer</a:t>
            </a:r>
          </a:p>
          <a:p xmlns:a="http://schemas.openxmlformats.org/drawingml/2006/main">
            <a:r>
              <a:t>For readings use an ordered list. For a record with unit and reading fields use a dictionary. For a coordinate pair use a tuple. For IDs already seen use a set.</a:t>
            </a:r>
          </a:p>
          <a:p xmlns:a="http://schemas.openxmlformats.org/drawingml/2006/main">
            <a:r>
              <a:t/>
            </a:r>
          </a:p>
          <a:p xmlns:a="http://schemas.openxmlformats.org/drawingml/2006/main">
            <a:r>
              <a:t>Misconception to address</a:t>
            </a:r>
          </a:p>
          <a:p xmlns:a="http://schemas.openxmlformats.org/drawingml/2006/main">
            <a:r>
              <a:t>A set cannot be indexed. Dictionary keys are unique, but values may repeat. {} is an empty dictionary; set() is an empty set.</a:t>
            </a:r>
          </a:p>
          <a:p xmlns:a="http://schemas.openxmlformats.org/drawingml/2006/main">
            <a:r>
              <a:t/>
            </a:r>
          </a:p>
          <a:p xmlns:a="http://schemas.openxmlformats.org/drawingml/2006/main">
            <a:r>
              <a:t>On this slide</a:t>
            </a:r>
          </a:p>
          <a:p xmlns:a="http://schemas.openxmlformats.org/drawingml/2006/main">
            <a:r>
              <a:t>A dictionary connects a key to a value: {"reading": 98}. The colon connects them; record["reading"] finds the value by its key.</a:t>
            </a:r>
          </a:p>
          <a:p xmlns:a="http://schemas.openxmlformats.org/drawingml/2006/main">
            <a:r>
              <a:t/>
            </a:r>
          </a:p>
          <a:p xmlns:a="http://schemas.openxmlformats.org/drawingml/2006/main">
            <a:r>
              <a:t>A tuple such as (2, 3) stores ordered items whose positions cannot be reassigned. A set such as {"A", "B"} stores distinct items without positions.</a:t>
            </a:r>
          </a:p>
          <a:p xmlns:a="http://schemas.openxmlformats.org/drawingml/2006/main">
            <a:r>
              <a:t/>
            </a:r>
          </a:p>
          <a:p xmlns:a="http://schemas.openxmlformats.org/drawingml/2006/main">
            <a:r>
              <a:t>We use a list for today’s readings because their order matters. Week 4 develops dictionary, tuple and set operations before we use them with records.</a:t>
            </a:r>
          </a:p>
          <a:p xmlns:a="http://schemas.openxmlformats.org/drawingml/2006/main">
            <a:r>
              <a:t/>
            </a:r>
          </a:p>
          <a:p xmlns:a="http://schemas.openxmlformats.org/drawingml/2006/main">
            <a:r>
              <a:t>Continue to</a:t>
            </a:r>
          </a:p>
          <a:p xmlns:a="http://schemas.openxmlformats.org/drawingml/2006/main">
            <a:r>
              <a:t>A method belongs to a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method belongs to a value</a:t>
            </a:r>
          </a:p>
          <a:p xmlns:a="http://schemas.openxmlformats.org/drawingml/2006/main">
            <a:r>
              <a:t>CML3113, Week 3, slide 69</a:t>
            </a:r>
          </a:p>
          <a:p xmlns:a="http://schemas.openxmlformats.org/drawingml/2006/main">
            <a:r>
              <a:t/>
            </a:r>
          </a:p>
          <a:p xmlns:a="http://schemas.openxmlformats.org/drawingml/2006/main">
            <a:r>
              <a:t>Explanation to give</a:t>
            </a:r>
          </a:p>
          <a:p xmlns:a="http://schemas.openxmlformats.org/drawingml/2006/main">
            <a:r>
              <a:t>A method is an operation accessed through an object with a dot. The object tells us which data the operation acts on. Contrast that syntax with a standalone function receiving the object as an input.</a:t>
            </a:r>
          </a:p>
          <a:p xmlns:a="http://schemas.openxmlformats.org/drawingml/2006/main">
            <a:r>
              <a:t/>
            </a:r>
          </a:p>
          <a:p xmlns:a="http://schemas.openxmlformats.org/drawingml/2006/main">
            <a:r>
              <a:t>Worked illustration / lecturer answer</a:t>
            </a:r>
          </a:p>
          <a:p xmlns:a="http://schemas.openxmlformats.org/drawingml/2006/main">
            <a:r>
              <a:t>len(readings) counts the list. readings.index(105) searches that list and returns the first matching position. readings[1] retrieves the item at position 1.</a:t>
            </a:r>
          </a:p>
          <a:p xmlns:a="http://schemas.openxmlformats.org/drawingml/2006/main">
            <a:r>
              <a:t/>
            </a:r>
          </a:p>
          <a:p xmlns:a="http://schemas.openxmlformats.org/drawingml/2006/main">
            <a:r>
              <a:t>Misconception to address</a:t>
            </a:r>
          </a:p>
          <a:p xmlns:a="http://schemas.openxmlformats.org/drawingml/2006/main">
            <a:r>
              <a:t>index returns a position, not the item. An absent search value raises ValueError; it does not return a spare valid position.</a:t>
            </a:r>
          </a:p>
          <a:p xmlns:a="http://schemas.openxmlformats.org/drawingml/2006/main">
            <a:r>
              <a:t/>
            </a:r>
          </a:p>
          <a:p xmlns:a="http://schemas.openxmlformats.org/drawingml/2006/main">
            <a:r>
              <a:t>On this slide</a:t>
            </a:r>
          </a:p>
          <a:p xmlns:a="http://schemas.openxmlformats.org/drawingml/2006/main">
            <a:r>
              <a:t>A function is called by name: len(readings). A method is called through a value with a dot: readings.index(105).</a:t>
            </a:r>
          </a:p>
          <a:p xmlns:a="http://schemas.openxmlformats.org/drawingml/2006/main">
            <a:r>
              <a:t/>
            </a:r>
          </a:p>
          <a:p xmlns:a="http://schemas.openxmlformats.org/drawingml/2006/main">
            <a:r>
              <a:t>index searches a list for a value and returns its first position. Here readings.index(105) returns 1. A missing value raises ValueError.</a:t>
            </a:r>
          </a:p>
          <a:p xmlns:a="http://schemas.openxmlformats.org/drawingml/2006/main">
            <a:r>
              <a:t/>
            </a:r>
          </a:p>
          <a:p xmlns:a="http://schemas.openxmlformats.org/drawingml/2006/main">
            <a:r>
              <a:t>The parentheses contain inputs to the operation. The square brackets in readings[1] select an item; they do a different job.</a:t>
            </a:r>
          </a:p>
          <a:p xmlns:a="http://schemas.openxmlformats.org/drawingml/2006/main">
            <a:r>
              <a:t/>
            </a:r>
          </a:p>
          <a:p xmlns:a="http://schemas.openxmlformats.org/drawingml/2006/main">
            <a:r>
              <a:t>Continue to</a:t>
            </a:r>
          </a:p>
          <a:p xmlns:a="http://schemas.openxmlformats.org/drawingml/2006/main">
            <a:r>
              <a:t>Selecting a largest error without loops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Selecting a largest error without loops</a:t>
            </a:r>
          </a:p>
          <a:p xmlns:a="http://schemas.openxmlformats.org/drawingml/2006/main">
            <a:r>
              <a:t>CML3113, Week 3, slide 70</a:t>
            </a:r>
          </a:p>
          <a:p xmlns:a="http://schemas.openxmlformats.org/drawingml/2006/main">
            <a:r>
              <a:t/>
            </a:r>
          </a:p>
          <a:p xmlns:a="http://schemas.openxmlformats.org/drawingml/2006/main">
            <a:r>
              <a:t>Explanation to give</a:t>
            </a:r>
          </a:p>
          <a:p xmlns:a="http://schemas.openxmlformats.org/drawingml/2006/main">
            <a:r>
              <a:t>Separate error direction from error size. A negative error means the reading is below the reference. abs removes the sign for size comparisons, but keep the original signed number for reporting.</a:t>
            </a:r>
          </a:p>
          <a:p xmlns:a="http://schemas.openxmlformats.org/drawingml/2006/main">
            <a:r>
              <a:t/>
            </a:r>
          </a:p>
          <a:p xmlns:a="http://schemas.openxmlformats.org/drawingml/2006/main">
            <a:r>
              <a:t>Worked illustration / lecturer answer</a:t>
            </a:r>
          </a:p>
          <a:p xmlns:a="http://schemas.openxmlformats.org/drawingml/2006/main">
            <a:r>
              <a:t>Errors [-2, 5, -8] have sizes [2, 5, 8]. The largest size is 8 at position 2. The corresponding reading is 92 and its signed error is -8.</a:t>
            </a:r>
          </a:p>
          <a:p xmlns:a="http://schemas.openxmlformats.org/drawingml/2006/main">
            <a:r>
              <a:t/>
            </a:r>
          </a:p>
          <a:p xmlns:a="http://schemas.openxmlformats.org/drawingml/2006/main">
            <a:r>
              <a:t>Misconception to address</a:t>
            </a:r>
          </a:p>
          <a:p xmlns:a="http://schemas.openxmlformats.org/drawingml/2006/main">
            <a:r>
              <a:t>max(errors) would select 5, the largest signed value, rather than the largest error by size. Match the selected position back to both original lists.</a:t>
            </a:r>
          </a:p>
          <a:p xmlns:a="http://schemas.openxmlformats.org/drawingml/2006/main">
            <a:r>
              <a:t/>
            </a:r>
          </a:p>
          <a:p xmlns:a="http://schemas.openxmlformats.org/drawingml/2006/main">
            <a:r>
              <a:t>On this slide</a:t>
            </a:r>
          </a:p>
          <a:p xmlns:a="http://schemas.openxmlformats.org/drawingml/2006/main">
            <a:r>
              <a:t>An error is measured − expected. Its sign shows the direction. abs gives its magnitude: abs(-8) is 8.</a:t>
            </a:r>
          </a:p>
          <a:p xmlns:a="http://schemas.openxmlformats.org/drawingml/2006/main">
            <a:r>
              <a:t/>
            </a:r>
          </a:p>
          <a:p xmlns:a="http://schemas.openxmlformats.org/drawingml/2006/main">
            <a:r>
              <a:t>max finds the largest supplied value: max(2, 5, 8) is 8. Compare magnitudes when the task asks for the largest error by size.</a:t>
            </a:r>
          </a:p>
          <a:p xmlns:a="http://schemas.openxmlformats.org/drawingml/2006/main">
            <a:r>
              <a:t/>
            </a:r>
          </a:p>
          <a:p xmlns:a="http://schemas.openxmlformats.org/drawingml/2006/main">
            <a:r>
              <a:t>Keep the original signed error as well, because the magnitude alone loses direction.</a:t>
            </a:r>
          </a:p>
          <a:p xmlns:a="http://schemas.openxmlformats.org/drawingml/2006/main">
            <a:r>
              <a:t/>
            </a:r>
          </a:p>
          <a:p xmlns:a="http://schemas.openxmlformats.org/drawingml/2006/main">
            <a:r>
              <a:t>Continue to</a:t>
            </a:r>
          </a:p>
          <a:p xmlns:a="http://schemas.openxmlformats.org/drawingml/2006/main">
            <a:r>
              <a:t>Selecting a largest error without loops in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Selecting a largest error without loops in Python</a:t>
            </a:r>
          </a:p>
          <a:p xmlns:a="http://schemas.openxmlformats.org/drawingml/2006/main">
            <a:r>
              <a:t>CML3113, Week 3, slide 71</a:t>
            </a:r>
          </a:p>
          <a:p xmlns:a="http://schemas.openxmlformats.org/drawingml/2006/main">
            <a:r>
              <a:t/>
            </a:r>
          </a:p>
          <a:p xmlns:a="http://schemas.openxmlformats.org/drawingml/2006/main">
            <a:r>
              <a:t>Explanation to give</a:t>
            </a:r>
          </a:p>
          <a:p xmlns:a="http://schemas.openxmlformats.org/drawingml/2006/main">
            <a:r>
              <a:t>Separate error direction from error size. A negative error means the reading is below the reference. abs removes the sign for size comparisons, but keep the original signed number for reporting.</a:t>
            </a:r>
          </a:p>
          <a:p xmlns:a="http://schemas.openxmlformats.org/drawingml/2006/main">
            <a:r>
              <a:t/>
            </a:r>
          </a:p>
          <a:p xmlns:a="http://schemas.openxmlformats.org/drawingml/2006/main">
            <a:r>
              <a:t>Worked illustration / lecturer answer</a:t>
            </a:r>
          </a:p>
          <a:p xmlns:a="http://schemas.openxmlformats.org/drawingml/2006/main">
            <a:r>
              <a:t>Errors [-2, 5, -8] have sizes [2, 5, 8]. The largest size is 8 at position 2. The corresponding reading is 92 and its signed error is -8.</a:t>
            </a:r>
          </a:p>
          <a:p xmlns:a="http://schemas.openxmlformats.org/drawingml/2006/main">
            <a:r>
              <a:t/>
            </a:r>
          </a:p>
          <a:p xmlns:a="http://schemas.openxmlformats.org/drawingml/2006/main">
            <a:r>
              <a:t>Misconception to address</a:t>
            </a:r>
          </a:p>
          <a:p xmlns:a="http://schemas.openxmlformats.org/drawingml/2006/main">
            <a:r>
              <a:t>max(errors) would select 5, the largest signed value, rather than the largest error by size. Match the selected position back to both original lists.</a:t>
            </a:r>
          </a:p>
          <a:p xmlns:a="http://schemas.openxmlformats.org/drawingml/2006/main">
            <a:r>
              <a:t/>
            </a:r>
          </a:p>
          <a:p xmlns:a="http://schemas.openxmlformats.org/drawingml/2006/main">
            <a:r>
              <a:t>Read the displayed code line by line</a:t>
            </a:r>
          </a:p>
          <a:p xmlns:a="http://schemas.openxmlformats.org/drawingml/2006/main">
            <a:r>
              <a:t>errors = [-2, 5, -8]</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largest = max(abs(errors[0]), abs(errors[1]), abs(errors[2]))</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print(largest)</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Continue to</a:t>
            </a:r>
          </a:p>
          <a:p xmlns:a="http://schemas.openxmlformats.org/drawingml/2006/main">
            <a:r>
              <a:t>Keep the reading beside its signed error</a:t>
            </a:r>
          </a:p>
          <a:p xmlns:a="http://schemas.openxmlformats.org/drawingml/2006/main">
            <a:r>
              <a:t/>
            </a:r>
          </a:p>
          <a:p xmlns:a="http://schemas.openxmlformats.org/drawingml/2006/main">
            <a:r>
              <a:t>Result from the supplied example</a:t>
            </a:r>
          </a:p>
          <a:p xmlns:a="http://schemas.openxmlformats.org/drawingml/2006/main">
            <a:r>
              <a:t>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reading beside its signed error</a:t>
            </a:r>
          </a:p>
          <a:p xmlns:a="http://schemas.openxmlformats.org/drawingml/2006/main">
            <a:r>
              <a:t>CML3113, Week 3, slide 72</a:t>
            </a:r>
          </a:p>
          <a:p xmlns:a="http://schemas.openxmlformats.org/drawingml/2006/main">
            <a:r>
              <a:t/>
            </a:r>
          </a:p>
          <a:p xmlns:a="http://schemas.openxmlformats.org/drawingml/2006/main">
            <a:r>
              <a:t>Explanation to give</a:t>
            </a:r>
          </a:p>
          <a:p xmlns:a="http://schemas.openxmlformats.org/drawingml/2006/main">
            <a:r>
              <a:t>Separate error direction from error size. A negative error means the reading is below the reference. abs removes the sign for size comparisons, but keep the original signed number for reporting.</a:t>
            </a:r>
          </a:p>
          <a:p xmlns:a="http://schemas.openxmlformats.org/drawingml/2006/main">
            <a:r>
              <a:t/>
            </a:r>
          </a:p>
          <a:p xmlns:a="http://schemas.openxmlformats.org/drawingml/2006/main">
            <a:r>
              <a:t>Worked illustration / lecturer answer</a:t>
            </a:r>
          </a:p>
          <a:p xmlns:a="http://schemas.openxmlformats.org/drawingml/2006/main">
            <a:r>
              <a:t>Errors [-2, 5, -8] have sizes [2, 5, 8]. The largest size is 8 at position 2. The corresponding reading is 92 and its signed error is -8.</a:t>
            </a:r>
          </a:p>
          <a:p xmlns:a="http://schemas.openxmlformats.org/drawingml/2006/main">
            <a:r>
              <a:t/>
            </a:r>
          </a:p>
          <a:p xmlns:a="http://schemas.openxmlformats.org/drawingml/2006/main">
            <a:r>
              <a:t>Misconception to address</a:t>
            </a:r>
          </a:p>
          <a:p xmlns:a="http://schemas.openxmlformats.org/drawingml/2006/main">
            <a:r>
              <a:t>max(errors) would select 5, the largest signed value, rather than the largest error by size. Match the selected position back to both original lists.</a:t>
            </a:r>
          </a:p>
          <a:p xmlns:a="http://schemas.openxmlformats.org/drawingml/2006/main">
            <a:r>
              <a:t/>
            </a:r>
          </a:p>
          <a:p xmlns:a="http://schemas.openxmlformats.org/drawingml/2006/main">
            <a:r>
              <a:t>On this slide</a:t>
            </a:r>
          </a:p>
          <a:p xmlns:a="http://schemas.openxmlformats.org/drawingml/2006/main">
            <a:r>
              <a:t>These paired lists use the same positions: the first error belongs to the first reading. The sign tells the direction; abs gives only the size.</a:t>
            </a:r>
          </a:p>
          <a:p xmlns:a="http://schemas.openxmlformats.org/drawingml/2006/main">
            <a:r>
              <a:t/>
            </a:r>
          </a:p>
          <a:p xmlns:a="http://schemas.openxmlformats.org/drawingml/2006/main">
            <a:r>
              <a:t>index(value) finds the first position containing that value. Use that position in the original lists. An exact tie selects the first here; follow the issued task’s rule.</a:t>
            </a:r>
          </a:p>
          <a:p xmlns:a="http://schemas.openxmlformats.org/drawingml/2006/main">
            <a:r>
              <a:t/>
            </a:r>
          </a:p>
          <a:p xmlns:a="http://schemas.openxmlformats.org/drawingml/2006/main">
            <a:r>
              <a:t>Continue to</a:t>
            </a:r>
          </a:p>
          <a:p xmlns:a="http://schemas.openxmlformats.org/drawingml/2006/main">
            <a:r>
              <a:t>Find a position, then recover the original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Find a position, then recover the original values</a:t>
            </a:r>
          </a:p>
          <a:p xmlns:a="http://schemas.openxmlformats.org/drawingml/2006/main">
            <a:r>
              <a:t>CML3113, Week 3, slide 73</a:t>
            </a:r>
          </a:p>
          <a:p xmlns:a="http://schemas.openxmlformats.org/drawingml/2006/main">
            <a:r>
              <a:t/>
            </a:r>
          </a:p>
          <a:p xmlns:a="http://schemas.openxmlformats.org/drawingml/2006/main">
            <a:r>
              <a:t>Explanation to give</a:t>
            </a:r>
          </a:p>
          <a:p xmlns:a="http://schemas.openxmlformats.org/drawingml/2006/main">
            <a:r>
              <a:t>Separate error direction from error size. A negative error means the reading is below the reference. abs removes the sign for size comparisons, but keep the original signed number for reporting.</a:t>
            </a:r>
          </a:p>
          <a:p xmlns:a="http://schemas.openxmlformats.org/drawingml/2006/main">
            <a:r>
              <a:t/>
            </a:r>
          </a:p>
          <a:p xmlns:a="http://schemas.openxmlformats.org/drawingml/2006/main">
            <a:r>
              <a:t>Worked illustration / lecturer answer</a:t>
            </a:r>
          </a:p>
          <a:p xmlns:a="http://schemas.openxmlformats.org/drawingml/2006/main">
            <a:r>
              <a:t>Errors [-2, 5, -8] have sizes [2, 5, 8]. The largest size is 8 at position 2. The corresponding reading is 92 and its signed error is -8.</a:t>
            </a:r>
          </a:p>
          <a:p xmlns:a="http://schemas.openxmlformats.org/drawingml/2006/main">
            <a:r>
              <a:t/>
            </a:r>
          </a:p>
          <a:p xmlns:a="http://schemas.openxmlformats.org/drawingml/2006/main">
            <a:r>
              <a:t>Misconception to address</a:t>
            </a:r>
          </a:p>
          <a:p xmlns:a="http://schemas.openxmlformats.org/drawingml/2006/main">
            <a:r>
              <a:t>max(errors) would select 5, the largest signed value, rather than the largest error by size. Match the selected position back to both original lists.</a:t>
            </a:r>
          </a:p>
          <a:p xmlns:a="http://schemas.openxmlformats.org/drawingml/2006/main">
            <a:r>
              <a:t/>
            </a:r>
          </a:p>
          <a:p xmlns:a="http://schemas.openxmlformats.org/drawingml/2006/main">
            <a:r>
              <a:t>Read the displayed code line by line</a:t>
            </a:r>
          </a:p>
          <a:p xmlns:a="http://schemas.openxmlformats.org/drawingml/2006/main">
            <a:r>
              <a:t>readings = [98, 105, 92]</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errors = [-2, 5, -8]</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sizes = [abs(errors[0]), abs(errors[1]), abs(errors[2])]</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position = sizes.index(max(sizes))</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print(readings[position], errors[position])</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Expected: 92 -8. The largest size is 8; the signed error is -8.</a:t>
            </a:r>
          </a:p>
          <a:p xmlns:a="http://schemas.openxmlformats.org/drawingml/2006/main">
            <a:r>
              <a:t/>
            </a:r>
          </a:p>
          <a:p xmlns:a="http://schemas.openxmlformats.org/drawingml/2006/main">
            <a:r>
              <a:t>Continue to</a:t>
            </a:r>
          </a:p>
          <a:p xmlns:a="http://schemas.openxmlformats.org/drawingml/2006/main">
            <a:r>
              <a:t>Revision example and answer</a:t>
            </a:r>
          </a:p>
          <a:p xmlns:a="http://schemas.openxmlformats.org/drawingml/2006/main">
            <a:r>
              <a:t/>
            </a:r>
          </a:p>
          <a:p xmlns:a="http://schemas.openxmlformats.org/drawingml/2006/main">
            <a:r>
              <a:t>Result from the supplied example</a:t>
            </a:r>
          </a:p>
          <a:p xmlns:a="http://schemas.openxmlformats.org/drawingml/2006/main">
            <a:r>
              <a:t>92 -8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example and answer</a:t>
            </a:r>
          </a:p>
          <a:p xmlns:a="http://schemas.openxmlformats.org/drawingml/2006/main">
            <a:r>
              <a:t>CML3113, Week 3, slide 74</a:t>
            </a:r>
          </a:p>
          <a:p xmlns:a="http://schemas.openxmlformats.org/drawingml/2006/main">
            <a:r>
              <a:t/>
            </a:r>
          </a:p>
          <a:p xmlns:a="http://schemas.openxmlformats.org/drawingml/2006/main">
            <a:r>
              <a:t>Explanation to give</a:t>
            </a:r>
          </a:p>
          <a:p xmlns:a="http://schemas.openxmlformats.org/drawingml/2006/main">
            <a:r>
              <a:t>Use the displayed example as a short individual revision question, then explain the reasoning behind its answer.</a:t>
            </a:r>
          </a:p>
          <a:p xmlns:a="http://schemas.openxmlformats.org/drawingml/2006/main">
            <a:r>
              <a:t/>
            </a:r>
          </a:p>
          <a:p xmlns:a="http://schemas.openxmlformats.org/drawingml/2006/main">
            <a:r>
              <a:t>Worked illustration / lecturer answer</a:t>
            </a:r>
          </a:p>
          <a:p xmlns:a="http://schemas.openxmlformats.org/drawingml/2006/main">
            <a:r>
              <a:t>Example: Write triple_value(x). Predict triple_value(5). Then predict safe_share(12, 0).</a:t>
            </a:r>
          </a:p>
          <a:p xmlns:a="http://schemas.openxmlformats.org/drawingml/2006/main">
            <a:r>
              <a:t/>
            </a:r>
          </a:p>
          <a:p xmlns:a="http://schemas.openxmlformats.org/drawingml/2006/main">
            <a:r>
              <a:t>Answer: triple_value returns x * 3. The calls give 15 and None respectively. The guard returns before division when people is zero.</a:t>
            </a:r>
          </a:p>
          <a:p xmlns:a="http://schemas.openxmlformats.org/drawingml/2006/main">
            <a:r>
              <a:t/>
            </a:r>
          </a:p>
          <a:p xmlns:a="http://schemas.openxmlformats.org/drawingml/2006/main">
            <a:r>
              <a:t>Misconception to address</a:t>
            </a:r>
          </a:p>
          <a:p xmlns:a="http://schemas.openxmlformats.org/drawingml/2006/main">
            <a:r>
              <a:t>Trace the operation that changes the value rather than accepting a memorised output. For notebook-state examples, specify which cell is repeated and whether the initialisation ran again.</a:t>
            </a:r>
          </a:p>
          <a:p xmlns:a="http://schemas.openxmlformats.org/drawingml/2006/main">
            <a:r>
              <a:t/>
            </a:r>
          </a:p>
          <a:p xmlns:a="http://schemas.openxmlformats.org/drawingml/2006/main">
            <a:r>
              <a:t>Continue to</a:t>
            </a:r>
          </a:p>
          <a:p xmlns:a="http://schemas.openxmlformats.org/drawingml/2006/main">
            <a:r>
              <a:t>Read the quantities before the formulas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quantities before the formulas</a:t>
            </a:r>
          </a:p>
          <a:p xmlns:a="http://schemas.openxmlformats.org/drawingml/2006/main">
            <a:r>
              <a:t>CML3113, Week 3, slide 75</a:t>
            </a:r>
          </a:p>
          <a:p xmlns:a="http://schemas.openxmlformats.org/drawingml/2006/main">
            <a:r>
              <a:t/>
            </a:r>
          </a:p>
          <a:p xmlns:a="http://schemas.openxmlformats.org/drawingml/2006/main">
            <a:r>
              <a:t>Explanation to give</a:t>
            </a:r>
          </a:p>
          <a:p xmlns:a="http://schemas.openxmlformats.org/drawingml/2006/main">
            <a:r>
              <a:t>Track the meaning and unit before substituting values. Mass is in kg, weight is in N, area in m² and volume in m³. Power is energy transferred per second, in W.</a:t>
            </a:r>
          </a:p>
          <a:p xmlns:a="http://schemas.openxmlformats.org/drawingml/2006/main">
            <a:r>
              <a:t/>
            </a:r>
          </a:p>
          <a:p xmlns:a="http://schemas.openxmlformats.org/drawingml/2006/main">
            <a:r>
              <a:t>Worked illustration / lecturer answer</a:t>
            </a:r>
          </a:p>
          <a:p xmlns:a="http://schemas.openxmlformats.org/drawingml/2006/main">
            <a:r>
              <a:t>Convert 200 mm to 0.2 m by dividing by 1000. A separate 2 kg mass has weight 19.62 N using g = 9.81 m/s². A percentage 75 becomes fraction 0.75.</a:t>
            </a:r>
          </a:p>
          <a:p xmlns:a="http://schemas.openxmlformats.org/drawingml/2006/main">
            <a:r>
              <a:t/>
            </a:r>
          </a:p>
          <a:p xmlns:a="http://schemas.openxmlformats.org/drawingml/2006/main">
            <a:r>
              <a:t>Misconception to address</a:t>
            </a:r>
          </a:p>
          <a:p xmlns:a="http://schemas.openxmlformats.org/drawingml/2006/main">
            <a:r>
              <a:t>Do not mix area, volume, mass and force. The name G is an uppercase convention for a fixed value, not an automatic unit system. Only introduce rpm conversion when that quantity is actually needed.</a:t>
            </a:r>
          </a:p>
          <a:p xmlns:a="http://schemas.openxmlformats.org/drawingml/2006/main">
            <a:r>
              <a:t/>
            </a:r>
          </a:p>
          <a:p xmlns:a="http://schemas.openxmlformats.org/drawingml/2006/main">
            <a:r>
              <a:t>On this slide</a:t>
            </a:r>
          </a:p>
          <a:p xmlns:a="http://schemas.openxmlformats.org/drawingml/2006/main">
            <a:r>
              <a:t>Mass measures matter in kilograms (kg). Weight is a force in newtons (N): mass × gravitational acceleration. The assignment uses g = 9.81 m/s².</a:t>
            </a:r>
          </a:p>
          <a:p xmlns:a="http://schemas.openxmlformats.org/drawingml/2006/main">
            <a:r>
              <a:t/>
            </a:r>
          </a:p>
          <a:p xmlns:a="http://schemas.openxmlformats.org/drawingml/2006/main">
            <a:r>
              <a:t>Power is energy transferred per second, in watts (W). Efficiency in percent = 100 × useful output power / input power.</a:t>
            </a:r>
          </a:p>
          <a:p xmlns:a="http://schemas.openxmlformats.org/drawingml/2006/main">
            <a:r>
              <a:t/>
            </a:r>
          </a:p>
          <a:p xmlns:a="http://schemas.openxmlformats.org/drawingml/2006/main">
            <a:r>
              <a:t>A named constant stores a value kept fixed in the calculation. Uppercase names such as G are a convention, not a Python restriction.</a:t>
            </a:r>
          </a:p>
          <a:p xmlns:a="http://schemas.openxmlformats.org/drawingml/2006/main">
            <a:r>
              <a:t/>
            </a:r>
          </a:p>
          <a:p xmlns:a="http://schemas.openxmlformats.org/drawingml/2006/main">
            <a:r>
              <a:t>Continue to</a:t>
            </a:r>
          </a:p>
          <a:p xmlns:a="http://schemas.openxmlformats.org/drawingml/2006/main">
            <a:r>
              <a:t>Your programme formula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programme formula</a:t>
            </a:r>
          </a:p>
          <a:p xmlns:a="http://schemas.openxmlformats.org/drawingml/2006/main">
            <a:r>
              <a:t>CML3113, Week 3, slide 76</a:t>
            </a:r>
          </a:p>
          <a:p xmlns:a="http://schemas.openxmlformats.org/drawingml/2006/main">
            <a:r>
              <a:t/>
            </a:r>
          </a:p>
          <a:p xmlns:a="http://schemas.openxmlformats.org/drawingml/2006/main">
            <a:r>
              <a:t>Explanation to give</a:t>
            </a:r>
          </a:p>
          <a:p xmlns:a="http://schemas.openxmlformats.org/drawingml/2006/main">
            <a:r>
              <a:t>Use fluid moving through a system as the physical reference. Volume in litres divided by elapsed seconds gives a flow rate in L/s. Density and depth belong to a later pressure calculation.</a:t>
            </a:r>
          </a:p>
          <a:p xmlns:a="http://schemas.openxmlformats.org/drawingml/2006/main">
            <a:r>
              <a:t/>
            </a:r>
          </a:p>
          <a:p xmlns:a="http://schemas.openxmlformats.org/drawingml/2006/main">
            <a:r>
              <a:t>Worked illustration / lecturer answer</a:t>
            </a:r>
          </a:p>
          <a:p xmlns:a="http://schemas.openxmlformats.org/drawingml/2006/main">
            <a:r>
              <a:t>In the displayed introductory calculation, 18 L / 3 s = 6 L/s. For the later pressure task, density × g × depth yields Pa, then division by 1000 converts to kPa.</a:t>
            </a:r>
          </a:p>
          <a:p xmlns:a="http://schemas.openxmlformats.org/drawingml/2006/main">
            <a:r>
              <a:t/>
            </a:r>
          </a:p>
          <a:p xmlns:a="http://schemas.openxmlformats.org/drawingml/2006/main">
            <a:r>
              <a:t>Misconception to address</a:t>
            </a:r>
          </a:p>
          <a:p xmlns:a="http://schemas.openxmlformats.org/drawingml/2006/main">
            <a:r>
              <a:t>Flow rate and pressure are different physical quantities. Keep litres/seconds separate from the SI units specified for mud_pressure.</a:t>
            </a:r>
          </a:p>
          <a:p xmlns:a="http://schemas.openxmlformats.org/drawingml/2006/main">
            <a:r>
              <a:t/>
            </a:r>
          </a:p>
          <a:p xmlns:a="http://schemas.openxmlformats.org/drawingml/2006/main">
            <a:r>
              <a:t>On this slide</a:t>
            </a:r>
          </a:p>
          <a:p xmlns:a="http://schemas.openxmlformats.org/drawingml/2006/main">
            <a:r>
              <a:t>Hydrostatic pressure (kPa) = density (kg/m³) × 9.81 (m/s²) × depth (m) / 1000. This is the pressure contribution of the fluid column.</a:t>
            </a:r>
          </a:p>
          <a:p xmlns:a="http://schemas.openxmlformats.org/drawingml/2006/main">
            <a:r>
              <a:t/>
            </a:r>
          </a:p>
          <a:p xmlns:a="http://schemas.openxmlformats.org/drawingml/2006/main">
            <a:r>
              <a:t>Continue to</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Preparing for the assignment</a:t>
            </a:r>
          </a:p>
          <a:p xmlns:a="http://schemas.openxmlformats.org/drawingml/2006/main">
            <a:r>
              <a:t>CML3113, Week 3, slide 77</a:t>
            </a:r>
          </a:p>
          <a:p xmlns:a="http://schemas.openxmlformats.org/drawingml/2006/main">
            <a:r>
              <a:t/>
            </a:r>
          </a:p>
          <a:p xmlns:a="http://schemas.openxmlformats.org/drawingml/2006/main">
            <a:r>
              <a:t>Explanation to give</a:t>
            </a:r>
          </a:p>
          <a:p xmlns:a="http://schemas.openxmlformats.org/drawingml/2006/main">
            <a:r>
              <a:t>A3 has five tasks in one notebook: a weight value, signed percentage-error function, programme-specific function, guarded efficiency function and the largest-error reading.</a:t>
            </a:r>
          </a:p>
          <a:p xmlns:a="http://schemas.openxmlformats.org/drawingml/2006/main">
            <a:r>
              <a:t/>
            </a:r>
          </a:p>
          <a:p xmlns:a="http://schemas.openxmlformats.org/drawingml/2006/main">
            <a:r>
              <a:t>Worked illustration / lecturer answer</a:t>
            </a:r>
          </a:p>
          <a:p xmlns:a="http://schemas.openxmlformats.org/drawingml/2006/main">
            <a:r>
              <a:t>Explain the required names and return values. Compare a signed error by magnitude only for choosing the worst reading, then keep its original sign. Loops are not required for this six-reading task.</a:t>
            </a:r>
          </a:p>
          <a:p xmlns:a="http://schemas.openxmlformats.org/drawingml/2006/main">
            <a:r>
              <a:t/>
            </a:r>
          </a:p>
          <a:p xmlns:a="http://schemas.openxmlformats.org/drawingml/2006/main">
            <a:r>
              <a:t>Misconception to address</a:t>
            </a:r>
          </a:p>
          <a:p xmlns:a="http://schemas.openxmlformats.org/drawingml/2006/main">
            <a:r>
              <a:t>The latest notebook needs no grading scripts. Submit one .ipynb, with no separate report. Keep any work already completed in an older notebook.</a:t>
            </a:r>
          </a:p>
          <a:p xmlns:a="http://schemas.openxmlformats.org/drawingml/2006/main">
            <a:r>
              <a:t/>
            </a:r>
          </a:p>
          <a:p xmlns:a="http://schemas.openxmlformats.org/drawingml/2006/main">
            <a:r>
              <a:t>On this slide</a:t>
            </a:r>
          </a:p>
          <a:p xmlns:a="http://schemas.openxmlformats.org/drawingml/2006/main">
            <a:r>
              <a:t>A3 has five named tasks, not five additional projects.</a:t>
            </a:r>
          </a:p>
          <a:p xmlns:a="http://schemas.openxmlformats.org/drawingml/2006/main">
            <a:r>
              <a:t/>
            </a:r>
          </a:p>
          <a:p xmlns:a="http://schemas.openxmlformats.org/drawingml/2006/main">
            <a:r>
              <a:t>Read each public prompt and its exact output name.</a:t>
            </a:r>
          </a:p>
          <a:p xmlns:a="http://schemas.openxmlformats.org/drawingml/2006/main">
            <a:r>
              <a:t/>
            </a:r>
          </a:p>
          <a:p xmlns:a="http://schemas.openxmlformats.org/drawingml/2006/main">
            <a:r>
              <a:t>Signed percentage error = 100 × (measured − expected) / expected.</a:t>
            </a:r>
          </a:p>
          <a:p xmlns:a="http://schemas.openxmlformats.org/drawingml/2006/main">
            <a:r>
              <a:t/>
            </a:r>
          </a:p>
          <a:p xmlns:a="http://schemas.openxmlformats.org/drawingml/2006/main">
            <a:r>
              <a:t>Use a nonzero expected value.</a:t>
            </a:r>
          </a:p>
          <a:p xmlns:a="http://schemas.openxmlformats.org/drawingml/2006/main">
            <a:r>
              <a:t/>
            </a:r>
          </a:p>
          <a:p xmlns:a="http://schemas.openxmlformats.org/drawingml/2006/main">
            <a:r>
              <a:t>Current notebook workflow</a:t>
            </a:r>
          </a:p>
          <a:p xmlns:a="http://schemas.openxmlformats.org/drawingml/2006/main">
            <a:r>
              <a:t>The latest student package contains no grader scripts or g.check cells. Restart and run the completed notebook, then submit it. Existing older submissions remain valid.</a:t>
            </a:r>
          </a:p>
          <a:p xmlns:a="http://schemas.openxmlformats.org/drawingml/2006/main">
            <a:r>
              <a:t/>
            </a:r>
          </a:p>
          <a:p xmlns:a="http://schemas.openxmlformats.org/drawingml/2006/main">
            <a:r>
              <a:t>Continue to</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Preparing for the assignment continued</a:t>
            </a:r>
          </a:p>
          <a:p xmlns:a="http://schemas.openxmlformats.org/drawingml/2006/main">
            <a:r>
              <a:t>CML3113, Week 3, slide 78</a:t>
            </a:r>
          </a:p>
          <a:p xmlns:a="http://schemas.openxmlformats.org/drawingml/2006/main">
            <a:r>
              <a:t/>
            </a:r>
          </a:p>
          <a:p xmlns:a="http://schemas.openxmlformats.org/drawingml/2006/main">
            <a:r>
              <a:t>Explanation to give</a:t>
            </a:r>
          </a:p>
          <a:p xmlns:a="http://schemas.openxmlformats.org/drawingml/2006/main">
            <a:r>
              <a:t>A3 has five tasks in one notebook: a weight value, signed percentage-error function, programme-specific function, guarded efficiency function and the largest-error reading.</a:t>
            </a:r>
          </a:p>
          <a:p xmlns:a="http://schemas.openxmlformats.org/drawingml/2006/main">
            <a:r>
              <a:t/>
            </a:r>
          </a:p>
          <a:p xmlns:a="http://schemas.openxmlformats.org/drawingml/2006/main">
            <a:r>
              <a:t>Worked illustration / lecturer answer</a:t>
            </a:r>
          </a:p>
          <a:p xmlns:a="http://schemas.openxmlformats.org/drawingml/2006/main">
            <a:r>
              <a:t>Explain the required names and return values. Compare a signed error by magnitude only for choosing the worst reading, then keep its original sign. Loops are not required for this six-reading task.</a:t>
            </a:r>
          </a:p>
          <a:p xmlns:a="http://schemas.openxmlformats.org/drawingml/2006/main">
            <a:r>
              <a:t/>
            </a:r>
          </a:p>
          <a:p xmlns:a="http://schemas.openxmlformats.org/drawingml/2006/main">
            <a:r>
              <a:t>Misconception to address</a:t>
            </a:r>
          </a:p>
          <a:p xmlns:a="http://schemas.openxmlformats.org/drawingml/2006/main">
            <a:r>
              <a:t>The latest notebook needs no grading scripts. Submit one .ipynb, with no separate report. Keep any work already completed in an older notebook.</a:t>
            </a:r>
          </a:p>
          <a:p xmlns:a="http://schemas.openxmlformats.org/drawingml/2006/main">
            <a:r>
              <a:t/>
            </a:r>
          </a:p>
          <a:p xmlns:a="http://schemas.openxmlformats.org/drawingml/2006/main">
            <a:r>
              <a:t>On this slide</a:t>
            </a:r>
          </a:p>
          <a:p xmlns:a="http://schemas.openxmlformats.org/drawingml/2006/main">
            <a:r>
              <a:t>Use the formula for your programme shown earlier. q4 specifies the zero-input behaviour. q5 uses the supplied six readings; trace them on paper, and use your own percentage-error function.</a:t>
            </a:r>
          </a:p>
          <a:p xmlns:a="http://schemas.openxmlformats.org/drawingml/2006/main">
            <a:r>
              <a:t/>
            </a:r>
          </a:p>
          <a:p xmlns:a="http://schemas.openxmlformats.org/drawingml/2006/main">
            <a:r>
              <a:t>Loops are not required yet.</a:t>
            </a:r>
          </a:p>
          <a:p xmlns:a="http://schemas.openxmlformats.org/drawingml/2006/main">
            <a:r>
              <a:t/>
            </a:r>
          </a:p>
          <a:p xmlns:a="http://schemas.openxmlformats.org/drawingml/2006/main">
            <a:r>
              <a:t>Current notebook workflow</a:t>
            </a:r>
          </a:p>
          <a:p xmlns:a="http://schemas.openxmlformats.org/drawingml/2006/main">
            <a:r>
              <a:t>The latest student package contains no grader scripts or g.check cells. Restart and run the completed notebook, then submit it. Existing older submissions remain valid.</a:t>
            </a:r>
          </a:p>
          <a:p xmlns:a="http://schemas.openxmlformats.org/drawingml/2006/main">
            <a:r>
              <a:t/>
            </a:r>
          </a:p>
          <a:p xmlns:a="http://schemas.openxmlformats.org/drawingml/2006/main">
            <a:r>
              <a:t>Continue to</a:t>
            </a:r>
          </a:p>
          <a:p xmlns:a="http://schemas.openxmlformats.org/drawingml/2006/main">
            <a:r>
              <a:t>Unit conversions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Unit conversions for the assignment</a:t>
            </a:r>
          </a:p>
          <a:p xmlns:a="http://schemas.openxmlformats.org/drawingml/2006/main">
            <a:r>
              <a:t>CML3113, Week 3, slide 79</a:t>
            </a:r>
          </a:p>
          <a:p xmlns:a="http://schemas.openxmlformats.org/drawingml/2006/main">
            <a:r>
              <a:t/>
            </a:r>
          </a:p>
          <a:p xmlns:a="http://schemas.openxmlformats.org/drawingml/2006/main">
            <a:r>
              <a:t>Explanation to give</a:t>
            </a:r>
          </a:p>
          <a:p xmlns:a="http://schemas.openxmlformats.org/drawingml/2006/main">
            <a:r>
              <a:t>Track the meaning and unit before substituting values. Mass is in kg, weight is in N, area in m² and volume in m³. Power is energy transferred per second, in W.</a:t>
            </a:r>
          </a:p>
          <a:p xmlns:a="http://schemas.openxmlformats.org/drawingml/2006/main">
            <a:r>
              <a:t/>
            </a:r>
          </a:p>
          <a:p xmlns:a="http://schemas.openxmlformats.org/drawingml/2006/main">
            <a:r>
              <a:t>Worked illustration / lecturer answer</a:t>
            </a:r>
          </a:p>
          <a:p xmlns:a="http://schemas.openxmlformats.org/drawingml/2006/main">
            <a:r>
              <a:t>Convert 200 mm to 0.2 m by dividing by 1000. A separate 2 kg mass has weight 19.62 N using g = 9.81 m/s². A percentage 75 becomes fraction 0.75.</a:t>
            </a:r>
          </a:p>
          <a:p xmlns:a="http://schemas.openxmlformats.org/drawingml/2006/main">
            <a:r>
              <a:t/>
            </a:r>
          </a:p>
          <a:p xmlns:a="http://schemas.openxmlformats.org/drawingml/2006/main">
            <a:r>
              <a:t>Misconception to address</a:t>
            </a:r>
          </a:p>
          <a:p xmlns:a="http://schemas.openxmlformats.org/drawingml/2006/main">
            <a:r>
              <a:t>Do not mix area, volume, mass and force. The name G is an uppercase convention for a fixed value, not an automatic unit system. Only introduce rpm conversion when that quantity is actually needed.</a:t>
            </a:r>
          </a:p>
          <a:p xmlns:a="http://schemas.openxmlformats.org/drawingml/2006/main">
            <a:r>
              <a:t/>
            </a:r>
          </a:p>
          <a:p xmlns:a="http://schemas.openxmlformats.org/drawingml/2006/main">
            <a:r>
              <a:t>On this slide</a:t>
            </a:r>
          </a:p>
          <a:p xmlns:a="http://schemas.openxmlformats.org/drawingml/2006/main">
            <a:r>
              <a:t>Millimetres become metres by dividing by 1000: 200 mm is 0.2 m.</a:t>
            </a:r>
          </a:p>
          <a:p xmlns:a="http://schemas.openxmlformats.org/drawingml/2006/main">
            <a:r>
              <a:t/>
            </a:r>
          </a:p>
          <a:p xmlns:a="http://schemas.openxmlformats.org/drawingml/2006/main">
            <a:r>
              <a:t>Percent becomes a fraction by dividing by 100: 75% is 0.75.</a:t>
            </a:r>
          </a:p>
          <a:p xmlns:a="http://schemas.openxmlformats.org/drawingml/2006/main">
            <a:r>
              <a:t/>
            </a:r>
          </a:p>
          <a:p xmlns:a="http://schemas.openxmlformats.org/drawingml/2006/main">
            <a:r>
              <a:t>Only for rotational-speed questions: rpm means revolutions per minute. One revolution is 2π radians and one minute is 60 seconds, so multiply rpm by 2π/60.</a:t>
            </a:r>
          </a:p>
          <a:p xmlns:a="http://schemas.openxmlformats.org/drawingml/2006/main">
            <a:r>
              <a:t/>
            </a:r>
          </a:p>
          <a:p xmlns:a="http://schemas.openxmlformats.org/drawingml/2006/main">
            <a:r>
              <a:t>Current notebook workflow</a:t>
            </a:r>
          </a:p>
          <a:p xmlns:a="http://schemas.openxmlformats.org/drawingml/2006/main">
            <a:r>
              <a:t>The latest student package contains no grader scripts or g.check cells. Restart and run the completed notebook, then submit it. Existing older submissions remain valid.</a:t>
            </a:r>
          </a:p>
          <a:p xmlns:a="http://schemas.openxmlformats.org/drawingml/2006/main">
            <a:r>
              <a:t/>
            </a:r>
          </a:p>
          <a:p xmlns:a="http://schemas.openxmlformats.org/drawingml/2006/main">
            <a:r>
              <a:t>Continue to</a:t>
            </a:r>
          </a:p>
          <a:p xmlns:a="http://schemas.openxmlformats.org/drawingml/2006/main">
            <a:r>
              <a:t>Your issued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assignment</a:t>
            </a:r>
          </a:p>
          <a:p xmlns:a="http://schemas.openxmlformats.org/drawingml/2006/main">
            <a:r>
              <a:t>CML3113, Week 3, slide 80</a:t>
            </a:r>
          </a:p>
          <a:p xmlns:a="http://schemas.openxmlformats.org/drawingml/2006/main">
            <a:r>
              <a:t/>
            </a:r>
          </a:p>
          <a:p xmlns:a="http://schemas.openxmlformats.org/drawingml/2006/main">
            <a:r>
              <a:t>Explanation to give</a:t>
            </a:r>
          </a:p>
          <a:p xmlns:a="http://schemas.openxmlformats.org/drawingml/2006/main">
            <a:r>
              <a:t>A3 has five tasks in one notebook: a weight value, signed percentage-error function, programme-specific function, guarded efficiency function and the largest-error reading.</a:t>
            </a:r>
          </a:p>
          <a:p xmlns:a="http://schemas.openxmlformats.org/drawingml/2006/main">
            <a:r>
              <a:t/>
            </a:r>
          </a:p>
          <a:p xmlns:a="http://schemas.openxmlformats.org/drawingml/2006/main">
            <a:r>
              <a:t>Worked illustration / lecturer answer</a:t>
            </a:r>
          </a:p>
          <a:p xmlns:a="http://schemas.openxmlformats.org/drawingml/2006/main">
            <a:r>
              <a:t>Explain the required names and return values. Compare a signed error by magnitude only for choosing the worst reading, then keep its original sign. Loops are not required for this six-reading task.</a:t>
            </a:r>
          </a:p>
          <a:p xmlns:a="http://schemas.openxmlformats.org/drawingml/2006/main">
            <a:r>
              <a:t/>
            </a:r>
          </a:p>
          <a:p xmlns:a="http://schemas.openxmlformats.org/drawingml/2006/main">
            <a:r>
              <a:t>Misconception to address</a:t>
            </a:r>
          </a:p>
          <a:p xmlns:a="http://schemas.openxmlformats.org/drawingml/2006/main">
            <a:r>
              <a:t>The latest notebook needs no grading scripts. Submit one .ipynb, with no separate report. Keep any work already completed in an older notebook.</a:t>
            </a:r>
          </a:p>
          <a:p xmlns:a="http://schemas.openxmlformats.org/drawingml/2006/main">
            <a:r>
              <a:t/>
            </a:r>
          </a:p>
          <a:p xmlns:a="http://schemas.openxmlformats.org/drawingml/2006/main">
            <a:r>
              <a:t>On this slide</a:t>
            </a:r>
          </a:p>
          <a:p xmlns:a="http://schemas.openxmlformats.org/drawingml/2006/main">
            <a:r>
              <a:t>Open W03_student.ipynb.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Restart and run all cells, then save the completed notebook.</a:t>
            </a:r>
          </a:p>
          <a:p xmlns:a="http://schemas.openxmlformats.org/drawingml/2006/main">
            <a:r>
              <a:t/>
            </a:r>
          </a:p>
          <a:p xmlns:a="http://schemas.openxmlformats.org/drawingml/2006/main">
            <a:r>
              <a:t>Current notebook workflow</a:t>
            </a:r>
          </a:p>
          <a:p xmlns:a="http://schemas.openxmlformats.org/drawingml/2006/main">
            <a:r>
              <a:t>The latest student package contains no grader scripts or g.check cells. Restart and run the completed notebook, then submit it. Existing older submissions remain valid.</a:t>
            </a:r>
          </a:p>
          <a:p xmlns:a="http://schemas.openxmlformats.org/drawingml/2006/main">
            <a:r>
              <a:t/>
            </a:r>
          </a:p>
          <a:p xmlns:a="http://schemas.openxmlformats.org/drawingml/2006/main">
            <a:r>
              <a:t>Continue to</a:t>
            </a:r>
          </a:p>
          <a:p xmlns:a="http://schemas.openxmlformats.org/drawingml/2006/main">
            <a:r>
              <a:t>q1: 3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q1: 3 marks</a:t>
            </a:r>
          </a:p>
          <a:p xmlns:a="http://schemas.openxmlformats.org/drawingml/2006/main">
            <a:r>
              <a:t/>
            </a:r>
          </a:p>
          <a:p xmlns:a="http://schemas.openxmlformats.org/drawingml/2006/main">
            <a:r>
              <a:t>A 40 kg motor sits on a bench.</a:t>
            </a:r>
          </a:p>
          <a:p xmlns:a="http://schemas.openxmlformats.org/drawingml/2006/main">
            <a:r>
              <a:t/>
            </a:r>
          </a:p>
          <a:p xmlns:a="http://schemas.openxmlformats.org/drawingml/2006/main">
            <a:r>
              <a:t>Set weight_n to its weight in newtons, taking g = 9.81.</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q2: 4 marks</a:t>
            </a:r>
          </a:p>
          <a:p xmlns:a="http://schemas.openxmlformats.org/drawingml/2006/main">
            <a:r>
              <a:t/>
            </a:r>
          </a:p>
          <a:p xmlns:a="http://schemas.openxmlformats.org/drawingml/2006/main">
            <a:r>
              <a:t>Write percent_error(measured, expected) returning the signed percent error.</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q3: 3 marks</a:t>
            </a:r>
          </a:p>
          <a:p xmlns:a="http://schemas.openxmlformats.org/drawingml/2006/main">
            <a:r>
              <a:t/>
            </a:r>
          </a:p>
          <a:p xmlns:a="http://schemas.openxmlformats.org/drawingml/2006/main">
            <a:r>
              <a:t>Write mud_pressure(depth_m, density) returning the hydrostatic pressure in kPa.</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q4: 5 marks</a:t>
            </a:r>
          </a:p>
          <a:p xmlns:a="http://schemas.openxmlformats.org/drawingml/2006/main">
            <a:r>
              <a:t/>
            </a:r>
          </a:p>
          <a:p xmlns:a="http://schemas.openxmlformats.org/drawingml/2006/main">
            <a:r>
              <a:t>Write efficiency(out_w, in_w) returning the percentage, and returning None when in_w is zero or negative.</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q5: 5 marks</a:t>
            </a:r>
          </a:p>
          <a:p xmlns:a="http://schemas.openxmlformats.org/drawingml/2006/main">
            <a:r>
              <a:t/>
            </a:r>
          </a:p>
          <a:p xmlns:a="http://schemas.openxmlformats.org/drawingml/2006/main">
            <a:r>
              <a:t>READINGS is given in the notebook.</a:t>
            </a:r>
          </a:p>
          <a:p xmlns:a="http://schemas.openxmlformats.org/drawingml/2006/main">
            <a:r>
              <a:t/>
            </a:r>
          </a:p>
          <a:p xmlns:a="http://schemas.openxmlformats.org/drawingml/2006/main">
            <a:r>
              <a:t>Using your own percent_error against a nominal of 100, set worst_reading to the reading with the largest error by size, and worst_error to that reading's signed percent error.</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functions submission</a:t>
            </a:r>
          </a:p>
          <a:p xmlns:a="http://schemas.openxmlformats.org/drawingml/2006/main">
            <a:r>
              <a:t>CML3113, Week 3, slide 86</a:t>
            </a:r>
          </a:p>
          <a:p xmlns:a="http://schemas.openxmlformats.org/drawingml/2006/main">
            <a:r>
              <a:t/>
            </a:r>
          </a:p>
          <a:p xmlns:a="http://schemas.openxmlformats.org/drawingml/2006/main">
            <a:r>
              <a:t>Explanation to give</a:t>
            </a:r>
          </a:p>
          <a:p xmlns:a="http://schemas.openxmlformats.org/drawingml/2006/main">
            <a:r>
              <a:t>This slide hands over CML3113 W03.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2026-10-09T08:00:00+03:00.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25 Sep 2026, 08:00 Kampala</a:t>
            </a:r>
          </a:p>
          <a:p xmlns:a="http://schemas.openxmlformats.org/drawingml/2006/main">
            <a:r>
              <a:t/>
            </a:r>
          </a:p>
          <a:p xmlns:a="http://schemas.openxmlformats.org/drawingml/2006/main">
            <a:r>
              <a:t>Deadline: 02 Oct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Continue to</a:t>
            </a:r>
          </a:p>
          <a:p xmlns:a="http://schemas.openxmlformats.org/drawingml/2006/main">
            <a:r>
              <a:t>Week 3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3 quiz</a:t>
            </a:r>
          </a:p>
          <a:p xmlns:a="http://schemas.openxmlformats.org/drawingml/2006/main">
            <a:r>
              <a:t>CML3113, Week 3, slide 87</a:t>
            </a:r>
          </a:p>
          <a:p xmlns:a="http://schemas.openxmlformats.org/drawingml/2006/main">
            <a:r>
              <a:t/>
            </a:r>
          </a:p>
          <a:p xmlns:a="http://schemas.openxmlformats.org/drawingml/2006/main">
            <a:r>
              <a:t>Explanation to give</a:t>
            </a:r>
          </a:p>
          <a:p xmlns:a="http://schemas.openxmlformats.org/drawingml/2006/main">
            <a:r>
              <a:t>This is the CML3113 Week 3 quiz. The student link opens the response form; it does not activate its window. In Quiz Controls use open_W3_CML3113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a:p xmlns:a="http://schemas.openxmlformats.org/drawingml/2006/main">
            <a:r>
              <a:t/>
            </a:r>
          </a:p>
          <a:p xmlns:a="http://schemas.openxmlformats.org/drawingml/2006/main">
            <a:r>
              <a:t>Continue to</a:t>
            </a:r>
          </a:p>
          <a:p xmlns:a="http://schemas.openxmlformats.org/drawingml/2006/main">
            <a:r>
              <a:t>Revision and submission checklist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CML3113, Week 3, slide 88</a:t>
            </a:r>
          </a:p>
          <a:p xmlns:a="http://schemas.openxmlformats.org/drawingml/2006/main">
            <a:r>
              <a:t/>
            </a:r>
          </a:p>
          <a:p xmlns:a="http://schemas.openxmlformats.org/drawingml/2006/main">
            <a:r>
              <a:t>Explanation to give</a:t>
            </a:r>
          </a:p>
          <a:p xmlns:a="http://schemas.openxmlformats.org/drawingml/2006/main">
            <a:r>
              <a:t>Build calculations from values and operators, then decisions and functions, then collections. Define each symbol before using it in the program.</a:t>
            </a:r>
          </a:p>
          <a:p xmlns:a="http://schemas.openxmlformats.org/drawingml/2006/main">
            <a:r>
              <a:t/>
            </a:r>
          </a:p>
          <a:p xmlns:a="http://schemas.openxmlformats.org/drawingml/2006/main">
            <a:r>
              <a:t>Worked illustration / lecturer answer</a:t>
            </a:r>
          </a:p>
          <a:p xmlns:a="http://schemas.openxmlformats.org/drawingml/2006/main">
            <a:r>
              <a:t>A definition stores instructions. double_value(4) runs them with x = 4 and returns 8. Printing that return value is a separate action.</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explain each input, the returned answer and its engineering unit.</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Continue to</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CML3113, Week 3, slide 89</a:t>
            </a:r>
          </a:p>
          <a:p xmlns:a="http://schemas.openxmlformats.org/drawingml/2006/main">
            <a:r>
              <a:t/>
            </a:r>
          </a:p>
          <a:p xmlns:a="http://schemas.openxmlformats.org/drawingml/2006/main">
            <a:r>
              <a:t>Explanation to give</a:t>
            </a:r>
          </a:p>
          <a:p xmlns:a="http://schemas.openxmlformats.org/drawingml/2006/main">
            <a:r>
              <a:t>Give the viewing question before playing the excerpt: How are numbers written and how do arithmetic operators change them?</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Corey Schafer</a:t>
            </a:r>
          </a:p>
          <a:p xmlns:a="http://schemas.openxmlformats.org/drawingml/2006/main">
            <a:r>
              <a:t>Python Tutorial for Beginners 3: Integers and Floats</a:t>
            </a:r>
          </a:p>
          <a:p xmlns:a="http://schemas.openxmlformats.org/drawingml/2006/main">
            <a:r>
              <a:t/>
            </a:r>
          </a:p>
          <a:p xmlns:a="http://schemas.openxmlformats.org/drawingml/2006/main">
            <a:r>
              <a:t>Opening 00:00–04:00, suggested four-minute excerpt; preview before class</a:t>
            </a:r>
          </a:p>
          <a:p xmlns:a="http://schemas.openxmlformats.org/drawingml/2006/main">
            <a:r>
              <a:t/>
            </a:r>
          </a:p>
          <a:p xmlns:a="http://schemas.openxmlformats.org/drawingml/2006/main">
            <a:r>
              <a:t>Listening question: How are numbers written and how do arithmetic operators change them?</a:t>
            </a:r>
          </a:p>
          <a:p xmlns:a="http://schemas.openxmlformats.org/drawingml/2006/main">
            <a:r>
              <a:t/>
            </a:r>
          </a:p>
          <a:p xmlns:a="http://schemas.openxmlformats.org/drawingml/2006/main">
            <a:r>
              <a:t>Reference / existing resource</a:t>
            </a:r>
          </a:p>
          <a:p xmlns:a="http://schemas.openxmlformats.org/drawingml/2006/main">
            <a:r>
              <a:t>https://www.youtube.com/watch?v=khKv-8q7YmY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e3f16c58040439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ccebffd7f53415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84052a6b003491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13b095b5563424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c750865417f4d0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339dd221e85424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4BF734-5111-4BDB-8F87-D0EEEFC17E1C}"/>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DE5AC1C-89D7-4EC4-9821-7A726D8BF7D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B894A59-A775-4FB0-9D1A-C54D686D8E5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84EA56A-BB52-4885-BF1D-F7855251884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E5133DC-F731-45A5-B5C2-507D898A281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37BDF64-2964-4D4F-AF33-7C2B2437642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F1EC93C-C57C-4B1C-A3DB-D8B53EE3A69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CCC86CB-55D0-4A74-8086-3FB1DAE9129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AA4FAB-C36A-41EA-A74D-0FE5690550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5531AC-1A3B-4230-B929-750CAA370BF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c721f3122646f6" /><Relationship Type="http://schemas.openxmlformats.org/officeDocument/2006/relationships/slideLayout" Target="/ppt/slideLayouts/slideLayout1.xml" Id="Ra16f6aa5b0ae480e" /><Relationship Type="http://schemas.openxmlformats.org/officeDocument/2006/relationships/slideLayout" Target="/ppt/slideLayouts/slideLayout2.xml" Id="R748f5f27c3e54feb" /><Relationship Type="http://schemas.openxmlformats.org/officeDocument/2006/relationships/slideLayout" Target="/ppt/slideLayouts/slideLayout3.xml" Id="R8f19a50c72d8437b" /><Relationship Type="http://schemas.openxmlformats.org/officeDocument/2006/relationships/slideLayout" Target="/ppt/slideLayouts/slideLayout4.xml" Id="R8528ee2a711c425f" /><Relationship Type="http://schemas.openxmlformats.org/officeDocument/2006/relationships/slideLayout" Target="/ppt/slideLayouts/slideLayout5.xml" Id="R1c873e62c87c4d70" /><Relationship Type="http://schemas.openxmlformats.org/officeDocument/2006/relationships/slideLayout" Target="/ppt/slideLayouts/slideLayout6.xml" Id="Ra8b49e9151c8436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6f6aa5b0ae480e"/>
    <p:sldLayoutId xmlns:r="http://schemas.openxmlformats.org/officeDocument/2006/relationships" id="2147483650" r:id="R748f5f27c3e54feb"/>
    <p:sldLayoutId xmlns:r="http://schemas.openxmlformats.org/officeDocument/2006/relationships" id="2147483651" r:id="R8f19a50c72d8437b"/>
    <p:sldLayoutId xmlns:r="http://schemas.openxmlformats.org/officeDocument/2006/relationships" id="2147483652" r:id="R8528ee2a711c425f"/>
    <p:sldLayoutId xmlns:r="http://schemas.openxmlformats.org/officeDocument/2006/relationships" id="2147483653" r:id="R1c873e62c87c4d70"/>
    <p:sldLayoutId xmlns:r="http://schemas.openxmlformats.org/officeDocument/2006/relationships" id="2147483654" r:id="Ra8b49e9151c8436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82aa567e605406d" /><Relationship Type="http://schemas.openxmlformats.org/officeDocument/2006/relationships/image" Target="/ppt/media/image.png" Id="R886d8ab90181462d" /><Relationship Type="http://schemas.openxmlformats.org/officeDocument/2006/relationships/notesSlide" Target="/ppt/notesSlides/notesSlide1.xml" Id="Rd861cf9403df40d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fd78f0c573942bb" /><Relationship Type="http://schemas.openxmlformats.org/officeDocument/2006/relationships/notesSlide" Target="/ppt/notesSlides/notesSlide2.xml" Id="R404a30d381244d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b3bce2b68eb4b70" /><Relationship Type="http://schemas.openxmlformats.org/officeDocument/2006/relationships/notesSlide" Target="/ppt/notesSlides/notesSlide3.xml" Id="R22a4c3691cc14f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474f89e0867407e" /><Relationship Type="http://schemas.openxmlformats.org/officeDocument/2006/relationships/notesSlide" Target="/ppt/notesSlides/notesSlide4.xml" Id="Rf9c23d2c81f1483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f7ed06c3a264c66" /><Relationship Type="http://schemas.openxmlformats.org/officeDocument/2006/relationships/notesSlide" Target="/ppt/notesSlides/notesSlide5.xml" Id="R69a7d692f81a4a4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86d103d31e6426a" /><Relationship Type="http://schemas.openxmlformats.org/officeDocument/2006/relationships/notesSlide" Target="/ppt/notesSlides/notesSlide6.xml" Id="Ra3a9dfed1fc0474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a86aa5e7d154677" /><Relationship Type="http://schemas.openxmlformats.org/officeDocument/2006/relationships/image" Target="/ppt/media/image2.png" Id="R58c914c93f244315" /><Relationship Type="http://schemas.openxmlformats.org/officeDocument/2006/relationships/notesSlide" Target="/ppt/notesSlides/notesSlide7.xml" Id="R174e0aa6cb6a4f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556769751d34459" /><Relationship Type="http://schemas.openxmlformats.org/officeDocument/2006/relationships/notesSlide" Target="/ppt/notesSlides/notesSlide8.xml" Id="R3fc681ac55d944b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a7ece4406da4b72" /><Relationship Type="http://schemas.openxmlformats.org/officeDocument/2006/relationships/notesSlide" Target="/ppt/notesSlides/notesSlide9.xml" Id="Rfcf0308bc465424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34ae893e8e443ff" /><Relationship Type="http://schemas.openxmlformats.org/officeDocument/2006/relationships/notesSlide" Target="/ppt/notesSlides/notesSlide10.xml" Id="R04f0d5e4af55448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0cae1b6dae640c9" /><Relationship Type="http://schemas.openxmlformats.org/officeDocument/2006/relationships/notesSlide" Target="/ppt/notesSlides/notesSlide11.xml" Id="R8abdc9ba848d489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26d3d01b1d44143" /><Relationship Type="http://schemas.openxmlformats.org/officeDocument/2006/relationships/notesSlide" Target="/ppt/notesSlides/notesSlide12.xml" Id="Rad5809b708704d9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cc878d1866745d7" /><Relationship Type="http://schemas.openxmlformats.org/officeDocument/2006/relationships/notesSlide" Target="/ppt/notesSlides/notesSlide13.xml" Id="R28b7734c9715426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461b2fe039d47b5" /><Relationship Type="http://schemas.openxmlformats.org/officeDocument/2006/relationships/notesSlide" Target="/ppt/notesSlides/notesSlide14.xml" Id="R68ea07fe4c5049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8b7fdb5002f4591" /><Relationship Type="http://schemas.openxmlformats.org/officeDocument/2006/relationships/notesSlide" Target="/ppt/notesSlides/notesSlide15.xml" Id="Rd04ffc77ef01456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e94ffef455d4df1" /><Relationship Type="http://schemas.openxmlformats.org/officeDocument/2006/relationships/notesSlide" Target="/ppt/notesSlides/notesSlide16.xml" Id="Rad6a1a7a69a0449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1b356bb1c204978" /><Relationship Type="http://schemas.openxmlformats.org/officeDocument/2006/relationships/notesSlide" Target="/ppt/notesSlides/notesSlide17.xml" Id="R369ae3a73c8b4a5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573de3fe34c4f0a" /><Relationship Type="http://schemas.openxmlformats.org/officeDocument/2006/relationships/notesSlide" Target="/ppt/notesSlides/notesSlide18.xml" Id="Re473f7fb86234f6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fd0982cf0aa4d21" /><Relationship Type="http://schemas.openxmlformats.org/officeDocument/2006/relationships/notesSlide" Target="/ppt/notesSlides/notesSlide19.xml" Id="Rad83b915b52b47c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8520d4112b44758" /><Relationship Type="http://schemas.openxmlformats.org/officeDocument/2006/relationships/notesSlide" Target="/ppt/notesSlides/notesSlide20.xml" Id="R372a2d94bab14e1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f63a2724fb324102" /><Relationship Type="http://schemas.openxmlformats.org/officeDocument/2006/relationships/notesSlide" Target="/ppt/notesSlides/notesSlide21.xml" Id="Rf077d85a5619477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9d25b7fa078407a" /><Relationship Type="http://schemas.openxmlformats.org/officeDocument/2006/relationships/notesSlide" Target="/ppt/notesSlides/notesSlide22.xml" Id="R4e3f8db969654e8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f09a597726449e7" /><Relationship Type="http://schemas.openxmlformats.org/officeDocument/2006/relationships/notesSlide" Target="/ppt/notesSlides/notesSlide23.xml" Id="R94b24f3bbb18471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2649a7706ac44284" /><Relationship Type="http://schemas.openxmlformats.org/officeDocument/2006/relationships/notesSlide" Target="/ppt/notesSlides/notesSlide24.xml" Id="R64550d5ae7c44a4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5efd12c62924b46" /><Relationship Type="http://schemas.openxmlformats.org/officeDocument/2006/relationships/notesSlide" Target="/ppt/notesSlides/notesSlide25.xml" Id="Re413320676f5405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e367475eae54ffd" /><Relationship Type="http://schemas.openxmlformats.org/officeDocument/2006/relationships/notesSlide" Target="/ppt/notesSlides/notesSlide26.xml" Id="R8581ef07eccc421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2fc451b2f044d5f" /><Relationship Type="http://schemas.openxmlformats.org/officeDocument/2006/relationships/notesSlide" Target="/ppt/notesSlides/notesSlide27.xml" Id="Ra975ceca46094dd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d37f51320b24192" /><Relationship Type="http://schemas.openxmlformats.org/officeDocument/2006/relationships/notesSlide" Target="/ppt/notesSlides/notesSlide28.xml" Id="R0035f6ae28bc4e5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3cca7ebd2564c17" /><Relationship Type="http://schemas.openxmlformats.org/officeDocument/2006/relationships/notesSlide" Target="/ppt/notesSlides/notesSlide29.xml" Id="Rc2acb46b7cf24db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a5f8ef6ce494df5" /><Relationship Type="http://schemas.openxmlformats.org/officeDocument/2006/relationships/notesSlide" Target="/ppt/notesSlides/notesSlide30.xml" Id="Rda6b22ebe16140f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52b7d1b670ac457b" /><Relationship Type="http://schemas.openxmlformats.org/officeDocument/2006/relationships/notesSlide" Target="/ppt/notesSlides/notesSlide31.xml" Id="Rf79ef685b2c2454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00545a0f71d4438" /><Relationship Type="http://schemas.openxmlformats.org/officeDocument/2006/relationships/notesSlide" Target="/ppt/notesSlides/notesSlide32.xml" Id="Rd0df213f644b4b1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5d3b358aea44838" /><Relationship Type="http://schemas.openxmlformats.org/officeDocument/2006/relationships/notesSlide" Target="/ppt/notesSlides/notesSlide33.xml" Id="R0e80e2a1fd5140b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7ff94c9e92624917" /><Relationship Type="http://schemas.openxmlformats.org/officeDocument/2006/relationships/notesSlide" Target="/ppt/notesSlides/notesSlide34.xml" Id="R77f5200d5c7b4f9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cf7015c797d645aa" /><Relationship Type="http://schemas.openxmlformats.org/officeDocument/2006/relationships/notesSlide" Target="/ppt/notesSlides/notesSlide35.xml" Id="Rcb97e081ec95472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d6bcbe05261b4ff9" /><Relationship Type="http://schemas.openxmlformats.org/officeDocument/2006/relationships/notesSlide" Target="/ppt/notesSlides/notesSlide36.xml" Id="R639cd8a01a2f4da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f989ab8bb1e423a" /><Relationship Type="http://schemas.openxmlformats.org/officeDocument/2006/relationships/notesSlide" Target="/ppt/notesSlides/notesSlide37.xml" Id="R386007eb5cbb4e9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b1c039efe5a400d" /><Relationship Type="http://schemas.openxmlformats.org/officeDocument/2006/relationships/notesSlide" Target="/ppt/notesSlides/notesSlide38.xml" Id="R6c27d58dda9641d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3419e1b18e9405a" /><Relationship Type="http://schemas.openxmlformats.org/officeDocument/2006/relationships/notesSlide" Target="/ppt/notesSlides/notesSlide39.xml" Id="R5f29c0a5da614f5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17ab770f283f42e9" /><Relationship Type="http://schemas.openxmlformats.org/officeDocument/2006/relationships/notesSlide" Target="/ppt/notesSlides/notesSlide40.xml" Id="R9b394a3c341542c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ebba916f7cc47d4" /><Relationship Type="http://schemas.openxmlformats.org/officeDocument/2006/relationships/notesSlide" Target="/ppt/notesSlides/notesSlide41.xml" Id="R85851f75634a4d0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723c8b956dc471a" /><Relationship Type="http://schemas.openxmlformats.org/officeDocument/2006/relationships/notesSlide" Target="/ppt/notesSlides/notesSlide42.xml" Id="R7c4e562cfe7548c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685f5f57ec04e0f" /><Relationship Type="http://schemas.openxmlformats.org/officeDocument/2006/relationships/notesSlide" Target="/ppt/notesSlides/notesSlide43.xml" Id="Ra6b67fb8c8e34c3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c134259f186e48f9" /><Relationship Type="http://schemas.openxmlformats.org/officeDocument/2006/relationships/notesSlide" Target="/ppt/notesSlides/notesSlide44.xml" Id="R38acb58a04a14e1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f993d9dae9864c15" /><Relationship Type="http://schemas.openxmlformats.org/officeDocument/2006/relationships/notesSlide" Target="/ppt/notesSlides/notesSlide45.xml" Id="Rffe87053e8ea45fe"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441194a7063343b1" /><Relationship Type="http://schemas.openxmlformats.org/officeDocument/2006/relationships/notesSlide" Target="/ppt/notesSlides/notesSlide46.xml" Id="R18ee7591240a466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5bf4145c6c442a0" /><Relationship Type="http://schemas.openxmlformats.org/officeDocument/2006/relationships/notesSlide" Target="/ppt/notesSlides/notesSlide47.xml" Id="R47c74194750b410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5f41b16a3a0f40af" /><Relationship Type="http://schemas.openxmlformats.org/officeDocument/2006/relationships/notesSlide" Target="/ppt/notesSlides/notesSlide48.xml" Id="R2f6b3cdb7dda48c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15aeae731c94439" /><Relationship Type="http://schemas.openxmlformats.org/officeDocument/2006/relationships/notesSlide" Target="/ppt/notesSlides/notesSlide49.xml" Id="R4a5055efc3b6477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76e6156fc2c484a" /><Relationship Type="http://schemas.openxmlformats.org/officeDocument/2006/relationships/notesSlide" Target="/ppt/notesSlides/notesSlide50.xml" Id="R2c4c9e1beef24b9e"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2ee28c4c72614944" /><Relationship Type="http://schemas.openxmlformats.org/officeDocument/2006/relationships/notesSlide" Target="/ppt/notesSlides/notesSlide51.xml" Id="R3657d041ec0e465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45d6a174b9dd40f5" /><Relationship Type="http://schemas.openxmlformats.org/officeDocument/2006/relationships/image" Target="/ppt/media/image3.png" Id="R403ec4c4c2fb496e" /><Relationship Type="http://schemas.openxmlformats.org/officeDocument/2006/relationships/notesSlide" Target="/ppt/notesSlides/notesSlide52.xml" Id="Rada1124ed4db462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20a1704467874898" /><Relationship Type="http://schemas.openxmlformats.org/officeDocument/2006/relationships/notesSlide" Target="/ppt/notesSlides/notesSlide53.xml" Id="R21a66197c2de44c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7a98dc1f25f64066" /><Relationship Type="http://schemas.openxmlformats.org/officeDocument/2006/relationships/notesSlide" Target="/ppt/notesSlides/notesSlide54.xml" Id="R0d7189d29f144ae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ea473f69ccf41cc" /><Relationship Type="http://schemas.openxmlformats.org/officeDocument/2006/relationships/notesSlide" Target="/ppt/notesSlides/notesSlide55.xml" Id="R2873d5d6cbeb45c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921a3829a9b44d50" /><Relationship Type="http://schemas.openxmlformats.org/officeDocument/2006/relationships/notesSlide" Target="/ppt/notesSlides/notesSlide56.xml" Id="R79811d1f6c274d4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dfb97848a81542f8" /><Relationship Type="http://schemas.openxmlformats.org/officeDocument/2006/relationships/notesSlide" Target="/ppt/notesSlides/notesSlide57.xml" Id="Rfe5a9456cdba470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e835a17ece545dc" /><Relationship Type="http://schemas.openxmlformats.org/officeDocument/2006/relationships/notesSlide" Target="/ppt/notesSlides/notesSlide58.xml" Id="Rc4b1c75e98114ca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de5c29272f8f4efe" /><Relationship Type="http://schemas.openxmlformats.org/officeDocument/2006/relationships/notesSlide" Target="/ppt/notesSlides/notesSlide59.xml" Id="R52a3b844a78744f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48f8200e355247a9" /><Relationship Type="http://schemas.openxmlformats.org/officeDocument/2006/relationships/notesSlide" Target="/ppt/notesSlides/notesSlide60.xml" Id="Ree58c26576c64c59"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5af8766f2f0e4f6b" /><Relationship Type="http://schemas.openxmlformats.org/officeDocument/2006/relationships/notesSlide" Target="/ppt/notesSlides/notesSlide61.xml" Id="Rc5eb146135ae428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0e5a5d46661846de" /><Relationship Type="http://schemas.openxmlformats.org/officeDocument/2006/relationships/notesSlide" Target="/ppt/notesSlides/notesSlide62.xml" Id="R99133acfe3a94c67"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61495639fdb24589" /><Relationship Type="http://schemas.openxmlformats.org/officeDocument/2006/relationships/notesSlide" Target="/ppt/notesSlides/notesSlide63.xml" Id="R8246b1194d0748c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37c31aba14ac4616" /><Relationship Type="http://schemas.openxmlformats.org/officeDocument/2006/relationships/notesSlide" Target="/ppt/notesSlides/notesSlide64.xml" Id="Reea7a7bff5014ed1"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efcc04a8d5d9474a" /><Relationship Type="http://schemas.openxmlformats.org/officeDocument/2006/relationships/notesSlide" Target="/ppt/notesSlides/notesSlide65.xml" Id="R44ecccfdd7e4405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e00b6dcaecd04ff4" /><Relationship Type="http://schemas.openxmlformats.org/officeDocument/2006/relationships/notesSlide" Target="/ppt/notesSlides/notesSlide66.xml" Id="Rcef0b9c2ec994aa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e523e8c3a47f42db" /><Relationship Type="http://schemas.openxmlformats.org/officeDocument/2006/relationships/notesSlide" Target="/ppt/notesSlides/notesSlide67.xml" Id="R8e3554cff2504808"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ebc71b072e045bf" /><Relationship Type="http://schemas.openxmlformats.org/officeDocument/2006/relationships/notesSlide" Target="/ppt/notesSlides/notesSlide68.xml" Id="Rde9b6e145526404d"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a932f2898a234971" /><Relationship Type="http://schemas.openxmlformats.org/officeDocument/2006/relationships/notesSlide" Target="/ppt/notesSlides/notesSlide69.xml" Id="Rd0c4ebbb87204294"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044aad12d1ab4a5c" /><Relationship Type="http://schemas.openxmlformats.org/officeDocument/2006/relationships/notesSlide" Target="/ppt/notesSlides/notesSlide70.xml" Id="R453b1d9c45e640f2"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e8c4924baae542fb" /><Relationship Type="http://schemas.openxmlformats.org/officeDocument/2006/relationships/notesSlide" Target="/ppt/notesSlides/notesSlide71.xml" Id="Rf7f5f42dd31b4225"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1b1c09b3b7734b22" /><Relationship Type="http://schemas.openxmlformats.org/officeDocument/2006/relationships/notesSlide" Target="/ppt/notesSlides/notesSlide72.xml" Id="R5c3b79edf2094cc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31998f5dda4a4955" /><Relationship Type="http://schemas.openxmlformats.org/officeDocument/2006/relationships/notesSlide" Target="/ppt/notesSlides/notesSlide73.xml" Id="R6b7984e931264682"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cb34066fc293457b" /><Relationship Type="http://schemas.openxmlformats.org/officeDocument/2006/relationships/notesSlide" Target="/ppt/notesSlides/notesSlide74.xml" Id="R78c9f08e243945af"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88854a33dc664419" /><Relationship Type="http://schemas.openxmlformats.org/officeDocument/2006/relationships/notesSlide" Target="/ppt/notesSlides/notesSlide75.xml" Id="R748b1bcdfb164192"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5d1ce8abd9944408" /><Relationship Type="http://schemas.openxmlformats.org/officeDocument/2006/relationships/notesSlide" Target="/ppt/notesSlides/notesSlide76.xml" Id="R35bacebd2e494f0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4fb4e2f6fba4408c" /><Relationship Type="http://schemas.openxmlformats.org/officeDocument/2006/relationships/notesSlide" Target="/ppt/notesSlides/notesSlide77.xml" Id="R9ecaddad18454558"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9ec9754af3834857" /><Relationship Type="http://schemas.openxmlformats.org/officeDocument/2006/relationships/notesSlide" Target="/ppt/notesSlides/notesSlide78.xml" Id="R32c993d4b3f749e6"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0f8426e6eeda4a95" /><Relationship Type="http://schemas.openxmlformats.org/officeDocument/2006/relationships/notesSlide" Target="/ppt/notesSlides/notesSlide79.xml" Id="Rfc3133418349491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88a230439b98484a" /><Relationship Type="http://schemas.openxmlformats.org/officeDocument/2006/relationships/notesSlide" Target="/ppt/notesSlides/notesSlide80.xml" Id="R9774f289aedc4012"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c0a6175dfae44d69" /><Relationship Type="http://schemas.openxmlformats.org/officeDocument/2006/relationships/notesSlide" Target="/ppt/notesSlides/notesSlide81.xml" Id="R34c42528ebc54573"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e1eb1ef8bcf84958" /><Relationship Type="http://schemas.openxmlformats.org/officeDocument/2006/relationships/notesSlide" Target="/ppt/notesSlides/notesSlide82.xml" Id="R7ae56751247d46c9"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876813fcf7974099" /><Relationship Type="http://schemas.openxmlformats.org/officeDocument/2006/relationships/notesSlide" Target="/ppt/notesSlides/notesSlide83.xml" Id="R007b05b37bcb44c4"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37494f879dbb4b63" /><Relationship Type="http://schemas.openxmlformats.org/officeDocument/2006/relationships/notesSlide" Target="/ppt/notesSlides/notesSlide84.xml" Id="Rea1b7d2d04d3463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87ea08f6fd284c77" /><Relationship Type="http://schemas.openxmlformats.org/officeDocument/2006/relationships/notesSlide" Target="/ppt/notesSlides/notesSlide85.xml" Id="R397bbd54f8e243f0"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2a7133e870184b74" /><Relationship Type="http://schemas.openxmlformats.org/officeDocument/2006/relationships/hyperlink" Target="https://docs.google.com/forms/d/e/1FAIpQLSfd3oHKoR26Uc9BSQ5WEQosAD4ZnrRHT4JZRQmLrslca35tlA/viewform" TargetMode="External" Id="R97f3184c26df42c7" /><Relationship Type="http://schemas.openxmlformats.org/officeDocument/2006/relationships/notesSlide" Target="/ppt/notesSlides/notesSlide86.xml" Id="R9950fa848e6f4c89"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cef9735f2cc74aca" /><Relationship Type="http://schemas.openxmlformats.org/officeDocument/2006/relationships/image" Target="/ppt/media/image4.png" Id="Ra82e1039219e4e0c" /><Relationship Type="http://schemas.openxmlformats.org/officeDocument/2006/relationships/hyperlink" Target="https://forms.gle/cDMd8seSsFuXF4658" TargetMode="External" Id="Re079a0da3a594e40" /><Relationship Type="http://schemas.openxmlformats.org/officeDocument/2006/relationships/notesSlide" Target="/ppt/notesSlides/notesSlide87.xml" Id="R285d0ab87cc7444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fe9dd55ef31647df" /><Relationship Type="http://schemas.openxmlformats.org/officeDocument/2006/relationships/notesSlide" Target="/ppt/notesSlides/notesSlide88.xml" Id="R3806b827fe904ec8"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161aff9b597a444d" /><Relationship Type="http://schemas.openxmlformats.org/officeDocument/2006/relationships/hyperlink" Target="https://www.youtube.com/watch?v=khKv-8q7YmY" TargetMode="External" Id="Re0e23e57762d4ff5" /><Relationship Type="http://schemas.openxmlformats.org/officeDocument/2006/relationships/notesSlide" Target="/ppt/notesSlides/notesSlide89.xml" Id="R0c2677d74aa5449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173A288-4E41-4E32-ABE5-4DA0610DD9A2}"/>
              </a:ext>
            </a:extLst>
          </p:cNvPr>
          <p:cNvPicPr>
            <a:picLocks xmlns:a="http://schemas.openxmlformats.org/drawingml/2006/main" noChangeAspect="1"/>
          </p:cNvPicPr>
          <p:nvPr/>
        </p:nvPicPr>
        <p:blipFill>
          <a:blip xmlns:r="http://schemas.openxmlformats.org/officeDocument/2006/relationships" xmlns:a="http://schemas.openxmlformats.org/drawingml/2006/main" r:embed="R886d8ab90181462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95891DD-8B6B-4620-9823-E5413CB1EFF7}"/>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94E9037-F769-467C-9207-20379C6BBA8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3</a:t>
            </a:r>
          </a:p>
        </p:txBody>
      </p:sp>
      <p:sp>
        <p:nvSpPr>
          <p:cNvPr id="4" name="">
            <a:extLst xmlns:a="http://schemas.openxmlformats.org/drawingml/2006/main">
              <a:ext uri="{FF2B5EF4-FFF2-40B4-BE49-F238E27FC236}">
                <a16:creationId xmlns:a16="http://schemas.microsoft.com/office/drawing/2014/main" id="{9F35CDB0-C615-43B8-8776-BFB2D6ED66B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E800329F-7D5B-456A-8F98-564BD7C4C78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DE408573-62C8-4D23-BCBA-BF6CF064695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25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41855880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700E80-736F-4125-BC32-19808B6005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7D6137-472C-4CAE-889E-748D00B6C9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E219548-96B6-417E-90CF-506CE44D79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F938DB5-6345-42D1-8C13-11C881488DD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997F9C-90F7-4F90-B680-73E6BD789B1F}"/>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208A6113-EB25-4FC5-9251-138CFE90C1C2}"/>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A308E27F-F812-4643-8C58-012EA507E82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5BA9CFD-A28B-4D6E-A921-C03689EAA2D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E90EED1D-1F84-44C0-BC00-D65B5A450C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a:t>
            </a:r>
          </a:p>
        </p:txBody>
      </p:sp>
    </p:spTree>
    <p:extLst>
      <p:ext uri="{BB962C8B-B14F-4D97-AF65-F5344CB8AC3E}">
        <p14:creationId xmlns:p14="http://schemas.microsoft.com/office/powerpoint/2010/main" val="19247298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27ED074-6653-4A90-B15C-30E8822655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C844BA-423C-4935-B5EE-70CD2A0592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2C829B-03C1-4C7E-AEDB-B6F45E3AF5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xmlns:a="http://schemas.openxmlformats.org/drawingml/2006/main">
              <a:ext uri="{FF2B5EF4-FFF2-40B4-BE49-F238E27FC236}">
                <a16:creationId xmlns:a16="http://schemas.microsoft.com/office/drawing/2014/main" id="{0B779180-1472-47E8-B997-97680130AD0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BE45ED-7961-4637-9B2B-175F6975CFC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48DAAD5-8D4A-46FD-A3F2-994B499DDF1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Code contains the instructions. Output shows the result.</a:t>
            </a:r>
          </a:p>
        </p:txBody>
      </p:sp>
      <p:sp>
        <p:nvSpPr>
          <p:cNvPr id="7" name="">
            <a:extLst xmlns:a="http://schemas.openxmlformats.org/drawingml/2006/main">
              <a:ext uri="{FF2B5EF4-FFF2-40B4-BE49-F238E27FC236}">
                <a16:creationId xmlns:a16="http://schemas.microsoft.com/office/drawing/2014/main" id="{B3BD17BF-2042-4526-97F0-0065D5EE80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Type the code shown in the example. Run it, then compare your output with the result below.</a:t>
            </a:r>
          </a:p>
        </p:txBody>
      </p:sp>
      <p:sp>
        <p:nvSpPr>
          <p:cNvPr id="8" name="">
            <a:extLst xmlns:a="http://schemas.openxmlformats.org/drawingml/2006/main">
              <a:ext uri="{FF2B5EF4-FFF2-40B4-BE49-F238E27FC236}">
                <a16:creationId xmlns:a16="http://schemas.microsoft.com/office/drawing/2014/main" id="{44873BF4-A7C9-45BB-96FD-28017F01BC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a:t>
            </a:r>
          </a:p>
        </p:txBody>
      </p:sp>
    </p:spTree>
    <p:extLst>
      <p:ext uri="{BB962C8B-B14F-4D97-AF65-F5344CB8AC3E}">
        <p14:creationId xmlns:p14="http://schemas.microsoft.com/office/powerpoint/2010/main" val="194355870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72F043A-FE12-4437-9A92-532CB3AE90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D3C175-DEE7-41BE-A692-B58DFFEC0A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CF0C891A-0810-40BF-96DB-42716CD847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016E6999-5B6C-4500-B4A3-3B31CD6BDE0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CFB966-7FA4-49A1-A1C5-67786F7BC79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3970AEDB-1040-481F-8ECC-AD2AB6DCA53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EC6EBE-0B02-4775-9076-24BCA1D7BC6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C1A0971F-045F-47A3-A43D-08C26578E84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E49E6F5-9419-4FE7-A32F-EF1FD887C11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6A4640C1-10D8-4B9D-BD1B-E5B300B2A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a:t>
            </a:r>
          </a:p>
        </p:txBody>
      </p:sp>
    </p:spTree>
    <p:extLst>
      <p:ext uri="{BB962C8B-B14F-4D97-AF65-F5344CB8AC3E}">
        <p14:creationId xmlns:p14="http://schemas.microsoft.com/office/powerpoint/2010/main" val="106464882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4B2F63E-4CF2-403A-B4EC-F4096C56EE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2DF519-77CF-4E6C-ABB8-83C4EC0E1E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0EE9CC0-34C6-44BF-9C3F-5CFB150504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FB052DC6-7EE9-4A24-9371-D9E235A2534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7C3F48-534B-4826-BAE4-A98E6150F62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FC47EE0D-BE6F-4A70-B7F6-76867D64C2A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9473C56F-9790-46DF-8AFE-7F0D1CCE907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A28541-DF00-4BCC-A507-B79A6DB577C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C3B78CF7-129D-4077-A600-4A4CADCFD90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8C2B7164-070B-4050-8583-BE8417C481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a:t>
            </a:r>
          </a:p>
        </p:txBody>
      </p:sp>
    </p:spTree>
    <p:extLst>
      <p:ext uri="{BB962C8B-B14F-4D97-AF65-F5344CB8AC3E}">
        <p14:creationId xmlns:p14="http://schemas.microsoft.com/office/powerpoint/2010/main" val="13470984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353BE6F-7EBC-429E-A3C0-E9A21AD46E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4B11D0-1ECC-467F-B644-ED54D16E22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B940D3D-761E-46BF-98C0-E17F549A7D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D57C6B0-0617-4DAC-A45A-4BF89AAA62D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6994C1-B968-4AD0-A961-B152F4EDF5D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F909BEDF-A0EE-4871-8112-57B65F6F797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58CF65F1-3527-439D-B4BF-CAA87863CC1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0C4F1A-6BD3-4836-BA88-78F882B459B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5D34C82A-08C3-4F90-B391-C949C175ED0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6AB00183-8130-4203-BDC4-B5010D01DF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a:t>
            </a:r>
          </a:p>
        </p:txBody>
      </p:sp>
    </p:spTree>
    <p:extLst>
      <p:ext uri="{BB962C8B-B14F-4D97-AF65-F5344CB8AC3E}">
        <p14:creationId xmlns:p14="http://schemas.microsoft.com/office/powerpoint/2010/main" val="10628576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0F1D62-E482-470B-86A5-6278FC1E0D9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24FA96-3217-47F8-93D7-A67881D7560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3" name="">
            <a:extLst xmlns:a="http://schemas.openxmlformats.org/drawingml/2006/main">
              <a:ext uri="{FF2B5EF4-FFF2-40B4-BE49-F238E27FC236}">
                <a16:creationId xmlns:a16="http://schemas.microsoft.com/office/drawing/2014/main" id="{EC2D27A8-4328-47DD-A727-6E461FD17D61}"/>
              </a:ext>
            </a:extLst>
          </p:cNvPr>
          <p:cNvPicPr>
            <a:picLocks xmlns:a="http://schemas.openxmlformats.org/drawingml/2006/main" noChangeAspect="1"/>
          </p:cNvPicPr>
          <p:nvPr/>
        </p:nvPicPr>
        <p:blipFill>
          <a:blip xmlns:r="http://schemas.openxmlformats.org/officeDocument/2006/relationships" xmlns:a="http://schemas.openxmlformats.org/drawingml/2006/main" r:embed="R58c914c93f244315"/>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6891EA9-15B9-4D61-8F53-B77D5E4428C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DBAFC3-3E0A-4847-9E4A-ABF42FCD27F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9652D54C-348D-4142-BE8B-45DA2D8B34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a:t>
            </a:r>
          </a:p>
        </p:txBody>
      </p:sp>
    </p:spTree>
    <p:extLst>
      <p:ext uri="{BB962C8B-B14F-4D97-AF65-F5344CB8AC3E}">
        <p14:creationId xmlns:p14="http://schemas.microsoft.com/office/powerpoint/2010/main" val="2026664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3F38510-E1C1-4A19-AAB1-5220251AA9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BA9714-1012-4B23-9DA9-7000ADB7E1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16C0D16-9951-4450-8741-EF8F2D4C54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4" name="">
            <a:extLst xmlns:a="http://schemas.openxmlformats.org/drawingml/2006/main">
              <a:ext uri="{FF2B5EF4-FFF2-40B4-BE49-F238E27FC236}">
                <a16:creationId xmlns:a16="http://schemas.microsoft.com/office/drawing/2014/main" id="{1784081E-A4DB-4BC7-AE19-4BA790152831}"/>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EAFEA484-BD25-4396-93AA-887BEDDFD3C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F0E1C7E6-235B-4495-AF10-DE1F59C0E8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a:t>
            </a:r>
          </a:p>
        </p:txBody>
      </p:sp>
    </p:spTree>
    <p:extLst>
      <p:ext uri="{BB962C8B-B14F-4D97-AF65-F5344CB8AC3E}">
        <p14:creationId xmlns:p14="http://schemas.microsoft.com/office/powerpoint/2010/main" val="197393114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F01B95-3EB9-48A6-8FA9-0680F98EBD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2BBF17-0750-4BBE-9746-B135995FEF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7E116D6-9E66-4E5D-8609-C2350A3E70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B7F78E6A-0069-4D06-8B93-3648AA30E75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C44D8B-4446-439E-9789-7DB5A625C0E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F34F3A15-D4BB-45CD-9EFC-5F9C853651A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2733209B-3DF1-4B80-91A8-6846F09801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9</a:t>
            </a:r>
          </a:p>
        </p:txBody>
      </p:sp>
    </p:spTree>
    <p:extLst>
      <p:ext uri="{BB962C8B-B14F-4D97-AF65-F5344CB8AC3E}">
        <p14:creationId xmlns:p14="http://schemas.microsoft.com/office/powerpoint/2010/main" val="14005489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085B50-9AD1-40E8-B12E-FA2D1AB921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93A46C-4CE6-418B-98F0-880B4C3AE3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446EE9E-FFC7-4204-8DDE-1E881E8D34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282C8B51-8AE7-4E4C-9EAF-5087FA74826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C1F71B-3900-42C0-B328-E63D62867BB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E0BA2717-39C2-4EC2-92E5-8ED46466B0A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34555523-AA4C-4CDB-AF40-52E48F80E76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43204F4-E027-4DD2-9824-F3AFE3320F3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E37F7191-2F06-49A1-97E7-DC694BA220B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976279C7-A49F-448F-B90F-502AF148EC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10</a:t>
            </a:r>
          </a:p>
        </p:txBody>
      </p:sp>
    </p:spTree>
    <p:extLst>
      <p:ext uri="{BB962C8B-B14F-4D97-AF65-F5344CB8AC3E}">
        <p14:creationId xmlns:p14="http://schemas.microsoft.com/office/powerpoint/2010/main" val="47993150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4E62ED-907E-4BD2-9699-0C680F7126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E4F5CA-2416-42F6-B5B2-2D3B9F5857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3932F40-2F98-4B2C-A7F4-A7006381CB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12CBADA0-7C51-453E-A00E-16F338B44DC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DB2F408-72D2-4FD1-83C9-6B80E749924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C82DE0AE-940A-4F49-8B4D-A7FD067F0B8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8F67365-168A-42CC-B36F-411865F3F4D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7EA8BAEF-D191-415C-B7D2-7835D58C2E9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1CE30F-AC6B-4AF2-B842-9F92B5A1417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0AB4C550-FE39-44F8-9B48-73220674248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85DF0CC-20CB-43F4-88E0-D8837F063D1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C230D9B0-41D4-4A7F-BFD0-51C2A304E9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11</a:t>
            </a:r>
          </a:p>
        </p:txBody>
      </p:sp>
    </p:spTree>
    <p:extLst>
      <p:ext uri="{BB962C8B-B14F-4D97-AF65-F5344CB8AC3E}">
        <p14:creationId xmlns:p14="http://schemas.microsoft.com/office/powerpoint/2010/main" val="9502576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66E5B5F-3888-47E6-B673-3535F47173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B5E617-8D59-4103-9DEC-11C5B27A9E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FD79E1-3B6F-41FC-8623-CFBD0B76C5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9F4F4782-BB9E-4430-AD64-59332365CE2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89A3F0-1727-42CF-AA1F-449F311ADAC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DD8F1D62-00E2-4846-AE90-16D165CACB2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9851858-8B6C-4646-9CDA-908C20D1994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1ABF25BD-8C4A-40E5-A409-ED523F5A5BC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C0E919C6-AAA8-46DA-A36A-DE208960B54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E997348A-EBB3-4FF8-B76F-2B7671640C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8A560C90-2601-4AEC-816F-E29F8A26FE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12</a:t>
            </a:r>
          </a:p>
        </p:txBody>
      </p:sp>
    </p:spTree>
    <p:extLst>
      <p:ext uri="{BB962C8B-B14F-4D97-AF65-F5344CB8AC3E}">
        <p14:creationId xmlns:p14="http://schemas.microsoft.com/office/powerpoint/2010/main" val="164566541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EFFF8E-D9D5-4992-87B3-7B1EA657C7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CF18B3-C51E-439D-A2DB-4FC01A60AE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E612D4-300A-4D46-8DF4-DCD65ECB5F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21CD77F0-6131-4326-A3BF-9DB59EBE5B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AF7524-3572-46CB-81FA-526C8330CBF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26794F3-564D-4467-ACF6-6EF1A3A0967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78CAE2C2-2FCF-44AB-98FB-F30D76FBB99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A283743E-8B01-4247-BFE5-A62AD023CD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13</a:t>
            </a:r>
          </a:p>
        </p:txBody>
      </p:sp>
    </p:spTree>
    <p:extLst>
      <p:ext uri="{BB962C8B-B14F-4D97-AF65-F5344CB8AC3E}">
        <p14:creationId xmlns:p14="http://schemas.microsoft.com/office/powerpoint/2010/main" val="8190431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8C7DD8-D3AE-4711-8D7C-6E8C7917EC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F8C0B0-869B-4764-91A5-17994DD69B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FB0BB4-DF2E-4BB9-B842-1712598DE3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1A826735-096F-4DE2-9DA3-471176B69EA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F3CE1C-B054-4375-8044-628C8DC5F84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D4066DAB-2AB7-4828-9E7D-7318591C4C5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E2F473-E7A1-4075-A37E-AA8790339A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70965AB7-2CD4-449A-AF6C-6A1937FD952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5A6D8D-E259-4E0F-9B49-FB431D58DD2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8EE9588E-BB5C-4519-B8B9-1A2C00E510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14</a:t>
            </a:r>
          </a:p>
        </p:txBody>
      </p:sp>
    </p:spTree>
    <p:extLst>
      <p:ext uri="{BB962C8B-B14F-4D97-AF65-F5344CB8AC3E}">
        <p14:creationId xmlns:p14="http://schemas.microsoft.com/office/powerpoint/2010/main" val="186706894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FABDE7-EE01-46FD-AD77-A9346DF0E4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95E428-60A4-43D8-A5AD-496604284A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55BD57CE-749F-4251-914F-BD7CB6DC1E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4" name="">
            <a:extLst xmlns:a="http://schemas.openxmlformats.org/drawingml/2006/main">
              <a:ext uri="{FF2B5EF4-FFF2-40B4-BE49-F238E27FC236}">
                <a16:creationId xmlns:a16="http://schemas.microsoft.com/office/drawing/2014/main" id="{B2287C76-1764-4560-B7F6-7294939C59C3}"/>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082572F-97D9-4BA2-9243-508728D4162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A5DD19DA-67E1-4F38-B0EC-4089843EE2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15</a:t>
            </a:r>
          </a:p>
        </p:txBody>
      </p:sp>
    </p:spTree>
    <p:extLst>
      <p:ext uri="{BB962C8B-B14F-4D97-AF65-F5344CB8AC3E}">
        <p14:creationId xmlns:p14="http://schemas.microsoft.com/office/powerpoint/2010/main" val="142478962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AF0593-E724-4521-A883-257BCEB590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266ABF-DD9A-4941-BBBC-3362EE954C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E60B266-2198-4680-8851-C054BF2A40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00503DE7-1E51-454A-ACF2-5339AB792AC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7C6E75-E86D-4EAA-83DB-9086AE99364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264C082E-11E9-4BA1-B49E-8DA62977638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5458F0-0452-4C78-B2FF-CBF918B4754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7A9E4F8E-06B5-443A-BF6C-60506C26DC9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B174F95D-7410-4027-B690-364FF5EE788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386EF28B-5232-48A1-BE07-FABBB8EB39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16</a:t>
            </a:r>
          </a:p>
        </p:txBody>
      </p:sp>
    </p:spTree>
    <p:extLst>
      <p:ext uri="{BB962C8B-B14F-4D97-AF65-F5344CB8AC3E}">
        <p14:creationId xmlns:p14="http://schemas.microsoft.com/office/powerpoint/2010/main" val="1497357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9FDC37-5B96-4C5A-A9EA-9B18CBC35D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249F8B-A320-495D-A5E3-044130394D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BA77F7A-F71B-4B48-818C-F02552C73B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4" name="">
            <a:extLst xmlns:a="http://schemas.openxmlformats.org/drawingml/2006/main">
              <a:ext uri="{FF2B5EF4-FFF2-40B4-BE49-F238E27FC236}">
                <a16:creationId xmlns:a16="http://schemas.microsoft.com/office/drawing/2014/main" id="{A1866033-0E93-4808-B275-F6EC5F01E49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1C6A599C-CBA7-479A-99E7-F1A80023AF1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FCF2E57C-07E6-4218-A104-12593A95EC0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17</a:t>
            </a:r>
          </a:p>
        </p:txBody>
      </p:sp>
    </p:spTree>
    <p:extLst>
      <p:ext uri="{BB962C8B-B14F-4D97-AF65-F5344CB8AC3E}">
        <p14:creationId xmlns:p14="http://schemas.microsoft.com/office/powerpoint/2010/main" val="182954684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288237C-4AC7-4995-A479-958A47422C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55AC74-06C8-47ED-82E9-99152E9411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F092F5-3715-40FA-A92E-D929CFB417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2E471306-1700-4C03-83AD-1135F429A93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747929-7ED7-447F-B565-1DCA66BF6AA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E3F37C53-6988-4B60-BEB9-1B2FE006C41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745543-40FA-43B2-AF58-CE15ABD7C60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BF3AEF65-4FF0-49FB-BDA6-C764E2C707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D0929F-E4D8-4FA1-B383-873DD759AF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A4071796-6738-44A3-92FB-2DDA316B49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18</a:t>
            </a:r>
          </a:p>
        </p:txBody>
      </p:sp>
    </p:spTree>
    <p:extLst>
      <p:ext uri="{BB962C8B-B14F-4D97-AF65-F5344CB8AC3E}">
        <p14:creationId xmlns:p14="http://schemas.microsoft.com/office/powerpoint/2010/main" val="4090695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347B45-5F24-4D38-9086-286778B0A5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E0F1EB-0535-4EE9-BC83-6C7D889740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3CFB0FD-D24C-441D-9D47-577FD5EB33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D6F5107D-1A53-476D-ADFD-2A9308410C6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F00F1E-899D-4C25-8D3E-4557FBDEC53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07B24D7D-4C51-46E1-AC2B-77A51A5765A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B4D1F37-6F73-4442-9007-0F55413A62D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96019DD5-6808-498D-99E1-E1205718828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7B192DFD-DA09-4036-81A8-4FBD51D0A06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49E57F7A-F2BE-4BC2-BAF4-83C16D8EE9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19</a:t>
            </a:r>
          </a:p>
        </p:txBody>
      </p:sp>
    </p:spTree>
    <p:extLst>
      <p:ext uri="{BB962C8B-B14F-4D97-AF65-F5344CB8AC3E}">
        <p14:creationId xmlns:p14="http://schemas.microsoft.com/office/powerpoint/2010/main" val="94748330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BA15D7-8029-4165-8F69-D34CAC4B61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6AF972-1017-4F39-81D2-EE581927C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7C2059-8050-4E9F-B52D-13A6AAE4AD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DF14A638-B34E-45D4-92BB-C31918509B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150FB2-2594-49F4-ABFB-8D666FFA7CF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D733B132-0F27-4DFF-9700-9A19B790A60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B6F8D5-FC98-400F-A9D1-7CD1B1C4DCB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75E41CBD-BA8B-4A4D-86E1-BCC772D13AF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C35D227-1005-4517-8930-26ADD73140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8E02FA77-9DA9-45F7-AF20-6174CADB6F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20</a:t>
            </a:r>
          </a:p>
        </p:txBody>
      </p:sp>
    </p:spTree>
    <p:extLst>
      <p:ext uri="{BB962C8B-B14F-4D97-AF65-F5344CB8AC3E}">
        <p14:creationId xmlns:p14="http://schemas.microsoft.com/office/powerpoint/2010/main" val="4180022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6AEF56-C08D-4B1A-9475-951C6400D0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8F7D15-518F-4D88-900D-BCCE0E5010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A62ACA6-38E9-45BA-8BC3-5275FFCD38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4" name="">
            <a:extLst xmlns:a="http://schemas.openxmlformats.org/drawingml/2006/main">
              <a:ext uri="{FF2B5EF4-FFF2-40B4-BE49-F238E27FC236}">
                <a16:creationId xmlns:a16="http://schemas.microsoft.com/office/drawing/2014/main" id="{DCC5778A-AD7F-427D-A456-540C3F36A16C}"/>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2B1659A-F278-4D66-BA48-7DC219E4B77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1D469621-BB5F-4989-8799-4D0BE42168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21</a:t>
            </a:r>
          </a:p>
        </p:txBody>
      </p:sp>
    </p:spTree>
    <p:extLst>
      <p:ext uri="{BB962C8B-B14F-4D97-AF65-F5344CB8AC3E}">
        <p14:creationId xmlns:p14="http://schemas.microsoft.com/office/powerpoint/2010/main" val="168962778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52C04B-34A9-4806-A6B3-9E2733F846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496F42-AAB4-4BD0-B526-E871351934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561EB0-A515-4B07-84B6-1CEA71ABB9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1B1E7A54-97EF-4D95-85CD-206F538BEE5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B4FC2D-18D2-49B1-BBBE-2B09D2D1BDC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381D6177-C148-4CB1-9FB9-DE1A383F9B6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02D6975-D4C7-4670-9B1B-B88E32BDBED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D3AAD953-B33F-49FF-941D-3699559CE3B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6BBD3EA9-D42E-4E9C-92C9-783562AC2BF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ADB3312D-12B4-4D69-8291-57DDA69EF6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22</a:t>
            </a:r>
          </a:p>
        </p:txBody>
      </p:sp>
    </p:spTree>
    <p:extLst>
      <p:ext uri="{BB962C8B-B14F-4D97-AF65-F5344CB8AC3E}">
        <p14:creationId xmlns:p14="http://schemas.microsoft.com/office/powerpoint/2010/main" val="65339333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E398C0-077A-44FA-9331-B09CA5CE2A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74A619-0523-4A04-B401-870B22FB38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ACCB76-20E0-405C-94C3-403FE7CB8E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ADABADC5-B38C-41C5-BAF5-39580E9D3F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38BD4B-1EB6-43B5-9841-E015559752C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20F84F41-F23F-4D29-BDBC-B65E26C341F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0D213E-C31B-4E87-AB49-5BA642CD25E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7A32FA80-F223-4BA9-BEC7-3CD2546705F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94C7B6-779C-40A3-A91C-75F07F0FA66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3C5122DD-363C-4A30-91FC-E2A85BCAE8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23</a:t>
            </a:r>
          </a:p>
        </p:txBody>
      </p:sp>
    </p:spTree>
    <p:extLst>
      <p:ext uri="{BB962C8B-B14F-4D97-AF65-F5344CB8AC3E}">
        <p14:creationId xmlns:p14="http://schemas.microsoft.com/office/powerpoint/2010/main" val="191060669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D8543E9-9ACD-4A04-81BE-3D766E5194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F47BEB-6536-4AAE-8121-23AA86AC7F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EAB930-7083-429F-8905-27945227D6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6CBD086E-541B-4043-B473-C00F3AF92F5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18C6ED-AB07-4B07-8151-88F4E75D3E5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26648F43-CCBD-42A4-9FE3-DAA69DC9265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A66FFB9-CE15-4427-8E7B-5B0D116DA40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034D74E8-0EB1-40B6-B2D2-48599F1BE2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F1197678-E9DA-43B0-B929-FD68E071C9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24</a:t>
            </a:r>
          </a:p>
        </p:txBody>
      </p:sp>
    </p:spTree>
    <p:extLst>
      <p:ext uri="{BB962C8B-B14F-4D97-AF65-F5344CB8AC3E}">
        <p14:creationId xmlns:p14="http://schemas.microsoft.com/office/powerpoint/2010/main" val="36174144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84A1BE-6789-4424-9B20-2715FE9DA1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B55F39-8737-4E75-A401-4B61D3BCF2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6A38AA-DB11-465E-94F7-997478D87E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9142891B-C80D-4DDD-8810-42FF3F8848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8539E3-2409-4004-9181-82B0CC04508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9EE9A3F7-6BC4-4ADA-9378-36B4DD2FE47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AA1EFF-A269-46D5-B4E6-810E4444BD7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BBAACE93-AA98-4B48-96DB-DCAD0D312CE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3613B3C-42BE-4F7D-9F0E-E1C29B4D149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30DF8BBB-7EB9-4950-80E4-5DC51E8DE4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25</a:t>
            </a:r>
          </a:p>
        </p:txBody>
      </p:sp>
    </p:spTree>
    <p:extLst>
      <p:ext uri="{BB962C8B-B14F-4D97-AF65-F5344CB8AC3E}">
        <p14:creationId xmlns:p14="http://schemas.microsoft.com/office/powerpoint/2010/main" val="53277413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5A17562-2BCB-4901-BFD8-50124CDF8F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3A84C0-A74A-4809-9407-3572B8242B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A9FAC62-329E-49FF-AD04-126A8BD877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E211252E-BE57-4BBD-BB72-6BA6C461F41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3D49A8-3EA3-40BE-ACE8-8B132CB7331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B47B6CF9-EC7C-4607-9A9C-EEC705F7C87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3FB4D6E-C191-4DC7-A8E3-CEB855F2ABD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CB64100F-33E8-4927-AFCA-31ADC6363EB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8200EA90-2A64-4E17-820A-F0B8870B273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DA410D81-2772-4838-89FD-8757008A8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26</a:t>
            </a:r>
          </a:p>
        </p:txBody>
      </p:sp>
    </p:spTree>
    <p:extLst>
      <p:ext uri="{BB962C8B-B14F-4D97-AF65-F5344CB8AC3E}">
        <p14:creationId xmlns:p14="http://schemas.microsoft.com/office/powerpoint/2010/main" val="107589800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7C9E838-0CC8-4391-838E-FA26E67AE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F50AAC-83AA-4DC5-8BF7-6941CBC6C9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09F413-630A-47EA-8C97-6815D7519A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5A1CF3BF-C12B-4A4B-90B5-10508EF3E9A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9C1FEF-B3E2-4199-B2B4-52DE5E0CF9F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8A6BBCD7-5FB6-465D-B65C-6F4B3200332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0B7D30-4014-420F-866C-46008F4B78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13064599-E1C9-4F7D-B321-506C827A3D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41A0C5F-F9EA-4CE6-A71D-DAF252FD756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247F1F05-1D65-48A0-8C4E-F6C6B77983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27</a:t>
            </a:r>
          </a:p>
        </p:txBody>
      </p:sp>
    </p:spTree>
    <p:extLst>
      <p:ext uri="{BB962C8B-B14F-4D97-AF65-F5344CB8AC3E}">
        <p14:creationId xmlns:p14="http://schemas.microsoft.com/office/powerpoint/2010/main" val="184128803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FE0B7B-5A4C-4723-9445-A2C8BBC531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968AE4-3363-4516-8BED-F1EA50DE15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A1B9235-76BA-432D-8D8A-AF2CE1B7BF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190A0FF9-38E0-48E1-84D8-F0F3F5AF4585}"/>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D46274-83DF-41A3-9E87-CCDB56068D9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Volume, time and flow</a:t>
            </a:r>
          </a:p>
        </p:txBody>
      </p:sp>
      <p:sp>
        <p:nvSpPr>
          <p:cNvPr id="6" name="">
            <a:extLst xmlns:a="http://schemas.openxmlformats.org/drawingml/2006/main">
              <a:ext uri="{FF2B5EF4-FFF2-40B4-BE49-F238E27FC236}">
                <a16:creationId xmlns:a16="http://schemas.microsoft.com/office/drawing/2014/main" id="{0B421467-DF7C-448A-8417-74F7F2478F9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Volume is how much space fluid occupies, here in litres. Time is measured in seconds. Flow is volume divided by time, in litres per second.</a:t>
            </a:r>
          </a:p>
        </p:txBody>
      </p:sp>
      <p:sp>
        <p:nvSpPr>
          <p:cNvPr id="7" name="">
            <a:extLst xmlns:a="http://schemas.openxmlformats.org/drawingml/2006/main">
              <a:ext uri="{FF2B5EF4-FFF2-40B4-BE49-F238E27FC236}">
                <a16:creationId xmlns:a16="http://schemas.microsoft.com/office/drawing/2014/main" id="{FF69856B-7458-4BCA-938A-CE5FD2280E9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F9A26EC-0003-49D8-9C82-A921AEB0E6E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Density and pressure</a:t>
            </a:r>
          </a:p>
        </p:txBody>
      </p:sp>
      <p:sp>
        <p:nvSpPr>
          <p:cNvPr id="9" name="">
            <a:extLst xmlns:a="http://schemas.openxmlformats.org/drawingml/2006/main">
              <a:ext uri="{FF2B5EF4-FFF2-40B4-BE49-F238E27FC236}">
                <a16:creationId xmlns:a16="http://schemas.microsoft.com/office/drawing/2014/main" id="{1E27D66E-697F-435D-BB35-F6E19485658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Density is mass per volume in kg/m³. Pressure is force per area, measured in pascals (Pa). 1000 Pa = 1 kPa. Fluid density and depth determine the hydrostatic contribution.</a:t>
            </a:r>
          </a:p>
        </p:txBody>
      </p:sp>
      <p:sp>
        <p:nvSpPr>
          <p:cNvPr id="10" name="">
            <a:extLst xmlns:a="http://schemas.openxmlformats.org/drawingml/2006/main">
              <a:ext uri="{FF2B5EF4-FFF2-40B4-BE49-F238E27FC236}">
                <a16:creationId xmlns:a16="http://schemas.microsoft.com/office/drawing/2014/main" id="{2065DB5E-1F0A-40BD-925C-85440D0479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28</a:t>
            </a:r>
          </a:p>
        </p:txBody>
      </p:sp>
    </p:spTree>
    <p:extLst>
      <p:ext uri="{BB962C8B-B14F-4D97-AF65-F5344CB8AC3E}">
        <p14:creationId xmlns:p14="http://schemas.microsoft.com/office/powerpoint/2010/main" val="17875489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B69071-757F-435A-89F8-E777AF2324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9FB10E-4C9F-426C-995E-D49A9DE01D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0C0C8E-B589-4A75-BEFB-98B214299D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6F8B3543-B194-4E28-84FE-060BF9CE6D5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9D39AE-4974-458E-8A6F-889ADE8AFDD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68A74CD-21E9-4451-99DE-2B6FEF3DEF9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pump moves 18 litres in 3 seconds.</a:t>
            </a:r>
          </a:p>
        </p:txBody>
      </p:sp>
      <p:sp>
        <p:nvSpPr>
          <p:cNvPr id="7" name="">
            <a:extLst xmlns:a="http://schemas.openxmlformats.org/drawingml/2006/main">
              <a:ext uri="{FF2B5EF4-FFF2-40B4-BE49-F238E27FC236}">
                <a16:creationId xmlns:a16="http://schemas.microsoft.com/office/drawing/2014/main" id="{6077CCA9-67EF-4550-9727-71A300CE51E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Flow = volume ÷ time = 6 litres per second.</a:t>
            </a:r>
          </a:p>
        </p:txBody>
      </p:sp>
      <p:sp>
        <p:nvSpPr>
          <p:cNvPr id="8" name="">
            <a:extLst xmlns:a="http://schemas.openxmlformats.org/drawingml/2006/main">
              <a:ext uri="{FF2B5EF4-FFF2-40B4-BE49-F238E27FC236}">
                <a16:creationId xmlns:a16="http://schemas.microsoft.com/office/drawing/2014/main" id="{0BE9D7B8-9367-442D-BD63-D5E250124B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29</a:t>
            </a:r>
          </a:p>
        </p:txBody>
      </p:sp>
    </p:spTree>
    <p:extLst>
      <p:ext uri="{BB962C8B-B14F-4D97-AF65-F5344CB8AC3E}">
        <p14:creationId xmlns:p14="http://schemas.microsoft.com/office/powerpoint/2010/main" val="74681512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224592-FECA-4F5F-BB07-1DF657AA11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188E69-0091-4375-AAF9-B80588FD30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20ADED3-5542-4654-85DE-DDBE1C3CEA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55B09FB0-546E-4177-862C-20CC996A88C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D00ECF-BB26-4394-947F-21AC7B92937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volume_l =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time_s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flow_l_s = volume_l / time_s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print(flow_l_s)</a:t>
            </a:r>
          </a:p>
        </p:txBody>
      </p:sp>
      <p:sp>
        <p:nvSpPr>
          <p:cNvPr id="6" name="">
            <a:extLst xmlns:a="http://schemas.openxmlformats.org/drawingml/2006/main">
              <a:ext uri="{FF2B5EF4-FFF2-40B4-BE49-F238E27FC236}">
                <a16:creationId xmlns:a16="http://schemas.microsoft.com/office/drawing/2014/main" id="{93647AE1-5BF5-4FD8-905F-8BD0E309CC9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E9FFD46-D71C-4B53-A7F9-34B7FBBE1F6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234D88A-CC37-48E1-BBB8-8A70DD965BD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8EDB4B4-7B8E-4D4F-B5AB-3D4BBD21A8E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1B3B96A8-F7BF-425C-ABC2-8071FA0264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30</a:t>
            </a:r>
          </a:p>
        </p:txBody>
      </p:sp>
    </p:spTree>
    <p:extLst>
      <p:ext uri="{BB962C8B-B14F-4D97-AF65-F5344CB8AC3E}">
        <p14:creationId xmlns:p14="http://schemas.microsoft.com/office/powerpoint/2010/main" val="1476871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005655-DDA3-4FE9-A0B7-F144F0A14B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01DA5C-E881-4B10-AF49-060C692D01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FF4FCB6-53A2-45B8-872B-DEE8A99D37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4" name="">
            <a:extLst xmlns:a="http://schemas.openxmlformats.org/drawingml/2006/main">
              <a:ext uri="{FF2B5EF4-FFF2-40B4-BE49-F238E27FC236}">
                <a16:creationId xmlns:a16="http://schemas.microsoft.com/office/drawing/2014/main" id="{5F360280-44ED-4762-B59C-76BFE0A796C5}"/>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6DC20B9-C632-4FF9-A1AA-9F08AD8C867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311393EE-BB6B-4991-B094-CB8B9A6FA8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31</a:t>
            </a:r>
          </a:p>
        </p:txBody>
      </p:sp>
    </p:spTree>
    <p:extLst>
      <p:ext uri="{BB962C8B-B14F-4D97-AF65-F5344CB8AC3E}">
        <p14:creationId xmlns:p14="http://schemas.microsoft.com/office/powerpoint/2010/main" val="136778009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0AF4BE-90D2-45A9-B710-3235258D78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2036F9-3857-4B6D-9039-2B686329EE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ECB3E8-E5C0-4F31-93B9-76489F4C49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DCAF6197-F97B-41D2-9491-1D7649E6EA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098F67-1034-490C-A187-BE417AF4461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BFC1BB3B-D120-4D69-9D52-721DB807C1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30EA30-2154-4A08-8DA6-868821268B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FBF778EC-3244-48A2-A65B-E3AC56C6C4E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1B4183-D3DB-4790-89B9-856039CADC0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F9FA3028-CE03-4409-8F84-D11264A906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32</a:t>
            </a:r>
          </a:p>
        </p:txBody>
      </p:sp>
    </p:spTree>
    <p:extLst>
      <p:ext uri="{BB962C8B-B14F-4D97-AF65-F5344CB8AC3E}">
        <p14:creationId xmlns:p14="http://schemas.microsoft.com/office/powerpoint/2010/main" val="1918249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EA2FFE-9A8D-4B8F-B56A-5D97B4BDE2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1E97B0-0261-4492-B27F-0EB2EE84BC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92D8C9C-5D6A-42FE-9F92-857871CF34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4" name="">
            <a:extLst xmlns:a="http://schemas.openxmlformats.org/drawingml/2006/main">
              <a:ext uri="{FF2B5EF4-FFF2-40B4-BE49-F238E27FC236}">
                <a16:creationId xmlns:a16="http://schemas.microsoft.com/office/drawing/2014/main" id="{ECC3A7AE-11B0-4B22-911D-E479EBF1B73A}"/>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47DF78F-2EDC-4729-A44F-06FA6DAF06A8}"/>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41E75164-1AF6-445E-BCCF-E7946DF2A3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33</a:t>
            </a:r>
          </a:p>
        </p:txBody>
      </p:sp>
    </p:spTree>
    <p:extLst>
      <p:ext uri="{BB962C8B-B14F-4D97-AF65-F5344CB8AC3E}">
        <p14:creationId xmlns:p14="http://schemas.microsoft.com/office/powerpoint/2010/main" val="103468523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5D139B-9078-4D25-A8BE-3964BEAAF6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B07E108-BC1C-4869-A131-787DE62AA5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3824A79-7A1F-4859-9D53-2711CCC04D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4" name="">
            <a:extLst xmlns:a="http://schemas.openxmlformats.org/drawingml/2006/main">
              <a:ext uri="{FF2B5EF4-FFF2-40B4-BE49-F238E27FC236}">
                <a16:creationId xmlns:a16="http://schemas.microsoft.com/office/drawing/2014/main" id="{E5FCC7C9-FD5D-4B75-850F-1A7667B9B494}"/>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35900B9-A782-4264-A2D5-1ED8DB23DBFE}"/>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B1E98D51-2E57-4780-8513-1CCE656F34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34</a:t>
            </a:r>
          </a:p>
        </p:txBody>
      </p:sp>
    </p:spTree>
    <p:extLst>
      <p:ext uri="{BB962C8B-B14F-4D97-AF65-F5344CB8AC3E}">
        <p14:creationId xmlns:p14="http://schemas.microsoft.com/office/powerpoint/2010/main" val="194918453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CCC4AB-4E9B-4B4B-99FC-8DD06F37A6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B53069-A925-413B-A847-A423894C82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02964E-AACF-4626-A5A1-392926AAC9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D7EDF7D6-7888-4C6D-97C4-4CC37A5D102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B69876-ABF6-490E-88F2-CDDED261E5E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9030D658-7997-42D4-B174-7AF09AFB45B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EE57071-20CC-49CE-B4A2-97C24FCCBBD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222AE134-ABB0-4368-BC19-80E86080E2B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788784FA-7347-4B51-BB64-D5736D8BBB0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4F51615B-52D4-4BD9-8D41-AE1B263EB9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35</a:t>
            </a:r>
          </a:p>
        </p:txBody>
      </p:sp>
    </p:spTree>
    <p:extLst>
      <p:ext uri="{BB962C8B-B14F-4D97-AF65-F5344CB8AC3E}">
        <p14:creationId xmlns:p14="http://schemas.microsoft.com/office/powerpoint/2010/main" val="100375907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BD27AE-E8BD-4B74-8DA7-6FAAEA8CE56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0FF636-6072-4094-8685-A96440A2E1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778014-0E6E-47E3-A510-032DCEEC48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955F3360-C5C4-4AD7-9435-B3AE439073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EE170A-BC9F-4236-B5D3-11D4F256CF8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CF9403F2-7CA8-45F3-833F-907DCB4001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ADC90F-81B2-4D4C-913A-AF8F25C63D6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DB755CB8-357E-428A-B76C-D547CA76723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F92509-5739-427E-8351-3047AADDF06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60DA7E75-167B-4FF6-A9D5-6C55F99DF1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36</a:t>
            </a:r>
          </a:p>
        </p:txBody>
      </p:sp>
    </p:spTree>
    <p:extLst>
      <p:ext uri="{BB962C8B-B14F-4D97-AF65-F5344CB8AC3E}">
        <p14:creationId xmlns:p14="http://schemas.microsoft.com/office/powerpoint/2010/main" val="145437598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10E3E7-73D0-41B0-9021-3A78959EBA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EAFD64-FD7F-4B88-AFD7-F3A698EF47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855C88-0222-4F20-938C-55F927AF0E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CB3AB820-D9F7-408B-86A4-BFC93EDEC65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B49753-5B87-48D2-A7F1-7E45731CB2A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B0759181-A913-4E7E-863F-3C7C20F21AB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9CF202A-16C0-449C-AE4C-807049F923E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812FE111-27BB-45B0-8CA0-B4BA231F081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368B042B-7808-468D-AABD-C275163E69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F7B4BD4A-5698-486E-986E-6F24AE494A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37</a:t>
            </a:r>
          </a:p>
        </p:txBody>
      </p:sp>
    </p:spTree>
    <p:extLst>
      <p:ext uri="{BB962C8B-B14F-4D97-AF65-F5344CB8AC3E}">
        <p14:creationId xmlns:p14="http://schemas.microsoft.com/office/powerpoint/2010/main" val="86282437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0E9DBD-CA73-45FD-8DC9-75051D55C2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979C98-87B1-4695-9621-633EA9D823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B75DFA2-C4A3-4BF4-89B1-6EB5AB5BCF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4" name="">
            <a:extLst xmlns:a="http://schemas.openxmlformats.org/drawingml/2006/main">
              <a:ext uri="{FF2B5EF4-FFF2-40B4-BE49-F238E27FC236}">
                <a16:creationId xmlns:a16="http://schemas.microsoft.com/office/drawing/2014/main" id="{F7B7BCDE-EE6F-420D-ABEE-234102BB6285}"/>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6A12796-F996-435F-8B01-9BDD0F0B60B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FAD6F5FE-8AE4-47FD-A493-6BB8092C56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38</a:t>
            </a:r>
          </a:p>
        </p:txBody>
      </p:sp>
    </p:spTree>
    <p:extLst>
      <p:ext uri="{BB962C8B-B14F-4D97-AF65-F5344CB8AC3E}">
        <p14:creationId xmlns:p14="http://schemas.microsoft.com/office/powerpoint/2010/main" val="111021115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A1EA6EF-8324-4E36-AA58-3F3EA3EA00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BAD88D-A3E4-452A-8060-67CF362508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4AB662-D511-4EB2-A9DC-EE2F24EF27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51B94DB1-269A-4EA0-9B8B-1CAFD0E599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05CD0B-6B2E-4ECA-9846-75F25EECF7B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01B1DE2F-1349-42F1-A421-42956E5A850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ECF853-717F-4412-AC2C-992E6A825F2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FC74AE49-8D6F-4FB7-8698-B5875DD2EF2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7344CDE-0AC9-46E6-8C30-DBEEC1CD9E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902BA703-7652-4008-BB4B-7E94E43EFA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39</a:t>
            </a:r>
          </a:p>
        </p:txBody>
      </p:sp>
    </p:spTree>
    <p:extLst>
      <p:ext uri="{BB962C8B-B14F-4D97-AF65-F5344CB8AC3E}">
        <p14:creationId xmlns:p14="http://schemas.microsoft.com/office/powerpoint/2010/main" val="191519974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E5A9A58-C889-4787-9679-E77160436F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70679E-6C41-4034-8D60-0A5615217A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DFE71B8-6DB4-437E-B88C-A2F8422C4B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BD83A89D-40AC-4B84-A10F-3BC5F98BA32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597AD1-D108-42FF-A638-94A0B3A7058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F35BFB00-E7A1-4718-A8B5-5CAA843D93F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F312697-3E35-46A5-870C-EC81CEDD5CE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CCC905EB-3280-4EA8-9F8A-DAD9456E7CB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04A701EC-A3F5-4BEF-87B4-C0531DF2E33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96DEDADA-28F0-4670-9B00-91AFCAF95A9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71936969-C1DF-4088-90C2-8491F8A690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40</a:t>
            </a:r>
          </a:p>
        </p:txBody>
      </p:sp>
    </p:spTree>
    <p:extLst>
      <p:ext uri="{BB962C8B-B14F-4D97-AF65-F5344CB8AC3E}">
        <p14:creationId xmlns:p14="http://schemas.microsoft.com/office/powerpoint/2010/main" val="86809293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B46ACD-10D0-4905-BD31-C8E3CD9290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ABFCC1-8D5E-4FEB-B536-35A251F99B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BDE4547-A42F-4E5A-9137-9914156BF7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4" name="">
            <a:extLst xmlns:a="http://schemas.openxmlformats.org/drawingml/2006/main">
              <a:ext uri="{FF2B5EF4-FFF2-40B4-BE49-F238E27FC236}">
                <a16:creationId xmlns:a16="http://schemas.microsoft.com/office/drawing/2014/main" id="{6BEA152B-2907-4B51-96E2-0AF2CFE8AFD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D5D21FB-CB6A-4112-90C2-8DA952E5BD47}"/>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5E919C52-20C6-4139-B1D7-15F2CF8666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41</a:t>
            </a:r>
          </a:p>
        </p:txBody>
      </p:sp>
    </p:spTree>
    <p:extLst>
      <p:ext uri="{BB962C8B-B14F-4D97-AF65-F5344CB8AC3E}">
        <p14:creationId xmlns:p14="http://schemas.microsoft.com/office/powerpoint/2010/main" val="150694891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6445168-B63B-4F42-9680-CE44FA1F50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084DC7-505D-4517-A351-C5202AA47C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48CFE2-7164-4B0A-9472-A9739F010A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70A15099-80B8-4E71-BA42-D61C564683A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3E2018-2494-47D6-8E1B-3BB47F7229E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351508-14F4-4602-B21F-C8F90908108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ADA7984A-DDA9-46B2-9FDD-D1F98586B42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83FBED41-441B-4676-BCC9-B11016EEA6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42</a:t>
            </a:r>
          </a:p>
        </p:txBody>
      </p:sp>
    </p:spTree>
    <p:extLst>
      <p:ext uri="{BB962C8B-B14F-4D97-AF65-F5344CB8AC3E}">
        <p14:creationId xmlns:p14="http://schemas.microsoft.com/office/powerpoint/2010/main" val="81092421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F610620-36A2-432C-A894-30870AFE3D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F7CD5B-DB5A-470E-A27D-7CB948124E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E9FA70-9DC2-44D6-AA7E-A1DF668B6B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5FAA57A5-ED92-497C-9B72-3B27CC1DCB4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0AABCC-D8E3-4D33-901B-D0E8DBD62A6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ECA6ABC9-8138-4D91-A82F-DAB06C421FD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86D0D39-F165-499A-BD5F-6ED32A25705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4F079B9A-3825-47BA-BDC1-11AA7C637A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27BCABE0-D4F1-409E-B409-3EBA443CF0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43</a:t>
            </a:r>
          </a:p>
        </p:txBody>
      </p:sp>
    </p:spTree>
    <p:extLst>
      <p:ext uri="{BB962C8B-B14F-4D97-AF65-F5344CB8AC3E}">
        <p14:creationId xmlns:p14="http://schemas.microsoft.com/office/powerpoint/2010/main" val="19700602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0B1853-5105-42C5-80FB-1920DBFC03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64C709-2A43-4258-AC25-3DE2354AB2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4637E12-072D-4177-A69D-5B364E67EE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4" name="">
            <a:extLst xmlns:a="http://schemas.openxmlformats.org/drawingml/2006/main">
              <a:ext uri="{FF2B5EF4-FFF2-40B4-BE49-F238E27FC236}">
                <a16:creationId xmlns:a16="http://schemas.microsoft.com/office/drawing/2014/main" id="{965DE852-F5CF-4AC6-9C1C-B5EBEB8489DF}"/>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852AEC01-41AC-4FC2-9CF1-97305EFF3A7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D8388B02-72AA-4616-A540-6467197A91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44</a:t>
            </a:r>
          </a:p>
        </p:txBody>
      </p:sp>
    </p:spTree>
    <p:extLst>
      <p:ext uri="{BB962C8B-B14F-4D97-AF65-F5344CB8AC3E}">
        <p14:creationId xmlns:p14="http://schemas.microsoft.com/office/powerpoint/2010/main" val="61920338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220FE5-259F-4386-8055-1255615045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C5AE11-BE74-4BB0-987A-96E253E355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290838-074A-41B2-B619-661860A23A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8D4288D3-27DD-4275-827D-3D3BE1CB30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A72D353-4C18-430A-9F2C-80A9EE3841A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BB0A35DE-4C7F-4978-9346-B96A5D661CE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2C3ED7-D493-4326-A16C-5A1F0915B34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70663C26-0CED-4ADC-9316-5C13D4E38AE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EFEBFE-A9E9-4F07-83AD-57C60E71707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06D99CBB-7AE6-41C4-93A1-784FE5E6F0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45</a:t>
            </a:r>
          </a:p>
        </p:txBody>
      </p:sp>
    </p:spTree>
    <p:extLst>
      <p:ext uri="{BB962C8B-B14F-4D97-AF65-F5344CB8AC3E}">
        <p14:creationId xmlns:p14="http://schemas.microsoft.com/office/powerpoint/2010/main" val="646341651"/>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54EA4D6-7A83-4996-A9F5-52A6405DAE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6BA76E-D73D-4A8D-B905-EE23B854D1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5753CBB-AB4D-4E19-B9B5-A513AEAA22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4" name="">
            <a:extLst xmlns:a="http://schemas.openxmlformats.org/drawingml/2006/main">
              <a:ext uri="{FF2B5EF4-FFF2-40B4-BE49-F238E27FC236}">
                <a16:creationId xmlns:a16="http://schemas.microsoft.com/office/drawing/2014/main" id="{8C435A8E-5834-4D23-A2CE-E951344311D6}"/>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969C8FA-42EC-4E0E-BFCC-EECBFBE78C5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6BE046DB-18A9-46CC-81F5-A093789B5D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46</a:t>
            </a:r>
          </a:p>
        </p:txBody>
      </p:sp>
    </p:spTree>
    <p:extLst>
      <p:ext uri="{BB962C8B-B14F-4D97-AF65-F5344CB8AC3E}">
        <p14:creationId xmlns:p14="http://schemas.microsoft.com/office/powerpoint/2010/main" val="136774877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3DBC4AF-E41E-48A5-B529-51180E0056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C02488-BEB0-477B-85DF-3D7B01C234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AB2CEDF-4CDD-4DBA-900C-0DDBE01578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D97A475A-A624-4943-A034-14C658E0097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22BEDD-C262-4D98-8FF0-B2BB1953A19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00" b="0">
                <a:solidFill>
                  <a:srgbClr val="F4F7FA"/>
                </a:solidFill>
                <a:latin typeface="Courier New"/>
                <a:ea typeface="Courier New"/>
                <a:cs typeface="Courier New"/>
              </a:defRPr>
            </a:defPPr>
            <a:lvl1pPr>
              <a:defRPr sz="1900" b="0">
                <a:solidFill>
                  <a:srgbClr val="F4F7FA"/>
                </a:solidFill>
                <a:latin typeface="Courier New"/>
                <a:ea typeface="Courier New"/>
                <a:cs typeface="Courier New"/>
              </a:defRPr>
            </a:lvl1pPr>
            <a:lvl2pPr>
              <a:defRPr sz="1900" b="0">
                <a:solidFill>
                  <a:srgbClr val="F4F7FA"/>
                </a:solidFill>
                <a:latin typeface="Courier New"/>
                <a:ea typeface="Courier New"/>
                <a:cs typeface="Courier New"/>
              </a:defRPr>
            </a:lvl2pPr>
            <a:lvl3pPr>
              <a:defRPr sz="1900" b="0">
                <a:solidFill>
                  <a:srgbClr val="F4F7FA"/>
                </a:solidFill>
                <a:latin typeface="Courier New"/>
                <a:ea typeface="Courier New"/>
                <a:cs typeface="Courier New"/>
              </a:defRPr>
            </a:lvl3pPr>
            <a:lvl4pPr>
              <a:defRPr sz="1900" b="0">
                <a:solidFill>
                  <a:srgbClr val="F4F7FA"/>
                </a:solidFill>
                <a:latin typeface="Courier New"/>
                <a:ea typeface="Courier New"/>
                <a:cs typeface="Courier New"/>
              </a:defRPr>
            </a:lvl4pPr>
            <a:lvl5pPr>
              <a:defRPr sz="1900" b="0">
                <a:solidFill>
                  <a:srgbClr val="F4F7FA"/>
                </a:solidFill>
                <a:latin typeface="Courier New"/>
                <a:ea typeface="Courier New"/>
                <a:cs typeface="Courier New"/>
              </a:defRPr>
            </a:lvl5pPr>
            <a:lvl6pPr>
              <a:defRPr sz="1900" b="0">
                <a:solidFill>
                  <a:srgbClr val="F4F7FA"/>
                </a:solidFill>
                <a:latin typeface="Courier New"/>
                <a:ea typeface="Courier New"/>
                <a:cs typeface="Courier New"/>
              </a:defRPr>
            </a:lvl6pPr>
            <a:lvl7pPr>
              <a:defRPr sz="1900" b="0">
                <a:solidFill>
                  <a:srgbClr val="F4F7FA"/>
                </a:solidFill>
                <a:latin typeface="Courier New"/>
                <a:ea typeface="Courier New"/>
                <a:cs typeface="Courier New"/>
              </a:defRPr>
            </a:lvl7pPr>
            <a:lvl8pPr>
              <a:defRPr sz="1900" b="0">
                <a:solidFill>
                  <a:srgbClr val="F4F7FA"/>
                </a:solidFill>
                <a:latin typeface="Courier New"/>
                <a:ea typeface="Courier New"/>
                <a:cs typeface="Courier New"/>
              </a:defRPr>
            </a:lvl8pPr>
            <a:lvl9pPr>
              <a:defRPr sz="1900" b="0">
                <a:solidFill>
                  <a:srgbClr val="F4F7FA"/>
                </a:solidFill>
                <a:latin typeface="Courier New"/>
                <a:ea typeface="Courier New"/>
                <a:cs typeface="Courier New"/>
              </a:defRPr>
            </a:lvl9pPr>
          </a:lstStyle>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79E190E7-87B6-4DEF-B36F-AAC10C820BC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DF1961B-2576-4E55-BDB7-CB4D764C5A1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17FB8395-A2F4-4C3A-BFC9-C76DB60920C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5B28FB02-3697-428D-9453-46B1C14DF16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C83571DD-4274-4FEF-ABDA-B5F9CB6F1A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47</a:t>
            </a:r>
          </a:p>
        </p:txBody>
      </p:sp>
    </p:spTree>
    <p:extLst>
      <p:ext uri="{BB962C8B-B14F-4D97-AF65-F5344CB8AC3E}">
        <p14:creationId xmlns:p14="http://schemas.microsoft.com/office/powerpoint/2010/main" val="3714963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843C76-5D91-481B-B5BA-38F01F5FD4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3FD6E1-E9A8-463F-9277-A96D61489B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9A2FEA-E827-477B-BE46-9B244C1843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xmlns:a="http://schemas.openxmlformats.org/drawingml/2006/main">
              <a:ext uri="{FF2B5EF4-FFF2-40B4-BE49-F238E27FC236}">
                <a16:creationId xmlns:a16="http://schemas.microsoft.com/office/drawing/2014/main" id="{BAE93DA1-402E-45DE-A525-B4964F9209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96AB392-E60D-4C77-9E96-53E40A6D338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xmlns:a="http://schemas.openxmlformats.org/drawingml/2006/main">
              <a:ext uri="{FF2B5EF4-FFF2-40B4-BE49-F238E27FC236}">
                <a16:creationId xmlns:a16="http://schemas.microsoft.com/office/drawing/2014/main" id="{9046F056-B919-4D29-8AAA-27A817FC0EF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F76B78E-4B70-4153-94F1-9EE0DD261F6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xmlns:a="http://schemas.openxmlformats.org/drawingml/2006/main">
              <a:ext uri="{FF2B5EF4-FFF2-40B4-BE49-F238E27FC236}">
                <a16:creationId xmlns:a16="http://schemas.microsoft.com/office/drawing/2014/main" id="{E36DF3DC-7E15-4FB9-991F-0D28122A95D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94AA09-04DB-4D4F-9EC6-028483A157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guard checks an input before a calculation. The function example below uses def and return.</a:t>
            </a:r>
          </a:p>
        </p:txBody>
      </p:sp>
      <p:sp>
        <p:nvSpPr>
          <p:cNvPr id="10" name="">
            <a:extLst xmlns:a="http://schemas.openxmlformats.org/drawingml/2006/main">
              <a:ext uri="{FF2B5EF4-FFF2-40B4-BE49-F238E27FC236}">
                <a16:creationId xmlns:a16="http://schemas.microsoft.com/office/drawing/2014/main" id="{6C93D48B-5DCB-4934-8495-A7A233D9D7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48</a:t>
            </a:r>
          </a:p>
        </p:txBody>
      </p:sp>
    </p:spTree>
    <p:extLst>
      <p:ext uri="{BB962C8B-B14F-4D97-AF65-F5344CB8AC3E}">
        <p14:creationId xmlns:p14="http://schemas.microsoft.com/office/powerpoint/2010/main" val="110822913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AA17B1D-79BF-4566-9FC6-E8D6858AA8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BE6A9C-AC33-493E-A672-E65CF38162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4057F70-C77B-4E22-A86C-10ACBB28E5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61BF5840-B72E-4A20-BD21-8FB66335E429}"/>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52604F-25FB-4E08-BB46-CA5B98D4BFF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B62869C1-7C01-4689-85C0-C050F7923B8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E5264DF6-9E51-45EE-B802-78668ECBFD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49</a:t>
            </a:r>
          </a:p>
        </p:txBody>
      </p:sp>
    </p:spTree>
    <p:extLst>
      <p:ext uri="{BB962C8B-B14F-4D97-AF65-F5344CB8AC3E}">
        <p14:creationId xmlns:p14="http://schemas.microsoft.com/office/powerpoint/2010/main" val="11509409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03B4715-FCDD-4068-BC15-74D8938B05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771380-86B7-4C2E-9B01-27C80EF9E5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E08A0CC-6662-4487-BCBA-27E09CE0A2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339AB9E5-73A9-4804-ABED-8A785A804B4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F14F51-793F-4B3E-B26E-B773FEE49E8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323D8D89-E605-4FE7-A83C-1808548A5EE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F9AF15F3-49C8-45C7-AD16-43229219C8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50</a:t>
            </a:r>
          </a:p>
        </p:txBody>
      </p:sp>
    </p:spTree>
    <p:extLst>
      <p:ext uri="{BB962C8B-B14F-4D97-AF65-F5344CB8AC3E}">
        <p14:creationId xmlns:p14="http://schemas.microsoft.com/office/powerpoint/2010/main" val="202342527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51892C-9B71-4C20-AE37-4EE26CB397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5395BD-BEA9-4AD0-9B5B-00B2845DEA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A0692CC-B83E-4A17-9420-2B78626DF3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E6A055B6-7BCB-4AAE-BA9A-2CB928C717D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18C218-8EA6-4178-8CDB-1EE9FA29BC5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480461B7-7D94-4841-850D-EA5269E482A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2D0FEF-C29B-499B-BE25-226777CC9EA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4FBE816D-A74A-43D5-9541-423D4923A46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9BB003-19A1-48BD-BA4E-DB96A45F025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A203D409-C5D4-4F05-9FB3-B28DDE45847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503F5E5-39A2-41EA-A7CF-274DBC57F39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179B73BE-DF22-48A9-B075-4659931713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51</a:t>
            </a:r>
          </a:p>
        </p:txBody>
      </p:sp>
    </p:spTree>
    <p:extLst>
      <p:ext uri="{BB962C8B-B14F-4D97-AF65-F5344CB8AC3E}">
        <p14:creationId xmlns:p14="http://schemas.microsoft.com/office/powerpoint/2010/main" val="173794245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574A1B-7C18-47F4-B13C-F12888491FF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B286DF-9857-452D-9D3E-1B576892F01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3" name="">
            <a:extLst xmlns:a="http://schemas.openxmlformats.org/drawingml/2006/main">
              <a:ext uri="{FF2B5EF4-FFF2-40B4-BE49-F238E27FC236}">
                <a16:creationId xmlns:a16="http://schemas.microsoft.com/office/drawing/2014/main" id="{81C26B0E-A83E-46E2-BC53-C55F9F76F5D9}"/>
              </a:ext>
            </a:extLst>
          </p:cNvPr>
          <p:cNvPicPr>
            <a:picLocks xmlns:a="http://schemas.openxmlformats.org/drawingml/2006/main" noChangeAspect="1"/>
          </p:cNvPicPr>
          <p:nvPr/>
        </p:nvPicPr>
        <p:blipFill>
          <a:blip xmlns:r="http://schemas.openxmlformats.org/officeDocument/2006/relationships" xmlns:a="http://schemas.openxmlformats.org/drawingml/2006/main" r:embed="R403ec4c4c2fb496e"/>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64740FC-3B75-4175-8D76-0A23B271D2DE}"/>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835CCD-3E10-4F2A-93CE-A9059EA8A5D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12DCA4CA-BF9A-44E4-A6B5-83119F6EEE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52</a:t>
            </a:r>
          </a:p>
        </p:txBody>
      </p:sp>
    </p:spTree>
    <p:extLst>
      <p:ext uri="{BB962C8B-B14F-4D97-AF65-F5344CB8AC3E}">
        <p14:creationId xmlns:p14="http://schemas.microsoft.com/office/powerpoint/2010/main" val="145883227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D80A210-41D9-4E7A-BFA7-777134EFC6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88B27CA-05CD-4320-8D78-A7BF4743A3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C231631-D3AF-48CC-9E30-27B67544C3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8FBD5EC5-818D-43DE-AA5F-3D855604F3D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4CFA2E-EF13-4B5A-8212-9636AD994D1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AC21639B-C491-457A-98D7-18D6E6B781A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A9BAE61-424D-4ECE-BDC7-6D762AC17FC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278CA32A-EBAB-4C1D-A6EF-13991BE6851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A1B146D9-74D6-4241-BA88-4B739B23DA8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10CF3E04-FEAE-49C8-852B-50F57B5077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53</a:t>
            </a:r>
          </a:p>
        </p:txBody>
      </p:sp>
    </p:spTree>
    <p:extLst>
      <p:ext uri="{BB962C8B-B14F-4D97-AF65-F5344CB8AC3E}">
        <p14:creationId xmlns:p14="http://schemas.microsoft.com/office/powerpoint/2010/main" val="1376500678"/>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BEE943-96EC-43E9-AC8D-119C626F96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2C2D5F-52A3-49D5-8B1C-9F32064294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4A73224-9CB1-4C58-A261-0D3C1E7B20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4" name="">
            <a:extLst xmlns:a="http://schemas.openxmlformats.org/drawingml/2006/main">
              <a:ext uri="{FF2B5EF4-FFF2-40B4-BE49-F238E27FC236}">
                <a16:creationId xmlns:a16="http://schemas.microsoft.com/office/drawing/2014/main" id="{114CA53C-47E0-4DF3-AE83-04B85653F79D}"/>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DA7BA2A-B22D-432C-A669-F61491C0B1D3}"/>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86516DFF-DEA9-427E-AC16-E84FB47CE9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54</a:t>
            </a:r>
          </a:p>
        </p:txBody>
      </p:sp>
    </p:spTree>
    <p:extLst>
      <p:ext uri="{BB962C8B-B14F-4D97-AF65-F5344CB8AC3E}">
        <p14:creationId xmlns:p14="http://schemas.microsoft.com/office/powerpoint/2010/main" val="1760832215"/>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00C8081-119D-4127-96FA-7628786358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EBB655-3C43-4EF4-B82A-0A7E33D9D3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159594-8BC3-4395-9DAD-B0BAFA9A6A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C942CC4C-F9D5-4796-AA28-FEBE6CA42D1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2F2279C-AC05-42C0-A608-1D6A6DE8690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613ADED3-8041-489D-9FCC-8395C0049BF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AB04A2-06EA-41C0-B22C-7C4A65132CA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713ADA0B-3B9A-4403-A043-9CD86DE18F5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5786879-9EF1-4757-BD7E-7EAAF1E421F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86B61DD9-C405-43B7-9E82-8C9A533654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55</a:t>
            </a:r>
          </a:p>
        </p:txBody>
      </p:sp>
    </p:spTree>
    <p:extLst>
      <p:ext uri="{BB962C8B-B14F-4D97-AF65-F5344CB8AC3E}">
        <p14:creationId xmlns:p14="http://schemas.microsoft.com/office/powerpoint/2010/main" val="493052494"/>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AE2AABD-8DE7-4134-B069-AD5468C080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88FE66-E947-461C-8A92-7747059B97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FF957D2-5F48-4EC9-A785-C392DD06F0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FAF9E695-7185-4B89-A661-D09341F6632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9825F0-E95F-4EAD-8110-ACE6A217DBB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90" b="0">
                <a:solidFill>
                  <a:srgbClr val="F4F7FA"/>
                </a:solidFill>
                <a:latin typeface="Courier New"/>
                <a:ea typeface="Courier New"/>
                <a:cs typeface="Courier New"/>
              </a:defRPr>
            </a:defPPr>
            <a:lvl1pPr>
              <a:defRPr sz="2090" b="0">
                <a:solidFill>
                  <a:srgbClr val="F4F7FA"/>
                </a:solidFill>
                <a:latin typeface="Courier New"/>
                <a:ea typeface="Courier New"/>
                <a:cs typeface="Courier New"/>
              </a:defRPr>
            </a:lvl1pPr>
            <a:lvl2pPr>
              <a:defRPr sz="2090" b="0">
                <a:solidFill>
                  <a:srgbClr val="F4F7FA"/>
                </a:solidFill>
                <a:latin typeface="Courier New"/>
                <a:ea typeface="Courier New"/>
                <a:cs typeface="Courier New"/>
              </a:defRPr>
            </a:lvl2pPr>
            <a:lvl3pPr>
              <a:defRPr sz="2090" b="0">
                <a:solidFill>
                  <a:srgbClr val="F4F7FA"/>
                </a:solidFill>
                <a:latin typeface="Courier New"/>
                <a:ea typeface="Courier New"/>
                <a:cs typeface="Courier New"/>
              </a:defRPr>
            </a:lvl3pPr>
            <a:lvl4pPr>
              <a:defRPr sz="2090" b="0">
                <a:solidFill>
                  <a:srgbClr val="F4F7FA"/>
                </a:solidFill>
                <a:latin typeface="Courier New"/>
                <a:ea typeface="Courier New"/>
                <a:cs typeface="Courier New"/>
              </a:defRPr>
            </a:lvl4pPr>
            <a:lvl5pPr>
              <a:defRPr sz="2090" b="0">
                <a:solidFill>
                  <a:srgbClr val="F4F7FA"/>
                </a:solidFill>
                <a:latin typeface="Courier New"/>
                <a:ea typeface="Courier New"/>
                <a:cs typeface="Courier New"/>
              </a:defRPr>
            </a:lvl5pPr>
            <a:lvl6pPr>
              <a:defRPr sz="2090" b="0">
                <a:solidFill>
                  <a:srgbClr val="F4F7FA"/>
                </a:solidFill>
                <a:latin typeface="Courier New"/>
                <a:ea typeface="Courier New"/>
                <a:cs typeface="Courier New"/>
              </a:defRPr>
            </a:lvl6pPr>
            <a:lvl7pPr>
              <a:defRPr sz="2090" b="0">
                <a:solidFill>
                  <a:srgbClr val="F4F7FA"/>
                </a:solidFill>
                <a:latin typeface="Courier New"/>
                <a:ea typeface="Courier New"/>
                <a:cs typeface="Courier New"/>
              </a:defRPr>
            </a:lvl7pPr>
            <a:lvl8pPr>
              <a:defRPr sz="2090" b="0">
                <a:solidFill>
                  <a:srgbClr val="F4F7FA"/>
                </a:solidFill>
                <a:latin typeface="Courier New"/>
                <a:ea typeface="Courier New"/>
                <a:cs typeface="Courier New"/>
              </a:defRPr>
            </a:lvl8pPr>
            <a:lvl9pPr>
              <a:defRPr sz="2090" b="0">
                <a:solidFill>
                  <a:srgbClr val="F4F7FA"/>
                </a:solidFill>
                <a:latin typeface="Courier New"/>
                <a:ea typeface="Courier New"/>
                <a:cs typeface="Courier New"/>
              </a:defRPr>
            </a:lvl9pPr>
          </a:lstStyle>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A2F6A8C7-B557-4FBF-8CD6-2C173EE7384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A9B1D6-D4AE-4544-8099-180C8A4FD18F}"/>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C466D8C1-E4AD-4FA2-AEE9-15E15FFF1F6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06BB4C03-BBAE-4B45-9C70-E556B27BD8C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01B49854-7B3A-4EEA-976A-275086B63DC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648E3877-F93B-4127-8082-D7BAB86552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56</a:t>
            </a:r>
          </a:p>
        </p:txBody>
      </p:sp>
    </p:spTree>
    <p:extLst>
      <p:ext uri="{BB962C8B-B14F-4D97-AF65-F5344CB8AC3E}">
        <p14:creationId xmlns:p14="http://schemas.microsoft.com/office/powerpoint/2010/main" val="181751557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2C90204-669F-4C99-8E7F-624D108668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B4386F-2C46-47EC-B1A5-DA64BF2476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5830B1-8DD5-47FD-9B8C-B9D02D95B0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19C57548-10B0-4859-A95F-1089DA3A7F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CC3FE8-49E2-4170-A6C5-B0235749D9A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B0FC5E2C-09F1-43F5-B5DD-D5E0E965E4A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E3FE43-093A-4360-94FE-D21FD526556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D0289CFE-23F1-4126-ABC4-25E12139ECD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3A5FBA-DF76-4504-848C-A4A7B6DD254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C1D4B852-8833-48ED-8721-A9A0D37B2B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57</a:t>
            </a:r>
          </a:p>
        </p:txBody>
      </p:sp>
    </p:spTree>
    <p:extLst>
      <p:ext uri="{BB962C8B-B14F-4D97-AF65-F5344CB8AC3E}">
        <p14:creationId xmlns:p14="http://schemas.microsoft.com/office/powerpoint/2010/main" val="1403697988"/>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218425-916C-4DC1-9B06-18927F7FD9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D2EEA8-E447-4685-A25B-15A319C5D9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FD8307D-CB04-4A21-885D-E2677C9FCC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04A75362-F2F1-4A90-9597-1FE88529353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CA9CD1-2A9F-4BF5-AB61-F274F3EB1CE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015ACB6-F5A4-4899-A86E-BB19F070B12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69AB97F9-BF43-4CF4-9F14-7649F7BA32B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E31F2EAE-0156-4E43-9B58-109DAB6290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58</a:t>
            </a:r>
          </a:p>
        </p:txBody>
      </p:sp>
    </p:spTree>
    <p:extLst>
      <p:ext uri="{BB962C8B-B14F-4D97-AF65-F5344CB8AC3E}">
        <p14:creationId xmlns:p14="http://schemas.microsoft.com/office/powerpoint/2010/main" val="47485370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E601007-F2F5-4727-95B7-B88F124043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742B0F-407B-4147-BD5B-17E642BC28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FC1F21-44CA-48D1-BE95-48D951115B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FBE5C7E6-06C4-4A32-93BE-C1BDD8F4073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C36CBC-68CD-4A9C-9863-6DE83EF0CE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47F515B6-243D-4EC6-A431-7704F1ED1D3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DF4947B-8328-44B7-BE02-9AA6578669A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6F4019A2-5127-43BD-9F2C-4315451C090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4CC6EEE7-578E-41AD-B842-7CD9C50EFD4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142D606B-15CF-441B-9D76-94EB83CF25B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8BB9CC14-F0B4-4B13-A37A-64B1E8FD38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59</a:t>
            </a:r>
          </a:p>
        </p:txBody>
      </p:sp>
    </p:spTree>
    <p:extLst>
      <p:ext uri="{BB962C8B-B14F-4D97-AF65-F5344CB8AC3E}">
        <p14:creationId xmlns:p14="http://schemas.microsoft.com/office/powerpoint/2010/main" val="124755610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D26EF8-DE18-4396-81D9-7AC4F16189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648C21-D253-436E-A217-DFB6D5F999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413C7582-BB12-4598-A8C2-5B47F6F44A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4" name="">
            <a:extLst xmlns:a="http://schemas.openxmlformats.org/drawingml/2006/main">
              <a:ext uri="{FF2B5EF4-FFF2-40B4-BE49-F238E27FC236}">
                <a16:creationId xmlns:a16="http://schemas.microsoft.com/office/drawing/2014/main" id="{D515A1E9-444A-4A6C-9FD3-9E7483538E94}"/>
              </a:ext>
            </a:extLst>
          </p:cNvPr>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80DA17FC-6E06-41E2-801B-CE494A3D0D9A}"/>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394643F3-101E-4BF8-8F90-87F7F463C9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60</a:t>
            </a:r>
          </a:p>
        </p:txBody>
      </p:sp>
    </p:spTree>
    <p:extLst>
      <p:ext uri="{BB962C8B-B14F-4D97-AF65-F5344CB8AC3E}">
        <p14:creationId xmlns:p14="http://schemas.microsoft.com/office/powerpoint/2010/main" val="6815120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B08926D-71AD-472D-953E-108474405F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EDC290-85FC-4598-A418-E021E286A4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BCA84C-AC6B-46DF-A144-935DF62452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5698CDFD-FE7C-4663-B371-8CD5182516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19A974-353E-463A-8EC9-D259AEA3A7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1CCE77FB-75E0-4063-9E66-E66152D10EB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7717E05-4862-4F8B-9A63-87D2A76F365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9CF4128E-68A4-4729-BFE2-3B32C919521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18505A-19A6-4ACE-975A-C43E418D4E9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793245CA-1281-4499-97C5-A0DA4008BC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61</a:t>
            </a:r>
          </a:p>
        </p:txBody>
      </p:sp>
    </p:spTree>
    <p:extLst>
      <p:ext uri="{BB962C8B-B14F-4D97-AF65-F5344CB8AC3E}">
        <p14:creationId xmlns:p14="http://schemas.microsoft.com/office/powerpoint/2010/main" val="10345665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060213C-EB5C-4198-B009-80517DE561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24AFD2-D072-4930-96CD-DC8539B033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71AD0D-74EE-4595-B8BE-84628ECB6E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7183AE51-4E5F-4750-86F3-19E5A1BCA5B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4FC7E9-A156-46D1-A08B-32B5BEB0BE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26E4FDAF-7517-46B7-9581-B87504844E6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C9F1578-25CD-4DB8-8DFA-2AF8D0966AA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AC0A4836-FAB9-4AC9-93D5-43D851163A2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C329E315-AD73-4727-98D7-CFF4023A12B1}"/>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55D5AD1F-8CD5-4501-90F5-53DB8CC1854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B1E6EBE6-8458-41F2-AAAE-27B66AFA73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62</a:t>
            </a:r>
          </a:p>
        </p:txBody>
      </p:sp>
    </p:spTree>
    <p:extLst>
      <p:ext uri="{BB962C8B-B14F-4D97-AF65-F5344CB8AC3E}">
        <p14:creationId xmlns:p14="http://schemas.microsoft.com/office/powerpoint/2010/main" val="169973396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F4CB18-E3AC-4A4C-8161-4904238D0B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0460C6-ADB0-4CED-9464-B9EBDFC3F5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B2E1F2-A199-474E-AC42-16FDC984B1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9BC7A52C-F832-49F5-89FE-E2B1FEFF8B4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D68E7B7-9242-43DC-9098-C8465F6DDF7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6F1973-9F72-4F9D-9619-D2EA50D267C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BF480052-ECA7-4165-A6D5-019AD2337D3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B41B493D-DAAC-424C-BD86-BB39DC9454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63</a:t>
            </a:r>
          </a:p>
        </p:txBody>
      </p:sp>
    </p:spTree>
    <p:extLst>
      <p:ext uri="{BB962C8B-B14F-4D97-AF65-F5344CB8AC3E}">
        <p14:creationId xmlns:p14="http://schemas.microsoft.com/office/powerpoint/2010/main" val="107656685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BE76A6-61DD-4337-86F4-ACCB97C300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06DA3C-8E9C-48EB-A0F5-D7FAFACAA2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01D5028E-37C4-433B-81A9-FC992FE6DA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4" name="">
            <a:extLst xmlns:a="http://schemas.openxmlformats.org/drawingml/2006/main">
              <a:ext uri="{FF2B5EF4-FFF2-40B4-BE49-F238E27FC236}">
                <a16:creationId xmlns:a16="http://schemas.microsoft.com/office/drawing/2014/main" id="{61FFD30E-9B48-4068-947E-269004E9ED22}"/>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BD105CB-DAF0-4DD2-A753-BCC599C081E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783ED99F-5CC3-4C60-9FE0-F7F11C84EC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64</a:t>
            </a:r>
          </a:p>
        </p:txBody>
      </p:sp>
    </p:spTree>
    <p:extLst>
      <p:ext uri="{BB962C8B-B14F-4D97-AF65-F5344CB8AC3E}">
        <p14:creationId xmlns:p14="http://schemas.microsoft.com/office/powerpoint/2010/main" val="1875832212"/>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760911-1918-416D-96EA-C28067A320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1FF0C1-483C-4FBE-B927-872D19845F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E0786B-23B9-40A0-B714-CE683FDBF2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33D7B86D-63C8-4B78-8A26-2CC502EA7F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F6A5E25-33EF-4A91-ABB7-9D49E370BFD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72406EFA-F1D7-4891-9326-6E844E100BE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297803D-EFBE-454A-95A5-46B21CCFE87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28AE212F-1687-4E8C-AD23-ABD86CE824D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4C180CA-EED8-4A0C-A3D2-A576ECB6B53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7712C4B1-442C-4F11-92E0-0570400757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65</a:t>
            </a:r>
          </a:p>
        </p:txBody>
      </p:sp>
    </p:spTree>
    <p:extLst>
      <p:ext uri="{BB962C8B-B14F-4D97-AF65-F5344CB8AC3E}">
        <p14:creationId xmlns:p14="http://schemas.microsoft.com/office/powerpoint/2010/main" val="88420434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973D0E-6374-4EBD-A230-0F66F1E887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D7B8EB-6049-4528-AD01-11282AFDF7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54164F-4E05-48F4-B38B-6534469CC3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9FC82000-C618-48D4-89DF-16017C5C5A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59DBB4-3BB2-49EB-81FF-C499EFF889B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4FB36C8F-DF38-4E89-B1D6-B984009818B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53894A-9A37-443F-ABA4-4E7934066BD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23283052-6B14-466E-986F-F8594985736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68DBB7D-DF08-4D5D-87CB-279D26670B5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5B64C10A-4FF1-4012-AE27-A76017A04D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66</a:t>
            </a:r>
          </a:p>
        </p:txBody>
      </p:sp>
    </p:spTree>
    <p:extLst>
      <p:ext uri="{BB962C8B-B14F-4D97-AF65-F5344CB8AC3E}">
        <p14:creationId xmlns:p14="http://schemas.microsoft.com/office/powerpoint/2010/main" val="823712980"/>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989712A-967F-4F6D-9A72-3FC0B3EFD9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0DCF65-739F-412D-95ED-516BC0CAA5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8E15FE-1795-4FCD-BB32-F4DC137E53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05E16487-9822-4C2B-81FA-2DB306D9F5A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7F8556-E993-4D42-A3A4-CB5AFB7F357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2024FCE2-1C5A-4FE1-9C5A-418C849E857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D3D1AF4-C66D-4D2C-A1B3-4810E39D55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A02C1858-AAC1-4780-B6CA-94841EC3959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CFD60A12-8D0F-46BE-8860-549DF9AF2A4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569C584F-A897-4AF8-9CE5-487A3FD8B5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67</a:t>
            </a:r>
          </a:p>
        </p:txBody>
      </p:sp>
    </p:spTree>
    <p:extLst>
      <p:ext uri="{BB962C8B-B14F-4D97-AF65-F5344CB8AC3E}">
        <p14:creationId xmlns:p14="http://schemas.microsoft.com/office/powerpoint/2010/main" val="118532237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CCAFD7-32B8-44DA-9096-9088E1C518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AE0E67-EC21-4170-BB89-2B647A006D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6FBA53A-A452-4CFC-9D00-4DA0E96271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DD963DBC-95A2-44C1-9184-CBCFC086B60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E4D1FB8-7130-4755-BE1C-87DF864FC61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3E4E3618-4750-4EBD-809F-2BF921F795E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34F6B7-7D59-4D3A-8AAB-663A1AF4558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5A153C16-F77B-451F-BE73-623B1D63579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1E7A9FA-50E0-4550-8616-5625A75ECB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9223DCAA-F024-44D1-985D-BDF29885C0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68</a:t>
            </a:r>
          </a:p>
        </p:txBody>
      </p:sp>
    </p:spTree>
    <p:extLst>
      <p:ext uri="{BB962C8B-B14F-4D97-AF65-F5344CB8AC3E}">
        <p14:creationId xmlns:p14="http://schemas.microsoft.com/office/powerpoint/2010/main" val="143249005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B0931F-0457-44D8-A216-CE6549ADE8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5EE4175-FD66-410C-B9C7-B8F2916045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18451AC-8B0A-41D2-BDBF-A814A44C30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ADC4F1B4-F112-40C9-BB8E-05719EEC77E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5D9BA1-5808-41D0-8E24-6D2FFBB8B37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6FD04A76-D57D-4285-B649-78AB8AB0F51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DFC0A4-2948-4665-A700-2FEF3E59D49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07322176-36F6-46DD-BBB0-3E878515822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A8FB6E-A1D6-464A-ABBA-4CF13083E04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FCAEC281-B8A1-4984-A046-BF02578393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69</a:t>
            </a:r>
          </a:p>
        </p:txBody>
      </p:sp>
    </p:spTree>
    <p:extLst>
      <p:ext uri="{BB962C8B-B14F-4D97-AF65-F5344CB8AC3E}">
        <p14:creationId xmlns:p14="http://schemas.microsoft.com/office/powerpoint/2010/main" val="676235638"/>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7BD040-137E-4BFF-9F63-A27EE4B391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1A2BB7-684B-4820-9D92-41C46DDCB1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0C4E8F4-D110-43A3-B6C8-37BAB7B0B8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D634C67F-0A5A-4811-88ED-384AEDE23E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597448-97D2-40E1-83B1-25A52C4CFAC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B5D6E2A7-2EC5-4555-84BB-DD39A62541B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BFB78B-8DC5-4B68-8A01-D649DB09665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BBEB7F8F-5AD9-42D4-AC37-6402288628E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F098748-1070-4126-845B-B0DA154B5F2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05162D94-5B61-45B7-B4B2-D1D9E9A65B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70</a:t>
            </a:r>
          </a:p>
        </p:txBody>
      </p:sp>
    </p:spTree>
    <p:extLst>
      <p:ext uri="{BB962C8B-B14F-4D97-AF65-F5344CB8AC3E}">
        <p14:creationId xmlns:p14="http://schemas.microsoft.com/office/powerpoint/2010/main" val="76468905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58B5D9-1120-476F-A676-FDD854C41E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627F7D-1BA1-46DD-8D04-CA986662AC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DEAE294-C3D3-4A82-BCD8-37CE559627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EAA7610D-A9D8-4F9E-808A-73CBD2C3776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0BD900-D04B-4584-BDFC-C79DB3F5A95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2" b="0">
                <a:solidFill>
                  <a:srgbClr val="F4F7FA"/>
                </a:solidFill>
                <a:latin typeface="Courier New"/>
                <a:ea typeface="Courier New"/>
                <a:cs typeface="Courier New"/>
              </a:defRPr>
            </a:defPPr>
            <a:lvl1pPr>
              <a:defRPr sz="2102" b="0">
                <a:solidFill>
                  <a:srgbClr val="F4F7FA"/>
                </a:solidFill>
                <a:latin typeface="Courier New"/>
                <a:ea typeface="Courier New"/>
                <a:cs typeface="Courier New"/>
              </a:defRPr>
            </a:lvl1pPr>
            <a:lvl2pPr>
              <a:defRPr sz="2102" b="0">
                <a:solidFill>
                  <a:srgbClr val="F4F7FA"/>
                </a:solidFill>
                <a:latin typeface="Courier New"/>
                <a:ea typeface="Courier New"/>
                <a:cs typeface="Courier New"/>
              </a:defRPr>
            </a:lvl2pPr>
            <a:lvl3pPr>
              <a:defRPr sz="2102" b="0">
                <a:solidFill>
                  <a:srgbClr val="F4F7FA"/>
                </a:solidFill>
                <a:latin typeface="Courier New"/>
                <a:ea typeface="Courier New"/>
                <a:cs typeface="Courier New"/>
              </a:defRPr>
            </a:lvl3pPr>
            <a:lvl4pPr>
              <a:defRPr sz="2102" b="0">
                <a:solidFill>
                  <a:srgbClr val="F4F7FA"/>
                </a:solidFill>
                <a:latin typeface="Courier New"/>
                <a:ea typeface="Courier New"/>
                <a:cs typeface="Courier New"/>
              </a:defRPr>
            </a:lvl4pPr>
            <a:lvl5pPr>
              <a:defRPr sz="2102" b="0">
                <a:solidFill>
                  <a:srgbClr val="F4F7FA"/>
                </a:solidFill>
                <a:latin typeface="Courier New"/>
                <a:ea typeface="Courier New"/>
                <a:cs typeface="Courier New"/>
              </a:defRPr>
            </a:lvl5pPr>
            <a:lvl6pPr>
              <a:defRPr sz="2102" b="0">
                <a:solidFill>
                  <a:srgbClr val="F4F7FA"/>
                </a:solidFill>
                <a:latin typeface="Courier New"/>
                <a:ea typeface="Courier New"/>
                <a:cs typeface="Courier New"/>
              </a:defRPr>
            </a:lvl6pPr>
            <a:lvl7pPr>
              <a:defRPr sz="2102" b="0">
                <a:solidFill>
                  <a:srgbClr val="F4F7FA"/>
                </a:solidFill>
                <a:latin typeface="Courier New"/>
                <a:ea typeface="Courier New"/>
                <a:cs typeface="Courier New"/>
              </a:defRPr>
            </a:lvl7pPr>
            <a:lvl8pPr>
              <a:defRPr sz="2102" b="0">
                <a:solidFill>
                  <a:srgbClr val="F4F7FA"/>
                </a:solidFill>
                <a:latin typeface="Courier New"/>
                <a:ea typeface="Courier New"/>
                <a:cs typeface="Courier New"/>
              </a:defRPr>
            </a:lvl8pPr>
            <a:lvl9pPr>
              <a:defRPr sz="2102" b="0">
                <a:solidFill>
                  <a:srgbClr val="F4F7FA"/>
                </a:solidFill>
                <a:latin typeface="Courier New"/>
                <a:ea typeface="Courier New"/>
                <a:cs typeface="Courier New"/>
              </a:defRPr>
            </a:lvl9pPr>
          </a:lstStyle>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F6570DB0-7955-4F56-BA17-B5EA27256AB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E70FE003-BC35-447F-B234-861CDC3902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7C7501A9-0F67-4A9D-A414-FB17FD074C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71</a:t>
            </a:r>
          </a:p>
        </p:txBody>
      </p:sp>
    </p:spTree>
    <p:extLst>
      <p:ext uri="{BB962C8B-B14F-4D97-AF65-F5344CB8AC3E}">
        <p14:creationId xmlns:p14="http://schemas.microsoft.com/office/powerpoint/2010/main" val="45189587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5A8D1F-0973-43E5-A4BC-8A94D24DB8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1D39DA-FC71-4E06-A803-4AB52AFC80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84D2FC-818B-46F1-90A6-66FC9ABC4C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92F4D173-EFD9-4EDE-8CBB-017C6CE6F6A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0EC9AD-7085-4CCF-920F-207A59FA29D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B6B04C4-0E0B-4148-9F51-9D3DB5AE808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55C9BDC8-4005-4600-9425-9E64F77B307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434E033E-122A-4459-BF57-830D3D24E5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72</a:t>
            </a:r>
          </a:p>
        </p:txBody>
      </p:sp>
    </p:spTree>
    <p:extLst>
      <p:ext uri="{BB962C8B-B14F-4D97-AF65-F5344CB8AC3E}">
        <p14:creationId xmlns:p14="http://schemas.microsoft.com/office/powerpoint/2010/main" val="105908322"/>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E8885F-2F98-477F-A8C6-3B440CC970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5DF567B-AFD0-4A72-864C-1D0D7FCDFD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C6710D2-ABB0-447F-A94C-1CCD318A04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1EB7641B-8758-41ED-A18D-5602C1CA44C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BBDC2F-B0A1-4B95-8BF9-91C681E4FFC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F2363CBB-5066-4C26-A747-ABC2F1AFEDB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0B62685D-B8F8-4E31-A05E-7E25E5E56FC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E9B48B00-C21C-48B7-9DF3-5181456B94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73</a:t>
            </a:r>
          </a:p>
        </p:txBody>
      </p:sp>
    </p:spTree>
    <p:extLst>
      <p:ext uri="{BB962C8B-B14F-4D97-AF65-F5344CB8AC3E}">
        <p14:creationId xmlns:p14="http://schemas.microsoft.com/office/powerpoint/2010/main" val="2093178303"/>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C52EC3F-82F9-44ED-A144-2A665A9656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DA0C5F-2054-4BF8-818F-5761DEDE3A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F4D28A-3624-40E5-90D5-BB2BB52B06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D4C9BB6-3BAB-4918-A996-9D93FF69316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F7283C-74CF-46E4-B7BD-3E4E10460B3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7F3D066-80E9-4984-8701-3212B76BAE6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D08CC2A3-EE2E-4ACD-97A5-BBD4ED19F2B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2B914D8D-F322-400D-B293-C2AEEA8D8B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74</a:t>
            </a:r>
          </a:p>
        </p:txBody>
      </p:sp>
    </p:spTree>
    <p:extLst>
      <p:ext uri="{BB962C8B-B14F-4D97-AF65-F5344CB8AC3E}">
        <p14:creationId xmlns:p14="http://schemas.microsoft.com/office/powerpoint/2010/main" val="463097025"/>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499DC6-646F-4EB6-A447-7EA68741AD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678C3A-6292-430C-BC10-163DA17620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2B1265-A5F7-4C49-81E6-5868C0104E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52F839C0-2C02-4553-93D5-A06F4FA220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F77E76-7A52-45A7-B273-872E25D8F00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A89DAA79-29A6-4AE1-8D65-F292D3F9D4C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50309E-E622-4D6F-B7E3-7DB4406BF8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7930AF9A-BDB5-45E5-97A1-EFD38176B80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53E587-3C63-405F-A681-FC181794790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BA8F361E-395D-4BC2-A935-1EDF472AD3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75</a:t>
            </a:r>
          </a:p>
        </p:txBody>
      </p:sp>
    </p:spTree>
    <p:extLst>
      <p:ext uri="{BB962C8B-B14F-4D97-AF65-F5344CB8AC3E}">
        <p14:creationId xmlns:p14="http://schemas.microsoft.com/office/powerpoint/2010/main" val="384097507"/>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6F55F9-CBB3-4991-AEBD-EB0F5382A4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91F822-D8CC-476A-9D21-F0CDA07C01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47EFCAF-2B23-4C46-A22A-35457851F2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37D12BFF-D480-4E92-A04A-E2A3126F2EB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D8A363-4C9E-4A56-BA66-2815D798D24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Hydrostatic pressure (kPa) = density (kg/m³) × 9.81 (m/s²) × depth (m) / 1000.</a:t>
            </a:r>
          </a:p>
        </p:txBody>
      </p:sp>
      <p:sp>
        <p:nvSpPr>
          <p:cNvPr id="6" name="">
            <a:extLst xmlns:a="http://schemas.openxmlformats.org/drawingml/2006/main">
              <a:ext uri="{FF2B5EF4-FFF2-40B4-BE49-F238E27FC236}">
                <a16:creationId xmlns:a16="http://schemas.microsoft.com/office/drawing/2014/main" id="{1D719256-37B9-47AA-BB5D-D68F0273CB6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 the pressure contribution of the fluid column.</a:t>
            </a:r>
          </a:p>
        </p:txBody>
      </p:sp>
      <p:sp>
        <p:nvSpPr>
          <p:cNvPr id="7" name="">
            <a:extLst xmlns:a="http://schemas.openxmlformats.org/drawingml/2006/main">
              <a:ext uri="{FF2B5EF4-FFF2-40B4-BE49-F238E27FC236}">
                <a16:creationId xmlns:a16="http://schemas.microsoft.com/office/drawing/2014/main" id="{4BF456C8-E28C-4C02-B0FC-8EBB89C58A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76</a:t>
            </a:r>
          </a:p>
        </p:txBody>
      </p:sp>
    </p:spTree>
    <p:extLst>
      <p:ext uri="{BB962C8B-B14F-4D97-AF65-F5344CB8AC3E}">
        <p14:creationId xmlns:p14="http://schemas.microsoft.com/office/powerpoint/2010/main" val="1125257628"/>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76F064-5423-450E-8864-0D2AB9EED7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3F7037-8964-4CC7-9A92-A0AFDD68A8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A3FB7C5-7514-423F-8ED9-9BDFB3DCDA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0EB2C646-ADC8-469F-B02E-343F860C8F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636C6C-5217-417E-83F4-56343A21429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9C63BA38-63E3-4F70-AAD9-5D3759162E8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B40D99-47AE-4A9D-B52B-67F8036BEA8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B6DBB90B-F7D5-438D-9DD4-B5530A0C54A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9BC9C3D-1305-4B6E-95FF-B76B5810F83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1C2CEF68-09C4-40B5-A88D-626F4D19DF1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15E620C-81F0-410E-AC31-7E122C40D53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B5D4047A-219A-4F1A-A5B4-CD7F393341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77</a:t>
            </a:r>
          </a:p>
        </p:txBody>
      </p:sp>
    </p:spTree>
    <p:extLst>
      <p:ext uri="{BB962C8B-B14F-4D97-AF65-F5344CB8AC3E}">
        <p14:creationId xmlns:p14="http://schemas.microsoft.com/office/powerpoint/2010/main" val="58434199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46A67AE-9567-4A16-B4CC-C333130EBF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FF9090-9EAA-40ED-BEDD-C9208B140E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0096315-C14E-40B1-8622-8D04708125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7FB4A872-A582-4696-8035-65F6A9F7649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148C28-2BA7-48C9-A4C0-0E475920927B}"/>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4A64E4C3-5D98-4A1E-BE4B-0F7852C13A9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84FF79-778D-4D12-8ADD-7A70C405F248}"/>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2031129C-1686-4D6A-B5F3-B4D494A753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78</a:t>
            </a:r>
          </a:p>
        </p:txBody>
      </p:sp>
    </p:spTree>
    <p:extLst>
      <p:ext uri="{BB962C8B-B14F-4D97-AF65-F5344CB8AC3E}">
        <p14:creationId xmlns:p14="http://schemas.microsoft.com/office/powerpoint/2010/main" val="797224092"/>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D54F5E7-18FC-4D67-9145-75CCD28588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D05966-4411-4B98-8813-9E3A9166907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84F46F-5153-498A-82BF-2991CB2AFA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E513E8FB-1FA3-40EF-9BC8-A29D63E334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27B732-C62C-416F-82BF-D0262D93E67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6FDA5A23-231F-4843-83AF-4885B6D01B6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51F679-0660-4850-99DE-8021159CBCC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2E5F25E1-F298-4C1C-9C30-672A175A10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6E9E19-0D6E-4662-8C86-BA9D97E7E4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D2B8B6CD-88F9-4DB5-8E8F-412831475A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79</a:t>
            </a:r>
          </a:p>
        </p:txBody>
      </p:sp>
    </p:spTree>
    <p:extLst>
      <p:ext uri="{BB962C8B-B14F-4D97-AF65-F5344CB8AC3E}">
        <p14:creationId xmlns:p14="http://schemas.microsoft.com/office/powerpoint/2010/main" val="95357962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5E8517-4C36-453B-84C9-CC32E06D52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C7AAD6-423D-44AF-850A-1FEF4B2039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9DC5AB3-9E02-4B97-8FB1-D5962ECF83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902BD125-731B-400F-B02A-98ADBC7758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935AC7-A6E1-4186-B58F-F63324498E4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xmlns:a="http://schemas.openxmlformats.org/drawingml/2006/main">
              <a:ext uri="{FF2B5EF4-FFF2-40B4-BE49-F238E27FC236}">
                <a16:creationId xmlns:a16="http://schemas.microsoft.com/office/drawing/2014/main" id="{E1701CBC-2264-4BFD-A7F6-35730CF116E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398570-625D-4282-96DA-326D9C56C7C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0B62C76-0B17-45CC-88D9-F47D65B3671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6320AC-6C9F-44BA-A604-9B4F756D666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8DF87CF6-8B34-441E-87F9-10AB5EDAEBF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4AA7D9A-7359-4FB0-9585-C4B28DF1FE1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8BB1847C-824D-4BA1-B02D-3B7D149839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80</a:t>
            </a:r>
          </a:p>
        </p:txBody>
      </p:sp>
    </p:spTree>
    <p:extLst>
      <p:ext uri="{BB962C8B-B14F-4D97-AF65-F5344CB8AC3E}">
        <p14:creationId xmlns:p14="http://schemas.microsoft.com/office/powerpoint/2010/main" val="2084092885"/>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0C65BA-B8E8-45B3-A654-8AE18E8CAA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D9777B-951B-4FEB-BEA5-80116ACED2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5FA6E95-5E19-4A64-BDC8-DA54217376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0FA5CB06-26C3-419B-86D1-4B7864D166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2426D8-043E-44FE-AD36-95F0C60A40F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493ABC2C-2FB1-44B4-A89E-5D9700A3EF0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0BE2436-C246-48B4-88F1-8E429FA5916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17AE13B-F934-436E-B349-E110C46A8A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81</a:t>
            </a:r>
          </a:p>
        </p:txBody>
      </p:sp>
    </p:spTree>
    <p:extLst>
      <p:ext uri="{BB962C8B-B14F-4D97-AF65-F5344CB8AC3E}">
        <p14:creationId xmlns:p14="http://schemas.microsoft.com/office/powerpoint/2010/main" val="966446330"/>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066511-8255-4920-AC4C-5E06BD8AEF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1DCC37-FA08-43C2-B4F7-F5C190BAE0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3C42A33-15F7-4188-B9F1-8875C14994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2D6D018D-65D9-49BD-8E44-6BD221498A0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D6C5D2-FFC0-4FE5-9F2F-832AD7A2947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87DF7A95-7F60-45EB-87D6-A57D9998252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2DC4C00-9C6E-4C83-A063-0EC2A594FBE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82FBAC8-F693-4C5E-B2DA-FE98E03D51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82</a:t>
            </a:r>
          </a:p>
        </p:txBody>
      </p:sp>
    </p:spTree>
    <p:extLst>
      <p:ext uri="{BB962C8B-B14F-4D97-AF65-F5344CB8AC3E}">
        <p14:creationId xmlns:p14="http://schemas.microsoft.com/office/powerpoint/2010/main" val="1225464088"/>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A0151C-4D04-4A70-AF0E-FA925D9C65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8D4BD2-12EA-4867-B50A-6714DF4303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9507B1F-13D9-448B-99D8-6D0571C31A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5A498875-6DF1-480C-89CE-1E95021AD82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2C2466-CE75-4B1F-B363-C06EB717763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mud_pressure(depth_m, density) returning the hydrostatic pressure in kPa.</a:t>
            </a:r>
          </a:p>
        </p:txBody>
      </p:sp>
      <p:sp>
        <p:nvSpPr>
          <p:cNvPr id="6" name="">
            <a:extLst xmlns:a="http://schemas.openxmlformats.org/drawingml/2006/main">
              <a:ext uri="{FF2B5EF4-FFF2-40B4-BE49-F238E27FC236}">
                <a16:creationId xmlns:a16="http://schemas.microsoft.com/office/drawing/2014/main" id="{C0E63A82-E563-460C-9975-9DD2E2F5EEF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CA90609-02FA-42AD-B526-934ADE6C541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49DA00B-5769-4C38-A25B-91DC0FCBDD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83</a:t>
            </a:r>
          </a:p>
        </p:txBody>
      </p:sp>
    </p:spTree>
    <p:extLst>
      <p:ext uri="{BB962C8B-B14F-4D97-AF65-F5344CB8AC3E}">
        <p14:creationId xmlns:p14="http://schemas.microsoft.com/office/powerpoint/2010/main" val="2129527068"/>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D71E3F-02F3-43A3-9FD5-CD25A3B571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4E06D7-1CCF-4254-A3DE-7B8B323E25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B149BE2-22D8-4C8D-B4A7-9DF2C8CA1B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4FAF0276-3233-409A-8E4E-3BCBDB6C3E5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799D5E-3508-4C25-91D2-0C3F5815965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B1915001-AB0C-427E-A8D9-8E70BD03D54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6BE3BB6-EF28-4F18-B1C3-FFC1D4BFFAE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EA58B49-107C-416A-9537-75F5FC8060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84</a:t>
            </a:r>
          </a:p>
        </p:txBody>
      </p:sp>
    </p:spTree>
    <p:extLst>
      <p:ext uri="{BB962C8B-B14F-4D97-AF65-F5344CB8AC3E}">
        <p14:creationId xmlns:p14="http://schemas.microsoft.com/office/powerpoint/2010/main" val="1735285152"/>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57DA62-4D0D-49DB-80DB-E3D2E63CE7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1F3BA9-95E6-4E52-A300-18D735A000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A463419-7786-4790-A7CB-0923CBDD62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ABCE3C7F-3684-4A29-A091-7BA2DD791AD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C8825A-7799-472C-9D9D-AA7D2B8381F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484A661A-645D-4758-89FE-40E982CEA5A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53D82A1-E88F-4F89-91F0-0626574905E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3F304E2-91F8-4583-8CEF-37859E2AA1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85</a:t>
            </a:r>
          </a:p>
        </p:txBody>
      </p:sp>
    </p:spTree>
    <p:extLst>
      <p:ext uri="{BB962C8B-B14F-4D97-AF65-F5344CB8AC3E}">
        <p14:creationId xmlns:p14="http://schemas.microsoft.com/office/powerpoint/2010/main" val="1153183929"/>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3013F5-2AE6-4F20-8A3A-9165DAAA2A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F045DB-C860-4C8F-8483-BA8A50CCDA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BBF25C9-26FB-46E8-BF89-82568C35B2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E2A5BBC0-A26A-4307-AC0A-286DD7EF578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9E6042-06A9-49B3-9714-116D37B0958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25 Sep 2026, 08:00 Kampala</a:t>
            </a:r>
          </a:p>
        </p:txBody>
      </p:sp>
      <p:sp>
        <p:nvSpPr>
          <p:cNvPr id="6" name="">
            <a:extLst xmlns:a="http://schemas.openxmlformats.org/drawingml/2006/main">
              <a:ext uri="{FF2B5EF4-FFF2-40B4-BE49-F238E27FC236}">
                <a16:creationId xmlns:a16="http://schemas.microsoft.com/office/drawing/2014/main" id="{F9E9D361-521D-406E-81A6-34B2111564E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71AE6F-539B-4F66-9AB4-AD2B2DB18BA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02 Oct 2026, 08:00 Kampala</a:t>
            </a:r>
          </a:p>
        </p:txBody>
      </p:sp>
      <p:sp>
        <p:nvSpPr>
          <p:cNvPr id="8" name="">
            <a:extLst xmlns:a="http://schemas.openxmlformats.org/drawingml/2006/main">
              <a:ext uri="{FF2B5EF4-FFF2-40B4-BE49-F238E27FC236}">
                <a16:creationId xmlns:a16="http://schemas.microsoft.com/office/drawing/2014/main" id="{12CE4AF2-17AE-4835-9BC8-A4DFB6E0C7B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2A8448-08C4-4128-8495-E3254C3961B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ABD63DC-A2C2-40AE-8761-4FD6280ADA2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B5EB7FC-6A8F-433A-8A84-9F05EB2880B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BC798579-7DD1-41AF-AA36-7D67DD1D9BB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B2C8129-2BF7-4DD3-A188-D9C73678239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7f3184c26df42c7"/>
              </a:rPr>
              <a:t>Open W03 assignment form</a:t>
            </a:r>
          </a:p>
        </p:txBody>
      </p:sp>
      <p:sp>
        <p:nvSpPr>
          <p:cNvPr id="14" name="">
            <a:extLst xmlns:a="http://schemas.openxmlformats.org/drawingml/2006/main">
              <a:ext uri="{FF2B5EF4-FFF2-40B4-BE49-F238E27FC236}">
                <a16:creationId xmlns:a16="http://schemas.microsoft.com/office/drawing/2014/main" id="{43519317-5023-41F2-9C50-2287A6EB449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https://docs.google.com/forms/d/e/1FAIpQLSfd3oHKoR26Uc9BSQ5WEQosAD4ZnrRHT4JZRQmLrslca35tlA/viewform</a:t>
            </a:r>
          </a:p>
        </p:txBody>
      </p:sp>
      <p:sp>
        <p:nvSpPr>
          <p:cNvPr id="15" name="">
            <a:extLst xmlns:a="http://schemas.openxmlformats.org/drawingml/2006/main">
              <a:ext uri="{FF2B5EF4-FFF2-40B4-BE49-F238E27FC236}">
                <a16:creationId xmlns:a16="http://schemas.microsoft.com/office/drawing/2014/main" id="{0B7C3CEC-ECC8-45D5-989A-D405C94ABA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86</a:t>
            </a:r>
          </a:p>
        </p:txBody>
      </p:sp>
    </p:spTree>
    <p:extLst>
      <p:ext uri="{BB962C8B-B14F-4D97-AF65-F5344CB8AC3E}">
        <p14:creationId xmlns:p14="http://schemas.microsoft.com/office/powerpoint/2010/main" val="2107357371"/>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C7991AD-F50A-4FEB-92A3-5EC6DFE516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C4F7BC-7685-4699-BF00-9254C220F5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39675A6-1D32-4FED-A047-665CE3E992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xmlns:a="http://schemas.openxmlformats.org/drawingml/2006/main">
              <a:ext uri="{FF2B5EF4-FFF2-40B4-BE49-F238E27FC236}">
                <a16:creationId xmlns:a16="http://schemas.microsoft.com/office/drawing/2014/main" id="{29872FA5-31D4-4893-A36E-B3A30252BDA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51648A-025A-4F85-9F8A-CEA85719EA72}"/>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02E7E50D-8FCB-48B1-9F8A-72091105301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16A750-04F0-4D29-8517-E18D21293C78}"/>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E28AC7C3-D91C-4AB8-B443-5F118863781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86DCD9-A0A3-4C82-85AA-9661EE5903D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789CBCA9-B75C-4D0C-B74B-4C58C934343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4D0ADC5-5B9C-4867-A49F-6CB9337F8E3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56CA1978-94A5-4E8A-9334-70768FEEB458}"/>
              </a:ext>
            </a:extLst>
          </p:cNvPr>
          <p:cNvPicPr>
            <a:picLocks xmlns:a="http://schemas.openxmlformats.org/drawingml/2006/main" noChangeAspect="1"/>
          </p:cNvPicPr>
          <p:nvPr/>
        </p:nvPicPr>
        <p:blipFill>
          <a:blip xmlns:r="http://schemas.openxmlformats.org/officeDocument/2006/relationships" xmlns:a="http://schemas.openxmlformats.org/drawingml/2006/main" r:embed="Ra82e1039219e4e0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F890CB0-DB26-42AF-B217-6F004816901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8F4C289-6119-492F-87C2-8E87E3D8DA8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3EA821F-A3C8-4A3E-9A9B-786FA33AE5B1}"/>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079a0da3a594e40"/>
              </a:rPr>
              <a:t>Open this week’s quiz</a:t>
            </a:r>
          </a:p>
        </p:txBody>
      </p:sp>
      <p:sp>
        <p:nvSpPr>
          <p:cNvPr id="16" name="">
            <a:extLst xmlns:a="http://schemas.openxmlformats.org/drawingml/2006/main">
              <a:ext uri="{FF2B5EF4-FFF2-40B4-BE49-F238E27FC236}">
                <a16:creationId xmlns:a16="http://schemas.microsoft.com/office/drawing/2014/main" id="{CE0A7997-C216-4E56-AE65-592347CBC8B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https://forms.gle/cDMd8seSsFuXF4658</a:t>
            </a:r>
          </a:p>
        </p:txBody>
      </p:sp>
      <p:sp>
        <p:nvSpPr>
          <p:cNvPr id="17" name="">
            <a:extLst xmlns:a="http://schemas.openxmlformats.org/drawingml/2006/main">
              <a:ext uri="{FF2B5EF4-FFF2-40B4-BE49-F238E27FC236}">
                <a16:creationId xmlns:a16="http://schemas.microsoft.com/office/drawing/2014/main" id="{E93E92AE-E931-4C75-94CA-D3781A1746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87</a:t>
            </a:r>
          </a:p>
        </p:txBody>
      </p:sp>
    </p:spTree>
    <p:extLst>
      <p:ext uri="{BB962C8B-B14F-4D97-AF65-F5344CB8AC3E}">
        <p14:creationId xmlns:p14="http://schemas.microsoft.com/office/powerpoint/2010/main" val="2146846092"/>
      </p:ext>
    </p:extLst>
  </p:cSld>
</p:sld>
</file>

<file path=ppt/slides/slide88.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801E32-63F3-4E9A-88F4-95CA3B8DF1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D5CBCAB-D3EE-452B-B1E9-45BC71C4D0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64AEB97-DD3F-4B95-B14C-AD25F09EFC4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9F6E839-DA52-40F3-82B5-0E3A2864A3C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7C2DD5CB-D428-44EC-978B-F1866B1A4004}"/>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AFC2FD2-0787-48B2-8EC9-592008AE30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3   88</a:t>
            </a:r>
          </a:p>
        </p:txBody>
      </p:sp>
    </p:spTree>
    <p:extLst>
      <p:ext uri="{BB962C8B-B14F-4D97-AF65-F5344CB8AC3E}">
        <p14:creationId xmlns:p14="http://schemas.microsoft.com/office/powerpoint/2010/main" val="2094826492"/>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56050B5-8C47-4FB7-9731-DE0352EDF9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53C0B5-B015-40FC-9358-8C38B23BDB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A0D11C1-6E01-4482-8BD2-37191A65FA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351873A6-2182-4D5F-B910-2124DD9A9AF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6FA175-4678-45C3-8DAE-0DC78258387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B68B8A43-B03D-4639-8635-F670B7E75BC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1E0F35-8CB9-4B64-8072-83853330E87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2DCFABA2-EF84-409B-A226-56F6E0FF54C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98F1DD-7CE8-43F7-973E-8171B29A7BE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12D8F640-E3E2-4582-959F-44FD4639794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F3BD93-0C99-49C9-8463-D09293CB243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474BD938-99F1-4BA9-9006-0D680DDB22B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1C051EE-53F1-428B-AE38-2A17F2C8F71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0e23e57762d4ff5"/>
              </a:rPr>
              <a:t>Open explainer video</a:t>
            </a:r>
          </a:p>
        </p:txBody>
      </p:sp>
      <p:sp>
        <p:nvSpPr>
          <p:cNvPr id="14" name="">
            <a:extLst xmlns:a="http://schemas.openxmlformats.org/drawingml/2006/main">
              <a:ext uri="{FF2B5EF4-FFF2-40B4-BE49-F238E27FC236}">
                <a16:creationId xmlns:a16="http://schemas.microsoft.com/office/drawing/2014/main" id="{AE72B844-CA76-4C72-A096-8464CBAA44F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B526E967-A8E3-4B8E-93DE-B63DD430E1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3   89</a:t>
            </a:r>
          </a:p>
        </p:txBody>
      </p:sp>
    </p:spTree>
    <p:extLst>
      <p:ext uri="{BB962C8B-B14F-4D97-AF65-F5344CB8AC3E}">
        <p14:creationId xmlns:p14="http://schemas.microsoft.com/office/powerpoint/2010/main" val="16502394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2026-10-20T18:00:34.7910000Z</dcterms:created>
  <dcterms:modified xsi:type="dcterms:W3CDTF">2026-10-20T18:00:34.7910000Z</dcterms:modified>
</coreProperties>
</file>