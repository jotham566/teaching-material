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ac1828fd12a475a" /><Relationship Type="http://schemas.openxmlformats.org/officeDocument/2006/relationships/extended-properties" Target="/docProps/app.xml" Id="R024b3c9c9205479c" /><Relationship Type="http://schemas.openxmlformats.org/officeDocument/2006/relationships/officeDocument" Target="/ppt/presentation.xml" Id="R0322552885d449a5" /></Relationships>
</file>

<file path=ppt/presentation.xml><?xml version="1.0" encoding="utf-8"?>
<p:presentation xmlns:p="http://schemas.openxmlformats.org/presentationml/2006/main">
  <p:sldMasterIdLst>
    <p:sldMasterId xmlns:r="http://schemas.openxmlformats.org/officeDocument/2006/relationships" id="2147483648" r:id="R241a1efad67742c9"/>
  </p:sldMasterIdLst>
  <p:notesMasterIdLst>
    <p:notesMasterId xmlns:r="http://schemas.openxmlformats.org/officeDocument/2006/relationships" r:id="Re5c918c070bd4ac7"/>
  </p:notesMasterIdLst>
  <p:sldIdLst>
    <p:sldId xmlns:r="http://schemas.openxmlformats.org/officeDocument/2006/relationships" id="256" r:id="Re270279f45284471"/>
    <p:sldId xmlns:r="http://schemas.openxmlformats.org/officeDocument/2006/relationships" id="257" r:id="R0723e37abaa44adb"/>
    <p:sldId xmlns:r="http://schemas.openxmlformats.org/officeDocument/2006/relationships" id="258" r:id="R87ead636317d464e"/>
    <p:sldId xmlns:r="http://schemas.openxmlformats.org/officeDocument/2006/relationships" id="259" r:id="R58a79f1861f74e57"/>
    <p:sldId xmlns:r="http://schemas.openxmlformats.org/officeDocument/2006/relationships" id="260" r:id="R057727b9b8194283"/>
    <p:sldId xmlns:r="http://schemas.openxmlformats.org/officeDocument/2006/relationships" id="261" r:id="R7d3c205acebc4aeb"/>
    <p:sldId xmlns:r="http://schemas.openxmlformats.org/officeDocument/2006/relationships" id="262" r:id="Rdd240ffd47254255"/>
    <p:sldId xmlns:r="http://schemas.openxmlformats.org/officeDocument/2006/relationships" id="263" r:id="R22085c2f4d9c4e31"/>
    <p:sldId xmlns:r="http://schemas.openxmlformats.org/officeDocument/2006/relationships" id="264" r:id="R9c4264e90b104460"/>
    <p:sldId xmlns:r="http://schemas.openxmlformats.org/officeDocument/2006/relationships" id="265" r:id="Rc15359208dd841ed"/>
    <p:sldId xmlns:r="http://schemas.openxmlformats.org/officeDocument/2006/relationships" id="266" r:id="R3c993a53ca6a49ae"/>
    <p:sldId xmlns:r="http://schemas.openxmlformats.org/officeDocument/2006/relationships" id="267" r:id="R782395a3a1554a91"/>
    <p:sldId xmlns:r="http://schemas.openxmlformats.org/officeDocument/2006/relationships" id="268" r:id="R005ed4a00b8d4444"/>
    <p:sldId xmlns:r="http://schemas.openxmlformats.org/officeDocument/2006/relationships" id="269" r:id="Rb8a19d4686a24c6a"/>
    <p:sldId xmlns:r="http://schemas.openxmlformats.org/officeDocument/2006/relationships" id="270" r:id="Reb456438ebc24ac3"/>
    <p:sldId xmlns:r="http://schemas.openxmlformats.org/officeDocument/2006/relationships" id="271" r:id="R83cf2a5ee96f4208"/>
    <p:sldId xmlns:r="http://schemas.openxmlformats.org/officeDocument/2006/relationships" id="272" r:id="Rb621f68592c848ab"/>
    <p:sldId xmlns:r="http://schemas.openxmlformats.org/officeDocument/2006/relationships" id="273" r:id="R2f8e23dbc6754a46"/>
    <p:sldId xmlns:r="http://schemas.openxmlformats.org/officeDocument/2006/relationships" id="274" r:id="R6ad886443d054858"/>
    <p:sldId xmlns:r="http://schemas.openxmlformats.org/officeDocument/2006/relationships" id="275" r:id="Rf31b62dc50524599"/>
    <p:sldId xmlns:r="http://schemas.openxmlformats.org/officeDocument/2006/relationships" id="276" r:id="R3fab21941ea84c15"/>
    <p:sldId xmlns:r="http://schemas.openxmlformats.org/officeDocument/2006/relationships" id="277" r:id="Rdc12b33b17b942a7"/>
    <p:sldId xmlns:r="http://schemas.openxmlformats.org/officeDocument/2006/relationships" id="278" r:id="R19ddfcebb2114adb"/>
    <p:sldId xmlns:r="http://schemas.openxmlformats.org/officeDocument/2006/relationships" id="279" r:id="Rb90413d3cec742dc"/>
    <p:sldId xmlns:r="http://schemas.openxmlformats.org/officeDocument/2006/relationships" id="280" r:id="Rfdb40250c6164791"/>
    <p:sldId xmlns:r="http://schemas.openxmlformats.org/officeDocument/2006/relationships" id="281" r:id="Rae9aee73fb7649bf"/>
    <p:sldId xmlns:r="http://schemas.openxmlformats.org/officeDocument/2006/relationships" id="282" r:id="R1285196ab8bf42b5"/>
    <p:sldId xmlns:r="http://schemas.openxmlformats.org/officeDocument/2006/relationships" id="283" r:id="R9052eb681a6b4beb"/>
    <p:sldId xmlns:r="http://schemas.openxmlformats.org/officeDocument/2006/relationships" id="284" r:id="R2966f53e52264037"/>
    <p:sldId xmlns:r="http://schemas.openxmlformats.org/officeDocument/2006/relationships" id="285" r:id="R2aaabbd09eef46d9"/>
    <p:sldId xmlns:r="http://schemas.openxmlformats.org/officeDocument/2006/relationships" id="286" r:id="R2d1287377e724113"/>
    <p:sldId xmlns:r="http://schemas.openxmlformats.org/officeDocument/2006/relationships" id="287" r:id="R45f9a979736045ef"/>
    <p:sldId xmlns:r="http://schemas.openxmlformats.org/officeDocument/2006/relationships" id="288" r:id="Re4f1f63be5e14869"/>
    <p:sldId xmlns:r="http://schemas.openxmlformats.org/officeDocument/2006/relationships" id="289" r:id="R36742d4af7bf4e7d"/>
    <p:sldId xmlns:r="http://schemas.openxmlformats.org/officeDocument/2006/relationships" id="290" r:id="R8d4b98bdf6e441f4"/>
    <p:sldId xmlns:r="http://schemas.openxmlformats.org/officeDocument/2006/relationships" id="291" r:id="R6156535185bf4b54"/>
    <p:sldId xmlns:r="http://schemas.openxmlformats.org/officeDocument/2006/relationships" id="292" r:id="Re3af08eba290405e"/>
    <p:sldId xmlns:r="http://schemas.openxmlformats.org/officeDocument/2006/relationships" id="293" r:id="R77bb23ab4e8e489d"/>
    <p:sldId xmlns:r="http://schemas.openxmlformats.org/officeDocument/2006/relationships" id="294" r:id="R70e09acb89114ac1"/>
    <p:sldId xmlns:r="http://schemas.openxmlformats.org/officeDocument/2006/relationships" id="295" r:id="R1a0df4295c7848d8"/>
    <p:sldId xmlns:r="http://schemas.openxmlformats.org/officeDocument/2006/relationships" id="296" r:id="R15be212a067d4f5f"/>
    <p:sldId xmlns:r="http://schemas.openxmlformats.org/officeDocument/2006/relationships" id="297" r:id="R00eab36eb31b4853"/>
    <p:sldId xmlns:r="http://schemas.openxmlformats.org/officeDocument/2006/relationships" id="298" r:id="Raf5032a403ad4bce"/>
    <p:sldId xmlns:r="http://schemas.openxmlformats.org/officeDocument/2006/relationships" id="299" r:id="R3d2cb0ccd0774dcd"/>
    <p:sldId xmlns:r="http://schemas.openxmlformats.org/officeDocument/2006/relationships" id="300" r:id="R4b9d39bafe42477e"/>
    <p:sldId xmlns:r="http://schemas.openxmlformats.org/officeDocument/2006/relationships" id="301" r:id="Rdb027604fd3b4836"/>
    <p:sldId xmlns:r="http://schemas.openxmlformats.org/officeDocument/2006/relationships" id="302" r:id="R5e19a617bd64413d"/>
    <p:sldId xmlns:r="http://schemas.openxmlformats.org/officeDocument/2006/relationships" id="303" r:id="R8c0b52c2dff145a1"/>
    <p:sldId xmlns:r="http://schemas.openxmlformats.org/officeDocument/2006/relationships" id="304" r:id="R76cab289325c4b83"/>
    <p:sldId xmlns:r="http://schemas.openxmlformats.org/officeDocument/2006/relationships" id="305" r:id="R86f4269b6eb34521"/>
    <p:sldId xmlns:r="http://schemas.openxmlformats.org/officeDocument/2006/relationships" id="306" r:id="Rfaf8338ab21e4e08"/>
    <p:sldId xmlns:r="http://schemas.openxmlformats.org/officeDocument/2006/relationships" id="307" r:id="R1cbc3a31bbed4c21"/>
    <p:sldId xmlns:r="http://schemas.openxmlformats.org/officeDocument/2006/relationships" id="308" r:id="R021886ba9aa54c92"/>
    <p:sldId xmlns:r="http://schemas.openxmlformats.org/officeDocument/2006/relationships" id="309" r:id="R812827090d9b479b"/>
    <p:sldId xmlns:r="http://schemas.openxmlformats.org/officeDocument/2006/relationships" id="310" r:id="R4e0f2587a6ec46c6"/>
    <p:sldId xmlns:r="http://schemas.openxmlformats.org/officeDocument/2006/relationships" id="311" r:id="R6f91297372234ad8"/>
    <p:sldId xmlns:r="http://schemas.openxmlformats.org/officeDocument/2006/relationships" id="312" r:id="Rc0c8229eb09444ac"/>
    <p:sldId xmlns:r="http://schemas.openxmlformats.org/officeDocument/2006/relationships" id="313" r:id="Rf75ff99de3ff4c37"/>
    <p:sldId xmlns:r="http://schemas.openxmlformats.org/officeDocument/2006/relationships" id="314" r:id="Re3dc37c5d6894ba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92c75e058284348" /><Relationship Type="http://schemas.openxmlformats.org/officeDocument/2006/relationships/slideMaster" Target="/ppt/slideMasters/slideMaster1.xml" Id="R241a1efad67742c9" /><Relationship Type="http://schemas.openxmlformats.org/officeDocument/2006/relationships/notesMaster" Target="/ppt/notesMasters/notesMaster1.xml" Id="Re5c918c070bd4ac7" /><Relationship Type="http://schemas.openxmlformats.org/officeDocument/2006/relationships/presProps" Target="/ppt/presProps.xml" Id="R1d814225c4084189" /><Relationship Type="http://schemas.openxmlformats.org/officeDocument/2006/relationships/tableStyles" Target="/ppt/tableStyles.xml" Id="R3557d64d906a4400" /><Relationship Type="http://schemas.openxmlformats.org/officeDocument/2006/relationships/slide" Target="/ppt/slides/slide1.xml" Id="Re270279f45284471" /><Relationship Type="http://schemas.openxmlformats.org/officeDocument/2006/relationships/slide" Target="/ppt/slides/slide2.xml" Id="R0723e37abaa44adb" /><Relationship Type="http://schemas.openxmlformats.org/officeDocument/2006/relationships/slide" Target="/ppt/slides/slide3.xml" Id="R87ead636317d464e" /><Relationship Type="http://schemas.openxmlformats.org/officeDocument/2006/relationships/slide" Target="/ppt/slides/slide4.xml" Id="R58a79f1861f74e57" /><Relationship Type="http://schemas.openxmlformats.org/officeDocument/2006/relationships/slide" Target="/ppt/slides/slide5.xml" Id="R057727b9b8194283" /><Relationship Type="http://schemas.openxmlformats.org/officeDocument/2006/relationships/slide" Target="/ppt/slides/slide6.xml" Id="R7d3c205acebc4aeb" /><Relationship Type="http://schemas.openxmlformats.org/officeDocument/2006/relationships/slide" Target="/ppt/slides/slide7.xml" Id="Rdd240ffd47254255" /><Relationship Type="http://schemas.openxmlformats.org/officeDocument/2006/relationships/slide" Target="/ppt/slides/slide8.xml" Id="R22085c2f4d9c4e31" /><Relationship Type="http://schemas.openxmlformats.org/officeDocument/2006/relationships/slide" Target="/ppt/slides/slide9.xml" Id="R9c4264e90b104460" /><Relationship Type="http://schemas.openxmlformats.org/officeDocument/2006/relationships/slide" Target="/ppt/slides/slide10.xml" Id="Rc15359208dd841ed" /><Relationship Type="http://schemas.openxmlformats.org/officeDocument/2006/relationships/slide" Target="/ppt/slides/slide11.xml" Id="R3c993a53ca6a49ae" /><Relationship Type="http://schemas.openxmlformats.org/officeDocument/2006/relationships/slide" Target="/ppt/slides/slide12.xml" Id="R782395a3a1554a91" /><Relationship Type="http://schemas.openxmlformats.org/officeDocument/2006/relationships/slide" Target="/ppt/slides/slide13.xml" Id="R005ed4a00b8d4444" /><Relationship Type="http://schemas.openxmlformats.org/officeDocument/2006/relationships/slide" Target="/ppt/slides/slide14.xml" Id="Rb8a19d4686a24c6a" /><Relationship Type="http://schemas.openxmlformats.org/officeDocument/2006/relationships/slide" Target="/ppt/slides/slide15.xml" Id="Reb456438ebc24ac3" /><Relationship Type="http://schemas.openxmlformats.org/officeDocument/2006/relationships/slide" Target="/ppt/slides/slide16.xml" Id="R83cf2a5ee96f4208" /><Relationship Type="http://schemas.openxmlformats.org/officeDocument/2006/relationships/slide" Target="/ppt/slides/slide17.xml" Id="Rb621f68592c848ab" /><Relationship Type="http://schemas.openxmlformats.org/officeDocument/2006/relationships/slide" Target="/ppt/slides/slide18.xml" Id="R2f8e23dbc6754a46" /><Relationship Type="http://schemas.openxmlformats.org/officeDocument/2006/relationships/slide" Target="/ppt/slides/slide19.xml" Id="R6ad886443d054858" /><Relationship Type="http://schemas.openxmlformats.org/officeDocument/2006/relationships/slide" Target="/ppt/slides/slide20.xml" Id="Rf31b62dc50524599" /><Relationship Type="http://schemas.openxmlformats.org/officeDocument/2006/relationships/slide" Target="/ppt/slides/slide21.xml" Id="R3fab21941ea84c15" /><Relationship Type="http://schemas.openxmlformats.org/officeDocument/2006/relationships/slide" Target="/ppt/slides/slide22.xml" Id="Rdc12b33b17b942a7" /><Relationship Type="http://schemas.openxmlformats.org/officeDocument/2006/relationships/slide" Target="/ppt/slides/slide23.xml" Id="R19ddfcebb2114adb" /><Relationship Type="http://schemas.openxmlformats.org/officeDocument/2006/relationships/slide" Target="/ppt/slides/slide24.xml" Id="Rb90413d3cec742dc" /><Relationship Type="http://schemas.openxmlformats.org/officeDocument/2006/relationships/slide" Target="/ppt/slides/slide25.xml" Id="Rfdb40250c6164791" /><Relationship Type="http://schemas.openxmlformats.org/officeDocument/2006/relationships/slide" Target="/ppt/slides/slide26.xml" Id="Rae9aee73fb7649bf" /><Relationship Type="http://schemas.openxmlformats.org/officeDocument/2006/relationships/slide" Target="/ppt/slides/slide27.xml" Id="R1285196ab8bf42b5" /><Relationship Type="http://schemas.openxmlformats.org/officeDocument/2006/relationships/slide" Target="/ppt/slides/slide28.xml" Id="R9052eb681a6b4beb" /><Relationship Type="http://schemas.openxmlformats.org/officeDocument/2006/relationships/slide" Target="/ppt/slides/slide29.xml" Id="R2966f53e52264037" /><Relationship Type="http://schemas.openxmlformats.org/officeDocument/2006/relationships/slide" Target="/ppt/slides/slide30.xml" Id="R2aaabbd09eef46d9" /><Relationship Type="http://schemas.openxmlformats.org/officeDocument/2006/relationships/slide" Target="/ppt/slides/slide31.xml" Id="R2d1287377e724113" /><Relationship Type="http://schemas.openxmlformats.org/officeDocument/2006/relationships/slide" Target="/ppt/slides/slide32.xml" Id="R45f9a979736045ef" /><Relationship Type="http://schemas.openxmlformats.org/officeDocument/2006/relationships/slide" Target="/ppt/slides/slide33.xml" Id="Re4f1f63be5e14869" /><Relationship Type="http://schemas.openxmlformats.org/officeDocument/2006/relationships/slide" Target="/ppt/slides/slide34.xml" Id="R36742d4af7bf4e7d" /><Relationship Type="http://schemas.openxmlformats.org/officeDocument/2006/relationships/slide" Target="/ppt/slides/slide35.xml" Id="R8d4b98bdf6e441f4" /><Relationship Type="http://schemas.openxmlformats.org/officeDocument/2006/relationships/slide" Target="/ppt/slides/slide36.xml" Id="R6156535185bf4b54" /><Relationship Type="http://schemas.openxmlformats.org/officeDocument/2006/relationships/slide" Target="/ppt/slides/slide37.xml" Id="Re3af08eba290405e" /><Relationship Type="http://schemas.openxmlformats.org/officeDocument/2006/relationships/slide" Target="/ppt/slides/slide38.xml" Id="R77bb23ab4e8e489d" /><Relationship Type="http://schemas.openxmlformats.org/officeDocument/2006/relationships/slide" Target="/ppt/slides/slide39.xml" Id="R70e09acb89114ac1" /><Relationship Type="http://schemas.openxmlformats.org/officeDocument/2006/relationships/slide" Target="/ppt/slides/slide40.xml" Id="R1a0df4295c7848d8" /><Relationship Type="http://schemas.openxmlformats.org/officeDocument/2006/relationships/slide" Target="/ppt/slides/slide41.xml" Id="R15be212a067d4f5f" /><Relationship Type="http://schemas.openxmlformats.org/officeDocument/2006/relationships/slide" Target="/ppt/slides/slide42.xml" Id="R00eab36eb31b4853" /><Relationship Type="http://schemas.openxmlformats.org/officeDocument/2006/relationships/slide" Target="/ppt/slides/slide43.xml" Id="Raf5032a403ad4bce" /><Relationship Type="http://schemas.openxmlformats.org/officeDocument/2006/relationships/slide" Target="/ppt/slides/slide44.xml" Id="R3d2cb0ccd0774dcd" /><Relationship Type="http://schemas.openxmlformats.org/officeDocument/2006/relationships/slide" Target="/ppt/slides/slide45.xml" Id="R4b9d39bafe42477e" /><Relationship Type="http://schemas.openxmlformats.org/officeDocument/2006/relationships/slide" Target="/ppt/slides/slide46.xml" Id="Rdb027604fd3b4836" /><Relationship Type="http://schemas.openxmlformats.org/officeDocument/2006/relationships/slide" Target="/ppt/slides/slide47.xml" Id="R5e19a617bd64413d" /><Relationship Type="http://schemas.openxmlformats.org/officeDocument/2006/relationships/slide" Target="/ppt/slides/slide48.xml" Id="R8c0b52c2dff145a1" /><Relationship Type="http://schemas.openxmlformats.org/officeDocument/2006/relationships/slide" Target="/ppt/slides/slide49.xml" Id="R76cab289325c4b83" /><Relationship Type="http://schemas.openxmlformats.org/officeDocument/2006/relationships/slide" Target="/ppt/slides/slide50.xml" Id="R86f4269b6eb34521" /><Relationship Type="http://schemas.openxmlformats.org/officeDocument/2006/relationships/slide" Target="/ppt/slides/slide51.xml" Id="Rfaf8338ab21e4e08" /><Relationship Type="http://schemas.openxmlformats.org/officeDocument/2006/relationships/slide" Target="/ppt/slides/slide52.xml" Id="R1cbc3a31bbed4c21" /><Relationship Type="http://schemas.openxmlformats.org/officeDocument/2006/relationships/slide" Target="/ppt/slides/slide53.xml" Id="R021886ba9aa54c92" /><Relationship Type="http://schemas.openxmlformats.org/officeDocument/2006/relationships/slide" Target="/ppt/slides/slide54.xml" Id="R812827090d9b479b" /><Relationship Type="http://schemas.openxmlformats.org/officeDocument/2006/relationships/slide" Target="/ppt/slides/slide55.xml" Id="R4e0f2587a6ec46c6" /><Relationship Type="http://schemas.openxmlformats.org/officeDocument/2006/relationships/slide" Target="/ppt/slides/slide56.xml" Id="R6f91297372234ad8" /><Relationship Type="http://schemas.openxmlformats.org/officeDocument/2006/relationships/slide" Target="/ppt/slides/slide57.xml" Id="Rc0c8229eb09444ac" /><Relationship Type="http://schemas.openxmlformats.org/officeDocument/2006/relationships/slide" Target="/ppt/slides/slide58.xml" Id="Rf75ff99de3ff4c37" /><Relationship Type="http://schemas.openxmlformats.org/officeDocument/2006/relationships/slide" Target="/ppt/slides/slide59.xml" Id="Re3dc37c5d6894ba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03bd614a1f84c5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19c6c2d3e1f4695" /><Relationship Type="http://schemas.openxmlformats.org/officeDocument/2006/relationships/notesMaster" Target="/ppt/notesMasters/notesMaster1.xml" Id="Rcafc75ac63a6483a" /></Relationships>
</file>

<file path=ppt/notesSlides/_rels/notesSlide2.xml.rels>&#65279;<?xml version="1.0" encoding="utf-8"?><Relationships xmlns="http://schemas.openxmlformats.org/package/2006/relationships"><Relationship Type="http://schemas.openxmlformats.org/officeDocument/2006/relationships/slide" Target="/ppt/slides/slide2.xml" Id="Ra572db3c0d0240a4" /><Relationship Type="http://schemas.openxmlformats.org/officeDocument/2006/relationships/notesMaster" Target="/ppt/notesMasters/notesMaster1.xml" Id="R607b4068948b4eaa" /></Relationships>
</file>

<file path=ppt/notesSlides/_rels/notesSlide3.xml.rels>&#65279;<?xml version="1.0" encoding="utf-8"?><Relationships xmlns="http://schemas.openxmlformats.org/package/2006/relationships"><Relationship Type="http://schemas.openxmlformats.org/officeDocument/2006/relationships/slide" Target="/ppt/slides/slide3.xml" Id="R484ce8ceb4c248da" /><Relationship Type="http://schemas.openxmlformats.org/officeDocument/2006/relationships/notesMaster" Target="/ppt/notesMasters/notesMaster1.xml" Id="R3ee6b769a24d4d71" /></Relationships>
</file>

<file path=ppt/notesSlides/_rels/notesSlide4.xml.rels>&#65279;<?xml version="1.0" encoding="utf-8"?><Relationships xmlns="http://schemas.openxmlformats.org/package/2006/relationships"><Relationship Type="http://schemas.openxmlformats.org/officeDocument/2006/relationships/slide" Target="/ppt/slides/slide4.xml" Id="R6ae95a70e9974e35" /><Relationship Type="http://schemas.openxmlformats.org/officeDocument/2006/relationships/notesMaster" Target="/ppt/notesMasters/notesMaster1.xml" Id="R4d7eae9a0b554734" /></Relationships>
</file>

<file path=ppt/notesSlides/_rels/notesSlide5.xml.rels>&#65279;<?xml version="1.0" encoding="utf-8"?><Relationships xmlns="http://schemas.openxmlformats.org/package/2006/relationships"><Relationship Type="http://schemas.openxmlformats.org/officeDocument/2006/relationships/slide" Target="/ppt/slides/slide5.xml" Id="R2a050ef4438d4488" /><Relationship Type="http://schemas.openxmlformats.org/officeDocument/2006/relationships/notesMaster" Target="/ppt/notesMasters/notesMaster1.xml" Id="Rb730dbec5a7541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7055e2b09628409c" /><Relationship Type="http://schemas.openxmlformats.org/officeDocument/2006/relationships/notesMaster" Target="/ppt/notesMasters/notesMaster1.xml" Id="Rffad583af6184817" /></Relationships>
</file>

<file path=ppt/notesSlides/_rels/notesSlide7.xml.rels>&#65279;<?xml version="1.0" encoding="utf-8"?><Relationships xmlns="http://schemas.openxmlformats.org/package/2006/relationships"><Relationship Type="http://schemas.openxmlformats.org/officeDocument/2006/relationships/slide" Target="/ppt/slides/slide7.xml" Id="Red9a34c6d88e44a2" /><Relationship Type="http://schemas.openxmlformats.org/officeDocument/2006/relationships/notesMaster" Target="/ppt/notesMasters/notesMaster1.xml" Id="Rded8b326564e44d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db6a12dd3054a07" /><Relationship Type="http://schemas.openxmlformats.org/officeDocument/2006/relationships/notesMaster" Target="/ppt/notesMasters/notesMaster1.xml" Id="Rb5dc274567704e28" /></Relationships>
</file>

<file path=ppt/notesSlides/_rels/notesSlide9.xml.rels>&#65279;<?xml version="1.0" encoding="utf-8"?><Relationships xmlns="http://schemas.openxmlformats.org/package/2006/relationships"><Relationship Type="http://schemas.openxmlformats.org/officeDocument/2006/relationships/slide" Target="/ppt/slides/slide9.xml" Id="R635e97eed6674416" /><Relationship Type="http://schemas.openxmlformats.org/officeDocument/2006/relationships/notesMaster" Target="/ppt/notesMasters/notesMaster1.xml" Id="R0ceeba61c089486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2a712b3f0d343d7" /><Relationship Type="http://schemas.openxmlformats.org/officeDocument/2006/relationships/notesMaster" Target="/ppt/notesMasters/notesMaster1.xml" Id="R07499d2bb8e4477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740eac5b8f94d52" /><Relationship Type="http://schemas.openxmlformats.org/officeDocument/2006/relationships/notesMaster" Target="/ppt/notesMasters/notesMaster1.xml" Id="R328bd53e492443f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e6e0795fd6f4984" /><Relationship Type="http://schemas.openxmlformats.org/officeDocument/2006/relationships/notesMaster" Target="/ppt/notesMasters/notesMaster1.xml" Id="Rf6bbca4639034c3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ed1a54bd42c454f" /><Relationship Type="http://schemas.openxmlformats.org/officeDocument/2006/relationships/notesMaster" Target="/ppt/notesMasters/notesMaster1.xml" Id="R2d787defe3ef4cb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2372d5912ed4909" /><Relationship Type="http://schemas.openxmlformats.org/officeDocument/2006/relationships/notesMaster" Target="/ppt/notesMasters/notesMaster1.xml" Id="R5ae8297857e54fc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09d7ed38ede423f" /><Relationship Type="http://schemas.openxmlformats.org/officeDocument/2006/relationships/notesMaster" Target="/ppt/notesMasters/notesMaster1.xml" Id="R667070767927430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bec5a04c1a44601" /><Relationship Type="http://schemas.openxmlformats.org/officeDocument/2006/relationships/notesMaster" Target="/ppt/notesMasters/notesMaster1.xml" Id="Rd13ad734b5e848f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483ec6bee3f42ad" /><Relationship Type="http://schemas.openxmlformats.org/officeDocument/2006/relationships/notesMaster" Target="/ppt/notesMasters/notesMaster1.xml" Id="Rcf7c89ef8b3d47a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52b87216a5240d1" /><Relationship Type="http://schemas.openxmlformats.org/officeDocument/2006/relationships/notesMaster" Target="/ppt/notesMasters/notesMaster1.xml" Id="R9038b5dfe63c409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b2d9c63271a4b97" /><Relationship Type="http://schemas.openxmlformats.org/officeDocument/2006/relationships/notesMaster" Target="/ppt/notesMasters/notesMaster1.xml" Id="R351466795a2243b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ae8c3ffe0364926" /><Relationship Type="http://schemas.openxmlformats.org/officeDocument/2006/relationships/notesMaster" Target="/ppt/notesMasters/notesMaster1.xml" Id="Rd42071871eed4d8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cf39904f73e4658" /><Relationship Type="http://schemas.openxmlformats.org/officeDocument/2006/relationships/notesMaster" Target="/ppt/notesMasters/notesMaster1.xml" Id="R8cf85e2592124ce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ab3fa60e2fa4d10" /><Relationship Type="http://schemas.openxmlformats.org/officeDocument/2006/relationships/notesMaster" Target="/ppt/notesMasters/notesMaster1.xml" Id="R7b8cce1160fa494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3e62995198347ca" /><Relationship Type="http://schemas.openxmlformats.org/officeDocument/2006/relationships/notesMaster" Target="/ppt/notesMasters/notesMaster1.xml" Id="R7009c39c8d0d429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97bb4622dc0497d" /><Relationship Type="http://schemas.openxmlformats.org/officeDocument/2006/relationships/notesMaster" Target="/ppt/notesMasters/notesMaster1.xml" Id="R031507c889bc480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afff7e19c784fa0" /><Relationship Type="http://schemas.openxmlformats.org/officeDocument/2006/relationships/notesMaster" Target="/ppt/notesMasters/notesMaster1.xml" Id="R9aa196f6361f433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65b10f8267d4e4f" /><Relationship Type="http://schemas.openxmlformats.org/officeDocument/2006/relationships/notesMaster" Target="/ppt/notesMasters/notesMaster1.xml" Id="Rb74535bf7c98454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d71fd8b28ce4b9c" /><Relationship Type="http://schemas.openxmlformats.org/officeDocument/2006/relationships/notesMaster" Target="/ppt/notesMasters/notesMaster1.xml" Id="Re6431aec47024d0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d4a08d059484a35" /><Relationship Type="http://schemas.openxmlformats.org/officeDocument/2006/relationships/notesMaster" Target="/ppt/notesMasters/notesMaster1.xml" Id="R366d2775a9794de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003af4f30494ae2" /><Relationship Type="http://schemas.openxmlformats.org/officeDocument/2006/relationships/notesMaster" Target="/ppt/notesMasters/notesMaster1.xml" Id="R34ea05eeec144d5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e75628e7c684b73" /><Relationship Type="http://schemas.openxmlformats.org/officeDocument/2006/relationships/notesMaster" Target="/ppt/notesMasters/notesMaster1.xml" Id="R1edb9fb1fe0e408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745d6200b144c32" /><Relationship Type="http://schemas.openxmlformats.org/officeDocument/2006/relationships/notesMaster" Target="/ppt/notesMasters/notesMaster1.xml" Id="R13089f57541b469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db7f43d7d3a4604" /><Relationship Type="http://schemas.openxmlformats.org/officeDocument/2006/relationships/notesMaster" Target="/ppt/notesMasters/notesMaster1.xml" Id="R1ee02ff7e8194d84"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9bb738b40f04f48" /><Relationship Type="http://schemas.openxmlformats.org/officeDocument/2006/relationships/notesMaster" Target="/ppt/notesMasters/notesMaster1.xml" Id="Rb0d3ba4091754c2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c4dc04b1e9664dbb" /><Relationship Type="http://schemas.openxmlformats.org/officeDocument/2006/relationships/notesMaster" Target="/ppt/notesMasters/notesMaster1.xml" Id="R6acfd229af04477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abcef78c01c4c76" /><Relationship Type="http://schemas.openxmlformats.org/officeDocument/2006/relationships/notesMaster" Target="/ppt/notesMasters/notesMaster1.xml" Id="Rda80a2ad09ae434c"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447b0c5ac45942ae" /><Relationship Type="http://schemas.openxmlformats.org/officeDocument/2006/relationships/notesMaster" Target="/ppt/notesMasters/notesMaster1.xml" Id="R4f478b5021a848c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7a3828cba6d14169" /><Relationship Type="http://schemas.openxmlformats.org/officeDocument/2006/relationships/notesMaster" Target="/ppt/notesMasters/notesMaster1.xml" Id="R32fc1f936a584d3d"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1443c61d8444369" /><Relationship Type="http://schemas.openxmlformats.org/officeDocument/2006/relationships/notesMaster" Target="/ppt/notesMasters/notesMaster1.xml" Id="R943419e6be064d2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89bad84c1f14e93" /><Relationship Type="http://schemas.openxmlformats.org/officeDocument/2006/relationships/notesMaster" Target="/ppt/notesMasters/notesMaster1.xml" Id="R59f83b2ac18e461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0ed94f653f6546e6" /><Relationship Type="http://schemas.openxmlformats.org/officeDocument/2006/relationships/notesMaster" Target="/ppt/notesMasters/notesMaster1.xml" Id="R2fb46a6fb56c47be"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fa4c0b0d04dd4f5f" /><Relationship Type="http://schemas.openxmlformats.org/officeDocument/2006/relationships/notesMaster" Target="/ppt/notesMasters/notesMaster1.xml" Id="Red8c1dc243644f4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39067a89cb141a2" /><Relationship Type="http://schemas.openxmlformats.org/officeDocument/2006/relationships/notesMaster" Target="/ppt/notesMasters/notesMaster1.xml" Id="Ra96fb8f5c8ef453b"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37fbba41a01e483a" /><Relationship Type="http://schemas.openxmlformats.org/officeDocument/2006/relationships/notesMaster" Target="/ppt/notesMasters/notesMaster1.xml" Id="Rf48d1d97af314106"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8d94048241fd474b" /><Relationship Type="http://schemas.openxmlformats.org/officeDocument/2006/relationships/notesMaster" Target="/ppt/notesMasters/notesMaster1.xml" Id="R58afba7eab784dd6"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9d0e037f43c94c08" /><Relationship Type="http://schemas.openxmlformats.org/officeDocument/2006/relationships/notesMaster" Target="/ppt/notesMasters/notesMaster1.xml" Id="R21180a6d1b894e42"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0f1c608ce99e44bd" /><Relationship Type="http://schemas.openxmlformats.org/officeDocument/2006/relationships/notesMaster" Target="/ppt/notesMasters/notesMaster1.xml" Id="R5e8cd35761314cb3"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e3f9bcc76d7a4f10" /><Relationship Type="http://schemas.openxmlformats.org/officeDocument/2006/relationships/notesMaster" Target="/ppt/notesMasters/notesMaster1.xml" Id="R722137c358414bb6"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dfb1a6f5e1674f2c" /><Relationship Type="http://schemas.openxmlformats.org/officeDocument/2006/relationships/notesMaster" Target="/ppt/notesMasters/notesMaster1.xml" Id="Rb2331b5c5ac540c2"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c98b901a2d3948e3" /><Relationship Type="http://schemas.openxmlformats.org/officeDocument/2006/relationships/notesMaster" Target="/ppt/notesMasters/notesMaster1.xml" Id="R321246fc64e24c2f"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e5abfecedb249d2" /><Relationship Type="http://schemas.openxmlformats.org/officeDocument/2006/relationships/notesMaster" Target="/ppt/notesMasters/notesMaster1.xml" Id="R924f3fec39d7460e"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557350630d714669" /><Relationship Type="http://schemas.openxmlformats.org/officeDocument/2006/relationships/notesMaster" Target="/ppt/notesMasters/notesMaster1.xml" Id="R91da0240716347ca"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70325a94e508451b" /><Relationship Type="http://schemas.openxmlformats.org/officeDocument/2006/relationships/notesMaster" Target="/ppt/notesMasters/notesMaster1.xml" Id="R31280d6b23d84121"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528537823e974791" /><Relationship Type="http://schemas.openxmlformats.org/officeDocument/2006/relationships/notesMaster" Target="/ppt/notesMasters/notesMaster1.xml" Id="Rb1dd37df143649b8"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c4944f9bee6446b2" /><Relationship Type="http://schemas.openxmlformats.org/officeDocument/2006/relationships/notesMaster" Target="/ppt/notesMasters/notesMaster1.xml" Id="Rf2549b8b48f54b08"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c9fabc7c553e433d" /><Relationship Type="http://schemas.openxmlformats.org/officeDocument/2006/relationships/notesMaster" Target="/ppt/notesMasters/notesMaster1.xml" Id="Rb79a4cb4b75d4bd4"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28b3945e090c4a09" /><Relationship Type="http://schemas.openxmlformats.org/officeDocument/2006/relationships/notesMaster" Target="/ppt/notesMasters/notesMaster1.xml" Id="Rdab9a1530e3c4dcd"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6722f95a33a249f0" /><Relationship Type="http://schemas.openxmlformats.org/officeDocument/2006/relationships/notesMaster" Target="/ppt/notesMasters/notesMaster1.xml" Id="Rbd1f7d6d58344abb"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e8ec8ebf1b3c45ec" /><Relationship Type="http://schemas.openxmlformats.org/officeDocument/2006/relationships/notesMaster" Target="/ppt/notesMasters/notesMaster1.xml" Id="R933881f4c89d4ca7"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bc317cb8b125421e" /><Relationship Type="http://schemas.openxmlformats.org/officeDocument/2006/relationships/notesMaster" Target="/ppt/notesMasters/notesMaster1.xml" Id="R4ea03a1cc643426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Python calculations and reusable functions</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Python calculations and reusable functions</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Python calculations and reusable functions. Explain why this example is needed before running it.</a:t>
            </a:r>
          </a:p>
          <a:p xmlns:a="http://schemas.openxmlformats.org/drawingml/2006/main">
            <a:r>
              <a:t/>
            </a:r>
          </a:p>
          <a:p xmlns:a="http://schemas.openxmlformats.org/drawingml/2006/main">
            <a:r>
              <a:t>EXPLAIN</a:t>
            </a:r>
          </a:p>
          <a:p xmlns:a="http://schemas.openxmlformats.org/drawingml/2006/main">
            <a:r>
              <a:t>Read Python values and arithmetic symbols.</a:t>
            </a:r>
          </a:p>
          <a:p xmlns:a="http://schemas.openxmlformats.org/drawingml/2006/main">
            <a:r>
              <a:t/>
            </a:r>
          </a:p>
          <a:p xmlns:a="http://schemas.openxmlformats.org/drawingml/2006/main">
            <a:r>
              <a:t>Define a function, call it and check its inputs.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Python calculations and reusable functions.</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Five-function libraries, module imports, scope details, debugger setup and six independent bug hunts can wait. Demonstrate one ordinary traceback and one unit mistake now.</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Recall and a first attempt.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Run print(2 + 3). Which part is the instruction, and which part is the output?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The engineering context.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Recall and a first attempt. Explain why this example is needed before running it.</a:t>
            </a:r>
          </a:p>
          <a:p xmlns:a="http://schemas.openxmlformats.org/drawingml/2006/main">
            <a:r>
              <a:t/>
            </a:r>
          </a:p>
          <a:p xmlns:a="http://schemas.openxmlformats.org/drawingml/2006/main">
            <a:r>
              <a:t>EXPLAIN</a:t>
            </a:r>
          </a:p>
          <a:p xmlns:a="http://schemas.openxmlformats.org/drawingml/2006/main">
            <a:r>
              <a:t>A pump team records temperature to investigate operation.</a:t>
            </a:r>
          </a:p>
          <a:p xmlns:a="http://schemas.openxmlformats.org/drawingml/2006/main">
            <a:r>
              <a:t/>
            </a:r>
          </a:p>
          <a:p xmlns:a="http://schemas.openxmlformats.org/drawingml/2006/main">
            <a:r>
              <a:t>Mining students can relate this to a dewatering pump; petroleum students to a transfer pump.</a:t>
            </a:r>
          </a:p>
          <a:p xmlns:a="http://schemas.openxmlformats.org/drawingml/2006/main">
            <a:r>
              <a:t/>
            </a:r>
          </a:p>
          <a:p xmlns:a="http://schemas.openxmlformats.org/drawingml/2006/main">
            <a:r>
              <a:t>These are teaching examples, not operating limits.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pump team records temperature to investigate operation. Mining students can relate this to a dewatering pump; petroleum students to a transfer pump. These are teaching examples, not operating limits.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Start with numbers and values.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Start with numbers and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Start with numbers and values</a:t>
            </a:r>
          </a:p>
          <a:p xmlns:a="http://schemas.openxmlformats.org/drawingml/2006/main">
            <a:r>
              <a:t/>
            </a:r>
          </a:p>
          <a:p xmlns:a="http://schemas.openxmlformats.org/drawingml/2006/main">
            <a:r>
              <a:t>CONNECT</a:t>
            </a:r>
          </a:p>
          <a:p xmlns:a="http://schemas.openxmlformats.org/drawingml/2006/main">
            <a:r>
              <a:t>Build on The engineering context. Explain why this example is needed before running it.</a:t>
            </a:r>
          </a:p>
          <a:p xmlns:a="http://schemas.openxmlformats.org/drawingml/2006/main">
            <a:r>
              <a:t/>
            </a:r>
          </a:p>
          <a:p xmlns:a="http://schemas.openxmlformats.org/drawingml/2006/main">
            <a:r>
              <a:t>EXPLAIN</a:t>
            </a:r>
          </a:p>
          <a:p xmlns:a="http://schemas.openxmlformats.org/drawingml/2006/main">
            <a:r>
              <a:t>Number: A number expresses how much or how many: 3 items or 2.5 metres. Whole numbers count; decimal numbers can describe a part of a unit.</a:t>
            </a:r>
          </a:p>
          <a:p xmlns:a="http://schemas.openxmlformats.org/drawingml/2006/main">
            <a:r>
              <a:t>Value and unit: A value is one piece of information. The number 2.5 is a value. A measurement also needs a unit, such as metres. Python does not attach that unit automatically.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Start with numbers and values</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A value is a piece of information. A variable is a name referring to a value. In length_m = 5, Python evaluates the right side and binds that result to the name on the left.</a:t>
            </a:r>
          </a:p>
          <a:p xmlns:a="http://schemas.openxmlformats.org/drawingml/2006/main">
            <a:r>
              <a:t/>
            </a:r>
          </a:p>
          <a:p xmlns:a="http://schemas.openxmlformats.org/drawingml/2006/main">
            <a:r>
              <a:t>CHECK AND EXPECTED ANSWER</a:t>
            </a:r>
          </a:p>
          <a:p xmlns:a="http://schemas.openxmlformats.org/drawingml/2006/main">
            <a:r>
              <a:t>After x=3 then x=5, what does print(x) display? 5. The earlier value is not added automatically.</a:t>
            </a:r>
          </a:p>
          <a:p xmlns:a="http://schemas.openxmlformats.org/drawingml/2006/main">
            <a:r>
              <a:t/>
            </a:r>
          </a:p>
          <a:p xmlns:a="http://schemas.openxmlformats.org/drawingml/2006/main">
            <a:r>
              <a:t>IF LEARNERS ARE STUCK</a:t>
            </a:r>
          </a:p>
          <a:p xmlns:a="http://schemas.openxmlformats.org/drawingml/2006/main">
            <a:r>
              <a:t>Write the name on a card and the current value beside it. Distinguish number 3 from quoted text "3".</a:t>
            </a:r>
          </a:p>
          <a:p xmlns:a="http://schemas.openxmlformats.org/drawingml/2006/main">
            <a:r>
              <a:t/>
            </a:r>
          </a:p>
          <a:p xmlns:a="http://schemas.openxmlformats.org/drawingml/2006/main">
            <a:r>
              <a:t>POINT TO THE DEFINITION</a:t>
            </a:r>
          </a:p>
          <a:p xmlns:a="http://schemas.openxmlformats.org/drawingml/2006/main">
            <a:r>
              <a:t>Number: A number expresses how much or how many: 3 items or 2.5 metres. Whole numbers count; decimal numbers can describe a part of a unit.</a:t>
            </a:r>
          </a:p>
          <a:p xmlns:a="http://schemas.openxmlformats.org/drawingml/2006/main">
            <a:r>
              <a:t>Value and unit: A value is one piece of information. The number 2.5 is a value. A measurement also needs a unit, such as metres. Python does not attach that unit automatically.</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Words we will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Start with numbers and values. Explain why this example is needed before running it.</a:t>
            </a:r>
          </a:p>
          <a:p xmlns:a="http://schemas.openxmlformats.org/drawingml/2006/main">
            <a:r>
              <a:t/>
            </a:r>
          </a:p>
          <a:p xmlns:a="http://schemas.openxmlformats.org/drawingml/2006/main">
            <a:r>
              <a:t>EXPLAIN</a:t>
            </a:r>
          </a:p>
          <a:p xmlns:a="http://schemas.openxmlformats.org/drawingml/2006/main">
            <a:r>
              <a:t>Variable: A name referring to a value. In length_m = 5, the right side is evaluated and assigned to length_m.</a:t>
            </a:r>
          </a:p>
          <a:p xmlns:a="http://schemas.openxmlformats.org/drawingml/2006/main">
            <a:r>
              <a:t>int, float, str, bool: int represents whole numbers; float represents approximate real numbers such as 2.5; str is text in quotes; bool is True or False.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Start with numbers and values.</a:t>
            </a:r>
          </a:p>
          <a:p xmlns:a="http://schemas.openxmlformats.org/drawingml/2006/main">
            <a:r>
              <a:t/>
            </a:r>
          </a:p>
          <a:p xmlns:a="http://schemas.openxmlformats.org/drawingml/2006/main">
            <a:r>
              <a:t>EXPLAIN IN ORDINARY WORDS</a:t>
            </a:r>
          </a:p>
          <a:p xmlns:a="http://schemas.openxmlformats.org/drawingml/2006/main">
            <a:r>
              <a:t>A value is a piece of information. A variable is a name referring to a value. In length_m = 5, Python evaluates the right side and binds that result to the name on the left.</a:t>
            </a:r>
          </a:p>
          <a:p xmlns:a="http://schemas.openxmlformats.org/drawingml/2006/main">
            <a:r>
              <a:t/>
            </a:r>
          </a:p>
          <a:p xmlns:a="http://schemas.openxmlformats.org/drawingml/2006/main">
            <a:r>
              <a:t>CHECK AND EXPECTED ANSWER</a:t>
            </a:r>
          </a:p>
          <a:p xmlns:a="http://schemas.openxmlformats.org/drawingml/2006/main">
            <a:r>
              <a:t>After x=3 then x=5, what does print(x) display? 5. The earlier value is not added automatically.</a:t>
            </a:r>
          </a:p>
          <a:p xmlns:a="http://schemas.openxmlformats.org/drawingml/2006/main">
            <a:r>
              <a:t/>
            </a:r>
          </a:p>
          <a:p xmlns:a="http://schemas.openxmlformats.org/drawingml/2006/main">
            <a:r>
              <a:t>IF LEARNERS ARE STUCK</a:t>
            </a:r>
          </a:p>
          <a:p xmlns:a="http://schemas.openxmlformats.org/drawingml/2006/main">
            <a:r>
              <a:t>Write the name on a card and the current value beside it. Distinguish number 3 from quoted text "3".</a:t>
            </a:r>
          </a:p>
          <a:p xmlns:a="http://schemas.openxmlformats.org/drawingml/2006/main">
            <a:r>
              <a:t/>
            </a:r>
          </a:p>
          <a:p xmlns:a="http://schemas.openxmlformats.org/drawingml/2006/main">
            <a:r>
              <a:t>POINT TO THE DEFINITION</a:t>
            </a:r>
          </a:p>
          <a:p xmlns:a="http://schemas.openxmlformats.org/drawingml/2006/main">
            <a:r>
              <a:t>Variable: A name referring to a value. In length_m = 5, the right side is evaluated and assigned to length_m.</a:t>
            </a:r>
          </a:p>
          <a:p xmlns:a="http://schemas.openxmlformats.org/drawingml/2006/main">
            <a:r>
              <a:t>int, float, str, bool: int represents whole numbers; float represents approximate real numbers such as 2.5; str is text in quotes; bool is True or False.</a:t>
            </a:r>
          </a:p>
          <a:p xmlns:a="http://schemas.openxmlformats.org/drawingml/2006/main">
            <a:r>
              <a:t/>
            </a:r>
          </a:p>
          <a:p xmlns:a="http://schemas.openxmlformats.org/drawingml/2006/main">
            <a:r>
              <a:t>NEXT</a:t>
            </a:r>
          </a:p>
          <a:p xmlns:a="http://schemas.openxmlformats.org/drawingml/2006/main">
            <a:r>
              <a:t>A variable refers to its current value.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variable refers to its current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variable refers to its current value</a:t>
            </a:r>
          </a:p>
          <a:p xmlns:a="http://schemas.openxmlformats.org/drawingml/2006/main">
            <a:r>
              <a:t/>
            </a:r>
          </a:p>
          <a:p xmlns:a="http://schemas.openxmlformats.org/drawingml/2006/main">
            <a:r>
              <a:t>CONNECT</a:t>
            </a:r>
          </a:p>
          <a:p xmlns:a="http://schemas.openxmlformats.org/drawingml/2006/main">
            <a:r>
              <a:t>Build on Words we will use. Explain why this example is needed before running it.</a:t>
            </a:r>
          </a:p>
          <a:p xmlns:a="http://schemas.openxmlformats.org/drawingml/2006/main">
            <a:r>
              <a:t/>
            </a:r>
          </a:p>
          <a:p xmlns:a="http://schemas.openxmlformats.org/drawingml/2006/main">
            <a:r>
              <a:t>EXPLAIN</a:t>
            </a:r>
          </a:p>
          <a:p xmlns:a="http://schemas.openxmlformats.org/drawingml/2006/main">
            <a:r>
              <a:t>After reassignment, thickness refers to 0.20.</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variable refers to its current value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LECTURER CUE</a:t>
            </a:r>
          </a:p>
          <a:p xmlns:a="http://schemas.openxmlformats.org/drawingml/2006/main">
            <a:r>
              <a:t>This box is a simplified model of a name referring to a value. Other names could still refer to an earlier object.</a:t>
            </a:r>
          </a:p>
          <a:p xmlns:a="http://schemas.openxmlformats.org/drawingml/2006/main">
            <a:r>
              <a:t>Source: existing course illustration figs/variable_box.png. These are illustrative examples, not this cohort’s assessed results.</a:t>
            </a:r>
          </a:p>
          <a:p xmlns:a="http://schemas.openxmlformats.org/drawingml/2006/main">
            <a:r>
              <a:t/>
            </a:r>
          </a:p>
          <a:p xmlns:a="http://schemas.openxmlformats.org/drawingml/2006/main">
            <a:r>
              <a:t>EXPLAIN IN ORDINARY WORDS</a:t>
            </a:r>
          </a:p>
          <a:p xmlns:a="http://schemas.openxmlformats.org/drawingml/2006/main">
            <a:r>
              <a:t>A value is a piece of information. A variable is a name referring to a value. In length_m = 5, Python evaluates the right side and binds that result to the name on the left.</a:t>
            </a:r>
          </a:p>
          <a:p xmlns:a="http://schemas.openxmlformats.org/drawingml/2006/main">
            <a:r>
              <a:t/>
            </a:r>
          </a:p>
          <a:p xmlns:a="http://schemas.openxmlformats.org/drawingml/2006/main">
            <a:r>
              <a:t>CHECK AND EXPECTED ANSWER</a:t>
            </a:r>
          </a:p>
          <a:p xmlns:a="http://schemas.openxmlformats.org/drawingml/2006/main">
            <a:r>
              <a:t>After x=3 then x=5, what does print(x) display? 5. The earlier value is not added automatically.</a:t>
            </a:r>
          </a:p>
          <a:p xmlns:a="http://schemas.openxmlformats.org/drawingml/2006/main">
            <a:r>
              <a:t/>
            </a:r>
          </a:p>
          <a:p xmlns:a="http://schemas.openxmlformats.org/drawingml/2006/main">
            <a:r>
              <a:t>IF LEARNERS ARE STUCK</a:t>
            </a:r>
          </a:p>
          <a:p xmlns:a="http://schemas.openxmlformats.org/drawingml/2006/main">
            <a:r>
              <a:t>Write the name on a card and the current value beside it. Distinguish number 3 from quoted text "3".</a:t>
            </a:r>
          </a:p>
          <a:p xmlns:a="http://schemas.openxmlformats.org/drawingml/2006/main">
            <a:r>
              <a:t/>
            </a:r>
          </a:p>
          <a:p xmlns:a="http://schemas.openxmlformats.org/drawingml/2006/main">
            <a:r>
              <a:t>NEXT</a:t>
            </a:r>
          </a:p>
          <a:p xmlns:a="http://schemas.openxmlformats.org/drawingml/2006/main">
            <a:r>
              <a:t>Python values have types.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Python values have types.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Python values have types</a:t>
            </a:r>
          </a:p>
          <a:p xmlns:a="http://schemas.openxmlformats.org/drawingml/2006/main">
            <a:r>
              <a:t/>
            </a:r>
          </a:p>
          <a:p xmlns:a="http://schemas.openxmlformats.org/drawingml/2006/main">
            <a:r>
              <a:t>CONNECT</a:t>
            </a:r>
          </a:p>
          <a:p xmlns:a="http://schemas.openxmlformats.org/drawingml/2006/main">
            <a:r>
              <a:t>Build on A variable refers to its current value. Explain why this example is needed before running it.</a:t>
            </a:r>
          </a:p>
          <a:p xmlns:a="http://schemas.openxmlformats.org/drawingml/2006/main">
            <a:r>
              <a:t/>
            </a:r>
          </a:p>
          <a:p xmlns:a="http://schemas.openxmlformats.org/drawingml/2006/main">
            <a:r>
              <a:t>EXPLAIN</a:t>
            </a:r>
          </a:p>
          <a:p xmlns:a="http://schemas.openxmlformats.org/drawingml/2006/main">
            <a:r>
              <a:t>3.5 + 2 gives 5.5. "3.5" + "2" joins text into "3.52".</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Python values have types</a:t>
            </a:r>
          </a:p>
          <a:p xmlns:a="http://schemas.openxmlformats.org/drawingml/2006/main">
            <a:r>
              <a:t/>
            </a:r>
          </a:p>
          <a:p xmlns:a="http://schemas.openxmlformats.org/drawingml/2006/main">
            <a:r>
              <a:t>CONNECT</a:t>
            </a:r>
          </a:p>
          <a:p xmlns:a="http://schemas.openxmlformats.org/drawingml/2006/main">
            <a:r>
              <a:t>Build on the preceding slide: A variable refers to its current value.</a:t>
            </a:r>
          </a:p>
          <a:p xmlns:a="http://schemas.openxmlformats.org/drawingml/2006/main">
            <a:r>
              <a:t/>
            </a:r>
          </a:p>
          <a:p xmlns:a="http://schemas.openxmlformats.org/drawingml/2006/main">
            <a:r>
              <a:t>LECTURER CUE</a:t>
            </a:r>
          </a:p>
          <a:p xmlns:a="http://schemas.openxmlformats.org/drawingml/2006/main">
            <a:r>
              <a:t>3.5 + 2 gives 5.5. "3.5" + "2" joins text into "3.52".</a:t>
            </a:r>
          </a:p>
          <a:p xmlns:a="http://schemas.openxmlformats.org/drawingml/2006/main">
            <a:r>
              <a:t/>
            </a:r>
          </a:p>
          <a:p xmlns:a="http://schemas.openxmlformats.org/drawingml/2006/main">
            <a:r>
              <a:t>EXPLAIN IN ORDINARY WORDS</a:t>
            </a:r>
          </a:p>
          <a:p xmlns:a="http://schemas.openxmlformats.org/drawingml/2006/main">
            <a:r>
              <a:t>A value is a piece of information. A variable is a name referring to a value. In length_m = 5, Python evaluates the right side and binds that result to the name on the left.</a:t>
            </a:r>
          </a:p>
          <a:p xmlns:a="http://schemas.openxmlformats.org/drawingml/2006/main">
            <a:r>
              <a:t/>
            </a:r>
          </a:p>
          <a:p xmlns:a="http://schemas.openxmlformats.org/drawingml/2006/main">
            <a:r>
              <a:t>CHECK AND EXPECTED ANSWER</a:t>
            </a:r>
          </a:p>
          <a:p xmlns:a="http://schemas.openxmlformats.org/drawingml/2006/main">
            <a:r>
              <a:t>After x=3 then x=5, what does print(x) display? 5. The earlier value is not added automatically.</a:t>
            </a:r>
          </a:p>
          <a:p xmlns:a="http://schemas.openxmlformats.org/drawingml/2006/main">
            <a:r>
              <a:t/>
            </a:r>
          </a:p>
          <a:p xmlns:a="http://schemas.openxmlformats.org/drawingml/2006/main">
            <a:r>
              <a:t>IF LEARNERS ARE STUCK</a:t>
            </a:r>
          </a:p>
          <a:p xmlns:a="http://schemas.openxmlformats.org/drawingml/2006/main">
            <a:r>
              <a:t>Write the name on a card and the current value beside it. Distinguish number 3 from quoted text "3".</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Operator.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Operator.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Operator</a:t>
            </a:r>
          </a:p>
          <a:p xmlns:a="http://schemas.openxmlformats.org/drawingml/2006/main">
            <a:r>
              <a:t/>
            </a:r>
          </a:p>
          <a:p xmlns:a="http://schemas.openxmlformats.org/drawingml/2006/main">
            <a:r>
              <a:t>CONNECT</a:t>
            </a:r>
          </a:p>
          <a:p xmlns:a="http://schemas.openxmlformats.org/drawingml/2006/main">
            <a:r>
              <a:t>Build on Python values have types. Explain why this example is needed before running it.</a:t>
            </a:r>
          </a:p>
          <a:p xmlns:a="http://schemas.openxmlformats.org/drawingml/2006/main">
            <a:r>
              <a:t/>
            </a:r>
          </a:p>
          <a:p xmlns:a="http://schemas.openxmlformats.org/drawingml/2006/main">
            <a:r>
              <a:t>EXPLAIN</a:t>
            </a:r>
          </a:p>
          <a:p xmlns:a="http://schemas.openxmlformats.org/drawingml/2006/main">
            <a:r>
              <a:t>Operator: A symbol for an operation: + adds, - subtracts, * multiplies, / divides, ** raises to a power. // floors a quotient, so -5 // 2 is -3.</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Operator</a:t>
            </a:r>
          </a:p>
          <a:p xmlns:a="http://schemas.openxmlformats.org/drawingml/2006/main">
            <a:r>
              <a:t/>
            </a:r>
          </a:p>
          <a:p xmlns:a="http://schemas.openxmlformats.org/drawingml/2006/main">
            <a:r>
              <a:t>CONNECT</a:t>
            </a:r>
          </a:p>
          <a:p xmlns:a="http://schemas.openxmlformats.org/drawingml/2006/main">
            <a:r>
              <a:t>Build on the preceding slide: Python values have types.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POINT TO THE DEFINITION</a:t>
            </a:r>
          </a:p>
          <a:p xmlns:a="http://schemas.openxmlformats.org/drawingml/2006/main">
            <a:r>
              <a:t>Operator: A symbol for an operation: + adds, - subtracts, * multiplies, / divides, ** raises to a power. // floors a quotient, so -5 // 2 is -3.</a:t>
            </a:r>
          </a:p>
          <a:p xmlns:a="http://schemas.openxmlformats.org/drawingml/2006/main">
            <a:r>
              <a:t/>
            </a:r>
          </a:p>
          <a:p xmlns:a="http://schemas.openxmlformats.org/drawingml/2006/main">
            <a:r>
              <a:t>NEXT</a:t>
            </a:r>
          </a:p>
          <a:p xmlns:a="http://schemas.openxmlformats.org/drawingml/2006/main">
            <a:r>
              <a:t>Read a function call before using it.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a function call before using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a function call before using it</a:t>
            </a:r>
          </a:p>
          <a:p xmlns:a="http://schemas.openxmlformats.org/drawingml/2006/main">
            <a:r>
              <a:t/>
            </a:r>
          </a:p>
          <a:p xmlns:a="http://schemas.openxmlformats.org/drawingml/2006/main">
            <a:r>
              <a:t>CONNECT</a:t>
            </a:r>
          </a:p>
          <a:p xmlns:a="http://schemas.openxmlformats.org/drawingml/2006/main">
            <a:r>
              <a:t>Build on Operator. Explain why this example is needed before running it.</a:t>
            </a:r>
          </a:p>
          <a:p xmlns:a="http://schemas.openxmlformats.org/drawingml/2006/main">
            <a:r>
              <a:t/>
            </a:r>
          </a:p>
          <a:p xmlns:a="http://schemas.openxmlformats.org/drawingml/2006/main">
            <a:r>
              <a:t>EXPLAIN</a:t>
            </a:r>
          </a:p>
          <a:p xmlns:a="http://schemas.openxmlformats.org/drawingml/2006/main">
            <a:r>
              <a:t>A built-in function: Python already provides tools such as print, type and float. A function call asks a named tool to do its work: print(3) displays 3.</a:t>
            </a:r>
          </a:p>
          <a:p xmlns:a="http://schemas.openxmlformats.org/drawingml/2006/main">
            <a:r>
              <a:t>Parentheses, quotes and comments: Parentheses hold the inputs to a call. Quotes make text: "3.5" is text; float("3.5") converts it to a number. # starts a comment that Python does not run.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a function call before using it</a:t>
            </a:r>
          </a:p>
          <a:p xmlns:a="http://schemas.openxmlformats.org/drawingml/2006/main">
            <a:r>
              <a:t/>
            </a:r>
          </a:p>
          <a:p xmlns:a="http://schemas.openxmlformats.org/drawingml/2006/main">
            <a:r>
              <a:t>CONNECT</a:t>
            </a:r>
          </a:p>
          <a:p xmlns:a="http://schemas.openxmlformats.org/drawingml/2006/main">
            <a:r>
              <a:t>Build on the preceding slide: Operator.</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POINT TO THE DEFINITION</a:t>
            </a:r>
          </a:p>
          <a:p xmlns:a="http://schemas.openxmlformats.org/drawingml/2006/main">
            <a:r>
              <a:t>A built-in function: Python already provides tools such as print, type and float. A function call asks a named tool to do its work: print(3) displays 3.</a:t>
            </a:r>
          </a:p>
          <a:p xmlns:a="http://schemas.openxmlformats.org/drawingml/2006/main">
            <a:r>
              <a:t>Parentheses, quotes and comments: Parentheses hold the inputs to a call. Quotes make text: "3.5" is text; float("3.5") converts it to a number. # starts a comment that Python does not run.</a:t>
            </a:r>
          </a:p>
          <a:p xmlns:a="http://schemas.openxmlformats.org/drawingml/2006/main">
            <a:r>
              <a:t/>
            </a:r>
          </a:p>
          <a:p xmlns:a="http://schemas.openxmlformats.org/drawingml/2006/main">
            <a:r>
              <a:t>NEXT</a:t>
            </a:r>
          </a:p>
          <a:p xmlns:a="http://schemas.openxmlformats.org/drawingml/2006/main">
            <a:r>
              <a:t>Reading Python symbols.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Python symbols.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Python symbols</a:t>
            </a:r>
          </a:p>
          <a:p xmlns:a="http://schemas.openxmlformats.org/drawingml/2006/main">
            <a:r>
              <a:t/>
            </a:r>
          </a:p>
          <a:p xmlns:a="http://schemas.openxmlformats.org/drawingml/2006/main">
            <a:r>
              <a:t>CONNECT</a:t>
            </a:r>
          </a:p>
          <a:p xmlns:a="http://schemas.openxmlformats.org/drawingml/2006/main">
            <a:r>
              <a:t>Build on Read a function call before using it. Explain why this example is needed before running it.</a:t>
            </a:r>
          </a:p>
          <a:p xmlns:a="http://schemas.openxmlformats.org/drawingml/2006/main">
            <a:r>
              <a:t/>
            </a:r>
          </a:p>
          <a:p xmlns:a="http://schemas.openxmlformats.org/drawingml/2006/main">
            <a:r>
              <a:t>EXPLAIN</a:t>
            </a:r>
          </a:p>
          <a:p xmlns:a="http://schemas.openxmlformats.org/drawingml/2006/main">
            <a:r>
              <a:t>= assigns a value to a name. == compares two values.</a:t>
            </a:r>
          </a:p>
          <a:p xmlns:a="http://schemas.openxmlformats.org/drawingml/2006/main">
            <a:r>
              <a:t/>
            </a:r>
          </a:p>
          <a:p xmlns:a="http://schemas.openxmlformats.org/drawingml/2006/main">
            <a:r>
              <a:t>* multiplies. / divides. ** raises to a power.</a:t>
            </a:r>
          </a:p>
          <a:p xmlns:a="http://schemas.openxmlformats.org/drawingml/2006/main">
            <a:r>
              <a:t/>
            </a:r>
          </a:p>
          <a:p xmlns:a="http://schemas.openxmlformats.org/drawingml/2006/main">
            <a:r>
              <a:t>Parentheses pass inputs when we call a function.</a:t>
            </a:r>
          </a:p>
          <a:p xmlns:a="http://schemas.openxmlformats.org/drawingml/2006/main">
            <a:r>
              <a:t/>
            </a:r>
          </a:p>
          <a:p xmlns:a="http://schemas.openxmlformats.org/drawingml/2006/main">
            <a:r>
              <a:t>Indented lines belong to the block above them.</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Python symbols</a:t>
            </a:r>
          </a:p>
          <a:p xmlns:a="http://schemas.openxmlformats.org/drawingml/2006/main">
            <a:r>
              <a:t/>
            </a:r>
          </a:p>
          <a:p xmlns:a="http://schemas.openxmlformats.org/drawingml/2006/main">
            <a:r>
              <a:t>CONNECT</a:t>
            </a:r>
          </a:p>
          <a:p xmlns:a="http://schemas.openxmlformats.org/drawingml/2006/main">
            <a:r>
              <a:t>Build on the preceding slide: Read a function call before using it.</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Names, conversion and comments.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Names, conversion and comments.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Names, conversion and comments</a:t>
            </a:r>
          </a:p>
          <a:p xmlns:a="http://schemas.openxmlformats.org/drawingml/2006/main">
            <a:r>
              <a:t/>
            </a:r>
          </a:p>
          <a:p xmlns:a="http://schemas.openxmlformats.org/drawingml/2006/main">
            <a:r>
              <a:t>CONNECT</a:t>
            </a:r>
          </a:p>
          <a:p xmlns:a="http://schemas.openxmlformats.org/drawingml/2006/main">
            <a:r>
              <a:t>Build on Reading Python symbols. Explain why this example is needed before running it.</a:t>
            </a:r>
          </a:p>
          <a:p xmlns:a="http://schemas.openxmlformats.org/drawingml/2006/main">
            <a:r>
              <a:t/>
            </a:r>
          </a:p>
          <a:p xmlns:a="http://schemas.openxmlformats.org/drawingml/2006/main">
            <a:r>
              <a:t>EXPLAIN</a:t>
            </a:r>
          </a:p>
          <a:p xmlns:a="http://schemas.openxmlformats.org/drawingml/2006/main">
            <a:r>
              <a:t>type(...) reports the kind of value. &lt;class 'float'&gt; means a floating-point number.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Names, conversion and comments</a:t>
            </a:r>
          </a:p>
          <a:p xmlns:a="http://schemas.openxmlformats.org/drawingml/2006/main">
            <a:r>
              <a:t/>
            </a:r>
          </a:p>
          <a:p xmlns:a="http://schemas.openxmlformats.org/drawingml/2006/main">
            <a:r>
              <a:t>CONNECT</a:t>
            </a:r>
          </a:p>
          <a:p xmlns:a="http://schemas.openxmlformats.org/drawingml/2006/main">
            <a:r>
              <a:t>Build on the preceding slide: Reading Python symbols.</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7.0 then &lt;class 'float'&gt;</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WALK THROUGH THIS CODE</a:t>
            </a:r>
          </a:p>
          <a:p xmlns:a="http://schemas.openxmlformats.org/drawingml/2006/main">
            <a:r>
              <a:t>float converts numeric text into a decimal number.</a:t>
            </a:r>
          </a:p>
          <a:p xmlns:a="http://schemas.openxmlformats.org/drawingml/2006/main">
            <a:r>
              <a:t>type reports the kind of value: for example, float.</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Arithmetic that needs care.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3 continuation.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3 continuation</a:t>
            </a:r>
          </a:p>
          <a:p xmlns:a="http://schemas.openxmlformats.org/drawingml/2006/main">
            <a:r>
              <a:t/>
            </a:r>
          </a:p>
          <a:p xmlns:a="http://schemas.openxmlformats.org/drawingml/2006/main">
            <a:r>
              <a:t>CONNECT</a:t>
            </a:r>
          </a:p>
          <a:p xmlns:a="http://schemas.openxmlformats.org/drawingml/2006/main">
            <a:r>
              <a:t>Build on Names, conversion and comments. Explain why this example is needed before running it.</a:t>
            </a:r>
          </a:p>
          <a:p xmlns:a="http://schemas.openxmlformats.org/drawingml/2006/main">
            <a:r>
              <a:t/>
            </a:r>
          </a:p>
          <a:p xmlns:a="http://schemas.openxmlformats.org/drawingml/2006/main">
            <a:r>
              <a:t>EXPLAIN</a:t>
            </a:r>
          </a:p>
          <a:p xmlns:a="http://schemas.openxmlformats.org/drawingml/2006/main">
            <a:r>
              <a:t>From slides 1–12: values have types, variables name values, = assigns, and print displays a result. float("3.5") converts text to a number. We now use those ideas in calculations and functions.</a:t>
            </a:r>
          </a:p>
          <a:p xmlns:a="http://schemas.openxmlformats.org/drawingml/2006/main">
            <a:r>
              <a:t/>
            </a:r>
          </a:p>
          <a:p xmlns:a="http://schemas.openxmlformats.org/drawingml/2006/main">
            <a:r>
              <a:t>Next: arithmetic, decisions, functions, then lists and the A3 brief.</a:t>
            </a:r>
          </a:p>
          <a:p xmlns:a="http://schemas.openxmlformats.org/drawingml/2006/main">
            <a:r>
              <a:t/>
            </a:r>
          </a:p>
          <a:p xmlns:a="http://schemas.openxmlformats.org/drawingml/2006/main">
            <a:r>
              <a:t>LECTURER DETAIL</a:t>
            </a:r>
          </a:p>
          <a:p xmlns:a="http://schemas.openxmlformats.org/drawingml/2006/main">
            <a:r>
              <a:t>For CML3112 resume here after teaching original slides 1–12. Briefly show the output from the previous example: 7.0 and &lt;class 'float'&gt;. No need to reteach all twelve slides.</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Arithmetic that needs care.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Arithmetic that needs care</a:t>
            </a:r>
          </a:p>
          <a:p xmlns:a="http://schemas.openxmlformats.org/drawingml/2006/main">
            <a:r>
              <a:t/>
            </a:r>
          </a:p>
          <a:p xmlns:a="http://schemas.openxmlformats.org/drawingml/2006/main">
            <a:r>
              <a:t>CONNECT</a:t>
            </a:r>
          </a:p>
          <a:p xmlns:a="http://schemas.openxmlformats.org/drawingml/2006/main">
            <a:r>
              <a:t>Build on Week 3 continuation. Explain why this example is needed before running it.</a:t>
            </a:r>
          </a:p>
          <a:p xmlns:a="http://schemas.openxmlformats.org/drawingml/2006/main">
            <a:r>
              <a:t/>
            </a:r>
          </a:p>
          <a:p xmlns:a="http://schemas.openxmlformats.org/drawingml/2006/main">
            <a:r>
              <a:t>EXPLAIN</a:t>
            </a:r>
          </a:p>
          <a:p xmlns:a="http://schemas.openxmlformats.org/drawingml/2006/main">
            <a:r>
              <a:t>Parentheses run first: (2 + 4) / 2 is 3.0. Without them, division runs before addition: 2 + 4 / 2 is 4.0.</a:t>
            </a:r>
          </a:p>
          <a:p xmlns:a="http://schemas.openxmlformats.org/drawingml/2006/main">
            <a:r>
              <a:t/>
            </a:r>
          </a:p>
          <a:p xmlns:a="http://schemas.openxmlformats.org/drawingml/2006/main">
            <a:r>
              <a:t>/ gives a quotient. // rounds that quotient down: 7 // 2 is 3 and -7 // 2 is -4.</a:t>
            </a:r>
          </a:p>
          <a:p xmlns:a="http://schemas.openxmlformats.org/drawingml/2006/main">
            <a:r>
              <a:t/>
            </a:r>
          </a:p>
          <a:p xmlns:a="http://schemas.openxmlformats.org/drawingml/2006/main">
            <a:r>
              <a:t>Many decimal fractions are approximate in a computer. A tolerance is an allowed difference, for example 0.01 m when checking two calculated lengths.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Arithmetic that needs care</a:t>
            </a:r>
          </a:p>
          <a:p xmlns:a="http://schemas.openxmlformats.org/drawingml/2006/main">
            <a:r>
              <a:t/>
            </a:r>
          </a:p>
          <a:p xmlns:a="http://schemas.openxmlformats.org/drawingml/2006/main">
            <a:r>
              <a:t>CONNECT</a:t>
            </a:r>
          </a:p>
          <a:p xmlns:a="http://schemas.openxmlformats.org/drawingml/2006/main">
            <a:r>
              <a:t>Build on the preceding slide: Names, conversion and comments.</a:t>
            </a:r>
          </a:p>
          <a:p xmlns:a="http://schemas.openxmlformats.org/drawingml/2006/main">
            <a:r>
              <a:t/>
            </a:r>
          </a:p>
          <a:p xmlns:a="http://schemas.openxmlformats.org/drawingml/2006/main">
            <a:r>
              <a:t>LECTURER CUE</a:t>
            </a:r>
          </a:p>
          <a:p xmlns:a="http://schemas.openxmlformats.org/drawingml/2006/main">
            <a:r>
              <a:t>Floor division rounds down. Use parentheses to state the intended calculation. Keep units in variable names.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Read the quantities in your programme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the quantities in your programme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quantities in your programme example</a:t>
            </a:r>
          </a:p>
          <a:p xmlns:a="http://schemas.openxmlformats.org/drawingml/2006/main">
            <a:r>
              <a:t/>
            </a:r>
          </a:p>
          <a:p xmlns:a="http://schemas.openxmlformats.org/drawingml/2006/main">
            <a:r>
              <a:t>CONNECT</a:t>
            </a:r>
          </a:p>
          <a:p xmlns:a="http://schemas.openxmlformats.org/drawingml/2006/main">
            <a:r>
              <a:t>Build on Arithmetic that needs care. Explain why this example is needed before running it.</a:t>
            </a:r>
          </a:p>
          <a:p xmlns:a="http://schemas.openxmlformats.org/drawingml/2006/main">
            <a:r>
              <a:t/>
            </a:r>
          </a:p>
          <a:p xmlns:a="http://schemas.openxmlformats.org/drawingml/2006/main">
            <a:r>
              <a:t>EXPLAIN</a:t>
            </a:r>
          </a:p>
          <a:p xmlns:a="http://schemas.openxmlformats.org/drawingml/2006/main">
            <a:r>
              <a:t>Volume, time and flow: Volume is how much space fluid occupies, here in litres. Time is measured in seconds. Flow is volume divided by time, in litres per second.</a:t>
            </a:r>
          </a:p>
          <a:p xmlns:a="http://schemas.openxmlformats.org/drawingml/2006/main">
            <a:r>
              <a:t>Density and pressure: Density is mass per volume in kg/m³. Pressure is force per area, measured in pascals (Pa). 1000 Pa = 1 kPa. Fluid density and depth determine the hydrostatic contribution.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the quantities in your programme example</a:t>
            </a:r>
          </a:p>
          <a:p xmlns:a="http://schemas.openxmlformats.org/drawingml/2006/main">
            <a:r>
              <a:t/>
            </a:r>
          </a:p>
          <a:p xmlns:a="http://schemas.openxmlformats.org/drawingml/2006/main">
            <a:r>
              <a:t>CONNECT</a:t>
            </a:r>
          </a:p>
          <a:p xmlns:a="http://schemas.openxmlformats.org/drawingml/2006/main">
            <a:r>
              <a:t>Build on the preceding slide: Arithmetic that needs care.</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POINT TO THE DEFINITION</a:t>
            </a:r>
          </a:p>
          <a:p xmlns:a="http://schemas.openxmlformats.org/drawingml/2006/main">
            <a:r>
              <a:t>Volume, time and flow: Volume is how much space fluid occupies, here in litres. Time is measured in seconds. Flow is volume divided by time, in litres per second.</a:t>
            </a:r>
          </a:p>
          <a:p xmlns:a="http://schemas.openxmlformats.org/drawingml/2006/main">
            <a:r>
              <a:t>Density and pressure: Density is mass per volume in kg/m³. Pressure is force per area, measured in pascals (Pa). 1000 Pa = 1 kPa. Fluid density and depth determine the hydrostatic contribution.</a:t>
            </a:r>
          </a:p>
          <a:p xmlns:a="http://schemas.openxmlformats.org/drawingml/2006/main">
            <a:r>
              <a:t/>
            </a:r>
          </a:p>
          <a:p xmlns:a="http://schemas.openxmlformats.org/drawingml/2006/main">
            <a:r>
              <a:t>NEXT</a:t>
            </a:r>
          </a:p>
          <a:p xmlns:a="http://schemas.openxmlformats.org/drawingml/2006/main">
            <a:r>
              <a:t>A calculation for your programme.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calculation for your programme.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calculation for your programme</a:t>
            </a:r>
          </a:p>
          <a:p xmlns:a="http://schemas.openxmlformats.org/drawingml/2006/main">
            <a:r>
              <a:t/>
            </a:r>
          </a:p>
          <a:p xmlns:a="http://schemas.openxmlformats.org/drawingml/2006/main">
            <a:r>
              <a:t>CONNECT</a:t>
            </a:r>
          </a:p>
          <a:p xmlns:a="http://schemas.openxmlformats.org/drawingml/2006/main">
            <a:r>
              <a:t>Build on Read the quantities in your programme example. Explain why this example is needed before running it.</a:t>
            </a:r>
          </a:p>
          <a:p xmlns:a="http://schemas.openxmlformats.org/drawingml/2006/main">
            <a:r>
              <a:t/>
            </a:r>
          </a:p>
          <a:p xmlns:a="http://schemas.openxmlformats.org/drawingml/2006/main">
            <a:r>
              <a:t>EXPLAIN</a:t>
            </a:r>
          </a:p>
          <a:p xmlns:a="http://schemas.openxmlformats.org/drawingml/2006/main">
            <a:r>
              <a:t>A pump moves 18 litres in 3 seconds.</a:t>
            </a:r>
          </a:p>
          <a:p xmlns:a="http://schemas.openxmlformats.org/drawingml/2006/main">
            <a:r>
              <a:t/>
            </a:r>
          </a:p>
          <a:p xmlns:a="http://schemas.openxmlformats.org/drawingml/2006/main">
            <a:r>
              <a:t>Flow = volume ÷ time = 6 litres per second.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calculation for your programme</a:t>
            </a:r>
          </a:p>
          <a:p xmlns:a="http://schemas.openxmlformats.org/drawingml/2006/main">
            <a:r>
              <a:t/>
            </a:r>
          </a:p>
          <a:p xmlns:a="http://schemas.openxmlformats.org/drawingml/2006/main">
            <a:r>
              <a:t>CONNECT</a:t>
            </a:r>
          </a:p>
          <a:p xmlns:a="http://schemas.openxmlformats.org/drawingml/2006/main">
            <a:r>
              <a:t>Build on the preceding slide: Read the quantities in your programme example.</a:t>
            </a:r>
          </a:p>
          <a:p xmlns:a="http://schemas.openxmlformats.org/drawingml/2006/main">
            <a:r>
              <a:t/>
            </a:r>
          </a:p>
          <a:p xmlns:a="http://schemas.openxmlformats.org/drawingml/2006/main">
            <a:r>
              <a:t>LECTURER CUE</a:t>
            </a:r>
          </a:p>
          <a:p xmlns:a="http://schemas.openxmlformats.org/drawingml/2006/main">
            <a:r>
              <a:t>A pump moves 18 litres in 3 seconds. Flow = volume ÷ time = 6 litres per second.</a:t>
            </a:r>
          </a:p>
          <a:p xmlns:a="http://schemas.openxmlformats.org/drawingml/2006/main">
            <a:r>
              <a:t/>
            </a:r>
          </a:p>
          <a:p xmlns:a="http://schemas.openxmlformats.org/drawingml/2006/main">
            <a:r>
              <a:t>NEXT</a:t>
            </a:r>
          </a:p>
          <a:p xmlns:a="http://schemas.openxmlformats.org/drawingml/2006/main">
            <a:r>
              <a:t>The calculation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The calculation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calculation in Python</a:t>
            </a:r>
          </a:p>
          <a:p xmlns:a="http://schemas.openxmlformats.org/drawingml/2006/main">
            <a:r>
              <a:t/>
            </a:r>
          </a:p>
          <a:p xmlns:a="http://schemas.openxmlformats.org/drawingml/2006/main">
            <a:r>
              <a:t>CONNECT</a:t>
            </a:r>
          </a:p>
          <a:p xmlns:a="http://schemas.openxmlformats.org/drawingml/2006/main">
            <a:r>
              <a:t>Build on A calculation for your programme.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calculation in Python</a:t>
            </a:r>
          </a:p>
          <a:p xmlns:a="http://schemas.openxmlformats.org/drawingml/2006/main">
            <a:r>
              <a:t/>
            </a:r>
          </a:p>
          <a:p xmlns:a="http://schemas.openxmlformats.org/drawingml/2006/main">
            <a:r>
              <a:t>CONNECT</a:t>
            </a:r>
          </a:p>
          <a:p xmlns:a="http://schemas.openxmlformats.org/drawingml/2006/main">
            <a:r>
              <a:t>Build on the preceding slide: A calculation for your programme.</a:t>
            </a:r>
          </a:p>
          <a:p xmlns:a="http://schemas.openxmlformats.org/drawingml/2006/main">
            <a:r>
              <a:t/>
            </a:r>
          </a:p>
          <a:p xmlns:a="http://schemas.openxmlformats.org/drawingml/2006/main">
            <a:r>
              <a:t>LECTURER CUE</a:t>
            </a:r>
          </a:p>
          <a:p xmlns:a="http://schemas.openxmlformats.org/drawingml/2006/main">
            <a:r>
              <a:t>Read each name and unit. = assigns the number, * multiplies and / divides. print displays the result. A pump moves 18 litres in 3 seconds. Flow = volume ÷ time = 6 litres per second.</a:t>
            </a:r>
          </a:p>
          <a:p xmlns:a="http://schemas.openxmlformats.org/drawingml/2006/main">
            <a:r>
              <a:t/>
            </a:r>
          </a:p>
          <a:p xmlns:a="http://schemas.openxmlformats.org/drawingml/2006/main">
            <a:r>
              <a:t>Complete practice code:</a:t>
            </a:r>
          </a:p>
          <a:p xmlns:a="http://schemas.openxmlformats.org/drawingml/2006/main">
            <a:r>
              <a:t>volume_l = 18</a:t>
            </a:r>
          </a:p>
          <a:p xmlns:a="http://schemas.openxmlformats.org/drawingml/2006/main">
            <a:r>
              <a:t>time_s = 3</a:t>
            </a:r>
          </a:p>
          <a:p xmlns:a="http://schemas.openxmlformats.org/drawingml/2006/main">
            <a:r>
              <a:t>flow_l_s = volume_l / time_s</a:t>
            </a:r>
          </a:p>
          <a:p xmlns:a="http://schemas.openxmlformats.org/drawingml/2006/main">
            <a:r>
              <a:t>print(flow_l_s)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A change to predict.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an error message.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an error message</a:t>
            </a:r>
          </a:p>
          <a:p xmlns:a="http://schemas.openxmlformats.org/drawingml/2006/main">
            <a:r>
              <a:t/>
            </a:r>
          </a:p>
          <a:p xmlns:a="http://schemas.openxmlformats.org/drawingml/2006/main">
            <a:r>
              <a:t>CONNECT</a:t>
            </a:r>
          </a:p>
          <a:p xmlns:a="http://schemas.openxmlformats.org/drawingml/2006/main">
            <a:r>
              <a:t>Build on The calculation in Python. Explain why this example is needed before running it.</a:t>
            </a:r>
          </a:p>
          <a:p xmlns:a="http://schemas.openxmlformats.org/drawingml/2006/main">
            <a:r>
              <a:t/>
            </a:r>
          </a:p>
          <a:p xmlns:a="http://schemas.openxmlformats.org/drawingml/2006/main">
            <a:r>
              <a:t>EXPLAIN</a:t>
            </a:r>
          </a:p>
          <a:p xmlns:a="http://schemas.openxmlformats.org/drawingml/2006/main">
            <a:r>
              <a:t>The last line names the error. The indicated line shows where Python noticed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an error message</a:t>
            </a:r>
          </a:p>
          <a:p xmlns:a="http://schemas.openxmlformats.org/drawingml/2006/main">
            <a:r>
              <a:t/>
            </a:r>
          </a:p>
          <a:p xmlns:a="http://schemas.openxmlformats.org/drawingml/2006/main">
            <a:r>
              <a:t>CONNECT</a:t>
            </a:r>
          </a:p>
          <a:p xmlns:a="http://schemas.openxmlformats.org/drawingml/2006/main">
            <a:r>
              <a:t>Build on the preceding slide: The practice result.</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Condition.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Condition</a:t>
            </a:r>
          </a:p>
          <a:p xmlns:a="http://schemas.openxmlformats.org/drawingml/2006/main">
            <a:r>
              <a:t/>
            </a:r>
          </a:p>
          <a:p xmlns:a="http://schemas.openxmlformats.org/drawingml/2006/main">
            <a:r>
              <a:t>CONNECT</a:t>
            </a:r>
          </a:p>
          <a:p xmlns:a="http://schemas.openxmlformats.org/drawingml/2006/main">
            <a:r>
              <a:t>Build on Reading an error message. Explain why this example is needed before running it.</a:t>
            </a:r>
          </a:p>
          <a:p xmlns:a="http://schemas.openxmlformats.org/drawingml/2006/main">
            <a:r>
              <a:t/>
            </a:r>
          </a:p>
          <a:p xmlns:a="http://schemas.openxmlformats.org/drawingml/2006/main">
            <a:r>
              <a:t>EXPLAIN</a:t>
            </a:r>
          </a:p>
          <a:p xmlns:a="http://schemas.openxmlformats.org/drawingml/2006/main">
            <a:r>
              <a:t>Condition: A True/False question. == compares equality; = assigns. if selects a branch; else handles the other case. A colon starts an indented block.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Condition</a:t>
            </a:r>
          </a:p>
          <a:p xmlns:a="http://schemas.openxmlformats.org/drawingml/2006/main">
            <a:r>
              <a:t/>
            </a:r>
          </a:p>
          <a:p xmlns:a="http://schemas.openxmlformats.org/drawingml/2006/main">
            <a:r>
              <a:t>CONNECT</a:t>
            </a:r>
          </a:p>
          <a:p xmlns:a="http://schemas.openxmlformats.org/drawingml/2006/main">
            <a:r>
              <a:t>Build on the preceding slide: Reading an error message.</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POINT TO THE DEFINITION</a:t>
            </a:r>
          </a:p>
          <a:p xmlns:a="http://schemas.openxmlformats.org/drawingml/2006/main">
            <a:r>
              <a:t>Condition: A True/False question. == compares equality; = assigns. if selects a branch; else handles the other case. A colon starts an indented block.</a:t>
            </a:r>
          </a:p>
          <a:p xmlns:a="http://schemas.openxmlformats.org/drawingml/2006/main">
            <a:r>
              <a:t/>
            </a:r>
          </a:p>
          <a:p xmlns:a="http://schemas.openxmlformats.org/drawingml/2006/main">
            <a:r>
              <a:t>NEXT</a:t>
            </a:r>
          </a:p>
          <a:p xmlns:a="http://schemas.openxmlformats.org/drawingml/2006/main">
            <a:r>
              <a:t>Comparison and logic.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Comparison and logic.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Comparison and logic</a:t>
            </a:r>
          </a:p>
          <a:p xmlns:a="http://schemas.openxmlformats.org/drawingml/2006/main">
            <a:r>
              <a:t/>
            </a:r>
          </a:p>
          <a:p xmlns:a="http://schemas.openxmlformats.org/drawingml/2006/main">
            <a:r>
              <a:t>CONNECT</a:t>
            </a:r>
          </a:p>
          <a:p xmlns:a="http://schemas.openxmlformats.org/drawingml/2006/main">
            <a:r>
              <a:t>Build on Condition. Explain why this example is needed before running it.</a:t>
            </a:r>
          </a:p>
          <a:p xmlns:a="http://schemas.openxmlformats.org/drawingml/2006/main">
            <a:r>
              <a:t/>
            </a:r>
          </a:p>
          <a:p xmlns:a="http://schemas.openxmlformats.org/drawingml/2006/main">
            <a:r>
              <a:t>EXPLAIN</a:t>
            </a:r>
          </a:p>
          <a:p xmlns:a="http://schemas.openxmlformats.org/drawingml/2006/main">
            <a:r>
              <a:t>&gt; means greater than; &lt; means less than; &lt;= means at most. = assigns, while == compares. True and False are Boolean values.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Comparison and logic</a:t>
            </a:r>
          </a:p>
          <a:p xmlns:a="http://schemas.openxmlformats.org/drawingml/2006/main">
            <a:r>
              <a:t/>
            </a:r>
          </a:p>
          <a:p xmlns:a="http://schemas.openxmlformats.org/drawingml/2006/main">
            <a:r>
              <a:t>CONNECT</a:t>
            </a:r>
          </a:p>
          <a:p xmlns:a="http://schemas.openxmlformats.org/drawingml/2006/main">
            <a:r>
              <a:t>Build on the preceding slide: Condition.</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A decision needs a colon and indentation.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decision needs a colon and indentation.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decision needs a colon and indentation</a:t>
            </a:r>
          </a:p>
          <a:p xmlns:a="http://schemas.openxmlformats.org/drawingml/2006/main">
            <a:r>
              <a:t/>
            </a:r>
          </a:p>
          <a:p xmlns:a="http://schemas.openxmlformats.org/drawingml/2006/main">
            <a:r>
              <a:t>CONNECT</a:t>
            </a:r>
          </a:p>
          <a:p xmlns:a="http://schemas.openxmlformats.org/drawingml/2006/main">
            <a:r>
              <a:t>Build on Comparison and logic. Explain why this example is needed before running it.</a:t>
            </a:r>
          </a:p>
          <a:p xmlns:a="http://schemas.openxmlformats.org/drawingml/2006/main">
            <a:r>
              <a:t/>
            </a:r>
          </a:p>
          <a:p xmlns:a="http://schemas.openxmlformats.org/drawingml/2006/main">
            <a:r>
              <a:t>EXPLAIN</a:t>
            </a:r>
          </a:p>
          <a:p xmlns:a="http://schemas.openxmlformats.org/drawingml/2006/main">
            <a:r>
              <a:t>&gt;= compares values. Only the chosen indented block runs.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decision needs a colon and indentation</a:t>
            </a:r>
          </a:p>
          <a:p xmlns:a="http://schemas.openxmlformats.org/drawingml/2006/main">
            <a:r>
              <a:t/>
            </a:r>
          </a:p>
          <a:p xmlns:a="http://schemas.openxmlformats.org/drawingml/2006/main">
            <a:r>
              <a:t>CONNECT</a:t>
            </a:r>
          </a:p>
          <a:p xmlns:a="http://schemas.openxmlformats.org/drawingml/2006/main">
            <a:r>
              <a:t>Build on the preceding slide: Comparison and logic.</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below 30. Change 28 to 30 and predict warm. This is a toy threshold, not an engineering limit.</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WALK THROUGH THIS CODE</a:t>
            </a:r>
          </a:p>
          <a:p xmlns:a="http://schemas.openxmlformats.org/drawingml/2006/main">
            <a:r>
              <a:t>if tests a condition. The chosen indented block runs.</a:t>
            </a:r>
          </a:p>
          <a:p xmlns:a="http://schemas.openxmlformats.org/drawingml/2006/main">
            <a:r>
              <a:t>print displays a value below the cell.</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Function.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More than two branches.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More than two branches</a:t>
            </a:r>
          </a:p>
          <a:p xmlns:a="http://schemas.openxmlformats.org/drawingml/2006/main">
            <a:r>
              <a:t/>
            </a:r>
          </a:p>
          <a:p xmlns:a="http://schemas.openxmlformats.org/drawingml/2006/main">
            <a:r>
              <a:t>CONNECT</a:t>
            </a:r>
          </a:p>
          <a:p xmlns:a="http://schemas.openxmlformats.org/drawingml/2006/main">
            <a:r>
              <a:t>Build on A decision needs a colon and indentation. Explain why this example is needed before running it.</a:t>
            </a:r>
          </a:p>
          <a:p xmlns:a="http://schemas.openxmlformats.org/drawingml/2006/main">
            <a:r>
              <a:t/>
            </a:r>
          </a:p>
          <a:p xmlns:a="http://schemas.openxmlformats.org/drawingml/2006/main">
            <a:r>
              <a:t>EXPLAIN</a:t>
            </a:r>
          </a:p>
          <a:p xmlns:a="http://schemas.openxmlformats.org/drawingml/2006/main">
            <a:r>
              <a:t>if tests the first condition. elif means “otherwise, if” and tests another condition only if the earlier one was false. else handles the remaining case.</a:t>
            </a:r>
          </a:p>
          <a:p xmlns:a="http://schemas.openxmlformats.org/drawingml/2006/main">
            <a:r>
              <a:t/>
            </a:r>
          </a:p>
          <a:p xmlns:a="http://schemas.openxmlformats.org/drawingml/2006/main">
            <a:r>
              <a:t>Python runs only the first matching branch. Put a narrower condition before a broader one that would also match. A colon and indentation mark each body.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Units branches and error messages continued</a:t>
            </a:r>
          </a:p>
          <a:p xmlns:a="http://schemas.openxmlformats.org/drawingml/2006/main">
            <a:r>
              <a:t/>
            </a:r>
          </a:p>
          <a:p xmlns:a="http://schemas.openxmlformats.org/drawingml/2006/main">
            <a:r>
              <a:t>CONNECT</a:t>
            </a:r>
          </a:p>
          <a:p xmlns:a="http://schemas.openxmlformats.org/drawingml/2006/main">
            <a:r>
              <a:t>Build on the preceding slide: Units branches and error messages.</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Units branches and error messages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Tracing an if elif else chain.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Tracing an if elif else chain</a:t>
            </a:r>
          </a:p>
          <a:p xmlns:a="http://schemas.openxmlformats.org/drawingml/2006/main">
            <a:r>
              <a:t/>
            </a:r>
          </a:p>
          <a:p xmlns:a="http://schemas.openxmlformats.org/drawingml/2006/main">
            <a:r>
              <a:t>CONNECT</a:t>
            </a:r>
          </a:p>
          <a:p xmlns:a="http://schemas.openxmlformats.org/drawingml/2006/main">
            <a:r>
              <a:t>Build on More than two branches. Explain why this example is needed before running it.</a:t>
            </a:r>
          </a:p>
          <a:p xmlns:a="http://schemas.openxmlformats.org/drawingml/2006/main">
            <a:r>
              <a:t/>
            </a:r>
          </a:p>
          <a:p xmlns:a="http://schemas.openxmlformats.org/drawingml/2006/main">
            <a:r>
              <a:t>EXPLAIN</a:t>
            </a:r>
          </a:p>
          <a:p xmlns:a="http://schemas.openxmlformats.org/drawingml/2006/main">
            <a:r>
              <a:t>Output: medium. The first condition is false; the second is true.</a:t>
            </a:r>
          </a:p>
          <a:p xmlns:a="http://schemas.openxmlformats.org/drawingml/2006/main">
            <a:r>
              <a:t/>
            </a:r>
          </a:p>
          <a:p xmlns:a="http://schemas.openxmlformats.org/drawingml/2006/main">
            <a:r>
              <a:t>LECTURER DETAIL</a:t>
            </a:r>
          </a:p>
          <a:p xmlns:a="http://schemas.openxmlformats.org/drawingml/2006/main">
            <a:r>
              <a:t>Output: medium. The first condition is false; the second is true.</a:t>
            </a:r>
          </a:p>
          <a:p xmlns:a="http://schemas.openxmlformats.org/drawingml/2006/main">
            <a:r>
              <a:t/>
            </a:r>
          </a:p>
          <a:p xmlns:a="http://schemas.openxmlformats.org/drawingml/2006/main">
            <a:r>
              <a:t>level = 7</a:t>
            </a:r>
          </a:p>
          <a:p xmlns:a="http://schemas.openxmlformats.org/drawingml/2006/main">
            <a:r>
              <a:t>if level &gt;= 10:</a:t>
            </a:r>
          </a:p>
          <a:p xmlns:a="http://schemas.openxmlformats.org/drawingml/2006/main">
            <a:r>
              <a:t>    print("high")</a:t>
            </a:r>
          </a:p>
          <a:p xmlns:a="http://schemas.openxmlformats.org/drawingml/2006/main">
            <a:r>
              <a:t>elif level &gt;= 5:</a:t>
            </a:r>
          </a:p>
          <a:p xmlns:a="http://schemas.openxmlformats.org/drawingml/2006/main">
            <a:r>
              <a:t>    print("medium")</a:t>
            </a:r>
          </a:p>
          <a:p xmlns:a="http://schemas.openxmlformats.org/drawingml/2006/main">
            <a:r>
              <a:t>else:</a:t>
            </a:r>
          </a:p>
          <a:p xmlns:a="http://schemas.openxmlformats.org/drawingml/2006/main">
            <a:r>
              <a:t>    print("low")</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Function</a:t>
            </a:r>
          </a:p>
          <a:p xmlns:a="http://schemas.openxmlformats.org/drawingml/2006/main">
            <a:r>
              <a:t/>
            </a:r>
          </a:p>
          <a:p xmlns:a="http://schemas.openxmlformats.org/drawingml/2006/main">
            <a:r>
              <a:t>CONNECT</a:t>
            </a:r>
          </a:p>
          <a:p xmlns:a="http://schemas.openxmlformats.org/drawingml/2006/main">
            <a:r>
              <a:t>Build on Tracing an if elif else chain. Explain why this example is needed before running it.</a:t>
            </a:r>
          </a:p>
          <a:p xmlns:a="http://schemas.openxmlformats.org/drawingml/2006/main">
            <a:r>
              <a:t/>
            </a:r>
          </a:p>
          <a:p xmlns:a="http://schemas.openxmlformats.org/drawingml/2006/main">
            <a:r>
              <a:t>EXPLAIN</a:t>
            </a:r>
          </a:p>
          <a:p xmlns:a="http://schemas.openxmlformats.org/drawingml/2006/main">
            <a:r>
              <a:t>Function: A named, reusable calculation or procedure. def introduces its definition. Parameters are the names for its inputs; arguments are the values supplied when calling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Function</a:t>
            </a:r>
          </a:p>
          <a:p xmlns:a="http://schemas.openxmlformats.org/drawingml/2006/main">
            <a:r>
              <a:t/>
            </a:r>
          </a:p>
          <a:p xmlns:a="http://schemas.openxmlformats.org/drawingml/2006/main">
            <a:r>
              <a:t>CONNECT</a:t>
            </a:r>
          </a:p>
          <a:p xmlns:a="http://schemas.openxmlformats.org/drawingml/2006/main">
            <a:r>
              <a:t>Build on the preceding slide: A decision needs a colon and indentation.</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POINT TO THE DEFINITION</a:t>
            </a:r>
          </a:p>
          <a:p xmlns:a="http://schemas.openxmlformats.org/drawingml/2006/main">
            <a:r>
              <a:t>Function: A named, reusable calculation or procedure. def introduces its definition. Parameters are the names for its inputs; arguments are the values supplied when calling it.</a:t>
            </a:r>
          </a:p>
          <a:p xmlns:a="http://schemas.openxmlformats.org/drawingml/2006/main">
            <a:r>
              <a:t/>
            </a:r>
          </a:p>
          <a:p xmlns:a="http://schemas.openxmlformats.org/drawingml/2006/main">
            <a:r>
              <a:t>NEXT</a:t>
            </a:r>
          </a:p>
          <a:p xmlns:a="http://schemas.openxmlformats.org/drawingml/2006/main">
            <a:r>
              <a:t>Indentation and return.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Indentation and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Indentation and return</a:t>
            </a:r>
          </a:p>
          <a:p xmlns:a="http://schemas.openxmlformats.org/drawingml/2006/main">
            <a:r>
              <a:t/>
            </a:r>
          </a:p>
          <a:p xmlns:a="http://schemas.openxmlformats.org/drawingml/2006/main">
            <a:r>
              <a:t>CONNECT</a:t>
            </a:r>
          </a:p>
          <a:p xmlns:a="http://schemas.openxmlformats.org/drawingml/2006/main">
            <a:r>
              <a:t>Build on Function. Explain why this example is needed before running it.</a:t>
            </a:r>
          </a:p>
          <a:p xmlns:a="http://schemas.openxmlformats.org/drawingml/2006/main">
            <a:r>
              <a:t/>
            </a:r>
          </a:p>
          <a:p xmlns:a="http://schemas.openxmlformats.org/drawingml/2006/main">
            <a:r>
              <a:t>EXPLAIN</a:t>
            </a:r>
          </a:p>
          <a:p xmlns:a="http://schemas.openxmlformats.org/drawingml/2006/main">
            <a:r>
              <a:t>Indentation and return: Spaces at the start of a line group the function body. return hands a result to the calling code. print displays a value and returns None.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Indentation and return</a:t>
            </a:r>
          </a:p>
          <a:p xmlns:a="http://schemas.openxmlformats.org/drawingml/2006/main">
            <a:r>
              <a:t/>
            </a:r>
          </a:p>
          <a:p xmlns:a="http://schemas.openxmlformats.org/drawingml/2006/main">
            <a:r>
              <a:t>CONNECT</a:t>
            </a:r>
          </a:p>
          <a:p xmlns:a="http://schemas.openxmlformats.org/drawingml/2006/main">
            <a:r>
              <a:t>Build on the preceding slide: Function.</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POINT TO THE DEFINITION</a:t>
            </a:r>
          </a:p>
          <a:p xmlns:a="http://schemas.openxmlformats.org/drawingml/2006/main">
            <a:r>
              <a:t>Indentation and return: Spaces at the start of a line group the function body. return hands a result to the calling code. print displays a value and returns None.</a:t>
            </a:r>
          </a:p>
          <a:p xmlns:a="http://schemas.openxmlformats.org/drawingml/2006/main">
            <a:r>
              <a:t/>
            </a:r>
          </a:p>
          <a:p xmlns:a="http://schemas.openxmlformats.org/drawingml/2006/main">
            <a:r>
              <a:t>NEXT</a:t>
            </a:r>
          </a:p>
          <a:p xmlns:a="http://schemas.openxmlformats.org/drawingml/2006/main">
            <a:r>
              <a:t>A function definition and a call.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function definition and a call.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function definition and a call</a:t>
            </a:r>
          </a:p>
          <a:p xmlns:a="http://schemas.openxmlformats.org/drawingml/2006/main">
            <a:r>
              <a:t/>
            </a:r>
          </a:p>
          <a:p xmlns:a="http://schemas.openxmlformats.org/drawingml/2006/main">
            <a:r>
              <a:t>CONNECT</a:t>
            </a:r>
          </a:p>
          <a:p xmlns:a="http://schemas.openxmlformats.org/drawingml/2006/main">
            <a:r>
              <a:t>Build on Indentation and return. Explain why this example is needed before running it.</a:t>
            </a:r>
          </a:p>
          <a:p xmlns:a="http://schemas.openxmlformats.org/drawingml/2006/main">
            <a:r>
              <a:t/>
            </a:r>
          </a:p>
          <a:p xmlns:a="http://schemas.openxmlformats.org/drawingml/2006/main">
            <a:r>
              <a:t>EXPLAIN</a:t>
            </a:r>
          </a:p>
          <a:p xmlns:a="http://schemas.openxmlformats.org/drawingml/2006/main">
            <a:r>
              <a:t>def gives a reusable calculation a name and inputs.</a:t>
            </a:r>
          </a:p>
          <a:p xmlns:a="http://schemas.openxmlformats.org/drawingml/2006/main">
            <a:r>
              <a:t/>
            </a:r>
          </a:p>
          <a:p xmlns:a="http://schemas.openxmlformats.org/drawingml/2006/main">
            <a:r>
              <a:t>Defining a function remembers the instructions.</a:t>
            </a:r>
          </a:p>
          <a:p xmlns:a="http://schemas.openxmlformats.org/drawingml/2006/main">
            <a:r>
              <a:t/>
            </a:r>
          </a:p>
          <a:p xmlns:a="http://schemas.openxmlformats.org/drawingml/2006/main">
            <a:r>
              <a:t>Calling the function runs those instructions with values.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function definition and a call</a:t>
            </a:r>
          </a:p>
          <a:p xmlns:a="http://schemas.openxmlformats.org/drawingml/2006/main">
            <a:r>
              <a:t/>
            </a:r>
          </a:p>
          <a:p xmlns:a="http://schemas.openxmlformats.org/drawingml/2006/main">
            <a:r>
              <a:t>CONNECT</a:t>
            </a:r>
          </a:p>
          <a:p xmlns:a="http://schemas.openxmlformats.org/drawingml/2006/main">
            <a:r>
              <a:t>Build on the preceding slide: Indentation and return.</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A calculation has inputs and an answer.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Inputs, instructions and a returned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Inputs, instructions and a returned result</a:t>
            </a:r>
          </a:p>
          <a:p xmlns:a="http://schemas.openxmlformats.org/drawingml/2006/main">
            <a:r>
              <a:t/>
            </a:r>
          </a:p>
          <a:p xmlns:a="http://schemas.openxmlformats.org/drawingml/2006/main">
            <a:r>
              <a:t>CONNECT</a:t>
            </a:r>
          </a:p>
          <a:p xmlns:a="http://schemas.openxmlformats.org/drawingml/2006/main">
            <a:r>
              <a:t>Build on A function definition and a call. Explain why this example is needed before running it.</a:t>
            </a:r>
          </a:p>
          <a:p xmlns:a="http://schemas.openxmlformats.org/drawingml/2006/main">
            <a:r>
              <a:t/>
            </a:r>
          </a:p>
          <a:p xmlns:a="http://schemas.openxmlformats.org/drawingml/2006/main">
            <a:r>
              <a:t>EXPLAIN</a:t>
            </a:r>
          </a:p>
          <a:p xmlns:a="http://schemas.openxmlformats.org/drawingml/2006/main">
            <a:r>
              <a:t>The illustration uses slab_volume: length × width × thickness. The next function uses the same input/body/return pattern.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Inputs, instructions and a returned result</a:t>
            </a:r>
          </a:p>
          <a:p xmlns:a="http://schemas.openxmlformats.org/drawingml/2006/main">
            <a:r>
              <a:t/>
            </a:r>
          </a:p>
          <a:p xmlns:a="http://schemas.openxmlformats.org/drawingml/2006/main">
            <a:r>
              <a:t>CONNECT</a:t>
            </a:r>
          </a:p>
          <a:p xmlns:a="http://schemas.openxmlformats.org/drawingml/2006/main">
            <a:r>
              <a:t>Build on the preceding slide: A reusable calculation.</a:t>
            </a:r>
          </a:p>
          <a:p xmlns:a="http://schemas.openxmlformats.org/drawingml/2006/main">
            <a:r>
              <a:t/>
            </a:r>
          </a:p>
          <a:p xmlns:a="http://schemas.openxmlformats.org/drawingml/2006/main">
            <a:r>
              <a:t>LECTURER CUE</a:t>
            </a:r>
          </a:p>
          <a:p xmlns:a="http://schemas.openxmlformats.org/drawingml/2006/main">
            <a:r>
              <a:t>Read def, the name, parameters, colon, indentation, return and call. Definition creates the function. Its body waits for a call. Distinguish print, which displays, from return, which passes a value back.</a:t>
            </a:r>
          </a:p>
          <a:p xmlns:a="http://schemas.openxmlformats.org/drawingml/2006/main">
            <a:r>
              <a:t>Source: existing course illustration figs/function_anatomy.png. These are illustrative examples, not this cohort’s assessed results.</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Following a function call.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Defining and calling double_value.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Defining and calling double_value</a:t>
            </a:r>
          </a:p>
          <a:p xmlns:a="http://schemas.openxmlformats.org/drawingml/2006/main">
            <a:r>
              <a:t/>
            </a:r>
          </a:p>
          <a:p xmlns:a="http://schemas.openxmlformats.org/drawingml/2006/main">
            <a:r>
              <a:t>CONNECT</a:t>
            </a:r>
          </a:p>
          <a:p xmlns:a="http://schemas.openxmlformats.org/drawingml/2006/main">
            <a:r>
              <a:t>Build on Inputs, instructions and a returned result. Explain why this example is needed before running it.</a:t>
            </a:r>
          </a:p>
          <a:p xmlns:a="http://schemas.openxmlformats.org/drawingml/2006/main">
            <a:r>
              <a:t/>
            </a:r>
          </a:p>
          <a:p xmlns:a="http://schemas.openxmlformats.org/drawingml/2006/main">
            <a:r>
              <a:t>EXPLAIN</a:t>
            </a:r>
          </a:p>
          <a:p xmlns:a="http://schemas.openxmlformats.org/drawingml/2006/main">
            <a:r>
              <a:t>Output: 8. Calling passes 4 to x; return sends 8 back; print displays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a:t>
            </a:r>
          </a:p>
          <a:p xmlns:a="http://schemas.openxmlformats.org/drawingml/2006/main">
            <a:r>
              <a:t/>
            </a:r>
          </a:p>
          <a:p xmlns:a="http://schemas.openxmlformats.org/drawingml/2006/main">
            <a:r>
              <a:t>CONNECT</a:t>
            </a:r>
          </a:p>
          <a:p xmlns:a="http://schemas.openxmlformats.org/drawingml/2006/main">
            <a:r>
              <a:t>Build on the preceding slide: Following a function call.</a:t>
            </a:r>
          </a:p>
          <a:p xmlns:a="http://schemas.openxmlformats.org/drawingml/2006/main">
            <a:r>
              <a:t/>
            </a:r>
          </a:p>
          <a:p xmlns:a="http://schemas.openxmlformats.org/drawingml/2006/main">
            <a:r>
              <a:t>LECTURER CUE</a:t>
            </a:r>
          </a:p>
          <a:p xmlns:a="http://schemas.openxmlformats.org/drawingml/2006/main">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xmlns:a="http://schemas.openxmlformats.org/drawingml/2006/main">
            <a:r>
              <a:t/>
            </a:r>
          </a:p>
          <a:p xmlns:a="http://schemas.openxmlformats.org/drawingml/2006/main">
            <a:r>
              <a:t>Complete practice code:</a:t>
            </a:r>
          </a:p>
          <a:p xmlns:a="http://schemas.openxmlformats.org/drawingml/2006/main">
            <a:r>
              <a:t>def double_value(x):</a:t>
            </a:r>
          </a:p>
          <a:p xmlns:a="http://schemas.openxmlformats.org/drawingml/2006/main">
            <a:r>
              <a:t>    return x * 2</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WALK THROUGH THIS CODE</a:t>
            </a:r>
          </a:p>
          <a:p xmlns:a="http://schemas.openxmlformats.org/drawingml/2006/main">
            <a:r>
              <a:t>def names the function. Inputs go inside parentheses.</a:t>
            </a:r>
          </a:p>
          <a:p xmlns:a="http://schemas.openxmlformats.org/drawingml/2006/main">
            <a:r>
              <a:t>return sends the result back to the caller.</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Positional and named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Positional and named inputs</a:t>
            </a:r>
          </a:p>
          <a:p xmlns:a="http://schemas.openxmlformats.org/drawingml/2006/main">
            <a:r>
              <a:t/>
            </a:r>
          </a:p>
          <a:p xmlns:a="http://schemas.openxmlformats.org/drawingml/2006/main">
            <a:r>
              <a:t>CONNECT</a:t>
            </a:r>
          </a:p>
          <a:p xmlns:a="http://schemas.openxmlformats.org/drawingml/2006/main">
            <a:r>
              <a:t>Build on Defining and calling double_value. Explain why this example is needed before running it.</a:t>
            </a:r>
          </a:p>
          <a:p xmlns:a="http://schemas.openxmlformats.org/drawingml/2006/main">
            <a:r>
              <a:t/>
            </a:r>
          </a:p>
          <a:p xmlns:a="http://schemas.openxmlformats.org/drawingml/2006/main">
            <a:r>
              <a:t>EXPLAIN</a:t>
            </a:r>
          </a:p>
          <a:p xmlns:a="http://schemas.openxmlformats.org/drawingml/2006/main">
            <a:r>
              <a:t>Both calls supply the same inputs. return makes the result reusable.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Positional and named inputs</a:t>
            </a:r>
          </a:p>
          <a:p xmlns:a="http://schemas.openxmlformats.org/drawingml/2006/main">
            <a:r>
              <a:t/>
            </a:r>
          </a:p>
          <a:p xmlns:a="http://schemas.openxmlformats.org/drawingml/2006/main">
            <a:r>
              <a:t>CONNECT</a:t>
            </a:r>
          </a:p>
          <a:p xmlns:a="http://schemas.openxmlformats.org/drawingml/2006/main">
            <a:r>
              <a:t>Build on the preceding slide: Worked example continued.</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6 then 6</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WALK THROUGH THIS CODE</a:t>
            </a:r>
          </a:p>
          <a:p xmlns:a="http://schemas.openxmlformats.org/drawingml/2006/main">
            <a:r>
              <a:t>def names the function. Inputs go inside parentheses.</a:t>
            </a:r>
          </a:p>
          <a:p xmlns:a="http://schemas.openxmlformats.org/drawingml/2006/main">
            <a:r>
              <a:t>return sends the result back to the caller.</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An input check before division.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input check before division</a:t>
            </a:r>
          </a:p>
          <a:p xmlns:a="http://schemas.openxmlformats.org/drawingml/2006/main">
            <a:r>
              <a:t/>
            </a:r>
          </a:p>
          <a:p xmlns:a="http://schemas.openxmlformats.org/drawingml/2006/main">
            <a:r>
              <a:t>CONNECT</a:t>
            </a:r>
          </a:p>
          <a:p xmlns:a="http://schemas.openxmlformats.org/drawingml/2006/main">
            <a:r>
              <a:t>Build on Positional and named inputs. Explain why this example is needed before running it.</a:t>
            </a:r>
          </a:p>
          <a:p xmlns:a="http://schemas.openxmlformats.org/drawingml/2006/main">
            <a:r>
              <a:t/>
            </a:r>
          </a:p>
          <a:p xmlns:a="http://schemas.openxmlformats.org/drawingml/2006/main">
            <a:r>
              <a:t>EXPLAIN</a:t>
            </a:r>
          </a:p>
          <a:p xmlns:a="http://schemas.openxmlformats.org/drawingml/2006/main">
            <a:r>
              <a:t>Division by zero raises ZeroDivisionError. We choose to return None when people is zero, so there is no calculated share.</a:t>
            </a:r>
          </a:p>
          <a:p xmlns:a="http://schemas.openxmlformats.org/drawingml/2006/main">
            <a:r>
              <a:t/>
            </a:r>
          </a:p>
          <a:p xmlns:a="http://schemas.openxmlformats.org/drawingml/2006/main">
            <a:r>
              <a:t>The check belongs inside the function, before the division. return ends that call immediately. A valid input follows the later return line.</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function with a zero-input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function with a zero-input check</a:t>
            </a:r>
          </a:p>
          <a:p xmlns:a="http://schemas.openxmlformats.org/drawingml/2006/main">
            <a:r>
              <a:t/>
            </a:r>
          </a:p>
          <a:p xmlns:a="http://schemas.openxmlformats.org/drawingml/2006/main">
            <a:r>
              <a:t>CONNECT</a:t>
            </a:r>
          </a:p>
          <a:p xmlns:a="http://schemas.openxmlformats.org/drawingml/2006/main">
            <a:r>
              <a:t>Build on An input check before division. Explain why this example is needed before running it.</a:t>
            </a:r>
          </a:p>
          <a:p xmlns:a="http://schemas.openxmlformats.org/drawingml/2006/main">
            <a:r>
              <a:t/>
            </a:r>
          </a:p>
          <a:p xmlns:a="http://schemas.openxmlformats.org/drawingml/2006/main">
            <a:r>
              <a:t>EXPLAIN</a:t>
            </a:r>
          </a:p>
          <a:p xmlns:a="http://schemas.openxmlformats.org/drawingml/2006/main">
            <a:r>
              <a:t>Output: 4.0. safe_share(12, 0) returns None before any division.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continued</a:t>
            </a:r>
          </a:p>
          <a:p xmlns:a="http://schemas.openxmlformats.org/drawingml/2006/main">
            <a:r>
              <a:t/>
            </a:r>
          </a:p>
          <a:p xmlns:a="http://schemas.openxmlformats.org/drawingml/2006/main">
            <a:r>
              <a:t>CONNECT</a:t>
            </a:r>
          </a:p>
          <a:p xmlns:a="http://schemas.openxmlformats.org/drawingml/2006/main">
            <a:r>
              <a:t>Build on the preceding slide: Positional and named inputs.</a:t>
            </a:r>
          </a:p>
          <a:p xmlns:a="http://schemas.openxmlformats.org/drawingml/2006/main">
            <a:r>
              <a:t/>
            </a:r>
          </a:p>
          <a:p xmlns:a="http://schemas.openxmlformats.org/drawingml/2006/main">
            <a:r>
              <a:t>LECTURER CUE</a:t>
            </a:r>
          </a:p>
          <a:p xmlns:a="http://schemas.openxmlformats.org/drawingml/2006/main">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xmlns:a="http://schemas.openxmlformats.org/drawingml/2006/main">
            <a:r>
              <a:t/>
            </a:r>
          </a:p>
          <a:p xmlns:a="http://schemas.openxmlformats.org/drawingml/2006/main">
            <a:r>
              <a:t>Complete practice code:</a:t>
            </a:r>
          </a:p>
          <a:p xmlns:a="http://schemas.openxmlformats.org/drawingml/2006/main">
            <a:r>
              <a:t>def safe_share(total, people):</a:t>
            </a:r>
          </a:p>
          <a:p xmlns:a="http://schemas.openxmlformats.org/drawingml/2006/main">
            <a:r>
              <a:t>    if people == 0:</a:t>
            </a:r>
          </a:p>
          <a:p xmlns:a="http://schemas.openxmlformats.org/drawingml/2006/main">
            <a:r>
              <a:t>        return None</a:t>
            </a:r>
          </a:p>
          <a:p xmlns:a="http://schemas.openxmlformats.org/drawingml/2006/main">
            <a:r>
              <a:t>    return total / people</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WALK THROUGH THIS CODE</a:t>
            </a:r>
          </a:p>
          <a:p xmlns:a="http://schemas.openxmlformats.org/drawingml/2006/main">
            <a:r>
              <a:t>def names the function. Inputs go inside parentheses.</a:t>
            </a:r>
          </a:p>
          <a:p xmlns:a="http://schemas.openxmlformats.org/drawingml/2006/main">
            <a:r>
              <a:t>if tests a condition. The chosen indented block runs.</a:t>
            </a:r>
          </a:p>
          <a:p xmlns:a="http://schemas.openxmlformats.org/drawingml/2006/main">
            <a:r>
              <a:t>return sends the result back to the caller.</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branch with a clear boundary.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branch with a clear boundary</a:t>
            </a:r>
          </a:p>
          <a:p xmlns:a="http://schemas.openxmlformats.org/drawingml/2006/main">
            <a:r>
              <a:t/>
            </a:r>
          </a:p>
          <a:p xmlns:a="http://schemas.openxmlformats.org/drawingml/2006/main">
            <a:r>
              <a:t>CONNECT</a:t>
            </a:r>
          </a:p>
          <a:p xmlns:a="http://schemas.openxmlformats.org/drawingml/2006/main">
            <a:r>
              <a:t>Build on A function with a zero-input check. Explain why this example is needed before running it.</a:t>
            </a:r>
          </a:p>
          <a:p xmlns:a="http://schemas.openxmlformats.org/drawingml/2006/main">
            <a:r>
              <a:t/>
            </a:r>
          </a:p>
          <a:p xmlns:a="http://schemas.openxmlformats.org/drawingml/2006/main">
            <a:r>
              <a:t>EXPLAIN</a:t>
            </a:r>
          </a:p>
          <a:p xmlns:a="http://schemas.openxmlformats.org/drawingml/2006/main">
            <a:r>
              <a:t>Read from the top. &gt;= includes the boundary.</a:t>
            </a:r>
          </a:p>
          <a:p xmlns:a="http://schemas.openxmlformats.org/drawingml/2006/main">
            <a:r>
              <a:t/>
            </a:r>
          </a:p>
          <a:p xmlns:a="http://schemas.openxmlformats.org/drawingml/2006/main">
            <a:r>
              <a:t>Only the selected branch runs.</a:t>
            </a:r>
          </a:p>
          <a:p xmlns:a="http://schemas.openxmlformats.org/drawingml/2006/main">
            <a:r>
              <a:t/>
            </a:r>
          </a:p>
          <a:p xmlns:a="http://schemas.openxmlformats.org/drawingml/2006/main">
            <a:r>
              <a:t>Try the value exactly at 10 as well as 9 and 11.</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branch with a clear boundary</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LECTURER CUE</a:t>
            </a:r>
          </a:p>
          <a:p xmlns:a="http://schemas.openxmlformats.org/drawingml/2006/main">
            <a:r>
              <a:t>Read from the top. &gt;= includes the boundary. Only the selected branch runs. Try the value exactly at 10 as well as 9 and 11.</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A branch with a clear boundary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branch with a clear boundary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branch with a clear boundary in Python</a:t>
            </a:r>
          </a:p>
          <a:p xmlns:a="http://schemas.openxmlformats.org/drawingml/2006/main">
            <a:r>
              <a:t/>
            </a:r>
          </a:p>
          <a:p xmlns:a="http://schemas.openxmlformats.org/drawingml/2006/main">
            <a:r>
              <a:t>CONNECT</a:t>
            </a:r>
          </a:p>
          <a:p xmlns:a="http://schemas.openxmlformats.org/drawingml/2006/main">
            <a:r>
              <a:t>Build on A branch with a clear boundary.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branch with a clear boundary in Python</a:t>
            </a:r>
          </a:p>
          <a:p xmlns:a="http://schemas.openxmlformats.org/drawingml/2006/main">
            <a:r>
              <a:t/>
            </a:r>
          </a:p>
          <a:p xmlns:a="http://schemas.openxmlformats.org/drawingml/2006/main">
            <a:r>
              <a:t>CONNECT</a:t>
            </a:r>
          </a:p>
          <a:p xmlns:a="http://schemas.openxmlformats.org/drawingml/2006/main">
            <a:r>
              <a:t>Build on the preceding slide: A branch with a clear boundary.</a:t>
            </a:r>
          </a:p>
          <a:p xmlns:a="http://schemas.openxmlformats.org/drawingml/2006/main">
            <a:r>
              <a:t/>
            </a:r>
          </a:p>
          <a:p xmlns:a="http://schemas.openxmlformats.org/drawingml/2006/main">
            <a:r>
              <a:t>LECTURER CUE</a:t>
            </a:r>
          </a:p>
          <a:p xmlns:a="http://schemas.openxmlformats.org/drawingml/2006/main">
            <a:r>
              <a:t>Read from the top. &gt;= includes the boundary. Only the selected branch runs. Try the value exactly at 10 as well as 9 and 11.</a:t>
            </a:r>
          </a:p>
          <a:p xmlns:a="http://schemas.openxmlformats.org/drawingml/2006/main">
            <a:r>
              <a:t/>
            </a:r>
          </a:p>
          <a:p xmlns:a="http://schemas.openxmlformats.org/drawingml/2006/main">
            <a:r>
              <a:t>Complete practice code:</a:t>
            </a:r>
          </a:p>
          <a:p xmlns:a="http://schemas.openxmlformats.org/drawingml/2006/main">
            <a:r>
              <a:t>def check_level(value):</a:t>
            </a:r>
          </a:p>
          <a:p xmlns:a="http://schemas.openxmlformats.org/drawingml/2006/main">
            <a:r>
              <a:t>    if value &gt;= 10:</a:t>
            </a:r>
          </a:p>
          <a:p xmlns:a="http://schemas.openxmlformats.org/drawingml/2006/main">
            <a:r>
              <a:t>        return "high"</a:t>
            </a:r>
          </a:p>
          <a:p xmlns:a="http://schemas.openxmlformats.org/drawingml/2006/main">
            <a:r>
              <a:t>    return "low"</a:t>
            </a:r>
          </a:p>
          <a:p xmlns:a="http://schemas.openxmlformats.org/drawingml/2006/main">
            <a:r>
              <a:t/>
            </a:r>
          </a:p>
          <a:p xmlns:a="http://schemas.openxmlformats.org/drawingml/2006/main">
            <a:r>
              <a:t>print(check_level(10))</a:t>
            </a:r>
          </a:p>
          <a:p xmlns:a="http://schemas.openxmlformats.org/drawingml/2006/main">
            <a:r>
              <a:t>print(check_level(9))</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WALK THROUGH THIS CODE</a:t>
            </a:r>
          </a:p>
          <a:p xmlns:a="http://schemas.openxmlformats.org/drawingml/2006/main">
            <a:r>
              <a:t>def names the function. Inputs go inside parentheses.</a:t>
            </a:r>
          </a:p>
          <a:p xmlns:a="http://schemas.openxmlformats.org/drawingml/2006/main">
            <a:r>
              <a:t>if tests a condition. The chosen indented block runs.</a:t>
            </a:r>
          </a:p>
          <a:p xmlns:a="http://schemas.openxmlformats.org/drawingml/2006/main">
            <a:r>
              <a:t>return sends the result back to the caller.</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Selecting a largest error without loops.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One value and a collection of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One value and a collection of values</a:t>
            </a:r>
          </a:p>
          <a:p xmlns:a="http://schemas.openxmlformats.org/drawingml/2006/main">
            <a:r>
              <a:t/>
            </a:r>
          </a:p>
          <a:p xmlns:a="http://schemas.openxmlformats.org/drawingml/2006/main">
            <a:r>
              <a:t>CONNECT</a:t>
            </a:r>
          </a:p>
          <a:p xmlns:a="http://schemas.openxmlformats.org/drawingml/2006/main">
            <a:r>
              <a:t>Build on A branch with a clear boundary in Python. Explain why this example is needed before running it.</a:t>
            </a:r>
          </a:p>
          <a:p xmlns:a="http://schemas.openxmlformats.org/drawingml/2006/main">
            <a:r>
              <a:t/>
            </a:r>
          </a:p>
          <a:p xmlns:a="http://schemas.openxmlformats.org/drawingml/2006/main">
            <a:r>
              <a:t>EXPLAIN</a:t>
            </a:r>
          </a:p>
          <a:p xmlns:a="http://schemas.openxmlformats.org/drawingml/2006/main">
            <a:r>
              <a:t>A variable can refer to one value: reading = 98. A collection stores several related values under one name.</a:t>
            </a:r>
          </a:p>
          <a:p xmlns:a="http://schemas.openxmlformats.org/drawingml/2006/main">
            <a:r>
              <a:t/>
            </a:r>
          </a:p>
          <a:p xmlns:a="http://schemas.openxmlformats.org/drawingml/2006/main">
            <a:r>
              <a:t>Python has several collection types. Choose one according to how you need to find, change or organise its contents.</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Lists dictionaries tuples and sets.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Lists dictionaries tuples and sets</a:t>
            </a:r>
          </a:p>
          <a:p xmlns:a="http://schemas.openxmlformats.org/drawingml/2006/main">
            <a:r>
              <a:t/>
            </a:r>
          </a:p>
          <a:p xmlns:a="http://schemas.openxmlformats.org/drawingml/2006/main">
            <a:r>
              <a:t>CONNECT</a:t>
            </a:r>
          </a:p>
          <a:p xmlns:a="http://schemas.openxmlformats.org/drawingml/2006/main">
            <a:r>
              <a:t>Build on One value and a collection of values. Explain why this example is needed before running it.</a:t>
            </a:r>
          </a:p>
          <a:p xmlns:a="http://schemas.openxmlformats.org/drawingml/2006/main">
            <a:r>
              <a:t/>
            </a:r>
          </a:p>
          <a:p xmlns:a="http://schemas.openxmlformats.org/drawingml/2006/main">
            <a:r>
              <a:t>EXPLAIN</a:t>
            </a:r>
          </a:p>
          <a:p xmlns:a="http://schemas.openxmlformats.org/drawingml/2006/main">
            <a:r>
              <a:t>List and tuple positions start at zero. Dictionaries use keys. Sets have no positional index.</a:t>
            </a:r>
          </a:p>
          <a:p xmlns:a="http://schemas.openxmlformats.org/drawingml/2006/main">
            <a:r>
              <a:t/>
            </a:r>
          </a:p>
          <a:p xmlns:a="http://schemas.openxmlformats.org/drawingml/2006/main">
            <a:r>
              <a:t>LECTURER DETAIL</a:t>
            </a:r>
          </a:p>
          <a:p xmlns:a="http://schemas.openxmlformats.org/drawingml/2006/main">
            <a:r>
              <a:t>List and tuple positions start at zero. Dictionaries use keys. Sets have no positional index.</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list stores values in positions.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list stores values in positions</a:t>
            </a:r>
          </a:p>
          <a:p xmlns:a="http://schemas.openxmlformats.org/drawingml/2006/main">
            <a:r>
              <a:t/>
            </a:r>
          </a:p>
          <a:p xmlns:a="http://schemas.openxmlformats.org/drawingml/2006/main">
            <a:r>
              <a:t>CONNECT</a:t>
            </a:r>
          </a:p>
          <a:p xmlns:a="http://schemas.openxmlformats.org/drawingml/2006/main">
            <a:r>
              <a:t>Build on Lists dictionaries tuples and sets. Explain why this example is needed before running it.</a:t>
            </a:r>
          </a:p>
          <a:p xmlns:a="http://schemas.openxmlformats.org/drawingml/2006/main">
            <a:r>
              <a:t/>
            </a:r>
          </a:p>
          <a:p xmlns:a="http://schemas.openxmlformats.org/drawingml/2006/main">
            <a:r>
              <a:t>EXPLAIN</a:t>
            </a:r>
          </a:p>
          <a:p xmlns:a="http://schemas.openxmlformats.org/drawingml/2006/main">
            <a:r>
              <a:t>readings = [98, 105, 92] creates a list. Square brackets enclose the items; commas separate them.</a:t>
            </a:r>
          </a:p>
          <a:p xmlns:a="http://schemas.openxmlformats.org/drawingml/2006/main">
            <a:r>
              <a:t/>
            </a:r>
          </a:p>
          <a:p xmlns:a="http://schemas.openxmlformats.org/drawingml/2006/main">
            <a:r>
              <a:t>An index is an item’s position. Python starts counting at zero: readings[0] is 98, readings[1] is 105, readings[2] is 92.</a:t>
            </a:r>
          </a:p>
          <a:p xmlns:a="http://schemas.openxmlformats.org/drawingml/2006/main">
            <a:r>
              <a:t/>
            </a:r>
          </a:p>
          <a:p xmlns:a="http://schemas.openxmlformats.org/drawingml/2006/main">
            <a:r>
              <a:t>Three items have positions 0, 1 and 2. readings[3] raises IndexError because there is no fourth item.</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Creating and reading a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Creating and reading a list</a:t>
            </a:r>
          </a:p>
          <a:p xmlns:a="http://schemas.openxmlformats.org/drawingml/2006/main">
            <a:r>
              <a:t/>
            </a:r>
          </a:p>
          <a:p xmlns:a="http://schemas.openxmlformats.org/drawingml/2006/main">
            <a:r>
              <a:t>CONNECT</a:t>
            </a:r>
          </a:p>
          <a:p xmlns:a="http://schemas.openxmlformats.org/drawingml/2006/main">
            <a:r>
              <a:t>Build on A list stores values in positions. Explain why this example is needed before running it.</a:t>
            </a:r>
          </a:p>
          <a:p xmlns:a="http://schemas.openxmlformats.org/drawingml/2006/main">
            <a:r>
              <a:t/>
            </a:r>
          </a:p>
          <a:p xmlns:a="http://schemas.openxmlformats.org/drawingml/2006/main">
            <a:r>
              <a:t>EXPLAIN</a:t>
            </a:r>
          </a:p>
          <a:p xmlns:a="http://schemas.openxmlformats.org/drawingml/2006/main">
            <a:r>
              <a:t>Output: [98, 105, 92], then 98, then 3.</a:t>
            </a:r>
          </a:p>
          <a:p xmlns:a="http://schemas.openxmlformats.org/drawingml/2006/main">
            <a:r>
              <a:t/>
            </a:r>
          </a:p>
          <a:p xmlns:a="http://schemas.openxmlformats.org/drawingml/2006/main">
            <a:r>
              <a:t>LECTURER DETAIL</a:t>
            </a:r>
          </a:p>
          <a:p xmlns:a="http://schemas.openxmlformats.org/drawingml/2006/main">
            <a:r>
              <a:t>Output: [98, 105, 92], then 98, then 3.</a:t>
            </a:r>
          </a:p>
          <a:p xmlns:a="http://schemas.openxmlformats.org/drawingml/2006/main">
            <a:r>
              <a:t/>
            </a:r>
          </a:p>
          <a:p xmlns:a="http://schemas.openxmlformats.org/drawingml/2006/main">
            <a:r>
              <a:t>readings = [98, 105, 92]</a:t>
            </a:r>
          </a:p>
          <a:p xmlns:a="http://schemas.openxmlformats.org/drawingml/2006/main">
            <a:r>
              <a:t>print(readings)</a:t>
            </a:r>
          </a:p>
          <a:p xmlns:a="http://schemas.openxmlformats.org/drawingml/2006/main">
            <a:r>
              <a:t>print(readings[0])</a:t>
            </a:r>
          </a:p>
          <a:p xmlns:a="http://schemas.openxmlformats.org/drawingml/2006/main">
            <a:r>
              <a:t>print(len(readings))</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Choosing the right collection.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Choosing the right collection</a:t>
            </a:r>
          </a:p>
          <a:p xmlns:a="http://schemas.openxmlformats.org/drawingml/2006/main">
            <a:r>
              <a:t/>
            </a:r>
          </a:p>
          <a:p xmlns:a="http://schemas.openxmlformats.org/drawingml/2006/main">
            <a:r>
              <a:t>CONNECT</a:t>
            </a:r>
          </a:p>
          <a:p xmlns:a="http://schemas.openxmlformats.org/drawingml/2006/main">
            <a:r>
              <a:t>Build on Creating and reading a list. Explain why this example is needed before running it.</a:t>
            </a:r>
          </a:p>
          <a:p xmlns:a="http://schemas.openxmlformats.org/drawingml/2006/main">
            <a:r>
              <a:t/>
            </a:r>
          </a:p>
          <a:p xmlns:a="http://schemas.openxmlformats.org/drawingml/2006/main">
            <a:r>
              <a:t>EXPLAIN</a:t>
            </a:r>
          </a:p>
          <a:p xmlns:a="http://schemas.openxmlformats.org/drawingml/2006/main">
            <a:r>
              <a:t>A dictionary connects a key to a value: {"reading": 98}. The colon connects them; record["reading"] finds the value by its key.</a:t>
            </a:r>
          </a:p>
          <a:p xmlns:a="http://schemas.openxmlformats.org/drawingml/2006/main">
            <a:r>
              <a:t/>
            </a:r>
          </a:p>
          <a:p xmlns:a="http://schemas.openxmlformats.org/drawingml/2006/main">
            <a:r>
              <a:t>A tuple such as (2, 3) stores ordered items whose positions cannot be reassigned. A set such as {"A", "B"} stores distinct items without positions.</a:t>
            </a:r>
          </a:p>
          <a:p xmlns:a="http://schemas.openxmlformats.org/drawingml/2006/main">
            <a:r>
              <a:t/>
            </a:r>
          </a:p>
          <a:p xmlns:a="http://schemas.openxmlformats.org/drawingml/2006/main">
            <a:r>
              <a:t>We use a list for today’s readings because their order matters. Week 4 develops dictionary, tuple and set operations before we use them with records.</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method belongs to a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method belongs to a value</a:t>
            </a:r>
          </a:p>
          <a:p xmlns:a="http://schemas.openxmlformats.org/drawingml/2006/main">
            <a:r>
              <a:t/>
            </a:r>
          </a:p>
          <a:p xmlns:a="http://schemas.openxmlformats.org/drawingml/2006/main">
            <a:r>
              <a:t>CONNECT</a:t>
            </a:r>
          </a:p>
          <a:p xmlns:a="http://schemas.openxmlformats.org/drawingml/2006/main">
            <a:r>
              <a:t>Build on Choosing the right collection. Explain why this example is needed before running it.</a:t>
            </a:r>
          </a:p>
          <a:p xmlns:a="http://schemas.openxmlformats.org/drawingml/2006/main">
            <a:r>
              <a:t/>
            </a:r>
          </a:p>
          <a:p xmlns:a="http://schemas.openxmlformats.org/drawingml/2006/main">
            <a:r>
              <a:t>EXPLAIN</a:t>
            </a:r>
          </a:p>
          <a:p xmlns:a="http://schemas.openxmlformats.org/drawingml/2006/main">
            <a:r>
              <a:t>A function is called by name: len(readings). A method is called through a value with a dot: readings.index(105).</a:t>
            </a:r>
          </a:p>
          <a:p xmlns:a="http://schemas.openxmlformats.org/drawingml/2006/main">
            <a:r>
              <a:t/>
            </a:r>
          </a:p>
          <a:p xmlns:a="http://schemas.openxmlformats.org/drawingml/2006/main">
            <a:r>
              <a:t>index searches a list for a value and returns its first position. Here readings.index(105) returns 1. A missing value raises ValueError.</a:t>
            </a:r>
          </a:p>
          <a:p xmlns:a="http://schemas.openxmlformats.org/drawingml/2006/main">
            <a:r>
              <a:t/>
            </a:r>
          </a:p>
          <a:p xmlns:a="http://schemas.openxmlformats.org/drawingml/2006/main">
            <a:r>
              <a:t>The parentheses contain inputs to the operation. The square brackets in readings[1] select an item; they do a different job.</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Selecting a largest error without loops.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Selecting a largest error without loops</a:t>
            </a:r>
          </a:p>
          <a:p xmlns:a="http://schemas.openxmlformats.org/drawingml/2006/main">
            <a:r>
              <a:t/>
            </a:r>
          </a:p>
          <a:p xmlns:a="http://schemas.openxmlformats.org/drawingml/2006/main">
            <a:r>
              <a:t>CONNECT</a:t>
            </a:r>
          </a:p>
          <a:p xmlns:a="http://schemas.openxmlformats.org/drawingml/2006/main">
            <a:r>
              <a:t>Build on A method belongs to a value. Explain why this example is needed before running it.</a:t>
            </a:r>
          </a:p>
          <a:p xmlns:a="http://schemas.openxmlformats.org/drawingml/2006/main">
            <a:r>
              <a:t/>
            </a:r>
          </a:p>
          <a:p xmlns:a="http://schemas.openxmlformats.org/drawingml/2006/main">
            <a:r>
              <a:t>EXPLAIN</a:t>
            </a:r>
          </a:p>
          <a:p xmlns:a="http://schemas.openxmlformats.org/drawingml/2006/main">
            <a:r>
              <a:t>An error is measured − expected. Its sign shows the direction. abs gives its magnitude: abs(-8) is 8.</a:t>
            </a:r>
          </a:p>
          <a:p xmlns:a="http://schemas.openxmlformats.org/drawingml/2006/main">
            <a:r>
              <a:t/>
            </a:r>
          </a:p>
          <a:p xmlns:a="http://schemas.openxmlformats.org/drawingml/2006/main">
            <a:r>
              <a:t>max finds the largest supplied value: max(2, 5, 8) is 8. Compare magnitudes when the task asks for the largest error by size.</a:t>
            </a:r>
          </a:p>
          <a:p xmlns:a="http://schemas.openxmlformats.org/drawingml/2006/main">
            <a:r>
              <a:t/>
            </a:r>
          </a:p>
          <a:p xmlns:a="http://schemas.openxmlformats.org/drawingml/2006/main">
            <a:r>
              <a:t>Keep the original signed error as well, because the magnitude alone loses direction.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Selecting a largest error without loops</a:t>
            </a:r>
          </a:p>
          <a:p xmlns:a="http://schemas.openxmlformats.org/drawingml/2006/main">
            <a:r>
              <a:t/>
            </a:r>
          </a:p>
          <a:p xmlns:a="http://schemas.openxmlformats.org/drawingml/2006/main">
            <a:r>
              <a:t>CONNECT</a:t>
            </a:r>
          </a:p>
          <a:p xmlns:a="http://schemas.openxmlformats.org/drawingml/2006/main">
            <a:r>
              <a:t>Build on the preceding slide: A branch with a clear boundary in Python.</a:t>
            </a:r>
          </a:p>
          <a:p xmlns:a="http://schemas.openxmlformats.org/drawingml/2006/main">
            <a:r>
              <a:t/>
            </a:r>
          </a:p>
          <a:p xmlns:a="http://schemas.openxmlformats.org/drawingml/2006/main">
            <a:r>
              <a:t>LECTURER CUE</a:t>
            </a:r>
          </a:p>
          <a:p xmlns:a="http://schemas.openxmlformats.org/drawingml/2006/main">
            <a:r>
              <a:t>A list holds several values. abs removes the sign when measuring the SIZE of an error. max returns the largest supplied value. Keep the original signed error when the task asks for direction.</a:t>
            </a:r>
          </a:p>
          <a:p xmlns:a="http://schemas.openxmlformats.org/drawingml/2006/main">
            <a:r>
              <a:t/>
            </a:r>
          </a:p>
          <a:p xmlns:a="http://schemas.openxmlformats.org/drawingml/2006/main">
            <a:r>
              <a:t>EXPLAIN IN ORDINARY WORDS</a:t>
            </a:r>
          </a:p>
          <a:p xmlns:a="http://schemas.openxmlformats.org/drawingml/2006/main">
            <a:r>
              <a:t>The size of an error is its absolute value. Keep the original sign and the matching reading. Find the position of the largest size, then use that same position in both original lists.</a:t>
            </a:r>
          </a:p>
          <a:p xmlns:a="http://schemas.openxmlformats.org/drawingml/2006/main">
            <a:r>
              <a:t/>
            </a:r>
          </a:p>
          <a:p xmlns:a="http://schemas.openxmlformats.org/drawingml/2006/main">
            <a:r>
              <a:t>CHECK AND EXPECTED ANSWER</a:t>
            </a:r>
          </a:p>
          <a:p xmlns:a="http://schemas.openxmlformats.org/drawingml/2006/main">
            <a:r>
              <a:t>For errors [-2,5,-8], sizes are [2,5,8]. The maximum size is 8 at position 2; the original signed error is -8.</a:t>
            </a:r>
          </a:p>
          <a:p xmlns:a="http://schemas.openxmlformats.org/drawingml/2006/main">
            <a:r>
              <a:t/>
            </a:r>
          </a:p>
          <a:p xmlns:a="http://schemas.openxmlformats.org/drawingml/2006/main">
            <a:r>
              <a:t>IF LEARNERS ARE STUCK</a:t>
            </a:r>
          </a:p>
          <a:p xmlns:a="http://schemas.openxmlformats.org/drawingml/2006/main">
            <a:r>
              <a:t>Draw the readings, signed errors and sizes in aligned columns. Circle the position rather than replacing the signed error with its absolute value.</a:t>
            </a:r>
          </a:p>
          <a:p xmlns:a="http://schemas.openxmlformats.org/drawingml/2006/main">
            <a:r>
              <a:t/>
            </a:r>
          </a:p>
          <a:p xmlns:a="http://schemas.openxmlformats.org/drawingml/2006/main">
            <a:r>
              <a:t>NEXT</a:t>
            </a:r>
          </a:p>
          <a:p xmlns:a="http://schemas.openxmlformats.org/drawingml/2006/main">
            <a:r>
              <a:t>Reading a short list.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Selecting a largest error without loops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Selecting a largest error without loops in Python</a:t>
            </a:r>
          </a:p>
          <a:p xmlns:a="http://schemas.openxmlformats.org/drawingml/2006/main">
            <a:r>
              <a:t/>
            </a:r>
          </a:p>
          <a:p xmlns:a="http://schemas.openxmlformats.org/drawingml/2006/main">
            <a:r>
              <a:t>CONNECT</a:t>
            </a:r>
          </a:p>
          <a:p xmlns:a="http://schemas.openxmlformats.org/drawingml/2006/main">
            <a:r>
              <a:t>Build on Selecting a largest error without loops.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Selecting a largest error without loops in Python</a:t>
            </a:r>
          </a:p>
          <a:p xmlns:a="http://schemas.openxmlformats.org/drawingml/2006/main">
            <a:r>
              <a:t/>
            </a:r>
          </a:p>
          <a:p xmlns:a="http://schemas.openxmlformats.org/drawingml/2006/main">
            <a:r>
              <a:t>CONNECT</a:t>
            </a:r>
          </a:p>
          <a:p xmlns:a="http://schemas.openxmlformats.org/drawingml/2006/main">
            <a:r>
              <a:t>Build on the preceding slide: Reading a short list.</a:t>
            </a:r>
          </a:p>
          <a:p xmlns:a="http://schemas.openxmlformats.org/drawingml/2006/main">
            <a:r>
              <a:t/>
            </a:r>
          </a:p>
          <a:p xmlns:a="http://schemas.openxmlformats.org/drawingml/2006/main">
            <a:r>
              <a:t>LECTURER CUE</a:t>
            </a:r>
          </a:p>
          <a:p xmlns:a="http://schemas.openxmlformats.org/drawingml/2006/main">
            <a:r>
              <a:t>A list holds several values. abs removes the sign when measuring the SIZE of an error. max returns the largest supplied value. Keep the original signed error when the task asks for direction.</a:t>
            </a:r>
          </a:p>
          <a:p xmlns:a="http://schemas.openxmlformats.org/drawingml/2006/main">
            <a:r>
              <a:t/>
            </a:r>
          </a:p>
          <a:p xmlns:a="http://schemas.openxmlformats.org/drawingml/2006/main">
            <a:r>
              <a:t>Complete practice code:</a:t>
            </a:r>
          </a:p>
          <a:p xmlns:a="http://schemas.openxmlformats.org/drawingml/2006/main">
            <a:r>
              <a:t>errors = [-2, 5, -8]</a:t>
            </a:r>
          </a:p>
          <a:p xmlns:a="http://schemas.openxmlformats.org/drawingml/2006/main">
            <a:r>
              <a:t>largest = max(abs(errors[0]), abs(errors[1]), abs(errors[2]))</a:t>
            </a:r>
          </a:p>
          <a:p xmlns:a="http://schemas.openxmlformats.org/drawingml/2006/main">
            <a:r>
              <a:t>print(largest)</a:t>
            </a:r>
          </a:p>
          <a:p xmlns:a="http://schemas.openxmlformats.org/drawingml/2006/main">
            <a:r>
              <a:t/>
            </a:r>
          </a:p>
          <a:p xmlns:a="http://schemas.openxmlformats.org/drawingml/2006/main">
            <a:r>
              <a:t>EXPLAIN IN ORDINARY WORDS</a:t>
            </a:r>
          </a:p>
          <a:p xmlns:a="http://schemas.openxmlformats.org/drawingml/2006/main">
            <a:r>
              <a:t>The size of an error is its absolute value. Keep the original sign and the matching reading. Find the position of the largest size, then use that same position in both original lists.</a:t>
            </a:r>
          </a:p>
          <a:p xmlns:a="http://schemas.openxmlformats.org/drawingml/2006/main">
            <a:r>
              <a:t/>
            </a:r>
          </a:p>
          <a:p xmlns:a="http://schemas.openxmlformats.org/drawingml/2006/main">
            <a:r>
              <a:t>CHECK AND EXPECTED ANSWER</a:t>
            </a:r>
          </a:p>
          <a:p xmlns:a="http://schemas.openxmlformats.org/drawingml/2006/main">
            <a:r>
              <a:t>For errors [-2,5,-8], sizes are [2,5,8]. The maximum size is 8 at position 2; the original signed error is -8.</a:t>
            </a:r>
          </a:p>
          <a:p xmlns:a="http://schemas.openxmlformats.org/drawingml/2006/main">
            <a:r>
              <a:t/>
            </a:r>
          </a:p>
          <a:p xmlns:a="http://schemas.openxmlformats.org/drawingml/2006/main">
            <a:r>
              <a:t>IF LEARNERS ARE STUCK</a:t>
            </a:r>
          </a:p>
          <a:p xmlns:a="http://schemas.openxmlformats.org/drawingml/2006/main">
            <a:r>
              <a:t>Draw the readings, signed errors and sizes in aligned columns. Circle the position rather than replacing the signed error with its absolute value.</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Keep the reading beside its signed error.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Keep the reading beside its signed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Keep the reading beside its signed error</a:t>
            </a:r>
          </a:p>
          <a:p xmlns:a="http://schemas.openxmlformats.org/drawingml/2006/main">
            <a:r>
              <a:t/>
            </a:r>
          </a:p>
          <a:p xmlns:a="http://schemas.openxmlformats.org/drawingml/2006/main">
            <a:r>
              <a:t>CONNECT</a:t>
            </a:r>
          </a:p>
          <a:p xmlns:a="http://schemas.openxmlformats.org/drawingml/2006/main">
            <a:r>
              <a:t>Build on Selecting a largest error without loops in Python. Explain why this example is needed before running it.</a:t>
            </a:r>
          </a:p>
          <a:p xmlns:a="http://schemas.openxmlformats.org/drawingml/2006/main">
            <a:r>
              <a:t/>
            </a:r>
          </a:p>
          <a:p xmlns:a="http://schemas.openxmlformats.org/drawingml/2006/main">
            <a:r>
              <a:t>EXPLAIN</a:t>
            </a:r>
          </a:p>
          <a:p xmlns:a="http://schemas.openxmlformats.org/drawingml/2006/main">
            <a:r>
              <a:t>These paired lists use the same positions: the first error belongs to the first reading. The sign tells the direction; abs gives only the size.</a:t>
            </a:r>
          </a:p>
          <a:p xmlns:a="http://schemas.openxmlformats.org/drawingml/2006/main">
            <a:r>
              <a:t/>
            </a:r>
          </a:p>
          <a:p xmlns:a="http://schemas.openxmlformats.org/drawingml/2006/main">
            <a:r>
              <a:t>index(value) finds the first position containing that value. Use that position in the original lists. An exact tie selects the first here; follow the issued task’s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Keep the reading beside its signed error</a:t>
            </a:r>
          </a:p>
          <a:p xmlns:a="http://schemas.openxmlformats.org/drawingml/2006/main">
            <a:r>
              <a:t/>
            </a:r>
          </a:p>
          <a:p xmlns:a="http://schemas.openxmlformats.org/drawingml/2006/main">
            <a:r>
              <a:t>CONNECT</a:t>
            </a:r>
          </a:p>
          <a:p xmlns:a="http://schemas.openxmlformats.org/drawingml/2006/main">
            <a:r>
              <a:t>Build on the preceding slide: Selecting a largest error without loops in Python.</a:t>
            </a:r>
          </a:p>
          <a:p xmlns:a="http://schemas.openxmlformats.org/drawingml/2006/main">
            <a:r>
              <a:t/>
            </a:r>
          </a:p>
          <a:p xmlns:a="http://schemas.openxmlformats.org/drawingml/2006/main">
            <a:r>
              <a:t>EXPLAIN IN ORDINARY WORDS</a:t>
            </a:r>
          </a:p>
          <a:p xmlns:a="http://schemas.openxmlformats.org/drawingml/2006/main">
            <a:r>
              <a:t>The size of an error is its absolute value. Keep the original sign and the matching reading. Find the position of the largest size, then use that same position in both original lists.</a:t>
            </a:r>
          </a:p>
          <a:p xmlns:a="http://schemas.openxmlformats.org/drawingml/2006/main">
            <a:r>
              <a:t/>
            </a:r>
          </a:p>
          <a:p xmlns:a="http://schemas.openxmlformats.org/drawingml/2006/main">
            <a:r>
              <a:t>CHECK AND EXPECTED ANSWER</a:t>
            </a:r>
          </a:p>
          <a:p xmlns:a="http://schemas.openxmlformats.org/drawingml/2006/main">
            <a:r>
              <a:t>For errors [-2,5,-8], sizes are [2,5,8]. The maximum size is 8 at position 2; the original signed error is -8.</a:t>
            </a:r>
          </a:p>
          <a:p xmlns:a="http://schemas.openxmlformats.org/drawingml/2006/main">
            <a:r>
              <a:t/>
            </a:r>
          </a:p>
          <a:p xmlns:a="http://schemas.openxmlformats.org/drawingml/2006/main">
            <a:r>
              <a:t>IF LEARNERS ARE STUCK</a:t>
            </a:r>
          </a:p>
          <a:p xmlns:a="http://schemas.openxmlformats.org/drawingml/2006/main">
            <a:r>
              <a:t>Draw the readings, signed errors and sizes in aligned columns. Circle the position rather than replacing the signed error with its absolute value.</a:t>
            </a:r>
          </a:p>
          <a:p xmlns:a="http://schemas.openxmlformats.org/drawingml/2006/main">
            <a:r>
              <a:t/>
            </a:r>
          </a:p>
          <a:p xmlns:a="http://schemas.openxmlformats.org/drawingml/2006/main">
            <a:r>
              <a:t>NEXT</a:t>
            </a:r>
          </a:p>
          <a:p xmlns:a="http://schemas.openxmlformats.org/drawingml/2006/main">
            <a:r>
              <a:t>Find a position, then recover the original values.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Find a position, then recover the original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Find a position, then recover the original values</a:t>
            </a:r>
          </a:p>
          <a:p xmlns:a="http://schemas.openxmlformats.org/drawingml/2006/main">
            <a:r>
              <a:t/>
            </a:r>
          </a:p>
          <a:p xmlns:a="http://schemas.openxmlformats.org/drawingml/2006/main">
            <a:r>
              <a:t>CONNECT</a:t>
            </a:r>
          </a:p>
          <a:p xmlns:a="http://schemas.openxmlformats.org/drawingml/2006/main">
            <a:r>
              <a:t>Build on Keep the reading beside its signed error. Explain why this example is needed before running it.</a:t>
            </a:r>
          </a:p>
          <a:p xmlns:a="http://schemas.openxmlformats.org/drawingml/2006/main">
            <a:r>
              <a:t/>
            </a:r>
          </a:p>
          <a:p xmlns:a="http://schemas.openxmlformats.org/drawingml/2006/main">
            <a:r>
              <a:t>EXPLAIN</a:t>
            </a:r>
          </a:p>
          <a:p xmlns:a="http://schemas.openxmlformats.org/drawingml/2006/main">
            <a:r>
              <a:t>Expected: 92 -8. The largest size is 8; the signed error is -8.</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Find a position, then recover the original values</a:t>
            </a:r>
          </a:p>
          <a:p xmlns:a="http://schemas.openxmlformats.org/drawingml/2006/main">
            <a:r>
              <a:t/>
            </a:r>
          </a:p>
          <a:p xmlns:a="http://schemas.openxmlformats.org/drawingml/2006/main">
            <a:r>
              <a:t>CONNECT</a:t>
            </a:r>
          </a:p>
          <a:p xmlns:a="http://schemas.openxmlformats.org/drawingml/2006/main">
            <a:r>
              <a:t>Build on the preceding slide: Keep the reading beside its signed error.</a:t>
            </a:r>
          </a:p>
          <a:p xmlns:a="http://schemas.openxmlformats.org/drawingml/2006/main">
            <a:r>
              <a:t/>
            </a:r>
          </a:p>
          <a:p xmlns:a="http://schemas.openxmlformats.org/drawingml/2006/main">
            <a:r>
              <a:t>LECTURER CUE</a:t>
            </a:r>
          </a:p>
          <a:p xmlns:a="http://schemas.openxmlformats.org/drawingml/2006/main">
            <a:r>
              <a:t>Expected: 92 -8. The largest size is 8; the signed error is -8.</a:t>
            </a:r>
          </a:p>
          <a:p xmlns:a="http://schemas.openxmlformats.org/drawingml/2006/main">
            <a:r>
              <a:t/>
            </a:r>
          </a:p>
          <a:p xmlns:a="http://schemas.openxmlformats.org/drawingml/2006/main">
            <a:r>
              <a:t>Complete practice code:</a:t>
            </a:r>
          </a:p>
          <a:p xmlns:a="http://schemas.openxmlformats.org/drawingml/2006/main">
            <a:r>
              <a:t>readings = [98, 105, 92]</a:t>
            </a:r>
          </a:p>
          <a:p xmlns:a="http://schemas.openxmlformats.org/drawingml/2006/main">
            <a:r>
              <a:t>errors = [-2, 5, -8]</a:t>
            </a:r>
          </a:p>
          <a:p xmlns:a="http://schemas.openxmlformats.org/drawingml/2006/main">
            <a:r>
              <a:t>sizes = [abs(errors[0]), abs(errors[1]), abs(errors[2])]</a:t>
            </a:r>
          </a:p>
          <a:p xmlns:a="http://schemas.openxmlformats.org/drawingml/2006/main">
            <a:r>
              <a:t>position = sizes.index(max(sizes))</a:t>
            </a:r>
          </a:p>
          <a:p xmlns:a="http://schemas.openxmlformats.org/drawingml/2006/main">
            <a:r>
              <a:t>print(readings[position], errors[position])</a:t>
            </a:r>
          </a:p>
          <a:p xmlns:a="http://schemas.openxmlformats.org/drawingml/2006/main">
            <a:r>
              <a:t/>
            </a:r>
          </a:p>
          <a:p xmlns:a="http://schemas.openxmlformats.org/drawingml/2006/main">
            <a:r>
              <a:t>EXPLAIN IN ORDINARY WORDS</a:t>
            </a:r>
          </a:p>
          <a:p xmlns:a="http://schemas.openxmlformats.org/drawingml/2006/main">
            <a:r>
              <a:t>The size of an error is its absolute value. Keep the original sign and the matching reading. Find the position of the largest size, then use that same position in both original lists.</a:t>
            </a:r>
          </a:p>
          <a:p xmlns:a="http://schemas.openxmlformats.org/drawingml/2006/main">
            <a:r>
              <a:t/>
            </a:r>
          </a:p>
          <a:p xmlns:a="http://schemas.openxmlformats.org/drawingml/2006/main">
            <a:r>
              <a:t>CHECK AND EXPECTED ANSWER</a:t>
            </a:r>
          </a:p>
          <a:p xmlns:a="http://schemas.openxmlformats.org/drawingml/2006/main">
            <a:r>
              <a:t>For errors [-2,5,-8], sizes are [2,5,8]. The maximum size is 8 at position 2; the original signed error is -8.</a:t>
            </a:r>
          </a:p>
          <a:p xmlns:a="http://schemas.openxmlformats.org/drawingml/2006/main">
            <a:r>
              <a:t/>
            </a:r>
          </a:p>
          <a:p xmlns:a="http://schemas.openxmlformats.org/drawingml/2006/main">
            <a:r>
              <a:t>IF LEARNERS ARE STUCK</a:t>
            </a:r>
          </a:p>
          <a:p xmlns:a="http://schemas.openxmlformats.org/drawingml/2006/main">
            <a:r>
              <a:t>Draw the readings, signed errors and sizes in aligned columns. Circle the position rather than replacing the signed error with its absolute value.</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You are the function.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Find a position, then recover the original values. Explain why this example is needed before running it.</a:t>
            </a:r>
          </a:p>
          <a:p xmlns:a="http://schemas.openxmlformats.org/drawingml/2006/main">
            <a:r>
              <a:t/>
            </a:r>
          </a:p>
          <a:p xmlns:a="http://schemas.openxmlformats.org/drawingml/2006/main">
            <a:r>
              <a:t>EXPLAIN</a:t>
            </a:r>
          </a:p>
          <a:p xmlns:a="http://schemas.openxmlformats.org/drawingml/2006/main">
            <a:r>
              <a:t>Example: Write triple_value(x). Predict triple_value(5). Then predict safe_share(12, 0).</a:t>
            </a:r>
          </a:p>
          <a:p xmlns:a="http://schemas.openxmlformats.org/drawingml/2006/main">
            <a:r>
              <a:t/>
            </a:r>
          </a:p>
          <a:p xmlns:a="http://schemas.openxmlformats.org/drawingml/2006/main">
            <a:r>
              <a:t>Answer: triple_value returns x * 3. The calls give 15 and None respectively. The guard returns before division when people is zero.</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triple_value returns x * 3. The calls give 15 and None respectively. The guard returns before division when people is zero.</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triple_value returns x * 3. The calls give 15 and None respectively. The guard returns before division when people is zero.</a:t>
            </a:r>
          </a:p>
          <a:p xmlns:a="http://schemas.openxmlformats.org/drawingml/2006/main">
            <a:r>
              <a:t>Which step produced this result? What changes if one input changes?</a:t>
            </a:r>
          </a:p>
          <a:p xmlns:a="http://schemas.openxmlformats.org/drawingml/2006/main">
            <a:r>
              <a:t>CML3113   Week 3   46</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the quantities before the formulas.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quantities before the formulas</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Mass measures matter in kilograms (kg). Weight is a force in newtons (N): mass × gravitational acceleration. The assignment uses g = 9.81 m/s².</a:t>
            </a:r>
          </a:p>
          <a:p xmlns:a="http://schemas.openxmlformats.org/drawingml/2006/main">
            <a:r>
              <a:t/>
            </a:r>
          </a:p>
          <a:p xmlns:a="http://schemas.openxmlformats.org/drawingml/2006/main">
            <a:r>
              <a:t>Power is energy transferred per second, in watts (W). Efficiency in percent = 100 × useful output power / input power.</a:t>
            </a:r>
          </a:p>
          <a:p xmlns:a="http://schemas.openxmlformats.org/drawingml/2006/main">
            <a:r>
              <a:t/>
            </a:r>
          </a:p>
          <a:p xmlns:a="http://schemas.openxmlformats.org/drawingml/2006/main">
            <a:r>
              <a:t>A named constant stores a value kept fixed in the calculation. Uppercase names such as G are a convention, not a Python restriction.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the quantities before the formulas</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Quantities and units.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programme formula.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programme formula</a:t>
            </a:r>
          </a:p>
          <a:p xmlns:a="http://schemas.openxmlformats.org/drawingml/2006/main">
            <a:r>
              <a:t/>
            </a:r>
          </a:p>
          <a:p xmlns:a="http://schemas.openxmlformats.org/drawingml/2006/main">
            <a:r>
              <a:t>CONNECT</a:t>
            </a:r>
          </a:p>
          <a:p xmlns:a="http://schemas.openxmlformats.org/drawingml/2006/main">
            <a:r>
              <a:t>Build on Read the quantities before the formulas. Explain why this example is needed before running it.</a:t>
            </a:r>
          </a:p>
          <a:p xmlns:a="http://schemas.openxmlformats.org/drawingml/2006/main">
            <a:r>
              <a:t/>
            </a:r>
          </a:p>
          <a:p xmlns:a="http://schemas.openxmlformats.org/drawingml/2006/main">
            <a:r>
              <a:t>EXPLAIN</a:t>
            </a:r>
          </a:p>
          <a:p xmlns:a="http://schemas.openxmlformats.org/drawingml/2006/main">
            <a:r>
              <a:t>Hydrostatic pressure (kPa) = density (kg/m³) × 9.81 (m/s²) × depth (m) / 1000. This is the pressure contribution of the fluid column.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programme formula</a:t>
            </a:r>
          </a:p>
          <a:p xmlns:a="http://schemas.openxmlformats.org/drawingml/2006/main">
            <a:r>
              <a:t/>
            </a:r>
          </a:p>
          <a:p xmlns:a="http://schemas.openxmlformats.org/drawingml/2006/main">
            <a:r>
              <a:t>CONNECT</a:t>
            </a:r>
          </a:p>
          <a:p xmlns:a="http://schemas.openxmlformats.org/drawingml/2006/main">
            <a:r>
              <a:t>Build on the preceding slide: Quantities and units.</a:t>
            </a:r>
          </a:p>
          <a:p xmlns:a="http://schemas.openxmlformats.org/drawingml/2006/main">
            <a:r>
              <a:t/>
            </a:r>
          </a:p>
          <a:p xmlns:a="http://schemas.openxmlformats.org/drawingml/2006/main">
            <a:r>
              <a:t>DELIVER THIS SLIDE</a:t>
            </a:r>
          </a:p>
          <a:p xmlns:a="http://schemas.openxmlformats.org/drawingml/2006/main">
            <a:r>
              <a:t>Read the stated purpose, then point to the named example or action on the slide. Ask learners to describe what they will do before moving on. For a break slide, announce the return time; for a section divider, name the next concrete task.</a:t>
            </a:r>
          </a:p>
          <a:p xmlns:a="http://schemas.openxmlformats.org/drawingml/2006/main">
            <a:r>
              <a:t/>
            </a:r>
          </a:p>
          <a:p xmlns:a="http://schemas.openxmlformats.org/drawingml/2006/main">
            <a:r>
              <a:t>NEXT</a:t>
            </a:r>
          </a:p>
          <a:p xmlns:a="http://schemas.openxmlformats.org/drawingml/2006/main">
            <a:r>
              <a:t>Short explainer and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Your programme formula. Explain why this example is needed before running it.</a:t>
            </a:r>
          </a:p>
          <a:p xmlns:a="http://schemas.openxmlformats.org/drawingml/2006/main">
            <a:r>
              <a:t/>
            </a:r>
          </a:p>
          <a:p xmlns:a="http://schemas.openxmlformats.org/drawingml/2006/main">
            <a:r>
              <a:t>EXPLAIN</a:t>
            </a:r>
          </a:p>
          <a:p xmlns:a="http://schemas.openxmlformats.org/drawingml/2006/main">
            <a:r>
              <a:t>A3 has five named tasks, not five additional projects.</a:t>
            </a:r>
          </a:p>
          <a:p xmlns:a="http://schemas.openxmlformats.org/drawingml/2006/main">
            <a:r>
              <a:t/>
            </a:r>
          </a:p>
          <a:p xmlns:a="http://schemas.openxmlformats.org/drawingml/2006/main">
            <a:r>
              <a:t>Read each public prompt and its exact output name.</a:t>
            </a:r>
          </a:p>
          <a:p xmlns:a="http://schemas.openxmlformats.org/drawingml/2006/main">
            <a:r>
              <a:t/>
            </a:r>
          </a:p>
          <a:p xmlns:a="http://schemas.openxmlformats.org/drawingml/2006/main">
            <a:r>
              <a:t>Signed percentage error = 100 × (measured − expected) / expected.</a:t>
            </a:r>
          </a:p>
          <a:p xmlns:a="http://schemas.openxmlformats.org/drawingml/2006/main">
            <a:r>
              <a:t/>
            </a:r>
          </a:p>
          <a:p xmlns:a="http://schemas.openxmlformats.org/drawingml/2006/main">
            <a:r>
              <a:t>Use a nonzero expected value.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After the video.</a:t>
            </a:r>
          </a:p>
          <a:p xmlns:a="http://schemas.openxmlformats.org/drawingml/2006/main">
            <a:r>
              <a:t/>
            </a:r>
          </a:p>
          <a:p xmlns:a="http://schemas.openxmlformats.org/drawingml/2006/main">
            <a:r>
              <a:t>LECTURER CUE</a:t>
            </a:r>
          </a:p>
          <a:p xmlns:a="http://schemas.openxmlformats.org/drawingml/2006/main">
            <a:r>
              <a:t>A3 has five named tasks, not five additional projects. Read each public prompt and its exact output name. Signed percentage error = 100 × (measured − expected) / expected. Use a nonzero expected value. For the cohort task: resistive loss = current² × resistance; slab mass = area × thickness × 2400; hydrostatic pressure in kPa = density × 9.81 × depth / 1000. The brief determines which formula you implement. q4 specifies the zero-input behaviour. q5 uses the supplied six readings; trace them on paper, and use your own percentage-error function. Loops are not required yet.</a:t>
            </a:r>
          </a:p>
          <a:p xmlns:a="http://schemas.openxmlformats.org/drawingml/2006/main">
            <a:r>
              <a:t/>
            </a:r>
          </a:p>
          <a:p xmlns:a="http://schemas.openxmlformats.org/drawingml/2006/main">
            <a:r>
              <a:t>EXPLAIN IN ORDINARY WORDS</a:t>
            </a:r>
          </a:p>
          <a:p xmlns:a="http://schemas.openxmlformats.org/drawingml/2006/main">
            <a:r>
              <a:t>Signed percentage error compares a measurement with its expected reference: (measured - expected) / expected times 100. Positive means above the reference; negative means below it.</a:t>
            </a:r>
          </a:p>
          <a:p xmlns:a="http://schemas.openxmlformats.org/drawingml/2006/main">
            <a:r>
              <a:t/>
            </a:r>
          </a:p>
          <a:p xmlns:a="http://schemas.openxmlformats.org/drawingml/2006/main">
            <a:r>
              <a:t>CHECK AND EXPECTED ANSWER</a:t>
            </a:r>
          </a:p>
          <a:p xmlns:a="http://schemas.openxmlformats.org/drawingml/2006/main">
            <a:r>
              <a:t>For measured 90 and expected 100, the signed error is -10%. Its size is 10%.</a:t>
            </a:r>
          </a:p>
          <a:p xmlns:a="http://schemas.openxmlformats.org/drawingml/2006/main">
            <a:r>
              <a:t/>
            </a:r>
          </a:p>
          <a:p xmlns:a="http://schemas.openxmlformats.org/drawingml/2006/main">
            <a:r>
              <a:t>IF LEARNERS ARE STUCK</a:t>
            </a:r>
          </a:p>
          <a:p xmlns:a="http://schemas.openxmlformats.org/drawingml/2006/main">
            <a:r>
              <a:t>Calculate the difference first, divide by the reference, then multiply by 100. The formula needs a nonzero reference; follow the issued task contract for exceptional inputs.</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Preparing for the assignment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Use the formula for your programme shown earlier. q4 specifies the zero-input behaviour. q5 uses the supplied six readings; trace them on paper, and use your own percentage-error function.</a:t>
            </a:r>
          </a:p>
          <a:p xmlns:a="http://schemas.openxmlformats.org/drawingml/2006/main">
            <a:r>
              <a:t/>
            </a:r>
          </a:p>
          <a:p xmlns:a="http://schemas.openxmlformats.org/drawingml/2006/main">
            <a:r>
              <a:t>Loops are not required yet.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A3 has five named tasks, not five additional projects. Read each public prompt and its exact output name. Signed percentage error = 100 × (measured − expected) / expected. Use a nonzero expected value. For the cohort task: resistive loss = current² × resistance; slab mass = area × thickness × 2400; hydrostatic pressure in kPa = density × 9.81 × depth / 1000. The brief determines which formula you implement. q4 specifies the zero-input behaviour. q5 uses the supplied six readings; trace them on paper, and use your own percentage-error function. Loops are not required yet.</a:t>
            </a:r>
          </a:p>
          <a:p xmlns:a="http://schemas.openxmlformats.org/drawingml/2006/main">
            <a:r>
              <a:t/>
            </a:r>
          </a:p>
          <a:p xmlns:a="http://schemas.openxmlformats.org/drawingml/2006/main">
            <a:r>
              <a:t>EXPLAIN IN ORDINARY WORDS</a:t>
            </a:r>
          </a:p>
          <a:p xmlns:a="http://schemas.openxmlformats.org/drawingml/2006/main">
            <a:r>
              <a:t>A loop repeats its indented instructions for each item. A running total must be initialised before the loop and updated inside it.</a:t>
            </a:r>
          </a:p>
          <a:p xmlns:a="http://schemas.openxmlformats.org/drawingml/2006/main">
            <a:r>
              <a:t/>
            </a:r>
          </a:p>
          <a:p xmlns:a="http://schemas.openxmlformats.org/drawingml/2006/main">
            <a:r>
              <a:t>CHECK AND EXPECTED ANSWER</a:t>
            </a:r>
          </a:p>
          <a:p xmlns:a="http://schemas.openxmlformats.org/drawingml/2006/main">
            <a:r>
              <a:t>For values 2,4,6 and total initially 0, what are the successive totals? 2,6,12.</a:t>
            </a:r>
          </a:p>
          <a:p xmlns:a="http://schemas.openxmlformats.org/drawingml/2006/main">
            <a:r>
              <a:t/>
            </a:r>
          </a:p>
          <a:p xmlns:a="http://schemas.openxmlformats.org/drawingml/2006/main">
            <a:r>
              <a:t>IF LEARNERS ARE STUCK</a:t>
            </a:r>
          </a:p>
          <a:p xmlns:a="http://schemas.openxmlformats.org/drawingml/2006/main">
            <a:r>
              <a:t>Use a trace table with current item and total. Resetting total inside the loop loses earlier additions.</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Units branches and error messages.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Unit conversions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Unit conversions for the assignment</a:t>
            </a:r>
          </a:p>
          <a:p xmlns:a="http://schemas.openxmlformats.org/drawingml/2006/main">
            <a:r>
              <a:t/>
            </a:r>
          </a:p>
          <a:p xmlns:a="http://schemas.openxmlformats.org/drawingml/2006/main">
            <a:r>
              <a:t>CONNECT</a:t>
            </a:r>
          </a:p>
          <a:p xmlns:a="http://schemas.openxmlformats.org/drawingml/2006/main">
            <a:r>
              <a:t>Build on Preparing for the assignment continued. Explain why this example is needed before running it.</a:t>
            </a:r>
          </a:p>
          <a:p xmlns:a="http://schemas.openxmlformats.org/drawingml/2006/main">
            <a:r>
              <a:t/>
            </a:r>
          </a:p>
          <a:p xmlns:a="http://schemas.openxmlformats.org/drawingml/2006/main">
            <a:r>
              <a:t>EXPLAIN</a:t>
            </a:r>
          </a:p>
          <a:p xmlns:a="http://schemas.openxmlformats.org/drawingml/2006/main">
            <a:r>
              <a:t>Millimetres become metres by dividing by 1000: 200 mm is 0.2 m.</a:t>
            </a:r>
          </a:p>
          <a:p xmlns:a="http://schemas.openxmlformats.org/drawingml/2006/main">
            <a:r>
              <a:t/>
            </a:r>
          </a:p>
          <a:p xmlns:a="http://schemas.openxmlformats.org/drawingml/2006/main">
            <a:r>
              <a:t>Percent becomes a fraction by dividing by 100: 75% is 0.75.</a:t>
            </a:r>
          </a:p>
          <a:p xmlns:a="http://schemas.openxmlformats.org/drawingml/2006/main">
            <a:r>
              <a:t/>
            </a:r>
          </a:p>
          <a:p xmlns:a="http://schemas.openxmlformats.org/drawingml/2006/main">
            <a:r>
              <a:t>Only for rotational-speed questions: rpm means revolutions per minute. One revolution is 2π radians and one minute is 60 seconds, so multiply rpm by 2π/60.</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Units branches and error messages</a:t>
            </a:r>
          </a:p>
          <a:p xmlns:a="http://schemas.openxmlformats.org/drawingml/2006/main">
            <a:r>
              <a:t/>
            </a:r>
          </a:p>
          <a:p xmlns:a="http://schemas.openxmlformats.org/drawingml/2006/main">
            <a:r>
              <a:t>CONNECT</a:t>
            </a:r>
          </a:p>
          <a:p xmlns:a="http://schemas.openxmlformats.org/drawingml/2006/main">
            <a:r>
              <a:t>Build on the preceding slide: Preparing for the assignment continued.</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Units branches and error messages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Build on Unit conversions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Open W03_student.ipynb.</a:t>
            </a:r>
          </a:p>
          <a:p xmlns:a="http://schemas.openxmlformats.org/drawingml/2006/main">
            <a:r>
              <a:t/>
            </a:r>
          </a:p>
          <a:p xmlns:a="http://schemas.openxmlformats.org/drawingml/2006/main">
            <a:r>
              <a:t>Read every task and its input units before coding.</a:t>
            </a:r>
          </a:p>
          <a:p xmlns:a="http://schemas.openxmlformats.org/drawingml/2006/main">
            <a:r>
              <a:t/>
            </a:r>
          </a:p>
          <a:p xmlns:a="http://schemas.openxmlformats.org/drawingml/2006/main">
            <a:r>
              <a:t>Keep the required function names and returned outputs.</a:t>
            </a:r>
          </a:p>
          <a:p xmlns:a="http://schemas.openxmlformats.org/drawingml/2006/main">
            <a:r>
              <a:t/>
            </a:r>
          </a:p>
          <a:p xmlns:a="http://schemas.openxmlformats.org/drawingml/2006/main">
            <a:r>
              <a:t>Run the supplied visible checks, then restart and run all.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Build on the preceding slide: Units branches and error messages continued.</a:t>
            </a:r>
          </a:p>
          <a:p xmlns:a="http://schemas.openxmlformats.org/drawingml/2006/main">
            <a:r>
              <a:t/>
            </a:r>
          </a:p>
          <a:p xmlns:a="http://schemas.openxmlformats.org/drawingml/2006/main">
            <a:r>
              <a:t>LECTURER CUE</a:t>
            </a:r>
          </a:p>
          <a:p xmlns:a="http://schemas.openxmlformats.org/drawingml/2006/main">
            <a:r>
              <a:t># W03: variables and functions</a:t>
            </a:r>
          </a:p>
          <a:p xmlns:a="http://schemas.openxmlformats.org/drawingml/2006/main">
            <a:r>
              <a:t>CML3113. Complete each named output. Save as STUDENT_ID_W03.ipynb.</a:t>
            </a:r>
          </a:p>
          <a:p xmlns:a="http://schemas.openxmlformats.org/drawingml/2006/main">
            <a:r>
              <a:t>## q1: 3 marks</a:t>
            </a:r>
          </a:p>
          <a:p xmlns:a="http://schemas.openxmlformats.org/drawingml/2006/main">
            <a:r>
              <a:t>A 40 kg motor sits on a bench. Set weight_n to its weight in newtons, taking g = 9.81.</a:t>
            </a:r>
          </a:p>
          <a:p xmlns:a="http://schemas.openxmlformats.org/drawingml/2006/main">
            <a:r>
              <a:t>## q2: 4 marks</a:t>
            </a:r>
          </a:p>
          <a:p xmlns:a="http://schemas.openxmlformats.org/drawingml/2006/main">
            <a:r>
              <a:t>Write percent_error(measured, expected) returning the signed percent error.</a:t>
            </a:r>
          </a:p>
          <a:p xmlns:a="http://schemas.openxmlformats.org/drawingml/2006/main">
            <a:r>
              <a:t>## q3: 3 marks</a:t>
            </a:r>
          </a:p>
          <a:p xmlns:a="http://schemas.openxmlformats.org/drawingml/2006/main">
            <a:r>
              <a:t>Write mud_pressure(depth_m, density) returning the hydrostatic pressure in kPa.</a:t>
            </a:r>
          </a:p>
          <a:p xmlns:a="http://schemas.openxmlformats.org/drawingml/2006/main">
            <a:r>
              <a:t>## q4: 5 marks</a:t>
            </a:r>
          </a:p>
          <a:p xmlns:a="http://schemas.openxmlformats.org/drawingml/2006/main">
            <a:r>
              <a:t>Write efficiency(out_w, in_w) returning the percentage, and returning None when in_w is zero or negative.</a:t>
            </a:r>
          </a:p>
          <a:p xmlns:a="http://schemas.openxmlformats.org/drawingml/2006/main">
            <a:r>
              <a:t>## q5: 5 marks</a:t>
            </a:r>
          </a:p>
          <a:p xmlns:a="http://schemas.openxmlformats.org/drawingml/2006/main">
            <a:r>
              <a:t>READINGS is given in the notebook. Using your own percent_error against a nominal of 100, set worst_reading to the reading with the largest error by size, and worst_error to that reading's signed percent error.</a:t>
            </a:r>
          </a:p>
          <a:p xmlns:a="http://schemas.openxmlformats.org/drawingml/2006/main">
            <a:r>
              <a:t>You may compare these six readings directly; a loop is not required this week.</a:t>
            </a:r>
          </a:p>
          <a:p xmlns:a="http://schemas.openxmlformats.org/drawingml/2006/main">
            <a:r>
              <a:t>Restart and Run All, then save your named notebook. Practice check results are feedback; the submitted notebook is graded independently.</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q1: 3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q1: 3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q1: 3 marks</a:t>
            </a:r>
          </a:p>
          <a:p xmlns:a="http://schemas.openxmlformats.org/drawingml/2006/main">
            <a:r>
              <a:t/>
            </a:r>
          </a:p>
          <a:p xmlns:a="http://schemas.openxmlformats.org/drawingml/2006/main">
            <a:r>
              <a:t>CONNECT</a:t>
            </a:r>
          </a:p>
          <a:p xmlns:a="http://schemas.openxmlformats.org/drawingml/2006/main">
            <a:r>
              <a:t>Build on Your issued assignment. Explain why this example is needed before running it.</a:t>
            </a:r>
          </a:p>
          <a:p xmlns:a="http://schemas.openxmlformats.org/drawingml/2006/main">
            <a:r>
              <a:t/>
            </a:r>
          </a:p>
          <a:p xmlns:a="http://schemas.openxmlformats.org/drawingml/2006/main">
            <a:r>
              <a:t>EXPLAIN</a:t>
            </a:r>
          </a:p>
          <a:p xmlns:a="http://schemas.openxmlformats.org/drawingml/2006/main">
            <a:r>
              <a:t>A 40 kg motor sits on a bench.</a:t>
            </a:r>
          </a:p>
          <a:p xmlns:a="http://schemas.openxmlformats.org/drawingml/2006/main">
            <a:r>
              <a:t/>
            </a:r>
          </a:p>
          <a:p xmlns:a="http://schemas.openxmlformats.org/drawingml/2006/main">
            <a:r>
              <a:t>Set weight_n to its weight in newtons, taking g = 9.81.</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q1: 3 marks</a:t>
            </a:r>
          </a:p>
          <a:p xmlns:a="http://schemas.openxmlformats.org/drawingml/2006/main">
            <a:r>
              <a:t/>
            </a:r>
          </a:p>
          <a:p xmlns:a="http://schemas.openxmlformats.org/drawingml/2006/main">
            <a:r>
              <a:t>CONNECT</a:t>
            </a:r>
          </a:p>
          <a:p xmlns:a="http://schemas.openxmlformats.org/drawingml/2006/main">
            <a:r>
              <a:t>Build on the preceding slide: Your issued assignment.</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q2: 4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q2: 4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q2: 4 marks</a:t>
            </a:r>
          </a:p>
          <a:p xmlns:a="http://schemas.openxmlformats.org/drawingml/2006/main">
            <a:r>
              <a:t/>
            </a:r>
          </a:p>
          <a:p xmlns:a="http://schemas.openxmlformats.org/drawingml/2006/main">
            <a:r>
              <a:t>CONNECT</a:t>
            </a:r>
          </a:p>
          <a:p xmlns:a="http://schemas.openxmlformats.org/drawingml/2006/main">
            <a:r>
              <a:t>Build on q1: 3 marks. Explain why this example is needed before running it.</a:t>
            </a:r>
          </a:p>
          <a:p xmlns:a="http://schemas.openxmlformats.org/drawingml/2006/main">
            <a:r>
              <a:t/>
            </a:r>
          </a:p>
          <a:p xmlns:a="http://schemas.openxmlformats.org/drawingml/2006/main">
            <a:r>
              <a:t>EXPLAIN</a:t>
            </a:r>
          </a:p>
          <a:p xmlns:a="http://schemas.openxmlformats.org/drawingml/2006/main">
            <a:r>
              <a:t>Write percent_error(measured, expected) returning the signed percent error.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q2: 4 marks</a:t>
            </a:r>
          </a:p>
          <a:p xmlns:a="http://schemas.openxmlformats.org/drawingml/2006/main">
            <a:r>
              <a:t/>
            </a:r>
          </a:p>
          <a:p xmlns:a="http://schemas.openxmlformats.org/drawingml/2006/main">
            <a:r>
              <a:t>CONNECT</a:t>
            </a:r>
          </a:p>
          <a:p xmlns:a="http://schemas.openxmlformats.org/drawingml/2006/main">
            <a:r>
              <a:t>Build on the preceding slide: q1: 3 marks.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Signed percentage error compares a measurement with its expected reference: (measured - expected) / expected times 100. Positive means above the reference; negative means below it.</a:t>
            </a:r>
          </a:p>
          <a:p xmlns:a="http://schemas.openxmlformats.org/drawingml/2006/main">
            <a:r>
              <a:t/>
            </a:r>
          </a:p>
          <a:p xmlns:a="http://schemas.openxmlformats.org/drawingml/2006/main">
            <a:r>
              <a:t>CHECK AND EXPECTED ANSWER</a:t>
            </a:r>
          </a:p>
          <a:p xmlns:a="http://schemas.openxmlformats.org/drawingml/2006/main">
            <a:r>
              <a:t>For measured 90 and expected 100, the signed error is -10%. Its size is 10%.</a:t>
            </a:r>
          </a:p>
          <a:p xmlns:a="http://schemas.openxmlformats.org/drawingml/2006/main">
            <a:r>
              <a:t/>
            </a:r>
          </a:p>
          <a:p xmlns:a="http://schemas.openxmlformats.org/drawingml/2006/main">
            <a:r>
              <a:t>IF LEARNERS ARE STUCK</a:t>
            </a:r>
          </a:p>
          <a:p xmlns:a="http://schemas.openxmlformats.org/drawingml/2006/main">
            <a:r>
              <a:t>Calculate the difference first, divide by the reference, then multiply by 100. The formula needs a nonzero reference; follow the issued task contract for exceptional inputs.</a:t>
            </a:r>
          </a:p>
          <a:p xmlns:a="http://schemas.openxmlformats.org/drawingml/2006/main">
            <a:r>
              <a:t/>
            </a:r>
          </a:p>
          <a:p xmlns:a="http://schemas.openxmlformats.org/drawingml/2006/main">
            <a:r>
              <a:t>NEXT</a:t>
            </a:r>
          </a:p>
          <a:p xmlns:a="http://schemas.openxmlformats.org/drawingml/2006/main">
            <a:r>
              <a:t>q3: 3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q3: 3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q3: 3 marks</a:t>
            </a:r>
          </a:p>
          <a:p xmlns:a="http://schemas.openxmlformats.org/drawingml/2006/main">
            <a:r>
              <a:t/>
            </a:r>
          </a:p>
          <a:p xmlns:a="http://schemas.openxmlformats.org/drawingml/2006/main">
            <a:r>
              <a:t>CONNECT</a:t>
            </a:r>
          </a:p>
          <a:p xmlns:a="http://schemas.openxmlformats.org/drawingml/2006/main">
            <a:r>
              <a:t>Build on q2: 4 marks. Explain why this example is needed before running it.</a:t>
            </a:r>
          </a:p>
          <a:p xmlns:a="http://schemas.openxmlformats.org/drawingml/2006/main">
            <a:r>
              <a:t/>
            </a:r>
          </a:p>
          <a:p xmlns:a="http://schemas.openxmlformats.org/drawingml/2006/main">
            <a:r>
              <a:t>EXPLAIN</a:t>
            </a:r>
          </a:p>
          <a:p xmlns:a="http://schemas.openxmlformats.org/drawingml/2006/main">
            <a:r>
              <a:t>Write mud_pressure(depth_m, density) returning the hydrostatic pressure in kPa.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q3: 3 marks</a:t>
            </a:r>
          </a:p>
          <a:p xmlns:a="http://schemas.openxmlformats.org/drawingml/2006/main">
            <a:r>
              <a:t/>
            </a:r>
          </a:p>
          <a:p xmlns:a="http://schemas.openxmlformats.org/drawingml/2006/main">
            <a:r>
              <a:t>CONNECT</a:t>
            </a:r>
          </a:p>
          <a:p xmlns:a="http://schemas.openxmlformats.org/drawingml/2006/main">
            <a:r>
              <a:t>Build on the preceding slide: q2: 4 marks.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q4: 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q4: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q4: 5 marks</a:t>
            </a:r>
          </a:p>
          <a:p xmlns:a="http://schemas.openxmlformats.org/drawingml/2006/main">
            <a:r>
              <a:t/>
            </a:r>
          </a:p>
          <a:p xmlns:a="http://schemas.openxmlformats.org/drawingml/2006/main">
            <a:r>
              <a:t>CONNECT</a:t>
            </a:r>
          </a:p>
          <a:p xmlns:a="http://schemas.openxmlformats.org/drawingml/2006/main">
            <a:r>
              <a:t>Build on q3: 3 marks. Explain why this example is needed before running it.</a:t>
            </a:r>
          </a:p>
          <a:p xmlns:a="http://schemas.openxmlformats.org/drawingml/2006/main">
            <a:r>
              <a:t/>
            </a:r>
          </a:p>
          <a:p xmlns:a="http://schemas.openxmlformats.org/drawingml/2006/main">
            <a:r>
              <a:t>EXPLAIN</a:t>
            </a:r>
          </a:p>
          <a:p xmlns:a="http://schemas.openxmlformats.org/drawingml/2006/main">
            <a:r>
              <a:t>Write efficiency(out_w, in_w) returning the percentage, and returning None when in_w is zero or negative.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q4: 5 marks</a:t>
            </a:r>
          </a:p>
          <a:p xmlns:a="http://schemas.openxmlformats.org/drawingml/2006/main">
            <a:r>
              <a:t/>
            </a:r>
          </a:p>
          <a:p xmlns:a="http://schemas.openxmlformats.org/drawingml/2006/main">
            <a:r>
              <a:t>CONNECT</a:t>
            </a:r>
          </a:p>
          <a:p xmlns:a="http://schemas.openxmlformats.org/drawingml/2006/main">
            <a:r>
              <a:t>Build on the preceding slide: q3: 3 marks.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q5: 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q5: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q5: 5 marks</a:t>
            </a:r>
          </a:p>
          <a:p xmlns:a="http://schemas.openxmlformats.org/drawingml/2006/main">
            <a:r>
              <a:t/>
            </a:r>
          </a:p>
          <a:p xmlns:a="http://schemas.openxmlformats.org/drawingml/2006/main">
            <a:r>
              <a:t>CONNECT</a:t>
            </a:r>
          </a:p>
          <a:p xmlns:a="http://schemas.openxmlformats.org/drawingml/2006/main">
            <a:r>
              <a:t>Build on q4: 5 marks. Explain why this example is needed before running it.</a:t>
            </a:r>
          </a:p>
          <a:p xmlns:a="http://schemas.openxmlformats.org/drawingml/2006/main">
            <a:r>
              <a:t/>
            </a:r>
          </a:p>
          <a:p xmlns:a="http://schemas.openxmlformats.org/drawingml/2006/main">
            <a:r>
              <a:t>EXPLAIN</a:t>
            </a:r>
          </a:p>
          <a:p xmlns:a="http://schemas.openxmlformats.org/drawingml/2006/main">
            <a:r>
              <a:t>READINGS is given in the notebook.</a:t>
            </a:r>
          </a:p>
          <a:p xmlns:a="http://schemas.openxmlformats.org/drawingml/2006/main">
            <a:r>
              <a:t/>
            </a:r>
          </a:p>
          <a:p xmlns:a="http://schemas.openxmlformats.org/drawingml/2006/main">
            <a:r>
              <a:t>Using your own percent_error against a nominal of 100, set worst_reading to the reading with the largest error by size, and worst_error to that reading's signed percent error.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q5: 5 marks</a:t>
            </a:r>
          </a:p>
          <a:p xmlns:a="http://schemas.openxmlformats.org/drawingml/2006/main">
            <a:r>
              <a:t/>
            </a:r>
          </a:p>
          <a:p xmlns:a="http://schemas.openxmlformats.org/drawingml/2006/main">
            <a:r>
              <a:t>CONNECT</a:t>
            </a:r>
          </a:p>
          <a:p xmlns:a="http://schemas.openxmlformats.org/drawingml/2006/main">
            <a:r>
              <a:t>Build on the preceding slide: q4: 5 marks.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Signed percentage error compares a measurement with its expected reference: (measured - expected) / expected times 100. Positive means above the reference; negative means below it.</a:t>
            </a:r>
          </a:p>
          <a:p xmlns:a="http://schemas.openxmlformats.org/drawingml/2006/main">
            <a:r>
              <a:t/>
            </a:r>
          </a:p>
          <a:p xmlns:a="http://schemas.openxmlformats.org/drawingml/2006/main">
            <a:r>
              <a:t>CHECK AND EXPECTED ANSWER</a:t>
            </a:r>
          </a:p>
          <a:p xmlns:a="http://schemas.openxmlformats.org/drawingml/2006/main">
            <a:r>
              <a:t>For measured 90 and expected 100, the signed error is -10%. Its size is 10%.</a:t>
            </a:r>
          </a:p>
          <a:p xmlns:a="http://schemas.openxmlformats.org/drawingml/2006/main">
            <a:r>
              <a:t/>
            </a:r>
          </a:p>
          <a:p xmlns:a="http://schemas.openxmlformats.org/drawingml/2006/main">
            <a:r>
              <a:t>IF LEARNERS ARE STUCK</a:t>
            </a:r>
          </a:p>
          <a:p xmlns:a="http://schemas.openxmlformats.org/drawingml/2006/main">
            <a:r>
              <a:t>Calculate the difference first, divide by the reference, then multiply by 100. The formula needs a nonzero reference; follow the issued task contract for exceptional inputs.</a:t>
            </a:r>
          </a:p>
          <a:p xmlns:a="http://schemas.openxmlformats.org/drawingml/2006/main">
            <a:r>
              <a:t/>
            </a:r>
          </a:p>
          <a:p xmlns:a="http://schemas.openxmlformats.org/drawingml/2006/main">
            <a:r>
              <a:t>NEXT</a:t>
            </a:r>
          </a:p>
          <a:p xmlns:a="http://schemas.openxmlformats.org/drawingml/2006/main">
            <a:r>
              <a:t>Engineering functions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functions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functions submission</a:t>
            </a:r>
          </a:p>
          <a:p xmlns:a="http://schemas.openxmlformats.org/drawingml/2006/main">
            <a:r>
              <a:t/>
            </a:r>
          </a:p>
          <a:p xmlns:a="http://schemas.openxmlformats.org/drawingml/2006/main">
            <a:r>
              <a:t>CONNECT</a:t>
            </a:r>
          </a:p>
          <a:p xmlns:a="http://schemas.openxmlformats.org/drawingml/2006/main">
            <a:r>
              <a:t>Build on q5: 5 marks. Explain why this example is needed before running it.</a:t>
            </a:r>
          </a:p>
          <a:p xmlns:a="http://schemas.openxmlformats.org/drawingml/2006/main">
            <a:r>
              <a:t/>
            </a:r>
          </a:p>
          <a:p xmlns:a="http://schemas.openxmlformats.org/drawingml/2006/main">
            <a:r>
              <a:t>EXPLAIN</a:t>
            </a:r>
          </a:p>
          <a:p xmlns:a="http://schemas.openxmlformats.org/drawingml/2006/main">
            <a:r>
              <a:t>Opens: 25 Sep 2026, 08:00 Kampala</a:t>
            </a:r>
          </a:p>
          <a:p xmlns:a="http://schemas.openxmlformats.org/drawingml/2006/main">
            <a:r>
              <a:t/>
            </a:r>
          </a:p>
          <a:p xmlns:a="http://schemas.openxmlformats.org/drawingml/2006/main">
            <a:r>
              <a:t>Deadline: 02 Oct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functions submission</a:t>
            </a:r>
          </a:p>
          <a:p xmlns:a="http://schemas.openxmlformats.org/drawingml/2006/main">
            <a:r>
              <a:t/>
            </a:r>
          </a:p>
          <a:p xmlns:a="http://schemas.openxmlformats.org/drawingml/2006/main">
            <a:r>
              <a:t>CONNECT</a:t>
            </a:r>
          </a:p>
          <a:p xmlns:a="http://schemas.openxmlformats.org/drawingml/2006/main">
            <a:r>
              <a:t>Build on the preceding slide: q5: 5 marks.</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3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3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3 quiz</a:t>
            </a:r>
          </a:p>
          <a:p xmlns:a="http://schemas.openxmlformats.org/drawingml/2006/main">
            <a:r>
              <a:t/>
            </a:r>
          </a:p>
          <a:p xmlns:a="http://schemas.openxmlformats.org/drawingml/2006/main">
            <a:r>
              <a:t>CONNECT</a:t>
            </a:r>
          </a:p>
          <a:p xmlns:a="http://schemas.openxmlformats.org/drawingml/2006/main">
            <a:r>
              <a:t>Build on Engineering functions submission.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3 quiz</a:t>
            </a:r>
          </a:p>
          <a:p xmlns:a="http://schemas.openxmlformats.org/drawingml/2006/main">
            <a:r>
              <a:t/>
            </a:r>
          </a:p>
          <a:p xmlns:a="http://schemas.openxmlformats.org/drawingml/2006/main">
            <a:r>
              <a:t>CONNECT</a:t>
            </a:r>
          </a:p>
          <a:p xmlns:a="http://schemas.openxmlformats.org/drawingml/2006/main">
            <a:r>
              <a:t>Build on the preceding slide: Engineering functions submission.</a:t>
            </a:r>
          </a:p>
          <a:p xmlns:a="http://schemas.openxmlformats.org/drawingml/2006/main">
            <a:r>
              <a:t/>
            </a:r>
          </a:p>
          <a:p xmlns:a="http://schemas.openxmlformats.org/drawingml/2006/main">
            <a:r>
              <a:t>LECTURER CUE</a:t>
            </a:r>
          </a:p>
          <a:p xmlns:a="http://schemas.openxmlformats.org/drawingml/2006/main">
            <a:r>
              <a:t>Activate the matching open_W3_CML3113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3 quiz. Explain why this example is needed before running it.</a:t>
            </a:r>
          </a:p>
          <a:p xmlns:a="http://schemas.openxmlformats.org/drawingml/2006/main">
            <a:r>
              <a:t/>
            </a:r>
          </a:p>
          <a:p xmlns:a="http://schemas.openxmlformats.org/drawingml/2006/main">
            <a:r>
              <a:t>EXPLAIN</a:t>
            </a:r>
          </a:p>
          <a:p xmlns:a="http://schemas.openxmlformats.org/drawingml/2006/main">
            <a:r>
              <a:t>You can explain each input, the returned answer and its engineering unit.</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3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Optional revision video.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Build on Revision and submission checklist. Explain why this example is needed before running it.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Corey Schafer</a:t>
            </a:r>
          </a:p>
          <a:p xmlns:a="http://schemas.openxmlformats.org/drawingml/2006/main">
            <a:r>
              <a:t>Python Tutorial for Beginners 3: Integers and Floats</a:t>
            </a:r>
          </a:p>
          <a:p xmlns:a="http://schemas.openxmlformats.org/drawingml/2006/main">
            <a:r>
              <a:t/>
            </a:r>
          </a:p>
          <a:p xmlns:a="http://schemas.openxmlformats.org/drawingml/2006/main">
            <a:r>
              <a:t>Opening 00:00–04:00, suggested four-minute excerpt; preview before class</a:t>
            </a:r>
          </a:p>
          <a:p xmlns:a="http://schemas.openxmlformats.org/drawingml/2006/main">
            <a:r>
              <a:t/>
            </a:r>
          </a:p>
          <a:p xmlns:a="http://schemas.openxmlformats.org/drawingml/2006/main">
            <a:r>
              <a:t>Listening question: How are numbers written and how do arithmetic operators change them?</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Short explainer and discussion</a:t>
            </a:r>
          </a:p>
          <a:p xmlns:a="http://schemas.openxmlformats.org/drawingml/2006/main">
            <a:r>
              <a:t/>
            </a:r>
          </a:p>
          <a:p xmlns:a="http://schemas.openxmlformats.org/drawingml/2006/main">
            <a:r>
              <a:t>CONNECT</a:t>
            </a:r>
          </a:p>
          <a:p xmlns:a="http://schemas.openxmlformats.org/drawingml/2006/main">
            <a:r>
              <a:t>Build on the preceding slide: Your programme formula.</a:t>
            </a:r>
          </a:p>
          <a:p xmlns:a="http://schemas.openxmlformats.org/drawingml/2006/main">
            <a:r>
              <a:t/>
            </a:r>
          </a:p>
          <a:p xmlns:a="http://schemas.openxmlformats.org/drawingml/2006/main">
            <a:r>
              <a:t>LECTURER CUE</a:t>
            </a:r>
          </a:p>
          <a:p xmlns:a="http://schemas.openxmlformats.org/drawingml/2006/main">
            <a:r>
              <a:t>Title/channel and subject confirmed from the original YouTube listing. Exact excerpt content has not been fully watched; keep the local worked example as the fallback.</a:t>
            </a:r>
          </a:p>
          <a:p xmlns:a="http://schemas.openxmlformats.org/drawingml/2006/main">
            <a:r>
              <a:t>After viewing: Calculate 7 / 2 and 7 // 2 in Colab and explain the difference.</a:t>
            </a:r>
          </a:p>
          <a:p xmlns:a="http://schemas.openxmlformats.org/drawingml/2006/main">
            <a:r>
              <a:t>Preview before class and stop after the selected short excerpt. If playback fails, teach the worked example. Video is optional. Source: https://www.youtube.com/watch?v=khKv-8q7YmY</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VIDEO ROUTINE</a:t>
            </a:r>
          </a:p>
          <a:p xmlns:a="http://schemas.openxmlformats.org/drawingml/2006/main">
            <a:r>
              <a:t>Preview the exact link and stated excerpt before class. State the viewing question first, pause after the example, and ask a learner to explain it. If access fails, use the adjacent worked example and discussion rather than spend class time troubleshooting streaming.</a:t>
            </a:r>
          </a:p>
          <a:p xmlns:a="http://schemas.openxmlformats.org/drawingml/2006/main">
            <a:r>
              <a:t/>
            </a:r>
          </a:p>
          <a:p xmlns:a="http://schemas.openxmlformats.org/drawingml/2006/main">
            <a:r>
              <a:t>NEXT</a:t>
            </a:r>
          </a:p>
          <a:p xmlns:a="http://schemas.openxmlformats.org/drawingml/2006/main">
            <a:r>
              <a:t>After the video.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3758b5bd4b34d4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bbc89bc07e2477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79837759cdd471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f90a6d3cf8641e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1f4f4db68834f5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bf17b094b22444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896FFD7-0A42-4CDA-A105-6208A80DF013}"/>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9B41B5E-E14D-4EFF-90DA-55DA850C480F}"/>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D25FE780-59F9-4C1B-BE9B-025C0C545898}"/>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53A4BB27-A688-4A3D-9D94-7A9C95E789B6}"/>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1444E8A2-DD52-4BF5-A8E6-DAC2BA57ACF2}"/>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E7219038-9B49-4E1A-BF02-7E03C778334D}"/>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E0381C1-10AA-4659-8633-BBF9D73080B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EF9736FB-A568-431A-840F-4AFD94B869D1}"/>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BDA21EE2-C8F3-4477-9DF0-949542A14FDE}"/>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9DA2DB6-6379-4515-92EE-DB6450B1892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36628C8F-4521-42BE-AD35-27210B9A3BAD}"/>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57C5FBF-0040-45CE-BD0A-F8F75EFDD7AB}"/>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09620D5-E7BC-4060-8B09-F42AD6DEC325}"/>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44917A0-99DA-437B-8A39-6D305BD1433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9ACDCA4-711C-4F64-9A7C-0AB7B16F014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66ea53b82054c68" /><Relationship Type="http://schemas.openxmlformats.org/officeDocument/2006/relationships/slideLayout" Target="/ppt/slideLayouts/slideLayout1.xml" Id="R3f24669f140f4628" /><Relationship Type="http://schemas.openxmlformats.org/officeDocument/2006/relationships/slideLayout" Target="/ppt/slideLayouts/slideLayout2.xml" Id="R27c6208334c94553" /><Relationship Type="http://schemas.openxmlformats.org/officeDocument/2006/relationships/slideLayout" Target="/ppt/slideLayouts/slideLayout3.xml" Id="R7382f37c3b7748a9" /><Relationship Type="http://schemas.openxmlformats.org/officeDocument/2006/relationships/slideLayout" Target="/ppt/slideLayouts/slideLayout4.xml" Id="Rf643557ac88a4f1d" /><Relationship Type="http://schemas.openxmlformats.org/officeDocument/2006/relationships/slideLayout" Target="/ppt/slideLayouts/slideLayout5.xml" Id="R6b080093cd41498f" /><Relationship Type="http://schemas.openxmlformats.org/officeDocument/2006/relationships/slideLayout" Target="/ppt/slideLayouts/slideLayout6.xml" Id="R7dc92425f016472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f24669f140f4628"/>
    <p:sldLayoutId xmlns:r="http://schemas.openxmlformats.org/officeDocument/2006/relationships" id="2147483650" r:id="R27c6208334c94553"/>
    <p:sldLayoutId xmlns:r="http://schemas.openxmlformats.org/officeDocument/2006/relationships" id="2147483651" r:id="R7382f37c3b7748a9"/>
    <p:sldLayoutId xmlns:r="http://schemas.openxmlformats.org/officeDocument/2006/relationships" id="2147483652" r:id="Rf643557ac88a4f1d"/>
    <p:sldLayoutId xmlns:r="http://schemas.openxmlformats.org/officeDocument/2006/relationships" id="2147483653" r:id="R6b080093cd41498f"/>
    <p:sldLayoutId xmlns:r="http://schemas.openxmlformats.org/officeDocument/2006/relationships" id="2147483654" r:id="R7dc92425f016472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2b1f25459a04cbd" /><Relationship Type="http://schemas.openxmlformats.org/officeDocument/2006/relationships/image" Target="/ppt/media/image.png" Id="R0625ec2eeaad447c" /><Relationship Type="http://schemas.openxmlformats.org/officeDocument/2006/relationships/notesSlide" Target="/ppt/notesSlides/notesSlide1.xml" Id="R256cdd0e2fa5481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b780e8bd2584ad1" /><Relationship Type="http://schemas.openxmlformats.org/officeDocument/2006/relationships/notesSlide" Target="/ppt/notesSlides/notesSlide2.xml" Id="R04fd43838d6a460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2b44af2d0784b21" /><Relationship Type="http://schemas.openxmlformats.org/officeDocument/2006/relationships/notesSlide" Target="/ppt/notesSlides/notesSlide3.xml" Id="R93a1ebb74302435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236ddc890ea42bc" /><Relationship Type="http://schemas.openxmlformats.org/officeDocument/2006/relationships/notesSlide" Target="/ppt/notesSlides/notesSlide4.xml" Id="Rb908000ea3b5409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d404b2fb09d4428" /><Relationship Type="http://schemas.openxmlformats.org/officeDocument/2006/relationships/notesSlide" Target="/ppt/notesSlides/notesSlide5.xml" Id="R19c262890c954c8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20471574a89433b" /><Relationship Type="http://schemas.openxmlformats.org/officeDocument/2006/relationships/notesSlide" Target="/ppt/notesSlides/notesSlide6.xml" Id="Rdaf28f3d0f654c4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bf0855b5bde4202" /><Relationship Type="http://schemas.openxmlformats.org/officeDocument/2006/relationships/image" Target="/ppt/media/image2.png" Id="R12301ab174f047c7" /><Relationship Type="http://schemas.openxmlformats.org/officeDocument/2006/relationships/notesSlide" Target="/ppt/notesSlides/notesSlide7.xml" Id="R5b79fb46879e4c7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48c61a83696431e" /><Relationship Type="http://schemas.openxmlformats.org/officeDocument/2006/relationships/notesSlide" Target="/ppt/notesSlides/notesSlide8.xml" Id="Rbea63761187e4d1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d52ed2b74c5413b" /><Relationship Type="http://schemas.openxmlformats.org/officeDocument/2006/relationships/notesSlide" Target="/ppt/notesSlides/notesSlide9.xml" Id="R963886e2ebb14e0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090abba7e3b4b54" /><Relationship Type="http://schemas.openxmlformats.org/officeDocument/2006/relationships/notesSlide" Target="/ppt/notesSlides/notesSlide10.xml" Id="Re84720e8c46042c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4f13576c7c74200" /><Relationship Type="http://schemas.openxmlformats.org/officeDocument/2006/relationships/notesSlide" Target="/ppt/notesSlides/notesSlide11.xml" Id="R87ea30996ea645d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e0122405ac84191" /><Relationship Type="http://schemas.openxmlformats.org/officeDocument/2006/relationships/notesSlide" Target="/ppt/notesSlides/notesSlide12.xml" Id="R11e20db5bcb04f3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8cb71988d324a38" /><Relationship Type="http://schemas.openxmlformats.org/officeDocument/2006/relationships/notesSlide" Target="/ppt/notesSlides/notesSlide13.xml" Id="R8f3f9e004f954c6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4879154dc444fe6" /><Relationship Type="http://schemas.openxmlformats.org/officeDocument/2006/relationships/notesSlide" Target="/ppt/notesSlides/notesSlide14.xml" Id="R7e85cd0782714f1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fd79ed11e834370" /><Relationship Type="http://schemas.openxmlformats.org/officeDocument/2006/relationships/notesSlide" Target="/ppt/notesSlides/notesSlide15.xml" Id="R8de4b7d69b3e452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267bfe725f54f5c" /><Relationship Type="http://schemas.openxmlformats.org/officeDocument/2006/relationships/notesSlide" Target="/ppt/notesSlides/notesSlide16.xml" Id="R3e4154832f15412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30bbcf887584d01" /><Relationship Type="http://schemas.openxmlformats.org/officeDocument/2006/relationships/notesSlide" Target="/ppt/notesSlides/notesSlide17.xml" Id="Rdb8811cd63ba448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c01b71e21b349d2" /><Relationship Type="http://schemas.openxmlformats.org/officeDocument/2006/relationships/notesSlide" Target="/ppt/notesSlides/notesSlide18.xml" Id="R5ed1c1c072fa476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9b780e947e74a7b" /><Relationship Type="http://schemas.openxmlformats.org/officeDocument/2006/relationships/notesSlide" Target="/ppt/notesSlides/notesSlide19.xml" Id="R5e7728b4d2f04eb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404163fd8474429c" /><Relationship Type="http://schemas.openxmlformats.org/officeDocument/2006/relationships/notesSlide" Target="/ppt/notesSlides/notesSlide20.xml" Id="Rc2ff2a5c69ce4e5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cf6831b9254438e" /><Relationship Type="http://schemas.openxmlformats.org/officeDocument/2006/relationships/notesSlide" Target="/ppt/notesSlides/notesSlide21.xml" Id="R01acd57274ab4b9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d704372f0db24f65" /><Relationship Type="http://schemas.openxmlformats.org/officeDocument/2006/relationships/notesSlide" Target="/ppt/notesSlides/notesSlide22.xml" Id="Re93d5e0c9d664eb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5dd94911a7543a4" /><Relationship Type="http://schemas.openxmlformats.org/officeDocument/2006/relationships/notesSlide" Target="/ppt/notesSlides/notesSlide23.xml" Id="Rec03a5e816b2485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5bfef82246a44d50" /><Relationship Type="http://schemas.openxmlformats.org/officeDocument/2006/relationships/notesSlide" Target="/ppt/notesSlides/notesSlide24.xml" Id="R07a20fda2ffd4ce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35503a4536049be" /><Relationship Type="http://schemas.openxmlformats.org/officeDocument/2006/relationships/notesSlide" Target="/ppt/notesSlides/notesSlide25.xml" Id="Rea67f1d89c2f4c4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3b88f62432f4877" /><Relationship Type="http://schemas.openxmlformats.org/officeDocument/2006/relationships/notesSlide" Target="/ppt/notesSlides/notesSlide26.xml" Id="Rb43bcbe4562d4d1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766beccc386944de" /><Relationship Type="http://schemas.openxmlformats.org/officeDocument/2006/relationships/image" Target="/ppt/media/image3.png" Id="R06c86c6b9614445b" /><Relationship Type="http://schemas.openxmlformats.org/officeDocument/2006/relationships/notesSlide" Target="/ppt/notesSlides/notesSlide27.xml" Id="Refe6f541c1fa4be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41deebe97e2d4f56" /><Relationship Type="http://schemas.openxmlformats.org/officeDocument/2006/relationships/notesSlide" Target="/ppt/notesSlides/notesSlide28.xml" Id="R2399191cf1bb497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2b7fd5f535d74a6d" /><Relationship Type="http://schemas.openxmlformats.org/officeDocument/2006/relationships/notesSlide" Target="/ppt/notesSlides/notesSlide29.xml" Id="Rdf547926284349d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86001330fe2b4d88" /><Relationship Type="http://schemas.openxmlformats.org/officeDocument/2006/relationships/notesSlide" Target="/ppt/notesSlides/notesSlide30.xml" Id="R376b1fa6bc37425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f03762ba14134207" /><Relationship Type="http://schemas.openxmlformats.org/officeDocument/2006/relationships/notesSlide" Target="/ppt/notesSlides/notesSlide31.xml" Id="R56b75de84c694c3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9296214e066b4e3f" /><Relationship Type="http://schemas.openxmlformats.org/officeDocument/2006/relationships/notesSlide" Target="/ppt/notesSlides/notesSlide32.xml" Id="Rd2f8ce1d27b049a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9c116ccada954073" /><Relationship Type="http://schemas.openxmlformats.org/officeDocument/2006/relationships/notesSlide" Target="/ppt/notesSlides/notesSlide33.xml" Id="R9fd383fdffe449c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be85320c6be04647" /><Relationship Type="http://schemas.openxmlformats.org/officeDocument/2006/relationships/notesSlide" Target="/ppt/notesSlides/notesSlide34.xml" Id="R436b7002fc1a4cf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1216f94fb7e54e43" /><Relationship Type="http://schemas.openxmlformats.org/officeDocument/2006/relationships/notesSlide" Target="/ppt/notesSlides/notesSlide35.xml" Id="R96e7250e11904b4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2df395cb6ba948ef" /><Relationship Type="http://schemas.openxmlformats.org/officeDocument/2006/relationships/notesSlide" Target="/ppt/notesSlides/notesSlide36.xml" Id="R68395368344b4a4e"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3c7f213705c244b7" /><Relationship Type="http://schemas.openxmlformats.org/officeDocument/2006/relationships/notesSlide" Target="/ppt/notesSlides/notesSlide37.xml" Id="R08e044dc502344a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cc8f2cf861cb481d" /><Relationship Type="http://schemas.openxmlformats.org/officeDocument/2006/relationships/notesSlide" Target="/ppt/notesSlides/notesSlide38.xml" Id="Rd1e5e525792b4194"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85e18aa5382a46ca" /><Relationship Type="http://schemas.openxmlformats.org/officeDocument/2006/relationships/notesSlide" Target="/ppt/notesSlides/notesSlide39.xml" Id="Rf32a05ca8d4045b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ed2f13c6f97a40ee" /><Relationship Type="http://schemas.openxmlformats.org/officeDocument/2006/relationships/notesSlide" Target="/ppt/notesSlides/notesSlide40.xml" Id="R87fcc0f74e24432a"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f761199a447a40b3" /><Relationship Type="http://schemas.openxmlformats.org/officeDocument/2006/relationships/notesSlide" Target="/ppt/notesSlides/notesSlide41.xml" Id="R63e927a78d1c4dfe"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7d4e7837bcdd4900" /><Relationship Type="http://schemas.openxmlformats.org/officeDocument/2006/relationships/notesSlide" Target="/ppt/notesSlides/notesSlide42.xml" Id="R75d9e783f91d4d2c"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11e32955ccb6412a" /><Relationship Type="http://schemas.openxmlformats.org/officeDocument/2006/relationships/notesSlide" Target="/ppt/notesSlides/notesSlide43.xml" Id="R222c148fbfe74d6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6f5ee8aef54c4a1e" /><Relationship Type="http://schemas.openxmlformats.org/officeDocument/2006/relationships/notesSlide" Target="/ppt/notesSlides/notesSlide44.xml" Id="R9b47e67cca2a41a0"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e5b68e27f69f4755" /><Relationship Type="http://schemas.openxmlformats.org/officeDocument/2006/relationships/notesSlide" Target="/ppt/notesSlides/notesSlide45.xml" Id="R1f232e19eb6041db"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f1ee54ac66f64b19" /><Relationship Type="http://schemas.openxmlformats.org/officeDocument/2006/relationships/notesSlide" Target="/ppt/notesSlides/notesSlide46.xml" Id="R49d5fadce5a8482a"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80dbef8aa5c344a3" /><Relationship Type="http://schemas.openxmlformats.org/officeDocument/2006/relationships/notesSlide" Target="/ppt/notesSlides/notesSlide47.xml" Id="R917227c544ef461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04d3a3d4f00d48d4" /><Relationship Type="http://schemas.openxmlformats.org/officeDocument/2006/relationships/notesSlide" Target="/ppt/notesSlides/notesSlide48.xml" Id="Red8cf94593d34685"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2c099321eba34103" /><Relationship Type="http://schemas.openxmlformats.org/officeDocument/2006/relationships/notesSlide" Target="/ppt/notesSlides/notesSlide49.xml" Id="R4a43438f37114d66"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fdd123984bdd4d13" /><Relationship Type="http://schemas.openxmlformats.org/officeDocument/2006/relationships/notesSlide" Target="/ppt/notesSlides/notesSlide50.xml" Id="Rbaef89adc8a14490"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341ebc8f28d84221" /><Relationship Type="http://schemas.openxmlformats.org/officeDocument/2006/relationships/notesSlide" Target="/ppt/notesSlides/notesSlide51.xml" Id="R0f9b18f6806c4a09"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e1f7afed67fb47bd" /><Relationship Type="http://schemas.openxmlformats.org/officeDocument/2006/relationships/notesSlide" Target="/ppt/notesSlides/notesSlide52.xml" Id="R22e891f32144460c"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54fd8fbf325c4766" /><Relationship Type="http://schemas.openxmlformats.org/officeDocument/2006/relationships/notesSlide" Target="/ppt/notesSlides/notesSlide53.xml" Id="R197e3e49898e4bd6"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188d7bcf6ed8404c" /><Relationship Type="http://schemas.openxmlformats.org/officeDocument/2006/relationships/notesSlide" Target="/ppt/notesSlides/notesSlide54.xml" Id="R8b88359d7b2b4c72"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7812a0f5e9df4462" /><Relationship Type="http://schemas.openxmlformats.org/officeDocument/2006/relationships/notesSlide" Target="/ppt/notesSlides/notesSlide55.xml" Id="Rbca1668ee6094a58"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1fc4abcc942149b0" /><Relationship Type="http://schemas.openxmlformats.org/officeDocument/2006/relationships/hyperlink" Target="https://docs.google.com/forms/d/e/1FAIpQLSfd3oHKoR26Uc9BSQ5WEQosAD4ZnrRHT4JZRQmLrslca35tlA/viewform" TargetMode="External" Id="Rd179dca88d454b21" /><Relationship Type="http://schemas.openxmlformats.org/officeDocument/2006/relationships/notesSlide" Target="/ppt/notesSlides/notesSlide56.xml" Id="R9adfb35b87ee4c85"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28323d69600940fb" /><Relationship Type="http://schemas.openxmlformats.org/officeDocument/2006/relationships/image" Target="/ppt/media/image4.png" Id="Red89fa3e0a374ff1" /><Relationship Type="http://schemas.openxmlformats.org/officeDocument/2006/relationships/hyperlink" Target="https://forms.gle/cDMd8seSsFuXF4658" TargetMode="External" Id="R687a9635c6724f77" /><Relationship Type="http://schemas.openxmlformats.org/officeDocument/2006/relationships/notesSlide" Target="/ppt/notesSlides/notesSlide57.xml" Id="R49f86c6424c1407b"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c5eebed6383249b6" /><Relationship Type="http://schemas.openxmlformats.org/officeDocument/2006/relationships/notesSlide" Target="/ppt/notesSlides/notesSlide58.xml" Id="R9c8ec79db9204a7c"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06a2676b6d4f4e96" /><Relationship Type="http://schemas.openxmlformats.org/officeDocument/2006/relationships/hyperlink" Target="https://www.youtube.com/watch?v=khKv-8q7YmY" TargetMode="External" Id="R68b37c69179e48df" /><Relationship Type="http://schemas.openxmlformats.org/officeDocument/2006/relationships/notesSlide" Target="/ppt/notesSlides/notesSlide59.xml" Id="R17b380d99fef4d3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0625ec2eeaad447c"/>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A3E39CB-240A-46A1-9DC5-EF378EF54C33}"/>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AA33AF8-536B-496E-81EE-D4A4AEDC341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3</a:t>
            </a:r>
          </a:p>
        </p:txBody>
      </p:sp>
      <p:sp>
        <p:nvSpPr>
          <p:cNvPr id="4" name="">
            <a:extLst xmlns:a="http://schemas.openxmlformats.org/drawingml/2006/main">
              <a:ext uri="{FF2B5EF4-FFF2-40B4-BE49-F238E27FC236}">
                <a16:creationId xmlns:a16="http://schemas.microsoft.com/office/drawing/2014/main" id="{F58282BE-289B-429A-BAAA-B68518450CCA}"/>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Python calculations and reusable functions</a:t>
            </a:r>
          </a:p>
        </p:txBody>
      </p:sp>
      <p:sp>
        <p:nvSpPr>
          <p:cNvPr id="5" name="">
            <a:extLst xmlns:a="http://schemas.openxmlformats.org/drawingml/2006/main">
              <a:ext uri="{FF2B5EF4-FFF2-40B4-BE49-F238E27FC236}">
                <a16:creationId xmlns:a16="http://schemas.microsoft.com/office/drawing/2014/main" id="{47681B12-EE24-4180-BDA9-FBDEC707F8D7}"/>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5EB09F48-A768-4D66-8ECA-6051F4BBEF61}"/>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25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1593034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2BB2165-2A8B-47BF-AEC3-A813A2AC65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C115A8-3C42-41A0-8A16-2D09499DD0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33A81217-481F-47C4-9413-A86F45DD84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8490A4ED-8EEC-4622-9E82-92CFD63334F8}"/>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85E4EE-C883-4212-A23A-61C370026E4B}"/>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F394C4A7-005E-4693-BEB1-180FC17C014C}"/>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Python values and arithmetic symbols.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Define a function, call it and check its inputs.</a:t>
            </a:r>
          </a:p>
        </p:txBody>
      </p:sp>
      <p:sp>
        <p:nvSpPr>
          <p:cNvPr id="7" name="">
            <a:extLst xmlns:a="http://schemas.openxmlformats.org/drawingml/2006/main">
              <a:ext uri="{FF2B5EF4-FFF2-40B4-BE49-F238E27FC236}">
                <a16:creationId xmlns:a16="http://schemas.microsoft.com/office/drawing/2014/main" id="{95935896-7C91-4F31-AE0C-CCDAA0C0FB2D}"/>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AC7F60AC-646C-4C1F-9B99-6581406DDE49}"/>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each input, the returned answer and its engineering unit.</a:t>
            </a:r>
          </a:p>
        </p:txBody>
      </p:sp>
      <p:sp>
        <p:nvSpPr>
          <p:cNvPr id="9" name="">
            <a:extLst xmlns:a="http://schemas.openxmlformats.org/drawingml/2006/main">
              <a:ext uri="{FF2B5EF4-FFF2-40B4-BE49-F238E27FC236}">
                <a16:creationId xmlns:a16="http://schemas.microsoft.com/office/drawing/2014/main" id="{3FDF693B-6F92-4B69-9A30-A704FA7EE9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a:t>
            </a:r>
          </a:p>
        </p:txBody>
      </p:sp>
    </p:spTree>
    <p:extLst>
      <p:ext uri="{BB962C8B-B14F-4D97-AF65-F5344CB8AC3E}">
        <p14:creationId xmlns:p14="http://schemas.microsoft.com/office/powerpoint/2010/main" val="1670008641"/>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17FA2DA-B331-4925-8B4E-CA455DD78C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50D1B9FF-828F-4F21-896D-8C73BDD530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EEB8D99F-DD71-4312-A4F1-F738AE87E4DC}"/>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C5BEE311-65CD-49FE-BE4A-5B3F1E544BE5}"/>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Run print(2 + 3). Which part is the instruction, and which part is the output?</a:t>
            </a:r>
          </a:p>
        </p:txBody>
      </p:sp>
      <p:sp>
        <p:nvSpPr>
          <p:cNvPr id="5" name="">
            <a:extLst xmlns:a="http://schemas.openxmlformats.org/drawingml/2006/main">
              <a:ext uri="{FF2B5EF4-FFF2-40B4-BE49-F238E27FC236}">
                <a16:creationId xmlns:a16="http://schemas.microsoft.com/office/drawing/2014/main" id="{9D308C9A-0015-4EC6-A7BF-9BE504E5088B}"/>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BD738FAB-6692-44C2-AAC5-2303308541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3   3</a:t>
            </a:r>
          </a:p>
        </p:txBody>
      </p:sp>
    </p:spTree>
    <p:extLst>
      <p:ext uri="{BB962C8B-B14F-4D97-AF65-F5344CB8AC3E}">
        <p14:creationId xmlns:p14="http://schemas.microsoft.com/office/powerpoint/2010/main" val="199770077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3748FDD-FC99-499A-924F-FEA12AD07D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88B8AD-438E-4488-AD2F-4FE6436C2A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472AA0E2-9D20-4435-AAD2-FB95D098FF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007676F6-6569-4CF7-90CE-3062F8B125F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42B791D-298C-40D4-9375-495307616C0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pump team records temperature to investigate operation.</a:t>
            </a:r>
          </a:p>
        </p:txBody>
      </p:sp>
      <p:sp>
        <p:nvSpPr>
          <p:cNvPr id="6" name="">
            <a:extLst xmlns:a="http://schemas.openxmlformats.org/drawingml/2006/main">
              <a:ext uri="{FF2B5EF4-FFF2-40B4-BE49-F238E27FC236}">
                <a16:creationId xmlns:a16="http://schemas.microsoft.com/office/drawing/2014/main" id="{673B6EBE-2D51-4C51-B4CF-CECFAC6AFA8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29D9625-2489-497A-B867-154567BDB3B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Mining students can relate this to a dewatering pump; petroleum students to a transfer pump.</a:t>
            </a:r>
          </a:p>
        </p:txBody>
      </p:sp>
      <p:sp>
        <p:nvSpPr>
          <p:cNvPr id="8" name="">
            <a:extLst xmlns:a="http://schemas.openxmlformats.org/drawingml/2006/main">
              <a:ext uri="{FF2B5EF4-FFF2-40B4-BE49-F238E27FC236}">
                <a16:creationId xmlns:a16="http://schemas.microsoft.com/office/drawing/2014/main" id="{832BB72C-8B77-42DB-9EE7-C1861968964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EC80A09-1C36-425C-B00A-0CB5D8AFCF2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teaching examples, not operating limits.</a:t>
            </a:r>
          </a:p>
        </p:txBody>
      </p:sp>
      <p:sp>
        <p:nvSpPr>
          <p:cNvPr id="10" name="">
            <a:extLst xmlns:a="http://schemas.openxmlformats.org/drawingml/2006/main">
              <a:ext uri="{FF2B5EF4-FFF2-40B4-BE49-F238E27FC236}">
                <a16:creationId xmlns:a16="http://schemas.microsoft.com/office/drawing/2014/main" id="{971AA581-CF29-4CE0-A757-242C18B08C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a:t>
            </a:r>
          </a:p>
        </p:txBody>
      </p:sp>
    </p:spTree>
    <p:extLst>
      <p:ext uri="{BB962C8B-B14F-4D97-AF65-F5344CB8AC3E}">
        <p14:creationId xmlns:p14="http://schemas.microsoft.com/office/powerpoint/2010/main" val="153079209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6B497F8-7751-4951-A713-786338109E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B0E368-9DB8-4A6A-9F19-0FA3E1D2CC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19BAF73-9FFF-479E-9820-50D6718455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F89765FD-58F4-4007-B42F-0E9A63A88F5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26260E-EEE6-4916-843D-6D943CB5E79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379E75F9-89E2-4BD2-914C-DA3BC6ACC85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51A862DF-7738-4A1F-8368-8BFFB5F590A1}"/>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628D878-BC78-46D6-A764-2FD1EA4A230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C8F4CD84-B8D0-4360-8CF7-9E17EEC08A1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03EBBF59-F1A7-471D-87F5-2CE379FE65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a:t>
            </a:r>
          </a:p>
        </p:txBody>
      </p:sp>
    </p:spTree>
    <p:extLst>
      <p:ext uri="{BB962C8B-B14F-4D97-AF65-F5344CB8AC3E}">
        <p14:creationId xmlns:p14="http://schemas.microsoft.com/office/powerpoint/2010/main" val="174300738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5EAC955-32B2-4407-8393-3B3CA33D55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8649569-A48B-4306-8F9E-28849292F6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527EA65-F2D1-4A63-8292-763BEF80F2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337B2CA3-595F-4125-9244-B72554A07AB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AE3AE6-DA0F-4F91-B838-DFDC220B22A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0FBBDD11-E22C-4500-831C-281A3D7E3FD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name referring to a value. In length_m = 5, the right side is evaluated and assigned to length_m.</a:t>
            </a:r>
          </a:p>
        </p:txBody>
      </p:sp>
      <p:sp>
        <p:nvSpPr>
          <p:cNvPr id="7" name="">
            <a:extLst xmlns:a="http://schemas.openxmlformats.org/drawingml/2006/main">
              <a:ext uri="{FF2B5EF4-FFF2-40B4-BE49-F238E27FC236}">
                <a16:creationId xmlns:a16="http://schemas.microsoft.com/office/drawing/2014/main" id="{C60E5F75-0541-4B26-B293-C61A3829072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7DDD4B0-5AE5-4074-873E-1F1AFC3A818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int, float, str, bool</a:t>
            </a:r>
          </a:p>
        </p:txBody>
      </p:sp>
      <p:sp>
        <p:nvSpPr>
          <p:cNvPr id="9" name="">
            <a:extLst xmlns:a="http://schemas.openxmlformats.org/drawingml/2006/main">
              <a:ext uri="{FF2B5EF4-FFF2-40B4-BE49-F238E27FC236}">
                <a16:creationId xmlns:a16="http://schemas.microsoft.com/office/drawing/2014/main" id="{79B47088-B820-463B-BE34-82E75C6D6F2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int represents whole numbers; float represents approximate real numbers such as 2.5; str is text in quotes; bool is True or False.</a:t>
            </a:r>
          </a:p>
        </p:txBody>
      </p:sp>
      <p:sp>
        <p:nvSpPr>
          <p:cNvPr id="10" name="">
            <a:extLst xmlns:a="http://schemas.openxmlformats.org/drawingml/2006/main">
              <a:ext uri="{FF2B5EF4-FFF2-40B4-BE49-F238E27FC236}">
                <a16:creationId xmlns:a16="http://schemas.microsoft.com/office/drawing/2014/main" id="{CB7A5EF9-4D27-4D55-BA39-8F39ABC0B4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a:t>
            </a:r>
          </a:p>
        </p:txBody>
      </p:sp>
    </p:spTree>
    <p:extLst>
      <p:ext uri="{BB962C8B-B14F-4D97-AF65-F5344CB8AC3E}">
        <p14:creationId xmlns:p14="http://schemas.microsoft.com/office/powerpoint/2010/main" val="78428547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7407131-5395-44FA-8819-5C06EAE324FE}"/>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29B3BA-6A34-4C6B-AED3-1EFEAB7327B8}"/>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variable refers to its current value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12301ab174f047c7"/>
          <a:stretch xmlns:a="http://schemas.openxmlformats.org/drawingml/2006/main"/>
        </p:blipFill>
        <p:spPr>
          <a:xfrm xmlns:a="http://schemas.openxmlformats.org/drawingml/2006/main">
            <a:off x="381186" y="1057275"/>
            <a:ext cx="11429628"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AC044B6-99E2-49EC-91C2-BAF32F5EC44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B9CEE3A-2891-4FFF-90DF-D0A97C8086A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After reassignment, thickness refers to 0.20.</a:t>
            </a:r>
          </a:p>
        </p:txBody>
      </p:sp>
      <p:sp>
        <p:nvSpPr>
          <p:cNvPr id="6" name="">
            <a:extLst xmlns:a="http://schemas.openxmlformats.org/drawingml/2006/main">
              <a:ext uri="{FF2B5EF4-FFF2-40B4-BE49-F238E27FC236}">
                <a16:creationId xmlns:a16="http://schemas.microsoft.com/office/drawing/2014/main" id="{F66DF5A0-C75F-465B-9D36-F16D044254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a:t>
            </a:r>
          </a:p>
        </p:txBody>
      </p:sp>
    </p:spTree>
    <p:extLst>
      <p:ext uri="{BB962C8B-B14F-4D97-AF65-F5344CB8AC3E}">
        <p14:creationId xmlns:p14="http://schemas.microsoft.com/office/powerpoint/2010/main" val="170625391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2BBD19A-B75D-4637-86C0-5A65FB9B9B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7564610-E54C-401E-B125-D3FD9FC8F3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0CB6DE3-302D-4922-820D-E5DAD6761F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Python values have types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int</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Whole number</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float</a:t>
                      </a:r>
                    </a:p>
                  </a:txBody>
                  <a:tcPr marL="91440" marR="91440" marT="45720" marB="45720">
                    <a:solidFill>
                      <a:srgbClr val="FFFFFF"/>
                    </a:solidFill>
                  </a:tcPr>
                </a:tc>
                <a:tc>
                  <a:txBody>
                    <a:bodyPr/>
                    <a:lstStyle/>
                    <a:p>
                      <a:r>
                        <a:rPr sz="2025" b="0">
                          <a:solidFill>
                            <a:srgbClr val="1C3144"/>
                          </a:solidFill>
                          <a:latin typeface="Calibri"/>
                          <a:ea typeface="Calibri"/>
                          <a:cs typeface="Calibri"/>
                        </a:rPr>
                        <a:t>3.5</a:t>
                      </a:r>
                    </a:p>
                  </a:txBody>
                  <a:tcPr marL="91440" marR="91440" marT="45720" marB="45720">
                    <a:solidFill>
                      <a:srgbClr val="FFFFFF"/>
                    </a:solidFill>
                  </a:tcPr>
                </a:tc>
                <a:tc>
                  <a:txBody>
                    <a:bodyPr/>
                    <a:lstStyle/>
                    <a:p>
                      <a:r>
                        <a:rPr sz="2025" b="0">
                          <a:solidFill>
                            <a:srgbClr val="1C3144"/>
                          </a:solidFill>
                          <a:latin typeface="Calibri"/>
                          <a:ea typeface="Calibri"/>
                          <a:cs typeface="Calibri"/>
                        </a:rPr>
                        <a:t>Decimal approximation</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str</a:t>
                      </a:r>
                    </a:p>
                  </a:txBody>
                  <a:tcPr marL="91440" marR="91440" marT="45720" marB="45720">
                    <a:solidFill>
                      <a:srgbClr val="EEF3F6"/>
                    </a:solidFill>
                  </a:tcPr>
                </a:tc>
                <a:tc>
                  <a:txBody>
                    <a:bodyPr/>
                    <a:lstStyle/>
                    <a:p>
                      <a:r>
                        <a:rPr sz="2025" b="0">
                          <a:solidFill>
                            <a:srgbClr val="1C3144"/>
                          </a:solidFill>
                          <a:latin typeface="Calibri"/>
                          <a:ea typeface="Calibri"/>
                          <a:cs typeface="Calibri"/>
                        </a:rPr>
                        <a:t>"3.5"</a:t>
                      </a:r>
                    </a:p>
                  </a:txBody>
                  <a:tcPr marL="91440" marR="91440" marT="45720" marB="45720">
                    <a:solidFill>
                      <a:srgbClr val="EEF3F6"/>
                    </a:solidFill>
                  </a:tcPr>
                </a:tc>
                <a:tc>
                  <a:txBody>
                    <a:bodyPr/>
                    <a:lstStyle/>
                    <a:p>
                      <a:r>
                        <a:rPr sz="2025" b="0">
                          <a:solidFill>
                            <a:srgbClr val="1C3144"/>
                          </a:solidFill>
                          <a:latin typeface="Calibri"/>
                          <a:ea typeface="Calibri"/>
                          <a:cs typeface="Calibri"/>
                        </a:rPr>
                        <a:t>Text in quotes</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bool</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Logical value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NoneType</a:t>
                      </a:r>
                    </a:p>
                  </a:txBody>
                  <a:tcPr marL="91440" marR="91440" marT="45720" marB="45720">
                    <a:solidFill>
                      <a:srgbClr val="EEF3F6"/>
                    </a:solidFill>
                  </a:tcPr>
                </a:tc>
                <a:tc>
                  <a:txBody>
                    <a:bodyPr/>
                    <a:lstStyle/>
                    <a:p>
                      <a:r>
                        <a:rPr sz="2025" b="0">
                          <a:solidFill>
                            <a:srgbClr val="1C3144"/>
                          </a:solidFill>
                          <a:latin typeface="Calibri"/>
                          <a:ea typeface="Calibri"/>
                          <a:cs typeface="Calibri"/>
                        </a:rPr>
                        <a:t>None</a:t>
                      </a:r>
                    </a:p>
                  </a:txBody>
                  <a:tcPr marL="91440" marR="91440" marT="45720" marB="45720">
                    <a:solidFill>
                      <a:srgbClr val="EEF3F6"/>
                    </a:solidFill>
                  </a:tcPr>
                </a:tc>
                <a:tc>
                  <a:txBody>
                    <a:bodyPr/>
                    <a:lstStyle/>
                    <a:p>
                      <a:r>
                        <a:rPr sz="2025" b="0">
                          <a:solidFill>
                            <a:srgbClr val="1C3144"/>
                          </a:solidFill>
                          <a:latin typeface="Calibri"/>
                          <a:ea typeface="Calibri"/>
                          <a:cs typeface="Calibri"/>
                        </a:rPr>
                        <a:t>No value supplied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5B19CDE4-53EC-4DE2-8BA7-6414A4492975}"/>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3.5 + 2 gives 5.5. "3.5" + "2" joins text into "3.52".</a:t>
            </a:r>
          </a:p>
        </p:txBody>
      </p:sp>
      <p:sp>
        <p:nvSpPr>
          <p:cNvPr id="6" name="">
            <a:extLst xmlns:a="http://schemas.openxmlformats.org/drawingml/2006/main">
              <a:ext uri="{FF2B5EF4-FFF2-40B4-BE49-F238E27FC236}">
                <a16:creationId xmlns:a16="http://schemas.microsoft.com/office/drawing/2014/main" id="{95D10248-6209-45C3-8F80-D073962DC8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a:t>
            </a:r>
          </a:p>
        </p:txBody>
      </p:sp>
    </p:spTree>
    <p:extLst>
      <p:ext uri="{BB962C8B-B14F-4D97-AF65-F5344CB8AC3E}">
        <p14:creationId xmlns:p14="http://schemas.microsoft.com/office/powerpoint/2010/main" val="52132957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45578D8-A0C8-4E80-A5F0-0444DF55CB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7287D4C-E02F-4A60-9470-E41E6D9A32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F96EE55-2A44-46F7-8AAF-C4188309BF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Operator</a:t>
            </a:r>
          </a:p>
        </p:txBody>
      </p:sp>
      <p:sp>
        <p:nvSpPr>
          <p:cNvPr id="4" name="">
            <a:extLst xmlns:a="http://schemas.openxmlformats.org/drawingml/2006/main">
              <a:ext uri="{FF2B5EF4-FFF2-40B4-BE49-F238E27FC236}">
                <a16:creationId xmlns:a16="http://schemas.microsoft.com/office/drawing/2014/main" id="{DCCBC4FD-F087-4B9B-ADE8-B9B7581E7EB8}"/>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C3C018A-F927-4C3B-BBB1-4F4502DB65B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Operator</a:t>
            </a:r>
          </a:p>
        </p:txBody>
      </p:sp>
      <p:sp>
        <p:nvSpPr>
          <p:cNvPr id="6" name="">
            <a:extLst xmlns:a="http://schemas.openxmlformats.org/drawingml/2006/main">
              <a:ext uri="{FF2B5EF4-FFF2-40B4-BE49-F238E27FC236}">
                <a16:creationId xmlns:a16="http://schemas.microsoft.com/office/drawing/2014/main" id="{319CD88F-352F-412B-9701-6D5B0C631E5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symbol for an operation: + adds, - subtracts, * multiplies, / divides, ** raises to a power. // floors a quotient, so -5 // 2 is -3.</a:t>
            </a:r>
          </a:p>
        </p:txBody>
      </p:sp>
      <p:sp>
        <p:nvSpPr>
          <p:cNvPr id="7" name="">
            <a:extLst xmlns:a="http://schemas.openxmlformats.org/drawingml/2006/main">
              <a:ext uri="{FF2B5EF4-FFF2-40B4-BE49-F238E27FC236}">
                <a16:creationId xmlns:a16="http://schemas.microsoft.com/office/drawing/2014/main" id="{CFFD4557-03DE-41EE-B174-FB880F0B45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9</a:t>
            </a:r>
          </a:p>
        </p:txBody>
      </p:sp>
    </p:spTree>
    <p:extLst>
      <p:ext uri="{BB962C8B-B14F-4D97-AF65-F5344CB8AC3E}">
        <p14:creationId xmlns:p14="http://schemas.microsoft.com/office/powerpoint/2010/main" val="131822346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193754-11CF-4BD9-8B58-926D37F9CD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E7F405D-3A3F-47A3-A5A9-5E9F08680E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5502FD2-35EB-40BB-AAC2-57B5532F1B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function call before using it</a:t>
            </a:r>
          </a:p>
        </p:txBody>
      </p:sp>
      <p:sp>
        <p:nvSpPr>
          <p:cNvPr id="4" name="">
            <a:extLst xmlns:a="http://schemas.openxmlformats.org/drawingml/2006/main">
              <a:ext uri="{FF2B5EF4-FFF2-40B4-BE49-F238E27FC236}">
                <a16:creationId xmlns:a16="http://schemas.microsoft.com/office/drawing/2014/main" id="{4B24B1CC-DEBB-49E1-85EB-75F28EDD6FE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6C901F-AD88-464F-8CDE-E7BA3C934EF7}"/>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 built-in function</a:t>
            </a:r>
          </a:p>
        </p:txBody>
      </p:sp>
      <p:sp>
        <p:nvSpPr>
          <p:cNvPr id="6" name="">
            <a:extLst xmlns:a="http://schemas.openxmlformats.org/drawingml/2006/main">
              <a:ext uri="{FF2B5EF4-FFF2-40B4-BE49-F238E27FC236}">
                <a16:creationId xmlns:a16="http://schemas.microsoft.com/office/drawing/2014/main" id="{D2B787CF-CF2B-499E-92B0-83B8F65F8D0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already provides tools such as print, type and float. A function call asks a named tool to do its work: print(3) displays 3.</a:t>
            </a:r>
          </a:p>
        </p:txBody>
      </p:sp>
      <p:sp>
        <p:nvSpPr>
          <p:cNvPr id="7" name="">
            <a:extLst xmlns:a="http://schemas.openxmlformats.org/drawingml/2006/main">
              <a:ext uri="{FF2B5EF4-FFF2-40B4-BE49-F238E27FC236}">
                <a16:creationId xmlns:a16="http://schemas.microsoft.com/office/drawing/2014/main" id="{2E846D06-A9BD-4C0F-9213-9DF4228F7A7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9BB6CB4-C640-4E03-9361-02FD7C6A2020}"/>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Parentheses, quotes and comments</a:t>
            </a:r>
          </a:p>
        </p:txBody>
      </p:sp>
      <p:sp>
        <p:nvSpPr>
          <p:cNvPr id="9" name="">
            <a:extLst xmlns:a="http://schemas.openxmlformats.org/drawingml/2006/main">
              <a:ext uri="{FF2B5EF4-FFF2-40B4-BE49-F238E27FC236}">
                <a16:creationId xmlns:a16="http://schemas.microsoft.com/office/drawing/2014/main" id="{4D5FE959-1438-4B44-A9DF-B79AC07FCB6F}"/>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Parentheses hold the inputs to a call. Quotes make text: "3.5" is text; float("3.5") converts it to a number. # starts a comment that Python does not run.</a:t>
            </a:r>
          </a:p>
        </p:txBody>
      </p:sp>
      <p:sp>
        <p:nvSpPr>
          <p:cNvPr id="10" name="">
            <a:extLst xmlns:a="http://schemas.openxmlformats.org/drawingml/2006/main">
              <a:ext uri="{FF2B5EF4-FFF2-40B4-BE49-F238E27FC236}">
                <a16:creationId xmlns:a16="http://schemas.microsoft.com/office/drawing/2014/main" id="{474BD10C-25B3-4E8F-B4AA-E18C0DE7A6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10</a:t>
            </a:r>
          </a:p>
        </p:txBody>
      </p:sp>
    </p:spTree>
    <p:extLst>
      <p:ext uri="{BB962C8B-B14F-4D97-AF65-F5344CB8AC3E}">
        <p14:creationId xmlns:p14="http://schemas.microsoft.com/office/powerpoint/2010/main" val="19634578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949F6AD-3974-477F-B45F-AA6E6C6B6E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047246-8B76-44FA-BADC-9D0CA78659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F82D1C6-79DB-44E4-BDC5-99376AE21C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Python symbols</a:t>
            </a:r>
          </a:p>
        </p:txBody>
      </p:sp>
      <p:sp>
        <p:nvSpPr>
          <p:cNvPr id="4" name="">
            <a:extLst xmlns:a="http://schemas.openxmlformats.org/drawingml/2006/main">
              <a:ext uri="{FF2B5EF4-FFF2-40B4-BE49-F238E27FC236}">
                <a16:creationId xmlns:a16="http://schemas.microsoft.com/office/drawing/2014/main" id="{41A27B06-900C-4AA7-AB16-1E919B73B7E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143D6CF-CD52-45D7-95CB-50DA756EC7C6}"/>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a value to a name. == compares two values.</a:t>
            </a:r>
          </a:p>
        </p:txBody>
      </p:sp>
      <p:sp>
        <p:nvSpPr>
          <p:cNvPr id="6" name="">
            <a:extLst xmlns:a="http://schemas.openxmlformats.org/drawingml/2006/main">
              <a:ext uri="{FF2B5EF4-FFF2-40B4-BE49-F238E27FC236}">
                <a16:creationId xmlns:a16="http://schemas.microsoft.com/office/drawing/2014/main" id="{66980D22-06FD-4F78-857E-BF79A11A647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D7D954A-580E-4CF2-9649-E8741C3A63D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multiplies. / divides. ** raises to a power.</a:t>
            </a:r>
          </a:p>
        </p:txBody>
      </p:sp>
      <p:sp>
        <p:nvSpPr>
          <p:cNvPr id="8" name="">
            <a:extLst xmlns:a="http://schemas.openxmlformats.org/drawingml/2006/main">
              <a:ext uri="{FF2B5EF4-FFF2-40B4-BE49-F238E27FC236}">
                <a16:creationId xmlns:a16="http://schemas.microsoft.com/office/drawing/2014/main" id="{8A2A285E-BF9F-4F5B-94BA-99E36924DC7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064A9E2-F1BA-49B0-9538-32F4AA9E9FE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pass inputs when we call a function.</a:t>
            </a:r>
          </a:p>
        </p:txBody>
      </p:sp>
      <p:sp>
        <p:nvSpPr>
          <p:cNvPr id="10" name="">
            <a:extLst xmlns:a="http://schemas.openxmlformats.org/drawingml/2006/main">
              <a:ext uri="{FF2B5EF4-FFF2-40B4-BE49-F238E27FC236}">
                <a16:creationId xmlns:a16="http://schemas.microsoft.com/office/drawing/2014/main" id="{369ED55A-D894-4509-860B-BFC013A5096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AC4A9D5-13CF-42B6-9559-1FFB74C819C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Indented lines belong to the block above them.</a:t>
            </a:r>
          </a:p>
        </p:txBody>
      </p:sp>
      <p:sp>
        <p:nvSpPr>
          <p:cNvPr id="12" name="">
            <a:extLst xmlns:a="http://schemas.openxmlformats.org/drawingml/2006/main">
              <a:ext uri="{FF2B5EF4-FFF2-40B4-BE49-F238E27FC236}">
                <a16:creationId xmlns:a16="http://schemas.microsoft.com/office/drawing/2014/main" id="{AF43498A-BCA4-4583-AAF3-E804B0C323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11</a:t>
            </a:r>
          </a:p>
        </p:txBody>
      </p:sp>
    </p:spTree>
    <p:extLst>
      <p:ext uri="{BB962C8B-B14F-4D97-AF65-F5344CB8AC3E}">
        <p14:creationId xmlns:p14="http://schemas.microsoft.com/office/powerpoint/2010/main" val="178426556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54592C7-7D39-45D0-8FC8-20654B2BBF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6C74CB-E09F-403C-A39A-9095E17F7F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7CEA1AA-52E6-4B1E-B272-005CF184A2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Names, conversion and comments</a:t>
            </a:r>
          </a:p>
        </p:txBody>
      </p:sp>
      <p:sp>
        <p:nvSpPr>
          <p:cNvPr id="4" name="">
            <a:extLst xmlns:a="http://schemas.openxmlformats.org/drawingml/2006/main">
              <a:ext uri="{FF2B5EF4-FFF2-40B4-BE49-F238E27FC236}">
                <a16:creationId xmlns:a16="http://schemas.microsoft.com/office/drawing/2014/main" id="{175D784A-E746-4F3C-AA0F-056970D2C7B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8BF1543-F931-4783-B8B5-3EAAFBA30A1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length_m = float("3.5")  # text to number</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width_m = 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area_m2 = length_m * width_m</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print(area_m2)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print(type(length_m))</a:t>
            </a:r>
          </a:p>
        </p:txBody>
      </p:sp>
      <p:sp>
        <p:nvSpPr>
          <p:cNvPr id="6" name="">
            <a:extLst xmlns:a="http://schemas.openxmlformats.org/drawingml/2006/main">
              <a:ext uri="{FF2B5EF4-FFF2-40B4-BE49-F238E27FC236}">
                <a16:creationId xmlns:a16="http://schemas.microsoft.com/office/drawing/2014/main" id="{F97015E1-9BDF-4C4D-B516-D9D39F33ED1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2B4D749-D573-4237-AC4B-B411F30FEF4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21DE8146-BAB9-4300-B262-A45025D6AB5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type reports the kind of value: for example, float.</a:t>
            </a:r>
          </a:p>
        </p:txBody>
      </p:sp>
      <p:sp>
        <p:nvSpPr>
          <p:cNvPr id="9" name="">
            <a:extLst xmlns:a="http://schemas.openxmlformats.org/drawingml/2006/main">
              <a:ext uri="{FF2B5EF4-FFF2-40B4-BE49-F238E27FC236}">
                <a16:creationId xmlns:a16="http://schemas.microsoft.com/office/drawing/2014/main" id="{73FB62D8-6EB3-4ACF-83D9-5EB1EA69ACE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1F815B5D-0317-4425-80A7-B03AC71018E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type(...) reports the kind of value. &lt;class 'float'&gt; means a floating-point number.</a:t>
            </a:r>
          </a:p>
        </p:txBody>
      </p:sp>
      <p:sp>
        <p:nvSpPr>
          <p:cNvPr id="11" name="">
            <a:extLst xmlns:a="http://schemas.openxmlformats.org/drawingml/2006/main">
              <a:ext uri="{FF2B5EF4-FFF2-40B4-BE49-F238E27FC236}">
                <a16:creationId xmlns:a16="http://schemas.microsoft.com/office/drawing/2014/main" id="{B5127601-7EC8-4CEE-85D3-554BBB950A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12</a:t>
            </a:r>
          </a:p>
        </p:txBody>
      </p:sp>
    </p:spTree>
    <p:extLst>
      <p:ext uri="{BB962C8B-B14F-4D97-AF65-F5344CB8AC3E}">
        <p14:creationId xmlns:p14="http://schemas.microsoft.com/office/powerpoint/2010/main" val="70924098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0B886E1-1DB6-4005-BD01-5D5355ED24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57EA13-0D06-4813-A0E6-10075D343C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1C3BF73-6BC5-459B-8407-4A0284113E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continuation</a:t>
            </a:r>
          </a:p>
        </p:txBody>
      </p:sp>
      <p:sp>
        <p:nvSpPr>
          <p:cNvPr id="4" name="">
            <a:extLst xmlns:a="http://schemas.openxmlformats.org/drawingml/2006/main">
              <a:ext uri="{FF2B5EF4-FFF2-40B4-BE49-F238E27FC236}">
                <a16:creationId xmlns:a16="http://schemas.microsoft.com/office/drawing/2014/main" id="{40D8D589-61B3-4BFB-BBD3-13FECBDA898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303C669-E68F-4B80-B867-984B561329E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7B79610-6163-4D1E-9FDD-EB358236248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From slides 1–12: values have types, variables name values, = assigns, and print displays a result. float("3.5") converts text to a number. We now use those ideas in calculations and functions.</a:t>
            </a:r>
          </a:p>
        </p:txBody>
      </p:sp>
      <p:sp>
        <p:nvSpPr>
          <p:cNvPr id="7" name="">
            <a:extLst xmlns:a="http://schemas.openxmlformats.org/drawingml/2006/main">
              <a:ext uri="{FF2B5EF4-FFF2-40B4-BE49-F238E27FC236}">
                <a16:creationId xmlns:a16="http://schemas.microsoft.com/office/drawing/2014/main" id="{F601D7B5-FC77-4CE2-8836-9033FD75165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Next: arithmetic, decisions, functions, then lists and the A3 brief.</a:t>
            </a:r>
          </a:p>
        </p:txBody>
      </p:sp>
      <p:sp>
        <p:nvSpPr>
          <p:cNvPr id="8" name="">
            <a:extLst xmlns:a="http://schemas.openxmlformats.org/drawingml/2006/main">
              <a:ext uri="{FF2B5EF4-FFF2-40B4-BE49-F238E27FC236}">
                <a16:creationId xmlns:a16="http://schemas.microsoft.com/office/drawing/2014/main" id="{E8BBADFE-68FE-4414-94E6-AE25E6FE24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13</a:t>
            </a:r>
          </a:p>
        </p:txBody>
      </p:sp>
    </p:spTree>
    <p:extLst>
      <p:ext uri="{BB962C8B-B14F-4D97-AF65-F5344CB8AC3E}">
        <p14:creationId xmlns:p14="http://schemas.microsoft.com/office/powerpoint/2010/main" val="191796873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E2A35F-8A27-4D96-94DF-781F624B75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4E5080-E836-43F4-9837-6AE78ECDF4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D1D5322-8496-42E3-A53C-D60E33B6F1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Arithmetic that needs care</a:t>
            </a:r>
          </a:p>
        </p:txBody>
      </p:sp>
      <p:sp>
        <p:nvSpPr>
          <p:cNvPr id="4" name="">
            <a:extLst xmlns:a="http://schemas.openxmlformats.org/drawingml/2006/main">
              <a:ext uri="{FF2B5EF4-FFF2-40B4-BE49-F238E27FC236}">
                <a16:creationId xmlns:a16="http://schemas.microsoft.com/office/drawing/2014/main" id="{295FB42E-08CC-4CE7-9785-362D694DB65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BAE455F-22BB-45CA-8BEE-42BBA6DA979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run first: (2 + 4) / 2 is 3.0. Without them, division runs before addition: 2 + 4 / 2 is 4.0.</a:t>
            </a:r>
          </a:p>
        </p:txBody>
      </p:sp>
      <p:sp>
        <p:nvSpPr>
          <p:cNvPr id="6" name="">
            <a:extLst xmlns:a="http://schemas.openxmlformats.org/drawingml/2006/main">
              <a:ext uri="{FF2B5EF4-FFF2-40B4-BE49-F238E27FC236}">
                <a16:creationId xmlns:a16="http://schemas.microsoft.com/office/drawing/2014/main" id="{06F291AE-EBB9-427D-81B5-6FA777547CB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E8E9F7E-31A2-433C-8333-F8E4D69B3BC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gives a quotient. // rounds that quotient down: 7 // 2 is 3 and -7 // 2 is -4.</a:t>
            </a:r>
          </a:p>
        </p:txBody>
      </p:sp>
      <p:sp>
        <p:nvSpPr>
          <p:cNvPr id="8" name="">
            <a:extLst xmlns:a="http://schemas.openxmlformats.org/drawingml/2006/main">
              <a:ext uri="{FF2B5EF4-FFF2-40B4-BE49-F238E27FC236}">
                <a16:creationId xmlns:a16="http://schemas.microsoft.com/office/drawing/2014/main" id="{384A3064-1586-4731-8746-87AE0CD2ED5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83ABEC-135D-4261-8F71-5083C4DD530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Many decimal fractions are approximate in a computer. A tolerance is an allowed difference, for example 0.01 m when checking two calculated lengths.</a:t>
            </a:r>
          </a:p>
        </p:txBody>
      </p:sp>
      <p:sp>
        <p:nvSpPr>
          <p:cNvPr id="10" name="">
            <a:extLst xmlns:a="http://schemas.openxmlformats.org/drawingml/2006/main">
              <a:ext uri="{FF2B5EF4-FFF2-40B4-BE49-F238E27FC236}">
                <a16:creationId xmlns:a16="http://schemas.microsoft.com/office/drawing/2014/main" id="{2162E7FB-0E83-41C1-93A9-A05D3D1101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14</a:t>
            </a:r>
          </a:p>
        </p:txBody>
      </p:sp>
    </p:spTree>
    <p:extLst>
      <p:ext uri="{BB962C8B-B14F-4D97-AF65-F5344CB8AC3E}">
        <p14:creationId xmlns:p14="http://schemas.microsoft.com/office/powerpoint/2010/main" val="89460297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0CB9AE4-34AB-4F2B-832C-A5BA181F9B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6D3E1A9-2822-4746-BFC0-DF613F818C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28F66E2-40E0-497D-A7AC-709A2FB22C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in your programme example</a:t>
            </a:r>
          </a:p>
        </p:txBody>
      </p:sp>
      <p:sp>
        <p:nvSpPr>
          <p:cNvPr id="4" name="">
            <a:extLst xmlns:a="http://schemas.openxmlformats.org/drawingml/2006/main">
              <a:ext uri="{FF2B5EF4-FFF2-40B4-BE49-F238E27FC236}">
                <a16:creationId xmlns:a16="http://schemas.microsoft.com/office/drawing/2014/main" id="{43C6258E-5536-4BDA-8628-BDD6260CF2A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0D35C4-02C6-4DC7-AB4A-7E4F02A3140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Volume, time and flow</a:t>
            </a:r>
          </a:p>
        </p:txBody>
      </p:sp>
      <p:sp>
        <p:nvSpPr>
          <p:cNvPr id="6" name="">
            <a:extLst xmlns:a="http://schemas.openxmlformats.org/drawingml/2006/main">
              <a:ext uri="{FF2B5EF4-FFF2-40B4-BE49-F238E27FC236}">
                <a16:creationId xmlns:a16="http://schemas.microsoft.com/office/drawing/2014/main" id="{55DF4790-6EC1-4BE2-B051-57FB84DBC1B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Volume is how much space fluid occupies, here in litres. Time is measured in seconds. Flow is volume divided by time, in litres per second.</a:t>
            </a:r>
          </a:p>
        </p:txBody>
      </p:sp>
      <p:sp>
        <p:nvSpPr>
          <p:cNvPr id="7" name="">
            <a:extLst xmlns:a="http://schemas.openxmlformats.org/drawingml/2006/main">
              <a:ext uri="{FF2B5EF4-FFF2-40B4-BE49-F238E27FC236}">
                <a16:creationId xmlns:a16="http://schemas.microsoft.com/office/drawing/2014/main" id="{93188F24-2F39-476A-A996-10298247265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C3F449C-6668-43F4-8DEF-24323249134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Density and pressure</a:t>
            </a:r>
          </a:p>
        </p:txBody>
      </p:sp>
      <p:sp>
        <p:nvSpPr>
          <p:cNvPr id="9" name="">
            <a:extLst xmlns:a="http://schemas.openxmlformats.org/drawingml/2006/main">
              <a:ext uri="{FF2B5EF4-FFF2-40B4-BE49-F238E27FC236}">
                <a16:creationId xmlns:a16="http://schemas.microsoft.com/office/drawing/2014/main" id="{399CD036-327E-42E2-BAA8-A6AE1599AA3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Density is mass per volume in kg/m³. Pressure is force per area, measured in pascals (Pa). 1000 Pa = 1 kPa. Fluid density and depth determine the hydrostatic contribution.</a:t>
            </a:r>
          </a:p>
        </p:txBody>
      </p:sp>
      <p:sp>
        <p:nvSpPr>
          <p:cNvPr id="10" name="">
            <a:extLst xmlns:a="http://schemas.openxmlformats.org/drawingml/2006/main">
              <a:ext uri="{FF2B5EF4-FFF2-40B4-BE49-F238E27FC236}">
                <a16:creationId xmlns:a16="http://schemas.microsoft.com/office/drawing/2014/main" id="{91E3417C-048D-4C62-B6B9-D59DD7EC65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15</a:t>
            </a:r>
          </a:p>
        </p:txBody>
      </p:sp>
    </p:spTree>
    <p:extLst>
      <p:ext uri="{BB962C8B-B14F-4D97-AF65-F5344CB8AC3E}">
        <p14:creationId xmlns:p14="http://schemas.microsoft.com/office/powerpoint/2010/main" val="61096979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85C775-F0CA-4605-A5EB-EEA1E52550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6B3096-37D5-4E44-9706-6B74EFBB91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337A81D-C720-461A-82A5-310654B39F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calculation for your programme</a:t>
            </a:r>
          </a:p>
        </p:txBody>
      </p:sp>
      <p:sp>
        <p:nvSpPr>
          <p:cNvPr id="4" name="">
            <a:extLst xmlns:a="http://schemas.openxmlformats.org/drawingml/2006/main">
              <a:ext uri="{FF2B5EF4-FFF2-40B4-BE49-F238E27FC236}">
                <a16:creationId xmlns:a16="http://schemas.microsoft.com/office/drawing/2014/main" id="{9D33AC2E-B5F4-4701-8B13-D6265FC71EC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47D746B-1568-4AAE-B447-73020E70F0E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4DFF6E6-1D69-4574-8F09-85DA1AAE541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pump moves 18 litres in 3 seconds.</a:t>
            </a:r>
          </a:p>
        </p:txBody>
      </p:sp>
      <p:sp>
        <p:nvSpPr>
          <p:cNvPr id="7" name="">
            <a:extLst xmlns:a="http://schemas.openxmlformats.org/drawingml/2006/main">
              <a:ext uri="{FF2B5EF4-FFF2-40B4-BE49-F238E27FC236}">
                <a16:creationId xmlns:a16="http://schemas.microsoft.com/office/drawing/2014/main" id="{D89EAC74-93CD-4706-8BB3-DDBFDE2D4E6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Flow = volume ÷ time = 6 litres per second.</a:t>
            </a:r>
          </a:p>
        </p:txBody>
      </p:sp>
      <p:sp>
        <p:nvSpPr>
          <p:cNvPr id="8" name="">
            <a:extLst xmlns:a="http://schemas.openxmlformats.org/drawingml/2006/main">
              <a:ext uri="{FF2B5EF4-FFF2-40B4-BE49-F238E27FC236}">
                <a16:creationId xmlns:a16="http://schemas.microsoft.com/office/drawing/2014/main" id="{662BB47D-9126-4597-A13F-45934E21D5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16</a:t>
            </a:r>
          </a:p>
        </p:txBody>
      </p:sp>
    </p:spTree>
    <p:extLst>
      <p:ext uri="{BB962C8B-B14F-4D97-AF65-F5344CB8AC3E}">
        <p14:creationId xmlns:p14="http://schemas.microsoft.com/office/powerpoint/2010/main" val="213533117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CA4870A-F0AB-46C7-A914-A217A8FCB6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0268BD-DF94-42FE-916D-791D2032AF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842CCCE-0BB5-4734-B014-FF87EB3B17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calculation in Python</a:t>
            </a:r>
          </a:p>
        </p:txBody>
      </p:sp>
      <p:sp>
        <p:nvSpPr>
          <p:cNvPr id="4" name="">
            <a:extLst xmlns:a="http://schemas.openxmlformats.org/drawingml/2006/main">
              <a:ext uri="{FF2B5EF4-FFF2-40B4-BE49-F238E27FC236}">
                <a16:creationId xmlns:a16="http://schemas.microsoft.com/office/drawing/2014/main" id="{1442E3DA-EB44-4DE3-8C9F-C6DCD03CD8E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3685D5-A65A-4C65-978E-343C60F4D52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volume_l =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time_s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flow_l_s = volume_l / time_s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print(flow_l_s)</a:t>
            </a:r>
          </a:p>
        </p:txBody>
      </p:sp>
      <p:sp>
        <p:nvSpPr>
          <p:cNvPr id="6" name="">
            <a:extLst xmlns:a="http://schemas.openxmlformats.org/drawingml/2006/main">
              <a:ext uri="{FF2B5EF4-FFF2-40B4-BE49-F238E27FC236}">
                <a16:creationId xmlns:a16="http://schemas.microsoft.com/office/drawing/2014/main" id="{E8470F9C-F0D2-47FC-B565-5798DC20091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031FA04-779D-42B0-A090-0CABEDBE0EC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CFC1AE60-40B2-428C-820A-5783DDC0E1D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97BA9942-CDDD-453B-996D-42912045917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A21C24FA-F2C4-41D2-B30A-22F90372EE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17</a:t>
            </a:r>
          </a:p>
        </p:txBody>
      </p:sp>
    </p:spTree>
    <p:extLst>
      <p:ext uri="{BB962C8B-B14F-4D97-AF65-F5344CB8AC3E}">
        <p14:creationId xmlns:p14="http://schemas.microsoft.com/office/powerpoint/2010/main" val="101660470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DB1D9C7-2B00-4DDA-9B54-361CA598A6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C22160-F23C-43B3-8540-97B6DF6BBC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FBCD083-65ED-4D6E-B343-2702893292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 error message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Message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check</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NameError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A name is unavailable</a:t>
                      </a:r>
                    </a:p>
                  </a:txBody>
                  <a:tcPr marL="91440" marR="91440" marT="45720" marB="45720">
                    <a:solidFill>
                      <a:srgbClr val="EEF3F6"/>
                    </a:solidFill>
                  </a:tcPr>
                </a:tc>
                <a:tc>
                  <a:txBody>
                    <a:bodyPr/>
                    <a:lstStyle/>
                    <a:p>
                      <a:r>
                        <a:rPr sz="2025" b="0">
                          <a:solidFill>
                            <a:srgbClr val="1C3144"/>
                          </a:solidFill>
                          <a:latin typeface="Calibri"/>
                          <a:ea typeface="Calibri"/>
                          <a:cs typeface="Calibri"/>
                        </a:rPr>
                        <a:t>Spelling and run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TypeError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Wrong kind of value</a:t>
                      </a:r>
                    </a:p>
                  </a:txBody>
                  <a:tcPr marL="91440" marR="91440" marT="45720" marB="45720">
                    <a:solidFill>
                      <a:srgbClr val="FFFFFF"/>
                    </a:solidFill>
                  </a:tcPr>
                </a:tc>
                <a:tc>
                  <a:txBody>
                    <a:bodyPr/>
                    <a:lstStyle/>
                    <a:p>
                      <a:r>
                        <a:rPr sz="2025" b="0">
                          <a:solidFill>
                            <a:srgbClr val="1C3144"/>
                          </a:solidFill>
                          <a:latin typeface="Calibri"/>
                          <a:ea typeface="Calibri"/>
                          <a:cs typeface="Calibri"/>
                        </a:rPr>
                        <a:t>Text versus number</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SyntaxError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Python cannot parse a line</a:t>
                      </a:r>
                    </a:p>
                  </a:txBody>
                  <a:tcPr marL="91440" marR="91440" marT="45720" marB="45720">
                    <a:solidFill>
                      <a:srgbClr val="EEF3F6"/>
                    </a:solidFill>
                  </a:tcPr>
                </a:tc>
                <a:tc>
                  <a:txBody>
                    <a:bodyPr/>
                    <a:lstStyle/>
                    <a:p>
                      <a:r>
                        <a:rPr sz="2025" b="0">
                          <a:solidFill>
                            <a:srgbClr val="1C3144"/>
                          </a:solidFill>
                          <a:latin typeface="Calibri"/>
                          <a:ea typeface="Calibri"/>
                          <a:cs typeface="Calibri"/>
                        </a:rPr>
                        <a:t>Quotes, brackets, colon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IndentationError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Block spacing is invalid</a:t>
                      </a:r>
                    </a:p>
                  </a:txBody>
                  <a:tcPr marL="91440" marR="91440" marT="45720" marB="45720">
                    <a:solidFill>
                      <a:srgbClr val="FFFFFF"/>
                    </a:solidFill>
                  </a:tcPr>
                </a:tc>
                <a:tc>
                  <a:txBody>
                    <a:bodyPr/>
                    <a:lstStyle/>
                    <a:p>
                      <a:r>
                        <a:rPr sz="2025" b="0">
                          <a:solidFill>
                            <a:srgbClr val="1C3144"/>
                          </a:solidFill>
                          <a:latin typeface="Calibri"/>
                          <a:ea typeface="Calibri"/>
                          <a:cs typeface="Calibri"/>
                        </a:rPr>
                        <a:t>Consistent spaces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ED27007-C0AE-48AA-A409-609CDA238B6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last line names the error. The indicated line shows where Python noticed it.</a:t>
            </a:r>
          </a:p>
        </p:txBody>
      </p:sp>
      <p:sp>
        <p:nvSpPr>
          <p:cNvPr id="6" name="">
            <a:extLst xmlns:a="http://schemas.openxmlformats.org/drawingml/2006/main">
              <a:ext uri="{FF2B5EF4-FFF2-40B4-BE49-F238E27FC236}">
                <a16:creationId xmlns:a16="http://schemas.microsoft.com/office/drawing/2014/main" id="{2335FC23-3332-4304-BED9-CA12413531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18</a:t>
            </a:r>
          </a:p>
        </p:txBody>
      </p:sp>
    </p:spTree>
    <p:extLst>
      <p:ext uri="{BB962C8B-B14F-4D97-AF65-F5344CB8AC3E}">
        <p14:creationId xmlns:p14="http://schemas.microsoft.com/office/powerpoint/2010/main" val="49606034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FAE569D-7294-4E06-AB78-F37D630407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0361CA-6879-44B0-AED9-B046FA6B78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CDC6D55-5E67-4E5B-8446-9709601C00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Condition</a:t>
            </a:r>
          </a:p>
        </p:txBody>
      </p:sp>
      <p:sp>
        <p:nvSpPr>
          <p:cNvPr id="4" name="">
            <a:extLst xmlns:a="http://schemas.openxmlformats.org/drawingml/2006/main">
              <a:ext uri="{FF2B5EF4-FFF2-40B4-BE49-F238E27FC236}">
                <a16:creationId xmlns:a16="http://schemas.microsoft.com/office/drawing/2014/main" id="{CF632320-0D49-4DDA-96AD-2A623B24FCD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9B76E6D-D98B-43A8-AD24-62DBD7A1DE0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Condition</a:t>
            </a:r>
          </a:p>
        </p:txBody>
      </p:sp>
      <p:sp>
        <p:nvSpPr>
          <p:cNvPr id="6" name="">
            <a:extLst xmlns:a="http://schemas.openxmlformats.org/drawingml/2006/main">
              <a:ext uri="{FF2B5EF4-FFF2-40B4-BE49-F238E27FC236}">
                <a16:creationId xmlns:a16="http://schemas.microsoft.com/office/drawing/2014/main" id="{DD96FDBE-7AFD-4737-8119-778DCA769815}"/>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True/False question. == compares equality; = assigns. if selects a branch; else handles the other case. A colon starts an indented block.</a:t>
            </a:r>
          </a:p>
        </p:txBody>
      </p:sp>
      <p:sp>
        <p:nvSpPr>
          <p:cNvPr id="7" name="">
            <a:extLst xmlns:a="http://schemas.openxmlformats.org/drawingml/2006/main">
              <a:ext uri="{FF2B5EF4-FFF2-40B4-BE49-F238E27FC236}">
                <a16:creationId xmlns:a16="http://schemas.microsoft.com/office/drawing/2014/main" id="{245EE72D-0C6E-40C1-9ABE-FF73345A7C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19</a:t>
            </a:r>
          </a:p>
        </p:txBody>
      </p:sp>
    </p:spTree>
    <p:extLst>
      <p:ext uri="{BB962C8B-B14F-4D97-AF65-F5344CB8AC3E}">
        <p14:creationId xmlns:p14="http://schemas.microsoft.com/office/powerpoint/2010/main" val="214491743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B0E29B0-80B7-402B-988E-93A591F797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177259C-D100-4234-97FA-F84058B99A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E982A1E-3A1B-4082-8CE7-894A074819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Comparison and logic</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result</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Are values equal?</a:t>
                      </a:r>
                    </a:p>
                  </a:txBody>
                  <a:tcPr marL="91440" marR="91440" marT="45720" marB="45720">
                    <a:solidFill>
                      <a:srgbClr val="EEF3F6"/>
                    </a:solidFill>
                  </a:tcPr>
                </a:tc>
                <a:tc>
                  <a:txBody>
                    <a:bodyPr/>
                    <a:lstStyle/>
                    <a:p>
                      <a:r>
                        <a:rPr sz="2025" b="0">
                          <a:solidFill>
                            <a:srgbClr val="1C3144"/>
                          </a:solidFill>
                          <a:latin typeface="Calibri"/>
                          <a:ea typeface="Calibri"/>
                          <a:cs typeface="Calibri"/>
                        </a:rPr>
                        <a:t>3 == 3 is True</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Are values different?</a:t>
                      </a:r>
                    </a:p>
                  </a:txBody>
                  <a:tcPr marL="91440" marR="91440" marT="45720" marB="45720">
                    <a:solidFill>
                      <a:srgbClr val="FFFFFF"/>
                    </a:solidFill>
                  </a:tcPr>
                </a:tc>
                <a:tc>
                  <a:txBody>
                    <a:bodyPr/>
                    <a:lstStyle/>
                    <a:p>
                      <a:r>
                        <a:rPr sz="2025" b="0">
                          <a:solidFill>
                            <a:srgbClr val="1C3144"/>
                          </a:solidFill>
                          <a:latin typeface="Calibri"/>
                          <a:ea typeface="Calibri"/>
                          <a:cs typeface="Calibri"/>
                        </a:rPr>
                        <a:t>3 != 4 is True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&gt;=</a:t>
                      </a:r>
                    </a:p>
                  </a:txBody>
                  <a:tcPr marL="91440" marR="91440" marT="45720" marB="45720">
                    <a:solidFill>
                      <a:srgbClr val="EEF3F6"/>
                    </a:solidFill>
                  </a:tcPr>
                </a:tc>
                <a:tc>
                  <a:txBody>
                    <a:bodyPr/>
                    <a:lstStyle/>
                    <a:p>
                      <a:r>
                        <a:rPr sz="2025" b="0">
                          <a:solidFill>
                            <a:srgbClr val="1C3144"/>
                          </a:solidFill>
                          <a:latin typeface="Calibri"/>
                          <a:ea typeface="Calibri"/>
                          <a:cs typeface="Calibri"/>
                        </a:rPr>
                        <a:t>At least the limit?</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3 is True</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and</a:t>
                      </a:r>
                    </a:p>
                  </a:txBody>
                  <a:tcPr marL="91440" marR="91440" marT="45720" marB="45720">
                    <a:solidFill>
                      <a:srgbClr val="FFFFFF"/>
                    </a:solidFill>
                  </a:tcPr>
                </a:tc>
                <a:tc>
                  <a:txBody>
                    <a:bodyPr/>
                    <a:lstStyle/>
                    <a:p>
                      <a:r>
                        <a:rPr sz="2025" b="0">
                          <a:solidFill>
                            <a:srgbClr val="1C3144"/>
                          </a:solidFill>
                          <a:latin typeface="Calibri"/>
                          <a:ea typeface="Calibri"/>
                          <a:cs typeface="Calibri"/>
                        </a:rPr>
                        <a:t>Are both conditions 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and False is False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or</a:t>
                      </a:r>
                    </a:p>
                  </a:txBody>
                  <a:tcPr marL="91440" marR="91440" marT="45720" marB="45720">
                    <a:solidFill>
                      <a:srgbClr val="EEF3F6"/>
                    </a:solidFill>
                  </a:tcPr>
                </a:tc>
                <a:tc>
                  <a:txBody>
                    <a:bodyPr/>
                    <a:lstStyle/>
                    <a:p>
                      <a:r>
                        <a:rPr sz="2025" b="0">
                          <a:solidFill>
                            <a:srgbClr val="1C3144"/>
                          </a:solidFill>
                          <a:latin typeface="Calibri"/>
                          <a:ea typeface="Calibri"/>
                          <a:cs typeface="Calibri"/>
                        </a:rPr>
                        <a:t>Is either condition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 or False is True</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3CDEA598-BA14-463F-A287-5EE36FB0AD4F}"/>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&gt; means greater than; &lt; means less than; &lt;= means at most. = assigns, while == compares. True and False are Boolean values.</a:t>
            </a:r>
          </a:p>
        </p:txBody>
      </p:sp>
      <p:sp>
        <p:nvSpPr>
          <p:cNvPr id="6" name="">
            <a:extLst xmlns:a="http://schemas.openxmlformats.org/drawingml/2006/main">
              <a:ext uri="{FF2B5EF4-FFF2-40B4-BE49-F238E27FC236}">
                <a16:creationId xmlns:a16="http://schemas.microsoft.com/office/drawing/2014/main" id="{8E397D3A-FC8C-4EAE-A5CE-0D4F65EBB0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20</a:t>
            </a:r>
          </a:p>
        </p:txBody>
      </p:sp>
    </p:spTree>
    <p:extLst>
      <p:ext uri="{BB962C8B-B14F-4D97-AF65-F5344CB8AC3E}">
        <p14:creationId xmlns:p14="http://schemas.microsoft.com/office/powerpoint/2010/main" val="43912472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3211A81-99AF-426A-BC02-7DEE4DF054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BA5965-3AD5-480F-A527-3015FBF83A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EF64F72-E2CE-4696-A76C-E9C1947471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decision needs a colon and indentation</a:t>
            </a:r>
          </a:p>
        </p:txBody>
      </p:sp>
      <p:sp>
        <p:nvSpPr>
          <p:cNvPr id="4" name="">
            <a:extLst xmlns:a="http://schemas.openxmlformats.org/drawingml/2006/main">
              <a:ext uri="{FF2B5EF4-FFF2-40B4-BE49-F238E27FC236}">
                <a16:creationId xmlns:a16="http://schemas.microsoft.com/office/drawing/2014/main" id="{3F193987-72FF-4856-A9B4-F6D38AE75F9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763E03-7D65-4791-A833-F20B8BDC45C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temperature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temperature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print("below 30")</a:t>
            </a:r>
          </a:p>
        </p:txBody>
      </p:sp>
      <p:sp>
        <p:nvSpPr>
          <p:cNvPr id="6" name="">
            <a:extLst xmlns:a="http://schemas.openxmlformats.org/drawingml/2006/main">
              <a:ext uri="{FF2B5EF4-FFF2-40B4-BE49-F238E27FC236}">
                <a16:creationId xmlns:a16="http://schemas.microsoft.com/office/drawing/2014/main" id="{7E62CFD7-0FFE-42C4-9A37-285BE1E8987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E152930-69B7-4084-AF22-48EFF862A94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8" name="">
            <a:extLst xmlns:a="http://schemas.openxmlformats.org/drawingml/2006/main">
              <a:ext uri="{FF2B5EF4-FFF2-40B4-BE49-F238E27FC236}">
                <a16:creationId xmlns:a16="http://schemas.microsoft.com/office/drawing/2014/main" id="{935BAC26-DE5C-4FEA-8172-77D1CD917AB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D8CC3E18-0C79-48F0-941A-7DA423643D7F}"/>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629C16EC-4EE8-486C-BA16-F748A5DD31F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&gt;= compares values. Only the chosen indented block runs.</a:t>
            </a:r>
          </a:p>
        </p:txBody>
      </p:sp>
      <p:sp>
        <p:nvSpPr>
          <p:cNvPr id="11" name="">
            <a:extLst xmlns:a="http://schemas.openxmlformats.org/drawingml/2006/main">
              <a:ext uri="{FF2B5EF4-FFF2-40B4-BE49-F238E27FC236}">
                <a16:creationId xmlns:a16="http://schemas.microsoft.com/office/drawing/2014/main" id="{DF71AB01-E277-4A3F-B5AD-D92DF5AC22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21</a:t>
            </a:r>
          </a:p>
        </p:txBody>
      </p:sp>
    </p:spTree>
    <p:extLst>
      <p:ext uri="{BB962C8B-B14F-4D97-AF65-F5344CB8AC3E}">
        <p14:creationId xmlns:p14="http://schemas.microsoft.com/office/powerpoint/2010/main" val="51678027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599F39-110A-4DE9-8D51-3B3ABB99D0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AEFD74D-A89F-4903-8D5B-FB1153C7C7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9F23AD3-EC30-42EF-AEC1-C00E2FD2F1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More than two branches</a:t>
            </a:r>
          </a:p>
        </p:txBody>
      </p:sp>
      <p:sp>
        <p:nvSpPr>
          <p:cNvPr id="4" name="">
            <a:extLst xmlns:a="http://schemas.openxmlformats.org/drawingml/2006/main">
              <a:ext uri="{FF2B5EF4-FFF2-40B4-BE49-F238E27FC236}">
                <a16:creationId xmlns:a16="http://schemas.microsoft.com/office/drawing/2014/main" id="{FC3B3057-B3A1-4077-8791-C13548DFCD2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78BEB9B-DEEE-4703-B1F8-DC39CBF5195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BBD2CDA-1145-460E-9F91-DE7D90AE482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tests the first condition. elif means “otherwise, if” and tests another condition only if the earlier one was false. else handles the remaining case.</a:t>
            </a:r>
          </a:p>
        </p:txBody>
      </p:sp>
      <p:sp>
        <p:nvSpPr>
          <p:cNvPr id="7" name="">
            <a:extLst xmlns:a="http://schemas.openxmlformats.org/drawingml/2006/main">
              <a:ext uri="{FF2B5EF4-FFF2-40B4-BE49-F238E27FC236}">
                <a16:creationId xmlns:a16="http://schemas.microsoft.com/office/drawing/2014/main" id="{3BC89E4C-9D6B-4691-995C-04F2722B70B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runs only the first matching branch. Put a narrower condition before a broader one that would also match. A colon and indentation mark each body.</a:t>
            </a:r>
          </a:p>
        </p:txBody>
      </p:sp>
      <p:sp>
        <p:nvSpPr>
          <p:cNvPr id="8" name="">
            <a:extLst xmlns:a="http://schemas.openxmlformats.org/drawingml/2006/main">
              <a:ext uri="{FF2B5EF4-FFF2-40B4-BE49-F238E27FC236}">
                <a16:creationId xmlns:a16="http://schemas.microsoft.com/office/drawing/2014/main" id="{564573F5-C906-4CE5-AA7E-D11AA91E8F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22</a:t>
            </a:r>
          </a:p>
        </p:txBody>
      </p:sp>
    </p:spTree>
    <p:extLst>
      <p:ext uri="{BB962C8B-B14F-4D97-AF65-F5344CB8AC3E}">
        <p14:creationId xmlns:p14="http://schemas.microsoft.com/office/powerpoint/2010/main" val="126924150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453B42D-0A43-467D-ACFD-836C58DD6D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84047A-3E85-40B5-B054-5737886A30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42DFB18-C767-4BAC-ADC9-C6078B46E5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an if elif else chain</a:t>
            </a:r>
          </a:p>
        </p:txBody>
      </p:sp>
      <p:sp>
        <p:nvSpPr>
          <p:cNvPr id="4" name="">
            <a:extLst xmlns:a="http://schemas.openxmlformats.org/drawingml/2006/main">
              <a:ext uri="{FF2B5EF4-FFF2-40B4-BE49-F238E27FC236}">
                <a16:creationId xmlns:a16="http://schemas.microsoft.com/office/drawing/2014/main" id="{AA91B72F-2A77-4386-96B5-1B7358BB918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078069E-8015-4A33-B885-FB6911B3662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level = 7</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level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print("high")</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elif</a:t>
            </a:r>
            <a:r>
              <a:rPr sz="2175" b="0">
                <a:solidFill>
                  <a:srgbClr val="F4F7FA"/>
                </a:solidFill>
                <a:latin typeface="Courier New"/>
                <a:ea typeface="Courier New"/>
                <a:cs typeface="Courier New"/>
              </a:rPr>
              <a:t> level &gt;=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print("medium")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print("low")</a:t>
            </a:r>
          </a:p>
        </p:txBody>
      </p:sp>
      <p:sp>
        <p:nvSpPr>
          <p:cNvPr id="6" name="">
            <a:extLst xmlns:a="http://schemas.openxmlformats.org/drawingml/2006/main">
              <a:ext uri="{FF2B5EF4-FFF2-40B4-BE49-F238E27FC236}">
                <a16:creationId xmlns:a16="http://schemas.microsoft.com/office/drawing/2014/main" id="{3C73ED5A-3DD2-46C4-8ACC-A1FA2F5309E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74B6242-9181-4310-A01A-A7EFDAE2700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elif is checked only after the earlier condition fails.</a:t>
            </a:r>
          </a:p>
        </p:txBody>
      </p:sp>
      <p:sp>
        <p:nvSpPr>
          <p:cNvPr id="8" name="">
            <a:extLst xmlns:a="http://schemas.openxmlformats.org/drawingml/2006/main">
              <a:ext uri="{FF2B5EF4-FFF2-40B4-BE49-F238E27FC236}">
                <a16:creationId xmlns:a16="http://schemas.microsoft.com/office/drawing/2014/main" id="{81C90E2D-2B3D-4803-A1C8-BE325567B91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medium. The first condition is false; the second is true.</a:t>
            </a:r>
          </a:p>
        </p:txBody>
      </p:sp>
      <p:sp>
        <p:nvSpPr>
          <p:cNvPr id="9" name="">
            <a:extLst xmlns:a="http://schemas.openxmlformats.org/drawingml/2006/main">
              <a:ext uri="{FF2B5EF4-FFF2-40B4-BE49-F238E27FC236}">
                <a16:creationId xmlns:a16="http://schemas.microsoft.com/office/drawing/2014/main" id="{742602BA-EB36-494C-BBCF-0E94522511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23</a:t>
            </a:r>
          </a:p>
        </p:txBody>
      </p:sp>
    </p:spTree>
    <p:extLst>
      <p:ext uri="{BB962C8B-B14F-4D97-AF65-F5344CB8AC3E}">
        <p14:creationId xmlns:p14="http://schemas.microsoft.com/office/powerpoint/2010/main" val="176973733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D182902-56D7-4AFF-8CA0-E656339769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B352B8-313E-48CE-9834-C7F907BD4C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38DD88A-449D-4B97-B59E-AF3667267E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a:t>
            </a:r>
          </a:p>
        </p:txBody>
      </p:sp>
      <p:sp>
        <p:nvSpPr>
          <p:cNvPr id="4" name="">
            <a:extLst xmlns:a="http://schemas.openxmlformats.org/drawingml/2006/main">
              <a:ext uri="{FF2B5EF4-FFF2-40B4-BE49-F238E27FC236}">
                <a16:creationId xmlns:a16="http://schemas.microsoft.com/office/drawing/2014/main" id="{78380DCD-BE4D-4E27-BC97-573A60BDEE8B}"/>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38C04C-3FDE-403C-957A-C23D59F7AA7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Function</a:t>
            </a:r>
          </a:p>
        </p:txBody>
      </p:sp>
      <p:sp>
        <p:nvSpPr>
          <p:cNvPr id="6" name="">
            <a:extLst xmlns:a="http://schemas.openxmlformats.org/drawingml/2006/main">
              <a:ext uri="{FF2B5EF4-FFF2-40B4-BE49-F238E27FC236}">
                <a16:creationId xmlns:a16="http://schemas.microsoft.com/office/drawing/2014/main" id="{21974242-987A-4398-A8ED-D5EE2BACDED3}"/>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named, reusable calculation or procedure. def introduces its definition. Parameters are the names for its inputs; arguments are the values supplied when calling it.</a:t>
            </a:r>
          </a:p>
        </p:txBody>
      </p:sp>
      <p:sp>
        <p:nvSpPr>
          <p:cNvPr id="7" name="">
            <a:extLst xmlns:a="http://schemas.openxmlformats.org/drawingml/2006/main">
              <a:ext uri="{FF2B5EF4-FFF2-40B4-BE49-F238E27FC236}">
                <a16:creationId xmlns:a16="http://schemas.microsoft.com/office/drawing/2014/main" id="{4E489B19-ED4B-40AC-A862-AF00C6615B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24</a:t>
            </a:r>
          </a:p>
        </p:txBody>
      </p:sp>
    </p:spTree>
    <p:extLst>
      <p:ext uri="{BB962C8B-B14F-4D97-AF65-F5344CB8AC3E}">
        <p14:creationId xmlns:p14="http://schemas.microsoft.com/office/powerpoint/2010/main" val="78262479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86D2135-8979-4484-A37D-D56A4A7CAD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FD3B0A-367E-4DF9-80A3-350BCC3AC7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6AB2CA4-876E-4357-9B31-8F31A7D7C8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Indentation and return</a:t>
            </a:r>
          </a:p>
        </p:txBody>
      </p:sp>
      <p:sp>
        <p:nvSpPr>
          <p:cNvPr id="4" name="">
            <a:extLst xmlns:a="http://schemas.openxmlformats.org/drawingml/2006/main">
              <a:ext uri="{FF2B5EF4-FFF2-40B4-BE49-F238E27FC236}">
                <a16:creationId xmlns:a16="http://schemas.microsoft.com/office/drawing/2014/main" id="{AA643D0F-345D-4A9D-B756-38F50034CD5B}"/>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DC9467-A17C-43A6-BD7F-F8B4530B5FC1}"/>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Indentation and return</a:t>
            </a:r>
          </a:p>
        </p:txBody>
      </p:sp>
      <p:sp>
        <p:nvSpPr>
          <p:cNvPr id="6" name="">
            <a:extLst xmlns:a="http://schemas.openxmlformats.org/drawingml/2006/main">
              <a:ext uri="{FF2B5EF4-FFF2-40B4-BE49-F238E27FC236}">
                <a16:creationId xmlns:a16="http://schemas.microsoft.com/office/drawing/2014/main" id="{1E615BEF-7035-4288-91D5-FA4AFC2F3062}"/>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Spaces at the start of a line group the function body. return hands a result to the calling code. print displays a value and returns None.</a:t>
            </a:r>
          </a:p>
        </p:txBody>
      </p:sp>
      <p:sp>
        <p:nvSpPr>
          <p:cNvPr id="7" name="">
            <a:extLst xmlns:a="http://schemas.openxmlformats.org/drawingml/2006/main">
              <a:ext uri="{FF2B5EF4-FFF2-40B4-BE49-F238E27FC236}">
                <a16:creationId xmlns:a16="http://schemas.microsoft.com/office/drawing/2014/main" id="{1CA156D9-3DC1-424C-943C-28144FE6B2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25</a:t>
            </a:r>
          </a:p>
        </p:txBody>
      </p:sp>
    </p:spTree>
    <p:extLst>
      <p:ext uri="{BB962C8B-B14F-4D97-AF65-F5344CB8AC3E}">
        <p14:creationId xmlns:p14="http://schemas.microsoft.com/office/powerpoint/2010/main" val="177270588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F267FC3-72C8-4FB9-A1C8-959D9E3416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7D2D6B-8296-4CDF-BDD3-37C3CF0882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60E474F-2DB9-4008-BCD4-BA291BB3D0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definition and a call</a:t>
            </a:r>
          </a:p>
        </p:txBody>
      </p:sp>
      <p:sp>
        <p:nvSpPr>
          <p:cNvPr id="4" name="">
            <a:extLst xmlns:a="http://schemas.openxmlformats.org/drawingml/2006/main">
              <a:ext uri="{FF2B5EF4-FFF2-40B4-BE49-F238E27FC236}">
                <a16:creationId xmlns:a16="http://schemas.microsoft.com/office/drawing/2014/main" id="{EC9414D0-9AF8-4D55-90CE-AD67B4AA5C7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2993F77-8846-48BB-A4B1-B3E4947BA5B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gives a reusable calculation a name and inputs.</a:t>
            </a:r>
          </a:p>
        </p:txBody>
      </p:sp>
      <p:sp>
        <p:nvSpPr>
          <p:cNvPr id="6" name="">
            <a:extLst xmlns:a="http://schemas.openxmlformats.org/drawingml/2006/main">
              <a:ext uri="{FF2B5EF4-FFF2-40B4-BE49-F238E27FC236}">
                <a16:creationId xmlns:a16="http://schemas.microsoft.com/office/drawing/2014/main" id="{E7084949-D5BD-4FEA-A577-9007E4DF7FA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63D7009-1066-4828-A7E3-7889730ED90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Defining a function remembers the instructions.</a:t>
            </a:r>
          </a:p>
        </p:txBody>
      </p:sp>
      <p:sp>
        <p:nvSpPr>
          <p:cNvPr id="8" name="">
            <a:extLst xmlns:a="http://schemas.openxmlformats.org/drawingml/2006/main">
              <a:ext uri="{FF2B5EF4-FFF2-40B4-BE49-F238E27FC236}">
                <a16:creationId xmlns:a16="http://schemas.microsoft.com/office/drawing/2014/main" id="{9ABC3DDD-CA1B-45A8-BC46-3018B3643EC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82B7967-217B-485F-A3AD-57D8960F341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runs those instructions with values.</a:t>
            </a:r>
          </a:p>
        </p:txBody>
      </p:sp>
      <p:sp>
        <p:nvSpPr>
          <p:cNvPr id="10" name="">
            <a:extLst xmlns:a="http://schemas.openxmlformats.org/drawingml/2006/main">
              <a:ext uri="{FF2B5EF4-FFF2-40B4-BE49-F238E27FC236}">
                <a16:creationId xmlns:a16="http://schemas.microsoft.com/office/drawing/2014/main" id="{70DF1DF7-618B-4B4D-A9FC-15BC084A80A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957D7F4-7B11-4377-BEA9-8FF37A0834F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sends the result back to the caller.</a:t>
            </a:r>
          </a:p>
        </p:txBody>
      </p:sp>
      <p:sp>
        <p:nvSpPr>
          <p:cNvPr id="12" name="">
            <a:extLst xmlns:a="http://schemas.openxmlformats.org/drawingml/2006/main">
              <a:ext uri="{FF2B5EF4-FFF2-40B4-BE49-F238E27FC236}">
                <a16:creationId xmlns:a16="http://schemas.microsoft.com/office/drawing/2014/main" id="{8B205431-A12B-479E-A5C1-AAEF0330A5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26</a:t>
            </a:r>
          </a:p>
        </p:txBody>
      </p:sp>
    </p:spTree>
    <p:extLst>
      <p:ext uri="{BB962C8B-B14F-4D97-AF65-F5344CB8AC3E}">
        <p14:creationId xmlns:p14="http://schemas.microsoft.com/office/powerpoint/2010/main" val="492814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46D8CC6-68A0-42D0-BD8B-448EF314ADE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5CE7E1-9A39-49BF-AC07-705942CCBC29}"/>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Inputs, instructions and a returned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06c86c6b9614445b"/>
          <a:stretch xmlns:a="http://schemas.openxmlformats.org/drawingml/2006/main"/>
        </p:blipFill>
        <p:spPr>
          <a:xfrm xmlns:a="http://schemas.openxmlformats.org/drawingml/2006/main">
            <a:off x="561045" y="1057275"/>
            <a:ext cx="11069911"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8925DC4-06D2-48B8-97DC-D55E51CFF869}"/>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47B2BF-3D2F-4C7A-8649-1BFA801DF0F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slab_volume: length × width × thickness. The next function uses the same input/body/return pattern.</a:t>
            </a:r>
          </a:p>
        </p:txBody>
      </p:sp>
      <p:sp>
        <p:nvSpPr>
          <p:cNvPr id="6" name="">
            <a:extLst xmlns:a="http://schemas.openxmlformats.org/drawingml/2006/main">
              <a:ext uri="{FF2B5EF4-FFF2-40B4-BE49-F238E27FC236}">
                <a16:creationId xmlns:a16="http://schemas.microsoft.com/office/drawing/2014/main" id="{D60B2575-8DB8-4DB9-B139-0D67603F91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27</a:t>
            </a:r>
          </a:p>
        </p:txBody>
      </p:sp>
    </p:spTree>
    <p:extLst>
      <p:ext uri="{BB962C8B-B14F-4D97-AF65-F5344CB8AC3E}">
        <p14:creationId xmlns:p14="http://schemas.microsoft.com/office/powerpoint/2010/main" val="208365521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A575DDF-5ACC-4EF6-AFED-A6DA164446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0A9560-60D2-4F23-A164-93A3552A21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AEC3D13-BACD-4E24-87BF-74CD95E159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double_value</a:t>
            </a:r>
          </a:p>
        </p:txBody>
      </p:sp>
      <p:sp>
        <p:nvSpPr>
          <p:cNvPr id="4" name="">
            <a:extLst xmlns:a="http://schemas.openxmlformats.org/drawingml/2006/main">
              <a:ext uri="{FF2B5EF4-FFF2-40B4-BE49-F238E27FC236}">
                <a16:creationId xmlns:a16="http://schemas.microsoft.com/office/drawing/2014/main" id="{ACE2C721-66A7-4F7A-AE1B-E6725ABD712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9D6583-C42C-4D8F-8883-4CF222C956B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double_value(x):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x * 2</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answer = double_value(4)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print(answer)</a:t>
            </a:r>
          </a:p>
        </p:txBody>
      </p:sp>
      <p:sp>
        <p:nvSpPr>
          <p:cNvPr id="6" name="">
            <a:extLst xmlns:a="http://schemas.openxmlformats.org/drawingml/2006/main">
              <a:ext uri="{FF2B5EF4-FFF2-40B4-BE49-F238E27FC236}">
                <a16:creationId xmlns:a16="http://schemas.microsoft.com/office/drawing/2014/main" id="{94114609-D2D0-4C64-9A10-E0CB1BF4E83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87F6F04-6039-4FAA-8A37-17D0F5D8A1E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4E24AE2C-3220-48CE-95D3-5E290A3A88E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0692C528-1B37-4A6F-BF5A-EE126A5C762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8. Calling passes 4 to x; return sends 8 back; print displays it.</a:t>
            </a:r>
          </a:p>
        </p:txBody>
      </p:sp>
      <p:sp>
        <p:nvSpPr>
          <p:cNvPr id="10" name="">
            <a:extLst xmlns:a="http://schemas.openxmlformats.org/drawingml/2006/main">
              <a:ext uri="{FF2B5EF4-FFF2-40B4-BE49-F238E27FC236}">
                <a16:creationId xmlns:a16="http://schemas.microsoft.com/office/drawing/2014/main" id="{F404C5F3-D9E2-440A-BD22-B1F874A22D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28</a:t>
            </a:r>
          </a:p>
        </p:txBody>
      </p:sp>
    </p:spTree>
    <p:extLst>
      <p:ext uri="{BB962C8B-B14F-4D97-AF65-F5344CB8AC3E}">
        <p14:creationId xmlns:p14="http://schemas.microsoft.com/office/powerpoint/2010/main" val="65377579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2426FB3-CB09-4DBC-B46D-C471C86479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196B0DC-B7D8-4DFC-A1E4-F7F5CFEF1A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90941D9-FC43-42A8-846A-888ACF698D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Positional and named inputs</a:t>
            </a:r>
          </a:p>
        </p:txBody>
      </p:sp>
      <p:sp>
        <p:nvSpPr>
          <p:cNvPr id="4" name="">
            <a:extLst xmlns:a="http://schemas.openxmlformats.org/drawingml/2006/main">
              <a:ext uri="{FF2B5EF4-FFF2-40B4-BE49-F238E27FC236}">
                <a16:creationId xmlns:a16="http://schemas.microsoft.com/office/drawing/2014/main" id="{B2DAC0B8-550A-4CAC-BEBF-C9216A19F59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EBDC9E9-DBD2-4310-97F0-698677984BD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def</a:t>
            </a:r>
            <a:r>
              <a:rPr sz="2090" b="0">
                <a:solidFill>
                  <a:srgbClr val="F4F7FA"/>
                </a:solidFill>
                <a:latin typeface="Courier New"/>
                <a:ea typeface="Courier New"/>
                <a:cs typeface="Courier New"/>
              </a:rPr>
              <a:t> rectangle_area(length, width):</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a:t>
            </a:r>
            <a:r>
              <a:rPr sz="2090" b="0">
                <a:solidFill>
                  <a:srgbClr val="FFB080"/>
                </a:solidFill>
                <a:latin typeface="Courier New"/>
                <a:ea typeface="Courier New"/>
                <a:cs typeface="Courier New"/>
              </a:rPr>
              <a:t>return</a:t>
            </a:r>
            <a:r>
              <a:rPr sz="2090" b="0">
                <a:solidFill>
                  <a:srgbClr val="F4F7FA"/>
                </a:solidFill>
                <a:latin typeface="Courier New"/>
                <a:ea typeface="Courier New"/>
                <a:cs typeface="Courier New"/>
              </a:rPr>
              <a:t> length * width</a:t>
            </a:r>
          </a:p>
          <a:p xmlns:a="http://schemas.openxmlformats.org/drawingml/2006/main">
            <a:r>
              <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print(rectangle_area(3,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print(rectangle_area(width=2, length=3))</a:t>
            </a:r>
          </a:p>
        </p:txBody>
      </p:sp>
      <p:sp>
        <p:nvSpPr>
          <p:cNvPr id="6" name="">
            <a:extLst xmlns:a="http://schemas.openxmlformats.org/drawingml/2006/main">
              <a:ext uri="{FF2B5EF4-FFF2-40B4-BE49-F238E27FC236}">
                <a16:creationId xmlns:a16="http://schemas.microsoft.com/office/drawing/2014/main" id="{D5975C11-EC96-4044-A8F9-3FB3FF23C8D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2E4B9A7-0360-469A-B23E-11EC26806E8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FEB8DFF3-6D97-4595-B736-C18A87E6B66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10D3F379-B8A1-4AE4-93FE-DFDF7C990CD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4F8E398D-ECC1-40B2-AD83-13BBB0AFDFF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Both calls supply the same inputs. return makes the result reusable.</a:t>
            </a:r>
          </a:p>
        </p:txBody>
      </p:sp>
      <p:sp>
        <p:nvSpPr>
          <p:cNvPr id="11" name="">
            <a:extLst xmlns:a="http://schemas.openxmlformats.org/drawingml/2006/main">
              <a:ext uri="{FF2B5EF4-FFF2-40B4-BE49-F238E27FC236}">
                <a16:creationId xmlns:a16="http://schemas.microsoft.com/office/drawing/2014/main" id="{DA94C4DA-E067-4153-B0AE-EB5E564418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29</a:t>
            </a:r>
          </a:p>
        </p:txBody>
      </p:sp>
    </p:spTree>
    <p:extLst>
      <p:ext uri="{BB962C8B-B14F-4D97-AF65-F5344CB8AC3E}">
        <p14:creationId xmlns:p14="http://schemas.microsoft.com/office/powerpoint/2010/main" val="97096262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AD13771-CADE-4FC6-8716-AA1F6FA80B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B67F0D-E4A2-4E9D-B1F9-B5C1DD3511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A2ECC7C-61F3-48D9-8E2A-DD56A12C29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input check before division</a:t>
            </a:r>
          </a:p>
        </p:txBody>
      </p:sp>
      <p:sp>
        <p:nvSpPr>
          <p:cNvPr id="4" name="">
            <a:extLst xmlns:a="http://schemas.openxmlformats.org/drawingml/2006/main">
              <a:ext uri="{FF2B5EF4-FFF2-40B4-BE49-F238E27FC236}">
                <a16:creationId xmlns:a16="http://schemas.microsoft.com/office/drawing/2014/main" id="{E6AE6ACF-C3DF-44CE-8473-AB298A79A21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01521A-6D62-4F4F-A370-3FDE028E013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E2D27ED-DA4B-4FE4-B630-AF80628D759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Division by zero raises ZeroDivisionError. We choose to return None when people is zero, so there is no calculated share.</a:t>
            </a:r>
          </a:p>
        </p:txBody>
      </p:sp>
      <p:sp>
        <p:nvSpPr>
          <p:cNvPr id="7" name="">
            <a:extLst xmlns:a="http://schemas.openxmlformats.org/drawingml/2006/main">
              <a:ext uri="{FF2B5EF4-FFF2-40B4-BE49-F238E27FC236}">
                <a16:creationId xmlns:a16="http://schemas.microsoft.com/office/drawing/2014/main" id="{964A2B42-77AD-4E64-B42A-DF7A63845F9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check belongs inside the function, before the division. return ends that call immediately. A valid input follows the later return line.</a:t>
            </a:r>
          </a:p>
        </p:txBody>
      </p:sp>
      <p:sp>
        <p:nvSpPr>
          <p:cNvPr id="8" name="">
            <a:extLst xmlns:a="http://schemas.openxmlformats.org/drawingml/2006/main">
              <a:ext uri="{FF2B5EF4-FFF2-40B4-BE49-F238E27FC236}">
                <a16:creationId xmlns:a16="http://schemas.microsoft.com/office/drawing/2014/main" id="{C76472AB-87D9-4661-BB9E-18D1E5506C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30</a:t>
            </a:r>
          </a:p>
        </p:txBody>
      </p:sp>
    </p:spTree>
    <p:extLst>
      <p:ext uri="{BB962C8B-B14F-4D97-AF65-F5344CB8AC3E}">
        <p14:creationId xmlns:p14="http://schemas.microsoft.com/office/powerpoint/2010/main" val="71629655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AC14583-1FB9-4B4C-9947-CBF538BB5C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410747-A681-4301-B1F8-2E1916549E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F929605-BAF9-4F1F-8FCC-DEA54991C3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with a zero-input check</a:t>
            </a:r>
          </a:p>
        </p:txBody>
      </p:sp>
      <p:sp>
        <p:nvSpPr>
          <p:cNvPr id="4" name="">
            <a:extLst xmlns:a="http://schemas.openxmlformats.org/drawingml/2006/main">
              <a:ext uri="{FF2B5EF4-FFF2-40B4-BE49-F238E27FC236}">
                <a16:creationId xmlns:a16="http://schemas.microsoft.com/office/drawing/2014/main" id="{37FDAFD1-C65C-4C60-8DE6-FD150FFB435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1F40099-5087-42ED-9B45-CD49CCD9603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safe_share(total, people):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people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total / people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print(safe_share(12, 3))</a:t>
            </a:r>
          </a:p>
        </p:txBody>
      </p:sp>
      <p:sp>
        <p:nvSpPr>
          <p:cNvPr id="6" name="">
            <a:extLst xmlns:a="http://schemas.openxmlformats.org/drawingml/2006/main">
              <a:ext uri="{FF2B5EF4-FFF2-40B4-BE49-F238E27FC236}">
                <a16:creationId xmlns:a16="http://schemas.microsoft.com/office/drawing/2014/main" id="{826ECD7E-D94B-4724-A940-403E06CF991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E8771B0-B656-4AC9-8CD8-8158B6F86AE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B3F584A3-2ECE-408E-8FCB-D5B9518FD43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4708A7A5-EEF2-4B54-BDF1-B2CC152D410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1E036664-8E0A-4A5A-B04F-B9225E93110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4.0. safe_share(12, 0) returns None before any division.</a:t>
            </a:r>
          </a:p>
        </p:txBody>
      </p:sp>
      <p:sp>
        <p:nvSpPr>
          <p:cNvPr id="11" name="">
            <a:extLst xmlns:a="http://schemas.openxmlformats.org/drawingml/2006/main">
              <a:ext uri="{FF2B5EF4-FFF2-40B4-BE49-F238E27FC236}">
                <a16:creationId xmlns:a16="http://schemas.microsoft.com/office/drawing/2014/main" id="{FC4C30FE-A5F2-4F52-9474-FC51105A29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31</a:t>
            </a:r>
          </a:p>
        </p:txBody>
      </p:sp>
    </p:spTree>
    <p:extLst>
      <p:ext uri="{BB962C8B-B14F-4D97-AF65-F5344CB8AC3E}">
        <p14:creationId xmlns:p14="http://schemas.microsoft.com/office/powerpoint/2010/main" val="118761412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A784D86-CB69-4BE8-BE74-24AA50CA57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7221FA-D5BF-4E76-B98D-A5D43E971F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F0DCA1B-90D7-4FF6-AC68-36ED52AC19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a:t>
            </a:r>
          </a:p>
        </p:txBody>
      </p:sp>
      <p:sp>
        <p:nvSpPr>
          <p:cNvPr id="4" name="">
            <a:extLst xmlns:a="http://schemas.openxmlformats.org/drawingml/2006/main">
              <a:ext uri="{FF2B5EF4-FFF2-40B4-BE49-F238E27FC236}">
                <a16:creationId xmlns:a16="http://schemas.microsoft.com/office/drawing/2014/main" id="{2E21DFB6-FBA3-4393-B20D-CDBF4814EBF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B3CAE11-5FA7-40E6-8AE6-A9595C854E4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from the top. &gt;= includes the boundary.</a:t>
            </a:r>
          </a:p>
        </p:txBody>
      </p:sp>
      <p:sp>
        <p:nvSpPr>
          <p:cNvPr id="6" name="">
            <a:extLst xmlns:a="http://schemas.openxmlformats.org/drawingml/2006/main">
              <a:ext uri="{FF2B5EF4-FFF2-40B4-BE49-F238E27FC236}">
                <a16:creationId xmlns:a16="http://schemas.microsoft.com/office/drawing/2014/main" id="{21A9FC6A-8FDA-456A-89F5-1827AA05961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21D226C-91BB-4BA7-B91A-6F67320D370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the selected branch runs.</a:t>
            </a:r>
          </a:p>
        </p:txBody>
      </p:sp>
      <p:sp>
        <p:nvSpPr>
          <p:cNvPr id="8" name="">
            <a:extLst xmlns:a="http://schemas.openxmlformats.org/drawingml/2006/main">
              <a:ext uri="{FF2B5EF4-FFF2-40B4-BE49-F238E27FC236}">
                <a16:creationId xmlns:a16="http://schemas.microsoft.com/office/drawing/2014/main" id="{D655053A-4F26-4864-B707-D1E00457004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9EC23BF-F3A0-4EC6-9ECF-0ADF1DF6E21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Try the value exactly at 10 as well as 9 and 11.</a:t>
            </a:r>
          </a:p>
        </p:txBody>
      </p:sp>
      <p:sp>
        <p:nvSpPr>
          <p:cNvPr id="10" name="">
            <a:extLst xmlns:a="http://schemas.openxmlformats.org/drawingml/2006/main">
              <a:ext uri="{FF2B5EF4-FFF2-40B4-BE49-F238E27FC236}">
                <a16:creationId xmlns:a16="http://schemas.microsoft.com/office/drawing/2014/main" id="{A54559E8-D0E1-4FDE-B0FF-ED5C8D0EE7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32</a:t>
            </a:r>
          </a:p>
        </p:txBody>
      </p:sp>
    </p:spTree>
    <p:extLst>
      <p:ext uri="{BB962C8B-B14F-4D97-AF65-F5344CB8AC3E}">
        <p14:creationId xmlns:p14="http://schemas.microsoft.com/office/powerpoint/2010/main" val="166934735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2298008-08D0-4026-B1C7-C5C71D897B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5AE8A2-C885-4D06-B7B1-4A572653DE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2BA1050-8C8A-42F8-BE56-D1521A1F15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 in Python</a:t>
            </a:r>
          </a:p>
        </p:txBody>
      </p:sp>
      <p:sp>
        <p:nvSpPr>
          <p:cNvPr id="4" name="">
            <a:extLst xmlns:a="http://schemas.openxmlformats.org/drawingml/2006/main">
              <a:ext uri="{FF2B5EF4-FFF2-40B4-BE49-F238E27FC236}">
                <a16:creationId xmlns:a16="http://schemas.microsoft.com/office/drawing/2014/main" id="{B7F72992-ABC5-4594-AFC2-FC526819762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32F5BE-E0E2-4328-BD29-EF1EC7927A8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check_level(value):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"high"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"low"</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print(check_level(9))</a:t>
            </a:r>
          </a:p>
        </p:txBody>
      </p:sp>
      <p:sp>
        <p:nvSpPr>
          <p:cNvPr id="6" name="">
            <a:extLst xmlns:a="http://schemas.openxmlformats.org/drawingml/2006/main">
              <a:ext uri="{FF2B5EF4-FFF2-40B4-BE49-F238E27FC236}">
                <a16:creationId xmlns:a16="http://schemas.microsoft.com/office/drawing/2014/main" id="{6C5E38B3-5BB7-462E-A1C6-CC9A4EB12F3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A810B56-B7EF-4043-8E9C-A6CB1A99F03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A1199A2E-2758-4E9E-B3F4-6BF12666B1C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5BD17F86-721D-4DFA-88B5-322883595D27}"/>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78C3510E-437C-4B56-A379-D954DD9F9F6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190C08DD-ED83-46CC-B096-7B56C84D66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33</a:t>
            </a:r>
          </a:p>
        </p:txBody>
      </p:sp>
    </p:spTree>
    <p:extLst>
      <p:ext uri="{BB962C8B-B14F-4D97-AF65-F5344CB8AC3E}">
        <p14:creationId xmlns:p14="http://schemas.microsoft.com/office/powerpoint/2010/main" val="36083798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5063B5-C1E7-4213-811D-91CF30B63E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7BA94D-CA3C-4794-B45D-B4AD97D4CB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3D7D30A-EFBB-4C0C-AC35-0CAA5192F5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value and a collection of values</a:t>
            </a:r>
          </a:p>
        </p:txBody>
      </p:sp>
      <p:sp>
        <p:nvSpPr>
          <p:cNvPr id="4" name="">
            <a:extLst xmlns:a="http://schemas.openxmlformats.org/drawingml/2006/main">
              <a:ext uri="{FF2B5EF4-FFF2-40B4-BE49-F238E27FC236}">
                <a16:creationId xmlns:a16="http://schemas.microsoft.com/office/drawing/2014/main" id="{E9400806-DC67-464A-BC91-B3CF47F4DBB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4DE182-0B45-4B3A-9747-70135C2AB50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EE933B7-E54A-44E5-8706-ECAD8ACE7B1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variable can refer to one value: reading = 98. A collection stores several related values under one name.</a:t>
            </a:r>
          </a:p>
        </p:txBody>
      </p:sp>
      <p:sp>
        <p:nvSpPr>
          <p:cNvPr id="7" name="">
            <a:extLst xmlns:a="http://schemas.openxmlformats.org/drawingml/2006/main">
              <a:ext uri="{FF2B5EF4-FFF2-40B4-BE49-F238E27FC236}">
                <a16:creationId xmlns:a16="http://schemas.microsoft.com/office/drawing/2014/main" id="{033EA417-A748-473C-9611-6D48342D679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has several collection types. Choose one according to how you need to find, change or organise its contents.</a:t>
            </a:r>
          </a:p>
        </p:txBody>
      </p:sp>
      <p:sp>
        <p:nvSpPr>
          <p:cNvPr id="8" name="">
            <a:extLst xmlns:a="http://schemas.openxmlformats.org/drawingml/2006/main">
              <a:ext uri="{FF2B5EF4-FFF2-40B4-BE49-F238E27FC236}">
                <a16:creationId xmlns:a16="http://schemas.microsoft.com/office/drawing/2014/main" id="{9B87F7AA-EED5-4CD8-8073-FC395C0D16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34</a:t>
            </a:r>
          </a:p>
        </p:txBody>
      </p:sp>
    </p:spTree>
    <p:extLst>
      <p:ext uri="{BB962C8B-B14F-4D97-AF65-F5344CB8AC3E}">
        <p14:creationId xmlns:p14="http://schemas.microsoft.com/office/powerpoint/2010/main" val="133214782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F9A63B7-2CE2-4B7B-AA07-7340043EBF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F656B2-27E2-43B2-B1A3-994F589FD8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432DF64-F23E-4B9E-8B53-307A0D63E5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dictionaries tuples and sets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Choose it for</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[98, 105, 92]</a:t>
                      </a:r>
                    </a:p>
                  </a:txBody>
                  <a:tcPr marL="91440" marR="91440" marT="45720" marB="45720">
                    <a:solidFill>
                      <a:srgbClr val="EEF3F6"/>
                    </a:solidFill>
                  </a:tcPr>
                </a:tc>
                <a:tc>
                  <a:txBody>
                    <a:bodyPr/>
                    <a:lstStyle/>
                    <a:p>
                      <a:r>
                        <a:rPr sz="2025" b="0">
                          <a:solidFill>
                            <a:srgbClr val="1C3144"/>
                          </a:solidFill>
                          <a:latin typeface="Calibri"/>
                          <a:ea typeface="Calibri"/>
                          <a:cs typeface="Calibri"/>
                        </a:rPr>
                        <a:t>Values in a changeable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{"reading": 98}</a:t>
                      </a:r>
                    </a:p>
                  </a:txBody>
                  <a:tcPr marL="91440" marR="91440" marT="45720" marB="45720">
                    <a:solidFill>
                      <a:srgbClr val="FFFFFF"/>
                    </a:solidFill>
                  </a:tcPr>
                </a:tc>
                <a:tc>
                  <a:txBody>
                    <a:bodyPr/>
                    <a:lstStyle/>
                    <a:p>
                      <a:r>
                        <a:rPr sz="2025" b="0">
                          <a:solidFill>
                            <a:srgbClr val="1C3144"/>
                          </a:solidFill>
                          <a:latin typeface="Calibri"/>
                          <a:ea typeface="Calibri"/>
                          <a:cs typeface="Calibri"/>
                        </a:rPr>
                        <a:t>Values found by named keys</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(2, 3)</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Positions you will not reassign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{"A", "B"}</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and membership</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2318A33-FB03-42B3-9EF9-AAB69FC3795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List and tuple positions start at zero. Dictionaries use keys. Sets have no positional index.</a:t>
            </a:r>
          </a:p>
        </p:txBody>
      </p:sp>
      <p:sp>
        <p:nvSpPr>
          <p:cNvPr id="6" name="">
            <a:extLst xmlns:a="http://schemas.openxmlformats.org/drawingml/2006/main">
              <a:ext uri="{FF2B5EF4-FFF2-40B4-BE49-F238E27FC236}">
                <a16:creationId xmlns:a16="http://schemas.microsoft.com/office/drawing/2014/main" id="{86CD6BEB-FAE7-45DE-BFFE-556B4F17E3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35</a:t>
            </a:r>
          </a:p>
        </p:txBody>
      </p:sp>
    </p:spTree>
    <p:extLst>
      <p:ext uri="{BB962C8B-B14F-4D97-AF65-F5344CB8AC3E}">
        <p14:creationId xmlns:p14="http://schemas.microsoft.com/office/powerpoint/2010/main" val="1446205464"/>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995E7B5-9F13-4425-9448-05D9678B30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E2E26E-412E-49E9-BEF4-69491E5CA2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6C3FE0-3ECC-4D92-82E9-4DFA3ACCF5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values in positions</a:t>
            </a:r>
          </a:p>
        </p:txBody>
      </p:sp>
      <p:sp>
        <p:nvSpPr>
          <p:cNvPr id="4" name="">
            <a:extLst xmlns:a="http://schemas.openxmlformats.org/drawingml/2006/main">
              <a:ext uri="{FF2B5EF4-FFF2-40B4-BE49-F238E27FC236}">
                <a16:creationId xmlns:a16="http://schemas.microsoft.com/office/drawing/2014/main" id="{2ABBB12F-9C25-4019-B389-82FB8A7F979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9739354-14B9-4B90-BCEC-7B0E47C4D3A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 [98, 105, 92] creates a list. Square brackets enclose the items; commas separate them.</a:t>
            </a:r>
          </a:p>
        </p:txBody>
      </p:sp>
      <p:sp>
        <p:nvSpPr>
          <p:cNvPr id="6" name="">
            <a:extLst xmlns:a="http://schemas.openxmlformats.org/drawingml/2006/main">
              <a:ext uri="{FF2B5EF4-FFF2-40B4-BE49-F238E27FC236}">
                <a16:creationId xmlns:a16="http://schemas.microsoft.com/office/drawing/2014/main" id="{D1CE0D6A-D6C7-458C-933F-08BD856AFE3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92F1C91-82AF-4E72-A24F-F983DD6FC7F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index is an item’s position. Python starts counting at zero: readings[0] is 98, readings[1] is 105, readings[2] is 92.</a:t>
            </a:r>
          </a:p>
        </p:txBody>
      </p:sp>
      <p:sp>
        <p:nvSpPr>
          <p:cNvPr id="8" name="">
            <a:extLst xmlns:a="http://schemas.openxmlformats.org/drawingml/2006/main">
              <a:ext uri="{FF2B5EF4-FFF2-40B4-BE49-F238E27FC236}">
                <a16:creationId xmlns:a16="http://schemas.microsoft.com/office/drawing/2014/main" id="{D49B5425-0580-4EED-B866-F2130DE8D06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2001E40-ED1F-4BF8-AF8C-888C8DA09FB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items have positions 0, 1 and 2. readings[3] raises IndexError because there is no fourth item.</a:t>
            </a:r>
          </a:p>
        </p:txBody>
      </p:sp>
      <p:sp>
        <p:nvSpPr>
          <p:cNvPr id="10" name="">
            <a:extLst xmlns:a="http://schemas.openxmlformats.org/drawingml/2006/main">
              <a:ext uri="{FF2B5EF4-FFF2-40B4-BE49-F238E27FC236}">
                <a16:creationId xmlns:a16="http://schemas.microsoft.com/office/drawing/2014/main" id="{63E9DEE3-94FF-4FBE-852A-9E8C3676A6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36</a:t>
            </a:r>
          </a:p>
        </p:txBody>
      </p:sp>
    </p:spTree>
    <p:extLst>
      <p:ext uri="{BB962C8B-B14F-4D97-AF65-F5344CB8AC3E}">
        <p14:creationId xmlns:p14="http://schemas.microsoft.com/office/powerpoint/2010/main" val="1149127353"/>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B2110A7-81FC-49DB-A009-E658928E09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4C30A6-9AE0-4C79-931A-5D1A9C56E6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19C9A5B-B50C-4F26-B36F-C15844E760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and reading a list</a:t>
            </a:r>
          </a:p>
        </p:txBody>
      </p:sp>
      <p:sp>
        <p:nvSpPr>
          <p:cNvPr id="4" name="">
            <a:extLst xmlns:a="http://schemas.openxmlformats.org/drawingml/2006/main">
              <a:ext uri="{FF2B5EF4-FFF2-40B4-BE49-F238E27FC236}">
                <a16:creationId xmlns:a16="http://schemas.microsoft.com/office/drawing/2014/main" id="{53841F14-305D-4D69-9871-FFF65513D8C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B24557D-713C-40D9-9821-5F7AD600F61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p:txBody>
      </p:sp>
      <p:sp>
        <p:nvSpPr>
          <p:cNvPr id="6" name="">
            <a:extLst xmlns:a="http://schemas.openxmlformats.org/drawingml/2006/main">
              <a:ext uri="{FF2B5EF4-FFF2-40B4-BE49-F238E27FC236}">
                <a16:creationId xmlns:a16="http://schemas.microsoft.com/office/drawing/2014/main" id="{B6D38D62-E7C7-49F9-9CCC-5D232255924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A5A071C-11F7-405F-8808-C6CBE8D24DA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 creates a list or selects a position.</a:t>
            </a:r>
          </a:p>
        </p:txBody>
      </p:sp>
      <p:sp>
        <p:nvSpPr>
          <p:cNvPr id="8" name="">
            <a:extLst xmlns:a="http://schemas.openxmlformats.org/drawingml/2006/main">
              <a:ext uri="{FF2B5EF4-FFF2-40B4-BE49-F238E27FC236}">
                <a16:creationId xmlns:a16="http://schemas.microsoft.com/office/drawing/2014/main" id="{1A9C1F04-DA2F-4CBF-A4D7-B5908C98EF9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len counts the items; it is a built-in function.</a:t>
            </a:r>
          </a:p>
        </p:txBody>
      </p:sp>
      <p:sp>
        <p:nvSpPr>
          <p:cNvPr id="9" name="">
            <a:extLst xmlns:a="http://schemas.openxmlformats.org/drawingml/2006/main">
              <a:ext uri="{FF2B5EF4-FFF2-40B4-BE49-F238E27FC236}">
                <a16:creationId xmlns:a16="http://schemas.microsoft.com/office/drawing/2014/main" id="{9E252DC8-6313-4BE5-ADD4-D99C4BA8B8C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[98, 105, 92], then 98, then 3.</a:t>
            </a:r>
          </a:p>
        </p:txBody>
      </p:sp>
      <p:sp>
        <p:nvSpPr>
          <p:cNvPr id="10" name="">
            <a:extLst xmlns:a="http://schemas.openxmlformats.org/drawingml/2006/main">
              <a:ext uri="{FF2B5EF4-FFF2-40B4-BE49-F238E27FC236}">
                <a16:creationId xmlns:a16="http://schemas.microsoft.com/office/drawing/2014/main" id="{2B2C7F74-2ABA-45C6-B72F-6ECA1B7A7C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37</a:t>
            </a:r>
          </a:p>
        </p:txBody>
      </p:sp>
    </p:spTree>
    <p:extLst>
      <p:ext uri="{BB962C8B-B14F-4D97-AF65-F5344CB8AC3E}">
        <p14:creationId xmlns:p14="http://schemas.microsoft.com/office/powerpoint/2010/main" val="208197628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73EBF30-E76E-43E1-BD39-8F4FF86BF7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AD0DFA-30FF-4A41-8BC0-052E0A1935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80A6FB3-8E93-490C-8281-D4058904D0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the right collection</a:t>
            </a:r>
          </a:p>
        </p:txBody>
      </p:sp>
      <p:sp>
        <p:nvSpPr>
          <p:cNvPr id="4" name="">
            <a:extLst xmlns:a="http://schemas.openxmlformats.org/drawingml/2006/main">
              <a:ext uri="{FF2B5EF4-FFF2-40B4-BE49-F238E27FC236}">
                <a16:creationId xmlns:a16="http://schemas.microsoft.com/office/drawing/2014/main" id="{28540C33-5204-439E-9A32-CB8CB469FDF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0D3D4B2-33A4-4477-9D99-5789590602B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connects a key to a value: {"reading": 98}. The colon connects them; record["reading"] finds the value by its key.</a:t>
            </a:r>
          </a:p>
        </p:txBody>
      </p:sp>
      <p:sp>
        <p:nvSpPr>
          <p:cNvPr id="6" name="">
            <a:extLst xmlns:a="http://schemas.openxmlformats.org/drawingml/2006/main">
              <a:ext uri="{FF2B5EF4-FFF2-40B4-BE49-F238E27FC236}">
                <a16:creationId xmlns:a16="http://schemas.microsoft.com/office/drawing/2014/main" id="{0C76BC13-762F-483C-8FC8-93842924B9B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3E6ECF1-23C5-402D-A456-57BDF86A7E0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such as (2, 3) stores ordered items whose positions cannot be reassigned. A set such as {"A", "B"} stores distinct items without positions.</a:t>
            </a:r>
          </a:p>
        </p:txBody>
      </p:sp>
      <p:sp>
        <p:nvSpPr>
          <p:cNvPr id="8" name="">
            <a:extLst xmlns:a="http://schemas.openxmlformats.org/drawingml/2006/main">
              <a:ext uri="{FF2B5EF4-FFF2-40B4-BE49-F238E27FC236}">
                <a16:creationId xmlns:a16="http://schemas.microsoft.com/office/drawing/2014/main" id="{88908FEE-284D-421E-B313-DA5EB5E1D6A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5A108BE-43E2-4DFB-A12F-7A09FFB86A2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a list for today’s readings because their order matters. Week 4 develops dictionary, tuple and set operations before we use them with records.</a:t>
            </a:r>
          </a:p>
        </p:txBody>
      </p:sp>
      <p:sp>
        <p:nvSpPr>
          <p:cNvPr id="10" name="">
            <a:extLst xmlns:a="http://schemas.openxmlformats.org/drawingml/2006/main">
              <a:ext uri="{FF2B5EF4-FFF2-40B4-BE49-F238E27FC236}">
                <a16:creationId xmlns:a16="http://schemas.microsoft.com/office/drawing/2014/main" id="{C4855B03-3BC3-4687-B05F-6A82A977C9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38</a:t>
            </a:r>
          </a:p>
        </p:txBody>
      </p:sp>
    </p:spTree>
    <p:extLst>
      <p:ext uri="{BB962C8B-B14F-4D97-AF65-F5344CB8AC3E}">
        <p14:creationId xmlns:p14="http://schemas.microsoft.com/office/powerpoint/2010/main" val="796531245"/>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457DEBB-2E90-4F53-AC42-3D981CF0D6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BE1C31-11D1-45B3-B3E5-F58740E781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B177EF-E8ED-41D5-B2A0-AF2BA1DF53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method belongs to a value</a:t>
            </a:r>
          </a:p>
        </p:txBody>
      </p:sp>
      <p:sp>
        <p:nvSpPr>
          <p:cNvPr id="4" name="">
            <a:extLst xmlns:a="http://schemas.openxmlformats.org/drawingml/2006/main">
              <a:ext uri="{FF2B5EF4-FFF2-40B4-BE49-F238E27FC236}">
                <a16:creationId xmlns:a16="http://schemas.microsoft.com/office/drawing/2014/main" id="{358C534E-1D53-4F4F-86A2-AADA4EB086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3EE50F1-618A-4E68-AC63-ED3451B16DD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called by name: len(readings). A method is called through a value with a dot: readings.index(105).</a:t>
            </a:r>
          </a:p>
        </p:txBody>
      </p:sp>
      <p:sp>
        <p:nvSpPr>
          <p:cNvPr id="6" name="">
            <a:extLst xmlns:a="http://schemas.openxmlformats.org/drawingml/2006/main">
              <a:ext uri="{FF2B5EF4-FFF2-40B4-BE49-F238E27FC236}">
                <a16:creationId xmlns:a16="http://schemas.microsoft.com/office/drawing/2014/main" id="{32D53717-D97C-4C79-B556-36416322119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4DA31A-5DDF-42E1-9FF2-775D3F05B5F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index searches a list for a value and returns its first position. Here readings.index(105) returns 1. A missing value raises ValueError.</a:t>
            </a:r>
          </a:p>
        </p:txBody>
      </p:sp>
      <p:sp>
        <p:nvSpPr>
          <p:cNvPr id="8" name="">
            <a:extLst xmlns:a="http://schemas.openxmlformats.org/drawingml/2006/main">
              <a:ext uri="{FF2B5EF4-FFF2-40B4-BE49-F238E27FC236}">
                <a16:creationId xmlns:a16="http://schemas.microsoft.com/office/drawing/2014/main" id="{0DA13DF1-DA85-461C-89D5-CBECDB2D206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814522A-C580-4CFB-B1C7-1DF9F461D21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parentheses contain inputs to the operation. The square brackets in readings[1] select an item; they do a different job.</a:t>
            </a:r>
          </a:p>
        </p:txBody>
      </p:sp>
      <p:sp>
        <p:nvSpPr>
          <p:cNvPr id="10" name="">
            <a:extLst xmlns:a="http://schemas.openxmlformats.org/drawingml/2006/main">
              <a:ext uri="{FF2B5EF4-FFF2-40B4-BE49-F238E27FC236}">
                <a16:creationId xmlns:a16="http://schemas.microsoft.com/office/drawing/2014/main" id="{76EA7A0E-F9AC-4FDB-BDFB-E2ECC16CF8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39</a:t>
            </a:r>
          </a:p>
        </p:txBody>
      </p:sp>
    </p:spTree>
    <p:extLst>
      <p:ext uri="{BB962C8B-B14F-4D97-AF65-F5344CB8AC3E}">
        <p14:creationId xmlns:p14="http://schemas.microsoft.com/office/powerpoint/2010/main" val="1342011960"/>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10136E0-0B49-4FE5-9437-6C84D3CA37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917A096-18BF-4552-9A9D-90E75FB53D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59AAF77-E15A-46EB-B51A-93A35D1565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a:t>
            </a:r>
          </a:p>
        </p:txBody>
      </p:sp>
      <p:sp>
        <p:nvSpPr>
          <p:cNvPr id="4" name="">
            <a:extLst xmlns:a="http://schemas.openxmlformats.org/drawingml/2006/main">
              <a:ext uri="{FF2B5EF4-FFF2-40B4-BE49-F238E27FC236}">
                <a16:creationId xmlns:a16="http://schemas.microsoft.com/office/drawing/2014/main" id="{46D092DC-3CDD-4CB4-A939-6A08AEFE038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14E234D-485C-4709-9FD1-226E5AA9EAE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error is measured − expected. Its sign shows the direction. abs gives its magnitude: abs(-8) is 8.</a:t>
            </a:r>
          </a:p>
        </p:txBody>
      </p:sp>
      <p:sp>
        <p:nvSpPr>
          <p:cNvPr id="6" name="">
            <a:extLst xmlns:a="http://schemas.openxmlformats.org/drawingml/2006/main">
              <a:ext uri="{FF2B5EF4-FFF2-40B4-BE49-F238E27FC236}">
                <a16:creationId xmlns:a16="http://schemas.microsoft.com/office/drawing/2014/main" id="{6EFD0550-D3AC-4694-9E0F-F2D956AA33D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5BA568F-480C-4670-A568-E4B41A035E9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max finds the largest supplied value: max(2, 5, 8) is 8. Compare magnitudes when the task asks for the largest error by size.</a:t>
            </a:r>
          </a:p>
        </p:txBody>
      </p:sp>
      <p:sp>
        <p:nvSpPr>
          <p:cNvPr id="8" name="">
            <a:extLst xmlns:a="http://schemas.openxmlformats.org/drawingml/2006/main">
              <a:ext uri="{FF2B5EF4-FFF2-40B4-BE49-F238E27FC236}">
                <a16:creationId xmlns:a16="http://schemas.microsoft.com/office/drawing/2014/main" id="{2BC8B5E2-100A-41AB-B3A5-C6925AC25F2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7FB8853-8B95-47BA-B9CE-27A7A6FFB3D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signed error as well, because the magnitude alone loses direction.</a:t>
            </a:r>
          </a:p>
        </p:txBody>
      </p:sp>
      <p:sp>
        <p:nvSpPr>
          <p:cNvPr id="10" name="">
            <a:extLst xmlns:a="http://schemas.openxmlformats.org/drawingml/2006/main">
              <a:ext uri="{FF2B5EF4-FFF2-40B4-BE49-F238E27FC236}">
                <a16:creationId xmlns:a16="http://schemas.microsoft.com/office/drawing/2014/main" id="{714E72A0-FBF5-4B0E-AFEB-09D3C49891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40</a:t>
            </a:r>
          </a:p>
        </p:txBody>
      </p:sp>
    </p:spTree>
    <p:extLst>
      <p:ext uri="{BB962C8B-B14F-4D97-AF65-F5344CB8AC3E}">
        <p14:creationId xmlns:p14="http://schemas.microsoft.com/office/powerpoint/2010/main" val="545068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276514C-8EF2-4556-B385-C2697BDF42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ACDA68-E8E2-494E-9310-226F41EC9F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90B3175-93FA-4245-891C-69CA5831BC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 in Python</a:t>
            </a:r>
          </a:p>
        </p:txBody>
      </p:sp>
      <p:sp>
        <p:nvSpPr>
          <p:cNvPr id="4" name="">
            <a:extLst xmlns:a="http://schemas.openxmlformats.org/drawingml/2006/main">
              <a:ext uri="{FF2B5EF4-FFF2-40B4-BE49-F238E27FC236}">
                <a16:creationId xmlns:a16="http://schemas.microsoft.com/office/drawing/2014/main" id="{AE104E3A-E604-48A5-AE3E-3FCD3A51B77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BFFF42-ECC2-471F-BB85-7D277BA0191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errors = [-2, 5, -8]</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largest = max(abs(errors[0]), abs(errors[1]), abs(errors[2]))</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print(largest)</a:t>
            </a:r>
          </a:p>
        </p:txBody>
      </p:sp>
      <p:sp>
        <p:nvSpPr>
          <p:cNvPr id="6" name="">
            <a:extLst xmlns:a="http://schemas.openxmlformats.org/drawingml/2006/main">
              <a:ext uri="{FF2B5EF4-FFF2-40B4-BE49-F238E27FC236}">
                <a16:creationId xmlns:a16="http://schemas.microsoft.com/office/drawing/2014/main" id="{7988F5FC-2B00-4C6B-8B4A-AB766F08EB6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BDE1A7CD-5741-4951-B91C-E245ED1FFAB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4896E438-2347-4320-B1FB-E4CE42D2DC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41</a:t>
            </a:r>
          </a:p>
        </p:txBody>
      </p:sp>
    </p:spTree>
    <p:extLst>
      <p:ext uri="{BB962C8B-B14F-4D97-AF65-F5344CB8AC3E}">
        <p14:creationId xmlns:p14="http://schemas.microsoft.com/office/powerpoint/2010/main" val="1754686797"/>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BDF9D25-B37D-45A2-9639-1870116887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EEBFCB-D7C7-4A90-BE94-EC312B7664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4448335-93D7-45A7-B63D-12CA131694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the reading beside its signed error</a:t>
            </a:r>
          </a:p>
        </p:txBody>
      </p:sp>
      <p:sp>
        <p:nvSpPr>
          <p:cNvPr id="4" name="">
            <a:extLst xmlns:a="http://schemas.openxmlformats.org/drawingml/2006/main">
              <a:ext uri="{FF2B5EF4-FFF2-40B4-BE49-F238E27FC236}">
                <a16:creationId xmlns:a16="http://schemas.microsoft.com/office/drawing/2014/main" id="{D3DC0462-1150-4B06-BD63-CB0EB3FA983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5FE3D3-5546-499B-A0B3-D595CCFC8D0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7D2836E-221E-441C-B160-B0815A78243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These paired lists use the same positions: the first error belongs to the first reading. The sign tells the direction; abs gives only the size.</a:t>
            </a:r>
          </a:p>
        </p:txBody>
      </p:sp>
      <p:sp>
        <p:nvSpPr>
          <p:cNvPr id="7" name="">
            <a:extLst xmlns:a="http://schemas.openxmlformats.org/drawingml/2006/main">
              <a:ext uri="{FF2B5EF4-FFF2-40B4-BE49-F238E27FC236}">
                <a16:creationId xmlns:a16="http://schemas.microsoft.com/office/drawing/2014/main" id="{4A4998C7-89E6-4EE3-A0F7-C5F9D56ECB3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index(value) finds the first position containing that value. Use that position in the original lists. An exact tie selects the first here; follow the issued task’s rule.</a:t>
            </a:r>
          </a:p>
        </p:txBody>
      </p:sp>
      <p:sp>
        <p:nvSpPr>
          <p:cNvPr id="8" name="">
            <a:extLst xmlns:a="http://schemas.openxmlformats.org/drawingml/2006/main">
              <a:ext uri="{FF2B5EF4-FFF2-40B4-BE49-F238E27FC236}">
                <a16:creationId xmlns:a16="http://schemas.microsoft.com/office/drawing/2014/main" id="{FC680AEF-ADC4-40C6-B5AA-D6E5E471B1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42</a:t>
            </a:r>
          </a:p>
        </p:txBody>
      </p:sp>
    </p:spTree>
    <p:extLst>
      <p:ext uri="{BB962C8B-B14F-4D97-AF65-F5344CB8AC3E}">
        <p14:creationId xmlns:p14="http://schemas.microsoft.com/office/powerpoint/2010/main" val="154536432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3CDD29-79F6-4BC5-82FF-933447E6B1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8724EA-69CB-411B-B210-36E2ED266B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9F826C3-1BC0-4BAF-83C5-680D0F97BF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position, then recover the original values</a:t>
            </a:r>
          </a:p>
        </p:txBody>
      </p:sp>
      <p:sp>
        <p:nvSpPr>
          <p:cNvPr id="4" name="">
            <a:extLst xmlns:a="http://schemas.openxmlformats.org/drawingml/2006/main">
              <a:ext uri="{FF2B5EF4-FFF2-40B4-BE49-F238E27FC236}">
                <a16:creationId xmlns:a16="http://schemas.microsoft.com/office/drawing/2014/main" id="{3A87FAB1-3DF3-4170-B007-ECE86A6A6E5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47331BE-10E2-49B4-831C-D9E89BA9D28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[-2, 5,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sizes = [abs(errors[0]), abs(errors[1]), abs(errors[2])]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position = sizes.index(max(sizes))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print(readings[position], errors[position])</a:t>
            </a:r>
          </a:p>
        </p:txBody>
      </p:sp>
      <p:sp>
        <p:nvSpPr>
          <p:cNvPr id="6" name="">
            <a:extLst xmlns:a="http://schemas.openxmlformats.org/drawingml/2006/main">
              <a:ext uri="{FF2B5EF4-FFF2-40B4-BE49-F238E27FC236}">
                <a16:creationId xmlns:a16="http://schemas.microsoft.com/office/drawing/2014/main" id="{995765E8-797E-4D69-AAEC-2B0E16EF82E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A1436A28-66F2-41C7-AF1C-A606AFF6893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92 -8. The largest size is 8; the signed error is -8.</a:t>
            </a:r>
          </a:p>
        </p:txBody>
      </p:sp>
      <p:sp>
        <p:nvSpPr>
          <p:cNvPr id="8" name="">
            <a:extLst xmlns:a="http://schemas.openxmlformats.org/drawingml/2006/main">
              <a:ext uri="{FF2B5EF4-FFF2-40B4-BE49-F238E27FC236}">
                <a16:creationId xmlns:a16="http://schemas.microsoft.com/office/drawing/2014/main" id="{856C006D-F342-4E31-95EF-7B2F376B47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43</a:t>
            </a:r>
          </a:p>
        </p:txBody>
      </p:sp>
    </p:spTree>
    <p:extLst>
      <p:ext uri="{BB962C8B-B14F-4D97-AF65-F5344CB8AC3E}">
        <p14:creationId xmlns:p14="http://schemas.microsoft.com/office/powerpoint/2010/main" val="211497154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3BD880-7C38-4BFD-A063-0554FBB805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B7A8A7-78A3-4CA7-AE9F-D240910564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AF6B18A-2637-431A-8C02-0BA61F27C1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6E2A5597-1582-4FDF-9B67-92F26E72ACD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A3CEBF-F3AC-4CB5-BC57-E344F2B1581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A5EA49D-C042-4187-B285-DC91F5072EF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Write triple_value(x). Predict triple_value(5). Then predict safe_share(12, 0).</a:t>
            </a:r>
          </a:p>
        </p:txBody>
      </p:sp>
      <p:sp>
        <p:nvSpPr>
          <p:cNvPr id="7" name="">
            <a:extLst xmlns:a="http://schemas.openxmlformats.org/drawingml/2006/main">
              <a:ext uri="{FF2B5EF4-FFF2-40B4-BE49-F238E27FC236}">
                <a16:creationId xmlns:a16="http://schemas.microsoft.com/office/drawing/2014/main" id="{5712399B-DEDB-4A5F-ACB2-6CAA52CD422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triple_value returns x * 3. The calls give 15 and None respectively. The guard returns before division when people is zero.</a:t>
            </a:r>
          </a:p>
        </p:txBody>
      </p:sp>
      <p:sp>
        <p:nvSpPr>
          <p:cNvPr id="8" name="">
            <a:extLst xmlns:a="http://schemas.openxmlformats.org/drawingml/2006/main">
              <a:ext uri="{FF2B5EF4-FFF2-40B4-BE49-F238E27FC236}">
                <a16:creationId xmlns:a16="http://schemas.microsoft.com/office/drawing/2014/main" id="{A36C9B81-03D0-40FE-A804-B14B92BC46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44</a:t>
            </a:r>
          </a:p>
        </p:txBody>
      </p:sp>
    </p:spTree>
    <p:extLst>
      <p:ext uri="{BB962C8B-B14F-4D97-AF65-F5344CB8AC3E}">
        <p14:creationId xmlns:p14="http://schemas.microsoft.com/office/powerpoint/2010/main" val="132927944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05A7B8D-D154-4143-BC34-275A7F69E7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7F44FB-4A78-48CC-ABB9-9C7AE11056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BBCD2A4-A63B-43BB-B60C-A0B1911AF5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before the formulas</a:t>
            </a:r>
          </a:p>
        </p:txBody>
      </p:sp>
      <p:sp>
        <p:nvSpPr>
          <p:cNvPr id="4" name="">
            <a:extLst xmlns:a="http://schemas.openxmlformats.org/drawingml/2006/main">
              <a:ext uri="{FF2B5EF4-FFF2-40B4-BE49-F238E27FC236}">
                <a16:creationId xmlns:a16="http://schemas.microsoft.com/office/drawing/2014/main" id="{FCDE21D6-92F0-4C1C-9DF3-826D1E7BD6B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EE5CA0-5F6D-428E-A29D-4CA069BAA88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Mass measures matter in kilograms (kg). Weight is a force in newtons (N): mass × gravitational acceleration. The assignment uses g = 9.81 m/s².</a:t>
            </a:r>
          </a:p>
        </p:txBody>
      </p:sp>
      <p:sp>
        <p:nvSpPr>
          <p:cNvPr id="6" name="">
            <a:extLst xmlns:a="http://schemas.openxmlformats.org/drawingml/2006/main">
              <a:ext uri="{FF2B5EF4-FFF2-40B4-BE49-F238E27FC236}">
                <a16:creationId xmlns:a16="http://schemas.microsoft.com/office/drawing/2014/main" id="{8C72A185-F92F-410F-9595-61DAE60CB22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EC44969-C28C-4284-8303-E1EFF30F086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is energy transferred per second, in watts (W). Efficiency in percent = 100 × useful output power / input power.</a:t>
            </a:r>
          </a:p>
        </p:txBody>
      </p:sp>
      <p:sp>
        <p:nvSpPr>
          <p:cNvPr id="8" name="">
            <a:extLst xmlns:a="http://schemas.openxmlformats.org/drawingml/2006/main">
              <a:ext uri="{FF2B5EF4-FFF2-40B4-BE49-F238E27FC236}">
                <a16:creationId xmlns:a16="http://schemas.microsoft.com/office/drawing/2014/main" id="{A6AFA5FB-5DF0-4CA2-87A0-4B044580F40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2C124DD-F3F8-491B-9CC4-1A02AA77891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named constant stores a value kept fixed in the calculation. Uppercase names such as G are a convention, not a Python restriction.</a:t>
            </a:r>
          </a:p>
        </p:txBody>
      </p:sp>
      <p:sp>
        <p:nvSpPr>
          <p:cNvPr id="10" name="">
            <a:extLst xmlns:a="http://schemas.openxmlformats.org/drawingml/2006/main">
              <a:ext uri="{FF2B5EF4-FFF2-40B4-BE49-F238E27FC236}">
                <a16:creationId xmlns:a16="http://schemas.microsoft.com/office/drawing/2014/main" id="{F965557A-5B09-4D67-8135-C94AF7AA4C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45</a:t>
            </a:r>
          </a:p>
        </p:txBody>
      </p:sp>
    </p:spTree>
    <p:extLst>
      <p:ext uri="{BB962C8B-B14F-4D97-AF65-F5344CB8AC3E}">
        <p14:creationId xmlns:p14="http://schemas.microsoft.com/office/powerpoint/2010/main" val="204229185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7CB135A-63B8-4F02-8904-76D0A9ACA6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C83186-056F-4519-805A-3103B4A017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0E355AD-CB07-4A12-BE9C-C0BDD25916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programme formula</a:t>
            </a:r>
          </a:p>
        </p:txBody>
      </p:sp>
      <p:sp>
        <p:nvSpPr>
          <p:cNvPr id="4" name="">
            <a:extLst xmlns:a="http://schemas.openxmlformats.org/drawingml/2006/main">
              <a:ext uri="{FF2B5EF4-FFF2-40B4-BE49-F238E27FC236}">
                <a16:creationId xmlns:a16="http://schemas.microsoft.com/office/drawing/2014/main" id="{0D10D710-0626-43D7-AD58-4CD40D9C38E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99CE73-8BFD-46A6-A1A4-0A3537A4C15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Hydrostatic pressure (kPa) = density (kg/m³) × 9.81 (m/s²) × depth (m) / 1000.</a:t>
            </a:r>
          </a:p>
        </p:txBody>
      </p:sp>
      <p:sp>
        <p:nvSpPr>
          <p:cNvPr id="6" name="">
            <a:extLst xmlns:a="http://schemas.openxmlformats.org/drawingml/2006/main">
              <a:ext uri="{FF2B5EF4-FFF2-40B4-BE49-F238E27FC236}">
                <a16:creationId xmlns:a16="http://schemas.microsoft.com/office/drawing/2014/main" id="{F1A33896-B132-46F7-A62D-AB61A92797F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is the pressure contribution of the fluid column.</a:t>
            </a:r>
          </a:p>
        </p:txBody>
      </p:sp>
      <p:sp>
        <p:nvSpPr>
          <p:cNvPr id="7" name="">
            <a:extLst xmlns:a="http://schemas.openxmlformats.org/drawingml/2006/main">
              <a:ext uri="{FF2B5EF4-FFF2-40B4-BE49-F238E27FC236}">
                <a16:creationId xmlns:a16="http://schemas.microsoft.com/office/drawing/2014/main" id="{E89E3010-D094-47DD-81CB-482E676380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46</a:t>
            </a:r>
          </a:p>
        </p:txBody>
      </p:sp>
    </p:spTree>
    <p:extLst>
      <p:ext uri="{BB962C8B-B14F-4D97-AF65-F5344CB8AC3E}">
        <p14:creationId xmlns:p14="http://schemas.microsoft.com/office/powerpoint/2010/main" val="1583405521"/>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C537AA3-EB11-44C6-8EDF-7A52E0BC22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C1F854-6157-4832-9713-CF4CD2AF61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F6722F7-1005-4CF1-AFE4-272434D47E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BD607580-3300-467D-809E-D79CA4938B7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E134E8-2599-45F4-9C35-8D4B820AF01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A3 has five named tasks, not five additional projects.</a:t>
            </a:r>
          </a:p>
        </p:txBody>
      </p:sp>
      <p:sp>
        <p:nvSpPr>
          <p:cNvPr id="6" name="">
            <a:extLst xmlns:a="http://schemas.openxmlformats.org/drawingml/2006/main">
              <a:ext uri="{FF2B5EF4-FFF2-40B4-BE49-F238E27FC236}">
                <a16:creationId xmlns:a16="http://schemas.microsoft.com/office/drawing/2014/main" id="{9F895F01-A2E4-4AD8-A08D-453F197933A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0B18F57-ACAA-4BFB-841F-43BF8044E9D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public prompt and its exact output name.</a:t>
            </a:r>
          </a:p>
        </p:txBody>
      </p:sp>
      <p:sp>
        <p:nvSpPr>
          <p:cNvPr id="8" name="">
            <a:extLst xmlns:a="http://schemas.openxmlformats.org/drawingml/2006/main">
              <a:ext uri="{FF2B5EF4-FFF2-40B4-BE49-F238E27FC236}">
                <a16:creationId xmlns:a16="http://schemas.microsoft.com/office/drawing/2014/main" id="{D657FFDA-32D0-4BF9-A5B1-A7649AD5653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2832D30-8BAE-4BA3-AB1C-59EF5E44C29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Signed percentage error = 100 × (measured − expected) / expected.</a:t>
            </a:r>
          </a:p>
        </p:txBody>
      </p:sp>
      <p:sp>
        <p:nvSpPr>
          <p:cNvPr id="10" name="">
            <a:extLst xmlns:a="http://schemas.openxmlformats.org/drawingml/2006/main">
              <a:ext uri="{FF2B5EF4-FFF2-40B4-BE49-F238E27FC236}">
                <a16:creationId xmlns:a16="http://schemas.microsoft.com/office/drawing/2014/main" id="{D5FDD4FC-81A9-4108-807A-4F4E83D44E6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54905BC-F69B-4D15-9EF7-58EA3C717A9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nonzero expected value.</a:t>
            </a:r>
          </a:p>
        </p:txBody>
      </p:sp>
      <p:sp>
        <p:nvSpPr>
          <p:cNvPr id="12" name="">
            <a:extLst xmlns:a="http://schemas.openxmlformats.org/drawingml/2006/main">
              <a:ext uri="{FF2B5EF4-FFF2-40B4-BE49-F238E27FC236}">
                <a16:creationId xmlns:a16="http://schemas.microsoft.com/office/drawing/2014/main" id="{B642021C-F03D-4BA6-B1F9-4EA57DDFA1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47</a:t>
            </a:r>
          </a:p>
        </p:txBody>
      </p:sp>
    </p:spTree>
    <p:extLst>
      <p:ext uri="{BB962C8B-B14F-4D97-AF65-F5344CB8AC3E}">
        <p14:creationId xmlns:p14="http://schemas.microsoft.com/office/powerpoint/2010/main" val="1679320198"/>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7C1C260-6C7C-4FAB-93CB-058DA33FD6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1645485-5397-4CC5-83BE-0840E51450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257D540-E343-48BF-8C94-4A53B3B80B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B2180B0B-0207-4341-9215-EA9BB896FEB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631754E-FC99-4108-A3D2-17069AA27763}"/>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formula for your programme shown earlier. q4 specifies the zero-input behaviour. q5 uses the supplied six readings; trace them on paper, and use your own percentage-error function.</a:t>
            </a:r>
          </a:p>
        </p:txBody>
      </p:sp>
      <p:sp>
        <p:nvSpPr>
          <p:cNvPr id="6" name="">
            <a:extLst xmlns:a="http://schemas.openxmlformats.org/drawingml/2006/main">
              <a:ext uri="{FF2B5EF4-FFF2-40B4-BE49-F238E27FC236}">
                <a16:creationId xmlns:a16="http://schemas.microsoft.com/office/drawing/2014/main" id="{58957B00-F13E-4EF7-8E77-F034345A5E0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594F52E-8F9E-46C3-8060-097368CD3482}"/>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Loops are not required yet.</a:t>
            </a:r>
          </a:p>
        </p:txBody>
      </p:sp>
      <p:sp>
        <p:nvSpPr>
          <p:cNvPr id="8" name="">
            <a:extLst xmlns:a="http://schemas.openxmlformats.org/drawingml/2006/main">
              <a:ext uri="{FF2B5EF4-FFF2-40B4-BE49-F238E27FC236}">
                <a16:creationId xmlns:a16="http://schemas.microsoft.com/office/drawing/2014/main" id="{EB487235-35CC-4BC4-BA35-19B7B819E5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48</a:t>
            </a:r>
          </a:p>
        </p:txBody>
      </p:sp>
    </p:spTree>
    <p:extLst>
      <p:ext uri="{BB962C8B-B14F-4D97-AF65-F5344CB8AC3E}">
        <p14:creationId xmlns:p14="http://schemas.microsoft.com/office/powerpoint/2010/main" val="143355439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91283F3-FE1D-45C3-ABE4-19D9484231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1AE782-1FDF-458C-921C-CA5EA35B74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7088689-209E-416D-B0BF-99F3BF8BB0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 conversions for the assignment</a:t>
            </a:r>
          </a:p>
        </p:txBody>
      </p:sp>
      <p:sp>
        <p:nvSpPr>
          <p:cNvPr id="4" name="">
            <a:extLst xmlns:a="http://schemas.openxmlformats.org/drawingml/2006/main">
              <a:ext uri="{FF2B5EF4-FFF2-40B4-BE49-F238E27FC236}">
                <a16:creationId xmlns:a16="http://schemas.microsoft.com/office/drawing/2014/main" id="{B39052EE-A2DD-41B6-90DE-CA3298FBF62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9CE2436-A888-481F-A3B2-3D770ACF672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Millimetres become metres by dividing by 1000: 200 mm is 0.2 m.</a:t>
            </a:r>
          </a:p>
        </p:txBody>
      </p:sp>
      <p:sp>
        <p:nvSpPr>
          <p:cNvPr id="6" name="">
            <a:extLst xmlns:a="http://schemas.openxmlformats.org/drawingml/2006/main">
              <a:ext uri="{FF2B5EF4-FFF2-40B4-BE49-F238E27FC236}">
                <a16:creationId xmlns:a16="http://schemas.microsoft.com/office/drawing/2014/main" id="{FB641E0D-8740-4AAA-9280-3FA3CF20976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97257E2-253A-4A9D-97BF-ECF19BDBFB1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Percent becomes a fraction by dividing by 100: 75% is 0.75.</a:t>
            </a:r>
          </a:p>
        </p:txBody>
      </p:sp>
      <p:sp>
        <p:nvSpPr>
          <p:cNvPr id="8" name="">
            <a:extLst xmlns:a="http://schemas.openxmlformats.org/drawingml/2006/main">
              <a:ext uri="{FF2B5EF4-FFF2-40B4-BE49-F238E27FC236}">
                <a16:creationId xmlns:a16="http://schemas.microsoft.com/office/drawing/2014/main" id="{1A67E7AB-2AFB-49DC-859B-6B85F67F518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2930586-D60D-43E1-9D3E-99036280C6D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for rotational-speed questions: rpm means revolutions per minute. One revolution is 2π radians and one minute is 60 seconds, so multiply rpm by 2π/60.</a:t>
            </a:r>
          </a:p>
        </p:txBody>
      </p:sp>
      <p:sp>
        <p:nvSpPr>
          <p:cNvPr id="10" name="">
            <a:extLst xmlns:a="http://schemas.openxmlformats.org/drawingml/2006/main">
              <a:ext uri="{FF2B5EF4-FFF2-40B4-BE49-F238E27FC236}">
                <a16:creationId xmlns:a16="http://schemas.microsoft.com/office/drawing/2014/main" id="{36574940-6713-4953-BCBA-880624A139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49</a:t>
            </a:r>
          </a:p>
        </p:txBody>
      </p:sp>
    </p:spTree>
    <p:extLst>
      <p:ext uri="{BB962C8B-B14F-4D97-AF65-F5344CB8AC3E}">
        <p14:creationId xmlns:p14="http://schemas.microsoft.com/office/powerpoint/2010/main" val="165553859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F665352-8CC7-4741-8203-53AAEFCAF4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A9DC2A-0451-4C68-8CBE-C557E0C961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6C0A0E0-8474-4288-9081-55614903D4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1B72CA44-EFC8-40A6-AC78-0D23A178BC0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17E1D08-180B-4483-8C66-0111FB5CC1B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W03_student.ipynb.</a:t>
            </a:r>
          </a:p>
        </p:txBody>
      </p:sp>
      <p:sp>
        <p:nvSpPr>
          <p:cNvPr id="6" name="">
            <a:extLst xmlns:a="http://schemas.openxmlformats.org/drawingml/2006/main">
              <a:ext uri="{FF2B5EF4-FFF2-40B4-BE49-F238E27FC236}">
                <a16:creationId xmlns:a16="http://schemas.microsoft.com/office/drawing/2014/main" id="{837C9129-0E35-437A-B01B-E6AB43DE630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35BEE2-11DD-4C5C-82B4-54387C19937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2A32B595-0083-4BB5-9FF6-5256DC39036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387AAEF-A447-429C-A49A-F3FA2780E96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7AD90B7F-4CD7-45DB-AFCA-024CA594A84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8BA5A54-06DB-487D-8F09-C59904B3EC9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visible checks, then restart and run all.</a:t>
            </a:r>
          </a:p>
        </p:txBody>
      </p:sp>
      <p:sp>
        <p:nvSpPr>
          <p:cNvPr id="12" name="">
            <a:extLst xmlns:a="http://schemas.openxmlformats.org/drawingml/2006/main">
              <a:ext uri="{FF2B5EF4-FFF2-40B4-BE49-F238E27FC236}">
                <a16:creationId xmlns:a16="http://schemas.microsoft.com/office/drawing/2014/main" id="{4C5C4B1C-3B4D-4D71-94E8-CCBD9E8CB1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50</a:t>
            </a:r>
          </a:p>
        </p:txBody>
      </p:sp>
    </p:spTree>
    <p:extLst>
      <p:ext uri="{BB962C8B-B14F-4D97-AF65-F5344CB8AC3E}">
        <p14:creationId xmlns:p14="http://schemas.microsoft.com/office/powerpoint/2010/main" val="1745238462"/>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5B8AC3-718F-44ED-9709-13AED11F9C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3F9CE4-E8F8-4024-9623-3CFD4EB963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C2C6406C-02D8-4A67-B494-BA9754EF92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FDA645DB-304B-4FAE-B455-4F61C137DFC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1E9AC8-A53D-460F-9F84-E447D593DAC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 40 kg motor sits on a bench.</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weight_n to its weight in newtons, taking g = 9.81.</a:t>
            </a:r>
          </a:p>
        </p:txBody>
      </p:sp>
      <p:sp>
        <p:nvSpPr>
          <p:cNvPr id="6" name="">
            <a:extLst xmlns:a="http://schemas.openxmlformats.org/drawingml/2006/main">
              <a:ext uri="{FF2B5EF4-FFF2-40B4-BE49-F238E27FC236}">
                <a16:creationId xmlns:a16="http://schemas.microsoft.com/office/drawing/2014/main" id="{0796789D-6A4C-4980-84E7-C38BB731EFE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0ED5722-2704-409E-8009-0BC5EAB7C07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8C2D998-C857-48D6-BB4F-702DC5FD70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51</a:t>
            </a:r>
          </a:p>
        </p:txBody>
      </p:sp>
    </p:spTree>
    <p:extLst>
      <p:ext uri="{BB962C8B-B14F-4D97-AF65-F5344CB8AC3E}">
        <p14:creationId xmlns:p14="http://schemas.microsoft.com/office/powerpoint/2010/main" val="190288383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C06649-59D1-403A-9F50-CC08768EB7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03469B-05F1-4677-AA60-ECA564A7FA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BFA18AA-7AD9-4E04-AE2A-51F26FB144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4 marks</a:t>
            </a:r>
          </a:p>
        </p:txBody>
      </p:sp>
      <p:sp>
        <p:nvSpPr>
          <p:cNvPr id="4" name="">
            <a:extLst xmlns:a="http://schemas.openxmlformats.org/drawingml/2006/main">
              <a:ext uri="{FF2B5EF4-FFF2-40B4-BE49-F238E27FC236}">
                <a16:creationId xmlns:a16="http://schemas.microsoft.com/office/drawing/2014/main" id="{5D7DB424-9AD4-46E4-8567-03711D500D5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7F93A8-9589-4094-B976-4146E1770D3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percent_error(measured, expected) returning the signed percent error.</a:t>
            </a:r>
          </a:p>
        </p:txBody>
      </p:sp>
      <p:sp>
        <p:nvSpPr>
          <p:cNvPr id="6" name="">
            <a:extLst xmlns:a="http://schemas.openxmlformats.org/drawingml/2006/main">
              <a:ext uri="{FF2B5EF4-FFF2-40B4-BE49-F238E27FC236}">
                <a16:creationId xmlns:a16="http://schemas.microsoft.com/office/drawing/2014/main" id="{1C023DBB-03F3-407D-AA4E-34898DD80584}"/>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287D106-5436-47B8-A378-320F31D26C19}"/>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54E7CA4-1D77-4E39-8B7C-9F648F1096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52</a:t>
            </a:r>
          </a:p>
        </p:txBody>
      </p:sp>
    </p:spTree>
    <p:extLst>
      <p:ext uri="{BB962C8B-B14F-4D97-AF65-F5344CB8AC3E}">
        <p14:creationId xmlns:p14="http://schemas.microsoft.com/office/powerpoint/2010/main" val="1250822311"/>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CFA79C2-D78F-49DF-AC60-0610FB2059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87D17B-5C8F-48E6-93E6-6F48DF4743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48B5B3D-F880-47F6-AE33-7BDA588A90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3 marks</a:t>
            </a:r>
          </a:p>
        </p:txBody>
      </p:sp>
      <p:sp>
        <p:nvSpPr>
          <p:cNvPr id="4" name="">
            <a:extLst xmlns:a="http://schemas.openxmlformats.org/drawingml/2006/main">
              <a:ext uri="{FF2B5EF4-FFF2-40B4-BE49-F238E27FC236}">
                <a16:creationId xmlns:a16="http://schemas.microsoft.com/office/drawing/2014/main" id="{77405A55-7381-4E79-806E-7E4BE4A2E2C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4E6138-8A1B-4309-9F87-F6F8D78B9D0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mud_pressure(depth_m, density) returning the hydrostatic pressure in kPa.</a:t>
            </a:r>
          </a:p>
        </p:txBody>
      </p:sp>
      <p:sp>
        <p:nvSpPr>
          <p:cNvPr id="6" name="">
            <a:extLst xmlns:a="http://schemas.openxmlformats.org/drawingml/2006/main">
              <a:ext uri="{FF2B5EF4-FFF2-40B4-BE49-F238E27FC236}">
                <a16:creationId xmlns:a16="http://schemas.microsoft.com/office/drawing/2014/main" id="{1083B9FD-0AA7-4989-835F-7AF0C9DF730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5B7D1BA-5A7D-40CE-B9EA-9E893CEDD1B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F1403655-7DFB-43CF-977C-450AF172ED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53</a:t>
            </a:r>
          </a:p>
        </p:txBody>
      </p:sp>
    </p:spTree>
    <p:extLst>
      <p:ext uri="{BB962C8B-B14F-4D97-AF65-F5344CB8AC3E}">
        <p14:creationId xmlns:p14="http://schemas.microsoft.com/office/powerpoint/2010/main" val="503195979"/>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F35AE2-AB17-4B59-9424-F3264ED427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E33AD56-F022-49EA-844F-24EE5C730E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7395B69-EA5F-4BBF-ACF8-1C6126E221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5 marks</a:t>
            </a:r>
          </a:p>
        </p:txBody>
      </p:sp>
      <p:sp>
        <p:nvSpPr>
          <p:cNvPr id="4" name="">
            <a:extLst xmlns:a="http://schemas.openxmlformats.org/drawingml/2006/main">
              <a:ext uri="{FF2B5EF4-FFF2-40B4-BE49-F238E27FC236}">
                <a16:creationId xmlns:a16="http://schemas.microsoft.com/office/drawing/2014/main" id="{09F509A4-EC06-4994-9FAB-49DC3B8D9AA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5B4D7F-2B2F-4DB9-BB55-A56E6EF12C3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efficiency(out_w, in_w) returning the percentage, and returning None when in_w is zero or negative.</a:t>
            </a:r>
          </a:p>
        </p:txBody>
      </p:sp>
      <p:sp>
        <p:nvSpPr>
          <p:cNvPr id="6" name="">
            <a:extLst xmlns:a="http://schemas.openxmlformats.org/drawingml/2006/main">
              <a:ext uri="{FF2B5EF4-FFF2-40B4-BE49-F238E27FC236}">
                <a16:creationId xmlns:a16="http://schemas.microsoft.com/office/drawing/2014/main" id="{F1272D6F-FCA6-4458-A7B8-5B668DAB625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9BDFDBD-3AB6-4C50-97B0-22DA34FBA8F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56721C63-FD62-4F14-9AED-51618E8378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54</a:t>
            </a:r>
          </a:p>
        </p:txBody>
      </p:sp>
    </p:spTree>
    <p:extLst>
      <p:ext uri="{BB962C8B-B14F-4D97-AF65-F5344CB8AC3E}">
        <p14:creationId xmlns:p14="http://schemas.microsoft.com/office/powerpoint/2010/main" val="60533040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464DD5F-794D-452C-A80D-9FE7C24E46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47E6B0-1312-493E-BF23-71334CD0B8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3281B9A-7FA3-4317-8EA0-787753F75E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5 marks</a:t>
            </a:r>
          </a:p>
        </p:txBody>
      </p:sp>
      <p:sp>
        <p:nvSpPr>
          <p:cNvPr id="4" name="">
            <a:extLst xmlns:a="http://schemas.openxmlformats.org/drawingml/2006/main">
              <a:ext uri="{FF2B5EF4-FFF2-40B4-BE49-F238E27FC236}">
                <a16:creationId xmlns:a16="http://schemas.microsoft.com/office/drawing/2014/main" id="{F99E3827-55E6-49D2-BC21-273D973111B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5C4247-8C8F-42BB-A125-1D30D74C98C1}"/>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READINGS is given in the notebook.</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Using your own percent_error against a nominal of 100, set worst_reading to the reading with the largest error by size, and worst_error to that reading's signed percent error.</a:t>
            </a:r>
          </a:p>
        </p:txBody>
      </p:sp>
      <p:sp>
        <p:nvSpPr>
          <p:cNvPr id="6" name="">
            <a:extLst xmlns:a="http://schemas.openxmlformats.org/drawingml/2006/main">
              <a:ext uri="{FF2B5EF4-FFF2-40B4-BE49-F238E27FC236}">
                <a16:creationId xmlns:a16="http://schemas.microsoft.com/office/drawing/2014/main" id="{DB516327-E2B9-4CC0-8845-4E57EACB018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C5D3D5E-F78C-4848-ADF0-0685B0C32D5F}"/>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FC06CF10-4568-464C-883F-DB1616715C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55</a:t>
            </a:r>
          </a:p>
        </p:txBody>
      </p:sp>
    </p:spTree>
    <p:extLst>
      <p:ext uri="{BB962C8B-B14F-4D97-AF65-F5344CB8AC3E}">
        <p14:creationId xmlns:p14="http://schemas.microsoft.com/office/powerpoint/2010/main" val="1584903886"/>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262160C-CF97-436F-A836-7A5B14F9B4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A642D4-0A1A-48EC-BDB7-B63008627A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CD00684A-59DF-49E9-B80E-2401B3F74E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functions submission</a:t>
            </a:r>
          </a:p>
        </p:txBody>
      </p:sp>
      <p:sp>
        <p:nvSpPr>
          <p:cNvPr id="4" name="">
            <a:extLst xmlns:a="http://schemas.openxmlformats.org/drawingml/2006/main">
              <a:ext uri="{FF2B5EF4-FFF2-40B4-BE49-F238E27FC236}">
                <a16:creationId xmlns:a16="http://schemas.microsoft.com/office/drawing/2014/main" id="{93852015-43DD-40D1-959E-7759A652EB6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A98FD1F-F7B7-4E3D-B6AC-AEA199D983E8}"/>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25 Sep 2026, 08:00 Kampala</a:t>
            </a:r>
          </a:p>
        </p:txBody>
      </p:sp>
      <p:sp>
        <p:nvSpPr>
          <p:cNvPr id="6" name="">
            <a:extLst xmlns:a="http://schemas.openxmlformats.org/drawingml/2006/main">
              <a:ext uri="{FF2B5EF4-FFF2-40B4-BE49-F238E27FC236}">
                <a16:creationId xmlns:a16="http://schemas.microsoft.com/office/drawing/2014/main" id="{54209452-6565-4E21-8696-570BA913124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E648BA4-FB15-4023-856C-E2D457CE90CB}"/>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02 Oct 2026, 08:00 Kampala</a:t>
            </a:r>
          </a:p>
        </p:txBody>
      </p:sp>
      <p:sp>
        <p:nvSpPr>
          <p:cNvPr id="8" name="">
            <a:extLst xmlns:a="http://schemas.openxmlformats.org/drawingml/2006/main">
              <a:ext uri="{FF2B5EF4-FFF2-40B4-BE49-F238E27FC236}">
                <a16:creationId xmlns:a16="http://schemas.microsoft.com/office/drawing/2014/main" id="{AC20CF6C-7CE9-4FE8-B58A-3F3B757AA54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E48D448-DA2F-4D21-8748-6A5C83C7BDC7}"/>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C2B77BA3-3976-43B8-A97C-6DB19DBAFA8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540E702-F494-46B2-85BD-A8BEC94303F6}"/>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AEDF050E-759C-45CC-BE61-54AF921AA3B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AF7A5CE-7C71-4584-88EF-55A8E2C9AD6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179dca88d454b21"/>
              </a:rPr>
              <a:t>Open W03 assignment form</a:t>
            </a:r>
          </a:p>
        </p:txBody>
      </p:sp>
      <p:sp>
        <p:nvSpPr>
          <p:cNvPr id="14" name="">
            <a:extLst xmlns:a="http://schemas.openxmlformats.org/drawingml/2006/main">
              <a:ext uri="{FF2B5EF4-FFF2-40B4-BE49-F238E27FC236}">
                <a16:creationId xmlns:a16="http://schemas.microsoft.com/office/drawing/2014/main" id="{ABF27900-305F-48BB-B7F0-AFEFD991B96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https://docs.google.com/forms/d/e/1FAIpQLSfd3oHKoR26Uc9BSQ5WEQosAD4ZnrRHT4JZRQmLrslca35tlA/viewform</a:t>
            </a:r>
          </a:p>
        </p:txBody>
      </p:sp>
      <p:sp>
        <p:nvSpPr>
          <p:cNvPr id="15" name="">
            <a:extLst xmlns:a="http://schemas.openxmlformats.org/drawingml/2006/main">
              <a:ext uri="{FF2B5EF4-FFF2-40B4-BE49-F238E27FC236}">
                <a16:creationId xmlns:a16="http://schemas.microsoft.com/office/drawing/2014/main" id="{44CE1FF0-985D-4EC3-BFA3-58C92871D1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56</a:t>
            </a:r>
          </a:p>
        </p:txBody>
      </p:sp>
    </p:spTree>
    <p:extLst>
      <p:ext uri="{BB962C8B-B14F-4D97-AF65-F5344CB8AC3E}">
        <p14:creationId xmlns:p14="http://schemas.microsoft.com/office/powerpoint/2010/main" val="2018905091"/>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EE647E9-9F4A-4669-AD6E-4618426F87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54C3F5D-6B21-4ECE-BEB5-F16FA18F3F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53652E99-8F11-4D59-820F-1AC54F6A3B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quiz</a:t>
            </a:r>
          </a:p>
        </p:txBody>
      </p:sp>
      <p:sp>
        <p:nvSpPr>
          <p:cNvPr id="4" name="">
            <a:extLst xmlns:a="http://schemas.openxmlformats.org/drawingml/2006/main">
              <a:ext uri="{FF2B5EF4-FFF2-40B4-BE49-F238E27FC236}">
                <a16:creationId xmlns:a16="http://schemas.microsoft.com/office/drawing/2014/main" id="{1347EC87-6D1E-4745-B3BC-80A11655531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4555906-1C32-4BD9-B3B6-830DDC4913ED}"/>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0022BB91-68E0-4A9D-8BCD-E93DB32FC06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99FEA08-964E-4ECD-9CFC-C7C2F314E577}"/>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663F3595-3A01-4946-8602-CCAC8F9CE43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63D6242-4118-48A7-85D9-209D8659038F}"/>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3D18E772-EF9C-4A31-ABED-ED71CBE4E8F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7EC7CAA-8548-4432-B96E-DD04F9479D66}"/>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ed89fa3e0a374ff1"/>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A29370E4-0553-4CE9-BA0F-C54CD9A34139}"/>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2AC6CF59-C773-4DDD-95D3-7C8E9B0A536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21C40AD-21EE-4FD6-8E33-A4C53479E3F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87a9635c6724f77"/>
              </a:rPr>
              <a:t>Open this week’s quiz</a:t>
            </a:r>
          </a:p>
        </p:txBody>
      </p:sp>
      <p:sp>
        <p:nvSpPr>
          <p:cNvPr id="16" name="">
            <a:extLst xmlns:a="http://schemas.openxmlformats.org/drawingml/2006/main">
              <a:ext uri="{FF2B5EF4-FFF2-40B4-BE49-F238E27FC236}">
                <a16:creationId xmlns:a16="http://schemas.microsoft.com/office/drawing/2014/main" id="{870F962B-0D64-41A6-A348-54787C62B5E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https://forms.gle/cDMd8seSsFuXF4658</a:t>
            </a:r>
          </a:p>
        </p:txBody>
      </p:sp>
      <p:sp>
        <p:nvSpPr>
          <p:cNvPr id="17" name="">
            <a:extLst xmlns:a="http://schemas.openxmlformats.org/drawingml/2006/main">
              <a:ext uri="{FF2B5EF4-FFF2-40B4-BE49-F238E27FC236}">
                <a16:creationId xmlns:a16="http://schemas.microsoft.com/office/drawing/2014/main" id="{B8A412B2-5F7D-447C-AFEB-70C8EA0F04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57</a:t>
            </a:r>
          </a:p>
        </p:txBody>
      </p:sp>
    </p:spTree>
    <p:extLst>
      <p:ext uri="{BB962C8B-B14F-4D97-AF65-F5344CB8AC3E}">
        <p14:creationId xmlns:p14="http://schemas.microsoft.com/office/powerpoint/2010/main" val="2140134834"/>
      </p:ext>
    </p:extLst>
  </p:cSld>
</p:sld>
</file>

<file path=ppt/slides/slide5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05B78A7-825D-4B7D-98DA-FE5191ADFC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12C0929-30A6-4E7A-BA48-AC2FEBF7B0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C6582837-0E6F-43B3-9E03-ACD364C0E306}"/>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901E181D-B3E8-4A2E-85B1-9E2CA1C9D7B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each input, the returned answer and its engineering unit.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43C0128E-CFB1-4784-A563-117824728D68}"/>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CFF10A1D-2B7D-4DBF-9D28-6D65E6D3BC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3   58</a:t>
            </a:r>
          </a:p>
        </p:txBody>
      </p:sp>
    </p:spTree>
    <p:extLst>
      <p:ext uri="{BB962C8B-B14F-4D97-AF65-F5344CB8AC3E}">
        <p14:creationId xmlns:p14="http://schemas.microsoft.com/office/powerpoint/2010/main" val="1204949119"/>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F195D4F-D6D9-4FD9-9B2B-6EB20B3239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23B2AB-C59E-4FAF-AD74-3BB25FCF0F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A7EE671D-DF53-471F-BBA1-837919D390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E6AE40A2-D2D1-41FE-8D75-B61C69A359AF}"/>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59835AD-7FCA-41E6-8AA8-7B3321E90891}"/>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EB91552B-12A1-44F8-8441-5A3D676EC93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2F5ED82-D24F-4604-A9F4-E7B3415AA8DC}"/>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Corey Schafer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Tutorial for Beginners 3: Integers and Floats</a:t>
            </a:r>
          </a:p>
        </p:txBody>
      </p:sp>
      <p:sp>
        <p:nvSpPr>
          <p:cNvPr id="8" name="">
            <a:extLst xmlns:a="http://schemas.openxmlformats.org/drawingml/2006/main">
              <a:ext uri="{FF2B5EF4-FFF2-40B4-BE49-F238E27FC236}">
                <a16:creationId xmlns:a16="http://schemas.microsoft.com/office/drawing/2014/main" id="{6FFD72EE-9616-412D-A9D6-9E0D3A4CE62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D48BD4E-B743-439E-9B10-0942DE90088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00:00–04:00, suggested four-minute excerpt; preview before class</a:t>
            </a:r>
          </a:p>
        </p:txBody>
      </p:sp>
      <p:sp>
        <p:nvSpPr>
          <p:cNvPr id="10" name="">
            <a:extLst xmlns:a="http://schemas.openxmlformats.org/drawingml/2006/main">
              <a:ext uri="{FF2B5EF4-FFF2-40B4-BE49-F238E27FC236}">
                <a16:creationId xmlns:a16="http://schemas.microsoft.com/office/drawing/2014/main" id="{116A5785-DBBA-4431-BEB2-17B242BF3EF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C834D12-4EDD-487B-98C1-E539B20B7005}"/>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are numbers written and how do arithmetic operators change them?</a:t>
            </a:r>
          </a:p>
        </p:txBody>
      </p:sp>
      <p:sp>
        <p:nvSpPr>
          <p:cNvPr id="12" name="">
            <a:extLst xmlns:a="http://schemas.openxmlformats.org/drawingml/2006/main">
              <a:ext uri="{FF2B5EF4-FFF2-40B4-BE49-F238E27FC236}">
                <a16:creationId xmlns:a16="http://schemas.microsoft.com/office/drawing/2014/main" id="{35B99295-EE40-43FC-995B-5E762943A0A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13322C9-FC18-4713-AD71-4CEA35DC7DF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8b37c69179e48df"/>
              </a:rPr>
              <a:t>Open explainer video</a:t>
            </a:r>
          </a:p>
        </p:txBody>
      </p:sp>
      <p:sp>
        <p:nvSpPr>
          <p:cNvPr id="14" name="">
            <a:extLst xmlns:a="http://schemas.openxmlformats.org/drawingml/2006/main">
              <a:ext uri="{FF2B5EF4-FFF2-40B4-BE49-F238E27FC236}">
                <a16:creationId xmlns:a16="http://schemas.microsoft.com/office/drawing/2014/main" id="{89F5D46A-A07E-459F-8F3F-AF1486B18CD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https://www.youtube.com/watch?v=khKv-8q7YmY</a:t>
            </a:r>
          </a:p>
        </p:txBody>
      </p:sp>
      <p:sp>
        <p:nvSpPr>
          <p:cNvPr id="15" name="">
            <a:extLst xmlns:a="http://schemas.openxmlformats.org/drawingml/2006/main">
              <a:ext uri="{FF2B5EF4-FFF2-40B4-BE49-F238E27FC236}">
                <a16:creationId xmlns:a16="http://schemas.microsoft.com/office/drawing/2014/main" id="{6B01A554-F148-400B-B7AF-AB86762596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59</a:t>
            </a:r>
          </a:p>
        </p:txBody>
      </p:sp>
    </p:spTree>
    <p:extLst>
      <p:ext uri="{BB962C8B-B14F-4D97-AF65-F5344CB8AC3E}">
        <p14:creationId xmlns:p14="http://schemas.microsoft.com/office/powerpoint/2010/main" val="17098277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2026-09-28T21:14:23.0780000Z</dcterms:created>
  <dcterms:modified xsi:type="dcterms:W3CDTF">2026-09-28T21:14:23.0780000Z</dcterms:modified>
</coreProperties>
</file>