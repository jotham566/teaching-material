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8bbf3b3831242e4" /><Relationship Type="http://schemas.openxmlformats.org/officeDocument/2006/relationships/extended-properties" Target="/docProps/app.xml" Id="R84df7419ed724fe4" /><Relationship Type="http://schemas.openxmlformats.org/officeDocument/2006/relationships/officeDocument" Target="/ppt/presentation.xml" Id="Rd6ca8849a16149f6" /></Relationships>
</file>

<file path=ppt/presentation.xml><?xml version="1.0" encoding="utf-8"?>
<p:presentation xmlns:p="http://schemas.openxmlformats.org/presentationml/2006/main">
  <p:sldMasterIdLst>
    <p:sldMasterId xmlns:r="http://schemas.openxmlformats.org/officeDocument/2006/relationships" id="2147483648" r:id="R2746b2ce39114b6f"/>
  </p:sldMasterIdLst>
  <p:notesMasterIdLst>
    <p:notesMasterId xmlns:r="http://schemas.openxmlformats.org/officeDocument/2006/relationships" r:id="R854d5cc16f2d41a4"/>
  </p:notesMasterIdLst>
  <p:sldIdLst>
    <p:sldId xmlns:r="http://schemas.openxmlformats.org/officeDocument/2006/relationships" id="256" r:id="R7ac110b308354ce3"/>
    <p:sldId xmlns:r="http://schemas.openxmlformats.org/officeDocument/2006/relationships" id="257" r:id="R22a3f2cb9a97452c"/>
    <p:sldId xmlns:r="http://schemas.openxmlformats.org/officeDocument/2006/relationships" id="258" r:id="Rb826777e70a84745"/>
    <p:sldId xmlns:r="http://schemas.openxmlformats.org/officeDocument/2006/relationships" id="259" r:id="R2939475a260440eb"/>
    <p:sldId xmlns:r="http://schemas.openxmlformats.org/officeDocument/2006/relationships" id="260" r:id="Rded72dd3ee1c4a09"/>
    <p:sldId xmlns:r="http://schemas.openxmlformats.org/officeDocument/2006/relationships" id="261" r:id="R790aaf64e60f46c4"/>
    <p:sldId xmlns:r="http://schemas.openxmlformats.org/officeDocument/2006/relationships" id="262" r:id="R57376e800c964f83"/>
    <p:sldId xmlns:r="http://schemas.openxmlformats.org/officeDocument/2006/relationships" id="263" r:id="Reaba38ea4c264710"/>
    <p:sldId xmlns:r="http://schemas.openxmlformats.org/officeDocument/2006/relationships" id="264" r:id="Ree442b92dbba4d16"/>
    <p:sldId xmlns:r="http://schemas.openxmlformats.org/officeDocument/2006/relationships" id="265" r:id="R2289f22a6f4c4bb3"/>
    <p:sldId xmlns:r="http://schemas.openxmlformats.org/officeDocument/2006/relationships" id="266" r:id="Rf06be48192d34361"/>
    <p:sldId xmlns:r="http://schemas.openxmlformats.org/officeDocument/2006/relationships" id="267" r:id="Rbb30c53e98974feb"/>
    <p:sldId xmlns:r="http://schemas.openxmlformats.org/officeDocument/2006/relationships" id="268" r:id="R882e6e230fc541b0"/>
    <p:sldId xmlns:r="http://schemas.openxmlformats.org/officeDocument/2006/relationships" id="269" r:id="Raaa9e75ebdcb4766"/>
    <p:sldId xmlns:r="http://schemas.openxmlformats.org/officeDocument/2006/relationships" id="270" r:id="Rfe76bae3f52f4abb"/>
    <p:sldId xmlns:r="http://schemas.openxmlformats.org/officeDocument/2006/relationships" id="271" r:id="R88d5e999c5c347ab"/>
    <p:sldId xmlns:r="http://schemas.openxmlformats.org/officeDocument/2006/relationships" id="272" r:id="Rc15dbd6fbb8c4b75"/>
    <p:sldId xmlns:r="http://schemas.openxmlformats.org/officeDocument/2006/relationships" id="273" r:id="Rc52124588e734769"/>
    <p:sldId xmlns:r="http://schemas.openxmlformats.org/officeDocument/2006/relationships" id="274" r:id="R2e650af2e3ed4f9d"/>
    <p:sldId xmlns:r="http://schemas.openxmlformats.org/officeDocument/2006/relationships" id="275" r:id="Ra9da46ad0ef24026"/>
    <p:sldId xmlns:r="http://schemas.openxmlformats.org/officeDocument/2006/relationships" id="276" r:id="Ra64278cd746c42bd"/>
    <p:sldId xmlns:r="http://schemas.openxmlformats.org/officeDocument/2006/relationships" id="277" r:id="Rcc503229aece4ae7"/>
    <p:sldId xmlns:r="http://schemas.openxmlformats.org/officeDocument/2006/relationships" id="278" r:id="R0ca7f29939084416"/>
    <p:sldId xmlns:r="http://schemas.openxmlformats.org/officeDocument/2006/relationships" id="279" r:id="R45648d17e9ad4a6c"/>
    <p:sldId xmlns:r="http://schemas.openxmlformats.org/officeDocument/2006/relationships" id="280" r:id="R1b796e327c414453"/>
    <p:sldId xmlns:r="http://schemas.openxmlformats.org/officeDocument/2006/relationships" id="281" r:id="R37a568917ccd475c"/>
    <p:sldId xmlns:r="http://schemas.openxmlformats.org/officeDocument/2006/relationships" id="282" r:id="Ra7bafebe073b453a"/>
    <p:sldId xmlns:r="http://schemas.openxmlformats.org/officeDocument/2006/relationships" id="283" r:id="Rb5bea66664bf43c8"/>
    <p:sldId xmlns:r="http://schemas.openxmlformats.org/officeDocument/2006/relationships" id="284" r:id="R9bcb5a9dc0424d36"/>
    <p:sldId xmlns:r="http://schemas.openxmlformats.org/officeDocument/2006/relationships" id="285" r:id="R958efbce653545bf"/>
    <p:sldId xmlns:r="http://schemas.openxmlformats.org/officeDocument/2006/relationships" id="286" r:id="R21fd44346e9445bd"/>
    <p:sldId xmlns:r="http://schemas.openxmlformats.org/officeDocument/2006/relationships" id="287" r:id="R7328a80f0a6f4f31"/>
    <p:sldId xmlns:r="http://schemas.openxmlformats.org/officeDocument/2006/relationships" id="288" r:id="R4e1eb9127b13413f"/>
    <p:sldId xmlns:r="http://schemas.openxmlformats.org/officeDocument/2006/relationships" id="289" r:id="R6fc530130b264ebf"/>
    <p:sldId xmlns:r="http://schemas.openxmlformats.org/officeDocument/2006/relationships" id="290" r:id="R1122e321f5ee464c"/>
    <p:sldId xmlns:r="http://schemas.openxmlformats.org/officeDocument/2006/relationships" id="291" r:id="Rbcba2c90e74d4f9b"/>
    <p:sldId xmlns:r="http://schemas.openxmlformats.org/officeDocument/2006/relationships" id="292" r:id="R17ea399088c34f76"/>
    <p:sldId xmlns:r="http://schemas.openxmlformats.org/officeDocument/2006/relationships" id="293" r:id="Re80d7f039b844a9c"/>
    <p:sldId xmlns:r="http://schemas.openxmlformats.org/officeDocument/2006/relationships" id="294" r:id="R98c1f146729d445d"/>
    <p:sldId xmlns:r="http://schemas.openxmlformats.org/officeDocument/2006/relationships" id="295" r:id="R01354a374d5d4605"/>
    <p:sldId xmlns:r="http://schemas.openxmlformats.org/officeDocument/2006/relationships" id="296" r:id="R44333cb4d98346d1"/>
    <p:sldId xmlns:r="http://schemas.openxmlformats.org/officeDocument/2006/relationships" id="297" r:id="R5a5d84daa55a48f5"/>
    <p:sldId xmlns:r="http://schemas.openxmlformats.org/officeDocument/2006/relationships" id="298" r:id="Ra29af40ebd3a4f17"/>
    <p:sldId xmlns:r="http://schemas.openxmlformats.org/officeDocument/2006/relationships" id="299" r:id="Rdda6e44495ff4e93"/>
    <p:sldId xmlns:r="http://schemas.openxmlformats.org/officeDocument/2006/relationships" id="300" r:id="R716fc67d80164083"/>
    <p:sldId xmlns:r="http://schemas.openxmlformats.org/officeDocument/2006/relationships" id="301" r:id="Rdf84d695e8aa4796"/>
    <p:sldId xmlns:r="http://schemas.openxmlformats.org/officeDocument/2006/relationships" id="302" r:id="R19f77e2e95de47bb"/>
    <p:sldId xmlns:r="http://schemas.openxmlformats.org/officeDocument/2006/relationships" id="303" r:id="R4bda2f0f0bf643e7"/>
    <p:sldId xmlns:r="http://schemas.openxmlformats.org/officeDocument/2006/relationships" id="304" r:id="R0d8a086190b8469c"/>
    <p:sldId xmlns:r="http://schemas.openxmlformats.org/officeDocument/2006/relationships" id="305" r:id="Rfb78df1204c64bfa"/>
    <p:sldId xmlns:r="http://schemas.openxmlformats.org/officeDocument/2006/relationships" id="306" r:id="R10bd704c63b243b6"/>
    <p:sldId xmlns:r="http://schemas.openxmlformats.org/officeDocument/2006/relationships" id="307" r:id="R628b9d78f22d4409"/>
    <p:sldId xmlns:r="http://schemas.openxmlformats.org/officeDocument/2006/relationships" id="308" r:id="R276b327f514c4eda"/>
    <p:sldId xmlns:r="http://schemas.openxmlformats.org/officeDocument/2006/relationships" id="309" r:id="R08eb95e4b5bd407e"/>
    <p:sldId xmlns:r="http://schemas.openxmlformats.org/officeDocument/2006/relationships" id="310" r:id="R33f7b93263914d56"/>
    <p:sldId xmlns:r="http://schemas.openxmlformats.org/officeDocument/2006/relationships" id="311" r:id="R57f8b5586cfc4fc8"/>
    <p:sldId xmlns:r="http://schemas.openxmlformats.org/officeDocument/2006/relationships" id="312" r:id="R7a92a752d5e74d97"/>
    <p:sldId xmlns:r="http://schemas.openxmlformats.org/officeDocument/2006/relationships" id="313" r:id="R98d93039e63b41fd"/>
    <p:sldId xmlns:r="http://schemas.openxmlformats.org/officeDocument/2006/relationships" id="314" r:id="Re16626a5363c44e4"/>
    <p:sldId xmlns:r="http://schemas.openxmlformats.org/officeDocument/2006/relationships" id="315" r:id="R50cdcf1cc4dc41c9"/>
    <p:sldId xmlns:r="http://schemas.openxmlformats.org/officeDocument/2006/relationships" id="316" r:id="Rf24618956bb240a8"/>
    <p:sldId xmlns:r="http://schemas.openxmlformats.org/officeDocument/2006/relationships" id="317" r:id="R8a9060ae95654903"/>
    <p:sldId xmlns:r="http://schemas.openxmlformats.org/officeDocument/2006/relationships" id="318" r:id="Raca61dcb5c5a4e77"/>
    <p:sldId xmlns:r="http://schemas.openxmlformats.org/officeDocument/2006/relationships" id="319" r:id="Rd6eaab867e3749f8"/>
    <p:sldId xmlns:r="http://schemas.openxmlformats.org/officeDocument/2006/relationships" id="320" r:id="R130054048d7f461e"/>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8b6ed1bc539442c" /><Relationship Type="http://schemas.openxmlformats.org/officeDocument/2006/relationships/slideMaster" Target="/ppt/slideMasters/slideMaster1.xml" Id="R2746b2ce39114b6f" /><Relationship Type="http://schemas.openxmlformats.org/officeDocument/2006/relationships/notesMaster" Target="/ppt/notesMasters/notesMaster1.xml" Id="R854d5cc16f2d41a4" /><Relationship Type="http://schemas.openxmlformats.org/officeDocument/2006/relationships/presProps" Target="/ppt/presProps.xml" Id="R3edc840c17454eac" /><Relationship Type="http://schemas.openxmlformats.org/officeDocument/2006/relationships/tableStyles" Target="/ppt/tableStyles.xml" Id="Rf36310e05d0a4e4f" /><Relationship Type="http://schemas.openxmlformats.org/officeDocument/2006/relationships/slide" Target="/ppt/slides/slide1.xml" Id="R7ac110b308354ce3" /><Relationship Type="http://schemas.openxmlformats.org/officeDocument/2006/relationships/slide" Target="/ppt/slides/slide2.xml" Id="R22a3f2cb9a97452c" /><Relationship Type="http://schemas.openxmlformats.org/officeDocument/2006/relationships/slide" Target="/ppt/slides/slide3.xml" Id="Rb826777e70a84745" /><Relationship Type="http://schemas.openxmlformats.org/officeDocument/2006/relationships/slide" Target="/ppt/slides/slide4.xml" Id="R2939475a260440eb" /><Relationship Type="http://schemas.openxmlformats.org/officeDocument/2006/relationships/slide" Target="/ppt/slides/slide5.xml" Id="Rded72dd3ee1c4a09" /><Relationship Type="http://schemas.openxmlformats.org/officeDocument/2006/relationships/slide" Target="/ppt/slides/slide6.xml" Id="R790aaf64e60f46c4" /><Relationship Type="http://schemas.openxmlformats.org/officeDocument/2006/relationships/slide" Target="/ppt/slides/slide7.xml" Id="R57376e800c964f83" /><Relationship Type="http://schemas.openxmlformats.org/officeDocument/2006/relationships/slide" Target="/ppt/slides/slide8.xml" Id="Reaba38ea4c264710" /><Relationship Type="http://schemas.openxmlformats.org/officeDocument/2006/relationships/slide" Target="/ppt/slides/slide9.xml" Id="Ree442b92dbba4d16" /><Relationship Type="http://schemas.openxmlformats.org/officeDocument/2006/relationships/slide" Target="/ppt/slides/slide10.xml" Id="R2289f22a6f4c4bb3" /><Relationship Type="http://schemas.openxmlformats.org/officeDocument/2006/relationships/slide" Target="/ppt/slides/slide11.xml" Id="Rf06be48192d34361" /><Relationship Type="http://schemas.openxmlformats.org/officeDocument/2006/relationships/slide" Target="/ppt/slides/slide12.xml" Id="Rbb30c53e98974feb" /><Relationship Type="http://schemas.openxmlformats.org/officeDocument/2006/relationships/slide" Target="/ppt/slides/slide13.xml" Id="R882e6e230fc541b0" /><Relationship Type="http://schemas.openxmlformats.org/officeDocument/2006/relationships/slide" Target="/ppt/slides/slide14.xml" Id="Raaa9e75ebdcb4766" /><Relationship Type="http://schemas.openxmlformats.org/officeDocument/2006/relationships/slide" Target="/ppt/slides/slide15.xml" Id="Rfe76bae3f52f4abb" /><Relationship Type="http://schemas.openxmlformats.org/officeDocument/2006/relationships/slide" Target="/ppt/slides/slide16.xml" Id="R88d5e999c5c347ab" /><Relationship Type="http://schemas.openxmlformats.org/officeDocument/2006/relationships/slide" Target="/ppt/slides/slide17.xml" Id="Rc15dbd6fbb8c4b75" /><Relationship Type="http://schemas.openxmlformats.org/officeDocument/2006/relationships/slide" Target="/ppt/slides/slide18.xml" Id="Rc52124588e734769" /><Relationship Type="http://schemas.openxmlformats.org/officeDocument/2006/relationships/slide" Target="/ppt/slides/slide19.xml" Id="R2e650af2e3ed4f9d" /><Relationship Type="http://schemas.openxmlformats.org/officeDocument/2006/relationships/slide" Target="/ppt/slides/slide20.xml" Id="Ra9da46ad0ef24026" /><Relationship Type="http://schemas.openxmlformats.org/officeDocument/2006/relationships/slide" Target="/ppt/slides/slide21.xml" Id="Ra64278cd746c42bd" /><Relationship Type="http://schemas.openxmlformats.org/officeDocument/2006/relationships/slide" Target="/ppt/slides/slide22.xml" Id="Rcc503229aece4ae7" /><Relationship Type="http://schemas.openxmlformats.org/officeDocument/2006/relationships/slide" Target="/ppt/slides/slide23.xml" Id="R0ca7f29939084416" /><Relationship Type="http://schemas.openxmlformats.org/officeDocument/2006/relationships/slide" Target="/ppt/slides/slide24.xml" Id="R45648d17e9ad4a6c" /><Relationship Type="http://schemas.openxmlformats.org/officeDocument/2006/relationships/slide" Target="/ppt/slides/slide25.xml" Id="R1b796e327c414453" /><Relationship Type="http://schemas.openxmlformats.org/officeDocument/2006/relationships/slide" Target="/ppt/slides/slide26.xml" Id="R37a568917ccd475c" /><Relationship Type="http://schemas.openxmlformats.org/officeDocument/2006/relationships/slide" Target="/ppt/slides/slide27.xml" Id="Ra7bafebe073b453a" /><Relationship Type="http://schemas.openxmlformats.org/officeDocument/2006/relationships/slide" Target="/ppt/slides/slide28.xml" Id="Rb5bea66664bf43c8" /><Relationship Type="http://schemas.openxmlformats.org/officeDocument/2006/relationships/slide" Target="/ppt/slides/slide29.xml" Id="R9bcb5a9dc0424d36" /><Relationship Type="http://schemas.openxmlformats.org/officeDocument/2006/relationships/slide" Target="/ppt/slides/slide30.xml" Id="R958efbce653545bf" /><Relationship Type="http://schemas.openxmlformats.org/officeDocument/2006/relationships/slide" Target="/ppt/slides/slide31.xml" Id="R21fd44346e9445bd" /><Relationship Type="http://schemas.openxmlformats.org/officeDocument/2006/relationships/slide" Target="/ppt/slides/slide32.xml" Id="R7328a80f0a6f4f31" /><Relationship Type="http://schemas.openxmlformats.org/officeDocument/2006/relationships/slide" Target="/ppt/slides/slide33.xml" Id="R4e1eb9127b13413f" /><Relationship Type="http://schemas.openxmlformats.org/officeDocument/2006/relationships/slide" Target="/ppt/slides/slide34.xml" Id="R6fc530130b264ebf" /><Relationship Type="http://schemas.openxmlformats.org/officeDocument/2006/relationships/slide" Target="/ppt/slides/slide35.xml" Id="R1122e321f5ee464c" /><Relationship Type="http://schemas.openxmlformats.org/officeDocument/2006/relationships/slide" Target="/ppt/slides/slide36.xml" Id="Rbcba2c90e74d4f9b" /><Relationship Type="http://schemas.openxmlformats.org/officeDocument/2006/relationships/slide" Target="/ppt/slides/slide37.xml" Id="R17ea399088c34f76" /><Relationship Type="http://schemas.openxmlformats.org/officeDocument/2006/relationships/slide" Target="/ppt/slides/slide38.xml" Id="Re80d7f039b844a9c" /><Relationship Type="http://schemas.openxmlformats.org/officeDocument/2006/relationships/slide" Target="/ppt/slides/slide39.xml" Id="R98c1f146729d445d" /><Relationship Type="http://schemas.openxmlformats.org/officeDocument/2006/relationships/slide" Target="/ppt/slides/slide40.xml" Id="R01354a374d5d4605" /><Relationship Type="http://schemas.openxmlformats.org/officeDocument/2006/relationships/slide" Target="/ppt/slides/slide41.xml" Id="R44333cb4d98346d1" /><Relationship Type="http://schemas.openxmlformats.org/officeDocument/2006/relationships/slide" Target="/ppt/slides/slide42.xml" Id="R5a5d84daa55a48f5" /><Relationship Type="http://schemas.openxmlformats.org/officeDocument/2006/relationships/slide" Target="/ppt/slides/slide43.xml" Id="Ra29af40ebd3a4f17" /><Relationship Type="http://schemas.openxmlformats.org/officeDocument/2006/relationships/slide" Target="/ppt/slides/slide44.xml" Id="Rdda6e44495ff4e93" /><Relationship Type="http://schemas.openxmlformats.org/officeDocument/2006/relationships/slide" Target="/ppt/slides/slide45.xml" Id="R716fc67d80164083" /><Relationship Type="http://schemas.openxmlformats.org/officeDocument/2006/relationships/slide" Target="/ppt/slides/slide46.xml" Id="Rdf84d695e8aa4796" /><Relationship Type="http://schemas.openxmlformats.org/officeDocument/2006/relationships/slide" Target="/ppt/slides/slide47.xml" Id="R19f77e2e95de47bb" /><Relationship Type="http://schemas.openxmlformats.org/officeDocument/2006/relationships/slide" Target="/ppt/slides/slide48.xml" Id="R4bda2f0f0bf643e7" /><Relationship Type="http://schemas.openxmlformats.org/officeDocument/2006/relationships/slide" Target="/ppt/slides/slide49.xml" Id="R0d8a086190b8469c" /><Relationship Type="http://schemas.openxmlformats.org/officeDocument/2006/relationships/slide" Target="/ppt/slides/slide50.xml" Id="Rfb78df1204c64bfa" /><Relationship Type="http://schemas.openxmlformats.org/officeDocument/2006/relationships/slide" Target="/ppt/slides/slide51.xml" Id="R10bd704c63b243b6" /><Relationship Type="http://schemas.openxmlformats.org/officeDocument/2006/relationships/slide" Target="/ppt/slides/slide52.xml" Id="R628b9d78f22d4409" /><Relationship Type="http://schemas.openxmlformats.org/officeDocument/2006/relationships/slide" Target="/ppt/slides/slide53.xml" Id="R276b327f514c4eda" /><Relationship Type="http://schemas.openxmlformats.org/officeDocument/2006/relationships/slide" Target="/ppt/slides/slide54.xml" Id="R08eb95e4b5bd407e" /><Relationship Type="http://schemas.openxmlformats.org/officeDocument/2006/relationships/slide" Target="/ppt/slides/slide55.xml" Id="R33f7b93263914d56" /><Relationship Type="http://schemas.openxmlformats.org/officeDocument/2006/relationships/slide" Target="/ppt/slides/slide56.xml" Id="R57f8b5586cfc4fc8" /><Relationship Type="http://schemas.openxmlformats.org/officeDocument/2006/relationships/slide" Target="/ppt/slides/slide57.xml" Id="R7a92a752d5e74d97" /><Relationship Type="http://schemas.openxmlformats.org/officeDocument/2006/relationships/slide" Target="/ppt/slides/slide58.xml" Id="R98d93039e63b41fd" /><Relationship Type="http://schemas.openxmlformats.org/officeDocument/2006/relationships/slide" Target="/ppt/slides/slide59.xml" Id="Re16626a5363c44e4" /><Relationship Type="http://schemas.openxmlformats.org/officeDocument/2006/relationships/slide" Target="/ppt/slides/slide60.xml" Id="R50cdcf1cc4dc41c9" /><Relationship Type="http://schemas.openxmlformats.org/officeDocument/2006/relationships/slide" Target="/ppt/slides/slide61.xml" Id="Rf24618956bb240a8" /><Relationship Type="http://schemas.openxmlformats.org/officeDocument/2006/relationships/slide" Target="/ppt/slides/slide62.xml" Id="R8a9060ae95654903" /><Relationship Type="http://schemas.openxmlformats.org/officeDocument/2006/relationships/slide" Target="/ppt/slides/slide63.xml" Id="Raca61dcb5c5a4e77" /><Relationship Type="http://schemas.openxmlformats.org/officeDocument/2006/relationships/slide" Target="/ppt/slides/slide64.xml" Id="Rd6eaab867e3749f8" /><Relationship Type="http://schemas.openxmlformats.org/officeDocument/2006/relationships/slide" Target="/ppt/slides/slide65.xml" Id="R130054048d7f461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0b45816047d468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f8a82b666464259" /><Relationship Type="http://schemas.openxmlformats.org/officeDocument/2006/relationships/notesMaster" Target="/ppt/notesMasters/notesMaster1.xml" Id="Re8915fa913aa49cd" /></Relationships>
</file>

<file path=ppt/notesSlides/_rels/notesSlide2.xml.rels>&#65279;<?xml version="1.0" encoding="utf-8"?><Relationships xmlns="http://schemas.openxmlformats.org/package/2006/relationships"><Relationship Type="http://schemas.openxmlformats.org/officeDocument/2006/relationships/slide" Target="/ppt/slides/slide2.xml" Id="R966074278c7f4c40" /><Relationship Type="http://schemas.openxmlformats.org/officeDocument/2006/relationships/notesMaster" Target="/ppt/notesMasters/notesMaster1.xml" Id="Ra7567b790d154dc6" /></Relationships>
</file>

<file path=ppt/notesSlides/_rels/notesSlide3.xml.rels>&#65279;<?xml version="1.0" encoding="utf-8"?><Relationships xmlns="http://schemas.openxmlformats.org/package/2006/relationships"><Relationship Type="http://schemas.openxmlformats.org/officeDocument/2006/relationships/slide" Target="/ppt/slides/slide3.xml" Id="R4a0c150ce93e425f" /><Relationship Type="http://schemas.openxmlformats.org/officeDocument/2006/relationships/notesMaster" Target="/ppt/notesMasters/notesMaster1.xml" Id="R37fcbc08498843a0" /></Relationships>
</file>

<file path=ppt/notesSlides/_rels/notesSlide4.xml.rels>&#65279;<?xml version="1.0" encoding="utf-8"?><Relationships xmlns="http://schemas.openxmlformats.org/package/2006/relationships"><Relationship Type="http://schemas.openxmlformats.org/officeDocument/2006/relationships/slide" Target="/ppt/slides/slide4.xml" Id="R65ece2cabb8c45f0" /><Relationship Type="http://schemas.openxmlformats.org/officeDocument/2006/relationships/notesMaster" Target="/ppt/notesMasters/notesMaster1.xml" Id="R9d81ca0cde9346d6" /></Relationships>
</file>

<file path=ppt/notesSlides/_rels/notesSlide5.xml.rels>&#65279;<?xml version="1.0" encoding="utf-8"?><Relationships xmlns="http://schemas.openxmlformats.org/package/2006/relationships"><Relationship Type="http://schemas.openxmlformats.org/officeDocument/2006/relationships/slide" Target="/ppt/slides/slide5.xml" Id="R45158f2d10004c1d" /><Relationship Type="http://schemas.openxmlformats.org/officeDocument/2006/relationships/notesMaster" Target="/ppt/notesMasters/notesMaster1.xml" Id="Rae51ff491dd84c2e" /></Relationships>
</file>

<file path=ppt/notesSlides/_rels/notesSlide6.xml.rels>&#65279;<?xml version="1.0" encoding="utf-8"?><Relationships xmlns="http://schemas.openxmlformats.org/package/2006/relationships"><Relationship Type="http://schemas.openxmlformats.org/officeDocument/2006/relationships/slide" Target="/ppt/slides/slide6.xml" Id="Rd6260b8ffe7d4b2b" /><Relationship Type="http://schemas.openxmlformats.org/officeDocument/2006/relationships/notesMaster" Target="/ppt/notesMasters/notesMaster1.xml" Id="R1f868fd5407144ad" /></Relationships>
</file>

<file path=ppt/notesSlides/_rels/notesSlide7.xml.rels>&#65279;<?xml version="1.0" encoding="utf-8"?><Relationships xmlns="http://schemas.openxmlformats.org/package/2006/relationships"><Relationship Type="http://schemas.openxmlformats.org/officeDocument/2006/relationships/slide" Target="/ppt/slides/slide7.xml" Id="R461ce9dceb52421f" /><Relationship Type="http://schemas.openxmlformats.org/officeDocument/2006/relationships/notesMaster" Target="/ppt/notesMasters/notesMaster1.xml" Id="R86e4fad139354448" /></Relationships>
</file>

<file path=ppt/notesSlides/_rels/notesSlide8.xml.rels>&#65279;<?xml version="1.0" encoding="utf-8"?><Relationships xmlns="http://schemas.openxmlformats.org/package/2006/relationships"><Relationship Type="http://schemas.openxmlformats.org/officeDocument/2006/relationships/slide" Target="/ppt/slides/slide8.xml" Id="Rbd16dc4a74714829" /><Relationship Type="http://schemas.openxmlformats.org/officeDocument/2006/relationships/notesMaster" Target="/ppt/notesMasters/notesMaster1.xml" Id="R3147be3cd64d4321" /></Relationships>
</file>

<file path=ppt/notesSlides/_rels/notesSlide9.xml.rels>&#65279;<?xml version="1.0" encoding="utf-8"?><Relationships xmlns="http://schemas.openxmlformats.org/package/2006/relationships"><Relationship Type="http://schemas.openxmlformats.org/officeDocument/2006/relationships/slide" Target="/ppt/slides/slide9.xml" Id="Rf8455d24a94b4ef7" /><Relationship Type="http://schemas.openxmlformats.org/officeDocument/2006/relationships/notesMaster" Target="/ppt/notesMasters/notesMaster1.xml" Id="Radde23295cdd46f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582b18df4a545bd" /><Relationship Type="http://schemas.openxmlformats.org/officeDocument/2006/relationships/notesMaster" Target="/ppt/notesMasters/notesMaster1.xml" Id="R69126015c59a4bd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e521d3c03b34b04" /><Relationship Type="http://schemas.openxmlformats.org/officeDocument/2006/relationships/notesMaster" Target="/ppt/notesMasters/notesMaster1.xml" Id="R04c887a06326463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ab67f4b69fe4579" /><Relationship Type="http://schemas.openxmlformats.org/officeDocument/2006/relationships/notesMaster" Target="/ppt/notesMasters/notesMaster1.xml" Id="Ra604dc04f77e482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247e2c6e3384562" /><Relationship Type="http://schemas.openxmlformats.org/officeDocument/2006/relationships/notesMaster" Target="/ppt/notesMasters/notesMaster1.xml" Id="R06272bf33f2f4a6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c48df1c5e2f4fcb" /><Relationship Type="http://schemas.openxmlformats.org/officeDocument/2006/relationships/notesMaster" Target="/ppt/notesMasters/notesMaster1.xml" Id="Ra5b2562117fc400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1b38f0faa584857" /><Relationship Type="http://schemas.openxmlformats.org/officeDocument/2006/relationships/notesMaster" Target="/ppt/notesMasters/notesMaster1.xml" Id="Rce64e3d837a846a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23cf3d5dd364f76" /><Relationship Type="http://schemas.openxmlformats.org/officeDocument/2006/relationships/notesMaster" Target="/ppt/notesMasters/notesMaster1.xml" Id="R6f8ee56c17374a7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83cebc99d6a4a6c" /><Relationship Type="http://schemas.openxmlformats.org/officeDocument/2006/relationships/notesMaster" Target="/ppt/notesMasters/notesMaster1.xml" Id="R8c50b0e94f2142d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04f45134c3243da" /><Relationship Type="http://schemas.openxmlformats.org/officeDocument/2006/relationships/notesMaster" Target="/ppt/notesMasters/notesMaster1.xml" Id="R11ad3d75597848e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3526b8ee43f484c" /><Relationship Type="http://schemas.openxmlformats.org/officeDocument/2006/relationships/notesMaster" Target="/ppt/notesMasters/notesMaster1.xml" Id="Rd0961cdbe9924eb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0404bc159774290" /><Relationship Type="http://schemas.openxmlformats.org/officeDocument/2006/relationships/notesMaster" Target="/ppt/notesMasters/notesMaster1.xml" Id="R6a66d326498c482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9d07f67429949ec" /><Relationship Type="http://schemas.openxmlformats.org/officeDocument/2006/relationships/notesMaster" Target="/ppt/notesMasters/notesMaster1.xml" Id="R819355d6448848a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7f8031f5336491f" /><Relationship Type="http://schemas.openxmlformats.org/officeDocument/2006/relationships/notesMaster" Target="/ppt/notesMasters/notesMaster1.xml" Id="R19807158c2d44f8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1dc0309e82e4d72" /><Relationship Type="http://schemas.openxmlformats.org/officeDocument/2006/relationships/notesMaster" Target="/ppt/notesMasters/notesMaster1.xml" Id="R88f8b4352d954b8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8734fdb89d54dac" /><Relationship Type="http://schemas.openxmlformats.org/officeDocument/2006/relationships/notesMaster" Target="/ppt/notesMasters/notesMaster1.xml" Id="R967743ee352a423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8f6fdb5d1e14379" /><Relationship Type="http://schemas.openxmlformats.org/officeDocument/2006/relationships/notesMaster" Target="/ppt/notesMasters/notesMaster1.xml" Id="R8db3b970a2a3450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8aec3c249d04c4c" /><Relationship Type="http://schemas.openxmlformats.org/officeDocument/2006/relationships/notesMaster" Target="/ppt/notesMasters/notesMaster1.xml" Id="R9c75b1fd3a324404"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e5dbb1297864d3c" /><Relationship Type="http://schemas.openxmlformats.org/officeDocument/2006/relationships/notesMaster" Target="/ppt/notesMasters/notesMaster1.xml" Id="Rd0a77b6f95654e0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2c65220c7bc4c8c" /><Relationship Type="http://schemas.openxmlformats.org/officeDocument/2006/relationships/notesMaster" Target="/ppt/notesMasters/notesMaster1.xml" Id="Ra277a3b04989478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bc6484f2e614c2f" /><Relationship Type="http://schemas.openxmlformats.org/officeDocument/2006/relationships/notesMaster" Target="/ppt/notesMasters/notesMaster1.xml" Id="Rdfd87bc505a64e8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f9c598994f7e4e1d" /><Relationship Type="http://schemas.openxmlformats.org/officeDocument/2006/relationships/notesMaster" Target="/ppt/notesMasters/notesMaster1.xml" Id="R165f4825f8a541d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5852d48f67540c4" /><Relationship Type="http://schemas.openxmlformats.org/officeDocument/2006/relationships/notesMaster" Target="/ppt/notesMasters/notesMaster1.xml" Id="R9b7e25748a364eab"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0d5bf72bac24a09" /><Relationship Type="http://schemas.openxmlformats.org/officeDocument/2006/relationships/notesMaster" Target="/ppt/notesMasters/notesMaster1.xml" Id="Ra0ee838157284ee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dc808f537414e05" /><Relationship Type="http://schemas.openxmlformats.org/officeDocument/2006/relationships/notesMaster" Target="/ppt/notesMasters/notesMaster1.xml" Id="Rf8a891c7cc074904"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99b514feaad740ea" /><Relationship Type="http://schemas.openxmlformats.org/officeDocument/2006/relationships/notesMaster" Target="/ppt/notesMasters/notesMaster1.xml" Id="Rb0058bf646cf4db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6b427b0325d04552" /><Relationship Type="http://schemas.openxmlformats.org/officeDocument/2006/relationships/notesMaster" Target="/ppt/notesMasters/notesMaster1.xml" Id="R8c87adc6fe7f489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0793a346a11e40b2" /><Relationship Type="http://schemas.openxmlformats.org/officeDocument/2006/relationships/notesMaster" Target="/ppt/notesMasters/notesMaster1.xml" Id="Re558ddf7c72148a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66f15696f2eb45b2" /><Relationship Type="http://schemas.openxmlformats.org/officeDocument/2006/relationships/notesMaster" Target="/ppt/notesMasters/notesMaster1.xml" Id="R4229dec5006d4300"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0bb00bc3157a45c4" /><Relationship Type="http://schemas.openxmlformats.org/officeDocument/2006/relationships/notesMaster" Target="/ppt/notesMasters/notesMaster1.xml" Id="R83643a339ec64cd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a119d1ecb6414a1e" /><Relationship Type="http://schemas.openxmlformats.org/officeDocument/2006/relationships/notesMaster" Target="/ppt/notesMasters/notesMaster1.xml" Id="R6d1919d487b141a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fca4a23b7c964768" /><Relationship Type="http://schemas.openxmlformats.org/officeDocument/2006/relationships/notesMaster" Target="/ppt/notesMasters/notesMaster1.xml" Id="Rd123e8036576491f"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cb868ab6d8ab43ff" /><Relationship Type="http://schemas.openxmlformats.org/officeDocument/2006/relationships/notesMaster" Target="/ppt/notesMasters/notesMaster1.xml" Id="Rbfaa9efff4d644e4"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8eea9dc6e63f469d" /><Relationship Type="http://schemas.openxmlformats.org/officeDocument/2006/relationships/notesMaster" Target="/ppt/notesMasters/notesMaster1.xml" Id="Reec0d8397cd647c5"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ad37804377874c47" /><Relationship Type="http://schemas.openxmlformats.org/officeDocument/2006/relationships/notesMaster" Target="/ppt/notesMasters/notesMaster1.xml" Id="R37770d576ca04c34"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cda208fb41ac4d86" /><Relationship Type="http://schemas.openxmlformats.org/officeDocument/2006/relationships/notesMaster" Target="/ppt/notesMasters/notesMaster1.xml" Id="R800a26942f4e4970"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ccffeb051af04158" /><Relationship Type="http://schemas.openxmlformats.org/officeDocument/2006/relationships/notesMaster" Target="/ppt/notesMasters/notesMaster1.xml" Id="Rab91f1a962f34134"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b9760f50d3a345f5" /><Relationship Type="http://schemas.openxmlformats.org/officeDocument/2006/relationships/notesMaster" Target="/ppt/notesMasters/notesMaster1.xml" Id="R3d0b3fa7a8f74738"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b4ade5606ebc48dd" /><Relationship Type="http://schemas.openxmlformats.org/officeDocument/2006/relationships/notesMaster" Target="/ppt/notesMasters/notesMaster1.xml" Id="R7450ed79af2f4073"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d6e3f75c678e4ff4" /><Relationship Type="http://schemas.openxmlformats.org/officeDocument/2006/relationships/notesMaster" Target="/ppt/notesMasters/notesMaster1.xml" Id="R6547abe87f304fe9"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1272250964044800" /><Relationship Type="http://schemas.openxmlformats.org/officeDocument/2006/relationships/notesMaster" Target="/ppt/notesMasters/notesMaster1.xml" Id="Rd6730e58411f46a9"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f6948ed120304898" /><Relationship Type="http://schemas.openxmlformats.org/officeDocument/2006/relationships/notesMaster" Target="/ppt/notesMasters/notesMaster1.xml" Id="Rdbbee8d500c6421e"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7fd683887f2f4af8" /><Relationship Type="http://schemas.openxmlformats.org/officeDocument/2006/relationships/notesMaster" Target="/ppt/notesMasters/notesMaster1.xml" Id="R39e03838a3c34178"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adb2cef749224bd1" /><Relationship Type="http://schemas.openxmlformats.org/officeDocument/2006/relationships/notesMaster" Target="/ppt/notesMasters/notesMaster1.xml" Id="R21221c3996594ee9"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816a7370511a416a" /><Relationship Type="http://schemas.openxmlformats.org/officeDocument/2006/relationships/notesMaster" Target="/ppt/notesMasters/notesMaster1.xml" Id="R45a299973d2d46b4"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085c6a42175e4601" /><Relationship Type="http://schemas.openxmlformats.org/officeDocument/2006/relationships/notesMaster" Target="/ppt/notesMasters/notesMaster1.xml" Id="Ra322595fb25349c9"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2ea085b8d57f4d29" /><Relationship Type="http://schemas.openxmlformats.org/officeDocument/2006/relationships/notesMaster" Target="/ppt/notesMasters/notesMaster1.xml" Id="R26a21c6044f74ec5"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03545a9bbf1b4b85" /><Relationship Type="http://schemas.openxmlformats.org/officeDocument/2006/relationships/notesMaster" Target="/ppt/notesMasters/notesMaster1.xml" Id="R7b0f34d66d3547ff"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64dc682602ea4693" /><Relationship Type="http://schemas.openxmlformats.org/officeDocument/2006/relationships/notesMaster" Target="/ppt/notesMasters/notesMaster1.xml" Id="R551704910fc74428"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9889f602699142fc" /><Relationship Type="http://schemas.openxmlformats.org/officeDocument/2006/relationships/notesMaster" Target="/ppt/notesMasters/notesMaster1.xml" Id="R264f21b13f0c4364"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13bceb2d6d2a4803" /><Relationship Type="http://schemas.openxmlformats.org/officeDocument/2006/relationships/notesMaster" Target="/ppt/notesMasters/notesMaster1.xml" Id="Rea2e3a68bf1b4ede"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aaaa03997a3b4ce3" /><Relationship Type="http://schemas.openxmlformats.org/officeDocument/2006/relationships/notesMaster" Target="/ppt/notesMasters/notesMaster1.xml" Id="Reb9f7656db51469b"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57a35a3a6c3f4a05" /><Relationship Type="http://schemas.openxmlformats.org/officeDocument/2006/relationships/notesMaster" Target="/ppt/notesMasters/notesMaster1.xml" Id="Rbba870a08e8d4a3b"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e4ec6a98cfe14f95" /><Relationship Type="http://schemas.openxmlformats.org/officeDocument/2006/relationships/notesMaster" Target="/ppt/notesMasters/notesMaster1.xml" Id="Rf07fc9e709b64b37"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f6738d05d3674dab" /><Relationship Type="http://schemas.openxmlformats.org/officeDocument/2006/relationships/notesMaster" Target="/ppt/notesMasters/notesMaster1.xml" Id="Rd2e5fd2c75204dea"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b9b7c68c47a449e9" /><Relationship Type="http://schemas.openxmlformats.org/officeDocument/2006/relationships/notesMaster" Target="/ppt/notesMasters/notesMaster1.xml" Id="Rc85ab016a7914db2"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8a869a7b65e64c4c" /><Relationship Type="http://schemas.openxmlformats.org/officeDocument/2006/relationships/notesMaster" Target="/ppt/notesMasters/notesMaster1.xml" Id="R09db83a1583a4da4"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Python calculations and reusable functions</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Python calculations and reusable functions.</a:t>
            </a:r>
          </a:p>
          <a:p>
            <a:r>
              <a:t/>
            </a:r>
          </a:p>
          <a:p>
            <a:r>
              <a:t>LECTURER CUE</a:t>
            </a:r>
          </a:p>
          <a:p>
            <a:r>
              <a:t>Ask learners to explain this goal in ordinary language. The first successful attempt matters more than covering optional extensions. Defer: Five-function libraries, module imports, scope details, debugger setup and six independent bug hunts can wait. Demonstrate one ordinary traceback and one unit mistake now.</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Students explain the difference between defining and calling a function, and between return and print. Re-model with double_value if these are confused.</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The engineering context.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engineering context</a:t>
            </a:r>
          </a:p>
          <a:p>
            <a:r>
              <a:t/>
            </a:r>
          </a:p>
          <a:p>
            <a:r>
              <a:t>CONNECT</a:t>
            </a:r>
          </a:p>
          <a:p>
            <a:r>
              <a:t>Build on the preceding slide: Recall and a first attempt.</a:t>
            </a:r>
          </a:p>
          <a:p>
            <a:r>
              <a:t/>
            </a:r>
          </a:p>
          <a:p>
            <a:r>
              <a:t>LECTURER CUE</a:t>
            </a:r>
          </a:p>
          <a:p>
            <a:r>
              <a:t>A pump team records temperature to investigate operation. Mining students can relate this to a dewatering pump; petroleum students to a transfer pump. These are teaching examples, not operating limits.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Start with numbers and values.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Start with numbers and values</a:t>
            </a:r>
          </a:p>
          <a:p>
            <a:r>
              <a:t/>
            </a:r>
          </a:p>
          <a:p>
            <a:r>
              <a:t>CONNECT</a:t>
            </a:r>
          </a:p>
          <a:p>
            <a:r>
              <a:t>Build on the preceding slide: The engineering context.</a:t>
            </a:r>
          </a:p>
          <a:p>
            <a:r>
              <a:t/>
            </a:r>
          </a:p>
          <a:p>
            <a:r>
              <a:t>EXPLAIN IN ORDINARY WORDS</a:t>
            </a:r>
          </a:p>
          <a:p>
            <a:r>
              <a:t>A value is a piece of information. A variable is a name referring to a value. In length_m = 5, Python evaluates the right side and binds that result to the name on the left.</a:t>
            </a:r>
          </a:p>
          <a:p>
            <a:r>
              <a:t/>
            </a:r>
          </a:p>
          <a:p>
            <a:r>
              <a:t>CHECK AND EXPECTED ANSWER</a:t>
            </a:r>
          </a:p>
          <a:p>
            <a:r>
              <a:t>After x=3 then x=5, what does print(x) display? 5. The earlier value is not added automatically.</a:t>
            </a:r>
          </a:p>
          <a:p>
            <a:r>
              <a:t/>
            </a:r>
          </a:p>
          <a:p>
            <a:r>
              <a:t>IF LEARNERS ARE STUCK</a:t>
            </a:r>
          </a:p>
          <a:p>
            <a:r>
              <a:t>Write the name on a card and the current value beside it. Distinguish number 3 from quoted text "3".</a:t>
            </a:r>
          </a:p>
          <a:p>
            <a:r>
              <a:t/>
            </a:r>
          </a:p>
          <a:p>
            <a:r>
              <a:t>POINT TO THE DEFINITION</a:t>
            </a:r>
          </a:p>
          <a:p>
            <a:r>
              <a:t>Number: A number expresses how much or how many: 3 items or 2.5 metres. Whole numbers count; decimal numbers can describe a part of a unit.</a:t>
            </a:r>
          </a:p>
          <a:p>
            <a:r>
              <a:t>Value and unit: A value is one piece of information. The number 2.5 is a value. A measurement also needs a unit, such as metres. Python does not attach that unit automatically.</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Start with numbers and values.</a:t>
            </a:r>
          </a:p>
          <a:p>
            <a:r>
              <a:t/>
            </a:r>
          </a:p>
          <a:p>
            <a:r>
              <a:t>EXPLAIN IN ORDINARY WORDS</a:t>
            </a:r>
          </a:p>
          <a:p>
            <a:r>
              <a:t>A value is a piece of information. A variable is a name referring to a value. In length_m = 5, Python evaluates the right side and binds that result to the name on the left.</a:t>
            </a:r>
          </a:p>
          <a:p>
            <a:r>
              <a:t/>
            </a:r>
          </a:p>
          <a:p>
            <a:r>
              <a:t>CHECK AND EXPECTED ANSWER</a:t>
            </a:r>
          </a:p>
          <a:p>
            <a:r>
              <a:t>After x=3 then x=5, what does print(x) display? 5. The earlier value is not added automatically.</a:t>
            </a:r>
          </a:p>
          <a:p>
            <a:r>
              <a:t/>
            </a:r>
          </a:p>
          <a:p>
            <a:r>
              <a:t>IF LEARNERS ARE STUCK</a:t>
            </a:r>
          </a:p>
          <a:p>
            <a:r>
              <a:t>Write the name on a card and the current value beside it. Distinguish number 3 from quoted text "3".</a:t>
            </a:r>
          </a:p>
          <a:p>
            <a:r>
              <a:t/>
            </a:r>
          </a:p>
          <a:p>
            <a:r>
              <a:t>POINT TO THE DEFINITION</a:t>
            </a:r>
          </a:p>
          <a:p>
            <a:r>
              <a:t>Variable: A name referring to a value. In length_m = 5, the right side is evaluated and assigned to length_m.</a:t>
            </a:r>
          </a:p>
          <a:p>
            <a:r>
              <a:t>int, float, str, bool: int represents whole numbers; float represents approximate real numbers such as 2.5; str is text in quotes; bool is True or False.</a:t>
            </a:r>
          </a:p>
          <a:p>
            <a:r>
              <a:t/>
            </a:r>
          </a:p>
          <a:p>
            <a:r>
              <a:t>NEXT</a:t>
            </a:r>
          </a:p>
          <a:p>
            <a:r>
              <a:t>A variable refers to its current value.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variable refers to its current value</a:t>
            </a:r>
          </a:p>
          <a:p>
            <a:r>
              <a:t/>
            </a:r>
          </a:p>
          <a:p>
            <a:r>
              <a:t>CONNECT</a:t>
            </a:r>
          </a:p>
          <a:p>
            <a:r>
              <a:t>Build on the preceding slide: Words we will use.</a:t>
            </a:r>
          </a:p>
          <a:p>
            <a:r>
              <a:t/>
            </a:r>
          </a:p>
          <a:p>
            <a:r>
              <a:t>LECTURER CUE</a:t>
            </a:r>
          </a:p>
          <a:p>
            <a:r>
              <a:t>This box is a simplified model of a name referring to a value. Other names could still refer to an earlier object.</a:t>
            </a:r>
          </a:p>
          <a:p>
            <a:r>
              <a:t>Source: existing course illustration figs/variable_box.png. These are illustrative examples, not this cohort’s assessed results.</a:t>
            </a:r>
          </a:p>
          <a:p>
            <a:r>
              <a:t/>
            </a:r>
          </a:p>
          <a:p>
            <a:r>
              <a:t>EXPLAIN IN ORDINARY WORDS</a:t>
            </a:r>
          </a:p>
          <a:p>
            <a:r>
              <a:t>A value is a piece of information. A variable is a name referring to a value. In length_m = 5, Python evaluates the right side and binds that result to the name on the left.</a:t>
            </a:r>
          </a:p>
          <a:p>
            <a:r>
              <a:t/>
            </a:r>
          </a:p>
          <a:p>
            <a:r>
              <a:t>CHECK AND EXPECTED ANSWER</a:t>
            </a:r>
          </a:p>
          <a:p>
            <a:r>
              <a:t>After x=3 then x=5, what does print(x) display? 5. The earlier value is not added automatically.</a:t>
            </a:r>
          </a:p>
          <a:p>
            <a:r>
              <a:t/>
            </a:r>
          </a:p>
          <a:p>
            <a:r>
              <a:t>IF LEARNERS ARE STUCK</a:t>
            </a:r>
          </a:p>
          <a:p>
            <a:r>
              <a:t>Write the name on a card and the current value beside it. Distinguish number 3 from quoted text "3".</a:t>
            </a:r>
          </a:p>
          <a:p>
            <a:r>
              <a:t/>
            </a:r>
          </a:p>
          <a:p>
            <a:r>
              <a:t>NEXT</a:t>
            </a:r>
          </a:p>
          <a:p>
            <a:r>
              <a:t>Python values have types.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Python values have types</a:t>
            </a:r>
          </a:p>
          <a:p>
            <a:r>
              <a:t/>
            </a:r>
          </a:p>
          <a:p>
            <a:r>
              <a:t>CONNECT</a:t>
            </a:r>
          </a:p>
          <a:p>
            <a:r>
              <a:t>Build on the preceding slide: A variable refers to its current value.</a:t>
            </a:r>
          </a:p>
          <a:p>
            <a:r>
              <a:t/>
            </a:r>
          </a:p>
          <a:p>
            <a:r>
              <a:t>LECTURER CUE</a:t>
            </a:r>
          </a:p>
          <a:p>
            <a:r>
              <a:t>3.5 + 2 gives 5.5. "3.5" + "2" joins text into "3.52".</a:t>
            </a:r>
          </a:p>
          <a:p>
            <a:r>
              <a:t/>
            </a:r>
          </a:p>
          <a:p>
            <a:r>
              <a:t>EXPLAIN IN ORDINARY WORDS</a:t>
            </a:r>
          </a:p>
          <a:p>
            <a:r>
              <a:t>A value is a piece of information. A variable is a name referring to a value. In length_m = 5, Python evaluates the right side and binds that result to the name on the left.</a:t>
            </a:r>
          </a:p>
          <a:p>
            <a:r>
              <a:t/>
            </a:r>
          </a:p>
          <a:p>
            <a:r>
              <a:t>CHECK AND EXPECTED ANSWER</a:t>
            </a:r>
          </a:p>
          <a:p>
            <a:r>
              <a:t>After x=3 then x=5, what does print(x) display? 5. The earlier value is not added automatically.</a:t>
            </a:r>
          </a:p>
          <a:p>
            <a:r>
              <a:t/>
            </a:r>
          </a:p>
          <a:p>
            <a:r>
              <a:t>IF LEARNERS ARE STUCK</a:t>
            </a:r>
          </a:p>
          <a:p>
            <a:r>
              <a:t>Write the name on a card and the current value beside it. Distinguish number 3 from quoted text "3".</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Operator.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Operator</a:t>
            </a:r>
          </a:p>
          <a:p>
            <a:r>
              <a:t/>
            </a:r>
          </a:p>
          <a:p>
            <a:r>
              <a:t>CONNECT</a:t>
            </a:r>
          </a:p>
          <a:p>
            <a:r>
              <a:t>Build on the preceding slide: Python values have types.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POINT TO THE DEFINITION</a:t>
            </a:r>
          </a:p>
          <a:p>
            <a:r>
              <a:t>Operator: A symbol for an operation: + adds, - subtracts, * multiplies, / divides, ** raises to a power. // floors a quotient, so -5 // 2 is -3.</a:t>
            </a:r>
          </a:p>
          <a:p>
            <a:r>
              <a:t/>
            </a:r>
          </a:p>
          <a:p>
            <a:r>
              <a:t>NEXT</a:t>
            </a:r>
          </a:p>
          <a:p>
            <a:r>
              <a:t>Read a function call before using it.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 a function call before using it</a:t>
            </a:r>
          </a:p>
          <a:p>
            <a:r>
              <a:t/>
            </a:r>
          </a:p>
          <a:p>
            <a:r>
              <a:t>CONNECT</a:t>
            </a:r>
          </a:p>
          <a:p>
            <a:r>
              <a:t>Build on the preceding slide: Operator.</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POINT TO THE DEFINITION</a:t>
            </a:r>
          </a:p>
          <a:p>
            <a:r>
              <a:t>A built-in function: Python already provides tools such as print, type and float. A function call asks a named tool to do its work: print(3) displays 3.</a:t>
            </a:r>
          </a:p>
          <a:p>
            <a:r>
              <a:t>Parentheses, quotes and comments: Parentheses hold the inputs to a call. Quotes make text: "3.5" is text; float("3.5") converts it to a number. # starts a comment that Python does not run.</a:t>
            </a:r>
          </a:p>
          <a:p>
            <a:r>
              <a:t/>
            </a:r>
          </a:p>
          <a:p>
            <a:r>
              <a:t>NEXT</a:t>
            </a:r>
          </a:p>
          <a:p>
            <a:r>
              <a:t>Reading Python symbols.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Python symbols</a:t>
            </a:r>
          </a:p>
          <a:p>
            <a:r>
              <a:t/>
            </a:r>
          </a:p>
          <a:p>
            <a:r>
              <a:t>CONNECT</a:t>
            </a:r>
          </a:p>
          <a:p>
            <a:r>
              <a:t>Build on the preceding slide: Read a function call before using it.</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Names, conversion and comments.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Names, conversion and comments</a:t>
            </a:r>
          </a:p>
          <a:p>
            <a:r>
              <a:t/>
            </a:r>
          </a:p>
          <a:p>
            <a:r>
              <a:t>CONNECT</a:t>
            </a:r>
          </a:p>
          <a:p>
            <a:r>
              <a:t>Build on the preceding slide: Reading Python symbols.</a:t>
            </a:r>
          </a:p>
          <a:p>
            <a:r>
              <a:t/>
            </a:r>
          </a:p>
          <a:p>
            <a:r>
              <a:t>LECTURER CUE</a:t>
            </a:r>
          </a:p>
          <a:p>
            <a:r>
              <a:t>Read each symbol before running. Ask everyone to predict. Expected output: 7.0 then &lt;class 'float'&gt;</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WALK THROUGH THIS CODE</a:t>
            </a:r>
          </a:p>
          <a:p>
            <a:r>
              <a:t>float converts numeric text into a decimal number.</a:t>
            </a:r>
          </a:p>
          <a:p>
            <a:r>
              <a:t>type reports the kind of value: for example, float.</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Arithmetic that needs care.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Arithmetic that needs care</a:t>
            </a:r>
          </a:p>
          <a:p>
            <a:r>
              <a:t/>
            </a:r>
          </a:p>
          <a:p>
            <a:r>
              <a:t>CONNECT</a:t>
            </a:r>
          </a:p>
          <a:p>
            <a:r>
              <a:t>Build on the preceding slide: Names, conversion and comments.</a:t>
            </a:r>
          </a:p>
          <a:p>
            <a:r>
              <a:t/>
            </a:r>
          </a:p>
          <a:p>
            <a:r>
              <a:t>LECTURER CUE</a:t>
            </a:r>
          </a:p>
          <a:p>
            <a:r>
              <a:t>Floor division rounds down. Use parentheses to state the intended calculation. Keep units in variable names.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Read the quantities in your programme example.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 the quantities in your programme example</a:t>
            </a:r>
          </a:p>
          <a:p>
            <a:r>
              <a:t/>
            </a:r>
          </a:p>
          <a:p>
            <a:r>
              <a:t>CONNECT</a:t>
            </a:r>
          </a:p>
          <a:p>
            <a:r>
              <a:t>Build on the preceding slide: Arithmetic that needs care.</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POINT TO THE DEFINITION</a:t>
            </a:r>
          </a:p>
          <a:p>
            <a:r>
              <a:t>Volume, time and flow: Volume is how much space fluid occupies, here in litres. Time is measured in seconds. Flow is volume divided by time, in litres per second.</a:t>
            </a:r>
          </a:p>
          <a:p>
            <a:r>
              <a:t>Density and pressure: Density is mass per volume in kg/m³. Pressure is force per area, measured in pascals (Pa). 1000 Pa = 1 kPa. Fluid density and depth determine the hydrostatic contribution.</a:t>
            </a:r>
          </a:p>
          <a:p>
            <a:r>
              <a:t/>
            </a:r>
          </a:p>
          <a:p>
            <a:r>
              <a:t>NEXT</a:t>
            </a:r>
          </a:p>
          <a:p>
            <a:r>
              <a:t>A calculation for your programme.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calculation for your programme</a:t>
            </a:r>
          </a:p>
          <a:p>
            <a:r>
              <a:t/>
            </a:r>
          </a:p>
          <a:p>
            <a:r>
              <a:t>CONNECT</a:t>
            </a:r>
          </a:p>
          <a:p>
            <a:r>
              <a:t>Build on the preceding slide: Read the quantities in your programme example.</a:t>
            </a:r>
          </a:p>
          <a:p>
            <a:r>
              <a:t/>
            </a:r>
          </a:p>
          <a:p>
            <a:r>
              <a:t>LECTURER CUE</a:t>
            </a:r>
          </a:p>
          <a:p>
            <a:r>
              <a:t>A pump moves 18 litres in 3 seconds. Flow = volume ÷ time = 6 litres per second.</a:t>
            </a:r>
          </a:p>
          <a:p>
            <a:r>
              <a:t/>
            </a:r>
          </a:p>
          <a:p>
            <a:r>
              <a:t>NEXT</a:t>
            </a:r>
          </a:p>
          <a:p>
            <a:r>
              <a:t>The calculation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calculation in Python</a:t>
            </a:r>
          </a:p>
          <a:p>
            <a:r>
              <a:t/>
            </a:r>
          </a:p>
          <a:p>
            <a:r>
              <a:t>CONNECT</a:t>
            </a:r>
          </a:p>
          <a:p>
            <a:r>
              <a:t>Build on the preceding slide: A calculation for your programme.</a:t>
            </a:r>
          </a:p>
          <a:p>
            <a:r>
              <a:t/>
            </a:r>
          </a:p>
          <a:p>
            <a:r>
              <a:t>LECTURER CUE</a:t>
            </a:r>
          </a:p>
          <a:p>
            <a:r>
              <a:t>Read each name and unit. = assigns the number, * multiplies and / divides. print displays the result. A pump moves 18 litres in 3 seconds. Flow = volume ÷ time = 6 litres per second.</a:t>
            </a:r>
          </a:p>
          <a:p>
            <a:r>
              <a:t/>
            </a:r>
          </a:p>
          <a:p>
            <a:r>
              <a:t>Complete practice code:</a:t>
            </a:r>
          </a:p>
          <a:p>
            <a:r>
              <a:t>volume_l = 18</a:t>
            </a:r>
          </a:p>
          <a:p>
            <a:r>
              <a:t>time_s = 3</a:t>
            </a:r>
          </a:p>
          <a:p>
            <a:r>
              <a:t>flow_l_s = volume_l / time_s</a:t>
            </a:r>
          </a:p>
          <a:p>
            <a:r>
              <a:t>print(flow_l_s)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WALK THROUGH THIS CODE</a:t>
            </a:r>
          </a:p>
          <a:p>
            <a:r>
              <a:t>print displays a value below the cell.</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A change to predict.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change to predict</a:t>
            </a:r>
          </a:p>
          <a:p>
            <a:r>
              <a:t/>
            </a:r>
          </a:p>
          <a:p>
            <a:r>
              <a:t>CONNECT</a:t>
            </a:r>
          </a:p>
          <a:p>
            <a:r>
              <a:t>Build on the preceding slide: The calculation in Python.</a:t>
            </a:r>
          </a:p>
          <a:p>
            <a:r>
              <a:t/>
            </a:r>
          </a:p>
          <a:p>
            <a:r>
              <a:t>LECTURER CUE</a:t>
            </a:r>
          </a:p>
          <a:p>
            <a:r>
              <a:t>Expected practice answer: 8 litres per second</a:t>
            </a:r>
          </a:p>
          <a:p>
            <a:r>
              <a:t/>
            </a:r>
          </a:p>
          <a:p>
            <a:r>
              <a:t>DISCUSSION KEY FOR THIS SLIDE</a:t>
            </a:r>
          </a:p>
          <a:p>
            <a:r>
              <a:t>DISCUSS THE REASONING</a:t>
            </a:r>
          </a:p>
          <a:p>
            <a:r>
              <a:t>The practice result</a:t>
            </a:r>
          </a:p>
          <a:p>
            <a:r>
              <a:t>8 litres per second</a:t>
            </a:r>
          </a:p>
          <a:p>
            <a:r>
              <a:t>Which step produced this result? What changes if one input changes?</a:t>
            </a:r>
          </a:p>
          <a:p>
            <a:r>
              <a:t>CML3113   Week 3   18</a:t>
            </a:r>
          </a:p>
          <a:p>
            <a:r>
              <a:t>Let learners attempt first; use this to explain the reasoning, not just reveal the answer.</a:t>
            </a:r>
          </a:p>
          <a:p>
            <a:r>
              <a:t/>
            </a:r>
          </a:p>
          <a:p>
            <a:r>
              <a:t>NEXT</a:t>
            </a:r>
          </a:p>
          <a:p>
            <a:r>
              <a:t>The practice result.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practice result</a:t>
            </a:r>
          </a:p>
          <a:p>
            <a:r>
              <a:t/>
            </a:r>
          </a:p>
          <a:p>
            <a:r>
              <a:t>CONNECT</a:t>
            </a:r>
          </a:p>
          <a:p>
            <a:r>
              <a:t>Build on the preceding slide: A change to predict.</a:t>
            </a:r>
          </a:p>
          <a:p>
            <a:r>
              <a:t/>
            </a:r>
          </a:p>
          <a:p>
            <a:r>
              <a:t>DELIVER THIS SLIDE</a:t>
            </a:r>
          </a:p>
          <a:p>
            <a:r>
              <a:t>Read the stated purpose, then point to the named example or action on the slide. Ask learners to describe what they will do before moving on. For a break slide, announce the return time; for a section divider, name the next concrete task.</a:t>
            </a:r>
          </a:p>
          <a:p>
            <a:r>
              <a:t/>
            </a:r>
          </a:p>
          <a:p>
            <a:r>
              <a:t>NEXT</a:t>
            </a:r>
          </a:p>
          <a:p>
            <a:r>
              <a:t>Reading an error message.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an error message</a:t>
            </a:r>
          </a:p>
          <a:p>
            <a:r>
              <a:t/>
            </a:r>
          </a:p>
          <a:p>
            <a:r>
              <a:t>CONNECT</a:t>
            </a:r>
          </a:p>
          <a:p>
            <a:r>
              <a:t>Build on the preceding slide: The practice result.</a:t>
            </a:r>
          </a:p>
          <a:p>
            <a:r>
              <a:t/>
            </a:r>
          </a:p>
          <a:p>
            <a:r>
              <a:t>LECTURER CUE</a:t>
            </a:r>
          </a:p>
          <a:p>
            <a:r>
              <a:t>Read one row at a time and use a changed value. This is a syntax reference for the worked examples.</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Condition.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Condition</a:t>
            </a:r>
          </a:p>
          <a:p>
            <a:r>
              <a:t/>
            </a:r>
          </a:p>
          <a:p>
            <a:r>
              <a:t>CONNECT</a:t>
            </a:r>
          </a:p>
          <a:p>
            <a:r>
              <a:t>Build on the preceding slide: Reading an error message.</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POINT TO THE DEFINITION</a:t>
            </a:r>
          </a:p>
          <a:p>
            <a:r>
              <a:t>Condition: A True/False question. == compares equality; = assigns. if selects a branch; else handles the other case. A colon starts an indented block.</a:t>
            </a:r>
          </a:p>
          <a:p>
            <a:r>
              <a:t/>
            </a:r>
          </a:p>
          <a:p>
            <a:r>
              <a:t>NEXT</a:t>
            </a:r>
          </a:p>
          <a:p>
            <a:r>
              <a:t>Comparison and logic.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Comparison and logic</a:t>
            </a:r>
          </a:p>
          <a:p>
            <a:r>
              <a:t/>
            </a:r>
          </a:p>
          <a:p>
            <a:r>
              <a:t>CONNECT</a:t>
            </a:r>
          </a:p>
          <a:p>
            <a:r>
              <a:t>Build on the preceding slide: Condition.</a:t>
            </a:r>
          </a:p>
          <a:p>
            <a:r>
              <a:t/>
            </a:r>
          </a:p>
          <a:p>
            <a:r>
              <a:t>LECTURER CUE</a:t>
            </a:r>
          </a:p>
          <a:p>
            <a:r>
              <a:t>Read one row at a time and use a changed value. This is a syntax reference for the worked examples.</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A decision needs a colon and indentation.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decision needs a colon and indentation</a:t>
            </a:r>
          </a:p>
          <a:p>
            <a:r>
              <a:t/>
            </a:r>
          </a:p>
          <a:p>
            <a:r>
              <a:t>CONNECT</a:t>
            </a:r>
          </a:p>
          <a:p>
            <a:r>
              <a:t>Build on the preceding slide: Comparison and logic.</a:t>
            </a:r>
          </a:p>
          <a:p>
            <a:r>
              <a:t/>
            </a:r>
          </a:p>
          <a:p>
            <a:r>
              <a:t>LECTURER CUE</a:t>
            </a:r>
          </a:p>
          <a:p>
            <a:r>
              <a:t>Read each symbol before running. Ask everyone to predict. Expected output: below 30. Change 28 to 30 and predict warm. This is a toy threshold, not an engineering limit.</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WALK THROUGH THIS CODE</a:t>
            </a:r>
          </a:p>
          <a:p>
            <a:r>
              <a:t>if tests a condition. The chosen indented block runs.</a:t>
            </a:r>
          </a:p>
          <a:p>
            <a:r>
              <a:t>print displays a value below the cell.</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Function.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Function</a:t>
            </a:r>
          </a:p>
          <a:p>
            <a:r>
              <a:t/>
            </a:r>
          </a:p>
          <a:p>
            <a:r>
              <a:t>CONNECT</a:t>
            </a:r>
          </a:p>
          <a:p>
            <a:r>
              <a:t>Build on the preceding slide: A decision needs a colon and indentation.</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POINT TO THE DEFINITION</a:t>
            </a:r>
          </a:p>
          <a:p>
            <a:r>
              <a:t>Function: A named, reusable calculation or procedure. def introduces its definition. Parameters are the names for its inputs; arguments are the values supplied when calling it.</a:t>
            </a:r>
          </a:p>
          <a:p>
            <a:r>
              <a:t/>
            </a:r>
          </a:p>
          <a:p>
            <a:r>
              <a:t>NEXT</a:t>
            </a:r>
          </a:p>
          <a:p>
            <a:r>
              <a:t>Indentation and return.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Indentation and return</a:t>
            </a:r>
          </a:p>
          <a:p>
            <a:r>
              <a:t/>
            </a:r>
          </a:p>
          <a:p>
            <a:r>
              <a:t>CONNECT</a:t>
            </a:r>
          </a:p>
          <a:p>
            <a:r>
              <a:t>Build on the preceding slide: Function.</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POINT TO THE DEFINITION</a:t>
            </a:r>
          </a:p>
          <a:p>
            <a:r>
              <a:t>Indentation and return: Spaces at the start of a line group the function body. return hands a result to the calling code. print displays a value and returns None.</a:t>
            </a:r>
          </a:p>
          <a:p>
            <a:r>
              <a:t/>
            </a:r>
          </a:p>
          <a:p>
            <a:r>
              <a:t>NEXT</a:t>
            </a:r>
          </a:p>
          <a:p>
            <a:r>
              <a:t>A function definition and a call.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function definition and a call</a:t>
            </a:r>
          </a:p>
          <a:p>
            <a:r>
              <a:t/>
            </a:r>
          </a:p>
          <a:p>
            <a:r>
              <a:t>CONNECT</a:t>
            </a:r>
          </a:p>
          <a:p>
            <a:r>
              <a:t>Build on the preceding slide: Indentation and return.</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A calculation has inputs and an answer.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calculation has inputs and an answer</a:t>
            </a:r>
          </a:p>
          <a:p>
            <a:r>
              <a:t/>
            </a:r>
          </a:p>
          <a:p>
            <a:r>
              <a:t>CONNECT</a:t>
            </a:r>
          </a:p>
          <a:p>
            <a:r>
              <a:t>Build on the preceding slide: A function definition and a call.</a:t>
            </a:r>
          </a:p>
          <a:p>
            <a:r>
              <a:t/>
            </a:r>
          </a:p>
          <a:p>
            <a:r>
              <a:t>LECTURER CUE</a:t>
            </a:r>
          </a:p>
          <a:p>
            <a:r>
              <a:t>Work the cohort formula by hand before opening Python. State every unit. Use the four-line cohort calculation first; do not begin with formatting, imports or a long function.</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A reusable calculation.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reusable calculation</a:t>
            </a:r>
          </a:p>
          <a:p>
            <a:r>
              <a:t/>
            </a:r>
          </a:p>
          <a:p>
            <a:r>
              <a:t>CONNECT</a:t>
            </a:r>
          </a:p>
          <a:p>
            <a:r>
              <a:t>Build on the preceding slide: A calculation has inputs and an answer.</a:t>
            </a:r>
          </a:p>
          <a:p>
            <a:r>
              <a:t/>
            </a:r>
          </a:p>
          <a:p>
            <a:r>
              <a:t>LECTURER CUE</a:t>
            </a:r>
          </a:p>
          <a:p>
            <a:r>
              <a:t>Introduce one reusable calculation using the example below. Read def, the function name, parentheses, parameter, colon, indentation and return separately. Defining the function does not run its body.</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Inputs, instructions and a returned result.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Inputs, instructions and a returned result</a:t>
            </a:r>
          </a:p>
          <a:p>
            <a:r>
              <a:t/>
            </a:r>
          </a:p>
          <a:p>
            <a:r>
              <a:t>CONNECT</a:t>
            </a:r>
          </a:p>
          <a:p>
            <a:r>
              <a:t>Build on the preceding slide: A reusable calculation.</a:t>
            </a:r>
          </a:p>
          <a:p>
            <a:r>
              <a:t/>
            </a:r>
          </a:p>
          <a:p>
            <a:r>
              <a:t>LECTURER CUE</a:t>
            </a:r>
          </a:p>
          <a:p>
            <a:r>
              <a:t>Read def, the name, parameters, colon, indentation, return and call. Definition creates the function. Its body waits for a call. Distinguish print, which displays, from return, which passes a value back.</a:t>
            </a:r>
          </a:p>
          <a:p>
            <a:r>
              <a:t>Source: existing course illustration figs/function_anatomy.png. These are illustrative examples, not this cohort’s assessed results.</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Following a function call.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Following a function call</a:t>
            </a:r>
          </a:p>
          <a:p>
            <a:r>
              <a:t/>
            </a:r>
          </a:p>
          <a:p>
            <a:r>
              <a:t>CONNECT</a:t>
            </a:r>
          </a:p>
          <a:p>
            <a:r>
              <a:t>Build on the preceding slide: Inputs, instructions and a returned result.</a:t>
            </a:r>
          </a:p>
          <a:p>
            <a:r>
              <a:t/>
            </a:r>
          </a:p>
          <a:p>
            <a:r>
              <a:t>LECTURER CUE</a:t>
            </a:r>
          </a:p>
          <a:p>
            <a:r>
              <a:t>Calling double_value(4) supplies 4 for x, calculates 8 and returns 8. The outer print displays it. Then teach an if/else guard with a separate small example.</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Worked example.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a:t>
            </a:r>
          </a:p>
          <a:p>
            <a:r>
              <a:t/>
            </a:r>
          </a:p>
          <a:p>
            <a:r>
              <a:t>CONNECT</a:t>
            </a:r>
          </a:p>
          <a:p>
            <a:r>
              <a:t>Build on the preceding slide: Following a function call.</a:t>
            </a:r>
          </a:p>
          <a:p>
            <a:r>
              <a:t/>
            </a:r>
          </a:p>
          <a:p>
            <a:r>
              <a:t>LECTURER CUE</a:t>
            </a:r>
          </a:p>
          <a:p>
            <a:r>
              <a:t>Work the cohort formula by hand before opening Python. State every unit. Use the four-line cohort calculation first; do not begin with formatting, imports or a long function. Introduce one reusable calculation using the example below. Read def, the function name, parentheses, parameter, colon, indentation and return separately. Defining the function does not run its body. Calling double_value(4) supplies 4 for x, calculates 8 and returns 8. The outer print displays it. Then teach an if/else guard with a separate small example.</a:t>
            </a:r>
          </a:p>
          <a:p>
            <a:r>
              <a:t/>
            </a:r>
          </a:p>
          <a:p>
            <a:r>
              <a:t>Complete practice code:</a:t>
            </a:r>
          </a:p>
          <a:p>
            <a:r>
              <a:t>def double_value(x):</a:t>
            </a:r>
          </a:p>
          <a:p>
            <a:r>
              <a:t>    return x * 2</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WALK THROUGH THIS CODE</a:t>
            </a:r>
          </a:p>
          <a:p>
            <a:r>
              <a:t>def names the function. Inputs go inside parentheses.</a:t>
            </a:r>
          </a:p>
          <a:p>
            <a:r>
              <a:t>return sends the result back to the caller.</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Worked example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continued</a:t>
            </a:r>
          </a:p>
          <a:p>
            <a:r>
              <a:t/>
            </a:r>
          </a:p>
          <a:p>
            <a:r>
              <a:t>CONNECT</a:t>
            </a:r>
          </a:p>
          <a:p>
            <a:r>
              <a:t>Build on the preceding slide: Worked example.</a:t>
            </a:r>
          </a:p>
          <a:p>
            <a:r>
              <a:t/>
            </a:r>
          </a:p>
          <a:p>
            <a:r>
              <a:t>LECTURER CUE</a:t>
            </a:r>
          </a:p>
          <a:p>
            <a:r>
              <a:t>Work the cohort formula by hand before opening Python. State every unit. Use the four-line cohort calculation first; do not begin with formatting, imports or a long function. Introduce one reusable calculation using the example below. Read def, the function name, parentheses, parameter, colon, indentation and return separately. Defining the function does not run its body. Calling double_value(4) supplies 4 for x, calculates 8 and returns 8. The outer print displays it. Then teach an if/else guard with a separate small example.</a:t>
            </a:r>
          </a:p>
          <a:p>
            <a:r>
              <a:t/>
            </a:r>
          </a:p>
          <a:p>
            <a:r>
              <a:t>Complete practice code:</a:t>
            </a:r>
          </a:p>
          <a:p>
            <a:r>
              <a:t>print(double_value(4))</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WALK THROUGH THIS CODE</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Positional and named inputs.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Positional and named inputs</a:t>
            </a:r>
          </a:p>
          <a:p>
            <a:r>
              <a:t/>
            </a:r>
          </a:p>
          <a:p>
            <a:r>
              <a:t>CONNECT</a:t>
            </a:r>
          </a:p>
          <a:p>
            <a:r>
              <a:t>Build on the preceding slide: Worked example continued.</a:t>
            </a:r>
          </a:p>
          <a:p>
            <a:r>
              <a:t/>
            </a:r>
          </a:p>
          <a:p>
            <a:r>
              <a:t>LECTURER CUE</a:t>
            </a:r>
          </a:p>
          <a:p>
            <a:r>
              <a:t>Read each symbol before running. Ask everyone to predict. Expected output: 6 then 6</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WALK THROUGH THIS CODE</a:t>
            </a:r>
          </a:p>
          <a:p>
            <a:r>
              <a:t>def names the function. Inputs go inside parentheses.</a:t>
            </a:r>
          </a:p>
          <a:p>
            <a:r>
              <a:t>return sends the result back to the caller.</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Worked example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continued</a:t>
            </a:r>
          </a:p>
          <a:p>
            <a:r>
              <a:t/>
            </a:r>
          </a:p>
          <a:p>
            <a:r>
              <a:t>CONNECT</a:t>
            </a:r>
          </a:p>
          <a:p>
            <a:r>
              <a:t>Build on the preceding slide: Positional and named inputs.</a:t>
            </a:r>
          </a:p>
          <a:p>
            <a:r>
              <a:t/>
            </a:r>
          </a:p>
          <a:p>
            <a:r>
              <a:t>LECTURER CUE</a:t>
            </a:r>
          </a:p>
          <a:p>
            <a:r>
              <a:t>Work the cohort formula by hand before opening Python. State every unit. Use the four-line cohort calculation first; do not begin with formatting, imports or a long function. Introduce one reusable calculation using the example below. Read def, the function name, parentheses, parameter, colon, indentation and return separately. Defining the function does not run its body. Calling double_value(4) supplies 4 for x, calculates 8 and returns 8. The outer print displays it. Then teach an if/else guard with a separate small example.</a:t>
            </a:r>
          </a:p>
          <a:p>
            <a:r>
              <a:t/>
            </a:r>
          </a:p>
          <a:p>
            <a:r>
              <a:t>Complete practice code:</a:t>
            </a:r>
          </a:p>
          <a:p>
            <a:r>
              <a:t>def safe_share(total, people):</a:t>
            </a:r>
          </a:p>
          <a:p>
            <a:r>
              <a:t>    if people == 0:</a:t>
            </a:r>
          </a:p>
          <a:p>
            <a:r>
              <a:t>        return None</a:t>
            </a:r>
          </a:p>
          <a:p>
            <a:r>
              <a:t>    return total / people</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WALK THROUGH THIS CODE</a:t>
            </a:r>
          </a:p>
          <a:p>
            <a:r>
              <a:t>def names the function. Inputs go inside parentheses.</a:t>
            </a:r>
          </a:p>
          <a:p>
            <a:r>
              <a:t>if tests a condition. The chosen indented block runs.</a:t>
            </a:r>
          </a:p>
          <a:p>
            <a:r>
              <a:t>return sends the result back to the caller.</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Worked example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continued</a:t>
            </a:r>
          </a:p>
          <a:p>
            <a:r>
              <a:t/>
            </a:r>
          </a:p>
          <a:p>
            <a:r>
              <a:t>CONNECT</a:t>
            </a:r>
          </a:p>
          <a:p>
            <a:r>
              <a:t>Build on the preceding slide: Worked example continued.</a:t>
            </a:r>
          </a:p>
          <a:p>
            <a:r>
              <a:t/>
            </a:r>
          </a:p>
          <a:p>
            <a:r>
              <a:t>LECTURER CUE</a:t>
            </a:r>
          </a:p>
          <a:p>
            <a:r>
              <a:t>Work the cohort formula by hand before opening Python. State every unit. Use the four-line cohort calculation first; do not begin with formatting, imports or a long function. Introduce one reusable calculation using the example below. Read def, the function name, parentheses, parameter, colon, indentation and return separately. Defining the function does not run its body. Calling double_value(4) supplies 4 for x, calculates 8 and returns 8. The outer print displays it. Then teach an if/else guard with a separate small example.</a:t>
            </a:r>
          </a:p>
          <a:p>
            <a:r>
              <a:t/>
            </a:r>
          </a:p>
          <a:p>
            <a:r>
              <a:t>Complete practice code:</a:t>
            </a:r>
          </a:p>
          <a:p>
            <a:r>
              <a:t>print(safe_share(12, 3))</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WALK THROUGH THIS CODE</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Expected output.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Expected output</a:t>
            </a:r>
          </a:p>
          <a:p>
            <a:r>
              <a:t/>
            </a:r>
          </a:p>
          <a:p>
            <a:r>
              <a:t>CONNECT</a:t>
            </a:r>
          </a:p>
          <a:p>
            <a:r>
              <a:t>Build on the preceding slide: Worked example continued.</a:t>
            </a:r>
          </a:p>
          <a:p>
            <a:r>
              <a:t/>
            </a:r>
          </a:p>
          <a:p>
            <a:r>
              <a:t>LECTURER CUE</a:t>
            </a:r>
          </a:p>
          <a:p>
            <a:r>
              <a:t>Compare the actual output character by character with this practice result. If it differs, read the first error and check the input, units, names and execution order. Do not copy this practice output into a graded answer.</a:t>
            </a:r>
          </a:p>
          <a:p>
            <a:r>
              <a:t/>
            </a:r>
          </a:p>
          <a:p>
            <a:r>
              <a:t>NEXT</a:t>
            </a:r>
          </a:p>
          <a:p>
            <a:r>
              <a:t>A branch with a clear boundary.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branch with a clear boundary</a:t>
            </a:r>
          </a:p>
          <a:p>
            <a:r>
              <a:t/>
            </a:r>
          </a:p>
          <a:p>
            <a:r>
              <a:t>CONNECT</a:t>
            </a:r>
          </a:p>
          <a:p>
            <a:r>
              <a:t>Build on the preceding slide: Expected output.</a:t>
            </a:r>
          </a:p>
          <a:p>
            <a:r>
              <a:t/>
            </a:r>
          </a:p>
          <a:p>
            <a:r>
              <a:t>LECTURER CUE</a:t>
            </a:r>
          </a:p>
          <a:p>
            <a:r>
              <a:t>Read from the top. &gt;= includes the boundary. Only the selected branch runs. Try the value exactly at 10 as well as 9 and 11.</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A branch with a clear boundary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branch with a clear boundary in Python</a:t>
            </a:r>
          </a:p>
          <a:p>
            <a:r>
              <a:t/>
            </a:r>
          </a:p>
          <a:p>
            <a:r>
              <a:t>CONNECT</a:t>
            </a:r>
          </a:p>
          <a:p>
            <a:r>
              <a:t>Build on the preceding slide: A branch with a clear boundary.</a:t>
            </a:r>
          </a:p>
          <a:p>
            <a:r>
              <a:t/>
            </a:r>
          </a:p>
          <a:p>
            <a:r>
              <a:t>LECTURER CUE</a:t>
            </a:r>
          </a:p>
          <a:p>
            <a:r>
              <a:t>Read from the top. &gt;= includes the boundary. Only the selected branch runs. Try the value exactly at 10 as well as 9 and 11.</a:t>
            </a:r>
          </a:p>
          <a:p>
            <a:r>
              <a:t/>
            </a:r>
          </a:p>
          <a:p>
            <a:r>
              <a:t>Complete practice code:</a:t>
            </a:r>
          </a:p>
          <a:p>
            <a:r>
              <a:t>def check_level(value):</a:t>
            </a:r>
          </a:p>
          <a:p>
            <a:r>
              <a:t>    if value &gt;= 10:</a:t>
            </a:r>
          </a:p>
          <a:p>
            <a:r>
              <a:t>        return "high"</a:t>
            </a:r>
          </a:p>
          <a:p>
            <a:r>
              <a:t>    return "low"</a:t>
            </a:r>
          </a:p>
          <a:p>
            <a:r>
              <a:t/>
            </a:r>
          </a:p>
          <a:p>
            <a:r>
              <a:t>print(check_level(10))</a:t>
            </a:r>
          </a:p>
          <a:p>
            <a:r>
              <a:t>print(check_level(9))</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WALK THROUGH THIS CODE</a:t>
            </a:r>
          </a:p>
          <a:p>
            <a:r>
              <a:t>def names the function. Inputs go inside parentheses.</a:t>
            </a:r>
          </a:p>
          <a:p>
            <a:r>
              <a:t>if tests a condition. The chosen indented block runs.</a:t>
            </a:r>
          </a:p>
          <a:p>
            <a:r>
              <a:t>return sends the result back to the caller.</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Selecting a largest error without loops.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Selecting a largest error without loops</a:t>
            </a:r>
          </a:p>
          <a:p>
            <a:r>
              <a:t/>
            </a:r>
          </a:p>
          <a:p>
            <a:r>
              <a:t>CONNECT</a:t>
            </a:r>
          </a:p>
          <a:p>
            <a:r>
              <a:t>Build on the preceding slide: A branch with a clear boundary in Python.</a:t>
            </a:r>
          </a:p>
          <a:p>
            <a:r>
              <a:t/>
            </a:r>
          </a:p>
          <a:p>
            <a:r>
              <a:t>LECTURER CUE</a:t>
            </a:r>
          </a:p>
          <a:p>
            <a:r>
              <a:t>A list holds several values. abs removes the sign when measuring the SIZE of an error. max returns the largest supplied value. Keep the original signed error when the task asks for direction.</a:t>
            </a:r>
          </a:p>
          <a:p>
            <a:r>
              <a:t/>
            </a:r>
          </a:p>
          <a:p>
            <a:r>
              <a:t>EXPLAIN IN ORDINARY WORDS</a:t>
            </a:r>
          </a:p>
          <a:p>
            <a:r>
              <a:t>The size of an error is its absolute value. Keep the original sign and the matching reading. Find the position of the largest size, then use that same position in both original lists.</a:t>
            </a:r>
          </a:p>
          <a:p>
            <a:r>
              <a:t/>
            </a:r>
          </a:p>
          <a:p>
            <a:r>
              <a:t>CHECK AND EXPECTED ANSWER</a:t>
            </a:r>
          </a:p>
          <a:p>
            <a:r>
              <a:t>For errors [-2,5,-8], sizes are [2,5,8]. The maximum size is 8 at position 2; the original signed error is -8.</a:t>
            </a:r>
          </a:p>
          <a:p>
            <a:r>
              <a:t/>
            </a:r>
          </a:p>
          <a:p>
            <a:r>
              <a:t>IF LEARNERS ARE STUCK</a:t>
            </a:r>
          </a:p>
          <a:p>
            <a:r>
              <a:t>Draw the readings, signed errors and sizes in aligned columns. Circle the position rather than replacing the signed error with its absolute value.</a:t>
            </a:r>
          </a:p>
          <a:p>
            <a:r>
              <a:t/>
            </a:r>
          </a:p>
          <a:p>
            <a:r>
              <a:t>NEXT</a:t>
            </a:r>
          </a:p>
          <a:p>
            <a:r>
              <a:t>Reading a short list.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a short list</a:t>
            </a:r>
          </a:p>
          <a:p>
            <a:r>
              <a:t/>
            </a:r>
          </a:p>
          <a:p>
            <a:r>
              <a:t>CONNECT</a:t>
            </a:r>
          </a:p>
          <a:p>
            <a:r>
              <a:t>Build on the preceding slide: Selecting a largest error without loops.</a:t>
            </a:r>
          </a:p>
          <a:p>
            <a:r>
              <a:t/>
            </a:r>
          </a:p>
          <a:p>
            <a:r>
              <a:t>LECTURER CUE</a:t>
            </a:r>
          </a:p>
          <a:p>
            <a:r>
              <a:t>Trace positions 0, 1 and 2. abs(-8) is 8. Use a new list for a prediction before running the example.</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Selecting a largest error without loops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Selecting a largest error without loops in Python</a:t>
            </a:r>
          </a:p>
          <a:p>
            <a:r>
              <a:t/>
            </a:r>
          </a:p>
          <a:p>
            <a:r>
              <a:t>CONNECT</a:t>
            </a:r>
          </a:p>
          <a:p>
            <a:r>
              <a:t>Build on the preceding slide: Reading a short list.</a:t>
            </a:r>
          </a:p>
          <a:p>
            <a:r>
              <a:t/>
            </a:r>
          </a:p>
          <a:p>
            <a:r>
              <a:t>LECTURER CUE</a:t>
            </a:r>
          </a:p>
          <a:p>
            <a:r>
              <a:t>A list holds several values. abs removes the sign when measuring the SIZE of an error. max returns the largest supplied value. Keep the original signed error when the task asks for direction.</a:t>
            </a:r>
          </a:p>
          <a:p>
            <a:r>
              <a:t/>
            </a:r>
          </a:p>
          <a:p>
            <a:r>
              <a:t>Complete practice code:</a:t>
            </a:r>
          </a:p>
          <a:p>
            <a:r>
              <a:t>errors = [-2, 5, -8]</a:t>
            </a:r>
          </a:p>
          <a:p>
            <a:r>
              <a:t>largest = max(abs(errors[0]), abs(errors[1]), abs(errors[2]))</a:t>
            </a:r>
          </a:p>
          <a:p>
            <a:r>
              <a:t>print(largest)</a:t>
            </a:r>
          </a:p>
          <a:p>
            <a:r>
              <a:t/>
            </a:r>
          </a:p>
          <a:p>
            <a:r>
              <a:t>EXPLAIN IN ORDINARY WORDS</a:t>
            </a:r>
          </a:p>
          <a:p>
            <a:r>
              <a:t>The size of an error is its absolute value. Keep the original sign and the matching reading. Find the position of the largest size, then use that same position in both original lists.</a:t>
            </a:r>
          </a:p>
          <a:p>
            <a:r>
              <a:t/>
            </a:r>
          </a:p>
          <a:p>
            <a:r>
              <a:t>CHECK AND EXPECTED ANSWER</a:t>
            </a:r>
          </a:p>
          <a:p>
            <a:r>
              <a:t>For errors [-2,5,-8], sizes are [2,5,8]. The maximum size is 8 at position 2; the original signed error is -8.</a:t>
            </a:r>
          </a:p>
          <a:p>
            <a:r>
              <a:t/>
            </a:r>
          </a:p>
          <a:p>
            <a:r>
              <a:t>IF LEARNERS ARE STUCK</a:t>
            </a:r>
          </a:p>
          <a:p>
            <a:r>
              <a:t>Draw the readings, signed errors and sizes in aligned columns. Circle the position rather than replacing the signed error with its absolute value.</a:t>
            </a:r>
          </a:p>
          <a:p>
            <a:r>
              <a:t/>
            </a:r>
          </a:p>
          <a:p>
            <a:r>
              <a:t>WALK THROUGH THIS CODE</a:t>
            </a:r>
          </a:p>
          <a:p>
            <a:r>
              <a:t>print displays a value below the cell.</a:t>
            </a:r>
          </a:p>
          <a:p>
            <a:r>
              <a:t>Square brackets create a list or select an item.</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Keep the reading beside its signed error.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Keep the reading beside its signed error</a:t>
            </a:r>
          </a:p>
          <a:p>
            <a:r>
              <a:t/>
            </a:r>
          </a:p>
          <a:p>
            <a:r>
              <a:t>CONNECT</a:t>
            </a:r>
          </a:p>
          <a:p>
            <a:r>
              <a:t>Build on the preceding slide: Selecting a largest error without loops in Python.</a:t>
            </a:r>
          </a:p>
          <a:p>
            <a:r>
              <a:t/>
            </a:r>
          </a:p>
          <a:p>
            <a:r>
              <a:t>EXPLAIN IN ORDINARY WORDS</a:t>
            </a:r>
          </a:p>
          <a:p>
            <a:r>
              <a:t>The size of an error is its absolute value. Keep the original sign and the matching reading. Find the position of the largest size, then use that same position in both original lists.</a:t>
            </a:r>
          </a:p>
          <a:p>
            <a:r>
              <a:t/>
            </a:r>
          </a:p>
          <a:p>
            <a:r>
              <a:t>CHECK AND EXPECTED ANSWER</a:t>
            </a:r>
          </a:p>
          <a:p>
            <a:r>
              <a:t>For errors [-2,5,-8], sizes are [2,5,8]. The maximum size is 8 at position 2; the original signed error is -8.</a:t>
            </a:r>
          </a:p>
          <a:p>
            <a:r>
              <a:t/>
            </a:r>
          </a:p>
          <a:p>
            <a:r>
              <a:t>IF LEARNERS ARE STUCK</a:t>
            </a:r>
          </a:p>
          <a:p>
            <a:r>
              <a:t>Draw the readings, signed errors and sizes in aligned columns. Circle the position rather than replacing the signed error with its absolute value.</a:t>
            </a:r>
          </a:p>
          <a:p>
            <a:r>
              <a:t/>
            </a:r>
          </a:p>
          <a:p>
            <a:r>
              <a:t>NEXT</a:t>
            </a:r>
          </a:p>
          <a:p>
            <a:r>
              <a:t>Find a position, then recover the original values.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Find a position, then recover the original values</a:t>
            </a:r>
          </a:p>
          <a:p>
            <a:r>
              <a:t/>
            </a:r>
          </a:p>
          <a:p>
            <a:r>
              <a:t>CONNECT</a:t>
            </a:r>
          </a:p>
          <a:p>
            <a:r>
              <a:t>Build on the preceding slide: Keep the reading beside its signed error.</a:t>
            </a:r>
          </a:p>
          <a:p>
            <a:r>
              <a:t/>
            </a:r>
          </a:p>
          <a:p>
            <a:r>
              <a:t>LECTURER CUE</a:t>
            </a:r>
          </a:p>
          <a:p>
            <a:r>
              <a:t>Expected: 92 -8. The largest size is 8; the signed error is -8.</a:t>
            </a:r>
          </a:p>
          <a:p>
            <a:r>
              <a:t/>
            </a:r>
          </a:p>
          <a:p>
            <a:r>
              <a:t>Complete practice code:</a:t>
            </a:r>
          </a:p>
          <a:p>
            <a:r>
              <a:t>readings = [98, 105, 92]</a:t>
            </a:r>
          </a:p>
          <a:p>
            <a:r>
              <a:t>errors = [-2, 5, -8]</a:t>
            </a:r>
          </a:p>
          <a:p>
            <a:r>
              <a:t>sizes = [abs(errors[0]), abs(errors[1]), abs(errors[2])]</a:t>
            </a:r>
          </a:p>
          <a:p>
            <a:r>
              <a:t>position = sizes.index(max(sizes))</a:t>
            </a:r>
          </a:p>
          <a:p>
            <a:r>
              <a:t>print(readings[position], errors[position])</a:t>
            </a:r>
          </a:p>
          <a:p>
            <a:r>
              <a:t/>
            </a:r>
          </a:p>
          <a:p>
            <a:r>
              <a:t>EXPLAIN IN ORDINARY WORDS</a:t>
            </a:r>
          </a:p>
          <a:p>
            <a:r>
              <a:t>The size of an error is its absolute value. Keep the original sign and the matching reading. Find the position of the largest size, then use that same position in both original lists.</a:t>
            </a:r>
          </a:p>
          <a:p>
            <a:r>
              <a:t/>
            </a:r>
          </a:p>
          <a:p>
            <a:r>
              <a:t>CHECK AND EXPECTED ANSWER</a:t>
            </a:r>
          </a:p>
          <a:p>
            <a:r>
              <a:t>For errors [-2,5,-8], sizes are [2,5,8]. The maximum size is 8 at position 2; the original signed error is -8.</a:t>
            </a:r>
          </a:p>
          <a:p>
            <a:r>
              <a:t/>
            </a:r>
          </a:p>
          <a:p>
            <a:r>
              <a:t>IF LEARNERS ARE STUCK</a:t>
            </a:r>
          </a:p>
          <a:p>
            <a:r>
              <a:t>Draw the readings, signed errors and sizes in aligned columns. Circle the position rather than replacing the signed error with its absolute value.</a:t>
            </a:r>
          </a:p>
          <a:p>
            <a:r>
              <a:t/>
            </a:r>
          </a:p>
          <a:p>
            <a:r>
              <a:t>WALK THROUGH THIS CODE</a:t>
            </a:r>
          </a:p>
          <a:p>
            <a:r>
              <a:t>print displays a value below the cell.</a:t>
            </a:r>
          </a:p>
          <a:p>
            <a:r>
              <a:t>Square brackets create a list or select an item.</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You are the function.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the function</a:t>
            </a:r>
          </a:p>
          <a:p>
            <a:r>
              <a:t/>
            </a:r>
          </a:p>
          <a:p>
            <a:r>
              <a:t>CONNECT</a:t>
            </a:r>
          </a:p>
          <a:p>
            <a:r>
              <a:t>Build on the preceding slide: Find a position, then recover the original values.</a:t>
            </a:r>
          </a:p>
          <a:p>
            <a:r>
              <a:t/>
            </a:r>
          </a:p>
          <a:p>
            <a:r>
              <a:t>LECTURER CUE</a:t>
            </a:r>
          </a:p>
          <a:p>
            <a:r>
              <a:t>Do this before revealing the discussion slide. One learner moves or writes the items, the other checks. Swap roles. Every student explains one step. Expected: The returned answers are 8 and 14. The same instructions accept different inputs.</a:t>
            </a:r>
          </a:p>
          <a:p>
            <a:r>
              <a:t>Wait for an individual prediction before inviting pair discussion. Give a first-step hint if needed.</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the function.</a:t>
            </a:r>
          </a:p>
          <a:p>
            <a:r>
              <a:t/>
            </a:r>
          </a:p>
          <a:p>
            <a:r>
              <a:t>LECTURER CUE</a:t>
            </a:r>
          </a:p>
          <a:p>
            <a:r>
              <a:t>Ask which step produced this answer. Return to the concrete action if a learner cannot explain it. This is practice feedback, never a quiz key.</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Your 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turn</a:t>
            </a:r>
          </a:p>
          <a:p>
            <a:r>
              <a:t/>
            </a:r>
          </a:p>
          <a:p>
            <a:r>
              <a:t>CONNECT</a:t>
            </a:r>
          </a:p>
          <a:p>
            <a:r>
              <a:t>Build on the preceding slide: What the activity shows.</a:t>
            </a:r>
          </a:p>
          <a:p>
            <a:r>
              <a:t/>
            </a:r>
          </a:p>
          <a:p>
            <a:r>
              <a:t>LECTURER CUE</a:t>
            </a:r>
          </a:p>
          <a:p>
            <a:r>
              <a:t>Give silent thinking time, then let pairs discuss. Rotate who types. This is practice, not a graded quiz. Expected response: triple_value returns x * 3. The calls give 15 and None respectively. The guard returns before division when people is zero.</a:t>
            </a:r>
          </a:p>
          <a:p>
            <a:r>
              <a:t/>
            </a:r>
          </a:p>
          <a:p>
            <a:r>
              <a:t>DISCUSSION KEY FOR THIS SLIDE</a:t>
            </a:r>
          </a:p>
          <a:p>
            <a:r>
              <a:t>DISCUSS THE REASONING</a:t>
            </a:r>
          </a:p>
          <a:p>
            <a:r>
              <a:t>Practice discussion</a:t>
            </a:r>
          </a:p>
          <a:p>
            <a:r>
              <a:t>triple_value returns x * 3. The calls give 15 and None respectively. The guard returns before division when people is zero.</a:t>
            </a:r>
          </a:p>
          <a:p>
            <a:r>
              <a:t>Which step produced this result? What changes if one input changes?</a:t>
            </a:r>
          </a:p>
          <a:p>
            <a:r>
              <a:t>CML3113   Week 3   46</a:t>
            </a:r>
          </a:p>
          <a:p>
            <a:r>
              <a:t>Let learners attempt first; use this to explain the reasoning, not just reveal the answer.</a:t>
            </a:r>
          </a:p>
          <a:p>
            <a:r>
              <a:t/>
            </a:r>
          </a:p>
          <a:p>
            <a:r>
              <a:t>NEXT</a:t>
            </a:r>
          </a:p>
          <a:p>
            <a:r>
              <a:t>Practice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discussion</a:t>
            </a:r>
          </a:p>
          <a:p>
            <a:r>
              <a:t/>
            </a:r>
          </a:p>
          <a:p>
            <a:r>
              <a:t>CONNECT</a:t>
            </a:r>
          </a:p>
          <a:p>
            <a:r>
              <a:t>Build on the preceding slide: Your turn.</a:t>
            </a:r>
          </a:p>
          <a:p>
            <a:r>
              <a:t/>
            </a:r>
          </a:p>
          <a:p>
            <a:r>
              <a:t>LECTURER CUE</a:t>
            </a:r>
          </a:p>
          <a:p>
            <a:r>
              <a:t>Ask how the result was obtained. Reteach the smallest missing step instead of giving a longer lecture.</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Read the quantities before the formulas.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 the quantities before the formulas</a:t>
            </a:r>
          </a:p>
          <a:p>
            <a:r>
              <a:t/>
            </a:r>
          </a:p>
          <a:p>
            <a:r>
              <a:t>CONNECT</a:t>
            </a:r>
          </a:p>
          <a:p>
            <a:r>
              <a:t>Build on the preceding slide: Practice discussion.</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Quantities and units.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Quantities and units</a:t>
            </a:r>
          </a:p>
          <a:p>
            <a:r>
              <a:t/>
            </a:r>
          </a:p>
          <a:p>
            <a:r>
              <a:t>CONNECT</a:t>
            </a:r>
          </a:p>
          <a:p>
            <a:r>
              <a:t>Build on the preceding slide: Read the quantities before the formulas.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Your programme formula.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programme formula</a:t>
            </a:r>
          </a:p>
          <a:p>
            <a:r>
              <a:t/>
            </a:r>
          </a:p>
          <a:p>
            <a:r>
              <a:t>CONNECT</a:t>
            </a:r>
          </a:p>
          <a:p>
            <a:r>
              <a:t>Build on the preceding slide: Quantities and units.</a:t>
            </a:r>
          </a:p>
          <a:p>
            <a:r>
              <a:t/>
            </a:r>
          </a:p>
          <a:p>
            <a:r>
              <a:t>DELIVER THIS SLIDE</a:t>
            </a:r>
          </a:p>
          <a:p>
            <a:r>
              <a:t>Read the stated purpose, then point to the named example or action on the slide. Ask learners to describe what they will do before moving on. For a break slide, announce the return time; for a section divider, name the next concrete task.</a:t>
            </a:r>
          </a:p>
          <a:p>
            <a:r>
              <a:t/>
            </a:r>
          </a:p>
          <a:p>
            <a:r>
              <a:t>NEXT</a:t>
            </a:r>
          </a:p>
          <a:p>
            <a:r>
              <a:t>Short explainer and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Short explainer and discussion</a:t>
            </a:r>
          </a:p>
          <a:p>
            <a:r>
              <a:t/>
            </a:r>
          </a:p>
          <a:p>
            <a:r>
              <a:t>CONNECT</a:t>
            </a:r>
          </a:p>
          <a:p>
            <a:r>
              <a:t>Build on the preceding slide: Your programme formula.</a:t>
            </a:r>
          </a:p>
          <a:p>
            <a:r>
              <a:t/>
            </a:r>
          </a:p>
          <a:p>
            <a:r>
              <a:t>LECTURER CUE</a:t>
            </a:r>
          </a:p>
          <a:p>
            <a:r>
              <a:t>Title/channel and subject confirmed from the original YouTube listing. Exact excerpt content has not been fully watched; keep the local worked example as the fallback.</a:t>
            </a:r>
          </a:p>
          <a:p>
            <a:r>
              <a:t>After viewing: Calculate 7 / 2 and 7 // 2 in Colab and explain the difference.</a:t>
            </a:r>
          </a:p>
          <a:p>
            <a:r>
              <a:t>Preview before class and stop after the selected short excerpt. If playback fails, teach the worked example. Video is optional. Source: https://www.youtube.com/watch?v=khKv-8q7YmY</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VIDEO ROUTINE</a:t>
            </a:r>
          </a:p>
          <a:p>
            <a:r>
              <a:t>Preview the exact link and stated excerpt before class. State the viewing question first, pause after the example, and ask a learner to explain it. If access fails, use the adjacent worked example and discussion rather than spend class time troubleshooting streaming.</a:t>
            </a:r>
          </a:p>
          <a:p>
            <a:r>
              <a:t/>
            </a:r>
          </a:p>
          <a:p>
            <a:r>
              <a:t>NEXT</a:t>
            </a:r>
          </a:p>
          <a:p>
            <a:r>
              <a:t>After the video.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After the video</a:t>
            </a:r>
          </a:p>
          <a:p>
            <a:r>
              <a:t/>
            </a:r>
          </a:p>
          <a:p>
            <a:r>
              <a:t>CONNECT</a:t>
            </a:r>
          </a:p>
          <a:p>
            <a:r>
              <a:t>Build on the preceding slide: Short explainer and discussion.</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Preparing for the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a:t>
            </a:r>
          </a:p>
          <a:p>
            <a:r>
              <a:t/>
            </a:r>
          </a:p>
          <a:p>
            <a:r>
              <a:t>CONNECT</a:t>
            </a:r>
          </a:p>
          <a:p>
            <a:r>
              <a:t>Build on the preceding slide: After the video.</a:t>
            </a:r>
          </a:p>
          <a:p>
            <a:r>
              <a:t/>
            </a:r>
          </a:p>
          <a:p>
            <a:r>
              <a:t>LECTURER CUE</a:t>
            </a:r>
          </a:p>
          <a:p>
            <a:r>
              <a:t>A3 has five named tasks, not five additional projects. Read each public prompt and its exact output name. Signed percentage error = 100 × (measured − expected) / expected. Use a nonzero expected value. For the cohort task: resistive loss = current² × resistance; slab mass = area × thickness × 2400; hydrostatic pressure in kPa = density × 9.81 × depth / 1000. The brief determines which formula you implement. q4 specifies the zero-input behaviour. q5 uses the supplied six readings; trace them on paper, and use your own percentage-error function. Loops are not required yet.</a:t>
            </a:r>
          </a:p>
          <a:p>
            <a:r>
              <a:t/>
            </a:r>
          </a:p>
          <a:p>
            <a:r>
              <a:t>EXPLAIN IN ORDINARY WORDS</a:t>
            </a:r>
          </a:p>
          <a:p>
            <a:r>
              <a:t>Signed percentage error compares a measurement with its expected reference: (measured - expected) / expected times 100. Positive means above the reference; negative means below it.</a:t>
            </a:r>
          </a:p>
          <a:p>
            <a:r>
              <a:t/>
            </a:r>
          </a:p>
          <a:p>
            <a:r>
              <a:t>CHECK AND EXPECTED ANSWER</a:t>
            </a:r>
          </a:p>
          <a:p>
            <a:r>
              <a:t>For measured 90 and expected 100, the signed error is -10%. Its size is 10%.</a:t>
            </a:r>
          </a:p>
          <a:p>
            <a:r>
              <a:t/>
            </a:r>
          </a:p>
          <a:p>
            <a:r>
              <a:t>IF LEARNERS ARE STUCK</a:t>
            </a:r>
          </a:p>
          <a:p>
            <a:r>
              <a:t>Calculate the difference first, divide by the reference, then multiply by 100. The formula needs a nonzero reference; follow the issued task contract for exceptional inputs.</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Preparing for the assignment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 continued</a:t>
            </a:r>
          </a:p>
          <a:p>
            <a:r>
              <a:t/>
            </a:r>
          </a:p>
          <a:p>
            <a:r>
              <a:t>CONNECT</a:t>
            </a:r>
          </a:p>
          <a:p>
            <a:r>
              <a:t>Build on the preceding slide: Preparing for the assignment.</a:t>
            </a:r>
          </a:p>
          <a:p>
            <a:r>
              <a:t/>
            </a:r>
          </a:p>
          <a:p>
            <a:r>
              <a:t>LECTURER CUE</a:t>
            </a:r>
          </a:p>
          <a:p>
            <a:r>
              <a:t>A3 has five named tasks, not five additional projects. Read each public prompt and its exact output name. Signed percentage error = 100 × (measured − expected) / expected. Use a nonzero expected value. For the cohort task: resistive loss = current² × resistance; slab mass = area × thickness × 2400; hydrostatic pressure in kPa = density × 9.81 × depth / 1000. The brief determines which formula you implement. q4 specifies the zero-input behaviour. q5 uses the supplied six readings; trace them on paper, and use your own percentage-error function. Loops are not required yet.</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Units branches and error messages.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Units branches and error messages</a:t>
            </a:r>
          </a:p>
          <a:p>
            <a:r>
              <a:t/>
            </a:r>
          </a:p>
          <a:p>
            <a:r>
              <a:t>CONNECT</a:t>
            </a:r>
          </a:p>
          <a:p>
            <a:r>
              <a:t>Build on the preceding slide: Preparing for the assignment continued.</a:t>
            </a:r>
          </a:p>
          <a:p>
            <a:r>
              <a:t/>
            </a:r>
          </a:p>
          <a:p>
            <a:r>
              <a:t>LECTURER CUE</a:t>
            </a:r>
          </a:p>
          <a:p>
            <a:r>
              <a:t>Teach these concepts before the weekly quiz. Use changed numbers for practice. This slide supplies concepts, not the quiz key.</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Units branches and error messages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Units branches and error messages continued</a:t>
            </a:r>
          </a:p>
          <a:p>
            <a:r>
              <a:t/>
            </a:r>
          </a:p>
          <a:p>
            <a:r>
              <a:t>CONNECT</a:t>
            </a:r>
          </a:p>
          <a:p>
            <a:r>
              <a:t>Build on the preceding slide: Units branches and error messages.</a:t>
            </a:r>
          </a:p>
          <a:p>
            <a:r>
              <a:t/>
            </a:r>
          </a:p>
          <a:p>
            <a:r>
              <a:t>LECTURER CUE</a:t>
            </a:r>
          </a:p>
          <a:p>
            <a:r>
              <a:t>Teach these concepts before the weekly quiz. Use changed numbers for practice. This slide supplies concepts, not the quiz key.</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Units branches and error messages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Units branches and error messages continued</a:t>
            </a:r>
          </a:p>
          <a:p>
            <a:r>
              <a:t/>
            </a:r>
          </a:p>
          <a:p>
            <a:r>
              <a:t>CONNECT</a:t>
            </a:r>
          </a:p>
          <a:p>
            <a:r>
              <a:t>Build on the preceding slide: Units branches and error messages continued.</a:t>
            </a:r>
          </a:p>
          <a:p>
            <a:r>
              <a:t/>
            </a:r>
          </a:p>
          <a:p>
            <a:r>
              <a:t>LECTURER CUE</a:t>
            </a:r>
          </a:p>
          <a:p>
            <a:r>
              <a:t>Teach these concepts before the weekly quiz. Use changed numbers for practice. This slide supplies concepts, not the quiz key.</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Your issued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issued assignment</a:t>
            </a:r>
          </a:p>
          <a:p>
            <a:r>
              <a:t/>
            </a:r>
          </a:p>
          <a:p>
            <a:r>
              <a:t>CONNECT</a:t>
            </a:r>
          </a:p>
          <a:p>
            <a:r>
              <a:t>Build on the preceding slide: Units branches and error messages continued.</a:t>
            </a:r>
          </a:p>
          <a:p>
            <a:r>
              <a:t/>
            </a:r>
          </a:p>
          <a:p>
            <a:r>
              <a:t>LECTURER CUE</a:t>
            </a:r>
          </a:p>
          <a:p>
            <a:r>
              <a:t># W03: variables and functions</a:t>
            </a:r>
          </a:p>
          <a:p>
            <a:r>
              <a:t>CML3113. Complete each named output. Save as STUDENT_ID_W03.ipynb.</a:t>
            </a:r>
          </a:p>
          <a:p>
            <a:r>
              <a:t>## q1: 3 marks</a:t>
            </a:r>
          </a:p>
          <a:p>
            <a:r>
              <a:t>A 40 kg motor sits on a bench. Set weight_n to its weight in newtons, taking g = 9.81.</a:t>
            </a:r>
          </a:p>
          <a:p>
            <a:r>
              <a:t>## q2: 4 marks</a:t>
            </a:r>
          </a:p>
          <a:p>
            <a:r>
              <a:t>Write percent_error(measured, expected) returning the signed percent error.</a:t>
            </a:r>
          </a:p>
          <a:p>
            <a:r>
              <a:t>## q3: 3 marks</a:t>
            </a:r>
          </a:p>
          <a:p>
            <a:r>
              <a:t>Write mud_pressure(depth_m, density) returning the hydrostatic pressure in kPa.</a:t>
            </a:r>
          </a:p>
          <a:p>
            <a:r>
              <a:t>## q4: 5 marks</a:t>
            </a:r>
          </a:p>
          <a:p>
            <a:r>
              <a:t>Write efficiency(out_w, in_w) returning the percentage, and returning None when in_w is zero or negative.</a:t>
            </a:r>
          </a:p>
          <a:p>
            <a:r>
              <a:t>## q5: 5 marks</a:t>
            </a:r>
          </a:p>
          <a:p>
            <a:r>
              <a:t>READINGS is given in the notebook. Using your own percent_error against a nominal of 100, set worst_reading to the reading with the largest error by size, and worst_error to that reading's signed percent error.</a:t>
            </a:r>
          </a:p>
          <a:p>
            <a:r>
              <a:t>You may compare these six readings directly; a loop is not required this week.</a:t>
            </a:r>
          </a:p>
          <a:p>
            <a:r>
              <a:t>Restart and Run All, then save your named notebook. Practice check results are feedback; the submitted notebook is graded independently.</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q1: 3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q1: 3 marks</a:t>
            </a:r>
          </a:p>
          <a:p>
            <a:r>
              <a:t/>
            </a:r>
          </a:p>
          <a:p>
            <a:r>
              <a:t>CONNECT</a:t>
            </a:r>
          </a:p>
          <a:p>
            <a:r>
              <a:t>Build on the preceding slide: Your issued assignment.</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q2: 4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q2: 4 marks</a:t>
            </a:r>
          </a:p>
          <a:p>
            <a:r>
              <a:t/>
            </a:r>
          </a:p>
          <a:p>
            <a:r>
              <a:t>CONNECT</a:t>
            </a:r>
          </a:p>
          <a:p>
            <a:r>
              <a:t>Build on the preceding slide: q1: 3 marks.</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Signed percentage error compares a measurement with its expected reference: (measured - expected) / expected times 100. Positive means above the reference; negative means below it.</a:t>
            </a:r>
          </a:p>
          <a:p>
            <a:r>
              <a:t/>
            </a:r>
          </a:p>
          <a:p>
            <a:r>
              <a:t>CHECK AND EXPECTED ANSWER</a:t>
            </a:r>
          </a:p>
          <a:p>
            <a:r>
              <a:t>For measured 90 and expected 100, the signed error is -10%. Its size is 10%.</a:t>
            </a:r>
          </a:p>
          <a:p>
            <a:r>
              <a:t/>
            </a:r>
          </a:p>
          <a:p>
            <a:r>
              <a:t>IF LEARNERS ARE STUCK</a:t>
            </a:r>
          </a:p>
          <a:p>
            <a:r>
              <a:t>Calculate the difference first, divide by the reference, then multiply by 100. The formula needs a nonzero reference; follow the issued task contract for exceptional inputs.</a:t>
            </a:r>
          </a:p>
          <a:p>
            <a:r>
              <a:t/>
            </a:r>
          </a:p>
          <a:p>
            <a:r>
              <a:t>NEXT</a:t>
            </a:r>
          </a:p>
          <a:p>
            <a:r>
              <a:t>q3: 3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q3: 3 marks</a:t>
            </a:r>
          </a:p>
          <a:p>
            <a:r>
              <a:t/>
            </a:r>
          </a:p>
          <a:p>
            <a:r>
              <a:t>CONNECT</a:t>
            </a:r>
          </a:p>
          <a:p>
            <a:r>
              <a:t>Build on the preceding slide: q2: 4 marks.</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q4: 5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q4: 5 marks</a:t>
            </a:r>
          </a:p>
          <a:p>
            <a:r>
              <a:t/>
            </a:r>
          </a:p>
          <a:p>
            <a:r>
              <a:t>CONNECT</a:t>
            </a:r>
          </a:p>
          <a:p>
            <a:r>
              <a:t>Build on the preceding slide: q3: 3 marks.</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q5: 5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q5: 5 marks</a:t>
            </a:r>
          </a:p>
          <a:p>
            <a:r>
              <a:t/>
            </a:r>
          </a:p>
          <a:p>
            <a:r>
              <a:t>CONNECT</a:t>
            </a:r>
          </a:p>
          <a:p>
            <a:r>
              <a:t>Build on the preceding slide: q4: 5 marks.</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Signed percentage error compares a measurement with its expected reference: (measured - expected) / expected times 100. Positive means above the reference; negative means below it.</a:t>
            </a:r>
          </a:p>
          <a:p>
            <a:r>
              <a:t/>
            </a:r>
          </a:p>
          <a:p>
            <a:r>
              <a:t>CHECK AND EXPECTED ANSWER</a:t>
            </a:r>
          </a:p>
          <a:p>
            <a:r>
              <a:t>For measured 90 and expected 100, the signed error is -10%. Its size is 10%.</a:t>
            </a:r>
          </a:p>
          <a:p>
            <a:r>
              <a:t/>
            </a:r>
          </a:p>
          <a:p>
            <a:r>
              <a:t>IF LEARNERS ARE STUCK</a:t>
            </a:r>
          </a:p>
          <a:p>
            <a:r>
              <a:t>Calculate the difference first, divide by the reference, then multiply by 100. The formula needs a nonzero reference; follow the issued task contract for exceptional inputs.</a:t>
            </a:r>
          </a:p>
          <a:p>
            <a:r>
              <a:t/>
            </a:r>
          </a:p>
          <a:p>
            <a:r>
              <a:t>NEXT</a:t>
            </a:r>
          </a:p>
          <a:p>
            <a:r>
              <a:t>Engineering functions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Engineering functions submission</a:t>
            </a:r>
          </a:p>
          <a:p>
            <a:r>
              <a:t/>
            </a:r>
          </a:p>
          <a:p>
            <a:r>
              <a:t>CONNECT</a:t>
            </a:r>
          </a:p>
          <a:p>
            <a:r>
              <a:t>Build on the preceding slide: q5: 5 marks.</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Week 3 quiz.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3 quiz</a:t>
            </a:r>
          </a:p>
          <a:p>
            <a:r>
              <a:t/>
            </a:r>
          </a:p>
          <a:p>
            <a:r>
              <a:t>CONNECT</a:t>
            </a:r>
          </a:p>
          <a:p>
            <a:r>
              <a:t>Build on the preceding slide: Engineering functions submission.</a:t>
            </a:r>
          </a:p>
          <a:p>
            <a:r>
              <a:t/>
            </a:r>
          </a:p>
          <a:p>
            <a:r>
              <a:t>LECTURER CUE</a:t>
            </a:r>
          </a:p>
          <a:p>
            <a:r>
              <a:t>Activate the matching open_W3_CML3113 function in Quiz Controls, then confirm the 24-hour close time. Opening this slide or clicking its link does not activate the form. The 24 hours is the availability window. Keep existing quiz scoring and form rules. Do not show private answer keys.</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Week 3 quiz.</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3b3e8de4d01423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ae7485251da44a6" /><Relationship Type="http://schemas.openxmlformats.org/officeDocument/2006/relationships/slideLayout" Target="/ppt/slideLayouts/slideLayout1.xml" Id="R6f1b5b636d444aa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f1b5b636d444aa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eb8aada86794480" /><Relationship Type="http://schemas.openxmlformats.org/officeDocument/2006/relationships/image" Target="/ppt/media/image.png" Id="R4149cf66329a4236" /><Relationship Type="http://schemas.openxmlformats.org/officeDocument/2006/relationships/notesSlide" Target="/ppt/notesSlides/notesSlide1.xml" Id="Rf98afca419274d4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00533da4b5f4ed5" /><Relationship Type="http://schemas.openxmlformats.org/officeDocument/2006/relationships/notesSlide" Target="/ppt/notesSlides/notesSlide2.xml" Id="Re66cca0aa6624d4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d30a392eab64dcf" /><Relationship Type="http://schemas.openxmlformats.org/officeDocument/2006/relationships/notesSlide" Target="/ppt/notesSlides/notesSlide3.xml" Id="R0e9015f83f64448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c1c954a0ffb494f" /><Relationship Type="http://schemas.openxmlformats.org/officeDocument/2006/relationships/notesSlide" Target="/ppt/notesSlides/notesSlide4.xml" Id="R24f744ad739f42c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9afc1b5aa774151" /><Relationship Type="http://schemas.openxmlformats.org/officeDocument/2006/relationships/notesSlide" Target="/ppt/notesSlides/notesSlide5.xml" Id="Rdd697e632e404a4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1e6e5a4cda94a22" /><Relationship Type="http://schemas.openxmlformats.org/officeDocument/2006/relationships/notesSlide" Target="/ppt/notesSlides/notesSlide6.xml" Id="Rd108cac1198c4af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e76de5aea574ff1" /><Relationship Type="http://schemas.openxmlformats.org/officeDocument/2006/relationships/image" Target="/ppt/media/image2.png" Id="Rbd305f060096476d" /><Relationship Type="http://schemas.openxmlformats.org/officeDocument/2006/relationships/notesSlide" Target="/ppt/notesSlides/notesSlide7.xml" Id="R3441d62fe8a0443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1698a3fdcc44bcb" /><Relationship Type="http://schemas.openxmlformats.org/officeDocument/2006/relationships/notesSlide" Target="/ppt/notesSlides/notesSlide8.xml" Id="Rc90f87c91249474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98bc8ae58674420" /><Relationship Type="http://schemas.openxmlformats.org/officeDocument/2006/relationships/notesSlide" Target="/ppt/notesSlides/notesSlide9.xml" Id="R35ecfd35476d428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402415bf31744cb" /><Relationship Type="http://schemas.openxmlformats.org/officeDocument/2006/relationships/notesSlide" Target="/ppt/notesSlides/notesSlide10.xml" Id="Rff49d5d200ce4d1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d9f94a7132c4de1" /><Relationship Type="http://schemas.openxmlformats.org/officeDocument/2006/relationships/notesSlide" Target="/ppt/notesSlides/notesSlide11.xml" Id="R645558cfeddf49f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2c8c9929e1547dd" /><Relationship Type="http://schemas.openxmlformats.org/officeDocument/2006/relationships/notesSlide" Target="/ppt/notesSlides/notesSlide12.xml" Id="R4766a39b2da74a6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a0e4ef7d0d645bf" /><Relationship Type="http://schemas.openxmlformats.org/officeDocument/2006/relationships/notesSlide" Target="/ppt/notesSlides/notesSlide13.xml" Id="R5fbd10e3538f4e0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149915284d74860" /><Relationship Type="http://schemas.openxmlformats.org/officeDocument/2006/relationships/notesSlide" Target="/ppt/notesSlides/notesSlide14.xml" Id="R9eb6528bf59b42a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9ca6d6bb91d4586" /><Relationship Type="http://schemas.openxmlformats.org/officeDocument/2006/relationships/notesSlide" Target="/ppt/notesSlides/notesSlide15.xml" Id="R0d22ce352a9a44a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bf9a3cf467a47b5" /><Relationship Type="http://schemas.openxmlformats.org/officeDocument/2006/relationships/notesSlide" Target="/ppt/notesSlides/notesSlide16.xml" Id="Ra19907a93be84b2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90dd00764054079" /><Relationship Type="http://schemas.openxmlformats.org/officeDocument/2006/relationships/notesSlide" Target="/ppt/notesSlides/notesSlide17.xml" Id="R512559d06ba1462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e44c893465743de" /><Relationship Type="http://schemas.openxmlformats.org/officeDocument/2006/relationships/notesSlide" Target="/ppt/notesSlides/notesSlide18.xml" Id="R6f703cb9e59f4e5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1f54f31714f4536" /><Relationship Type="http://schemas.openxmlformats.org/officeDocument/2006/relationships/notesSlide" Target="/ppt/notesSlides/notesSlide19.xml" Id="R93f40897528e4c6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9b7c7abdd296414f" /><Relationship Type="http://schemas.openxmlformats.org/officeDocument/2006/relationships/notesSlide" Target="/ppt/notesSlides/notesSlide20.xml" Id="R17dd34f373d3450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b8436a3a8c84494" /><Relationship Type="http://schemas.openxmlformats.org/officeDocument/2006/relationships/notesSlide" Target="/ppt/notesSlides/notesSlide21.xml" Id="R9c44206445d940a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267682e9d814c8f" /><Relationship Type="http://schemas.openxmlformats.org/officeDocument/2006/relationships/notesSlide" Target="/ppt/notesSlides/notesSlide22.xml" Id="R7f1141c47e07406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56482ffd82d64a67" /><Relationship Type="http://schemas.openxmlformats.org/officeDocument/2006/relationships/notesSlide" Target="/ppt/notesSlides/notesSlide23.xml" Id="R9f9af61796c84dd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6acc041e84834ae4" /><Relationship Type="http://schemas.openxmlformats.org/officeDocument/2006/relationships/notesSlide" Target="/ppt/notesSlides/notesSlide24.xml" Id="Ref0d2e3d53dd410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d69ce5911c064fec" /><Relationship Type="http://schemas.openxmlformats.org/officeDocument/2006/relationships/notesSlide" Target="/ppt/notesSlides/notesSlide25.xml" Id="Rf63f7f953b1f41b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de4ccb685e9438b" /><Relationship Type="http://schemas.openxmlformats.org/officeDocument/2006/relationships/notesSlide" Target="/ppt/notesSlides/notesSlide26.xml" Id="R08f6d7e3c2014cf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35cd0842c0734271" /><Relationship Type="http://schemas.openxmlformats.org/officeDocument/2006/relationships/notesSlide" Target="/ppt/notesSlides/notesSlide27.xml" Id="R8a3dc5fd2648433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a55c9d869ba742cf" /><Relationship Type="http://schemas.openxmlformats.org/officeDocument/2006/relationships/image" Target="/ppt/media/image3.png" Id="R413fb9b8be9b4959" /><Relationship Type="http://schemas.openxmlformats.org/officeDocument/2006/relationships/notesSlide" Target="/ppt/notesSlides/notesSlide28.xml" Id="R38b2c9713e97401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5cd6d9c9e1764655" /><Relationship Type="http://schemas.openxmlformats.org/officeDocument/2006/relationships/notesSlide" Target="/ppt/notesSlides/notesSlide29.xml" Id="R52f85b5a39914de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aa7b463b16624492" /><Relationship Type="http://schemas.openxmlformats.org/officeDocument/2006/relationships/notesSlide" Target="/ppt/notesSlides/notesSlide30.xml" Id="R0335d76fd552494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483e8c34e9bf4814" /><Relationship Type="http://schemas.openxmlformats.org/officeDocument/2006/relationships/notesSlide" Target="/ppt/notesSlides/notesSlide31.xml" Id="R297457ab632e486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8c18243c9728405c" /><Relationship Type="http://schemas.openxmlformats.org/officeDocument/2006/relationships/notesSlide" Target="/ppt/notesSlides/notesSlide32.xml" Id="Re568cadc2eef448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6bd3683dd63a4cb2" /><Relationship Type="http://schemas.openxmlformats.org/officeDocument/2006/relationships/notesSlide" Target="/ppt/notesSlides/notesSlide33.xml" Id="Rf673541f4ec8419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f4774732ebd54b59" /><Relationship Type="http://schemas.openxmlformats.org/officeDocument/2006/relationships/notesSlide" Target="/ppt/notesSlides/notesSlide34.xml" Id="R2a6e756d2b974b67"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3db3184749d94c1b" /><Relationship Type="http://schemas.openxmlformats.org/officeDocument/2006/relationships/notesSlide" Target="/ppt/notesSlides/notesSlide35.xml" Id="R9f72991acb394a54"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456e7edb610d479e" /><Relationship Type="http://schemas.openxmlformats.org/officeDocument/2006/relationships/notesSlide" Target="/ppt/notesSlides/notesSlide36.xml" Id="R3d99d0590df14121"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6abd35faabe04567" /><Relationship Type="http://schemas.openxmlformats.org/officeDocument/2006/relationships/notesSlide" Target="/ppt/notesSlides/notesSlide37.xml" Id="R131dfba38a364e3b"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05cafcf627124047" /><Relationship Type="http://schemas.openxmlformats.org/officeDocument/2006/relationships/notesSlide" Target="/ppt/notesSlides/notesSlide38.xml" Id="R49020cb62f8447eb"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d2a9fb51ea8746c5" /><Relationship Type="http://schemas.openxmlformats.org/officeDocument/2006/relationships/notesSlide" Target="/ppt/notesSlides/notesSlide39.xml" Id="R5a7dda39c2a5441e"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3cc86acfc83a4cab" /><Relationship Type="http://schemas.openxmlformats.org/officeDocument/2006/relationships/notesSlide" Target="/ppt/notesSlides/notesSlide40.xml" Id="R4542ec483fc24807"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2d114bb6092a4abc" /><Relationship Type="http://schemas.openxmlformats.org/officeDocument/2006/relationships/notesSlide" Target="/ppt/notesSlides/notesSlide41.xml" Id="R26693f78d9f24ebb"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f5a39ba3f34b46d8" /><Relationship Type="http://schemas.openxmlformats.org/officeDocument/2006/relationships/notesSlide" Target="/ppt/notesSlides/notesSlide42.xml" Id="Rf542701a612a4f6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2e12e7c1dbaa4118" /><Relationship Type="http://schemas.openxmlformats.org/officeDocument/2006/relationships/notesSlide" Target="/ppt/notesSlides/notesSlide43.xml" Id="R703703f5b2804f63"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258ce3cc86394f3e" /><Relationship Type="http://schemas.openxmlformats.org/officeDocument/2006/relationships/notesSlide" Target="/ppt/notesSlides/notesSlide44.xml" Id="Rae3e3b9a41c64d89"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25fc378adcf848cd" /><Relationship Type="http://schemas.openxmlformats.org/officeDocument/2006/relationships/notesSlide" Target="/ppt/notesSlides/notesSlide45.xml" Id="R24f074a5972f4189"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dc41aa611f1541db" /><Relationship Type="http://schemas.openxmlformats.org/officeDocument/2006/relationships/notesSlide" Target="/ppt/notesSlides/notesSlide46.xml" Id="Rcf97f729740a4a32"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48a5f7d2c14a4541" /><Relationship Type="http://schemas.openxmlformats.org/officeDocument/2006/relationships/notesSlide" Target="/ppt/notesSlides/notesSlide47.xml" Id="R2246261f2c69414d"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33808c321e954e18" /><Relationship Type="http://schemas.openxmlformats.org/officeDocument/2006/relationships/notesSlide" Target="/ppt/notesSlides/notesSlide48.xml" Id="R83e02c70abf8494b"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85fd6df9baa94087" /><Relationship Type="http://schemas.openxmlformats.org/officeDocument/2006/relationships/notesSlide" Target="/ppt/notesSlides/notesSlide49.xml" Id="Rca660e23e1644852"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a89b43d0f7c04182" /><Relationship Type="http://schemas.openxmlformats.org/officeDocument/2006/relationships/hyperlink" Target="https://www.youtube.com/watch?v=khKv-8q7YmY" TargetMode="External" Id="Rb0b085a024dd46c7" /><Relationship Type="http://schemas.openxmlformats.org/officeDocument/2006/relationships/notesSlide" Target="/ppt/notesSlides/notesSlide50.xml" Id="Rce6cf9d827784ba8"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6ae80055b8e24aa8" /><Relationship Type="http://schemas.openxmlformats.org/officeDocument/2006/relationships/notesSlide" Target="/ppt/notesSlides/notesSlide51.xml" Id="R6e25b345671f4982"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4bbc9124c8ec4828" /><Relationship Type="http://schemas.openxmlformats.org/officeDocument/2006/relationships/notesSlide" Target="/ppt/notesSlides/notesSlide52.xml" Id="Rcfe7fdb641a24d7e"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877bdd134d1e4b96" /><Relationship Type="http://schemas.openxmlformats.org/officeDocument/2006/relationships/notesSlide" Target="/ppt/notesSlides/notesSlide53.xml" Id="R4c2a1b0700634154"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aeedde05fa26439e" /><Relationship Type="http://schemas.openxmlformats.org/officeDocument/2006/relationships/notesSlide" Target="/ppt/notesSlides/notesSlide54.xml" Id="R7f72142a58a94c03"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db8987960e24498a" /><Relationship Type="http://schemas.openxmlformats.org/officeDocument/2006/relationships/notesSlide" Target="/ppt/notesSlides/notesSlide55.xml" Id="Rc211e0d46957459a"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f3a9355153f7480f" /><Relationship Type="http://schemas.openxmlformats.org/officeDocument/2006/relationships/notesSlide" Target="/ppt/notesSlides/notesSlide56.xml" Id="Ra52a431e6df9417f"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8f1f62dcc2104299" /><Relationship Type="http://schemas.openxmlformats.org/officeDocument/2006/relationships/notesSlide" Target="/ppt/notesSlides/notesSlide57.xml" Id="Re5f8d6d3269e40cb"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b13797dba75b45ea" /><Relationship Type="http://schemas.openxmlformats.org/officeDocument/2006/relationships/notesSlide" Target="/ppt/notesSlides/notesSlide58.xml" Id="R224a6d088715451d"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412ea03fb74644af" /><Relationship Type="http://schemas.openxmlformats.org/officeDocument/2006/relationships/notesSlide" Target="/ppt/notesSlides/notesSlide59.xml" Id="R8b890504abcd4da3"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e2ee36bf353b47bd" /><Relationship Type="http://schemas.openxmlformats.org/officeDocument/2006/relationships/notesSlide" Target="/ppt/notesSlides/notesSlide60.xml" Id="R1406e96277d1476d"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0c883f7561e94aa1" /><Relationship Type="http://schemas.openxmlformats.org/officeDocument/2006/relationships/notesSlide" Target="/ppt/notesSlides/notesSlide61.xml" Id="R7f1b2198550e4c34"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f535bca202764974" /><Relationship Type="http://schemas.openxmlformats.org/officeDocument/2006/relationships/notesSlide" Target="/ppt/notesSlides/notesSlide62.xml" Id="R83e12d49c28546a9"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ccd6555578f84660" /><Relationship Type="http://schemas.openxmlformats.org/officeDocument/2006/relationships/hyperlink" Target="https://docs.google.com/forms/d/e/1FAIpQLSfd3oHKoR26Uc9BSQ5WEQosAD4ZnrRHT4JZRQmLrslca35tlA/viewform" TargetMode="External" Id="Rebb6cfa2d4f6459a" /><Relationship Type="http://schemas.openxmlformats.org/officeDocument/2006/relationships/notesSlide" Target="/ppt/notesSlides/notesSlide63.xml" Id="R1ba06c5609a44d63"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6982b29a9cf94d04" /><Relationship Type="http://schemas.openxmlformats.org/officeDocument/2006/relationships/image" Target="/ppt/media/image4.png" Id="R99b5fd019b4744e4" /><Relationship Type="http://schemas.openxmlformats.org/officeDocument/2006/relationships/hyperlink" Target="https://forms.gle/cDMd8seSsFuXF4658" TargetMode="External" Id="R60e05acdb1594fbc" /><Relationship Type="http://schemas.openxmlformats.org/officeDocument/2006/relationships/notesSlide" Target="/ppt/notesSlides/notesSlide64.xml" Id="Ra7cfaf13ecde496c"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1198a01c341a4a90" /><Relationship Type="http://schemas.openxmlformats.org/officeDocument/2006/relationships/notesSlide" Target="/ppt/notesSlides/notesSlide65.xml" Id="R9dcf1f5dc56445d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4149cf66329a4236"/>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343591E-5281-4877-BA04-D67757E74B12}"/>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0BFA8BB-51BF-4B1D-B5C6-069E209C1682}"/>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3</a:t>
            </a:r>
          </a:p>
        </p:txBody>
      </p:sp>
      <p:sp>
        <p:nvSpPr>
          <p:cNvPr id="4" name="">
            <a:extLst xmlns:a="http://schemas.openxmlformats.org/drawingml/2006/main">
              <a:ext uri="{FF2B5EF4-FFF2-40B4-BE49-F238E27FC236}">
                <a16:creationId xmlns:a16="http://schemas.microsoft.com/office/drawing/2014/main" id="{C6726B51-D3B5-4566-A797-5CDAA7BDFC69}"/>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Python calculations and reusable functions</a:t>
            </a:r>
          </a:p>
        </p:txBody>
      </p:sp>
      <p:sp>
        <p:nvSpPr>
          <p:cNvPr id="5" name="">
            <a:extLst xmlns:a="http://schemas.openxmlformats.org/drawingml/2006/main">
              <a:ext uri="{FF2B5EF4-FFF2-40B4-BE49-F238E27FC236}">
                <a16:creationId xmlns:a16="http://schemas.microsoft.com/office/drawing/2014/main" id="{42924DD4-A504-49C7-AE22-E5D3114BAB76}"/>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2A36BED0-5629-41CC-B220-3C9792B04D1F}"/>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25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211131432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871D805-F706-4C1D-912E-6165F6DA71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4755E3B-2450-4EEA-861A-94C079FC3D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802420BB-C117-481E-9B44-CF27976DB7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855F15C5-4146-4134-A94D-EF567E02EBC7}"/>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6E61F4-7DCD-4BDD-B763-CB967579C55C}"/>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454CE25A-2B16-40A8-9756-7798C3064E7F}"/>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Python values and arithmetic symbols.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Define a function, call it and check its inputs.</a:t>
            </a:r>
          </a:p>
        </p:txBody>
      </p:sp>
      <p:sp>
        <p:nvSpPr>
          <p:cNvPr id="7" name="">
            <a:extLst xmlns:a="http://schemas.openxmlformats.org/drawingml/2006/main">
              <a:ext uri="{FF2B5EF4-FFF2-40B4-BE49-F238E27FC236}">
                <a16:creationId xmlns:a16="http://schemas.microsoft.com/office/drawing/2014/main" id="{71ED40BD-E068-48DB-8493-C09D425573F5}"/>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2B5B4C36-A4BB-4192-83F9-A59BCDCA9DD3}"/>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each input, the returned answer and its engineering unit.</a:t>
            </a:r>
          </a:p>
        </p:txBody>
      </p:sp>
      <p:sp>
        <p:nvSpPr>
          <p:cNvPr id="9" name="">
            <a:extLst xmlns:a="http://schemas.openxmlformats.org/drawingml/2006/main">
              <a:ext uri="{FF2B5EF4-FFF2-40B4-BE49-F238E27FC236}">
                <a16:creationId xmlns:a16="http://schemas.microsoft.com/office/drawing/2014/main" id="{C9F5D01E-47C1-4069-AC2E-31912842FA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a:t>
            </a:r>
          </a:p>
        </p:txBody>
      </p:sp>
    </p:spTree>
    <p:extLst>
      <p:ext uri="{BB962C8B-B14F-4D97-AF65-F5344CB8AC3E}">
        <p14:creationId xmlns:p14="http://schemas.microsoft.com/office/powerpoint/2010/main" val="531439119"/>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9360630-FCCD-4FA2-857A-7495CD2AB74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445F0CE4-80F9-4C4B-BB00-B554A3A093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FD2B14D2-D825-4E89-B157-BB26A54E2AB3}"/>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EE591EF9-CD46-470D-85D3-3DC9C975C055}"/>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Run print(2 + 3). Which part is the instruction, and which part is the output?</a:t>
            </a:r>
          </a:p>
        </p:txBody>
      </p:sp>
      <p:sp>
        <p:nvSpPr>
          <p:cNvPr id="5" name="">
            <a:extLst xmlns:a="http://schemas.openxmlformats.org/drawingml/2006/main">
              <a:ext uri="{FF2B5EF4-FFF2-40B4-BE49-F238E27FC236}">
                <a16:creationId xmlns:a16="http://schemas.microsoft.com/office/drawing/2014/main" id="{9A70A64C-9D16-4C55-B536-139E3687404C}"/>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084BB0AF-9887-400E-940A-051F1DEE5F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3   3</a:t>
            </a:r>
          </a:p>
        </p:txBody>
      </p:sp>
    </p:spTree>
    <p:extLst>
      <p:ext uri="{BB962C8B-B14F-4D97-AF65-F5344CB8AC3E}">
        <p14:creationId xmlns:p14="http://schemas.microsoft.com/office/powerpoint/2010/main" val="73163457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1F113B-ED07-427A-B6F2-D102ECCA20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FE9DB8-3604-4FBD-B107-A0FCEE1275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5269B555-9AB1-4FCB-8816-A7F693DE15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1E1F4C00-BF41-424D-B331-1CE27D6723E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4A74C21-9E5F-4504-9AF7-85C0CFC3699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pump team records temperature to investigate operation.</a:t>
            </a:r>
          </a:p>
        </p:txBody>
      </p:sp>
      <p:sp>
        <p:nvSpPr>
          <p:cNvPr id="6" name="">
            <a:extLst xmlns:a="http://schemas.openxmlformats.org/drawingml/2006/main">
              <a:ext uri="{FF2B5EF4-FFF2-40B4-BE49-F238E27FC236}">
                <a16:creationId xmlns:a16="http://schemas.microsoft.com/office/drawing/2014/main" id="{AA4ADD46-16B5-4163-AA0E-ADC3D0B8CCA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EF10752-7D06-45F8-9A39-E0D546E36F0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Mining students can relate this to a dewatering pump; petroleum students to a transfer pump.</a:t>
            </a:r>
          </a:p>
        </p:txBody>
      </p:sp>
      <p:sp>
        <p:nvSpPr>
          <p:cNvPr id="8" name="">
            <a:extLst xmlns:a="http://schemas.openxmlformats.org/drawingml/2006/main">
              <a:ext uri="{FF2B5EF4-FFF2-40B4-BE49-F238E27FC236}">
                <a16:creationId xmlns:a16="http://schemas.microsoft.com/office/drawing/2014/main" id="{B2F5C8F0-52A5-46D9-AAC9-9A5C0980A2A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99EBF14-2330-45E2-A954-8DAA0A6306E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teaching examples, not operating limits.</a:t>
            </a:r>
          </a:p>
        </p:txBody>
      </p:sp>
      <p:sp>
        <p:nvSpPr>
          <p:cNvPr id="10" name="">
            <a:extLst xmlns:a="http://schemas.openxmlformats.org/drawingml/2006/main">
              <a:ext uri="{FF2B5EF4-FFF2-40B4-BE49-F238E27FC236}">
                <a16:creationId xmlns:a16="http://schemas.microsoft.com/office/drawing/2014/main" id="{33B21A7C-6F26-44CB-8262-B7F592D3D0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a:t>
            </a:r>
          </a:p>
        </p:txBody>
      </p:sp>
    </p:spTree>
    <p:extLst>
      <p:ext uri="{BB962C8B-B14F-4D97-AF65-F5344CB8AC3E}">
        <p14:creationId xmlns:p14="http://schemas.microsoft.com/office/powerpoint/2010/main" val="17264165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CE8D6DB-335E-4630-8CAB-4DBCB81A65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F761CE-DD9C-4D69-98E2-2E89720C64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9A316C7-934C-43B1-B2E9-1835DC7D40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D46368C7-E69E-4321-B0B8-E41DDBA06E7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B3319FF-5C27-4BAB-ABE5-8850067B8D5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959E3B45-512A-4345-ADD1-3836D78D15D8}"/>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EE864C27-F66A-43A6-A01D-72AD718C6F7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BD449EE-E89B-4E0B-9C7A-B3E2544A4F3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06864D7B-79A6-49EA-B938-B0BD8E381BA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4E2DF99F-592B-4870-9F46-C9012894A9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a:t>
            </a:r>
          </a:p>
        </p:txBody>
      </p:sp>
    </p:spTree>
    <p:extLst>
      <p:ext uri="{BB962C8B-B14F-4D97-AF65-F5344CB8AC3E}">
        <p14:creationId xmlns:p14="http://schemas.microsoft.com/office/powerpoint/2010/main" val="142770462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2ACA2B4-7720-4A78-BB16-B72CD1C3E4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A23A04-9A2A-4D32-9B93-53420ABD10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3D1FF9A-2449-4F8C-A509-86C0615DF6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80A0E878-9F40-44B7-B428-ABF12E0C10CE}"/>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6C4AEC0-8C52-4D39-AFD6-0BC48C94442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1259631F-7751-4970-AD2D-685FC65D4020}"/>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name referring to a value. In length_m = 5, the right side is evaluated and assigned to length_m.</a:t>
            </a:r>
          </a:p>
        </p:txBody>
      </p:sp>
      <p:sp>
        <p:nvSpPr>
          <p:cNvPr id="7" name="">
            <a:extLst xmlns:a="http://schemas.openxmlformats.org/drawingml/2006/main">
              <a:ext uri="{FF2B5EF4-FFF2-40B4-BE49-F238E27FC236}">
                <a16:creationId xmlns:a16="http://schemas.microsoft.com/office/drawing/2014/main" id="{3ED2EAA2-BD6A-46D9-8B60-F21769ADC14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6F3E7AB-5BAE-4C92-9D38-E7877A7F894A}"/>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int, float, str, bool</a:t>
            </a:r>
          </a:p>
        </p:txBody>
      </p:sp>
      <p:sp>
        <p:nvSpPr>
          <p:cNvPr id="9" name="">
            <a:extLst xmlns:a="http://schemas.openxmlformats.org/drawingml/2006/main">
              <a:ext uri="{FF2B5EF4-FFF2-40B4-BE49-F238E27FC236}">
                <a16:creationId xmlns:a16="http://schemas.microsoft.com/office/drawing/2014/main" id="{565A83FA-56F0-449A-99E0-8C5BA019391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int represents whole numbers; float represents approximate real numbers such as 2.5; str is text in quotes; bool is True or False.</a:t>
            </a:r>
          </a:p>
        </p:txBody>
      </p:sp>
      <p:sp>
        <p:nvSpPr>
          <p:cNvPr id="10" name="">
            <a:extLst xmlns:a="http://schemas.openxmlformats.org/drawingml/2006/main">
              <a:ext uri="{FF2B5EF4-FFF2-40B4-BE49-F238E27FC236}">
                <a16:creationId xmlns:a16="http://schemas.microsoft.com/office/drawing/2014/main" id="{3BD71BF2-8EAF-457A-9925-E54B3D5B57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a:t>
            </a:r>
          </a:p>
        </p:txBody>
      </p:sp>
    </p:spTree>
    <p:extLst>
      <p:ext uri="{BB962C8B-B14F-4D97-AF65-F5344CB8AC3E}">
        <p14:creationId xmlns:p14="http://schemas.microsoft.com/office/powerpoint/2010/main" val="52467388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42C3C93-4265-4558-A65F-D80AF51215F6}"/>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E4C586E-BA7B-477E-8CDF-EE4B708CA1FE}"/>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variable refers to its current value</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bd305f060096476d"/>
          <a:stretch xmlns:a="http://schemas.openxmlformats.org/drawingml/2006/main"/>
        </p:blipFill>
        <p:spPr>
          <a:xfrm xmlns:a="http://schemas.openxmlformats.org/drawingml/2006/main">
            <a:off x="381186" y="1057275"/>
            <a:ext cx="11429628"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2366085D-66E8-4031-9366-C0B4D653FC19}"/>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92435F-2759-4B8C-803B-C911A6676EF2}"/>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After reassignment, thickness refers to 0.20.</a:t>
            </a:r>
          </a:p>
        </p:txBody>
      </p:sp>
      <p:sp>
        <p:nvSpPr>
          <p:cNvPr id="6" name="">
            <a:extLst xmlns:a="http://schemas.openxmlformats.org/drawingml/2006/main">
              <a:ext uri="{FF2B5EF4-FFF2-40B4-BE49-F238E27FC236}">
                <a16:creationId xmlns:a16="http://schemas.microsoft.com/office/drawing/2014/main" id="{10E90901-959D-4360-9D4B-D683B6EAC6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a:t>
            </a:r>
          </a:p>
        </p:txBody>
      </p:sp>
    </p:spTree>
    <p:extLst>
      <p:ext uri="{BB962C8B-B14F-4D97-AF65-F5344CB8AC3E}">
        <p14:creationId xmlns:p14="http://schemas.microsoft.com/office/powerpoint/2010/main" val="48899857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CFF480A-F9B6-46D3-8312-CF223E4A31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684611-B899-45E9-9731-F4C800F1B2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05E3A358-0075-48A7-A67E-7AC3A770AD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Python values have types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555625">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555625">
                <a:tc>
                  <a:txBody>
                    <a:bodyPr/>
                    <a:lstStyle/>
                    <a:p>
                      <a:r>
                        <a:rPr sz="2025" b="0">
                          <a:solidFill>
                            <a:srgbClr val="1C3144"/>
                          </a:solidFill>
                          <a:latin typeface="Calibri"/>
                          <a:ea typeface="Calibri"/>
                          <a:cs typeface="Calibri"/>
                        </a:rPr>
                        <a:t>int</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Whole number</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float</a:t>
                      </a:r>
                    </a:p>
                  </a:txBody>
                  <a:tcPr marL="91440" marR="91440" marT="45720" marB="45720">
                    <a:solidFill>
                      <a:srgbClr val="FFFFFF"/>
                    </a:solidFill>
                  </a:tcPr>
                </a:tc>
                <a:tc>
                  <a:txBody>
                    <a:bodyPr/>
                    <a:lstStyle/>
                    <a:p>
                      <a:r>
                        <a:rPr sz="2025" b="0">
                          <a:solidFill>
                            <a:srgbClr val="1C3144"/>
                          </a:solidFill>
                          <a:latin typeface="Calibri"/>
                          <a:ea typeface="Calibri"/>
                          <a:cs typeface="Calibri"/>
                        </a:rPr>
                        <a:t>3.5</a:t>
                      </a:r>
                    </a:p>
                  </a:txBody>
                  <a:tcPr marL="91440" marR="91440" marT="45720" marB="45720">
                    <a:solidFill>
                      <a:srgbClr val="FFFFFF"/>
                    </a:solidFill>
                  </a:tcPr>
                </a:tc>
                <a:tc>
                  <a:txBody>
                    <a:bodyPr/>
                    <a:lstStyle/>
                    <a:p>
                      <a:r>
                        <a:rPr sz="2025" b="0">
                          <a:solidFill>
                            <a:srgbClr val="1C3144"/>
                          </a:solidFill>
                          <a:latin typeface="Calibri"/>
                          <a:ea typeface="Calibri"/>
                          <a:cs typeface="Calibri"/>
                        </a:rPr>
                        <a:t>Decimal approximation</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str</a:t>
                      </a:r>
                    </a:p>
                  </a:txBody>
                  <a:tcPr marL="91440" marR="91440" marT="45720" marB="45720">
                    <a:solidFill>
                      <a:srgbClr val="EEF3F6"/>
                    </a:solidFill>
                  </a:tcPr>
                </a:tc>
                <a:tc>
                  <a:txBody>
                    <a:bodyPr/>
                    <a:lstStyle/>
                    <a:p>
                      <a:r>
                        <a:rPr sz="2025" b="0">
                          <a:solidFill>
                            <a:srgbClr val="1C3144"/>
                          </a:solidFill>
                          <a:latin typeface="Calibri"/>
                          <a:ea typeface="Calibri"/>
                          <a:cs typeface="Calibri"/>
                        </a:rPr>
                        <a:t>"3.5"</a:t>
                      </a:r>
                    </a:p>
                  </a:txBody>
                  <a:tcPr marL="91440" marR="91440" marT="45720" marB="45720">
                    <a:solidFill>
                      <a:srgbClr val="EEF3F6"/>
                    </a:solidFill>
                  </a:tcPr>
                </a:tc>
                <a:tc>
                  <a:txBody>
                    <a:bodyPr/>
                    <a:lstStyle/>
                    <a:p>
                      <a:r>
                        <a:rPr sz="2025" b="0">
                          <a:solidFill>
                            <a:srgbClr val="1C3144"/>
                          </a:solidFill>
                          <a:latin typeface="Calibri"/>
                          <a:ea typeface="Calibri"/>
                          <a:cs typeface="Calibri"/>
                        </a:rPr>
                        <a:t>Text in quotes</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bool</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 /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Logical value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NoneType</a:t>
                      </a:r>
                    </a:p>
                  </a:txBody>
                  <a:tcPr marL="91440" marR="91440" marT="45720" marB="45720">
                    <a:solidFill>
                      <a:srgbClr val="EEF3F6"/>
                    </a:solidFill>
                  </a:tcPr>
                </a:tc>
                <a:tc>
                  <a:txBody>
                    <a:bodyPr/>
                    <a:lstStyle/>
                    <a:p>
                      <a:r>
                        <a:rPr sz="2025" b="0">
                          <a:solidFill>
                            <a:srgbClr val="1C3144"/>
                          </a:solidFill>
                          <a:latin typeface="Calibri"/>
                          <a:ea typeface="Calibri"/>
                          <a:cs typeface="Calibri"/>
                        </a:rPr>
                        <a:t>None</a:t>
                      </a:r>
                    </a:p>
                  </a:txBody>
                  <a:tcPr marL="91440" marR="91440" marT="45720" marB="45720">
                    <a:solidFill>
                      <a:srgbClr val="EEF3F6"/>
                    </a:solidFill>
                  </a:tcPr>
                </a:tc>
                <a:tc>
                  <a:txBody>
                    <a:bodyPr/>
                    <a:lstStyle/>
                    <a:p>
                      <a:r>
                        <a:rPr sz="2025" b="0">
                          <a:solidFill>
                            <a:srgbClr val="1C3144"/>
                          </a:solidFill>
                          <a:latin typeface="Calibri"/>
                          <a:ea typeface="Calibri"/>
                          <a:cs typeface="Calibri"/>
                        </a:rPr>
                        <a:t>No value supplied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C86A659A-00CB-4F87-9EA5-974115DD93A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3.5 + 2 gives 5.5. "3.5" + "2" joins text into "3.52".</a:t>
            </a:r>
          </a:p>
        </p:txBody>
      </p:sp>
      <p:sp>
        <p:nvSpPr>
          <p:cNvPr id="6" name="">
            <a:extLst xmlns:a="http://schemas.openxmlformats.org/drawingml/2006/main">
              <a:ext uri="{FF2B5EF4-FFF2-40B4-BE49-F238E27FC236}">
                <a16:creationId xmlns:a16="http://schemas.microsoft.com/office/drawing/2014/main" id="{78F13000-82BB-465B-BD29-C52F78CB92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a:t>
            </a:r>
          </a:p>
        </p:txBody>
      </p:sp>
    </p:spTree>
    <p:extLst>
      <p:ext uri="{BB962C8B-B14F-4D97-AF65-F5344CB8AC3E}">
        <p14:creationId xmlns:p14="http://schemas.microsoft.com/office/powerpoint/2010/main" val="193634121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1DA0594-1199-44FE-B595-4F663E8E28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7952BF-F2ED-49B0-BC29-974C8671E9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1E1E43D-A374-42A0-AC73-9F97340FF4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Operator</a:t>
            </a:r>
          </a:p>
        </p:txBody>
      </p:sp>
      <p:sp>
        <p:nvSpPr>
          <p:cNvPr id="4" name="">
            <a:extLst xmlns:a="http://schemas.openxmlformats.org/drawingml/2006/main">
              <a:ext uri="{FF2B5EF4-FFF2-40B4-BE49-F238E27FC236}">
                <a16:creationId xmlns:a16="http://schemas.microsoft.com/office/drawing/2014/main" id="{9134CCE5-8C83-4A98-B6FB-CC3DE47BA519}"/>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119B6E-31A0-405E-B45C-EF492C37E00D}"/>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Operator</a:t>
            </a:r>
          </a:p>
        </p:txBody>
      </p:sp>
      <p:sp>
        <p:nvSpPr>
          <p:cNvPr id="6" name="">
            <a:extLst xmlns:a="http://schemas.openxmlformats.org/drawingml/2006/main">
              <a:ext uri="{FF2B5EF4-FFF2-40B4-BE49-F238E27FC236}">
                <a16:creationId xmlns:a16="http://schemas.microsoft.com/office/drawing/2014/main" id="{9264D3A4-B54B-4F93-B651-308575D386EA}"/>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symbol for an operation: + adds, - subtracts, * multiplies, / divides, ** raises to a power. // floors a quotient, so -5 // 2 is -3.</a:t>
            </a:r>
          </a:p>
        </p:txBody>
      </p:sp>
      <p:sp>
        <p:nvSpPr>
          <p:cNvPr id="7" name="">
            <a:extLst xmlns:a="http://schemas.openxmlformats.org/drawingml/2006/main">
              <a:ext uri="{FF2B5EF4-FFF2-40B4-BE49-F238E27FC236}">
                <a16:creationId xmlns:a16="http://schemas.microsoft.com/office/drawing/2014/main" id="{7CFF236E-5AFF-4DB6-965C-DE83A941A8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9</a:t>
            </a:r>
          </a:p>
        </p:txBody>
      </p:sp>
    </p:spTree>
    <p:extLst>
      <p:ext uri="{BB962C8B-B14F-4D97-AF65-F5344CB8AC3E}">
        <p14:creationId xmlns:p14="http://schemas.microsoft.com/office/powerpoint/2010/main" val="111727522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74A697-DADB-4D94-9A24-A74B19693C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142698-7B4A-49BC-9957-5FFA5B17AE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FDB5EA9-C9E7-4AB7-804A-A69ABBB345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a function call before using it</a:t>
            </a:r>
          </a:p>
        </p:txBody>
      </p:sp>
      <p:sp>
        <p:nvSpPr>
          <p:cNvPr id="4" name="">
            <a:extLst xmlns:a="http://schemas.openxmlformats.org/drawingml/2006/main">
              <a:ext uri="{FF2B5EF4-FFF2-40B4-BE49-F238E27FC236}">
                <a16:creationId xmlns:a16="http://schemas.microsoft.com/office/drawing/2014/main" id="{3C3133AC-92F6-4C13-9F6A-E7FEC127C0A3}"/>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0A686E9-2AD2-4941-BB54-DF31BDDD162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 built-in function</a:t>
            </a:r>
          </a:p>
        </p:txBody>
      </p:sp>
      <p:sp>
        <p:nvSpPr>
          <p:cNvPr id="6" name="">
            <a:extLst xmlns:a="http://schemas.openxmlformats.org/drawingml/2006/main">
              <a:ext uri="{FF2B5EF4-FFF2-40B4-BE49-F238E27FC236}">
                <a16:creationId xmlns:a16="http://schemas.microsoft.com/office/drawing/2014/main" id="{88402586-7A16-4290-8DA5-39847FBD7FC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already provides tools such as print, type and float. A function call asks a named tool to do its work: print(3) displays 3.</a:t>
            </a:r>
          </a:p>
        </p:txBody>
      </p:sp>
      <p:sp>
        <p:nvSpPr>
          <p:cNvPr id="7" name="">
            <a:extLst xmlns:a="http://schemas.openxmlformats.org/drawingml/2006/main">
              <a:ext uri="{FF2B5EF4-FFF2-40B4-BE49-F238E27FC236}">
                <a16:creationId xmlns:a16="http://schemas.microsoft.com/office/drawing/2014/main" id="{8C88A1E4-E4E0-42C1-AAC9-47DBCD39003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B1EB7B1-E7B5-4C5E-B93A-B679BBCF0FAC}"/>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Parentheses, quotes and comments</a:t>
            </a:r>
          </a:p>
        </p:txBody>
      </p:sp>
      <p:sp>
        <p:nvSpPr>
          <p:cNvPr id="9" name="">
            <a:extLst xmlns:a="http://schemas.openxmlformats.org/drawingml/2006/main">
              <a:ext uri="{FF2B5EF4-FFF2-40B4-BE49-F238E27FC236}">
                <a16:creationId xmlns:a16="http://schemas.microsoft.com/office/drawing/2014/main" id="{96775AF6-8E8D-4319-B9F1-DC787517923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Parentheses hold the inputs to a call. Quotes make text: "3.5" is text; float("3.5") converts it to a number. # starts a comment that Python does not run.</a:t>
            </a:r>
          </a:p>
        </p:txBody>
      </p:sp>
      <p:sp>
        <p:nvSpPr>
          <p:cNvPr id="10" name="">
            <a:extLst xmlns:a="http://schemas.openxmlformats.org/drawingml/2006/main">
              <a:ext uri="{FF2B5EF4-FFF2-40B4-BE49-F238E27FC236}">
                <a16:creationId xmlns:a16="http://schemas.microsoft.com/office/drawing/2014/main" id="{B4213B35-A92E-481C-BC67-4238A269C2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10</a:t>
            </a:r>
          </a:p>
        </p:txBody>
      </p:sp>
    </p:spTree>
    <p:extLst>
      <p:ext uri="{BB962C8B-B14F-4D97-AF65-F5344CB8AC3E}">
        <p14:creationId xmlns:p14="http://schemas.microsoft.com/office/powerpoint/2010/main" val="51609020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DE827E4-AFFC-47B8-A93C-DF81AFDA41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47DB3D-C6EF-49BA-9553-1B14B8A5AF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DB855A4-1596-46FF-A8AC-4F779C56EE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Python symbols</a:t>
            </a:r>
          </a:p>
        </p:txBody>
      </p:sp>
      <p:sp>
        <p:nvSpPr>
          <p:cNvPr id="4" name="">
            <a:extLst xmlns:a="http://schemas.openxmlformats.org/drawingml/2006/main">
              <a:ext uri="{FF2B5EF4-FFF2-40B4-BE49-F238E27FC236}">
                <a16:creationId xmlns:a16="http://schemas.microsoft.com/office/drawing/2014/main" id="{64594E2B-83A6-4749-87E1-5EF3207D121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EE44108-1885-4603-A5C7-5076772CB15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a value to a name. == compares two values.</a:t>
            </a:r>
          </a:p>
        </p:txBody>
      </p:sp>
      <p:sp>
        <p:nvSpPr>
          <p:cNvPr id="6" name="">
            <a:extLst xmlns:a="http://schemas.openxmlformats.org/drawingml/2006/main">
              <a:ext uri="{FF2B5EF4-FFF2-40B4-BE49-F238E27FC236}">
                <a16:creationId xmlns:a16="http://schemas.microsoft.com/office/drawing/2014/main" id="{011A0FC8-520C-4F75-B9AE-E1A2B6CEADD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1FE84E2-AC28-4A6D-A933-2DFEA769F4E6}"/>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multiplies. / divides. ** raises to a power.</a:t>
            </a:r>
          </a:p>
        </p:txBody>
      </p:sp>
      <p:sp>
        <p:nvSpPr>
          <p:cNvPr id="8" name="">
            <a:extLst xmlns:a="http://schemas.openxmlformats.org/drawingml/2006/main">
              <a:ext uri="{FF2B5EF4-FFF2-40B4-BE49-F238E27FC236}">
                <a16:creationId xmlns:a16="http://schemas.microsoft.com/office/drawing/2014/main" id="{C955422B-609D-41A2-836C-A33405BF0F3F}"/>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853E551-2F0F-4231-BC84-E246D069DE8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pass inputs when we call a function.</a:t>
            </a:r>
          </a:p>
        </p:txBody>
      </p:sp>
      <p:sp>
        <p:nvSpPr>
          <p:cNvPr id="10" name="">
            <a:extLst xmlns:a="http://schemas.openxmlformats.org/drawingml/2006/main">
              <a:ext uri="{FF2B5EF4-FFF2-40B4-BE49-F238E27FC236}">
                <a16:creationId xmlns:a16="http://schemas.microsoft.com/office/drawing/2014/main" id="{9D2E6194-FC21-44F5-B91E-DDBE97499F8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0CC2239-A08D-4BD7-B713-8D400C323A9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Indented lines belong to the block above them.</a:t>
            </a:r>
          </a:p>
        </p:txBody>
      </p:sp>
      <p:sp>
        <p:nvSpPr>
          <p:cNvPr id="12" name="">
            <a:extLst xmlns:a="http://schemas.openxmlformats.org/drawingml/2006/main">
              <a:ext uri="{FF2B5EF4-FFF2-40B4-BE49-F238E27FC236}">
                <a16:creationId xmlns:a16="http://schemas.microsoft.com/office/drawing/2014/main" id="{42610A93-D7AC-4539-ACB3-FBA5ABACFC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11</a:t>
            </a:r>
          </a:p>
        </p:txBody>
      </p:sp>
    </p:spTree>
    <p:extLst>
      <p:ext uri="{BB962C8B-B14F-4D97-AF65-F5344CB8AC3E}">
        <p14:creationId xmlns:p14="http://schemas.microsoft.com/office/powerpoint/2010/main" val="177590001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FAF5801-9AA7-482D-82F3-5E7BDBBC8C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4CA59B5-72C3-49D9-A44B-22821A4E91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914D073-BDF8-479A-8D3F-7251E69055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Names, conversion and comments</a:t>
            </a:r>
          </a:p>
        </p:txBody>
      </p:sp>
      <p:sp>
        <p:nvSpPr>
          <p:cNvPr id="4" name="">
            <a:extLst xmlns:a="http://schemas.openxmlformats.org/drawingml/2006/main">
              <a:ext uri="{FF2B5EF4-FFF2-40B4-BE49-F238E27FC236}">
                <a16:creationId xmlns:a16="http://schemas.microsoft.com/office/drawing/2014/main" id="{08B37A81-8CEA-41B1-A33F-D411494C213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C02475C-D5A2-466D-B4EA-D6AAA2CCAE0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length_m = float("3.5")  # text to number</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width_m = 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area_m2 = length_m * width_m</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print(area_m2)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print(type(length_m))</a:t>
            </a:r>
          </a:p>
        </p:txBody>
      </p:sp>
      <p:sp>
        <p:nvSpPr>
          <p:cNvPr id="6" name="">
            <a:extLst xmlns:a="http://schemas.openxmlformats.org/drawingml/2006/main">
              <a:ext uri="{FF2B5EF4-FFF2-40B4-BE49-F238E27FC236}">
                <a16:creationId xmlns:a16="http://schemas.microsoft.com/office/drawing/2014/main" id="{B1A7C705-51A5-4CAB-B5CE-A8446608FDA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C72D863-6BA8-4F99-A523-AA7DF87B4FC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BF0F4770-3D33-4022-A80B-13C8D7E441C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type reports the kind of value: for example, float.</a:t>
            </a:r>
          </a:p>
        </p:txBody>
      </p:sp>
      <p:sp>
        <p:nvSpPr>
          <p:cNvPr id="9" name="">
            <a:extLst xmlns:a="http://schemas.openxmlformats.org/drawingml/2006/main">
              <a:ext uri="{FF2B5EF4-FFF2-40B4-BE49-F238E27FC236}">
                <a16:creationId xmlns:a16="http://schemas.microsoft.com/office/drawing/2014/main" id="{255D0412-D3E3-4A09-B528-B93BA7015E2C}"/>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9913666D-4E4A-4367-8DC5-062371FCEEB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type(...) reports the kind of value. &lt;class 'float'&gt; means a floating-point number.</a:t>
            </a:r>
          </a:p>
        </p:txBody>
      </p:sp>
      <p:sp>
        <p:nvSpPr>
          <p:cNvPr id="11" name="">
            <a:extLst xmlns:a="http://schemas.openxmlformats.org/drawingml/2006/main">
              <a:ext uri="{FF2B5EF4-FFF2-40B4-BE49-F238E27FC236}">
                <a16:creationId xmlns:a16="http://schemas.microsoft.com/office/drawing/2014/main" id="{2F276D28-1CE1-4023-B053-CDA595AF1D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12</a:t>
            </a:r>
          </a:p>
        </p:txBody>
      </p:sp>
    </p:spTree>
    <p:extLst>
      <p:ext uri="{BB962C8B-B14F-4D97-AF65-F5344CB8AC3E}">
        <p14:creationId xmlns:p14="http://schemas.microsoft.com/office/powerpoint/2010/main" val="99866792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0B6F4E2-569F-4CC2-9FAB-1ACF123EDF8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430EC14-1BFA-4DBF-8614-CB88F2BCBF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2140078-4BF3-484D-B1F9-0C5B613AE9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Arithmetic that needs care</a:t>
            </a:r>
          </a:p>
        </p:txBody>
      </p:sp>
      <p:sp>
        <p:nvSpPr>
          <p:cNvPr id="4" name="">
            <a:extLst xmlns:a="http://schemas.openxmlformats.org/drawingml/2006/main">
              <a:ext uri="{FF2B5EF4-FFF2-40B4-BE49-F238E27FC236}">
                <a16:creationId xmlns:a16="http://schemas.microsoft.com/office/drawing/2014/main" id="{B5465390-57F2-441F-ACD1-7C985D7B070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421EA90-B628-4C92-ABC2-251AC833AF2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(2 + 4) / 2 gives 3.0. 2 + 4 / 2 gives 4.0.</a:t>
            </a:r>
          </a:p>
        </p:txBody>
      </p:sp>
      <p:sp>
        <p:nvSpPr>
          <p:cNvPr id="6" name="">
            <a:extLst xmlns:a="http://schemas.openxmlformats.org/drawingml/2006/main">
              <a:ext uri="{FF2B5EF4-FFF2-40B4-BE49-F238E27FC236}">
                <a16:creationId xmlns:a16="http://schemas.microsoft.com/office/drawing/2014/main" id="{4DB81FF2-A596-436B-85DB-5068594A2AA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CD109F2-999B-4CDF-B20A-649A3536F05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7 / 2 gives 3.5. 7 // 2 gives 3. -7 // 2 gives -4.</a:t>
            </a:r>
          </a:p>
        </p:txBody>
      </p:sp>
      <p:sp>
        <p:nvSpPr>
          <p:cNvPr id="8" name="">
            <a:extLst xmlns:a="http://schemas.openxmlformats.org/drawingml/2006/main">
              <a:ext uri="{FF2B5EF4-FFF2-40B4-BE49-F238E27FC236}">
                <a16:creationId xmlns:a16="http://schemas.microsoft.com/office/drawing/2014/main" id="{13E1609E-4C32-4868-AD69-140E0CB80C0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D977932-380E-4C62-9ADE-6894E9E70E4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Floating-point numbers approximate many decimals. Compare calculated measurements with a stated tolerance.</a:t>
            </a:r>
          </a:p>
        </p:txBody>
      </p:sp>
      <p:sp>
        <p:nvSpPr>
          <p:cNvPr id="10" name="">
            <a:extLst xmlns:a="http://schemas.openxmlformats.org/drawingml/2006/main">
              <a:ext uri="{FF2B5EF4-FFF2-40B4-BE49-F238E27FC236}">
                <a16:creationId xmlns:a16="http://schemas.microsoft.com/office/drawing/2014/main" id="{C0106F72-F702-4630-9936-D01A1CB06C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13</a:t>
            </a:r>
          </a:p>
        </p:txBody>
      </p:sp>
    </p:spTree>
    <p:extLst>
      <p:ext uri="{BB962C8B-B14F-4D97-AF65-F5344CB8AC3E}">
        <p14:creationId xmlns:p14="http://schemas.microsoft.com/office/powerpoint/2010/main" val="33844007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38EF4E9-EDF3-4473-A991-4C9FA6D453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31313EC-50DF-45CC-83BF-2F22EE869D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17E9193-F9B2-4D3F-B212-4D02D6E2A4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in your programme example</a:t>
            </a:r>
          </a:p>
        </p:txBody>
      </p:sp>
      <p:sp>
        <p:nvSpPr>
          <p:cNvPr id="4" name="">
            <a:extLst xmlns:a="http://schemas.openxmlformats.org/drawingml/2006/main">
              <a:ext uri="{FF2B5EF4-FFF2-40B4-BE49-F238E27FC236}">
                <a16:creationId xmlns:a16="http://schemas.microsoft.com/office/drawing/2014/main" id="{E258DCE6-6B98-412E-B005-8C2968CD67F0}"/>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0FFE414-7981-4D73-A455-38B77BF37D3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Volume, time and flow</a:t>
            </a:r>
          </a:p>
        </p:txBody>
      </p:sp>
      <p:sp>
        <p:nvSpPr>
          <p:cNvPr id="6" name="">
            <a:extLst xmlns:a="http://schemas.openxmlformats.org/drawingml/2006/main">
              <a:ext uri="{FF2B5EF4-FFF2-40B4-BE49-F238E27FC236}">
                <a16:creationId xmlns:a16="http://schemas.microsoft.com/office/drawing/2014/main" id="{CFBE5CD9-B1E6-4EB4-8770-168FF583771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Volume is how much space fluid occupies, here in litres. Time is measured in seconds. Flow is volume divided by time, in litres per second.</a:t>
            </a:r>
          </a:p>
        </p:txBody>
      </p:sp>
      <p:sp>
        <p:nvSpPr>
          <p:cNvPr id="7" name="">
            <a:extLst xmlns:a="http://schemas.openxmlformats.org/drawingml/2006/main">
              <a:ext uri="{FF2B5EF4-FFF2-40B4-BE49-F238E27FC236}">
                <a16:creationId xmlns:a16="http://schemas.microsoft.com/office/drawing/2014/main" id="{75579AAA-4D7F-474F-B574-C0BBC908FF4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A73DCE8-68E9-48A6-AAE8-CBCECCC45AC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Density and pressure</a:t>
            </a:r>
          </a:p>
        </p:txBody>
      </p:sp>
      <p:sp>
        <p:nvSpPr>
          <p:cNvPr id="9" name="">
            <a:extLst xmlns:a="http://schemas.openxmlformats.org/drawingml/2006/main">
              <a:ext uri="{FF2B5EF4-FFF2-40B4-BE49-F238E27FC236}">
                <a16:creationId xmlns:a16="http://schemas.microsoft.com/office/drawing/2014/main" id="{B15EA7DA-1EE1-497B-9BA2-51D93AF96453}"/>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Density is mass per volume in kg/m³. Pressure is force per area, measured in pascals (Pa). 1000 Pa = 1 kPa. Fluid density and depth determine the hydrostatic contribution.</a:t>
            </a:r>
          </a:p>
        </p:txBody>
      </p:sp>
      <p:sp>
        <p:nvSpPr>
          <p:cNvPr id="10" name="">
            <a:extLst xmlns:a="http://schemas.openxmlformats.org/drawingml/2006/main">
              <a:ext uri="{FF2B5EF4-FFF2-40B4-BE49-F238E27FC236}">
                <a16:creationId xmlns:a16="http://schemas.microsoft.com/office/drawing/2014/main" id="{9884C26E-76D2-4C5B-B455-0CE56B1FA9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14</a:t>
            </a:r>
          </a:p>
        </p:txBody>
      </p:sp>
    </p:spTree>
    <p:extLst>
      <p:ext uri="{BB962C8B-B14F-4D97-AF65-F5344CB8AC3E}">
        <p14:creationId xmlns:p14="http://schemas.microsoft.com/office/powerpoint/2010/main" val="57477449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80BD101-03E7-49AC-8CBE-E71C5343786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7AB9D6C-6772-4D4E-BBB9-9AABE82C68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8DC8FBE-F14A-4023-BE21-5E4341AAFC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calculation for your programme</a:t>
            </a:r>
          </a:p>
        </p:txBody>
      </p:sp>
      <p:sp>
        <p:nvSpPr>
          <p:cNvPr id="4" name="">
            <a:extLst xmlns:a="http://schemas.openxmlformats.org/drawingml/2006/main">
              <a:ext uri="{FF2B5EF4-FFF2-40B4-BE49-F238E27FC236}">
                <a16:creationId xmlns:a16="http://schemas.microsoft.com/office/drawing/2014/main" id="{F505B6A1-DC3C-4CA8-BCAC-488D7F660DF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0FA245-ADF6-4EDE-A2E2-71AFE995A2D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4B2FE5D-1D38-41C2-B634-DF86DA61135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pump moves 18 litres in 3 seconds.</a:t>
            </a:r>
          </a:p>
        </p:txBody>
      </p:sp>
      <p:sp>
        <p:nvSpPr>
          <p:cNvPr id="7" name="">
            <a:extLst xmlns:a="http://schemas.openxmlformats.org/drawingml/2006/main">
              <a:ext uri="{FF2B5EF4-FFF2-40B4-BE49-F238E27FC236}">
                <a16:creationId xmlns:a16="http://schemas.microsoft.com/office/drawing/2014/main" id="{A7E2B626-6381-4308-BAB7-9CAED7A5780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Flow = volume ÷ time = 6 litres per second.</a:t>
            </a:r>
          </a:p>
        </p:txBody>
      </p:sp>
      <p:sp>
        <p:nvSpPr>
          <p:cNvPr id="8" name="">
            <a:extLst xmlns:a="http://schemas.openxmlformats.org/drawingml/2006/main">
              <a:ext uri="{FF2B5EF4-FFF2-40B4-BE49-F238E27FC236}">
                <a16:creationId xmlns:a16="http://schemas.microsoft.com/office/drawing/2014/main" id="{59FEBC75-9998-4766-9953-409B92F75B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15</a:t>
            </a:r>
          </a:p>
        </p:txBody>
      </p:sp>
    </p:spTree>
    <p:extLst>
      <p:ext uri="{BB962C8B-B14F-4D97-AF65-F5344CB8AC3E}">
        <p14:creationId xmlns:p14="http://schemas.microsoft.com/office/powerpoint/2010/main" val="181893470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6E56989-74F6-4010-A126-65CF27F801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D980C8-F498-4897-85DF-CF05AC3BB49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C80712F-6501-499F-B1BD-559AAF29C8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calculation in Python</a:t>
            </a:r>
          </a:p>
        </p:txBody>
      </p:sp>
      <p:sp>
        <p:nvSpPr>
          <p:cNvPr id="4" name="">
            <a:extLst xmlns:a="http://schemas.openxmlformats.org/drawingml/2006/main">
              <a:ext uri="{FF2B5EF4-FFF2-40B4-BE49-F238E27FC236}">
                <a16:creationId xmlns:a16="http://schemas.microsoft.com/office/drawing/2014/main" id="{301148B9-3C4A-4935-B0C6-1E886E211FD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E8C754A-BF83-4DD7-AC9B-05D5217D655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volume_l =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time_s =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flow_l_s = volume_l / time_s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print(flow_l_s)</a:t>
            </a:r>
          </a:p>
        </p:txBody>
      </p:sp>
      <p:sp>
        <p:nvSpPr>
          <p:cNvPr id="6" name="">
            <a:extLst xmlns:a="http://schemas.openxmlformats.org/drawingml/2006/main">
              <a:ext uri="{FF2B5EF4-FFF2-40B4-BE49-F238E27FC236}">
                <a16:creationId xmlns:a16="http://schemas.microsoft.com/office/drawing/2014/main" id="{23CBC8CE-BC7B-4FBB-8C71-F95816A402A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73F8A5D-8FA1-47F9-BA38-FB9BA55189D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24EC0A8C-73C0-492E-980F-10B769C4409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7F285835-EBEB-43B2-A357-5444A394328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0" name="">
            <a:extLst xmlns:a="http://schemas.openxmlformats.org/drawingml/2006/main">
              <a:ext uri="{FF2B5EF4-FFF2-40B4-BE49-F238E27FC236}">
                <a16:creationId xmlns:a16="http://schemas.microsoft.com/office/drawing/2014/main" id="{4D775870-6E9B-453D-A633-73A16E7232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16</a:t>
            </a:r>
          </a:p>
        </p:txBody>
      </p:sp>
    </p:spTree>
    <p:extLst>
      <p:ext uri="{BB962C8B-B14F-4D97-AF65-F5344CB8AC3E}">
        <p14:creationId xmlns:p14="http://schemas.microsoft.com/office/powerpoint/2010/main" val="1939307130"/>
      </p:ext>
    </p:extLst>
  </p:cSld>
</p:sld>
</file>

<file path=ppt/slides/slide17.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E554253-86DB-4606-9A42-9F0E150D2FC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C41C415B-08A5-4713-845F-DDB0D56D41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change to predict</a:t>
            </a:r>
          </a:p>
        </p:txBody>
      </p:sp>
      <p:sp>
        <p:nvSpPr>
          <p:cNvPr id="3" name="">
            <a:extLst xmlns:a="http://schemas.openxmlformats.org/drawingml/2006/main">
              <a:ext uri="{FF2B5EF4-FFF2-40B4-BE49-F238E27FC236}">
                <a16:creationId xmlns:a16="http://schemas.microsoft.com/office/drawing/2014/main" id="{DB059051-A560-479F-995D-1442A1AD2828}"/>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FF09D811-43C5-44B6-A9B9-3CF91CB8185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Change volume_l to 24. Predict the flow before running.</a:t>
            </a:r>
          </a:p>
        </p:txBody>
      </p:sp>
      <p:sp>
        <p:nvSpPr>
          <p:cNvPr id="5" name="">
            <a:extLst xmlns:a="http://schemas.openxmlformats.org/drawingml/2006/main">
              <a:ext uri="{FF2B5EF4-FFF2-40B4-BE49-F238E27FC236}">
                <a16:creationId xmlns:a16="http://schemas.microsoft.com/office/drawing/2014/main" id="{FF980429-9D85-4B69-BCB2-0D5F7CD545B7}"/>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4B1B9AF2-A1F2-440D-ACC1-01B9FBE8C5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3   17</a:t>
            </a:r>
          </a:p>
        </p:txBody>
      </p:sp>
    </p:spTree>
    <p:extLst>
      <p:ext uri="{BB962C8B-B14F-4D97-AF65-F5344CB8AC3E}">
        <p14:creationId xmlns:p14="http://schemas.microsoft.com/office/powerpoint/2010/main" val="165431858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1EFAD71-1649-41E4-9CA2-AD0FCFA9F2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577E12-EE43-4FC6-AB9C-93FE01E0D0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3DB8DC2F-4634-4223-BC17-7D6C962ACB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practice result</a:t>
            </a:r>
          </a:p>
        </p:txBody>
      </p:sp>
      <p:sp>
        <p:nvSpPr>
          <p:cNvPr id="4" name="">
            <a:extLst xmlns:a="http://schemas.openxmlformats.org/drawingml/2006/main">
              <a:ext uri="{FF2B5EF4-FFF2-40B4-BE49-F238E27FC236}">
                <a16:creationId xmlns:a16="http://schemas.microsoft.com/office/drawing/2014/main" id="{4C927189-F950-4FAE-B59C-E5E1ECEEAF30}"/>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9B8618E-EBA2-4649-BFD8-DE39DD571C4E}"/>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8 litres per second</a:t>
            </a:r>
          </a:p>
        </p:txBody>
      </p:sp>
      <p:sp>
        <p:nvSpPr>
          <p:cNvPr id="6" name="">
            <a:extLst xmlns:a="http://schemas.openxmlformats.org/drawingml/2006/main">
              <a:ext uri="{FF2B5EF4-FFF2-40B4-BE49-F238E27FC236}">
                <a16:creationId xmlns:a16="http://schemas.microsoft.com/office/drawing/2014/main" id="{DC10F4BF-EA58-45D8-9F66-425FD90C3861}"/>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E8D63A4F-B6A2-4A40-A0AF-90B0D6CE65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18</a:t>
            </a:r>
          </a:p>
        </p:txBody>
      </p:sp>
    </p:spTree>
    <p:extLst>
      <p:ext uri="{BB962C8B-B14F-4D97-AF65-F5344CB8AC3E}">
        <p14:creationId xmlns:p14="http://schemas.microsoft.com/office/powerpoint/2010/main" val="108052419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702D4D4-DF99-4CB1-99C4-E5AD5F4631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3D87C7F-C8BE-4142-A68D-A933B3CFA2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EEB44DD-E7FF-423F-8D35-73CB217529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 error message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Message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check</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NameError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A name is unavailable</a:t>
                      </a:r>
                    </a:p>
                  </a:txBody>
                  <a:tcPr marL="91440" marR="91440" marT="45720" marB="45720">
                    <a:solidFill>
                      <a:srgbClr val="EEF3F6"/>
                    </a:solidFill>
                  </a:tcPr>
                </a:tc>
                <a:tc>
                  <a:txBody>
                    <a:bodyPr/>
                    <a:lstStyle/>
                    <a:p>
                      <a:r>
                        <a:rPr sz="2025" b="0">
                          <a:solidFill>
                            <a:srgbClr val="1C3144"/>
                          </a:solidFill>
                          <a:latin typeface="Calibri"/>
                          <a:ea typeface="Calibri"/>
                          <a:cs typeface="Calibri"/>
                        </a:rPr>
                        <a:t>Spelling and run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TypeError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Wrong kind of value</a:t>
                      </a:r>
                    </a:p>
                  </a:txBody>
                  <a:tcPr marL="91440" marR="91440" marT="45720" marB="45720">
                    <a:solidFill>
                      <a:srgbClr val="FFFFFF"/>
                    </a:solidFill>
                  </a:tcPr>
                </a:tc>
                <a:tc>
                  <a:txBody>
                    <a:bodyPr/>
                    <a:lstStyle/>
                    <a:p>
                      <a:r>
                        <a:rPr sz="2025" b="0">
                          <a:solidFill>
                            <a:srgbClr val="1C3144"/>
                          </a:solidFill>
                          <a:latin typeface="Calibri"/>
                          <a:ea typeface="Calibri"/>
                          <a:cs typeface="Calibri"/>
                        </a:rPr>
                        <a:t>Text versus number</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SyntaxError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Python cannot parse a line</a:t>
                      </a:r>
                    </a:p>
                  </a:txBody>
                  <a:tcPr marL="91440" marR="91440" marT="45720" marB="45720">
                    <a:solidFill>
                      <a:srgbClr val="EEF3F6"/>
                    </a:solidFill>
                  </a:tcPr>
                </a:tc>
                <a:tc>
                  <a:txBody>
                    <a:bodyPr/>
                    <a:lstStyle/>
                    <a:p>
                      <a:r>
                        <a:rPr sz="2025" b="0">
                          <a:solidFill>
                            <a:srgbClr val="1C3144"/>
                          </a:solidFill>
                          <a:latin typeface="Calibri"/>
                          <a:ea typeface="Calibri"/>
                          <a:cs typeface="Calibri"/>
                        </a:rPr>
                        <a:t>Quotes, brackets, colon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IndentationError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Block spacing is invalid</a:t>
                      </a:r>
                    </a:p>
                  </a:txBody>
                  <a:tcPr marL="91440" marR="91440" marT="45720" marB="45720">
                    <a:solidFill>
                      <a:srgbClr val="FFFFFF"/>
                    </a:solidFill>
                  </a:tcPr>
                </a:tc>
                <a:tc>
                  <a:txBody>
                    <a:bodyPr/>
                    <a:lstStyle/>
                    <a:p>
                      <a:r>
                        <a:rPr sz="2025" b="0">
                          <a:solidFill>
                            <a:srgbClr val="1C3144"/>
                          </a:solidFill>
                          <a:latin typeface="Calibri"/>
                          <a:ea typeface="Calibri"/>
                          <a:cs typeface="Calibri"/>
                        </a:rPr>
                        <a:t>Consistent spaces</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3CCF1E8-EFEF-474D-858A-E9212ABF3B0C}"/>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last line names the error. The indicated line shows where Python noticed it.</a:t>
            </a:r>
          </a:p>
        </p:txBody>
      </p:sp>
      <p:sp>
        <p:nvSpPr>
          <p:cNvPr id="6" name="">
            <a:extLst xmlns:a="http://schemas.openxmlformats.org/drawingml/2006/main">
              <a:ext uri="{FF2B5EF4-FFF2-40B4-BE49-F238E27FC236}">
                <a16:creationId xmlns:a16="http://schemas.microsoft.com/office/drawing/2014/main" id="{58A4DD6D-4252-42F7-BF52-AA6047A82B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19</a:t>
            </a:r>
          </a:p>
        </p:txBody>
      </p:sp>
    </p:spTree>
    <p:extLst>
      <p:ext uri="{BB962C8B-B14F-4D97-AF65-F5344CB8AC3E}">
        <p14:creationId xmlns:p14="http://schemas.microsoft.com/office/powerpoint/2010/main" val="23820194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B47020C-60C2-48DF-9DDA-E836D9EA14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878D2A7-214A-489F-A970-E7EBF03810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A38E97C-093A-4330-8468-ABF2584CF7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Condition</a:t>
            </a:r>
          </a:p>
        </p:txBody>
      </p:sp>
      <p:sp>
        <p:nvSpPr>
          <p:cNvPr id="4" name="">
            <a:extLst xmlns:a="http://schemas.openxmlformats.org/drawingml/2006/main">
              <a:ext uri="{FF2B5EF4-FFF2-40B4-BE49-F238E27FC236}">
                <a16:creationId xmlns:a16="http://schemas.microsoft.com/office/drawing/2014/main" id="{DBB9EAA7-0CDA-432C-8C13-61DAB0ECBE43}"/>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08A9B24-65E9-4FD9-AE78-71FBCC4630FA}"/>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Condition</a:t>
            </a:r>
          </a:p>
        </p:txBody>
      </p:sp>
      <p:sp>
        <p:nvSpPr>
          <p:cNvPr id="6" name="">
            <a:extLst xmlns:a="http://schemas.openxmlformats.org/drawingml/2006/main">
              <a:ext uri="{FF2B5EF4-FFF2-40B4-BE49-F238E27FC236}">
                <a16:creationId xmlns:a16="http://schemas.microsoft.com/office/drawing/2014/main" id="{97A88F3D-3934-4FA4-82D9-0940545AA650}"/>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True/False question. == compares equality; = assigns. if selects a branch; else handles the other case. A colon starts an indented block.</a:t>
            </a:r>
          </a:p>
        </p:txBody>
      </p:sp>
      <p:sp>
        <p:nvSpPr>
          <p:cNvPr id="7" name="">
            <a:extLst xmlns:a="http://schemas.openxmlformats.org/drawingml/2006/main">
              <a:ext uri="{FF2B5EF4-FFF2-40B4-BE49-F238E27FC236}">
                <a16:creationId xmlns:a16="http://schemas.microsoft.com/office/drawing/2014/main" id="{CD5FE7CD-678F-47C1-8181-4D85D01D39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20</a:t>
            </a:r>
          </a:p>
        </p:txBody>
      </p:sp>
    </p:spTree>
    <p:extLst>
      <p:ext uri="{BB962C8B-B14F-4D97-AF65-F5344CB8AC3E}">
        <p14:creationId xmlns:p14="http://schemas.microsoft.com/office/powerpoint/2010/main" val="128248832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F1716F8-79F6-46C4-9F05-0150A71416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51B1D1-17E8-48AA-86DE-B5644107AF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ECA67C1-EE3D-462B-81DE-02C54417B8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Comparison and logic</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555625">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result</a:t>
                      </a:r>
                    </a:p>
                  </a:txBody>
                  <a:tcPr marL="91440" marR="91440" marT="45720" marB="45720">
                    <a:solidFill>
                      <a:srgbClr val="2E7D6F"/>
                    </a:solidFill>
                  </a:tcPr>
                </a:tc>
              </a:tr>
              <a:tr h="555625">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Are values equal?</a:t>
                      </a:r>
                    </a:p>
                  </a:txBody>
                  <a:tcPr marL="91440" marR="91440" marT="45720" marB="45720">
                    <a:solidFill>
                      <a:srgbClr val="EEF3F6"/>
                    </a:solidFill>
                  </a:tcPr>
                </a:tc>
                <a:tc>
                  <a:txBody>
                    <a:bodyPr/>
                    <a:lstStyle/>
                    <a:p>
                      <a:r>
                        <a:rPr sz="2025" b="0">
                          <a:solidFill>
                            <a:srgbClr val="1C3144"/>
                          </a:solidFill>
                          <a:latin typeface="Calibri"/>
                          <a:ea typeface="Calibri"/>
                          <a:cs typeface="Calibri"/>
                        </a:rPr>
                        <a:t>3 == 3 is True</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Are values different?</a:t>
                      </a:r>
                    </a:p>
                  </a:txBody>
                  <a:tcPr marL="91440" marR="91440" marT="45720" marB="45720">
                    <a:solidFill>
                      <a:srgbClr val="FFFFFF"/>
                    </a:solidFill>
                  </a:tcPr>
                </a:tc>
                <a:tc>
                  <a:txBody>
                    <a:bodyPr/>
                    <a:lstStyle/>
                    <a:p>
                      <a:r>
                        <a:rPr sz="2025" b="0">
                          <a:solidFill>
                            <a:srgbClr val="1C3144"/>
                          </a:solidFill>
                          <a:latin typeface="Calibri"/>
                          <a:ea typeface="Calibri"/>
                          <a:cs typeface="Calibri"/>
                        </a:rPr>
                        <a:t>3 != 4 is True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&gt;=</a:t>
                      </a:r>
                    </a:p>
                  </a:txBody>
                  <a:tcPr marL="91440" marR="91440" marT="45720" marB="45720">
                    <a:solidFill>
                      <a:srgbClr val="EEF3F6"/>
                    </a:solidFill>
                  </a:tcPr>
                </a:tc>
                <a:tc>
                  <a:txBody>
                    <a:bodyPr/>
                    <a:lstStyle/>
                    <a:p>
                      <a:r>
                        <a:rPr sz="2025" b="0">
                          <a:solidFill>
                            <a:srgbClr val="1C3144"/>
                          </a:solidFill>
                          <a:latin typeface="Calibri"/>
                          <a:ea typeface="Calibri"/>
                          <a:cs typeface="Calibri"/>
                        </a:rPr>
                        <a:t>At least the limit?</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3 is True</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and</a:t>
                      </a:r>
                    </a:p>
                  </a:txBody>
                  <a:tcPr marL="91440" marR="91440" marT="45720" marB="45720">
                    <a:solidFill>
                      <a:srgbClr val="FFFFFF"/>
                    </a:solidFill>
                  </a:tcPr>
                </a:tc>
                <a:tc>
                  <a:txBody>
                    <a:bodyPr/>
                    <a:lstStyle/>
                    <a:p>
                      <a:r>
                        <a:rPr sz="2025" b="0">
                          <a:solidFill>
                            <a:srgbClr val="1C3144"/>
                          </a:solidFill>
                          <a:latin typeface="Calibri"/>
                          <a:ea typeface="Calibri"/>
                          <a:cs typeface="Calibri"/>
                        </a:rPr>
                        <a:t>Are both conditions 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 and False is False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or</a:t>
                      </a:r>
                    </a:p>
                  </a:txBody>
                  <a:tcPr marL="91440" marR="91440" marT="45720" marB="45720">
                    <a:solidFill>
                      <a:srgbClr val="EEF3F6"/>
                    </a:solidFill>
                  </a:tcPr>
                </a:tc>
                <a:tc>
                  <a:txBody>
                    <a:bodyPr/>
                    <a:lstStyle/>
                    <a:p>
                      <a:r>
                        <a:rPr sz="2025" b="0">
                          <a:solidFill>
                            <a:srgbClr val="1C3144"/>
                          </a:solidFill>
                          <a:latin typeface="Calibri"/>
                          <a:ea typeface="Calibri"/>
                          <a:cs typeface="Calibri"/>
                        </a:rPr>
                        <a:t>Is either condition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 or False is True</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04C6CC7-B88D-4A9F-A9CE-735F13661DF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assignment uses =. A comparison uses ==. Capitalise True, False and None.</a:t>
            </a:r>
          </a:p>
        </p:txBody>
      </p:sp>
      <p:sp>
        <p:nvSpPr>
          <p:cNvPr id="6" name="">
            <a:extLst xmlns:a="http://schemas.openxmlformats.org/drawingml/2006/main">
              <a:ext uri="{FF2B5EF4-FFF2-40B4-BE49-F238E27FC236}">
                <a16:creationId xmlns:a16="http://schemas.microsoft.com/office/drawing/2014/main" id="{4EF82B86-CE21-49D6-B501-77B97639F5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21</a:t>
            </a:r>
          </a:p>
        </p:txBody>
      </p:sp>
    </p:spTree>
    <p:extLst>
      <p:ext uri="{BB962C8B-B14F-4D97-AF65-F5344CB8AC3E}">
        <p14:creationId xmlns:p14="http://schemas.microsoft.com/office/powerpoint/2010/main" val="126227304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2C4EFF3-10EF-4710-A287-34C0EB9B15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116C200-F3CB-419C-941C-0826334654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58DCB1F-D9DD-48E5-AAD7-2F2DEA51DE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decision needs a colon and indentation</a:t>
            </a:r>
          </a:p>
        </p:txBody>
      </p:sp>
      <p:sp>
        <p:nvSpPr>
          <p:cNvPr id="4" name="">
            <a:extLst xmlns:a="http://schemas.openxmlformats.org/drawingml/2006/main">
              <a:ext uri="{FF2B5EF4-FFF2-40B4-BE49-F238E27FC236}">
                <a16:creationId xmlns:a16="http://schemas.microsoft.com/office/drawing/2014/main" id="{783F99AF-701B-4639-AC69-A62B92C1AD6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6399DD1-9494-42D2-990A-C5CE12BB124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temperature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temperature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print("below 30")</a:t>
            </a:r>
          </a:p>
        </p:txBody>
      </p:sp>
      <p:sp>
        <p:nvSpPr>
          <p:cNvPr id="6" name="">
            <a:extLst xmlns:a="http://schemas.openxmlformats.org/drawingml/2006/main">
              <a:ext uri="{FF2B5EF4-FFF2-40B4-BE49-F238E27FC236}">
                <a16:creationId xmlns:a16="http://schemas.microsoft.com/office/drawing/2014/main" id="{2AC193BB-CB9C-44DC-AE75-946077EE6D6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0BF415D-9399-485A-B5AD-156EC0E2D26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8" name="">
            <a:extLst xmlns:a="http://schemas.openxmlformats.org/drawingml/2006/main">
              <a:ext uri="{FF2B5EF4-FFF2-40B4-BE49-F238E27FC236}">
                <a16:creationId xmlns:a16="http://schemas.microsoft.com/office/drawing/2014/main" id="{E0B98B42-BBD7-4E8E-8A1D-28E83F6BFDF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6548E917-F723-4879-9515-CC8A74117388}"/>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6F522138-CF48-41B0-AC96-5E9AB1CFA46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&gt;= compares values. Only the chosen indented block runs.</a:t>
            </a:r>
          </a:p>
        </p:txBody>
      </p:sp>
      <p:sp>
        <p:nvSpPr>
          <p:cNvPr id="11" name="">
            <a:extLst xmlns:a="http://schemas.openxmlformats.org/drawingml/2006/main">
              <a:ext uri="{FF2B5EF4-FFF2-40B4-BE49-F238E27FC236}">
                <a16:creationId xmlns:a16="http://schemas.microsoft.com/office/drawing/2014/main" id="{2DD53BE8-5332-47CB-9E2E-04C7A23233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22</a:t>
            </a:r>
          </a:p>
        </p:txBody>
      </p:sp>
    </p:spTree>
    <p:extLst>
      <p:ext uri="{BB962C8B-B14F-4D97-AF65-F5344CB8AC3E}">
        <p14:creationId xmlns:p14="http://schemas.microsoft.com/office/powerpoint/2010/main" val="192093002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2559F70-D0D6-4E4A-AFA1-27CB619A82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D80FEE-FCB8-4D95-B49F-51454E6D9D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7FA044D-7FCF-4B12-B853-AEB771459C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a:t>
            </a:r>
          </a:p>
        </p:txBody>
      </p:sp>
      <p:sp>
        <p:nvSpPr>
          <p:cNvPr id="4" name="">
            <a:extLst xmlns:a="http://schemas.openxmlformats.org/drawingml/2006/main">
              <a:ext uri="{FF2B5EF4-FFF2-40B4-BE49-F238E27FC236}">
                <a16:creationId xmlns:a16="http://schemas.microsoft.com/office/drawing/2014/main" id="{6777B3EB-7EF7-48D8-A9C6-289893408295}"/>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42F4598-B46B-4E66-B587-625CB52E1A5E}"/>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Function</a:t>
            </a:r>
          </a:p>
        </p:txBody>
      </p:sp>
      <p:sp>
        <p:nvSpPr>
          <p:cNvPr id="6" name="">
            <a:extLst xmlns:a="http://schemas.openxmlformats.org/drawingml/2006/main">
              <a:ext uri="{FF2B5EF4-FFF2-40B4-BE49-F238E27FC236}">
                <a16:creationId xmlns:a16="http://schemas.microsoft.com/office/drawing/2014/main" id="{0DCE0F7E-D9F2-4BC6-BA6A-CA045DE2BC7D}"/>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named, reusable calculation or procedure. def introduces its definition. Parameters are the names for its inputs; arguments are the values supplied when calling it.</a:t>
            </a:r>
          </a:p>
        </p:txBody>
      </p:sp>
      <p:sp>
        <p:nvSpPr>
          <p:cNvPr id="7" name="">
            <a:extLst xmlns:a="http://schemas.openxmlformats.org/drawingml/2006/main">
              <a:ext uri="{FF2B5EF4-FFF2-40B4-BE49-F238E27FC236}">
                <a16:creationId xmlns:a16="http://schemas.microsoft.com/office/drawing/2014/main" id="{D8814917-2422-4862-9F92-E65B8853C3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23</a:t>
            </a:r>
          </a:p>
        </p:txBody>
      </p:sp>
    </p:spTree>
    <p:extLst>
      <p:ext uri="{BB962C8B-B14F-4D97-AF65-F5344CB8AC3E}">
        <p14:creationId xmlns:p14="http://schemas.microsoft.com/office/powerpoint/2010/main" val="87086773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63C4A84-C70F-4D52-B8EE-72CF83D40E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8E5F6F-CDA3-4792-AE92-9705AD9EA8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93761F6-FE8D-4BD0-983F-02AB63F934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Indentation and return</a:t>
            </a:r>
          </a:p>
        </p:txBody>
      </p:sp>
      <p:sp>
        <p:nvSpPr>
          <p:cNvPr id="4" name="">
            <a:extLst xmlns:a="http://schemas.openxmlformats.org/drawingml/2006/main">
              <a:ext uri="{FF2B5EF4-FFF2-40B4-BE49-F238E27FC236}">
                <a16:creationId xmlns:a16="http://schemas.microsoft.com/office/drawing/2014/main" id="{89FB730A-0C57-4EB5-8179-2ADA170F8CAF}"/>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3BCBA59-E483-48BC-95B3-05AE2F549737}"/>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Indentation and return</a:t>
            </a:r>
          </a:p>
        </p:txBody>
      </p:sp>
      <p:sp>
        <p:nvSpPr>
          <p:cNvPr id="6" name="">
            <a:extLst xmlns:a="http://schemas.openxmlformats.org/drawingml/2006/main">
              <a:ext uri="{FF2B5EF4-FFF2-40B4-BE49-F238E27FC236}">
                <a16:creationId xmlns:a16="http://schemas.microsoft.com/office/drawing/2014/main" id="{3672CBCC-480A-4837-ACF7-087B0C442847}"/>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Spaces at the start of a line group the function body. return hands a result to the calling code. print displays a value and returns None.</a:t>
            </a:r>
          </a:p>
        </p:txBody>
      </p:sp>
      <p:sp>
        <p:nvSpPr>
          <p:cNvPr id="7" name="">
            <a:extLst xmlns:a="http://schemas.openxmlformats.org/drawingml/2006/main">
              <a:ext uri="{FF2B5EF4-FFF2-40B4-BE49-F238E27FC236}">
                <a16:creationId xmlns:a16="http://schemas.microsoft.com/office/drawing/2014/main" id="{B90C4907-7659-465E-A3DE-B4CB9F25F2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24</a:t>
            </a:r>
          </a:p>
        </p:txBody>
      </p:sp>
    </p:spTree>
    <p:extLst>
      <p:ext uri="{BB962C8B-B14F-4D97-AF65-F5344CB8AC3E}">
        <p14:creationId xmlns:p14="http://schemas.microsoft.com/office/powerpoint/2010/main" val="182831241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F1F3F37-E5E5-4247-B93F-F623F1DBF5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246127-66B0-4EB3-A17A-2AE906DF1C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D20A1F5-3F85-4D75-9CCE-AA75A9A74E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definition and a call</a:t>
            </a:r>
          </a:p>
        </p:txBody>
      </p:sp>
      <p:sp>
        <p:nvSpPr>
          <p:cNvPr id="4" name="">
            <a:extLst xmlns:a="http://schemas.openxmlformats.org/drawingml/2006/main">
              <a:ext uri="{FF2B5EF4-FFF2-40B4-BE49-F238E27FC236}">
                <a16:creationId xmlns:a16="http://schemas.microsoft.com/office/drawing/2014/main" id="{A95BADB3-1256-42F6-8C28-52EF5BE59A0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E176AAE-CCEF-4C96-96F4-7DC3E8FD0EF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gives a reusable calculation a name and inputs.</a:t>
            </a:r>
          </a:p>
        </p:txBody>
      </p:sp>
      <p:sp>
        <p:nvSpPr>
          <p:cNvPr id="6" name="">
            <a:extLst xmlns:a="http://schemas.openxmlformats.org/drawingml/2006/main">
              <a:ext uri="{FF2B5EF4-FFF2-40B4-BE49-F238E27FC236}">
                <a16:creationId xmlns:a16="http://schemas.microsoft.com/office/drawing/2014/main" id="{B6F38E75-24BB-4832-9511-F62E0793943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23AAF92-0560-4CCF-8CAB-321CA764CB1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Defining a function remembers the instructions.</a:t>
            </a:r>
          </a:p>
        </p:txBody>
      </p:sp>
      <p:sp>
        <p:nvSpPr>
          <p:cNvPr id="8" name="">
            <a:extLst xmlns:a="http://schemas.openxmlformats.org/drawingml/2006/main">
              <a:ext uri="{FF2B5EF4-FFF2-40B4-BE49-F238E27FC236}">
                <a16:creationId xmlns:a16="http://schemas.microsoft.com/office/drawing/2014/main" id="{EE3A11D2-0346-4DD1-9214-6CEBAED2875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9FE23F7-034D-4DCE-A118-1E16AE90A385}"/>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the function runs those instructions with values.</a:t>
            </a:r>
          </a:p>
        </p:txBody>
      </p:sp>
      <p:sp>
        <p:nvSpPr>
          <p:cNvPr id="10" name="">
            <a:extLst xmlns:a="http://schemas.openxmlformats.org/drawingml/2006/main">
              <a:ext uri="{FF2B5EF4-FFF2-40B4-BE49-F238E27FC236}">
                <a16:creationId xmlns:a16="http://schemas.microsoft.com/office/drawing/2014/main" id="{7BA01939-1C3C-42AB-A22F-E35C6E2DFCC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B0FE9D6-8391-4FCC-A575-2F11BFD4BA17}"/>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sends the result back to the caller.</a:t>
            </a:r>
          </a:p>
        </p:txBody>
      </p:sp>
      <p:sp>
        <p:nvSpPr>
          <p:cNvPr id="12" name="">
            <a:extLst xmlns:a="http://schemas.openxmlformats.org/drawingml/2006/main">
              <a:ext uri="{FF2B5EF4-FFF2-40B4-BE49-F238E27FC236}">
                <a16:creationId xmlns:a16="http://schemas.microsoft.com/office/drawing/2014/main" id="{008DEDA1-F346-44B6-997B-BEE36FBBC3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25</a:t>
            </a:r>
          </a:p>
        </p:txBody>
      </p:sp>
    </p:spTree>
    <p:extLst>
      <p:ext uri="{BB962C8B-B14F-4D97-AF65-F5344CB8AC3E}">
        <p14:creationId xmlns:p14="http://schemas.microsoft.com/office/powerpoint/2010/main" val="192294895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1FD8876-0AA5-46C9-BAE3-597927354D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21EFC5-32D9-415A-958C-E76AB3D216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8628587-ED67-48C8-B8D0-83F85B1B1B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calculation has inputs and an answer</a:t>
            </a:r>
          </a:p>
        </p:txBody>
      </p:sp>
      <p:sp>
        <p:nvSpPr>
          <p:cNvPr id="4" name="">
            <a:extLst xmlns:a="http://schemas.openxmlformats.org/drawingml/2006/main">
              <a:ext uri="{FF2B5EF4-FFF2-40B4-BE49-F238E27FC236}">
                <a16:creationId xmlns:a16="http://schemas.microsoft.com/office/drawing/2014/main" id="{C7E14199-C938-4F17-8FE8-F8BE9FEFC62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876C185-6C6F-4A4E-9E65-AD6BD5C3D6B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Inputs are the values supplied to a calculation.</a:t>
            </a:r>
          </a:p>
        </p:txBody>
      </p:sp>
      <p:sp>
        <p:nvSpPr>
          <p:cNvPr id="6" name="">
            <a:extLst xmlns:a="http://schemas.openxmlformats.org/drawingml/2006/main">
              <a:ext uri="{FF2B5EF4-FFF2-40B4-BE49-F238E27FC236}">
                <a16:creationId xmlns:a16="http://schemas.microsoft.com/office/drawing/2014/main" id="{CEFC4552-349F-4FA5-9DC3-8BD32DC64BA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8CF0DCE-5E30-4C57-A8E4-36965E8770D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operation combines them, such as length multiplied by width.</a:t>
            </a:r>
          </a:p>
        </p:txBody>
      </p:sp>
      <p:sp>
        <p:nvSpPr>
          <p:cNvPr id="8" name="">
            <a:extLst xmlns:a="http://schemas.openxmlformats.org/drawingml/2006/main">
              <a:ext uri="{FF2B5EF4-FFF2-40B4-BE49-F238E27FC236}">
                <a16:creationId xmlns:a16="http://schemas.microsoft.com/office/drawing/2014/main" id="{8D552A1A-E27A-464F-A520-83E2DE1E091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87ED9FE-8805-479E-84D9-CE3B242C040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result needs a unit, such as square metres.</a:t>
            </a:r>
          </a:p>
        </p:txBody>
      </p:sp>
      <p:sp>
        <p:nvSpPr>
          <p:cNvPr id="10" name="">
            <a:extLst xmlns:a="http://schemas.openxmlformats.org/drawingml/2006/main">
              <a:ext uri="{FF2B5EF4-FFF2-40B4-BE49-F238E27FC236}">
                <a16:creationId xmlns:a16="http://schemas.microsoft.com/office/drawing/2014/main" id="{0C0D3BEA-D8B9-4F8F-A0E0-29767A241F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26</a:t>
            </a:r>
          </a:p>
        </p:txBody>
      </p:sp>
    </p:spTree>
    <p:extLst>
      <p:ext uri="{BB962C8B-B14F-4D97-AF65-F5344CB8AC3E}">
        <p14:creationId xmlns:p14="http://schemas.microsoft.com/office/powerpoint/2010/main" val="165306111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3F8AE55-40D4-4160-ABED-89D551BF99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9794ED-1B5E-4C3E-A83B-1CF96E7985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437D8E0-9447-4C05-AE49-CAFFE0FDB6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reusable calculation</a:t>
            </a:r>
          </a:p>
        </p:txBody>
      </p:sp>
      <p:sp>
        <p:nvSpPr>
          <p:cNvPr id="4" name="">
            <a:extLst xmlns:a="http://schemas.openxmlformats.org/drawingml/2006/main">
              <a:ext uri="{FF2B5EF4-FFF2-40B4-BE49-F238E27FC236}">
                <a16:creationId xmlns:a16="http://schemas.microsoft.com/office/drawing/2014/main" id="{4868B472-4B82-4806-B30A-A97227DF779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312ED73-4DC5-4AFA-A852-7706A234DC9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begins a function definition. The name identifies the calculation.</a:t>
            </a:r>
          </a:p>
        </p:txBody>
      </p:sp>
      <p:sp>
        <p:nvSpPr>
          <p:cNvPr id="6" name="">
            <a:extLst xmlns:a="http://schemas.openxmlformats.org/drawingml/2006/main">
              <a:ext uri="{FF2B5EF4-FFF2-40B4-BE49-F238E27FC236}">
                <a16:creationId xmlns:a16="http://schemas.microsoft.com/office/drawing/2014/main" id="{F2A46291-6FFF-44F3-AFE6-FEF70D33E28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A09EBB0-7483-42E2-9CD6-57E2703D1E1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Parameters are names for the inputs. A colon and indentation mark the body.</a:t>
            </a:r>
          </a:p>
        </p:txBody>
      </p:sp>
      <p:sp>
        <p:nvSpPr>
          <p:cNvPr id="8" name="">
            <a:extLst xmlns:a="http://schemas.openxmlformats.org/drawingml/2006/main">
              <a:ext uri="{FF2B5EF4-FFF2-40B4-BE49-F238E27FC236}">
                <a16:creationId xmlns:a16="http://schemas.microsoft.com/office/drawing/2014/main" id="{F3FDBA9E-C17C-4BBE-8BDE-144557F7067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10070F4-A413-4CE3-B86A-2908CD41CAA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sends a result back when the function is called.</a:t>
            </a:r>
          </a:p>
        </p:txBody>
      </p:sp>
      <p:sp>
        <p:nvSpPr>
          <p:cNvPr id="10" name="">
            <a:extLst xmlns:a="http://schemas.openxmlformats.org/drawingml/2006/main">
              <a:ext uri="{FF2B5EF4-FFF2-40B4-BE49-F238E27FC236}">
                <a16:creationId xmlns:a16="http://schemas.microsoft.com/office/drawing/2014/main" id="{65BA0731-C81A-43F2-821E-CDA50E4078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27</a:t>
            </a:r>
          </a:p>
        </p:txBody>
      </p:sp>
    </p:spTree>
    <p:extLst>
      <p:ext uri="{BB962C8B-B14F-4D97-AF65-F5344CB8AC3E}">
        <p14:creationId xmlns:p14="http://schemas.microsoft.com/office/powerpoint/2010/main" val="142877069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ACA4CA9-50F5-4293-AFB3-AFE45CD00524}"/>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331B09-C947-44A8-864E-CD52751CF7F9}"/>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Inputs, instructions and a returned result</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413fb9b8be9b4959"/>
          <a:stretch xmlns:a="http://schemas.openxmlformats.org/drawingml/2006/main"/>
        </p:blipFill>
        <p:spPr>
          <a:xfrm xmlns:a="http://schemas.openxmlformats.org/drawingml/2006/main">
            <a:off x="561045" y="1057275"/>
            <a:ext cx="11069911"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D659B9E-E512-45CA-9E52-102D735307EF}"/>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7CB30BE-9FED-47A9-9087-0B5FEABCB13F}"/>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function body runs when we call the function.</a:t>
            </a:r>
          </a:p>
        </p:txBody>
      </p:sp>
      <p:sp>
        <p:nvSpPr>
          <p:cNvPr id="6" name="">
            <a:extLst xmlns:a="http://schemas.openxmlformats.org/drawingml/2006/main">
              <a:ext uri="{FF2B5EF4-FFF2-40B4-BE49-F238E27FC236}">
                <a16:creationId xmlns:a16="http://schemas.microsoft.com/office/drawing/2014/main" id="{4CEBF559-6D68-44B4-A5C1-F8FAC30AC7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28</a:t>
            </a:r>
          </a:p>
        </p:txBody>
      </p:sp>
    </p:spTree>
    <p:extLst>
      <p:ext uri="{BB962C8B-B14F-4D97-AF65-F5344CB8AC3E}">
        <p14:creationId xmlns:p14="http://schemas.microsoft.com/office/powerpoint/2010/main" val="1366579661"/>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85C2F81-C3B3-47B6-8130-DEBB1C4F17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F871604-DCD2-4154-BF30-F64B3AA557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4E8913E-D8D2-46E3-B40F-FDC3C0C1FD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Following a function call</a:t>
            </a:r>
          </a:p>
        </p:txBody>
      </p:sp>
      <p:sp>
        <p:nvSpPr>
          <p:cNvPr id="4" name="">
            <a:extLst xmlns:a="http://schemas.openxmlformats.org/drawingml/2006/main">
              <a:ext uri="{FF2B5EF4-FFF2-40B4-BE49-F238E27FC236}">
                <a16:creationId xmlns:a16="http://schemas.microsoft.com/office/drawing/2014/main" id="{000A6670-3279-4F42-8E7D-BF00D4B9576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F666488-E2D5-4078-B297-300A2563717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double_value(4) puts 4 into the parameter x.</a:t>
            </a:r>
          </a:p>
        </p:txBody>
      </p:sp>
      <p:sp>
        <p:nvSpPr>
          <p:cNvPr id="6" name="">
            <a:extLst xmlns:a="http://schemas.openxmlformats.org/drawingml/2006/main">
              <a:ext uri="{FF2B5EF4-FFF2-40B4-BE49-F238E27FC236}">
                <a16:creationId xmlns:a16="http://schemas.microsoft.com/office/drawing/2014/main" id="{735CEF8D-B04A-4966-99F2-F64F6B13B4C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5A7BD2D-F1C5-4211-8BA0-C055CA6555A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 * 2 calculates 8. return passes 8 back.</a:t>
            </a:r>
          </a:p>
        </p:txBody>
      </p:sp>
      <p:sp>
        <p:nvSpPr>
          <p:cNvPr id="8" name="">
            <a:extLst xmlns:a="http://schemas.openxmlformats.org/drawingml/2006/main">
              <a:ext uri="{FF2B5EF4-FFF2-40B4-BE49-F238E27FC236}">
                <a16:creationId xmlns:a16="http://schemas.microsoft.com/office/drawing/2014/main" id="{DB9DAA52-1BA6-4DB2-B883-64CA6A622F9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400F7AD-6581-4A9D-9F72-59D6AB909A0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print displays that returned value. A guard can return early when an input is invalid.</a:t>
            </a:r>
          </a:p>
        </p:txBody>
      </p:sp>
      <p:sp>
        <p:nvSpPr>
          <p:cNvPr id="10" name="">
            <a:extLst xmlns:a="http://schemas.openxmlformats.org/drawingml/2006/main">
              <a:ext uri="{FF2B5EF4-FFF2-40B4-BE49-F238E27FC236}">
                <a16:creationId xmlns:a16="http://schemas.microsoft.com/office/drawing/2014/main" id="{7B4F364C-0BEB-4E3C-BB0D-A44CBFDAAF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29</a:t>
            </a:r>
          </a:p>
        </p:txBody>
      </p:sp>
    </p:spTree>
    <p:extLst>
      <p:ext uri="{BB962C8B-B14F-4D97-AF65-F5344CB8AC3E}">
        <p14:creationId xmlns:p14="http://schemas.microsoft.com/office/powerpoint/2010/main" val="63805574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BD0A46-D35B-4AE8-8045-4BB3A2510C0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6F58EC-C5B9-4604-89E9-E797231693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ACEFA45-AFE7-41AD-9AEF-01DF559A5A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a:t>
            </a:r>
          </a:p>
        </p:txBody>
      </p:sp>
      <p:sp>
        <p:nvSpPr>
          <p:cNvPr id="4" name="">
            <a:extLst xmlns:a="http://schemas.openxmlformats.org/drawingml/2006/main">
              <a:ext uri="{FF2B5EF4-FFF2-40B4-BE49-F238E27FC236}">
                <a16:creationId xmlns:a16="http://schemas.microsoft.com/office/drawing/2014/main" id="{5701F87F-61AD-464C-9020-EF6231F056A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4BBE57-96FF-4ABF-A727-B15F394D1A5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double_value(x):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x * 2</a:t>
            </a:r>
          </a:p>
        </p:txBody>
      </p:sp>
      <p:sp>
        <p:nvSpPr>
          <p:cNvPr id="6" name="">
            <a:extLst xmlns:a="http://schemas.openxmlformats.org/drawingml/2006/main">
              <a:ext uri="{FF2B5EF4-FFF2-40B4-BE49-F238E27FC236}">
                <a16:creationId xmlns:a16="http://schemas.microsoft.com/office/drawing/2014/main" id="{75D17C85-E5C6-4EAC-9D76-E9240F14F52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4E523BF-A96E-4D0C-BF2E-2B99C322903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BC4A923A-4A79-4234-8D75-58F2E0CBE2C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A175A882-2298-4034-AA4F-6C01BA48D91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0" name="">
            <a:extLst xmlns:a="http://schemas.openxmlformats.org/drawingml/2006/main">
              <a:ext uri="{FF2B5EF4-FFF2-40B4-BE49-F238E27FC236}">
                <a16:creationId xmlns:a16="http://schemas.microsoft.com/office/drawing/2014/main" id="{94AE98AB-1681-4FDA-8F9D-C71E712176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30</a:t>
            </a:r>
          </a:p>
        </p:txBody>
      </p:sp>
    </p:spTree>
    <p:extLst>
      <p:ext uri="{BB962C8B-B14F-4D97-AF65-F5344CB8AC3E}">
        <p14:creationId xmlns:p14="http://schemas.microsoft.com/office/powerpoint/2010/main" val="87296371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449E928-C87E-4F92-B17D-0CF6A7E32A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B4A005-0533-4894-A2C3-02844EB0AD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D6EF3FB-A020-490A-8FC8-31144E5B6F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continued</a:t>
            </a:r>
          </a:p>
        </p:txBody>
      </p:sp>
      <p:sp>
        <p:nvSpPr>
          <p:cNvPr id="4" name="">
            <a:extLst xmlns:a="http://schemas.openxmlformats.org/drawingml/2006/main">
              <a:ext uri="{FF2B5EF4-FFF2-40B4-BE49-F238E27FC236}">
                <a16:creationId xmlns:a16="http://schemas.microsoft.com/office/drawing/2014/main" id="{C6A881B8-DA21-419C-9612-88A0AECD8A6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D5353E-25BA-4B6F-BB77-7700D3A80F5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print(double_value(4))</a:t>
            </a:r>
          </a:p>
        </p:txBody>
      </p:sp>
      <p:sp>
        <p:nvSpPr>
          <p:cNvPr id="6" name="">
            <a:extLst xmlns:a="http://schemas.openxmlformats.org/drawingml/2006/main">
              <a:ext uri="{FF2B5EF4-FFF2-40B4-BE49-F238E27FC236}">
                <a16:creationId xmlns:a16="http://schemas.microsoft.com/office/drawing/2014/main" id="{63650A85-D40E-44FE-8FD5-8566EB9ABD6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44FD6A6-88BA-4513-AC36-7C48C391652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340D1591-E786-45EB-BB15-7BD0FF11A51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9" name="">
            <a:extLst xmlns:a="http://schemas.openxmlformats.org/drawingml/2006/main">
              <a:ext uri="{FF2B5EF4-FFF2-40B4-BE49-F238E27FC236}">
                <a16:creationId xmlns:a16="http://schemas.microsoft.com/office/drawing/2014/main" id="{F425F3EE-3D5C-4A47-8AD6-C8625DE882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31</a:t>
            </a:r>
          </a:p>
        </p:txBody>
      </p:sp>
    </p:spTree>
    <p:extLst>
      <p:ext uri="{BB962C8B-B14F-4D97-AF65-F5344CB8AC3E}">
        <p14:creationId xmlns:p14="http://schemas.microsoft.com/office/powerpoint/2010/main" val="132607685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D76085B-9C91-4AE1-8705-9AE056D65E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77C6908-68AA-4988-9412-9E22D6A563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3CD4886-A17E-435E-BCCD-77685481E7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Positional and named inputs</a:t>
            </a:r>
          </a:p>
        </p:txBody>
      </p:sp>
      <p:sp>
        <p:nvSpPr>
          <p:cNvPr id="4" name="">
            <a:extLst xmlns:a="http://schemas.openxmlformats.org/drawingml/2006/main">
              <a:ext uri="{FF2B5EF4-FFF2-40B4-BE49-F238E27FC236}">
                <a16:creationId xmlns:a16="http://schemas.microsoft.com/office/drawing/2014/main" id="{E7687A8B-C10D-4D91-B0DE-68029931521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0316C5-E8E0-464E-909E-7E29E192D0E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def</a:t>
            </a:r>
            <a:r>
              <a:rPr sz="2090" b="0">
                <a:solidFill>
                  <a:srgbClr val="F4F7FA"/>
                </a:solidFill>
                <a:latin typeface="Courier New"/>
                <a:ea typeface="Courier New"/>
                <a:cs typeface="Courier New"/>
              </a:rPr>
              <a:t> rectangle_area(length, width):</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a:t>
            </a:r>
            <a:r>
              <a:rPr sz="2090" b="0">
                <a:solidFill>
                  <a:srgbClr val="FFB080"/>
                </a:solidFill>
                <a:latin typeface="Courier New"/>
                <a:ea typeface="Courier New"/>
                <a:cs typeface="Courier New"/>
              </a:rPr>
              <a:t>return</a:t>
            </a:r>
            <a:r>
              <a:rPr sz="2090" b="0">
                <a:solidFill>
                  <a:srgbClr val="F4F7FA"/>
                </a:solidFill>
                <a:latin typeface="Courier New"/>
                <a:ea typeface="Courier New"/>
                <a:cs typeface="Courier New"/>
              </a:rPr>
              <a:t> length * width</a:t>
            </a:r>
          </a:p>
          <a:p xmlns:a="http://schemas.openxmlformats.org/drawingml/2006/main">
            <a:r>
              <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print(rectangle_area(3,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print(rectangle_area(width=2, length=3))</a:t>
            </a:r>
          </a:p>
        </p:txBody>
      </p:sp>
      <p:sp>
        <p:nvSpPr>
          <p:cNvPr id="6" name="">
            <a:extLst xmlns:a="http://schemas.openxmlformats.org/drawingml/2006/main">
              <a:ext uri="{FF2B5EF4-FFF2-40B4-BE49-F238E27FC236}">
                <a16:creationId xmlns:a16="http://schemas.microsoft.com/office/drawing/2014/main" id="{C497B394-0059-4727-A168-54E130576F2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73BD880-3A84-4807-BE7F-8C5E0574DA7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EF537AD8-0447-4C30-8255-3497E9DF9A4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051E0C62-9257-4C04-97E9-C43FAB7EC6C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7D69E7F8-70CB-4769-B87E-22D6561A75E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Both calls supply the same inputs. return makes the result reusable.</a:t>
            </a:r>
          </a:p>
        </p:txBody>
      </p:sp>
      <p:sp>
        <p:nvSpPr>
          <p:cNvPr id="11" name="">
            <a:extLst xmlns:a="http://schemas.openxmlformats.org/drawingml/2006/main">
              <a:ext uri="{FF2B5EF4-FFF2-40B4-BE49-F238E27FC236}">
                <a16:creationId xmlns:a16="http://schemas.microsoft.com/office/drawing/2014/main" id="{6ED71D48-ABAA-4A8C-8FB0-04E8FAC021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32</a:t>
            </a:r>
          </a:p>
        </p:txBody>
      </p:sp>
    </p:spTree>
    <p:extLst>
      <p:ext uri="{BB962C8B-B14F-4D97-AF65-F5344CB8AC3E}">
        <p14:creationId xmlns:p14="http://schemas.microsoft.com/office/powerpoint/2010/main" val="90520207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0E278FD-6260-4A4D-B1DB-5067CA016F6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5FB1DDD-5BB2-4E80-B639-FB37A3DF3E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32EF714-BFC1-441E-9A60-D4ED20B0AB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continued</a:t>
            </a:r>
          </a:p>
        </p:txBody>
      </p:sp>
      <p:sp>
        <p:nvSpPr>
          <p:cNvPr id="4" name="">
            <a:extLst xmlns:a="http://schemas.openxmlformats.org/drawingml/2006/main">
              <a:ext uri="{FF2B5EF4-FFF2-40B4-BE49-F238E27FC236}">
                <a16:creationId xmlns:a16="http://schemas.microsoft.com/office/drawing/2014/main" id="{644E0551-3579-4B99-B1E6-7CF30007187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1F42051-C3E9-4920-ABD0-658BB9FB8EB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safe_share(total, people):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people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total / people</a:t>
            </a:r>
          </a:p>
        </p:txBody>
      </p:sp>
      <p:sp>
        <p:nvSpPr>
          <p:cNvPr id="6" name="">
            <a:extLst xmlns:a="http://schemas.openxmlformats.org/drawingml/2006/main">
              <a:ext uri="{FF2B5EF4-FFF2-40B4-BE49-F238E27FC236}">
                <a16:creationId xmlns:a16="http://schemas.microsoft.com/office/drawing/2014/main" id="{75CFA4EE-EA23-45FC-B5FD-39FECEC3D9A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C7F2ECA-5633-4BC2-8708-6E07C3CBF85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F13A8E9F-A01F-4E32-ABD9-AF56D82D133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EF2AEBD8-0194-4358-B829-B6E974C7DD9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BDCEA923-B78A-41C1-A44F-E87E4731B24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A25AEDBD-647B-4EC0-8564-4BCAC8991F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33</a:t>
            </a:r>
          </a:p>
        </p:txBody>
      </p:sp>
    </p:spTree>
    <p:extLst>
      <p:ext uri="{BB962C8B-B14F-4D97-AF65-F5344CB8AC3E}">
        <p14:creationId xmlns:p14="http://schemas.microsoft.com/office/powerpoint/2010/main" val="148435437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8227D68-9D24-4A9E-A09E-303CB26F57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E84FC7-6829-4565-BE5B-F59874337E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607095A-B9BA-465F-A7E1-B55B804089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continued</a:t>
            </a:r>
          </a:p>
        </p:txBody>
      </p:sp>
      <p:sp>
        <p:nvSpPr>
          <p:cNvPr id="4" name="">
            <a:extLst xmlns:a="http://schemas.openxmlformats.org/drawingml/2006/main">
              <a:ext uri="{FF2B5EF4-FFF2-40B4-BE49-F238E27FC236}">
                <a16:creationId xmlns:a16="http://schemas.microsoft.com/office/drawing/2014/main" id="{51D92F04-E7B1-4BFB-8418-07B7D530AC4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7E0773-080A-48A4-AEEF-B571697515A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print(safe_share(12, 3))</a:t>
            </a:r>
          </a:p>
        </p:txBody>
      </p:sp>
      <p:sp>
        <p:nvSpPr>
          <p:cNvPr id="6" name="">
            <a:extLst xmlns:a="http://schemas.openxmlformats.org/drawingml/2006/main">
              <a:ext uri="{FF2B5EF4-FFF2-40B4-BE49-F238E27FC236}">
                <a16:creationId xmlns:a16="http://schemas.microsoft.com/office/drawing/2014/main" id="{F3528E6C-C597-4FE4-B1D5-C80EE676EBD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61E73BA-13E9-4651-B9D3-28BCB0C2676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946C0246-CE08-427F-AE30-29AB2AB00B9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9" name="">
            <a:extLst xmlns:a="http://schemas.openxmlformats.org/drawingml/2006/main">
              <a:ext uri="{FF2B5EF4-FFF2-40B4-BE49-F238E27FC236}">
                <a16:creationId xmlns:a16="http://schemas.microsoft.com/office/drawing/2014/main" id="{F3907128-5071-4870-884D-2F07843323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34</a:t>
            </a:r>
          </a:p>
        </p:txBody>
      </p:sp>
    </p:spTree>
    <p:extLst>
      <p:ext uri="{BB962C8B-B14F-4D97-AF65-F5344CB8AC3E}">
        <p14:creationId xmlns:p14="http://schemas.microsoft.com/office/powerpoint/2010/main" val="1124470108"/>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6EAAE20-F5F9-4583-BE21-1FBC9811555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1DD095A-5F40-4B19-A469-2A41166C8F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4E374D6D-83B6-4C94-A99F-40B86FF644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0EC517BA-5C2A-4FCA-A9E4-D0F980024A9B}"/>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67BA958-7A0B-43CC-893A-36AF7C9B5EC2}"/>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8</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4.0</a:t>
            </a:r>
          </a:p>
        </p:txBody>
      </p:sp>
      <p:sp>
        <p:nvSpPr>
          <p:cNvPr id="6" name="">
            <a:extLst xmlns:a="http://schemas.openxmlformats.org/drawingml/2006/main">
              <a:ext uri="{FF2B5EF4-FFF2-40B4-BE49-F238E27FC236}">
                <a16:creationId xmlns:a16="http://schemas.microsoft.com/office/drawing/2014/main" id="{D895205B-936D-4FE6-AAE6-A51369F4864A}"/>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DDD1DBAC-1A54-43FC-B020-0965EEA5D6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35</a:t>
            </a:r>
          </a:p>
        </p:txBody>
      </p:sp>
    </p:spTree>
    <p:extLst>
      <p:ext uri="{BB962C8B-B14F-4D97-AF65-F5344CB8AC3E}">
        <p14:creationId xmlns:p14="http://schemas.microsoft.com/office/powerpoint/2010/main" val="1542826624"/>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ACDA407-0B20-46F0-94D8-71D54CEF98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F58710-C776-4AFC-9B94-BCB06B4D93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F00B514-C81A-4D53-84BD-2BEEE23EE5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a:t>
            </a:r>
          </a:p>
        </p:txBody>
      </p:sp>
      <p:sp>
        <p:nvSpPr>
          <p:cNvPr id="4" name="">
            <a:extLst xmlns:a="http://schemas.openxmlformats.org/drawingml/2006/main">
              <a:ext uri="{FF2B5EF4-FFF2-40B4-BE49-F238E27FC236}">
                <a16:creationId xmlns:a16="http://schemas.microsoft.com/office/drawing/2014/main" id="{08C33519-1F87-478D-9C14-FD369674ADC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B357AB5-398E-4347-A5CE-CBF98B59168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from the top. &gt;= includes the boundary.</a:t>
            </a:r>
          </a:p>
        </p:txBody>
      </p:sp>
      <p:sp>
        <p:nvSpPr>
          <p:cNvPr id="6" name="">
            <a:extLst xmlns:a="http://schemas.openxmlformats.org/drawingml/2006/main">
              <a:ext uri="{FF2B5EF4-FFF2-40B4-BE49-F238E27FC236}">
                <a16:creationId xmlns:a16="http://schemas.microsoft.com/office/drawing/2014/main" id="{9AA5AAD2-2EF8-40BE-9B60-040B3668E87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5045142-9F35-470D-8CE9-80BADFFB231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the selected branch runs.</a:t>
            </a:r>
          </a:p>
        </p:txBody>
      </p:sp>
      <p:sp>
        <p:nvSpPr>
          <p:cNvPr id="8" name="">
            <a:extLst xmlns:a="http://schemas.openxmlformats.org/drawingml/2006/main">
              <a:ext uri="{FF2B5EF4-FFF2-40B4-BE49-F238E27FC236}">
                <a16:creationId xmlns:a16="http://schemas.microsoft.com/office/drawing/2014/main" id="{5BE2600D-90B1-474B-96F1-AC9BE982A5B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622EC2A-70FA-43A2-A604-1AD61DD7F4A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Try the value exactly at 10 as well as 9 and 11.</a:t>
            </a:r>
          </a:p>
        </p:txBody>
      </p:sp>
      <p:sp>
        <p:nvSpPr>
          <p:cNvPr id="10" name="">
            <a:extLst xmlns:a="http://schemas.openxmlformats.org/drawingml/2006/main">
              <a:ext uri="{FF2B5EF4-FFF2-40B4-BE49-F238E27FC236}">
                <a16:creationId xmlns:a16="http://schemas.microsoft.com/office/drawing/2014/main" id="{B1FFF02F-8144-4F61-9C2C-6CF7AE1E53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36</a:t>
            </a:r>
          </a:p>
        </p:txBody>
      </p:sp>
    </p:spTree>
    <p:extLst>
      <p:ext uri="{BB962C8B-B14F-4D97-AF65-F5344CB8AC3E}">
        <p14:creationId xmlns:p14="http://schemas.microsoft.com/office/powerpoint/2010/main" val="103361185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FF124FF-8C32-440D-9080-C932010B20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D64590-7564-4357-861A-BAD4679444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1D5C4FF-9CA0-4C54-BCDA-B89F66595B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 in Python</a:t>
            </a:r>
          </a:p>
        </p:txBody>
      </p:sp>
      <p:sp>
        <p:nvSpPr>
          <p:cNvPr id="4" name="">
            <a:extLst xmlns:a="http://schemas.openxmlformats.org/drawingml/2006/main">
              <a:ext uri="{FF2B5EF4-FFF2-40B4-BE49-F238E27FC236}">
                <a16:creationId xmlns:a16="http://schemas.microsoft.com/office/drawing/2014/main" id="{D7D569DE-E900-4CF1-BEF0-E8678DF5A08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E457788-EC72-4CF4-935B-FE4C4651489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check_level(value):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"high"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"low"</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print(check_level(9))</a:t>
            </a:r>
          </a:p>
        </p:txBody>
      </p:sp>
      <p:sp>
        <p:nvSpPr>
          <p:cNvPr id="6" name="">
            <a:extLst xmlns:a="http://schemas.openxmlformats.org/drawingml/2006/main">
              <a:ext uri="{FF2B5EF4-FFF2-40B4-BE49-F238E27FC236}">
                <a16:creationId xmlns:a16="http://schemas.microsoft.com/office/drawing/2014/main" id="{8530A9FD-0CA6-42B9-BD75-8C17EECF31B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4462EE7-5AB3-4893-9B21-96FF387BE84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552F5100-88B4-43D1-8EC7-1BF924531DC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7B497473-6A8D-4A6D-9217-0F48DAA28D4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F6B425AE-0932-4D27-8EEB-4EEEC2ED1BA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211D0E74-4173-46A1-A572-C8CC47EEF8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37</a:t>
            </a:r>
          </a:p>
        </p:txBody>
      </p:sp>
    </p:spTree>
    <p:extLst>
      <p:ext uri="{BB962C8B-B14F-4D97-AF65-F5344CB8AC3E}">
        <p14:creationId xmlns:p14="http://schemas.microsoft.com/office/powerpoint/2010/main" val="730661531"/>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4D43190-A51F-42CA-AF7A-A9D84BE372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59F039-33F9-4FE7-B0E3-64C4BB0CD6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1B3E273-ABD4-487E-AB54-2E1D0EDD0C9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a:t>
            </a:r>
          </a:p>
        </p:txBody>
      </p:sp>
      <p:sp>
        <p:nvSpPr>
          <p:cNvPr id="4" name="">
            <a:extLst xmlns:a="http://schemas.openxmlformats.org/drawingml/2006/main">
              <a:ext uri="{FF2B5EF4-FFF2-40B4-BE49-F238E27FC236}">
                <a16:creationId xmlns:a16="http://schemas.microsoft.com/office/drawing/2014/main" id="{BDEF872B-1AF2-455A-B5AB-665E43680EE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090F5CF-CE5B-413C-A517-C230E5888FA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AD177D9-E196-48C7-B8E2-CC832D282E4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list holds several values. abs removes the sign when measuring the SIZE of an error. max returns the largest supplied value.</a:t>
            </a:r>
          </a:p>
        </p:txBody>
      </p:sp>
      <p:sp>
        <p:nvSpPr>
          <p:cNvPr id="7" name="">
            <a:extLst xmlns:a="http://schemas.openxmlformats.org/drawingml/2006/main">
              <a:ext uri="{FF2B5EF4-FFF2-40B4-BE49-F238E27FC236}">
                <a16:creationId xmlns:a16="http://schemas.microsoft.com/office/drawing/2014/main" id="{5D202693-BA41-4DAD-AE17-C72330B3F1C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the original signed error when the task asks for direction.</a:t>
            </a:r>
          </a:p>
        </p:txBody>
      </p:sp>
      <p:sp>
        <p:nvSpPr>
          <p:cNvPr id="8" name="">
            <a:extLst xmlns:a="http://schemas.openxmlformats.org/drawingml/2006/main">
              <a:ext uri="{FF2B5EF4-FFF2-40B4-BE49-F238E27FC236}">
                <a16:creationId xmlns:a16="http://schemas.microsoft.com/office/drawing/2014/main" id="{2DE6F48E-062A-4567-9D65-3727101B68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38</a:t>
            </a:r>
          </a:p>
        </p:txBody>
      </p:sp>
    </p:spTree>
    <p:extLst>
      <p:ext uri="{BB962C8B-B14F-4D97-AF65-F5344CB8AC3E}">
        <p14:creationId xmlns:p14="http://schemas.microsoft.com/office/powerpoint/2010/main" val="195192635"/>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226E8E6-7B88-4139-BDD9-1EFA7DA766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8C0CCA-F4EA-4179-8482-7C85915023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075E2BE4-A633-4AAB-8988-138E232281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short list</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Value</a:t>
                      </a:r>
                    </a:p>
                  </a:txBody>
                  <a:tcPr marL="91440" marR="91440" marT="45720" marB="45720">
                    <a:solidFill>
                      <a:srgbClr val="2E7D6F"/>
                    </a:solidFill>
                  </a:tcPr>
                </a:tc>
                <a:tc>
                  <a:txBody>
                    <a:bodyPr/>
                    <a:lstStyle/>
                    <a:p>
                      <a:r>
                        <a:rPr sz="2025" b="1">
                          <a:solidFill>
                            <a:srgbClr val="FFFFFF"/>
                          </a:solidFill>
                          <a:latin typeface="Calibri"/>
                          <a:ea typeface="Calibri"/>
                          <a:cs typeface="Calibri"/>
                        </a:rPr>
                        <a:t>Why</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errors = [-2, 5, -8]</a:t>
                      </a:r>
                    </a:p>
                  </a:txBody>
                  <a:tcPr marL="91440" marR="91440" marT="45720" marB="45720">
                    <a:solidFill>
                      <a:srgbClr val="EEF3F6"/>
                    </a:solidFill>
                  </a:tcPr>
                </a:tc>
                <a:tc>
                  <a:txBody>
                    <a:bodyPr/>
                    <a:lstStyle/>
                    <a:p>
                      <a:r>
                        <a:rPr sz="2025" b="0">
                          <a:solidFill>
                            <a:srgbClr val="1C3144"/>
                          </a:solidFill>
                          <a:latin typeface="Calibri"/>
                          <a:ea typeface="Calibri"/>
                          <a:cs typeface="Calibri"/>
                        </a:rPr>
                        <a:t>Three signed errors</a:t>
                      </a:r>
                    </a:p>
                  </a:txBody>
                  <a:tcPr marL="91440" marR="91440" marT="45720" marB="45720">
                    <a:solidFill>
                      <a:srgbClr val="EEF3F6"/>
                    </a:solidFill>
                  </a:tcPr>
                </a:tc>
                <a:tc>
                  <a:txBody>
                    <a:bodyPr/>
                    <a:lstStyle/>
                    <a:p>
                      <a:r>
                        <a:rPr sz="2025" b="0">
                          <a:solidFill>
                            <a:srgbClr val="1C3144"/>
                          </a:solidFill>
                          <a:latin typeface="Calibri"/>
                          <a:ea typeface="Calibri"/>
                          <a:cs typeface="Calibri"/>
                        </a:rPr>
                        <a:t>Brackets hold the list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errors[0]</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Positions start at zero</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abs(errors[2])</a:t>
                      </a:r>
                    </a:p>
                  </a:txBody>
                  <a:tcPr marL="91440" marR="91440" marT="45720" marB="45720">
                    <a:solidFill>
                      <a:srgbClr val="EEF3F6"/>
                    </a:solidFill>
                  </a:tcPr>
                </a:tc>
                <a:tc>
                  <a:txBody>
                    <a:bodyPr/>
                    <a:lstStyle/>
                    <a:p>
                      <a:r>
                        <a:rPr sz="2025" b="0">
                          <a:solidFill>
                            <a:srgbClr val="1C3144"/>
                          </a:solidFill>
                          <a:latin typeface="Calibri"/>
                          <a:ea typeface="Calibri"/>
                          <a:cs typeface="Calibri"/>
                        </a:rPr>
                        <a:t>8</a:t>
                      </a:r>
                    </a:p>
                  </a:txBody>
                  <a:tcPr marL="91440" marR="91440" marT="45720" marB="45720">
                    <a:solidFill>
                      <a:srgbClr val="EEF3F6"/>
                    </a:solidFill>
                  </a:tcPr>
                </a:tc>
                <a:tc>
                  <a:txBody>
                    <a:bodyPr/>
                    <a:lstStyle/>
                    <a:p>
                      <a:r>
                        <a:rPr sz="2025" b="0">
                          <a:solidFill>
                            <a:srgbClr val="1C3144"/>
                          </a:solidFill>
                          <a:latin typeface="Calibri"/>
                          <a:ea typeface="Calibri"/>
                          <a:cs typeface="Calibri"/>
                        </a:rPr>
                        <a:t>abs gives the size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max(2, 5, 8)</a:t>
                      </a:r>
                    </a:p>
                  </a:txBody>
                  <a:tcPr marL="91440" marR="91440" marT="45720" marB="45720">
                    <a:solidFill>
                      <a:srgbClr val="FFFFFF"/>
                    </a:solidFill>
                  </a:tcPr>
                </a:tc>
                <a:tc>
                  <a:txBody>
                    <a:bodyPr/>
                    <a:lstStyle/>
                    <a:p>
                      <a:r>
                        <a:rPr sz="2025" b="0">
                          <a:solidFill>
                            <a:srgbClr val="1C3144"/>
                          </a:solidFill>
                          <a:latin typeface="Calibri"/>
                          <a:ea typeface="Calibri"/>
                          <a:cs typeface="Calibri"/>
                        </a:rPr>
                        <a:t>8</a:t>
                      </a:r>
                    </a:p>
                  </a:txBody>
                  <a:tcPr marL="91440" marR="91440" marT="45720" marB="45720">
                    <a:solidFill>
                      <a:srgbClr val="FFFFFF"/>
                    </a:solidFill>
                  </a:tcPr>
                </a:tc>
                <a:tc>
                  <a:txBody>
                    <a:bodyPr/>
                    <a:lstStyle/>
                    <a:p>
                      <a:r>
                        <a:rPr sz="2025" b="0">
                          <a:solidFill>
                            <a:srgbClr val="1C3144"/>
                          </a:solidFill>
                          <a:latin typeface="Calibri"/>
                          <a:ea typeface="Calibri"/>
                          <a:cs typeface="Calibri"/>
                        </a:rPr>
                        <a:t>max selects the largest</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6308AB2-E09B-4A58-B606-0C8AB967E89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bracketed number is a position. It is not the value stored there.</a:t>
            </a:r>
          </a:p>
        </p:txBody>
      </p:sp>
      <p:sp>
        <p:nvSpPr>
          <p:cNvPr id="6" name="">
            <a:extLst xmlns:a="http://schemas.openxmlformats.org/drawingml/2006/main">
              <a:ext uri="{FF2B5EF4-FFF2-40B4-BE49-F238E27FC236}">
                <a16:creationId xmlns:a16="http://schemas.microsoft.com/office/drawing/2014/main" id="{58E99B11-A0D8-42F5-964F-021E26AB85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39</a:t>
            </a:r>
          </a:p>
        </p:txBody>
      </p:sp>
    </p:spTree>
    <p:extLst>
      <p:ext uri="{BB962C8B-B14F-4D97-AF65-F5344CB8AC3E}">
        <p14:creationId xmlns:p14="http://schemas.microsoft.com/office/powerpoint/2010/main" val="1997201837"/>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340896E-0425-4D78-8A14-F3BB48E082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94E7DEC-7C4E-4CF8-9C5C-9162EFCB03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344A4BD-2B5A-4A5A-AF05-FDAFD73C56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 in Python</a:t>
            </a:r>
          </a:p>
        </p:txBody>
      </p:sp>
      <p:sp>
        <p:nvSpPr>
          <p:cNvPr id="4" name="">
            <a:extLst xmlns:a="http://schemas.openxmlformats.org/drawingml/2006/main">
              <a:ext uri="{FF2B5EF4-FFF2-40B4-BE49-F238E27FC236}">
                <a16:creationId xmlns:a16="http://schemas.microsoft.com/office/drawing/2014/main" id="{BE77E590-F93E-488F-A3E8-7E4EBE78DC0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E5552B9-AA5A-41F6-AEF1-DECF206296A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errors = [-2, 5, -8]</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largest = max(abs(errors[0]), abs(errors[1]), abs(errors[2]))</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print(largest)</a:t>
            </a:r>
          </a:p>
        </p:txBody>
      </p:sp>
      <p:sp>
        <p:nvSpPr>
          <p:cNvPr id="6" name="">
            <a:extLst xmlns:a="http://schemas.openxmlformats.org/drawingml/2006/main">
              <a:ext uri="{FF2B5EF4-FFF2-40B4-BE49-F238E27FC236}">
                <a16:creationId xmlns:a16="http://schemas.microsoft.com/office/drawing/2014/main" id="{E4C302BA-F157-4B6E-B529-5837F020001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B3B09E53-1BA3-43A6-863A-FAB0F436F1A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DA04D3B6-8782-4CA4-AE83-2F4060E6E5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40</a:t>
            </a:r>
          </a:p>
        </p:txBody>
      </p:sp>
    </p:spTree>
    <p:extLst>
      <p:ext uri="{BB962C8B-B14F-4D97-AF65-F5344CB8AC3E}">
        <p14:creationId xmlns:p14="http://schemas.microsoft.com/office/powerpoint/2010/main" val="173861355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762BE7F-B150-4BF8-A696-16CBCA0F45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20006F-E800-4B87-8C84-F9D039E182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54C238A-A4FF-4664-9FE1-5809704873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the reading beside its signed error</a:t>
            </a:r>
          </a:p>
        </p:txBody>
      </p:sp>
      <p:sp>
        <p:nvSpPr>
          <p:cNvPr id="4" name="">
            <a:extLst xmlns:a="http://schemas.openxmlformats.org/drawingml/2006/main">
              <a:ext uri="{FF2B5EF4-FFF2-40B4-BE49-F238E27FC236}">
                <a16:creationId xmlns:a16="http://schemas.microsoft.com/office/drawing/2014/main" id="{FACFDE42-4009-441E-9890-53C44F45E56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71DA69-8DF2-4546-A2B7-61E69A70E9A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591F8F5-137E-4C7C-B073-877094E8E94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These paired lists use the same positions: the first error belongs to the first reading. The sign tells the direction; abs gives only the size.</a:t>
            </a:r>
          </a:p>
        </p:txBody>
      </p:sp>
      <p:sp>
        <p:nvSpPr>
          <p:cNvPr id="7" name="">
            <a:extLst xmlns:a="http://schemas.openxmlformats.org/drawingml/2006/main">
              <a:ext uri="{FF2B5EF4-FFF2-40B4-BE49-F238E27FC236}">
                <a16:creationId xmlns:a16="http://schemas.microsoft.com/office/drawing/2014/main" id="{2DF12618-2856-417F-AEBA-6766AC2A5FC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index(value) finds the first position containing that value. Use that position in the original lists. An exact tie selects the first here; follow the issued task’s rule.</a:t>
            </a:r>
          </a:p>
        </p:txBody>
      </p:sp>
      <p:sp>
        <p:nvSpPr>
          <p:cNvPr id="8" name="">
            <a:extLst xmlns:a="http://schemas.openxmlformats.org/drawingml/2006/main">
              <a:ext uri="{FF2B5EF4-FFF2-40B4-BE49-F238E27FC236}">
                <a16:creationId xmlns:a16="http://schemas.microsoft.com/office/drawing/2014/main" id="{AFEF26B6-0678-4A11-9D7B-DFB1099F3B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41</a:t>
            </a:r>
          </a:p>
        </p:txBody>
      </p:sp>
    </p:spTree>
    <p:extLst>
      <p:ext uri="{BB962C8B-B14F-4D97-AF65-F5344CB8AC3E}">
        <p14:creationId xmlns:p14="http://schemas.microsoft.com/office/powerpoint/2010/main" val="100317295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9C7A2F5-6C5C-4ADF-BEDA-766708BD93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95C56E-B720-4C40-A047-289265E018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E69E807-5626-4B23-A61D-F2F4809C0E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a position, then recover the original values</a:t>
            </a:r>
          </a:p>
        </p:txBody>
      </p:sp>
      <p:sp>
        <p:nvSpPr>
          <p:cNvPr id="4" name="">
            <a:extLst xmlns:a="http://schemas.openxmlformats.org/drawingml/2006/main">
              <a:ext uri="{FF2B5EF4-FFF2-40B4-BE49-F238E27FC236}">
                <a16:creationId xmlns:a16="http://schemas.microsoft.com/office/drawing/2014/main" id="{2DE67353-5AF9-4370-BF5D-3618AC2CECA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8E8651D-C83E-45D4-A6C8-3979151DD65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errors = [-2, 5,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sizes = [abs(errors[0]), abs(errors[1]), abs(errors[2])]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position = sizes.index(max(sizes))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print(readings[position], errors[position])</a:t>
            </a:r>
          </a:p>
        </p:txBody>
      </p:sp>
      <p:sp>
        <p:nvSpPr>
          <p:cNvPr id="6" name="">
            <a:extLst xmlns:a="http://schemas.openxmlformats.org/drawingml/2006/main">
              <a:ext uri="{FF2B5EF4-FFF2-40B4-BE49-F238E27FC236}">
                <a16:creationId xmlns:a16="http://schemas.microsoft.com/office/drawing/2014/main" id="{95972BAA-A770-4B4E-9F79-D5BB9A2B01A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F7542EB3-66C8-4CD9-B922-07FC4BA7556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92 -8. The largest size is 8; the signed error is -8.</a:t>
            </a:r>
          </a:p>
        </p:txBody>
      </p:sp>
      <p:sp>
        <p:nvSpPr>
          <p:cNvPr id="8" name="">
            <a:extLst xmlns:a="http://schemas.openxmlformats.org/drawingml/2006/main">
              <a:ext uri="{FF2B5EF4-FFF2-40B4-BE49-F238E27FC236}">
                <a16:creationId xmlns:a16="http://schemas.microsoft.com/office/drawing/2014/main" id="{2A5C497E-0CA0-4B39-940E-976CA36A096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42</a:t>
            </a:r>
          </a:p>
        </p:txBody>
      </p:sp>
    </p:spTree>
    <p:extLst>
      <p:ext uri="{BB962C8B-B14F-4D97-AF65-F5344CB8AC3E}">
        <p14:creationId xmlns:p14="http://schemas.microsoft.com/office/powerpoint/2010/main" val="1729162358"/>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D21342C-5F3A-4132-860D-01E16D2DCB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794307-C188-4F55-930F-4267904230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73A6A884-263E-40D2-9FF2-90341FD2B2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the function</a:t>
            </a:r>
          </a:p>
        </p:txBody>
      </p:sp>
      <p:sp>
        <p:nvSpPr>
          <p:cNvPr id="4" name="">
            <a:extLst xmlns:a="http://schemas.openxmlformats.org/drawingml/2006/main">
              <a:ext uri="{FF2B5EF4-FFF2-40B4-BE49-F238E27FC236}">
                <a16:creationId xmlns:a16="http://schemas.microsoft.com/office/drawing/2014/main" id="{698A66A1-1905-4F73-A55D-AC868F0B0EB0}"/>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9743207-6A56-40C2-A28A-70B4E166C9CA}"/>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One partner supplies the input 4.</a:t>
            </a:r>
          </a:p>
        </p:txBody>
      </p:sp>
      <p:sp>
        <p:nvSpPr>
          <p:cNvPr id="6" name="">
            <a:extLst xmlns:a="http://schemas.openxmlformats.org/drawingml/2006/main">
              <a:ext uri="{FF2B5EF4-FFF2-40B4-BE49-F238E27FC236}">
                <a16:creationId xmlns:a16="http://schemas.microsoft.com/office/drawing/2014/main" id="{91D62A7F-FE23-4917-A96A-BD43303DD368}"/>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EF0BF41-B523-42E9-B601-9B3EE6DA8495}"/>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other follows the rule: multiply the input by 2.</a:t>
            </a:r>
          </a:p>
        </p:txBody>
      </p:sp>
      <p:sp>
        <p:nvSpPr>
          <p:cNvPr id="8" name="">
            <a:extLst xmlns:a="http://schemas.openxmlformats.org/drawingml/2006/main">
              <a:ext uri="{FF2B5EF4-FFF2-40B4-BE49-F238E27FC236}">
                <a16:creationId xmlns:a16="http://schemas.microsoft.com/office/drawing/2014/main" id="{FFBFF8D9-0BE4-4BA5-A3B2-A2785D2BC914}"/>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0075177-FD4D-4407-B289-0746DFC6E514}"/>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the answer on paper, then repeat with input 7.</a:t>
            </a:r>
          </a:p>
        </p:txBody>
      </p:sp>
      <p:sp>
        <p:nvSpPr>
          <p:cNvPr id="10" name="">
            <a:extLst xmlns:a="http://schemas.openxmlformats.org/drawingml/2006/main">
              <a:ext uri="{FF2B5EF4-FFF2-40B4-BE49-F238E27FC236}">
                <a16:creationId xmlns:a16="http://schemas.microsoft.com/office/drawing/2014/main" id="{D9CEF5EB-0BD0-408D-9197-307A18F71972}"/>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FB5305F-7395-49D1-88CA-54A82CA81B92}"/>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11EBE146-5942-4F63-AD8A-8020B42A68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43</a:t>
            </a:r>
          </a:p>
        </p:txBody>
      </p:sp>
    </p:spTree>
    <p:extLst>
      <p:ext uri="{BB962C8B-B14F-4D97-AF65-F5344CB8AC3E}">
        <p14:creationId xmlns:p14="http://schemas.microsoft.com/office/powerpoint/2010/main" val="1735865718"/>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78EBFAF-FD27-4FA8-9C93-1D551FB3D1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7DBF784-EA4D-446B-BDDA-CC774E946F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E72ED8E4-FECA-455A-B2B0-E0FC6AC16F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362109BB-9D9C-4E82-9A07-9D065239CB47}"/>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177E976-9A25-4698-9312-96CB2BEACACD}"/>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The returned answers are 8 and 14. The same instructions accept different inputs.</a:t>
            </a:r>
          </a:p>
        </p:txBody>
      </p:sp>
      <p:sp>
        <p:nvSpPr>
          <p:cNvPr id="6" name="">
            <a:extLst xmlns:a="http://schemas.openxmlformats.org/drawingml/2006/main">
              <a:ext uri="{FF2B5EF4-FFF2-40B4-BE49-F238E27FC236}">
                <a16:creationId xmlns:a16="http://schemas.microsoft.com/office/drawing/2014/main" id="{69CB9D0C-079D-4FF6-96EA-6E2AC3538B8F}"/>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06D3A76F-F2B7-4FAC-A547-8F4DA8051D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44</a:t>
            </a:r>
          </a:p>
        </p:txBody>
      </p:sp>
    </p:spTree>
    <p:extLst>
      <p:ext uri="{BB962C8B-B14F-4D97-AF65-F5344CB8AC3E}">
        <p14:creationId xmlns:p14="http://schemas.microsoft.com/office/powerpoint/2010/main" val="910132076"/>
      </p:ext>
    </p:extLst>
  </p:cSld>
</p:sld>
</file>

<file path=ppt/slides/slide4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65ED59E-AE8B-45D6-965F-FBB0E5A5F8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34B6F689-FAD6-4FF7-A679-4E53F01A2B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D79DBE89-3E8D-4933-82E1-C853D133CC7C}"/>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2939BAE5-AEF8-4F72-A94E-532EAC2B045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Write triple_value(x). Predict triple_value(5). Then predict safe_share(12, 0).</a:t>
            </a:r>
          </a:p>
        </p:txBody>
      </p:sp>
      <p:sp>
        <p:nvSpPr>
          <p:cNvPr id="5" name="">
            <a:extLst xmlns:a="http://schemas.openxmlformats.org/drawingml/2006/main">
              <a:ext uri="{FF2B5EF4-FFF2-40B4-BE49-F238E27FC236}">
                <a16:creationId xmlns:a16="http://schemas.microsoft.com/office/drawing/2014/main" id="{0BB2BB6F-9C08-4E98-ADDA-A0C6A56612B0}"/>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93F122FC-5331-47A3-9E64-471966EF66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3   45</a:t>
            </a:r>
          </a:p>
        </p:txBody>
      </p:sp>
    </p:spTree>
    <p:extLst>
      <p:ext uri="{BB962C8B-B14F-4D97-AF65-F5344CB8AC3E}">
        <p14:creationId xmlns:p14="http://schemas.microsoft.com/office/powerpoint/2010/main" val="123481169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4153FF0-8B90-4C46-8B09-059466DD2A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8C0FCC-2FB9-47DC-A096-30EDCA66A6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AC954D9C-7C35-49B9-B0A0-0F8C0EBB80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E8C189C8-2B63-4FED-938D-A9E5E9F7EA76}"/>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A9666E-FCF9-421A-B90F-A98A7A9CDB5A}"/>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triple_value returns x * 3. The calls give 15 and None respectively. The guard returns before division when people is zero.</a:t>
            </a:r>
          </a:p>
        </p:txBody>
      </p:sp>
      <p:sp>
        <p:nvSpPr>
          <p:cNvPr id="6" name="">
            <a:extLst xmlns:a="http://schemas.openxmlformats.org/drawingml/2006/main">
              <a:ext uri="{FF2B5EF4-FFF2-40B4-BE49-F238E27FC236}">
                <a16:creationId xmlns:a16="http://schemas.microsoft.com/office/drawing/2014/main" id="{2AD70CC9-D546-45A9-AC0B-3263F702EBA5}"/>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01434250-AB61-4536-AB66-3FD5A4340A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46</a:t>
            </a:r>
          </a:p>
        </p:txBody>
      </p:sp>
    </p:spTree>
    <p:extLst>
      <p:ext uri="{BB962C8B-B14F-4D97-AF65-F5344CB8AC3E}">
        <p14:creationId xmlns:p14="http://schemas.microsoft.com/office/powerpoint/2010/main" val="1849649186"/>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F6D0036-4713-4EA9-8C50-15F6F3302E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FAD088E-C540-4D37-A5F9-D1CFBB0A68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09E03D8-1983-47C6-8FE0-7982363AFF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before the formulas</a:t>
            </a:r>
          </a:p>
        </p:txBody>
      </p:sp>
      <p:sp>
        <p:nvSpPr>
          <p:cNvPr id="4" name="">
            <a:extLst xmlns:a="http://schemas.openxmlformats.org/drawingml/2006/main">
              <a:ext uri="{FF2B5EF4-FFF2-40B4-BE49-F238E27FC236}">
                <a16:creationId xmlns:a16="http://schemas.microsoft.com/office/drawing/2014/main" id="{F6138B6E-EB35-43B9-979C-CFA32999FC9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BD0B75F-1978-4279-9046-0AE68E872FC6}"/>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Mass measures matter in kg. Weight is a force in newtons (N): mass × gravitational acceleration. Here g = 9.81 m/s².</a:t>
            </a:r>
          </a:p>
        </p:txBody>
      </p:sp>
      <p:sp>
        <p:nvSpPr>
          <p:cNvPr id="6" name="">
            <a:extLst xmlns:a="http://schemas.openxmlformats.org/drawingml/2006/main">
              <a:ext uri="{FF2B5EF4-FFF2-40B4-BE49-F238E27FC236}">
                <a16:creationId xmlns:a16="http://schemas.microsoft.com/office/drawing/2014/main" id="{5F1E1E2E-FBAF-4B26-BBE6-5DC928B63A8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A8132E1-187C-46F2-B535-5F120EBA36E0}"/>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is a rate of energy transfer, measured in watts (W). Efficiency compares useful output power with input power.</a:t>
            </a:r>
          </a:p>
        </p:txBody>
      </p:sp>
      <p:sp>
        <p:nvSpPr>
          <p:cNvPr id="8" name="">
            <a:extLst xmlns:a="http://schemas.openxmlformats.org/drawingml/2006/main">
              <a:ext uri="{FF2B5EF4-FFF2-40B4-BE49-F238E27FC236}">
                <a16:creationId xmlns:a16="http://schemas.microsoft.com/office/drawing/2014/main" id="{AE040C44-C8DA-41F2-A8AE-C2F2681D5D8E}"/>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7C92936-679C-4716-AD71-6DEFB89B5FF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rpm means revolutions per minute. One revolution is 2π radians; one minute is 60 seconds. π is approximately 3.14159.</a:t>
            </a:r>
          </a:p>
        </p:txBody>
      </p:sp>
      <p:sp>
        <p:nvSpPr>
          <p:cNvPr id="10" name="">
            <a:extLst xmlns:a="http://schemas.openxmlformats.org/drawingml/2006/main">
              <a:ext uri="{FF2B5EF4-FFF2-40B4-BE49-F238E27FC236}">
                <a16:creationId xmlns:a16="http://schemas.microsoft.com/office/drawing/2014/main" id="{2E913194-8D50-4A30-A4A8-BDBB0C2C321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7559F9D-867E-41F9-A375-043A89E5BE4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named constant is a value kept fixed for a calculation. Uppercase names such as PI are a convention; Python does not prevent changing them.</a:t>
            </a:r>
          </a:p>
        </p:txBody>
      </p:sp>
      <p:sp>
        <p:nvSpPr>
          <p:cNvPr id="12" name="">
            <a:extLst xmlns:a="http://schemas.openxmlformats.org/drawingml/2006/main">
              <a:ext uri="{FF2B5EF4-FFF2-40B4-BE49-F238E27FC236}">
                <a16:creationId xmlns:a16="http://schemas.microsoft.com/office/drawing/2014/main" id="{FD6F7474-753F-4B1F-9E38-3278BEE2A9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47</a:t>
            </a:r>
          </a:p>
        </p:txBody>
      </p:sp>
    </p:spTree>
    <p:extLst>
      <p:ext uri="{BB962C8B-B14F-4D97-AF65-F5344CB8AC3E}">
        <p14:creationId xmlns:p14="http://schemas.microsoft.com/office/powerpoint/2010/main" val="422130044"/>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E8A556B-A5CC-4E5C-B1D4-CDEF64FCA9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48D0FBE-85D6-45B3-9A2A-6427DAD9DF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5BAF1EE-8315-4B24-B8CA-00C2D8D2A2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Quantities and units</a:t>
            </a:r>
          </a:p>
        </p:txBody>
      </p:sp>
      <p:sp>
        <p:nvSpPr>
          <p:cNvPr id="4" name="">
            <a:extLst xmlns:a="http://schemas.openxmlformats.org/drawingml/2006/main">
              <a:ext uri="{FF2B5EF4-FFF2-40B4-BE49-F238E27FC236}">
                <a16:creationId xmlns:a16="http://schemas.microsoft.com/office/drawing/2014/main" id="{EEF17B24-BCB7-448B-B800-FF7794D7BBA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E943374-D03B-493B-AB64-ADBF69D2043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Weight = mass × gravitational acceleration. Use g = 9.81 m/s² in the task.</a:t>
            </a:r>
          </a:p>
        </p:txBody>
      </p:sp>
      <p:sp>
        <p:nvSpPr>
          <p:cNvPr id="6" name="">
            <a:extLst xmlns:a="http://schemas.openxmlformats.org/drawingml/2006/main">
              <a:ext uri="{FF2B5EF4-FFF2-40B4-BE49-F238E27FC236}">
                <a16:creationId xmlns:a16="http://schemas.microsoft.com/office/drawing/2014/main" id="{3F7F1BDD-7347-439E-960A-7F8332BB9410}"/>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C97313C-C7FF-47F5-ACFB-00565DE81E93}"/>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Signed percentage error = 100 × (measured − expected) / expected, for a nonzero expected value.</a:t>
            </a:r>
          </a:p>
        </p:txBody>
      </p:sp>
      <p:sp>
        <p:nvSpPr>
          <p:cNvPr id="8" name="">
            <a:extLst xmlns:a="http://schemas.openxmlformats.org/drawingml/2006/main">
              <a:ext uri="{FF2B5EF4-FFF2-40B4-BE49-F238E27FC236}">
                <a16:creationId xmlns:a16="http://schemas.microsoft.com/office/drawing/2014/main" id="{4ED54360-18F5-48DE-9DB1-D298DDA3409D}"/>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D472F81-9C9D-4C16-9F91-D257037F8DC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Efficiency (%) = 100 × output power / input power.</a:t>
            </a:r>
          </a:p>
        </p:txBody>
      </p:sp>
      <p:sp>
        <p:nvSpPr>
          <p:cNvPr id="10" name="">
            <a:extLst xmlns:a="http://schemas.openxmlformats.org/drawingml/2006/main">
              <a:ext uri="{FF2B5EF4-FFF2-40B4-BE49-F238E27FC236}">
                <a16:creationId xmlns:a16="http://schemas.microsoft.com/office/drawing/2014/main" id="{3C7724B7-5000-4BAC-90A9-E193DFBAB172}"/>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2DB0A97-755F-4DCD-97B8-D246A41F6437}"/>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assignment returns None when input power is zero or negative.</a:t>
            </a:r>
          </a:p>
        </p:txBody>
      </p:sp>
      <p:sp>
        <p:nvSpPr>
          <p:cNvPr id="12" name="">
            <a:extLst xmlns:a="http://schemas.openxmlformats.org/drawingml/2006/main">
              <a:ext uri="{FF2B5EF4-FFF2-40B4-BE49-F238E27FC236}">
                <a16:creationId xmlns:a16="http://schemas.microsoft.com/office/drawing/2014/main" id="{90952889-4EF1-4BB4-8AB1-E7448BA8AE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48</a:t>
            </a:r>
          </a:p>
        </p:txBody>
      </p:sp>
    </p:spTree>
    <p:extLst>
      <p:ext uri="{BB962C8B-B14F-4D97-AF65-F5344CB8AC3E}">
        <p14:creationId xmlns:p14="http://schemas.microsoft.com/office/powerpoint/2010/main" val="1874660912"/>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DB28783-EE6E-46A3-B246-2C80A2AA77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667F6A-0001-4D28-9CBA-5D751E2072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7EC1CF8-6536-48B1-84D4-E8521C2936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programme formula</a:t>
            </a:r>
          </a:p>
        </p:txBody>
      </p:sp>
      <p:sp>
        <p:nvSpPr>
          <p:cNvPr id="4" name="">
            <a:extLst xmlns:a="http://schemas.openxmlformats.org/drawingml/2006/main">
              <a:ext uri="{FF2B5EF4-FFF2-40B4-BE49-F238E27FC236}">
                <a16:creationId xmlns:a16="http://schemas.microsoft.com/office/drawing/2014/main" id="{14E445D9-824F-4246-908A-7D7D38C1DE9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277F80D-5518-4580-BC9D-40063BC15B62}"/>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Hydrostatic pressure (kPa) = density (kg/m³) × 9.81 (m/s²) × depth (m) / 1000.</a:t>
            </a:r>
          </a:p>
        </p:txBody>
      </p:sp>
      <p:sp>
        <p:nvSpPr>
          <p:cNvPr id="6" name="">
            <a:extLst xmlns:a="http://schemas.openxmlformats.org/drawingml/2006/main">
              <a:ext uri="{FF2B5EF4-FFF2-40B4-BE49-F238E27FC236}">
                <a16:creationId xmlns:a16="http://schemas.microsoft.com/office/drawing/2014/main" id="{BB5DF5E1-2CE7-4428-84E5-3821A5874DA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is the pressure contribution of the fluid column.</a:t>
            </a:r>
          </a:p>
        </p:txBody>
      </p:sp>
      <p:sp>
        <p:nvSpPr>
          <p:cNvPr id="7" name="">
            <a:extLst xmlns:a="http://schemas.openxmlformats.org/drawingml/2006/main">
              <a:ext uri="{FF2B5EF4-FFF2-40B4-BE49-F238E27FC236}">
                <a16:creationId xmlns:a16="http://schemas.microsoft.com/office/drawing/2014/main" id="{FACEB522-5048-4AEC-A767-9073E43368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49</a:t>
            </a:r>
          </a:p>
        </p:txBody>
      </p:sp>
    </p:spTree>
    <p:extLst>
      <p:ext uri="{BB962C8B-B14F-4D97-AF65-F5344CB8AC3E}">
        <p14:creationId xmlns:p14="http://schemas.microsoft.com/office/powerpoint/2010/main" val="225296375"/>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775B0CA-4A5A-4E58-978A-E3AB7A0EF9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91E7105-D898-4200-AF8D-941A735709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DFFFF817-9D04-4E7E-BFE3-C7B5C9EB45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B55D0A7D-CCC7-40A6-BA0A-195323D662A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A5401D4-C39B-45AF-8A57-05894A4988BB}"/>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Corey Schafer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Tutorial for Beginners 3: Integers and Floats</a:t>
            </a:r>
          </a:p>
        </p:txBody>
      </p:sp>
      <p:sp>
        <p:nvSpPr>
          <p:cNvPr id="6" name="">
            <a:extLst xmlns:a="http://schemas.openxmlformats.org/drawingml/2006/main">
              <a:ext uri="{FF2B5EF4-FFF2-40B4-BE49-F238E27FC236}">
                <a16:creationId xmlns:a16="http://schemas.microsoft.com/office/drawing/2014/main" id="{46430955-2ED7-43BF-B52B-56CD2F34E35C}"/>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EAEF24-9DE5-487D-8966-E80532374858}"/>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00:00–04:00, suggested four-minute excerpt; preview before class</a:t>
            </a:r>
          </a:p>
        </p:txBody>
      </p:sp>
      <p:sp>
        <p:nvSpPr>
          <p:cNvPr id="8" name="">
            <a:extLst xmlns:a="http://schemas.openxmlformats.org/drawingml/2006/main">
              <a:ext uri="{FF2B5EF4-FFF2-40B4-BE49-F238E27FC236}">
                <a16:creationId xmlns:a16="http://schemas.microsoft.com/office/drawing/2014/main" id="{9138545C-753B-469D-9D18-BC77C66AD4F6}"/>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77CDEEB-35C8-487C-8E78-02987BBF2406}"/>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are numbers written and how do arithmetic operators change them?</a:t>
            </a:r>
          </a:p>
        </p:txBody>
      </p:sp>
      <p:sp>
        <p:nvSpPr>
          <p:cNvPr id="10" name="">
            <a:extLst xmlns:a="http://schemas.openxmlformats.org/drawingml/2006/main">
              <a:ext uri="{FF2B5EF4-FFF2-40B4-BE49-F238E27FC236}">
                <a16:creationId xmlns:a16="http://schemas.microsoft.com/office/drawing/2014/main" id="{8C79F59B-20EA-4F56-80AA-8B68A011053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FB41F7E-1968-4393-8716-8B7948F5B7C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0b085a024dd46c7"/>
              </a:rPr>
              <a:t>Open explainer video</a:t>
            </a:r>
          </a:p>
        </p:txBody>
      </p:sp>
      <p:sp>
        <p:nvSpPr>
          <p:cNvPr id="12" name="">
            <a:extLst xmlns:a="http://schemas.openxmlformats.org/drawingml/2006/main">
              <a:ext uri="{FF2B5EF4-FFF2-40B4-BE49-F238E27FC236}">
                <a16:creationId xmlns:a16="http://schemas.microsoft.com/office/drawing/2014/main" id="{41449333-A95E-4D37-B170-C796C4FE5DFB}"/>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https://www.youtube.com/watch?v=khKv-8q7YmY</a:t>
            </a:r>
          </a:p>
        </p:txBody>
      </p:sp>
      <p:sp>
        <p:nvSpPr>
          <p:cNvPr id="13" name="">
            <a:extLst xmlns:a="http://schemas.openxmlformats.org/drawingml/2006/main">
              <a:ext uri="{FF2B5EF4-FFF2-40B4-BE49-F238E27FC236}">
                <a16:creationId xmlns:a16="http://schemas.microsoft.com/office/drawing/2014/main" id="{64D5CABB-31C4-48F7-B3A9-490D386CE6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50</a:t>
            </a:r>
          </a:p>
        </p:txBody>
      </p:sp>
    </p:spTree>
    <p:extLst>
      <p:ext uri="{BB962C8B-B14F-4D97-AF65-F5344CB8AC3E}">
        <p14:creationId xmlns:p14="http://schemas.microsoft.com/office/powerpoint/2010/main" val="2022304563"/>
      </p:ext>
    </p:extLst>
  </p:cSld>
</p:sld>
</file>

<file path=ppt/slides/slide51.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2B41682-55A0-454D-94CA-259E3A60DE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47B4764A-96FB-479A-802A-536721624E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xmlns:a="http://schemas.openxmlformats.org/drawingml/2006/main">
              <a:ext uri="{FF2B5EF4-FFF2-40B4-BE49-F238E27FC236}">
                <a16:creationId xmlns:a16="http://schemas.microsoft.com/office/drawing/2014/main" id="{5BC6F807-7BE5-4E8C-9295-AD66BD6470F0}"/>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5B68956F-82FA-4632-9B06-D63DCACDB2F4}"/>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Calculate 7 / 2 and 7 // 2 in Colab and explain the difference.</a:t>
            </a:r>
          </a:p>
        </p:txBody>
      </p:sp>
      <p:sp>
        <p:nvSpPr>
          <p:cNvPr id="5" name="">
            <a:extLst xmlns:a="http://schemas.openxmlformats.org/drawingml/2006/main">
              <a:ext uri="{FF2B5EF4-FFF2-40B4-BE49-F238E27FC236}">
                <a16:creationId xmlns:a16="http://schemas.microsoft.com/office/drawing/2014/main" id="{CE83F9A8-EBA4-4A1F-B656-3A08AFA386CE}"/>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0F498154-D65B-45D9-A4BB-A098019496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3   51</a:t>
            </a:r>
          </a:p>
        </p:txBody>
      </p:sp>
    </p:spTree>
    <p:extLst>
      <p:ext uri="{BB962C8B-B14F-4D97-AF65-F5344CB8AC3E}">
        <p14:creationId xmlns:p14="http://schemas.microsoft.com/office/powerpoint/2010/main" val="36776175"/>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9B0CE8F-66AA-4BD7-820C-37F02261E7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0C15B95-794C-45AA-9AD9-C10E0FFF5A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FC5C17B-8985-41CD-A7AA-1BF7EB73B5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51E0F034-6499-4487-9239-DCC59FAFAFD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39A8A38-2AD0-4951-BFE4-B5B6CA54272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A3 has five named tasks, not five additional projects.</a:t>
            </a:r>
          </a:p>
        </p:txBody>
      </p:sp>
      <p:sp>
        <p:nvSpPr>
          <p:cNvPr id="6" name="">
            <a:extLst xmlns:a="http://schemas.openxmlformats.org/drawingml/2006/main">
              <a:ext uri="{FF2B5EF4-FFF2-40B4-BE49-F238E27FC236}">
                <a16:creationId xmlns:a16="http://schemas.microsoft.com/office/drawing/2014/main" id="{3F67B5F0-2AB6-4596-8505-35140A45BD8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FA06AA1-E2AC-4DE1-9EAC-DC8902CD636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public prompt and its exact output name.</a:t>
            </a:r>
          </a:p>
        </p:txBody>
      </p:sp>
      <p:sp>
        <p:nvSpPr>
          <p:cNvPr id="8" name="">
            <a:extLst xmlns:a="http://schemas.openxmlformats.org/drawingml/2006/main">
              <a:ext uri="{FF2B5EF4-FFF2-40B4-BE49-F238E27FC236}">
                <a16:creationId xmlns:a16="http://schemas.microsoft.com/office/drawing/2014/main" id="{A5047CC0-B1A3-46AE-B101-64BC05D1896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1698C95-D9E7-4B61-856C-D8580EBB268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Signed percentage error = 100 × (measured − expected) / expected.</a:t>
            </a:r>
          </a:p>
        </p:txBody>
      </p:sp>
      <p:sp>
        <p:nvSpPr>
          <p:cNvPr id="10" name="">
            <a:extLst xmlns:a="http://schemas.openxmlformats.org/drawingml/2006/main">
              <a:ext uri="{FF2B5EF4-FFF2-40B4-BE49-F238E27FC236}">
                <a16:creationId xmlns:a16="http://schemas.microsoft.com/office/drawing/2014/main" id="{1F1B9713-8B33-4FAF-AE04-63E54BE31585}"/>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1FCEEAD-BA1C-48C9-B4EA-3B4AE2C1E6C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nonzero expected value.</a:t>
            </a:r>
          </a:p>
        </p:txBody>
      </p:sp>
      <p:sp>
        <p:nvSpPr>
          <p:cNvPr id="12" name="">
            <a:extLst xmlns:a="http://schemas.openxmlformats.org/drawingml/2006/main">
              <a:ext uri="{FF2B5EF4-FFF2-40B4-BE49-F238E27FC236}">
                <a16:creationId xmlns:a16="http://schemas.microsoft.com/office/drawing/2014/main" id="{57F67D73-913B-4C83-BE03-C287D67853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52</a:t>
            </a:r>
          </a:p>
        </p:txBody>
      </p:sp>
    </p:spTree>
    <p:extLst>
      <p:ext uri="{BB962C8B-B14F-4D97-AF65-F5344CB8AC3E}">
        <p14:creationId xmlns:p14="http://schemas.microsoft.com/office/powerpoint/2010/main" val="1713674040"/>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90006D7-F047-415E-9EDF-B9C27F7472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8D8F3B3-15E6-4797-92A1-D113AAA8B3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7984877-49F7-4624-A1DA-02FB1A7CAB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67805EE1-E8AE-4435-818E-3CEEDB98BF3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2205FFD-EF68-444F-A60A-AA2F95D155E6}"/>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formula for your programme shown earlier. q4 specifies the zero-input behaviour. q5 uses the supplied six readings; trace them on paper, and use your own percentage-error function.</a:t>
            </a:r>
          </a:p>
        </p:txBody>
      </p:sp>
      <p:sp>
        <p:nvSpPr>
          <p:cNvPr id="6" name="">
            <a:extLst xmlns:a="http://schemas.openxmlformats.org/drawingml/2006/main">
              <a:ext uri="{FF2B5EF4-FFF2-40B4-BE49-F238E27FC236}">
                <a16:creationId xmlns:a16="http://schemas.microsoft.com/office/drawing/2014/main" id="{5B4C0589-84A9-461C-8A8E-C5A61080FBD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A24F930-14AC-4A30-BF1A-15CA973E475F}"/>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Loops are not required yet.</a:t>
            </a:r>
          </a:p>
        </p:txBody>
      </p:sp>
      <p:sp>
        <p:nvSpPr>
          <p:cNvPr id="8" name="">
            <a:extLst xmlns:a="http://schemas.openxmlformats.org/drawingml/2006/main">
              <a:ext uri="{FF2B5EF4-FFF2-40B4-BE49-F238E27FC236}">
                <a16:creationId xmlns:a16="http://schemas.microsoft.com/office/drawing/2014/main" id="{A746FB87-671F-4A94-8F02-8B779EFC1C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53</a:t>
            </a:r>
          </a:p>
        </p:txBody>
      </p:sp>
    </p:spTree>
    <p:extLst>
      <p:ext uri="{BB962C8B-B14F-4D97-AF65-F5344CB8AC3E}">
        <p14:creationId xmlns:p14="http://schemas.microsoft.com/office/powerpoint/2010/main" val="1909260586"/>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A2C8D19-1117-4188-98C3-5A5A445020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A107813-3B19-4E9F-9BB1-6473711D3A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E4A1073-CB79-41BE-AB88-F882428A12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Units branches and error messages</a:t>
            </a:r>
          </a:p>
        </p:txBody>
      </p:sp>
      <p:sp>
        <p:nvSpPr>
          <p:cNvPr id="4" name="">
            <a:extLst xmlns:a="http://schemas.openxmlformats.org/drawingml/2006/main">
              <a:ext uri="{FF2B5EF4-FFF2-40B4-BE49-F238E27FC236}">
                <a16:creationId xmlns:a16="http://schemas.microsoft.com/office/drawing/2014/main" id="{5251A237-EF3D-404A-90EC-505C5C88E9B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CF127D-F1FE-4485-8580-79AB643AEDB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unit beside each function input.</a:t>
            </a:r>
          </a:p>
        </p:txBody>
      </p:sp>
      <p:sp>
        <p:nvSpPr>
          <p:cNvPr id="6" name="">
            <a:extLst xmlns:a="http://schemas.openxmlformats.org/drawingml/2006/main">
              <a:ext uri="{FF2B5EF4-FFF2-40B4-BE49-F238E27FC236}">
                <a16:creationId xmlns:a16="http://schemas.microsoft.com/office/drawing/2014/main" id="{69B92B33-9FB5-445B-B793-C45CA7236B9D}"/>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B35DD1B-8C50-4D88-8C10-E390B2B047BE}"/>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Millimetres become metres by dividing by 1000.</a:t>
            </a:r>
          </a:p>
        </p:txBody>
      </p:sp>
      <p:sp>
        <p:nvSpPr>
          <p:cNvPr id="8" name="">
            <a:extLst xmlns:a="http://schemas.openxmlformats.org/drawingml/2006/main">
              <a:ext uri="{FF2B5EF4-FFF2-40B4-BE49-F238E27FC236}">
                <a16:creationId xmlns:a16="http://schemas.microsoft.com/office/drawing/2014/main" id="{F867C634-828C-42AA-B7E7-7450425DA2E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85657B0-8463-4B1E-9550-D5543BE7C3C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Percent becomes a fraction by dividing by 100.</a:t>
            </a:r>
          </a:p>
        </p:txBody>
      </p:sp>
      <p:sp>
        <p:nvSpPr>
          <p:cNvPr id="10" name="">
            <a:extLst xmlns:a="http://schemas.openxmlformats.org/drawingml/2006/main">
              <a:ext uri="{FF2B5EF4-FFF2-40B4-BE49-F238E27FC236}">
                <a16:creationId xmlns:a16="http://schemas.microsoft.com/office/drawing/2014/main" id="{7BB38138-21C6-4A21-AF34-9C9D7CCDF17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A00473B-5D3D-4F4A-8AE4-CF5FFBC8D0D5}"/>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Rotational speed in rpm becomes radians per second by multiplying by 2π/60.</a:t>
            </a:r>
          </a:p>
        </p:txBody>
      </p:sp>
      <p:sp>
        <p:nvSpPr>
          <p:cNvPr id="12" name="">
            <a:extLst xmlns:a="http://schemas.openxmlformats.org/drawingml/2006/main">
              <a:ext uri="{FF2B5EF4-FFF2-40B4-BE49-F238E27FC236}">
                <a16:creationId xmlns:a16="http://schemas.microsoft.com/office/drawing/2014/main" id="{70946966-AC33-47F7-98D3-626F588F59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54</a:t>
            </a:r>
          </a:p>
        </p:txBody>
      </p:sp>
    </p:spTree>
    <p:extLst>
      <p:ext uri="{BB962C8B-B14F-4D97-AF65-F5344CB8AC3E}">
        <p14:creationId xmlns:p14="http://schemas.microsoft.com/office/powerpoint/2010/main" val="379176450"/>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8E65597-D5E0-43F6-AE3F-08303ECC818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419061-2998-40E3-B1B8-1B6E28D66F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506D419-0B99-4E0F-BB68-695D46E240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Units branches and error messages continued</a:t>
            </a:r>
          </a:p>
        </p:txBody>
      </p:sp>
      <p:sp>
        <p:nvSpPr>
          <p:cNvPr id="4" name="">
            <a:extLst xmlns:a="http://schemas.openxmlformats.org/drawingml/2006/main">
              <a:ext uri="{FF2B5EF4-FFF2-40B4-BE49-F238E27FC236}">
                <a16:creationId xmlns:a16="http://schemas.microsoft.com/office/drawing/2014/main" id="{249E8C74-B216-42D5-8D55-88CA50927C3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8079610-5652-48E6-A1D1-B70F70F07876}"/>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conversions change the number, not the physical quantity.</a:t>
            </a:r>
          </a:p>
        </p:txBody>
      </p:sp>
      <p:sp>
        <p:nvSpPr>
          <p:cNvPr id="6" name="">
            <a:extLst xmlns:a="http://schemas.openxmlformats.org/drawingml/2006/main">
              <a:ext uri="{FF2B5EF4-FFF2-40B4-BE49-F238E27FC236}">
                <a16:creationId xmlns:a16="http://schemas.microsoft.com/office/drawing/2014/main" id="{2351F4B0-BC07-4E97-A668-6221975ED8B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26453EC-FD18-4E2A-B67B-DBCAB2AA5496}"/>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an if/elif chain, Python uses the FIRST matching branch.</a:t>
            </a:r>
          </a:p>
        </p:txBody>
      </p:sp>
      <p:sp>
        <p:nvSpPr>
          <p:cNvPr id="8" name="">
            <a:extLst xmlns:a="http://schemas.openxmlformats.org/drawingml/2006/main">
              <a:ext uri="{FF2B5EF4-FFF2-40B4-BE49-F238E27FC236}">
                <a16:creationId xmlns:a16="http://schemas.microsoft.com/office/drawing/2014/main" id="{013AA5AF-3FD4-427F-9F21-FBCE421F8AE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2F7D244-76D1-487A-BCFE-A318244D0BF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one branch at a time.</a:t>
            </a:r>
          </a:p>
        </p:txBody>
      </p:sp>
      <p:sp>
        <p:nvSpPr>
          <p:cNvPr id="10" name="">
            <a:extLst xmlns:a="http://schemas.openxmlformats.org/drawingml/2006/main">
              <a:ext uri="{FF2B5EF4-FFF2-40B4-BE49-F238E27FC236}">
                <a16:creationId xmlns:a16="http://schemas.microsoft.com/office/drawing/2014/main" id="{C798CA0E-8D07-46B8-A392-68271DFDA3E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499B28E-20D6-4B9D-BEB8-017F206F1DEA}"/>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TypeError can mean text was used where a number was expected.</a:t>
            </a:r>
          </a:p>
        </p:txBody>
      </p:sp>
      <p:sp>
        <p:nvSpPr>
          <p:cNvPr id="12" name="">
            <a:extLst xmlns:a="http://schemas.openxmlformats.org/drawingml/2006/main">
              <a:ext uri="{FF2B5EF4-FFF2-40B4-BE49-F238E27FC236}">
                <a16:creationId xmlns:a16="http://schemas.microsoft.com/office/drawing/2014/main" id="{3020A4B7-2BAE-4EB1-B7D7-84D7961EAD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55</a:t>
            </a:r>
          </a:p>
        </p:txBody>
      </p:sp>
    </p:spTree>
    <p:extLst>
      <p:ext uri="{BB962C8B-B14F-4D97-AF65-F5344CB8AC3E}">
        <p14:creationId xmlns:p14="http://schemas.microsoft.com/office/powerpoint/2010/main" val="517184242"/>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529E119-6E92-4933-90FA-95CB8DFD20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8DEF6F-159E-4BDB-A4A3-D72D2A0DFC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6706FB5-6887-402B-BC78-B472DE4C0E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Units branches and error messages continued</a:t>
            </a:r>
          </a:p>
        </p:txBody>
      </p:sp>
      <p:sp>
        <p:nvSpPr>
          <p:cNvPr id="4" name="">
            <a:extLst xmlns:a="http://schemas.openxmlformats.org/drawingml/2006/main">
              <a:ext uri="{FF2B5EF4-FFF2-40B4-BE49-F238E27FC236}">
                <a16:creationId xmlns:a16="http://schemas.microsoft.com/office/drawing/2014/main" id="{D199D23E-6DAA-499F-903A-59B792AF0E8B}"/>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DBD38A6-C73C-4E75-88A4-EDFF0988744C}"/>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Put a repeated teaching limit in one clearly named constant.</a:t>
            </a:r>
          </a:p>
        </p:txBody>
      </p:sp>
      <p:sp>
        <p:nvSpPr>
          <p:cNvPr id="6" name="">
            <a:extLst xmlns:a="http://schemas.openxmlformats.org/drawingml/2006/main">
              <a:ext uri="{FF2B5EF4-FFF2-40B4-BE49-F238E27FC236}">
                <a16:creationId xmlns:a16="http://schemas.microsoft.com/office/drawing/2014/main" id="{E2EA3C02-2250-4D42-A56B-F6744F27E4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56</a:t>
            </a:r>
          </a:p>
        </p:txBody>
      </p:sp>
    </p:spTree>
    <p:extLst>
      <p:ext uri="{BB962C8B-B14F-4D97-AF65-F5344CB8AC3E}">
        <p14:creationId xmlns:p14="http://schemas.microsoft.com/office/powerpoint/2010/main" val="1723239133"/>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E796437-0537-4317-AC8B-8FA7F956FD8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DE60647-B44E-4397-B603-E4C70D3EE6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8B44BE7-F081-4425-B4A7-9D8CB32BB0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59087647-EDB9-413B-A000-0BCBE46347E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B6C7A68-9E32-48CE-A7C3-0A594358EE9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W03_student.ipynb.</a:t>
            </a:r>
          </a:p>
        </p:txBody>
      </p:sp>
      <p:sp>
        <p:nvSpPr>
          <p:cNvPr id="6" name="">
            <a:extLst xmlns:a="http://schemas.openxmlformats.org/drawingml/2006/main">
              <a:ext uri="{FF2B5EF4-FFF2-40B4-BE49-F238E27FC236}">
                <a16:creationId xmlns:a16="http://schemas.microsoft.com/office/drawing/2014/main" id="{098843A2-E684-402D-9861-23948DA706B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04FDAED-BB9E-4F9C-BB4F-BD5F5844BA1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EB759ECF-B54A-4C67-AE9B-E68628DB10E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ABF54B8-C96A-430B-B3B7-AFB8D2B956B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4A9C0596-5334-4B0C-A712-1B48536DEF9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A4E7324-BF61-4926-BE26-AF0830F963F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visible checks, then restart and run all.</a:t>
            </a:r>
          </a:p>
        </p:txBody>
      </p:sp>
      <p:sp>
        <p:nvSpPr>
          <p:cNvPr id="12" name="">
            <a:extLst xmlns:a="http://schemas.openxmlformats.org/drawingml/2006/main">
              <a:ext uri="{FF2B5EF4-FFF2-40B4-BE49-F238E27FC236}">
                <a16:creationId xmlns:a16="http://schemas.microsoft.com/office/drawing/2014/main" id="{EE95CA4E-9070-44AD-A212-818082352E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57</a:t>
            </a:r>
          </a:p>
        </p:txBody>
      </p:sp>
    </p:spTree>
    <p:extLst>
      <p:ext uri="{BB962C8B-B14F-4D97-AF65-F5344CB8AC3E}">
        <p14:creationId xmlns:p14="http://schemas.microsoft.com/office/powerpoint/2010/main" val="1396818005"/>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0B534C4-4EF4-4D54-8927-38CB6733FF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D3CE4C0-940F-4BA9-A256-2CEE368B80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C3635DC1-5E35-4D98-9ED3-01330A28F2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9E6F39A3-B78F-4CAC-A067-A01D1531857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66685DB-9F6A-46C1-9EA1-27B44F2292E3}"/>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 40 kg motor sits on a bench.</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weight_n to its weight in newtons, taking g = 9.81.</a:t>
            </a:r>
          </a:p>
        </p:txBody>
      </p:sp>
      <p:sp>
        <p:nvSpPr>
          <p:cNvPr id="6" name="">
            <a:extLst xmlns:a="http://schemas.openxmlformats.org/drawingml/2006/main">
              <a:ext uri="{FF2B5EF4-FFF2-40B4-BE49-F238E27FC236}">
                <a16:creationId xmlns:a16="http://schemas.microsoft.com/office/drawing/2014/main" id="{CCD22244-C19C-4DD3-892D-0ADF5C62C64F}"/>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D81802F-013A-4756-8D4B-845083740DC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B3E069CF-3EBF-4C24-A628-D0A1663499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58</a:t>
            </a:r>
          </a:p>
        </p:txBody>
      </p:sp>
    </p:spTree>
    <p:extLst>
      <p:ext uri="{BB962C8B-B14F-4D97-AF65-F5344CB8AC3E}">
        <p14:creationId xmlns:p14="http://schemas.microsoft.com/office/powerpoint/2010/main" val="896872192"/>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390B2CF-BCCE-4936-A345-6CAC843440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5151D8-949F-48E4-84B1-CBE53E9B57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317A9489-D042-42BC-B65B-72134EDE2D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4 marks</a:t>
            </a:r>
          </a:p>
        </p:txBody>
      </p:sp>
      <p:sp>
        <p:nvSpPr>
          <p:cNvPr id="4" name="">
            <a:extLst xmlns:a="http://schemas.openxmlformats.org/drawingml/2006/main">
              <a:ext uri="{FF2B5EF4-FFF2-40B4-BE49-F238E27FC236}">
                <a16:creationId xmlns:a16="http://schemas.microsoft.com/office/drawing/2014/main" id="{1A1A87FB-F66C-46EC-90AC-3CFFF5025B0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8EE8D24-F97D-49B3-8F64-A44ADA4B6FA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percent_error(measured, expected) returning the signed percent error.</a:t>
            </a:r>
          </a:p>
        </p:txBody>
      </p:sp>
      <p:sp>
        <p:nvSpPr>
          <p:cNvPr id="6" name="">
            <a:extLst xmlns:a="http://schemas.openxmlformats.org/drawingml/2006/main">
              <a:ext uri="{FF2B5EF4-FFF2-40B4-BE49-F238E27FC236}">
                <a16:creationId xmlns:a16="http://schemas.microsoft.com/office/drawing/2014/main" id="{7F2D462F-A8EA-4FCB-9770-3BD4940E395C}"/>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0C67F3C-1431-4686-AEC8-51A30505DAE1}"/>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7094CC76-B7D3-489A-92F3-18678FECBB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59</a:t>
            </a:r>
          </a:p>
        </p:txBody>
      </p:sp>
    </p:spTree>
    <p:extLst>
      <p:ext uri="{BB962C8B-B14F-4D97-AF65-F5344CB8AC3E}">
        <p14:creationId xmlns:p14="http://schemas.microsoft.com/office/powerpoint/2010/main" val="586611337"/>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34452B0-894B-41DF-9FC2-9D31B7266F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E08F549-35B3-4414-9A13-A33BCD43F2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AD1DAD28-269A-4B64-91CD-A3E8ABD7DA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3 marks</a:t>
            </a:r>
          </a:p>
        </p:txBody>
      </p:sp>
      <p:sp>
        <p:nvSpPr>
          <p:cNvPr id="4" name="">
            <a:extLst xmlns:a="http://schemas.openxmlformats.org/drawingml/2006/main">
              <a:ext uri="{FF2B5EF4-FFF2-40B4-BE49-F238E27FC236}">
                <a16:creationId xmlns:a16="http://schemas.microsoft.com/office/drawing/2014/main" id="{3F0E8F26-4626-4F4E-9D76-6128A9A970FF}"/>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3A4EABD-EFE9-4E04-A798-4936A568242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mud_pressure(depth_m, density) returning the hydrostatic pressure in kPa.</a:t>
            </a:r>
          </a:p>
        </p:txBody>
      </p:sp>
      <p:sp>
        <p:nvSpPr>
          <p:cNvPr id="6" name="">
            <a:extLst xmlns:a="http://schemas.openxmlformats.org/drawingml/2006/main">
              <a:ext uri="{FF2B5EF4-FFF2-40B4-BE49-F238E27FC236}">
                <a16:creationId xmlns:a16="http://schemas.microsoft.com/office/drawing/2014/main" id="{480E55BA-34C7-412F-A7D8-57F01584CF5C}"/>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FBD3879-37CA-4610-945B-D6EF9663CD1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E2B59C98-D2C8-44C4-B493-808264F567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60</a:t>
            </a:r>
          </a:p>
        </p:txBody>
      </p:sp>
    </p:spTree>
    <p:extLst>
      <p:ext uri="{BB962C8B-B14F-4D97-AF65-F5344CB8AC3E}">
        <p14:creationId xmlns:p14="http://schemas.microsoft.com/office/powerpoint/2010/main" val="1940670663"/>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19C88ED-DED1-4BCC-961A-74C5604BE7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E72241-B7D4-4EFF-97AB-E347E572BC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79452644-0D1D-4DA1-A108-1D54A5A474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5 marks</a:t>
            </a:r>
          </a:p>
        </p:txBody>
      </p:sp>
      <p:sp>
        <p:nvSpPr>
          <p:cNvPr id="4" name="">
            <a:extLst xmlns:a="http://schemas.openxmlformats.org/drawingml/2006/main">
              <a:ext uri="{FF2B5EF4-FFF2-40B4-BE49-F238E27FC236}">
                <a16:creationId xmlns:a16="http://schemas.microsoft.com/office/drawing/2014/main" id="{99A726E4-7013-4CB0-8041-A70305D0B85B}"/>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BE0BDD1-85DD-4782-BD76-7CC6AAEC411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efficiency(out_w, in_w) returning the percentage, and returning None when in_w is zero or negative.</a:t>
            </a:r>
          </a:p>
        </p:txBody>
      </p:sp>
      <p:sp>
        <p:nvSpPr>
          <p:cNvPr id="6" name="">
            <a:extLst xmlns:a="http://schemas.openxmlformats.org/drawingml/2006/main">
              <a:ext uri="{FF2B5EF4-FFF2-40B4-BE49-F238E27FC236}">
                <a16:creationId xmlns:a16="http://schemas.microsoft.com/office/drawing/2014/main" id="{B47AD6E3-CECB-47B5-BF52-88F37668576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030074B-1FC5-426C-8D2A-616EEADA9574}"/>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83FB0B4-81FA-4EB1-BF6B-DF888739BD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61</a:t>
            </a:r>
          </a:p>
        </p:txBody>
      </p:sp>
    </p:spTree>
    <p:extLst>
      <p:ext uri="{BB962C8B-B14F-4D97-AF65-F5344CB8AC3E}">
        <p14:creationId xmlns:p14="http://schemas.microsoft.com/office/powerpoint/2010/main" val="175849398"/>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53F5DC8-0BED-4451-B336-47128DAF4B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3B2DA6-DD8F-445E-AF67-261630F09A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B84F841D-32D0-460D-A149-E604938341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5 marks</a:t>
            </a:r>
          </a:p>
        </p:txBody>
      </p:sp>
      <p:sp>
        <p:nvSpPr>
          <p:cNvPr id="4" name="">
            <a:extLst xmlns:a="http://schemas.openxmlformats.org/drawingml/2006/main">
              <a:ext uri="{FF2B5EF4-FFF2-40B4-BE49-F238E27FC236}">
                <a16:creationId xmlns:a16="http://schemas.microsoft.com/office/drawing/2014/main" id="{4743F086-7164-4E30-9D9B-D26B8AB762A1}"/>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AE74BD-79B9-4CA8-828A-BE46DE110F1B}"/>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READINGS is given in the notebook.</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Using your own percent_error against a nominal of 100, set worst_reading to the reading with the largest error by size, and worst_error to that reading's signed percent error.</a:t>
            </a:r>
          </a:p>
        </p:txBody>
      </p:sp>
      <p:sp>
        <p:nvSpPr>
          <p:cNvPr id="6" name="">
            <a:extLst xmlns:a="http://schemas.openxmlformats.org/drawingml/2006/main">
              <a:ext uri="{FF2B5EF4-FFF2-40B4-BE49-F238E27FC236}">
                <a16:creationId xmlns:a16="http://schemas.microsoft.com/office/drawing/2014/main" id="{0937D969-9CED-4222-B7DC-DC1A3586A34C}"/>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94EBA13-2B97-4593-9334-B031B7BDC7E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EF201016-4D9F-4D32-9FFF-40A7EE416F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62</a:t>
            </a:r>
          </a:p>
        </p:txBody>
      </p:sp>
    </p:spTree>
    <p:extLst>
      <p:ext uri="{BB962C8B-B14F-4D97-AF65-F5344CB8AC3E}">
        <p14:creationId xmlns:p14="http://schemas.microsoft.com/office/powerpoint/2010/main" val="1242896998"/>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C887AD0-AF8E-4B02-BF62-F61D88E399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DCE4947-9F1B-4D79-9CD6-279A4F959B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6DC0811C-6298-44CC-BDB5-3846047DD0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functions submission</a:t>
            </a:r>
          </a:p>
        </p:txBody>
      </p:sp>
      <p:sp>
        <p:nvSpPr>
          <p:cNvPr id="4" name="">
            <a:extLst xmlns:a="http://schemas.openxmlformats.org/drawingml/2006/main">
              <a:ext uri="{FF2B5EF4-FFF2-40B4-BE49-F238E27FC236}">
                <a16:creationId xmlns:a16="http://schemas.microsoft.com/office/drawing/2014/main" id="{EB9164CB-0033-41BA-9363-42F1A750EE8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7461DA5-4801-403F-8C5D-BCC96DA50344}"/>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25 Sep 2026, 08:00 Kampala</a:t>
            </a:r>
          </a:p>
        </p:txBody>
      </p:sp>
      <p:sp>
        <p:nvSpPr>
          <p:cNvPr id="6" name="">
            <a:extLst xmlns:a="http://schemas.openxmlformats.org/drawingml/2006/main">
              <a:ext uri="{FF2B5EF4-FFF2-40B4-BE49-F238E27FC236}">
                <a16:creationId xmlns:a16="http://schemas.microsoft.com/office/drawing/2014/main" id="{C87CE31C-E502-45B8-990C-E2ABF14312B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20CE6EE-531E-4F9C-A292-F2EABA80CE9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02 Oct 2026, 08:00 Kampala</a:t>
            </a:r>
          </a:p>
        </p:txBody>
      </p:sp>
      <p:sp>
        <p:nvSpPr>
          <p:cNvPr id="8" name="">
            <a:extLst xmlns:a="http://schemas.openxmlformats.org/drawingml/2006/main">
              <a:ext uri="{FF2B5EF4-FFF2-40B4-BE49-F238E27FC236}">
                <a16:creationId xmlns:a16="http://schemas.microsoft.com/office/drawing/2014/main" id="{337B26D7-A388-411D-962C-E20CE5F7D2F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A6FDBE6-13D5-4836-9080-C1719681C51E}"/>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6E3DE671-4D6B-4F9A-AABD-EF2A4223100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69954E8-EC9F-4B6C-8F07-A72535D2C93E}"/>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72D108E2-98AC-45DD-A5B0-1B6ECE51025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08B1A78-C20F-4DCC-A1F7-31E56946ED83}"/>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bb6cfa2d4f6459a"/>
              </a:rPr>
              <a:t>Open W03 assignment form</a:t>
            </a:r>
          </a:p>
        </p:txBody>
      </p:sp>
      <p:sp>
        <p:nvSpPr>
          <p:cNvPr id="14" name="">
            <a:extLst xmlns:a="http://schemas.openxmlformats.org/drawingml/2006/main">
              <a:ext uri="{FF2B5EF4-FFF2-40B4-BE49-F238E27FC236}">
                <a16:creationId xmlns:a16="http://schemas.microsoft.com/office/drawing/2014/main" id="{04C08898-B998-4B48-8164-2EE3BD36EC4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https://docs.google.com/forms/d/e/1FAIpQLSfd3oHKoR26Uc9BSQ5WEQosAD4ZnrRHT4JZRQmLrslca35tlA/viewform</a:t>
            </a:r>
          </a:p>
        </p:txBody>
      </p:sp>
      <p:sp>
        <p:nvSpPr>
          <p:cNvPr id="15" name="">
            <a:extLst xmlns:a="http://schemas.openxmlformats.org/drawingml/2006/main">
              <a:ext uri="{FF2B5EF4-FFF2-40B4-BE49-F238E27FC236}">
                <a16:creationId xmlns:a16="http://schemas.microsoft.com/office/drawing/2014/main" id="{70267E83-E687-49E8-A1A0-F24815D11B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63</a:t>
            </a:r>
          </a:p>
        </p:txBody>
      </p:sp>
    </p:spTree>
    <p:extLst>
      <p:ext uri="{BB962C8B-B14F-4D97-AF65-F5344CB8AC3E}">
        <p14:creationId xmlns:p14="http://schemas.microsoft.com/office/powerpoint/2010/main" val="1332875037"/>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08D8254-14F1-48DE-A15F-38FB975722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7F420D-4043-40E0-A606-DC22EA518B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D02C7412-9C6F-440B-A725-FBD73F8762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quiz</a:t>
            </a:r>
          </a:p>
        </p:txBody>
      </p:sp>
      <p:sp>
        <p:nvSpPr>
          <p:cNvPr id="4" name="">
            <a:extLst xmlns:a="http://schemas.openxmlformats.org/drawingml/2006/main">
              <a:ext uri="{FF2B5EF4-FFF2-40B4-BE49-F238E27FC236}">
                <a16:creationId xmlns:a16="http://schemas.microsoft.com/office/drawing/2014/main" id="{D849441C-89CE-4EEC-B01F-5BF237AA8DD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E96E54A-DA38-45F5-9E3C-4B494B95427B}"/>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4338367C-B731-4768-809E-59EA2B653905}"/>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25F2C33-07D6-4779-B03E-A21248D3E9EB}"/>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EC62EB04-3A49-4490-8AB7-79D89EE16221}"/>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78CBEC6-BB9C-49E6-9098-3CD1045AD0B2}"/>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003B2763-7488-4CFC-ACF2-93FB86C967CE}"/>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C008239-A508-45DF-B83E-3A67FA6129A5}"/>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99b5fd019b4744e4"/>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FD0F9BBE-E44A-47B9-8DC1-60FC9DA87422}"/>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24369A1E-0B3A-4324-8F77-04D07B96DE6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29FDB80-095B-40EA-A9DC-FD51E64A31A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0e05acdb1594fbc"/>
              </a:rPr>
              <a:t>Open this week’s quiz</a:t>
            </a:r>
          </a:p>
        </p:txBody>
      </p:sp>
      <p:sp>
        <p:nvSpPr>
          <p:cNvPr id="16" name="">
            <a:extLst xmlns:a="http://schemas.openxmlformats.org/drawingml/2006/main">
              <a:ext uri="{FF2B5EF4-FFF2-40B4-BE49-F238E27FC236}">
                <a16:creationId xmlns:a16="http://schemas.microsoft.com/office/drawing/2014/main" id="{788A9D84-169A-417D-8413-CD02981683A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https://forms.gle/cDMd8seSsFuXF4658</a:t>
            </a:r>
          </a:p>
        </p:txBody>
      </p:sp>
      <p:sp>
        <p:nvSpPr>
          <p:cNvPr id="17" name="">
            <a:extLst xmlns:a="http://schemas.openxmlformats.org/drawingml/2006/main">
              <a:ext uri="{FF2B5EF4-FFF2-40B4-BE49-F238E27FC236}">
                <a16:creationId xmlns:a16="http://schemas.microsoft.com/office/drawing/2014/main" id="{7F0DB131-9004-48B4-AE94-E54C4A3977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64</a:t>
            </a:r>
          </a:p>
        </p:txBody>
      </p:sp>
    </p:spTree>
    <p:extLst>
      <p:ext uri="{BB962C8B-B14F-4D97-AF65-F5344CB8AC3E}">
        <p14:creationId xmlns:p14="http://schemas.microsoft.com/office/powerpoint/2010/main" val="677878617"/>
      </p:ext>
    </p:extLst>
  </p:cSld>
</p:sld>
</file>

<file path=ppt/slides/slide6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B39B6E-BDF2-438C-87B1-B27DFFB490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622E3E4F-17DC-44F0-AF72-20E58D7944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964B0C64-2D90-4F53-B193-36647048E57A}"/>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25595103-2ED5-4557-9B8A-A10A468D00F7}"/>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each input, the returned answer and its engineering unit.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3CF4A703-60E1-41EB-AF14-85F99760B582}"/>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33D9AA6C-14F0-435A-A558-7522C7E9A4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3   65</a:t>
            </a:r>
          </a:p>
        </p:txBody>
      </p:sp>
    </p:spTree>
    <p:extLst>
      <p:ext uri="{BB962C8B-B14F-4D97-AF65-F5344CB8AC3E}">
        <p14:creationId xmlns:p14="http://schemas.microsoft.com/office/powerpoint/2010/main" val="44278681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2026-09-21T10:26:33.4230000Z</dcterms:created>
  <dcterms:modified xsi:type="dcterms:W3CDTF">2026-09-21T10:26:33.4230000Z</dcterms:modified>
</coreProperties>
</file>