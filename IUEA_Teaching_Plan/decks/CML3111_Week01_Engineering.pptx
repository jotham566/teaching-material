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52.xml" ContentType="application/vnd.openxmlformats-officedocument.presentationml.notesSlide+xml"/>
  <Override PartName="/ppt/notesSlides/notesSlide100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0052.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2.xml" /></ns0:Relationships>
</file>

<file path=ppt/notesSlides/_rels/notesSlide1005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3.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machine learning</a:t>
            </a:r>
          </a:p>
          <a:p>
            <a:r>
              <a:t>CML3111, Week 1, slide 1</a:t>
            </a:r>
          </a:p>
          <a:p>
            <a:r>
              <a:t/>
            </a:r>
          </a:p>
          <a:p>
            <a:r>
              <a:t>Explanation to give</a:t>
            </a:r>
          </a:p>
          <a:p>
            <a:r>
              <a:t>Start with an engineering decision, then introduce learning from examples. No code is needed today.</a:t>
            </a:r>
          </a:p>
          <a:p>
            <a:r>
              <a:t/>
            </a:r>
          </a:p>
          <a:p>
            <a:r>
              <a:t>Worked illustration / lecturer answer</a:t>
            </a:r>
          </a:p>
          <a:p>
            <a:r>
              <a:t>A numerical quantity such as days until servicing is a regression target. A label such as service due is a classification target.</a:t>
            </a:r>
          </a:p>
          <a:p>
            <a:r>
              <a:t/>
            </a:r>
          </a:p>
          <a:p>
            <a:r>
              <a:t>Misconception to address</a:t>
            </a:r>
          </a:p>
          <a:p>
            <a:r>
              <a:t>Use this as an orientation to the lesson. Terms and syntax will be unpacked on their own slides; students do not need to know them in advance.</a:t>
            </a:r>
          </a:p>
          <a:p>
            <a:r>
              <a:t/>
            </a:r>
          </a:p>
          <a:p>
            <a:r>
              <a:t>Continue to</a:t>
            </a:r>
          </a:p>
          <a:p>
            <a:r>
              <a:t>Jotham Martin Wambi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Jotham Martin Wambi</a:t>
            </a:r>
          </a:p>
          <a:p>
            <a:r>
              <a:t>CML3111, Week 1, slide 2</a:t>
            </a:r>
          </a:p>
          <a:p>
            <a:r>
              <a:t/>
            </a:r>
          </a:p>
          <a:p>
            <a:r>
              <a:t>Explanation to give</a:t>
            </a:r>
          </a:p>
          <a:p>
            <a:r>
              <a:t>Introduce your applied data and teaching work briefly, then link it to what beginners will learn in this course.</a:t>
            </a:r>
          </a:p>
          <a:p>
            <a:r>
              <a:t/>
            </a:r>
          </a:p>
          <a:p>
            <a:r>
              <a:t>Worked illustration / lecturer answer</a:t>
            </a:r>
          </a:p>
          <a:p>
            <a:r>
              <a:t>Use the formally accurate affiliation: incoming PhD student in Applied Informatics, Osaka Metropolitan University, Japan, April 2027 intake. The acceptance precedes enrolment. The master’s institution is Yamaguchi University, Japan.</a:t>
            </a:r>
          </a:p>
          <a:p>
            <a:r>
              <a:t/>
            </a:r>
          </a:p>
          <a:p>
            <a:r>
              <a:t>Misconception to address</a:t>
            </a:r>
          </a:p>
          <a:p>
            <a:r>
              <a:t>The older visible “PhD student” wording predates the clarified enrolment status. Do not describe yourself as already enrolled for the December 2026 period.</a:t>
            </a:r>
          </a:p>
          <a:p>
            <a:r>
              <a:t/>
            </a:r>
          </a:p>
          <a:p>
            <a:r>
              <a:t>Continue to</a:t>
            </a:r>
          </a:p>
          <a:p>
            <a:r>
              <a:t>By the end of today you can…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today you can…</a:t>
            </a:r>
          </a:p>
          <a:p>
            <a:r>
              <a:t>CML3111, Week 1, slide 3</a:t>
            </a:r>
          </a:p>
          <a:p>
            <a:r>
              <a:t/>
            </a:r>
          </a:p>
          <a:p>
            <a:r>
              <a:t>Explanation to give</a:t>
            </a:r>
          </a:p>
          <a:p>
            <a:r>
              <a:t>Start with an engineering decision, then introduce learning from examples. No code is needed today.</a:t>
            </a:r>
          </a:p>
          <a:p>
            <a:r>
              <a:t/>
            </a:r>
          </a:p>
          <a:p>
            <a:r>
              <a:t>Worked illustration / lecturer answer</a:t>
            </a:r>
          </a:p>
          <a:p>
            <a:r>
              <a:t>A numerical quantity such as days until servicing is a regression target. A label such as service due is a classification target.</a:t>
            </a:r>
          </a:p>
          <a:p>
            <a:r>
              <a:t/>
            </a:r>
          </a:p>
          <a:p>
            <a:r>
              <a:t>Misconception to address</a:t>
            </a:r>
          </a:p>
          <a:p>
            <a:r>
              <a:t>Use the outcomes listed on this slide to check understanding through the small examples, rather than asking only whether everybody understands.</a:t>
            </a:r>
          </a:p>
          <a:p>
            <a:r>
              <a:t/>
            </a:r>
          </a:p>
          <a:p>
            <a:r>
              <a:t>Continue to</a:t>
            </a:r>
          </a:p>
          <a:p>
            <a:r>
              <a:t>How every session this semester is shaped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every session this semester is shaped</a:t>
            </a:r>
          </a:p>
          <a:p>
            <a:r>
              <a:t>CML3111, Week 1, slide 4</a:t>
            </a:r>
          </a:p>
          <a:p>
            <a:r>
              <a:t/>
            </a:r>
          </a:p>
          <a:p>
            <a:r>
              <a:t>Explanation to give</a:t>
            </a:r>
          </a:p>
          <a:p>
            <a:r>
              <a:t>Orient students to this particular lesson: explain what they will see demonstrated, which file they will use and what they must retain for revision. Keep the transition short enough to preserve explanation time.</a:t>
            </a:r>
          </a:p>
          <a:p>
            <a:r>
              <a:t/>
            </a:r>
          </a:p>
          <a:p>
            <a:r>
              <a:t>Worked illustration / lecturer answer</a:t>
            </a:r>
          </a:p>
          <a:p>
            <a:r>
              <a:t>Open the next worked example on the projector and name its input and intended result. Demonstrate it yourself before asking students to interpret a result. Use remaining summary and glossary pages for independent revision.</a:t>
            </a:r>
          </a:p>
          <a:p>
            <a:r>
              <a:t/>
            </a:r>
          </a:p>
          <a:p>
            <a:r>
              <a:t>Misconception to address</a:t>
            </a:r>
          </a:p>
          <a:p>
            <a:r>
              <a:t>The historical slide's timed group activity is not a requirement to stop for partner work. Use a lecturer-led walkthrough in the current limited class time.</a:t>
            </a:r>
          </a:p>
          <a:p>
            <a:r>
              <a:t/>
            </a:r>
          </a:p>
          <a:p>
            <a:r>
              <a:t>Continue to</a:t>
            </a:r>
          </a:p>
          <a:p>
            <a:r>
              <a:t>Where this semester goes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semester goes</a:t>
            </a:r>
          </a:p>
          <a:p>
            <a:r>
              <a:t>CML3111, Week 1, slide 5</a:t>
            </a:r>
          </a:p>
          <a:p>
            <a:r>
              <a:t/>
            </a:r>
          </a:p>
          <a:p>
            <a:r>
              <a:t>Explanation to give</a:t>
            </a:r>
          </a:p>
          <a:p>
            <a:r>
              <a:t>Explain the sequence as increasing independence: first run and understand code, then inspect data, then build and evaluate a modest predictor, and finally communicate its limits.</a:t>
            </a:r>
          </a:p>
          <a:p>
            <a:r>
              <a:t/>
            </a:r>
          </a:p>
          <a:p>
            <a:r>
              <a:t>Worked illustration / lecturer answer</a:t>
            </a:r>
          </a:p>
          <a:p>
            <a:r>
              <a:t>A learner should eventually be able to say what each input represents, reproduce the result from the files and defend why the chosen evaluation matches the intended use.</a:t>
            </a:r>
          </a:p>
          <a:p>
            <a:r>
              <a:t/>
            </a:r>
          </a:p>
          <a:p>
            <a:r>
              <a:t>Misconception to address</a:t>
            </a:r>
          </a:p>
          <a:p>
            <a:r>
              <a:t>The roadmap is not a promise of professional mastery of every listed field in one semester. Point to the current week's small, observable goal.</a:t>
            </a:r>
          </a:p>
          <a:p>
            <a:r>
              <a:t/>
            </a:r>
          </a:p>
          <a:p>
            <a:r>
              <a:t>Continue to</a:t>
            </a:r>
          </a:p>
          <a:p>
            <a:r>
              <a:t>What you will be able to say by December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 will be able to say by December</a:t>
            </a:r>
          </a:p>
          <a:p>
            <a:r>
              <a:t>CML3111, Week 1, slide 6</a:t>
            </a:r>
          </a:p>
          <a:p>
            <a:r>
              <a:t/>
            </a:r>
          </a:p>
          <a:p>
            <a:r>
              <a:t>Explanation to give</a:t>
            </a:r>
          </a:p>
          <a:p>
            <a:r>
              <a:t>Explain the sequence as increasing independence: first run and understand code, then inspect data, then build and evaluate a modest predictor, and finally communicate its limits.</a:t>
            </a:r>
          </a:p>
          <a:p>
            <a:r>
              <a:t/>
            </a:r>
          </a:p>
          <a:p>
            <a:r>
              <a:t>Worked illustration / lecturer answer</a:t>
            </a:r>
          </a:p>
          <a:p>
            <a:r>
              <a:t>A learner should eventually be able to say what each input represents, reproduce the result from the files and defend why the chosen evaluation matches the intended use.</a:t>
            </a:r>
          </a:p>
          <a:p>
            <a:r>
              <a:t/>
            </a:r>
          </a:p>
          <a:p>
            <a:r>
              <a:t>Misconception to address</a:t>
            </a:r>
          </a:p>
          <a:p>
            <a:r>
              <a:t>The roadmap is not a promise of professional mastery of every listed field in one semester. Point to the current week's small, observable goal.</a:t>
            </a:r>
          </a:p>
          <a:p>
            <a:r>
              <a:t/>
            </a:r>
          </a:p>
          <a:p>
            <a:r>
              <a:t>Continue to</a:t>
            </a:r>
          </a:p>
          <a:p>
            <a:r>
              <a:t>Welcome, and how this course works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how this course works</a:t>
            </a:r>
          </a:p>
          <a:p>
            <a:r>
              <a:t>CML3111, Week 1, slide 7</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How you are assessed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you are assessed</a:t>
            </a:r>
          </a:p>
          <a:p>
            <a:r>
              <a:t>CML3111, Week 1, slide 8</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What I expect, and what you can expect 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 expect, and what you can expect back</a:t>
            </a:r>
          </a:p>
          <a:p>
            <a:r>
              <a:t>CML3111, Week 1, slide 9</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Machine learning topics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topics</a:t>
            </a:r>
          </a:p>
          <a:p>
            <a:r>
              <a:t>CML3111, Week 1, slide 10</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The machine learning roadmap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machine learning roadmap</a:t>
            </a:r>
          </a:p>
          <a:p>
            <a:r>
              <a:t>CML3111, Week 1, slide 11</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Mathematics and programming foundations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Mathematics and programming foundations</a:t>
            </a:r>
          </a:p>
          <a:p>
            <a:r>
              <a:t>CML3111, Week 1, slide 12</a:t>
            </a:r>
          </a:p>
          <a:p>
            <a:r>
              <a:t/>
            </a:r>
          </a:p>
          <a:p>
            <a:r>
              <a:t>Explanation to give</a:t>
            </a:r>
          </a:p>
          <a:p>
            <a:r>
              <a:t>Acknowledge previous engineering mathematics without assuming every student recalls it. Explain each mathematical operation at the point it is used and connect it to a physical quantity.</a:t>
            </a:r>
          </a:p>
          <a:p>
            <a:r>
              <a:t/>
            </a:r>
          </a:p>
          <a:p>
            <a:r>
              <a:t>Worked illustration / lecturer answer</a:t>
            </a:r>
          </a:p>
          <a:p>
            <a:r>
              <a:t>Before a mean calculation, show total divided by count on three readings. Before a matrix appears, draw rows and columns. Before a percentage, show the fraction and multiplication by 100.</a:t>
            </a:r>
          </a:p>
          <a:p>
            <a:r>
              <a:t/>
            </a:r>
          </a:p>
          <a:p>
            <a:r>
              <a:t>Misconception to address</a:t>
            </a:r>
          </a:p>
          <a:p>
            <a:r>
              <a:t>Do not tell struggling beginners that the programming is easy or that they should already know the prerequisites. Use their engineering context as a bridge and supply the missing explanation.</a:t>
            </a:r>
          </a:p>
          <a:p>
            <a:r>
              <a:t/>
            </a:r>
          </a:p>
          <a:p>
            <a:r>
              <a:t>Continue to</a:t>
            </a:r>
          </a:p>
          <a:p>
            <a:r>
              <a:t>Topics covered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Topics covered in this course</a:t>
            </a:r>
          </a:p>
          <a:p>
            <a:r>
              <a:t>CML3111, Week 1, slide 13</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Four jobs this field splits into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this field splits into</a:t>
            </a:r>
          </a:p>
          <a:p>
            <a:r>
              <a:t>CML3111, Week 1, slide 14</a:t>
            </a:r>
          </a:p>
          <a:p>
            <a:r>
              <a:t/>
            </a:r>
          </a:p>
          <a:p>
            <a:r>
              <a:t>Explanation to give</a:t>
            </a:r>
          </a:p>
          <a:p>
            <a:r>
              <a:t>Explain the sequence as increasing independence: first run and understand code, then inspect data, then build and evaluate a modest predictor, and finally communicate its limits.</a:t>
            </a:r>
          </a:p>
          <a:p>
            <a:r>
              <a:t/>
            </a:r>
          </a:p>
          <a:p>
            <a:r>
              <a:t>Worked illustration / lecturer answer</a:t>
            </a:r>
          </a:p>
          <a:p>
            <a:r>
              <a:t>A learner should eventually be able to say what each input represents, reproduce the result from the files and defend why the chosen evaluation matches the intended use.</a:t>
            </a:r>
          </a:p>
          <a:p>
            <a:r>
              <a:t/>
            </a:r>
          </a:p>
          <a:p>
            <a:r>
              <a:t>Misconception to address</a:t>
            </a:r>
          </a:p>
          <a:p>
            <a:r>
              <a:t>The roadmap is not a promise of professional mastery of every listed field in one semester. Point to the current week's small, observable goal.</a:t>
            </a:r>
          </a:p>
          <a:p>
            <a:r>
              <a:t/>
            </a:r>
          </a:p>
          <a:p>
            <a:r>
              <a:t>Continue to</a:t>
            </a:r>
          </a:p>
          <a:p>
            <a:r>
              <a:t>Machine learning in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in engineering</a:t>
            </a:r>
          </a:p>
          <a:p>
            <a:r>
              <a:t>CML3111, Week 1, slide 15</a:t>
            </a:r>
          </a:p>
          <a:p>
            <a:r>
              <a:t/>
            </a:r>
          </a:p>
          <a:p>
            <a:r>
              <a:t>Explanation to give</a:t>
            </a:r>
          </a:p>
          <a:p>
            <a:r>
              <a:t>Orient students to this particular lesson: explain what they will see demonstrated, which file they will use and what they must retain for revision. Keep the transition short enough to preserve explanation time.</a:t>
            </a:r>
          </a:p>
          <a:p>
            <a:r>
              <a:t/>
            </a:r>
          </a:p>
          <a:p>
            <a:r>
              <a:t>Worked illustration / lecturer answer</a:t>
            </a:r>
          </a:p>
          <a:p>
            <a:r>
              <a:t>Open the next worked example on the projector and name its input and intended result. Demonstrate it yourself before asking students to interpret a result. Use remaining summary and glossary pages for independent revision.</a:t>
            </a:r>
          </a:p>
          <a:p>
            <a:r>
              <a:t/>
            </a:r>
          </a:p>
          <a:p>
            <a:r>
              <a:t>Misconception to address</a:t>
            </a:r>
          </a:p>
          <a:p>
            <a:r>
              <a:t>The historical slide's timed group activity is not a requirement to stop for partner work. Use a lecturer-led walkthrough in the current limited class time.</a:t>
            </a:r>
          </a:p>
          <a:p>
            <a:r>
              <a:t/>
            </a:r>
          </a:p>
          <a:p>
            <a:r>
              <a:t>Continue to</a:t>
            </a:r>
          </a:p>
          <a:p>
            <a:r>
              <a:t>The words, and how they nest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and how they nest</a:t>
            </a:r>
          </a:p>
          <a:p>
            <a:r>
              <a:t>CML3111, Week 1, slide 16</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Artificial intelligence</a:t>
            </a:r>
          </a:p>
          <a:p>
            <a:r>
              <a:t>CML3111, Week 1, slide 17</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a:t>
            </a:r>
          </a:p>
          <a:p>
            <a:r>
              <a:t>CML3111, Week 1, slide 18</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Data science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science</a:t>
            </a:r>
          </a:p>
          <a:p>
            <a:r>
              <a:t>CML3111, Week 1, slide 19</a:t>
            </a:r>
          </a:p>
          <a:p>
            <a:r>
              <a:t/>
            </a:r>
          </a:p>
          <a:p>
            <a:r>
              <a:t>Explanation to give</a:t>
            </a:r>
          </a:p>
          <a:p>
            <a:r>
              <a:t>Data science includes finding and examining data, correcting documented defects, analysing patterns and communicating justified conclusions. A prediction model is one possible tool within that work.</a:t>
            </a:r>
          </a:p>
          <a:p>
            <a:r>
              <a:t/>
            </a:r>
          </a:p>
          <a:p>
            <a:r>
              <a:t>Worked illustration / lecturer answer</a:t>
            </a:r>
          </a:p>
          <a:p>
            <a:r>
              <a:t>Before predicting energy use, check whether meter readings use the same unit and time interval. Discovering that half the readings are missing is already a meaningful data finding.</a:t>
            </a:r>
          </a:p>
          <a:p>
            <a:r>
              <a:t/>
            </a:r>
          </a:p>
          <a:p>
            <a:r>
              <a:t>Misconception to address</a:t>
            </a:r>
          </a:p>
          <a:p>
            <a:r>
              <a:t>A project can answer a useful question without machine learning. Do not insert a model when a well-supported descriptive analysis answers the question.</a:t>
            </a:r>
          </a:p>
          <a:p>
            <a:r>
              <a:t/>
            </a:r>
          </a:p>
          <a:p>
            <a:r>
              <a:t>Continue to</a:t>
            </a:r>
          </a:p>
          <a:p>
            <a:r>
              <a:t>Two ways to make a computer decide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make a computer decide</a:t>
            </a:r>
          </a:p>
          <a:p>
            <a:r>
              <a:t>CML3111, Week 1, slide 20</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"This machine has three sensors on it. It failed last month. Could we have known?"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machine has three sensors on it. It failed last month. Could we have known?"</a:t>
            </a:r>
          </a:p>
          <a:p>
            <a:r>
              <a:t>CML3111, Week 1, slide 21</a:t>
            </a:r>
          </a:p>
          <a:p>
            <a:r>
              <a:t/>
            </a:r>
          </a:p>
          <a:p>
            <a:r>
              <a:t>Explanation to give</a:t>
            </a:r>
          </a:p>
          <a:p>
            <a:r>
              <a:t>Start from a decision somebody needs to make. Name the answer required, the information available beforehand, where examples could come from and what a mistake would cost.</a:t>
            </a:r>
          </a:p>
          <a:p>
            <a:r>
              <a:t/>
            </a:r>
          </a:p>
          <a:p>
            <a:r>
              <a:t>Worked illustration / lecturer answer</a:t>
            </a:r>
          </a:p>
          <a:p>
            <a:r>
              <a:t>“Predict energy consumption for next week to plan a budget” names a target, horizon and decision. “Use AI in buildings” is too broad to determine data or success criteria.</a:t>
            </a:r>
          </a:p>
          <a:p>
            <a:r>
              <a:t/>
            </a:r>
          </a:p>
          <a:p>
            <a:r>
              <a:t>Misconception to address</a:t>
            </a:r>
          </a:p>
          <a:p>
            <a:r>
              <a:t>A proposed dataset is not automatically appropriate because its title sounds relevant. Check what one row means and when its fields become available.</a:t>
            </a:r>
          </a:p>
          <a:p>
            <a:r>
              <a:t/>
            </a:r>
          </a:p>
          <a:p>
            <a:r>
              <a:t>Continue to</a:t>
            </a:r>
          </a:p>
          <a:p>
            <a:r>
              <a:t>Traditional programming, and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Traditional programming, and machine learning</a:t>
            </a:r>
          </a:p>
          <a:p>
            <a:r>
              <a:t>CML3111, Week 1, slide 22</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When to write the rule, and when to learn it from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write the rule, and when to learn it from data</a:t>
            </a:r>
          </a:p>
          <a:p>
            <a:r>
              <a:t>CML3111, Week 1, slide 23</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Data, features and targets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features and targets</a:t>
            </a:r>
          </a:p>
          <a:p>
            <a:r>
              <a:t>CML3111, Week 1, slide 24</a:t>
            </a:r>
          </a:p>
          <a:p>
            <a:r>
              <a:t/>
            </a:r>
          </a:p>
          <a:p>
            <a:r>
              <a:t>Explanation to give</a:t>
            </a:r>
          </a:p>
          <a:p>
            <a:r>
              <a:t>A feature is information available when making a prediction. The target is the answer recorded for training examples. One observation pairs its features with its own target.</a:t>
            </a:r>
          </a:p>
          <a:p>
            <a:r>
              <a:t/>
            </a:r>
          </a:p>
          <a:p>
            <a:r>
              <a:t>Worked illustration / lecturer answer</a:t>
            </a:r>
          </a:p>
          <a:p>
            <a:r>
              <a:t>To predict tomorrow's cooling load, today's available weather information may be a feature. Tomorrow's measured cooling load becomes a target later. It cannot also be an input available now.</a:t>
            </a:r>
          </a:p>
          <a:p>
            <a:r>
              <a:t/>
            </a:r>
          </a:p>
          <a:p>
            <a:r>
              <a:t>Misconception to address</a:t>
            </a:r>
          </a:p>
          <a:p>
            <a:r>
              <a:t>Information recorded after the decision can leak the answer. An identifier or row number is not automatically a meaningful predictor.</a:t>
            </a:r>
          </a:p>
          <a:p>
            <a:r>
              <a:t/>
            </a:r>
          </a:p>
          <a:p>
            <a:r>
              <a:t>Continue to</a:t>
            </a:r>
          </a:p>
          <a:p>
            <a:r>
              <a:t>Feature, and target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and target</a:t>
            </a:r>
          </a:p>
          <a:p>
            <a:r>
              <a:t>CML3111, Week 1, slide 25</a:t>
            </a:r>
          </a:p>
          <a:p>
            <a:r>
              <a:t/>
            </a:r>
          </a:p>
          <a:p>
            <a:r>
              <a:t>Explanation to give</a:t>
            </a:r>
          </a:p>
          <a:p>
            <a:r>
              <a:t>A feature is information available when making a prediction. The target is the answer recorded for training examples. One observation pairs its features with its own target.</a:t>
            </a:r>
          </a:p>
          <a:p>
            <a:r>
              <a:t/>
            </a:r>
          </a:p>
          <a:p>
            <a:r>
              <a:t>Worked illustration / lecturer answer</a:t>
            </a:r>
          </a:p>
          <a:p>
            <a:r>
              <a:t>To predict tomorrow's cooling load, today's available weather information may be a feature. Tomorrow's measured cooling load becomes a target later. It cannot also be an input available now.</a:t>
            </a:r>
          </a:p>
          <a:p>
            <a:r>
              <a:t/>
            </a:r>
          </a:p>
          <a:p>
            <a:r>
              <a:t>Misconception to address</a:t>
            </a:r>
          </a:p>
          <a:p>
            <a:r>
              <a:t>Information recorded after the decision can leak the answer. An identifier or row number is not automatically a meaningful predictor.</a:t>
            </a:r>
          </a:p>
          <a:p>
            <a:r>
              <a:t/>
            </a:r>
          </a:p>
          <a:p>
            <a:r>
              <a:t>Continue to</a:t>
            </a:r>
          </a:p>
          <a:p>
            <a:r>
              <a:t>Can you answer these?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you answer these?</a:t>
            </a:r>
          </a:p>
          <a:p>
            <a:r>
              <a:t>CML3111, Week 1, slide 26</a:t>
            </a:r>
          </a:p>
          <a:p>
            <a:r>
              <a:t/>
            </a:r>
          </a:p>
          <a:p>
            <a:r>
              <a:t>Explanation to give</a:t>
            </a:r>
          </a:p>
          <a:p>
            <a:r>
              <a:t>Explain each answer in relation to the question rather than giving only its letter or label.</a:t>
            </a:r>
          </a:p>
          <a:p>
            <a:r>
              <a:t/>
            </a:r>
          </a:p>
          <a:p>
            <a:r>
              <a:t>Worked illustration / lecturer answer</a:t>
            </a:r>
          </a:p>
          <a:p>
            <a:r>
              <a:t>ANSWERS</a:t>
            </a:r>
          </a:p>
          <a:p>
            <a:r>
              <a:t>How did you do?</a:t>
            </a:r>
          </a:p>
          <a:p>
            <a:r>
              <a:t>A</a:t>
            </a:r>
          </a:p>
          <a:p>
            <a:r>
              <a:t>Feature or target?</a:t>
            </a:r>
          </a:p>
          <a:p>
            <a:r>
              <a:t>The target. It is the thing you want to predict. Everything measured beforehand is a feature.</a:t>
            </a:r>
          </a:p>
          <a:p>
            <a:r>
              <a:t>B</a:t>
            </a:r>
          </a:p>
          <a:p>
            <a:r>
              <a:t>The repair column?</a:t>
            </a:r>
          </a:p>
          <a:p>
            <a:r>
              <a:t>No. The repair is recorded after the failure, so it is unavailable at prediction time. Including it would give misleading test results. This is data leakage.</a:t>
            </a:r>
          </a:p>
          <a:p>
            <a:r>
              <a:t>C</a:t>
            </a:r>
          </a:p>
          <a:p>
            <a:r>
              <a:t>A rule you already know?</a:t>
            </a:r>
          </a:p>
          <a:p>
            <a:r>
              <a:t>Anything with a formula or a code threshold: Power is voltage times current. Do not train a model to rediscover Ohm's law. If a validated equation exists, use the equation.</a:t>
            </a:r>
          </a:p>
          <a:p>
            <a:r>
              <a:t/>
            </a:r>
          </a:p>
          <a:p>
            <a:r>
              <a:t>Misconception to address</a:t>
            </a:r>
          </a:p>
          <a:p>
            <a:r>
              <a:t>Use a short lecturer-led walkthrough or individual thought time. Do not require partner work to unlock the explanation.</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CML3111, Week 1, slide 27</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Feature or target?</a:t>
            </a:r>
          </a:p>
          <a:p>
            <a:r>
              <a:t>The target. It is the thing you want to predict. Everything measured beforehand is a feature.</a:t>
            </a:r>
          </a:p>
          <a:p>
            <a:r>
              <a:t>The repair column?</a:t>
            </a:r>
          </a:p>
          <a:p>
            <a:r>
              <a:t>No. The repair is recorded after the failure, so it is unavailable at prediction time. Including it would give misleading test results. This is data leakage.</a:t>
            </a:r>
          </a:p>
          <a:p>
            <a:r>
              <a:t>A rule you already know?</a:t>
            </a:r>
          </a:p>
          <a:p>
            <a:r>
              <a:t>Anything with a formula or a code threshold: Power is voltage times current. Do not train a model to rediscover Ohm's law. If a validated equation exists, use the equation.</a:t>
            </a:r>
          </a:p>
          <a:p>
            <a:r>
              <a:t/>
            </a:r>
          </a:p>
          <a:p>
            <a:r>
              <a:t>Misconception to address</a:t>
            </a:r>
          </a:p>
          <a:p>
            <a:r>
              <a:t>If a student gives a different engineering example, check its reasoning and timing rather than requiring identical wording to the printed example.</a:t>
            </a:r>
          </a:p>
          <a:p>
            <a:r>
              <a:t/>
            </a:r>
          </a:p>
          <a:p>
            <a:r>
              <a:t>Continue to</a:t>
            </a:r>
          </a:p>
          <a:p>
            <a:r>
              <a:t>Hands on: predict case 13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on: predict case 13</a:t>
            </a:r>
          </a:p>
          <a:p>
            <a:r>
              <a:t>CML3111, Week 1, slide 28</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Your task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task</a:t>
            </a:r>
          </a:p>
          <a:p>
            <a:r>
              <a:t>CML3111, Week 1, slide 29</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Reading the pattern from twelve cases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pattern from twelve cases</a:t>
            </a:r>
          </a:p>
          <a:p>
            <a:r>
              <a:t>CML3111, Week 1, slide 30</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The answer, and your error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and your error</a:t>
            </a:r>
          </a:p>
          <a:p>
            <a:r>
              <a:t>CML3111, Week 1, slide 31</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Steps in a prediction task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in a prediction task</a:t>
            </a:r>
          </a:p>
          <a:p>
            <a:r>
              <a:t>CML3111, Week 1, slide 32</a:t>
            </a:r>
          </a:p>
          <a:p>
            <a:r>
              <a:t/>
            </a:r>
          </a:p>
          <a:p>
            <a:r>
              <a:t>Explanation to give</a:t>
            </a:r>
          </a:p>
          <a:p>
            <a:r>
              <a:t>Translate each action into its technical name only after describing the action. Reading records is exploration, forming a relationship is fitting, applying it to a new case is prediction and comparing against truth is evaluation.</a:t>
            </a:r>
          </a:p>
          <a:p>
            <a:r>
              <a:t/>
            </a:r>
          </a:p>
          <a:p>
            <a:r>
              <a:t>Worked illustration / lecturer answer</a:t>
            </a:r>
          </a:p>
          <a:p>
            <a:r>
              <a:t>In the paper example, the twelve labelled rows teach the provisional rule. The held-out case checks that rule. Later Python code makes these same actions repeatable on more records.</a:t>
            </a:r>
          </a:p>
          <a:p>
            <a:r>
              <a:t/>
            </a:r>
          </a:p>
          <a:p>
            <a:r>
              <a:t>Misconception to address</a:t>
            </a:r>
          </a:p>
          <a:p>
            <a:r>
              <a:t>Finding a pattern in the training examples is not the final success criterion. Keep asking how the rule behaves on unseen, relevant observations.</a:t>
            </a:r>
          </a:p>
          <a:p>
            <a:r>
              <a:t/>
            </a:r>
          </a:p>
          <a:p>
            <a:r>
              <a:t>Continue to</a:t>
            </a:r>
          </a:p>
          <a:p>
            <a:r>
              <a:t>Break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a:t>
            </a:r>
          </a:p>
          <a:p>
            <a:r>
              <a:t>CML3111, Week 1, slide 33</a:t>
            </a:r>
          </a:p>
          <a:p>
            <a:r>
              <a:t/>
            </a:r>
          </a:p>
          <a:p>
            <a:r>
              <a:t>Explanation to give</a:t>
            </a:r>
          </a:p>
          <a:p>
            <a:r>
              <a:t>Announce the actual return time based on the clock now, rather than leaving “ten minutes” ambiguous.</a:t>
            </a:r>
          </a:p>
          <a:p>
            <a:r>
              <a:t/>
            </a:r>
          </a:p>
          <a:p>
            <a:r>
              <a:t>Worked illustration / lecturer answer</a:t>
            </a:r>
          </a:p>
          <a:p>
            <a:r>
              <a:t>Save the current notebook before the break. On return, continue at the next topic named in the deck.</a:t>
            </a:r>
          </a:p>
          <a:p>
            <a:r>
              <a:t/>
            </a:r>
          </a:p>
          <a:p>
            <a:r>
              <a:t>Misconception to address</a:t>
            </a:r>
          </a:p>
          <a:p>
            <a:r>
              <a:t>No new assessment or group task is assigned by this divider.</a:t>
            </a:r>
          </a:p>
          <a:p>
            <a:r>
              <a:t/>
            </a:r>
          </a:p>
          <a:p>
            <a:r>
              <a:t>Continue to</a:t>
            </a:r>
          </a:p>
          <a:p>
            <a:r>
              <a:t>Two kinds of question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question</a:t>
            </a:r>
          </a:p>
          <a:p>
            <a:r>
              <a:t>CML3111, Week 1, slide 34</a:t>
            </a:r>
          </a:p>
          <a:p>
            <a:r>
              <a:t/>
            </a:r>
          </a:p>
          <a:p>
            <a:r>
              <a:t>Explanation to give</a:t>
            </a:r>
          </a:p>
          <a:p>
            <a:r>
              <a:t>This divider introduces Regression and classification. 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Keep this transition brief. The detailed demonstration follows; do not add another activity before students have seen it.</a:t>
            </a:r>
          </a:p>
          <a:p>
            <a:r>
              <a:t/>
            </a:r>
          </a:p>
          <a:p>
            <a:r>
              <a:t>Continue to</a:t>
            </a:r>
          </a:p>
          <a:p>
            <a:r>
              <a:t>Regression and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and classification</a:t>
            </a:r>
          </a:p>
          <a:p>
            <a:r>
              <a:t>CML3111, Week 1, slide 35</a:t>
            </a:r>
          </a:p>
          <a:p>
            <a:r>
              <a:t/>
            </a:r>
          </a:p>
          <a:p>
            <a:r>
              <a:t>Explanation to give</a:t>
            </a:r>
          </a:p>
          <a:p>
            <a:r>
              <a:t>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Do not choose regression just because the dataset contains numbers. Name the target and explain what a prediction means.</a:t>
            </a:r>
          </a:p>
          <a:p>
            <a:r>
              <a:t/>
            </a:r>
          </a:p>
          <a:p>
            <a:r>
              <a:t>Continue to</a:t>
            </a:r>
          </a:p>
          <a:p>
            <a:r>
              <a:t>Regression, and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and classification</a:t>
            </a:r>
          </a:p>
          <a:p>
            <a:r>
              <a:t>CML3111, Week 1, slide 36</a:t>
            </a:r>
          </a:p>
          <a:p>
            <a:r>
              <a:t/>
            </a:r>
          </a:p>
          <a:p>
            <a:r>
              <a:t>Explanation to give</a:t>
            </a:r>
          </a:p>
          <a:p>
            <a:r>
              <a:t>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Do not choose regression just because the dataset contains numbers. Name the target and explain what a prediction means.</a:t>
            </a:r>
          </a:p>
          <a:p>
            <a:r>
              <a:t/>
            </a:r>
          </a:p>
          <a:p>
            <a:r>
              <a:t>Continue to</a:t>
            </a:r>
          </a:p>
          <a:p>
            <a:r>
              <a:t>Can you answer these?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you answer these?</a:t>
            </a:r>
          </a:p>
          <a:p>
            <a:r>
              <a:t>CML3111, Week 1, slide 37</a:t>
            </a:r>
          </a:p>
          <a:p>
            <a:r>
              <a:t/>
            </a:r>
          </a:p>
          <a:p>
            <a:r>
              <a:t>Explanation to give</a:t>
            </a:r>
          </a:p>
          <a:p>
            <a:r>
              <a:t>Explain each answer in relation to the question rather than giving only its letter or label.</a:t>
            </a:r>
          </a:p>
          <a:p>
            <a:r>
              <a:t/>
            </a:r>
          </a:p>
          <a:p>
            <a:r>
              <a:t>Worked illustration / lecturer answer</a:t>
            </a:r>
          </a:p>
          <a:p>
            <a:r>
              <a:t>ANSWERS</a:t>
            </a:r>
          </a:p>
          <a:p>
            <a:r>
              <a:t>How did you do?</a:t>
            </a:r>
          </a:p>
          <a:p>
            <a:r>
              <a:t>A</a:t>
            </a:r>
          </a:p>
          <a:p>
            <a:r>
              <a:t>Days until replacement?</a:t>
            </a:r>
          </a:p>
          <a:p>
            <a:r>
              <a:t>Regression. The answer is a number with a unit — days.</a:t>
            </a:r>
          </a:p>
          <a:p>
            <a:r>
              <a:t>B</a:t>
            </a:r>
          </a:p>
          <a:p>
            <a:r>
              <a:t>Pass or fail?</a:t>
            </a:r>
          </a:p>
          <a:p>
            <a:r>
              <a:t>Classification. Two categories, so it is called binary classification.</a:t>
            </a:r>
          </a:p>
          <a:p>
            <a:r>
              <a:t>C</a:t>
            </a:r>
          </a:p>
          <a:p>
            <a:r>
              <a:t>Which of five fault types?</a:t>
            </a:r>
          </a:p>
          <a:p>
            <a:r>
              <a:t>Still classification, but multi-class rather than binary. It is harder: with five classes there are far more ways to be wrong, and a single accuracy figure hides which ones you get wrong. Week 9.</a:t>
            </a:r>
          </a:p>
          <a:p>
            <a:r>
              <a:t/>
            </a:r>
          </a:p>
          <a:p>
            <a:r>
              <a:t>Misconception to address</a:t>
            </a:r>
          </a:p>
          <a:p>
            <a:r>
              <a:t>Use a short lecturer-led walkthrough or individual thought time. Do not require partner work to unlock the explanation.</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CML3111, Week 1, slide 38</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Days until replacement?</a:t>
            </a:r>
          </a:p>
          <a:p>
            <a:r>
              <a:t>Regression. The answer is a number with a unit — days.</a:t>
            </a:r>
          </a:p>
          <a:p>
            <a:r>
              <a:t>Pass or fail?</a:t>
            </a:r>
          </a:p>
          <a:p>
            <a:r>
              <a:t>Classification. Two categories, so it is called binary classification.</a:t>
            </a:r>
          </a:p>
          <a:p>
            <a:r>
              <a:t>Which of five fault types?</a:t>
            </a:r>
          </a:p>
          <a:p>
            <a:r>
              <a:t>Still classification, but multi-class rather than binary. It is harder: with five classes there are far more ways to be wrong, and a single accuracy figure hides which ones you get wrong. Week 9.</a:t>
            </a:r>
          </a:p>
          <a:p>
            <a:r>
              <a:t/>
            </a:r>
          </a:p>
          <a:p>
            <a:r>
              <a:t>Misconception to address</a:t>
            </a:r>
          </a:p>
          <a:p>
            <a:r>
              <a:t>If a student gives a different engineering example, check its reasoning and timing rather than requiring identical wording to the printed example.</a:t>
            </a:r>
          </a:p>
          <a:p>
            <a:r>
              <a:t/>
            </a:r>
          </a:p>
          <a:p>
            <a:r>
              <a:t>Continue to</a:t>
            </a:r>
          </a:p>
          <a:p>
            <a:r>
              <a:t>What machine learning cannot do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machine learning cannot do</a:t>
            </a:r>
          </a:p>
          <a:p>
            <a:r>
              <a:t>CML3111, Week 1, slide 39</a:t>
            </a:r>
          </a:p>
          <a:p>
            <a:r>
              <a:t/>
            </a:r>
          </a:p>
          <a:p>
            <a:r>
              <a:t>Explanation to give</a:t>
            </a:r>
          </a:p>
          <a:p>
            <a:r>
              <a:t>This divider introduces Four limits, and none of them go away. Review whether usable observations exist, whether inputs contain predictive information, whether a validated rule already solves the problem and whether future conditions resemble the data.</a:t>
            </a:r>
          </a:p>
          <a:p>
            <a:r>
              <a:t/>
            </a:r>
          </a:p>
          <a:p>
            <a:r>
              <a:t>Worked illustration / lecturer answer</a:t>
            </a:r>
          </a:p>
          <a:p>
            <a:r>
              <a:t>Changing an equipment supplier may alter measurement behaviour and invalidate an older fitted relationship. A model trained only at one site needs evidence before use at another.</a:t>
            </a:r>
          </a:p>
          <a:p>
            <a:r>
              <a:t/>
            </a:r>
          </a:p>
          <a:p>
            <a:r>
              <a:t>Misconception to address</a:t>
            </a:r>
          </a:p>
          <a:p>
            <a:r>
              <a:t>Keep this transition brief. The detailed demonstration follows; do not add another activity before students have seen it.</a:t>
            </a:r>
          </a:p>
          <a:p>
            <a:r>
              <a:t/>
            </a:r>
          </a:p>
          <a:p>
            <a:r>
              <a:t>Continue to</a:t>
            </a:r>
          </a:p>
          <a:p>
            <a:r>
              <a:t>Four limits, and none of them go away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limits, and none of them go away</a:t>
            </a:r>
          </a:p>
          <a:p>
            <a:r>
              <a:t>CML3111, Week 1, slide 40</a:t>
            </a:r>
          </a:p>
          <a:p>
            <a:r>
              <a:t/>
            </a:r>
          </a:p>
          <a:p>
            <a:r>
              <a:t>Explanation to give</a:t>
            </a:r>
          </a:p>
          <a:p>
            <a:r>
              <a:t>Review whether usable observations exist, whether inputs contain predictive information, whether a validated rule already solves the problem and whether future conditions resemble the data.</a:t>
            </a:r>
          </a:p>
          <a:p>
            <a:r>
              <a:t/>
            </a:r>
          </a:p>
          <a:p>
            <a:r>
              <a:t>Worked illustration / lecturer answer</a:t>
            </a:r>
          </a:p>
          <a:p>
            <a:r>
              <a:t>Changing an equipment supplier may alter measurement behaviour and invalidate an older fitted relationship. A model trained only at one site needs evidence before use at another.</a:t>
            </a:r>
          </a:p>
          <a:p>
            <a:r>
              <a:t/>
            </a:r>
          </a:p>
          <a:p>
            <a:r>
              <a:t>Misconception to address</a:t>
            </a:r>
          </a:p>
          <a:p>
            <a:r>
              <a:t>Models can fail, abstain or be designed to flag uncertainty; avoid the absolute claim that they always return an answer and never signal a problem. The engineer still evaluates suitability.</a:t>
            </a:r>
          </a:p>
          <a:p>
            <a:r>
              <a:t/>
            </a:r>
          </a:p>
          <a:p>
            <a:r>
              <a:t>Continue to</a:t>
            </a:r>
          </a:p>
          <a:p>
            <a:r>
              <a:t>The same four limits, in your own discipline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four limits, in your own discipline</a:t>
            </a:r>
          </a:p>
          <a:p>
            <a:r>
              <a:t>CML3111, Week 1, slide 41</a:t>
            </a:r>
          </a:p>
          <a:p>
            <a:r>
              <a:t/>
            </a:r>
          </a:p>
          <a:p>
            <a:r>
              <a:t>Explanation to give</a:t>
            </a:r>
          </a:p>
          <a:p>
            <a:r>
              <a:t>Review whether usable observations exist, whether inputs contain predictive information, whether a validated rule already solves the problem and whether future conditions resemble the data.</a:t>
            </a:r>
          </a:p>
          <a:p>
            <a:r>
              <a:t/>
            </a:r>
          </a:p>
          <a:p>
            <a:r>
              <a:t>Worked illustration / lecturer answer</a:t>
            </a:r>
          </a:p>
          <a:p>
            <a:r>
              <a:t>Changing an equipment supplier may alter measurement behaviour and invalidate an older fitted relationship. A model trained only at one site needs evidence before use at another.</a:t>
            </a:r>
          </a:p>
          <a:p>
            <a:r>
              <a:t/>
            </a:r>
          </a:p>
          <a:p>
            <a:r>
              <a:t>Misconception to address</a:t>
            </a:r>
          </a:p>
          <a:p>
            <a:r>
              <a:t>Models can fail, abstain or be designed to flag uncertainty; avoid the absolute claim that they always return an answer and never signal a problem. The engineer still evaluates suitability.</a:t>
            </a:r>
          </a:p>
          <a:p>
            <a:r>
              <a:t/>
            </a:r>
          </a:p>
          <a:p>
            <a:r>
              <a:t>Continue to</a:t>
            </a:r>
          </a:p>
          <a:p>
            <a:r>
              <a:t>Challenge: the Problem Hunt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the Problem Hunt</a:t>
            </a:r>
          </a:p>
          <a:p>
            <a:r>
              <a:t>CML3111, Week 1, slide 42</a:t>
            </a:r>
          </a:p>
          <a:p>
            <a:r>
              <a:t/>
            </a:r>
          </a:p>
          <a:p>
            <a:r>
              <a:t>Explanation to give</a:t>
            </a:r>
          </a:p>
          <a:p>
            <a:r>
              <a:t>Start from a decision somebody needs to make. Name the answer required, the information available beforehand, where examples could come from and what a mistake would cost.</a:t>
            </a:r>
          </a:p>
          <a:p>
            <a:r>
              <a:t/>
            </a:r>
          </a:p>
          <a:p>
            <a:r>
              <a:t>Worked illustration / lecturer answer</a:t>
            </a:r>
          </a:p>
          <a:p>
            <a:r>
              <a:t>“Predict energy consumption for next week to plan a budget” names a target, horizon and decision. “Use AI in buildings” is too broad to determine data or success criteria.</a:t>
            </a:r>
          </a:p>
          <a:p>
            <a:r>
              <a:t/>
            </a:r>
          </a:p>
          <a:p>
            <a:r>
              <a:t>Misconception to address</a:t>
            </a:r>
          </a:p>
          <a:p>
            <a:r>
              <a:t>A proposed dataset is not automatically appropriate because its title sounds relevant. Check what one row means and when its fields become available.</a:t>
            </a:r>
          </a:p>
          <a:p>
            <a:r>
              <a:t/>
            </a:r>
          </a:p>
          <a:p>
            <a:r>
              <a:t>Continue to</a:t>
            </a:r>
          </a:p>
          <a:p>
            <a:r>
              <a:t>Problem Hunt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Hunt</a:t>
            </a:r>
          </a:p>
          <a:p>
            <a:r>
              <a:t>CML3111, Week 1, slide 43</a:t>
            </a:r>
          </a:p>
          <a:p>
            <a:r>
              <a:t/>
            </a:r>
          </a:p>
          <a:p>
            <a:r>
              <a:t>Explanation to give</a:t>
            </a:r>
          </a:p>
          <a:p>
            <a:r>
              <a:t>Start from a decision somebody needs to make. Name the answer required, the information available beforehand, where examples could come from and what a mistake would cost.</a:t>
            </a:r>
          </a:p>
          <a:p>
            <a:r>
              <a:t/>
            </a:r>
          </a:p>
          <a:p>
            <a:r>
              <a:t>Worked illustration / lecturer answer</a:t>
            </a:r>
          </a:p>
          <a:p>
            <a:r>
              <a:t>“Predict energy consumption for next week to plan a budget” names a target, horizon and decision. “Use AI in buildings” is too broad to determine data or success criteria.</a:t>
            </a:r>
          </a:p>
          <a:p>
            <a:r>
              <a:t/>
            </a:r>
          </a:p>
          <a:p>
            <a:r>
              <a:t>Misconception to address</a:t>
            </a:r>
          </a:p>
          <a:p>
            <a:r>
              <a:t>A proposed dataset is not automatically appropriate because its title sounds relevant. Check what one row means and when its fields become available.</a:t>
            </a:r>
          </a:p>
          <a:p>
            <a:r>
              <a:t/>
            </a:r>
          </a:p>
          <a:p>
            <a:r>
              <a:t>Continue to</a:t>
            </a:r>
          </a:p>
          <a:p>
            <a:r>
              <a:t>How your team works, all semester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your team works, all semester</a:t>
            </a:r>
          </a:p>
          <a:p>
            <a:r>
              <a:t>CML3111, Week 1, slide 44</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Gallery walk, and what you owe me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Gallery walk, and what you owe me</a:t>
            </a:r>
          </a:p>
          <a:p>
            <a:r>
              <a:t>CML3111, Week 1, slide 45</a:t>
            </a:r>
          </a:p>
          <a:p>
            <a:r>
              <a:t/>
            </a:r>
          </a:p>
          <a:p>
            <a:r>
              <a:t>Explanation to give</a:t>
            </a:r>
          </a:p>
          <a:p>
            <a:r>
              <a:t>Use this handover to state A1 clearly: three candidate problems and one justified selection, written as a short report.</a:t>
            </a:r>
          </a:p>
          <a:p>
            <a:r>
              <a:t/>
            </a:r>
          </a:p>
          <a:p>
            <a:r>
              <a:t>Worked illustration / lecturer answer</a:t>
            </a:r>
          </a:p>
          <a:p>
            <a:r>
              <a:t>Each problem identifies its inputs, target, possible data source and limitation. Submit one DOCX or selectable-text PDF through the A1 form. Account setup prepares for Week 2 and is separate from the report.</a:t>
            </a:r>
          </a:p>
          <a:p>
            <a:r>
              <a:t/>
            </a:r>
          </a:p>
          <a:p>
            <a:r>
              <a:t>Misconception to address</a:t>
            </a:r>
          </a:p>
          <a:p>
            <a:r>
              <a:t>Read the live deadline, including any catch-up extension. The historical gallery walk is optional; explain one sample problem directly when class time is limited.</a:t>
            </a:r>
          </a:p>
          <a:p>
            <a:r>
              <a:t/>
            </a:r>
          </a:p>
          <a:p>
            <a:r>
              <a:t>Continue to</a:t>
            </a:r>
          </a:p>
          <a:p>
            <a:r>
              <a:t>Before Week 2</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Week 2</a:t>
            </a:r>
          </a:p>
          <a:p>
            <a:r>
              <a:t>CML3111, Week 1, slide 46</a:t>
            </a:r>
          </a:p>
          <a:p>
            <a:r>
              <a:t/>
            </a:r>
          </a:p>
          <a:p>
            <a:r>
              <a:t>Explanation to give</a:t>
            </a:r>
          </a:p>
          <a:p>
            <a:r>
              <a:t>Use this handover to state A1 clearly: three candidate problems and one justified selection, written as a short report.</a:t>
            </a:r>
          </a:p>
          <a:p>
            <a:r>
              <a:t/>
            </a:r>
          </a:p>
          <a:p>
            <a:r>
              <a:t>Worked illustration / lecturer answer</a:t>
            </a:r>
          </a:p>
          <a:p>
            <a:r>
              <a:t>Each problem identifies its inputs, target, possible data source and limitation. Submit one DOCX or selectable-text PDF through the A1 form. Account setup prepares for Week 2 and is separate from the report.</a:t>
            </a:r>
          </a:p>
          <a:p>
            <a:r>
              <a:t/>
            </a:r>
          </a:p>
          <a:p>
            <a:r>
              <a:t>Misconception to address</a:t>
            </a:r>
          </a:p>
          <a:p>
            <a:r>
              <a:t>Read the live deadline, including any catch-up extension. The historical gallery walk is optional; explain one sample problem directly when class time is limited.</a:t>
            </a:r>
          </a:p>
          <a:p>
            <a:r>
              <a:t/>
            </a:r>
          </a:p>
          <a:p>
            <a:r>
              <a:t>Continue to</a:t>
            </a:r>
          </a:p>
          <a:p>
            <a:r>
              <a:t>Watch this before Week 2</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this before Week 2</a:t>
            </a:r>
          </a:p>
          <a:p>
            <a:r>
              <a:t>CML3111, Week 1, slide 47</a:t>
            </a:r>
          </a:p>
          <a:p>
            <a:r>
              <a:t/>
            </a:r>
          </a:p>
          <a:p>
            <a:r>
              <a:t>Explanation to give</a:t>
            </a:r>
          </a:p>
          <a:p>
            <a:r>
              <a:t>Give the viewing question before playing the excerpt: Explain the distinction or mechanism named on this video slide using one example from today.</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Reference / existing resource</a:t>
            </a:r>
          </a:p>
          <a:p>
            <a:r>
              <a:t>https://www.youtube.com/watch?v=Gv9_4yMHFhI,</a:t>
            </a:r>
          </a:p>
          <a:p>
            <a:r>
              <a:t>https://www.youtube.com/watch?v=PeMlggyqz0Y</a:t>
            </a:r>
          </a:p>
          <a:p>
            <a:r>
              <a:t/>
            </a:r>
          </a:p>
          <a:p>
            <a:r>
              <a:t>Continue to</a:t>
            </a:r>
          </a:p>
          <a:p>
            <a:r>
              <a:t>Revision material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Revision material</a:t>
            </a:r>
          </a:p>
          <a:p>
            <a:r>
              <a:t>CML3111, Week 1, slide 48</a:t>
            </a:r>
          </a:p>
          <a:p>
            <a:r>
              <a:t/>
            </a:r>
          </a:p>
          <a:p>
            <a:r>
              <a:t>Explanation to give</a:t>
            </a:r>
          </a:p>
          <a:p>
            <a:r>
              <a:t>Orient students to this particular lesson: explain what they will see demonstrated, which file they will use and what they must retain for revision. Keep the transition short enough to preserve explanation time.</a:t>
            </a:r>
          </a:p>
          <a:p>
            <a:r>
              <a:t/>
            </a:r>
          </a:p>
          <a:p>
            <a:r>
              <a:t>Worked illustration / lecturer answer</a:t>
            </a:r>
          </a:p>
          <a:p>
            <a:r>
              <a:t>Open the next worked example on the projector and name its input and intended result. Demonstrate it yourself before asking students to interpret a result. Use remaining summary and glossary pages for independent revision.</a:t>
            </a:r>
          </a:p>
          <a:p>
            <a:r>
              <a:t/>
            </a:r>
          </a:p>
          <a:p>
            <a:r>
              <a:t>Misconception to address</a:t>
            </a:r>
          </a:p>
          <a:p>
            <a:r>
              <a:t>The historical slide's timed group activity is not a requirement to stop for partner work. Use a lecturer-led walkthrough in the current limited class time.</a:t>
            </a:r>
          </a:p>
          <a:p>
            <a:r>
              <a:t/>
            </a:r>
          </a:p>
          <a:p>
            <a:r>
              <a:t>Continue to</a:t>
            </a:r>
          </a:p>
          <a:p>
            <a:r>
              <a:t>What you should take away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 should take away</a:t>
            </a:r>
          </a:p>
          <a:p>
            <a:r>
              <a:t>CML3111, Week 1, slide 49</a:t>
            </a:r>
          </a:p>
          <a:p>
            <a:r>
              <a:t/>
            </a:r>
          </a:p>
          <a:p>
            <a:r>
              <a:t>Explanation to give</a:t>
            </a:r>
          </a:p>
          <a:p>
            <a:r>
              <a:t>Start with an engineering decision, then introduce learning from examples. No code is needed today.</a:t>
            </a:r>
          </a:p>
          <a:p>
            <a:r>
              <a:t/>
            </a:r>
          </a:p>
          <a:p>
            <a:r>
              <a:t>Worked illustration / lecturer answer</a:t>
            </a:r>
          </a:p>
          <a:p>
            <a:r>
              <a:t>A numerical quantity such as days until servicing is a regression target. A label such as service due is a classification target.</a:t>
            </a:r>
          </a:p>
          <a:p>
            <a:r>
              <a:t/>
            </a:r>
          </a:p>
          <a:p>
            <a:r>
              <a:t>Misconception to address</a:t>
            </a:r>
          </a:p>
          <a:p>
            <a:r>
              <a:t>Use the outcomes listed on this slide to check understanding through the small examples, rather than asking only whether everybody understands.</a:t>
            </a:r>
          </a:p>
          <a:p>
            <a:r>
              <a:t/>
            </a:r>
          </a:p>
          <a:p>
            <a:r>
              <a:t>Continue to</a:t>
            </a:r>
          </a:p>
          <a:p>
            <a:r>
              <a:t>Self-test — try these before you look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Self-test — try these before you look</a:t>
            </a:r>
          </a:p>
          <a:p>
            <a:r>
              <a:t>CML3111, Week 1, slide 50</a:t>
            </a:r>
          </a:p>
          <a:p>
            <a:r>
              <a:t/>
            </a:r>
          </a:p>
          <a:p>
            <a:r>
              <a:t>Explanation to give</a:t>
            </a:r>
          </a:p>
          <a:p>
            <a:r>
              <a:t>Explain each answer in relation to the question rather than giving only its letter or label.</a:t>
            </a:r>
          </a:p>
          <a:p>
            <a:r>
              <a:t/>
            </a:r>
          </a:p>
          <a:p>
            <a:r>
              <a:t>Worked illustration / lecturer answer</a:t>
            </a:r>
          </a:p>
          <a:p>
            <a:r>
              <a:t>ANSWERS</a:t>
            </a:r>
          </a:p>
          <a:p>
            <a:r>
              <a:t>How did you do?</a:t>
            </a:r>
          </a:p>
          <a:p>
            <a:r>
              <a:t>A</a:t>
            </a:r>
          </a:p>
          <a:p>
            <a:r>
              <a:t>Three questions before agreeing to 'use AI'?</a:t>
            </a:r>
          </a:p>
          <a:p>
            <a:r>
              <a:t>What value do you want to predict? Which recorded data can help? Is an established equation suitable? Resolve these questions before choosing a model.</a:t>
            </a:r>
          </a:p>
          <a:p>
            <a:r>
              <a:t>B</a:t>
            </a:r>
          </a:p>
          <a:p>
            <a:r>
              <a:t>Features and target in a repair table?</a:t>
            </a:r>
          </a:p>
          <a:p>
            <a:r>
              <a:t>The target is whatever you want to predict — say time to next failure. Features are everything known BEFORE that: operating hours, load, temperature. The test is timing: anything only known afterwards cannot be a feature.</a:t>
            </a:r>
          </a:p>
          <a:p>
            <a:r>
              <a:t>C</a:t>
            </a:r>
          </a:p>
          <a:p>
            <a:r>
              <a:t>One of each from your discipline?</a:t>
            </a:r>
          </a:p>
          <a:p>
            <a:r>
              <a:t>Regression: any quantity with a unit — shaft torque in N·m. Classification: failure or no failure; or fault type: bearing, winding, imbalance.</a:t>
            </a:r>
          </a:p>
          <a:p>
            <a:r>
              <a:t>D</a:t>
            </a:r>
          </a:p>
          <a:p>
            <a:r>
              <a:t>Why is a good fit on seen data not evidence?</a:t>
            </a:r>
          </a:p>
          <a:p>
            <a:r>
              <a:t>A model may memorise its training examples. Evaluate it on separate examples to check whether it predicts new cases well.</a:t>
            </a:r>
          </a:p>
          <a:p>
            <a:r>
              <a:t>E</a:t>
            </a:r>
          </a:p>
          <a:p>
            <a:r>
              <a:t>What else before acting?</a:t>
            </a:r>
          </a:p>
          <a:p>
            <a:r>
              <a:t>How large the error is in engineering terms and whether that is tolerable; what it costs when the model is wrong; and whether today's conditions still resemble the data it learned from.</a:t>
            </a:r>
          </a:p>
          <a:p>
            <a:r>
              <a:t/>
            </a:r>
          </a:p>
          <a:p>
            <a:r>
              <a:t>Misconception to address</a:t>
            </a:r>
          </a:p>
          <a:p>
            <a:r>
              <a:t>Use a short lecturer-led walkthrough or individual thought time. Do not require partner work to unlock the explanation.</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CML3111, Week 1, slide 51</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Three questions before agreeing to 'use AI'?</a:t>
            </a:r>
          </a:p>
          <a:p>
            <a:r>
              <a:t>What value do you want to predict? Which recorded data can help? Is an established equation suitable? Resolve these questions before choosing a model.</a:t>
            </a:r>
          </a:p>
          <a:p>
            <a:r>
              <a:t>Features and target in a repair table?</a:t>
            </a:r>
          </a:p>
          <a:p>
            <a:r>
              <a:t>The target is whatever you want to predict — say time to next failure. Features are everything known BEFORE that: operating hours, load, temperature. The test is timing: anything only known afterwards cannot be a feature.</a:t>
            </a:r>
          </a:p>
          <a:p>
            <a:r>
              <a:t>One of each from your discipline?</a:t>
            </a:r>
          </a:p>
          <a:p>
            <a:r>
              <a:t>Regression: any quantity with a unit — shaft torque in N·m. Classification: failure or no failure; or fault type: bearing, winding, imbalance.</a:t>
            </a:r>
          </a:p>
          <a:p>
            <a:r>
              <a:t>Why is a good fit on seen data not evidence?</a:t>
            </a:r>
          </a:p>
          <a:p>
            <a:r>
              <a:t>A model may memorise its training examples. Evaluate it on separate examples to check whether it predicts new cases well.</a:t>
            </a:r>
          </a:p>
          <a:p>
            <a:r>
              <a:t>What else before acting?</a:t>
            </a:r>
          </a:p>
          <a:p>
            <a:r>
              <a:t>How large the error is in engineering terms and whether that is tolerable; what it costs when the model is wrong; and whether today's conditions still resemble the data it learned from.</a:t>
            </a:r>
          </a:p>
          <a:p>
            <a:r>
              <a:t/>
            </a:r>
          </a:p>
          <a:p>
            <a:r>
              <a:t>Misconception to address</a:t>
            </a:r>
          </a:p>
          <a:p>
            <a:r>
              <a:t>If a student gives a different engineering example, check its reasoning and timing rather than requiring identical wording to the printed example.</a:t>
            </a:r>
          </a:p>
          <a:p>
            <a:r>
              <a:t/>
            </a:r>
          </a:p>
          <a:p>
            <a:r>
              <a:t>Continue to</a:t>
            </a:r>
          </a:p>
          <a:p>
            <a:r>
              <a:t>Every word we used today (1 of 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(3 of 3)</a:t>
            </a:r>
          </a:p>
          <a:p>
            <a:r>
              <a:t>CML3111, Week 1, slide 54</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Generalisation means working on relevant observations not used to learn the model. Overfitting captures training-specific detail; underfitting misses useful structure even in training.</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A very deep tree may memorise noisy training readings. A constant baseline may miss a clear trend. Compare training and validation errors to diagnose these possibilities.</a:t>
            </a:r>
          </a:p>
          <a:p>
            <a:r>
              <a:t/>
            </a:r>
          </a:p>
          <a:p>
            <a:r>
              <a:t>Misconception to address</a:t>
            </a:r>
          </a:p>
          <a:p>
            <a:r>
              <a:t>Use this page for revision. Connect each word to the concrete example just taught; do not introduce all the definitions as new material in one block.</a:t>
            </a:r>
          </a:p>
          <a:p>
            <a:r>
              <a:t/>
            </a:r>
          </a:p>
          <a:p>
            <a:r>
              <a:t>Continue to</a:t>
            </a:r>
          </a:p>
          <a:p>
            <a:r>
              <a:t>Eight questions to ask about any data problem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questions to ask about any data problem</a:t>
            </a:r>
          </a:p>
          <a:p>
            <a:r>
              <a:t>CML3111, Week 1, slide 55</a:t>
            </a:r>
          </a:p>
          <a:p>
            <a:r>
              <a:t/>
            </a:r>
          </a:p>
          <a:p>
            <a:r>
              <a:t>Explanation to give</a:t>
            </a:r>
          </a:p>
          <a:p>
            <a:r>
              <a:t>Start from a decision somebody needs to make. Name the answer required, the information available beforehand, where examples could come from and what a mistake would cost.</a:t>
            </a:r>
          </a:p>
          <a:p>
            <a:r>
              <a:t/>
            </a:r>
          </a:p>
          <a:p>
            <a:r>
              <a:t>Worked illustration / lecturer answer</a:t>
            </a:r>
          </a:p>
          <a:p>
            <a:r>
              <a:t>“Predict energy consumption for next week to plan a budget” names a target, horizon and decision. “Use AI in buildings” is too broad to determine data or success criteria.</a:t>
            </a:r>
          </a:p>
          <a:p>
            <a:r>
              <a:t/>
            </a:r>
          </a:p>
          <a:p>
            <a:r>
              <a:t>Misconception to address</a:t>
            </a:r>
          </a:p>
          <a:p>
            <a:r>
              <a:t>A proposed dataset is not automatically appropriate because its title sounds relevant. Check what one row means and when its fields become available.</a:t>
            </a:r>
          </a:p>
          <a:p>
            <a:r>
              <a:t/>
            </a:r>
          </a:p>
          <a:p>
            <a:r>
              <a:t>Continue to</a:t>
            </a:r>
          </a:p>
          <a:p>
            <a:r>
              <a:t>Five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questions,</a:t>
            </a:r>
          </a:p>
          <a:p>
            <a:r>
              <a:t>CML3111, Week 1, slide 56</a:t>
            </a:r>
          </a:p>
          <a:p>
            <a:r>
              <a:t/>
            </a:r>
          </a:p>
          <a:p>
            <a:r>
              <a:t>Explanation to give</a:t>
            </a:r>
          </a:p>
          <a:p>
            <a:r>
              <a:t>This is the CML3111 Week 1 quiz. The student link opens the response form; it does not activate its window. In Quiz Controls use open_W1_CML3111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Continue to</a:t>
            </a:r>
          </a:p>
          <a:p>
            <a:r>
              <a:t>You have already done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have already done</a:t>
            </a:r>
          </a:p>
          <a:p>
            <a:r>
              <a:t>CML3111, Week 1, slide 57</a:t>
            </a:r>
          </a:p>
          <a:p>
            <a:r>
              <a:t/>
            </a:r>
          </a:p>
          <a:p>
            <a:r>
              <a:t>Explanation to give</a:t>
            </a:r>
          </a:p>
          <a:p>
            <a:r>
              <a:t>Translate each action into its technical name only after describing the action. Reading records is exploration, forming a relationship is fitting, applying it to a new case is prediction and comparing against truth is evaluation.</a:t>
            </a:r>
          </a:p>
          <a:p>
            <a:r>
              <a:t/>
            </a:r>
          </a:p>
          <a:p>
            <a:r>
              <a:t>Worked illustration / lecturer answer</a:t>
            </a:r>
          </a:p>
          <a:p>
            <a:r>
              <a:t>In the paper example, the twelve labelled rows teach the provisional rule. The held-out case checks that rule. Later Python code makes these same actions repeatable on more records.</a:t>
            </a:r>
          </a:p>
          <a:p>
            <a:r>
              <a:t/>
            </a:r>
          </a:p>
          <a:p>
            <a:r>
              <a:t>Misconception to address</a:t>
            </a:r>
          </a:p>
          <a:p>
            <a:r>
              <a:t>Finding a pattern in the training examples is not the final success criterion. Keep asking how the rule behaves on unseen, relevant observations.</a:t>
            </a:r>
          </a:p>
        </p:txBody>
      </p:sp>
      <p:sp>
        <p:nvSpPr>
          <p:cNvPr id="4" name="Slide Number Placeholder 3"/>
          <p:cNvSpPr>
            <a:spLocks noGrp="1"/>
          </p:cNvSpPr>
          <p:nvPr>
            <p:ph type="sldNum" idx="5" sz="quarter"/>
          </p:nvPr>
        </p:nvSpPr>
        <p:spPr/>
      </p:sp>
    </p:spTree>
  </p:cSld>
  <p:clrMapOvr>
    <a:masterClrMapping/>
  </p:clrMapOvr>
</p:notes>
</file>

<file path=ppt/notesSlides/notesSlide100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(1 of 3)</a:t>
            </a:r>
          </a:p>
          <a:p>
            <a:r>
              <a:t>CML3111, Week 1, slide 52</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Contrast who supplies the decision rule. In conventional programming, the developer writes the rule. In supervised learning, the training examples contain inputs and known answers from which a fitting procedure estimates a rule.</a:t>
            </a:r>
          </a:p>
          <a:p>
            <a:r>
              <a:t/>
            </a:r>
          </a:p>
          <a:p>
            <a:r>
              <a:t>Data science includes finding and examining data, correcting documented defects, analysing patterns and communicating justified conclusions. A prediction model is one possible tool within that work.</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If a verified formula calculates area from length and width, use it. If many interacting readings affect an outcome and suitable labelled examples exist, a learned predictor may be worth evaluating.</a:t>
            </a:r>
          </a:p>
          <a:p>
            <a:r>
              <a:t/>
            </a:r>
          </a:p>
          <a:p>
            <a:r>
              <a:t>Before predicting energy use, check whether meter readings use the same unit and time interval. Discovering that half the readings are missing is already a meaningful data finding.</a:t>
            </a:r>
          </a:p>
          <a:p>
            <a:r>
              <a:t/>
            </a:r>
          </a:p>
          <a:p>
            <a:r>
              <a:t>Misconception to address</a:t>
            </a:r>
          </a:p>
          <a:p>
            <a:r>
              <a:t>Use this page for revision. Connect each word to the concrete example just taught; do not introduce all the definitions as new material in one block.</a:t>
            </a:r>
          </a:p>
          <a:p>
            <a:r>
              <a:t/>
            </a:r>
          </a:p>
          <a:p>
            <a:r>
              <a:t>Continue to</a:t>
            </a:r>
          </a:p>
          <a:p>
            <a:r>
              <a:t>Every word we used today (2 of 3)</a:t>
            </a:r>
          </a:p>
        </p:txBody>
      </p:sp>
      <p:sp>
        <p:nvSpPr>
          <p:cNvPr id="4" name="Slide Number Placeholder 3"/>
          <p:cNvSpPr>
            <a:spLocks noGrp="1"/>
          </p:cNvSpPr>
          <p:nvPr>
            <p:ph type="sldNum" idx="5" sz="quarter"/>
          </p:nvPr>
        </p:nvSpPr>
        <p:spPr/>
      </p:sp>
    </p:spTree>
  </p:cSld>
  <p:clrMapOvr>
    <a:masterClrMapping/>
  </p:clrMapOvr>
</p:notes>
</file>

<file path=ppt/notesSlides/notesSlide100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(2 of 3)</a:t>
            </a:r>
          </a:p>
          <a:p>
            <a:r>
              <a:t>CML3111, Week 1, slide 53</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Use this page for revision. Connect each word to the concrete example just taught; do not introduce all the definitions as new material in one block.</a:t>
            </a:r>
          </a:p>
          <a:p>
            <a:r>
              <a:t/>
            </a:r>
          </a:p>
          <a:p>
            <a:r>
              <a:t>Continue to</a:t>
            </a:r>
          </a:p>
          <a:p>
            <a:r>
              <a:t>Every word we used today (3 of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2.xml" /></ns0:Relationships>
</file>

<file path=ppt/slides/_rels/slide5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3.xml" /></ns0: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sensors, signals, energy systems, fault detection and machine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10,000 machine-hours of sensor readings, each labelled with whether a failure followed.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sensor logs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"This machine has three sensors on it. It failed last month. Could we have known?"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ACTUAL IDEA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Traditional programming, and machine learning</a:t>
            </a:r>
          </a:p>
        </p:txBody>
      </p:sp>
      <p:pic>
        <p:nvPicPr>
          <p:cNvPr id="4" name="Picture 3" descr="rules_vs_learning.png"/>
          <p:cNvPicPr>
            <a:picLocks noChangeAspect="1"/>
          </p:cNvPicPr>
          <p:nvPr/>
        </p:nvPicPr>
        <p:blipFill>
          <a:blip r:embed="rId2"/>
          <a:stretch>
            <a:fillRect/>
          </a:stretch>
        </p:blipFill>
        <p:spPr>
          <a:xfrm>
            <a:off x="1304533" y="1911095"/>
            <a:ext cx="95826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the way you already know: you work out the rule and write it down. On the right, the new way: you do not know the rule, but you have examples of inputs and the answers that followed, and the computer works out a rule from them.</a:t>
            </a:r>
          </a:p>
        </p:txBody>
      </p:sp>
    </p:spTree>
  </p:cSld>
  <p:clrMapOvr>
    <a:masterClrMapping/>
  </p:clrMapOvr>
</p:sld>
</file>

<file path=ppt/slides/slide2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1.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rotational speed, torque and tool wear are the features. Whether the machine fails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Tool wear is associated with failure; the model learns the association and knows nothing about metal fatigue.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AI4I 2020 Predictive Maintenance records, is whether the machine fails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Feature or target?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target. It is the thing you want to predict. Everything measured beforehand is a feature.</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repair column?</a:t>
            </a:r>
          </a:p>
        </p:txBody>
      </p:sp>
      <p:sp>
        <p:nvSpPr>
          <p:cNvPr id="9" name="TextBox 8"/>
          <p:cNvSpPr txBox="1"/>
          <p:nvPr/>
        </p:nvSpPr>
        <p:spPr>
          <a:xfrm>
            <a:off x="1216152" y="300690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The repair is recorded after the failure, so it is unavailable at prediction time. Including it would give misleading test results. This is data leakage.</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rule you already know?</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Anything with a formula or a code threshold: Power is voltage times current. Do not train a model to rediscover Ohm's law. If a validated equation exists, use the equation.</a:t>
            </a:r>
          </a:p>
        </p:txBody>
      </p:sp>
    </p:spTree>
  </p:cSld>
  <p:clrMapOvr>
    <a:masterClrMapping/>
  </p:clrMapOvr>
</p:sld>
</file>

<file path=ppt/slides/slide28.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 TASK · 15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task</a:t>
            </a:r>
          </a:p>
        </p:txBody>
      </p:sp>
      <p:pic>
        <p:nvPicPr>
          <p:cNvPr id="4" name="Picture 3" descr="hand_pred_before_CML3111.png"/>
          <p:cNvPicPr>
            <a:picLocks noChangeAspect="1"/>
          </p:cNvPicPr>
          <p:nvPr/>
        </p:nvPicPr>
        <p:blipFill>
          <a:blip r:embed="rId2"/>
          <a:stretch>
            <a:fillRect/>
          </a:stretch>
        </p:blipFill>
        <p:spPr>
          <a:xfrm>
            <a:off x="2933706" y="1911095"/>
            <a:ext cx="632428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Twelve cases show their inputs and measured outcomes. Case 13 shows only its inputs. Predict its outcome and write one sentence explaining your choice.</a:t>
            </a:r>
          </a:p>
        </p:txBody>
      </p:sp>
    </p:spTree>
  </p:cSld>
  <p:clrMapOvr>
    <a:masterClrMapping/>
  </p:clrMapOvr>
</p:sld>
</file>

<file path=ppt/slides/slide3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1.png"/>
          <p:cNvPicPr>
            <a:picLocks noChangeAspect="1"/>
          </p:cNvPicPr>
          <p:nvPr/>
        </p:nvPicPr>
        <p:blipFill>
          <a:blip r:embed="rId2"/>
          <a:stretch>
            <a:fillRect/>
          </a:stretch>
        </p:blipFill>
        <p:spPr>
          <a:xfrm>
            <a:off x="3043648" y="1911095"/>
            <a:ext cx="610439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NAMING IT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Steps in a prediction task</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you called it</a:t>
            </a:r>
          </a:p>
        </p:txBody>
      </p:sp>
      <p:sp>
        <p:nvSpPr>
          <p:cNvPr id="5" name="TextBox 4"/>
          <p:cNvSpPr txBox="1"/>
          <p:nvPr/>
        </p:nvSpPr>
        <p:spPr>
          <a:xfrm>
            <a:off x="685800"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looked at the table.</a:t>
            </a:r>
          </a:p>
        </p:txBody>
      </p:sp>
      <p:sp>
        <p:nvSpPr>
          <p:cNvPr id="6" name="TextBox 5"/>
          <p:cNvSpPr txBox="1"/>
          <p:nvPr/>
        </p:nvSpPr>
        <p:spPr>
          <a:xfrm>
            <a:off x="685800"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noticed which columns seemed to matter.</a:t>
            </a:r>
          </a:p>
        </p:txBody>
      </p:sp>
      <p:sp>
        <p:nvSpPr>
          <p:cNvPr id="7" name="TextBox 6"/>
          <p:cNvSpPr txBox="1"/>
          <p:nvPr/>
        </p:nvSpPr>
        <p:spPr>
          <a:xfrm>
            <a:off x="685800"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worked out a rough rule in your head.</a:t>
            </a:r>
          </a:p>
        </p:txBody>
      </p:sp>
      <p:sp>
        <p:nvSpPr>
          <p:cNvPr id="8" name="TextBox 7"/>
          <p:cNvSpPr txBox="1"/>
          <p:nvPr/>
        </p:nvSpPr>
        <p:spPr>
          <a:xfrm>
            <a:off x="685800" y="377449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applied it to a case you had not seen.</a:t>
            </a:r>
          </a:p>
        </p:txBody>
      </p:sp>
      <p:sp>
        <p:nvSpPr>
          <p:cNvPr id="9" name="TextBox 8"/>
          <p:cNvSpPr txBox="1"/>
          <p:nvPr/>
        </p:nvSpPr>
        <p:spPr>
          <a:xfrm>
            <a:off x="685800" y="424844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compared your prediction with the measured value.</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it is called</a:t>
            </a:r>
          </a:p>
        </p:txBody>
      </p:sp>
      <p:sp>
        <p:nvSpPr>
          <p:cNvPr id="11" name="TextBox 10"/>
          <p:cNvSpPr txBox="1"/>
          <p:nvPr/>
        </p:nvSpPr>
        <p:spPr>
          <a:xfrm>
            <a:off x="6347307"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explored the data. That is Weeks 5 and 6.</a:t>
            </a:r>
          </a:p>
        </p:txBody>
      </p:sp>
      <p:sp>
        <p:nvSpPr>
          <p:cNvPr id="12" name="TextBox 11"/>
          <p:cNvSpPr txBox="1"/>
          <p:nvPr/>
        </p:nvSpPr>
        <p:spPr>
          <a:xfrm>
            <a:off x="6347307"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selected features. That is Week 11.</a:t>
            </a:r>
          </a:p>
        </p:txBody>
      </p:sp>
      <p:sp>
        <p:nvSpPr>
          <p:cNvPr id="13" name="TextBox 12"/>
          <p:cNvSpPr txBox="1"/>
          <p:nvPr/>
        </p:nvSpPr>
        <p:spPr>
          <a:xfrm>
            <a:off x="6347307"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fitted a model. That is Week 8.</a:t>
            </a:r>
          </a:p>
        </p:txBody>
      </p:sp>
      <p:sp>
        <p:nvSpPr>
          <p:cNvPr id="14" name="TextBox 13"/>
          <p:cNvSpPr txBox="1"/>
          <p:nvPr/>
        </p:nvSpPr>
        <p:spPr>
          <a:xfrm>
            <a:off x="6347307" y="37744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predicted a value for a case that was not used to find the pattern.</a:t>
            </a:r>
          </a:p>
        </p:txBody>
      </p:sp>
      <p:sp>
        <p:nvSpPr>
          <p:cNvPr id="15" name="TextBox 14"/>
          <p:cNvSpPr txBox="1"/>
          <p:nvPr/>
        </p:nvSpPr>
        <p:spPr>
          <a:xfrm>
            <a:off x="6347307" y="45852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measured the prediction error. Week 10 covers model evaluation.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Nothing after the break needs a computer.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1.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Regression, and classification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REGRESSION predicts a number on a continuous scale. CLASSIFICATION predicts which of a small number of categories a case belongs to.</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Regression: how many N·m? Classification: failure or no failure; or fault type: bearing, winding, imbalance.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Ask 'what would the answer look like written down?' A quantity with a unit means regression. A word or a label means classification.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replacement?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The answer is a number with a unit — days.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Pass or fail?</a:t>
            </a:r>
          </a:p>
        </p:txBody>
      </p:sp>
      <p:sp>
        <p:nvSpPr>
          <p:cNvPr id="9" name="TextBox 8"/>
          <p:cNvSpPr txBox="1"/>
          <p:nvPr/>
        </p:nvSpPr>
        <p:spPr>
          <a:xfrm>
            <a:off x="1216152" y="3006900"/>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Classification. Two categories, so it is called binary classification.</a:t>
            </a:r>
          </a:p>
        </p:txBody>
      </p:sp>
      <p:sp>
        <p:nvSpPr>
          <p:cNvPr id="10" name="Oval 9"/>
          <p:cNvSpPr/>
          <p:nvPr/>
        </p:nvSpPr>
        <p:spPr>
          <a:xfrm>
            <a:off x="685800" y="35540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5174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Which of five fault types?</a:t>
            </a:r>
          </a:p>
        </p:txBody>
      </p:sp>
      <p:sp>
        <p:nvSpPr>
          <p:cNvPr id="12" name="TextBox 11"/>
          <p:cNvSpPr txBox="1"/>
          <p:nvPr/>
        </p:nvSpPr>
        <p:spPr>
          <a:xfrm>
            <a:off x="1216152" y="38100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Still classification, but multi-class rather than binary. It is harder: with five classes there are far more ways to be wrong, and a single accuracy figure hides which ones you get wrong. Week 9.</a:t>
            </a:r>
          </a:p>
        </p:txBody>
      </p:sp>
    </p:spTree>
  </p:cSld>
  <p:clrMapOvr>
    <a:masterClrMapping/>
  </p:clrMapOvr>
</p:sld>
</file>

<file path=ppt/slides/slide3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motors in most plants have no sensor on them at all. There is nothing to learn from.</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cabinet's paint colour does not predict bearing failure. Feed it in and a model will still produce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Power is voltage times current. Do not train a model to rediscover Ohm's law. Do not use a model where an equation will do.</a:t>
            </a:r>
          </a:p>
        </p:txBody>
      </p:sp>
      <p:sp>
        <p:nvSpPr>
          <p:cNvPr id="10" name="TextBox 9"/>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before a rewind or a firmware change may silently stop being true afterwards.</a:t>
            </a:r>
          </a:p>
        </p:txBody>
      </p:sp>
      <p:sp>
        <p:nvSpPr>
          <p:cNvPr id="12" name="TextBox 11"/>
          <p:cNvSpPr txBox="1"/>
          <p:nvPr/>
        </p:nvSpPr>
        <p:spPr>
          <a:xfrm>
            <a:off x="6347307"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4903547"/>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2.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sensors, signals, energy systems, fault detection and machine health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your team works, all semester</a:t>
            </a:r>
          </a:p>
        </p:txBody>
      </p:sp>
      <p:sp>
        <p:nvSpPr>
          <p:cNvPr id="4" name="TextBox 3"/>
          <p:cNvSpPr txBox="1"/>
          <p:nvPr/>
        </p:nvSpPr>
        <p:spPr>
          <a:xfrm>
            <a:off x="685800"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Project teams of four or five</a:t>
            </a:r>
          </a:p>
        </p:txBody>
      </p:sp>
      <p:sp>
        <p:nvSpPr>
          <p:cNvPr id="5" name="TextBox 4"/>
          <p:cNvSpPr txBox="1"/>
          <p:nvPr/>
        </p:nvSpPr>
        <p:spPr>
          <a:xfrm>
            <a:off x="685800"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will do two projects together: a data analysis project due Week 8, and the Engineering ML Project from Week 9 to Week 15.</a:t>
            </a:r>
          </a:p>
        </p:txBody>
      </p:sp>
      <p:sp>
        <p:nvSpPr>
          <p:cNvPr id="6" name="TextBox 5"/>
          <p:cNvSpPr txBox="1"/>
          <p:nvPr/>
        </p:nvSpPr>
        <p:spPr>
          <a:xfrm>
            <a:off x="685800"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Roles rotate at every milestone</a:t>
            </a:r>
          </a:p>
        </p:txBody>
      </p:sp>
      <p:sp>
        <p:nvSpPr>
          <p:cNvPr id="7" name="TextBox 6"/>
          <p:cNvSpPr txBox="1"/>
          <p:nvPr/>
        </p:nvSpPr>
        <p:spPr>
          <a:xfrm>
            <a:off x="685800"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Project roles: data analysis, modelling, engineering review, documentation and presentation. Rotate roles so each member practises different skills.</a:t>
            </a:r>
          </a:p>
        </p:txBody>
      </p:sp>
      <p:sp>
        <p:nvSpPr>
          <p:cNvPr id="8" name="TextBox 7"/>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Individual accountability is built in</a:t>
            </a:r>
          </a:p>
        </p:txBody>
      </p:sp>
      <p:sp>
        <p:nvSpPr>
          <p:cNvPr id="9" name="TextBox 8"/>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Sixty-five per cent of the mark is individual. Your team keeps a contribution log, and it is checked against the repository history.</a:t>
            </a:r>
          </a:p>
        </p:txBody>
      </p:sp>
      <p:sp>
        <p:nvSpPr>
          <p:cNvPr id="10" name="TextBox 9"/>
          <p:cNvSpPr txBox="1"/>
          <p:nvPr/>
        </p:nvSpPr>
        <p:spPr>
          <a:xfrm>
            <a:off x="6347307"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In Week 15, each student answers two unseen questions about the team’s work. The answers contribute to individual assessment.</a:t>
            </a:r>
          </a:p>
        </p:txBody>
      </p:sp>
      <p:sp>
        <p:nvSpPr>
          <p:cNvPr id="11" name="TextBox 10"/>
          <p:cNvSpPr txBox="1"/>
          <p:nvPr/>
        </p:nvSpPr>
        <p:spPr>
          <a:xfrm>
            <a:off x="6347307" y="503023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Sign the team charter before you leave</a:t>
            </a:r>
          </a:p>
        </p:txBody>
      </p:sp>
      <p:sp>
        <p:nvSpPr>
          <p:cNvPr id="12" name="TextBox 11"/>
          <p:cNvSpPr txBox="1"/>
          <p:nvPr/>
        </p:nvSpPr>
        <p:spPr>
          <a:xfrm>
            <a:off x="6347307" y="546186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Names, contact details, a weekly meeting slot, and what you will do if somebody stops contributing. Agreeing that now is much easier than agreeing it in November.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9</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Gallery walk, and what you owe 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Critique two other teams' boards, then the assignment and the pre-work for next week.</a:t>
            </a:r>
          </a:p>
        </p:txBody>
      </p:sp>
    </p:spTree>
  </p:cSld>
  <p:clrMapOvr>
    <a:masterClrMapping/>
  </p:clrMapOvr>
</p:sld>
</file>

<file path=ppt/slides/slide4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Artificial intelligence is a goal; machine learning is one way of reaching it; data science is the craft of getting a trustworthy answer out of data at all.</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In traditional programming you write the rule. In machine learning you supply examples and the computer infers the rule — and you then have to decide whether to trust it.</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Regression predicts a number with a unit. Classification predicts which of a small set of categories a case belongs to. The same data can pose either question.</a:t>
            </a:r>
          </a:p>
        </p:txBody>
      </p:sp>
      <p:sp>
        <p:nvSpPr>
          <p:cNvPr id="12" name="Oval 11"/>
          <p:cNvSpPr/>
          <p:nvPr/>
        </p:nvSpPr>
        <p:spPr>
          <a:xfrm>
            <a:off x="685800" y="48577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0289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model learns association. It does not learn cause, and a good fit is no evidence of a mechanism.</a:t>
            </a:r>
          </a:p>
        </p:txBody>
      </p:sp>
      <p:sp>
        <p:nvSpPr>
          <p:cNvPr id="14" name="Oval 13"/>
          <p:cNvSpPr/>
          <p:nvPr/>
        </p:nvSpPr>
        <p:spPr>
          <a:xfrm>
            <a:off x="685800" y="52923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375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Check for missing data, weak predictive patterns, better physical models and changes in operating conditions.</a:t>
            </a:r>
          </a:p>
        </p:txBody>
      </p:sp>
      <p:sp>
        <p:nvSpPr>
          <p:cNvPr id="16" name="Oval 15"/>
          <p:cNvSpPr/>
          <p:nvPr/>
        </p:nvSpPr>
        <p:spPr>
          <a:xfrm>
            <a:off x="685800" y="57270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72150"/>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prediction alone does not show that a model is useful. Check the data, errors and limits of the intended use.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shaft torque to within a few N·m.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shaft torque in N·m. Classification: failure or no failure; or fault type: bearing, winding, imbalance.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(1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Artificial intelligence</a:t>
            </a:r>
          </a:p>
        </p:txBody>
      </p:sp>
      <p:sp>
        <p:nvSpPr>
          <p:cNvPr id="5" name="TextBox 4"/>
          <p:cNvSpPr txBox="1"/>
          <p:nvPr/>
        </p:nvSpPr>
        <p:spPr>
          <a:xfrm>
            <a:off x="685800"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Any machine doing something we would call intelligent. A goal that many techniques aim at.</a:t>
            </a:r>
          </a:p>
        </p:txBody>
      </p:sp>
      <p:sp>
        <p:nvSpPr>
          <p:cNvPr id="6" name="TextBox 5"/>
          <p:cNvSpPr txBox="1"/>
          <p:nvPr/>
        </p:nvSpPr>
        <p:spPr>
          <a:xfrm>
            <a:off x="685800"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Machine learning</a:t>
            </a:r>
          </a:p>
        </p:txBody>
      </p:sp>
      <p:sp>
        <p:nvSpPr>
          <p:cNvPr id="7" name="TextBox 6"/>
          <p:cNvSpPr txBox="1"/>
          <p:nvPr/>
        </p:nvSpPr>
        <p:spPr>
          <a:xfrm>
            <a:off x="685800"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Inferring a rule from examples instead of writing it yourself.</a:t>
            </a:r>
          </a:p>
        </p:txBody>
      </p:sp>
      <p:sp>
        <p:nvSpPr>
          <p:cNvPr id="8" name="TextBox 7"/>
          <p:cNvSpPr txBox="1"/>
          <p:nvPr/>
        </p:nvSpPr>
        <p:spPr>
          <a:xfrm>
            <a:off x="685800" y="426781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Deep learning</a:t>
            </a:r>
          </a:p>
        </p:txBody>
      </p:sp>
      <p:sp>
        <p:nvSpPr>
          <p:cNvPr id="9" name="TextBox 8"/>
          <p:cNvSpPr txBox="1"/>
          <p:nvPr/>
        </p:nvSpPr>
        <p:spPr>
          <a:xfrm>
            <a:off x="685800" y="463502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Machine learning using large neural networks. Semester 2.</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science</a:t>
            </a:r>
          </a:p>
        </p:txBody>
      </p:sp>
      <p:sp>
        <p:nvSpPr>
          <p:cNvPr id="11" name="TextBox 10"/>
          <p:cNvSpPr txBox="1"/>
          <p:nvPr/>
        </p:nvSpPr>
        <p:spPr>
          <a:xfrm>
            <a:off x="685800" y="551754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craft of getting a trustworthy answer out of data — finding, cleaning, questioning, analysing, presenting.</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Dataset</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table of past cases you can learn from.</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Example (or row, or observation)</a:t>
            </a:r>
          </a:p>
        </p:txBody>
      </p:sp>
      <p:sp>
        <p:nvSpPr>
          <p:cNvPr id="15" name="TextBox 14"/>
          <p:cNvSpPr txBox="1"/>
          <p:nvPr/>
        </p:nvSpPr>
        <p:spPr>
          <a:xfrm>
            <a:off x="6324447" y="3160824"/>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One case: all its features plus its known outcome.</a:t>
            </a:r>
          </a:p>
        </p:txBody>
      </p:sp>
      <p:sp>
        <p:nvSpPr>
          <p:cNvPr id="16" name="TextBox 15"/>
          <p:cNvSpPr txBox="1"/>
          <p:nvPr/>
        </p:nvSpPr>
        <p:spPr>
          <a:xfrm>
            <a:off x="6324447" y="367612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Feature</a:t>
            </a:r>
          </a:p>
        </p:txBody>
      </p:sp>
      <p:sp>
        <p:nvSpPr>
          <p:cNvPr id="17" name="TextBox 16"/>
          <p:cNvSpPr txBox="1"/>
          <p:nvPr/>
        </p:nvSpPr>
        <p:spPr>
          <a:xfrm>
            <a:off x="6324447" y="404333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column known before the outcome. An input to the prediction.</a:t>
            </a:r>
          </a:p>
        </p:txBody>
      </p:sp>
      <p:sp>
        <p:nvSpPr>
          <p:cNvPr id="18" name="TextBox 17"/>
          <p:cNvSpPr txBox="1"/>
          <p:nvPr/>
        </p:nvSpPr>
        <p:spPr>
          <a:xfrm>
            <a:off x="6324447" y="485448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Target (or label)</a:t>
            </a:r>
          </a:p>
        </p:txBody>
      </p:sp>
      <p:sp>
        <p:nvSpPr>
          <p:cNvPr id="19" name="TextBox 18"/>
          <p:cNvSpPr txBox="1"/>
          <p:nvPr/>
        </p:nvSpPr>
        <p:spPr>
          <a:xfrm>
            <a:off x="6324447" y="522169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column you are trying to predict.</a:t>
            </a:r>
          </a:p>
        </p:txBody>
      </p:sp>
    </p:spTree>
  </p:cSld>
  <p:clrMapOvr>
    <a:masterClrMapping/>
  </p:clrMapOvr>
</p:sld>
</file>

<file path=ppt/slides/slide5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(2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Regression</a:t>
            </a:r>
          </a:p>
        </p:txBody>
      </p:sp>
      <p:sp>
        <p:nvSpPr>
          <p:cNvPr id="5" name="TextBox 4"/>
          <p:cNvSpPr txBox="1"/>
          <p:nvPr/>
        </p:nvSpPr>
        <p:spPr>
          <a:xfrm>
            <a:off x="685800"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a number on a continuous scale.</a:t>
            </a:r>
          </a:p>
        </p:txBody>
      </p:sp>
      <p:sp>
        <p:nvSpPr>
          <p:cNvPr id="6" name="TextBox 5"/>
          <p:cNvSpPr txBox="1"/>
          <p:nvPr/>
        </p:nvSpPr>
        <p:spPr>
          <a:xfrm>
            <a:off x="685800"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Classification</a:t>
            </a:r>
          </a:p>
        </p:txBody>
      </p:sp>
      <p:sp>
        <p:nvSpPr>
          <p:cNvPr id="7" name="TextBox 6"/>
          <p:cNvSpPr txBox="1"/>
          <p:nvPr/>
        </p:nvSpPr>
        <p:spPr>
          <a:xfrm>
            <a:off x="685800"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which of a small set of categories a case belongs to.</a:t>
            </a:r>
          </a:p>
        </p:txBody>
      </p:sp>
      <p:sp>
        <p:nvSpPr>
          <p:cNvPr id="8" name="TextBox 7"/>
          <p:cNvSpPr txBox="1"/>
          <p:nvPr/>
        </p:nvSpPr>
        <p:spPr>
          <a:xfrm>
            <a:off x="685800"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Binary classification</a:t>
            </a:r>
          </a:p>
        </p:txBody>
      </p:sp>
      <p:sp>
        <p:nvSpPr>
          <p:cNvPr id="9" name="TextBox 8"/>
          <p:cNvSpPr txBox="1"/>
          <p:nvPr/>
        </p:nvSpPr>
        <p:spPr>
          <a:xfrm>
            <a:off x="685800"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exactly two categories, such as pass or fail.</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Multi-class classification</a:t>
            </a:r>
          </a:p>
        </p:txBody>
      </p:sp>
      <p:sp>
        <p:nvSpPr>
          <p:cNvPr id="11" name="TextBox 10"/>
          <p:cNvSpPr txBox="1"/>
          <p:nvPr/>
        </p:nvSpPr>
        <p:spPr>
          <a:xfrm>
            <a:off x="685800" y="5517542"/>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three or more categories.</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Prediction</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model's answer for a case.</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Error</a:t>
            </a:r>
          </a:p>
        </p:txBody>
      </p:sp>
      <p:sp>
        <p:nvSpPr>
          <p:cNvPr id="15" name="TextBox 14"/>
          <p:cNvSpPr txBox="1"/>
          <p:nvPr/>
        </p:nvSpPr>
        <p:spPr>
          <a:xfrm>
            <a:off x="6324447"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Prediction error is the difference between the predicted and measured values.</a:t>
            </a:r>
          </a:p>
        </p:txBody>
      </p:sp>
      <p:sp>
        <p:nvSpPr>
          <p:cNvPr id="16" name="TextBox 15"/>
          <p:cNvSpPr txBox="1"/>
          <p:nvPr/>
        </p:nvSpPr>
        <p:spPr>
          <a:xfrm>
            <a:off x="6324447"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Unseen data</a:t>
            </a:r>
          </a:p>
        </p:txBody>
      </p:sp>
      <p:sp>
        <p:nvSpPr>
          <p:cNvPr id="17" name="TextBox 16"/>
          <p:cNvSpPr txBox="1"/>
          <p:nvPr/>
        </p:nvSpPr>
        <p:spPr>
          <a:xfrm>
            <a:off x="6324447"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Cases the model was not shown while it was learning. The only fair test.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Eight questions to ask about any data problem</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1 · What exactly am I predicting?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Name the target column and its unit. If you cannot, you do not have a problem yet.</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2 · Is it a number or a category?</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would the answer look like written down? A quantity with a unit means regression; a word means classification.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3 · What do I know beforehand?</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List the features. Check every one: would I really have this before the outcome?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4 · Where does the data come from?</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Who measured it, how often, over what period, and is it actually kept anywhere?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5 · Would a rule or an equation do this better?</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a code of practice or a validated formula answers it, use that instead.</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6 · How will I know if I am wrong?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need cases the model has never seen. Decide now how you will hold some back.</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7 · What does being wrong cost?</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false alarm and a missed failure are not equally bad. That asymmetry decides which model you pick.</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8 · Do today's conditions still resemble the data?</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the process, material or plant has changed, the model may be quietly obsolete.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Features and target read off a table, regression told from classification, and one of the four limits applied to a case.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Enter your own Student Registration Number exactly as recorded.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24 hours from lecturer activation, then it closes.</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1_W0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have already done</a:t>
            </a:r>
          </a:p>
          <a:p>
            <a:pPr algn="l">
              <a:lnSpc>
                <a:spcPct val="110000"/>
              </a:lnSpc>
              <a:spcAft>
                <a:spcPts val="600"/>
              </a:spcAft>
            </a:pPr>
            <a:r>
              <a:rPr sz="3400" b="1" i="0">
                <a:solidFill>
                  <a:srgbClr val="FFFFFF"/>
                </a:solidFill>
                <a:latin typeface="Cambria"/>
              </a:rPr>
              <a:t>machine learning once.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Today you used twelve rows of data to make a prediction and measure its error. Later lessons use Python to repeat these calculations on larger datasets.</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Colab notebooks and version control. Bring a laptop with a browser.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