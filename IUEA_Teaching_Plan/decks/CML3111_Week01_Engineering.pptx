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AI, machine learning</a:t>
            </a:r>
          </a:p>
          <a:p>
            <a:r>
              <a:t/>
            </a:r>
          </a:p>
          <a:p>
            <a:r>
              <a:t>LECTURER CUE</a:t>
            </a:r>
          </a:p>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Jotham Martin Wambi.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Jotham Martin Wambi</a:t>
            </a:r>
          </a:p>
          <a:p>
            <a:r>
              <a:t/>
            </a:r>
          </a:p>
          <a:p>
            <a:r>
              <a:t>CONNECT</a:t>
            </a:r>
          </a:p>
          <a:p>
            <a:r>
              <a:t>Build on the preceding slide: AI, machine learning.</a:t>
            </a:r>
          </a:p>
          <a:p>
            <a:r>
              <a:t/>
            </a:r>
          </a:p>
          <a:p>
            <a:r>
              <a:t>LECTURER CUE</a:t>
            </a:r>
          </a:p>
          <a:p>
            <a:r>
              <a:t>A short introduction, and there is a reason for it beyond courtesy.</a:t>
            </a:r>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r>
              <a:t>Third, so the claims in this course are checkable. Where I tell you a technique behaves a certain way, it is usually because I have watched it fail somewhere first.</a:t>
            </a:r>
          </a:p>
          <a:p>
            <a:r>
              <a:t>The contact details are real. Use them.</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By the end of today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today you can…</a:t>
            </a:r>
          </a:p>
          <a:p>
            <a:r>
              <a:t/>
            </a:r>
          </a:p>
          <a:p>
            <a:r>
              <a:t>CONNECT</a:t>
            </a:r>
          </a:p>
          <a:p>
            <a:r>
              <a:t>Build on the preceding slide: Jotham Martin Wambi.</a:t>
            </a:r>
          </a:p>
          <a:p>
            <a:r>
              <a:t/>
            </a:r>
          </a:p>
          <a:p>
            <a:r>
              <a:t>LECTURER CUE</a:t>
            </a:r>
          </a:p>
          <a:p>
            <a:r>
              <a:t>Seven objectives, and they are the whole session. Nothing is hidden behind them and there is no reading list you are expected to have done. Mark yourself against each one at the end of the session; whatever you cannot claim is what to revise before Week 2.</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How every session this semester is shaped.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every session this semester is shaped</a:t>
            </a:r>
          </a:p>
          <a:p>
            <a:r>
              <a:t/>
            </a:r>
          </a:p>
          <a:p>
            <a:r>
              <a:t>CONNECT</a:t>
            </a:r>
          </a:p>
          <a:p>
            <a:r>
              <a:t>Build on the preceding slide: By the end of today you can….</a:t>
            </a:r>
          </a:p>
          <a:p>
            <a:r>
              <a:t/>
            </a:r>
          </a:p>
          <a:p>
            <a:r>
              <a:t>LECTURER CUE</a:t>
            </a:r>
          </a:p>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a:p>
            <a:r>
              <a:t/>
            </a:r>
          </a:p>
          <a:p>
            <a:r>
              <a:t>NEXT</a:t>
            </a:r>
          </a:p>
          <a:p>
            <a:r>
              <a:t>Where this semester goes.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semester goes</a:t>
            </a:r>
          </a:p>
          <a:p>
            <a:r>
              <a:t/>
            </a:r>
          </a:p>
          <a:p>
            <a:r>
              <a:t>CONNECT</a:t>
            </a:r>
          </a:p>
          <a:p>
            <a:r>
              <a:t>Build on the preceding slide: How every session this semester is shaped.</a:t>
            </a:r>
          </a:p>
          <a:p>
            <a:r>
              <a:t/>
            </a:r>
          </a:p>
          <a:p>
            <a:r>
              <a:t>LECTURER CUE</a:t>
            </a:r>
          </a:p>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a:p>
            <a:r>
              <a:t/>
            </a:r>
          </a:p>
          <a:p>
            <a:r>
              <a:t>NEXT</a:t>
            </a:r>
          </a:p>
          <a:p>
            <a:r>
              <a:t>What you will be able to say by December.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will be able to say by December</a:t>
            </a:r>
          </a:p>
          <a:p>
            <a:r>
              <a:t/>
            </a:r>
          </a:p>
          <a:p>
            <a:r>
              <a:t>CONNECT</a:t>
            </a:r>
          </a:p>
          <a:p>
            <a:r>
              <a:t>Build on the preceding slide: Where this semester goes.</a:t>
            </a:r>
          </a:p>
          <a:p>
            <a:r>
              <a:t/>
            </a:r>
          </a:p>
          <a:p>
            <a:r>
              <a:t>LECTURER CUE</a:t>
            </a:r>
          </a:p>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a:p>
            <a:r>
              <a:t/>
            </a:r>
          </a:p>
          <a:p>
            <a:r>
              <a:t>NEXT</a:t>
            </a:r>
          </a:p>
          <a:p>
            <a:r>
              <a:t>Welcome, and how this course works.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Welcome, and how this course works</a:t>
            </a:r>
          </a:p>
          <a:p>
            <a:r>
              <a:t/>
            </a:r>
          </a:p>
          <a:p>
            <a:r>
              <a:t>CONNECT</a:t>
            </a:r>
          </a:p>
          <a:p>
            <a:r>
              <a:t>Build on the preceding slide: What you will be able to say by December.</a:t>
            </a:r>
          </a:p>
          <a:p>
            <a:r>
              <a:t/>
            </a:r>
          </a:p>
          <a:p>
            <a:r>
              <a:t>LECTURER CUE</a:t>
            </a:r>
          </a:p>
          <a:p>
            <a:r>
              <a:t>Fifteen minutes on how the course works: the promise, the assessment, and what is expected on both sides. Everything after this segment is engineering.</a:t>
            </a:r>
          </a:p>
          <a:p>
            <a:r>
              <a:t/>
            </a:r>
          </a:p>
          <a:p>
            <a:r>
              <a:t>NEXT</a:t>
            </a:r>
          </a:p>
          <a:p>
            <a:r>
              <a:t>How you are assessed.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 are assessed</a:t>
            </a:r>
          </a:p>
          <a:p>
            <a:r>
              <a:t/>
            </a:r>
          </a:p>
          <a:p>
            <a:r>
              <a:t>CONNECT</a:t>
            </a:r>
          </a:p>
          <a:p>
            <a:r>
              <a:t>Build on the preceding slide: Welcome, and how this course works.</a:t>
            </a:r>
          </a:p>
          <a:p>
            <a:r>
              <a:t/>
            </a:r>
          </a:p>
          <a:p>
            <a:r>
              <a:t>LECTURER CUE</a:t>
            </a:r>
          </a:p>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a:p>
            <a:r>
              <a:t/>
            </a:r>
          </a:p>
          <a:p>
            <a:r>
              <a:t>NEXT</a:t>
            </a:r>
          </a:p>
          <a:p>
            <a:r>
              <a:t>What I expect, and what you can expect back.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I expect, and what you can expect back</a:t>
            </a:r>
          </a:p>
          <a:p>
            <a:r>
              <a:t/>
            </a:r>
          </a:p>
          <a:p>
            <a:r>
              <a:t>CONNECT</a:t>
            </a:r>
          </a:p>
          <a:p>
            <a:r>
              <a:t>Build on the preceding slide: How you are assessed.</a:t>
            </a:r>
          </a:p>
          <a:p>
            <a:r>
              <a:t/>
            </a:r>
          </a:p>
          <a:p>
            <a:r>
              <a:t>LECTURER CUE</a:t>
            </a:r>
          </a:p>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a:p>
            <a:r>
              <a:t/>
            </a:r>
          </a:p>
          <a:p>
            <a:r>
              <a:t>NEXT</a:t>
            </a:r>
          </a:p>
          <a:p>
            <a:r>
              <a:t>The whole field, start to finish.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whole field, start to finish</a:t>
            </a:r>
          </a:p>
          <a:p>
            <a:r>
              <a:t/>
            </a:r>
          </a:p>
          <a:p>
            <a:r>
              <a:t>CONNECT</a:t>
            </a:r>
          </a:p>
          <a:p>
            <a:r>
              <a:t>Build on the preceding slide: What I expect, and what you can expect back.</a:t>
            </a:r>
          </a:p>
          <a:p>
            <a:r>
              <a:t/>
            </a:r>
          </a:p>
          <a:p>
            <a:r>
              <a:t>LECTURER CUE</a:t>
            </a:r>
          </a:p>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a:p>
            <a:r>
              <a:t/>
            </a:r>
          </a:p>
          <a:p>
            <a:r>
              <a:t>NEXT</a:t>
            </a:r>
          </a:p>
          <a:p>
            <a:r>
              <a:t>The machine learning roadmap.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machine learning roadmap</a:t>
            </a:r>
          </a:p>
          <a:p>
            <a:r>
              <a:t/>
            </a:r>
          </a:p>
          <a:p>
            <a:r>
              <a:t>CONNECT</a:t>
            </a:r>
          </a:p>
          <a:p>
            <a:r>
              <a:t>Build on the preceding slide: The whole field, start to finish.</a:t>
            </a:r>
          </a:p>
          <a:p>
            <a:r>
              <a:t/>
            </a:r>
          </a:p>
          <a:p>
            <a:r>
              <a:t>LECTURER CUE</a:t>
            </a:r>
          </a:p>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Stage 2 is the one that matters to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Stage 2 is the one that matters to you</a:t>
            </a:r>
          </a:p>
          <a:p>
            <a:r>
              <a:t/>
            </a:r>
          </a:p>
          <a:p>
            <a:r>
              <a:t>CONNECT</a:t>
            </a:r>
          </a:p>
          <a:p>
            <a:r>
              <a:t>Build on the preceding slide: The machine learning roadmap.</a:t>
            </a:r>
          </a:p>
          <a:p>
            <a:r>
              <a:t/>
            </a:r>
          </a:p>
          <a:p>
            <a:r>
              <a:t>LECTURER CUE</a:t>
            </a:r>
          </a:p>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Where this course sits, honestly.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course sits, honestly</a:t>
            </a:r>
          </a:p>
          <a:p>
            <a:r>
              <a:t/>
            </a:r>
          </a:p>
          <a:p>
            <a:r>
              <a:t>CONNECT</a:t>
            </a:r>
          </a:p>
          <a:p>
            <a:r>
              <a:t>Build on the preceding slide: Stage 2 is the one that matters to you.</a:t>
            </a:r>
          </a:p>
          <a:p>
            <a:r>
              <a:t/>
            </a:r>
          </a:p>
          <a:p>
            <a:r>
              <a:t>LECTURER CUE</a:t>
            </a:r>
          </a:p>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a:p>
            <a:r>
              <a:t/>
            </a:r>
          </a:p>
          <a:p>
            <a:r>
              <a:t>NEXT</a:t>
            </a:r>
          </a:p>
          <a:p>
            <a:r>
              <a:t>Four jobs this field splits into.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jobs this field splits into</a:t>
            </a:r>
          </a:p>
          <a:p>
            <a:r>
              <a:t/>
            </a:r>
          </a:p>
          <a:p>
            <a:r>
              <a:t>CONNECT</a:t>
            </a:r>
          </a:p>
          <a:p>
            <a:r>
              <a:t>Build on the preceding slide: Where this course sits, honestly.</a:t>
            </a:r>
          </a:p>
          <a:p>
            <a:r>
              <a:t/>
            </a:r>
          </a:p>
          <a:p>
            <a:r>
              <a:t>LECTURER CUE</a:t>
            </a:r>
          </a:p>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What this course is actually about.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this course is actually about</a:t>
            </a:r>
          </a:p>
          <a:p>
            <a:r>
              <a:t/>
            </a:r>
          </a:p>
          <a:p>
            <a:r>
              <a:t>CONNECT</a:t>
            </a:r>
          </a:p>
          <a:p>
            <a:r>
              <a:t>Build on the preceding slide: Four jobs this field splits into.</a:t>
            </a:r>
          </a:p>
          <a:p>
            <a:r>
              <a:t/>
            </a:r>
          </a:p>
          <a:p>
            <a:r>
              <a:t>LECTURER CUE</a:t>
            </a:r>
          </a:p>
          <a:p>
            <a:r>
              <a:t>Three words — artificial intelligence, machine learning, data science — get used interchangeably in job adverts, papers and vendor brochures. Fifteen minutes here is what lets you read those documents without being misled by them.</a:t>
            </a:r>
          </a:p>
          <a:p>
            <a:r>
              <a:t/>
            </a:r>
          </a:p>
          <a:p>
            <a:r>
              <a:t>NEXT</a:t>
            </a:r>
          </a:p>
          <a:p>
            <a:r>
              <a:t>The words, and how they nest.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and how they nest</a:t>
            </a:r>
          </a:p>
          <a:p>
            <a:r>
              <a:t/>
            </a:r>
          </a:p>
          <a:p>
            <a:r>
              <a:t>CONNECT</a:t>
            </a:r>
          </a:p>
          <a:p>
            <a:r>
              <a:t>Build on the preceding slide: What this course is actually about.</a:t>
            </a:r>
          </a:p>
          <a:p>
            <a:r>
              <a:t/>
            </a:r>
          </a:p>
          <a:p>
            <a:r>
              <a:t>LECTURER CUE</a:t>
            </a:r>
          </a:p>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Artificial intelligence.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Artificial intelligence</a:t>
            </a:r>
          </a:p>
          <a:p>
            <a:r>
              <a:t/>
            </a:r>
          </a:p>
          <a:p>
            <a:r>
              <a:t>CONNECT</a:t>
            </a:r>
          </a:p>
          <a:p>
            <a:r>
              <a:t>Build on the preceding slide: The words, and how they nest.</a:t>
            </a:r>
          </a:p>
          <a:p>
            <a:r>
              <a:t/>
            </a:r>
          </a:p>
          <a:p>
            <a:r>
              <a:t>LECTURER CUE</a:t>
            </a:r>
          </a:p>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Machine learning</a:t>
            </a:r>
          </a:p>
          <a:p>
            <a:r>
              <a:t/>
            </a:r>
          </a:p>
          <a:p>
            <a:r>
              <a:t>CONNECT</a:t>
            </a:r>
          </a:p>
          <a:p>
            <a:r>
              <a:t>Build on the preceding slide: Artificial intelligence.</a:t>
            </a:r>
          </a:p>
          <a:p>
            <a:r>
              <a:t/>
            </a:r>
          </a:p>
          <a:p>
            <a:r>
              <a:t>LECTURER CUE</a:t>
            </a:r>
          </a:p>
          <a:p>
            <a:r>
              <a:t>This is the definition the rest of the course rests on. Note the last step of the example: the computer infers a relationship and you then decide whether to trust it. That step is the easy one to skip, and Weeks 10 to 14 are entirely about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Data science.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Data science</a:t>
            </a:r>
          </a:p>
          <a:p>
            <a:r>
              <a:t/>
            </a:r>
          </a:p>
          <a:p>
            <a:r>
              <a:t>CONNECT</a:t>
            </a:r>
          </a:p>
          <a:p>
            <a:r>
              <a:t>Build on the preceding slide: Machine learning.</a:t>
            </a:r>
          </a:p>
          <a:p>
            <a:r>
              <a:t/>
            </a:r>
          </a:p>
          <a:p>
            <a:r>
              <a:t>LECTURER CUE</a:t>
            </a:r>
          </a:p>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Two ways to make a computer decide.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ways to make a computer decide</a:t>
            </a:r>
          </a:p>
          <a:p>
            <a:r>
              <a:t/>
            </a:r>
          </a:p>
          <a:p>
            <a:r>
              <a:t>CONNECT</a:t>
            </a:r>
          </a:p>
          <a:p>
            <a:r>
              <a:t>Build on the preceding slide: Data science.</a:t>
            </a:r>
          </a:p>
          <a:p>
            <a:r>
              <a:t/>
            </a:r>
          </a:p>
          <a:p>
            <a:r>
              <a:t>LECTURER CUE</a:t>
            </a:r>
          </a:p>
          <a:p>
            <a:r>
              <a:t>The core teaching segment of the session: the difference between writing a rule and inferring one from examples, plus the vocabulary for talking about a table of data. Everything from Week 5 onwards assumes both.</a:t>
            </a:r>
          </a:p>
          <a:p>
            <a:r>
              <a:t/>
            </a:r>
          </a:p>
          <a:p>
            <a:r>
              <a:t>NEXT</a:t>
            </a:r>
          </a:p>
          <a:p>
            <a:r>
              <a:t>"This machine has three sensors on it. It failed last month. Could we have known?".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"This machine has three sensors on it. It failed last month. Could we have known?"</a:t>
            </a:r>
          </a:p>
          <a:p>
            <a:r>
              <a:t/>
            </a:r>
          </a:p>
          <a:p>
            <a:r>
              <a:t>CONNECT</a:t>
            </a:r>
          </a:p>
          <a:p>
            <a:r>
              <a:t>Build on the preceding slide: Two ways to make a computer decide.</a:t>
            </a:r>
          </a:p>
          <a:p>
            <a:r>
              <a:t/>
            </a:r>
          </a:p>
          <a:p>
            <a:r>
              <a:t>LECTURER CUE</a:t>
            </a:r>
          </a:p>
          <a:p>
            <a:r>
              <a:t>Sit with the question before any answer arrives. Two honest first reactions are 'you cannot' and 'there must be a formula somewhere', and both are useful. The hands-on prediction exercise shows what a third answer looks like.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Traditional programming, and 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Traditional programming, and machine learning</a:t>
            </a:r>
          </a:p>
          <a:p>
            <a:r>
              <a:t/>
            </a:r>
          </a:p>
          <a:p>
            <a:r>
              <a:t>CONNECT</a:t>
            </a:r>
          </a:p>
          <a:p>
            <a:r>
              <a:t>Build on the preceding slide: "This machine has three sensors on it. It failed last month. Could we have known?".</a:t>
            </a:r>
          </a:p>
          <a:p>
            <a:r>
              <a:t/>
            </a:r>
          </a:p>
          <a:p>
            <a:r>
              <a:t>LECTURER CUE</a:t>
            </a:r>
          </a:p>
          <a:p>
            <a:r>
              <a:t>A worked case from your own discipline: IF the winding temperature exceeds 130 °C THEN trip the motor — The insulation class gives you that limit. It is a rule you can write from a datasheet.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When to write the rule, and when to learn it from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When to write the rule, and when to learn it from data</a:t>
            </a:r>
          </a:p>
          <a:p>
            <a:r>
              <a:t/>
            </a:r>
          </a:p>
          <a:p>
            <a:r>
              <a:t>CONNECT</a:t>
            </a:r>
          </a:p>
          <a:p>
            <a:r>
              <a:t>Build on the preceding slide: Traditional programming, and machine learning.</a:t>
            </a:r>
          </a:p>
          <a:p>
            <a:r>
              <a:t/>
            </a:r>
          </a:p>
          <a:p>
            <a:r>
              <a:t>LECTURER CUE</a:t>
            </a:r>
          </a:p>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What we actually mean by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we actually mean by 'data'</a:t>
            </a:r>
          </a:p>
          <a:p>
            <a:r>
              <a:t/>
            </a:r>
          </a:p>
          <a:p>
            <a:r>
              <a:t>CONNECT</a:t>
            </a:r>
          </a:p>
          <a:p>
            <a:r>
              <a:t>Build on the preceding slide: When to write the rule, and when to learn it from data.</a:t>
            </a:r>
          </a:p>
          <a:p>
            <a:r>
              <a:t/>
            </a:r>
          </a:p>
          <a:p>
            <a:r>
              <a:t>LECTURER CUE</a:t>
            </a:r>
          </a:p>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 and target.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Feature, and target</a:t>
            </a:r>
          </a:p>
          <a:p>
            <a:r>
              <a:t/>
            </a:r>
          </a:p>
          <a:p>
            <a:r>
              <a:t>CONNECT</a:t>
            </a:r>
          </a:p>
          <a:p>
            <a:r>
              <a:t>Build on the preceding slide: What we actually mean by 'data'.</a:t>
            </a:r>
          </a:p>
          <a:p>
            <a:r>
              <a:t/>
            </a:r>
          </a:p>
          <a:p>
            <a:r>
              <a:t>LECTURER CUE</a:t>
            </a:r>
          </a:p>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Feature, and target.</a:t>
            </a:r>
          </a:p>
          <a:p>
            <a:r>
              <a:t/>
            </a:r>
          </a:p>
          <a:p>
            <a:r>
              <a:t>LECTURER CUE</a:t>
            </a:r>
          </a:p>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DISCUSSION KEY FOR THIS SLIDE</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You only know what repair was done AFTER the failure, so it cannot help you predict the failure. Include it and your model will look brilliant in testing and be useless in service. This is called data leakage and we spend a whole session on it in Week 10.</a:t>
            </a:r>
          </a:p>
          <a:p>
            <a:r>
              <a:t>C</a:t>
            </a:r>
          </a:p>
          <a:p>
            <a:r>
              <a:t>A rule you already know?</a:t>
            </a:r>
          </a:p>
          <a:p>
            <a:r>
              <a:t>Anything with a formula or a code threshold: Power is voltage times current. Do not train a model to rediscover Ohm's law. If a validated equation exists, use the equation.</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Hands on: predict case 13.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Hands on: predict case 13</a:t>
            </a:r>
          </a:p>
          <a:p>
            <a:r>
              <a:t/>
            </a:r>
          </a:p>
          <a:p>
            <a:r>
              <a:t>CONNECT</a:t>
            </a:r>
          </a:p>
          <a:p>
            <a:r>
              <a:t>Build on the preceding slide: How did you do?.</a:t>
            </a:r>
          </a:p>
          <a:p>
            <a:r>
              <a:t/>
            </a:r>
          </a:p>
          <a:p>
            <a:r>
              <a:t>LECTURER CUE</a:t>
            </a:r>
          </a:p>
          <a:p>
            <a:r>
              <a:t>Teams of four or five, formed now and kept for the rest of the semester. You are about to do machine learning by hand, on paper, before anybody writes a line of code.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task.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task</a:t>
            </a:r>
          </a:p>
          <a:p>
            <a:r>
              <a:t/>
            </a:r>
          </a:p>
          <a:p>
            <a:r>
              <a:t>CONNECT</a:t>
            </a:r>
          </a:p>
          <a:p>
            <a:r>
              <a:t>Build on the preceding slide: Hands on: predict case 13.</a:t>
            </a:r>
          </a:p>
          <a:p>
            <a:r>
              <a:t/>
            </a:r>
          </a:p>
          <a:p>
            <a:r>
              <a:t>LECTURER CUE</a:t>
            </a:r>
          </a:p>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Reading the pattern from twelve cases.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Reading the pattern from twelve cases</a:t>
            </a:r>
          </a:p>
          <a:p>
            <a:r>
              <a:t/>
            </a:r>
          </a:p>
          <a:p>
            <a:r>
              <a:t>CONNECT</a:t>
            </a:r>
          </a:p>
          <a:p>
            <a:r>
              <a:t>Build on the preceding slide: Your task.</a:t>
            </a:r>
          </a:p>
          <a:p>
            <a:r>
              <a:t/>
            </a:r>
          </a:p>
          <a:p>
            <a:r>
              <a:t>LECTURER CUE</a:t>
            </a:r>
          </a:p>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a:p>
            <a:r>
              <a:t/>
            </a:r>
          </a:p>
          <a:p>
            <a:r>
              <a:t>NEXT</a:t>
            </a:r>
          </a:p>
          <a:p>
            <a:r>
              <a:t>The answer, and your error.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answer, and your error</a:t>
            </a:r>
          </a:p>
          <a:p>
            <a:r>
              <a:t/>
            </a:r>
          </a:p>
          <a:p>
            <a:r>
              <a:t>CONNECT</a:t>
            </a:r>
          </a:p>
          <a:p>
            <a:r>
              <a:t>Build on the preceding slide: Reading the pattern from twelve cases.</a:t>
            </a:r>
          </a:p>
          <a:p>
            <a:r>
              <a:t/>
            </a:r>
          </a:p>
          <a:p>
            <a:r>
              <a:t>LECTURER CUE</a:t>
            </a:r>
          </a:p>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a:p>
            <a:r>
              <a:t/>
            </a:r>
          </a:p>
          <a:p>
            <a:r>
              <a:t>NEXT</a:t>
            </a:r>
          </a:p>
          <a:p>
            <a:r>
              <a:t>You just did every step of a machine learning project.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just did every step of a machine learning project</a:t>
            </a:r>
          </a:p>
          <a:p>
            <a:r>
              <a:t/>
            </a:r>
          </a:p>
          <a:p>
            <a:r>
              <a:t>CONNECT</a:t>
            </a:r>
          </a:p>
          <a:p>
            <a:r>
              <a:t>Build on the preceding slide: The answer, and your error.</a:t>
            </a:r>
          </a:p>
          <a:p>
            <a:r>
              <a:t/>
            </a:r>
          </a:p>
          <a:p>
            <a:r>
              <a:t>LECTURER CUE</a:t>
            </a:r>
          </a:p>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You just did every step of a machine learning project.</a:t>
            </a:r>
          </a:p>
          <a:p>
            <a:r>
              <a:t/>
            </a:r>
          </a:p>
          <a:p>
            <a:r>
              <a:t>LECTURER CUE</a:t>
            </a:r>
          </a:p>
          <a:p>
            <a:r>
              <a:t>Ten minutes. The challenge segment after the break is the longest single working block of the session, so use the time.</a:t>
            </a:r>
          </a:p>
          <a:p>
            <a:r>
              <a:t/>
            </a:r>
          </a:p>
          <a:p>
            <a:r>
              <a:t>NEXT</a:t>
            </a:r>
          </a:p>
          <a:p>
            <a:r>
              <a:t>Two kinds of question.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kinds of question</a:t>
            </a:r>
          </a:p>
          <a:p>
            <a:r>
              <a:t/>
            </a:r>
          </a:p>
          <a:p>
            <a:r>
              <a:t>CONNECT</a:t>
            </a:r>
          </a:p>
          <a:p>
            <a:r>
              <a:t>Build on the preceding slide: Break.</a:t>
            </a:r>
          </a:p>
          <a:p>
            <a:r>
              <a:t/>
            </a:r>
          </a:p>
          <a:p>
            <a:r>
              <a:t>LECTURER CUE</a:t>
            </a:r>
          </a:p>
          <a:p>
            <a:r>
              <a:t>A short segment carrying one distinction that decides which method you reach for all semester. It needs to be automatic by Week 8, when you start fitting models to both kinds of problem.</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Two kinds of question.</a:t>
            </a:r>
          </a:p>
          <a:p>
            <a:r>
              <a:t/>
            </a:r>
          </a:p>
          <a:p>
            <a:r>
              <a:t>LECTURER CUE</a:t>
            </a:r>
          </a:p>
          <a:p>
            <a:r>
              <a:t>The point that is easy to miss: the SAME dataset can pose either question. Take the target on the left and band it — failure or no failure; or fault type: bearing, winding, imbalance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Regression and classification.</a:t>
            </a:r>
          </a:p>
          <a:p>
            <a:r>
              <a:t/>
            </a:r>
          </a:p>
          <a:p>
            <a:r>
              <a:t>LECTURER CUE</a:t>
            </a:r>
          </a:p>
          <a:p>
            <a:r>
              <a:t>Carry the test as a habit: what would the answer look like written down? A quantity with a unit means regression. A word or a label means classification. That question resolves almost every case you will meet, and it is faster than trying to remember the definitions.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Regression, and classification.</a:t>
            </a:r>
          </a:p>
          <a:p>
            <a:r>
              <a:t/>
            </a:r>
          </a:p>
          <a:p>
            <a:r>
              <a:t>LECTURER CUE</a:t>
            </a:r>
          </a:p>
          <a:p>
            <a:r>
              <a:t>Question C is the interesting one. It is still classification, with five categories rather than two. Multi-class problems are harder to evaluate because one accuracy figure hides which classes you are getting wrong, and that is a Week 9 topic.</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What machine learning cannot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machine learning cannot do</a:t>
            </a:r>
          </a:p>
          <a:p>
            <a:r>
              <a:t/>
            </a:r>
          </a:p>
          <a:p>
            <a:r>
              <a:t>CONNECT</a:t>
            </a:r>
          </a:p>
          <a:p>
            <a:r>
              <a:t>Build on the preceding slide: How did you do?.</a:t>
            </a:r>
          </a:p>
          <a:p>
            <a:r>
              <a:t/>
            </a:r>
          </a:p>
          <a:p>
            <a:r>
              <a:t>LECTURER CUE</a:t>
            </a:r>
          </a:p>
          <a:p>
            <a:r>
              <a:t>Four honest limits, so that you can recognise in advance when data will not help. This is also your protection against being sold a technique that cannot work on the problem you have.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Four limits, and none of them go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limits, and none of them go away</a:t>
            </a:r>
          </a:p>
          <a:p>
            <a:r>
              <a:t/>
            </a:r>
          </a:p>
          <a:p>
            <a:r>
              <a:t>CONNECT</a:t>
            </a:r>
          </a:p>
          <a:p>
            <a:r>
              <a:t>Build on the preceding slide: What machine learning cannot do.</a:t>
            </a:r>
          </a:p>
          <a:p>
            <a:r>
              <a:t/>
            </a:r>
          </a:p>
          <a:p>
            <a:r>
              <a:t>LECTURER CUE</a:t>
            </a:r>
          </a:p>
          <a:p>
            <a:r>
              <a:t>The caption is the sentence to remember. A machine learning method will always return an answer and will never tell you that the question was unanswerable. Judging that is your job, and it is the reason a trained engineer is still needed after the code runs.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The same four limits, in your own discipline.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four limits, in your own discipline</a:t>
            </a:r>
          </a:p>
          <a:p>
            <a:r>
              <a:t/>
            </a:r>
          </a:p>
          <a:p>
            <a:r>
              <a:t>CONNECT</a:t>
            </a:r>
          </a:p>
          <a:p>
            <a:r>
              <a:t>Build on the preceding slide: Four limits, and none of them go away.</a:t>
            </a:r>
          </a:p>
          <a:p>
            <a:r>
              <a:t/>
            </a:r>
          </a:p>
          <a:p>
            <a:r>
              <a:t>LECTURER CUE</a:t>
            </a:r>
          </a:p>
          <a:p>
            <a:r>
              <a:t>Every project in Week 9 has to survive these four questions before it is approved. A team that cannot answer them has picked a technique and gone looking for somewhere to use it, which is the most common way a student project fails.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Challenge: the 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Challenge: the Problem Hunt</a:t>
            </a:r>
          </a:p>
          <a:p>
            <a:r>
              <a:t/>
            </a:r>
          </a:p>
          <a:p>
            <a:r>
              <a:t>CONNECT</a:t>
            </a:r>
          </a:p>
          <a:p>
            <a:r>
              <a:t>Build on the preceding slide: The same four limits, in your own discipline.</a:t>
            </a:r>
          </a:p>
          <a:p>
            <a:r>
              <a:t/>
            </a:r>
          </a:p>
          <a:p>
            <a:r>
              <a:t>LECTURER CUE</a:t>
            </a:r>
          </a:p>
          <a:p>
            <a:r>
              <a:t>In this segment you get a problem and no method, and the questions you are asked will not be answered for you. Proceeding without instructions is the skill being practised, and roughly one segment of every session this semester works this way.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Problem Hunt</a:t>
            </a:r>
          </a:p>
          <a:p>
            <a:r>
              <a:t/>
            </a:r>
          </a:p>
          <a:p>
            <a:r>
              <a:t>CONNECT</a:t>
            </a:r>
          </a:p>
          <a:p>
            <a:r>
              <a:t>Build on the preceding slide: Challenge: the Problem Hunt.</a:t>
            </a:r>
          </a:p>
          <a:p>
            <a:r>
              <a:t/>
            </a:r>
          </a:p>
          <a:p>
            <a:r>
              <a:t>LECTURER CUE</a:t>
            </a:r>
          </a:p>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How your team works, all semester.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your team works, all semester</a:t>
            </a:r>
          </a:p>
          <a:p>
            <a:r>
              <a:t/>
            </a:r>
          </a:p>
          <a:p>
            <a:r>
              <a:t>CONNECT</a:t>
            </a:r>
          </a:p>
          <a:p>
            <a:r>
              <a:t>Build on the preceding slide: Problem Hunt.</a:t>
            </a:r>
          </a:p>
          <a:p>
            <a:r>
              <a:t/>
            </a:r>
          </a:p>
          <a:p>
            <a:r>
              <a:t>LECTURER CUE</a:t>
            </a:r>
          </a:p>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Gallery walk, and what you owe 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Gallery walk, and what you owe me</a:t>
            </a:r>
          </a:p>
          <a:p>
            <a:r>
              <a:t/>
            </a:r>
          </a:p>
          <a:p>
            <a:r>
              <a:t>CONNECT</a:t>
            </a:r>
          </a:p>
          <a:p>
            <a:r>
              <a:t>Build on the preceding slide: How your team works, all semester.</a:t>
            </a:r>
          </a:p>
          <a:p>
            <a:r>
              <a:t/>
            </a:r>
          </a:p>
          <a:p>
            <a:r>
              <a:t>LECTURER CUE</a:t>
            </a:r>
          </a:p>
          <a:p>
            <a:r>
              <a:t>Gallery walk: your team visits two other teams' boards and writes one question on each sheet. Questions only, no verdicts. This is the first peer review of the semester, and in Week 13 peer review is graded.</a:t>
            </a:r>
          </a:p>
          <a:p>
            <a:r>
              <a:t/>
            </a:r>
          </a:p>
          <a:p>
            <a:r>
              <a:t>NEXT</a:t>
            </a:r>
          </a:p>
          <a:p>
            <a:r>
              <a:t>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Week 2</a:t>
            </a:r>
          </a:p>
          <a:p>
            <a:r>
              <a:t/>
            </a:r>
          </a:p>
          <a:p>
            <a:r>
              <a:t>CONNECT</a:t>
            </a:r>
          </a:p>
          <a:p>
            <a:r>
              <a:t>Build on the preceding slide: Gallery walk, and what you owe me.</a:t>
            </a:r>
          </a:p>
          <a:p>
            <a:r>
              <a:t/>
            </a:r>
          </a:p>
          <a:p>
            <a:r>
              <a:t>LECTURER CUE</a:t>
            </a:r>
          </a:p>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A1 CATCH-UP</a:t>
            </a:r>
          </a:p>
          <a:p>
            <a:r>
              <a:t>The original Week 1 schedule has been superseded for catch-up collection. Use the current cohort A1 form deadline, aligned with its Week 2 assignment upload. Quiz 1 is separate and gets 24 hours from its own activation.</a:t>
            </a:r>
          </a:p>
          <a:p>
            <a:r>
              <a:t/>
            </a:r>
          </a:p>
          <a:p>
            <a:r>
              <a:t>NEXT</a:t>
            </a:r>
          </a:p>
          <a:p>
            <a:r>
              <a:t>Watch this 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Watch this before Week 2</a:t>
            </a:r>
          </a:p>
          <a:p>
            <a:r>
              <a:t/>
            </a:r>
          </a:p>
          <a:p>
            <a:r>
              <a:t>CONNECT</a:t>
            </a:r>
          </a:p>
          <a:p>
            <a:r>
              <a:t>Build on the preceding slide: Before Week 2.</a:t>
            </a:r>
          </a:p>
          <a:p>
            <a:r>
              <a:t/>
            </a:r>
          </a:p>
          <a:p>
            <a:r>
              <a:t>LECTURER CUE</a:t>
            </a:r>
          </a:p>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Revision material.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Revision material</a:t>
            </a:r>
          </a:p>
          <a:p>
            <a:r>
              <a:t/>
            </a:r>
          </a:p>
          <a:p>
            <a:r>
              <a:t>CONNECT</a:t>
            </a:r>
          </a:p>
          <a:p>
            <a:r>
              <a:t>Build on the preceding slide: Watch this before Week 2.</a:t>
            </a:r>
          </a:p>
          <a:p>
            <a:r>
              <a:t/>
            </a:r>
          </a:p>
          <a:p>
            <a:r>
              <a:t>LECTURER CUE</a:t>
            </a:r>
          </a:p>
          <a:p>
            <a:r>
              <a:t>Everything from here on is revision material rather than presented content: a summary, a self-test with worked answers, an eighteen-term glossary and a one-page reference sheet. It is written to be studied from in your own time.</a:t>
            </a:r>
          </a:p>
          <a:p>
            <a:r>
              <a:t/>
            </a:r>
          </a:p>
          <a:p>
            <a:r>
              <a:t>NEXT</a:t>
            </a:r>
          </a:p>
          <a:p>
            <a:r>
              <a:t>What you should take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should take away</a:t>
            </a:r>
          </a:p>
          <a:p>
            <a:r>
              <a:t/>
            </a:r>
          </a:p>
          <a:p>
            <a:r>
              <a:t>CONNECT</a:t>
            </a:r>
          </a:p>
          <a:p>
            <a:r>
              <a:t>Build on the preceding slide: Revision material.</a:t>
            </a:r>
          </a:p>
          <a:p>
            <a:r>
              <a:t/>
            </a:r>
          </a:p>
          <a:p>
            <a:r>
              <a:t>LECTURER CUE</a:t>
            </a:r>
          </a:p>
          <a:p>
            <a:r>
              <a:t>Seven statements covering the whole session. If any of them reads as new to you, go back to the slide it came from before Week 2 rather than after it.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Self-test — try these before you look.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Self-test — try these before you look</a:t>
            </a:r>
          </a:p>
          <a:p>
            <a:r>
              <a:t/>
            </a:r>
          </a:p>
          <a:p>
            <a:r>
              <a:t>CONNECT</a:t>
            </a:r>
          </a:p>
          <a:p>
            <a:r>
              <a:t>Build on the preceding slide: What you should take away.</a:t>
            </a:r>
          </a:p>
          <a:p>
            <a:r>
              <a:t/>
            </a:r>
          </a:p>
          <a:p>
            <a:r>
              <a:t>LECTURER CUE</a:t>
            </a:r>
          </a:p>
          <a:p>
            <a:r>
              <a:t>Optional revision, best attempted with a pencil before you look at the next slide. Question D is a Week 10 idea planted early: anything that notices the circularity of testing a model on cases it has already seen is a good answer at this stage.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Three questions before agreeing to 'use AI'?</a:t>
            </a:r>
          </a:p>
          <a:p>
            <a:r>
              <a:t>What exactly are we predicting? What data exists, who measured it, and is it kept? And would a rule or an equation we already have do this better? If any of those has no answer, stop.</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shaft torque in N·m. Classification: failure or no failure; or fault type: bearing, winding, imbalance.</a:t>
            </a:r>
          </a:p>
          <a:p>
            <a:r>
              <a:t>D</a:t>
            </a:r>
          </a:p>
          <a:p>
            <a:r>
              <a:t>Why is a good fit on seen data not evidence?</a:t>
            </a:r>
          </a:p>
          <a:p>
            <a:r>
              <a:t>Because the model could simply have memorised those cases. The only honest test is performance on examples it has never seen — exactly what you did with case 13. This is the whole subject of Week 10.</a:t>
            </a:r>
          </a:p>
          <a:p>
            <a:r>
              <a:t>E</a:t>
            </a:r>
          </a:p>
          <a:p>
            <a:r>
              <a:t>What else before acting?</a:t>
            </a:r>
          </a:p>
          <a:p>
            <a:r>
              <a:t>How large the error is in engineering terms and whether that is tolerable; what it costs when the model is wrong; and whether today's conditions still resemble the data it learned from.</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Self-test — try these before you look.</a:t>
            </a:r>
          </a:p>
          <a:p>
            <a:r>
              <a:t/>
            </a:r>
          </a:p>
          <a:p>
            <a:r>
              <a:t>LECTURER CUE</a:t>
            </a:r>
          </a:p>
          <a:p>
            <a:r>
              <a:t>Answer D is the most important idea in the course. A model can simply memorise the cases it was shown, so good performance on those cases is no evidence of anything. The only honest test is data the model has never seen, which is exactly what case 13 was for you.</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Every word we used today (1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(3 of 3)</a:t>
            </a:r>
          </a:p>
          <a:p>
            <a:r>
              <a:t/>
            </a:r>
          </a:p>
          <a:p>
            <a:r>
              <a:t>CONNECT</a:t>
            </a:r>
          </a:p>
          <a:p>
            <a:r>
              <a:t>Build on the preceding slide: Every word we used today (2 of 3).</a:t>
            </a:r>
          </a:p>
          <a:p>
            <a:r>
              <a:t/>
            </a:r>
          </a:p>
          <a:p>
            <a:r>
              <a:t>LECTURER CUE</a:t>
            </a:r>
          </a:p>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Eight questions to ask about any data problem.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Eight questions to ask about any data problem</a:t>
            </a:r>
          </a:p>
          <a:p>
            <a:r>
              <a:t/>
            </a:r>
          </a:p>
          <a:p>
            <a:r>
              <a:t>CONNECT</a:t>
            </a:r>
          </a:p>
          <a:p>
            <a:r>
              <a:t>Build on the preceding slide: Every word we used today (3 of 3).</a:t>
            </a:r>
          </a:p>
          <a:p>
            <a:r>
              <a:t/>
            </a:r>
          </a:p>
          <a:p>
            <a:r>
              <a:t>LECTURER CUE</a:t>
            </a:r>
          </a:p>
          <a:p>
            <a:r>
              <a:t>These eight questions are the spine of the whole course. Every project milestone from Week 9 onwards is assessed against some subset of them, and this is the page worth having in front of you in the Week 14 practical test.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Five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Five questions,</a:t>
            </a:r>
          </a:p>
          <a:p>
            <a:r>
              <a:t/>
            </a:r>
          </a:p>
          <a:p>
            <a:r>
              <a:t>CONNECT</a:t>
            </a:r>
          </a:p>
          <a:p>
            <a:r>
              <a:t>Build on the preceding slide: Eight questions to ask about any data problem.</a:t>
            </a:r>
          </a:p>
          <a:p>
            <a:r>
              <a:t/>
            </a:r>
          </a:p>
          <a:p>
            <a:r>
              <a:t>LECTURER CUE</a:t>
            </a:r>
          </a:p>
          <a:p>
            <a:r>
              <a:t>The last five minutes of every teaching session. Five questions, one per cent, and you see your score as you submit.</a:t>
            </a:r>
          </a:p>
          <a:p>
            <a:r>
              <a:t>Nothing on it can be answered without reading what it shows you, so there is nothing to revise for it beyond having done the session. Twelve run across the semester and the best ten count.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You have already done.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have already done</a:t>
            </a:r>
          </a:p>
          <a:p>
            <a:r>
              <a:t/>
            </a:r>
          </a:p>
          <a:p>
            <a:r>
              <a:t>CONNECT</a:t>
            </a:r>
          </a:p>
          <a:p>
            <a:r>
              <a:t>Build on the preceding slide: Five questions,.</a:t>
            </a:r>
          </a:p>
          <a:p>
            <a:r>
              <a:t/>
            </a:r>
          </a:p>
          <a:p>
            <a:r>
              <a:t>LECTURER CUE</a:t>
            </a:r>
          </a:p>
          <a:p>
            <a:r>
              <a:t>Before next week: A1 due at the start of the session, a GitHub account and a Google account created, the video watched, and nothing installed. Week 2 needs a browser and nothing else.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(1 of 3)</a:t>
            </a:r>
          </a:p>
          <a:p>
            <a:r>
              <a:t/>
            </a:r>
          </a:p>
          <a:p>
            <a:r>
              <a:t>CONNECT</a:t>
            </a:r>
          </a:p>
          <a:p>
            <a:r>
              <a:t>Build on the preceding slide: How did you do?.</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Every word we used today (2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(2 of 3)</a:t>
            </a:r>
          </a:p>
          <a:p>
            <a:r>
              <a:t/>
            </a:r>
          </a:p>
          <a:p>
            <a:r>
              <a:t>CONNECT</a:t>
            </a:r>
          </a:p>
          <a:p>
            <a:r>
              <a:t>Build on the preceding slide: Every word we used today (1 of 3).</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Every word we used today (3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student in Applied Informatics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Power is voltage times current. Do not train a model to rediscover Ohm's law.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1.png"/>
          <p:cNvPicPr>
            <a:picLocks noChangeAspect="1"/>
          </p:cNvPicPr>
          <p:nvPr/>
        </p:nvPicPr>
        <p:blipFill>
          <a:blip r:embed="rId2"/>
          <a:stretch>
            <a:fillRect/>
          </a:stretch>
        </p:blipFill>
        <p:spPr>
          <a:xfrm>
            <a:off x="2933706" y="1911095"/>
            <a:ext cx="632428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N·m? Classification: failure or no failure; or fault type: bearing, winding, imbalance.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motors in most plants have no sensor on them at all. There is nothing to learn from.</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cabinet's paint colour does not predict bearing failure. Feed it in and a model will still produce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Power is voltage times current. Do not train a model to rediscover Ohm's law. Do not use a model where an equation will do.</a:t>
            </a:r>
          </a:p>
        </p:txBody>
      </p:sp>
      <p:sp>
        <p:nvSpPr>
          <p:cNvPr id="10" name="TextBox 9"/>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before a rewind or a firmware change may silently stop being true afterwards.</a:t>
            </a:r>
          </a:p>
        </p:txBody>
      </p:sp>
      <p:sp>
        <p:nvSpPr>
          <p:cNvPr id="12" name="TextBox 11"/>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4903547"/>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are you actually trying to find?</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distance between the prediction and the truth. Measuring it honestly is most of this course.</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