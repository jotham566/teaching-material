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runs entirely on paper. You will not touch a computer, so nothing you do this session depends on owning a laptop or having a connection. By the end you will have answered a real engineering question from twelve rows of a real dataset with a pencil, and measured how wrong you were.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short introduction, and there is a reason for it beyond courtesy.</a:t>
            </a:r>
          </a:p>
          <a:p/>
          <a:p>
            <a:r>
              <a:t>First, so that you know what you can ask me for. The work on the right is where my experience actually is: sensor data and predictive maintenance, language models over documents, and getting models into something a colleague can use. If your project heads in one of those directions I can help you in detail. If it heads somewhere I know less well, I will tell you that rather than guess.</a:t>
            </a:r>
          </a:p>
          <a:p/>
          <a:p>
            <a:r>
              <a:t>Second, because of the route rather than the titles. I read economics and information technology as undergraduate degrees, and my first seven years of work were in banking, tax and product management, none of which involved building a model. Nobody starts where this field expects them to start, and the engineering degree you are already halfway through is a better foundation for machine learning than most computing degrees, for reasons we come to in the roadmap segment.</a:t>
            </a:r>
          </a:p>
          <a:p/>
          <a:p>
            <a:r>
              <a:t>Third, so the claims in this course are checkable. Where I tell you a technique behaves a certain way, it is usually because I have watched it fail somewhere first.</a:t>
            </a:r>
          </a:p>
          <a:p/>
          <a:p>
            <a:r>
              <a:t>The contact details are real. Use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objectives, and they are the whole session. Nothing is hidden behind them and there is no reading list you are expected to have done. Mark yourself against each one at the end of the session; whatever you cannot claim is what to revise before Week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session this semester has the same shape: eleven segments across three hours, with no block of talking longer than 25 minutes and roughly half the time spent working rather than listening. That is why attendance matters more here than on a lecture course — the practical and challenge segments cannot be read off a deck afterwards. There is a 10-minute break at the midpoint.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weeks. Weeks 7 and 14 are practical tests where you are given data you have never seen and asked what you make of it, and the project runs from Week 9 to the last session. There is nothing to memorise in this course, which surprises most students who arrive expecting to revise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steps, from knowing what a dataset is to saying 'here is a model I built and here is how I know it works'. Most of you cannot do step two today and all of you can reach step six by December. The students who get there are the ones who do the weekly deliverable every week, and the difference is visible by about Week 6.</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on how the course works: the promise, the assessment, and what is expected on both sides. Everything after this segment is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details the figure does not carry. Every teaching session ends with a five-minute quiz of five questions, taken on your phone by QR code, auto-marked, and you have your score before you leave the room. There are twelve of them and the best ten count, one per cent each, so missing two costs you nothing and there are no resits to arrange. The two practical tests run offline on lab machines with no internet and no AI assistants. AI tools are permitted and taught in the coursework provided you declare what you used, because the mark follows what you can explain.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'ask well' item is the one that changes how much you get out of the semester. Bring the error message, what you already tried, and what you expected to happen; assembling those three things solves the problem outright often enough to be worth the effort every time. If you are stuck for more than five minutes in a practical, put your hand up rather than sitting quietly.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segment hands you the map of the field before any of it is taught, so that every later week has somewhere to sit rather than arriving from nowhere. The structure follows the public roadmap.sh Machine Learning roadmap, which is the map the profession itself uses, so you can check this course against something written outside this room.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stages, from Python to transformers. By December you will have covered stages 1 to 9. Most of the individual terms on the figure mean nothing to you today and that is expected — what to take from it is the shape of the field and where this course stops. The interactive version is at roadmap.sh/machine-learning, and it is worth an evening of clicking around.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mathematics stage — calculus, linear algebra, statistics, probability — is the one most people entering this field find hardest, and you did it in Years 1 and 2. What you are missing is stages 1 and 3, Python and the data libraries, which Weeks 2 to 6 cover in five weeks of work. The expensive prerequisite is already behind you.</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grey stages sit outside this course: reinforcement learning, full MLOps and most of the advanced language-model material. If you want to go after them later, roadmap.sh publishes separate roadmaps for the AI engineer, the data scientist, MLOps and AI agents, and any of the four is a reasonable next step after December.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different roadmaps and four different careers. This course points at the first one, applied inside your own engineering discipline. A computer science graduate will beat you at general machine learning, and that contest is avoidable: a civil engineer who can model concrete strength, or a mining engineer who can predict concentrate quality, is competing in a much smaller field.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words — artificial intelligence, machine learning, data science — get used interchangeably in job adverts, papers and vendor brochures. Fifteen minutes here is what lets you read those documents without being misled by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term is contained by the one before it. Data science is the odd one out: it overlaps all of them and is contained by none, because it is the craft of getting an answer out of data at all — finding it, cleaning it, questioning it, presenting it. Most of your semester goes into the data science ring, and the modelling turns out to be the small part.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thermostat follows one fixed rule and has no capacity to do better, which puts it outside the definition. A spam filter that improves as it sees more mail sits inside it. Whether any of this is 'really' intelligent is a genuine open question in the field; here the word is a label for an area of work.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definition the rest of the course rests on. Note the last step of the example: the computer infers a relationship and you then decide whether to trust it. That step is the easy one to skip, and Weeks 10 to 14 are entirely about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industry the split is roughly eighty per cent getting data into a usable state and twenty per cent modelling. An engineer with clean data beats a better algorithm with dirty data. The missing-assay example on this slide is a real Week 6 exercise: you will be handed records with a large part of one column absent and asked whether they are missing at random and what that does to your conclusion.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teaching segment of the session: the difference between writing a rule and inferring one from examples, plus the vocabulary for talking about a table of data. Everything from Week 5 onwards assumes both.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Sit with the question before any answer arrives. Two honest first reactions are 'you cannot' and 'there must be a formula somewhere', and both are useful. The hands-on prediction exercise shows what a third answer looks like.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worked case from your own discipline: IF the winding temperature exceeds 130 °C THEN trip the motor — The insulation class gives you that limit. It is a rule you can write from a datasheet. That belongs firmly in the left-hand column. The right-hand column earns its place when there is no threshold in any code of practice and no formula to look up, and you have examples of past cases instead. Neither column is better; the useful question is whether you already know the rule for the problem in front of you.</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of engineering stays in the left-hand column and that is the correct place for it. The third item on the left is the one that decides real projects: a model whose decision cannot be explained line by line often cannot be used at all, whatever its accuracy on test data. That constraint returns in Week 12.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picture to fix in your head, because every dataset you meet this semester has this shape. One row is one example. The feature columns hold what you know beforehand and the target column holds the thing you want to predict. Worth thinking about: the target of one problem can be a feature of another. Curing temperature is the target if you are studying an oven and a feature if you are predicting strength.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'association is not a cause' line is the seed of correlation versus causation, which arrives properly in Week 8. One error to start watching for now: including a column that is only known after the target is known. That is data leakage, it is the most destructive mistake in applied machine learning, and Week 10 is a full session on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something for each of the three before you turn to the answers. Question B is deliberately hard for Week 1 — noticing that the repair column can only be filled in after the failure has happened is enough at this stage, even if you cannot yet name what is wrong with using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Getting B wrong is normal; professional teams ship this bug regularly and only find it when the model reaches service. The name for it is data leakage. The timing test in answer B — could I know this column before the outcome? — is the one habit to carry out of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of four or five, formed now and kept for the rest of the semester. You are about to do machine learning by hand, on paper, before anybody writes a line of code.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 your team predicts matters far less than the sentence saying how you got it, so write the reasoning down. The next three slides give names to whatever method you used, and that only works if you can still see what you did. If you are stuck, start with one question: which single column seems to move with the outcome, and why that one?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no single right method, and this is one line of thinking that works. Step five is what separates an engineer from a calculator: how confident am I, and what would change my mind? The two practical tests, in Weeks 7 and 14, assess that step far more heavily than the arithmetic.</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spread of team answers is the teaching point. Several different reasonable methods produced several different numbers, so being reasonable is not enough on its own — you need a way to measure which method is better. One case cannot tell you that, which is what Week 8 sets up.</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syllabus for the rest of the semester is largely a set of names for what you just did with a pencil. The fourth pair is the one to dwell on: you predicted a case that was not in front of you when you formed the rule. That is generalisation, and everything in Week 10 follows from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The challenge segment after the break is the longest single working block of the session, so use the time.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short segment carrying one distinction that decides which method you reach for all semester. It needs to be automatic by Week 8, when you start fitting models to both kinds of problem.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that is easy to miss: the SAME dataset can pose either question. Take the target on the left and band it — failure or no failure; or fault type: bearing, winding, imbalance — and the regression problem has become a classification problem. Banding is an engineering decision with consequences, because it throws away the distance between two values inside the same band, and it comes back in Week 9 when you start choosing how to measure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Carry the test as a habit: what would the answer look like written down? A quantity with a unit means regression. A word or a label means classification. That question resolves almost every case you will meet, and it is faster than trying to remember the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C is the interesting one. It is still classification, with five categories rather than two. Multi-class problems are harder to evaluate because one accuracy figure hides which classes you are getting wrong, and that is a Week 9 topic.</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now have vocabulary you can use immediately: binary classification for two categories, multi-class for three or more. The distinction starts to matter as soon as you begin measuring performance in Week 9, because the same accuracy figure means different things in the two cases.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honest limits, so that you can recognise in advance when data will not help. This is also your protection against being sold a technique that cannot work on the problem you have.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caption is the sentence to remember. A machine learning method will always return an answer and will never tell you that the question was unanswerable. Judging that is your job, and it is the reason a trained engineer is still needed after the code runs.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project in Week 9 has to survive these four questions before it is approved. A team that cannot answer them has picked a technique and gone looking for somewhere to use it, which is the most common way a student project fails.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segment you get a problem and no method, and the questions you are asked will not be answered for you. Proceeding without instructions is the skill being practised, and roughly one segment of every session this semester works this way.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rejections carry more weight than the acceptances. A team that can say clearly why something is NOT a machine learning problem has understood the session, and the six questions on the slide are the ones to argue each placement against. Keep your sheet: the class list of problems built in this segment is what teams draw on when they choose projects in Week 9.</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 the team charter before you leave: names, contact details, a weekly meeting slot, and what you will do if somebody stops contributing. Agreeing that in Week 1 is far easier than agreeing it in November, and the charter is the document your contribution log gets read against.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Gallery walk: your team visits two other teams' boards and writes one question on each sheet. Questions only, no verdicts. This is the first peer review of the semester, and in Week 13 peer review is graded.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'not solvable' item is the most valuable part of A1, because it forces you to use the four limits rather than remember them. Take the instruction not to install anything seriously: the course runs in Google Colab, and a Python installation you set up at home creates a problem that cannot be diagnosed in class.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Watch for where he draws the boundaries between the four terms, and whether they match the nested diagram from today. If they differ, raise it next week — the field genuinely does not fully agree on this. Two optional extras: StatQuest, 'A Gentle Introduction to Machine Learning', https://www.youtube.com/watch?v=Gv9_4yMHFhI, whose author Josh Starmer is the spine of Weeks 8 to 12; and if you have ninety seconds only, Fireship, 'Machine Learning Explained in 100 Seconds', https://www.youtube.com/watch?v=PeMlggyqz0Y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from here on is revision material rather than presented content: a summary, a self-test with worked answers, an eighteen-term glossary and a one-page reference sheet. It is written to be studied from in your own time.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statements covering the whole session. If any of them reads as new to you, go back to the slide it came from before Week 2 rather than after it.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revision, best attempted with a pencil before you look at the next slide. Question D is a Week 10 idea planted early: anything that notices the circularity of testing a model on cases it has already seen is a good answer at this stage.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is the most important idea in the course. A model can simply memorise the cases it was shown, so good performance on those cases is no evidence of anything. The only honest test is data the model has never seen, which is exactly what case 13 was for you.</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Eighteen terms. If you can define all eighteen by Week 3 you are ahead of the schedule, and these exact words appear in the weekly quizzes. The last two entries, generalisation and association versus cause, are forward references; they are printed here so the words are familiar when they arrive properly in Weeks 8 and 10.</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eight questions are the spine of the whole course. Every project milestone from Week 9 onwards is assessed against some subset of them, and this is the page worth having in front of you in the Week 14 practical test.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of every teaching session. Five questions, one per cent, and you see your score as you submit.</a:t>
            </a:r>
          </a:p>
          <a:p/>
          <a:p>
            <a:r>
              <a:t>Nothing on it can be answered without reading what it shows you, so there is nothing to revise for it beyond having done the session. Twelve run across the semester and the best ten count.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next week: A1 due at the start of the session, a GitHub account and a Google account created, the video watched, and nothing installed. Week 2 needs a browser and nothing else.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CML3111</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AI, machine learning</a:t>
            </a:r>
          </a:p>
          <a:p>
            <a:pPr algn="l">
              <a:lnSpc>
                <a:spcPct val="105000"/>
              </a:lnSpc>
              <a:spcAft>
                <a:spcPts val="600"/>
              </a:spcAft>
            </a:pPr>
            <a:r>
              <a:rPr sz="4400" b="1" i="0">
                <a:solidFill>
                  <a:srgbClr val="FFFFFF"/>
                </a:solidFill>
                <a:latin typeface="Cambria"/>
              </a:rPr>
              <a:t>and the engineering problem</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Introduction to Machine Learning in Engineering</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  ·  Fri 11 September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11:00–14:00 · Room 115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YOUR LECTURER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Jotham Martin Wambi</a:t>
            </a:r>
          </a:p>
        </p:txBody>
      </p:sp>
      <p:sp>
        <p:nvSpPr>
          <p:cNvPr id="4" name="Oval 3"/>
          <p:cNvSpPr/>
          <p:nvPr/>
        </p:nvSpPr>
        <p:spPr>
          <a:xfrm>
            <a:off x="10545775" y="603504"/>
            <a:ext cx="960120" cy="96012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3000" b="1">
                <a:solidFill>
                  <a:srgbClr val="FFFFFF"/>
                </a:solidFill>
                <a:latin typeface="Cambria"/>
              </a:rPr>
              <a:t>JW</a:t>
            </a:r>
          </a:p>
        </p:txBody>
      </p:sp>
      <p:sp>
        <p:nvSpPr>
          <p:cNvPr id="5" name="TextBox 4"/>
          <p:cNvSpPr txBox="1"/>
          <p:nvPr/>
        </p:nvSpPr>
        <p:spPr>
          <a:xfrm>
            <a:off x="685800" y="1819655"/>
            <a:ext cx="9494215" cy="400860"/>
          </a:xfrm>
          <a:prstGeom prst="rect">
            <a:avLst/>
          </a:prstGeom>
          <a:noFill/>
        </p:spPr>
        <p:txBody>
          <a:bodyPr wrap="square" lIns="0" rIns="0" tIns="0" bIns="0" anchor="t">
            <a:spAutoFit/>
          </a:bodyPr>
          <a:lstStyle/>
          <a:p>
            <a:pPr algn="l">
              <a:lnSpc>
                <a:spcPct val="120000"/>
              </a:lnSpc>
              <a:spcAft>
                <a:spcPts val="600"/>
              </a:spcAft>
            </a:pPr>
            <a:r>
              <a:rPr sz="1821" b="0" i="0">
                <a:solidFill>
                  <a:srgbClr val="3C4E5E"/>
                </a:solidFill>
                <a:latin typeface="Calibri"/>
              </a:rPr>
              <a:t>Data scientist and ML engineer · Founding engineer, Magentiq AI Labs</a:t>
            </a:r>
          </a:p>
        </p:txBody>
      </p:sp>
      <p:sp>
        <p:nvSpPr>
          <p:cNvPr id="6" name="TextBox 5"/>
          <p:cNvSpPr txBox="1"/>
          <p:nvPr/>
        </p:nvSpPr>
        <p:spPr>
          <a:xfrm>
            <a:off x="685800" y="2494836"/>
            <a:ext cx="4526280"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Background</a:t>
            </a:r>
          </a:p>
        </p:txBody>
      </p:sp>
      <p:sp>
        <p:nvSpPr>
          <p:cNvPr id="7" name="TextBox 6"/>
          <p:cNvSpPr txBox="1"/>
          <p:nvPr/>
        </p:nvSpPr>
        <p:spPr>
          <a:xfrm>
            <a:off x="5715000" y="2494836"/>
            <a:ext cx="5790895"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Some of what I have built</a:t>
            </a:r>
          </a:p>
        </p:txBody>
      </p:sp>
      <p:sp>
        <p:nvSpPr>
          <p:cNvPr id="8" name="Oval 7"/>
          <p:cNvSpPr/>
          <p:nvPr/>
        </p:nvSpPr>
        <p:spPr>
          <a:xfrm>
            <a:off x="704088" y="291546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2860596"/>
            <a:ext cx="4270248"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PhD Informatics, UEC Tokyo — in progress</a:t>
            </a:r>
          </a:p>
        </p:txBody>
      </p:sp>
      <p:sp>
        <p:nvSpPr>
          <p:cNvPr id="10" name="Oval 9"/>
          <p:cNvSpPr/>
          <p:nvPr/>
        </p:nvSpPr>
        <p:spPr>
          <a:xfrm>
            <a:off x="704088" y="3334662"/>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3279798"/>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MSc Data Science and ML, Yamaguchi, 2024 — valedictorian</a:t>
            </a:r>
          </a:p>
        </p:txBody>
      </p:sp>
      <p:sp>
        <p:nvSpPr>
          <p:cNvPr id="12" name="Oval 11"/>
          <p:cNvSpPr/>
          <p:nvPr/>
        </p:nvSpPr>
        <p:spPr>
          <a:xfrm>
            <a:off x="704088" y="4072482"/>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4017618"/>
            <a:ext cx="4270248"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BSc IT, Makerere · BA Economics, IUIU</a:t>
            </a:r>
          </a:p>
        </p:txBody>
      </p:sp>
      <p:sp>
        <p:nvSpPr>
          <p:cNvPr id="14" name="Oval 13"/>
          <p:cNvSpPr/>
          <p:nvPr/>
        </p:nvSpPr>
        <p:spPr>
          <a:xfrm>
            <a:off x="704088" y="4491683"/>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436819"/>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Eight years at Citibank, EY and D'isum Inc, Tokyo</a:t>
            </a:r>
          </a:p>
        </p:txBody>
      </p:sp>
      <p:sp>
        <p:nvSpPr>
          <p:cNvPr id="16" name="Rounded Rectangle 15"/>
          <p:cNvSpPr/>
          <p:nvPr/>
        </p:nvSpPr>
        <p:spPr>
          <a:xfrm>
            <a:off x="5715000" y="2860596"/>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89320" y="2915460"/>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Law Lens</a:t>
            </a:r>
          </a:p>
        </p:txBody>
      </p:sp>
      <p:sp>
        <p:nvSpPr>
          <p:cNvPr id="18" name="TextBox 17"/>
          <p:cNvSpPr txBox="1"/>
          <p:nvPr/>
        </p:nvSpPr>
        <p:spPr>
          <a:xfrm>
            <a:off x="5989320" y="3196838"/>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Language models over Ugandan law, fully traceable.</a:t>
            </a:r>
          </a:p>
        </p:txBody>
      </p:sp>
      <p:sp>
        <p:nvSpPr>
          <p:cNvPr id="19" name="Rounded Rectangle 18"/>
          <p:cNvSpPr/>
          <p:nvPr/>
        </p:nvSpPr>
        <p:spPr>
          <a:xfrm>
            <a:off x="5715000" y="3715709"/>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9320" y="3770573"/>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Magentiq AssetGuard</a:t>
            </a:r>
          </a:p>
        </p:txBody>
      </p:sp>
      <p:sp>
        <p:nvSpPr>
          <p:cNvPr id="21" name="TextBox 20"/>
          <p:cNvSpPr txBox="1"/>
          <p:nvPr/>
        </p:nvSpPr>
        <p:spPr>
          <a:xfrm>
            <a:off x="5989320" y="4051951"/>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Machine failure predicted from vibration sensors.</a:t>
            </a:r>
          </a:p>
        </p:txBody>
      </p:sp>
      <p:sp>
        <p:nvSpPr>
          <p:cNvPr id="22" name="Rounded Rectangle 21"/>
          <p:cNvSpPr/>
          <p:nvPr/>
        </p:nvSpPr>
        <p:spPr>
          <a:xfrm>
            <a:off x="5715000" y="4570822"/>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89320" y="4625686"/>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Wearable ECG detection</a:t>
            </a:r>
          </a:p>
        </p:txBody>
      </p:sp>
      <p:sp>
        <p:nvSpPr>
          <p:cNvPr id="24" name="TextBox 23"/>
          <p:cNvSpPr txBox="1"/>
          <p:nvPr/>
        </p:nvSpPr>
        <p:spPr>
          <a:xfrm>
            <a:off x="5989320" y="4907064"/>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Eleven cardiac conditions from a live ECG.</a:t>
            </a:r>
          </a:p>
        </p:txBody>
      </p:sp>
      <p:sp>
        <p:nvSpPr>
          <p:cNvPr id="25" name="Rectangle 24"/>
          <p:cNvSpPr/>
          <p:nvPr/>
        </p:nvSpPr>
        <p:spPr>
          <a:xfrm>
            <a:off x="685800" y="5721209"/>
            <a:ext cx="10820095" cy="825894"/>
          </a:xfrm>
          <a:prstGeom prst="rect">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821793"/>
            <a:ext cx="10271455" cy="324899"/>
          </a:xfrm>
          <a:prstGeom prst="rect">
            <a:avLst/>
          </a:prstGeom>
          <a:noFill/>
        </p:spPr>
        <p:txBody>
          <a:bodyPr wrap="square" lIns="0" rIns="0" tIns="0" bIns="0" anchor="t">
            <a:spAutoFit/>
          </a:bodyPr>
          <a:lstStyle/>
          <a:p>
            <a:pPr algn="l">
              <a:lnSpc>
                <a:spcPct val="120000"/>
              </a:lnSpc>
              <a:spcAft>
                <a:spcPts val="600"/>
              </a:spcAft>
            </a:pPr>
            <a:r>
              <a:rPr sz="1518" b="0" i="0">
                <a:solidFill>
                  <a:srgbClr val="1C3144"/>
                </a:solidFill>
                <a:latin typeface="Calibri"/>
              </a:rPr>
              <a:t>Every system on the right uses the pipeline you build from Week 8: split the data, fit a model, then score it.</a:t>
            </a:r>
          </a:p>
        </p:txBody>
      </p:sp>
      <p:sp>
        <p:nvSpPr>
          <p:cNvPr id="27" name="TextBox 26"/>
          <p:cNvSpPr txBox="1"/>
          <p:nvPr/>
        </p:nvSpPr>
        <p:spPr>
          <a:xfrm>
            <a:off x="960120" y="6164980"/>
            <a:ext cx="10271455" cy="299827"/>
          </a:xfrm>
          <a:prstGeom prst="rect">
            <a:avLst/>
          </a:prstGeom>
          <a:noFill/>
        </p:spPr>
        <p:txBody>
          <a:bodyPr wrap="square" lIns="0" rIns="0" tIns="0" bIns="0" anchor="t">
            <a:spAutoFit/>
          </a:bodyPr>
          <a:lstStyle/>
          <a:p>
            <a:pPr algn="l">
              <a:lnSpc>
                <a:spcPct val="120000"/>
              </a:lnSpc>
              <a:spcAft>
                <a:spcPts val="600"/>
              </a:spcAft>
            </a:pPr>
            <a:r>
              <a:rPr sz="1386" b="0" i="0">
                <a:solidFill>
                  <a:srgbClr val="6B7A8A"/>
                </a:solidFill>
                <a:latin typeface="Calibri"/>
              </a:rPr>
              <a:t>linkedin.com/in/jothammartinwambi   ·   github.com/Jotham566   ·   jothammartin.wambi@gmail.com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Say what artificial intelligence, machine learning and data science each mean, and how they differ.</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the difference between writing a rule yourself and letting a computer infer one from examples.</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Point at a table of data and correctly identify the features and the target.</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Tell a regression problem from a classification problem, and give an example of each from your own field.</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Name three problems in sensors, signals, energy systems, fault detection and machine health where data could help, and two where it could not.</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State four things machine learning cannot do, with a reason for each.</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Describe how this course is assessed and what your project will look like.</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1 · AI, machine learning and the engineering problem · nothing here needs prior programming experience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every session this semester is shaped</a:t>
            </a:r>
          </a:p>
        </p:txBody>
      </p:sp>
      <p:pic>
        <p:nvPicPr>
          <p:cNvPr id="4" name="Picture 3" descr="clock_w1.png"/>
          <p:cNvPicPr>
            <a:picLocks noChangeAspect="1"/>
          </p:cNvPicPr>
          <p:nvPr/>
        </p:nvPicPr>
        <p:blipFill>
          <a:blip r:embed="rId2"/>
          <a:stretch>
            <a:fillRect/>
          </a:stretch>
        </p:blipFill>
        <p:spPr>
          <a:xfrm>
            <a:off x="921970" y="1911095"/>
            <a:ext cx="103477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Three hours, eleven segments. No block of talking runs longer than 25 minutes, and roughly half of every session is you doing something rather than me saying something.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SEMESTER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this semester goes</a:t>
            </a:r>
          </a:p>
        </p:txBody>
      </p:sp>
      <p:pic>
        <p:nvPicPr>
          <p:cNvPr id="4" name="Picture 3" descr="arc.png"/>
          <p:cNvPicPr>
            <a:picLocks noChangeAspect="1"/>
          </p:cNvPicPr>
          <p:nvPr/>
        </p:nvPicPr>
        <p:blipFill>
          <a:blip r:embed="rId2"/>
          <a:stretch>
            <a:fillRect/>
          </a:stretch>
        </p:blipFill>
        <p:spPr>
          <a:xfrm>
            <a:off x="685800" y="2460326"/>
            <a:ext cx="10820095" cy="2915753"/>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weeks. Weeks 7 and 14 are practical tests: you are given data you have never seen and asked what you make of it. The project runs from Week 9 to the last session.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PROMISE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will be able to say by December</a:t>
            </a:r>
          </a:p>
        </p:txBody>
      </p:sp>
      <p:pic>
        <p:nvPicPr>
          <p:cNvPr id="4" name="Picture 3" descr="ladder.png"/>
          <p:cNvPicPr>
            <a:picLocks noChangeAspect="1"/>
          </p:cNvPicPr>
          <p:nvPr/>
        </p:nvPicPr>
        <p:blipFill>
          <a:blip r:embed="rId2"/>
          <a:stretch>
            <a:fillRect/>
          </a:stretch>
        </p:blipFill>
        <p:spPr>
          <a:xfrm>
            <a:off x="1552731" y="1911095"/>
            <a:ext cx="908623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This is the promise of the course. Most of you cannot do step two today. All of you can get to step six by December, and the students who do are the ones who do the weekly 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Welcome, and how this course works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promise, the assessment, and what I expect from you. Then we start on the actual engineering.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ASSESSMENT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you are assessed</a:t>
            </a:r>
          </a:p>
        </p:txBody>
      </p:sp>
      <p:pic>
        <p:nvPicPr>
          <p:cNvPr id="4" name="Picture 3" descr="assessment.png"/>
          <p:cNvPicPr>
            <a:picLocks noChangeAspect="1"/>
          </p:cNvPicPr>
          <p:nvPr/>
        </p:nvPicPr>
        <p:blipFill>
          <a:blip r:embed="rId2"/>
          <a:stretch>
            <a:fillRect/>
          </a:stretch>
        </p:blipFill>
        <p:spPr>
          <a:xfrm>
            <a:off x="1160833" y="1911095"/>
            <a:ext cx="98700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No written examination anywhere in this course. Everything is practical: work with data, write and run code, build and evaluate a model, explain your reasoning. Sixty-five per cent of the mark is individual, so you cannot be carried and you cannot be dragged down.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DEAL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I expect, and what you can expect back</a:t>
            </a:r>
          </a:p>
        </p:txBody>
      </p:sp>
      <p:sp>
        <p:nvSpPr>
          <p:cNvPr id="4" name="TextBox 3"/>
          <p:cNvSpPr txBox="1"/>
          <p:nvPr/>
        </p:nvSpPr>
        <p:spPr>
          <a:xfrm>
            <a:off x="685800"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I expect from you</a:t>
            </a:r>
          </a:p>
        </p:txBody>
      </p:sp>
      <p:sp>
        <p:nvSpPr>
          <p:cNvPr id="5" name="TextBox 4"/>
          <p:cNvSpPr txBox="1"/>
          <p:nvPr/>
        </p:nvSpPr>
        <p:spPr>
          <a:xfrm>
            <a:off x="685800"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Attend. There is one three-hour session a week and no lecture to catch up from — the value is in the practical and the challenge, which cannot be read later.</a:t>
            </a:r>
          </a:p>
        </p:txBody>
      </p:sp>
      <p:sp>
        <p:nvSpPr>
          <p:cNvPr id="6" name="TextBox 5"/>
          <p:cNvSpPr txBox="1"/>
          <p:nvPr/>
        </p:nvSpPr>
        <p:spPr>
          <a:xfrm>
            <a:off x="685800" y="3402456"/>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Do the weekly deliverable every week. Eleven small pieces spread over twelve weeks is manageable; nine of them attempted in December is not.</a:t>
            </a:r>
          </a:p>
        </p:txBody>
      </p:sp>
      <p:sp>
        <p:nvSpPr>
          <p:cNvPr id="7" name="TextBox 6"/>
          <p:cNvSpPr txBox="1"/>
          <p:nvPr/>
        </p:nvSpPr>
        <p:spPr>
          <a:xfrm>
            <a:off x="685800" y="4472278"/>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Ask, but ask well. Bring the error message, what you already tried, and what you expected to happen. That is not a hurdle in front of help — it is the actual professional skill.</a:t>
            </a:r>
          </a:p>
        </p:txBody>
      </p:sp>
      <p:sp>
        <p:nvSpPr>
          <p:cNvPr id="8" name="TextBox 7"/>
          <p:cNvSpPr txBox="1"/>
          <p:nvPr/>
        </p:nvSpPr>
        <p:spPr>
          <a:xfrm>
            <a:off x="685800" y="554210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Struggle before you seek rescue. In the challenge segments you are supposed to be stuck for a while.</a:t>
            </a:r>
          </a:p>
        </p:txBody>
      </p:sp>
      <p:sp>
        <p:nvSpPr>
          <p:cNvPr id="9" name="TextBox 8"/>
          <p:cNvSpPr txBox="1"/>
          <p:nvPr/>
        </p:nvSpPr>
        <p:spPr>
          <a:xfrm>
            <a:off x="6347307"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you can expect from me</a:t>
            </a:r>
          </a:p>
        </p:txBody>
      </p:sp>
      <p:sp>
        <p:nvSpPr>
          <p:cNvPr id="10" name="TextBox 9"/>
          <p:cNvSpPr txBox="1"/>
          <p:nvPr/>
        </p:nvSpPr>
        <p:spPr>
          <a:xfrm>
            <a:off x="6347307"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Every rubric published before the work is set. You will never meet a marking scheme for the first time in an assessment.</a:t>
            </a:r>
          </a:p>
        </p:txBody>
      </p:sp>
      <p:sp>
        <p:nvSpPr>
          <p:cNvPr id="11" name="TextBox 10"/>
          <p:cNvSpPr txBox="1"/>
          <p:nvPr/>
        </p:nvSpPr>
        <p:spPr>
          <a:xfrm>
            <a:off x="6347307" y="3402456"/>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Every dataset staged locally, so a slow connection is never your problem.</a:t>
            </a:r>
          </a:p>
        </p:txBody>
      </p:sp>
      <p:sp>
        <p:nvSpPr>
          <p:cNvPr id="12" name="TextBox 11"/>
          <p:cNvSpPr txBox="1"/>
          <p:nvPr/>
        </p:nvSpPr>
        <p:spPr>
          <a:xfrm>
            <a:off x="6347307" y="416139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Feedback on the weekly work within a week, and instant feedback on every quiz.</a:t>
            </a:r>
          </a:p>
        </p:txBody>
      </p:sp>
      <p:sp>
        <p:nvSpPr>
          <p:cNvPr id="13" name="TextBox 12"/>
          <p:cNvSpPr txBox="1"/>
          <p:nvPr/>
        </p:nvSpPr>
        <p:spPr>
          <a:xfrm>
            <a:off x="6347307" y="4920325"/>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 straight answer to 'why are we learning this?', every single time it is asked.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The whole field, start to finish</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Before we teach you any of it, here is the entire territory — and exactly which parts of it this course covers, which parts Semester 2 covers, and which parts we do not touch.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TERRITORY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machine learning roadmap</a:t>
            </a:r>
          </a:p>
        </p:txBody>
      </p:sp>
      <p:pic>
        <p:nvPicPr>
          <p:cNvPr id="4" name="Picture 3" descr="roadmap_journey.png"/>
          <p:cNvPicPr>
            <a:picLocks noChangeAspect="1"/>
          </p:cNvPicPr>
          <p:nvPr/>
        </p:nvPicPr>
        <p:blipFill>
          <a:blip r:embed="rId2"/>
          <a:stretch>
            <a:fillRect/>
          </a:stretch>
        </p:blipFill>
        <p:spPr>
          <a:xfrm>
            <a:off x="2272525" y="1911095"/>
            <a:ext cx="764664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stages, from Python to transformers. Orange is Semester 1. Green is Semester 2. Dark blue is the stage you already have from your engineering degree. Grey is what this course deliberately does not teach. Structure follows the public roadmap.sh Machine Learning roadmap.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WHERE YOU ALREADY ARE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Stage 2 is the one that matters to you</a:t>
            </a:r>
          </a:p>
        </p:txBody>
      </p:sp>
      <p:sp>
        <p:nvSpPr>
          <p:cNvPr id="4" name="TextBox 3"/>
          <p:cNvSpPr txBox="1"/>
          <p:nvPr/>
        </p:nvSpPr>
        <p:spPr>
          <a:xfrm>
            <a:off x="685800"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You already have the mathematics</a:t>
            </a:r>
          </a:p>
        </p:txBody>
      </p:sp>
      <p:sp>
        <p:nvSpPr>
          <p:cNvPr id="5" name="TextBox 4"/>
          <p:cNvSpPr txBox="1"/>
          <p:nvPr/>
        </p:nvSpPr>
        <p:spPr>
          <a:xfrm>
            <a:off x="685800" y="234272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The roadmap puts calculus, linear algebra, statistics and probability as a major stage — for most people entering this field from computing, it is the hardest one.</a:t>
            </a:r>
          </a:p>
        </p:txBody>
      </p:sp>
      <p:sp>
        <p:nvSpPr>
          <p:cNvPr id="6" name="TextBox 5"/>
          <p:cNvSpPr txBox="1"/>
          <p:nvPr/>
        </p:nvSpPr>
        <p:spPr>
          <a:xfrm>
            <a:off x="685800" y="3451407"/>
            <a:ext cx="5158587" cy="1350228"/>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You did it in Years 1 and 2. Derivatives, matrices, distributions, hypothesis tests. You are not starting from zero on the roadmap; you are starting from stage 3 with stage 2 already behind you.</a:t>
            </a:r>
          </a:p>
        </p:txBody>
      </p:sp>
      <p:sp>
        <p:nvSpPr>
          <p:cNvPr id="7" name="TextBox 6"/>
          <p:cNvSpPr txBox="1"/>
          <p:nvPr/>
        </p:nvSpPr>
        <p:spPr>
          <a:xfrm>
            <a:off x="6347307" y="1911095"/>
            <a:ext cx="5158587" cy="79010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What you are missing is the programming, and that is the easier half</a:t>
            </a:r>
          </a:p>
        </p:txBody>
      </p:sp>
      <p:sp>
        <p:nvSpPr>
          <p:cNvPr id="8" name="TextBox 7"/>
          <p:cNvSpPr txBox="1"/>
          <p:nvPr/>
        </p:nvSpPr>
        <p:spPr>
          <a:xfrm>
            <a:off x="6347307" y="271034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Stages 1 and 3 — Python and the data libraries — are five weeks of work. The mathematics took you two years; Weeks 2 to 6 cover the five.</a:t>
            </a:r>
          </a:p>
        </p:txBody>
      </p:sp>
      <p:sp>
        <p:nvSpPr>
          <p:cNvPr id="9" name="TextBox 8"/>
          <p:cNvSpPr txBox="1"/>
          <p:nvPr/>
        </p:nvSpPr>
        <p:spPr>
          <a:xfrm>
            <a:off x="6347307" y="3965331"/>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Which is why an engineer is well placed here</a:t>
            </a:r>
          </a:p>
        </p:txBody>
      </p:sp>
      <p:sp>
        <p:nvSpPr>
          <p:cNvPr id="10" name="TextBox 9"/>
          <p:cNvSpPr txBox="1"/>
          <p:nvPr/>
        </p:nvSpPr>
        <p:spPr>
          <a:xfrm>
            <a:off x="6347307" y="4396959"/>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The people who struggle in this field are usually strong programmers with no domain knowledge and shaky mathematics. You are the reverse, and the reverse is more useful.</a:t>
            </a:r>
          </a:p>
        </p:txBody>
      </p:sp>
      <p:sp>
        <p:nvSpPr>
          <p:cNvPr id="11" name="TextBox 10"/>
          <p:cNvSpPr txBox="1"/>
          <p:nvPr/>
        </p:nvSpPr>
        <p:spPr>
          <a:xfrm>
            <a:off x="6347307" y="5505643"/>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An engineer who can do this in their own discipline is rarer, and harder to replace, than a generalist who can do it in none.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COVERAGE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this course sits, honestly</a:t>
            </a:r>
          </a:p>
        </p:txBody>
      </p:sp>
      <p:pic>
        <p:nvPicPr>
          <p:cNvPr id="4" name="Picture 3" descr="roadmap_coverage.png"/>
          <p:cNvPicPr>
            <a:picLocks noChangeAspect="1"/>
          </p:cNvPicPr>
          <p:nvPr/>
        </p:nvPicPr>
        <p:blipFill>
          <a:blip r:embed="rId2"/>
          <a:stretch>
            <a:fillRect/>
          </a:stretch>
        </p:blipFill>
        <p:spPr>
          <a:xfrm>
            <a:off x="1584787" y="1911095"/>
            <a:ext cx="902212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grey is what we do not teach. Reinforcement learning, full MLOps and most of the advanced language-model material are outside this course. I would rather you knew that now than discovered it in December.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WHERE IT LEADS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jobs this field splits into</a:t>
            </a:r>
          </a:p>
        </p:txBody>
      </p:sp>
      <p:pic>
        <p:nvPicPr>
          <p:cNvPr id="4" name="Picture 3" descr="career_paths.png"/>
          <p:cNvPicPr>
            <a:picLocks noChangeAspect="1"/>
          </p:cNvPicPr>
          <p:nvPr/>
        </p:nvPicPr>
        <p:blipFill>
          <a:blip r:embed="rId2"/>
          <a:stretch>
            <a:fillRect/>
          </a:stretch>
        </p:blipFill>
        <p:spPr>
          <a:xfrm>
            <a:off x="850640" y="1911095"/>
            <a:ext cx="1049041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These are four different roadmaps and four different careers. This course points at the first one, applied inside your own engineering discipline — which is a narrower and more defensible position than competing with computer science graduates on general machine learning.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What this course is actually about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Three words people use interchangeably and should not — and where engineering sits among them.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LANGUAGE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words, and how they nest</a:t>
            </a:r>
          </a:p>
        </p:txBody>
      </p:sp>
      <p:pic>
        <p:nvPicPr>
          <p:cNvPr id="4" name="Picture 3" descr="nested_ai.png"/>
          <p:cNvPicPr>
            <a:picLocks noChangeAspect="1"/>
          </p:cNvPicPr>
          <p:nvPr/>
        </p:nvPicPr>
        <p:blipFill>
          <a:blip r:embed="rId2"/>
          <a:stretch>
            <a:fillRect/>
          </a:stretch>
        </p:blipFill>
        <p:spPr>
          <a:xfrm>
            <a:off x="2282342" y="1911095"/>
            <a:ext cx="762701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Each is contained by the one before it. Data science is the odd one out: it overlaps all of them and is contained by none, because it is the craft of getting an answer out of data at all — finding it, cleaning it, questioning it, presenting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Artificial intelligence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Any machine doing something we would call intelligent. It names a goal. Many different techniques aim at it.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chess engine is AI. So is a spam filter. A thermostat is not — it follows one fixed rule with no notion of doing better.</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which is one particular way of achieving AI. All machine learning is AI; most AI historically was not machine learning.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Machine learning</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Getting a computer to work out a rule from examples, instead of you writing the rule yourself.</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You show it 10,000 machine-hours of sensor readings, each labelled with whether a failure followed. It infers a relationship. You then decide whether to trust it.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Automation. A script that emails a report every Monday is automation and there is no learning in it at all.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Data science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The craft of getting a trustworthy answer out of data — finding it, cleaning it, questioning it, analysing it and presenting it so somebody can act.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Discovering that a third of your sensor logs are missing, working out whether they are missing at random, and deciding what that does to your conclusion. No model involved.</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You will spend far more of this semester on data science than on machine learning, and that ratio matches professional practice.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ways to make a computer decide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actual idea of the course, and the vocabulary you need to talk about data.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THIS COURSE STARTS FROM</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"This machine has three sensors on it. It failed last month. Could we have known?"</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Hold onto that question. In twenty minutes you are going to answer a version of it yourself, on paper, with no computer and no formula.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ACTUAL IDEA</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Traditional programming, and machine learning</a:t>
            </a:r>
          </a:p>
        </p:txBody>
      </p:sp>
      <p:pic>
        <p:nvPicPr>
          <p:cNvPr id="4" name="Picture 3" descr="rules_vs_learning.png"/>
          <p:cNvPicPr>
            <a:picLocks noChangeAspect="1"/>
          </p:cNvPicPr>
          <p:nvPr/>
        </p:nvPicPr>
        <p:blipFill>
          <a:blip r:embed="rId2"/>
          <a:stretch>
            <a:fillRect/>
          </a:stretch>
        </p:blipFill>
        <p:spPr>
          <a:xfrm>
            <a:off x="1304533" y="1911095"/>
            <a:ext cx="95826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On the left, the way you already know: you work out the rule and write it down. On the right, the new way: you do not know the rule, but you have examples of inputs and the answers that followed, and the computer works out a rule from them.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CHOOSING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When to write the rule, and when to learn it from data</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Write the rule yourself when…</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code of practice, a datasheet or a validated equation already gives you the answer.</a:t>
            </a:r>
          </a:p>
        </p:txBody>
      </p:sp>
      <p:sp>
        <p:nvSpPr>
          <p:cNvPr id="6" name="TextBox 5"/>
          <p:cNvSpPr txBox="1"/>
          <p:nvPr/>
        </p:nvSpPr>
        <p:spPr>
          <a:xfrm>
            <a:off x="685800" y="316337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relationship is simple and well understood.</a:t>
            </a:r>
          </a:p>
        </p:txBody>
      </p:sp>
      <p:sp>
        <p:nvSpPr>
          <p:cNvPr id="7" name="TextBox 6"/>
          <p:cNvSpPr txBox="1"/>
          <p:nvPr/>
        </p:nvSpPr>
        <p:spPr>
          <a:xfrm>
            <a:off x="685800" y="363733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must be able to explain the decision to a client or a regulator line by line.</a:t>
            </a:r>
          </a:p>
        </p:txBody>
      </p:sp>
      <p:sp>
        <p:nvSpPr>
          <p:cNvPr id="8" name="TextBox 7"/>
          <p:cNvSpPr txBox="1"/>
          <p:nvPr/>
        </p:nvSpPr>
        <p:spPr>
          <a:xfrm>
            <a:off x="685800" y="4448083"/>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little or no historical data.</a:t>
            </a:r>
          </a:p>
        </p:txBody>
      </p:sp>
      <p:sp>
        <p:nvSpPr>
          <p:cNvPr id="9" name="TextBox 8"/>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Let the computer infer the rule when…</a:t>
            </a:r>
          </a:p>
        </p:txBody>
      </p:sp>
      <p:sp>
        <p:nvSpPr>
          <p:cNvPr id="10" name="TextBox 9"/>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Nobody knows the rule, or it involves many variables interacting.</a:t>
            </a:r>
          </a:p>
        </p:txBody>
      </p:sp>
      <p:sp>
        <p:nvSpPr>
          <p:cNvPr id="11" name="TextBox 10"/>
          <p:cNvSpPr txBox="1"/>
          <p:nvPr/>
        </p:nvSpPr>
        <p:spPr>
          <a:xfrm>
            <a:off x="6347307" y="316337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a reasonable quantity of past examples where you know both the inputs and the outcome.</a:t>
            </a:r>
          </a:p>
        </p:txBody>
      </p:sp>
      <p:sp>
        <p:nvSpPr>
          <p:cNvPr id="12" name="TextBox 11"/>
          <p:cNvSpPr txBox="1"/>
          <p:nvPr/>
        </p:nvSpPr>
        <p:spPr>
          <a:xfrm>
            <a:off x="6347307" y="3974128"/>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An approximate answer now is worth more than an exact answer later — which is exactly the case in the question we opened with.</a:t>
            </a:r>
          </a:p>
        </p:txBody>
      </p:sp>
      <p:sp>
        <p:nvSpPr>
          <p:cNvPr id="13" name="TextBox 12"/>
          <p:cNvSpPr txBox="1"/>
          <p:nvPr/>
        </p:nvSpPr>
        <p:spPr>
          <a:xfrm>
            <a:off x="6347307" y="5121673"/>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can test the inferred rule against cases it has never seen.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VOCABULARY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we actually mean by 'data'</a:t>
            </a:r>
          </a:p>
        </p:txBody>
      </p:sp>
      <p:pic>
        <p:nvPicPr>
          <p:cNvPr id="4" name="Picture 3" descr="data_table_CML3111.png"/>
          <p:cNvPicPr>
            <a:picLocks noChangeAspect="1"/>
          </p:cNvPicPr>
          <p:nvPr/>
        </p:nvPicPr>
        <p:blipFill>
          <a:blip r:embed="rId2"/>
          <a:stretch>
            <a:fillRect/>
          </a:stretch>
        </p:blipFill>
        <p:spPr>
          <a:xfrm>
            <a:off x="1304420" y="1911095"/>
            <a:ext cx="95828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This is the single most important picture in today's session. Every dataset you meet this semester has this shape: one row per example, feature columns for what you know beforehand, and one target column for the thing you want to predict.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Feature, and target</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FEATURE is a column you know before the outcome — an input. The TARGET is the column you want to predict. One row containing all of them is one EXAMPLE.</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In the table you just saw, rotational speed, torque and tool wear are the features. Whether the machine fails is the target.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target is not the same as a cause. Tool wear is associated with failure; the model learns the association and knows nothing about metal fatigue.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In a table of AI4I 2020 Predictive Maintenance records, is whether the machine fails a feature or the target?</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long a pump will run before it fails. You have a column recording the repair that was carried out afterwards. Should it be a feature? Why or why not?</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example from your own discipline of a problem where you already know the rule, so machine learning would be the wrong tool.</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Feature or target?</a:t>
            </a:r>
          </a:p>
        </p:txBody>
      </p:sp>
      <p:sp>
        <p:nvSpPr>
          <p:cNvPr id="6" name="TextBox 5"/>
          <p:cNvSpPr txBox="1"/>
          <p:nvPr/>
        </p:nvSpPr>
        <p:spPr>
          <a:xfrm>
            <a:off x="1216152" y="2203703"/>
            <a:ext cx="10253167"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The target. It is the thing you want to predict. Everything measured beforehand is a feature.</a:t>
            </a:r>
          </a:p>
        </p:txBody>
      </p:sp>
      <p:sp>
        <p:nvSpPr>
          <p:cNvPr id="7" name="Oval 6"/>
          <p:cNvSpPr/>
          <p:nvPr/>
        </p:nvSpPr>
        <p:spPr>
          <a:xfrm>
            <a:off x="685800" y="275086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271429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The repair column?</a:t>
            </a:r>
          </a:p>
        </p:txBody>
      </p:sp>
      <p:sp>
        <p:nvSpPr>
          <p:cNvPr id="9" name="TextBox 8"/>
          <p:cNvSpPr txBox="1"/>
          <p:nvPr/>
        </p:nvSpPr>
        <p:spPr>
          <a:xfrm>
            <a:off x="1216152" y="3006900"/>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No. You only know what repair was done AFTER the failure, so it cannot help you predict the failure. Include it and your model will look brilliant in testing and be useless in service. This is called data leakage and we spend a whole session on it in Week 10.</a:t>
            </a:r>
          </a:p>
        </p:txBody>
      </p:sp>
      <p:sp>
        <p:nvSpPr>
          <p:cNvPr id="10" name="Oval 9"/>
          <p:cNvSpPr/>
          <p:nvPr/>
        </p:nvSpPr>
        <p:spPr>
          <a:xfrm>
            <a:off x="685800" y="424605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20948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A rule you already know?</a:t>
            </a:r>
          </a:p>
        </p:txBody>
      </p:sp>
      <p:sp>
        <p:nvSpPr>
          <p:cNvPr id="12" name="TextBox 11"/>
          <p:cNvSpPr txBox="1"/>
          <p:nvPr/>
        </p:nvSpPr>
        <p:spPr>
          <a:xfrm>
            <a:off x="1216152" y="4502090"/>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Anything with a formula or a code threshold: Power is voltage times current. Do not train a model to rediscover Ohm's law. If a validated equation exists, use the equation.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Hands on: predict case 13</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are going to do machine learning by hand, on paper, before anybody writes a line of code. Teams of four or five — form them now.</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TEAM TASK · 15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Your task</a:t>
            </a:r>
          </a:p>
        </p:txBody>
      </p:sp>
      <p:pic>
        <p:nvPicPr>
          <p:cNvPr id="4" name="Picture 3" descr="hand_pred_before_CML3111.png"/>
          <p:cNvPicPr>
            <a:picLocks noChangeAspect="1"/>
          </p:cNvPicPr>
          <p:nvPr/>
        </p:nvPicPr>
        <p:blipFill>
          <a:blip r:embed="rId2"/>
          <a:stretch>
            <a:fillRect/>
          </a:stretch>
        </p:blipFill>
        <p:spPr>
          <a:xfrm>
            <a:off x="2933706" y="1911095"/>
            <a:ext cx="6324283"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Twelve cases, each with its features and its known outcome. Case 13 has features but the outcome is hidden. In your team: predict it, write the number down, and write one sentence saying how you decided. Fifteen minutes.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Reading the pattern from twelve cases</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There is no single right method. This is one line of thinking that works, and it is close to what most teams arrive at.</a:t>
            </a:r>
          </a:p>
        </p:txBody>
      </p:sp>
      <p:sp>
        <p:nvSpPr>
          <p:cNvPr id="5" name="Rounded Rectangle 4"/>
          <p:cNvSpPr/>
          <p:nvPr/>
        </p:nvSpPr>
        <p:spPr>
          <a:xfrm>
            <a:off x="685800" y="2732347"/>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down the columns and ask which one seems to move with the outcome. Ignore the others for now.</a:t>
            </a:r>
          </a:p>
        </p:txBody>
      </p:sp>
      <p:sp>
        <p:nvSpPr>
          <p:cNvPr id="8" name="Rounded Rectangle 7"/>
          <p:cNvSpPr/>
          <p:nvPr/>
        </p:nvSpPr>
        <p:spPr>
          <a:xfrm>
            <a:off x="685800" y="3258366"/>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31323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304086"/>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Find the two cases whose value of that column sits either side of case 13's value.</a:t>
            </a:r>
          </a:p>
        </p:txBody>
      </p:sp>
      <p:sp>
        <p:nvSpPr>
          <p:cNvPr id="11" name="Rounded Rectangle 10"/>
          <p:cNvSpPr/>
          <p:nvPr/>
        </p:nvSpPr>
        <p:spPr>
          <a:xfrm>
            <a:off x="685800" y="3784385"/>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8392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830105"/>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at their outcomes. Case 13's answer is probably between them.</a:t>
            </a:r>
          </a:p>
        </p:txBody>
      </p:sp>
      <p:sp>
        <p:nvSpPr>
          <p:cNvPr id="14" name="Rounded Rectangle 13"/>
          <p:cNvSpPr/>
          <p:nvPr/>
        </p:nvSpPr>
        <p:spPr>
          <a:xfrm>
            <a:off x="685800" y="4310404"/>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36526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356124"/>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Adjust for anything else you noticed — a second column that also seems to matter.</a:t>
            </a:r>
          </a:p>
        </p:txBody>
      </p:sp>
      <p:sp>
        <p:nvSpPr>
          <p:cNvPr id="17" name="Rounded Rectangle 16"/>
          <p:cNvSpPr/>
          <p:nvPr/>
        </p:nvSpPr>
        <p:spPr>
          <a:xfrm>
            <a:off x="685800" y="4836423"/>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891287"/>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882143"/>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Write the number down, and write why. Then ask: how confident am I, and what would change my mind?</a:t>
            </a:r>
          </a:p>
        </p:txBody>
      </p:sp>
      <p:sp>
        <p:nvSpPr>
          <p:cNvPr id="20" name="Rounded Rectangle 19"/>
          <p:cNvSpPr/>
          <p:nvPr/>
        </p:nvSpPr>
        <p:spPr>
          <a:xfrm>
            <a:off x="685800" y="5417306"/>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5554466"/>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That is genuinely the whole idea. You found a pattern in examples and used it on a case you had never seen — which is exactly what every algorithm in this course does.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REVEAL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answer, and your error</a:t>
            </a:r>
          </a:p>
        </p:txBody>
      </p:sp>
      <p:pic>
        <p:nvPicPr>
          <p:cNvPr id="4" name="Picture 3" descr="hand_pred_after_CML3111.png"/>
          <p:cNvPicPr>
            <a:picLocks noChangeAspect="1"/>
          </p:cNvPicPr>
          <p:nvPr/>
        </p:nvPicPr>
        <p:blipFill>
          <a:blip r:embed="rId2"/>
          <a:stretch>
            <a:fillRect/>
          </a:stretch>
        </p:blipFill>
        <p:spPr>
          <a:xfrm>
            <a:off x="3043648" y="1911095"/>
            <a:ext cx="610439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star is the true value. The distance between your guess and the star is your ERROR — and measuring that distance honestly is what most of this course is about. The dashed line is the pattern you were sensing without being able to write it down.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NAMING IT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You just did every step of a machine learning project</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What you called it</a:t>
            </a:r>
          </a:p>
        </p:txBody>
      </p:sp>
      <p:sp>
        <p:nvSpPr>
          <p:cNvPr id="5" name="TextBox 4"/>
          <p:cNvSpPr txBox="1"/>
          <p:nvPr/>
        </p:nvSpPr>
        <p:spPr>
          <a:xfrm>
            <a:off x="685800" y="235262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looked at the table.</a:t>
            </a:r>
          </a:p>
        </p:txBody>
      </p:sp>
      <p:sp>
        <p:nvSpPr>
          <p:cNvPr id="6" name="TextBox 5"/>
          <p:cNvSpPr txBox="1"/>
          <p:nvPr/>
        </p:nvSpPr>
        <p:spPr>
          <a:xfrm>
            <a:off x="685800" y="2826584"/>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noticed which columns seemed to matter.</a:t>
            </a:r>
          </a:p>
        </p:txBody>
      </p:sp>
      <p:sp>
        <p:nvSpPr>
          <p:cNvPr id="7" name="TextBox 6"/>
          <p:cNvSpPr txBox="1"/>
          <p:nvPr/>
        </p:nvSpPr>
        <p:spPr>
          <a:xfrm>
            <a:off x="685800" y="330053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worked out a rough rule in your head.</a:t>
            </a:r>
          </a:p>
        </p:txBody>
      </p:sp>
      <p:sp>
        <p:nvSpPr>
          <p:cNvPr id="8" name="TextBox 7"/>
          <p:cNvSpPr txBox="1"/>
          <p:nvPr/>
        </p:nvSpPr>
        <p:spPr>
          <a:xfrm>
            <a:off x="685800" y="3774494"/>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applied it to a case you had not seen.</a:t>
            </a:r>
          </a:p>
        </p:txBody>
      </p:sp>
      <p:sp>
        <p:nvSpPr>
          <p:cNvPr id="9" name="TextBox 8"/>
          <p:cNvSpPr txBox="1"/>
          <p:nvPr/>
        </p:nvSpPr>
        <p:spPr>
          <a:xfrm>
            <a:off x="685800" y="4248448"/>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compared your answer with the truth.</a:t>
            </a:r>
          </a:p>
        </p:txBody>
      </p:sp>
      <p:sp>
        <p:nvSpPr>
          <p:cNvPr id="10" name="TextBox 9"/>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What it is called</a:t>
            </a:r>
          </a:p>
        </p:txBody>
      </p:sp>
      <p:sp>
        <p:nvSpPr>
          <p:cNvPr id="11" name="TextBox 10"/>
          <p:cNvSpPr txBox="1"/>
          <p:nvPr/>
        </p:nvSpPr>
        <p:spPr>
          <a:xfrm>
            <a:off x="6347307" y="235262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explored the data. That is Weeks 5 and 6.</a:t>
            </a:r>
          </a:p>
        </p:txBody>
      </p:sp>
      <p:sp>
        <p:nvSpPr>
          <p:cNvPr id="12" name="TextBox 11"/>
          <p:cNvSpPr txBox="1"/>
          <p:nvPr/>
        </p:nvSpPr>
        <p:spPr>
          <a:xfrm>
            <a:off x="6347307" y="2826584"/>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selected features. That is Week 11.</a:t>
            </a:r>
          </a:p>
        </p:txBody>
      </p:sp>
      <p:sp>
        <p:nvSpPr>
          <p:cNvPr id="13" name="TextBox 12"/>
          <p:cNvSpPr txBox="1"/>
          <p:nvPr/>
        </p:nvSpPr>
        <p:spPr>
          <a:xfrm>
            <a:off x="6347307" y="330053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fitted a model. That is Week 8.</a:t>
            </a:r>
          </a:p>
        </p:txBody>
      </p:sp>
      <p:sp>
        <p:nvSpPr>
          <p:cNvPr id="14" name="TextBox 13"/>
          <p:cNvSpPr txBox="1"/>
          <p:nvPr/>
        </p:nvSpPr>
        <p:spPr>
          <a:xfrm>
            <a:off x="6347307" y="377449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predicted on unseen data — the single most important idea in the course. Week 8 and Week 10.</a:t>
            </a:r>
          </a:p>
        </p:txBody>
      </p:sp>
      <p:sp>
        <p:nvSpPr>
          <p:cNvPr id="15" name="TextBox 14"/>
          <p:cNvSpPr txBox="1"/>
          <p:nvPr/>
        </p:nvSpPr>
        <p:spPr>
          <a:xfrm>
            <a:off x="6347307" y="4585243"/>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evaluated the error. That is Week 10, and it is where engineers earn their keep.</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Nothing after the break needs a computer.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kinds of question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Predicting a number, and predicting a category. Almost everything in this course is one or the other.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TWO SHAPES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Regression and classification</a:t>
            </a:r>
          </a:p>
        </p:txBody>
      </p:sp>
      <p:pic>
        <p:nvPicPr>
          <p:cNvPr id="4" name="Picture 3" descr="reg_vs_class_CML3111.png"/>
          <p:cNvPicPr>
            <a:picLocks noChangeAspect="1"/>
          </p:cNvPicPr>
          <p:nvPr/>
        </p:nvPicPr>
        <p:blipFill>
          <a:blip r:embed="rId2"/>
          <a:stretch>
            <a:fillRect/>
          </a:stretch>
        </p:blipFill>
        <p:spPr>
          <a:xfrm>
            <a:off x="2367102" y="1911095"/>
            <a:ext cx="745749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Left: the answer is a number on a continuous scale, so we fit a line through the cases. Right: the answer is one of a small set of labels, so we look for a boundary that separates them. The data can be the same; the question is what changes.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Regression, and classification</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REGRESSION predicts a number on a continuous scale. CLASSIFICATION predicts which of a small number of categories a case belongs to.</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Regression: how many N·m? Classification: failure or no failure; or fault type: bearing, winding, imbalance.</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Each other. Ask 'what would the answer look like written down?' A quantity with a unit means regression. A word or a label means classification.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many days until a component needs replacing. Regression or classification?</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whether a sample passes or fails specification. Which one?</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which of five fault types a machine has. Which one — and what makes it different from the previous question?</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Days until replacement?</a:t>
            </a:r>
          </a:p>
        </p:txBody>
      </p:sp>
      <p:sp>
        <p:nvSpPr>
          <p:cNvPr id="6" name="TextBox 5"/>
          <p:cNvSpPr txBox="1"/>
          <p:nvPr/>
        </p:nvSpPr>
        <p:spPr>
          <a:xfrm>
            <a:off x="1216152" y="2203703"/>
            <a:ext cx="10253167"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Regression. The answer is a number with a unit — days.</a:t>
            </a:r>
          </a:p>
        </p:txBody>
      </p:sp>
      <p:sp>
        <p:nvSpPr>
          <p:cNvPr id="7" name="Oval 6"/>
          <p:cNvSpPr/>
          <p:nvPr/>
        </p:nvSpPr>
        <p:spPr>
          <a:xfrm>
            <a:off x="685800" y="275086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271429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Pass or fail?</a:t>
            </a:r>
          </a:p>
        </p:txBody>
      </p:sp>
      <p:sp>
        <p:nvSpPr>
          <p:cNvPr id="9" name="TextBox 8"/>
          <p:cNvSpPr txBox="1"/>
          <p:nvPr/>
        </p:nvSpPr>
        <p:spPr>
          <a:xfrm>
            <a:off x="1216152" y="3006900"/>
            <a:ext cx="10253167"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Classification. Two categories, so it is called binary classification.</a:t>
            </a:r>
          </a:p>
        </p:txBody>
      </p:sp>
      <p:sp>
        <p:nvSpPr>
          <p:cNvPr id="10" name="Oval 9"/>
          <p:cNvSpPr/>
          <p:nvPr/>
        </p:nvSpPr>
        <p:spPr>
          <a:xfrm>
            <a:off x="685800" y="35540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35174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Which of five fault types?</a:t>
            </a:r>
          </a:p>
        </p:txBody>
      </p:sp>
      <p:sp>
        <p:nvSpPr>
          <p:cNvPr id="12" name="TextBox 11"/>
          <p:cNvSpPr txBox="1"/>
          <p:nvPr/>
        </p:nvSpPr>
        <p:spPr>
          <a:xfrm>
            <a:off x="1216152" y="3810097"/>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Still classification, but multi-class rather than binary. It is harder: with five classes there are far more ways to be wrong, and a single accuracy figure hides which ones you get wrong. Week 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What machine learning cannot do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Four honest limits. This segment is here to protect you from being sold something.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LIMITS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limits, and none of them go away</a:t>
            </a:r>
          </a:p>
        </p:txBody>
      </p:sp>
      <p:pic>
        <p:nvPicPr>
          <p:cNvPr id="4" name="Picture 3" descr="four_limits.png"/>
          <p:cNvPicPr>
            <a:picLocks noChangeAspect="1"/>
          </p:cNvPicPr>
          <p:nvPr/>
        </p:nvPicPr>
        <p:blipFill>
          <a:blip r:embed="rId2"/>
          <a:stretch>
            <a:fillRect/>
          </a:stretch>
        </p:blipFill>
        <p:spPr>
          <a:xfrm>
            <a:off x="1908452" y="1911095"/>
            <a:ext cx="837479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machine learning method will always give you an answer. It will never tell you that the question was unanswerable. That is your job.</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MADE CONCRETE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same four limits, in your own discipline</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1 · No data</a:t>
            </a:r>
          </a:p>
        </p:txBody>
      </p:sp>
      <p:sp>
        <p:nvSpPr>
          <p:cNvPr id="5" name="TextBox 4"/>
          <p:cNvSpPr txBox="1"/>
          <p:nvPr/>
        </p:nvSpPr>
        <p:spPr>
          <a:xfrm>
            <a:off x="685800"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Most motors in most plants have no sensor on them at all. There is nothing to learn from.</a:t>
            </a:r>
          </a:p>
        </p:txBody>
      </p:sp>
      <p:sp>
        <p:nvSpPr>
          <p:cNvPr id="6" name="TextBox 5"/>
          <p:cNvSpPr txBox="1"/>
          <p:nvPr/>
        </p:nvSpPr>
        <p:spPr>
          <a:xfrm>
            <a:off x="685800"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2 · No signal</a:t>
            </a:r>
          </a:p>
        </p:txBody>
      </p:sp>
      <p:sp>
        <p:nvSpPr>
          <p:cNvPr id="7" name="TextBox 6"/>
          <p:cNvSpPr txBox="1"/>
          <p:nvPr/>
        </p:nvSpPr>
        <p:spPr>
          <a:xfrm>
            <a:off x="685800" y="3612952"/>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The cabinet's paint colour does not predict bearing failure. Feed it in and a model will still produce a number.</a:t>
            </a:r>
          </a:p>
        </p:txBody>
      </p:sp>
      <p:sp>
        <p:nvSpPr>
          <p:cNvPr id="8" name="TextBox 7"/>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3 · Physics is better</a:t>
            </a:r>
          </a:p>
        </p:txBody>
      </p:sp>
      <p:sp>
        <p:nvSpPr>
          <p:cNvPr id="9" name="TextBox 8"/>
          <p:cNvSpPr txBox="1"/>
          <p:nvPr/>
        </p:nvSpPr>
        <p:spPr>
          <a:xfrm>
            <a:off x="6347307"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Power is voltage times current. Do not train a model to rediscover Ohm's law. Do not use a model where an equation will do.</a:t>
            </a:r>
          </a:p>
        </p:txBody>
      </p:sp>
      <p:sp>
        <p:nvSpPr>
          <p:cNvPr id="10" name="TextBox 9"/>
          <p:cNvSpPr txBox="1"/>
          <p:nvPr/>
        </p:nvSpPr>
        <p:spPr>
          <a:xfrm>
            <a:off x="6347307"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4 · The future changed</a:t>
            </a:r>
          </a:p>
        </p:txBody>
      </p:sp>
      <p:sp>
        <p:nvSpPr>
          <p:cNvPr id="11" name="TextBox 10"/>
          <p:cNvSpPr txBox="1"/>
          <p:nvPr/>
        </p:nvSpPr>
        <p:spPr>
          <a:xfrm>
            <a:off x="6347307" y="3612952"/>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model trained before a rewind or a firmware change may silently stop being true afterwards.</a:t>
            </a:r>
          </a:p>
        </p:txBody>
      </p:sp>
      <p:sp>
        <p:nvSpPr>
          <p:cNvPr id="12" name="TextBox 11"/>
          <p:cNvSpPr txBox="1"/>
          <p:nvPr/>
        </p:nvSpPr>
        <p:spPr>
          <a:xfrm>
            <a:off x="6347307" y="449228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Why this matters for the rest of the course</a:t>
            </a:r>
          </a:p>
        </p:txBody>
      </p:sp>
      <p:sp>
        <p:nvSpPr>
          <p:cNvPr id="13" name="TextBox 12"/>
          <p:cNvSpPr txBox="1"/>
          <p:nvPr/>
        </p:nvSpPr>
        <p:spPr>
          <a:xfrm>
            <a:off x="6347307" y="4903547"/>
            <a:ext cx="5158587" cy="1246599"/>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Every project in Week 9 has to survive these four questions before it is approved. A team that cannot answer them has not defined an engineering problem yet — it has picked a technique and gone looking for somewhere to use it.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8</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Challenge: the Problem Hunt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get a problem and no method. I will ask you questions and answer none. This is how roughly one segment of every session works.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Problem Hunt</a:t>
            </a:r>
          </a:p>
        </p:txBody>
      </p:sp>
      <p:sp>
        <p:nvSpPr>
          <p:cNvPr id="4" name="Rounded Rectangle 3"/>
          <p:cNvSpPr/>
          <p:nvPr/>
        </p:nvSpPr>
        <p:spPr>
          <a:xfrm>
            <a:off x="685800" y="1911095"/>
            <a:ext cx="10820095" cy="1792224"/>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1426464"/>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In your team, list six problems from sensors, signals, energy systems, fault detection and machine health where data might help.</a:t>
            </a:r>
          </a:p>
          <a:p>
            <a:pPr algn="l">
              <a:lnSpc>
                <a:spcPct val="125000"/>
              </a:lnSpc>
              <a:spcAft>
                <a:spcPts val="600"/>
              </a:spcAft>
            </a:pPr>
            <a:r>
              <a:rPr sz="1923" b="0" i="0">
                <a:solidFill>
                  <a:srgbClr val="1C3144"/>
                </a:solidFill>
                <a:latin typeface="Calibri"/>
              </a:rPr>
              <a:t>Then sort all six into: predict a NUMBER, predict a CATEGORY, or NOT a machine learning problem — and justify every placement, including the rejections.</a:t>
            </a:r>
          </a:p>
          <a:p>
            <a:pPr algn="l">
              <a:lnSpc>
                <a:spcPct val="125000"/>
              </a:lnSpc>
              <a:spcAft>
                <a:spcPts val="600"/>
              </a:spcAft>
            </a:pPr>
            <a:r>
              <a:rPr sz="1923" b="0" i="0">
                <a:solidFill>
                  <a:srgbClr val="1C3144"/>
                </a:solidFill>
                <a:latin typeface="Calibri"/>
              </a:rPr>
              <a:t>Thirty minutes. No template, no worked example, no help from me.</a:t>
            </a:r>
          </a:p>
        </p:txBody>
      </p:sp>
      <p:sp>
        <p:nvSpPr>
          <p:cNvPr id="6" name="TextBox 5"/>
          <p:cNvSpPr txBox="1"/>
          <p:nvPr/>
        </p:nvSpPr>
        <p:spPr>
          <a:xfrm>
            <a:off x="685800" y="4014215"/>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443484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are you actually trying to find?</a:t>
            </a:r>
          </a:p>
        </p:txBody>
      </p:sp>
      <p:sp>
        <p:nvSpPr>
          <p:cNvPr id="8" name="TextBox 7"/>
          <p:cNvSpPr txBox="1"/>
          <p:nvPr/>
        </p:nvSpPr>
        <p:spPr>
          <a:xfrm>
            <a:off x="685800" y="485546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Who measures that, and how often?</a:t>
            </a:r>
          </a:p>
        </p:txBody>
      </p:sp>
      <p:sp>
        <p:nvSpPr>
          <p:cNvPr id="9" name="TextBox 8"/>
          <p:cNvSpPr txBox="1"/>
          <p:nvPr/>
        </p:nvSpPr>
        <p:spPr>
          <a:xfrm>
            <a:off x="685800" y="527608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Would a rule you already know do this better?</a:t>
            </a:r>
          </a:p>
        </p:txBody>
      </p:sp>
      <p:sp>
        <p:nvSpPr>
          <p:cNvPr id="10" name="TextBox 9"/>
          <p:cNvSpPr txBox="1"/>
          <p:nvPr/>
        </p:nvSpPr>
        <p:spPr>
          <a:xfrm>
            <a:off x="6278727" y="443484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would the answer let somebody DO?</a:t>
            </a:r>
          </a:p>
        </p:txBody>
      </p:sp>
      <p:sp>
        <p:nvSpPr>
          <p:cNvPr id="11" name="TextBox 10"/>
          <p:cNvSpPr txBox="1"/>
          <p:nvPr/>
        </p:nvSpPr>
        <p:spPr>
          <a:xfrm>
            <a:off x="6278727" y="485546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How would you know if you were wrong?</a:t>
            </a:r>
          </a:p>
        </p:txBody>
      </p:sp>
      <p:sp>
        <p:nvSpPr>
          <p:cNvPr id="12" name="TextBox 11"/>
          <p:cNvSpPr txBox="1"/>
          <p:nvPr/>
        </p:nvSpPr>
        <p:spPr>
          <a:xfrm>
            <a:off x="6278727" y="527608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does a mistake cost here?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TEAMS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your team works, all semester</a:t>
            </a:r>
          </a:p>
        </p:txBody>
      </p:sp>
      <p:sp>
        <p:nvSpPr>
          <p:cNvPr id="4" name="TextBox 3"/>
          <p:cNvSpPr txBox="1"/>
          <p:nvPr/>
        </p:nvSpPr>
        <p:spPr>
          <a:xfrm>
            <a:off x="685800" y="1911095"/>
            <a:ext cx="5158587" cy="79010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Teams of four or five, formed today, kept to the end</a:t>
            </a:r>
          </a:p>
        </p:txBody>
      </p:sp>
      <p:sp>
        <p:nvSpPr>
          <p:cNvPr id="5" name="TextBox 4"/>
          <p:cNvSpPr txBox="1"/>
          <p:nvPr/>
        </p:nvSpPr>
        <p:spPr>
          <a:xfrm>
            <a:off x="685800" y="271034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You will do two projects together: a data analysis project due Week 8, and the Engineering ML Project from Week 9 to Week 15.</a:t>
            </a:r>
          </a:p>
        </p:txBody>
      </p:sp>
      <p:sp>
        <p:nvSpPr>
          <p:cNvPr id="6" name="TextBox 5"/>
          <p:cNvSpPr txBox="1"/>
          <p:nvPr/>
        </p:nvSpPr>
        <p:spPr>
          <a:xfrm>
            <a:off x="685800" y="3965331"/>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Roles rotate at every milestone</a:t>
            </a:r>
          </a:p>
        </p:txBody>
      </p:sp>
      <p:sp>
        <p:nvSpPr>
          <p:cNvPr id="7" name="TextBox 6"/>
          <p:cNvSpPr txBox="1"/>
          <p:nvPr/>
        </p:nvSpPr>
        <p:spPr>
          <a:xfrm>
            <a:off x="685800" y="4396959"/>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Data analyst · machine learning engineer · domain engineer · documentation lead · presenter. Nobody does the same job twice, so nobody hides in one role.</a:t>
            </a:r>
          </a:p>
        </p:txBody>
      </p:sp>
      <p:sp>
        <p:nvSpPr>
          <p:cNvPr id="8" name="TextBox 7"/>
          <p:cNvSpPr txBox="1"/>
          <p:nvPr/>
        </p:nvSpPr>
        <p:spPr>
          <a:xfrm>
            <a:off x="6347307"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Individual accountability is built in</a:t>
            </a:r>
          </a:p>
        </p:txBody>
      </p:sp>
      <p:sp>
        <p:nvSpPr>
          <p:cNvPr id="9" name="TextBox 8"/>
          <p:cNvSpPr txBox="1"/>
          <p:nvPr/>
        </p:nvSpPr>
        <p:spPr>
          <a:xfrm>
            <a:off x="6347307" y="234272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Sixty-five per cent of the mark is individual. Your team keeps a contribution log, and it is checked against the repository history.</a:t>
            </a:r>
          </a:p>
        </p:txBody>
      </p:sp>
      <p:sp>
        <p:nvSpPr>
          <p:cNvPr id="10" name="TextBox 9"/>
          <p:cNvSpPr txBox="1"/>
          <p:nvPr/>
        </p:nvSpPr>
        <p:spPr>
          <a:xfrm>
            <a:off x="6347307" y="3451407"/>
            <a:ext cx="5158587" cy="1350228"/>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In Week 15 every student answers two unseen questions about their own team's work. That is how a team mark becomes an individual one — you cannot be carried, and you will not be dragged down.</a:t>
            </a:r>
          </a:p>
        </p:txBody>
      </p:sp>
      <p:sp>
        <p:nvSpPr>
          <p:cNvPr id="11" name="TextBox 10"/>
          <p:cNvSpPr txBox="1"/>
          <p:nvPr/>
        </p:nvSpPr>
        <p:spPr>
          <a:xfrm>
            <a:off x="6347307" y="503023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Sign the team charter before you leave</a:t>
            </a:r>
          </a:p>
        </p:txBody>
      </p:sp>
      <p:sp>
        <p:nvSpPr>
          <p:cNvPr id="12" name="TextBox 11"/>
          <p:cNvSpPr txBox="1"/>
          <p:nvPr/>
        </p:nvSpPr>
        <p:spPr>
          <a:xfrm>
            <a:off x="6347307" y="546186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Names, contact details, a weekly meeting slot, and what you will do if somebody stops contributing. Agreeing that now is much easier than agreeing it in November.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9</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Gallery walk, and what you owe me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Critique two other teams' boards, then the assignment and the pre-work for next week.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ASSIGNMENT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Week 2</a:t>
            </a:r>
          </a:p>
        </p:txBody>
      </p:sp>
      <p:sp>
        <p:nvSpPr>
          <p:cNvPr id="4" name="TextBox 3"/>
          <p:cNvSpPr txBox="1"/>
          <p:nvPr/>
        </p:nvSpPr>
        <p:spPr>
          <a:xfrm>
            <a:off x="685800" y="1911095"/>
            <a:ext cx="5204307" cy="813592"/>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Assignment A1 — one page, due at the start of Week 2</a:t>
            </a:r>
          </a:p>
        </p:txBody>
      </p:sp>
      <p:sp>
        <p:nvSpPr>
          <p:cNvPr id="5" name="TextBox 4"/>
          <p:cNvSpPr txBox="1"/>
          <p:nvPr/>
        </p:nvSpPr>
        <p:spPr>
          <a:xfrm>
            <a:off x="685800" y="2797840"/>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Three candidate machine learning problems from your own discipline.</a:t>
            </a:r>
          </a:p>
        </p:txBody>
      </p:sp>
      <p:sp>
        <p:nvSpPr>
          <p:cNvPr id="6" name="TextBox 5"/>
          <p:cNvSpPr txBox="1"/>
          <p:nvPr/>
        </p:nvSpPr>
        <p:spPr>
          <a:xfrm>
            <a:off x="685800" y="3598534"/>
            <a:ext cx="5204307" cy="109588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For each one: what data it would need, and where that data might actually come from — who measures it, how often, and whether anyone has kept it.</a:t>
            </a:r>
          </a:p>
        </p:txBody>
      </p:sp>
      <p:sp>
        <p:nvSpPr>
          <p:cNvPr id="7" name="TextBox 6"/>
          <p:cNvSpPr txBox="1"/>
          <p:nvPr/>
        </p:nvSpPr>
        <p:spPr>
          <a:xfrm>
            <a:off x="685800" y="4749283"/>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One of the three must be a problem you think is NOT solvable with the data that exists. Say why.</a:t>
            </a:r>
          </a:p>
        </p:txBody>
      </p:sp>
      <p:sp>
        <p:nvSpPr>
          <p:cNvPr id="8" name="TextBox 7"/>
          <p:cNvSpPr txBox="1"/>
          <p:nvPr/>
        </p:nvSpPr>
        <p:spPr>
          <a:xfrm>
            <a:off x="685800" y="5549977"/>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Marked pass or redo. What is being checked is engagement.</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Also before next week</a:t>
            </a:r>
          </a:p>
        </p:txBody>
      </p:sp>
      <p:sp>
        <p:nvSpPr>
          <p:cNvPr id="11" name="TextBox 10"/>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GitHub account.</a:t>
            </a:r>
          </a:p>
        </p:txBody>
      </p:sp>
      <p:sp>
        <p:nvSpPr>
          <p:cNvPr id="12" name="TextBox 11"/>
          <p:cNvSpPr txBox="1"/>
          <p:nvPr/>
        </p:nvSpPr>
        <p:spPr>
          <a:xfrm>
            <a:off x="6575907" y="2897385"/>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Google account if you do not have one — we work in Google Colab from Week 2.</a:t>
            </a:r>
          </a:p>
        </p:txBody>
      </p:sp>
      <p:sp>
        <p:nvSpPr>
          <p:cNvPr id="13" name="TextBox 12"/>
          <p:cNvSpPr txBox="1"/>
          <p:nvPr/>
        </p:nvSpPr>
        <p:spPr>
          <a:xfrm>
            <a:off x="6575907" y="373610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Watch the video on the next slide.</a:t>
            </a:r>
          </a:p>
        </p:txBody>
      </p:sp>
      <p:sp>
        <p:nvSpPr>
          <p:cNvPr id="14" name="TextBox 13"/>
          <p:cNvSpPr txBox="1"/>
          <p:nvPr/>
        </p:nvSpPr>
        <p:spPr>
          <a:xfrm>
            <a:off x="6575907" y="426519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Do NOT install anything.</a:t>
            </a:r>
          </a:p>
        </p:txBody>
      </p:sp>
      <p:sp>
        <p:nvSpPr>
          <p:cNvPr id="15" name="TextBox 14"/>
          <p:cNvSpPr txBox="1"/>
          <p:nvPr/>
        </p:nvSpPr>
        <p:spPr>
          <a:xfrm>
            <a:off x="6575907" y="466627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Week 2 needs a browser only.</a:t>
            </a:r>
          </a:p>
        </p:txBody>
      </p:sp>
      <p:sp>
        <p:nvSpPr>
          <p:cNvPr id="16" name="TextBox 15"/>
          <p:cNvSpPr txBox="1"/>
          <p:nvPr/>
        </p:nvSpPr>
        <p:spPr>
          <a:xfrm>
            <a:off x="6575907" y="519536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Sign and hand in your team charter.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VIDEO</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Watch this before Week 2</a:t>
            </a:r>
          </a:p>
        </p:txBody>
      </p:sp>
      <p:sp>
        <p:nvSpPr>
          <p:cNvPr id="4" name="Rounded Rectangle 3"/>
          <p:cNvSpPr/>
          <p:nvPr/>
        </p:nvSpPr>
        <p:spPr>
          <a:xfrm>
            <a:off x="685800" y="1911095"/>
            <a:ext cx="10820095" cy="2331720"/>
          </a:xfrm>
          <a:prstGeom prst="roundRect">
            <a:avLst>
              <a:gd name="adj" fmla="val 6000"/>
            </a:avLst>
          </a:prstGeom>
          <a:solidFill>
            <a:srgbClr val="1C31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185415"/>
            <a:ext cx="173736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PRE-WORK</a:t>
            </a:r>
          </a:p>
        </p:txBody>
      </p:sp>
      <p:sp>
        <p:nvSpPr>
          <p:cNvPr id="6" name="TextBox 5"/>
          <p:cNvSpPr txBox="1"/>
          <p:nvPr/>
        </p:nvSpPr>
        <p:spPr>
          <a:xfrm>
            <a:off x="2926080" y="2221991"/>
            <a:ext cx="4572000" cy="310896"/>
          </a:xfrm>
          <a:prstGeom prst="rect">
            <a:avLst/>
          </a:prstGeom>
          <a:noFill/>
        </p:spPr>
        <p:txBody>
          <a:bodyPr wrap="square" lIns="0" rIns="0" tIns="0" bIns="0" anchor="t">
            <a:spAutoFit/>
          </a:bodyPr>
          <a:lstStyle/>
          <a:p>
            <a:pPr algn="l">
              <a:spcAft>
                <a:spcPts val="600"/>
              </a:spcAft>
            </a:pPr>
            <a:r>
              <a:rPr sz="1716" b="1" i="0">
                <a:solidFill>
                  <a:srgbClr val="A8BCCE"/>
                </a:solidFill>
                <a:latin typeface="Calibri"/>
              </a:rPr>
              <a:t>IBM Technology</a:t>
            </a:r>
          </a:p>
        </p:txBody>
      </p:sp>
      <p:sp>
        <p:nvSpPr>
          <p:cNvPr id="7" name="TextBox 6"/>
          <p:cNvSpPr txBox="1"/>
          <p:nvPr/>
        </p:nvSpPr>
        <p:spPr>
          <a:xfrm>
            <a:off x="1005840" y="2779776"/>
            <a:ext cx="10180015" cy="731520"/>
          </a:xfrm>
          <a:prstGeom prst="rect">
            <a:avLst/>
          </a:prstGeom>
          <a:noFill/>
        </p:spPr>
        <p:txBody>
          <a:bodyPr wrap="square" lIns="0" rIns="0" tIns="0" bIns="0" anchor="t">
            <a:spAutoFit/>
          </a:bodyPr>
          <a:lstStyle/>
          <a:p>
            <a:pPr algn="l">
              <a:lnSpc>
                <a:spcPct val="105000"/>
              </a:lnSpc>
              <a:spcAft>
                <a:spcPts val="600"/>
              </a:spcAft>
            </a:pPr>
            <a:r>
              <a:rPr sz="2455" b="1" i="0">
                <a:solidFill>
                  <a:srgbClr val="FFFFFF"/>
                </a:solidFill>
                <a:latin typeface="Cambria"/>
              </a:rPr>
              <a:t>AI, Machine Learning, Deep Learning and Generative AI Explained</a:t>
            </a:r>
          </a:p>
        </p:txBody>
      </p:sp>
      <p:sp>
        <p:nvSpPr>
          <p:cNvPr id="8" name="TextBox 7"/>
          <p:cNvSpPr txBox="1"/>
          <p:nvPr/>
        </p:nvSpPr>
        <p:spPr>
          <a:xfrm>
            <a:off x="1005840" y="3602736"/>
            <a:ext cx="10180015" cy="292608"/>
          </a:xfrm>
          <a:prstGeom prst="rect">
            <a:avLst/>
          </a:prstGeom>
          <a:noFill/>
        </p:spPr>
        <p:txBody>
          <a:bodyPr wrap="square" lIns="0" rIns="0" tIns="0" bIns="0" anchor="t">
            <a:spAutoFit/>
          </a:bodyPr>
          <a:lstStyle/>
          <a:p>
            <a:pPr algn="l">
              <a:spcAft>
                <a:spcPts val="600"/>
              </a:spcAft>
            </a:pPr>
            <a:r>
              <a:rPr sz="1584" b="0" i="0">
                <a:solidFill>
                  <a:srgbClr val="8EB4CB"/>
                </a:solidFill>
                <a:latin typeface="Courier New"/>
              </a:rPr>
              <a:t>https://www.youtube.com/watch?v=qYNweeDHiyU</a:t>
            </a:r>
          </a:p>
        </p:txBody>
      </p:sp>
      <p:sp>
        <p:nvSpPr>
          <p:cNvPr id="9" name="TextBox 8"/>
          <p:cNvSpPr txBox="1"/>
          <p:nvPr/>
        </p:nvSpPr>
        <p:spPr>
          <a:xfrm>
            <a:off x="1005840" y="3904487"/>
            <a:ext cx="10180015" cy="27432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Runtime: under 10 minutes</a:t>
            </a:r>
          </a:p>
        </p:txBody>
      </p:sp>
      <p:sp>
        <p:nvSpPr>
          <p:cNvPr id="10" name="Rounded Rectangle 9"/>
          <p:cNvSpPr/>
          <p:nvPr/>
        </p:nvSpPr>
        <p:spPr>
          <a:xfrm>
            <a:off x="685800" y="4517136"/>
            <a:ext cx="14173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WATCH FOR</a:t>
            </a:r>
          </a:p>
        </p:txBody>
      </p:sp>
      <p:sp>
        <p:nvSpPr>
          <p:cNvPr id="11" name="TextBox 10"/>
          <p:cNvSpPr txBox="1"/>
          <p:nvPr/>
        </p:nvSpPr>
        <p:spPr>
          <a:xfrm>
            <a:off x="2286000" y="4544568"/>
            <a:ext cx="9082735" cy="1188720"/>
          </a:xfrm>
          <a:prstGeom prst="rect">
            <a:avLst/>
          </a:prstGeom>
          <a:noFill/>
        </p:spPr>
        <p:txBody>
          <a:bodyPr wrap="square" lIns="0" rIns="0" tIns="0" bIns="0" anchor="t">
            <a:spAutoFit/>
          </a:bodyPr>
          <a:lstStyle/>
          <a:p>
            <a:pPr algn="l">
              <a:lnSpc>
                <a:spcPct val="122000"/>
              </a:lnSpc>
              <a:spcAft>
                <a:spcPts val="600"/>
              </a:spcAft>
            </a:pPr>
            <a:r>
              <a:rPr sz="1923" b="0" i="0">
                <a:solidFill>
                  <a:srgbClr val="1C3144"/>
                </a:solidFill>
                <a:latin typeface="Calibri"/>
              </a:rPr>
              <a:t>Watch for where he draws the boundaries between the four terms, and whether they match the nested diagram we drew today. If they differ, raise it next week — the field genuinely does not fully agree on this.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10</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Revision material</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Everything from here on is for you to study from. Summary, self-test with answers, glossary and a one-page reference.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Artificial intelligence is a goal; machine learning is one way of reaching it; data science is the craft of getting a trustworthy answer out of data at all.</a:t>
            </a:r>
          </a:p>
        </p:txBody>
      </p:sp>
      <p:sp>
        <p:nvSpPr>
          <p:cNvPr id="6" name="Oval 5"/>
          <p:cNvSpPr/>
          <p:nvPr/>
        </p:nvSpPr>
        <p:spPr>
          <a:xfrm>
            <a:off x="685800" y="268891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63404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In traditional programming you write the rule. In machine learning you supply examples and the computer infers the rule — and you then have to decide whether to trust it.</a:t>
            </a:r>
          </a:p>
        </p:txBody>
      </p:sp>
      <p:sp>
        <p:nvSpPr>
          <p:cNvPr id="8" name="Oval 7"/>
          <p:cNvSpPr/>
          <p:nvPr/>
        </p:nvSpPr>
        <p:spPr>
          <a:xfrm>
            <a:off x="685800" y="34118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35699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Every dataset has the same shape: one row per example, feature columns known beforehand, one target column you want to predict.</a:t>
            </a:r>
          </a:p>
        </p:txBody>
      </p:sp>
      <p:sp>
        <p:nvSpPr>
          <p:cNvPr id="10" name="Oval 9"/>
          <p:cNvSpPr/>
          <p:nvPr/>
        </p:nvSpPr>
        <p:spPr>
          <a:xfrm>
            <a:off x="685800" y="413481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7994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Regression predicts a number with a unit. Classification predicts which of a small set of categories a case belongs to. The same data can pose either question.</a:t>
            </a:r>
          </a:p>
        </p:txBody>
      </p:sp>
      <p:sp>
        <p:nvSpPr>
          <p:cNvPr id="12" name="Oval 11"/>
          <p:cNvSpPr/>
          <p:nvPr/>
        </p:nvSpPr>
        <p:spPr>
          <a:xfrm>
            <a:off x="685800" y="48577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802896"/>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model learns association. It does not learn cause, and a good fit is no evidence of a mechanism.</a:t>
            </a:r>
          </a:p>
        </p:txBody>
      </p:sp>
      <p:sp>
        <p:nvSpPr>
          <p:cNvPr id="14" name="Oval 13"/>
          <p:cNvSpPr/>
          <p:nvPr/>
        </p:nvSpPr>
        <p:spPr>
          <a:xfrm>
            <a:off x="685800" y="529238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37523"/>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Four limits never go away: no data, no signal, physics is simply better, and the future stopped resembling the past.</a:t>
            </a:r>
          </a:p>
        </p:txBody>
      </p:sp>
      <p:sp>
        <p:nvSpPr>
          <p:cNvPr id="16" name="Oval 15"/>
          <p:cNvSpPr/>
          <p:nvPr/>
        </p:nvSpPr>
        <p:spPr>
          <a:xfrm>
            <a:off x="685800" y="572701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672150"/>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method will always give you an answer. It will never tell you the question was unanswerable — that judgement is the engineer's job, and it is what this course is really training.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try these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colleague says 'we should use AI for this'. What three questions would you ask before agreeing?</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have a table of 500 past pump repairs. Which columns are features and which is the target — and what tells you?</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problem from your discipline that is regression, and one that is classification.</a:t>
            </a:r>
          </a:p>
        </p:txBody>
      </p:sp>
      <p:sp>
        <p:nvSpPr>
          <p:cNvPr id="10" name="Oval 9"/>
          <p:cNvSpPr/>
          <p:nvPr/>
        </p:nvSpPr>
        <p:spPr>
          <a:xfrm>
            <a:off x="685800" y="391935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88278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is a very good fit on data the model has already seen NOT evidence that the model is any good?</a:t>
            </a:r>
          </a:p>
        </p:txBody>
      </p:sp>
      <p:sp>
        <p:nvSpPr>
          <p:cNvPr id="12" name="Oval 11"/>
          <p:cNvSpPr/>
          <p:nvPr/>
        </p:nvSpPr>
        <p:spPr>
          <a:xfrm>
            <a:off x="685800" y="4457999"/>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421423"/>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model predicts shaft torque to within a few N·m. Name one thing you would still need to know before acting on it.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 Do not look until you have written something for each.</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Three questions before agreeing to 'use AI'?</a:t>
            </a:r>
          </a:p>
        </p:txBody>
      </p:sp>
      <p:sp>
        <p:nvSpPr>
          <p:cNvPr id="6" name="TextBox 5"/>
          <p:cNvSpPr txBox="1"/>
          <p:nvPr/>
        </p:nvSpPr>
        <p:spPr>
          <a:xfrm>
            <a:off x="1216152"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What exactly are we predicting? What data exists, who measured it, and is it kept? And would a rule or an equation we already have do this better? If any of those has no answer, stop.</a:t>
            </a:r>
          </a:p>
        </p:txBody>
      </p:sp>
      <p:sp>
        <p:nvSpPr>
          <p:cNvPr id="7" name="Oval 6"/>
          <p:cNvSpPr/>
          <p:nvPr/>
        </p:nvSpPr>
        <p:spPr>
          <a:xfrm>
            <a:off x="685800"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Features and target in a repair table?</a:t>
            </a:r>
          </a:p>
        </p:txBody>
      </p:sp>
      <p:sp>
        <p:nvSpPr>
          <p:cNvPr id="9" name="TextBox 8"/>
          <p:cNvSpPr txBox="1"/>
          <p:nvPr/>
        </p:nvSpPr>
        <p:spPr>
          <a:xfrm>
            <a:off x="1216152"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The target is whatever you want to predict — say time to next failure. Features are everything known BEFORE that: operating hours, load, temperature. The test is timing: anything only known afterwards cannot be a feature.</a:t>
            </a:r>
          </a:p>
        </p:txBody>
      </p:sp>
      <p:sp>
        <p:nvSpPr>
          <p:cNvPr id="10" name="Oval 9"/>
          <p:cNvSpPr/>
          <p:nvPr/>
        </p:nvSpPr>
        <p:spPr>
          <a:xfrm>
            <a:off x="685800" y="5068369"/>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5031793"/>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One of each from your discipline?</a:t>
            </a:r>
          </a:p>
        </p:txBody>
      </p:sp>
      <p:sp>
        <p:nvSpPr>
          <p:cNvPr id="12" name="TextBox 11"/>
          <p:cNvSpPr txBox="1"/>
          <p:nvPr/>
        </p:nvSpPr>
        <p:spPr>
          <a:xfrm>
            <a:off x="1216152" y="5324401"/>
            <a:ext cx="4614519" cy="955377"/>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Regression: any quantity with a unit — shaft torque in N·m. Classification: failure or no failure; or fault type: bearing, winding, imbalance.</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Why is a good fit on seen data not evidence?</a:t>
            </a:r>
          </a:p>
        </p:txBody>
      </p:sp>
      <p:sp>
        <p:nvSpPr>
          <p:cNvPr id="15" name="TextBox 14"/>
          <p:cNvSpPr txBox="1"/>
          <p:nvPr/>
        </p:nvSpPr>
        <p:spPr>
          <a:xfrm>
            <a:off x="6854799"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Because the model could simply have memorised those cases. The only honest test is performance on examples it has never seen — exactly what you did with case 13. This is the whole subject of Week 10.</a:t>
            </a:r>
          </a:p>
        </p:txBody>
      </p:sp>
      <p:sp>
        <p:nvSpPr>
          <p:cNvPr id="16" name="Oval 15"/>
          <p:cNvSpPr/>
          <p:nvPr/>
        </p:nvSpPr>
        <p:spPr>
          <a:xfrm>
            <a:off x="6324447"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What else before acting?</a:t>
            </a:r>
          </a:p>
        </p:txBody>
      </p:sp>
      <p:sp>
        <p:nvSpPr>
          <p:cNvPr id="18" name="TextBox 17"/>
          <p:cNvSpPr txBox="1"/>
          <p:nvPr/>
        </p:nvSpPr>
        <p:spPr>
          <a:xfrm>
            <a:off x="6854799"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How large the error is in engineering terms and whether that is tolerable; what it costs when the model is wrong; and whether today's conditions still resemble the data it learned from.</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a:t>
            </a:r>
          </a:p>
        </p:txBody>
      </p:sp>
      <p:sp>
        <p:nvSpPr>
          <p:cNvPr id="4" name="TextBox 3"/>
          <p:cNvSpPr txBox="1"/>
          <p:nvPr/>
        </p:nvSpPr>
        <p:spPr>
          <a:xfrm>
            <a:off x="685800"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Artificial intelligence</a:t>
            </a:r>
          </a:p>
        </p:txBody>
      </p:sp>
      <p:sp>
        <p:nvSpPr>
          <p:cNvPr id="5" name="TextBox 4"/>
          <p:cNvSpPr txBox="1"/>
          <p:nvPr/>
        </p:nvSpPr>
        <p:spPr>
          <a:xfrm>
            <a:off x="685800" y="2095439"/>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Any machine doing something we would call intelligent. A goal that many techniques aim at.</a:t>
            </a:r>
          </a:p>
        </p:txBody>
      </p:sp>
      <p:sp>
        <p:nvSpPr>
          <p:cNvPr id="6" name="TextBox 5"/>
          <p:cNvSpPr txBox="1"/>
          <p:nvPr/>
        </p:nvSpPr>
        <p:spPr>
          <a:xfrm>
            <a:off x="685800" y="252374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Machine learning</a:t>
            </a:r>
          </a:p>
        </p:txBody>
      </p:sp>
      <p:sp>
        <p:nvSpPr>
          <p:cNvPr id="7" name="TextBox 6"/>
          <p:cNvSpPr txBox="1"/>
          <p:nvPr/>
        </p:nvSpPr>
        <p:spPr>
          <a:xfrm>
            <a:off x="685800" y="270808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Inferring a rule from examples instead of writing it yourself.</a:t>
            </a:r>
          </a:p>
        </p:txBody>
      </p:sp>
      <p:sp>
        <p:nvSpPr>
          <p:cNvPr id="8" name="TextBox 7"/>
          <p:cNvSpPr txBox="1"/>
          <p:nvPr/>
        </p:nvSpPr>
        <p:spPr>
          <a:xfrm>
            <a:off x="685800" y="295808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Deep learning</a:t>
            </a:r>
          </a:p>
        </p:txBody>
      </p:sp>
      <p:sp>
        <p:nvSpPr>
          <p:cNvPr id="9" name="TextBox 8"/>
          <p:cNvSpPr txBox="1"/>
          <p:nvPr/>
        </p:nvSpPr>
        <p:spPr>
          <a:xfrm>
            <a:off x="685800" y="314242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Machine learning using large neural networks. Semester 2.</a:t>
            </a:r>
          </a:p>
        </p:txBody>
      </p:sp>
      <p:sp>
        <p:nvSpPr>
          <p:cNvPr id="10" name="TextBox 9"/>
          <p:cNvSpPr txBox="1"/>
          <p:nvPr/>
        </p:nvSpPr>
        <p:spPr>
          <a:xfrm>
            <a:off x="685800" y="339242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Data science</a:t>
            </a:r>
          </a:p>
        </p:txBody>
      </p:sp>
      <p:sp>
        <p:nvSpPr>
          <p:cNvPr id="11" name="TextBox 10"/>
          <p:cNvSpPr txBox="1"/>
          <p:nvPr/>
        </p:nvSpPr>
        <p:spPr>
          <a:xfrm>
            <a:off x="685800" y="3576767"/>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craft of getting a trustworthy answer out of data — finding, cleaning, questioning, analysing, presenting.</a:t>
            </a:r>
          </a:p>
        </p:txBody>
      </p:sp>
      <p:sp>
        <p:nvSpPr>
          <p:cNvPr id="12" name="TextBox 11"/>
          <p:cNvSpPr txBox="1"/>
          <p:nvPr/>
        </p:nvSpPr>
        <p:spPr>
          <a:xfrm>
            <a:off x="685800" y="4005072"/>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Dataset</a:t>
            </a:r>
          </a:p>
        </p:txBody>
      </p:sp>
      <p:sp>
        <p:nvSpPr>
          <p:cNvPr id="13" name="TextBox 12"/>
          <p:cNvSpPr txBox="1"/>
          <p:nvPr/>
        </p:nvSpPr>
        <p:spPr>
          <a:xfrm>
            <a:off x="685800" y="4189415"/>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table of past cases you can learn from.</a:t>
            </a:r>
          </a:p>
        </p:txBody>
      </p:sp>
      <p:sp>
        <p:nvSpPr>
          <p:cNvPr id="14" name="TextBox 13"/>
          <p:cNvSpPr txBox="1"/>
          <p:nvPr/>
        </p:nvSpPr>
        <p:spPr>
          <a:xfrm>
            <a:off x="685800" y="4439412"/>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Example (or row, or observation)</a:t>
            </a:r>
          </a:p>
        </p:txBody>
      </p:sp>
      <p:sp>
        <p:nvSpPr>
          <p:cNvPr id="15" name="TextBox 14"/>
          <p:cNvSpPr txBox="1"/>
          <p:nvPr/>
        </p:nvSpPr>
        <p:spPr>
          <a:xfrm>
            <a:off x="685800" y="4623755"/>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case: all its features plus its known outcome.</a:t>
            </a:r>
          </a:p>
        </p:txBody>
      </p:sp>
      <p:sp>
        <p:nvSpPr>
          <p:cNvPr id="16" name="TextBox 15"/>
          <p:cNvSpPr txBox="1"/>
          <p:nvPr/>
        </p:nvSpPr>
        <p:spPr>
          <a:xfrm>
            <a:off x="685800" y="4873751"/>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Feature</a:t>
            </a:r>
          </a:p>
        </p:txBody>
      </p:sp>
      <p:sp>
        <p:nvSpPr>
          <p:cNvPr id="17" name="TextBox 16"/>
          <p:cNvSpPr txBox="1"/>
          <p:nvPr/>
        </p:nvSpPr>
        <p:spPr>
          <a:xfrm>
            <a:off x="685800" y="5058095"/>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column known before the outcome. An input to the prediction.</a:t>
            </a:r>
          </a:p>
        </p:txBody>
      </p:sp>
      <p:sp>
        <p:nvSpPr>
          <p:cNvPr id="18" name="TextBox 17"/>
          <p:cNvSpPr txBox="1"/>
          <p:nvPr/>
        </p:nvSpPr>
        <p:spPr>
          <a:xfrm>
            <a:off x="685800" y="5308091"/>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Target (or label)</a:t>
            </a:r>
          </a:p>
        </p:txBody>
      </p:sp>
      <p:sp>
        <p:nvSpPr>
          <p:cNvPr id="19" name="TextBox 18"/>
          <p:cNvSpPr txBox="1"/>
          <p:nvPr/>
        </p:nvSpPr>
        <p:spPr>
          <a:xfrm>
            <a:off x="685800" y="5492435"/>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column you are trying to predict.</a:t>
            </a:r>
          </a:p>
        </p:txBody>
      </p:sp>
      <p:sp>
        <p:nvSpPr>
          <p:cNvPr id="20" name="TextBox 19"/>
          <p:cNvSpPr txBox="1"/>
          <p:nvPr/>
        </p:nvSpPr>
        <p:spPr>
          <a:xfrm>
            <a:off x="685800" y="5742431"/>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Regression</a:t>
            </a:r>
          </a:p>
        </p:txBody>
      </p:sp>
      <p:sp>
        <p:nvSpPr>
          <p:cNvPr id="21" name="TextBox 20"/>
          <p:cNvSpPr txBox="1"/>
          <p:nvPr/>
        </p:nvSpPr>
        <p:spPr>
          <a:xfrm>
            <a:off x="685800" y="5926775"/>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Predicting a number on a continuous scale.</a:t>
            </a:r>
          </a:p>
        </p:txBody>
      </p:sp>
      <p:sp>
        <p:nvSpPr>
          <p:cNvPr id="22" name="TextBox 21"/>
          <p:cNvSpPr txBox="1"/>
          <p:nvPr/>
        </p:nvSpPr>
        <p:spPr>
          <a:xfrm>
            <a:off x="6324447"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Classification</a:t>
            </a:r>
          </a:p>
        </p:txBody>
      </p:sp>
      <p:sp>
        <p:nvSpPr>
          <p:cNvPr id="23" name="TextBox 22"/>
          <p:cNvSpPr txBox="1"/>
          <p:nvPr/>
        </p:nvSpPr>
        <p:spPr>
          <a:xfrm>
            <a:off x="6324447"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Predicting which of a small set of categories a case belongs to.</a:t>
            </a:r>
          </a:p>
        </p:txBody>
      </p:sp>
      <p:sp>
        <p:nvSpPr>
          <p:cNvPr id="24" name="TextBox 23"/>
          <p:cNvSpPr txBox="1"/>
          <p:nvPr/>
        </p:nvSpPr>
        <p:spPr>
          <a:xfrm>
            <a:off x="6324447"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Binary classification</a:t>
            </a:r>
          </a:p>
        </p:txBody>
      </p:sp>
      <p:sp>
        <p:nvSpPr>
          <p:cNvPr id="25" name="TextBox 24"/>
          <p:cNvSpPr txBox="1"/>
          <p:nvPr/>
        </p:nvSpPr>
        <p:spPr>
          <a:xfrm>
            <a:off x="6324447"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Classification with exactly two categories, such as pass or fail.</a:t>
            </a:r>
          </a:p>
        </p:txBody>
      </p:sp>
      <p:sp>
        <p:nvSpPr>
          <p:cNvPr id="26" name="TextBox 25"/>
          <p:cNvSpPr txBox="1"/>
          <p:nvPr/>
        </p:nvSpPr>
        <p:spPr>
          <a:xfrm>
            <a:off x="6324447"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Multi-class classification</a:t>
            </a:r>
          </a:p>
        </p:txBody>
      </p:sp>
      <p:sp>
        <p:nvSpPr>
          <p:cNvPr id="27" name="TextBox 26"/>
          <p:cNvSpPr txBox="1"/>
          <p:nvPr/>
        </p:nvSpPr>
        <p:spPr>
          <a:xfrm>
            <a:off x="6324447"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Classification with three or more categories.</a:t>
            </a:r>
          </a:p>
        </p:txBody>
      </p:sp>
      <p:sp>
        <p:nvSpPr>
          <p:cNvPr id="28" name="TextBox 27"/>
          <p:cNvSpPr txBox="1"/>
          <p:nvPr/>
        </p:nvSpPr>
        <p:spPr>
          <a:xfrm>
            <a:off x="6324447"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Prediction</a:t>
            </a:r>
          </a:p>
        </p:txBody>
      </p:sp>
      <p:sp>
        <p:nvSpPr>
          <p:cNvPr id="29" name="TextBox 28"/>
          <p:cNvSpPr txBox="1"/>
          <p:nvPr/>
        </p:nvSpPr>
        <p:spPr>
          <a:xfrm>
            <a:off x="6324447"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model's answer for a case.</a:t>
            </a:r>
          </a:p>
        </p:txBody>
      </p:sp>
      <p:sp>
        <p:nvSpPr>
          <p:cNvPr id="30" name="TextBox 29"/>
          <p:cNvSpPr txBox="1"/>
          <p:nvPr/>
        </p:nvSpPr>
        <p:spPr>
          <a:xfrm>
            <a:off x="6324447"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Error</a:t>
            </a:r>
          </a:p>
        </p:txBody>
      </p:sp>
      <p:sp>
        <p:nvSpPr>
          <p:cNvPr id="31" name="TextBox 30"/>
          <p:cNvSpPr txBox="1"/>
          <p:nvPr/>
        </p:nvSpPr>
        <p:spPr>
          <a:xfrm>
            <a:off x="6324447" y="3832799"/>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distance between the prediction and the truth. Measuring it honestly is most of this course.</a:t>
            </a:r>
          </a:p>
        </p:txBody>
      </p:sp>
      <p:sp>
        <p:nvSpPr>
          <p:cNvPr id="32" name="TextBox 31"/>
          <p:cNvSpPr txBox="1"/>
          <p:nvPr/>
        </p:nvSpPr>
        <p:spPr>
          <a:xfrm>
            <a:off x="6324447" y="426110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Unseen data</a:t>
            </a:r>
          </a:p>
        </p:txBody>
      </p:sp>
      <p:sp>
        <p:nvSpPr>
          <p:cNvPr id="33" name="TextBox 32"/>
          <p:cNvSpPr txBox="1"/>
          <p:nvPr/>
        </p:nvSpPr>
        <p:spPr>
          <a:xfrm>
            <a:off x="6324447" y="444544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Cases the model was not shown while it was learning. The only fair test.</a:t>
            </a:r>
          </a:p>
        </p:txBody>
      </p:sp>
      <p:sp>
        <p:nvSpPr>
          <p:cNvPr id="34" name="TextBox 33"/>
          <p:cNvSpPr txBox="1"/>
          <p:nvPr/>
        </p:nvSpPr>
        <p:spPr>
          <a:xfrm>
            <a:off x="6324447" y="469544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Data leakage</a:t>
            </a:r>
          </a:p>
        </p:txBody>
      </p:sp>
      <p:sp>
        <p:nvSpPr>
          <p:cNvPr id="35" name="TextBox 34"/>
          <p:cNvSpPr txBox="1"/>
          <p:nvPr/>
        </p:nvSpPr>
        <p:spPr>
          <a:xfrm>
            <a:off x="6324447" y="4879787"/>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Accidentally giving the model information it would not have in real use — usually something only known after the outcome. Week 10.</a:t>
            </a:r>
          </a:p>
        </p:txBody>
      </p:sp>
      <p:sp>
        <p:nvSpPr>
          <p:cNvPr id="36" name="TextBox 35"/>
          <p:cNvSpPr txBox="1"/>
          <p:nvPr/>
        </p:nvSpPr>
        <p:spPr>
          <a:xfrm>
            <a:off x="6324447" y="5308092"/>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Generalisation</a:t>
            </a:r>
          </a:p>
        </p:txBody>
      </p:sp>
      <p:sp>
        <p:nvSpPr>
          <p:cNvPr id="37" name="TextBox 36"/>
          <p:cNvSpPr txBox="1"/>
          <p:nvPr/>
        </p:nvSpPr>
        <p:spPr>
          <a:xfrm>
            <a:off x="6324447" y="5492435"/>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Whether a rule learned from past cases still works on new ones.</a:t>
            </a:r>
          </a:p>
        </p:txBody>
      </p:sp>
      <p:sp>
        <p:nvSpPr>
          <p:cNvPr id="38" name="TextBox 37"/>
          <p:cNvSpPr txBox="1"/>
          <p:nvPr/>
        </p:nvSpPr>
        <p:spPr>
          <a:xfrm>
            <a:off x="6324447" y="5742431"/>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Association vs cause</a:t>
            </a:r>
          </a:p>
        </p:txBody>
      </p:sp>
      <p:sp>
        <p:nvSpPr>
          <p:cNvPr id="39" name="TextBox 38"/>
          <p:cNvSpPr txBox="1"/>
          <p:nvPr/>
        </p:nvSpPr>
        <p:spPr>
          <a:xfrm>
            <a:off x="6324447" y="5926775"/>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model learns which columns move together. It knows nothing about mechanism.</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Eight questions to ask about any data problem</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1 · What exactly am I predicting?</a:t>
            </a:r>
          </a:p>
        </p:txBody>
      </p:sp>
      <p:sp>
        <p:nvSpPr>
          <p:cNvPr id="5" name="TextBox 4"/>
          <p:cNvSpPr txBox="1"/>
          <p:nvPr/>
        </p:nvSpPr>
        <p:spPr>
          <a:xfrm>
            <a:off x="685800"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Name the target column and its unit. If you cannot, you do not have a problem yet.</a:t>
            </a:r>
          </a:p>
        </p:txBody>
      </p:sp>
      <p:sp>
        <p:nvSpPr>
          <p:cNvPr id="6" name="TextBox 5"/>
          <p:cNvSpPr txBox="1"/>
          <p:nvPr/>
        </p:nvSpPr>
        <p:spPr>
          <a:xfrm>
            <a:off x="685800"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2 · Is it a number or a category?</a:t>
            </a:r>
          </a:p>
        </p:txBody>
      </p:sp>
      <p:sp>
        <p:nvSpPr>
          <p:cNvPr id="7" name="TextBox 6"/>
          <p:cNvSpPr txBox="1"/>
          <p:nvPr/>
        </p:nvSpPr>
        <p:spPr>
          <a:xfrm>
            <a:off x="685800"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What would the answer look like written down? A quantity with a unit means regression; a word means classification.</a:t>
            </a:r>
          </a:p>
        </p:txBody>
      </p:sp>
      <p:sp>
        <p:nvSpPr>
          <p:cNvPr id="8" name="TextBox 7"/>
          <p:cNvSpPr txBox="1"/>
          <p:nvPr/>
        </p:nvSpPr>
        <p:spPr>
          <a:xfrm>
            <a:off x="685800"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3 · What do I know beforehand?</a:t>
            </a:r>
          </a:p>
        </p:txBody>
      </p:sp>
      <p:sp>
        <p:nvSpPr>
          <p:cNvPr id="9" name="TextBox 8"/>
          <p:cNvSpPr txBox="1"/>
          <p:nvPr/>
        </p:nvSpPr>
        <p:spPr>
          <a:xfrm>
            <a:off x="685800"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List the features. Check every one: would I really have this before the outcome?</a:t>
            </a:r>
          </a:p>
        </p:txBody>
      </p:sp>
      <p:sp>
        <p:nvSpPr>
          <p:cNvPr id="10" name="TextBox 9"/>
          <p:cNvSpPr txBox="1"/>
          <p:nvPr/>
        </p:nvSpPr>
        <p:spPr>
          <a:xfrm>
            <a:off x="685800"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4 · Where does the data come from?</a:t>
            </a:r>
          </a:p>
        </p:txBody>
      </p:sp>
      <p:sp>
        <p:nvSpPr>
          <p:cNvPr id="11" name="TextBox 10"/>
          <p:cNvSpPr txBox="1"/>
          <p:nvPr/>
        </p:nvSpPr>
        <p:spPr>
          <a:xfrm>
            <a:off x="685800"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Who measured it, how often, over what period, and is it actually kept anywhere?</a:t>
            </a:r>
          </a:p>
        </p:txBody>
      </p:sp>
      <p:sp>
        <p:nvSpPr>
          <p:cNvPr id="12" name="TextBox 11"/>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5 · Would a rule or an equation do this better?</a:t>
            </a:r>
          </a:p>
        </p:txBody>
      </p:sp>
      <p:sp>
        <p:nvSpPr>
          <p:cNvPr id="13" name="TextBox 12"/>
          <p:cNvSpPr txBox="1"/>
          <p:nvPr/>
        </p:nvSpPr>
        <p:spPr>
          <a:xfrm>
            <a:off x="6347307"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If a code of practice or a validated formula answers it, use that instead.</a:t>
            </a:r>
          </a:p>
        </p:txBody>
      </p:sp>
      <p:sp>
        <p:nvSpPr>
          <p:cNvPr id="14" name="TextBox 13"/>
          <p:cNvSpPr txBox="1"/>
          <p:nvPr/>
        </p:nvSpPr>
        <p:spPr>
          <a:xfrm>
            <a:off x="6347307"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6 · How will I know if I am wrong?</a:t>
            </a:r>
          </a:p>
        </p:txBody>
      </p:sp>
      <p:sp>
        <p:nvSpPr>
          <p:cNvPr id="15" name="TextBox 14"/>
          <p:cNvSpPr txBox="1"/>
          <p:nvPr/>
        </p:nvSpPr>
        <p:spPr>
          <a:xfrm>
            <a:off x="6347307"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You need cases the model has never seen. Decide now how you will hold some back.</a:t>
            </a:r>
          </a:p>
        </p:txBody>
      </p:sp>
      <p:sp>
        <p:nvSpPr>
          <p:cNvPr id="16" name="TextBox 15"/>
          <p:cNvSpPr txBox="1"/>
          <p:nvPr/>
        </p:nvSpPr>
        <p:spPr>
          <a:xfrm>
            <a:off x="6347307"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7 · What does being wrong cost?</a:t>
            </a:r>
          </a:p>
        </p:txBody>
      </p:sp>
      <p:sp>
        <p:nvSpPr>
          <p:cNvPr id="17" name="TextBox 16"/>
          <p:cNvSpPr txBox="1"/>
          <p:nvPr/>
        </p:nvSpPr>
        <p:spPr>
          <a:xfrm>
            <a:off x="6347307"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 false alarm and a missed failure are not equally bad. That asymmetry decides which model you pick.</a:t>
            </a:r>
          </a:p>
        </p:txBody>
      </p:sp>
      <p:sp>
        <p:nvSpPr>
          <p:cNvPr id="18" name="TextBox 17"/>
          <p:cNvSpPr txBox="1"/>
          <p:nvPr/>
        </p:nvSpPr>
        <p:spPr>
          <a:xfrm>
            <a:off x="6347307"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8 · Do today's conditions still resemble the data?</a:t>
            </a:r>
          </a:p>
        </p:txBody>
      </p:sp>
      <p:sp>
        <p:nvSpPr>
          <p:cNvPr id="19" name="TextBox 18"/>
          <p:cNvSpPr txBox="1"/>
          <p:nvPr/>
        </p:nvSpPr>
        <p:spPr>
          <a:xfrm>
            <a:off x="6347307"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If the process, material or plant has changed, the model may be quietly obsolete.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1</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Features and target read off a table, regression told from classification, and one of the four limits applied to a case.</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729027"/>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Scan the code. First box is your registration number, off your card.</a:t>
            </a:r>
          </a:p>
        </p:txBody>
      </p:sp>
      <p:sp>
        <p:nvSpPr>
          <p:cNvPr id="8" name="Oval 7"/>
          <p:cNvSpPr/>
          <p:nvPr/>
        </p:nvSpPr>
        <p:spPr>
          <a:xfrm>
            <a:off x="704088" y="481858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45432"/>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attempt, from the Google account you are signed in to.</a:t>
            </a:r>
          </a:p>
        </p:txBody>
      </p:sp>
      <p:sp>
        <p:nvSpPr>
          <p:cNvPr id="10" name="Oval 9"/>
          <p:cNvSpPr/>
          <p:nvPr/>
        </p:nvSpPr>
        <p:spPr>
          <a:xfrm>
            <a:off x="704088" y="526996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96814"/>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Open for 48 hours if the network fails, then it closes itself.</a:t>
            </a:r>
          </a:p>
        </p:txBody>
      </p:sp>
      <p:sp>
        <p:nvSpPr>
          <p:cNvPr id="12" name="Oval 11"/>
          <p:cNvSpPr/>
          <p:nvPr/>
        </p:nvSpPr>
        <p:spPr>
          <a:xfrm>
            <a:off x="704088" y="572134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648196"/>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per cent each. Tap View score and read the feedback.</a:t>
            </a:r>
          </a:p>
        </p:txBody>
      </p:sp>
      <p:sp>
        <p:nvSpPr>
          <p:cNvPr id="14" name="Oval 13"/>
          <p:cNvSpPr/>
          <p:nvPr/>
        </p:nvSpPr>
        <p:spPr>
          <a:xfrm>
            <a:off x="704088" y="617272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6099577"/>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Twelve this semester, best ten count. No resits.</a:t>
            </a:r>
          </a:p>
        </p:txBody>
      </p:sp>
      <p:sp>
        <p:nvSpPr>
          <p:cNvPr id="16" name="Rectangle 15"/>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iz_CML3111_W01.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You have already done</a:t>
            </a:r>
          </a:p>
          <a:p>
            <a:pPr algn="l">
              <a:lnSpc>
                <a:spcPct val="110000"/>
              </a:lnSpc>
              <a:spcAft>
                <a:spcPts val="600"/>
              </a:spcAft>
            </a:pPr>
            <a:r>
              <a:rPr sz="3400" b="1" i="0">
                <a:solidFill>
                  <a:srgbClr val="FFFFFF"/>
                </a:solidFill>
                <a:latin typeface="Cambria"/>
              </a:rPr>
              <a:t>machine learning once.</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answered a real engineering question today with a pencil and twelve rows of data, and you measured your own error. Everything else this semester is making that faster, more reliable, and honest about what it does not know.</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Colab, notebooks and version control — where the work actually happens. Bring a browser; you will install nothing.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