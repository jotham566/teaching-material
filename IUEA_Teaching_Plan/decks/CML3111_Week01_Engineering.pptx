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52.xml" ContentType="application/vnd.openxmlformats-officedocument.presentationml.notesSlide+xml"/>
  <Override PartName="/ppt/notesSlides/notesSlide1005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0052.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2.xml" /></ns0:Relationships>
</file>

<file path=ppt/notesSlides/_rels/notesSlide10053.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3.xml" /></ns0:Relationships>
</file>

<file path=ppt/notesSlides/notesSlide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Begin with a decision engineers make: estimate a quantity or identify a condition from observations. Today introduces the ideas using the embedded tables and illustrations; no CSV download or Python is needed. A prediction is an estimate, not proof that an action is safe.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Introduce the tutor’s applied data work briefly. The formal status is incoming PhD student in Applied Informatics at Osaka Metropolitan University, Japan, for April 2027; enrolment has not started. The examples illustrate different applications, not identical model architectures.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Read the outcomes as questions learners should be able to answer by the end. Start with AI and machine learning in ordinary language; features, targets and task types are introduced later. Learners do not need those terms beforehand.</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the lesson’s sequence: define the ideas, inspect a worked example, then practise identifying a sensible prediction task. Timings are a guide, not a requirement to rush. The activities can be completed individually.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Follow the semester from setup and Python to tables, cleaning, practical tests and models. Weeks 7 and 14 are test weeks. Test-day downloads and Colab submission follow the current test-entry instructions; do not substitute older offline-test guidance.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Connect each course goal to visible evidence: a runnable notebook, a correct summary, a reasoned chart or an evaluated model. Knowing a tool name is not the same as explaining a result. Engineering meaning and units remain part of every calculation.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Introduce how individual work and projects fit together. The next assessment slide supplies the components and weights. Separate weekly tasks from project milestones so students do not confuse one submission with another.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Walk through the displayed assessment components and add their weights to 100%. Explain which work is individual and which is a project. The current cohort waiver policy overrides old weekly counts: CML3112 and CML3113 have A6 and Quiz 6 waived; CML3111 retains them. Waived tasks do not become zeros.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reproducible work as work another person can rerun from the supplied files and instructions. Students should state sources, units and contributions. Asking for help is useful when the learner can show the attempted step and the exact error.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This is a map of later topics, not an instruction to learn them all today. A roadmap puts tools and ideas in order. Distinguish the topics taught this semester from those deferred to Semester 2.</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Follow the highlighted route from Python to data preparation and evaluation. Explain that a roadmap is a curriculum outline. Neural networks and transformers are later topics; no understanding of their internal mathematics is assumed here.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Connect each foundation to its purpose. Arithmetic expresses measurements; statistics summarises variability; vectors and matrices arrange inputs; programming repeats a calculation. The course introduces the required operations before its worked examples.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Read the coverage boundary literally. Topics outside the highlighted route are not hidden prerequisites for weekly work. Explain MLOps only as operating and monitoring deployed models; the full subject is outside this course.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Different roles emphasise different work: analysis explains data, data science investigates questions, ML engineering implements prediction systems, and data engineering supplies reliable data. The course builds introductory skills, not an immediate professional qualification.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Move from job titles to the engineering question shown next. Start with the decision and available observations. Choosing a model before defining the question can produce an impressive score that does not help anyone.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the nested picture: machine learning is an approach within AI; deep learning is a family within machine learning. Data science overlaps these but also includes finding, checking, summarising and explaining data without training a model.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AI is the broad area of systems performing tasks associated with intelligence. A fixed rule can be part of an AI system; AI does not always mean learning. Avoid implying that the system understands a problem as a person does.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 learning algorithm uses examples to adjust a model’s settings. We still choose the question, inputs and evaluation. The computer does not automatically discover a valid engineering law or decide whether its own prediction is safe.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Data science begins before modelling and continues after it. For example, counting missing sensor readings, checking units and explaining a trend are data-science work even if no predictive model is built.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Contrast a hand-specified rule with a rule fitted from examples. Both take inputs and produce an output; what differs is how the mapping is obtained. An established equation can be the better option when its assumptions apply.</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Identify the outcome, the information available beforehand, and the time at which a prediction would be useful. If an input is known only after the outcome, it cannot support that advance prediction. The following paper example illustrates the reasoning with small embedded data.</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Trace the diagrams left to right. In conventional programming, a person supplies the rule. In supervised learning, past inputs and observed outcomes help an algorithm fit a rule. Then that fitted rule predicts outcomes for new inputs. Do not assume students have programmed before.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the decision criteria one by one. Known equations still require valid units and assumptions. Learning from examples requires enough relevant data and evaluation on separate cases. Interpretability is a requirement to examine, not proof that every learned model is unexplainable.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Point to one complete row: it represents one observation. Read its column names and units before using any numbers. Identify candidate inputs available at prediction time, then the outcome to predict. The embedded table is the learning aid here; it is not a file students must locate.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 feature is an input chosen for prediction; the target is the answer being predicted. Not every earlier measurement is useful, and an identifier may be only a label. Association means two quantities vary together; it does not establish that changing one causes the other.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Let students identify the target and exclude the post-outcome repair information. The reason is timing: information unavailable when predicting would leak the answer. A valid fixed formula is an acceptable alternative to ML. The next slide explains these answers.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why the target is the requested outcome, not simply the last column. The repair-after-failure column is excluded because it would not be available beforehand. For electrical examples, Ohm’s law is V = IR; DC electrical power is P = VI. They are different relationships with different assumptions.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Use the twelve embedded observations as known examples. Case 13 is withheld from the pattern-finding step. This is an individual paper exercise to practise prediction reasoning; it is not a requirement to write or train a model yet.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2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Read the table’s headings and units first. Select similar known cases, make an estimate for case 13 and record a reason before the reveal. There is no requirement to form a team in class. The goal is an explained estimate, not guessing the exact measured answer.</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Work through the five visible steps using the actual table. Interpolation estimates between neighbouring observations; it does not guarantee that the outcome lies between theirs. Explain why a second input may matter. Keep a record of the estimate before showing the measured outcome.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Read the star as the withheld observation and compare it with the previously recorded estimate. State the chosen signed-error convention before subtracting, and retain the measurement’s unit. Absolute error measures size without direction. One held-out case is not enough to establish reliable performance.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Map the paper actions to later computing steps without claiming a computer was trained today. Looking at patterns is exploration; choosing columns is feature selection; an algorithm later fits model parameters. Separate evaluation asks whether the fitted rule works on observations it did not learn from.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Pause before introducing task types. No code or download is required for the second half of this introductory lesson.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that the kind of answer determines the task. An estimated amount is a regression target; a choice among categories is classification. Categories can be represented by numeric codes such as 0 and 1, so digits alone do not determine the task.</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line is one possible regression model, not the definition of regression. Curved relationships are also possible. The boundary illustrates classification; it separates predicted categories. The same inputs may support different tasks depending on the target we define.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Ask what the output means, not only how it is written. A quantity such as torque or days is regression; a class such as failure/no failure is classification. A label encoded as 0 or 1 is still a category. Regression can also predict quantities without physical units.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Days until replacement is a numerical quantity. Pass/fail has two classes. Five fault types give multiclass classification. Identify the target meaning before choosing a method; students can answer without knowing a model algorithm.</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binary as two categories and multiclass as more than two. More classes do not automatically make every dataset harder; difficulty also depends on their separation, examples and error costs. A confusion table will later reveal which categories are mixed up.</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3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Introduce four reasons a prediction may not be useful. A model returning an answer is not evidence of data quality, a real predictive relationship or safe operation.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Walk through the four limits on the diagram: inadequate observations, weak or irrelevant inputs, a better known equation, and changes between past and current conditions. Explain that these are questions to investigate rather than universal claims about every plant or dataset.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Treat each engineering situation as an illustrative scenario. Missing historical observations prevent learning that relationship from those observations. A superficially correlated label may fail elsewhere. A validated physical equation can be preferable. Changed equipment or materials can invalidate an old evaluation.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Introduce the Problem Hunt as practice defining a question before choosing a technique. It supports the A1 brief; it does not create another graded upload.</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Work through one candidate: specify the outcome, potential measurements, who records them, the decision helped and the cost of error. Then identify two other candidates. A good answer may conclude that an established rule is better than ML.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Project teamwork is separate from today’s individual exercises. Explain rotating roles and the contribution log as specific records of who produced and explained each part. Individual written defence and reflection follow the current Week 15 brief; do not promise an unannounced live examination.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Review one candidate problem against the visible questions, then explain the A1 submission checklist. Do not require a gallery walk or peer boards. The assignment should be understandable to someone revising alone.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6.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A1 asks for one report covering three candidate problems and a justified choice of one. For each, identify inputs, target where appropriate, a possible data source and a limitation. Use the current form deadline. Account setup is preparation for Week 2, not a second report.</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7.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The video is supplementary. Ask students to compare its definitions of AI, ML and deep learning with the lesson. Preview it before class; availability and suggested excerpt timings may change. Students can use the preceding explanations if the video is unavailable.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8.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how to revise: attempt the self-test before reading its answers, then use the glossary to clarify unfamiliar terms. The reference slides summarise this lesson; they do not introduce additional submission requirements.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49.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Recap the chain: engineering question, suitable observations, candidate inputs and target, method choice, evaluation and limitations. The row-and-column description applies to the supervised tables used here, not every possible dataset. Images, text and unlabelled data can have other structures.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0.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Students should justify each answer. Features depend on what is known at prediction time. A score on training data can reflect memorisation. Before acting on a prediction, examine the error tolerance, operating conditions and consequences of mistakes.</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1.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Use each answer to explain the reason. The target is determined by the question. Candidate features must be available beforehand and then checked for usefulness. Separate evaluation tests generalisation, but also needs relevant cases and protection against leakage.</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Give a timing example for leakage: a repair recorded after failure is unavailable when predicting failure. Generalisation concerns new cases. Association alone does not establish causation; causal conclusions need additional assumptions or study design.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Use the eight questions as a decision checklist. A prediction task needs an outcome, but descriptive data analysis can answer questions without a target. Check availability, evaluation and consequences before committing to a model.</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4.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Explain the difference between estimated completion time and availability: the quiz may take about five minutes, while its response window is 24 hours from lecturer activation. Use the cohort’s current quiz policy and the active link. The course’s quiz category remains 10% even where Quiz 6 is waived.</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55.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Close accurately: today learners practised reasoning from observations, making a prediction and checking error. Later Python lessons fit and evaluate models computationally. Bring a laptop and browser for Week 2; the introductory paper example is not an extra upload.</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0052.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Define the terms in the context of today’s table. A dataset is a collection of data; it need not always be a table. An observation is one case; a target is needed for a supervised labelled example but may be missing for a new case awaiting prediction.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notesSlides/notesSlide10053.xml><?xml version="1.0" encoding="utf-8"?>
<ns0:notes xmlns:ns0="http://schemas.openxmlformats.org/presentationml/2006/main" xmlns:ns1="http://schemas.openxmlformats.org/drawingml/2006/main">
  <ns0:cSld>
    <ns0:spTree>
      <ns0:nvGrpSpPr>
        <ns0:cNvPr id="1" name=""/>
        <ns0:cNvGrpSpPr/>
        <ns0:nvPr/>
      </ns0:nvGrpSpPr>
      <ns0:grpSpPr>
        <ns1:xfrm>
          <ns1:off x="0" y="0"/>
          <ns1:ext cx="0" cy="0"/>
          <ns1:chOff x="0" y="0"/>
          <ns1:chExt cx="0" cy="0"/>
        </ns1:xfrm>
      </ns0:grpSpPr>
      <ns0:sp>
        <ns0:nvSpPr>
          <ns0:cNvPr id="2" name="Slide Image Placeholder 1"/>
          <ns0:cNvSpPr>
            <ns1:spLocks noGrp="1"/>
          </ns0:cNvSpPr>
          <ns0:nvPr>
            <ns0:ph type="sldImg" idx="2"/>
          </ns0:nvPr>
        </ns0:nvSpPr>
        <ns0:spPr/>
      </ns0:sp>
      <ns0:sp>
        <ns0:nvSpPr>
          <ns0:cNvPr id="3" name="Notes Placeholder 2"/>
          <ns0:cNvSpPr>
            <ns1:spLocks noGrp="1"/>
          </ns0:cNvSpPr>
          <ns0:nvPr>
            <ns0:ph type="body" idx="3" sz="quarter"/>
          </ns0:nvPr>
        </ns0:nvSpPr>
        <ns0:spPr/>
        <ns0:txBody>
          <ns1:bodyPr/>
          <ns1:lstStyle/>
          <ns1:p>
            <ns1:r>
              <ns1:t>Differentiate prediction, observed value and error. Binary and multiclass refer to the number of categories, not to how category labels are stored. Unseen cases must also be relevant to intended use; an unrelated held-out set is not automatically a fair evaluation.</ns1:t>
            </ns1:r>
          </ns1:p>
        </ns0:txBody>
      </ns0:sp>
      <ns0:sp>
        <ns0:nvSpPr>
          <ns0:cNvPr id="4" name="Slide Number Placeholder 3"/>
          <ns0:cNvSpPr>
            <ns1:spLocks noGrp="1"/>
          </ns0:cNvSpPr>
          <ns0:nvPr>
            <ns0:ph type="sldNum" idx="5" sz="quarter"/>
          </ns0:nvPr>
        </ns0:nvSpPr>
        <ns0:spPr/>
      </ns0:sp>
    </ns0:spTree>
  </ns0:cSld>
  <ns0:clrMapOvr>
    <ns1:masterClrMapping/>
  </ns0:clrMapOvr>
</ns0: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2.xml" /></ns0:Relationships>
</file>

<file path=ppt/slides/_rels/slide5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3.xml" /></ns0: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Engineering</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Fri 11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Incoming PhD student (April 2027)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sensors, signals, energy systems, fault detection and machine health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COURSE GOALS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course builds from reading data to testing a model. Weekly exercises give you practice at each stage.</a:t>
            </a:r>
          </a:p>
        </p:txBody>
      </p:sp>
    </p:spTree>
  </p:cSld>
  <p:clrMapOvr>
    <a:masterClrMapping/>
  </p:clrMapOvr>
</p:sld>
</file>

<file path=ppt/slides/slide7.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Course goals, assessment and weekly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Assessment includes code, data analysis, models and written explanations. Individual work accounts for 65% of the mark.</a:t>
            </a:r>
          </a:p>
        </p:txBody>
      </p:sp>
    </p:spTree>
  </p:cSld>
  <p:clrMapOvr>
    <a:masterClrMapping/>
  </p:clrMapOvr>
</p:sld>
</file>

<file path=ppt/slides/slide9.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EXPECTATIONS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asking for help, include the error message, what you tried and what you expected.</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When you get stuck, note the step that failed and ask for help.</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Download the lesson files before class so you can access the data without a connection.</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how each topic relates to the engineering problem.</a:t>
            </a:r>
          </a:p>
        </p:txBody>
      </p:sp>
    </p:spTree>
  </p:cSld>
  <p:clrMapOvr>
    <a:masterClrMapping/>
  </p:clrMapOvr>
</p:sld>
</file>

<file path=ppt/slides/slide1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topics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roadmap shows Semester 1, Semester 2 and topics outside this course.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FOUNDATIONS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Mathematics and programming foundations</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Mathematics used in machine learning</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includes calculus, linear algebra, statistics and probability. Each supports a different part of building or evaluating a model.</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 introduce the mathematics needed for each topic, including averages, matrices and probability. Earlier mathematics courses may help, but each example includes the steps.</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Programming foundations</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Weeks 2–6 introduce Python, data libraries and data preparation through worked examples.</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Applying engineering knowledge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This course introduces programming through engineering examples.</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Engineering knowledge helps you check units, judge whether a result is plausible and recognise limits in the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Topics covered in this course</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Grey marks topics outside this course, including reinforcement learning, full MLOps and most advanced language-model topics.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5.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Machine learning in engineering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10,000 machine-hours of sensor readings, each labelled with whether a failure followed.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sensor logs are missing, working out whether they are missing at random, and deciding what that does to your conclusion. No model involved.</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0.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Learning patterns from data and using them to make predictions.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"This machine has three sensors on it. It failed last month. Could we have known?"</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2.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THE ACTUAL IDEA</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Traditional programming, and machine learning</ns1:t>
            </ns1:r>
          </ns1:p>
        </ns0:txBody>
      </ns0:sp>
      <ns0:pic>
        <ns0:nvPicPr>
          <ns0:cNvPr id="4" name="Picture 3" descr="rules_vs_learning.png"/>
          <ns0:cNvPicPr>
            <ns1:picLocks noChangeAspect="1"/>
          </ns0:cNvPicPr>
          <ns0:nvPr/>
        </ns0:nvPicPr>
        <ns0:blipFill>
          <ns1:blip ns2:embed="rId2"/>
          <ns1:stretch>
            <ns1:fillRect/>
          </ns1:stretch>
        </ns0:blipFill>
        <ns0:spPr>
          <ns1:xfrm>
            <ns1:off x="1304533" y="1911095"/>
            <ns1:ext cx="9582629"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On the left, a rule specified by a person: you work out the rule and write it down. On the right, the new way: you do not know the rule, but you have examples of inputs and the answers that followed, and the computer works out a rule from them.</ns1:t>
            </ns1:r>
          </ns1:p>
        </ns0:txBody>
      </ns0:sp>
    </ns0:spTree>
  </ns0:cSld>
  <ns0:clrMapOvr>
    <ns1:masterClrMapping/>
  </ns0:clrMapOvr>
</ns0:sld>
</file>

<file path=ppt/slides/slide2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early estimate can help with planning if its error is small enough for the decision.</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Data, features and targets</a:t>
            </a:r>
          </a:p>
        </p:txBody>
      </p:sp>
      <p:pic>
        <p:nvPicPr>
          <p:cNvPr id="4" name="Picture 3" descr="data_table_CML3111.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In this example, each row describes one case. Feature columns contain the inputs available before prediction. The target column contains the value to predict.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rotational speed, torque and tool wear are the features. Whether the machine fails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Tool wear is associated with failure; the model learns the association and knows nothing about metal fatigue.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AI4I 2020 Predictive Maintenance records, is whether the machine fails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7.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Feature or target?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The target. It is the thing you want to predict. Measurements available beforehand are candidate features.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The repair column?</ns1:t>
            </ns1:r>
          </ns1:p>
        </ns0:txBody>
      </ns0:sp>
      <ns0:sp>
        <ns0:nvSpPr>
          <ns0:cNvPr id="9" name="TextBox 8"/>
          <ns0:cNvSpPr txBox="1"/>
          <ns0:nvPr/>
        </ns0:nvSpPr>
        <ns0:spPr>
          <ns1:xfrm>
            <ns1:off x="1216152" y="3006900"/>
            <ns1:ext cx="10253167" cy="1166005"/>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No. The repair is recorded after the failure, so it is unavailable at prediction time. Including it would give misleading test results. This is data leakage.</ns1:t>
            </ns1:r>
          </ns1:p>
        </ns0:txBody>
      </ns0:sp>
      <ns0:sp>
        <ns0:nvSpPr>
          <ns0:cNvPr id="10" name="Oval 9"/>
          <ns0:cNvSpPr/>
          <ns0:nvPr/>
        </ns0:nvSpPr>
        <ns0:spPr>
          <ns1:xfrm>
            <ns1:off x="685800" y="424605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420948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A rule you already know?</ns1:t>
            </ns1:r>
          </ns1:p>
        </ns0:txBody>
      </ns0:sp>
      <ns0:sp>
        <ns0:nvSpPr>
          <ns0:cNvPr id="12" name="TextBox 11"/>
          <ns0:cNvSpPr txBox="1"/>
          <ns0:nvPr/>
        </ns0:nvSpPr>
        <ns0:spPr>
          <ns1:xfrm>
            <ns1:off x="1216152" y="4502090"/>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Anything with a formula or a code threshold: For DC circuits, power is voltage times current. Ohm’s law is voltage = current × resistance. If a validated equation exists, use the equation.</ns1:t>
            </ns1:r>
          </ns1:p>
        </ns0:txBody>
      </ns0:sp>
    </ns0:spTree>
  </ns0:cSld>
  <ns0:clrMapOvr>
    <ns1:masterClrMapping/>
  </ns0:clrMapOvr>
</ns0:sld>
</file>

<file path=ppt/slides/slide28.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Use the twelve rows of data to predict a value for the new case. Write your prediction and explain which rows helped you choose it.</a:t>
            </a:r>
          </a:p>
        </p:txBody>
      </p:sp>
    </p:spTree>
  </p:cSld>
  <p:clrMapOvr>
    <a:masterClrMapping/>
  </p:clrMapOvr>
</p:sld>
</file>

<file path=ppt/slides/slide29.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INDIVIDUAL PRACTICE · 15 MINUTES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Your task</ns1:t>
            </ns1:r>
          </ns1:p>
        </ns0:txBody>
      </ns0:sp>
      <ns0:pic>
        <ns0:nvPicPr>
          <ns0:cNvPr id="4" name="Picture 3" descr="hand_pred_before_CML3111.png"/>
          <ns0:cNvPicPr>
            <ns1:picLocks noChangeAspect="1"/>
          </ns0:cNvPicPr>
          <ns0:nvPr/>
        </ns0:nvPicPr>
        <ns0:blipFill>
          <ns1:blip ns2:embed="rId2"/>
          <ns1:stretch>
            <ns1:fillRect/>
          </ns1:stretch>
        </ns0:blipFill>
        <ns0:spPr>
          <ns1:xfrm>
            <ns1:off x="2933706" y="1911095"/>
            <ns1:ext cx="6324283" cy="4014216"/>
          </ns1:xfrm>
          <ns1:prstGeom prst="rect">
            <ns1:avLst/>
          </ns1:prstGeom>
        </ns0:spPr>
      </ns0:pic>
      <ns0:sp>
        <ns0:nvSpPr>
          <ns0:cNvPr id="5" name="TextBox 4"/>
          <ns0:cNvSpPr txBox="1"/>
          <ns0:nvPr/>
        </ns0:nvSpPr>
        <ns0:spPr>
          <ns1:xfrm>
            <ns1:off x="685800" y="6016752"/>
            <ns1:ext cx="10820095" cy="54864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84" b="0" i="1">
                <ns1:solidFill>
                  <ns1:srgbClr val="6B7A8A"/>
                </ns1:solidFill>
                <ns1:latin typeface="Calibri"/>
              </ns1:rPr>
              <ns1:t>Twelve cases show their inputs and measured outcomes. Case 13 shows only its inputs. Predict its outcome and write one sentence explaining your choice.</ns1:t>
            </ns1:r>
          </ns1:p>
        </ns0:txBody>
      </ns0:sp>
    </ns0:spTree>
  </ns0:cSld>
  <ns0:clrMapOvr>
    <ns1:masterClrMapping/>
  </ns0:clrMapOvr>
</ns0:sld>
</file>

<file path=ppt/slides/slide3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One approach is to compare cases with similar inputs. Follow the steps below.</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You used a pattern in known examples to predict an unknown value. Comparing that prediction with the measured value tells you how large the error was.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1.png"/>
          <p:cNvPicPr>
            <a:picLocks noChangeAspect="1"/>
          </p:cNvPicPr>
          <p:nvPr/>
        </p:nvPicPr>
        <p:blipFill>
          <a:blip r:embed="rId2"/>
          <a:stretch>
            <a:fillRect/>
          </a:stretch>
        </p:blipFill>
        <p:spPr>
          <a:xfrm>
            <a:off x="3043648" y="1911095"/>
            <a:ext cx="610439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marks the measured value. Its distance from your prediction is the prediction error. The dashed line shows a possible pattern in the data.</a:t>
            </a:r>
          </a:p>
        </p:txBody>
      </p:sp>
    </p:spTree>
  </p:cSld>
  <p:clrMapOvr>
    <a:masterClrMapping/>
  </p:clrMapOvr>
</p:sld>
</file>

<file path=ppt/slides/slide32.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NAMING IT</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Steps in a prediction task</ns1:t>
            </ns1:r>
          </ns1:p>
        </ns0:txBody>
      </ns0:sp>
      <ns0:sp>
        <ns0:nvSpPr>
          <ns0:cNvPr id="4" name="TextBox 3"/>
          <ns0:cNvSpPr txBox="1"/>
          <ns0:nvPr/>
        </ns0:nvSpPr>
        <ns0:spPr>
          <ns1:xfrm>
            <ns1:off x="685800"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you called it</ns1:t>
            </ns1:r>
          </ns1:p>
        </ns0:txBody>
      </ns0:sp>
      <ns0:sp>
        <ns0:nvSpPr>
          <ns0:cNvPr id="5" name="TextBox 4"/>
          <ns0:cNvSpPr txBox="1"/>
          <ns0:nvPr/>
        </ns0:nvSpPr>
        <ns0:spPr>
          <ns1:xfrm>
            <ns1:off x="685800"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looked at the table.</ns1:t>
            </ns1:r>
          </ns1:p>
        </ns0:txBody>
      </ns0:sp>
      <ns0:sp>
        <ns0:nvSpPr>
          <ns0:cNvPr id="6" name="TextBox 5"/>
          <ns0:cNvSpPr txBox="1"/>
          <ns0:nvPr/>
        </ns0:nvSpPr>
        <ns0:spPr>
          <ns1:xfrm>
            <ns1:off x="685800"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noticed which columns seemed to matter.</ns1:t>
            </ns1:r>
          </ns1:p>
        </ns0:txBody>
      </ns0:sp>
      <ns0:sp>
        <ns0:nvSpPr>
          <ns0:cNvPr id="7" name="TextBox 6"/>
          <ns0:cNvSpPr txBox="1"/>
          <ns0:nvPr/>
        </ns0:nvSpPr>
        <ns0:spPr>
          <ns1:xfrm>
            <ns1:off x="685800"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worked out a rough rule in your head.</ns1:t>
            </ns1:r>
          </ns1:p>
        </ns0:txBody>
      </ns0:sp>
      <ns0:sp>
        <ns0:nvSpPr>
          <ns0:cNvPr id="8" name="TextBox 7"/>
          <ns0:cNvSpPr txBox="1"/>
          <ns0:nvPr/>
        </ns0:nvSpPr>
        <ns0:spPr>
          <ns1:xfrm>
            <ns1:off x="685800" y="377449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applied it to a case you had not seen.</ns1:t>
            </ns1:r>
          </ns1:p>
        </ns0:txBody>
      </ns0:sp>
      <ns0:sp>
        <ns0:nvSpPr>
          <ns0:cNvPr id="9" name="TextBox 8"/>
          <ns0:cNvSpPr txBox="1"/>
          <ns0:nvPr/>
        </ns0:nvSpPr>
        <ns0:spPr>
          <ns1:xfrm>
            <ns1:off x="685800" y="4248448"/>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compared your prediction with the measured value.</ns1:t>
            </ns1:r>
          </ns1:p>
        </ns0:txBody>
      </ns0:sp>
      <ns0:sp>
        <ns0:nvSpPr>
          <ns0:cNvPr id="10" name="TextBox 9"/>
          <ns0:cNvSpPr txBox="1"/>
          <ns0:nvPr/>
        </ns0:nvSpPr>
        <ns0:spPr>
          <ns1:xfrm>
            <ns1:off x="6347307" y="1911095"/>
            <ns1:ext cx="5158587" cy="43238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923" b="1" i="0">
                <ns1:solidFill>
                  <ns1:srgbClr val="E4572E"/>
                </ns1:solidFill>
                <ns1:latin typeface="Calibri"/>
              </ns1:rPr>
              <ns1:t>What it is called</ns1:t>
            </ns1:r>
          </ns1:p>
        </ns0:txBody>
      </ns0:sp>
      <ns0:sp>
        <ns0:nvSpPr>
          <ns0:cNvPr id="11" name="TextBox 10"/>
          <ns0:cNvSpPr txBox="1"/>
          <ns0:nvPr/>
        </ns0:nvSpPr>
        <ns0:spPr>
          <ns1:xfrm>
            <ns1:off x="6347307" y="235262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explored the data. That is Weeks 5 and 6.</ns1:t>
            </ns1:r>
          </ns1:p>
        </ns0:txBody>
      </ns0:sp>
      <ns0:sp>
        <ns0:nvSpPr>
          <ns0:cNvPr id="12" name="TextBox 11"/>
          <ns0:cNvSpPr txBox="1"/>
          <ns0:nvPr/>
        </ns0:nvSpPr>
        <ns0:spPr>
          <ns1:xfrm>
            <ns1:off x="6347307" y="2826584"/>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selected features. That is Week 11.</ns1:t>
            </ns1:r>
          </ns1:p>
        </ns0:txBody>
      </ns0:sp>
      <ns0:sp>
        <ns0:nvSpPr>
          <ns0:cNvPr id="13" name="TextBox 12"/>
          <ns0:cNvSpPr txBox="1"/>
          <ns0:nvPr/>
        </ns0:nvSpPr>
        <ns0:spPr>
          <ns1:xfrm>
            <ns1:off x="6347307" y="3300539"/>
            <ns1:ext cx="5158587" cy="39165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proposed a rule. Python models follow in Week 8.</ns1:t>
            </ns1:r>
          </ns1:p>
        </ns0:txBody>
      </ns0:sp>
      <ns0:sp>
        <ns0:nvSpPr>
          <ns0:cNvPr id="14" name="TextBox 13"/>
          <ns0:cNvSpPr txBox="1"/>
          <ns0:nvPr/>
        </ns0:nvSpPr>
        <ns0:spPr>
          <ns1:xfrm>
            <ns1:off x="6347307" y="3774494"/>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predicted a value for a case that was not used to find the pattern.</ns1:t>
            </ns1:r>
          </ns1:p>
        </ns0:txBody>
      </ns0:sp>
      <ns0:sp>
        <ns0:nvSpPr>
          <ns0:cNvPr id="15" name="TextBox 14"/>
          <ns0:cNvSpPr txBox="1"/>
          <ns0:nvPr/>
        </ns0:nvSpPr>
        <ns0:spPr>
          <ns1:xfrm>
            <ns1:off x="6347307" y="4585243"/>
            <ns1:ext cx="5158587" cy="728453"/>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16" b="0" i="0">
                <ns1:solidFill>
                  <ns1:srgbClr val="334657"/>
                </ns1:solidFill>
                <ns1:latin typeface="Calibri"/>
              </ns1:rPr>
              <ns1:t>You measured the prediction error. Week 10 covers model evaluation.</ns1:t>
            </ns1:r>
          </ns1:p>
        </ns0:txBody>
      </ns0:sp>
    </ns0:spTree>
  </ns0:cSld>
  <ns0:clrMapOvr>
    <ns1:masterClrMapping/>
  </ns0:clrMapOvr>
</ns0:sld>
</file>

<file path=ppt/slides/slide33.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2377440"/>
            <ns1:ext cx="10820095" cy="1280160"/>
          </ns1:xfrm>
          <ns1:prstGeom prst="rect">
            <ns1:avLst/>
          </ns1:prstGeom>
          <ns1:noFill/>
        </ns0:spPr>
        <ns0:txBody>
          <ns1:bodyPr wrap="square" lIns="0" rIns="0" tIns="0" bIns="0" anchor="t">
            <ns1:spAutoFit/>
          </ns1:bodyPr>
          <ns1:lstStyle/>
          <ns1:p>
            <ns1:pPr algn="ctr">
              <ns1:spcAft>
                <ns1:spcPts val="600"/>
              </ns1:spcAft>
            </ns1:pPr>
            <ns1:r>
              <ns1:rPr sz="5400" b="1" i="0">
                <ns1:solidFill>
                  <ns1:srgbClr val="FFFFFF"/>
                </ns1:solidFill>
                <ns1:latin typeface="Cambria"/>
              </ns1:rPr>
              <ns1:t>Break</ns1:t>
            </ns1:r>
          </ns1:p>
        </ns0:txBody>
      </ns0:sp>
      <ns0:sp>
        <ns0:nvSpPr>
          <ns0:cNvPr id="4" name="TextBox 3"/>
          <ns0:cNvSpPr txBox="1"/>
          <ns0:nvPr/>
        </ns0:nvSpPr>
        <ns0:spPr>
          <ns1:xfrm>
            <ns1:off x="685800" y="3749039"/>
            <ns1:ext cx="10820095" cy="548640"/>
          </ns1:xfrm>
          <ns1:prstGeom prst="rect">
            <ns1:avLst/>
          </ns1:prstGeom>
          <ns1:noFill/>
        </ns0:spPr>
        <ns0:txBody>
          <ns1:bodyPr wrap="square" lIns="0" rIns="0" tIns="0" bIns="0" anchor="t">
            <ns1:spAutoFit/>
          </ns1:bodyPr>
          <ns1:lstStyle/>
          <ns1:p>
            <ns1:pPr algn="ctr">
              <ns1:spcAft>
                <ns1:spcPts val="600"/>
              </ns1:spcAft>
            </ns1:pPr>
            <ns1:r>
              <ns1:rPr sz="2531" b="0" i="0">
                <ns1:solidFill>
                  <ns1:srgbClr val="E4572E"/>
                </ns1:solidFill>
                <ns1:latin typeface="Calibri"/>
              </ns1:rPr>
              <ns1:t>10 minutes</ns1:t>
            </ns1:r>
          </ns1:p>
        </ns0:txBody>
      </ns0:sp>
      <ns0:sp>
        <ns0:nvSpPr>
          <ns0:cNvPr id="5" name="TextBox 4"/>
          <ns0:cNvSpPr txBox="1"/>
          <ns0:nvPr/>
        </ns0:nvSpPr>
        <ns0:spPr>
          <ns1:xfrm>
            <ns1:off x="685800" y="4572000"/>
            <ns1:ext cx="10820095" cy="548640"/>
          </ns1:xfrm>
          <ns1:prstGeom prst="rect">
            <ns1:avLst/>
          </ns1:prstGeom>
          <ns1:noFill/>
        </ns0:spPr>
        <ns0:txBody>
          <ns1:bodyPr wrap="square" lIns="0" rIns="0" tIns="0" bIns="0" anchor="t">
            <ns1:spAutoFit/>
          </ns1:bodyPr>
          <ns1:lstStyle/>
          <ns1:p>
            <ns1:pPr algn="ctr">
              <ns1:spcAft>
                <ns1:spcPts val="600"/>
              </ns1:spcAft>
            </ns1:pPr>
            <ns1:r>
              <ns1:rPr sz="1821" b="0" i="0">
                <ns1:solidFill>
                  <ns1:srgbClr val="8EA4B8"/>
                </ns1:solidFill>
                <ns1:latin typeface="Calibri"/>
              </ns1:rPr>
              <ns1:t>Take a short break. No computer is needed for the remaining introductory examples.</ns1:t>
            </ns1:r>
          </ns1:p>
        </ns0:txBody>
      </ns0:sp>
    </ns0:spTree>
  </ns0:cSld>
  <ns0:clrMapOvr>
    <ns1:masterClrMapping/>
  </ns0:clrMapOvr>
</ns0: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1.png"/>
          <p:cNvPicPr>
            <a:picLocks noChangeAspect="1"/>
          </p:cNvPicPr>
          <p:nvPr/>
        </p:nvPicPr>
        <p:blipFill>
          <a:blip r:embed="rId2"/>
          <a:stretch>
            <a:fillRect/>
          </a:stretch>
        </p:blipFill>
        <p:spPr>
          <a:xfrm>
            <a:off x="2367102" y="1911095"/>
            <a:ext cx="745749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6.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DEFINITION</ns1:t>
            </ns1:r>
          </ns1:p>
        </ns0:txBody>
      </ns0:sp>
      <ns0:sp>
        <ns0:nvSpPr>
          <ns0:cNvPr id="3" name="TextBox 2"/>
          <ns0:cNvSpPr txBox="1"/>
          <ns0:nvPr/>
        </ns0:nvSpPr>
        <ns0:spPr>
          <ns1:xfrm>
            <ns1:off x="685800" y="932688"/>
            <ns1:ext cx="10820095" cy="702059"/>
          </ns1:xfrm>
          <ns1:prstGeom prst="rect">
            <ns1:avLst/>
          </ns1:prstGeom>
          <ns1:noFill/>
        </ns0:spPr>
        <ns0:txBody>
          <ns1:bodyPr wrap="square" lIns="0" rIns="0" tIns="0" bIns="0" anchor="t">
            <ns1:spAutoFit/>
          </ns1:bodyPr>
          <ns1:lstStyle/>
          <ns1:p>
            <ns1:pPr algn="l">
              <ns1:spcAft>
                <ns1:spcPts val="600"/>
              </ns1:spcAft>
            </ns1:pPr>
            <ns1:r>
              <ns1:rPr sz="3800" b="1" i="0">
                <ns1:solidFill>
                  <ns1:srgbClr val="1C3144"/>
                </ns1:solidFill>
                <ns1:latin typeface="Cambria"/>
              </ns1:rPr>
              <ns1:t>Regression, and classification</ns1:t>
            </ns1:r>
          </ns1:p>
        </ns0:txBody>
      </ns0:sp>
      <ns0:sp>
        <ns0:nvSpPr>
          <ns0:cNvPr id="4" name="Rounded Rectangle 3"/>
          <ns0:cNvSpPr/>
          <ns0:nvPr/>
        </ns0:nvSpPr>
        <ns0:spPr>
          <ns1:xfrm>
            <ns1:off x="685800" y="1854203"/>
            <ns1:ext cx="10820095" cy="1195902"/>
          </ns1:xfrm>
          <ns1:prstGeom prst="roundRect">
            <ns1:avLst>
              <ns1:gd name="adj" fmla="val 6000"/>
            </ns1:avLst>
          </ns1:prstGeom>
          <ns1:solidFill>
            <ns1:srgbClr val="E8EDF2"/>
          </ns1:solidFill>
          <ns1:ln>
            <ns1:noFill/>
          </ns1:ln>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978408" y="2055371"/>
            <ns1:ext cx="10234879" cy="848430"/>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2021" b="0" i="0">
                <ns1:solidFill>
                  <ns1:srgbClr val="1C3144"/>
                </ns1:solidFill>
                <ns1:latin typeface="Calibri"/>
              </ns1:rPr>
              <ns1:t>REGRESSION predicts a number on a continuous scale. CLASSIFICATION predicts which of a small number of categories a case belongs to.</ns1:t>
            </ns1:r>
          </ns1:p>
        </ns0:txBody>
      </ns0:sp>
      <ns0:sp>
        <ns0:nvSpPr>
          <ns0:cNvPr id="6" name="Rounded Rectangle 5"/>
          <ns0:cNvSpPr/>
          <ns0:nvPr/>
        </ns0:nvSpPr>
        <ns0:spPr>
          <ns1:xfrm>
            <ns1:off x="685800" y="3324426"/>
            <ns1:ext cx="1645920" cy="384048"/>
          </ns1:xfrm>
          <ns1:prstGeom prst="roundRect">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FOR EXAMPLE</ns1:t>
            </ns1:r>
          </ns1:p>
        </ns0:txBody>
      </ns0:sp>
      <ns0:sp>
        <ns0:nvSpPr>
          <ns0:cNvPr id="7" name="TextBox 6"/>
          <ns0:cNvSpPr txBox="1"/>
          <ns0:nvPr/>
        </ns0:nvSpPr>
        <ns0:spPr>
          <ns1:xfrm>
            <ns1:off x="2560320" y="3306138"/>
            <ns1:ext cx="880841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Regression: how many N·m? Classification: failure or no failure; or fault type: bearing, winding, imbalance.</ns1:t>
            </ns1:r>
          </ns1:p>
        </ns0:txBody>
      </ns0:sp>
      <ns0:sp>
        <ns0:nvSpPr>
          <ns0:cNvPr id="8" name="Rounded Rectangle 7"/>
          <ns0:cNvSpPr/>
          <ns0:nvPr/>
        </ns0:nvSpPr>
        <ns0:spPr>
          <ns1:xfrm>
            <ns1:off x="685800" y="4290739"/>
            <ns1:ext cx="246888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DO NOT CONFUSE WITH</ns1:t>
            </ns1:r>
          </ns1:p>
        </ns0:txBody>
      </ns0:sp>
      <ns0:sp>
        <ns0:nvSpPr>
          <ns0:cNvPr id="9" name="TextBox 8"/>
          <ns0:cNvSpPr txBox="1"/>
          <ns0:nvPr/>
        </ns0:nvSpPr>
        <ns0:spPr>
          <ns1:xfrm>
            <ns1:off x="3383280" y="4272451"/>
            <ns1:ext cx="7985455" cy="74685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334657"/>
                </ns1:solidFill>
                <ns1:latin typeface="Calibri"/>
              </ns1:rPr>
              <ns1:t>Ask what the answer means. Estimating a quantity is regression; choosing a category is classification. Categories may use numeric codes.</ns1:t>
            </ns1:r>
          </ns1:p>
        </ns0:txBody>
      </ns0:sp>
    </ns0:spTree>
  </ns0:cSld>
  <ns0:clrMapOvr>
    <ns1:masterClrMapping/>
  </ns0:clrMapOvr>
</ns0: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8.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ANSWERS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did you do?</ns1:t>
            </ns1:r>
          </ns1:p>
        </ns0:txBody>
      </ns0:sp>
      <ns0:sp>
        <ns0:nvSpPr>
          <ns0:cNvPr id="4" name="Oval 3"/>
          <ns0:cNvSpPr/>
          <ns0:nvPr/>
        </ns0:nvSpPr>
        <ns0:spPr>
          <ns1:xfrm>
            <ns1:off x="685800" y="1947672"/>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A</ns1:t>
            </ns1:r>
          </ns1:p>
        </ns0:txBody>
      </ns0:sp>
      <ns0:sp>
        <ns0:nvSpPr>
          <ns0:cNvPr id="5" name="TextBox 4"/>
          <ns0:cNvSpPr txBox="1"/>
          <ns0:nvPr/>
        </ns0:nvSpPr>
        <ns0:spPr>
          <ns1:xfrm>
            <ns1:off x="1216152" y="1911095"/>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Days until replacement?</ns1:t>
            </ns1:r>
          </ns1:p>
        </ns0:txBody>
      </ns0:sp>
      <ns0:sp>
        <ns0:nvSpPr>
          <ns0:cNvPr id="6" name="TextBox 5"/>
          <ns0:cNvSpPr txBox="1"/>
          <ns0:nvPr/>
        </ns0:nvSpPr>
        <ns0:spPr>
          <ns1:xfrm>
            <ns1:off x="1216152" y="2203703"/>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Regression. The answer is a number with a unit — days.</ns1:t>
            </ns1:r>
          </ns1:p>
        </ns0:txBody>
      </ns0:sp>
      <ns0:sp>
        <ns0:nvSpPr>
          <ns0:cNvPr id="7" name="Oval 6"/>
          <ns0:cNvSpPr/>
          <ns0:nvPr/>
        </ns0:nvSpPr>
        <ns0:spPr>
          <ns1:xfrm>
            <ns1:off x="685800" y="2750868"/>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B</ns1:t>
            </ns1:r>
          </ns1:p>
        </ns0:txBody>
      </ns0:sp>
      <ns0:sp>
        <ns0:nvSpPr>
          <ns0:cNvPr id="8" name="TextBox 7"/>
          <ns0:cNvSpPr txBox="1"/>
          <ns0:nvPr/>
        </ns0:nvSpPr>
        <ns0:spPr>
          <ns1:xfrm>
            <ns1:off x="1216152" y="2714292"/>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Pass or fail?</ns1:t>
            </ns1:r>
          </ns1:p>
        </ns0:txBody>
      </ns0:sp>
      <ns0:sp>
        <ns0:nvSpPr>
          <ns0:cNvPr id="9" name="TextBox 8"/>
          <ns0:cNvSpPr txBox="1"/>
          <ns0:nvPr/>
        </ns0:nvSpPr>
        <ns0:spPr>
          <ns1:xfrm>
            <ns1:off x="1216152" y="3006900"/>
            <ns1:ext cx="10253167" cy="474012"/>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Classification. Two categories, so it is called binary classification.</ns1:t>
            </ns1:r>
          </ns1:p>
        </ns0:txBody>
      </ns0:sp>
      <ns0:sp>
        <ns0:nvSpPr>
          <ns0:cNvPr id="10" name="Oval 9"/>
          <ns0:cNvSpPr/>
          <ns0:nvPr/>
        </ns0:nvSpPr>
        <ns0:spPr>
          <ns1:xfrm>
            <ns1:off x="685800" y="3554065"/>
            <ns1:ext cx="329184" cy="329184"/>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452" b="1">
                <ns1:solidFill>
                  <ns1:srgbClr val="FFFFFF"/>
                </ns1:solidFill>
                <ns1:latin typeface="Calibri"/>
              </ns1:rPr>
              <ns1:t>C</ns1:t>
            </ns1:r>
          </ns1:p>
        </ns0:txBody>
      </ns0:sp>
      <ns0:sp>
        <ns0:nvSpPr>
          <ns0:cNvPr id="11" name="TextBox 10"/>
          <ns0:cNvSpPr txBox="1"/>
          <ns0:nvPr/>
        </ns0:nvSpPr>
        <ns0:spPr>
          <ns1:xfrm>
            <ns1:off x="1216152" y="3517489"/>
            <ns1:ext cx="10253167" cy="274320"/>
          </ns1:xfrm>
          <ns1:prstGeom prst="rect">
            <ns1:avLst/>
          </ns1:prstGeom>
          <ns1:noFill/>
        </ns0:spPr>
        <ns0:txBody>
          <ns1:bodyPr wrap="square" lIns="0" rIns="0" tIns="0" bIns="0" anchor="t">
            <ns1:spAutoFit/>
          </ns1:bodyPr>
          <ns1:lstStyle/>
          <ns1:p>
            <ns1:pPr algn="l">
              <ns1:spcAft>
                <ns1:spcPts val="600"/>
              </ns1:spcAft>
            </ns1:pPr>
            <ns1:r>
              <ns1:rPr sz="1650" b="1" i="0">
                <ns1:solidFill>
                  <ns1:srgbClr val="6B7A8A"/>
                </ns1:solidFill>
                <ns1:latin typeface="Calibri"/>
              </ns1:rPr>
              <ns1:t>Which of five fault types?</ns1:t>
            </ns1:r>
          </ns1:p>
        </ns0:txBody>
      </ns0:sp>
      <ns0:sp>
        <ns0:nvSpPr>
          <ns0:cNvPr id="12" name="TextBox 11"/>
          <ns0:cNvSpPr txBox="1"/>
          <ns0:nvPr/>
        </ns0:nvSpPr>
        <ns0:spPr>
          <ns1:xfrm>
            <ns1:off x="1216152" y="3810097"/>
            <ns1:ext cx="10253167" cy="820009"/>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821" b="0" i="0">
                <ns1:solidFill>
                  <ns1:srgbClr val="2A3B4A"/>
                </ns1:solidFill>
                <ns1:latin typeface="Calibri"/>
              </ns1:rPr>
              <ns1:t>Still classification, but multiclass rather than binary. Difficulty depends on the data. Week 9 examines which categories are confused, beyond a single accuracy score.</ns1:t>
            </ns1:r>
          </ns1:p>
        </ns0:txBody>
      </ns0:sp>
    </ns0:spTree>
  </ns0:cSld>
  <ns0:clrMapOvr>
    <ns1:masterClrMapping/>
  </ns0:clrMapOvr>
</ns0:sld>
</file>

<file path=ppt/slides/slide39.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limitations to consider when using machine learning.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can produce a prediction even when the data are unsuitable. Check whether the inputs and evaluation support its intended use.</a:t>
            </a:r>
          </a:p>
        </p:txBody>
      </p:sp>
    </p:spTree>
  </p:cSld>
  <p:clrMapOvr>
    <a:masterClrMapping/>
  </p:clrMapOvr>
</p:sld>
</file>

<file path=ppt/slides/slide41.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MADE CONCRETE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The same four limits, in your own discipline</ns1:t>
            </ns1:r>
          </ns1:p>
        </ns0:txBody>
      </ns0:sp>
      <ns0:sp>
        <ns0:nvSpPr>
          <ns0:cNvPr id="4" name="TextBox 3"/>
          <ns0:cNvSpPr txBox="1"/>
          <ns0:nvPr/>
        </ns0:nvSpPr>
        <ns0:spPr>
          <ns1:xfrm>
            <ns1:off x="685800" y="1911095"/>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1 · No data</ns1:t>
            </ns1:r>
          </ns1:p>
        </ns0:txBody>
      </ns0:sp>
      <ns0:sp>
        <ns0:nvSpPr>
          <ns0:cNvPr id="5" name="TextBox 4"/>
          <ns0:cNvSpPr txBox="1"/>
          <ns0:nvPr/>
        </ns0:nvSpPr>
        <ns0:spPr>
          <ns1:xfrm>
            <ns1:off x="685800" y="2322358"/>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Most motors in most plants have no sensor on them at all. There is nothing to learn from.</ns1:t>
            </ns1:r>
          </ns1:p>
        </ns0:txBody>
      </ns0:sp>
      <ns0:sp>
        <ns0:nvSpPr>
          <ns0:cNvPr id="6" name="TextBox 5"/>
          <ns0:cNvSpPr txBox="1"/>
          <ns0:nvPr/>
        </ns0:nvSpPr>
        <ns0:spPr>
          <ns1:xfrm>
            <ns1:off x="685800" y="3201690"/>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2 · No signal</ns1:t>
            </ns1:r>
          </ns1:p>
        </ns0:txBody>
      </ns0:sp>
      <ns0:sp>
        <ns0:nvSpPr>
          <ns0:cNvPr id="7" name="TextBox 6"/>
          <ns0:cNvSpPr txBox="1"/>
          <ns0:nvPr/>
        </ns0:nvSpPr>
        <ns0:spPr>
          <ns1:xfrm>
            <ns1:off x="685800" y="3612952"/>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The cabinet's paint colour does not predict bearing failure. Feed it in and a model will still produce a number.</ns1:t>
            </ns1:r>
          </ns1:p>
        </ns0:txBody>
      </ns0:sp>
      <ns0:sp>
        <ns0:nvSpPr>
          <ns0:cNvPr id="8" name="TextBox 7"/>
          <ns0:cNvSpPr txBox="1"/>
          <ns0:nvPr/>
        </ns0:nvSpPr>
        <ns0:spPr>
          <ns1:xfrm>
            <ns1:off x="6347307" y="1911095"/>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3 · Physics is better</ns1:t>
            </ns1:r>
          </ns1:p>
        </ns0:txBody>
      </ns0:sp>
      <ns0:sp>
        <ns0:nvSpPr>
          <ns0:cNvPr id="9" name="TextBox 8"/>
          <ns0:cNvSpPr txBox="1"/>
          <ns0:nvPr/>
        </ns0:nvSpPr>
        <ns0:spPr>
          <ns1:xfrm>
            <ns1:off x="6347307" y="2322358"/>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For DC circuits, power is voltage times current. Ohm’s law is voltage = current × resistance. Do not use a model where an equation will do.</ns1:t>
            </ns1:r>
          </ns1:p>
        </ns0:txBody>
      </ns0:sp>
      <ns0:sp>
        <ns0:nvSpPr>
          <ns0:cNvPr id="10" name="TextBox 9"/>
          <ns0:cNvSpPr txBox="1"/>
          <ns0:nvPr/>
        </ns0:nvSpPr>
        <ns0:spPr>
          <ns1:xfrm>
            <ns1:off x="6347307" y="3201690"/>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4 · The future changed</ns1:t>
            </ns1:r>
          </ns1:p>
        </ns0:txBody>
      </ns0:sp>
      <ns0:sp>
        <ns0:nvSpPr>
          <ns0:cNvPr id="11" name="TextBox 10"/>
          <ns0:cNvSpPr txBox="1"/>
          <ns0:nvPr/>
        </ns0:nvSpPr>
        <ns0:spPr>
          <ns1:xfrm>
            <ns1:off x="6347307" y="3612952"/>
            <ns1:ext cx="5158587" cy="650731"/>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A model trained before a rewind or a firmware change may silently stop being true afterwards.</ns1:t>
            </ns1:r>
          </ns1:p>
        </ns0:txBody>
      </ns0:sp>
      <ns0:sp>
        <ns0:nvSpPr>
          <ns0:cNvPr id="12" name="TextBox 11"/>
          <ns0:cNvSpPr txBox="1"/>
          <ns0:nvPr/>
        </ns0:nvSpPr>
        <ns0:spPr>
          <ns1:xfrm>
            <ns1:off x="6347307" y="4492284"/>
            <ns1:ext cx="5158587" cy="40211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769" b="1" i="0">
                <ns1:solidFill>
                  <ns1:srgbClr val="E4572E"/>
                </ns1:solidFill>
                <ns1:latin typeface="Calibri"/>
              </ns1:rPr>
              <ns1:t>Why this matters for the rest of the course</ns1:t>
            </ns1:r>
          </ns1:p>
        </ns0:txBody>
      </ns0:sp>
      <ns0:sp>
        <ns0:nvSpPr>
          <ns0:cNvPr id="13" name="TextBox 12"/>
          <ns0:cNvSpPr txBox="1"/>
          <ns0:nvPr/>
        </ns0:nvSpPr>
        <ns0:spPr>
          <ns1:xfrm>
            <ns1:off x="6347307" y="4903547"/>
            <ns1:ext cx="5158587" cy="1246599"/>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518" b="0" i="0">
                <ns1:solidFill>
                  <ns1:srgbClr val="334657"/>
                </ns1:solidFill>
                <ns1:latin typeface="Calibri"/>
              </ns1:rPr>
              <ns1:t>Every project in Week 9 has to survive these four questions before it is approved. A team that cannot answer them has not defined an engineering problem yet — it has picked a technique and gone looking for somewhere to use it.</ns1:t>
            </ns1:r>
          </ns1:p>
        </ns0:txBody>
      </ns0:sp>
    </ns0:spTree>
  </ns0:cSld>
  <ns0:clrMapOvr>
    <ns1:masterClrMapping/>
  </ns0:clrMapOvr>
</ns0:sld>
</file>

<file path=ppt/slides/slide42.xml><?xml version="1.0" encoding="utf-8"?>
<p:sld xmlns:a="http://schemas.openxmlformats.org/drawingml/2006/main" xmlns:p="http://schemas.openxmlformats.org/presentationml/2006/main">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Read the problem and identify the information available. Use the worked example to plan your first step.</a:t>
            </a:r>
          </a:p>
        </p:txBody>
      </p:sp>
    </p:spTree>
  </p:cSld>
  <p:clrMapOvr>
    <a:masterClrMapping/>
  </p:clrMapOvr>
</p:sld>
</file>

<file path=ppt/slides/slide43.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List three problems from sensors, signals, energy systems, fault detection and machine health where data might help.</a:t>
            </a:r>
          </a:p>
          <a:p>
            <a:pPr algn="l">
              <a:lnSpc>
                <a:spcPct val="125000"/>
              </a:lnSpc>
              <a:spcAft>
                <a:spcPts val="600"/>
              </a:spcAft>
            </a:pPr>
            <a:r>
              <a:rPr sz="1923" b="0" i="0">
                <a:solidFill>
                  <a:srgbClr val="1C3144"/>
                </a:solidFill>
                <a:latin typeface="Calibri"/>
              </a:rPr>
              <a:t>Classify each problem: predict a number, predict a category or use another method. Explain your choice.</a:t>
            </a:r>
          </a:p>
          <a:p>
            <a:pPr algn="l">
              <a:lnSpc>
                <a:spcPct val="125000"/>
              </a:lnSpc>
              <a:spcAft>
                <a:spcPts val="600"/>
              </a:spcAft>
            </a:pPr>
            <a:r>
              <a:rPr sz="1923" b="0" i="0">
                <a:solidFill>
                  <a:srgbClr val="1C3144"/>
                </a:solidFill>
                <a:latin typeface="Calibri"/>
              </a:rPr>
              <a:t>Use the worked example as a guide. Write down your assumptions and explain your answer.</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 you want to predict?</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4.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TEAMS</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How your team works, all semester</ns1:t>
            </ns1:r>
          </ns1:p>
        </ns0:txBody>
      </ns0:sp>
      <ns0:sp>
        <ns0:nvSpPr>
          <ns0:cNvPr id="4" name="TextBox 3"/>
          <ns0:cNvSpPr txBox="1"/>
          <ns0:nvPr/>
        </ns0:nvSpPr>
        <ns0:spPr>
          <ns1:xfrm>
            <ns1:off x="685800" y="1911095"/>
            <ns1:ext cx="5158587" cy="79010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Project teams of four or five</ns1:t>
            </ns1:r>
          </ns1:p>
        </ns0:txBody>
      </ns0:sp>
      <ns0:sp>
        <ns0:nvSpPr>
          <ns0:cNvPr id="5" name="TextBox 4"/>
          <ns0:cNvSpPr txBox="1"/>
          <ns0:nvPr/>
        </ns0:nvSpPr>
        <ns0:spPr>
          <ns1:xfrm>
            <ns1:off x="685800" y="271034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You will do two projects together: a data analysis project due Week 8, and the Engineering ML Project from Week 9 to Week 15.</ns1:t>
            </ns1:r>
          </ns1:p>
        </ns0:txBody>
      </ns0:sp>
      <ns0:sp>
        <ns0:nvSpPr>
          <ns0:cNvPr id="6" name="TextBox 5"/>
          <ns0:cNvSpPr txBox="1"/>
          <ns0:nvPr/>
        </ns0:nvSpPr>
        <ns0:spPr>
          <ns1:xfrm>
            <ns1:off x="685800" y="3965331"/>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Roles rotate at every milestone</ns1:t>
            </ns1:r>
          </ns1:p>
        </ns0:txBody>
      </ns0:sp>
      <ns0:sp>
        <ns0:nvSpPr>
          <ns0:cNvPr id="7" name="TextBox 6"/>
          <ns0:cNvSpPr txBox="1"/>
          <ns0:nvPr/>
        </ns0:nvSpPr>
        <ns0:spPr>
          <ns1:xfrm>
            <ns1:off x="685800" y="4396959"/>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Project roles: data analysis, modelling, engineering review, documentation and presentation. Rotate roles so each member practises different skills.</ns1:t>
            </ns1:r>
          </ns1:p>
        </ns0:txBody>
      </ns0:sp>
      <ns0:sp>
        <ns0:nvSpPr>
          <ns0:cNvPr id="8" name="TextBox 7"/>
          <ns0:cNvSpPr txBox="1"/>
          <ns0:nvPr/>
        </ns0:nvSpPr>
        <ns0:spPr>
          <ns1:xfrm>
            <ns1:off x="6347307" y="191109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Individual accountability is built in</ns1:t>
            </ns1:r>
          </ns1:p>
        </ns0:txBody>
      </ns0:sp>
      <ns0:sp>
        <ns0:nvSpPr>
          <ns0:cNvPr id="9" name="TextBox 8"/>
          <ns0:cNvSpPr txBox="1"/>
          <ns0:nvPr/>
        </ns0:nvSpPr>
        <ns0:spPr>
          <ns1:xfrm>
            <ns1:off x="6347307" y="234272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Sixty-five per cent of the mark is individual. Your team keeps a contribution log, and it is checked against the repository history.</ns1:t>
            </ns1:r>
          </ns1:p>
        </ns0:txBody>
      </ns0:sp>
      <ns0:sp>
        <ns0:nvSpPr>
          <ns0:cNvPr id="10" name="TextBox 9"/>
          <ns0:cNvSpPr txBox="1"/>
          <ns0:nvPr/>
        </ns0:nvSpPr>
        <ns0:spPr>
          <ns1:xfrm>
            <ns1:off x="6347307" y="3451407"/>
            <ns1:ext cx="5158587" cy="1350228"/>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In Week 15, each student submits an individual written defence and reflection according to the published brief.</ns1:t>
            </ns1:r>
          </ns1:p>
        </ns0:txBody>
      </ns0:sp>
      <ns0:sp>
        <ns0:nvSpPr>
          <ns0:cNvPr id="11" name="TextBox 10"/>
          <ns0:cNvSpPr txBox="1"/>
          <ns0:nvPr/>
        </ns0:nvSpPr>
        <ns0:spPr>
          <ns1:xfrm>
            <ns1:off x="6347307" y="5030235"/>
            <ns1:ext cx="5158587" cy="422484"/>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873" b="1" i="0">
                <ns1:solidFill>
                  <ns1:srgbClr val="E4572E"/>
                </ns1:solidFill>
                <ns1:latin typeface="Calibri"/>
              </ns1:rPr>
              <ns1:t>Sign the team charter before you leave</ns1:t>
            </ns1:r>
          </ns1:p>
        </ns0:txBody>
      </ns0:sp>
      <ns0:sp>
        <ns0:nvSpPr>
          <ns0:cNvPr id="12" name="TextBox 11"/>
          <ns0:cNvSpPr txBox="1"/>
          <ns0:nvPr/>
        </ns0:nvSpPr>
        <ns0:spPr>
          <ns1:xfrm>
            <ns1:off x="6347307" y="5461864"/>
            <ns1:ext cx="5158587" cy="102638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0" i="0">
                <ns1:solidFill>
                  <ns1:srgbClr val="334657"/>
                </ns1:solidFill>
                <ns1:latin typeface="Calibri"/>
              </ns1:rPr>
              <ns1:t>Names, contact details, a weekly meeting slot, and what you will do if somebody stops contributing. Agreeing that now is much easier than agreeing it in November.</ns1:t>
            </ns1:r>
          </ns1:p>
        </ns0:txBody>
      </ns0:sp>
    </ns0:spTree>
  </ns0:cSld>
  <ns0:clrMapOvr>
    <ns1:masterClrMapping/>
  </ns0:clrMapOvr>
</ns0:sld>
</file>

<file path=ppt/slides/slide45.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2588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SEGMENT 9</ns1:t>
            </ns1:r>
          </ns1:p>
        </ns0:txBody>
      </ns0:sp>
      <ns0:sp>
        <ns0:nvSpPr>
          <ns0:cNvPr id="4" name="TextBox 3"/>
          <ns0:cNvSpPr txBox="1"/>
          <ns0:nvPr/>
        </ns0:nvSpPr>
        <ns0:spPr>
          <ns1:xfrm>
            <ns1:off x="685800" y="1874519"/>
            <ns1:ext cx="10820095" cy="1737360"/>
          </ns1:xfrm>
          <ns1:prstGeom prst="rect">
            <ns1:avLst/>
          </ns1:prstGeom>
          <ns1:noFill/>
        </ns0:spPr>
        <ns0:txBody>
          <ns1:bodyPr wrap="square" lIns="0" rIns="0" tIns="0" bIns="0" anchor="t">
            <ns1:spAutoFit/>
          </ns1:bodyPr>
          <ns1:lstStyle/>
          <ns1:p>
            <ns1:pPr algn="l">
              <ns1:lnSpc>
                <ns1:spcPct val="108000"/>
              </ns1:lnSpc>
              <ns1:spcAft>
                <ns1:spcPts val="600"/>
              </ns1:spcAft>
            </ns1:pPr>
            <ns1:r>
              <ns1:rPr sz="3600" b="1" i="0">
                <ns1:solidFill>
                  <ns1:srgbClr val="FFFFFF"/>
                </ns1:solidFill>
                <ns1:latin typeface="Cambria"/>
              </ns1:rPr>
              <ns1:t>Review your examples and Assignment A1</ns1:t>
            </ns1:r>
          </ns1:p>
        </ns0:txBody>
      </ns0:sp>
      <ns0:sp>
        <ns0:nvSpPr>
          <ns0:cNvPr id="5" name="Rounded Rectangle 4"/>
          <ns0:cNvSpPr/>
          <ns0:nvPr/>
        </ns0:nvSpPr>
        <ns0:spPr>
          <ns1:xfrm>
            <ns1:off x="685800" y="3977639"/>
            <ns1:ext cx="1828800" cy="384048"/>
          </ns1:xfrm>
          <ns1:prstGeom prst="roundRect">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lIns="0" rIns="0" tIns="0" bIns="0" wrap="none"/>
          <ns1:lstStyle/>
          <ns1:p>
            <ns1:pPr algn="ctr"/>
            <ns1:r>
              <ns1:rPr sz="1584" b="1">
                <ns1:solidFill>
                  <ns1:srgbClr val="FFFFFF"/>
                </ns1:solidFill>
                <ns1:latin typeface="Calibri"/>
              </ns1:rPr>
              <ns1:t>10 MINUTES</ns1:t>
            </ns1:r>
          </ns1:p>
        </ns0:txBody>
      </ns0:sp>
      <ns0:sp>
        <ns0:nvSpPr>
          <ns0:cNvPr id="6" name="TextBox 5"/>
          <ns0:cNvSpPr txBox="1"/>
          <ns0:nvPr/>
        </ns0:nvSpPr>
        <ns0:spPr>
          <ns1:xfrm>
            <ns1:off x="685800" y="470916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Check your candidate problems, then review A1 and the preparation for Week 2.</ns1:t>
            </ns1:r>
          </ns1:p>
        </ns0:txBody>
      </ns0:sp>
    </ns0:spTree>
  </ns0:cSld>
  <ns0:clrMapOvr>
    <ns1:masterClrMapping/>
  </ns0:clrMapOvr>
</ns0:sld>
</file>

<file path=ppt/slides/slide46.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7.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Compare the video’s definitions with the diagram in this lesson. Note any terms that the speaker uses differently.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49.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MODULE SUMMARY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What you should take away</ns1:t>
            </ns1:r>
          </ns1:p>
        </ns0:txBody>
      </ns0:sp>
      <ns0:sp>
        <ns0:nvSpPr>
          <ns0:cNvPr id="4" name="Oval 3"/>
          <ns0:cNvSpPr/>
          <ns0:nvPr/>
        </ns0:nvSpPr>
        <ns0:spPr>
          <ns1:xfrm>
            <ns1:off x="685800" y="19659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5" name="TextBox 4"/>
          <ns0:cNvSpPr txBox="1"/>
          <ns0:nvPr/>
        </ns0:nvSpPr>
        <ns0:spPr>
          <ns1:xfrm>
            <ns1:off x="1097280" y="1911095"/>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Artificial intelligence is a goal; machine learning is one way of reaching it; data science is the craft of getting a trustworthy answer out of data at all.</ns1:t>
            </ns1:r>
          </ns1:p>
        </ns0:txBody>
      </ns0:sp>
      <ns0:sp>
        <ns0:nvSpPr>
          <ns0:cNvPr id="6" name="Oval 5"/>
          <ns0:cNvSpPr/>
          <ns0:nvPr/>
        </ns0:nvSpPr>
        <ns0:spPr>
          <ns1:xfrm>
            <ns1:off x="685800" y="26889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1097280" y="26340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In traditional programming you write the rule. In machine learning you supply examples and the computer infers the rule — and you then have to decide whether to trust it.</ns1:t>
            </ns1:r>
          </ns1:p>
        </ns0:txBody>
      </ns0:sp>
      <ns0:sp>
        <ns0:nvSpPr>
          <ns0:cNvPr id="8" name="Oval 7"/>
          <ns0:cNvSpPr/>
          <ns0:nvPr/>
        </ns0:nvSpPr>
        <ns0:spPr>
          <ns1:xfrm>
            <ns1:off x="685800" y="34118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1097280" y="335699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The supervised tables used here have one row per example, candidate input columns and an observed target. Other datasets can have different structures.</ns1:t>
            </ns1:r>
          </ns1:p>
        </ns0:txBody>
      </ns0:sp>
      <ns0:sp>
        <ns0:nvSpPr>
          <ns0:cNvPr id="10" name="Oval 9"/>
          <ns0:cNvSpPr/>
          <ns0:nvPr/>
        </ns0:nvSpPr>
        <ns0:spPr>
          <ns1:xfrm>
            <ns1:off x="685800" y="413481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1097280" y="4079946"/>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Regression predicts a number with a unit. Classification predicts which of a small set of categories a case belongs to. The same data can pose either question.</ns1:t>
            </ns1:r>
          </ns1:p>
        </ns0:txBody>
      </ns0:sp>
      <ns0:sp>
        <ns0:nvSpPr>
          <ns0:cNvPr id="12" name="Oval 11"/>
          <ns0:cNvSpPr/>
          <ns0:nvPr/>
        </ns0:nvSpPr>
        <ns0:spPr>
          <ns1:xfrm>
            <ns1:off x="685800" y="4857760"/>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1097280" y="4802896"/>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model learns association. It does not learn cause, and a good fit is no evidence of a mechanism.</ns1:t>
            </ns1:r>
          </ns1:p>
        </ns0:txBody>
      </ns0:sp>
      <ns0:sp>
        <ns0:nvSpPr>
          <ns0:cNvPr id="14" name="Oval 13"/>
          <ns0:cNvSpPr/>
          <ns0:nvPr/>
        </ns0:nvSpPr>
        <ns0:spPr>
          <ns1:xfrm>
            <ns1:off x="685800" y="5292387"/>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1097280" y="5237523"/>
            <ns1:ext cx="10271455" cy="388907"/>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Check for missing data, weak predictive patterns, better physical models and changes in operating conditions.</ns1:t>
            </ns1:r>
          </ns1:p>
        </ns0:txBody>
      </ns0:sp>
      <ns0:sp>
        <ns0:nvSpPr>
          <ns0:cNvPr id="16" name="Oval 15"/>
          <ns0:cNvSpPr/>
          <ns0:nvPr/>
        </ns0:nvSpPr>
        <ns0:spPr>
          <ns1:xfrm>
            <ns1:off x="685800" y="5727014"/>
            <ns1:ext cx="182880" cy="182880"/>
          </ns1:xfrm>
          <ns1:prstGeom prst="ellipse">
            <ns1:avLst/>
          </ns1:prstGeom>
          <ns1:solidFill>
            <ns1:srgbClr val="2E7D6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7" name="TextBox 16"/>
          <ns0:cNvSpPr txBox="1"/>
          <ns0:nvPr/>
        </ns0:nvSpPr>
        <ns0:spPr>
          <ns1:xfrm>
            <ns1:off x="1097280" y="5672150"/>
            <ns1:ext cx="10271455" cy="677230"/>
          </ns1:xfrm>
          <ns1:prstGeom prst="rect">
            <ns1:avLst/>
          </ns1:prstGeom>
          <ns1:noFill/>
        </ns0:spPr>
        <ns0:txBody>
          <ns1:bodyPr wrap="square" lIns="0" rIns="0" tIns="0" bIns="0" anchor="t">
            <ns1:spAutoFit/>
          </ns1:bodyPr>
          <ns1:lstStyle/>
          <ns1:p>
            <ns1:pPr algn="l">
              <ns1:lnSpc>
                <ns1:spcPct val="120000"/>
              </ns1:lnSpc>
              <ns1:spcAft>
                <ns1:spcPts val="600"/>
              </ns1:spcAft>
            </ns1:pPr>
            <ns1:r>
              <ns1:rPr sz="1518" b="0" i="0">
                <ns1:solidFill>
                  <ns1:srgbClr val="2A3B4A"/>
                </ns1:solidFill>
                <ns1:latin typeface="Calibri"/>
              </ns1:rPr>
              <ns1:t>A prediction alone does not show that a model is useful. Check the data, errors and limits of the intended use.</ns1:t>
            </ns1:r>
          </ns1:p>
        </ns0:txBody>
      </ns0:sp>
    </ns0:spTree>
  </ns0:cSld>
  <ns0:clrMapOvr>
    <ns1:masterClrMapping/>
  </ns0:clrMapOvr>
</ns0: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shaft torque to within a few N·m.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value do you want to predict? Which recorded data can help? Is an established equation suitable? Resolve these questions before choosing a model.</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shaft torque in N·m. Classification: failure or no failure; or fault type: bearing, winding, imbalance.</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model may memorise its training examples. Evaluate it on separate examples to check whether it predicts new cases well.</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2.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(1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Artificial intelligence</ns1:t>
            </ns1:r>
          </ns1:p>
        </ns0:txBody>
      </ns0:sp>
      <ns0:sp>
        <ns0:nvSpPr>
          <ns0:cNvPr id="5" name="TextBox 4"/>
          <ns0:cNvSpPr txBox="1"/>
          <ns0:nvPr/>
        </ns0:nvSpPr>
        <ns0:spPr>
          <ns1:xfrm>
            <ns1:off x="685800" y="2278309"/>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Any machine doing something we would call intelligent. A goal that many techniques aim at.</ns1:t>
            </ns1:r>
          </ns1:p>
        </ns0:txBody>
      </ns0:sp>
      <ns0:sp>
        <ns0:nvSpPr>
          <ns0:cNvPr id="6" name="TextBox 5"/>
          <ns0:cNvSpPr txBox="1"/>
          <ns0:nvPr/>
        </ns0:nvSpPr>
        <ns0:spPr>
          <ns1:xfrm>
            <ns1:off x="685800" y="308945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Machine learning</ns1:t>
            </ns1:r>
          </ns1:p>
        </ns0:txBody>
      </ns0:sp>
      <ns0:sp>
        <ns0:nvSpPr>
          <ns0:cNvPr id="7" name="TextBox 6"/>
          <ns0:cNvSpPr txBox="1"/>
          <ns0:nvPr/>
        </ns0:nvSpPr>
        <ns0:spPr>
          <ns1:xfrm>
            <ns1:off x="685800" y="345666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Inferring a rule from examples instead of writing it yourself.</ns1:t>
            </ns1:r>
          </ns1:p>
        </ns0:txBody>
      </ns0:sp>
      <ns0:sp>
        <ns0:nvSpPr>
          <ns0:cNvPr id="8" name="TextBox 7"/>
          <ns0:cNvSpPr txBox="1"/>
          <ns0:nvPr/>
        </ns0:nvSpPr>
        <ns0:spPr>
          <ns1:xfrm>
            <ns1:off x="685800" y="426781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Deep learning</ns1:t>
            </ns1:r>
          </ns1:p>
        </ns0:txBody>
      </ns0:sp>
      <ns0:sp>
        <ns0:nvSpPr>
          <ns0:cNvPr id="9" name="TextBox 8"/>
          <ns0:cNvSpPr txBox="1"/>
          <ns0:nvPr/>
        </ns0:nvSpPr>
        <ns0:spPr>
          <ns1:xfrm>
            <ns1:off x="685800" y="463502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Machine learning using large neural networks. Semester 2.</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 science</ns1:t>
            </ns1:r>
          </ns1:p>
        </ns0:txBody>
      </ns0:sp>
      <ns0:sp>
        <ns0:nvSpPr>
          <ns0:cNvPr id="11" name="TextBox 10"/>
          <ns0:cNvSpPr txBox="1"/>
          <ns0:nvPr/>
        </ns0:nvSpPr>
        <ns0:spPr>
          <ns1:xfrm>
            <ns1:off x="685800" y="5517542"/>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craft of getting a trustworthy answer out of data — finding, cleaning, questioning, analysing, presenting.</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Dataset</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collection of data. In this lesson we use tables of observations.</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Example (or row, or observation)</ns1:t>
            </ns1:r>
          </ns1:p>
        </ns0:txBody>
      </ns0:sp>
      <ns0:sp>
        <ns0:nvSpPr>
          <ns0:cNvPr id="15" name="TextBox 14"/>
          <ns0:cNvSpPr txBox="1"/>
          <ns0:nvPr/>
        </ns0:nvSpPr>
        <ns0:spPr>
          <ns1:xfrm>
            <ns1:off x="6324447" y="3160824"/>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One recorded case. A supervised training example includes its observed target.</ns1:t>
            </ns1:r>
          </ns1:p>
        </ns0:txBody>
      </ns0:sp>
      <ns0:sp>
        <ns0:nvSpPr>
          <ns0:cNvPr id="16" name="TextBox 15"/>
          <ns0:cNvSpPr txBox="1"/>
          <ns0:nvPr/>
        </ns0:nvSpPr>
        <ns0:spPr>
          <ns1:xfrm>
            <ns1:off x="6324447" y="3676124"/>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Feature</ns1:t>
            </ns1:r>
          </ns1:p>
        </ns0:txBody>
      </ns0:sp>
      <ns0:sp>
        <ns0:nvSpPr>
          <ns0:cNvPr id="17" name="TextBox 16"/>
          <ns0:cNvSpPr txBox="1"/>
          <ns0:nvPr/>
        </ns0:nvSpPr>
        <ns0:spPr>
          <ns1:xfrm>
            <ns1:off x="6324447" y="4043338"/>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A column known before the outcome. An input to the prediction.</ns1:t>
            </ns1:r>
          </ns1:p>
        </ns0:txBody>
      </ns0:sp>
      <ns0:sp>
        <ns0:nvSpPr>
          <ns0:cNvPr id="18" name="TextBox 17"/>
          <ns0:cNvSpPr txBox="1"/>
          <ns0:nvPr/>
        </ns0:nvSpPr>
        <ns0:spPr>
          <ns1:xfrm>
            <ns1:off x="6324447" y="4854483"/>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Target (or label)</ns1:t>
            </ns1:r>
          </ns1:p>
        </ns0:txBody>
      </ns0:sp>
      <ns0:sp>
        <ns0:nvSpPr>
          <ns0:cNvPr id="19" name="TextBox 18"/>
          <ns0:cNvSpPr txBox="1"/>
          <ns0:nvPr/>
        </ns0:nvSpPr>
        <ns0:spPr>
          <ns1:xfrm>
            <ns1:off x="6324447" y="5221697"/>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column you are trying to predict.</ns1:t>
            </ns1:r>
          </ns1:p>
        </ns0:txBody>
      </ns0:sp>
    </ns0:spTree>
  </ns0:cSld>
  <ns0:clrMapOvr>
    <ns1:masterClrMapping/>
  </ns0:clrMapOvr>
</ns0:sld>
</file>

<file path=ppt/slides/slide53.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GLOSSARY</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Every word we used today (2 of 3)</ns1:t>
            </ns1:r>
          </ns1:p>
        </ns0:txBody>
      </ns0:sp>
      <ns0:sp>
        <ns0:nvSpPr>
          <ns0:cNvPr id="4" name="TextBox 3"/>
          <ns0:cNvSpPr txBox="1"/>
          <ns0:nvPr/>
        </ns0:nvSpPr>
        <ns0:spPr>
          <ns1:xfrm>
            <ns1:off x="685800"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Regression</ns1:t>
            </ns1:r>
          </ns1:p>
        </ns0:txBody>
      </ns0:sp>
      <ns0:sp>
        <ns0:nvSpPr>
          <ns0:cNvPr id="5" name="TextBox 4"/>
          <ns0:cNvSpPr txBox="1"/>
          <ns0:nvPr/>
        </ns0:nvSpPr>
        <ns0:spPr>
          <ns1:xfrm>
            <ns1:off x="685800"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a number on a continuous scale.</ns1:t>
            </ns1:r>
          </ns1:p>
        </ns0:txBody>
      </ns0:sp>
      <ns0:sp>
        <ns0:nvSpPr>
          <ns0:cNvPr id="6" name="TextBox 5"/>
          <ns0:cNvSpPr txBox="1"/>
          <ns0:nvPr/>
        </ns0:nvSpPr>
        <ns0:spPr>
          <ns1:xfrm>
            <ns1:off x="685800"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Classification</ns1:t>
            </ns1:r>
          </ns1:p>
        </ns0:txBody>
      </ns0:sp>
      <ns0:sp>
        <ns0:nvSpPr>
          <ns0:cNvPr id="7" name="TextBox 6"/>
          <ns0:cNvSpPr txBox="1"/>
          <ns0:nvPr/>
        </ns0:nvSpPr>
        <ns0:spPr>
          <ns1:xfrm>
            <ns1:off x="685800"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Predicting which of a small set of categories a case belongs to.</ns1:t>
            </ns1:r>
          </ns1:p>
        </ns0:txBody>
      </ns0:sp>
      <ns0:sp>
        <ns0:nvSpPr>
          <ns0:cNvPr id="8" name="TextBox 7"/>
          <ns0:cNvSpPr txBox="1"/>
          <ns0:nvPr/>
        </ns0:nvSpPr>
        <ns0:spPr>
          <ns1:xfrm>
            <ns1:off x="685800"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Binary classification</ns1:t>
            </ns1:r>
          </ns1:p>
        </ns0:txBody>
      </ns0:sp>
      <ns0:sp>
        <ns0:nvSpPr>
          <ns0:cNvPr id="9" name="TextBox 8"/>
          <ns0:cNvSpPr txBox="1"/>
          <ns0:nvPr/>
        </ns0:nvSpPr>
        <ns0:spPr>
          <ns1:xfrm>
            <ns1:off x="685800"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exactly two categories, such as pass or fail.</ns1:t>
            </ns1:r>
          </ns1:p>
        </ns0:txBody>
      </ns0:sp>
      <ns0:sp>
        <ns0:nvSpPr>
          <ns0:cNvPr id="10" name="TextBox 9"/>
          <ns0:cNvSpPr txBox="1"/>
          <ns0:nvPr/>
        </ns0:nvSpPr>
        <ns0:spPr>
          <ns1:xfrm>
            <ns1:off x="685800" y="5150328"/>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Multi-class classification</ns1:t>
            </ns1:r>
          </ns1:p>
        </ns0:txBody>
      </ns0:sp>
      <ns0:sp>
        <ns0:nvSpPr>
          <ns0:cNvPr id="11" name="TextBox 10"/>
          <ns0:cNvSpPr txBox="1"/>
          <ns0:nvPr/>
        </ns0:nvSpPr>
        <ns0:spPr>
          <ns1:xfrm>
            <ns1:off x="685800" y="5517542"/>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Classification with three or more categories.</ns1:t>
            </ns1:r>
          </ns1:p>
        </ns0:txBody>
      </ns0:sp>
      <ns0:sp>
        <ns0:nvSpPr>
          <ns0:cNvPr id="12" name="TextBox 11"/>
          <ns0:cNvSpPr txBox="1"/>
          <ns0:nvPr/>
        </ns0:nvSpPr>
        <ns0:spPr>
          <ns1:xfrm>
            <ns1:off x="6324447" y="1911095"/>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Prediction</ns1:t>
            </ns1:r>
          </ns1:p>
        </ns0:txBody>
      </ns0:sp>
      <ns0:sp>
        <ns0:nvSpPr>
          <ns0:cNvPr id="13" name="TextBox 12"/>
          <ns0:cNvSpPr txBox="1"/>
          <ns0:nvPr/>
        </ns0:nvSpPr>
        <ns0:spPr>
          <ns1:xfrm>
            <ns1:off x="6324447" y="2278309"/>
            <ns1:ext cx="5181447" cy="387284"/>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The model's answer for a case.</ns1:t>
            </ns1:r>
          </ns1:p>
        </ns0:txBody>
      </ns0:sp>
      <ns0:sp>
        <ns0:nvSpPr>
          <ns0:cNvPr id="14" name="TextBox 13"/>
          <ns0:cNvSpPr txBox="1"/>
          <ns0:nvPr/>
        </ns0:nvSpPr>
        <ns0:spPr>
          <ns1:xfrm>
            <ns1:off x="6324447" y="2793610"/>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Error</ns1:t>
            </ns1:r>
          </ns1:p>
        </ns0:txBody>
      </ns0:sp>
      <ns0:sp>
        <ns0:nvSpPr>
          <ns0:cNvPr id="15" name="TextBox 14"/>
          <ns0:cNvSpPr txBox="1"/>
          <ns0:nvPr/>
        </ns0:nvSpPr>
        <ns0:spPr>
          <ns1:xfrm>
            <ns1:off x="6324447" y="3160824"/>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Prediction error is the difference between the predicted and measured values.</ns1:t>
            </ns1:r>
          </ns1:p>
        </ns0:txBody>
      </ns0:sp>
      <ns0:sp>
        <ns0:nvSpPr>
          <ns0:cNvPr id="16" name="TextBox 15"/>
          <ns0:cNvSpPr txBox="1"/>
          <ns0:nvPr/>
        </ns0:nvSpPr>
        <ns0:spPr>
          <ns1:xfrm>
            <ns1:off x="6324447" y="3971969"/>
            <ns1:ext cx="5181447" cy="367213"/>
          </ns1:xfrm>
          <ns1:prstGeom prst="rect">
            <ns1:avLst/>
          </ns1:prstGeom>
          <ns1:noFill/>
        </ns0:spPr>
        <ns0:txBody>
          <ns1:bodyPr wrap="square" lIns="0" rIns="0" tIns="0" bIns="0" anchor="t">
            <ns1:spAutoFit/>
          </ns1:bodyPr>
          <ns1:lstStyle/>
          <ns1:p>
            <ns1:pPr algn="l">
              <ns1:lnSpc>
                <ns1:spcPct val="115000"/>
              </ns1:lnSpc>
              <ns1:spcAft>
                <ns1:spcPts val="600"/>
              </ns1:spcAft>
            </ns1:pPr>
            <ns1:r>
              <ns1:rPr sz="1716" b="1" i="0">
                <ns1:solidFill>
                  <ns1:srgbClr val="E4572E"/>
                </ns1:solidFill>
                <ns1:latin typeface="Calibri"/>
              </ns1:rPr>
              <ns1:t>Unseen data</ns1:t>
            </ns1:r>
          </ns1:p>
        </ns0:txBody>
      </ns0:sp>
      <ns0:sp>
        <ns0:nvSpPr>
          <ns0:cNvPr id="17" name="TextBox 16"/>
          <ns0:cNvSpPr txBox="1"/>
          <ns0:nvPr/>
        </ns0:nvSpPr>
        <ns0:spPr>
          <ns1:xfrm>
            <ns1:off x="6324447" y="4339183"/>
            <ns1:ext cx="5181447" cy="683129"/>
          </ns1:xfrm>
          <ns1:prstGeom prst="rect">
            <ns1:avLst/>
          </ns1:prstGeom>
          <ns1:noFill/>
        </ns0:spPr>
        <ns0:txBody>
          <ns1:bodyPr wrap="square" lIns="0" rIns="0" tIns="0" bIns="0" anchor="t">
            <ns1:spAutoFit/>
          </ns1:bodyPr>
          <ns1:lstStyle/>
          <ns1:p>
            <ns1:pPr algn="l">
              <ns1:lnSpc>
                <ns1:spcPct val="118000"/>
              </ns1:lnSpc>
              <ns1:spcAft>
                <ns1:spcPts val="600"/>
              </ns1:spcAft>
            </ns1:pPr>
            <ns1:r>
              <ns1:rPr sz="1584" b="0" i="0">
                <ns1:solidFill>
                  <ns1:srgbClr val="1C3144"/>
                </ns1:solidFill>
                <ns1:latin typeface="Calibri"/>
              </ns1:rPr>
              <ns1:t>Cases not used to fit the model. They must also be relevant and free from leakage.</ns1:t>
            </ns1:r>
          </ns1:p>
        </ns0:txBody>
      </ns0:sp>
    </ns0:spTree>
  </ns0:cSld>
  <ns0:clrMapOvr>
    <ns1:masterClrMapping/>
  </ns0:clrMapOvr>
</ns0: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5.xml><?xml version="1.0" encoding="utf-8"?>
<ns0:sld xmlns:ns0="http://schemas.openxmlformats.org/presentationml/2006/main" xmlns:ns1="http://schemas.openxmlformats.org/drawingml/2006/main">
  <ns0:cSld>
    <ns0:spTree>
      <ns0:nvGrpSpPr>
        <ns0:cNvPr id="1" name=""/>
        <ns0:cNvGrpSpPr/>
        <ns0:nvPr/>
      </ns0:nvGrpSpPr>
      <ns0:grpSpPr/>
      <ns0:sp>
        <ns0:nvSpPr>
          <ns0:cNvPr id="2" name="TextBox 1"/>
          <ns0:cNvSpPr txBox="1"/>
          <ns0:nvPr/>
        </ns0:nvSpPr>
        <ns0:spPr>
          <ns1:xfrm>
            <ns1:off x="685800" y="566928"/>
            <ns1:ext cx="10820095" cy="292608"/>
          </ns1:xfrm>
          <ns1:prstGeom prst="rect">
            <ns1:avLst/>
          </ns1:prstGeom>
          <ns1:noFill/>
        </ns0:spPr>
        <ns0:txBody>
          <ns1:bodyPr wrap="square" lIns="0" rIns="0" tIns="0" bIns="0" anchor="t">
            <ns1:spAutoFit/>
          </ns1:bodyPr>
          <ns1:lstStyle/>
          <ns1:p>
            <ns1:pPr algn="l">
              <ns1:spcAft>
                <ns1:spcPts val="600"/>
              </ns1:spcAft>
            </ns1:pPr>
            <ns1:r>
              <ns1:rPr sz="1584" b="1" i="0">
                <ns1:solidFill>
                  <ns1:srgbClr val="E4572E"/>
                </ns1:solidFill>
                <ns1:latin typeface="Calibri"/>
              </ns1:rPr>
              <ns1:t>CHEAT SHEET — KEEP THIS SLIDE</ns1:t>
            </ns1:r>
          </ns1:p>
        </ns0:txBody>
      </ns0:sp>
      <ns0:sp>
        <ns0:nvSpPr>
          <ns0:cNvPr id="3" name="TextBox 2"/>
          <ns0:cNvSpPr txBox="1"/>
          <ns0:nvPr/>
        </ns0:nvSpPr>
        <ns0:spPr>
          <ns1:xfrm>
            <ns1:off x="685800" y="950976"/>
            <ns1:ext cx="10820095" cy="777240"/>
          </ns1:xfrm>
          <ns1:prstGeom prst="rect">
            <ns1:avLst/>
          </ns1:prstGeom>
          <ns1:noFill/>
        </ns0:spPr>
        <ns0:txBody>
          <ns1:bodyPr wrap="square" lIns="0" rIns="0" tIns="0" bIns="0" anchor="t">
            <ns1:spAutoFit/>
          </ns1:bodyPr>
          <ns1:lstStyle/>
          <ns1:p>
            <ns1:pPr algn="l">
              <ns1:lnSpc>
                <ns1:spcPct val="100000"/>
              </ns1:lnSpc>
              <ns1:spcAft>
                <ns1:spcPts val="600"/>
              </ns1:spcAft>
            </ns1:pPr>
            <ns1:r>
              <ns1:rPr sz="3200" b="1" i="0">
                <ns1:solidFill>
                  <ns1:srgbClr val="1C3144"/>
                </ns1:solidFill>
                <ns1:latin typeface="Cambria"/>
              </ns1:rPr>
              <ns1:t>Eight questions to ask about any data problem</ns1:t>
            </ns1:r>
          </ns1:p>
        </ns0:txBody>
      </ns0:sp>
      <ns0:sp>
        <ns0:nvSpPr>
          <ns0:cNvPr id="4" name="TextBox 3"/>
          <ns0:cNvSpPr txBox="1"/>
          <ns0:nvPr/>
        </ns0:nvSpPr>
        <ns0:spPr>
          <ns1:xfrm>
            <ns1:off x="685800"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1 · What exactly am I predicting?</ns1:t>
            </ns1:r>
          </ns1:p>
        </ns0:txBody>
      </ns0:sp>
      <ns0:sp>
        <ns0:nvSpPr>
          <ns0:cNvPr id="5" name="TextBox 4"/>
          <ns0:cNvSpPr txBox="1"/>
          <ns0:nvPr/>
        </ns0:nvSpPr>
        <ns0:spPr>
          <ns1:xfrm>
            <ns1:off x="685800"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Name the target column and its unit. A descriptive analysis question may not need a prediction target.</ns1:t>
            </ns1:r>
          </ns1:p>
        </ns0:txBody>
      </ns0:sp>
      <ns0:sp>
        <ns0:nvSpPr>
          <ns0:cNvPr id="6" name="TextBox 5"/>
          <ns0:cNvSpPr txBox="1"/>
          <ns0:nvPr/>
        </ns0:nvSpPr>
        <ns0:spPr>
          <ns1:xfrm>
            <ns1:off x="685800"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2 · Is it a number or a category?</ns1:t>
            </ns1:r>
          </ns1:p>
        </ns0:txBody>
      </ns0:sp>
      <ns0:sp>
        <ns0:nvSpPr>
          <ns0:cNvPr id="7" name="TextBox 6"/>
          <ns0:cNvSpPr txBox="1"/>
          <ns0:nvPr/>
        </ns0:nvSpPr>
        <ns0:spPr>
          <ns1:xfrm>
            <ns1:off x="685800"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Does the answer estimate a quantity or choose a category? Numeric class codes are still categories.</ns1:t>
            </ns1:r>
          </ns1:p>
        </ns0:txBody>
      </ns0:sp>
      <ns0:sp>
        <ns0:nvSpPr>
          <ns0:cNvPr id="8" name="TextBox 7"/>
          <ns0:cNvSpPr txBox="1"/>
          <ns0:nvPr/>
        </ns0:nvSpPr>
        <ns0:spPr>
          <ns1:xfrm>
            <ns1:off x="685800"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3 · What do I know beforehand?</ns1:t>
            </ns1:r>
          </ns1:p>
        </ns0:txBody>
      </ns0:sp>
      <ns0:sp>
        <ns0:nvSpPr>
          <ns0:cNvPr id="9" name="TextBox 8"/>
          <ns0:cNvSpPr txBox="1"/>
          <ns0:nvPr/>
        </ns0:nvSpPr>
        <ns0:spPr>
          <ns1:xfrm>
            <ns1:off x="685800"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List the features. Check every one: would I really have this before the outcome?</ns1:t>
            </ns1:r>
          </ns1:p>
        </ns0:txBody>
      </ns0:sp>
      <ns0:sp>
        <ns0:nvSpPr>
          <ns0:cNvPr id="10" name="TextBox 9"/>
          <ns0:cNvSpPr txBox="1"/>
          <ns0:nvPr/>
        </ns0:nvSpPr>
        <ns0:spPr>
          <ns1:xfrm>
            <ns1:off x="685800"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4 · Where does the data come from?</ns1:t>
            </ns1:r>
          </ns1:p>
        </ns0:txBody>
      </ns0:sp>
      <ns0:sp>
        <ns0:nvSpPr>
          <ns0:cNvPr id="11" name="TextBox 10"/>
          <ns0:cNvSpPr txBox="1"/>
          <ns0:nvPr/>
        </ns0:nvSpPr>
        <ns0:spPr>
          <ns1:xfrm>
            <ns1:off x="685800"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Who measured it, how often, over what period, and is it actually kept anywhere?</ns1:t>
            </ns1:r>
          </ns1:p>
        </ns0:txBody>
      </ns0:sp>
      <ns0:sp>
        <ns0:nvSpPr>
          <ns0:cNvPr id="12" name="TextBox 11"/>
          <ns0:cNvSpPr txBox="1"/>
          <ns0:nvPr/>
        </ns0:nvSpPr>
        <ns0:spPr>
          <ns1:xfrm>
            <ns1:off x="6347307" y="1911095"/>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5 · Would a rule or an equation do this better?</ns1:t>
            </ns1:r>
          </ns1:p>
        </ns0:txBody>
      </ns0:sp>
      <ns0:sp>
        <ns0:nvSpPr>
          <ns0:cNvPr id="13" name="TextBox 12"/>
          <ns0:cNvSpPr txBox="1"/>
          <ns0:nvPr/>
        </ns0:nvSpPr>
        <ns0:spPr>
          <ns1:xfrm>
            <ns1:off x="6347307" y="2298945"/>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a code of practice or a validated formula answers it, use that instead.</ns1:t>
            </ns1:r>
          </ns1:p>
        </ns0:txBody>
      </ns0:sp>
      <ns0:sp>
        <ns0:nvSpPr>
          <ns0:cNvPr id="14" name="TextBox 13"/>
          <ns0:cNvSpPr txBox="1"/>
          <ns0:nvPr/>
        </ns0:nvSpPr>
        <ns0:spPr>
          <ns1:xfrm>
            <ns1:off x="6347307" y="3126462"/>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6 · How will I know if I am wrong?</ns1:t>
            </ns1:r>
          </ns1:p>
        </ns0:txBody>
      </ns0:sp>
      <ns0:sp>
        <ns0:nvSpPr>
          <ns0:cNvPr id="15" name="TextBox 14"/>
          <ns0:cNvSpPr txBox="1"/>
          <ns0:nvPr/>
        </ns0:nvSpPr>
        <ns0:spPr>
          <ns1:xfrm>
            <ns1:off x="6347307" y="3514311"/>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You need cases the model has never seen. Decide now how you will hold some back.</ns1:t>
            </ns1:r>
          </ns1:p>
        </ns0:txBody>
      </ns0:sp>
      <ns0:sp>
        <ns0:nvSpPr>
          <ns0:cNvPr id="16" name="TextBox 15"/>
          <ns0:cNvSpPr txBox="1"/>
          <ns0:nvPr/>
        </ns0:nvSpPr>
        <ns0:spPr>
          <ns1:xfrm>
            <ns1:off x="6347307" y="4341828"/>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7 · What does being wrong cost?</ns1:t>
            </ns1:r>
          </ns1:p>
        </ns0:txBody>
      </ns0:sp>
      <ns0:sp>
        <ns0:nvSpPr>
          <ns0:cNvPr id="17" name="TextBox 16"/>
          <ns0:cNvSpPr txBox="1"/>
          <ns0:nvPr/>
        </ns0:nvSpPr>
        <ns0:spPr>
          <ns1:xfrm>
            <ns1:off x="6347307" y="4729677"/>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A false alarm and a missed failure are not equally bad. That asymmetry decides which model you pick.</ns1:t>
            </ns1:r>
          </ns1:p>
        </ns0:txBody>
      </ns0:sp>
      <ns0:sp>
        <ns0:nvSpPr>
          <ns0:cNvPr id="18" name="TextBox 17"/>
          <ns0:cNvSpPr txBox="1"/>
          <ns0:nvPr/>
        </ns0:nvSpPr>
        <ns0:spPr>
          <ns1:xfrm>
            <ns1:off x="6347307" y="5557194"/>
            <ns1:ext cx="5158587" cy="378705"/>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650" b="1" i="0">
                <ns1:solidFill>
                  <ns1:srgbClr val="E4572E"/>
                </ns1:solidFill>
                <ns1:latin typeface="Calibri"/>
              </ns1:rPr>
              <ns1:t>8 · Do today's conditions still resemble the data?</ns1:t>
            </ns1:r>
          </ns1:p>
        </ns0:txBody>
      </ns0:sp>
      <ns0:sp>
        <ns0:nvSpPr>
          <ns0:cNvPr id="19" name="TextBox 18"/>
          <ns0:cNvSpPr txBox="1"/>
          <ns0:nvPr/>
        </ns0:nvSpPr>
        <ns0:spPr>
          <ns1:xfrm>
            <ns1:off x="6347307" y="5945043"/>
            <ns1:ext cx="5158587" cy="598917"/>
          </ns1:xfrm>
          <ns1:prstGeom prst="rect">
            <ns1:avLst/>
          </ns1:prstGeom>
          <ns1:noFill/>
        </ns0:spPr>
        <ns0:txBody>
          <ns1:bodyPr wrap="square" lIns="0" rIns="0" tIns="0" bIns="0" anchor="t">
            <ns1:spAutoFit/>
          </ns1:bodyPr>
          <ns1:lstStyle/>
          <ns1:p>
            <ns1:pPr algn="l">
              <ns1:lnSpc>
                <ns1:spcPct val="124000"/>
              </ns1:lnSpc>
              <ns1:spcAft>
                <ns1:spcPts val="600"/>
              </ns1:spcAft>
            </ns1:pPr>
            <ns1:r>
              <ns1:rPr sz="1386" b="0" i="0">
                <ns1:solidFill>
                  <ns1:srgbClr val="334657"/>
                </ns1:solidFill>
                <ns1:latin typeface="Calibri"/>
              </ns1:rPr>
              <ns1:t>If the process, material or plant has changed, the model may be quietly obsolete.</ns1:t>
            </ns1:r>
          </ns1:p>
        </ns0:txBody>
      </ns0:sp>
    </ns0:spTree>
  </ns0:cSld>
  <ns0:clrMapOvr>
    <ns1:masterClrMapping/>
  </ns0:clrMapOvr>
</ns0:sld>
</file>

<file path=ppt/slides/slide56.xml><?xml version="1.0" encoding="utf-8"?>
<ns0:sld xmlns:ns0="http://schemas.openxmlformats.org/presentationml/2006/main" xmlns:ns1="http://schemas.openxmlformats.org/drawingml/2006/main" xmlns:ns2="http://schemas.openxmlformats.org/officeDocument/2006/relationships">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2A455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868680"/>
            <ns1:ext cx="10820095" cy="310896"/>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END-OF-SESSION QUIZ  ·  WEEK 1</ns1:t>
            </ns1:r>
          </ns1:p>
        </ns0:txBody>
      </ns0:sp>
      <ns0:sp>
        <ns0:nvSpPr>
          <ns0:cNvPr id="4" name="TextBox 3"/>
          <ns0:cNvSpPr txBox="1"/>
          <ns0:nvPr/>
        </ns0:nvSpPr>
        <ns0:spPr>
          <ns1:xfrm>
            <ns1:off x="685800" y="1325880"/>
            <ns1:ext cx="6766560" cy="1371600"/>
          </ns1:xfrm>
          <ns1:prstGeom prst="rect">
            <ns1:avLst/>
          </ns1:prstGeom>
          <ns1:noFill/>
        </ns0:spPr>
        <ns0:txBody>
          <ns1:bodyPr wrap="square" lIns="0" rIns="0" tIns="0" bIns="0" anchor="t">
            <ns1:spAutoFit/>
          </ns1:bodyPr>
          <ns1:lstStyle/>
          <ns1:p>
            <ns1:pPr algn="l">
              <ns1:lnSpc>
                <ns1:spcPct val="105000"/>
              </ns1:lnSpc>
              <ns1:spcAft>
                <ns1:spcPts val="600"/>
              </ns1:spcAft>
            </ns1:pPr>
            <ns1:r>
              <ns1:rPr sz="4000" b="1" i="0">
                <ns1:solidFill>
                  <ns1:srgbClr val="FFFFFF"/>
                </ns1:solidFill>
                <ns1:latin typeface="Cambria"/>
              </ns1:rPr>
              <ns1:t>Five questions,</ns1:t>
            </ns1:r>
          </ns1:p>
          <ns1:p>
            <ns1:pPr algn="l">
              <ns1:lnSpc>
                <ns1:spcPct val="105000"/>
              </ns1:lnSpc>
              <ns1:spcAft>
                <ns1:spcPts val="600"/>
              </ns1:spcAft>
            </ns1:pPr>
            <ns1:r>
              <ns1:rPr sz="4000" b="1" i="0">
                <ns1:solidFill>
                  <ns1:srgbClr val="FFFFFF"/>
                </ns1:solidFill>
                <ns1:latin typeface="Cambria"/>
              </ns1:rPr>
              <ns1:t>five minutes</ns1:t>
            </ns1:r>
          </ns1:p>
        </ns0:txBody>
      </ns0:sp>
      <ns0:sp>
        <ns0:nvSpPr>
          <ns0:cNvPr id="5" name="TextBox 4"/>
          <ns0:cNvSpPr txBox="1"/>
          <ns0:nvPr/>
        </ns0:nvSpPr>
        <ns0:spPr>
          <ns1:xfrm>
            <ns1:off x="685800" y="2880360"/>
            <ns1:ext cx="6766560" cy="816005"/>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1923" b="0" i="0">
                <ns1:solidFill>
                  <ns1:srgbClr val="B8C9D8"/>
                </ns1:solidFill>
                <ns1:latin typeface="Calibri"/>
              </ns1:rPr>
              <ns1:t>Features and target read off a table, regression told from classification, and one of the four limits applied to a case.</ns1:t>
            </ns1:r>
          </ns1:p>
        </ns0:txBody>
      </ns0:sp>
      <ns0:sp>
        <ns0:nvSpPr>
          <ns0:cNvPr id="6" name="Oval 5"/>
          <ns0:cNvSpPr/>
          <ns0:nvPr/>
        </ns0:nvSpPr>
        <ns0:spPr>
          <ns1:xfrm>
            <ns1:off x="704088" y="402554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7" name="TextBox 6"/>
          <ns0:cNvSpPr txBox="1"/>
          <ns0:nvPr/>
        </ns0:nvSpPr>
        <ns0:spPr>
          <ns1:xfrm>
            <ns1:off x="960120" y="3952397"/>
            <ns1:ext cx="6492240" cy="729027"/>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Enter your own Student Registration Number exactly as recorded.</ns1:t>
            </ns1:r>
          </ns1:p>
        </ns0:txBody>
      </ns0:sp>
      <ns0:sp>
        <ns0:nvSpPr>
          <ns0:cNvPr id="8" name="Oval 7"/>
          <ns0:cNvSpPr/>
          <ns0:nvPr/>
        </ns0:nvSpPr>
        <ns0:spPr>
          <ns1:xfrm>
            <ns1:off x="704088" y="4818584"/>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9" name="TextBox 8"/>
          <ns0:cNvSpPr txBox="1"/>
          <ns0:nvPr/>
        </ns0:nvSpPr>
        <ns0:spPr>
          <ns1:xfrm>
            <ns1:off x="960120" y="4745432"/>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attempt, from the Google account you are signed in to.</ns1:t>
            </ns1:r>
          </ns1:p>
        </ns0:txBody>
      </ns0:sp>
      <ns0:sp>
        <ns0:nvSpPr>
          <ns0:cNvPr id="10" name="Oval 9"/>
          <ns0:cNvSpPr/>
          <ns0:nvPr/>
        </ns0:nvSpPr>
        <ns0:spPr>
          <ns1:xfrm>
            <ns1:off x="704088" y="5269966"/>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1" name="TextBox 10"/>
          <ns0:cNvSpPr txBox="1"/>
          <ns0:nvPr/>
        </ns0:nvSpPr>
        <ns0:spPr>
          <ns1:xfrm>
            <ns1:off x="960120" y="5196814"/>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Open for 24 hours from lecturer activation, then it closes.</ns1:t>
            </ns1:r>
          </ns1:p>
        </ns0:txBody>
      </ns0:sp>
      <ns0:sp>
        <ns0:nvSpPr>
          <ns0:cNvPr id="12" name="Oval 11"/>
          <ns0:cNvSpPr/>
          <ns0:nvPr/>
        </ns0:nvSpPr>
        <ns0:spPr>
          <ns1:xfrm>
            <ns1:off x="704088" y="5721348"/>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3" name="TextBox 12"/>
          <ns0:cNvSpPr txBox="1"/>
          <ns0:nvPr/>
        </ns0:nvSpPr>
        <ns0:spPr>
          <ns1:xfrm>
            <ns1:off x="960120" y="5648196"/>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One per cent each. Tap View score and read the feedback.</ns1:t>
            </ns1:r>
          </ns1:p>
        </ns0:txBody>
      </ns0:sp>
      <ns0:sp>
        <ns0:nvSpPr>
          <ns0:cNvPr id="14" name="Oval 13"/>
          <ns0:cNvSpPr/>
          <ns0:nvPr/>
        </ns0:nvSpPr>
        <ns0:spPr>
          <ns1:xfrm>
            <ns1:off x="704088" y="6172729"/>
            <ns1:ext cx="109728" cy="109728"/>
          </ns1:xfrm>
          <ns1:prstGeom prst="ellipse">
            <ns1:avLst/>
          </ns1:prstGeom>
          <ns1:solidFill>
            <ns1:srgbClr val="E4572E"/>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15" name="TextBox 14"/>
          <ns0:cNvSpPr txBox="1"/>
          <ns0:nvPr/>
        </ns0:nvSpPr>
        <ns0:spPr>
          <ns1:xfrm>
            <ns1:off x="960120" y="6099577"/>
            <ns1:ext cx="6492240" cy="387373"/>
          </ns1:xfrm>
          <ns1:prstGeom prst="rect">
            <ns1:avLst/>
          </ns1:prstGeom>
          <ns1:noFill/>
        </ns0:spPr>
        <ns0:txBody>
          <ns1:bodyPr wrap="square" lIns="0" rIns="0" tIns="0" bIns="0" anchor="t">
            <ns1:spAutoFit/>
          </ns1:bodyPr>
          <ns1:lstStyle/>
          <ns1:p>
            <ns1:pPr algn="l">
              <ns1:lnSpc>
                <ns1:spcPct val="122000"/>
              </ns1:lnSpc>
              <ns1:spcAft>
                <ns1:spcPts val="600"/>
              </ns1:spcAft>
            </ns1:pPr>
            <ns1:r>
              <ns1:rPr sz="1769" b="0" i="0">
                <ns1:solidFill>
                  <ns1:srgbClr val="A8BCCE"/>
                </ns1:solidFill>
                <ns1:latin typeface="Calibri"/>
              </ns1:rPr>
              <ns1:t>Quiz category: 10%. Best ten of twelve count.</ns1:t>
            </ns1:r>
          </ns1:p>
        </ns0:txBody>
      </ns0:sp>
      <ns0:sp>
        <ns0:nvSpPr>
          <ns0:cNvPr id="16" name="Rectangle 15"/>
          <ns0:cNvSpPr/>
          <ns0:nvPr/>
        </ns0:nvSpPr>
        <ns0:spPr>
          <ns1:xfrm>
            <ns1:off x="8716975" y="1783080"/>
            <ns1:ext cx="2788920" cy="2788920"/>
          </ns1:xfrm>
          <ns1:prstGeom prst="rect">
            <ns1:avLst/>
          </ns1:prstGeom>
          <ns1:solidFill>
            <ns1:srgbClr val="FFFFFF"/>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pic>
        <ns0:nvPicPr>
          <ns0:cNvPr id="17" name="Picture 16" descr="quiz_CML3111_W01.png"/>
          <ns0:cNvPicPr>
            <ns1:picLocks noChangeAspect="1"/>
          </ns0:cNvPicPr>
          <ns0:nvPr/>
        </ns0:nvPicPr>
        <ns0:blipFill>
          <ns1:blip ns2:embed="rId2"/>
          <ns1:stretch>
            <ns1:fillRect/>
          </ns1:stretch>
        </ns0:blipFill>
        <ns0:spPr>
          <ns1:xfrm>
            <ns1:off x="8826703" y="1892807"/>
            <ns1:ext cx="2569463" cy="2569463"/>
          </ns1:xfrm>
          <ns1:prstGeom prst="rect">
            <ns1:avLst/>
          </ns1:prstGeom>
        </ns0:spPr>
      </ns0:pic>
    </ns0:spTree>
  </ns0:cSld>
  <ns0:clrMapOvr>
    <ns1:masterClrMapping/>
  </ns0:clrMapOvr>
</ns0:sld>
</file>

<file path=ppt/slides/slide57.xml><?xml version="1.0" encoding="utf-8"?>
<ns0:sld xmlns:ns0="http://schemas.openxmlformats.org/presentationml/2006/main" xmlns:ns1="http://schemas.openxmlformats.org/drawingml/2006/main">
  <ns0:cSld>
    <ns0:spTree>
      <ns0:nvGrpSpPr>
        <ns0:cNvPr id="1" name=""/>
        <ns0:cNvGrpSpPr/>
        <ns0:nvPr/>
      </ns0:nvGrpSpPr>
      <ns0:grpSpPr/>
      <ns0:sp>
        <ns0:nvSpPr>
          <ns0:cNvPr id="2" name="Rectangle 1"/>
          <ns0:cNvSpPr/>
          <ns0:nvPr/>
        </ns0:nvSpPr>
        <ns0:spPr>
          <ns1:xfrm>
            <ns1:off x="0" y="0"/>
            <ns1:ext cx="12191695" cy="6858000"/>
          </ns1:xfrm>
          <ns1:prstGeom prst="rect">
            <ns1:avLst/>
          </ns1:prstGeom>
          <ns1:solidFill>
            <ns1:srgbClr val="1C3144"/>
          </ns1:solidFill>
          <ns1:ln>
            <ns1:noFill/>
          </ns1:ln>
          <ns1:effectLst/>
        </ns0:spPr>
        <ns0:style>
          <ns1:lnRef idx="1">
            <ns1:schemeClr val="accent1"/>
          </ns1:lnRef>
          <ns1:fillRef idx="3">
            <ns1:schemeClr val="accent1"/>
          </ns1:fillRef>
          <ns1:effectRef idx="2">
            <ns1:schemeClr val="accent1"/>
          </ns1:effectRef>
          <ns1:fontRef idx="minor">
            <ns1:schemeClr val="lt1"/>
          </ns1:fontRef>
        </ns0:style>
        <ns0:txBody>
          <ns1:bodyPr rtlCol="0" anchor="ctr"/>
          <ns1:lstStyle/>
          <ns1:p>
            <ns1:pPr algn="ctr"/>
          </ns1:p>
        </ns0:txBody>
      </ns0:sp>
      <ns0:sp>
        <ns0:nvSpPr>
          <ns0:cNvPr id="3" name="TextBox 2"/>
          <ns0:cNvSpPr txBox="1"/>
          <ns0:nvPr/>
        </ns0:nvSpPr>
        <ns0:spPr>
          <ns1:xfrm>
            <ns1:off x="685800" y="1371600"/>
            <ns1:ext cx="10820095" cy="365760"/>
          </ns1:xfrm>
          <ns1:prstGeom prst="rect">
            <ns1:avLst/>
          </ns1:prstGeom>
          <ns1:noFill/>
        </ns0:spPr>
        <ns0:txBody>
          <ns1:bodyPr wrap="square" lIns="0" rIns="0" tIns="0" bIns="0" anchor="t">
            <ns1:spAutoFit/>
          </ns1:bodyPr>
          <ns1:lstStyle/>
          <ns1:p>
            <ns1:pPr algn="l">
              <ns1:spcAft>
                <ns1:spcPts val="600"/>
              </ns1:spcAft>
            </ns1:pPr>
            <ns1:r>
              <ns1:rPr sz="1716" b="1" i="0">
                <ns1:solidFill>
                  <ns1:srgbClr val="E4572E"/>
                </ns1:solidFill>
                <ns1:latin typeface="Calibri"/>
              </ns1:rPr>
              <ns1:t>THE ONE THING TO REMEMBER</ns1:t>
            </ns1:r>
          </ns1:p>
        </ns0:txBody>
      </ns0:sp>
      <ns0:sp>
        <ns0:nvSpPr>
          <ns0:cNvPr id="4" name="TextBox 3"/>
          <ns0:cNvSpPr txBox="1"/>
          <ns0:nvPr/>
        </ns0:nvSpPr>
        <ns0:spPr>
          <ns1:xfrm>
            <ns1:off x="685800" y="1965960"/>
            <ns1:ext cx="10820095" cy="2194560"/>
          </ns1:xfrm>
          <ns1:prstGeom prst="rect">
            <ns1:avLst/>
          </ns1:prstGeom>
          <ns1:noFill/>
        </ns0:spPr>
        <ns0:txBody>
          <ns1:bodyPr wrap="square" lIns="0" rIns="0" tIns="0" bIns="0" anchor="t">
            <ns1:spAutoFit/>
          </ns1:bodyPr>
          <ns1:lstStyle/>
          <ns1:p>
            <ns1:pPr algn="l">
              <ns1:lnSpc>
                <ns1:spcPct val="110000"/>
              </ns1:lnSpc>
              <ns1:spcAft>
                <ns1:spcPts val="600"/>
              </ns1:spcAft>
            </ns1:pPr>
            <ns1:r>
              <ns1:rPr sz="3400" b="1" i="0">
                <ns1:solidFill>
                  <ns1:srgbClr val="FFFFFF"/>
                </ns1:solidFill>
                <ns1:latin typeface="Cambria"/>
              </ns1:rPr>
              <ns1:t>You have practised</ns1:t>
            </ns1:r>
          </ns1:p>
          <ns1:p>
            <ns1:pPr algn="l">
              <ns1:lnSpc>
                <ns1:spcPct val="110000"/>
              </ns1:lnSpc>
              <ns1:spcAft>
                <ns1:spcPts val="600"/>
              </ns1:spcAft>
            </ns1:pPr>
            <ns1:r>
              <ns1:rPr sz="3400" b="1" i="0">
                <ns1:solidFill>
                  <ns1:srgbClr val="FFFFFF"/>
                </ns1:solidFill>
                <ns1:latin typeface="Cambria"/>
              </ns1:rPr>
              <ns1:t>prediction reasoning.</ns1:t>
            </ns1:r>
          </ns1:p>
        </ns0:txBody>
      </ns0:sp>
      <ns0:sp>
        <ns0:nvSpPr>
          <ns0:cNvPr id="5" name="TextBox 4"/>
          <ns0:cNvSpPr txBox="1"/>
          <ns0:nvPr/>
        </ns0:nvSpPr>
        <ns0:spPr>
          <ns1:xfrm>
            <ns1:off x="685800" y="4434840"/>
            <ns1:ext cx="10820095" cy="1188720"/>
          </ns1:xfrm>
          <ns1:prstGeom prst="rect">
            <ns1:avLst/>
          </ns1:prstGeom>
          <ns1:noFill/>
        </ns0:spPr>
        <ns0:txBody>
          <ns1:bodyPr wrap="square" lIns="0" rIns="0" tIns="0" bIns="0" anchor="t">
            <ns1:spAutoFit/>
          </ns1:bodyPr>
          <ns1:lstStyle/>
          <ns1:p>
            <ns1:pPr algn="l">
              <ns1:lnSpc>
                <ns1:spcPct val="125000"/>
              </ns1:lnSpc>
              <ns1:spcAft>
                <ns1:spcPts val="600"/>
              </ns1:spcAft>
            </ns1:pPr>
            <ns1:r>
              <ns1:rPr sz="2021" b="0" i="0">
                <ns1:solidFill>
                  <ns1:srgbClr val="B8C9D8"/>
                </ns1:solidFill>
                <ns1:latin typeface="Calibri"/>
              </ns1:rPr>
              <ns1:t>Today you used twelve rows of data to make a prediction and measure its error. Later lessons use Python to repeat these calculations on larger datasets.</ns1:t>
            </ns1:r>
          </ns1:p>
        </ns0:txBody>
      </ns0:sp>
      <ns0:sp>
        <ns0:nvSpPr>
          <ns0:cNvPr id="6" name="TextBox 5"/>
          <ns0:cNvSpPr txBox="1"/>
          <ns0:nvPr/>
        </ns0:nvSpPr>
        <ns0:spPr>
          <ns1:xfrm>
            <ns1:off x="685800" y="5943600"/>
            <ns1:ext cx="10820095" cy="365760"/>
          </ns1:xfrm>
          <ns1:prstGeom prst="rect">
            <ns1:avLst/>
          </ns1:prstGeom>
          <ns1:noFill/>
        </ns0:spPr>
        <ns0:txBody>
          <ns1:bodyPr wrap="square" lIns="0" rIns="0" tIns="0" bIns="0" anchor="t">
            <ns1:spAutoFit/>
          </ns1:bodyPr>
          <ns1:lstStyle/>
          <ns1:p>
            <ns1:pPr algn="l">
              <ns1:spcAft>
                <ns1:spcPts val="600"/>
              </ns1:spcAft>
            </ns1:pPr>
            <ns1:r>
              <ns1:rPr sz="1452" b="0" i="0">
                <ns1:solidFill>
                  <ns1:srgbClr val="7E93A6"/>
                </ns1:solidFill>
                <ns1:latin typeface="Calibri"/>
              </ns1:rPr>
              <ns1:t>Next week: Colab notebooks and version control. Bring a laptop with a browser.</ns1:t>
            </ns1:r>
          </ns1:p>
        </ns0:txBody>
      </ns0:sp>
    </ns0:spTree>
  </ns0:cSld>
  <ns0:clrMapOvr>
    <ns1: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