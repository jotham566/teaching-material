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927f2bb1430454c" /><Relationship Type="http://schemas.openxmlformats.org/officeDocument/2006/relationships/extended-properties" Target="/docProps/app.xml" Id="R1de39a12ad8a40ff" /><Relationship Type="http://schemas.openxmlformats.org/officeDocument/2006/relationships/officeDocument" Target="/ppt/presentation.xml" Id="R339752dd0c684a99" /></Relationships>
</file>

<file path=ppt/presentation.xml><?xml version="1.0" encoding="utf-8"?>
<p:presentation xmlns:p="http://schemas.openxmlformats.org/presentationml/2006/main">
  <p:sldMasterIdLst>
    <p:sldMasterId xmlns:r="http://schemas.openxmlformats.org/officeDocument/2006/relationships" id="2147483648" r:id="R10d09864fa294b00"/>
  </p:sldMasterIdLst>
  <p:notesMasterIdLst>
    <p:notesMasterId xmlns:r="http://schemas.openxmlformats.org/officeDocument/2006/relationships" r:id="R0299612deb7f4243"/>
  </p:notesMasterIdLst>
  <p:sldIdLst>
    <p:sldId xmlns:r="http://schemas.openxmlformats.org/officeDocument/2006/relationships" id="256" r:id="Rd10a73229a2d4201"/>
    <p:sldId xmlns:r="http://schemas.openxmlformats.org/officeDocument/2006/relationships" id="257" r:id="Rd6d65f42bbf0441f"/>
    <p:sldId xmlns:r="http://schemas.openxmlformats.org/officeDocument/2006/relationships" id="258" r:id="Re656872440a340c1"/>
    <p:sldId xmlns:r="http://schemas.openxmlformats.org/officeDocument/2006/relationships" id="259" r:id="Rf8e3a1edc90443c3"/>
    <p:sldId xmlns:r="http://schemas.openxmlformats.org/officeDocument/2006/relationships" id="260" r:id="Rdc3cb2140c7d4cfa"/>
    <p:sldId xmlns:r="http://schemas.openxmlformats.org/officeDocument/2006/relationships" id="261" r:id="R5b23005066354fc6"/>
    <p:sldId xmlns:r="http://schemas.openxmlformats.org/officeDocument/2006/relationships" id="262" r:id="R3faf521fe0b54132"/>
    <p:sldId xmlns:r="http://schemas.openxmlformats.org/officeDocument/2006/relationships" id="263" r:id="R9c95a01ecaf24033"/>
    <p:sldId xmlns:r="http://schemas.openxmlformats.org/officeDocument/2006/relationships" id="264" r:id="R7e39c10ef1344879"/>
    <p:sldId xmlns:r="http://schemas.openxmlformats.org/officeDocument/2006/relationships" id="265" r:id="R5d51209811af4c81"/>
    <p:sldId xmlns:r="http://schemas.openxmlformats.org/officeDocument/2006/relationships" id="266" r:id="R97375aa8f08d4909"/>
    <p:sldId xmlns:r="http://schemas.openxmlformats.org/officeDocument/2006/relationships" id="267" r:id="Ra05f317563f14ffc"/>
    <p:sldId xmlns:r="http://schemas.openxmlformats.org/officeDocument/2006/relationships" id="268" r:id="R381f4652cf934caa"/>
    <p:sldId xmlns:r="http://schemas.openxmlformats.org/officeDocument/2006/relationships" id="269" r:id="Rb2f6a3210d2b4def"/>
    <p:sldId xmlns:r="http://schemas.openxmlformats.org/officeDocument/2006/relationships" id="270" r:id="R05c7bc3d5c6f4daf"/>
    <p:sldId xmlns:r="http://schemas.openxmlformats.org/officeDocument/2006/relationships" id="271" r:id="R2a41c1b8b2af4b63"/>
    <p:sldId xmlns:r="http://schemas.openxmlformats.org/officeDocument/2006/relationships" id="272" r:id="R557888dad96e4183"/>
    <p:sldId xmlns:r="http://schemas.openxmlformats.org/officeDocument/2006/relationships" id="273" r:id="Re2d60ac5675348bd"/>
    <p:sldId xmlns:r="http://schemas.openxmlformats.org/officeDocument/2006/relationships" id="274" r:id="R588d680bcd3c40a6"/>
    <p:sldId xmlns:r="http://schemas.openxmlformats.org/officeDocument/2006/relationships" id="275" r:id="Rab5bc9509d9548d3"/>
    <p:sldId xmlns:r="http://schemas.openxmlformats.org/officeDocument/2006/relationships" id="276" r:id="Rc8e8b8f64c7f4d1a"/>
    <p:sldId xmlns:r="http://schemas.openxmlformats.org/officeDocument/2006/relationships" id="277" r:id="R474cb10f01b84a08"/>
    <p:sldId xmlns:r="http://schemas.openxmlformats.org/officeDocument/2006/relationships" id="278" r:id="R559e2ca22a9b4010"/>
    <p:sldId xmlns:r="http://schemas.openxmlformats.org/officeDocument/2006/relationships" id="279" r:id="Rc9be13361da0403c"/>
    <p:sldId xmlns:r="http://schemas.openxmlformats.org/officeDocument/2006/relationships" id="280" r:id="R9a0dfbb5fed745e4"/>
    <p:sldId xmlns:r="http://schemas.openxmlformats.org/officeDocument/2006/relationships" id="281" r:id="R32cb31a4a29742b1"/>
    <p:sldId xmlns:r="http://schemas.openxmlformats.org/officeDocument/2006/relationships" id="282" r:id="R37541d32618d40f9"/>
    <p:sldId xmlns:r="http://schemas.openxmlformats.org/officeDocument/2006/relationships" id="283" r:id="R090a8d3a0aea4ced"/>
    <p:sldId xmlns:r="http://schemas.openxmlformats.org/officeDocument/2006/relationships" id="284" r:id="R5dab8432245a4d10"/>
    <p:sldId xmlns:r="http://schemas.openxmlformats.org/officeDocument/2006/relationships" id="285" r:id="R83e3e0f8cd8e4505"/>
    <p:sldId xmlns:r="http://schemas.openxmlformats.org/officeDocument/2006/relationships" id="286" r:id="Rdd908cb9af7f43d9"/>
    <p:sldId xmlns:r="http://schemas.openxmlformats.org/officeDocument/2006/relationships" id="287" r:id="R3a1efb7189be4c96"/>
    <p:sldId xmlns:r="http://schemas.openxmlformats.org/officeDocument/2006/relationships" id="288" r:id="R81d9384494644669"/>
    <p:sldId xmlns:r="http://schemas.openxmlformats.org/officeDocument/2006/relationships" id="289" r:id="R38c6953a80a745ce"/>
    <p:sldId xmlns:r="http://schemas.openxmlformats.org/officeDocument/2006/relationships" id="290" r:id="R8558bf3dc2944bf0"/>
    <p:sldId xmlns:r="http://schemas.openxmlformats.org/officeDocument/2006/relationships" id="291" r:id="Rcbb95954acfd4710"/>
    <p:sldId xmlns:r="http://schemas.openxmlformats.org/officeDocument/2006/relationships" id="292" r:id="R9ffe109f508344d3"/>
    <p:sldId xmlns:r="http://schemas.openxmlformats.org/officeDocument/2006/relationships" id="293" r:id="Rd2575ec2e49a40b6"/>
    <p:sldId xmlns:r="http://schemas.openxmlformats.org/officeDocument/2006/relationships" id="294" r:id="R80c428e966ed4ca8"/>
    <p:sldId xmlns:r="http://schemas.openxmlformats.org/officeDocument/2006/relationships" id="295" r:id="Rf96663baee0f441b"/>
    <p:sldId xmlns:r="http://schemas.openxmlformats.org/officeDocument/2006/relationships" id="296" r:id="R0f67fe56e7474356"/>
    <p:sldId xmlns:r="http://schemas.openxmlformats.org/officeDocument/2006/relationships" id="297" r:id="R4d1c16cb33ef4b0b"/>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a4d83877a884f70" /><Relationship Type="http://schemas.openxmlformats.org/officeDocument/2006/relationships/slideMaster" Target="/ppt/slideMasters/slideMaster1.xml" Id="R10d09864fa294b00" /><Relationship Type="http://schemas.openxmlformats.org/officeDocument/2006/relationships/notesMaster" Target="/ppt/notesMasters/notesMaster1.xml" Id="R0299612deb7f4243" /><Relationship Type="http://schemas.openxmlformats.org/officeDocument/2006/relationships/presProps" Target="/ppt/presProps.xml" Id="R63e40e192633482d" /><Relationship Type="http://schemas.openxmlformats.org/officeDocument/2006/relationships/tableStyles" Target="/ppt/tableStyles.xml" Id="R50ae4bbac3a7415b" /><Relationship Type="http://schemas.openxmlformats.org/officeDocument/2006/relationships/slide" Target="/ppt/slides/slide1.xml" Id="Rd10a73229a2d4201" /><Relationship Type="http://schemas.openxmlformats.org/officeDocument/2006/relationships/slide" Target="/ppt/slides/slide2.xml" Id="Rd6d65f42bbf0441f" /><Relationship Type="http://schemas.openxmlformats.org/officeDocument/2006/relationships/slide" Target="/ppt/slides/slide3.xml" Id="Re656872440a340c1" /><Relationship Type="http://schemas.openxmlformats.org/officeDocument/2006/relationships/slide" Target="/ppt/slides/slide4.xml" Id="Rf8e3a1edc90443c3" /><Relationship Type="http://schemas.openxmlformats.org/officeDocument/2006/relationships/slide" Target="/ppt/slides/slide5.xml" Id="Rdc3cb2140c7d4cfa" /><Relationship Type="http://schemas.openxmlformats.org/officeDocument/2006/relationships/slide" Target="/ppt/slides/slide6.xml" Id="R5b23005066354fc6" /><Relationship Type="http://schemas.openxmlformats.org/officeDocument/2006/relationships/slide" Target="/ppt/slides/slide7.xml" Id="R3faf521fe0b54132" /><Relationship Type="http://schemas.openxmlformats.org/officeDocument/2006/relationships/slide" Target="/ppt/slides/slide8.xml" Id="R9c95a01ecaf24033" /><Relationship Type="http://schemas.openxmlformats.org/officeDocument/2006/relationships/slide" Target="/ppt/slides/slide9.xml" Id="R7e39c10ef1344879" /><Relationship Type="http://schemas.openxmlformats.org/officeDocument/2006/relationships/slide" Target="/ppt/slides/slide10.xml" Id="R5d51209811af4c81" /><Relationship Type="http://schemas.openxmlformats.org/officeDocument/2006/relationships/slide" Target="/ppt/slides/slide11.xml" Id="R97375aa8f08d4909" /><Relationship Type="http://schemas.openxmlformats.org/officeDocument/2006/relationships/slide" Target="/ppt/slides/slide12.xml" Id="Ra05f317563f14ffc" /><Relationship Type="http://schemas.openxmlformats.org/officeDocument/2006/relationships/slide" Target="/ppt/slides/slide13.xml" Id="R381f4652cf934caa" /><Relationship Type="http://schemas.openxmlformats.org/officeDocument/2006/relationships/slide" Target="/ppt/slides/slide14.xml" Id="Rb2f6a3210d2b4def" /><Relationship Type="http://schemas.openxmlformats.org/officeDocument/2006/relationships/slide" Target="/ppt/slides/slide15.xml" Id="R05c7bc3d5c6f4daf" /><Relationship Type="http://schemas.openxmlformats.org/officeDocument/2006/relationships/slide" Target="/ppt/slides/slide16.xml" Id="R2a41c1b8b2af4b63" /><Relationship Type="http://schemas.openxmlformats.org/officeDocument/2006/relationships/slide" Target="/ppt/slides/slide17.xml" Id="R557888dad96e4183" /><Relationship Type="http://schemas.openxmlformats.org/officeDocument/2006/relationships/slide" Target="/ppt/slides/slide18.xml" Id="Re2d60ac5675348bd" /><Relationship Type="http://schemas.openxmlformats.org/officeDocument/2006/relationships/slide" Target="/ppt/slides/slide19.xml" Id="R588d680bcd3c40a6" /><Relationship Type="http://schemas.openxmlformats.org/officeDocument/2006/relationships/slide" Target="/ppt/slides/slide20.xml" Id="Rab5bc9509d9548d3" /><Relationship Type="http://schemas.openxmlformats.org/officeDocument/2006/relationships/slide" Target="/ppt/slides/slide21.xml" Id="Rc8e8b8f64c7f4d1a" /><Relationship Type="http://schemas.openxmlformats.org/officeDocument/2006/relationships/slide" Target="/ppt/slides/slide22.xml" Id="R474cb10f01b84a08" /><Relationship Type="http://schemas.openxmlformats.org/officeDocument/2006/relationships/slide" Target="/ppt/slides/slide23.xml" Id="R559e2ca22a9b4010" /><Relationship Type="http://schemas.openxmlformats.org/officeDocument/2006/relationships/slide" Target="/ppt/slides/slide24.xml" Id="Rc9be13361da0403c" /><Relationship Type="http://schemas.openxmlformats.org/officeDocument/2006/relationships/slide" Target="/ppt/slides/slide25.xml" Id="R9a0dfbb5fed745e4" /><Relationship Type="http://schemas.openxmlformats.org/officeDocument/2006/relationships/slide" Target="/ppt/slides/slide26.xml" Id="R32cb31a4a29742b1" /><Relationship Type="http://schemas.openxmlformats.org/officeDocument/2006/relationships/slide" Target="/ppt/slides/slide27.xml" Id="R37541d32618d40f9" /><Relationship Type="http://schemas.openxmlformats.org/officeDocument/2006/relationships/slide" Target="/ppt/slides/slide28.xml" Id="R090a8d3a0aea4ced" /><Relationship Type="http://schemas.openxmlformats.org/officeDocument/2006/relationships/slide" Target="/ppt/slides/slide29.xml" Id="R5dab8432245a4d10" /><Relationship Type="http://schemas.openxmlformats.org/officeDocument/2006/relationships/slide" Target="/ppt/slides/slide30.xml" Id="R83e3e0f8cd8e4505" /><Relationship Type="http://schemas.openxmlformats.org/officeDocument/2006/relationships/slide" Target="/ppt/slides/slide31.xml" Id="Rdd908cb9af7f43d9" /><Relationship Type="http://schemas.openxmlformats.org/officeDocument/2006/relationships/slide" Target="/ppt/slides/slide32.xml" Id="R3a1efb7189be4c96" /><Relationship Type="http://schemas.openxmlformats.org/officeDocument/2006/relationships/slide" Target="/ppt/slides/slide33.xml" Id="R81d9384494644669" /><Relationship Type="http://schemas.openxmlformats.org/officeDocument/2006/relationships/slide" Target="/ppt/slides/slide34.xml" Id="R38c6953a80a745ce" /><Relationship Type="http://schemas.openxmlformats.org/officeDocument/2006/relationships/slide" Target="/ppt/slides/slide35.xml" Id="R8558bf3dc2944bf0" /><Relationship Type="http://schemas.openxmlformats.org/officeDocument/2006/relationships/slide" Target="/ppt/slides/slide36.xml" Id="Rcbb95954acfd4710" /><Relationship Type="http://schemas.openxmlformats.org/officeDocument/2006/relationships/slide" Target="/ppt/slides/slide37.xml" Id="R9ffe109f508344d3" /><Relationship Type="http://schemas.openxmlformats.org/officeDocument/2006/relationships/slide" Target="/ppt/slides/slide38.xml" Id="Rd2575ec2e49a40b6" /><Relationship Type="http://schemas.openxmlformats.org/officeDocument/2006/relationships/slide" Target="/ppt/slides/slide39.xml" Id="R80c428e966ed4ca8" /><Relationship Type="http://schemas.openxmlformats.org/officeDocument/2006/relationships/slide" Target="/ppt/slides/slide40.xml" Id="Rf96663baee0f441b" /><Relationship Type="http://schemas.openxmlformats.org/officeDocument/2006/relationships/slide" Target="/ppt/slides/slide41.xml" Id="R0f67fe56e7474356" /><Relationship Type="http://schemas.openxmlformats.org/officeDocument/2006/relationships/slide" Target="/ppt/slides/slide42.xml" Id="R4d1c16cb33ef4b0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c9632721f5146a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74b3dc4990646c6" /><Relationship Type="http://schemas.openxmlformats.org/officeDocument/2006/relationships/notesMaster" Target="/ppt/notesMasters/notesMaster1.xml" Id="Rc2e57adef42c4338" /></Relationships>
</file>

<file path=ppt/notesSlides/_rels/notesSlide2.xml.rels>&#65279;<?xml version="1.0" encoding="utf-8"?><Relationships xmlns="http://schemas.openxmlformats.org/package/2006/relationships"><Relationship Type="http://schemas.openxmlformats.org/officeDocument/2006/relationships/slide" Target="/ppt/slides/slide2.xml" Id="Rd57e273b186c4314" /><Relationship Type="http://schemas.openxmlformats.org/officeDocument/2006/relationships/notesMaster" Target="/ppt/notesMasters/notesMaster1.xml" Id="R906ead58eea74bab" /></Relationships>
</file>

<file path=ppt/notesSlides/_rels/notesSlide3.xml.rels>&#65279;<?xml version="1.0" encoding="utf-8"?><Relationships xmlns="http://schemas.openxmlformats.org/package/2006/relationships"><Relationship Type="http://schemas.openxmlformats.org/officeDocument/2006/relationships/slide" Target="/ppt/slides/slide3.xml" Id="Rbb5a571e4aa94558" /><Relationship Type="http://schemas.openxmlformats.org/officeDocument/2006/relationships/notesMaster" Target="/ppt/notesMasters/notesMaster1.xml" Id="Rbc821402836344ad" /></Relationships>
</file>

<file path=ppt/notesSlides/_rels/notesSlide4.xml.rels>&#65279;<?xml version="1.0" encoding="utf-8"?><Relationships xmlns="http://schemas.openxmlformats.org/package/2006/relationships"><Relationship Type="http://schemas.openxmlformats.org/officeDocument/2006/relationships/slide" Target="/ppt/slides/slide4.xml" Id="Rffb7931cce844e16" /><Relationship Type="http://schemas.openxmlformats.org/officeDocument/2006/relationships/notesMaster" Target="/ppt/notesMasters/notesMaster1.xml" Id="R93b862345b014c74" /></Relationships>
</file>

<file path=ppt/notesSlides/_rels/notesSlide5.xml.rels>&#65279;<?xml version="1.0" encoding="utf-8"?><Relationships xmlns="http://schemas.openxmlformats.org/package/2006/relationships"><Relationship Type="http://schemas.openxmlformats.org/officeDocument/2006/relationships/slide" Target="/ppt/slides/slide5.xml" Id="R5f42bdc6b4e6406e" /><Relationship Type="http://schemas.openxmlformats.org/officeDocument/2006/relationships/notesMaster" Target="/ppt/notesMasters/notesMaster1.xml" Id="Rb21072adea764c89" /></Relationships>
</file>

<file path=ppt/notesSlides/_rels/notesSlide6.xml.rels>&#65279;<?xml version="1.0" encoding="utf-8"?><Relationships xmlns="http://schemas.openxmlformats.org/package/2006/relationships"><Relationship Type="http://schemas.openxmlformats.org/officeDocument/2006/relationships/slide" Target="/ppt/slides/slide6.xml" Id="Rf5b2c7fde31a4333" /><Relationship Type="http://schemas.openxmlformats.org/officeDocument/2006/relationships/notesMaster" Target="/ppt/notesMasters/notesMaster1.xml" Id="R815a09ae90244352" /></Relationships>
</file>

<file path=ppt/notesSlides/_rels/notesSlide7.xml.rels>&#65279;<?xml version="1.0" encoding="utf-8"?><Relationships xmlns="http://schemas.openxmlformats.org/package/2006/relationships"><Relationship Type="http://schemas.openxmlformats.org/officeDocument/2006/relationships/slide" Target="/ppt/slides/slide7.xml" Id="R082ca3fef3bf4bcd" /><Relationship Type="http://schemas.openxmlformats.org/officeDocument/2006/relationships/notesMaster" Target="/ppt/notesMasters/notesMaster1.xml" Id="R19af2e71caf34028" /></Relationships>
</file>

<file path=ppt/notesSlides/_rels/notesSlide8.xml.rels>&#65279;<?xml version="1.0" encoding="utf-8"?><Relationships xmlns="http://schemas.openxmlformats.org/package/2006/relationships"><Relationship Type="http://schemas.openxmlformats.org/officeDocument/2006/relationships/slide" Target="/ppt/slides/slide8.xml" Id="R3aa8b41161f049a3" /><Relationship Type="http://schemas.openxmlformats.org/officeDocument/2006/relationships/notesMaster" Target="/ppt/notesMasters/notesMaster1.xml" Id="Rbe18dd0f07654247" /></Relationships>
</file>

<file path=ppt/notesSlides/_rels/notesSlide9.xml.rels>&#65279;<?xml version="1.0" encoding="utf-8"?><Relationships xmlns="http://schemas.openxmlformats.org/package/2006/relationships"><Relationship Type="http://schemas.openxmlformats.org/officeDocument/2006/relationships/slide" Target="/ppt/slides/slide9.xml" Id="R25b3ccb1f1594a08" /><Relationship Type="http://schemas.openxmlformats.org/officeDocument/2006/relationships/notesMaster" Target="/ppt/notesMasters/notesMaster1.xml" Id="R0604be66984f46d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4671021264b44b8" /><Relationship Type="http://schemas.openxmlformats.org/officeDocument/2006/relationships/notesMaster" Target="/ppt/notesMasters/notesMaster1.xml" Id="Rc6da002c7b15401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b5ee614922b4364" /><Relationship Type="http://schemas.openxmlformats.org/officeDocument/2006/relationships/notesMaster" Target="/ppt/notesMasters/notesMaster1.xml" Id="R867ba300edf445c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f5e09d3f6414c21" /><Relationship Type="http://schemas.openxmlformats.org/officeDocument/2006/relationships/notesMaster" Target="/ppt/notesMasters/notesMaster1.xml" Id="R827a638b396c416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9bc17411c0c4804" /><Relationship Type="http://schemas.openxmlformats.org/officeDocument/2006/relationships/notesMaster" Target="/ppt/notesMasters/notesMaster1.xml" Id="R4962bf015ed5463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c1db2ba36a4444d" /><Relationship Type="http://schemas.openxmlformats.org/officeDocument/2006/relationships/notesMaster" Target="/ppt/notesMasters/notesMaster1.xml" Id="Rd8b0266fed4147a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052d52a902545e1" /><Relationship Type="http://schemas.openxmlformats.org/officeDocument/2006/relationships/notesMaster" Target="/ppt/notesMasters/notesMaster1.xml" Id="Re4dd58f86a4b45c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f636fbda7464e72" /><Relationship Type="http://schemas.openxmlformats.org/officeDocument/2006/relationships/notesMaster" Target="/ppt/notesMasters/notesMaster1.xml" Id="Rccd3a4c8ad2a46f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194cfd0ea0148d6" /><Relationship Type="http://schemas.openxmlformats.org/officeDocument/2006/relationships/notesMaster" Target="/ppt/notesMasters/notesMaster1.xml" Id="Rfb82a658c6d14b0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14ce2c93a964064" /><Relationship Type="http://schemas.openxmlformats.org/officeDocument/2006/relationships/notesMaster" Target="/ppt/notesMasters/notesMaster1.xml" Id="R6748ea532aae479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a23c54891454698" /><Relationship Type="http://schemas.openxmlformats.org/officeDocument/2006/relationships/notesMaster" Target="/ppt/notesMasters/notesMaster1.xml" Id="R1d573f25efdd4d2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61f65cf7f004094" /><Relationship Type="http://schemas.openxmlformats.org/officeDocument/2006/relationships/notesMaster" Target="/ppt/notesMasters/notesMaster1.xml" Id="R12e8910c8c8f450e"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43641913e65f4ab0" /><Relationship Type="http://schemas.openxmlformats.org/officeDocument/2006/relationships/notesMaster" Target="/ppt/notesMasters/notesMaster1.xml" Id="R1f47f8b51485483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f7bfd4810504707" /><Relationship Type="http://schemas.openxmlformats.org/officeDocument/2006/relationships/notesMaster" Target="/ppt/notesMasters/notesMaster1.xml" Id="Rc8ec97e2b7474b3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fd565489aa5e4034" /><Relationship Type="http://schemas.openxmlformats.org/officeDocument/2006/relationships/notesMaster" Target="/ppt/notesMasters/notesMaster1.xml" Id="Reb708dda69ce474a"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e1752b4ff5d4a6e" /><Relationship Type="http://schemas.openxmlformats.org/officeDocument/2006/relationships/notesMaster" Target="/ppt/notesMasters/notesMaster1.xml" Id="R83d696654086481d"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f3719a4d68454f9c" /><Relationship Type="http://schemas.openxmlformats.org/officeDocument/2006/relationships/notesMaster" Target="/ppt/notesMasters/notesMaster1.xml" Id="Re61cfe5a615b4f95"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ec2af7dc03f64757" /><Relationship Type="http://schemas.openxmlformats.org/officeDocument/2006/relationships/notesMaster" Target="/ppt/notesMasters/notesMaster1.xml" Id="R63196197421440d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633c04cc85f14daa" /><Relationship Type="http://schemas.openxmlformats.org/officeDocument/2006/relationships/notesMaster" Target="/ppt/notesMasters/notesMaster1.xml" Id="Rc44810fe6a46427d"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ba5a447912344031" /><Relationship Type="http://schemas.openxmlformats.org/officeDocument/2006/relationships/notesMaster" Target="/ppt/notesMasters/notesMaster1.xml" Id="Rffb8bb0f846444cc"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ae4236b3ba0e4cd7" /><Relationship Type="http://schemas.openxmlformats.org/officeDocument/2006/relationships/notesMaster" Target="/ppt/notesMasters/notesMaster1.xml" Id="R3e31f8c425094215"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fcd820e494d34cdc" /><Relationship Type="http://schemas.openxmlformats.org/officeDocument/2006/relationships/notesMaster" Target="/ppt/notesMasters/notesMaster1.xml" Id="Re1eb09f2de1e432c"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8ef65c014a0a42e3" /><Relationship Type="http://schemas.openxmlformats.org/officeDocument/2006/relationships/notesMaster" Target="/ppt/notesMasters/notesMaster1.xml" Id="R8c531f5dc491479e"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c29125eefbf54780" /><Relationship Type="http://schemas.openxmlformats.org/officeDocument/2006/relationships/notesMaster" Target="/ppt/notesMasters/notesMaster1.xml" Id="Rc7479f586daa4337"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ca27da6f421943e0" /><Relationship Type="http://schemas.openxmlformats.org/officeDocument/2006/relationships/notesMaster" Target="/ppt/notesMasters/notesMaster1.xml" Id="Rfe1c2e53b6684b69"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6842e01568dd49ae" /><Relationship Type="http://schemas.openxmlformats.org/officeDocument/2006/relationships/notesMaster" Target="/ppt/notesMasters/notesMaster1.xml" Id="Rad638df4b5484cde"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06f0bcb4442f4d15" /><Relationship Type="http://schemas.openxmlformats.org/officeDocument/2006/relationships/notesMaster" Target="/ppt/notesMasters/notesMaster1.xml" Id="R4768b4beab4944df"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3ac52a616db045d2" /><Relationship Type="http://schemas.openxmlformats.org/officeDocument/2006/relationships/notesMaster" Target="/ppt/notesMasters/notesMaster1.xml" Id="R0b70737d26414e03"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f5230961c8ab4047" /><Relationship Type="http://schemas.openxmlformats.org/officeDocument/2006/relationships/notesMaster" Target="/ppt/notesMasters/notesMaster1.xml" Id="Rdf0de58938bb46d7"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c7d6f3fe388a4490" /><Relationship Type="http://schemas.openxmlformats.org/officeDocument/2006/relationships/notesMaster" Target="/ppt/notesMasters/notesMaster1.xml" Id="Rfdb5a5ea6823485a"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aa4910a62c2641ab" /><Relationship Type="http://schemas.openxmlformats.org/officeDocument/2006/relationships/notesMaster" Target="/ppt/notesMasters/notesMaster1.xml" Id="Rb60f7834be884950"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1b06dc4041574f1d" /><Relationship Type="http://schemas.openxmlformats.org/officeDocument/2006/relationships/notesMaster" Target="/ppt/notesMasters/notesMaster1.xml" Id="R1046f9c8803e45bb"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ce43b9cbf323458c" /><Relationship Type="http://schemas.openxmlformats.org/officeDocument/2006/relationships/notesMaster" Target="/ppt/notesMasters/notesMaster1.xml" Id="R15dc9c88bbae4a97"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fafb3f508dc540d7" /><Relationship Type="http://schemas.openxmlformats.org/officeDocument/2006/relationships/notesMaster" Target="/ppt/notesMasters/notesMaster1.xml" Id="Rfd475ec8bc794df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Using pandas to answer table questions</a:t>
            </a:r>
          </a:p>
          <a:p xmlns:a="http://schemas.openxmlformats.org/drawingml/2006/main">
            <a:r>
              <a:t/>
            </a:r>
          </a:p>
          <a:p xmlns:a="http://schemas.openxmlformats.org/drawingml/2006/main">
            <a:r>
              <a:t>CONNECT</a:t>
            </a:r>
          </a:p>
          <a:p xmlns:a="http://schemas.openxmlformats.org/drawingml/2006/main">
            <a:r>
              <a:t>Build on the preceding week. Explain why this example is needed before running it.</a:t>
            </a:r>
          </a:p>
          <a:p xmlns:a="http://schemas.openxmlformats.org/drawingml/2006/main">
            <a:r>
              <a:t/>
            </a:r>
          </a:p>
          <a:p xmlns:a="http://schemas.openxmlformats.org/drawingml/2006/main">
            <a:r>
              <a:t>EXPLAIN</a:t>
            </a:r>
          </a:p>
          <a:p xmlns:a="http://schemas.openxmlformats.org/drawingml/2006/main">
            <a:r>
              <a:t>Communications, Electrical, Mechatronics and Robotics Engineering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Using pandas to answer table questions</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EXPLAIN IN ORDINARY WORDS</a:t>
            </a:r>
          </a:p>
          <a:p xmlns:a="http://schemas.openxmlformats.org/drawingml/2006/main">
            <a:r>
              <a:t>A DataFrame is a labelled table. A Series is a single labelled sequence, often one column. A dtype describes stored values, but the import may infer something unsuitable.</a:t>
            </a:r>
          </a:p>
          <a:p xmlns:a="http://schemas.openxmlformats.org/drawingml/2006/main">
            <a:r>
              <a:t/>
            </a:r>
          </a:p>
          <a:p xmlns:a="http://schemas.openxmlformats.org/drawingml/2006/main">
            <a:r>
              <a:t>CHECK AND EXPECTED ANSWER</a:t>
            </a:r>
          </a:p>
          <a:p xmlns:a="http://schemas.openxmlformats.org/drawingml/2006/main">
            <a:r>
              <a:t>Does a price that looks numeric prove the column is numeric? No. Inspect its dtype and troublesome values before conversion.</a:t>
            </a:r>
          </a:p>
          <a:p xmlns:a="http://schemas.openxmlformats.org/drawingml/2006/main">
            <a:r>
              <a:t/>
            </a:r>
          </a:p>
          <a:p xmlns:a="http://schemas.openxmlformats.org/drawingml/2006/main">
            <a:r>
              <a:t>IF LEARNERS ARE STUCK</a:t>
            </a:r>
          </a:p>
          <a:p xmlns:a="http://schemas.openxmlformats.org/drawingml/2006/main">
            <a:r>
              <a:t>Use head, shape and dtypes to locate the table, count rows/columns and inspect storage. Check units and missing values before calculating.</a:t>
            </a:r>
          </a:p>
          <a:p xmlns:a="http://schemas.openxmlformats.org/drawingml/2006/main">
            <a:r>
              <a:t/>
            </a:r>
          </a:p>
          <a:p xmlns:a="http://schemas.openxmlformats.org/drawingml/2006/main">
            <a:r>
              <a:t>NEXT</a:t>
            </a:r>
          </a:p>
          <a:p xmlns:a="http://schemas.openxmlformats.org/drawingml/2006/main">
            <a:r>
              <a:t>Today’s learning.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Today’s learning.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Using pandas to answer table questions. Explain why this example is needed before running it.</a:t>
            </a:r>
          </a:p>
          <a:p xmlns:a="http://schemas.openxmlformats.org/drawingml/2006/main">
            <a:r>
              <a:t/>
            </a:r>
          </a:p>
          <a:p xmlns:a="http://schemas.openxmlformats.org/drawingml/2006/main">
            <a:r>
              <a:t>EXPLAIN</a:t>
            </a:r>
          </a:p>
          <a:p xmlns:a="http://schemas.openxmlformats.org/drawingml/2006/main">
            <a:r>
              <a:t>Read a labelled table and select rows.</a:t>
            </a:r>
          </a:p>
          <a:p xmlns:a="http://schemas.openxmlformats.org/drawingml/2006/main">
            <a:r>
              <a:t/>
            </a:r>
          </a:p>
          <a:p xmlns:a="http://schemas.openxmlformats.org/drawingml/2006/main">
            <a:r>
              <a:t>Calculate column summaries and grouped totals.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the preceding slide: Using pandas to answer table questions.</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NumPy broadcasting, broad Kaggle searches and twelve-plus-ten independent questions are optional extension. No change of editor is needed.</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NEXT</a:t>
            </a:r>
          </a:p>
          <a:p xmlns:a="http://schemas.openxmlformats.org/drawingml/2006/main">
            <a:r>
              <a:t>Recall and a first attempt.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Connection to the previous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Build on Today’s learning. Explain why this example is needed before running it.</a:t>
            </a:r>
          </a:p>
          <a:p xmlns:a="http://schemas.openxmlformats.org/drawingml/2006/main">
            <a:r>
              <a:t/>
            </a:r>
          </a:p>
          <a:p xmlns:a="http://schemas.openxmlformats.org/drawingml/2006/main">
            <a:r>
              <a:t>EXPLAIN</a:t>
            </a:r>
          </a:p>
          <a:p xmlns:a="http://schemas.openxmlformats.org/drawingml/2006/main">
            <a:r>
              <a:t>Week 4 used lists, dictionaries, loops and CSV rows. pandas keeps these same records in a labelled table and provides operations that work across its columns.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Recall and a first attempt</a:t>
            </a:r>
          </a:p>
          <a:p xmlns:a="http://schemas.openxmlformats.org/drawingml/2006/main">
            <a:r>
              <a:t/>
            </a:r>
          </a:p>
          <a:p xmlns:a="http://schemas.openxmlformats.org/drawingml/2006/main">
            <a:r>
              <a:t>CONNECT</a:t>
            </a:r>
          </a:p>
          <a:p xmlns:a="http://schemas.openxmlformats.org/drawingml/2006/main">
            <a:r>
              <a:t>Build on the preceding slide: Today’s learning.</a:t>
            </a:r>
          </a:p>
          <a:p xmlns:a="http://schemas.openxmlformats.org/drawingml/2006/main">
            <a:r>
              <a:t/>
            </a:r>
          </a:p>
          <a:p xmlns:a="http://schemas.openxmlformats.org/drawingml/2006/main">
            <a:r>
              <a:t>LECTURER CUE</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The engineering context.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Why this week’s tools are needed.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Why this week’s tools are needed</a:t>
            </a:r>
          </a:p>
          <a:p xmlns:a="http://schemas.openxmlformats.org/drawingml/2006/main">
            <a:r>
              <a:t/>
            </a:r>
          </a:p>
          <a:p xmlns:a="http://schemas.openxmlformats.org/drawingml/2006/main">
            <a:r>
              <a:t>CONNECT</a:t>
            </a:r>
          </a:p>
          <a:p xmlns:a="http://schemas.openxmlformats.org/drawingml/2006/main">
            <a:r>
              <a:t>Build on Connection to the previous lesson. Explain why this example is needed before running it.</a:t>
            </a:r>
          </a:p>
          <a:p xmlns:a="http://schemas.openxmlformats.org/drawingml/2006/main">
            <a:r>
              <a:t/>
            </a:r>
          </a:p>
          <a:p xmlns:a="http://schemas.openxmlformats.org/drawingml/2006/main">
            <a:r>
              <a:t>EXPLAIN</a:t>
            </a:r>
          </a:p>
          <a:p xmlns:a="http://schemas.openxmlformats.org/drawingml/2006/main">
            <a:r>
              <a:t>The supplied campus_energy.csv records campus electricity use. We practise pandas on four invented rows first, then inspect the supplied file and its units.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The engineering context</a:t>
            </a:r>
          </a:p>
          <a:p xmlns:a="http://schemas.openxmlformats.org/drawingml/2006/main">
            <a:r>
              <a:t/>
            </a:r>
          </a:p>
          <a:p xmlns:a="http://schemas.openxmlformats.org/drawingml/2006/main">
            <a:r>
              <a:t>CONNECT</a:t>
            </a:r>
          </a:p>
          <a:p xmlns:a="http://schemas.openxmlformats.org/drawingml/2006/main">
            <a:r>
              <a:t>Build on the preceding slide: Recall and a first attempt.</a:t>
            </a:r>
          </a:p>
          <a:p xmlns:a="http://schemas.openxmlformats.org/drawingml/2006/main">
            <a:r>
              <a:t/>
            </a:r>
          </a:p>
          <a:p xmlns:a="http://schemas.openxmlformats.org/drawingml/2006/main">
            <a:r>
              <a:t>LECTURER CUE</a:t>
            </a:r>
          </a:p>
          <a:p xmlns:a="http://schemas.openxmlformats.org/drawingml/2006/main">
            <a:r>
              <a:t>A team records device temperature to investigate cooling. Use a communications cabinet, an electrical enclosure or a robot controller as the physical example. No specialist hardware knowledge is assumed.</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NEXT</a:t>
            </a:r>
          </a:p>
          <a:p xmlns:a="http://schemas.openxmlformats.org/drawingml/2006/main">
            <a:r>
              <a:t>Rows columns and units.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Rows columns and units.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Rows columns and units</a:t>
            </a:r>
          </a:p>
          <a:p xmlns:a="http://schemas.openxmlformats.org/drawingml/2006/main">
            <a:r>
              <a:t/>
            </a:r>
          </a:p>
          <a:p xmlns:a="http://schemas.openxmlformats.org/drawingml/2006/main">
            <a:r>
              <a:t>CONNECT</a:t>
            </a:r>
          </a:p>
          <a:p xmlns:a="http://schemas.openxmlformats.org/drawingml/2006/main">
            <a:r>
              <a:t>Build on Why this week’s tools are needed. Explain why this example is needed before running it.</a:t>
            </a:r>
          </a:p>
          <a:p xmlns:a="http://schemas.openxmlformats.org/drawingml/2006/main">
            <a:r>
              <a:t/>
            </a:r>
          </a:p>
          <a:p xmlns:a="http://schemas.openxmlformats.org/drawingml/2006/main">
            <a:r>
              <a:t>EXPLAIN</a:t>
            </a:r>
          </a:p>
          <a:p xmlns:a="http://schemas.openxmlformats.org/drawingml/2006/main">
            <a:r>
              <a:t>A row describes one observation. A column describes one field.</a:t>
            </a:r>
          </a:p>
          <a:p xmlns:a="http://schemas.openxmlformats.org/drawingml/2006/main">
            <a:r>
              <a:t/>
            </a:r>
          </a:p>
          <a:p xmlns:a="http://schemas.openxmlformats.org/drawingml/2006/main">
            <a:r>
              <a:t>A DataFrame is pandas’ labelled table.</a:t>
            </a:r>
          </a:p>
          <a:p xmlns:a="http://schemas.openxmlformats.org/drawingml/2006/main">
            <a:r>
              <a:t/>
            </a:r>
          </a:p>
          <a:p xmlns:a="http://schemas.openxmlformats.org/drawingml/2006/main">
            <a:r>
              <a:t>A Series is one labelled column.</a:t>
            </a:r>
          </a:p>
          <a:p xmlns:a="http://schemas.openxmlformats.org/drawingml/2006/main">
            <a:r>
              <a:t/>
            </a:r>
          </a:p>
          <a:p xmlns:a="http://schemas.openxmlformats.org/drawingml/2006/main">
            <a:r>
              <a:t>kWh measures energy. kW measures power.</a:t>
            </a:r>
          </a:p>
          <a:p xmlns:a="http://schemas.openxmlformats.org/drawingml/2006/main">
            <a:r>
              <a:t/>
            </a:r>
          </a:p>
          <a:p xmlns:a="http://schemas.openxmlformats.org/drawingml/2006/main">
            <a:r>
              <a:t>A data type (dtype) describes the kind of values in a column, such as whole numbers, decimals or text.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Rows columns and units</a:t>
            </a:r>
          </a:p>
          <a:p xmlns:a="http://schemas.openxmlformats.org/drawingml/2006/main">
            <a:r>
              <a:t/>
            </a:r>
          </a:p>
          <a:p xmlns:a="http://schemas.openxmlformats.org/drawingml/2006/main">
            <a:r>
              <a:t>CONNECT</a:t>
            </a:r>
          </a:p>
          <a:p xmlns:a="http://schemas.openxmlformats.org/drawingml/2006/main">
            <a:r>
              <a:t>Build on the preceding slide: The engineering context.</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TYPE NUANCE</a:t>
            </a:r>
          </a:p>
          <a:p xmlns:a="http://schemas.openxmlformats.org/drawingml/2006/main">
            <a:r>
              <a:t>An object dtype alone does not prove that a column contains bad numeric values; it can hold Python objects, including numbers. Inspect values and conversion results. Missing values may display as NaN, None, NaT or pandas NA depending on dtype.</a:t>
            </a:r>
          </a:p>
          <a:p xmlns:a="http://schemas.openxmlformats.org/drawingml/2006/main">
            <a:r>
              <a:t/>
            </a:r>
          </a:p>
          <a:p xmlns:a="http://schemas.openxmlformats.org/drawingml/2006/main">
            <a:r>
              <a:t>NEXT</a:t>
            </a:r>
          </a:p>
          <a:p xmlns:a="http://schemas.openxmlformats.org/drawingml/2006/main">
            <a:r>
              <a:t>A table keeps related observations together.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table keeps related observations together.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table keeps related observations together</a:t>
            </a:r>
          </a:p>
          <a:p xmlns:a="http://schemas.openxmlformats.org/drawingml/2006/main">
            <a:r>
              <a:t/>
            </a:r>
          </a:p>
          <a:p xmlns:a="http://schemas.openxmlformats.org/drawingml/2006/main">
            <a:r>
              <a:t>CONNECT</a:t>
            </a:r>
          </a:p>
          <a:p xmlns:a="http://schemas.openxmlformats.org/drawingml/2006/main">
            <a:r>
              <a:t>Build on Rows columns and units. Explain why this example is needed before running it.</a:t>
            </a:r>
          </a:p>
          <a:p xmlns:a="http://schemas.openxmlformats.org/drawingml/2006/main">
            <a:r>
              <a:t/>
            </a:r>
          </a:p>
          <a:p xmlns:a="http://schemas.openxmlformats.org/drawingml/2006/main">
            <a:r>
              <a:t>EXPLAIN</a:t>
            </a:r>
          </a:p>
          <a:p xmlns:a="http://schemas.openxmlformats.org/drawingml/2006/main">
            <a:r>
              <a:t>Our four rows record building A twice and building B twice.</a:t>
            </a:r>
          </a:p>
          <a:p xmlns:a="http://schemas.openxmlformats.org/drawingml/2006/main">
            <a:r>
              <a:t/>
            </a:r>
          </a:p>
          <a:p xmlns:a="http://schemas.openxmlformats.org/drawingml/2006/main">
            <a:r>
              <a:t>Each row contains the building label and an energy reading.</a:t>
            </a:r>
          </a:p>
          <a:p xmlns:a="http://schemas.openxmlformats.org/drawingml/2006/main">
            <a:r>
              <a:t/>
            </a:r>
          </a:p>
          <a:p xmlns:a="http://schemas.openxmlformats.org/drawingml/2006/main">
            <a:r>
              <a:t>kWh is energy. kW is power. The units describe different quantities.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table keeps related observations together</a:t>
            </a:r>
          </a:p>
          <a:p xmlns:a="http://schemas.openxmlformats.org/drawingml/2006/main">
            <a:r>
              <a:t/>
            </a:r>
          </a:p>
          <a:p xmlns:a="http://schemas.openxmlformats.org/drawingml/2006/main">
            <a:r>
              <a:t>CONNECT</a:t>
            </a:r>
          </a:p>
          <a:p xmlns:a="http://schemas.openxmlformats.org/drawingml/2006/main">
            <a:r>
              <a:t>Build on the preceding slide: Rows columns and units.</a:t>
            </a:r>
          </a:p>
          <a:p xmlns:a="http://schemas.openxmlformats.org/drawingml/2006/main">
            <a:r>
              <a:t/>
            </a:r>
          </a:p>
          <a:p xmlns:a="http://schemas.openxmlformats.org/drawingml/2006/main">
            <a:r>
              <a:t>LECTURER CUE</a:t>
            </a:r>
          </a:p>
          <a:p xmlns:a="http://schemas.openxmlformats.org/drawingml/2006/main">
            <a:r>
              <a:t>Draw a four-row table before running the example. Describe a reading of kWh as energy, and kW as power; the units are different.</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NEXT</a:t>
            </a:r>
          </a:p>
          <a:p xmlns:a="http://schemas.openxmlformats.org/drawingml/2006/main">
            <a:r>
              <a:t>Our small energy table.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Our small energy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Our small energy table</a:t>
            </a:r>
          </a:p>
          <a:p xmlns:a="http://schemas.openxmlformats.org/drawingml/2006/main">
            <a:r>
              <a:t/>
            </a:r>
          </a:p>
          <a:p xmlns:a="http://schemas.openxmlformats.org/drawingml/2006/main">
            <a:r>
              <a:t>CONNECT</a:t>
            </a:r>
          </a:p>
          <a:p xmlns:a="http://schemas.openxmlformats.org/drawingml/2006/main">
            <a:r>
              <a:t>Build on A table keeps related observations together. Explain why this example is needed before running it.</a:t>
            </a:r>
          </a:p>
          <a:p xmlns:a="http://schemas.openxmlformats.org/drawingml/2006/main">
            <a:r>
              <a:t/>
            </a:r>
          </a:p>
          <a:p xmlns:a="http://schemas.openxmlformats.org/drawingml/2006/main">
            <a:r>
              <a:t>EXPLAIN</a:t>
            </a:r>
          </a:p>
          <a:p xmlns:a="http://schemas.openxmlformats.org/drawingml/2006/main">
            <a:r>
              <a:t>The four observations total 18 kWh.</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Our small energy table</a:t>
            </a:r>
          </a:p>
          <a:p xmlns:a="http://schemas.openxmlformats.org/drawingml/2006/main">
            <a:r>
              <a:t/>
            </a:r>
          </a:p>
          <a:p xmlns:a="http://schemas.openxmlformats.org/drawingml/2006/main">
            <a:r>
              <a:t>CONNECT</a:t>
            </a:r>
          </a:p>
          <a:p xmlns:a="http://schemas.openxmlformats.org/drawingml/2006/main">
            <a:r>
              <a:t>Build on the preceding slide: A table keeps related observations together.</a:t>
            </a:r>
          </a:p>
          <a:p xmlns:a="http://schemas.openxmlformats.org/drawingml/2006/main">
            <a:r>
              <a:t/>
            </a:r>
          </a:p>
          <a:p xmlns:a="http://schemas.openxmlformats.org/drawingml/2006/main">
            <a:r>
              <a:t>LECTURER CUE</a:t>
            </a:r>
          </a:p>
          <a:p xmlns:a="http://schemas.openxmlformats.org/drawingml/2006/main">
            <a:r>
              <a:t>The four observations total 18 kWh. Their mean is 4.5 kWh. Building totals are A: 6 and B: 12.</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Words we will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Library and pandas and DataFrame.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Library and pandas and DataFrame</a:t>
            </a:r>
          </a:p>
          <a:p xmlns:a="http://schemas.openxmlformats.org/drawingml/2006/main">
            <a:r>
              <a:t/>
            </a:r>
          </a:p>
          <a:p xmlns:a="http://schemas.openxmlformats.org/drawingml/2006/main">
            <a:r>
              <a:t>CONNECT</a:t>
            </a:r>
          </a:p>
          <a:p xmlns:a="http://schemas.openxmlformats.org/drawingml/2006/main">
            <a:r>
              <a:t>Build on Our small energy table. Explain why this example is needed before running it.</a:t>
            </a:r>
          </a:p>
          <a:p xmlns:a="http://schemas.openxmlformats.org/drawingml/2006/main">
            <a:r>
              <a:t/>
            </a:r>
          </a:p>
          <a:p xmlns:a="http://schemas.openxmlformats.org/drawingml/2006/main">
            <a:r>
              <a:t>EXPLAIN</a:t>
            </a:r>
          </a:p>
          <a:p xmlns:a="http://schemas.openxmlformats.org/drawingml/2006/main">
            <a:r>
              <a:t>Library and pandas: A library is reusable code. pandas provides tools for data tables. import pandas as pd makes pd a short name for that library.</a:t>
            </a:r>
          </a:p>
          <a:p xmlns:a="http://schemas.openxmlformats.org/drawingml/2006/main">
            <a:r>
              <a:t>DataFrame: A table with named columns and indexed rows. df is just the variable name we choose for this table.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the preceding slide: Our small energy table.</a:t>
            </a:r>
          </a:p>
          <a:p xmlns:a="http://schemas.openxmlformats.org/drawingml/2006/main">
            <a:r>
              <a:t/>
            </a:r>
          </a:p>
          <a:p xmlns:a="http://schemas.openxmlformats.org/drawingml/2006/main">
            <a:r>
              <a:t>EXPLAIN IN ORDINARY WORDS</a:t>
            </a:r>
          </a:p>
          <a:p xmlns:a="http://schemas.openxmlformats.org/drawingml/2006/main">
            <a:r>
              <a:t>A DataFrame is a labelled table. A Series is a single labelled sequence, often one column. A dtype describes stored values, but the import may infer something unsuitable.</a:t>
            </a:r>
          </a:p>
          <a:p xmlns:a="http://schemas.openxmlformats.org/drawingml/2006/main">
            <a:r>
              <a:t/>
            </a:r>
          </a:p>
          <a:p xmlns:a="http://schemas.openxmlformats.org/drawingml/2006/main">
            <a:r>
              <a:t>CHECK AND EXPECTED ANSWER</a:t>
            </a:r>
          </a:p>
          <a:p xmlns:a="http://schemas.openxmlformats.org/drawingml/2006/main">
            <a:r>
              <a:t>Does a price that looks numeric prove the column is numeric? No. Inspect its dtype and troublesome values before conversion.</a:t>
            </a:r>
          </a:p>
          <a:p xmlns:a="http://schemas.openxmlformats.org/drawingml/2006/main">
            <a:r>
              <a:t/>
            </a:r>
          </a:p>
          <a:p xmlns:a="http://schemas.openxmlformats.org/drawingml/2006/main">
            <a:r>
              <a:t>IF LEARNERS ARE STUCK</a:t>
            </a:r>
          </a:p>
          <a:p xmlns:a="http://schemas.openxmlformats.org/drawingml/2006/main">
            <a:r>
              <a:t>Use head, shape and dtypes to locate the table, count rows/columns and inspect storage. Check units and missing values before calculating.</a:t>
            </a:r>
          </a:p>
          <a:p xmlns:a="http://schemas.openxmlformats.org/drawingml/2006/main">
            <a:r>
              <a:t/>
            </a:r>
          </a:p>
          <a:p xmlns:a="http://schemas.openxmlformats.org/drawingml/2006/main">
            <a:r>
              <a:t>POINT TO THE DEFINITION</a:t>
            </a:r>
          </a:p>
          <a:p xmlns:a="http://schemas.openxmlformats.org/drawingml/2006/main">
            <a:r>
              <a:t>Library and pandas: A library is reusable code. pandas provides tools for data tables. import pandas as pd makes pd a short name for that library.</a:t>
            </a:r>
          </a:p>
          <a:p xmlns:a="http://schemas.openxmlformats.org/drawingml/2006/main">
            <a:r>
              <a:t>DataFrame: A table with named columns and indexed rows. df is just the variable name we choose for this table.</a:t>
            </a:r>
          </a:p>
          <a:p xmlns:a="http://schemas.openxmlformats.org/drawingml/2006/main">
            <a:r>
              <a:t/>
            </a:r>
          </a:p>
          <a:p xmlns:a="http://schemas.openxmlformats.org/drawingml/2006/main">
            <a:r>
              <a:t>NEXT</a:t>
            </a:r>
          </a:p>
          <a:p xmlns:a="http://schemas.openxmlformats.org/drawingml/2006/main">
            <a:r>
              <a:t>A DataFrame is a labelled table.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labelled table in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labelled table in Python</a:t>
            </a:r>
          </a:p>
          <a:p xmlns:a="http://schemas.openxmlformats.org/drawingml/2006/main">
            <a:r>
              <a:t/>
            </a:r>
          </a:p>
          <a:p xmlns:a="http://schemas.openxmlformats.org/drawingml/2006/main">
            <a:r>
              <a:t>CONNECT</a:t>
            </a:r>
          </a:p>
          <a:p xmlns:a="http://schemas.openxmlformats.org/drawingml/2006/main">
            <a:r>
              <a:t>Build on Library and pandas and DataFrame. Explain why this example is needed before running it.</a:t>
            </a:r>
          </a:p>
          <a:p xmlns:a="http://schemas.openxmlformats.org/drawingml/2006/main">
            <a:r>
              <a:t/>
            </a:r>
          </a:p>
          <a:p xmlns:a="http://schemas.openxmlformats.org/drawingml/2006/main">
            <a:r>
              <a:t>EXPLAIN</a:t>
            </a:r>
          </a:p>
          <a:p xmlns:a="http://schemas.openxmlformats.org/drawingml/2006/main">
            <a:r>
              <a:t>The illustration uses machinery records. The same row, column and index structure applies to our building-energy table.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labelled table in Python</a:t>
            </a:r>
          </a:p>
          <a:p xmlns:a="http://schemas.openxmlformats.org/drawingml/2006/main">
            <a:r>
              <a:t/>
            </a:r>
          </a:p>
          <a:p xmlns:a="http://schemas.openxmlformats.org/drawingml/2006/main">
            <a:r>
              <a:t>CONNECT</a:t>
            </a:r>
          </a:p>
          <a:p xmlns:a="http://schemas.openxmlformats.org/drawingml/2006/main">
            <a:r>
              <a:t>Build on the preceding slide: A DataFrame is a labelled table.</a:t>
            </a:r>
          </a:p>
          <a:p xmlns:a="http://schemas.openxmlformats.org/drawingml/2006/main">
            <a:r>
              <a:t/>
            </a:r>
          </a:p>
          <a:p xmlns:a="http://schemas.openxmlformats.org/drawingml/2006/main">
            <a:r>
              <a:t>LECTURER CUE</a:t>
            </a:r>
          </a:p>
          <a:p xmlns:a="http://schemas.openxmlformats.org/drawingml/2006/main">
            <a:r>
              <a:t>Point to one row, column, index and dtype. This maintenance table is illustrative. Work with the issued cohort table next.</a:t>
            </a:r>
          </a:p>
          <a:p xmlns:a="http://schemas.openxmlformats.org/drawingml/2006/main">
            <a:r>
              <a:t>Source: existing course illustration figs/dataframe_anatomy.png. These are illustrative examples, not this cohort’s assessed results.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NEXT</a:t>
            </a:r>
          </a:p>
          <a:p xmlns:a="http://schemas.openxmlformats.org/drawingml/2006/main">
            <a:r>
              <a:t>Words we will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Series and Method and attribute.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Series and Method and attribute</a:t>
            </a:r>
          </a:p>
          <a:p xmlns:a="http://schemas.openxmlformats.org/drawingml/2006/main">
            <a:r>
              <a:t/>
            </a:r>
          </a:p>
          <a:p xmlns:a="http://schemas.openxmlformats.org/drawingml/2006/main">
            <a:r>
              <a:t>CONNECT</a:t>
            </a:r>
          </a:p>
          <a:p xmlns:a="http://schemas.openxmlformats.org/drawingml/2006/main">
            <a:r>
              <a:t>Build on A labelled table in Python. Explain why this example is needed before running it.</a:t>
            </a:r>
          </a:p>
          <a:p xmlns:a="http://schemas.openxmlformats.org/drawingml/2006/main">
            <a:r>
              <a:t/>
            </a:r>
          </a:p>
          <a:p xmlns:a="http://schemas.openxmlformats.org/drawingml/2006/main">
            <a:r>
              <a:t>EXPLAIN</a:t>
            </a:r>
          </a:p>
          <a:p xmlns:a="http://schemas.openxmlformats.org/drawingml/2006/main">
            <a:r>
              <a:t>Series: One labelled column. df["kwh"] selects the column named kwh.</a:t>
            </a:r>
          </a:p>
          <a:p xmlns:a="http://schemas.openxmlformats.org/drawingml/2006/main">
            <a:r>
              <a:t>Method and attribute: A method performs an operation, as in df.head(). An attribute provides a stored property, as in df.shape. Parentheses call an operation.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the preceding slide: A labelled table in Python.</a:t>
            </a:r>
          </a:p>
          <a:p xmlns:a="http://schemas.openxmlformats.org/drawingml/2006/main">
            <a:r>
              <a:t/>
            </a:r>
          </a:p>
          <a:p xmlns:a="http://schemas.openxmlformats.org/drawingml/2006/main">
            <a:r>
              <a:t>EXPLAIN IN ORDINARY WORDS</a:t>
            </a:r>
          </a:p>
          <a:p xmlns:a="http://schemas.openxmlformats.org/drawingml/2006/main">
            <a:r>
              <a:t>A DataFrame is a labelled table. A Series is a single labelled sequence, often one column. A dtype describes stored values, but the import may infer something unsuitable.</a:t>
            </a:r>
          </a:p>
          <a:p xmlns:a="http://schemas.openxmlformats.org/drawingml/2006/main">
            <a:r>
              <a:t/>
            </a:r>
          </a:p>
          <a:p xmlns:a="http://schemas.openxmlformats.org/drawingml/2006/main">
            <a:r>
              <a:t>CHECK AND EXPECTED ANSWER</a:t>
            </a:r>
          </a:p>
          <a:p xmlns:a="http://schemas.openxmlformats.org/drawingml/2006/main">
            <a:r>
              <a:t>Does a price that looks numeric prove the column is numeric? No. Inspect its dtype and troublesome values before conversion.</a:t>
            </a:r>
          </a:p>
          <a:p xmlns:a="http://schemas.openxmlformats.org/drawingml/2006/main">
            <a:r>
              <a:t/>
            </a:r>
          </a:p>
          <a:p xmlns:a="http://schemas.openxmlformats.org/drawingml/2006/main">
            <a:r>
              <a:t>IF LEARNERS ARE STUCK</a:t>
            </a:r>
          </a:p>
          <a:p xmlns:a="http://schemas.openxmlformats.org/drawingml/2006/main">
            <a:r>
              <a:t>Use head, shape and dtypes to locate the table, count rows/columns and inspect storage. Check units and missing values before calculating.</a:t>
            </a:r>
          </a:p>
          <a:p xmlns:a="http://schemas.openxmlformats.org/drawingml/2006/main">
            <a:r>
              <a:t/>
            </a:r>
          </a:p>
          <a:p xmlns:a="http://schemas.openxmlformats.org/drawingml/2006/main">
            <a:r>
              <a:t>POINT TO THE DEFINITION</a:t>
            </a:r>
          </a:p>
          <a:p xmlns:a="http://schemas.openxmlformats.org/drawingml/2006/main">
            <a:r>
              <a:t>Series: One labelled column. df["kwh"] selects the column named kwh.</a:t>
            </a:r>
          </a:p>
          <a:p xmlns:a="http://schemas.openxmlformats.org/drawingml/2006/main">
            <a:r>
              <a:t>Method and attribute: A method performs an operation, as in df.head(). An attribute provides a stored property, as in df.shape. Parentheses call an operation.</a:t>
            </a:r>
          </a:p>
          <a:p xmlns:a="http://schemas.openxmlformats.org/drawingml/2006/main">
            <a:r>
              <a:t/>
            </a:r>
          </a:p>
          <a:p xmlns:a="http://schemas.openxmlformats.org/drawingml/2006/main">
            <a:r>
              <a:t>NEXT</a:t>
            </a:r>
          </a:p>
          <a:p xmlns:a="http://schemas.openxmlformats.org/drawingml/2006/main">
            <a:r>
              <a:t>Reading pandas syntax.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Reading pandas syntax.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pandas syntax</a:t>
            </a:r>
          </a:p>
          <a:p xmlns:a="http://schemas.openxmlformats.org/drawingml/2006/main">
            <a:r>
              <a:t/>
            </a:r>
          </a:p>
          <a:p xmlns:a="http://schemas.openxmlformats.org/drawingml/2006/main">
            <a:r>
              <a:t>CONNECT</a:t>
            </a:r>
          </a:p>
          <a:p xmlns:a="http://schemas.openxmlformats.org/drawingml/2006/main">
            <a:r>
              <a:t>Build on Series and Method and attribute. Explain why this example is needed before running it.</a:t>
            </a:r>
          </a:p>
          <a:p xmlns:a="http://schemas.openxmlformats.org/drawingml/2006/main">
            <a:r>
              <a:t/>
            </a:r>
          </a:p>
          <a:p xmlns:a="http://schemas.openxmlformats.org/drawingml/2006/main">
            <a:r>
              <a:t>EXPLAIN</a:t>
            </a:r>
          </a:p>
          <a:p xmlns:a="http://schemas.openxmlformats.org/drawingml/2006/main">
            <a:r>
              <a:t>import pandas as pd loads the library and gives it a short name.</a:t>
            </a:r>
          </a:p>
          <a:p xmlns:a="http://schemas.openxmlformats.org/drawingml/2006/main">
            <a:r>
              <a:t/>
            </a:r>
          </a:p>
          <a:p xmlns:a="http://schemas.openxmlformats.org/drawingml/2006/main">
            <a:r>
              <a:t>pd.read_csv("file.csv") calls a function. The quoted text is the file path.</a:t>
            </a:r>
          </a:p>
          <a:p xmlns:a="http://schemas.openxmlformats.org/drawingml/2006/main">
            <a:r>
              <a:t/>
            </a:r>
          </a:p>
          <a:p xmlns:a="http://schemas.openxmlformats.org/drawingml/2006/main">
            <a:r>
              <a:t>df["kwh"] selects a column. df["kwh"].mean() calls a method on that column.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Reading pandas syntax</a:t>
            </a:r>
          </a:p>
          <a:p xmlns:a="http://schemas.openxmlformats.org/drawingml/2006/main">
            <a:r>
              <a:t/>
            </a:r>
          </a:p>
          <a:p xmlns:a="http://schemas.openxmlformats.org/drawingml/2006/main">
            <a:r>
              <a:t>CONNECT</a:t>
            </a:r>
          </a:p>
          <a:p xmlns:a="http://schemas.openxmlformats.org/drawingml/2006/main">
            <a:r>
              <a:t>Build on the preceding slide: Words we will use.</a:t>
            </a:r>
          </a:p>
          <a:p xmlns:a="http://schemas.openxmlformats.org/drawingml/2006/main">
            <a:r>
              <a:t/>
            </a:r>
          </a:p>
          <a:p xmlns:a="http://schemas.openxmlformats.org/drawingml/2006/main">
            <a:r>
              <a:t>LECTURER CUE</a:t>
            </a:r>
          </a:p>
          <a:p xmlns:a="http://schemas.openxmlformats.org/drawingml/2006/main">
            <a:r>
              <a:t>Replace file.csv with the actual issued filename. Explain library, alias, function and method before running the worked example.</a:t>
            </a:r>
          </a:p>
          <a:p xmlns:a="http://schemas.openxmlformats.org/drawingml/2006/main">
            <a:r>
              <a:t/>
            </a:r>
          </a:p>
          <a:p xmlns:a="http://schemas.openxmlformats.org/drawingml/2006/main">
            <a:r>
              <a:t>EXPLAIN IN ORDINARY WORDS</a:t>
            </a:r>
          </a:p>
          <a:p xmlns:a="http://schemas.openxmlformats.org/drawingml/2006/main">
            <a:r>
              <a:t>A DataFrame is a labelled table. A Series is a single labelled sequence, often one column. A dtype describes stored values, but the import may infer something unsuitable.</a:t>
            </a:r>
          </a:p>
          <a:p xmlns:a="http://schemas.openxmlformats.org/drawingml/2006/main">
            <a:r>
              <a:t/>
            </a:r>
          </a:p>
          <a:p xmlns:a="http://schemas.openxmlformats.org/drawingml/2006/main">
            <a:r>
              <a:t>CHECK AND EXPECTED ANSWER</a:t>
            </a:r>
          </a:p>
          <a:p xmlns:a="http://schemas.openxmlformats.org/drawingml/2006/main">
            <a:r>
              <a:t>Does a price that looks numeric prove the column is numeric? No. Inspect its dtype and troublesome values before conversion.</a:t>
            </a:r>
          </a:p>
          <a:p xmlns:a="http://schemas.openxmlformats.org/drawingml/2006/main">
            <a:r>
              <a:t/>
            </a:r>
          </a:p>
          <a:p xmlns:a="http://schemas.openxmlformats.org/drawingml/2006/main">
            <a:r>
              <a:t>IF LEARNERS ARE STUCK</a:t>
            </a:r>
          </a:p>
          <a:p xmlns:a="http://schemas.openxmlformats.org/drawingml/2006/main">
            <a:r>
              <a:t>Use head, shape and dtypes to locate the table, count rows/columns and inspect storage. Check units and missing values before calculating.</a:t>
            </a:r>
          </a:p>
          <a:p xmlns:a="http://schemas.openxmlformats.org/drawingml/2006/main">
            <a:r>
              <a:t/>
            </a:r>
          </a:p>
          <a:p xmlns:a="http://schemas.openxmlformats.org/drawingml/2006/main">
            <a:r>
              <a:t>NEXT</a:t>
            </a:r>
          </a:p>
          <a:p xmlns:a="http://schemas.openxmlformats.org/drawingml/2006/main">
            <a:r>
              <a:t>Build the table before asking questions.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Build the table before asking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Build the table before asking questions</a:t>
            </a:r>
          </a:p>
          <a:p xmlns:a="http://schemas.openxmlformats.org/drawingml/2006/main">
            <a:r>
              <a:t/>
            </a:r>
          </a:p>
          <a:p xmlns:a="http://schemas.openxmlformats.org/drawingml/2006/main">
            <a:r>
              <a:t>CONNECT</a:t>
            </a:r>
          </a:p>
          <a:p xmlns:a="http://schemas.openxmlformats.org/drawingml/2006/main">
            <a:r>
              <a:t>Build on Reading pandas syntax. Explain why this example is needed before running it.</a:t>
            </a:r>
          </a:p>
          <a:p xmlns:a="http://schemas.openxmlformats.org/drawingml/2006/main">
            <a:r>
              <a:t/>
            </a:r>
          </a:p>
          <a:p xmlns:a="http://schemas.openxmlformats.org/drawingml/2006/main">
            <a:r>
              <a:t>EXPLAIN</a:t>
            </a:r>
          </a:p>
          <a:p xmlns:a="http://schemas.openxmlformats.org/drawingml/2006/main">
            <a:r>
              <a:t>Each dictionary key becomes a column name. Equal-length lists supply its rows.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Build the table before asking questions</a:t>
            </a:r>
          </a:p>
          <a:p xmlns:a="http://schemas.openxmlformats.org/drawingml/2006/main">
            <a:r>
              <a:t/>
            </a:r>
          </a:p>
          <a:p xmlns:a="http://schemas.openxmlformats.org/drawingml/2006/main">
            <a:r>
              <a:t>CONNECT</a:t>
            </a:r>
          </a:p>
          <a:p xmlns:a="http://schemas.openxmlformats.org/drawingml/2006/main">
            <a:r>
              <a:t>Build on the preceding slide: Reading pandas syntax.</a:t>
            </a:r>
          </a:p>
          <a:p xmlns:a="http://schemas.openxmlformats.org/drawingml/2006/main">
            <a:r>
              <a:t/>
            </a:r>
          </a:p>
          <a:p xmlns:a="http://schemas.openxmlformats.org/drawingml/2006/main">
            <a:r>
              <a:t>LECTURER CUE</a:t>
            </a:r>
          </a:p>
          <a:p xmlns:a="http://schemas.openxmlformats.org/drawingml/2006/main">
            <a:r>
              <a:t>Each dictionary key becomes a column name. Equal-length lists supply its rows.</a:t>
            </a:r>
          </a:p>
          <a:p xmlns:a="http://schemas.openxmlformats.org/drawingml/2006/main">
            <a:r>
              <a:t/>
            </a:r>
          </a:p>
          <a:p xmlns:a="http://schemas.openxmlformats.org/drawingml/2006/main">
            <a:r>
              <a:t>Complete practice code:</a:t>
            </a:r>
          </a:p>
          <a:p xmlns:a="http://schemas.openxmlformats.org/drawingml/2006/main">
            <a:r>
              <a:t>import pandas as pd</a:t>
            </a:r>
          </a:p>
          <a:p xmlns:a="http://schemas.openxmlformats.org/drawingml/2006/main">
            <a:r>
              <a:t>df = pd.DataFrame({"building": ["A", "A", "B", "B"],</a:t>
            </a:r>
          </a:p>
          <a:p xmlns:a="http://schemas.openxmlformats.org/drawingml/2006/main">
            <a:r>
              <a:t>                   "kwh": [2, 4, 5, 7]})</a:t>
            </a:r>
          </a:p>
          <a:p xmlns:a="http://schemas.openxmlformats.org/drawingml/2006/main">
            <a:r>
              <a:t>print(df)</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WALK THROUGH THIS CODE</a:t>
            </a:r>
          </a:p>
          <a:p xmlns:a="http://schemas.openxmlformats.org/drawingml/2006/main">
            <a:r>
              <a:t>import loads a library. from selects a tool from it.</a:t>
            </a:r>
          </a:p>
          <a:p xmlns:a="http://schemas.openxmlformats.org/drawingml/2006/main">
            <a:r>
              <a:t>print displays a value below the cell.</a:t>
            </a:r>
          </a:p>
          <a:p xmlns:a="http://schemas.openxmlformats.org/drawingml/2006/main">
            <a:r>
              <a:t>Square brackets create a list or select an item.</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Select a column and calculate its mean.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Select a column and calculate its mean.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Select a column and calculate its mean</a:t>
            </a:r>
          </a:p>
          <a:p xmlns:a="http://schemas.openxmlformats.org/drawingml/2006/main">
            <a:r>
              <a:t/>
            </a:r>
          </a:p>
          <a:p xmlns:a="http://schemas.openxmlformats.org/drawingml/2006/main">
            <a:r>
              <a:t>CONNECT</a:t>
            </a:r>
          </a:p>
          <a:p xmlns:a="http://schemas.openxmlformats.org/drawingml/2006/main">
            <a:r>
              <a:t>Build on Build the table before asking questions. Explain why this example is needed before running it.</a:t>
            </a:r>
          </a:p>
          <a:p xmlns:a="http://schemas.openxmlformats.org/drawingml/2006/main">
            <a:r>
              <a:t/>
            </a:r>
          </a:p>
          <a:p xmlns:a="http://schemas.openxmlformats.org/drawingml/2006/main">
            <a:r>
              <a:t>EXPLAIN</a:t>
            </a:r>
          </a:p>
          <a:p xmlns:a="http://schemas.openxmlformats.org/drawingml/2006/main">
            <a:r>
              <a:t>The four numbers are 2, 4, 5 and 7. Their mean is 18 / 4 = 4.5 kWh.</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Select a column and calculate its mean</a:t>
            </a:r>
          </a:p>
          <a:p xmlns:a="http://schemas.openxmlformats.org/drawingml/2006/main">
            <a:r>
              <a:t/>
            </a:r>
          </a:p>
          <a:p xmlns:a="http://schemas.openxmlformats.org/drawingml/2006/main">
            <a:r>
              <a:t>CONNECT</a:t>
            </a:r>
          </a:p>
          <a:p xmlns:a="http://schemas.openxmlformats.org/drawingml/2006/main">
            <a:r>
              <a:t>Build on the preceding slide: Build the table before asking questions.</a:t>
            </a:r>
          </a:p>
          <a:p xmlns:a="http://schemas.openxmlformats.org/drawingml/2006/main">
            <a:r>
              <a:t/>
            </a:r>
          </a:p>
          <a:p xmlns:a="http://schemas.openxmlformats.org/drawingml/2006/main">
            <a:r>
              <a:t>LECTURER CUE</a:t>
            </a:r>
          </a:p>
          <a:p xmlns:a="http://schemas.openxmlformats.org/drawingml/2006/main">
            <a:r>
              <a:t>The four numbers are 2, 4, 5 and 7. Their mean is 18 / 4 = 4.5 kWh.</a:t>
            </a:r>
          </a:p>
          <a:p xmlns:a="http://schemas.openxmlformats.org/drawingml/2006/main">
            <a:r>
              <a:t/>
            </a:r>
          </a:p>
          <a:p xmlns:a="http://schemas.openxmlformats.org/drawingml/2006/main">
            <a:r>
              <a:t>Complete practice code:</a:t>
            </a:r>
          </a:p>
          <a:p xmlns:a="http://schemas.openxmlformats.org/drawingml/2006/main">
            <a:r>
              <a:t>print(df["kwh"])</a:t>
            </a:r>
          </a:p>
          <a:p xmlns:a="http://schemas.openxmlformats.org/drawingml/2006/main">
            <a:r>
              <a:t>print(df["kwh"].mean())</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WALK THROUGH THIS CODE</a:t>
            </a:r>
          </a:p>
          <a:p xmlns:a="http://schemas.openxmlformats.org/drawingml/2006/main">
            <a:r>
              <a:t>print displays a value below the cell.</a:t>
            </a:r>
          </a:p>
          <a:p xmlns:a="http://schemas.openxmlformats.org/drawingml/2006/main">
            <a:r>
              <a:t>Square brackets create a list or select an item.</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Mask and filter.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Mask and filter.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Mask and filter</a:t>
            </a:r>
          </a:p>
          <a:p xmlns:a="http://schemas.openxmlformats.org/drawingml/2006/main">
            <a:r>
              <a:t/>
            </a:r>
          </a:p>
          <a:p xmlns:a="http://schemas.openxmlformats.org/drawingml/2006/main">
            <a:r>
              <a:t>CONNECT</a:t>
            </a:r>
          </a:p>
          <a:p xmlns:a="http://schemas.openxmlformats.org/drawingml/2006/main">
            <a:r>
              <a:t>Build on Select a column and calculate its mean. Explain why this example is needed before running it.</a:t>
            </a:r>
          </a:p>
          <a:p xmlns:a="http://schemas.openxmlformats.org/drawingml/2006/main">
            <a:r>
              <a:t/>
            </a:r>
          </a:p>
          <a:p xmlns:a="http://schemas.openxmlformats.org/drawingml/2006/main">
            <a:r>
              <a:t>EXPLAIN</a:t>
            </a:r>
          </a:p>
          <a:p xmlns:a="http://schemas.openxmlformats.org/drawingml/2006/main">
            <a:r>
              <a:t>Mask and filter: A comparison produces True/False for each row. df[mask] keeps the True rows.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Mask and filter</a:t>
            </a:r>
          </a:p>
          <a:p xmlns:a="http://schemas.openxmlformats.org/drawingml/2006/main">
            <a:r>
              <a:t/>
            </a:r>
          </a:p>
          <a:p xmlns:a="http://schemas.openxmlformats.org/drawingml/2006/main">
            <a:r>
              <a:t>CONNECT</a:t>
            </a:r>
          </a:p>
          <a:p xmlns:a="http://schemas.openxmlformats.org/drawingml/2006/main">
            <a:r>
              <a:t>Build on the preceding slide: Select a column and calculate its mean.</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POINT TO THE DEFINITION</a:t>
            </a:r>
          </a:p>
          <a:p xmlns:a="http://schemas.openxmlformats.org/drawingml/2006/main">
            <a:r>
              <a:t>Mask and filter: A comparison produces True/False for each row. df[mask] keeps the True rows.</a:t>
            </a:r>
          </a:p>
          <a:p xmlns:a="http://schemas.openxmlformats.org/drawingml/2006/main">
            <a:r>
              <a:t/>
            </a:r>
          </a:p>
          <a:p xmlns:a="http://schemas.openxmlformats.org/drawingml/2006/main">
            <a:r>
              <a:t>NEXT</a:t>
            </a:r>
          </a:p>
          <a:p xmlns:a="http://schemas.openxmlformats.org/drawingml/2006/main">
            <a:r>
              <a:t>A comparison creates a Boolean mask.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comparison creates a Boolean mask.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comparison creates a Boolean mask</a:t>
            </a:r>
          </a:p>
          <a:p xmlns:a="http://schemas.openxmlformats.org/drawingml/2006/main">
            <a:r>
              <a:t/>
            </a:r>
          </a:p>
          <a:p xmlns:a="http://schemas.openxmlformats.org/drawingml/2006/main">
            <a:r>
              <a:t>CONNECT</a:t>
            </a:r>
          </a:p>
          <a:p xmlns:a="http://schemas.openxmlformats.org/drawingml/2006/main">
            <a:r>
              <a:t>Build on Mask and filter. Explain why this example is needed before running it.</a:t>
            </a:r>
          </a:p>
          <a:p xmlns:a="http://schemas.openxmlformats.org/drawingml/2006/main">
            <a:r>
              <a:t/>
            </a:r>
          </a:p>
          <a:p xmlns:a="http://schemas.openxmlformats.org/drawingml/2006/main">
            <a:r>
              <a:t>EXPLAIN</a:t>
            </a:r>
          </a:p>
          <a:p xmlns:a="http://schemas.openxmlformats.org/drawingml/2006/main">
            <a:r>
              <a:t>The illustration filters torque readings. Our next example applies the same True/False selection to kWh values.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comparison creates a Boolean mask</a:t>
            </a:r>
          </a:p>
          <a:p xmlns:a="http://schemas.openxmlformats.org/drawingml/2006/main">
            <a:r>
              <a:t/>
            </a:r>
          </a:p>
          <a:p xmlns:a="http://schemas.openxmlformats.org/drawingml/2006/main">
            <a:r>
              <a:t>CONNECT</a:t>
            </a:r>
          </a:p>
          <a:p xmlns:a="http://schemas.openxmlformats.org/drawingml/2006/main">
            <a:r>
              <a:t>Build on the preceding slide: Mask and filter.</a:t>
            </a:r>
          </a:p>
          <a:p xmlns:a="http://schemas.openxmlformats.org/drawingml/2006/main">
            <a:r>
              <a:t/>
            </a:r>
          </a:p>
          <a:p xmlns:a="http://schemas.openxmlformats.org/drawingml/2006/main">
            <a:r>
              <a:t>LECTURER CUE</a:t>
            </a:r>
          </a:p>
          <a:p xmlns:a="http://schemas.openxmlformats.org/drawingml/2006/main">
            <a:r>
              <a:t>Read &gt; as greater than, then trace one row through the mask. Selection does not delete the source rows. 40 is a practice threshold, not a safety standard.</a:t>
            </a:r>
          </a:p>
          <a:p xmlns:a="http://schemas.openxmlformats.org/drawingml/2006/main">
            <a:r>
              <a:t>Source: existing course illustration figs/boolean_mask.png. These are illustrative examples, not this cohort’s assessed results.</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NEXT</a:t>
            </a:r>
          </a:p>
          <a:p xmlns:a="http://schemas.openxmlformats.org/drawingml/2006/main">
            <a:r>
              <a:t>Keep rows where the comparison is true.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Keep rows where the comparison is true.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Keep rows where the comparison is true</a:t>
            </a:r>
          </a:p>
          <a:p xmlns:a="http://schemas.openxmlformats.org/drawingml/2006/main">
            <a:r>
              <a:t/>
            </a:r>
          </a:p>
          <a:p xmlns:a="http://schemas.openxmlformats.org/drawingml/2006/main">
            <a:r>
              <a:t>CONNECT</a:t>
            </a:r>
          </a:p>
          <a:p xmlns:a="http://schemas.openxmlformats.org/drawingml/2006/main">
            <a:r>
              <a:t>Build on A comparison creates a Boolean mask. Explain why this example is needed before running it.</a:t>
            </a:r>
          </a:p>
          <a:p xmlns:a="http://schemas.openxmlformats.org/drawingml/2006/main">
            <a:r>
              <a:t/>
            </a:r>
          </a:p>
          <a:p xmlns:a="http://schemas.openxmlformats.org/drawingml/2006/main">
            <a:r>
              <a:t>EXPLAIN</a:t>
            </a:r>
          </a:p>
          <a:p xmlns:a="http://schemas.openxmlformats.org/drawingml/2006/main">
            <a:r>
              <a:t>The mask is False, False, True, True. The selected rows contain 5 and 7 kWh.</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Keep rows where the comparison is true</a:t>
            </a:r>
          </a:p>
          <a:p xmlns:a="http://schemas.openxmlformats.org/drawingml/2006/main">
            <a:r>
              <a:t/>
            </a:r>
          </a:p>
          <a:p xmlns:a="http://schemas.openxmlformats.org/drawingml/2006/main">
            <a:r>
              <a:t>CONNECT</a:t>
            </a:r>
          </a:p>
          <a:p xmlns:a="http://schemas.openxmlformats.org/drawingml/2006/main">
            <a:r>
              <a:t>Build on the preceding slide: A comparison creates a Boolean mask.</a:t>
            </a:r>
          </a:p>
          <a:p xmlns:a="http://schemas.openxmlformats.org/drawingml/2006/main">
            <a:r>
              <a:t/>
            </a:r>
          </a:p>
          <a:p xmlns:a="http://schemas.openxmlformats.org/drawingml/2006/main">
            <a:r>
              <a:t>LECTURER CUE</a:t>
            </a:r>
          </a:p>
          <a:p xmlns:a="http://schemas.openxmlformats.org/drawingml/2006/main">
            <a:r>
              <a:t>The mask is False, False, True, True. The selected rows contain 5 and 7 kWh.</a:t>
            </a:r>
          </a:p>
          <a:p xmlns:a="http://schemas.openxmlformats.org/drawingml/2006/main">
            <a:r>
              <a:t/>
            </a:r>
          </a:p>
          <a:p xmlns:a="http://schemas.openxmlformats.org/drawingml/2006/main">
            <a:r>
              <a:t>Complete practice code:</a:t>
            </a:r>
          </a:p>
          <a:p xmlns:a="http://schemas.openxmlformats.org/drawingml/2006/main">
            <a:r>
              <a:t>mask = df["kwh"] &gt; 4</a:t>
            </a:r>
          </a:p>
          <a:p xmlns:a="http://schemas.openxmlformats.org/drawingml/2006/main">
            <a:r>
              <a:t>print(mask)</a:t>
            </a:r>
          </a:p>
          <a:p xmlns:a="http://schemas.openxmlformats.org/drawingml/2006/main">
            <a:r>
              <a:t>print(df[mask])</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WALK THROUGH THIS CODE</a:t>
            </a:r>
          </a:p>
          <a:p xmlns:a="http://schemas.openxmlformats.org/drawingml/2006/main">
            <a:r>
              <a:t>print displays a value below the cell.</a:t>
            </a:r>
          </a:p>
          <a:p xmlns:a="http://schemas.openxmlformats.org/drawingml/2006/main">
            <a:r>
              <a:t>Square brackets create a list or select an item.</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groupby and aggregation.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groupby and aggregation.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groupby and aggregation</a:t>
            </a:r>
          </a:p>
          <a:p xmlns:a="http://schemas.openxmlformats.org/drawingml/2006/main">
            <a:r>
              <a:t/>
            </a:r>
          </a:p>
          <a:p xmlns:a="http://schemas.openxmlformats.org/drawingml/2006/main">
            <a:r>
              <a:t>CONNECT</a:t>
            </a:r>
          </a:p>
          <a:p xmlns:a="http://schemas.openxmlformats.org/drawingml/2006/main">
            <a:r>
              <a:t>Build on Keep rows where the comparison is true. Explain why this example is needed before running it.</a:t>
            </a:r>
          </a:p>
          <a:p xmlns:a="http://schemas.openxmlformats.org/drawingml/2006/main">
            <a:r>
              <a:t/>
            </a:r>
          </a:p>
          <a:p xmlns:a="http://schemas.openxmlformats.org/drawingml/2006/main">
            <a:r>
              <a:t>EXPLAIN</a:t>
            </a:r>
          </a:p>
          <a:p xmlns:a="http://schemas.openxmlformats.org/drawingml/2006/main">
            <a:r>
              <a:t>groupby and aggregation: groupby collects rows with the same label. An aggregation such as sum or mean returns a summary for each group.</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groupby and aggregation</a:t>
            </a:r>
          </a:p>
          <a:p xmlns:a="http://schemas.openxmlformats.org/drawingml/2006/main">
            <a:r>
              <a:t/>
            </a:r>
          </a:p>
          <a:p xmlns:a="http://schemas.openxmlformats.org/drawingml/2006/main">
            <a:r>
              <a:t>CONNECT</a:t>
            </a:r>
          </a:p>
          <a:p xmlns:a="http://schemas.openxmlformats.org/drawingml/2006/main">
            <a:r>
              <a:t>Build on the preceding slide: Keep rows where the comparison is true.</a:t>
            </a:r>
          </a:p>
          <a:p xmlns:a="http://schemas.openxmlformats.org/drawingml/2006/main">
            <a:r>
              <a:t/>
            </a:r>
          </a:p>
          <a:p xmlns:a="http://schemas.openxmlformats.org/drawingml/2006/main">
            <a:r>
              <a:t>EXPLAIN IN ORDINARY WORDS</a:t>
            </a:r>
          </a:p>
          <a:p xmlns:a="http://schemas.openxmlformats.org/drawingml/2006/main">
            <a:r>
              <a:t>Grouping puts rows sharing a key into buckets, then computes a result for each bucket. WHERE filters rows before SQL grouping; HAVING filters grouped results.</a:t>
            </a:r>
          </a:p>
          <a:p xmlns:a="http://schemas.openxmlformats.org/drawingml/2006/main">
            <a:r>
              <a:t/>
            </a:r>
          </a:p>
          <a:p xmlns:a="http://schemas.openxmlformats.org/drawingml/2006/main">
            <a:r>
              <a:t>CHECK AND EXPECTED ANSWER</a:t>
            </a:r>
          </a:p>
          <a:p xmlns:a="http://schemas.openxmlformats.org/drawingml/2006/main">
            <a:r>
              <a:t>Which condition keeps only groups with more than five rows? HAVING COUNT(*) &gt; 5.</a:t>
            </a:r>
          </a:p>
          <a:p xmlns:a="http://schemas.openxmlformats.org/drawingml/2006/main">
            <a:r>
              <a:t/>
            </a:r>
          </a:p>
          <a:p xmlns:a="http://schemas.openxmlformats.org/drawingml/2006/main">
            <a:r>
              <a:t>IF LEARNERS ARE STUCK</a:t>
            </a:r>
          </a:p>
          <a:p xmlns:a="http://schemas.openxmlformats.org/drawingml/2006/main">
            <a:r>
              <a:t>Draw two buckets and count by hand. Name the intended output grain before writing the aggregation.</a:t>
            </a:r>
          </a:p>
          <a:p xmlns:a="http://schemas.openxmlformats.org/drawingml/2006/main">
            <a:r>
              <a:t/>
            </a:r>
          </a:p>
          <a:p xmlns:a="http://schemas.openxmlformats.org/drawingml/2006/main">
            <a:r>
              <a:t>POINT TO THE DEFINITION</a:t>
            </a:r>
          </a:p>
          <a:p xmlns:a="http://schemas.openxmlformats.org/drawingml/2006/main">
            <a:r>
              <a:t>groupby and aggregation: groupby collects rows with the same label. An aggregation such as sum or mean returns a summary for each group.</a:t>
            </a:r>
          </a:p>
          <a:p xmlns:a="http://schemas.openxmlformats.org/drawingml/2006/main">
            <a:r>
              <a:t/>
            </a:r>
          </a:p>
          <a:p xmlns:a="http://schemas.openxmlformats.org/drawingml/2006/main">
            <a:r>
              <a:t>NEXT</a:t>
            </a:r>
          </a:p>
          <a:p xmlns:a="http://schemas.openxmlformats.org/drawingml/2006/main">
            <a:r>
              <a:t>Selection and grouping answer different questions.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Calculate one total for each building.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Calculate one total for each building</a:t>
            </a:r>
          </a:p>
          <a:p xmlns:a="http://schemas.openxmlformats.org/drawingml/2006/main">
            <a:r>
              <a:t/>
            </a:r>
          </a:p>
          <a:p xmlns:a="http://schemas.openxmlformats.org/drawingml/2006/main">
            <a:r>
              <a:t>CONNECT</a:t>
            </a:r>
          </a:p>
          <a:p xmlns:a="http://schemas.openxmlformats.org/drawingml/2006/main">
            <a:r>
              <a:t>Build on groupby and aggregation. Explain why this example is needed before running it.</a:t>
            </a:r>
          </a:p>
          <a:p xmlns:a="http://schemas.openxmlformats.org/drawingml/2006/main">
            <a:r>
              <a:t/>
            </a:r>
          </a:p>
          <a:p xmlns:a="http://schemas.openxmlformats.org/drawingml/2006/main">
            <a:r>
              <a:t>EXPLAIN</a:t>
            </a:r>
          </a:p>
          <a:p xmlns:a="http://schemas.openxmlformats.org/drawingml/2006/main">
            <a:r>
              <a:t>Expected: A totals 6 kWh; B totals 12 kWh.</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Calculate one total for each building</a:t>
            </a:r>
          </a:p>
          <a:p xmlns:a="http://schemas.openxmlformats.org/drawingml/2006/main">
            <a:r>
              <a:t/>
            </a:r>
          </a:p>
          <a:p xmlns:a="http://schemas.openxmlformats.org/drawingml/2006/main">
            <a:r>
              <a:t>CONNECT</a:t>
            </a:r>
          </a:p>
          <a:p xmlns:a="http://schemas.openxmlformats.org/drawingml/2006/main">
            <a:r>
              <a:t>Build on the preceding slide: A chained expression is several small steps.</a:t>
            </a:r>
          </a:p>
          <a:p xmlns:a="http://schemas.openxmlformats.org/drawingml/2006/main">
            <a:r>
              <a:t/>
            </a:r>
          </a:p>
          <a:p xmlns:a="http://schemas.openxmlformats.org/drawingml/2006/main">
            <a:r>
              <a:t>LECTURER CUE</a:t>
            </a:r>
          </a:p>
          <a:p xmlns:a="http://schemas.openxmlformats.org/drawingml/2006/main">
            <a:r>
              <a:t>Expected: A totals 6 kWh; B totals 12 kWh.</a:t>
            </a:r>
          </a:p>
          <a:p xmlns:a="http://schemas.openxmlformats.org/drawingml/2006/main">
            <a:r>
              <a:t/>
            </a:r>
          </a:p>
          <a:p xmlns:a="http://schemas.openxmlformats.org/drawingml/2006/main">
            <a:r>
              <a:t>Complete practice code:</a:t>
            </a:r>
          </a:p>
          <a:p xmlns:a="http://schemas.openxmlformats.org/drawingml/2006/main">
            <a:r>
              <a:t>print(df.groupby("building")["kwh"].sum())</a:t>
            </a:r>
          </a:p>
          <a:p xmlns:a="http://schemas.openxmlformats.org/drawingml/2006/main">
            <a:r>
              <a:t/>
            </a:r>
          </a:p>
          <a:p xmlns:a="http://schemas.openxmlformats.org/drawingml/2006/main">
            <a:r>
              <a:t>EXPLAIN IN ORDINARY WORDS</a:t>
            </a:r>
          </a:p>
          <a:p xmlns:a="http://schemas.openxmlformats.org/drawingml/2006/main">
            <a:r>
              <a:t>Grouping puts rows sharing a key into buckets, then computes a result for each bucket. WHERE filters rows before SQL grouping; HAVING filters grouped results.</a:t>
            </a:r>
          </a:p>
          <a:p xmlns:a="http://schemas.openxmlformats.org/drawingml/2006/main">
            <a:r>
              <a:t/>
            </a:r>
          </a:p>
          <a:p xmlns:a="http://schemas.openxmlformats.org/drawingml/2006/main">
            <a:r>
              <a:t>CHECK AND EXPECTED ANSWER</a:t>
            </a:r>
          </a:p>
          <a:p xmlns:a="http://schemas.openxmlformats.org/drawingml/2006/main">
            <a:r>
              <a:t>Which condition keeps only groups with more than five rows? HAVING COUNT(*) &gt; 5.</a:t>
            </a:r>
          </a:p>
          <a:p xmlns:a="http://schemas.openxmlformats.org/drawingml/2006/main">
            <a:r>
              <a:t/>
            </a:r>
          </a:p>
          <a:p xmlns:a="http://schemas.openxmlformats.org/drawingml/2006/main">
            <a:r>
              <a:t>IF LEARNERS ARE STUCK</a:t>
            </a:r>
          </a:p>
          <a:p xmlns:a="http://schemas.openxmlformats.org/drawingml/2006/main">
            <a:r>
              <a:t>Draw two buckets and count by hand. Name the intended output grain before writing the aggregation.</a:t>
            </a:r>
          </a:p>
          <a:p xmlns:a="http://schemas.openxmlformats.org/drawingml/2006/main">
            <a:r>
              <a:t/>
            </a:r>
          </a:p>
          <a:p xmlns:a="http://schemas.openxmlformats.org/drawingml/2006/main">
            <a:r>
              <a:t>WALK THROUGH THIS CODE</a:t>
            </a:r>
          </a:p>
          <a:p xmlns:a="http://schemas.openxmlformats.org/drawingml/2006/main">
            <a:r>
              <a:t>print displays a value below the cell.</a:t>
            </a:r>
          </a:p>
          <a:p xmlns:a="http://schemas.openxmlformats.org/drawingml/2006/main">
            <a:r>
              <a:t>Square brackets create a list or select an item.</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Expected output.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Expected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pandas tables and summaries results</a:t>
            </a:r>
          </a:p>
          <a:p xmlns:a="http://schemas.openxmlformats.org/drawingml/2006/main">
            <a:r>
              <a:t/>
            </a:r>
          </a:p>
          <a:p xmlns:a="http://schemas.openxmlformats.org/drawingml/2006/main">
            <a:r>
              <a:t>CONNECT</a:t>
            </a:r>
          </a:p>
          <a:p xmlns:a="http://schemas.openxmlformats.org/drawingml/2006/main">
            <a:r>
              <a:t>Build on Calculate one total for each building. Explain why this example is needed before running it.</a:t>
            </a:r>
          </a:p>
          <a:p xmlns:a="http://schemas.openxmlformats.org/drawingml/2006/main">
            <a:r>
              <a:t/>
            </a:r>
          </a:p>
          <a:p xmlns:a="http://schemas.openxmlformats.org/drawingml/2006/main">
            <a:r>
              <a:t>EXPLAIN</a:t>
            </a:r>
          </a:p>
          <a:p xmlns:a="http://schemas.openxmlformats.org/drawingml/2006/main">
            <a:r>
              <a:t>Mean 4.5. The filter keeps B rows with 5 and 7. Group totals: A = 6, B = 12 kWh.</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Expected output</a:t>
            </a:r>
          </a:p>
          <a:p xmlns:a="http://schemas.openxmlformats.org/drawingml/2006/main">
            <a:r>
              <a:t/>
            </a:r>
          </a:p>
          <a:p xmlns:a="http://schemas.openxmlformats.org/drawingml/2006/main">
            <a:r>
              <a:t>CONNECT</a:t>
            </a:r>
          </a:p>
          <a:p xmlns:a="http://schemas.openxmlformats.org/drawingml/2006/main">
            <a:r>
              <a:t>Build on the preceding slide: Calculate one total for each building.</a:t>
            </a:r>
          </a:p>
          <a:p xmlns:a="http://schemas.openxmlformats.org/drawingml/2006/main">
            <a:r>
              <a:t/>
            </a:r>
          </a:p>
          <a:p xmlns:a="http://schemas.openxmlformats.org/drawingml/2006/main">
            <a:r>
              <a:t>LECTURER CUE</a:t>
            </a:r>
          </a:p>
          <a:p xmlns:a="http://schemas.openxmlformats.org/drawingml/2006/main">
            <a:r>
              <a:t>Compare the actual output character by character with this practice result. If it differs, read the first error and check the input, units, names and execution order. Do not copy this practice output into a graded answer.</a:t>
            </a:r>
          </a:p>
          <a:p xmlns:a="http://schemas.openxmlformats.org/drawingml/2006/main">
            <a:r>
              <a:t/>
            </a:r>
          </a:p>
          <a:p xmlns:a="http://schemas.openxmlformats.org/drawingml/2006/main">
            <a:r>
              <a:t>NEXT</a:t>
            </a:r>
          </a:p>
          <a:p xmlns:a="http://schemas.openxmlformats.org/drawingml/2006/main">
            <a:r>
              <a:t>Unique labels and the largest group.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Reading a chain one operation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a chain one operation at a time</a:t>
            </a:r>
          </a:p>
          <a:p xmlns:a="http://schemas.openxmlformats.org/drawingml/2006/main">
            <a:r>
              <a:t/>
            </a:r>
          </a:p>
          <a:p xmlns:a="http://schemas.openxmlformats.org/drawingml/2006/main">
            <a:r>
              <a:t>CONNECT</a:t>
            </a:r>
          </a:p>
          <a:p xmlns:a="http://schemas.openxmlformats.org/drawingml/2006/main">
            <a:r>
              <a:t>Build on pandas tables and summaries results. Explain why this example is needed before running it.</a:t>
            </a:r>
          </a:p>
          <a:p xmlns:a="http://schemas.openxmlformats.org/drawingml/2006/main">
            <a:r>
              <a:t/>
            </a:r>
          </a:p>
          <a:p xmlns:a="http://schemas.openxmlformats.org/drawingml/2006/main">
            <a:r>
              <a:t>EXPLAIN</a:t>
            </a:r>
          </a:p>
          <a:p xmlns:a="http://schemas.openxmlformats.org/drawingml/2006/main">
            <a:r>
              <a:t>df.groupby("building") groups rows by their building labels. ["kwh"] selects the energy values within each group. .sum() totals them.</a:t>
            </a:r>
          </a:p>
          <a:p xmlns:a="http://schemas.openxmlformats.org/drawingml/2006/main">
            <a:r>
              <a:t/>
            </a:r>
          </a:p>
          <a:p xmlns:a="http://schemas.openxmlformats.org/drawingml/2006/main">
            <a:r>
              <a:t>Store this result in totals. totals.idxmax() returns the label with the largest total. These are consecutive operations on the result of the previous step.</a:t>
            </a:r>
          </a:p>
          <a:p xmlns:a="http://schemas.openxmlformats.org/drawingml/2006/main">
            <a:r>
              <a:t/>
            </a:r>
          </a:p>
          <a:p xmlns:a="http://schemas.openxmlformats.org/drawingml/2006/main">
            <a:r>
              <a:t>LECTURER DETAIL</a:t>
            </a:r>
          </a:p>
          <a:p xmlns:a="http://schemas.openxmlformats.org/drawingml/2006/main">
            <a:r>
              <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Unique labels and the largest group.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Unique labels and the largest group</a:t>
            </a:r>
          </a:p>
          <a:p xmlns:a="http://schemas.openxmlformats.org/drawingml/2006/main">
            <a:r>
              <a:t/>
            </a:r>
          </a:p>
          <a:p xmlns:a="http://schemas.openxmlformats.org/drawingml/2006/main">
            <a:r>
              <a:t>CONNECT</a:t>
            </a:r>
          </a:p>
          <a:p xmlns:a="http://schemas.openxmlformats.org/drawingml/2006/main">
            <a:r>
              <a:t>Build on Reading a chain one operation at a time. Explain why this example is needed before running it.</a:t>
            </a:r>
          </a:p>
          <a:p xmlns:a="http://schemas.openxmlformats.org/drawingml/2006/main">
            <a:r>
              <a:t/>
            </a:r>
          </a:p>
          <a:p xmlns:a="http://schemas.openxmlformats.org/drawingml/2006/main">
            <a:r>
              <a:t>EXPLAIN</a:t>
            </a:r>
          </a:p>
          <a:p xmlns:a="http://schemas.openxmlformats.org/drawingml/2006/main">
            <a:r>
              <a:t>nunique counts distinct labels, not rows. idxmax returns the label of the largest total.</a:t>
            </a:r>
          </a:p>
          <a:p xmlns:a="http://schemas.openxmlformats.org/drawingml/2006/main">
            <a:r>
              <a:t/>
            </a:r>
          </a:p>
          <a:p xmlns:a="http://schemas.openxmlformats.org/drawingml/2006/main">
            <a:r>
              <a:t>Here there is no tie.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Unique labels and the largest group</a:t>
            </a:r>
          </a:p>
          <a:p xmlns:a="http://schemas.openxmlformats.org/drawingml/2006/main">
            <a:r>
              <a:t/>
            </a:r>
          </a:p>
          <a:p xmlns:a="http://schemas.openxmlformats.org/drawingml/2006/main">
            <a:r>
              <a:t>CONNECT</a:t>
            </a:r>
          </a:p>
          <a:p xmlns:a="http://schemas.openxmlformats.org/drawingml/2006/main">
            <a:r>
              <a:t>Build on the preceding slide: Expected output.</a:t>
            </a:r>
          </a:p>
          <a:p xmlns:a="http://schemas.openxmlformats.org/drawingml/2006/main">
            <a:r>
              <a:t/>
            </a:r>
          </a:p>
          <a:p xmlns:a="http://schemas.openxmlformats.org/drawingml/2006/main">
            <a:r>
              <a:t>LECTURER CUE</a:t>
            </a:r>
          </a:p>
          <a:p xmlns:a="http://schemas.openxmlformats.org/drawingml/2006/main">
            <a:r>
              <a:t>nunique counts distinct labels, not rows. idxmax returns the label of the largest total. Here there is no tie.</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NEXT</a:t>
            </a:r>
          </a:p>
          <a:p xmlns:a="http://schemas.openxmlformats.org/drawingml/2006/main">
            <a:r>
              <a:t>Unique labels and the largest group in Python.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Unique labels and the largest group in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Unique labels and the largest group in Python</a:t>
            </a:r>
          </a:p>
          <a:p xmlns:a="http://schemas.openxmlformats.org/drawingml/2006/main">
            <a:r>
              <a:t/>
            </a:r>
          </a:p>
          <a:p xmlns:a="http://schemas.openxmlformats.org/drawingml/2006/main">
            <a:r>
              <a:t>CONNECT</a:t>
            </a:r>
          </a:p>
          <a:p xmlns:a="http://schemas.openxmlformats.org/drawingml/2006/main">
            <a:r>
              <a:t>Build on Unique labels and the largest group.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Unique labels and the largest group in Python</a:t>
            </a:r>
          </a:p>
          <a:p xmlns:a="http://schemas.openxmlformats.org/drawingml/2006/main">
            <a:r>
              <a:t/>
            </a:r>
          </a:p>
          <a:p xmlns:a="http://schemas.openxmlformats.org/drawingml/2006/main">
            <a:r>
              <a:t>CONNECT</a:t>
            </a:r>
          </a:p>
          <a:p xmlns:a="http://schemas.openxmlformats.org/drawingml/2006/main">
            <a:r>
              <a:t>Build on the preceding slide: Unique labels and the largest group.</a:t>
            </a:r>
          </a:p>
          <a:p xmlns:a="http://schemas.openxmlformats.org/drawingml/2006/main">
            <a:r>
              <a:t/>
            </a:r>
          </a:p>
          <a:p xmlns:a="http://schemas.openxmlformats.org/drawingml/2006/main">
            <a:r>
              <a:t>LECTURER CUE</a:t>
            </a:r>
          </a:p>
          <a:p xmlns:a="http://schemas.openxmlformats.org/drawingml/2006/main">
            <a:r>
              <a:t>nunique counts distinct labels, not rows. idxmax returns the label of the largest total. Here there is no tie.</a:t>
            </a:r>
          </a:p>
          <a:p xmlns:a="http://schemas.openxmlformats.org/drawingml/2006/main">
            <a:r>
              <a:t/>
            </a:r>
          </a:p>
          <a:p xmlns:a="http://schemas.openxmlformats.org/drawingml/2006/main">
            <a:r>
              <a:t>Complete practice code:</a:t>
            </a:r>
          </a:p>
          <a:p xmlns:a="http://schemas.openxmlformats.org/drawingml/2006/main">
            <a:r>
              <a:t>print(df["building"].nunique())</a:t>
            </a:r>
          </a:p>
          <a:p xmlns:a="http://schemas.openxmlformats.org/drawingml/2006/main">
            <a:r>
              <a:t>totals = df.groupby("building")["kwh"].sum()</a:t>
            </a:r>
          </a:p>
          <a:p xmlns:a="http://schemas.openxmlformats.org/drawingml/2006/main">
            <a:r>
              <a:t>print(totals.idxmax())</a:t>
            </a:r>
          </a:p>
          <a:p xmlns:a="http://schemas.openxmlformats.org/drawingml/2006/main">
            <a:r>
              <a:t/>
            </a:r>
          </a:p>
          <a:p xmlns:a="http://schemas.openxmlformats.org/drawingml/2006/main">
            <a:r>
              <a:t>EXPLAIN IN ORDINARY WORDS</a:t>
            </a:r>
          </a:p>
          <a:p xmlns:a="http://schemas.openxmlformats.org/drawingml/2006/main">
            <a:r>
              <a:t>Grouping puts rows sharing a key into buckets, then computes a result for each bucket. WHERE filters rows before SQL grouping; HAVING filters grouped results.</a:t>
            </a:r>
          </a:p>
          <a:p xmlns:a="http://schemas.openxmlformats.org/drawingml/2006/main">
            <a:r>
              <a:t/>
            </a:r>
          </a:p>
          <a:p xmlns:a="http://schemas.openxmlformats.org/drawingml/2006/main">
            <a:r>
              <a:t>CHECK AND EXPECTED ANSWER</a:t>
            </a:r>
          </a:p>
          <a:p xmlns:a="http://schemas.openxmlformats.org/drawingml/2006/main">
            <a:r>
              <a:t>Which condition keeps only groups with more than five rows? HAVING COUNT(*) &gt; 5.</a:t>
            </a:r>
          </a:p>
          <a:p xmlns:a="http://schemas.openxmlformats.org/drawingml/2006/main">
            <a:r>
              <a:t/>
            </a:r>
          </a:p>
          <a:p xmlns:a="http://schemas.openxmlformats.org/drawingml/2006/main">
            <a:r>
              <a:t>IF LEARNERS ARE STUCK</a:t>
            </a:r>
          </a:p>
          <a:p xmlns:a="http://schemas.openxmlformats.org/drawingml/2006/main">
            <a:r>
              <a:t>Draw two buckets and count by hand. Name the intended output grain before writing the aggregation.</a:t>
            </a:r>
          </a:p>
          <a:p xmlns:a="http://schemas.openxmlformats.org/drawingml/2006/main">
            <a:r>
              <a:t/>
            </a:r>
          </a:p>
          <a:p xmlns:a="http://schemas.openxmlformats.org/drawingml/2006/main">
            <a:r>
              <a:t>WALK THROUGH THIS CODE</a:t>
            </a:r>
          </a:p>
          <a:p xmlns:a="http://schemas.openxmlformats.org/drawingml/2006/main">
            <a:r>
              <a:t>print displays a value below the cell.</a:t>
            </a:r>
          </a:p>
          <a:p xmlns:a="http://schemas.openxmlformats.org/drawingml/2006/main">
            <a:r>
              <a:t>Square brackets create a list or select an item.</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Create a column from two existing columns.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Create a column from two existing columns.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Create a column from two existing columns</a:t>
            </a:r>
          </a:p>
          <a:p xmlns:a="http://schemas.openxmlformats.org/drawingml/2006/main">
            <a:r>
              <a:t/>
            </a:r>
          </a:p>
          <a:p xmlns:a="http://schemas.openxmlformats.org/drawingml/2006/main">
            <a:r>
              <a:t>CONNECT</a:t>
            </a:r>
          </a:p>
          <a:p xmlns:a="http://schemas.openxmlformats.org/drawingml/2006/main">
            <a:r>
              <a:t>Build on Unique labels and the largest group in Python. Explain why this example is needed before running it.</a:t>
            </a:r>
          </a:p>
          <a:p xmlns:a="http://schemas.openxmlformats.org/drawingml/2006/main">
            <a:r>
              <a:t/>
            </a:r>
          </a:p>
          <a:p xmlns:a="http://schemas.openxmlformats.org/drawingml/2006/main">
            <a:r>
              <a:t>EXPLAIN</a:t>
            </a:r>
          </a:p>
          <a:p xmlns:a="http://schemas.openxmlformats.org/drawingml/2006/main">
            <a:r>
              <a:t>A new column can store a calculation for every row. Division pairs the values in matching rows.</a:t>
            </a:r>
          </a:p>
          <a:p xmlns:a="http://schemas.openxmlformats.org/drawingml/2006/main">
            <a:r>
              <a:t/>
            </a:r>
          </a:p>
          <a:p xmlns:a="http://schemas.openxmlformats.org/drawingml/2006/main">
            <a:r>
              <a:t>For this invented table all energy values are positive. UGX is Uganda shillings. Cost divided by energy has units UGX/kWh.</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Create a column from two existing columns</a:t>
            </a:r>
          </a:p>
          <a:p xmlns:a="http://schemas.openxmlformats.org/drawingml/2006/main">
            <a:r>
              <a:t/>
            </a:r>
          </a:p>
          <a:p xmlns:a="http://schemas.openxmlformats.org/drawingml/2006/main">
            <a:r>
              <a:t>CONNECT</a:t>
            </a:r>
          </a:p>
          <a:p xmlns:a="http://schemas.openxmlformats.org/drawingml/2006/main">
            <a:r>
              <a:t>Build on the preceding slide: Unique labels and the largest group in Python.</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NEXT</a:t>
            </a:r>
          </a:p>
          <a:p xmlns:a="http://schemas.openxmlformats.org/drawingml/2006/main">
            <a:r>
              <a:t>An energy rate is cost divided by energy.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An energy rate is cost divided by energy.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An energy rate is cost divided by energy</a:t>
            </a:r>
          </a:p>
          <a:p xmlns:a="http://schemas.openxmlformats.org/drawingml/2006/main">
            <a:r>
              <a:t/>
            </a:r>
          </a:p>
          <a:p xmlns:a="http://schemas.openxmlformats.org/drawingml/2006/main">
            <a:r>
              <a:t>CONNECT</a:t>
            </a:r>
          </a:p>
          <a:p xmlns:a="http://schemas.openxmlformats.org/drawingml/2006/main">
            <a:r>
              <a:t>Build on Create a column from two existing columns. Explain why this example is needed before running it.</a:t>
            </a:r>
          </a:p>
          <a:p xmlns:a="http://schemas.openxmlformats.org/drawingml/2006/main">
            <a:r>
              <a:t/>
            </a:r>
          </a:p>
          <a:p xmlns:a="http://schemas.openxmlformats.org/drawingml/2006/main">
            <a:r>
              <a:t>EXPLAIN</a:t>
            </a:r>
          </a:p>
          <a:p xmlns:a="http://schemas.openxmlformats.org/drawingml/2006/main">
            <a:r>
              <a:t>Expected rates: 500, 600, 700 and 800 UGX/kWh. Keep units in column names.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An energy rate is cost divided by energy</a:t>
            </a:r>
          </a:p>
          <a:p xmlns:a="http://schemas.openxmlformats.org/drawingml/2006/main">
            <a:r>
              <a:t/>
            </a:r>
          </a:p>
          <a:p xmlns:a="http://schemas.openxmlformats.org/drawingml/2006/main">
            <a:r>
              <a:t>CONNECT</a:t>
            </a:r>
          </a:p>
          <a:p xmlns:a="http://schemas.openxmlformats.org/drawingml/2006/main">
            <a:r>
              <a:t>Build on the preceding slide: Create a column from two existing columns.</a:t>
            </a:r>
          </a:p>
          <a:p xmlns:a="http://schemas.openxmlformats.org/drawingml/2006/main">
            <a:r>
              <a:t/>
            </a:r>
          </a:p>
          <a:p xmlns:a="http://schemas.openxmlformats.org/drawingml/2006/main">
            <a:r>
              <a:t>LECTURER CUE</a:t>
            </a:r>
          </a:p>
          <a:p xmlns:a="http://schemas.openxmlformats.org/drawingml/2006/main">
            <a:r>
              <a:t>Expected rates: 500, 600, 700 and 800 UGX/kWh. Keep units in column names.</a:t>
            </a:r>
          </a:p>
          <a:p xmlns:a="http://schemas.openxmlformats.org/drawingml/2006/main">
            <a:r>
              <a:t/>
            </a:r>
          </a:p>
          <a:p xmlns:a="http://schemas.openxmlformats.org/drawingml/2006/main">
            <a:r>
              <a:t>Complete practice code:</a:t>
            </a:r>
          </a:p>
          <a:p xmlns:a="http://schemas.openxmlformats.org/drawingml/2006/main">
            <a:r>
              <a:t>df["cost_ugx"] = [1000, 2400, 3500, 5600]</a:t>
            </a:r>
          </a:p>
          <a:p xmlns:a="http://schemas.openxmlformats.org/drawingml/2006/main">
            <a:r>
              <a:t>df["rate_ugx_per_kwh"] = df["cost_ugx"] / df["kwh"]</a:t>
            </a:r>
          </a:p>
          <a:p xmlns:a="http://schemas.openxmlformats.org/drawingml/2006/main">
            <a:r>
              <a:t>print(df["rate_ugx_per_kwh"])</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WALK THROUGH THIS CODE</a:t>
            </a:r>
          </a:p>
          <a:p xmlns:a="http://schemas.openxmlformats.org/drawingml/2006/main">
            <a:r>
              <a:t>print displays a value below the cell.</a:t>
            </a:r>
          </a:p>
          <a:p xmlns:a="http://schemas.openxmlformats.org/drawingml/2006/main">
            <a:r>
              <a:t>Square brackets create a list or select an item.</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Load the assignment table before analysing it.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Load the assignment table before analysing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Load the assignment table before analysing it</a:t>
            </a:r>
          </a:p>
          <a:p xmlns:a="http://schemas.openxmlformats.org/drawingml/2006/main">
            <a:r>
              <a:t/>
            </a:r>
          </a:p>
          <a:p xmlns:a="http://schemas.openxmlformats.org/drawingml/2006/main">
            <a:r>
              <a:t>CONNECT</a:t>
            </a:r>
          </a:p>
          <a:p xmlns:a="http://schemas.openxmlformats.org/drawingml/2006/main">
            <a:r>
              <a:t>Build on An energy rate is cost divided by energy. Explain why this example is needed before running it.</a:t>
            </a:r>
          </a:p>
          <a:p xmlns:a="http://schemas.openxmlformats.org/drawingml/2006/main">
            <a:r>
              <a:t/>
            </a:r>
          </a:p>
          <a:p xmlns:a="http://schemas.openxmlformats.org/drawingml/2006/main">
            <a:r>
              <a:t>EXPLAIN</a:t>
            </a:r>
          </a:p>
          <a:p xmlns:a="http://schemas.openxmlformats.org/drawingml/2006/main">
            <a:r>
              <a:t>Upload campus_energy.csv to the current runtime first. read_csv reads it into a new DataFrame.</a:t>
            </a:r>
          </a:p>
          <a:p xmlns:a="http://schemas.openxmlformats.org/drawingml/2006/main">
            <a:r>
              <a:t/>
            </a:r>
          </a:p>
          <a:p xmlns:a="http://schemas.openxmlformats.org/drawingml/2006/main">
            <a:r>
              <a:t>head() displays the first five rows; shape gives row and column counts; dtypes shows column data types.</a:t>
            </a:r>
          </a:p>
          <a:p xmlns:a="http://schemas.openxmlformats.org/drawingml/2006/main">
            <a:r>
              <a:t/>
            </a:r>
          </a:p>
          <a:p xmlns:a="http://schemas.openxmlformats.org/drawingml/2006/main">
            <a:r>
              <a:t>We call this issued_table to keep it separate from the invented four-row df used above.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Load the assignment table before analysing it</a:t>
            </a:r>
          </a:p>
          <a:p xmlns:a="http://schemas.openxmlformats.org/drawingml/2006/main">
            <a:r>
              <a:t/>
            </a:r>
          </a:p>
          <a:p xmlns:a="http://schemas.openxmlformats.org/drawingml/2006/main">
            <a:r>
              <a:t>CONNECT</a:t>
            </a:r>
          </a:p>
          <a:p xmlns:a="http://schemas.openxmlformats.org/drawingml/2006/main">
            <a:r>
              <a:t>Build on the preceding slide: An energy rate is cost divided by energy.</a:t>
            </a:r>
          </a:p>
          <a:p xmlns:a="http://schemas.openxmlformats.org/drawingml/2006/main">
            <a:r>
              <a:t/>
            </a:r>
          </a:p>
          <a:p xmlns:a="http://schemas.openxmlformats.org/drawingml/2006/main">
            <a:r>
              <a:t>EXPLAIN IN ORDINARY WORDS</a:t>
            </a:r>
          </a:p>
          <a:p xmlns:a="http://schemas.openxmlformats.org/drawingml/2006/main">
            <a:r>
              <a:t>A DataFrame is a labelled table. A Series is a single labelled sequence, often one column. A dtype describes stored values, but the import may infer something unsuitable.</a:t>
            </a:r>
          </a:p>
          <a:p xmlns:a="http://schemas.openxmlformats.org/drawingml/2006/main">
            <a:r>
              <a:t/>
            </a:r>
          </a:p>
          <a:p xmlns:a="http://schemas.openxmlformats.org/drawingml/2006/main">
            <a:r>
              <a:t>CHECK AND EXPECTED ANSWER</a:t>
            </a:r>
          </a:p>
          <a:p xmlns:a="http://schemas.openxmlformats.org/drawingml/2006/main">
            <a:r>
              <a:t>Does a price that looks numeric prove the column is numeric? No. Inspect its dtype and troublesome values before conversion.</a:t>
            </a:r>
          </a:p>
          <a:p xmlns:a="http://schemas.openxmlformats.org/drawingml/2006/main">
            <a:r>
              <a:t/>
            </a:r>
          </a:p>
          <a:p xmlns:a="http://schemas.openxmlformats.org/drawingml/2006/main">
            <a:r>
              <a:t>IF LEARNERS ARE STUCK</a:t>
            </a:r>
          </a:p>
          <a:p xmlns:a="http://schemas.openxmlformats.org/drawingml/2006/main">
            <a:r>
              <a:t>Use head, shape and dtypes to locate the table, count rows/columns and inspect storage. Check units and missing values before calculating.</a:t>
            </a:r>
          </a:p>
          <a:p xmlns:a="http://schemas.openxmlformats.org/drawingml/2006/main">
            <a:r>
              <a:t/>
            </a:r>
          </a:p>
          <a:p xmlns:a="http://schemas.openxmlformats.org/drawingml/2006/main">
            <a:r>
              <a:t>TYPE NUANCE</a:t>
            </a:r>
          </a:p>
          <a:p xmlns:a="http://schemas.openxmlformats.org/drawingml/2006/main">
            <a:r>
              <a:t>An object dtype alone does not prove that a column contains bad numeric values; it can hold Python objects, including numbers. Inspect values and conversion results. Missing values may display as NaN, None, NaT or pandas NA depending on dtype.</a:t>
            </a:r>
          </a:p>
          <a:p xmlns:a="http://schemas.openxmlformats.org/drawingml/2006/main">
            <a:r>
              <a:t/>
            </a:r>
          </a:p>
          <a:p xmlns:a="http://schemas.openxmlformats.org/drawingml/2006/main">
            <a:r>
              <a:t>NEXT</a:t>
            </a:r>
          </a:p>
          <a:p xmlns:a="http://schemas.openxmlformats.org/drawingml/2006/main">
            <a:r>
              <a:t>Inspect the supplied energy file.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Inspect the supplied energy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Inspect the supplied energy file</a:t>
            </a:r>
          </a:p>
          <a:p xmlns:a="http://schemas.openxmlformats.org/drawingml/2006/main">
            <a:r>
              <a:t/>
            </a:r>
          </a:p>
          <a:p xmlns:a="http://schemas.openxmlformats.org/drawingml/2006/main">
            <a:r>
              <a:t>CONNECT</a:t>
            </a:r>
          </a:p>
          <a:p xmlns:a="http://schemas.openxmlformats.org/drawingml/2006/main">
            <a:r>
              <a:t>Build on Load the assignment table before analysing it. Explain why this example is needed before running it.</a:t>
            </a:r>
          </a:p>
          <a:p xmlns:a="http://schemas.openxmlformats.org/drawingml/2006/main">
            <a:r>
              <a:t/>
            </a:r>
          </a:p>
          <a:p xmlns:a="http://schemas.openxmlformats.org/drawingml/2006/main">
            <a:r>
              <a:t>EXPLAIN</a:t>
            </a:r>
          </a:p>
          <a:p xmlns:a="http://schemas.openxmlformats.org/drawingml/2006/main">
            <a:r>
              <a:t>Check column names, data types and units before attempting the six issued tasks.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Inspect the supplied energy file</a:t>
            </a:r>
          </a:p>
          <a:p xmlns:a="http://schemas.openxmlformats.org/drawingml/2006/main">
            <a:r>
              <a:t/>
            </a:r>
          </a:p>
          <a:p xmlns:a="http://schemas.openxmlformats.org/drawingml/2006/main">
            <a:r>
              <a:t>CONNECT</a:t>
            </a:r>
          </a:p>
          <a:p xmlns:a="http://schemas.openxmlformats.org/drawingml/2006/main">
            <a:r>
              <a:t>Build on the preceding slide: Load the assignment table before analysing it.</a:t>
            </a:r>
          </a:p>
          <a:p xmlns:a="http://schemas.openxmlformats.org/drawingml/2006/main">
            <a:r>
              <a:t/>
            </a:r>
          </a:p>
          <a:p xmlns:a="http://schemas.openxmlformats.org/drawingml/2006/main">
            <a:r>
              <a:t>LECTURER CUE</a:t>
            </a:r>
          </a:p>
          <a:p xmlns:a="http://schemas.openxmlformats.org/drawingml/2006/main">
            <a:r>
              <a:t>Check column names, data types and units before attempting the six issued tasks.</a:t>
            </a:r>
          </a:p>
          <a:p xmlns:a="http://schemas.openxmlformats.org/drawingml/2006/main">
            <a:r>
              <a:t/>
            </a:r>
          </a:p>
          <a:p xmlns:a="http://schemas.openxmlformats.org/drawingml/2006/main">
            <a:r>
              <a:t>Complete practice code:</a:t>
            </a:r>
          </a:p>
          <a:p xmlns:a="http://schemas.openxmlformats.org/drawingml/2006/main">
            <a:r>
              <a:t>issued_table = pd.read_csv("campus_energy.csv")</a:t>
            </a:r>
          </a:p>
          <a:p xmlns:a="http://schemas.openxmlformats.org/drawingml/2006/main">
            <a:r>
              <a:t>print(issued_table.head())</a:t>
            </a:r>
          </a:p>
          <a:p xmlns:a="http://schemas.openxmlformats.org/drawingml/2006/main">
            <a:r>
              <a:t>print(issued_table.shape)</a:t>
            </a:r>
          </a:p>
          <a:p xmlns:a="http://schemas.openxmlformats.org/drawingml/2006/main">
            <a:r>
              <a:t>print(issued_table.dtypes)</a:t>
            </a:r>
          </a:p>
          <a:p xmlns:a="http://schemas.openxmlformats.org/drawingml/2006/main">
            <a:r>
              <a:t/>
            </a:r>
          </a:p>
          <a:p xmlns:a="http://schemas.openxmlformats.org/drawingml/2006/main">
            <a:r>
              <a:t>EXPLAIN IN ORDINARY WORDS</a:t>
            </a:r>
          </a:p>
          <a:p xmlns:a="http://schemas.openxmlformats.org/drawingml/2006/main">
            <a:r>
              <a:t>A DataFrame is a labelled table. A Series is a single labelled sequence, often one column. A dtype describes stored values, but the import may infer something unsuitable.</a:t>
            </a:r>
          </a:p>
          <a:p xmlns:a="http://schemas.openxmlformats.org/drawingml/2006/main">
            <a:r>
              <a:t/>
            </a:r>
          </a:p>
          <a:p xmlns:a="http://schemas.openxmlformats.org/drawingml/2006/main">
            <a:r>
              <a:t>CHECK AND EXPECTED ANSWER</a:t>
            </a:r>
          </a:p>
          <a:p xmlns:a="http://schemas.openxmlformats.org/drawingml/2006/main">
            <a:r>
              <a:t>Does a price that looks numeric prove the column is numeric? No. Inspect its dtype and troublesome values before conversion.</a:t>
            </a:r>
          </a:p>
          <a:p xmlns:a="http://schemas.openxmlformats.org/drawingml/2006/main">
            <a:r>
              <a:t/>
            </a:r>
          </a:p>
          <a:p xmlns:a="http://schemas.openxmlformats.org/drawingml/2006/main">
            <a:r>
              <a:t>IF LEARNERS ARE STUCK</a:t>
            </a:r>
          </a:p>
          <a:p xmlns:a="http://schemas.openxmlformats.org/drawingml/2006/main">
            <a:r>
              <a:t>Use head, shape and dtypes to locate the table, count rows/columns and inspect storage. Check units and missing values before calculating.</a:t>
            </a:r>
          </a:p>
          <a:p xmlns:a="http://schemas.openxmlformats.org/drawingml/2006/main">
            <a:r>
              <a:t/>
            </a:r>
          </a:p>
          <a:p xmlns:a="http://schemas.openxmlformats.org/drawingml/2006/main">
            <a:r>
              <a:t>WALK THROUGH THIS CODE</a:t>
            </a:r>
          </a:p>
          <a:p xmlns:a="http://schemas.openxmlformats.org/drawingml/2006/main">
            <a:r>
              <a:t>print displays a value below the cell.</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TYPE NUANCE</a:t>
            </a:r>
          </a:p>
          <a:p xmlns:a="http://schemas.openxmlformats.org/drawingml/2006/main">
            <a:r>
              <a:t>An object dtype alone does not prove that a column contains bad numeric values; it can hold Python objects, including numbers. Inspect values and conversion results. Missing values may display as NaN, None, NaT or pandas NA depending on dtype.</a:t>
            </a:r>
          </a:p>
          <a:p xmlns:a="http://schemas.openxmlformats.org/drawingml/2006/main">
            <a:r>
              <a:t/>
            </a:r>
          </a:p>
          <a:p xmlns:a="http://schemas.openxmlformats.org/drawingml/2006/main">
            <a:r>
              <a:t>NEXT</a:t>
            </a:r>
          </a:p>
          <a:p xmlns:a="http://schemas.openxmlformats.org/drawingml/2006/main">
            <a:r>
              <a:t>You are groupby.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Revision example and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Build on Inspect the supplied energy file. Explain why this example is needed before running it.</a:t>
            </a:r>
          </a:p>
          <a:p xmlns:a="http://schemas.openxmlformats.org/drawingml/2006/main">
            <a:r>
              <a:t/>
            </a:r>
          </a:p>
          <a:p xmlns:a="http://schemas.openxmlformats.org/drawingml/2006/main">
            <a:r>
              <a:t>EXPLAIN</a:t>
            </a:r>
          </a:p>
          <a:p xmlns:a="http://schemas.openxmlformats.org/drawingml/2006/main">
            <a:r>
              <a:t>Example: Use &gt; 5 instead. Predict the surviving rows. Which building has the largest total?</a:t>
            </a:r>
          </a:p>
          <a:p xmlns:a="http://schemas.openxmlformats.org/drawingml/2006/main">
            <a:r>
              <a:t/>
            </a:r>
          </a:p>
          <a:p xmlns:a="http://schemas.openxmlformats.org/drawingml/2006/main">
            <a:r>
              <a:t>Answer: Only the row with 7 survives. Building B has the larger total, 12 kWh.</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turn</a:t>
            </a:r>
          </a:p>
          <a:p xmlns:a="http://schemas.openxmlformats.org/drawingml/2006/main">
            <a:r>
              <a:t/>
            </a:r>
          </a:p>
          <a:p xmlns:a="http://schemas.openxmlformats.org/drawingml/2006/main">
            <a:r>
              <a:t>CONNECT</a:t>
            </a:r>
          </a:p>
          <a:p xmlns:a="http://schemas.openxmlformats.org/drawingml/2006/main">
            <a:r>
              <a:t>Build on the preceding slide: What the activity shows.</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Only the row with 7 survives. Building B has the larger total, 12 kWh.</a:t>
            </a:r>
          </a:p>
          <a:p xmlns:a="http://schemas.openxmlformats.org/drawingml/2006/main">
            <a:r>
              <a:t/>
            </a:r>
          </a:p>
          <a:p xmlns:a="http://schemas.openxmlformats.org/drawingml/2006/main">
            <a:r>
              <a:t>DISCUSSION KEY FOR THIS SLIDE</a:t>
            </a:r>
          </a:p>
          <a:p xmlns:a="http://schemas.openxmlformats.org/drawingml/2006/main">
            <a:r>
              <a:t>DISCUSS THE REASONING</a:t>
            </a:r>
          </a:p>
          <a:p xmlns:a="http://schemas.openxmlformats.org/drawingml/2006/main">
            <a:r>
              <a:t>Practice discussion</a:t>
            </a:r>
          </a:p>
          <a:p xmlns:a="http://schemas.openxmlformats.org/drawingml/2006/main">
            <a:r>
              <a:t>Only the row with 7 survives. Building B has the larger total, 12 kWh.</a:t>
            </a:r>
          </a:p>
          <a:p xmlns:a="http://schemas.openxmlformats.org/drawingml/2006/main">
            <a:r>
              <a:t>Which step produced this result? What changes if one input changes?</a:t>
            </a:r>
          </a:p>
          <a:p xmlns:a="http://schemas.openxmlformats.org/drawingml/2006/main">
            <a:r>
              <a:t>CML3111   Week 5   32</a:t>
            </a:r>
          </a:p>
          <a:p xmlns:a="http://schemas.openxmlformats.org/drawingml/2006/main">
            <a:r>
              <a:t>Let learners attempt first; use this to explain the reasoning, not just reveal the answer.</a:t>
            </a:r>
          </a:p>
          <a:p xmlns:a="http://schemas.openxmlformats.org/drawingml/2006/main">
            <a:r>
              <a:t/>
            </a:r>
          </a:p>
          <a:p xmlns:a="http://schemas.openxmlformats.org/drawingml/2006/main">
            <a:r>
              <a:t>NEXT</a:t>
            </a:r>
          </a:p>
          <a:p xmlns:a="http://schemas.openxmlformats.org/drawingml/2006/main">
            <a:r>
              <a:t>Practice discussion.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Preparing for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Revision example and answer. Explain why this example is needed before running it.</a:t>
            </a:r>
          </a:p>
          <a:p xmlns:a="http://schemas.openxmlformats.org/drawingml/2006/main">
            <a:r>
              <a:t/>
            </a:r>
          </a:p>
          <a:p xmlns:a="http://schemas.openxmlformats.org/drawingml/2006/main">
            <a:r>
              <a:t>EXPLAIN</a:t>
            </a:r>
          </a:p>
          <a:p xmlns:a="http://schemas.openxmlformats.org/drawingml/2006/main">
            <a:r>
              <a:t>A5 uses the supplied fictional campus_energy.csv, not a live Kaggle download.</a:t>
            </a:r>
          </a:p>
          <a:p xmlns:a="http://schemas.openxmlformats.org/drawingml/2006/main">
            <a:r>
              <a:t/>
            </a:r>
          </a:p>
          <a:p xmlns:a="http://schemas.openxmlformats.org/drawingml/2006/main">
            <a:r>
              <a:t>The six tasks use read_csv, nunique, division of columns, a &gt; filter, mean and grouped totals. idxmax returns the label of the largest value.</a:t>
            </a:r>
          </a:p>
          <a:p xmlns:a="http://schemas.openxmlformats.org/drawingml/2006/main">
            <a:r>
              <a:t/>
            </a:r>
          </a:p>
          <a:p xmlns:a="http://schemas.openxmlformats.org/drawingml/2006/main">
            <a:r>
              <a:t>A mean of individual rates gives each observation equal weight.</a:t>
            </a:r>
          </a:p>
          <a:p xmlns:a="http://schemas.openxmlformats.org/drawingml/2006/main">
            <a:r>
              <a:t/>
            </a:r>
          </a:p>
          <a:p xmlns:a="http://schemas.openxmlformats.org/drawingml/2006/main">
            <a:r>
              <a:t>Total cost divided by total energy weights by energy.</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the preceding slide: Practice discussion.</a:t>
            </a:r>
          </a:p>
          <a:p xmlns:a="http://schemas.openxmlformats.org/drawingml/2006/main">
            <a:r>
              <a:t/>
            </a:r>
          </a:p>
          <a:p xmlns:a="http://schemas.openxmlformats.org/drawingml/2006/main">
            <a:r>
              <a:t>LECTURER CUE</a:t>
            </a:r>
          </a:p>
          <a:p xmlns:a="http://schemas.openxmlformats.org/drawingml/2006/main">
            <a:r>
              <a:t>A5 uses the supplied fictional campus_energy.csv, not a live Kaggle download. Teach read_csv, nunique, division of columns, &gt; filtering, mean and groupby(...).sum().idxmax() before the six public tasks. idxmax returns the label of the largest value. Explain how a rate differs from a total and how a mean of rates differs from a total-cost/total-energy ratio.</a:t>
            </a:r>
          </a:p>
          <a:p xmlns:a="http://schemas.openxmlformats.org/drawingml/2006/main">
            <a:r>
              <a:t/>
            </a:r>
          </a:p>
          <a:p xmlns:a="http://schemas.openxmlformats.org/drawingml/2006/main">
            <a:r>
              <a:t>EXPLAIN IN ORDINARY WORDS</a:t>
            </a:r>
          </a:p>
          <a:p xmlns:a="http://schemas.openxmlformats.org/drawingml/2006/main">
            <a:r>
              <a:t>A CSV is a text table. The header supplies column names. With csv.DictReader, values start as text, even if they look like numbers. A path tells Python where the file is.</a:t>
            </a:r>
          </a:p>
          <a:p xmlns:a="http://schemas.openxmlformats.org/drawingml/2006/main">
            <a:r>
              <a:t/>
            </a:r>
          </a:p>
          <a:p xmlns:a="http://schemas.openxmlformats.org/drawingml/2006/main">
            <a:r>
              <a:t>CHECK AND EXPECTED ANSWER</a:t>
            </a:r>
          </a:p>
          <a:p xmlns:a="http://schemas.openxmlformats.org/drawingml/2006/main">
            <a:r>
              <a:t>Can "2.5" from csv.DictReader be added as a number without conversion? No; convert valid numeric text first.</a:t>
            </a:r>
          </a:p>
          <a:p xmlns:a="http://schemas.openxmlformats.org/drawingml/2006/main">
            <a:r>
              <a:t/>
            </a:r>
          </a:p>
          <a:p xmlns:a="http://schemas.openxmlformats.org/drawingml/2006/main">
            <a:r>
              <a:t>IF LEARNERS ARE STUCK</a:t>
            </a:r>
          </a:p>
          <a:p xmlns:a="http://schemas.openxmlformats.org/drawingml/2006/main">
            <a:r>
              <a:t>Show the file in the runtime folder and compare its exact filename, case and column headers. Upload data again after a fresh Colab runtime.</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Data types and filters.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Data types and filters.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Data types and filters</a:t>
            </a:r>
          </a:p>
          <a:p xmlns:a="http://schemas.openxmlformats.org/drawingml/2006/main">
            <a:r>
              <a:t/>
            </a:r>
          </a:p>
          <a:p xmlns:a="http://schemas.openxmlformats.org/drawingml/2006/main">
            <a:r>
              <a:t>CONNECT</a:t>
            </a:r>
          </a:p>
          <a:p xmlns:a="http://schemas.openxmlformats.org/drawingml/2006/main">
            <a:r>
              <a:t>Build on Preparing for the assignment. Explain why this example is needed before running it.</a:t>
            </a:r>
          </a:p>
          <a:p xmlns:a="http://schemas.openxmlformats.org/drawingml/2006/main">
            <a:r>
              <a:t/>
            </a:r>
          </a:p>
          <a:p xmlns:a="http://schemas.openxmlformats.org/drawingml/2006/main">
            <a:r>
              <a:t>EXPLAIN</a:t>
            </a:r>
          </a:p>
          <a:p xmlns:a="http://schemas.openxmlformats.org/drawingml/2006/main">
            <a:r>
              <a:t>A Boolean mask is a list-like column of True/False values. len(mask) counts all rows; mask.sum() counts True entries.</a:t>
            </a:r>
          </a:p>
          <a:p xmlns:a="http://schemas.openxmlformats.org/drawingml/2006/main">
            <a:r>
              <a:t/>
            </a:r>
          </a:p>
          <a:p xmlns:a="http://schemas.openxmlformats.org/drawingml/2006/main">
            <a:r>
              <a:t>Strings sort as text, so "9" can rank above "100".</a:t>
            </a:r>
          </a:p>
          <a:p xmlns:a="http://schemas.openxmlformats.org/drawingml/2006/main">
            <a:r>
              <a:t/>
            </a:r>
          </a:p>
          <a:p xmlns:a="http://schemas.openxmlformats.org/drawingml/2006/main">
            <a:r>
              <a:t>Inspect numeric types before taking maxima.</a:t>
            </a:r>
          </a:p>
          <a:p xmlns:a="http://schemas.openxmlformats.org/drawingml/2006/main">
            <a:r>
              <a:t/>
            </a:r>
          </a:p>
          <a:p xmlns:a="http://schemas.openxmlformats.org/drawingml/2006/main">
            <a:r>
              <a:t>KeyError often means the column name does not match; check spelling, case and spaces. shape is (rows, columns).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Data types and filters</a:t>
            </a:r>
          </a:p>
          <a:p xmlns:a="http://schemas.openxmlformats.org/drawingml/2006/main">
            <a:r>
              <a:t/>
            </a:r>
          </a:p>
          <a:p xmlns:a="http://schemas.openxmlformats.org/drawingml/2006/main">
            <a:r>
              <a:t>CONNECT</a:t>
            </a:r>
          </a:p>
          <a:p xmlns:a="http://schemas.openxmlformats.org/drawingml/2006/main">
            <a:r>
              <a:t>Build on the preceding slide: Preparing for the assignment.</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NEXT</a:t>
            </a:r>
          </a:p>
          <a:p xmlns:a="http://schemas.openxmlformats.org/drawingml/2006/main">
            <a:r>
              <a:t>Data types and filters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Data types and filters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Data types and filters continued</a:t>
            </a:r>
          </a:p>
          <a:p xmlns:a="http://schemas.openxmlformats.org/drawingml/2006/main">
            <a:r>
              <a:t/>
            </a:r>
          </a:p>
          <a:p xmlns:a="http://schemas.openxmlformats.org/drawingml/2006/main">
            <a:r>
              <a:t>CONNECT</a:t>
            </a:r>
          </a:p>
          <a:p xmlns:a="http://schemas.openxmlformats.org/drawingml/2006/main">
            <a:r>
              <a:t>Build on Data types and filters. Explain why this example is needed before running it.</a:t>
            </a:r>
          </a:p>
          <a:p xmlns:a="http://schemas.openxmlformats.org/drawingml/2006/main">
            <a:r>
              <a:t/>
            </a:r>
          </a:p>
          <a:p xmlns:a="http://schemas.openxmlformats.org/drawingml/2006/main">
            <a:r>
              <a:t>EXPLAIN</a:t>
            </a:r>
          </a:p>
          <a:p xmlns:a="http://schemas.openxmlformats.org/drawingml/2006/main">
            <a:r>
              <a:t>Read provenance and units before trusting a dataset.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Data types and filters continued</a:t>
            </a:r>
          </a:p>
          <a:p xmlns:a="http://schemas.openxmlformats.org/drawingml/2006/main">
            <a:r>
              <a:t/>
            </a:r>
          </a:p>
          <a:p xmlns:a="http://schemas.openxmlformats.org/drawingml/2006/main">
            <a:r>
              <a:t>CONNECT</a:t>
            </a:r>
          </a:p>
          <a:p xmlns:a="http://schemas.openxmlformats.org/drawingml/2006/main">
            <a:r>
              <a:t>Build on the preceding slide: Data types and filters.</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NEXT</a:t>
            </a:r>
          </a:p>
          <a:p xmlns:a="http://schemas.openxmlformats.org/drawingml/2006/main">
            <a:r>
              <a:t>Your issued assignment.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Your issued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assignment</a:t>
            </a:r>
          </a:p>
          <a:p xmlns:a="http://schemas.openxmlformats.org/drawingml/2006/main">
            <a:r>
              <a:t/>
            </a:r>
          </a:p>
          <a:p xmlns:a="http://schemas.openxmlformats.org/drawingml/2006/main">
            <a:r>
              <a:t>CONNECT</a:t>
            </a:r>
          </a:p>
          <a:p xmlns:a="http://schemas.openxmlformats.org/drawingml/2006/main">
            <a:r>
              <a:t>Build on Data types and filters continued. Explain why this example is needed before running it.</a:t>
            </a:r>
          </a:p>
          <a:p xmlns:a="http://schemas.openxmlformats.org/drawingml/2006/main">
            <a:r>
              <a:t/>
            </a:r>
          </a:p>
          <a:p xmlns:a="http://schemas.openxmlformats.org/drawingml/2006/main">
            <a:r>
              <a:t>EXPLAIN</a:t>
            </a:r>
          </a:p>
          <a:p xmlns:a="http://schemas.openxmlformats.org/drawingml/2006/main">
            <a:r>
              <a:t>Open W05_student.ipynb.</a:t>
            </a:r>
          </a:p>
          <a:p xmlns:a="http://schemas.openxmlformats.org/drawingml/2006/main">
            <a:r>
              <a:t/>
            </a:r>
          </a:p>
          <a:p xmlns:a="http://schemas.openxmlformats.org/drawingml/2006/main">
            <a:r>
              <a:t>Read every task and its input units before coding.</a:t>
            </a:r>
          </a:p>
          <a:p xmlns:a="http://schemas.openxmlformats.org/drawingml/2006/main">
            <a:r>
              <a:t/>
            </a:r>
          </a:p>
          <a:p xmlns:a="http://schemas.openxmlformats.org/drawingml/2006/main">
            <a:r>
              <a:t>Keep the required function names and returned outputs.</a:t>
            </a:r>
          </a:p>
          <a:p xmlns:a="http://schemas.openxmlformats.org/drawingml/2006/main">
            <a:r>
              <a:t/>
            </a:r>
          </a:p>
          <a:p xmlns:a="http://schemas.openxmlformats.org/drawingml/2006/main">
            <a:r>
              <a:t>Run the supplied visible checks, then restart and run all.</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issued assignment</a:t>
            </a:r>
          </a:p>
          <a:p xmlns:a="http://schemas.openxmlformats.org/drawingml/2006/main">
            <a:r>
              <a:t/>
            </a:r>
          </a:p>
          <a:p xmlns:a="http://schemas.openxmlformats.org/drawingml/2006/main">
            <a:r>
              <a:t>CONNECT</a:t>
            </a:r>
          </a:p>
          <a:p xmlns:a="http://schemas.openxmlformats.org/drawingml/2006/main">
            <a:r>
              <a:t>Build on the preceding slide: Data types and filters continued.</a:t>
            </a:r>
          </a:p>
          <a:p xmlns:a="http://schemas.openxmlformats.org/drawingml/2006/main">
            <a:r>
              <a:t/>
            </a:r>
          </a:p>
          <a:p xmlns:a="http://schemas.openxmlformats.org/drawingml/2006/main">
            <a:r>
              <a:t>LECTURER CUE</a:t>
            </a:r>
          </a:p>
          <a:p xmlns:a="http://schemas.openxmlformats.org/drawingml/2006/main">
            <a:r>
              <a:t># W05: pandas: load, filter, group</a:t>
            </a:r>
          </a:p>
          <a:p xmlns:a="http://schemas.openxmlformats.org/drawingml/2006/main">
            <a:r>
              <a:t>CML3111. Complete each named output. Save as STUDENT_ID_W05.ipynb.</a:t>
            </a:r>
          </a:p>
          <a:p xmlns:a="http://schemas.openxmlformats.org/drawingml/2006/main">
            <a:r>
              <a:t>## q1: 3 marks</a:t>
            </a:r>
          </a:p>
          <a:p xmlns:a="http://schemas.openxmlformats.org/drawingml/2006/main">
            <a:r>
              <a:t>Load campus_energy.csv into a DataFrame called df.</a:t>
            </a:r>
          </a:p>
          <a:p xmlns:a="http://schemas.openxmlformats.org/drawingml/2006/main">
            <a:r>
              <a:t>## q2: 3 marks</a:t>
            </a:r>
          </a:p>
          <a:p xmlns:a="http://schemas.openxmlformats.org/drawingml/2006/main">
            <a:r>
              <a:t>Set n_meters to the number of distinct meters in the file.</a:t>
            </a:r>
          </a:p>
          <a:p xmlns:a="http://schemas.openxmlformats.org/drawingml/2006/main">
            <a:r>
              <a:t>## q3: 4 marks</a:t>
            </a:r>
          </a:p>
          <a:p xmlns:a="http://schemas.openxmlformats.org/drawingml/2006/main">
            <a:r>
              <a:t>Add a column cost_per_kwh to df, equal to cost_ugx / kwh.</a:t>
            </a:r>
          </a:p>
          <a:p xmlns:a="http://schemas.openxmlformats.org/drawingml/2006/main">
            <a:r>
              <a:t>## q4: 4 marks</a:t>
            </a:r>
          </a:p>
          <a:p xmlns:a="http://schemas.openxmlformats.org/drawingml/2006/main">
            <a:r>
              <a:t>Set high_use to the rows of df where kwh is greater than 5000. Do this after q3 so the derived column comes along.</a:t>
            </a:r>
          </a:p>
          <a:p xmlns:a="http://schemas.openxmlformats.org/drawingml/2006/main">
            <a:r>
              <a:t>## q5: 3 marks</a:t>
            </a:r>
          </a:p>
          <a:p xmlns:a="http://schemas.openxmlformats.org/drawingml/2006/main">
            <a:r>
              <a:t>Set mean_cost_per_kwh to the mean of the cost_per_kwh column.</a:t>
            </a:r>
          </a:p>
          <a:p xmlns:a="http://schemas.openxmlformats.org/drawingml/2006/main">
            <a:r>
              <a:t>## q6: 3 marks</a:t>
            </a:r>
          </a:p>
          <a:p xmlns:a="http://schemas.openxmlformats.org/drawingml/2006/main">
            <a:r>
              <a:t>Set peak_building to the name of the building with the highest total kwh.</a:t>
            </a:r>
          </a:p>
          <a:p xmlns:a="http://schemas.openxmlformats.org/drawingml/2006/main">
            <a:r>
              <a:t>Restart and Run All, then save your named notebook. Practice check results are feedback; the submitted notebook is graded independently.</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q1: 3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q1: 3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q1: 3 marks</a:t>
            </a:r>
          </a:p>
          <a:p xmlns:a="http://schemas.openxmlformats.org/drawingml/2006/main">
            <a:r>
              <a:t/>
            </a:r>
          </a:p>
          <a:p xmlns:a="http://schemas.openxmlformats.org/drawingml/2006/main">
            <a:r>
              <a:t>CONNECT</a:t>
            </a:r>
          </a:p>
          <a:p xmlns:a="http://schemas.openxmlformats.org/drawingml/2006/main">
            <a:r>
              <a:t>Build on Your issued assignment. Explain why this example is needed before running it.</a:t>
            </a:r>
          </a:p>
          <a:p xmlns:a="http://schemas.openxmlformats.org/drawingml/2006/main">
            <a:r>
              <a:t/>
            </a:r>
          </a:p>
          <a:p xmlns:a="http://schemas.openxmlformats.org/drawingml/2006/main">
            <a:r>
              <a:t>EXPLAIN</a:t>
            </a:r>
          </a:p>
          <a:p xmlns:a="http://schemas.openxmlformats.org/drawingml/2006/main">
            <a:r>
              <a:t>Load campus_energy.csv into a DataFrame called df.</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q1: 3 marks</a:t>
            </a:r>
          </a:p>
          <a:p xmlns:a="http://schemas.openxmlformats.org/drawingml/2006/main">
            <a:r>
              <a:t/>
            </a:r>
          </a:p>
          <a:p xmlns:a="http://schemas.openxmlformats.org/drawingml/2006/main">
            <a:r>
              <a:t>CONNECT</a:t>
            </a:r>
          </a:p>
          <a:p xmlns:a="http://schemas.openxmlformats.org/drawingml/2006/main">
            <a:r>
              <a:t>Build on the preceding slide: Your issued assignment.</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DataFrame is a labelled table. A Series is a single labelled sequence, often one column. A dtype describes stored values, but the import may infer something unsuitable.</a:t>
            </a:r>
          </a:p>
          <a:p xmlns:a="http://schemas.openxmlformats.org/drawingml/2006/main">
            <a:r>
              <a:t/>
            </a:r>
          </a:p>
          <a:p xmlns:a="http://schemas.openxmlformats.org/drawingml/2006/main">
            <a:r>
              <a:t>CHECK AND EXPECTED ANSWER</a:t>
            </a:r>
          </a:p>
          <a:p xmlns:a="http://schemas.openxmlformats.org/drawingml/2006/main">
            <a:r>
              <a:t>Does a price that looks numeric prove the column is numeric? No. Inspect its dtype and troublesome values before conversion.</a:t>
            </a:r>
          </a:p>
          <a:p xmlns:a="http://schemas.openxmlformats.org/drawingml/2006/main">
            <a:r>
              <a:t/>
            </a:r>
          </a:p>
          <a:p xmlns:a="http://schemas.openxmlformats.org/drawingml/2006/main">
            <a:r>
              <a:t>IF LEARNERS ARE STUCK</a:t>
            </a:r>
          </a:p>
          <a:p xmlns:a="http://schemas.openxmlformats.org/drawingml/2006/main">
            <a:r>
              <a:t>Use head, shape and dtypes to locate the table, count rows/columns and inspect storage. Check units and missing values before calculating.</a:t>
            </a:r>
          </a:p>
          <a:p xmlns:a="http://schemas.openxmlformats.org/drawingml/2006/main">
            <a:r>
              <a:t/>
            </a:r>
          </a:p>
          <a:p xmlns:a="http://schemas.openxmlformats.org/drawingml/2006/main">
            <a:r>
              <a:t>NEXT</a:t>
            </a:r>
          </a:p>
          <a:p xmlns:a="http://schemas.openxmlformats.org/drawingml/2006/main">
            <a:r>
              <a:t>q2: 3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q2: 3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q2: 3 marks</a:t>
            </a:r>
          </a:p>
          <a:p xmlns:a="http://schemas.openxmlformats.org/drawingml/2006/main">
            <a:r>
              <a:t/>
            </a:r>
          </a:p>
          <a:p xmlns:a="http://schemas.openxmlformats.org/drawingml/2006/main">
            <a:r>
              <a:t>CONNECT</a:t>
            </a:r>
          </a:p>
          <a:p xmlns:a="http://schemas.openxmlformats.org/drawingml/2006/main">
            <a:r>
              <a:t>Build on q1: 3 marks. Explain why this example is needed before running it.</a:t>
            </a:r>
          </a:p>
          <a:p xmlns:a="http://schemas.openxmlformats.org/drawingml/2006/main">
            <a:r>
              <a:t/>
            </a:r>
          </a:p>
          <a:p xmlns:a="http://schemas.openxmlformats.org/drawingml/2006/main">
            <a:r>
              <a:t>EXPLAIN</a:t>
            </a:r>
          </a:p>
          <a:p xmlns:a="http://schemas.openxmlformats.org/drawingml/2006/main">
            <a:r>
              <a:t>Set n_meters to the number of distinct meters in the file.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q2: 3 marks</a:t>
            </a:r>
          </a:p>
          <a:p xmlns:a="http://schemas.openxmlformats.org/drawingml/2006/main">
            <a:r>
              <a:t/>
            </a:r>
          </a:p>
          <a:p xmlns:a="http://schemas.openxmlformats.org/drawingml/2006/main">
            <a:r>
              <a:t>CONNECT</a:t>
            </a:r>
          </a:p>
          <a:p xmlns:a="http://schemas.openxmlformats.org/drawingml/2006/main">
            <a:r>
              <a:t>Build on the preceding slide: q1: 3 marks.</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NEXT</a:t>
            </a:r>
          </a:p>
          <a:p xmlns:a="http://schemas.openxmlformats.org/drawingml/2006/main">
            <a:r>
              <a:t>q3: 4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q3: 4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q3: 4 marks</a:t>
            </a:r>
          </a:p>
          <a:p xmlns:a="http://schemas.openxmlformats.org/drawingml/2006/main">
            <a:r>
              <a:t/>
            </a:r>
          </a:p>
          <a:p xmlns:a="http://schemas.openxmlformats.org/drawingml/2006/main">
            <a:r>
              <a:t>CONNECT</a:t>
            </a:r>
          </a:p>
          <a:p xmlns:a="http://schemas.openxmlformats.org/drawingml/2006/main">
            <a:r>
              <a:t>Build on q2: 3 marks. Explain why this example is needed before running it.</a:t>
            </a:r>
          </a:p>
          <a:p xmlns:a="http://schemas.openxmlformats.org/drawingml/2006/main">
            <a:r>
              <a:t/>
            </a:r>
          </a:p>
          <a:p xmlns:a="http://schemas.openxmlformats.org/drawingml/2006/main">
            <a:r>
              <a:t>EXPLAIN</a:t>
            </a:r>
          </a:p>
          <a:p xmlns:a="http://schemas.openxmlformats.org/drawingml/2006/main">
            <a:r>
              <a:t>Add a column cost_per_kwh to df, equal to cost_ugx / kwh.</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q3: 4 marks</a:t>
            </a:r>
          </a:p>
          <a:p xmlns:a="http://schemas.openxmlformats.org/drawingml/2006/main">
            <a:r>
              <a:t/>
            </a:r>
          </a:p>
          <a:p xmlns:a="http://schemas.openxmlformats.org/drawingml/2006/main">
            <a:r>
              <a:t>CONNECT</a:t>
            </a:r>
          </a:p>
          <a:p xmlns:a="http://schemas.openxmlformats.org/drawingml/2006/main">
            <a:r>
              <a:t>Build on the preceding slide: q2: 3 marks.</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NEXT</a:t>
            </a:r>
          </a:p>
          <a:p xmlns:a="http://schemas.openxmlformats.org/drawingml/2006/main">
            <a:r>
              <a:t>q4: 4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q4: 4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q4: 4 marks</a:t>
            </a:r>
          </a:p>
          <a:p xmlns:a="http://schemas.openxmlformats.org/drawingml/2006/main">
            <a:r>
              <a:t/>
            </a:r>
          </a:p>
          <a:p xmlns:a="http://schemas.openxmlformats.org/drawingml/2006/main">
            <a:r>
              <a:t>CONNECT</a:t>
            </a:r>
          </a:p>
          <a:p xmlns:a="http://schemas.openxmlformats.org/drawingml/2006/main">
            <a:r>
              <a:t>Build on q3: 4 marks. Explain why this example is needed before running it.</a:t>
            </a:r>
          </a:p>
          <a:p xmlns:a="http://schemas.openxmlformats.org/drawingml/2006/main">
            <a:r>
              <a:t/>
            </a:r>
          </a:p>
          <a:p xmlns:a="http://schemas.openxmlformats.org/drawingml/2006/main">
            <a:r>
              <a:t>EXPLAIN</a:t>
            </a:r>
          </a:p>
          <a:p xmlns:a="http://schemas.openxmlformats.org/drawingml/2006/main">
            <a:r>
              <a:t>Set high_use to the rows of df where kwh is greater than 5000.</a:t>
            </a:r>
          </a:p>
          <a:p xmlns:a="http://schemas.openxmlformats.org/drawingml/2006/main">
            <a:r>
              <a:t/>
            </a:r>
          </a:p>
          <a:p xmlns:a="http://schemas.openxmlformats.org/drawingml/2006/main">
            <a:r>
              <a:t>Do this after q3 so the derived column comes along.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q4: 4 marks</a:t>
            </a:r>
          </a:p>
          <a:p xmlns:a="http://schemas.openxmlformats.org/drawingml/2006/main">
            <a:r>
              <a:t/>
            </a:r>
          </a:p>
          <a:p xmlns:a="http://schemas.openxmlformats.org/drawingml/2006/main">
            <a:r>
              <a:t>CONNECT</a:t>
            </a:r>
          </a:p>
          <a:p xmlns:a="http://schemas.openxmlformats.org/drawingml/2006/main">
            <a:r>
              <a:t>Build on the preceding slide: q3: 4 marks.</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NEXT</a:t>
            </a:r>
          </a:p>
          <a:p xmlns:a="http://schemas.openxmlformats.org/drawingml/2006/main">
            <a:r>
              <a:t>q5: 3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q5: 3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q5: 3 marks</a:t>
            </a:r>
          </a:p>
          <a:p xmlns:a="http://schemas.openxmlformats.org/drawingml/2006/main">
            <a:r>
              <a:t/>
            </a:r>
          </a:p>
          <a:p xmlns:a="http://schemas.openxmlformats.org/drawingml/2006/main">
            <a:r>
              <a:t>CONNECT</a:t>
            </a:r>
          </a:p>
          <a:p xmlns:a="http://schemas.openxmlformats.org/drawingml/2006/main">
            <a:r>
              <a:t>Build on q4: 4 marks. Explain why this example is needed before running it.</a:t>
            </a:r>
          </a:p>
          <a:p xmlns:a="http://schemas.openxmlformats.org/drawingml/2006/main">
            <a:r>
              <a:t/>
            </a:r>
          </a:p>
          <a:p xmlns:a="http://schemas.openxmlformats.org/drawingml/2006/main">
            <a:r>
              <a:t>EXPLAIN</a:t>
            </a:r>
          </a:p>
          <a:p xmlns:a="http://schemas.openxmlformats.org/drawingml/2006/main">
            <a:r>
              <a:t>Set mean_cost_per_kwh to the mean of the cost_per_kwh column.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q5: 3 marks</a:t>
            </a:r>
          </a:p>
          <a:p xmlns:a="http://schemas.openxmlformats.org/drawingml/2006/main">
            <a:r>
              <a:t/>
            </a:r>
          </a:p>
          <a:p xmlns:a="http://schemas.openxmlformats.org/drawingml/2006/main">
            <a:r>
              <a:t>CONNECT</a:t>
            </a:r>
          </a:p>
          <a:p xmlns:a="http://schemas.openxmlformats.org/drawingml/2006/main">
            <a:r>
              <a:t>Build on the preceding slide: q4: 4 marks.</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NEXT</a:t>
            </a:r>
          </a:p>
          <a:p xmlns:a="http://schemas.openxmlformats.org/drawingml/2006/main">
            <a:r>
              <a:t>q6: 3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q6: 3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q6: 3 marks</a:t>
            </a:r>
          </a:p>
          <a:p xmlns:a="http://schemas.openxmlformats.org/drawingml/2006/main">
            <a:r>
              <a:t/>
            </a:r>
          </a:p>
          <a:p xmlns:a="http://schemas.openxmlformats.org/drawingml/2006/main">
            <a:r>
              <a:t>CONNECT</a:t>
            </a:r>
          </a:p>
          <a:p xmlns:a="http://schemas.openxmlformats.org/drawingml/2006/main">
            <a:r>
              <a:t>Build on q5: 3 marks. Explain why this example is needed before running it.</a:t>
            </a:r>
          </a:p>
          <a:p xmlns:a="http://schemas.openxmlformats.org/drawingml/2006/main">
            <a:r>
              <a:t/>
            </a:r>
          </a:p>
          <a:p xmlns:a="http://schemas.openxmlformats.org/drawingml/2006/main">
            <a:r>
              <a:t>EXPLAIN</a:t>
            </a:r>
          </a:p>
          <a:p xmlns:a="http://schemas.openxmlformats.org/drawingml/2006/main">
            <a:r>
              <a:t>Set peak_building to the name of the building with the highest total kwh.</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q6: 3 marks</a:t>
            </a:r>
          </a:p>
          <a:p xmlns:a="http://schemas.openxmlformats.org/drawingml/2006/main">
            <a:r>
              <a:t/>
            </a:r>
          </a:p>
          <a:p xmlns:a="http://schemas.openxmlformats.org/drawingml/2006/main">
            <a:r>
              <a:t>CONNECT</a:t>
            </a:r>
          </a:p>
          <a:p xmlns:a="http://schemas.openxmlformats.org/drawingml/2006/main">
            <a:r>
              <a:t>Build on the preceding slide: q5: 3 marks.</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NEXT</a:t>
            </a:r>
          </a:p>
          <a:p xmlns:a="http://schemas.openxmlformats.org/drawingml/2006/main">
            <a:r>
              <a:t>Pandas investigation submission.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Pandas investigation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Pandas investigation submission</a:t>
            </a:r>
          </a:p>
          <a:p xmlns:a="http://schemas.openxmlformats.org/drawingml/2006/main">
            <a:r>
              <a:t/>
            </a:r>
          </a:p>
          <a:p xmlns:a="http://schemas.openxmlformats.org/drawingml/2006/main">
            <a:r>
              <a:t>CONNECT</a:t>
            </a:r>
          </a:p>
          <a:p xmlns:a="http://schemas.openxmlformats.org/drawingml/2006/main">
            <a:r>
              <a:t>Build on q6: 3 marks. Explain why this example is needed before running it.</a:t>
            </a:r>
          </a:p>
          <a:p xmlns:a="http://schemas.openxmlformats.org/drawingml/2006/main">
            <a:r>
              <a:t/>
            </a:r>
          </a:p>
          <a:p xmlns:a="http://schemas.openxmlformats.org/drawingml/2006/main">
            <a:r>
              <a:t>EXPLAIN</a:t>
            </a:r>
          </a:p>
          <a:p xmlns:a="http://schemas.openxmlformats.org/drawingml/2006/main">
            <a:r>
              <a:t>Opens: 07 Oct 2026, 11:00 Kampala</a:t>
            </a:r>
          </a:p>
          <a:p xmlns:a="http://schemas.openxmlformats.org/drawingml/2006/main">
            <a:r>
              <a:t/>
            </a:r>
          </a:p>
          <a:p xmlns:a="http://schemas.openxmlformats.org/drawingml/2006/main">
            <a:r>
              <a:t>Deadline: 16 Oct 2026, 11:00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Pandas investigation submission</a:t>
            </a:r>
          </a:p>
          <a:p xmlns:a="http://schemas.openxmlformats.org/drawingml/2006/main">
            <a:r>
              <a:t/>
            </a:r>
          </a:p>
          <a:p xmlns:a="http://schemas.openxmlformats.org/drawingml/2006/main">
            <a:r>
              <a:t>CONNECT</a:t>
            </a:r>
          </a:p>
          <a:p xmlns:a="http://schemas.openxmlformats.org/drawingml/2006/main">
            <a:r>
              <a:t>Build on the preceding slide: q6: 3 marks.</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EXPLAIN IN ORDINARY WORDS</a:t>
            </a:r>
          </a:p>
          <a:p xmlns:a="http://schemas.openxmlformats.org/drawingml/2006/main">
            <a:r>
              <a:t>A DataFrame is a labelled table. A Series is a single labelled sequence, often one column. A dtype describes stored values, but the import may infer something unsuitable.</a:t>
            </a:r>
          </a:p>
          <a:p xmlns:a="http://schemas.openxmlformats.org/drawingml/2006/main">
            <a:r>
              <a:t/>
            </a:r>
          </a:p>
          <a:p xmlns:a="http://schemas.openxmlformats.org/drawingml/2006/main">
            <a:r>
              <a:t>CHECK AND EXPECTED ANSWER</a:t>
            </a:r>
          </a:p>
          <a:p xmlns:a="http://schemas.openxmlformats.org/drawingml/2006/main">
            <a:r>
              <a:t>Does a price that looks numeric prove the column is numeric? No. Inspect its dtype and troublesome values before conversion.</a:t>
            </a:r>
          </a:p>
          <a:p xmlns:a="http://schemas.openxmlformats.org/drawingml/2006/main">
            <a:r>
              <a:t/>
            </a:r>
          </a:p>
          <a:p xmlns:a="http://schemas.openxmlformats.org/drawingml/2006/main">
            <a:r>
              <a:t>IF LEARNERS ARE STUCK</a:t>
            </a:r>
          </a:p>
          <a:p xmlns:a="http://schemas.openxmlformats.org/drawingml/2006/main">
            <a:r>
              <a:t>Use head, shape and dtypes to locate the table, count rows/columns and inspect storage. Check units and missing values before calculating.</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Project preparation.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Project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Project preparation</a:t>
            </a:r>
          </a:p>
          <a:p xmlns:a="http://schemas.openxmlformats.org/drawingml/2006/main">
            <a:r>
              <a:t/>
            </a:r>
          </a:p>
          <a:p xmlns:a="http://schemas.openxmlformats.org/drawingml/2006/main">
            <a:r>
              <a:t>CONNECT</a:t>
            </a:r>
          </a:p>
          <a:p xmlns:a="http://schemas.openxmlformats.org/drawingml/2006/main">
            <a:r>
              <a:t>Build on Pandas investigation submission. Explain why this example is needed before running it.</a:t>
            </a:r>
          </a:p>
          <a:p xmlns:a="http://schemas.openxmlformats.org/drawingml/2006/main">
            <a:r>
              <a:t/>
            </a:r>
          </a:p>
          <a:p xmlns:a="http://schemas.openxmlformats.org/drawingml/2006/main">
            <a:r>
              <a:t>EXPLAIN</a:t>
            </a:r>
          </a:p>
          <a:p xmlns:a="http://schemas.openxmlformats.org/drawingml/2006/main">
            <a:r>
              <a:t>Use the published data analysis project brief.</a:t>
            </a:r>
          </a:p>
          <a:p xmlns:a="http://schemas.openxmlformats.org/drawingml/2006/main">
            <a:r>
              <a:t/>
            </a:r>
          </a:p>
          <a:p xmlns:a="http://schemas.openxmlformats.org/drawingml/2006/main">
            <a:r>
              <a:t>Build the evidence gradually in your project notebook.</a:t>
            </a:r>
          </a:p>
          <a:p xmlns:a="http://schemas.openxmlformats.org/drawingml/2006/main">
            <a:r>
              <a:t/>
            </a:r>
          </a:p>
          <a:p xmlns:a="http://schemas.openxmlformats.org/drawingml/2006/main">
            <a:r>
              <a:t>Keep raw data, labelled charts, run instructions and individual contributions.</a:t>
            </a:r>
          </a:p>
          <a:p xmlns:a="http://schemas.openxmlformats.org/drawingml/2006/main">
            <a:r>
              <a:t/>
            </a:r>
          </a:p>
          <a:p xmlns:a="http://schemas.openxmlformats.org/drawingml/2006/main">
            <a:r>
              <a:t>Published deadline: 30 Oct 2026, 11:00 Kampala</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Project preparation</a:t>
            </a:r>
          </a:p>
          <a:p xmlns:a="http://schemas.openxmlformats.org/drawingml/2006/main">
            <a:r>
              <a:t/>
            </a:r>
          </a:p>
          <a:p xmlns:a="http://schemas.openxmlformats.org/drawingml/2006/main">
            <a:r>
              <a:t>CONNECT</a:t>
            </a:r>
          </a:p>
          <a:p xmlns:a="http://schemas.openxmlformats.org/drawingml/2006/main">
            <a:r>
              <a:t>Build on the preceding slide: Pandas investigation submission.</a:t>
            </a:r>
          </a:p>
          <a:p xmlns:a="http://schemas.openxmlformats.org/drawingml/2006/main">
            <a:r>
              <a:t/>
            </a:r>
          </a:p>
          <a:p xmlns:a="http://schemas.openxmlformats.org/drawingml/2006/main">
            <a:r>
              <a:t>LECTURER CUE</a:t>
            </a:r>
          </a:p>
          <a:p xmlns:a="http://schemas.openxmlformats.org/drawingml/2006/main">
            <a:r>
              <a:t>Explain the released brief now. Confirm its grading-release checks before assigning it. Avoid treating weekly practice as a substitute for the project evidence. The project brief remains authoritative.</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Week 5 quiz.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Week 5 quiz.</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5 quiz</a:t>
            </a:r>
          </a:p>
          <a:p xmlns:a="http://schemas.openxmlformats.org/drawingml/2006/main">
            <a:r>
              <a:t/>
            </a:r>
          </a:p>
          <a:p xmlns:a="http://schemas.openxmlformats.org/drawingml/2006/main">
            <a:r>
              <a:t>CONNECT</a:t>
            </a:r>
          </a:p>
          <a:p xmlns:a="http://schemas.openxmlformats.org/drawingml/2006/main">
            <a:r>
              <a:t>Build on Project preparation. Explain why this example is needed before running it.</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Week 5 quiz</a:t>
            </a:r>
          </a:p>
          <a:p xmlns:a="http://schemas.openxmlformats.org/drawingml/2006/main">
            <a:r>
              <a:t/>
            </a:r>
          </a:p>
          <a:p xmlns:a="http://schemas.openxmlformats.org/drawingml/2006/main">
            <a:r>
              <a:t>CONNECT</a:t>
            </a:r>
          </a:p>
          <a:p xmlns:a="http://schemas.openxmlformats.org/drawingml/2006/main">
            <a:r>
              <a:t>Build on the preceding slide: Project preparation.</a:t>
            </a:r>
          </a:p>
          <a:p xmlns:a="http://schemas.openxmlformats.org/drawingml/2006/main">
            <a:r>
              <a:t/>
            </a:r>
          </a:p>
          <a:p xmlns:a="http://schemas.openxmlformats.org/drawingml/2006/main">
            <a:r>
              <a:t>LECTURER CUE</a:t>
            </a:r>
          </a:p>
          <a:p xmlns:a="http://schemas.openxmlformats.org/drawingml/2006/main">
            <a:r>
              <a:t>Activate the matching open_W5_CML3111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QUIZ OPERATION</a:t>
            </a:r>
          </a:p>
          <a:p xmlns:a="http://schemas.openxmlformats.org/drawingml/2006/main">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xmlns:a="http://schemas.openxmlformats.org/drawingml/2006/main">
            <a:r>
              <a:t/>
            </a:r>
          </a:p>
          <a:p xmlns:a="http://schemas.openxmlformats.org/drawingml/2006/main">
            <a:r>
              <a:t>NEXT</a:t>
            </a:r>
          </a:p>
          <a:p xmlns:a="http://schemas.openxmlformats.org/drawingml/2006/main">
            <a:r>
              <a:t>Week 5 support.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Week 5 support.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5 support</a:t>
            </a:r>
          </a:p>
          <a:p xmlns:a="http://schemas.openxmlformats.org/drawingml/2006/main">
            <a:r>
              <a:t/>
            </a:r>
          </a:p>
          <a:p xmlns:a="http://schemas.openxmlformats.org/drawingml/2006/main">
            <a:r>
              <a:t>CONNECT</a:t>
            </a:r>
          </a:p>
          <a:p xmlns:a="http://schemas.openxmlformats.org/drawingml/2006/main">
            <a:r>
              <a:t>Build on Week 5 quiz. Explain why this example is needed before running it.</a:t>
            </a:r>
          </a:p>
          <a:p xmlns:a="http://schemas.openxmlformats.org/drawingml/2006/main">
            <a:r>
              <a:t/>
            </a:r>
          </a:p>
          <a:p xmlns:a="http://schemas.openxmlformats.org/drawingml/2006/main">
            <a:r>
              <a:t>EXPLAIN</a:t>
            </a:r>
          </a:p>
          <a:p xmlns:a="http://schemas.openxmlformats.org/drawingml/2006/main">
            <a:r>
              <a:t>Friday 9 October has no normal class.</a:t>
            </a:r>
          </a:p>
          <a:p xmlns:a="http://schemas.openxmlformats.org/drawingml/2006/main">
            <a:r>
              <a:t/>
            </a:r>
          </a:p>
          <a:p xmlns:a="http://schemas.openxmlformats.org/drawingml/2006/main">
            <a:r>
              <a:t>The lecturer will announce a supported replacement session or recording with a clinic.</a:t>
            </a:r>
          </a:p>
          <a:p xmlns:a="http://schemas.openxmlformats.org/drawingml/2006/main">
            <a:r>
              <a:t/>
            </a:r>
          </a:p>
          <a:p xmlns:a="http://schemas.openxmlformats.org/drawingml/2006/main">
            <a:r>
              <a:t>Week 6 starts with 30 minutes of consolidation.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Week 5 support</a:t>
            </a:r>
          </a:p>
          <a:p xmlns:a="http://schemas.openxmlformats.org/drawingml/2006/main">
            <a:r>
              <a:t/>
            </a:r>
          </a:p>
          <a:p xmlns:a="http://schemas.openxmlformats.org/drawingml/2006/main">
            <a:r>
              <a:t>CONNECT</a:t>
            </a:r>
          </a:p>
          <a:p xmlns:a="http://schemas.openxmlformats.org/drawingml/2006/main">
            <a:r>
              <a:t>Build on the preceding slide: Week 5 quiz.</a:t>
            </a:r>
          </a:p>
          <a:p xmlns:a="http://schemas.openxmlformats.org/drawingml/2006/main">
            <a:r>
              <a:t/>
            </a:r>
          </a:p>
          <a:p xmlns:a="http://schemas.openxmlformats.org/drawingml/2006/main">
            <a:r>
              <a:t>LECTURER CUE</a:t>
            </a:r>
          </a:p>
          <a:p xmlns:a="http://schemas.openxmlformats.org/drawingml/2006/main">
            <a:r>
              <a:t>Confirm the actual Faculty-approved make-up or clinic arrangement. Do not assume a time or make video-only homework the replacement.</a:t>
            </a:r>
          </a:p>
          <a:p xmlns:a="http://schemas.openxmlformats.org/drawingml/2006/main">
            <a:r>
              <a:t/>
            </a:r>
          </a:p>
          <a:p xmlns:a="http://schemas.openxmlformats.org/drawingml/2006/main">
            <a:r>
              <a:t>NEXT</a:t>
            </a:r>
          </a:p>
          <a:p xmlns:a="http://schemas.openxmlformats.org/drawingml/2006/main">
            <a:r>
              <a:t>Before you leave.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Before you leave.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Build on Week 5 support. Explain why this example is needed before running it.</a:t>
            </a:r>
          </a:p>
          <a:p xmlns:a="http://schemas.openxmlformats.org/drawingml/2006/main">
            <a:r>
              <a:t/>
            </a:r>
          </a:p>
          <a:p xmlns:a="http://schemas.openxmlformats.org/drawingml/2006/main">
            <a:r>
              <a:t>EXPLAIN</a:t>
            </a:r>
          </a:p>
          <a:p xmlns:a="http://schemas.openxmlformats.org/drawingml/2006/main">
            <a:r>
              <a:t>You can explain which observations a filter keeps and what a grouped total means.</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Before you leave</a:t>
            </a:r>
          </a:p>
          <a:p xmlns:a="http://schemas.openxmlformats.org/drawingml/2006/main">
            <a:r>
              <a:t/>
            </a:r>
          </a:p>
          <a:p xmlns:a="http://schemas.openxmlformats.org/drawingml/2006/main">
            <a:r>
              <a:t>CONNECT</a:t>
            </a:r>
          </a:p>
          <a:p xmlns:a="http://schemas.openxmlformats.org/drawingml/2006/main">
            <a:r>
              <a:t>Build on the preceding slide: Week 5 support.</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independent revision and the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f26835425484e1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528ac7c51ad42e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192530636264d7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82bb70317234c7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41a2cc8a5f34c5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7474a4f8333494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4BC8D514-5153-49F7-8079-B8D7BEBCAD69}"/>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3A8B62C9-BB01-4136-BCEA-7522551D9C6C}"/>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6905F24D-D5BD-4F77-938D-78444CA3881B}"/>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BD9CFACB-F64F-45FA-8E1B-8686961D278F}"/>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BEC9D1AD-6E62-45DA-9761-F8C5F2C0438E}"/>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AD7AC24-CDC8-4F84-B0C7-86324D0BF6C6}"/>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B65F1632-C41C-4EC0-BA64-B9791F8BB57C}"/>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7F72ACAF-D7B3-4984-82C2-39EE2210A690}"/>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7AE0DF37-82A1-4B91-BC1F-1D46988C74B7}"/>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3952FF11-9E18-41F7-8F6C-FDEF65C21C7C}"/>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8BF89C9C-F27D-4388-B281-CF74F0F99F30}"/>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40DF245B-05EF-48C0-897E-EB4ABC389E84}"/>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898D6B92-C3C8-4554-89D9-111A6FB0ECDE}"/>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34EB4957-8E28-4FC1-BB5E-A3A46B87986B}"/>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8C504CEF-9EC3-4504-800C-0C64401DC430}"/>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fc2fd0063b345b6" /><Relationship Type="http://schemas.openxmlformats.org/officeDocument/2006/relationships/slideLayout" Target="/ppt/slideLayouts/slideLayout1.xml" Id="R42e938e03d594bf0" /><Relationship Type="http://schemas.openxmlformats.org/officeDocument/2006/relationships/slideLayout" Target="/ppt/slideLayouts/slideLayout2.xml" Id="Rd257f8b587d74d6c" /><Relationship Type="http://schemas.openxmlformats.org/officeDocument/2006/relationships/slideLayout" Target="/ppt/slideLayouts/slideLayout3.xml" Id="R279c9beeb9c84185" /><Relationship Type="http://schemas.openxmlformats.org/officeDocument/2006/relationships/slideLayout" Target="/ppt/slideLayouts/slideLayout4.xml" Id="R925c68615f754819" /><Relationship Type="http://schemas.openxmlformats.org/officeDocument/2006/relationships/slideLayout" Target="/ppt/slideLayouts/slideLayout5.xml" Id="Rd8a0b4d615dd4ed1" /><Relationship Type="http://schemas.openxmlformats.org/officeDocument/2006/relationships/slideLayout" Target="/ppt/slideLayouts/slideLayout6.xml" Id="R6573cb04ea7445a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2e938e03d594bf0"/>
    <p:sldLayoutId xmlns:r="http://schemas.openxmlformats.org/officeDocument/2006/relationships" id="2147483650" r:id="Rd257f8b587d74d6c"/>
    <p:sldLayoutId xmlns:r="http://schemas.openxmlformats.org/officeDocument/2006/relationships" id="2147483651" r:id="R279c9beeb9c84185"/>
    <p:sldLayoutId xmlns:r="http://schemas.openxmlformats.org/officeDocument/2006/relationships" id="2147483652" r:id="R925c68615f754819"/>
    <p:sldLayoutId xmlns:r="http://schemas.openxmlformats.org/officeDocument/2006/relationships" id="2147483653" r:id="Rd8a0b4d615dd4ed1"/>
    <p:sldLayoutId xmlns:r="http://schemas.openxmlformats.org/officeDocument/2006/relationships" id="2147483654" r:id="R6573cb04ea7445a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f36898589dd4b53" /><Relationship Type="http://schemas.openxmlformats.org/officeDocument/2006/relationships/image" Target="/ppt/media/image.png" Id="Rc23615a981d34282" /><Relationship Type="http://schemas.openxmlformats.org/officeDocument/2006/relationships/notesSlide" Target="/ppt/notesSlides/notesSlide1.xml" Id="Rf3a8098202fe4ee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74926504900478b" /><Relationship Type="http://schemas.openxmlformats.org/officeDocument/2006/relationships/notesSlide" Target="/ppt/notesSlides/notesSlide2.xml" Id="Rb686228401004ab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15203070fb640af" /><Relationship Type="http://schemas.openxmlformats.org/officeDocument/2006/relationships/notesSlide" Target="/ppt/notesSlides/notesSlide3.xml" Id="Rf5ab196198074f5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154ee2db6d04d2f" /><Relationship Type="http://schemas.openxmlformats.org/officeDocument/2006/relationships/notesSlide" Target="/ppt/notesSlides/notesSlide4.xml" Id="Rfdf8a95fbb424d7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e0e4a92cffe44af" /><Relationship Type="http://schemas.openxmlformats.org/officeDocument/2006/relationships/notesSlide" Target="/ppt/notesSlides/notesSlide5.xml" Id="R3bbdbddf582948f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22952ee9a3840c0" /><Relationship Type="http://schemas.openxmlformats.org/officeDocument/2006/relationships/notesSlide" Target="/ppt/notesSlides/notesSlide6.xml" Id="R7325c22c013f440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2b919ccd4a645cc" /><Relationship Type="http://schemas.openxmlformats.org/officeDocument/2006/relationships/notesSlide" Target="/ppt/notesSlides/notesSlide7.xml" Id="R1b445c6083954e9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bdf208a34a54a72" /><Relationship Type="http://schemas.openxmlformats.org/officeDocument/2006/relationships/notesSlide" Target="/ppt/notesSlides/notesSlide8.xml" Id="R1dbb157bb0b143d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efcc4a88025849f9" /><Relationship Type="http://schemas.openxmlformats.org/officeDocument/2006/relationships/image" Target="/ppt/media/image2.png" Id="Ree483cd8d8be4e80" /><Relationship Type="http://schemas.openxmlformats.org/officeDocument/2006/relationships/notesSlide" Target="/ppt/notesSlides/notesSlide9.xml" Id="R9d6399e460844d2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e8de4c5baf143f7" /><Relationship Type="http://schemas.openxmlformats.org/officeDocument/2006/relationships/notesSlide" Target="/ppt/notesSlides/notesSlide10.xml" Id="R51ba9d0bb252422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bd076f642adb423e" /><Relationship Type="http://schemas.openxmlformats.org/officeDocument/2006/relationships/notesSlide" Target="/ppt/notesSlides/notesSlide11.xml" Id="Rb762a599e2aa445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f408b2ccfbd748be" /><Relationship Type="http://schemas.openxmlformats.org/officeDocument/2006/relationships/notesSlide" Target="/ppt/notesSlides/notesSlide12.xml" Id="R078e8beb663543e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c0c8d31794c04368" /><Relationship Type="http://schemas.openxmlformats.org/officeDocument/2006/relationships/notesSlide" Target="/ppt/notesSlides/notesSlide13.xml" Id="Rf75192076ab1402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e6f4991a863f432d" /><Relationship Type="http://schemas.openxmlformats.org/officeDocument/2006/relationships/notesSlide" Target="/ppt/notesSlides/notesSlide14.xml" Id="R3ba19822e674482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694a6e978d3345d9" /><Relationship Type="http://schemas.openxmlformats.org/officeDocument/2006/relationships/image" Target="/ppt/media/image3.png" Id="R4be1cc45257c47ed" /><Relationship Type="http://schemas.openxmlformats.org/officeDocument/2006/relationships/notesSlide" Target="/ppt/notesSlides/notesSlide15.xml" Id="Rbd0fa4a5949744b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7cc97973a47a48dd" /><Relationship Type="http://schemas.openxmlformats.org/officeDocument/2006/relationships/notesSlide" Target="/ppt/notesSlides/notesSlide16.xml" Id="R609e2fbf05f94f1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b4b2f6cc326343e0" /><Relationship Type="http://schemas.openxmlformats.org/officeDocument/2006/relationships/notesSlide" Target="/ppt/notesSlides/notesSlide17.xml" Id="R54d53a3c6839487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dd635d20f2944604" /><Relationship Type="http://schemas.openxmlformats.org/officeDocument/2006/relationships/notesSlide" Target="/ppt/notesSlides/notesSlide18.xml" Id="R8fc327e474724b8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354ca6f3f1554277" /><Relationship Type="http://schemas.openxmlformats.org/officeDocument/2006/relationships/notesSlide" Target="/ppt/notesSlides/notesSlide19.xml" Id="Rc157f0f86102477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3d42abf8339e4280" /><Relationship Type="http://schemas.openxmlformats.org/officeDocument/2006/relationships/notesSlide" Target="/ppt/notesSlides/notesSlide20.xml" Id="R50c90bb4ee494e9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5c86761a06db4fd2" /><Relationship Type="http://schemas.openxmlformats.org/officeDocument/2006/relationships/notesSlide" Target="/ppt/notesSlides/notesSlide21.xml" Id="R85286ff6c8d14ca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81c6d95885694b8f" /><Relationship Type="http://schemas.openxmlformats.org/officeDocument/2006/relationships/notesSlide" Target="/ppt/notesSlides/notesSlide22.xml" Id="R4328b46d980a473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cf8541a81a324453" /><Relationship Type="http://schemas.openxmlformats.org/officeDocument/2006/relationships/notesSlide" Target="/ppt/notesSlides/notesSlide23.xml" Id="R098591eb4e41426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ddd7126fa01a4668" /><Relationship Type="http://schemas.openxmlformats.org/officeDocument/2006/relationships/notesSlide" Target="/ppt/notesSlides/notesSlide24.xml" Id="R874eaa4080444499"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09ba6f820c684171" /><Relationship Type="http://schemas.openxmlformats.org/officeDocument/2006/relationships/notesSlide" Target="/ppt/notesSlides/notesSlide25.xml" Id="R1bdefdad1c9e4f29"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d5c4182c1d2947f2" /><Relationship Type="http://schemas.openxmlformats.org/officeDocument/2006/relationships/notesSlide" Target="/ppt/notesSlides/notesSlide26.xml" Id="R255aa052fec649e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797e72008cb940fc" /><Relationship Type="http://schemas.openxmlformats.org/officeDocument/2006/relationships/notesSlide" Target="/ppt/notesSlides/notesSlide27.xml" Id="R3d0b59879f524478"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5da8efc4642343c8" /><Relationship Type="http://schemas.openxmlformats.org/officeDocument/2006/relationships/notesSlide" Target="/ppt/notesSlides/notesSlide28.xml" Id="R2e1932f548db439c"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61ddef16b7494c1c" /><Relationship Type="http://schemas.openxmlformats.org/officeDocument/2006/relationships/notesSlide" Target="/ppt/notesSlides/notesSlide29.xml" Id="R7ccb5a9878ce4721"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9ae0541f92754cf3" /><Relationship Type="http://schemas.openxmlformats.org/officeDocument/2006/relationships/notesSlide" Target="/ppt/notesSlides/notesSlide30.xml" Id="R515abf922dee4af0"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50db1f8877374a60" /><Relationship Type="http://schemas.openxmlformats.org/officeDocument/2006/relationships/notesSlide" Target="/ppt/notesSlides/notesSlide31.xml" Id="Rd3629558df824c99"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28dddfb01b33452c" /><Relationship Type="http://schemas.openxmlformats.org/officeDocument/2006/relationships/notesSlide" Target="/ppt/notesSlides/notesSlide32.xml" Id="R3747bdc551e94d1f"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094368475f034d0e" /><Relationship Type="http://schemas.openxmlformats.org/officeDocument/2006/relationships/notesSlide" Target="/ppt/notesSlides/notesSlide33.xml" Id="R142a0095127949dc"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2e1a44f7640d4641" /><Relationship Type="http://schemas.openxmlformats.org/officeDocument/2006/relationships/notesSlide" Target="/ppt/notesSlides/notesSlide34.xml" Id="Rdeec0a27ec9b479c"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e533ae1b60544810" /><Relationship Type="http://schemas.openxmlformats.org/officeDocument/2006/relationships/notesSlide" Target="/ppt/notesSlides/notesSlide35.xml" Id="R6d8bde8428ab4ee8"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870e90573327415c" /><Relationship Type="http://schemas.openxmlformats.org/officeDocument/2006/relationships/notesSlide" Target="/ppt/notesSlides/notesSlide36.xml" Id="Rfc84e82640a94475"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5832caa344b9412e" /><Relationship Type="http://schemas.openxmlformats.org/officeDocument/2006/relationships/notesSlide" Target="/ppt/notesSlides/notesSlide37.xml" Id="R06e131169e8d41af"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e8283d30b31b488e" /><Relationship Type="http://schemas.openxmlformats.org/officeDocument/2006/relationships/hyperlink" Target="https://docs.google.com/forms/d/e/1FAIpQLSea9Y9pC-JeaVEPpu4prViKZaOHF8cmPczko8iGDiPmr73I2A/viewform" TargetMode="External" Id="R5949679d8fd245c0" /><Relationship Type="http://schemas.openxmlformats.org/officeDocument/2006/relationships/notesSlide" Target="/ppt/notesSlides/notesSlide38.xml" Id="R659bbd254ed24371"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a930286d4a094581" /><Relationship Type="http://schemas.openxmlformats.org/officeDocument/2006/relationships/notesSlide" Target="/ppt/notesSlides/notesSlide39.xml" Id="R7ff82cc56f8e49c5"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9dbc8960c9064992" /><Relationship Type="http://schemas.openxmlformats.org/officeDocument/2006/relationships/image" Target="/ppt/media/image4.png" Id="R70384116c2f5430b" /><Relationship Type="http://schemas.openxmlformats.org/officeDocument/2006/relationships/hyperlink" Target="https://forms.gle/a2TPHUcEF6sacSnr6" TargetMode="External" Id="R78932ce5ec5d4f1e" /><Relationship Type="http://schemas.openxmlformats.org/officeDocument/2006/relationships/notesSlide" Target="/ppt/notesSlides/notesSlide40.xml" Id="Ra071ef83ced84061"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4510c24152bb47d0" /><Relationship Type="http://schemas.openxmlformats.org/officeDocument/2006/relationships/notesSlide" Target="/ppt/notesSlides/notesSlide41.xml" Id="Rf447fd8b02494ab4"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e8ccca957d8149cc" /><Relationship Type="http://schemas.openxmlformats.org/officeDocument/2006/relationships/notesSlide" Target="/ppt/notesSlides/notesSlide42.xml" Id="R7c0a64f81ca04f44"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c23615a981d34282"/>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AC13934-89EC-418C-9B85-9E515EDCF8A2}"/>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7D4635A0-4DC6-4AEE-8FE3-CBA571C87568}"/>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5</a:t>
            </a:r>
          </a:p>
        </p:txBody>
      </p:sp>
      <p:sp>
        <p:nvSpPr>
          <p:cNvPr id="4" name="">
            <a:extLst xmlns:a="http://schemas.openxmlformats.org/drawingml/2006/main">
              <a:ext uri="{FF2B5EF4-FFF2-40B4-BE49-F238E27FC236}">
                <a16:creationId xmlns:a16="http://schemas.microsoft.com/office/drawing/2014/main" id="{79855BD1-2DA1-459C-82AD-55E2407DFE97}"/>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Using pandas to answer table questions</a:t>
            </a:r>
          </a:p>
        </p:txBody>
      </p:sp>
      <p:sp>
        <p:nvSpPr>
          <p:cNvPr id="5" name="">
            <a:extLst xmlns:a="http://schemas.openxmlformats.org/drawingml/2006/main">
              <a:ext uri="{FF2B5EF4-FFF2-40B4-BE49-F238E27FC236}">
                <a16:creationId xmlns:a16="http://schemas.microsoft.com/office/drawing/2014/main" id="{C45846B5-848C-412C-A9DB-0E1E4D6BDA63}"/>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22039504-319B-4B44-AFA0-397D39890F20}"/>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09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181952759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AC66E9B-40AE-43DB-8889-5D91C2046A7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2CFD236-6650-4069-ABDA-F617035CD8D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FC69FDC6-B465-4D3F-9BDE-03E675F7A7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DF62786D-46F0-463A-A432-6E200944C97F}"/>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5E4E9CE-DE11-4030-B1F7-F2CB1B8801D7}"/>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179F8C9C-92AD-4EEC-8515-A2D80A0721EA}"/>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a labelled table and select rows.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column summaries and grouped totals.</a:t>
            </a:r>
          </a:p>
        </p:txBody>
      </p:sp>
      <p:sp>
        <p:nvSpPr>
          <p:cNvPr id="7" name="">
            <a:extLst xmlns:a="http://schemas.openxmlformats.org/drawingml/2006/main">
              <a:ext uri="{FF2B5EF4-FFF2-40B4-BE49-F238E27FC236}">
                <a16:creationId xmlns:a16="http://schemas.microsoft.com/office/drawing/2014/main" id="{34404DC6-8775-4ED2-A70E-F8C7A1D3A0DB}"/>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897FE77A-A8CF-4C53-9531-6A51FE47E4CC}"/>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which observations a filter keeps and what a grouped total means.</a:t>
            </a:r>
          </a:p>
        </p:txBody>
      </p:sp>
      <p:sp>
        <p:nvSpPr>
          <p:cNvPr id="9" name="">
            <a:extLst xmlns:a="http://schemas.openxmlformats.org/drawingml/2006/main">
              <a:ext uri="{FF2B5EF4-FFF2-40B4-BE49-F238E27FC236}">
                <a16:creationId xmlns:a16="http://schemas.microsoft.com/office/drawing/2014/main" id="{51107A7B-5C83-4B13-8ACC-AA35ADF0B04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a:t>
            </a:r>
          </a:p>
        </p:txBody>
      </p:sp>
    </p:spTree>
    <p:extLst>
      <p:ext uri="{BB962C8B-B14F-4D97-AF65-F5344CB8AC3E}">
        <p14:creationId xmlns:p14="http://schemas.microsoft.com/office/powerpoint/2010/main" val="122300850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EFE072D-8F15-4869-888E-2E1449CD5B9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B027D63-55A6-48C8-BBDF-C4653BEF915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AA4CE3C-CA20-49A3-919E-5A0FEAE4A9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81D00883-C8A3-4F74-8FF8-8BDD72662CE4}"/>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85B05F5-E053-448A-A5E0-95F324B4EE24}"/>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Week 4 used lists, dictionaries, loops and CSV rows. pandas keeps these same records in a labelled table and provides operations that work across its columns.</a:t>
            </a:r>
          </a:p>
        </p:txBody>
      </p:sp>
      <p:sp>
        <p:nvSpPr>
          <p:cNvPr id="6" name="">
            <a:extLst xmlns:a="http://schemas.openxmlformats.org/drawingml/2006/main">
              <a:ext uri="{FF2B5EF4-FFF2-40B4-BE49-F238E27FC236}">
                <a16:creationId xmlns:a16="http://schemas.microsoft.com/office/drawing/2014/main" id="{09589971-5622-4EDB-80EB-8A892BC937E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3</a:t>
            </a:r>
          </a:p>
        </p:txBody>
      </p:sp>
    </p:spTree>
    <p:extLst>
      <p:ext uri="{BB962C8B-B14F-4D97-AF65-F5344CB8AC3E}">
        <p14:creationId xmlns:p14="http://schemas.microsoft.com/office/powerpoint/2010/main" val="195796495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8B4E78F-516D-4480-9821-C0F0F293406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32C3F4D-AFF7-4452-852E-7E8A422BEE5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4209D4A-A881-4CD4-8C69-DB2D82668FB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664FC181-5FC8-44E5-8962-E41ECFB1A1E1}"/>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845F121-259F-41A9-92CD-3186BAC87994}"/>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supplied campus_energy.csv records campus electricity use.</a:t>
            </a:r>
          </a:p>
        </p:txBody>
      </p:sp>
      <p:sp>
        <p:nvSpPr>
          <p:cNvPr id="6" name="">
            <a:extLst xmlns:a="http://schemas.openxmlformats.org/drawingml/2006/main">
              <a:ext uri="{FF2B5EF4-FFF2-40B4-BE49-F238E27FC236}">
                <a16:creationId xmlns:a16="http://schemas.microsoft.com/office/drawing/2014/main" id="{508504DB-905F-4046-9C3D-6BA3C136BA44}"/>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practise pandas on four invented rows first, then inspect the supplied file and its units.</a:t>
            </a:r>
          </a:p>
        </p:txBody>
      </p:sp>
      <p:sp>
        <p:nvSpPr>
          <p:cNvPr id="7" name="">
            <a:extLst xmlns:a="http://schemas.openxmlformats.org/drawingml/2006/main">
              <a:ext uri="{FF2B5EF4-FFF2-40B4-BE49-F238E27FC236}">
                <a16:creationId xmlns:a16="http://schemas.microsoft.com/office/drawing/2014/main" id="{A5AAA624-0178-4AE3-9A71-DB67C55E023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4</a:t>
            </a:r>
          </a:p>
        </p:txBody>
      </p:sp>
    </p:spTree>
    <p:extLst>
      <p:ext uri="{BB962C8B-B14F-4D97-AF65-F5344CB8AC3E}">
        <p14:creationId xmlns:p14="http://schemas.microsoft.com/office/powerpoint/2010/main" val="15284669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7873070-DB36-41A5-8933-0AA68AEDAD0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B8CC174-5FDC-4E74-889D-5E3458C8F3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2C3E0CB-C99B-4D5E-943D-0780319A776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columns and units</a:t>
            </a:r>
          </a:p>
        </p:txBody>
      </p:sp>
      <p:sp>
        <p:nvSpPr>
          <p:cNvPr id="4" name="">
            <a:extLst xmlns:a="http://schemas.openxmlformats.org/drawingml/2006/main">
              <a:ext uri="{FF2B5EF4-FFF2-40B4-BE49-F238E27FC236}">
                <a16:creationId xmlns:a16="http://schemas.microsoft.com/office/drawing/2014/main" id="{8FBEE3A6-474D-4A84-8730-D2CD0B65101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D979856-85D0-4FAA-8672-884369DBB955}"/>
              </a:ext>
            </a:extLst>
          </p:cNvPr>
          <p:cNvSpPr>
            <a:spLocks xmlns:a="http://schemas.openxmlformats.org/drawingml/2006/main" noGrp="1"/>
          </p:cNvSpPr>
          <p:nvPr/>
        </p:nvSpPr>
        <p:spPr>
          <a:xfrm xmlns:a="http://schemas.openxmlformats.org/drawingml/2006/main">
            <a:off x="1381125" y="1781175"/>
            <a:ext cx="1009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row describes one observation. A column describes one field.</a:t>
            </a:r>
          </a:p>
        </p:txBody>
      </p:sp>
      <p:sp>
        <p:nvSpPr>
          <p:cNvPr id="6" name="">
            <a:extLst xmlns:a="http://schemas.openxmlformats.org/drawingml/2006/main">
              <a:ext uri="{FF2B5EF4-FFF2-40B4-BE49-F238E27FC236}">
                <a16:creationId xmlns:a16="http://schemas.microsoft.com/office/drawing/2014/main" id="{F93E826B-F88C-4914-8178-AF505DD4F600}"/>
              </a:ext>
            </a:extLst>
          </p:cNvPr>
          <p:cNvSpPr>
            <a:spLocks xmlns:a="http://schemas.openxmlformats.org/drawingml/2006/main" noGrp="1"/>
          </p:cNvSpPr>
          <p:nvPr/>
        </p:nvSpPr>
        <p:spPr>
          <a:xfrm xmlns:a="http://schemas.openxmlformats.org/drawingml/2006/main">
            <a:off x="590550" y="26384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2B5D83F-49D2-4E94-B978-655BEF4235CE}"/>
              </a:ext>
            </a:extLst>
          </p:cNvPr>
          <p:cNvSpPr>
            <a:spLocks xmlns:a="http://schemas.openxmlformats.org/drawingml/2006/main" noGrp="1"/>
          </p:cNvSpPr>
          <p:nvPr/>
        </p:nvSpPr>
        <p:spPr>
          <a:xfrm xmlns:a="http://schemas.openxmlformats.org/drawingml/2006/main">
            <a:off x="1381125" y="2638425"/>
            <a:ext cx="1009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DataFrame is pandas’ labelled table.</a:t>
            </a:r>
          </a:p>
        </p:txBody>
      </p:sp>
      <p:sp>
        <p:nvSpPr>
          <p:cNvPr id="8" name="">
            <a:extLst xmlns:a="http://schemas.openxmlformats.org/drawingml/2006/main">
              <a:ext uri="{FF2B5EF4-FFF2-40B4-BE49-F238E27FC236}">
                <a16:creationId xmlns:a16="http://schemas.microsoft.com/office/drawing/2014/main" id="{41B8622E-D05F-4E65-9E75-FDC84C2C1094}"/>
              </a:ext>
            </a:extLst>
          </p:cNvPr>
          <p:cNvSpPr>
            <a:spLocks xmlns:a="http://schemas.openxmlformats.org/drawingml/2006/main" noGrp="1"/>
          </p:cNvSpPr>
          <p:nvPr/>
        </p:nvSpPr>
        <p:spPr>
          <a:xfrm xmlns:a="http://schemas.openxmlformats.org/drawingml/2006/main">
            <a:off x="590550" y="3495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BC31003-130C-4711-AF7D-5E7FC2AA481C}"/>
              </a:ext>
            </a:extLst>
          </p:cNvPr>
          <p:cNvSpPr>
            <a:spLocks xmlns:a="http://schemas.openxmlformats.org/drawingml/2006/main" noGrp="1"/>
          </p:cNvSpPr>
          <p:nvPr/>
        </p:nvSpPr>
        <p:spPr>
          <a:xfrm xmlns:a="http://schemas.openxmlformats.org/drawingml/2006/main">
            <a:off x="1381125" y="3495675"/>
            <a:ext cx="1009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Series is one labelled column.</a:t>
            </a:r>
          </a:p>
        </p:txBody>
      </p:sp>
      <p:sp>
        <p:nvSpPr>
          <p:cNvPr id="10" name="">
            <a:extLst xmlns:a="http://schemas.openxmlformats.org/drawingml/2006/main">
              <a:ext uri="{FF2B5EF4-FFF2-40B4-BE49-F238E27FC236}">
                <a16:creationId xmlns:a16="http://schemas.microsoft.com/office/drawing/2014/main" id="{3741A612-FB91-4CE5-B19D-11DCD6466202}"/>
              </a:ext>
            </a:extLst>
          </p:cNvPr>
          <p:cNvSpPr>
            <a:spLocks xmlns:a="http://schemas.openxmlformats.org/drawingml/2006/main" noGrp="1"/>
          </p:cNvSpPr>
          <p:nvPr/>
        </p:nvSpPr>
        <p:spPr>
          <a:xfrm xmlns:a="http://schemas.openxmlformats.org/drawingml/2006/main">
            <a:off x="590550" y="4352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85DC8D3-E773-4E03-9972-F9BFB35D4356}"/>
              </a:ext>
            </a:extLst>
          </p:cNvPr>
          <p:cNvSpPr>
            <a:spLocks xmlns:a="http://schemas.openxmlformats.org/drawingml/2006/main" noGrp="1"/>
          </p:cNvSpPr>
          <p:nvPr/>
        </p:nvSpPr>
        <p:spPr>
          <a:xfrm xmlns:a="http://schemas.openxmlformats.org/drawingml/2006/main">
            <a:off x="1381125" y="4352925"/>
            <a:ext cx="1009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kWh measures energy. kW measures power.</a:t>
            </a:r>
          </a:p>
        </p:txBody>
      </p:sp>
      <p:sp>
        <p:nvSpPr>
          <p:cNvPr id="12" name="">
            <a:extLst xmlns:a="http://schemas.openxmlformats.org/drawingml/2006/main">
              <a:ext uri="{FF2B5EF4-FFF2-40B4-BE49-F238E27FC236}">
                <a16:creationId xmlns:a16="http://schemas.microsoft.com/office/drawing/2014/main" id="{AD97D5F7-A3A7-45BB-B173-6FA1BE7D6774}"/>
              </a:ext>
            </a:extLst>
          </p:cNvPr>
          <p:cNvSpPr>
            <a:spLocks xmlns:a="http://schemas.openxmlformats.org/drawingml/2006/main" noGrp="1"/>
          </p:cNvSpPr>
          <p:nvPr/>
        </p:nvSpPr>
        <p:spPr>
          <a:xfrm xmlns:a="http://schemas.openxmlformats.org/drawingml/2006/main">
            <a:off x="590550" y="5210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05</a:t>
            </a:r>
          </a:p>
        </p:txBody>
      </p:sp>
      <p:sp>
        <p:nvSpPr>
          <p:cNvPr id="13" name="">
            <a:extLst xmlns:a="http://schemas.openxmlformats.org/drawingml/2006/main">
              <a:ext uri="{FF2B5EF4-FFF2-40B4-BE49-F238E27FC236}">
                <a16:creationId xmlns:a16="http://schemas.microsoft.com/office/drawing/2014/main" id="{04985989-D097-4735-9F7F-E50FFA8D1C90}"/>
              </a:ext>
            </a:extLst>
          </p:cNvPr>
          <p:cNvSpPr>
            <a:spLocks xmlns:a="http://schemas.openxmlformats.org/drawingml/2006/main" noGrp="1"/>
          </p:cNvSpPr>
          <p:nvPr/>
        </p:nvSpPr>
        <p:spPr>
          <a:xfrm xmlns:a="http://schemas.openxmlformats.org/drawingml/2006/main">
            <a:off x="1381125" y="5210175"/>
            <a:ext cx="1009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data type (dtype) describes the kind of values in a column, such as whole numbers, decimals or text.</a:t>
            </a:r>
          </a:p>
        </p:txBody>
      </p:sp>
      <p:sp>
        <p:nvSpPr>
          <p:cNvPr id="14" name="">
            <a:extLst xmlns:a="http://schemas.openxmlformats.org/drawingml/2006/main">
              <a:ext uri="{FF2B5EF4-FFF2-40B4-BE49-F238E27FC236}">
                <a16:creationId xmlns:a16="http://schemas.microsoft.com/office/drawing/2014/main" id="{4554C390-155C-446C-999B-FC0FC64463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5</a:t>
            </a:r>
          </a:p>
        </p:txBody>
      </p:sp>
    </p:spTree>
    <p:extLst>
      <p:ext uri="{BB962C8B-B14F-4D97-AF65-F5344CB8AC3E}">
        <p14:creationId xmlns:p14="http://schemas.microsoft.com/office/powerpoint/2010/main" val="67220087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7B3E41E-DBF8-479F-AED0-6A1B7A6F750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F940EBF-792D-42D0-8586-10D6FAFBA4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6A86EA9-BA25-4553-A67C-360C32F49E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table keeps related observations together</a:t>
            </a:r>
          </a:p>
        </p:txBody>
      </p:sp>
      <p:sp>
        <p:nvSpPr>
          <p:cNvPr id="4" name="">
            <a:extLst xmlns:a="http://schemas.openxmlformats.org/drawingml/2006/main">
              <a:ext uri="{FF2B5EF4-FFF2-40B4-BE49-F238E27FC236}">
                <a16:creationId xmlns:a16="http://schemas.microsoft.com/office/drawing/2014/main" id="{BEBBCE7A-B1A3-4EFF-820A-2497224B1DF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E654F98-D271-4062-A2DA-A9C8D50C293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Our four rows record building A twice and building B twice.</a:t>
            </a:r>
          </a:p>
        </p:txBody>
      </p:sp>
      <p:sp>
        <p:nvSpPr>
          <p:cNvPr id="6" name="">
            <a:extLst xmlns:a="http://schemas.openxmlformats.org/drawingml/2006/main">
              <a:ext uri="{FF2B5EF4-FFF2-40B4-BE49-F238E27FC236}">
                <a16:creationId xmlns:a16="http://schemas.microsoft.com/office/drawing/2014/main" id="{61297154-C427-4E3D-84CB-3EC99040ECF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32517CE-2020-487D-B447-5CAEDC18620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row contains the building label and an energy reading.</a:t>
            </a:r>
          </a:p>
        </p:txBody>
      </p:sp>
      <p:sp>
        <p:nvSpPr>
          <p:cNvPr id="8" name="">
            <a:extLst xmlns:a="http://schemas.openxmlformats.org/drawingml/2006/main">
              <a:ext uri="{FF2B5EF4-FFF2-40B4-BE49-F238E27FC236}">
                <a16:creationId xmlns:a16="http://schemas.microsoft.com/office/drawing/2014/main" id="{44357403-F15A-417D-B026-0183058D9FD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FE6E748-F7E7-4A3E-8F4E-976F0123488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kWh is energy. kW is power. The units describe different quantities.</a:t>
            </a:r>
          </a:p>
        </p:txBody>
      </p:sp>
      <p:sp>
        <p:nvSpPr>
          <p:cNvPr id="10" name="">
            <a:extLst xmlns:a="http://schemas.openxmlformats.org/drawingml/2006/main">
              <a:ext uri="{FF2B5EF4-FFF2-40B4-BE49-F238E27FC236}">
                <a16:creationId xmlns:a16="http://schemas.microsoft.com/office/drawing/2014/main" id="{D931E700-03BB-4214-B67F-72DE4891480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6</a:t>
            </a:r>
          </a:p>
        </p:txBody>
      </p:sp>
    </p:spTree>
    <p:extLst>
      <p:ext uri="{BB962C8B-B14F-4D97-AF65-F5344CB8AC3E}">
        <p14:creationId xmlns:p14="http://schemas.microsoft.com/office/powerpoint/2010/main" val="170744973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8190976-6F07-4498-9A31-690CC3524D6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E285ECC-5A43-4452-B5E0-51986FFCBC3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6683F9EF-16CD-43A9-9B76-0A7BB67419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Our small energy table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building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kwh</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A</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A</a:t>
                      </a:r>
                    </a:p>
                  </a:txBody>
                  <a:tcPr marL="91440" marR="91440" marT="45720" marB="45720">
                    <a:solidFill>
                      <a:srgbClr val="FFFFFF"/>
                    </a:solidFill>
                  </a:tcPr>
                </a:tc>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B</a:t>
                      </a:r>
                    </a:p>
                  </a:txBody>
                  <a:tcPr marL="91440" marR="91440" marT="45720" marB="45720">
                    <a:solidFill>
                      <a:srgbClr val="EEF3F6"/>
                    </a:solidFill>
                  </a:tcPr>
                </a:tc>
                <a:tc>
                  <a:txBody>
                    <a:bodyPr/>
                    <a:lstStyle/>
                    <a:p>
                      <a:r>
                        <a:rPr sz="2025" b="0">
                          <a:solidFill>
                            <a:srgbClr val="1C3144"/>
                          </a:solidFill>
                          <a:latin typeface="Calibri"/>
                          <a:ea typeface="Calibri"/>
                          <a:cs typeface="Calibri"/>
                        </a:rPr>
                        <a:t>5</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B</a:t>
                      </a:r>
                    </a:p>
                  </a:txBody>
                  <a:tcPr marL="91440" marR="91440" marT="45720" marB="45720">
                    <a:solidFill>
                      <a:srgbClr val="FFFFFF"/>
                    </a:solidFill>
                  </a:tcPr>
                </a:tc>
                <a:tc>
                  <a:txBody>
                    <a:bodyPr/>
                    <a:lstStyle/>
                    <a:p>
                      <a:r>
                        <a:rPr sz="2025" b="0">
                          <a:solidFill>
                            <a:srgbClr val="1C3144"/>
                          </a:solidFill>
                          <a:latin typeface="Calibri"/>
                          <a:ea typeface="Calibri"/>
                          <a:cs typeface="Calibri"/>
                        </a:rPr>
                        <a:t>7</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9CBA5266-3863-421A-ACFB-3F9304B8ED7B}"/>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four observations total 18 kWh.</a:t>
            </a:r>
          </a:p>
        </p:txBody>
      </p:sp>
      <p:sp>
        <p:nvSpPr>
          <p:cNvPr id="6" name="">
            <a:extLst xmlns:a="http://schemas.openxmlformats.org/drawingml/2006/main">
              <a:ext uri="{FF2B5EF4-FFF2-40B4-BE49-F238E27FC236}">
                <a16:creationId xmlns:a16="http://schemas.microsoft.com/office/drawing/2014/main" id="{D962EC87-E819-40B0-BE11-D2E97C49550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7</a:t>
            </a:r>
          </a:p>
        </p:txBody>
      </p:sp>
    </p:spTree>
    <p:extLst>
      <p:ext uri="{BB962C8B-B14F-4D97-AF65-F5344CB8AC3E}">
        <p14:creationId xmlns:p14="http://schemas.microsoft.com/office/powerpoint/2010/main" val="164993315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035626F-094A-40DC-B046-3B044645A70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5364551-4696-4856-84F1-2F65637EFE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16D50C0-EFAE-41F5-A286-4BF408DD76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Library and pandas and DataFrame</a:t>
            </a:r>
          </a:p>
        </p:txBody>
      </p:sp>
      <p:sp>
        <p:nvSpPr>
          <p:cNvPr id="4" name="">
            <a:extLst xmlns:a="http://schemas.openxmlformats.org/drawingml/2006/main">
              <a:ext uri="{FF2B5EF4-FFF2-40B4-BE49-F238E27FC236}">
                <a16:creationId xmlns:a16="http://schemas.microsoft.com/office/drawing/2014/main" id="{93BB8514-CF0A-425D-9BBB-5F6206BE1105}"/>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3850A74-D899-4B8E-893F-3CACF2034A48}"/>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Library and pandas</a:t>
            </a:r>
          </a:p>
        </p:txBody>
      </p:sp>
      <p:sp>
        <p:nvSpPr>
          <p:cNvPr id="6" name="">
            <a:extLst xmlns:a="http://schemas.openxmlformats.org/drawingml/2006/main">
              <a:ext uri="{FF2B5EF4-FFF2-40B4-BE49-F238E27FC236}">
                <a16:creationId xmlns:a16="http://schemas.microsoft.com/office/drawing/2014/main" id="{2FC8F3CF-F248-47B6-B1C5-E0EA407CE86D}"/>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library is reusable code. pandas provides tools for data tables. import pandas as pd makes pd a short name for that library.</a:t>
            </a:r>
          </a:p>
        </p:txBody>
      </p:sp>
      <p:sp>
        <p:nvSpPr>
          <p:cNvPr id="7" name="">
            <a:extLst xmlns:a="http://schemas.openxmlformats.org/drawingml/2006/main">
              <a:ext uri="{FF2B5EF4-FFF2-40B4-BE49-F238E27FC236}">
                <a16:creationId xmlns:a16="http://schemas.microsoft.com/office/drawing/2014/main" id="{023EBC2D-8300-4D89-AA03-7AD0B7E28B55}"/>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3AAD02B-AD57-4CD9-9406-C943EFF55274}"/>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DataFrame</a:t>
            </a:r>
          </a:p>
        </p:txBody>
      </p:sp>
      <p:sp>
        <p:nvSpPr>
          <p:cNvPr id="9" name="">
            <a:extLst xmlns:a="http://schemas.openxmlformats.org/drawingml/2006/main">
              <a:ext uri="{FF2B5EF4-FFF2-40B4-BE49-F238E27FC236}">
                <a16:creationId xmlns:a16="http://schemas.microsoft.com/office/drawing/2014/main" id="{CDBD9012-9C69-479B-8DB5-166AC03F7280}"/>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table with named columns and indexed rows. df is just the variable name we choose for this table.</a:t>
            </a:r>
          </a:p>
        </p:txBody>
      </p:sp>
      <p:sp>
        <p:nvSpPr>
          <p:cNvPr id="10" name="">
            <a:extLst xmlns:a="http://schemas.openxmlformats.org/drawingml/2006/main">
              <a:ext uri="{FF2B5EF4-FFF2-40B4-BE49-F238E27FC236}">
                <a16:creationId xmlns:a16="http://schemas.microsoft.com/office/drawing/2014/main" id="{1C77E1AF-1660-4A42-8B99-81D4276B6C9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8</a:t>
            </a:r>
          </a:p>
        </p:txBody>
      </p:sp>
    </p:spTree>
    <p:extLst>
      <p:ext uri="{BB962C8B-B14F-4D97-AF65-F5344CB8AC3E}">
        <p14:creationId xmlns:p14="http://schemas.microsoft.com/office/powerpoint/2010/main" val="192897636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BF64409-D49B-43AB-BAB2-8B1289DEAFB9}"/>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C216DB7-5C7A-4A97-9558-E45BB724E247}"/>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labelled table in Python</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ee483cd8d8be4e80"/>
          <a:stretch xmlns:a="http://schemas.openxmlformats.org/drawingml/2006/main"/>
        </p:blipFill>
        <p:spPr>
          <a:xfrm xmlns:a="http://schemas.openxmlformats.org/drawingml/2006/main">
            <a:off x="509073" y="1057275"/>
            <a:ext cx="11173854"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768C0456-8090-423C-A379-940B9466D7C9}"/>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4E41A9C-C738-4E0A-97BD-7C211C7DAB7B}"/>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illustration uses machinery records. The same row, column and index structure applies to our building-energy table.</a:t>
            </a:r>
          </a:p>
        </p:txBody>
      </p:sp>
      <p:sp>
        <p:nvSpPr>
          <p:cNvPr id="6" name="">
            <a:extLst xmlns:a="http://schemas.openxmlformats.org/drawingml/2006/main">
              <a:ext uri="{FF2B5EF4-FFF2-40B4-BE49-F238E27FC236}">
                <a16:creationId xmlns:a16="http://schemas.microsoft.com/office/drawing/2014/main" id="{21FD49CA-2112-4ED3-9451-7036295FADB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9</a:t>
            </a:r>
          </a:p>
        </p:txBody>
      </p:sp>
    </p:spTree>
    <p:extLst>
      <p:ext uri="{BB962C8B-B14F-4D97-AF65-F5344CB8AC3E}">
        <p14:creationId xmlns:p14="http://schemas.microsoft.com/office/powerpoint/2010/main" val="186380595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D23C016-21BF-4F9C-AF20-1C136BA8207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AC1F0B4-6F3A-4780-B4E2-BB1E9B99C8C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4CA98BEB-7635-4084-9A4A-F2E9019F89D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Series and Method and attribute</a:t>
            </a:r>
          </a:p>
        </p:txBody>
      </p:sp>
      <p:sp>
        <p:nvSpPr>
          <p:cNvPr id="4" name="">
            <a:extLst xmlns:a="http://schemas.openxmlformats.org/drawingml/2006/main">
              <a:ext uri="{FF2B5EF4-FFF2-40B4-BE49-F238E27FC236}">
                <a16:creationId xmlns:a16="http://schemas.microsoft.com/office/drawing/2014/main" id="{DAB919E9-3EEA-48AA-9BBA-414BFED1ADFD}"/>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30DFEC6-9794-434A-A633-B3E2808155F5}"/>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Series</a:t>
            </a:r>
          </a:p>
        </p:txBody>
      </p:sp>
      <p:sp>
        <p:nvSpPr>
          <p:cNvPr id="6" name="">
            <a:extLst xmlns:a="http://schemas.openxmlformats.org/drawingml/2006/main">
              <a:ext uri="{FF2B5EF4-FFF2-40B4-BE49-F238E27FC236}">
                <a16:creationId xmlns:a16="http://schemas.microsoft.com/office/drawing/2014/main" id="{4B6B5931-9417-4EED-8AE9-686318C0823F}"/>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One labelled column. df["kwh"] selects the column named kwh.</a:t>
            </a:r>
          </a:p>
        </p:txBody>
      </p:sp>
      <p:sp>
        <p:nvSpPr>
          <p:cNvPr id="7" name="">
            <a:extLst xmlns:a="http://schemas.openxmlformats.org/drawingml/2006/main">
              <a:ext uri="{FF2B5EF4-FFF2-40B4-BE49-F238E27FC236}">
                <a16:creationId xmlns:a16="http://schemas.microsoft.com/office/drawing/2014/main" id="{13EE9E9F-8022-4A70-843B-8C387632E7BE}"/>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405E05A-5C48-4D84-99A2-848F08BB49EC}"/>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Method and attribute</a:t>
            </a:r>
          </a:p>
        </p:txBody>
      </p:sp>
      <p:sp>
        <p:nvSpPr>
          <p:cNvPr id="9" name="">
            <a:extLst xmlns:a="http://schemas.openxmlformats.org/drawingml/2006/main">
              <a:ext uri="{FF2B5EF4-FFF2-40B4-BE49-F238E27FC236}">
                <a16:creationId xmlns:a16="http://schemas.microsoft.com/office/drawing/2014/main" id="{3DFEA2DB-1364-4F44-836E-284B8358F754}"/>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method performs an operation, as in df.head(). An attribute provides a stored property, as in df.shape. Parentheses call an operation.</a:t>
            </a:r>
          </a:p>
        </p:txBody>
      </p:sp>
      <p:sp>
        <p:nvSpPr>
          <p:cNvPr id="10" name="">
            <a:extLst xmlns:a="http://schemas.openxmlformats.org/drawingml/2006/main">
              <a:ext uri="{FF2B5EF4-FFF2-40B4-BE49-F238E27FC236}">
                <a16:creationId xmlns:a16="http://schemas.microsoft.com/office/drawing/2014/main" id="{F303F0E8-C36B-4B35-92BB-7E8B16D1554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10</a:t>
            </a:r>
          </a:p>
        </p:txBody>
      </p:sp>
    </p:spTree>
    <p:extLst>
      <p:ext uri="{BB962C8B-B14F-4D97-AF65-F5344CB8AC3E}">
        <p14:creationId xmlns:p14="http://schemas.microsoft.com/office/powerpoint/2010/main" val="26603421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BA66383-E0FC-4F7C-B029-B5F0AF84B7B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729D161-8B19-4E0C-889C-11943CFD0B6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A086407-56F0-4B91-9171-005C423AC5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pandas syntax</a:t>
            </a:r>
          </a:p>
        </p:txBody>
      </p:sp>
      <p:sp>
        <p:nvSpPr>
          <p:cNvPr id="4" name="">
            <a:extLst xmlns:a="http://schemas.openxmlformats.org/drawingml/2006/main">
              <a:ext uri="{FF2B5EF4-FFF2-40B4-BE49-F238E27FC236}">
                <a16:creationId xmlns:a16="http://schemas.microsoft.com/office/drawing/2014/main" id="{BDA1A816-E59B-4609-B038-CE849D6E43D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C7FFAD8-F937-4EE7-AF02-05C4BEDC518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pandas as pd loads the library and gives it a short name.</a:t>
            </a:r>
          </a:p>
        </p:txBody>
      </p:sp>
      <p:sp>
        <p:nvSpPr>
          <p:cNvPr id="6" name="">
            <a:extLst xmlns:a="http://schemas.openxmlformats.org/drawingml/2006/main">
              <a:ext uri="{FF2B5EF4-FFF2-40B4-BE49-F238E27FC236}">
                <a16:creationId xmlns:a16="http://schemas.microsoft.com/office/drawing/2014/main" id="{B1D93796-D578-4AC5-BE21-05CB0E1D003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DB969DD-28A5-4C93-B81F-CE8F2C825D5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pd.read_csv("file.csv") calls a function. The quoted text is the file path.</a:t>
            </a:r>
          </a:p>
        </p:txBody>
      </p:sp>
      <p:sp>
        <p:nvSpPr>
          <p:cNvPr id="8" name="">
            <a:extLst xmlns:a="http://schemas.openxmlformats.org/drawingml/2006/main">
              <a:ext uri="{FF2B5EF4-FFF2-40B4-BE49-F238E27FC236}">
                <a16:creationId xmlns:a16="http://schemas.microsoft.com/office/drawing/2014/main" id="{1C5A5762-385E-47E8-9420-EE970AA1E1A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F727F5E-BF62-4C17-ADBE-FA215AD065C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df["kwh"] selects a column. df["kwh"].mean() calls a method on that column.</a:t>
            </a:r>
          </a:p>
        </p:txBody>
      </p:sp>
      <p:sp>
        <p:nvSpPr>
          <p:cNvPr id="10" name="">
            <a:extLst xmlns:a="http://schemas.openxmlformats.org/drawingml/2006/main">
              <a:ext uri="{FF2B5EF4-FFF2-40B4-BE49-F238E27FC236}">
                <a16:creationId xmlns:a16="http://schemas.microsoft.com/office/drawing/2014/main" id="{B911FEED-D6CD-4C9E-A242-104ECC8B620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11</a:t>
            </a:r>
          </a:p>
        </p:txBody>
      </p:sp>
    </p:spTree>
    <p:extLst>
      <p:ext uri="{BB962C8B-B14F-4D97-AF65-F5344CB8AC3E}">
        <p14:creationId xmlns:p14="http://schemas.microsoft.com/office/powerpoint/2010/main" val="131457903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EF0CA65-2D34-4133-B20E-4B2FD65E862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3E5B077-8B7B-4688-A607-B82387A9909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C4E2B0D-2949-496D-B867-D93204DF0A7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Build the table before asking questions</a:t>
            </a:r>
          </a:p>
        </p:txBody>
      </p:sp>
      <p:sp>
        <p:nvSpPr>
          <p:cNvPr id="4" name="">
            <a:extLst xmlns:a="http://schemas.openxmlformats.org/drawingml/2006/main">
              <a:ext uri="{FF2B5EF4-FFF2-40B4-BE49-F238E27FC236}">
                <a16:creationId xmlns:a16="http://schemas.microsoft.com/office/drawing/2014/main" id="{29915166-D19C-435A-8E33-EAA517583A1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DB0914F-C359-48A9-9D80-73B5BCD694E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pandas as pd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df = pd.DataFrame({"building": ["A", "A", "B", "B"],</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"kwh": [2, 4, 5, 7]})</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print(df)</a:t>
            </a:r>
          </a:p>
        </p:txBody>
      </p:sp>
      <p:sp>
        <p:nvSpPr>
          <p:cNvPr id="6" name="">
            <a:extLst xmlns:a="http://schemas.openxmlformats.org/drawingml/2006/main">
              <a:ext uri="{FF2B5EF4-FFF2-40B4-BE49-F238E27FC236}">
                <a16:creationId xmlns:a16="http://schemas.microsoft.com/office/drawing/2014/main" id="{C0A5DBCE-241B-4F77-AD91-58F3E6F233A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61E88D0B-95B7-4067-8A81-DA0399D1F30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Each dictionary key becomes a column name. Equal-length lists supply its rows.</a:t>
            </a:r>
          </a:p>
        </p:txBody>
      </p:sp>
      <p:sp>
        <p:nvSpPr>
          <p:cNvPr id="8" name="">
            <a:extLst xmlns:a="http://schemas.openxmlformats.org/drawingml/2006/main">
              <a:ext uri="{FF2B5EF4-FFF2-40B4-BE49-F238E27FC236}">
                <a16:creationId xmlns:a16="http://schemas.microsoft.com/office/drawing/2014/main" id="{3274C12D-06A2-4F2E-972A-8BDEA5B4226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12</a:t>
            </a:r>
          </a:p>
        </p:txBody>
      </p:sp>
    </p:spTree>
    <p:extLst>
      <p:ext uri="{BB962C8B-B14F-4D97-AF65-F5344CB8AC3E}">
        <p14:creationId xmlns:p14="http://schemas.microsoft.com/office/powerpoint/2010/main" val="184406920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3B6102B-1F78-4303-826B-36002C80ADE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FFABC85-893C-4539-83C3-472DB07A2EB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956452C-62BB-4F01-82E4-7780B5F925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 a column and calculate its mean</a:t>
            </a:r>
          </a:p>
        </p:txBody>
      </p:sp>
      <p:sp>
        <p:nvSpPr>
          <p:cNvPr id="4" name="">
            <a:extLst xmlns:a="http://schemas.openxmlformats.org/drawingml/2006/main">
              <a:ext uri="{FF2B5EF4-FFF2-40B4-BE49-F238E27FC236}">
                <a16:creationId xmlns:a16="http://schemas.microsoft.com/office/drawing/2014/main" id="{56CA50B0-02CA-44F1-B0E6-789CB8555E87}"/>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CAA096F-2BFC-47F8-BBB2-9CACA65F437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print(df["kwh"])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print(df["kwh"].mean())</a:t>
            </a:r>
          </a:p>
        </p:txBody>
      </p:sp>
      <p:sp>
        <p:nvSpPr>
          <p:cNvPr id="6" name="">
            <a:extLst xmlns:a="http://schemas.openxmlformats.org/drawingml/2006/main">
              <a:ext uri="{FF2B5EF4-FFF2-40B4-BE49-F238E27FC236}">
                <a16:creationId xmlns:a16="http://schemas.microsoft.com/office/drawing/2014/main" id="{411E50FD-0143-4908-A610-2219421852E1}"/>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32B63FE-0F85-4B62-9B89-243AA3C19D3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AE18AE24-055D-4D65-8E73-8A953907AAE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C487F761-694F-4A0C-B7DB-ED20A47FBD6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The four numbers are 2, 4, 5 and 7. Their mean is 18 / 4 = 4.5 kWh.</a:t>
            </a:r>
          </a:p>
        </p:txBody>
      </p:sp>
      <p:sp>
        <p:nvSpPr>
          <p:cNvPr id="10" name="">
            <a:extLst xmlns:a="http://schemas.openxmlformats.org/drawingml/2006/main">
              <a:ext uri="{FF2B5EF4-FFF2-40B4-BE49-F238E27FC236}">
                <a16:creationId xmlns:a16="http://schemas.microsoft.com/office/drawing/2014/main" id="{EDF48B95-7B74-46F4-9605-B6CE98E24ED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13</a:t>
            </a:r>
          </a:p>
        </p:txBody>
      </p:sp>
    </p:spTree>
    <p:extLst>
      <p:ext uri="{BB962C8B-B14F-4D97-AF65-F5344CB8AC3E}">
        <p14:creationId xmlns:p14="http://schemas.microsoft.com/office/powerpoint/2010/main" val="65044916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CED8153-E38C-4A63-816A-3A8683EFEB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74A96CD-ED97-456A-A003-D0F4CF289D2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0B9143B-D901-48CD-B0BE-E296CA6D654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Mask and filter</a:t>
            </a:r>
          </a:p>
        </p:txBody>
      </p:sp>
      <p:sp>
        <p:nvSpPr>
          <p:cNvPr id="4" name="">
            <a:extLst xmlns:a="http://schemas.openxmlformats.org/drawingml/2006/main">
              <a:ext uri="{FF2B5EF4-FFF2-40B4-BE49-F238E27FC236}">
                <a16:creationId xmlns:a16="http://schemas.microsoft.com/office/drawing/2014/main" id="{FCFBB5F9-20B4-481A-94D8-EE9561419F30}"/>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E3E7989-B501-4977-9DAD-4DF1E8DDE4AC}"/>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Mask and filter</a:t>
            </a:r>
          </a:p>
        </p:txBody>
      </p:sp>
      <p:sp>
        <p:nvSpPr>
          <p:cNvPr id="6" name="">
            <a:extLst xmlns:a="http://schemas.openxmlformats.org/drawingml/2006/main">
              <a:ext uri="{FF2B5EF4-FFF2-40B4-BE49-F238E27FC236}">
                <a16:creationId xmlns:a16="http://schemas.microsoft.com/office/drawing/2014/main" id="{CE1DEE7F-3A27-4573-A65E-5A964474ABC2}"/>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comparison produces True/False for each row. df[mask] keeps the True rows.</a:t>
            </a:r>
          </a:p>
        </p:txBody>
      </p:sp>
      <p:sp>
        <p:nvSpPr>
          <p:cNvPr id="7" name="">
            <a:extLst xmlns:a="http://schemas.openxmlformats.org/drawingml/2006/main">
              <a:ext uri="{FF2B5EF4-FFF2-40B4-BE49-F238E27FC236}">
                <a16:creationId xmlns:a16="http://schemas.microsoft.com/office/drawing/2014/main" id="{D49B4830-01B2-4D51-9C6B-E663F586488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14</a:t>
            </a:r>
          </a:p>
        </p:txBody>
      </p:sp>
    </p:spTree>
    <p:extLst>
      <p:ext uri="{BB962C8B-B14F-4D97-AF65-F5344CB8AC3E}">
        <p14:creationId xmlns:p14="http://schemas.microsoft.com/office/powerpoint/2010/main" val="60689481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3318279-8579-4457-BA3F-4CB537217F73}"/>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16DABD6-CD54-478E-A868-1DF01930DB81}"/>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comparison creates a Boolean mask</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4be1cc45257c47ed"/>
          <a:stretch xmlns:a="http://schemas.openxmlformats.org/drawingml/2006/main"/>
        </p:blipFill>
        <p:spPr>
          <a:xfrm xmlns:a="http://schemas.openxmlformats.org/drawingml/2006/main">
            <a:off x="717043" y="1057275"/>
            <a:ext cx="10757915"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72019A37-8281-401E-A4AA-C9E25FDB7726}"/>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3FEA9C2-EE00-4D19-A6BF-15983AF9B0BF}"/>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illustration filters torque readings. Our next example applies the same True/False selection to kWh values.</a:t>
            </a:r>
          </a:p>
        </p:txBody>
      </p:sp>
      <p:sp>
        <p:nvSpPr>
          <p:cNvPr id="6" name="">
            <a:extLst xmlns:a="http://schemas.openxmlformats.org/drawingml/2006/main">
              <a:ext uri="{FF2B5EF4-FFF2-40B4-BE49-F238E27FC236}">
                <a16:creationId xmlns:a16="http://schemas.microsoft.com/office/drawing/2014/main" id="{2E1C4F5C-F742-48A4-8C9D-A42438439BF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15</a:t>
            </a:r>
          </a:p>
        </p:txBody>
      </p:sp>
    </p:spTree>
    <p:extLst>
      <p:ext uri="{BB962C8B-B14F-4D97-AF65-F5344CB8AC3E}">
        <p14:creationId xmlns:p14="http://schemas.microsoft.com/office/powerpoint/2010/main" val="1052975991"/>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887FE31-D142-499B-BD84-AA09ACCE7AE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4D78B17-AC41-4341-9626-26BF09C3EA7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3ED59CF-D18D-4857-A27B-C6CBD80338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 rows where the comparison is true</a:t>
            </a:r>
          </a:p>
        </p:txBody>
      </p:sp>
      <p:sp>
        <p:nvSpPr>
          <p:cNvPr id="4" name="">
            <a:extLst xmlns:a="http://schemas.openxmlformats.org/drawingml/2006/main">
              <a:ext uri="{FF2B5EF4-FFF2-40B4-BE49-F238E27FC236}">
                <a16:creationId xmlns:a16="http://schemas.microsoft.com/office/drawing/2014/main" id="{DAF286C3-5797-4611-BB3A-B91E0FD7408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D95841E-164F-44D9-915C-8758D2F4839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mask = df["kwh"] &gt;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print(mask)</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print(df[mask])</a:t>
            </a:r>
          </a:p>
        </p:txBody>
      </p:sp>
      <p:sp>
        <p:nvSpPr>
          <p:cNvPr id="6" name="">
            <a:extLst xmlns:a="http://schemas.openxmlformats.org/drawingml/2006/main">
              <a:ext uri="{FF2B5EF4-FFF2-40B4-BE49-F238E27FC236}">
                <a16:creationId xmlns:a16="http://schemas.microsoft.com/office/drawing/2014/main" id="{7D238C61-2684-4D1D-9689-8F2F157BEC0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C195D4F-E571-44EA-9D34-EC7BD4035B8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FC4E1D1F-7DF2-4E26-BD40-8B66862E38B0}"/>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376269AC-B825-4860-852C-9C4664E57761}"/>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BD86647F-C3BF-493D-9A2A-CA56C753CF8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The mask is False, False, True, True. The selected rows contain 5 and 7 kWh.</a:t>
            </a:r>
          </a:p>
        </p:txBody>
      </p:sp>
      <p:sp>
        <p:nvSpPr>
          <p:cNvPr id="11" name="">
            <a:extLst xmlns:a="http://schemas.openxmlformats.org/drawingml/2006/main">
              <a:ext uri="{FF2B5EF4-FFF2-40B4-BE49-F238E27FC236}">
                <a16:creationId xmlns:a16="http://schemas.microsoft.com/office/drawing/2014/main" id="{94977653-56D5-4D95-84E1-15F8B56C43B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16</a:t>
            </a:r>
          </a:p>
        </p:txBody>
      </p:sp>
    </p:spTree>
    <p:extLst>
      <p:ext uri="{BB962C8B-B14F-4D97-AF65-F5344CB8AC3E}">
        <p14:creationId xmlns:p14="http://schemas.microsoft.com/office/powerpoint/2010/main" val="1792025567"/>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443DC23-B954-4A97-B94E-32522ECEB3F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D308725-32E2-4961-AC4E-CBA25D93769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8A21605-785B-4E51-A4F8-3BCFC108A7E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groupby and aggregation</a:t>
            </a:r>
          </a:p>
        </p:txBody>
      </p:sp>
      <p:sp>
        <p:nvSpPr>
          <p:cNvPr id="4" name="">
            <a:extLst xmlns:a="http://schemas.openxmlformats.org/drawingml/2006/main">
              <a:ext uri="{FF2B5EF4-FFF2-40B4-BE49-F238E27FC236}">
                <a16:creationId xmlns:a16="http://schemas.microsoft.com/office/drawing/2014/main" id="{38908AC1-2478-45DD-B20A-B2619648BED6}"/>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568F08B-03FD-4FCC-BC8E-9DA7CEC4E40D}"/>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groupby and aggregation</a:t>
            </a:r>
          </a:p>
        </p:txBody>
      </p:sp>
      <p:sp>
        <p:nvSpPr>
          <p:cNvPr id="6" name="">
            <a:extLst xmlns:a="http://schemas.openxmlformats.org/drawingml/2006/main">
              <a:ext uri="{FF2B5EF4-FFF2-40B4-BE49-F238E27FC236}">
                <a16:creationId xmlns:a16="http://schemas.microsoft.com/office/drawing/2014/main" id="{B05A7C43-15B4-4CFF-A87A-95830D2D1EE7}"/>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groupby collects rows with the same label. An aggregation such as sum or mean returns a summary for each group.</a:t>
            </a:r>
          </a:p>
        </p:txBody>
      </p:sp>
      <p:sp>
        <p:nvSpPr>
          <p:cNvPr id="7" name="">
            <a:extLst xmlns:a="http://schemas.openxmlformats.org/drawingml/2006/main">
              <a:ext uri="{FF2B5EF4-FFF2-40B4-BE49-F238E27FC236}">
                <a16:creationId xmlns:a16="http://schemas.microsoft.com/office/drawing/2014/main" id="{CD96D14A-ABD8-47F5-9C87-2A3F28469E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17</a:t>
            </a:r>
          </a:p>
        </p:txBody>
      </p:sp>
    </p:spTree>
    <p:extLst>
      <p:ext uri="{BB962C8B-B14F-4D97-AF65-F5344CB8AC3E}">
        <p14:creationId xmlns:p14="http://schemas.microsoft.com/office/powerpoint/2010/main" val="963637978"/>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BE7EE35-86EF-4CFA-B2FC-88ED1BB708E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5B0CC03-ED55-4E96-899D-3FC4D65F57A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033B8B8-5EE0-4187-9EEB-9928BFF1BF8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Calculate one total for each building</a:t>
            </a:r>
          </a:p>
        </p:txBody>
      </p:sp>
      <p:sp>
        <p:nvSpPr>
          <p:cNvPr id="4" name="">
            <a:extLst xmlns:a="http://schemas.openxmlformats.org/drawingml/2006/main">
              <a:ext uri="{FF2B5EF4-FFF2-40B4-BE49-F238E27FC236}">
                <a16:creationId xmlns:a16="http://schemas.microsoft.com/office/drawing/2014/main" id="{569242CC-D328-44B8-98BE-C139F3D1151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FF24F23-50B0-4218-B9A7-63562377B33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print(df.groupby("building")["kwh"].sum())</a:t>
            </a:r>
          </a:p>
        </p:txBody>
      </p:sp>
      <p:sp>
        <p:nvSpPr>
          <p:cNvPr id="6" name="">
            <a:extLst xmlns:a="http://schemas.openxmlformats.org/drawingml/2006/main">
              <a:ext uri="{FF2B5EF4-FFF2-40B4-BE49-F238E27FC236}">
                <a16:creationId xmlns:a16="http://schemas.microsoft.com/office/drawing/2014/main" id="{4094CC57-ABCF-4E11-B436-5EF519CB4CC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29C4A8E-6B4F-484B-B88F-C1F1DEFC965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2A54B714-6EEC-4D3D-957A-D3E35FD7CD2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0DCA5166-685F-4320-95CC-B636B0AA7E5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A totals 6 kWh; B totals 12 kWh.</a:t>
            </a:r>
          </a:p>
        </p:txBody>
      </p:sp>
      <p:sp>
        <p:nvSpPr>
          <p:cNvPr id="10" name="">
            <a:extLst xmlns:a="http://schemas.openxmlformats.org/drawingml/2006/main">
              <a:ext uri="{FF2B5EF4-FFF2-40B4-BE49-F238E27FC236}">
                <a16:creationId xmlns:a16="http://schemas.microsoft.com/office/drawing/2014/main" id="{8697D505-363A-4339-8870-D7E62B3F072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18</a:t>
            </a:r>
          </a:p>
        </p:txBody>
      </p:sp>
    </p:spTree>
    <p:extLst>
      <p:ext uri="{BB962C8B-B14F-4D97-AF65-F5344CB8AC3E}">
        <p14:creationId xmlns:p14="http://schemas.microsoft.com/office/powerpoint/2010/main" val="148431336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BE846A5-AD2D-4420-9B33-AE73678B9F4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5B97951-DF8C-455D-9893-EC4CF94A12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0F092237-F4C6-4D5D-80D1-A580D975C32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pandas tables and summaries results</a:t>
            </a:r>
          </a:p>
        </p:txBody>
      </p:sp>
      <p:sp>
        <p:nvSpPr>
          <p:cNvPr id="4" name="">
            <a:extLst xmlns:a="http://schemas.openxmlformats.org/drawingml/2006/main">
              <a:ext uri="{FF2B5EF4-FFF2-40B4-BE49-F238E27FC236}">
                <a16:creationId xmlns:a16="http://schemas.microsoft.com/office/drawing/2014/main" id="{05B5144B-6BAA-4970-9ACC-8F64940FC0B0}"/>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B3A7773-45E1-420E-BFC8-D0FB9B8C073A}"/>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Mean 4.5. The filter keeps B rows with 5 and 7. Group totals: A = 6, B = 12 kWh.</a:t>
            </a:r>
          </a:p>
        </p:txBody>
      </p:sp>
      <p:sp>
        <p:nvSpPr>
          <p:cNvPr id="6" name="">
            <a:extLst xmlns:a="http://schemas.openxmlformats.org/drawingml/2006/main">
              <a:ext uri="{FF2B5EF4-FFF2-40B4-BE49-F238E27FC236}">
                <a16:creationId xmlns:a16="http://schemas.microsoft.com/office/drawing/2014/main" id="{925D3DEB-BC0A-44BD-AD68-01AD716D529E}"/>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41059F15-A71C-4B84-9A24-0479E29BB11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19</a:t>
            </a:r>
          </a:p>
        </p:txBody>
      </p:sp>
    </p:spTree>
    <p:extLst>
      <p:ext uri="{BB962C8B-B14F-4D97-AF65-F5344CB8AC3E}">
        <p14:creationId xmlns:p14="http://schemas.microsoft.com/office/powerpoint/2010/main" val="849226918"/>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F8BF42D-0AED-473A-9A54-83CFEC80B1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D9F259D-45F0-4142-BF13-55FC0F435E5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9F61366-F772-43ED-9857-EDD74B011AD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chain one operation at a time</a:t>
            </a:r>
          </a:p>
        </p:txBody>
      </p:sp>
      <p:sp>
        <p:nvSpPr>
          <p:cNvPr id="4" name="">
            <a:extLst xmlns:a="http://schemas.openxmlformats.org/drawingml/2006/main">
              <a:ext uri="{FF2B5EF4-FFF2-40B4-BE49-F238E27FC236}">
                <a16:creationId xmlns:a16="http://schemas.microsoft.com/office/drawing/2014/main" id="{61F6E9A9-F269-469A-B1BD-AF95997C235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C57F274-F441-4E6B-AB0E-E4FE2A39474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20A2BA9-28A9-4693-9F44-381232AB914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df.groupby("building") groups rows by their building labels. ["kwh"] selects the energy values within each group. .sum() totals them.</a:t>
            </a:r>
          </a:p>
        </p:txBody>
      </p:sp>
      <p:sp>
        <p:nvSpPr>
          <p:cNvPr id="7" name="">
            <a:extLst xmlns:a="http://schemas.openxmlformats.org/drawingml/2006/main">
              <a:ext uri="{FF2B5EF4-FFF2-40B4-BE49-F238E27FC236}">
                <a16:creationId xmlns:a16="http://schemas.microsoft.com/office/drawing/2014/main" id="{2A9DA69F-DC79-4414-86CE-5E20EFF7CA1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Store this result in totals. totals.idxmax() returns the label with the largest total. These are consecutive operations on the result of the previous step.</a:t>
            </a:r>
          </a:p>
        </p:txBody>
      </p:sp>
      <p:sp>
        <p:nvSpPr>
          <p:cNvPr id="8" name="">
            <a:extLst xmlns:a="http://schemas.openxmlformats.org/drawingml/2006/main">
              <a:ext uri="{FF2B5EF4-FFF2-40B4-BE49-F238E27FC236}">
                <a16:creationId xmlns:a16="http://schemas.microsoft.com/office/drawing/2014/main" id="{4A4E7D5A-C7AB-4352-A84A-CB9D9BD16B4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20</a:t>
            </a:r>
          </a:p>
        </p:txBody>
      </p:sp>
    </p:spTree>
    <p:extLst>
      <p:ext uri="{BB962C8B-B14F-4D97-AF65-F5344CB8AC3E}">
        <p14:creationId xmlns:p14="http://schemas.microsoft.com/office/powerpoint/2010/main" val="69299674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FA06EAB-EA63-48EC-B1C5-EA6DCA4626E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97E6ACD-C8FB-42E1-9FE7-C3667DE398F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7C2C7A6-3C86-4C9D-A1AF-ED5073B6B4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Unique labels and the largest group</a:t>
            </a:r>
          </a:p>
        </p:txBody>
      </p:sp>
      <p:sp>
        <p:nvSpPr>
          <p:cNvPr id="4" name="">
            <a:extLst xmlns:a="http://schemas.openxmlformats.org/drawingml/2006/main">
              <a:ext uri="{FF2B5EF4-FFF2-40B4-BE49-F238E27FC236}">
                <a16:creationId xmlns:a16="http://schemas.microsoft.com/office/drawing/2014/main" id="{46002E4A-07AB-46D4-9D6D-0656DFDD006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5BFE8D7-F7C3-40DA-B86E-C89390DE0E8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F7F5D84-6A8E-4B25-BCEA-8A15E01611D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nunique counts distinct labels, not rows. idxmax returns the label of the largest total.</a:t>
            </a:r>
          </a:p>
        </p:txBody>
      </p:sp>
      <p:sp>
        <p:nvSpPr>
          <p:cNvPr id="7" name="">
            <a:extLst xmlns:a="http://schemas.openxmlformats.org/drawingml/2006/main">
              <a:ext uri="{FF2B5EF4-FFF2-40B4-BE49-F238E27FC236}">
                <a16:creationId xmlns:a16="http://schemas.microsoft.com/office/drawing/2014/main" id="{ABCCC578-846A-4668-BDA7-B9B2FAC3F2F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Here there is no tie.</a:t>
            </a:r>
          </a:p>
        </p:txBody>
      </p:sp>
      <p:sp>
        <p:nvSpPr>
          <p:cNvPr id="8" name="">
            <a:extLst xmlns:a="http://schemas.openxmlformats.org/drawingml/2006/main">
              <a:ext uri="{FF2B5EF4-FFF2-40B4-BE49-F238E27FC236}">
                <a16:creationId xmlns:a16="http://schemas.microsoft.com/office/drawing/2014/main" id="{EA7067A0-FFD6-49BE-BBB4-576A39008C8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21</a:t>
            </a:r>
          </a:p>
        </p:txBody>
      </p:sp>
    </p:spTree>
    <p:extLst>
      <p:ext uri="{BB962C8B-B14F-4D97-AF65-F5344CB8AC3E}">
        <p14:creationId xmlns:p14="http://schemas.microsoft.com/office/powerpoint/2010/main" val="1239977891"/>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47AD91CB-4C70-4118-A2FE-B69AAD7FB76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BA9F9A2-1DC4-487B-AB66-43507C925A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CEF2064-235C-4B49-ADFF-A27D9A16C4D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Unique labels and the largest group in Python</a:t>
            </a:r>
          </a:p>
        </p:txBody>
      </p:sp>
      <p:sp>
        <p:nvSpPr>
          <p:cNvPr id="4" name="">
            <a:extLst xmlns:a="http://schemas.openxmlformats.org/drawingml/2006/main">
              <a:ext uri="{FF2B5EF4-FFF2-40B4-BE49-F238E27FC236}">
                <a16:creationId xmlns:a16="http://schemas.microsoft.com/office/drawing/2014/main" id="{CF91DF56-1C9A-42F8-8D1E-03E0E3506E4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2630AC5-6272-4534-9834-A48FC1F3CF6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print(df["building"].nunique())</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totals = df.groupby("building")["kwh"].sum()</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print(totals.idxmax())</a:t>
            </a:r>
          </a:p>
        </p:txBody>
      </p:sp>
      <p:sp>
        <p:nvSpPr>
          <p:cNvPr id="6" name="">
            <a:extLst xmlns:a="http://schemas.openxmlformats.org/drawingml/2006/main">
              <a:ext uri="{FF2B5EF4-FFF2-40B4-BE49-F238E27FC236}">
                <a16:creationId xmlns:a16="http://schemas.microsoft.com/office/drawing/2014/main" id="{59FCEEF5-E926-4C21-AC9B-14C51740B98D}"/>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0B2B6B5-9D59-4C7F-8659-E2D13B52AEE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B79FA7C1-7DC3-4D91-8885-7D678D403FF6}"/>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9D386113-360A-45BA-AEA8-D64CA2E170AA}"/>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534453B5-FF59-4B21-A60B-AD3BCDEB95D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2BEC2339-1AF8-4A52-8CE1-546946A9C7E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22</a:t>
            </a:r>
          </a:p>
        </p:txBody>
      </p:sp>
    </p:spTree>
    <p:extLst>
      <p:ext uri="{BB962C8B-B14F-4D97-AF65-F5344CB8AC3E}">
        <p14:creationId xmlns:p14="http://schemas.microsoft.com/office/powerpoint/2010/main" val="71866789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FE2E375-48C6-4C5B-8198-B83899E7749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CD8B995-454D-48FD-BF46-D1373937274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E3CA874-669F-4C9E-B84D-3855CFF0C20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Create a column from two existing columns</a:t>
            </a:r>
          </a:p>
        </p:txBody>
      </p:sp>
      <p:sp>
        <p:nvSpPr>
          <p:cNvPr id="4" name="">
            <a:extLst xmlns:a="http://schemas.openxmlformats.org/drawingml/2006/main">
              <a:ext uri="{FF2B5EF4-FFF2-40B4-BE49-F238E27FC236}">
                <a16:creationId xmlns:a16="http://schemas.microsoft.com/office/drawing/2014/main" id="{4B401804-9E15-43E8-A2ED-672D179706F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032B97A-EDFC-450D-8E8C-9BF10672550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E3EAF64-53D7-4EC7-BB8C-D3D69E0DBA4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new column can store a calculation for every row. Division pairs the values in matching rows.</a:t>
            </a:r>
          </a:p>
        </p:txBody>
      </p:sp>
      <p:sp>
        <p:nvSpPr>
          <p:cNvPr id="7" name="">
            <a:extLst xmlns:a="http://schemas.openxmlformats.org/drawingml/2006/main">
              <a:ext uri="{FF2B5EF4-FFF2-40B4-BE49-F238E27FC236}">
                <a16:creationId xmlns:a16="http://schemas.microsoft.com/office/drawing/2014/main" id="{C2606412-200F-4196-B4B5-0666D2840FF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For this invented table all energy values are positive. UGX is Uganda shillings. Cost divided by energy has units UGX/kWh.</a:t>
            </a:r>
          </a:p>
        </p:txBody>
      </p:sp>
      <p:sp>
        <p:nvSpPr>
          <p:cNvPr id="8" name="">
            <a:extLst xmlns:a="http://schemas.openxmlformats.org/drawingml/2006/main">
              <a:ext uri="{FF2B5EF4-FFF2-40B4-BE49-F238E27FC236}">
                <a16:creationId xmlns:a16="http://schemas.microsoft.com/office/drawing/2014/main" id="{84A554C6-3FC8-44A2-A8C9-B792812EE34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23</a:t>
            </a:r>
          </a:p>
        </p:txBody>
      </p:sp>
    </p:spTree>
    <p:extLst>
      <p:ext uri="{BB962C8B-B14F-4D97-AF65-F5344CB8AC3E}">
        <p14:creationId xmlns:p14="http://schemas.microsoft.com/office/powerpoint/2010/main" val="1872214714"/>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7E003DF-B067-497A-A0A8-52DE0FDB7CC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3783CF3-D847-40CF-BE63-409E5130605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12FAC25-AA1A-4542-9156-345483234EF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energy rate is cost divided by energy</a:t>
            </a:r>
          </a:p>
        </p:txBody>
      </p:sp>
      <p:sp>
        <p:nvSpPr>
          <p:cNvPr id="4" name="">
            <a:extLst xmlns:a="http://schemas.openxmlformats.org/drawingml/2006/main">
              <a:ext uri="{FF2B5EF4-FFF2-40B4-BE49-F238E27FC236}">
                <a16:creationId xmlns:a16="http://schemas.microsoft.com/office/drawing/2014/main" id="{250699CF-DE00-4F06-961A-80BCB2FAEA1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CDF4C8A-2758-4F03-A8CA-D68679CB401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df["cost_ugx"] = [1000, 2400, 3500, 5600]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df["rate_ugx_per_kwh"] = df["cost_ugx"] / df["kwh"]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print(df["rate_ugx_per_kwh"])</a:t>
            </a:r>
          </a:p>
        </p:txBody>
      </p:sp>
      <p:sp>
        <p:nvSpPr>
          <p:cNvPr id="6" name="">
            <a:extLst xmlns:a="http://schemas.openxmlformats.org/drawingml/2006/main">
              <a:ext uri="{FF2B5EF4-FFF2-40B4-BE49-F238E27FC236}">
                <a16:creationId xmlns:a16="http://schemas.microsoft.com/office/drawing/2014/main" id="{773FC101-2E21-4F31-AB7E-9B6A880E050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C786A7AC-D217-4CE6-953D-55C6D944323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rates: 500, 600, 700 and 800 UGX/kWh. Keep units in column names.</a:t>
            </a:r>
          </a:p>
        </p:txBody>
      </p:sp>
      <p:sp>
        <p:nvSpPr>
          <p:cNvPr id="8" name="">
            <a:extLst xmlns:a="http://schemas.openxmlformats.org/drawingml/2006/main">
              <a:ext uri="{FF2B5EF4-FFF2-40B4-BE49-F238E27FC236}">
                <a16:creationId xmlns:a16="http://schemas.microsoft.com/office/drawing/2014/main" id="{87FA9E9E-A4F7-4F82-AE73-10179CC94F7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24</a:t>
            </a:r>
          </a:p>
        </p:txBody>
      </p:sp>
    </p:spTree>
    <p:extLst>
      <p:ext uri="{BB962C8B-B14F-4D97-AF65-F5344CB8AC3E}">
        <p14:creationId xmlns:p14="http://schemas.microsoft.com/office/powerpoint/2010/main" val="1985545061"/>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AF79585-DDD1-42C5-9977-005DC034FF0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61064CD-D9C3-4E00-AA11-AEEF009998E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112DCF0-778E-4954-8657-1A7E5FBAA6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 the assignment table before analysing it</a:t>
            </a:r>
          </a:p>
        </p:txBody>
      </p:sp>
      <p:sp>
        <p:nvSpPr>
          <p:cNvPr id="4" name="">
            <a:extLst xmlns:a="http://schemas.openxmlformats.org/drawingml/2006/main">
              <a:ext uri="{FF2B5EF4-FFF2-40B4-BE49-F238E27FC236}">
                <a16:creationId xmlns:a16="http://schemas.microsoft.com/office/drawing/2014/main" id="{C69F4D38-C97F-4493-AFCF-BEBEF0DDA35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8FC9F53-8795-4D7E-9676-FE2E42BC5DA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Upload campus_energy.csv to the current runtime first. read_csv reads it into a new DataFrame.</a:t>
            </a:r>
          </a:p>
        </p:txBody>
      </p:sp>
      <p:sp>
        <p:nvSpPr>
          <p:cNvPr id="6" name="">
            <a:extLst xmlns:a="http://schemas.openxmlformats.org/drawingml/2006/main">
              <a:ext uri="{FF2B5EF4-FFF2-40B4-BE49-F238E27FC236}">
                <a16:creationId xmlns:a16="http://schemas.microsoft.com/office/drawing/2014/main" id="{6BBC54F6-144B-497B-A920-0A125FEFAD9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EE8997B-7A83-4C58-8AFF-066D10C8700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head() displays the first five rows; shape gives row and column counts; dtypes shows column data types.</a:t>
            </a:r>
          </a:p>
        </p:txBody>
      </p:sp>
      <p:sp>
        <p:nvSpPr>
          <p:cNvPr id="8" name="">
            <a:extLst xmlns:a="http://schemas.openxmlformats.org/drawingml/2006/main">
              <a:ext uri="{FF2B5EF4-FFF2-40B4-BE49-F238E27FC236}">
                <a16:creationId xmlns:a16="http://schemas.microsoft.com/office/drawing/2014/main" id="{AA530E0D-E054-4666-8929-1D4F5F8F78D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7BAF47B-434C-4F3D-9E79-42F58DD9DF4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call this issued_table to keep it separate from the invented four-row df used above.</a:t>
            </a:r>
          </a:p>
        </p:txBody>
      </p:sp>
      <p:sp>
        <p:nvSpPr>
          <p:cNvPr id="10" name="">
            <a:extLst xmlns:a="http://schemas.openxmlformats.org/drawingml/2006/main">
              <a:ext uri="{FF2B5EF4-FFF2-40B4-BE49-F238E27FC236}">
                <a16:creationId xmlns:a16="http://schemas.microsoft.com/office/drawing/2014/main" id="{0E02C7A9-93BD-4537-BB2E-A25D9308172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25</a:t>
            </a:r>
          </a:p>
        </p:txBody>
      </p:sp>
    </p:spTree>
    <p:extLst>
      <p:ext uri="{BB962C8B-B14F-4D97-AF65-F5344CB8AC3E}">
        <p14:creationId xmlns:p14="http://schemas.microsoft.com/office/powerpoint/2010/main" val="583942005"/>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DBD55C1-7B92-4B48-A33A-5A63D4EDB01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DD115AE-3426-4008-96F2-507CC3F151D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45F469B-761B-493E-AE9F-4BA9AF670A5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Inspect the supplied energy file</a:t>
            </a:r>
          </a:p>
        </p:txBody>
      </p:sp>
      <p:sp>
        <p:nvSpPr>
          <p:cNvPr id="4" name="">
            <a:extLst xmlns:a="http://schemas.openxmlformats.org/drawingml/2006/main">
              <a:ext uri="{FF2B5EF4-FFF2-40B4-BE49-F238E27FC236}">
                <a16:creationId xmlns:a16="http://schemas.microsoft.com/office/drawing/2014/main" id="{057397E9-FB62-45B6-8093-8385D3F34EDA}"/>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C3BDB52-22A5-4CCA-A9B9-A9D68BA42F36}"/>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issued_table = pd.read_csv("campus_energy.csv")</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print(issued_table.head())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print(issued_table.shape)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print(issued_table.dtypes)</a:t>
            </a:r>
          </a:p>
        </p:txBody>
      </p:sp>
      <p:sp>
        <p:nvSpPr>
          <p:cNvPr id="6" name="">
            <a:extLst xmlns:a="http://schemas.openxmlformats.org/drawingml/2006/main">
              <a:ext uri="{FF2B5EF4-FFF2-40B4-BE49-F238E27FC236}">
                <a16:creationId xmlns:a16="http://schemas.microsoft.com/office/drawing/2014/main" id="{F5418718-95B4-415F-8DA6-EA817EE62F9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DF5C80D5-549B-4CC1-9A14-DB3107C1EF0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Check column names, data types and units before attempting the six issued tasks.</a:t>
            </a:r>
          </a:p>
        </p:txBody>
      </p:sp>
      <p:sp>
        <p:nvSpPr>
          <p:cNvPr id="8" name="">
            <a:extLst xmlns:a="http://schemas.openxmlformats.org/drawingml/2006/main">
              <a:ext uri="{FF2B5EF4-FFF2-40B4-BE49-F238E27FC236}">
                <a16:creationId xmlns:a16="http://schemas.microsoft.com/office/drawing/2014/main" id="{2D06C332-B6A7-4978-B170-C66C6EAEB97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26</a:t>
            </a:r>
          </a:p>
        </p:txBody>
      </p:sp>
    </p:spTree>
    <p:extLst>
      <p:ext uri="{BB962C8B-B14F-4D97-AF65-F5344CB8AC3E}">
        <p14:creationId xmlns:p14="http://schemas.microsoft.com/office/powerpoint/2010/main" val="126479263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A4DF27D-F07F-463C-938E-959B4DB240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569181D-6755-4742-B11D-7659D13EB23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284763E-6E50-404D-9589-30BABE2756E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E51C3BFB-F2B7-4914-A24D-62D82E661E4C}"/>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C8E7F20-AF7E-4220-BC25-03F28B69349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4B4F18E-693F-4D93-86E3-41D019CEB47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Use &gt; 5 instead. Predict the surviving rows. Which building has the largest total?</a:t>
            </a:r>
          </a:p>
        </p:txBody>
      </p:sp>
      <p:sp>
        <p:nvSpPr>
          <p:cNvPr id="7" name="">
            <a:extLst xmlns:a="http://schemas.openxmlformats.org/drawingml/2006/main">
              <a:ext uri="{FF2B5EF4-FFF2-40B4-BE49-F238E27FC236}">
                <a16:creationId xmlns:a16="http://schemas.microsoft.com/office/drawing/2014/main" id="{38D531CD-BA7B-4869-9947-81F2F803697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Only the row with 7 survives. Building B has the larger total, 12 kWh.</a:t>
            </a:r>
          </a:p>
        </p:txBody>
      </p:sp>
      <p:sp>
        <p:nvSpPr>
          <p:cNvPr id="8" name="">
            <a:extLst xmlns:a="http://schemas.openxmlformats.org/drawingml/2006/main">
              <a:ext uri="{FF2B5EF4-FFF2-40B4-BE49-F238E27FC236}">
                <a16:creationId xmlns:a16="http://schemas.microsoft.com/office/drawing/2014/main" id="{986DE668-51C6-4281-B4C6-30CE825C074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27</a:t>
            </a:r>
          </a:p>
        </p:txBody>
      </p:sp>
    </p:spTree>
    <p:extLst>
      <p:ext uri="{BB962C8B-B14F-4D97-AF65-F5344CB8AC3E}">
        <p14:creationId xmlns:p14="http://schemas.microsoft.com/office/powerpoint/2010/main" val="1195250268"/>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AD2260D-A0B3-4824-BC03-03BA7C8E6A4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1E01B6B-F98C-4D56-8DF7-CF817C8F3C3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D2C8BFD-001C-4CDC-8940-294F48B9361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70D2180B-FA7A-4CE8-9AAD-5EB9AEA521E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A95D313-7D89-4587-9D16-DB81B7B79A20}"/>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A5 uses the supplied fictional campus_energy.csv, not a live Kaggle download.</a:t>
            </a:r>
          </a:p>
        </p:txBody>
      </p:sp>
      <p:sp>
        <p:nvSpPr>
          <p:cNvPr id="6" name="">
            <a:extLst xmlns:a="http://schemas.openxmlformats.org/drawingml/2006/main">
              <a:ext uri="{FF2B5EF4-FFF2-40B4-BE49-F238E27FC236}">
                <a16:creationId xmlns:a16="http://schemas.microsoft.com/office/drawing/2014/main" id="{6ED48910-D984-497C-99B6-D4F94C9F557B}"/>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E6EFCAB-AFAB-415F-A58F-6EA639EE888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six tasks use read_csv, nunique, division of columns, a &gt; filter, mean and grouped totals. idxmax returns the label of the largest value.</a:t>
            </a:r>
          </a:p>
        </p:txBody>
      </p:sp>
      <p:sp>
        <p:nvSpPr>
          <p:cNvPr id="8" name="">
            <a:extLst xmlns:a="http://schemas.openxmlformats.org/drawingml/2006/main">
              <a:ext uri="{FF2B5EF4-FFF2-40B4-BE49-F238E27FC236}">
                <a16:creationId xmlns:a16="http://schemas.microsoft.com/office/drawing/2014/main" id="{2345943B-399D-44D7-AC5C-9EF2F92DB38D}"/>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5F1111D-2AFD-4A91-8A26-AB4EE8027A7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mean of individual rates gives each observation equal weight.</a:t>
            </a:r>
          </a:p>
        </p:txBody>
      </p:sp>
      <p:sp>
        <p:nvSpPr>
          <p:cNvPr id="10" name="">
            <a:extLst xmlns:a="http://schemas.openxmlformats.org/drawingml/2006/main">
              <a:ext uri="{FF2B5EF4-FFF2-40B4-BE49-F238E27FC236}">
                <a16:creationId xmlns:a16="http://schemas.microsoft.com/office/drawing/2014/main" id="{03C9BE0C-1E29-4A98-BFE9-9671C3F75C5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15D3A21-A3F3-4D6E-B351-404B4BE015DA}"/>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Total cost divided by total energy weights by energy.</a:t>
            </a:r>
          </a:p>
        </p:txBody>
      </p:sp>
      <p:sp>
        <p:nvSpPr>
          <p:cNvPr id="12" name="">
            <a:extLst xmlns:a="http://schemas.openxmlformats.org/drawingml/2006/main">
              <a:ext uri="{FF2B5EF4-FFF2-40B4-BE49-F238E27FC236}">
                <a16:creationId xmlns:a16="http://schemas.microsoft.com/office/drawing/2014/main" id="{543057F1-A166-45D5-B246-D919748DEFE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28</a:t>
            </a:r>
          </a:p>
        </p:txBody>
      </p:sp>
    </p:spTree>
    <p:extLst>
      <p:ext uri="{BB962C8B-B14F-4D97-AF65-F5344CB8AC3E}">
        <p14:creationId xmlns:p14="http://schemas.microsoft.com/office/powerpoint/2010/main" val="1799707341"/>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6B19B8A-4019-4EA6-B897-AC017DA4865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6FFF45B-A506-4AFB-BB98-D8E07848A7C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000B96B-6EFC-4DA3-92A1-A9CD894AF9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types and filters</a:t>
            </a:r>
          </a:p>
        </p:txBody>
      </p:sp>
      <p:sp>
        <p:nvSpPr>
          <p:cNvPr id="4" name="">
            <a:extLst xmlns:a="http://schemas.openxmlformats.org/drawingml/2006/main">
              <a:ext uri="{FF2B5EF4-FFF2-40B4-BE49-F238E27FC236}">
                <a16:creationId xmlns:a16="http://schemas.microsoft.com/office/drawing/2014/main" id="{78C40671-A045-4912-9EF4-0D10E78E879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94FBC56-2ED9-4F45-AC1A-76C0BFF532FA}"/>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Boolean mask is a list-like column of True/False values. len(mask) counts all rows; mask.sum() counts True entries.</a:t>
            </a:r>
          </a:p>
        </p:txBody>
      </p:sp>
      <p:sp>
        <p:nvSpPr>
          <p:cNvPr id="6" name="">
            <a:extLst xmlns:a="http://schemas.openxmlformats.org/drawingml/2006/main">
              <a:ext uri="{FF2B5EF4-FFF2-40B4-BE49-F238E27FC236}">
                <a16:creationId xmlns:a16="http://schemas.microsoft.com/office/drawing/2014/main" id="{1B31E0DB-106E-455B-A908-F641FB7FFF74}"/>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8CFC8FA-B406-4217-94F5-7431F3164C27}"/>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Strings sort as text, so "9" can rank above "100".</a:t>
            </a:r>
          </a:p>
        </p:txBody>
      </p:sp>
      <p:sp>
        <p:nvSpPr>
          <p:cNvPr id="8" name="">
            <a:extLst xmlns:a="http://schemas.openxmlformats.org/drawingml/2006/main">
              <a:ext uri="{FF2B5EF4-FFF2-40B4-BE49-F238E27FC236}">
                <a16:creationId xmlns:a16="http://schemas.microsoft.com/office/drawing/2014/main" id="{A4227307-A8E1-4BC5-93F9-0657C5800D43}"/>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8D4CB3B-B382-416C-9F53-FFF9DACAC286}"/>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Inspect numeric types before taking maxima.</a:t>
            </a:r>
          </a:p>
        </p:txBody>
      </p:sp>
      <p:sp>
        <p:nvSpPr>
          <p:cNvPr id="10" name="">
            <a:extLst xmlns:a="http://schemas.openxmlformats.org/drawingml/2006/main">
              <a:ext uri="{FF2B5EF4-FFF2-40B4-BE49-F238E27FC236}">
                <a16:creationId xmlns:a16="http://schemas.microsoft.com/office/drawing/2014/main" id="{2BB08445-ABCD-42C3-856E-D41629168D72}"/>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6A2C7FA-3DA4-402D-B076-5C74197C34E4}"/>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KeyError often means the column name does not match; check spelling, case and spaces. shape is (rows, columns).</a:t>
            </a:r>
          </a:p>
        </p:txBody>
      </p:sp>
      <p:sp>
        <p:nvSpPr>
          <p:cNvPr id="12" name="">
            <a:extLst xmlns:a="http://schemas.openxmlformats.org/drawingml/2006/main">
              <a:ext uri="{FF2B5EF4-FFF2-40B4-BE49-F238E27FC236}">
                <a16:creationId xmlns:a16="http://schemas.microsoft.com/office/drawing/2014/main" id="{B77E45A8-7055-4FCD-9A47-34017FD4CF2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29</a:t>
            </a:r>
          </a:p>
        </p:txBody>
      </p:sp>
    </p:spTree>
    <p:extLst>
      <p:ext uri="{BB962C8B-B14F-4D97-AF65-F5344CB8AC3E}">
        <p14:creationId xmlns:p14="http://schemas.microsoft.com/office/powerpoint/2010/main" val="1982656435"/>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79FA111-FF79-4884-BB8B-EB132662174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A82680D-B708-4A73-A116-1F8196C9DFF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FCD6218-4D65-4360-981C-0F519E3A878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types and filters continued</a:t>
            </a:r>
          </a:p>
        </p:txBody>
      </p:sp>
      <p:sp>
        <p:nvSpPr>
          <p:cNvPr id="4" name="">
            <a:extLst xmlns:a="http://schemas.openxmlformats.org/drawingml/2006/main">
              <a:ext uri="{FF2B5EF4-FFF2-40B4-BE49-F238E27FC236}">
                <a16:creationId xmlns:a16="http://schemas.microsoft.com/office/drawing/2014/main" id="{7571BDCD-2811-4F0C-9634-301EBF2907A4}"/>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5F41D10-B8BF-48C8-816F-38C1C6C720FD}"/>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Read provenance and units before trusting a dataset.</a:t>
            </a:r>
          </a:p>
        </p:txBody>
      </p:sp>
      <p:sp>
        <p:nvSpPr>
          <p:cNvPr id="6" name="">
            <a:extLst xmlns:a="http://schemas.openxmlformats.org/drawingml/2006/main">
              <a:ext uri="{FF2B5EF4-FFF2-40B4-BE49-F238E27FC236}">
                <a16:creationId xmlns:a16="http://schemas.microsoft.com/office/drawing/2014/main" id="{DB15F796-791D-456A-9E06-540E3C83B5A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30</a:t>
            </a:r>
          </a:p>
        </p:txBody>
      </p:sp>
    </p:spTree>
    <p:extLst>
      <p:ext uri="{BB962C8B-B14F-4D97-AF65-F5344CB8AC3E}">
        <p14:creationId xmlns:p14="http://schemas.microsoft.com/office/powerpoint/2010/main" val="1063000387"/>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ED93C37-823C-4DBF-8098-11242BCDB90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58B24ED-D4CB-44F4-A972-32C3C512CB0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553A584-5DA8-4321-B1D6-9B9B6DC7B14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xmlns:a="http://schemas.openxmlformats.org/drawingml/2006/main">
              <a:ext uri="{FF2B5EF4-FFF2-40B4-BE49-F238E27FC236}">
                <a16:creationId xmlns:a16="http://schemas.microsoft.com/office/drawing/2014/main" id="{337D01E7-98B5-491A-9DF6-459DF164A1D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A40379E-2E07-482F-B7E2-0D29444F495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W05_student.ipynb.</a:t>
            </a:r>
          </a:p>
        </p:txBody>
      </p:sp>
      <p:sp>
        <p:nvSpPr>
          <p:cNvPr id="6" name="">
            <a:extLst xmlns:a="http://schemas.openxmlformats.org/drawingml/2006/main">
              <a:ext uri="{FF2B5EF4-FFF2-40B4-BE49-F238E27FC236}">
                <a16:creationId xmlns:a16="http://schemas.microsoft.com/office/drawing/2014/main" id="{071B4C9F-B16C-4518-BAA8-3069D210CEF9}"/>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457528A-04D9-486E-9A49-1C214B21C11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xmlns:a="http://schemas.openxmlformats.org/drawingml/2006/main">
              <a:ext uri="{FF2B5EF4-FFF2-40B4-BE49-F238E27FC236}">
                <a16:creationId xmlns:a16="http://schemas.microsoft.com/office/drawing/2014/main" id="{B3535566-4C6E-4771-ABE6-F222814229E1}"/>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D7CFC23-B387-480E-B246-2D5173160B28}"/>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xmlns:a="http://schemas.openxmlformats.org/drawingml/2006/main">
              <a:ext uri="{FF2B5EF4-FFF2-40B4-BE49-F238E27FC236}">
                <a16:creationId xmlns:a16="http://schemas.microsoft.com/office/drawing/2014/main" id="{3A2A897F-88E6-43F8-BBC5-AD03DAB4C4BC}"/>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2E88AD1-B884-4002-9CA6-AFFC985B0CA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the supplied visible checks, then restart and run all.</a:t>
            </a:r>
          </a:p>
        </p:txBody>
      </p:sp>
      <p:sp>
        <p:nvSpPr>
          <p:cNvPr id="12" name="">
            <a:extLst xmlns:a="http://schemas.openxmlformats.org/drawingml/2006/main">
              <a:ext uri="{FF2B5EF4-FFF2-40B4-BE49-F238E27FC236}">
                <a16:creationId xmlns:a16="http://schemas.microsoft.com/office/drawing/2014/main" id="{38274242-85BB-4FFD-8127-A2EE248E74E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31</a:t>
            </a:r>
          </a:p>
        </p:txBody>
      </p:sp>
    </p:spTree>
    <p:extLst>
      <p:ext uri="{BB962C8B-B14F-4D97-AF65-F5344CB8AC3E}">
        <p14:creationId xmlns:p14="http://schemas.microsoft.com/office/powerpoint/2010/main" val="1517933349"/>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4FB86EB-E947-45B5-98AC-2E7CA62031C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6D9A684-8A47-4DFC-B5F5-9872491D51C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D5299927-C916-4076-BFEF-6F58DAEEB26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q1: 3 marks</a:t>
            </a:r>
          </a:p>
        </p:txBody>
      </p:sp>
      <p:sp>
        <p:nvSpPr>
          <p:cNvPr id="4" name="">
            <a:extLst xmlns:a="http://schemas.openxmlformats.org/drawingml/2006/main">
              <a:ext uri="{FF2B5EF4-FFF2-40B4-BE49-F238E27FC236}">
                <a16:creationId xmlns:a16="http://schemas.microsoft.com/office/drawing/2014/main" id="{E3C7108A-B14E-4B71-B449-3BEC06A36CE6}"/>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1DF6B15-CF54-4473-8065-3BF36CA17B23}"/>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Load campus_energy.csv into a DataFrame called df.</a:t>
            </a:r>
          </a:p>
        </p:txBody>
      </p:sp>
      <p:sp>
        <p:nvSpPr>
          <p:cNvPr id="6" name="">
            <a:extLst xmlns:a="http://schemas.openxmlformats.org/drawingml/2006/main">
              <a:ext uri="{FF2B5EF4-FFF2-40B4-BE49-F238E27FC236}">
                <a16:creationId xmlns:a16="http://schemas.microsoft.com/office/drawing/2014/main" id="{5C7E0211-63F8-46A7-9583-BFCA0C8E37FA}"/>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8FA7567-3DB7-4B08-8E98-79FC43679B0A}"/>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B5C25CEB-EC4A-4D58-9DBD-31579B3BDBC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32</a:t>
            </a:r>
          </a:p>
        </p:txBody>
      </p:sp>
    </p:spTree>
    <p:extLst>
      <p:ext uri="{BB962C8B-B14F-4D97-AF65-F5344CB8AC3E}">
        <p14:creationId xmlns:p14="http://schemas.microsoft.com/office/powerpoint/2010/main" val="474249458"/>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2CE3224-4B85-485C-A7D0-5756633DC44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480EA23-7304-48DE-A66C-64DAAA0956B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0EB9D9DC-1B78-4D1E-8D52-B70DE02A532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q2: 3 marks</a:t>
            </a:r>
          </a:p>
        </p:txBody>
      </p:sp>
      <p:sp>
        <p:nvSpPr>
          <p:cNvPr id="4" name="">
            <a:extLst xmlns:a="http://schemas.openxmlformats.org/drawingml/2006/main">
              <a:ext uri="{FF2B5EF4-FFF2-40B4-BE49-F238E27FC236}">
                <a16:creationId xmlns:a16="http://schemas.microsoft.com/office/drawing/2014/main" id="{39ACDC4F-97D3-44C9-8EED-9C95ED19849F}"/>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10D4D42-F0E3-44E3-BAA3-79283C9F5699}"/>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n_meters to the number of distinct meters in the file.</a:t>
            </a:r>
          </a:p>
        </p:txBody>
      </p:sp>
      <p:sp>
        <p:nvSpPr>
          <p:cNvPr id="6" name="">
            <a:extLst xmlns:a="http://schemas.openxmlformats.org/drawingml/2006/main">
              <a:ext uri="{FF2B5EF4-FFF2-40B4-BE49-F238E27FC236}">
                <a16:creationId xmlns:a16="http://schemas.microsoft.com/office/drawing/2014/main" id="{5C0DFCBE-217A-4FBE-9005-9E593802D79E}"/>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1142B24-4C5C-4ED4-9375-20FF7AA86C71}"/>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64AF7D7D-1DB0-4425-9BEF-BF336FEA5DC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33</a:t>
            </a:r>
          </a:p>
        </p:txBody>
      </p:sp>
    </p:spTree>
    <p:extLst>
      <p:ext uri="{BB962C8B-B14F-4D97-AF65-F5344CB8AC3E}">
        <p14:creationId xmlns:p14="http://schemas.microsoft.com/office/powerpoint/2010/main" val="902100455"/>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E1917B4-8B9E-43C2-BC64-63C7A2C4B40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A1E824F-2432-4C61-BFBB-CEDCFA5D502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106BFFA7-6CB4-4B58-832D-878EB4898D7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q3: 4 marks</a:t>
            </a:r>
          </a:p>
        </p:txBody>
      </p:sp>
      <p:sp>
        <p:nvSpPr>
          <p:cNvPr id="4" name="">
            <a:extLst xmlns:a="http://schemas.openxmlformats.org/drawingml/2006/main">
              <a:ext uri="{FF2B5EF4-FFF2-40B4-BE49-F238E27FC236}">
                <a16:creationId xmlns:a16="http://schemas.microsoft.com/office/drawing/2014/main" id="{9B07A26C-D424-4646-B4EF-ADEAEF67C960}"/>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7FB21F1-1E64-4E1A-8403-238F04611DD8}"/>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Add a column cost_per_kwh to df, equal to cost_ugx / kwh.</a:t>
            </a:r>
          </a:p>
        </p:txBody>
      </p:sp>
      <p:sp>
        <p:nvSpPr>
          <p:cNvPr id="6" name="">
            <a:extLst xmlns:a="http://schemas.openxmlformats.org/drawingml/2006/main">
              <a:ext uri="{FF2B5EF4-FFF2-40B4-BE49-F238E27FC236}">
                <a16:creationId xmlns:a16="http://schemas.microsoft.com/office/drawing/2014/main" id="{3A8EBC90-5FE7-4C50-8688-BDE1BD1D9D04}"/>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FA4E7D9-AAE0-42AE-B9ED-5429BB868F34}"/>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02477B16-C61D-44A2-A0F6-40E7A2666BC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34</a:t>
            </a:r>
          </a:p>
        </p:txBody>
      </p:sp>
    </p:spTree>
    <p:extLst>
      <p:ext uri="{BB962C8B-B14F-4D97-AF65-F5344CB8AC3E}">
        <p14:creationId xmlns:p14="http://schemas.microsoft.com/office/powerpoint/2010/main" val="90942553"/>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B3C25EE-1A4A-4517-A7F8-7822313E65D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B6BCE2E-9C16-4F20-B481-F92F229E219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2FC99D1E-7B5B-415D-8164-A0F9E6D1A72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q4: 4 marks</a:t>
            </a:r>
          </a:p>
        </p:txBody>
      </p:sp>
      <p:sp>
        <p:nvSpPr>
          <p:cNvPr id="4" name="">
            <a:extLst xmlns:a="http://schemas.openxmlformats.org/drawingml/2006/main">
              <a:ext uri="{FF2B5EF4-FFF2-40B4-BE49-F238E27FC236}">
                <a16:creationId xmlns:a16="http://schemas.microsoft.com/office/drawing/2014/main" id="{034DAACC-5B1B-4BDB-A998-BDD9D9E41ABA}"/>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66D8E32-B4C6-48D1-865A-EA131B6FEABC}"/>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high_use to the rows of df where kwh is greater than 5000.</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Do this after q3 so the derived column comes along.</a:t>
            </a:r>
          </a:p>
        </p:txBody>
      </p:sp>
      <p:sp>
        <p:nvSpPr>
          <p:cNvPr id="6" name="">
            <a:extLst xmlns:a="http://schemas.openxmlformats.org/drawingml/2006/main">
              <a:ext uri="{FF2B5EF4-FFF2-40B4-BE49-F238E27FC236}">
                <a16:creationId xmlns:a16="http://schemas.microsoft.com/office/drawing/2014/main" id="{8E077659-3F43-42D5-B2E8-404A863C8240}"/>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23840D5-C842-4A49-BB9E-C7C521D87C3A}"/>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BA0A8975-A397-4A92-88C8-B7A8750671D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35</a:t>
            </a:r>
          </a:p>
        </p:txBody>
      </p:sp>
    </p:spTree>
    <p:extLst>
      <p:ext uri="{BB962C8B-B14F-4D97-AF65-F5344CB8AC3E}">
        <p14:creationId xmlns:p14="http://schemas.microsoft.com/office/powerpoint/2010/main" val="1327154942"/>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7544C3F-97A4-443B-AB99-FDE47B1E81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1179C94-9FE4-43DB-9D78-240F163D0D1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8A492900-5C18-4FDA-A1D1-0F29A4DDD68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q5: 3 marks</a:t>
            </a:r>
          </a:p>
        </p:txBody>
      </p:sp>
      <p:sp>
        <p:nvSpPr>
          <p:cNvPr id="4" name="">
            <a:extLst xmlns:a="http://schemas.openxmlformats.org/drawingml/2006/main">
              <a:ext uri="{FF2B5EF4-FFF2-40B4-BE49-F238E27FC236}">
                <a16:creationId xmlns:a16="http://schemas.microsoft.com/office/drawing/2014/main" id="{AAF647AD-A701-4BA5-965E-7DB934A4869B}"/>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2861208-99A6-4F50-B73E-EE1D9ECE91E6}"/>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mean_cost_per_kwh to the mean of the cost_per_kwh column.</a:t>
            </a:r>
          </a:p>
        </p:txBody>
      </p:sp>
      <p:sp>
        <p:nvSpPr>
          <p:cNvPr id="6" name="">
            <a:extLst xmlns:a="http://schemas.openxmlformats.org/drawingml/2006/main">
              <a:ext uri="{FF2B5EF4-FFF2-40B4-BE49-F238E27FC236}">
                <a16:creationId xmlns:a16="http://schemas.microsoft.com/office/drawing/2014/main" id="{2533EC49-95F5-428A-A8B2-7E503AD8E8D0}"/>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E7F7EAE-AEB1-4F5F-A313-DB328023D9DF}"/>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8BBB7247-489B-4957-88DD-C79A21C087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36</a:t>
            </a:r>
          </a:p>
        </p:txBody>
      </p:sp>
    </p:spTree>
    <p:extLst>
      <p:ext uri="{BB962C8B-B14F-4D97-AF65-F5344CB8AC3E}">
        <p14:creationId xmlns:p14="http://schemas.microsoft.com/office/powerpoint/2010/main" val="333203123"/>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215F54E-7AA7-4DC4-A6EC-D8914B550E4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B4AEE67-A219-4CB7-AC58-C584C3E59F5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2633B6B0-2E74-4C34-813C-045AA3CF1CB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q6: 3 marks</a:t>
            </a:r>
          </a:p>
        </p:txBody>
      </p:sp>
      <p:sp>
        <p:nvSpPr>
          <p:cNvPr id="4" name="">
            <a:extLst xmlns:a="http://schemas.openxmlformats.org/drawingml/2006/main">
              <a:ext uri="{FF2B5EF4-FFF2-40B4-BE49-F238E27FC236}">
                <a16:creationId xmlns:a16="http://schemas.microsoft.com/office/drawing/2014/main" id="{1D2B397D-4CE6-4F80-9B0D-79E56D673D53}"/>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25E97F7-D6EA-4BD6-BBE4-5C058578D253}"/>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peak_building to the name of the building with the highest total kwh.</a:t>
            </a:r>
          </a:p>
        </p:txBody>
      </p:sp>
      <p:sp>
        <p:nvSpPr>
          <p:cNvPr id="6" name="">
            <a:extLst xmlns:a="http://schemas.openxmlformats.org/drawingml/2006/main">
              <a:ext uri="{FF2B5EF4-FFF2-40B4-BE49-F238E27FC236}">
                <a16:creationId xmlns:a16="http://schemas.microsoft.com/office/drawing/2014/main" id="{26EE8764-3437-480B-8105-AF1538790D78}"/>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68688DC-F43D-47D7-9889-14CFCCBB4617}"/>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477BAC08-9F14-40E5-A863-A0EF96980C2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37</a:t>
            </a:r>
          </a:p>
        </p:txBody>
      </p:sp>
    </p:spTree>
    <p:extLst>
      <p:ext uri="{BB962C8B-B14F-4D97-AF65-F5344CB8AC3E}">
        <p14:creationId xmlns:p14="http://schemas.microsoft.com/office/powerpoint/2010/main" val="1149321776"/>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C8846D1-15F5-4CAF-955D-3151602C141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EA4E277-3DA7-41A1-AE63-4AA7D69F178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9ADE3429-C269-4B67-8662-404D960303A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Pandas investigation submission</a:t>
            </a:r>
          </a:p>
        </p:txBody>
      </p:sp>
      <p:sp>
        <p:nvSpPr>
          <p:cNvPr id="4" name="">
            <a:extLst xmlns:a="http://schemas.openxmlformats.org/drawingml/2006/main">
              <a:ext uri="{FF2B5EF4-FFF2-40B4-BE49-F238E27FC236}">
                <a16:creationId xmlns:a16="http://schemas.microsoft.com/office/drawing/2014/main" id="{6A073B97-830B-4D6D-9A16-C8E857B45511}"/>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95E4A05-104D-44D5-AFFC-8501B363D922}"/>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07 Oct 2026, 11:00 Kampala</a:t>
            </a:r>
          </a:p>
        </p:txBody>
      </p:sp>
      <p:sp>
        <p:nvSpPr>
          <p:cNvPr id="6" name="">
            <a:extLst xmlns:a="http://schemas.openxmlformats.org/drawingml/2006/main">
              <a:ext uri="{FF2B5EF4-FFF2-40B4-BE49-F238E27FC236}">
                <a16:creationId xmlns:a16="http://schemas.microsoft.com/office/drawing/2014/main" id="{E2CECFD3-4CC0-45EC-86A8-7B47F7EA38CA}"/>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002B2BA-C7CE-4077-9B82-F5B7B4451EB6}"/>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16 Oct 2026, 11:00 Kampala</a:t>
            </a:r>
          </a:p>
        </p:txBody>
      </p:sp>
      <p:sp>
        <p:nvSpPr>
          <p:cNvPr id="8" name="">
            <a:extLst xmlns:a="http://schemas.openxmlformats.org/drawingml/2006/main">
              <a:ext uri="{FF2B5EF4-FFF2-40B4-BE49-F238E27FC236}">
                <a16:creationId xmlns:a16="http://schemas.microsoft.com/office/drawing/2014/main" id="{C4CFB941-7FAA-435F-AF44-BBD419164096}"/>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1A74E0A-B0D7-4E8E-9E70-C28A1B85D7C7}"/>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9D4088E9-5BF2-44E4-9D80-DBC1E6439C6E}"/>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CFB0AFD-C813-4113-8190-C7982A2A3D94}"/>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4373F043-BCED-4A62-AABF-5541FA90212B}"/>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E42D439-CA55-440C-9EEA-CBB2007CFC41}"/>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5949679d8fd245c0"/>
              </a:rPr>
              <a:t>Open W05 assignment form</a:t>
            </a:r>
          </a:p>
        </p:txBody>
      </p:sp>
      <p:sp>
        <p:nvSpPr>
          <p:cNvPr id="14" name="">
            <a:extLst xmlns:a="http://schemas.openxmlformats.org/drawingml/2006/main">
              <a:ext uri="{FF2B5EF4-FFF2-40B4-BE49-F238E27FC236}">
                <a16:creationId xmlns:a16="http://schemas.microsoft.com/office/drawing/2014/main" id="{3661E24A-401D-4F88-8CAF-37EAC2F2FCCB}"/>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https://docs.google.com/forms/d/e/1FAIpQLSea9Y9pC-JeaVEPpu4prViKZaOHF8cmPczko8iGDiPmr73I2A/viewform</a:t>
            </a:r>
          </a:p>
        </p:txBody>
      </p:sp>
      <p:sp>
        <p:nvSpPr>
          <p:cNvPr id="15" name="">
            <a:extLst xmlns:a="http://schemas.openxmlformats.org/drawingml/2006/main">
              <a:ext uri="{FF2B5EF4-FFF2-40B4-BE49-F238E27FC236}">
                <a16:creationId xmlns:a16="http://schemas.microsoft.com/office/drawing/2014/main" id="{67AAA39E-0BDD-4FBD-AA1D-96889C1E04C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38</a:t>
            </a:r>
          </a:p>
        </p:txBody>
      </p:sp>
    </p:spTree>
    <p:extLst>
      <p:ext uri="{BB962C8B-B14F-4D97-AF65-F5344CB8AC3E}">
        <p14:creationId xmlns:p14="http://schemas.microsoft.com/office/powerpoint/2010/main" val="1961372998"/>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5B27E61-655D-4738-AF7E-CA1834D5C91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984FB1D-5D3C-4F35-8C32-859A1718BE2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A5AEA98-4D06-447D-89EA-6099C260A28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9A45D73C-66F9-49F2-B465-454BAAC9BC0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6358AC3-1501-464A-B41A-DF070CE0272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data analysis project brief.</a:t>
            </a:r>
          </a:p>
        </p:txBody>
      </p:sp>
      <p:sp>
        <p:nvSpPr>
          <p:cNvPr id="6" name="">
            <a:extLst xmlns:a="http://schemas.openxmlformats.org/drawingml/2006/main">
              <a:ext uri="{FF2B5EF4-FFF2-40B4-BE49-F238E27FC236}">
                <a16:creationId xmlns:a16="http://schemas.microsoft.com/office/drawing/2014/main" id="{4BD8519C-17A7-4920-91E2-FD10540239B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B02B345-5ECC-42D7-A011-7381EEFC38D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BA1FD1FE-DE08-483A-9033-220F23545962}"/>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8CB1266-1A43-4063-801A-CE11E5FE2CC4}"/>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67C1DB6C-DCA8-45C8-A4F5-8D3E2B55459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666C986-8303-47E9-A85A-6F1897CA95E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30 Oct 2026, 11:00 Kampala</a:t>
            </a:r>
          </a:p>
        </p:txBody>
      </p:sp>
      <p:sp>
        <p:nvSpPr>
          <p:cNvPr id="12" name="">
            <a:extLst xmlns:a="http://schemas.openxmlformats.org/drawingml/2006/main">
              <a:ext uri="{FF2B5EF4-FFF2-40B4-BE49-F238E27FC236}">
                <a16:creationId xmlns:a16="http://schemas.microsoft.com/office/drawing/2014/main" id="{ED57B4D5-BE89-4E84-93F8-BC8AFAF84D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39</a:t>
            </a:r>
          </a:p>
        </p:txBody>
      </p:sp>
    </p:spTree>
    <p:extLst>
      <p:ext uri="{BB962C8B-B14F-4D97-AF65-F5344CB8AC3E}">
        <p14:creationId xmlns:p14="http://schemas.microsoft.com/office/powerpoint/2010/main" val="933858063"/>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71DB8D64-6046-4880-839C-7B6126E347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025B68F-6634-4C0A-9BA9-05C2E4A65D9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05496969-F702-4243-99EF-E61DE85E352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5 quiz</a:t>
            </a:r>
          </a:p>
        </p:txBody>
      </p:sp>
      <p:sp>
        <p:nvSpPr>
          <p:cNvPr id="4" name="">
            <a:extLst xmlns:a="http://schemas.openxmlformats.org/drawingml/2006/main">
              <a:ext uri="{FF2B5EF4-FFF2-40B4-BE49-F238E27FC236}">
                <a16:creationId xmlns:a16="http://schemas.microsoft.com/office/drawing/2014/main" id="{23541C1B-5EEA-47BE-9D24-BCDA85B0E4AC}"/>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CDE40F6-AAF3-4D04-A168-C0F8D7D3682B}"/>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41122227-9586-4AF4-AE87-EFC7CBB538CB}"/>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E754A60-D45E-491B-8F89-65B43D64477C}"/>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0EE3B8D0-2C1E-4105-ADB4-1E1AD24D45FE}"/>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B6653AB-C2F1-4841-AA37-68BEEBCFB3FE}"/>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0CEED6D2-A688-4C25-B615-1873ACEE2B7C}"/>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E65B36D-668B-4F92-AABD-648B3A024E10}"/>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70384116c2f5430b"/>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B6BDD3A0-9F94-4A2B-8AF6-1B2EF6512481}"/>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9C49FB8F-8FB3-435B-8268-62D42AD0F1FA}"/>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F53FCEB9-AA74-4B08-BE5C-CA38E1CAF19E}"/>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78932ce5ec5d4f1e"/>
              </a:rPr>
              <a:t>Open this week’s quiz</a:t>
            </a:r>
          </a:p>
        </p:txBody>
      </p:sp>
      <p:sp>
        <p:nvSpPr>
          <p:cNvPr id="16" name="">
            <a:extLst xmlns:a="http://schemas.openxmlformats.org/drawingml/2006/main">
              <a:ext uri="{FF2B5EF4-FFF2-40B4-BE49-F238E27FC236}">
                <a16:creationId xmlns:a16="http://schemas.microsoft.com/office/drawing/2014/main" id="{C11A8950-AFF2-4F09-B4CE-1EE2E896AC35}"/>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https://forms.gle/a2TPHUcEF6sacSnr6</a:t>
            </a:r>
          </a:p>
        </p:txBody>
      </p:sp>
      <p:sp>
        <p:nvSpPr>
          <p:cNvPr id="17" name="">
            <a:extLst xmlns:a="http://schemas.openxmlformats.org/drawingml/2006/main">
              <a:ext uri="{FF2B5EF4-FFF2-40B4-BE49-F238E27FC236}">
                <a16:creationId xmlns:a16="http://schemas.microsoft.com/office/drawing/2014/main" id="{692B5646-7A53-4DB4-89D0-D6514308862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40</a:t>
            </a:r>
          </a:p>
        </p:txBody>
      </p:sp>
    </p:spTree>
    <p:extLst>
      <p:ext uri="{BB962C8B-B14F-4D97-AF65-F5344CB8AC3E}">
        <p14:creationId xmlns:p14="http://schemas.microsoft.com/office/powerpoint/2010/main" val="744747485"/>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E7E4056-36C7-48FC-A696-5E2B857BB82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74F09DC-DC39-4BF0-9818-E87B1FD0448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DCDDD6C-7BB0-4205-A5C9-D68CB51C39E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5 support</a:t>
            </a:r>
          </a:p>
        </p:txBody>
      </p:sp>
      <p:sp>
        <p:nvSpPr>
          <p:cNvPr id="4" name="">
            <a:extLst xmlns:a="http://schemas.openxmlformats.org/drawingml/2006/main">
              <a:ext uri="{FF2B5EF4-FFF2-40B4-BE49-F238E27FC236}">
                <a16:creationId xmlns:a16="http://schemas.microsoft.com/office/drawing/2014/main" id="{F09F44C4-B39C-4EC0-AC9B-EA4B534FC81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EB7E1A8-4EC3-4ACF-BB8D-BFABE24D7D5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Friday 9 October has no normal class.</a:t>
            </a:r>
          </a:p>
        </p:txBody>
      </p:sp>
      <p:sp>
        <p:nvSpPr>
          <p:cNvPr id="6" name="">
            <a:extLst xmlns:a="http://schemas.openxmlformats.org/drawingml/2006/main">
              <a:ext uri="{FF2B5EF4-FFF2-40B4-BE49-F238E27FC236}">
                <a16:creationId xmlns:a16="http://schemas.microsoft.com/office/drawing/2014/main" id="{445EB602-6D69-4776-BC9C-4889848A309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51DF784-1750-4AE0-BC6E-FE592B0DF86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announce a supported replacement session or recording with a clinic.</a:t>
            </a:r>
          </a:p>
        </p:txBody>
      </p:sp>
      <p:sp>
        <p:nvSpPr>
          <p:cNvPr id="8" name="">
            <a:extLst xmlns:a="http://schemas.openxmlformats.org/drawingml/2006/main">
              <a:ext uri="{FF2B5EF4-FFF2-40B4-BE49-F238E27FC236}">
                <a16:creationId xmlns:a16="http://schemas.microsoft.com/office/drawing/2014/main" id="{ABAE0839-1B73-488B-9E92-C482093743A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DF284FE-EDB7-4527-B243-8537F7E9CE4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Week 6 starts with 30 minutes of consolidation.</a:t>
            </a:r>
          </a:p>
        </p:txBody>
      </p:sp>
      <p:sp>
        <p:nvSpPr>
          <p:cNvPr id="10" name="">
            <a:extLst xmlns:a="http://schemas.openxmlformats.org/drawingml/2006/main">
              <a:ext uri="{FF2B5EF4-FFF2-40B4-BE49-F238E27FC236}">
                <a16:creationId xmlns:a16="http://schemas.microsoft.com/office/drawing/2014/main" id="{324D6492-4E97-4883-BE6E-AE9295715AB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41</a:t>
            </a:r>
          </a:p>
        </p:txBody>
      </p:sp>
    </p:spTree>
    <p:extLst>
      <p:ext uri="{BB962C8B-B14F-4D97-AF65-F5344CB8AC3E}">
        <p14:creationId xmlns:p14="http://schemas.microsoft.com/office/powerpoint/2010/main" val="1344433303"/>
      </p:ext>
    </p:extLst>
  </p:cSld>
</p:sld>
</file>

<file path=ppt/slides/slide42.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E378DDB-518F-4B49-A72A-7EB077F1DA3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3B1A8170-EF1A-487F-86AE-D00AFD38910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512BBC88-6229-4FD0-A046-E768AB8EA081}"/>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B74886E8-8322-4F94-B6B9-B642FABA0302}"/>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which observations a filter keeps and what a grouped total means.</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5DF07536-15DA-4FF7-A1F6-492FFD98901B}"/>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70DA5256-632A-4554-8ACA-00C274323D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5   42</a:t>
            </a:r>
          </a:p>
        </p:txBody>
      </p:sp>
    </p:spTree>
    <p:extLst>
      <p:ext uri="{BB962C8B-B14F-4D97-AF65-F5344CB8AC3E}">
        <p14:creationId xmlns:p14="http://schemas.microsoft.com/office/powerpoint/2010/main" val="181180727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2026-09-28T21:14:46.0080000Z</dcterms:created>
  <dcterms:modified xsi:type="dcterms:W3CDTF">2026-09-28T21:14:46.0080000Z</dcterms:modified>
</coreProperties>
</file>