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cf9922f0624705" /><Relationship Type="http://schemas.openxmlformats.org/officeDocument/2006/relationships/extended-properties" Target="/docProps/app.xml" Id="R3d578e6d93c24ce2" /><Relationship Type="http://schemas.openxmlformats.org/officeDocument/2006/relationships/officeDocument" Target="/ppt/presentation.xml" Id="Rf87f5255f36c4928" /></Relationships>
</file>

<file path=ppt/presentation.xml><?xml version="1.0" encoding="utf-8"?>
<p:presentation xmlns:p="http://schemas.openxmlformats.org/presentationml/2006/main">
  <p:sldMasterIdLst>
    <p:sldMasterId xmlns:r="http://schemas.openxmlformats.org/officeDocument/2006/relationships" id="2147483648" r:id="R79501302304d41d5"/>
  </p:sldMasterIdLst>
  <p:notesMasterIdLst>
    <p:notesMasterId xmlns:r="http://schemas.openxmlformats.org/officeDocument/2006/relationships" r:id="R9beb5649d58340b6"/>
  </p:notesMasterIdLst>
  <p:sldIdLst>
    <p:sldId xmlns:r="http://schemas.openxmlformats.org/officeDocument/2006/relationships" id="256" r:id="R52d62d2ea8134595"/>
    <p:sldId xmlns:r="http://schemas.openxmlformats.org/officeDocument/2006/relationships" id="257" r:id="R1d1d712622a44371"/>
    <p:sldId xmlns:r="http://schemas.openxmlformats.org/officeDocument/2006/relationships" id="258" r:id="Rabd0f0e3d1ab474d"/>
    <p:sldId xmlns:r="http://schemas.openxmlformats.org/officeDocument/2006/relationships" id="259" r:id="R3a7c6f5f3f1b433f"/>
    <p:sldId xmlns:r="http://schemas.openxmlformats.org/officeDocument/2006/relationships" id="260" r:id="R0aac14a8b3d549fc"/>
    <p:sldId xmlns:r="http://schemas.openxmlformats.org/officeDocument/2006/relationships" id="261" r:id="R9dd57d6113574898"/>
    <p:sldId xmlns:r="http://schemas.openxmlformats.org/officeDocument/2006/relationships" id="262" r:id="R960585fd5ed44a80"/>
    <p:sldId xmlns:r="http://schemas.openxmlformats.org/officeDocument/2006/relationships" id="263" r:id="Rcc880e411be74690"/>
    <p:sldId xmlns:r="http://schemas.openxmlformats.org/officeDocument/2006/relationships" id="264" r:id="R6b1624339f9548e4"/>
    <p:sldId xmlns:r="http://schemas.openxmlformats.org/officeDocument/2006/relationships" id="265" r:id="R466f6f4934e44799"/>
    <p:sldId xmlns:r="http://schemas.openxmlformats.org/officeDocument/2006/relationships" id="266" r:id="R4d2d066c25c9480d"/>
    <p:sldId xmlns:r="http://schemas.openxmlformats.org/officeDocument/2006/relationships" id="267" r:id="R143a28bda71b4c5b"/>
    <p:sldId xmlns:r="http://schemas.openxmlformats.org/officeDocument/2006/relationships" id="268" r:id="R052cd7851e4c4c50"/>
    <p:sldId xmlns:r="http://schemas.openxmlformats.org/officeDocument/2006/relationships" id="269" r:id="R6311c103b3984c4f"/>
    <p:sldId xmlns:r="http://schemas.openxmlformats.org/officeDocument/2006/relationships" id="270" r:id="Rce16ddec115f40d4"/>
    <p:sldId xmlns:r="http://schemas.openxmlformats.org/officeDocument/2006/relationships" id="271" r:id="R745c9d98f4374e2c"/>
    <p:sldId xmlns:r="http://schemas.openxmlformats.org/officeDocument/2006/relationships" id="272" r:id="Rcfc10d1474be4f39"/>
    <p:sldId xmlns:r="http://schemas.openxmlformats.org/officeDocument/2006/relationships" id="273" r:id="R5cfc35b3d4804a60"/>
    <p:sldId xmlns:r="http://schemas.openxmlformats.org/officeDocument/2006/relationships" id="274" r:id="R7476a4d25aa94a9d"/>
    <p:sldId xmlns:r="http://schemas.openxmlformats.org/officeDocument/2006/relationships" id="275" r:id="Rd949c518a11d41e8"/>
    <p:sldId xmlns:r="http://schemas.openxmlformats.org/officeDocument/2006/relationships" id="276" r:id="R6cf1cc4982df4b33"/>
    <p:sldId xmlns:r="http://schemas.openxmlformats.org/officeDocument/2006/relationships" id="277" r:id="R9561249c2fa84d90"/>
    <p:sldId xmlns:r="http://schemas.openxmlformats.org/officeDocument/2006/relationships" id="278" r:id="R8a5da144dae44b9b"/>
    <p:sldId xmlns:r="http://schemas.openxmlformats.org/officeDocument/2006/relationships" id="279" r:id="R4936670be17648d7"/>
    <p:sldId xmlns:r="http://schemas.openxmlformats.org/officeDocument/2006/relationships" id="280" r:id="R121c214ad485404a"/>
    <p:sldId xmlns:r="http://schemas.openxmlformats.org/officeDocument/2006/relationships" id="281" r:id="Rd76c9769b29b48d7"/>
    <p:sldId xmlns:r="http://schemas.openxmlformats.org/officeDocument/2006/relationships" id="282" r:id="R9ea249c47b3a48d5"/>
    <p:sldId xmlns:r="http://schemas.openxmlformats.org/officeDocument/2006/relationships" id="283" r:id="R29b185f418914c9f"/>
    <p:sldId xmlns:r="http://schemas.openxmlformats.org/officeDocument/2006/relationships" id="284" r:id="R7803990ad64943d5"/>
    <p:sldId xmlns:r="http://schemas.openxmlformats.org/officeDocument/2006/relationships" id="285" r:id="R8c265dcc3be54fe8"/>
    <p:sldId xmlns:r="http://schemas.openxmlformats.org/officeDocument/2006/relationships" id="286" r:id="Rade59860ad914377"/>
    <p:sldId xmlns:r="http://schemas.openxmlformats.org/officeDocument/2006/relationships" id="287" r:id="R56f90446cb4243e3"/>
    <p:sldId xmlns:r="http://schemas.openxmlformats.org/officeDocument/2006/relationships" id="288" r:id="R06c1ecdd525a410b"/>
    <p:sldId xmlns:r="http://schemas.openxmlformats.org/officeDocument/2006/relationships" id="289" r:id="Rb08871d940254898"/>
    <p:sldId xmlns:r="http://schemas.openxmlformats.org/officeDocument/2006/relationships" id="290" r:id="Rc53d2e2df8ac4c77"/>
    <p:sldId xmlns:r="http://schemas.openxmlformats.org/officeDocument/2006/relationships" id="291" r:id="R1725582953714a8c"/>
    <p:sldId xmlns:r="http://schemas.openxmlformats.org/officeDocument/2006/relationships" id="292" r:id="R33f1f12171244527"/>
    <p:sldId xmlns:r="http://schemas.openxmlformats.org/officeDocument/2006/relationships" id="293" r:id="Re3fa32254a434460"/>
    <p:sldId xmlns:r="http://schemas.openxmlformats.org/officeDocument/2006/relationships" id="294" r:id="R53b558edf9364bf7"/>
    <p:sldId xmlns:r="http://schemas.openxmlformats.org/officeDocument/2006/relationships" id="295" r:id="Rd1f65c4f53dc4069"/>
    <p:sldId xmlns:r="http://schemas.openxmlformats.org/officeDocument/2006/relationships" id="296" r:id="Rabef0cffb5674ac1"/>
    <p:sldId xmlns:r="http://schemas.openxmlformats.org/officeDocument/2006/relationships" id="297" r:id="Rbf3a2cd7e60e4809"/>
    <p:sldId xmlns:r="http://schemas.openxmlformats.org/officeDocument/2006/relationships" id="298" r:id="Rf36c69074f074d7c"/>
    <p:sldId xmlns:r="http://schemas.openxmlformats.org/officeDocument/2006/relationships" id="299" r:id="Ra1c349305e864c76"/>
    <p:sldId xmlns:r="http://schemas.openxmlformats.org/officeDocument/2006/relationships" id="300" r:id="R3ed60fe95dc84d7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d20f67380ce4786" /><Relationship Type="http://schemas.openxmlformats.org/officeDocument/2006/relationships/slideMaster" Target="/ppt/slideMasters/slideMaster1.xml" Id="R79501302304d41d5" /><Relationship Type="http://schemas.openxmlformats.org/officeDocument/2006/relationships/notesMaster" Target="/ppt/notesMasters/notesMaster1.xml" Id="R9beb5649d58340b6" /><Relationship Type="http://schemas.openxmlformats.org/officeDocument/2006/relationships/presProps" Target="/ppt/presProps.xml" Id="R2ebdc76f6c214817" /><Relationship Type="http://schemas.openxmlformats.org/officeDocument/2006/relationships/tableStyles" Target="/ppt/tableStyles.xml" Id="R463abc160b164e87" /><Relationship Type="http://schemas.openxmlformats.org/officeDocument/2006/relationships/slide" Target="/ppt/slides/slide1.xml" Id="R52d62d2ea8134595" /><Relationship Type="http://schemas.openxmlformats.org/officeDocument/2006/relationships/slide" Target="/ppt/slides/slide2.xml" Id="R1d1d712622a44371" /><Relationship Type="http://schemas.openxmlformats.org/officeDocument/2006/relationships/slide" Target="/ppt/slides/slide3.xml" Id="Rabd0f0e3d1ab474d" /><Relationship Type="http://schemas.openxmlformats.org/officeDocument/2006/relationships/slide" Target="/ppt/slides/slide4.xml" Id="R3a7c6f5f3f1b433f" /><Relationship Type="http://schemas.openxmlformats.org/officeDocument/2006/relationships/slide" Target="/ppt/slides/slide5.xml" Id="R0aac14a8b3d549fc" /><Relationship Type="http://schemas.openxmlformats.org/officeDocument/2006/relationships/slide" Target="/ppt/slides/slide6.xml" Id="R9dd57d6113574898" /><Relationship Type="http://schemas.openxmlformats.org/officeDocument/2006/relationships/slide" Target="/ppt/slides/slide7.xml" Id="R960585fd5ed44a80" /><Relationship Type="http://schemas.openxmlformats.org/officeDocument/2006/relationships/slide" Target="/ppt/slides/slide8.xml" Id="Rcc880e411be74690" /><Relationship Type="http://schemas.openxmlformats.org/officeDocument/2006/relationships/slide" Target="/ppt/slides/slide9.xml" Id="R6b1624339f9548e4" /><Relationship Type="http://schemas.openxmlformats.org/officeDocument/2006/relationships/slide" Target="/ppt/slides/slide10.xml" Id="R466f6f4934e44799" /><Relationship Type="http://schemas.openxmlformats.org/officeDocument/2006/relationships/slide" Target="/ppt/slides/slide11.xml" Id="R4d2d066c25c9480d" /><Relationship Type="http://schemas.openxmlformats.org/officeDocument/2006/relationships/slide" Target="/ppt/slides/slide12.xml" Id="R143a28bda71b4c5b" /><Relationship Type="http://schemas.openxmlformats.org/officeDocument/2006/relationships/slide" Target="/ppt/slides/slide13.xml" Id="R052cd7851e4c4c50" /><Relationship Type="http://schemas.openxmlformats.org/officeDocument/2006/relationships/slide" Target="/ppt/slides/slide14.xml" Id="R6311c103b3984c4f" /><Relationship Type="http://schemas.openxmlformats.org/officeDocument/2006/relationships/slide" Target="/ppt/slides/slide15.xml" Id="Rce16ddec115f40d4" /><Relationship Type="http://schemas.openxmlformats.org/officeDocument/2006/relationships/slide" Target="/ppt/slides/slide16.xml" Id="R745c9d98f4374e2c" /><Relationship Type="http://schemas.openxmlformats.org/officeDocument/2006/relationships/slide" Target="/ppt/slides/slide17.xml" Id="Rcfc10d1474be4f39" /><Relationship Type="http://schemas.openxmlformats.org/officeDocument/2006/relationships/slide" Target="/ppt/slides/slide18.xml" Id="R5cfc35b3d4804a60" /><Relationship Type="http://schemas.openxmlformats.org/officeDocument/2006/relationships/slide" Target="/ppt/slides/slide19.xml" Id="R7476a4d25aa94a9d" /><Relationship Type="http://schemas.openxmlformats.org/officeDocument/2006/relationships/slide" Target="/ppt/slides/slide20.xml" Id="Rd949c518a11d41e8" /><Relationship Type="http://schemas.openxmlformats.org/officeDocument/2006/relationships/slide" Target="/ppt/slides/slide21.xml" Id="R6cf1cc4982df4b33" /><Relationship Type="http://schemas.openxmlformats.org/officeDocument/2006/relationships/slide" Target="/ppt/slides/slide22.xml" Id="R9561249c2fa84d90" /><Relationship Type="http://schemas.openxmlformats.org/officeDocument/2006/relationships/slide" Target="/ppt/slides/slide23.xml" Id="R8a5da144dae44b9b" /><Relationship Type="http://schemas.openxmlformats.org/officeDocument/2006/relationships/slide" Target="/ppt/slides/slide24.xml" Id="R4936670be17648d7" /><Relationship Type="http://schemas.openxmlformats.org/officeDocument/2006/relationships/slide" Target="/ppt/slides/slide25.xml" Id="R121c214ad485404a" /><Relationship Type="http://schemas.openxmlformats.org/officeDocument/2006/relationships/slide" Target="/ppt/slides/slide26.xml" Id="Rd76c9769b29b48d7" /><Relationship Type="http://schemas.openxmlformats.org/officeDocument/2006/relationships/slide" Target="/ppt/slides/slide27.xml" Id="R9ea249c47b3a48d5" /><Relationship Type="http://schemas.openxmlformats.org/officeDocument/2006/relationships/slide" Target="/ppt/slides/slide28.xml" Id="R29b185f418914c9f" /><Relationship Type="http://schemas.openxmlformats.org/officeDocument/2006/relationships/slide" Target="/ppt/slides/slide29.xml" Id="R7803990ad64943d5" /><Relationship Type="http://schemas.openxmlformats.org/officeDocument/2006/relationships/slide" Target="/ppt/slides/slide30.xml" Id="R8c265dcc3be54fe8" /><Relationship Type="http://schemas.openxmlformats.org/officeDocument/2006/relationships/slide" Target="/ppt/slides/slide31.xml" Id="Rade59860ad914377" /><Relationship Type="http://schemas.openxmlformats.org/officeDocument/2006/relationships/slide" Target="/ppt/slides/slide32.xml" Id="R56f90446cb4243e3" /><Relationship Type="http://schemas.openxmlformats.org/officeDocument/2006/relationships/slide" Target="/ppt/slides/slide33.xml" Id="R06c1ecdd525a410b" /><Relationship Type="http://schemas.openxmlformats.org/officeDocument/2006/relationships/slide" Target="/ppt/slides/slide34.xml" Id="Rb08871d940254898" /><Relationship Type="http://schemas.openxmlformats.org/officeDocument/2006/relationships/slide" Target="/ppt/slides/slide35.xml" Id="Rc53d2e2df8ac4c77" /><Relationship Type="http://schemas.openxmlformats.org/officeDocument/2006/relationships/slide" Target="/ppt/slides/slide36.xml" Id="R1725582953714a8c" /><Relationship Type="http://schemas.openxmlformats.org/officeDocument/2006/relationships/slide" Target="/ppt/slides/slide37.xml" Id="R33f1f12171244527" /><Relationship Type="http://schemas.openxmlformats.org/officeDocument/2006/relationships/slide" Target="/ppt/slides/slide38.xml" Id="Re3fa32254a434460" /><Relationship Type="http://schemas.openxmlformats.org/officeDocument/2006/relationships/slide" Target="/ppt/slides/slide39.xml" Id="R53b558edf9364bf7" /><Relationship Type="http://schemas.openxmlformats.org/officeDocument/2006/relationships/slide" Target="/ppt/slides/slide40.xml" Id="Rd1f65c4f53dc4069" /><Relationship Type="http://schemas.openxmlformats.org/officeDocument/2006/relationships/slide" Target="/ppt/slides/slide41.xml" Id="Rabef0cffb5674ac1" /><Relationship Type="http://schemas.openxmlformats.org/officeDocument/2006/relationships/slide" Target="/ppt/slides/slide42.xml" Id="Rbf3a2cd7e60e4809" /><Relationship Type="http://schemas.openxmlformats.org/officeDocument/2006/relationships/slide" Target="/ppt/slides/slide43.xml" Id="Rf36c69074f074d7c" /><Relationship Type="http://schemas.openxmlformats.org/officeDocument/2006/relationships/slide" Target="/ppt/slides/slide44.xml" Id="Ra1c349305e864c76" /><Relationship Type="http://schemas.openxmlformats.org/officeDocument/2006/relationships/slide" Target="/ppt/slides/slide45.xml" Id="R3ed60fe95dc84d7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82f9464137478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a8e8b436da4c76" /><Relationship Type="http://schemas.openxmlformats.org/officeDocument/2006/relationships/notesMaster" Target="/ppt/notesMasters/notesMaster1.xml" Id="R5c9f64ba660e48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27532ed8b641b5" /><Relationship Type="http://schemas.openxmlformats.org/officeDocument/2006/relationships/notesMaster" Target="/ppt/notesMasters/notesMaster1.xml" Id="R8924d77ad93147f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5fe8359566417b" /><Relationship Type="http://schemas.openxmlformats.org/officeDocument/2006/relationships/notesMaster" Target="/ppt/notesMasters/notesMaster1.xml" Id="Rf3203d1335a141d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a52947b37e472a" /><Relationship Type="http://schemas.openxmlformats.org/officeDocument/2006/relationships/notesMaster" Target="/ppt/notesMasters/notesMaster1.xml" Id="Raf65fd3684f243f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ac3957134d40d9" /><Relationship Type="http://schemas.openxmlformats.org/officeDocument/2006/relationships/notesMaster" Target="/ppt/notesMasters/notesMaster1.xml" Id="Rf1017250f8ec4d63" /></Relationships>
</file>

<file path=ppt/notesSlides/_rels/notesSlide6.xml.rels>&#65279;<?xml version="1.0" encoding="utf-8"?><Relationships xmlns="http://schemas.openxmlformats.org/package/2006/relationships"><Relationship Type="http://schemas.openxmlformats.org/officeDocument/2006/relationships/slide" Target="/ppt/slides/slide6.xml" Id="Re3946f8a22ac4f5a" /><Relationship Type="http://schemas.openxmlformats.org/officeDocument/2006/relationships/notesMaster" Target="/ppt/notesMasters/notesMaster1.xml" Id="Re0ec57242fa44c6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cb7fa2db9a412e" /><Relationship Type="http://schemas.openxmlformats.org/officeDocument/2006/relationships/notesMaster" Target="/ppt/notesMasters/notesMaster1.xml" Id="Rfa2872f1412b4612" /></Relationships>
</file>

<file path=ppt/notesSlides/_rels/notesSlide8.xml.rels>&#65279;<?xml version="1.0" encoding="utf-8"?><Relationships xmlns="http://schemas.openxmlformats.org/package/2006/relationships"><Relationship Type="http://schemas.openxmlformats.org/officeDocument/2006/relationships/slide" Target="/ppt/slides/slide8.xml" Id="R92106c02d18e42f1" /><Relationship Type="http://schemas.openxmlformats.org/officeDocument/2006/relationships/notesMaster" Target="/ppt/notesMasters/notesMaster1.xml" Id="Ra3d8f697ac8842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185bcb33e8f4897" /><Relationship Type="http://schemas.openxmlformats.org/officeDocument/2006/relationships/notesMaster" Target="/ppt/notesMasters/notesMaster1.xml" Id="Rda2bdc4394074a5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cca687219542b5" /><Relationship Type="http://schemas.openxmlformats.org/officeDocument/2006/relationships/notesMaster" Target="/ppt/notesMasters/notesMaster1.xml" Id="R03a8bf9a5f92468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9b76917e46b4bc1" /><Relationship Type="http://schemas.openxmlformats.org/officeDocument/2006/relationships/notesMaster" Target="/ppt/notesMasters/notesMaster1.xml" Id="R046b0e0cbaab4a6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8799c96ef2c4880" /><Relationship Type="http://schemas.openxmlformats.org/officeDocument/2006/relationships/notesMaster" Target="/ppt/notesMasters/notesMaster1.xml" Id="R25eb1d2449d04b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a15877c74494fed" /><Relationship Type="http://schemas.openxmlformats.org/officeDocument/2006/relationships/notesMaster" Target="/ppt/notesMasters/notesMaster1.xml" Id="R7133b2cdc9e94d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ded0b7db464e7e" /><Relationship Type="http://schemas.openxmlformats.org/officeDocument/2006/relationships/notesMaster" Target="/ppt/notesMasters/notesMaster1.xml" Id="R33b0b4a0d3e24e6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4facfe625814a64" /><Relationship Type="http://schemas.openxmlformats.org/officeDocument/2006/relationships/notesMaster" Target="/ppt/notesMasters/notesMaster1.xml" Id="R157bcd00d8d9466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4bc1bfdcd7242be" /><Relationship Type="http://schemas.openxmlformats.org/officeDocument/2006/relationships/notesMaster" Target="/ppt/notesMasters/notesMaster1.xml" Id="Refdf8a62afd1468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dc6b43eb9b84218" /><Relationship Type="http://schemas.openxmlformats.org/officeDocument/2006/relationships/notesMaster" Target="/ppt/notesMasters/notesMaster1.xml" Id="R0c13a620d31c403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2d9abb8a5cf4444" /><Relationship Type="http://schemas.openxmlformats.org/officeDocument/2006/relationships/notesMaster" Target="/ppt/notesMasters/notesMaster1.xml" Id="R736f987fded245a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6d6b6c25f004935" /><Relationship Type="http://schemas.openxmlformats.org/officeDocument/2006/relationships/notesMaster" Target="/ppt/notesMasters/notesMaster1.xml" Id="Rfe91ca05a7874dc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74e0b54704d4634" /><Relationship Type="http://schemas.openxmlformats.org/officeDocument/2006/relationships/notesMaster" Target="/ppt/notesMasters/notesMaster1.xml" Id="R7baaca945b4e476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ff7c041ed7f4757" /><Relationship Type="http://schemas.openxmlformats.org/officeDocument/2006/relationships/notesMaster" Target="/ppt/notesMasters/notesMaster1.xml" Id="Re4e3feee241340c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3f7f535131f4484" /><Relationship Type="http://schemas.openxmlformats.org/officeDocument/2006/relationships/notesMaster" Target="/ppt/notesMasters/notesMaster1.xml" Id="Rfd0795f6b2a1413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e7c58557b854fbc" /><Relationship Type="http://schemas.openxmlformats.org/officeDocument/2006/relationships/notesMaster" Target="/ppt/notesMasters/notesMaster1.xml" Id="R8a8088de4a0a452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6d5a2b99f914663" /><Relationship Type="http://schemas.openxmlformats.org/officeDocument/2006/relationships/notesMaster" Target="/ppt/notesMasters/notesMaster1.xml" Id="Rb6c5a2d426794dc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bb3c88b523344d0" /><Relationship Type="http://schemas.openxmlformats.org/officeDocument/2006/relationships/notesMaster" Target="/ppt/notesMasters/notesMaster1.xml" Id="R268a975743d04e4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7127937bc104f02" /><Relationship Type="http://schemas.openxmlformats.org/officeDocument/2006/relationships/notesMaster" Target="/ppt/notesMasters/notesMaster1.xml" Id="Rea36cce46bec4d8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5f5a25749f34104" /><Relationship Type="http://schemas.openxmlformats.org/officeDocument/2006/relationships/notesMaster" Target="/ppt/notesMasters/notesMaster1.xml" Id="Rd7c807b0f812403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f8a35613b64ff4" /><Relationship Type="http://schemas.openxmlformats.org/officeDocument/2006/relationships/notesMaster" Target="/ppt/notesMasters/notesMaster1.xml" Id="R9a813381496b413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44e3720c6e1487b" /><Relationship Type="http://schemas.openxmlformats.org/officeDocument/2006/relationships/notesMaster" Target="/ppt/notesMasters/notesMaster1.xml" Id="R7247d7b2153c4b7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70836c9b2d74fdf" /><Relationship Type="http://schemas.openxmlformats.org/officeDocument/2006/relationships/notesMaster" Target="/ppt/notesMasters/notesMaster1.xml" Id="Rbfcd73e4cf0b41b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233a4562d0049fc" /><Relationship Type="http://schemas.openxmlformats.org/officeDocument/2006/relationships/notesMaster" Target="/ppt/notesMasters/notesMaster1.xml" Id="Ra693d7b874e0446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ea7a20f158d45f0" /><Relationship Type="http://schemas.openxmlformats.org/officeDocument/2006/relationships/notesMaster" Target="/ppt/notesMasters/notesMaster1.xml" Id="R21bbe2f0aab3460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fa74e2254f1486f" /><Relationship Type="http://schemas.openxmlformats.org/officeDocument/2006/relationships/notesMaster" Target="/ppt/notesMasters/notesMaster1.xml" Id="Rc8dfe3d1def5465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1ebd6729be64a8b" /><Relationship Type="http://schemas.openxmlformats.org/officeDocument/2006/relationships/notesMaster" Target="/ppt/notesMasters/notesMaster1.xml" Id="R2ab67c873f8945c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395fd9e98724c6c" /><Relationship Type="http://schemas.openxmlformats.org/officeDocument/2006/relationships/notesMaster" Target="/ppt/notesMasters/notesMaster1.xml" Id="R1aa53e096403472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bfcb54181c0455e" /><Relationship Type="http://schemas.openxmlformats.org/officeDocument/2006/relationships/notesMaster" Target="/ppt/notesMasters/notesMaster1.xml" Id="R47cc2af73b53478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8d911f6451f4129" /><Relationship Type="http://schemas.openxmlformats.org/officeDocument/2006/relationships/notesMaster" Target="/ppt/notesMasters/notesMaster1.xml" Id="R3a5d2504a269484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f22cede5c5b41ec" /><Relationship Type="http://schemas.openxmlformats.org/officeDocument/2006/relationships/notesMaster" Target="/ppt/notesMasters/notesMaster1.xml" Id="Re1e421d61a7745b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820bf1cef564bfb" /><Relationship Type="http://schemas.openxmlformats.org/officeDocument/2006/relationships/notesMaster" Target="/ppt/notesMasters/notesMaster1.xml" Id="R8a1a8b8d12c3483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6718466d4d2427c" /><Relationship Type="http://schemas.openxmlformats.org/officeDocument/2006/relationships/notesMaster" Target="/ppt/notesMasters/notesMaster1.xml" Id="R6c99d5d7dac349a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4dc12c958ad14be2" /><Relationship Type="http://schemas.openxmlformats.org/officeDocument/2006/relationships/notesMaster" Target="/ppt/notesMasters/notesMaster1.xml" Id="R63b8ff35f3fa414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0f526548355483b" /><Relationship Type="http://schemas.openxmlformats.org/officeDocument/2006/relationships/notesMaster" Target="/ppt/notesMasters/notesMaster1.xml" Id="R79f05e16b6f14b1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5d0163d0d924778" /><Relationship Type="http://schemas.openxmlformats.org/officeDocument/2006/relationships/notesMaster" Target="/ppt/notesMasters/notesMaster1.xml" Id="R5abc4a53ce3c4bc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19409819896404e" /><Relationship Type="http://schemas.openxmlformats.org/officeDocument/2006/relationships/notesMaster" Target="/ppt/notesMasters/notesMaster1.xml" Id="R802056e06a0347b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4bc7459b5614043" /><Relationship Type="http://schemas.openxmlformats.org/officeDocument/2006/relationships/notesMaster" Target="/ppt/notesMasters/notesMaster1.xml" Id="R37a12deec02f44a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Using pandas to answer table questions</a:t>
            </a:r>
          </a:p>
          <a:p xmlns:a="http://schemas.openxmlformats.org/drawingml/2006/main">
            <a:r>
              <a:t/>
            </a:r>
          </a:p>
          <a:p xmlns:a="http://schemas.openxmlformats.org/drawingml/2006/main">
            <a:r>
              <a:t>CONNECT</a:t>
            </a:r>
          </a:p>
          <a:p xmlns:a="http://schemas.openxmlformats.org/drawingml/2006/main">
            <a:r>
              <a:t>Previous slide: the preceding week.</a:t>
            </a:r>
          </a:p>
          <a:p xmlns:a="http://schemas.openxmlformats.org/drawingml/2006/main">
            <a:r>
              <a:t/>
            </a:r>
          </a:p>
          <a:p xmlns:a="http://schemas.openxmlformats.org/drawingml/2006/main">
            <a:r>
              <a:t>EXPLAIN</a:t>
            </a:r>
          </a:p>
          <a:p xmlns:a="http://schemas.openxmlformats.org/drawingml/2006/main">
            <a:r>
              <a:t>Communications, Electrical, Mechatronics and Robotics Engineering</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Today’s learning.</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Previous slide: Using pandas to answer table questions.</a:t>
            </a:r>
          </a:p>
          <a:p xmlns:a="http://schemas.openxmlformats.org/drawingml/2006/main">
            <a:r>
              <a:t/>
            </a:r>
          </a:p>
          <a:p xmlns:a="http://schemas.openxmlformats.org/drawingml/2006/main">
            <a:r>
              <a:t>EXPLAIN</a:t>
            </a:r>
          </a:p>
          <a:p xmlns:a="http://schemas.openxmlformats.org/drawingml/2006/main">
            <a:r>
              <a:t>Read a labelled table and select rows.</a:t>
            </a:r>
          </a:p>
          <a:p xmlns:a="http://schemas.openxmlformats.org/drawingml/2006/main">
            <a:r>
              <a:t/>
            </a:r>
          </a:p>
          <a:p xmlns:a="http://schemas.openxmlformats.org/drawingml/2006/main">
            <a:r>
              <a:t>Calculate column summaries and grouped totals.</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NumPy broadcasting, broad Kaggle searches and twelve-plus-ten independent questions are optional extension. No change of editor is needed.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Connection to the previous lesson.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Previous slide: Today’s learning.</a:t>
            </a:r>
          </a:p>
          <a:p xmlns:a="http://schemas.openxmlformats.org/drawingml/2006/main">
            <a:r>
              <a:t/>
            </a:r>
          </a:p>
          <a:p xmlns:a="http://schemas.openxmlformats.org/drawingml/2006/main">
            <a:r>
              <a:t>EXPLAIN</a:t>
            </a:r>
          </a:p>
          <a:p xmlns:a="http://schemas.openxmlformats.org/drawingml/2006/main">
            <a:r>
              <a:t>Week 4 used lists, dictionaries, loops and CSV rows. pandas keeps these same records in a labelled table and provides operations that work across its columns.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Why this week’s tools are needed.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Previous slide: Connection to the previous lesson.</a:t>
            </a:r>
          </a:p>
          <a:p xmlns:a="http://schemas.openxmlformats.org/drawingml/2006/main">
            <a:r>
              <a:t/>
            </a:r>
          </a:p>
          <a:p xmlns:a="http://schemas.openxmlformats.org/drawingml/2006/main">
            <a:r>
              <a:t>EXPLAIN</a:t>
            </a:r>
          </a:p>
          <a:p xmlns:a="http://schemas.openxmlformats.org/drawingml/2006/main">
            <a:r>
              <a:t>The supplied campus_energy.csv records campus electricity use. We practise pandas on four invented rows first, then inspect the supplied file and its units.</a:t>
            </a:r>
          </a:p>
          <a:p xmlns:a="http://schemas.openxmlformats.org/drawingml/2006/main">
            <a:r>
              <a:t/>
            </a:r>
          </a:p>
          <a:p xmlns:a="http://schemas.openxmlformats.org/drawingml/2006/main">
            <a:r>
              <a:t>LECTURER CUE</a:t>
            </a:r>
          </a:p>
          <a:p xmlns:a="http://schemas.openxmlformats.org/drawingml/2006/main">
            <a:r>
              <a:t>A team records device temperature to investigate cooling. Use a communications cabinet, an electrical enclosure or a robot controller as the physical example. No specialist hardware knowledge is assumed.</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Rows columns and units.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Rows columns and units</a:t>
            </a:r>
          </a:p>
          <a:p xmlns:a="http://schemas.openxmlformats.org/drawingml/2006/main">
            <a:r>
              <a:t/>
            </a:r>
          </a:p>
          <a:p xmlns:a="http://schemas.openxmlformats.org/drawingml/2006/main">
            <a:r>
              <a:t>CONNECT</a:t>
            </a:r>
          </a:p>
          <a:p xmlns:a="http://schemas.openxmlformats.org/drawingml/2006/main">
            <a:r>
              <a:t>Previous slide: Why this week’s tools are needed.</a:t>
            </a:r>
          </a:p>
          <a:p xmlns:a="http://schemas.openxmlformats.org/drawingml/2006/main">
            <a:r>
              <a:t/>
            </a:r>
          </a:p>
          <a:p xmlns:a="http://schemas.openxmlformats.org/drawingml/2006/main">
            <a:r>
              <a:t>EXPLAIN</a:t>
            </a:r>
          </a:p>
          <a:p xmlns:a="http://schemas.openxmlformats.org/drawingml/2006/main">
            <a:r>
              <a:t>A row describes one observation. A column describes one field.</a:t>
            </a:r>
          </a:p>
          <a:p xmlns:a="http://schemas.openxmlformats.org/drawingml/2006/main">
            <a:r>
              <a:t/>
            </a:r>
          </a:p>
          <a:p xmlns:a="http://schemas.openxmlformats.org/drawingml/2006/main">
            <a:r>
              <a:t>A DataFrame is pandas’ labelled table.</a:t>
            </a:r>
          </a:p>
          <a:p xmlns:a="http://schemas.openxmlformats.org/drawingml/2006/main">
            <a:r>
              <a:t/>
            </a:r>
          </a:p>
          <a:p xmlns:a="http://schemas.openxmlformats.org/drawingml/2006/main">
            <a:r>
              <a:t>A Series is one labelled column.</a:t>
            </a:r>
          </a:p>
          <a:p xmlns:a="http://schemas.openxmlformats.org/drawingml/2006/main">
            <a:r>
              <a:t/>
            </a:r>
          </a:p>
          <a:p xmlns:a="http://schemas.openxmlformats.org/drawingml/2006/main">
            <a:r>
              <a:t>kWh measures energy. kW measures power.</a:t>
            </a:r>
          </a:p>
          <a:p xmlns:a="http://schemas.openxmlformats.org/drawingml/2006/main">
            <a:r>
              <a:t/>
            </a:r>
          </a:p>
          <a:p xmlns:a="http://schemas.openxmlformats.org/drawingml/2006/main">
            <a:r>
              <a:t>A data type (dtype) describes the kind of values in a column, such as whole numbers, decimals or text.</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table keeps related observations together.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table keeps related observations together</a:t>
            </a:r>
          </a:p>
          <a:p xmlns:a="http://schemas.openxmlformats.org/drawingml/2006/main">
            <a:r>
              <a:t/>
            </a:r>
          </a:p>
          <a:p xmlns:a="http://schemas.openxmlformats.org/drawingml/2006/main">
            <a:r>
              <a:t>CONNECT</a:t>
            </a:r>
          </a:p>
          <a:p xmlns:a="http://schemas.openxmlformats.org/drawingml/2006/main">
            <a:r>
              <a:t>Previous slide: Rows columns and units.</a:t>
            </a:r>
          </a:p>
          <a:p xmlns:a="http://schemas.openxmlformats.org/drawingml/2006/main">
            <a:r>
              <a:t/>
            </a:r>
          </a:p>
          <a:p xmlns:a="http://schemas.openxmlformats.org/drawingml/2006/main">
            <a:r>
              <a:t>EXPLAIN</a:t>
            </a:r>
          </a:p>
          <a:p xmlns:a="http://schemas.openxmlformats.org/drawingml/2006/main">
            <a:r>
              <a:t>Our four rows record building A twice and building B twice.</a:t>
            </a:r>
          </a:p>
          <a:p xmlns:a="http://schemas.openxmlformats.org/drawingml/2006/main">
            <a:r>
              <a:t/>
            </a:r>
          </a:p>
          <a:p xmlns:a="http://schemas.openxmlformats.org/drawingml/2006/main">
            <a:r>
              <a:t>Each row contains the building label and an energy reading.</a:t>
            </a:r>
          </a:p>
          <a:p xmlns:a="http://schemas.openxmlformats.org/drawingml/2006/main">
            <a:r>
              <a:t/>
            </a:r>
          </a:p>
          <a:p xmlns:a="http://schemas.openxmlformats.org/drawingml/2006/main">
            <a:r>
              <a:t>kWh is energy. kW is power. The units describe different quantities.</a:t>
            </a:r>
          </a:p>
          <a:p xmlns:a="http://schemas.openxmlformats.org/drawingml/2006/main">
            <a:r>
              <a:t/>
            </a:r>
          </a:p>
          <a:p xmlns:a="http://schemas.openxmlformats.org/drawingml/2006/main">
            <a:r>
              <a:t>LECTURER CUE</a:t>
            </a:r>
          </a:p>
          <a:p xmlns:a="http://schemas.openxmlformats.org/drawingml/2006/main">
            <a:r>
              <a:t>Draw a four-row table before running the example. Describe a reading of kWh as energy, and kW as power; the units are different.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Our small energy table.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Our small energy table</a:t>
            </a:r>
          </a:p>
          <a:p xmlns:a="http://schemas.openxmlformats.org/drawingml/2006/main">
            <a:r>
              <a:t/>
            </a:r>
          </a:p>
          <a:p xmlns:a="http://schemas.openxmlformats.org/drawingml/2006/main">
            <a:r>
              <a:t>CONNECT</a:t>
            </a:r>
          </a:p>
          <a:p xmlns:a="http://schemas.openxmlformats.org/drawingml/2006/main">
            <a:r>
              <a:t>Previous slide: A table keeps related observations together.</a:t>
            </a:r>
          </a:p>
          <a:p xmlns:a="http://schemas.openxmlformats.org/drawingml/2006/main">
            <a:r>
              <a:t/>
            </a:r>
          </a:p>
          <a:p xmlns:a="http://schemas.openxmlformats.org/drawingml/2006/main">
            <a:r>
              <a:t>EXPLAIN</a:t>
            </a:r>
          </a:p>
          <a:p xmlns:a="http://schemas.openxmlformats.org/drawingml/2006/main">
            <a:r>
              <a:t>building | kwh</a:t>
            </a:r>
          </a:p>
          <a:p xmlns:a="http://schemas.openxmlformats.org/drawingml/2006/main">
            <a:r>
              <a:t/>
            </a:r>
          </a:p>
          <a:p xmlns:a="http://schemas.openxmlformats.org/drawingml/2006/main">
            <a:r>
              <a:t>A | 2</a:t>
            </a:r>
          </a:p>
          <a:p xmlns:a="http://schemas.openxmlformats.org/drawingml/2006/main">
            <a:r>
              <a:t/>
            </a:r>
          </a:p>
          <a:p xmlns:a="http://schemas.openxmlformats.org/drawingml/2006/main">
            <a:r>
              <a:t>A | 4</a:t>
            </a:r>
          </a:p>
          <a:p xmlns:a="http://schemas.openxmlformats.org/drawingml/2006/main">
            <a:r>
              <a:t/>
            </a:r>
          </a:p>
          <a:p xmlns:a="http://schemas.openxmlformats.org/drawingml/2006/main">
            <a:r>
              <a:t>B | 5</a:t>
            </a:r>
          </a:p>
          <a:p xmlns:a="http://schemas.openxmlformats.org/drawingml/2006/main">
            <a:r>
              <a:t/>
            </a:r>
          </a:p>
          <a:p xmlns:a="http://schemas.openxmlformats.org/drawingml/2006/main">
            <a:r>
              <a:t>B | 7</a:t>
            </a:r>
          </a:p>
          <a:p xmlns:a="http://schemas.openxmlformats.org/drawingml/2006/main">
            <a:r>
              <a:t/>
            </a:r>
          </a:p>
          <a:p xmlns:a="http://schemas.openxmlformats.org/drawingml/2006/main">
            <a:r>
              <a:t>The four observations total 18 kWh.</a:t>
            </a:r>
          </a:p>
          <a:p xmlns:a="http://schemas.openxmlformats.org/drawingml/2006/main">
            <a:r>
              <a:t/>
            </a:r>
          </a:p>
          <a:p xmlns:a="http://schemas.openxmlformats.org/drawingml/2006/main">
            <a:r>
              <a:t>LECTURER CUE</a:t>
            </a:r>
          </a:p>
          <a:p xmlns:a="http://schemas.openxmlformats.org/drawingml/2006/main">
            <a:r>
              <a:t>The four observations total 18 kWh. Their mean is 4.5 kWh. Building totals are A: 6 and B: 12.</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Library and pandas and DataFrame.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Library and pandas and DataFrame</a:t>
            </a:r>
          </a:p>
          <a:p xmlns:a="http://schemas.openxmlformats.org/drawingml/2006/main">
            <a:r>
              <a:t/>
            </a:r>
          </a:p>
          <a:p xmlns:a="http://schemas.openxmlformats.org/drawingml/2006/main">
            <a:r>
              <a:t>CONNECT</a:t>
            </a:r>
          </a:p>
          <a:p xmlns:a="http://schemas.openxmlformats.org/drawingml/2006/main">
            <a:r>
              <a:t>Previous slide: Our small energy table.</a:t>
            </a:r>
          </a:p>
          <a:p xmlns:a="http://schemas.openxmlformats.org/drawingml/2006/main">
            <a:r>
              <a:t/>
            </a:r>
          </a:p>
          <a:p xmlns:a="http://schemas.openxmlformats.org/drawingml/2006/main">
            <a:r>
              <a:t>EXPLAIN</a:t>
            </a:r>
          </a:p>
          <a:p xmlns:a="http://schemas.openxmlformats.org/drawingml/2006/main">
            <a:r>
              <a:t>Library and pandas: A library is reusable code. pandas provides tools for data tables. import pandas as pd makes pd a short name for that library.</a:t>
            </a:r>
          </a:p>
          <a:p xmlns:a="http://schemas.openxmlformats.org/drawingml/2006/main">
            <a:r>
              <a:t/>
            </a:r>
          </a:p>
          <a:p xmlns:a="http://schemas.openxmlformats.org/drawingml/2006/main">
            <a:r>
              <a:t>DataFrame: A table with named columns and indexed rows. df is just the variable name we choose for this table.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labelled table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labelled table in Python</a:t>
            </a:r>
          </a:p>
          <a:p xmlns:a="http://schemas.openxmlformats.org/drawingml/2006/main">
            <a:r>
              <a:t/>
            </a:r>
          </a:p>
          <a:p xmlns:a="http://schemas.openxmlformats.org/drawingml/2006/main">
            <a:r>
              <a:t>CONNECT</a:t>
            </a:r>
          </a:p>
          <a:p xmlns:a="http://schemas.openxmlformats.org/drawingml/2006/main">
            <a:r>
              <a:t>Previous slide: Library and pandas and DataFrame.</a:t>
            </a:r>
          </a:p>
          <a:p xmlns:a="http://schemas.openxmlformats.org/drawingml/2006/main">
            <a:r>
              <a:t/>
            </a:r>
          </a:p>
          <a:p xmlns:a="http://schemas.openxmlformats.org/drawingml/2006/main">
            <a:r>
              <a:t>EXPLAIN</a:t>
            </a:r>
          </a:p>
          <a:p xmlns:a="http://schemas.openxmlformats.org/drawingml/2006/main">
            <a:r>
              <a:t>The illustration uses machinery records. The same row, column and index structure applies to our building-energy table.</a:t>
            </a:r>
          </a:p>
          <a:p xmlns:a="http://schemas.openxmlformats.org/drawingml/2006/main">
            <a:r>
              <a:t/>
            </a:r>
          </a:p>
          <a:p xmlns:a="http://schemas.openxmlformats.org/drawingml/2006/main">
            <a:r>
              <a:t>LECTURER CUE</a:t>
            </a:r>
          </a:p>
          <a:p xmlns:a="http://schemas.openxmlformats.org/drawingml/2006/main">
            <a:r>
              <a:t>Point to one row, column, index and dtype. This maintenance table is illustrative. Work with the issued cohort table next.</a:t>
            </a:r>
          </a:p>
          <a:p xmlns:a="http://schemas.openxmlformats.org/drawingml/2006/main">
            <a:r>
              <a:t>Source: existing course illustration figs/dataframe_anatomy.png.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Series and Method and attribute.</a:t>
            </a:r>
          </a:p>
          <a:p xmlns:a="http://schemas.openxmlformats.org/drawingml/2006/main">
            <a:r>
              <a:t/>
            </a:r>
          </a:p>
          <a:p xmlns:a="http://schemas.openxmlformats.org/drawingml/2006/main">
            <a:r>
              <a:t>REFERENCES</a:t>
            </a:r>
          </a:p>
          <a:p xmlns:a="http://schemas.openxmlformats.org/drawingml/2006/main">
            <a:r>
              <a:t>Source: existing course illustration figs/dataframe_anatomy.png.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Series and Method and attribute</a:t>
            </a:r>
          </a:p>
          <a:p xmlns:a="http://schemas.openxmlformats.org/drawingml/2006/main">
            <a:r>
              <a:t/>
            </a:r>
          </a:p>
          <a:p xmlns:a="http://schemas.openxmlformats.org/drawingml/2006/main">
            <a:r>
              <a:t>CONNECT</a:t>
            </a:r>
          </a:p>
          <a:p xmlns:a="http://schemas.openxmlformats.org/drawingml/2006/main">
            <a:r>
              <a:t>Previous slide: A labelled table in Python.</a:t>
            </a:r>
          </a:p>
          <a:p xmlns:a="http://schemas.openxmlformats.org/drawingml/2006/main">
            <a:r>
              <a:t/>
            </a:r>
          </a:p>
          <a:p xmlns:a="http://schemas.openxmlformats.org/drawingml/2006/main">
            <a:r>
              <a:t>EXPLAIN</a:t>
            </a:r>
          </a:p>
          <a:p xmlns:a="http://schemas.openxmlformats.org/drawingml/2006/main">
            <a:r>
              <a:t>Series: One labelled column. df["kwh"] selects the column named kwh.</a:t>
            </a:r>
          </a:p>
          <a:p xmlns:a="http://schemas.openxmlformats.org/drawingml/2006/main">
            <a:r>
              <a:t/>
            </a:r>
          </a:p>
          <a:p xmlns:a="http://schemas.openxmlformats.org/drawingml/2006/main">
            <a:r>
              <a:t>Method and attribute: A method performs an operation, as in df.head(). An attribute provides a stored property, as in df.shape. Parentheses call an operation.</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Reading pandas syntax.</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Reading pandas syntax</a:t>
            </a:r>
          </a:p>
          <a:p xmlns:a="http://schemas.openxmlformats.org/drawingml/2006/main">
            <a:r>
              <a:t/>
            </a:r>
          </a:p>
          <a:p xmlns:a="http://schemas.openxmlformats.org/drawingml/2006/main">
            <a:r>
              <a:t>CONNECT</a:t>
            </a:r>
          </a:p>
          <a:p xmlns:a="http://schemas.openxmlformats.org/drawingml/2006/main">
            <a:r>
              <a:t>Previous slide: Series and Method and attribute.</a:t>
            </a:r>
          </a:p>
          <a:p xmlns:a="http://schemas.openxmlformats.org/drawingml/2006/main">
            <a:r>
              <a:t/>
            </a:r>
          </a:p>
          <a:p xmlns:a="http://schemas.openxmlformats.org/drawingml/2006/main">
            <a:r>
              <a:t>EXPLAIN</a:t>
            </a:r>
          </a:p>
          <a:p xmlns:a="http://schemas.openxmlformats.org/drawingml/2006/main">
            <a:r>
              <a:t>import pandas as pd loads the library and gives it a short name.</a:t>
            </a:r>
          </a:p>
          <a:p xmlns:a="http://schemas.openxmlformats.org/drawingml/2006/main">
            <a:r>
              <a:t/>
            </a:r>
          </a:p>
          <a:p xmlns:a="http://schemas.openxmlformats.org/drawingml/2006/main">
            <a:r>
              <a:t>pd.read_csv("file.csv") calls a function. The quoted text is the file path.</a:t>
            </a:r>
          </a:p>
          <a:p xmlns:a="http://schemas.openxmlformats.org/drawingml/2006/main">
            <a:r>
              <a:t/>
            </a:r>
          </a:p>
          <a:p xmlns:a="http://schemas.openxmlformats.org/drawingml/2006/main">
            <a:r>
              <a:t>df["kwh"] selects a column. df["kwh"].mean() calls a method on that column.</a:t>
            </a:r>
          </a:p>
          <a:p xmlns:a="http://schemas.openxmlformats.org/drawingml/2006/main">
            <a:r>
              <a:t/>
            </a:r>
          </a:p>
          <a:p xmlns:a="http://schemas.openxmlformats.org/drawingml/2006/main">
            <a:r>
              <a:t>LECTURER CUE</a:t>
            </a:r>
          </a:p>
          <a:p xmlns:a="http://schemas.openxmlformats.org/drawingml/2006/main">
            <a:r>
              <a:t>Replace file.csv with the actual issued filename. Explain library, alias, function and method before running the worked example.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the table constructor in stages.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the table constructor in stages</a:t>
            </a:r>
          </a:p>
          <a:p xmlns:a="http://schemas.openxmlformats.org/drawingml/2006/main">
            <a:r>
              <a:t/>
            </a:r>
          </a:p>
          <a:p xmlns:a="http://schemas.openxmlformats.org/drawingml/2006/main">
            <a:r>
              <a:t>CONNECT</a:t>
            </a:r>
          </a:p>
          <a:p xmlns:a="http://schemas.openxmlformats.org/drawingml/2006/main">
            <a:r>
              <a:t>Previous slide: Reading pandas syntax.</a:t>
            </a:r>
          </a:p>
          <a:p xmlns:a="http://schemas.openxmlformats.org/drawingml/2006/main">
            <a:r>
              <a:t/>
            </a:r>
          </a:p>
          <a:p xmlns:a="http://schemas.openxmlformats.org/drawingml/2006/main">
            <a:r>
              <a:t>EXPLAIN</a:t>
            </a:r>
          </a:p>
          <a:p xmlns:a="http://schemas.openxmlformats.org/drawingml/2006/main">
            <a:r>
              <a:t>import pandas as pd loads pandas and gives it the shorter name pd. This is an alias; you could use another name consistently.</a:t>
            </a:r>
          </a:p>
          <a:p xmlns:a="http://schemas.openxmlformats.org/drawingml/2006/main">
            <a:r>
              <a:t/>
            </a:r>
          </a:p>
          <a:p xmlns:a="http://schemas.openxmlformats.org/drawingml/2006/main">
            <a:r>
              <a:t>Inside pd.DataFrame(...), the dictionary keys become column names. Each list supplies that column’s values in row order.</a:t>
            </a:r>
          </a:p>
          <a:p xmlns:a="http://schemas.openxmlformats.org/drawingml/2006/main">
            <a:r>
              <a:t/>
            </a:r>
          </a:p>
          <a:p xmlns:a="http://schemas.openxmlformats.org/drawingml/2006/main">
            <a:r>
              <a:t>All these column lists have the same length. At position 0, building is "A" and kwh is 2; together they form the first row.</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Build the table before asking questions.</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Build the table before asking questions</a:t>
            </a:r>
          </a:p>
          <a:p xmlns:a="http://schemas.openxmlformats.org/drawingml/2006/main">
            <a:r>
              <a:t/>
            </a:r>
          </a:p>
          <a:p xmlns:a="http://schemas.openxmlformats.org/drawingml/2006/main">
            <a:r>
              <a:t>CONNECT</a:t>
            </a:r>
          </a:p>
          <a:p xmlns:a="http://schemas.openxmlformats.org/drawingml/2006/main">
            <a:r>
              <a:t>Previous slide: Read the table constructor in stages.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import pandas as pd</a:t>
            </a:r>
          </a:p>
          <a:p xmlns:a="http://schemas.openxmlformats.org/drawingml/2006/main">
            <a:r>
              <a:t>df = pd.DataFrame({"building": ["A", "A", "B", "B"],</a:t>
            </a:r>
          </a:p>
          <a:p xmlns:a="http://schemas.openxmlformats.org/drawingml/2006/main">
            <a:r>
              <a:t>                   "kwh": [2, 4, 5, 7]})</a:t>
            </a:r>
          </a:p>
          <a:p xmlns:a="http://schemas.openxmlformats.org/drawingml/2006/main">
            <a:r>
              <a:t>print(df)</a:t>
            </a:r>
          </a:p>
          <a:p xmlns:a="http://schemas.openxmlformats.org/drawingml/2006/main">
            <a:r>
              <a:t/>
            </a:r>
          </a:p>
          <a:p xmlns:a="http://schemas.openxmlformats.org/drawingml/2006/main">
            <a:r>
              <a:t>import loads a library. from selects a tool from it.</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LECTURER CUE</a:t>
            </a:r>
          </a:p>
          <a:p xmlns:a="http://schemas.openxmlformats.org/drawingml/2006/main">
            <a:r>
              <a:t>Each dictionary key becomes a column name. Equal-length lists supply its rows.</a:t>
            </a:r>
          </a:p>
          <a:p xmlns:a="http://schemas.openxmlformats.org/drawingml/2006/main">
            <a:r>
              <a:t/>
            </a:r>
          </a:p>
          <a:p xmlns:a="http://schemas.openxmlformats.org/drawingml/2006/main">
            <a:r>
              <a:t>Complete practice code:</a:t>
            </a:r>
          </a:p>
          <a:p xmlns:a="http://schemas.openxmlformats.org/drawingml/2006/main">
            <a:r>
              <a:t>import pandas as pd</a:t>
            </a:r>
          </a:p>
          <a:p xmlns:a="http://schemas.openxmlformats.org/drawingml/2006/main">
            <a:r>
              <a:t>df = pd.DataFrame({"building": ["A", "A", "B", "B"],</a:t>
            </a:r>
          </a:p>
          <a:p xmlns:a="http://schemas.openxmlformats.org/drawingml/2006/main">
            <a:r>
              <a:t>                   "kwh": [2, 4, 5, 7]})</a:t>
            </a:r>
          </a:p>
          <a:p xmlns:a="http://schemas.openxmlformats.org/drawingml/2006/main">
            <a:r>
              <a:t>print(df)</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 first then summarise.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 first then summarise</a:t>
            </a:r>
          </a:p>
          <a:p xmlns:a="http://schemas.openxmlformats.org/drawingml/2006/main">
            <a:r>
              <a:t/>
            </a:r>
          </a:p>
          <a:p xmlns:a="http://schemas.openxmlformats.org/drawingml/2006/main">
            <a:r>
              <a:t>CONNECT</a:t>
            </a:r>
          </a:p>
          <a:p xmlns:a="http://schemas.openxmlformats.org/drawingml/2006/main">
            <a:r>
              <a:t>Previous slide: Build the table before asking questions.</a:t>
            </a:r>
          </a:p>
          <a:p xmlns:a="http://schemas.openxmlformats.org/drawingml/2006/main">
            <a:r>
              <a:t/>
            </a:r>
          </a:p>
          <a:p xmlns:a="http://schemas.openxmlformats.org/drawingml/2006/main">
            <a:r>
              <a:t>EXPLAIN</a:t>
            </a:r>
          </a:p>
          <a:p xmlns:a="http://schemas.openxmlformats.org/drawingml/2006/main">
            <a:r>
              <a:t>df["kwh"] selects the energy column as a Series, which is a labelled sequence of values. Its entries are 2, 4, 5 and 7.</a:t>
            </a:r>
          </a:p>
          <a:p xmlns:a="http://schemas.openxmlformats.org/drawingml/2006/main">
            <a:r>
              <a:t/>
            </a:r>
          </a:p>
          <a:p xmlns:a="http://schemas.openxmlformats.org/drawingml/2006/main">
            <a:r>
              <a:t>Store it as energy = df["kwh"]. energy.mean() adds those four values and divides by four: 18 / 4 = 4.5.</a:t>
            </a:r>
          </a:p>
          <a:p xmlns:a="http://schemas.openxmlformats.org/drawingml/2006/main">
            <a:r>
              <a:t/>
            </a:r>
          </a:p>
          <a:p xmlns:a="http://schemas.openxmlformats.org/drawingml/2006/main">
            <a:r>
              <a:t>df["kwh"].mean() combines those same two steps. A dot chooses a method; parentheses call it.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Select a column and calculate its mean.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Select a column and calculate its mean</a:t>
            </a:r>
          </a:p>
          <a:p xmlns:a="http://schemas.openxmlformats.org/drawingml/2006/main">
            <a:r>
              <a:t/>
            </a:r>
          </a:p>
          <a:p xmlns:a="http://schemas.openxmlformats.org/drawingml/2006/main">
            <a:r>
              <a:t>CONNECT</a:t>
            </a:r>
          </a:p>
          <a:p xmlns:a="http://schemas.openxmlformats.org/drawingml/2006/main">
            <a:r>
              <a:t>Previous slide: Select first then summarise.</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print(df["kwh"])</a:t>
            </a:r>
          </a:p>
          <a:p xmlns:a="http://schemas.openxmlformats.org/drawingml/2006/main">
            <a:r>
              <a:t>print(df["kwh"].mean())</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The four numbers are 2, 4, 5 and 7. Their mean is 18 / 4 = 4.5 kWh.</a:t>
            </a:r>
          </a:p>
          <a:p xmlns:a="http://schemas.openxmlformats.org/drawingml/2006/main">
            <a:r>
              <a:t/>
            </a:r>
          </a:p>
          <a:p xmlns:a="http://schemas.openxmlformats.org/drawingml/2006/main">
            <a:r>
              <a:t>LECTURER CUE</a:t>
            </a:r>
          </a:p>
          <a:p xmlns:a="http://schemas.openxmlformats.org/drawingml/2006/main">
            <a:r>
              <a:t>The four numbers are 2, 4, 5 and 7. Their mean is 18 / 4 = 4.5 kWh.</a:t>
            </a:r>
          </a:p>
          <a:p xmlns:a="http://schemas.openxmlformats.org/drawingml/2006/main">
            <a:r>
              <a:t/>
            </a:r>
          </a:p>
          <a:p xmlns:a="http://schemas.openxmlformats.org/drawingml/2006/main">
            <a:r>
              <a:t>Complete practice code:</a:t>
            </a:r>
          </a:p>
          <a:p xmlns:a="http://schemas.openxmlformats.org/drawingml/2006/main">
            <a:r>
              <a:t>print(df["kwh"])</a:t>
            </a:r>
          </a:p>
          <a:p xmlns:a="http://schemas.openxmlformats.org/drawingml/2006/main">
            <a:r>
              <a:t>print(df["kwh"].mean())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Mask and filter.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Mask and filter</a:t>
            </a:r>
          </a:p>
          <a:p xmlns:a="http://schemas.openxmlformats.org/drawingml/2006/main">
            <a:r>
              <a:t/>
            </a:r>
          </a:p>
          <a:p xmlns:a="http://schemas.openxmlformats.org/drawingml/2006/main">
            <a:r>
              <a:t>CONNECT</a:t>
            </a:r>
          </a:p>
          <a:p xmlns:a="http://schemas.openxmlformats.org/drawingml/2006/main">
            <a:r>
              <a:t>Previous slide: Select a column and calculate its mean.</a:t>
            </a:r>
          </a:p>
          <a:p xmlns:a="http://schemas.openxmlformats.org/drawingml/2006/main">
            <a:r>
              <a:t/>
            </a:r>
          </a:p>
          <a:p xmlns:a="http://schemas.openxmlformats.org/drawingml/2006/main">
            <a:r>
              <a:t>EXPLAIN</a:t>
            </a:r>
          </a:p>
          <a:p xmlns:a="http://schemas.openxmlformats.org/drawingml/2006/main">
            <a:r>
              <a:t>Mask and filter: A comparison produces True/False for each row. df[mask] keeps the True rows.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 comparison creates a Boolean mask.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comparison creates a Boolean mask</a:t>
            </a:r>
          </a:p>
          <a:p xmlns:a="http://schemas.openxmlformats.org/drawingml/2006/main">
            <a:r>
              <a:t/>
            </a:r>
          </a:p>
          <a:p xmlns:a="http://schemas.openxmlformats.org/drawingml/2006/main">
            <a:r>
              <a:t>CONNECT</a:t>
            </a:r>
          </a:p>
          <a:p xmlns:a="http://schemas.openxmlformats.org/drawingml/2006/main">
            <a:r>
              <a:t>Previous slide: Mask and filter.</a:t>
            </a:r>
          </a:p>
          <a:p xmlns:a="http://schemas.openxmlformats.org/drawingml/2006/main">
            <a:r>
              <a:t/>
            </a:r>
          </a:p>
          <a:p xmlns:a="http://schemas.openxmlformats.org/drawingml/2006/main">
            <a:r>
              <a:t>EXPLAIN</a:t>
            </a:r>
          </a:p>
          <a:p xmlns:a="http://schemas.openxmlformats.org/drawingml/2006/main">
            <a:r>
              <a:t>The illustration filters torque readings. Our next example applies the same True/False selection to kWh values.</a:t>
            </a:r>
          </a:p>
          <a:p xmlns:a="http://schemas.openxmlformats.org/drawingml/2006/main">
            <a:r>
              <a:t/>
            </a:r>
          </a:p>
          <a:p xmlns:a="http://schemas.openxmlformats.org/drawingml/2006/main">
            <a:r>
              <a:t>LECTURER CUE</a:t>
            </a:r>
          </a:p>
          <a:p xmlns:a="http://schemas.openxmlformats.org/drawingml/2006/main">
            <a:r>
              <a:t>Read &gt; as greater than, then trace one row through the mask. Selection does not delete the source rows. 40 is a practice threshold, not a safety standard.</a:t>
            </a:r>
          </a:p>
          <a:p xmlns:a="http://schemas.openxmlformats.org/drawingml/2006/main">
            <a:r>
              <a:t>Source: existing course illustration figs/boolean_mask.png. These are illustrative examples, not this cohort’s assessed results.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Keep rows where the comparison is true.</a:t>
            </a:r>
          </a:p>
          <a:p xmlns:a="http://schemas.openxmlformats.org/drawingml/2006/main">
            <a:r>
              <a:t/>
            </a:r>
          </a:p>
          <a:p xmlns:a="http://schemas.openxmlformats.org/drawingml/2006/main">
            <a:r>
              <a:t>REFERENCES</a:t>
            </a:r>
          </a:p>
          <a:p xmlns:a="http://schemas.openxmlformats.org/drawingml/2006/main">
            <a:r>
              <a:t>Source: existing course illustration figs/boolean_mask.png. These are illustrative examples, not this cohort’s assessed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 rows where the comparison is true</a:t>
            </a:r>
          </a:p>
          <a:p xmlns:a="http://schemas.openxmlformats.org/drawingml/2006/main">
            <a:r>
              <a:t/>
            </a:r>
          </a:p>
          <a:p xmlns:a="http://schemas.openxmlformats.org/drawingml/2006/main">
            <a:r>
              <a:t>CONNECT</a:t>
            </a:r>
          </a:p>
          <a:p xmlns:a="http://schemas.openxmlformats.org/drawingml/2006/main">
            <a:r>
              <a:t>Previous slide: A comparison creates a Boolean mask.</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mask = df["kwh"] &gt; 4</a:t>
            </a:r>
          </a:p>
          <a:p xmlns:a="http://schemas.openxmlformats.org/drawingml/2006/main">
            <a:r>
              <a:t>print(mask)</a:t>
            </a:r>
          </a:p>
          <a:p xmlns:a="http://schemas.openxmlformats.org/drawingml/2006/main">
            <a:r>
              <a:t>print(df[mask])</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The mask is False, False, True, True. The selected rows contain 5 and 7 kWh.</a:t>
            </a:r>
          </a:p>
          <a:p xmlns:a="http://schemas.openxmlformats.org/drawingml/2006/main">
            <a:r>
              <a:t/>
            </a:r>
          </a:p>
          <a:p xmlns:a="http://schemas.openxmlformats.org/drawingml/2006/main">
            <a:r>
              <a:t>LECTURER CUE</a:t>
            </a:r>
          </a:p>
          <a:p xmlns:a="http://schemas.openxmlformats.org/drawingml/2006/main">
            <a:r>
              <a:t>The mask is False, False, True, True. The selected rows contain 5 and 7 kWh.</a:t>
            </a:r>
          </a:p>
          <a:p xmlns:a="http://schemas.openxmlformats.org/drawingml/2006/main">
            <a:r>
              <a:t/>
            </a:r>
          </a:p>
          <a:p xmlns:a="http://schemas.openxmlformats.org/drawingml/2006/main">
            <a:r>
              <a:t>Complete practice code:</a:t>
            </a:r>
          </a:p>
          <a:p xmlns:a="http://schemas.openxmlformats.org/drawingml/2006/main">
            <a:r>
              <a:t>mask = df["kwh"] &gt; 4</a:t>
            </a:r>
          </a:p>
          <a:p xmlns:a="http://schemas.openxmlformats.org/drawingml/2006/main">
            <a:r>
              <a:t>print(mask)</a:t>
            </a:r>
          </a:p>
          <a:p xmlns:a="http://schemas.openxmlformats.org/drawingml/2006/main">
            <a:r>
              <a:t>print(df[mask])</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groupby and aggregation.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groupby and aggregation</a:t>
            </a:r>
          </a:p>
          <a:p xmlns:a="http://schemas.openxmlformats.org/drawingml/2006/main">
            <a:r>
              <a:t/>
            </a:r>
          </a:p>
          <a:p xmlns:a="http://schemas.openxmlformats.org/drawingml/2006/main">
            <a:r>
              <a:t>CONNECT</a:t>
            </a:r>
          </a:p>
          <a:p xmlns:a="http://schemas.openxmlformats.org/drawingml/2006/main">
            <a:r>
              <a:t>Previous slide: Keep rows where the comparison is true.</a:t>
            </a:r>
          </a:p>
          <a:p xmlns:a="http://schemas.openxmlformats.org/drawingml/2006/main">
            <a:r>
              <a:t/>
            </a:r>
          </a:p>
          <a:p xmlns:a="http://schemas.openxmlformats.org/drawingml/2006/main">
            <a:r>
              <a:t>EXPLAIN</a:t>
            </a:r>
          </a:p>
          <a:p xmlns:a="http://schemas.openxmlformats.org/drawingml/2006/main">
            <a:r>
              <a:t>groupby and aggregation: groupby collects rows with the same label. An aggregation such as sum or mean returns a summary for each group.</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Trace a group total before using groupby.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Trace a group total before using groupby</a:t>
            </a:r>
          </a:p>
          <a:p xmlns:a="http://schemas.openxmlformats.org/drawingml/2006/main">
            <a:r>
              <a:t/>
            </a:r>
          </a:p>
          <a:p xmlns:a="http://schemas.openxmlformats.org/drawingml/2006/main">
            <a:r>
              <a:t>CONNECT</a:t>
            </a:r>
          </a:p>
          <a:p xmlns:a="http://schemas.openxmlformats.org/drawingml/2006/main">
            <a:r>
              <a:t>Previous slide: groupby and aggregation.</a:t>
            </a:r>
          </a:p>
          <a:p xmlns:a="http://schemas.openxmlformats.org/drawingml/2006/main">
            <a:r>
              <a:t/>
            </a:r>
          </a:p>
          <a:p xmlns:a="http://schemas.openxmlformats.org/drawingml/2006/main">
            <a:r>
              <a:t>EXPLAIN</a:t>
            </a:r>
          </a:p>
          <a:p xmlns:a="http://schemas.openxmlformats.org/drawingml/2006/main">
            <a:r>
              <a:t>Group | Values assigned to it | Total</a:t>
            </a:r>
          </a:p>
          <a:p xmlns:a="http://schemas.openxmlformats.org/drawingml/2006/main">
            <a:r>
              <a:t/>
            </a:r>
          </a:p>
          <a:p xmlns:a="http://schemas.openxmlformats.org/drawingml/2006/main">
            <a:r>
              <a:t>A | 2 and 4 | 6</a:t>
            </a:r>
          </a:p>
          <a:p xmlns:a="http://schemas.openxmlformats.org/drawingml/2006/main">
            <a:r>
              <a:t/>
            </a:r>
          </a:p>
          <a:p xmlns:a="http://schemas.openxmlformats.org/drawingml/2006/main">
            <a:r>
              <a:t>B | 5 and 7 | 12</a:t>
            </a:r>
          </a:p>
          <a:p xmlns:a="http://schemas.openxmlformats.org/drawingml/2006/main">
            <a:r>
              <a:t/>
            </a:r>
          </a:p>
          <a:p xmlns:a="http://schemas.openxmlformats.org/drawingml/2006/main">
            <a:r>
              <a:t>groupby separates rows by the building label. sum adds the kWh values inside each group.</a:t>
            </a:r>
          </a:p>
          <a:p xmlns:a="http://schemas.openxmlformats.org/drawingml/2006/main">
            <a:r>
              <a:t/>
            </a:r>
          </a:p>
          <a:p xmlns:a="http://schemas.openxmlformats.org/drawingml/2006/main">
            <a:r>
              <a:t>Read the rows in order. groupby separates rows by the building label. sum adds the kWh values inside each group.</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Read each step of a pandas chain.</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Read each step of a pandas chain</a:t>
            </a:r>
          </a:p>
          <a:p xmlns:a="http://schemas.openxmlformats.org/drawingml/2006/main">
            <a:r>
              <a:t/>
            </a:r>
          </a:p>
          <a:p xmlns:a="http://schemas.openxmlformats.org/drawingml/2006/main">
            <a:r>
              <a:t>CONNECT</a:t>
            </a:r>
          </a:p>
          <a:p xmlns:a="http://schemas.openxmlformats.org/drawingml/2006/main">
            <a:r>
              <a:t>Previous slide: Trace a group total before using groupby.</a:t>
            </a:r>
          </a:p>
          <a:p xmlns:a="http://schemas.openxmlformats.org/drawingml/2006/main">
            <a:r>
              <a:t/>
            </a:r>
          </a:p>
          <a:p xmlns:a="http://schemas.openxmlformats.org/drawingml/2006/main">
            <a:r>
              <a:t>EXPLAIN</a:t>
            </a:r>
          </a:p>
          <a:p xmlns:a="http://schemas.openxmlformats.org/drawingml/2006/main">
            <a:r>
              <a:t>groups = df.groupby("building") describes groups of rows with matching building labels.</a:t>
            </a:r>
          </a:p>
          <a:p xmlns:a="http://schemas.openxmlformats.org/drawingml/2006/main">
            <a:r>
              <a:t/>
            </a:r>
          </a:p>
          <a:p xmlns:a="http://schemas.openxmlformats.org/drawingml/2006/main">
            <a:r>
              <a:t>energy_groups = groups["kwh"] selects the energy values within those groups. totals = energy_groups.sum() calculates one total per group.</a:t>
            </a:r>
          </a:p>
          <a:p xmlns:a="http://schemas.openxmlformats.org/drawingml/2006/main">
            <a:r>
              <a:t/>
            </a:r>
          </a:p>
          <a:p xmlns:a="http://schemas.openxmlformats.org/drawingml/2006/main">
            <a:r>
              <a:t>df.groupby("building")["kwh"].sum() is the same sequence written on one line. Read it from left to right.</a:t>
            </a:r>
          </a:p>
          <a:p xmlns:a="http://schemas.openxmlformats.org/drawingml/2006/main">
            <a:r>
              <a:t/>
            </a:r>
          </a:p>
          <a:p xmlns:a="http://schemas.openxmlformats.org/drawingml/2006/main">
            <a:r>
              <a:t/>
            </a:r>
          </a:p>
          <a:p xmlns:a="http://schemas.openxmlformats.org/drawingml/2006/main">
            <a:r>
              <a:t/>
            </a:r>
          </a:p>
          <a:p xmlns:a="http://schemas.openxmlformats.org/drawingml/2006/main">
            <a:r>
              <a:t>Reference: https://docs.python.org/3/tutorial/introduction.html and https://docs.python.org/3/tutorial/controlflow.html; original teaching examples.</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Calculate one total for each building.</a:t>
            </a:r>
          </a:p>
          <a:p xmlns:a="http://schemas.openxmlformats.org/drawingml/2006/main">
            <a:r>
              <a:t/>
            </a:r>
          </a:p>
          <a:p xmlns:a="http://schemas.openxmlformats.org/drawingml/2006/main">
            <a:r>
              <a:t>REFERENCES</a:t>
            </a:r>
          </a:p>
          <a:p xmlns:a="http://schemas.openxmlformats.org/drawingml/2006/main">
            <a:r>
              <a:t>Reference: https://docs.python.org/3/tutorial/introduction.html and https://docs.python.org/3/tutorial/controlflow.html; original teaching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Calculate one total for each building</a:t>
            </a:r>
          </a:p>
          <a:p xmlns:a="http://schemas.openxmlformats.org/drawingml/2006/main">
            <a:r>
              <a:t/>
            </a:r>
          </a:p>
          <a:p xmlns:a="http://schemas.openxmlformats.org/drawingml/2006/main">
            <a:r>
              <a:t>CONNECT</a:t>
            </a:r>
          </a:p>
          <a:p xmlns:a="http://schemas.openxmlformats.org/drawingml/2006/main">
            <a:r>
              <a:t>Previous slide: Read each step of a pandas chain.</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print(df.groupby("building")["kwh"].sum())</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Expected: A totals 6 kWh; B totals 12 kWh.</a:t>
            </a:r>
          </a:p>
          <a:p xmlns:a="http://schemas.openxmlformats.org/drawingml/2006/main">
            <a:r>
              <a:t/>
            </a:r>
          </a:p>
          <a:p xmlns:a="http://schemas.openxmlformats.org/drawingml/2006/main">
            <a:r>
              <a:t>LECTURER CUE</a:t>
            </a:r>
          </a:p>
          <a:p xmlns:a="http://schemas.openxmlformats.org/drawingml/2006/main">
            <a:r>
              <a:t>Expected: A totals 6 kWh; B totals 12 kWh.</a:t>
            </a:r>
          </a:p>
          <a:p xmlns:a="http://schemas.openxmlformats.org/drawingml/2006/main">
            <a:r>
              <a:t/>
            </a:r>
          </a:p>
          <a:p xmlns:a="http://schemas.openxmlformats.org/drawingml/2006/main">
            <a:r>
              <a:t>Complete practice code:</a:t>
            </a:r>
          </a:p>
          <a:p xmlns:a="http://schemas.openxmlformats.org/drawingml/2006/main">
            <a:r>
              <a:t>print(df.groupby("building")["kwh"].sum())</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Expected output.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tables and summaries results</a:t>
            </a:r>
          </a:p>
          <a:p xmlns:a="http://schemas.openxmlformats.org/drawingml/2006/main">
            <a:r>
              <a:t/>
            </a:r>
          </a:p>
          <a:p xmlns:a="http://schemas.openxmlformats.org/drawingml/2006/main">
            <a:r>
              <a:t>CONNECT</a:t>
            </a:r>
          </a:p>
          <a:p xmlns:a="http://schemas.openxmlformats.org/drawingml/2006/main">
            <a:r>
              <a:t>Previous slide: Calculate one total for each building.</a:t>
            </a:r>
          </a:p>
          <a:p xmlns:a="http://schemas.openxmlformats.org/drawingml/2006/main">
            <a:r>
              <a:t/>
            </a:r>
          </a:p>
          <a:p xmlns:a="http://schemas.openxmlformats.org/drawingml/2006/main">
            <a:r>
              <a:t>EXPLAIN</a:t>
            </a:r>
          </a:p>
          <a:p xmlns:a="http://schemas.openxmlformats.org/drawingml/2006/main">
            <a:r>
              <a:t>Mean 4.5. The filter keeps B rows with 5 and 7. Group totals: A = 6, B = 12 kWh.</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Unique labels and the largest group.</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a:t>
            </a:r>
          </a:p>
          <a:p xmlns:a="http://schemas.openxmlformats.org/drawingml/2006/main">
            <a:r>
              <a:t/>
            </a:r>
          </a:p>
          <a:p xmlns:a="http://schemas.openxmlformats.org/drawingml/2006/main">
            <a:r>
              <a:t>CONNECT</a:t>
            </a:r>
          </a:p>
          <a:p xmlns:a="http://schemas.openxmlformats.org/drawingml/2006/main">
            <a:r>
              <a:t>Previous slide: pandas tables and summaries results.</a:t>
            </a:r>
          </a:p>
          <a:p xmlns:a="http://schemas.openxmlformats.org/drawingml/2006/main">
            <a:r>
              <a:t/>
            </a:r>
          </a:p>
          <a:p xmlns:a="http://schemas.openxmlformats.org/drawingml/2006/main">
            <a:r>
              <a:t>EXPLAIN</a:t>
            </a:r>
          </a:p>
          <a:p xmlns:a="http://schemas.openxmlformats.org/drawingml/2006/main">
            <a:r>
              <a:t>nunique counts distinct labels, not rows. idxmax returns the label of the largest total.</a:t>
            </a:r>
          </a:p>
          <a:p xmlns:a="http://schemas.openxmlformats.org/drawingml/2006/main">
            <a:r>
              <a:t/>
            </a:r>
          </a:p>
          <a:p xmlns:a="http://schemas.openxmlformats.org/drawingml/2006/main">
            <a:r>
              <a:t>Here there is no tie.</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Unique labels and the largest group in Python.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Unique labels and the largest group in Python</a:t>
            </a:r>
          </a:p>
          <a:p xmlns:a="http://schemas.openxmlformats.org/drawingml/2006/main">
            <a:r>
              <a:t/>
            </a:r>
          </a:p>
          <a:p xmlns:a="http://schemas.openxmlformats.org/drawingml/2006/main">
            <a:r>
              <a:t>CONNECT</a:t>
            </a:r>
          </a:p>
          <a:p xmlns:a="http://schemas.openxmlformats.org/drawingml/2006/main">
            <a:r>
              <a:t>Previous slide: Unique labels and the largest group.</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print(df["building"].nunique())</a:t>
            </a:r>
          </a:p>
          <a:p xmlns:a="http://schemas.openxmlformats.org/drawingml/2006/main">
            <a:r>
              <a:t>totals = df.groupby("building")["kwh"].sum()</a:t>
            </a:r>
          </a:p>
          <a:p xmlns:a="http://schemas.openxmlformats.org/drawingml/2006/main">
            <a:r>
              <a:t>print(totals.idxmax())</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CUE</a:t>
            </a:r>
          </a:p>
          <a:p xmlns:a="http://schemas.openxmlformats.org/drawingml/2006/main">
            <a:r>
              <a:t>nunique counts distinct labels, not rows. idxmax returns the label of the largest total. Here there is no tie.</a:t>
            </a:r>
          </a:p>
          <a:p xmlns:a="http://schemas.openxmlformats.org/drawingml/2006/main">
            <a:r>
              <a:t/>
            </a:r>
          </a:p>
          <a:p xmlns:a="http://schemas.openxmlformats.org/drawingml/2006/main">
            <a:r>
              <a:t>Complete practice code:</a:t>
            </a:r>
          </a:p>
          <a:p xmlns:a="http://schemas.openxmlformats.org/drawingml/2006/main">
            <a:r>
              <a:t>print(df["building"].nunique())</a:t>
            </a:r>
          </a:p>
          <a:p xmlns:a="http://schemas.openxmlformats.org/drawingml/2006/main">
            <a:r>
              <a:t>totals = df.groupby("building")["kwh"].sum()</a:t>
            </a:r>
          </a:p>
          <a:p xmlns:a="http://schemas.openxmlformats.org/drawingml/2006/main">
            <a:r>
              <a:t>print(totals.idxmax())</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Create a column from two existing columns.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Create a column from two existing columns</a:t>
            </a:r>
          </a:p>
          <a:p xmlns:a="http://schemas.openxmlformats.org/drawingml/2006/main">
            <a:r>
              <a:t/>
            </a:r>
          </a:p>
          <a:p xmlns:a="http://schemas.openxmlformats.org/drawingml/2006/main">
            <a:r>
              <a:t>CONNECT</a:t>
            </a:r>
          </a:p>
          <a:p xmlns:a="http://schemas.openxmlformats.org/drawingml/2006/main">
            <a:r>
              <a:t>Previous slide: Unique labels and the largest group in Python.</a:t>
            </a:r>
          </a:p>
          <a:p xmlns:a="http://schemas.openxmlformats.org/drawingml/2006/main">
            <a:r>
              <a:t/>
            </a:r>
          </a:p>
          <a:p xmlns:a="http://schemas.openxmlformats.org/drawingml/2006/main">
            <a:r>
              <a:t>EXPLAIN</a:t>
            </a:r>
          </a:p>
          <a:p xmlns:a="http://schemas.openxmlformats.org/drawingml/2006/main">
            <a:r>
              <a:t>A new column can store a calculation for every row. Division pairs the values in matching rows.</a:t>
            </a:r>
          </a:p>
          <a:p xmlns:a="http://schemas.openxmlformats.org/drawingml/2006/main">
            <a:r>
              <a:t/>
            </a:r>
          </a:p>
          <a:p xmlns:a="http://schemas.openxmlformats.org/drawingml/2006/main">
            <a:r>
              <a:t>For this invented table all energy values are positive. UGX is Uganda shillings. Cost divided by energy has units UGX/kWh.</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An energy rate is cost divided by energy.</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An energy rate is cost divided by energy</a:t>
            </a:r>
          </a:p>
          <a:p xmlns:a="http://schemas.openxmlformats.org/drawingml/2006/main">
            <a:r>
              <a:t/>
            </a:r>
          </a:p>
          <a:p xmlns:a="http://schemas.openxmlformats.org/drawingml/2006/main">
            <a:r>
              <a:t>CONNECT</a:t>
            </a:r>
          </a:p>
          <a:p xmlns:a="http://schemas.openxmlformats.org/drawingml/2006/main">
            <a:r>
              <a:t>Previous slide: Create a column from two existing columns.</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df["cost_ugx"] = [1000, 2400, 3500, 5600]</a:t>
            </a:r>
          </a:p>
          <a:p xmlns:a="http://schemas.openxmlformats.org/drawingml/2006/main">
            <a:r>
              <a:t>df["rate_ugx_per_kwh"] = df["cost_ugx"] / df["kwh"]</a:t>
            </a:r>
          </a:p>
          <a:p xmlns:a="http://schemas.openxmlformats.org/drawingml/2006/main">
            <a:r>
              <a:t>print(df["rate_ugx_per_kwh"])</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Square brackets create a list or select an item.</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Expected rates: 500, 600, 700 and 800 UGX/kWh. Keep units in column names.</a:t>
            </a:r>
          </a:p>
          <a:p xmlns:a="http://schemas.openxmlformats.org/drawingml/2006/main">
            <a:r>
              <a:t/>
            </a:r>
          </a:p>
          <a:p xmlns:a="http://schemas.openxmlformats.org/drawingml/2006/main">
            <a:r>
              <a:t>LECTURER CUE</a:t>
            </a:r>
          </a:p>
          <a:p xmlns:a="http://schemas.openxmlformats.org/drawingml/2006/main">
            <a:r>
              <a:t>Expected rates: 500, 600, 700 and 800 UGX/kWh. Keep units in column names.</a:t>
            </a:r>
          </a:p>
          <a:p xmlns:a="http://schemas.openxmlformats.org/drawingml/2006/main">
            <a:r>
              <a:t/>
            </a:r>
          </a:p>
          <a:p xmlns:a="http://schemas.openxmlformats.org/drawingml/2006/main">
            <a:r>
              <a:t>Complete practice code:</a:t>
            </a:r>
          </a:p>
          <a:p xmlns:a="http://schemas.openxmlformats.org/drawingml/2006/main">
            <a:r>
              <a:t>df["cost_ugx"] = [1000, 2400, 3500, 5600]</a:t>
            </a:r>
          </a:p>
          <a:p xmlns:a="http://schemas.openxmlformats.org/drawingml/2006/main">
            <a:r>
              <a:t>df["rate_ugx_per_kwh"] = df["cost_ugx"] / df["kwh"]</a:t>
            </a:r>
          </a:p>
          <a:p xmlns:a="http://schemas.openxmlformats.org/drawingml/2006/main">
            <a:r>
              <a:t>print(df["rate_ugx_per_kwh"])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Load the assignment table before analysing it.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Load the assignment table before analysing it</a:t>
            </a:r>
          </a:p>
          <a:p xmlns:a="http://schemas.openxmlformats.org/drawingml/2006/main">
            <a:r>
              <a:t/>
            </a:r>
          </a:p>
          <a:p xmlns:a="http://schemas.openxmlformats.org/drawingml/2006/main">
            <a:r>
              <a:t>CONNECT</a:t>
            </a:r>
          </a:p>
          <a:p xmlns:a="http://schemas.openxmlformats.org/drawingml/2006/main">
            <a:r>
              <a:t>Previous slide: An energy rate is cost divided by energy.</a:t>
            </a:r>
          </a:p>
          <a:p xmlns:a="http://schemas.openxmlformats.org/drawingml/2006/main">
            <a:r>
              <a:t/>
            </a:r>
          </a:p>
          <a:p xmlns:a="http://schemas.openxmlformats.org/drawingml/2006/main">
            <a:r>
              <a:t>EXPLAIN</a:t>
            </a:r>
          </a:p>
          <a:p xmlns:a="http://schemas.openxmlformats.org/drawingml/2006/main">
            <a:r>
              <a:t>Upload campus_energy.csv to the current runtime first. read_csv reads it into a new DataFrame.</a:t>
            </a:r>
          </a:p>
          <a:p xmlns:a="http://schemas.openxmlformats.org/drawingml/2006/main">
            <a:r>
              <a:t/>
            </a:r>
          </a:p>
          <a:p xmlns:a="http://schemas.openxmlformats.org/drawingml/2006/main">
            <a:r>
              <a:t>head() displays the first five rows; shape gives row and column counts; dtypes shows column data types.</a:t>
            </a:r>
          </a:p>
          <a:p xmlns:a="http://schemas.openxmlformats.org/drawingml/2006/main">
            <a:r>
              <a:t/>
            </a:r>
          </a:p>
          <a:p xmlns:a="http://schemas.openxmlformats.org/drawingml/2006/main">
            <a:r>
              <a:t>We call this issued_table to keep it separate from the invented four-row df used above.</a:t>
            </a:r>
          </a:p>
          <a:p xmlns:a="http://schemas.openxmlformats.org/drawingml/2006/main">
            <a:r>
              <a:t/>
            </a:r>
          </a:p>
          <a:p xmlns:a="http://schemas.openxmlformats.org/drawingml/2006/main">
            <a:r>
              <a:t>LECTURER CUE</a:t>
            </a:r>
          </a:p>
          <a:p xmlns:a="http://schemas.openxmlformats.org/drawingml/2006/main">
            <a:r>
              <a:t>Explain the definitions before running or tracing the example. Point to the line or table row that produces each result.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Inspect the supplied energy file.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Inspect the supplied energy file</a:t>
            </a:r>
          </a:p>
          <a:p xmlns:a="http://schemas.openxmlformats.org/drawingml/2006/main">
            <a:r>
              <a:t/>
            </a:r>
          </a:p>
          <a:p xmlns:a="http://schemas.openxmlformats.org/drawingml/2006/main">
            <a:r>
              <a:t>CONNECT</a:t>
            </a:r>
          </a:p>
          <a:p xmlns:a="http://schemas.openxmlformats.org/drawingml/2006/main">
            <a:r>
              <a:t>Previous slide: Load the assignment table before analysing it.</a:t>
            </a:r>
          </a:p>
          <a:p xmlns:a="http://schemas.openxmlformats.org/drawingml/2006/main">
            <a:r>
              <a:t/>
            </a:r>
          </a:p>
          <a:p xmlns:a="http://schemas.openxmlformats.org/drawingml/2006/main">
            <a:r>
              <a:t>EXPLAIN</a:t>
            </a:r>
          </a:p>
          <a:p xmlns:a="http://schemas.openxmlformats.org/drawingml/2006/main">
            <a:r>
              <a:t>Read the code in this order:</a:t>
            </a:r>
          </a:p>
          <a:p xmlns:a="http://schemas.openxmlformats.org/drawingml/2006/main">
            <a:r>
              <a:t>issued_table = pd.read_csv("campus_energy.csv")</a:t>
            </a:r>
          </a:p>
          <a:p xmlns:a="http://schemas.openxmlformats.org/drawingml/2006/main">
            <a:r>
              <a:t>print(issued_table.head())</a:t>
            </a:r>
          </a:p>
          <a:p xmlns:a="http://schemas.openxmlformats.org/drawingml/2006/main">
            <a:r>
              <a:t>print(issued_table.shape)</a:t>
            </a:r>
          </a:p>
          <a:p xmlns:a="http://schemas.openxmlformats.org/drawingml/2006/main">
            <a:r>
              <a:t>print(issued_table.dtypes)</a:t>
            </a:r>
          </a:p>
          <a:p xmlns:a="http://schemas.openxmlformats.org/drawingml/2006/main">
            <a:r>
              <a:t/>
            </a:r>
          </a:p>
          <a:p xmlns:a="http://schemas.openxmlformats.org/drawingml/2006/main">
            <a:r>
              <a:t>print displays a value below the cell.</a:t>
            </a:r>
          </a:p>
          <a:p xmlns:a="http://schemas.openxmlformats.org/drawingml/2006/main">
            <a:r>
              <a:t/>
            </a:r>
          </a:p>
          <a:p xmlns:a="http://schemas.openxmlformats.org/drawingml/2006/main">
            <a:r>
              <a:t>= assigns the value on the right to the name on the left.</a:t>
            </a:r>
          </a:p>
          <a:p xmlns:a="http://schemas.openxmlformats.org/drawingml/2006/main">
            <a:r>
              <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LECTURER CUE</a:t>
            </a:r>
          </a:p>
          <a:p xmlns:a="http://schemas.openxmlformats.org/drawingml/2006/main">
            <a:r>
              <a:t>Check column names, data types and units before attempting the six issued tasks.</a:t>
            </a:r>
          </a:p>
          <a:p xmlns:a="http://schemas.openxmlformats.org/drawingml/2006/main">
            <a:r>
              <a:t/>
            </a:r>
          </a:p>
          <a:p xmlns:a="http://schemas.openxmlformats.org/drawingml/2006/main">
            <a:r>
              <a:t>Complete practice code:</a:t>
            </a:r>
          </a:p>
          <a:p xmlns:a="http://schemas.openxmlformats.org/drawingml/2006/main">
            <a:r>
              <a:t>issued_table = pd.read_csv("campus_energy.csv")</a:t>
            </a:r>
          </a:p>
          <a:p xmlns:a="http://schemas.openxmlformats.org/drawingml/2006/main">
            <a:r>
              <a:t>print(issued_table.head())</a:t>
            </a:r>
          </a:p>
          <a:p xmlns:a="http://schemas.openxmlformats.org/drawingml/2006/main">
            <a:r>
              <a:t>print(issued_table.shape)</a:t>
            </a:r>
          </a:p>
          <a:p xmlns:a="http://schemas.openxmlformats.org/drawingml/2006/main">
            <a:r>
              <a:t>print(issued_table.dtypes)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Revision example and answer.</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Previous slide: Inspect the supplied energy file.</a:t>
            </a:r>
          </a:p>
          <a:p xmlns:a="http://schemas.openxmlformats.org/drawingml/2006/main">
            <a:r>
              <a:t/>
            </a:r>
          </a:p>
          <a:p xmlns:a="http://schemas.openxmlformats.org/drawingml/2006/main">
            <a:r>
              <a:t>EXPLAIN</a:t>
            </a:r>
          </a:p>
          <a:p xmlns:a="http://schemas.openxmlformats.org/drawingml/2006/main">
            <a:r>
              <a:t>Example: Use &gt; 5 instead. Predict the surviving rows. Which building has the largest total?</a:t>
            </a:r>
          </a:p>
          <a:p xmlns:a="http://schemas.openxmlformats.org/drawingml/2006/main">
            <a:r>
              <a:t/>
            </a:r>
          </a:p>
          <a:p xmlns:a="http://schemas.openxmlformats.org/drawingml/2006/main">
            <a:r>
              <a:t>Answer: Only the row with 7 survives. Building B has the larger total, 12 kWh.</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Only the row with 7 survives. Building B has the larger total, 12 kWh.</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Preparing for the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Previous slide: Revision example and answer.</a:t>
            </a:r>
          </a:p>
          <a:p xmlns:a="http://schemas.openxmlformats.org/drawingml/2006/main">
            <a:r>
              <a:t/>
            </a:r>
          </a:p>
          <a:p xmlns:a="http://schemas.openxmlformats.org/drawingml/2006/main">
            <a:r>
              <a:t>EXPLAIN</a:t>
            </a:r>
          </a:p>
          <a:p xmlns:a="http://schemas.openxmlformats.org/drawingml/2006/main">
            <a:r>
              <a:t>A5 uses the supplied fictional campus_energy.csv, not a live Kaggle download.</a:t>
            </a:r>
          </a:p>
          <a:p xmlns:a="http://schemas.openxmlformats.org/drawingml/2006/main">
            <a:r>
              <a:t/>
            </a:r>
          </a:p>
          <a:p xmlns:a="http://schemas.openxmlformats.org/drawingml/2006/main">
            <a:r>
              <a:t>The six tasks use read_csv, nunique, division of columns, a &gt; filter, mean and grouped totals. idxmax returns the label of the largest value.</a:t>
            </a:r>
          </a:p>
          <a:p xmlns:a="http://schemas.openxmlformats.org/drawingml/2006/main">
            <a:r>
              <a:t/>
            </a:r>
          </a:p>
          <a:p xmlns:a="http://schemas.openxmlformats.org/drawingml/2006/main">
            <a:r>
              <a:t>A mean of individual rates gives each observation equal weight.</a:t>
            </a:r>
          </a:p>
          <a:p xmlns:a="http://schemas.openxmlformats.org/drawingml/2006/main">
            <a:r>
              <a:t/>
            </a:r>
          </a:p>
          <a:p xmlns:a="http://schemas.openxmlformats.org/drawingml/2006/main">
            <a:r>
              <a:t>Total cost divided by total energy weights by energy.</a:t>
            </a:r>
          </a:p>
          <a:p xmlns:a="http://schemas.openxmlformats.org/drawingml/2006/main">
            <a:r>
              <a:t/>
            </a:r>
          </a:p>
          <a:p xmlns:a="http://schemas.openxmlformats.org/drawingml/2006/main">
            <a:r>
              <a:t>LECTURER CUE</a:t>
            </a:r>
          </a:p>
          <a:p xmlns:a="http://schemas.openxmlformats.org/drawingml/2006/main">
            <a:r>
              <a:t>A5 uses the supplied fictional campus_energy.csv, not a live Kaggle download. Teach read_csv, nunique, division of columns, &gt; filtering, mean and groupby(...).sum().idxmax() before the six public tasks. idxmax returns the label of the largest value. Explain how a rate differs from a total and how a mean of rates differs from a total-cost/total-energy ratio.</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types and filters.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a:t>
            </a:r>
          </a:p>
          <a:p xmlns:a="http://schemas.openxmlformats.org/drawingml/2006/main">
            <a:r>
              <a:t/>
            </a:r>
          </a:p>
          <a:p xmlns:a="http://schemas.openxmlformats.org/drawingml/2006/main">
            <a:r>
              <a:t>CONNECT</a:t>
            </a:r>
          </a:p>
          <a:p xmlns:a="http://schemas.openxmlformats.org/drawingml/2006/main">
            <a:r>
              <a:t>Previous slide: Preparing for the assignment.</a:t>
            </a:r>
          </a:p>
          <a:p xmlns:a="http://schemas.openxmlformats.org/drawingml/2006/main">
            <a:r>
              <a:t/>
            </a:r>
          </a:p>
          <a:p xmlns:a="http://schemas.openxmlformats.org/drawingml/2006/main">
            <a:r>
              <a:t>EXPLAIN</a:t>
            </a:r>
          </a:p>
          <a:p xmlns:a="http://schemas.openxmlformats.org/drawingml/2006/main">
            <a:r>
              <a:t>A Boolean mask is a list-like column of True/False values. len(mask) counts all rows; mask.sum() counts True entries.</a:t>
            </a:r>
          </a:p>
          <a:p xmlns:a="http://schemas.openxmlformats.org/drawingml/2006/main">
            <a:r>
              <a:t/>
            </a:r>
          </a:p>
          <a:p xmlns:a="http://schemas.openxmlformats.org/drawingml/2006/main">
            <a:r>
              <a:t>Strings sort as text, so "9" can rank above "100".</a:t>
            </a:r>
          </a:p>
          <a:p xmlns:a="http://schemas.openxmlformats.org/drawingml/2006/main">
            <a:r>
              <a:t/>
            </a:r>
          </a:p>
          <a:p xmlns:a="http://schemas.openxmlformats.org/drawingml/2006/main">
            <a:r>
              <a:t>Inspect numeric types before taking maxima.</a:t>
            </a:r>
          </a:p>
          <a:p xmlns:a="http://schemas.openxmlformats.org/drawingml/2006/main">
            <a:r>
              <a:t/>
            </a:r>
          </a:p>
          <a:p xmlns:a="http://schemas.openxmlformats.org/drawingml/2006/main">
            <a:r>
              <a:t>KeyError often means the column name does not match; check spelling, case and spaces. shape is (rows, columns).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Data types and filters continued.</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Data types and filters continued</a:t>
            </a:r>
          </a:p>
          <a:p xmlns:a="http://schemas.openxmlformats.org/drawingml/2006/main">
            <a:r>
              <a:t/>
            </a:r>
          </a:p>
          <a:p xmlns:a="http://schemas.openxmlformats.org/drawingml/2006/main">
            <a:r>
              <a:t>CONNECT</a:t>
            </a:r>
          </a:p>
          <a:p xmlns:a="http://schemas.openxmlformats.org/drawingml/2006/main">
            <a:r>
              <a:t>Previous slide: Data types and filters.</a:t>
            </a:r>
          </a:p>
          <a:p xmlns:a="http://schemas.openxmlformats.org/drawingml/2006/main">
            <a:r>
              <a:t/>
            </a:r>
          </a:p>
          <a:p xmlns:a="http://schemas.openxmlformats.org/drawingml/2006/main">
            <a:r>
              <a:t>EXPLAIN</a:t>
            </a:r>
          </a:p>
          <a:p xmlns:a="http://schemas.openxmlformats.org/drawingml/2006/main">
            <a:r>
              <a:t>Read provenance and units before trusting a dataset.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Your issued assignment.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assignment</a:t>
            </a:r>
          </a:p>
          <a:p xmlns:a="http://schemas.openxmlformats.org/drawingml/2006/main">
            <a:r>
              <a:t/>
            </a:r>
          </a:p>
          <a:p xmlns:a="http://schemas.openxmlformats.org/drawingml/2006/main">
            <a:r>
              <a:t>CONNECT</a:t>
            </a:r>
          </a:p>
          <a:p xmlns:a="http://schemas.openxmlformats.org/drawingml/2006/main">
            <a:r>
              <a:t>Previous slide: Data types and filters continued.</a:t>
            </a:r>
          </a:p>
          <a:p xmlns:a="http://schemas.openxmlformats.org/drawingml/2006/main">
            <a:r>
              <a:t/>
            </a:r>
          </a:p>
          <a:p xmlns:a="http://schemas.openxmlformats.org/drawingml/2006/main">
            <a:r>
              <a:t>EXPLAIN</a:t>
            </a:r>
          </a:p>
          <a:p xmlns:a="http://schemas.openxmlformats.org/drawingml/2006/main">
            <a:r>
              <a:t>Open W05_student.ipynb.</a:t>
            </a:r>
          </a:p>
          <a:p xmlns:a="http://schemas.openxmlformats.org/drawingml/2006/main">
            <a:r>
              <a:t/>
            </a:r>
          </a:p>
          <a:p xmlns:a="http://schemas.openxmlformats.org/drawingml/2006/main">
            <a:r>
              <a:t>Read every task and its input units before coding.</a:t>
            </a:r>
          </a:p>
          <a:p xmlns:a="http://schemas.openxmlformats.org/drawingml/2006/main">
            <a:r>
              <a:t/>
            </a:r>
          </a:p>
          <a:p xmlns:a="http://schemas.openxmlformats.org/drawingml/2006/main">
            <a:r>
              <a:t>Keep the required function names and returned outputs.</a:t>
            </a:r>
          </a:p>
          <a:p xmlns:a="http://schemas.openxmlformats.org/drawingml/2006/main">
            <a:r>
              <a:t/>
            </a:r>
          </a:p>
          <a:p xmlns:a="http://schemas.openxmlformats.org/drawingml/2006/main">
            <a:r>
              <a:t>Run the supplied visible checks, then restart and run all.</a:t>
            </a:r>
          </a:p>
          <a:p xmlns:a="http://schemas.openxmlformats.org/drawingml/2006/main">
            <a:r>
              <a:t/>
            </a:r>
          </a:p>
          <a:p xmlns:a="http://schemas.openxmlformats.org/drawingml/2006/main">
            <a:r>
              <a:t>LECTURER CUE</a:t>
            </a:r>
          </a:p>
          <a:p xmlns:a="http://schemas.openxmlformats.org/drawingml/2006/main">
            <a:r>
              <a:t># W05: pandas: load, filter, group</a:t>
            </a:r>
          </a:p>
          <a:p xmlns:a="http://schemas.openxmlformats.org/drawingml/2006/main">
            <a:r>
              <a:t>CML3111. Complete each named output. Save as STUDENT_ID_W05.ipynb.</a:t>
            </a:r>
          </a:p>
          <a:p xmlns:a="http://schemas.openxmlformats.org/drawingml/2006/main">
            <a:r>
              <a:t>## q1: 3 marks</a:t>
            </a:r>
          </a:p>
          <a:p xmlns:a="http://schemas.openxmlformats.org/drawingml/2006/main">
            <a:r>
              <a:t>Load campus_energy.csv into a DataFrame called df.</a:t>
            </a:r>
          </a:p>
          <a:p xmlns:a="http://schemas.openxmlformats.org/drawingml/2006/main">
            <a:r>
              <a:t>## q2: 3 marks</a:t>
            </a:r>
          </a:p>
          <a:p xmlns:a="http://schemas.openxmlformats.org/drawingml/2006/main">
            <a:r>
              <a:t>Set n_meters to the number of distinct meters in the file.</a:t>
            </a:r>
          </a:p>
          <a:p xmlns:a="http://schemas.openxmlformats.org/drawingml/2006/main">
            <a:r>
              <a:t>## q3: 4 marks</a:t>
            </a:r>
          </a:p>
          <a:p xmlns:a="http://schemas.openxmlformats.org/drawingml/2006/main">
            <a:r>
              <a:t>Add a column cost_per_kwh to df, equal to cost_ugx / kwh.</a:t>
            </a:r>
          </a:p>
          <a:p xmlns:a="http://schemas.openxmlformats.org/drawingml/2006/main">
            <a:r>
              <a:t>## q4: 4 marks</a:t>
            </a:r>
          </a:p>
          <a:p xmlns:a="http://schemas.openxmlformats.org/drawingml/2006/main">
            <a:r>
              <a:t>Set high_use to the rows of df where kwh is greater than 5000. Do this after q3 so the derived column comes along.</a:t>
            </a:r>
          </a:p>
          <a:p xmlns:a="http://schemas.openxmlformats.org/drawingml/2006/main">
            <a:r>
              <a:t>## q5: 3 marks</a:t>
            </a:r>
          </a:p>
          <a:p xmlns:a="http://schemas.openxmlformats.org/drawingml/2006/main">
            <a:r>
              <a:t>Set mean_cost_per_kwh to the mean of the cost_per_kwh column.</a:t>
            </a:r>
          </a:p>
          <a:p xmlns:a="http://schemas.openxmlformats.org/drawingml/2006/main">
            <a:r>
              <a:t>## q6: 3 marks</a:t>
            </a:r>
          </a:p>
          <a:p xmlns:a="http://schemas.openxmlformats.org/drawingml/2006/main">
            <a:r>
              <a:t>Set peak_building to the name of the building with the highest total kwh.</a:t>
            </a:r>
          </a:p>
          <a:p xmlns:a="http://schemas.openxmlformats.org/drawingml/2006/main">
            <a:r>
              <a:t>Restart and Run All, then save your named notebook. Practice check results are feedback; the submitted notebook is graded independently.</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q1: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q1: 3 marks</a:t>
            </a:r>
          </a:p>
          <a:p xmlns:a="http://schemas.openxmlformats.org/drawingml/2006/main">
            <a:r>
              <a:t/>
            </a:r>
          </a:p>
          <a:p xmlns:a="http://schemas.openxmlformats.org/drawingml/2006/main">
            <a:r>
              <a:t>CONNECT</a:t>
            </a:r>
          </a:p>
          <a:p xmlns:a="http://schemas.openxmlformats.org/drawingml/2006/main">
            <a:r>
              <a:t>Previous slide: Your issued assignment.</a:t>
            </a:r>
          </a:p>
          <a:p xmlns:a="http://schemas.openxmlformats.org/drawingml/2006/main">
            <a:r>
              <a:t/>
            </a:r>
          </a:p>
          <a:p xmlns:a="http://schemas.openxmlformats.org/drawingml/2006/main">
            <a:r>
              <a:t>EXPLAIN</a:t>
            </a:r>
          </a:p>
          <a:p xmlns:a="http://schemas.openxmlformats.org/drawingml/2006/main">
            <a:r>
              <a:t>Load campus_energy.csv into a DataFrame called df.</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q2: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q2: 3 marks</a:t>
            </a:r>
          </a:p>
          <a:p xmlns:a="http://schemas.openxmlformats.org/drawingml/2006/main">
            <a:r>
              <a:t/>
            </a:r>
          </a:p>
          <a:p xmlns:a="http://schemas.openxmlformats.org/drawingml/2006/main">
            <a:r>
              <a:t>CONNECT</a:t>
            </a:r>
          </a:p>
          <a:p xmlns:a="http://schemas.openxmlformats.org/drawingml/2006/main">
            <a:r>
              <a:t>Previous slide: q1: 3 marks.</a:t>
            </a:r>
          </a:p>
          <a:p xmlns:a="http://schemas.openxmlformats.org/drawingml/2006/main">
            <a:r>
              <a:t/>
            </a:r>
          </a:p>
          <a:p xmlns:a="http://schemas.openxmlformats.org/drawingml/2006/main">
            <a:r>
              <a:t>EXPLAIN</a:t>
            </a:r>
          </a:p>
          <a:p xmlns:a="http://schemas.openxmlformats.org/drawingml/2006/main">
            <a:r>
              <a:t>Set n_meters to the number of distinct meters in the file.</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q3: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q3: 4 marks</a:t>
            </a:r>
          </a:p>
          <a:p xmlns:a="http://schemas.openxmlformats.org/drawingml/2006/main">
            <a:r>
              <a:t/>
            </a:r>
          </a:p>
          <a:p xmlns:a="http://schemas.openxmlformats.org/drawingml/2006/main">
            <a:r>
              <a:t>CONNECT</a:t>
            </a:r>
          </a:p>
          <a:p xmlns:a="http://schemas.openxmlformats.org/drawingml/2006/main">
            <a:r>
              <a:t>Previous slide: q2: 3 marks.</a:t>
            </a:r>
          </a:p>
          <a:p xmlns:a="http://schemas.openxmlformats.org/drawingml/2006/main">
            <a:r>
              <a:t/>
            </a:r>
          </a:p>
          <a:p xmlns:a="http://schemas.openxmlformats.org/drawingml/2006/main">
            <a:r>
              <a:t>EXPLAIN</a:t>
            </a:r>
          </a:p>
          <a:p xmlns:a="http://schemas.openxmlformats.org/drawingml/2006/main">
            <a:r>
              <a:t>Add a column cost_per_kwh to df, equal to cost_ugx / kwh.</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q4: 4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q4: 4 marks</a:t>
            </a:r>
          </a:p>
          <a:p xmlns:a="http://schemas.openxmlformats.org/drawingml/2006/main">
            <a:r>
              <a:t/>
            </a:r>
          </a:p>
          <a:p xmlns:a="http://schemas.openxmlformats.org/drawingml/2006/main">
            <a:r>
              <a:t>CONNECT</a:t>
            </a:r>
          </a:p>
          <a:p xmlns:a="http://schemas.openxmlformats.org/drawingml/2006/main">
            <a:r>
              <a:t>Previous slide: q3: 4 marks.</a:t>
            </a:r>
          </a:p>
          <a:p xmlns:a="http://schemas.openxmlformats.org/drawingml/2006/main">
            <a:r>
              <a:t/>
            </a:r>
          </a:p>
          <a:p xmlns:a="http://schemas.openxmlformats.org/drawingml/2006/main">
            <a:r>
              <a:t>EXPLAIN</a:t>
            </a:r>
          </a:p>
          <a:p xmlns:a="http://schemas.openxmlformats.org/drawingml/2006/main">
            <a:r>
              <a:t>Set high_use to the rows of df where kwh is greater than 5000.</a:t>
            </a:r>
          </a:p>
          <a:p xmlns:a="http://schemas.openxmlformats.org/drawingml/2006/main">
            <a:r>
              <a:t/>
            </a:r>
          </a:p>
          <a:p xmlns:a="http://schemas.openxmlformats.org/drawingml/2006/main">
            <a:r>
              <a:t>Do this after q3 so the derived column comes along.</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q5: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q5: 3 marks</a:t>
            </a:r>
          </a:p>
          <a:p xmlns:a="http://schemas.openxmlformats.org/drawingml/2006/main">
            <a:r>
              <a:t/>
            </a:r>
          </a:p>
          <a:p xmlns:a="http://schemas.openxmlformats.org/drawingml/2006/main">
            <a:r>
              <a:t>CONNECT</a:t>
            </a:r>
          </a:p>
          <a:p xmlns:a="http://schemas.openxmlformats.org/drawingml/2006/main">
            <a:r>
              <a:t>Previous slide: q4: 4 marks.</a:t>
            </a:r>
          </a:p>
          <a:p xmlns:a="http://schemas.openxmlformats.org/drawingml/2006/main">
            <a:r>
              <a:t/>
            </a:r>
          </a:p>
          <a:p xmlns:a="http://schemas.openxmlformats.org/drawingml/2006/main">
            <a:r>
              <a:t>EXPLAIN</a:t>
            </a:r>
          </a:p>
          <a:p xmlns:a="http://schemas.openxmlformats.org/drawingml/2006/main">
            <a:r>
              <a:t>Set mean_cost_per_kwh to the mean of the cost_per_kwh column.</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q6: 3 marks.</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q6: 3 marks</a:t>
            </a:r>
          </a:p>
          <a:p xmlns:a="http://schemas.openxmlformats.org/drawingml/2006/main">
            <a:r>
              <a:t/>
            </a:r>
          </a:p>
          <a:p xmlns:a="http://schemas.openxmlformats.org/drawingml/2006/main">
            <a:r>
              <a:t>CONNECT</a:t>
            </a:r>
          </a:p>
          <a:p xmlns:a="http://schemas.openxmlformats.org/drawingml/2006/main">
            <a:r>
              <a:t>Previous slide: q5: 3 marks.</a:t>
            </a:r>
          </a:p>
          <a:p xmlns:a="http://schemas.openxmlformats.org/drawingml/2006/main">
            <a:r>
              <a:t/>
            </a:r>
          </a:p>
          <a:p xmlns:a="http://schemas.openxmlformats.org/drawingml/2006/main">
            <a:r>
              <a:t>EXPLAIN</a:t>
            </a:r>
          </a:p>
          <a:p xmlns:a="http://schemas.openxmlformats.org/drawingml/2006/main">
            <a:r>
              <a:t>Set peak_building to the name of the building with the highest total kwh.</a:t>
            </a:r>
          </a:p>
          <a:p xmlns:a="http://schemas.openxmlformats.org/drawingml/2006/main">
            <a:r>
              <a:t/>
            </a:r>
          </a:p>
          <a:p xmlns:a="http://schemas.openxmlformats.org/drawingml/2006/main">
            <a:r>
              <a:t>LECTURER CUE</a:t>
            </a:r>
          </a:p>
          <a:p xmlns:a="http://schemas.openxmlformats.org/drawingml/2006/main">
            <a:r>
              <a:t>Read the specific public requirement shown on this slide. Explain the input, output and evidence before independent work; do not work the assessed answer for the class.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Pandas investigation submission.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Pandas investigation submission</a:t>
            </a:r>
          </a:p>
          <a:p xmlns:a="http://schemas.openxmlformats.org/drawingml/2006/main">
            <a:r>
              <a:t/>
            </a:r>
          </a:p>
          <a:p xmlns:a="http://schemas.openxmlformats.org/drawingml/2006/main">
            <a:r>
              <a:t>CONNECT</a:t>
            </a:r>
          </a:p>
          <a:p xmlns:a="http://schemas.openxmlformats.org/drawingml/2006/main">
            <a:r>
              <a:t>Previous slide: q6: 3 marks.</a:t>
            </a:r>
          </a:p>
          <a:p xmlns:a="http://schemas.openxmlformats.org/drawingml/2006/main">
            <a:r>
              <a:t/>
            </a:r>
          </a:p>
          <a:p xmlns:a="http://schemas.openxmlformats.org/drawingml/2006/main">
            <a:r>
              <a:t>EXPLAIN</a:t>
            </a:r>
          </a:p>
          <a:p xmlns:a="http://schemas.openxmlformats.org/drawingml/2006/main">
            <a:r>
              <a:t>Opens: 07 Oct 2026, 11:00 Kampala</a:t>
            </a:r>
          </a:p>
          <a:p xmlns:a="http://schemas.openxmlformats.org/drawingml/2006/main">
            <a:r>
              <a:t/>
            </a:r>
          </a:p>
          <a:p xmlns:a="http://schemas.openxmlformats.org/drawingml/2006/main">
            <a:r>
              <a:t>Deadline: 16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Project preparation.</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Project preparation</a:t>
            </a:r>
          </a:p>
          <a:p xmlns:a="http://schemas.openxmlformats.org/drawingml/2006/main">
            <a:r>
              <a:t/>
            </a:r>
          </a:p>
          <a:p xmlns:a="http://schemas.openxmlformats.org/drawingml/2006/main">
            <a:r>
              <a:t>CONNECT</a:t>
            </a:r>
          </a:p>
          <a:p xmlns:a="http://schemas.openxmlformats.org/drawingml/2006/main">
            <a:r>
              <a:t>Previous slide: Pandas investigation submission.</a:t>
            </a:r>
          </a:p>
          <a:p xmlns:a="http://schemas.openxmlformats.org/drawingml/2006/main">
            <a:r>
              <a:t/>
            </a:r>
          </a:p>
          <a:p xmlns:a="http://schemas.openxmlformats.org/drawingml/2006/main">
            <a:r>
              <a:t>EXPLAIN</a:t>
            </a:r>
          </a:p>
          <a:p xmlns:a="http://schemas.openxmlformats.org/drawingml/2006/main">
            <a:r>
              <a:t>Use the published data analysis project brief.</a:t>
            </a:r>
          </a:p>
          <a:p xmlns:a="http://schemas.openxmlformats.org/drawingml/2006/main">
            <a:r>
              <a:t/>
            </a:r>
          </a:p>
          <a:p xmlns:a="http://schemas.openxmlformats.org/drawingml/2006/main">
            <a:r>
              <a:t>Build the evidence gradually in your project notebook.</a:t>
            </a:r>
          </a:p>
          <a:p xmlns:a="http://schemas.openxmlformats.org/drawingml/2006/main">
            <a:r>
              <a:t/>
            </a:r>
          </a:p>
          <a:p xmlns:a="http://schemas.openxmlformats.org/drawingml/2006/main">
            <a:r>
              <a:t>Keep raw data, labelled charts, run instructions and individual contributions.</a:t>
            </a:r>
          </a:p>
          <a:p xmlns:a="http://schemas.openxmlformats.org/drawingml/2006/main">
            <a:r>
              <a:t/>
            </a:r>
          </a:p>
          <a:p xmlns:a="http://schemas.openxmlformats.org/drawingml/2006/main">
            <a:r>
              <a:t>Published deadline: 30 Oct 2026, 11:00 Kampala</a:t>
            </a:r>
          </a:p>
          <a:p xmlns:a="http://schemas.openxmlformats.org/drawingml/2006/main">
            <a:r>
              <a:t/>
            </a:r>
          </a:p>
          <a:p xmlns:a="http://schemas.openxmlformats.org/drawingml/2006/main">
            <a:r>
              <a:t>LECTURER CUE</a:t>
            </a:r>
          </a:p>
          <a:p xmlns:a="http://schemas.openxmlformats.org/drawingml/2006/main">
            <a:r>
              <a:t>Explain the released brief now. Confirm its grading-release checks before assigning it. Avoid treating weekly practice as a substitute for the project evidence. The project brief remains authoritative.</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5 quiz.</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5 quiz</a:t>
            </a:r>
          </a:p>
          <a:p xmlns:a="http://schemas.openxmlformats.org/drawingml/2006/main">
            <a:r>
              <a:t/>
            </a:r>
          </a:p>
          <a:p xmlns:a="http://schemas.openxmlformats.org/drawingml/2006/main">
            <a:r>
              <a:t>CONNECT</a:t>
            </a:r>
          </a:p>
          <a:p xmlns:a="http://schemas.openxmlformats.org/drawingml/2006/main">
            <a:r>
              <a:t>Previous slide: Project preparation.</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CUE</a:t>
            </a:r>
          </a:p>
          <a:p xmlns:a="http://schemas.openxmlformats.org/drawingml/2006/main">
            <a:r>
              <a:t>Activate the matching open_W5_CML3111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Week 5 support.</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5 support</a:t>
            </a:r>
          </a:p>
          <a:p xmlns:a="http://schemas.openxmlformats.org/drawingml/2006/main">
            <a:r>
              <a:t/>
            </a:r>
          </a:p>
          <a:p xmlns:a="http://schemas.openxmlformats.org/drawingml/2006/main">
            <a:r>
              <a:t>CONNECT</a:t>
            </a:r>
          </a:p>
          <a:p xmlns:a="http://schemas.openxmlformats.org/drawingml/2006/main">
            <a:r>
              <a:t>Previous slide: Week 5 quiz.</a:t>
            </a:r>
          </a:p>
          <a:p xmlns:a="http://schemas.openxmlformats.org/drawingml/2006/main">
            <a:r>
              <a:t/>
            </a:r>
          </a:p>
          <a:p xmlns:a="http://schemas.openxmlformats.org/drawingml/2006/main">
            <a:r>
              <a:t>EXPLAIN</a:t>
            </a:r>
          </a:p>
          <a:p xmlns:a="http://schemas.openxmlformats.org/drawingml/2006/main">
            <a:r>
              <a:t>Friday 9 October has no normal class.</a:t>
            </a:r>
          </a:p>
          <a:p xmlns:a="http://schemas.openxmlformats.org/drawingml/2006/main">
            <a:r>
              <a:t/>
            </a:r>
          </a:p>
          <a:p xmlns:a="http://schemas.openxmlformats.org/drawingml/2006/main">
            <a:r>
              <a:t>The lecturer will announce a supported replacement session or recording with a clinic.</a:t>
            </a:r>
          </a:p>
          <a:p xmlns:a="http://schemas.openxmlformats.org/drawingml/2006/main">
            <a:r>
              <a:t/>
            </a:r>
          </a:p>
          <a:p xmlns:a="http://schemas.openxmlformats.org/drawingml/2006/main">
            <a:r>
              <a:t>Week 6 starts with 30 minutes of consolidation.</a:t>
            </a:r>
          </a:p>
          <a:p xmlns:a="http://schemas.openxmlformats.org/drawingml/2006/main">
            <a:r>
              <a:t/>
            </a:r>
          </a:p>
          <a:p xmlns:a="http://schemas.openxmlformats.org/drawingml/2006/main">
            <a:r>
              <a:t>LECTURER CUE</a:t>
            </a:r>
          </a:p>
          <a:p xmlns:a="http://schemas.openxmlformats.org/drawingml/2006/main">
            <a:r>
              <a:t>Confirm the actual Faculty-approved make-up or clinic arrangement. Do not assume a time or make video-only homework the replacement.</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Before you leave.</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Previous slide: Week 5 support.</a:t>
            </a:r>
          </a:p>
          <a:p xmlns:a="http://schemas.openxmlformats.org/drawingml/2006/main">
            <a:r>
              <a:t/>
            </a:r>
          </a:p>
          <a:p xmlns:a="http://schemas.openxmlformats.org/drawingml/2006/main">
            <a:r>
              <a:t>EXPLAIN</a:t>
            </a:r>
          </a:p>
          <a:p xmlns:a="http://schemas.openxmlformats.org/drawingml/2006/main">
            <a:r>
              <a:t>You can explain which observations a filter keeps and what a grouped total means.</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TEACHING MODE</a:t>
            </a:r>
          </a:p>
          <a:p xmlns:a="http://schemas.openxmlformats.org/drawingml/2006/main">
            <a:r>
              <a:t>Demonstrate first. Read each new symbol aloud, trace the values and compare the shown output. Learners repeat worked examples individually after class.</a:t>
            </a:r>
          </a:p>
          <a:p xmlns:a="http://schemas.openxmlformats.org/drawingml/2006/main">
            <a:r>
              <a:t/>
            </a:r>
          </a:p>
          <a:p xmlns:a="http://schemas.openxmlformats.org/drawingml/2006/main">
            <a:r>
              <a:t>NEXT</a:t>
            </a:r>
          </a:p>
          <a:p xmlns:a="http://schemas.openxmlformats.org/drawingml/2006/main">
            <a:r>
              <a:t>independent revision and the issued task.</a:t>
            </a:r>
          </a:p>
          <a:p xmlns:a="http://schemas.openxmlformats.org/drawingml/2006/main">
            <a:r>
              <a:t/>
            </a:r>
          </a:p>
          <a:p xmlns:a="http://schemas.openxmlformats.org/drawingml/2006/main">
            <a:r>
              <a:t>REFERENCES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c364c3775a4cd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bd586e286e94d3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b0a84a6be7749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3c9684b0ea9478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6f4b0e1fe00429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0c6acc4b06c40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436803-00B4-4A30-89BF-60ADADC2C57C}"/>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61888D10-E659-4685-B7C4-9B4E83FCF767}"/>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FE0B638-E9CE-433B-B8E8-8EFAAE8F380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85A0123-92CF-499B-B86D-148C0AC95B6E}"/>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530CF814-BC04-4E7E-BA04-5B7DE34C5DFA}"/>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825D3C9-3284-4318-A1BF-014700A9664D}"/>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7FD2B72-5CD1-4E7D-9D92-875430468CD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EEF88266-ABC1-4C6A-A577-C26BCFDA1E2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D11279C6-A1C0-41BC-AFC3-E688E2EDA2A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82CB634-DBEA-45BB-A7BA-12E2FD6676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75828327-1F00-4AC6-ACDA-03FF119F5BE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E6C1E7B-08D9-496A-989A-30C31FB42D1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C0145CB-E5BF-49C8-B8BB-BCEB9BA26A42}"/>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AB6935E-E44B-4921-8ED2-AA337D53E4F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D405B9A-6ADD-4E16-8F16-A329707CA00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2c20d3990f4b0d" /><Relationship Type="http://schemas.openxmlformats.org/officeDocument/2006/relationships/slideLayout" Target="/ppt/slideLayouts/slideLayout1.xml" Id="R8d641d1c0ff84675" /><Relationship Type="http://schemas.openxmlformats.org/officeDocument/2006/relationships/slideLayout" Target="/ppt/slideLayouts/slideLayout2.xml" Id="R7b9d603ff0464cfd" /><Relationship Type="http://schemas.openxmlformats.org/officeDocument/2006/relationships/slideLayout" Target="/ppt/slideLayouts/slideLayout3.xml" Id="R3e61bef2907846b2" /><Relationship Type="http://schemas.openxmlformats.org/officeDocument/2006/relationships/slideLayout" Target="/ppt/slideLayouts/slideLayout4.xml" Id="R9e133bd6510540fd" /><Relationship Type="http://schemas.openxmlformats.org/officeDocument/2006/relationships/slideLayout" Target="/ppt/slideLayouts/slideLayout5.xml" Id="Red4ed433fc5e4f4f" /><Relationship Type="http://schemas.openxmlformats.org/officeDocument/2006/relationships/slideLayout" Target="/ppt/slideLayouts/slideLayout6.xml" Id="Rcb4220f8d7db4d8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641d1c0ff84675"/>
    <p:sldLayoutId xmlns:r="http://schemas.openxmlformats.org/officeDocument/2006/relationships" id="2147483650" r:id="R7b9d603ff0464cfd"/>
    <p:sldLayoutId xmlns:r="http://schemas.openxmlformats.org/officeDocument/2006/relationships" id="2147483651" r:id="R3e61bef2907846b2"/>
    <p:sldLayoutId xmlns:r="http://schemas.openxmlformats.org/officeDocument/2006/relationships" id="2147483652" r:id="R9e133bd6510540fd"/>
    <p:sldLayoutId xmlns:r="http://schemas.openxmlformats.org/officeDocument/2006/relationships" id="2147483653" r:id="Red4ed433fc5e4f4f"/>
    <p:sldLayoutId xmlns:r="http://schemas.openxmlformats.org/officeDocument/2006/relationships" id="2147483654" r:id="Rcb4220f8d7db4d8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b7e3798a1e147a4" /><Relationship Type="http://schemas.openxmlformats.org/officeDocument/2006/relationships/image" Target="/ppt/media/image.png" Id="R8075e573df6f499f" /><Relationship Type="http://schemas.openxmlformats.org/officeDocument/2006/relationships/notesSlide" Target="/ppt/notesSlides/notesSlide1.xml" Id="Rfe6b81207a9548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cc6cc5cc70a442c" /><Relationship Type="http://schemas.openxmlformats.org/officeDocument/2006/relationships/notesSlide" Target="/ppt/notesSlides/notesSlide2.xml" Id="R39cd761437164ab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a79952f609c466e" /><Relationship Type="http://schemas.openxmlformats.org/officeDocument/2006/relationships/notesSlide" Target="/ppt/notesSlides/notesSlide3.xml" Id="Rb4601bc37d14465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858185d35ac4f31" /><Relationship Type="http://schemas.openxmlformats.org/officeDocument/2006/relationships/notesSlide" Target="/ppt/notesSlides/notesSlide4.xml" Id="R8863d6c7990644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bd19086b35542ed" /><Relationship Type="http://schemas.openxmlformats.org/officeDocument/2006/relationships/notesSlide" Target="/ppt/notesSlides/notesSlide5.xml" Id="Rf8539236e14a45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0a794a75a1c4f52" /><Relationship Type="http://schemas.openxmlformats.org/officeDocument/2006/relationships/notesSlide" Target="/ppt/notesSlides/notesSlide6.xml" Id="R4a4b5131cb634e7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54f64625a68447e" /><Relationship Type="http://schemas.openxmlformats.org/officeDocument/2006/relationships/notesSlide" Target="/ppt/notesSlides/notesSlide7.xml" Id="R639157239f3041b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a42505142104d6f" /><Relationship Type="http://schemas.openxmlformats.org/officeDocument/2006/relationships/notesSlide" Target="/ppt/notesSlides/notesSlide8.xml" Id="Rd13d7ca5b289431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8db8eca04114442" /><Relationship Type="http://schemas.openxmlformats.org/officeDocument/2006/relationships/image" Target="/ppt/media/image2.png" Id="R5ab19b56acd34245" /><Relationship Type="http://schemas.openxmlformats.org/officeDocument/2006/relationships/notesSlide" Target="/ppt/notesSlides/notesSlide9.xml" Id="R48e65735bc31471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0341be900d84d8b" /><Relationship Type="http://schemas.openxmlformats.org/officeDocument/2006/relationships/notesSlide" Target="/ppt/notesSlides/notesSlide10.xml" Id="R7fef3250d599444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fad12d3797c4f23" /><Relationship Type="http://schemas.openxmlformats.org/officeDocument/2006/relationships/notesSlide" Target="/ppt/notesSlides/notesSlide11.xml" Id="Rca56518fbfc24a7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a4829a024f842e9" /><Relationship Type="http://schemas.openxmlformats.org/officeDocument/2006/relationships/notesSlide" Target="/ppt/notesSlides/notesSlide12.xml" Id="Re8bd2505e4f04be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ff2af81e2c84327" /><Relationship Type="http://schemas.openxmlformats.org/officeDocument/2006/relationships/notesSlide" Target="/ppt/notesSlides/notesSlide13.xml" Id="R4b79b3de3a71431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e038b3b3e454b2b" /><Relationship Type="http://schemas.openxmlformats.org/officeDocument/2006/relationships/notesSlide" Target="/ppt/notesSlides/notesSlide14.xml" Id="R5679b77e8d18411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e0a1aa5eecf4214" /><Relationship Type="http://schemas.openxmlformats.org/officeDocument/2006/relationships/notesSlide" Target="/ppt/notesSlides/notesSlide15.xml" Id="Reb69da660dcc4d8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7530c7ba524e17" /><Relationship Type="http://schemas.openxmlformats.org/officeDocument/2006/relationships/notesSlide" Target="/ppt/notesSlides/notesSlide16.xml" Id="Rd337ac8dbc944b6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d66c346a68c4def" /><Relationship Type="http://schemas.openxmlformats.org/officeDocument/2006/relationships/image" Target="/ppt/media/image3.png" Id="R3f23994bdc8c4b5e" /><Relationship Type="http://schemas.openxmlformats.org/officeDocument/2006/relationships/notesSlide" Target="/ppt/notesSlides/notesSlide17.xml" Id="Ra9bf014bdbc948c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fed941703ed4fc1" /><Relationship Type="http://schemas.openxmlformats.org/officeDocument/2006/relationships/notesSlide" Target="/ppt/notesSlides/notesSlide18.xml" Id="R8dc0eb928a0d414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f37091ddc194ef6" /><Relationship Type="http://schemas.openxmlformats.org/officeDocument/2006/relationships/notesSlide" Target="/ppt/notesSlides/notesSlide19.xml" Id="Raba1c5c4d0c34a7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5fcd1a008c74743" /><Relationship Type="http://schemas.openxmlformats.org/officeDocument/2006/relationships/notesSlide" Target="/ppt/notesSlides/notesSlide20.xml" Id="R3ee2c1601b92438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a6a01e176df49be" /><Relationship Type="http://schemas.openxmlformats.org/officeDocument/2006/relationships/notesSlide" Target="/ppt/notesSlides/notesSlide21.xml" Id="R165d9f9bf5d745d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f1271cf90c1c4242" /><Relationship Type="http://schemas.openxmlformats.org/officeDocument/2006/relationships/notesSlide" Target="/ppt/notesSlides/notesSlide22.xml" Id="R4f5e86dc0275463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ef78ee458ce4fd8" /><Relationship Type="http://schemas.openxmlformats.org/officeDocument/2006/relationships/notesSlide" Target="/ppt/notesSlides/notesSlide23.xml" Id="Raa8566b3775a45a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f586a3a0970487d" /><Relationship Type="http://schemas.openxmlformats.org/officeDocument/2006/relationships/notesSlide" Target="/ppt/notesSlides/notesSlide24.xml" Id="R4f67992561644de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306fec7cadc49f9" /><Relationship Type="http://schemas.openxmlformats.org/officeDocument/2006/relationships/notesSlide" Target="/ppt/notesSlides/notesSlide25.xml" Id="R9168c7fef7e64c2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fa08af056454d1b" /><Relationship Type="http://schemas.openxmlformats.org/officeDocument/2006/relationships/notesSlide" Target="/ppt/notesSlides/notesSlide26.xml" Id="R6275598ce4f5474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5672c38739b4128" /><Relationship Type="http://schemas.openxmlformats.org/officeDocument/2006/relationships/notesSlide" Target="/ppt/notesSlides/notesSlide27.xml" Id="R444fead9449144f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ccec30d99864170" /><Relationship Type="http://schemas.openxmlformats.org/officeDocument/2006/relationships/notesSlide" Target="/ppt/notesSlides/notesSlide28.xml" Id="Rae603df2865541d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1ed6e4382894217" /><Relationship Type="http://schemas.openxmlformats.org/officeDocument/2006/relationships/notesSlide" Target="/ppt/notesSlides/notesSlide29.xml" Id="R618e869c59284b1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9a9cbe9e29145bf" /><Relationship Type="http://schemas.openxmlformats.org/officeDocument/2006/relationships/notesSlide" Target="/ppt/notesSlides/notesSlide30.xml" Id="R87cdb2f4667447d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777d85d5692465f" /><Relationship Type="http://schemas.openxmlformats.org/officeDocument/2006/relationships/notesSlide" Target="/ppt/notesSlides/notesSlide31.xml" Id="Rc8590994c3d748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7e045ad7e6c4440f" /><Relationship Type="http://schemas.openxmlformats.org/officeDocument/2006/relationships/notesSlide" Target="/ppt/notesSlides/notesSlide32.xml" Id="R9ddb5612335a4b3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859af69927e74462" /><Relationship Type="http://schemas.openxmlformats.org/officeDocument/2006/relationships/notesSlide" Target="/ppt/notesSlides/notesSlide33.xml" Id="Ra9f630c0edd7418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a01da11c6c04bfa" /><Relationship Type="http://schemas.openxmlformats.org/officeDocument/2006/relationships/notesSlide" Target="/ppt/notesSlides/notesSlide34.xml" Id="Rd093e06644a3454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09cd017733a46b1" /><Relationship Type="http://schemas.openxmlformats.org/officeDocument/2006/relationships/notesSlide" Target="/ppt/notesSlides/notesSlide35.xml" Id="R833c912165e645b2"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1608a5b4a2d445b" /><Relationship Type="http://schemas.openxmlformats.org/officeDocument/2006/relationships/notesSlide" Target="/ppt/notesSlides/notesSlide36.xml" Id="Ra63931b668b64a5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00c3bee013a4d7c" /><Relationship Type="http://schemas.openxmlformats.org/officeDocument/2006/relationships/notesSlide" Target="/ppt/notesSlides/notesSlide37.xml" Id="R4ae5b904c0cd4e3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06a517041974254" /><Relationship Type="http://schemas.openxmlformats.org/officeDocument/2006/relationships/notesSlide" Target="/ppt/notesSlides/notesSlide38.xml" Id="Ree64fef0da894bd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344df46d35e94f93" /><Relationship Type="http://schemas.openxmlformats.org/officeDocument/2006/relationships/notesSlide" Target="/ppt/notesSlides/notesSlide39.xml" Id="R5a4cf03a01a7403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196c6b43a9546dd" /><Relationship Type="http://schemas.openxmlformats.org/officeDocument/2006/relationships/notesSlide" Target="/ppt/notesSlides/notesSlide40.xml" Id="R9c6eacace59e4ed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bd4cff0983f42a4" /><Relationship Type="http://schemas.openxmlformats.org/officeDocument/2006/relationships/hyperlink" Target="https://docs.google.com/forms/d/e/1FAIpQLSea9Y9pC-JeaVEPpu4prViKZaOHF8cmPczko8iGDiPmr73I2A/viewform" TargetMode="External" Id="Re9d2e5cdf5194471" /><Relationship Type="http://schemas.openxmlformats.org/officeDocument/2006/relationships/notesSlide" Target="/ppt/notesSlides/notesSlide41.xml" Id="R3a8e383349a5441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ebf2213c041a4c44" /><Relationship Type="http://schemas.openxmlformats.org/officeDocument/2006/relationships/notesSlide" Target="/ppt/notesSlides/notesSlide42.xml" Id="R67357a293cb5429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a3e8a52179d4351" /><Relationship Type="http://schemas.openxmlformats.org/officeDocument/2006/relationships/image" Target="/ppt/media/image4.png" Id="R4ce9d7d110a94a7d" /><Relationship Type="http://schemas.openxmlformats.org/officeDocument/2006/relationships/hyperlink" Target="https://forms.gle/a2TPHUcEF6sacSnr6" TargetMode="External" Id="R20a20a5f145a4553" /><Relationship Type="http://schemas.openxmlformats.org/officeDocument/2006/relationships/notesSlide" Target="/ppt/notesSlides/notesSlide43.xml" Id="Re104826f7801444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c93834989eb4476a" /><Relationship Type="http://schemas.openxmlformats.org/officeDocument/2006/relationships/notesSlide" Target="/ppt/notesSlides/notesSlide44.xml" Id="Rde9a7f132d174615"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cf78fc3e30142d8" /><Relationship Type="http://schemas.openxmlformats.org/officeDocument/2006/relationships/notesSlide" Target="/ppt/notesSlides/notesSlide45.xml" Id="Rd56ecfd3683f4e5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075e573df6f499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5773281-BF98-46D5-A1AC-3872295A917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708CCE2-9689-4CF7-A8B8-D375FD87D50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5</a:t>
            </a:r>
          </a:p>
        </p:txBody>
      </p:sp>
      <p:sp>
        <p:nvSpPr>
          <p:cNvPr id="4" name="">
            <a:extLst xmlns:a="http://schemas.openxmlformats.org/drawingml/2006/main">
              <a:ext uri="{FF2B5EF4-FFF2-40B4-BE49-F238E27FC236}">
                <a16:creationId xmlns:a16="http://schemas.microsoft.com/office/drawing/2014/main" id="{120531F8-90BF-439F-B55B-4F8FE31E10E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4B4BED46-050C-42DD-BB08-DBF1FA44BF3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0BF66C45-131A-4124-BF01-DF10CAC51EB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213674838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4230AD5-D501-4BEC-B569-74470B1F8A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D957C5-5288-41F1-A679-8482C5DB26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64CA7B0-8766-4B43-B901-CE015A716D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AEF0F08-E744-45DD-82EB-6591E12705C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E6951E-DBAC-4E43-BE49-A6F76EBAB3E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AE9EA6E5-A951-4655-AD2F-CF5617DCC63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F23EA26D-5E26-40A9-AFE8-1AAFA715EFBF}"/>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912C904-9B34-41DB-BA4F-398C1127CFB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5C0EE793-0BA9-4A9C-8CF3-B73F897D91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a:t>
            </a:r>
          </a:p>
        </p:txBody>
      </p:sp>
    </p:spTree>
    <p:extLst>
      <p:ext uri="{BB962C8B-B14F-4D97-AF65-F5344CB8AC3E}">
        <p14:creationId xmlns:p14="http://schemas.microsoft.com/office/powerpoint/2010/main" val="96019323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9F5569-BC26-4735-A74A-11751517F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A013D6-3DE0-48A3-95F3-C7CDB4D65E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BF60BA7-5989-4ADF-A2AB-2724986EB5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01C11232-AC66-42A8-9078-32E4BCC209D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396AC1-83AE-4E91-BE4E-99D836925CC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Week 4 used lists, dictionaries, loops and CSV rows. pandas keeps these same records in a labelled table and provides operations that work across its columns.</a:t>
            </a:r>
          </a:p>
        </p:txBody>
      </p:sp>
      <p:sp>
        <p:nvSpPr>
          <p:cNvPr id="6" name="">
            <a:extLst xmlns:a="http://schemas.openxmlformats.org/drawingml/2006/main">
              <a:ext uri="{FF2B5EF4-FFF2-40B4-BE49-F238E27FC236}">
                <a16:creationId xmlns:a16="http://schemas.microsoft.com/office/drawing/2014/main" id="{4844BACF-4D37-424C-A45F-F0423E4C3A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a:t>
            </a:r>
          </a:p>
        </p:txBody>
      </p:sp>
    </p:spTree>
    <p:extLst>
      <p:ext uri="{BB962C8B-B14F-4D97-AF65-F5344CB8AC3E}">
        <p14:creationId xmlns:p14="http://schemas.microsoft.com/office/powerpoint/2010/main" val="1639901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2A4054F-8F2D-43E1-A3FC-17E5E5F923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D9682A-8DD9-4688-9BFD-C3EBB4A25E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BB9C00-F0AA-44D3-B018-3B3C01B5DB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5365DCF0-CC33-46B2-B382-3E30BD340F0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B90AB6-A458-47C1-AE88-4E6AC63DDD3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supplied campus_energy.csv records campus electricity use.</a:t>
            </a:r>
          </a:p>
        </p:txBody>
      </p:sp>
      <p:sp>
        <p:nvSpPr>
          <p:cNvPr id="6" name="">
            <a:extLst xmlns:a="http://schemas.openxmlformats.org/drawingml/2006/main">
              <a:ext uri="{FF2B5EF4-FFF2-40B4-BE49-F238E27FC236}">
                <a16:creationId xmlns:a16="http://schemas.microsoft.com/office/drawing/2014/main" id="{CA837BAF-0C8C-42C5-B561-FBA1294B9EBB}"/>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practise pandas on four invented rows first, then inspect the supplied file and its units.</a:t>
            </a:r>
          </a:p>
        </p:txBody>
      </p:sp>
      <p:sp>
        <p:nvSpPr>
          <p:cNvPr id="7" name="">
            <a:extLst xmlns:a="http://schemas.openxmlformats.org/drawingml/2006/main">
              <a:ext uri="{FF2B5EF4-FFF2-40B4-BE49-F238E27FC236}">
                <a16:creationId xmlns:a16="http://schemas.microsoft.com/office/drawing/2014/main" id="{A667DF44-A089-4842-AA9F-F4BEBC5569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a:t>
            </a:r>
          </a:p>
        </p:txBody>
      </p:sp>
    </p:spTree>
    <p:extLst>
      <p:ext uri="{BB962C8B-B14F-4D97-AF65-F5344CB8AC3E}">
        <p14:creationId xmlns:p14="http://schemas.microsoft.com/office/powerpoint/2010/main" val="10531558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62D0891-5950-4372-9F2F-3F531607BE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8078B2-4A64-4B8D-88A0-92102FD164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F2BFE4-E2DA-4B46-9A9A-683FF63378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units</a:t>
            </a:r>
          </a:p>
        </p:txBody>
      </p:sp>
      <p:sp>
        <p:nvSpPr>
          <p:cNvPr id="4" name="">
            <a:extLst xmlns:a="http://schemas.openxmlformats.org/drawingml/2006/main">
              <a:ext uri="{FF2B5EF4-FFF2-40B4-BE49-F238E27FC236}">
                <a16:creationId xmlns:a16="http://schemas.microsoft.com/office/drawing/2014/main" id="{02220F67-4E3D-45CF-8467-75853F12D8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4A226A-E5E9-4CA0-80BF-F22860442C65}"/>
              </a:ext>
            </a:extLst>
          </p:cNvPr>
          <p:cNvSpPr>
            <a:spLocks xmlns:a="http://schemas.openxmlformats.org/drawingml/2006/main" noGrp="1"/>
          </p:cNvSpPr>
          <p:nvPr/>
        </p:nvSpPr>
        <p:spPr>
          <a:xfrm xmlns:a="http://schemas.openxmlformats.org/drawingml/2006/main">
            <a:off x="1381125" y="1781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row describes one observation. A column describes one field.</a:t>
            </a:r>
          </a:p>
        </p:txBody>
      </p:sp>
      <p:sp>
        <p:nvSpPr>
          <p:cNvPr id="6" name="">
            <a:extLst xmlns:a="http://schemas.openxmlformats.org/drawingml/2006/main">
              <a:ext uri="{FF2B5EF4-FFF2-40B4-BE49-F238E27FC236}">
                <a16:creationId xmlns:a16="http://schemas.microsoft.com/office/drawing/2014/main" id="{6268B32D-2D04-4B4D-975B-93A237DD18AC}"/>
              </a:ext>
            </a:extLst>
          </p:cNvPr>
          <p:cNvSpPr>
            <a:spLocks xmlns:a="http://schemas.openxmlformats.org/drawingml/2006/main" noGrp="1"/>
          </p:cNvSpPr>
          <p:nvPr/>
        </p:nvSpPr>
        <p:spPr>
          <a:xfrm xmlns:a="http://schemas.openxmlformats.org/drawingml/2006/main">
            <a:off x="590550" y="26384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808062-EC5D-4B3D-8B85-BCF0B20A03C1}"/>
              </a:ext>
            </a:extLst>
          </p:cNvPr>
          <p:cNvSpPr>
            <a:spLocks xmlns:a="http://schemas.openxmlformats.org/drawingml/2006/main" noGrp="1"/>
          </p:cNvSpPr>
          <p:nvPr/>
        </p:nvSpPr>
        <p:spPr>
          <a:xfrm xmlns:a="http://schemas.openxmlformats.org/drawingml/2006/main">
            <a:off x="1381125" y="26384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DataFrame is pandas’ labelled table.</a:t>
            </a:r>
          </a:p>
        </p:txBody>
      </p:sp>
      <p:sp>
        <p:nvSpPr>
          <p:cNvPr id="8" name="">
            <a:extLst xmlns:a="http://schemas.openxmlformats.org/drawingml/2006/main">
              <a:ext uri="{FF2B5EF4-FFF2-40B4-BE49-F238E27FC236}">
                <a16:creationId xmlns:a16="http://schemas.microsoft.com/office/drawing/2014/main" id="{9D52EA07-674F-4640-83D2-93CD81C88306}"/>
              </a:ext>
            </a:extLst>
          </p:cNvPr>
          <p:cNvSpPr>
            <a:spLocks xmlns:a="http://schemas.openxmlformats.org/drawingml/2006/main" noGrp="1"/>
          </p:cNvSpPr>
          <p:nvPr/>
        </p:nvSpPr>
        <p:spPr>
          <a:xfrm xmlns:a="http://schemas.openxmlformats.org/drawingml/2006/main">
            <a:off x="590550" y="3495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2B4E76-31F6-48EE-A9CB-97A24CEB4EC4}"/>
              </a:ext>
            </a:extLst>
          </p:cNvPr>
          <p:cNvSpPr>
            <a:spLocks xmlns:a="http://schemas.openxmlformats.org/drawingml/2006/main" noGrp="1"/>
          </p:cNvSpPr>
          <p:nvPr/>
        </p:nvSpPr>
        <p:spPr>
          <a:xfrm xmlns:a="http://schemas.openxmlformats.org/drawingml/2006/main">
            <a:off x="1381125" y="34956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Series is one labelled column.</a:t>
            </a:r>
          </a:p>
        </p:txBody>
      </p:sp>
      <p:sp>
        <p:nvSpPr>
          <p:cNvPr id="10" name="">
            <a:extLst xmlns:a="http://schemas.openxmlformats.org/drawingml/2006/main">
              <a:ext uri="{FF2B5EF4-FFF2-40B4-BE49-F238E27FC236}">
                <a16:creationId xmlns:a16="http://schemas.microsoft.com/office/drawing/2014/main" id="{FA449018-CBE2-470E-898A-81BCF1BF0DB8}"/>
              </a:ext>
            </a:extLst>
          </p:cNvPr>
          <p:cNvSpPr>
            <a:spLocks xmlns:a="http://schemas.openxmlformats.org/drawingml/2006/main" noGrp="1"/>
          </p:cNvSpPr>
          <p:nvPr/>
        </p:nvSpPr>
        <p:spPr>
          <a:xfrm xmlns:a="http://schemas.openxmlformats.org/drawingml/2006/main">
            <a:off x="590550"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E84F987-CD04-481C-8650-2C69E455AFE4}"/>
              </a:ext>
            </a:extLst>
          </p:cNvPr>
          <p:cNvSpPr>
            <a:spLocks xmlns:a="http://schemas.openxmlformats.org/drawingml/2006/main" noGrp="1"/>
          </p:cNvSpPr>
          <p:nvPr/>
        </p:nvSpPr>
        <p:spPr>
          <a:xfrm xmlns:a="http://schemas.openxmlformats.org/drawingml/2006/main">
            <a:off x="1381125" y="435292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measures energy. kW measures power.</a:t>
            </a:r>
          </a:p>
        </p:txBody>
      </p:sp>
      <p:sp>
        <p:nvSpPr>
          <p:cNvPr id="12" name="">
            <a:extLst xmlns:a="http://schemas.openxmlformats.org/drawingml/2006/main">
              <a:ext uri="{FF2B5EF4-FFF2-40B4-BE49-F238E27FC236}">
                <a16:creationId xmlns:a16="http://schemas.microsoft.com/office/drawing/2014/main" id="{BCD9816C-AFF6-4F35-90A9-744D06544F3C}"/>
              </a:ext>
            </a:extLst>
          </p:cNvPr>
          <p:cNvSpPr>
            <a:spLocks xmlns:a="http://schemas.openxmlformats.org/drawingml/2006/main" noGrp="1"/>
          </p:cNvSpPr>
          <p:nvPr/>
        </p:nvSpPr>
        <p:spPr>
          <a:xfrm xmlns:a="http://schemas.openxmlformats.org/drawingml/2006/main">
            <a:off x="590550" y="5210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05</a:t>
            </a:r>
          </a:p>
        </p:txBody>
      </p:sp>
      <p:sp>
        <p:nvSpPr>
          <p:cNvPr id="13" name="">
            <a:extLst xmlns:a="http://schemas.openxmlformats.org/drawingml/2006/main">
              <a:ext uri="{FF2B5EF4-FFF2-40B4-BE49-F238E27FC236}">
                <a16:creationId xmlns:a16="http://schemas.microsoft.com/office/drawing/2014/main" id="{B3CFD319-261F-4086-8979-3A2DDAB1FD14}"/>
              </a:ext>
            </a:extLst>
          </p:cNvPr>
          <p:cNvSpPr>
            <a:spLocks xmlns:a="http://schemas.openxmlformats.org/drawingml/2006/main" noGrp="1"/>
          </p:cNvSpPr>
          <p:nvPr/>
        </p:nvSpPr>
        <p:spPr>
          <a:xfrm xmlns:a="http://schemas.openxmlformats.org/drawingml/2006/main">
            <a:off x="1381125" y="5210175"/>
            <a:ext cx="10096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type (dtype) describes the kind of values in a column, such as whole numbers, decimals or text.</a:t>
            </a:r>
          </a:p>
        </p:txBody>
      </p:sp>
      <p:sp>
        <p:nvSpPr>
          <p:cNvPr id="14" name="">
            <a:extLst xmlns:a="http://schemas.openxmlformats.org/drawingml/2006/main">
              <a:ext uri="{FF2B5EF4-FFF2-40B4-BE49-F238E27FC236}">
                <a16:creationId xmlns:a16="http://schemas.microsoft.com/office/drawing/2014/main" id="{4A0E645B-9A2A-409C-AC44-E3E9E634A0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5</a:t>
            </a:r>
          </a:p>
        </p:txBody>
      </p:sp>
    </p:spTree>
    <p:extLst>
      <p:ext uri="{BB962C8B-B14F-4D97-AF65-F5344CB8AC3E}">
        <p14:creationId xmlns:p14="http://schemas.microsoft.com/office/powerpoint/2010/main" val="65332125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0D6B50-0EF6-4A06-B785-4B825F29C7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892732-EBAC-4786-80B1-02AD76E1BF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B55ECDB-9A4B-48F3-9218-DE0BA738A8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table keeps related observations together</a:t>
            </a:r>
          </a:p>
        </p:txBody>
      </p:sp>
      <p:sp>
        <p:nvSpPr>
          <p:cNvPr id="4" name="">
            <a:extLst xmlns:a="http://schemas.openxmlformats.org/drawingml/2006/main">
              <a:ext uri="{FF2B5EF4-FFF2-40B4-BE49-F238E27FC236}">
                <a16:creationId xmlns:a16="http://schemas.microsoft.com/office/drawing/2014/main" id="{D85D4BCC-DEFD-40B1-9EC9-56B80B6170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FE4500-4331-482D-B9BE-A232C5A30B6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four rows record building A twice and building B twice.</a:t>
            </a:r>
          </a:p>
        </p:txBody>
      </p:sp>
      <p:sp>
        <p:nvSpPr>
          <p:cNvPr id="6" name="">
            <a:extLst xmlns:a="http://schemas.openxmlformats.org/drawingml/2006/main">
              <a:ext uri="{FF2B5EF4-FFF2-40B4-BE49-F238E27FC236}">
                <a16:creationId xmlns:a16="http://schemas.microsoft.com/office/drawing/2014/main" id="{BFC43752-07F7-439C-912B-7E19AEB6A32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12DE5E9-5210-45D3-A36E-18E6BB7B75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contains the building label and an energy reading.</a:t>
            </a:r>
          </a:p>
        </p:txBody>
      </p:sp>
      <p:sp>
        <p:nvSpPr>
          <p:cNvPr id="8" name="">
            <a:extLst xmlns:a="http://schemas.openxmlformats.org/drawingml/2006/main">
              <a:ext uri="{FF2B5EF4-FFF2-40B4-BE49-F238E27FC236}">
                <a16:creationId xmlns:a16="http://schemas.microsoft.com/office/drawing/2014/main" id="{4E7EFC88-7D91-49FF-BA8B-2A10848D4D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F8C6C6-FE6D-4005-A6EC-48AB5EFF0A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kWh is energy. kW is power. The units describe different quantities.</a:t>
            </a:r>
          </a:p>
        </p:txBody>
      </p:sp>
      <p:sp>
        <p:nvSpPr>
          <p:cNvPr id="10" name="">
            <a:extLst xmlns:a="http://schemas.openxmlformats.org/drawingml/2006/main">
              <a:ext uri="{FF2B5EF4-FFF2-40B4-BE49-F238E27FC236}">
                <a16:creationId xmlns:a16="http://schemas.microsoft.com/office/drawing/2014/main" id="{81CB12ED-F2F3-4460-BFCB-DF859B2641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6</a:t>
            </a:r>
          </a:p>
        </p:txBody>
      </p:sp>
    </p:spTree>
    <p:extLst>
      <p:ext uri="{BB962C8B-B14F-4D97-AF65-F5344CB8AC3E}">
        <p14:creationId xmlns:p14="http://schemas.microsoft.com/office/powerpoint/2010/main" val="152756851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EDA4EC-9DB8-4EF6-896F-3AA171EC0B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DF8D6D-7905-4C81-979D-0465101BA7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256AB12-4843-4FFE-BD0E-D3D0761340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Our small energy table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building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kwh</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5</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7</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BBDEE2C-1DE2-45B8-A5E3-B3969A05836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four observations total 18 kWh.</a:t>
            </a:r>
          </a:p>
        </p:txBody>
      </p:sp>
      <p:sp>
        <p:nvSpPr>
          <p:cNvPr id="6" name="">
            <a:extLst xmlns:a="http://schemas.openxmlformats.org/drawingml/2006/main">
              <a:ext uri="{FF2B5EF4-FFF2-40B4-BE49-F238E27FC236}">
                <a16:creationId xmlns:a16="http://schemas.microsoft.com/office/drawing/2014/main" id="{B5E9B6C4-DB2E-4548-AB29-458084B706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7</a:t>
            </a:r>
          </a:p>
        </p:txBody>
      </p:sp>
    </p:spTree>
    <p:extLst>
      <p:ext uri="{BB962C8B-B14F-4D97-AF65-F5344CB8AC3E}">
        <p14:creationId xmlns:p14="http://schemas.microsoft.com/office/powerpoint/2010/main" val="100478554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675E29-457C-43D5-8FB0-60B693EEFC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A2DD5F-73B6-4E0A-8064-301BF3499B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DBC2CA0-214D-4A5D-AF8C-56E3AB9F0C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Library and pandas and DataFrame</a:t>
            </a:r>
          </a:p>
        </p:txBody>
      </p:sp>
      <p:sp>
        <p:nvSpPr>
          <p:cNvPr id="4" name="">
            <a:extLst xmlns:a="http://schemas.openxmlformats.org/drawingml/2006/main">
              <a:ext uri="{FF2B5EF4-FFF2-40B4-BE49-F238E27FC236}">
                <a16:creationId xmlns:a16="http://schemas.microsoft.com/office/drawing/2014/main" id="{8B58CED3-F3E7-4D28-AE40-2F9DE3CB5C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283538-3CD4-4A81-961D-B687AD1294D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Library and pandas</a:t>
            </a:r>
          </a:p>
        </p:txBody>
      </p:sp>
      <p:sp>
        <p:nvSpPr>
          <p:cNvPr id="6" name="">
            <a:extLst xmlns:a="http://schemas.openxmlformats.org/drawingml/2006/main">
              <a:ext uri="{FF2B5EF4-FFF2-40B4-BE49-F238E27FC236}">
                <a16:creationId xmlns:a16="http://schemas.microsoft.com/office/drawing/2014/main" id="{DA1C1440-D98D-4CCE-B761-292996005EF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library is reusable code. pandas provides tools for data tables. import pandas as pd makes pd a short name for that library.</a:t>
            </a:r>
          </a:p>
        </p:txBody>
      </p:sp>
      <p:sp>
        <p:nvSpPr>
          <p:cNvPr id="7" name="">
            <a:extLst xmlns:a="http://schemas.openxmlformats.org/drawingml/2006/main">
              <a:ext uri="{FF2B5EF4-FFF2-40B4-BE49-F238E27FC236}">
                <a16:creationId xmlns:a16="http://schemas.microsoft.com/office/drawing/2014/main" id="{881506C2-9CFE-4F40-9DFB-96B5E6C74CE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C3C999E-0A47-474A-9EF0-3609216BEE8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DataFrame</a:t>
            </a:r>
          </a:p>
        </p:txBody>
      </p:sp>
      <p:sp>
        <p:nvSpPr>
          <p:cNvPr id="9" name="">
            <a:extLst xmlns:a="http://schemas.openxmlformats.org/drawingml/2006/main">
              <a:ext uri="{FF2B5EF4-FFF2-40B4-BE49-F238E27FC236}">
                <a16:creationId xmlns:a16="http://schemas.microsoft.com/office/drawing/2014/main" id="{DB7FABAE-646D-4BC1-8729-404D3F807C3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table with named columns and indexed rows. df is just the variable name we choose for this table.</a:t>
            </a:r>
          </a:p>
        </p:txBody>
      </p:sp>
      <p:sp>
        <p:nvSpPr>
          <p:cNvPr id="10" name="">
            <a:extLst xmlns:a="http://schemas.openxmlformats.org/drawingml/2006/main">
              <a:ext uri="{FF2B5EF4-FFF2-40B4-BE49-F238E27FC236}">
                <a16:creationId xmlns:a16="http://schemas.microsoft.com/office/drawing/2014/main" id="{38D5D79D-E6A8-4550-9D70-9525D5FE9A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8</a:t>
            </a:r>
          </a:p>
        </p:txBody>
      </p:sp>
    </p:spTree>
    <p:extLst>
      <p:ext uri="{BB962C8B-B14F-4D97-AF65-F5344CB8AC3E}">
        <p14:creationId xmlns:p14="http://schemas.microsoft.com/office/powerpoint/2010/main" val="18881897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8901DE-8E60-4DCF-B33B-F0FF25A83DB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EFA387-DBF6-4DB4-99FB-BB3938A18CE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labelled table in Python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ab19b56acd34245"/>
          <a:stretch xmlns:a="http://schemas.openxmlformats.org/drawingml/2006/main"/>
        </p:blipFill>
        <p:spPr>
          <a:xfrm xmlns:a="http://schemas.openxmlformats.org/drawingml/2006/main">
            <a:off x="509073" y="1057275"/>
            <a:ext cx="1117385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7ECC14-9379-4CA4-9ACC-365E90F20A3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DA6CF3-8033-49E7-A323-A69B7259F8F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machinery records. The same row, column and index structure applies to our building-energy table.</a:t>
            </a:r>
          </a:p>
        </p:txBody>
      </p:sp>
      <p:sp>
        <p:nvSpPr>
          <p:cNvPr id="6" name="">
            <a:extLst xmlns:a="http://schemas.openxmlformats.org/drawingml/2006/main">
              <a:ext uri="{FF2B5EF4-FFF2-40B4-BE49-F238E27FC236}">
                <a16:creationId xmlns:a16="http://schemas.microsoft.com/office/drawing/2014/main" id="{AEC615C4-D82D-497B-8FED-4D84BBDF82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9</a:t>
            </a:r>
          </a:p>
        </p:txBody>
      </p:sp>
    </p:spTree>
    <p:extLst>
      <p:ext uri="{BB962C8B-B14F-4D97-AF65-F5344CB8AC3E}">
        <p14:creationId xmlns:p14="http://schemas.microsoft.com/office/powerpoint/2010/main" val="11014507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23E19A-51BB-47BD-9DA5-6E219AD01E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FECBD2-DB04-41D0-BE18-335648FF71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E3C523C-7373-4C06-B01F-F0C4D5160C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Series and Method and attribute</a:t>
            </a:r>
          </a:p>
        </p:txBody>
      </p:sp>
      <p:sp>
        <p:nvSpPr>
          <p:cNvPr id="4" name="">
            <a:extLst xmlns:a="http://schemas.openxmlformats.org/drawingml/2006/main">
              <a:ext uri="{FF2B5EF4-FFF2-40B4-BE49-F238E27FC236}">
                <a16:creationId xmlns:a16="http://schemas.microsoft.com/office/drawing/2014/main" id="{4CB08580-6DAE-4600-810F-D17E4908995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D556B4-75C4-4B08-8F9A-D8EE0447833E}"/>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Series</a:t>
            </a:r>
          </a:p>
        </p:txBody>
      </p:sp>
      <p:sp>
        <p:nvSpPr>
          <p:cNvPr id="6" name="">
            <a:extLst xmlns:a="http://schemas.openxmlformats.org/drawingml/2006/main">
              <a:ext uri="{FF2B5EF4-FFF2-40B4-BE49-F238E27FC236}">
                <a16:creationId xmlns:a16="http://schemas.microsoft.com/office/drawing/2014/main" id="{6EC278F2-C74B-4A6D-8552-0FCAF1A6E81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One labelled column. df["kwh"] selects the column named kwh.</a:t>
            </a:r>
          </a:p>
        </p:txBody>
      </p:sp>
      <p:sp>
        <p:nvSpPr>
          <p:cNvPr id="7" name="">
            <a:extLst xmlns:a="http://schemas.openxmlformats.org/drawingml/2006/main">
              <a:ext uri="{FF2B5EF4-FFF2-40B4-BE49-F238E27FC236}">
                <a16:creationId xmlns:a16="http://schemas.microsoft.com/office/drawing/2014/main" id="{EC2F3547-470B-46B0-AAC3-A0D5CF61E41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275A3D-B855-4C74-8A67-F7E6FC30D56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Method and attribute</a:t>
            </a:r>
          </a:p>
        </p:txBody>
      </p:sp>
      <p:sp>
        <p:nvSpPr>
          <p:cNvPr id="9" name="">
            <a:extLst xmlns:a="http://schemas.openxmlformats.org/drawingml/2006/main">
              <a:ext uri="{FF2B5EF4-FFF2-40B4-BE49-F238E27FC236}">
                <a16:creationId xmlns:a16="http://schemas.microsoft.com/office/drawing/2014/main" id="{F4746D1A-34A0-4138-9503-78AC7623B48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method performs an operation, as in df.head(). An attribute provides a stored property, as in df.shape. Parentheses call an operation.</a:t>
            </a:r>
          </a:p>
        </p:txBody>
      </p:sp>
      <p:sp>
        <p:nvSpPr>
          <p:cNvPr id="10" name="">
            <a:extLst xmlns:a="http://schemas.openxmlformats.org/drawingml/2006/main">
              <a:ext uri="{FF2B5EF4-FFF2-40B4-BE49-F238E27FC236}">
                <a16:creationId xmlns:a16="http://schemas.microsoft.com/office/drawing/2014/main" id="{CD9C52E4-9BB0-4798-BD43-D1927358E2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10</a:t>
            </a:r>
          </a:p>
        </p:txBody>
      </p:sp>
    </p:spTree>
    <p:extLst>
      <p:ext uri="{BB962C8B-B14F-4D97-AF65-F5344CB8AC3E}">
        <p14:creationId xmlns:p14="http://schemas.microsoft.com/office/powerpoint/2010/main" val="14425369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082B817-1701-4AEA-B4F8-CAC35C7CD3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E6A60B-2C6E-4508-BBB5-C302194282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74CFF9-6F0D-475F-94B5-63A1D643AE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pandas syntax</a:t>
            </a:r>
          </a:p>
        </p:txBody>
      </p:sp>
      <p:sp>
        <p:nvSpPr>
          <p:cNvPr id="4" name="">
            <a:extLst xmlns:a="http://schemas.openxmlformats.org/drawingml/2006/main">
              <a:ext uri="{FF2B5EF4-FFF2-40B4-BE49-F238E27FC236}">
                <a16:creationId xmlns:a16="http://schemas.microsoft.com/office/drawing/2014/main" id="{59CCA737-1E69-4864-A1C3-006812C53A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324778-02DD-44B2-A95B-1F43510136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the library and gives it a short name.</a:t>
            </a:r>
          </a:p>
        </p:txBody>
      </p:sp>
      <p:sp>
        <p:nvSpPr>
          <p:cNvPr id="6" name="">
            <a:extLst xmlns:a="http://schemas.openxmlformats.org/drawingml/2006/main">
              <a:ext uri="{FF2B5EF4-FFF2-40B4-BE49-F238E27FC236}">
                <a16:creationId xmlns:a16="http://schemas.microsoft.com/office/drawing/2014/main" id="{4A22D7D9-83B3-4262-A4B3-20BC3E8D90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BDD191-2814-41E1-A0F4-8D0CF8383FA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pd.read_csv("file.csv") calls a function. The quoted text is the file path.</a:t>
            </a:r>
          </a:p>
        </p:txBody>
      </p:sp>
      <p:sp>
        <p:nvSpPr>
          <p:cNvPr id="8" name="">
            <a:extLst xmlns:a="http://schemas.openxmlformats.org/drawingml/2006/main">
              <a:ext uri="{FF2B5EF4-FFF2-40B4-BE49-F238E27FC236}">
                <a16:creationId xmlns:a16="http://schemas.microsoft.com/office/drawing/2014/main" id="{B195CC75-D819-48B0-B98F-9CD36CCA0AB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24D36B-7EBA-47EB-BD44-C0847743A9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a column. df["kwh"].mean() calls a method on that column.</a:t>
            </a:r>
          </a:p>
        </p:txBody>
      </p:sp>
      <p:sp>
        <p:nvSpPr>
          <p:cNvPr id="10" name="">
            <a:extLst xmlns:a="http://schemas.openxmlformats.org/drawingml/2006/main">
              <a:ext uri="{FF2B5EF4-FFF2-40B4-BE49-F238E27FC236}">
                <a16:creationId xmlns:a16="http://schemas.microsoft.com/office/drawing/2014/main" id="{A7B06D41-E4CD-49B7-B907-5F038D32F3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11</a:t>
            </a:r>
          </a:p>
        </p:txBody>
      </p:sp>
    </p:spTree>
    <p:extLst>
      <p:ext uri="{BB962C8B-B14F-4D97-AF65-F5344CB8AC3E}">
        <p14:creationId xmlns:p14="http://schemas.microsoft.com/office/powerpoint/2010/main" val="212716872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3CA182-F827-4E1B-9A83-A197EA2592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01821D-8986-472E-A10E-8BB7ABD1B1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842F86-67ED-4D40-B1A8-11AB50343A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table constructor in stages</a:t>
            </a:r>
          </a:p>
        </p:txBody>
      </p:sp>
      <p:sp>
        <p:nvSpPr>
          <p:cNvPr id="4" name="">
            <a:extLst xmlns:a="http://schemas.openxmlformats.org/drawingml/2006/main">
              <a:ext uri="{FF2B5EF4-FFF2-40B4-BE49-F238E27FC236}">
                <a16:creationId xmlns:a16="http://schemas.microsoft.com/office/drawing/2014/main" id="{C8D668D8-277A-4F7D-A801-E0ADC38C262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F50096-3582-4F8A-8B30-E4FB192EE51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shorter name pd. This is an alias; you could use another name consistently.</a:t>
            </a:r>
          </a:p>
        </p:txBody>
      </p:sp>
      <p:sp>
        <p:nvSpPr>
          <p:cNvPr id="6" name="">
            <a:extLst xmlns:a="http://schemas.openxmlformats.org/drawingml/2006/main">
              <a:ext uri="{FF2B5EF4-FFF2-40B4-BE49-F238E27FC236}">
                <a16:creationId xmlns:a16="http://schemas.microsoft.com/office/drawing/2014/main" id="{414E47B5-EF88-4F35-9ED1-1D95885DDC8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47EB0D-CF01-4059-9DAF-73422650A48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Inside pd.DataFrame(...), the dictionary keys become column names. Each list supplies that column’s values in row order.</a:t>
            </a:r>
          </a:p>
        </p:txBody>
      </p:sp>
      <p:sp>
        <p:nvSpPr>
          <p:cNvPr id="8" name="">
            <a:extLst xmlns:a="http://schemas.openxmlformats.org/drawingml/2006/main">
              <a:ext uri="{FF2B5EF4-FFF2-40B4-BE49-F238E27FC236}">
                <a16:creationId xmlns:a16="http://schemas.microsoft.com/office/drawing/2014/main" id="{A55A6323-055D-43B4-8822-26DE715DE03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0C86A9-51EC-4D5E-86D0-03310E12C37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All these column lists have the same length. At position 0, building is "A" and kwh is 2; together they form the first row.</a:t>
            </a:r>
          </a:p>
        </p:txBody>
      </p:sp>
      <p:sp>
        <p:nvSpPr>
          <p:cNvPr id="10" name="">
            <a:extLst xmlns:a="http://schemas.openxmlformats.org/drawingml/2006/main">
              <a:ext uri="{FF2B5EF4-FFF2-40B4-BE49-F238E27FC236}">
                <a16:creationId xmlns:a16="http://schemas.microsoft.com/office/drawing/2014/main" id="{E12887E2-C462-4A45-A751-D584DD0B26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12</a:t>
            </a:r>
          </a:p>
        </p:txBody>
      </p:sp>
    </p:spTree>
    <p:extLst>
      <p:ext uri="{BB962C8B-B14F-4D97-AF65-F5344CB8AC3E}">
        <p14:creationId xmlns:p14="http://schemas.microsoft.com/office/powerpoint/2010/main" val="209918404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9BF2FF-D219-4DFF-A2F6-52457F04BF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76AD94-0997-411B-A216-341A892058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1684D34-6030-4483-96C6-F4F924561C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 the table before asking questions</a:t>
            </a:r>
          </a:p>
        </p:txBody>
      </p:sp>
      <p:sp>
        <p:nvSpPr>
          <p:cNvPr id="4" name="">
            <a:extLst xmlns:a="http://schemas.openxmlformats.org/drawingml/2006/main">
              <a:ext uri="{FF2B5EF4-FFF2-40B4-BE49-F238E27FC236}">
                <a16:creationId xmlns:a16="http://schemas.microsoft.com/office/drawing/2014/main" id="{11F644EA-1284-492E-9B0F-140F1B7ECEC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54983F-A185-4BE2-B596-F7B77DAAD6B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 = pd.DataFrame({"building": ["A", "A", "B", "B"],</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"kwh": [2, 4,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a:t>
            </a:r>
          </a:p>
        </p:txBody>
      </p:sp>
      <p:sp>
        <p:nvSpPr>
          <p:cNvPr id="6" name="">
            <a:extLst xmlns:a="http://schemas.openxmlformats.org/drawingml/2006/main">
              <a:ext uri="{FF2B5EF4-FFF2-40B4-BE49-F238E27FC236}">
                <a16:creationId xmlns:a16="http://schemas.microsoft.com/office/drawing/2014/main" id="{576F5ADF-9350-48C6-87E5-A011D222D97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1327194D-C782-46E9-88B5-2C29CC3BBF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Each dictionary key becomes a column name. Equal-length lists supply its rows.</a:t>
            </a:r>
          </a:p>
        </p:txBody>
      </p:sp>
      <p:sp>
        <p:nvSpPr>
          <p:cNvPr id="8" name="">
            <a:extLst xmlns:a="http://schemas.openxmlformats.org/drawingml/2006/main">
              <a:ext uri="{FF2B5EF4-FFF2-40B4-BE49-F238E27FC236}">
                <a16:creationId xmlns:a16="http://schemas.microsoft.com/office/drawing/2014/main" id="{5CA36532-BCA0-4940-AB03-3162C7B417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13</a:t>
            </a:r>
          </a:p>
        </p:txBody>
      </p:sp>
    </p:spTree>
    <p:extLst>
      <p:ext uri="{BB962C8B-B14F-4D97-AF65-F5344CB8AC3E}">
        <p14:creationId xmlns:p14="http://schemas.microsoft.com/office/powerpoint/2010/main" val="126225396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7C278F-DCC9-4568-B544-B358AE7BFA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8CF456-D77F-43F0-A440-3EB54A7EB0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75914A-9D0D-443A-A72C-7B382B5953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first then summarise</a:t>
            </a:r>
          </a:p>
        </p:txBody>
      </p:sp>
      <p:sp>
        <p:nvSpPr>
          <p:cNvPr id="4" name="">
            <a:extLst xmlns:a="http://schemas.openxmlformats.org/drawingml/2006/main">
              <a:ext uri="{FF2B5EF4-FFF2-40B4-BE49-F238E27FC236}">
                <a16:creationId xmlns:a16="http://schemas.microsoft.com/office/drawing/2014/main" id="{730CFC9E-0D7E-433E-8E59-CB40D5AB0D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5E8873-5313-4A46-8A28-9946F98C0C1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 selects the energy column as a Series, which is a labelled sequence of values. Its entries are 2, 4, 5 and 7.</a:t>
            </a:r>
          </a:p>
        </p:txBody>
      </p:sp>
      <p:sp>
        <p:nvSpPr>
          <p:cNvPr id="6" name="">
            <a:extLst xmlns:a="http://schemas.openxmlformats.org/drawingml/2006/main">
              <a:ext uri="{FF2B5EF4-FFF2-40B4-BE49-F238E27FC236}">
                <a16:creationId xmlns:a16="http://schemas.microsoft.com/office/drawing/2014/main" id="{01D7B152-CFD8-45C6-8AC7-9D33F210C09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2ECD53-1709-4F1F-A4D6-0907A0BC62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it as energy = df["kwh"]. energy.mean() adds those four values and divides by four: 18 / 4 = 4.5.</a:t>
            </a:r>
          </a:p>
        </p:txBody>
      </p:sp>
      <p:sp>
        <p:nvSpPr>
          <p:cNvPr id="8" name="">
            <a:extLst xmlns:a="http://schemas.openxmlformats.org/drawingml/2006/main">
              <a:ext uri="{FF2B5EF4-FFF2-40B4-BE49-F238E27FC236}">
                <a16:creationId xmlns:a16="http://schemas.microsoft.com/office/drawing/2014/main" id="{3606D612-EF9F-4CFB-914F-50F70B53E60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BA46A6-9257-4A80-80E2-4B364FCAB4A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df["kwh"].mean() combines those same two steps. A dot chooses a method; parentheses call it.</a:t>
            </a:r>
          </a:p>
        </p:txBody>
      </p:sp>
      <p:sp>
        <p:nvSpPr>
          <p:cNvPr id="10" name="">
            <a:extLst xmlns:a="http://schemas.openxmlformats.org/drawingml/2006/main">
              <a:ext uri="{FF2B5EF4-FFF2-40B4-BE49-F238E27FC236}">
                <a16:creationId xmlns:a16="http://schemas.microsoft.com/office/drawing/2014/main" id="{091077FF-751D-4431-A97D-DCED450806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14</a:t>
            </a:r>
          </a:p>
        </p:txBody>
      </p:sp>
    </p:spTree>
    <p:extLst>
      <p:ext uri="{BB962C8B-B14F-4D97-AF65-F5344CB8AC3E}">
        <p14:creationId xmlns:p14="http://schemas.microsoft.com/office/powerpoint/2010/main" val="46853794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930A23-6711-4EB0-B05F-832C23B87F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E4AB85-64A8-4EF8-97AD-B32B72A0F1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04DCAA3-1425-4AA2-98FD-1C49C726F0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 a column and calculate its mean</a:t>
            </a:r>
          </a:p>
        </p:txBody>
      </p:sp>
      <p:sp>
        <p:nvSpPr>
          <p:cNvPr id="4" name="">
            <a:extLst xmlns:a="http://schemas.openxmlformats.org/drawingml/2006/main">
              <a:ext uri="{FF2B5EF4-FFF2-40B4-BE49-F238E27FC236}">
                <a16:creationId xmlns:a16="http://schemas.microsoft.com/office/drawing/2014/main" id="{26DF6C47-4C5C-4082-9569-CAB9A928E18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211BC7-1551-4A1F-9AA4-C26AF7F3D01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print(df["kwh"].mean())</a:t>
            </a:r>
          </a:p>
        </p:txBody>
      </p:sp>
      <p:sp>
        <p:nvSpPr>
          <p:cNvPr id="6" name="">
            <a:extLst xmlns:a="http://schemas.openxmlformats.org/drawingml/2006/main">
              <a:ext uri="{FF2B5EF4-FFF2-40B4-BE49-F238E27FC236}">
                <a16:creationId xmlns:a16="http://schemas.microsoft.com/office/drawing/2014/main" id="{68B8757F-8C28-4ECB-AECF-4D25C61BD55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917FE67-B02C-4116-94BA-8EE744AAF16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6FB51CD-D991-4BD3-B11D-118F9EB0B6F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1FA56D76-9011-4D40-9A94-F10E93D4CC0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four numbers are 2, 4, 5 and 7. Their mean is 18 / 4 = 4.5 kWh.</a:t>
            </a:r>
          </a:p>
        </p:txBody>
      </p:sp>
      <p:sp>
        <p:nvSpPr>
          <p:cNvPr id="10" name="">
            <a:extLst xmlns:a="http://schemas.openxmlformats.org/drawingml/2006/main">
              <a:ext uri="{FF2B5EF4-FFF2-40B4-BE49-F238E27FC236}">
                <a16:creationId xmlns:a16="http://schemas.microsoft.com/office/drawing/2014/main" id="{DADF4CFF-BA3E-4FA9-8477-4A08AB9825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15</a:t>
            </a:r>
          </a:p>
        </p:txBody>
      </p:sp>
    </p:spTree>
    <p:extLst>
      <p:ext uri="{BB962C8B-B14F-4D97-AF65-F5344CB8AC3E}">
        <p14:creationId xmlns:p14="http://schemas.microsoft.com/office/powerpoint/2010/main" val="48792437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2B69F0-C19D-41CE-A04F-047832C262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6AB606-3867-41ED-8C80-3055D8F297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947A93C-4973-4058-BCF6-21A50EDB90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Mask and filter</a:t>
            </a:r>
          </a:p>
        </p:txBody>
      </p:sp>
      <p:sp>
        <p:nvSpPr>
          <p:cNvPr id="4" name="">
            <a:extLst xmlns:a="http://schemas.openxmlformats.org/drawingml/2006/main">
              <a:ext uri="{FF2B5EF4-FFF2-40B4-BE49-F238E27FC236}">
                <a16:creationId xmlns:a16="http://schemas.microsoft.com/office/drawing/2014/main" id="{B5EB0BB2-F3BD-4994-85F8-EB38F6D8771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5D7CAA-E543-46AB-9621-527D118224F2}"/>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Mask and filter</a:t>
            </a:r>
          </a:p>
        </p:txBody>
      </p:sp>
      <p:sp>
        <p:nvSpPr>
          <p:cNvPr id="6" name="">
            <a:extLst xmlns:a="http://schemas.openxmlformats.org/drawingml/2006/main">
              <a:ext uri="{FF2B5EF4-FFF2-40B4-BE49-F238E27FC236}">
                <a16:creationId xmlns:a16="http://schemas.microsoft.com/office/drawing/2014/main" id="{B90090EC-F529-45F1-99E8-B834BF2F2E2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comparison produces True/False for each row. df[mask] keeps the True rows.</a:t>
            </a:r>
          </a:p>
        </p:txBody>
      </p:sp>
      <p:sp>
        <p:nvSpPr>
          <p:cNvPr id="7" name="">
            <a:extLst xmlns:a="http://schemas.openxmlformats.org/drawingml/2006/main">
              <a:ext uri="{FF2B5EF4-FFF2-40B4-BE49-F238E27FC236}">
                <a16:creationId xmlns:a16="http://schemas.microsoft.com/office/drawing/2014/main" id="{0DFD82EE-C712-4899-B2F5-4A1B682CB9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16</a:t>
            </a:r>
          </a:p>
        </p:txBody>
      </p:sp>
    </p:spTree>
    <p:extLst>
      <p:ext uri="{BB962C8B-B14F-4D97-AF65-F5344CB8AC3E}">
        <p14:creationId xmlns:p14="http://schemas.microsoft.com/office/powerpoint/2010/main" val="84793175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1874200-16CA-4C11-B13D-AB86FE90D51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180E6C-C57A-44C5-B2BA-85CD0AE1FD0E}"/>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comparison creates a Boolean mask</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3f23994bdc8c4b5e"/>
          <a:stretch xmlns:a="http://schemas.openxmlformats.org/drawingml/2006/main"/>
        </p:blipFill>
        <p:spPr>
          <a:xfrm xmlns:a="http://schemas.openxmlformats.org/drawingml/2006/main">
            <a:off x="717043" y="1057275"/>
            <a:ext cx="1075791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DF01A81-62BE-4543-944D-65233E1BA00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B9F0D7-D44B-4ABD-8526-D0AA0AEAD4D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filters torque readings. Our next example applies the same True/False selection to kWh values.</a:t>
            </a:r>
          </a:p>
        </p:txBody>
      </p:sp>
      <p:sp>
        <p:nvSpPr>
          <p:cNvPr id="6" name="">
            <a:extLst xmlns:a="http://schemas.openxmlformats.org/drawingml/2006/main">
              <a:ext uri="{FF2B5EF4-FFF2-40B4-BE49-F238E27FC236}">
                <a16:creationId xmlns:a16="http://schemas.microsoft.com/office/drawing/2014/main" id="{24CFDF9F-981F-419D-BDB8-7EF0B09C44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17</a:t>
            </a:r>
          </a:p>
        </p:txBody>
      </p:sp>
    </p:spTree>
    <p:extLst>
      <p:ext uri="{BB962C8B-B14F-4D97-AF65-F5344CB8AC3E}">
        <p14:creationId xmlns:p14="http://schemas.microsoft.com/office/powerpoint/2010/main" val="15293258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72B553F-5196-445E-898C-416C5B93BD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FB3DB2-FCB0-4419-8751-11DE09F1DF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DDEF04C-0D0F-4029-A5B6-4B5A7E738D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rows where the comparison is true</a:t>
            </a:r>
          </a:p>
        </p:txBody>
      </p:sp>
      <p:sp>
        <p:nvSpPr>
          <p:cNvPr id="4" name="">
            <a:extLst xmlns:a="http://schemas.openxmlformats.org/drawingml/2006/main">
              <a:ext uri="{FF2B5EF4-FFF2-40B4-BE49-F238E27FC236}">
                <a16:creationId xmlns:a16="http://schemas.microsoft.com/office/drawing/2014/main" id="{E490438B-B3E8-4A74-BC65-8EAAF8EC77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4BD325-040D-480C-8FB4-CF360FDF239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mask = df["kwh"] &gt;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print(mask)</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print(df[mask])</a:t>
            </a:r>
          </a:p>
        </p:txBody>
      </p:sp>
      <p:sp>
        <p:nvSpPr>
          <p:cNvPr id="6" name="">
            <a:extLst xmlns:a="http://schemas.openxmlformats.org/drawingml/2006/main">
              <a:ext uri="{FF2B5EF4-FFF2-40B4-BE49-F238E27FC236}">
                <a16:creationId xmlns:a16="http://schemas.microsoft.com/office/drawing/2014/main" id="{BC58E6CA-203B-4D6E-B7E4-DF4B500245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FA4F0AB-FECD-447A-A94B-E9E2F09A761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96761B62-9542-46DD-AE39-C968037232B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BA7305C1-2B1F-42BE-92B6-A3357CD470F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6AC7F2B1-0562-464F-921D-A4E5BFD12B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The mask is False, False, True, True. The selected rows contain 5 and 7 kWh.</a:t>
            </a:r>
          </a:p>
        </p:txBody>
      </p:sp>
      <p:sp>
        <p:nvSpPr>
          <p:cNvPr id="11" name="">
            <a:extLst xmlns:a="http://schemas.openxmlformats.org/drawingml/2006/main">
              <a:ext uri="{FF2B5EF4-FFF2-40B4-BE49-F238E27FC236}">
                <a16:creationId xmlns:a16="http://schemas.microsoft.com/office/drawing/2014/main" id="{2725A542-9821-47B4-B65E-1EB076971C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18</a:t>
            </a:r>
          </a:p>
        </p:txBody>
      </p:sp>
    </p:spTree>
    <p:extLst>
      <p:ext uri="{BB962C8B-B14F-4D97-AF65-F5344CB8AC3E}">
        <p14:creationId xmlns:p14="http://schemas.microsoft.com/office/powerpoint/2010/main" val="198742790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D154CB-8E52-4962-A4AD-1F641FDF65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9E61E5-2B1C-4849-B64A-D31D6F74CB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508781A-C617-4732-98D6-A02A5AA1E2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groupby and aggregation</a:t>
            </a:r>
          </a:p>
        </p:txBody>
      </p:sp>
      <p:sp>
        <p:nvSpPr>
          <p:cNvPr id="4" name="">
            <a:extLst xmlns:a="http://schemas.openxmlformats.org/drawingml/2006/main">
              <a:ext uri="{FF2B5EF4-FFF2-40B4-BE49-F238E27FC236}">
                <a16:creationId xmlns:a16="http://schemas.microsoft.com/office/drawing/2014/main" id="{FF72E2F0-34D3-4350-ABAE-42413E5DEDF1}"/>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24B742-2859-4F4B-9A2E-E797711EAB9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groupby and aggregation</a:t>
            </a:r>
          </a:p>
        </p:txBody>
      </p:sp>
      <p:sp>
        <p:nvSpPr>
          <p:cNvPr id="6" name="">
            <a:extLst xmlns:a="http://schemas.openxmlformats.org/drawingml/2006/main">
              <a:ext uri="{FF2B5EF4-FFF2-40B4-BE49-F238E27FC236}">
                <a16:creationId xmlns:a16="http://schemas.microsoft.com/office/drawing/2014/main" id="{37CB50C9-90C2-45B6-AE4D-9D2676A9150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groupby collects rows with the same label. An aggregation such as sum or mean returns a summary for each group.</a:t>
            </a:r>
          </a:p>
        </p:txBody>
      </p:sp>
      <p:sp>
        <p:nvSpPr>
          <p:cNvPr id="7" name="">
            <a:extLst xmlns:a="http://schemas.openxmlformats.org/drawingml/2006/main">
              <a:ext uri="{FF2B5EF4-FFF2-40B4-BE49-F238E27FC236}">
                <a16:creationId xmlns:a16="http://schemas.microsoft.com/office/drawing/2014/main" id="{D0FA61B9-AAB3-40F0-8732-1E4BF4CEA7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19</a:t>
            </a:r>
          </a:p>
        </p:txBody>
      </p:sp>
    </p:spTree>
    <p:extLst>
      <p:ext uri="{BB962C8B-B14F-4D97-AF65-F5344CB8AC3E}">
        <p14:creationId xmlns:p14="http://schemas.microsoft.com/office/powerpoint/2010/main" val="17364870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598539-3933-43E5-B268-47995E339F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0022F7-E757-4231-A421-95E9EEC04F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8EB97F6-9477-4798-B349-0C454C4265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group total before using groupby</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Group</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Values assigned to it</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2 and 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B</a:t>
                      </a:r>
                    </a:p>
                  </a:txBody>
                  <a:tcPr marL="91440" marR="91440" marT="45720" marB="45720">
                    <a:solidFill>
                      <a:srgbClr val="FFFFFF"/>
                    </a:solidFill>
                  </a:tcPr>
                </a:tc>
                <a:tc>
                  <a:txBody>
                    <a:bodyPr/>
                    <a:lstStyle/>
                    <a:p>
                      <a:r>
                        <a:rPr sz="2025" b="0">
                          <a:solidFill>
                            <a:srgbClr val="1C3144"/>
                          </a:solidFill>
                          <a:latin typeface="Calibri"/>
                          <a:ea typeface="Calibri"/>
                          <a:cs typeface="Calibri"/>
                        </a:rPr>
                        <a:t>5 and 7</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4E0E6CD-570D-42C9-9275-3F7EE408CC27}"/>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groupby separates rows by the building label. sum adds the kWh values inside each group.</a:t>
            </a:r>
          </a:p>
        </p:txBody>
      </p:sp>
      <p:sp>
        <p:nvSpPr>
          <p:cNvPr id="6" name="">
            <a:extLst xmlns:a="http://schemas.openxmlformats.org/drawingml/2006/main">
              <a:ext uri="{FF2B5EF4-FFF2-40B4-BE49-F238E27FC236}">
                <a16:creationId xmlns:a16="http://schemas.microsoft.com/office/drawing/2014/main" id="{72E63B91-0DB3-4D7C-9B09-B840BA4069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20</a:t>
            </a:r>
          </a:p>
        </p:txBody>
      </p:sp>
    </p:spTree>
    <p:extLst>
      <p:ext uri="{BB962C8B-B14F-4D97-AF65-F5344CB8AC3E}">
        <p14:creationId xmlns:p14="http://schemas.microsoft.com/office/powerpoint/2010/main" val="144680385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AA8F55-4325-4C90-80DD-7F23C3E8FD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A67288-A283-48D5-8DE6-B677E3541F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0BDB69-D321-422F-9BFB-D4EFE7FE88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each step of a pandas chain</a:t>
            </a:r>
          </a:p>
        </p:txBody>
      </p:sp>
      <p:sp>
        <p:nvSpPr>
          <p:cNvPr id="4" name="">
            <a:extLst xmlns:a="http://schemas.openxmlformats.org/drawingml/2006/main">
              <a:ext uri="{FF2B5EF4-FFF2-40B4-BE49-F238E27FC236}">
                <a16:creationId xmlns:a16="http://schemas.microsoft.com/office/drawing/2014/main" id="{E6FEF8DD-3F25-4709-908A-3AE944E424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530C419-2941-4A64-9ABB-6C1009B76AC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groups = df.groupby("building") describes groups of rows with matching building labels.</a:t>
            </a:r>
          </a:p>
        </p:txBody>
      </p:sp>
      <p:sp>
        <p:nvSpPr>
          <p:cNvPr id="6" name="">
            <a:extLst xmlns:a="http://schemas.openxmlformats.org/drawingml/2006/main">
              <a:ext uri="{FF2B5EF4-FFF2-40B4-BE49-F238E27FC236}">
                <a16:creationId xmlns:a16="http://schemas.microsoft.com/office/drawing/2014/main" id="{F34C84EC-DC85-48D6-AF02-CD41A5BE692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31D546A-5C0F-4C29-9B12-0A87A3DAB7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energy_groups = groups["kwh"] selects the energy values within those groups. totals = energy_groups.sum() calculates one total per group.</a:t>
            </a:r>
          </a:p>
        </p:txBody>
      </p:sp>
      <p:sp>
        <p:nvSpPr>
          <p:cNvPr id="8" name="">
            <a:extLst xmlns:a="http://schemas.openxmlformats.org/drawingml/2006/main">
              <a:ext uri="{FF2B5EF4-FFF2-40B4-BE49-F238E27FC236}">
                <a16:creationId xmlns:a16="http://schemas.microsoft.com/office/drawing/2014/main" id="{81302522-F01A-496F-A187-A2904ABD96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E1D254-6082-4C7C-BB96-180D26683A0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df.groupby("building")["kwh"].sum() is the same sequence written on one line. Read it from left to right.</a:t>
            </a:r>
          </a:p>
        </p:txBody>
      </p:sp>
      <p:sp>
        <p:nvSpPr>
          <p:cNvPr id="10" name="">
            <a:extLst xmlns:a="http://schemas.openxmlformats.org/drawingml/2006/main">
              <a:ext uri="{FF2B5EF4-FFF2-40B4-BE49-F238E27FC236}">
                <a16:creationId xmlns:a16="http://schemas.microsoft.com/office/drawing/2014/main" id="{95BCB7A8-C108-41C1-B7FE-553F4C0CA0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21</a:t>
            </a:r>
          </a:p>
        </p:txBody>
      </p:sp>
    </p:spTree>
    <p:extLst>
      <p:ext uri="{BB962C8B-B14F-4D97-AF65-F5344CB8AC3E}">
        <p14:creationId xmlns:p14="http://schemas.microsoft.com/office/powerpoint/2010/main" val="166398506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62725D-C76D-47FC-8BC2-1A22616B5A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3CE240-7B10-4967-A1FF-91E821C86B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0A739C5-A5DF-49F3-A387-445B57E68C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Calculate one total for each building</a:t>
            </a:r>
          </a:p>
        </p:txBody>
      </p:sp>
      <p:sp>
        <p:nvSpPr>
          <p:cNvPr id="4" name="">
            <a:extLst xmlns:a="http://schemas.openxmlformats.org/drawingml/2006/main">
              <a:ext uri="{FF2B5EF4-FFF2-40B4-BE49-F238E27FC236}">
                <a16:creationId xmlns:a16="http://schemas.microsoft.com/office/drawing/2014/main" id="{8EBDD78D-AC24-448A-8A6B-7D117425770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12D1B2-41AB-41E8-84F6-C5C69DFF75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print(df.groupby("building")["kwh"].sum())</a:t>
            </a:r>
          </a:p>
        </p:txBody>
      </p:sp>
      <p:sp>
        <p:nvSpPr>
          <p:cNvPr id="6" name="">
            <a:extLst xmlns:a="http://schemas.openxmlformats.org/drawingml/2006/main">
              <a:ext uri="{FF2B5EF4-FFF2-40B4-BE49-F238E27FC236}">
                <a16:creationId xmlns:a16="http://schemas.microsoft.com/office/drawing/2014/main" id="{40BAC88D-5A80-4E84-87D6-50348B64B6E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9AFE2B4-9B62-4667-8FDF-6A3B813799C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6C54AB8A-A5A5-4A0A-AD69-4D36963315D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82F337A8-3316-44E9-BD64-9F6BB38D5B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totals 6 kWh; B totals 12 kWh.</a:t>
            </a:r>
          </a:p>
        </p:txBody>
      </p:sp>
      <p:sp>
        <p:nvSpPr>
          <p:cNvPr id="10" name="">
            <a:extLst xmlns:a="http://schemas.openxmlformats.org/drawingml/2006/main">
              <a:ext uri="{FF2B5EF4-FFF2-40B4-BE49-F238E27FC236}">
                <a16:creationId xmlns:a16="http://schemas.microsoft.com/office/drawing/2014/main" id="{F59C384A-7465-47EA-BF5F-609D212412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22</a:t>
            </a:r>
          </a:p>
        </p:txBody>
      </p:sp>
    </p:spTree>
    <p:extLst>
      <p:ext uri="{BB962C8B-B14F-4D97-AF65-F5344CB8AC3E}">
        <p14:creationId xmlns:p14="http://schemas.microsoft.com/office/powerpoint/2010/main" val="6901334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DEF1BFA-8422-4E65-9F82-4B44ADF3533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91E0A4-0CCC-4939-8F4B-9E4FBC0BCA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F3ADE4A5-2C2E-4672-A5D7-AA67C3A0E2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tables and summaries results</a:t>
            </a:r>
          </a:p>
        </p:txBody>
      </p:sp>
      <p:sp>
        <p:nvSpPr>
          <p:cNvPr id="4" name="">
            <a:extLst xmlns:a="http://schemas.openxmlformats.org/drawingml/2006/main">
              <a:ext uri="{FF2B5EF4-FFF2-40B4-BE49-F238E27FC236}">
                <a16:creationId xmlns:a16="http://schemas.microsoft.com/office/drawing/2014/main" id="{4BFF0FF4-11E0-4DA0-BD1D-08A78FE71B14}"/>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A7268B-365E-46B7-8673-4C40AF84A8AD}"/>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Mean 4.5. The filter keeps B rows with 5 and 7. Group totals: A = 6, B = 12 kWh.</a:t>
            </a:r>
          </a:p>
        </p:txBody>
      </p:sp>
      <p:sp>
        <p:nvSpPr>
          <p:cNvPr id="6" name="">
            <a:extLst xmlns:a="http://schemas.openxmlformats.org/drawingml/2006/main">
              <a:ext uri="{FF2B5EF4-FFF2-40B4-BE49-F238E27FC236}">
                <a16:creationId xmlns:a16="http://schemas.microsoft.com/office/drawing/2014/main" id="{2FF80D7B-F453-4027-9DA4-68E57DC50CD7}"/>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3B0B6DC-33A7-44CF-9A8F-84A907400C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23</a:t>
            </a:r>
          </a:p>
        </p:txBody>
      </p:sp>
    </p:spTree>
    <p:extLst>
      <p:ext uri="{BB962C8B-B14F-4D97-AF65-F5344CB8AC3E}">
        <p14:creationId xmlns:p14="http://schemas.microsoft.com/office/powerpoint/2010/main" val="43635173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22EA7B-0725-4192-837C-223ACCD0C8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3E7E5B-FF2E-47DC-BF8A-52CE1C6B0A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1B42FA-AB29-494A-91A8-63F1FA80F5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a:t>
            </a:r>
          </a:p>
        </p:txBody>
      </p:sp>
      <p:sp>
        <p:nvSpPr>
          <p:cNvPr id="4" name="">
            <a:extLst xmlns:a="http://schemas.openxmlformats.org/drawingml/2006/main">
              <a:ext uri="{FF2B5EF4-FFF2-40B4-BE49-F238E27FC236}">
                <a16:creationId xmlns:a16="http://schemas.microsoft.com/office/drawing/2014/main" id="{CBEB4393-DA1F-4C1F-83F7-CCCD5246CA2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C9F8C3E-67ED-492C-99AC-FD9383B7C5F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BACBECE-B6B4-4E57-8D5C-8985560FF9E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labels, not rows. idxmax returns the label of the largest total.</a:t>
            </a:r>
          </a:p>
        </p:txBody>
      </p:sp>
      <p:sp>
        <p:nvSpPr>
          <p:cNvPr id="7" name="">
            <a:extLst xmlns:a="http://schemas.openxmlformats.org/drawingml/2006/main">
              <a:ext uri="{FF2B5EF4-FFF2-40B4-BE49-F238E27FC236}">
                <a16:creationId xmlns:a16="http://schemas.microsoft.com/office/drawing/2014/main" id="{5B920A55-5812-4498-808C-4723EA02B9C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Here there is no tie.</a:t>
            </a:r>
          </a:p>
        </p:txBody>
      </p:sp>
      <p:sp>
        <p:nvSpPr>
          <p:cNvPr id="8" name="">
            <a:extLst xmlns:a="http://schemas.openxmlformats.org/drawingml/2006/main">
              <a:ext uri="{FF2B5EF4-FFF2-40B4-BE49-F238E27FC236}">
                <a16:creationId xmlns:a16="http://schemas.microsoft.com/office/drawing/2014/main" id="{1DEDE3A5-D633-40DE-8788-1CF870546A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24</a:t>
            </a:r>
          </a:p>
        </p:txBody>
      </p:sp>
    </p:spTree>
    <p:extLst>
      <p:ext uri="{BB962C8B-B14F-4D97-AF65-F5344CB8AC3E}">
        <p14:creationId xmlns:p14="http://schemas.microsoft.com/office/powerpoint/2010/main" val="180997809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56EBBCE-C587-40C7-9BE8-D8829DE72F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1F8D41-CB7C-4FF5-AC5D-3605E10154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F521E8B-A022-4B14-AD65-36FDB04809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Unique labels and the largest group in Python</a:t>
            </a:r>
          </a:p>
        </p:txBody>
      </p:sp>
      <p:sp>
        <p:nvSpPr>
          <p:cNvPr id="4" name="">
            <a:extLst xmlns:a="http://schemas.openxmlformats.org/drawingml/2006/main">
              <a:ext uri="{FF2B5EF4-FFF2-40B4-BE49-F238E27FC236}">
                <a16:creationId xmlns:a16="http://schemas.microsoft.com/office/drawing/2014/main" id="{91BCA05B-3740-4721-A12D-6DBCCF761A6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167718-E195-4810-BDCE-F094D8346DE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print(df["building"].nunique())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totals = df.groupby("building")["kwh"].sum()</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9CC87B11-8F00-49F7-9B09-DCACEAFF70E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6E8FB3D-6D20-4147-9B9D-3784941E160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D0434AEA-A7FD-471B-8099-7D3B0B78318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69AAC9E8-7CA0-4FFD-837E-2F21B60092D0}"/>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27B691B0-711D-471F-9AC6-E60E5F6754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2BBAD97D-3F60-45DF-96F4-F9267B3B1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25</a:t>
            </a:r>
          </a:p>
        </p:txBody>
      </p:sp>
    </p:spTree>
    <p:extLst>
      <p:ext uri="{BB962C8B-B14F-4D97-AF65-F5344CB8AC3E}">
        <p14:creationId xmlns:p14="http://schemas.microsoft.com/office/powerpoint/2010/main" val="55068662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01AC7E-9A4E-4693-B281-92F3C3C71C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0196383-313D-42DF-B9C7-6DEC7A8B53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5DB4E8-AF31-4CB4-B620-70326D0E6D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 column from two existing columns</a:t>
            </a:r>
          </a:p>
        </p:txBody>
      </p:sp>
      <p:sp>
        <p:nvSpPr>
          <p:cNvPr id="4" name="">
            <a:extLst xmlns:a="http://schemas.openxmlformats.org/drawingml/2006/main">
              <a:ext uri="{FF2B5EF4-FFF2-40B4-BE49-F238E27FC236}">
                <a16:creationId xmlns:a16="http://schemas.microsoft.com/office/drawing/2014/main" id="{72613A5C-45B5-4E9A-A921-9378ACF7BA4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9BFFD2-E447-4EBC-9BAA-457CC679F2F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609547-5E7E-4246-B7BC-6FF0DC3CB63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new column can store a calculation for every row. Division pairs the values in matching rows.</a:t>
            </a:r>
          </a:p>
        </p:txBody>
      </p:sp>
      <p:sp>
        <p:nvSpPr>
          <p:cNvPr id="7" name="">
            <a:extLst xmlns:a="http://schemas.openxmlformats.org/drawingml/2006/main">
              <a:ext uri="{FF2B5EF4-FFF2-40B4-BE49-F238E27FC236}">
                <a16:creationId xmlns:a16="http://schemas.microsoft.com/office/drawing/2014/main" id="{513ACCBF-66D1-44B7-985F-71A5C65A080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invented table all energy values are positive. UGX is Uganda shillings. Cost divided by energy has units UGX/kWh.</a:t>
            </a:r>
          </a:p>
        </p:txBody>
      </p:sp>
      <p:sp>
        <p:nvSpPr>
          <p:cNvPr id="8" name="">
            <a:extLst xmlns:a="http://schemas.openxmlformats.org/drawingml/2006/main">
              <a:ext uri="{FF2B5EF4-FFF2-40B4-BE49-F238E27FC236}">
                <a16:creationId xmlns:a16="http://schemas.microsoft.com/office/drawing/2014/main" id="{2F04FF22-EF0C-44C9-A2B6-7614E392BD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26</a:t>
            </a:r>
          </a:p>
        </p:txBody>
      </p:sp>
    </p:spTree>
    <p:extLst>
      <p:ext uri="{BB962C8B-B14F-4D97-AF65-F5344CB8AC3E}">
        <p14:creationId xmlns:p14="http://schemas.microsoft.com/office/powerpoint/2010/main" val="199335948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ACD1E2-9747-47D2-B654-887E25A6A4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74B85B-1D2E-4224-B1A9-3CD1CEA357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4D0055-F558-4181-BBE2-EF21DBCC5E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energy rate is cost divided by energy</a:t>
            </a:r>
          </a:p>
        </p:txBody>
      </p:sp>
      <p:sp>
        <p:nvSpPr>
          <p:cNvPr id="4" name="">
            <a:extLst xmlns:a="http://schemas.openxmlformats.org/drawingml/2006/main">
              <a:ext uri="{FF2B5EF4-FFF2-40B4-BE49-F238E27FC236}">
                <a16:creationId xmlns:a16="http://schemas.microsoft.com/office/drawing/2014/main" id="{093779A4-ABC8-4D01-918D-9F4569D6AB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CE3F5F-6E86-4FD5-B97D-92FD775B4DE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df["cost_ugx"] = [1000, 2400, 3500, 5600]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df["rate_ugx_per_kwh"] = df["cost_ugx"] / df["kwh"]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print(df["rate_ugx_per_kwh"])</a:t>
            </a:r>
          </a:p>
        </p:txBody>
      </p:sp>
      <p:sp>
        <p:nvSpPr>
          <p:cNvPr id="6" name="">
            <a:extLst xmlns:a="http://schemas.openxmlformats.org/drawingml/2006/main">
              <a:ext uri="{FF2B5EF4-FFF2-40B4-BE49-F238E27FC236}">
                <a16:creationId xmlns:a16="http://schemas.microsoft.com/office/drawing/2014/main" id="{EC4C2F39-7B15-41FD-9EE8-4B16E6262D3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BC335FB0-1877-48CE-808B-8D080AE6480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rates: 500, 600, 700 and 800 UGX/kWh. Keep units in column names.</a:t>
            </a:r>
          </a:p>
        </p:txBody>
      </p:sp>
      <p:sp>
        <p:nvSpPr>
          <p:cNvPr id="8" name="">
            <a:extLst xmlns:a="http://schemas.openxmlformats.org/drawingml/2006/main">
              <a:ext uri="{FF2B5EF4-FFF2-40B4-BE49-F238E27FC236}">
                <a16:creationId xmlns:a16="http://schemas.microsoft.com/office/drawing/2014/main" id="{730BEAAE-D7D9-47D9-8B6C-9838AA4F7E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27</a:t>
            </a:r>
          </a:p>
        </p:txBody>
      </p:sp>
    </p:spTree>
    <p:extLst>
      <p:ext uri="{BB962C8B-B14F-4D97-AF65-F5344CB8AC3E}">
        <p14:creationId xmlns:p14="http://schemas.microsoft.com/office/powerpoint/2010/main" val="172422409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2334A8-B517-47AD-80A7-A376F782CE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A84FC1-E44D-4EA3-B7B2-A0FE42B418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CB2688-5B45-4FAB-9AC7-3C613058F0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the assignment table before analysing it</a:t>
            </a:r>
          </a:p>
        </p:txBody>
      </p:sp>
      <p:sp>
        <p:nvSpPr>
          <p:cNvPr id="4" name="">
            <a:extLst xmlns:a="http://schemas.openxmlformats.org/drawingml/2006/main">
              <a:ext uri="{FF2B5EF4-FFF2-40B4-BE49-F238E27FC236}">
                <a16:creationId xmlns:a16="http://schemas.microsoft.com/office/drawing/2014/main" id="{0271C21A-44E7-491D-95F0-887BAC19CC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2150D9-4761-41A1-B52C-19D43614AAF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campus_energy.csv to the current runtime first. read_csv reads it into a new DataFrame.</a:t>
            </a:r>
          </a:p>
        </p:txBody>
      </p:sp>
      <p:sp>
        <p:nvSpPr>
          <p:cNvPr id="6" name="">
            <a:extLst xmlns:a="http://schemas.openxmlformats.org/drawingml/2006/main">
              <a:ext uri="{FF2B5EF4-FFF2-40B4-BE49-F238E27FC236}">
                <a16:creationId xmlns:a16="http://schemas.microsoft.com/office/drawing/2014/main" id="{AE384E9B-5708-4D50-8BBA-D37B515396F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B1E7C2-619A-43E4-8686-54C200202A9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head() displays the first five rows; shape gives row and column counts; dtypes shows column data types.</a:t>
            </a:r>
          </a:p>
        </p:txBody>
      </p:sp>
      <p:sp>
        <p:nvSpPr>
          <p:cNvPr id="8" name="">
            <a:extLst xmlns:a="http://schemas.openxmlformats.org/drawingml/2006/main">
              <a:ext uri="{FF2B5EF4-FFF2-40B4-BE49-F238E27FC236}">
                <a16:creationId xmlns:a16="http://schemas.microsoft.com/office/drawing/2014/main" id="{60678941-D960-4414-B85C-C64C2C2E302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25BF743-C459-4359-A9BB-77C48D43953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call this issued_table to keep it separate from the invented four-row df used above.</a:t>
            </a:r>
          </a:p>
        </p:txBody>
      </p:sp>
      <p:sp>
        <p:nvSpPr>
          <p:cNvPr id="10" name="">
            <a:extLst xmlns:a="http://schemas.openxmlformats.org/drawingml/2006/main">
              <a:ext uri="{FF2B5EF4-FFF2-40B4-BE49-F238E27FC236}">
                <a16:creationId xmlns:a16="http://schemas.microsoft.com/office/drawing/2014/main" id="{1E4298BC-2FB7-4F88-8040-D2E7312AB4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28</a:t>
            </a:r>
          </a:p>
        </p:txBody>
      </p:sp>
    </p:spTree>
    <p:extLst>
      <p:ext uri="{BB962C8B-B14F-4D97-AF65-F5344CB8AC3E}">
        <p14:creationId xmlns:p14="http://schemas.microsoft.com/office/powerpoint/2010/main" val="32756634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7FD259-1AB9-4A66-B7C9-E2FC865906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9824BB-DA7B-443F-8C32-D1AD5D2DC8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50D155B-F23B-44FB-8C7C-A818267FD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supplied energy file</a:t>
            </a:r>
          </a:p>
        </p:txBody>
      </p:sp>
      <p:sp>
        <p:nvSpPr>
          <p:cNvPr id="4" name="">
            <a:extLst xmlns:a="http://schemas.openxmlformats.org/drawingml/2006/main">
              <a:ext uri="{FF2B5EF4-FFF2-40B4-BE49-F238E27FC236}">
                <a16:creationId xmlns:a16="http://schemas.microsoft.com/office/drawing/2014/main" id="{0BBA1DC2-0555-4B50-A10A-BED0959432A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027FC6-E3DD-4A21-9711-C5EB62016C9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issued_table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print(issued_table.dtypes)</a:t>
            </a:r>
          </a:p>
        </p:txBody>
      </p:sp>
      <p:sp>
        <p:nvSpPr>
          <p:cNvPr id="6" name="">
            <a:extLst xmlns:a="http://schemas.openxmlformats.org/drawingml/2006/main">
              <a:ext uri="{FF2B5EF4-FFF2-40B4-BE49-F238E27FC236}">
                <a16:creationId xmlns:a16="http://schemas.microsoft.com/office/drawing/2014/main" id="{1549D4BB-557D-4C2B-8026-6ABEBECE1A1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8478CB4C-9227-4CE5-B12B-C110270A9A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Check column names, data types and units before attempting the six issued tasks.</a:t>
            </a:r>
          </a:p>
        </p:txBody>
      </p:sp>
      <p:sp>
        <p:nvSpPr>
          <p:cNvPr id="8" name="">
            <a:extLst xmlns:a="http://schemas.openxmlformats.org/drawingml/2006/main">
              <a:ext uri="{FF2B5EF4-FFF2-40B4-BE49-F238E27FC236}">
                <a16:creationId xmlns:a16="http://schemas.microsoft.com/office/drawing/2014/main" id="{C79063AB-6E83-4D47-B68D-C54C52514C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29</a:t>
            </a:r>
          </a:p>
        </p:txBody>
      </p:sp>
    </p:spTree>
    <p:extLst>
      <p:ext uri="{BB962C8B-B14F-4D97-AF65-F5344CB8AC3E}">
        <p14:creationId xmlns:p14="http://schemas.microsoft.com/office/powerpoint/2010/main" val="198434714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A69AEF-6F06-46DD-A718-3F267259EF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0DEE5E-ED0F-49FF-BE95-6467CE6637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8A2FC04-EDB5-4896-BB7E-7F4743A555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3CB666B7-D766-4E3E-83DD-CD1A931AEF3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FD9F09-1AC4-4FC1-9FBC-14F3870BC7E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D13A8FD-F8A4-4D5A-953B-E0AE3D74A6E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Use &gt; 5 instead. Predict the surviving rows. Which building has the largest total?</a:t>
            </a:r>
          </a:p>
        </p:txBody>
      </p:sp>
      <p:sp>
        <p:nvSpPr>
          <p:cNvPr id="7" name="">
            <a:extLst xmlns:a="http://schemas.openxmlformats.org/drawingml/2006/main">
              <a:ext uri="{FF2B5EF4-FFF2-40B4-BE49-F238E27FC236}">
                <a16:creationId xmlns:a16="http://schemas.microsoft.com/office/drawing/2014/main" id="{9A7A747F-2E1E-4F6A-B682-4BAD2D46AF8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Only the row with 7 survives. Building B has the larger total, 12 kWh.</a:t>
            </a:r>
          </a:p>
        </p:txBody>
      </p:sp>
      <p:sp>
        <p:nvSpPr>
          <p:cNvPr id="8" name="">
            <a:extLst xmlns:a="http://schemas.openxmlformats.org/drawingml/2006/main">
              <a:ext uri="{FF2B5EF4-FFF2-40B4-BE49-F238E27FC236}">
                <a16:creationId xmlns:a16="http://schemas.microsoft.com/office/drawing/2014/main" id="{98957B4A-4067-4D84-B012-21C548C1FD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30</a:t>
            </a:r>
          </a:p>
        </p:txBody>
      </p:sp>
    </p:spTree>
    <p:extLst>
      <p:ext uri="{BB962C8B-B14F-4D97-AF65-F5344CB8AC3E}">
        <p14:creationId xmlns:p14="http://schemas.microsoft.com/office/powerpoint/2010/main" val="6232096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DCA4DAD-0330-4049-B3BE-9A6885C1CE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360C98D-BD50-4051-859E-1B6F6F2B29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4FFF951-CE19-4C4D-8FC1-9BFF4E5F01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D42C406A-24BB-46FD-8FB6-DAB57563427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58C3080-3EB6-4C7B-89CB-5019836F783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A5 uses the supplied fictional campus_energy.csv, not a live Kaggle download.</a:t>
            </a:r>
          </a:p>
        </p:txBody>
      </p:sp>
      <p:sp>
        <p:nvSpPr>
          <p:cNvPr id="6" name="">
            <a:extLst xmlns:a="http://schemas.openxmlformats.org/drawingml/2006/main">
              <a:ext uri="{FF2B5EF4-FFF2-40B4-BE49-F238E27FC236}">
                <a16:creationId xmlns:a16="http://schemas.microsoft.com/office/drawing/2014/main" id="{213B1DA9-CC24-4E5F-A02C-17F28E6A3F5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982F69-A4D4-401C-9230-B00024C9A28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six tasks use read_csv, nunique, division of columns, a &gt; filter, mean and grouped totals. idxmax returns the label of the largest value.</a:t>
            </a:r>
          </a:p>
        </p:txBody>
      </p:sp>
      <p:sp>
        <p:nvSpPr>
          <p:cNvPr id="8" name="">
            <a:extLst xmlns:a="http://schemas.openxmlformats.org/drawingml/2006/main">
              <a:ext uri="{FF2B5EF4-FFF2-40B4-BE49-F238E27FC236}">
                <a16:creationId xmlns:a16="http://schemas.microsoft.com/office/drawing/2014/main" id="{66938C31-E9FB-48FC-85CF-0ED57CCECF3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F214836-A585-4959-B7EF-1310D525332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of individual rates gives each observation equal weight.</a:t>
            </a:r>
          </a:p>
        </p:txBody>
      </p:sp>
      <p:sp>
        <p:nvSpPr>
          <p:cNvPr id="10" name="">
            <a:extLst xmlns:a="http://schemas.openxmlformats.org/drawingml/2006/main">
              <a:ext uri="{FF2B5EF4-FFF2-40B4-BE49-F238E27FC236}">
                <a16:creationId xmlns:a16="http://schemas.microsoft.com/office/drawing/2014/main" id="{22187FB5-5B40-47BD-8FE2-4C5E3256A45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44606B8-70EF-4939-98DB-72DB7B03744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Total cost divided by total energy weights by energy.</a:t>
            </a:r>
          </a:p>
        </p:txBody>
      </p:sp>
      <p:sp>
        <p:nvSpPr>
          <p:cNvPr id="12" name="">
            <a:extLst xmlns:a="http://schemas.openxmlformats.org/drawingml/2006/main">
              <a:ext uri="{FF2B5EF4-FFF2-40B4-BE49-F238E27FC236}">
                <a16:creationId xmlns:a16="http://schemas.microsoft.com/office/drawing/2014/main" id="{7DFAB9AB-FC64-4BC1-8E65-215F1FE930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31</a:t>
            </a:r>
          </a:p>
        </p:txBody>
      </p:sp>
    </p:spTree>
    <p:extLst>
      <p:ext uri="{BB962C8B-B14F-4D97-AF65-F5344CB8AC3E}">
        <p14:creationId xmlns:p14="http://schemas.microsoft.com/office/powerpoint/2010/main" val="90724295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92F4AD-F695-4B55-A03D-24741EB42B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18A13F-71E2-481F-BB9A-BE097B35CC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252176-C4E1-471C-9D60-0FC86D38F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a:t>
            </a:r>
          </a:p>
        </p:txBody>
      </p:sp>
      <p:sp>
        <p:nvSpPr>
          <p:cNvPr id="4" name="">
            <a:extLst xmlns:a="http://schemas.openxmlformats.org/drawingml/2006/main">
              <a:ext uri="{FF2B5EF4-FFF2-40B4-BE49-F238E27FC236}">
                <a16:creationId xmlns:a16="http://schemas.microsoft.com/office/drawing/2014/main" id="{E0E1BDE7-B2F3-45DD-B34D-606872B7C6E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6A27EC-4A51-4846-8ECE-0732D57010D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Boolean mask is a list-like column of True/False values. len(mask) counts all rows; mask.sum() counts True entries.</a:t>
            </a:r>
          </a:p>
        </p:txBody>
      </p:sp>
      <p:sp>
        <p:nvSpPr>
          <p:cNvPr id="6" name="">
            <a:extLst xmlns:a="http://schemas.openxmlformats.org/drawingml/2006/main">
              <a:ext uri="{FF2B5EF4-FFF2-40B4-BE49-F238E27FC236}">
                <a16:creationId xmlns:a16="http://schemas.microsoft.com/office/drawing/2014/main" id="{AB791CF8-FE7E-4A8E-A808-B3B669CF016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33D494-5BFB-4BFF-B0AE-E22787FFD16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Strings sort as text, so "9" can rank above "100".</a:t>
            </a:r>
          </a:p>
        </p:txBody>
      </p:sp>
      <p:sp>
        <p:nvSpPr>
          <p:cNvPr id="8" name="">
            <a:extLst xmlns:a="http://schemas.openxmlformats.org/drawingml/2006/main">
              <a:ext uri="{FF2B5EF4-FFF2-40B4-BE49-F238E27FC236}">
                <a16:creationId xmlns:a16="http://schemas.microsoft.com/office/drawing/2014/main" id="{F098CAEF-7A2F-4AE7-B16B-CFBCCDD5650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600D91-0A4B-41D7-A7E7-8229F9C874A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numeric types before taking maxima.</a:t>
            </a:r>
          </a:p>
        </p:txBody>
      </p:sp>
      <p:sp>
        <p:nvSpPr>
          <p:cNvPr id="10" name="">
            <a:extLst xmlns:a="http://schemas.openxmlformats.org/drawingml/2006/main">
              <a:ext uri="{FF2B5EF4-FFF2-40B4-BE49-F238E27FC236}">
                <a16:creationId xmlns:a16="http://schemas.microsoft.com/office/drawing/2014/main" id="{5C5EA208-7614-4810-8B3E-D1E7CAC13D1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E335BDE-4B8E-4607-986C-84BA08ADCD2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KeyError often means the column name does not match; check spelling, case and spaces. shape is (rows, columns).</a:t>
            </a:r>
          </a:p>
        </p:txBody>
      </p:sp>
      <p:sp>
        <p:nvSpPr>
          <p:cNvPr id="12" name="">
            <a:extLst xmlns:a="http://schemas.openxmlformats.org/drawingml/2006/main">
              <a:ext uri="{FF2B5EF4-FFF2-40B4-BE49-F238E27FC236}">
                <a16:creationId xmlns:a16="http://schemas.microsoft.com/office/drawing/2014/main" id="{592E27D4-FB71-46AB-ABA9-2D7A89AFB3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32</a:t>
            </a:r>
          </a:p>
        </p:txBody>
      </p:sp>
    </p:spTree>
    <p:extLst>
      <p:ext uri="{BB962C8B-B14F-4D97-AF65-F5344CB8AC3E}">
        <p14:creationId xmlns:p14="http://schemas.microsoft.com/office/powerpoint/2010/main" val="134773978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415CD5A-911A-4E45-8E19-84D2E7D244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87AFBA-0EF7-479B-9749-DDA453CF42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780C6E-11E5-4D35-86B3-8775683EC4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types and filters continued</a:t>
            </a:r>
          </a:p>
        </p:txBody>
      </p:sp>
      <p:sp>
        <p:nvSpPr>
          <p:cNvPr id="4" name="">
            <a:extLst xmlns:a="http://schemas.openxmlformats.org/drawingml/2006/main">
              <a:ext uri="{FF2B5EF4-FFF2-40B4-BE49-F238E27FC236}">
                <a16:creationId xmlns:a16="http://schemas.microsoft.com/office/drawing/2014/main" id="{56D73DB4-EB01-4104-AE26-95C97FCC713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5FEDEB-A500-4FD9-BCC6-BEA407B1B1E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Read provenance and units before trusting a dataset.</a:t>
            </a:r>
          </a:p>
        </p:txBody>
      </p:sp>
      <p:sp>
        <p:nvSpPr>
          <p:cNvPr id="6" name="">
            <a:extLst xmlns:a="http://schemas.openxmlformats.org/drawingml/2006/main">
              <a:ext uri="{FF2B5EF4-FFF2-40B4-BE49-F238E27FC236}">
                <a16:creationId xmlns:a16="http://schemas.microsoft.com/office/drawing/2014/main" id="{F4E36F42-7D9B-4A0B-8C4B-2553AB6FB2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33</a:t>
            </a:r>
          </a:p>
        </p:txBody>
      </p:sp>
    </p:spTree>
    <p:extLst>
      <p:ext uri="{BB962C8B-B14F-4D97-AF65-F5344CB8AC3E}">
        <p14:creationId xmlns:p14="http://schemas.microsoft.com/office/powerpoint/2010/main" val="2038300733"/>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DE1E1E-F0B3-4C69-B21B-D2EB581A94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61DA01-FC7F-4ABE-A14D-D432524C0C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AB7395C-7806-4BE1-AA88-A142ED1AB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269E655E-934E-4B74-89DE-D754A9D2D4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9D2402F-05E4-4F3F-ADB0-0CD1B8B8E14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0A9DF3C1-5C8D-41C3-B16D-F97CDEC61B3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F93CA5-0B37-4AF8-A4C3-E99306C6655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3C331038-23D1-4A84-8283-AE1C5E320CE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4C629D-D491-42AF-8475-963C2D639CB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C2A3A79B-152D-4833-AD1F-88F7A605A85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067EE18-41FA-4308-8514-F53A8C092E3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9048901C-EA70-423A-8338-DDFA43DE7C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34</a:t>
            </a:r>
          </a:p>
        </p:txBody>
      </p:sp>
    </p:spTree>
    <p:extLst>
      <p:ext uri="{BB962C8B-B14F-4D97-AF65-F5344CB8AC3E}">
        <p14:creationId xmlns:p14="http://schemas.microsoft.com/office/powerpoint/2010/main" val="131043706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BE8768-1DBC-4CE5-BFB9-E2E1248219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D5E7CB-3E76-44E2-92EE-0AA8D45F24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4459AD6-A9CC-4C53-B198-1208A3F8B7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138DC330-6FEB-4E68-B2CB-5EA7A6724E0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4C855F-C153-475F-A26F-3DA1AB16A8D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84F7438D-2102-4779-B04C-D0C66517A1C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64A99C-DCD9-40A7-8089-CA0691700C6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AE1CD16-DD2D-4B67-9C65-FE72F0391C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35</a:t>
            </a:r>
          </a:p>
        </p:txBody>
      </p:sp>
    </p:spTree>
    <p:extLst>
      <p:ext uri="{BB962C8B-B14F-4D97-AF65-F5344CB8AC3E}">
        <p14:creationId xmlns:p14="http://schemas.microsoft.com/office/powerpoint/2010/main" val="11128432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4DB2F0-2ED5-42FA-A7BC-DC0ED13B72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0E9587-79A2-41D0-9D25-32D6E49AEF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F3D22B5-D4EC-4970-BE2A-5D880984B2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814908A4-CFF5-4268-8691-FDCA9C10A69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597C03-FEBD-4A5A-AEBE-7EE1C8EBEB8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C7A3C662-2B7A-4C34-8947-D36D91D0CA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5405FD-9AA3-4295-8193-9C863097B56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A602661-0E56-4BFA-B5FC-74DC63D3B0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36</a:t>
            </a:r>
          </a:p>
        </p:txBody>
      </p:sp>
    </p:spTree>
    <p:extLst>
      <p:ext uri="{BB962C8B-B14F-4D97-AF65-F5344CB8AC3E}">
        <p14:creationId xmlns:p14="http://schemas.microsoft.com/office/powerpoint/2010/main" val="107981902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BB0C19-980E-4D35-B58B-A4DE014F6B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9195A7-EC9A-464B-A6DC-BC5CB72A80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6854A05-E1C6-4436-8A9F-662E58FE96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ECA5842B-C7D6-4044-BFD5-272A45E1654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14A249-6335-42B7-9DEF-220F3F06477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2DF3B477-174F-466A-B7B7-1BC2D6C191B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01AB21A-C2D7-4FDC-B054-4801FF94CAB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E42D438-CFF5-40D1-9A92-A15854E84B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37</a:t>
            </a:r>
          </a:p>
        </p:txBody>
      </p:sp>
    </p:spTree>
    <p:extLst>
      <p:ext uri="{BB962C8B-B14F-4D97-AF65-F5344CB8AC3E}">
        <p14:creationId xmlns:p14="http://schemas.microsoft.com/office/powerpoint/2010/main" val="84596247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3C4E79-A628-4B25-AF25-B5687281C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25B656-1028-4A7A-B345-405660B78C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3ED9A11-2B09-4DCE-8E86-E41A165536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EC35B626-CD8C-4FF9-98E7-8FF0294D6EC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08D911-D88E-43C9-B3F2-500F5735921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1F5E0299-DBF1-49E2-9958-A327F7CF330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C2C438A-E693-4622-BEE0-7A4A9DDBAFB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FE5430E-EF63-4C57-8F08-A061B2DEA8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38</a:t>
            </a:r>
          </a:p>
        </p:txBody>
      </p:sp>
    </p:spTree>
    <p:extLst>
      <p:ext uri="{BB962C8B-B14F-4D97-AF65-F5344CB8AC3E}">
        <p14:creationId xmlns:p14="http://schemas.microsoft.com/office/powerpoint/2010/main" val="113081430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AF1721-6FB6-4FF7-A72E-38F551C05F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12BE37-1B4F-4721-95A7-4B9BE24441B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923F997-CE60-4407-8438-63E4D0F002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DFF49D36-30C9-4BBC-A908-74BD5BA836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3AE3FC-D1BD-4713-9D4D-CC4C158DD1A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C3F370CE-A737-49D6-B332-5142A9DCD6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772A4D-EEEC-475E-9454-0D11D13CE3BB}"/>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BF13F3D-BB81-4BAF-B9CA-551337050E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39</a:t>
            </a:r>
          </a:p>
        </p:txBody>
      </p:sp>
    </p:spTree>
    <p:extLst>
      <p:ext uri="{BB962C8B-B14F-4D97-AF65-F5344CB8AC3E}">
        <p14:creationId xmlns:p14="http://schemas.microsoft.com/office/powerpoint/2010/main" val="88229953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838C75-E56A-4C80-99D3-E92915A23C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B5D366-0827-4CD0-BF79-0CBCB6BAA6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FB0785C-5D09-415B-B0F5-5A6C11F907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2C2AA91C-922B-4C49-BA03-B3F0398F600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A72B55-F6A2-4C46-A414-091434393839}"/>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E3AAC2AD-0B90-4598-9715-4A82A2124593}"/>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4844C7B-CD55-49F2-A50E-BB8B76FCB7F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9995C3E-B454-44B2-924A-F38851FB64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40</a:t>
            </a:r>
          </a:p>
        </p:txBody>
      </p:sp>
    </p:spTree>
    <p:extLst>
      <p:ext uri="{BB962C8B-B14F-4D97-AF65-F5344CB8AC3E}">
        <p14:creationId xmlns:p14="http://schemas.microsoft.com/office/powerpoint/2010/main" val="123906649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26EA29-A30E-4047-BCED-B5E103A276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93F870-2FFC-4532-A233-0257B8727E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56784D9-EBE0-453F-9C37-A4B8A7DC0F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9766CF37-D2DC-4A0C-9645-5E323DDCE14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8F93DE-DCDF-43C0-A823-BAE8AB3B49F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11:00 Kampala</a:t>
            </a:r>
          </a:p>
        </p:txBody>
      </p:sp>
      <p:sp>
        <p:nvSpPr>
          <p:cNvPr id="6" name="">
            <a:extLst xmlns:a="http://schemas.openxmlformats.org/drawingml/2006/main">
              <a:ext uri="{FF2B5EF4-FFF2-40B4-BE49-F238E27FC236}">
                <a16:creationId xmlns:a16="http://schemas.microsoft.com/office/drawing/2014/main" id="{0AD66105-0F26-4CF8-B419-06E7756AF74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5ED553-1EEE-44EB-A593-1DF7ADFD15B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11:00 Kampala</a:t>
            </a:r>
          </a:p>
        </p:txBody>
      </p:sp>
      <p:sp>
        <p:nvSpPr>
          <p:cNvPr id="8" name="">
            <a:extLst xmlns:a="http://schemas.openxmlformats.org/drawingml/2006/main">
              <a:ext uri="{FF2B5EF4-FFF2-40B4-BE49-F238E27FC236}">
                <a16:creationId xmlns:a16="http://schemas.microsoft.com/office/drawing/2014/main" id="{29565B1E-9025-4E44-82BF-4ED473CBC5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2AAA8E6-2A0B-4B1A-8789-4F21E53C7AF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81B17D12-0B8E-4930-87AE-A123B6EE479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50C14F-A1C6-4813-8326-6EB75F62582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9662E9FF-7B81-4DC6-B31E-E2897731A8A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25FF7BD-7A8F-4B08-80B6-F436E7C8096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9d2e5cdf5194471"/>
              </a:rPr>
              <a:t>Open W05 assignment form</a:t>
            </a:r>
          </a:p>
        </p:txBody>
      </p:sp>
      <p:sp>
        <p:nvSpPr>
          <p:cNvPr id="14" name="">
            <a:extLst xmlns:a="http://schemas.openxmlformats.org/drawingml/2006/main">
              <a:ext uri="{FF2B5EF4-FFF2-40B4-BE49-F238E27FC236}">
                <a16:creationId xmlns:a16="http://schemas.microsoft.com/office/drawing/2014/main" id="{D483477C-92D9-4CA3-BBEB-0194759A036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https://docs.google.com/forms/d/e/1FAIpQLSea9Y9pC-JeaVEPpu4prViKZaOHF8cmPczko8iGDiPmr73I2A/viewform</a:t>
            </a:r>
          </a:p>
        </p:txBody>
      </p:sp>
      <p:sp>
        <p:nvSpPr>
          <p:cNvPr id="15" name="">
            <a:extLst xmlns:a="http://schemas.openxmlformats.org/drawingml/2006/main">
              <a:ext uri="{FF2B5EF4-FFF2-40B4-BE49-F238E27FC236}">
                <a16:creationId xmlns:a16="http://schemas.microsoft.com/office/drawing/2014/main" id="{2F20542F-677B-4B4E-96E2-DEA5B1229F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41</a:t>
            </a:r>
          </a:p>
        </p:txBody>
      </p:sp>
    </p:spTree>
    <p:extLst>
      <p:ext uri="{BB962C8B-B14F-4D97-AF65-F5344CB8AC3E}">
        <p14:creationId xmlns:p14="http://schemas.microsoft.com/office/powerpoint/2010/main" val="90887567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F03058-4AED-4094-A677-647C6107B5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067AAA-3C29-4A39-8395-3F58F63F11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000B8A-B097-4DE7-9683-CE34A9908C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F4E7555-13DB-4671-A3A7-408BAA0932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D87C52-26D3-4504-B104-3B8CD189A28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9E9D59CC-BB5C-4460-A24F-B8B24B1FD35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257230-6170-46DA-BACF-B69B61C8599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EC0B0708-7AAD-4FD8-A5AE-8566E73F34D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1D559ED-3A68-4880-8A31-AEE4E56FDC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1ACC5B91-658F-47F1-93F4-028781AC347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90312AB-5A3B-42FA-A0C3-8E3159A76E7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9B25AD44-BF76-4FF2-A514-34F9EDB77F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42</a:t>
            </a:r>
          </a:p>
        </p:txBody>
      </p:sp>
    </p:spTree>
    <p:extLst>
      <p:ext uri="{BB962C8B-B14F-4D97-AF65-F5344CB8AC3E}">
        <p14:creationId xmlns:p14="http://schemas.microsoft.com/office/powerpoint/2010/main" val="1561774917"/>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E26CFF4-BD23-46AF-A420-152FD3AEAE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EBEC52-59E2-4125-BF12-99AE5EA34D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5500167A-A657-4109-83B1-FEF96AB605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34BC0E6D-6CF2-477D-817F-E52267C8786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EEDAB2-1A36-42A5-B28F-8CD8FFB5BBB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C021114-DF63-4201-9CA3-A3EE261F893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458040B-D414-44DB-9457-6138F138690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3360FEF6-FA2D-4065-A64D-EED179895BE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03BBED3-FF13-4AA7-AF56-FAC0359E6B68}"/>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4124A08F-E129-492F-B860-425104100A4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2B16401-1CFD-4828-B0B7-0B0084BDB5D8}"/>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ce9d7d110a94a7d"/>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F7F905B-E6A9-40A6-A6E4-B870EE9E7826}"/>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CD5EADFD-38AA-45BD-A3B1-5F9ACF0A6D3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E47000-D4E6-46B0-B910-BA442722E4D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0a20a5f145a4553"/>
              </a:rPr>
              <a:t>Open this week’s quiz</a:t>
            </a:r>
          </a:p>
        </p:txBody>
      </p:sp>
      <p:sp>
        <p:nvSpPr>
          <p:cNvPr id="16" name="">
            <a:extLst xmlns:a="http://schemas.openxmlformats.org/drawingml/2006/main">
              <a:ext uri="{FF2B5EF4-FFF2-40B4-BE49-F238E27FC236}">
                <a16:creationId xmlns:a16="http://schemas.microsoft.com/office/drawing/2014/main" id="{340610B9-4BF1-4045-B73B-BD72686FEBF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https://forms.gle/a2TPHUcEF6sacSnr6</a:t>
            </a:r>
          </a:p>
        </p:txBody>
      </p:sp>
      <p:sp>
        <p:nvSpPr>
          <p:cNvPr id="17" name="">
            <a:extLst xmlns:a="http://schemas.openxmlformats.org/drawingml/2006/main">
              <a:ext uri="{FF2B5EF4-FFF2-40B4-BE49-F238E27FC236}">
                <a16:creationId xmlns:a16="http://schemas.microsoft.com/office/drawing/2014/main" id="{C22C3B29-693E-445B-9F6E-7574B61125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43</a:t>
            </a:r>
          </a:p>
        </p:txBody>
      </p:sp>
    </p:spTree>
    <p:extLst>
      <p:ext uri="{BB962C8B-B14F-4D97-AF65-F5344CB8AC3E}">
        <p14:creationId xmlns:p14="http://schemas.microsoft.com/office/powerpoint/2010/main" val="201244220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DFD0A83-5149-431C-B8F2-A709E0C58B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EE4C9B-B04E-49A8-A35F-1C19DDA609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DAE7859-6AAD-4895-ABA7-2B0FC66D58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DE2DBAC1-1FC3-474D-83ED-F9DCFC23192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A5B1C8-585F-43BC-A101-7CCE2068BFB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6D4255DA-E300-4502-9D96-38BAF3705F7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C30BF4-3703-42A0-B6F5-B9DAB8AC408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39A1C4F8-9F6E-4C1C-9947-232DD5A7101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68AD2D-07C9-4201-BA5C-77861C85491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A5A6056D-5AB1-4853-9A67-180D486F75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44</a:t>
            </a:r>
          </a:p>
        </p:txBody>
      </p:sp>
    </p:spTree>
    <p:extLst>
      <p:ext uri="{BB962C8B-B14F-4D97-AF65-F5344CB8AC3E}">
        <p14:creationId xmlns:p14="http://schemas.microsoft.com/office/powerpoint/2010/main" val="459272792"/>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A6EFE2-FB99-40E4-BEDD-3A05108CD7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077E8D12-129E-4F74-A333-EA9B7A7801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731610DB-1EC4-4FF1-A764-947BCAB1C4B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7054477-42CD-4DFA-B501-8DA0B06C98B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552BC0F4-1B7A-45F3-B9BD-116C82CFE8CC}"/>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953D20CB-5462-47A8-B061-00603D3A11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5   45</a:t>
            </a:r>
          </a:p>
        </p:txBody>
      </p:sp>
    </p:spTree>
    <p:extLst>
      <p:ext uri="{BB962C8B-B14F-4D97-AF65-F5344CB8AC3E}">
        <p14:creationId xmlns:p14="http://schemas.microsoft.com/office/powerpoint/2010/main" val="19927378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2026-09-28T21:44:50.4880000Z</dcterms:created>
  <dcterms:modified xsi:type="dcterms:W3CDTF">2026-09-28T21:44:50.4880000Z</dcterms:modified>
</coreProperties>
</file>