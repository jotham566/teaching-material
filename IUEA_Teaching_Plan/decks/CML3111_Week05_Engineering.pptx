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1e275b4f43f4de0" /><Relationship Type="http://schemas.openxmlformats.org/officeDocument/2006/relationships/extended-properties" Target="/docProps/app.xml" Id="R4094b9e73df949d2" /><Relationship Type="http://schemas.openxmlformats.org/officeDocument/2006/relationships/officeDocument" Target="/ppt/presentation.xml" Id="R5213e2ed79674533" /></Relationships>
</file>

<file path=ppt/presentation.xml><?xml version="1.0" encoding="utf-8"?>
<p:presentation xmlns:p="http://schemas.openxmlformats.org/presentationml/2006/main">
  <p:sldMasterIdLst>
    <p:sldMasterId xmlns:r="http://schemas.openxmlformats.org/officeDocument/2006/relationships" id="2147483648" r:id="R4cbe2d06642d40b6"/>
  </p:sldMasterIdLst>
  <p:notesMasterIdLst>
    <p:notesMasterId xmlns:r="http://schemas.openxmlformats.org/officeDocument/2006/relationships" r:id="R79ebfebea0a04298"/>
  </p:notesMasterIdLst>
  <p:sldIdLst>
    <p:sldId xmlns:r="http://schemas.openxmlformats.org/officeDocument/2006/relationships" id="256" r:id="Rc0e31bd592b74647"/>
    <p:sldId xmlns:r="http://schemas.openxmlformats.org/officeDocument/2006/relationships" id="257" r:id="R521b079ee9164fea"/>
    <p:sldId xmlns:r="http://schemas.openxmlformats.org/officeDocument/2006/relationships" id="258" r:id="R653c059d8c6a4aa1"/>
    <p:sldId xmlns:r="http://schemas.openxmlformats.org/officeDocument/2006/relationships" id="259" r:id="Re16a2a0963f54e41"/>
    <p:sldId xmlns:r="http://schemas.openxmlformats.org/officeDocument/2006/relationships" id="260" r:id="R260951143ad7418d"/>
    <p:sldId xmlns:r="http://schemas.openxmlformats.org/officeDocument/2006/relationships" id="261" r:id="R44af7aa5a2604e53"/>
    <p:sldId xmlns:r="http://schemas.openxmlformats.org/officeDocument/2006/relationships" id="262" r:id="R1d63192274b9469c"/>
    <p:sldId xmlns:r="http://schemas.openxmlformats.org/officeDocument/2006/relationships" id="263" r:id="R3f41c17ba6144113"/>
    <p:sldId xmlns:r="http://schemas.openxmlformats.org/officeDocument/2006/relationships" id="264" r:id="R8c3f4db0c119480e"/>
    <p:sldId xmlns:r="http://schemas.openxmlformats.org/officeDocument/2006/relationships" id="265" r:id="R9e3aa2cc7d5c4a9c"/>
    <p:sldId xmlns:r="http://schemas.openxmlformats.org/officeDocument/2006/relationships" id="266" r:id="R1e53c5146f1b4113"/>
    <p:sldId xmlns:r="http://schemas.openxmlformats.org/officeDocument/2006/relationships" id="267" r:id="R1e322b7208fc4886"/>
    <p:sldId xmlns:r="http://schemas.openxmlformats.org/officeDocument/2006/relationships" id="268" r:id="R2dba3034a08a47fa"/>
    <p:sldId xmlns:r="http://schemas.openxmlformats.org/officeDocument/2006/relationships" id="269" r:id="Rf6f895182c874e22"/>
    <p:sldId xmlns:r="http://schemas.openxmlformats.org/officeDocument/2006/relationships" id="270" r:id="R3b0bf3a7ca384e7a"/>
    <p:sldId xmlns:r="http://schemas.openxmlformats.org/officeDocument/2006/relationships" id="271" r:id="Red05a2941f54489b"/>
    <p:sldId xmlns:r="http://schemas.openxmlformats.org/officeDocument/2006/relationships" id="272" r:id="R9648c4c1505f49ca"/>
    <p:sldId xmlns:r="http://schemas.openxmlformats.org/officeDocument/2006/relationships" id="273" r:id="R95122411e0d3448a"/>
    <p:sldId xmlns:r="http://schemas.openxmlformats.org/officeDocument/2006/relationships" id="274" r:id="R3118a5ec59e64e20"/>
    <p:sldId xmlns:r="http://schemas.openxmlformats.org/officeDocument/2006/relationships" id="275" r:id="R1ffd28b6a83d4b11"/>
    <p:sldId xmlns:r="http://schemas.openxmlformats.org/officeDocument/2006/relationships" id="276" r:id="R1d695d82f18f4155"/>
    <p:sldId xmlns:r="http://schemas.openxmlformats.org/officeDocument/2006/relationships" id="277" r:id="Ra7ae985a2861481d"/>
    <p:sldId xmlns:r="http://schemas.openxmlformats.org/officeDocument/2006/relationships" id="278" r:id="Rf4b510a636d4411c"/>
    <p:sldId xmlns:r="http://schemas.openxmlformats.org/officeDocument/2006/relationships" id="279" r:id="R8c6b4e3cd0db4667"/>
    <p:sldId xmlns:r="http://schemas.openxmlformats.org/officeDocument/2006/relationships" id="280" r:id="R118dec4c143141b2"/>
    <p:sldId xmlns:r="http://schemas.openxmlformats.org/officeDocument/2006/relationships" id="281" r:id="Rc995e73369ce434e"/>
    <p:sldId xmlns:r="http://schemas.openxmlformats.org/officeDocument/2006/relationships" id="282" r:id="Re99b0ec967494147"/>
    <p:sldId xmlns:r="http://schemas.openxmlformats.org/officeDocument/2006/relationships" id="283" r:id="R3d4e364a3a914005"/>
    <p:sldId xmlns:r="http://schemas.openxmlformats.org/officeDocument/2006/relationships" id="284" r:id="Rf683e1f0364f4dad"/>
    <p:sldId xmlns:r="http://schemas.openxmlformats.org/officeDocument/2006/relationships" id="285" r:id="Rc746e09c6cd440b6"/>
    <p:sldId xmlns:r="http://schemas.openxmlformats.org/officeDocument/2006/relationships" id="286" r:id="R74ae63635f2c4337"/>
    <p:sldId xmlns:r="http://schemas.openxmlformats.org/officeDocument/2006/relationships" id="287" r:id="Rf7a1fde1ac1f4512"/>
    <p:sldId xmlns:r="http://schemas.openxmlformats.org/officeDocument/2006/relationships" id="288" r:id="R0039b3be2d404fc1"/>
    <p:sldId xmlns:r="http://schemas.openxmlformats.org/officeDocument/2006/relationships" id="289" r:id="R3350a102128242c1"/>
    <p:sldId xmlns:r="http://schemas.openxmlformats.org/officeDocument/2006/relationships" id="290" r:id="R67dcd23d0ee74037"/>
    <p:sldId xmlns:r="http://schemas.openxmlformats.org/officeDocument/2006/relationships" id="291" r:id="R1a50ac281b974318"/>
    <p:sldId xmlns:r="http://schemas.openxmlformats.org/officeDocument/2006/relationships" id="292" r:id="R9ce305dd67c042d6"/>
    <p:sldId xmlns:r="http://schemas.openxmlformats.org/officeDocument/2006/relationships" id="293" r:id="R7abf9a626fd54687"/>
    <p:sldId xmlns:r="http://schemas.openxmlformats.org/officeDocument/2006/relationships" id="294" r:id="R414ccc1b6610450b"/>
    <p:sldId xmlns:r="http://schemas.openxmlformats.org/officeDocument/2006/relationships" id="295" r:id="R7c477bca3b9d45f4"/>
    <p:sldId xmlns:r="http://schemas.openxmlformats.org/officeDocument/2006/relationships" id="296" r:id="Reeca20495cf64119"/>
    <p:sldId xmlns:r="http://schemas.openxmlformats.org/officeDocument/2006/relationships" id="297" r:id="R86c73370260c4c91"/>
    <p:sldId xmlns:r="http://schemas.openxmlformats.org/officeDocument/2006/relationships" id="298" r:id="Rb9fc0ab06acd4064"/>
    <p:sldId xmlns:r="http://schemas.openxmlformats.org/officeDocument/2006/relationships" id="299" r:id="Refb8534c70004e09"/>
    <p:sldId xmlns:r="http://schemas.openxmlformats.org/officeDocument/2006/relationships" id="300" r:id="Ra273eaa423664d69"/>
    <p:sldId xmlns:r="http://schemas.openxmlformats.org/officeDocument/2006/relationships" id="301" r:id="R21b3b272c3924446"/>
    <p:sldId xmlns:r="http://schemas.openxmlformats.org/officeDocument/2006/relationships" id="302" r:id="R8906216456d74963"/>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34d4cdd676243cb" /><Relationship Type="http://schemas.openxmlformats.org/officeDocument/2006/relationships/slideMaster" Target="/ppt/slideMasters/slideMaster1.xml" Id="R4cbe2d06642d40b6" /><Relationship Type="http://schemas.openxmlformats.org/officeDocument/2006/relationships/notesMaster" Target="/ppt/notesMasters/notesMaster1.xml" Id="R79ebfebea0a04298" /><Relationship Type="http://schemas.openxmlformats.org/officeDocument/2006/relationships/presProps" Target="/ppt/presProps.xml" Id="R4e935a1341a1436c" /><Relationship Type="http://schemas.openxmlformats.org/officeDocument/2006/relationships/tableStyles" Target="/ppt/tableStyles.xml" Id="R27a69ca34f5d4dbe" /><Relationship Type="http://schemas.openxmlformats.org/officeDocument/2006/relationships/slide" Target="/ppt/slides/slide1.xml" Id="Rc0e31bd592b74647" /><Relationship Type="http://schemas.openxmlformats.org/officeDocument/2006/relationships/slide" Target="/ppt/slides/slide2.xml" Id="R521b079ee9164fea" /><Relationship Type="http://schemas.openxmlformats.org/officeDocument/2006/relationships/slide" Target="/ppt/slides/slide3.xml" Id="R653c059d8c6a4aa1" /><Relationship Type="http://schemas.openxmlformats.org/officeDocument/2006/relationships/slide" Target="/ppt/slides/slide4.xml" Id="Re16a2a0963f54e41" /><Relationship Type="http://schemas.openxmlformats.org/officeDocument/2006/relationships/slide" Target="/ppt/slides/slide5.xml" Id="R260951143ad7418d" /><Relationship Type="http://schemas.openxmlformats.org/officeDocument/2006/relationships/slide" Target="/ppt/slides/slide6.xml" Id="R44af7aa5a2604e53" /><Relationship Type="http://schemas.openxmlformats.org/officeDocument/2006/relationships/slide" Target="/ppt/slides/slide7.xml" Id="R1d63192274b9469c" /><Relationship Type="http://schemas.openxmlformats.org/officeDocument/2006/relationships/slide" Target="/ppt/slides/slide8.xml" Id="R3f41c17ba6144113" /><Relationship Type="http://schemas.openxmlformats.org/officeDocument/2006/relationships/slide" Target="/ppt/slides/slide9.xml" Id="R8c3f4db0c119480e" /><Relationship Type="http://schemas.openxmlformats.org/officeDocument/2006/relationships/slide" Target="/ppt/slides/slide10.xml" Id="R9e3aa2cc7d5c4a9c" /><Relationship Type="http://schemas.openxmlformats.org/officeDocument/2006/relationships/slide" Target="/ppt/slides/slide11.xml" Id="R1e53c5146f1b4113" /><Relationship Type="http://schemas.openxmlformats.org/officeDocument/2006/relationships/slide" Target="/ppt/slides/slide12.xml" Id="R1e322b7208fc4886" /><Relationship Type="http://schemas.openxmlformats.org/officeDocument/2006/relationships/slide" Target="/ppt/slides/slide13.xml" Id="R2dba3034a08a47fa" /><Relationship Type="http://schemas.openxmlformats.org/officeDocument/2006/relationships/slide" Target="/ppt/slides/slide14.xml" Id="Rf6f895182c874e22" /><Relationship Type="http://schemas.openxmlformats.org/officeDocument/2006/relationships/slide" Target="/ppt/slides/slide15.xml" Id="R3b0bf3a7ca384e7a" /><Relationship Type="http://schemas.openxmlformats.org/officeDocument/2006/relationships/slide" Target="/ppt/slides/slide16.xml" Id="Red05a2941f54489b" /><Relationship Type="http://schemas.openxmlformats.org/officeDocument/2006/relationships/slide" Target="/ppt/slides/slide17.xml" Id="R9648c4c1505f49ca" /><Relationship Type="http://schemas.openxmlformats.org/officeDocument/2006/relationships/slide" Target="/ppt/slides/slide18.xml" Id="R95122411e0d3448a" /><Relationship Type="http://schemas.openxmlformats.org/officeDocument/2006/relationships/slide" Target="/ppt/slides/slide19.xml" Id="R3118a5ec59e64e20" /><Relationship Type="http://schemas.openxmlformats.org/officeDocument/2006/relationships/slide" Target="/ppt/slides/slide20.xml" Id="R1ffd28b6a83d4b11" /><Relationship Type="http://schemas.openxmlformats.org/officeDocument/2006/relationships/slide" Target="/ppt/slides/slide21.xml" Id="R1d695d82f18f4155" /><Relationship Type="http://schemas.openxmlformats.org/officeDocument/2006/relationships/slide" Target="/ppt/slides/slide22.xml" Id="Ra7ae985a2861481d" /><Relationship Type="http://schemas.openxmlformats.org/officeDocument/2006/relationships/slide" Target="/ppt/slides/slide23.xml" Id="Rf4b510a636d4411c" /><Relationship Type="http://schemas.openxmlformats.org/officeDocument/2006/relationships/slide" Target="/ppt/slides/slide24.xml" Id="R8c6b4e3cd0db4667" /><Relationship Type="http://schemas.openxmlformats.org/officeDocument/2006/relationships/slide" Target="/ppt/slides/slide25.xml" Id="R118dec4c143141b2" /><Relationship Type="http://schemas.openxmlformats.org/officeDocument/2006/relationships/slide" Target="/ppt/slides/slide26.xml" Id="Rc995e73369ce434e" /><Relationship Type="http://schemas.openxmlformats.org/officeDocument/2006/relationships/slide" Target="/ppt/slides/slide27.xml" Id="Re99b0ec967494147" /><Relationship Type="http://schemas.openxmlformats.org/officeDocument/2006/relationships/slide" Target="/ppt/slides/slide28.xml" Id="R3d4e364a3a914005" /><Relationship Type="http://schemas.openxmlformats.org/officeDocument/2006/relationships/slide" Target="/ppt/slides/slide29.xml" Id="Rf683e1f0364f4dad" /><Relationship Type="http://schemas.openxmlformats.org/officeDocument/2006/relationships/slide" Target="/ppt/slides/slide30.xml" Id="Rc746e09c6cd440b6" /><Relationship Type="http://schemas.openxmlformats.org/officeDocument/2006/relationships/slide" Target="/ppt/slides/slide31.xml" Id="R74ae63635f2c4337" /><Relationship Type="http://schemas.openxmlformats.org/officeDocument/2006/relationships/slide" Target="/ppt/slides/slide32.xml" Id="Rf7a1fde1ac1f4512" /><Relationship Type="http://schemas.openxmlformats.org/officeDocument/2006/relationships/slide" Target="/ppt/slides/slide33.xml" Id="R0039b3be2d404fc1" /><Relationship Type="http://schemas.openxmlformats.org/officeDocument/2006/relationships/slide" Target="/ppt/slides/slide34.xml" Id="R3350a102128242c1" /><Relationship Type="http://schemas.openxmlformats.org/officeDocument/2006/relationships/slide" Target="/ppt/slides/slide35.xml" Id="R67dcd23d0ee74037" /><Relationship Type="http://schemas.openxmlformats.org/officeDocument/2006/relationships/slide" Target="/ppt/slides/slide36.xml" Id="R1a50ac281b974318" /><Relationship Type="http://schemas.openxmlformats.org/officeDocument/2006/relationships/slide" Target="/ppt/slides/slide37.xml" Id="R9ce305dd67c042d6" /><Relationship Type="http://schemas.openxmlformats.org/officeDocument/2006/relationships/slide" Target="/ppt/slides/slide38.xml" Id="R7abf9a626fd54687" /><Relationship Type="http://schemas.openxmlformats.org/officeDocument/2006/relationships/slide" Target="/ppt/slides/slide39.xml" Id="R414ccc1b6610450b" /><Relationship Type="http://schemas.openxmlformats.org/officeDocument/2006/relationships/slide" Target="/ppt/slides/slide40.xml" Id="R7c477bca3b9d45f4" /><Relationship Type="http://schemas.openxmlformats.org/officeDocument/2006/relationships/slide" Target="/ppt/slides/slide41.xml" Id="Reeca20495cf64119" /><Relationship Type="http://schemas.openxmlformats.org/officeDocument/2006/relationships/slide" Target="/ppt/slides/slide42.xml" Id="R86c73370260c4c91" /><Relationship Type="http://schemas.openxmlformats.org/officeDocument/2006/relationships/slide" Target="/ppt/slides/slide43.xml" Id="Rb9fc0ab06acd4064" /><Relationship Type="http://schemas.openxmlformats.org/officeDocument/2006/relationships/slide" Target="/ppt/slides/slide44.xml" Id="Refb8534c70004e09" /><Relationship Type="http://schemas.openxmlformats.org/officeDocument/2006/relationships/slide" Target="/ppt/slides/slide45.xml" Id="Ra273eaa423664d69" /><Relationship Type="http://schemas.openxmlformats.org/officeDocument/2006/relationships/slide" Target="/ppt/slides/slide46.xml" Id="R21b3b272c3924446" /><Relationship Type="http://schemas.openxmlformats.org/officeDocument/2006/relationships/slide" Target="/ppt/slides/slide47.xml" Id="R8906216456d7496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8840b5c49c44bb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eefbbe3a1c74d57" /><Relationship Type="http://schemas.openxmlformats.org/officeDocument/2006/relationships/notesMaster" Target="/ppt/notesMasters/notesMaster1.xml" Id="R1b5641d3b9324fdc" /></Relationships>
</file>

<file path=ppt/notesSlides/_rels/notesSlide2.xml.rels>&#65279;<?xml version="1.0" encoding="utf-8"?><Relationships xmlns="http://schemas.openxmlformats.org/package/2006/relationships"><Relationship Type="http://schemas.openxmlformats.org/officeDocument/2006/relationships/slide" Target="/ppt/slides/slide2.xml" Id="R7428921962494ab0" /><Relationship Type="http://schemas.openxmlformats.org/officeDocument/2006/relationships/notesMaster" Target="/ppt/notesMasters/notesMaster1.xml" Id="R52f5434fdae547b6" /></Relationships>
</file>

<file path=ppt/notesSlides/_rels/notesSlide3.xml.rels>&#65279;<?xml version="1.0" encoding="utf-8"?><Relationships xmlns="http://schemas.openxmlformats.org/package/2006/relationships"><Relationship Type="http://schemas.openxmlformats.org/officeDocument/2006/relationships/slide" Target="/ppt/slides/slide3.xml" Id="Rb21bea40c5bf4d9b" /><Relationship Type="http://schemas.openxmlformats.org/officeDocument/2006/relationships/notesMaster" Target="/ppt/notesMasters/notesMaster1.xml" Id="Rb84416a05f9c4ebc" /></Relationships>
</file>

<file path=ppt/notesSlides/_rels/notesSlide4.xml.rels>&#65279;<?xml version="1.0" encoding="utf-8"?><Relationships xmlns="http://schemas.openxmlformats.org/package/2006/relationships"><Relationship Type="http://schemas.openxmlformats.org/officeDocument/2006/relationships/slide" Target="/ppt/slides/slide4.xml" Id="R6454d4bc1b374523" /><Relationship Type="http://schemas.openxmlformats.org/officeDocument/2006/relationships/notesMaster" Target="/ppt/notesMasters/notesMaster1.xml" Id="R048b82721d714d65" /></Relationships>
</file>

<file path=ppt/notesSlides/_rels/notesSlide5.xml.rels>&#65279;<?xml version="1.0" encoding="utf-8"?><Relationships xmlns="http://schemas.openxmlformats.org/package/2006/relationships"><Relationship Type="http://schemas.openxmlformats.org/officeDocument/2006/relationships/slide" Target="/ppt/slides/slide5.xml" Id="Rb596e19aa338411f" /><Relationship Type="http://schemas.openxmlformats.org/officeDocument/2006/relationships/notesMaster" Target="/ppt/notesMasters/notesMaster1.xml" Id="R9dc3c5dcd6304613" /></Relationships>
</file>

<file path=ppt/notesSlides/_rels/notesSlide6.xml.rels>&#65279;<?xml version="1.0" encoding="utf-8"?><Relationships xmlns="http://schemas.openxmlformats.org/package/2006/relationships"><Relationship Type="http://schemas.openxmlformats.org/officeDocument/2006/relationships/slide" Target="/ppt/slides/slide6.xml" Id="Re9ab117102c34d2d" /><Relationship Type="http://schemas.openxmlformats.org/officeDocument/2006/relationships/notesMaster" Target="/ppt/notesMasters/notesMaster1.xml" Id="R73ad74b6ebf54e74" /></Relationships>
</file>

<file path=ppt/notesSlides/_rels/notesSlide7.xml.rels>&#65279;<?xml version="1.0" encoding="utf-8"?><Relationships xmlns="http://schemas.openxmlformats.org/package/2006/relationships"><Relationship Type="http://schemas.openxmlformats.org/officeDocument/2006/relationships/slide" Target="/ppt/slides/slide7.xml" Id="Rc869c2ddafb5463e" /><Relationship Type="http://schemas.openxmlformats.org/officeDocument/2006/relationships/notesMaster" Target="/ppt/notesMasters/notesMaster1.xml" Id="R30d7ae938045444d" /></Relationships>
</file>

<file path=ppt/notesSlides/_rels/notesSlide8.xml.rels>&#65279;<?xml version="1.0" encoding="utf-8"?><Relationships xmlns="http://schemas.openxmlformats.org/package/2006/relationships"><Relationship Type="http://schemas.openxmlformats.org/officeDocument/2006/relationships/slide" Target="/ppt/slides/slide8.xml" Id="Rcd05c77320234f99" /><Relationship Type="http://schemas.openxmlformats.org/officeDocument/2006/relationships/notesMaster" Target="/ppt/notesMasters/notesMaster1.xml" Id="R0314f57caf7047bf" /></Relationships>
</file>

<file path=ppt/notesSlides/_rels/notesSlide9.xml.rels>&#65279;<?xml version="1.0" encoding="utf-8"?><Relationships xmlns="http://schemas.openxmlformats.org/package/2006/relationships"><Relationship Type="http://schemas.openxmlformats.org/officeDocument/2006/relationships/slide" Target="/ppt/slides/slide9.xml" Id="R4aab062627d24e66" /><Relationship Type="http://schemas.openxmlformats.org/officeDocument/2006/relationships/notesMaster" Target="/ppt/notesMasters/notesMaster1.xml" Id="R5cdafe1683f74ea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0e2a55702044420" /><Relationship Type="http://schemas.openxmlformats.org/officeDocument/2006/relationships/notesMaster" Target="/ppt/notesMasters/notesMaster1.xml" Id="R452b0635c989400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1a815d0798b4854" /><Relationship Type="http://schemas.openxmlformats.org/officeDocument/2006/relationships/notesMaster" Target="/ppt/notesMasters/notesMaster1.xml" Id="R6e1c7b9a0236413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01963d582b943e3" /><Relationship Type="http://schemas.openxmlformats.org/officeDocument/2006/relationships/notesMaster" Target="/ppt/notesMasters/notesMaster1.xml" Id="Rc0f30cf115224ee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ad383b64cfa43c8" /><Relationship Type="http://schemas.openxmlformats.org/officeDocument/2006/relationships/notesMaster" Target="/ppt/notesMasters/notesMaster1.xml" Id="Rd6b272e494f1428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11091070e37419c" /><Relationship Type="http://schemas.openxmlformats.org/officeDocument/2006/relationships/notesMaster" Target="/ppt/notesMasters/notesMaster1.xml" Id="R111a459e699e454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42fbe126dc345d3" /><Relationship Type="http://schemas.openxmlformats.org/officeDocument/2006/relationships/notesMaster" Target="/ppt/notesMasters/notesMaster1.xml" Id="Rb9e823cbde084ec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3b8af28f28f4346" /><Relationship Type="http://schemas.openxmlformats.org/officeDocument/2006/relationships/notesMaster" Target="/ppt/notesMasters/notesMaster1.xml" Id="R8fbdfec7edbb4d9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6928e262ed24f04" /><Relationship Type="http://schemas.openxmlformats.org/officeDocument/2006/relationships/notesMaster" Target="/ppt/notesMasters/notesMaster1.xml" Id="R5476b902b3cc4df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c854eba03f6495e" /><Relationship Type="http://schemas.openxmlformats.org/officeDocument/2006/relationships/notesMaster" Target="/ppt/notesMasters/notesMaster1.xml" Id="R8ddccd74143d4c5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793f01c37f74114" /><Relationship Type="http://schemas.openxmlformats.org/officeDocument/2006/relationships/notesMaster" Target="/ppt/notesMasters/notesMaster1.xml" Id="Rd83cde0f34b0430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560b5f8c76849e7" /><Relationship Type="http://schemas.openxmlformats.org/officeDocument/2006/relationships/notesMaster" Target="/ppt/notesMasters/notesMaster1.xml" Id="R4143309bc03d4ea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4856db534474063" /><Relationship Type="http://schemas.openxmlformats.org/officeDocument/2006/relationships/notesMaster" Target="/ppt/notesMasters/notesMaster1.xml" Id="Rb115facf13ec4df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125a69358c64411" /><Relationship Type="http://schemas.openxmlformats.org/officeDocument/2006/relationships/notesMaster" Target="/ppt/notesMasters/notesMaster1.xml" Id="R677eae6821ca4c7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147d8ea0f27486f" /><Relationship Type="http://schemas.openxmlformats.org/officeDocument/2006/relationships/notesMaster" Target="/ppt/notesMasters/notesMaster1.xml" Id="R3b596a32d7904c8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3680475e3b0440d" /><Relationship Type="http://schemas.openxmlformats.org/officeDocument/2006/relationships/notesMaster" Target="/ppt/notesMasters/notesMaster1.xml" Id="Rf4ce89bc1a34447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617776ae5994653" /><Relationship Type="http://schemas.openxmlformats.org/officeDocument/2006/relationships/notesMaster" Target="/ppt/notesMasters/notesMaster1.xml" Id="R5f3d2e5dd3824b2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cee3b44deca4dcf" /><Relationship Type="http://schemas.openxmlformats.org/officeDocument/2006/relationships/notesMaster" Target="/ppt/notesMasters/notesMaster1.xml" Id="R4d223c3037fb481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ad07a2e0ba84752" /><Relationship Type="http://schemas.openxmlformats.org/officeDocument/2006/relationships/notesMaster" Target="/ppt/notesMasters/notesMaster1.xml" Id="Rfd2aebd8c6f0499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1f8ba21861f4a15" /><Relationship Type="http://schemas.openxmlformats.org/officeDocument/2006/relationships/notesMaster" Target="/ppt/notesMasters/notesMaster1.xml" Id="R2ad4f6ca35fe403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bc9a21e72714682" /><Relationship Type="http://schemas.openxmlformats.org/officeDocument/2006/relationships/notesMaster" Target="/ppt/notesMasters/notesMaster1.xml" Id="Rf2b8d1a7398a498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55fd6e29ccb4d01" /><Relationship Type="http://schemas.openxmlformats.org/officeDocument/2006/relationships/notesMaster" Target="/ppt/notesMasters/notesMaster1.xml" Id="R176f24e9f56c4fa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47ec4e4fdd64f82" /><Relationship Type="http://schemas.openxmlformats.org/officeDocument/2006/relationships/notesMaster" Target="/ppt/notesMasters/notesMaster1.xml" Id="Rfac9cca77d75493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e2bae0ca96d4ec5" /><Relationship Type="http://schemas.openxmlformats.org/officeDocument/2006/relationships/notesMaster" Target="/ppt/notesMasters/notesMaster1.xml" Id="Rfee4575959f4493c"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d5a1f13f455491c" /><Relationship Type="http://schemas.openxmlformats.org/officeDocument/2006/relationships/notesMaster" Target="/ppt/notesMasters/notesMaster1.xml" Id="R7538aa623d92429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a0ded58c51b1487a" /><Relationship Type="http://schemas.openxmlformats.org/officeDocument/2006/relationships/notesMaster" Target="/ppt/notesMasters/notesMaster1.xml" Id="R48523e6fe76d46c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b47af5ade0524481" /><Relationship Type="http://schemas.openxmlformats.org/officeDocument/2006/relationships/notesMaster" Target="/ppt/notesMasters/notesMaster1.xml" Id="R0ee4b380d9a243d0"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e1e9b46599104b2c" /><Relationship Type="http://schemas.openxmlformats.org/officeDocument/2006/relationships/notesMaster" Target="/ppt/notesMasters/notesMaster1.xml" Id="Rb9b91b09f38d43aa"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7d75bbc933da4eaa" /><Relationship Type="http://schemas.openxmlformats.org/officeDocument/2006/relationships/notesMaster" Target="/ppt/notesMasters/notesMaster1.xml" Id="Rd094ebf4c4414422"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b8fac5d3b2a24d7c" /><Relationship Type="http://schemas.openxmlformats.org/officeDocument/2006/relationships/notesMaster" Target="/ppt/notesMasters/notesMaster1.xml" Id="Rd118aa515f164523"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b316dc0d67554713" /><Relationship Type="http://schemas.openxmlformats.org/officeDocument/2006/relationships/notesMaster" Target="/ppt/notesMasters/notesMaster1.xml" Id="Re137adf610f243ba"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54100023dc524030" /><Relationship Type="http://schemas.openxmlformats.org/officeDocument/2006/relationships/notesMaster" Target="/ppt/notesMasters/notesMaster1.xml" Id="Raf17191bb8aa4adc"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bf2988d67dd448b7" /><Relationship Type="http://schemas.openxmlformats.org/officeDocument/2006/relationships/notesMaster" Target="/ppt/notesMasters/notesMaster1.xml" Id="R60eb42f30b4f4c1c"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df5b2a681b4d4f00" /><Relationship Type="http://schemas.openxmlformats.org/officeDocument/2006/relationships/notesMaster" Target="/ppt/notesMasters/notesMaster1.xml" Id="R98a88b870bfe4482"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f959b69972f14d16" /><Relationship Type="http://schemas.openxmlformats.org/officeDocument/2006/relationships/notesMaster" Target="/ppt/notesMasters/notesMaster1.xml" Id="R82112e20255e4fc4"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fdb4b6ac48a54298" /><Relationship Type="http://schemas.openxmlformats.org/officeDocument/2006/relationships/notesMaster" Target="/ppt/notesMasters/notesMaster1.xml" Id="R9579265d035d4f96"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14683b54dd594376" /><Relationship Type="http://schemas.openxmlformats.org/officeDocument/2006/relationships/notesMaster" Target="/ppt/notesMasters/notesMaster1.xml" Id="R27ad9e72bf83460c"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feff9d8a4fa14e6d" /><Relationship Type="http://schemas.openxmlformats.org/officeDocument/2006/relationships/notesMaster" Target="/ppt/notesMasters/notesMaster1.xml" Id="R57f907b3307741bc"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6792515bd2e34c90" /><Relationship Type="http://schemas.openxmlformats.org/officeDocument/2006/relationships/notesMaster" Target="/ppt/notesMasters/notesMaster1.xml" Id="R59f00932b7c94b44"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Using pandas to answer table questions</a:t>
            </a:r>
          </a:p>
          <a:p>
            <a:r>
              <a:t/>
            </a:r>
          </a:p>
          <a:p>
            <a:r>
              <a:t>LECTURER CUE</a:t>
            </a:r>
          </a:p>
          <a:p>
            <a:r>
              <a:t>Use PowerPoint Presenter View for these notes. Teach one example, pause for every learner to predict, then work an analogous example together. The practice notebook is a learning aid, not an extra graded upload.</a:t>
            </a:r>
          </a:p>
          <a:p>
            <a:r>
              <a:t/>
            </a:r>
          </a:p>
          <a:p>
            <a:r>
              <a:t>EXPLAIN IN ORDINARY WORDS</a:t>
            </a:r>
          </a:p>
          <a:p>
            <a:r>
              <a:t>A DataFrame is a labelled table. A Series is a single labelled sequence, often one column. A dtype describes stored values, but the import may infer something unsuitable.</a:t>
            </a:r>
          </a:p>
          <a:p>
            <a:r>
              <a:t/>
            </a:r>
          </a:p>
          <a:p>
            <a:r>
              <a:t>CHECK AND EXPECTED ANSWER</a:t>
            </a:r>
          </a:p>
          <a:p>
            <a:r>
              <a:t>Does a price that looks numeric prove the column is numeric? No. Inspect its dtype and troublesome values before conversion.</a:t>
            </a:r>
          </a:p>
          <a:p>
            <a:r>
              <a:t/>
            </a:r>
          </a:p>
          <a:p>
            <a:r>
              <a:t>IF LEARNERS ARE STUCK</a:t>
            </a:r>
          </a:p>
          <a:p>
            <a:r>
              <a:t>Use head, shape and dtypes to locate the table, count rows/columns and inspect storage. Check units and missing values before calculating.</a:t>
            </a:r>
          </a:p>
          <a:p>
            <a:r>
              <a:t/>
            </a:r>
          </a:p>
          <a:p>
            <a:r>
              <a:t>NEXT</a:t>
            </a:r>
          </a:p>
          <a:p>
            <a:r>
              <a:t>Today’s learning.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Today’s learning</a:t>
            </a:r>
          </a:p>
          <a:p>
            <a:r>
              <a:t/>
            </a:r>
          </a:p>
          <a:p>
            <a:r>
              <a:t>CONNECT</a:t>
            </a:r>
          </a:p>
          <a:p>
            <a:r>
              <a:t>Build on the preceding slide: Using pandas to answer table questions.</a:t>
            </a:r>
          </a:p>
          <a:p>
            <a:r>
              <a:t/>
            </a:r>
          </a:p>
          <a:p>
            <a:r>
              <a:t>LECTURER CUE</a:t>
            </a:r>
          </a:p>
          <a:p>
            <a:r>
              <a:t>Ask learners to explain this goal in ordinary language. The first successful attempt matters more than covering optional extensions. Defer: NumPy broadcasting, broad Kaggle searches and twelve-plus-ten independent questions are optional extension. No change of editor is needed.</a:t>
            </a:r>
          </a:p>
          <a:p>
            <a:r>
              <a:t/>
            </a:r>
          </a:p>
          <a:p>
            <a:r>
              <a:t>EXPLAIN IN ORDINARY WORDS</a:t>
            </a:r>
          </a:p>
          <a:p>
            <a:r>
              <a:t>An observation describes the data. A finding answers a defined question with evidence. A recommendation adds an action, its justification and limits.</a:t>
            </a:r>
          </a:p>
          <a:p>
            <a:r>
              <a:t/>
            </a:r>
          </a:p>
          <a:p>
            <a:r>
              <a:t>CHECK AND EXPECTED ANSWER</a:t>
            </a:r>
          </a:p>
          <a:p>
            <a:r>
              <a:t>Does a difference between two groups prove one caused the other? No. Other differences or selection may explain it.</a:t>
            </a:r>
          </a:p>
          <a:p>
            <a:r>
              <a:t/>
            </a:r>
          </a:p>
          <a:p>
            <a:r>
              <a:t>IF LEARNERS ARE STUCK</a:t>
            </a:r>
          </a:p>
          <a:p>
            <a:r>
              <a:t>Ask for the population, time period, number and comparison. Then ask what additional evidence could change the recommendation.</a:t>
            </a:r>
          </a:p>
          <a:p>
            <a:r>
              <a:t/>
            </a:r>
          </a:p>
          <a:p>
            <a:r>
              <a:t>NEXT</a:t>
            </a:r>
          </a:p>
          <a:p>
            <a:r>
              <a:t>Recall and a first attempt.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Recall and a first attempt</a:t>
            </a:r>
          </a:p>
          <a:p>
            <a:r>
              <a:t/>
            </a:r>
          </a:p>
          <a:p>
            <a:r>
              <a:t>CONNECT</a:t>
            </a:r>
          </a:p>
          <a:p>
            <a:r>
              <a:t>Build on the preceding slide: Today’s learning.</a:t>
            </a:r>
          </a:p>
          <a:p>
            <a:r>
              <a:t/>
            </a:r>
          </a:p>
          <a:p>
            <a:r>
              <a:t>LECTURER CUE</a:t>
            </a:r>
          </a:p>
          <a:p>
            <a:r>
              <a:t>Allow two minutes for everyone to try. Ask pairs to compare. If many cannot begin, show the first step and repeat with changed values. Checkpoint for today: Each student predicts a filter and explains what one group total means before running it.</a:t>
            </a:r>
          </a:p>
          <a:p>
            <a:r>
              <a:t/>
            </a:r>
          </a:p>
          <a:p>
            <a:r>
              <a:t>EXPLAIN IN ORDINARY WORDS</a:t>
            </a:r>
          </a:p>
          <a:p>
            <a:r>
              <a:t>Name the positive class first. Actual is what happened; predicted is the model decision. Precision asks how many predicted positives were right. Recall asks how many actual positives were found.</a:t>
            </a:r>
          </a:p>
          <a:p>
            <a:r>
              <a:t/>
            </a:r>
          </a:p>
          <a:p>
            <a:r>
              <a:t>CHECK AND EXPECTED ANSWER</a:t>
            </a:r>
          </a:p>
          <a:p>
            <a:r>
              <a:t>With TP=2, FP=1, FN=2: precision=2/3 and recall=2/4. A missed actual positive is a false negative.</a:t>
            </a:r>
          </a:p>
          <a:p>
            <a:r>
              <a:t/>
            </a:r>
          </a:p>
          <a:p>
            <a:r>
              <a:t>IF LEARNERS ARE STUCK</a:t>
            </a:r>
          </a:p>
          <a:p>
            <a:r>
              <a:t>Draw actual/predicted headings. Place one case at a time before calculating a fraction. Explain the task rule for a zero denominator.</a:t>
            </a:r>
          </a:p>
          <a:p>
            <a:r>
              <a:t/>
            </a:r>
          </a:p>
          <a:p>
            <a:r>
              <a:t>NEXT</a:t>
            </a:r>
          </a:p>
          <a:p>
            <a:r>
              <a:t>The engineering context.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The engineering context</a:t>
            </a:r>
          </a:p>
          <a:p>
            <a:r>
              <a:t/>
            </a:r>
          </a:p>
          <a:p>
            <a:r>
              <a:t>CONNECT</a:t>
            </a:r>
          </a:p>
          <a:p>
            <a:r>
              <a:t>Build on the preceding slide: Recall and a first attempt.</a:t>
            </a:r>
          </a:p>
          <a:p>
            <a:r>
              <a:t/>
            </a:r>
          </a:p>
          <a:p>
            <a:r>
              <a:t>LECTURER CUE</a:t>
            </a:r>
          </a:p>
          <a:p>
            <a:r>
              <a:t>A team records device temperature to investigate cooling. Use a communications cabinet, an electrical enclosure or a robot controller as the physical example. No specialist hardware knowledge is assumed.</a:t>
            </a:r>
          </a:p>
          <a:p>
            <a:r>
              <a:t/>
            </a:r>
          </a:p>
          <a:p>
            <a:r>
              <a:t>EXPLAIN IN ORDINARY WORDS</a:t>
            </a:r>
          </a:p>
          <a:p>
            <a:r>
              <a:t>A list keeps items in order. Python positions start at zero. In [2,4,6], position 0 contains 2 and position 2 contains 6. A slice excludes its stop position.</a:t>
            </a:r>
          </a:p>
          <a:p>
            <a:r>
              <a:t/>
            </a:r>
          </a:p>
          <a:p>
            <a:r>
              <a:t>CHECK AND EXPECTED ANSWER</a:t>
            </a:r>
          </a:p>
          <a:p>
            <a:r>
              <a:t>What is [2,4,6][1]? 4. Is there a position 3? No.</a:t>
            </a:r>
          </a:p>
          <a:p>
            <a:r>
              <a:t/>
            </a:r>
          </a:p>
          <a:p>
            <a:r>
              <a:t>IF LEARNERS ARE STUCK</a:t>
            </a:r>
          </a:p>
          <a:p>
            <a:r>
              <a:t>Draw three numbered boxes starting at zero. Keep the position separate from the value stored in it.</a:t>
            </a:r>
          </a:p>
          <a:p>
            <a:r>
              <a:t/>
            </a:r>
          </a:p>
          <a:p>
            <a:r>
              <a:t>NEXT</a:t>
            </a:r>
          </a:p>
          <a:p>
            <a:r>
              <a:t>Rows columns and units.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Rows columns and units</a:t>
            </a:r>
          </a:p>
          <a:p>
            <a:r>
              <a:t/>
            </a:r>
          </a:p>
          <a:p>
            <a:r>
              <a:t>CONNECT</a:t>
            </a:r>
          </a:p>
          <a:p>
            <a:r>
              <a:t>Build on the preceding slide: The engineering context.</a:t>
            </a:r>
          </a:p>
          <a:p>
            <a:r>
              <a:t/>
            </a:r>
          </a:p>
          <a:p>
            <a:r>
              <a:t>EXPLAIN IN ORDINARY WORDS</a:t>
            </a:r>
          </a:p>
          <a:p>
            <a:r>
              <a:t>Read each quantity and unit before using a formula. Python calculates numbers but does not enforce physical units. Parentheses specify which operation happens first.</a:t>
            </a:r>
          </a:p>
          <a:p>
            <a:r>
              <a:t/>
            </a:r>
          </a:p>
          <a:p>
            <a:r>
              <a:t>CHECK AND EXPECTED ANSWER</a:t>
            </a:r>
          </a:p>
          <a:p>
            <a:r>
              <a:t>What is 5 m times 3 m? 15 square metres. What is 7/2 in Python? 3.5; 7//2 is 3.</a:t>
            </a:r>
          </a:p>
          <a:p>
            <a:r>
              <a:t/>
            </a:r>
          </a:p>
          <a:p>
            <a:r>
              <a:t>IF LEARNERS ARE STUCK</a:t>
            </a:r>
          </a:p>
          <a:p>
            <a:r>
              <a:t>Write the formula and units on paper, substitute small values, then translate it to Python. Check zero denominators and the issued sign convention.</a:t>
            </a:r>
          </a:p>
          <a:p>
            <a:r>
              <a:t/>
            </a:r>
          </a:p>
          <a:p>
            <a:r>
              <a:t>TYPE NUANCE</a:t>
            </a:r>
          </a:p>
          <a:p>
            <a:r>
              <a:t>An object dtype alone does not prove that a column contains bad numeric values; it can hold Python objects, including numbers. Inspect values and conversion results. Missing values may display as NaN, None, NaT or pandas NA depending on dtype.</a:t>
            </a:r>
          </a:p>
          <a:p>
            <a:r>
              <a:t/>
            </a:r>
          </a:p>
          <a:p>
            <a:r>
              <a:t>NEXT</a:t>
            </a:r>
          </a:p>
          <a:p>
            <a:r>
              <a:t>A table keeps related observations together.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A table keeps related observations together</a:t>
            </a:r>
          </a:p>
          <a:p>
            <a:r>
              <a:t/>
            </a:r>
          </a:p>
          <a:p>
            <a:r>
              <a:t>CONNECT</a:t>
            </a:r>
          </a:p>
          <a:p>
            <a:r>
              <a:t>Build on the preceding slide: Rows columns and units.</a:t>
            </a:r>
          </a:p>
          <a:p>
            <a:r>
              <a:t/>
            </a:r>
          </a:p>
          <a:p>
            <a:r>
              <a:t>LECTURER CUE</a:t>
            </a:r>
          </a:p>
          <a:p>
            <a:r>
              <a:t>Draw a four-row table before running the example. Describe a reading of kWh as energy, and kW as power; the units are different.</a:t>
            </a:r>
          </a:p>
          <a:p>
            <a:r>
              <a:t/>
            </a:r>
          </a:p>
          <a:p>
            <a:r>
              <a:t>EXPLAIN IN ORDINARY WORDS</a:t>
            </a:r>
          </a:p>
          <a:p>
            <a:r>
              <a:t>An observation describes the data. A finding answers a defined question with evidence. A recommendation adds an action, its justification and limits.</a:t>
            </a:r>
          </a:p>
          <a:p>
            <a:r>
              <a:t/>
            </a:r>
          </a:p>
          <a:p>
            <a:r>
              <a:t>CHECK AND EXPECTED ANSWER</a:t>
            </a:r>
          </a:p>
          <a:p>
            <a:r>
              <a:t>Does a difference between two groups prove one caused the other? No. Other differences or selection may explain it.</a:t>
            </a:r>
          </a:p>
          <a:p>
            <a:r>
              <a:t/>
            </a:r>
          </a:p>
          <a:p>
            <a:r>
              <a:t>IF LEARNERS ARE STUCK</a:t>
            </a:r>
          </a:p>
          <a:p>
            <a:r>
              <a:t>Ask for the population, time period, number and comparison. Then ask what additional evidence could change the recommendation.</a:t>
            </a:r>
          </a:p>
          <a:p>
            <a:r>
              <a:t/>
            </a:r>
          </a:p>
          <a:p>
            <a:r>
              <a:t>NEXT</a:t>
            </a:r>
          </a:p>
          <a:p>
            <a:r>
              <a:t>Our small energy table.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Our small energy table</a:t>
            </a:r>
          </a:p>
          <a:p>
            <a:r>
              <a:t/>
            </a:r>
          </a:p>
          <a:p>
            <a:r>
              <a:t>CONNECT</a:t>
            </a:r>
          </a:p>
          <a:p>
            <a:r>
              <a:t>Build on the preceding slide: A table keeps related observations together.</a:t>
            </a:r>
          </a:p>
          <a:p>
            <a:r>
              <a:t/>
            </a:r>
          </a:p>
          <a:p>
            <a:r>
              <a:t>LECTURER CUE</a:t>
            </a:r>
          </a:p>
          <a:p>
            <a:r>
              <a:t>The four observations total 18 kWh. Their mean is 4.5 kWh. Building totals are A: 6 and B: 12.</a:t>
            </a:r>
          </a:p>
          <a:p>
            <a:r>
              <a:t/>
            </a:r>
          </a:p>
          <a:p>
            <a:r>
              <a:t>EXPLAIN IN ORDINARY WORDS</a:t>
            </a:r>
          </a:p>
          <a:p>
            <a:r>
              <a:t>An observation describes the data. A finding answers a defined question with evidence. A recommendation adds an action, its justification and limits.</a:t>
            </a:r>
          </a:p>
          <a:p>
            <a:r>
              <a:t/>
            </a:r>
          </a:p>
          <a:p>
            <a:r>
              <a:t>CHECK AND EXPECTED ANSWER</a:t>
            </a:r>
          </a:p>
          <a:p>
            <a:r>
              <a:t>Does a difference between two groups prove one caused the other? No. Other differences or selection may explain it.</a:t>
            </a:r>
          </a:p>
          <a:p>
            <a:r>
              <a:t/>
            </a:r>
          </a:p>
          <a:p>
            <a:r>
              <a:t>IF LEARNERS ARE STUCK</a:t>
            </a:r>
          </a:p>
          <a:p>
            <a:r>
              <a:t>Ask for the population, time period, number and comparison. Then ask what additional evidence could change the recommendation.</a:t>
            </a:r>
          </a:p>
          <a:p>
            <a:r>
              <a:t/>
            </a:r>
          </a:p>
          <a:p>
            <a:r>
              <a:t>READ THE VISUAL</a:t>
            </a:r>
          </a:p>
          <a:p>
            <a:r>
              <a:t>Start with the title and labels. Read one row or mark aloud, including its unit. Let a learner read a second one before discussing the pattern. Do not infer a numerical value from an unlabelled drawing.</a:t>
            </a:r>
          </a:p>
          <a:p>
            <a:r>
              <a:t/>
            </a:r>
          </a:p>
          <a:p>
            <a:r>
              <a:t>NEXT</a:t>
            </a:r>
          </a:p>
          <a:p>
            <a:r>
              <a:t>Words we will use.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Words we will use</a:t>
            </a:r>
          </a:p>
          <a:p>
            <a:r>
              <a:t/>
            </a:r>
          </a:p>
          <a:p>
            <a:r>
              <a:t>CONNECT</a:t>
            </a:r>
          </a:p>
          <a:p>
            <a:r>
              <a:t>Build on the preceding slide: Our small energy table.</a:t>
            </a:r>
          </a:p>
          <a:p>
            <a:r>
              <a:t/>
            </a:r>
          </a:p>
          <a:p>
            <a:r>
              <a:t>EXPLAIN IN ORDINARY WORDS</a:t>
            </a:r>
          </a:p>
          <a:p>
            <a:r>
              <a:t>A DataFrame is a labelled table. A Series is a single labelled sequence, often one column. A dtype describes stored values, but the import may infer something unsuitable.</a:t>
            </a:r>
          </a:p>
          <a:p>
            <a:r>
              <a:t/>
            </a:r>
          </a:p>
          <a:p>
            <a:r>
              <a:t>CHECK AND EXPECTED ANSWER</a:t>
            </a:r>
          </a:p>
          <a:p>
            <a:r>
              <a:t>Does a price that looks numeric prove the column is numeric? No. Inspect its dtype and troublesome values before conversion.</a:t>
            </a:r>
          </a:p>
          <a:p>
            <a:r>
              <a:t/>
            </a:r>
          </a:p>
          <a:p>
            <a:r>
              <a:t>IF LEARNERS ARE STUCK</a:t>
            </a:r>
          </a:p>
          <a:p>
            <a:r>
              <a:t>Use head, shape and dtypes to locate the table, count rows/columns and inspect storage. Check units and missing values before calculating.</a:t>
            </a:r>
          </a:p>
          <a:p>
            <a:r>
              <a:t/>
            </a:r>
          </a:p>
          <a:p>
            <a:r>
              <a:t>POINT TO THE DEFINITION</a:t>
            </a:r>
          </a:p>
          <a:p>
            <a:r>
              <a:t>Library and pandas: A library is reusable code. pandas provides tools for data tables. import pandas as pd makes pd a short name for that library.</a:t>
            </a:r>
          </a:p>
          <a:p>
            <a:r>
              <a:t>DataFrame: A table with named columns and indexed rows. df is just the variable name we choose for this table.</a:t>
            </a:r>
          </a:p>
          <a:p>
            <a:r>
              <a:t/>
            </a:r>
          </a:p>
          <a:p>
            <a:r>
              <a:t>NEXT</a:t>
            </a:r>
          </a:p>
          <a:p>
            <a:r>
              <a:t>A DataFrame is a labelled table.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A DataFrame is a labelled table</a:t>
            </a:r>
          </a:p>
          <a:p>
            <a:r>
              <a:t/>
            </a:r>
          </a:p>
          <a:p>
            <a:r>
              <a:t>CONNECT</a:t>
            </a:r>
          </a:p>
          <a:p>
            <a:r>
              <a:t>Build on the preceding slide: Words we will use.</a:t>
            </a:r>
          </a:p>
          <a:p>
            <a:r>
              <a:t/>
            </a:r>
          </a:p>
          <a:p>
            <a:r>
              <a:t>LECTURER CUE</a:t>
            </a:r>
          </a:p>
          <a:p>
            <a:r>
              <a:t>Explain dictionary braces, column labels in quotes and lists of values before constructing the DataFrame. In class, read the issued campus_energy.csv with pd.read_csv after this tiny example.</a:t>
            </a:r>
          </a:p>
          <a:p>
            <a:r>
              <a:t/>
            </a:r>
          </a:p>
          <a:p>
            <a:r>
              <a:t>EXPLAIN IN ORDINARY WORDS</a:t>
            </a:r>
          </a:p>
          <a:p>
            <a:r>
              <a:t>A DataFrame is a labelled table. A Series is a single labelled sequence, often one column. A dtype describes stored values, but the import may infer something unsuitable.</a:t>
            </a:r>
          </a:p>
          <a:p>
            <a:r>
              <a:t/>
            </a:r>
          </a:p>
          <a:p>
            <a:r>
              <a:t>CHECK AND EXPECTED ANSWER</a:t>
            </a:r>
          </a:p>
          <a:p>
            <a:r>
              <a:t>Does a price that looks numeric prove the column is numeric? No. Inspect its dtype and troublesome values before conversion.</a:t>
            </a:r>
          </a:p>
          <a:p>
            <a:r>
              <a:t/>
            </a:r>
          </a:p>
          <a:p>
            <a:r>
              <a:t>IF LEARNERS ARE STUCK</a:t>
            </a:r>
          </a:p>
          <a:p>
            <a:r>
              <a:t>Use head, shape and dtypes to locate the table, count rows/columns and inspect storage. Check units and missing values before calculating.</a:t>
            </a:r>
          </a:p>
          <a:p>
            <a:r>
              <a:t/>
            </a:r>
          </a:p>
          <a:p>
            <a:r>
              <a:t>NEXT</a:t>
            </a:r>
          </a:p>
          <a:p>
            <a:r>
              <a:t>A labelled table in Python.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A labelled table in Python</a:t>
            </a:r>
          </a:p>
          <a:p>
            <a:r>
              <a:t/>
            </a:r>
          </a:p>
          <a:p>
            <a:r>
              <a:t>CONNECT</a:t>
            </a:r>
          </a:p>
          <a:p>
            <a:r>
              <a:t>Build on the preceding slide: A DataFrame is a labelled table.</a:t>
            </a:r>
          </a:p>
          <a:p>
            <a:r>
              <a:t/>
            </a:r>
          </a:p>
          <a:p>
            <a:r>
              <a:t>LECTURER CUE</a:t>
            </a:r>
          </a:p>
          <a:p>
            <a:r>
              <a:t>Point to one row, column, index and dtype. This maintenance table is illustrative. Work with the issued cohort table next.</a:t>
            </a:r>
          </a:p>
          <a:p>
            <a:r>
              <a:t>Source: existing course illustration figs/dataframe_anatomy.png. These are illustrative examples, not this cohort’s assessed results.</a:t>
            </a:r>
          </a:p>
          <a:p>
            <a:r>
              <a:t/>
            </a:r>
          </a:p>
          <a:p>
            <a:r>
              <a:t>EXPLAIN IN ORDINARY WORDS</a:t>
            </a:r>
          </a:p>
          <a:p>
            <a:r>
              <a:t>An observation describes the data. A finding answers a defined question with evidence. A recommendation adds an action, its justification and limits.</a:t>
            </a:r>
          </a:p>
          <a:p>
            <a:r>
              <a:t/>
            </a:r>
          </a:p>
          <a:p>
            <a:r>
              <a:t>CHECK AND EXPECTED ANSWER</a:t>
            </a:r>
          </a:p>
          <a:p>
            <a:r>
              <a:t>Does a difference between two groups prove one caused the other? No. Other differences or selection may explain it.</a:t>
            </a:r>
          </a:p>
          <a:p>
            <a:r>
              <a:t/>
            </a:r>
          </a:p>
          <a:p>
            <a:r>
              <a:t>IF LEARNERS ARE STUCK</a:t>
            </a:r>
          </a:p>
          <a:p>
            <a:r>
              <a:t>Ask for the population, time period, number and comparison. Then ask what additional evidence could change the recommendation.</a:t>
            </a:r>
          </a:p>
          <a:p>
            <a:r>
              <a:t/>
            </a:r>
          </a:p>
          <a:p>
            <a:r>
              <a:t>NEXT</a:t>
            </a:r>
          </a:p>
          <a:p>
            <a:r>
              <a:t>Words we will use.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Words we will use</a:t>
            </a:r>
          </a:p>
          <a:p>
            <a:r>
              <a:t/>
            </a:r>
          </a:p>
          <a:p>
            <a:r>
              <a:t>CONNECT</a:t>
            </a:r>
          </a:p>
          <a:p>
            <a:r>
              <a:t>Build on the preceding slide: A labelled table in Python.</a:t>
            </a:r>
          </a:p>
          <a:p>
            <a:r>
              <a:t/>
            </a:r>
          </a:p>
          <a:p>
            <a:r>
              <a:t>EXPLAIN IN ORDINARY WORDS</a:t>
            </a:r>
          </a:p>
          <a:p>
            <a:r>
              <a:t>A DataFrame is a labelled table. A Series is a single labelled sequence, often one column. A dtype describes stored values, but the import may infer something unsuitable.</a:t>
            </a:r>
          </a:p>
          <a:p>
            <a:r>
              <a:t/>
            </a:r>
          </a:p>
          <a:p>
            <a:r>
              <a:t>CHECK AND EXPECTED ANSWER</a:t>
            </a:r>
          </a:p>
          <a:p>
            <a:r>
              <a:t>Does a price that looks numeric prove the column is numeric? No. Inspect its dtype and troublesome values before conversion.</a:t>
            </a:r>
          </a:p>
          <a:p>
            <a:r>
              <a:t/>
            </a:r>
          </a:p>
          <a:p>
            <a:r>
              <a:t>IF LEARNERS ARE STUCK</a:t>
            </a:r>
          </a:p>
          <a:p>
            <a:r>
              <a:t>Use head, shape and dtypes to locate the table, count rows/columns and inspect storage. Check units and missing values before calculating.</a:t>
            </a:r>
          </a:p>
          <a:p>
            <a:r>
              <a:t/>
            </a:r>
          </a:p>
          <a:p>
            <a:r>
              <a:t>POINT TO THE DEFINITION</a:t>
            </a:r>
          </a:p>
          <a:p>
            <a:r>
              <a:t>Series: One labelled column. df["kwh"] selects the column named kwh.</a:t>
            </a:r>
          </a:p>
          <a:p>
            <a:r>
              <a:t>Method and attribute: A method performs an operation, as in df.head(). An attribute provides a stored property, as in df.shape. Parentheses call an operation.</a:t>
            </a:r>
          </a:p>
          <a:p>
            <a:r>
              <a:t/>
            </a:r>
          </a:p>
          <a:p>
            <a:r>
              <a:t>NEXT</a:t>
            </a:r>
          </a:p>
          <a:p>
            <a:r>
              <a:t>Reading pandas syntax.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Reading pandas syntax</a:t>
            </a:r>
          </a:p>
          <a:p>
            <a:r>
              <a:t/>
            </a:r>
          </a:p>
          <a:p>
            <a:r>
              <a:t>CONNECT</a:t>
            </a:r>
          </a:p>
          <a:p>
            <a:r>
              <a:t>Build on the preceding slide: Words we will use.</a:t>
            </a:r>
          </a:p>
          <a:p>
            <a:r>
              <a:t/>
            </a:r>
          </a:p>
          <a:p>
            <a:r>
              <a:t>LECTURER CUE</a:t>
            </a:r>
          </a:p>
          <a:p>
            <a:r>
              <a:t>Replace file.csv with the actual issued filename. Explain library, alias, function and method before running the worked example.</a:t>
            </a:r>
          </a:p>
          <a:p>
            <a:r>
              <a:t/>
            </a:r>
          </a:p>
          <a:p>
            <a:r>
              <a:t>EXPLAIN IN ORDINARY WORDS</a:t>
            </a:r>
          </a:p>
          <a:p>
            <a:r>
              <a:t>A DataFrame is a labelled table. A Series is a single labelled sequence, often one column. A dtype describes stored values, but the import may infer something unsuitable.</a:t>
            </a:r>
          </a:p>
          <a:p>
            <a:r>
              <a:t/>
            </a:r>
          </a:p>
          <a:p>
            <a:r>
              <a:t>CHECK AND EXPECTED ANSWER</a:t>
            </a:r>
          </a:p>
          <a:p>
            <a:r>
              <a:t>Does a price that looks numeric prove the column is numeric? No. Inspect its dtype and troublesome values before conversion.</a:t>
            </a:r>
          </a:p>
          <a:p>
            <a:r>
              <a:t/>
            </a:r>
          </a:p>
          <a:p>
            <a:r>
              <a:t>IF LEARNERS ARE STUCK</a:t>
            </a:r>
          </a:p>
          <a:p>
            <a:r>
              <a:t>Use head, shape and dtypes to locate the table, count rows/columns and inspect storage. Check units and missing values before calculating.</a:t>
            </a:r>
          </a:p>
          <a:p>
            <a:r>
              <a:t/>
            </a:r>
          </a:p>
          <a:p>
            <a:r>
              <a:t>NEXT</a:t>
            </a:r>
          </a:p>
          <a:p>
            <a:r>
              <a:t>Build the table before asking questions.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Build the table before asking questions</a:t>
            </a:r>
          </a:p>
          <a:p>
            <a:r>
              <a:t/>
            </a:r>
          </a:p>
          <a:p>
            <a:r>
              <a:t>CONNECT</a:t>
            </a:r>
          </a:p>
          <a:p>
            <a:r>
              <a:t>Build on the preceding slide: Reading pandas syntax.</a:t>
            </a:r>
          </a:p>
          <a:p>
            <a:r>
              <a:t/>
            </a:r>
          </a:p>
          <a:p>
            <a:r>
              <a:t>LECTURER CUE</a:t>
            </a:r>
          </a:p>
          <a:p>
            <a:r>
              <a:t>Each dictionary key becomes a column name. Equal-length lists supply its rows.</a:t>
            </a:r>
          </a:p>
          <a:p>
            <a:r>
              <a:t/>
            </a:r>
          </a:p>
          <a:p>
            <a:r>
              <a:t>Complete practice code:</a:t>
            </a:r>
          </a:p>
          <a:p>
            <a:r>
              <a:t>import pandas as pd</a:t>
            </a:r>
          </a:p>
          <a:p>
            <a:r>
              <a:t>df = pd.DataFrame({"building": ["A", "A", "B", "B"],</a:t>
            </a:r>
          </a:p>
          <a:p>
            <a:r>
              <a:t>                   "kwh": [2, 4, 5, 7]})</a:t>
            </a:r>
          </a:p>
          <a:p>
            <a:r>
              <a:t>print(df)</a:t>
            </a:r>
          </a:p>
          <a:p>
            <a:r>
              <a:t/>
            </a:r>
          </a:p>
          <a:p>
            <a:r>
              <a:t>EXPLAIN IN ORDINARY WORDS</a:t>
            </a:r>
          </a:p>
          <a:p>
            <a:r>
              <a:t>An observation describes the data. A finding answers a defined question with evidence. A recommendation adds an action, its justification and limits.</a:t>
            </a:r>
          </a:p>
          <a:p>
            <a:r>
              <a:t/>
            </a:r>
          </a:p>
          <a:p>
            <a:r>
              <a:t>CHECK AND EXPECTED ANSWER</a:t>
            </a:r>
          </a:p>
          <a:p>
            <a:r>
              <a:t>Does a difference between two groups prove one caused the other? No. Other differences or selection may explain it.</a:t>
            </a:r>
          </a:p>
          <a:p>
            <a:r>
              <a:t/>
            </a:r>
          </a:p>
          <a:p>
            <a:r>
              <a:t>IF LEARNERS ARE STUCK</a:t>
            </a:r>
          </a:p>
          <a:p>
            <a:r>
              <a:t>Ask for the population, time period, number and comparison. Then ask what additional evidence could change the recommendation.</a:t>
            </a:r>
          </a:p>
          <a:p>
            <a:r>
              <a:t/>
            </a:r>
          </a:p>
          <a:p>
            <a:r>
              <a:t>WALK THROUGH THIS CODE</a:t>
            </a:r>
          </a:p>
          <a:p>
            <a:r>
              <a:t>import loads a library. from selects a tool from it.</a:t>
            </a:r>
          </a:p>
          <a:p>
            <a:r>
              <a:t>print displays a value below the cell.</a:t>
            </a:r>
          </a:p>
          <a:p>
            <a:r>
              <a:t>Square brackets create a list or select an item.</a:t>
            </a:r>
          </a:p>
          <a:p>
            <a:r>
              <a:t>Read the displayed lines in order, with the preceding code block if this example continues. Ask for the next value before running. The complete matching example is in guided_practice.ipynb; do not type a fragment into a new empty notebook.</a:t>
            </a:r>
          </a:p>
          <a:p>
            <a:r>
              <a:t/>
            </a:r>
          </a:p>
          <a:p>
            <a:r>
              <a:t>NEXT</a:t>
            </a:r>
          </a:p>
          <a:p>
            <a:r>
              <a:t>Select a column and calculate its mean.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Select a column and calculate its mean</a:t>
            </a:r>
          </a:p>
          <a:p>
            <a:r>
              <a:t/>
            </a:r>
          </a:p>
          <a:p>
            <a:r>
              <a:t>CONNECT</a:t>
            </a:r>
          </a:p>
          <a:p>
            <a:r>
              <a:t>Build on the preceding slide: Build the table before asking questions.</a:t>
            </a:r>
          </a:p>
          <a:p>
            <a:r>
              <a:t/>
            </a:r>
          </a:p>
          <a:p>
            <a:r>
              <a:t>LECTURER CUE</a:t>
            </a:r>
          </a:p>
          <a:p>
            <a:r>
              <a:t>The four numbers are 2, 4, 5 and 7. Their mean is 18 / 4 = 4.5 kWh.</a:t>
            </a:r>
          </a:p>
          <a:p>
            <a:r>
              <a:t/>
            </a:r>
          </a:p>
          <a:p>
            <a:r>
              <a:t>Complete practice code:</a:t>
            </a:r>
          </a:p>
          <a:p>
            <a:r>
              <a:t>print(df["kwh"])</a:t>
            </a:r>
          </a:p>
          <a:p>
            <a:r>
              <a:t>print(df["kwh"].mean())</a:t>
            </a:r>
          </a:p>
          <a:p>
            <a:r>
              <a:t/>
            </a:r>
          </a:p>
          <a:p>
            <a:r>
              <a:t>EXPLAIN IN ORDINARY WORDS</a:t>
            </a:r>
          </a:p>
          <a:p>
            <a:r>
              <a:t>A list keeps items in order. Python positions start at zero. In [2,4,6], position 0 contains 2 and position 2 contains 6. A slice excludes its stop position.</a:t>
            </a:r>
          </a:p>
          <a:p>
            <a:r>
              <a:t/>
            </a:r>
          </a:p>
          <a:p>
            <a:r>
              <a:t>CHECK AND EXPECTED ANSWER</a:t>
            </a:r>
          </a:p>
          <a:p>
            <a:r>
              <a:t>What is [2,4,6][1]? 4. Is there a position 3? No.</a:t>
            </a:r>
          </a:p>
          <a:p>
            <a:r>
              <a:t/>
            </a:r>
          </a:p>
          <a:p>
            <a:r>
              <a:t>IF LEARNERS ARE STUCK</a:t>
            </a:r>
          </a:p>
          <a:p>
            <a:r>
              <a:t>Draw three numbered boxes starting at zero. Keep the position separate from the value stored in it.</a:t>
            </a:r>
          </a:p>
          <a:p>
            <a:r>
              <a:t/>
            </a:r>
          </a:p>
          <a:p>
            <a:r>
              <a:t>WALK THROUGH THIS CODE</a:t>
            </a:r>
          </a:p>
          <a:p>
            <a:r>
              <a:t>print displays a value below the cell.</a:t>
            </a:r>
          </a:p>
          <a:p>
            <a:r>
              <a:t>Square brackets create a list or select an item.</a:t>
            </a:r>
          </a:p>
          <a:p>
            <a:r>
              <a:t>Read the displayed lines in order, with the preceding code block if this example continues. Ask for the next value before running. The complete matching example is in guided_practice.ipynb; do not type a fragment into a new empty notebook.</a:t>
            </a:r>
          </a:p>
          <a:p>
            <a:r>
              <a:t/>
            </a:r>
          </a:p>
          <a:p>
            <a:r>
              <a:t>NEXT</a:t>
            </a:r>
          </a:p>
          <a:p>
            <a:r>
              <a:t>Mask and filter.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Mask and filter</a:t>
            </a:r>
          </a:p>
          <a:p>
            <a:r>
              <a:t/>
            </a:r>
          </a:p>
          <a:p>
            <a:r>
              <a:t>CONNECT</a:t>
            </a:r>
          </a:p>
          <a:p>
            <a:r>
              <a:t>Build on the preceding slide: Select a column and calculate its mean.</a:t>
            </a:r>
          </a:p>
          <a:p>
            <a:r>
              <a:t/>
            </a:r>
          </a:p>
          <a:p>
            <a:r>
              <a:t>EXPLAIN IN ORDINARY WORDS</a:t>
            </a:r>
          </a:p>
          <a:p>
            <a:r>
              <a:t>A condition is a True/False question. Python executes the matching indented branch. = assigns; == compares. &gt;= includes the boundary, while &gt; excludes it.</a:t>
            </a:r>
          </a:p>
          <a:p>
            <a:r>
              <a:t/>
            </a:r>
          </a:p>
          <a:p>
            <a:r>
              <a:t>CHECK AND EXPECTED ANSWER</a:t>
            </a:r>
          </a:p>
          <a:p>
            <a:r>
              <a:t>With value 30, is value &gt;= 30 true? Yes. Is value &gt; 30 true? No.</a:t>
            </a:r>
          </a:p>
          <a:p>
            <a:r>
              <a:t/>
            </a:r>
          </a:p>
          <a:p>
            <a:r>
              <a:t>IF LEARNERS ARE STUCK</a:t>
            </a:r>
          </a:p>
          <a:p>
            <a:r>
              <a:t>Try one value below, at and above the boundary before running the code.</a:t>
            </a:r>
          </a:p>
          <a:p>
            <a:r>
              <a:t/>
            </a:r>
          </a:p>
          <a:p>
            <a:r>
              <a:t>POINT TO THE DEFINITION</a:t>
            </a:r>
          </a:p>
          <a:p>
            <a:r>
              <a:t>Mask and filter: A comparison produces True/False for each row. df[mask] keeps the True rows.</a:t>
            </a:r>
          </a:p>
          <a:p>
            <a:r>
              <a:t/>
            </a:r>
          </a:p>
          <a:p>
            <a:r>
              <a:t>NEXT</a:t>
            </a:r>
          </a:p>
          <a:p>
            <a:r>
              <a:t>A comparison creates a Boolean mask.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A comparison creates a Boolean mask</a:t>
            </a:r>
          </a:p>
          <a:p>
            <a:r>
              <a:t/>
            </a:r>
          </a:p>
          <a:p>
            <a:r>
              <a:t>CONNECT</a:t>
            </a:r>
          </a:p>
          <a:p>
            <a:r>
              <a:t>Build on the preceding slide: Mask and filter.</a:t>
            </a:r>
          </a:p>
          <a:p>
            <a:r>
              <a:t/>
            </a:r>
          </a:p>
          <a:p>
            <a:r>
              <a:t>LECTURER CUE</a:t>
            </a:r>
          </a:p>
          <a:p>
            <a:r>
              <a:t>Read &gt; as greater than, then trace one row through the mask. Selection does not delete the source rows. 40 is a practice threshold, not a safety standard.</a:t>
            </a:r>
          </a:p>
          <a:p>
            <a:r>
              <a:t>Source: existing course illustration figs/boolean_mask.png. These are illustrative examples, not this cohort’s assessed results.</a:t>
            </a:r>
          </a:p>
          <a:p>
            <a:r>
              <a:t/>
            </a:r>
          </a:p>
          <a:p>
            <a:r>
              <a:t>EXPLAIN IN ORDINARY WORDS</a:t>
            </a:r>
          </a:p>
          <a:p>
            <a:r>
              <a:t>A condition is a True/False question. Python executes the matching indented branch. = assigns; == compares. &gt;= includes the boundary, while &gt; excludes it.</a:t>
            </a:r>
          </a:p>
          <a:p>
            <a:r>
              <a:t/>
            </a:r>
          </a:p>
          <a:p>
            <a:r>
              <a:t>CHECK AND EXPECTED ANSWER</a:t>
            </a:r>
          </a:p>
          <a:p>
            <a:r>
              <a:t>With value 30, is value &gt;= 30 true? Yes. Is value &gt; 30 true? No.</a:t>
            </a:r>
          </a:p>
          <a:p>
            <a:r>
              <a:t/>
            </a:r>
          </a:p>
          <a:p>
            <a:r>
              <a:t>IF LEARNERS ARE STUCK</a:t>
            </a:r>
          </a:p>
          <a:p>
            <a:r>
              <a:t>Try one value below, at and above the boundary before running the code.</a:t>
            </a:r>
          </a:p>
          <a:p>
            <a:r>
              <a:t/>
            </a:r>
          </a:p>
          <a:p>
            <a:r>
              <a:t>NEXT</a:t>
            </a:r>
          </a:p>
          <a:p>
            <a:r>
              <a:t>Keep rows where the comparison is true.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Keep rows where the comparison is true</a:t>
            </a:r>
          </a:p>
          <a:p>
            <a:r>
              <a:t/>
            </a:r>
          </a:p>
          <a:p>
            <a:r>
              <a:t>CONNECT</a:t>
            </a:r>
          </a:p>
          <a:p>
            <a:r>
              <a:t>Build on the preceding slide: A comparison creates a Boolean mask.</a:t>
            </a:r>
          </a:p>
          <a:p>
            <a:r>
              <a:t/>
            </a:r>
          </a:p>
          <a:p>
            <a:r>
              <a:t>LECTURER CUE</a:t>
            </a:r>
          </a:p>
          <a:p>
            <a:r>
              <a:t>The mask is False, False, True, True. The selected rows contain 5 and 7 kWh.</a:t>
            </a:r>
          </a:p>
          <a:p>
            <a:r>
              <a:t/>
            </a:r>
          </a:p>
          <a:p>
            <a:r>
              <a:t>Complete practice code:</a:t>
            </a:r>
          </a:p>
          <a:p>
            <a:r>
              <a:t>mask = df["kwh"] &gt; 4</a:t>
            </a:r>
          </a:p>
          <a:p>
            <a:r>
              <a:t>print(mask)</a:t>
            </a:r>
          </a:p>
          <a:p>
            <a:r>
              <a:t>print(df[mask])</a:t>
            </a:r>
          </a:p>
          <a:p>
            <a:r>
              <a:t/>
            </a:r>
          </a:p>
          <a:p>
            <a:r>
              <a:t>EXPLAIN IN ORDINARY WORDS</a:t>
            </a:r>
          </a:p>
          <a:p>
            <a:r>
              <a:t>A condition is a True/False question. Python executes the matching indented branch. = assigns; == compares. &gt;= includes the boundary, while &gt; excludes it.</a:t>
            </a:r>
          </a:p>
          <a:p>
            <a:r>
              <a:t/>
            </a:r>
          </a:p>
          <a:p>
            <a:r>
              <a:t>CHECK AND EXPECTED ANSWER</a:t>
            </a:r>
          </a:p>
          <a:p>
            <a:r>
              <a:t>With value 30, is value &gt;= 30 true? Yes. Is value &gt; 30 true? No.</a:t>
            </a:r>
          </a:p>
          <a:p>
            <a:r>
              <a:t/>
            </a:r>
          </a:p>
          <a:p>
            <a:r>
              <a:t>IF LEARNERS ARE STUCK</a:t>
            </a:r>
          </a:p>
          <a:p>
            <a:r>
              <a:t>Try one value below, at and above the boundary before running the code.</a:t>
            </a:r>
          </a:p>
          <a:p>
            <a:r>
              <a:t/>
            </a:r>
          </a:p>
          <a:p>
            <a:r>
              <a:t>WALK THROUGH THIS CODE</a:t>
            </a:r>
          </a:p>
          <a:p>
            <a:r>
              <a:t>print displays a value below the cell.</a:t>
            </a:r>
          </a:p>
          <a:p>
            <a:r>
              <a:t>Square brackets create a list or select an item.</a:t>
            </a:r>
          </a:p>
          <a:p>
            <a:r>
              <a:t>= assigns the value on the right to the name on the left.</a:t>
            </a:r>
          </a:p>
          <a:p>
            <a:r>
              <a:t>Read the displayed lines in order, with the preceding code block if this example continues. Ask for the next value before running. The complete matching example is in guided_practice.ipynb; do not type a fragment into a new empty notebook.</a:t>
            </a:r>
          </a:p>
          <a:p>
            <a:r>
              <a:t/>
            </a:r>
          </a:p>
          <a:p>
            <a:r>
              <a:t>NEXT</a:t>
            </a:r>
          </a:p>
          <a:p>
            <a:r>
              <a:t>groupby and aggregation.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groupby and aggregation</a:t>
            </a:r>
          </a:p>
          <a:p>
            <a:r>
              <a:t/>
            </a:r>
          </a:p>
          <a:p>
            <a:r>
              <a:t>CONNECT</a:t>
            </a:r>
          </a:p>
          <a:p>
            <a:r>
              <a:t>Build on the preceding slide: Keep rows where the comparison is true.</a:t>
            </a:r>
          </a:p>
          <a:p>
            <a:r>
              <a:t/>
            </a:r>
          </a:p>
          <a:p>
            <a:r>
              <a:t>EXPLAIN IN ORDINARY WORDS</a:t>
            </a:r>
          </a:p>
          <a:p>
            <a:r>
              <a:t>Grouping puts rows sharing a key into buckets, then computes a result for each bucket. WHERE filters rows before SQL grouping; HAVING filters grouped results.</a:t>
            </a:r>
          </a:p>
          <a:p>
            <a:r>
              <a:t/>
            </a:r>
          </a:p>
          <a:p>
            <a:r>
              <a:t>CHECK AND EXPECTED ANSWER</a:t>
            </a:r>
          </a:p>
          <a:p>
            <a:r>
              <a:t>Which condition keeps only groups with more than five rows? HAVING COUNT(*) &gt; 5.</a:t>
            </a:r>
          </a:p>
          <a:p>
            <a:r>
              <a:t/>
            </a:r>
          </a:p>
          <a:p>
            <a:r>
              <a:t>IF LEARNERS ARE STUCK</a:t>
            </a:r>
          </a:p>
          <a:p>
            <a:r>
              <a:t>Draw two buckets and count by hand. Name the intended output grain before writing the aggregation.</a:t>
            </a:r>
          </a:p>
          <a:p>
            <a:r>
              <a:t/>
            </a:r>
          </a:p>
          <a:p>
            <a:r>
              <a:t>POINT TO THE DEFINITION</a:t>
            </a:r>
          </a:p>
          <a:p>
            <a:r>
              <a:t>groupby and aggregation: groupby collects rows with the same label. An aggregation such as sum or mean returns a summary for each group.</a:t>
            </a:r>
          </a:p>
          <a:p>
            <a:r>
              <a:t/>
            </a:r>
          </a:p>
          <a:p>
            <a:r>
              <a:t>NEXT</a:t>
            </a:r>
          </a:p>
          <a:p>
            <a:r>
              <a:t>Selection and grouping answer different questions.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Selection and grouping answer different questions</a:t>
            </a:r>
          </a:p>
          <a:p>
            <a:r>
              <a:t/>
            </a:r>
          </a:p>
          <a:p>
            <a:r>
              <a:t>CONNECT</a:t>
            </a:r>
          </a:p>
          <a:p>
            <a:r>
              <a:t>Build on the preceding slide: groupby and aggregation.</a:t>
            </a:r>
          </a:p>
          <a:p>
            <a:r>
              <a:t/>
            </a:r>
          </a:p>
          <a:p>
            <a:r>
              <a:t>LECTURER CUE</a:t>
            </a:r>
          </a:p>
          <a:p>
            <a:r>
              <a:t>Run the column selection, comparison and filtered table in separate cells. Then group rows by building and add energy within each group.</a:t>
            </a:r>
          </a:p>
          <a:p>
            <a:r>
              <a:t/>
            </a:r>
          </a:p>
          <a:p>
            <a:r>
              <a:t>EXPLAIN IN ORDINARY WORDS</a:t>
            </a:r>
          </a:p>
          <a:p>
            <a:r>
              <a:t>An observation describes the data. A finding answers a defined question with evidence. A recommendation adds an action, its justification and limits.</a:t>
            </a:r>
          </a:p>
          <a:p>
            <a:r>
              <a:t/>
            </a:r>
          </a:p>
          <a:p>
            <a:r>
              <a:t>CHECK AND EXPECTED ANSWER</a:t>
            </a:r>
          </a:p>
          <a:p>
            <a:r>
              <a:t>Does a difference between two groups prove one caused the other? No. Other differences or selection may explain it.</a:t>
            </a:r>
          </a:p>
          <a:p>
            <a:r>
              <a:t/>
            </a:r>
          </a:p>
          <a:p>
            <a:r>
              <a:t>IF LEARNERS ARE STUCK</a:t>
            </a:r>
          </a:p>
          <a:p>
            <a:r>
              <a:t>Ask for the population, time period, number and comparison. Then ask what additional evidence could change the recommendation.</a:t>
            </a:r>
          </a:p>
          <a:p>
            <a:r>
              <a:t/>
            </a:r>
          </a:p>
          <a:p>
            <a:r>
              <a:t>NEXT</a:t>
            </a:r>
          </a:p>
          <a:p>
            <a:r>
              <a:t>A chained expression is several small steps.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A chained expression is several small steps</a:t>
            </a:r>
          </a:p>
          <a:p>
            <a:r>
              <a:t/>
            </a:r>
          </a:p>
          <a:p>
            <a:r>
              <a:t>CONNECT</a:t>
            </a:r>
          </a:p>
          <a:p>
            <a:r>
              <a:t>Build on the preceding slide: Selection and grouping answer different questions.</a:t>
            </a:r>
          </a:p>
          <a:p>
            <a:r>
              <a:t/>
            </a:r>
          </a:p>
          <a:p>
            <a:r>
              <a:t>LECTURER CUE</a:t>
            </a:r>
          </a:p>
          <a:p>
            <a:r>
              <a:t>Read one row at a time and use a changed value. This is a syntax reference for the worked examples.</a:t>
            </a:r>
          </a:p>
          <a:p>
            <a:r>
              <a:t/>
            </a:r>
          </a:p>
          <a:p>
            <a:r>
              <a:t>EXPLAIN IN ORDINARY WORDS</a:t>
            </a:r>
          </a:p>
          <a:p>
            <a:r>
              <a:t>Grouping puts rows sharing a key into buckets, then computes a result for each bucket. WHERE filters rows before SQL grouping; HAVING filters grouped results.</a:t>
            </a:r>
          </a:p>
          <a:p>
            <a:r>
              <a:t/>
            </a:r>
          </a:p>
          <a:p>
            <a:r>
              <a:t>CHECK AND EXPECTED ANSWER</a:t>
            </a:r>
          </a:p>
          <a:p>
            <a:r>
              <a:t>Which condition keeps only groups with more than five rows? HAVING COUNT(*) &gt; 5.</a:t>
            </a:r>
          </a:p>
          <a:p>
            <a:r>
              <a:t/>
            </a:r>
          </a:p>
          <a:p>
            <a:r>
              <a:t>IF LEARNERS ARE STUCK</a:t>
            </a:r>
          </a:p>
          <a:p>
            <a:r>
              <a:t>Draw two buckets and count by hand. Name the intended output grain before writing the aggregation.</a:t>
            </a:r>
          </a:p>
          <a:p>
            <a:r>
              <a:t/>
            </a:r>
          </a:p>
          <a:p>
            <a:r>
              <a:t>READ THE VISUAL</a:t>
            </a:r>
          </a:p>
          <a:p>
            <a:r>
              <a:t>Start with the title and labels. Read one row or mark aloud, including its unit. Let a learner read a second one before discussing the pattern. Do not infer a numerical value from an unlabelled drawing.</a:t>
            </a:r>
          </a:p>
          <a:p>
            <a:r>
              <a:t/>
            </a:r>
          </a:p>
          <a:p>
            <a:r>
              <a:t>NEXT</a:t>
            </a:r>
          </a:p>
          <a:p>
            <a:r>
              <a:t>Calculate one total for each building.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Calculate one total for each building</a:t>
            </a:r>
          </a:p>
          <a:p>
            <a:r>
              <a:t/>
            </a:r>
          </a:p>
          <a:p>
            <a:r>
              <a:t>CONNECT</a:t>
            </a:r>
          </a:p>
          <a:p>
            <a:r>
              <a:t>Build on the preceding slide: A chained expression is several small steps.</a:t>
            </a:r>
          </a:p>
          <a:p>
            <a:r>
              <a:t/>
            </a:r>
          </a:p>
          <a:p>
            <a:r>
              <a:t>LECTURER CUE</a:t>
            </a:r>
          </a:p>
          <a:p>
            <a:r>
              <a:t>Expected: A totals 6 kWh; B totals 12 kWh.</a:t>
            </a:r>
          </a:p>
          <a:p>
            <a:r>
              <a:t/>
            </a:r>
          </a:p>
          <a:p>
            <a:r>
              <a:t>Complete practice code:</a:t>
            </a:r>
          </a:p>
          <a:p>
            <a:r>
              <a:t>print(df.groupby("building")["kwh"].sum())</a:t>
            </a:r>
          </a:p>
          <a:p>
            <a:r>
              <a:t/>
            </a:r>
          </a:p>
          <a:p>
            <a:r>
              <a:t>EXPLAIN IN ORDINARY WORDS</a:t>
            </a:r>
          </a:p>
          <a:p>
            <a:r>
              <a:t>Grouping puts rows sharing a key into buckets, then computes a result for each bucket. WHERE filters rows before SQL grouping; HAVING filters grouped results.</a:t>
            </a:r>
          </a:p>
          <a:p>
            <a:r>
              <a:t/>
            </a:r>
          </a:p>
          <a:p>
            <a:r>
              <a:t>CHECK AND EXPECTED ANSWER</a:t>
            </a:r>
          </a:p>
          <a:p>
            <a:r>
              <a:t>Which condition keeps only groups with more than five rows? HAVING COUNT(*) &gt; 5.</a:t>
            </a:r>
          </a:p>
          <a:p>
            <a:r>
              <a:t/>
            </a:r>
          </a:p>
          <a:p>
            <a:r>
              <a:t>IF LEARNERS ARE STUCK</a:t>
            </a:r>
          </a:p>
          <a:p>
            <a:r>
              <a:t>Draw two buckets and count by hand. Name the intended output grain before writing the aggregation.</a:t>
            </a:r>
          </a:p>
          <a:p>
            <a:r>
              <a:t/>
            </a:r>
          </a:p>
          <a:p>
            <a:r>
              <a:t>WALK THROUGH THIS CODE</a:t>
            </a:r>
          </a:p>
          <a:p>
            <a:r>
              <a:t>print displays a value below the cell.</a:t>
            </a:r>
          </a:p>
          <a:p>
            <a:r>
              <a:t>Square brackets create a list or select an item.</a:t>
            </a:r>
          </a:p>
          <a:p>
            <a:r>
              <a:t>Read the displayed lines in order, with the preceding code block if this example continues. Ask for the next value before running. The complete matching example is in guided_practice.ipynb; do not type a fragment into a new empty notebook.</a:t>
            </a:r>
          </a:p>
          <a:p>
            <a:r>
              <a:t/>
            </a:r>
          </a:p>
          <a:p>
            <a:r>
              <a:t>NEXT</a:t>
            </a:r>
          </a:p>
          <a:p>
            <a:r>
              <a:t>Expected output.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Expected output</a:t>
            </a:r>
          </a:p>
          <a:p>
            <a:r>
              <a:t/>
            </a:r>
          </a:p>
          <a:p>
            <a:r>
              <a:t>CONNECT</a:t>
            </a:r>
          </a:p>
          <a:p>
            <a:r>
              <a:t>Build on the preceding slide: Calculate one total for each building.</a:t>
            </a:r>
          </a:p>
          <a:p>
            <a:r>
              <a:t/>
            </a:r>
          </a:p>
          <a:p>
            <a:r>
              <a:t>LECTURER CUE</a:t>
            </a:r>
          </a:p>
          <a:p>
            <a:r>
              <a:t>Compare the actual output character by character with this practice result. If it differs, read the first error and check the input, units, names and execution order. Do not copy this practice output into a graded answer.</a:t>
            </a:r>
          </a:p>
          <a:p>
            <a:r>
              <a:t/>
            </a:r>
          </a:p>
          <a:p>
            <a:r>
              <a:t>NEXT</a:t>
            </a:r>
          </a:p>
          <a:p>
            <a:r>
              <a:t>Unique labels and the largest group.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Unique labels and the largest group</a:t>
            </a:r>
          </a:p>
          <a:p>
            <a:r>
              <a:t/>
            </a:r>
          </a:p>
          <a:p>
            <a:r>
              <a:t>CONNECT</a:t>
            </a:r>
          </a:p>
          <a:p>
            <a:r>
              <a:t>Build on the preceding slide: Expected output.</a:t>
            </a:r>
          </a:p>
          <a:p>
            <a:r>
              <a:t/>
            </a:r>
          </a:p>
          <a:p>
            <a:r>
              <a:t>LECTURER CUE</a:t>
            </a:r>
          </a:p>
          <a:p>
            <a:r>
              <a:t>nunique counts distinct labels, not rows. idxmax returns the label of the largest total. Here there is no tie.</a:t>
            </a:r>
          </a:p>
          <a:p>
            <a:r>
              <a:t/>
            </a:r>
          </a:p>
          <a:p>
            <a:r>
              <a:t>EXPLAIN IN ORDINARY WORDS</a:t>
            </a:r>
          </a:p>
          <a:p>
            <a:r>
              <a:t>A function is a named set of instructions. def defines it; a call runs it with inputs. Parameters are input names, arguments are supplied values, and return sends the result back.</a:t>
            </a:r>
          </a:p>
          <a:p>
            <a:r>
              <a:t/>
            </a:r>
          </a:p>
          <a:p>
            <a:r>
              <a:t>CHECK AND EXPECTED ANSWER</a:t>
            </a:r>
          </a:p>
          <a:p>
            <a:r>
              <a:t>Does print(8) return the number 8 to the caller? No; it displays 8 and returns None. A function needing a numeric result should return it.</a:t>
            </a:r>
          </a:p>
          <a:p>
            <a:r>
              <a:t/>
            </a:r>
          </a:p>
          <a:p>
            <a:r>
              <a:t>IF LEARNERS ARE STUCK</a:t>
            </a:r>
          </a:p>
          <a:p>
            <a:r>
              <a:t>Trace one call: bind input names, run the indented body, reach return, then put the returned result back into the calling expression.</a:t>
            </a:r>
          </a:p>
          <a:p>
            <a:r>
              <a:t/>
            </a:r>
          </a:p>
          <a:p>
            <a:r>
              <a:t>NEXT</a:t>
            </a:r>
          </a:p>
          <a:p>
            <a:r>
              <a:t>Unique labels and the largest group in Python.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Unique labels and the largest group in Python</a:t>
            </a:r>
          </a:p>
          <a:p>
            <a:r>
              <a:t/>
            </a:r>
          </a:p>
          <a:p>
            <a:r>
              <a:t>CONNECT</a:t>
            </a:r>
          </a:p>
          <a:p>
            <a:r>
              <a:t>Build on the preceding slide: Unique labels and the largest group.</a:t>
            </a:r>
          </a:p>
          <a:p>
            <a:r>
              <a:t/>
            </a:r>
          </a:p>
          <a:p>
            <a:r>
              <a:t>LECTURER CUE</a:t>
            </a:r>
          </a:p>
          <a:p>
            <a:r>
              <a:t>nunique counts distinct labels, not rows. idxmax returns the label of the largest total. Here there is no tie.</a:t>
            </a:r>
          </a:p>
          <a:p>
            <a:r>
              <a:t/>
            </a:r>
          </a:p>
          <a:p>
            <a:r>
              <a:t>Complete practice code:</a:t>
            </a:r>
          </a:p>
          <a:p>
            <a:r>
              <a:t>print(df["building"].nunique())</a:t>
            </a:r>
          </a:p>
          <a:p>
            <a:r>
              <a:t>totals = df.groupby("building")["kwh"].sum()</a:t>
            </a:r>
          </a:p>
          <a:p>
            <a:r>
              <a:t>print(totals.idxmax())</a:t>
            </a:r>
          </a:p>
          <a:p>
            <a:r>
              <a:t/>
            </a:r>
          </a:p>
          <a:p>
            <a:r>
              <a:t>EXPLAIN IN ORDINARY WORDS</a:t>
            </a:r>
          </a:p>
          <a:p>
            <a:r>
              <a:t>Grouping puts rows sharing a key into buckets, then computes a result for each bucket. WHERE filters rows before SQL grouping; HAVING filters grouped results.</a:t>
            </a:r>
          </a:p>
          <a:p>
            <a:r>
              <a:t/>
            </a:r>
          </a:p>
          <a:p>
            <a:r>
              <a:t>CHECK AND EXPECTED ANSWER</a:t>
            </a:r>
          </a:p>
          <a:p>
            <a:r>
              <a:t>Which condition keeps only groups with more than five rows? HAVING COUNT(*) &gt; 5.</a:t>
            </a:r>
          </a:p>
          <a:p>
            <a:r>
              <a:t/>
            </a:r>
          </a:p>
          <a:p>
            <a:r>
              <a:t>IF LEARNERS ARE STUCK</a:t>
            </a:r>
          </a:p>
          <a:p>
            <a:r>
              <a:t>Draw two buckets and count by hand. Name the intended output grain before writing the aggregation.</a:t>
            </a:r>
          </a:p>
          <a:p>
            <a:r>
              <a:t/>
            </a:r>
          </a:p>
          <a:p>
            <a:r>
              <a:t>WALK THROUGH THIS CODE</a:t>
            </a:r>
          </a:p>
          <a:p>
            <a:r>
              <a:t>print displays a value below the cell.</a:t>
            </a:r>
          </a:p>
          <a:p>
            <a:r>
              <a:t>Square brackets create a list or select an item.</a:t>
            </a:r>
          </a:p>
          <a:p>
            <a:r>
              <a:t>= assigns the value on the right to the name on the left.</a:t>
            </a:r>
          </a:p>
          <a:p>
            <a:r>
              <a:t>Read the displayed lines in order, with the preceding code block if this example continues. Ask for the next value before running. The complete matching example is in guided_practice.ipynb; do not type a fragment into a new empty notebook.</a:t>
            </a:r>
          </a:p>
          <a:p>
            <a:r>
              <a:t/>
            </a:r>
          </a:p>
          <a:p>
            <a:r>
              <a:t>NEXT</a:t>
            </a:r>
          </a:p>
          <a:p>
            <a:r>
              <a:t>Create a column from two existing columns.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Create a column from two existing columns</a:t>
            </a:r>
          </a:p>
          <a:p>
            <a:r>
              <a:t/>
            </a:r>
          </a:p>
          <a:p>
            <a:r>
              <a:t>CONNECT</a:t>
            </a:r>
          </a:p>
          <a:p>
            <a:r>
              <a:t>Build on the preceding slide: Unique labels and the largest group in Python.</a:t>
            </a:r>
          </a:p>
          <a:p>
            <a:r>
              <a:t/>
            </a:r>
          </a:p>
          <a:p>
            <a:r>
              <a:t>EXPLAIN IN ORDINARY WORDS</a:t>
            </a:r>
          </a:p>
          <a:p>
            <a:r>
              <a:t>Read each quantity and unit before using a formula. Python calculates numbers but does not enforce physical units. Parentheses specify which operation happens first.</a:t>
            </a:r>
          </a:p>
          <a:p>
            <a:r>
              <a:t/>
            </a:r>
          </a:p>
          <a:p>
            <a:r>
              <a:t>CHECK AND EXPECTED ANSWER</a:t>
            </a:r>
          </a:p>
          <a:p>
            <a:r>
              <a:t>What is 5 m times 3 m? 15 square metres. What is 7/2 in Python? 3.5; 7//2 is 3.</a:t>
            </a:r>
          </a:p>
          <a:p>
            <a:r>
              <a:t/>
            </a:r>
          </a:p>
          <a:p>
            <a:r>
              <a:t>IF LEARNERS ARE STUCK</a:t>
            </a:r>
          </a:p>
          <a:p>
            <a:r>
              <a:t>Write the formula and units on paper, substitute small values, then translate it to Python. Check zero denominators and the issued sign convention.</a:t>
            </a:r>
          </a:p>
          <a:p>
            <a:r>
              <a:t/>
            </a:r>
          </a:p>
          <a:p>
            <a:r>
              <a:t>NEXT</a:t>
            </a:r>
          </a:p>
          <a:p>
            <a:r>
              <a:t>An energy rate is cost divided by energy.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An energy rate is cost divided by energy</a:t>
            </a:r>
          </a:p>
          <a:p>
            <a:r>
              <a:t/>
            </a:r>
          </a:p>
          <a:p>
            <a:r>
              <a:t>CONNECT</a:t>
            </a:r>
          </a:p>
          <a:p>
            <a:r>
              <a:t>Build on the preceding slide: Create a column from two existing columns.</a:t>
            </a:r>
          </a:p>
          <a:p>
            <a:r>
              <a:t/>
            </a:r>
          </a:p>
          <a:p>
            <a:r>
              <a:t>LECTURER CUE</a:t>
            </a:r>
          </a:p>
          <a:p>
            <a:r>
              <a:t>Expected rates: 500, 600, 700 and 800 UGX/kWh. Keep units in column names.</a:t>
            </a:r>
          </a:p>
          <a:p>
            <a:r>
              <a:t/>
            </a:r>
          </a:p>
          <a:p>
            <a:r>
              <a:t>Complete practice code:</a:t>
            </a:r>
          </a:p>
          <a:p>
            <a:r>
              <a:t>df["cost_ugx"] = [1000, 2400, 3500, 5600]</a:t>
            </a:r>
          </a:p>
          <a:p>
            <a:r>
              <a:t>df["rate_ugx_per_kwh"] = df["cost_ugx"] / df["kwh"]</a:t>
            </a:r>
          </a:p>
          <a:p>
            <a:r>
              <a:t>print(df["rate_ugx_per_kwh"])</a:t>
            </a:r>
          </a:p>
          <a:p>
            <a:r>
              <a:t/>
            </a:r>
          </a:p>
          <a:p>
            <a:r>
              <a:t>EXPLAIN IN ORDINARY WORDS</a:t>
            </a:r>
          </a:p>
          <a:p>
            <a:r>
              <a:t>Read each quantity and unit before using a formula. Python calculates numbers but does not enforce physical units. Parentheses specify which operation happens first.</a:t>
            </a:r>
          </a:p>
          <a:p>
            <a:r>
              <a:t/>
            </a:r>
          </a:p>
          <a:p>
            <a:r>
              <a:t>CHECK AND EXPECTED ANSWER</a:t>
            </a:r>
          </a:p>
          <a:p>
            <a:r>
              <a:t>What is 5 m times 3 m? 15 square metres. What is 7/2 in Python? 3.5; 7//2 is 3.</a:t>
            </a:r>
          </a:p>
          <a:p>
            <a:r>
              <a:t/>
            </a:r>
          </a:p>
          <a:p>
            <a:r>
              <a:t>IF LEARNERS ARE STUCK</a:t>
            </a:r>
          </a:p>
          <a:p>
            <a:r>
              <a:t>Write the formula and units on paper, substitute small values, then translate it to Python. Check zero denominators and the issued sign convention.</a:t>
            </a:r>
          </a:p>
          <a:p>
            <a:r>
              <a:t/>
            </a:r>
          </a:p>
          <a:p>
            <a:r>
              <a:t>WALK THROUGH THIS CODE</a:t>
            </a:r>
          </a:p>
          <a:p>
            <a:r>
              <a:t>print displays a value below the cell.</a:t>
            </a:r>
          </a:p>
          <a:p>
            <a:r>
              <a:t>Square brackets create a list or select an item.</a:t>
            </a:r>
          </a:p>
          <a:p>
            <a:r>
              <a:t>= assigns the value on the right to the name on the left.</a:t>
            </a:r>
          </a:p>
          <a:p>
            <a:r>
              <a:t>Read the displayed lines in order, with the preceding code block if this example continues. Ask for the next value before running. The complete matching example is in guided_practice.ipynb; do not type a fragment into a new empty notebook.</a:t>
            </a:r>
          </a:p>
          <a:p>
            <a:r>
              <a:t/>
            </a:r>
          </a:p>
          <a:p>
            <a:r>
              <a:t>NEXT</a:t>
            </a:r>
          </a:p>
          <a:p>
            <a:r>
              <a:t>Load the assignment table before analysing it.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Load the assignment table before analysing it</a:t>
            </a:r>
          </a:p>
          <a:p>
            <a:r>
              <a:t/>
            </a:r>
          </a:p>
          <a:p>
            <a:r>
              <a:t>CONNECT</a:t>
            </a:r>
          </a:p>
          <a:p>
            <a:r>
              <a:t>Build on the preceding slide: An energy rate is cost divided by energy.</a:t>
            </a:r>
          </a:p>
          <a:p>
            <a:r>
              <a:t/>
            </a:r>
          </a:p>
          <a:p>
            <a:r>
              <a:t>EXPLAIN IN ORDINARY WORDS</a:t>
            </a:r>
          </a:p>
          <a:p>
            <a:r>
              <a:t>A DataFrame is a labelled table. A Series is a single labelled sequence, often one column. A dtype describes stored values, but the import may infer something unsuitable.</a:t>
            </a:r>
          </a:p>
          <a:p>
            <a:r>
              <a:t/>
            </a:r>
          </a:p>
          <a:p>
            <a:r>
              <a:t>CHECK AND EXPECTED ANSWER</a:t>
            </a:r>
          </a:p>
          <a:p>
            <a:r>
              <a:t>Does a price that looks numeric prove the column is numeric? No. Inspect its dtype and troublesome values before conversion.</a:t>
            </a:r>
          </a:p>
          <a:p>
            <a:r>
              <a:t/>
            </a:r>
          </a:p>
          <a:p>
            <a:r>
              <a:t>IF LEARNERS ARE STUCK</a:t>
            </a:r>
          </a:p>
          <a:p>
            <a:r>
              <a:t>Use head, shape and dtypes to locate the table, count rows/columns and inspect storage. Check units and missing values before calculating.</a:t>
            </a:r>
          </a:p>
          <a:p>
            <a:r>
              <a:t/>
            </a:r>
          </a:p>
          <a:p>
            <a:r>
              <a:t>TYPE NUANCE</a:t>
            </a:r>
          </a:p>
          <a:p>
            <a:r>
              <a:t>An object dtype alone does not prove that a column contains bad numeric values; it can hold Python objects, including numbers. Inspect values and conversion results. Missing values may display as NaN, None, NaT or pandas NA depending on dtype.</a:t>
            </a:r>
          </a:p>
          <a:p>
            <a:r>
              <a:t/>
            </a:r>
          </a:p>
          <a:p>
            <a:r>
              <a:t>NEXT</a:t>
            </a:r>
          </a:p>
          <a:p>
            <a:r>
              <a:t>Inspect the supplied energy file.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Inspect the supplied energy file</a:t>
            </a:r>
          </a:p>
          <a:p>
            <a:r>
              <a:t/>
            </a:r>
          </a:p>
          <a:p>
            <a:r>
              <a:t>CONNECT</a:t>
            </a:r>
          </a:p>
          <a:p>
            <a:r>
              <a:t>Build on the preceding slide: Load the assignment table before analysing it.</a:t>
            </a:r>
          </a:p>
          <a:p>
            <a:r>
              <a:t/>
            </a:r>
          </a:p>
          <a:p>
            <a:r>
              <a:t>LECTURER CUE</a:t>
            </a:r>
          </a:p>
          <a:p>
            <a:r>
              <a:t>Check column names, data types and units before attempting the six issued tasks.</a:t>
            </a:r>
          </a:p>
          <a:p>
            <a:r>
              <a:t/>
            </a:r>
          </a:p>
          <a:p>
            <a:r>
              <a:t>Complete practice code:</a:t>
            </a:r>
          </a:p>
          <a:p>
            <a:r>
              <a:t>issued_table = pd.read_csv("campus_energy.csv")</a:t>
            </a:r>
          </a:p>
          <a:p>
            <a:r>
              <a:t>print(issued_table.head())</a:t>
            </a:r>
          </a:p>
          <a:p>
            <a:r>
              <a:t>print(issued_table.shape)</a:t>
            </a:r>
          </a:p>
          <a:p>
            <a:r>
              <a:t>print(issued_table.dtypes)</a:t>
            </a:r>
          </a:p>
          <a:p>
            <a:r>
              <a:t/>
            </a:r>
          </a:p>
          <a:p>
            <a:r>
              <a:t>EXPLAIN IN ORDINARY WORDS</a:t>
            </a:r>
          </a:p>
          <a:p>
            <a:r>
              <a:t>A DataFrame is a labelled table. A Series is a single labelled sequence, often one column. A dtype describes stored values, but the import may infer something unsuitable.</a:t>
            </a:r>
          </a:p>
          <a:p>
            <a:r>
              <a:t/>
            </a:r>
          </a:p>
          <a:p>
            <a:r>
              <a:t>CHECK AND EXPECTED ANSWER</a:t>
            </a:r>
          </a:p>
          <a:p>
            <a:r>
              <a:t>Does a price that looks numeric prove the column is numeric? No. Inspect its dtype and troublesome values before conversion.</a:t>
            </a:r>
          </a:p>
          <a:p>
            <a:r>
              <a:t/>
            </a:r>
          </a:p>
          <a:p>
            <a:r>
              <a:t>IF LEARNERS ARE STUCK</a:t>
            </a:r>
          </a:p>
          <a:p>
            <a:r>
              <a:t>Use head, shape and dtypes to locate the table, count rows/columns and inspect storage. Check units and missing values before calculating.</a:t>
            </a:r>
          </a:p>
          <a:p>
            <a:r>
              <a:t/>
            </a:r>
          </a:p>
          <a:p>
            <a:r>
              <a:t>WALK THROUGH THIS CODE</a:t>
            </a:r>
          </a:p>
          <a:p>
            <a:r>
              <a:t>print displays a value below the cell.</a:t>
            </a:r>
          </a:p>
          <a:p>
            <a:r>
              <a:t>= assigns the value on the right to the name on the left.</a:t>
            </a:r>
          </a:p>
          <a:p>
            <a:r>
              <a:t>Read the displayed lines in order, with the preceding code block if this example continues. Ask for the next value before running. The complete matching example is in guided_practice.ipynb; do not type a fragment into a new empty notebook.</a:t>
            </a:r>
          </a:p>
          <a:p>
            <a:r>
              <a:t/>
            </a:r>
          </a:p>
          <a:p>
            <a:r>
              <a:t>TYPE NUANCE</a:t>
            </a:r>
          </a:p>
          <a:p>
            <a:r>
              <a:t>An object dtype alone does not prove that a column contains bad numeric values; it can hold Python objects, including numbers. Inspect values and conversion results. Missing values may display as NaN, None, NaT or pandas NA depending on dtype.</a:t>
            </a:r>
          </a:p>
          <a:p>
            <a:r>
              <a:t/>
            </a:r>
          </a:p>
          <a:p>
            <a:r>
              <a:t>NEXT</a:t>
            </a:r>
          </a:p>
          <a:p>
            <a:r>
              <a:t>You are groupby.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You are groupby</a:t>
            </a:r>
          </a:p>
          <a:p>
            <a:r>
              <a:t/>
            </a:r>
          </a:p>
          <a:p>
            <a:r>
              <a:t>CONNECT</a:t>
            </a:r>
          </a:p>
          <a:p>
            <a:r>
              <a:t>Build on the preceding slide: Inspect the supplied energy file.</a:t>
            </a:r>
          </a:p>
          <a:p>
            <a:r>
              <a:t/>
            </a:r>
          </a:p>
          <a:p>
            <a:r>
              <a:t>LECTURER CUE</a:t>
            </a:r>
          </a:p>
          <a:p>
            <a:r>
              <a:t>Do this before revealing the discussion slide. One learner moves or writes the items, the other checks. Swap roles. Every student explains one step. Expected: A totals 6 kWh. B totals 12 kWh. B is largest and there are 2 distinct buildings.</a:t>
            </a:r>
          </a:p>
          <a:p>
            <a:r>
              <a:t>Wait for an individual prediction before inviting pair discussion. Give a first-step hint if needed.</a:t>
            </a:r>
          </a:p>
          <a:p>
            <a:r>
              <a:t/>
            </a:r>
          </a:p>
          <a:p>
            <a:r>
              <a:t>EXPLAIN IN ORDINARY WORDS</a:t>
            </a:r>
          </a:p>
          <a:p>
            <a:r>
              <a:t>Grouping puts rows sharing a key into buckets, then computes a result for each bucket. WHERE filters rows before SQL grouping; HAVING filters grouped results.</a:t>
            </a:r>
          </a:p>
          <a:p>
            <a:r>
              <a:t/>
            </a:r>
          </a:p>
          <a:p>
            <a:r>
              <a:t>CHECK AND EXPECTED ANSWER</a:t>
            </a:r>
          </a:p>
          <a:p>
            <a:r>
              <a:t>Which condition keeps only groups with more than five rows? HAVING COUNT(*) &gt; 5.</a:t>
            </a:r>
          </a:p>
          <a:p>
            <a:r>
              <a:t/>
            </a:r>
          </a:p>
          <a:p>
            <a:r>
              <a:t>IF LEARNERS ARE STUCK</a:t>
            </a:r>
          </a:p>
          <a:p>
            <a:r>
              <a:t>Draw two buckets and count by hand. Name the intended output grain before writing the aggregation.</a:t>
            </a:r>
          </a:p>
          <a:p>
            <a:r>
              <a:t/>
            </a:r>
          </a:p>
          <a:p>
            <a:r>
              <a:t>NEXT</a:t>
            </a:r>
          </a:p>
          <a:p>
            <a:r>
              <a:t>What the activity shows.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What the activity shows</a:t>
            </a:r>
          </a:p>
          <a:p>
            <a:r>
              <a:t/>
            </a:r>
          </a:p>
          <a:p>
            <a:r>
              <a:t>CONNECT</a:t>
            </a:r>
          </a:p>
          <a:p>
            <a:r>
              <a:t>Build on the preceding slide: You are groupby.</a:t>
            </a:r>
          </a:p>
          <a:p>
            <a:r>
              <a:t/>
            </a:r>
          </a:p>
          <a:p>
            <a:r>
              <a:t>LECTURER CUE</a:t>
            </a:r>
          </a:p>
          <a:p>
            <a:r>
              <a:t>Ask which step produced this answer. Return to the concrete action if a learner cannot explain it. This is practice feedback, never a quiz key.</a:t>
            </a:r>
          </a:p>
          <a:p>
            <a:r>
              <a:t/>
            </a:r>
          </a:p>
          <a:p>
            <a:r>
              <a:t>NEXT</a:t>
            </a:r>
          </a:p>
          <a:p>
            <a:r>
              <a:t>Your turn.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Your turn</a:t>
            </a:r>
          </a:p>
          <a:p>
            <a:r>
              <a:t/>
            </a:r>
          </a:p>
          <a:p>
            <a:r>
              <a:t>CONNECT</a:t>
            </a:r>
          </a:p>
          <a:p>
            <a:r>
              <a:t>Build on the preceding slide: What the activity shows.</a:t>
            </a:r>
          </a:p>
          <a:p>
            <a:r>
              <a:t/>
            </a:r>
          </a:p>
          <a:p>
            <a:r>
              <a:t>LECTURER CUE</a:t>
            </a:r>
          </a:p>
          <a:p>
            <a:r>
              <a:t>Give silent thinking time, then let pairs discuss. Rotate who types. This is practice, not a graded quiz. Expected response: Only the row with 7 survives. Building B has the larger total, 12 kWh.</a:t>
            </a:r>
          </a:p>
          <a:p>
            <a:r>
              <a:t/>
            </a:r>
          </a:p>
          <a:p>
            <a:r>
              <a:t>DISCUSSION KEY FOR THIS SLIDE</a:t>
            </a:r>
          </a:p>
          <a:p>
            <a:r>
              <a:t>DISCUSS THE REASONING</a:t>
            </a:r>
          </a:p>
          <a:p>
            <a:r>
              <a:t>Practice discussion</a:t>
            </a:r>
          </a:p>
          <a:p>
            <a:r>
              <a:t>Only the row with 7 survives. Building B has the larger total, 12 kWh.</a:t>
            </a:r>
          </a:p>
          <a:p>
            <a:r>
              <a:t>Which step produced this result? What changes if one input changes?</a:t>
            </a:r>
          </a:p>
          <a:p>
            <a:r>
              <a:t>CML3111   Week 5   32</a:t>
            </a:r>
          </a:p>
          <a:p>
            <a:r>
              <a:t>Let learners attempt first; use this to explain the reasoning, not just reveal the answer.</a:t>
            </a:r>
          </a:p>
          <a:p>
            <a:r>
              <a:t/>
            </a:r>
          </a:p>
          <a:p>
            <a:r>
              <a:t>NEXT</a:t>
            </a:r>
          </a:p>
          <a:p>
            <a:r>
              <a:t>Practice discussion.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Practice discussion</a:t>
            </a:r>
          </a:p>
          <a:p>
            <a:r>
              <a:t/>
            </a:r>
          </a:p>
          <a:p>
            <a:r>
              <a:t>CONNECT</a:t>
            </a:r>
          </a:p>
          <a:p>
            <a:r>
              <a:t>Build on the preceding slide: Your turn.</a:t>
            </a:r>
          </a:p>
          <a:p>
            <a:r>
              <a:t/>
            </a:r>
          </a:p>
          <a:p>
            <a:r>
              <a:t>LECTURER CUE</a:t>
            </a:r>
          </a:p>
          <a:p>
            <a:r>
              <a:t>Ask how the result was obtained. Reteach the smallest missing step instead of giving a longer lecture.</a:t>
            </a:r>
          </a:p>
          <a:p>
            <a:r>
              <a:t/>
            </a:r>
          </a:p>
          <a:p>
            <a:r>
              <a:t>NEXT</a:t>
            </a:r>
          </a:p>
          <a:p>
            <a:r>
              <a:t>Preparing for the assignment.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Preparing for the assignment</a:t>
            </a:r>
          </a:p>
          <a:p>
            <a:r>
              <a:t/>
            </a:r>
          </a:p>
          <a:p>
            <a:r>
              <a:t>CONNECT</a:t>
            </a:r>
          </a:p>
          <a:p>
            <a:r>
              <a:t>Build on the preceding slide: Practice discussion.</a:t>
            </a:r>
          </a:p>
          <a:p>
            <a:r>
              <a:t/>
            </a:r>
          </a:p>
          <a:p>
            <a:r>
              <a:t>LECTURER CUE</a:t>
            </a:r>
          </a:p>
          <a:p>
            <a:r>
              <a:t>A5 uses the supplied fictional campus_energy.csv, not a live Kaggle download. Teach read_csv, nunique, division of columns, &gt; filtering, mean and groupby(...).sum().idxmax() before the six public tasks. idxmax returns the label of the largest value. Explain how a rate differs from a total and how a mean of rates differs from a total-cost/total-energy ratio.</a:t>
            </a:r>
          </a:p>
          <a:p>
            <a:r>
              <a:t/>
            </a:r>
          </a:p>
          <a:p>
            <a:r>
              <a:t>EXPLAIN IN ORDINARY WORDS</a:t>
            </a:r>
          </a:p>
          <a:p>
            <a:r>
              <a:t>A CSV is a text table. The header supplies column names. With csv.DictReader, values start as text, even if they look like numbers. A path tells Python where the file is.</a:t>
            </a:r>
          </a:p>
          <a:p>
            <a:r>
              <a:t/>
            </a:r>
          </a:p>
          <a:p>
            <a:r>
              <a:t>CHECK AND EXPECTED ANSWER</a:t>
            </a:r>
          </a:p>
          <a:p>
            <a:r>
              <a:t>Can "2.5" from csv.DictReader be added as a number without conversion? No; convert valid numeric text first.</a:t>
            </a:r>
          </a:p>
          <a:p>
            <a:r>
              <a:t/>
            </a:r>
          </a:p>
          <a:p>
            <a:r>
              <a:t>IF LEARNERS ARE STUCK</a:t>
            </a:r>
          </a:p>
          <a:p>
            <a:r>
              <a:t>Show the file in the runtime folder and compare its exact filename, case and column headers. Upload data again after a fresh Colab runtime.</a:t>
            </a:r>
          </a:p>
          <a:p>
            <a:r>
              <a:t/>
            </a:r>
          </a:p>
          <a:p>
            <a:r>
              <a:t>ASSIGNMENT HANDOVER</a:t>
            </a:r>
          </a:p>
          <a:p>
            <a:r>
              <a:t>Open the matching public student guide and show the exact starter filename, required outputs and upload set. Ask one learner to repeat what to submit and where. IUEA Student Registration Number is required freeform text; learners enter their own number. A saved repository is not a submitted form. Read the live deadline and keep the submission confirmation. Do not release an assessment that is still awaiting grading validation.</a:t>
            </a:r>
          </a:p>
          <a:p>
            <a:r>
              <a:t/>
            </a:r>
          </a:p>
          <a:p>
            <a:r>
              <a:t>NEXT</a:t>
            </a:r>
          </a:p>
          <a:p>
            <a:r>
              <a:t>Data types and filters.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Data types and filters</a:t>
            </a:r>
          </a:p>
          <a:p>
            <a:r>
              <a:t/>
            </a:r>
          </a:p>
          <a:p>
            <a:r>
              <a:t>CONNECT</a:t>
            </a:r>
          </a:p>
          <a:p>
            <a:r>
              <a:t>Build on the preceding slide: Preparing for the assignment.</a:t>
            </a:r>
          </a:p>
          <a:p>
            <a:r>
              <a:t/>
            </a:r>
          </a:p>
          <a:p>
            <a:r>
              <a:t>LECTURER CUE</a:t>
            </a:r>
          </a:p>
          <a:p>
            <a:r>
              <a:t>Teach these concepts before the weekly quiz. Use changed numbers for practice. This slide supplies concepts, not the quiz key.</a:t>
            </a:r>
          </a:p>
          <a:p>
            <a:r>
              <a:t/>
            </a:r>
          </a:p>
          <a:p>
            <a:r>
              <a:t>EXPLAIN IN ORDINARY WORDS</a:t>
            </a:r>
          </a:p>
          <a:p>
            <a:r>
              <a:t>A list keeps items in order. Python positions start at zero. In [2,4,6], position 0 contains 2 and position 2 contains 6. A slice excludes its stop position.</a:t>
            </a:r>
          </a:p>
          <a:p>
            <a:r>
              <a:t/>
            </a:r>
          </a:p>
          <a:p>
            <a:r>
              <a:t>CHECK AND EXPECTED ANSWER</a:t>
            </a:r>
          </a:p>
          <a:p>
            <a:r>
              <a:t>What is [2,4,6][1]? 4. Is there a position 3? No.</a:t>
            </a:r>
          </a:p>
          <a:p>
            <a:r>
              <a:t/>
            </a:r>
          </a:p>
          <a:p>
            <a:r>
              <a:t>IF LEARNERS ARE STUCK</a:t>
            </a:r>
          </a:p>
          <a:p>
            <a:r>
              <a:t>Draw three numbered boxes starting at zero. Keep the position separate from the value stored in it.</a:t>
            </a:r>
          </a:p>
          <a:p>
            <a:r>
              <a:t/>
            </a:r>
          </a:p>
          <a:p>
            <a:r>
              <a:t>NEXT</a:t>
            </a:r>
          </a:p>
          <a:p>
            <a:r>
              <a:t>Data types and filters continued.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Data types and filters continued</a:t>
            </a:r>
          </a:p>
          <a:p>
            <a:r>
              <a:t/>
            </a:r>
          </a:p>
          <a:p>
            <a:r>
              <a:t>CONNECT</a:t>
            </a:r>
          </a:p>
          <a:p>
            <a:r>
              <a:t>Build on the preceding slide: Data types and filters.</a:t>
            </a:r>
          </a:p>
          <a:p>
            <a:r>
              <a:t/>
            </a:r>
          </a:p>
          <a:p>
            <a:r>
              <a:t>LECTURER CUE</a:t>
            </a:r>
          </a:p>
          <a:p>
            <a:r>
              <a:t>Teach these concepts before the weekly quiz. Use changed numbers for practice. This slide supplies concepts, not the quiz key.</a:t>
            </a:r>
          </a:p>
          <a:p>
            <a:r>
              <a:t/>
            </a:r>
          </a:p>
          <a:p>
            <a:r>
              <a:t>EXPLAIN IN ORDINARY WORDS</a:t>
            </a:r>
          </a:p>
          <a:p>
            <a:r>
              <a:t>Missing means not recorded, not automatically zero. Decide why it is missing and document the rule. Fitted fill values must come from training data when evaluating a model.</a:t>
            </a:r>
          </a:p>
          <a:p>
            <a:r>
              <a:t/>
            </a:r>
          </a:p>
          <a:p>
            <a:r>
              <a:t>CHECK AND EXPECTED ANSWER</a:t>
            </a:r>
          </a:p>
          <a:p>
            <a:r>
              <a:t>Is an unrecorded energy reading evidence of zero consumption? No.</a:t>
            </a:r>
          </a:p>
          <a:p>
            <a:r>
              <a:t/>
            </a:r>
          </a:p>
          <a:p>
            <a:r>
              <a:t>IF LEARNERS ARE STUCK</a:t>
            </a:r>
          </a:p>
          <a:p>
            <a:r>
              <a:t>Use three rows: a recorded zero, a recorded positive value and a blank. Explain their different meanings before cleaning.</a:t>
            </a:r>
          </a:p>
          <a:p>
            <a:r>
              <a:t/>
            </a:r>
          </a:p>
          <a:p>
            <a:r>
              <a:t>NEXT</a:t>
            </a:r>
          </a:p>
          <a:p>
            <a:r>
              <a:t>Your issued assignment.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Your issued assignment</a:t>
            </a:r>
          </a:p>
          <a:p>
            <a:r>
              <a:t/>
            </a:r>
          </a:p>
          <a:p>
            <a:r>
              <a:t>CONNECT</a:t>
            </a:r>
          </a:p>
          <a:p>
            <a:r>
              <a:t>Build on the preceding slide: Data types and filters continued.</a:t>
            </a:r>
          </a:p>
          <a:p>
            <a:r>
              <a:t/>
            </a:r>
          </a:p>
          <a:p>
            <a:r>
              <a:t>LECTURER CUE</a:t>
            </a:r>
          </a:p>
          <a:p>
            <a:r>
              <a:t># W05: pandas: load, filter, group</a:t>
            </a:r>
          </a:p>
          <a:p>
            <a:r>
              <a:t>CML3111. Complete each named output. Save as STUDENT_ID_W05.ipynb.</a:t>
            </a:r>
          </a:p>
          <a:p>
            <a:r>
              <a:t>## q1: 3 marks</a:t>
            </a:r>
          </a:p>
          <a:p>
            <a:r>
              <a:t>Load campus_energy.csv into a DataFrame called df.</a:t>
            </a:r>
          </a:p>
          <a:p>
            <a:r>
              <a:t>## q2: 3 marks</a:t>
            </a:r>
          </a:p>
          <a:p>
            <a:r>
              <a:t>Set n_meters to the number of distinct meters in the file.</a:t>
            </a:r>
          </a:p>
          <a:p>
            <a:r>
              <a:t>## q3: 4 marks</a:t>
            </a:r>
          </a:p>
          <a:p>
            <a:r>
              <a:t>Add a column cost_per_kwh to df, equal to cost_ugx / kwh.</a:t>
            </a:r>
          </a:p>
          <a:p>
            <a:r>
              <a:t>## q4: 4 marks</a:t>
            </a:r>
          </a:p>
          <a:p>
            <a:r>
              <a:t>Set high_use to the rows of df where kwh is greater than 5000. Do this after q3 so the derived column comes along.</a:t>
            </a:r>
          </a:p>
          <a:p>
            <a:r>
              <a:t>## q5: 3 marks</a:t>
            </a:r>
          </a:p>
          <a:p>
            <a:r>
              <a:t>Set mean_cost_per_kwh to the mean of the cost_per_kwh column.</a:t>
            </a:r>
          </a:p>
          <a:p>
            <a:r>
              <a:t>## q6: 3 marks</a:t>
            </a:r>
          </a:p>
          <a:p>
            <a:r>
              <a:t>Set peak_building to the name of the building with the highest total kwh.</a:t>
            </a:r>
          </a:p>
          <a:p>
            <a:r>
              <a:t>Restart and Run All, then save your named notebook. Practice check results are feedback; the submitted notebook is graded independently.</a:t>
            </a:r>
          </a:p>
          <a:p>
            <a:r>
              <a:t/>
            </a:r>
          </a:p>
          <a:p>
            <a:r>
              <a:t>EXPLAIN IN ORDINARY WORDS</a:t>
            </a:r>
          </a:p>
          <a:p>
            <a:r>
              <a:t>A function is a named set of instructions. def defines it; a call runs it with inputs. Parameters are input names, arguments are supplied values, and return sends the result back.</a:t>
            </a:r>
          </a:p>
          <a:p>
            <a:r>
              <a:t/>
            </a:r>
          </a:p>
          <a:p>
            <a:r>
              <a:t>CHECK AND EXPECTED ANSWER</a:t>
            </a:r>
          </a:p>
          <a:p>
            <a:r>
              <a:t>Does print(8) return the number 8 to the caller? No; it displays 8 and returns None. A function needing a numeric result should return it.</a:t>
            </a:r>
          </a:p>
          <a:p>
            <a:r>
              <a:t/>
            </a:r>
          </a:p>
          <a:p>
            <a:r>
              <a:t>IF LEARNERS ARE STUCK</a:t>
            </a:r>
          </a:p>
          <a:p>
            <a:r>
              <a:t>Trace one call: bind input names, run the indented body, reach return, then put the returned result back into the calling expression.</a:t>
            </a:r>
          </a:p>
          <a:p>
            <a:r>
              <a:t/>
            </a:r>
          </a:p>
          <a:p>
            <a:r>
              <a:t>ASSIGNMENT HANDOVER</a:t>
            </a:r>
          </a:p>
          <a:p>
            <a:r>
              <a:t>Open the matching public student guide and show the exact starter filename, required outputs and upload set. Ask one learner to repeat what to submit and where. IUEA Student Registration Number is required freeform text; learners enter their own number. A saved repository is not a submitted form. Read the live deadline and keep the submission confirmation. Do not release an assessment that is still awaiting grading validation.</a:t>
            </a:r>
          </a:p>
          <a:p>
            <a:r>
              <a:t/>
            </a:r>
          </a:p>
          <a:p>
            <a:r>
              <a:t>NEXT</a:t>
            </a:r>
          </a:p>
          <a:p>
            <a:r>
              <a:t>q1: 3 marks.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q1: 3 marks</a:t>
            </a:r>
          </a:p>
          <a:p>
            <a:r>
              <a:t/>
            </a:r>
          </a:p>
          <a:p>
            <a:r>
              <a:t>CONNECT</a:t>
            </a:r>
          </a:p>
          <a:p>
            <a:r>
              <a:t>Build on the preceding slide: Your issued assignment.</a:t>
            </a:r>
          </a:p>
          <a:p>
            <a:r>
              <a:t/>
            </a:r>
          </a:p>
          <a:p>
            <a:r>
              <a:t>LECTURER CUE</a:t>
            </a:r>
          </a:p>
          <a:p>
            <a:r>
              <a:t>Read the specific public requirement shown on this slide. Explain the input, output and evidence before independent work; do not work the assessed answer for the class.</a:t>
            </a:r>
          </a:p>
          <a:p>
            <a:r>
              <a:t/>
            </a:r>
          </a:p>
          <a:p>
            <a:r>
              <a:t>EXPLAIN IN ORDINARY WORDS</a:t>
            </a:r>
          </a:p>
          <a:p>
            <a:r>
              <a:t>A DataFrame is a labelled table. A Series is a single labelled sequence, often one column. A dtype describes stored values, but the import may infer something unsuitable.</a:t>
            </a:r>
          </a:p>
          <a:p>
            <a:r>
              <a:t/>
            </a:r>
          </a:p>
          <a:p>
            <a:r>
              <a:t>CHECK AND EXPECTED ANSWER</a:t>
            </a:r>
          </a:p>
          <a:p>
            <a:r>
              <a:t>Does a price that looks numeric prove the column is numeric? No. Inspect its dtype and troublesome values before conversion.</a:t>
            </a:r>
          </a:p>
          <a:p>
            <a:r>
              <a:t/>
            </a:r>
          </a:p>
          <a:p>
            <a:r>
              <a:t>IF LEARNERS ARE STUCK</a:t>
            </a:r>
          </a:p>
          <a:p>
            <a:r>
              <a:t>Use head, shape and dtypes to locate the table, count rows/columns and inspect storage. Check units and missing values before calculating.</a:t>
            </a:r>
          </a:p>
          <a:p>
            <a:r>
              <a:t/>
            </a:r>
          </a:p>
          <a:p>
            <a:r>
              <a:t>NEXT</a:t>
            </a:r>
          </a:p>
          <a:p>
            <a:r>
              <a:t>q2: 3 marks.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q2: 3 marks</a:t>
            </a:r>
          </a:p>
          <a:p>
            <a:r>
              <a:t/>
            </a:r>
          </a:p>
          <a:p>
            <a:r>
              <a:t>CONNECT</a:t>
            </a:r>
          </a:p>
          <a:p>
            <a:r>
              <a:t>Build on the preceding slide: q1: 3 marks.</a:t>
            </a:r>
          </a:p>
          <a:p>
            <a:r>
              <a:t/>
            </a:r>
          </a:p>
          <a:p>
            <a:r>
              <a:t>LECTURER CUE</a:t>
            </a:r>
          </a:p>
          <a:p>
            <a:r>
              <a:t>Read the specific public requirement shown on this slide. Explain the input, output and evidence before independent work; do not work the assessed answer for the class.</a:t>
            </a:r>
          </a:p>
          <a:p>
            <a:r>
              <a:t/>
            </a:r>
          </a:p>
          <a:p>
            <a:r>
              <a:t>EXPLAIN IN ORDINARY WORDS</a:t>
            </a:r>
          </a:p>
          <a:p>
            <a:r>
              <a:t>Read each quantity and unit before using a formula. Python calculates numbers but does not enforce physical units. Parentheses specify which operation happens first.</a:t>
            </a:r>
          </a:p>
          <a:p>
            <a:r>
              <a:t/>
            </a:r>
          </a:p>
          <a:p>
            <a:r>
              <a:t>CHECK AND EXPECTED ANSWER</a:t>
            </a:r>
          </a:p>
          <a:p>
            <a:r>
              <a:t>What is 5 m times 3 m? 15 square metres. What is 7/2 in Python? 3.5; 7//2 is 3.</a:t>
            </a:r>
          </a:p>
          <a:p>
            <a:r>
              <a:t/>
            </a:r>
          </a:p>
          <a:p>
            <a:r>
              <a:t>IF LEARNERS ARE STUCK</a:t>
            </a:r>
          </a:p>
          <a:p>
            <a:r>
              <a:t>Write the formula and units on paper, substitute small values, then translate it to Python. Check zero denominators and the issued sign convention.</a:t>
            </a:r>
          </a:p>
          <a:p>
            <a:r>
              <a:t/>
            </a:r>
          </a:p>
          <a:p>
            <a:r>
              <a:t>NEXT</a:t>
            </a:r>
          </a:p>
          <a:p>
            <a:r>
              <a:t>q3: 4 marks.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q3: 4 marks</a:t>
            </a:r>
          </a:p>
          <a:p>
            <a:r>
              <a:t/>
            </a:r>
          </a:p>
          <a:p>
            <a:r>
              <a:t>CONNECT</a:t>
            </a:r>
          </a:p>
          <a:p>
            <a:r>
              <a:t>Build on the preceding slide: q2: 3 marks.</a:t>
            </a:r>
          </a:p>
          <a:p>
            <a:r>
              <a:t/>
            </a:r>
          </a:p>
          <a:p>
            <a:r>
              <a:t>LECTURER CUE</a:t>
            </a:r>
          </a:p>
          <a:p>
            <a:r>
              <a:t>Read the specific public requirement shown on this slide. Explain the input, output and evidence before independent work; do not work the assessed answer for the class.</a:t>
            </a:r>
          </a:p>
          <a:p>
            <a:r>
              <a:t/>
            </a:r>
          </a:p>
          <a:p>
            <a:r>
              <a:t>EXPLAIN IN ORDINARY WORDS</a:t>
            </a:r>
          </a:p>
          <a:p>
            <a:r>
              <a:t>Read each quantity and unit before using a formula. Python calculates numbers but does not enforce physical units. Parentheses specify which operation happens first.</a:t>
            </a:r>
          </a:p>
          <a:p>
            <a:r>
              <a:t/>
            </a:r>
          </a:p>
          <a:p>
            <a:r>
              <a:t>CHECK AND EXPECTED ANSWER</a:t>
            </a:r>
          </a:p>
          <a:p>
            <a:r>
              <a:t>What is 5 m times 3 m? 15 square metres. What is 7/2 in Python? 3.5; 7//2 is 3.</a:t>
            </a:r>
          </a:p>
          <a:p>
            <a:r>
              <a:t/>
            </a:r>
          </a:p>
          <a:p>
            <a:r>
              <a:t>IF LEARNERS ARE STUCK</a:t>
            </a:r>
          </a:p>
          <a:p>
            <a:r>
              <a:t>Write the formula and units on paper, substitute small values, then translate it to Python. Check zero denominators and the issued sign convention.</a:t>
            </a:r>
          </a:p>
          <a:p>
            <a:r>
              <a:t/>
            </a:r>
          </a:p>
          <a:p>
            <a:r>
              <a:t>NEXT</a:t>
            </a:r>
          </a:p>
          <a:p>
            <a:r>
              <a:t>q4: 4 marks.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q4: 4 marks</a:t>
            </a:r>
          </a:p>
          <a:p>
            <a:r>
              <a:t/>
            </a:r>
          </a:p>
          <a:p>
            <a:r>
              <a:t>CONNECT</a:t>
            </a:r>
          </a:p>
          <a:p>
            <a:r>
              <a:t>Build on the preceding slide: q3: 4 marks.</a:t>
            </a:r>
          </a:p>
          <a:p>
            <a:r>
              <a:t/>
            </a:r>
          </a:p>
          <a:p>
            <a:r>
              <a:t>LECTURER CUE</a:t>
            </a:r>
          </a:p>
          <a:p>
            <a:r>
              <a:t>Read the specific public requirement shown on this slide. Explain the input, output and evidence before independent work; do not work the assessed answer for the class.</a:t>
            </a:r>
          </a:p>
          <a:p>
            <a:r>
              <a:t/>
            </a:r>
          </a:p>
          <a:p>
            <a:r>
              <a:t>EXPLAIN IN ORDINARY WORDS</a:t>
            </a:r>
          </a:p>
          <a:p>
            <a:r>
              <a:t>Read each quantity and unit before using a formula. Python calculates numbers but does not enforce physical units. Parentheses specify which operation happens first.</a:t>
            </a:r>
          </a:p>
          <a:p>
            <a:r>
              <a:t/>
            </a:r>
          </a:p>
          <a:p>
            <a:r>
              <a:t>CHECK AND EXPECTED ANSWER</a:t>
            </a:r>
          </a:p>
          <a:p>
            <a:r>
              <a:t>What is 5 m times 3 m? 15 square metres. What is 7/2 in Python? 3.5; 7//2 is 3.</a:t>
            </a:r>
          </a:p>
          <a:p>
            <a:r>
              <a:t/>
            </a:r>
          </a:p>
          <a:p>
            <a:r>
              <a:t>IF LEARNERS ARE STUCK</a:t>
            </a:r>
          </a:p>
          <a:p>
            <a:r>
              <a:t>Write the formula and units on paper, substitute small values, then translate it to Python. Check zero denominators and the issued sign convention.</a:t>
            </a:r>
          </a:p>
          <a:p>
            <a:r>
              <a:t/>
            </a:r>
          </a:p>
          <a:p>
            <a:r>
              <a:t>NEXT</a:t>
            </a:r>
          </a:p>
          <a:p>
            <a:r>
              <a:t>q5: 3 marks.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q5: 3 marks</a:t>
            </a:r>
          </a:p>
          <a:p>
            <a:r>
              <a:t/>
            </a:r>
          </a:p>
          <a:p>
            <a:r>
              <a:t>CONNECT</a:t>
            </a:r>
          </a:p>
          <a:p>
            <a:r>
              <a:t>Build on the preceding slide: q4: 4 marks.</a:t>
            </a:r>
          </a:p>
          <a:p>
            <a:r>
              <a:t/>
            </a:r>
          </a:p>
          <a:p>
            <a:r>
              <a:t>LECTURER CUE</a:t>
            </a:r>
          </a:p>
          <a:p>
            <a:r>
              <a:t>Read the specific public requirement shown on this slide. Explain the input, output and evidence before independent work; do not work the assessed answer for the class.</a:t>
            </a:r>
          </a:p>
          <a:p>
            <a:r>
              <a:t/>
            </a:r>
          </a:p>
          <a:p>
            <a:r>
              <a:t>EXPLAIN IN ORDINARY WORDS</a:t>
            </a:r>
          </a:p>
          <a:p>
            <a:r>
              <a:t>Read each quantity and unit before using a formula. Python calculates numbers but does not enforce physical units. Parentheses specify which operation happens first.</a:t>
            </a:r>
          </a:p>
          <a:p>
            <a:r>
              <a:t/>
            </a:r>
          </a:p>
          <a:p>
            <a:r>
              <a:t>CHECK AND EXPECTED ANSWER</a:t>
            </a:r>
          </a:p>
          <a:p>
            <a:r>
              <a:t>What is 5 m times 3 m? 15 square metres. What is 7/2 in Python? 3.5; 7//2 is 3.</a:t>
            </a:r>
          </a:p>
          <a:p>
            <a:r>
              <a:t/>
            </a:r>
          </a:p>
          <a:p>
            <a:r>
              <a:t>IF LEARNERS ARE STUCK</a:t>
            </a:r>
          </a:p>
          <a:p>
            <a:r>
              <a:t>Write the formula and units on paper, substitute small values, then translate it to Python. Check zero denominators and the issued sign convention.</a:t>
            </a:r>
          </a:p>
          <a:p>
            <a:r>
              <a:t/>
            </a:r>
          </a:p>
          <a:p>
            <a:r>
              <a:t>NEXT</a:t>
            </a:r>
          </a:p>
          <a:p>
            <a:r>
              <a:t>q6: 3 marks.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q6: 3 marks</a:t>
            </a:r>
          </a:p>
          <a:p>
            <a:r>
              <a:t/>
            </a:r>
          </a:p>
          <a:p>
            <a:r>
              <a:t>CONNECT</a:t>
            </a:r>
          </a:p>
          <a:p>
            <a:r>
              <a:t>Build on the preceding slide: q5: 3 marks.</a:t>
            </a:r>
          </a:p>
          <a:p>
            <a:r>
              <a:t/>
            </a:r>
          </a:p>
          <a:p>
            <a:r>
              <a:t>LECTURER CUE</a:t>
            </a:r>
          </a:p>
          <a:p>
            <a:r>
              <a:t>Read the specific public requirement shown on this slide. Explain the input, output and evidence before independent work; do not work the assessed answer for the class.</a:t>
            </a:r>
          </a:p>
          <a:p>
            <a:r>
              <a:t/>
            </a:r>
          </a:p>
          <a:p>
            <a:r>
              <a:t>EXPLAIN IN ORDINARY WORDS</a:t>
            </a:r>
          </a:p>
          <a:p>
            <a:r>
              <a:t>Read each quantity and unit before using a formula. Python calculates numbers but does not enforce physical units. Parentheses specify which operation happens first.</a:t>
            </a:r>
          </a:p>
          <a:p>
            <a:r>
              <a:t/>
            </a:r>
          </a:p>
          <a:p>
            <a:r>
              <a:t>CHECK AND EXPECTED ANSWER</a:t>
            </a:r>
          </a:p>
          <a:p>
            <a:r>
              <a:t>What is 5 m times 3 m? 15 square metres. What is 7/2 in Python? 3.5; 7//2 is 3.</a:t>
            </a:r>
          </a:p>
          <a:p>
            <a:r>
              <a:t/>
            </a:r>
          </a:p>
          <a:p>
            <a:r>
              <a:t>IF LEARNERS ARE STUCK</a:t>
            </a:r>
          </a:p>
          <a:p>
            <a:r>
              <a:t>Write the formula and units on paper, substitute small values, then translate it to Python. Check zero denominators and the issued sign convention.</a:t>
            </a:r>
          </a:p>
          <a:p>
            <a:r>
              <a:t/>
            </a:r>
          </a:p>
          <a:p>
            <a:r>
              <a:t>NEXT</a:t>
            </a:r>
          </a:p>
          <a:p>
            <a:r>
              <a:t>Pandas investigation submission.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Pandas investigation submission</a:t>
            </a:r>
          </a:p>
          <a:p>
            <a:r>
              <a:t/>
            </a:r>
          </a:p>
          <a:p>
            <a:r>
              <a:t>CONNECT</a:t>
            </a:r>
          </a:p>
          <a:p>
            <a:r>
              <a:t>Build on the preceding slide: q6: 3 marks.</a:t>
            </a:r>
          </a:p>
          <a:p>
            <a:r>
              <a:t/>
            </a:r>
          </a:p>
          <a:p>
            <a:r>
              <a:t>LECTURER CUE</a:t>
            </a:r>
          </a:p>
          <a:p>
            <a:r>
              <a:t>The form link is cohort-specific. Recheck the live form and release status before class. These scheduled assignment dates are separate from the quiz activation window. The issued brief defines the required files, even if the form accepts additional formats. Source: data/submission_links.json</a:t>
            </a:r>
          </a:p>
          <a:p>
            <a:r>
              <a:t/>
            </a:r>
          </a:p>
          <a:p>
            <a:r>
              <a:t>EXPLAIN IN ORDINARY WORDS</a:t>
            </a:r>
          </a:p>
          <a:p>
            <a:r>
              <a:t>A DataFrame is a labelled table. A Series is a single labelled sequence, often one column. A dtype describes stored values, but the import may infer something unsuitable.</a:t>
            </a:r>
          </a:p>
          <a:p>
            <a:r>
              <a:t/>
            </a:r>
          </a:p>
          <a:p>
            <a:r>
              <a:t>CHECK AND EXPECTED ANSWER</a:t>
            </a:r>
          </a:p>
          <a:p>
            <a:r>
              <a:t>Does a price that looks numeric prove the column is numeric? No. Inspect its dtype and troublesome values before conversion.</a:t>
            </a:r>
          </a:p>
          <a:p>
            <a:r>
              <a:t/>
            </a:r>
          </a:p>
          <a:p>
            <a:r>
              <a:t>IF LEARNERS ARE STUCK</a:t>
            </a:r>
          </a:p>
          <a:p>
            <a:r>
              <a:t>Use head, shape and dtypes to locate the table, count rows/columns and inspect storage. Check units and missing values before calculating.</a:t>
            </a:r>
          </a:p>
          <a:p>
            <a:r>
              <a:t/>
            </a:r>
          </a:p>
          <a:p>
            <a:r>
              <a:t>ASSIGNMENT HANDOVER</a:t>
            </a:r>
          </a:p>
          <a:p>
            <a:r>
              <a:t>Open the matching public student guide and show the exact starter filename, required outputs and upload set. Ask one learner to repeat what to submit and where. IUEA Student Registration Number is required freeform text; learners enter their own number. A saved repository is not a submitted form. Read the live deadline and keep the submission confirmation. Do not release an assessment that is still awaiting grading validation.</a:t>
            </a:r>
          </a:p>
          <a:p>
            <a:r>
              <a:t/>
            </a:r>
          </a:p>
          <a:p>
            <a:r>
              <a:t>NEXT</a:t>
            </a:r>
          </a:p>
          <a:p>
            <a:r>
              <a:t>Project preparation.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Project preparation</a:t>
            </a:r>
          </a:p>
          <a:p>
            <a:r>
              <a:t/>
            </a:r>
          </a:p>
          <a:p>
            <a:r>
              <a:t>CONNECT</a:t>
            </a:r>
          </a:p>
          <a:p>
            <a:r>
              <a:t>Build on the preceding slide: Pandas investigation submission.</a:t>
            </a:r>
          </a:p>
          <a:p>
            <a:r>
              <a:t/>
            </a:r>
          </a:p>
          <a:p>
            <a:r>
              <a:t>LECTURER CUE</a:t>
            </a:r>
          </a:p>
          <a:p>
            <a:r>
              <a:t>Explain the released brief now. Confirm its grading-release checks before assigning it. Avoid treating weekly practice as a substitute for the project evidence. The project brief remains authoritative.</a:t>
            </a:r>
          </a:p>
          <a:p>
            <a:r>
              <a:t/>
            </a:r>
          </a:p>
          <a:p>
            <a:r>
              <a:t>EXPLAIN IN ORDINARY WORDS</a:t>
            </a:r>
          </a:p>
          <a:p>
            <a:r>
              <a:t>A notebook contains code cells and explanatory text cells. The runtime remembers values from cells that actually ran, which may differ from their visual order.</a:t>
            </a:r>
          </a:p>
          <a:p>
            <a:r>
              <a:t/>
            </a:r>
          </a:p>
          <a:p>
            <a:r>
              <a:t>CHECK AND EXPECTED ANSWER</a:t>
            </a:r>
          </a:p>
          <a:p>
            <a:r>
              <a:t>Does editing a cell update a value already stored in memory? No; the cell must run.</a:t>
            </a:r>
          </a:p>
          <a:p>
            <a:r>
              <a:t/>
            </a:r>
          </a:p>
          <a:p>
            <a:r>
              <a:t>IF LEARNERS ARE STUCK</a:t>
            </a:r>
          </a:p>
          <a:p>
            <a:r>
              <a:t>Outside an assessment restriction, restart and run from the top after loading data. Fix the first error before later cells; save the successful notebook.</a:t>
            </a:r>
          </a:p>
          <a:p>
            <a:r>
              <a:t/>
            </a:r>
          </a:p>
          <a:p>
            <a:r>
              <a:t>ASSIGNMENT HANDOVER</a:t>
            </a:r>
          </a:p>
          <a:p>
            <a:r>
              <a:t>Open the matching public student guide and show the exact starter filename, required outputs and upload set. Ask one learner to repeat what to submit and where. IUEA Student Registration Number is required freeform text; learners enter their own number. A saved repository is not a submitted form. Read the live deadline and keep the submission confirmation. Do not release an assessment that is still awaiting grading validation.</a:t>
            </a:r>
          </a:p>
          <a:p>
            <a:r>
              <a:t/>
            </a:r>
          </a:p>
          <a:p>
            <a:r>
              <a:t>NEXT</a:t>
            </a:r>
          </a:p>
          <a:p>
            <a:r>
              <a:t>Week 5 quiz.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Week 5 quiz</a:t>
            </a:r>
          </a:p>
          <a:p>
            <a:r>
              <a:t/>
            </a:r>
          </a:p>
          <a:p>
            <a:r>
              <a:t>CONNECT</a:t>
            </a:r>
          </a:p>
          <a:p>
            <a:r>
              <a:t>Build on the preceding slide: Project preparation.</a:t>
            </a:r>
          </a:p>
          <a:p>
            <a:r>
              <a:t/>
            </a:r>
          </a:p>
          <a:p>
            <a:r>
              <a:t>LECTURER CUE</a:t>
            </a:r>
          </a:p>
          <a:p>
            <a:r>
              <a:t>Activate the matching open_W5_CML3111 function in Quiz Controls, then confirm the 24-hour close time. Opening this slide or clicking its link does not activate the form. The 24 hours is the availability window. Keep existing quiz scoring and form rules. Do not show private answer keys.</a:t>
            </a:r>
          </a:p>
          <a:p>
            <a:r>
              <a:t/>
            </a:r>
          </a:p>
          <a:p>
            <a:r>
              <a:t>QUIZ OPERATION</a:t>
            </a:r>
          </a:p>
          <a:p>
            <a:r>
              <a:t>Opening the student link does not activate the quiz. In Quiz Controls run the matching open_W&lt;week&gt;_&lt;cohort&gt; function once when ready. Announce the logged closing time: 24 hours after activation. Five minutes describes expected answering time, not the availability window. Quiz 1 and Quiz 2 require separate activation when collecting catch-up work.</a:t>
            </a:r>
          </a:p>
          <a:p>
            <a:r>
              <a:t/>
            </a:r>
          </a:p>
          <a:p>
            <a:r>
              <a:t>NEXT</a:t>
            </a:r>
          </a:p>
          <a:p>
            <a:r>
              <a:t>Week 5 support.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Week 5 support</a:t>
            </a:r>
          </a:p>
          <a:p>
            <a:r>
              <a:t/>
            </a:r>
          </a:p>
          <a:p>
            <a:r>
              <a:t>CONNECT</a:t>
            </a:r>
          </a:p>
          <a:p>
            <a:r>
              <a:t>Build on the preceding slide: Week 5 quiz.</a:t>
            </a:r>
          </a:p>
          <a:p>
            <a:r>
              <a:t/>
            </a:r>
          </a:p>
          <a:p>
            <a:r>
              <a:t>LECTURER CUE</a:t>
            </a:r>
          </a:p>
          <a:p>
            <a:r>
              <a:t>Confirm the actual Faculty-approved make-up or clinic arrangement. Do not assume a time or make video-only homework the replacement.</a:t>
            </a:r>
          </a:p>
          <a:p>
            <a:r>
              <a:t/>
            </a:r>
          </a:p>
          <a:p>
            <a:r>
              <a:t>NEXT</a:t>
            </a:r>
          </a:p>
          <a:p>
            <a:r>
              <a:t>Before you leave.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Before you leave</a:t>
            </a:r>
          </a:p>
          <a:p>
            <a:r>
              <a:t/>
            </a:r>
          </a:p>
          <a:p>
            <a:r>
              <a:t>CONNECT</a:t>
            </a:r>
          </a:p>
          <a:p>
            <a:r>
              <a:t>Build on the preceding slide: Week 5 support.</a:t>
            </a:r>
          </a:p>
          <a:p>
            <a:r>
              <a:t/>
            </a:r>
          </a:p>
          <a:p>
            <a:r>
              <a:t>LECTURER CUE</a:t>
            </a:r>
          </a:p>
          <a:p>
            <a:r>
              <a:t>Ask every learner for an individual response. Record one misconception to revisit at the start of the next class. If a deadline changed, announce the exact Kampala date and update the source registry before rebuilding slides.</a:t>
            </a:r>
          </a:p>
          <a:p>
            <a:r>
              <a:t/>
            </a:r>
          </a:p>
          <a:p>
            <a:r>
              <a:t>EXPLAIN IN ORDINARY WORDS</a:t>
            </a:r>
          </a:p>
          <a:p>
            <a:r>
              <a:t>An observation describes the data. A finding answers a defined question with evidence. A recommendation adds an action, its justification and limits.</a:t>
            </a:r>
          </a:p>
          <a:p>
            <a:r>
              <a:t/>
            </a:r>
          </a:p>
          <a:p>
            <a:r>
              <a:t>CHECK AND EXPECTED ANSWER</a:t>
            </a:r>
          </a:p>
          <a:p>
            <a:r>
              <a:t>Does a difference between two groups prove one caused the other? No. Other differences or selection may explain it.</a:t>
            </a:r>
          </a:p>
          <a:p>
            <a:r>
              <a:t/>
            </a:r>
          </a:p>
          <a:p>
            <a:r>
              <a:t>IF LEARNERS ARE STUCK</a:t>
            </a:r>
          </a:p>
          <a:p>
            <a:r>
              <a:t>Ask for the population, time period, number and comparison. Then ask what additional evidence could change the recommendation.</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e109f7c2f3a498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dce6aeafd154f5b" /><Relationship Type="http://schemas.openxmlformats.org/officeDocument/2006/relationships/slideLayout" Target="/ppt/slideLayouts/slideLayout1.xml" Id="R64f5243d5a2941b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4f5243d5a2941b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6af9867f6df4a7c" /><Relationship Type="http://schemas.openxmlformats.org/officeDocument/2006/relationships/image" Target="/ppt/media/image.png" Id="R125c7aa242c845fb" /><Relationship Type="http://schemas.openxmlformats.org/officeDocument/2006/relationships/notesSlide" Target="/ppt/notesSlides/notesSlide1.xml" Id="R12408618da6a466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2cc73c26218470c" /><Relationship Type="http://schemas.openxmlformats.org/officeDocument/2006/relationships/notesSlide" Target="/ppt/notesSlides/notesSlide2.xml" Id="R5bee510695f343a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cdb3692b6784c8c" /><Relationship Type="http://schemas.openxmlformats.org/officeDocument/2006/relationships/notesSlide" Target="/ppt/notesSlides/notesSlide3.xml" Id="R53503ed15a7349d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6090d18afea4b74" /><Relationship Type="http://schemas.openxmlformats.org/officeDocument/2006/relationships/notesSlide" Target="/ppt/notesSlides/notesSlide4.xml" Id="R0619567c55044c6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441eefacbc84f84" /><Relationship Type="http://schemas.openxmlformats.org/officeDocument/2006/relationships/notesSlide" Target="/ppt/notesSlides/notesSlide5.xml" Id="Rc2968c5b82984ef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380e3f7f02c41ce" /><Relationship Type="http://schemas.openxmlformats.org/officeDocument/2006/relationships/notesSlide" Target="/ppt/notesSlides/notesSlide6.xml" Id="R8a0108b6aab4423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bb2d3070e294e4f" /><Relationship Type="http://schemas.openxmlformats.org/officeDocument/2006/relationships/notesSlide" Target="/ppt/notesSlides/notesSlide7.xml" Id="Rda78f60672eb41f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07e6f24d82941fa" /><Relationship Type="http://schemas.openxmlformats.org/officeDocument/2006/relationships/notesSlide" Target="/ppt/notesSlides/notesSlide8.xml" Id="Rb9ddf3287bb14bb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385279e00a74b94" /><Relationship Type="http://schemas.openxmlformats.org/officeDocument/2006/relationships/notesSlide" Target="/ppt/notesSlides/notesSlide9.xml" Id="R3ccc1553a67d479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c0e5519707d44a4" /><Relationship Type="http://schemas.openxmlformats.org/officeDocument/2006/relationships/image" Target="/ppt/media/image2.png" Id="Rb545017976eb4eb8" /><Relationship Type="http://schemas.openxmlformats.org/officeDocument/2006/relationships/notesSlide" Target="/ppt/notesSlides/notesSlide10.xml" Id="R0bb3e4fd96d848d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5ff023e1ab94d06" /><Relationship Type="http://schemas.openxmlformats.org/officeDocument/2006/relationships/notesSlide" Target="/ppt/notesSlides/notesSlide11.xml" Id="R3fb32a69e9c1476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85a24c1f48d4e54" /><Relationship Type="http://schemas.openxmlformats.org/officeDocument/2006/relationships/notesSlide" Target="/ppt/notesSlides/notesSlide12.xml" Id="R23febf8b1f184a3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51f49db25ad4857" /><Relationship Type="http://schemas.openxmlformats.org/officeDocument/2006/relationships/notesSlide" Target="/ppt/notesSlides/notesSlide13.xml" Id="Rf371a9148c61433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a17fefee58e465d" /><Relationship Type="http://schemas.openxmlformats.org/officeDocument/2006/relationships/notesSlide" Target="/ppt/notesSlides/notesSlide14.xml" Id="R2f9da272767b418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3b433d6a7a1439f" /><Relationship Type="http://schemas.openxmlformats.org/officeDocument/2006/relationships/notesSlide" Target="/ppt/notesSlides/notesSlide15.xml" Id="R6a5af9ae39c141a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f5c05d617af49fe" /><Relationship Type="http://schemas.openxmlformats.org/officeDocument/2006/relationships/image" Target="/ppt/media/image3.png" Id="R5d6f9373780849cd" /><Relationship Type="http://schemas.openxmlformats.org/officeDocument/2006/relationships/notesSlide" Target="/ppt/notesSlides/notesSlide16.xml" Id="R2cc2c497af274b3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6fffb5c8f0e4675" /><Relationship Type="http://schemas.openxmlformats.org/officeDocument/2006/relationships/notesSlide" Target="/ppt/notesSlides/notesSlide17.xml" Id="R53f9f2c34b974ff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bb02a00ec5c4bb4" /><Relationship Type="http://schemas.openxmlformats.org/officeDocument/2006/relationships/notesSlide" Target="/ppt/notesSlides/notesSlide18.xml" Id="Rc7bc7d22a7ee4cb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a03a5bb03c5465f" /><Relationship Type="http://schemas.openxmlformats.org/officeDocument/2006/relationships/notesSlide" Target="/ppt/notesSlides/notesSlide19.xml" Id="Re12bbe7ce3b5432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c40b1f5c0184973" /><Relationship Type="http://schemas.openxmlformats.org/officeDocument/2006/relationships/notesSlide" Target="/ppt/notesSlides/notesSlide20.xml" Id="Ra662a6db2842458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a58433e2df314630" /><Relationship Type="http://schemas.openxmlformats.org/officeDocument/2006/relationships/notesSlide" Target="/ppt/notesSlides/notesSlide21.xml" Id="R46b028376e774b2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4c22929f669e43b0" /><Relationship Type="http://schemas.openxmlformats.org/officeDocument/2006/relationships/notesSlide" Target="/ppt/notesSlides/notesSlide22.xml" Id="Rdaff1e0b70db4d2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e79fe2d27cfd4e88" /><Relationship Type="http://schemas.openxmlformats.org/officeDocument/2006/relationships/notesSlide" Target="/ppt/notesSlides/notesSlide23.xml" Id="Re1821a46e94046e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4d13fa62dc5f4f72" /><Relationship Type="http://schemas.openxmlformats.org/officeDocument/2006/relationships/notesSlide" Target="/ppt/notesSlides/notesSlide24.xml" Id="R15767793b1ef415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cbd7e96f57c145fd" /><Relationship Type="http://schemas.openxmlformats.org/officeDocument/2006/relationships/notesSlide" Target="/ppt/notesSlides/notesSlide25.xml" Id="R78f71944325c462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60b207b7d25246df" /><Relationship Type="http://schemas.openxmlformats.org/officeDocument/2006/relationships/notesSlide" Target="/ppt/notesSlides/notesSlide26.xml" Id="Rc551d68db4ef475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950b1058dbc945c9" /><Relationship Type="http://schemas.openxmlformats.org/officeDocument/2006/relationships/notesSlide" Target="/ppt/notesSlides/notesSlide27.xml" Id="Rd5706ca84276494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ce4483f3efd446fb" /><Relationship Type="http://schemas.openxmlformats.org/officeDocument/2006/relationships/notesSlide" Target="/ppt/notesSlides/notesSlide28.xml" Id="R985572b3e0524cb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ab95174535a24745" /><Relationship Type="http://schemas.openxmlformats.org/officeDocument/2006/relationships/notesSlide" Target="/ppt/notesSlides/notesSlide29.xml" Id="R6fe0971b3f7a404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f6156b3605c943f7" /><Relationship Type="http://schemas.openxmlformats.org/officeDocument/2006/relationships/notesSlide" Target="/ppt/notesSlides/notesSlide30.xml" Id="R8a4088beb5784045"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342bf782485f47ca" /><Relationship Type="http://schemas.openxmlformats.org/officeDocument/2006/relationships/notesSlide" Target="/ppt/notesSlides/notesSlide31.xml" Id="R91b5521de45d449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ef6f3493d2244524" /><Relationship Type="http://schemas.openxmlformats.org/officeDocument/2006/relationships/notesSlide" Target="/ppt/notesSlides/notesSlide32.xml" Id="R99e5fc28cb044a8e"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57c3129147bb458f" /><Relationship Type="http://schemas.openxmlformats.org/officeDocument/2006/relationships/notesSlide" Target="/ppt/notesSlides/notesSlide33.xml" Id="R2a0db6a911b14bd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2460494e458948ba" /><Relationship Type="http://schemas.openxmlformats.org/officeDocument/2006/relationships/notesSlide" Target="/ppt/notesSlides/notesSlide34.xml" Id="R82576a2b742c43e3"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7c7d608c4f5e4956" /><Relationship Type="http://schemas.openxmlformats.org/officeDocument/2006/relationships/notesSlide" Target="/ppt/notesSlides/notesSlide35.xml" Id="R80c27d65392245bd"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c11ec7e2a4194c5b" /><Relationship Type="http://schemas.openxmlformats.org/officeDocument/2006/relationships/notesSlide" Target="/ppt/notesSlides/notesSlide36.xml" Id="R046f6b48adbd430a"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d7510574c6764af1" /><Relationship Type="http://schemas.openxmlformats.org/officeDocument/2006/relationships/notesSlide" Target="/ppt/notesSlides/notesSlide37.xml" Id="Re9d69b6f01e744e5"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a5b58c7f9c784c5e" /><Relationship Type="http://schemas.openxmlformats.org/officeDocument/2006/relationships/notesSlide" Target="/ppt/notesSlides/notesSlide38.xml" Id="R7a0aa096a9df4836"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b425ab9a1e8a4ea5" /><Relationship Type="http://schemas.openxmlformats.org/officeDocument/2006/relationships/notesSlide" Target="/ppt/notesSlides/notesSlide39.xml" Id="R654d6b3139c140ea"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95072e904f1146b5" /><Relationship Type="http://schemas.openxmlformats.org/officeDocument/2006/relationships/notesSlide" Target="/ppt/notesSlides/notesSlide40.xml" Id="Ra0c512d2a8bb4419"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30401cea879b4e5c" /><Relationship Type="http://schemas.openxmlformats.org/officeDocument/2006/relationships/notesSlide" Target="/ppt/notesSlides/notesSlide41.xml" Id="Ra9ee940532094e1b"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7103712dc92b4d0a" /><Relationship Type="http://schemas.openxmlformats.org/officeDocument/2006/relationships/notesSlide" Target="/ppt/notesSlides/notesSlide42.xml" Id="R8c7ce2d2bff74d83"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4ece073048a6447a" /><Relationship Type="http://schemas.openxmlformats.org/officeDocument/2006/relationships/hyperlink" Target="https://docs.google.com/forms/d/e/1FAIpQLSea9Y9pC-JeaVEPpu4prViKZaOHF8cmPczko8iGDiPmr73I2A/viewform" TargetMode="External" Id="R56ba2946f34a4a81" /><Relationship Type="http://schemas.openxmlformats.org/officeDocument/2006/relationships/notesSlide" Target="/ppt/notesSlides/notesSlide43.xml" Id="R307476495ef34caf"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ca6f19ea8a7e4969" /><Relationship Type="http://schemas.openxmlformats.org/officeDocument/2006/relationships/notesSlide" Target="/ppt/notesSlides/notesSlide44.xml" Id="R5915e7ede8534e8d"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8e8977cf69554585" /><Relationship Type="http://schemas.openxmlformats.org/officeDocument/2006/relationships/image" Target="/ppt/media/image4.png" Id="R6a7eee1bcf5d4edd" /><Relationship Type="http://schemas.openxmlformats.org/officeDocument/2006/relationships/hyperlink" Target="https://forms.gle/a2TPHUcEF6sacSnr6" TargetMode="External" Id="R9fd07727739649f4" /><Relationship Type="http://schemas.openxmlformats.org/officeDocument/2006/relationships/notesSlide" Target="/ppt/notesSlides/notesSlide45.xml" Id="R731eaa6f82c645ff"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9bc0c2489eba44c5" /><Relationship Type="http://schemas.openxmlformats.org/officeDocument/2006/relationships/notesSlide" Target="/ppt/notesSlides/notesSlide46.xml" Id="Rac4a2ca408bb4037"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0b148b7f666249f6" /><Relationship Type="http://schemas.openxmlformats.org/officeDocument/2006/relationships/notesSlide" Target="/ppt/notesSlides/notesSlide47.xml" Id="Rc667a89382dd476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125c7aa242c845fb"/>
          <a:stretch xmlns:a="http://schemas.openxmlformats.org/drawingml/2006/main"/>
        </p:blipFill>
        <p:spPr>
          <a:xfrm xmlns:a="http://schemas.openxmlformats.org/drawingml/2006/main">
            <a:off x="3087"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AE87E6A-36F5-4565-9C12-DD84C33D38CE}"/>
              </a:ext>
            </a:extLst>
          </p:cNvPr>
          <p:cNvSpPr>
            <a:spLocks xmlns:a="http://schemas.openxmlformats.org/drawingml/2006/main" noGrp="1"/>
          </p:cNvSpPr>
          <p:nvPr/>
        </p:nvSpPr>
        <p:spPr>
          <a:xfrm xmlns:a="http://schemas.openxmlformats.org/drawingml/2006/main">
            <a:off x="0" y="0"/>
            <a:ext cx="5381625" cy="68580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E18D263-BF03-41D2-B93F-3A83A447CDCC}"/>
              </a:ext>
            </a:extLst>
          </p:cNvPr>
          <p:cNvSpPr>
            <a:spLocks xmlns:a="http://schemas.openxmlformats.org/drawingml/2006/main" noGrp="1"/>
          </p:cNvSpPr>
          <p:nvPr/>
        </p:nvSpPr>
        <p:spPr>
          <a:xfrm xmlns:a="http://schemas.openxmlformats.org/drawingml/2006/main">
            <a:off x="552450" y="6858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CML3111   WEEK 5</a:t>
            </a:r>
          </a:p>
        </p:txBody>
      </p:sp>
      <p:sp>
        <p:nvSpPr>
          <p:cNvPr id="4" name="">
            <a:extLst xmlns:a="http://schemas.openxmlformats.org/drawingml/2006/main">
              <a:ext uri="{FF2B5EF4-FFF2-40B4-BE49-F238E27FC236}">
                <a16:creationId xmlns:a16="http://schemas.microsoft.com/office/drawing/2014/main" id="{995C4050-4310-45E8-8980-614D86C7176F}"/>
              </a:ext>
            </a:extLst>
          </p:cNvPr>
          <p:cNvSpPr>
            <a:spLocks xmlns:a="http://schemas.openxmlformats.org/drawingml/2006/main" noGrp="1"/>
          </p:cNvSpPr>
          <p:nvPr/>
        </p:nvSpPr>
        <p:spPr>
          <a:xfrm xmlns:a="http://schemas.openxmlformats.org/drawingml/2006/main">
            <a:off x="552450" y="1619250"/>
            <a:ext cx="4619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1">
                <a:solidFill>
                  <a:srgbClr val="FFFFFF"/>
                </a:solidFill>
                <a:latin typeface="Calibri"/>
                <a:ea typeface="Calibri"/>
                <a:cs typeface="Calibri"/>
              </a:defRPr>
            </a:pPr>
            <a:r>
              <a:rPr sz="3825" b="1">
                <a:solidFill>
                  <a:srgbClr val="FFFFFF"/>
                </a:solidFill>
                <a:latin typeface="Calibri"/>
                <a:ea typeface="Calibri"/>
                <a:cs typeface="Calibri"/>
              </a:rPr>
              <a:t>Using pandas to answer table questions</a:t>
            </a:r>
          </a:p>
        </p:txBody>
      </p:sp>
      <p:sp>
        <p:nvSpPr>
          <p:cNvPr id="5" name="">
            <a:extLst xmlns:a="http://schemas.openxmlformats.org/drawingml/2006/main">
              <a:ext uri="{FF2B5EF4-FFF2-40B4-BE49-F238E27FC236}">
                <a16:creationId xmlns:a16="http://schemas.microsoft.com/office/drawing/2014/main" id="{77EA6F76-05CB-4EF3-ADC4-F708A72B7328}"/>
              </a:ext>
            </a:extLst>
          </p:cNvPr>
          <p:cNvSpPr>
            <a:spLocks xmlns:a="http://schemas.openxmlformats.org/drawingml/2006/main" noGrp="1"/>
          </p:cNvSpPr>
          <p:nvPr/>
        </p:nvSpPr>
        <p:spPr>
          <a:xfrm xmlns:a="http://schemas.openxmlformats.org/drawingml/2006/main">
            <a:off x="552450" y="4048125"/>
            <a:ext cx="4619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8E3EC"/>
                </a:solidFill>
                <a:latin typeface="Calibri"/>
                <a:ea typeface="Calibri"/>
                <a:cs typeface="Calibri"/>
              </a:defRPr>
            </a:pPr>
            <a:r>
              <a:rPr sz="2100" b="0">
                <a:solidFill>
                  <a:srgbClr val="D8E3EC"/>
                </a:solidFill>
                <a:latin typeface="Calibri"/>
                <a:ea typeface="Calibri"/>
                <a:cs typeface="Calibri"/>
              </a:rPr>
              <a:t>Communications, Electrical, Mechatronics and Robotics Engineering</a:t>
            </a:r>
          </a:p>
        </p:txBody>
      </p:sp>
      <p:sp>
        <p:nvSpPr>
          <p:cNvPr id="6" name="">
            <a:extLst xmlns:a="http://schemas.openxmlformats.org/drawingml/2006/main">
              <a:ext uri="{FF2B5EF4-FFF2-40B4-BE49-F238E27FC236}">
                <a16:creationId xmlns:a16="http://schemas.microsoft.com/office/drawing/2014/main" id="{CE5963A1-E32B-4732-BC87-112C0C204AE1}"/>
              </a:ext>
            </a:extLst>
          </p:cNvPr>
          <p:cNvSpPr>
            <a:spLocks xmlns:a="http://schemas.openxmlformats.org/drawingml/2006/main" noGrp="1"/>
          </p:cNvSpPr>
          <p:nvPr/>
        </p:nvSpPr>
        <p:spPr>
          <a:xfrm xmlns:a="http://schemas.openxmlformats.org/drawingml/2006/main">
            <a:off x="552450" y="5467350"/>
            <a:ext cx="4667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Friday 09 October 2026</a:t>
            </a:r>
          </a:p>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Friday 11:00–14:00, Room 115</a:t>
            </a:r>
          </a:p>
        </p:txBody>
      </p:sp>
    </p:spTree>
    <p:extLst>
      <p:ext uri="{BB962C8B-B14F-4D97-AF65-F5344CB8AC3E}">
        <p14:creationId xmlns:p14="http://schemas.microsoft.com/office/powerpoint/2010/main" val="137014880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6662782-FCFB-47EA-BCF3-82444087B42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5CCF6B3-062A-493D-A2A5-9F52C7340C8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TODAY’S DESTINATION</a:t>
            </a:r>
          </a:p>
        </p:txBody>
      </p:sp>
      <p:sp>
        <p:nvSpPr>
          <p:cNvPr id="3" name="">
            <a:extLst xmlns:a="http://schemas.openxmlformats.org/drawingml/2006/main">
              <a:ext uri="{FF2B5EF4-FFF2-40B4-BE49-F238E27FC236}">
                <a16:creationId xmlns:a16="http://schemas.microsoft.com/office/drawing/2014/main" id="{C3DB961F-908E-4CE3-BD0A-B4241CDA7FD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Today’s learning</a:t>
            </a:r>
          </a:p>
        </p:txBody>
      </p:sp>
      <p:sp>
        <p:nvSpPr>
          <p:cNvPr id="4" name="">
            <a:extLst xmlns:a="http://schemas.openxmlformats.org/drawingml/2006/main">
              <a:ext uri="{FF2B5EF4-FFF2-40B4-BE49-F238E27FC236}">
                <a16:creationId xmlns:a16="http://schemas.microsoft.com/office/drawing/2014/main" id="{EEFC8EED-63F2-4FA9-B1DB-4A35F1B53F22}"/>
              </a:ext>
            </a:extLst>
          </p:cNvPr>
          <p:cNvSpPr>
            <a:spLocks xmlns:a="http://schemas.openxmlformats.org/drawingml/2006/main" noGrp="1"/>
          </p:cNvSpPr>
          <p:nvPr/>
        </p:nvSpPr>
        <p:spPr>
          <a:xfrm xmlns:a="http://schemas.openxmlformats.org/drawingml/2006/main">
            <a:off x="590550" y="1733550"/>
            <a:ext cx="523875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F94492E-4025-4907-B91B-0364E11D96B5}"/>
              </a:ext>
            </a:extLst>
          </p:cNvPr>
          <p:cNvSpPr>
            <a:spLocks xmlns:a="http://schemas.openxmlformats.org/drawingml/2006/main" noGrp="1"/>
          </p:cNvSpPr>
          <p:nvPr/>
        </p:nvSpPr>
        <p:spPr>
          <a:xfrm xmlns:a="http://schemas.openxmlformats.org/drawingml/2006/main">
            <a:off x="828675" y="2000250"/>
            <a:ext cx="474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E4572E"/>
                </a:solidFill>
                <a:latin typeface="Calibri"/>
                <a:ea typeface="Calibri"/>
                <a:cs typeface="Calibri"/>
              </a:defRPr>
            </a:pPr>
            <a:r>
              <a:rPr sz="1650" b="1">
                <a:solidFill>
                  <a:srgbClr val="E4572E"/>
                </a:solidFill>
                <a:latin typeface="Calibri"/>
                <a:ea typeface="Calibri"/>
                <a:cs typeface="Calibri"/>
              </a:rPr>
              <a:t>WHAT WE WILL DO</a:t>
            </a:r>
          </a:p>
        </p:txBody>
      </p:sp>
      <p:sp>
        <p:nvSpPr>
          <p:cNvPr id="6" name="">
            <a:extLst xmlns:a="http://schemas.openxmlformats.org/drawingml/2006/main">
              <a:ext uri="{FF2B5EF4-FFF2-40B4-BE49-F238E27FC236}">
                <a16:creationId xmlns:a16="http://schemas.microsoft.com/office/drawing/2014/main" id="{D0012317-C749-4F20-AA88-13BBF18AE419}"/>
              </a:ext>
            </a:extLst>
          </p:cNvPr>
          <p:cNvSpPr>
            <a:spLocks xmlns:a="http://schemas.openxmlformats.org/drawingml/2006/main" noGrp="1"/>
          </p:cNvSpPr>
          <p:nvPr/>
        </p:nvSpPr>
        <p:spPr>
          <a:xfrm xmlns:a="http://schemas.openxmlformats.org/drawingml/2006/main">
            <a:off x="828675" y="2590800"/>
            <a:ext cx="47434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 a labelled table and select rows.</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Calculate column summaries and grouped totals.</a:t>
            </a:r>
          </a:p>
        </p:txBody>
      </p:sp>
      <p:sp>
        <p:nvSpPr>
          <p:cNvPr id="7" name="">
            <a:extLst xmlns:a="http://schemas.openxmlformats.org/drawingml/2006/main">
              <a:ext uri="{FF2B5EF4-FFF2-40B4-BE49-F238E27FC236}">
                <a16:creationId xmlns:a16="http://schemas.microsoft.com/office/drawing/2014/main" id="{44C20DC4-D261-4F5E-8BD2-4B13F0552063}"/>
              </a:ext>
            </a:extLst>
          </p:cNvPr>
          <p:cNvSpPr>
            <a:spLocks xmlns:a="http://schemas.openxmlformats.org/drawingml/2006/main" noGrp="1"/>
          </p:cNvSpPr>
          <p:nvPr/>
        </p:nvSpPr>
        <p:spPr>
          <a:xfrm xmlns:a="http://schemas.openxmlformats.org/drawingml/2006/main">
            <a:off x="6210300" y="2000250"/>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E7D6F"/>
                </a:solidFill>
                <a:latin typeface="Calibri"/>
                <a:ea typeface="Calibri"/>
                <a:cs typeface="Calibri"/>
              </a:defRPr>
            </a:pPr>
            <a:r>
              <a:rPr sz="1650" b="1">
                <a:solidFill>
                  <a:srgbClr val="2E7D6F"/>
                </a:solidFill>
                <a:latin typeface="Calibri"/>
                <a:ea typeface="Calibri"/>
                <a:cs typeface="Calibri"/>
              </a:rPr>
              <a:t>HOW YOU WILL SHOW IT</a:t>
            </a:r>
          </a:p>
        </p:txBody>
      </p:sp>
      <p:sp>
        <p:nvSpPr>
          <p:cNvPr id="8" name="">
            <a:extLst xmlns:a="http://schemas.openxmlformats.org/drawingml/2006/main">
              <a:ext uri="{FF2B5EF4-FFF2-40B4-BE49-F238E27FC236}">
                <a16:creationId xmlns:a16="http://schemas.microsoft.com/office/drawing/2014/main" id="{0B0E977D-BF7F-4113-9F70-C52A23187450}"/>
              </a:ext>
            </a:extLst>
          </p:cNvPr>
          <p:cNvSpPr>
            <a:spLocks xmlns:a="http://schemas.openxmlformats.org/drawingml/2006/main" noGrp="1"/>
          </p:cNvSpPr>
          <p:nvPr/>
        </p:nvSpPr>
        <p:spPr>
          <a:xfrm xmlns:a="http://schemas.openxmlformats.org/drawingml/2006/main">
            <a:off x="6210300" y="2590800"/>
            <a:ext cx="509587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You can explain which observations a filter keeps and what a grouped total means.</a:t>
            </a:r>
          </a:p>
        </p:txBody>
      </p:sp>
      <p:sp>
        <p:nvSpPr>
          <p:cNvPr id="9" name="">
            <a:extLst xmlns:a="http://schemas.openxmlformats.org/drawingml/2006/main">
              <a:ext uri="{FF2B5EF4-FFF2-40B4-BE49-F238E27FC236}">
                <a16:creationId xmlns:a16="http://schemas.microsoft.com/office/drawing/2014/main" id="{B74C20A3-C2D7-48CF-81C0-166B20964A6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2</a:t>
            </a:r>
          </a:p>
        </p:txBody>
      </p:sp>
    </p:spTree>
    <p:extLst>
      <p:ext uri="{BB962C8B-B14F-4D97-AF65-F5344CB8AC3E}">
        <p14:creationId xmlns:p14="http://schemas.microsoft.com/office/powerpoint/2010/main" val="1954402002"/>
      </p:ext>
    </p:extLst>
  </p:cSld>
</p:sld>
</file>

<file path=ppt/slides/slide3.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EBABEA8-0104-4A3B-94C9-13DE1375900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PREDICT BEFORE RUNNING</a:t>
            </a:r>
          </a:p>
        </p:txBody>
      </p:sp>
      <p:sp>
        <p:nvSpPr>
          <p:cNvPr id="2" name="">
            <a:extLst xmlns:a="http://schemas.openxmlformats.org/drawingml/2006/main">
              <a:ext uri="{FF2B5EF4-FFF2-40B4-BE49-F238E27FC236}">
                <a16:creationId xmlns:a16="http://schemas.microsoft.com/office/drawing/2014/main" id="{EBBE3447-0AC6-44AA-AF0A-0D1B0B8E36C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Recall and a first attempt</a:t>
            </a:r>
          </a:p>
        </p:txBody>
      </p:sp>
      <p:sp>
        <p:nvSpPr>
          <p:cNvPr id="3" name="">
            <a:extLst xmlns:a="http://schemas.openxmlformats.org/drawingml/2006/main">
              <a:ext uri="{FF2B5EF4-FFF2-40B4-BE49-F238E27FC236}">
                <a16:creationId xmlns:a16="http://schemas.microsoft.com/office/drawing/2014/main" id="{FF998B66-F101-4693-8A64-11D2673D60C8}"/>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YOUR TURN</a:t>
            </a:r>
          </a:p>
        </p:txBody>
      </p:sp>
      <p:sp>
        <p:nvSpPr>
          <p:cNvPr id="4" name="">
            <a:extLst xmlns:a="http://schemas.openxmlformats.org/drawingml/2006/main">
              <a:ext uri="{FF2B5EF4-FFF2-40B4-BE49-F238E27FC236}">
                <a16:creationId xmlns:a16="http://schemas.microsoft.com/office/drawing/2014/main" id="{39BC6B09-7E7C-43E1-8668-50B7459D25EC}"/>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Identify one row, one column, and the mean of three readings. Explain the running-total loop.</a:t>
            </a:r>
          </a:p>
        </p:txBody>
      </p:sp>
      <p:sp>
        <p:nvSpPr>
          <p:cNvPr id="5" name="">
            <a:extLst xmlns:a="http://schemas.openxmlformats.org/drawingml/2006/main">
              <a:ext uri="{FF2B5EF4-FFF2-40B4-BE49-F238E27FC236}">
                <a16:creationId xmlns:a16="http://schemas.microsoft.com/office/drawing/2014/main" id="{3BB94ABB-F2C4-4856-B6DD-5679C7F6A307}"/>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Think alone first. Then compare your reasoning with a partner.</a:t>
            </a:r>
          </a:p>
        </p:txBody>
      </p:sp>
      <p:sp>
        <p:nvSpPr>
          <p:cNvPr id="6" name="">
            <a:extLst xmlns:a="http://schemas.openxmlformats.org/drawingml/2006/main">
              <a:ext uri="{FF2B5EF4-FFF2-40B4-BE49-F238E27FC236}">
                <a16:creationId xmlns:a16="http://schemas.microsoft.com/office/drawing/2014/main" id="{C27AD5E1-29EA-482C-BF2C-4FCDD26473A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CML3111   Week 5   3</a:t>
            </a:r>
          </a:p>
        </p:txBody>
      </p:sp>
    </p:spTree>
    <p:extLst>
      <p:ext uri="{BB962C8B-B14F-4D97-AF65-F5344CB8AC3E}">
        <p14:creationId xmlns:p14="http://schemas.microsoft.com/office/powerpoint/2010/main" val="166639578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D315B5B-2FCF-47CC-BF20-EECEEABC122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A8F7484-24CF-4073-ACB2-EA066A74D94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THE ENGINEERING QUESTION</a:t>
            </a:r>
          </a:p>
        </p:txBody>
      </p:sp>
      <p:sp>
        <p:nvSpPr>
          <p:cNvPr id="3" name="">
            <a:extLst xmlns:a="http://schemas.openxmlformats.org/drawingml/2006/main">
              <a:ext uri="{FF2B5EF4-FFF2-40B4-BE49-F238E27FC236}">
                <a16:creationId xmlns:a16="http://schemas.microsoft.com/office/drawing/2014/main" id="{A19C904D-50C3-4AE9-8425-9B6D62795FA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engineering context</a:t>
            </a:r>
          </a:p>
        </p:txBody>
      </p:sp>
      <p:sp>
        <p:nvSpPr>
          <p:cNvPr id="4" name="">
            <a:extLst xmlns:a="http://schemas.openxmlformats.org/drawingml/2006/main">
              <a:ext uri="{FF2B5EF4-FFF2-40B4-BE49-F238E27FC236}">
                <a16:creationId xmlns:a16="http://schemas.microsoft.com/office/drawing/2014/main" id="{0CDB39B6-1BC8-40C9-BACC-93B9E30B8C18}"/>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A2D2BBB2-814A-49F5-ADCC-8E670DA2C485}"/>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team records device temperature to investigate cooling.</a:t>
            </a:r>
          </a:p>
        </p:txBody>
      </p:sp>
      <p:sp>
        <p:nvSpPr>
          <p:cNvPr id="6" name="">
            <a:extLst xmlns:a="http://schemas.openxmlformats.org/drawingml/2006/main">
              <a:ext uri="{FF2B5EF4-FFF2-40B4-BE49-F238E27FC236}">
                <a16:creationId xmlns:a16="http://schemas.microsoft.com/office/drawing/2014/main" id="{64F1486C-EEF6-490B-A5E8-D5CF12428B9A}"/>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F185DA4D-464C-46C4-9DC2-CC0529906368}"/>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a communications cabinet, an electrical enclosure or a robot controller as the physical example.</a:t>
            </a:r>
          </a:p>
        </p:txBody>
      </p:sp>
      <p:sp>
        <p:nvSpPr>
          <p:cNvPr id="8" name="">
            <a:extLst xmlns:a="http://schemas.openxmlformats.org/drawingml/2006/main">
              <a:ext uri="{FF2B5EF4-FFF2-40B4-BE49-F238E27FC236}">
                <a16:creationId xmlns:a16="http://schemas.microsoft.com/office/drawing/2014/main" id="{42582DD4-04F8-48B0-A2EC-0D9157CE77C5}"/>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E06FED09-F530-40CD-A2A8-9D2A2CE7BC7D}"/>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No specialist hardware knowledge is assumed.</a:t>
            </a:r>
          </a:p>
        </p:txBody>
      </p:sp>
      <p:sp>
        <p:nvSpPr>
          <p:cNvPr id="10" name="">
            <a:extLst xmlns:a="http://schemas.openxmlformats.org/drawingml/2006/main">
              <a:ext uri="{FF2B5EF4-FFF2-40B4-BE49-F238E27FC236}">
                <a16:creationId xmlns:a16="http://schemas.microsoft.com/office/drawing/2014/main" id="{E987D78F-A09C-44B6-B224-D70954CD2DF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4</a:t>
            </a:r>
          </a:p>
        </p:txBody>
      </p:sp>
    </p:spTree>
    <p:extLst>
      <p:ext uri="{BB962C8B-B14F-4D97-AF65-F5344CB8AC3E}">
        <p14:creationId xmlns:p14="http://schemas.microsoft.com/office/powerpoint/2010/main" val="113887632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565F26A-6D73-4D78-974D-F77B90FEDE4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6251322-4AD5-438C-86EE-4582262781B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C2B3D863-8690-487C-8E1E-D070E7505CE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Rows columns and units</a:t>
            </a:r>
          </a:p>
        </p:txBody>
      </p:sp>
      <p:sp>
        <p:nvSpPr>
          <p:cNvPr id="4" name="">
            <a:extLst xmlns:a="http://schemas.openxmlformats.org/drawingml/2006/main">
              <a:ext uri="{FF2B5EF4-FFF2-40B4-BE49-F238E27FC236}">
                <a16:creationId xmlns:a16="http://schemas.microsoft.com/office/drawing/2014/main" id="{20874C66-C5B6-4A79-9754-D6E3EF0C9394}"/>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6BC472A-F8AE-4912-A171-FE6257F14055}"/>
              </a:ext>
            </a:extLst>
          </p:cNvPr>
          <p:cNvSpPr>
            <a:spLocks xmlns:a="http://schemas.openxmlformats.org/drawingml/2006/main" noGrp="1"/>
          </p:cNvSpPr>
          <p:nvPr/>
        </p:nvSpPr>
        <p:spPr>
          <a:xfrm xmlns:a="http://schemas.openxmlformats.org/drawingml/2006/main">
            <a:off x="1381125" y="1781175"/>
            <a:ext cx="10096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row describes one observation. A column describes one field.</a:t>
            </a:r>
          </a:p>
        </p:txBody>
      </p:sp>
      <p:sp>
        <p:nvSpPr>
          <p:cNvPr id="6" name="">
            <a:extLst xmlns:a="http://schemas.openxmlformats.org/drawingml/2006/main">
              <a:ext uri="{FF2B5EF4-FFF2-40B4-BE49-F238E27FC236}">
                <a16:creationId xmlns:a16="http://schemas.microsoft.com/office/drawing/2014/main" id="{22407A7D-21CF-4D05-B588-96ABDCDD1395}"/>
              </a:ext>
            </a:extLst>
          </p:cNvPr>
          <p:cNvSpPr>
            <a:spLocks xmlns:a="http://schemas.openxmlformats.org/drawingml/2006/main" noGrp="1"/>
          </p:cNvSpPr>
          <p:nvPr/>
        </p:nvSpPr>
        <p:spPr>
          <a:xfrm xmlns:a="http://schemas.openxmlformats.org/drawingml/2006/main">
            <a:off x="590550" y="26384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2E69C67-45DC-4C95-AA38-DA924F86A012}"/>
              </a:ext>
            </a:extLst>
          </p:cNvPr>
          <p:cNvSpPr>
            <a:spLocks xmlns:a="http://schemas.openxmlformats.org/drawingml/2006/main" noGrp="1"/>
          </p:cNvSpPr>
          <p:nvPr/>
        </p:nvSpPr>
        <p:spPr>
          <a:xfrm xmlns:a="http://schemas.openxmlformats.org/drawingml/2006/main">
            <a:off x="1381125" y="2638425"/>
            <a:ext cx="10096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DataFrame is pandas’ labelled table.</a:t>
            </a:r>
          </a:p>
        </p:txBody>
      </p:sp>
      <p:sp>
        <p:nvSpPr>
          <p:cNvPr id="8" name="">
            <a:extLst xmlns:a="http://schemas.openxmlformats.org/drawingml/2006/main">
              <a:ext uri="{FF2B5EF4-FFF2-40B4-BE49-F238E27FC236}">
                <a16:creationId xmlns:a16="http://schemas.microsoft.com/office/drawing/2014/main" id="{23336E74-8C77-4926-8624-F50FCA8A13F3}"/>
              </a:ext>
            </a:extLst>
          </p:cNvPr>
          <p:cNvSpPr>
            <a:spLocks xmlns:a="http://schemas.openxmlformats.org/drawingml/2006/main" noGrp="1"/>
          </p:cNvSpPr>
          <p:nvPr/>
        </p:nvSpPr>
        <p:spPr>
          <a:xfrm xmlns:a="http://schemas.openxmlformats.org/drawingml/2006/main">
            <a:off x="590550" y="3495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B570DA2-2773-4C2A-9074-0EAFEAB97DA2}"/>
              </a:ext>
            </a:extLst>
          </p:cNvPr>
          <p:cNvSpPr>
            <a:spLocks xmlns:a="http://schemas.openxmlformats.org/drawingml/2006/main" noGrp="1"/>
          </p:cNvSpPr>
          <p:nvPr/>
        </p:nvSpPr>
        <p:spPr>
          <a:xfrm xmlns:a="http://schemas.openxmlformats.org/drawingml/2006/main">
            <a:off x="1381125" y="3495675"/>
            <a:ext cx="10096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Series is one labelled column.</a:t>
            </a:r>
          </a:p>
        </p:txBody>
      </p:sp>
      <p:sp>
        <p:nvSpPr>
          <p:cNvPr id="10" name="">
            <a:extLst xmlns:a="http://schemas.openxmlformats.org/drawingml/2006/main">
              <a:ext uri="{FF2B5EF4-FFF2-40B4-BE49-F238E27FC236}">
                <a16:creationId xmlns:a16="http://schemas.microsoft.com/office/drawing/2014/main" id="{290B0431-BDAA-40E7-89B2-231DEFCE5A62}"/>
              </a:ext>
            </a:extLst>
          </p:cNvPr>
          <p:cNvSpPr>
            <a:spLocks xmlns:a="http://schemas.openxmlformats.org/drawingml/2006/main" noGrp="1"/>
          </p:cNvSpPr>
          <p:nvPr/>
        </p:nvSpPr>
        <p:spPr>
          <a:xfrm xmlns:a="http://schemas.openxmlformats.org/drawingml/2006/main">
            <a:off x="590550" y="4352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2BDFB4F4-19E1-48C3-A1CC-D15E30D5B37E}"/>
              </a:ext>
            </a:extLst>
          </p:cNvPr>
          <p:cNvSpPr>
            <a:spLocks xmlns:a="http://schemas.openxmlformats.org/drawingml/2006/main" noGrp="1"/>
          </p:cNvSpPr>
          <p:nvPr/>
        </p:nvSpPr>
        <p:spPr>
          <a:xfrm xmlns:a="http://schemas.openxmlformats.org/drawingml/2006/main">
            <a:off x="1381125" y="4352925"/>
            <a:ext cx="10096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kWh measures energy. kW measures power.</a:t>
            </a:r>
          </a:p>
        </p:txBody>
      </p:sp>
      <p:sp>
        <p:nvSpPr>
          <p:cNvPr id="12" name="">
            <a:extLst xmlns:a="http://schemas.openxmlformats.org/drawingml/2006/main">
              <a:ext uri="{FF2B5EF4-FFF2-40B4-BE49-F238E27FC236}">
                <a16:creationId xmlns:a16="http://schemas.microsoft.com/office/drawing/2014/main" id="{5E5F63E1-BCB0-4C76-B2CD-6D4615D84C25}"/>
              </a:ext>
            </a:extLst>
          </p:cNvPr>
          <p:cNvSpPr>
            <a:spLocks xmlns:a="http://schemas.openxmlformats.org/drawingml/2006/main" noGrp="1"/>
          </p:cNvSpPr>
          <p:nvPr/>
        </p:nvSpPr>
        <p:spPr>
          <a:xfrm xmlns:a="http://schemas.openxmlformats.org/drawingml/2006/main">
            <a:off x="590550" y="5210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05</a:t>
            </a:r>
          </a:p>
        </p:txBody>
      </p:sp>
      <p:sp>
        <p:nvSpPr>
          <p:cNvPr id="13" name="">
            <a:extLst xmlns:a="http://schemas.openxmlformats.org/drawingml/2006/main">
              <a:ext uri="{FF2B5EF4-FFF2-40B4-BE49-F238E27FC236}">
                <a16:creationId xmlns:a16="http://schemas.microsoft.com/office/drawing/2014/main" id="{55BE0C88-847F-4C87-AE70-2D4C7098231F}"/>
              </a:ext>
            </a:extLst>
          </p:cNvPr>
          <p:cNvSpPr>
            <a:spLocks xmlns:a="http://schemas.openxmlformats.org/drawingml/2006/main" noGrp="1"/>
          </p:cNvSpPr>
          <p:nvPr/>
        </p:nvSpPr>
        <p:spPr>
          <a:xfrm xmlns:a="http://schemas.openxmlformats.org/drawingml/2006/main">
            <a:off x="1381125" y="5210175"/>
            <a:ext cx="10096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data type (dtype) describes the kind of values in a column, such as whole numbers, decimals or text.</a:t>
            </a:r>
          </a:p>
        </p:txBody>
      </p:sp>
      <p:sp>
        <p:nvSpPr>
          <p:cNvPr id="14" name="">
            <a:extLst xmlns:a="http://schemas.openxmlformats.org/drawingml/2006/main">
              <a:ext uri="{FF2B5EF4-FFF2-40B4-BE49-F238E27FC236}">
                <a16:creationId xmlns:a16="http://schemas.microsoft.com/office/drawing/2014/main" id="{57FDB9EC-B5EE-422B-B36E-C634A78C47E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5</a:t>
            </a:r>
          </a:p>
        </p:txBody>
      </p:sp>
    </p:spTree>
    <p:extLst>
      <p:ext uri="{BB962C8B-B14F-4D97-AF65-F5344CB8AC3E}">
        <p14:creationId xmlns:p14="http://schemas.microsoft.com/office/powerpoint/2010/main" val="115645869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4490F79-A0EF-485E-A9F4-F21C54FC8B8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25F2D8D-E126-434C-AD6A-2B5228D381F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82D5697E-3BE7-425C-A1B1-76BD38EB564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table keeps related observations together</a:t>
            </a:r>
          </a:p>
        </p:txBody>
      </p:sp>
      <p:sp>
        <p:nvSpPr>
          <p:cNvPr id="4" name="">
            <a:extLst xmlns:a="http://schemas.openxmlformats.org/drawingml/2006/main">
              <a:ext uri="{FF2B5EF4-FFF2-40B4-BE49-F238E27FC236}">
                <a16:creationId xmlns:a16="http://schemas.microsoft.com/office/drawing/2014/main" id="{03EF297E-DA33-43DD-A730-4377C5A62D43}"/>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3BFD8F8B-99C6-428F-9D1D-B33275E76EAE}"/>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Our four rows record building A twice and building B twice.</a:t>
            </a:r>
          </a:p>
        </p:txBody>
      </p:sp>
      <p:sp>
        <p:nvSpPr>
          <p:cNvPr id="6" name="">
            <a:extLst xmlns:a="http://schemas.openxmlformats.org/drawingml/2006/main">
              <a:ext uri="{FF2B5EF4-FFF2-40B4-BE49-F238E27FC236}">
                <a16:creationId xmlns:a16="http://schemas.microsoft.com/office/drawing/2014/main" id="{80B25FD6-3624-4DE8-98D2-69BDFB40A74A}"/>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C8A7C5A-E836-41FC-9775-48946321BE2B}"/>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Each row contains the building label and an energy reading.</a:t>
            </a:r>
          </a:p>
        </p:txBody>
      </p:sp>
      <p:sp>
        <p:nvSpPr>
          <p:cNvPr id="8" name="">
            <a:extLst xmlns:a="http://schemas.openxmlformats.org/drawingml/2006/main">
              <a:ext uri="{FF2B5EF4-FFF2-40B4-BE49-F238E27FC236}">
                <a16:creationId xmlns:a16="http://schemas.microsoft.com/office/drawing/2014/main" id="{E8A41324-3557-4BD1-B53C-B2F3E6F999B2}"/>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9E23A18-EB2B-465F-BB3D-25EB668C9724}"/>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kWh is energy. kW is power. The units describe different quantities.</a:t>
            </a:r>
          </a:p>
        </p:txBody>
      </p:sp>
      <p:sp>
        <p:nvSpPr>
          <p:cNvPr id="10" name="">
            <a:extLst xmlns:a="http://schemas.openxmlformats.org/drawingml/2006/main">
              <a:ext uri="{FF2B5EF4-FFF2-40B4-BE49-F238E27FC236}">
                <a16:creationId xmlns:a16="http://schemas.microsoft.com/office/drawing/2014/main" id="{AB0111D1-7908-4011-9391-EC1A7EA864C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6</a:t>
            </a:r>
          </a:p>
        </p:txBody>
      </p:sp>
    </p:spTree>
    <p:extLst>
      <p:ext uri="{BB962C8B-B14F-4D97-AF65-F5344CB8AC3E}">
        <p14:creationId xmlns:p14="http://schemas.microsoft.com/office/powerpoint/2010/main" val="164756320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DF10746-2505-476D-9182-FBFD9FCAAD5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5C3A484-EE1E-46C3-A9CD-8F53CD8FFCF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5F0FD016-2F1B-43AB-9202-F43C037A61A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Our small energy table</a:t>
            </a:r>
          </a:p>
        </p:txBody>
      </p:sp>
      <p:graphicFrame>
        <p:nvGraphicFramePr>
          <p:cNvPr id="10" name=""/>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5505450"/>
                <a:gridCol w="5505450"/>
              </a:tblGrid>
              <a:tr h="666750">
                <a:tc>
                  <a:txBody>
                    <a:bodyPr/>
                    <a:lstStyle/>
                    <a:p>
                      <a:r>
                        <a:rPr sz="2025" b="1">
                          <a:solidFill>
                            <a:srgbClr val="FFFFFF"/>
                          </a:solidFill>
                          <a:latin typeface="Calibri"/>
                          <a:ea typeface="Calibri"/>
                          <a:cs typeface="Calibri"/>
                        </a:rPr>
                        <a:t>building</a:t>
                      </a:r>
                    </a:p>
                  </a:txBody>
                  <a:tcPr marL="91440" marR="91440" marT="45720" marB="45720">
                    <a:solidFill>
                      <a:srgbClr val="2E7D6F"/>
                    </a:solidFill>
                  </a:tcPr>
                </a:tc>
                <a:tc>
                  <a:txBody>
                    <a:bodyPr/>
                    <a:lstStyle/>
                    <a:p>
                      <a:r>
                        <a:rPr sz="2025" b="1">
                          <a:solidFill>
                            <a:srgbClr val="FFFFFF"/>
                          </a:solidFill>
                          <a:latin typeface="Calibri"/>
                          <a:ea typeface="Calibri"/>
                          <a:cs typeface="Calibri"/>
                        </a:rPr>
                        <a:t>kwh</a:t>
                      </a:r>
                    </a:p>
                  </a:txBody>
                  <a:tcPr marL="91440" marR="91440" marT="45720" marB="45720">
                    <a:solidFill>
                      <a:srgbClr val="2E7D6F"/>
                    </a:solidFill>
                  </a:tcPr>
                </a:tc>
              </a:tr>
              <a:tr h="666750">
                <a:tc>
                  <a:txBody>
                    <a:bodyPr/>
                    <a:lstStyle/>
                    <a:p>
                      <a:r>
                        <a:rPr sz="2025" b="0">
                          <a:solidFill>
                            <a:srgbClr val="1C3144"/>
                          </a:solidFill>
                          <a:latin typeface="Calibri"/>
                          <a:ea typeface="Calibri"/>
                          <a:cs typeface="Calibri"/>
                        </a:rPr>
                        <a:t>A</a:t>
                      </a:r>
                    </a:p>
                  </a:txBody>
                  <a:tcPr marL="91440" marR="91440" marT="45720" marB="45720">
                    <a:solidFill>
                      <a:srgbClr val="EEF3F6"/>
                    </a:solidFill>
                  </a:tcPr>
                </a:tc>
                <a:tc>
                  <a:txBody>
                    <a:bodyPr/>
                    <a:lstStyle/>
                    <a:p>
                      <a:r>
                        <a:rPr sz="2025" b="0">
                          <a:solidFill>
                            <a:srgbClr val="1C3144"/>
                          </a:solidFill>
                          <a:latin typeface="Calibri"/>
                          <a:ea typeface="Calibri"/>
                          <a:cs typeface="Calibri"/>
                        </a:rPr>
                        <a:t>2</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A</a:t>
                      </a:r>
                    </a:p>
                  </a:txBody>
                  <a:tcPr marL="91440" marR="91440" marT="45720" marB="45720">
                    <a:solidFill>
                      <a:srgbClr val="FFFFFF"/>
                    </a:solidFill>
                  </a:tcPr>
                </a:tc>
                <a:tc>
                  <a:txBody>
                    <a:bodyPr/>
                    <a:lstStyle/>
                    <a:p>
                      <a:r>
                        <a:rPr sz="2025" b="0">
                          <a:solidFill>
                            <a:srgbClr val="1C3144"/>
                          </a:solidFill>
                          <a:latin typeface="Calibri"/>
                          <a:ea typeface="Calibri"/>
                          <a:cs typeface="Calibri"/>
                        </a:rPr>
                        <a:t>4</a:t>
                      </a:r>
                    </a:p>
                  </a:txBody>
                  <a:tcPr marL="91440" marR="91440" marT="45720" marB="45720">
                    <a:solidFill>
                      <a:srgbClr val="FFFFFF"/>
                    </a:solidFill>
                  </a:tcPr>
                </a:tc>
              </a:tr>
              <a:tr h="666750">
                <a:tc>
                  <a:txBody>
                    <a:bodyPr/>
                    <a:lstStyle/>
                    <a:p>
                      <a:r>
                        <a:rPr sz="2025" b="0">
                          <a:solidFill>
                            <a:srgbClr val="1C3144"/>
                          </a:solidFill>
                          <a:latin typeface="Calibri"/>
                          <a:ea typeface="Calibri"/>
                          <a:cs typeface="Calibri"/>
                        </a:rPr>
                        <a:t>B</a:t>
                      </a:r>
                    </a:p>
                  </a:txBody>
                  <a:tcPr marL="91440" marR="91440" marT="45720" marB="45720">
                    <a:solidFill>
                      <a:srgbClr val="EEF3F6"/>
                    </a:solidFill>
                  </a:tcPr>
                </a:tc>
                <a:tc>
                  <a:txBody>
                    <a:bodyPr/>
                    <a:lstStyle/>
                    <a:p>
                      <a:r>
                        <a:rPr sz="2025" b="0">
                          <a:solidFill>
                            <a:srgbClr val="1C3144"/>
                          </a:solidFill>
                          <a:latin typeface="Calibri"/>
                          <a:ea typeface="Calibri"/>
                          <a:cs typeface="Calibri"/>
                        </a:rPr>
                        <a:t>5</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B</a:t>
                      </a:r>
                    </a:p>
                  </a:txBody>
                  <a:tcPr marL="91440" marR="91440" marT="45720" marB="45720">
                    <a:solidFill>
                      <a:srgbClr val="FFFFFF"/>
                    </a:solidFill>
                  </a:tcPr>
                </a:tc>
                <a:tc>
                  <a:txBody>
                    <a:bodyPr/>
                    <a:lstStyle/>
                    <a:p>
                      <a:r>
                        <a:rPr sz="2025" b="0">
                          <a:solidFill>
                            <a:srgbClr val="1C3144"/>
                          </a:solidFill>
                          <a:latin typeface="Calibri"/>
                          <a:ea typeface="Calibri"/>
                          <a:cs typeface="Calibri"/>
                        </a:rPr>
                        <a:t>7</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12CAEED-71B3-429B-BB57-FAF291157FE8}"/>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The four observations total 18 kWh.</a:t>
            </a:r>
          </a:p>
        </p:txBody>
      </p:sp>
      <p:sp>
        <p:nvSpPr>
          <p:cNvPr id="6" name="">
            <a:extLst xmlns:a="http://schemas.openxmlformats.org/drawingml/2006/main">
              <a:ext uri="{FF2B5EF4-FFF2-40B4-BE49-F238E27FC236}">
                <a16:creationId xmlns:a16="http://schemas.microsoft.com/office/drawing/2014/main" id="{416FB768-4DF9-4256-AAA0-D905026CAFD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7</a:t>
            </a:r>
          </a:p>
        </p:txBody>
      </p:sp>
    </p:spTree>
    <p:extLst>
      <p:ext uri="{BB962C8B-B14F-4D97-AF65-F5344CB8AC3E}">
        <p14:creationId xmlns:p14="http://schemas.microsoft.com/office/powerpoint/2010/main" val="153039717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83AB91C-3902-4A5D-B9CF-66646ED195D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41D1590-59A9-490F-B8F3-C758A2D420C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FA089FBE-C85A-433B-BA6A-9ADE5F30179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Words we will use</a:t>
            </a:r>
          </a:p>
        </p:txBody>
      </p:sp>
      <p:sp>
        <p:nvSpPr>
          <p:cNvPr id="4" name="">
            <a:extLst xmlns:a="http://schemas.openxmlformats.org/drawingml/2006/main">
              <a:ext uri="{FF2B5EF4-FFF2-40B4-BE49-F238E27FC236}">
                <a16:creationId xmlns:a16="http://schemas.microsoft.com/office/drawing/2014/main" id="{40CBA603-8C63-4137-8667-28321A1F37F9}"/>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EA0D3ED-0E62-48EE-9112-8279F848C6D4}"/>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Library and pandas</a:t>
            </a:r>
          </a:p>
        </p:txBody>
      </p:sp>
      <p:sp>
        <p:nvSpPr>
          <p:cNvPr id="6" name="">
            <a:extLst xmlns:a="http://schemas.openxmlformats.org/drawingml/2006/main">
              <a:ext uri="{FF2B5EF4-FFF2-40B4-BE49-F238E27FC236}">
                <a16:creationId xmlns:a16="http://schemas.microsoft.com/office/drawing/2014/main" id="{5A544A5E-810C-41EE-A571-EB20989FBE45}"/>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library is reusable code. pandas provides tools for data tables. import pandas as pd makes pd a short name for that library.</a:t>
            </a:r>
          </a:p>
        </p:txBody>
      </p:sp>
      <p:sp>
        <p:nvSpPr>
          <p:cNvPr id="7" name="">
            <a:extLst xmlns:a="http://schemas.openxmlformats.org/drawingml/2006/main">
              <a:ext uri="{FF2B5EF4-FFF2-40B4-BE49-F238E27FC236}">
                <a16:creationId xmlns:a16="http://schemas.microsoft.com/office/drawing/2014/main" id="{C43525F6-6524-4F2E-8869-D0CB91CC6400}"/>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3C99746-821B-4844-9173-162FACD36285}"/>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DataFrame</a:t>
            </a:r>
          </a:p>
        </p:txBody>
      </p:sp>
      <p:sp>
        <p:nvSpPr>
          <p:cNvPr id="9" name="">
            <a:extLst xmlns:a="http://schemas.openxmlformats.org/drawingml/2006/main">
              <a:ext uri="{FF2B5EF4-FFF2-40B4-BE49-F238E27FC236}">
                <a16:creationId xmlns:a16="http://schemas.microsoft.com/office/drawing/2014/main" id="{E7AEF718-F857-43AD-8DF2-8EECC5525A16}"/>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table with named columns and indexed rows. df is just the variable name we choose for this table.</a:t>
            </a:r>
          </a:p>
        </p:txBody>
      </p:sp>
      <p:sp>
        <p:nvSpPr>
          <p:cNvPr id="10" name="">
            <a:extLst xmlns:a="http://schemas.openxmlformats.org/drawingml/2006/main">
              <a:ext uri="{FF2B5EF4-FFF2-40B4-BE49-F238E27FC236}">
                <a16:creationId xmlns:a16="http://schemas.microsoft.com/office/drawing/2014/main" id="{335F85CE-6F16-439C-8A07-295BBCE5CFC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8</a:t>
            </a:r>
          </a:p>
        </p:txBody>
      </p:sp>
    </p:spTree>
    <p:extLst>
      <p:ext uri="{BB962C8B-B14F-4D97-AF65-F5344CB8AC3E}">
        <p14:creationId xmlns:p14="http://schemas.microsoft.com/office/powerpoint/2010/main" val="211326016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32456F6-B8F2-4DC4-B028-871C32C1B03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D29DFA2-CBB4-49B1-96A6-F1CA1658052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899F99C0-009C-4FF5-A4C3-E06FCB36C26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DataFrame is a labelled table</a:t>
            </a:r>
          </a:p>
        </p:txBody>
      </p:sp>
      <p:sp>
        <p:nvSpPr>
          <p:cNvPr id="4" name="">
            <a:extLst xmlns:a="http://schemas.openxmlformats.org/drawingml/2006/main">
              <a:ext uri="{FF2B5EF4-FFF2-40B4-BE49-F238E27FC236}">
                <a16:creationId xmlns:a16="http://schemas.microsoft.com/office/drawing/2014/main" id="{EBFAC5BD-6E8B-4619-8409-E6988399AD91}"/>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D299766-4F7B-434E-A36B-424C32384E23}"/>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pandas is a library: a collection of reusable Python tools.</a:t>
            </a:r>
          </a:p>
        </p:txBody>
      </p:sp>
      <p:sp>
        <p:nvSpPr>
          <p:cNvPr id="6" name="">
            <a:extLst xmlns:a="http://schemas.openxmlformats.org/drawingml/2006/main">
              <a:ext uri="{FF2B5EF4-FFF2-40B4-BE49-F238E27FC236}">
                <a16:creationId xmlns:a16="http://schemas.microsoft.com/office/drawing/2014/main" id="{547EE095-9386-4C7C-8252-F61A7F5D2CC3}"/>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6E35B5D0-9633-45B8-AACF-D13AE80D9D92}"/>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pd is the short name used after import pandas as pd.</a:t>
            </a:r>
          </a:p>
        </p:txBody>
      </p:sp>
      <p:sp>
        <p:nvSpPr>
          <p:cNvPr id="8" name="">
            <a:extLst xmlns:a="http://schemas.openxmlformats.org/drawingml/2006/main">
              <a:ext uri="{FF2B5EF4-FFF2-40B4-BE49-F238E27FC236}">
                <a16:creationId xmlns:a16="http://schemas.microsoft.com/office/drawing/2014/main" id="{B3465A6C-CA48-44B1-ACC9-025FCC165550}"/>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E7BFA848-3232-49EF-BF41-92478B55661B}"/>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pd.DataFrame(...) builds a table. pd.read_csv(...) loads one from a CSV file.</a:t>
            </a:r>
          </a:p>
        </p:txBody>
      </p:sp>
      <p:sp>
        <p:nvSpPr>
          <p:cNvPr id="10" name="">
            <a:extLst xmlns:a="http://schemas.openxmlformats.org/drawingml/2006/main">
              <a:ext uri="{FF2B5EF4-FFF2-40B4-BE49-F238E27FC236}">
                <a16:creationId xmlns:a16="http://schemas.microsoft.com/office/drawing/2014/main" id="{08040BE4-9831-4490-A36C-1115256559F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9</a:t>
            </a:r>
          </a:p>
        </p:txBody>
      </p:sp>
    </p:spTree>
    <p:extLst>
      <p:ext uri="{BB962C8B-B14F-4D97-AF65-F5344CB8AC3E}">
        <p14:creationId xmlns:p14="http://schemas.microsoft.com/office/powerpoint/2010/main" val="76118786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EF6300B-4A81-4B45-9D4B-589DBEA7AC98}"/>
              </a:ext>
            </a:extLst>
          </p:cNvPr>
          <p:cNvSpPr>
            <a:spLocks xmlns:a="http://schemas.openxmlformats.org/drawingml/2006/main" noGrp="1"/>
          </p:cNvSpPr>
          <p:nvPr/>
        </p:nvSpPr>
        <p:spPr>
          <a:xfrm xmlns:a="http://schemas.openxmlformats.org/drawingml/2006/main">
            <a:off x="0" y="0"/>
            <a:ext cx="12191695" cy="9525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5E4D822-FBD6-4D85-869D-CE3313DD12ED}"/>
              </a:ext>
            </a:extLst>
          </p:cNvPr>
          <p:cNvSpPr>
            <a:spLocks xmlns:a="http://schemas.openxmlformats.org/drawingml/2006/main" noGrp="1"/>
          </p:cNvSpPr>
          <p:nvPr/>
        </p:nvSpPr>
        <p:spPr>
          <a:xfrm xmlns:a="http://schemas.openxmlformats.org/drawingml/2006/main">
            <a:off x="476250" y="1905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FFFFFF"/>
                </a:solidFill>
                <a:latin typeface="Calibri"/>
                <a:ea typeface="Calibri"/>
                <a:cs typeface="Calibri"/>
              </a:defRPr>
            </a:pPr>
            <a:r>
              <a:rPr sz="2925" b="1">
                <a:solidFill>
                  <a:srgbClr val="FFFFFF"/>
                </a:solidFill>
                <a:latin typeface="Calibri"/>
                <a:ea typeface="Calibri"/>
                <a:cs typeface="Calibri"/>
              </a:rPr>
              <a:t>A labelled table in Python</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b545017976eb4eb8"/>
          <a:stretch xmlns:a="http://schemas.openxmlformats.org/drawingml/2006/main"/>
        </p:blipFill>
        <p:spPr>
          <a:xfrm xmlns:a="http://schemas.openxmlformats.org/drawingml/2006/main">
            <a:off x="509073" y="1057275"/>
            <a:ext cx="11173854" cy="4619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7985402-D639-4FC1-978C-83FAA41F038A}"/>
              </a:ext>
            </a:extLst>
          </p:cNvPr>
          <p:cNvSpPr>
            <a:spLocks xmlns:a="http://schemas.openxmlformats.org/drawingml/2006/main" noGrp="1"/>
          </p:cNvSpPr>
          <p:nvPr/>
        </p:nvSpPr>
        <p:spPr>
          <a:xfrm xmlns:a="http://schemas.openxmlformats.org/drawingml/2006/main">
            <a:off x="0" y="5810250"/>
            <a:ext cx="12191695" cy="5905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C9F9600-1252-48FE-989D-6261C2A2432D}"/>
              </a:ext>
            </a:extLst>
          </p:cNvPr>
          <p:cNvSpPr>
            <a:spLocks xmlns:a="http://schemas.openxmlformats.org/drawingml/2006/main" noGrp="1"/>
          </p:cNvSpPr>
          <p:nvPr/>
        </p:nvSpPr>
        <p:spPr>
          <a:xfrm xmlns:a="http://schemas.openxmlformats.org/drawingml/2006/main">
            <a:off x="552450" y="58864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A row is an observation. A column is a named field.</a:t>
            </a:r>
          </a:p>
        </p:txBody>
      </p:sp>
      <p:sp>
        <p:nvSpPr>
          <p:cNvPr id="6" name="">
            <a:extLst xmlns:a="http://schemas.openxmlformats.org/drawingml/2006/main">
              <a:ext uri="{FF2B5EF4-FFF2-40B4-BE49-F238E27FC236}">
                <a16:creationId xmlns:a16="http://schemas.microsoft.com/office/drawing/2014/main" id="{0BB7938F-81F3-40D4-A817-C11834248A0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10</a:t>
            </a:r>
          </a:p>
        </p:txBody>
      </p:sp>
    </p:spTree>
    <p:extLst>
      <p:ext uri="{BB962C8B-B14F-4D97-AF65-F5344CB8AC3E}">
        <p14:creationId xmlns:p14="http://schemas.microsoft.com/office/powerpoint/2010/main" val="123059947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0205EFA-B0F4-463C-A260-E008F6FDAB7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AC1505C-203C-4093-986D-FBED7C97D5E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4463EC2C-418E-4061-A8A1-AB501982597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Words we will use</a:t>
            </a:r>
          </a:p>
        </p:txBody>
      </p:sp>
      <p:sp>
        <p:nvSpPr>
          <p:cNvPr id="4" name="">
            <a:extLst xmlns:a="http://schemas.openxmlformats.org/drawingml/2006/main">
              <a:ext uri="{FF2B5EF4-FFF2-40B4-BE49-F238E27FC236}">
                <a16:creationId xmlns:a16="http://schemas.microsoft.com/office/drawing/2014/main" id="{2F9DCD56-23A2-42CC-8EE6-15BCB1E9C32C}"/>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FA5DD60-3E73-49EC-BDA6-93162D95A294}"/>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Series</a:t>
            </a:r>
          </a:p>
        </p:txBody>
      </p:sp>
      <p:sp>
        <p:nvSpPr>
          <p:cNvPr id="6" name="">
            <a:extLst xmlns:a="http://schemas.openxmlformats.org/drawingml/2006/main">
              <a:ext uri="{FF2B5EF4-FFF2-40B4-BE49-F238E27FC236}">
                <a16:creationId xmlns:a16="http://schemas.microsoft.com/office/drawing/2014/main" id="{6A3FD599-61BF-4DFF-8837-915220392CF2}"/>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One labelled column. df["kwh"] selects the column named kwh.</a:t>
            </a:r>
          </a:p>
        </p:txBody>
      </p:sp>
      <p:sp>
        <p:nvSpPr>
          <p:cNvPr id="7" name="">
            <a:extLst xmlns:a="http://schemas.openxmlformats.org/drawingml/2006/main">
              <a:ext uri="{FF2B5EF4-FFF2-40B4-BE49-F238E27FC236}">
                <a16:creationId xmlns:a16="http://schemas.microsoft.com/office/drawing/2014/main" id="{8C3E26FA-D5D6-43F4-857D-A590A6A2FAC2}"/>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D1544AF-3D26-43A1-9D68-418E35272ACC}"/>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Method and attribute</a:t>
            </a:r>
          </a:p>
        </p:txBody>
      </p:sp>
      <p:sp>
        <p:nvSpPr>
          <p:cNvPr id="9" name="">
            <a:extLst xmlns:a="http://schemas.openxmlformats.org/drawingml/2006/main">
              <a:ext uri="{FF2B5EF4-FFF2-40B4-BE49-F238E27FC236}">
                <a16:creationId xmlns:a16="http://schemas.microsoft.com/office/drawing/2014/main" id="{7BA3534E-5066-4058-B1EC-753FC18A5F5D}"/>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method performs an operation, as in df.head(). An attribute provides a stored property, as in df.shape. Parentheses call an operation.</a:t>
            </a:r>
          </a:p>
        </p:txBody>
      </p:sp>
      <p:sp>
        <p:nvSpPr>
          <p:cNvPr id="10" name="">
            <a:extLst xmlns:a="http://schemas.openxmlformats.org/drawingml/2006/main">
              <a:ext uri="{FF2B5EF4-FFF2-40B4-BE49-F238E27FC236}">
                <a16:creationId xmlns:a16="http://schemas.microsoft.com/office/drawing/2014/main" id="{5356C7FA-E6B2-4F8E-8D96-96D29F22AD7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11</a:t>
            </a:r>
          </a:p>
        </p:txBody>
      </p:sp>
    </p:spTree>
    <p:extLst>
      <p:ext uri="{BB962C8B-B14F-4D97-AF65-F5344CB8AC3E}">
        <p14:creationId xmlns:p14="http://schemas.microsoft.com/office/powerpoint/2010/main" val="188147434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C186FBF-B3EC-4143-911E-066349BD978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97D6237-BE6D-41C8-B96E-A2367219419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6C78828-3FBD-4823-827C-770C027432F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Reading pandas syntax</a:t>
            </a:r>
          </a:p>
        </p:txBody>
      </p:sp>
      <p:sp>
        <p:nvSpPr>
          <p:cNvPr id="4" name="">
            <a:extLst xmlns:a="http://schemas.openxmlformats.org/drawingml/2006/main">
              <a:ext uri="{FF2B5EF4-FFF2-40B4-BE49-F238E27FC236}">
                <a16:creationId xmlns:a16="http://schemas.microsoft.com/office/drawing/2014/main" id="{D4964133-F36E-48B2-B62B-B70DB4A8F3E8}"/>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EB008B0C-8EC1-4580-AB35-590B7C5563BF}"/>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import pandas as pd loads the library and gives it a short name.</a:t>
            </a:r>
          </a:p>
        </p:txBody>
      </p:sp>
      <p:sp>
        <p:nvSpPr>
          <p:cNvPr id="6" name="">
            <a:extLst xmlns:a="http://schemas.openxmlformats.org/drawingml/2006/main">
              <a:ext uri="{FF2B5EF4-FFF2-40B4-BE49-F238E27FC236}">
                <a16:creationId xmlns:a16="http://schemas.microsoft.com/office/drawing/2014/main" id="{50A4D90C-871F-4A5A-B800-D66B93C27257}"/>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32A6D40-49D1-44BC-A6AC-47AC76F26533}"/>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pd.read_csv("file.csv") calls a function. The quoted text is the file path.</a:t>
            </a:r>
          </a:p>
        </p:txBody>
      </p:sp>
      <p:sp>
        <p:nvSpPr>
          <p:cNvPr id="8" name="">
            <a:extLst xmlns:a="http://schemas.openxmlformats.org/drawingml/2006/main">
              <a:ext uri="{FF2B5EF4-FFF2-40B4-BE49-F238E27FC236}">
                <a16:creationId xmlns:a16="http://schemas.microsoft.com/office/drawing/2014/main" id="{D77AAA84-263C-4A8E-91AD-3E14077D64D0}"/>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D86ABC9-9E40-422D-9D6A-590CDA955861}"/>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df["kwh"] selects a column. df["kwh"].mean() calls a method on that column.</a:t>
            </a:r>
          </a:p>
        </p:txBody>
      </p:sp>
      <p:sp>
        <p:nvSpPr>
          <p:cNvPr id="10" name="">
            <a:extLst xmlns:a="http://schemas.openxmlformats.org/drawingml/2006/main">
              <a:ext uri="{FF2B5EF4-FFF2-40B4-BE49-F238E27FC236}">
                <a16:creationId xmlns:a16="http://schemas.microsoft.com/office/drawing/2014/main" id="{B79B9F75-FB38-49FB-8526-025A623E199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12</a:t>
            </a:r>
          </a:p>
        </p:txBody>
      </p:sp>
    </p:spTree>
    <p:extLst>
      <p:ext uri="{BB962C8B-B14F-4D97-AF65-F5344CB8AC3E}">
        <p14:creationId xmlns:p14="http://schemas.microsoft.com/office/powerpoint/2010/main" val="193912616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7949791-BCAD-489F-A515-FBB46D692D3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8E929CA-2781-4930-B0EB-887ABE6C87D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7E54E0F7-6D30-448B-812D-7D4A17739FC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Build the table before asking questions</a:t>
            </a:r>
          </a:p>
        </p:txBody>
      </p:sp>
      <p:sp>
        <p:nvSpPr>
          <p:cNvPr id="4" name="">
            <a:extLst xmlns:a="http://schemas.openxmlformats.org/drawingml/2006/main">
              <a:ext uri="{FF2B5EF4-FFF2-40B4-BE49-F238E27FC236}">
                <a16:creationId xmlns:a16="http://schemas.microsoft.com/office/drawing/2014/main" id="{D68CB431-3061-4D4A-B5BE-BAD12038357A}"/>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95405D5-461A-4986-9223-A091CC00773D}"/>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import</a:t>
            </a:r>
            <a:r>
              <a:rPr sz="2175" b="0">
                <a:solidFill>
                  <a:srgbClr val="F4F7FA"/>
                </a:solidFill>
                <a:latin typeface="Courier New"/>
                <a:ea typeface="Courier New"/>
                <a:cs typeface="Courier New"/>
              </a:rPr>
              <a:t> pandas as pd</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df = pd.DataFrame({"building": ["A", "A", "B", "B"],</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"kwh": [2, 4, 5, 7]})</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print(df)</a:t>
            </a:r>
          </a:p>
        </p:txBody>
      </p:sp>
      <p:sp>
        <p:nvSpPr>
          <p:cNvPr id="6" name="">
            <a:extLst xmlns:a="http://schemas.openxmlformats.org/drawingml/2006/main">
              <a:ext uri="{FF2B5EF4-FFF2-40B4-BE49-F238E27FC236}">
                <a16:creationId xmlns:a16="http://schemas.microsoft.com/office/drawing/2014/main" id="{9D71DC9C-3E35-45A6-ABAE-DEC0CB13F06E}"/>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import loads a library. from selects a tool from it.</a:t>
            </a:r>
          </a:p>
        </p:txBody>
      </p:sp>
      <p:sp>
        <p:nvSpPr>
          <p:cNvPr id="7" name="">
            <a:extLst xmlns:a="http://schemas.openxmlformats.org/drawingml/2006/main">
              <a:ext uri="{FF2B5EF4-FFF2-40B4-BE49-F238E27FC236}">
                <a16:creationId xmlns:a16="http://schemas.microsoft.com/office/drawing/2014/main" id="{C75A6226-E809-464B-B195-7B1854C44D04}"/>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Each dictionary key becomes a column name. Equal-length lists supply its rows.</a:t>
            </a:r>
          </a:p>
        </p:txBody>
      </p:sp>
      <p:sp>
        <p:nvSpPr>
          <p:cNvPr id="8" name="">
            <a:extLst xmlns:a="http://schemas.openxmlformats.org/drawingml/2006/main">
              <a:ext uri="{FF2B5EF4-FFF2-40B4-BE49-F238E27FC236}">
                <a16:creationId xmlns:a16="http://schemas.microsoft.com/office/drawing/2014/main" id="{C0B6A396-A121-4980-8B06-8FE11815182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13</a:t>
            </a:r>
          </a:p>
        </p:txBody>
      </p:sp>
    </p:spTree>
    <p:extLst>
      <p:ext uri="{BB962C8B-B14F-4D97-AF65-F5344CB8AC3E}">
        <p14:creationId xmlns:p14="http://schemas.microsoft.com/office/powerpoint/2010/main" val="180475822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DDD89B3-A75B-412E-9F98-723CCF3E79A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7A719F1-A7B1-47F3-8E99-A81A5A96DE9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B0BAEB27-DD1E-4F05-9F70-B98638F4B9B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Select a column and calculate its mean</a:t>
            </a:r>
          </a:p>
        </p:txBody>
      </p:sp>
      <p:sp>
        <p:nvSpPr>
          <p:cNvPr id="4" name="">
            <a:extLst xmlns:a="http://schemas.openxmlformats.org/drawingml/2006/main">
              <a:ext uri="{FF2B5EF4-FFF2-40B4-BE49-F238E27FC236}">
                <a16:creationId xmlns:a16="http://schemas.microsoft.com/office/drawing/2014/main" id="{51FABC15-C3B9-4473-A914-F7D7D8C31296}"/>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4BC66BD-A316-4E26-B788-DFC508D255D7}"/>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print(df["kwh"])</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print(df["kwh"].mean())</a:t>
            </a:r>
          </a:p>
        </p:txBody>
      </p:sp>
      <p:sp>
        <p:nvSpPr>
          <p:cNvPr id="6" name="">
            <a:extLst xmlns:a="http://schemas.openxmlformats.org/drawingml/2006/main">
              <a:ext uri="{FF2B5EF4-FFF2-40B4-BE49-F238E27FC236}">
                <a16:creationId xmlns:a16="http://schemas.microsoft.com/office/drawing/2014/main" id="{48FB4630-C162-448A-9C09-93B2E917F99E}"/>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927AA392-DC18-4C2E-B0C5-BFF29FBC1AB9}"/>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print displays a value below the cell.</a:t>
            </a:r>
          </a:p>
        </p:txBody>
      </p:sp>
      <p:sp>
        <p:nvSpPr>
          <p:cNvPr id="8" name="">
            <a:extLst xmlns:a="http://schemas.openxmlformats.org/drawingml/2006/main">
              <a:ext uri="{FF2B5EF4-FFF2-40B4-BE49-F238E27FC236}">
                <a16:creationId xmlns:a16="http://schemas.microsoft.com/office/drawing/2014/main" id="{8C2BC837-BEE9-4A9F-B15B-C1C87798A690}"/>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Square brackets create a list or select an item.</a:t>
            </a:r>
          </a:p>
        </p:txBody>
      </p:sp>
      <p:sp>
        <p:nvSpPr>
          <p:cNvPr id="9" name="">
            <a:extLst xmlns:a="http://schemas.openxmlformats.org/drawingml/2006/main">
              <a:ext uri="{FF2B5EF4-FFF2-40B4-BE49-F238E27FC236}">
                <a16:creationId xmlns:a16="http://schemas.microsoft.com/office/drawing/2014/main" id="{3A1BFFC7-B5D8-47C9-BB36-90FC50A9E406}"/>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The four numbers are 2, 4, 5 and 7. Their mean is 18 / 4 = 4.5 kWh.</a:t>
            </a:r>
          </a:p>
        </p:txBody>
      </p:sp>
      <p:sp>
        <p:nvSpPr>
          <p:cNvPr id="10" name="">
            <a:extLst xmlns:a="http://schemas.openxmlformats.org/drawingml/2006/main">
              <a:ext uri="{FF2B5EF4-FFF2-40B4-BE49-F238E27FC236}">
                <a16:creationId xmlns:a16="http://schemas.microsoft.com/office/drawing/2014/main" id="{A1E24DE1-CEDB-4E92-BF37-0D37D798FDD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14</a:t>
            </a:r>
          </a:p>
        </p:txBody>
      </p:sp>
    </p:spTree>
    <p:extLst>
      <p:ext uri="{BB962C8B-B14F-4D97-AF65-F5344CB8AC3E}">
        <p14:creationId xmlns:p14="http://schemas.microsoft.com/office/powerpoint/2010/main" val="98945670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20F2FAD-34A4-4DC2-B0BA-A94CFFF0637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D553606-5C23-4834-BCD1-C1DA030CAFA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8B1A22E2-EE93-4D57-9420-5E473604C75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Mask and filter</a:t>
            </a:r>
          </a:p>
        </p:txBody>
      </p:sp>
      <p:sp>
        <p:nvSpPr>
          <p:cNvPr id="4" name="">
            <a:extLst xmlns:a="http://schemas.openxmlformats.org/drawingml/2006/main">
              <a:ext uri="{FF2B5EF4-FFF2-40B4-BE49-F238E27FC236}">
                <a16:creationId xmlns:a16="http://schemas.microsoft.com/office/drawing/2014/main" id="{CF8FF469-89D9-4723-9FE5-DA9045825760}"/>
              </a:ext>
            </a:extLst>
          </p:cNvPr>
          <p:cNvSpPr>
            <a:spLocks xmlns:a="http://schemas.openxmlformats.org/drawingml/2006/main" noGrp="1"/>
          </p:cNvSpPr>
          <p:nvPr/>
        </p:nvSpPr>
        <p:spPr>
          <a:xfrm xmlns:a="http://schemas.openxmlformats.org/drawingml/2006/main">
            <a:off x="590550" y="1714500"/>
            <a:ext cx="110109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FF4B5A7-377F-45BE-BC77-62D57DFB00E8}"/>
              </a:ext>
            </a:extLst>
          </p:cNvPr>
          <p:cNvSpPr>
            <a:spLocks xmlns:a="http://schemas.openxmlformats.org/drawingml/2006/main" noGrp="1"/>
          </p:cNvSpPr>
          <p:nvPr/>
        </p:nvSpPr>
        <p:spPr>
          <a:xfrm xmlns:a="http://schemas.openxmlformats.org/drawingml/2006/main">
            <a:off x="828675" y="1952625"/>
            <a:ext cx="10439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4572E"/>
                </a:solidFill>
                <a:latin typeface="Calibri"/>
                <a:ea typeface="Calibri"/>
                <a:cs typeface="Calibri"/>
              </a:defRPr>
            </a:pPr>
            <a:r>
              <a:rPr sz="3150" b="1">
                <a:solidFill>
                  <a:srgbClr val="E4572E"/>
                </a:solidFill>
                <a:latin typeface="Calibri"/>
                <a:ea typeface="Calibri"/>
                <a:cs typeface="Calibri"/>
              </a:rPr>
              <a:t>Mask and filter</a:t>
            </a:r>
          </a:p>
        </p:txBody>
      </p:sp>
      <p:sp>
        <p:nvSpPr>
          <p:cNvPr id="6" name="">
            <a:extLst xmlns:a="http://schemas.openxmlformats.org/drawingml/2006/main">
              <a:ext uri="{FF2B5EF4-FFF2-40B4-BE49-F238E27FC236}">
                <a16:creationId xmlns:a16="http://schemas.microsoft.com/office/drawing/2014/main" id="{E1F59E92-A164-4875-839E-AC697EBDCF7D}"/>
              </a:ext>
            </a:extLst>
          </p:cNvPr>
          <p:cNvSpPr>
            <a:spLocks xmlns:a="http://schemas.openxmlformats.org/drawingml/2006/main" noGrp="1"/>
          </p:cNvSpPr>
          <p:nvPr/>
        </p:nvSpPr>
        <p:spPr>
          <a:xfrm xmlns:a="http://schemas.openxmlformats.org/drawingml/2006/main">
            <a:off x="828675" y="3067050"/>
            <a:ext cx="104394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A comparison produces True/False for each row. df[mask] keeps the True rows.</a:t>
            </a:r>
          </a:p>
        </p:txBody>
      </p:sp>
      <p:sp>
        <p:nvSpPr>
          <p:cNvPr id="7" name="">
            <a:extLst xmlns:a="http://schemas.openxmlformats.org/drawingml/2006/main">
              <a:ext uri="{FF2B5EF4-FFF2-40B4-BE49-F238E27FC236}">
                <a16:creationId xmlns:a16="http://schemas.microsoft.com/office/drawing/2014/main" id="{228BF045-4722-4186-A406-EB336F116DC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15</a:t>
            </a:r>
          </a:p>
        </p:txBody>
      </p:sp>
    </p:spTree>
    <p:extLst>
      <p:ext uri="{BB962C8B-B14F-4D97-AF65-F5344CB8AC3E}">
        <p14:creationId xmlns:p14="http://schemas.microsoft.com/office/powerpoint/2010/main" val="135040051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B236F80-424A-4EF0-AF72-BA52BF68974D}"/>
              </a:ext>
            </a:extLst>
          </p:cNvPr>
          <p:cNvSpPr>
            <a:spLocks xmlns:a="http://schemas.openxmlformats.org/drawingml/2006/main" noGrp="1"/>
          </p:cNvSpPr>
          <p:nvPr/>
        </p:nvSpPr>
        <p:spPr>
          <a:xfrm xmlns:a="http://schemas.openxmlformats.org/drawingml/2006/main">
            <a:off x="0" y="0"/>
            <a:ext cx="12191695" cy="9525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A6DA1D3-370E-489C-A40C-CE41EF432F3B}"/>
              </a:ext>
            </a:extLst>
          </p:cNvPr>
          <p:cNvSpPr>
            <a:spLocks xmlns:a="http://schemas.openxmlformats.org/drawingml/2006/main" noGrp="1"/>
          </p:cNvSpPr>
          <p:nvPr/>
        </p:nvSpPr>
        <p:spPr>
          <a:xfrm xmlns:a="http://schemas.openxmlformats.org/drawingml/2006/main">
            <a:off x="476250" y="1905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FFFFFF"/>
                </a:solidFill>
                <a:latin typeface="Calibri"/>
                <a:ea typeface="Calibri"/>
                <a:cs typeface="Calibri"/>
              </a:defRPr>
            </a:pPr>
            <a:r>
              <a:rPr sz="2925" b="1">
                <a:solidFill>
                  <a:srgbClr val="FFFFFF"/>
                </a:solidFill>
                <a:latin typeface="Calibri"/>
                <a:ea typeface="Calibri"/>
                <a:cs typeface="Calibri"/>
              </a:rPr>
              <a:t>A comparison creates a Boolean mask</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5d6f9373780849cd"/>
          <a:stretch xmlns:a="http://schemas.openxmlformats.org/drawingml/2006/main"/>
        </p:blipFill>
        <p:spPr>
          <a:xfrm xmlns:a="http://schemas.openxmlformats.org/drawingml/2006/main">
            <a:off x="717043" y="1057275"/>
            <a:ext cx="10757915" cy="4619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C7D075E-38D9-49EB-BD95-EE4D724ADC9B}"/>
              </a:ext>
            </a:extLst>
          </p:cNvPr>
          <p:cNvSpPr>
            <a:spLocks xmlns:a="http://schemas.openxmlformats.org/drawingml/2006/main" noGrp="1"/>
          </p:cNvSpPr>
          <p:nvPr/>
        </p:nvSpPr>
        <p:spPr>
          <a:xfrm xmlns:a="http://schemas.openxmlformats.org/drawingml/2006/main">
            <a:off x="0" y="5810250"/>
            <a:ext cx="12191695" cy="5905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07067E5-96D7-47BF-99C1-F18FAD0A1054}"/>
              </a:ext>
            </a:extLst>
          </p:cNvPr>
          <p:cNvSpPr>
            <a:spLocks xmlns:a="http://schemas.openxmlformats.org/drawingml/2006/main" noGrp="1"/>
          </p:cNvSpPr>
          <p:nvPr/>
        </p:nvSpPr>
        <p:spPr>
          <a:xfrm xmlns:a="http://schemas.openxmlformats.org/drawingml/2006/main">
            <a:off x="552450" y="58864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True keeps a row. False excludes it from this selection.</a:t>
            </a:r>
          </a:p>
        </p:txBody>
      </p:sp>
      <p:sp>
        <p:nvSpPr>
          <p:cNvPr id="6" name="">
            <a:extLst xmlns:a="http://schemas.openxmlformats.org/drawingml/2006/main">
              <a:ext uri="{FF2B5EF4-FFF2-40B4-BE49-F238E27FC236}">
                <a16:creationId xmlns:a16="http://schemas.microsoft.com/office/drawing/2014/main" id="{B5AB1E88-7AAC-430A-8D25-5CCE41A6A34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16</a:t>
            </a:r>
          </a:p>
        </p:txBody>
      </p:sp>
    </p:spTree>
    <p:extLst>
      <p:ext uri="{BB962C8B-B14F-4D97-AF65-F5344CB8AC3E}">
        <p14:creationId xmlns:p14="http://schemas.microsoft.com/office/powerpoint/2010/main" val="179652301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A58EBB6-532A-4642-9F87-B5D0142417E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4BBE06C-89E2-4275-8BBD-FBD7D6A896C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6CDD762D-07C3-49CD-A63C-CC826D464BE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Keep rows where the comparison is true</a:t>
            </a:r>
          </a:p>
        </p:txBody>
      </p:sp>
      <p:sp>
        <p:nvSpPr>
          <p:cNvPr id="4" name="">
            <a:extLst xmlns:a="http://schemas.openxmlformats.org/drawingml/2006/main">
              <a:ext uri="{FF2B5EF4-FFF2-40B4-BE49-F238E27FC236}">
                <a16:creationId xmlns:a16="http://schemas.microsoft.com/office/drawing/2014/main" id="{9FB6D796-F468-415A-919E-E273ECE2715C}"/>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78C2957-D097-416A-A3F1-49A0A3430328}"/>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mask = df["kwh"] &gt; 4</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print(mask)</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print(df[mask])</a:t>
            </a:r>
          </a:p>
        </p:txBody>
      </p:sp>
      <p:sp>
        <p:nvSpPr>
          <p:cNvPr id="6" name="">
            <a:extLst xmlns:a="http://schemas.openxmlformats.org/drawingml/2006/main">
              <a:ext uri="{FF2B5EF4-FFF2-40B4-BE49-F238E27FC236}">
                <a16:creationId xmlns:a16="http://schemas.microsoft.com/office/drawing/2014/main" id="{316FF2AE-24F0-4A53-8522-59AEE3129C41}"/>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912DC8B9-BD04-481A-B77F-E3A27D7EDA6D}"/>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print displays a value below the cell.</a:t>
            </a:r>
          </a:p>
        </p:txBody>
      </p:sp>
      <p:sp>
        <p:nvSpPr>
          <p:cNvPr id="8" name="">
            <a:extLst xmlns:a="http://schemas.openxmlformats.org/drawingml/2006/main">
              <a:ext uri="{FF2B5EF4-FFF2-40B4-BE49-F238E27FC236}">
                <a16:creationId xmlns:a16="http://schemas.microsoft.com/office/drawing/2014/main" id="{DCF4DB3D-C2EC-4359-BDAC-390AD3BE5F13}"/>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Square brackets create a list or select an item.</a:t>
            </a:r>
          </a:p>
        </p:txBody>
      </p:sp>
      <p:sp>
        <p:nvSpPr>
          <p:cNvPr id="9" name="">
            <a:extLst xmlns:a="http://schemas.openxmlformats.org/drawingml/2006/main">
              <a:ext uri="{FF2B5EF4-FFF2-40B4-BE49-F238E27FC236}">
                <a16:creationId xmlns:a16="http://schemas.microsoft.com/office/drawing/2014/main" id="{0C4C4379-00B5-46B1-AAAC-088D21801E11}"/>
              </a:ext>
            </a:extLst>
          </p:cNvPr>
          <p:cNvSpPr>
            <a:spLocks xmlns:a="http://schemas.openxmlformats.org/drawingml/2006/main" noGrp="1"/>
          </p:cNvSpPr>
          <p:nvPr/>
        </p:nvSpPr>
        <p:spPr>
          <a:xfrm xmlns:a="http://schemas.openxmlformats.org/drawingml/2006/main">
            <a:off x="8096250" y="43434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 assigns the value on the right to the name on the left.</a:t>
            </a:r>
          </a:p>
        </p:txBody>
      </p:sp>
      <p:sp>
        <p:nvSpPr>
          <p:cNvPr id="10" name="">
            <a:extLst xmlns:a="http://schemas.openxmlformats.org/drawingml/2006/main">
              <a:ext uri="{FF2B5EF4-FFF2-40B4-BE49-F238E27FC236}">
                <a16:creationId xmlns:a16="http://schemas.microsoft.com/office/drawing/2014/main" id="{1D3CF7FD-0810-4512-8B21-58562AA91D64}"/>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The mask is False, False, True, True. The selected rows contain 5 and 7 kWh.</a:t>
            </a:r>
          </a:p>
        </p:txBody>
      </p:sp>
      <p:sp>
        <p:nvSpPr>
          <p:cNvPr id="11" name="">
            <a:extLst xmlns:a="http://schemas.openxmlformats.org/drawingml/2006/main">
              <a:ext uri="{FF2B5EF4-FFF2-40B4-BE49-F238E27FC236}">
                <a16:creationId xmlns:a16="http://schemas.microsoft.com/office/drawing/2014/main" id="{D173EB07-063A-4DA4-A21A-856A70209FE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17</a:t>
            </a:r>
          </a:p>
        </p:txBody>
      </p:sp>
    </p:spTree>
    <p:extLst>
      <p:ext uri="{BB962C8B-B14F-4D97-AF65-F5344CB8AC3E}">
        <p14:creationId xmlns:p14="http://schemas.microsoft.com/office/powerpoint/2010/main" val="135522043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DD4F89E-66F7-4442-A8D6-0010671753F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43D040F-656C-45EC-8D03-73FA160079C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448B1181-F41D-4F0C-A4DA-F4AAD879EFF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groupby and aggregation</a:t>
            </a:r>
          </a:p>
        </p:txBody>
      </p:sp>
      <p:sp>
        <p:nvSpPr>
          <p:cNvPr id="4" name="">
            <a:extLst xmlns:a="http://schemas.openxmlformats.org/drawingml/2006/main">
              <a:ext uri="{FF2B5EF4-FFF2-40B4-BE49-F238E27FC236}">
                <a16:creationId xmlns:a16="http://schemas.microsoft.com/office/drawing/2014/main" id="{7768DADB-852E-4204-B70E-47409E989EF9}"/>
              </a:ext>
            </a:extLst>
          </p:cNvPr>
          <p:cNvSpPr>
            <a:spLocks xmlns:a="http://schemas.openxmlformats.org/drawingml/2006/main" noGrp="1"/>
          </p:cNvSpPr>
          <p:nvPr/>
        </p:nvSpPr>
        <p:spPr>
          <a:xfrm xmlns:a="http://schemas.openxmlformats.org/drawingml/2006/main">
            <a:off x="590550" y="1714500"/>
            <a:ext cx="110109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D8F5B23-C1CD-4F6D-A9A3-4C1ED0EF8A12}"/>
              </a:ext>
            </a:extLst>
          </p:cNvPr>
          <p:cNvSpPr>
            <a:spLocks xmlns:a="http://schemas.openxmlformats.org/drawingml/2006/main" noGrp="1"/>
          </p:cNvSpPr>
          <p:nvPr/>
        </p:nvSpPr>
        <p:spPr>
          <a:xfrm xmlns:a="http://schemas.openxmlformats.org/drawingml/2006/main">
            <a:off x="828675" y="1952625"/>
            <a:ext cx="10439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4572E"/>
                </a:solidFill>
                <a:latin typeface="Calibri"/>
                <a:ea typeface="Calibri"/>
                <a:cs typeface="Calibri"/>
              </a:defRPr>
            </a:pPr>
            <a:r>
              <a:rPr sz="3150" b="1">
                <a:solidFill>
                  <a:srgbClr val="E4572E"/>
                </a:solidFill>
                <a:latin typeface="Calibri"/>
                <a:ea typeface="Calibri"/>
                <a:cs typeface="Calibri"/>
              </a:rPr>
              <a:t>groupby and aggregation</a:t>
            </a:r>
          </a:p>
        </p:txBody>
      </p:sp>
      <p:sp>
        <p:nvSpPr>
          <p:cNvPr id="6" name="">
            <a:extLst xmlns:a="http://schemas.openxmlformats.org/drawingml/2006/main">
              <a:ext uri="{FF2B5EF4-FFF2-40B4-BE49-F238E27FC236}">
                <a16:creationId xmlns:a16="http://schemas.microsoft.com/office/drawing/2014/main" id="{945D3163-FCA6-4720-B3E4-CFAFBCC7E712}"/>
              </a:ext>
            </a:extLst>
          </p:cNvPr>
          <p:cNvSpPr>
            <a:spLocks xmlns:a="http://schemas.openxmlformats.org/drawingml/2006/main" noGrp="1"/>
          </p:cNvSpPr>
          <p:nvPr/>
        </p:nvSpPr>
        <p:spPr>
          <a:xfrm xmlns:a="http://schemas.openxmlformats.org/drawingml/2006/main">
            <a:off x="828675" y="3067050"/>
            <a:ext cx="104394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groupby collects rows with the same label. An aggregation such as sum or mean returns a summary for each group.</a:t>
            </a:r>
          </a:p>
        </p:txBody>
      </p:sp>
      <p:sp>
        <p:nvSpPr>
          <p:cNvPr id="7" name="">
            <a:extLst xmlns:a="http://schemas.openxmlformats.org/drawingml/2006/main">
              <a:ext uri="{FF2B5EF4-FFF2-40B4-BE49-F238E27FC236}">
                <a16:creationId xmlns:a16="http://schemas.microsoft.com/office/drawing/2014/main" id="{C80F2465-A282-478C-867B-0CB62B9FD88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18</a:t>
            </a:r>
          </a:p>
        </p:txBody>
      </p:sp>
    </p:spTree>
    <p:extLst>
      <p:ext uri="{BB962C8B-B14F-4D97-AF65-F5344CB8AC3E}">
        <p14:creationId xmlns:p14="http://schemas.microsoft.com/office/powerpoint/2010/main" val="193366081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8BFA710-22F8-488A-B0FC-10E9A6B7B6D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8526A87-CE6D-4144-81F4-DAB25AF7CDF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588424DB-F67E-4309-92D9-2F71746C962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Selection and grouping answer different questions</a:t>
            </a:r>
          </a:p>
        </p:txBody>
      </p:sp>
      <p:sp>
        <p:nvSpPr>
          <p:cNvPr id="4" name="">
            <a:extLst xmlns:a="http://schemas.openxmlformats.org/drawingml/2006/main">
              <a:ext uri="{FF2B5EF4-FFF2-40B4-BE49-F238E27FC236}">
                <a16:creationId xmlns:a16="http://schemas.microsoft.com/office/drawing/2014/main" id="{2DA55B8E-95B5-479D-BA64-1EC407BF4EE5}"/>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272F309-9094-461F-8B9F-68A0D1F306C9}"/>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comparison produces True or False for every row.</a:t>
            </a:r>
          </a:p>
        </p:txBody>
      </p:sp>
      <p:sp>
        <p:nvSpPr>
          <p:cNvPr id="6" name="">
            <a:extLst xmlns:a="http://schemas.openxmlformats.org/drawingml/2006/main">
              <a:ext uri="{FF2B5EF4-FFF2-40B4-BE49-F238E27FC236}">
                <a16:creationId xmlns:a16="http://schemas.microsoft.com/office/drawing/2014/main" id="{A4FFFA76-BDD2-4E01-B39E-CDDB4A786056}"/>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FE917DC-9DAB-42B0-9BFA-13C0B2FCB136}"/>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Filtering keeps rows whose comparison is True.</a:t>
            </a:r>
          </a:p>
        </p:txBody>
      </p:sp>
      <p:sp>
        <p:nvSpPr>
          <p:cNvPr id="8" name="">
            <a:extLst xmlns:a="http://schemas.openxmlformats.org/drawingml/2006/main">
              <a:ext uri="{FF2B5EF4-FFF2-40B4-BE49-F238E27FC236}">
                <a16:creationId xmlns:a16="http://schemas.microsoft.com/office/drawing/2014/main" id="{D530D9BF-5B4E-4FA8-90E7-ED0306F87C1F}"/>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18997B4-28EF-420B-9B65-F57387C624E9}"/>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Grouping collects rows with the same label before calculating a total or mean.</a:t>
            </a:r>
          </a:p>
        </p:txBody>
      </p:sp>
      <p:sp>
        <p:nvSpPr>
          <p:cNvPr id="10" name="">
            <a:extLst xmlns:a="http://schemas.openxmlformats.org/drawingml/2006/main">
              <a:ext uri="{FF2B5EF4-FFF2-40B4-BE49-F238E27FC236}">
                <a16:creationId xmlns:a16="http://schemas.microsoft.com/office/drawing/2014/main" id="{669ABF79-0D72-4CA7-9416-EAAD9313904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19</a:t>
            </a:r>
          </a:p>
        </p:txBody>
      </p:sp>
    </p:spTree>
    <p:extLst>
      <p:ext uri="{BB962C8B-B14F-4D97-AF65-F5344CB8AC3E}">
        <p14:creationId xmlns:p14="http://schemas.microsoft.com/office/powerpoint/2010/main" val="39172567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4039D21-2AE9-4D1C-91AB-F3169A9E17D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500A2FA-7456-47C6-8C08-046E884AA9F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34D59EF1-8438-4227-A80B-E20372A4CAB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chained expression is several small steps</a:t>
            </a:r>
          </a:p>
        </p:txBody>
      </p:sp>
      <p:graphicFrame>
        <p:nvGraphicFramePr>
          <p:cNvPr id="10" name=""/>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666750">
                <a:tc>
                  <a:txBody>
                    <a:bodyPr/>
                    <a:lstStyle/>
                    <a:p>
                      <a:r>
                        <a:rPr sz="2025" b="1">
                          <a:solidFill>
                            <a:srgbClr val="FFFFFF"/>
                          </a:solidFill>
                          <a:latin typeface="Calibri"/>
                          <a:ea typeface="Calibri"/>
                          <a:cs typeface="Calibri"/>
                        </a:rPr>
                        <a:t>Step</a:t>
                      </a:r>
                    </a:p>
                  </a:txBody>
                  <a:tcPr marL="91440" marR="91440" marT="45720" marB="45720">
                    <a:solidFill>
                      <a:srgbClr val="2E7D6F"/>
                    </a:solidFill>
                  </a:tcPr>
                </a:tc>
                <a:tc>
                  <a:txBody>
                    <a:bodyPr/>
                    <a:lstStyle/>
                    <a:p>
                      <a:r>
                        <a:rPr sz="2025" b="1">
                          <a:solidFill>
                            <a:srgbClr val="FFFFFF"/>
                          </a:solidFill>
                          <a:latin typeface="Calibri"/>
                          <a:ea typeface="Calibri"/>
                          <a:cs typeface="Calibri"/>
                        </a:rPr>
                        <a:t>Expression</a:t>
                      </a:r>
                    </a:p>
                  </a:txBody>
                  <a:tcPr marL="91440" marR="91440" marT="45720" marB="45720">
                    <a:solidFill>
                      <a:srgbClr val="2E7D6F"/>
                    </a:solidFill>
                  </a:tcPr>
                </a:tc>
                <a:tc>
                  <a:txBody>
                    <a:bodyPr/>
                    <a:lstStyle/>
                    <a:p>
                      <a:r>
                        <a:rPr sz="2025" b="1">
                          <a:solidFill>
                            <a:srgbClr val="FFFFFF"/>
                          </a:solidFill>
                          <a:latin typeface="Calibri"/>
                          <a:ea typeface="Calibri"/>
                          <a:cs typeface="Calibri"/>
                        </a:rPr>
                        <a:t>Result type</a:t>
                      </a:r>
                    </a:p>
                  </a:txBody>
                  <a:tcPr marL="91440" marR="91440" marT="45720" marB="45720">
                    <a:solidFill>
                      <a:srgbClr val="2E7D6F"/>
                    </a:solidFill>
                  </a:tcPr>
                </a:tc>
              </a:tr>
              <a:tr h="666750">
                <a:tc>
                  <a:txBody>
                    <a:bodyPr/>
                    <a:lstStyle/>
                    <a:p>
                      <a:r>
                        <a:rPr sz="2025" b="0">
                          <a:solidFill>
                            <a:srgbClr val="1C3144"/>
                          </a:solidFill>
                          <a:latin typeface="Calibri"/>
                          <a:ea typeface="Calibri"/>
                          <a:cs typeface="Calibri"/>
                        </a:rPr>
                        <a:t>Group</a:t>
                      </a:r>
                    </a:p>
                  </a:txBody>
                  <a:tcPr marL="91440" marR="91440" marT="45720" marB="45720">
                    <a:solidFill>
                      <a:srgbClr val="EEF3F6"/>
                    </a:solidFill>
                  </a:tcPr>
                </a:tc>
                <a:tc>
                  <a:txBody>
                    <a:bodyPr/>
                    <a:lstStyle/>
                    <a:p>
                      <a:r>
                        <a:rPr sz="2025" b="0">
                          <a:solidFill>
                            <a:srgbClr val="1C3144"/>
                          </a:solidFill>
                          <a:latin typeface="Calibri"/>
                          <a:ea typeface="Calibri"/>
                          <a:cs typeface="Calibri"/>
                        </a:rPr>
                        <a:t>df.groupby("building")</a:t>
                      </a:r>
                    </a:p>
                  </a:txBody>
                  <a:tcPr marL="91440" marR="91440" marT="45720" marB="45720">
                    <a:solidFill>
                      <a:srgbClr val="EEF3F6"/>
                    </a:solidFill>
                  </a:tcPr>
                </a:tc>
                <a:tc>
                  <a:txBody>
                    <a:bodyPr/>
                    <a:lstStyle/>
                    <a:p>
                      <a:r>
                        <a:rPr sz="2025" b="0">
                          <a:solidFill>
                            <a:srgbClr val="1C3144"/>
                          </a:solidFill>
                          <a:latin typeface="Calibri"/>
                          <a:ea typeface="Calibri"/>
                          <a:cs typeface="Calibri"/>
                        </a:rPr>
                        <a:t>Grouped rows</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Select</a:t>
                      </a:r>
                    </a:p>
                  </a:txBody>
                  <a:tcPr marL="91440" marR="91440" marT="45720" marB="45720">
                    <a:solidFill>
                      <a:srgbClr val="FFFFFF"/>
                    </a:solidFill>
                  </a:tcPr>
                </a:tc>
                <a:tc>
                  <a:txBody>
                    <a:bodyPr/>
                    <a:lstStyle/>
                    <a:p>
                      <a:r>
                        <a:rPr sz="2025" b="0">
                          <a:solidFill>
                            <a:srgbClr val="1C3144"/>
                          </a:solidFill>
                          <a:latin typeface="Calibri"/>
                          <a:ea typeface="Calibri"/>
                          <a:cs typeface="Calibri"/>
                        </a:rPr>
                        <a:t>["kwh"]</a:t>
                      </a:r>
                    </a:p>
                  </a:txBody>
                  <a:tcPr marL="91440" marR="91440" marT="45720" marB="45720">
                    <a:solidFill>
                      <a:srgbClr val="FFFFFF"/>
                    </a:solidFill>
                  </a:tcPr>
                </a:tc>
                <a:tc>
                  <a:txBody>
                    <a:bodyPr/>
                    <a:lstStyle/>
                    <a:p>
                      <a:r>
                        <a:rPr sz="2025" b="0">
                          <a:solidFill>
                            <a:srgbClr val="1C3144"/>
                          </a:solidFill>
                          <a:latin typeface="Calibri"/>
                          <a:ea typeface="Calibri"/>
                          <a:cs typeface="Calibri"/>
                        </a:rPr>
                        <a:t>One measurement per row</a:t>
                      </a:r>
                    </a:p>
                  </a:txBody>
                  <a:tcPr marL="91440" marR="91440" marT="45720" marB="45720">
                    <a:solidFill>
                      <a:srgbClr val="FFFFFF"/>
                    </a:solidFill>
                  </a:tcPr>
                </a:tc>
              </a:tr>
              <a:tr h="666750">
                <a:tc>
                  <a:txBody>
                    <a:bodyPr/>
                    <a:lstStyle/>
                    <a:p>
                      <a:r>
                        <a:rPr sz="2025" b="0">
                          <a:solidFill>
                            <a:srgbClr val="1C3144"/>
                          </a:solidFill>
                          <a:latin typeface="Calibri"/>
                          <a:ea typeface="Calibri"/>
                          <a:cs typeface="Calibri"/>
                        </a:rPr>
                        <a:t>Add</a:t>
                      </a:r>
                    </a:p>
                  </a:txBody>
                  <a:tcPr marL="91440" marR="91440" marT="45720" marB="45720">
                    <a:solidFill>
                      <a:srgbClr val="EEF3F6"/>
                    </a:solidFill>
                  </a:tcPr>
                </a:tc>
                <a:tc>
                  <a:txBody>
                    <a:bodyPr/>
                    <a:lstStyle/>
                    <a:p>
                      <a:r>
                        <a:rPr sz="2025" b="0">
                          <a:solidFill>
                            <a:srgbClr val="1C3144"/>
                          </a:solidFill>
                          <a:latin typeface="Calibri"/>
                          <a:ea typeface="Calibri"/>
                          <a:cs typeface="Calibri"/>
                        </a:rPr>
                        <a:t>.sum()</a:t>
                      </a:r>
                    </a:p>
                  </a:txBody>
                  <a:tcPr marL="91440" marR="91440" marT="45720" marB="45720">
                    <a:solidFill>
                      <a:srgbClr val="EEF3F6"/>
                    </a:solidFill>
                  </a:tcPr>
                </a:tc>
                <a:tc>
                  <a:txBody>
                    <a:bodyPr/>
                    <a:lstStyle/>
                    <a:p>
                      <a:r>
                        <a:rPr sz="2025" b="0">
                          <a:solidFill>
                            <a:srgbClr val="1C3144"/>
                          </a:solidFill>
                          <a:latin typeface="Calibri"/>
                          <a:ea typeface="Calibri"/>
                          <a:cs typeface="Calibri"/>
                        </a:rPr>
                        <a:t>A total for each group</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Find largest</a:t>
                      </a:r>
                    </a:p>
                  </a:txBody>
                  <a:tcPr marL="91440" marR="91440" marT="45720" marB="45720">
                    <a:solidFill>
                      <a:srgbClr val="FFFFFF"/>
                    </a:solidFill>
                  </a:tcPr>
                </a:tc>
                <a:tc>
                  <a:txBody>
                    <a:bodyPr/>
                    <a:lstStyle/>
                    <a:p>
                      <a:r>
                        <a:rPr sz="2025" b="0">
                          <a:solidFill>
                            <a:srgbClr val="1C3144"/>
                          </a:solidFill>
                          <a:latin typeface="Calibri"/>
                          <a:ea typeface="Calibri"/>
                          <a:cs typeface="Calibri"/>
                        </a:rPr>
                        <a:t>.idxmax()</a:t>
                      </a:r>
                    </a:p>
                  </a:txBody>
                  <a:tcPr marL="91440" marR="91440" marT="45720" marB="45720">
                    <a:solidFill>
                      <a:srgbClr val="FFFFFF"/>
                    </a:solidFill>
                  </a:tcPr>
                </a:tc>
                <a:tc>
                  <a:txBody>
                    <a:bodyPr/>
                    <a:lstStyle/>
                    <a:p>
                      <a:r>
                        <a:rPr sz="2025" b="0">
                          <a:solidFill>
                            <a:srgbClr val="1C3144"/>
                          </a:solidFill>
                          <a:latin typeface="Calibri"/>
                          <a:ea typeface="Calibri"/>
                          <a:cs typeface="Calibri"/>
                        </a:rPr>
                        <a:t>Label of a largest total</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FB93F48-6B15-49E7-A3F4-E465E901149E}"/>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Read the chain from left to right. State how a tie should be handled before relying on one label.</a:t>
            </a:r>
          </a:p>
        </p:txBody>
      </p:sp>
      <p:sp>
        <p:nvSpPr>
          <p:cNvPr id="6" name="">
            <a:extLst xmlns:a="http://schemas.openxmlformats.org/drawingml/2006/main">
              <a:ext uri="{FF2B5EF4-FFF2-40B4-BE49-F238E27FC236}">
                <a16:creationId xmlns:a16="http://schemas.microsoft.com/office/drawing/2014/main" id="{FD15BE7A-C9F1-47C2-A674-153C30DC154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20</a:t>
            </a:r>
          </a:p>
        </p:txBody>
      </p:sp>
    </p:spTree>
    <p:extLst>
      <p:ext uri="{BB962C8B-B14F-4D97-AF65-F5344CB8AC3E}">
        <p14:creationId xmlns:p14="http://schemas.microsoft.com/office/powerpoint/2010/main" val="90514141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4514BD4-E28C-41B7-997F-702D10B3AF0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12071CD-3E45-49A5-A878-960B0B0D4C1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1FE3BA25-3727-45A5-B4F3-0496CF71D8A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Calculate one total for each building</a:t>
            </a:r>
          </a:p>
        </p:txBody>
      </p:sp>
      <p:sp>
        <p:nvSpPr>
          <p:cNvPr id="4" name="">
            <a:extLst xmlns:a="http://schemas.openxmlformats.org/drawingml/2006/main">
              <a:ext uri="{FF2B5EF4-FFF2-40B4-BE49-F238E27FC236}">
                <a16:creationId xmlns:a16="http://schemas.microsoft.com/office/drawing/2014/main" id="{958C4AB1-0F63-4611-A1CC-B0787C2D0989}"/>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EF036EC-A2BA-40E1-99E0-98C139F0A657}"/>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90" b="0">
                <a:solidFill>
                  <a:srgbClr val="F4F7FA"/>
                </a:solidFill>
                <a:latin typeface="Courier New"/>
                <a:ea typeface="Courier New"/>
                <a:cs typeface="Courier New"/>
              </a:defRPr>
            </a:pPr>
            <a:r>
              <a:rPr sz="1990" b="0">
                <a:solidFill>
                  <a:srgbClr val="F4F7FA"/>
                </a:solidFill>
                <a:latin typeface="Courier New"/>
                <a:ea typeface="Courier New"/>
                <a:cs typeface="Courier New"/>
              </a:rPr>
              <a:t>print(df.groupby("building")["kwh"].sum())</a:t>
            </a:r>
          </a:p>
        </p:txBody>
      </p:sp>
      <p:sp>
        <p:nvSpPr>
          <p:cNvPr id="6" name="">
            <a:extLst xmlns:a="http://schemas.openxmlformats.org/drawingml/2006/main">
              <a:ext uri="{FF2B5EF4-FFF2-40B4-BE49-F238E27FC236}">
                <a16:creationId xmlns:a16="http://schemas.microsoft.com/office/drawing/2014/main" id="{810B9F5D-3370-4CA4-B36C-30762643047A}"/>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450B8609-2782-467A-9BFF-17B7A0575404}"/>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print displays a value below the cell.</a:t>
            </a:r>
          </a:p>
        </p:txBody>
      </p:sp>
      <p:sp>
        <p:nvSpPr>
          <p:cNvPr id="8" name="">
            <a:extLst xmlns:a="http://schemas.openxmlformats.org/drawingml/2006/main">
              <a:ext uri="{FF2B5EF4-FFF2-40B4-BE49-F238E27FC236}">
                <a16:creationId xmlns:a16="http://schemas.microsoft.com/office/drawing/2014/main" id="{E0F226AF-4125-4D3B-A3BD-2E2A5B3EB4A7}"/>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Square brackets create a list or select an item.</a:t>
            </a:r>
          </a:p>
        </p:txBody>
      </p:sp>
      <p:sp>
        <p:nvSpPr>
          <p:cNvPr id="9" name="">
            <a:extLst xmlns:a="http://schemas.openxmlformats.org/drawingml/2006/main">
              <a:ext uri="{FF2B5EF4-FFF2-40B4-BE49-F238E27FC236}">
                <a16:creationId xmlns:a16="http://schemas.microsoft.com/office/drawing/2014/main" id="{25DACD08-F233-4C1D-A14A-F79B8088BD0D}"/>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A totals 6 kWh; B totals 12 kWh.</a:t>
            </a:r>
          </a:p>
        </p:txBody>
      </p:sp>
      <p:sp>
        <p:nvSpPr>
          <p:cNvPr id="10" name="">
            <a:extLst xmlns:a="http://schemas.openxmlformats.org/drawingml/2006/main">
              <a:ext uri="{FF2B5EF4-FFF2-40B4-BE49-F238E27FC236}">
                <a16:creationId xmlns:a16="http://schemas.microsoft.com/office/drawing/2014/main" id="{827D5445-A394-407E-9A3D-9B23D898730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21</a:t>
            </a:r>
          </a:p>
        </p:txBody>
      </p:sp>
    </p:spTree>
    <p:extLst>
      <p:ext uri="{BB962C8B-B14F-4D97-AF65-F5344CB8AC3E}">
        <p14:creationId xmlns:p14="http://schemas.microsoft.com/office/powerpoint/2010/main" val="85119644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331BC40-16FB-4E53-9EC1-9645E41B486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3C61BF1-6904-4B02-A6CE-10FC79132FE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CHECK THE OUTPUT</a:t>
            </a:r>
          </a:p>
        </p:txBody>
      </p:sp>
      <p:sp>
        <p:nvSpPr>
          <p:cNvPr id="3" name="">
            <a:extLst xmlns:a="http://schemas.openxmlformats.org/drawingml/2006/main">
              <a:ext uri="{FF2B5EF4-FFF2-40B4-BE49-F238E27FC236}">
                <a16:creationId xmlns:a16="http://schemas.microsoft.com/office/drawing/2014/main" id="{E9271389-E088-497B-8D42-51B6FE21B8E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Expected output</a:t>
            </a:r>
          </a:p>
        </p:txBody>
      </p:sp>
      <p:sp>
        <p:nvSpPr>
          <p:cNvPr id="4" name="">
            <a:extLst xmlns:a="http://schemas.openxmlformats.org/drawingml/2006/main">
              <a:ext uri="{FF2B5EF4-FFF2-40B4-BE49-F238E27FC236}">
                <a16:creationId xmlns:a16="http://schemas.microsoft.com/office/drawing/2014/main" id="{0E523352-E6E3-4F76-B062-C1A478FEA96F}"/>
              </a:ext>
            </a:extLst>
          </p:cNvPr>
          <p:cNvSpPr>
            <a:spLocks xmlns:a="http://schemas.openxmlformats.org/drawingml/2006/main" noGrp="1"/>
          </p:cNvSpPr>
          <p:nvPr/>
        </p:nvSpPr>
        <p:spPr>
          <a:xfrm xmlns:a="http://schemas.openxmlformats.org/drawingml/2006/main">
            <a:off x="590550" y="1752600"/>
            <a:ext cx="11010900" cy="35242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C6F98EC-B2FC-41D9-8BD5-5230D72A8663}"/>
              </a:ext>
            </a:extLst>
          </p:cNvPr>
          <p:cNvSpPr>
            <a:spLocks xmlns:a="http://schemas.openxmlformats.org/drawingml/2006/main" noGrp="1"/>
          </p:cNvSpPr>
          <p:nvPr/>
        </p:nvSpPr>
        <p:spPr>
          <a:xfrm xmlns:a="http://schemas.openxmlformats.org/drawingml/2006/main">
            <a:off x="904875" y="2028825"/>
            <a:ext cx="1033462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2E7D6F"/>
                </a:solidFill>
                <a:latin typeface="Courier New"/>
                <a:ea typeface="Courier New"/>
                <a:cs typeface="Courier New"/>
              </a:defRPr>
            </a:pPr>
            <a:r>
              <a:rPr sz="3150" b="0">
                <a:solidFill>
                  <a:srgbClr val="2E7D6F"/>
                </a:solidFill>
                <a:latin typeface="Courier New"/>
                <a:ea typeface="Courier New"/>
                <a:cs typeface="Courier New"/>
              </a:rPr>
              <a:t>Mean 4.5. The filter keeps B rows with 5 and 7. Group totals: A = 6, B = 12 kWh.</a:t>
            </a:r>
          </a:p>
        </p:txBody>
      </p:sp>
      <p:sp>
        <p:nvSpPr>
          <p:cNvPr id="6" name="">
            <a:extLst xmlns:a="http://schemas.openxmlformats.org/drawingml/2006/main">
              <a:ext uri="{FF2B5EF4-FFF2-40B4-BE49-F238E27FC236}">
                <a16:creationId xmlns:a16="http://schemas.microsoft.com/office/drawing/2014/main" id="{D73D0D23-59C2-47FB-ABEF-C4F373ACDD54}"/>
              </a:ext>
            </a:extLst>
          </p:cNvPr>
          <p:cNvSpPr>
            <a:spLocks xmlns:a="http://schemas.openxmlformats.org/drawingml/2006/main" noGrp="1"/>
          </p:cNvSpPr>
          <p:nvPr/>
        </p:nvSpPr>
        <p:spPr>
          <a:xfrm xmlns:a="http://schemas.openxmlformats.org/drawingml/2006/main">
            <a:off x="685800" y="55816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Which step produced this result? What changes if one input changes?</a:t>
            </a:r>
          </a:p>
        </p:txBody>
      </p:sp>
      <p:sp>
        <p:nvSpPr>
          <p:cNvPr id="7" name="">
            <a:extLst xmlns:a="http://schemas.openxmlformats.org/drawingml/2006/main">
              <a:ext uri="{FF2B5EF4-FFF2-40B4-BE49-F238E27FC236}">
                <a16:creationId xmlns:a16="http://schemas.microsoft.com/office/drawing/2014/main" id="{CE287853-56C4-43FA-8258-74B48945902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22</a:t>
            </a:r>
          </a:p>
        </p:txBody>
      </p:sp>
    </p:spTree>
    <p:extLst>
      <p:ext uri="{BB962C8B-B14F-4D97-AF65-F5344CB8AC3E}">
        <p14:creationId xmlns:p14="http://schemas.microsoft.com/office/powerpoint/2010/main" val="156900651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A6C2090-9504-4312-AE7C-16C65D2F00F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BA30E95-B556-48B4-85EB-B51DAD90802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CF5356AC-DB5A-4DC5-A538-3FC280759A3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Unique labels and the largest group</a:t>
            </a:r>
          </a:p>
        </p:txBody>
      </p:sp>
      <p:sp>
        <p:nvSpPr>
          <p:cNvPr id="4" name="">
            <a:extLst xmlns:a="http://schemas.openxmlformats.org/drawingml/2006/main">
              <a:ext uri="{FF2B5EF4-FFF2-40B4-BE49-F238E27FC236}">
                <a16:creationId xmlns:a16="http://schemas.microsoft.com/office/drawing/2014/main" id="{8D20AA17-4413-4473-B6FE-2052B39EEA04}"/>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90C9284-C1E7-4AD9-A141-F37B75641EAF}"/>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EC3A94A-EA5A-416F-AB19-21A9447A7AE6}"/>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nunique counts distinct labels, not rows. idxmax returns the label of the largest total.</a:t>
            </a:r>
          </a:p>
        </p:txBody>
      </p:sp>
      <p:sp>
        <p:nvSpPr>
          <p:cNvPr id="7" name="">
            <a:extLst xmlns:a="http://schemas.openxmlformats.org/drawingml/2006/main">
              <a:ext uri="{FF2B5EF4-FFF2-40B4-BE49-F238E27FC236}">
                <a16:creationId xmlns:a16="http://schemas.microsoft.com/office/drawing/2014/main" id="{9EE9DB00-9528-4BC1-A36A-4F3A1223D831}"/>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Here there is no tie.</a:t>
            </a:r>
          </a:p>
        </p:txBody>
      </p:sp>
      <p:sp>
        <p:nvSpPr>
          <p:cNvPr id="8" name="">
            <a:extLst xmlns:a="http://schemas.openxmlformats.org/drawingml/2006/main">
              <a:ext uri="{FF2B5EF4-FFF2-40B4-BE49-F238E27FC236}">
                <a16:creationId xmlns:a16="http://schemas.microsoft.com/office/drawing/2014/main" id="{D5FE966C-705E-4942-B84A-AF5FBCF1A04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23</a:t>
            </a:r>
          </a:p>
        </p:txBody>
      </p:sp>
    </p:spTree>
    <p:extLst>
      <p:ext uri="{BB962C8B-B14F-4D97-AF65-F5344CB8AC3E}">
        <p14:creationId xmlns:p14="http://schemas.microsoft.com/office/powerpoint/2010/main" val="8736738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DF9EC94-577B-4F10-ADBE-2280BD50F06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7F5DE33-ACAD-4B28-A65E-03D681E8F44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7F857287-A7D5-41EC-89DD-3B17AEA7C16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Unique labels and the largest group in Python</a:t>
            </a:r>
          </a:p>
        </p:txBody>
      </p:sp>
      <p:sp>
        <p:nvSpPr>
          <p:cNvPr id="4" name="">
            <a:extLst xmlns:a="http://schemas.openxmlformats.org/drawingml/2006/main">
              <a:ext uri="{FF2B5EF4-FFF2-40B4-BE49-F238E27FC236}">
                <a16:creationId xmlns:a16="http://schemas.microsoft.com/office/drawing/2014/main" id="{E21EA87B-D59D-4B42-A121-DF3CB9103E59}"/>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F94D8C0-7B53-4760-93C7-4968380B0FB2}"/>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00" b="0">
                <a:solidFill>
                  <a:srgbClr val="F4F7FA"/>
                </a:solidFill>
                <a:latin typeface="Courier New"/>
                <a:ea typeface="Courier New"/>
                <a:cs typeface="Courier New"/>
              </a:defRPr>
            </a:pPr>
            <a:r>
              <a:rPr sz="1900" b="0">
                <a:solidFill>
                  <a:srgbClr val="F4F7FA"/>
                </a:solidFill>
                <a:latin typeface="Courier New"/>
                <a:ea typeface="Courier New"/>
                <a:cs typeface="Courier New"/>
              </a:rPr>
              <a:t>print(df["building"].nunique())</a:t>
            </a:r>
          </a:p>
          <a:p xmlns:a="http://schemas.openxmlformats.org/drawingml/2006/main">
            <a:pPr>
              <a:defRPr sz="1900" b="0">
                <a:solidFill>
                  <a:srgbClr val="F4F7FA"/>
                </a:solidFill>
                <a:latin typeface="Courier New"/>
                <a:ea typeface="Courier New"/>
                <a:cs typeface="Courier New"/>
              </a:defRPr>
            </a:pPr>
            <a:r>
              <a:rPr sz="1900" b="0">
                <a:solidFill>
                  <a:srgbClr val="F4F7FA"/>
                </a:solidFill>
                <a:latin typeface="Courier New"/>
                <a:ea typeface="Courier New"/>
                <a:cs typeface="Courier New"/>
              </a:rPr>
              <a:t>totals = df.groupby("building")["kwh"].sum()</a:t>
            </a:r>
          </a:p>
          <a:p xmlns:a="http://schemas.openxmlformats.org/drawingml/2006/main">
            <a:pPr>
              <a:defRPr sz="1900" b="0">
                <a:solidFill>
                  <a:srgbClr val="F4F7FA"/>
                </a:solidFill>
                <a:latin typeface="Courier New"/>
                <a:ea typeface="Courier New"/>
                <a:cs typeface="Courier New"/>
              </a:defRPr>
            </a:pPr>
            <a:r>
              <a:rPr sz="1900" b="0">
                <a:solidFill>
                  <a:srgbClr val="F4F7FA"/>
                </a:solidFill>
                <a:latin typeface="Courier New"/>
                <a:ea typeface="Courier New"/>
                <a:cs typeface="Courier New"/>
              </a:rPr>
              <a:t>print(totals.idxmax())</a:t>
            </a:r>
          </a:p>
        </p:txBody>
      </p:sp>
      <p:sp>
        <p:nvSpPr>
          <p:cNvPr id="6" name="">
            <a:extLst xmlns:a="http://schemas.openxmlformats.org/drawingml/2006/main">
              <a:ext uri="{FF2B5EF4-FFF2-40B4-BE49-F238E27FC236}">
                <a16:creationId xmlns:a16="http://schemas.microsoft.com/office/drawing/2014/main" id="{1EF9989C-1CCB-402D-A004-73D079D5C4BF}"/>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609F182D-6C1F-4622-B1BD-659F2B677F46}"/>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print displays a value below the cell.</a:t>
            </a:r>
          </a:p>
        </p:txBody>
      </p:sp>
      <p:sp>
        <p:nvSpPr>
          <p:cNvPr id="8" name="">
            <a:extLst xmlns:a="http://schemas.openxmlformats.org/drawingml/2006/main">
              <a:ext uri="{FF2B5EF4-FFF2-40B4-BE49-F238E27FC236}">
                <a16:creationId xmlns:a16="http://schemas.microsoft.com/office/drawing/2014/main" id="{22108DA6-3843-4D1B-8D9A-8505069D40B2}"/>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Square brackets create a list or select an item.</a:t>
            </a:r>
          </a:p>
        </p:txBody>
      </p:sp>
      <p:sp>
        <p:nvSpPr>
          <p:cNvPr id="9" name="">
            <a:extLst xmlns:a="http://schemas.openxmlformats.org/drawingml/2006/main">
              <a:ext uri="{FF2B5EF4-FFF2-40B4-BE49-F238E27FC236}">
                <a16:creationId xmlns:a16="http://schemas.microsoft.com/office/drawing/2014/main" id="{AA0EE4F6-F91F-4270-9709-1080C03DC049}"/>
              </a:ext>
            </a:extLst>
          </p:cNvPr>
          <p:cNvSpPr>
            <a:spLocks xmlns:a="http://schemas.openxmlformats.org/drawingml/2006/main" noGrp="1"/>
          </p:cNvSpPr>
          <p:nvPr/>
        </p:nvSpPr>
        <p:spPr>
          <a:xfrm xmlns:a="http://schemas.openxmlformats.org/drawingml/2006/main">
            <a:off x="8096250" y="43434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 assigns the value on the right to the name on the left.</a:t>
            </a:r>
          </a:p>
        </p:txBody>
      </p:sp>
      <p:sp>
        <p:nvSpPr>
          <p:cNvPr id="10" name="">
            <a:extLst xmlns:a="http://schemas.openxmlformats.org/drawingml/2006/main">
              <a:ext uri="{FF2B5EF4-FFF2-40B4-BE49-F238E27FC236}">
                <a16:creationId xmlns:a16="http://schemas.microsoft.com/office/drawing/2014/main" id="{F35064A4-8BE2-4D78-BC55-BC2EF4E13FF8}"/>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Read the code together. Predict the result before running.</a:t>
            </a:r>
          </a:p>
        </p:txBody>
      </p:sp>
      <p:sp>
        <p:nvSpPr>
          <p:cNvPr id="11" name="">
            <a:extLst xmlns:a="http://schemas.openxmlformats.org/drawingml/2006/main">
              <a:ext uri="{FF2B5EF4-FFF2-40B4-BE49-F238E27FC236}">
                <a16:creationId xmlns:a16="http://schemas.microsoft.com/office/drawing/2014/main" id="{B63CE661-3DAD-496B-9372-A1DCF3D6F8A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24</a:t>
            </a:r>
          </a:p>
        </p:txBody>
      </p:sp>
    </p:spTree>
    <p:extLst>
      <p:ext uri="{BB962C8B-B14F-4D97-AF65-F5344CB8AC3E}">
        <p14:creationId xmlns:p14="http://schemas.microsoft.com/office/powerpoint/2010/main" val="455166598"/>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86B2F10-0EBC-457A-AB21-49364680395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1F1DFBC-926D-4FF9-9946-B015184F932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F2EE040F-3A33-4FF8-8209-FE28EED72C6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Create a column from two existing columns</a:t>
            </a:r>
          </a:p>
        </p:txBody>
      </p:sp>
      <p:sp>
        <p:nvSpPr>
          <p:cNvPr id="4" name="">
            <a:extLst xmlns:a="http://schemas.openxmlformats.org/drawingml/2006/main">
              <a:ext uri="{FF2B5EF4-FFF2-40B4-BE49-F238E27FC236}">
                <a16:creationId xmlns:a16="http://schemas.microsoft.com/office/drawing/2014/main" id="{9CB39D53-78AF-48E2-AFF3-DE80FC481C9A}"/>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009E7A4-6FB9-404B-82FB-FB29A50F4DCC}"/>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1C177DA-C1B0-44B2-849A-954944ED14CF}"/>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 new column can store a calculation for every row. Division pairs the values in matching rows.</a:t>
            </a:r>
          </a:p>
        </p:txBody>
      </p:sp>
      <p:sp>
        <p:nvSpPr>
          <p:cNvPr id="7" name="">
            <a:extLst xmlns:a="http://schemas.openxmlformats.org/drawingml/2006/main">
              <a:ext uri="{FF2B5EF4-FFF2-40B4-BE49-F238E27FC236}">
                <a16:creationId xmlns:a16="http://schemas.microsoft.com/office/drawing/2014/main" id="{4E4985A5-B53B-4E96-A40C-3697E1F96B18}"/>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For this invented table all energy values are positive. UGX is Uganda shillings. Cost divided by energy has units UGX/kWh.</a:t>
            </a:r>
          </a:p>
        </p:txBody>
      </p:sp>
      <p:sp>
        <p:nvSpPr>
          <p:cNvPr id="8" name="">
            <a:extLst xmlns:a="http://schemas.openxmlformats.org/drawingml/2006/main">
              <a:ext uri="{FF2B5EF4-FFF2-40B4-BE49-F238E27FC236}">
                <a16:creationId xmlns:a16="http://schemas.microsoft.com/office/drawing/2014/main" id="{357532DF-DF09-4913-8B28-ED837031DB1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25</a:t>
            </a:r>
          </a:p>
        </p:txBody>
      </p:sp>
    </p:spTree>
    <p:extLst>
      <p:ext uri="{BB962C8B-B14F-4D97-AF65-F5344CB8AC3E}">
        <p14:creationId xmlns:p14="http://schemas.microsoft.com/office/powerpoint/2010/main" val="1488072332"/>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F031145-F8B3-4BAF-841C-18DF327DFD5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D801DFC-86A1-4863-B3C9-BFF5ABAA9A8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085BC81B-4E32-4CD7-AFAB-9BBE7518699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An energy rate is cost divided by energy</a:t>
            </a:r>
          </a:p>
        </p:txBody>
      </p:sp>
      <p:sp>
        <p:nvSpPr>
          <p:cNvPr id="4" name="">
            <a:extLst xmlns:a="http://schemas.openxmlformats.org/drawingml/2006/main">
              <a:ext uri="{FF2B5EF4-FFF2-40B4-BE49-F238E27FC236}">
                <a16:creationId xmlns:a16="http://schemas.microsoft.com/office/drawing/2014/main" id="{6AB12D59-B569-4D0C-B35A-58003D98EACA}"/>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4CA48D6-8BBC-4104-9EFF-CEE5085ADEE5}"/>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df["cost_ugx"] = [1000, 2400, 3500, 5600]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df["rate_ugx_per_kwh"] = df["cost_ugx"] / df["kwh"]</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print(df["rate_ugx_per_kwh"])</a:t>
            </a:r>
          </a:p>
        </p:txBody>
      </p:sp>
      <p:sp>
        <p:nvSpPr>
          <p:cNvPr id="6" name="">
            <a:extLst xmlns:a="http://schemas.openxmlformats.org/drawingml/2006/main">
              <a:ext uri="{FF2B5EF4-FFF2-40B4-BE49-F238E27FC236}">
                <a16:creationId xmlns:a16="http://schemas.microsoft.com/office/drawing/2014/main" id="{545040AB-B804-46BF-A7AB-42BD15764B22}"/>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print displays a value below the cell.</a:t>
            </a:r>
          </a:p>
        </p:txBody>
      </p:sp>
      <p:sp>
        <p:nvSpPr>
          <p:cNvPr id="7" name="">
            <a:extLst xmlns:a="http://schemas.openxmlformats.org/drawingml/2006/main">
              <a:ext uri="{FF2B5EF4-FFF2-40B4-BE49-F238E27FC236}">
                <a16:creationId xmlns:a16="http://schemas.microsoft.com/office/drawing/2014/main" id="{298EDE0B-28FE-4065-95C0-42F87A1244B7}"/>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rates: 500, 600, 700 and 800 UGX/kWh. Keep units in column names.</a:t>
            </a:r>
          </a:p>
        </p:txBody>
      </p:sp>
      <p:sp>
        <p:nvSpPr>
          <p:cNvPr id="8" name="">
            <a:extLst xmlns:a="http://schemas.openxmlformats.org/drawingml/2006/main">
              <a:ext uri="{FF2B5EF4-FFF2-40B4-BE49-F238E27FC236}">
                <a16:creationId xmlns:a16="http://schemas.microsoft.com/office/drawing/2014/main" id="{A47B4148-C9CF-48E0-914F-BD44A5ECD77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26</a:t>
            </a:r>
          </a:p>
        </p:txBody>
      </p:sp>
    </p:spTree>
    <p:extLst>
      <p:ext uri="{BB962C8B-B14F-4D97-AF65-F5344CB8AC3E}">
        <p14:creationId xmlns:p14="http://schemas.microsoft.com/office/powerpoint/2010/main" val="1259084560"/>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2A3A138-F79E-45CD-87A5-02453E94D4A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72E45F1-9813-4F98-A047-5A0A50E7770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EB1F7CD-70CC-4AAB-A6DC-8B0939DCC98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Load the assignment table before analysing it</a:t>
            </a:r>
          </a:p>
        </p:txBody>
      </p:sp>
      <p:sp>
        <p:nvSpPr>
          <p:cNvPr id="4" name="">
            <a:extLst xmlns:a="http://schemas.openxmlformats.org/drawingml/2006/main">
              <a:ext uri="{FF2B5EF4-FFF2-40B4-BE49-F238E27FC236}">
                <a16:creationId xmlns:a16="http://schemas.microsoft.com/office/drawing/2014/main" id="{3A68CE0D-C2F9-43D3-86C3-412F2AB9C8A7}"/>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F95F25F7-9F20-49A1-B1B1-389E696F3C5C}"/>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Upload campus_energy.csv to the current runtime first. read_csv reads it into a new DataFrame.</a:t>
            </a:r>
          </a:p>
        </p:txBody>
      </p:sp>
      <p:sp>
        <p:nvSpPr>
          <p:cNvPr id="6" name="">
            <a:extLst xmlns:a="http://schemas.openxmlformats.org/drawingml/2006/main">
              <a:ext uri="{FF2B5EF4-FFF2-40B4-BE49-F238E27FC236}">
                <a16:creationId xmlns:a16="http://schemas.microsoft.com/office/drawing/2014/main" id="{B07F9E99-5A17-4797-BA73-897BDBB1F535}"/>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2359FBF-6871-4B63-AF75-7C44BD27EC20}"/>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head() displays the first five rows; shape gives row and column counts; dtypes shows column data types.</a:t>
            </a:r>
          </a:p>
        </p:txBody>
      </p:sp>
      <p:sp>
        <p:nvSpPr>
          <p:cNvPr id="8" name="">
            <a:extLst xmlns:a="http://schemas.openxmlformats.org/drawingml/2006/main">
              <a:ext uri="{FF2B5EF4-FFF2-40B4-BE49-F238E27FC236}">
                <a16:creationId xmlns:a16="http://schemas.microsoft.com/office/drawing/2014/main" id="{905BCB95-64ED-4881-9005-BC59DCAA1280}"/>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8F45F059-3B77-450E-AD29-5C5758275550}"/>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We call this issued_table to keep it separate from the invented four-row df used above.</a:t>
            </a:r>
          </a:p>
        </p:txBody>
      </p:sp>
      <p:sp>
        <p:nvSpPr>
          <p:cNvPr id="10" name="">
            <a:extLst xmlns:a="http://schemas.openxmlformats.org/drawingml/2006/main">
              <a:ext uri="{FF2B5EF4-FFF2-40B4-BE49-F238E27FC236}">
                <a16:creationId xmlns:a16="http://schemas.microsoft.com/office/drawing/2014/main" id="{0269928C-D2FD-4E93-B94B-DAF0478311B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27</a:t>
            </a:r>
          </a:p>
        </p:txBody>
      </p:sp>
    </p:spTree>
    <p:extLst>
      <p:ext uri="{BB962C8B-B14F-4D97-AF65-F5344CB8AC3E}">
        <p14:creationId xmlns:p14="http://schemas.microsoft.com/office/powerpoint/2010/main" val="884195405"/>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62C061E-6FEF-4081-B82D-CA34BD8DFCE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3BC2568-7953-4CDA-B27C-0429A01C7ED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B9763078-ABF1-490D-9C41-043A6AD65B4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Inspect the supplied energy file</a:t>
            </a:r>
          </a:p>
        </p:txBody>
      </p:sp>
      <p:sp>
        <p:nvSpPr>
          <p:cNvPr id="4" name="">
            <a:extLst xmlns:a="http://schemas.openxmlformats.org/drawingml/2006/main">
              <a:ext uri="{FF2B5EF4-FFF2-40B4-BE49-F238E27FC236}">
                <a16:creationId xmlns:a16="http://schemas.microsoft.com/office/drawing/2014/main" id="{EBEBE1BC-356F-4732-B39B-5F1A29012ABE}"/>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580EBD1-3E04-4DE8-A1E1-E0B17F7B726D}"/>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issued_table = pd.read_csv("campus_energy.csv")</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print(issued_table.head())</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print(issued_table.shape)</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print(issued_table.dtypes)</a:t>
            </a:r>
          </a:p>
        </p:txBody>
      </p:sp>
      <p:sp>
        <p:nvSpPr>
          <p:cNvPr id="6" name="">
            <a:extLst xmlns:a="http://schemas.openxmlformats.org/drawingml/2006/main">
              <a:ext uri="{FF2B5EF4-FFF2-40B4-BE49-F238E27FC236}">
                <a16:creationId xmlns:a16="http://schemas.microsoft.com/office/drawing/2014/main" id="{21719A3D-A5CE-4019-B9D7-E83E54BC170A}"/>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print displays a value below the cell.</a:t>
            </a:r>
          </a:p>
        </p:txBody>
      </p:sp>
      <p:sp>
        <p:nvSpPr>
          <p:cNvPr id="7" name="">
            <a:extLst xmlns:a="http://schemas.openxmlformats.org/drawingml/2006/main">
              <a:ext uri="{FF2B5EF4-FFF2-40B4-BE49-F238E27FC236}">
                <a16:creationId xmlns:a16="http://schemas.microsoft.com/office/drawing/2014/main" id="{6DAAA57B-498F-4454-B2F0-5856A6625A38}"/>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Check column names, data types and units before attempting the six issued tasks.</a:t>
            </a:r>
          </a:p>
        </p:txBody>
      </p:sp>
      <p:sp>
        <p:nvSpPr>
          <p:cNvPr id="8" name="">
            <a:extLst xmlns:a="http://schemas.openxmlformats.org/drawingml/2006/main">
              <a:ext uri="{FF2B5EF4-FFF2-40B4-BE49-F238E27FC236}">
                <a16:creationId xmlns:a16="http://schemas.microsoft.com/office/drawing/2014/main" id="{E79552BF-E1FB-47C0-A522-644D5F54254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28</a:t>
            </a:r>
          </a:p>
        </p:txBody>
      </p:sp>
    </p:spTree>
    <p:extLst>
      <p:ext uri="{BB962C8B-B14F-4D97-AF65-F5344CB8AC3E}">
        <p14:creationId xmlns:p14="http://schemas.microsoft.com/office/powerpoint/2010/main" val="1869143328"/>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583C7EE-5E7B-4C4E-BDEE-6D4BD09B7E3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A9E8CA8-E0C4-4727-AA18-A8D50EA2685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TRY IT TOGETHER   5 MINUTES</a:t>
            </a:r>
          </a:p>
        </p:txBody>
      </p:sp>
      <p:sp>
        <p:nvSpPr>
          <p:cNvPr id="3" name="">
            <a:extLst xmlns:a="http://schemas.openxmlformats.org/drawingml/2006/main">
              <a:ext uri="{FF2B5EF4-FFF2-40B4-BE49-F238E27FC236}">
                <a16:creationId xmlns:a16="http://schemas.microsoft.com/office/drawing/2014/main" id="{A6B0D37F-2906-48EC-A0F1-FE69E9C737D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 are groupby</a:t>
            </a:r>
          </a:p>
        </p:txBody>
      </p:sp>
      <p:sp>
        <p:nvSpPr>
          <p:cNvPr id="4" name="">
            <a:extLst xmlns:a="http://schemas.openxmlformats.org/drawingml/2006/main">
              <a:ext uri="{FF2B5EF4-FFF2-40B4-BE49-F238E27FC236}">
                <a16:creationId xmlns:a16="http://schemas.microsoft.com/office/drawing/2014/main" id="{D8CD247B-571E-4778-8155-AE32A6239A4D}"/>
              </a:ext>
            </a:extLst>
          </p:cNvPr>
          <p:cNvSpPr>
            <a:spLocks xmlns:a="http://schemas.openxmlformats.org/drawingml/2006/main" noGrp="1"/>
          </p:cNvSpPr>
          <p:nvPr/>
        </p:nvSpPr>
        <p:spPr>
          <a:xfrm xmlns:a="http://schemas.openxmlformats.org/drawingml/2006/main">
            <a:off x="619125" y="1809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926F9985-E3A1-4EEE-98A8-B4D5083C90E8}"/>
              </a:ext>
            </a:extLst>
          </p:cNvPr>
          <p:cNvSpPr>
            <a:spLocks xmlns:a="http://schemas.openxmlformats.org/drawingml/2006/main" noGrp="1"/>
          </p:cNvSpPr>
          <p:nvPr/>
        </p:nvSpPr>
        <p:spPr>
          <a:xfrm xmlns:a="http://schemas.openxmlformats.org/drawingml/2006/main">
            <a:off x="1409700" y="1809750"/>
            <a:ext cx="10001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Make four cards: A:2, A:4, B:5, B:7. Values are kWh.</a:t>
            </a:r>
          </a:p>
        </p:txBody>
      </p:sp>
      <p:sp>
        <p:nvSpPr>
          <p:cNvPr id="6" name="">
            <a:extLst xmlns:a="http://schemas.openxmlformats.org/drawingml/2006/main">
              <a:ext uri="{FF2B5EF4-FFF2-40B4-BE49-F238E27FC236}">
                <a16:creationId xmlns:a16="http://schemas.microsoft.com/office/drawing/2014/main" id="{9D707531-1890-44BF-A5E5-C6DB4C88E56E}"/>
              </a:ext>
            </a:extLst>
          </p:cNvPr>
          <p:cNvSpPr>
            <a:spLocks xmlns:a="http://schemas.openxmlformats.org/drawingml/2006/main" noGrp="1"/>
          </p:cNvSpPr>
          <p:nvPr/>
        </p:nvSpPr>
        <p:spPr>
          <a:xfrm xmlns:a="http://schemas.openxmlformats.org/drawingml/2006/main">
            <a:off x="619125" y="31432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F37B0C6F-CF8B-4951-A188-F5A3BC83274E}"/>
              </a:ext>
            </a:extLst>
          </p:cNvPr>
          <p:cNvSpPr>
            <a:spLocks xmlns:a="http://schemas.openxmlformats.org/drawingml/2006/main" noGrp="1"/>
          </p:cNvSpPr>
          <p:nvPr/>
        </p:nvSpPr>
        <p:spPr>
          <a:xfrm xmlns:a="http://schemas.openxmlformats.org/drawingml/2006/main">
            <a:off x="1409700" y="3143250"/>
            <a:ext cx="10001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Put matching building labels together and add each pile.</a:t>
            </a:r>
          </a:p>
        </p:txBody>
      </p:sp>
      <p:sp>
        <p:nvSpPr>
          <p:cNvPr id="8" name="">
            <a:extLst xmlns:a="http://schemas.openxmlformats.org/drawingml/2006/main">
              <a:ext uri="{FF2B5EF4-FFF2-40B4-BE49-F238E27FC236}">
                <a16:creationId xmlns:a16="http://schemas.microsoft.com/office/drawing/2014/main" id="{74A3290A-6DBB-4F81-A483-153B37E0FD0F}"/>
              </a:ext>
            </a:extLst>
          </p:cNvPr>
          <p:cNvSpPr>
            <a:spLocks xmlns:a="http://schemas.openxmlformats.org/drawingml/2006/main" noGrp="1"/>
          </p:cNvSpPr>
          <p:nvPr/>
        </p:nvSpPr>
        <p:spPr>
          <a:xfrm xmlns:a="http://schemas.openxmlformats.org/drawingml/2006/main">
            <a:off x="619125" y="447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D6C91088-0C2A-40C7-9EA4-3A59070D4B21}"/>
              </a:ext>
            </a:extLst>
          </p:cNvPr>
          <p:cNvSpPr>
            <a:spLocks xmlns:a="http://schemas.openxmlformats.org/drawingml/2006/main" noGrp="1"/>
          </p:cNvSpPr>
          <p:nvPr/>
        </p:nvSpPr>
        <p:spPr>
          <a:xfrm xmlns:a="http://schemas.openxmlformats.org/drawingml/2006/main">
            <a:off x="1409700" y="4476750"/>
            <a:ext cx="10001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Which pile has the greatest total? How many distinct buildings?</a:t>
            </a:r>
          </a:p>
        </p:txBody>
      </p:sp>
      <p:sp>
        <p:nvSpPr>
          <p:cNvPr id="10" name="">
            <a:extLst xmlns:a="http://schemas.openxmlformats.org/drawingml/2006/main">
              <a:ext uri="{FF2B5EF4-FFF2-40B4-BE49-F238E27FC236}">
                <a16:creationId xmlns:a16="http://schemas.microsoft.com/office/drawing/2014/main" id="{3CAB6B46-3B8F-4824-8592-D9C49F6B12DD}"/>
              </a:ext>
            </a:extLst>
          </p:cNvPr>
          <p:cNvSpPr>
            <a:spLocks xmlns:a="http://schemas.openxmlformats.org/drawingml/2006/main" noGrp="1"/>
          </p:cNvSpPr>
          <p:nvPr/>
        </p:nvSpPr>
        <p:spPr>
          <a:xfrm xmlns:a="http://schemas.openxmlformats.org/drawingml/2006/main">
            <a:off x="0" y="5915025"/>
            <a:ext cx="12191695" cy="4667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C450ED2-7533-4D5D-8A6A-0BE6E1EE2D31}"/>
              </a:ext>
            </a:extLst>
          </p:cNvPr>
          <p:cNvSpPr>
            <a:spLocks xmlns:a="http://schemas.openxmlformats.org/drawingml/2006/main" noGrp="1"/>
          </p:cNvSpPr>
          <p:nvPr/>
        </p:nvSpPr>
        <p:spPr>
          <a:xfrm xmlns:a="http://schemas.openxmlformats.org/drawingml/2006/main">
            <a:off x="619125" y="598170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One partner acts. One partner checks. Then swap roles.</a:t>
            </a:r>
          </a:p>
        </p:txBody>
      </p:sp>
      <p:sp>
        <p:nvSpPr>
          <p:cNvPr id="12" name="">
            <a:extLst xmlns:a="http://schemas.openxmlformats.org/drawingml/2006/main">
              <a:ext uri="{FF2B5EF4-FFF2-40B4-BE49-F238E27FC236}">
                <a16:creationId xmlns:a16="http://schemas.microsoft.com/office/drawing/2014/main" id="{BE24A615-1ED1-4CE2-BE43-F0F2CA35C00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29</a:t>
            </a:r>
          </a:p>
        </p:txBody>
      </p:sp>
    </p:spTree>
    <p:extLst>
      <p:ext uri="{BB962C8B-B14F-4D97-AF65-F5344CB8AC3E}">
        <p14:creationId xmlns:p14="http://schemas.microsoft.com/office/powerpoint/2010/main" val="573876467"/>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CAC3DA9-313E-461C-A8CC-40872ED3E76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36D6C2A-23A4-44BC-9F2A-90BDBF61346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DISCUSS THE REASONING</a:t>
            </a:r>
          </a:p>
        </p:txBody>
      </p:sp>
      <p:sp>
        <p:nvSpPr>
          <p:cNvPr id="3" name="">
            <a:extLst xmlns:a="http://schemas.openxmlformats.org/drawingml/2006/main">
              <a:ext uri="{FF2B5EF4-FFF2-40B4-BE49-F238E27FC236}">
                <a16:creationId xmlns:a16="http://schemas.microsoft.com/office/drawing/2014/main" id="{713BD730-5AD0-4FE5-90FB-C6FA72814FA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What the activity shows</a:t>
            </a:r>
          </a:p>
        </p:txBody>
      </p:sp>
      <p:sp>
        <p:nvSpPr>
          <p:cNvPr id="4" name="">
            <a:extLst xmlns:a="http://schemas.openxmlformats.org/drawingml/2006/main">
              <a:ext uri="{FF2B5EF4-FFF2-40B4-BE49-F238E27FC236}">
                <a16:creationId xmlns:a16="http://schemas.microsoft.com/office/drawing/2014/main" id="{E568B599-893C-4E35-8D91-310CCE619987}"/>
              </a:ext>
            </a:extLst>
          </p:cNvPr>
          <p:cNvSpPr>
            <a:spLocks xmlns:a="http://schemas.openxmlformats.org/drawingml/2006/main" noGrp="1"/>
          </p:cNvSpPr>
          <p:nvPr/>
        </p:nvSpPr>
        <p:spPr>
          <a:xfrm xmlns:a="http://schemas.openxmlformats.org/drawingml/2006/main">
            <a:off x="590550" y="1752600"/>
            <a:ext cx="11010900" cy="35242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04DACE4-991D-473F-B353-6A15CC631216}"/>
              </a:ext>
            </a:extLst>
          </p:cNvPr>
          <p:cNvSpPr>
            <a:spLocks xmlns:a="http://schemas.openxmlformats.org/drawingml/2006/main" noGrp="1"/>
          </p:cNvSpPr>
          <p:nvPr/>
        </p:nvSpPr>
        <p:spPr>
          <a:xfrm xmlns:a="http://schemas.openxmlformats.org/drawingml/2006/main">
            <a:off x="904875" y="2028825"/>
            <a:ext cx="1033462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E7D6F"/>
                </a:solidFill>
                <a:latin typeface="Calibri"/>
                <a:ea typeface="Calibri"/>
                <a:cs typeface="Calibri"/>
              </a:defRPr>
            </a:pPr>
            <a:r>
              <a:rPr sz="3150" b="1">
                <a:solidFill>
                  <a:srgbClr val="2E7D6F"/>
                </a:solidFill>
                <a:latin typeface="Calibri"/>
                <a:ea typeface="Calibri"/>
                <a:cs typeface="Calibri"/>
              </a:rPr>
              <a:t>A totals 6 kWh. B totals 12 kWh. B is largest and there are 2 distinct buildings.</a:t>
            </a:r>
          </a:p>
        </p:txBody>
      </p:sp>
      <p:sp>
        <p:nvSpPr>
          <p:cNvPr id="6" name="">
            <a:extLst xmlns:a="http://schemas.openxmlformats.org/drawingml/2006/main">
              <a:ext uri="{FF2B5EF4-FFF2-40B4-BE49-F238E27FC236}">
                <a16:creationId xmlns:a16="http://schemas.microsoft.com/office/drawing/2014/main" id="{830ABC83-98A3-47D6-AC85-3DFC2C3F8AD3}"/>
              </a:ext>
            </a:extLst>
          </p:cNvPr>
          <p:cNvSpPr>
            <a:spLocks xmlns:a="http://schemas.openxmlformats.org/drawingml/2006/main" noGrp="1"/>
          </p:cNvSpPr>
          <p:nvPr/>
        </p:nvSpPr>
        <p:spPr>
          <a:xfrm xmlns:a="http://schemas.openxmlformats.org/drawingml/2006/main">
            <a:off x="685800" y="55816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Which step produced this result? What changes if one input changes?</a:t>
            </a:r>
          </a:p>
        </p:txBody>
      </p:sp>
      <p:sp>
        <p:nvSpPr>
          <p:cNvPr id="7" name="">
            <a:extLst xmlns:a="http://schemas.openxmlformats.org/drawingml/2006/main">
              <a:ext uri="{FF2B5EF4-FFF2-40B4-BE49-F238E27FC236}">
                <a16:creationId xmlns:a16="http://schemas.microsoft.com/office/drawing/2014/main" id="{086CD642-0356-4996-B098-8C9A3C74596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30</a:t>
            </a:r>
          </a:p>
        </p:txBody>
      </p:sp>
    </p:spTree>
    <p:extLst>
      <p:ext uri="{BB962C8B-B14F-4D97-AF65-F5344CB8AC3E}">
        <p14:creationId xmlns:p14="http://schemas.microsoft.com/office/powerpoint/2010/main" val="26188441"/>
      </p:ext>
    </p:extLst>
  </p:cSld>
</p:sld>
</file>

<file path=ppt/slides/slide31.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C97761B-200F-4232-99CE-ADC33BD76FF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PREDICT BEFORE RUNNING</a:t>
            </a:r>
          </a:p>
        </p:txBody>
      </p:sp>
      <p:sp>
        <p:nvSpPr>
          <p:cNvPr id="2" name="">
            <a:extLst xmlns:a="http://schemas.openxmlformats.org/drawingml/2006/main">
              <a:ext uri="{FF2B5EF4-FFF2-40B4-BE49-F238E27FC236}">
                <a16:creationId xmlns:a16="http://schemas.microsoft.com/office/drawing/2014/main" id="{49BF1834-1707-4A4B-9DD5-A64F646085D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turn</a:t>
            </a:r>
          </a:p>
        </p:txBody>
      </p:sp>
      <p:sp>
        <p:nvSpPr>
          <p:cNvPr id="3" name="">
            <a:extLst xmlns:a="http://schemas.openxmlformats.org/drawingml/2006/main">
              <a:ext uri="{FF2B5EF4-FFF2-40B4-BE49-F238E27FC236}">
                <a16:creationId xmlns:a16="http://schemas.microsoft.com/office/drawing/2014/main" id="{650A5102-4BF9-4B94-9628-4D7CAD8707CF}"/>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YOUR TURN</a:t>
            </a:r>
          </a:p>
        </p:txBody>
      </p:sp>
      <p:sp>
        <p:nvSpPr>
          <p:cNvPr id="4" name="">
            <a:extLst xmlns:a="http://schemas.openxmlformats.org/drawingml/2006/main">
              <a:ext uri="{FF2B5EF4-FFF2-40B4-BE49-F238E27FC236}">
                <a16:creationId xmlns:a16="http://schemas.microsoft.com/office/drawing/2014/main" id="{59759542-5F6E-487D-9533-C3FA9B4BA445}"/>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Use &gt; 5 instead. Predict the surviving rows. Which building has the largest total?</a:t>
            </a:r>
          </a:p>
        </p:txBody>
      </p:sp>
      <p:sp>
        <p:nvSpPr>
          <p:cNvPr id="5" name="">
            <a:extLst xmlns:a="http://schemas.openxmlformats.org/drawingml/2006/main">
              <a:ext uri="{FF2B5EF4-FFF2-40B4-BE49-F238E27FC236}">
                <a16:creationId xmlns:a16="http://schemas.microsoft.com/office/drawing/2014/main" id="{3E5A98F4-E281-41ED-BFEA-43C5ED81D432}"/>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Think alone first. Then compare your reasoning with a partner.</a:t>
            </a:r>
          </a:p>
        </p:txBody>
      </p:sp>
      <p:sp>
        <p:nvSpPr>
          <p:cNvPr id="6" name="">
            <a:extLst xmlns:a="http://schemas.openxmlformats.org/drawingml/2006/main">
              <a:ext uri="{FF2B5EF4-FFF2-40B4-BE49-F238E27FC236}">
                <a16:creationId xmlns:a16="http://schemas.microsoft.com/office/drawing/2014/main" id="{42FB3E23-D91A-4729-9557-9868171B7C4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CML3111   Week 5   31</a:t>
            </a:r>
          </a:p>
        </p:txBody>
      </p:sp>
    </p:spTree>
    <p:extLst>
      <p:ext uri="{BB962C8B-B14F-4D97-AF65-F5344CB8AC3E}">
        <p14:creationId xmlns:p14="http://schemas.microsoft.com/office/powerpoint/2010/main" val="1662684288"/>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D57E937-90AC-4F4A-A9A2-7D81E94A025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C547FDC-8D92-423A-895C-32AAAF6842F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DISCUSS THE REASONING</a:t>
            </a:r>
          </a:p>
        </p:txBody>
      </p:sp>
      <p:sp>
        <p:nvSpPr>
          <p:cNvPr id="3" name="">
            <a:extLst xmlns:a="http://schemas.openxmlformats.org/drawingml/2006/main">
              <a:ext uri="{FF2B5EF4-FFF2-40B4-BE49-F238E27FC236}">
                <a16:creationId xmlns:a16="http://schemas.microsoft.com/office/drawing/2014/main" id="{C653C202-0B7C-48CE-A646-19F4EDAC585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Practice discussion</a:t>
            </a:r>
          </a:p>
        </p:txBody>
      </p:sp>
      <p:sp>
        <p:nvSpPr>
          <p:cNvPr id="4" name="">
            <a:extLst xmlns:a="http://schemas.openxmlformats.org/drawingml/2006/main">
              <a:ext uri="{FF2B5EF4-FFF2-40B4-BE49-F238E27FC236}">
                <a16:creationId xmlns:a16="http://schemas.microsoft.com/office/drawing/2014/main" id="{1EC179C4-428D-4B66-A33D-ADC06B4515D5}"/>
              </a:ext>
            </a:extLst>
          </p:cNvPr>
          <p:cNvSpPr>
            <a:spLocks xmlns:a="http://schemas.openxmlformats.org/drawingml/2006/main" noGrp="1"/>
          </p:cNvSpPr>
          <p:nvPr/>
        </p:nvSpPr>
        <p:spPr>
          <a:xfrm xmlns:a="http://schemas.openxmlformats.org/drawingml/2006/main">
            <a:off x="590550" y="1752600"/>
            <a:ext cx="11010900" cy="35242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C76612E-3640-4A67-B3DF-86E8D36FCDB4}"/>
              </a:ext>
            </a:extLst>
          </p:cNvPr>
          <p:cNvSpPr>
            <a:spLocks xmlns:a="http://schemas.openxmlformats.org/drawingml/2006/main" noGrp="1"/>
          </p:cNvSpPr>
          <p:nvPr/>
        </p:nvSpPr>
        <p:spPr>
          <a:xfrm xmlns:a="http://schemas.openxmlformats.org/drawingml/2006/main">
            <a:off x="904875" y="2028825"/>
            <a:ext cx="1033462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E7D6F"/>
                </a:solidFill>
                <a:latin typeface="Calibri"/>
                <a:ea typeface="Calibri"/>
                <a:cs typeface="Calibri"/>
              </a:defRPr>
            </a:pPr>
            <a:r>
              <a:rPr sz="3150" b="1">
                <a:solidFill>
                  <a:srgbClr val="2E7D6F"/>
                </a:solidFill>
                <a:latin typeface="Calibri"/>
                <a:ea typeface="Calibri"/>
                <a:cs typeface="Calibri"/>
              </a:rPr>
              <a:t>Only the row with 7 survives. Building B has the larger total, 12 kWh.</a:t>
            </a:r>
          </a:p>
        </p:txBody>
      </p:sp>
      <p:sp>
        <p:nvSpPr>
          <p:cNvPr id="6" name="">
            <a:extLst xmlns:a="http://schemas.openxmlformats.org/drawingml/2006/main">
              <a:ext uri="{FF2B5EF4-FFF2-40B4-BE49-F238E27FC236}">
                <a16:creationId xmlns:a16="http://schemas.microsoft.com/office/drawing/2014/main" id="{5CD3C9BD-AB21-4268-AD46-74751154D42C}"/>
              </a:ext>
            </a:extLst>
          </p:cNvPr>
          <p:cNvSpPr>
            <a:spLocks xmlns:a="http://schemas.openxmlformats.org/drawingml/2006/main" noGrp="1"/>
          </p:cNvSpPr>
          <p:nvPr/>
        </p:nvSpPr>
        <p:spPr>
          <a:xfrm xmlns:a="http://schemas.openxmlformats.org/drawingml/2006/main">
            <a:off x="685800" y="55816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Which step produced this result? What changes if one input changes?</a:t>
            </a:r>
          </a:p>
        </p:txBody>
      </p:sp>
      <p:sp>
        <p:nvSpPr>
          <p:cNvPr id="7" name="">
            <a:extLst xmlns:a="http://schemas.openxmlformats.org/drawingml/2006/main">
              <a:ext uri="{FF2B5EF4-FFF2-40B4-BE49-F238E27FC236}">
                <a16:creationId xmlns:a16="http://schemas.microsoft.com/office/drawing/2014/main" id="{8713D9A2-A7EB-4A74-8B7F-BE8CDA898C0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32</a:t>
            </a:r>
          </a:p>
        </p:txBody>
      </p:sp>
    </p:spTree>
    <p:extLst>
      <p:ext uri="{BB962C8B-B14F-4D97-AF65-F5344CB8AC3E}">
        <p14:creationId xmlns:p14="http://schemas.microsoft.com/office/powerpoint/2010/main" val="876429996"/>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55FFB01-AE4F-46CA-A38A-F355895FA27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843D5E1-4804-4311-90DB-9588C4FA888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BC5C4C32-1549-4A43-A179-B86282D7C66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for the assignment</a:t>
            </a:r>
          </a:p>
        </p:txBody>
      </p:sp>
      <p:sp>
        <p:nvSpPr>
          <p:cNvPr id="4" name="">
            <a:extLst xmlns:a="http://schemas.openxmlformats.org/drawingml/2006/main">
              <a:ext uri="{FF2B5EF4-FFF2-40B4-BE49-F238E27FC236}">
                <a16:creationId xmlns:a16="http://schemas.microsoft.com/office/drawing/2014/main" id="{D52BCB6F-9A12-4B34-B2C5-EDD4692287E2}"/>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C94E7272-1EB5-4A5B-871D-A3D7C65783A5}"/>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A5 uses the supplied fictional campus_energy.csv, not a live Kaggle download.</a:t>
            </a:r>
          </a:p>
        </p:txBody>
      </p:sp>
      <p:sp>
        <p:nvSpPr>
          <p:cNvPr id="6" name="">
            <a:extLst xmlns:a="http://schemas.openxmlformats.org/drawingml/2006/main">
              <a:ext uri="{FF2B5EF4-FFF2-40B4-BE49-F238E27FC236}">
                <a16:creationId xmlns:a16="http://schemas.microsoft.com/office/drawing/2014/main" id="{0C68004D-B4C6-4817-A9DB-9C67DDF5FEDB}"/>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E4692801-3C86-45B3-88FC-EB2662DB0300}"/>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six tasks use read_csv, nunique, division of columns, a &gt; filter, mean and grouped totals. idxmax returns the label of the largest value.</a:t>
            </a:r>
          </a:p>
        </p:txBody>
      </p:sp>
      <p:sp>
        <p:nvSpPr>
          <p:cNvPr id="8" name="">
            <a:extLst xmlns:a="http://schemas.openxmlformats.org/drawingml/2006/main">
              <a:ext uri="{FF2B5EF4-FFF2-40B4-BE49-F238E27FC236}">
                <a16:creationId xmlns:a16="http://schemas.microsoft.com/office/drawing/2014/main" id="{1BEF5FA8-058F-49F5-BF6E-4903496F9FE8}"/>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13704561-D70D-4F13-8F97-BE8859B8A644}"/>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mean of individual rates gives each observation equal weight.</a:t>
            </a:r>
          </a:p>
        </p:txBody>
      </p:sp>
      <p:sp>
        <p:nvSpPr>
          <p:cNvPr id="10" name="">
            <a:extLst xmlns:a="http://schemas.openxmlformats.org/drawingml/2006/main">
              <a:ext uri="{FF2B5EF4-FFF2-40B4-BE49-F238E27FC236}">
                <a16:creationId xmlns:a16="http://schemas.microsoft.com/office/drawing/2014/main" id="{980A84B6-5F03-4CD0-8DFD-A01CE44007E7}"/>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B8555159-1611-414D-B2D9-69A23530D834}"/>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Total cost divided by total energy weights by energy.</a:t>
            </a:r>
          </a:p>
        </p:txBody>
      </p:sp>
      <p:sp>
        <p:nvSpPr>
          <p:cNvPr id="12" name="">
            <a:extLst xmlns:a="http://schemas.openxmlformats.org/drawingml/2006/main">
              <a:ext uri="{FF2B5EF4-FFF2-40B4-BE49-F238E27FC236}">
                <a16:creationId xmlns:a16="http://schemas.microsoft.com/office/drawing/2014/main" id="{398EC596-983A-4744-B769-20E1DEA96F7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33</a:t>
            </a:r>
          </a:p>
        </p:txBody>
      </p:sp>
    </p:spTree>
    <p:extLst>
      <p:ext uri="{BB962C8B-B14F-4D97-AF65-F5344CB8AC3E}">
        <p14:creationId xmlns:p14="http://schemas.microsoft.com/office/powerpoint/2010/main" val="298978189"/>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2CE9807-7EE3-4443-95E1-A41A81857E2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36C1E3A-3019-4DEC-8CEE-C99A7038E57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C85DD89-3039-4068-B516-A3EA778394B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Data types and filters</a:t>
            </a:r>
          </a:p>
        </p:txBody>
      </p:sp>
      <p:sp>
        <p:nvSpPr>
          <p:cNvPr id="4" name="">
            <a:extLst xmlns:a="http://schemas.openxmlformats.org/drawingml/2006/main">
              <a:ext uri="{FF2B5EF4-FFF2-40B4-BE49-F238E27FC236}">
                <a16:creationId xmlns:a16="http://schemas.microsoft.com/office/drawing/2014/main" id="{40CD9CC3-7AFE-4FA7-B585-CE2516B9DBAE}"/>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099236BC-CA3F-4C89-B185-A1E1A6F5180B}"/>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Boolean mask is a list-like column of True/False values. len(mask) counts all rows; mask.sum() counts True entries.</a:t>
            </a:r>
          </a:p>
        </p:txBody>
      </p:sp>
      <p:sp>
        <p:nvSpPr>
          <p:cNvPr id="6" name="">
            <a:extLst xmlns:a="http://schemas.openxmlformats.org/drawingml/2006/main">
              <a:ext uri="{FF2B5EF4-FFF2-40B4-BE49-F238E27FC236}">
                <a16:creationId xmlns:a16="http://schemas.microsoft.com/office/drawing/2014/main" id="{ADF14BD3-7A33-4963-A998-DAA8ECF5C82D}"/>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B1F47EAC-FF35-493E-9DB9-22F66BE62835}"/>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Strings sort as text, so "9" can rank above "100".</a:t>
            </a:r>
          </a:p>
        </p:txBody>
      </p:sp>
      <p:sp>
        <p:nvSpPr>
          <p:cNvPr id="8" name="">
            <a:extLst xmlns:a="http://schemas.openxmlformats.org/drawingml/2006/main">
              <a:ext uri="{FF2B5EF4-FFF2-40B4-BE49-F238E27FC236}">
                <a16:creationId xmlns:a16="http://schemas.microsoft.com/office/drawing/2014/main" id="{67F2757C-7320-40B3-8A34-BC1763511DBD}"/>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214250C-4760-4B37-91B8-469DD8FD9ECD}"/>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Inspect numeric types before taking maxima.</a:t>
            </a:r>
          </a:p>
        </p:txBody>
      </p:sp>
      <p:sp>
        <p:nvSpPr>
          <p:cNvPr id="10" name="">
            <a:extLst xmlns:a="http://schemas.openxmlformats.org/drawingml/2006/main">
              <a:ext uri="{FF2B5EF4-FFF2-40B4-BE49-F238E27FC236}">
                <a16:creationId xmlns:a16="http://schemas.microsoft.com/office/drawing/2014/main" id="{84526779-7676-481A-8F59-E9186CCC2612}"/>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B55E25AA-AFFA-4F2F-A048-B37E372C7F69}"/>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KeyError often means the column name does not match; check spelling, case and spaces. shape is (rows, columns).</a:t>
            </a:r>
          </a:p>
        </p:txBody>
      </p:sp>
      <p:sp>
        <p:nvSpPr>
          <p:cNvPr id="12" name="">
            <a:extLst xmlns:a="http://schemas.openxmlformats.org/drawingml/2006/main">
              <a:ext uri="{FF2B5EF4-FFF2-40B4-BE49-F238E27FC236}">
                <a16:creationId xmlns:a16="http://schemas.microsoft.com/office/drawing/2014/main" id="{4CB6F197-7C30-4CDE-B0EB-98FC4E9C51A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34</a:t>
            </a:r>
          </a:p>
        </p:txBody>
      </p:sp>
    </p:spTree>
    <p:extLst>
      <p:ext uri="{BB962C8B-B14F-4D97-AF65-F5344CB8AC3E}">
        <p14:creationId xmlns:p14="http://schemas.microsoft.com/office/powerpoint/2010/main" val="1958552993"/>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34AAECD-F118-49B9-A6C4-380C91001FA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EF7E5EF-1BD4-45A6-86E1-1A2964CFF01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5D972DD4-2062-4A21-9E00-3FFC1CDDD77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Data types and filters continued</a:t>
            </a:r>
          </a:p>
        </p:txBody>
      </p:sp>
      <p:sp>
        <p:nvSpPr>
          <p:cNvPr id="4" name="">
            <a:extLst xmlns:a="http://schemas.openxmlformats.org/drawingml/2006/main">
              <a:ext uri="{FF2B5EF4-FFF2-40B4-BE49-F238E27FC236}">
                <a16:creationId xmlns:a16="http://schemas.microsoft.com/office/drawing/2014/main" id="{2E97A620-0515-4AD1-A237-81DB7D06A64E}"/>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1DD7B3B-41F0-45D8-9F96-B6015D03888E}"/>
              </a:ext>
            </a:extLst>
          </p:cNvPr>
          <p:cNvSpPr>
            <a:spLocks xmlns:a="http://schemas.openxmlformats.org/drawingml/2006/main" noGrp="1"/>
          </p:cNvSpPr>
          <p:nvPr/>
        </p:nvSpPr>
        <p:spPr>
          <a:xfrm xmlns:a="http://schemas.openxmlformats.org/drawingml/2006/main">
            <a:off x="914400" y="2228850"/>
            <a:ext cx="103346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C3144"/>
                </a:solidFill>
                <a:latin typeface="Calibri"/>
                <a:ea typeface="Calibri"/>
                <a:cs typeface="Calibri"/>
              </a:defRPr>
            </a:pPr>
            <a:r>
              <a:rPr sz="3000" b="1">
                <a:solidFill>
                  <a:srgbClr val="1C3144"/>
                </a:solidFill>
                <a:latin typeface="Calibri"/>
                <a:ea typeface="Calibri"/>
                <a:cs typeface="Calibri"/>
              </a:rPr>
              <a:t>Read provenance and units before trusting a dataset.</a:t>
            </a:r>
          </a:p>
        </p:txBody>
      </p:sp>
      <p:sp>
        <p:nvSpPr>
          <p:cNvPr id="6" name="">
            <a:extLst xmlns:a="http://schemas.openxmlformats.org/drawingml/2006/main">
              <a:ext uri="{FF2B5EF4-FFF2-40B4-BE49-F238E27FC236}">
                <a16:creationId xmlns:a16="http://schemas.microsoft.com/office/drawing/2014/main" id="{72BF7E91-257B-48F9-90A7-8CF513C5832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35</a:t>
            </a:r>
          </a:p>
        </p:txBody>
      </p:sp>
    </p:spTree>
    <p:extLst>
      <p:ext uri="{BB962C8B-B14F-4D97-AF65-F5344CB8AC3E}">
        <p14:creationId xmlns:p14="http://schemas.microsoft.com/office/powerpoint/2010/main" val="1729530116"/>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5D8B7F6-1F97-4765-9E94-0B6D40676C2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5BBD2BE-842A-4417-B68E-A067CA1153A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CB4FB1BE-58D6-4818-A38A-D18041726BF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issued assignment</a:t>
            </a:r>
          </a:p>
        </p:txBody>
      </p:sp>
      <p:sp>
        <p:nvSpPr>
          <p:cNvPr id="4" name="">
            <a:extLst xmlns:a="http://schemas.openxmlformats.org/drawingml/2006/main">
              <a:ext uri="{FF2B5EF4-FFF2-40B4-BE49-F238E27FC236}">
                <a16:creationId xmlns:a16="http://schemas.microsoft.com/office/drawing/2014/main" id="{2F43FBE2-7815-46AE-92D1-37D22A568F53}"/>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AD2B0AD-8C31-4BB7-8F72-C518546B99C4}"/>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 W05_student.ipynb.</a:t>
            </a:r>
          </a:p>
        </p:txBody>
      </p:sp>
      <p:sp>
        <p:nvSpPr>
          <p:cNvPr id="6" name="">
            <a:extLst xmlns:a="http://schemas.openxmlformats.org/drawingml/2006/main">
              <a:ext uri="{FF2B5EF4-FFF2-40B4-BE49-F238E27FC236}">
                <a16:creationId xmlns:a16="http://schemas.microsoft.com/office/drawing/2014/main" id="{6FCB8E2F-CC35-4479-BA73-0C18FE517F24}"/>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91A1F5B6-679E-4470-A398-17C2A16E4B89}"/>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 every task and its input units before coding.</a:t>
            </a:r>
          </a:p>
        </p:txBody>
      </p:sp>
      <p:sp>
        <p:nvSpPr>
          <p:cNvPr id="8" name="">
            <a:extLst xmlns:a="http://schemas.openxmlformats.org/drawingml/2006/main">
              <a:ext uri="{FF2B5EF4-FFF2-40B4-BE49-F238E27FC236}">
                <a16:creationId xmlns:a16="http://schemas.microsoft.com/office/drawing/2014/main" id="{A802E76A-D637-494C-9CBB-1F8E0AA177F0}"/>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6A77A85-8605-4E92-866E-F1EF39B051EB}"/>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required function names and returned outputs.</a:t>
            </a:r>
          </a:p>
        </p:txBody>
      </p:sp>
      <p:sp>
        <p:nvSpPr>
          <p:cNvPr id="10" name="">
            <a:extLst xmlns:a="http://schemas.openxmlformats.org/drawingml/2006/main">
              <a:ext uri="{FF2B5EF4-FFF2-40B4-BE49-F238E27FC236}">
                <a16:creationId xmlns:a16="http://schemas.microsoft.com/office/drawing/2014/main" id="{87368232-54DD-4B92-B0CA-8EB83B60A44A}"/>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181E0193-54F3-43AA-9EBC-A969F50478A9}"/>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Run the supplied visible checks, then restart and run all.</a:t>
            </a:r>
          </a:p>
        </p:txBody>
      </p:sp>
      <p:sp>
        <p:nvSpPr>
          <p:cNvPr id="12" name="">
            <a:extLst xmlns:a="http://schemas.openxmlformats.org/drawingml/2006/main">
              <a:ext uri="{FF2B5EF4-FFF2-40B4-BE49-F238E27FC236}">
                <a16:creationId xmlns:a16="http://schemas.microsoft.com/office/drawing/2014/main" id="{4C325957-814E-4B21-A4A0-55C3C62A877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36</a:t>
            </a:r>
          </a:p>
        </p:txBody>
      </p:sp>
    </p:spTree>
    <p:extLst>
      <p:ext uri="{BB962C8B-B14F-4D97-AF65-F5344CB8AC3E}">
        <p14:creationId xmlns:p14="http://schemas.microsoft.com/office/powerpoint/2010/main" val="112272682"/>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2059C53-CDAC-4B65-8B92-512DC5A582B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ED1BA3C-495D-49D6-95E5-1E23150A3CC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CAE747C4-941B-45F7-B4DF-EDFE0D4B267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q1: 3 marks</a:t>
            </a:r>
          </a:p>
        </p:txBody>
      </p:sp>
      <p:sp>
        <p:nvSpPr>
          <p:cNvPr id="4" name="">
            <a:extLst xmlns:a="http://schemas.openxmlformats.org/drawingml/2006/main">
              <a:ext uri="{FF2B5EF4-FFF2-40B4-BE49-F238E27FC236}">
                <a16:creationId xmlns:a16="http://schemas.microsoft.com/office/drawing/2014/main" id="{DEE5D30F-B65C-495A-BF24-660262EEE14C}"/>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98C7C6E-6A16-472B-BAFC-9A0F90E8AFE8}"/>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Load campus_energy.csv into a DataFrame called df.</a:t>
            </a:r>
          </a:p>
        </p:txBody>
      </p:sp>
      <p:sp>
        <p:nvSpPr>
          <p:cNvPr id="6" name="">
            <a:extLst xmlns:a="http://schemas.openxmlformats.org/drawingml/2006/main">
              <a:ext uri="{FF2B5EF4-FFF2-40B4-BE49-F238E27FC236}">
                <a16:creationId xmlns:a16="http://schemas.microsoft.com/office/drawing/2014/main" id="{6E3E818B-B721-4A49-B89E-3D03268816E0}"/>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1C8B6B5-5A3F-400F-83AE-B8DD83EE771A}"/>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D61E0236-3438-4983-A08C-68E7EF23D5D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37</a:t>
            </a:r>
          </a:p>
        </p:txBody>
      </p:sp>
    </p:spTree>
    <p:extLst>
      <p:ext uri="{BB962C8B-B14F-4D97-AF65-F5344CB8AC3E}">
        <p14:creationId xmlns:p14="http://schemas.microsoft.com/office/powerpoint/2010/main" val="962671281"/>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82F8992-67EB-40FE-B662-64359645907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E422119-3A79-4335-9A2C-5B295C42C02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C0ABADE8-C0DC-4914-B540-5F3477685A4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q2: 3 marks</a:t>
            </a:r>
          </a:p>
        </p:txBody>
      </p:sp>
      <p:sp>
        <p:nvSpPr>
          <p:cNvPr id="4" name="">
            <a:extLst xmlns:a="http://schemas.openxmlformats.org/drawingml/2006/main">
              <a:ext uri="{FF2B5EF4-FFF2-40B4-BE49-F238E27FC236}">
                <a16:creationId xmlns:a16="http://schemas.microsoft.com/office/drawing/2014/main" id="{BAD8AEFF-684C-4296-B3E5-E47A32048695}"/>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D4C15A4-0852-454A-98FD-B99D29AADFDC}"/>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Set n_meters to the number of distinct meters in the file.</a:t>
            </a:r>
          </a:p>
        </p:txBody>
      </p:sp>
      <p:sp>
        <p:nvSpPr>
          <p:cNvPr id="6" name="">
            <a:extLst xmlns:a="http://schemas.openxmlformats.org/drawingml/2006/main">
              <a:ext uri="{FF2B5EF4-FFF2-40B4-BE49-F238E27FC236}">
                <a16:creationId xmlns:a16="http://schemas.microsoft.com/office/drawing/2014/main" id="{EC255F1B-699B-4E3C-B988-8A36EE3AAEB5}"/>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A7F5F11-2C5A-4884-AA23-BDFEF40ED063}"/>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FB08BD7B-DF87-4E4A-91B0-08C2F2B5737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38</a:t>
            </a:r>
          </a:p>
        </p:txBody>
      </p:sp>
    </p:spTree>
    <p:extLst>
      <p:ext uri="{BB962C8B-B14F-4D97-AF65-F5344CB8AC3E}">
        <p14:creationId xmlns:p14="http://schemas.microsoft.com/office/powerpoint/2010/main" val="269573983"/>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7784DCE-86DE-4EA2-B1E7-3A3D9CB816F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2BAECB7-F372-4C6B-A89B-F8B24F7EAA3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98115E09-66BC-49E0-A3FB-3D730378733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q3: 4 marks</a:t>
            </a:r>
          </a:p>
        </p:txBody>
      </p:sp>
      <p:sp>
        <p:nvSpPr>
          <p:cNvPr id="4" name="">
            <a:extLst xmlns:a="http://schemas.openxmlformats.org/drawingml/2006/main">
              <a:ext uri="{FF2B5EF4-FFF2-40B4-BE49-F238E27FC236}">
                <a16:creationId xmlns:a16="http://schemas.microsoft.com/office/drawing/2014/main" id="{00338DAD-BC3A-44C4-89BB-766B92F54922}"/>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CE91505-4EAC-4DE3-9F8E-1FCBA51AD82E}"/>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Add a column cost_per_kwh to df, equal to cost_ugx / kwh.</a:t>
            </a:r>
          </a:p>
        </p:txBody>
      </p:sp>
      <p:sp>
        <p:nvSpPr>
          <p:cNvPr id="6" name="">
            <a:extLst xmlns:a="http://schemas.openxmlformats.org/drawingml/2006/main">
              <a:ext uri="{FF2B5EF4-FFF2-40B4-BE49-F238E27FC236}">
                <a16:creationId xmlns:a16="http://schemas.microsoft.com/office/drawing/2014/main" id="{A62F9333-04AE-4F5D-A00D-F03596DA71DF}"/>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8384B6F-DE69-4187-AE54-F72168DD8104}"/>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33B9EDC3-029F-4774-843E-65E76C703AB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39</a:t>
            </a:r>
          </a:p>
        </p:txBody>
      </p:sp>
    </p:spTree>
    <p:extLst>
      <p:ext uri="{BB962C8B-B14F-4D97-AF65-F5344CB8AC3E}">
        <p14:creationId xmlns:p14="http://schemas.microsoft.com/office/powerpoint/2010/main" val="81117019"/>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3E09F5C-922C-486D-A094-AF6374EFB9C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316247F-AF05-4300-88C6-D6B301EF6B8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6C4753FB-29BE-4246-91CC-E87DD9D4C8A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q4: 4 marks</a:t>
            </a:r>
          </a:p>
        </p:txBody>
      </p:sp>
      <p:sp>
        <p:nvSpPr>
          <p:cNvPr id="4" name="">
            <a:extLst xmlns:a="http://schemas.openxmlformats.org/drawingml/2006/main">
              <a:ext uri="{FF2B5EF4-FFF2-40B4-BE49-F238E27FC236}">
                <a16:creationId xmlns:a16="http://schemas.microsoft.com/office/drawing/2014/main" id="{54BFDBA3-8F71-4F52-A4A9-2666BD925EA7}"/>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5A0CB6F-70AD-4EAF-8C9B-67D7FD91C0ED}"/>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Set high_use to the rows of df where kwh is greater than 5000.</a:t>
            </a:r>
          </a:p>
          <a:p xmlns:a="http://schemas.openxmlformats.org/drawingml/2006/main">
            <a: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Do this after q3 so the derived column comes along.</a:t>
            </a:r>
          </a:p>
        </p:txBody>
      </p:sp>
      <p:sp>
        <p:nvSpPr>
          <p:cNvPr id="6" name="">
            <a:extLst xmlns:a="http://schemas.openxmlformats.org/drawingml/2006/main">
              <a:ext uri="{FF2B5EF4-FFF2-40B4-BE49-F238E27FC236}">
                <a16:creationId xmlns:a16="http://schemas.microsoft.com/office/drawing/2014/main" id="{F098C9DA-2219-42DB-8591-CE3B4C3A0207}"/>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AB22C85-83C3-460B-B817-FEFA9DB3FA78}"/>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DE8AFDA6-25E4-4DE8-BC4C-4ABA28100AB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40</a:t>
            </a:r>
          </a:p>
        </p:txBody>
      </p:sp>
    </p:spTree>
    <p:extLst>
      <p:ext uri="{BB962C8B-B14F-4D97-AF65-F5344CB8AC3E}">
        <p14:creationId xmlns:p14="http://schemas.microsoft.com/office/powerpoint/2010/main" val="907425093"/>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EC4AFD6-006E-46B9-ABCD-3765BBA7467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AA32378-F8EE-42BE-92C5-E01DD83E1AB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AB870D30-1582-458D-B4BE-25342821DEF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q5: 3 marks</a:t>
            </a:r>
          </a:p>
        </p:txBody>
      </p:sp>
      <p:sp>
        <p:nvSpPr>
          <p:cNvPr id="4" name="">
            <a:extLst xmlns:a="http://schemas.openxmlformats.org/drawingml/2006/main">
              <a:ext uri="{FF2B5EF4-FFF2-40B4-BE49-F238E27FC236}">
                <a16:creationId xmlns:a16="http://schemas.microsoft.com/office/drawing/2014/main" id="{1244E46F-688C-47FC-B668-F2BC28C4F35D}"/>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EFB9CF9-1683-4D90-B995-0DB239257E6C}"/>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Set mean_cost_per_kwh to the mean of the cost_per_kwh column.</a:t>
            </a:r>
          </a:p>
        </p:txBody>
      </p:sp>
      <p:sp>
        <p:nvSpPr>
          <p:cNvPr id="6" name="">
            <a:extLst xmlns:a="http://schemas.openxmlformats.org/drawingml/2006/main">
              <a:ext uri="{FF2B5EF4-FFF2-40B4-BE49-F238E27FC236}">
                <a16:creationId xmlns:a16="http://schemas.microsoft.com/office/drawing/2014/main" id="{08F2AD89-5293-4DE8-908F-FDE6FDFFE355}"/>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EE6BBDE-7D11-410E-93CF-A86FDCBE60A9}"/>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C8AA9CB1-3093-48AD-8F52-1F3CCA90F9A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41</a:t>
            </a:r>
          </a:p>
        </p:txBody>
      </p:sp>
    </p:spTree>
    <p:extLst>
      <p:ext uri="{BB962C8B-B14F-4D97-AF65-F5344CB8AC3E}">
        <p14:creationId xmlns:p14="http://schemas.microsoft.com/office/powerpoint/2010/main" val="1665422147"/>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6CFCD2A-D4E7-4281-8925-D1957AB96A8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8B9E620-54B6-47AD-B666-89F00B869CE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69D81475-4734-4CD9-948F-C5490317D01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q6: 3 marks</a:t>
            </a:r>
          </a:p>
        </p:txBody>
      </p:sp>
      <p:sp>
        <p:nvSpPr>
          <p:cNvPr id="4" name="">
            <a:extLst xmlns:a="http://schemas.openxmlformats.org/drawingml/2006/main">
              <a:ext uri="{FF2B5EF4-FFF2-40B4-BE49-F238E27FC236}">
                <a16:creationId xmlns:a16="http://schemas.microsoft.com/office/drawing/2014/main" id="{F4C04D59-9757-43CD-8168-1D55549B82B9}"/>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A3239AC-B01D-4559-BDBB-CBF3EC283CAB}"/>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Set peak_building to the name of the building with the highest total kwh.</a:t>
            </a:r>
          </a:p>
        </p:txBody>
      </p:sp>
      <p:sp>
        <p:nvSpPr>
          <p:cNvPr id="6" name="">
            <a:extLst xmlns:a="http://schemas.openxmlformats.org/drawingml/2006/main">
              <a:ext uri="{FF2B5EF4-FFF2-40B4-BE49-F238E27FC236}">
                <a16:creationId xmlns:a16="http://schemas.microsoft.com/office/drawing/2014/main" id="{8C7B4312-B2D9-4578-8161-7AA4039BF962}"/>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1A0FB4B-1FD2-4EDC-8140-13B12BAA7CC1}"/>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7298635D-07A9-499E-A360-1EAFA24A8B0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42</a:t>
            </a:r>
          </a:p>
        </p:txBody>
      </p:sp>
    </p:spTree>
    <p:extLst>
      <p:ext uri="{BB962C8B-B14F-4D97-AF65-F5344CB8AC3E}">
        <p14:creationId xmlns:p14="http://schemas.microsoft.com/office/powerpoint/2010/main" val="534375766"/>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CCC5C70-57CF-4763-A040-BD2D1A20E9F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8646C3C-C2DF-44F5-AFF8-0BF6DAE4049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ASSIGNMENT SUBMISSION</a:t>
            </a:r>
          </a:p>
        </p:txBody>
      </p:sp>
      <p:sp>
        <p:nvSpPr>
          <p:cNvPr id="3" name="">
            <a:extLst xmlns:a="http://schemas.openxmlformats.org/drawingml/2006/main">
              <a:ext uri="{FF2B5EF4-FFF2-40B4-BE49-F238E27FC236}">
                <a16:creationId xmlns:a16="http://schemas.microsoft.com/office/drawing/2014/main" id="{2C3AF023-C6C4-4759-86F2-2CE17C44A25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Pandas investigation submission</a:t>
            </a:r>
          </a:p>
        </p:txBody>
      </p:sp>
      <p:sp>
        <p:nvSpPr>
          <p:cNvPr id="4" name="">
            <a:extLst xmlns:a="http://schemas.openxmlformats.org/drawingml/2006/main">
              <a:ext uri="{FF2B5EF4-FFF2-40B4-BE49-F238E27FC236}">
                <a16:creationId xmlns:a16="http://schemas.microsoft.com/office/drawing/2014/main" id="{B27FE3E9-2E80-44ED-B597-2CB92679011B}"/>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BA3699C1-39F6-477A-8958-493D7F13EC21}"/>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Opens: 07 Oct 2026, 11:00 Kampala</a:t>
            </a:r>
          </a:p>
        </p:txBody>
      </p:sp>
      <p:sp>
        <p:nvSpPr>
          <p:cNvPr id="6" name="">
            <a:extLst xmlns:a="http://schemas.openxmlformats.org/drawingml/2006/main">
              <a:ext uri="{FF2B5EF4-FFF2-40B4-BE49-F238E27FC236}">
                <a16:creationId xmlns:a16="http://schemas.microsoft.com/office/drawing/2014/main" id="{07712422-30C7-440B-BAF4-267777B24239}"/>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0F18C7E7-570B-4AC6-A56A-52F68D7B608E}"/>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Deadline: 16 Oct 2026, 11:00 Kampala</a:t>
            </a:r>
          </a:p>
        </p:txBody>
      </p:sp>
      <p:sp>
        <p:nvSpPr>
          <p:cNvPr id="8" name="">
            <a:extLst xmlns:a="http://schemas.openxmlformats.org/drawingml/2006/main">
              <a:ext uri="{FF2B5EF4-FFF2-40B4-BE49-F238E27FC236}">
                <a16:creationId xmlns:a16="http://schemas.microsoft.com/office/drawing/2014/main" id="{E33CC0CE-6662-489A-9192-4A4A02B9D21E}"/>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788C58F-2570-4D63-83CB-5CB3A32F2BDD}"/>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full Student Registration Number in the form.</a:t>
            </a:r>
          </a:p>
        </p:txBody>
      </p:sp>
      <p:sp>
        <p:nvSpPr>
          <p:cNvPr id="10" name="">
            <a:extLst xmlns:a="http://schemas.openxmlformats.org/drawingml/2006/main">
              <a:ext uri="{FF2B5EF4-FFF2-40B4-BE49-F238E27FC236}">
                <a16:creationId xmlns:a16="http://schemas.microsoft.com/office/drawing/2014/main" id="{8EEC132C-8663-4CB1-8DAD-60C000361D85}"/>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8D8E6DAA-F4D5-496E-A59E-C46FA69F851A}"/>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submitted files and confirmation.</a:t>
            </a:r>
          </a:p>
        </p:txBody>
      </p:sp>
      <p:sp>
        <p:nvSpPr>
          <p:cNvPr id="12" name="">
            <a:extLst xmlns:a="http://schemas.openxmlformats.org/drawingml/2006/main">
              <a:ext uri="{FF2B5EF4-FFF2-40B4-BE49-F238E27FC236}">
                <a16:creationId xmlns:a16="http://schemas.microsoft.com/office/drawing/2014/main" id="{07EE7EDB-3AAE-4BEF-9EF4-0E698759B39F}"/>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9D097CC-7DE4-40F4-A53D-744B4F88EEAA}"/>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56ba2946f34a4a81"/>
              </a:rPr>
              <a:t>Open W05 assignment form</a:t>
            </a:r>
          </a:p>
        </p:txBody>
      </p:sp>
      <p:sp>
        <p:nvSpPr>
          <p:cNvPr id="14" name="">
            <a:extLst xmlns:a="http://schemas.openxmlformats.org/drawingml/2006/main">
              <a:ext uri="{FF2B5EF4-FFF2-40B4-BE49-F238E27FC236}">
                <a16:creationId xmlns:a16="http://schemas.microsoft.com/office/drawing/2014/main" id="{F5DF77EA-64B2-4019-A1CF-3585AD4B08F6}"/>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https://docs.google.com/forms/d/e/1FAIpQLSea9Y9pC-JeaVEPpu4prViKZaOHF8cmPczko8iGDiPmr73I2A/viewform</a:t>
            </a:r>
          </a:p>
        </p:txBody>
      </p:sp>
      <p:sp>
        <p:nvSpPr>
          <p:cNvPr id="15" name="">
            <a:extLst xmlns:a="http://schemas.openxmlformats.org/drawingml/2006/main">
              <a:ext uri="{FF2B5EF4-FFF2-40B4-BE49-F238E27FC236}">
                <a16:creationId xmlns:a16="http://schemas.microsoft.com/office/drawing/2014/main" id="{CA5E3C2B-F214-468E-8F88-1DB48B55A80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43</a:t>
            </a:r>
          </a:p>
        </p:txBody>
      </p:sp>
    </p:spTree>
    <p:extLst>
      <p:ext uri="{BB962C8B-B14F-4D97-AF65-F5344CB8AC3E}">
        <p14:creationId xmlns:p14="http://schemas.microsoft.com/office/powerpoint/2010/main" val="1909022489"/>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E7C864D-4411-45BF-81B9-E5C520B6BDE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4C63994-0DA0-4F4A-93BC-DFB9DE34394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EDE0BDA9-539E-416F-92C6-51A895F0033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Project preparation</a:t>
            </a:r>
          </a:p>
        </p:txBody>
      </p:sp>
      <p:sp>
        <p:nvSpPr>
          <p:cNvPr id="4" name="">
            <a:extLst xmlns:a="http://schemas.openxmlformats.org/drawingml/2006/main">
              <a:ext uri="{FF2B5EF4-FFF2-40B4-BE49-F238E27FC236}">
                <a16:creationId xmlns:a16="http://schemas.microsoft.com/office/drawing/2014/main" id="{7FECAA9F-89D8-4C4E-8A51-64378A0DE928}"/>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14CE92A-3EE2-4ACD-843C-8A183BE592AA}"/>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published data analysis project brief.</a:t>
            </a:r>
          </a:p>
        </p:txBody>
      </p:sp>
      <p:sp>
        <p:nvSpPr>
          <p:cNvPr id="6" name="">
            <a:extLst xmlns:a="http://schemas.openxmlformats.org/drawingml/2006/main">
              <a:ext uri="{FF2B5EF4-FFF2-40B4-BE49-F238E27FC236}">
                <a16:creationId xmlns:a16="http://schemas.microsoft.com/office/drawing/2014/main" id="{048D4F72-1FDA-4026-9D19-D0BC7BC07ACD}"/>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BC089255-2585-47B8-AAE9-997DDA95C06B}"/>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Build the evidence gradually in your project notebook.</a:t>
            </a:r>
          </a:p>
        </p:txBody>
      </p:sp>
      <p:sp>
        <p:nvSpPr>
          <p:cNvPr id="8" name="">
            <a:extLst xmlns:a="http://schemas.openxmlformats.org/drawingml/2006/main">
              <a:ext uri="{FF2B5EF4-FFF2-40B4-BE49-F238E27FC236}">
                <a16:creationId xmlns:a16="http://schemas.microsoft.com/office/drawing/2014/main" id="{326C4408-B080-4467-8EFF-84F4C94CDB66}"/>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94D3033B-BAD5-4420-AB4B-B2081A21605D}"/>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raw data, labelled charts, run instructions and individual contributions.</a:t>
            </a:r>
          </a:p>
        </p:txBody>
      </p:sp>
      <p:sp>
        <p:nvSpPr>
          <p:cNvPr id="10" name="">
            <a:extLst xmlns:a="http://schemas.openxmlformats.org/drawingml/2006/main">
              <a:ext uri="{FF2B5EF4-FFF2-40B4-BE49-F238E27FC236}">
                <a16:creationId xmlns:a16="http://schemas.microsoft.com/office/drawing/2014/main" id="{E3E74CA3-279F-42E3-A4B7-B1ACC4AC2AF3}"/>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9BB5323C-AD95-496B-AD78-E233D987CEEA}"/>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Published deadline: 30 Oct 2026, 11:00 Kampala</a:t>
            </a:r>
          </a:p>
        </p:txBody>
      </p:sp>
      <p:sp>
        <p:nvSpPr>
          <p:cNvPr id="12" name="">
            <a:extLst xmlns:a="http://schemas.openxmlformats.org/drawingml/2006/main">
              <a:ext uri="{FF2B5EF4-FFF2-40B4-BE49-F238E27FC236}">
                <a16:creationId xmlns:a16="http://schemas.microsoft.com/office/drawing/2014/main" id="{10A15441-BAB7-4897-B121-C36BBD3C766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44</a:t>
            </a:r>
          </a:p>
        </p:txBody>
      </p:sp>
    </p:spTree>
    <p:extLst>
      <p:ext uri="{BB962C8B-B14F-4D97-AF65-F5344CB8AC3E}">
        <p14:creationId xmlns:p14="http://schemas.microsoft.com/office/powerpoint/2010/main" val="502117863"/>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5F7217F-3B60-4440-A7CA-7FF09A7318A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003DDAD-D9F6-4796-8E7B-F3DCFD46730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QUIZ ACCESS</a:t>
            </a:r>
          </a:p>
        </p:txBody>
      </p:sp>
      <p:sp>
        <p:nvSpPr>
          <p:cNvPr id="3" name="">
            <a:extLst xmlns:a="http://schemas.openxmlformats.org/drawingml/2006/main">
              <a:ext uri="{FF2B5EF4-FFF2-40B4-BE49-F238E27FC236}">
                <a16:creationId xmlns:a16="http://schemas.microsoft.com/office/drawing/2014/main" id="{421E3877-E838-4B20-8FF0-ACE08589D44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Week 5 quiz</a:t>
            </a:r>
          </a:p>
        </p:txBody>
      </p:sp>
      <p:sp>
        <p:nvSpPr>
          <p:cNvPr id="4" name="">
            <a:extLst xmlns:a="http://schemas.openxmlformats.org/drawingml/2006/main">
              <a:ext uri="{FF2B5EF4-FFF2-40B4-BE49-F238E27FC236}">
                <a16:creationId xmlns:a16="http://schemas.microsoft.com/office/drawing/2014/main" id="{01BBFC70-2EC2-4DD8-AF20-F565407DE02F}"/>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20B3677D-4181-4D92-9DD2-08BCAF123318}"/>
              </a:ext>
            </a:extLst>
          </p:cNvPr>
          <p:cNvSpPr>
            <a:spLocks xmlns:a="http://schemas.openxmlformats.org/drawingml/2006/main" noGrp="1"/>
          </p:cNvSpPr>
          <p:nvPr/>
        </p:nvSpPr>
        <p:spPr>
          <a:xfrm xmlns:a="http://schemas.openxmlformats.org/drawingml/2006/main">
            <a:off x="1381125" y="1724025"/>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Answer individually after the lecturer activates the quiz.</a:t>
            </a:r>
          </a:p>
        </p:txBody>
      </p:sp>
      <p:sp>
        <p:nvSpPr>
          <p:cNvPr id="6" name="">
            <a:extLst xmlns:a="http://schemas.openxmlformats.org/drawingml/2006/main">
              <a:ext uri="{FF2B5EF4-FFF2-40B4-BE49-F238E27FC236}">
                <a16:creationId xmlns:a16="http://schemas.microsoft.com/office/drawing/2014/main" id="{083A3079-60CE-4886-AA14-CBFB15A52326}"/>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02167792-CD72-4A31-9C7B-115B1D59C49D}"/>
              </a:ext>
            </a:extLst>
          </p:cNvPr>
          <p:cNvSpPr>
            <a:spLocks xmlns:a="http://schemas.openxmlformats.org/drawingml/2006/main" noGrp="1"/>
          </p:cNvSpPr>
          <p:nvPr/>
        </p:nvSpPr>
        <p:spPr>
          <a:xfrm xmlns:a="http://schemas.openxmlformats.org/drawingml/2006/main">
            <a:off x="1381125" y="2521744"/>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Available for 24 hours from activation.</a:t>
            </a:r>
          </a:p>
        </p:txBody>
      </p:sp>
      <p:sp>
        <p:nvSpPr>
          <p:cNvPr id="8" name="">
            <a:extLst xmlns:a="http://schemas.openxmlformats.org/drawingml/2006/main">
              <a:ext uri="{FF2B5EF4-FFF2-40B4-BE49-F238E27FC236}">
                <a16:creationId xmlns:a16="http://schemas.microsoft.com/office/drawing/2014/main" id="{74F283C7-ADB9-47B0-8281-888CA5590A5A}"/>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F87B14CB-74CA-44B4-865A-D0D2ECAB8EDC}"/>
              </a:ext>
            </a:extLst>
          </p:cNvPr>
          <p:cNvSpPr>
            <a:spLocks xmlns:a="http://schemas.openxmlformats.org/drawingml/2006/main" noGrp="1"/>
          </p:cNvSpPr>
          <p:nvPr/>
        </p:nvSpPr>
        <p:spPr>
          <a:xfrm xmlns:a="http://schemas.openxmlformats.org/drawingml/2006/main">
            <a:off x="1381125" y="3319463"/>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Student Registration Number and registered account.</a:t>
            </a:r>
          </a:p>
        </p:txBody>
      </p:sp>
      <p:sp>
        <p:nvSpPr>
          <p:cNvPr id="10" name="">
            <a:extLst xmlns:a="http://schemas.openxmlformats.org/drawingml/2006/main">
              <a:ext uri="{FF2B5EF4-FFF2-40B4-BE49-F238E27FC236}">
                <a16:creationId xmlns:a16="http://schemas.microsoft.com/office/drawing/2014/main" id="{8F7D13AA-1227-4E90-8115-EECFF05BDD97}"/>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38B5ADFF-D3F1-4FD5-89F3-628092B40C58}"/>
              </a:ext>
            </a:extLst>
          </p:cNvPr>
          <p:cNvSpPr>
            <a:spLocks xmlns:a="http://schemas.openxmlformats.org/drawingml/2006/main" noGrp="1"/>
          </p:cNvSpPr>
          <p:nvPr/>
        </p:nvSpPr>
        <p:spPr>
          <a:xfrm xmlns:a="http://schemas.openxmlformats.org/drawingml/2006/main">
            <a:off x="1381125" y="4117181"/>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lecturer will confirm the exact closing time.</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6a7eee1bcf5d4edd"/>
          <a:stretch xmlns:a="http://schemas.openxmlformats.org/drawingml/2006/main"/>
        </p:blipFill>
        <p:spPr>
          <a:xfrm xmlns:a="http://schemas.openxmlformats.org/drawingml/2006/main">
            <a:off x="9134475" y="2095500"/>
            <a:ext cx="2190750" cy="219075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2D5A8D1B-3AA3-4488-835F-3B3025AE96DA}"/>
              </a:ext>
            </a:extLst>
          </p:cNvPr>
          <p:cNvSpPr>
            <a:spLocks xmlns:a="http://schemas.openxmlformats.org/drawingml/2006/main" noGrp="1"/>
          </p:cNvSpPr>
          <p:nvPr/>
        </p:nvSpPr>
        <p:spPr>
          <a:xfrm xmlns:a="http://schemas.openxmlformats.org/drawingml/2006/main">
            <a:off x="9239250" y="44005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E4572E"/>
                </a:solidFill>
                <a:latin typeface="Calibri"/>
                <a:ea typeface="Calibri"/>
                <a:cs typeface="Calibri"/>
              </a:defRPr>
            </a:pPr>
            <a:r>
              <a:rPr sz="2100" b="1">
                <a:solidFill>
                  <a:srgbClr val="E4572E"/>
                </a:solidFill>
                <a:latin typeface="Calibri"/>
                <a:ea typeface="Calibri"/>
                <a:cs typeface="Calibri"/>
              </a:rPr>
              <a:t>24 HOURS</a:t>
            </a:r>
          </a:p>
        </p:txBody>
      </p:sp>
      <p:sp>
        <p:nvSpPr>
          <p:cNvPr id="14" name="">
            <a:extLst xmlns:a="http://schemas.openxmlformats.org/drawingml/2006/main">
              <a:ext uri="{FF2B5EF4-FFF2-40B4-BE49-F238E27FC236}">
                <a16:creationId xmlns:a16="http://schemas.microsoft.com/office/drawing/2014/main" id="{8F051AA6-CD2C-43D6-BFE4-5BBC561FFD4C}"/>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6499C86-5757-4DB5-8DFE-1FD511D56CAC}"/>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9fd07727739649f4"/>
              </a:rPr>
              <a:t>Open this week’s quiz</a:t>
            </a:r>
          </a:p>
        </p:txBody>
      </p:sp>
      <p:sp>
        <p:nvSpPr>
          <p:cNvPr id="16" name="">
            <a:extLst xmlns:a="http://schemas.openxmlformats.org/drawingml/2006/main">
              <a:ext uri="{FF2B5EF4-FFF2-40B4-BE49-F238E27FC236}">
                <a16:creationId xmlns:a16="http://schemas.microsoft.com/office/drawing/2014/main" id="{DE942D8D-0DE3-4AE7-B262-86BE866AEC20}"/>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https://forms.gle/a2TPHUcEF6sacSnr6</a:t>
            </a:r>
          </a:p>
        </p:txBody>
      </p:sp>
      <p:sp>
        <p:nvSpPr>
          <p:cNvPr id="17" name="">
            <a:extLst xmlns:a="http://schemas.openxmlformats.org/drawingml/2006/main">
              <a:ext uri="{FF2B5EF4-FFF2-40B4-BE49-F238E27FC236}">
                <a16:creationId xmlns:a16="http://schemas.microsoft.com/office/drawing/2014/main" id="{D13EEFB4-7FE8-442D-AC39-5C9A602691D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45</a:t>
            </a:r>
          </a:p>
        </p:txBody>
      </p:sp>
    </p:spTree>
    <p:extLst>
      <p:ext uri="{BB962C8B-B14F-4D97-AF65-F5344CB8AC3E}">
        <p14:creationId xmlns:p14="http://schemas.microsoft.com/office/powerpoint/2010/main" val="832077755"/>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1003AD5-7D8B-4A2C-A4FF-C5F585D840B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E10085F-05B6-4948-99DC-7F4F60BFDD3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D792EF7A-3468-478C-9FD1-2BB0EEFADFD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Week 5 support</a:t>
            </a:r>
          </a:p>
        </p:txBody>
      </p:sp>
      <p:sp>
        <p:nvSpPr>
          <p:cNvPr id="4" name="">
            <a:extLst xmlns:a="http://schemas.openxmlformats.org/drawingml/2006/main">
              <a:ext uri="{FF2B5EF4-FFF2-40B4-BE49-F238E27FC236}">
                <a16:creationId xmlns:a16="http://schemas.microsoft.com/office/drawing/2014/main" id="{4AF881B9-ADD8-4067-9713-0B31DBB3E623}"/>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AC6BC477-0413-4D8F-BD13-790A7CD3B8C8}"/>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Friday 9 October has no normal class.</a:t>
            </a:r>
          </a:p>
        </p:txBody>
      </p:sp>
      <p:sp>
        <p:nvSpPr>
          <p:cNvPr id="6" name="">
            <a:extLst xmlns:a="http://schemas.openxmlformats.org/drawingml/2006/main">
              <a:ext uri="{FF2B5EF4-FFF2-40B4-BE49-F238E27FC236}">
                <a16:creationId xmlns:a16="http://schemas.microsoft.com/office/drawing/2014/main" id="{D6477724-780A-4952-81A9-9721D10F91C8}"/>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33C3EF7-247E-4D85-9196-BFAAFE52674C}"/>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lecturer will announce a supported replacement session or recording with a clinic.</a:t>
            </a:r>
          </a:p>
        </p:txBody>
      </p:sp>
      <p:sp>
        <p:nvSpPr>
          <p:cNvPr id="8" name="">
            <a:extLst xmlns:a="http://schemas.openxmlformats.org/drawingml/2006/main">
              <a:ext uri="{FF2B5EF4-FFF2-40B4-BE49-F238E27FC236}">
                <a16:creationId xmlns:a16="http://schemas.microsoft.com/office/drawing/2014/main" id="{6B9E8F5B-20BA-4682-9C77-C6E647B17CE8}"/>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9D3B2C56-3282-4D33-966F-F02CD1D2AE54}"/>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Week 6 starts with 30 minutes of consolidation.</a:t>
            </a:r>
          </a:p>
        </p:txBody>
      </p:sp>
      <p:sp>
        <p:nvSpPr>
          <p:cNvPr id="10" name="">
            <a:extLst xmlns:a="http://schemas.openxmlformats.org/drawingml/2006/main">
              <a:ext uri="{FF2B5EF4-FFF2-40B4-BE49-F238E27FC236}">
                <a16:creationId xmlns:a16="http://schemas.microsoft.com/office/drawing/2014/main" id="{A920DBE9-A1A7-4ACC-BD96-EB6B9A97DB8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5   46</a:t>
            </a:r>
          </a:p>
        </p:txBody>
      </p:sp>
    </p:spTree>
    <p:extLst>
      <p:ext uri="{BB962C8B-B14F-4D97-AF65-F5344CB8AC3E}">
        <p14:creationId xmlns:p14="http://schemas.microsoft.com/office/powerpoint/2010/main" val="1439120114"/>
      </p:ext>
    </p:extLst>
  </p:cSld>
</p:sld>
</file>

<file path=ppt/slides/slide47.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EDE8214-4F2C-4005-A72F-006E7440529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INDIVIDUAL EXIT CHECK</a:t>
            </a:r>
          </a:p>
        </p:txBody>
      </p:sp>
      <p:sp>
        <p:nvSpPr>
          <p:cNvPr id="2" name="">
            <a:extLst xmlns:a="http://schemas.openxmlformats.org/drawingml/2006/main">
              <a:ext uri="{FF2B5EF4-FFF2-40B4-BE49-F238E27FC236}">
                <a16:creationId xmlns:a16="http://schemas.microsoft.com/office/drawing/2014/main" id="{F8A29B1E-C8DB-4156-B037-D1664471FE8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Before you leave</a:t>
            </a:r>
          </a:p>
        </p:txBody>
      </p:sp>
      <p:sp>
        <p:nvSpPr>
          <p:cNvPr id="3" name="">
            <a:extLst xmlns:a="http://schemas.openxmlformats.org/drawingml/2006/main">
              <a:ext uri="{FF2B5EF4-FFF2-40B4-BE49-F238E27FC236}">
                <a16:creationId xmlns:a16="http://schemas.microsoft.com/office/drawing/2014/main" id="{44A5BACA-7B7C-40D5-B611-E16457709927}"/>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EXPLAIN IT</a:t>
            </a:r>
          </a:p>
        </p:txBody>
      </p:sp>
      <p:sp>
        <p:nvSpPr>
          <p:cNvPr id="4" name="">
            <a:extLst xmlns:a="http://schemas.openxmlformats.org/drawingml/2006/main">
              <a:ext uri="{FF2B5EF4-FFF2-40B4-BE49-F238E27FC236}">
                <a16:creationId xmlns:a16="http://schemas.microsoft.com/office/drawing/2014/main" id="{A7D47727-9896-4F7C-BC7F-4726BE793C9F}"/>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You can explain which observations a filter keeps and what a grouped total means.</a:t>
            </a:r>
          </a:p>
          <a:p xmlns:a="http://schemas.openxmlformats.org/drawingml/2006/main">
            <a:r>
              <a:t/>
            </a:r>
          </a:p>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Save your work and check the required submission files.</a:t>
            </a:r>
          </a:p>
        </p:txBody>
      </p:sp>
      <p:sp>
        <p:nvSpPr>
          <p:cNvPr id="5" name="">
            <a:extLst xmlns:a="http://schemas.openxmlformats.org/drawingml/2006/main">
              <a:ext uri="{FF2B5EF4-FFF2-40B4-BE49-F238E27FC236}">
                <a16:creationId xmlns:a16="http://schemas.microsoft.com/office/drawing/2014/main" id="{E51F193F-19E5-4899-B26F-15E4C7B07F88}"/>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Point to your evidence. Save your work.</a:t>
            </a:r>
          </a:p>
        </p:txBody>
      </p:sp>
      <p:sp>
        <p:nvSpPr>
          <p:cNvPr id="6" name="">
            <a:extLst xmlns:a="http://schemas.openxmlformats.org/drawingml/2006/main">
              <a:ext uri="{FF2B5EF4-FFF2-40B4-BE49-F238E27FC236}">
                <a16:creationId xmlns:a16="http://schemas.microsoft.com/office/drawing/2014/main" id="{D89ACF5D-FD78-4FB9-8387-AEA51D53BD7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CML3111   Week 5   47</a:t>
            </a:r>
          </a:p>
        </p:txBody>
      </p:sp>
    </p:spTree>
    <p:extLst>
      <p:ext uri="{BB962C8B-B14F-4D97-AF65-F5344CB8AC3E}">
        <p14:creationId xmlns:p14="http://schemas.microsoft.com/office/powerpoint/2010/main" val="13079289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2026-09-16T11:10:25.1160000Z</dcterms:created>
  <dcterms:modified xsi:type="dcterms:W3CDTF">2026-09-16T11:10:25.1160000Z</dcterms:modified>
</coreProperties>
</file>