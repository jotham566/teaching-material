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7900574fcae49f2" /><Relationship Type="http://schemas.openxmlformats.org/officeDocument/2006/relationships/extended-properties" Target="/docProps/app.xml" Id="R1e69a2c24f664cf4" /><Relationship Type="http://schemas.openxmlformats.org/officeDocument/2006/relationships/officeDocument" Target="/ppt/presentation.xml" Id="Rdb55179530d3498c" /></Relationships>
</file>

<file path=ppt/presentation.xml><?xml version="1.0" encoding="utf-8"?>
<p:presentation xmlns:p="http://schemas.openxmlformats.org/presentationml/2006/main">
  <p:sldMasterIdLst>
    <p:sldMasterId xmlns:r="http://schemas.openxmlformats.org/officeDocument/2006/relationships" id="2147483648" r:id="Re32c78df0280493e"/>
  </p:sldMasterIdLst>
  <p:notesMasterIdLst>
    <p:notesMasterId xmlns:r="http://schemas.openxmlformats.org/officeDocument/2006/relationships" r:id="R7eac9dbfca144cea"/>
  </p:notesMasterIdLst>
  <p:sldIdLst>
    <p:sldId xmlns:r="http://schemas.openxmlformats.org/officeDocument/2006/relationships" id="256" r:id="Rd3a387a569034e0b"/>
    <p:sldId xmlns:r="http://schemas.openxmlformats.org/officeDocument/2006/relationships" id="257" r:id="R4199f30f599d4b81"/>
    <p:sldId xmlns:r="http://schemas.openxmlformats.org/officeDocument/2006/relationships" id="258" r:id="Rf9283cc8dd6d4886"/>
    <p:sldId xmlns:r="http://schemas.openxmlformats.org/officeDocument/2006/relationships" id="259" r:id="R3d3765e68a264330"/>
    <p:sldId xmlns:r="http://schemas.openxmlformats.org/officeDocument/2006/relationships" id="260" r:id="R2bc5b58638a347f8"/>
    <p:sldId xmlns:r="http://schemas.openxmlformats.org/officeDocument/2006/relationships" id="261" r:id="R686db768eb3147fa"/>
    <p:sldId xmlns:r="http://schemas.openxmlformats.org/officeDocument/2006/relationships" id="262" r:id="R1e22e00db359443f"/>
    <p:sldId xmlns:r="http://schemas.openxmlformats.org/officeDocument/2006/relationships" id="263" r:id="R619f49dd6aa44dca"/>
    <p:sldId xmlns:r="http://schemas.openxmlformats.org/officeDocument/2006/relationships" id="264" r:id="R4072d003270048f8"/>
    <p:sldId xmlns:r="http://schemas.openxmlformats.org/officeDocument/2006/relationships" id="265" r:id="Re054b82889884858"/>
    <p:sldId xmlns:r="http://schemas.openxmlformats.org/officeDocument/2006/relationships" id="266" r:id="R988000cb79c24b4a"/>
    <p:sldId xmlns:r="http://schemas.openxmlformats.org/officeDocument/2006/relationships" id="267" r:id="Recd5ee626a934c73"/>
    <p:sldId xmlns:r="http://schemas.openxmlformats.org/officeDocument/2006/relationships" id="268" r:id="R295de4277e804b78"/>
    <p:sldId xmlns:r="http://schemas.openxmlformats.org/officeDocument/2006/relationships" id="269" r:id="R28be4b0084df4813"/>
    <p:sldId xmlns:r="http://schemas.openxmlformats.org/officeDocument/2006/relationships" id="270" r:id="Rb98d6c43878c47cf"/>
    <p:sldId xmlns:r="http://schemas.openxmlformats.org/officeDocument/2006/relationships" id="271" r:id="R9a9c5360399a4b0e"/>
    <p:sldId xmlns:r="http://schemas.openxmlformats.org/officeDocument/2006/relationships" id="272" r:id="R9a491411d2ea4f59"/>
    <p:sldId xmlns:r="http://schemas.openxmlformats.org/officeDocument/2006/relationships" id="273" r:id="R7538c80665ed4f61"/>
    <p:sldId xmlns:r="http://schemas.openxmlformats.org/officeDocument/2006/relationships" id="274" r:id="Rc2f483843a824c1e"/>
    <p:sldId xmlns:r="http://schemas.openxmlformats.org/officeDocument/2006/relationships" id="275" r:id="R3cb332b820a84add"/>
    <p:sldId xmlns:r="http://schemas.openxmlformats.org/officeDocument/2006/relationships" id="276" r:id="Rd3f8f89d8e594e54"/>
    <p:sldId xmlns:r="http://schemas.openxmlformats.org/officeDocument/2006/relationships" id="277" r:id="Rd8d4ffe23bd5473f"/>
    <p:sldId xmlns:r="http://schemas.openxmlformats.org/officeDocument/2006/relationships" id="278" r:id="R63cbfaf0d16e4565"/>
    <p:sldId xmlns:r="http://schemas.openxmlformats.org/officeDocument/2006/relationships" id="279" r:id="Rf5c6cd02fa4d45db"/>
    <p:sldId xmlns:r="http://schemas.openxmlformats.org/officeDocument/2006/relationships" id="280" r:id="R3ed9f18a28ab4076"/>
    <p:sldId xmlns:r="http://schemas.openxmlformats.org/officeDocument/2006/relationships" id="281" r:id="R453c528192e04700"/>
    <p:sldId xmlns:r="http://schemas.openxmlformats.org/officeDocument/2006/relationships" id="282" r:id="Rb61c263f53734618"/>
    <p:sldId xmlns:r="http://schemas.openxmlformats.org/officeDocument/2006/relationships" id="283" r:id="R8e723acc56c04709"/>
    <p:sldId xmlns:r="http://schemas.openxmlformats.org/officeDocument/2006/relationships" id="284" r:id="Re96182db71324fb4"/>
    <p:sldId xmlns:r="http://schemas.openxmlformats.org/officeDocument/2006/relationships" id="285" r:id="R3f7fda25fa6e42ab"/>
    <p:sldId xmlns:r="http://schemas.openxmlformats.org/officeDocument/2006/relationships" id="286" r:id="R5ff53a0c5f884a53"/>
    <p:sldId xmlns:r="http://schemas.openxmlformats.org/officeDocument/2006/relationships" id="287" r:id="Rc40898be6cd04e34"/>
    <p:sldId xmlns:r="http://schemas.openxmlformats.org/officeDocument/2006/relationships" id="288" r:id="R28565870b6814cd2"/>
    <p:sldId xmlns:r="http://schemas.openxmlformats.org/officeDocument/2006/relationships" id="289" r:id="Rd5d0c9367f1044f6"/>
    <p:sldId xmlns:r="http://schemas.openxmlformats.org/officeDocument/2006/relationships" id="290" r:id="R0497f19db0fc418b"/>
    <p:sldId xmlns:r="http://schemas.openxmlformats.org/officeDocument/2006/relationships" id="291" r:id="Rd8bd7f65a296442e"/>
    <p:sldId xmlns:r="http://schemas.openxmlformats.org/officeDocument/2006/relationships" id="292" r:id="R8d25f00a40ad40a9"/>
    <p:sldId xmlns:r="http://schemas.openxmlformats.org/officeDocument/2006/relationships" id="293" r:id="Rab32b6448d834cd7"/>
    <p:sldId xmlns:r="http://schemas.openxmlformats.org/officeDocument/2006/relationships" id="294" r:id="R820d7705bcf54228"/>
    <p:sldId xmlns:r="http://schemas.openxmlformats.org/officeDocument/2006/relationships" id="295" r:id="Raaad894d22f545eb"/>
    <p:sldId xmlns:r="http://schemas.openxmlformats.org/officeDocument/2006/relationships" id="296" r:id="Rbd23562001614497"/>
    <p:sldId xmlns:r="http://schemas.openxmlformats.org/officeDocument/2006/relationships" id="297" r:id="R400769b9b49a4e4b"/>
    <p:sldId xmlns:r="http://schemas.openxmlformats.org/officeDocument/2006/relationships" id="298" r:id="R9c81c1a5d6aa4673"/>
    <p:sldId xmlns:r="http://schemas.openxmlformats.org/officeDocument/2006/relationships" id="299" r:id="R807cf2d464a54733"/>
    <p:sldId xmlns:r="http://schemas.openxmlformats.org/officeDocument/2006/relationships" id="300" r:id="R14158f37e138441a"/>
    <p:sldId xmlns:r="http://schemas.openxmlformats.org/officeDocument/2006/relationships" id="301" r:id="R7c059829736040e7"/>
    <p:sldId xmlns:r="http://schemas.openxmlformats.org/officeDocument/2006/relationships" id="302" r:id="R87eec742ac0d4928"/>
    <p:sldId xmlns:r="http://schemas.openxmlformats.org/officeDocument/2006/relationships" id="303" r:id="R67e4922c1ea34a4a"/>
    <p:sldId xmlns:r="http://schemas.openxmlformats.org/officeDocument/2006/relationships" id="304" r:id="Rd50d42e830844375"/>
    <p:sldId xmlns:r="http://schemas.openxmlformats.org/officeDocument/2006/relationships" id="305" r:id="R72c124d728ed4e39"/>
    <p:sldId xmlns:r="http://schemas.openxmlformats.org/officeDocument/2006/relationships" id="306" r:id="R7c6ce6bdfc914234"/>
    <p:sldId xmlns:r="http://schemas.openxmlformats.org/officeDocument/2006/relationships" id="307" r:id="R9782ff453eda456f"/>
    <p:sldId xmlns:r="http://schemas.openxmlformats.org/officeDocument/2006/relationships" id="308" r:id="R37e0fe120af7478c"/>
    <p:sldId xmlns:r="http://schemas.openxmlformats.org/officeDocument/2006/relationships" id="309" r:id="R7f0174ac17bd4daf"/>
    <p:sldId xmlns:r="http://schemas.openxmlformats.org/officeDocument/2006/relationships" id="310" r:id="R3ecfbd42697f4b45"/>
    <p:sldId xmlns:r="http://schemas.openxmlformats.org/officeDocument/2006/relationships" id="311" r:id="Ra77549a96f604ffa"/>
    <p:sldId xmlns:r="http://schemas.openxmlformats.org/officeDocument/2006/relationships" id="312" r:id="R5d091bdbaa1c4252"/>
    <p:sldId xmlns:r="http://schemas.openxmlformats.org/officeDocument/2006/relationships" id="313" r:id="Rf9c4fcabdb0540cf"/>
    <p:sldId xmlns:r="http://schemas.openxmlformats.org/officeDocument/2006/relationships" id="314" r:id="Rdac9bb022af644e4"/>
    <p:sldId xmlns:r="http://schemas.openxmlformats.org/officeDocument/2006/relationships" id="315" r:id="Ra201213edc9d401f"/>
    <p:sldId xmlns:r="http://schemas.openxmlformats.org/officeDocument/2006/relationships" id="316" r:id="Rdfc0a18622a14d09"/>
    <p:sldId xmlns:r="http://schemas.openxmlformats.org/officeDocument/2006/relationships" id="317" r:id="Refe1d666c8414fc0"/>
    <p:sldId xmlns:r="http://schemas.openxmlformats.org/officeDocument/2006/relationships" id="318" r:id="R6c9c91d88baa40ed"/>
    <p:sldId xmlns:r="http://schemas.openxmlformats.org/officeDocument/2006/relationships" id="319" r:id="R3f99f81a47274239"/>
    <p:sldId xmlns:r="http://schemas.openxmlformats.org/officeDocument/2006/relationships" id="320" r:id="R73d485bffa844d3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1fe09b7d706441c" /><Relationship Type="http://schemas.openxmlformats.org/officeDocument/2006/relationships/slideMaster" Target="/ppt/slideMasters/slideMaster1.xml" Id="Re32c78df0280493e" /><Relationship Type="http://schemas.openxmlformats.org/officeDocument/2006/relationships/notesMaster" Target="/ppt/notesMasters/notesMaster1.xml" Id="R7eac9dbfca144cea" /><Relationship Type="http://schemas.openxmlformats.org/officeDocument/2006/relationships/presProps" Target="/ppt/presProps.xml" Id="R917c06fbbcc6495f" /><Relationship Type="http://schemas.openxmlformats.org/officeDocument/2006/relationships/tableStyles" Target="/ppt/tableStyles.xml" Id="R73ed5821db5e4ba4" /><Relationship Type="http://schemas.openxmlformats.org/officeDocument/2006/relationships/slide" Target="/ppt/slides/slide1.xml" Id="Rd3a387a569034e0b" /><Relationship Type="http://schemas.openxmlformats.org/officeDocument/2006/relationships/slide" Target="/ppt/slides/slide2.xml" Id="R4199f30f599d4b81" /><Relationship Type="http://schemas.openxmlformats.org/officeDocument/2006/relationships/slide" Target="/ppt/slides/slide3.xml" Id="Rf9283cc8dd6d4886" /><Relationship Type="http://schemas.openxmlformats.org/officeDocument/2006/relationships/slide" Target="/ppt/slides/slide4.xml" Id="R3d3765e68a264330" /><Relationship Type="http://schemas.openxmlformats.org/officeDocument/2006/relationships/slide" Target="/ppt/slides/slide5.xml" Id="R2bc5b58638a347f8" /><Relationship Type="http://schemas.openxmlformats.org/officeDocument/2006/relationships/slide" Target="/ppt/slides/slide6.xml" Id="R686db768eb3147fa" /><Relationship Type="http://schemas.openxmlformats.org/officeDocument/2006/relationships/slide" Target="/ppt/slides/slide7.xml" Id="R1e22e00db359443f" /><Relationship Type="http://schemas.openxmlformats.org/officeDocument/2006/relationships/slide" Target="/ppt/slides/slide8.xml" Id="R619f49dd6aa44dca" /><Relationship Type="http://schemas.openxmlformats.org/officeDocument/2006/relationships/slide" Target="/ppt/slides/slide9.xml" Id="R4072d003270048f8" /><Relationship Type="http://schemas.openxmlformats.org/officeDocument/2006/relationships/slide" Target="/ppt/slides/slide10.xml" Id="Re054b82889884858" /><Relationship Type="http://schemas.openxmlformats.org/officeDocument/2006/relationships/slide" Target="/ppt/slides/slide11.xml" Id="R988000cb79c24b4a" /><Relationship Type="http://schemas.openxmlformats.org/officeDocument/2006/relationships/slide" Target="/ppt/slides/slide12.xml" Id="Recd5ee626a934c73" /><Relationship Type="http://schemas.openxmlformats.org/officeDocument/2006/relationships/slide" Target="/ppt/slides/slide13.xml" Id="R295de4277e804b78" /><Relationship Type="http://schemas.openxmlformats.org/officeDocument/2006/relationships/slide" Target="/ppt/slides/slide14.xml" Id="R28be4b0084df4813" /><Relationship Type="http://schemas.openxmlformats.org/officeDocument/2006/relationships/slide" Target="/ppt/slides/slide15.xml" Id="Rb98d6c43878c47cf" /><Relationship Type="http://schemas.openxmlformats.org/officeDocument/2006/relationships/slide" Target="/ppt/slides/slide16.xml" Id="R9a9c5360399a4b0e" /><Relationship Type="http://schemas.openxmlformats.org/officeDocument/2006/relationships/slide" Target="/ppt/slides/slide17.xml" Id="R9a491411d2ea4f59" /><Relationship Type="http://schemas.openxmlformats.org/officeDocument/2006/relationships/slide" Target="/ppt/slides/slide18.xml" Id="R7538c80665ed4f61" /><Relationship Type="http://schemas.openxmlformats.org/officeDocument/2006/relationships/slide" Target="/ppt/slides/slide19.xml" Id="Rc2f483843a824c1e" /><Relationship Type="http://schemas.openxmlformats.org/officeDocument/2006/relationships/slide" Target="/ppt/slides/slide20.xml" Id="R3cb332b820a84add" /><Relationship Type="http://schemas.openxmlformats.org/officeDocument/2006/relationships/slide" Target="/ppt/slides/slide21.xml" Id="Rd3f8f89d8e594e54" /><Relationship Type="http://schemas.openxmlformats.org/officeDocument/2006/relationships/slide" Target="/ppt/slides/slide22.xml" Id="Rd8d4ffe23bd5473f" /><Relationship Type="http://schemas.openxmlformats.org/officeDocument/2006/relationships/slide" Target="/ppt/slides/slide23.xml" Id="R63cbfaf0d16e4565" /><Relationship Type="http://schemas.openxmlformats.org/officeDocument/2006/relationships/slide" Target="/ppt/slides/slide24.xml" Id="Rf5c6cd02fa4d45db" /><Relationship Type="http://schemas.openxmlformats.org/officeDocument/2006/relationships/slide" Target="/ppt/slides/slide25.xml" Id="R3ed9f18a28ab4076" /><Relationship Type="http://schemas.openxmlformats.org/officeDocument/2006/relationships/slide" Target="/ppt/slides/slide26.xml" Id="R453c528192e04700" /><Relationship Type="http://schemas.openxmlformats.org/officeDocument/2006/relationships/slide" Target="/ppt/slides/slide27.xml" Id="Rb61c263f53734618" /><Relationship Type="http://schemas.openxmlformats.org/officeDocument/2006/relationships/slide" Target="/ppt/slides/slide28.xml" Id="R8e723acc56c04709" /><Relationship Type="http://schemas.openxmlformats.org/officeDocument/2006/relationships/slide" Target="/ppt/slides/slide29.xml" Id="Re96182db71324fb4" /><Relationship Type="http://schemas.openxmlformats.org/officeDocument/2006/relationships/slide" Target="/ppt/slides/slide30.xml" Id="R3f7fda25fa6e42ab" /><Relationship Type="http://schemas.openxmlformats.org/officeDocument/2006/relationships/slide" Target="/ppt/slides/slide31.xml" Id="R5ff53a0c5f884a53" /><Relationship Type="http://schemas.openxmlformats.org/officeDocument/2006/relationships/slide" Target="/ppt/slides/slide32.xml" Id="Rc40898be6cd04e34" /><Relationship Type="http://schemas.openxmlformats.org/officeDocument/2006/relationships/slide" Target="/ppt/slides/slide33.xml" Id="R28565870b6814cd2" /><Relationship Type="http://schemas.openxmlformats.org/officeDocument/2006/relationships/slide" Target="/ppt/slides/slide34.xml" Id="Rd5d0c9367f1044f6" /><Relationship Type="http://schemas.openxmlformats.org/officeDocument/2006/relationships/slide" Target="/ppt/slides/slide35.xml" Id="R0497f19db0fc418b" /><Relationship Type="http://schemas.openxmlformats.org/officeDocument/2006/relationships/slide" Target="/ppt/slides/slide36.xml" Id="Rd8bd7f65a296442e" /><Relationship Type="http://schemas.openxmlformats.org/officeDocument/2006/relationships/slide" Target="/ppt/slides/slide37.xml" Id="R8d25f00a40ad40a9" /><Relationship Type="http://schemas.openxmlformats.org/officeDocument/2006/relationships/slide" Target="/ppt/slides/slide38.xml" Id="Rab32b6448d834cd7" /><Relationship Type="http://schemas.openxmlformats.org/officeDocument/2006/relationships/slide" Target="/ppt/slides/slide39.xml" Id="R820d7705bcf54228" /><Relationship Type="http://schemas.openxmlformats.org/officeDocument/2006/relationships/slide" Target="/ppt/slides/slide40.xml" Id="Raaad894d22f545eb" /><Relationship Type="http://schemas.openxmlformats.org/officeDocument/2006/relationships/slide" Target="/ppt/slides/slide41.xml" Id="Rbd23562001614497" /><Relationship Type="http://schemas.openxmlformats.org/officeDocument/2006/relationships/slide" Target="/ppt/slides/slide42.xml" Id="R400769b9b49a4e4b" /><Relationship Type="http://schemas.openxmlformats.org/officeDocument/2006/relationships/slide" Target="/ppt/slides/slide43.xml" Id="R9c81c1a5d6aa4673" /><Relationship Type="http://schemas.openxmlformats.org/officeDocument/2006/relationships/slide" Target="/ppt/slides/slide44.xml" Id="R807cf2d464a54733" /><Relationship Type="http://schemas.openxmlformats.org/officeDocument/2006/relationships/slide" Target="/ppt/slides/slide45.xml" Id="R14158f37e138441a" /><Relationship Type="http://schemas.openxmlformats.org/officeDocument/2006/relationships/slide" Target="/ppt/slides/slide46.xml" Id="R7c059829736040e7" /><Relationship Type="http://schemas.openxmlformats.org/officeDocument/2006/relationships/slide" Target="/ppt/slides/slide47.xml" Id="R87eec742ac0d4928" /><Relationship Type="http://schemas.openxmlformats.org/officeDocument/2006/relationships/slide" Target="/ppt/slides/slide48.xml" Id="R67e4922c1ea34a4a" /><Relationship Type="http://schemas.openxmlformats.org/officeDocument/2006/relationships/slide" Target="/ppt/slides/slide49.xml" Id="Rd50d42e830844375" /><Relationship Type="http://schemas.openxmlformats.org/officeDocument/2006/relationships/slide" Target="/ppt/slides/slide50.xml" Id="R72c124d728ed4e39" /><Relationship Type="http://schemas.openxmlformats.org/officeDocument/2006/relationships/slide" Target="/ppt/slides/slide51.xml" Id="R7c6ce6bdfc914234" /><Relationship Type="http://schemas.openxmlformats.org/officeDocument/2006/relationships/slide" Target="/ppt/slides/slide52.xml" Id="R9782ff453eda456f" /><Relationship Type="http://schemas.openxmlformats.org/officeDocument/2006/relationships/slide" Target="/ppt/slides/slide53.xml" Id="R37e0fe120af7478c" /><Relationship Type="http://schemas.openxmlformats.org/officeDocument/2006/relationships/slide" Target="/ppt/slides/slide54.xml" Id="R7f0174ac17bd4daf" /><Relationship Type="http://schemas.openxmlformats.org/officeDocument/2006/relationships/slide" Target="/ppt/slides/slide55.xml" Id="R3ecfbd42697f4b45" /><Relationship Type="http://schemas.openxmlformats.org/officeDocument/2006/relationships/slide" Target="/ppt/slides/slide56.xml" Id="Ra77549a96f604ffa" /><Relationship Type="http://schemas.openxmlformats.org/officeDocument/2006/relationships/slide" Target="/ppt/slides/slide57.xml" Id="R5d091bdbaa1c4252" /><Relationship Type="http://schemas.openxmlformats.org/officeDocument/2006/relationships/slide" Target="/ppt/slides/slide58.xml" Id="Rf9c4fcabdb0540cf" /><Relationship Type="http://schemas.openxmlformats.org/officeDocument/2006/relationships/slide" Target="/ppt/slides/slide59.xml" Id="Rdac9bb022af644e4" /><Relationship Type="http://schemas.openxmlformats.org/officeDocument/2006/relationships/slide" Target="/ppt/slides/slide60.xml" Id="Ra201213edc9d401f" /><Relationship Type="http://schemas.openxmlformats.org/officeDocument/2006/relationships/slide" Target="/ppt/slides/slide61.xml" Id="Rdfc0a18622a14d09" /><Relationship Type="http://schemas.openxmlformats.org/officeDocument/2006/relationships/slide" Target="/ppt/slides/slide62.xml" Id="Refe1d666c8414fc0" /><Relationship Type="http://schemas.openxmlformats.org/officeDocument/2006/relationships/slide" Target="/ppt/slides/slide63.xml" Id="R6c9c91d88baa40ed" /><Relationship Type="http://schemas.openxmlformats.org/officeDocument/2006/relationships/slide" Target="/ppt/slides/slide64.xml" Id="R3f99f81a47274239" /><Relationship Type="http://schemas.openxmlformats.org/officeDocument/2006/relationships/slide" Target="/ppt/slides/slide65.xml" Id="R73d485bffa844d3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ef3c85de6748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302e4ae51c341b8" /><Relationship Type="http://schemas.openxmlformats.org/officeDocument/2006/relationships/notesMaster" Target="/ppt/notesMasters/notesMaster1.xml" Id="R325f91aa1cfa45e9"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e3f08409da4311" /><Relationship Type="http://schemas.openxmlformats.org/officeDocument/2006/relationships/notesMaster" Target="/ppt/notesMasters/notesMaster1.xml" Id="R3c05500fe5e9485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6bf0eebd3b4d49" /><Relationship Type="http://schemas.openxmlformats.org/officeDocument/2006/relationships/notesMaster" Target="/ppt/notesMasters/notesMaster1.xml" Id="R022c33f2957547a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319f6f74054484" /><Relationship Type="http://schemas.openxmlformats.org/officeDocument/2006/relationships/notesMaster" Target="/ppt/notesMasters/notesMaster1.xml" Id="R14e2d14ddc4045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5b38b7741242ee" /><Relationship Type="http://schemas.openxmlformats.org/officeDocument/2006/relationships/notesMaster" Target="/ppt/notesMasters/notesMaster1.xml" Id="Rb2046216e0c949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a749f0915c954247" /><Relationship Type="http://schemas.openxmlformats.org/officeDocument/2006/relationships/notesMaster" Target="/ppt/notesMasters/notesMaster1.xml" Id="Re7df830638f74af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491761f0fc49ba" /><Relationship Type="http://schemas.openxmlformats.org/officeDocument/2006/relationships/notesMaster" Target="/ppt/notesMasters/notesMaster1.xml" Id="R77209315f6514363" /></Relationships>
</file>

<file path=ppt/notesSlides/_rels/notesSlide8.xml.rels>&#65279;<?xml version="1.0" encoding="utf-8"?><Relationships xmlns="http://schemas.openxmlformats.org/package/2006/relationships"><Relationship Type="http://schemas.openxmlformats.org/officeDocument/2006/relationships/slide" Target="/ppt/slides/slide8.xml" Id="R25531be34d3f4189" /><Relationship Type="http://schemas.openxmlformats.org/officeDocument/2006/relationships/notesMaster" Target="/ppt/notesMasters/notesMaster1.xml" Id="Rb447ade0330f4f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b6ef77661534727" /><Relationship Type="http://schemas.openxmlformats.org/officeDocument/2006/relationships/notesMaster" Target="/ppt/notesMasters/notesMaster1.xml" Id="R445fc5548aab4bd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25a36bad5eb438d" /><Relationship Type="http://schemas.openxmlformats.org/officeDocument/2006/relationships/notesMaster" Target="/ppt/notesMasters/notesMaster1.xml" Id="Rde08bae44554478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60b46cc205467f" /><Relationship Type="http://schemas.openxmlformats.org/officeDocument/2006/relationships/notesMaster" Target="/ppt/notesMasters/notesMaster1.xml" Id="R5e2e284c720146c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ff6079889224f8a" /><Relationship Type="http://schemas.openxmlformats.org/officeDocument/2006/relationships/notesMaster" Target="/ppt/notesMasters/notesMaster1.xml" Id="R8303bcc292314af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75a27a570534740" /><Relationship Type="http://schemas.openxmlformats.org/officeDocument/2006/relationships/notesMaster" Target="/ppt/notesMasters/notesMaster1.xml" Id="R93840830140d494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4435206cb414983" /><Relationship Type="http://schemas.openxmlformats.org/officeDocument/2006/relationships/notesMaster" Target="/ppt/notesMasters/notesMaster1.xml" Id="R058745fe7b5749c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60c7c4f23f44db" /><Relationship Type="http://schemas.openxmlformats.org/officeDocument/2006/relationships/notesMaster" Target="/ppt/notesMasters/notesMaster1.xml" Id="R4031f8102d254bb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eb7b30155043bb" /><Relationship Type="http://schemas.openxmlformats.org/officeDocument/2006/relationships/notesMaster" Target="/ppt/notesMasters/notesMaster1.xml" Id="R56c014ee6f1944b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69af0a69d96481f" /><Relationship Type="http://schemas.openxmlformats.org/officeDocument/2006/relationships/notesMaster" Target="/ppt/notesMasters/notesMaster1.xml" Id="Rbbdb5103e2094d2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676b1b1ca34c45" /><Relationship Type="http://schemas.openxmlformats.org/officeDocument/2006/relationships/notesMaster" Target="/ppt/notesMasters/notesMaster1.xml" Id="Rb4783252db414b1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00d543aabbd4b0e" /><Relationship Type="http://schemas.openxmlformats.org/officeDocument/2006/relationships/notesMaster" Target="/ppt/notesMasters/notesMaster1.xml" Id="R016be601c69b483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a777f5e01fd444b" /><Relationship Type="http://schemas.openxmlformats.org/officeDocument/2006/relationships/notesMaster" Target="/ppt/notesMasters/notesMaster1.xml" Id="Rb8162c32c0b04f2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6cf69ed42f44c37" /><Relationship Type="http://schemas.openxmlformats.org/officeDocument/2006/relationships/notesMaster" Target="/ppt/notesMasters/notesMaster1.xml" Id="R31552b97c4f7411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60f893772814f6a" /><Relationship Type="http://schemas.openxmlformats.org/officeDocument/2006/relationships/notesMaster" Target="/ppt/notesMasters/notesMaster1.xml" Id="Rcd420e05b05244e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cb793a0546d4330" /><Relationship Type="http://schemas.openxmlformats.org/officeDocument/2006/relationships/notesMaster" Target="/ppt/notesMasters/notesMaster1.xml" Id="Rd9488e0a401b4dc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acf4f3d726b418b" /><Relationship Type="http://schemas.openxmlformats.org/officeDocument/2006/relationships/notesMaster" Target="/ppt/notesMasters/notesMaster1.xml" Id="Reecea28d90fd446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aca483554c2488f" /><Relationship Type="http://schemas.openxmlformats.org/officeDocument/2006/relationships/notesMaster" Target="/ppt/notesMasters/notesMaster1.xml" Id="Rff30f6ab96f54b7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757b0ce06c4d60" /><Relationship Type="http://schemas.openxmlformats.org/officeDocument/2006/relationships/notesMaster" Target="/ppt/notesMasters/notesMaster1.xml" Id="R8fd0a33cb9524ca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6bedeaf35d94e2e" /><Relationship Type="http://schemas.openxmlformats.org/officeDocument/2006/relationships/notesMaster" Target="/ppt/notesMasters/notesMaster1.xml" Id="Rebe4ab5582ff42b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104cbcdf0ad422a" /><Relationship Type="http://schemas.openxmlformats.org/officeDocument/2006/relationships/notesMaster" Target="/ppt/notesMasters/notesMaster1.xml" Id="Rdbab728f49e94eb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f599615093d468c" /><Relationship Type="http://schemas.openxmlformats.org/officeDocument/2006/relationships/notesMaster" Target="/ppt/notesMasters/notesMaster1.xml" Id="R888b7d963e2f43d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ad84d36da014758" /><Relationship Type="http://schemas.openxmlformats.org/officeDocument/2006/relationships/notesMaster" Target="/ppt/notesMasters/notesMaster1.xml" Id="R7f94440a52eb4f8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b07f87efab845a9" /><Relationship Type="http://schemas.openxmlformats.org/officeDocument/2006/relationships/notesMaster" Target="/ppt/notesMasters/notesMaster1.xml" Id="R2d7674fda9e049f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e8cc94665e449f8" /><Relationship Type="http://schemas.openxmlformats.org/officeDocument/2006/relationships/notesMaster" Target="/ppt/notesMasters/notesMaster1.xml" Id="Rcf27b2202da543d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ca16d2892784ecc" /><Relationship Type="http://schemas.openxmlformats.org/officeDocument/2006/relationships/notesMaster" Target="/ppt/notesMasters/notesMaster1.xml" Id="Re43bb701daf4421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98076e0628a4326" /><Relationship Type="http://schemas.openxmlformats.org/officeDocument/2006/relationships/notesMaster" Target="/ppt/notesMasters/notesMaster1.xml" Id="Rf5b227829c3f4db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8b042e43e1e4e2a" /><Relationship Type="http://schemas.openxmlformats.org/officeDocument/2006/relationships/notesMaster" Target="/ppt/notesMasters/notesMaster1.xml" Id="Rf46c4e2010ff4c8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5bcefaf19f54980" /><Relationship Type="http://schemas.openxmlformats.org/officeDocument/2006/relationships/notesMaster" Target="/ppt/notesMasters/notesMaster1.xml" Id="Rf7b2619ab4b9465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46c4944854543e2" /><Relationship Type="http://schemas.openxmlformats.org/officeDocument/2006/relationships/notesMaster" Target="/ppt/notesMasters/notesMaster1.xml" Id="Re6992934689043d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4f9592e3725493c" /><Relationship Type="http://schemas.openxmlformats.org/officeDocument/2006/relationships/notesMaster" Target="/ppt/notesMasters/notesMaster1.xml" Id="R194fa972d4494ce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e9d71907fe244c2" /><Relationship Type="http://schemas.openxmlformats.org/officeDocument/2006/relationships/notesMaster" Target="/ppt/notesMasters/notesMaster1.xml" Id="R1a502b106a5d440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0bcb3de34e34278" /><Relationship Type="http://schemas.openxmlformats.org/officeDocument/2006/relationships/notesMaster" Target="/ppt/notesMasters/notesMaster1.xml" Id="R56ee4dbf889b45d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a44980e6adc4f51" /><Relationship Type="http://schemas.openxmlformats.org/officeDocument/2006/relationships/notesMaster" Target="/ppt/notesMasters/notesMaster1.xml" Id="R04995375b3c942a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2e5556cd2c94640" /><Relationship Type="http://schemas.openxmlformats.org/officeDocument/2006/relationships/notesMaster" Target="/ppt/notesMasters/notesMaster1.xml" Id="Ra5afd38142c24a0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c564d08fdef416d" /><Relationship Type="http://schemas.openxmlformats.org/officeDocument/2006/relationships/notesMaster" Target="/ppt/notesMasters/notesMaster1.xml" Id="Rc9eeda20e6584a1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779dbdab78245a0" /><Relationship Type="http://schemas.openxmlformats.org/officeDocument/2006/relationships/notesMaster" Target="/ppt/notesMasters/notesMaster1.xml" Id="R98b416cbe86a48d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0bf76a3c8b54c46" /><Relationship Type="http://schemas.openxmlformats.org/officeDocument/2006/relationships/notesMaster" Target="/ppt/notesMasters/notesMaster1.xml" Id="R4ff4dc299315491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f0a032265a746e1" /><Relationship Type="http://schemas.openxmlformats.org/officeDocument/2006/relationships/notesMaster" Target="/ppt/notesMasters/notesMaster1.xml" Id="Rea5eb24d01f94f5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51622e5a02e4022" /><Relationship Type="http://schemas.openxmlformats.org/officeDocument/2006/relationships/notesMaster" Target="/ppt/notesMasters/notesMaster1.xml" Id="Rcc96bb8238dc473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a4092840d994bb6" /><Relationship Type="http://schemas.openxmlformats.org/officeDocument/2006/relationships/notesMaster" Target="/ppt/notesMasters/notesMaster1.xml" Id="R3f4dd12c0bdf430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fd5558548184a5d" /><Relationship Type="http://schemas.openxmlformats.org/officeDocument/2006/relationships/notesMaster" Target="/ppt/notesMasters/notesMaster1.xml" Id="R29955c51eba9423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176ae882ea64d88" /><Relationship Type="http://schemas.openxmlformats.org/officeDocument/2006/relationships/notesMaster" Target="/ppt/notesMasters/notesMaster1.xml" Id="R8786f9619d7e4a5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0738a049dc247b9" /><Relationship Type="http://schemas.openxmlformats.org/officeDocument/2006/relationships/notesMaster" Target="/ppt/notesMasters/notesMaster1.xml" Id="R81e0e9911ac44a2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96499daa6f04187" /><Relationship Type="http://schemas.openxmlformats.org/officeDocument/2006/relationships/notesMaster" Target="/ppt/notesMasters/notesMaster1.xml" Id="R45d5fa4440db41b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30a63f11e3248f8" /><Relationship Type="http://schemas.openxmlformats.org/officeDocument/2006/relationships/notesMaster" Target="/ppt/notesMasters/notesMaster1.xml" Id="R724b3a7eee8a4e9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3545857c2ce46ad" /><Relationship Type="http://schemas.openxmlformats.org/officeDocument/2006/relationships/notesMaster" Target="/ppt/notesMasters/notesMaster1.xml" Id="R9201735aa19f453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83ab6a3b6fb41e1" /><Relationship Type="http://schemas.openxmlformats.org/officeDocument/2006/relationships/notesMaster" Target="/ppt/notesMasters/notesMaster1.xml" Id="Rc17f707e5b8745b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6576d5aca614853" /><Relationship Type="http://schemas.openxmlformats.org/officeDocument/2006/relationships/notesMaster" Target="/ppt/notesMasters/notesMaster1.xml" Id="R9e1ab45e8415474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0953348a61124300" /><Relationship Type="http://schemas.openxmlformats.org/officeDocument/2006/relationships/notesMaster" Target="/ppt/notesMasters/notesMaster1.xml" Id="R4a219c99f1a2492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b801a1488c749da" /><Relationship Type="http://schemas.openxmlformats.org/officeDocument/2006/relationships/notesMaster" Target="/ppt/notesMasters/notesMaster1.xml" Id="R0715ae47ebdc4c3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0833a9f31034869" /><Relationship Type="http://schemas.openxmlformats.org/officeDocument/2006/relationships/notesMaster" Target="/ppt/notesMasters/notesMaster1.xml" Id="R11f7e027d1154a7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c98b9f43c224b9d" /><Relationship Type="http://schemas.openxmlformats.org/officeDocument/2006/relationships/notesMaster" Target="/ppt/notesMasters/notesMaster1.xml" Id="R836a6e15a3e5432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7fedec3e1cc488d" /><Relationship Type="http://schemas.openxmlformats.org/officeDocument/2006/relationships/notesMaster" Target="/ppt/notesMasters/notesMaster1.xml" Id="R60a918384c294e1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2f3950637f340a5" /><Relationship Type="http://schemas.openxmlformats.org/officeDocument/2006/relationships/notesMaster" Target="/ppt/notesMasters/notesMaster1.xml" Id="R6b85d4f7883c4cd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34b0bf99bc84c83" /><Relationship Type="http://schemas.openxmlformats.org/officeDocument/2006/relationships/notesMaster" Target="/ppt/notesMasters/notesMaster1.xml" Id="R4b0c8e3082a34d0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70b35fc4fec463f" /><Relationship Type="http://schemas.openxmlformats.org/officeDocument/2006/relationships/notesMaster" Target="/ppt/notesMasters/notesMaster1.xml" Id="R11349aa070174fe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1cfb6d942c674660" /><Relationship Type="http://schemas.openxmlformats.org/officeDocument/2006/relationships/notesMaster" Target="/ppt/notesMasters/notesMaster1.xml" Id="R38637b2cd83f419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Python calculations and reusable functions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Python calculations and reusable functions.</a:t>
            </a:r>
          </a:p>
          <a:p>
            <a:r>
              <a:t/>
            </a:r>
          </a:p>
          <a:p>
            <a:r>
              <a:t>LECTURER CUE</a:t>
            </a:r>
          </a:p>
          <a:p>
            <a:r>
              <a:t>Ask learners to explain this goal in ordinary language. The first successful attempt matters more than covering optional extensions. Defer: Five-function libraries, module imports, scope details, debugger setup and six independent bug hunts can wait. Demonstrate one ordinary traceback and one unit mistake now.</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explain the difference between defining and calling a function, and between return and print. Re-model with double_value if these are confused.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building team records indoor temperature to investigate comfort. Civil students can discuss construction and inspection; architecture students can discuss shading and ventilation. Explain the quantities before using them.</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Start with numbers and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Start with numbers and values</a:t>
            </a:r>
          </a:p>
          <a:p>
            <a:r>
              <a:t/>
            </a:r>
          </a:p>
          <a:p>
            <a:r>
              <a:t>CONNECT</a:t>
            </a:r>
          </a:p>
          <a:p>
            <a:r>
              <a:t>Build on the preceding slide: The engineering context.</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POINT TO THE DEFINITION</a:t>
            </a:r>
          </a:p>
          <a:p>
            <a:r>
              <a:t>Number: A number expresses how much or how many: 3 items or 2.5 metres. Whole numbers count; decimal numbers can describe a part of a unit.</a:t>
            </a:r>
          </a:p>
          <a:p>
            <a:r>
              <a:t>Value and unit: A value is one piece of information. The number 2.5 is a value. A measurement also needs a unit, such as metres. Python does not attach that unit automatically.</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Start with numbers and values.</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POINT TO THE DEFINITION</a:t>
            </a:r>
          </a:p>
          <a:p>
            <a:r>
              <a:t>Variable: A name referring to a value. In length_m = 5, the right side is evaluated and assigned to length_m.</a:t>
            </a:r>
          </a:p>
          <a:p>
            <a:r>
              <a:t>int, float, str, bool: int represents whole numbers; float represents approximate real numbers such as 2.5; str is text in quotes; bool is True or False.</a:t>
            </a:r>
          </a:p>
          <a:p>
            <a:r>
              <a:t/>
            </a:r>
          </a:p>
          <a:p>
            <a:r>
              <a:t>NEXT</a:t>
            </a:r>
          </a:p>
          <a:p>
            <a:r>
              <a:t>A variable refers to its current value.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variable refers to its current value</a:t>
            </a:r>
          </a:p>
          <a:p>
            <a:r>
              <a:t/>
            </a:r>
          </a:p>
          <a:p>
            <a:r>
              <a:t>CONNECT</a:t>
            </a:r>
          </a:p>
          <a:p>
            <a:r>
              <a:t>Build on the preceding slide: Words we will use.</a:t>
            </a:r>
          </a:p>
          <a:p>
            <a:r>
              <a:t/>
            </a:r>
          </a:p>
          <a:p>
            <a:r>
              <a:t>LECTURER CUE</a:t>
            </a:r>
          </a:p>
          <a:p>
            <a:r>
              <a:t>This box is a simplified model of a name referring to a value. Other names could still refer to an earlier object.</a:t>
            </a:r>
          </a:p>
          <a:p>
            <a:r>
              <a:t>Source: existing course illustration figs/variable_box.png. These are illustrative examples, not this cohort’s assessed results.</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NEXT</a:t>
            </a:r>
          </a:p>
          <a:p>
            <a:r>
              <a:t>Python values have types.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Python values have types</a:t>
            </a:r>
          </a:p>
          <a:p>
            <a:r>
              <a:t/>
            </a:r>
          </a:p>
          <a:p>
            <a:r>
              <a:t>CONNECT</a:t>
            </a:r>
          </a:p>
          <a:p>
            <a:r>
              <a:t>Build on the preceding slide: A variable refers to its current value.</a:t>
            </a:r>
          </a:p>
          <a:p>
            <a:r>
              <a:t/>
            </a:r>
          </a:p>
          <a:p>
            <a:r>
              <a:t>LECTURER CUE</a:t>
            </a:r>
          </a:p>
          <a:p>
            <a:r>
              <a:t>3.5 + 2 gives 5.5. "3.5" + "2" joins text into "3.52".</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Operator.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Operator</a:t>
            </a:r>
          </a:p>
          <a:p>
            <a:r>
              <a:t/>
            </a:r>
          </a:p>
          <a:p>
            <a:r>
              <a:t>CONNECT</a:t>
            </a:r>
          </a:p>
          <a:p>
            <a:r>
              <a:t>Build on the preceding slide: Python values have types.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POINT TO THE DEFINITION</a:t>
            </a:r>
          </a:p>
          <a:p>
            <a:r>
              <a:t>Operator: A symbol for an operation: + adds, - subtracts, * multiplies, / divides, ** raises to a power. // floors a quotient, so -5 // 2 is -3.</a:t>
            </a:r>
          </a:p>
          <a:p>
            <a:r>
              <a:t/>
            </a:r>
          </a:p>
          <a:p>
            <a:r>
              <a:t>NEXT</a:t>
            </a:r>
          </a:p>
          <a:p>
            <a:r>
              <a:t>Read a function call before using 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a function call before using it</a:t>
            </a:r>
          </a:p>
          <a:p>
            <a:r>
              <a:t/>
            </a:r>
          </a:p>
          <a:p>
            <a:r>
              <a:t>CONNECT</a:t>
            </a:r>
          </a:p>
          <a:p>
            <a:r>
              <a:t>Build on the preceding slide: Operator.</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A built-in function: Python already provides tools such as print, type and float. A function call asks a named tool to do its work: print(3) displays 3.</a:t>
            </a:r>
          </a:p>
          <a:p>
            <a:r>
              <a:t>Parentheses, quotes and comments: Parentheses hold the inputs to a call. Quotes make text: "3.5" is text; float("3.5") converts it to a number. # starts a comment that Python does not run.</a:t>
            </a:r>
          </a:p>
          <a:p>
            <a:r>
              <a:t/>
            </a:r>
          </a:p>
          <a:p>
            <a:r>
              <a:t>NEXT</a:t>
            </a:r>
          </a:p>
          <a:p>
            <a:r>
              <a:t>Reading Python symbols.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Python symbols</a:t>
            </a:r>
          </a:p>
          <a:p>
            <a:r>
              <a:t/>
            </a:r>
          </a:p>
          <a:p>
            <a:r>
              <a:t>CONNECT</a:t>
            </a:r>
          </a:p>
          <a:p>
            <a:r>
              <a:t>Build on the preceding slide: Read a function call before using it.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Names, conversion and comments.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Names, conversion and comments</a:t>
            </a:r>
          </a:p>
          <a:p>
            <a:r>
              <a:t/>
            </a:r>
          </a:p>
          <a:p>
            <a:r>
              <a:t>CONNECT</a:t>
            </a:r>
          </a:p>
          <a:p>
            <a:r>
              <a:t>Build on the preceding slide: Reading Python symbols.</a:t>
            </a:r>
          </a:p>
          <a:p>
            <a:r>
              <a:t/>
            </a:r>
          </a:p>
          <a:p>
            <a:r>
              <a:t>LECTURER CUE</a:t>
            </a:r>
          </a:p>
          <a:p>
            <a:r>
              <a:t>Read each symbol before running. Ask everyone to predict. Expected output: 7.0 then &lt;class 'float'&gt;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WALK THROUGH THIS CODE</a:t>
            </a:r>
          </a:p>
          <a:p>
            <a:r>
              <a:t>float converts numeric text into a decimal number.</a:t>
            </a:r>
          </a:p>
          <a:p>
            <a:r>
              <a:t>type reports the kind of value: for example, float.</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Arithmetic that needs care.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Arithmetic that needs care</a:t>
            </a:r>
          </a:p>
          <a:p>
            <a:r>
              <a:t/>
            </a:r>
          </a:p>
          <a:p>
            <a:r>
              <a:t>CONNECT</a:t>
            </a:r>
          </a:p>
          <a:p>
            <a:r>
              <a:t>Build on the preceding slide: Names, conversion and comments.</a:t>
            </a:r>
          </a:p>
          <a:p>
            <a:r>
              <a:t/>
            </a:r>
          </a:p>
          <a:p>
            <a:r>
              <a:t>LECTURER CUE</a:t>
            </a:r>
          </a:p>
          <a:p>
            <a:r>
              <a:t>Floor division rounds down. Use parentheses to state the intended calculation. Keep units in variable names.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Read the quantities in your programme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quantities in your programme example</a:t>
            </a:r>
          </a:p>
          <a:p>
            <a:r>
              <a:t/>
            </a:r>
          </a:p>
          <a:p>
            <a:r>
              <a:t>CONNECT</a:t>
            </a:r>
          </a:p>
          <a:p>
            <a:r>
              <a:t>Build on the preceding slide: Arithmetic that needs care.</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POINT TO THE DEFINITION</a:t>
            </a:r>
          </a:p>
          <a:p>
            <a:r>
              <a:t>Length, width and area: Length and width are distances in metres (m). A rectangle’s area is length × width, measured in square metres (m²).</a:t>
            </a:r>
          </a:p>
          <a:p>
            <a:r>
              <a:t>Thickness and density: Thickness is the third distance. Area × thickness gives volume in m³. Density is mass per volume, in kg/m³; volume × density gives mass in kg.</a:t>
            </a:r>
          </a:p>
          <a:p>
            <a:r>
              <a:t/>
            </a:r>
          </a:p>
          <a:p>
            <a:r>
              <a:t>NEXT</a:t>
            </a:r>
          </a:p>
          <a:p>
            <a:r>
              <a:t>A calculation for your programme.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calculation for your programme</a:t>
            </a:r>
          </a:p>
          <a:p>
            <a:r>
              <a:t/>
            </a:r>
          </a:p>
          <a:p>
            <a:r>
              <a:t>CONNECT</a:t>
            </a:r>
          </a:p>
          <a:p>
            <a:r>
              <a:t>Build on the preceding slide: Read the quantities in your programme example.</a:t>
            </a:r>
          </a:p>
          <a:p>
            <a:r>
              <a:t/>
            </a:r>
          </a:p>
          <a:p>
            <a:r>
              <a:t>LECTURER CUE</a:t>
            </a:r>
          </a:p>
          <a:p>
            <a:r>
              <a:t>A rectangular floor is 5 m long and 3 m wide. Area = length × width = 15 m².</a:t>
            </a:r>
          </a:p>
          <a:p>
            <a:r>
              <a:t/>
            </a:r>
          </a:p>
          <a:p>
            <a:r>
              <a:t>NEXT</a:t>
            </a:r>
          </a:p>
          <a:p>
            <a:r>
              <a:t>The calculation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calculation in Python</a:t>
            </a:r>
          </a:p>
          <a:p>
            <a:r>
              <a:t/>
            </a:r>
          </a:p>
          <a:p>
            <a:r>
              <a:t>CONNECT</a:t>
            </a:r>
          </a:p>
          <a:p>
            <a:r>
              <a:t>Build on the preceding slide: A calculation for your programme.</a:t>
            </a:r>
          </a:p>
          <a:p>
            <a:r>
              <a:t/>
            </a:r>
          </a:p>
          <a:p>
            <a:r>
              <a:t>LECTURER CUE</a:t>
            </a:r>
          </a:p>
          <a:p>
            <a:r>
              <a:t>Read each name and unit. = assigns the number, * multiplies and / divides. print displays the result. A rectangular floor is 5 m long and 3 m wide. Area = length × width = 15 m².</a:t>
            </a:r>
          </a:p>
          <a:p>
            <a:r>
              <a:t/>
            </a:r>
          </a:p>
          <a:p>
            <a:r>
              <a:t>Complete practice code:</a:t>
            </a:r>
          </a:p>
          <a:p>
            <a:r>
              <a:t>length_m = 5</a:t>
            </a:r>
          </a:p>
          <a:p>
            <a:r>
              <a:t>width_m = 3</a:t>
            </a:r>
          </a:p>
          <a:p>
            <a:r>
              <a:t>area_m2 = length_m * width_m</a:t>
            </a:r>
          </a:p>
          <a:p>
            <a:r>
              <a:t>print(area_m2)</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change to predict.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change to predict</a:t>
            </a:r>
          </a:p>
          <a:p>
            <a:r>
              <a:t/>
            </a:r>
          </a:p>
          <a:p>
            <a:r>
              <a:t>CONNECT</a:t>
            </a:r>
          </a:p>
          <a:p>
            <a:r>
              <a:t>Build on the preceding slide: The calculation in Python.</a:t>
            </a:r>
          </a:p>
          <a:p>
            <a:r>
              <a:t/>
            </a:r>
          </a:p>
          <a:p>
            <a:r>
              <a:t>LECTURER CUE</a:t>
            </a:r>
          </a:p>
          <a:p>
            <a:r>
              <a:t>Expected practice answer: 21 m²</a:t>
            </a:r>
          </a:p>
          <a:p>
            <a:r>
              <a:t/>
            </a:r>
          </a:p>
          <a:p>
            <a:r>
              <a:t>DISCUSSION KEY FOR THIS SLIDE</a:t>
            </a:r>
          </a:p>
          <a:p>
            <a:r>
              <a:t>DISCUSS THE REASONING</a:t>
            </a:r>
          </a:p>
          <a:p>
            <a:r>
              <a:t>The practice result</a:t>
            </a:r>
          </a:p>
          <a:p>
            <a:r>
              <a:t>21 m²</a:t>
            </a:r>
          </a:p>
          <a:p>
            <a:r>
              <a:t>Which step produced this result? What changes if one input changes?</a:t>
            </a:r>
          </a:p>
          <a:p>
            <a:r>
              <a:t>CML3112   Week 3   18</a:t>
            </a:r>
          </a:p>
          <a:p>
            <a:r>
              <a:t>Let learners attempt first; use this to explain the reasoning, not just reveal the answer.</a:t>
            </a:r>
          </a:p>
          <a:p>
            <a:r>
              <a:t/>
            </a:r>
          </a:p>
          <a:p>
            <a:r>
              <a:t>NEXT</a:t>
            </a:r>
          </a:p>
          <a:p>
            <a:r>
              <a:t>The practice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practice result</a:t>
            </a:r>
          </a:p>
          <a:p>
            <a:r>
              <a:t/>
            </a:r>
          </a:p>
          <a:p>
            <a:r>
              <a:t>CONNECT</a:t>
            </a:r>
          </a:p>
          <a:p>
            <a:r>
              <a:t>Build on the preceding slide: A change to predict.</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Reading an error message.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an error message</a:t>
            </a:r>
          </a:p>
          <a:p>
            <a:r>
              <a:t/>
            </a:r>
          </a:p>
          <a:p>
            <a:r>
              <a:t>CONNECT</a:t>
            </a:r>
          </a:p>
          <a:p>
            <a:r>
              <a:t>Build on the preceding slide: The practice result.</a:t>
            </a:r>
          </a:p>
          <a:p>
            <a:r>
              <a:t/>
            </a:r>
          </a:p>
          <a:p>
            <a:r>
              <a:t>LECTURER CUE</a:t>
            </a:r>
          </a:p>
          <a:p>
            <a:r>
              <a:t>Read one row at a time and use a changed value. This is a syntax reference for the worked examples.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Condition.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Condition</a:t>
            </a:r>
          </a:p>
          <a:p>
            <a:r>
              <a:t/>
            </a:r>
          </a:p>
          <a:p>
            <a:r>
              <a:t>CONNECT</a:t>
            </a:r>
          </a:p>
          <a:p>
            <a:r>
              <a:t>Build on the preceding slide: Reading an error message.</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POINT TO THE DEFINITION</a:t>
            </a:r>
          </a:p>
          <a:p>
            <a:r>
              <a:t>Condition: A True/False question. == compares equality; = assigns. if selects a branch; else handles the other case. A colon starts an indented block.</a:t>
            </a:r>
          </a:p>
          <a:p>
            <a:r>
              <a:t/>
            </a:r>
          </a:p>
          <a:p>
            <a:r>
              <a:t>NEXT</a:t>
            </a:r>
          </a:p>
          <a:p>
            <a:r>
              <a:t>Comparison and logic.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Comparison and logic</a:t>
            </a:r>
          </a:p>
          <a:p>
            <a:r>
              <a:t/>
            </a:r>
          </a:p>
          <a:p>
            <a:r>
              <a:t>CONNECT</a:t>
            </a:r>
          </a:p>
          <a:p>
            <a:r>
              <a:t>Build on the preceding slide: Condition.</a:t>
            </a:r>
          </a:p>
          <a:p>
            <a:r>
              <a:t/>
            </a:r>
          </a:p>
          <a:p>
            <a:r>
              <a:t>LECTURER CUE</a:t>
            </a:r>
          </a:p>
          <a:p>
            <a:r>
              <a:t>Read one row at a time and use a changed value. This is a syntax reference for the worked examples.</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decision needs a colon and indentation.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decision needs a colon and indentation</a:t>
            </a:r>
          </a:p>
          <a:p>
            <a:r>
              <a:t/>
            </a:r>
          </a:p>
          <a:p>
            <a:r>
              <a:t>CONNECT</a:t>
            </a:r>
          </a:p>
          <a:p>
            <a:r>
              <a:t>Build on the preceding slide: Comparison and logic.</a:t>
            </a:r>
          </a:p>
          <a:p>
            <a:r>
              <a:t/>
            </a:r>
          </a:p>
          <a:p>
            <a:r>
              <a:t>LECTURER CUE</a:t>
            </a:r>
          </a:p>
          <a:p>
            <a:r>
              <a:t>Read each symbol before running. Ask everyone to predict. Expected output: below 30. Change 28 to 30 and predict warm. This is a toy threshold, not an engineering limit.</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if tests a condition. The chosen indented block runs.</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Function.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Function</a:t>
            </a:r>
          </a:p>
          <a:p>
            <a:r>
              <a:t/>
            </a:r>
          </a:p>
          <a:p>
            <a:r>
              <a:t>CONNECT</a:t>
            </a:r>
          </a:p>
          <a:p>
            <a:r>
              <a:t>Build on the preceding slide: A decision needs a colon and indentation.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Function: A named, reusable calculation or procedure. def introduces its definition. Parameters are the names for its inputs; arguments are the values supplied when calling it.</a:t>
            </a:r>
          </a:p>
          <a:p>
            <a:r>
              <a:t/>
            </a:r>
          </a:p>
          <a:p>
            <a:r>
              <a:t>NEXT</a:t>
            </a:r>
          </a:p>
          <a:p>
            <a:r>
              <a:t>Indentation and return.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Indentation and return</a:t>
            </a:r>
          </a:p>
          <a:p>
            <a:r>
              <a:t/>
            </a:r>
          </a:p>
          <a:p>
            <a:r>
              <a:t>CONNECT</a:t>
            </a:r>
          </a:p>
          <a:p>
            <a:r>
              <a:t>Build on the preceding slide: Function.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Indentation and return: Spaces at the start of a line group the function body. return hands a result to the calling code. print displays a value and returns None.</a:t>
            </a:r>
          </a:p>
          <a:p>
            <a:r>
              <a:t/>
            </a:r>
          </a:p>
          <a:p>
            <a:r>
              <a:t>NEXT</a:t>
            </a:r>
          </a:p>
          <a:p>
            <a:r>
              <a:t>A function definition and a 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function definition and a call</a:t>
            </a:r>
          </a:p>
          <a:p>
            <a:r>
              <a:t/>
            </a:r>
          </a:p>
          <a:p>
            <a:r>
              <a:t>CONNECT</a:t>
            </a:r>
          </a:p>
          <a:p>
            <a:r>
              <a:t>Build on the preceding slide: Indentation and return.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A calculation has inputs and an answer.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calculation has inputs and an answer</a:t>
            </a:r>
          </a:p>
          <a:p>
            <a:r>
              <a:t/>
            </a:r>
          </a:p>
          <a:p>
            <a:r>
              <a:t>CONNECT</a:t>
            </a:r>
          </a:p>
          <a:p>
            <a:r>
              <a:t>Build on the preceding slide: A function definition and a call.</a:t>
            </a:r>
          </a:p>
          <a:p>
            <a:r>
              <a:t/>
            </a:r>
          </a:p>
          <a:p>
            <a:r>
              <a:t>LECTURER CUE</a:t>
            </a:r>
          </a:p>
          <a:p>
            <a:r>
              <a:t>Work the cohort formula by hand before opening Python. State every unit. Use the four-line cohort calculation first; do not begin with formatting, imports or a long function.</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A reusable calculation.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reusable calculation</a:t>
            </a:r>
          </a:p>
          <a:p>
            <a:r>
              <a:t/>
            </a:r>
          </a:p>
          <a:p>
            <a:r>
              <a:t>CONNECT</a:t>
            </a:r>
          </a:p>
          <a:p>
            <a:r>
              <a:t>Build on the preceding slide: A calculation has inputs and an answer.</a:t>
            </a:r>
          </a:p>
          <a:p>
            <a:r>
              <a:t/>
            </a:r>
          </a:p>
          <a:p>
            <a:r>
              <a:t>LECTURER CUE</a:t>
            </a:r>
          </a:p>
          <a:p>
            <a:r>
              <a:t>Introduce one reusable calculation using the example below. Read def, the function name, parentheses, parameter, colon, indentation and return separately. Defining the function does not run its body.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Inputs, instructions and a returned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Inputs, instructions and a returned result</a:t>
            </a:r>
          </a:p>
          <a:p>
            <a:r>
              <a:t/>
            </a:r>
          </a:p>
          <a:p>
            <a:r>
              <a:t>CONNECT</a:t>
            </a:r>
          </a:p>
          <a:p>
            <a:r>
              <a:t>Build on the preceding slide: A reusable calculation.</a:t>
            </a:r>
          </a:p>
          <a:p>
            <a:r>
              <a:t/>
            </a:r>
          </a:p>
          <a:p>
            <a:r>
              <a:t>LECTURER CUE</a:t>
            </a:r>
          </a:p>
          <a:p>
            <a:r>
              <a:t>Read def, the name, parameters, colon, indentation, return and call. Definition creates the function. Its body waits for a call. Distinguish print, which displays, from return, which passes a value back.</a:t>
            </a:r>
          </a:p>
          <a:p>
            <a:r>
              <a:t>Source: existing course illustration figs/function_anatomy.png. These are illustrative examples, not this cohort’s assessed results.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Following a function 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Following a function call</a:t>
            </a:r>
          </a:p>
          <a:p>
            <a:r>
              <a:t/>
            </a:r>
          </a:p>
          <a:p>
            <a:r>
              <a:t>CONNECT</a:t>
            </a:r>
          </a:p>
          <a:p>
            <a:r>
              <a:t>Build on the preceding slide: Inputs, instructions and a returned result.</a:t>
            </a:r>
          </a:p>
          <a:p>
            <a:r>
              <a:t/>
            </a:r>
          </a:p>
          <a:p>
            <a:r>
              <a:t>LECTURER CUE</a:t>
            </a:r>
          </a:p>
          <a:p>
            <a:r>
              <a:t>Calling double_value(4) supplies 4 for x, calculates 8 and returns 8. The outer print displays it. Then teach an if/else guard with a separate small example.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Following a function call.</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def double_value(x):</a:t>
            </a:r>
          </a:p>
          <a:p>
            <a:r>
              <a:t>    return x * 2</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WALK THROUGH THIS CODE</a:t>
            </a:r>
          </a:p>
          <a:p>
            <a:r>
              <a:t>def names the function. Inputs go inside parentheses.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print(double_value(4))</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Positional and named inputs.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Positional and named inputs</a:t>
            </a:r>
          </a:p>
          <a:p>
            <a:r>
              <a:t/>
            </a:r>
          </a:p>
          <a:p>
            <a:r>
              <a:t>CONNECT</a:t>
            </a:r>
          </a:p>
          <a:p>
            <a:r>
              <a:t>Build on the preceding slide: Worked example continued.</a:t>
            </a:r>
          </a:p>
          <a:p>
            <a:r>
              <a:t/>
            </a:r>
          </a:p>
          <a:p>
            <a:r>
              <a:t>LECTURER CUE</a:t>
            </a:r>
          </a:p>
          <a:p>
            <a:r>
              <a:t>Read each symbol before running. Ask everyone to predict. Expected output: 6 then 6</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WALK THROUGH THIS CODE</a:t>
            </a:r>
          </a:p>
          <a:p>
            <a:r>
              <a:t>def names the function. Inputs go inside parentheses.</a:t>
            </a:r>
          </a:p>
          <a:p>
            <a:r>
              <a:t>return sends the result back to the caller.</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Positional and named inputs.</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def safe_share(total, people):</a:t>
            </a:r>
          </a:p>
          <a:p>
            <a:r>
              <a:t>    if people == 0:</a:t>
            </a:r>
          </a:p>
          <a:p>
            <a:r>
              <a:t>        return None</a:t>
            </a:r>
          </a:p>
          <a:p>
            <a:r>
              <a:t>    return total / people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WALK THROUGH THIS CODE</a:t>
            </a:r>
          </a:p>
          <a:p>
            <a:r>
              <a:t>def names the function. Inputs go inside parentheses.</a:t>
            </a:r>
          </a:p>
          <a:p>
            <a:r>
              <a:t>if tests a condition. The chosen indented block runs.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 continued.</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print(safe_share(12, 3))</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continued.</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A branch with a clear boundary.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branch with a clear boundary</a:t>
            </a:r>
          </a:p>
          <a:p>
            <a:r>
              <a:t/>
            </a:r>
          </a:p>
          <a:p>
            <a:r>
              <a:t>CONNECT</a:t>
            </a:r>
          </a:p>
          <a:p>
            <a:r>
              <a:t>Build on the preceding slide: Expected output.</a:t>
            </a:r>
          </a:p>
          <a:p>
            <a:r>
              <a:t/>
            </a:r>
          </a:p>
          <a:p>
            <a:r>
              <a:t>LECTURER CUE</a:t>
            </a:r>
          </a:p>
          <a:p>
            <a:r>
              <a:t>Read from the top. &gt;= includes the boundary. Only the selected branch runs. Try the value exactly at 10 as well as 9 and 11.</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A branch with a clear boundary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branch with a clear boundary in Python</a:t>
            </a:r>
          </a:p>
          <a:p>
            <a:r>
              <a:t/>
            </a:r>
          </a:p>
          <a:p>
            <a:r>
              <a:t>CONNECT</a:t>
            </a:r>
          </a:p>
          <a:p>
            <a:r>
              <a:t>Build on the preceding slide: A branch with a clear boundary.</a:t>
            </a:r>
          </a:p>
          <a:p>
            <a:r>
              <a:t/>
            </a:r>
          </a:p>
          <a:p>
            <a:r>
              <a:t>LECTURER CUE</a:t>
            </a:r>
          </a:p>
          <a:p>
            <a:r>
              <a:t>Read from the top. &gt;= includes the boundary. Only the selected branch runs. Try the value exactly at 10 as well as 9 and 11.</a:t>
            </a:r>
          </a:p>
          <a:p>
            <a:r>
              <a:t/>
            </a:r>
          </a:p>
          <a:p>
            <a:r>
              <a:t>Complete practice code:</a:t>
            </a:r>
          </a:p>
          <a:p>
            <a:r>
              <a:t>def check_level(value):</a:t>
            </a:r>
          </a:p>
          <a:p>
            <a:r>
              <a:t>    if value &gt;= 10:</a:t>
            </a:r>
          </a:p>
          <a:p>
            <a:r>
              <a:t>        return "high"</a:t>
            </a:r>
          </a:p>
          <a:p>
            <a:r>
              <a:t>    return "low"</a:t>
            </a:r>
          </a:p>
          <a:p>
            <a:r>
              <a:t/>
            </a:r>
          </a:p>
          <a:p>
            <a:r>
              <a:t>print(check_level(10))</a:t>
            </a:r>
          </a:p>
          <a:p>
            <a:r>
              <a:t>print(check_level(9))</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def names the function. Inputs go inside parentheses.</a:t>
            </a:r>
          </a:p>
          <a:p>
            <a:r>
              <a:t>if tests a condition. The chosen indented block runs.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Selecting a largest error without loops.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Selecting a largest error without loops</a:t>
            </a:r>
          </a:p>
          <a:p>
            <a:r>
              <a:t/>
            </a:r>
          </a:p>
          <a:p>
            <a:r>
              <a:t>CONNECT</a:t>
            </a:r>
          </a:p>
          <a:p>
            <a:r>
              <a:t>Build on the preceding slide: A branch with a clear boundary in Python.</a:t>
            </a:r>
          </a:p>
          <a:p>
            <a:r>
              <a:t/>
            </a:r>
          </a:p>
          <a:p>
            <a:r>
              <a:t>LECTURER CUE</a:t>
            </a:r>
          </a:p>
          <a:p>
            <a:r>
              <a:t>A list holds several values. abs removes the sign when measuring the SIZE of an error. max returns the largest supplied value. Keep the original signed error when the task asks for direction.</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NEXT</a:t>
            </a:r>
          </a:p>
          <a:p>
            <a:r>
              <a:t>Reading a short list.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 short list</a:t>
            </a:r>
          </a:p>
          <a:p>
            <a:r>
              <a:t/>
            </a:r>
          </a:p>
          <a:p>
            <a:r>
              <a:t>CONNECT</a:t>
            </a:r>
          </a:p>
          <a:p>
            <a:r>
              <a:t>Build on the preceding slide: Selecting a largest error without loops.</a:t>
            </a:r>
          </a:p>
          <a:p>
            <a:r>
              <a:t/>
            </a:r>
          </a:p>
          <a:p>
            <a:r>
              <a:t>LECTURER CUE</a:t>
            </a:r>
          </a:p>
          <a:p>
            <a:r>
              <a:t>Trace positions 0, 1 and 2. abs(-8) is 8. Use a new list for a prediction before running the example.</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Selecting a largest error without loops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Selecting a largest error without loops in Python</a:t>
            </a:r>
          </a:p>
          <a:p>
            <a:r>
              <a:t/>
            </a:r>
          </a:p>
          <a:p>
            <a:r>
              <a:t>CONNECT</a:t>
            </a:r>
          </a:p>
          <a:p>
            <a:r>
              <a:t>Build on the preceding slide: Reading a short list.</a:t>
            </a:r>
          </a:p>
          <a:p>
            <a:r>
              <a:t/>
            </a:r>
          </a:p>
          <a:p>
            <a:r>
              <a:t>LECTURER CUE</a:t>
            </a:r>
          </a:p>
          <a:p>
            <a:r>
              <a:t>A list holds several values. abs removes the sign when measuring the SIZE of an error. max returns the largest supplied value. Keep the original signed error when the task asks for direction.</a:t>
            </a:r>
          </a:p>
          <a:p>
            <a:r>
              <a:t/>
            </a:r>
          </a:p>
          <a:p>
            <a:r>
              <a:t>Complete practice code:</a:t>
            </a:r>
          </a:p>
          <a:p>
            <a:r>
              <a:t>errors = [-2, 5, -8]</a:t>
            </a:r>
          </a:p>
          <a:p>
            <a:r>
              <a:t>largest = max(abs(errors[0]), abs(errors[1]), abs(errors[2]))</a:t>
            </a:r>
          </a:p>
          <a:p>
            <a:r>
              <a:t>print(largest)</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Keep the reading beside its signed error.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Keep the reading beside its signed error</a:t>
            </a:r>
          </a:p>
          <a:p>
            <a:r>
              <a:t/>
            </a:r>
          </a:p>
          <a:p>
            <a:r>
              <a:t>CONNECT</a:t>
            </a:r>
          </a:p>
          <a:p>
            <a:r>
              <a:t>Build on the preceding slide: Selecting a largest error without loops in Python.</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NEXT</a:t>
            </a:r>
          </a:p>
          <a:p>
            <a:r>
              <a:t>Find a position, then recover the original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Find a position, then recover the original values</a:t>
            </a:r>
          </a:p>
          <a:p>
            <a:r>
              <a:t/>
            </a:r>
          </a:p>
          <a:p>
            <a:r>
              <a:t>CONNECT</a:t>
            </a:r>
          </a:p>
          <a:p>
            <a:r>
              <a:t>Build on the preceding slide: Keep the reading beside its signed error.</a:t>
            </a:r>
          </a:p>
          <a:p>
            <a:r>
              <a:t/>
            </a:r>
          </a:p>
          <a:p>
            <a:r>
              <a:t>LECTURER CUE</a:t>
            </a:r>
          </a:p>
          <a:p>
            <a:r>
              <a:t>Expected: 92 -8. The largest size is 8; the signed error is -8.</a:t>
            </a:r>
          </a:p>
          <a:p>
            <a:r>
              <a:t/>
            </a:r>
          </a:p>
          <a:p>
            <a:r>
              <a:t>Complete practice code:</a:t>
            </a:r>
          </a:p>
          <a:p>
            <a:r>
              <a:t>readings = [98, 105, 92]</a:t>
            </a:r>
          </a:p>
          <a:p>
            <a:r>
              <a:t>errors = [-2, 5, -8]</a:t>
            </a:r>
          </a:p>
          <a:p>
            <a:r>
              <a:t>sizes = [abs(errors[0]), abs(errors[1]), abs(errors[2])]</a:t>
            </a:r>
          </a:p>
          <a:p>
            <a:r>
              <a:t>position = sizes.index(max(sizes))</a:t>
            </a:r>
          </a:p>
          <a:p>
            <a:r>
              <a:t>print(readings[position], errors[position])</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 are the function.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function</a:t>
            </a:r>
          </a:p>
          <a:p>
            <a:r>
              <a:t/>
            </a:r>
          </a:p>
          <a:p>
            <a:r>
              <a:t>CONNECT</a:t>
            </a:r>
          </a:p>
          <a:p>
            <a:r>
              <a:t>Build on the preceding slide: Find a position, then recover the original values.</a:t>
            </a:r>
          </a:p>
          <a:p>
            <a:r>
              <a:t/>
            </a:r>
          </a:p>
          <a:p>
            <a:r>
              <a:t>LECTURER CUE</a:t>
            </a:r>
          </a:p>
          <a:p>
            <a:r>
              <a:t>Do this before revealing the discussion slide. One learner moves or writes the items, the other checks. Swap roles. Every student explains one step. Expected: The returned answers are 8 and 14. The same instructions accept different inputs.</a:t>
            </a:r>
          </a:p>
          <a:p>
            <a:r>
              <a:t>Wait for an individual prediction before inviting pair discussion. Give a first-step hint if needed.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function.</a:t>
            </a:r>
          </a:p>
          <a:p>
            <a:r>
              <a:t/>
            </a:r>
          </a:p>
          <a:p>
            <a:r>
              <a:t>LECTURER CUE</a:t>
            </a:r>
          </a:p>
          <a:p>
            <a:r>
              <a:t>Ask which step produced this answer. Return to the concrete action if a learner cannot explain it. This is practice feedback, never a quiz key.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triple_value returns x * 3. The calls give 15 and None respectively. The guard returns before division when people is zero.</a:t>
            </a:r>
          </a:p>
          <a:p>
            <a:r>
              <a:t/>
            </a:r>
          </a:p>
          <a:p>
            <a:r>
              <a:t>DISCUSSION KEY FOR THIS SLIDE</a:t>
            </a:r>
          </a:p>
          <a:p>
            <a:r>
              <a:t>DISCUSS THE REASONING</a:t>
            </a:r>
          </a:p>
          <a:p>
            <a:r>
              <a:t>Practice discussion</a:t>
            </a:r>
          </a:p>
          <a:p>
            <a:r>
              <a:t>triple_value returns x * 3. The calls give 15 and None respectively. The guard returns before division when people is zero.</a:t>
            </a:r>
          </a:p>
          <a:p>
            <a:r>
              <a:t>Which step produced this result? What changes if one input changes?</a:t>
            </a:r>
          </a:p>
          <a:p>
            <a:r>
              <a:t>CML3112   Week 3   46</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Read the quantities before the formulas.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quantities before the formulas</a:t>
            </a:r>
          </a:p>
          <a:p>
            <a:r>
              <a:t/>
            </a:r>
          </a:p>
          <a:p>
            <a:r>
              <a:t>CONNECT</a:t>
            </a:r>
          </a:p>
          <a:p>
            <a:r>
              <a:t>Build on the preceding slide: Practice discussion.</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Quantities and units.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Quantities and units</a:t>
            </a:r>
          </a:p>
          <a:p>
            <a:r>
              <a:t/>
            </a:r>
          </a:p>
          <a:p>
            <a:r>
              <a:t>CONNECT</a:t>
            </a:r>
          </a:p>
          <a:p>
            <a:r>
              <a:t>Build on the preceding slide: Read the quantities before the formulas.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Your programme formula.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programme formula</a:t>
            </a:r>
          </a:p>
          <a:p>
            <a:r>
              <a:t/>
            </a:r>
          </a:p>
          <a:p>
            <a:r>
              <a:t>CONNECT</a:t>
            </a:r>
          </a:p>
          <a:p>
            <a:r>
              <a:t>Build on the preceding slide: Quantities and units.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Your programme formula.</a:t>
            </a:r>
          </a:p>
          <a:p>
            <a:r>
              <a:t/>
            </a:r>
          </a:p>
          <a:p>
            <a:r>
              <a:t>LECTURER CUE</a:t>
            </a:r>
          </a:p>
          <a:p>
            <a:r>
              <a:t>Title/channel and subject confirmed from the original YouTube listing. Exact excerpt content has not been fully watched; keep the local worked example as the fallback.</a:t>
            </a:r>
          </a:p>
          <a:p>
            <a:r>
              <a:t>After viewing: Calculate 7 / 2 and 7 // 2 in Colab and explain the difference.</a:t>
            </a:r>
          </a:p>
          <a:p>
            <a:r>
              <a:t>Preview before class and stop after the selected short excerpt. If playback fails, teach the worked example. Video is optional. Source: https://www.youtube.com/watch?v=khKv-8q7YmY</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a:r>
              <a:t/>
            </a:r>
          </a:p>
          <a:p>
            <a:r>
              <a:t>EXPLAIN IN ORDINARY WORDS</a:t>
            </a:r>
          </a:p>
          <a:p>
            <a:r>
              <a:t>Signed percentage error compares a measurement with its expected reference: (measured - expected) / expected times 100. Positive means above the reference; negative means below it.</a:t>
            </a:r>
          </a:p>
          <a:p>
            <a:r>
              <a:t/>
            </a:r>
          </a:p>
          <a:p>
            <a:r>
              <a:t>CHECK AND EXPECTED ANSWER</a:t>
            </a:r>
          </a:p>
          <a:p>
            <a:r>
              <a:t>For measured 90 and expected 100, the signed error is -10%. Its size is 10%.</a:t>
            </a:r>
          </a:p>
          <a:p>
            <a:r>
              <a:t/>
            </a:r>
          </a:p>
          <a:p>
            <a:r>
              <a:t>IF LEARNERS ARE STUCK</a:t>
            </a:r>
          </a:p>
          <a:p>
            <a:r>
              <a:t>Calculate the difference first, divide by the reference, then multiply by 100. The formula needs a nonzero reference; follow the issued task contract for exceptional inputs.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Units branches and error messages.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Units branches and error messages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Units branches and error messages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Units branches and error messages continued</a:t>
            </a:r>
          </a:p>
          <a:p>
            <a:r>
              <a:t/>
            </a:r>
          </a:p>
          <a:p>
            <a:r>
              <a:t>CONNECT</a:t>
            </a:r>
          </a:p>
          <a:p>
            <a:r>
              <a:t>Build on the preceding slide: Units branches and error messages.</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Units branches and error messages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Units branches and error messages continued</a:t>
            </a:r>
          </a:p>
          <a:p>
            <a:r>
              <a:t/>
            </a:r>
          </a:p>
          <a:p>
            <a:r>
              <a:t>CONNECT</a:t>
            </a:r>
          </a:p>
          <a:p>
            <a:r>
              <a:t>Build on the preceding slide: Units branches and error messages continued.</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issued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assignment</a:t>
            </a:r>
          </a:p>
          <a:p>
            <a:r>
              <a:t/>
            </a:r>
          </a:p>
          <a:p>
            <a:r>
              <a:t>CONNECT</a:t>
            </a:r>
          </a:p>
          <a:p>
            <a:r>
              <a:t>Build on the preceding slide: Units branches and error messages continued.</a:t>
            </a:r>
          </a:p>
          <a:p>
            <a:r>
              <a:t/>
            </a:r>
          </a:p>
          <a:p>
            <a:r>
              <a:t>LECTURER CUE</a:t>
            </a:r>
          </a:p>
          <a:p>
            <a:r>
              <a:t># W03: variables and functions</a:t>
            </a:r>
          </a:p>
          <a:p>
            <a:r>
              <a:t>CML3112. Complete each named output. Save as STUDENT_ID_W03.ipynb.</a:t>
            </a:r>
          </a:p>
          <a:p>
            <a:r>
              <a:t>## q1: 3 marks</a:t>
            </a:r>
          </a:p>
          <a:p>
            <a:r>
              <a:t>A 40 kg motor sits on a bench. Set weight_n to its weight in newtons, taking g = 9.81.</a:t>
            </a:r>
          </a:p>
          <a:p>
            <a:r>
              <a:t>## q2: 4 marks</a:t>
            </a:r>
          </a:p>
          <a:p>
            <a:r>
              <a:t>Write percent_error(measured, expected) returning the signed percent error.</a:t>
            </a:r>
          </a:p>
          <a:p>
            <a:r>
              <a:t>## q3: 3 marks</a:t>
            </a:r>
          </a:p>
          <a:p>
            <a:r>
              <a:t>Write slab_mass(area_m2, thickness_m) returning the mass of the concrete slab in kg, taking concrete as 2400 kg/m3.</a:t>
            </a:r>
          </a:p>
          <a:p>
            <a:r>
              <a:t>## q4: 5 marks</a:t>
            </a:r>
          </a:p>
          <a:p>
            <a:r>
              <a:t>Write efficiency(out_w, in_w) returning the percentage, and returning None when in_w is zero or negative.</a:t>
            </a:r>
          </a:p>
          <a:p>
            <a:r>
              <a:t>## q5: 5 marks</a:t>
            </a:r>
          </a:p>
          <a:p>
            <a:r>
              <a:t>READINGS is given in the notebook. Using your own percent_error against a nominal of 100, set worst_reading to the reading with the largest error by size, and worst_error to that reading's signed percent error.</a:t>
            </a:r>
          </a:p>
          <a:p>
            <a:r>
              <a:t>You may compare these six readings directly; a loop is not required this week.</a:t>
            </a:r>
          </a:p>
          <a:p>
            <a:r>
              <a:t>Restart and Run All, then save your named notebook. Practice check results are feedback; the submitted notebook is graded independently.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q1: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q1: 3 marks</a:t>
            </a:r>
          </a:p>
          <a:p>
            <a:r>
              <a:t/>
            </a:r>
          </a:p>
          <a:p>
            <a:r>
              <a:t>CONNECT</a:t>
            </a:r>
          </a:p>
          <a:p>
            <a:r>
              <a:t>Build on the preceding slide: Your issued assignment.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q2: 4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q2: 4 marks</a:t>
            </a:r>
          </a:p>
          <a:p>
            <a:r>
              <a:t/>
            </a:r>
          </a:p>
          <a:p>
            <a:r>
              <a:t>CONNECT</a:t>
            </a:r>
          </a:p>
          <a:p>
            <a:r>
              <a:t>Build on the preceding slide: q1: 3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Signed percentage error compares a measurement with its expected reference: (measured - expected) / expected times 100. Positive means above the reference; negative means below it.</a:t>
            </a:r>
          </a:p>
          <a:p>
            <a:r>
              <a:t/>
            </a:r>
          </a:p>
          <a:p>
            <a:r>
              <a:t>CHECK AND EXPECTED ANSWER</a:t>
            </a:r>
          </a:p>
          <a:p>
            <a:r>
              <a:t>For measured 90 and expected 100, the signed error is -10%. Its size is 10%.</a:t>
            </a:r>
          </a:p>
          <a:p>
            <a:r>
              <a:t/>
            </a:r>
          </a:p>
          <a:p>
            <a:r>
              <a:t>IF LEARNERS ARE STUCK</a:t>
            </a:r>
          </a:p>
          <a:p>
            <a:r>
              <a:t>Calculate the difference first, divide by the reference, then multiply by 100. The formula needs a nonzero reference; follow the issued task contract for exceptional inputs.</a:t>
            </a:r>
          </a:p>
          <a:p>
            <a:r>
              <a:t/>
            </a:r>
          </a:p>
          <a:p>
            <a:r>
              <a:t>NEXT</a:t>
            </a:r>
          </a:p>
          <a:p>
            <a:r>
              <a:t>q3: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q3: 3 marks</a:t>
            </a:r>
          </a:p>
          <a:p>
            <a:r>
              <a:t/>
            </a:r>
          </a:p>
          <a:p>
            <a:r>
              <a:t>CONNECT</a:t>
            </a:r>
          </a:p>
          <a:p>
            <a:r>
              <a:t>Build on the preceding slide: q2: 4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q4: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q4: 5 marks</a:t>
            </a:r>
          </a:p>
          <a:p>
            <a:r>
              <a:t/>
            </a:r>
          </a:p>
          <a:p>
            <a:r>
              <a:t>CONNECT</a:t>
            </a:r>
          </a:p>
          <a:p>
            <a:r>
              <a:t>Build on the preceding slide: q3: 3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q5: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q5: 5 marks</a:t>
            </a:r>
          </a:p>
          <a:p>
            <a:r>
              <a:t/>
            </a:r>
          </a:p>
          <a:p>
            <a:r>
              <a:t>CONNECT</a:t>
            </a:r>
          </a:p>
          <a:p>
            <a:r>
              <a:t>Build on the preceding slide: q4: 5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Signed percentage error compares a measurement with its expected reference: (measured - expected) / expected times 100. Positive means above the reference; negative means below it.</a:t>
            </a:r>
          </a:p>
          <a:p>
            <a:r>
              <a:t/>
            </a:r>
          </a:p>
          <a:p>
            <a:r>
              <a:t>CHECK AND EXPECTED ANSWER</a:t>
            </a:r>
          </a:p>
          <a:p>
            <a:r>
              <a:t>For measured 90 and expected 100, the signed error is -10%. Its size is 10%.</a:t>
            </a:r>
          </a:p>
          <a:p>
            <a:r>
              <a:t/>
            </a:r>
          </a:p>
          <a:p>
            <a:r>
              <a:t>IF LEARNERS ARE STUCK</a:t>
            </a:r>
          </a:p>
          <a:p>
            <a:r>
              <a:t>Calculate the difference first, divide by the reference, then multiply by 100. The formula needs a nonzero reference; follow the issued task contract for exceptional inputs.</a:t>
            </a:r>
          </a:p>
          <a:p>
            <a:r>
              <a:t/>
            </a:r>
          </a:p>
          <a:p>
            <a:r>
              <a:t>NEXT</a:t>
            </a:r>
          </a:p>
          <a:p>
            <a:r>
              <a:t>Engineering functions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functions submission</a:t>
            </a:r>
          </a:p>
          <a:p>
            <a:r>
              <a:t/>
            </a:r>
          </a:p>
          <a:p>
            <a:r>
              <a:t>CONNECT</a:t>
            </a:r>
          </a:p>
          <a:p>
            <a:r>
              <a:t>Build on the preceding slide: q5: 5 marks.</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3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3 quiz</a:t>
            </a:r>
          </a:p>
          <a:p>
            <a:r>
              <a:t/>
            </a:r>
          </a:p>
          <a:p>
            <a:r>
              <a:t>CONNECT</a:t>
            </a:r>
          </a:p>
          <a:p>
            <a:r>
              <a:t>Build on the preceding slide: Engineering functions submission.</a:t>
            </a:r>
          </a:p>
          <a:p>
            <a:r>
              <a:t/>
            </a:r>
          </a:p>
          <a:p>
            <a:r>
              <a:t>LECTURER CUE</a:t>
            </a:r>
          </a:p>
          <a:p>
            <a:r>
              <a:t>Activate the matching open_W3_CML3112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3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d15fc1bda45490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7d05f85a14401b" /><Relationship Type="http://schemas.openxmlformats.org/officeDocument/2006/relationships/slideLayout" Target="/ppt/slideLayouts/slideLayout1.xml" Id="R6c209d6cb1df42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c209d6cb1df42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de7f168563744e9" /><Relationship Type="http://schemas.openxmlformats.org/officeDocument/2006/relationships/image" Target="/ppt/media/image.png" Id="R5528982efbee4f44" /><Relationship Type="http://schemas.openxmlformats.org/officeDocument/2006/relationships/notesSlide" Target="/ppt/notesSlides/notesSlide1.xml" Id="Re65d0e28b6934ca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f47dc8562a3464c" /><Relationship Type="http://schemas.openxmlformats.org/officeDocument/2006/relationships/notesSlide" Target="/ppt/notesSlides/notesSlide2.xml" Id="Rf8ec02fede934e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174ef307ef1429e" /><Relationship Type="http://schemas.openxmlformats.org/officeDocument/2006/relationships/notesSlide" Target="/ppt/notesSlides/notesSlide3.xml" Id="Rc09ff4426d644a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3631fd068fa451b" /><Relationship Type="http://schemas.openxmlformats.org/officeDocument/2006/relationships/notesSlide" Target="/ppt/notesSlides/notesSlide4.xml" Id="R8564a9dc9f7948c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eb21741225c4559" /><Relationship Type="http://schemas.openxmlformats.org/officeDocument/2006/relationships/notesSlide" Target="/ppt/notesSlides/notesSlide5.xml" Id="Rafb1ab4b74844d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b2c2b2b5020445d" /><Relationship Type="http://schemas.openxmlformats.org/officeDocument/2006/relationships/notesSlide" Target="/ppt/notesSlides/notesSlide6.xml" Id="Rdb00e862777b4f9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ee56889a10e466c" /><Relationship Type="http://schemas.openxmlformats.org/officeDocument/2006/relationships/image" Target="/ppt/media/image2.png" Id="R9d5b31c98f4b45d3" /><Relationship Type="http://schemas.openxmlformats.org/officeDocument/2006/relationships/notesSlide" Target="/ppt/notesSlides/notesSlide7.xml" Id="R69f29ad1e20544d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a3f5c295c71437f" /><Relationship Type="http://schemas.openxmlformats.org/officeDocument/2006/relationships/notesSlide" Target="/ppt/notesSlides/notesSlide8.xml" Id="R283c1053145740b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e2676ee9a0546e2" /><Relationship Type="http://schemas.openxmlformats.org/officeDocument/2006/relationships/notesSlide" Target="/ppt/notesSlides/notesSlide9.xml" Id="R1181bdd5af2f419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619788f66c541ab" /><Relationship Type="http://schemas.openxmlformats.org/officeDocument/2006/relationships/notesSlide" Target="/ppt/notesSlides/notesSlide10.xml" Id="R9283d961b84143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685b9746c1c4cc9" /><Relationship Type="http://schemas.openxmlformats.org/officeDocument/2006/relationships/notesSlide" Target="/ppt/notesSlides/notesSlide11.xml" Id="R635ad8b5866147e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fb3636bdf7e4aa2" /><Relationship Type="http://schemas.openxmlformats.org/officeDocument/2006/relationships/notesSlide" Target="/ppt/notesSlides/notesSlide12.xml" Id="R72700384ff1c4bf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fa554286c31475b" /><Relationship Type="http://schemas.openxmlformats.org/officeDocument/2006/relationships/notesSlide" Target="/ppt/notesSlides/notesSlide13.xml" Id="Rd8a45195266b401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1c50dea8f554d7d" /><Relationship Type="http://schemas.openxmlformats.org/officeDocument/2006/relationships/notesSlide" Target="/ppt/notesSlides/notesSlide14.xml" Id="R91cda0998890475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afa8dab44e54578" /><Relationship Type="http://schemas.openxmlformats.org/officeDocument/2006/relationships/notesSlide" Target="/ppt/notesSlides/notesSlide15.xml" Id="R04757ee09eb140f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dd8c50ca96940b2" /><Relationship Type="http://schemas.openxmlformats.org/officeDocument/2006/relationships/notesSlide" Target="/ppt/notesSlides/notesSlide16.xml" Id="R8bafd81d737a448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853da5e875e4676" /><Relationship Type="http://schemas.openxmlformats.org/officeDocument/2006/relationships/notesSlide" Target="/ppt/notesSlides/notesSlide17.xml" Id="Rb5878146b9e8435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739ebe617b34ae4" /><Relationship Type="http://schemas.openxmlformats.org/officeDocument/2006/relationships/notesSlide" Target="/ppt/notesSlides/notesSlide18.xml" Id="R567510d2aa41467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b8694641e4e4bea" /><Relationship Type="http://schemas.openxmlformats.org/officeDocument/2006/relationships/notesSlide" Target="/ppt/notesSlides/notesSlide19.xml" Id="R906d4ea32cc44a8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372a4425d864b4d" /><Relationship Type="http://schemas.openxmlformats.org/officeDocument/2006/relationships/notesSlide" Target="/ppt/notesSlides/notesSlide20.xml" Id="Ra41a28aa560448c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52ed69f0421465f" /><Relationship Type="http://schemas.openxmlformats.org/officeDocument/2006/relationships/notesSlide" Target="/ppt/notesSlides/notesSlide21.xml" Id="R0d62820350b940a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f325ee384a64b31" /><Relationship Type="http://schemas.openxmlformats.org/officeDocument/2006/relationships/notesSlide" Target="/ppt/notesSlides/notesSlide22.xml" Id="Rac4e398480b74be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d0c3b7e09274572" /><Relationship Type="http://schemas.openxmlformats.org/officeDocument/2006/relationships/notesSlide" Target="/ppt/notesSlides/notesSlide23.xml" Id="R2cb5b47e55f94e1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8b5daef20e44895" /><Relationship Type="http://schemas.openxmlformats.org/officeDocument/2006/relationships/notesSlide" Target="/ppt/notesSlides/notesSlide24.xml" Id="R6ae23212c35b4af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46fa440e1fe4a18" /><Relationship Type="http://schemas.openxmlformats.org/officeDocument/2006/relationships/notesSlide" Target="/ppt/notesSlides/notesSlide25.xml" Id="Rb63494a36195484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7c0b77dda354106" /><Relationship Type="http://schemas.openxmlformats.org/officeDocument/2006/relationships/notesSlide" Target="/ppt/notesSlides/notesSlide26.xml" Id="Rd9b9784c71af4cf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90c9c5d9dd941cd" /><Relationship Type="http://schemas.openxmlformats.org/officeDocument/2006/relationships/notesSlide" Target="/ppt/notesSlides/notesSlide27.xml" Id="Rdfecbc27ef194cf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58a966f11d94389" /><Relationship Type="http://schemas.openxmlformats.org/officeDocument/2006/relationships/image" Target="/ppt/media/image3.png" Id="R8e08deb379e945ea" /><Relationship Type="http://schemas.openxmlformats.org/officeDocument/2006/relationships/notesSlide" Target="/ppt/notesSlides/notesSlide28.xml" Id="Re3c39396ba5e444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4a486e14a204edb" /><Relationship Type="http://schemas.openxmlformats.org/officeDocument/2006/relationships/notesSlide" Target="/ppt/notesSlides/notesSlide29.xml" Id="R9c2075c7f6a747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c66e3c559154ce4" /><Relationship Type="http://schemas.openxmlformats.org/officeDocument/2006/relationships/notesSlide" Target="/ppt/notesSlides/notesSlide30.xml" Id="R711e778a874147d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225f77e3de04974" /><Relationship Type="http://schemas.openxmlformats.org/officeDocument/2006/relationships/notesSlide" Target="/ppt/notesSlides/notesSlide31.xml" Id="R016085b83288480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a82809bfe65462e" /><Relationship Type="http://schemas.openxmlformats.org/officeDocument/2006/relationships/notesSlide" Target="/ppt/notesSlides/notesSlide32.xml" Id="R6f1111f1d1ab424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ddfdd660c1b4a5c" /><Relationship Type="http://schemas.openxmlformats.org/officeDocument/2006/relationships/notesSlide" Target="/ppt/notesSlides/notesSlide33.xml" Id="R10608e11f036412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f01baebb5a847ec" /><Relationship Type="http://schemas.openxmlformats.org/officeDocument/2006/relationships/notesSlide" Target="/ppt/notesSlides/notesSlide34.xml" Id="Rfe2c762c42084df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f3c5375e60684191" /><Relationship Type="http://schemas.openxmlformats.org/officeDocument/2006/relationships/notesSlide" Target="/ppt/notesSlides/notesSlide35.xml" Id="Rffe461d689cb4ae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13fe7475796d4801" /><Relationship Type="http://schemas.openxmlformats.org/officeDocument/2006/relationships/notesSlide" Target="/ppt/notesSlides/notesSlide36.xml" Id="Rabfb0ee5b72e40d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531ed96b706e4830" /><Relationship Type="http://schemas.openxmlformats.org/officeDocument/2006/relationships/notesSlide" Target="/ppt/notesSlides/notesSlide37.xml" Id="R4edcd8cd88d542b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88882f279b94acc" /><Relationship Type="http://schemas.openxmlformats.org/officeDocument/2006/relationships/notesSlide" Target="/ppt/notesSlides/notesSlide38.xml" Id="R92f46b457adf4e3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0e8ba150559b4ee7" /><Relationship Type="http://schemas.openxmlformats.org/officeDocument/2006/relationships/notesSlide" Target="/ppt/notesSlides/notesSlide39.xml" Id="Ref5d61041c4a4a9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0ac9ef677bd425d" /><Relationship Type="http://schemas.openxmlformats.org/officeDocument/2006/relationships/notesSlide" Target="/ppt/notesSlides/notesSlide40.xml" Id="Rf58592305ba54db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54f33f2bb9274504" /><Relationship Type="http://schemas.openxmlformats.org/officeDocument/2006/relationships/notesSlide" Target="/ppt/notesSlides/notesSlide41.xml" Id="R2814c26a066c489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75bb7181f12471d" /><Relationship Type="http://schemas.openxmlformats.org/officeDocument/2006/relationships/notesSlide" Target="/ppt/notesSlides/notesSlide42.xml" Id="R3371f7a80a174e1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3bec539d309e4e8f" /><Relationship Type="http://schemas.openxmlformats.org/officeDocument/2006/relationships/notesSlide" Target="/ppt/notesSlides/notesSlide43.xml" Id="Rb2ed2588642a4e7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e03eb714bf941de" /><Relationship Type="http://schemas.openxmlformats.org/officeDocument/2006/relationships/notesSlide" Target="/ppt/notesSlides/notesSlide44.xml" Id="Re03e8e83d3fe45c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c6c97bd087e94d98" /><Relationship Type="http://schemas.openxmlformats.org/officeDocument/2006/relationships/notesSlide" Target="/ppt/notesSlides/notesSlide45.xml" Id="R648f697c35d5467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d058427e7da34982" /><Relationship Type="http://schemas.openxmlformats.org/officeDocument/2006/relationships/notesSlide" Target="/ppt/notesSlides/notesSlide46.xml" Id="Rcaaa21adff9f450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435c0df20f484933" /><Relationship Type="http://schemas.openxmlformats.org/officeDocument/2006/relationships/notesSlide" Target="/ppt/notesSlides/notesSlide47.xml" Id="R3461a28e7aa1447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478daf9eb0c446b9" /><Relationship Type="http://schemas.openxmlformats.org/officeDocument/2006/relationships/notesSlide" Target="/ppt/notesSlides/notesSlide48.xml" Id="R5b63835b06734d1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92391e2366a47f0" /><Relationship Type="http://schemas.openxmlformats.org/officeDocument/2006/relationships/notesSlide" Target="/ppt/notesSlides/notesSlide49.xml" Id="R96d69231bc3c4a4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87020dcb813b49d3" /><Relationship Type="http://schemas.openxmlformats.org/officeDocument/2006/relationships/hyperlink" Target="https://www.youtube.com/watch?v=khKv-8q7YmY" TargetMode="External" Id="Rd389d0810dbc43fa" /><Relationship Type="http://schemas.openxmlformats.org/officeDocument/2006/relationships/notesSlide" Target="/ppt/notesSlides/notesSlide50.xml" Id="R43d1256b35f94d1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f3c5ee65678487f" /><Relationship Type="http://schemas.openxmlformats.org/officeDocument/2006/relationships/notesSlide" Target="/ppt/notesSlides/notesSlide51.xml" Id="R57a1eb420c5c43d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af29381201de4ea8" /><Relationship Type="http://schemas.openxmlformats.org/officeDocument/2006/relationships/notesSlide" Target="/ppt/notesSlides/notesSlide52.xml" Id="R7fcae62266ac43d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072637fd1f254fc4" /><Relationship Type="http://schemas.openxmlformats.org/officeDocument/2006/relationships/notesSlide" Target="/ppt/notesSlides/notesSlide53.xml" Id="R10f706747a39417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f182c1b62a9e420c" /><Relationship Type="http://schemas.openxmlformats.org/officeDocument/2006/relationships/notesSlide" Target="/ppt/notesSlides/notesSlide54.xml" Id="R0fefce28f02c49f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afe8dd5369f840aa" /><Relationship Type="http://schemas.openxmlformats.org/officeDocument/2006/relationships/notesSlide" Target="/ppt/notesSlides/notesSlide55.xml" Id="R50269adbbd3f457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69b5f96f324449d1" /><Relationship Type="http://schemas.openxmlformats.org/officeDocument/2006/relationships/notesSlide" Target="/ppt/notesSlides/notesSlide56.xml" Id="R7d99a89600f7482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e4f3de7fa8f24c81" /><Relationship Type="http://schemas.openxmlformats.org/officeDocument/2006/relationships/notesSlide" Target="/ppt/notesSlides/notesSlide57.xml" Id="Rbff4b62ec6dd4d6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1dbeaf629d8b486b" /><Relationship Type="http://schemas.openxmlformats.org/officeDocument/2006/relationships/notesSlide" Target="/ppt/notesSlides/notesSlide58.xml" Id="R2e1ec0e1ac2b440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75722f3951f3407d" /><Relationship Type="http://schemas.openxmlformats.org/officeDocument/2006/relationships/notesSlide" Target="/ppt/notesSlides/notesSlide59.xml" Id="R2326e9366593479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81f0bd17b644d56" /><Relationship Type="http://schemas.openxmlformats.org/officeDocument/2006/relationships/notesSlide" Target="/ppt/notesSlides/notesSlide60.xml" Id="R351d59d276b74cc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3940593b8cdb4451" /><Relationship Type="http://schemas.openxmlformats.org/officeDocument/2006/relationships/notesSlide" Target="/ppt/notesSlides/notesSlide61.xml" Id="R0cc1d140ea57459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4590152a18d44ea8" /><Relationship Type="http://schemas.openxmlformats.org/officeDocument/2006/relationships/notesSlide" Target="/ppt/notesSlides/notesSlide62.xml" Id="Rc9e857bf5aa7455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f171c1bbda3445d1" /><Relationship Type="http://schemas.openxmlformats.org/officeDocument/2006/relationships/hyperlink" Target="https://docs.google.com/forms/d/e/1FAIpQLSfK1T6vYI-m-ZaYLisO8AjovzezCEuc5lU9dvCed5P91w_zpA/viewform" TargetMode="External" Id="R6ac6bf8aea884c4a" /><Relationship Type="http://schemas.openxmlformats.org/officeDocument/2006/relationships/notesSlide" Target="/ppt/notesSlides/notesSlide63.xml" Id="R45f133c210e54fa7"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eafdf8d2dc4f4c52" /><Relationship Type="http://schemas.openxmlformats.org/officeDocument/2006/relationships/image" Target="/ppt/media/image4.png" Id="R540a583e68bf44fb" /><Relationship Type="http://schemas.openxmlformats.org/officeDocument/2006/relationships/hyperlink" Target="https://forms.gle/YEMYghGS7gqr4tts7" TargetMode="External" Id="R9b9b2e12f7ce4c03" /><Relationship Type="http://schemas.openxmlformats.org/officeDocument/2006/relationships/notesSlide" Target="/ppt/notesSlides/notesSlide64.xml" Id="Rcb15c206ff8c4de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47707dd035d14236" /><Relationship Type="http://schemas.openxmlformats.org/officeDocument/2006/relationships/notesSlide" Target="/ppt/notesSlides/notesSlide65.xml" Id="R98bae995cbb14c3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528982efbee4f4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6B70C3C-6251-4CE3-BF52-02CD81C93221}"/>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4CF5C42-3E6F-438B-AC67-C0DAC587CA0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3</a:t>
            </a:r>
          </a:p>
        </p:txBody>
      </p:sp>
      <p:sp>
        <p:nvSpPr>
          <p:cNvPr id="4" name="">
            <a:extLst xmlns:a="http://schemas.openxmlformats.org/drawingml/2006/main">
              <a:ext uri="{FF2B5EF4-FFF2-40B4-BE49-F238E27FC236}">
                <a16:creationId xmlns:a16="http://schemas.microsoft.com/office/drawing/2014/main" id="{E388D56F-BB61-4F43-AD21-2C517BE781A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6404CB4C-0F7E-4125-83B4-454F0DB9EBF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20C483F6-6AD3-4361-BFF2-EAA44473D52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22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7513702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C28390D-A177-42FD-9A79-5D236BF701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ADC7F6-7FA2-413B-A5F2-4918244410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54B029E-56BF-4CCD-883F-DCDD87BEEA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D6C04D7-62B1-4722-BB0E-953E449E319D}"/>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36678C-46EE-4D8F-817C-8273D6E2134D}"/>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B4F6D7A-E4C1-46EB-8520-477CEB4DD8C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AFDB6BD6-1F7E-4C33-8D4F-7BB79E3611E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0A99E71-CED3-4D83-86E1-89D4B6B51180}"/>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E2A3FF44-6D4C-4AF1-BE21-237624B4F4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a:t>
            </a:r>
          </a:p>
        </p:txBody>
      </p:sp>
    </p:spTree>
    <p:extLst>
      <p:ext uri="{BB962C8B-B14F-4D97-AF65-F5344CB8AC3E}">
        <p14:creationId xmlns:p14="http://schemas.microsoft.com/office/powerpoint/2010/main" val="458864911"/>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AD8DF4-B4DA-40F8-8541-D25DE54298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0541D632-D935-4152-BB5F-A7E44AF1C1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280BE6ED-D20A-4BC4-9883-1152168FE33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AA811EF4-DA51-4E10-A593-0B68D26D4F7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Run print(2 + 3). Which part is the instruction, and which part is the output?</a:t>
            </a:r>
          </a:p>
        </p:txBody>
      </p:sp>
      <p:sp>
        <p:nvSpPr>
          <p:cNvPr id="5" name="">
            <a:extLst xmlns:a="http://schemas.openxmlformats.org/drawingml/2006/main">
              <a:ext uri="{FF2B5EF4-FFF2-40B4-BE49-F238E27FC236}">
                <a16:creationId xmlns:a16="http://schemas.microsoft.com/office/drawing/2014/main" id="{4229176C-9DDB-4F02-ADE8-14AFBF263F7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C8B9BE84-AC30-4566-931C-B81E80BB4D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3</a:t>
            </a:r>
          </a:p>
        </p:txBody>
      </p:sp>
    </p:spTree>
    <p:extLst>
      <p:ext uri="{BB962C8B-B14F-4D97-AF65-F5344CB8AC3E}">
        <p14:creationId xmlns:p14="http://schemas.microsoft.com/office/powerpoint/2010/main" val="135280455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80979B-10EF-4013-8C03-60FFEF11B7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4EE9C4-12FA-4770-B997-7C847BDAFB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48FF252D-9915-4553-B88D-449E3C8B93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9F549BBC-34E7-4CA9-8D48-DCE87B9118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750844-10E7-4190-93A5-E3C7E54541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2D645FDF-A148-414B-9783-BEA4ECF0FDA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0BBA07C-964A-45F9-B48A-2172074382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3672C8F6-DD18-49AE-A215-09E6AC3442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B6EE1CA-0295-4A4C-BAF0-6D27F943209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14BEE0A0-1870-4B5B-B98E-7351535020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a:t>
            </a:r>
          </a:p>
        </p:txBody>
      </p:sp>
    </p:spTree>
    <p:extLst>
      <p:ext uri="{BB962C8B-B14F-4D97-AF65-F5344CB8AC3E}">
        <p14:creationId xmlns:p14="http://schemas.microsoft.com/office/powerpoint/2010/main" val="13347394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DB406E-9B68-4255-A06E-920B3F9F4D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9D04B0-29B3-4E46-BD66-890A95188D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CF048A3-C2BE-4AF4-9C03-5F622889C6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8E0DCF79-8341-4431-B80B-2A6FBA6A6C6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FB9A5F-30FA-4D04-A059-4E4AF7DCDAC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2793144F-3D4C-4AFB-A2FF-377E9DDD094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E5B1C2DB-0EC6-4850-9CD2-F8FD3FD1A0B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2816FAB-DBD9-49DA-A148-E0C31EBFFE7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732D5D71-0DE7-4796-8C41-1FFF1578D1F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03462BF9-4607-4296-83C8-C4784A7ABB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a:t>
            </a:r>
          </a:p>
        </p:txBody>
      </p:sp>
    </p:spTree>
    <p:extLst>
      <p:ext uri="{BB962C8B-B14F-4D97-AF65-F5344CB8AC3E}">
        <p14:creationId xmlns:p14="http://schemas.microsoft.com/office/powerpoint/2010/main" val="192812065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9E6610-6037-4977-9A94-BB3CCE0102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88E678-C969-4977-93C6-F7F861F0E8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3110C75-FF6E-4EEB-BC0F-2C22FF1764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082CECEB-2F3E-45FA-9392-7CCC4083317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D2B340-214B-4A7E-95BF-55D0350F998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33E7D93B-CA8D-48DD-AB55-692A6D3029C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75D53F86-E84E-4F99-9710-000E7D95201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A2DEAB2-B18E-4976-9460-0385782CDF5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8ADE74DE-327C-4C35-9F80-5D6E31F8718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356C28E9-73E4-4527-8516-8A3FC407BE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a:t>
            </a:r>
          </a:p>
        </p:txBody>
      </p:sp>
    </p:spTree>
    <p:extLst>
      <p:ext uri="{BB962C8B-B14F-4D97-AF65-F5344CB8AC3E}">
        <p14:creationId xmlns:p14="http://schemas.microsoft.com/office/powerpoint/2010/main" val="102005211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845BBF-B8D3-4A46-B5A5-24FA85BEF3E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E45D21-132D-4B86-885E-C406F54BEEA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9d5b31c98f4b45d3"/>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97BC5E2-CBE0-41C7-A49C-7C1EFE41DA2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D5C0BE-0848-460E-9885-725B08372CE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5D2C4F5E-A973-498F-B82D-88A4249B81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a:t>
            </a:r>
          </a:p>
        </p:txBody>
      </p:sp>
    </p:spTree>
    <p:extLst>
      <p:ext uri="{BB962C8B-B14F-4D97-AF65-F5344CB8AC3E}">
        <p14:creationId xmlns:p14="http://schemas.microsoft.com/office/powerpoint/2010/main" val="120865537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510595-CD49-452D-ADBE-A9FD6DB728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48013D-BB78-4A30-89E0-5FDE590A81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8578E6C-FE36-4D82-A897-50252B96B7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DDFA6A01-0635-448A-A67D-292B956A0B0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24823D28-A7BB-4FF6-BD80-45DB543B7F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a:t>
            </a:r>
          </a:p>
        </p:txBody>
      </p:sp>
    </p:spTree>
    <p:extLst>
      <p:ext uri="{BB962C8B-B14F-4D97-AF65-F5344CB8AC3E}">
        <p14:creationId xmlns:p14="http://schemas.microsoft.com/office/powerpoint/2010/main" val="9254613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910B8B6-5220-4685-941D-72FBF031AC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1AAF2F-80E7-40A7-A657-53A74DCDB1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CD2FB11-9944-416F-AB48-D43BC779C7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583C6645-CAF4-496F-BF1B-BD96CCBA10D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F8E72C-EB0D-4827-B541-FC2EC8882F9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4F70D539-394D-45F6-9290-EA3CF09F008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97374787-FBAA-4B1D-81FE-2835FCB0C1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9</a:t>
            </a:r>
          </a:p>
        </p:txBody>
      </p:sp>
    </p:spTree>
    <p:extLst>
      <p:ext uri="{BB962C8B-B14F-4D97-AF65-F5344CB8AC3E}">
        <p14:creationId xmlns:p14="http://schemas.microsoft.com/office/powerpoint/2010/main" val="17673003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553B840-860D-4326-A1AF-AB9C95DC12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E1EAC8-2786-4967-A242-471D3CE2C1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41A6349-D256-4620-8ECC-688B378203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5AA7D178-8036-4C23-B665-2FEFDAEDDF4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31F7A0-3851-47D8-8F64-C2420DE01FC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D1B33D90-2553-4324-A734-F7550E871EE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DDCFC078-6AB8-4D97-8DFA-A76C7A406E5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E1E8B4B-B647-4173-9D1C-97B7DA8FE81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A7825FBB-1FA0-4EA6-A91F-F7E30D38381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E4750B89-D5ED-4D5E-95A4-0CF011110D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10</a:t>
            </a:r>
          </a:p>
        </p:txBody>
      </p:sp>
    </p:spTree>
    <p:extLst>
      <p:ext uri="{BB962C8B-B14F-4D97-AF65-F5344CB8AC3E}">
        <p14:creationId xmlns:p14="http://schemas.microsoft.com/office/powerpoint/2010/main" val="9291601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6F44F3-2753-4C87-AED0-51803AAB88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0F2BA2-FEF8-4454-AD0F-5D78D1A398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D7DD92-9BD0-49C4-9CF7-BE75E66FFF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6C005700-E5FE-46E9-A259-14A033CC24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05B526-4EFC-4935-95EF-DB0FD897797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F0CBE88C-FA68-4A13-93B8-3E9582F5641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7DCDDD-1E6C-4948-94F9-655DF951A3D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24C88DA4-8400-42F7-9EE6-AC867A25B51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865FE5-AE02-4585-98CE-2EE96A347F4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2CAA9FB0-84B2-4847-B885-F94FBC2C800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5CE5101-B92D-4541-83C7-8189DD1EF5D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212BC7BB-1A27-49D6-986A-F5DBC398EC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11</a:t>
            </a:r>
          </a:p>
        </p:txBody>
      </p:sp>
    </p:spTree>
    <p:extLst>
      <p:ext uri="{BB962C8B-B14F-4D97-AF65-F5344CB8AC3E}">
        <p14:creationId xmlns:p14="http://schemas.microsoft.com/office/powerpoint/2010/main" val="93867976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F041537-A7B6-4989-BDB9-FABBE7AD90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76233F-BFEC-4D5B-AEAE-572A7D2580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9A6A6E-7B1D-4553-B559-6017F06128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9040A869-8754-486F-9094-A5ED6D1D347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84E701-23FB-45D4-A993-710115C567B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91205FE6-5633-46BB-974D-0169FFF677E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A22F088-CF60-4691-BD3F-D86C604CE40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154975ED-4F87-4E81-AFBE-CC237789848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C1B90698-EB1B-49DB-A61E-8AA1CFF9E70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E1A415F1-AE36-4AA0-B25F-C68339CF2D7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B8009842-5854-4A07-9697-9CFC60891F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12</a:t>
            </a:r>
          </a:p>
        </p:txBody>
      </p:sp>
    </p:spTree>
    <p:extLst>
      <p:ext uri="{BB962C8B-B14F-4D97-AF65-F5344CB8AC3E}">
        <p14:creationId xmlns:p14="http://schemas.microsoft.com/office/powerpoint/2010/main" val="177203681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C0C478-EB66-4CFA-AAEF-FB3D8E3BDB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0A883B-D849-4143-A4D5-BB80F0CC7F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5DFA2F-818D-464C-B97F-44B14521C2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F4438DA1-83A6-4F37-BFD4-1DFDD06C0C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5F01A7-8E71-4509-A473-7B2002A6F7E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+ 4) / 2 gives 3.0. 2 + 4 / 2 gives 4.0.</a:t>
            </a:r>
          </a:p>
        </p:txBody>
      </p:sp>
      <p:sp>
        <p:nvSpPr>
          <p:cNvPr id="6" name="">
            <a:extLst xmlns:a="http://schemas.openxmlformats.org/drawingml/2006/main">
              <a:ext uri="{FF2B5EF4-FFF2-40B4-BE49-F238E27FC236}">
                <a16:creationId xmlns:a16="http://schemas.microsoft.com/office/drawing/2014/main" id="{11BF3EC9-95E9-4138-82C2-D5FDDD5D0E1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A79A38-02FA-4D8B-88D1-0CB3EF17FFC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gives 3.5. 7 // 2 gives 3. -7 // 2 gives -4.</a:t>
            </a:r>
          </a:p>
        </p:txBody>
      </p:sp>
      <p:sp>
        <p:nvSpPr>
          <p:cNvPr id="8" name="">
            <a:extLst xmlns:a="http://schemas.openxmlformats.org/drawingml/2006/main">
              <a:ext uri="{FF2B5EF4-FFF2-40B4-BE49-F238E27FC236}">
                <a16:creationId xmlns:a16="http://schemas.microsoft.com/office/drawing/2014/main" id="{52311FA9-38C8-4EC4-8E42-A2F416A9C27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B04F02-4E43-43B3-8406-4540984D2B7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Floating-point numbers approximate many decimals. Compare calculated measurements with a stated tolerance.</a:t>
            </a:r>
          </a:p>
        </p:txBody>
      </p:sp>
      <p:sp>
        <p:nvSpPr>
          <p:cNvPr id="10" name="">
            <a:extLst xmlns:a="http://schemas.openxmlformats.org/drawingml/2006/main">
              <a:ext uri="{FF2B5EF4-FFF2-40B4-BE49-F238E27FC236}">
                <a16:creationId xmlns:a16="http://schemas.microsoft.com/office/drawing/2014/main" id="{8E53AF55-2109-411C-81A1-AA26F700CF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13</a:t>
            </a:r>
          </a:p>
        </p:txBody>
      </p:sp>
    </p:spTree>
    <p:extLst>
      <p:ext uri="{BB962C8B-B14F-4D97-AF65-F5344CB8AC3E}">
        <p14:creationId xmlns:p14="http://schemas.microsoft.com/office/powerpoint/2010/main" val="2042879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4B104C-B124-4E17-B509-8F8E6523F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8F8717-6213-4B42-B9D9-9F877BFDA8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DCCA143-6386-4667-A4DC-AE4693B0E9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AF97EFDC-59FF-4959-B0EA-3D01C42A380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F2B876-EF3F-4D99-94CD-D74C6D710F6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Length, width and area</a:t>
            </a:r>
          </a:p>
        </p:txBody>
      </p:sp>
      <p:sp>
        <p:nvSpPr>
          <p:cNvPr id="6" name="">
            <a:extLst xmlns:a="http://schemas.openxmlformats.org/drawingml/2006/main">
              <a:ext uri="{FF2B5EF4-FFF2-40B4-BE49-F238E27FC236}">
                <a16:creationId xmlns:a16="http://schemas.microsoft.com/office/drawing/2014/main" id="{82DC18E8-7A2E-4050-BFA5-5D67EFC0227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Length and width are distances in metres (m). A rectangle’s area is length × width, measured in square metres (m²).</a:t>
            </a:r>
          </a:p>
        </p:txBody>
      </p:sp>
      <p:sp>
        <p:nvSpPr>
          <p:cNvPr id="7" name="">
            <a:extLst xmlns:a="http://schemas.openxmlformats.org/drawingml/2006/main">
              <a:ext uri="{FF2B5EF4-FFF2-40B4-BE49-F238E27FC236}">
                <a16:creationId xmlns:a16="http://schemas.microsoft.com/office/drawing/2014/main" id="{3C69F9C7-CEE7-40CA-86BD-EE0F5D82E9A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6CEF604-A6AD-4D00-99A6-04CB759DCA4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Thickness and density</a:t>
            </a:r>
          </a:p>
        </p:txBody>
      </p:sp>
      <p:sp>
        <p:nvSpPr>
          <p:cNvPr id="9" name="">
            <a:extLst xmlns:a="http://schemas.openxmlformats.org/drawingml/2006/main">
              <a:ext uri="{FF2B5EF4-FFF2-40B4-BE49-F238E27FC236}">
                <a16:creationId xmlns:a16="http://schemas.microsoft.com/office/drawing/2014/main" id="{F0B861F2-A026-44EB-967A-66747ED67CD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Thickness is the third distance. Area × thickness gives volume in m³. Density is mass per volume, in kg/m³; volume × density gives mass in kg.</a:t>
            </a:r>
          </a:p>
        </p:txBody>
      </p:sp>
      <p:sp>
        <p:nvSpPr>
          <p:cNvPr id="10" name="">
            <a:extLst xmlns:a="http://schemas.openxmlformats.org/drawingml/2006/main">
              <a:ext uri="{FF2B5EF4-FFF2-40B4-BE49-F238E27FC236}">
                <a16:creationId xmlns:a16="http://schemas.microsoft.com/office/drawing/2014/main" id="{51C638A7-572C-4633-8649-F9CF1B6A2B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14</a:t>
            </a:r>
          </a:p>
        </p:txBody>
      </p:sp>
    </p:spTree>
    <p:extLst>
      <p:ext uri="{BB962C8B-B14F-4D97-AF65-F5344CB8AC3E}">
        <p14:creationId xmlns:p14="http://schemas.microsoft.com/office/powerpoint/2010/main" val="146371645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63490E-77EC-4626-870A-ECD4F29EDB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2AE76B-661C-4E4F-893C-2BD4C5AA39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FDBA4A6-5D65-4850-ADFB-B398CD8141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A1C6BAA9-D91A-419F-8057-B2E8FBD274F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F84783-22FD-4C8F-84F7-CBB76C7A0A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02781E0-232A-4BD2-8DC8-6B7337B76D1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rectangular floor is 5 m long and 3 m wide.</a:t>
            </a:r>
          </a:p>
        </p:txBody>
      </p:sp>
      <p:sp>
        <p:nvSpPr>
          <p:cNvPr id="7" name="">
            <a:extLst xmlns:a="http://schemas.openxmlformats.org/drawingml/2006/main">
              <a:ext uri="{FF2B5EF4-FFF2-40B4-BE49-F238E27FC236}">
                <a16:creationId xmlns:a16="http://schemas.microsoft.com/office/drawing/2014/main" id="{00EB01E0-DB1F-4F99-A891-5DEAC080C9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Area = length × width = 15 m².</a:t>
            </a:r>
          </a:p>
        </p:txBody>
      </p:sp>
      <p:sp>
        <p:nvSpPr>
          <p:cNvPr id="8" name="">
            <a:extLst xmlns:a="http://schemas.openxmlformats.org/drawingml/2006/main">
              <a:ext uri="{FF2B5EF4-FFF2-40B4-BE49-F238E27FC236}">
                <a16:creationId xmlns:a16="http://schemas.microsoft.com/office/drawing/2014/main" id="{C0384873-2E9D-4B5A-8681-3885BCF44C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15</a:t>
            </a:r>
          </a:p>
        </p:txBody>
      </p:sp>
    </p:spTree>
    <p:extLst>
      <p:ext uri="{BB962C8B-B14F-4D97-AF65-F5344CB8AC3E}">
        <p14:creationId xmlns:p14="http://schemas.microsoft.com/office/powerpoint/2010/main" val="110601118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4DCCA2-53F9-47E2-B818-CBED8835A0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FC024E-60A7-4FC3-8BBB-1E5F840CDC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36225C6-24D6-4F99-AF75-4D9A584963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2E272726-6E48-4014-A60F-AEAB5E88AC4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A7BA61-C1C7-4DA1-871C-CE1F0A85B9C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length_m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width_m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area_m2 = length_m * width_m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print(area_m2)</a:t>
            </a:r>
          </a:p>
        </p:txBody>
      </p:sp>
      <p:sp>
        <p:nvSpPr>
          <p:cNvPr id="6" name="">
            <a:extLst xmlns:a="http://schemas.openxmlformats.org/drawingml/2006/main">
              <a:ext uri="{FF2B5EF4-FFF2-40B4-BE49-F238E27FC236}">
                <a16:creationId xmlns:a16="http://schemas.microsoft.com/office/drawing/2014/main" id="{4F05A07C-EF13-4D1D-B82B-F2A78CBBC5B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67B772E-7FC2-4907-9339-240BEAD050E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059A5F3-E891-4867-9FB8-F6FABAF2C02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9144E3CB-A962-46A6-A944-52D8722A42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49FCC27F-3035-40BD-883F-FC47179386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16</a:t>
            </a:r>
          </a:p>
        </p:txBody>
      </p:sp>
    </p:spTree>
    <p:extLst>
      <p:ext uri="{BB962C8B-B14F-4D97-AF65-F5344CB8AC3E}">
        <p14:creationId xmlns:p14="http://schemas.microsoft.com/office/powerpoint/2010/main" val="1990568367"/>
      </p:ext>
    </p:extLst>
  </p:cSld>
</p:sld>
</file>

<file path=ppt/slides/slide1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7D93828-224A-453E-834A-223BDE3535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3AAFB22F-272E-472D-A87A-12FDC627DD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change to predict</a:t>
            </a:r>
          </a:p>
        </p:txBody>
      </p:sp>
      <p:sp>
        <p:nvSpPr>
          <p:cNvPr id="3" name="">
            <a:extLst xmlns:a="http://schemas.openxmlformats.org/drawingml/2006/main">
              <a:ext uri="{FF2B5EF4-FFF2-40B4-BE49-F238E27FC236}">
                <a16:creationId xmlns:a16="http://schemas.microsoft.com/office/drawing/2014/main" id="{B86148CA-B225-4E02-96E5-E66651E1368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D141C022-6EED-4244-9EA4-31D41B84E66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Change length_m to 7. Predict the area before running.</a:t>
            </a:r>
          </a:p>
        </p:txBody>
      </p:sp>
      <p:sp>
        <p:nvSpPr>
          <p:cNvPr id="5" name="">
            <a:extLst xmlns:a="http://schemas.openxmlformats.org/drawingml/2006/main">
              <a:ext uri="{FF2B5EF4-FFF2-40B4-BE49-F238E27FC236}">
                <a16:creationId xmlns:a16="http://schemas.microsoft.com/office/drawing/2014/main" id="{286F61C7-EC0C-445A-B5B6-D452788D53B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69196AEC-F904-458C-ADF3-6D4AB1DDA6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17</a:t>
            </a:r>
          </a:p>
        </p:txBody>
      </p:sp>
    </p:spTree>
    <p:extLst>
      <p:ext uri="{BB962C8B-B14F-4D97-AF65-F5344CB8AC3E}">
        <p14:creationId xmlns:p14="http://schemas.microsoft.com/office/powerpoint/2010/main" val="15786339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EF6213-2F14-4947-B1F9-50FB659C3C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5E67D4-06D8-4935-AA6B-9E9302FD95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78103460-E953-4539-B65A-6ED70E4857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result</a:t>
            </a:r>
          </a:p>
        </p:txBody>
      </p:sp>
      <p:sp>
        <p:nvSpPr>
          <p:cNvPr id="4" name="">
            <a:extLst xmlns:a="http://schemas.openxmlformats.org/drawingml/2006/main">
              <a:ext uri="{FF2B5EF4-FFF2-40B4-BE49-F238E27FC236}">
                <a16:creationId xmlns:a16="http://schemas.microsoft.com/office/drawing/2014/main" id="{A289E935-7C45-4D78-8CD3-C82E1E788DB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578BAD-37A5-456B-B097-6D6F5CB311C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21 m²</a:t>
            </a:r>
          </a:p>
        </p:txBody>
      </p:sp>
      <p:sp>
        <p:nvSpPr>
          <p:cNvPr id="6" name="">
            <a:extLst xmlns:a="http://schemas.openxmlformats.org/drawingml/2006/main">
              <a:ext uri="{FF2B5EF4-FFF2-40B4-BE49-F238E27FC236}">
                <a16:creationId xmlns:a16="http://schemas.microsoft.com/office/drawing/2014/main" id="{7A218B34-440C-4C1A-95D6-89716C41E73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2B4AB02-1E23-4C86-B79F-B629A92772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18</a:t>
            </a:r>
          </a:p>
        </p:txBody>
      </p:sp>
    </p:spTree>
    <p:extLst>
      <p:ext uri="{BB962C8B-B14F-4D97-AF65-F5344CB8AC3E}">
        <p14:creationId xmlns:p14="http://schemas.microsoft.com/office/powerpoint/2010/main" val="141447791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B8FE1A5-96FB-4F06-A381-C48304B784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79B01D-51E0-478B-8326-AC7AD71697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16D1E4F-9268-4DB9-ABB8-D7952C53DB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2C62964-7968-4A9C-9C41-61AE62C01C7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1E3A147B-B124-46FD-A255-C596592826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19</a:t>
            </a:r>
          </a:p>
        </p:txBody>
      </p:sp>
    </p:spTree>
    <p:extLst>
      <p:ext uri="{BB962C8B-B14F-4D97-AF65-F5344CB8AC3E}">
        <p14:creationId xmlns:p14="http://schemas.microsoft.com/office/powerpoint/2010/main" val="17161643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05355D-5794-403D-BCA8-267EB14741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3660C1-8033-49C5-A869-3363A2B8C5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8C9ED50-E90C-47E4-9BB8-52C76FA503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Condition</a:t>
            </a:r>
          </a:p>
        </p:txBody>
      </p:sp>
      <p:sp>
        <p:nvSpPr>
          <p:cNvPr id="4" name="">
            <a:extLst xmlns:a="http://schemas.openxmlformats.org/drawingml/2006/main">
              <a:ext uri="{FF2B5EF4-FFF2-40B4-BE49-F238E27FC236}">
                <a16:creationId xmlns:a16="http://schemas.microsoft.com/office/drawing/2014/main" id="{611AC955-BBD0-4C2A-8F9A-13A03930909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CFC619-D563-469A-AEEA-B99CE8C884D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Condition</a:t>
            </a:r>
          </a:p>
        </p:txBody>
      </p:sp>
      <p:sp>
        <p:nvSpPr>
          <p:cNvPr id="6" name="">
            <a:extLst xmlns:a="http://schemas.openxmlformats.org/drawingml/2006/main">
              <a:ext uri="{FF2B5EF4-FFF2-40B4-BE49-F238E27FC236}">
                <a16:creationId xmlns:a16="http://schemas.microsoft.com/office/drawing/2014/main" id="{D7E17129-69DD-46C4-A1A1-A326AD57A4C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True/False question. == compares equality; = assigns. if selects a branch; else handles the other case. A colon starts an indented block.</a:t>
            </a:r>
          </a:p>
        </p:txBody>
      </p:sp>
      <p:sp>
        <p:nvSpPr>
          <p:cNvPr id="7" name="">
            <a:extLst xmlns:a="http://schemas.openxmlformats.org/drawingml/2006/main">
              <a:ext uri="{FF2B5EF4-FFF2-40B4-BE49-F238E27FC236}">
                <a16:creationId xmlns:a16="http://schemas.microsoft.com/office/drawing/2014/main" id="{40DE7995-E18F-4320-8417-3A864A8995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20</a:t>
            </a:r>
          </a:p>
        </p:txBody>
      </p:sp>
    </p:spTree>
    <p:extLst>
      <p:ext uri="{BB962C8B-B14F-4D97-AF65-F5344CB8AC3E}">
        <p14:creationId xmlns:p14="http://schemas.microsoft.com/office/powerpoint/2010/main" val="66769176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3CF7C4-3048-43DA-8CF8-2205CB0CD4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E7D8DB-2872-4A63-B298-9A89B1ED70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C284880-7101-4AEB-A623-7433395BD1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Comparison and logic</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result</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Are values equal?</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values different?</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is True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At least the limit?</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and</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both conditions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and False is False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or</a:t>
                      </a:r>
                    </a:p>
                  </a:txBody>
                  <a:tcPr marL="91440" marR="91440" marT="45720" marB="45720">
                    <a:solidFill>
                      <a:srgbClr val="EEF3F6"/>
                    </a:solidFill>
                  </a:tcPr>
                </a:tc>
                <a:tc>
                  <a:txBody>
                    <a:bodyPr/>
                    <a:lstStyle/>
                    <a:p>
                      <a:r>
                        <a:rPr sz="2025" b="0">
                          <a:solidFill>
                            <a:srgbClr val="1C3144"/>
                          </a:solidFill>
                          <a:latin typeface="Calibri"/>
                          <a:ea typeface="Calibri"/>
                          <a:cs typeface="Calibri"/>
                        </a:rPr>
                        <a:t>Is either condition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 or False is True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FDF1871-2CAB-4870-8A0A-FD263AB4F0C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assignment uses =. A comparison uses ==. Capitalise True, False and None.</a:t>
            </a:r>
          </a:p>
        </p:txBody>
      </p:sp>
      <p:sp>
        <p:nvSpPr>
          <p:cNvPr id="6" name="">
            <a:extLst xmlns:a="http://schemas.openxmlformats.org/drawingml/2006/main">
              <a:ext uri="{FF2B5EF4-FFF2-40B4-BE49-F238E27FC236}">
                <a16:creationId xmlns:a16="http://schemas.microsoft.com/office/drawing/2014/main" id="{4F82106B-9131-4DE6-9184-5469C5A5DC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21</a:t>
            </a:r>
          </a:p>
        </p:txBody>
      </p:sp>
    </p:spTree>
    <p:extLst>
      <p:ext uri="{BB962C8B-B14F-4D97-AF65-F5344CB8AC3E}">
        <p14:creationId xmlns:p14="http://schemas.microsoft.com/office/powerpoint/2010/main" val="16468778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504FF61-4A45-4BDA-8FFF-F5A60329AC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B6354F-0FEC-45FE-B3D3-F85F3050FA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E723919-211C-4207-8596-013BFB27D5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637C5DD2-7669-4147-90BD-91BEF45C330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BBA645-000A-44C1-B8DD-E7B647077D1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BA9D637A-C002-48F1-942E-4C15BD6C471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DB9B6B6-BEBC-44AE-8CAA-5391A2BB26E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00746085-B853-48B8-8D9D-696CD8305D6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B71F7C63-0083-4A82-85BD-1B59400AAF2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FCF26C5D-B1E7-41FC-B9C3-F97181B4B03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F921D087-AEF4-4420-8F88-CC7BC008A1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22</a:t>
            </a:r>
          </a:p>
        </p:txBody>
      </p:sp>
    </p:spTree>
    <p:extLst>
      <p:ext uri="{BB962C8B-B14F-4D97-AF65-F5344CB8AC3E}">
        <p14:creationId xmlns:p14="http://schemas.microsoft.com/office/powerpoint/2010/main" val="33269444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87C289-A226-4DEB-AC02-8C72F1D193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503345-5908-4A93-8443-FFF5E91DD8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DCC0B7E-5E73-4964-A209-ACC403E503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595C89BA-9106-4798-B1E7-F4629E29F69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822766-F6D2-475E-8835-937AB22C88A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D20F182A-8E51-4475-8462-A309F095D3A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1EF7C960-D09A-4602-8397-52304807AC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23</a:t>
            </a:r>
          </a:p>
        </p:txBody>
      </p:sp>
    </p:spTree>
    <p:extLst>
      <p:ext uri="{BB962C8B-B14F-4D97-AF65-F5344CB8AC3E}">
        <p14:creationId xmlns:p14="http://schemas.microsoft.com/office/powerpoint/2010/main" val="43476449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348D02-87FD-4863-8418-4B6407E98B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42DD3D-B3B2-45FF-A8F2-48D16EB5C0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9714FB1-1872-44BB-8235-F5558B0C5B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87194632-9C12-44D7-8E52-711AB53314B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0B7A38-1919-4F9D-9B1E-5514913BE9B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7CC09900-8E79-44CD-8EFE-EDB8A26E0BA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0AB3DC3D-AAD5-4E26-B255-024B3FF5CB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24</a:t>
            </a:r>
          </a:p>
        </p:txBody>
      </p:sp>
    </p:spTree>
    <p:extLst>
      <p:ext uri="{BB962C8B-B14F-4D97-AF65-F5344CB8AC3E}">
        <p14:creationId xmlns:p14="http://schemas.microsoft.com/office/powerpoint/2010/main" val="4905984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0CED0A4-1A46-470B-8790-B8817C0ABB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E1B4DE-3A3E-4E41-89A2-1269250CF8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9E343A3-0916-4B8C-86AA-4D824FA486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2271E667-5913-4C6C-B5DD-085071EEAD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4D15E0-52AD-4356-88AE-2951E146295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7D0C760C-6950-4CB4-8902-D54BD96B36A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8000D1B-77E9-4F94-8DE7-384ACB74B28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A1CB7ED7-B1E5-46C6-8678-583FE8333A3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D33785-A0D6-4A43-A2DA-C4F4A42326C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D8514BD8-5479-4DDF-A5C7-EB7B77DB3D8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9FAF922-7F55-4A6C-B81D-F62ABAC2410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02DCF2C8-217D-4163-9A2B-4B4DD1CE13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25</a:t>
            </a:r>
          </a:p>
        </p:txBody>
      </p:sp>
    </p:spTree>
    <p:extLst>
      <p:ext uri="{BB962C8B-B14F-4D97-AF65-F5344CB8AC3E}">
        <p14:creationId xmlns:p14="http://schemas.microsoft.com/office/powerpoint/2010/main" val="17576015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3AA345-D58E-498D-8826-B84E026418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833717-527A-4A1B-91CC-833EBF65B4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7ABF570-671F-4925-B2D3-5805FF7653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has inputs and an answer</a:t>
            </a:r>
          </a:p>
        </p:txBody>
      </p:sp>
      <p:sp>
        <p:nvSpPr>
          <p:cNvPr id="4" name="">
            <a:extLst xmlns:a="http://schemas.openxmlformats.org/drawingml/2006/main">
              <a:ext uri="{FF2B5EF4-FFF2-40B4-BE49-F238E27FC236}">
                <a16:creationId xmlns:a16="http://schemas.microsoft.com/office/drawing/2014/main" id="{1AF214DE-3666-47D7-8800-7CFF3BFC7C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5963C7-480A-4310-A32E-D17F9F295E0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Inputs are the values supplied to a calculation.</a:t>
            </a:r>
          </a:p>
        </p:txBody>
      </p:sp>
      <p:sp>
        <p:nvSpPr>
          <p:cNvPr id="6" name="">
            <a:extLst xmlns:a="http://schemas.openxmlformats.org/drawingml/2006/main">
              <a:ext uri="{FF2B5EF4-FFF2-40B4-BE49-F238E27FC236}">
                <a16:creationId xmlns:a16="http://schemas.microsoft.com/office/drawing/2014/main" id="{BD7D8631-AECD-42DF-8A95-FF221108CD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D279B5-F73C-4AE9-B372-820FF8911CD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operation combines them, such as length multiplied by width.</a:t>
            </a:r>
          </a:p>
        </p:txBody>
      </p:sp>
      <p:sp>
        <p:nvSpPr>
          <p:cNvPr id="8" name="">
            <a:extLst xmlns:a="http://schemas.openxmlformats.org/drawingml/2006/main">
              <a:ext uri="{FF2B5EF4-FFF2-40B4-BE49-F238E27FC236}">
                <a16:creationId xmlns:a16="http://schemas.microsoft.com/office/drawing/2014/main" id="{08BCEA0A-9AB1-4225-8D1A-FA59EEDEF81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5DBFAF-14E9-4D61-B052-EE946209DD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needs a unit, such as square metres.</a:t>
            </a:r>
          </a:p>
        </p:txBody>
      </p:sp>
      <p:sp>
        <p:nvSpPr>
          <p:cNvPr id="10" name="">
            <a:extLst xmlns:a="http://schemas.openxmlformats.org/drawingml/2006/main">
              <a:ext uri="{FF2B5EF4-FFF2-40B4-BE49-F238E27FC236}">
                <a16:creationId xmlns:a16="http://schemas.microsoft.com/office/drawing/2014/main" id="{07DBC14B-0F05-49F6-AAD7-A59F095899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26</a:t>
            </a:r>
          </a:p>
        </p:txBody>
      </p:sp>
    </p:spTree>
    <p:extLst>
      <p:ext uri="{BB962C8B-B14F-4D97-AF65-F5344CB8AC3E}">
        <p14:creationId xmlns:p14="http://schemas.microsoft.com/office/powerpoint/2010/main" val="194940307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DE2955-45F9-4377-B2E1-CBC39F5C0A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4EF3F3-D081-4FBE-BC29-ECD677E585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3552D3-A8E0-4852-821B-6DBBB0AE4A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reusable calculation</a:t>
            </a:r>
          </a:p>
        </p:txBody>
      </p:sp>
      <p:sp>
        <p:nvSpPr>
          <p:cNvPr id="4" name="">
            <a:extLst xmlns:a="http://schemas.openxmlformats.org/drawingml/2006/main">
              <a:ext uri="{FF2B5EF4-FFF2-40B4-BE49-F238E27FC236}">
                <a16:creationId xmlns:a16="http://schemas.microsoft.com/office/drawing/2014/main" id="{B4CAF7C4-0FB2-49EC-9DB5-F47BAE0A40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2A6C94-90F7-456C-9FF3-3DAEC7E7E29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begins a function definition. The name identifies the calculation.</a:t>
            </a:r>
          </a:p>
        </p:txBody>
      </p:sp>
      <p:sp>
        <p:nvSpPr>
          <p:cNvPr id="6" name="">
            <a:extLst xmlns:a="http://schemas.openxmlformats.org/drawingml/2006/main">
              <a:ext uri="{FF2B5EF4-FFF2-40B4-BE49-F238E27FC236}">
                <a16:creationId xmlns:a16="http://schemas.microsoft.com/office/drawing/2014/main" id="{7BABE756-ADA9-4969-B4F1-625EA8B563B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73149B-CC52-493A-A68E-48C91373B69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Parameters are names for the inputs. A colon and indentation mark the body.</a:t>
            </a:r>
          </a:p>
        </p:txBody>
      </p:sp>
      <p:sp>
        <p:nvSpPr>
          <p:cNvPr id="8" name="">
            <a:extLst xmlns:a="http://schemas.openxmlformats.org/drawingml/2006/main">
              <a:ext uri="{FF2B5EF4-FFF2-40B4-BE49-F238E27FC236}">
                <a16:creationId xmlns:a16="http://schemas.microsoft.com/office/drawing/2014/main" id="{B529FA95-A0E3-41AD-A69B-6C9ED44A785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3FC49B-27D0-4A7B-8414-6679AD69A9A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a result back when the function is called.</a:t>
            </a:r>
          </a:p>
        </p:txBody>
      </p:sp>
      <p:sp>
        <p:nvSpPr>
          <p:cNvPr id="10" name="">
            <a:extLst xmlns:a="http://schemas.openxmlformats.org/drawingml/2006/main">
              <a:ext uri="{FF2B5EF4-FFF2-40B4-BE49-F238E27FC236}">
                <a16:creationId xmlns:a16="http://schemas.microsoft.com/office/drawing/2014/main" id="{5DD6CA97-7A67-4E4F-B4C8-0D472DEBFB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27</a:t>
            </a:r>
          </a:p>
        </p:txBody>
      </p:sp>
    </p:spTree>
    <p:extLst>
      <p:ext uri="{BB962C8B-B14F-4D97-AF65-F5344CB8AC3E}">
        <p14:creationId xmlns:p14="http://schemas.microsoft.com/office/powerpoint/2010/main" val="128846422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28CC114-05A8-4868-80DB-AA59FA5BB3E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016B86-3069-45DB-B7A7-59466C070ED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e08deb379e945ea"/>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B9F5211-0FFD-481F-A4C0-066B44540A5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E77E69-D5EA-4E37-9F2C-EB4CD6B446E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function body runs when we call the function.</a:t>
            </a:r>
          </a:p>
        </p:txBody>
      </p:sp>
      <p:sp>
        <p:nvSpPr>
          <p:cNvPr id="6" name="">
            <a:extLst xmlns:a="http://schemas.openxmlformats.org/drawingml/2006/main">
              <a:ext uri="{FF2B5EF4-FFF2-40B4-BE49-F238E27FC236}">
                <a16:creationId xmlns:a16="http://schemas.microsoft.com/office/drawing/2014/main" id="{184F32C0-5E57-4B77-BC45-4D635A3D35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28</a:t>
            </a:r>
          </a:p>
        </p:txBody>
      </p:sp>
    </p:spTree>
    <p:extLst>
      <p:ext uri="{BB962C8B-B14F-4D97-AF65-F5344CB8AC3E}">
        <p14:creationId xmlns:p14="http://schemas.microsoft.com/office/powerpoint/2010/main" val="8599154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FC5AB0-8DB4-4D4E-84FB-216517814D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2439BB-FC15-4C35-83F0-84193A54AD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140020-B036-4718-9DC2-2FEBD1B26C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function call</a:t>
            </a:r>
          </a:p>
        </p:txBody>
      </p:sp>
      <p:sp>
        <p:nvSpPr>
          <p:cNvPr id="4" name="">
            <a:extLst xmlns:a="http://schemas.openxmlformats.org/drawingml/2006/main">
              <a:ext uri="{FF2B5EF4-FFF2-40B4-BE49-F238E27FC236}">
                <a16:creationId xmlns:a16="http://schemas.microsoft.com/office/drawing/2014/main" id="{369A7ED8-F387-4E41-B78A-BF2BA543A1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5258F3-71B6-4B87-8B25-559D0296866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double_value(4) puts 4 into the parameter x.</a:t>
            </a:r>
          </a:p>
        </p:txBody>
      </p:sp>
      <p:sp>
        <p:nvSpPr>
          <p:cNvPr id="6" name="">
            <a:extLst xmlns:a="http://schemas.openxmlformats.org/drawingml/2006/main">
              <a:ext uri="{FF2B5EF4-FFF2-40B4-BE49-F238E27FC236}">
                <a16:creationId xmlns:a16="http://schemas.microsoft.com/office/drawing/2014/main" id="{19D85A0E-B189-4103-9FA9-7EC3EBB93F8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576E65D-D28B-4BC1-9C86-FC24C2772A1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 2 calculates 8. return passes 8 back.</a:t>
            </a:r>
          </a:p>
        </p:txBody>
      </p:sp>
      <p:sp>
        <p:nvSpPr>
          <p:cNvPr id="8" name="">
            <a:extLst xmlns:a="http://schemas.openxmlformats.org/drawingml/2006/main">
              <a:ext uri="{FF2B5EF4-FFF2-40B4-BE49-F238E27FC236}">
                <a16:creationId xmlns:a16="http://schemas.microsoft.com/office/drawing/2014/main" id="{97B800F5-4FB6-4E81-9050-A7088F997CF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E1027D-15CF-45C2-B50E-8271CAACAFE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 displays that returned value. A guard can return early when an input is invalid.</a:t>
            </a:r>
          </a:p>
        </p:txBody>
      </p:sp>
      <p:sp>
        <p:nvSpPr>
          <p:cNvPr id="10" name="">
            <a:extLst xmlns:a="http://schemas.openxmlformats.org/drawingml/2006/main">
              <a:ext uri="{FF2B5EF4-FFF2-40B4-BE49-F238E27FC236}">
                <a16:creationId xmlns:a16="http://schemas.microsoft.com/office/drawing/2014/main" id="{5766A69E-B963-4980-AB23-7203C803B5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29</a:t>
            </a:r>
          </a:p>
        </p:txBody>
      </p:sp>
    </p:spTree>
    <p:extLst>
      <p:ext uri="{BB962C8B-B14F-4D97-AF65-F5344CB8AC3E}">
        <p14:creationId xmlns:p14="http://schemas.microsoft.com/office/powerpoint/2010/main" val="45214045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7DF0A8-23B9-4D26-BBE4-0EAB2A3F3A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FA61C0-0DA5-4823-87D1-2ABDE70DCE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AAAF4C-B81E-40BB-82D2-431A77B83D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705A6E7B-C809-4ED7-835E-6F49AAC6329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29E559-8100-4EF6-9B49-831DE17D79A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p:txBody>
      </p:sp>
      <p:sp>
        <p:nvSpPr>
          <p:cNvPr id="6" name="">
            <a:extLst xmlns:a="http://schemas.openxmlformats.org/drawingml/2006/main">
              <a:ext uri="{FF2B5EF4-FFF2-40B4-BE49-F238E27FC236}">
                <a16:creationId xmlns:a16="http://schemas.microsoft.com/office/drawing/2014/main" id="{EBAFF979-E50C-440C-B54D-29569016696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C5737D5-EF15-46F2-B2C1-A2CDF60ADE1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242D84EB-13C9-446B-8769-4706B9A647E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1485D095-41E7-42BA-8065-4599F197747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411891BA-ECA2-4174-B0E1-2345F95287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30</a:t>
            </a:r>
          </a:p>
        </p:txBody>
      </p:sp>
    </p:spTree>
    <p:extLst>
      <p:ext uri="{BB962C8B-B14F-4D97-AF65-F5344CB8AC3E}">
        <p14:creationId xmlns:p14="http://schemas.microsoft.com/office/powerpoint/2010/main" val="197573832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0A91730-5DA1-4560-B941-A54608AFB8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69F755-7417-4A27-8354-7E2DE2444D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E306E0-2002-4CFF-B24F-96CD3229D2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0FBA530B-9B2C-459C-B980-D64BF91032A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7CC7D2-DCC6-4B57-B938-33548ECEFA4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print(double_value(4))</a:t>
            </a:r>
          </a:p>
        </p:txBody>
      </p:sp>
      <p:sp>
        <p:nvSpPr>
          <p:cNvPr id="6" name="">
            <a:extLst xmlns:a="http://schemas.openxmlformats.org/drawingml/2006/main">
              <a:ext uri="{FF2B5EF4-FFF2-40B4-BE49-F238E27FC236}">
                <a16:creationId xmlns:a16="http://schemas.microsoft.com/office/drawing/2014/main" id="{F2CBCFAD-5A8D-46A7-B0C5-CBC6BF1B55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9086A86-8935-49CB-B2ED-A2C2F05388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6F7ADF3-38E1-4655-86E7-57EDF903C6E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9" name="">
            <a:extLst xmlns:a="http://schemas.openxmlformats.org/drawingml/2006/main">
              <a:ext uri="{FF2B5EF4-FFF2-40B4-BE49-F238E27FC236}">
                <a16:creationId xmlns:a16="http://schemas.microsoft.com/office/drawing/2014/main" id="{8F670B4C-3903-4587-81F3-32D5E5725B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31</a:t>
            </a:r>
          </a:p>
        </p:txBody>
      </p:sp>
    </p:spTree>
    <p:extLst>
      <p:ext uri="{BB962C8B-B14F-4D97-AF65-F5344CB8AC3E}">
        <p14:creationId xmlns:p14="http://schemas.microsoft.com/office/powerpoint/2010/main" val="147451505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C9E2EA2-29C3-4473-AC19-DF8797A93C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B7EBED-CF4D-489A-9AF4-27E5079FA7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AD66D4-CED3-4114-9B3E-E074F07F46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B1C1DB3E-62D3-4A9C-9DC4-AE2665ECD48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A52915-7EF5-4DB3-B453-0177C16C933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5C2DC333-92D7-444B-978E-910A2CE103E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D9B2C2C-19BC-41C4-93E2-2E148AA31CB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8C6F238E-0DF2-4082-B073-5B316486443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6ECECA83-37DF-42DB-96E7-A84FBA3A0B1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10A718AB-9AF1-421B-850B-588EF775417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383A68C0-BF39-4217-97FD-F9AA99F7BD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32</a:t>
            </a:r>
          </a:p>
        </p:txBody>
      </p:sp>
    </p:spTree>
    <p:extLst>
      <p:ext uri="{BB962C8B-B14F-4D97-AF65-F5344CB8AC3E}">
        <p14:creationId xmlns:p14="http://schemas.microsoft.com/office/powerpoint/2010/main" val="125995950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3BEA81A-C5AB-4EFB-A7B1-B199A4BA42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5E56FA-DBAD-4457-BB77-29D98ED821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D679DEC-935F-4A6E-AE28-6BDD8AF851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EAD3DD6D-9DB0-4BA1-B7B6-62FF9737DDD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9316EC-A628-4125-9343-5A349B37E8D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p:txBody>
      </p:sp>
      <p:sp>
        <p:nvSpPr>
          <p:cNvPr id="6" name="">
            <a:extLst xmlns:a="http://schemas.openxmlformats.org/drawingml/2006/main">
              <a:ext uri="{FF2B5EF4-FFF2-40B4-BE49-F238E27FC236}">
                <a16:creationId xmlns:a16="http://schemas.microsoft.com/office/drawing/2014/main" id="{11178BA7-E10C-4502-812C-42A75D3303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5A3CA5F-1BC2-43D2-8F94-0E9A350B201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6B3570A1-34FC-415D-AB18-D05B45849DC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9B8548CD-CBEF-4F99-B6C8-3B6275CE43F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F7846A16-7A45-4DB0-8742-552E5B6F67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F2F65F66-EF31-4F3B-BC79-0E9AB34BC6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33</a:t>
            </a:r>
          </a:p>
        </p:txBody>
      </p:sp>
    </p:spTree>
    <p:extLst>
      <p:ext uri="{BB962C8B-B14F-4D97-AF65-F5344CB8AC3E}">
        <p14:creationId xmlns:p14="http://schemas.microsoft.com/office/powerpoint/2010/main" val="129725865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888311-2934-4DF2-BFBD-E349227077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3B1A72-8EE3-4465-AE1C-048E275D4D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1827E4E-9E7A-4743-AEDA-19B98C3877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3CA521AD-AA9F-4F13-8943-98244885431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E856BB-C944-405B-A558-1C623E2500E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D0AE2D56-7AD6-491F-8474-EDE32008D90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3A31128-AD5E-49FC-9C1F-07F805EFBC6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6D9EE391-937B-49C0-8976-A02F33C260C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9" name="">
            <a:extLst xmlns:a="http://schemas.openxmlformats.org/drawingml/2006/main">
              <a:ext uri="{FF2B5EF4-FFF2-40B4-BE49-F238E27FC236}">
                <a16:creationId xmlns:a16="http://schemas.microsoft.com/office/drawing/2014/main" id="{BB2042D8-C3DD-4101-A5F0-17266EA41B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34</a:t>
            </a:r>
          </a:p>
        </p:txBody>
      </p:sp>
    </p:spTree>
    <p:extLst>
      <p:ext uri="{BB962C8B-B14F-4D97-AF65-F5344CB8AC3E}">
        <p14:creationId xmlns:p14="http://schemas.microsoft.com/office/powerpoint/2010/main" val="135912388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F30183-1174-470F-AEA7-5685F83F8B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D97304-DCBE-45CB-8A5A-ABA8FAD418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F54BF999-5541-4CF3-9941-862089D6DC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6D496216-9B0B-451F-B0C0-1E6F3761A206}"/>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D85BBF-3192-4538-8B9D-FED528E3F0B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8</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195B48C0-CB5D-4617-9E35-AEBA698283EB}"/>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9DC19DB-AE00-4B9E-B87B-F29BF8BD6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35</a:t>
            </a:r>
          </a:p>
        </p:txBody>
      </p:sp>
    </p:spTree>
    <p:extLst>
      <p:ext uri="{BB962C8B-B14F-4D97-AF65-F5344CB8AC3E}">
        <p14:creationId xmlns:p14="http://schemas.microsoft.com/office/powerpoint/2010/main" val="75600419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5B211C-9D2D-45E2-937E-FF9A5EF13D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D06B72-F0C5-4EF7-95B4-7ED474706B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B17AF2-CCA6-4782-85D7-2DBAECBE73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24899C22-77EA-421D-A65F-5299C2C46BC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B2883F-D457-437E-AAB8-0FEA6AC377A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E6BEBC51-A98F-4216-AD12-EECFC6CFDB6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BEDC3F-AAB4-47B6-89BA-52F08F0F0E4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3305038D-67C2-454A-BC65-10EE3528ABE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715E23-15E9-4A27-B437-231664415AB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7A704EB9-24F5-4A89-869A-251ED63B79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36</a:t>
            </a:r>
          </a:p>
        </p:txBody>
      </p:sp>
    </p:spTree>
    <p:extLst>
      <p:ext uri="{BB962C8B-B14F-4D97-AF65-F5344CB8AC3E}">
        <p14:creationId xmlns:p14="http://schemas.microsoft.com/office/powerpoint/2010/main" val="73631044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441A4D7-AB3C-415A-9D68-CF593699DF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0E0040-24B5-4A77-9689-272EA6482B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844ADF7-9934-4129-9B83-BBFC3D19BC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1DDD5836-5909-427B-9BEE-6DB93FF6115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3356A9-7CB3-4A29-BAF8-479476ACB48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D525FBD9-5AEF-4F3D-97A9-6B6C28145DC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9B980E3-5EB7-4BD3-B78F-8202BA3AA2B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AD469A5A-C539-431F-9618-4E0FEFA1FE5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EAB5CF71-E5AC-409A-A8FD-7B5EDEB87FF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D4D9308A-21EC-4BE6-AF4F-2659F2830E3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035B3CC4-1D73-43F2-93D2-3DF964F0DE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37</a:t>
            </a:r>
          </a:p>
        </p:txBody>
      </p:sp>
    </p:spTree>
    <p:extLst>
      <p:ext uri="{BB962C8B-B14F-4D97-AF65-F5344CB8AC3E}">
        <p14:creationId xmlns:p14="http://schemas.microsoft.com/office/powerpoint/2010/main" val="82483313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6F53C8-26F0-4B3D-8D13-70E459BF39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C4C17F-CC0A-4CE0-95E2-C2821ED8E5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7602C6-9FB6-4113-8840-12E8D93500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03E358A5-0DE9-40A3-A197-DB7FDDA828A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87974C-A4B1-4A54-90E0-B958D742D75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DC48B3-A9BE-4726-846F-2D92A5EE7EA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list holds several values. abs removes the sign when measuring the SIZE of an error. max returns the largest supplied value.</a:t>
            </a:r>
          </a:p>
        </p:txBody>
      </p:sp>
      <p:sp>
        <p:nvSpPr>
          <p:cNvPr id="7" name="">
            <a:extLst xmlns:a="http://schemas.openxmlformats.org/drawingml/2006/main">
              <a:ext uri="{FF2B5EF4-FFF2-40B4-BE49-F238E27FC236}">
                <a16:creationId xmlns:a16="http://schemas.microsoft.com/office/drawing/2014/main" id="{BECBFF55-EE93-4796-B813-1F599ACBFB3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original signed error when the task asks for direction.</a:t>
            </a:r>
          </a:p>
        </p:txBody>
      </p:sp>
      <p:sp>
        <p:nvSpPr>
          <p:cNvPr id="8" name="">
            <a:extLst xmlns:a="http://schemas.openxmlformats.org/drawingml/2006/main">
              <a:ext uri="{FF2B5EF4-FFF2-40B4-BE49-F238E27FC236}">
                <a16:creationId xmlns:a16="http://schemas.microsoft.com/office/drawing/2014/main" id="{67174815-32B9-4B1A-B929-2CCB3C103C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38</a:t>
            </a:r>
          </a:p>
        </p:txBody>
      </p:sp>
    </p:spTree>
    <p:extLst>
      <p:ext uri="{BB962C8B-B14F-4D97-AF65-F5344CB8AC3E}">
        <p14:creationId xmlns:p14="http://schemas.microsoft.com/office/powerpoint/2010/main" val="214721479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A51BD7-C7F8-4B6F-B0B3-0A78CE9FB3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1DFCD0-FBE7-4C12-83C7-7C656F3915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14B5A49-6206-47C0-A791-636DF52F8E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short list</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c>
                  <a:txBody>
                    <a:bodyPr/>
                    <a:lstStyle/>
                    <a:p>
                      <a:r>
                        <a:rPr sz="2025" b="1">
                          <a:solidFill>
                            <a:srgbClr val="FFFFFF"/>
                          </a:solidFill>
                          <a:latin typeface="Calibri"/>
                          <a:ea typeface="Calibri"/>
                          <a:cs typeface="Calibri"/>
                        </a:rPr>
                        <a:t>Why</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errors = [-2, 5, -8]</a:t>
                      </a:r>
                    </a:p>
                  </a:txBody>
                  <a:tcPr marL="91440" marR="91440" marT="45720" marB="45720">
                    <a:solidFill>
                      <a:srgbClr val="EEF3F6"/>
                    </a:solidFill>
                  </a:tcPr>
                </a:tc>
                <a:tc>
                  <a:txBody>
                    <a:bodyPr/>
                    <a:lstStyle/>
                    <a:p>
                      <a:r>
                        <a:rPr sz="2025" b="0">
                          <a:solidFill>
                            <a:srgbClr val="1C3144"/>
                          </a:solidFill>
                          <a:latin typeface="Calibri"/>
                          <a:ea typeface="Calibri"/>
                          <a:cs typeface="Calibri"/>
                        </a:rPr>
                        <a:t>Three signed errors</a:t>
                      </a:r>
                    </a:p>
                  </a:txBody>
                  <a:tcPr marL="91440" marR="91440" marT="45720" marB="45720">
                    <a:solidFill>
                      <a:srgbClr val="EEF3F6"/>
                    </a:solidFill>
                  </a:tcPr>
                </a:tc>
                <a:tc>
                  <a:txBody>
                    <a:bodyPr/>
                    <a:lstStyle/>
                    <a:p>
                      <a:r>
                        <a:rPr sz="2025" b="0">
                          <a:solidFill>
                            <a:srgbClr val="1C3144"/>
                          </a:solidFill>
                          <a:latin typeface="Calibri"/>
                          <a:ea typeface="Calibri"/>
                          <a:cs typeface="Calibri"/>
                        </a:rPr>
                        <a:t>Brackets hold the list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errors[0]</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Positions start at zero</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abs(errors[2])</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abs gives the size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max(2, 5, 8)</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c>
                  <a:txBody>
                    <a:bodyPr/>
                    <a:lstStyle/>
                    <a:p>
                      <a:r>
                        <a:rPr sz="2025" b="0">
                          <a:solidFill>
                            <a:srgbClr val="1C3144"/>
                          </a:solidFill>
                          <a:latin typeface="Calibri"/>
                          <a:ea typeface="Calibri"/>
                          <a:cs typeface="Calibri"/>
                        </a:rPr>
                        <a:t>max selects the largest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752D24B-3AC9-4B52-AC7E-6C7D0C6DFEE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bracketed number is a position. It is not the value stored there.</a:t>
            </a:r>
          </a:p>
        </p:txBody>
      </p:sp>
      <p:sp>
        <p:nvSpPr>
          <p:cNvPr id="6" name="">
            <a:extLst xmlns:a="http://schemas.openxmlformats.org/drawingml/2006/main">
              <a:ext uri="{FF2B5EF4-FFF2-40B4-BE49-F238E27FC236}">
                <a16:creationId xmlns:a16="http://schemas.microsoft.com/office/drawing/2014/main" id="{E4E23CD7-6A82-43E3-B48D-DED1B3A20E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39</a:t>
            </a:r>
          </a:p>
        </p:txBody>
      </p:sp>
    </p:spTree>
    <p:extLst>
      <p:ext uri="{BB962C8B-B14F-4D97-AF65-F5344CB8AC3E}">
        <p14:creationId xmlns:p14="http://schemas.microsoft.com/office/powerpoint/2010/main" val="115678414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A6E793-289C-4EF0-B222-BF9D282714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96AE55-203E-4A42-8ED3-B099607A12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DFB57E-A7E1-497A-8C06-6AAA0C74C6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19B34E07-19EA-49DF-AC80-5282456B73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CB6726-5D5A-4C18-9D01-B057FB61E31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61AE9C16-2747-41E7-8B12-515C75158A6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90EDE409-B766-4B2A-80DD-40400670D0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80F545C8-E8AE-400D-B4B7-334180EACD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40</a:t>
            </a:r>
          </a:p>
        </p:txBody>
      </p:sp>
    </p:spTree>
    <p:extLst>
      <p:ext uri="{BB962C8B-B14F-4D97-AF65-F5344CB8AC3E}">
        <p14:creationId xmlns:p14="http://schemas.microsoft.com/office/powerpoint/2010/main" val="6006415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9DC6AC-EC7E-4944-BADC-2F669DA16A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9206ED-EA03-441C-A3E1-53B119842B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2F6F4F-E840-40F9-A63C-7E61A215ED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A9CD12FB-A93C-4168-87D2-4DDC57AB466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EC35E0-29F1-4A38-9D53-D5CA74CC016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5E150F6-A03D-419D-8921-C3B8D803C7D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82B9322B-81F4-4839-8817-FFE734EE19F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476B89DF-44D4-436A-ADFD-1EEB91A38B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41</a:t>
            </a:r>
          </a:p>
        </p:txBody>
      </p:sp>
    </p:spTree>
    <p:extLst>
      <p:ext uri="{BB962C8B-B14F-4D97-AF65-F5344CB8AC3E}">
        <p14:creationId xmlns:p14="http://schemas.microsoft.com/office/powerpoint/2010/main" val="61270925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C88082-05A2-4A19-87BB-85F4AF56F2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5D1C60-5D2E-4A50-87F4-B9055023F1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C43374D-0B2F-44B4-9CB2-87A88DE008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44644E99-4899-45E3-9D99-9A5A3F949A5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565571-7B1B-4E1D-BF3E-25042793AB7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5C93AB44-BC27-4319-A1E7-8E8FDCA00A2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32AE515A-C591-4F6B-B5E2-502A0CA542D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9E615775-3579-4EA9-B99E-036BBDFCB0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42</a:t>
            </a:r>
          </a:p>
        </p:txBody>
      </p:sp>
    </p:spTree>
    <p:extLst>
      <p:ext uri="{BB962C8B-B14F-4D97-AF65-F5344CB8AC3E}">
        <p14:creationId xmlns:p14="http://schemas.microsoft.com/office/powerpoint/2010/main" val="182164501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5C8FB6-BD4C-4BB9-8924-E5858005D6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AE44D2-6BFA-4419-9AC5-C52B228971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AFC6EF5B-B7E0-4995-A645-74C24F5809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function</a:t>
            </a:r>
          </a:p>
        </p:txBody>
      </p:sp>
      <p:sp>
        <p:nvSpPr>
          <p:cNvPr id="4" name="">
            <a:extLst xmlns:a="http://schemas.openxmlformats.org/drawingml/2006/main">
              <a:ext uri="{FF2B5EF4-FFF2-40B4-BE49-F238E27FC236}">
                <a16:creationId xmlns:a16="http://schemas.microsoft.com/office/drawing/2014/main" id="{CA7256D7-64CD-4F52-B4F3-EE52611DE673}"/>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65B24B-FD78-4A59-A967-2660E73495B2}"/>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partner supplies the input 4.</a:t>
            </a:r>
          </a:p>
        </p:txBody>
      </p:sp>
      <p:sp>
        <p:nvSpPr>
          <p:cNvPr id="6" name="">
            <a:extLst xmlns:a="http://schemas.openxmlformats.org/drawingml/2006/main">
              <a:ext uri="{FF2B5EF4-FFF2-40B4-BE49-F238E27FC236}">
                <a16:creationId xmlns:a16="http://schemas.microsoft.com/office/drawing/2014/main" id="{6A5B109D-5CC0-4969-B8B4-24AB1043AF6A}"/>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61440B-CBD2-4D94-B454-5EBA181AB42F}"/>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follows the rule: multiply the input by 2.</a:t>
            </a:r>
          </a:p>
        </p:txBody>
      </p:sp>
      <p:sp>
        <p:nvSpPr>
          <p:cNvPr id="8" name="">
            <a:extLst xmlns:a="http://schemas.openxmlformats.org/drawingml/2006/main">
              <a:ext uri="{FF2B5EF4-FFF2-40B4-BE49-F238E27FC236}">
                <a16:creationId xmlns:a16="http://schemas.microsoft.com/office/drawing/2014/main" id="{4648702E-E73E-421A-A19E-264B6577FDF3}"/>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0E0649-B93E-4208-8D37-EB96C360ABDC}"/>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the answer on paper, then repeat with input 7.</a:t>
            </a:r>
          </a:p>
        </p:txBody>
      </p:sp>
      <p:sp>
        <p:nvSpPr>
          <p:cNvPr id="10" name="">
            <a:extLst xmlns:a="http://schemas.openxmlformats.org/drawingml/2006/main">
              <a:ext uri="{FF2B5EF4-FFF2-40B4-BE49-F238E27FC236}">
                <a16:creationId xmlns:a16="http://schemas.microsoft.com/office/drawing/2014/main" id="{E461F66A-3AF0-4DE4-A784-3A30EEF3E8BC}"/>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6463742-E37D-40F0-BC1B-021585CED93E}"/>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C0FCB149-5231-41F9-B17F-FAA6F8CCEB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43</a:t>
            </a:r>
          </a:p>
        </p:txBody>
      </p:sp>
    </p:spTree>
    <p:extLst>
      <p:ext uri="{BB962C8B-B14F-4D97-AF65-F5344CB8AC3E}">
        <p14:creationId xmlns:p14="http://schemas.microsoft.com/office/powerpoint/2010/main" val="197701337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99B31D-8E68-4D44-B131-67CA9A64EA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B21B9E-7B59-41BA-A188-31D9F8CCBB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BC29AF56-A21E-4691-8025-9FB15D8BB3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4A185156-2D94-4DBB-A3DC-6EC6C606567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C3E1DC-39F1-4A52-96BE-72E15024C85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The returned answers are 8 and 14. The same instructions accept different inputs.</a:t>
            </a:r>
          </a:p>
        </p:txBody>
      </p:sp>
      <p:sp>
        <p:nvSpPr>
          <p:cNvPr id="6" name="">
            <a:extLst xmlns:a="http://schemas.openxmlformats.org/drawingml/2006/main">
              <a:ext uri="{FF2B5EF4-FFF2-40B4-BE49-F238E27FC236}">
                <a16:creationId xmlns:a16="http://schemas.microsoft.com/office/drawing/2014/main" id="{9939F639-F470-4A8C-9276-F4419E410BD8}"/>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A9A4AC4-4BCC-455D-8CC8-A20CEB514F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44</a:t>
            </a:r>
          </a:p>
        </p:txBody>
      </p:sp>
    </p:spTree>
    <p:extLst>
      <p:ext uri="{BB962C8B-B14F-4D97-AF65-F5344CB8AC3E}">
        <p14:creationId xmlns:p14="http://schemas.microsoft.com/office/powerpoint/2010/main" val="686800227"/>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2AFA44-D44E-426C-A578-C97B2BDCDF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FE1963DF-6D7C-49BD-8E0E-EF0DE7FAF9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2F849190-DF05-4448-A93F-9F16C4F4844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2BD4067-3BEF-4EB6-A43F-AD733173150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Write triple_value(x). Predict triple_value(5). Then predict safe_share(12, 0).</a:t>
            </a:r>
          </a:p>
        </p:txBody>
      </p:sp>
      <p:sp>
        <p:nvSpPr>
          <p:cNvPr id="5" name="">
            <a:extLst xmlns:a="http://schemas.openxmlformats.org/drawingml/2006/main">
              <a:ext uri="{FF2B5EF4-FFF2-40B4-BE49-F238E27FC236}">
                <a16:creationId xmlns:a16="http://schemas.microsoft.com/office/drawing/2014/main" id="{40277B1F-0C96-4B2C-82D1-F02E77FCA83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6B3F875-A5A7-4071-8BF7-A0BAB194F3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45</a:t>
            </a:r>
          </a:p>
        </p:txBody>
      </p:sp>
    </p:spTree>
    <p:extLst>
      <p:ext uri="{BB962C8B-B14F-4D97-AF65-F5344CB8AC3E}">
        <p14:creationId xmlns:p14="http://schemas.microsoft.com/office/powerpoint/2010/main" val="54179173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06D9F3-3362-4521-A3C4-1B3376A34D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B7A53A-3D93-4BA5-AF3F-1DD6C757CE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7CB448A4-0283-4B6A-BB5E-A0E47DA77C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DA6ECA63-F530-4E06-B4A8-90C6BA85F44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4F48D2-0157-4232-B133-4365A6FD38C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triple_value returns x * 3. The calls give 15 and None respectively. The guard returns before division when people is zero.</a:t>
            </a:r>
          </a:p>
        </p:txBody>
      </p:sp>
      <p:sp>
        <p:nvSpPr>
          <p:cNvPr id="6" name="">
            <a:extLst xmlns:a="http://schemas.openxmlformats.org/drawingml/2006/main">
              <a:ext uri="{FF2B5EF4-FFF2-40B4-BE49-F238E27FC236}">
                <a16:creationId xmlns:a16="http://schemas.microsoft.com/office/drawing/2014/main" id="{B3D101B6-11BD-47AC-BB0F-12B4CEF12A0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383F176-68EB-4619-92F2-5A91279E32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46</a:t>
            </a:r>
          </a:p>
        </p:txBody>
      </p:sp>
    </p:spTree>
    <p:extLst>
      <p:ext uri="{BB962C8B-B14F-4D97-AF65-F5344CB8AC3E}">
        <p14:creationId xmlns:p14="http://schemas.microsoft.com/office/powerpoint/2010/main" val="124573734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73A1156-2BF4-457E-8D03-118F10820A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2E2D15-224C-44A2-AB41-15F471D20C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7E2B0C-4F11-4457-A382-F6DA488B92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C87923AA-C68B-4899-80B2-9CB1EEEEA8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1FB652-55B4-41F6-9C2E-D0F9A00E63E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kg. Weight is a force in newtons (N): mass × gravitational acceleration. Here g = 9.81 m/s².</a:t>
            </a:r>
          </a:p>
        </p:txBody>
      </p:sp>
      <p:sp>
        <p:nvSpPr>
          <p:cNvPr id="6" name="">
            <a:extLst xmlns:a="http://schemas.openxmlformats.org/drawingml/2006/main">
              <a:ext uri="{FF2B5EF4-FFF2-40B4-BE49-F238E27FC236}">
                <a16:creationId xmlns:a16="http://schemas.microsoft.com/office/drawing/2014/main" id="{87FB8F38-264B-4570-B05C-CDBE63D32C1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D39721-BA5B-448C-8566-16C62B7AB1A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a rate of energy transfer, measured in watts (W). Efficiency compares useful output power with input power.</a:t>
            </a:r>
          </a:p>
        </p:txBody>
      </p:sp>
      <p:sp>
        <p:nvSpPr>
          <p:cNvPr id="8" name="">
            <a:extLst xmlns:a="http://schemas.openxmlformats.org/drawingml/2006/main">
              <a:ext uri="{FF2B5EF4-FFF2-40B4-BE49-F238E27FC236}">
                <a16:creationId xmlns:a16="http://schemas.microsoft.com/office/drawing/2014/main" id="{B73EA696-06E8-4120-BEA3-1D562C1EC48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28BFB1-FB17-4236-83C0-4EE3184A356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rpm means revolutions per minute. One revolution is 2π radians; one minute is 60 seconds. π is approximately 3.14159.</a:t>
            </a:r>
          </a:p>
        </p:txBody>
      </p:sp>
      <p:sp>
        <p:nvSpPr>
          <p:cNvPr id="10" name="">
            <a:extLst xmlns:a="http://schemas.openxmlformats.org/drawingml/2006/main">
              <a:ext uri="{FF2B5EF4-FFF2-40B4-BE49-F238E27FC236}">
                <a16:creationId xmlns:a16="http://schemas.microsoft.com/office/drawing/2014/main" id="{2D992EC9-F449-4F5B-A467-A6192EA9383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92FF34E-63C0-4197-9ED9-162850F4BFF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is a value kept fixed for a calculation. Uppercase names such as PI are a convention; Python does not prevent changing them.</a:t>
            </a:r>
          </a:p>
        </p:txBody>
      </p:sp>
      <p:sp>
        <p:nvSpPr>
          <p:cNvPr id="12" name="">
            <a:extLst xmlns:a="http://schemas.openxmlformats.org/drawingml/2006/main">
              <a:ext uri="{FF2B5EF4-FFF2-40B4-BE49-F238E27FC236}">
                <a16:creationId xmlns:a16="http://schemas.microsoft.com/office/drawing/2014/main" id="{E4104C64-32FA-4B47-8FA2-DE79A1AC2B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47</a:t>
            </a:r>
          </a:p>
        </p:txBody>
      </p:sp>
    </p:spTree>
    <p:extLst>
      <p:ext uri="{BB962C8B-B14F-4D97-AF65-F5344CB8AC3E}">
        <p14:creationId xmlns:p14="http://schemas.microsoft.com/office/powerpoint/2010/main" val="157119550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FA0510A-4CCC-46CC-9BC3-6AF4EA8AC4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362D78-FB96-4652-BE92-790DC356CC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9A95704-707B-48A5-AA38-40D5CA8313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Quantities and units</a:t>
            </a:r>
          </a:p>
        </p:txBody>
      </p:sp>
      <p:sp>
        <p:nvSpPr>
          <p:cNvPr id="4" name="">
            <a:extLst xmlns:a="http://schemas.openxmlformats.org/drawingml/2006/main">
              <a:ext uri="{FF2B5EF4-FFF2-40B4-BE49-F238E27FC236}">
                <a16:creationId xmlns:a16="http://schemas.microsoft.com/office/drawing/2014/main" id="{0172F583-3CB4-4D3B-8A81-B106F2DECF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D031C7-17F2-4955-957C-01A67DE82C1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Weight = mass × gravitational acceleration. Use g = 9.81 m/s² in the task.</a:t>
            </a:r>
          </a:p>
        </p:txBody>
      </p:sp>
      <p:sp>
        <p:nvSpPr>
          <p:cNvPr id="6" name="">
            <a:extLst xmlns:a="http://schemas.openxmlformats.org/drawingml/2006/main">
              <a:ext uri="{FF2B5EF4-FFF2-40B4-BE49-F238E27FC236}">
                <a16:creationId xmlns:a16="http://schemas.microsoft.com/office/drawing/2014/main" id="{6DC30F26-A8D0-475C-A2BB-507321701FD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10DDA6-288C-4494-B21D-4660F0A0B1B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 for a nonzero expected value.</a:t>
            </a:r>
          </a:p>
        </p:txBody>
      </p:sp>
      <p:sp>
        <p:nvSpPr>
          <p:cNvPr id="8" name="">
            <a:extLst xmlns:a="http://schemas.openxmlformats.org/drawingml/2006/main">
              <a:ext uri="{FF2B5EF4-FFF2-40B4-BE49-F238E27FC236}">
                <a16:creationId xmlns:a16="http://schemas.microsoft.com/office/drawing/2014/main" id="{1E1A5E33-020D-42F5-9189-DD1DA90C268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2D9832-5F4A-4195-B363-A7ED443FEC1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Efficiency (%) = 100 × output power / input power.</a:t>
            </a:r>
          </a:p>
        </p:txBody>
      </p:sp>
      <p:sp>
        <p:nvSpPr>
          <p:cNvPr id="10" name="">
            <a:extLst xmlns:a="http://schemas.openxmlformats.org/drawingml/2006/main">
              <a:ext uri="{FF2B5EF4-FFF2-40B4-BE49-F238E27FC236}">
                <a16:creationId xmlns:a16="http://schemas.microsoft.com/office/drawing/2014/main" id="{980C6071-99EA-4215-A657-F581E4111AC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F74B48D-B535-45D7-8C9B-4DD05973F6D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assignment returns None when input power is zero or negative.</a:t>
            </a:r>
          </a:p>
        </p:txBody>
      </p:sp>
      <p:sp>
        <p:nvSpPr>
          <p:cNvPr id="12" name="">
            <a:extLst xmlns:a="http://schemas.openxmlformats.org/drawingml/2006/main">
              <a:ext uri="{FF2B5EF4-FFF2-40B4-BE49-F238E27FC236}">
                <a16:creationId xmlns:a16="http://schemas.microsoft.com/office/drawing/2014/main" id="{FF0A4DDD-C53D-452E-A98F-F865166AD5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48</a:t>
            </a:r>
          </a:p>
        </p:txBody>
      </p:sp>
    </p:spTree>
    <p:extLst>
      <p:ext uri="{BB962C8B-B14F-4D97-AF65-F5344CB8AC3E}">
        <p14:creationId xmlns:p14="http://schemas.microsoft.com/office/powerpoint/2010/main" val="118443331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3C6120-068E-49BF-85FD-5A9ABE0206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CE4898-2175-48B0-B631-F56E18FCA5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AA51A6-8871-46D4-AD5B-6C3F36706E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D7AFA04F-4FB9-40C5-9373-50586ABF7D4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494BA3-773F-4945-91D8-8D7C00DB2EC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Slab mass = area × thickness × density.</a:t>
            </a:r>
          </a:p>
        </p:txBody>
      </p:sp>
      <p:sp>
        <p:nvSpPr>
          <p:cNvPr id="6" name="">
            <a:extLst xmlns:a="http://schemas.openxmlformats.org/drawingml/2006/main">
              <a:ext uri="{FF2B5EF4-FFF2-40B4-BE49-F238E27FC236}">
                <a16:creationId xmlns:a16="http://schemas.microsoft.com/office/drawing/2014/main" id="{A595F5C2-9AF4-4620-9186-6B9FAAF5548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metres and 2400 kg/m³ as specified.</a:t>
            </a:r>
          </a:p>
        </p:txBody>
      </p:sp>
      <p:sp>
        <p:nvSpPr>
          <p:cNvPr id="7" name="">
            <a:extLst xmlns:a="http://schemas.openxmlformats.org/drawingml/2006/main">
              <a:ext uri="{FF2B5EF4-FFF2-40B4-BE49-F238E27FC236}">
                <a16:creationId xmlns:a16="http://schemas.microsoft.com/office/drawing/2014/main" id="{D0EB48E5-B0FF-483D-9599-F1F1541E1A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49</a:t>
            </a:r>
          </a:p>
        </p:txBody>
      </p:sp>
    </p:spTree>
    <p:extLst>
      <p:ext uri="{BB962C8B-B14F-4D97-AF65-F5344CB8AC3E}">
        <p14:creationId xmlns:p14="http://schemas.microsoft.com/office/powerpoint/2010/main" val="156234458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BD165FA-5EBF-4C4A-9687-A4952954BF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F27793-34F9-4832-A459-3A00F65D4D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1004961-3499-4F5E-ACAF-1E5E87C4A6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C99D0140-F737-434C-8360-77460F95515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EAB633-10D4-44E9-9C2C-67F48AAC2115}"/>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6" name="">
            <a:extLst xmlns:a="http://schemas.openxmlformats.org/drawingml/2006/main">
              <a:ext uri="{FF2B5EF4-FFF2-40B4-BE49-F238E27FC236}">
                <a16:creationId xmlns:a16="http://schemas.microsoft.com/office/drawing/2014/main" id="{968C007B-DC25-468E-BFE3-04D185EC2026}"/>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261409-6015-4DC6-ABE8-EA2B0341B61B}"/>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8" name="">
            <a:extLst xmlns:a="http://schemas.openxmlformats.org/drawingml/2006/main">
              <a:ext uri="{FF2B5EF4-FFF2-40B4-BE49-F238E27FC236}">
                <a16:creationId xmlns:a16="http://schemas.microsoft.com/office/drawing/2014/main" id="{BB24BDE9-760A-4D04-9B3A-2F1A89DA691C}"/>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E887C9-8EEA-48DF-BFD5-76C6BF8EB087}"/>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0" name="">
            <a:extLst xmlns:a="http://schemas.openxmlformats.org/drawingml/2006/main">
              <a:ext uri="{FF2B5EF4-FFF2-40B4-BE49-F238E27FC236}">
                <a16:creationId xmlns:a16="http://schemas.microsoft.com/office/drawing/2014/main" id="{02763C70-F1F2-4F18-AE2B-C5DC8CFF3B0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F2241D-C930-4AC1-8EE5-2CB9F3A8D49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389d0810dbc43fa"/>
              </a:rPr>
              <a:t>Open explainer video</a:t>
            </a:r>
          </a:p>
        </p:txBody>
      </p:sp>
      <p:sp>
        <p:nvSpPr>
          <p:cNvPr id="12" name="">
            <a:extLst xmlns:a="http://schemas.openxmlformats.org/drawingml/2006/main">
              <a:ext uri="{FF2B5EF4-FFF2-40B4-BE49-F238E27FC236}">
                <a16:creationId xmlns:a16="http://schemas.microsoft.com/office/drawing/2014/main" id="{7F04EC5A-3FFF-42AD-B666-BC80527827B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3" name="">
            <a:extLst xmlns:a="http://schemas.openxmlformats.org/drawingml/2006/main">
              <a:ext uri="{FF2B5EF4-FFF2-40B4-BE49-F238E27FC236}">
                <a16:creationId xmlns:a16="http://schemas.microsoft.com/office/drawing/2014/main" id="{184A4CC8-A4F3-4222-A749-533E7313B3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50</a:t>
            </a:r>
          </a:p>
        </p:txBody>
      </p:sp>
    </p:spTree>
    <p:extLst>
      <p:ext uri="{BB962C8B-B14F-4D97-AF65-F5344CB8AC3E}">
        <p14:creationId xmlns:p14="http://schemas.microsoft.com/office/powerpoint/2010/main" val="1203400631"/>
      </p:ext>
    </p:extLst>
  </p:cSld>
</p:sld>
</file>

<file path=ppt/slides/slide5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7A9B7C-741B-4CF4-A7B8-5361447BEE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C2A95614-B8EC-46F8-B238-6175C4B902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F98D9600-1063-45CD-84F1-9982DC58908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81D060BD-C6BE-4AB4-9396-9332EBB2804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Calculate 7 / 2 and 7 // 2 in Colab and explain the difference.</a:t>
            </a:r>
          </a:p>
        </p:txBody>
      </p:sp>
      <p:sp>
        <p:nvSpPr>
          <p:cNvPr id="5" name="">
            <a:extLst xmlns:a="http://schemas.openxmlformats.org/drawingml/2006/main">
              <a:ext uri="{FF2B5EF4-FFF2-40B4-BE49-F238E27FC236}">
                <a16:creationId xmlns:a16="http://schemas.microsoft.com/office/drawing/2014/main" id="{6768CC41-FBD6-47C0-AECF-EBF1A5CCD65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842FEEC2-6DB7-4CF4-8FB3-43C6A7F2E4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51</a:t>
            </a:r>
          </a:p>
        </p:txBody>
      </p:sp>
    </p:spTree>
    <p:extLst>
      <p:ext uri="{BB962C8B-B14F-4D97-AF65-F5344CB8AC3E}">
        <p14:creationId xmlns:p14="http://schemas.microsoft.com/office/powerpoint/2010/main" val="199854793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BF9DA0-41C7-482D-BD3B-A4CDE4DAB9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001FDB-9BFD-47EB-983A-28DFAECA33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8C8F5F-6D63-4BD0-AB01-CF559DEF44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5EB3A7D-7D79-48E7-95AC-CB1CBF9EF4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67EAA9-957E-49B5-BC35-CBD9F8C5386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112D3839-935D-49F7-80F3-374AD0C80F8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6D1F855-A168-434F-A756-E898956C671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FD75F37A-D38F-40A9-ADB5-37AEE34F6E1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65FB62F-0BAB-4904-A39F-0C050B9ACAB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328F059B-4B2C-4AE5-A54D-FF7EEB96709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5A0A634-27BA-4E28-86B4-25306179C45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7FDE6A55-B9DE-4B24-851E-85683E547E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52</a:t>
            </a:r>
          </a:p>
        </p:txBody>
      </p:sp>
    </p:spTree>
    <p:extLst>
      <p:ext uri="{BB962C8B-B14F-4D97-AF65-F5344CB8AC3E}">
        <p14:creationId xmlns:p14="http://schemas.microsoft.com/office/powerpoint/2010/main" val="169197303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4EFE6C-5304-4CFF-AEEB-BACD79F28E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2A9169-EE90-4532-A495-8BB8980B5B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6EC310F-391C-430B-A389-2E97BF040B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47CF9605-BF0B-4A98-A1A2-F17425E1FD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1808B0-E36E-4CA8-B944-35352CF619C0}"/>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71BC1C4A-A989-422B-B069-13580CEFB74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6E0950-42B7-43EC-B96E-C0942A8F96A6}"/>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67579354-BFA8-445C-BFC8-8E3B54170D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53</a:t>
            </a:r>
          </a:p>
        </p:txBody>
      </p:sp>
    </p:spTree>
    <p:extLst>
      <p:ext uri="{BB962C8B-B14F-4D97-AF65-F5344CB8AC3E}">
        <p14:creationId xmlns:p14="http://schemas.microsoft.com/office/powerpoint/2010/main" val="804112247"/>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C1B64D-06B5-41D5-97F8-368E7152D7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2FB53B-F138-4176-8AB3-FAD1E1B643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F9C49D-9C44-411A-8C1E-439264C182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Units branches and error messages</a:t>
            </a:r>
          </a:p>
        </p:txBody>
      </p:sp>
      <p:sp>
        <p:nvSpPr>
          <p:cNvPr id="4" name="">
            <a:extLst xmlns:a="http://schemas.openxmlformats.org/drawingml/2006/main">
              <a:ext uri="{FF2B5EF4-FFF2-40B4-BE49-F238E27FC236}">
                <a16:creationId xmlns:a16="http://schemas.microsoft.com/office/drawing/2014/main" id="{C802DDE7-392E-402A-9D5A-F51C9799B3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271C3D-EA5B-47CF-8ABB-3C155CDCD7D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unit beside each function input.</a:t>
            </a:r>
          </a:p>
        </p:txBody>
      </p:sp>
      <p:sp>
        <p:nvSpPr>
          <p:cNvPr id="6" name="">
            <a:extLst xmlns:a="http://schemas.openxmlformats.org/drawingml/2006/main">
              <a:ext uri="{FF2B5EF4-FFF2-40B4-BE49-F238E27FC236}">
                <a16:creationId xmlns:a16="http://schemas.microsoft.com/office/drawing/2014/main" id="{D5298553-0AB4-42DC-A810-EED8517FB92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D9634E-EAD5-4241-852E-E2D73A0408D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a:t>
            </a:r>
          </a:p>
        </p:txBody>
      </p:sp>
      <p:sp>
        <p:nvSpPr>
          <p:cNvPr id="8" name="">
            <a:extLst xmlns:a="http://schemas.openxmlformats.org/drawingml/2006/main">
              <a:ext uri="{FF2B5EF4-FFF2-40B4-BE49-F238E27FC236}">
                <a16:creationId xmlns:a16="http://schemas.microsoft.com/office/drawing/2014/main" id="{9247CCA8-8BD3-4E5C-9A2D-54F6314299F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8B241F-0C90-46EB-B75F-D37AC423146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a:t>
            </a:r>
          </a:p>
        </p:txBody>
      </p:sp>
      <p:sp>
        <p:nvSpPr>
          <p:cNvPr id="10" name="">
            <a:extLst xmlns:a="http://schemas.openxmlformats.org/drawingml/2006/main">
              <a:ext uri="{FF2B5EF4-FFF2-40B4-BE49-F238E27FC236}">
                <a16:creationId xmlns:a16="http://schemas.microsoft.com/office/drawing/2014/main" id="{7C6C1311-5806-481A-A1A6-92D5190C562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D274283-4A54-4D9A-B772-5D7DED62513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Rotational speed in rpm becomes radians per second by multiplying by 2π/60.</a:t>
            </a:r>
          </a:p>
        </p:txBody>
      </p:sp>
      <p:sp>
        <p:nvSpPr>
          <p:cNvPr id="12" name="">
            <a:extLst xmlns:a="http://schemas.openxmlformats.org/drawingml/2006/main">
              <a:ext uri="{FF2B5EF4-FFF2-40B4-BE49-F238E27FC236}">
                <a16:creationId xmlns:a16="http://schemas.microsoft.com/office/drawing/2014/main" id="{2E3BB004-425D-4882-8264-D81EE5F225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54</a:t>
            </a:r>
          </a:p>
        </p:txBody>
      </p:sp>
    </p:spTree>
    <p:extLst>
      <p:ext uri="{BB962C8B-B14F-4D97-AF65-F5344CB8AC3E}">
        <p14:creationId xmlns:p14="http://schemas.microsoft.com/office/powerpoint/2010/main" val="9067894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6AE067-E07C-4308-A4FE-37451B98D1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E3B9B3-4295-44B6-AF3A-21D5CB8F8A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C5DF08-5BDB-463F-99BC-C93EFEE887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Units branches and error messages continued</a:t>
            </a:r>
          </a:p>
        </p:txBody>
      </p:sp>
      <p:sp>
        <p:nvSpPr>
          <p:cNvPr id="4" name="">
            <a:extLst xmlns:a="http://schemas.openxmlformats.org/drawingml/2006/main">
              <a:ext uri="{FF2B5EF4-FFF2-40B4-BE49-F238E27FC236}">
                <a16:creationId xmlns:a16="http://schemas.microsoft.com/office/drawing/2014/main" id="{C3D38EF7-A333-46A7-9009-19269E1CF97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92E30C-B74F-4CEB-B0C6-163799D9A6B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conversions change the number, not the physical quantity.</a:t>
            </a:r>
          </a:p>
        </p:txBody>
      </p:sp>
      <p:sp>
        <p:nvSpPr>
          <p:cNvPr id="6" name="">
            <a:extLst xmlns:a="http://schemas.openxmlformats.org/drawingml/2006/main">
              <a:ext uri="{FF2B5EF4-FFF2-40B4-BE49-F238E27FC236}">
                <a16:creationId xmlns:a16="http://schemas.microsoft.com/office/drawing/2014/main" id="{84542801-4A86-42D0-A60F-DD0F1CAA177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4BA7FA-435F-42A2-9FD5-C56B23F24F0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an if/elif chain, Python uses the FIRST matching branch.</a:t>
            </a:r>
          </a:p>
        </p:txBody>
      </p:sp>
      <p:sp>
        <p:nvSpPr>
          <p:cNvPr id="8" name="">
            <a:extLst xmlns:a="http://schemas.openxmlformats.org/drawingml/2006/main">
              <a:ext uri="{FF2B5EF4-FFF2-40B4-BE49-F238E27FC236}">
                <a16:creationId xmlns:a16="http://schemas.microsoft.com/office/drawing/2014/main" id="{D2F2BBE3-C6C6-4161-94F3-8EB64941CED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9D35A4-F2B3-4B3B-88DB-38B73731A7E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one branch at a time.</a:t>
            </a:r>
          </a:p>
        </p:txBody>
      </p:sp>
      <p:sp>
        <p:nvSpPr>
          <p:cNvPr id="10" name="">
            <a:extLst xmlns:a="http://schemas.openxmlformats.org/drawingml/2006/main">
              <a:ext uri="{FF2B5EF4-FFF2-40B4-BE49-F238E27FC236}">
                <a16:creationId xmlns:a16="http://schemas.microsoft.com/office/drawing/2014/main" id="{7063F530-43B3-4086-88FF-EB2F06FD969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969037C-979B-48E5-B8C8-4A08405E455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TypeError can mean text was used where a number was expected.</a:t>
            </a:r>
          </a:p>
        </p:txBody>
      </p:sp>
      <p:sp>
        <p:nvSpPr>
          <p:cNvPr id="12" name="">
            <a:extLst xmlns:a="http://schemas.openxmlformats.org/drawingml/2006/main">
              <a:ext uri="{FF2B5EF4-FFF2-40B4-BE49-F238E27FC236}">
                <a16:creationId xmlns:a16="http://schemas.microsoft.com/office/drawing/2014/main" id="{86668148-12F6-4769-966E-3EFBC277D0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55</a:t>
            </a:r>
          </a:p>
        </p:txBody>
      </p:sp>
    </p:spTree>
    <p:extLst>
      <p:ext uri="{BB962C8B-B14F-4D97-AF65-F5344CB8AC3E}">
        <p14:creationId xmlns:p14="http://schemas.microsoft.com/office/powerpoint/2010/main" val="39280063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8B886C-B4F2-4DC0-9425-711B3C4A84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A9AC23-08D1-40A5-9E75-227BC7A8F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A5C56D-C81B-4800-88D3-0CC2872425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Units branches and error messages continued</a:t>
            </a:r>
          </a:p>
        </p:txBody>
      </p:sp>
      <p:sp>
        <p:nvSpPr>
          <p:cNvPr id="4" name="">
            <a:extLst xmlns:a="http://schemas.openxmlformats.org/drawingml/2006/main">
              <a:ext uri="{FF2B5EF4-FFF2-40B4-BE49-F238E27FC236}">
                <a16:creationId xmlns:a16="http://schemas.microsoft.com/office/drawing/2014/main" id="{1D2F0A0A-4DFB-45AA-A97D-5C8578C1C83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CB4DDD-0EB0-4C27-9381-80728E02E8B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Put a repeated teaching limit in one clearly named constant.</a:t>
            </a:r>
          </a:p>
        </p:txBody>
      </p:sp>
      <p:sp>
        <p:nvSpPr>
          <p:cNvPr id="6" name="">
            <a:extLst xmlns:a="http://schemas.openxmlformats.org/drawingml/2006/main">
              <a:ext uri="{FF2B5EF4-FFF2-40B4-BE49-F238E27FC236}">
                <a16:creationId xmlns:a16="http://schemas.microsoft.com/office/drawing/2014/main" id="{53F306DA-47FB-47E8-9BFC-CB272748F8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56</a:t>
            </a:r>
          </a:p>
        </p:txBody>
      </p:sp>
    </p:spTree>
    <p:extLst>
      <p:ext uri="{BB962C8B-B14F-4D97-AF65-F5344CB8AC3E}">
        <p14:creationId xmlns:p14="http://schemas.microsoft.com/office/powerpoint/2010/main" val="112407516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3DFAFC-748C-4941-B48F-593A312039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DF5D95-6BF1-4018-BF96-E235440D6A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BEBA5C9-198B-4FC3-AEF7-5B12F9C741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E327359F-3D21-47C4-B9B5-4E9E13B9B1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D107CB-B9EB-4697-8D09-B11FDB94A60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368B899B-419C-4AF0-A066-017DA3709F8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6EE883-1516-472F-969A-FE5A762EA5E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57F3602F-00F6-44D8-B534-EEF55701405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BDEA42-17D9-4FDB-88F8-9F4A3475153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9E4C8BC8-E6B4-4294-A948-E296E78666F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AE24809-55FF-406A-9934-66FA5F186AB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97794EAE-0B25-422A-A61B-6875F6CD66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57</a:t>
            </a:r>
          </a:p>
        </p:txBody>
      </p:sp>
    </p:spTree>
    <p:extLst>
      <p:ext uri="{BB962C8B-B14F-4D97-AF65-F5344CB8AC3E}">
        <p14:creationId xmlns:p14="http://schemas.microsoft.com/office/powerpoint/2010/main" val="905242562"/>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F86986-95FF-4C09-923F-3B35E264F5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FEB149-AEFD-4303-9FE1-6A45428B11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F001CFE-3ECD-4076-9FD0-9C254B0137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5CBE19B1-3D15-41C8-8E46-B42B5F4FA34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16EF0E-7F8B-48F4-928A-113B2FF9CD2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8FA96D7C-FB31-4D5F-BCFD-2BFCE3689B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F10EB02-951F-49FB-8E95-9CE6EA2AE0B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FAAFCD2-82AC-4DD0-81FB-89F8DDD8DF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58</a:t>
            </a:r>
          </a:p>
        </p:txBody>
      </p:sp>
    </p:spTree>
    <p:extLst>
      <p:ext uri="{BB962C8B-B14F-4D97-AF65-F5344CB8AC3E}">
        <p14:creationId xmlns:p14="http://schemas.microsoft.com/office/powerpoint/2010/main" val="207417372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FEB9F0-51C4-4282-BDBF-F0276FAA64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AC4299-E571-4823-811D-45C250C5CE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7E70A98-4A3E-4972-97CE-6E07896878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EA045B02-109A-425D-8238-AE8535D67EA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16DDF5-35F1-4FDC-8829-C3006070B8F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578B6ABE-0467-41AF-B8B1-44101672DB4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7C809AB-BC73-490B-BF8A-6DA6DF2750D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785BFA4-B6D8-4490-86E9-019C2466BE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59</a:t>
            </a:r>
          </a:p>
        </p:txBody>
      </p:sp>
    </p:spTree>
    <p:extLst>
      <p:ext uri="{BB962C8B-B14F-4D97-AF65-F5344CB8AC3E}">
        <p14:creationId xmlns:p14="http://schemas.microsoft.com/office/powerpoint/2010/main" val="8749455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13A026-B8B7-4516-997C-6CFA1FB0FD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03776D-BA25-42D3-8538-9CAF480036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104B3DC-58E3-4645-825E-E8E5DB7596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0928C8A6-7173-4BE0-AEEF-D01C9D9604A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6ABE3-5E4C-480E-B356-3C80A8252FE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slab_mass(area_m2, thickness_m) returning the mass of the concrete slab in kg, taking concrete as 2400 kg/m3.</a:t>
            </a:r>
          </a:p>
        </p:txBody>
      </p:sp>
      <p:sp>
        <p:nvSpPr>
          <p:cNvPr id="6" name="">
            <a:extLst xmlns:a="http://schemas.openxmlformats.org/drawingml/2006/main">
              <a:ext uri="{FF2B5EF4-FFF2-40B4-BE49-F238E27FC236}">
                <a16:creationId xmlns:a16="http://schemas.microsoft.com/office/drawing/2014/main" id="{9751449A-EFAC-4304-8796-4202B4A7A85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E39C75B-2906-4CA7-AEBA-D591BAD65C7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D718B43-8D0F-4B24-AAE8-7C80C9A3CB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60</a:t>
            </a:r>
          </a:p>
        </p:txBody>
      </p:sp>
    </p:spTree>
    <p:extLst>
      <p:ext uri="{BB962C8B-B14F-4D97-AF65-F5344CB8AC3E}">
        <p14:creationId xmlns:p14="http://schemas.microsoft.com/office/powerpoint/2010/main" val="5100146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2F7B07-8F10-4518-8932-AA4F643F44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99CFDC-6362-4A6F-B7CF-D4FA1D711C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E65557B-50F1-47E4-8042-BE336AAFE1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97473364-E602-45E4-A365-7C51EF649FE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683F58-05A3-413D-93E2-32F926B6646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640501B4-1E66-451E-A9B9-CD72E0E02F1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8F03F3B-C669-40E2-BCD9-DC64F9F6A19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F36CB14-A77D-4852-8DEC-41102CE1E8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61</a:t>
            </a:r>
          </a:p>
        </p:txBody>
      </p:sp>
    </p:spTree>
    <p:extLst>
      <p:ext uri="{BB962C8B-B14F-4D97-AF65-F5344CB8AC3E}">
        <p14:creationId xmlns:p14="http://schemas.microsoft.com/office/powerpoint/2010/main" val="301180181"/>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16658A-8E56-4B90-A814-87D3C112DF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C3DC40-E851-480F-9974-47CB85463B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0E0A1D8-CBEA-4561-A515-7DE7C7E434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7C2BCA7C-026B-4DED-982C-DA772854AE4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54CF71-489A-48D0-B9CA-C192A646B9C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8CBFE767-7D41-4635-B730-4621C578756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B968BE1-98FC-4A27-9C30-157BE9A3C13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4DB0D04-10BA-414A-92D7-579863ADCE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62</a:t>
            </a:r>
          </a:p>
        </p:txBody>
      </p:sp>
    </p:spTree>
    <p:extLst>
      <p:ext uri="{BB962C8B-B14F-4D97-AF65-F5344CB8AC3E}">
        <p14:creationId xmlns:p14="http://schemas.microsoft.com/office/powerpoint/2010/main" val="169116949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6F14822-4E41-4E93-9914-7D8EC6DF63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FC3C23-FAA2-48D6-8DBC-58A117DD2A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4F8557A-A2DD-4F7E-B01E-C11EE64B26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A89CFD6B-4381-4258-82E9-C672F815C89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AEC6E2-3BD8-4059-AEC5-E1FE7604E88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22 Sep 2026, 11:00 Kampala</a:t>
            </a:r>
          </a:p>
        </p:txBody>
      </p:sp>
      <p:sp>
        <p:nvSpPr>
          <p:cNvPr id="6" name="">
            <a:extLst xmlns:a="http://schemas.openxmlformats.org/drawingml/2006/main">
              <a:ext uri="{FF2B5EF4-FFF2-40B4-BE49-F238E27FC236}">
                <a16:creationId xmlns:a16="http://schemas.microsoft.com/office/drawing/2014/main" id="{E79C68D0-C4D3-406A-B2EE-BA548122A86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6C60B4-4F62-4D7E-9A50-B2F8A2FDEF6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29 Sep 2026, 11:00 Kampala</a:t>
            </a:r>
          </a:p>
        </p:txBody>
      </p:sp>
      <p:sp>
        <p:nvSpPr>
          <p:cNvPr id="8" name="">
            <a:extLst xmlns:a="http://schemas.openxmlformats.org/drawingml/2006/main">
              <a:ext uri="{FF2B5EF4-FFF2-40B4-BE49-F238E27FC236}">
                <a16:creationId xmlns:a16="http://schemas.microsoft.com/office/drawing/2014/main" id="{49FC60F0-C92A-4934-BAB2-42152BDA58F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40E2F0-FCC0-4F59-9764-29EC476347F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53F4456A-1309-4D21-B31E-9CE7BB64E24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496CF1-4309-403B-9991-9DC2AD404CF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E7072C1-0A04-40F5-9A63-F7DFE28248B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3046291-3DA0-4742-BB09-2712A48F4E7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ac6bf8aea884c4a"/>
              </a:rPr>
              <a:t>Open W03 assignment form</a:t>
            </a:r>
          </a:p>
        </p:txBody>
      </p:sp>
      <p:sp>
        <p:nvSpPr>
          <p:cNvPr id="14" name="">
            <a:extLst xmlns:a="http://schemas.openxmlformats.org/drawingml/2006/main">
              <a:ext uri="{FF2B5EF4-FFF2-40B4-BE49-F238E27FC236}">
                <a16:creationId xmlns:a16="http://schemas.microsoft.com/office/drawing/2014/main" id="{19FEBD3A-F8CE-4ACF-8D28-3BA72158824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https://docs.google.com/forms/d/e/1FAIpQLSfK1T6vYI-m-ZaYLisO8AjovzezCEuc5lU9dvCed5P91w_zpA/viewform</a:t>
            </a:r>
          </a:p>
        </p:txBody>
      </p:sp>
      <p:sp>
        <p:nvSpPr>
          <p:cNvPr id="15" name="">
            <a:extLst xmlns:a="http://schemas.openxmlformats.org/drawingml/2006/main">
              <a:ext uri="{FF2B5EF4-FFF2-40B4-BE49-F238E27FC236}">
                <a16:creationId xmlns:a16="http://schemas.microsoft.com/office/drawing/2014/main" id="{0627175A-91B3-42C7-B3EB-1EDE8E8CE3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63</a:t>
            </a:r>
          </a:p>
        </p:txBody>
      </p:sp>
    </p:spTree>
    <p:extLst>
      <p:ext uri="{BB962C8B-B14F-4D97-AF65-F5344CB8AC3E}">
        <p14:creationId xmlns:p14="http://schemas.microsoft.com/office/powerpoint/2010/main" val="1481502042"/>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F5036A0-5024-401F-A21C-5F564170FC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E273E4-64E2-4166-9E3F-C0132CCB01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ABA1DD0-2CF8-47B0-8B37-534E0FB303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BDF2D796-3F70-4327-9020-41FA9CFCC44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E07337-A8A2-4208-B60E-57FD6902BDC4}"/>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38D1E9D-C792-4B57-AA6B-800DBE82E5D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4A4B97-03BE-474B-860A-5A94CCC89A85}"/>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82E265D-D4C3-4405-9ABA-F91240F1128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E176B0-2AD4-469E-B07B-7607BB35B2DE}"/>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AC54F6EE-207F-4E60-968C-883FD46ED85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417220-10B2-43A2-952C-FEBC3EF6ECEE}"/>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540a583e68bf44f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3A5120A-459A-4401-853E-0B1BD065366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F8D71DA-FADF-4DB0-AB8B-8522FBD4CC8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510ADEE-C190-4C3C-8B23-FE1EC09F1C4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b9b2e12f7ce4c03"/>
              </a:rPr>
              <a:t>Open this week’s quiz</a:t>
            </a:r>
          </a:p>
        </p:txBody>
      </p:sp>
      <p:sp>
        <p:nvSpPr>
          <p:cNvPr id="16" name="">
            <a:extLst xmlns:a="http://schemas.openxmlformats.org/drawingml/2006/main">
              <a:ext uri="{FF2B5EF4-FFF2-40B4-BE49-F238E27FC236}">
                <a16:creationId xmlns:a16="http://schemas.microsoft.com/office/drawing/2014/main" id="{9330E18C-25F8-4FF9-9526-43CEEF81145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https://forms.gle/YEMYghGS7gqr4tts7</a:t>
            </a:r>
          </a:p>
        </p:txBody>
      </p:sp>
      <p:sp>
        <p:nvSpPr>
          <p:cNvPr id="17" name="">
            <a:extLst xmlns:a="http://schemas.openxmlformats.org/drawingml/2006/main">
              <a:ext uri="{FF2B5EF4-FFF2-40B4-BE49-F238E27FC236}">
                <a16:creationId xmlns:a16="http://schemas.microsoft.com/office/drawing/2014/main" id="{050C21BF-F001-4D64-B506-FB354FC3D4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64</a:t>
            </a:r>
          </a:p>
        </p:txBody>
      </p:sp>
    </p:spTree>
    <p:extLst>
      <p:ext uri="{BB962C8B-B14F-4D97-AF65-F5344CB8AC3E}">
        <p14:creationId xmlns:p14="http://schemas.microsoft.com/office/powerpoint/2010/main" val="693980715"/>
      </p:ext>
    </p:extLst>
  </p:cSld>
</p:sld>
</file>

<file path=ppt/slides/slide6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1DE95D-B69E-443F-87D9-130574E12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D8D0500-1777-4B4F-B193-C66F433E2F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035E927B-0CC1-4BFE-8C4F-3B2F5C735AE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DAD71E7-5441-4BC8-AE36-130CDF3E6A1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9C7AA95E-F77D-4F4F-83AB-740A147F01A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27A76FF-80F8-41F0-B4BB-4FFDB7D5A6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65</a:t>
            </a:r>
          </a:p>
        </p:txBody>
      </p:sp>
    </p:spTree>
    <p:extLst>
      <p:ext uri="{BB962C8B-B14F-4D97-AF65-F5344CB8AC3E}">
        <p14:creationId xmlns:p14="http://schemas.microsoft.com/office/powerpoint/2010/main" val="19730352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2026-09-21T10:25:35.6910000Z</dcterms:created>
  <dcterms:modified xsi:type="dcterms:W3CDTF">2026-09-21T10:25:35.6910000Z</dcterms:modified>
</coreProperties>
</file>