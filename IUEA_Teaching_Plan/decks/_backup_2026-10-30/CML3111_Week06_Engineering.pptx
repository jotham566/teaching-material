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ee92ff580d44df" /><Relationship Type="http://schemas.openxmlformats.org/officeDocument/2006/relationships/extended-properties" Target="/docProps/app.xml" Id="R8366ff0fd20f4b3a" /><Relationship Type="http://schemas.openxmlformats.org/officeDocument/2006/relationships/officeDocument" Target="/ppt/presentation.xml" Id="Rf2e7061dcb02428b" /></Relationships>
</file>

<file path=ppt/presentation.xml><?xml version="1.0" encoding="utf-8"?>
<p:presentation xmlns:p="http://schemas.openxmlformats.org/presentationml/2006/main">
  <p:sldMasterIdLst>
    <p:sldMasterId xmlns:r="http://schemas.openxmlformats.org/officeDocument/2006/relationships" id="2147483648" r:id="Re0c00b37cabe4174"/>
  </p:sldMasterIdLst>
  <p:notesMasterIdLst>
    <p:notesMasterId xmlns:r="http://schemas.openxmlformats.org/officeDocument/2006/relationships" r:id="R370ce72a7fcd4efa"/>
  </p:notesMasterIdLst>
  <p:sldIdLst>
    <p:sldId xmlns:r="http://schemas.openxmlformats.org/officeDocument/2006/relationships" id="256" r:id="Rb99d84c00ece42ef"/>
    <p:sldId xmlns:r="http://schemas.openxmlformats.org/officeDocument/2006/relationships" id="257" r:id="R59eff838a8f84fdd"/>
    <p:sldId xmlns:r="http://schemas.openxmlformats.org/officeDocument/2006/relationships" id="258" r:id="Rb4abc7d8d93742b6"/>
    <p:sldId xmlns:r="http://schemas.openxmlformats.org/officeDocument/2006/relationships" id="259" r:id="R1468357736674715"/>
    <p:sldId xmlns:r="http://schemas.openxmlformats.org/officeDocument/2006/relationships" id="260" r:id="R9a8c7247a04c4ff7"/>
    <p:sldId xmlns:r="http://schemas.openxmlformats.org/officeDocument/2006/relationships" id="261" r:id="R50e9a5d193464450"/>
    <p:sldId xmlns:r="http://schemas.openxmlformats.org/officeDocument/2006/relationships" id="262" r:id="R1a4b0a0010254a11"/>
    <p:sldId xmlns:r="http://schemas.openxmlformats.org/officeDocument/2006/relationships" id="263" r:id="R0464894d854b4f42"/>
    <p:sldId xmlns:r="http://schemas.openxmlformats.org/officeDocument/2006/relationships" id="264" r:id="R63a357389dcf4d5f"/>
    <p:sldId xmlns:r="http://schemas.openxmlformats.org/officeDocument/2006/relationships" id="265" r:id="Re4a2a37483ff4690"/>
    <p:sldId xmlns:r="http://schemas.openxmlformats.org/officeDocument/2006/relationships" id="266" r:id="Radc569fff8aa4b5e"/>
    <p:sldId xmlns:r="http://schemas.openxmlformats.org/officeDocument/2006/relationships" id="267" r:id="R5bfe7261cdd64e24"/>
    <p:sldId xmlns:r="http://schemas.openxmlformats.org/officeDocument/2006/relationships" id="268" r:id="Rcddb8ea34fdf4fd9"/>
    <p:sldId xmlns:r="http://schemas.openxmlformats.org/officeDocument/2006/relationships" id="269" r:id="R90f21efda3634480"/>
    <p:sldId xmlns:r="http://schemas.openxmlformats.org/officeDocument/2006/relationships" id="270" r:id="Rdcfdcd620e474069"/>
    <p:sldId xmlns:r="http://schemas.openxmlformats.org/officeDocument/2006/relationships" id="271" r:id="R1c2523d3aff9432f"/>
    <p:sldId xmlns:r="http://schemas.openxmlformats.org/officeDocument/2006/relationships" id="272" r:id="R078c71c2d74f43aa"/>
    <p:sldId xmlns:r="http://schemas.openxmlformats.org/officeDocument/2006/relationships" id="273" r:id="Rc5318dd4540f401e"/>
    <p:sldId xmlns:r="http://schemas.openxmlformats.org/officeDocument/2006/relationships" id="274" r:id="R5a5bd69b8c514beb"/>
    <p:sldId xmlns:r="http://schemas.openxmlformats.org/officeDocument/2006/relationships" id="275" r:id="Rc7e0acc744c14d76"/>
    <p:sldId xmlns:r="http://schemas.openxmlformats.org/officeDocument/2006/relationships" id="276" r:id="R03e281fdaf1d45a2"/>
    <p:sldId xmlns:r="http://schemas.openxmlformats.org/officeDocument/2006/relationships" id="277" r:id="R882db48292414e96"/>
    <p:sldId xmlns:r="http://schemas.openxmlformats.org/officeDocument/2006/relationships" id="278" r:id="R7239bcde189b490f"/>
    <p:sldId xmlns:r="http://schemas.openxmlformats.org/officeDocument/2006/relationships" id="279" r:id="R337de9087d404e00"/>
    <p:sldId xmlns:r="http://schemas.openxmlformats.org/officeDocument/2006/relationships" id="280" r:id="R1a0f3010485e486b"/>
    <p:sldId xmlns:r="http://schemas.openxmlformats.org/officeDocument/2006/relationships" id="281" r:id="R80ec6e97d1044fff"/>
    <p:sldId xmlns:r="http://schemas.openxmlformats.org/officeDocument/2006/relationships" id="282" r:id="R4687e6b2892c4d48"/>
    <p:sldId xmlns:r="http://schemas.openxmlformats.org/officeDocument/2006/relationships" id="283" r:id="R180afc0f139e463f"/>
    <p:sldId xmlns:r="http://schemas.openxmlformats.org/officeDocument/2006/relationships" id="284" r:id="Rc60455fc883f406e"/>
    <p:sldId xmlns:r="http://schemas.openxmlformats.org/officeDocument/2006/relationships" id="285" r:id="R6d6c73496c774e58"/>
    <p:sldId xmlns:r="http://schemas.openxmlformats.org/officeDocument/2006/relationships" id="286" r:id="Rf50035202990417c"/>
    <p:sldId xmlns:r="http://schemas.openxmlformats.org/officeDocument/2006/relationships" id="287" r:id="R8c8443b9e89b4fa6"/>
    <p:sldId xmlns:r="http://schemas.openxmlformats.org/officeDocument/2006/relationships" id="288" r:id="R6537dc14010447e7"/>
    <p:sldId xmlns:r="http://schemas.openxmlformats.org/officeDocument/2006/relationships" id="289" r:id="Rc555e663f0c34126"/>
    <p:sldId xmlns:r="http://schemas.openxmlformats.org/officeDocument/2006/relationships" id="290" r:id="Rd7dd1956b75649ba"/>
    <p:sldId xmlns:r="http://schemas.openxmlformats.org/officeDocument/2006/relationships" id="291" r:id="R217077bd4f6f41ea"/>
    <p:sldId xmlns:r="http://schemas.openxmlformats.org/officeDocument/2006/relationships" id="292" r:id="Rd8f703b64cab4a72"/>
    <p:sldId xmlns:r="http://schemas.openxmlformats.org/officeDocument/2006/relationships" id="293" r:id="Raf61970ae17a470f"/>
    <p:sldId xmlns:r="http://schemas.openxmlformats.org/officeDocument/2006/relationships" id="294" r:id="Rd572f22c406b4241"/>
    <p:sldId xmlns:r="http://schemas.openxmlformats.org/officeDocument/2006/relationships" id="295" r:id="R67fe95f0d2b84d6c"/>
    <p:sldId xmlns:r="http://schemas.openxmlformats.org/officeDocument/2006/relationships" id="296" r:id="R50d4a0fe46f74aaf"/>
    <p:sldId xmlns:r="http://schemas.openxmlformats.org/officeDocument/2006/relationships" id="297" r:id="R566f234d37714e5c"/>
    <p:sldId xmlns:r="http://schemas.openxmlformats.org/officeDocument/2006/relationships" id="298" r:id="R6c5a26d412244f63"/>
    <p:sldId xmlns:r="http://schemas.openxmlformats.org/officeDocument/2006/relationships" id="299" r:id="R7d6b70b08a5a496b"/>
    <p:sldId xmlns:r="http://schemas.openxmlformats.org/officeDocument/2006/relationships" id="300" r:id="R6baf918c01b643c6"/>
    <p:sldId xmlns:r="http://schemas.openxmlformats.org/officeDocument/2006/relationships" id="301" r:id="R0cecf34395fa4efc"/>
    <p:sldId xmlns:r="http://schemas.openxmlformats.org/officeDocument/2006/relationships" id="302" r:id="Re2139e62e0ab465a"/>
    <p:sldId xmlns:r="http://schemas.openxmlformats.org/officeDocument/2006/relationships" id="303" r:id="R72a9082b7e074c04"/>
    <p:sldId xmlns:r="http://schemas.openxmlformats.org/officeDocument/2006/relationships" id="304" r:id="R78529f9e2d4b4122"/>
    <p:sldId xmlns:r="http://schemas.openxmlformats.org/officeDocument/2006/relationships" id="305" r:id="Ref009017f29c4fb6"/>
    <p:sldId xmlns:r="http://schemas.openxmlformats.org/officeDocument/2006/relationships" id="306" r:id="R1652e214fa1c4527"/>
    <p:sldId xmlns:r="http://schemas.openxmlformats.org/officeDocument/2006/relationships" id="307" r:id="Reba0eca5723f4b04"/>
    <p:sldId xmlns:r="http://schemas.openxmlformats.org/officeDocument/2006/relationships" id="308" r:id="R30f6935b6c46466c"/>
    <p:sldId xmlns:r="http://schemas.openxmlformats.org/officeDocument/2006/relationships" id="309" r:id="R1ec5789f8c984829"/>
    <p:sldId xmlns:r="http://schemas.openxmlformats.org/officeDocument/2006/relationships" id="310" r:id="R67e37a1f003a4cc9"/>
    <p:sldId xmlns:r="http://schemas.openxmlformats.org/officeDocument/2006/relationships" id="311" r:id="Rf35abee080624bc0"/>
    <p:sldId xmlns:r="http://schemas.openxmlformats.org/officeDocument/2006/relationships" id="312" r:id="Rec168009756c40c6"/>
    <p:sldId xmlns:r="http://schemas.openxmlformats.org/officeDocument/2006/relationships" id="313" r:id="R4c47f8dda40b4b72"/>
    <p:sldId xmlns:r="http://schemas.openxmlformats.org/officeDocument/2006/relationships" id="314" r:id="R6f211fb9ddd24d1f"/>
    <p:sldId xmlns:r="http://schemas.openxmlformats.org/officeDocument/2006/relationships" id="315" r:id="R7ca4759045104b89"/>
    <p:sldId xmlns:r="http://schemas.openxmlformats.org/officeDocument/2006/relationships" id="316" r:id="R0896a68b7eb94b1f"/>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28f0b6ead74b0b" /><Relationship Type="http://schemas.openxmlformats.org/officeDocument/2006/relationships/slideMaster" Target="/ppt/slideMasters/slideMaster1.xml" Id="Re0c00b37cabe4174" /><Relationship Type="http://schemas.openxmlformats.org/officeDocument/2006/relationships/notesMaster" Target="/ppt/notesMasters/notesMaster1.xml" Id="R370ce72a7fcd4efa" /><Relationship Type="http://schemas.openxmlformats.org/officeDocument/2006/relationships/presProps" Target="/ppt/presProps.xml" Id="R0fa41bfa42b841e0" /><Relationship Type="http://schemas.openxmlformats.org/officeDocument/2006/relationships/tableStyles" Target="/ppt/tableStyles.xml" Id="Rba7fc7c9aa6f4d07" /><Relationship Type="http://schemas.openxmlformats.org/officeDocument/2006/relationships/slide" Target="/ppt/slides/slide1.xml" Id="Rb99d84c00ece42ef" /><Relationship Type="http://schemas.openxmlformats.org/officeDocument/2006/relationships/slide" Target="/ppt/slides/slide2.xml" Id="R59eff838a8f84fdd" /><Relationship Type="http://schemas.openxmlformats.org/officeDocument/2006/relationships/slide" Target="/ppt/slides/slide3.xml" Id="Rb4abc7d8d93742b6" /><Relationship Type="http://schemas.openxmlformats.org/officeDocument/2006/relationships/slide" Target="/ppt/slides/slide4.xml" Id="R1468357736674715" /><Relationship Type="http://schemas.openxmlformats.org/officeDocument/2006/relationships/slide" Target="/ppt/slides/slide5.xml" Id="R9a8c7247a04c4ff7" /><Relationship Type="http://schemas.openxmlformats.org/officeDocument/2006/relationships/slide" Target="/ppt/slides/slide6.xml" Id="R50e9a5d193464450" /><Relationship Type="http://schemas.openxmlformats.org/officeDocument/2006/relationships/slide" Target="/ppt/slides/slide7.xml" Id="R1a4b0a0010254a11" /><Relationship Type="http://schemas.openxmlformats.org/officeDocument/2006/relationships/slide" Target="/ppt/slides/slide8.xml" Id="R0464894d854b4f42" /><Relationship Type="http://schemas.openxmlformats.org/officeDocument/2006/relationships/slide" Target="/ppt/slides/slide9.xml" Id="R63a357389dcf4d5f" /><Relationship Type="http://schemas.openxmlformats.org/officeDocument/2006/relationships/slide" Target="/ppt/slides/slide10.xml" Id="Re4a2a37483ff4690" /><Relationship Type="http://schemas.openxmlformats.org/officeDocument/2006/relationships/slide" Target="/ppt/slides/slide11.xml" Id="Radc569fff8aa4b5e" /><Relationship Type="http://schemas.openxmlformats.org/officeDocument/2006/relationships/slide" Target="/ppt/slides/slide12.xml" Id="R5bfe7261cdd64e24" /><Relationship Type="http://schemas.openxmlformats.org/officeDocument/2006/relationships/slide" Target="/ppt/slides/slide13.xml" Id="Rcddb8ea34fdf4fd9" /><Relationship Type="http://schemas.openxmlformats.org/officeDocument/2006/relationships/slide" Target="/ppt/slides/slide14.xml" Id="R90f21efda3634480" /><Relationship Type="http://schemas.openxmlformats.org/officeDocument/2006/relationships/slide" Target="/ppt/slides/slide15.xml" Id="Rdcfdcd620e474069" /><Relationship Type="http://schemas.openxmlformats.org/officeDocument/2006/relationships/slide" Target="/ppt/slides/slide16.xml" Id="R1c2523d3aff9432f" /><Relationship Type="http://schemas.openxmlformats.org/officeDocument/2006/relationships/slide" Target="/ppt/slides/slide17.xml" Id="R078c71c2d74f43aa" /><Relationship Type="http://schemas.openxmlformats.org/officeDocument/2006/relationships/slide" Target="/ppt/slides/slide18.xml" Id="Rc5318dd4540f401e" /><Relationship Type="http://schemas.openxmlformats.org/officeDocument/2006/relationships/slide" Target="/ppt/slides/slide19.xml" Id="R5a5bd69b8c514beb" /><Relationship Type="http://schemas.openxmlformats.org/officeDocument/2006/relationships/slide" Target="/ppt/slides/slide20.xml" Id="Rc7e0acc744c14d76" /><Relationship Type="http://schemas.openxmlformats.org/officeDocument/2006/relationships/slide" Target="/ppt/slides/slide21.xml" Id="R03e281fdaf1d45a2" /><Relationship Type="http://schemas.openxmlformats.org/officeDocument/2006/relationships/slide" Target="/ppt/slides/slide22.xml" Id="R882db48292414e96" /><Relationship Type="http://schemas.openxmlformats.org/officeDocument/2006/relationships/slide" Target="/ppt/slides/slide23.xml" Id="R7239bcde189b490f" /><Relationship Type="http://schemas.openxmlformats.org/officeDocument/2006/relationships/slide" Target="/ppt/slides/slide24.xml" Id="R337de9087d404e00" /><Relationship Type="http://schemas.openxmlformats.org/officeDocument/2006/relationships/slide" Target="/ppt/slides/slide25.xml" Id="R1a0f3010485e486b" /><Relationship Type="http://schemas.openxmlformats.org/officeDocument/2006/relationships/slide" Target="/ppt/slides/slide26.xml" Id="R80ec6e97d1044fff" /><Relationship Type="http://schemas.openxmlformats.org/officeDocument/2006/relationships/slide" Target="/ppt/slides/slide27.xml" Id="R4687e6b2892c4d48" /><Relationship Type="http://schemas.openxmlformats.org/officeDocument/2006/relationships/slide" Target="/ppt/slides/slide28.xml" Id="R180afc0f139e463f" /><Relationship Type="http://schemas.openxmlformats.org/officeDocument/2006/relationships/slide" Target="/ppt/slides/slide29.xml" Id="Rc60455fc883f406e" /><Relationship Type="http://schemas.openxmlformats.org/officeDocument/2006/relationships/slide" Target="/ppt/slides/slide30.xml" Id="R6d6c73496c774e58" /><Relationship Type="http://schemas.openxmlformats.org/officeDocument/2006/relationships/slide" Target="/ppt/slides/slide31.xml" Id="Rf50035202990417c" /><Relationship Type="http://schemas.openxmlformats.org/officeDocument/2006/relationships/slide" Target="/ppt/slides/slide32.xml" Id="R8c8443b9e89b4fa6" /><Relationship Type="http://schemas.openxmlformats.org/officeDocument/2006/relationships/slide" Target="/ppt/slides/slide33.xml" Id="R6537dc14010447e7" /><Relationship Type="http://schemas.openxmlformats.org/officeDocument/2006/relationships/slide" Target="/ppt/slides/slide34.xml" Id="Rc555e663f0c34126" /><Relationship Type="http://schemas.openxmlformats.org/officeDocument/2006/relationships/slide" Target="/ppt/slides/slide35.xml" Id="Rd7dd1956b75649ba" /><Relationship Type="http://schemas.openxmlformats.org/officeDocument/2006/relationships/slide" Target="/ppt/slides/slide36.xml" Id="R217077bd4f6f41ea" /><Relationship Type="http://schemas.openxmlformats.org/officeDocument/2006/relationships/slide" Target="/ppt/slides/slide37.xml" Id="Rd8f703b64cab4a72" /><Relationship Type="http://schemas.openxmlformats.org/officeDocument/2006/relationships/slide" Target="/ppt/slides/slide38.xml" Id="Raf61970ae17a470f" /><Relationship Type="http://schemas.openxmlformats.org/officeDocument/2006/relationships/slide" Target="/ppt/slides/slide39.xml" Id="Rd572f22c406b4241" /><Relationship Type="http://schemas.openxmlformats.org/officeDocument/2006/relationships/slide" Target="/ppt/slides/slide40.xml" Id="R67fe95f0d2b84d6c" /><Relationship Type="http://schemas.openxmlformats.org/officeDocument/2006/relationships/slide" Target="/ppt/slides/slide41.xml" Id="R50d4a0fe46f74aaf" /><Relationship Type="http://schemas.openxmlformats.org/officeDocument/2006/relationships/slide" Target="/ppt/slides/slide42.xml" Id="R566f234d37714e5c" /><Relationship Type="http://schemas.openxmlformats.org/officeDocument/2006/relationships/slide" Target="/ppt/slides/slide43.xml" Id="R6c5a26d412244f63" /><Relationship Type="http://schemas.openxmlformats.org/officeDocument/2006/relationships/slide" Target="/ppt/slides/slide44.xml" Id="R7d6b70b08a5a496b" /><Relationship Type="http://schemas.openxmlformats.org/officeDocument/2006/relationships/slide" Target="/ppt/slides/slide45.xml" Id="R6baf918c01b643c6" /><Relationship Type="http://schemas.openxmlformats.org/officeDocument/2006/relationships/slide" Target="/ppt/slides/slide46.xml" Id="R0cecf34395fa4efc" /><Relationship Type="http://schemas.openxmlformats.org/officeDocument/2006/relationships/slide" Target="/ppt/slides/slide47.xml" Id="Re2139e62e0ab465a" /><Relationship Type="http://schemas.openxmlformats.org/officeDocument/2006/relationships/slide" Target="/ppt/slides/slide48.xml" Id="R72a9082b7e074c04" /><Relationship Type="http://schemas.openxmlformats.org/officeDocument/2006/relationships/slide" Target="/ppt/slides/slide49.xml" Id="R78529f9e2d4b4122" /><Relationship Type="http://schemas.openxmlformats.org/officeDocument/2006/relationships/slide" Target="/ppt/slides/slide50.xml" Id="Ref009017f29c4fb6" /><Relationship Type="http://schemas.openxmlformats.org/officeDocument/2006/relationships/slide" Target="/ppt/slides/slide51.xml" Id="R1652e214fa1c4527" /><Relationship Type="http://schemas.openxmlformats.org/officeDocument/2006/relationships/slide" Target="/ppt/slides/slide52.xml" Id="Reba0eca5723f4b04" /><Relationship Type="http://schemas.openxmlformats.org/officeDocument/2006/relationships/slide" Target="/ppt/slides/slide53.xml" Id="R30f6935b6c46466c" /><Relationship Type="http://schemas.openxmlformats.org/officeDocument/2006/relationships/slide" Target="/ppt/slides/slide54.xml" Id="R1ec5789f8c984829" /><Relationship Type="http://schemas.openxmlformats.org/officeDocument/2006/relationships/slide" Target="/ppt/slides/slide55.xml" Id="R67e37a1f003a4cc9" /><Relationship Type="http://schemas.openxmlformats.org/officeDocument/2006/relationships/slide" Target="/ppt/slides/slide56.xml" Id="Rf35abee080624bc0" /><Relationship Type="http://schemas.openxmlformats.org/officeDocument/2006/relationships/slide" Target="/ppt/slides/slide57.xml" Id="Rec168009756c40c6" /><Relationship Type="http://schemas.openxmlformats.org/officeDocument/2006/relationships/slide" Target="/ppt/slides/slide58.xml" Id="R4c47f8dda40b4b72" /><Relationship Type="http://schemas.openxmlformats.org/officeDocument/2006/relationships/slide" Target="/ppt/slides/slide59.xml" Id="R6f211fb9ddd24d1f" /><Relationship Type="http://schemas.openxmlformats.org/officeDocument/2006/relationships/slide" Target="/ppt/slides/slide60.xml" Id="R7ca4759045104b89" /><Relationship Type="http://schemas.openxmlformats.org/officeDocument/2006/relationships/slide" Target="/ppt/slides/slide61.xml" Id="R0896a68b7eb94b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44cfa91a3c4a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b18b57774a48a6" /><Relationship Type="http://schemas.openxmlformats.org/officeDocument/2006/relationships/notesMaster" Target="/ppt/notesMasters/notesMaster1.xml" Id="Rc37ccec6fd584a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94dc6b35fe4a2a" /><Relationship Type="http://schemas.openxmlformats.org/officeDocument/2006/relationships/notesMaster" Target="/ppt/notesMasters/notesMaster1.xml" Id="R83a0a2aab0284f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4d3069056a483c" /><Relationship Type="http://schemas.openxmlformats.org/officeDocument/2006/relationships/notesMaster" Target="/ppt/notesMasters/notesMaster1.xml" Id="R18cabe461f984e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e56447ce7b43a1" /><Relationship Type="http://schemas.openxmlformats.org/officeDocument/2006/relationships/notesMaster" Target="/ppt/notesMasters/notesMaster1.xml" Id="Rdbcf145471754f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f025d380d04ef4" /><Relationship Type="http://schemas.openxmlformats.org/officeDocument/2006/relationships/notesMaster" Target="/ppt/notesMasters/notesMaster1.xml" Id="R1e19197cd0b641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5a9cb749494805" /><Relationship Type="http://schemas.openxmlformats.org/officeDocument/2006/relationships/notesMaster" Target="/ppt/notesMasters/notesMaster1.xml" Id="R473bfd4acd1f4a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bf869c5b9b4088" /><Relationship Type="http://schemas.openxmlformats.org/officeDocument/2006/relationships/notesMaster" Target="/ppt/notesMasters/notesMaster1.xml" Id="R6a797786922341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c38d20f6554b6b" /><Relationship Type="http://schemas.openxmlformats.org/officeDocument/2006/relationships/notesMaster" Target="/ppt/notesMasters/notesMaster1.xml" Id="Rccedcc45523a48b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71c38330854f06" /><Relationship Type="http://schemas.openxmlformats.org/officeDocument/2006/relationships/notesMaster" Target="/ppt/notesMasters/notesMaster1.xml" Id="R84cd62dbd5894d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98d0a591094fe7" /><Relationship Type="http://schemas.openxmlformats.org/officeDocument/2006/relationships/notesMaster" Target="/ppt/notesMasters/notesMaster1.xml" Id="R48f33916e28c46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6a28eefbe5467f" /><Relationship Type="http://schemas.openxmlformats.org/officeDocument/2006/relationships/notesMaster" Target="/ppt/notesMasters/notesMaster1.xml" Id="R7a01b0d037be4f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baafc09841549cf" /><Relationship Type="http://schemas.openxmlformats.org/officeDocument/2006/relationships/notesMaster" Target="/ppt/notesMasters/notesMaster1.xml" Id="R4a8b67df305645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aa4d21976344388" /><Relationship Type="http://schemas.openxmlformats.org/officeDocument/2006/relationships/notesMaster" Target="/ppt/notesMasters/notesMaster1.xml" Id="R6f938abfe8c44f7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b58732d72f1483d" /><Relationship Type="http://schemas.openxmlformats.org/officeDocument/2006/relationships/notesMaster" Target="/ppt/notesMasters/notesMaster1.xml" Id="R3066e1e0f76b4f5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93fe147265c44c7" /><Relationship Type="http://schemas.openxmlformats.org/officeDocument/2006/relationships/notesMaster" Target="/ppt/notesMasters/notesMaster1.xml" Id="R618da6fb2d6545c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96d7deda5a147bb" /><Relationship Type="http://schemas.openxmlformats.org/officeDocument/2006/relationships/notesMaster" Target="/ppt/notesMasters/notesMaster1.xml" Id="R6b2fd6197f794b4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15c377e3f8d49c6" /><Relationship Type="http://schemas.openxmlformats.org/officeDocument/2006/relationships/notesMaster" Target="/ppt/notesMasters/notesMaster1.xml" Id="Ra6db77336c8e472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1d5bb2589c24ae9" /><Relationship Type="http://schemas.openxmlformats.org/officeDocument/2006/relationships/notesMaster" Target="/ppt/notesMasters/notesMaster1.xml" Id="R48479d09055a49f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d87389a923146a1" /><Relationship Type="http://schemas.openxmlformats.org/officeDocument/2006/relationships/notesMaster" Target="/ppt/notesMasters/notesMaster1.xml" Id="Rd4d028b534294bc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80d6e538c764f93" /><Relationship Type="http://schemas.openxmlformats.org/officeDocument/2006/relationships/notesMaster" Target="/ppt/notesMasters/notesMaster1.xml" Id="R8434f197f1a445c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48d71afcd34441d" /><Relationship Type="http://schemas.openxmlformats.org/officeDocument/2006/relationships/notesMaster" Target="/ppt/notesMasters/notesMaster1.xml" Id="R975a2d96fd25455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e3afd84bd5f43d5" /><Relationship Type="http://schemas.openxmlformats.org/officeDocument/2006/relationships/notesMaster" Target="/ppt/notesMasters/notesMaster1.xml" Id="Rea3d15336fce4c1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76818ee1a8446f3" /><Relationship Type="http://schemas.openxmlformats.org/officeDocument/2006/relationships/notesMaster" Target="/ppt/notesMasters/notesMaster1.xml" Id="R9a6148c38b20401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774528110640a3" /><Relationship Type="http://schemas.openxmlformats.org/officeDocument/2006/relationships/notesMaster" Target="/ppt/notesMasters/notesMaster1.xml" Id="Rce1dbe72c9cd47c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7165deeba614629" /><Relationship Type="http://schemas.openxmlformats.org/officeDocument/2006/relationships/notesMaster" Target="/ppt/notesMasters/notesMaster1.xml" Id="Rc62cac3985ab445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0f7ebdde11a4b57" /><Relationship Type="http://schemas.openxmlformats.org/officeDocument/2006/relationships/notesMaster" Target="/ppt/notesMasters/notesMaster1.xml" Id="R3c1ec42e74e44fe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58bd597ab7f4df0" /><Relationship Type="http://schemas.openxmlformats.org/officeDocument/2006/relationships/notesMaster" Target="/ppt/notesMasters/notesMaster1.xml" Id="R4fd6f8c868504d4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3a092cd79fc4082" /><Relationship Type="http://schemas.openxmlformats.org/officeDocument/2006/relationships/notesMaster" Target="/ppt/notesMasters/notesMaster1.xml" Id="R6c4077d24d2443e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decaee1032e457e" /><Relationship Type="http://schemas.openxmlformats.org/officeDocument/2006/relationships/notesMaster" Target="/ppt/notesMasters/notesMaster1.xml" Id="R76e6ce2ab26c467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8f7586e109a4977" /><Relationship Type="http://schemas.openxmlformats.org/officeDocument/2006/relationships/notesMaster" Target="/ppt/notesMasters/notesMaster1.xml" Id="R8f02f35b33cc492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49ef4f844fb467a" /><Relationship Type="http://schemas.openxmlformats.org/officeDocument/2006/relationships/notesMaster" Target="/ppt/notesMasters/notesMaster1.xml" Id="R2b71a01c344e46b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9bb412de1964411" /><Relationship Type="http://schemas.openxmlformats.org/officeDocument/2006/relationships/notesMaster" Target="/ppt/notesMasters/notesMaster1.xml" Id="R5268daf43a2a401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7fbcbbfb9f74f2f" /><Relationship Type="http://schemas.openxmlformats.org/officeDocument/2006/relationships/notesMaster" Target="/ppt/notesMasters/notesMaster1.xml" Id="Rec117b9e03034aa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7cd9724a4e2431c" /><Relationship Type="http://schemas.openxmlformats.org/officeDocument/2006/relationships/notesMaster" Target="/ppt/notesMasters/notesMaster1.xml" Id="R93f29c14940d4b6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f9c2db0ab8d4225" /><Relationship Type="http://schemas.openxmlformats.org/officeDocument/2006/relationships/notesMaster" Target="/ppt/notesMasters/notesMaster1.xml" Id="R86c3d7f2ad08415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cc20b153c204d41" /><Relationship Type="http://schemas.openxmlformats.org/officeDocument/2006/relationships/notesMaster" Target="/ppt/notesMasters/notesMaster1.xml" Id="R192d23e5ea224ae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099c9d53b494cf3" /><Relationship Type="http://schemas.openxmlformats.org/officeDocument/2006/relationships/notesMaster" Target="/ppt/notesMasters/notesMaster1.xml" Id="R11bd5a115793449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4766d9188994f5c" /><Relationship Type="http://schemas.openxmlformats.org/officeDocument/2006/relationships/notesMaster" Target="/ppt/notesMasters/notesMaster1.xml" Id="R26497bfc5c8f4bb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c8573327ad1426b" /><Relationship Type="http://schemas.openxmlformats.org/officeDocument/2006/relationships/notesMaster" Target="/ppt/notesMasters/notesMaster1.xml" Id="R4eae1267b3fc43e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4d97ca9b1fd44c6" /><Relationship Type="http://schemas.openxmlformats.org/officeDocument/2006/relationships/notesMaster" Target="/ppt/notesMasters/notesMaster1.xml" Id="R1345ab95d8734a9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2744e668a334f64" /><Relationship Type="http://schemas.openxmlformats.org/officeDocument/2006/relationships/notesMaster" Target="/ppt/notesMasters/notesMaster1.xml" Id="R3ce08c2d7e724bd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d42ba52b2ae4be9" /><Relationship Type="http://schemas.openxmlformats.org/officeDocument/2006/relationships/notesMaster" Target="/ppt/notesMasters/notesMaster1.xml" Id="R29915b5057ed412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265b9d8f42b4932" /><Relationship Type="http://schemas.openxmlformats.org/officeDocument/2006/relationships/notesMaster" Target="/ppt/notesMasters/notesMaster1.xml" Id="R7b475351f508495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ea3c2d2b1374afe" /><Relationship Type="http://schemas.openxmlformats.org/officeDocument/2006/relationships/notesMaster" Target="/ppt/notesMasters/notesMaster1.xml" Id="R33d4c624a2d64ae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e3bc01bc939450c" /><Relationship Type="http://schemas.openxmlformats.org/officeDocument/2006/relationships/notesMaster" Target="/ppt/notesMasters/notesMaster1.xml" Id="R8ba4cf93d22e429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133aa3b00a64d6a" /><Relationship Type="http://schemas.openxmlformats.org/officeDocument/2006/relationships/notesMaster" Target="/ppt/notesMasters/notesMaster1.xml" Id="Ra748eeeb33c7418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a1b172d23614f8c" /><Relationship Type="http://schemas.openxmlformats.org/officeDocument/2006/relationships/notesMaster" Target="/ppt/notesMasters/notesMaster1.xml" Id="Rb1ae9a1ec2a2469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6a8b4a3add44bee" /><Relationship Type="http://schemas.openxmlformats.org/officeDocument/2006/relationships/notesMaster" Target="/ppt/notesMasters/notesMaster1.xml" Id="Rf6e3d75be95b414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86ed791546d4429" /><Relationship Type="http://schemas.openxmlformats.org/officeDocument/2006/relationships/notesMaster" Target="/ppt/notesMasters/notesMaster1.xml" Id="R251a08528ae74ca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2f9626228ce4a0e" /><Relationship Type="http://schemas.openxmlformats.org/officeDocument/2006/relationships/notesMaster" Target="/ppt/notesMasters/notesMaster1.xml" Id="R47268ff2fa524e7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ed49e6afe744e1a" /><Relationship Type="http://schemas.openxmlformats.org/officeDocument/2006/relationships/notesMaster" Target="/ppt/notesMasters/notesMaster1.xml" Id="R917c087e5f98402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e71b38c5aca46e5" /><Relationship Type="http://schemas.openxmlformats.org/officeDocument/2006/relationships/notesMaster" Target="/ppt/notesMasters/notesMaster1.xml" Id="R4c2c3a0fad9943b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7ab5ef1430c4825" /><Relationship Type="http://schemas.openxmlformats.org/officeDocument/2006/relationships/notesMaster" Target="/ppt/notesMasters/notesMaster1.xml" Id="R6e2370adcb3a451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cd0a603420940e7" /><Relationship Type="http://schemas.openxmlformats.org/officeDocument/2006/relationships/notesMaster" Target="/ppt/notesMasters/notesMaster1.xml" Id="Ra35b0a3c619a4ba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9938a788b1d4f76" /><Relationship Type="http://schemas.openxmlformats.org/officeDocument/2006/relationships/notesMaster" Target="/ppt/notesMasters/notesMaster1.xml" Id="R1e465b9d9dc8447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9cf3846919e4b52" /><Relationship Type="http://schemas.openxmlformats.org/officeDocument/2006/relationships/notesMaster" Target="/ppt/notesMasters/notesMaster1.xml" Id="R2023e4838bda4cc7"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c980cb8a4ea4ed3" /><Relationship Type="http://schemas.openxmlformats.org/officeDocument/2006/relationships/notesMaster" Target="/ppt/notesMasters/notesMaster1.xml" Id="R035169f53450479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3bb08310d824292" /><Relationship Type="http://schemas.openxmlformats.org/officeDocument/2006/relationships/notesMaster" Target="/ppt/notesMasters/notesMaster1.xml" Id="R0aa5c5f40b7f4a9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cde4d0adc6804b1a" /><Relationship Type="http://schemas.openxmlformats.org/officeDocument/2006/relationships/notesMaster" Target="/ppt/notesMasters/notesMaster1.xml" Id="R0dd314451e4d44b1"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f3a948aa4c841da" /><Relationship Type="http://schemas.openxmlformats.org/officeDocument/2006/relationships/notesMaster" Target="/ppt/notesMasters/notesMaster1.xml" Id="R57652141a196448b"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d2533e35df1443a" /><Relationship Type="http://schemas.openxmlformats.org/officeDocument/2006/relationships/notesMaster" Target="/ppt/notesMasters/notesMaster1.xml" Id="R55cc3bedfc8443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Cleaning data and explaining changes</a:t>
            </a:r>
          </a:p>
          <a:p xmlns:a="http://schemas.openxmlformats.org/drawingml/2006/main">
            <a:r>
              <a:t>Explanation to give</a:t>
            </a:r>
          </a:p>
          <a:p xmlns:a="http://schemas.openxmlformats.org/drawingml/2006/main">
            <a:r>
              <a:t>Inspect quality before interpreting a chart. Preserve raw records and justify each removal or estimated value.</a:t>
            </a:r>
          </a:p>
          <a:p xmlns:a="http://schemas.openxmlformats.org/drawingml/2006/main">
            <a:r>
              <a:t/>
            </a:r>
          </a:p>
          <a:p xmlns:a="http://schemas.openxmlformats.org/drawingml/2006/main">
            <a:r>
              <a:t>Worked illustration / lecturer answer</a:t>
            </a:r>
          </a:p>
          <a:p xmlns:a="http://schemas.openxmlformats.org/drawingml/2006/main">
            <a:r>
              <a:t>A blank is not a measured zero. With observed values 20 and 24, median filling would insert an estimate of 22, which must be recorded as estimated.</a:t>
            </a:r>
          </a:p>
          <a:p xmlns:a="http://schemas.openxmlformats.org/drawingml/2006/main">
            <a:r>
              <a:t/>
            </a:r>
          </a:p>
          <a:p xmlns:a="http://schemas.openxmlformats.org/drawingml/2006/main">
            <a:r>
              <a:t>Misconception to address</a:t>
            </a:r>
          </a:p>
          <a:p xmlns:a="http://schemas.openxmlformats.org/drawingml/2006/main">
            <a:r>
              <a:t>Use this as an orientation to the lesson. Terms and syntax will be unpacked on their own slides; students do not need to know them in advance.</a:t>
            </a:r>
          </a:p>
          <a:p xmlns:a="http://schemas.openxmlformats.org/drawingml/2006/main">
            <a:r>
              <a:t/>
            </a:r>
          </a:p>
          <a:p xmlns:a="http://schemas.openxmlformats.org/drawingml/2006/main">
            <a:r>
              <a:t>On this slide</a:t>
            </a:r>
          </a:p>
          <a:p xmlns:a="http://schemas.openxmlformats.org/drawingml/2006/main">
            <a:r>
              <a:t>Communications, Electrical, Mechatronics and Robotics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inspect the original CSV. Then apply the cleaning rules, check the result, and explain the cleaned charts.</a:t>
            </a:r>
          </a:p>
          <a:p xmlns:a="http://schemas.openxmlformats.org/drawingml/2006/main">
            <a:r>
              <a:t/>
            </a:r>
          </a:p>
          <a:p xmlns:a="http://schemas.openxmlformats.org/drawingml/2006/main">
            <a:r>
              <a:t>This walkthrough supports the existing Week 6 assignment and quiz. Their requirements are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Uploading a notebook does not upload its data. Check the exact filename and column headings. Each cohort has its own data, so numerical results can differ.</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 and short names</a:t>
            </a:r>
          </a:p>
          <a:p xmlns:a="http://schemas.openxmlformats.org/drawingml/2006/main">
            <a:r>
              <a:t>import pandas as pd loads pandas and gives it the short name pd. pd.read_csv refers to a function in that library.</a:t>
            </a:r>
          </a:p>
          <a:p xmlns:a="http://schemas.openxmlformats.org/drawingml/2006/main">
            <a:r>
              <a:t/>
            </a:r>
          </a:p>
          <a:p xmlns:a="http://schemas.openxmlformats.org/drawingml/2006/main">
            <a:r>
              <a:t>Reading a CSV</a:t>
            </a:r>
          </a:p>
          <a:p xmlns:a="http://schemas.openxmlformats.org/drawingml/2006/main">
            <a:r>
              <a:t>pd.read_csv("filename.csv") reads the named file into a DataFrame: a table with labelled columns and row labels. The file must exist in the working folder.</a:t>
            </a:r>
          </a:p>
          <a:p xmlns:a="http://schemas.openxmlformats.org/drawingml/2006/main">
            <a:r>
              <a:t/>
            </a:r>
          </a:p>
          <a:p xmlns:a="http://schemas.openxmlformats.org/drawingml/2006/main">
            <a:r>
              <a:t>Counting dimensions</a:t>
            </a:r>
          </a:p>
          <a:p xmlns:a="http://schemas.openxmlformats.org/drawingml/2006/main">
            <a:r>
              <a:t>table.shape gives (number of rows, number of columns). shape is a property, so it has no parentheses.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Column data types</a:t>
            </a:r>
          </a:p>
          <a:p xmlns:a="http://schemas.openxmlformats.org/drawingml/2006/main">
            <a:r>
              <a:t>table.dtypes reports each column’s stored type. int64 means integers, float64 means decimal numbers, and object often contains text. Numeric blanks commonly appear as NaN.</a:t>
            </a:r>
          </a:p>
          <a:p xmlns:a="http://schemas.openxmlformats.org/drawingml/2006/main">
            <a:r>
              <a:t/>
            </a:r>
          </a:p>
          <a:p xmlns:a="http://schemas.openxmlformats.org/drawingml/2006/main">
            <a:r>
              <a:t>A preview of rows</a:t>
            </a:r>
          </a:p>
          <a:p xmlns:a="http://schemas.openxmlformats.org/drawingml/2006/main">
            <a:r>
              <a:t>table.head() returns the first five rows. It leaves the table unchanged. A preview is not the entire dataset.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Names are labels chosen by us, not special Python words. raw_data lets us check what was originally recorded; cleaned_data will hold the result of each cleaning step. Do not call every table data because we need to distinguish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raw_data: the original table read from the CSV.</a:t>
            </a:r>
          </a:p>
          <a:p xmlns:a="http://schemas.openxmlformats.org/drawingml/2006/main">
            <a:r>
              <a:t/>
            </a:r>
          </a:p>
          <a:p xmlns:a="http://schemas.openxmlformats.org/drawingml/2006/main">
            <a:r>
              <a:t>cleaned_data: a separate working table that we will change.</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import pandas as pd</a:t>
            </a:r>
          </a:p>
          <a:p xmlns:a="http://schemas.openxmlformats.org/drawingml/2006/main">
            <a:r>
              <a:t>Load the named tools. Importing a model class does not train a model.</a:t>
            </a:r>
          </a:p>
          <a:p xmlns:a="http://schemas.openxmlformats.org/drawingml/2006/main">
            <a:r>
              <a:t/>
            </a:r>
          </a:p>
          <a:p xmlns:a="http://schemas.openxmlformats.org/drawingml/2006/main">
            <a:r>
              <a:t>raw_data = pd.read_csv('engineering_data.csv')</a:t>
            </a:r>
          </a:p>
          <a:p xmlns:a="http://schemas.openxmlformats.org/drawingml/2006/main">
            <a:r>
              <a:t>raw_data stores original CSV table; keep it unchanged so the analysis can be checked.</a:t>
            </a:r>
          </a:p>
          <a:p xmlns:a="http://schemas.openxmlformats.org/drawingml/2006/main">
            <a:r>
              <a:t/>
            </a:r>
          </a:p>
          <a:p xmlns:a="http://schemas.openxmlformats.org/drawingml/2006/main">
            <a:r>
              <a:t>print(raw_data.head())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print(raw_data.shape)</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print(raw_data.dtypes)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record_id equipment_id  load_pct  ambient_c  target</a:t>
            </a:r>
          </a:p>
          <a:p xmlns:a="http://schemas.openxmlformats.org/drawingml/2006/main">
            <a:r>
              <a:t>0          1           E1     59.15      31.71  76.847</a:t>
            </a:r>
          </a:p>
          <a:p xmlns:a="http://schemas.openxmlformats.org/drawingml/2006/main">
            <a:r>
              <a:t>1          2           E2     77.46      29.97  87.047</a:t>
            </a:r>
          </a:p>
          <a:p xmlns:a="http://schemas.openxmlformats.org/drawingml/2006/main">
            <a:r>
              <a:t>2          3           E3     69.60      19.87  71.256</a:t>
            </a:r>
          </a:p>
          <a:p xmlns:a="http://schemas.openxmlformats.org/drawingml/2006/main">
            <a:r>
              <a:t>3          4           E4     75.98      22.29     NaN</a:t>
            </a:r>
          </a:p>
          <a:p xmlns:a="http://schemas.openxmlformats.org/drawingml/2006/main">
            <a:r>
              <a:t>4          5           E5     57.62      23.40  67.034</a:t>
            </a:r>
          </a:p>
          <a:p xmlns:a="http://schemas.openxmlformats.org/drawingml/2006/main">
            <a:r>
              <a:t>(91, 5)</a:t>
            </a:r>
          </a:p>
          <a:p xmlns:a="http://schemas.openxmlformats.org/drawingml/2006/main">
            <a:r>
              <a:t>record_id         int64</a:t>
            </a:r>
          </a:p>
          <a:p xmlns:a="http://schemas.openxmlformats.org/drawingml/2006/main">
            <a:r>
              <a:t>equipment_id     object</a:t>
            </a:r>
          </a:p>
          <a:p xmlns:a="http://schemas.openxmlformats.org/drawingml/2006/main">
            <a:r>
              <a:t>load_pct        float64</a:t>
            </a:r>
          </a:p>
          <a:p xmlns:a="http://schemas.openxmlformats.org/drawingml/2006/main">
            <a:r>
              <a:t>ambient_c       float64</a:t>
            </a:r>
          </a:p>
          <a:p xmlns:a="http://schemas.openxmlformats.org/drawingml/2006/main">
            <a:r>
              <a:t>target          float64</a:t>
            </a:r>
          </a:p>
          <a:p xmlns:a="http://schemas.openxmlformats.org/drawingml/2006/main">
            <a:r>
              <a:t>dtype: object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ID is a label, not a measurement to average. The CSV is synthetic teaching data. Its patterns do not establish real engineering operating limits. Week 5 introduced EDA; here we repeat it as the first stage of a complete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excludes missing cells. Quartiles split sorted values into four parts: 50% is the median, 25% and 75% bound the middle half. Standard deviation describes spread. Inspect measurements, not record IDs. A minimum below zero in load_pct flags a value to investigate.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table.info() prints column types and non-missing counts. Call it directly; do not wrap it in print.</a:t>
            </a:r>
          </a:p>
          <a:p xmlns:a="http://schemas.openxmlformats.org/drawingml/2006/main">
            <a:r>
              <a:t/>
            </a:r>
          </a:p>
          <a:p xmlns:a="http://schemas.openxmlformats.org/drawingml/2006/main">
            <a:r>
              <a:t>table[numeric_columns].describe() summarises selected numeric measurements: count, mean, standard deviation, minimum, quartiles and maximum.</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raw_data.info()</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numeric_columns = ['load_pct', 'ambient_c', 'target']</a:t>
            </a:r>
          </a:p>
          <a:p xmlns:a="http://schemas.openxmlformats.org/drawingml/2006/main">
            <a:r>
              <a:t>numeric_columns stores the result of the displayed expression.</a:t>
            </a:r>
          </a:p>
          <a:p xmlns:a="http://schemas.openxmlformats.org/drawingml/2006/main">
            <a:r>
              <a:t/>
            </a:r>
          </a:p>
          <a:p xmlns:a="http://schemas.openxmlformats.org/drawingml/2006/main">
            <a:r>
              <a:t>print(raw_data[numeric_columns].describe())</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&lt;class 'pandas.core.frame.DataFrame'&gt;</a:t>
            </a:r>
          </a:p>
          <a:p xmlns:a="http://schemas.openxmlformats.org/drawingml/2006/main">
            <a:r>
              <a:t>RangeIndex: 91 entries, 0 to 90</a:t>
            </a:r>
          </a:p>
          <a:p xmlns:a="http://schemas.openxmlformats.org/drawingml/2006/main">
            <a:r>
              <a:t>Data columns (total 5 columns):</a:t>
            </a:r>
          </a:p>
          <a:p xmlns:a="http://schemas.openxmlformats.org/drawingml/2006/main">
            <a:r>
              <a:t> #   Column        Non-Null Count  Dtype  </a:t>
            </a:r>
          </a:p>
          <a:p xmlns:a="http://schemas.openxmlformats.org/drawingml/2006/main">
            <a:r>
              <a:t>---  ------        --------------  -----  </a:t>
            </a:r>
          </a:p>
          <a:p xmlns:a="http://schemas.openxmlformats.org/drawingml/2006/main">
            <a:r>
              <a:t> 0   record_id     91 non-null     int64  </a:t>
            </a:r>
          </a:p>
          <a:p xmlns:a="http://schemas.openxmlformats.org/drawingml/2006/main">
            <a:r>
              <a:t> 1   equipment_id  91 non-null     object </a:t>
            </a:r>
          </a:p>
          <a:p xmlns:a="http://schemas.openxmlformats.org/drawingml/2006/main">
            <a:r>
              <a:t> 2   load_pct      91 non-null     float64</a:t>
            </a:r>
          </a:p>
          <a:p xmlns:a="http://schemas.openxmlformats.org/drawingml/2006/main">
            <a:r>
              <a:t> 3   ambient_c     90 non-null     float64</a:t>
            </a:r>
          </a:p>
          <a:p xmlns:a="http://schemas.openxmlformats.org/drawingml/2006/main">
            <a:r>
              <a:t> 4   target        90 non-null     float64</a:t>
            </a:r>
          </a:p>
          <a:p xmlns:a="http://schemas.openxmlformats.org/drawingml/2006/main">
            <a:r>
              <a:t>dtypes: float64(3), int64(1), object(1)</a:t>
            </a:r>
          </a:p>
          <a:p xmlns:a="http://schemas.openxmlformats.org/drawingml/2006/main">
            <a:r>
              <a:t>memory usage: 3.7+ KB</a:t>
            </a:r>
          </a:p>
          <a:p xmlns:a="http://schemas.openxmlformats.org/drawingml/2006/main">
            <a:r>
              <a:t>        load_pct  ambient_c     target</a:t>
            </a:r>
          </a:p>
          <a:p xmlns:a="http://schemas.openxmlformats.org/drawingml/2006/main">
            <a:r>
              <a:t>count  91.000000  90.000000  90.000000</a:t>
            </a:r>
          </a:p>
          <a:p xmlns:a="http://schemas.openxmlformats.org/drawingml/2006/main">
            <a:r>
              <a:t>mean   56.027692  26.467444  69.011367</a:t>
            </a:r>
          </a:p>
          <a:p xmlns:a="http://schemas.openxmlformats.org/drawingml/2006/main">
            <a:r>
              <a:t>std    23.026181   4.641630  15.997147</a:t>
            </a:r>
          </a:p>
          <a:p xmlns:a="http://schemas.openxmlformats.org/drawingml/2006/main">
            <a:r>
              <a:t>min    -5.000000  18.350000  36.915000</a:t>
            </a:r>
          </a:p>
          <a:p xmlns:a="http://schemas.openxmlformats.org/drawingml/2006/main">
            <a:r>
              <a:t>25%    35.430000  22.562500  54.144750</a:t>
            </a:r>
          </a:p>
          <a:p xmlns:a="http://schemas.openxmlformats.org/drawingml/2006/main">
            <a:r>
              <a:t>50%    59.150000  26.045000  71.182500</a:t>
            </a:r>
          </a:p>
          <a:p xmlns:a="http://schemas.openxmlformats.org/drawingml/2006/main">
            <a:r>
              <a:t>75%    76.330000  30.772500  80.830250</a:t>
            </a:r>
          </a:p>
          <a:p xmlns:a="http://schemas.openxmlformats.org/drawingml/2006/main">
            <a:r>
              <a:t>max    93.150000  34.970000  97.700000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value_counts() counts rows for each label. dropna=False also shows missing labels.</a:t>
            </a:r>
          </a:p>
          <a:p xmlns:a="http://schemas.openxmlformats.org/drawingml/2006/main">
            <a:r>
              <a:t/>
            </a:r>
          </a:p>
          <a:p xmlns:a="http://schemas.openxmlformats.org/drawingml/2006/main">
            <a:r>
              <a:t>Counts can reveal missing groups or unequal coverage. Repeated equipment IDs are expected; repeated record IDs need separate inspection.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value_counts() counts rows for each label. dropna=False also shows missing labels.</a:t>
            </a:r>
          </a:p>
          <a:p xmlns:a="http://schemas.openxmlformats.org/drawingml/2006/main">
            <a:r>
              <a:t/>
            </a:r>
          </a:p>
          <a:p xmlns:a="http://schemas.openxmlformats.org/drawingml/2006/main">
            <a:r>
              <a:t>Counts can reveal missing groups or unequal coverage. Repeated equipment IDs are expected; repeated record IDs need separate inspection.</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equipment_counts = raw_data['equipment_id'].value_counts(dropna=False)</a:t>
            </a:r>
          </a:p>
          <a:p xmlns:a="http://schemas.openxmlformats.org/drawingml/2006/main">
            <a:r>
              <a:t>equipment_counts stores the result of the displayed expression.</a:t>
            </a:r>
          </a:p>
          <a:p xmlns:a="http://schemas.openxmlformats.org/drawingml/2006/main">
            <a:r>
              <a:t/>
            </a:r>
          </a:p>
          <a:p xmlns:a="http://schemas.openxmlformats.org/drawingml/2006/main">
            <a:r>
              <a:t>print(equipment_counts)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equipment_id</a:t>
            </a:r>
          </a:p>
          <a:p xmlns:a="http://schemas.openxmlformats.org/drawingml/2006/main">
            <a:r>
              <a:t>E1    16</a:t>
            </a:r>
          </a:p>
          <a:p xmlns:a="http://schemas.openxmlformats.org/drawingml/2006/main">
            <a:r>
              <a:t>E2    15</a:t>
            </a:r>
          </a:p>
          <a:p xmlns:a="http://schemas.openxmlformats.org/drawingml/2006/main">
            <a:r>
              <a:t>E3    15</a:t>
            </a:r>
          </a:p>
          <a:p xmlns:a="http://schemas.openxmlformats.org/drawingml/2006/main">
            <a:r>
              <a:t>E4    15</a:t>
            </a:r>
          </a:p>
          <a:p xmlns:a="http://schemas.openxmlformats.org/drawingml/2006/main">
            <a:r>
              <a:t>E5    15</a:t>
            </a:r>
          </a:p>
          <a:p xmlns:a="http://schemas.openxmlformats.org/drawingml/2006/main">
            <a:r>
              <a:t>E6    15</a:t>
            </a:r>
          </a:p>
          <a:p xmlns:a="http://schemas.openxmlformats.org/drawingml/2006/main">
            <a:r>
              <a:t>Name: count, dtype: int64</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horizontal axis as the target measurement and the vertical axis as observation count. This is an uncleaned preview. An extreme value is a reason to investigate, not automatic permission to delete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histogram groups numeric values into intervals and counts observations in each interval. bins=10 requests ten intervals.</a:t>
            </a:r>
          </a:p>
          <a:p xmlns:a="http://schemas.openxmlformats.org/drawingml/2006/main">
            <a:r>
              <a:t/>
            </a:r>
          </a:p>
          <a:p xmlns:a="http://schemas.openxmlformats.org/drawingml/2006/main">
            <a:r>
              <a:t>plt.subplots() gives a figure and its axes. ax selects where the chart is drawn. Missing numeric values are omitted from the plot.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import matplotlib.pyplot as plt</a:t>
            </a:r>
          </a:p>
          <a:p xmlns:a="http://schemas.openxmlformats.org/drawingml/2006/main">
            <a:r>
              <a:t>Load the named tools. Importing a model class does not train a model.</a:t>
            </a:r>
          </a:p>
          <a:p xmlns:a="http://schemas.openxmlformats.org/drawingml/2006/main">
            <a:r>
              <a:t/>
            </a:r>
          </a:p>
          <a:p xmlns:a="http://schemas.openxmlformats.org/drawingml/2006/main">
            <a:r>
              <a:t>raw_figure, raw_axes = plt.subplots()</a:t>
            </a:r>
          </a:p>
          <a:p xmlns:a="http://schemas.openxmlformats.org/drawingml/2006/main">
            <a:r>
              <a:t>raw_figure stores the result of the displayed expression. raw_axes stores the result of the displayed expression.</a:t>
            </a:r>
          </a:p>
          <a:p xmlns:a="http://schemas.openxmlformats.org/drawingml/2006/main">
            <a:r>
              <a:t/>
            </a:r>
          </a:p>
          <a:p xmlns:a="http://schemas.openxmlformats.org/drawingml/2006/main">
            <a:r>
              <a:t>raw_data['target'].plot.hist(bins=10, ax=raw_axes)</a:t>
            </a:r>
          </a:p>
          <a:p xmlns:a="http://schemas.openxmlformats.org/drawingml/2006/main">
            <a:r>
              <a:t>series.plot.hist(bins=10, ax=ax) groups known values into ten value intervals and counts observations in each. Bar heights are counts, not the original measurement values.</a:t>
            </a:r>
          </a:p>
          <a:p xmlns:a="http://schemas.openxmlformats.org/drawingml/2006/main">
            <a:r>
              <a:t/>
            </a:r>
          </a:p>
          <a:p xmlns:a="http://schemas.openxmlformats.org/drawingml/2006/main">
            <a:r>
              <a:t>raw_axes.set_xlabel('motor temperature (°C)')</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raw_axes.set_ylabel('Observation count')</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raw_axes.set_title('Before cleaning')</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plt.show()</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scatter plot places one observation at its load and target coordinates. x and y name the two columns; ax selects the plotting area.</a:t>
            </a:r>
          </a:p>
          <a:p xmlns:a="http://schemas.openxmlformats.org/drawingml/2006/main">
            <a:r>
              <a:t/>
            </a:r>
          </a:p>
          <a:p xmlns:a="http://schemas.openxmlformats.org/drawingml/2006/main">
            <a:r>
              <a:t>Look for gaps, unusual points and possible trends. A visible association does not show that load caused the target to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scatter plot places one observation at its load and target coordinates. x and y name the two columns; ax selects the plotting area.</a:t>
            </a:r>
          </a:p>
          <a:p xmlns:a="http://schemas.openxmlformats.org/drawingml/2006/main">
            <a:r>
              <a:t/>
            </a:r>
          </a:p>
          <a:p xmlns:a="http://schemas.openxmlformats.org/drawingml/2006/main">
            <a:r>
              <a:t>Look for gaps, unusual points and possible trends. A visible association does not show that load caused the target to change.</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raw_scatter_figure, raw_scatter_axes = plt.subplots()</a:t>
            </a:r>
          </a:p>
          <a:p xmlns:a="http://schemas.openxmlformats.org/drawingml/2006/main">
            <a:r>
              <a:t>raw_scatter_figure stores the result of the displayed expression. raw_scatter_axes stores the result of the displayed expression.</a:t>
            </a:r>
          </a:p>
          <a:p xmlns:a="http://schemas.openxmlformats.org/drawingml/2006/main">
            <a:r>
              <a:t/>
            </a:r>
          </a:p>
          <a:p xmlns:a="http://schemas.openxmlformats.org/drawingml/2006/main">
            <a:r>
              <a:t>raw_data.plot.scatter(x='load_pct', y='target', ax=raw_scatter_axes)</a:t>
            </a:r>
          </a:p>
          <a:p xmlns:a="http://schemas.openxmlformats.org/drawingml/2006/main">
            <a:r>
              <a:t>table.plot.scatter(x="load_pct", y="target", ax=ax) plots one point per row using those two columns. ax selects the plotting area. Rows with missing plot coordinates cannot form complete points.</a:t>
            </a:r>
          </a:p>
          <a:p xmlns:a="http://schemas.openxmlformats.org/drawingml/2006/main">
            <a:r>
              <a:t/>
            </a:r>
          </a:p>
          <a:p xmlns:a="http://schemas.openxmlformats.org/drawingml/2006/main">
            <a:r>
              <a:t>raw_scatter_axes.set_xlabel('Load (%)')</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raw_scatter_axes.set_ylabel('motor temperature (°C)')</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raw_scatter_axes.set_title('Before cleaning')</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plt.show()</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True as yes and False as no. For a whole table isna gives an answer for each cell. sum counts the True answers down each column: True counts as 1 and False as 0. A missing crusher-energy measurement is not evidence that energy consumption was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NaN means a value is missing. A measured zero is still a recorded value.</a:t>
            </a:r>
          </a:p>
          <a:p xmlns:a="http://schemas.openxmlformats.org/drawingml/2006/main">
            <a:r>
              <a:t/>
            </a:r>
          </a:p>
          <a:p xmlns:a="http://schemas.openxmlformats.org/drawingml/2006/main">
            <a:r>
              <a:t>isna() asks “is this cell missing?” It returns True for yes and False for no.</a:t>
            </a:r>
          </a:p>
          <a:p xmlns:a="http://schemas.openxmlformats.org/drawingml/2006/main">
            <a:r>
              <a:t/>
            </a:r>
          </a:p>
          <a:p xmlns:a="http://schemas.openxmlformats.org/drawingml/2006/main">
            <a:r>
              <a:t>.sum() counts True answers: True counts as 1 and False as 0.</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print(raw_data.isna().sum())</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record_id       0</a:t>
            </a:r>
          </a:p>
          <a:p xmlns:a="http://schemas.openxmlformats.org/drawingml/2006/main">
            <a:r>
              <a:t>equipment_id    0</a:t>
            </a:r>
          </a:p>
          <a:p xmlns:a="http://schemas.openxmlformats.org/drawingml/2006/main">
            <a:r>
              <a:t>load_pct        0</a:t>
            </a:r>
          </a:p>
          <a:p xmlns:a="http://schemas.openxmlformats.org/drawingml/2006/main">
            <a:r>
              <a:t>ambient_c       1</a:t>
            </a:r>
          </a:p>
          <a:p xmlns:a="http://schemas.openxmlformats.org/drawingml/2006/main">
            <a:r>
              <a:t>target          1</a:t>
            </a:r>
          </a:p>
          <a:p xmlns:a="http://schemas.openxmlformats.org/drawingml/2006/main">
            <a:r>
              <a:t>dtype: int64</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IDs 1, 2, 1 the answers are False, False, True. We mark the last occurrence because our stated rule keeps the first. The supplied CSV has one later copy of record ID 1. Repeated equipment labels are normal.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record_id identifies one observation. equipment_id identifies the equipment and may repeat.</a:t>
            </a:r>
          </a:p>
          <a:p xmlns:a="http://schemas.openxmlformats.org/drawingml/2006/main">
            <a:r>
              <a:t/>
            </a:r>
          </a:p>
          <a:p xmlns:a="http://schemas.openxmlformats.org/drawingml/2006/main">
            <a:r>
              <a:t>duplicated("record_id") marks later copies True. The first occurrence is False.</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is_repeated_record = raw_data.duplicated('record_id')</a:t>
            </a:r>
          </a:p>
          <a:p xmlns:a="http://schemas.openxmlformats.org/drawingml/2006/main">
            <a:r>
              <a:t>is_repeated_record stores the result of the displayed expression.</a:t>
            </a:r>
          </a:p>
          <a:p xmlns:a="http://schemas.openxmlformats.org/drawingml/2006/main">
            <a:r>
              <a:t/>
            </a:r>
          </a:p>
          <a:p xmlns:a="http://schemas.openxmlformats.org/drawingml/2006/main">
            <a:r>
              <a:t>print(is_repeated_record)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print(is_repeated_record.sum())</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0     False</a:t>
            </a:r>
          </a:p>
          <a:p xmlns:a="http://schemas.openxmlformats.org/drawingml/2006/main">
            <a:r>
              <a:t>1     False</a:t>
            </a:r>
          </a:p>
          <a:p xmlns:a="http://schemas.openxmlformats.org/drawingml/2006/main">
            <a:r>
              <a:t>2     False</a:t>
            </a:r>
          </a:p>
          <a:p xmlns:a="http://schemas.openxmlformats.org/drawingml/2006/main">
            <a:r>
              <a:t>3     False</a:t>
            </a:r>
          </a:p>
          <a:p xmlns:a="http://schemas.openxmlformats.org/drawingml/2006/main">
            <a:r>
              <a:t>4     False</a:t>
            </a:r>
          </a:p>
          <a:p xmlns:a="http://schemas.openxmlformats.org/drawingml/2006/main">
            <a:r>
              <a:t>      ...  </a:t>
            </a:r>
          </a:p>
          <a:p xmlns:a="http://schemas.openxmlformats.org/drawingml/2006/main">
            <a:r>
              <a:t>86    False</a:t>
            </a:r>
          </a:p>
          <a:p xmlns:a="http://schemas.openxmlformats.org/drawingml/2006/main">
            <a:r>
              <a:t>87    False</a:t>
            </a:r>
          </a:p>
          <a:p xmlns:a="http://schemas.openxmlformats.org/drawingml/2006/main">
            <a:r>
              <a:t>88    False</a:t>
            </a:r>
          </a:p>
          <a:p xmlns:a="http://schemas.openxmlformats.org/drawingml/2006/main">
            <a:r>
              <a:t>89    False</a:t>
            </a:r>
          </a:p>
          <a:p xmlns:a="http://schemas.openxmlformats.org/drawingml/2006/main">
            <a:r>
              <a:t>90     True</a:t>
            </a:r>
          </a:p>
          <a:p xmlns:a="http://schemas.openxmlformats.org/drawingml/2006/main">
            <a:r>
              <a:t>Length: 91, dtype: bool</a:t>
            </a:r>
          </a:p>
          <a:p xmlns:a="http://schemas.openxmlformats.org/drawingml/2006/main">
            <a:r>
              <a:t>1</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Finding and removing are different actions: duplicated answers a question; drop_duplicates returns a table without later copies. Read the next chain left to right. The original raw_data table stays at 91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drop_duplicates("record_id") keeps the first occurrence of each record ID.</a:t>
            </a:r>
          </a:p>
          <a:p xmlns:a="http://schemas.openxmlformats.org/drawingml/2006/main">
            <a:r>
              <a:t/>
            </a:r>
          </a:p>
          <a:p xmlns:a="http://schemas.openxmlformats.org/drawingml/2006/main">
            <a:r>
              <a:t>.copy() makes an independent working table. len(table) counts its rows.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cleaned_data = raw_data.drop_duplicates('record_id').copy()</a:t>
            </a:r>
          </a:p>
          <a:p xmlns:a="http://schemas.openxmlformats.org/drawingml/2006/main">
            <a:r>
              <a:t>cleaned_data stores the result of the displayed expression.</a:t>
            </a:r>
          </a:p>
          <a:p xmlns:a="http://schemas.openxmlformats.org/drawingml/2006/main">
            <a:r>
              <a:t/>
            </a:r>
          </a:p>
          <a:p xmlns:a="http://schemas.openxmlformats.org/drawingml/2006/main">
            <a:r>
              <a:t>print(len(raw_data))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print(len(cleaned_data))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91</a:t>
            </a:r>
          </a:p>
          <a:p xmlns:a="http://schemas.openxmlformats.org/drawingml/2006/main">
            <a:r>
              <a:t>90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is motor temperature in °C. We cannot use a missing target as an observed outcome. notna means NOT missing, the opposite of isna. A recorded target of zero would count as present. The next example only creates answers; it does not delete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cleaned_data["target"] selects the target column.</a:t>
            </a:r>
          </a:p>
          <a:p xmlns:a="http://schemas.openxmlformats.org/drawingml/2006/main">
            <a:r>
              <a:t/>
            </a:r>
          </a:p>
          <a:p xmlns:a="http://schemas.openxmlformats.org/drawingml/2006/main">
            <a:r>
              <a:t>.notna() asks whether each value is present. It returns True for a recorded value and False for a missing value.</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target_is_recorded = cleaned_data['target'].notna()</a:t>
            </a:r>
          </a:p>
          <a:p xmlns:a="http://schemas.openxmlformats.org/drawingml/2006/main">
            <a:r>
              <a:t>target_is_recorded stores the result of the displayed expression.</a:t>
            </a:r>
          </a:p>
          <a:p xmlns:a="http://schemas.openxmlformats.org/drawingml/2006/main">
            <a:r>
              <a:t/>
            </a:r>
          </a:p>
          <a:p xmlns:a="http://schemas.openxmlformats.org/drawingml/2006/main">
            <a:r>
              <a:t>print(cleaned_data['target'].head())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print(target_is_recorded.head())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0    76.847</a:t>
            </a:r>
          </a:p>
          <a:p xmlns:a="http://schemas.openxmlformats.org/drawingml/2006/main">
            <a:r>
              <a:t>1    87.047</a:t>
            </a:r>
          </a:p>
          <a:p xmlns:a="http://schemas.openxmlformats.org/drawingml/2006/main">
            <a:r>
              <a:t>2    71.256</a:t>
            </a:r>
          </a:p>
          <a:p xmlns:a="http://schemas.openxmlformats.org/drawingml/2006/main">
            <a:r>
              <a:t>3       NaN</a:t>
            </a:r>
          </a:p>
          <a:p xmlns:a="http://schemas.openxmlformats.org/drawingml/2006/main">
            <a:r>
              <a:t>4    67.034</a:t>
            </a:r>
          </a:p>
          <a:p xmlns:a="http://schemas.openxmlformats.org/drawingml/2006/main">
            <a:r>
              <a:t>Name: target, dtype: float64</a:t>
            </a:r>
          </a:p>
          <a:p xmlns:a="http://schemas.openxmlformats.org/drawingml/2006/main">
            <a:r>
              <a:t>0     True</a:t>
            </a:r>
          </a:p>
          <a:p xmlns:a="http://schemas.openxmlformats.org/drawingml/2006/main">
            <a:r>
              <a:t>1     True</a:t>
            </a:r>
          </a:p>
          <a:p xmlns:a="http://schemas.openxmlformats.org/drawingml/2006/main">
            <a:r>
              <a:t>2     True</a:t>
            </a:r>
          </a:p>
          <a:p xmlns:a="http://schemas.openxmlformats.org/drawingml/2006/main">
            <a:r>
              <a:t>3    False</a:t>
            </a:r>
          </a:p>
          <a:p xmlns:a="http://schemas.openxmlformats.org/drawingml/2006/main">
            <a:r>
              <a:t>4     True</a:t>
            </a:r>
          </a:p>
          <a:p xmlns:a="http://schemas.openxmlformats.org/drawingml/2006/main">
            <a:r>
              <a:t>Name: target, dtype: bool</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brackets with a quoted column name from brackets with a True/False Series. The first selects a column; the second selects rows. Use answers produced from this same working table so row labels align. Creating the answers and using them to select rows are separate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cleaned_data[target_is_recorded] keeps rows whose answer is True. Rows answering False are left out of the returned table.</a:t>
            </a:r>
          </a:p>
          <a:p xmlns:a="http://schemas.openxmlformats.org/drawingml/2006/main">
            <a:r>
              <a:t/>
            </a:r>
          </a:p>
          <a:p xmlns:a="http://schemas.openxmlformats.org/drawingml/2006/main">
            <a:r>
              <a:t>This True/False selection is called a Boolean mask. The variable name does not need to end in _mask.</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rows_with_target = cleaned_data[target_is_recorded].copy()</a:t>
            </a:r>
          </a:p>
          <a:p xmlns:a="http://schemas.openxmlformats.org/drawingml/2006/main">
            <a:r>
              <a:t>rows_with_target stores the result of the displayed expression.</a:t>
            </a:r>
          </a:p>
          <a:p xmlns:a="http://schemas.openxmlformats.org/drawingml/2006/main">
            <a:r>
              <a:t/>
            </a:r>
          </a:p>
          <a:p xmlns:a="http://schemas.openxmlformats.org/drawingml/2006/main">
            <a:r>
              <a:t>print(len(cleaned_data))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print(len(rows_with_target))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90</a:t>
            </a:r>
          </a:p>
          <a:p xmlns:a="http://schemas.openxmlformats.org/drawingml/2006/main">
            <a:r>
              <a:t>89</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endpoints as included: 0 and 100 pass; -5 and 101 fail. The supplied file contains load -5 for record ID 9. We reject that observation under this stated cleaning rule rather than silently changing its reading.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load_pct is a percentage. For this exercise the valid range is 0 through 100, including both endpoints.</a:t>
            </a:r>
          </a:p>
          <a:p xmlns:a="http://schemas.openxmlformats.org/drawingml/2006/main">
            <a:r>
              <a:t/>
            </a:r>
          </a:p>
          <a:p xmlns:a="http://schemas.openxmlformats.org/drawingml/2006/main">
            <a:r>
              <a:t>.between(0, 100) answers True inside that range and False outside it.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load_is_valid = cleaned_data['load_pct'].between(0, 100)</a:t>
            </a:r>
          </a:p>
          <a:p xmlns:a="http://schemas.openxmlformats.org/drawingml/2006/main">
            <a:r>
              <a:t>load_is_valid stores the result of the displayed expression.</a:t>
            </a:r>
          </a:p>
          <a:p xmlns:a="http://schemas.openxmlformats.org/drawingml/2006/main">
            <a:r>
              <a:t/>
            </a:r>
          </a:p>
          <a:p xmlns:a="http://schemas.openxmlformats.org/drawingml/2006/main">
            <a:r>
              <a:t>print(cleaned_data['load_pct'].head(10))</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print(load_is_valid.head(10))</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0    59.15</a:t>
            </a:r>
          </a:p>
          <a:p xmlns:a="http://schemas.openxmlformats.org/drawingml/2006/main">
            <a:r>
              <a:t>1    77.46</a:t>
            </a:r>
          </a:p>
          <a:p xmlns:a="http://schemas.openxmlformats.org/drawingml/2006/main">
            <a:r>
              <a:t>2    69.60</a:t>
            </a:r>
          </a:p>
          <a:p xmlns:a="http://schemas.openxmlformats.org/drawingml/2006/main">
            <a:r>
              <a:t>3    75.98</a:t>
            </a:r>
          </a:p>
          <a:p xmlns:a="http://schemas.openxmlformats.org/drawingml/2006/main">
            <a:r>
              <a:t>4    57.62</a:t>
            </a:r>
          </a:p>
          <a:p xmlns:a="http://schemas.openxmlformats.org/drawingml/2006/main">
            <a:r>
              <a:t>5    50.12</a:t>
            </a:r>
          </a:p>
          <a:p xmlns:a="http://schemas.openxmlformats.org/drawingml/2006/main">
            <a:r>
              <a:t>6    24.66</a:t>
            </a:r>
          </a:p>
          <a:p xmlns:a="http://schemas.openxmlformats.org/drawingml/2006/main">
            <a:r>
              <a:t>7    72.92</a:t>
            </a:r>
          </a:p>
          <a:p xmlns:a="http://schemas.openxmlformats.org/drawingml/2006/main">
            <a:r>
              <a:t>8    -5.00</a:t>
            </a:r>
          </a:p>
          <a:p xmlns:a="http://schemas.openxmlformats.org/drawingml/2006/main">
            <a:r>
              <a:t>9    67.91</a:t>
            </a:r>
          </a:p>
          <a:p xmlns:a="http://schemas.openxmlformats.org/drawingml/2006/main">
            <a:r>
              <a:t>Name: load_pct, dtype: float64</a:t>
            </a:r>
          </a:p>
          <a:p xmlns:a="http://schemas.openxmlformats.org/drawingml/2006/main">
            <a:r>
              <a:t>0     True</a:t>
            </a:r>
          </a:p>
          <a:p xmlns:a="http://schemas.openxmlformats.org/drawingml/2006/main">
            <a:r>
              <a:t>1     True</a:t>
            </a:r>
          </a:p>
          <a:p xmlns:a="http://schemas.openxmlformats.org/drawingml/2006/main">
            <a:r>
              <a:t>2     True</a:t>
            </a:r>
          </a:p>
          <a:p xmlns:a="http://schemas.openxmlformats.org/drawingml/2006/main">
            <a:r>
              <a:t>3     True</a:t>
            </a:r>
          </a:p>
          <a:p xmlns:a="http://schemas.openxmlformats.org/drawingml/2006/main">
            <a:r>
              <a:t>4     True</a:t>
            </a:r>
          </a:p>
          <a:p xmlns:a="http://schemas.openxmlformats.org/drawingml/2006/main">
            <a:r>
              <a:t>5     True</a:t>
            </a:r>
          </a:p>
          <a:p xmlns:a="http://schemas.openxmlformats.org/drawingml/2006/main">
            <a:r>
              <a:t>6     True</a:t>
            </a:r>
          </a:p>
          <a:p xmlns:a="http://schemas.openxmlformats.org/drawingml/2006/main">
            <a:r>
              <a:t>7     True</a:t>
            </a:r>
          </a:p>
          <a:p xmlns:a="http://schemas.openxmlformats.org/drawingml/2006/main">
            <a:r>
              <a:t>8    False</a:t>
            </a:r>
          </a:p>
          <a:p xmlns:a="http://schemas.openxmlformats.org/drawingml/2006/main">
            <a:r>
              <a:t>9     True</a:t>
            </a:r>
          </a:p>
          <a:p xmlns:a="http://schemas.openxmlformats.org/drawingml/2006/main">
            <a:r>
              <a:t>Name: load_pct, dtype: bool</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and is not the operator for combining pandas Series; use &amp;. Both answer columns here come from the same cleaned_data table. Named conditions avoid nesting several expressions on one line. If writing comparisons directly, place each comparison in parentheses.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three record IDs are from the supplied CSV. Record 1 has target the value printed below and load 59.15, so both checks pass. Record 4 has no target, although load 75.98 is valid. Record 9 has target 13.908, but load -5 fails. A row needs BOTH conditions. This is a selected illustration, not the entire 90-row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rows_to_keep = target_is_recorded &amp; load_is_valid</a:t>
            </a:r>
          </a:p>
          <a:p xmlns:a="http://schemas.openxmlformats.org/drawingml/2006/main">
            <a:r>
              <a:t>rows_to_keep stores the result of the displayed expression.</a:t>
            </a:r>
          </a:p>
          <a:p xmlns:a="http://schemas.openxmlformats.org/drawingml/2006/main">
            <a:r>
              <a:t/>
            </a:r>
          </a:p>
          <a:p xmlns:a="http://schemas.openxmlformats.org/drawingml/2006/main">
            <a:r>
              <a:t>print(rows_to_keep.sum())</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cleaned_data = cleaned_data[rows_to_keep].copy()</a:t>
            </a:r>
          </a:p>
          <a:p xmlns:a="http://schemas.openxmlformats.org/drawingml/2006/main">
            <a:r>
              <a:t>cleaned_data stores the result of the displayed expression.</a:t>
            </a:r>
          </a:p>
          <a:p xmlns:a="http://schemas.openxmlformats.org/drawingml/2006/main">
            <a:r>
              <a:t/>
            </a:r>
          </a:p>
          <a:p xmlns:a="http://schemas.openxmlformats.org/drawingml/2006/main">
            <a:r>
              <a:t>print(len(cleaned_data))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88</a:t>
            </a:r>
          </a:p>
          <a:p xmlns:a="http://schemas.openxmlformats.org/drawingml/2006/main">
            <a:r>
              <a:t>88</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 this after removing invalid observations, so discarded rows do not influence the replacement. For an even count, median averages the two central values. pandas skips missing values for median. We fill ambient temperature only; we do not invent missing targets. round(value, 3) changes the displayed precision, not our saved median. float converts the value to a Python decimal number for display.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ambient_c is temperature in °C. .median() finds the middle of the recorded values in the retained rows.</a:t>
            </a:r>
          </a:p>
          <a:p xmlns:a="http://schemas.openxmlformats.org/drawingml/2006/main">
            <a:r>
              <a:t/>
            </a:r>
          </a:p>
          <a:p xmlns:a="http://schemas.openxmlformats.org/drawingml/2006/main">
            <a:r>
              <a:t>.fillna(value) replaces only missing entries. Assign the result back to the ambient_c column.</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median_ambient_c = cleaned_data['ambient_c'].median()</a:t>
            </a:r>
          </a:p>
          <a:p xmlns:a="http://schemas.openxmlformats.org/drawingml/2006/main">
            <a:r>
              <a:t>median_ambient_c stores the result of the displayed expression.</a:t>
            </a:r>
          </a:p>
          <a:p xmlns:a="http://schemas.openxmlformats.org/drawingml/2006/main">
            <a:r>
              <a:t/>
            </a:r>
          </a:p>
          <a:p xmlns:a="http://schemas.openxmlformats.org/drawingml/2006/main">
            <a:r>
              <a:t>cleaned_data['ambient_c'] = cleaned_data['ambient_c'].fillna(median_ambient_c)</a:t>
            </a:r>
          </a:p>
          <a:p xmlns:a="http://schemas.openxmlformats.org/drawingml/2006/main">
            <a:r>
              <a:t>cleaned_data stores the result of the displayed expression.</a:t>
            </a:r>
          </a:p>
          <a:p xmlns:a="http://schemas.openxmlformats.org/drawingml/2006/main">
            <a:r>
              <a:t/>
            </a:r>
          </a:p>
          <a:p xmlns:a="http://schemas.openxmlformats.org/drawingml/2006/main">
            <a:r>
              <a:t>print(round(float(median_ambient_c), 3))</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print(cleaned_data.isna().sum())</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26.07</a:t>
            </a:r>
          </a:p>
          <a:p xmlns:a="http://schemas.openxmlformats.org/drawingml/2006/main">
            <a:r>
              <a:t>record_id       0</a:t>
            </a:r>
          </a:p>
          <a:p xmlns:a="http://schemas.openxmlformats.org/drawingml/2006/main">
            <a:r>
              <a:t>equipment_id    0</a:t>
            </a:r>
          </a:p>
          <a:p xmlns:a="http://schemas.openxmlformats.org/drawingml/2006/main">
            <a:r>
              <a:t>load_pct        0</a:t>
            </a:r>
          </a:p>
          <a:p xmlns:a="http://schemas.openxmlformats.org/drawingml/2006/main">
            <a:r>
              <a:t>ambient_c       0</a:t>
            </a:r>
          </a:p>
          <a:p xmlns:a="http://schemas.openxmlformats.org/drawingml/2006/main">
            <a:r>
              <a:t>target          0</a:t>
            </a:r>
          </a:p>
          <a:p xmlns:a="http://schemas.openxmlformats.org/drawingml/2006/main">
            <a:r>
              <a:t>dtype: int64</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original and retained rows. Check duplicate record IDs, missing values and valid loads again.</a:t>
            </a:r>
          </a:p>
          <a:p xmlns:a="http://schemas.openxmlformats.org/drawingml/2006/main">
            <a:r>
              <a:t/>
            </a:r>
          </a:p>
          <a:p xmlns:a="http://schemas.openxmlformats.org/drawingml/2006/main">
            <a:r>
              <a:t>.all() answers True only when every row passes the condition. A check confirms what the data contain; a table named cleaned_data is not automatically correct.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original and retained rows. Check duplicate record IDs, missing values and valid loads again.</a:t>
            </a:r>
          </a:p>
          <a:p xmlns:a="http://schemas.openxmlformats.org/drawingml/2006/main">
            <a:r>
              <a:t/>
            </a:r>
          </a:p>
          <a:p xmlns:a="http://schemas.openxmlformats.org/drawingml/2006/main">
            <a:r>
              <a:t>.all() answers True only when every row passes the condition. A check confirms what the data contain; a table named cleaned_data is not automatically correct.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print('Rows before:', len(raw_data))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print('Rows after:', len(cleaned_data))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print('Duplicate IDs:', cleaned_data.duplicated('record_id').sum())</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print(cleaned_data.isna().sum())</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print('Loads valid:', cleaned_data['load_pct'].between(0, 100).all())</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Rows before: 91</a:t>
            </a:r>
          </a:p>
          <a:p xmlns:a="http://schemas.openxmlformats.org/drawingml/2006/main">
            <a:r>
              <a:t>Rows after: 88</a:t>
            </a:r>
          </a:p>
          <a:p xmlns:a="http://schemas.openxmlformats.org/drawingml/2006/main">
            <a:r>
              <a:t>Duplicate IDs: 0</a:t>
            </a:r>
          </a:p>
          <a:p xmlns:a="http://schemas.openxmlformats.org/drawingml/2006/main">
            <a:r>
              <a:t>record_id       0</a:t>
            </a:r>
          </a:p>
          <a:p xmlns:a="http://schemas.openxmlformats.org/drawingml/2006/main">
            <a:r>
              <a:t>equipment_id    0</a:t>
            </a:r>
          </a:p>
          <a:p xmlns:a="http://schemas.openxmlformats.org/drawingml/2006/main">
            <a:r>
              <a:t>load_pct        0</a:t>
            </a:r>
          </a:p>
          <a:p xmlns:a="http://schemas.openxmlformats.org/drawingml/2006/main">
            <a:r>
              <a:t>ambient_c       0</a:t>
            </a:r>
          </a:p>
          <a:p xmlns:a="http://schemas.openxmlformats.org/drawingml/2006/main">
            <a:r>
              <a:t>target          0</a:t>
            </a:r>
          </a:p>
          <a:p xmlns:a="http://schemas.openxmlformats.org/drawingml/2006/main">
            <a:r>
              <a:t>dtype: int64</a:t>
            </a:r>
          </a:p>
          <a:p xmlns:a="http://schemas.openxmlformats.org/drawingml/2006/main">
            <a:r>
              <a:t>Loads valid: True</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group mean describes observations in this file. It does not prove that equipment identity causes the difference.</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recorded values</a:t>
            </a:r>
          </a:p>
          <a:p xmlns:a="http://schemas.openxmlformats.org/drawingml/2006/main">
            <a:r>
              <a:t>series.mean() adds known values and divides by their count. pandas skips missing values by default. The result has the same unit as the original column.</a:t>
            </a:r>
          </a:p>
          <a:p xmlns:a="http://schemas.openxmlformats.org/drawingml/2006/main">
            <a:r>
              <a:t/>
            </a:r>
          </a:p>
          <a:p xmlns:a="http://schemas.openxmlformats.org/drawingml/2006/main">
            <a:r>
              <a:t>Several summaries at once</a:t>
            </a:r>
          </a:p>
          <a:p xmlns:a="http://schemas.openxmlformats.org/drawingml/2006/main">
            <a:r>
              <a:t>series.agg(["mean", "min", "max"]) applies those three named calculations and returns a labelled Series of results. min and max give the lowest and highest recorded values.</a:t>
            </a:r>
          </a:p>
          <a:p xmlns:a="http://schemas.openxmlformats.org/drawingml/2006/main">
            <a:r>
              <a:t/>
            </a:r>
          </a:p>
          <a:p xmlns:a="http://schemas.openxmlformats.org/drawingml/2006/main">
            <a:r>
              <a:t>Grouping rows</a:t>
            </a:r>
          </a:p>
          <a:p xmlns:a="http://schemas.openxmlformats.org/drawingml/2006/main">
            <a:r>
              <a:t>table.groupby("label")["value"] groups the value column by matching labels. Apply mean() or sum() to calculate one result per group. Missing group labels are excluded by default.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recorded values: series.mean() adds known values and divides by their count. pandas skips missing values by default. The result has the same unit as the original column.</a:t>
            </a:r>
          </a:p>
          <a:p xmlns:a="http://schemas.openxmlformats.org/drawingml/2006/main">
            <a:r>
              <a:t/>
            </a:r>
          </a:p>
          <a:p xmlns:a="http://schemas.openxmlformats.org/drawingml/2006/main">
            <a:r>
              <a:t>Several summaries at once: series.agg(["mean", "min", "max"]) applies those three named calculations and returns a labelled Series of results. min and max give the lowest and highest recorded values.</a:t>
            </a:r>
          </a:p>
          <a:p xmlns:a="http://schemas.openxmlformats.org/drawingml/2006/main">
            <a:r>
              <a:t/>
            </a:r>
          </a:p>
          <a:p xmlns:a="http://schemas.openxmlformats.org/drawingml/2006/main">
            <a:r>
              <a:t>Grouping rows: table.groupby("label")["value"] groups the value column by matching labels. Apply mean() or sum() to calculate one result per group. Missing group labels are excluded by default.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target_summary = cleaned_data['target'].agg(['mean', 'min', 'max'])</a:t>
            </a:r>
          </a:p>
          <a:p xmlns:a="http://schemas.openxmlformats.org/drawingml/2006/main">
            <a:r>
              <a:t>target_summary stores the result of the displayed expression.</a:t>
            </a:r>
          </a:p>
          <a:p xmlns:a="http://schemas.openxmlformats.org/drawingml/2006/main">
            <a:r>
              <a:t/>
            </a:r>
          </a:p>
          <a:p xmlns:a="http://schemas.openxmlformats.org/drawingml/2006/main">
            <a:r>
              <a:t>mean_target_by_equipment = cleaned_data.groupby('equipment_id')['target'].mean()</a:t>
            </a:r>
          </a:p>
          <a:p xmlns:a="http://schemas.openxmlformats.org/drawingml/2006/main">
            <a:r>
              <a:t>mean_target_by_equipment stores the result of the displayed expression.</a:t>
            </a:r>
          </a:p>
          <a:p xmlns:a="http://schemas.openxmlformats.org/drawingml/2006/main">
            <a:r>
              <a:t/>
            </a:r>
          </a:p>
          <a:p xmlns:a="http://schemas.openxmlformats.org/drawingml/2006/main">
            <a:r>
              <a:t>print(target_summary)</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print(mean_target_by_equipment.round(3))</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mean    68.723909</a:t>
            </a:r>
          </a:p>
          <a:p xmlns:a="http://schemas.openxmlformats.org/drawingml/2006/main">
            <a:r>
              <a:t>min     36.915000</a:t>
            </a:r>
          </a:p>
          <a:p xmlns:a="http://schemas.openxmlformats.org/drawingml/2006/main">
            <a:r>
              <a:t>max     97.700000</a:t>
            </a:r>
          </a:p>
          <a:p xmlns:a="http://schemas.openxmlformats.org/drawingml/2006/main">
            <a:r>
              <a:t>Name: target, dtype: float64</a:t>
            </a:r>
          </a:p>
          <a:p xmlns:a="http://schemas.openxmlformats.org/drawingml/2006/main">
            <a:r>
              <a:t>equipment_id</a:t>
            </a:r>
          </a:p>
          <a:p xmlns:a="http://schemas.openxmlformats.org/drawingml/2006/main">
            <a:r>
              <a:t>E1    68.865</a:t>
            </a:r>
          </a:p>
          <a:p xmlns:a="http://schemas.openxmlformats.org/drawingml/2006/main">
            <a:r>
              <a:t>E2    71.253</a:t>
            </a:r>
          </a:p>
          <a:p xmlns:a="http://schemas.openxmlformats.org/drawingml/2006/main">
            <a:r>
              <a:t>E3    69.679</a:t>
            </a:r>
          </a:p>
          <a:p xmlns:a="http://schemas.openxmlformats.org/drawingml/2006/main">
            <a:r>
              <a:t>E4    74.474</a:t>
            </a:r>
          </a:p>
          <a:p xmlns:a="http://schemas.openxmlformats.org/drawingml/2006/main">
            <a:r>
              <a:t>E5    61.898</a:t>
            </a:r>
          </a:p>
          <a:p xmlns:a="http://schemas.openxmlformats.org/drawingml/2006/main">
            <a:r>
              <a:t>E6    66.621</a:t>
            </a:r>
          </a:p>
          <a:p xmlns:a="http://schemas.openxmlformats.org/drawingml/2006/main">
            <a:r>
              <a:t>Name: target, dtype: float64</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Choosing a chart for the question</a:t>
            </a:r>
          </a:p>
          <a:p xmlns:a="http://schemas.openxmlformats.org/drawingml/2006/main">
            <a:r>
              <a:t>Explanation to give</a:t>
            </a:r>
          </a:p>
          <a:p xmlns:a="http://schemas.openxmlformats.org/drawingml/2006/main">
            <a:r>
              <a:t>Choose the chart from the question. A bar chart compares named categories; a histogram counts numerical observations in intervals; a scatter plot compares paired numbers. Explain what one mark means.</a:t>
            </a:r>
          </a:p>
          <a:p xmlns:a="http://schemas.openxmlformats.org/drawingml/2006/main">
            <a:r>
              <a:t/>
            </a:r>
          </a:p>
          <a:p xmlns:a="http://schemas.openxmlformats.org/drawingml/2006/main">
            <a:r>
              <a:t>Worked illustration / lecturer answer</a:t>
            </a:r>
          </a:p>
          <a:p xmlns:a="http://schemas.openxmlformats.org/drawingml/2006/main">
            <a:r>
              <a:t>Use bars for mean energy by building, a histogram for the distribution of individual energy readings, and scatter for energy against temperature. A histogram bar's height counts observations in a bin.</a:t>
            </a:r>
          </a:p>
          <a:p xmlns:a="http://schemas.openxmlformats.org/drawingml/2006/main">
            <a:r>
              <a:t/>
            </a:r>
          </a:p>
          <a:p xmlns:a="http://schemas.openxmlformats.org/drawingml/2006/main">
            <a:r>
              <a:t>Misconception to address</a:t>
            </a:r>
          </a:p>
          <a:p xmlns:a="http://schemas.openxmlformats.org/drawingml/2006/main">
            <a:r>
              <a:t>Histogram bins are numerical intervals, not separate named buildings. Changing bin widths can change the visible pattern, so state the choice and inspect the data too.</a:t>
            </a:r>
          </a:p>
          <a:p xmlns:a="http://schemas.openxmlformats.org/drawingml/2006/main">
            <a:r>
              <a:t/>
            </a:r>
          </a:p>
          <a:p xmlns:a="http://schemas.openxmlformats.org/drawingml/2006/main">
            <a:r>
              <a:t>On this slide</a:t>
            </a:r>
          </a:p>
          <a:p xmlns:a="http://schemas.openxmlformats.org/drawingml/2006/main">
            <a:r>
              <a:t>This week uses histograms, scatter plots and bar charts. The other chart types are reference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scatter uses the supplied load_pct and target. Equipment grouping is categorical. Use ten histogram bins as required by the project.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Draw attention to the two sides of ax=scatter_axes. ax is a parameter name defined by pandas; scatter_axes is our descriptive Python variable. Despite the plural name, one Axes object holds one plot here. The conventional plt alias refers to matplotlib.pyplot. Each new plt.subplots() call creates a separate image and plotting area.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plt.subplots() returns two objects: a figure (the whole image) and axes (the plotting area). Store them as scatter_figure and scatter_axes.</a:t>
            </a:r>
          </a:p>
          <a:p xmlns:a="http://schemas.openxmlformats.org/drawingml/2006/main">
            <a:r>
              <a:t/>
            </a:r>
          </a:p>
          <a:p xmlns:a="http://schemas.openxmlformats.org/drawingml/2006/main">
            <a:r>
              <a:t>The ax= argument tells pandas where to draw: ax=scatter_axes uses that plotting area. Keep the library keyword ax unchanged.</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import matplotlib.pyplot as plt</a:t>
            </a:r>
          </a:p>
          <a:p xmlns:a="http://schemas.openxmlformats.org/drawingml/2006/main">
            <a:r>
              <a:t>Load the named tools. Importing a model class does not train a model.</a:t>
            </a:r>
          </a:p>
          <a:p xmlns:a="http://schemas.openxmlformats.org/drawingml/2006/main">
            <a:r>
              <a:t/>
            </a:r>
          </a:p>
          <a:p xmlns:a="http://schemas.openxmlformats.org/drawingml/2006/main">
            <a:r>
              <a:t>scatter_figure, scatter_axes = plt.subplots()</a:t>
            </a:r>
          </a:p>
          <a:p xmlns:a="http://schemas.openxmlformats.org/drawingml/2006/main">
            <a:r>
              <a:t>scatter_figure stores the result of the displayed expression. scatter_axes stores the result of the displayed expression.</a:t>
            </a:r>
          </a:p>
          <a:p xmlns:a="http://schemas.openxmlformats.org/drawingml/2006/main">
            <a:r>
              <a:t/>
            </a:r>
          </a:p>
          <a:p xmlns:a="http://schemas.openxmlformats.org/drawingml/2006/main">
            <a:r>
              <a:t>cleaned_data.plot.scatter(x='load_pct', y='target', ax=scatter_axes)</a:t>
            </a:r>
          </a:p>
          <a:p xmlns:a="http://schemas.openxmlformats.org/drawingml/2006/main">
            <a:r>
              <a:t>table.plot.scatter(x="load_pct", y="target", ax=ax) plots one point per row using those two columns. ax selects the plotting area. Rows with missing plot coordinates cannot form complete points.</a:t>
            </a:r>
          </a:p>
          <a:p xmlns:a="http://schemas.openxmlformats.org/drawingml/2006/main">
            <a:r>
              <a:t/>
            </a:r>
          </a:p>
          <a:p xmlns:a="http://schemas.openxmlformats.org/drawingml/2006/main">
            <a:r>
              <a:t>scatter_axes.set_xlabel('Load (%)')</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scatter_axes.set_ylabel('Motor temperature (°C)')</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plt.show()</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bar for each labelled value</a:t>
            </a:r>
          </a:p>
          <a:p xmlns:a="http://schemas.openxmlformats.org/drawingml/2006/main">
            <a:r>
              <a:t>series.plot.bar(ax=ax) draws a bar for each Series label. When the Series contains group means, bar heights represent those means.</a:t>
            </a:r>
          </a:p>
          <a:p xmlns:a="http://schemas.openxmlformats.org/drawingml/2006/main">
            <a:r>
              <a:t/>
            </a:r>
          </a:p>
          <a:p xmlns:a="http://schemas.openxmlformats.org/drawingml/2006/main">
            <a:r>
              <a:t>Histogram intervals</a:t>
            </a:r>
          </a:p>
          <a:p xmlns:a="http://schemas.openxmlformats.org/drawingml/2006/main">
            <a:r>
              <a:t>series.plot.hist(bins=10, ax=ax) groups known values into ten value intervals and counts observations in each. Bar heights are counts, not the original measurement values.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bar for each labelled value: series.plot.bar(ax=ax) draws a bar for each Series label. When the Series contains group means, bar heights represent those means.</a:t>
            </a:r>
          </a:p>
          <a:p xmlns:a="http://schemas.openxmlformats.org/drawingml/2006/main">
            <a:r>
              <a:t/>
            </a:r>
          </a:p>
          <a:p xmlns:a="http://schemas.openxmlformats.org/drawingml/2006/main">
            <a:r>
              <a:t>Histogram intervals: series.plot.hist(bins=10, ax=ax) groups known values into ten value intervals and counts observations in each. Bar heights are counts, not the original measurement values.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bar_figure, bar_axes = plt.subplots()</a:t>
            </a:r>
          </a:p>
          <a:p xmlns:a="http://schemas.openxmlformats.org/drawingml/2006/main">
            <a:r>
              <a:t>bar_figure stores the result of the displayed expression. bar_axes stores the result of the displayed expression.</a:t>
            </a:r>
          </a:p>
          <a:p xmlns:a="http://schemas.openxmlformats.org/drawingml/2006/main">
            <a:r>
              <a:t/>
            </a:r>
          </a:p>
          <a:p xmlns:a="http://schemas.openxmlformats.org/drawingml/2006/main">
            <a:r>
              <a:t>mean_target_by_equipment.plot.bar(ax=bar_axes)</a:t>
            </a:r>
          </a:p>
          <a:p xmlns:a="http://schemas.openxmlformats.org/drawingml/2006/main">
            <a:r>
              <a:t>series.plot.bar(ax=ax) draws a bar for each Series label. When the Series contains group means, bar heights represent those means.</a:t>
            </a:r>
          </a:p>
          <a:p xmlns:a="http://schemas.openxmlformats.org/drawingml/2006/main">
            <a:r>
              <a:t/>
            </a:r>
          </a:p>
          <a:p xmlns:a="http://schemas.openxmlformats.org/drawingml/2006/main">
            <a:r>
              <a:t>bar_axes.set_xlabel('Equipment ID')</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bar_axes.set_ylabel('Mean motor temperature (°C)')</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plt.show()</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histogram_figure, histogram_axes = plt.subplots()</a:t>
            </a:r>
          </a:p>
          <a:p xmlns:a="http://schemas.openxmlformats.org/drawingml/2006/main">
            <a:r>
              <a:t>histogram_figure stores the result of the displayed expression. histogram_axes stores the result of the displayed expression.</a:t>
            </a:r>
          </a:p>
          <a:p xmlns:a="http://schemas.openxmlformats.org/drawingml/2006/main">
            <a:r>
              <a:t/>
            </a:r>
          </a:p>
          <a:p xmlns:a="http://schemas.openxmlformats.org/drawingml/2006/main">
            <a:r>
              <a:t>cleaned_data['target'].plot.hist(bins=10, ax=histogram_axes)</a:t>
            </a:r>
          </a:p>
          <a:p xmlns:a="http://schemas.openxmlformats.org/drawingml/2006/main">
            <a:r>
              <a:t>series.plot.hist(bins=10, ax=ax) groups known values into ten value intervals and counts observations in each. Bar heights are counts, not the original measurement values.</a:t>
            </a:r>
          </a:p>
          <a:p xmlns:a="http://schemas.openxmlformats.org/drawingml/2006/main">
            <a:r>
              <a:t/>
            </a:r>
          </a:p>
          <a:p xmlns:a="http://schemas.openxmlformats.org/drawingml/2006/main">
            <a:r>
              <a:t>histogram_axes.set_xlabel('Motor temperature (°C)')</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histogram_axes.set_ylabel('Observation count')</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plt.show()</a:t>
            </a:r>
          </a:p>
          <a:p xmlns:a="http://schemas.openxmlformats.org/drawingml/2006/main">
            <a:r>
              <a:t>Evaluate the displayed statement using the values produced by the preceding statements.</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extension is ungraded and is not required to complete today’s core practice. The supplied CSV has no invalid numeric text; the expected conversion-failure count is zero. Reuse raw_data to inspect the original entries.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Converting numeric text</a:t>
            </a:r>
          </a:p>
          <a:p xmlns:a="http://schemas.openxmlformats.org/drawingml/2006/main">
            <a:r>
              <a:t>pd.to_numeric(column, errors="coerce") converts numeric values or text. Unparseable text becomes missing. Compare original and converted values so existing gaps are not counted as conversion failures.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Converting numeric text: pd.to_numeric(column, errors="coerce") converts numeric values or text. Unparseable text becomes missing. Compare original and converted values so existing gaps are not counted as conversion failures.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ambient_numbers = pd.to_numeric(raw_data['ambient_c'], errors='coerce')</a:t>
            </a:r>
          </a:p>
          <a:p xmlns:a="http://schemas.openxmlformats.org/drawingml/2006/main">
            <a:r>
              <a:t>ambient_numbers stores the result of the displayed expression.</a:t>
            </a:r>
          </a:p>
          <a:p xmlns:a="http://schemas.openxmlformats.org/drawingml/2006/main">
            <a:r>
              <a:t/>
            </a:r>
          </a:p>
          <a:p xmlns:a="http://schemas.openxmlformats.org/drawingml/2006/main">
            <a:r>
              <a:t>value_was_recorded = raw_data['ambient_c'].notna()</a:t>
            </a:r>
          </a:p>
          <a:p xmlns:a="http://schemas.openxmlformats.org/drawingml/2006/main">
            <a:r>
              <a:t>value_was_recorded stores the result of the displayed expression.</a:t>
            </a:r>
          </a:p>
          <a:p xmlns:a="http://schemas.openxmlformats.org/drawingml/2006/main">
            <a:r>
              <a:t/>
            </a:r>
          </a:p>
          <a:p xmlns:a="http://schemas.openxmlformats.org/drawingml/2006/main">
            <a:r>
              <a:t>conversion_failed = value_was_recorded &amp; ambient_numbers.isna()</a:t>
            </a:r>
          </a:p>
          <a:p xmlns:a="http://schemas.openxmlformats.org/drawingml/2006/main">
            <a:r>
              <a:t>conversion_failed stores the result of the displayed expression.</a:t>
            </a:r>
          </a:p>
          <a:p xmlns:a="http://schemas.openxmlformats.org/drawingml/2006/main">
            <a:r>
              <a:t/>
            </a:r>
          </a:p>
          <a:p xmlns:a="http://schemas.openxmlformats.org/drawingml/2006/main">
            <a:r>
              <a:t>print(int(conversion_failed.sum()))</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print(raw_data[conversion_failed].head())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0</a:t>
            </a:r>
          </a:p>
          <a:p xmlns:a="http://schemas.openxmlformats.org/drawingml/2006/main">
            <a:r>
              <a:t>Empty DataFrame</a:t>
            </a:r>
          </a:p>
          <a:p xmlns:a="http://schemas.openxmlformats.org/drawingml/2006/main">
            <a:r>
              <a:t>Columns: [record_id, equipment_id, load_pct, ambient_c, target]</a:t>
            </a:r>
          </a:p>
          <a:p xmlns:a="http://schemas.openxmlformats.org/drawingml/2006/main">
            <a:r>
              <a:t>Index: []</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parameters as inputs and return as the result passed back to the caller. records is a list of row dictionaries. pd.DataFrame turns those rows into a labelled table. Learners can revisit this after understanding the cleaning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Returning a dictionary</a:t>
            </a:r>
          </a:p>
          <a:p xmlns:a="http://schemas.openxmlformats.org/drawingml/2006/main">
            <a:r>
              <a:t>series.to_dict() maps Series labels to values. table.to_dict("records") instead returns a list of row dictionaries. Choose the form specified in the example.</a:t>
            </a:r>
          </a:p>
          <a:p xmlns:a="http://schemas.openxmlformats.org/drawingml/2006/main">
            <a:r>
              <a:t/>
            </a:r>
          </a:p>
          <a:p xmlns:a="http://schemas.openxmlformats.org/drawingml/2006/main">
            <a:r>
              <a:t>A table from Python values</a:t>
            </a:r>
          </a:p>
          <a:p xmlns:a="http://schemas.openxmlformats.org/drawingml/2006/main">
            <a:r>
              <a:t>pd.DataFrame(records) builds a table from row dictionaries. With a dictionary of column lists, keys become column names and each list supplies that column’s values.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Returning a dictionary: series.to_dict() maps Series labels to values. table.to_dict("records") instead returns a list of row dictionaries. Choose the form specified in the example.</a:t>
            </a:r>
          </a:p>
          <a:p xmlns:a="http://schemas.openxmlformats.org/drawingml/2006/main">
            <a:r>
              <a:t/>
            </a:r>
          </a:p>
          <a:p xmlns:a="http://schemas.openxmlformats.org/drawingml/2006/main">
            <a:r>
              <a:t>A table from Python values: pd.DataFrame(records) builds a table from row dictionaries. With a dictionary of column lists, keys become column names and each list supplies that column’s values.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def mean_load_by_equipment(equipment_records):</a:t>
            </a:r>
          </a:p>
          <a:p xmlns:a="http://schemas.openxmlformats.org/drawingml/2006/main">
            <a:r>
              <a:t>    equipment_data = pd.DataFrame(equipment_records)</a:t>
            </a:r>
          </a:p>
          <a:p xmlns:a="http://schemas.openxmlformats.org/drawingml/2006/main">
            <a:r>
              <a:t>    mean_load_by_group = equipment_data.groupby('equipment_id')['load_pct'].mean()</a:t>
            </a:r>
          </a:p>
          <a:p xmlns:a="http://schemas.openxmlformats.org/drawingml/2006/main">
            <a:r>
              <a:t>    return mean_load_by_group.to_dict()</a:t>
            </a:r>
          </a:p>
          <a:p xmlns:a="http://schemas.openxmlformats.org/drawingml/2006/main">
            <a:r>
              <a:t>Define the function. Explain each input before the call. Its body runs only when called; return supplies the computed value.</a:t>
            </a:r>
          </a:p>
          <a:p xmlns:a="http://schemas.openxmlformats.org/drawingml/2006/main">
            <a:r>
              <a:t/>
            </a:r>
          </a:p>
          <a:p xmlns:a="http://schemas.openxmlformats.org/drawingml/2006/main">
            <a:r>
              <a:t>raw_records = raw_data.to_dict('records')</a:t>
            </a:r>
          </a:p>
          <a:p xmlns:a="http://schemas.openxmlformats.org/drawingml/2006/main">
            <a:r>
              <a:t>raw_records stores the result of the displayed expression.</a:t>
            </a:r>
          </a:p>
          <a:p xmlns:a="http://schemas.openxmlformats.org/drawingml/2006/main">
            <a:r>
              <a:t/>
            </a:r>
          </a:p>
          <a:p xmlns:a="http://schemas.openxmlformats.org/drawingml/2006/main">
            <a:r>
              <a:t>print(mean_load_by_equipment(raw_records))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{'E1': 54.9475, 'E2': 61.326, 'E3': 53.46933333333333, 'E4': 66.854, 'E5': 48.10133333333333, 'E6': 51.54}</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issued task</a:t>
            </a:r>
          </a:p>
          <a:p xmlns:a="http://schemas.openxmlformats.org/drawingml/2006/main">
            <a:r>
              <a:t>Explanation to give</a:t>
            </a:r>
          </a:p>
          <a:p xmlns:a="http://schemas.openxmlformats.org/drawingml/2006/main">
            <a:r>
              <a:t>Name this cohort’s target and its unit exactly as displayed. Each row is one operating observation, while equipment_id can repeat across several observations.</a:t>
            </a:r>
          </a:p>
          <a:p xmlns:a="http://schemas.openxmlformats.org/drawingml/2006/main">
            <a:r>
              <a:t/>
            </a:r>
          </a:p>
          <a:p xmlns:a="http://schemas.openxmlformats.org/drawingml/2006/main">
            <a:r>
              <a:t>Worked illustration / lecturer answer</a:t>
            </a:r>
          </a:p>
          <a:p xmlns:a="http://schemas.openxmlformats.org/drawingml/2006/main">
            <a:r>
              <a:t>Explain record_id as the identifier of an observation, load_pct as load expressed in percent and ambient_c as temperature in degrees Celsius. The target records the known answer in training data.</a:t>
            </a:r>
          </a:p>
          <a:p xmlns:a="http://schemas.openxmlformats.org/drawingml/2006/main">
            <a:r>
              <a:t/>
            </a:r>
          </a:p>
          <a:p xmlns:a="http://schemas.openxmlformats.org/drawingml/2006/main">
            <a:r>
              <a:t>Misconception to address</a:t>
            </a:r>
          </a:p>
          <a:p xmlns:a="http://schemas.openxmlformats.org/drawingml/2006/main">
            <a:r>
              <a:t>These are synthetic examples for learning. They do not establish a calibrated physical relationship or justify operation of real equipment.</a:t>
            </a:r>
          </a:p>
          <a:p xmlns:a="http://schemas.openxmlformats.org/drawingml/2006/main">
            <a:r>
              <a:t/>
            </a:r>
          </a:p>
          <a:p xmlns:a="http://schemas.openxmlformats.org/drawingml/2006/main">
            <a:r>
              <a:t>On this slide</a:t>
            </a:r>
          </a:p>
          <a:p xmlns:a="http://schemas.openxmlformats.org/drawingml/2006/main">
            <a:r>
              <a:t>Investigate motor winding temperature.</a:t>
            </a:r>
          </a:p>
          <a:p xmlns:a="http://schemas.openxmlformats.org/drawingml/2006/main">
            <a:r>
              <a:t/>
            </a:r>
          </a:p>
          <a:p xmlns:a="http://schemas.openxmlformats.org/drawingml/2006/main">
            <a:r>
              <a:t>Target units: deg C.</a:t>
            </a:r>
          </a:p>
          <a:p xmlns:a="http://schemas.openxmlformats.org/drawingml/2006/main">
            <a:r>
              <a:t/>
            </a:r>
          </a:p>
          <a:p xmlns:a="http://schemas.openxmlformats.org/drawingml/2006/main">
            <a:r>
              <a:t>These are synthetic teaching records, not measurements suitable for deployment.</a:t>
            </a:r>
          </a:p>
          <a:p xmlns:a="http://schemas.openxmlformats.org/drawingml/2006/main">
            <a:r>
              <a:t/>
            </a:r>
          </a:p>
          <a:p xmlns:a="http://schemas.openxmlformats.org/drawingml/2006/main">
            <a:r>
              <a:t>Each record is one operating observation; equipment_id repeats across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clean_records(records)</a:t>
            </a:r>
          </a:p>
          <a:p xmlns:a="http://schemas.openxmlformats.org/drawingml/2006/main">
            <a:r>
              <a:t/>
            </a:r>
          </a:p>
          <a:p xmlns:a="http://schemas.openxmlformats.org/drawingml/2006/main">
            <a:r>
              <a:t>Return copied records in original order: remove repeated record_id after its first occurrence, drop rows with missing target or load_pct outside 0–100 inclusive, then fill missing ambient_c with the median of retained non-missing ambient_c values.</a:t>
            </a:r>
          </a:p>
          <a:p xmlns:a="http://schemas.openxmlformats.org/drawingml/2006/main">
            <a:r>
              <a:t/>
            </a:r>
          </a:p>
          <a:p xmlns:a="http://schemas.openxmlformats.org/drawingml/2006/main">
            <a:r>
              <a:t>Preserve raw input.</a:t>
            </a:r>
          </a:p>
          <a:p xmlns:a="http://schemas.openxmlformats.org/drawingml/2006/main">
            <a:r>
              <a:t/>
            </a:r>
          </a:p>
          <a:p xmlns:a="http://schemas.openxmlformats.org/drawingml/2006/main">
            <a:r>
              <a:t>No other changes.</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summarize_records(clean_records)</a:t>
            </a:r>
          </a:p>
          <a:p xmlns:a="http://schemas.openxmlformats.org/drawingml/2006/main">
            <a:r>
              <a:t/>
            </a:r>
          </a:p>
          <a:p xmlns:a="http://schemas.openxmlformats.org/drawingml/2006/main">
            <a:r>
              <a:t>Return count, mean, minimum, maximum of target and group_means by equipment_id.</a:t>
            </a:r>
          </a:p>
          <a:p xmlns:a="http://schemas.openxmlformats.org/drawingml/2006/main">
            <a:r>
              <a:t/>
            </a:r>
          </a:p>
          <a:p xmlns:a="http://schemas.openxmlformats.org/drawingml/2006/main">
            <a:r>
              <a:t>Retain full precision.</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audit_cleaning(raw_records, cleaned_records)</a:t>
            </a:r>
          </a:p>
          <a:p xmlns:a="http://schemas.openxmlformats.org/drawingml/2006/main">
            <a:r>
              <a:t/>
            </a:r>
          </a:p>
          <a:p xmlns:a="http://schemas.openxmlformats.org/drawingml/2006/main">
            <a:r>
              <a:t>Return raw_count and cleaned_count; duplicate_ids is the number of cleaned records beyond the first occurrence of each record_id; missing_targets counts None targets; invalid_loads counts cleaned load_pct outside 0–100 inclusive.</a:t>
            </a:r>
          </a:p>
          <a:p xmlns:a="http://schemas.openxmlformats.org/drawingml/2006/main">
            <a:r>
              <a:t/>
            </a:r>
          </a:p>
          <a:p xmlns:a="http://schemas.openxmlformats.org/drawingml/2006/main">
            <a:r>
              <a:t>Report the actual supplied data, which may still contain defects.</a:t>
            </a:r>
          </a:p>
          <a:p xmlns:a="http://schemas.openxmlformats.org/drawingml/2006/main">
            <a:r>
              <a:t/>
            </a:r>
          </a:p>
          <a:p xmlns:a="http://schemas.openxmlformats.org/drawingml/2006/main">
            <a:r>
              <a:t>Do not change either input.</a:t>
            </a:r>
          </a:p>
          <a:p xmlns:a="http://schemas.openxmlformats.org/drawingml/2006/main">
            <a:r>
              <a:t/>
            </a:r>
          </a:p>
          <a:p xmlns:a="http://schemas.openxmlformats.org/drawingml/2006/main">
            <a:r>
              <a:t>All five values are integer counts.</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Written evidence</a:t>
            </a:r>
          </a:p>
          <a:p xmlns:a="http://schemas.openxmlformats.org/drawingml/2006/main">
            <a:r>
              <a:t>Explanation to give</a:t>
            </a:r>
          </a:p>
          <a:p xmlns:a="http://schemas.openxmlformats.org/drawingml/2006/main">
            <a:r>
              <a:t>Show the actual markdown answer cell headed My written evidence. This is where the learner explains the choices and the supplied scenario in their own words.</a:t>
            </a:r>
          </a:p>
          <a:p xmlns:a="http://schemas.openxmlformats.org/drawingml/2006/main">
            <a:r>
              <a:t/>
            </a:r>
          </a:p>
          <a:p xmlns:a="http://schemas.openxmlformats.org/drawingml/2006/main">
            <a:r>
              <a:t>Worked illustration / lecturer answer</a:t>
            </a:r>
          </a:p>
          <a:p xmlns:a="http://schemas.openxmlformats.org/drawingml/2006/main">
            <a:r>
              <a:t>A useful explanation connects a decision to a named result and its limitation: for example, why a training-only median avoids using evaluation information. Describe supplied scenario figures as supplied, not as measurements the learner produced.</a:t>
            </a:r>
          </a:p>
          <a:p xmlns:a="http://schemas.openxmlformats.org/drawingml/2006/main">
            <a:r>
              <a:t/>
            </a:r>
          </a:p>
          <a:p xmlns:a="http://schemas.openxmlformats.org/drawingml/2006/main">
            <a:r>
              <a:t>Misconception to address</a:t>
            </a:r>
          </a:p>
          <a:p xmlns:a="http://schemas.openxmlformats.org/drawingml/2006/main">
            <a:r>
              <a:t>Prompts and copied code comments do not substitute for the learner’s reasoning. Weekly work and tests use the notebook; projects also require their separate readable report.</a:t>
            </a:r>
          </a:p>
          <a:p xmlns:a="http://schemas.openxmlformats.org/drawingml/2006/main">
            <a:r>
              <a:t/>
            </a:r>
          </a:p>
          <a:p xmlns:a="http://schemas.openxmlformats.org/drawingml/2006/main">
            <a:r>
              <a:t>On this slide</a:t>
            </a:r>
          </a:p>
          <a:p xmlns:a="http://schemas.openxmlformats.org/drawingml/2006/main">
            <a:r>
              <a:t>Use the cell headed “My written evidence”.</a:t>
            </a:r>
          </a:p>
          <a:p xmlns:a="http://schemas.openxmlformats.org/drawingml/2006/main">
            <a:r>
              <a:t/>
            </a:r>
          </a:p>
          <a:p xmlns:a="http://schemas.openxmlformats.org/drawingml/2006/main">
            <a:r>
              <a:t>Explain the supplied scenario in your own words.</a:t>
            </a:r>
          </a:p>
          <a:p xmlns:a="http://schemas.openxmlformats.org/drawingml/2006/main">
            <a:r>
              <a:t/>
            </a:r>
          </a:p>
          <a:p xmlns:a="http://schemas.openxmlformats.org/drawingml/2006/main">
            <a:r>
              <a:t>State target units, reasons and limitations.</a:t>
            </a:r>
          </a:p>
          <a:p xmlns:a="http://schemas.openxmlformats.org/drawingml/2006/main">
            <a:r>
              <a:t/>
            </a:r>
          </a:p>
          <a:p xmlns:a="http://schemas.openxmlformats.org/drawingml/2006/main">
            <a:r>
              <a:t>Submit one complete notebook containing code and written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Cleaning and quality submission</a:t>
            </a:r>
          </a:p>
          <a:p xmlns:a="http://schemas.openxmlformats.org/drawingml/2006/main">
            <a:r>
              <a:t>Explanation to give</a:t>
            </a:r>
          </a:p>
          <a:p xmlns:a="http://schemas.openxmlformats.org/drawingml/2006/main">
            <a:r>
              <a:t>This slide hands over CML3111 W06. Show the exact form title before uploading. The required packet is one completed .ipynb notebook.</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2026-10-23T11:00:00+03:00.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16 Oct 2026, 11:00 Kampala</a:t>
            </a:r>
          </a:p>
          <a:p xmlns:a="http://schemas.openxmlformats.org/drawingml/2006/main">
            <a:r>
              <a:t/>
            </a:r>
          </a:p>
          <a:p xmlns:a="http://schemas.openxmlformats.org/drawingml/2006/main">
            <a:r>
              <a:t>Deadline: 23 Oct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preparation</a:t>
            </a:r>
          </a:p>
          <a:p xmlns:a="http://schemas.openxmlformats.org/drawingml/2006/main">
            <a:r>
              <a:t>Explanation to give</a:t>
            </a:r>
          </a:p>
          <a:p xmlns:a="http://schemas.openxmlformats.org/drawingml/2006/main">
            <a:r>
              <a:t>Make contribution evidence specific enough to check. A seed records the starting state of random choices; a contribution log records who produced and explained which work.</a:t>
            </a:r>
          </a:p>
          <a:p xmlns:a="http://schemas.openxmlformats.org/drawingml/2006/main">
            <a:r>
              <a:t/>
            </a:r>
          </a:p>
          <a:p xmlns:a="http://schemas.openxmlformats.org/drawingml/2006/main">
            <a:r>
              <a:t>Worked illustration / lecturer answer</a:t>
            </a:r>
          </a:p>
          <a:p xmlns:a="http://schemas.openxmlformats.org/drawingml/2006/main">
            <a:r>
              <a:t>Name a file, function or chart and the decision behind it. Match that entry to meaningful repository history. Disclose AI assistance according to the assessment policy.</a:t>
            </a:r>
          </a:p>
          <a:p xmlns:a="http://schemas.openxmlformats.org/drawingml/2006/main">
            <a:r>
              <a:t/>
            </a:r>
          </a:p>
          <a:p xmlns:a="http://schemas.openxmlformats.org/drawingml/2006/main">
            <a:r>
              <a:t>Misconception to address</a:t>
            </a:r>
          </a:p>
          <a:p xmlns:a="http://schemas.openxmlformats.org/drawingml/2006/main">
            <a:r>
              <a:t>Many commits do not necessarily mean substantial work, and a seed does not establish accuracy. Both are supporting evidence, not replacements for the analysis.</a:t>
            </a:r>
          </a:p>
          <a:p xmlns:a="http://schemas.openxmlformats.org/drawingml/2006/main">
            <a:r>
              <a:t/>
            </a:r>
          </a:p>
          <a:p xmlns:a="http://schemas.openxmlformats.org/drawingml/2006/main">
            <a:r>
              <a:t>On this slide</a:t>
            </a:r>
          </a:p>
          <a:p xmlns:a="http://schemas.openxmlformats.org/drawingml/2006/main">
            <a:r>
              <a:t>Use the published data analysis project brief.</a:t>
            </a:r>
          </a:p>
          <a:p xmlns:a="http://schemas.openxmlformats.org/drawingml/2006/main">
            <a:r>
              <a:t/>
            </a:r>
          </a:p>
          <a:p xmlns:a="http://schemas.openxmlformats.org/drawingml/2006/main">
            <a:r>
              <a:t>Build the evidence gradually in your project notebook.</a:t>
            </a:r>
          </a:p>
          <a:p xmlns:a="http://schemas.openxmlformats.org/drawingml/2006/main">
            <a:r>
              <a:t/>
            </a:r>
          </a:p>
          <a:p xmlns:a="http://schemas.openxmlformats.org/drawingml/2006/main">
            <a:r>
              <a:t>Keep raw data, labelled charts, run instructions and individual contributions.</a:t>
            </a:r>
          </a:p>
          <a:p xmlns:a="http://schemas.openxmlformats.org/drawingml/2006/main">
            <a:r>
              <a:t/>
            </a:r>
          </a:p>
          <a:p xmlns:a="http://schemas.openxmlformats.org/drawingml/2006/main">
            <a:r>
              <a:t>Published deadline: 30 Oct 2026, 11:00 Kampala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6 quiz</a:t>
            </a:r>
          </a:p>
          <a:p xmlns:a="http://schemas.openxmlformats.org/drawingml/2006/main">
            <a:r>
              <a:t>Explanation to give</a:t>
            </a:r>
          </a:p>
          <a:p xmlns:a="http://schemas.openxmlformats.org/drawingml/2006/main">
            <a:r>
              <a:t>This is the CML3111 Week 6 quiz. The student link opens the response form; it does not activate its window. In Quiz Controls use open_W6_CML3111 when ready and read the logged closing time.</a:t>
            </a:r>
          </a:p>
          <a:p xmlns:a="http://schemas.openxmlformats.org/drawingml/2006/main">
            <a:r>
              <a:t/>
            </a:r>
          </a:p>
          <a:p xmlns:a="http://schemas.openxmlformats.org/drawingml/2006/main">
            <a:r>
              <a:t>Worked illustration / lecturer answer</a:t>
            </a:r>
          </a:p>
          <a:p xmlns:a="http://schemas.openxmlformats.org/drawingml/2006/main">
            <a:r>
              <a:t>Explain the distinction between the expected answering time and availability: five minutes of questions can still be available for 24 hours after activation. Enter the learner’s own Student Registration Number and use the registered Google account.</a:t>
            </a:r>
          </a:p>
          <a:p xmlns:a="http://schemas.openxmlformats.org/drawingml/2006/main">
            <a:r>
              <a:t/>
            </a:r>
          </a:p>
          <a:p xmlns:a="http://schemas.openxmlformats.org/drawingml/2006/main">
            <a:r>
              <a:t>Misconception to address</a:t>
            </a:r>
          </a:p>
          <a:p xmlns:a="http://schemas.openxmlformats.org/drawingml/2006/main">
            <a:r>
              <a:t>Read the exact live cutoff before announcing it. Do not promise a new attempt to somebody who already submitted. Quiz catch-up and assignment uploads are separate forms.</a:t>
            </a:r>
          </a:p>
          <a:p xmlns:a="http://schemas.openxmlformats.org/drawingml/2006/main">
            <a:r>
              <a:t/>
            </a:r>
          </a:p>
          <a:p xmlns:a="http://schemas.openxmlformats.org/drawingml/2006/main">
            <a:r>
              <a:t>On this slide</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Check the announced quiz closing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and submission checklist</a:t>
            </a:r>
          </a:p>
          <a:p xmlns:a="http://schemas.openxmlformats.org/drawingml/2006/main">
            <a:r>
              <a:t>Explanation to give</a:t>
            </a:r>
          </a:p>
          <a:p xmlns:a="http://schemas.openxmlformats.org/drawingml/2006/main">
            <a:r>
              <a:t>Inspect quality before interpreting a chart. Preserve raw records and justify each removal or estimated value.</a:t>
            </a:r>
          </a:p>
          <a:p xmlns:a="http://schemas.openxmlformats.org/drawingml/2006/main">
            <a:r>
              <a:t/>
            </a:r>
          </a:p>
          <a:p xmlns:a="http://schemas.openxmlformats.org/drawingml/2006/main">
            <a:r>
              <a:t>Worked illustration / lecturer answer</a:t>
            </a:r>
          </a:p>
          <a:p xmlns:a="http://schemas.openxmlformats.org/drawingml/2006/main">
            <a:r>
              <a:t>A blank is not a measured zero. With observed values 20 and 24, median filling would insert an estimate of 22, which must be recorded as estimated.</a:t>
            </a:r>
          </a:p>
          <a:p xmlns:a="http://schemas.openxmlformats.org/drawingml/2006/main">
            <a:r>
              <a:t/>
            </a:r>
          </a:p>
          <a:p xmlns:a="http://schemas.openxmlformats.org/drawingml/2006/main">
            <a:r>
              <a:t>Misconception to address</a:t>
            </a:r>
          </a:p>
          <a:p xmlns:a="http://schemas.openxmlformats.org/drawingml/2006/main">
            <a:r>
              <a:t>Close by identifying the actual saved file and its correct submission route. Read the live deadline. For current weekly notebook tasks, students upload their own work, not the practice notebook, ZIP or grading files.</a:t>
            </a:r>
          </a:p>
          <a:p xmlns:a="http://schemas.openxmlformats.org/drawingml/2006/main">
            <a:r>
              <a:t/>
            </a:r>
          </a:p>
          <a:p xmlns:a="http://schemas.openxmlformats.org/drawingml/2006/main">
            <a:r>
              <a:t>On this slide</a:t>
            </a:r>
          </a:p>
          <a:p xmlns:a="http://schemas.openxmlformats.org/drawingml/2006/main">
            <a:r>
              <a:t>You can justify a change, show its effect and identify an estimated value.</a:t>
            </a:r>
          </a:p>
          <a:p xmlns:a="http://schemas.openxmlformats.org/drawingml/2006/main">
            <a:r>
              <a:t/>
            </a:r>
          </a:p>
          <a:p xmlns:a="http://schemas.openxmlformats.org/drawingml/2006/main">
            <a:r>
              <a:t>Save your work and check the required submission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revision video</a:t>
            </a:r>
          </a:p>
          <a:p xmlns:a="http://schemas.openxmlformats.org/drawingml/2006/main">
            <a:r>
              <a:t>Explanation to give</a:t>
            </a:r>
          </a:p>
          <a:p xmlns:a="http://schemas.openxmlformats.org/drawingml/2006/main">
            <a:r>
              <a:t>Give the viewing question before playing the excerpt: What does the box show, and does a point outside it prove an error?</a:t>
            </a:r>
          </a:p>
          <a:p xmlns:a="http://schemas.openxmlformats.org/drawingml/2006/main">
            <a:r>
              <a:t/>
            </a:r>
          </a:p>
          <a:p xmlns:a="http://schemas.openxmlformats.org/drawingml/2006/main">
            <a:r>
              <a:t>Worked illustration / lecturer answer</a:t>
            </a:r>
          </a:p>
          <a:p xmlns:a="http://schemas.openxmlformats.org/drawingml/2006/main">
            <a:r>
              <a:t>Use the adjacent worked example as the explanation if the video cannot load. Pause after the relevant example and connect its terms to the names and units already used in this lesson. Preview the displayed link and excerpt before class.</a:t>
            </a:r>
          </a:p>
          <a:p xmlns:a="http://schemas.openxmlformats.org/drawingml/2006/main">
            <a:r>
              <a:t/>
            </a:r>
          </a:p>
          <a:p xmlns:a="http://schemas.openxmlformats.org/drawingml/2006/main">
            <a:r>
              <a:t>Misconception to address</a:t>
            </a:r>
          </a:p>
          <a:p xmlns:a="http://schemas.openxmlformats.org/drawingml/2006/main">
            <a:r>
              <a:t>The video is supporting revision, not a replacement for defining the symbols or a requirement to watch a full tutorial during limited class time.</a:t>
            </a:r>
          </a:p>
          <a:p xmlns:a="http://schemas.openxmlformats.org/drawingml/2006/main">
            <a:r>
              <a:t/>
            </a:r>
          </a:p>
          <a:p xmlns:a="http://schemas.openxmlformats.org/drawingml/2006/main">
            <a:r>
              <a:t>On this slide</a:t>
            </a:r>
          </a:p>
          <a:p xmlns:a="http://schemas.openxmlformats.org/drawingml/2006/main">
            <a:r>
              <a:t>For revision after class.</a:t>
            </a:r>
          </a:p>
          <a:p xmlns:a="http://schemas.openxmlformats.org/drawingml/2006/main">
            <a:r>
              <a:t/>
            </a:r>
          </a:p>
          <a:p xmlns:a="http://schemas.openxmlformats.org/drawingml/2006/main">
            <a:r>
              <a:t>StatQuest with Josh Starmer</a:t>
            </a:r>
          </a:p>
          <a:p xmlns:a="http://schemas.openxmlformats.org/drawingml/2006/main">
            <a:r>
              <a:t>Boxplots are Awesome!!!</a:t>
            </a:r>
          </a:p>
          <a:p xmlns:a="http://schemas.openxmlformats.org/drawingml/2006/main">
            <a:r>
              <a:t/>
            </a:r>
          </a:p>
          <a:p xmlns:a="http://schemas.openxmlformats.org/drawingml/2006/main">
            <a:r>
              <a:t>Opening up to 04:00, optional preview-selected excerpt</a:t>
            </a:r>
          </a:p>
          <a:p xmlns:a="http://schemas.openxmlformats.org/drawingml/2006/main">
            <a:r>
              <a:t/>
            </a:r>
          </a:p>
          <a:p xmlns:a="http://schemas.openxmlformats.org/drawingml/2006/main">
            <a:r>
              <a:t>Listening question: What does the box show, and does a point outside it prove an error?</a:t>
            </a:r>
          </a:p>
          <a:p xmlns:a="http://schemas.openxmlformats.org/drawingml/2006/main">
            <a:r>
              <a:t/>
            </a:r>
          </a:p>
          <a:p xmlns:a="http://schemas.openxmlformats.org/drawingml/2006/main">
            <a:r>
              <a:t>Reference / existing resource</a:t>
            </a:r>
          </a:p>
          <a:p xmlns:a="http://schemas.openxmlformats.org/drawingml/2006/main">
            <a:r>
              <a:t>https://www.youtube.com/watch?v=fHLhBnmwUM0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43a980b1784a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42391b2b7c5437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ebbcf8fdef49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8a32e39e364a5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f684e2ca85494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582a1deeb444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709E9E-13AE-4369-9825-3276C44366AA}"/>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0E4A812-A7DD-4479-8E64-04FFB00B2C57}"/>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A7C2E5-F00C-494C-99A3-FD91DF869801}"/>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ADED9D-7AEE-4B31-89E8-A75897D68790}"/>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AC078B7-5B84-441A-B557-F0D9C9800D95}"/>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D4E88C-22AC-4B45-8BCF-7A5D51040BF7}"/>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961CBA-6723-483E-A4D3-96B91A25E8FA}"/>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FF32C20-4D6E-47AF-A1D2-3B41ADAC1FFA}"/>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600530-3518-452C-B62E-1B371E3F88F2}"/>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0B4C89-B124-4BA8-8C24-6B160C4C2724}"/>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fcd197786a4761" /><Relationship Type="http://schemas.openxmlformats.org/officeDocument/2006/relationships/slideLayout" Target="/ppt/slideLayouts/slideLayout1.xml" Id="R323704539e344921" /><Relationship Type="http://schemas.openxmlformats.org/officeDocument/2006/relationships/slideLayout" Target="/ppt/slideLayouts/slideLayout2.xml" Id="R8014d8cfb053460d" /><Relationship Type="http://schemas.openxmlformats.org/officeDocument/2006/relationships/slideLayout" Target="/ppt/slideLayouts/slideLayout3.xml" Id="R00ce150d6c924ae7" /><Relationship Type="http://schemas.openxmlformats.org/officeDocument/2006/relationships/slideLayout" Target="/ppt/slideLayouts/slideLayout4.xml" Id="R9920cffe09154f6d" /><Relationship Type="http://schemas.openxmlformats.org/officeDocument/2006/relationships/slideLayout" Target="/ppt/slideLayouts/slideLayout5.xml" Id="Rf1fe71f68c68438c" /><Relationship Type="http://schemas.openxmlformats.org/officeDocument/2006/relationships/slideLayout" Target="/ppt/slideLayouts/slideLayout6.xml" Id="Rf3de00a7127c49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3704539e344921"/>
    <p:sldLayoutId xmlns:r="http://schemas.openxmlformats.org/officeDocument/2006/relationships" id="2147483650" r:id="R8014d8cfb053460d"/>
    <p:sldLayoutId xmlns:r="http://schemas.openxmlformats.org/officeDocument/2006/relationships" id="2147483651" r:id="R00ce150d6c924ae7"/>
    <p:sldLayoutId xmlns:r="http://schemas.openxmlformats.org/officeDocument/2006/relationships" id="2147483652" r:id="R9920cffe09154f6d"/>
    <p:sldLayoutId xmlns:r="http://schemas.openxmlformats.org/officeDocument/2006/relationships" id="2147483653" r:id="Rf1fe71f68c68438c"/>
    <p:sldLayoutId xmlns:r="http://schemas.openxmlformats.org/officeDocument/2006/relationships" id="2147483654" r:id="Rf3de00a7127c49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1fa0a5b4c934326" /><Relationship Type="http://schemas.openxmlformats.org/officeDocument/2006/relationships/image" Target="/ppt/media/image.png" Id="Rf938368d9cc74cf8" /><Relationship Type="http://schemas.openxmlformats.org/officeDocument/2006/relationships/notesSlide" Target="/ppt/notesSlides/notesSlide1.xml" Id="R9a724a7bf06d44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126190de0d64b7e" /><Relationship Type="http://schemas.openxmlformats.org/officeDocument/2006/relationships/notesSlide" Target="/ppt/notesSlides/notesSlide2.xml" Id="R629a1000d97d46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1f48960c89148c2" /><Relationship Type="http://schemas.openxmlformats.org/officeDocument/2006/relationships/notesSlide" Target="/ppt/notesSlides/notesSlide3.xml" Id="Re2791405618142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a0269601adb4f19" /><Relationship Type="http://schemas.openxmlformats.org/officeDocument/2006/relationships/notesSlide" Target="/ppt/notesSlides/notesSlide4.xml" Id="Rc7d402e1781640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eeff1bd8eb24351" /><Relationship Type="http://schemas.openxmlformats.org/officeDocument/2006/relationships/notesSlide" Target="/ppt/notesSlides/notesSlide5.xml" Id="R3b1e426d245b46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edd52ca8b454f5d" /><Relationship Type="http://schemas.openxmlformats.org/officeDocument/2006/relationships/notesSlide" Target="/ppt/notesSlides/notesSlide6.xml" Id="Rf6b3599ed4bc46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c83b7e9224944a5" /><Relationship Type="http://schemas.openxmlformats.org/officeDocument/2006/relationships/notesSlide" Target="/ppt/notesSlides/notesSlide7.xml" Id="R76fc766835ad40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3c9019d884f4a34" /><Relationship Type="http://schemas.openxmlformats.org/officeDocument/2006/relationships/notesSlide" Target="/ppt/notesSlides/notesSlide8.xml" Id="Rbb1216290252436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40b2263c01c441b" /><Relationship Type="http://schemas.openxmlformats.org/officeDocument/2006/relationships/notesSlide" Target="/ppt/notesSlides/notesSlide9.xml" Id="Rb13c18542fe84c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6ca30ee8a634f49" /><Relationship Type="http://schemas.openxmlformats.org/officeDocument/2006/relationships/notesSlide" Target="/ppt/notesSlides/notesSlide10.xml" Id="Rc194c8a617a244c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0f03445fbbe48fe" /><Relationship Type="http://schemas.openxmlformats.org/officeDocument/2006/relationships/notesSlide" Target="/ppt/notesSlides/notesSlide11.xml" Id="Rf284db0e89eb40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01c8c6da0104d75" /><Relationship Type="http://schemas.openxmlformats.org/officeDocument/2006/relationships/notesSlide" Target="/ppt/notesSlides/notesSlide12.xml" Id="Rca67131ed7874f0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0a28388dbfc4cef" /><Relationship Type="http://schemas.openxmlformats.org/officeDocument/2006/relationships/notesSlide" Target="/ppt/notesSlides/notesSlide13.xml" Id="R03a200959478450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b2c87acef044ba4" /><Relationship Type="http://schemas.openxmlformats.org/officeDocument/2006/relationships/notesSlide" Target="/ppt/notesSlides/notesSlide14.xml" Id="Rbe1a415dca3f4ee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39d45630b454db9" /><Relationship Type="http://schemas.openxmlformats.org/officeDocument/2006/relationships/notesSlide" Target="/ppt/notesSlides/notesSlide15.xml" Id="Re3370d6eb27648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8d8f4354f364f00" /><Relationship Type="http://schemas.openxmlformats.org/officeDocument/2006/relationships/notesSlide" Target="/ppt/notesSlides/notesSlide16.xml" Id="R721ec656bb2442a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6b9dee3e53743f2" /><Relationship Type="http://schemas.openxmlformats.org/officeDocument/2006/relationships/notesSlide" Target="/ppt/notesSlides/notesSlide17.xml" Id="R6dea0f60061b4f0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0fca62037724644" /><Relationship Type="http://schemas.openxmlformats.org/officeDocument/2006/relationships/notesSlide" Target="/ppt/notesSlides/notesSlide18.xml" Id="R419adbe5735c4ce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6550c6dbf10436c" /><Relationship Type="http://schemas.openxmlformats.org/officeDocument/2006/relationships/notesSlide" Target="/ppt/notesSlides/notesSlide19.xml" Id="R2ef560bd2d804f8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d2190c8929d438a" /><Relationship Type="http://schemas.openxmlformats.org/officeDocument/2006/relationships/notesSlide" Target="/ppt/notesSlides/notesSlide20.xml" Id="Rc92681143660409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2901ca954d4461e" /><Relationship Type="http://schemas.openxmlformats.org/officeDocument/2006/relationships/notesSlide" Target="/ppt/notesSlides/notesSlide21.xml" Id="R21b9bd2d9cd3454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a11018787874c24" /><Relationship Type="http://schemas.openxmlformats.org/officeDocument/2006/relationships/notesSlide" Target="/ppt/notesSlides/notesSlide22.xml" Id="R6d4d1da987fe42f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1ae9094801a4c71" /><Relationship Type="http://schemas.openxmlformats.org/officeDocument/2006/relationships/notesSlide" Target="/ppt/notesSlides/notesSlide23.xml" Id="Rd44360faaa534eb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41aae22c61147c2" /><Relationship Type="http://schemas.openxmlformats.org/officeDocument/2006/relationships/notesSlide" Target="/ppt/notesSlides/notesSlide24.xml" Id="Rf898ff5972c44a8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3dfffd8013b45b5" /><Relationship Type="http://schemas.openxmlformats.org/officeDocument/2006/relationships/notesSlide" Target="/ppt/notesSlides/notesSlide25.xml" Id="R96462f23a1174e3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def066574d241fa" /><Relationship Type="http://schemas.openxmlformats.org/officeDocument/2006/relationships/notesSlide" Target="/ppt/notesSlides/notesSlide26.xml" Id="Rf2d550fcafcf4a9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f3830a9a5684407" /><Relationship Type="http://schemas.openxmlformats.org/officeDocument/2006/relationships/notesSlide" Target="/ppt/notesSlides/notesSlide27.xml" Id="R681af4a1fed8456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c0608bedd8e4c9b" /><Relationship Type="http://schemas.openxmlformats.org/officeDocument/2006/relationships/notesSlide" Target="/ppt/notesSlides/notesSlide28.xml" Id="R96ab9ab350294a3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aa21159cc5b4131" /><Relationship Type="http://schemas.openxmlformats.org/officeDocument/2006/relationships/notesSlide" Target="/ppt/notesSlides/notesSlide29.xml" Id="R90fdad4d0ee24d3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fa88548adbf4661" /><Relationship Type="http://schemas.openxmlformats.org/officeDocument/2006/relationships/notesSlide" Target="/ppt/notesSlides/notesSlide30.xml" Id="R6cb1439d2595465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262dcf2a549416d" /><Relationship Type="http://schemas.openxmlformats.org/officeDocument/2006/relationships/notesSlide" Target="/ppt/notesSlides/notesSlide31.xml" Id="Ra075c2af4cda464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622a88b500d46f8" /><Relationship Type="http://schemas.openxmlformats.org/officeDocument/2006/relationships/notesSlide" Target="/ppt/notesSlides/notesSlide32.xml" Id="R81deb5b9b7724f7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71805da0a0d4bd3" /><Relationship Type="http://schemas.openxmlformats.org/officeDocument/2006/relationships/notesSlide" Target="/ppt/notesSlides/notesSlide33.xml" Id="R22acb887f0c045e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b9c48da50e14b2c" /><Relationship Type="http://schemas.openxmlformats.org/officeDocument/2006/relationships/notesSlide" Target="/ppt/notesSlides/notesSlide34.xml" Id="R9fb8baf9ba1e4fb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7ae51e3b7934bbb" /><Relationship Type="http://schemas.openxmlformats.org/officeDocument/2006/relationships/notesSlide" Target="/ppt/notesSlides/notesSlide35.xml" Id="R38707e62beb0467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cc7a7b117f784f6b" /><Relationship Type="http://schemas.openxmlformats.org/officeDocument/2006/relationships/notesSlide" Target="/ppt/notesSlides/notesSlide36.xml" Id="Rc58885bd8afa4f6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6eea50a563a410a" /><Relationship Type="http://schemas.openxmlformats.org/officeDocument/2006/relationships/notesSlide" Target="/ppt/notesSlides/notesSlide37.xml" Id="Rda431592eeaf44e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65876a121644556" /><Relationship Type="http://schemas.openxmlformats.org/officeDocument/2006/relationships/notesSlide" Target="/ppt/notesSlides/notesSlide38.xml" Id="R3f4ba8601b19473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415766c882414830" /><Relationship Type="http://schemas.openxmlformats.org/officeDocument/2006/relationships/image" Target="/ppt/media/image2.png" Id="R9ff7ac2536a645c1" /><Relationship Type="http://schemas.openxmlformats.org/officeDocument/2006/relationships/notesSlide" Target="/ppt/notesSlides/notesSlide39.xml" Id="R58486d98c0bb45f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282c9ed09c354a8a" /><Relationship Type="http://schemas.openxmlformats.org/officeDocument/2006/relationships/notesSlide" Target="/ppt/notesSlides/notesSlide40.xml" Id="Rc8fed3b91768406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1b10215678e47bf" /><Relationship Type="http://schemas.openxmlformats.org/officeDocument/2006/relationships/notesSlide" Target="/ppt/notesSlides/notesSlide41.xml" Id="R0c41e5112d0c488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083efe4b4ecb4e12" /><Relationship Type="http://schemas.openxmlformats.org/officeDocument/2006/relationships/notesSlide" Target="/ppt/notesSlides/notesSlide42.xml" Id="R379426d7a4174b3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2fb37d5093c645b8" /><Relationship Type="http://schemas.openxmlformats.org/officeDocument/2006/relationships/notesSlide" Target="/ppt/notesSlides/notesSlide43.xml" Id="R49bb06af5081478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d025ab64fb7d4bc0" /><Relationship Type="http://schemas.openxmlformats.org/officeDocument/2006/relationships/notesSlide" Target="/ppt/notesSlides/notesSlide44.xml" Id="Ra833065d80f24c6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a90055fd5be24a3d" /><Relationship Type="http://schemas.openxmlformats.org/officeDocument/2006/relationships/notesSlide" Target="/ppt/notesSlides/notesSlide45.xml" Id="R0a2ee41fc7ed41c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107cd4ba8a9f4498" /><Relationship Type="http://schemas.openxmlformats.org/officeDocument/2006/relationships/notesSlide" Target="/ppt/notesSlides/notesSlide46.xml" Id="R061325aaac5a4e6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946a47bedf974fc9" /><Relationship Type="http://schemas.openxmlformats.org/officeDocument/2006/relationships/notesSlide" Target="/ppt/notesSlides/notesSlide47.xml" Id="R15d0c7bff2f8436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c359bd7ccd074b2b" /><Relationship Type="http://schemas.openxmlformats.org/officeDocument/2006/relationships/notesSlide" Target="/ppt/notesSlides/notesSlide48.xml" Id="R4816115c883a426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83e9b41840624e85" /><Relationship Type="http://schemas.openxmlformats.org/officeDocument/2006/relationships/notesSlide" Target="/ppt/notesSlides/notesSlide49.xml" Id="Rf43a73527475432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f82b49689d874003" /><Relationship Type="http://schemas.openxmlformats.org/officeDocument/2006/relationships/notesSlide" Target="/ppt/notesSlides/notesSlide50.xml" Id="Re946bbdf941a411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8a06c12873054c8c" /><Relationship Type="http://schemas.openxmlformats.org/officeDocument/2006/relationships/notesSlide" Target="/ppt/notesSlides/notesSlide51.xml" Id="R760a15babc70492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398b05dd213e4eaf" /><Relationship Type="http://schemas.openxmlformats.org/officeDocument/2006/relationships/notesSlide" Target="/ppt/notesSlides/notesSlide52.xml" Id="Rab241e4b8d1840f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f0d8f380385841ac" /><Relationship Type="http://schemas.openxmlformats.org/officeDocument/2006/relationships/notesSlide" Target="/ppt/notesSlides/notesSlide53.xml" Id="Rf77b47dcf13f4a2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87addb66ac0542c3" /><Relationship Type="http://schemas.openxmlformats.org/officeDocument/2006/relationships/notesSlide" Target="/ppt/notesSlides/notesSlide54.xml" Id="R19195590d41b46ab"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1b8d219cc04040cb" /><Relationship Type="http://schemas.openxmlformats.org/officeDocument/2006/relationships/notesSlide" Target="/ppt/notesSlides/notesSlide55.xml" Id="R5a6a1f29c5974f89"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96e02441642e4236" /><Relationship Type="http://schemas.openxmlformats.org/officeDocument/2006/relationships/notesSlide" Target="/ppt/notesSlides/notesSlide56.xml" Id="R288825f528fc483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10ae69b112594f25" /><Relationship Type="http://schemas.openxmlformats.org/officeDocument/2006/relationships/hyperlink" Target="https://docs.google.com/forms/d/e/1FAIpQLSfcvyIDBXQG0fnr8EYsAHCsFatx8MDwAjzct3kPMz2JgAPxZQ/viewform" TargetMode="External" Id="R0f4eda47fdde4944" /><Relationship Type="http://schemas.openxmlformats.org/officeDocument/2006/relationships/notesSlide" Target="/ppt/notesSlides/notesSlide57.xml" Id="Re2f9dedf0c784ab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975ee8f994024f2b" /><Relationship Type="http://schemas.openxmlformats.org/officeDocument/2006/relationships/notesSlide" Target="/ppt/notesSlides/notesSlide58.xml" Id="Rc3ff62e80fb34ee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feb2850879c44233" /><Relationship Type="http://schemas.openxmlformats.org/officeDocument/2006/relationships/image" Target="/ppt/media/image3.png" Id="R8b382401f4b94a1e" /><Relationship Type="http://schemas.openxmlformats.org/officeDocument/2006/relationships/hyperlink" Target="https://forms.gle/BwRZGzPvSzTwDqaH6" TargetMode="External" Id="Re5617b9d51db4b11" /><Relationship Type="http://schemas.openxmlformats.org/officeDocument/2006/relationships/notesSlide" Target="/ppt/notesSlides/notesSlide59.xml" Id="R2aa24c778d414bf3"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527df840332a4b27" /><Relationship Type="http://schemas.openxmlformats.org/officeDocument/2006/relationships/notesSlide" Target="/ppt/notesSlides/notesSlide60.xml" Id="Rac2a024312a34f5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ecf02c38a53a4289" /><Relationship Type="http://schemas.openxmlformats.org/officeDocument/2006/relationships/hyperlink" Target="https://www.youtube.com/watch?v=fHLhBnmwUM0" TargetMode="External" Id="Rfee6393e64664b15" /><Relationship Type="http://schemas.openxmlformats.org/officeDocument/2006/relationships/notesSlide" Target="/ppt/notesSlides/notesSlide61.xml" Id="R47ef447980af47e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86D78BF-F72A-4B51-8604-2B5599F94B35}"/>
              </a:ext>
            </a:extLst>
          </p:cNvPr>
          <p:cNvPicPr>
            <a:picLocks xmlns:a="http://schemas.openxmlformats.org/drawingml/2006/main" noChangeAspect="1"/>
          </p:cNvPicPr>
          <p:nvPr/>
        </p:nvPicPr>
        <p:blipFill>
          <a:blip xmlns:r="http://schemas.openxmlformats.org/officeDocument/2006/relationships" xmlns:a="http://schemas.openxmlformats.org/drawingml/2006/main" r:embed="Rf938368d9cc74cf8"/>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FC9A0F-EE49-4FF7-BA26-5B802F0D6707}"/>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4148415-CDCE-4660-8DE1-DE5CCB02FA2C}"/>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6</a:t>
            </a:r>
          </a:p>
        </p:txBody>
      </p:sp>
      <p:sp>
        <p:nvSpPr>
          <p:cNvPr id="4" name="">
            <a:extLst xmlns:a="http://schemas.openxmlformats.org/drawingml/2006/main">
              <a:ext uri="{FF2B5EF4-FFF2-40B4-BE49-F238E27FC236}">
                <a16:creationId xmlns:a16="http://schemas.microsoft.com/office/drawing/2014/main" id="{5B3AF2C0-2CA4-484C-A606-CAA307986C9A}"/>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Cleaning data and explaining changes</a:t>
            </a:r>
          </a:p>
        </p:txBody>
      </p:sp>
      <p:sp>
        <p:nvSpPr>
          <p:cNvPr id="5" name="">
            <a:extLst xmlns:a="http://schemas.openxmlformats.org/drawingml/2006/main">
              <a:ext uri="{FF2B5EF4-FFF2-40B4-BE49-F238E27FC236}">
                <a16:creationId xmlns:a16="http://schemas.microsoft.com/office/drawing/2014/main" id="{F4F9F7BA-2CA3-451C-8A27-7E47F5FDB689}"/>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13C2D9B6-AA64-47D4-9FB2-623B5AE99928}"/>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16 October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19774849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536E09D-0BEF-43DA-B6BE-85BA4F22977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2579D7-04A8-4E1C-AFD8-FEA2556EF49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09AAA03-B200-4883-900C-C575D96A043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 inspect, clean, check and plot</a:t>
            </a:r>
          </a:p>
        </p:txBody>
      </p:sp>
      <p:sp>
        <p:nvSpPr>
          <p:cNvPr id="4" name="">
            <a:extLst xmlns:a="http://schemas.openxmlformats.org/drawingml/2006/main">
              <a:ext uri="{FF2B5EF4-FFF2-40B4-BE49-F238E27FC236}">
                <a16:creationId xmlns:a16="http://schemas.microsoft.com/office/drawing/2014/main" id="{C1B15BAA-346C-421C-BF85-92C20C2C3C9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05A65A6-3114-4D4B-BB46-D79ACAB4DA1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611117B-EDD6-4837-961B-278B1D69C93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First inspect the original CSV. Then apply the cleaning rules, check the result, and explain the cleaned charts.</a:t>
            </a:r>
          </a:p>
        </p:txBody>
      </p:sp>
      <p:sp>
        <p:nvSpPr>
          <p:cNvPr id="7" name="">
            <a:extLst xmlns:a="http://schemas.openxmlformats.org/drawingml/2006/main">
              <a:ext uri="{FF2B5EF4-FFF2-40B4-BE49-F238E27FC236}">
                <a16:creationId xmlns:a16="http://schemas.microsoft.com/office/drawing/2014/main" id="{E6BFD7B5-E29F-4AEA-94E5-3B85788971B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This walkthrough supports the existing Week 6 assignment and quiz. Their requirements are unchanged.</a:t>
            </a:r>
          </a:p>
        </p:txBody>
      </p:sp>
      <p:sp>
        <p:nvSpPr>
          <p:cNvPr id="8" name="">
            <a:extLst xmlns:a="http://schemas.openxmlformats.org/drawingml/2006/main">
              <a:ext uri="{FF2B5EF4-FFF2-40B4-BE49-F238E27FC236}">
                <a16:creationId xmlns:a16="http://schemas.microsoft.com/office/drawing/2014/main" id="{20BFD45F-4EF7-448A-B0BC-50826AAC910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a:t>
            </a:r>
          </a:p>
        </p:txBody>
      </p:sp>
    </p:spTree>
    <p:extLst>
      <p:ext uri="{BB962C8B-B14F-4D97-AF65-F5344CB8AC3E}">
        <p14:creationId xmlns:p14="http://schemas.microsoft.com/office/powerpoint/2010/main" val="14786766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F2D291F-B5DC-414D-9CE5-C99462DFF36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29C6ED-E83A-4473-8D75-7512E2C84BE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80E9B8C-B38A-423B-B302-D116204D047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A010CA1C-4061-4564-A1F0-96B25C19143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3695ABA-E68E-4E7D-829A-4BF6AA806E6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9ABB604-8FCF-4BC5-B8F5-0DC2231CA39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engineering_data.csv into Colab using the Files panel, or keep it beside the notebook locally.</a:t>
            </a:r>
          </a:p>
        </p:txBody>
      </p:sp>
      <p:sp>
        <p:nvSpPr>
          <p:cNvPr id="7" name="">
            <a:extLst xmlns:a="http://schemas.openxmlformats.org/drawingml/2006/main">
              <a:ext uri="{FF2B5EF4-FFF2-40B4-BE49-F238E27FC236}">
                <a16:creationId xmlns:a16="http://schemas.microsoft.com/office/drawing/2014/main" id="{89D12D5C-A08F-42E3-A912-CFB79C876CA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4D201E64-C155-4613-92D1-350AFE03248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a:t>
            </a:r>
          </a:p>
        </p:txBody>
      </p:sp>
    </p:spTree>
    <p:extLst>
      <p:ext uri="{BB962C8B-B14F-4D97-AF65-F5344CB8AC3E}">
        <p14:creationId xmlns:p14="http://schemas.microsoft.com/office/powerpoint/2010/main" val="3945997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B74BAE-BBA1-408F-B464-F49F8109D5F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25ADC1-DAA6-4342-A293-27706312CBE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8CE0FDF-F991-48B9-88B6-31933BAA88C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EDF94DC3-9210-42D1-807C-B8848831C7D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EF00E5A-CAE5-4E48-800B-2C50D4AA2C6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and short names: import pandas as pd loads pandas and gives it the short name pd. pd.read_csv refers to a function in that library.</a:t>
            </a:r>
          </a:p>
        </p:txBody>
      </p:sp>
      <p:sp>
        <p:nvSpPr>
          <p:cNvPr id="6" name="">
            <a:extLst xmlns:a="http://schemas.openxmlformats.org/drawingml/2006/main">
              <a:ext uri="{FF2B5EF4-FFF2-40B4-BE49-F238E27FC236}">
                <a16:creationId xmlns:a16="http://schemas.microsoft.com/office/drawing/2014/main" id="{F2938527-F204-4DDA-A9B0-2967F55FBA6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68AC2FB-6F17-458E-9340-A80CC752AC9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a CSV: pd.read_csv("filename.csv") reads the named file into a DataFrame: a table with labelled columns and row labels. The file must exist in the working folder.</a:t>
            </a:r>
          </a:p>
        </p:txBody>
      </p:sp>
      <p:sp>
        <p:nvSpPr>
          <p:cNvPr id="8" name="">
            <a:extLst xmlns:a="http://schemas.openxmlformats.org/drawingml/2006/main">
              <a:ext uri="{FF2B5EF4-FFF2-40B4-BE49-F238E27FC236}">
                <a16:creationId xmlns:a16="http://schemas.microsoft.com/office/drawing/2014/main" id="{179B8A00-6109-4728-9A72-6C3F22340A0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C24727A-C70F-4C5B-8CDA-1E19EAEB56A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Counting dimensions: table.shape gives (number of rows, number of columns). shape is a property, so it has no parentheses.</a:t>
            </a:r>
          </a:p>
        </p:txBody>
      </p:sp>
      <p:sp>
        <p:nvSpPr>
          <p:cNvPr id="10" name="">
            <a:extLst xmlns:a="http://schemas.openxmlformats.org/drawingml/2006/main">
              <a:ext uri="{FF2B5EF4-FFF2-40B4-BE49-F238E27FC236}">
                <a16:creationId xmlns:a16="http://schemas.microsoft.com/office/drawing/2014/main" id="{EBB0035A-D824-41E3-99EB-B266FD4DE17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a:t>
            </a:r>
          </a:p>
        </p:txBody>
      </p:sp>
    </p:spTree>
    <p:extLst>
      <p:ext uri="{BB962C8B-B14F-4D97-AF65-F5344CB8AC3E}">
        <p14:creationId xmlns:p14="http://schemas.microsoft.com/office/powerpoint/2010/main" val="19494995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62A72C-523B-46E7-ACF2-F11EE4FF297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6DEBC3-237B-4158-9777-280C63910BC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7862288-CF60-4A17-A5AC-4A0FDA6146E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A1DD23D4-6DBE-4780-A77C-06BBEC3D9C8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C89003C-A151-46E3-9A43-0C49F4FAF38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EBD6BAC-1908-4D2E-AD55-5580D689B58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Column data types: table.dtypes reports each column’s stored type. int64 means integers, float64 means decimal numbers, and object often contains text. Numeric blanks commonly appear as NaN.</a:t>
            </a:r>
          </a:p>
        </p:txBody>
      </p:sp>
      <p:sp>
        <p:nvSpPr>
          <p:cNvPr id="7" name="">
            <a:extLst xmlns:a="http://schemas.openxmlformats.org/drawingml/2006/main">
              <a:ext uri="{FF2B5EF4-FFF2-40B4-BE49-F238E27FC236}">
                <a16:creationId xmlns:a16="http://schemas.microsoft.com/office/drawing/2014/main" id="{DB6ED5FA-AFC7-4C05-8187-6FFD3431788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preview of rows: table.head() returns the first five rows. It leaves the table unchanged. A preview is not the entire dataset.</a:t>
            </a:r>
          </a:p>
        </p:txBody>
      </p:sp>
      <p:sp>
        <p:nvSpPr>
          <p:cNvPr id="8" name="">
            <a:extLst xmlns:a="http://schemas.openxmlformats.org/drawingml/2006/main">
              <a:ext uri="{FF2B5EF4-FFF2-40B4-BE49-F238E27FC236}">
                <a16:creationId xmlns:a16="http://schemas.microsoft.com/office/drawing/2014/main" id="{B683C26C-F585-4F80-AD8F-0CF50202262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a:t>
            </a:r>
          </a:p>
        </p:txBody>
      </p:sp>
    </p:spTree>
    <p:extLst>
      <p:ext uri="{BB962C8B-B14F-4D97-AF65-F5344CB8AC3E}">
        <p14:creationId xmlns:p14="http://schemas.microsoft.com/office/powerpoint/2010/main" val="20450043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4AEB83-77D3-4322-971A-86B50E094BC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0ECF90-F3F9-47E0-AF04-978A50F5CC9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AAD76A9-C00F-4AE9-BFBD-396C75651D0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Two names for two tables</a:t>
            </a:r>
          </a:p>
        </p:txBody>
      </p:sp>
      <p:sp>
        <p:nvSpPr>
          <p:cNvPr id="4" name="">
            <a:extLst xmlns:a="http://schemas.openxmlformats.org/drawingml/2006/main">
              <a:ext uri="{FF2B5EF4-FFF2-40B4-BE49-F238E27FC236}">
                <a16:creationId xmlns:a16="http://schemas.microsoft.com/office/drawing/2014/main" id="{017C42BB-873F-4A7D-A26B-DC23D6F268E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FFD2C78-5362-4467-85A0-1D865C02435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E8C5349-8B0F-4A71-8684-831ABFAD913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raw_data: the original table read from the CSV.</a:t>
            </a:r>
          </a:p>
        </p:txBody>
      </p:sp>
      <p:sp>
        <p:nvSpPr>
          <p:cNvPr id="7" name="">
            <a:extLst xmlns:a="http://schemas.openxmlformats.org/drawingml/2006/main">
              <a:ext uri="{FF2B5EF4-FFF2-40B4-BE49-F238E27FC236}">
                <a16:creationId xmlns:a16="http://schemas.microsoft.com/office/drawing/2014/main" id="{3FD83500-4F85-4371-B9A6-7C7BBC87499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cleaned_data: a separate working table that we will change.</a:t>
            </a:r>
          </a:p>
        </p:txBody>
      </p:sp>
      <p:sp>
        <p:nvSpPr>
          <p:cNvPr id="8" name="">
            <a:extLst xmlns:a="http://schemas.openxmlformats.org/drawingml/2006/main">
              <a:ext uri="{FF2B5EF4-FFF2-40B4-BE49-F238E27FC236}">
                <a16:creationId xmlns:a16="http://schemas.microsoft.com/office/drawing/2014/main" id="{4BE29B1A-1DEC-4070-9368-C4D74C27B62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6</a:t>
            </a:r>
          </a:p>
        </p:txBody>
      </p:sp>
    </p:spTree>
    <p:extLst>
      <p:ext uri="{BB962C8B-B14F-4D97-AF65-F5344CB8AC3E}">
        <p14:creationId xmlns:p14="http://schemas.microsoft.com/office/powerpoint/2010/main" val="12275232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A35645-45CC-4DDD-ABC2-5967CEAE0A2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C303C9-B8B6-4213-8AF5-B3435BEF0C3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0E8A5A2-2E8D-4E4F-BE77-DEEA449C6C5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DE446F94-D5FC-46BC-BF9D-5160D1B9DEB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B09718E-80AF-4EE2-A2E4-9079BA76DF0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pd.read_csv("engineering_data.csv")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print(raw_data.shape)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print(raw_data.dtypes)</a:t>
            </a:r>
          </a:p>
        </p:txBody>
      </p:sp>
      <p:sp>
        <p:nvSpPr>
          <p:cNvPr id="6" name="">
            <a:extLst xmlns:a="http://schemas.openxmlformats.org/drawingml/2006/main">
              <a:ext uri="{FF2B5EF4-FFF2-40B4-BE49-F238E27FC236}">
                <a16:creationId xmlns:a16="http://schemas.microsoft.com/office/drawing/2014/main" id="{094E6E92-E6B5-4664-A504-397B4665206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pandas using its conventional alias pd.</a:t>
            </a:r>
          </a:p>
        </p:txBody>
      </p:sp>
      <p:sp>
        <p:nvSpPr>
          <p:cNvPr id="7" name="">
            <a:extLst xmlns:a="http://schemas.openxmlformats.org/drawingml/2006/main">
              <a:ext uri="{FF2B5EF4-FFF2-40B4-BE49-F238E27FC236}">
                <a16:creationId xmlns:a16="http://schemas.microsoft.com/office/drawing/2014/main" id="{28F4F26E-E6AE-42B1-8F0E-F4D2030EE93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C5C28168-5C15-4431-9711-ED708ED59D7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7</a:t>
            </a:r>
          </a:p>
        </p:txBody>
      </p:sp>
    </p:spTree>
    <p:extLst>
      <p:ext uri="{BB962C8B-B14F-4D97-AF65-F5344CB8AC3E}">
        <p14:creationId xmlns:p14="http://schemas.microsoft.com/office/powerpoint/2010/main" val="19605653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757908-84DF-4399-A25F-4647FED2D5F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347798-BE47-4F11-AFCF-8E95936F5D7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2A56BEA-3C05-40AE-9E2E-C599A9E18B4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EDA: understand the original observations</a:t>
            </a:r>
          </a:p>
        </p:txBody>
      </p:sp>
      <p:sp>
        <p:nvSpPr>
          <p:cNvPr id="4" name="">
            <a:extLst xmlns:a="http://schemas.openxmlformats.org/drawingml/2006/main">
              <a:ext uri="{FF2B5EF4-FFF2-40B4-BE49-F238E27FC236}">
                <a16:creationId xmlns:a16="http://schemas.microsoft.com/office/drawing/2014/main" id="{B37A2CCA-2B42-446A-8FF1-18C4DB347B6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E393223-B847-471C-BBC7-BD6A6CB5400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FA2F982-223E-49C0-B6F8-99339980120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EDA means exploratory data analysis: inspect what the columns mean, their types, missing values, ranges and patterns before choosing cleaning actions.</a:t>
            </a:r>
          </a:p>
        </p:txBody>
      </p:sp>
      <p:sp>
        <p:nvSpPr>
          <p:cNvPr id="7" name="">
            <a:extLst xmlns:a="http://schemas.openxmlformats.org/drawingml/2006/main">
              <a:ext uri="{FF2B5EF4-FFF2-40B4-BE49-F238E27FC236}">
                <a16:creationId xmlns:a16="http://schemas.microsoft.com/office/drawing/2014/main" id="{5B508796-DDCA-47C8-BB9B-ADC9D339276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record_id identifies an observation; equipment_id identifies its source. load_pct is %, ambient_c is °C, and target is motor temperature (°C).</a:t>
            </a:r>
          </a:p>
        </p:txBody>
      </p:sp>
      <p:sp>
        <p:nvSpPr>
          <p:cNvPr id="8" name="">
            <a:extLst xmlns:a="http://schemas.openxmlformats.org/drawingml/2006/main">
              <a:ext uri="{FF2B5EF4-FFF2-40B4-BE49-F238E27FC236}">
                <a16:creationId xmlns:a16="http://schemas.microsoft.com/office/drawing/2014/main" id="{10175C6D-6D5C-4F30-83F9-3B41D85AFE9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8</a:t>
            </a:r>
          </a:p>
        </p:txBody>
      </p:sp>
    </p:spTree>
    <p:extLst>
      <p:ext uri="{BB962C8B-B14F-4D97-AF65-F5344CB8AC3E}">
        <p14:creationId xmlns:p14="http://schemas.microsoft.com/office/powerpoint/2010/main" val="134737276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3A18F4-E3FD-404A-8D59-A56B15F78FB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01DDA4-90D5-459A-8923-F0A1B8BA617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B7413F6-1D93-4B25-9B07-D1D1F773CB0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types and recorded values</a:t>
            </a:r>
          </a:p>
        </p:txBody>
      </p:sp>
      <p:sp>
        <p:nvSpPr>
          <p:cNvPr id="4" name="">
            <a:extLst xmlns:a="http://schemas.openxmlformats.org/drawingml/2006/main">
              <a:ext uri="{FF2B5EF4-FFF2-40B4-BE49-F238E27FC236}">
                <a16:creationId xmlns:a16="http://schemas.microsoft.com/office/drawing/2014/main" id="{4E12D5B1-48B0-49F0-9A8B-AC317AE0125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58586E1-8D0B-4644-9038-09F105B0B90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1685555-B1CC-418C-95B6-8FAC223F051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table.info() prints column types and non-missing counts. Call it directly; do not wrap it in print.</a:t>
            </a:r>
          </a:p>
        </p:txBody>
      </p:sp>
      <p:sp>
        <p:nvSpPr>
          <p:cNvPr id="7" name="">
            <a:extLst xmlns:a="http://schemas.openxmlformats.org/drawingml/2006/main">
              <a:ext uri="{FF2B5EF4-FFF2-40B4-BE49-F238E27FC236}">
                <a16:creationId xmlns:a16="http://schemas.microsoft.com/office/drawing/2014/main" id="{FA07AE23-0B53-4516-8204-A3AFEA4B3D1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table[numeric_columns].describe() summarises selected numeric measurements: count, mean, standard deviation, minimum, quartiles and maximum.</a:t>
            </a:r>
          </a:p>
        </p:txBody>
      </p:sp>
      <p:sp>
        <p:nvSpPr>
          <p:cNvPr id="8" name="">
            <a:extLst xmlns:a="http://schemas.openxmlformats.org/drawingml/2006/main">
              <a:ext uri="{FF2B5EF4-FFF2-40B4-BE49-F238E27FC236}">
                <a16:creationId xmlns:a16="http://schemas.microsoft.com/office/drawing/2014/main" id="{1E6F42A2-5C9A-4935-88F9-0C13DA130A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9</a:t>
            </a:r>
          </a:p>
        </p:txBody>
      </p:sp>
    </p:spTree>
    <p:extLst>
      <p:ext uri="{BB962C8B-B14F-4D97-AF65-F5344CB8AC3E}">
        <p14:creationId xmlns:p14="http://schemas.microsoft.com/office/powerpoint/2010/main" val="13472603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62F289-40E2-438E-B2BE-08B397A62BF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EB0491-AE85-468A-8C6E-5C760BCCA71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37ED47E-2DE4-48CC-9795-29FC5B75CB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Inspect structure and numerical ranges</a:t>
            </a:r>
          </a:p>
        </p:txBody>
      </p:sp>
      <p:sp>
        <p:nvSpPr>
          <p:cNvPr id="4" name="">
            <a:extLst xmlns:a="http://schemas.openxmlformats.org/drawingml/2006/main">
              <a:ext uri="{FF2B5EF4-FFF2-40B4-BE49-F238E27FC236}">
                <a16:creationId xmlns:a16="http://schemas.microsoft.com/office/drawing/2014/main" id="{E7B781CE-FD98-4D70-AA20-260FA823591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12F7B5-16C2-4F9D-81D5-A9210ABF0D29}"/>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raw_data.info()</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numeric_columns = ["load_pct", "ambient_c", "target"]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print(raw_data[numeric_columns].describe())</a:t>
            </a:r>
          </a:p>
        </p:txBody>
      </p:sp>
      <p:sp>
        <p:nvSpPr>
          <p:cNvPr id="6" name="">
            <a:extLst xmlns:a="http://schemas.openxmlformats.org/drawingml/2006/main">
              <a:ext uri="{FF2B5EF4-FFF2-40B4-BE49-F238E27FC236}">
                <a16:creationId xmlns:a16="http://schemas.microsoft.com/office/drawing/2014/main" id="{1703C5D1-3813-45BF-9957-6E4FB3ED6C7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Compare count with the original row count. Read min and max before deciding whether a value violates the stated rule.</a:t>
            </a:r>
          </a:p>
        </p:txBody>
      </p:sp>
      <p:sp>
        <p:nvSpPr>
          <p:cNvPr id="7" name="">
            <a:extLst xmlns:a="http://schemas.openxmlformats.org/drawingml/2006/main">
              <a:ext uri="{FF2B5EF4-FFF2-40B4-BE49-F238E27FC236}">
                <a16:creationId xmlns:a16="http://schemas.microsoft.com/office/drawing/2014/main" id="{E8A18A4B-7CE8-4EED-9C65-30EB3488CDC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after the preceding example using the supplied CSV.</a:t>
            </a:r>
          </a:p>
        </p:txBody>
      </p:sp>
      <p:sp>
        <p:nvSpPr>
          <p:cNvPr id="8" name="">
            <a:extLst xmlns:a="http://schemas.openxmlformats.org/drawingml/2006/main">
              <a:ext uri="{FF2B5EF4-FFF2-40B4-BE49-F238E27FC236}">
                <a16:creationId xmlns:a16="http://schemas.microsoft.com/office/drawing/2014/main" id="{24821997-8BCC-4851-8AE5-F5A2B1D0EC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10</a:t>
            </a:r>
          </a:p>
        </p:txBody>
      </p:sp>
    </p:spTree>
    <p:extLst>
      <p:ext uri="{BB962C8B-B14F-4D97-AF65-F5344CB8AC3E}">
        <p14:creationId xmlns:p14="http://schemas.microsoft.com/office/powerpoint/2010/main" val="20090119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2539BA4-DCC1-42C6-8AF5-C9798DDFE7E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4FD7AA-0BF4-45A2-949E-8646B575FFB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CCA9752-DE05-40F2-BFC0-B2B97BE9061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which equipment is represented</a:t>
            </a:r>
          </a:p>
        </p:txBody>
      </p:sp>
      <p:sp>
        <p:nvSpPr>
          <p:cNvPr id="4" name="">
            <a:extLst xmlns:a="http://schemas.openxmlformats.org/drawingml/2006/main">
              <a:ext uri="{FF2B5EF4-FFF2-40B4-BE49-F238E27FC236}">
                <a16:creationId xmlns:a16="http://schemas.microsoft.com/office/drawing/2014/main" id="{1FB49F43-7B8D-4C10-90A0-C10AEDD4FF6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E8C0F3B-AEA8-4AB9-A796-00C7F5CDAB1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04C4E4A-885B-41A2-8406-184D5624F00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value_counts() counts rows for each label. dropna=False also shows missing labels.</a:t>
            </a:r>
          </a:p>
        </p:txBody>
      </p:sp>
      <p:sp>
        <p:nvSpPr>
          <p:cNvPr id="7" name="">
            <a:extLst xmlns:a="http://schemas.openxmlformats.org/drawingml/2006/main">
              <a:ext uri="{FF2B5EF4-FFF2-40B4-BE49-F238E27FC236}">
                <a16:creationId xmlns:a16="http://schemas.microsoft.com/office/drawing/2014/main" id="{5FA6411C-F04D-479C-857E-32A154C4A5E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Counts can reveal missing groups or unequal coverage. Repeated equipment IDs are expected; repeated record IDs need separate inspection.</a:t>
            </a:r>
          </a:p>
        </p:txBody>
      </p:sp>
      <p:sp>
        <p:nvSpPr>
          <p:cNvPr id="8" name="">
            <a:extLst xmlns:a="http://schemas.openxmlformats.org/drawingml/2006/main">
              <a:ext uri="{FF2B5EF4-FFF2-40B4-BE49-F238E27FC236}">
                <a16:creationId xmlns:a16="http://schemas.microsoft.com/office/drawing/2014/main" id="{D1B028DE-2FAC-4F78-8750-37674F35EB4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11</a:t>
            </a:r>
          </a:p>
        </p:txBody>
      </p:sp>
    </p:spTree>
    <p:extLst>
      <p:ext uri="{BB962C8B-B14F-4D97-AF65-F5344CB8AC3E}">
        <p14:creationId xmlns:p14="http://schemas.microsoft.com/office/powerpoint/2010/main" val="16513061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5E3221-DCCD-446C-AB1E-4F611967544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0EA918-B045-44A5-9F24-7132A9061CE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7CD2AE6-36F4-40AC-98BC-679008CCF70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observations per equipment</a:t>
            </a:r>
          </a:p>
        </p:txBody>
      </p:sp>
      <p:sp>
        <p:nvSpPr>
          <p:cNvPr id="4" name="">
            <a:extLst xmlns:a="http://schemas.openxmlformats.org/drawingml/2006/main">
              <a:ext uri="{FF2B5EF4-FFF2-40B4-BE49-F238E27FC236}">
                <a16:creationId xmlns:a16="http://schemas.microsoft.com/office/drawing/2014/main" id="{FDEFDF1A-E900-4DDB-9832-B9D76F86D36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5B2AA8F-326D-4F4E-BBE3-05451649E23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equipment_counts = raw_data["equipment_id"].value_counts(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dropna=</a:t>
            </a:r>
            <a:r>
              <a:rPr sz="1875" b="0">
                <a:solidFill>
                  <a:srgbClr val="FFB080"/>
                </a:solidFill>
                <a:latin typeface="Courier New"/>
                <a:ea typeface="Courier New"/>
                <a:cs typeface="Courier New"/>
              </a:rPr>
              <a:t>False</a:t>
            </a: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print(equipment_counts)</a:t>
            </a:r>
          </a:p>
        </p:txBody>
      </p:sp>
      <p:sp>
        <p:nvSpPr>
          <p:cNvPr id="6" name="">
            <a:extLst xmlns:a="http://schemas.openxmlformats.org/drawingml/2006/main">
              <a:ext uri="{FF2B5EF4-FFF2-40B4-BE49-F238E27FC236}">
                <a16:creationId xmlns:a16="http://schemas.microsoft.com/office/drawing/2014/main" id="{B19EE9BC-2620-4070-B0FD-0824EC910196}"/>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These are observation counts, not counts of distinct machines. The later duplicate row is still present in this raw-data summary.</a:t>
            </a:r>
          </a:p>
        </p:txBody>
      </p:sp>
      <p:sp>
        <p:nvSpPr>
          <p:cNvPr id="7" name="">
            <a:extLst xmlns:a="http://schemas.openxmlformats.org/drawingml/2006/main">
              <a:ext uri="{FF2B5EF4-FFF2-40B4-BE49-F238E27FC236}">
                <a16:creationId xmlns:a16="http://schemas.microsoft.com/office/drawing/2014/main" id="{21C7DD9B-A9A5-4D63-8A73-2826AA5A11B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after the preceding example using the supplied CSV.</a:t>
            </a:r>
          </a:p>
        </p:txBody>
      </p:sp>
      <p:sp>
        <p:nvSpPr>
          <p:cNvPr id="8" name="">
            <a:extLst xmlns:a="http://schemas.openxmlformats.org/drawingml/2006/main">
              <a:ext uri="{FF2B5EF4-FFF2-40B4-BE49-F238E27FC236}">
                <a16:creationId xmlns:a16="http://schemas.microsoft.com/office/drawing/2014/main" id="{86AEEC91-81CF-4F42-98EF-D7D7ED88206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12</a:t>
            </a:r>
          </a:p>
        </p:txBody>
      </p:sp>
    </p:spTree>
    <p:extLst>
      <p:ext uri="{BB962C8B-B14F-4D97-AF65-F5344CB8AC3E}">
        <p14:creationId xmlns:p14="http://schemas.microsoft.com/office/powerpoint/2010/main" val="11343425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FAAC7D-3811-4F16-B161-29171CFF2DA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AA43C1-D698-43E8-886A-7FA8987970F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E7CEF0C-9CDE-4D8B-B0D7-60685AEC50C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Preview the raw distribution</a:t>
            </a:r>
          </a:p>
        </p:txBody>
      </p:sp>
      <p:sp>
        <p:nvSpPr>
          <p:cNvPr id="4" name="">
            <a:extLst xmlns:a="http://schemas.openxmlformats.org/drawingml/2006/main">
              <a:ext uri="{FF2B5EF4-FFF2-40B4-BE49-F238E27FC236}">
                <a16:creationId xmlns:a16="http://schemas.microsoft.com/office/drawing/2014/main" id="{CEEAC68D-25F3-4726-B152-45DC795E3AEC}"/>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D71F698-3AD2-44EF-AF9E-FF9DCBC5D42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174134E-7810-4CB2-8906-DB3A44D7D0A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histogram groups numeric values into intervals and counts observations in each interval. bins=10 requests ten intervals.</a:t>
            </a:r>
          </a:p>
        </p:txBody>
      </p:sp>
      <p:sp>
        <p:nvSpPr>
          <p:cNvPr id="7" name="">
            <a:extLst xmlns:a="http://schemas.openxmlformats.org/drawingml/2006/main">
              <a:ext uri="{FF2B5EF4-FFF2-40B4-BE49-F238E27FC236}">
                <a16:creationId xmlns:a16="http://schemas.microsoft.com/office/drawing/2014/main" id="{4A9F6777-C5E6-4428-BB92-138AD1CF53F6}"/>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plt.subplots() gives a figure and its axes. ax selects where the chart is drawn. Missing numeric values are omitted from the plot.</a:t>
            </a:r>
          </a:p>
        </p:txBody>
      </p:sp>
      <p:sp>
        <p:nvSpPr>
          <p:cNvPr id="8" name="">
            <a:extLst xmlns:a="http://schemas.openxmlformats.org/drawingml/2006/main">
              <a:ext uri="{FF2B5EF4-FFF2-40B4-BE49-F238E27FC236}">
                <a16:creationId xmlns:a16="http://schemas.microsoft.com/office/drawing/2014/main" id="{FBCF3D3D-7D25-4105-BD36-ECDE6561F78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13</a:t>
            </a:r>
          </a:p>
        </p:txBody>
      </p:sp>
    </p:spTree>
    <p:extLst>
      <p:ext uri="{BB962C8B-B14F-4D97-AF65-F5344CB8AC3E}">
        <p14:creationId xmlns:p14="http://schemas.microsoft.com/office/powerpoint/2010/main" val="41382232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AFEF4B1-47FD-4D9B-94CF-46699C17C41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FD683B-3D21-475B-BE7C-6A522981438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0860937-5464-4A7C-B0F3-CA8A039ED61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Plot the target before cleaning</a:t>
            </a:r>
          </a:p>
        </p:txBody>
      </p:sp>
      <p:sp>
        <p:nvSpPr>
          <p:cNvPr id="4" name="">
            <a:extLst xmlns:a="http://schemas.openxmlformats.org/drawingml/2006/main">
              <a:ext uri="{FF2B5EF4-FFF2-40B4-BE49-F238E27FC236}">
                <a16:creationId xmlns:a16="http://schemas.microsoft.com/office/drawing/2014/main" id="{438427E2-3B87-4332-BA16-9C30608259A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39C3965-BE07-4CCA-B00F-48BE2EE67A0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matplotlib.pyplot as plt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raw_figure, raw_axes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raw_data["target"].plot.hist(bins=10, ax=raw_axes)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raw_axes.set_xlabel("motor temperature (°C)")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raw_axes.set_ylabel("Observation 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raw_axes.set_title("Be</a:t>
            </a:r>
            <a:r>
              <a:rPr sz="1875" b="0">
                <a:solidFill>
                  <a:srgbClr val="FFB080"/>
                </a:solidFill>
                <a:latin typeface="Courier New"/>
                <a:ea typeface="Courier New"/>
                <a:cs typeface="Courier New"/>
              </a:rPr>
              <a:t>for</a:t>
            </a:r>
            <a:r>
              <a:rPr sz="1875" b="0">
                <a:solidFill>
                  <a:srgbClr val="F4F7FA"/>
                </a:solidFill>
                <a:latin typeface="Courier New"/>
                <a:ea typeface="Courier New"/>
                <a:cs typeface="Courier New"/>
              </a:rPr>
              <a:t>e cleaning")</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B725D9C4-3B1C-4C9D-B6A1-58B7D388745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 chart includes all recorded targets, including observations that may later be removed. Compare with the cleaned distribution at the end; do not infer causation from shape.</a:t>
            </a:r>
          </a:p>
        </p:txBody>
      </p:sp>
      <p:sp>
        <p:nvSpPr>
          <p:cNvPr id="7" name="">
            <a:extLst xmlns:a="http://schemas.openxmlformats.org/drawingml/2006/main">
              <a:ext uri="{FF2B5EF4-FFF2-40B4-BE49-F238E27FC236}">
                <a16:creationId xmlns:a16="http://schemas.microsoft.com/office/drawing/2014/main" id="{BA77FEE5-F8CE-447F-B39E-FF0ECAAE96F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after the preceding example using the supplied CSV.</a:t>
            </a:r>
          </a:p>
        </p:txBody>
      </p:sp>
      <p:sp>
        <p:nvSpPr>
          <p:cNvPr id="8" name="">
            <a:extLst xmlns:a="http://schemas.openxmlformats.org/drawingml/2006/main">
              <a:ext uri="{FF2B5EF4-FFF2-40B4-BE49-F238E27FC236}">
                <a16:creationId xmlns:a16="http://schemas.microsoft.com/office/drawing/2014/main" id="{AA37540E-2766-4B20-8DC2-D5FEF6264E4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14</a:t>
            </a:r>
          </a:p>
        </p:txBody>
      </p:sp>
    </p:spTree>
    <p:extLst>
      <p:ext uri="{BB962C8B-B14F-4D97-AF65-F5344CB8AC3E}">
        <p14:creationId xmlns:p14="http://schemas.microsoft.com/office/powerpoint/2010/main" val="893279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F53C77-9CF3-4122-BC22-7326D1DE2B1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E91DD4-CC17-43AD-A1BE-AB9E120DABD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F5B3103-7AA1-46FD-B9DD-30337DA9909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Inspect a relationship before cleaning</a:t>
            </a:r>
          </a:p>
        </p:txBody>
      </p:sp>
      <p:sp>
        <p:nvSpPr>
          <p:cNvPr id="4" name="">
            <a:extLst xmlns:a="http://schemas.openxmlformats.org/drawingml/2006/main">
              <a:ext uri="{FF2B5EF4-FFF2-40B4-BE49-F238E27FC236}">
                <a16:creationId xmlns:a16="http://schemas.microsoft.com/office/drawing/2014/main" id="{594D612B-798E-482A-8A29-7718C3A3C75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A8D8023-9573-4529-9748-44CEB19D991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A9ECD25-9409-4181-B4E3-5464BFF9833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scatter plot places one observation at its load and target coordinates. x and y name the two columns; ax selects the plotting area.</a:t>
            </a:r>
          </a:p>
        </p:txBody>
      </p:sp>
      <p:sp>
        <p:nvSpPr>
          <p:cNvPr id="7" name="">
            <a:extLst xmlns:a="http://schemas.openxmlformats.org/drawingml/2006/main">
              <a:ext uri="{FF2B5EF4-FFF2-40B4-BE49-F238E27FC236}">
                <a16:creationId xmlns:a16="http://schemas.microsoft.com/office/drawing/2014/main" id="{FACF1681-020D-45CD-A447-A22950D09951}"/>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Look for gaps, unusual points and possible trends. A visible association does not show that load caused the target to change.</a:t>
            </a:r>
          </a:p>
        </p:txBody>
      </p:sp>
      <p:sp>
        <p:nvSpPr>
          <p:cNvPr id="8" name="">
            <a:extLst xmlns:a="http://schemas.openxmlformats.org/drawingml/2006/main">
              <a:ext uri="{FF2B5EF4-FFF2-40B4-BE49-F238E27FC236}">
                <a16:creationId xmlns:a16="http://schemas.microsoft.com/office/drawing/2014/main" id="{A85993CE-E6E5-4E23-85B0-C65CD5D18D7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15</a:t>
            </a:r>
          </a:p>
        </p:txBody>
      </p:sp>
    </p:spTree>
    <p:extLst>
      <p:ext uri="{BB962C8B-B14F-4D97-AF65-F5344CB8AC3E}">
        <p14:creationId xmlns:p14="http://schemas.microsoft.com/office/powerpoint/2010/main" val="3089566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81346D-AABF-4FF2-901C-BF4070A7ED3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60F47D-9494-4B1A-B2A6-F8C27D77ADB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1E6F0CA-84D1-48B1-A36C-05A6CC06924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Plot raw load against the target</a:t>
            </a:r>
          </a:p>
        </p:txBody>
      </p:sp>
      <p:sp>
        <p:nvSpPr>
          <p:cNvPr id="4" name="">
            <a:extLst xmlns:a="http://schemas.openxmlformats.org/drawingml/2006/main">
              <a:ext uri="{FF2B5EF4-FFF2-40B4-BE49-F238E27FC236}">
                <a16:creationId xmlns:a16="http://schemas.microsoft.com/office/drawing/2014/main" id="{90456764-D9DE-4203-8179-C9045F6C477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11C65E-6C52-4817-AB17-55B07687E7EF}"/>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raw_scatter_figure, raw_scatter_axes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raw_data.plot.scatter(x="load_pct", y="target", ax=raw_scatter_axes)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raw_scatter_axes.set_xlabel("Load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raw_scatter_axes.set_ylabel("motor temperature (°C)")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raw_scatter_axes.set_title("Be</a:t>
            </a:r>
            <a:r>
              <a:rPr sz="1875" b="0">
                <a:solidFill>
                  <a:srgbClr val="FFB080"/>
                </a:solidFill>
                <a:latin typeface="Courier New"/>
                <a:ea typeface="Courier New"/>
                <a:cs typeface="Courier New"/>
              </a:rPr>
              <a:t>for</a:t>
            </a:r>
            <a:r>
              <a:rPr sz="1875" b="0">
                <a:solidFill>
                  <a:srgbClr val="F4F7FA"/>
                </a:solidFill>
                <a:latin typeface="Courier New"/>
                <a:ea typeface="Courier New"/>
                <a:cs typeface="Courier New"/>
              </a:rPr>
              <a:t>e cleaning")</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96FB194F-26B2-4E59-858F-ABC45D2DA95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A point at load -5 is visible because these are uncleaned rows. Missing target values cannot be plotted. Later compare the cleaned scatter plot after applying the stated rules.</a:t>
            </a:r>
          </a:p>
        </p:txBody>
      </p:sp>
      <p:sp>
        <p:nvSpPr>
          <p:cNvPr id="7" name="">
            <a:extLst xmlns:a="http://schemas.openxmlformats.org/drawingml/2006/main">
              <a:ext uri="{FF2B5EF4-FFF2-40B4-BE49-F238E27FC236}">
                <a16:creationId xmlns:a16="http://schemas.microsoft.com/office/drawing/2014/main" id="{CEA262B3-DCA2-420B-9B1B-022CEDBACEB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after the preceding example using the supplied CSV.</a:t>
            </a:r>
          </a:p>
        </p:txBody>
      </p:sp>
      <p:sp>
        <p:nvSpPr>
          <p:cNvPr id="8" name="">
            <a:extLst xmlns:a="http://schemas.openxmlformats.org/drawingml/2006/main">
              <a:ext uri="{FF2B5EF4-FFF2-40B4-BE49-F238E27FC236}">
                <a16:creationId xmlns:a16="http://schemas.microsoft.com/office/drawing/2014/main" id="{448ACE72-95EC-4635-8D22-2DE3CCFC5CF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16</a:t>
            </a:r>
          </a:p>
        </p:txBody>
      </p:sp>
    </p:spTree>
    <p:extLst>
      <p:ext uri="{BB962C8B-B14F-4D97-AF65-F5344CB8AC3E}">
        <p14:creationId xmlns:p14="http://schemas.microsoft.com/office/powerpoint/2010/main" val="129070917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35B782-5341-4A16-8F4B-6A4960F79C9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C69A47-E88A-4997-A901-1A423CD15B7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B565717-F812-4622-9807-BDC68430305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missing value is not zero</a:t>
            </a:r>
          </a:p>
        </p:txBody>
      </p:sp>
      <p:sp>
        <p:nvSpPr>
          <p:cNvPr id="4" name="">
            <a:extLst xmlns:a="http://schemas.openxmlformats.org/drawingml/2006/main">
              <a:ext uri="{FF2B5EF4-FFF2-40B4-BE49-F238E27FC236}">
                <a16:creationId xmlns:a16="http://schemas.microsoft.com/office/drawing/2014/main" id="{58C8D782-7A95-4B6A-A5BA-BF05ED392A1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2886A3D-90F6-48AE-AAA0-CD11D64D523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NaN means a value is missing. A measured zero is still a recorded value.</a:t>
            </a:r>
          </a:p>
        </p:txBody>
      </p:sp>
      <p:sp>
        <p:nvSpPr>
          <p:cNvPr id="6" name="">
            <a:extLst xmlns:a="http://schemas.openxmlformats.org/drawingml/2006/main">
              <a:ext uri="{FF2B5EF4-FFF2-40B4-BE49-F238E27FC236}">
                <a16:creationId xmlns:a16="http://schemas.microsoft.com/office/drawing/2014/main" id="{CF600319-0676-4D49-AE90-FD57AD34439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77901CD-6AF4-48E5-ADBD-945EC1D585E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isna() asks “is this cell missing?” It returns True for yes and False for no.</a:t>
            </a:r>
          </a:p>
        </p:txBody>
      </p:sp>
      <p:sp>
        <p:nvSpPr>
          <p:cNvPr id="8" name="">
            <a:extLst xmlns:a="http://schemas.openxmlformats.org/drawingml/2006/main">
              <a:ext uri="{FF2B5EF4-FFF2-40B4-BE49-F238E27FC236}">
                <a16:creationId xmlns:a16="http://schemas.microsoft.com/office/drawing/2014/main" id="{C4708C79-4211-48FE-A928-AAE65880811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40A1ABE-AC18-4E2E-99F3-C135ADDA7C1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.sum() counts True answers: True counts as 1 and False as 0.</a:t>
            </a:r>
          </a:p>
        </p:txBody>
      </p:sp>
      <p:sp>
        <p:nvSpPr>
          <p:cNvPr id="10" name="">
            <a:extLst xmlns:a="http://schemas.openxmlformats.org/drawingml/2006/main">
              <a:ext uri="{FF2B5EF4-FFF2-40B4-BE49-F238E27FC236}">
                <a16:creationId xmlns:a16="http://schemas.microsoft.com/office/drawing/2014/main" id="{A3B28460-2776-467B-A45C-41D84B073AD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17</a:t>
            </a:r>
          </a:p>
        </p:txBody>
      </p:sp>
    </p:spTree>
    <p:extLst>
      <p:ext uri="{BB962C8B-B14F-4D97-AF65-F5344CB8AC3E}">
        <p14:creationId xmlns:p14="http://schemas.microsoft.com/office/powerpoint/2010/main" val="11822372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5BC2CB-62F9-4A74-88A4-AFE9126A654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2EC117-BB0B-4457-9E4E-A395D810FA3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87A76E8-B58C-4218-B9A0-AD0DF0145EE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missing cells in each column</a:t>
            </a:r>
          </a:p>
        </p:txBody>
      </p:sp>
      <p:sp>
        <p:nvSpPr>
          <p:cNvPr id="4" name="">
            <a:extLst xmlns:a="http://schemas.openxmlformats.org/drawingml/2006/main">
              <a:ext uri="{FF2B5EF4-FFF2-40B4-BE49-F238E27FC236}">
                <a16:creationId xmlns:a16="http://schemas.microsoft.com/office/drawing/2014/main" id="{923FC72A-E588-4013-9D8D-21B4E9B69A12}"/>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315BF68-E32D-4A61-ABD9-B511D28B0DB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print(raw_data.isna().sum())</a:t>
            </a:r>
          </a:p>
        </p:txBody>
      </p:sp>
      <p:sp>
        <p:nvSpPr>
          <p:cNvPr id="6" name="">
            <a:extLst xmlns:a="http://schemas.openxmlformats.org/drawingml/2006/main">
              <a:ext uri="{FF2B5EF4-FFF2-40B4-BE49-F238E27FC236}">
                <a16:creationId xmlns:a16="http://schemas.microsoft.com/office/drawing/2014/main" id="{9FF776EE-1D2C-41EB-B5A5-992AA95DEB30}"/>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94F6447-10FD-4BB1-B72C-C4587C84271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982A1343-8DED-4FD8-922E-C879BEB7B4C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18</a:t>
            </a:r>
          </a:p>
        </p:txBody>
      </p:sp>
    </p:spTree>
    <p:extLst>
      <p:ext uri="{BB962C8B-B14F-4D97-AF65-F5344CB8AC3E}">
        <p14:creationId xmlns:p14="http://schemas.microsoft.com/office/powerpoint/2010/main" val="24191847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A937506-6629-4AE8-B98C-1D37E4380CF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A04FA8-02A1-4221-8234-3AAABE00A7B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6C4CF08-A98C-483E-82CB-829E7D731A4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Find a repeated observation</a:t>
            </a:r>
          </a:p>
        </p:txBody>
      </p:sp>
      <p:sp>
        <p:nvSpPr>
          <p:cNvPr id="4" name="">
            <a:extLst xmlns:a="http://schemas.openxmlformats.org/drawingml/2006/main">
              <a:ext uri="{FF2B5EF4-FFF2-40B4-BE49-F238E27FC236}">
                <a16:creationId xmlns:a16="http://schemas.microsoft.com/office/drawing/2014/main" id="{484BA947-FA34-427D-8005-7019243C2AB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6F9B733-EF6C-48FA-A170-05309E7CD5E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801FBC1-7562-430D-B8ED-6B83FC568A6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record_id identifies one observation. equipment_id identifies the equipment and may repeat.</a:t>
            </a:r>
          </a:p>
        </p:txBody>
      </p:sp>
      <p:sp>
        <p:nvSpPr>
          <p:cNvPr id="7" name="">
            <a:extLst xmlns:a="http://schemas.openxmlformats.org/drawingml/2006/main">
              <a:ext uri="{FF2B5EF4-FFF2-40B4-BE49-F238E27FC236}">
                <a16:creationId xmlns:a16="http://schemas.microsoft.com/office/drawing/2014/main" id="{CDAC6011-5B18-448F-B5FB-408EEC88825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duplicated("record_id") marks later copies True. The first occurrence is False.</a:t>
            </a:r>
          </a:p>
        </p:txBody>
      </p:sp>
      <p:sp>
        <p:nvSpPr>
          <p:cNvPr id="8" name="">
            <a:extLst xmlns:a="http://schemas.openxmlformats.org/drawingml/2006/main">
              <a:ext uri="{FF2B5EF4-FFF2-40B4-BE49-F238E27FC236}">
                <a16:creationId xmlns:a16="http://schemas.microsoft.com/office/drawing/2014/main" id="{066BBED2-597F-48CB-BE6C-A8522C4F1B7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19</a:t>
            </a:r>
          </a:p>
        </p:txBody>
      </p:sp>
    </p:spTree>
    <p:extLst>
      <p:ext uri="{BB962C8B-B14F-4D97-AF65-F5344CB8AC3E}">
        <p14:creationId xmlns:p14="http://schemas.microsoft.com/office/powerpoint/2010/main" val="116959721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510B5B-ACC8-4A33-A723-3115DCA4CDE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D0F601-3E40-484E-91D0-30EF0C01B0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395AA67-0E64-4FA2-974F-C2DBCF6E434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repeated record IDs</a:t>
            </a:r>
          </a:p>
        </p:txBody>
      </p:sp>
      <p:sp>
        <p:nvSpPr>
          <p:cNvPr id="4" name="">
            <a:extLst xmlns:a="http://schemas.openxmlformats.org/drawingml/2006/main">
              <a:ext uri="{FF2B5EF4-FFF2-40B4-BE49-F238E27FC236}">
                <a16:creationId xmlns:a16="http://schemas.microsoft.com/office/drawing/2014/main" id="{05C6B389-7322-4642-BAC2-55663ED4084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6E24E8D-385F-413D-82A1-288189D70E9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is_repeated_record = raw_data.duplicated("record_id")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print(is_repeated_record)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print(is_repeated_record.sum())</a:t>
            </a:r>
          </a:p>
        </p:txBody>
      </p:sp>
      <p:sp>
        <p:nvSpPr>
          <p:cNvPr id="6" name="">
            <a:extLst xmlns:a="http://schemas.openxmlformats.org/drawingml/2006/main">
              <a:ext uri="{FF2B5EF4-FFF2-40B4-BE49-F238E27FC236}">
                <a16:creationId xmlns:a16="http://schemas.microsoft.com/office/drawing/2014/main" id="{932F8C6F-6B2C-4EC5-ACEC-F20FC681D31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D512E002-ADAB-4A04-A0B3-4CADDA4E2B2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8C54F4DF-5073-4794-863C-7007E84AC50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20</a:t>
            </a:r>
          </a:p>
        </p:txBody>
      </p:sp>
    </p:spTree>
    <p:extLst>
      <p:ext uri="{BB962C8B-B14F-4D97-AF65-F5344CB8AC3E}">
        <p14:creationId xmlns:p14="http://schemas.microsoft.com/office/powerpoint/2010/main" val="138947000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0D9B87-BF24-43EA-A0CB-29ECFC140EB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D0D54B-F52A-4EF7-9C07-3EDCB1B0E9D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4D3F738-8E4E-46F0-9DB1-BAE1898664C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Remove the later copy; keep the original</a:t>
            </a:r>
          </a:p>
        </p:txBody>
      </p:sp>
      <p:sp>
        <p:nvSpPr>
          <p:cNvPr id="4" name="">
            <a:extLst xmlns:a="http://schemas.openxmlformats.org/drawingml/2006/main">
              <a:ext uri="{FF2B5EF4-FFF2-40B4-BE49-F238E27FC236}">
                <a16:creationId xmlns:a16="http://schemas.microsoft.com/office/drawing/2014/main" id="{4E52DDDB-C9D8-4FFD-9766-8D2B3111BC4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38FDB09-7203-41C5-9093-5B1E5D8F0B2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F2BEBFD-57C2-42CA-B8E0-D80555B72CE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drop_duplicates("record_id") keeps the first occurrence of each record ID.</a:t>
            </a:r>
          </a:p>
        </p:txBody>
      </p:sp>
      <p:sp>
        <p:nvSpPr>
          <p:cNvPr id="7" name="">
            <a:extLst xmlns:a="http://schemas.openxmlformats.org/drawingml/2006/main">
              <a:ext uri="{FF2B5EF4-FFF2-40B4-BE49-F238E27FC236}">
                <a16:creationId xmlns:a16="http://schemas.microsoft.com/office/drawing/2014/main" id="{9F598757-49BA-43A7-A5CA-B0D6769B3647}"/>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.copy() makes an independent working table. len(table) counts its rows.</a:t>
            </a:r>
          </a:p>
        </p:txBody>
      </p:sp>
      <p:sp>
        <p:nvSpPr>
          <p:cNvPr id="8" name="">
            <a:extLst xmlns:a="http://schemas.openxmlformats.org/drawingml/2006/main">
              <a:ext uri="{FF2B5EF4-FFF2-40B4-BE49-F238E27FC236}">
                <a16:creationId xmlns:a16="http://schemas.microsoft.com/office/drawing/2014/main" id="{26255A63-E5C4-486F-8A90-6E2F8989B6F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21</a:t>
            </a:r>
          </a:p>
        </p:txBody>
      </p:sp>
    </p:spTree>
    <p:extLst>
      <p:ext uri="{BB962C8B-B14F-4D97-AF65-F5344CB8AC3E}">
        <p14:creationId xmlns:p14="http://schemas.microsoft.com/office/powerpoint/2010/main" val="194885958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147CA5-12BF-46B4-8BA9-74D4B63AD96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7210BB-C74C-41BD-927D-75D2C0009DA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ADD2B87-B5B4-4596-A7D6-E06597D7511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Create the working table</a:t>
            </a:r>
          </a:p>
        </p:txBody>
      </p:sp>
      <p:sp>
        <p:nvSpPr>
          <p:cNvPr id="4" name="">
            <a:extLst xmlns:a="http://schemas.openxmlformats.org/drawingml/2006/main">
              <a:ext uri="{FF2B5EF4-FFF2-40B4-BE49-F238E27FC236}">
                <a16:creationId xmlns:a16="http://schemas.microsoft.com/office/drawing/2014/main" id="{EA70EFE7-66BA-4991-ACF9-9D69D22C370A}"/>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2D10A5D-F4A9-457F-906A-B07A031330E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cleaned_data = raw_data.drop_duplicates("record_id").copy()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print(len(raw_data))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print(len(cleaned_data))</a:t>
            </a:r>
          </a:p>
        </p:txBody>
      </p:sp>
      <p:sp>
        <p:nvSpPr>
          <p:cNvPr id="6" name="">
            <a:extLst xmlns:a="http://schemas.openxmlformats.org/drawingml/2006/main">
              <a:ext uri="{FF2B5EF4-FFF2-40B4-BE49-F238E27FC236}">
                <a16:creationId xmlns:a16="http://schemas.microsoft.com/office/drawing/2014/main" id="{ECA12D71-AEFD-43B3-80B2-F8DAB41B1C0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0A3B38B4-4A20-4BC0-9682-84A7D2B7F99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7F93C27C-E226-4419-9444-7F3EF283F83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22</a:t>
            </a:r>
          </a:p>
        </p:txBody>
      </p:sp>
    </p:spTree>
    <p:extLst>
      <p:ext uri="{BB962C8B-B14F-4D97-AF65-F5344CB8AC3E}">
        <p14:creationId xmlns:p14="http://schemas.microsoft.com/office/powerpoint/2010/main" val="138641328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81C7E25-28B7-4473-856D-A1C9E80AE1A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591D41-9D62-4121-8D26-28C46F62506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03DBDD2-FC1B-4C72-A886-ECFAA14A82C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Question 1: is the target recorded?</a:t>
            </a:r>
          </a:p>
        </p:txBody>
      </p:sp>
      <p:sp>
        <p:nvSpPr>
          <p:cNvPr id="4" name="">
            <a:extLst xmlns:a="http://schemas.openxmlformats.org/drawingml/2006/main">
              <a:ext uri="{FF2B5EF4-FFF2-40B4-BE49-F238E27FC236}">
                <a16:creationId xmlns:a16="http://schemas.microsoft.com/office/drawing/2014/main" id="{A2438548-D31A-481C-A386-4C48C546E38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8991349-A234-4463-86AB-55F06F6C921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BE1FEE8-4E0C-45C2-B2F0-9D75824D66B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cleaned_data["target"] selects the target column.</a:t>
            </a:r>
          </a:p>
        </p:txBody>
      </p:sp>
      <p:sp>
        <p:nvSpPr>
          <p:cNvPr id="7" name="">
            <a:extLst xmlns:a="http://schemas.openxmlformats.org/drawingml/2006/main">
              <a:ext uri="{FF2B5EF4-FFF2-40B4-BE49-F238E27FC236}">
                <a16:creationId xmlns:a16="http://schemas.microsoft.com/office/drawing/2014/main" id="{630851EA-7682-4EDE-9FEE-85D1A1681147}"/>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.notna() asks whether each value is present. It returns True for a recorded value and False for a missing value.</a:t>
            </a:r>
          </a:p>
        </p:txBody>
      </p:sp>
      <p:sp>
        <p:nvSpPr>
          <p:cNvPr id="8" name="">
            <a:extLst xmlns:a="http://schemas.openxmlformats.org/drawingml/2006/main">
              <a:ext uri="{FF2B5EF4-FFF2-40B4-BE49-F238E27FC236}">
                <a16:creationId xmlns:a16="http://schemas.microsoft.com/office/drawing/2014/main" id="{82ECB6F4-9AEE-44CB-943E-0BCB8A86610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23</a:t>
            </a:r>
          </a:p>
        </p:txBody>
      </p:sp>
    </p:spTree>
    <p:extLst>
      <p:ext uri="{BB962C8B-B14F-4D97-AF65-F5344CB8AC3E}">
        <p14:creationId xmlns:p14="http://schemas.microsoft.com/office/powerpoint/2010/main" val="54180762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140F27-8654-4773-97F4-3BF0013CE25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DC5BA4-9FDD-4262-81B2-D43C7B1A767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79AAC70-D4D8-4867-A4AC-368F6D73FE7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Look at the values, then their answers</a:t>
            </a:r>
          </a:p>
        </p:txBody>
      </p:sp>
      <p:sp>
        <p:nvSpPr>
          <p:cNvPr id="4" name="">
            <a:extLst xmlns:a="http://schemas.openxmlformats.org/drawingml/2006/main">
              <a:ext uri="{FF2B5EF4-FFF2-40B4-BE49-F238E27FC236}">
                <a16:creationId xmlns:a16="http://schemas.microsoft.com/office/drawing/2014/main" id="{57A7A790-6B8D-4C50-BB73-A9D421E6F77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26B0AF-D8E1-406E-B6F8-5A515B7B3AA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target_is_recorded = cleaned_data["target"].notna()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print(cleaned_data["target"].head())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print(target_is_recorded.head())</a:t>
            </a:r>
          </a:p>
        </p:txBody>
      </p:sp>
      <p:sp>
        <p:nvSpPr>
          <p:cNvPr id="6" name="">
            <a:extLst xmlns:a="http://schemas.openxmlformats.org/drawingml/2006/main">
              <a:ext uri="{FF2B5EF4-FFF2-40B4-BE49-F238E27FC236}">
                <a16:creationId xmlns:a16="http://schemas.microsoft.com/office/drawing/2014/main" id="{00E4F031-EC23-4A10-8D5D-79BEA1E5357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612317E8-E529-40AD-8E4E-E770D210EF1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8DCA1E3D-FC35-4330-A324-D687747659C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24</a:t>
            </a:r>
          </a:p>
        </p:txBody>
      </p:sp>
    </p:spTree>
    <p:extLst>
      <p:ext uri="{BB962C8B-B14F-4D97-AF65-F5344CB8AC3E}">
        <p14:creationId xmlns:p14="http://schemas.microsoft.com/office/powerpoint/2010/main" val="115676170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51490F9-E4E8-4017-97A9-6ABA86521F2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7A7581-9206-4B80-A3AF-4F0A12003BB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E7A28DA-7500-46F2-BFAD-80B29A3EA55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Use the answers to select rows</a:t>
            </a:r>
          </a:p>
        </p:txBody>
      </p:sp>
      <p:sp>
        <p:nvSpPr>
          <p:cNvPr id="4" name="">
            <a:extLst xmlns:a="http://schemas.openxmlformats.org/drawingml/2006/main">
              <a:ext uri="{FF2B5EF4-FFF2-40B4-BE49-F238E27FC236}">
                <a16:creationId xmlns:a16="http://schemas.microsoft.com/office/drawing/2014/main" id="{27AD6DCF-91A3-4D58-A8C4-379260C2D07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3A15D42-02E7-4BDC-9F4D-85066C81814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4AC7AF2-58FC-4AC0-8679-F5C766088B6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cleaned_data[target_is_recorded] keeps rows whose answer is True. Rows answering False are left out of the returned table.</a:t>
            </a:r>
          </a:p>
        </p:txBody>
      </p:sp>
      <p:sp>
        <p:nvSpPr>
          <p:cNvPr id="7" name="">
            <a:extLst xmlns:a="http://schemas.openxmlformats.org/drawingml/2006/main">
              <a:ext uri="{FF2B5EF4-FFF2-40B4-BE49-F238E27FC236}">
                <a16:creationId xmlns:a16="http://schemas.microsoft.com/office/drawing/2014/main" id="{0CBEB5DC-C630-450A-B84E-4ADBE1FBCBD2}"/>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This True/False selection is called a Boolean mask. The variable name does not need to end in _mask.</a:t>
            </a:r>
          </a:p>
        </p:txBody>
      </p:sp>
      <p:sp>
        <p:nvSpPr>
          <p:cNvPr id="8" name="">
            <a:extLst xmlns:a="http://schemas.openxmlformats.org/drawingml/2006/main">
              <a:ext uri="{FF2B5EF4-FFF2-40B4-BE49-F238E27FC236}">
                <a16:creationId xmlns:a16="http://schemas.microsoft.com/office/drawing/2014/main" id="{5C8D6F68-14F9-4A14-B186-6D7779486C2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25</a:t>
            </a:r>
          </a:p>
        </p:txBody>
      </p:sp>
    </p:spTree>
    <p:extLst>
      <p:ext uri="{BB962C8B-B14F-4D97-AF65-F5344CB8AC3E}">
        <p14:creationId xmlns:p14="http://schemas.microsoft.com/office/powerpoint/2010/main" val="101181099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ABA183-FA0C-4FEE-BD70-6E5B88ACA75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8FBE20-2E88-430B-93BF-840FCBDAB65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65DD6D9-C893-4982-8948-29C5C006AC2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Try one condition on its own</a:t>
            </a:r>
          </a:p>
        </p:txBody>
      </p:sp>
      <p:sp>
        <p:nvSpPr>
          <p:cNvPr id="4" name="">
            <a:extLst xmlns:a="http://schemas.openxmlformats.org/drawingml/2006/main">
              <a:ext uri="{FF2B5EF4-FFF2-40B4-BE49-F238E27FC236}">
                <a16:creationId xmlns:a16="http://schemas.microsoft.com/office/drawing/2014/main" id="{CC88C142-F8CF-447B-A726-9CF62BA6107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43F6EC4-F007-4F17-A96A-AF0CF1A40E8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rows_with_target = cleaned_data[target_is_recorded].copy()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print(len(cleaned_data))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print(len(rows_with_target))</a:t>
            </a:r>
          </a:p>
        </p:txBody>
      </p:sp>
      <p:sp>
        <p:nvSpPr>
          <p:cNvPr id="6" name="">
            <a:extLst xmlns:a="http://schemas.openxmlformats.org/drawingml/2006/main">
              <a:ext uri="{FF2B5EF4-FFF2-40B4-BE49-F238E27FC236}">
                <a16:creationId xmlns:a16="http://schemas.microsoft.com/office/drawing/2014/main" id="{E5DE4C3C-1C4A-418E-988A-68EBB30337B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C27E53AE-8702-47B7-99BF-F500F7192D5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5CE929E3-8FAD-4D62-A16B-2EA79CD8BF7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26</a:t>
            </a:r>
          </a:p>
        </p:txBody>
      </p:sp>
    </p:spTree>
    <p:extLst>
      <p:ext uri="{BB962C8B-B14F-4D97-AF65-F5344CB8AC3E}">
        <p14:creationId xmlns:p14="http://schemas.microsoft.com/office/powerpoint/2010/main" val="66918828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C3976CB-1C33-4DDB-BC90-82B86FA2530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5429E5-CD5F-4E6A-B9DA-BB082A172D0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319D142-CD8A-4003-AA11-6805DA183A0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Question 2: is the load valid?</a:t>
            </a:r>
          </a:p>
        </p:txBody>
      </p:sp>
      <p:sp>
        <p:nvSpPr>
          <p:cNvPr id="4" name="">
            <a:extLst xmlns:a="http://schemas.openxmlformats.org/drawingml/2006/main">
              <a:ext uri="{FF2B5EF4-FFF2-40B4-BE49-F238E27FC236}">
                <a16:creationId xmlns:a16="http://schemas.microsoft.com/office/drawing/2014/main" id="{9E0441E3-A79B-48A6-AB3D-C422F76AF69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C3C9E89-D6F4-46D5-9EEB-A49322AB825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10720A4-582A-4463-AE46-8E78427525F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load_pct is a percentage. For this exercise the valid range is 0 through 100, including both endpoints.</a:t>
            </a:r>
          </a:p>
        </p:txBody>
      </p:sp>
      <p:sp>
        <p:nvSpPr>
          <p:cNvPr id="7" name="">
            <a:extLst xmlns:a="http://schemas.openxmlformats.org/drawingml/2006/main">
              <a:ext uri="{FF2B5EF4-FFF2-40B4-BE49-F238E27FC236}">
                <a16:creationId xmlns:a16="http://schemas.microsoft.com/office/drawing/2014/main" id="{C79D5800-BBFE-413C-A095-8978AB79C63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.between(0, 100) answers True inside that range and False outside it.</a:t>
            </a:r>
          </a:p>
        </p:txBody>
      </p:sp>
      <p:sp>
        <p:nvSpPr>
          <p:cNvPr id="8" name="">
            <a:extLst xmlns:a="http://schemas.openxmlformats.org/drawingml/2006/main">
              <a:ext uri="{FF2B5EF4-FFF2-40B4-BE49-F238E27FC236}">
                <a16:creationId xmlns:a16="http://schemas.microsoft.com/office/drawing/2014/main" id="{E22DA84E-08EC-4723-99FE-A4FB793D529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27</a:t>
            </a:r>
          </a:p>
        </p:txBody>
      </p:sp>
    </p:spTree>
    <p:extLst>
      <p:ext uri="{BB962C8B-B14F-4D97-AF65-F5344CB8AC3E}">
        <p14:creationId xmlns:p14="http://schemas.microsoft.com/office/powerpoint/2010/main" val="98122169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B6C535-EE94-4C68-8DD5-D7DBD1882E5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846E06-3283-4712-8A5C-3CB0A3271F8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8253250-6C76-4AF5-A51F-D9FAD0E9AF0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Inspect the load answers</a:t>
            </a:r>
          </a:p>
        </p:txBody>
      </p:sp>
      <p:sp>
        <p:nvSpPr>
          <p:cNvPr id="4" name="">
            <a:extLst xmlns:a="http://schemas.openxmlformats.org/drawingml/2006/main">
              <a:ext uri="{FF2B5EF4-FFF2-40B4-BE49-F238E27FC236}">
                <a16:creationId xmlns:a16="http://schemas.microsoft.com/office/drawing/2014/main" id="{DDD1DEE1-AAB4-4701-819B-15472FAE6CF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73FAE9D-0215-4BD7-B958-5FC88DE4B83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load_is_valid = cleaned_data["load_pct"].between(0, 100)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print(cleaned_data["load_pct"].head(10))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print(load_is_valid.head(10))</a:t>
            </a:r>
          </a:p>
        </p:txBody>
      </p:sp>
      <p:sp>
        <p:nvSpPr>
          <p:cNvPr id="6" name="">
            <a:extLst xmlns:a="http://schemas.openxmlformats.org/drawingml/2006/main">
              <a:ext uri="{FF2B5EF4-FFF2-40B4-BE49-F238E27FC236}">
                <a16:creationId xmlns:a16="http://schemas.microsoft.com/office/drawing/2014/main" id="{DF18FDE6-B20A-4DC5-BB49-436F642140E0}"/>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A72E8890-F230-4844-87CC-BE2FE81ADA5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691CFE16-6ECA-4029-B3FF-95473349D3C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28</a:t>
            </a:r>
          </a:p>
        </p:txBody>
      </p:sp>
    </p:spTree>
    <p:extLst>
      <p:ext uri="{BB962C8B-B14F-4D97-AF65-F5344CB8AC3E}">
        <p14:creationId xmlns:p14="http://schemas.microsoft.com/office/powerpoint/2010/main" val="113721772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A095C9-4701-4282-AA31-73B0E7A954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ECB7A7-CCE9-4455-84AB-3D78F109D1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BFC96A7-9DAE-482C-BDFF-4F6D2FBE121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 a row only when both answers are True</a:t>
            </a:r>
          </a:p>
        </p:txBody>
      </p:sp>
      <p:sp>
        <p:nvSpPr>
          <p:cNvPr id="4" name="">
            <a:extLst xmlns:a="http://schemas.openxmlformats.org/drawingml/2006/main">
              <a:ext uri="{FF2B5EF4-FFF2-40B4-BE49-F238E27FC236}">
                <a16:creationId xmlns:a16="http://schemas.microsoft.com/office/drawing/2014/main" id="{B815CFC5-1899-406C-BEBC-A027BD4D9DE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BD0DF45-3103-4C33-B05A-60AAC570CD6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&amp; means “and” for two True/False columns.</a:t>
            </a:r>
          </a:p>
        </p:txBody>
      </p:sp>
      <p:sp>
        <p:nvSpPr>
          <p:cNvPr id="6" name="">
            <a:extLst xmlns:a="http://schemas.openxmlformats.org/drawingml/2006/main">
              <a:ext uri="{FF2B5EF4-FFF2-40B4-BE49-F238E27FC236}">
                <a16:creationId xmlns:a16="http://schemas.microsoft.com/office/drawing/2014/main" id="{4232D0A2-0F9C-44BE-8C51-3B89B97E526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D52FAAA-836B-4C3B-A258-7E33DB9C698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True &amp; True → True. Any pair containing False → False.</a:t>
            </a:r>
          </a:p>
        </p:txBody>
      </p:sp>
      <p:sp>
        <p:nvSpPr>
          <p:cNvPr id="8" name="">
            <a:extLst xmlns:a="http://schemas.openxmlformats.org/drawingml/2006/main">
              <a:ext uri="{FF2B5EF4-FFF2-40B4-BE49-F238E27FC236}">
                <a16:creationId xmlns:a16="http://schemas.microsoft.com/office/drawing/2014/main" id="{617FBD81-F7D9-4423-8E86-4635783DE47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AF42370-B2D3-4D6F-A411-A96C7BA4506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Our rule: a recorded target AND a valid load.</a:t>
            </a:r>
          </a:p>
        </p:txBody>
      </p:sp>
      <p:sp>
        <p:nvSpPr>
          <p:cNvPr id="10" name="">
            <a:extLst xmlns:a="http://schemas.openxmlformats.org/drawingml/2006/main">
              <a:ext uri="{FF2B5EF4-FFF2-40B4-BE49-F238E27FC236}">
                <a16:creationId xmlns:a16="http://schemas.microsoft.com/office/drawing/2014/main" id="{1B7BADF4-F4BD-418A-A4CF-F81FE3502FA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29</a:t>
            </a:r>
          </a:p>
        </p:txBody>
      </p:sp>
    </p:spTree>
    <p:extLst>
      <p:ext uri="{BB962C8B-B14F-4D97-AF65-F5344CB8AC3E}">
        <p14:creationId xmlns:p14="http://schemas.microsoft.com/office/powerpoint/2010/main" val="134289083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EE729F-948F-4C8D-9DA5-E07AAEF96A1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5CC47F-CD83-44C3-8691-E78CC89DBEE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3C4D015B-E573-48C2-BCC2-8A846BB676B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Which observations will we keep?</a:t>
            </a:r>
          </a:p>
        </p:txBody>
      </p:sp>
      <p:graphicFrame>
        <p:nvGraphicFramePr>
          <p:cNvPr id="4" name="">
            <a:extLst xmlns:a="http://schemas.openxmlformats.org/drawingml/2006/main">
              <a:ext uri="{FF2B5EF4-FFF2-40B4-BE49-F238E27FC236}">
                <a16:creationId xmlns:a16="http://schemas.microsoft.com/office/drawing/2014/main" id="{B0213648-3326-4DC3-B9FE-6070C307CD62}"/>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2752725"/>
                <a:gridCol w="2752725"/>
                <a:gridCol w="2752725"/>
                <a:gridCol w="2752725"/>
              </a:tblGrid>
              <a:tr h="833438">
                <a:tc>
                  <a:txBody>
                    <a:bodyPr/>
                    <a:lstStyle/>
                    <a:p>
                      <a:r>
                        <a:rPr sz="2025" b="1">
                          <a:solidFill>
                            <a:srgbClr val="FFFFFF"/>
                          </a:solidFill>
                          <a:latin typeface="Calibri"/>
                          <a:ea typeface="Calibri"/>
                          <a:cs typeface="Calibri"/>
                        </a:rPr>
                        <a:t>Record ID</a:t>
                      </a:r>
                    </a:p>
                  </a:txBody>
                  <a:tcPr marL="91440" marR="91440" marT="45720" marB="45720">
                    <a:solidFill>
                      <a:srgbClr val="2E7D6F"/>
                    </a:solidFill>
                  </a:tcPr>
                </a:tc>
                <a:tc>
                  <a:txBody>
                    <a:bodyPr/>
                    <a:lstStyle/>
                    <a:p>
                      <a:r>
                        <a:rPr sz="2025" b="1">
                          <a:solidFill>
                            <a:srgbClr val="FFFFFF"/>
                          </a:solidFill>
                          <a:latin typeface="Calibri"/>
                          <a:ea typeface="Calibri"/>
                          <a:cs typeface="Calibri"/>
                        </a:rPr>
                        <a:t>Target recorded?</a:t>
                      </a:r>
                    </a:p>
                  </a:txBody>
                  <a:tcPr marL="91440" marR="91440" marT="45720" marB="45720">
                    <a:solidFill>
                      <a:srgbClr val="2E7D6F"/>
                    </a:solidFill>
                  </a:tcPr>
                </a:tc>
                <a:tc>
                  <a:txBody>
                    <a:bodyPr/>
                    <a:lstStyle/>
                    <a:p>
                      <a:r>
                        <a:rPr sz="2025" b="1">
                          <a:solidFill>
                            <a:srgbClr val="FFFFFF"/>
                          </a:solidFill>
                          <a:latin typeface="Calibri"/>
                          <a:ea typeface="Calibri"/>
                          <a:cs typeface="Calibri"/>
                        </a:rPr>
                        <a:t>Load valid?</a:t>
                      </a:r>
                    </a:p>
                  </a:txBody>
                  <a:tcPr marL="91440" marR="91440" marT="45720" marB="45720">
                    <a:solidFill>
                      <a:srgbClr val="2E7D6F"/>
                    </a:solidFill>
                  </a:tcPr>
                </a:tc>
                <a:tc>
                  <a:txBody>
                    <a:bodyPr/>
                    <a:lstStyle/>
                    <a:p>
                      <a:r>
                        <a:rPr sz="2025" b="1">
                          <a:solidFill>
                            <a:srgbClr val="FFFFFF"/>
                          </a:solidFill>
                          <a:latin typeface="Calibri"/>
                          <a:ea typeface="Calibri"/>
                          <a:cs typeface="Calibri"/>
                        </a:rPr>
                        <a:t>Keep?</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1</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Yes</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4</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No</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9</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No</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788568B2-DE9D-43EB-BFE2-DB5F94A14260}"/>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 row stays only when both checks pass. These records come from the supplied CSV.</a:t>
            </a:r>
          </a:p>
        </p:txBody>
      </p:sp>
      <p:sp>
        <p:nvSpPr>
          <p:cNvPr id="6" name="">
            <a:extLst xmlns:a="http://schemas.openxmlformats.org/drawingml/2006/main">
              <a:ext uri="{FF2B5EF4-FFF2-40B4-BE49-F238E27FC236}">
                <a16:creationId xmlns:a16="http://schemas.microsoft.com/office/drawing/2014/main" id="{471FAB49-907A-449D-B395-C64E381F3D4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30</a:t>
            </a:r>
          </a:p>
        </p:txBody>
      </p:sp>
    </p:spTree>
    <p:extLst>
      <p:ext uri="{BB962C8B-B14F-4D97-AF65-F5344CB8AC3E}">
        <p14:creationId xmlns:p14="http://schemas.microsoft.com/office/powerpoint/2010/main" val="8805201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7448DE-303B-45B2-A36B-6387954913F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4BFB4D-BD03-4FF4-B8E8-14D557BD96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18BBA21-0D8E-453C-8F45-9F1D5A1CAD6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Combine the answers, then keep those rows</a:t>
            </a:r>
          </a:p>
        </p:txBody>
      </p:sp>
      <p:sp>
        <p:nvSpPr>
          <p:cNvPr id="4" name="">
            <a:extLst xmlns:a="http://schemas.openxmlformats.org/drawingml/2006/main">
              <a:ext uri="{FF2B5EF4-FFF2-40B4-BE49-F238E27FC236}">
                <a16:creationId xmlns:a16="http://schemas.microsoft.com/office/drawing/2014/main" id="{B7B082EA-3D68-4DD3-8E79-66993C00E90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3D06035-56E2-41E0-B082-EAB7898F364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rows_to_keep = target_is_recorded &amp; load_is_valid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print(rows_to_keep.sum())</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cleaned_data = cleaned_data[rows_to_keep].copy()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print(len(cleaned_data))</a:t>
            </a:r>
          </a:p>
        </p:txBody>
      </p:sp>
      <p:sp>
        <p:nvSpPr>
          <p:cNvPr id="6" name="">
            <a:extLst xmlns:a="http://schemas.openxmlformats.org/drawingml/2006/main">
              <a:ext uri="{FF2B5EF4-FFF2-40B4-BE49-F238E27FC236}">
                <a16:creationId xmlns:a16="http://schemas.microsoft.com/office/drawing/2014/main" id="{1BE628F1-8A19-4440-8E10-5B9767B44D8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CC0CD5E3-B7E2-4A3C-8706-D8E3787B37D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B349DB50-B9DA-40FE-87C4-ED6BE62F395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31</a:t>
            </a:r>
          </a:p>
        </p:txBody>
      </p:sp>
    </p:spTree>
    <p:extLst>
      <p:ext uri="{BB962C8B-B14F-4D97-AF65-F5344CB8AC3E}">
        <p14:creationId xmlns:p14="http://schemas.microsoft.com/office/powerpoint/2010/main" val="82440775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8A92A5-44DE-4B40-B8B6-37113069CA2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B3AF40-F4E9-4B58-8257-A5C626DD28F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C722584-4C16-4B69-BA88-6D888BEBD37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Fill only missing ambient temperatures</a:t>
            </a:r>
          </a:p>
        </p:txBody>
      </p:sp>
      <p:sp>
        <p:nvSpPr>
          <p:cNvPr id="4" name="">
            <a:extLst xmlns:a="http://schemas.openxmlformats.org/drawingml/2006/main">
              <a:ext uri="{FF2B5EF4-FFF2-40B4-BE49-F238E27FC236}">
                <a16:creationId xmlns:a16="http://schemas.microsoft.com/office/drawing/2014/main" id="{2CADB1C6-0CD1-4049-8BEC-82FBD7C483D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53762F-ACA5-4E4D-B422-E3AD354844A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492529C-AC12-43B1-A19E-D3A24FA0C41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ambient_c is temperature in °C. .median() finds the middle of the recorded values in the retained rows.</a:t>
            </a:r>
          </a:p>
        </p:txBody>
      </p:sp>
      <p:sp>
        <p:nvSpPr>
          <p:cNvPr id="7" name="">
            <a:extLst xmlns:a="http://schemas.openxmlformats.org/drawingml/2006/main">
              <a:ext uri="{FF2B5EF4-FFF2-40B4-BE49-F238E27FC236}">
                <a16:creationId xmlns:a16="http://schemas.microsoft.com/office/drawing/2014/main" id="{1D433DEC-E8C6-466B-B173-30666C10F61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.fillna(value) replaces only missing entries. Assign the result back to the ambient_c column.</a:t>
            </a:r>
          </a:p>
        </p:txBody>
      </p:sp>
      <p:sp>
        <p:nvSpPr>
          <p:cNvPr id="8" name="">
            <a:extLst xmlns:a="http://schemas.openxmlformats.org/drawingml/2006/main">
              <a:ext uri="{FF2B5EF4-FFF2-40B4-BE49-F238E27FC236}">
                <a16:creationId xmlns:a16="http://schemas.microsoft.com/office/drawing/2014/main" id="{C2C08A33-F2A2-4FEF-A486-6B3C2E3FEA9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32</a:t>
            </a:r>
          </a:p>
        </p:txBody>
      </p:sp>
    </p:spTree>
    <p:extLst>
      <p:ext uri="{BB962C8B-B14F-4D97-AF65-F5344CB8AC3E}">
        <p14:creationId xmlns:p14="http://schemas.microsoft.com/office/powerpoint/2010/main" val="151765398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200581-3152-478B-80DD-5C1165E64AA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271BEF-8FA7-44B9-ABBD-30A4FC8657E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5C6146E-4C14-489C-9570-14C441210E4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Fill missing ambient temperatures</a:t>
            </a:r>
          </a:p>
        </p:txBody>
      </p:sp>
      <p:sp>
        <p:nvSpPr>
          <p:cNvPr id="4" name="">
            <a:extLst xmlns:a="http://schemas.openxmlformats.org/drawingml/2006/main">
              <a:ext uri="{FF2B5EF4-FFF2-40B4-BE49-F238E27FC236}">
                <a16:creationId xmlns:a16="http://schemas.microsoft.com/office/drawing/2014/main" id="{21787B23-7EE6-45DB-A174-8FF855604651}"/>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1122D6F-713A-42F9-A206-4CF8353E38B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median_ambient_c = cleaned_data["ambient_c"].median()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cleaned_data["ambient_c"]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cleaned_data["ambient_c"].fillna(median_ambient_c))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print(round(float(median_ambient_c), 3))</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print(cleaned_data.isna().sum())</a:t>
            </a:r>
          </a:p>
        </p:txBody>
      </p:sp>
      <p:sp>
        <p:nvSpPr>
          <p:cNvPr id="6" name="">
            <a:extLst xmlns:a="http://schemas.openxmlformats.org/drawingml/2006/main">
              <a:ext uri="{FF2B5EF4-FFF2-40B4-BE49-F238E27FC236}">
                <a16:creationId xmlns:a16="http://schemas.microsoft.com/office/drawing/2014/main" id="{B32FD144-F6D5-4B41-9353-30ED4DC9B9E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Calculate the median using the retained rows only.</a:t>
            </a:r>
          </a:p>
        </p:txBody>
      </p:sp>
      <p:sp>
        <p:nvSpPr>
          <p:cNvPr id="7" name="">
            <a:extLst xmlns:a="http://schemas.openxmlformats.org/drawingml/2006/main">
              <a:ext uri="{FF2B5EF4-FFF2-40B4-BE49-F238E27FC236}">
                <a16:creationId xmlns:a16="http://schemas.microsoft.com/office/drawing/2014/main" id="{E9568C59-45B9-4311-AE23-B3017885F67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7FB70E00-C5C8-4FC5-BD86-257A211902D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33</a:t>
            </a:r>
          </a:p>
        </p:txBody>
      </p:sp>
    </p:spTree>
    <p:extLst>
      <p:ext uri="{BB962C8B-B14F-4D97-AF65-F5344CB8AC3E}">
        <p14:creationId xmlns:p14="http://schemas.microsoft.com/office/powerpoint/2010/main" val="177139994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99E5235-26DF-4376-866E-3167690C818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FF9487-BB72-4F68-99D7-03B7458F947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21BB212-C495-45B0-9F9E-93418F36E21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Validate the result before interpreting charts</a:t>
            </a:r>
          </a:p>
        </p:txBody>
      </p:sp>
      <p:sp>
        <p:nvSpPr>
          <p:cNvPr id="4" name="">
            <a:extLst xmlns:a="http://schemas.openxmlformats.org/drawingml/2006/main">
              <a:ext uri="{FF2B5EF4-FFF2-40B4-BE49-F238E27FC236}">
                <a16:creationId xmlns:a16="http://schemas.microsoft.com/office/drawing/2014/main" id="{7A03A9FF-4069-4B54-9058-A000EDD4AAE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D3839D2-D28A-4798-8285-DB534684C07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F576BCE-A295-4239-99EA-D7B9A2420FF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Count original and retained rows. Check duplicate record IDs, missing values and valid loads again.</a:t>
            </a:r>
          </a:p>
        </p:txBody>
      </p:sp>
      <p:sp>
        <p:nvSpPr>
          <p:cNvPr id="7" name="">
            <a:extLst xmlns:a="http://schemas.openxmlformats.org/drawingml/2006/main">
              <a:ext uri="{FF2B5EF4-FFF2-40B4-BE49-F238E27FC236}">
                <a16:creationId xmlns:a16="http://schemas.microsoft.com/office/drawing/2014/main" id="{CBD60426-D2B3-4D44-9DF2-D76461BFAAC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.all() answers True only when every row passes the condition. A check confirms what the data contain; a table named cleaned_data is not automatically correct.</a:t>
            </a:r>
          </a:p>
        </p:txBody>
      </p:sp>
      <p:sp>
        <p:nvSpPr>
          <p:cNvPr id="8" name="">
            <a:extLst xmlns:a="http://schemas.openxmlformats.org/drawingml/2006/main">
              <a:ext uri="{FF2B5EF4-FFF2-40B4-BE49-F238E27FC236}">
                <a16:creationId xmlns:a16="http://schemas.microsoft.com/office/drawing/2014/main" id="{FE3B55DA-91BE-4792-8AE2-29C041CEB05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34</a:t>
            </a:r>
          </a:p>
        </p:txBody>
      </p:sp>
    </p:spTree>
    <p:extLst>
      <p:ext uri="{BB962C8B-B14F-4D97-AF65-F5344CB8AC3E}">
        <p14:creationId xmlns:p14="http://schemas.microsoft.com/office/powerpoint/2010/main" val="94020635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8FCCB7-A736-49D6-A1A0-1D3D3E0BFCC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0DE8BD-4653-4C14-A90F-B2F330E5EC3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6DDE0B8-CB21-42E7-94DE-93E404E8CDF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the cleaned table</a:t>
            </a:r>
          </a:p>
        </p:txBody>
      </p:sp>
      <p:sp>
        <p:nvSpPr>
          <p:cNvPr id="4" name="">
            <a:extLst xmlns:a="http://schemas.openxmlformats.org/drawingml/2006/main">
              <a:ext uri="{FF2B5EF4-FFF2-40B4-BE49-F238E27FC236}">
                <a16:creationId xmlns:a16="http://schemas.microsoft.com/office/drawing/2014/main" id="{3A5FD24C-7BD9-43C8-9D5B-A9B7436A56D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93B5DB3-0E22-4334-BE92-9402A4F36B6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58" b="0">
                <a:solidFill>
                  <a:srgbClr val="F4F7FA"/>
                </a:solidFill>
                <a:latin typeface="Courier New"/>
                <a:ea typeface="Courier New"/>
                <a:cs typeface="Courier New"/>
              </a:defRPr>
            </a:defPPr>
            <a:lvl1pPr>
              <a:defRPr sz="1858" b="0">
                <a:solidFill>
                  <a:srgbClr val="F4F7FA"/>
                </a:solidFill>
                <a:latin typeface="Courier New"/>
                <a:ea typeface="Courier New"/>
                <a:cs typeface="Courier New"/>
              </a:defRPr>
            </a:lvl1pPr>
            <a:lvl2pPr>
              <a:defRPr sz="1858" b="0">
                <a:solidFill>
                  <a:srgbClr val="F4F7FA"/>
                </a:solidFill>
                <a:latin typeface="Courier New"/>
                <a:ea typeface="Courier New"/>
                <a:cs typeface="Courier New"/>
              </a:defRPr>
            </a:lvl2pPr>
            <a:lvl3pPr>
              <a:defRPr sz="1858" b="0">
                <a:solidFill>
                  <a:srgbClr val="F4F7FA"/>
                </a:solidFill>
                <a:latin typeface="Courier New"/>
                <a:ea typeface="Courier New"/>
                <a:cs typeface="Courier New"/>
              </a:defRPr>
            </a:lvl3pPr>
            <a:lvl4pPr>
              <a:defRPr sz="1858" b="0">
                <a:solidFill>
                  <a:srgbClr val="F4F7FA"/>
                </a:solidFill>
                <a:latin typeface="Courier New"/>
                <a:ea typeface="Courier New"/>
                <a:cs typeface="Courier New"/>
              </a:defRPr>
            </a:lvl4pPr>
            <a:lvl5pPr>
              <a:defRPr sz="1858" b="0">
                <a:solidFill>
                  <a:srgbClr val="F4F7FA"/>
                </a:solidFill>
                <a:latin typeface="Courier New"/>
                <a:ea typeface="Courier New"/>
                <a:cs typeface="Courier New"/>
              </a:defRPr>
            </a:lvl5pPr>
            <a:lvl6pPr>
              <a:defRPr sz="1858" b="0">
                <a:solidFill>
                  <a:srgbClr val="F4F7FA"/>
                </a:solidFill>
                <a:latin typeface="Courier New"/>
                <a:ea typeface="Courier New"/>
                <a:cs typeface="Courier New"/>
              </a:defRPr>
            </a:lvl6pPr>
            <a:lvl7pPr>
              <a:defRPr sz="1858" b="0">
                <a:solidFill>
                  <a:srgbClr val="F4F7FA"/>
                </a:solidFill>
                <a:latin typeface="Courier New"/>
                <a:ea typeface="Courier New"/>
                <a:cs typeface="Courier New"/>
              </a:defRPr>
            </a:lvl7pPr>
            <a:lvl8pPr>
              <a:defRPr sz="1858" b="0">
                <a:solidFill>
                  <a:srgbClr val="F4F7FA"/>
                </a:solidFill>
                <a:latin typeface="Courier New"/>
                <a:ea typeface="Courier New"/>
                <a:cs typeface="Courier New"/>
              </a:defRPr>
            </a:lvl8pPr>
            <a:lvl9pPr>
              <a:defRPr sz="1858" b="0">
                <a:solidFill>
                  <a:srgbClr val="F4F7FA"/>
                </a:solidFill>
                <a:latin typeface="Courier New"/>
                <a:ea typeface="Courier New"/>
                <a:cs typeface="Courier New"/>
              </a:defRPr>
            </a:lvl9pPr>
          </a:lstStyle>
          <a:p xmlns:a="http://schemas.openxmlformats.org/drawingml/2006/main">
            <a:pPr>
              <a:defRPr sz="1858" b="0">
                <a:solidFill>
                  <a:srgbClr val="F4F7FA"/>
                </a:solidFill>
                <a:latin typeface="Courier New"/>
                <a:ea typeface="Courier New"/>
                <a:cs typeface="Courier New"/>
              </a:defRPr>
            </a:pPr>
            <a:r>
              <a:rPr sz="1858" b="0">
                <a:solidFill>
                  <a:srgbClr val="F4F7FA"/>
                </a:solidFill>
                <a:latin typeface="Courier New"/>
                <a:ea typeface="Courier New"/>
                <a:cs typeface="Courier New"/>
              </a:rPr>
              <a:t>print("Rows be</a:t>
            </a:r>
            <a:r>
              <a:rPr sz="1858" b="0">
                <a:solidFill>
                  <a:srgbClr val="FFB080"/>
                </a:solidFill>
                <a:latin typeface="Courier New"/>
                <a:ea typeface="Courier New"/>
                <a:cs typeface="Courier New"/>
              </a:rPr>
              <a:t>for</a:t>
            </a:r>
            <a:r>
              <a:rPr sz="1858" b="0">
                <a:solidFill>
                  <a:srgbClr val="F4F7FA"/>
                </a:solidFill>
                <a:latin typeface="Courier New"/>
                <a:ea typeface="Courier New"/>
                <a:cs typeface="Courier New"/>
              </a:rPr>
              <a:t>e:", len(raw_data))</a:t>
            </a:r>
          </a:p>
          <a:p xmlns:a="http://schemas.openxmlformats.org/drawingml/2006/main">
            <a:pPr>
              <a:defRPr sz="1858" b="0">
                <a:solidFill>
                  <a:srgbClr val="F4F7FA"/>
                </a:solidFill>
                <a:latin typeface="Courier New"/>
                <a:ea typeface="Courier New"/>
                <a:cs typeface="Courier New"/>
              </a:defRPr>
            </a:pPr>
            <a:r>
              <a:rPr sz="1858" b="0">
                <a:solidFill>
                  <a:srgbClr val="F4F7FA"/>
                </a:solidFill>
                <a:latin typeface="Courier New"/>
                <a:ea typeface="Courier New"/>
                <a:cs typeface="Courier New"/>
              </a:rPr>
              <a:t>print("Rows after:", len(cleaned_data))</a:t>
            </a:r>
          </a:p>
          <a:p xmlns:a="http://schemas.openxmlformats.org/drawingml/2006/main">
            <a:pPr>
              <a:defRPr sz="1858" b="0">
                <a:solidFill>
                  <a:srgbClr val="F4F7FA"/>
                </a:solidFill>
                <a:latin typeface="Courier New"/>
                <a:ea typeface="Courier New"/>
                <a:cs typeface="Courier New"/>
              </a:defRPr>
            </a:pPr>
            <a:r>
              <a:rPr sz="1858" b="0">
                <a:solidFill>
                  <a:srgbClr val="F4F7FA"/>
                </a:solidFill>
                <a:latin typeface="Courier New"/>
                <a:ea typeface="Courier New"/>
                <a:cs typeface="Courier New"/>
              </a:rPr>
              <a:t>print("Duplicate IDs:", cleaned_data.duplicated("record_id").sum())</a:t>
            </a:r>
          </a:p>
          <a:p xmlns:a="http://schemas.openxmlformats.org/drawingml/2006/main">
            <a:pPr>
              <a:defRPr sz="1858" b="0">
                <a:solidFill>
                  <a:srgbClr val="F4F7FA"/>
                </a:solidFill>
                <a:latin typeface="Courier New"/>
                <a:ea typeface="Courier New"/>
                <a:cs typeface="Courier New"/>
              </a:defRPr>
            </a:pPr>
            <a:r>
              <a:rPr sz="1858" b="0">
                <a:solidFill>
                  <a:srgbClr val="F4F7FA"/>
                </a:solidFill>
                <a:latin typeface="Courier New"/>
                <a:ea typeface="Courier New"/>
                <a:cs typeface="Courier New"/>
              </a:rPr>
              <a:t>print(cleaned_data.isna().sum())</a:t>
            </a:r>
          </a:p>
          <a:p xmlns:a="http://schemas.openxmlformats.org/drawingml/2006/main">
            <a:pPr>
              <a:defRPr sz="1858" b="0">
                <a:solidFill>
                  <a:srgbClr val="F4F7FA"/>
                </a:solidFill>
                <a:latin typeface="Courier New"/>
                <a:ea typeface="Courier New"/>
                <a:cs typeface="Courier New"/>
              </a:defRPr>
            </a:pPr>
            <a:r>
              <a:rPr sz="1858" b="0">
                <a:solidFill>
                  <a:srgbClr val="F4F7FA"/>
                </a:solidFill>
                <a:latin typeface="Courier New"/>
                <a:ea typeface="Courier New"/>
                <a:cs typeface="Courier New"/>
              </a:rPr>
              <a:t>print("Loads valid:", cleaned_data["load_pct"].between(0, 100).all())</a:t>
            </a:r>
          </a:p>
        </p:txBody>
      </p:sp>
      <p:sp>
        <p:nvSpPr>
          <p:cNvPr id="6" name="">
            <a:extLst xmlns:a="http://schemas.openxmlformats.org/drawingml/2006/main">
              <a:ext uri="{FF2B5EF4-FFF2-40B4-BE49-F238E27FC236}">
                <a16:creationId xmlns:a16="http://schemas.microsoft.com/office/drawing/2014/main" id="{95F463BB-BA8F-4762-9470-CA8CEEF275C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Expect 91 original rows, 88 retained rows, zero duplicate IDs, zero remaining missing cells, and True for the load check. Missing temperatures are estimates; the unchanged raw table retains the original gaps.</a:t>
            </a:r>
          </a:p>
        </p:txBody>
      </p:sp>
      <p:sp>
        <p:nvSpPr>
          <p:cNvPr id="7" name="">
            <a:extLst xmlns:a="http://schemas.openxmlformats.org/drawingml/2006/main">
              <a:ext uri="{FF2B5EF4-FFF2-40B4-BE49-F238E27FC236}">
                <a16:creationId xmlns:a16="http://schemas.microsoft.com/office/drawing/2014/main" id="{5C47D499-160F-4929-90B7-243E4F5EFF1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after the preceding example using the supplied CSV.</a:t>
            </a:r>
          </a:p>
        </p:txBody>
      </p:sp>
      <p:sp>
        <p:nvSpPr>
          <p:cNvPr id="8" name="">
            <a:extLst xmlns:a="http://schemas.openxmlformats.org/drawingml/2006/main">
              <a:ext uri="{FF2B5EF4-FFF2-40B4-BE49-F238E27FC236}">
                <a16:creationId xmlns:a16="http://schemas.microsoft.com/office/drawing/2014/main" id="{734F5808-3EDC-4E2F-92E6-F4EEE70CAF8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35</a:t>
            </a:r>
          </a:p>
        </p:txBody>
      </p:sp>
    </p:spTree>
    <p:extLst>
      <p:ext uri="{BB962C8B-B14F-4D97-AF65-F5344CB8AC3E}">
        <p14:creationId xmlns:p14="http://schemas.microsoft.com/office/powerpoint/2010/main" val="36483085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5E2BD7-6815-4AB0-8378-BCC581B06A9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2E2E2B-9BD7-4057-8246-3643584D075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5E67A5D-319A-42B5-9964-CD0F8815339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Summaries and grouped results</a:t>
            </a:r>
          </a:p>
        </p:txBody>
      </p:sp>
      <p:sp>
        <p:nvSpPr>
          <p:cNvPr id="4" name="">
            <a:extLst xmlns:a="http://schemas.openxmlformats.org/drawingml/2006/main">
              <a:ext uri="{FF2B5EF4-FFF2-40B4-BE49-F238E27FC236}">
                <a16:creationId xmlns:a16="http://schemas.microsoft.com/office/drawing/2014/main" id="{1DDEA769-3C5A-4DB2-815B-EE71C2E177D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8A808CC-9A36-4AF6-B165-0F062253CD7F}"/>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36E7136-B833-4018-8F47-9A9C848D14D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mean, min and max summarise a numeric column. groupby collects rows with the same equipment label before calculating.</a:t>
            </a:r>
          </a:p>
        </p:txBody>
      </p:sp>
      <p:sp>
        <p:nvSpPr>
          <p:cNvPr id="7" name="">
            <a:extLst xmlns:a="http://schemas.openxmlformats.org/drawingml/2006/main">
              <a:ext uri="{FF2B5EF4-FFF2-40B4-BE49-F238E27FC236}">
                <a16:creationId xmlns:a16="http://schemas.microsoft.com/office/drawing/2014/main" id="{9FB9956B-2655-4003-8B78-047666C1DC9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Use the cleaned table for summaries and charts.</a:t>
            </a:r>
          </a:p>
        </p:txBody>
      </p:sp>
      <p:sp>
        <p:nvSpPr>
          <p:cNvPr id="8" name="">
            <a:extLst xmlns:a="http://schemas.openxmlformats.org/drawingml/2006/main">
              <a:ext uri="{FF2B5EF4-FFF2-40B4-BE49-F238E27FC236}">
                <a16:creationId xmlns:a16="http://schemas.microsoft.com/office/drawing/2014/main" id="{89F00031-F05A-4B31-B9C3-DC16C39E290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36</a:t>
            </a:r>
          </a:p>
        </p:txBody>
      </p:sp>
    </p:spTree>
    <p:extLst>
      <p:ext uri="{BB962C8B-B14F-4D97-AF65-F5344CB8AC3E}">
        <p14:creationId xmlns:p14="http://schemas.microsoft.com/office/powerpoint/2010/main" val="74146125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CC7AE4-B446-4C88-BD45-AC797CEF25F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999108-354D-4345-BB4C-15D8BAAE117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10AF547-FD6C-4199-A47B-76201CDC544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77D985CE-1980-4E4A-9F37-BDF9C2682B7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D11D448-1F34-411B-863A-C04795CD1BD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of recorded values: series.mean() adds known values and divides by their count. pandas skips missing values by default. The result has the same unit as the original column.</a:t>
            </a:r>
          </a:p>
        </p:txBody>
      </p:sp>
      <p:sp>
        <p:nvSpPr>
          <p:cNvPr id="6" name="">
            <a:extLst xmlns:a="http://schemas.openxmlformats.org/drawingml/2006/main">
              <a:ext uri="{FF2B5EF4-FFF2-40B4-BE49-F238E27FC236}">
                <a16:creationId xmlns:a16="http://schemas.microsoft.com/office/drawing/2014/main" id="{1BA3E983-CB20-487E-8948-2B3204AB48E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EEE706B-086F-426C-A6E0-1D51A408C89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Several summaries at once: series.agg(["mean", "min", "max"]) applies those three named calculations and returns a labelled Series of results. min and max give the lowest and highest recorded values.</a:t>
            </a:r>
          </a:p>
        </p:txBody>
      </p:sp>
      <p:sp>
        <p:nvSpPr>
          <p:cNvPr id="8" name="">
            <a:extLst xmlns:a="http://schemas.openxmlformats.org/drawingml/2006/main">
              <a:ext uri="{FF2B5EF4-FFF2-40B4-BE49-F238E27FC236}">
                <a16:creationId xmlns:a16="http://schemas.microsoft.com/office/drawing/2014/main" id="{5A9EF3C0-344D-416A-A5FF-385461E73A9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3996E79-878D-42C2-AE31-D2B90B24F993}"/>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Grouping rows: table.groupby("label")["value"] groups the value column by matching labels. Apply mean() or sum() to calculate one result per group. Missing group labels are excluded by default.</a:t>
            </a:r>
          </a:p>
        </p:txBody>
      </p:sp>
      <p:sp>
        <p:nvSpPr>
          <p:cNvPr id="10" name="">
            <a:extLst xmlns:a="http://schemas.openxmlformats.org/drawingml/2006/main">
              <a:ext uri="{FF2B5EF4-FFF2-40B4-BE49-F238E27FC236}">
                <a16:creationId xmlns:a16="http://schemas.microsoft.com/office/drawing/2014/main" id="{03314D7D-BEE7-4B65-8A93-FB3329B6979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37</a:t>
            </a:r>
          </a:p>
        </p:txBody>
      </p:sp>
    </p:spTree>
    <p:extLst>
      <p:ext uri="{BB962C8B-B14F-4D97-AF65-F5344CB8AC3E}">
        <p14:creationId xmlns:p14="http://schemas.microsoft.com/office/powerpoint/2010/main" val="103916365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5A354EA-8F6C-4568-A5B3-BA45257AFDF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8F4068-3223-4BE2-BDEA-7AB8D2F836A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CF6F6BE-F3FD-4360-9095-BAB98C72618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Summaries of the cleaned CSV</a:t>
            </a:r>
          </a:p>
        </p:txBody>
      </p:sp>
      <p:sp>
        <p:nvSpPr>
          <p:cNvPr id="4" name="">
            <a:extLst xmlns:a="http://schemas.openxmlformats.org/drawingml/2006/main">
              <a:ext uri="{FF2B5EF4-FFF2-40B4-BE49-F238E27FC236}">
                <a16:creationId xmlns:a16="http://schemas.microsoft.com/office/drawing/2014/main" id="{A65B6E74-634F-421E-A29A-E3F5E37C59E9}"/>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6EE914D-552D-40B7-8636-EBA0C012746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target_summary = cleaned_data["target"].agg(["mean", "min", "max"])</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mean_target_by_equipment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cleaned_data.groupby("equipment_id")["target"].mean())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print(target_summary)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print(mean_target_by_equipment.round(3))</a:t>
            </a:r>
          </a:p>
        </p:txBody>
      </p:sp>
      <p:sp>
        <p:nvSpPr>
          <p:cNvPr id="6" name="">
            <a:extLst xmlns:a="http://schemas.openxmlformats.org/drawingml/2006/main">
              <a:ext uri="{FF2B5EF4-FFF2-40B4-BE49-F238E27FC236}">
                <a16:creationId xmlns:a16="http://schemas.microsoft.com/office/drawing/2014/main" id="{BAB2A416-1F31-4D6D-A59C-F1718875EA9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Store three summary values for crusher energy demand in target_summary.</a:t>
            </a:r>
          </a:p>
        </p:txBody>
      </p:sp>
      <p:sp>
        <p:nvSpPr>
          <p:cNvPr id="7" name="">
            <a:extLst xmlns:a="http://schemas.openxmlformats.org/drawingml/2006/main">
              <a:ext uri="{FF2B5EF4-FFF2-40B4-BE49-F238E27FC236}">
                <a16:creationId xmlns:a16="http://schemas.microsoft.com/office/drawing/2014/main" id="{67AA7442-4072-4C72-9B87-1243A5BD93C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FBD1CFBA-E7A7-46AC-B0A0-FECEBB6EC08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38</a:t>
            </a:r>
          </a:p>
        </p:txBody>
      </p:sp>
    </p:spTree>
    <p:extLst>
      <p:ext uri="{BB962C8B-B14F-4D97-AF65-F5344CB8AC3E}">
        <p14:creationId xmlns:p14="http://schemas.microsoft.com/office/powerpoint/2010/main" val="212029129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9410EC-CA23-4690-9272-E1FA99F49E61}"/>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758992-1CAB-4F8D-AC10-B1B42A6F9D4B}"/>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Choosing a chart for the question</a:t>
            </a:r>
          </a:p>
        </p:txBody>
      </p:sp>
      <p:pic>
        <p:nvPicPr>
          <p:cNvPr id="3" name="">
            <a:extLst xmlns:a="http://schemas.openxmlformats.org/drawingml/2006/main">
              <a:ext uri="{FF2B5EF4-FFF2-40B4-BE49-F238E27FC236}">
                <a16:creationId xmlns:a16="http://schemas.microsoft.com/office/drawing/2014/main" id="{65FCE00C-431A-4445-A35E-9E11FF74828E}"/>
              </a:ext>
            </a:extLst>
          </p:cNvPr>
          <p:cNvPicPr>
            <a:picLocks xmlns:a="http://schemas.openxmlformats.org/drawingml/2006/main" noChangeAspect="1"/>
          </p:cNvPicPr>
          <p:nvPr/>
        </p:nvPicPr>
        <p:blipFill>
          <a:blip xmlns:r="http://schemas.openxmlformats.org/officeDocument/2006/relationships" xmlns:a="http://schemas.openxmlformats.org/drawingml/2006/main" r:embed="R9ff7ac2536a645c1"/>
          <a:stretch xmlns:a="http://schemas.openxmlformats.org/drawingml/2006/main"/>
        </p:blipFill>
        <p:spPr>
          <a:xfrm xmlns:a="http://schemas.openxmlformats.org/drawingml/2006/main">
            <a:off x="1125175" y="1057275"/>
            <a:ext cx="9941649"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F1EA6B8-C43F-4512-AADC-C756451DC8C6}"/>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6A4D862-988A-4C85-AF33-6F2D4BE2DEAC}"/>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This week uses histograms, scatter plots and bar charts. The other chart types are reference examples.</a:t>
            </a:r>
          </a:p>
        </p:txBody>
      </p:sp>
      <p:sp>
        <p:nvSpPr>
          <p:cNvPr id="6" name="">
            <a:extLst xmlns:a="http://schemas.openxmlformats.org/drawingml/2006/main">
              <a:ext uri="{FF2B5EF4-FFF2-40B4-BE49-F238E27FC236}">
                <a16:creationId xmlns:a16="http://schemas.microsoft.com/office/drawing/2014/main" id="{4E2E2AC8-12EE-4F29-9070-EC859CBBDF6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39</a:t>
            </a:r>
          </a:p>
        </p:txBody>
      </p:sp>
    </p:spTree>
    <p:extLst>
      <p:ext uri="{BB962C8B-B14F-4D97-AF65-F5344CB8AC3E}">
        <p14:creationId xmlns:p14="http://schemas.microsoft.com/office/powerpoint/2010/main" val="144278890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8393AC-D503-4B1E-97FE-0A127688366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2293AD-51EA-45A7-8CD5-925AF1333D3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FC56C2F-E520-448F-AD40-309A2AE5958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Charts and units</a:t>
            </a:r>
          </a:p>
        </p:txBody>
      </p:sp>
      <p:sp>
        <p:nvSpPr>
          <p:cNvPr id="4" name="">
            <a:extLst xmlns:a="http://schemas.openxmlformats.org/drawingml/2006/main">
              <a:ext uri="{FF2B5EF4-FFF2-40B4-BE49-F238E27FC236}">
                <a16:creationId xmlns:a16="http://schemas.microsoft.com/office/drawing/2014/main" id="{72A5227D-7532-4A71-A1B6-A61B403DFC0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4E3F86-85A6-402E-954B-5A3EEE25F9D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95655CE-B6AC-4234-99DC-30F48D2AE9CC}"/>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scatter plot compares two numerical columns. A histogram counts observations in value intervals. A bar chart compares group summaries.</a:t>
            </a:r>
          </a:p>
        </p:txBody>
      </p:sp>
      <p:sp>
        <p:nvSpPr>
          <p:cNvPr id="7" name="">
            <a:extLst xmlns:a="http://schemas.openxmlformats.org/drawingml/2006/main">
              <a:ext uri="{FF2B5EF4-FFF2-40B4-BE49-F238E27FC236}">
                <a16:creationId xmlns:a16="http://schemas.microsoft.com/office/drawing/2014/main" id="{F9907B6E-D782-4910-9E1B-56AAC256D21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plt.subplots creates a Figure and plotting Axes. Use ax= to choose where pandas draws, then label each axis.</a:t>
            </a:r>
          </a:p>
        </p:txBody>
      </p:sp>
      <p:sp>
        <p:nvSpPr>
          <p:cNvPr id="8" name="">
            <a:extLst xmlns:a="http://schemas.openxmlformats.org/drawingml/2006/main">
              <a:ext uri="{FF2B5EF4-FFF2-40B4-BE49-F238E27FC236}">
                <a16:creationId xmlns:a16="http://schemas.microsoft.com/office/drawing/2014/main" id="{901A5985-FC76-46A4-97BB-C50998E5D00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40</a:t>
            </a:r>
          </a:p>
        </p:txBody>
      </p:sp>
    </p:spTree>
    <p:extLst>
      <p:ext uri="{BB962C8B-B14F-4D97-AF65-F5344CB8AC3E}">
        <p14:creationId xmlns:p14="http://schemas.microsoft.com/office/powerpoint/2010/main" val="176616614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C5C8B0-CFB2-4539-9021-2BDE0C40DF8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270DD0-D832-4E5A-B2B1-C99AE24A85C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E24FB0E-A06D-433D-AEEC-DE64EE91DC0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DC060309-9C69-44C0-8EAB-E60B99CC6D2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CDB0129-5332-4435-9684-7228EA5375B0}"/>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9835D1A-01FD-4635-805A-4D7C5B593E1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plt.subplots() returns two objects: a figure (the whole image) and axes (the plotting area). Store them as scatter_figure and scatter_axes.</a:t>
            </a:r>
          </a:p>
        </p:txBody>
      </p:sp>
      <p:sp>
        <p:nvSpPr>
          <p:cNvPr id="7" name="">
            <a:extLst xmlns:a="http://schemas.openxmlformats.org/drawingml/2006/main">
              <a:ext uri="{FF2B5EF4-FFF2-40B4-BE49-F238E27FC236}">
                <a16:creationId xmlns:a16="http://schemas.microsoft.com/office/drawing/2014/main" id="{0F690D57-075D-42BC-A0ED-7764C6CABF15}"/>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ax= argument tells pandas where to draw: ax=scatter_axes uses that plotting area. Keep the library keyword ax unchanged.</a:t>
            </a:r>
          </a:p>
        </p:txBody>
      </p:sp>
      <p:sp>
        <p:nvSpPr>
          <p:cNvPr id="8" name="">
            <a:extLst xmlns:a="http://schemas.openxmlformats.org/drawingml/2006/main">
              <a:ext uri="{FF2B5EF4-FFF2-40B4-BE49-F238E27FC236}">
                <a16:creationId xmlns:a16="http://schemas.microsoft.com/office/drawing/2014/main" id="{48418B4B-C2C0-46B9-87CA-DFA72A7F900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41</a:t>
            </a:r>
          </a:p>
        </p:txBody>
      </p:sp>
    </p:spTree>
    <p:extLst>
      <p:ext uri="{BB962C8B-B14F-4D97-AF65-F5344CB8AC3E}">
        <p14:creationId xmlns:p14="http://schemas.microsoft.com/office/powerpoint/2010/main" val="78738819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BCBC4E-8B73-4FBE-BBC8-60C4795A053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56370D-4E0C-4BC6-9371-33CB1BAB888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F7CCECD-7880-49E2-9DD5-6A2AB48034A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 and motor temperature demand</a:t>
            </a:r>
          </a:p>
        </p:txBody>
      </p:sp>
      <p:sp>
        <p:nvSpPr>
          <p:cNvPr id="4" name="">
            <a:extLst xmlns:a="http://schemas.openxmlformats.org/drawingml/2006/main">
              <a:ext uri="{FF2B5EF4-FFF2-40B4-BE49-F238E27FC236}">
                <a16:creationId xmlns:a16="http://schemas.microsoft.com/office/drawing/2014/main" id="{EC4B8B2E-836E-48A6-8458-5E9FBC73B3C3}"/>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E2C6530-BD84-4A21-AB76-8052FC2B5BAF}"/>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matplotlib.pyplot as plt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scatter_figure, scatter_axes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cleaned_data.plot.scatter(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x="load_pct", y="target", ax=scatter_axes)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scatter_axes.set_xlabel("Load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scatter_axes.set_ylabel("Motor temperature (°C)")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2E426110-E854-409E-8779-D90AD950CB35}"/>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plotting tools using the conventional alias plt.</a:t>
            </a:r>
          </a:p>
        </p:txBody>
      </p:sp>
      <p:sp>
        <p:nvSpPr>
          <p:cNvPr id="7" name="">
            <a:extLst xmlns:a="http://schemas.openxmlformats.org/drawingml/2006/main">
              <a:ext uri="{FF2B5EF4-FFF2-40B4-BE49-F238E27FC236}">
                <a16:creationId xmlns:a16="http://schemas.microsoft.com/office/drawing/2014/main" id="{FD1FFC45-4C5C-43A4-946C-1CAE9C5DD05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BF0C1665-6FD7-4C07-9E1D-692D08D71FD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42</a:t>
            </a:r>
          </a:p>
        </p:txBody>
      </p:sp>
    </p:spTree>
    <p:extLst>
      <p:ext uri="{BB962C8B-B14F-4D97-AF65-F5344CB8AC3E}">
        <p14:creationId xmlns:p14="http://schemas.microsoft.com/office/powerpoint/2010/main" val="157781816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37B044-5492-4695-9F0E-56DA791CE1A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693CFC-170E-4A0C-BAD6-02FCEA9EB42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081A010-572E-4760-BD52-EB082A82692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9EB074FE-84B4-49D3-A669-DBC631AC79F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6D275D0-2610-4C00-9D4E-8B6EA8B29E9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DCD7D5F-0ED5-4645-B7C1-006A27FAA4A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bar for each labelled value: series.plot.bar(ax=ax) draws a bar for each Series label. When the Series contains group means, bar heights represent those means.</a:t>
            </a:r>
          </a:p>
        </p:txBody>
      </p:sp>
      <p:sp>
        <p:nvSpPr>
          <p:cNvPr id="7" name="">
            <a:extLst xmlns:a="http://schemas.openxmlformats.org/drawingml/2006/main">
              <a:ext uri="{FF2B5EF4-FFF2-40B4-BE49-F238E27FC236}">
                <a16:creationId xmlns:a16="http://schemas.microsoft.com/office/drawing/2014/main" id="{9307ED60-006F-4143-B445-35BBBC413CB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Histogram intervals: series.plot.hist(bins=10, ax=ax) groups known values into ten value intervals and counts observations in each. Bar heights are counts, not the original measurement values.</a:t>
            </a:r>
          </a:p>
        </p:txBody>
      </p:sp>
      <p:sp>
        <p:nvSpPr>
          <p:cNvPr id="8" name="">
            <a:extLst xmlns:a="http://schemas.openxmlformats.org/drawingml/2006/main">
              <a:ext uri="{FF2B5EF4-FFF2-40B4-BE49-F238E27FC236}">
                <a16:creationId xmlns:a16="http://schemas.microsoft.com/office/drawing/2014/main" id="{0FFFB1DD-60B2-4457-97A6-F56EEBAF60F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43</a:t>
            </a:r>
          </a:p>
        </p:txBody>
      </p:sp>
    </p:spTree>
    <p:extLst>
      <p:ext uri="{BB962C8B-B14F-4D97-AF65-F5344CB8AC3E}">
        <p14:creationId xmlns:p14="http://schemas.microsoft.com/office/powerpoint/2010/main" val="147603745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68BA824-324D-4B5A-AE25-C71DB699B8E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DFFBEC-95AD-42F9-BDC0-FF454CA0D56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7F23C7D-2FED-453D-B242-F28B334C271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Mean motor temperature for each equipment group</a:t>
            </a:r>
          </a:p>
        </p:txBody>
      </p:sp>
      <p:sp>
        <p:nvSpPr>
          <p:cNvPr id="4" name="">
            <a:extLst xmlns:a="http://schemas.openxmlformats.org/drawingml/2006/main">
              <a:ext uri="{FF2B5EF4-FFF2-40B4-BE49-F238E27FC236}">
                <a16:creationId xmlns:a16="http://schemas.microsoft.com/office/drawing/2014/main" id="{0D9AC808-B448-437E-922D-86F0F86779D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4CE0DF5-7288-4D70-9B85-80F15BC8C0B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bar_figure, bar_axes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mean_target_by_equipment.plot.bar(ax=bar_axes)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bar_axes.set_xlabel("Equipment 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bar_axes.set_ylabel("Mean motor temperature (°C)")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F4B5E837-6527-4CFF-BF65-5B550E0DD0A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Create a new image and plotting area dedicated to this bar chart.</a:t>
            </a:r>
          </a:p>
        </p:txBody>
      </p:sp>
      <p:sp>
        <p:nvSpPr>
          <p:cNvPr id="7" name="">
            <a:extLst xmlns:a="http://schemas.openxmlformats.org/drawingml/2006/main">
              <a:ext uri="{FF2B5EF4-FFF2-40B4-BE49-F238E27FC236}">
                <a16:creationId xmlns:a16="http://schemas.microsoft.com/office/drawing/2014/main" id="{73C2113C-DBCA-4AD6-8069-68EE7DACFDA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8A06127B-6DBB-449B-AB2A-6A2630F81A0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44</a:t>
            </a:r>
          </a:p>
        </p:txBody>
      </p:sp>
    </p:spTree>
    <p:extLst>
      <p:ext uri="{BB962C8B-B14F-4D97-AF65-F5344CB8AC3E}">
        <p14:creationId xmlns:p14="http://schemas.microsoft.com/office/powerpoint/2010/main" val="127759066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E79F9C-430C-4770-BFD0-194687C322F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24A396-0FCA-4789-8D9D-23DA4E43AA3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7E6BA69-10E7-437C-A4CC-B5996C1CB29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Distribution of motor temperature readings</a:t>
            </a:r>
          </a:p>
        </p:txBody>
      </p:sp>
      <p:sp>
        <p:nvSpPr>
          <p:cNvPr id="4" name="">
            <a:extLst xmlns:a="http://schemas.openxmlformats.org/drawingml/2006/main">
              <a:ext uri="{FF2B5EF4-FFF2-40B4-BE49-F238E27FC236}">
                <a16:creationId xmlns:a16="http://schemas.microsoft.com/office/drawing/2014/main" id="{81AF9987-B078-4043-8DD5-C33F7FD61AD5}"/>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2294FFF-01F8-46F2-A0AF-BB7CD399A55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histogram_figure, histogram_axes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cleaned_data["target"].plot.hist(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bins=10, ax=histogram_axes)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histogram_axes.set_xlabel("Motor temperature (°C)")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histogram_axes.set_ylabel("Observation 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EC473831-64EA-45DA-AE14-F99EC097D53E}"/>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Create a separate histogram image and plotting area.</a:t>
            </a:r>
          </a:p>
        </p:txBody>
      </p:sp>
      <p:sp>
        <p:nvSpPr>
          <p:cNvPr id="7" name="">
            <a:extLst xmlns:a="http://schemas.openxmlformats.org/drawingml/2006/main">
              <a:ext uri="{FF2B5EF4-FFF2-40B4-BE49-F238E27FC236}">
                <a16:creationId xmlns:a16="http://schemas.microsoft.com/office/drawing/2014/main" id="{72816175-C73E-4C63-9ED4-378AF906FE0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DD3552DE-C7EA-451B-ADCC-FB9B3040030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45</a:t>
            </a:r>
          </a:p>
        </p:txBody>
      </p:sp>
    </p:spTree>
    <p:extLst>
      <p:ext uri="{BB962C8B-B14F-4D97-AF65-F5344CB8AC3E}">
        <p14:creationId xmlns:p14="http://schemas.microsoft.com/office/powerpoint/2010/main" val="107403179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534E6C-B4D4-48B2-879E-DFCBD97003D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FB88CB-076F-4498-AE11-1D389E8AC73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DBE1433-5D8E-4485-812A-8495054894D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extension: check numeric text</a:t>
            </a:r>
          </a:p>
        </p:txBody>
      </p:sp>
      <p:sp>
        <p:nvSpPr>
          <p:cNvPr id="4" name="">
            <a:extLst xmlns:a="http://schemas.openxmlformats.org/drawingml/2006/main">
              <a:ext uri="{FF2B5EF4-FFF2-40B4-BE49-F238E27FC236}">
                <a16:creationId xmlns:a16="http://schemas.microsoft.com/office/drawing/2014/main" id="{6BDEE0E7-9CF9-4054-8991-CCCECC8D329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A31F2EF-358A-402C-BB4C-0D75535F4A2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983ACC4-BACD-463E-92A9-66B50245E1A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main cleaning and charting walkthrough is complete. Continue here only if time permits.</a:t>
            </a:r>
          </a:p>
        </p:txBody>
      </p:sp>
      <p:sp>
        <p:nvSpPr>
          <p:cNvPr id="7" name="">
            <a:extLst xmlns:a="http://schemas.openxmlformats.org/drawingml/2006/main">
              <a:ext uri="{FF2B5EF4-FFF2-40B4-BE49-F238E27FC236}">
                <a16:creationId xmlns:a16="http://schemas.microsoft.com/office/drawing/2014/main" id="{71BF8FD1-1F39-46E0-BB8C-B14C0A7D1EB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Sometimes a numeric column contains text that cannot be converted to a number. The following check distinguishes that problem from an existing blank.</a:t>
            </a:r>
          </a:p>
        </p:txBody>
      </p:sp>
      <p:sp>
        <p:nvSpPr>
          <p:cNvPr id="8" name="">
            <a:extLst xmlns:a="http://schemas.openxmlformats.org/drawingml/2006/main">
              <a:ext uri="{FF2B5EF4-FFF2-40B4-BE49-F238E27FC236}">
                <a16:creationId xmlns:a16="http://schemas.microsoft.com/office/drawing/2014/main" id="{D24CB5C5-6B11-4066-B9C9-BAA279ED637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46</a:t>
            </a:r>
          </a:p>
        </p:txBody>
      </p:sp>
    </p:spTree>
    <p:extLst>
      <p:ext uri="{BB962C8B-B14F-4D97-AF65-F5344CB8AC3E}">
        <p14:creationId xmlns:p14="http://schemas.microsoft.com/office/powerpoint/2010/main" val="82345407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C54147-9F31-40A2-9965-FBF611B13CD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DE3FB9-AF53-41C9-8F23-556E7C4F408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BE3E4F0-A03E-4A41-BB64-8A40E62B57A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077B3662-9152-4E14-B585-3AE95F025CD3}"/>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49AFA26-65A6-4091-917A-661DE40793D3}"/>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Converting numeric text: pd.to_numeric(column, errors="coerce") converts numeric values or text. Unparseable text becomes missing. Compare original and converted values so existing gaps are not counted as conversion failures.</a:t>
            </a:r>
          </a:p>
        </p:txBody>
      </p:sp>
      <p:sp>
        <p:nvSpPr>
          <p:cNvPr id="6" name="">
            <a:extLst xmlns:a="http://schemas.openxmlformats.org/drawingml/2006/main">
              <a:ext uri="{FF2B5EF4-FFF2-40B4-BE49-F238E27FC236}">
                <a16:creationId xmlns:a16="http://schemas.microsoft.com/office/drawing/2014/main" id="{85EF8BB5-357F-467F-B1C7-5E221900F5F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47</a:t>
            </a:r>
          </a:p>
        </p:txBody>
      </p:sp>
    </p:spTree>
    <p:extLst>
      <p:ext uri="{BB962C8B-B14F-4D97-AF65-F5344CB8AC3E}">
        <p14:creationId xmlns:p14="http://schemas.microsoft.com/office/powerpoint/2010/main" val="87339310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FB0759-0586-4BA2-9775-7914573E30A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EDCDD7-F409-4F27-9E89-0455B1E5EB2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5D6A3EE-7D78-4C79-B7E5-53D3BA221D5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numeric conversion of ambient temperature</a:t>
            </a:r>
          </a:p>
        </p:txBody>
      </p:sp>
      <p:sp>
        <p:nvSpPr>
          <p:cNvPr id="4" name="">
            <a:extLst xmlns:a="http://schemas.openxmlformats.org/drawingml/2006/main">
              <a:ext uri="{FF2B5EF4-FFF2-40B4-BE49-F238E27FC236}">
                <a16:creationId xmlns:a16="http://schemas.microsoft.com/office/drawing/2014/main" id="{022578C7-56AB-4320-A8F4-FE6621D04531}"/>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7299345-7303-40D9-B758-66B5AA813DC3}"/>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ambient_numbers = pd.to_numeric(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raw_data["ambient_c"], errors="coerce")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value_was_recorded = raw_data["ambient_c"].notna()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conversion_failed = value_was_recorded &amp; ambient_numbers.isna()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print(int(conversion_failed.sum()))</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print(raw_data[conversion_failed].head())</a:t>
            </a:r>
          </a:p>
        </p:txBody>
      </p:sp>
      <p:sp>
        <p:nvSpPr>
          <p:cNvPr id="6" name="">
            <a:extLst xmlns:a="http://schemas.openxmlformats.org/drawingml/2006/main">
              <a:ext uri="{FF2B5EF4-FFF2-40B4-BE49-F238E27FC236}">
                <a16:creationId xmlns:a16="http://schemas.microsoft.com/office/drawing/2014/main" id="{4C3378E3-EC22-4384-8012-3947A076772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Start conversion of the original ambient column into numbers.</a:t>
            </a:r>
          </a:p>
        </p:txBody>
      </p:sp>
      <p:sp>
        <p:nvSpPr>
          <p:cNvPr id="7" name="">
            <a:extLst xmlns:a="http://schemas.openxmlformats.org/drawingml/2006/main">
              <a:ext uri="{FF2B5EF4-FFF2-40B4-BE49-F238E27FC236}">
                <a16:creationId xmlns:a16="http://schemas.microsoft.com/office/drawing/2014/main" id="{EB8D86A7-11F1-473C-BDA8-35E27C7C7F3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95D2F245-6E69-41A2-A5EA-61BB39092C2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48</a:t>
            </a:r>
          </a:p>
        </p:txBody>
      </p:sp>
    </p:spTree>
    <p:extLst>
      <p:ext uri="{BB962C8B-B14F-4D97-AF65-F5344CB8AC3E}">
        <p14:creationId xmlns:p14="http://schemas.microsoft.com/office/powerpoint/2010/main" val="109941281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378F11-CF4B-4202-8E90-F8E3CCF4E62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69CD1D-178C-4AF7-9305-6B1C181783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972E5EE-B92D-4ADF-8077-5928835A49A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extension: put steps in a function</a:t>
            </a:r>
          </a:p>
        </p:txBody>
      </p:sp>
      <p:sp>
        <p:nvSpPr>
          <p:cNvPr id="4" name="">
            <a:extLst xmlns:a="http://schemas.openxmlformats.org/drawingml/2006/main">
              <a:ext uri="{FF2B5EF4-FFF2-40B4-BE49-F238E27FC236}">
                <a16:creationId xmlns:a16="http://schemas.microsoft.com/office/drawing/2014/main" id="{CFD9AD0D-A6AA-4159-82A8-B9E2DBA3EE8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9C39B00-B898-4494-A430-8BD06243E1B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7AEA859-6E11-45C6-88AC-80D6C0347F4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function gives a reusable calculation a name. Its body runs when the function is called.</a:t>
            </a:r>
          </a:p>
        </p:txBody>
      </p:sp>
      <p:sp>
        <p:nvSpPr>
          <p:cNvPr id="7" name="">
            <a:extLst xmlns:a="http://schemas.openxmlformats.org/drawingml/2006/main">
              <a:ext uri="{FF2B5EF4-FFF2-40B4-BE49-F238E27FC236}">
                <a16:creationId xmlns:a16="http://schemas.microsoft.com/office/drawing/2014/main" id="{7C796C4B-AF9E-44F6-B34D-94367B5DA5F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next example calculates mean load for each equipment group; it is practice, not an A6 requirement.</a:t>
            </a:r>
          </a:p>
        </p:txBody>
      </p:sp>
      <p:sp>
        <p:nvSpPr>
          <p:cNvPr id="8" name="">
            <a:extLst xmlns:a="http://schemas.openxmlformats.org/drawingml/2006/main">
              <a:ext uri="{FF2B5EF4-FFF2-40B4-BE49-F238E27FC236}">
                <a16:creationId xmlns:a16="http://schemas.microsoft.com/office/drawing/2014/main" id="{21CA7ACE-5C14-44E6-A611-0D5C3928658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49</a:t>
            </a:r>
          </a:p>
        </p:txBody>
      </p:sp>
    </p:spTree>
    <p:extLst>
      <p:ext uri="{BB962C8B-B14F-4D97-AF65-F5344CB8AC3E}">
        <p14:creationId xmlns:p14="http://schemas.microsoft.com/office/powerpoint/2010/main" val="195323417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0162DC-B6A6-430D-AD1A-388C0D44766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503A44-3855-4BF5-B1A8-5F6F98603AF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8B51A07-0E99-483E-AF18-F0498F31CC4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C27D7935-EBB8-4A76-AEF6-4963B829703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B68B717-7BD9-4C0D-A37A-1B6BA5C8C80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6C4A70A-B334-4F51-A12B-7198C06A8F18}"/>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Returning a dictionary: series.to_dict() maps Series labels to values. table.to_dict("records") instead returns a list of row dictionaries. Choose the form specified in the example.</a:t>
            </a:r>
          </a:p>
        </p:txBody>
      </p:sp>
      <p:sp>
        <p:nvSpPr>
          <p:cNvPr id="7" name="">
            <a:extLst xmlns:a="http://schemas.openxmlformats.org/drawingml/2006/main">
              <a:ext uri="{FF2B5EF4-FFF2-40B4-BE49-F238E27FC236}">
                <a16:creationId xmlns:a16="http://schemas.microsoft.com/office/drawing/2014/main" id="{79B4F092-F3BF-46B0-87C8-F492F4CFADA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table from Python values: pd.DataFrame(records) builds a table from row dictionaries. With a dictionary of column lists, keys become column names and each list supplies that column’s values.</a:t>
            </a:r>
          </a:p>
        </p:txBody>
      </p:sp>
      <p:sp>
        <p:nvSpPr>
          <p:cNvPr id="8" name="">
            <a:extLst xmlns:a="http://schemas.openxmlformats.org/drawingml/2006/main">
              <a:ext uri="{FF2B5EF4-FFF2-40B4-BE49-F238E27FC236}">
                <a16:creationId xmlns:a16="http://schemas.microsoft.com/office/drawing/2014/main" id="{CAFFB087-5E1A-4AA0-ABE0-745A3B03100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50</a:t>
            </a:r>
          </a:p>
        </p:txBody>
      </p:sp>
    </p:spTree>
    <p:extLst>
      <p:ext uri="{BB962C8B-B14F-4D97-AF65-F5344CB8AC3E}">
        <p14:creationId xmlns:p14="http://schemas.microsoft.com/office/powerpoint/2010/main" val="373292103"/>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AA1BF8-014D-4ACB-889F-E0763FFA15A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968C7C-6DBC-4A79-B540-C3BE238CEE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25D4E7F-9F16-4E50-AD08-C6AA2296A8B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called with the supplied records</a:t>
            </a:r>
          </a:p>
        </p:txBody>
      </p:sp>
      <p:sp>
        <p:nvSpPr>
          <p:cNvPr id="4" name="">
            <a:extLst xmlns:a="http://schemas.openxmlformats.org/drawingml/2006/main">
              <a:ext uri="{FF2B5EF4-FFF2-40B4-BE49-F238E27FC236}">
                <a16:creationId xmlns:a16="http://schemas.microsoft.com/office/drawing/2014/main" id="{79B93C42-880F-4915-8D85-CA66C0CA0451}"/>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F3300F-0A97-48D2-B907-D7FDEE2147E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mean_load_by_equipment(equipment_records):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equipment_data = pd.DataFrame(equipment_records)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mean_load_by_group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equipment_data.groupby("equipment_id")["load_pct"].mean())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mean_load_by_group.to_dict()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raw_records = raw_data.to_dict("records")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print(mean_load_by_equipment(raw_records))</a:t>
            </a:r>
          </a:p>
        </p:txBody>
      </p:sp>
      <p:sp>
        <p:nvSpPr>
          <p:cNvPr id="6" name="">
            <a:extLst xmlns:a="http://schemas.openxmlformats.org/drawingml/2006/main">
              <a:ext uri="{FF2B5EF4-FFF2-40B4-BE49-F238E27FC236}">
                <a16:creationId xmlns:a16="http://schemas.microsoft.com/office/drawing/2014/main" id="{7EDBBBA3-67F1-4FC2-B90E-AFA88A68200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equipment_records is the list of row dictionaries supplied to this function.</a:t>
            </a:r>
          </a:p>
        </p:txBody>
      </p:sp>
      <p:sp>
        <p:nvSpPr>
          <p:cNvPr id="7" name="">
            <a:extLst xmlns:a="http://schemas.openxmlformats.org/drawingml/2006/main">
              <a:ext uri="{FF2B5EF4-FFF2-40B4-BE49-F238E27FC236}">
                <a16:creationId xmlns:a16="http://schemas.microsoft.com/office/drawing/2014/main" id="{A8A24CB2-4BB0-4CF2-98AA-958AFCE2948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B50F11D1-EF4D-4D93-81B0-F3CA12EA912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51</a:t>
            </a:r>
          </a:p>
        </p:txBody>
      </p:sp>
    </p:spTree>
    <p:extLst>
      <p:ext uri="{BB962C8B-B14F-4D97-AF65-F5344CB8AC3E}">
        <p14:creationId xmlns:p14="http://schemas.microsoft.com/office/powerpoint/2010/main" val="996827826"/>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FBA2F02-45ED-42AE-B016-A176BE768AF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003699-5915-4D05-8CE6-C72262E2952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8ED3B3A-11F7-43C4-B10F-E5A258B941F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6962EECB-E009-445B-913C-871AE124184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0AB4D0F-8782-4683-A2BB-F83602366D69}"/>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motor winding temperature.</a:t>
            </a:r>
          </a:p>
        </p:txBody>
      </p:sp>
      <p:sp>
        <p:nvSpPr>
          <p:cNvPr id="6" name="">
            <a:extLst xmlns:a="http://schemas.openxmlformats.org/drawingml/2006/main">
              <a:ext uri="{FF2B5EF4-FFF2-40B4-BE49-F238E27FC236}">
                <a16:creationId xmlns:a16="http://schemas.microsoft.com/office/drawing/2014/main" id="{2AD5A709-FBC5-42F9-95E9-0E07DFD0D9CC}"/>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74E64F3-7CA9-47BE-A3F3-CE82990504AF}"/>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deg C.</a:t>
            </a:r>
          </a:p>
        </p:txBody>
      </p:sp>
      <p:sp>
        <p:nvSpPr>
          <p:cNvPr id="8" name="">
            <a:extLst xmlns:a="http://schemas.openxmlformats.org/drawingml/2006/main">
              <a:ext uri="{FF2B5EF4-FFF2-40B4-BE49-F238E27FC236}">
                <a16:creationId xmlns:a16="http://schemas.microsoft.com/office/drawing/2014/main" id="{1ED618BA-9512-494E-8F68-518A4E918B81}"/>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8E740D0-DAD9-4D09-A021-1BD45567399E}"/>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not measurements suitable for deployment.</a:t>
            </a:r>
          </a:p>
        </p:txBody>
      </p:sp>
      <p:sp>
        <p:nvSpPr>
          <p:cNvPr id="10" name="">
            <a:extLst xmlns:a="http://schemas.openxmlformats.org/drawingml/2006/main">
              <a:ext uri="{FF2B5EF4-FFF2-40B4-BE49-F238E27FC236}">
                <a16:creationId xmlns:a16="http://schemas.microsoft.com/office/drawing/2014/main" id="{7FB10439-42F3-436E-A2BB-132F5D7CBCDE}"/>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6917EF4F-4A74-4287-80A3-E138EF4F3102}"/>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2C76EA01-8D42-4E8E-9563-F0F50244649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52</a:t>
            </a:r>
          </a:p>
        </p:txBody>
      </p:sp>
    </p:spTree>
    <p:extLst>
      <p:ext uri="{BB962C8B-B14F-4D97-AF65-F5344CB8AC3E}">
        <p14:creationId xmlns:p14="http://schemas.microsoft.com/office/powerpoint/2010/main" val="9023803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7EA3F4-A061-43A7-B097-FC819C2A233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DFE9BC-6F0E-4BDD-94AF-B0B03D0C674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1237C2E9-61A7-48D3-B724-9CDF12206AC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clean_records(records)</a:t>
            </a:r>
          </a:p>
        </p:txBody>
      </p:sp>
      <p:sp>
        <p:nvSpPr>
          <p:cNvPr id="4" name="">
            <a:extLst xmlns:a="http://schemas.openxmlformats.org/drawingml/2006/main">
              <a:ext uri="{FF2B5EF4-FFF2-40B4-BE49-F238E27FC236}">
                <a16:creationId xmlns:a16="http://schemas.microsoft.com/office/drawing/2014/main" id="{AC9528A3-FE14-4C9C-B830-816053A4120F}"/>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E9B4FE2-B94E-4994-9C21-AE1E50EB8ABA}"/>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copied records in original order: remove repeated record_id after its first occurrence, drop rows with missing target or load_pct outside 0–100 inclusive, then fill missing ambient_c with the median of retained non-missing ambient_c values.</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Preserve raw input.</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No other changes.</a:t>
            </a:r>
          </a:p>
        </p:txBody>
      </p:sp>
      <p:sp>
        <p:nvSpPr>
          <p:cNvPr id="6" name="">
            <a:extLst xmlns:a="http://schemas.openxmlformats.org/drawingml/2006/main">
              <a:ext uri="{FF2B5EF4-FFF2-40B4-BE49-F238E27FC236}">
                <a16:creationId xmlns:a16="http://schemas.microsoft.com/office/drawing/2014/main" id="{034F6E9A-9D3A-4197-90AD-7619071628EC}"/>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73D0E17-FE25-4A7B-A027-0C65149E4C07}"/>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B4833C87-29F0-4DDE-9B4B-538B66FF1B1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53</a:t>
            </a:r>
          </a:p>
        </p:txBody>
      </p:sp>
    </p:spTree>
    <p:extLst>
      <p:ext uri="{BB962C8B-B14F-4D97-AF65-F5344CB8AC3E}">
        <p14:creationId xmlns:p14="http://schemas.microsoft.com/office/powerpoint/2010/main" val="61712056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9CE0B2-49A1-41E3-B25E-BAA649B409D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583252-7E4D-4A41-A528-35EF8EDCDDE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4064BA29-AA39-487E-9FB9-ADE381F7F8B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summarize_records(clean_records)</a:t>
            </a:r>
          </a:p>
        </p:txBody>
      </p:sp>
      <p:sp>
        <p:nvSpPr>
          <p:cNvPr id="4" name="">
            <a:extLst xmlns:a="http://schemas.openxmlformats.org/drawingml/2006/main">
              <a:ext uri="{FF2B5EF4-FFF2-40B4-BE49-F238E27FC236}">
                <a16:creationId xmlns:a16="http://schemas.microsoft.com/office/drawing/2014/main" id="{AED05F12-EF8B-4D59-9307-3227EC61C1F8}"/>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9DE4538-8A25-469C-8D62-5CE5582D328E}"/>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count, mean, minimum, maximum of target and group_means by equipment_id.</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Retain full precision.</a:t>
            </a:r>
          </a:p>
        </p:txBody>
      </p:sp>
      <p:sp>
        <p:nvSpPr>
          <p:cNvPr id="6" name="">
            <a:extLst xmlns:a="http://schemas.openxmlformats.org/drawingml/2006/main">
              <a:ext uri="{FF2B5EF4-FFF2-40B4-BE49-F238E27FC236}">
                <a16:creationId xmlns:a16="http://schemas.microsoft.com/office/drawing/2014/main" id="{4BBE5252-36AE-475B-83E8-F6EF8F87C264}"/>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67A953A-573D-49DB-9BD9-C07E14577A7D}"/>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8E2CBE94-F894-4BE8-BDD6-30D07D6FD41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54</a:t>
            </a:r>
          </a:p>
        </p:txBody>
      </p:sp>
    </p:spTree>
    <p:extLst>
      <p:ext uri="{BB962C8B-B14F-4D97-AF65-F5344CB8AC3E}">
        <p14:creationId xmlns:p14="http://schemas.microsoft.com/office/powerpoint/2010/main" val="100591800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37565B-1C25-40ED-9C9B-3127532D3E8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01CFAA-BD7B-42AC-BAFD-980C6D37644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BF28B1FA-5D8A-46FC-BCAB-3AE258F6D29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audit_cleaning(raw_records, cleaned_records)</a:t>
            </a:r>
          </a:p>
        </p:txBody>
      </p:sp>
      <p:sp>
        <p:nvSpPr>
          <p:cNvPr id="4" name="">
            <a:extLst xmlns:a="http://schemas.openxmlformats.org/drawingml/2006/main">
              <a:ext uri="{FF2B5EF4-FFF2-40B4-BE49-F238E27FC236}">
                <a16:creationId xmlns:a16="http://schemas.microsoft.com/office/drawing/2014/main" id="{8B9C0CCC-B30D-4673-BB59-D69B414923F7}"/>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B317DAA-FA3D-4A63-8370-871DEC80C113}"/>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C3144"/>
                </a:solidFill>
                <a:latin typeface="Calibri"/>
                <a:ea typeface="Calibri"/>
                <a:cs typeface="Calibri"/>
              </a:defRPr>
            </a:defPPr>
            <a:lvl1pPr>
              <a:defRPr sz="2175" b="0">
                <a:solidFill>
                  <a:srgbClr val="1C3144"/>
                </a:solidFill>
                <a:latin typeface="Calibri"/>
                <a:ea typeface="Calibri"/>
                <a:cs typeface="Calibri"/>
              </a:defRPr>
            </a:lvl1pPr>
            <a:lvl2pPr>
              <a:defRPr sz="2175" b="0">
                <a:solidFill>
                  <a:srgbClr val="1C3144"/>
                </a:solidFill>
                <a:latin typeface="Calibri"/>
                <a:ea typeface="Calibri"/>
                <a:cs typeface="Calibri"/>
              </a:defRPr>
            </a:lvl2pPr>
            <a:lvl3pPr>
              <a:defRPr sz="2175" b="0">
                <a:solidFill>
                  <a:srgbClr val="1C3144"/>
                </a:solidFill>
                <a:latin typeface="Calibri"/>
                <a:ea typeface="Calibri"/>
                <a:cs typeface="Calibri"/>
              </a:defRPr>
            </a:lvl3pPr>
            <a:lvl4pPr>
              <a:defRPr sz="2175" b="0">
                <a:solidFill>
                  <a:srgbClr val="1C3144"/>
                </a:solidFill>
                <a:latin typeface="Calibri"/>
                <a:ea typeface="Calibri"/>
                <a:cs typeface="Calibri"/>
              </a:defRPr>
            </a:lvl4pPr>
            <a:lvl5pPr>
              <a:defRPr sz="2175" b="0">
                <a:solidFill>
                  <a:srgbClr val="1C3144"/>
                </a:solidFill>
                <a:latin typeface="Calibri"/>
                <a:ea typeface="Calibri"/>
                <a:cs typeface="Calibri"/>
              </a:defRPr>
            </a:lvl5pPr>
            <a:lvl6pPr>
              <a:defRPr sz="2175" b="0">
                <a:solidFill>
                  <a:srgbClr val="1C3144"/>
                </a:solidFill>
                <a:latin typeface="Calibri"/>
                <a:ea typeface="Calibri"/>
                <a:cs typeface="Calibri"/>
              </a:defRPr>
            </a:lvl6pPr>
            <a:lvl7pPr>
              <a:defRPr sz="2175" b="0">
                <a:solidFill>
                  <a:srgbClr val="1C3144"/>
                </a:solidFill>
                <a:latin typeface="Calibri"/>
                <a:ea typeface="Calibri"/>
                <a:cs typeface="Calibri"/>
              </a:defRPr>
            </a:lvl7pPr>
            <a:lvl8pPr>
              <a:defRPr sz="2175" b="0">
                <a:solidFill>
                  <a:srgbClr val="1C3144"/>
                </a:solidFill>
                <a:latin typeface="Calibri"/>
                <a:ea typeface="Calibri"/>
                <a:cs typeface="Calibri"/>
              </a:defRPr>
            </a:lvl8pPr>
            <a:lvl9pPr>
              <a:defRPr sz="2175" b="0">
                <a:solidFill>
                  <a:srgbClr val="1C3144"/>
                </a:solidFill>
                <a:latin typeface="Calibri"/>
                <a:ea typeface="Calibri"/>
                <a:cs typeface="Calibri"/>
              </a:defRPr>
            </a:lvl9pPr>
          </a:lstStyle>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Return raw_count and cleaned_count; duplicate_ids is the number of cleaned records beyond the first occurrence of each record_id; missing_targets counts None targets; invalid_loads counts cleaned load_pct outside 0–100 inclusive.</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Report the actual supplied data, which may still contain defects.</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Do not change either input.</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All five values are integer counts.</a:t>
            </a:r>
          </a:p>
        </p:txBody>
      </p:sp>
      <p:sp>
        <p:nvSpPr>
          <p:cNvPr id="6" name="">
            <a:extLst xmlns:a="http://schemas.openxmlformats.org/drawingml/2006/main">
              <a:ext uri="{FF2B5EF4-FFF2-40B4-BE49-F238E27FC236}">
                <a16:creationId xmlns:a16="http://schemas.microsoft.com/office/drawing/2014/main" id="{9325256E-19CD-4E80-B760-381E3B0CB51E}"/>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F9BF625-94DC-401B-B7B9-03130C7FED8C}"/>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A4F8E29E-B443-4FEA-991A-6E68AA831BF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55</a:t>
            </a:r>
          </a:p>
        </p:txBody>
      </p:sp>
    </p:spTree>
    <p:extLst>
      <p:ext uri="{BB962C8B-B14F-4D97-AF65-F5344CB8AC3E}">
        <p14:creationId xmlns:p14="http://schemas.microsoft.com/office/powerpoint/2010/main" val="71850583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CBA6EEB-8B7B-4BB0-996D-4F61F3E6A2C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988F62-6D68-4106-8DC0-3DB3350D4DB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99EAC5C-7F4C-452E-9878-56F2377FED5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CC07A78E-D660-41C7-A15F-21B92B6A72F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1E01937-C4F2-4D88-9362-DA56D2770BBD}"/>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A0C7A08D-8AD7-4530-B864-D7D166AB4DAA}"/>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BCDC17E-AE4C-4E72-B941-45DC8F21F0ED}"/>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05C22078-F915-4937-A3A0-F447BA09755F}"/>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6A88EDE-052F-44E7-ADA0-A6252DE0E9E2}"/>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4677A669-4762-446C-B63B-EB25267D2FEB}"/>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70E943F-B3A2-4995-8A1F-CAB4BAD8A5E0}"/>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D89BE1B3-03F9-4713-983F-DE84FC094CC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56</a:t>
            </a:r>
          </a:p>
        </p:txBody>
      </p:sp>
    </p:spTree>
    <p:extLst>
      <p:ext uri="{BB962C8B-B14F-4D97-AF65-F5344CB8AC3E}">
        <p14:creationId xmlns:p14="http://schemas.microsoft.com/office/powerpoint/2010/main" val="1818029562"/>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4FCD921-73C3-415E-9BBC-5CCECF16A23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4C4737-FE3B-4235-83E3-2AC66F1C344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713FFF91-5E1C-40B3-B6D6-9D3A21234C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Cleaning and quality submission</a:t>
            </a:r>
          </a:p>
        </p:txBody>
      </p:sp>
      <p:sp>
        <p:nvSpPr>
          <p:cNvPr id="4" name="">
            <a:extLst xmlns:a="http://schemas.openxmlformats.org/drawingml/2006/main">
              <a:ext uri="{FF2B5EF4-FFF2-40B4-BE49-F238E27FC236}">
                <a16:creationId xmlns:a16="http://schemas.microsoft.com/office/drawing/2014/main" id="{0B43632F-FD28-4478-8F14-EAB885DCC75E}"/>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6809D86-620A-4809-B1FA-6FC8378AF411}"/>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16 Oct 2026, 11:00 Kampala</a:t>
            </a:r>
          </a:p>
        </p:txBody>
      </p:sp>
      <p:sp>
        <p:nvSpPr>
          <p:cNvPr id="6" name="">
            <a:extLst xmlns:a="http://schemas.openxmlformats.org/drawingml/2006/main">
              <a:ext uri="{FF2B5EF4-FFF2-40B4-BE49-F238E27FC236}">
                <a16:creationId xmlns:a16="http://schemas.microsoft.com/office/drawing/2014/main" id="{2F8FB8D0-4A15-4DA6-BEE9-D8B3809FF6E7}"/>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E230B9C-1717-4B97-BA1A-D87209E9A8C0}"/>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23 Oct 2026, 11:00 Kampala</a:t>
            </a:r>
          </a:p>
        </p:txBody>
      </p:sp>
      <p:sp>
        <p:nvSpPr>
          <p:cNvPr id="8" name="">
            <a:extLst xmlns:a="http://schemas.openxmlformats.org/drawingml/2006/main">
              <a:ext uri="{FF2B5EF4-FFF2-40B4-BE49-F238E27FC236}">
                <a16:creationId xmlns:a16="http://schemas.microsoft.com/office/drawing/2014/main" id="{CC409598-2934-4C1A-8DE0-90208558F76E}"/>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5FD9F77-C23C-49B4-9B2E-08BE5E97BD1C}"/>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0CD88F21-43D1-437C-AD7F-30FCF9D581EA}"/>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A366781-06E6-45F2-880B-3C5BD263B6F7}"/>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2008862A-60AE-466A-AD66-3898EDB0DF28}"/>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EDBD1CF-956A-49D5-AC06-28569DA234A1}"/>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0f4eda47fdde4944"/>
              </a:rPr>
              <a:t>Open W06 assignment form</a:t>
            </a:r>
          </a:p>
        </p:txBody>
      </p:sp>
      <p:sp>
        <p:nvSpPr>
          <p:cNvPr id="14" name="">
            <a:extLst xmlns:a="http://schemas.openxmlformats.org/drawingml/2006/main">
              <a:ext uri="{FF2B5EF4-FFF2-40B4-BE49-F238E27FC236}">
                <a16:creationId xmlns:a16="http://schemas.microsoft.com/office/drawing/2014/main" id="{6F47E380-A944-4901-A05F-68EC7F86B361}"/>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https://docs.google.com/forms/d/e/1FAIpQLSfcvyIDBXQG0fnr8EYsAHCsFatx8MDwAjzct3kPMz2JgAPxZQ/viewform</a:t>
            </a:r>
          </a:p>
        </p:txBody>
      </p:sp>
      <p:sp>
        <p:nvSpPr>
          <p:cNvPr id="15" name="">
            <a:extLst xmlns:a="http://schemas.openxmlformats.org/drawingml/2006/main">
              <a:ext uri="{FF2B5EF4-FFF2-40B4-BE49-F238E27FC236}">
                <a16:creationId xmlns:a16="http://schemas.microsoft.com/office/drawing/2014/main" id="{D141D4B3-3C93-455B-A988-34694787C0C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57</a:t>
            </a:r>
          </a:p>
        </p:txBody>
      </p:sp>
    </p:spTree>
    <p:extLst>
      <p:ext uri="{BB962C8B-B14F-4D97-AF65-F5344CB8AC3E}">
        <p14:creationId xmlns:p14="http://schemas.microsoft.com/office/powerpoint/2010/main" val="802172626"/>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4B7AEB3-EC3C-4409-9FF6-621F2F5F280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166EA4-FEF0-44DB-89A0-777E19882B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5A51BB4-23A3-460B-9E09-C11AAF8343C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EF1D6928-F974-43B6-A478-CFFB8067716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0B0BA37-EF12-43BB-8E9B-90FAC335AEE1}"/>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data analysis project brief.</a:t>
            </a:r>
          </a:p>
        </p:txBody>
      </p:sp>
      <p:sp>
        <p:nvSpPr>
          <p:cNvPr id="6" name="">
            <a:extLst xmlns:a="http://schemas.openxmlformats.org/drawingml/2006/main">
              <a:ext uri="{FF2B5EF4-FFF2-40B4-BE49-F238E27FC236}">
                <a16:creationId xmlns:a16="http://schemas.microsoft.com/office/drawing/2014/main" id="{B64F9BF6-6664-413B-888D-144C5B09ED1C}"/>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4EE7287-4310-497A-8394-D23188118EB3}"/>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78681249-1A47-47F8-88F7-84C735B551EF}"/>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650169D-486C-42D0-81AD-3D400E44D4F0}"/>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AFEEE308-62D6-4016-9C21-FBFC5616D2FD}"/>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367908C-0826-41AC-AA3F-20A49E550E89}"/>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30 Oct 2026, 11:00 Kampala</a:t>
            </a:r>
          </a:p>
        </p:txBody>
      </p:sp>
      <p:sp>
        <p:nvSpPr>
          <p:cNvPr id="12" name="">
            <a:extLst xmlns:a="http://schemas.openxmlformats.org/drawingml/2006/main">
              <a:ext uri="{FF2B5EF4-FFF2-40B4-BE49-F238E27FC236}">
                <a16:creationId xmlns:a16="http://schemas.microsoft.com/office/drawing/2014/main" id="{9F826C19-B7A5-4605-8649-E7880C3A74E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58</a:t>
            </a:r>
          </a:p>
        </p:txBody>
      </p:sp>
    </p:spTree>
    <p:extLst>
      <p:ext uri="{BB962C8B-B14F-4D97-AF65-F5344CB8AC3E}">
        <p14:creationId xmlns:p14="http://schemas.microsoft.com/office/powerpoint/2010/main" val="1946987630"/>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384F547-034D-42FD-B132-73D2B0A32C2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5D917A-E926-4562-99F0-232F4DE98B8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C8640818-4EFE-422B-98D5-D2394F70EF7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6 quiz</a:t>
            </a:r>
          </a:p>
        </p:txBody>
      </p:sp>
      <p:sp>
        <p:nvSpPr>
          <p:cNvPr id="4" name="">
            <a:extLst xmlns:a="http://schemas.openxmlformats.org/drawingml/2006/main">
              <a:ext uri="{FF2B5EF4-FFF2-40B4-BE49-F238E27FC236}">
                <a16:creationId xmlns:a16="http://schemas.microsoft.com/office/drawing/2014/main" id="{AEBF9E02-DDD9-4FD6-A392-EC209B07240C}"/>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3589287-A4D6-4FBF-ABEA-E2D68FF698E5}"/>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57F72C7F-DDD9-4CD5-94EA-9AA5AB644EA3}"/>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33BF852-4730-4154-A777-82ABA1DBB47E}"/>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B9702E38-9A7E-4BDC-8ADB-92BC8B683DA2}"/>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296B2B7-C47E-4C62-8247-683564D7DF46}"/>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E09C961D-7726-4E95-95E5-A9DCE39D9E24}"/>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66E9B43-7154-49BB-AC85-FD9E47A1D26F}"/>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1ABB7A62-C5E5-4F70-A046-7907C3413867}"/>
              </a:ext>
            </a:extLst>
          </p:cNvPr>
          <p:cNvPicPr>
            <a:picLocks xmlns:a="http://schemas.openxmlformats.org/drawingml/2006/main" noChangeAspect="1"/>
          </p:cNvPicPr>
          <p:nvPr/>
        </p:nvPicPr>
        <p:blipFill>
          <a:blip xmlns:r="http://schemas.openxmlformats.org/officeDocument/2006/relationships" xmlns:a="http://schemas.openxmlformats.org/drawingml/2006/main" r:embed="R8b382401f4b94a1e"/>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26D41CCE-D9B0-44E3-94C2-56C37C6FA93D}"/>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5318FD41-BE6E-4359-B55B-16A27420CE61}"/>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883BA3B-E97B-4D4E-B552-95C65873543E}"/>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e5617b9d51db4b11"/>
              </a:rPr>
              <a:t>Open this week’s quiz</a:t>
            </a:r>
          </a:p>
        </p:txBody>
      </p:sp>
      <p:sp>
        <p:nvSpPr>
          <p:cNvPr id="16" name="">
            <a:extLst xmlns:a="http://schemas.openxmlformats.org/drawingml/2006/main">
              <a:ext uri="{FF2B5EF4-FFF2-40B4-BE49-F238E27FC236}">
                <a16:creationId xmlns:a16="http://schemas.microsoft.com/office/drawing/2014/main" id="{C88A2041-3C32-476A-A253-5CA55798322A}"/>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https://forms.gle/BwRZGzPvSzTwDqaH6</a:t>
            </a:r>
          </a:p>
        </p:txBody>
      </p:sp>
      <p:sp>
        <p:nvSpPr>
          <p:cNvPr id="17" name="">
            <a:extLst xmlns:a="http://schemas.openxmlformats.org/drawingml/2006/main">
              <a:ext uri="{FF2B5EF4-FFF2-40B4-BE49-F238E27FC236}">
                <a16:creationId xmlns:a16="http://schemas.microsoft.com/office/drawing/2014/main" id="{D187D34F-DA5F-4EA7-A962-1D8811FD650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59</a:t>
            </a:r>
          </a:p>
        </p:txBody>
      </p:sp>
    </p:spTree>
    <p:extLst>
      <p:ext uri="{BB962C8B-B14F-4D97-AF65-F5344CB8AC3E}">
        <p14:creationId xmlns:p14="http://schemas.microsoft.com/office/powerpoint/2010/main" val="771170539"/>
      </p:ext>
    </p:extLst>
  </p:cSld>
</p:sld>
</file>

<file path=ppt/slides/slide60.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A712E7-DF49-484E-881A-B230ADEBFF1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DA19E8FD-286D-4C8C-A5E1-BC09CB480F9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F4DB61F1-0E5B-4A9F-B2F0-E4549537F3F0}"/>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148F0ECC-653F-4395-85BF-AA89ACA5118D}"/>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each cleaning or modelling decision using your pandas table and its outputs.</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Keep raw data unchanged. Restart and run all cells before submitting the required assignment notebook.</a:t>
            </a:r>
          </a:p>
        </p:txBody>
      </p:sp>
      <p:sp>
        <p:nvSpPr>
          <p:cNvPr id="5" name="">
            <a:extLst xmlns:a="http://schemas.openxmlformats.org/drawingml/2006/main">
              <a:ext uri="{FF2B5EF4-FFF2-40B4-BE49-F238E27FC236}">
                <a16:creationId xmlns:a16="http://schemas.microsoft.com/office/drawing/2014/main" id="{9A73B370-611B-4002-8565-9B4C4AEFC0B4}"/>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0B710F79-A3CB-4EFE-BCE3-0010179DC8E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6   60</a:t>
            </a:r>
          </a:p>
        </p:txBody>
      </p:sp>
    </p:spTree>
    <p:extLst>
      <p:ext uri="{BB962C8B-B14F-4D97-AF65-F5344CB8AC3E}">
        <p14:creationId xmlns:p14="http://schemas.microsoft.com/office/powerpoint/2010/main" val="1186265150"/>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AC3D0B4-CBC3-47CA-B03B-78AD3E4F758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C5A30C-E29F-4546-B2F0-7E3AD6F6C1B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87675B56-97EF-4052-8B56-86A6CB052B6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B555FCBD-F424-4410-9DDB-52E5CD31409E}"/>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D5260FA-8F86-4D67-95ED-38F4F95FC9E0}"/>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89A87191-3100-46D1-80ED-CFFE15B27BB4}"/>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9418C56-FFD8-46C7-96C6-013EDA1FC854}"/>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Boxplots are Awesome!!!</a:t>
            </a:r>
          </a:p>
        </p:txBody>
      </p:sp>
      <p:sp>
        <p:nvSpPr>
          <p:cNvPr id="8" name="">
            <a:extLst xmlns:a="http://schemas.openxmlformats.org/drawingml/2006/main">
              <a:ext uri="{FF2B5EF4-FFF2-40B4-BE49-F238E27FC236}">
                <a16:creationId xmlns:a16="http://schemas.microsoft.com/office/drawing/2014/main" id="{A2EF8072-785D-451A-A535-F39DC56DADA2}"/>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2E1BAA8-B35E-47BE-B478-5A7E7DC9BF14}"/>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10" name="">
            <a:extLst xmlns:a="http://schemas.openxmlformats.org/drawingml/2006/main">
              <a:ext uri="{FF2B5EF4-FFF2-40B4-BE49-F238E27FC236}">
                <a16:creationId xmlns:a16="http://schemas.microsoft.com/office/drawing/2014/main" id="{85EA2A51-1816-4B8C-8D0C-E259D12ADDAB}"/>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F004B021-EEBB-4840-B605-20FD9ECD8F6C}"/>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What does the box show, and does a point outside it prove an error?</a:t>
            </a:r>
          </a:p>
        </p:txBody>
      </p:sp>
      <p:sp>
        <p:nvSpPr>
          <p:cNvPr id="12" name="">
            <a:extLst xmlns:a="http://schemas.openxmlformats.org/drawingml/2006/main">
              <a:ext uri="{FF2B5EF4-FFF2-40B4-BE49-F238E27FC236}">
                <a16:creationId xmlns:a16="http://schemas.microsoft.com/office/drawing/2014/main" id="{FB91FED7-1F1E-40E6-B4F1-BE033B8C9FE9}"/>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0A7F6EB-1D33-45B3-B8F3-E5A4411014A2}"/>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fee6393e64664b15"/>
              </a:rPr>
              <a:t>Open explainer video</a:t>
            </a:r>
          </a:p>
        </p:txBody>
      </p:sp>
      <p:sp>
        <p:nvSpPr>
          <p:cNvPr id="14" name="">
            <a:extLst xmlns:a="http://schemas.openxmlformats.org/drawingml/2006/main">
              <a:ext uri="{FF2B5EF4-FFF2-40B4-BE49-F238E27FC236}">
                <a16:creationId xmlns:a16="http://schemas.microsoft.com/office/drawing/2014/main" id="{D3C5446D-2981-4D47-8DC9-DF509A61041B}"/>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https://www.youtube.com/watch?v=fHLhBnmwUM0</a:t>
            </a:r>
          </a:p>
        </p:txBody>
      </p:sp>
      <p:sp>
        <p:nvSpPr>
          <p:cNvPr id="15" name="">
            <a:extLst xmlns:a="http://schemas.openxmlformats.org/drawingml/2006/main">
              <a:ext uri="{FF2B5EF4-FFF2-40B4-BE49-F238E27FC236}">
                <a16:creationId xmlns:a16="http://schemas.microsoft.com/office/drawing/2014/main" id="{B25ACC74-D7B0-4719-8EC1-DEBA05819D0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61</a:t>
            </a:r>
          </a:p>
        </p:txBody>
      </p:sp>
    </p:spTree>
    <p:extLst>
      <p:ext uri="{BB962C8B-B14F-4D97-AF65-F5344CB8AC3E}">
        <p14:creationId xmlns:p14="http://schemas.microsoft.com/office/powerpoint/2010/main" val="21356618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2026-10-20T18:01:55.8990000Z</dcterms:created>
  <dcterms:modified xsi:type="dcterms:W3CDTF">2026-10-20T18:01:55.8990000Z</dcterms:modified>
</coreProperties>
</file>