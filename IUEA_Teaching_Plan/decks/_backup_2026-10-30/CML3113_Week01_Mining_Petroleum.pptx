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0052.xml" ContentType="application/vnd.openxmlformats-officedocument.presentationml.notesSlide+xml"/>
  <Override PartName="/ppt/notesSlides/notesSlide1005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005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52.xml" /></ns0:Relationships>
</file>

<file path=ppt/notesSlides/_rels/notesSlide1005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53.xml" /></ns0: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Begin with a decision engineers make: estimate a quantity or identify a condition from observations. Today introduces the ideas using the embedded tables and illustrations; no CSV download or Python is needed. A prediction is an estimate, not proof that an action is safe.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Introduce the tutor’s applied data work briefly. The formal status is incoming PhD student in Applied Informatics at Osaka Metropolitan University, Japan, for April 2027; enrolment has not started. The examples illustrate different applications, not identical model architectures.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Read the outcomes as questions learners should be able to answer by the end. Start with AI and machine learning in ordinary language; features, targets and task types are introduced later. Learners do not need those terms beforehand.</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the lesson’s sequence: define the ideas, inspect a worked example, then practise identifying a sensible prediction task. Timings are a guide, not a requirement to rush. The activities can be completed individually.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Follow the semester from setup and Python to tables, cleaning, practical tests and models. Weeks 7 and 14 are test weeks. Test-day downloads and Colab submission follow the current test-entry instructions; do not substitute older offline-test guidance.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Connect each course goal to visible evidence: a runnable notebook, a correct summary, a reasoned chart or an evaluated model. Knowing a tool name is not the same as explaining a result. Engineering meaning and units remain part of every calculation.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Introduce how individual work and projects fit together. The next assessment slide supplies the components and weights. Separate weekly tasks from project milestones so students do not confuse one submission with another.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Walk through the displayed assessment components and add their weights to 100%. Explain which work is individual and which is a project. The current cohort waiver policy overrides old weekly counts: CML3112 and CML3113 have A6 and Quiz 6 waived; CML3111 retains them. Waived tasks do not become zeros.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reproducible work as work another person can rerun from the supplied files and instructions. Students should state sources, units and contributions. Asking for help is useful when the learner can show the attempted step and the exact error.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a map of later topics, not an instruction to learn them all today. A roadmap puts tools and ideas in order. Distinguish the topics taught this semester from those deferred to Semester 2.</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Follow the highlighted route from Python to data preparation and evaluation. Explain that a roadmap is a curriculum outline. Neural networks and transformers are later topics; no understanding of their internal mathematics is assumed here.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Connect each foundation to its purpose. Arithmetic expresses measurements; statistics summarises variability; vectors and matrices arrange inputs; programming repeats a calculation. The course introduces the required operations before its worked examples.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Read the coverage boundary literally. Topics outside the highlighted route are not hidden prerequisites for weekly work. Explain MLOps only as operating and monitoring deployed models; the full subject is outside this course.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Different roles emphasise different work: analysis explains data, data science investigates questions, ML engineering implements prediction systems, and data engineering supplies reliable data. The course builds introductory skills, not an immediate professional qualification.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Move from job titles to the engineering question shown next. Start with the decision and available observations. Choosing a model before defining the question can produce an impressive score that does not help anyone.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the nested picture: machine learning is an approach within AI; deep learning is a family within machine learning. Data science overlaps these but also includes finding, checking, summarising and explaining data without training a model.</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AI is the broad area of systems performing tasks associated with intelligence. A fixed rule can be part of an AI system; AI does not always mean learning. Avoid implying that the system understands a problem as a person does.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 learning algorithm uses examples to adjust a model’s settings. We still choose the question, inputs and evaluation. The computer does not automatically discover a valid engineering law or decide whether its own prediction is safe.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Data science begins before modelling and continues after it. For example, counting missing sensor readings, checking units and explaining a trend are data-science work even if no predictive model is built.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Contrast a hand-specified rule with a rule fitted from examples. Both take inputs and produce an output; what differs is how the mapping is obtained. An established equation can be the better option when its assumptions apply.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Identify the outcome, the information available beforehand, and the time at which a prediction would be useful. If an input is known only after the outcome, it cannot support that advance prediction. The following paper example illustrates the reasoning with small embedded data.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Trace the diagrams left to right. In conventional programming, a person supplies the rule. In supervised learning, past inputs and observed outcomes help an algorithm fit a rule. Then that fitted rule predicts outcomes for new inputs. Do not assume students have programmed before.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the decision criteria one by one. Known equations still require valid units and assumptions. Learning from examples requires enough relevant data and evaluation on separate cases. Interpretability is a requirement to examine, not proof that every learned model is unexplainable.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Point to one complete row: it represents one observation. Read its column names and units before using any numbers. Identify candidate inputs available at prediction time, then the outcome to predict. The embedded table is the learning aid here; it is not a file students must locate.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 feature is an input chosen for prediction; the target is the answer being predicted. Not every earlier measurement is useful, and an identifier may be only a label. Association means two quantities vary together; it does not establish that changing one causes the other.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students identify the target and exclude the post-outcome repair information. The reason is timing: information unavailable when predicting would leak the answer. A valid fixed formula is an acceptable alternative to ML. The next slide explains these answers.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why the target is the requested outcome, not simply the last column. The repair-after-failure column is excluded because it would not be available beforehand. For electrical examples, Ohm’s law is V = IR; DC electrical power is P = VI. They are different relationships with different assumptions.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Use the twelve embedded observations as known examples. Case 13 is withheld from the pattern-finding step. This is an individual paper exercise to practise prediction reasoning; it is not a requirement to write or train a model yet.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Read the table’s headings and units first. Select similar known cases, make an estimate for case 13 and record a reason before the reveal. There is no requirement to form a team in class. The goal is an explained estimate, not guessing the exact measured answer.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Work through the five visible steps using the actual table. Interpolation estimates between neighbouring observations; it does not guarantee that the outcome lies between theirs. Explain why a second input may matter. Keep a record of the estimate before showing the measured outcome.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Read the star as the withheld observation and compare it with the previously recorded estimate. State the chosen signed-error convention before subtracting, and retain the measurement’s unit. Absolute error measures size without direction. One held-out case is not enough to establish reliable performance.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Map the paper actions to later computing steps without claiming a computer was trained today. Looking at patterns is exploration; choosing columns is feature selection; an algorithm later fits model parameters. Separate evaluation asks whether the fitted rule works on observations it did not learn from.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Pause before introducing task types. No code or download is required for the second half of this introductory lesson.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that the kind of answer determines the task. An estimated amount is a regression target; a choice among categories is classification. Categories can be represented by numeric codes such as 0 and 1, so digits alone do not determine the task.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line is one possible regression model, not the definition of regression. Curved relationships are also possible. The boundary illustrates classification; it separates predicted categories. The same inputs may support different tasks depending on the target we define.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Ask what the output means, not only how it is written. A quantity such as torque or days is regression; a class such as failure/no failure is classification. A label encoded as 0 or 1 is still a category. Regression can also predict quantities without physical units.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Days until replacement is a numerical quantity. Pass/fail has two classes. Five fault types give multiclass classification. Identify the target meaning before choosing a method; students can answer without knowing a model algorithm.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binary as two categories and multiclass as more than two. More classes do not automatically make every dataset harder; difficulty also depends on their separation, examples and error costs. A confusion table will later reveal which categories are mixed up.</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Introduce four reasons a prediction may not be useful. A model returning an answer is not evidence of data quality, a real predictive relationship or safe operation.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Walk through the four limits on the diagram: inadequate observations, weak or irrelevant inputs, a better known equation, and changes between past and current conditions. Explain that these are questions to investigate rather than universal claims about every plant or dataset.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Treat each engineering situation as an illustrative scenario. Missing historical observations prevent learning that relationship from those observations. A superficially correlated label may fail elsewhere. A validated physical equation can be preferable. Changed equipment or materials can invalidate an old evaluation.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Introduce the Problem Hunt as practice defining a question before choosing a technique. It supports the A1 brief; it does not create another graded upload.</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Work through one candidate: specify the outcome, potential measurements, who records them, the decision helped and the cost of error. Then identify two other candidates. A good answer may conclude that an established rule is better than ML.</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Project teamwork is separate from today’s individual exercises. Explain rotating roles and the contribution log as specific records of who produced and explained each part. Individual written defence and reflection follow the current Week 15 brief; do not promise an unannounced live examination.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Review one candidate problem against the visible questions, then explain the A1 submission checklist. Do not require a gallery walk or peer boards. The assignment should be understandable to someone revising alone.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A1 asks for one report covering three candidate problems and a justified choice of one. For each, identify inputs, target where appropriate, a possible data source and a limitation. Use the current form deadline. Account setup is preparation for Week 2, not a second report.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video is supplementary. Ask students to compare its definitions of AI, ML and deep learning with the lesson. Preview it before class; availability and suggested excerpt timings may change. Students can use the preceding explanations if the video is unavailable.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how to revise: attempt the self-test before reading its answers, then use the glossary to clarify unfamiliar terms. The reference slides summarise this lesson; they do not introduce additional submission requirements.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Recap the chain: engineering question, suitable observations, candidate inputs and target, method choice, evaluation and limitations. The row-and-column description applies to the supervised tables used here, not every possible dataset. Images, text and unlabelled data can have other structures.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Students should justify each answer. Features depend on what is known at prediction time. A score on training data can reflect memorisation. Before acting on a prediction, examine the error tolerance, operating conditions and consequences of mistakes.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Use each answer to explain the reason. The target is determined by the question. Candidate features must be available beforehand and then checked for usefulness. Separate evaluation tests generalisation, but also needs relevant cases and protection against leakage.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Give a timing example for leakage: a repair recorded after failure is unavailable when predicting failure. Generalisation concerns new cases. Association alone does not establish causation; causal conclusions need additional assumptions or study design.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Use the eight questions as a decision checklist. A prediction task needs an outcome, but descriptive data analysis can answer questions without a target. Check availability, evaluation and consequences before committing to a model.</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Explain the difference between estimated completion time and availability: the quiz may take about five minutes, while its response window is 24 hours from lecturer activation. Use the cohort’s current quiz policy and the active link. The course’s quiz category remains 10% even where Quiz 6 is waived.</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Close accurately: today learners practised reasoning from observations, making a prediction and checking error. Later Python lessons fit and evaluate models computationally. Bring a laptop and browser for Week 2; the introductory paper example is not an extra upload.</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005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Define the terms in the context of today’s table. A dataset is a collection of data; it need not always be a table. An observation is one case; a target is needed for a supervised labelled example but may be missing for a new case awaiting prediction.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005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Differentiate prediction, observed value and error. Binary and multiclass refer to the number of categories, not to how category labels are stored. Unseen cases must also be relevant to intended use; an unrelated held-out set is not automatically a fair evaluation.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52.xml" /></ns0:Relationships>
</file>

<file path=ppt/slides/_rels/slide5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053.xml" /></ns0: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CML3113</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AI, machine learning</a:t>
            </a:r>
          </a:p>
          <a:p>
            <a:pPr algn="l">
              <a:lnSpc>
                <a:spcPct val="105000"/>
              </a:lnSpc>
              <a:spcAft>
                <a:spcPts val="600"/>
              </a:spcAft>
            </a:pPr>
            <a:r>
              <a:rPr sz="4400" b="1" i="0">
                <a:solidFill>
                  <a:srgbClr val="FFFFFF"/>
                </a:solidFill>
                <a:latin typeface="Cambria"/>
              </a:rPr>
              <a:t>and the engineering problem</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Introduction to Machine Learning in Mining &amp; Petroleum Engineering</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Fri 11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08:00–11:00 · Room 105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YOUR LECTURER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Jotham Martin Wambi</a:t>
            </a:r>
          </a:p>
        </p:txBody>
      </p:sp>
      <p:sp>
        <p:nvSpPr>
          <p:cNvPr id="4" name="Oval 3"/>
          <p:cNvSpPr/>
          <p:nvPr/>
        </p:nvSpPr>
        <p:spPr>
          <a:xfrm>
            <a:off x="10545775" y="603504"/>
            <a:ext cx="960120" cy="9601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mbria"/>
              </a:rPr>
              <a:t>JW</a:t>
            </a:r>
          </a:p>
        </p:txBody>
      </p:sp>
      <p:sp>
        <p:nvSpPr>
          <p:cNvPr id="5" name="TextBox 4"/>
          <p:cNvSpPr txBox="1"/>
          <p:nvPr/>
        </p:nvSpPr>
        <p:spPr>
          <a:xfrm>
            <a:off x="685800" y="1819655"/>
            <a:ext cx="949421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C4E5E"/>
                </a:solidFill>
                <a:latin typeface="Calibri"/>
              </a:rPr>
              <a:t>Data scientist and ML engineer · Founding engineer, Magentiq AI Labs</a:t>
            </a:r>
          </a:p>
        </p:txBody>
      </p:sp>
      <p:sp>
        <p:nvSpPr>
          <p:cNvPr id="6" name="TextBox 5"/>
          <p:cNvSpPr txBox="1"/>
          <p:nvPr/>
        </p:nvSpPr>
        <p:spPr>
          <a:xfrm>
            <a:off x="685800" y="2494836"/>
            <a:ext cx="4526280"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Background</a:t>
            </a:r>
          </a:p>
        </p:txBody>
      </p:sp>
      <p:sp>
        <p:nvSpPr>
          <p:cNvPr id="7" name="TextBox 6"/>
          <p:cNvSpPr txBox="1"/>
          <p:nvPr/>
        </p:nvSpPr>
        <p:spPr>
          <a:xfrm>
            <a:off x="5715000" y="2494836"/>
            <a:ext cx="5790895"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Some of what I have built</a:t>
            </a:r>
          </a:p>
        </p:txBody>
      </p:sp>
      <p:sp>
        <p:nvSpPr>
          <p:cNvPr id="8" name="Oval 7"/>
          <p:cNvSpPr/>
          <p:nvPr/>
        </p:nvSpPr>
        <p:spPr>
          <a:xfrm>
            <a:off x="704088" y="291546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86059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Incoming PhD student (April 2027)
Osaka Metropolitan University, Japan</a:t>
            </a:r>
          </a:p>
        </p:txBody>
      </p:sp>
      <p:sp>
        <p:nvSpPr>
          <p:cNvPr id="10" name="Oval 9"/>
          <p:cNvSpPr/>
          <p:nvPr/>
        </p:nvSpPr>
        <p:spPr>
          <a:xfrm>
            <a:off x="704088" y="365328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59841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Master of Technology Management
Yamaguchi University, Japan</a:t>
            </a:r>
          </a:p>
        </p:txBody>
      </p:sp>
      <p:sp>
        <p:nvSpPr>
          <p:cNvPr id="12" name="Oval 11"/>
          <p:cNvSpPr/>
          <p:nvPr/>
        </p:nvSpPr>
        <p:spPr>
          <a:xfrm>
            <a:off x="704088" y="439110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4336236"/>
            <a:ext cx="4270248" cy="364337"/>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BSc IT, Makerere · BA Economics, IUIU</a:t>
            </a:r>
          </a:p>
        </p:txBody>
      </p:sp>
      <p:sp>
        <p:nvSpPr>
          <p:cNvPr id="14" name="Oval 13"/>
          <p:cNvSpPr/>
          <p:nvPr/>
        </p:nvSpPr>
        <p:spPr>
          <a:xfrm>
            <a:off x="704088" y="4810301"/>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755437"/>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Eight years at Citibank, EY and D'isum Inc, Tokyo</a:t>
            </a:r>
          </a:p>
        </p:txBody>
      </p:sp>
      <p:sp>
        <p:nvSpPr>
          <p:cNvPr id="16" name="Rounded Rectangle 15"/>
          <p:cNvSpPr/>
          <p:nvPr/>
        </p:nvSpPr>
        <p:spPr>
          <a:xfrm>
            <a:off x="5715000" y="2860596"/>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915460"/>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Law Lens</a:t>
            </a:r>
          </a:p>
        </p:txBody>
      </p:sp>
      <p:sp>
        <p:nvSpPr>
          <p:cNvPr id="18" name="TextBox 17"/>
          <p:cNvSpPr txBox="1"/>
          <p:nvPr/>
        </p:nvSpPr>
        <p:spPr>
          <a:xfrm>
            <a:off x="5989320" y="3196838"/>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Language models over Ugandan law, fully traceable.</a:t>
            </a:r>
          </a:p>
        </p:txBody>
      </p:sp>
      <p:sp>
        <p:nvSpPr>
          <p:cNvPr id="19" name="Rounded Rectangle 18"/>
          <p:cNvSpPr/>
          <p:nvPr/>
        </p:nvSpPr>
        <p:spPr>
          <a:xfrm>
            <a:off x="5715000" y="3715709"/>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3770573"/>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Magentiq AssetGuard</a:t>
            </a:r>
          </a:p>
        </p:txBody>
      </p:sp>
      <p:sp>
        <p:nvSpPr>
          <p:cNvPr id="21" name="TextBox 20"/>
          <p:cNvSpPr txBox="1"/>
          <p:nvPr/>
        </p:nvSpPr>
        <p:spPr>
          <a:xfrm>
            <a:off x="5989320" y="4051951"/>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Machine failure predicted from vibration sensors.</a:t>
            </a:r>
          </a:p>
        </p:txBody>
      </p:sp>
      <p:sp>
        <p:nvSpPr>
          <p:cNvPr id="22" name="Rounded Rectangle 21"/>
          <p:cNvSpPr/>
          <p:nvPr/>
        </p:nvSpPr>
        <p:spPr>
          <a:xfrm>
            <a:off x="5715000" y="4570822"/>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4625686"/>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Wearable ECG detection</a:t>
            </a:r>
          </a:p>
        </p:txBody>
      </p:sp>
      <p:sp>
        <p:nvSpPr>
          <p:cNvPr id="24" name="TextBox 23"/>
          <p:cNvSpPr txBox="1"/>
          <p:nvPr/>
        </p:nvSpPr>
        <p:spPr>
          <a:xfrm>
            <a:off x="5989320" y="4907064"/>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Eleven cardiac conditions from a live ECG.</a:t>
            </a:r>
          </a:p>
        </p:txBody>
      </p:sp>
      <p:sp>
        <p:nvSpPr>
          <p:cNvPr id="25" name="Rectangle 24"/>
          <p:cNvSpPr/>
          <p:nvPr/>
        </p:nvSpPr>
        <p:spPr>
          <a:xfrm>
            <a:off x="685800" y="5721209"/>
            <a:ext cx="10820095" cy="825894"/>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821793"/>
            <a:ext cx="10271455" cy="324899"/>
          </a:xfrm>
          <a:prstGeom prst="rect">
            <a:avLst/>
          </a:prstGeom>
          <a:noFill/>
        </p:spPr>
        <p:txBody>
          <a:bodyPr wrap="square" lIns="0" rIns="0" tIns="0" bIns="0" anchor="t">
            <a:spAutoFit/>
          </a:bodyPr>
          <a:lstStyle/>
          <a:p>
            <a:pPr algn="l">
              <a:lnSpc>
                <a:spcPct val="120000"/>
              </a:lnSpc>
              <a:spcAft>
                <a:spcPts val="600"/>
              </a:spcAft>
            </a:pPr>
            <a:r>
              <a:rPr sz="1518" b="0" i="0">
                <a:solidFill>
                  <a:srgbClr val="1C3144"/>
                </a:solidFill>
                <a:latin typeface="Calibri"/>
              </a:rPr>
              <a:t>Every system on the right uses the pipeline you build from Week 8: split the data, fit a model, then score it.</a:t>
            </a:r>
          </a:p>
        </p:txBody>
      </p:sp>
      <p:sp>
        <p:nvSpPr>
          <p:cNvPr id="27" name="TextBox 26"/>
          <p:cNvSpPr txBox="1"/>
          <p:nvPr/>
        </p:nvSpPr>
        <p:spPr>
          <a:xfrm>
            <a:off x="960120" y="6164980"/>
            <a:ext cx="10271455" cy="299827"/>
          </a:xfrm>
          <a:prstGeom prst="rect">
            <a:avLst/>
          </a:prstGeom>
          <a:noFill/>
        </p:spPr>
        <p:txBody>
          <a:bodyPr wrap="square" lIns="0" rIns="0" tIns="0" bIns="0" anchor="t">
            <a:spAutoFit/>
          </a:bodyPr>
          <a:lstStyle/>
          <a:p>
            <a:pPr algn="l">
              <a:lnSpc>
                <a:spcPct val="120000"/>
              </a:lnSpc>
              <a:spcAft>
                <a:spcPts val="600"/>
              </a:spcAft>
            </a:pPr>
            <a:r>
              <a:rPr sz="1386" b="0" i="0">
                <a:solidFill>
                  <a:srgbClr val="6B7A8A"/>
                </a:solidFill>
                <a:latin typeface="Calibri"/>
              </a:rPr>
              <a:t>linkedin.com/in/jothammartinwambi   ·   github.com/Jotham566   ·   jothammartin.wambi@gmail.com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Say what artificial intelligence, machine learning and data science each mean, and how they differ.</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the difference between writing a rule yourself and letting a computer infer one from examples.</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Point at a table of data and correctly identify the features and the target.</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Tell a regression problem from a classification problem, and give an example of each from your own field.</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Name three problems in exploration, ore and reservoir characterisation, production and equipment health where data could help, and two where it could not.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State four things machine learning cannot do, with a reason for each.</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Describe how this course is assessed and what your project will look like.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1 · AI, machine learning and the engineering problem · nothing here needs prior programming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every session this semester is shaped</a:t>
            </a:r>
          </a:p>
        </p:txBody>
      </p:sp>
      <p:pic>
        <p:nvPicPr>
          <p:cNvPr id="4" name="Picture 3" descr="clock_w1.png"/>
          <p:cNvPicPr>
            <a:picLocks noChangeAspect="1"/>
          </p:cNvPicPr>
          <p:nvPr/>
        </p:nvPicPr>
        <p:blipFill>
          <a:blip r:embed="rId2"/>
          <a:stretch>
            <a:fillRect/>
          </a:stretch>
        </p:blipFill>
        <p:spPr>
          <a:xfrm>
            <a:off x="921970" y="1911095"/>
            <a:ext cx="103477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Three hours, eleven segments. No block of talking runs longer than 25 minutes, and roughly half of every session is you doing something rather than me saying something.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SEMESTER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this semester goes</a:t>
            </a:r>
          </a:p>
        </p:txBody>
      </p:sp>
      <p:pic>
        <p:nvPicPr>
          <p:cNvPr id="4" name="Picture 3" descr="arc.png"/>
          <p:cNvPicPr>
            <a:picLocks noChangeAspect="1"/>
          </p:cNvPicPr>
          <p:nvPr/>
        </p:nvPicPr>
        <p:blipFill>
          <a:blip r:embed="rId2"/>
          <a:stretch>
            <a:fillRect/>
          </a:stretch>
        </p:blipFill>
        <p:spPr>
          <a:xfrm>
            <a:off x="685800" y="2460326"/>
            <a:ext cx="10820095" cy="2915753"/>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weeks. Weeks 7 and 14 are practical tests: you are given data you have never seen and asked what you make of it. The project runs from Week 9 to the last session.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COURSE GOALS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will be able to say by December</a:t>
            </a:r>
          </a:p>
        </p:txBody>
      </p:sp>
      <p:pic>
        <p:nvPicPr>
          <p:cNvPr id="4" name="Picture 3" descr="ladder.png"/>
          <p:cNvPicPr>
            <a:picLocks noChangeAspect="1"/>
          </p:cNvPicPr>
          <p:nvPr/>
        </p:nvPicPr>
        <p:blipFill>
          <a:blip r:embed="rId2"/>
          <a:stretch>
            <a:fillRect/>
          </a:stretch>
        </p:blipFill>
        <p:spPr>
          <a:xfrm>
            <a:off x="1552731" y="1911095"/>
            <a:ext cx="908623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course builds from reading data to testing a model. Weekly exercises give you practice at each stage.</a:t>
            </a: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Welcome, and how this course works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Course goals, assessment and weekly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ASSESSMENT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you are assessed</a:t>
            </a:r>
          </a:p>
        </p:txBody>
      </p:sp>
      <p:pic>
        <p:nvPicPr>
          <p:cNvPr id="4" name="Picture 3" descr="assessment.png"/>
          <p:cNvPicPr>
            <a:picLocks noChangeAspect="1"/>
          </p:cNvPicPr>
          <p:nvPr/>
        </p:nvPicPr>
        <p:blipFill>
          <a:blip r:embed="rId2"/>
          <a:stretch>
            <a:fillRect/>
          </a:stretch>
        </p:blipFill>
        <p:spPr>
          <a:xfrm>
            <a:off x="1160833" y="1911095"/>
            <a:ext cx="98700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Assessment includes code, data analysis, models and written explanations. Individual work accounts for 65% of the mark.</a:t>
            </a:r>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CLASS EXPECTATIONS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I expect, and what you can expect back</a:t>
            </a:r>
          </a:p>
        </p:txBody>
      </p:sp>
      <p:sp>
        <p:nvSpPr>
          <p:cNvPr id="4" name="TextBox 3"/>
          <p:cNvSpPr txBox="1"/>
          <p:nvPr/>
        </p:nvSpPr>
        <p:spPr>
          <a:xfrm>
            <a:off x="685800"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I expect from you</a:t>
            </a:r>
          </a:p>
        </p:txBody>
      </p:sp>
      <p:sp>
        <p:nvSpPr>
          <p:cNvPr id="5" name="TextBox 4"/>
          <p:cNvSpPr txBox="1"/>
          <p:nvPr/>
        </p:nvSpPr>
        <p:spPr>
          <a:xfrm>
            <a:off x="685800"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Attend. There is one three-hour session a week and no lecture to catch up from — the value is in the practical and the challenge, which cannot be read later.</a:t>
            </a:r>
          </a:p>
        </p:txBody>
      </p:sp>
      <p:sp>
        <p:nvSpPr>
          <p:cNvPr id="6" name="TextBox 5"/>
          <p:cNvSpPr txBox="1"/>
          <p:nvPr/>
        </p:nvSpPr>
        <p:spPr>
          <a:xfrm>
            <a:off x="685800" y="3402456"/>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 the weekly deliverable every week. Eleven small pieces spread over twelve weeks is manageable; nine of them attempted in December is not.</a:t>
            </a:r>
          </a:p>
        </p:txBody>
      </p:sp>
      <p:sp>
        <p:nvSpPr>
          <p:cNvPr id="7" name="TextBox 6"/>
          <p:cNvSpPr txBox="1"/>
          <p:nvPr/>
        </p:nvSpPr>
        <p:spPr>
          <a:xfrm>
            <a:off x="685800" y="4472278"/>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asking for help, include the error message, what you tried and what you expected.</a:t>
            </a:r>
          </a:p>
        </p:txBody>
      </p:sp>
      <p:sp>
        <p:nvSpPr>
          <p:cNvPr id="8" name="TextBox 7"/>
          <p:cNvSpPr txBox="1"/>
          <p:nvPr/>
        </p:nvSpPr>
        <p:spPr>
          <a:xfrm>
            <a:off x="685800" y="554210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you get stuck, note the step that failed and ask for help.</a:t>
            </a:r>
          </a:p>
        </p:txBody>
      </p:sp>
      <p:sp>
        <p:nvSpPr>
          <p:cNvPr id="9" name="TextBox 8"/>
          <p:cNvSpPr txBox="1"/>
          <p:nvPr/>
        </p:nvSpPr>
        <p:spPr>
          <a:xfrm>
            <a:off x="6347307"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you can expect from me</a:t>
            </a:r>
          </a:p>
        </p:txBody>
      </p:sp>
      <p:sp>
        <p:nvSpPr>
          <p:cNvPr id="10" name="TextBox 9"/>
          <p:cNvSpPr txBox="1"/>
          <p:nvPr/>
        </p:nvSpPr>
        <p:spPr>
          <a:xfrm>
            <a:off x="6347307"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Every rubric published before the work is set. You will never meet a marking scheme for the first time in an assessment.</a:t>
            </a:r>
          </a:p>
        </p:txBody>
      </p:sp>
      <p:sp>
        <p:nvSpPr>
          <p:cNvPr id="11" name="TextBox 10"/>
          <p:cNvSpPr txBox="1"/>
          <p:nvPr/>
        </p:nvSpPr>
        <p:spPr>
          <a:xfrm>
            <a:off x="6347307" y="3402456"/>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Download the lesson files before class so you can access the data without a connection.</a:t>
            </a:r>
          </a:p>
        </p:txBody>
      </p:sp>
      <p:sp>
        <p:nvSpPr>
          <p:cNvPr id="12" name="TextBox 11"/>
          <p:cNvSpPr txBox="1"/>
          <p:nvPr/>
        </p:nvSpPr>
        <p:spPr>
          <a:xfrm>
            <a:off x="6347307" y="416139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Feedback on the weekly work within a week, and instant feedback on every quiz.</a:t>
            </a:r>
          </a:p>
        </p:txBody>
      </p:sp>
      <p:sp>
        <p:nvSpPr>
          <p:cNvPr id="13" name="TextBox 12"/>
          <p:cNvSpPr txBox="1"/>
          <p:nvPr/>
        </p:nvSpPr>
        <p:spPr>
          <a:xfrm>
            <a:off x="6347307" y="4920325"/>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Ask how each topic relates to the engineering problem.</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topics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This roadmap shows Semester 1, Semester 2 and topics outside this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TERRITORY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machine learning roadmap</a:t>
            </a:r>
          </a:p>
        </p:txBody>
      </p:sp>
      <p:pic>
        <p:nvPicPr>
          <p:cNvPr id="4" name="Picture 3" descr="roadmap_journey.png"/>
          <p:cNvPicPr>
            <a:picLocks noChangeAspect="1"/>
          </p:cNvPicPr>
          <p:nvPr/>
        </p:nvPicPr>
        <p:blipFill>
          <a:blip r:embed="rId2"/>
          <a:stretch>
            <a:fillRect/>
          </a:stretch>
        </p:blipFill>
        <p:spPr>
          <a:xfrm>
            <a:off x="2272525" y="1911095"/>
            <a:ext cx="764664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stages, from Python to transformers. Orange is Semester 1. Green is Semester 2. Dark blue is the stage you already have from your engineering degree. Grey is what this course deliberately does not teach. Structure follows the public roadmap.sh Machine Learning roadmap.</a:t>
            </a:r>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FOUNDATIONS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Mathematics and programming foundations</a:t>
            </a:r>
          </a:p>
        </p:txBody>
      </p:sp>
      <p:sp>
        <p:nvSpPr>
          <p:cNvPr id="4" name="TextBox 3"/>
          <p:cNvSpPr txBox="1"/>
          <p:nvPr/>
        </p:nvSpPr>
        <p:spPr>
          <a:xfrm>
            <a:off x="685800" y="1911095"/>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Mathematics used in machine learning</a:t>
            </a:r>
          </a:p>
        </p:txBody>
      </p:sp>
      <p:sp>
        <p:nvSpPr>
          <p:cNvPr id="5" name="TextBox 4"/>
          <p:cNvSpPr txBox="1"/>
          <p:nvPr/>
        </p:nvSpPr>
        <p:spPr>
          <a:xfrm>
            <a:off x="685800" y="234272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The roadmap includes calculus, linear algebra, statistics and probability. Each supports a different part of building or evaluating a model.</a:t>
            </a:r>
          </a:p>
        </p:txBody>
      </p:sp>
      <p:sp>
        <p:nvSpPr>
          <p:cNvPr id="6" name="TextBox 5"/>
          <p:cNvSpPr txBox="1"/>
          <p:nvPr/>
        </p:nvSpPr>
        <p:spPr>
          <a:xfrm>
            <a:off x="685800" y="3451407"/>
            <a:ext cx="5158587" cy="1350228"/>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 introduce the mathematics needed for each topic, including averages, matrices and probability. Earlier mathematics courses may help, but each example includes the steps.</a:t>
            </a:r>
          </a:p>
        </p:txBody>
      </p:sp>
      <p:sp>
        <p:nvSpPr>
          <p:cNvPr id="7" name="TextBox 6"/>
          <p:cNvSpPr txBox="1"/>
          <p:nvPr/>
        </p:nvSpPr>
        <p:spPr>
          <a:xfrm>
            <a:off x="6347307" y="1911095"/>
            <a:ext cx="5158587" cy="79010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Programming foundations</a:t>
            </a:r>
          </a:p>
        </p:txBody>
      </p:sp>
      <p:sp>
        <p:nvSpPr>
          <p:cNvPr id="8" name="TextBox 7"/>
          <p:cNvSpPr txBox="1"/>
          <p:nvPr/>
        </p:nvSpPr>
        <p:spPr>
          <a:xfrm>
            <a:off x="6347307" y="271034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Weeks 2–6 introduce Python, data libraries and data preparation through worked examples.</a:t>
            </a:r>
          </a:p>
        </p:txBody>
      </p:sp>
      <p:sp>
        <p:nvSpPr>
          <p:cNvPr id="9" name="TextBox 8"/>
          <p:cNvSpPr txBox="1"/>
          <p:nvPr/>
        </p:nvSpPr>
        <p:spPr>
          <a:xfrm>
            <a:off x="6347307" y="3965331"/>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Applying engineering knowledge</a:t>
            </a:r>
          </a:p>
        </p:txBody>
      </p:sp>
      <p:sp>
        <p:nvSpPr>
          <p:cNvPr id="10" name="TextBox 9"/>
          <p:cNvSpPr txBox="1"/>
          <p:nvPr/>
        </p:nvSpPr>
        <p:spPr>
          <a:xfrm>
            <a:off x="6347307" y="4396959"/>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This course introduces programming through engineering examples.</a:t>
            </a:r>
          </a:p>
        </p:txBody>
      </p:sp>
      <p:sp>
        <p:nvSpPr>
          <p:cNvPr id="11" name="TextBox 10"/>
          <p:cNvSpPr txBox="1"/>
          <p:nvPr/>
        </p:nvSpPr>
        <p:spPr>
          <a:xfrm>
            <a:off x="6347307" y="5505643"/>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Engineering knowledge helps you check units, judge whether a result is plausible and recognise limits in the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COVERAGE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Topics covered in this course</a:t>
            </a:r>
          </a:p>
        </p:txBody>
      </p:sp>
      <p:pic>
        <p:nvPicPr>
          <p:cNvPr id="4" name="Picture 3" descr="roadmap_coverage.png"/>
          <p:cNvPicPr>
            <a:picLocks noChangeAspect="1"/>
          </p:cNvPicPr>
          <p:nvPr/>
        </p:nvPicPr>
        <p:blipFill>
          <a:blip r:embed="rId2"/>
          <a:stretch>
            <a:fillRect/>
          </a:stretch>
        </p:blipFill>
        <p:spPr>
          <a:xfrm>
            <a:off x="1584787" y="1911095"/>
            <a:ext cx="902212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Grey marks topics outside this course, including reinforcement learning, full MLOps and most advanced language-model topics.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WHERE IT LEADS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jobs this field splits into</a:t>
            </a:r>
          </a:p>
        </p:txBody>
      </p:sp>
      <p:pic>
        <p:nvPicPr>
          <p:cNvPr id="4" name="Picture 3" descr="career_paths.png"/>
          <p:cNvPicPr>
            <a:picLocks noChangeAspect="1"/>
          </p:cNvPicPr>
          <p:nvPr/>
        </p:nvPicPr>
        <p:blipFill>
          <a:blip r:embed="rId2"/>
          <a:stretch>
            <a:fillRect/>
          </a:stretch>
        </p:blipFill>
        <p:spPr>
          <a:xfrm>
            <a:off x="850640" y="1911095"/>
            <a:ext cx="1049041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These are four different roadmaps and four different careers. This course points at the first one, applied inside your own engineering discipline — which is a narrower and more defensible position than competing with computer science graduates on general machine learning.</a:t>
            </a: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in engineering</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Three words people use interchangeably and should not — and where engineering sits among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LANGUAGE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and how they nest</a:t>
            </a:r>
          </a:p>
        </p:txBody>
      </p:sp>
      <p:pic>
        <p:nvPicPr>
          <p:cNvPr id="4" name="Picture 3" descr="nested_ai.png"/>
          <p:cNvPicPr>
            <a:picLocks noChangeAspect="1"/>
          </p:cNvPicPr>
          <p:nvPr/>
        </p:nvPicPr>
        <p:blipFill>
          <a:blip r:embed="rId2"/>
          <a:stretch>
            <a:fillRect/>
          </a:stretch>
        </p:blipFill>
        <p:spPr>
          <a:xfrm>
            <a:off x="2282342" y="1911095"/>
            <a:ext cx="762701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Each is contained by the one before it. Data science is the odd one out: it overlaps all of them and is contained by none, because it is the craft of getting an answer out of data at all — finding it, cleaning it, questioning it, presenting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Artificial intelligence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Any machine doing something we would call intelligent. It names a goal. Many different techniques aim at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chess engine is AI. So is a spam filter. A thermostat is not — it follows one fixed rule with no notion of doing better.</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which is one particular way of achieving AI. All machine learning is AI; most AI historically was not machine learning.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Machine learning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Getting a computer to work out a rule from examples, instead of you writing the rule yourself.</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 show it six months of process readings every twenty seconds, each with the assay that came back later. It infers a relationship. You then decide whether to trust it.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Automation. A script that emails a report every Monday is automation and there is no learning in it at 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Data science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craft of getting a trustworthy answer out of data — finding it, cleaning it, questioning it, analysing it and presenting it so somebody can act.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Discovering that a third of your assay records are missing, working out whether they are missing at random, and deciding what that does to your conclusion. No model involved.</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You will spend far more of this semester on data science than on machine learning, and that ratio matches professional practice.</a:t>
            </a:r>
          </a:p>
        </p:txBody>
      </p:sp>
    </p:spTree>
  </p:cSld>
  <p:clrMapOvr>
    <a:masterClrMapping/>
  </p:clrMapOvr>
</p:sld>
</file>

<file path=ppt/slides/slide2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ways to make a computer decide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Learning patterns from data and using them to make predictions.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THIS COURSE STARTS FROM</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"The silica assay takes an hour to come back from the laboratory. Can we know it now, from the process variables we already measure?"</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Hold onto that question. In twenty minutes you are going to answer a version of it yourself, on paper, with no computer and no formula.</a:t>
            </a:r>
          </a:p>
        </p:txBody>
      </p:sp>
    </p:spTree>
  </p:cSld>
  <p:clrMapOvr>
    <a:masterClrMapping/>
  </p:clrMapOvr>
</p:sld>
</file>

<file path=ppt/slides/slide22.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THE ACTUAL IDEA</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Traditional programming, and machine learning</ns1:t>
            </ns1:r>
          </ns1:p>
        </ns0:txBody>
      </ns0:sp>
      <ns0:pic>
        <ns0:nvPicPr>
          <ns0:cNvPr id="4" name="Picture 3" descr="rules_vs_learning.png"/>
          <ns0:cNvPicPr>
            <ns1:picLocks noChangeAspect="1"/>
          </ns0:cNvPicPr>
          <ns0:nvPr/>
        </ns0:nvPicPr>
        <ns0:blipFill>
          <ns1:blip ns2:embed="rId2"/>
          <ns1:stretch>
            <ns1:fillRect/>
          </ns1:stretch>
        </ns0:blipFill>
        <ns0:spPr>
          <ns1:xfrm>
            <ns1:off x="1304533" y="1911095"/>
            <ns1:ext cx="9582629"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On the left, a rule specified by a person: you work out the rule and write it down. On the right, the new way: you do not know the rule, but you have examples of inputs and the answers that followed, and the computer works out a rule from them.</ns1:t>
            </ns1:r>
          </ns1:p>
        </ns0:txBody>
      </ns0:sp>
    </ns0:spTree>
  </ns0:cSld>
  <ns0:clrMapOvr>
    <ns1:masterClrMapping/>
  </ns0:clrMapOvr>
</ns0:sld>
</file>

<file path=ppt/slides/slide23.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CHOOSING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When to write the rule, and when to learn it from data</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Write the rule yourself when…</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 code of practice, a datasheet or a validated equation already gives you the answer.</a:t>
            </a:r>
          </a:p>
        </p:txBody>
      </p:sp>
      <p:sp>
        <p:nvSpPr>
          <p:cNvPr id="6" name="TextBox 5"/>
          <p:cNvSpPr txBox="1"/>
          <p:nvPr/>
        </p:nvSpPr>
        <p:spPr>
          <a:xfrm>
            <a:off x="685800" y="3163379"/>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relationship is simple and well understood.</a:t>
            </a:r>
          </a:p>
        </p:txBody>
      </p:sp>
      <p:sp>
        <p:nvSpPr>
          <p:cNvPr id="7" name="TextBox 6"/>
          <p:cNvSpPr txBox="1"/>
          <p:nvPr/>
        </p:nvSpPr>
        <p:spPr>
          <a:xfrm>
            <a:off x="685800" y="3637334"/>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must be able to explain the decision to a client or a regulator line by line.</a:t>
            </a:r>
          </a:p>
        </p:txBody>
      </p:sp>
      <p:sp>
        <p:nvSpPr>
          <p:cNvPr id="8" name="TextBox 7"/>
          <p:cNvSpPr txBox="1"/>
          <p:nvPr/>
        </p:nvSpPr>
        <p:spPr>
          <a:xfrm>
            <a:off x="685800" y="4448083"/>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little or no historical data.</a:t>
            </a:r>
          </a:p>
        </p:txBody>
      </p:sp>
      <p:sp>
        <p:nvSpPr>
          <p:cNvPr id="9" name="TextBox 8"/>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Let the computer infer the rule when…</a:t>
            </a:r>
          </a:p>
        </p:txBody>
      </p:sp>
      <p:sp>
        <p:nvSpPr>
          <p:cNvPr id="10" name="TextBox 9"/>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Nobody knows the rule, or it involves many variables interacting.</a:t>
            </a:r>
          </a:p>
        </p:txBody>
      </p:sp>
      <p:sp>
        <p:nvSpPr>
          <p:cNvPr id="11" name="TextBox 10"/>
          <p:cNvSpPr txBox="1"/>
          <p:nvPr/>
        </p:nvSpPr>
        <p:spPr>
          <a:xfrm>
            <a:off x="6347307" y="316337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a reasonable quantity of past examples where you know both the inputs and the outcome.</a:t>
            </a:r>
          </a:p>
        </p:txBody>
      </p:sp>
      <p:sp>
        <p:nvSpPr>
          <p:cNvPr id="12" name="TextBox 11"/>
          <p:cNvSpPr txBox="1"/>
          <p:nvPr/>
        </p:nvSpPr>
        <p:spPr>
          <a:xfrm>
            <a:off x="6347307" y="3974128"/>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An early estimate can help with planning if its error is small enough for the decision.</a:t>
            </a:r>
          </a:p>
        </p:txBody>
      </p:sp>
      <p:sp>
        <p:nvSpPr>
          <p:cNvPr id="13" name="TextBox 12"/>
          <p:cNvSpPr txBox="1"/>
          <p:nvPr/>
        </p:nvSpPr>
        <p:spPr>
          <a:xfrm>
            <a:off x="6347307" y="5121673"/>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can test the inferred rule against cases it has never seen.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VOCABULARY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Data, features and targets</a:t>
            </a:r>
          </a:p>
        </p:txBody>
      </p:sp>
      <p:pic>
        <p:nvPicPr>
          <p:cNvPr id="4" name="Picture 3" descr="data_table_CML3113.png"/>
          <p:cNvPicPr>
            <a:picLocks noChangeAspect="1"/>
          </p:cNvPicPr>
          <p:nvPr/>
        </p:nvPicPr>
        <p:blipFill>
          <a:blip r:embed="rId2"/>
          <a:stretch>
            <a:fillRect/>
          </a:stretch>
        </p:blipFill>
        <p:spPr>
          <a:xfrm>
            <a:off x="1304420" y="1911095"/>
            <a:ext cx="95828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In this example, each row describes one case. Feature columns contain the inputs available before prediction. The target column contains the value to predict.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Feature, and target</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FEATURE is a column you know before the outcome — an input. The TARGET is the column you want to predict. One row containing all of them is one EXAMPLE.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In the table you just saw, iron feed grade, starch flow and pulp pH are the features. Silica in the concentrate is the target.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target is not the same as a cause. Starch flow is associated with concentrate quality; the model learns the association and knows nothing about surface chemistry.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In a table of froth flotation process data records, is silica in the concentrate a feature or the target?</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long a pump will run before it fails. You have a column recording the repair that was carried out afterwards. Should it be a feature? Why or why not?</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example from your own discipline of a problem where you already know the rule, so machine learning would be the wrong tool.</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7.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Feature or target?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The target. It is the thing you want to predict. Measurements available beforehand are candidate features.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The repair column?</ns1:t>
            </ns1:r>
          </ns1:p>
        </ns0:txBody>
      </ns0:sp>
      <ns0:sp>
        <ns0:nvSpPr>
          <ns0:cNvPr id="9" name="TextBox 8"/>
          <ns0:cNvSpPr txBox="1"/>
          <ns0:nvPr/>
        </ns0:nvSpPr>
        <ns0:spPr>
          <ns1:xfrm>
            <ns1:off x="1216152" y="3006900"/>
            <ns1:ext cx="10253167" cy="1166005"/>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No. The repair is recorded after the failure, so it is unavailable at prediction time. Including it would give misleading test results. This is data leakage.</ns1:t>
            </ns1:r>
          </ns1:p>
        </ns0:txBody>
      </ns0:sp>
      <ns0:sp>
        <ns0:nvSpPr>
          <ns0:cNvPr id="10" name="Oval 9"/>
          <ns0:cNvSpPr/>
          <ns0:nvPr/>
        </ns0:nvSpPr>
        <ns0:spPr>
          <ns1:xfrm>
            <ns1:off x="685800" y="424605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420948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A rule you already know?</ns1:t>
            </ns1:r>
          </ns1:p>
        </ns0:txBody>
      </ns0:sp>
      <ns0:sp>
        <ns0:nvSpPr>
          <ns0:cNvPr id="12" name="TextBox 11"/>
          <ns0:cNvSpPr txBox="1"/>
          <ns0:nvPr/>
        </ns0:nvSpPr>
        <ns0:spPr>
          <ns1:xfrm>
            <ns1:off x="1216152" y="4502090"/>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Anything with a formula or a code threshold: Contained metal is tonnage times grade. That is arithmetic; there is nothing to predict. If a validated equation exists, use the equation.</ns1:t>
            </ns1:r>
          </ns1:p>
        </ns0:txBody>
      </ns0:sp>
    </ns0:spTree>
  </ns0:cSld>
  <ns0:clrMapOvr>
    <ns1:masterClrMapping/>
  </ns0:clrMapOvr>
</ns0:sld>
</file>

<file path=ppt/slides/slide28.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Hands on: predict case 13</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Use the twelve rows of data to predict a value for the new case. Write your prediction and explain which rows helped you choose it.</a:t>
            </a:r>
          </a:p>
        </p:txBody>
      </p:sp>
    </p:spTree>
  </p:cSld>
  <p:clrMapOvr>
    <a:masterClrMapping/>
  </p:clrMapOvr>
</p:sld>
</file>

<file path=ppt/slides/slide29.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INDIVIDUAL PRACTICE · 15 MINUTES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Your task</ns1:t>
            </ns1:r>
          </ns1:p>
        </ns0:txBody>
      </ns0:sp>
      <ns0:pic>
        <ns0:nvPicPr>
          <ns0:cNvPr id="4" name="Picture 3" descr="hand_pred_before_CML3113.png"/>
          <ns0:cNvPicPr>
            <ns1:picLocks noChangeAspect="1"/>
          </ns0:cNvPicPr>
          <ns0:nvPr/>
        </ns0:nvPicPr>
        <ns0:blipFill>
          <ns1:blip ns2:embed="rId2"/>
          <ns1:stretch>
            <ns1:fillRect/>
          </ns1:stretch>
        </ns0:blipFill>
        <ns0:spPr>
          <ns1:xfrm>
            <ns1:off x="2971575" y="1911095"/>
            <ns1:ext cx="6248544"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Twelve cases show their inputs and measured outcomes. Case 13 shows only its inputs. Predict its outcome and write one sentence explaining your choice.</ns1:t>
            </ns1:r>
          </ns1:p>
        </ns0:txBody>
      </ns0:sp>
    </ns0:spTree>
  </ns0:cSld>
  <ns0:clrMapOvr>
    <ns1:masterClrMapping/>
  </ns0:clrMapOvr>
</ns0:sld>
</file>

<file path=ppt/slides/slide30.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Reading the pattern from twelve cases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One approach is to compare cases with similar inputs. Follow the steps below.</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down the columns and ask which one seems to move with the outcome. Ignore the others for now.</a:t>
            </a:r>
          </a:p>
        </p:txBody>
      </p:sp>
      <p:sp>
        <p:nvSpPr>
          <p:cNvPr id="8" name="Rounded Rectangle 7"/>
          <p:cNvSpPr/>
          <p:nvPr/>
        </p:nvSpPr>
        <p:spPr>
          <a:xfrm>
            <a:off x="685800" y="325836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Find the two cases whose value of that column sits either side of case 13's value.</a:t>
            </a:r>
          </a:p>
        </p:txBody>
      </p:sp>
      <p:sp>
        <p:nvSpPr>
          <p:cNvPr id="11" name="Rounded Rectangle 10"/>
          <p:cNvSpPr/>
          <p:nvPr/>
        </p:nvSpPr>
        <p:spPr>
          <a:xfrm>
            <a:off x="685800" y="378438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8392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3010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at their outcomes. Case 13's answer is probably between them.</a:t>
            </a:r>
          </a:p>
        </p:txBody>
      </p:sp>
      <p:sp>
        <p:nvSpPr>
          <p:cNvPr id="14" name="Rounded Rectangle 13"/>
          <p:cNvSpPr/>
          <p:nvPr/>
        </p:nvSpPr>
        <p:spPr>
          <a:xfrm>
            <a:off x="685800" y="431040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36526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35612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Adjust for anything else you noticed — a second column that also seems to matter.</a:t>
            </a:r>
          </a:p>
        </p:txBody>
      </p:sp>
      <p:sp>
        <p:nvSpPr>
          <p:cNvPr id="17" name="Rounded Rectangle 16"/>
          <p:cNvSpPr/>
          <p:nvPr/>
        </p:nvSpPr>
        <p:spPr>
          <a:xfrm>
            <a:off x="685800" y="4836423"/>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891287"/>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882143"/>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Write the number down, and write why. Then ask: how confident am I, and what would change my mind?</a:t>
            </a:r>
          </a:p>
        </p:txBody>
      </p:sp>
      <p:sp>
        <p:nvSpPr>
          <p:cNvPr id="20" name="Rounded Rectangle 19"/>
          <p:cNvSpPr/>
          <p:nvPr/>
        </p:nvSpPr>
        <p:spPr>
          <a:xfrm>
            <a:off x="685800" y="5417306"/>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554466"/>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You used a pattern in known examples to predict an unknown value. Comparing that prediction with the measured value tells you how large the error was.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REVEAL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answer, and your error</a:t>
            </a:r>
          </a:p>
        </p:txBody>
      </p:sp>
      <p:pic>
        <p:nvPicPr>
          <p:cNvPr id="4" name="Picture 3" descr="hand_pred_after_CML3113.png"/>
          <p:cNvPicPr>
            <a:picLocks noChangeAspect="1"/>
          </p:cNvPicPr>
          <p:nvPr/>
        </p:nvPicPr>
        <p:blipFill>
          <a:blip r:embed="rId2"/>
          <a:stretch>
            <a:fillRect/>
          </a:stretch>
        </p:blipFill>
        <p:spPr>
          <a:xfrm>
            <a:off x="3080201" y="1911095"/>
            <a:ext cx="603129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star marks the measured value. Its distance from your prediction is the prediction error. The dashed line shows a possible pattern in the data.</a:t>
            </a:r>
          </a:p>
        </p:txBody>
      </p:sp>
    </p:spTree>
  </p:cSld>
  <p:clrMapOvr>
    <a:masterClrMapping/>
  </p:clrMapOvr>
</p:sld>
</file>

<file path=ppt/slides/slide32.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NAMING IT</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Steps in a prediction task</ns1:t>
            </ns1:r>
          </ns1:p>
        </ns0:txBody>
      </ns0:sp>
      <ns0:sp>
        <ns0:nvSpPr>
          <ns0:cNvPr id="4" name="TextBox 3"/>
          <ns0:cNvSpPr txBox="1"/>
          <ns0:nvPr/>
        </ns0:nvSpPr>
        <ns0:spPr>
          <ns1:xfrm>
            <ns1:off x="685800"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you called it</ns1:t>
            </ns1:r>
          </ns1:p>
        </ns0:txBody>
      </ns0:sp>
      <ns0:sp>
        <ns0:nvSpPr>
          <ns0:cNvPr id="5" name="TextBox 4"/>
          <ns0:cNvSpPr txBox="1"/>
          <ns0:nvPr/>
        </ns0:nvSpPr>
        <ns0:spPr>
          <ns1:xfrm>
            <ns1:off x="685800"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looked at the table.</ns1:t>
            </ns1:r>
          </ns1:p>
        </ns0:txBody>
      </ns0:sp>
      <ns0:sp>
        <ns0:nvSpPr>
          <ns0:cNvPr id="6" name="TextBox 5"/>
          <ns0:cNvSpPr txBox="1"/>
          <ns0:nvPr/>
        </ns0:nvSpPr>
        <ns0:spPr>
          <ns1:xfrm>
            <ns1:off x="685800"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noticed which columns seemed to matter.</ns1:t>
            </ns1:r>
          </ns1:p>
        </ns0:txBody>
      </ns0:sp>
      <ns0:sp>
        <ns0:nvSpPr>
          <ns0:cNvPr id="7" name="TextBox 6"/>
          <ns0:cNvSpPr txBox="1"/>
          <ns0:nvPr/>
        </ns0:nvSpPr>
        <ns0:spPr>
          <ns1:xfrm>
            <ns1:off x="685800"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worked out a rough rule in your head.</ns1:t>
            </ns1:r>
          </ns1:p>
        </ns0:txBody>
      </ns0:sp>
      <ns0:sp>
        <ns0:nvSpPr>
          <ns0:cNvPr id="8" name="TextBox 7"/>
          <ns0:cNvSpPr txBox="1"/>
          <ns0:nvPr/>
        </ns0:nvSpPr>
        <ns0:spPr>
          <ns1:xfrm>
            <ns1:off x="685800" y="377449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applied it to a case you had not seen.</ns1:t>
            </ns1:r>
          </ns1:p>
        </ns0:txBody>
      </ns0:sp>
      <ns0:sp>
        <ns0:nvSpPr>
          <ns0:cNvPr id="9" name="TextBox 8"/>
          <ns0:cNvSpPr txBox="1"/>
          <ns0:nvPr/>
        </ns0:nvSpPr>
        <ns0:spPr>
          <ns1:xfrm>
            <ns1:off x="685800" y="4248448"/>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compared your prediction with the measured value.</ns1:t>
            </ns1:r>
          </ns1:p>
        </ns0:txBody>
      </ns0:sp>
      <ns0:sp>
        <ns0:nvSpPr>
          <ns0:cNvPr id="10" name="TextBox 9"/>
          <ns0:cNvSpPr txBox="1"/>
          <ns0:nvPr/>
        </ns0:nvSpPr>
        <ns0:spPr>
          <ns1:xfrm>
            <ns1:off x="6347307"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it is called</ns1:t>
            </ns1:r>
          </ns1:p>
        </ns0:txBody>
      </ns0:sp>
      <ns0:sp>
        <ns0:nvSpPr>
          <ns0:cNvPr id="11" name="TextBox 10"/>
          <ns0:cNvSpPr txBox="1"/>
          <ns0:nvPr/>
        </ns0:nvSpPr>
        <ns0:spPr>
          <ns1:xfrm>
            <ns1:off x="6347307"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explored the data. That is Weeks 5 and 6.</ns1:t>
            </ns1:r>
          </ns1:p>
        </ns0:txBody>
      </ns0:sp>
      <ns0:sp>
        <ns0:nvSpPr>
          <ns0:cNvPr id="12" name="TextBox 11"/>
          <ns0:cNvSpPr txBox="1"/>
          <ns0:nvPr/>
        </ns0:nvSpPr>
        <ns0:spPr>
          <ns1:xfrm>
            <ns1:off x="6347307"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selected features. That is Week 11.</ns1:t>
            </ns1:r>
          </ns1:p>
        </ns0:txBody>
      </ns0:sp>
      <ns0:sp>
        <ns0:nvSpPr>
          <ns0:cNvPr id="13" name="TextBox 12"/>
          <ns0:cNvSpPr txBox="1"/>
          <ns0:nvPr/>
        </ns0:nvSpPr>
        <ns0:spPr>
          <ns1:xfrm>
            <ns1:off x="6347307"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proposed a rule. Python models follow in Week 8.</ns1:t>
            </ns1:r>
          </ns1:p>
        </ns0:txBody>
      </ns0:sp>
      <ns0:sp>
        <ns0:nvSpPr>
          <ns0:cNvPr id="14" name="TextBox 13"/>
          <ns0:cNvSpPr txBox="1"/>
          <ns0:nvPr/>
        </ns0:nvSpPr>
        <ns0:spPr>
          <ns1:xfrm>
            <ns1:off x="6347307" y="3774494"/>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predicted a value for a case that was not used to find the pattern.</ns1:t>
            </ns1:r>
          </ns1:p>
        </ns0:txBody>
      </ns0:sp>
      <ns0:sp>
        <ns0:nvSpPr>
          <ns0:cNvPr id="15" name="TextBox 14"/>
          <ns0:cNvSpPr txBox="1"/>
          <ns0:nvPr/>
        </ns0:nvSpPr>
        <ns0:spPr>
          <ns1:xfrm>
            <ns1:off x="6347307" y="4585243"/>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measured the prediction error. Week 10 covers model evaluation.</ns1:t>
            </ns1:r>
          </ns1:p>
        </ns0:txBody>
      </ns0:sp>
    </ns0:spTree>
  </ns0:cSld>
  <ns0:clrMapOvr>
    <ns1:masterClrMapping/>
  </ns0:clrMapOvr>
</ns0:sld>
</file>

<file path=ppt/slides/slide33.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2377440"/>
            <ns1:ext cx="10820095" cy="1280160"/>
          </ns1:xfrm>
          <ns1:prstGeom prst="rect">
            <ns1:avLst/>
          </ns1:prstGeom>
          <ns1:noFill/>
        </ns0:spPr>
        <ns0:txBody>
          <ns1:bodyPr wrap="square" lIns="0" rIns="0" tIns="0" bIns="0" anchor="t">
            <ns1:spAutoFit/>
          </ns1:bodyPr>
          <ns1:lstStyle/>
          <ns1:p>
            <ns1:pPr algn="ctr">
              <ns1:spcAft>
                <ns1:spcPts val="600"/>
              </ns1:spcAft>
            </ns1:pPr>
            <ns1:r>
              <ns1:rPr sz="5400" b="1" i="0">
                <ns1:solidFill>
                  <ns1:srgbClr val="FFFFFF"/>
                </ns1:solidFill>
                <ns1:latin typeface="Cambria"/>
              </ns1:rPr>
              <ns1:t>Break</ns1:t>
            </ns1:r>
          </ns1:p>
        </ns0:txBody>
      </ns0:sp>
      <ns0:sp>
        <ns0:nvSpPr>
          <ns0:cNvPr id="4" name="TextBox 3"/>
          <ns0:cNvSpPr txBox="1"/>
          <ns0:nvPr/>
        </ns0:nvSpPr>
        <ns0:spPr>
          <ns1:xfrm>
            <ns1:off x="685800" y="3749039"/>
            <ns1:ext cx="10820095" cy="548640"/>
          </ns1:xfrm>
          <ns1:prstGeom prst="rect">
            <ns1:avLst/>
          </ns1:prstGeom>
          <ns1:noFill/>
        </ns0:spPr>
        <ns0:txBody>
          <ns1:bodyPr wrap="square" lIns="0" rIns="0" tIns="0" bIns="0" anchor="t">
            <ns1:spAutoFit/>
          </ns1:bodyPr>
          <ns1:lstStyle/>
          <ns1:p>
            <ns1:pPr algn="ctr">
              <ns1:spcAft>
                <ns1:spcPts val="600"/>
              </ns1:spcAft>
            </ns1:pPr>
            <ns1:r>
              <ns1:rPr sz="2531" b="0" i="0">
                <ns1:solidFill>
                  <ns1:srgbClr val="E4572E"/>
                </ns1:solidFill>
                <ns1:latin typeface="Calibri"/>
              </ns1:rPr>
              <ns1:t>10 minutes</ns1:t>
            </ns1:r>
          </ns1:p>
        </ns0:txBody>
      </ns0:sp>
      <ns0:sp>
        <ns0:nvSpPr>
          <ns0:cNvPr id="5" name="TextBox 4"/>
          <ns0:cNvSpPr txBox="1"/>
          <ns0:nvPr/>
        </ns0:nvSpPr>
        <ns0:spPr>
          <ns1:xfrm>
            <ns1:off x="685800" y="4572000"/>
            <ns1:ext cx="10820095" cy="548640"/>
          </ns1:xfrm>
          <ns1:prstGeom prst="rect">
            <ns1:avLst/>
          </ns1:prstGeom>
          <ns1:noFill/>
        </ns0:spPr>
        <ns0:txBody>
          <ns1:bodyPr wrap="square" lIns="0" rIns="0" tIns="0" bIns="0" anchor="t">
            <ns1:spAutoFit/>
          </ns1:bodyPr>
          <ns1:lstStyle/>
          <ns1:p>
            <ns1:pPr algn="ctr">
              <ns1:spcAft>
                <ns1:spcPts val="600"/>
              </ns1:spcAft>
            </ns1:pPr>
            <ns1:r>
              <ns1:rPr sz="1821" b="0" i="0">
                <ns1:solidFill>
                  <ns1:srgbClr val="8EA4B8"/>
                </ns1:solidFill>
                <ns1:latin typeface="Calibri"/>
              </ns1:rPr>
              <ns1:t>Take a short break. No computer is needed for the remaining introductory examples.</ns1:t>
            </ns1:r>
          </ns1:p>
        </ns0:txBody>
      </ns0:sp>
    </ns0:spTree>
  </ns0:cSld>
  <ns0:clrMapOvr>
    <ns1:masterClrMapping/>
  </ns0:clrMapOvr>
</ns0: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kinds of question</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Predicting a number, and predicting a category. Almost everything in this course is one or the other.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TWO SHAPES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Regression and classification</a:t>
            </a:r>
          </a:p>
        </p:txBody>
      </p:sp>
      <p:pic>
        <p:nvPicPr>
          <p:cNvPr id="4" name="Picture 3" descr="reg_vs_class_CML3113.png"/>
          <p:cNvPicPr>
            <a:picLocks noChangeAspect="1"/>
          </p:cNvPicPr>
          <p:nvPr/>
        </p:nvPicPr>
        <p:blipFill>
          <a:blip r:embed="rId2"/>
          <a:stretch>
            <a:fillRect/>
          </a:stretch>
        </p:blipFill>
        <p:spPr>
          <a:xfrm>
            <a:off x="2405870" y="1911095"/>
            <a:ext cx="737995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Left: the answer is a number on a continuous scale, so we fit a line through the cases. Right: the answer is one of a small set of labels, so we look for a boundary that separates them. The data can be the same; the question is what changes.</a:t>
            </a:r>
          </a:p>
        </p:txBody>
      </p:sp>
    </p:spTree>
  </p:cSld>
  <p:clrMapOvr>
    <a:masterClrMapping/>
  </p:clrMapOvr>
</p:sld>
</file>

<file path=ppt/slides/slide36.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DEFINITION</ns1:t>
            </ns1:r>
          </ns1:p>
        </ns0:txBody>
      </ns0:sp>
      <ns0:sp>
        <ns0:nvSpPr>
          <ns0:cNvPr id="3" name="TextBox 2"/>
          <ns0:cNvSpPr txBox="1"/>
          <ns0:nvPr/>
        </ns0:nvSpPr>
        <ns0:spPr>
          <ns1:xfrm>
            <ns1:off x="685800" y="932688"/>
            <ns1:ext cx="10820095" cy="702059"/>
          </ns1:xfrm>
          <ns1:prstGeom prst="rect">
            <ns1:avLst/>
          </ns1:prstGeom>
          <ns1:noFill/>
        </ns0:spPr>
        <ns0:txBody>
          <ns1:bodyPr wrap="square" lIns="0" rIns="0" tIns="0" bIns="0" anchor="t">
            <ns1:spAutoFit/>
          </ns1:bodyPr>
          <ns1:lstStyle/>
          <ns1:p>
            <ns1:pPr algn="l">
              <ns1:spcAft>
                <ns1:spcPts val="600"/>
              </ns1:spcAft>
            </ns1:pPr>
            <ns1:r>
              <ns1:rPr sz="3800" b="1" i="0">
                <ns1:solidFill>
                  <ns1:srgbClr val="1C3144"/>
                </ns1:solidFill>
                <ns1:latin typeface="Cambria"/>
              </ns1:rPr>
              <ns1:t>Regression, and classification</ns1:t>
            </ns1:r>
          </ns1:p>
        </ns0:txBody>
      </ns0:sp>
      <ns0:sp>
        <ns0:nvSpPr>
          <ns0:cNvPr id="4" name="Rounded Rectangle 3"/>
          <ns0:cNvSpPr/>
          <ns0:nvPr/>
        </ns0:nvSpPr>
        <ns0:spPr>
          <ns1:xfrm>
            <ns1:off x="685800" y="1854203"/>
            <ns1:ext cx="10820095" cy="1195902"/>
          </ns1:xfrm>
          <ns1:prstGeom prst="roundRect">
            <ns1:avLst>
              <ns1:gd name="adj" fmla="val 6000"/>
            </ns1:avLst>
          </ns1:prstGeom>
          <ns1:solidFill>
            <ns1:srgbClr val="E8EDF2"/>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978408" y="2055371"/>
            <ns1:ext cx="10234879" cy="848430"/>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2021" b="0" i="0">
                <ns1:solidFill>
                  <ns1:srgbClr val="1C3144"/>
                </ns1:solidFill>
                <ns1:latin typeface="Calibri"/>
              </ns1:rPr>
              <ns1:t>REGRESSION predicts a number on a continuous scale. CLASSIFICATION predicts which of a small number of categories a case belongs to.</ns1:t>
            </ns1:r>
          </ns1:p>
        </ns0:txBody>
      </ns0:sp>
      <ns0:sp>
        <ns0:nvSpPr>
          <ns0:cNvPr id="6" name="Rounded Rectangle 5"/>
          <ns0:cNvSpPr/>
          <ns0:nvPr/>
        </ns0:nvSpPr>
        <ns0:spPr>
          <ns1:xfrm>
            <ns1:off x="685800" y="3324426"/>
            <ns1:ext cx="1645920" cy="384048"/>
          </ns1:xfrm>
          <ns1:prstGeom prst="roundRect">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FOR EXAMPLE</ns1:t>
            </ns1:r>
          </ns1:p>
        </ns0:txBody>
      </ns0:sp>
      <ns0:sp>
        <ns0:nvSpPr>
          <ns0:cNvPr id="7" name="TextBox 6"/>
          <ns0:cNvSpPr txBox="1"/>
          <ns0:nvPr/>
        </ns0:nvSpPr>
        <ns0:spPr>
          <ns1:xfrm>
            <ns1:off x="2560320" y="3306138"/>
            <ns1:ext cx="880841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Regression: how many % silica? Classification: ore or waste; or lithology: sandstone, shale, limestone.</ns1:t>
            </ns1:r>
          </ns1:p>
        </ns0:txBody>
      </ns0:sp>
      <ns0:sp>
        <ns0:nvSpPr>
          <ns0:cNvPr id="8" name="Rounded Rectangle 7"/>
          <ns0:cNvSpPr/>
          <ns0:nvPr/>
        </ns0:nvSpPr>
        <ns0:spPr>
          <ns1:xfrm>
            <ns1:off x="685800" y="4290739"/>
            <ns1:ext cx="246888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DO NOT CONFUSE WITH</ns1:t>
            </ns1:r>
          </ns1:p>
        </ns0:txBody>
      </ns0:sp>
      <ns0:sp>
        <ns0:nvSpPr>
          <ns0:cNvPr id="9" name="TextBox 8"/>
          <ns0:cNvSpPr txBox="1"/>
          <ns0:nvPr/>
        </ns0:nvSpPr>
        <ns0:spPr>
          <ns1:xfrm>
            <ns1:off x="3383280" y="4272451"/>
            <ns1:ext cx="798545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Ask what the answer means. Estimating a quantity is regression; choosing a category is classification. Categories may use numeric codes.</ns1:t>
            </ns1:r>
          </ns1:p>
        </ns0:txBody>
      </ns0:sp>
    </ns0:spTree>
  </ns0:cSld>
  <ns0:clrMapOvr>
    <ns1:masterClrMapping/>
  </ns0:clrMapOvr>
</ns0: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many days until a component needs replacing. Regression or classification?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whether a sample passes or fails specification. Which one?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which of five fault types a machine has. Which one — and what makes it different from the previous question?</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38.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Days until replacement?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Regression. The answer is a number with a unit — days.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Pass or fail?</ns1:t>
            </ns1:r>
          </ns1:p>
        </ns0:txBody>
      </ns0:sp>
      <ns0:sp>
        <ns0:nvSpPr>
          <ns0:cNvPr id="9" name="TextBox 8"/>
          <ns0:cNvSpPr txBox="1"/>
          <ns0:nvPr/>
        </ns0:nvSpPr>
        <ns0:spPr>
          <ns1:xfrm>
            <ns1:off x="1216152" y="3006900"/>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Classification. Two categories, so it is called binary classification.</ns1:t>
            </ns1:r>
          </ns1:p>
        </ns0:txBody>
      </ns0:sp>
      <ns0:sp>
        <ns0:nvSpPr>
          <ns0:cNvPr id="10" name="Oval 9"/>
          <ns0:cNvSpPr/>
          <ns0:nvPr/>
        </ns0:nvSpPr>
        <ns0:spPr>
          <ns1:xfrm>
            <ns1:off x="685800" y="3554065"/>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3517489"/>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Which of five fault types?</ns1:t>
            </ns1:r>
          </ns1:p>
        </ns0:txBody>
      </ns0:sp>
      <ns0:sp>
        <ns0:nvSpPr>
          <ns0:cNvPr id="12" name="TextBox 11"/>
          <ns0:cNvSpPr txBox="1"/>
          <ns0:nvPr/>
        </ns0:nvSpPr>
        <ns0:spPr>
          <ns1:xfrm>
            <ns1:off x="1216152" y="3810097"/>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Still classification, but multiclass rather than binary. Difficulty depends on the data. Week 9 examines which categories are confused, beyond a single accuracy score.</ns1:t>
            </ns1:r>
          </ns1:p>
        </ns0:txBody>
      </ns0:sp>
    </ns0:spTree>
  </ns0:cSld>
  <ns0:clrMapOvr>
    <ns1:masterClrMapping/>
  </ns0:clrMapOvr>
</ns0:sld>
</file>

<file path=ppt/slides/slide39.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machine learning cannot do</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Four limitations to consider when using machine learning.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LIMITS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limits, and none of them go away</a:t>
            </a:r>
          </a:p>
        </p:txBody>
      </p:sp>
      <p:pic>
        <p:nvPicPr>
          <p:cNvPr id="4" name="Picture 3" descr="four_limits.png"/>
          <p:cNvPicPr>
            <a:picLocks noChangeAspect="1"/>
          </p:cNvPicPr>
          <p:nvPr/>
        </p:nvPicPr>
        <p:blipFill>
          <a:blip r:embed="rId2"/>
          <a:stretch>
            <a:fillRect/>
          </a:stretch>
        </p:blipFill>
        <p:spPr>
          <a:xfrm>
            <a:off x="1908452" y="1911095"/>
            <a:ext cx="837479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 model can produce a prediction even when the data are unsuitable. Check whether the inputs and evaluation support its intended use.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MADE CONCRETE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four limits, in your own discipline</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1 · No data</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Blast fragmentation was judged by eye for decades. There is no dataset of it.</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2 · No signal</a:t>
            </a:r>
          </a:p>
        </p:txBody>
      </p:sp>
      <p:sp>
        <p:nvSpPr>
          <p:cNvPr id="7" name="TextBox 6"/>
          <p:cNvSpPr txBox="1"/>
          <p:nvPr/>
        </p:nvSpPr>
        <p:spPr>
          <a:xfrm>
            <a:off x="685800" y="3612952"/>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The shift supervisor's name does not cause recovery to change. A model given that column will still find a pattern in it.</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3 · Physics is better</a:t>
            </a:r>
          </a:p>
        </p:txBody>
      </p:sp>
      <p:sp>
        <p:nvSpPr>
          <p:cNvPr id="9" name="TextBox 8"/>
          <p:cNvSpPr txBox="1"/>
          <p:nvPr/>
        </p:nvSpPr>
        <p:spPr>
          <a:xfrm>
            <a:off x="6347307" y="2322358"/>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Contained metal is tonnage times grade. That is arithmetic; there is nothing to predict. Do not use a model where an equation will do.</a:t>
            </a:r>
          </a:p>
        </p:txBody>
      </p:sp>
      <p:sp>
        <p:nvSpPr>
          <p:cNvPr id="10" name="TextBox 9"/>
          <p:cNvSpPr txBox="1"/>
          <p:nvPr/>
        </p:nvSpPr>
        <p:spPr>
          <a:xfrm>
            <a:off x="6347307" y="3499624"/>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4 · The future changed</a:t>
            </a:r>
          </a:p>
        </p:txBody>
      </p:sp>
      <p:sp>
        <p:nvSpPr>
          <p:cNvPr id="11" name="TextBox 10"/>
          <p:cNvSpPr txBox="1"/>
          <p:nvPr/>
        </p:nvSpPr>
        <p:spPr>
          <a:xfrm>
            <a:off x="6347307" y="3910886"/>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model trained on one ore body will not transfer to the next bench when the mineralogy changes.</a:t>
            </a:r>
          </a:p>
        </p:txBody>
      </p:sp>
      <p:sp>
        <p:nvSpPr>
          <p:cNvPr id="12" name="TextBox 11"/>
          <p:cNvSpPr txBox="1"/>
          <p:nvPr/>
        </p:nvSpPr>
        <p:spPr>
          <a:xfrm>
            <a:off x="6347307" y="4790218"/>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Why this matters for the rest of the course</a:t>
            </a:r>
          </a:p>
        </p:txBody>
      </p:sp>
      <p:sp>
        <p:nvSpPr>
          <p:cNvPr id="13" name="TextBox 12"/>
          <p:cNvSpPr txBox="1"/>
          <p:nvPr/>
        </p:nvSpPr>
        <p:spPr>
          <a:xfrm>
            <a:off x="6347307" y="5201480"/>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Every project in Week 9 has to survive these four questions before it is approved. A team that cannot answer them has not defined an engineering problem yet — it has picked a technique and gone looking for somewhere to use it.</a:t>
            </a:r>
          </a:p>
        </p:txBody>
      </p:sp>
    </p:spTree>
  </p:cSld>
  <p:clrMapOvr>
    <a:masterClrMapping/>
  </p:clrMapOvr>
</p:sld>
</file>

<file path=ppt/slides/slide42.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Challenge: the Problem Hunt</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Read the problem and identify the information available. Use the worked example to plan your first step.</a:t>
            </a:r>
          </a:p>
        </p:txBody>
      </p:sp>
    </p:spTree>
  </p:cSld>
  <p:clrMapOvr>
    <a:masterClrMapping/>
  </p:clrMapOvr>
</p:sld>
</file>

<file path=ppt/slides/slide43.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Problem Hunt</a:t>
            </a:r>
          </a:p>
        </p:txBody>
      </p:sp>
      <p:sp>
        <p:nvSpPr>
          <p:cNvPr id="4" name="Rounded Rectangle 3"/>
          <p:cNvSpPr/>
          <p:nvPr/>
        </p:nvSpPr>
        <p:spPr>
          <a:xfrm>
            <a:off x="685800" y="1911095"/>
            <a:ext cx="10820095" cy="2378340"/>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2012580"/>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List three problems from exploration, ore and reservoir characterisation, production and equipment health where data might help.</a:t>
            </a:r>
          </a:p>
          <a:p>
            <a:pPr algn="l">
              <a:lnSpc>
                <a:spcPct val="125000"/>
              </a:lnSpc>
              <a:spcAft>
                <a:spcPts val="600"/>
              </a:spcAft>
            </a:pPr>
            <a:r>
              <a:rPr sz="1923" b="0" i="0">
                <a:solidFill>
                  <a:srgbClr val="1C3144"/>
                </a:solidFill>
                <a:latin typeface="Calibri"/>
              </a:rPr>
              <a:t>Classify each problem: predict a number, predict a category or use another method. Explain your choice.</a:t>
            </a:r>
          </a:p>
          <a:p>
            <a:pPr algn="l">
              <a:lnSpc>
                <a:spcPct val="125000"/>
              </a:lnSpc>
              <a:spcAft>
                <a:spcPts val="600"/>
              </a:spcAft>
            </a:pPr>
            <a:r>
              <a:rPr sz="1923" b="0" i="0">
                <a:solidFill>
                  <a:srgbClr val="1C3144"/>
                </a:solidFill>
                <a:latin typeface="Calibri"/>
              </a:rPr>
              <a:t>Use the worked example as a guide. Write down your assumptions and explain your answer.</a:t>
            </a:r>
          </a:p>
        </p:txBody>
      </p:sp>
      <p:sp>
        <p:nvSpPr>
          <p:cNvPr id="6" name="TextBox 5"/>
          <p:cNvSpPr txBox="1"/>
          <p:nvPr/>
        </p:nvSpPr>
        <p:spPr>
          <a:xfrm>
            <a:off x="685800" y="45637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 you want to predict?</a:t>
            </a:r>
          </a:p>
        </p:txBody>
      </p:sp>
      <p:sp>
        <p:nvSpPr>
          <p:cNvPr id="8" name="TextBox 7"/>
          <p:cNvSpPr txBox="1"/>
          <p:nvPr/>
        </p:nvSpPr>
        <p:spPr>
          <a:xfrm>
            <a:off x="685800"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Who measures that, and how often?</a:t>
            </a:r>
          </a:p>
        </p:txBody>
      </p:sp>
      <p:sp>
        <p:nvSpPr>
          <p:cNvPr id="9" name="TextBox 8"/>
          <p:cNvSpPr txBox="1"/>
          <p:nvPr/>
        </p:nvSpPr>
        <p:spPr>
          <a:xfrm>
            <a:off x="685800"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Would a rule you already know do this better?</a:t>
            </a:r>
          </a:p>
        </p:txBody>
      </p:sp>
      <p:sp>
        <p:nvSpPr>
          <p:cNvPr id="10" name="TextBox 9"/>
          <p:cNvSpPr txBox="1"/>
          <p:nvPr/>
        </p:nvSpPr>
        <p:spPr>
          <a:xfrm>
            <a:off x="6278727"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would the answer let somebody DO?</a:t>
            </a:r>
          </a:p>
        </p:txBody>
      </p:sp>
      <p:sp>
        <p:nvSpPr>
          <p:cNvPr id="11" name="TextBox 10"/>
          <p:cNvSpPr txBox="1"/>
          <p:nvPr/>
        </p:nvSpPr>
        <p:spPr>
          <a:xfrm>
            <a:off x="6278727"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How would you know if you were wrong?</a:t>
            </a:r>
          </a:p>
        </p:txBody>
      </p:sp>
      <p:sp>
        <p:nvSpPr>
          <p:cNvPr id="12" name="TextBox 11"/>
          <p:cNvSpPr txBox="1"/>
          <p:nvPr/>
        </p:nvSpPr>
        <p:spPr>
          <a:xfrm>
            <a:off x="6278727"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does a mistake cost here?</a:t>
            </a:r>
          </a:p>
        </p:txBody>
      </p:sp>
    </p:spTree>
  </p:cSld>
  <p:clrMapOvr>
    <a:masterClrMapping/>
  </p:clrMapOvr>
</p:sld>
</file>

<file path=ppt/slides/slide44.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TEAMS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your team works, all semester</ns1:t>
            </ns1:r>
          </ns1:p>
        </ns0:txBody>
      </ns0:sp>
      <ns0:sp>
        <ns0:nvSpPr>
          <ns0:cNvPr id="4" name="TextBox 3"/>
          <ns0:cNvSpPr txBox="1"/>
          <ns0:nvPr/>
        </ns0:nvSpPr>
        <ns0:spPr>
          <ns1:xfrm>
            <ns1:off x="685800" y="1911095"/>
            <ns1:ext cx="5158587" cy="79010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Project teams of four or five</ns1:t>
            </ns1:r>
          </ns1:p>
        </ns0:txBody>
      </ns0:sp>
      <ns0:sp>
        <ns0:nvSpPr>
          <ns0:cNvPr id="5" name="TextBox 4"/>
          <ns0:cNvSpPr txBox="1"/>
          <ns0:nvPr/>
        </ns0:nvSpPr>
        <ns0:spPr>
          <ns1:xfrm>
            <ns1:off x="685800" y="271034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You will do two projects together: a data analysis project due Week 8, and the Engineering ML Project from Week 9 to Week 15.</ns1:t>
            </ns1:r>
          </ns1:p>
        </ns0:txBody>
      </ns0:sp>
      <ns0:sp>
        <ns0:nvSpPr>
          <ns0:cNvPr id="6" name="TextBox 5"/>
          <ns0:cNvSpPr txBox="1"/>
          <ns0:nvPr/>
        </ns0:nvSpPr>
        <ns0:spPr>
          <ns1:xfrm>
            <ns1:off x="685800" y="3965331"/>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Roles rotate at every milestone</ns1:t>
            </ns1:r>
          </ns1:p>
        </ns0:txBody>
      </ns0:sp>
      <ns0:sp>
        <ns0:nvSpPr>
          <ns0:cNvPr id="7" name="TextBox 6"/>
          <ns0:cNvSpPr txBox="1"/>
          <ns0:nvPr/>
        </ns0:nvSpPr>
        <ns0:spPr>
          <ns1:xfrm>
            <ns1:off x="685800" y="4396959"/>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Project roles: data analysis, modelling, engineering review, documentation and presentation. Rotate roles so each member practises different skills.</ns1:t>
            </ns1:r>
          </ns1:p>
        </ns0:txBody>
      </ns0:sp>
      <ns0:sp>
        <ns0:nvSpPr>
          <ns0:cNvPr id="8" name="TextBox 7"/>
          <ns0:cNvSpPr txBox="1"/>
          <ns0:nvPr/>
        </ns0:nvSpPr>
        <ns0:spPr>
          <ns1:xfrm>
            <ns1:off x="6347307" y="191109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Individual accountability is built in</ns1:t>
            </ns1:r>
          </ns1:p>
        </ns0:txBody>
      </ns0:sp>
      <ns0:sp>
        <ns0:nvSpPr>
          <ns0:cNvPr id="9" name="TextBox 8"/>
          <ns0:cNvSpPr txBox="1"/>
          <ns0:nvPr/>
        </ns0:nvSpPr>
        <ns0:spPr>
          <ns1:xfrm>
            <ns1:off x="6347307" y="234272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Sixty-five per cent of the mark is individual. Your team keeps a contribution log, and it is checked against the repository history.</ns1:t>
            </ns1:r>
          </ns1:p>
        </ns0:txBody>
      </ns0:sp>
      <ns0:sp>
        <ns0:nvSpPr>
          <ns0:cNvPr id="10" name="TextBox 9"/>
          <ns0:cNvSpPr txBox="1"/>
          <ns0:nvPr/>
        </ns0:nvSpPr>
        <ns0:spPr>
          <ns1:xfrm>
            <ns1:off x="6347307" y="3451407"/>
            <ns1:ext cx="5158587" cy="135022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In Week 15, each student submits an individual written defence and reflection according to the published brief.</ns1:t>
            </ns1:r>
          </ns1:p>
        </ns0:txBody>
      </ns0:sp>
      <ns0:sp>
        <ns0:nvSpPr>
          <ns0:cNvPr id="11" name="TextBox 10"/>
          <ns0:cNvSpPr txBox="1"/>
          <ns0:nvPr/>
        </ns0:nvSpPr>
        <ns0:spPr>
          <ns1:xfrm>
            <ns1:off x="6347307" y="503023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Sign the team charter before you leave</ns1:t>
            </ns1:r>
          </ns1:p>
        </ns0:txBody>
      </ns0:sp>
      <ns0:sp>
        <ns0:nvSpPr>
          <ns0:cNvPr id="12" name="TextBox 11"/>
          <ns0:cNvSpPr txBox="1"/>
          <ns0:nvPr/>
        </ns0:nvSpPr>
        <ns0:spPr>
          <ns1:xfrm>
            <ns1:off x="6347307" y="546186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Names, contact details, a weekly meeting slot, and what you will do if somebody stops contributing. Agreeing that now is much easier than agreeing it in November.</ns1:t>
            </ns1:r>
          </ns1:p>
        </ns0:txBody>
      </ns0:sp>
    </ns0:spTree>
  </ns0:cSld>
  <ns0:clrMapOvr>
    <ns1:masterClrMapping/>
  </ns0:clrMapOvr>
</ns0:sld>
</file>

<file path=ppt/slides/slide45.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2588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SEGMENT 9</ns1:t>
            </ns1:r>
          </ns1:p>
        </ns0:txBody>
      </ns0:sp>
      <ns0:sp>
        <ns0:nvSpPr>
          <ns0:cNvPr id="4" name="TextBox 3"/>
          <ns0:cNvSpPr txBox="1"/>
          <ns0:nvPr/>
        </ns0:nvSpPr>
        <ns0:spPr>
          <ns1:xfrm>
            <ns1:off x="685800" y="1874519"/>
            <ns1:ext cx="10820095" cy="1737360"/>
          </ns1:xfrm>
          <ns1:prstGeom prst="rect">
            <ns1:avLst/>
          </ns1:prstGeom>
          <ns1:noFill/>
        </ns0:spPr>
        <ns0:txBody>
          <ns1:bodyPr wrap="square" lIns="0" rIns="0" tIns="0" bIns="0" anchor="t">
            <ns1:spAutoFit/>
          </ns1:bodyPr>
          <ns1:lstStyle/>
          <ns1:p>
            <ns1:pPr algn="l">
              <ns1:lnSpc>
                <ns1:spcPct val="108000"/>
              </ns1:lnSpc>
              <ns1:spcAft>
                <ns1:spcPts val="600"/>
              </ns1:spcAft>
            </ns1:pPr>
            <ns1:r>
              <ns1:rPr sz="3600" b="1" i="0">
                <ns1:solidFill>
                  <ns1:srgbClr val="FFFFFF"/>
                </ns1:solidFill>
                <ns1:latin typeface="Cambria"/>
              </ns1:rPr>
              <ns1:t>Review your examples and Assignment A1</ns1:t>
            </ns1:r>
          </ns1:p>
        </ns0:txBody>
      </ns0:sp>
      <ns0:sp>
        <ns0:nvSpPr>
          <ns0:cNvPr id="5" name="Rounded Rectangle 4"/>
          <ns0:cNvSpPr/>
          <ns0:nvPr/>
        </ns0:nvSpPr>
        <ns0:spPr>
          <ns1:xfrm>
            <ns1:off x="685800" y="3977639"/>
            <ns1:ext cx="182880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584" b="1">
                <ns1:solidFill>
                  <ns1:srgbClr val="FFFFFF"/>
                </ns1:solidFill>
                <ns1:latin typeface="Calibri"/>
              </ns1:rPr>
              <ns1:t>10 MINUTES</ns1:t>
            </ns1:r>
          </ns1:p>
        </ns0:txBody>
      </ns0:sp>
      <ns0:sp>
        <ns0:nvSpPr>
          <ns0:cNvPr id="6" name="TextBox 5"/>
          <ns0:cNvSpPr txBox="1"/>
          <ns0:nvPr/>
        </ns0:nvSpPr>
        <ns0:spPr>
          <ns1:xfrm>
            <ns1:off x="685800" y="470916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Check your candidate problems, then review A1 and the preparation for Week 2.</ns1:t>
            </ns1:r>
          </ns1:p>
        </ns0:txBody>
      </ns0:sp>
    </ns0:spTree>
  </ns0:cSld>
  <ns0:clrMapOvr>
    <ns1:masterClrMapping/>
  </ns0:clrMapOvr>
</ns0:sld>
</file>

<file path=ppt/slides/slide46.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Week 2</a:t>
            </a:r>
          </a:p>
        </p:txBody>
      </p:sp>
      <p:sp>
        <p:nvSpPr>
          <p:cNvPr id="4" name="TextBox 3"/>
          <p:cNvSpPr txBox="1"/>
          <p:nvPr/>
        </p:nvSpPr>
        <p:spPr>
          <a:xfrm>
            <a:off x="685800" y="1911095"/>
            <a:ext cx="5204307" cy="813592"/>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A1 — use the current form deadline</a:t>
            </a:r>
          </a:p>
        </p:txBody>
      </p:sp>
      <p:sp>
        <p:nvSpPr>
          <p:cNvPr id="5" name="TextBox 4"/>
          <p:cNvSpPr txBox="1"/>
          <p:nvPr/>
        </p:nvSpPr>
        <p:spPr>
          <a:xfrm>
            <a:off x="685800" y="2797840"/>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Three candidate machine learning problems from your own discipline.</a:t>
            </a:r>
          </a:p>
        </p:txBody>
      </p:sp>
      <p:sp>
        <p:nvSpPr>
          <p:cNvPr id="6" name="TextBox 5"/>
          <p:cNvSpPr txBox="1"/>
          <p:nvPr/>
        </p:nvSpPr>
        <p:spPr>
          <a:xfrm>
            <a:off x="685800" y="3598534"/>
            <a:ext cx="5204307" cy="109588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For each: state inputs, target, data source and one limitation.</a:t>
            </a:r>
          </a:p>
        </p:txBody>
      </p:sp>
      <p:sp>
        <p:nvSpPr>
          <p:cNvPr id="7" name="TextBox 6"/>
          <p:cNvSpPr txBox="1"/>
          <p:nvPr/>
        </p:nvSpPr>
        <p:spPr>
          <a:xfrm>
            <a:off x="685800" y="4749283"/>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Choose one problem and dataset. Explain why it is feasible.</a:t>
            </a:r>
          </a:p>
        </p:txBody>
      </p:sp>
      <p:sp>
        <p:nvSpPr>
          <p:cNvPr id="8" name="TextBox 7"/>
          <p:cNvSpPr txBox="1"/>
          <p:nvPr/>
        </p:nvSpPr>
        <p:spPr>
          <a:xfrm>
            <a:off x="685800" y="5549977"/>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Marks: framing 6, data 8, judgement 6. Submit one DOCX or text PDF.</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Also before next week</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GitHub account.</a:t>
            </a:r>
          </a:p>
        </p:txBody>
      </p:sp>
      <p:sp>
        <p:nvSpPr>
          <p:cNvPr id="12" name="TextBox 11"/>
          <p:cNvSpPr txBox="1"/>
          <p:nvPr/>
        </p:nvSpPr>
        <p:spPr>
          <a:xfrm>
            <a:off x="6575907" y="289738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Google account if you do not have one — we work in Google Colab from Week 2.</a:t>
            </a:r>
          </a:p>
        </p:txBody>
      </p:sp>
      <p:sp>
        <p:nvSpPr>
          <p:cNvPr id="13" name="TextBox 12"/>
          <p:cNvSpPr txBox="1"/>
          <p:nvPr/>
        </p:nvSpPr>
        <p:spPr>
          <a:xfrm>
            <a:off x="6575907" y="373610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Watch the video on the next slide.</a:t>
            </a:r>
          </a:p>
        </p:txBody>
      </p:sp>
      <p:sp>
        <p:nvSpPr>
          <p:cNvPr id="14" name="TextBox 13"/>
          <p:cNvSpPr txBox="1"/>
          <p:nvPr/>
        </p:nvSpPr>
        <p:spPr>
          <a:xfrm>
            <a:off x="6575907" y="426519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Do NOT install anything.</a:t>
            </a:r>
          </a:p>
        </p:txBody>
      </p:sp>
      <p:sp>
        <p:nvSpPr>
          <p:cNvPr id="15" name="TextBox 14"/>
          <p:cNvSpPr txBox="1"/>
          <p:nvPr/>
        </p:nvSpPr>
        <p:spPr>
          <a:xfrm>
            <a:off x="6575907" y="466627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Week 2 needs a browser only.</a:t>
            </a:r>
          </a:p>
        </p:txBody>
      </p:sp>
      <p:sp>
        <p:nvSpPr>
          <p:cNvPr id="16" name="TextBox 15"/>
          <p:cNvSpPr txBox="1"/>
          <p:nvPr/>
        </p:nvSpPr>
        <p:spPr>
          <a:xfrm>
            <a:off x="6575907" y="519536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Sign and hand in your team charter.</a:t>
            </a:r>
          </a:p>
        </p:txBody>
      </p:sp>
    </p:spTree>
  </p:cSld>
  <p:clrMapOvr>
    <a:masterClrMapping/>
  </p:clrMapOvr>
</p:sld>
</file>

<file path=ppt/slides/slide47.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VIDEO</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Watch this before Week 2</a:t>
            </a:r>
          </a:p>
        </p:txBody>
      </p:sp>
      <p:sp>
        <p:nvSpPr>
          <p:cNvPr id="4" name="Rounded Rectangle 3"/>
          <p:cNvSpPr/>
          <p:nvPr/>
        </p:nvSpPr>
        <p:spPr>
          <a:xfrm>
            <a:off x="685800" y="1911095"/>
            <a:ext cx="10820095" cy="2331720"/>
          </a:xfrm>
          <a:prstGeom prst="roundRect">
            <a:avLst>
              <a:gd name="adj" fmla="val 6000"/>
            </a:avLst>
          </a:prstGeom>
          <a:solidFill>
            <a:srgbClr val="1C3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185415"/>
            <a:ext cx="173736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PRE-WORK</a:t>
            </a:r>
          </a:p>
        </p:txBody>
      </p:sp>
      <p:sp>
        <p:nvSpPr>
          <p:cNvPr id="6" name="TextBox 5"/>
          <p:cNvSpPr txBox="1"/>
          <p:nvPr/>
        </p:nvSpPr>
        <p:spPr>
          <a:xfrm>
            <a:off x="2926080" y="2221991"/>
            <a:ext cx="4572000" cy="310896"/>
          </a:xfrm>
          <a:prstGeom prst="rect">
            <a:avLst/>
          </a:prstGeom>
          <a:noFill/>
        </p:spPr>
        <p:txBody>
          <a:bodyPr wrap="square" lIns="0" rIns="0" tIns="0" bIns="0" anchor="t">
            <a:spAutoFit/>
          </a:bodyPr>
          <a:lstStyle/>
          <a:p>
            <a:pPr algn="l">
              <a:spcAft>
                <a:spcPts val="600"/>
              </a:spcAft>
            </a:pPr>
            <a:r>
              <a:rPr sz="1716" b="1" i="0">
                <a:solidFill>
                  <a:srgbClr val="A8BCCE"/>
                </a:solidFill>
                <a:latin typeface="Calibri"/>
              </a:rPr>
              <a:t>IBM Technology</a:t>
            </a:r>
          </a:p>
        </p:txBody>
      </p:sp>
      <p:sp>
        <p:nvSpPr>
          <p:cNvPr id="7" name="TextBox 6"/>
          <p:cNvSpPr txBox="1"/>
          <p:nvPr/>
        </p:nvSpPr>
        <p:spPr>
          <a:xfrm>
            <a:off x="1005840" y="2779776"/>
            <a:ext cx="10180015" cy="731520"/>
          </a:xfrm>
          <a:prstGeom prst="rect">
            <a:avLst/>
          </a:prstGeom>
          <a:noFill/>
        </p:spPr>
        <p:txBody>
          <a:bodyPr wrap="square" lIns="0" rIns="0" tIns="0" bIns="0" anchor="t">
            <a:spAutoFit/>
          </a:bodyPr>
          <a:lstStyle/>
          <a:p>
            <a:pPr algn="l">
              <a:lnSpc>
                <a:spcPct val="105000"/>
              </a:lnSpc>
              <a:spcAft>
                <a:spcPts val="600"/>
              </a:spcAft>
            </a:pPr>
            <a:r>
              <a:rPr sz="2455" b="1" i="0">
                <a:solidFill>
                  <a:srgbClr val="FFFFFF"/>
                </a:solidFill>
                <a:latin typeface="Cambria"/>
              </a:rPr>
              <a:t>AI, Machine Learning, Deep Learning and Generative AI Explained</a:t>
            </a:r>
          </a:p>
        </p:txBody>
      </p:sp>
      <p:sp>
        <p:nvSpPr>
          <p:cNvPr id="8" name="TextBox 7"/>
          <p:cNvSpPr txBox="1"/>
          <p:nvPr/>
        </p:nvSpPr>
        <p:spPr>
          <a:xfrm>
            <a:off x="1005840" y="3602736"/>
            <a:ext cx="10180015" cy="292608"/>
          </a:xfrm>
          <a:prstGeom prst="rect">
            <a:avLst/>
          </a:prstGeom>
          <a:noFill/>
        </p:spPr>
        <p:txBody>
          <a:bodyPr wrap="square" lIns="0" rIns="0" tIns="0" bIns="0" anchor="t">
            <a:spAutoFit/>
          </a:bodyPr>
          <a:lstStyle/>
          <a:p>
            <a:pPr algn="l">
              <a:spcAft>
                <a:spcPts val="600"/>
              </a:spcAft>
            </a:pPr>
            <a:r>
              <a:rPr sz="1584" b="0" i="0">
                <a:solidFill>
                  <a:srgbClr val="8EB4CB"/>
                </a:solidFill>
                <a:latin typeface="Courier New"/>
              </a:rPr>
              <a:t>https://www.youtube.com/watch?v=qYNweeDHiyU</a:t>
            </a:r>
          </a:p>
        </p:txBody>
      </p:sp>
      <p:sp>
        <p:nvSpPr>
          <p:cNvPr id="9" name="TextBox 8"/>
          <p:cNvSpPr txBox="1"/>
          <p:nvPr/>
        </p:nvSpPr>
        <p:spPr>
          <a:xfrm>
            <a:off x="1005840" y="3904487"/>
            <a:ext cx="10180015" cy="27432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Runtime: under 10 minutes</a:t>
            </a:r>
          </a:p>
        </p:txBody>
      </p:sp>
      <p:sp>
        <p:nvSpPr>
          <p:cNvPr id="10" name="Rounded Rectangle 9"/>
          <p:cNvSpPr/>
          <p:nvPr/>
        </p:nvSpPr>
        <p:spPr>
          <a:xfrm>
            <a:off x="685800" y="4517136"/>
            <a:ext cx="14173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WATCH FOR</a:t>
            </a:r>
          </a:p>
        </p:txBody>
      </p:sp>
      <p:sp>
        <p:nvSpPr>
          <p:cNvPr id="11" name="TextBox 10"/>
          <p:cNvSpPr txBox="1"/>
          <p:nvPr/>
        </p:nvSpPr>
        <p:spPr>
          <a:xfrm>
            <a:off x="2286000" y="4544568"/>
            <a:ext cx="9082735" cy="1188720"/>
          </a:xfrm>
          <a:prstGeom prst="rect">
            <a:avLst/>
          </a:prstGeom>
          <a:noFill/>
        </p:spPr>
        <p:txBody>
          <a:bodyPr wrap="square" lIns="0" rIns="0" tIns="0" bIns="0" anchor="t">
            <a:spAutoFit/>
          </a:bodyPr>
          <a:lstStyle/>
          <a:p>
            <a:pPr algn="l">
              <a:lnSpc>
                <a:spcPct val="122000"/>
              </a:lnSpc>
              <a:spcAft>
                <a:spcPts val="600"/>
              </a:spcAft>
            </a:pPr>
            <a:r>
              <a:rPr sz="1923" b="0" i="0">
                <a:solidFill>
                  <a:srgbClr val="1C3144"/>
                </a:solidFill>
                <a:latin typeface="Calibri"/>
              </a:rPr>
              <a:t>Compare the video’s definitions with the diagram in this lesson. Note any terms that the speaker uses differently.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10</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on is for you to study from. Summary, self-test with answers, glossary and a one-page reference.</a:t>
            </a:r>
          </a:p>
        </p:txBody>
      </p:sp>
    </p:spTree>
  </p:cSld>
  <p:clrMapOvr>
    <a:masterClrMapping/>
  </p:clrMapOvr>
</p:sld>
</file>

<file path=ppt/slides/slide49.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MODULE SUMMARY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What you should take away</ns1:t>
            </ns1:r>
          </ns1:p>
        </ns0:txBody>
      </ns0:sp>
      <ns0:sp>
        <ns0:nvSpPr>
          <ns0:cNvPr id="4" name="Oval 3"/>
          <ns0:cNvSpPr/>
          <ns0:nvPr/>
        </ns0:nvSpPr>
        <ns0:spPr>
          <ns1:xfrm>
            <ns1:off x="685800" y="19659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1097280" y="1911095"/>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Artificial intelligence is a goal; machine learning is one way of reaching it; data science is the craft of getting a trustworthy answer out of data at all.</ns1:t>
            </ns1:r>
          </ns1:p>
        </ns0:txBody>
      </ns0:sp>
      <ns0:sp>
        <ns0:nvSpPr>
          <ns0:cNvPr id="6" name="Oval 5"/>
          <ns0:cNvSpPr/>
          <ns0:nvPr/>
        </ns0:nvSpPr>
        <ns0:spPr>
          <ns1:xfrm>
            <ns1:off x="685800" y="26889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1097280" y="26340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In traditional programming you write the rule. In machine learning you supply examples and the computer infers the rule — and you then have to decide whether to trust it.</ns1:t>
            </ns1:r>
          </ns1:p>
        </ns0:txBody>
      </ns0:sp>
      <ns0:sp>
        <ns0:nvSpPr>
          <ns0:cNvPr id="8" name="Oval 7"/>
          <ns0:cNvSpPr/>
          <ns0:nvPr/>
        </ns0:nvSpPr>
        <ns0:spPr>
          <ns1:xfrm>
            <ns1:off x="685800" y="34118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1097280" y="335699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The supervised tables used here have one row per example, candidate input columns and an observed target. Other datasets can have different structures.</ns1:t>
            </ns1:r>
          </ns1:p>
        </ns0:txBody>
      </ns0:sp>
      <ns0:sp>
        <ns0:nvSpPr>
          <ns0:cNvPr id="10" name="Oval 9"/>
          <ns0:cNvSpPr/>
          <ns0:nvPr/>
        </ns0:nvSpPr>
        <ns0:spPr>
          <ns1:xfrm>
            <ns1:off x="685800" y="41348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1097280" y="40799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Regression predicts a number with a unit. Classification predicts which of a small set of categories a case belongs to. The same data can pose either question.</ns1:t>
            </ns1:r>
          </ns1:p>
        </ns0:txBody>
      </ns0:sp>
      <ns0:sp>
        <ns0:nvSpPr>
          <ns0:cNvPr id="12" name="Oval 11"/>
          <ns0:cNvSpPr/>
          <ns0:nvPr/>
        </ns0:nvSpPr>
        <ns0:spPr>
          <ns1:xfrm>
            <ns1:off x="685800" y="48577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1097280" y="4802896"/>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model learns association. It does not learn cause, and a good fit is no evidence of a mechanism.</ns1:t>
            </ns1:r>
          </ns1:p>
        </ns0:txBody>
      </ns0:sp>
      <ns0:sp>
        <ns0:nvSpPr>
          <ns0:cNvPr id="14" name="Oval 13"/>
          <ns0:cNvSpPr/>
          <ns0:nvPr/>
        </ns0:nvSpPr>
        <ns0:spPr>
          <ns1:xfrm>
            <ns1:off x="685800" y="5292387"/>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1097280" y="5237523"/>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Check for missing data, weak predictive patterns, better physical models and changes in operating conditions.</ns1:t>
            </ns1:r>
          </ns1:p>
        </ns0:txBody>
      </ns0:sp>
      <ns0:sp>
        <ns0:nvSpPr>
          <ns0:cNvPr id="16" name="Oval 15"/>
          <ns0:cNvSpPr/>
          <ns0:nvPr/>
        </ns0:nvSpPr>
        <ns0:spPr>
          <ns1:xfrm>
            <ns1:off x="685800" y="5727014"/>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1097280" y="5672150"/>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prediction alone does not show that a model is useful. Check the data, errors and limits of the intended use.</ns1:t>
            </ns1:r>
          </ns1:p>
        </ns0:txBody>
      </ns0:sp>
    </ns0:spTree>
  </ns0:cSld>
  <ns0:clrMapOvr>
    <ns1:masterClrMapping/>
  </ns0:clrMapOvr>
</ns0: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try these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colleague says 'we should use AI for this'. What three questions would you ask before agreeing?</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have a table of 500 past pump repairs. Which columns are features and which is the target — and what tells you?</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problem from your discipline that is regression, and one that is classification.</a:t>
            </a:r>
          </a:p>
        </p:txBody>
      </p:sp>
      <p:sp>
        <p:nvSpPr>
          <p:cNvPr id="10" name="Oval 9"/>
          <p:cNvSpPr/>
          <p:nvPr/>
        </p:nvSpPr>
        <p:spPr>
          <a:xfrm>
            <a:off x="685800" y="391935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388278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a very good fit on data the model has already seen NOT evidence that the model is any good?</a:t>
            </a:r>
          </a:p>
        </p:txBody>
      </p:sp>
      <p:sp>
        <p:nvSpPr>
          <p:cNvPr id="12" name="Oval 11"/>
          <p:cNvSpPr/>
          <p:nvPr/>
        </p:nvSpPr>
        <p:spPr>
          <a:xfrm>
            <a:off x="685800" y="4457999"/>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4421423"/>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model predicts silica in the concentrate to within a few percentage points. Name one thing you would still need to know before acting on it.</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 Do not look until you have written something for each.</a:t>
            </a:r>
          </a:p>
        </p:txBody>
      </p:sp>
    </p:spTree>
  </p:cSld>
  <p:clrMapOvr>
    <a:masterClrMapping/>
  </p:clrMapOvr>
</p:sld>
</file>

<file path=ppt/slides/slide51.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Three questions before agreeing to 'use AI'?</a:t>
            </a:r>
          </a:p>
        </p:txBody>
      </p:sp>
      <p:sp>
        <p:nvSpPr>
          <p:cNvPr id="6" name="TextBox 5"/>
          <p:cNvSpPr txBox="1"/>
          <p:nvPr/>
        </p:nvSpPr>
        <p:spPr>
          <a:xfrm>
            <a:off x="1216152"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What value do you want to predict? Which recorded data can help? Is an established equation suitable? Resolve these questions before choosing a model.</a:t>
            </a:r>
          </a:p>
        </p:txBody>
      </p:sp>
      <p:sp>
        <p:nvSpPr>
          <p:cNvPr id="7" name="Oval 6"/>
          <p:cNvSpPr/>
          <p:nvPr/>
        </p:nvSpPr>
        <p:spPr>
          <a:xfrm>
            <a:off x="685800"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Features and target in a repair table?</a:t>
            </a:r>
          </a:p>
        </p:txBody>
      </p:sp>
      <p:sp>
        <p:nvSpPr>
          <p:cNvPr id="9" name="TextBox 8"/>
          <p:cNvSpPr txBox="1"/>
          <p:nvPr/>
        </p:nvSpPr>
        <p:spPr>
          <a:xfrm>
            <a:off x="1216152"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 target is whatever you want to predict — say time to next failure. Features are everything known BEFORE that: operating hours, load, temperature. The test is timing: anything only known afterwards cannot be a feature.</a:t>
            </a:r>
          </a:p>
        </p:txBody>
      </p:sp>
      <p:sp>
        <p:nvSpPr>
          <p:cNvPr id="10" name="Oval 9"/>
          <p:cNvSpPr/>
          <p:nvPr/>
        </p:nvSpPr>
        <p:spPr>
          <a:xfrm>
            <a:off x="685800" y="5068369"/>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5031793"/>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One of each from your discipline?</a:t>
            </a:r>
          </a:p>
        </p:txBody>
      </p:sp>
      <p:sp>
        <p:nvSpPr>
          <p:cNvPr id="12" name="TextBox 11"/>
          <p:cNvSpPr txBox="1"/>
          <p:nvPr/>
        </p:nvSpPr>
        <p:spPr>
          <a:xfrm>
            <a:off x="1216152" y="5324401"/>
            <a:ext cx="4614519" cy="955377"/>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Regression: any quantity with a unit — silica in the concentrate in percentage points. Classification: ore or waste; or lithology: sandstone, shale, limestone.</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Why is a good fit on seen data not evidence?</a:t>
            </a:r>
          </a:p>
        </p:txBody>
      </p:sp>
      <p:sp>
        <p:nvSpPr>
          <p:cNvPr id="15" name="TextBox 14"/>
          <p:cNvSpPr txBox="1"/>
          <p:nvPr/>
        </p:nvSpPr>
        <p:spPr>
          <a:xfrm>
            <a:off x="6854799"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model may memorise its training examples. Evaluate it on separate examples to check whether it predicts new cases well.</a:t>
            </a:r>
          </a:p>
        </p:txBody>
      </p:sp>
      <p:sp>
        <p:nvSpPr>
          <p:cNvPr id="16" name="Oval 15"/>
          <p:cNvSpPr/>
          <p:nvPr/>
        </p:nvSpPr>
        <p:spPr>
          <a:xfrm>
            <a:off x="6324447"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What else before acting?</a:t>
            </a:r>
          </a:p>
        </p:txBody>
      </p:sp>
      <p:sp>
        <p:nvSpPr>
          <p:cNvPr id="18" name="TextBox 17"/>
          <p:cNvSpPr txBox="1"/>
          <p:nvPr/>
        </p:nvSpPr>
        <p:spPr>
          <a:xfrm>
            <a:off x="6854799"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How large the error is in engineering terms and whether that is tolerable; what it costs when the model is wrong; and whether today's conditions still resemble the data it learned from.</a:t>
            </a:r>
          </a:p>
        </p:txBody>
      </p:sp>
    </p:spTree>
  </p:cSld>
  <p:clrMapOvr>
    <a:masterClrMapping/>
  </p:clrMapOvr>
</p:sld>
</file>

<file path=ppt/slides/slide52.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(1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Artificial intelligence</ns1:t>
            </ns1:r>
          </ns1:p>
        </ns0:txBody>
      </ns0:sp>
      <ns0:sp>
        <ns0:nvSpPr>
          <ns0:cNvPr id="5" name="TextBox 4"/>
          <ns0:cNvSpPr txBox="1"/>
          <ns0:nvPr/>
        </ns0:nvSpPr>
        <ns0:spPr>
          <ns1:xfrm>
            <ns1:off x="685800" y="2278309"/>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Any machine doing something we would call intelligent. A goal that many techniques aim at.</ns1:t>
            </ns1:r>
          </ns1:p>
        </ns0:txBody>
      </ns0:sp>
      <ns0:sp>
        <ns0:nvSpPr>
          <ns0:cNvPr id="6" name="TextBox 5"/>
          <ns0:cNvSpPr txBox="1"/>
          <ns0:nvPr/>
        </ns0:nvSpPr>
        <ns0:spPr>
          <ns1:xfrm>
            <ns1:off x="685800" y="308945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Machine learning</ns1:t>
            </ns1:r>
          </ns1:p>
        </ns0:txBody>
      </ns0:sp>
      <ns0:sp>
        <ns0:nvSpPr>
          <ns0:cNvPr id="7" name="TextBox 6"/>
          <ns0:cNvSpPr txBox="1"/>
          <ns0:nvPr/>
        </ns0:nvSpPr>
        <ns0:spPr>
          <ns1:xfrm>
            <ns1:off x="685800" y="345666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Inferring a rule from examples instead of writing it yourself.</ns1:t>
            </ns1:r>
          </ns1:p>
        </ns0:txBody>
      </ns0:sp>
      <ns0:sp>
        <ns0:nvSpPr>
          <ns0:cNvPr id="8" name="TextBox 7"/>
          <ns0:cNvSpPr txBox="1"/>
          <ns0:nvPr/>
        </ns0:nvSpPr>
        <ns0:spPr>
          <ns1:xfrm>
            <ns1:off x="685800" y="426781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Deep learning</ns1:t>
            </ns1:r>
          </ns1:p>
        </ns0:txBody>
      </ns0:sp>
      <ns0:sp>
        <ns0:nvSpPr>
          <ns0:cNvPr id="9" name="TextBox 8"/>
          <ns0:cNvSpPr txBox="1"/>
          <ns0:nvPr/>
        </ns0:nvSpPr>
        <ns0:spPr>
          <ns1:xfrm>
            <ns1:off x="685800" y="463502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Machine learning using large neural networks. Semester 2.</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 science</ns1:t>
            </ns1:r>
          </ns1:p>
        </ns0:txBody>
      </ns0:sp>
      <ns0:sp>
        <ns0:nvSpPr>
          <ns0:cNvPr id="11" name="TextBox 10"/>
          <ns0:cNvSpPr txBox="1"/>
          <ns0:nvPr/>
        </ns0:nvSpPr>
        <ns0:spPr>
          <ns1:xfrm>
            <ns1:off x="685800" y="5517542"/>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craft of getting a trustworthy answer out of data — finding, cleaning, questioning, analysing, presenting.</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Dataset</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collection of data. In this lesson we use tables of observations.</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Example (or row, or observation)</ns1:t>
            </ns1:r>
          </ns1:p>
        </ns0:txBody>
      </ns0:sp>
      <ns0:sp>
        <ns0:nvSpPr>
          <ns0:cNvPr id="15" name="TextBox 14"/>
          <ns0:cNvSpPr txBox="1"/>
          <ns0:nvPr/>
        </ns0:nvSpPr>
        <ns0:spPr>
          <ns1:xfrm>
            <ns1:off x="6324447" y="3160824"/>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One recorded case. A supervised training example includes its observed target.</ns1:t>
            </ns1:r>
          </ns1:p>
        </ns0:txBody>
      </ns0:sp>
      <ns0:sp>
        <ns0:nvSpPr>
          <ns0:cNvPr id="16" name="TextBox 15"/>
          <ns0:cNvSpPr txBox="1"/>
          <ns0:nvPr/>
        </ns0:nvSpPr>
        <ns0:spPr>
          <ns1:xfrm>
            <ns1:off x="6324447" y="367612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Feature</ns1:t>
            </ns1:r>
          </ns1:p>
        </ns0:txBody>
      </ns0:sp>
      <ns0:sp>
        <ns0:nvSpPr>
          <ns0:cNvPr id="17" name="TextBox 16"/>
          <ns0:cNvSpPr txBox="1"/>
          <ns0:nvPr/>
        </ns0:nvSpPr>
        <ns0:spPr>
          <ns1:xfrm>
            <ns1:off x="6324447" y="404333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column known before the outcome. An input to the prediction.</ns1:t>
            </ns1:r>
          </ns1:p>
        </ns0:txBody>
      </ns0:sp>
      <ns0:sp>
        <ns0:nvSpPr>
          <ns0:cNvPr id="18" name="TextBox 17"/>
          <ns0:cNvSpPr txBox="1"/>
          <ns0:nvPr/>
        </ns0:nvSpPr>
        <ns0:spPr>
          <ns1:xfrm>
            <ns1:off x="6324447" y="485448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Target (or label)</ns1:t>
            </ns1:r>
          </ns1:p>
        </ns0:txBody>
      </ns0:sp>
      <ns0:sp>
        <ns0:nvSpPr>
          <ns0:cNvPr id="19" name="TextBox 18"/>
          <ns0:cNvSpPr txBox="1"/>
          <ns0:nvPr/>
        </ns0:nvSpPr>
        <ns0:spPr>
          <ns1:xfrm>
            <ns1:off x="6324447" y="522169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column you are trying to predict.</ns1:t>
            </ns1:r>
          </ns1:p>
        </ns0:txBody>
      </ns0:sp>
    </ns0:spTree>
  </ns0:cSld>
  <ns0:clrMapOvr>
    <ns1:masterClrMapping/>
  </ns0:clrMapOvr>
</ns0:sld>
</file>

<file path=ppt/slides/slide53.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(2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Regression</ns1:t>
            </ns1:r>
          </ns1:p>
        </ns0:txBody>
      </ns0:sp>
      <ns0:sp>
        <ns0:nvSpPr>
          <ns0:cNvPr id="5" name="TextBox 4"/>
          <ns0:cNvSpPr txBox="1"/>
          <ns0:nvPr/>
        </ns0:nvSpPr>
        <ns0:spPr>
          <ns1:xfrm>
            <ns1:off x="685800"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a number on a continuous scale.</ns1:t>
            </ns1:r>
          </ns1:p>
        </ns0:txBody>
      </ns0:sp>
      <ns0:sp>
        <ns0:nvSpPr>
          <ns0:cNvPr id="6" name="TextBox 5"/>
          <ns0:cNvSpPr txBox="1"/>
          <ns0:nvPr/>
        </ns0:nvSpPr>
        <ns0:spPr>
          <ns1:xfrm>
            <ns1:off x="685800"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Classification</ns1:t>
            </ns1:r>
          </ns1:p>
        </ns0:txBody>
      </ns0:sp>
      <ns0:sp>
        <ns0:nvSpPr>
          <ns0:cNvPr id="7" name="TextBox 6"/>
          <ns0:cNvSpPr txBox="1"/>
          <ns0:nvPr/>
        </ns0:nvSpPr>
        <ns0:spPr>
          <ns1:xfrm>
            <ns1:off x="685800"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which of a small set of categories a case belongs to.</ns1:t>
            </ns1:r>
          </ns1:p>
        </ns0:txBody>
      </ns0:sp>
      <ns0:sp>
        <ns0:nvSpPr>
          <ns0:cNvPr id="8" name="TextBox 7"/>
          <ns0:cNvSpPr txBox="1"/>
          <ns0:nvPr/>
        </ns0:nvSpPr>
        <ns0:spPr>
          <ns1:xfrm>
            <ns1:off x="685800"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Binary classification</ns1:t>
            </ns1:r>
          </ns1:p>
        </ns0:txBody>
      </ns0:sp>
      <ns0:sp>
        <ns0:nvSpPr>
          <ns0:cNvPr id="9" name="TextBox 8"/>
          <ns0:cNvSpPr txBox="1"/>
          <ns0:nvPr/>
        </ns0:nvSpPr>
        <ns0:spPr>
          <ns1:xfrm>
            <ns1:off x="685800"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exactly two categories, such as pass or fail.</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Multi-class classification</ns1:t>
            </ns1:r>
          </ns1:p>
        </ns0:txBody>
      </ns0:sp>
      <ns0:sp>
        <ns0:nvSpPr>
          <ns0:cNvPr id="11" name="TextBox 10"/>
          <ns0:cNvSpPr txBox="1"/>
          <ns0:nvPr/>
        </ns0:nvSpPr>
        <ns0:spPr>
          <ns1:xfrm>
            <ns1:off x="685800" y="5517542"/>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three or more categories.</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Prediction</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model's answer for a case.</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Error</ns1:t>
            </ns1:r>
          </ns1:p>
        </ns0:txBody>
      </ns0:sp>
      <ns0:sp>
        <ns0:nvSpPr>
          <ns0:cNvPr id="15" name="TextBox 14"/>
          <ns0:cNvSpPr txBox="1"/>
          <ns0:nvPr/>
        </ns0:nvSpPr>
        <ns0:spPr>
          <ns1:xfrm>
            <ns1:off x="6324447"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Prediction error is the difference between the predicted and measured values.</ns1:t>
            </ns1:r>
          </ns1:p>
        </ns0:txBody>
      </ns0:sp>
      <ns0:sp>
        <ns0:nvSpPr>
          <ns0:cNvPr id="16" name="TextBox 15"/>
          <ns0:cNvSpPr txBox="1"/>
          <ns0:nvPr/>
        </ns0:nvSpPr>
        <ns0:spPr>
          <ns1:xfrm>
            <ns1:off x="6324447"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Unseen data</ns1:t>
            </ns1:r>
          </ns1:p>
        </ns0:txBody>
      </ns0:sp>
      <ns0:sp>
        <ns0:nvSpPr>
          <ns0:cNvPr id="17" name="TextBox 16"/>
          <ns0:cNvSpPr txBox="1"/>
          <ns0:nvPr/>
        </ns0:nvSpPr>
        <ns0:spPr>
          <ns1:xfrm>
            <ns1:off x="6324447"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Cases not used to fit the model. They must also be relevant and free from leakage.</ns1:t>
            </ns1:r>
          </ns1:p>
        </ns0:txBody>
      </ns0:sp>
    </ns0:spTree>
  </ns0:cSld>
  <ns0:clrMapOvr>
    <ns1:masterClrMapping/>
  </ns0:clrMapOvr>
</ns0: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 (3 of 3)</a:t>
            </a:r>
          </a:p>
        </p:txBody>
      </p:sp>
      <p:sp>
        <p:nvSpPr>
          <p:cNvPr id="4" name="TextBox 3"/>
          <p:cNvSpPr txBox="1"/>
          <p:nvPr/>
        </p:nvSpPr>
        <p:spPr>
          <a:xfrm>
            <a:off x="685800" y="1911095"/>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Data leakage</a:t>
            </a:r>
          </a:p>
        </p:txBody>
      </p:sp>
      <p:sp>
        <p:nvSpPr>
          <p:cNvPr id="5" name="TextBox 4"/>
          <p:cNvSpPr txBox="1"/>
          <p:nvPr/>
        </p:nvSpPr>
        <p:spPr>
          <a:xfrm>
            <a:off x="685800" y="2278309"/>
            <a:ext cx="5181447" cy="978973"/>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Accidentally giving the model information it would not have in real use — usually something only known after the outcome. Week 10.</a:t>
            </a:r>
          </a:p>
        </p:txBody>
      </p:sp>
      <p:sp>
        <p:nvSpPr>
          <p:cNvPr id="6" name="TextBox 5"/>
          <p:cNvSpPr txBox="1"/>
          <p:nvPr/>
        </p:nvSpPr>
        <p:spPr>
          <a:xfrm>
            <a:off x="685800" y="3385299"/>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Generalisation</a:t>
            </a:r>
          </a:p>
        </p:txBody>
      </p:sp>
      <p:sp>
        <p:nvSpPr>
          <p:cNvPr id="7" name="TextBox 6"/>
          <p:cNvSpPr txBox="1"/>
          <p:nvPr/>
        </p:nvSpPr>
        <p:spPr>
          <a:xfrm>
            <a:off x="685800" y="3752513"/>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Whether a rule learned from past cases still works on new ones.</a:t>
            </a:r>
          </a:p>
        </p:txBody>
      </p:sp>
      <p:sp>
        <p:nvSpPr>
          <p:cNvPr id="8" name="TextBox 7"/>
          <p:cNvSpPr txBox="1"/>
          <p:nvPr/>
        </p:nvSpPr>
        <p:spPr>
          <a:xfrm>
            <a:off x="685800" y="4563658"/>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Association vs cause</a:t>
            </a:r>
          </a:p>
        </p:txBody>
      </p:sp>
      <p:sp>
        <p:nvSpPr>
          <p:cNvPr id="9" name="TextBox 8"/>
          <p:cNvSpPr txBox="1"/>
          <p:nvPr/>
        </p:nvSpPr>
        <p:spPr>
          <a:xfrm>
            <a:off x="685800" y="4930872"/>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 model learns which columns move together. It knows nothing about mechanism.</a:t>
            </a:r>
          </a:p>
        </p:txBody>
      </p:sp>
    </p:spTree>
  </p:cSld>
  <p:clrMapOvr>
    <a:masterClrMapping/>
  </p:clrMapOvr>
</p:sld>
</file>

<file path=ppt/slides/slide55.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CHEAT SHEET — KEEP THIS SLIDE</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Eight questions to ask about any data problem</ns1:t>
            </ns1:r>
          </ns1:p>
        </ns0:txBody>
      </ns0:sp>
      <ns0:sp>
        <ns0:nvSpPr>
          <ns0:cNvPr id="4" name="TextBox 3"/>
          <ns0:cNvSpPr txBox="1"/>
          <ns0:nvPr/>
        </ns0:nvSpPr>
        <ns0:spPr>
          <ns1:xfrm>
            <ns1:off x="685800"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1 · What exactly am I predicting?</ns1:t>
            </ns1:r>
          </ns1:p>
        </ns0:txBody>
      </ns0:sp>
      <ns0:sp>
        <ns0:nvSpPr>
          <ns0:cNvPr id="5" name="TextBox 4"/>
          <ns0:cNvSpPr txBox="1"/>
          <ns0:nvPr/>
        </ns0:nvSpPr>
        <ns0:spPr>
          <ns1:xfrm>
            <ns1:off x="685800"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Name the target column and its unit. A descriptive analysis question may not need a prediction target.</ns1:t>
            </ns1:r>
          </ns1:p>
        </ns0:txBody>
      </ns0:sp>
      <ns0:sp>
        <ns0:nvSpPr>
          <ns0:cNvPr id="6" name="TextBox 5"/>
          <ns0:cNvSpPr txBox="1"/>
          <ns0:nvPr/>
        </ns0:nvSpPr>
        <ns0:spPr>
          <ns1:xfrm>
            <ns1:off x="685800"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2 · Is it a number or a category?</ns1:t>
            </ns1:r>
          </ns1:p>
        </ns0:txBody>
      </ns0:sp>
      <ns0:sp>
        <ns0:nvSpPr>
          <ns0:cNvPr id="7" name="TextBox 6"/>
          <ns0:cNvSpPr txBox="1"/>
          <ns0:nvPr/>
        </ns0:nvSpPr>
        <ns0:spPr>
          <ns1:xfrm>
            <ns1:off x="685800"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Does the answer estimate a quantity or choose a category? Numeric class codes are still categories.</ns1:t>
            </ns1:r>
          </ns1:p>
        </ns0:txBody>
      </ns0:sp>
      <ns0:sp>
        <ns0:nvSpPr>
          <ns0:cNvPr id="8" name="TextBox 7"/>
          <ns0:cNvSpPr txBox="1"/>
          <ns0:nvPr/>
        </ns0:nvSpPr>
        <ns0:spPr>
          <ns1:xfrm>
            <ns1:off x="685800"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3 · What do I know beforehand?</ns1:t>
            </ns1:r>
          </ns1:p>
        </ns0:txBody>
      </ns0:sp>
      <ns0:sp>
        <ns0:nvSpPr>
          <ns0:cNvPr id="9" name="TextBox 8"/>
          <ns0:cNvSpPr txBox="1"/>
          <ns0:nvPr/>
        </ns0:nvSpPr>
        <ns0:spPr>
          <ns1:xfrm>
            <ns1:off x="685800"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List the features. Check every one: would I really have this before the outcome?</ns1:t>
            </ns1:r>
          </ns1:p>
        </ns0:txBody>
      </ns0:sp>
      <ns0:sp>
        <ns0:nvSpPr>
          <ns0:cNvPr id="10" name="TextBox 9"/>
          <ns0:cNvSpPr txBox="1"/>
          <ns0:nvPr/>
        </ns0:nvSpPr>
        <ns0:spPr>
          <ns1:xfrm>
            <ns1:off x="685800"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4 · Where does the data come from?</ns1:t>
            </ns1:r>
          </ns1:p>
        </ns0:txBody>
      </ns0:sp>
      <ns0:sp>
        <ns0:nvSpPr>
          <ns0:cNvPr id="11" name="TextBox 10"/>
          <ns0:cNvSpPr txBox="1"/>
          <ns0:nvPr/>
        </ns0:nvSpPr>
        <ns0:spPr>
          <ns1:xfrm>
            <ns1:off x="685800"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Who measured it, how often, over what period, and is it actually kept anywhere?</ns1:t>
            </ns1:r>
          </ns1:p>
        </ns0:txBody>
      </ns0:sp>
      <ns0:sp>
        <ns0:nvSpPr>
          <ns0:cNvPr id="12" name="TextBox 11"/>
          <ns0:cNvSpPr txBox="1"/>
          <ns0:nvPr/>
        </ns0:nvSpPr>
        <ns0:spPr>
          <ns1:xfrm>
            <ns1:off x="6347307"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5 · Would a rule or an equation do this better?</ns1:t>
            </ns1:r>
          </ns1:p>
        </ns0:txBody>
      </ns0:sp>
      <ns0:sp>
        <ns0:nvSpPr>
          <ns0:cNvPr id="13" name="TextBox 12"/>
          <ns0:cNvSpPr txBox="1"/>
          <ns0:nvPr/>
        </ns0:nvSpPr>
        <ns0:spPr>
          <ns1:xfrm>
            <ns1:off x="6347307"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a code of practice or a validated formula answers it, use that instead.</ns1:t>
            </ns1:r>
          </ns1:p>
        </ns0:txBody>
      </ns0:sp>
      <ns0:sp>
        <ns0:nvSpPr>
          <ns0:cNvPr id="14" name="TextBox 13"/>
          <ns0:cNvSpPr txBox="1"/>
          <ns0:nvPr/>
        </ns0:nvSpPr>
        <ns0:spPr>
          <ns1:xfrm>
            <ns1:off x="6347307"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6 · How will I know if I am wrong?</ns1:t>
            </ns1:r>
          </ns1:p>
        </ns0:txBody>
      </ns0:sp>
      <ns0:sp>
        <ns0:nvSpPr>
          <ns0:cNvPr id="15" name="TextBox 14"/>
          <ns0:cNvSpPr txBox="1"/>
          <ns0:nvPr/>
        </ns0:nvSpPr>
        <ns0:spPr>
          <ns1:xfrm>
            <ns1:off x="6347307"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You need cases the model has never seen. Decide now how you will hold some back.</ns1:t>
            </ns1:r>
          </ns1:p>
        </ns0:txBody>
      </ns0:sp>
      <ns0:sp>
        <ns0:nvSpPr>
          <ns0:cNvPr id="16" name="TextBox 15"/>
          <ns0:cNvSpPr txBox="1"/>
          <ns0:nvPr/>
        </ns0:nvSpPr>
        <ns0:spPr>
          <ns1:xfrm>
            <ns1:off x="6347307"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7 · What does being wrong cost?</ns1:t>
            </ns1:r>
          </ns1:p>
        </ns0:txBody>
      </ns0:sp>
      <ns0:sp>
        <ns0:nvSpPr>
          <ns0:cNvPr id="17" name="TextBox 16"/>
          <ns0:cNvSpPr txBox="1"/>
          <ns0:nvPr/>
        </ns0:nvSpPr>
        <ns0:spPr>
          <ns1:xfrm>
            <ns1:off x="6347307"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A false alarm and a missed failure are not equally bad. That asymmetry decides which model you pick.</ns1:t>
            </ns1:r>
          </ns1:p>
        </ns0:txBody>
      </ns0:sp>
      <ns0:sp>
        <ns0:nvSpPr>
          <ns0:cNvPr id="18" name="TextBox 17"/>
          <ns0:cNvSpPr txBox="1"/>
          <ns0:nvPr/>
        </ns0:nvSpPr>
        <ns0:spPr>
          <ns1:xfrm>
            <ns1:off x="6347307"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8 · Do today's conditions still resemble the data?</ns1:t>
            </ns1:r>
          </ns1:p>
        </ns0:txBody>
      </ns0:sp>
      <ns0:sp>
        <ns0:nvSpPr>
          <ns0:cNvPr id="19" name="TextBox 18"/>
          <ns0:cNvSpPr txBox="1"/>
          <ns0:nvPr/>
        </ns0:nvSpPr>
        <ns0:spPr>
          <ns1:xfrm>
            <ns1:off x="6347307"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the process, material or plant has changed, the model may be quietly obsolete.</ns1:t>
            </ns1:r>
          </ns1:p>
        </ns0:txBody>
      </ns0:sp>
    </ns0:spTree>
  </ns0:cSld>
  <ns0:clrMapOvr>
    <ns1:masterClrMapping/>
  </ns0:clrMapOvr>
</ns0:sld>
</file>

<file path=ppt/slides/slide56.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868680"/>
            <ns1:ext cx="10820095" cy="310896"/>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END-OF-SESSION QUIZ  ·  WEEK 1</ns1:t>
            </ns1:r>
          </ns1:p>
        </ns0:txBody>
      </ns0:sp>
      <ns0:sp>
        <ns0:nvSpPr>
          <ns0:cNvPr id="4" name="TextBox 3"/>
          <ns0:cNvSpPr txBox="1"/>
          <ns0:nvPr/>
        </ns0:nvSpPr>
        <ns0:spPr>
          <ns1:xfrm>
            <ns1:off x="685800" y="1325880"/>
            <ns1:ext cx="6766560" cy="1371600"/>
          </ns1:xfrm>
          <ns1:prstGeom prst="rect">
            <ns1:avLst/>
          </ns1:prstGeom>
          <ns1:noFill/>
        </ns0:spPr>
        <ns0:txBody>
          <ns1:bodyPr wrap="square" lIns="0" rIns="0" tIns="0" bIns="0" anchor="t">
            <ns1:spAutoFit/>
          </ns1:bodyPr>
          <ns1:lstStyle/>
          <ns1:p>
            <ns1:pPr algn="l">
              <ns1:lnSpc>
                <ns1:spcPct val="105000"/>
              </ns1:lnSpc>
              <ns1:spcAft>
                <ns1:spcPts val="600"/>
              </ns1:spcAft>
            </ns1:pPr>
            <ns1:r>
              <ns1:rPr sz="4000" b="1" i="0">
                <ns1:solidFill>
                  <ns1:srgbClr val="FFFFFF"/>
                </ns1:solidFill>
                <ns1:latin typeface="Cambria"/>
              </ns1:rPr>
              <ns1:t>Five questions,</ns1:t>
            </ns1:r>
          </ns1:p>
          <ns1:p>
            <ns1:pPr algn="l">
              <ns1:lnSpc>
                <ns1:spcPct val="105000"/>
              </ns1:lnSpc>
              <ns1:spcAft>
                <ns1:spcPts val="600"/>
              </ns1:spcAft>
            </ns1:pPr>
            <ns1:r>
              <ns1:rPr sz="4000" b="1" i="0">
                <ns1:solidFill>
                  <ns1:srgbClr val="FFFFFF"/>
                </ns1:solidFill>
                <ns1:latin typeface="Cambria"/>
              </ns1:rPr>
              <ns1:t>five minutes</ns1:t>
            </ns1:r>
          </ns1:p>
        </ns0:txBody>
      </ns0:sp>
      <ns0:sp>
        <ns0:nvSpPr>
          <ns0:cNvPr id="5" name="TextBox 4"/>
          <ns0:cNvSpPr txBox="1"/>
          <ns0:nvPr/>
        </ns0:nvSpPr>
        <ns0:spPr>
          <ns1:xfrm>
            <ns1:off x="685800" y="2880360"/>
            <ns1:ext cx="6766560" cy="816005"/>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1923" b="0" i="0">
                <ns1:solidFill>
                  <ns1:srgbClr val="B8C9D8"/>
                </ns1:solidFill>
                <ns1:latin typeface="Calibri"/>
              </ns1:rPr>
              <ns1:t>Features and target read off a table, regression told from classification, and one of the four limits applied to a case.</ns1:t>
            </ns1:r>
          </ns1:p>
        </ns0:txBody>
      </ns0:sp>
      <ns0:sp>
        <ns0:nvSpPr>
          <ns0:cNvPr id="6" name="Oval 5"/>
          <ns0:cNvSpPr/>
          <ns0:nvPr/>
        </ns0:nvSpPr>
        <ns0:spPr>
          <ns1:xfrm>
            <ns1:off x="704088" y="402554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960120" y="3952397"/>
            <ns1:ext cx="6492240" cy="729027"/>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Enter your own Student Registration Number exactly as recorded.</ns1:t>
            </ns1:r>
          </ns1:p>
        </ns0:txBody>
      </ns0:sp>
      <ns0:sp>
        <ns0:nvSpPr>
          <ns0:cNvPr id="8" name="Oval 7"/>
          <ns0:cNvSpPr/>
          <ns0:nvPr/>
        </ns0:nvSpPr>
        <ns0:spPr>
          <ns1:xfrm>
            <ns1:off x="704088" y="4818584"/>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4745432"/>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One attempt, from the Google account you are signed in to.</ns1:t>
            </ns1:r>
          </ns1:p>
        </ns0:txBody>
      </ns0:sp>
      <ns0:sp>
        <ns0:nvSpPr>
          <ns0:cNvPr id="10" name="Oval 9"/>
          <ns0:cNvSpPr/>
          <ns0:nvPr/>
        </ns0:nvSpPr>
        <ns0:spPr>
          <ns1:xfrm>
            <ns1:off x="704088" y="5269966"/>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960120" y="5196814"/>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Open for 24 hours from lecturer activation, then it closes.</ns1:t>
            </ns1:r>
          </ns1:p>
        </ns0:txBody>
      </ns0:sp>
      <ns0:sp>
        <ns0:nvSpPr>
          <ns0:cNvPr id="12" name="Oval 11"/>
          <ns0:cNvSpPr/>
          <ns0:nvPr/>
        </ns0:nvSpPr>
        <ns0:spPr>
          <ns1:xfrm>
            <ns1:off x="704088" y="5721348"/>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5648196"/>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Tap View score and read the feedback after submitting.</ns1:t>
            </ns1:r>
          </ns1:p>
        </ns0:txBody>
      </ns0:sp>
      <ns0:sp>
        <ns0:nvSpPr>
          <ns0:cNvPr id="14" name="Oval 13"/>
          <ns0:cNvSpPr/>
          <ns0:nvPr/>
        </ns0:nvSpPr>
        <ns0:spPr>
          <ns1:xfrm>
            <ns1:off x="704088" y="617272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60120" y="6099577"/>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Quiz category: 10%. Best nine of eleven count; Quiz 6 is waived.</ns1:t>
            </ns1:r>
          </ns1:p>
        </ns0:txBody>
      </ns0:sp>
      <ns0:sp>
        <ns0:nvSpPr>
          <ns0:cNvPr id="16" name="Rectangle 15"/>
          <ns0:cNvSpPr/>
          <ns0:nvPr/>
        </ns0:nvSpPr>
        <ns0:spPr>
          <ns1:xfrm>
            <ns1:off x="8716975" y="1783080"/>
            <ns1:ext cx="2788920" cy="2788920"/>
          </ns1:xfrm>
          <ns1:prstGeom prst="rect">
            <ns1:avLst/>
          </ns1:prstGeom>
          <ns1:solidFill>
            <ns1:srgbClr val="FFFFF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pic>
        <ns0:nvPicPr>
          <ns0:cNvPr id="17" name="Picture 16" descr="quiz_CML3113_W01.png"/>
          <ns0:cNvPicPr>
            <ns1:picLocks noChangeAspect="1"/>
          </ns0:cNvPicPr>
          <ns0:nvPr/>
        </ns0:nvPicPr>
        <ns0:blipFill>
          <ns1:blip ns2:embed="rId2"/>
          <ns1:stretch>
            <ns1:fillRect/>
          </ns1:stretch>
        </ns0:blipFill>
        <ns0:spPr>
          <ns1:xfrm>
            <ns1:off x="8826703" y="1892807"/>
            <ns1:ext cx="2569463" cy="2569463"/>
          </ns1:xfrm>
          <ns1:prstGeom prst="rect">
            <ns1:avLst/>
          </ns1:prstGeom>
        </ns0:spPr>
      </ns0:pic>
    </ns0:spTree>
  </ns0:cSld>
  <ns0:clrMapOvr>
    <ns1:masterClrMapping/>
  </ns0:clrMapOvr>
</ns0:sld>
</file>

<file path=ppt/slides/slide57.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7160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THE ONE THING TO REMEMBER</ns1:t>
            </ns1:r>
          </ns1:p>
        </ns0:txBody>
      </ns0:sp>
      <ns0:sp>
        <ns0:nvSpPr>
          <ns0:cNvPr id="4" name="TextBox 3"/>
          <ns0:cNvSpPr txBox="1"/>
          <ns0:nvPr/>
        </ns0:nvSpPr>
        <ns0:spPr>
          <ns1:xfrm>
            <ns1:off x="685800" y="1965960"/>
            <ns1:ext cx="10820095" cy="2194560"/>
          </ns1:xfrm>
          <ns1:prstGeom prst="rect">
            <ns1:avLst/>
          </ns1:prstGeom>
          <ns1:noFill/>
        </ns0:spPr>
        <ns0:txBody>
          <ns1:bodyPr wrap="square" lIns="0" rIns="0" tIns="0" bIns="0" anchor="t">
            <ns1:spAutoFit/>
          </ns1:bodyPr>
          <ns1:lstStyle/>
          <ns1:p>
            <ns1:pPr algn="l">
              <ns1:lnSpc>
                <ns1:spcPct val="110000"/>
              </ns1:lnSpc>
              <ns1:spcAft>
                <ns1:spcPts val="600"/>
              </ns1:spcAft>
            </ns1:pPr>
            <ns1:r>
              <ns1:rPr sz="3400" b="1" i="0">
                <ns1:solidFill>
                  <ns1:srgbClr val="FFFFFF"/>
                </ns1:solidFill>
                <ns1:latin typeface="Cambria"/>
              </ns1:rPr>
              <ns1:t>You have practised</ns1:t>
            </ns1:r>
          </ns1:p>
          <ns1:p>
            <ns1:pPr algn="l">
              <ns1:lnSpc>
                <ns1:spcPct val="110000"/>
              </ns1:lnSpc>
              <ns1:spcAft>
                <ns1:spcPts val="600"/>
              </ns1:spcAft>
            </ns1:pPr>
            <ns1:r>
              <ns1:rPr sz="3400" b="1" i="0">
                <ns1:solidFill>
                  <ns1:srgbClr val="FFFFFF"/>
                </ns1:solidFill>
                <ns1:latin typeface="Cambria"/>
              </ns1:rPr>
              <ns1:t>prediction reasoning.</ns1:t>
            </ns1:r>
          </ns1:p>
        </ns0:txBody>
      </ns0:sp>
      <ns0:sp>
        <ns0:nvSpPr>
          <ns0:cNvPr id="5" name="TextBox 4"/>
          <ns0:cNvSpPr txBox="1"/>
          <ns0:nvPr/>
        </ns0:nvSpPr>
        <ns0:spPr>
          <ns1:xfrm>
            <ns1:off x="685800" y="443484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Today you used twelve rows of data to make a prediction and measure its error. Later lessons use Python to repeat these calculations on larger datasets.</ns1:t>
            </ns1:r>
          </ns1:p>
        </ns0:txBody>
      </ns0:sp>
      <ns0:sp>
        <ns0:nvSpPr>
          <ns0:cNvPr id="6" name="TextBox 5"/>
          <ns0:cNvSpPr txBox="1"/>
          <ns0:nvPr/>
        </ns0:nvSpPr>
        <ns0:spPr>
          <ns1:xfrm>
            <ns1:off x="685800" y="5943600"/>
            <ns1:ext cx="10820095" cy="365760"/>
          </ns1:xfrm>
          <ns1:prstGeom prst="rect">
            <ns1:avLst/>
          </ns1:prstGeom>
          <ns1:noFill/>
        </ns0:spPr>
        <ns0:txBody>
          <ns1:bodyPr wrap="square" lIns="0" rIns="0" tIns="0" bIns="0" anchor="t">
            <ns1:spAutoFit/>
          </ns1:bodyPr>
          <ns1:lstStyle/>
          <ns1:p>
            <ns1:pPr algn="l">
              <ns1:spcAft>
                <ns1:spcPts val="600"/>
              </ns1:spcAft>
            </ns1:pPr>
            <ns1:r>
              <ns1:rPr sz="1452" b="0" i="0">
                <ns1:solidFill>
                  <ns1:srgbClr val="7E93A6"/>
                </ns1:solidFill>
                <ns1:latin typeface="Calibri"/>
              </ns1:rPr>
              <ns1:t>Next week: Colab notebooks and version control. Bring a laptop with a browser.</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