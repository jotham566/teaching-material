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b5ca8587de4816" /><Relationship Type="http://schemas.openxmlformats.org/officeDocument/2006/relationships/extended-properties" Target="/docProps/app.xml" Id="Re627f16512a845fd" /><Relationship Type="http://schemas.openxmlformats.org/officeDocument/2006/relationships/officeDocument" Target="/ppt/presentation.xml" Id="R7dcee6050c434267" /></Relationships>
</file>

<file path=ppt/presentation.xml><?xml version="1.0" encoding="utf-8"?>
<p:presentation xmlns:p="http://schemas.openxmlformats.org/presentationml/2006/main">
  <p:sldMasterIdLst>
    <p:sldMasterId xmlns:r="http://schemas.openxmlformats.org/officeDocument/2006/relationships" id="2147483648" r:id="R8bf67f77a3dd4c37"/>
  </p:sldMasterIdLst>
  <p:notesMasterIdLst>
    <p:notesMasterId xmlns:r="http://schemas.openxmlformats.org/officeDocument/2006/relationships" r:id="Re07ced3936d3441c"/>
  </p:notesMasterIdLst>
  <p:sldIdLst>
    <p:sldId xmlns:r="http://schemas.openxmlformats.org/officeDocument/2006/relationships" id="256" r:id="R3568ba0c66ab4070"/>
    <p:sldId xmlns:r="http://schemas.openxmlformats.org/officeDocument/2006/relationships" id="257" r:id="Ra3064e9f0fed4ed0"/>
    <p:sldId xmlns:r="http://schemas.openxmlformats.org/officeDocument/2006/relationships" id="258" r:id="Rf1769a2338cb404a"/>
    <p:sldId xmlns:r="http://schemas.openxmlformats.org/officeDocument/2006/relationships" id="259" r:id="R41ddeeb03c994e00"/>
    <p:sldId xmlns:r="http://schemas.openxmlformats.org/officeDocument/2006/relationships" id="260" r:id="R5875cb8e77fc4d13"/>
    <p:sldId xmlns:r="http://schemas.openxmlformats.org/officeDocument/2006/relationships" id="261" r:id="R82427041732145e3"/>
    <p:sldId xmlns:r="http://schemas.openxmlformats.org/officeDocument/2006/relationships" id="262" r:id="R76f4aacb9b3d4782"/>
    <p:sldId xmlns:r="http://schemas.openxmlformats.org/officeDocument/2006/relationships" id="263" r:id="Rb5062f7916c14313"/>
    <p:sldId xmlns:r="http://schemas.openxmlformats.org/officeDocument/2006/relationships" id="264" r:id="R3a3232a2ba964914"/>
    <p:sldId xmlns:r="http://schemas.openxmlformats.org/officeDocument/2006/relationships" id="265" r:id="R11ce1549833d48af"/>
    <p:sldId xmlns:r="http://schemas.openxmlformats.org/officeDocument/2006/relationships" id="266" r:id="R63e76e6d0c8942b9"/>
    <p:sldId xmlns:r="http://schemas.openxmlformats.org/officeDocument/2006/relationships" id="267" r:id="Rd8dca75db22b4d06"/>
    <p:sldId xmlns:r="http://schemas.openxmlformats.org/officeDocument/2006/relationships" id="268" r:id="R8bc2a1634d4a484f"/>
    <p:sldId xmlns:r="http://schemas.openxmlformats.org/officeDocument/2006/relationships" id="269" r:id="Rfa001ed921da44d6"/>
    <p:sldId xmlns:r="http://schemas.openxmlformats.org/officeDocument/2006/relationships" id="270" r:id="Rbb32c72769874681"/>
    <p:sldId xmlns:r="http://schemas.openxmlformats.org/officeDocument/2006/relationships" id="271" r:id="Rab8dd5c5e3d941cd"/>
    <p:sldId xmlns:r="http://schemas.openxmlformats.org/officeDocument/2006/relationships" id="272" r:id="Rb952b6181ff84ca3"/>
    <p:sldId xmlns:r="http://schemas.openxmlformats.org/officeDocument/2006/relationships" id="273" r:id="Rc8c18fc2c8d6462b"/>
    <p:sldId xmlns:r="http://schemas.openxmlformats.org/officeDocument/2006/relationships" id="274" r:id="R8040064bb430406c"/>
    <p:sldId xmlns:r="http://schemas.openxmlformats.org/officeDocument/2006/relationships" id="275" r:id="Rc8e4f0a0f66a4a1a"/>
    <p:sldId xmlns:r="http://schemas.openxmlformats.org/officeDocument/2006/relationships" id="276" r:id="R5d72f859c5df4a00"/>
    <p:sldId xmlns:r="http://schemas.openxmlformats.org/officeDocument/2006/relationships" id="277" r:id="R3922610419a644ad"/>
    <p:sldId xmlns:r="http://schemas.openxmlformats.org/officeDocument/2006/relationships" id="278" r:id="R6585756127b845fb"/>
    <p:sldId xmlns:r="http://schemas.openxmlformats.org/officeDocument/2006/relationships" id="279" r:id="R6925b9abd57b4840"/>
    <p:sldId xmlns:r="http://schemas.openxmlformats.org/officeDocument/2006/relationships" id="280" r:id="Re51d8cd3d0ad4836"/>
    <p:sldId xmlns:r="http://schemas.openxmlformats.org/officeDocument/2006/relationships" id="281" r:id="Rcc562626c04b476c"/>
    <p:sldId xmlns:r="http://schemas.openxmlformats.org/officeDocument/2006/relationships" id="282" r:id="Raeb89fef9eb14477"/>
    <p:sldId xmlns:r="http://schemas.openxmlformats.org/officeDocument/2006/relationships" id="283" r:id="Ra79fe4b930624195"/>
    <p:sldId xmlns:r="http://schemas.openxmlformats.org/officeDocument/2006/relationships" id="284" r:id="Rb837132468854691"/>
    <p:sldId xmlns:r="http://schemas.openxmlformats.org/officeDocument/2006/relationships" id="285" r:id="Rd2f18549f1d1469c"/>
    <p:sldId xmlns:r="http://schemas.openxmlformats.org/officeDocument/2006/relationships" id="286" r:id="Rffc09a62962d44ea"/>
    <p:sldId xmlns:r="http://schemas.openxmlformats.org/officeDocument/2006/relationships" id="287" r:id="R781fe15f96734916"/>
    <p:sldId xmlns:r="http://schemas.openxmlformats.org/officeDocument/2006/relationships" id="288" r:id="R40b6b2e31b504452"/>
    <p:sldId xmlns:r="http://schemas.openxmlformats.org/officeDocument/2006/relationships" id="289" r:id="Rce738f49f40d4580"/>
    <p:sldId xmlns:r="http://schemas.openxmlformats.org/officeDocument/2006/relationships" id="290" r:id="R58cf4d27ec5348d2"/>
    <p:sldId xmlns:r="http://schemas.openxmlformats.org/officeDocument/2006/relationships" id="291" r:id="R048230ccb32c40fc"/>
    <p:sldId xmlns:r="http://schemas.openxmlformats.org/officeDocument/2006/relationships" id="292" r:id="R899d4615595e4400"/>
    <p:sldId xmlns:r="http://schemas.openxmlformats.org/officeDocument/2006/relationships" id="293" r:id="R0b73e93347eb4896"/>
    <p:sldId xmlns:r="http://schemas.openxmlformats.org/officeDocument/2006/relationships" id="294" r:id="R56da73a8747f4da2"/>
    <p:sldId xmlns:r="http://schemas.openxmlformats.org/officeDocument/2006/relationships" id="295" r:id="Rac2b323d108f43fc"/>
    <p:sldId xmlns:r="http://schemas.openxmlformats.org/officeDocument/2006/relationships" id="296" r:id="R00da19fd3be54746"/>
    <p:sldId xmlns:r="http://schemas.openxmlformats.org/officeDocument/2006/relationships" id="297" r:id="R99d915da64ee43cd"/>
    <p:sldId xmlns:r="http://schemas.openxmlformats.org/officeDocument/2006/relationships" id="298" r:id="R5ab7645a7b5d499c"/>
    <p:sldId xmlns:r="http://schemas.openxmlformats.org/officeDocument/2006/relationships" id="299" r:id="R481e679c7bf04b17"/>
    <p:sldId xmlns:r="http://schemas.openxmlformats.org/officeDocument/2006/relationships" id="300" r:id="Rda65724227314a19"/>
    <p:sldId xmlns:r="http://schemas.openxmlformats.org/officeDocument/2006/relationships" id="301" r:id="Rf7f2be7e98764d39"/>
    <p:sldId xmlns:r="http://schemas.openxmlformats.org/officeDocument/2006/relationships" id="302" r:id="R78ce74f182934153"/>
    <p:sldId xmlns:r="http://schemas.openxmlformats.org/officeDocument/2006/relationships" id="303" r:id="R3630d91393aa4f21"/>
    <p:sldId xmlns:r="http://schemas.openxmlformats.org/officeDocument/2006/relationships" id="304" r:id="R5abf0ba5cde9446b"/>
    <p:sldId xmlns:r="http://schemas.openxmlformats.org/officeDocument/2006/relationships" id="305" r:id="R0739217719b5493b"/>
    <p:sldId xmlns:r="http://schemas.openxmlformats.org/officeDocument/2006/relationships" id="306" r:id="R2033db9e6f5e4f8a"/>
    <p:sldId xmlns:r="http://schemas.openxmlformats.org/officeDocument/2006/relationships" id="307" r:id="Re0dd81956f294151"/>
    <p:sldId xmlns:r="http://schemas.openxmlformats.org/officeDocument/2006/relationships" id="308" r:id="Rab0ae1f970474d1a"/>
    <p:sldId xmlns:r="http://schemas.openxmlformats.org/officeDocument/2006/relationships" id="309" r:id="R0bffb2e0a8c848a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7e46dcd3ab4c30" /><Relationship Type="http://schemas.openxmlformats.org/officeDocument/2006/relationships/slideMaster" Target="/ppt/slideMasters/slideMaster1.xml" Id="R8bf67f77a3dd4c37" /><Relationship Type="http://schemas.openxmlformats.org/officeDocument/2006/relationships/notesMaster" Target="/ppt/notesMasters/notesMaster1.xml" Id="Re07ced3936d3441c" /><Relationship Type="http://schemas.openxmlformats.org/officeDocument/2006/relationships/presProps" Target="/ppt/presProps.xml" Id="R3258940b4c974cd7" /><Relationship Type="http://schemas.openxmlformats.org/officeDocument/2006/relationships/tableStyles" Target="/ppt/tableStyles.xml" Id="R0cd45a7ad4f849b7" /><Relationship Type="http://schemas.openxmlformats.org/officeDocument/2006/relationships/slide" Target="/ppt/slides/slide1.xml" Id="R3568ba0c66ab4070" /><Relationship Type="http://schemas.openxmlformats.org/officeDocument/2006/relationships/slide" Target="/ppt/slides/slide2.xml" Id="Ra3064e9f0fed4ed0" /><Relationship Type="http://schemas.openxmlformats.org/officeDocument/2006/relationships/slide" Target="/ppt/slides/slide3.xml" Id="Rf1769a2338cb404a" /><Relationship Type="http://schemas.openxmlformats.org/officeDocument/2006/relationships/slide" Target="/ppt/slides/slide4.xml" Id="R41ddeeb03c994e00" /><Relationship Type="http://schemas.openxmlformats.org/officeDocument/2006/relationships/slide" Target="/ppt/slides/slide5.xml" Id="R5875cb8e77fc4d13" /><Relationship Type="http://schemas.openxmlformats.org/officeDocument/2006/relationships/slide" Target="/ppt/slides/slide6.xml" Id="R82427041732145e3" /><Relationship Type="http://schemas.openxmlformats.org/officeDocument/2006/relationships/slide" Target="/ppt/slides/slide7.xml" Id="R76f4aacb9b3d4782" /><Relationship Type="http://schemas.openxmlformats.org/officeDocument/2006/relationships/slide" Target="/ppt/slides/slide8.xml" Id="Rb5062f7916c14313" /><Relationship Type="http://schemas.openxmlformats.org/officeDocument/2006/relationships/slide" Target="/ppt/slides/slide9.xml" Id="R3a3232a2ba964914" /><Relationship Type="http://schemas.openxmlformats.org/officeDocument/2006/relationships/slide" Target="/ppt/slides/slide10.xml" Id="R11ce1549833d48af" /><Relationship Type="http://schemas.openxmlformats.org/officeDocument/2006/relationships/slide" Target="/ppt/slides/slide11.xml" Id="R63e76e6d0c8942b9" /><Relationship Type="http://schemas.openxmlformats.org/officeDocument/2006/relationships/slide" Target="/ppt/slides/slide12.xml" Id="Rd8dca75db22b4d06" /><Relationship Type="http://schemas.openxmlformats.org/officeDocument/2006/relationships/slide" Target="/ppt/slides/slide13.xml" Id="R8bc2a1634d4a484f" /><Relationship Type="http://schemas.openxmlformats.org/officeDocument/2006/relationships/slide" Target="/ppt/slides/slide14.xml" Id="Rfa001ed921da44d6" /><Relationship Type="http://schemas.openxmlformats.org/officeDocument/2006/relationships/slide" Target="/ppt/slides/slide15.xml" Id="Rbb32c72769874681" /><Relationship Type="http://schemas.openxmlformats.org/officeDocument/2006/relationships/slide" Target="/ppt/slides/slide16.xml" Id="Rab8dd5c5e3d941cd" /><Relationship Type="http://schemas.openxmlformats.org/officeDocument/2006/relationships/slide" Target="/ppt/slides/slide17.xml" Id="Rb952b6181ff84ca3" /><Relationship Type="http://schemas.openxmlformats.org/officeDocument/2006/relationships/slide" Target="/ppt/slides/slide18.xml" Id="Rc8c18fc2c8d6462b" /><Relationship Type="http://schemas.openxmlformats.org/officeDocument/2006/relationships/slide" Target="/ppt/slides/slide19.xml" Id="R8040064bb430406c" /><Relationship Type="http://schemas.openxmlformats.org/officeDocument/2006/relationships/slide" Target="/ppt/slides/slide20.xml" Id="Rc8e4f0a0f66a4a1a" /><Relationship Type="http://schemas.openxmlformats.org/officeDocument/2006/relationships/slide" Target="/ppt/slides/slide21.xml" Id="R5d72f859c5df4a00" /><Relationship Type="http://schemas.openxmlformats.org/officeDocument/2006/relationships/slide" Target="/ppt/slides/slide22.xml" Id="R3922610419a644ad" /><Relationship Type="http://schemas.openxmlformats.org/officeDocument/2006/relationships/slide" Target="/ppt/slides/slide23.xml" Id="R6585756127b845fb" /><Relationship Type="http://schemas.openxmlformats.org/officeDocument/2006/relationships/slide" Target="/ppt/slides/slide24.xml" Id="R6925b9abd57b4840" /><Relationship Type="http://schemas.openxmlformats.org/officeDocument/2006/relationships/slide" Target="/ppt/slides/slide25.xml" Id="Re51d8cd3d0ad4836" /><Relationship Type="http://schemas.openxmlformats.org/officeDocument/2006/relationships/slide" Target="/ppt/slides/slide26.xml" Id="Rcc562626c04b476c" /><Relationship Type="http://schemas.openxmlformats.org/officeDocument/2006/relationships/slide" Target="/ppt/slides/slide27.xml" Id="Raeb89fef9eb14477" /><Relationship Type="http://schemas.openxmlformats.org/officeDocument/2006/relationships/slide" Target="/ppt/slides/slide28.xml" Id="Ra79fe4b930624195" /><Relationship Type="http://schemas.openxmlformats.org/officeDocument/2006/relationships/slide" Target="/ppt/slides/slide29.xml" Id="Rb837132468854691" /><Relationship Type="http://schemas.openxmlformats.org/officeDocument/2006/relationships/slide" Target="/ppt/slides/slide30.xml" Id="Rd2f18549f1d1469c" /><Relationship Type="http://schemas.openxmlformats.org/officeDocument/2006/relationships/slide" Target="/ppt/slides/slide31.xml" Id="Rffc09a62962d44ea" /><Relationship Type="http://schemas.openxmlformats.org/officeDocument/2006/relationships/slide" Target="/ppt/slides/slide32.xml" Id="R781fe15f96734916" /><Relationship Type="http://schemas.openxmlformats.org/officeDocument/2006/relationships/slide" Target="/ppt/slides/slide33.xml" Id="R40b6b2e31b504452" /><Relationship Type="http://schemas.openxmlformats.org/officeDocument/2006/relationships/slide" Target="/ppt/slides/slide34.xml" Id="Rce738f49f40d4580" /><Relationship Type="http://schemas.openxmlformats.org/officeDocument/2006/relationships/slide" Target="/ppt/slides/slide35.xml" Id="R58cf4d27ec5348d2" /><Relationship Type="http://schemas.openxmlformats.org/officeDocument/2006/relationships/slide" Target="/ppt/slides/slide36.xml" Id="R048230ccb32c40fc" /><Relationship Type="http://schemas.openxmlformats.org/officeDocument/2006/relationships/slide" Target="/ppt/slides/slide37.xml" Id="R899d4615595e4400" /><Relationship Type="http://schemas.openxmlformats.org/officeDocument/2006/relationships/slide" Target="/ppt/slides/slide38.xml" Id="R0b73e93347eb4896" /><Relationship Type="http://schemas.openxmlformats.org/officeDocument/2006/relationships/slide" Target="/ppt/slides/slide39.xml" Id="R56da73a8747f4da2" /><Relationship Type="http://schemas.openxmlformats.org/officeDocument/2006/relationships/slide" Target="/ppt/slides/slide40.xml" Id="Rac2b323d108f43fc" /><Relationship Type="http://schemas.openxmlformats.org/officeDocument/2006/relationships/slide" Target="/ppt/slides/slide41.xml" Id="R00da19fd3be54746" /><Relationship Type="http://schemas.openxmlformats.org/officeDocument/2006/relationships/slide" Target="/ppt/slides/slide42.xml" Id="R99d915da64ee43cd" /><Relationship Type="http://schemas.openxmlformats.org/officeDocument/2006/relationships/slide" Target="/ppt/slides/slide43.xml" Id="R5ab7645a7b5d499c" /><Relationship Type="http://schemas.openxmlformats.org/officeDocument/2006/relationships/slide" Target="/ppt/slides/slide44.xml" Id="R481e679c7bf04b17" /><Relationship Type="http://schemas.openxmlformats.org/officeDocument/2006/relationships/slide" Target="/ppt/slides/slide45.xml" Id="Rda65724227314a19" /><Relationship Type="http://schemas.openxmlformats.org/officeDocument/2006/relationships/slide" Target="/ppt/slides/slide46.xml" Id="Rf7f2be7e98764d39" /><Relationship Type="http://schemas.openxmlformats.org/officeDocument/2006/relationships/slide" Target="/ppt/slides/slide47.xml" Id="R78ce74f182934153" /><Relationship Type="http://schemas.openxmlformats.org/officeDocument/2006/relationships/slide" Target="/ppt/slides/slide48.xml" Id="R3630d91393aa4f21" /><Relationship Type="http://schemas.openxmlformats.org/officeDocument/2006/relationships/slide" Target="/ppt/slides/slide49.xml" Id="R5abf0ba5cde9446b" /><Relationship Type="http://schemas.openxmlformats.org/officeDocument/2006/relationships/slide" Target="/ppt/slides/slide50.xml" Id="R0739217719b5493b" /><Relationship Type="http://schemas.openxmlformats.org/officeDocument/2006/relationships/slide" Target="/ppt/slides/slide51.xml" Id="R2033db9e6f5e4f8a" /><Relationship Type="http://schemas.openxmlformats.org/officeDocument/2006/relationships/slide" Target="/ppt/slides/slide52.xml" Id="Re0dd81956f294151" /><Relationship Type="http://schemas.openxmlformats.org/officeDocument/2006/relationships/slide" Target="/ppt/slides/slide53.xml" Id="Rab0ae1f970474d1a" /><Relationship Type="http://schemas.openxmlformats.org/officeDocument/2006/relationships/slide" Target="/ppt/slides/slide54.xml" Id="R0bffb2e0a8c848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b2d295355b48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0ac7e4707c4c47" /><Relationship Type="http://schemas.openxmlformats.org/officeDocument/2006/relationships/notesMaster" Target="/ppt/notesMasters/notesMaster1.xml" Id="Rcac9683bc4164d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c4b91552464c2a" /><Relationship Type="http://schemas.openxmlformats.org/officeDocument/2006/relationships/notesMaster" Target="/ppt/notesMasters/notesMaster1.xml" Id="Re3729f6f688346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9ac1b43860457f" /><Relationship Type="http://schemas.openxmlformats.org/officeDocument/2006/relationships/notesMaster" Target="/ppt/notesMasters/notesMaster1.xml" Id="R502243f9695644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0ecc5a9fda4edf" /><Relationship Type="http://schemas.openxmlformats.org/officeDocument/2006/relationships/notesMaster" Target="/ppt/notesMasters/notesMaster1.xml" Id="R3044472f1fa344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8ccd0ac29e45ff" /><Relationship Type="http://schemas.openxmlformats.org/officeDocument/2006/relationships/notesMaster" Target="/ppt/notesMasters/notesMaster1.xml" Id="R6977b3d9836c4d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c1cc576a48419b" /><Relationship Type="http://schemas.openxmlformats.org/officeDocument/2006/relationships/notesMaster" Target="/ppt/notesMasters/notesMaster1.xml" Id="Rf4c7ccd7bfbf4d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5d21eb8655419b" /><Relationship Type="http://schemas.openxmlformats.org/officeDocument/2006/relationships/notesMaster" Target="/ppt/notesMasters/notesMaster1.xml" Id="Rd1f779a652d345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a61bfa902e42b6" /><Relationship Type="http://schemas.openxmlformats.org/officeDocument/2006/relationships/notesMaster" Target="/ppt/notesMasters/notesMaster1.xml" Id="R72e3563da29046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f0bba4fe6f4a5f" /><Relationship Type="http://schemas.openxmlformats.org/officeDocument/2006/relationships/notesMaster" Target="/ppt/notesMasters/notesMaster1.xml" Id="R6ca222e7eea74e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1abf4541ad4b76" /><Relationship Type="http://schemas.openxmlformats.org/officeDocument/2006/relationships/notesMaster" Target="/ppt/notesMasters/notesMaster1.xml" Id="R9024c42453374a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324b824cc84b70" /><Relationship Type="http://schemas.openxmlformats.org/officeDocument/2006/relationships/notesMaster" Target="/ppt/notesMasters/notesMaster1.xml" Id="Ra29eabfb862341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3be645bc994e45" /><Relationship Type="http://schemas.openxmlformats.org/officeDocument/2006/relationships/notesMaster" Target="/ppt/notesMasters/notesMaster1.xml" Id="Re0feede2e4af4d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76976320484d61" /><Relationship Type="http://schemas.openxmlformats.org/officeDocument/2006/relationships/notesMaster" Target="/ppt/notesMasters/notesMaster1.xml" Id="R4cd43666d8a545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6218741e964f22" /><Relationship Type="http://schemas.openxmlformats.org/officeDocument/2006/relationships/notesMaster" Target="/ppt/notesMasters/notesMaster1.xml" Id="Ree01cb4d83304d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21056b4e444aba" /><Relationship Type="http://schemas.openxmlformats.org/officeDocument/2006/relationships/notesMaster" Target="/ppt/notesMasters/notesMaster1.xml" Id="R49c9e33e199541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2c6212600e44dc" /><Relationship Type="http://schemas.openxmlformats.org/officeDocument/2006/relationships/notesMaster" Target="/ppt/notesMasters/notesMaster1.xml" Id="R7e117c09d4e84a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4b0861c6c8f421d" /><Relationship Type="http://schemas.openxmlformats.org/officeDocument/2006/relationships/notesMaster" Target="/ppt/notesMasters/notesMaster1.xml" Id="Rc8594ff397f74f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325731745db45aa" /><Relationship Type="http://schemas.openxmlformats.org/officeDocument/2006/relationships/notesMaster" Target="/ppt/notesMasters/notesMaster1.xml" Id="R6f5f2dc752a543e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284c45869f4ef8" /><Relationship Type="http://schemas.openxmlformats.org/officeDocument/2006/relationships/notesMaster" Target="/ppt/notesMasters/notesMaster1.xml" Id="Rbad7f821c68f423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b42a6873ce84828" /><Relationship Type="http://schemas.openxmlformats.org/officeDocument/2006/relationships/notesMaster" Target="/ppt/notesMasters/notesMaster1.xml" Id="R165f5607570643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43125558bbc4d5d" /><Relationship Type="http://schemas.openxmlformats.org/officeDocument/2006/relationships/notesMaster" Target="/ppt/notesMasters/notesMaster1.xml" Id="R5a95788c456e4f6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7784a53d3d9442b" /><Relationship Type="http://schemas.openxmlformats.org/officeDocument/2006/relationships/notesMaster" Target="/ppt/notesMasters/notesMaster1.xml" Id="Rca34e7b4aaa749d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c4d1214a164524" /><Relationship Type="http://schemas.openxmlformats.org/officeDocument/2006/relationships/notesMaster" Target="/ppt/notesMasters/notesMaster1.xml" Id="R5a71b212959f4f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54bf40c3fe9447c" /><Relationship Type="http://schemas.openxmlformats.org/officeDocument/2006/relationships/notesMaster" Target="/ppt/notesMasters/notesMaster1.xml" Id="Rd7040ae7b6f447b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401e5880a7f4ae3" /><Relationship Type="http://schemas.openxmlformats.org/officeDocument/2006/relationships/notesMaster" Target="/ppt/notesMasters/notesMaster1.xml" Id="R50cca8dfa47c465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b824935aef4a1e" /><Relationship Type="http://schemas.openxmlformats.org/officeDocument/2006/relationships/notesMaster" Target="/ppt/notesMasters/notesMaster1.xml" Id="R9f7b46d3d77a4f4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e82a3f463ea4970" /><Relationship Type="http://schemas.openxmlformats.org/officeDocument/2006/relationships/notesMaster" Target="/ppt/notesMasters/notesMaster1.xml" Id="R58df6403b31849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3907d8b87f740f8" /><Relationship Type="http://schemas.openxmlformats.org/officeDocument/2006/relationships/notesMaster" Target="/ppt/notesMasters/notesMaster1.xml" Id="R3378252d070c491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17a02b231904982" /><Relationship Type="http://schemas.openxmlformats.org/officeDocument/2006/relationships/notesMaster" Target="/ppt/notesMasters/notesMaster1.xml" Id="R6ead9b6714c84c9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0f6be5633ce4b98" /><Relationship Type="http://schemas.openxmlformats.org/officeDocument/2006/relationships/notesMaster" Target="/ppt/notesMasters/notesMaster1.xml" Id="Rea2cb163b20845d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4ac273fbdc4441d" /><Relationship Type="http://schemas.openxmlformats.org/officeDocument/2006/relationships/notesMaster" Target="/ppt/notesMasters/notesMaster1.xml" Id="R568b81a6e09f44d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b018bc061d6427e" /><Relationship Type="http://schemas.openxmlformats.org/officeDocument/2006/relationships/notesMaster" Target="/ppt/notesMasters/notesMaster1.xml" Id="R439a25bee5a2428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3c91159e93f4a64" /><Relationship Type="http://schemas.openxmlformats.org/officeDocument/2006/relationships/notesMaster" Target="/ppt/notesMasters/notesMaster1.xml" Id="Rdd2bea4ecc2242e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f84d6a2ccff48b7" /><Relationship Type="http://schemas.openxmlformats.org/officeDocument/2006/relationships/notesMaster" Target="/ppt/notesMasters/notesMaster1.xml" Id="Rb36b871e5781470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a970875e42347f9" /><Relationship Type="http://schemas.openxmlformats.org/officeDocument/2006/relationships/notesMaster" Target="/ppt/notesMasters/notesMaster1.xml" Id="Ra0e80c0eb1c34d3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db0f47addce4fa7" /><Relationship Type="http://schemas.openxmlformats.org/officeDocument/2006/relationships/notesMaster" Target="/ppt/notesMasters/notesMaster1.xml" Id="Reb9fdae248074b7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1aaf34ca844462d" /><Relationship Type="http://schemas.openxmlformats.org/officeDocument/2006/relationships/notesMaster" Target="/ppt/notesMasters/notesMaster1.xml" Id="Rcb6234aad572432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0cb00df81b04ce5" /><Relationship Type="http://schemas.openxmlformats.org/officeDocument/2006/relationships/notesMaster" Target="/ppt/notesMasters/notesMaster1.xml" Id="R0c3ebd83f274457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8e229a75798448f" /><Relationship Type="http://schemas.openxmlformats.org/officeDocument/2006/relationships/notesMaster" Target="/ppt/notesMasters/notesMaster1.xml" Id="R77c9cb4fa8d14b6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f703ac3f93344ef" /><Relationship Type="http://schemas.openxmlformats.org/officeDocument/2006/relationships/notesMaster" Target="/ppt/notesMasters/notesMaster1.xml" Id="Rb50df7dea2c1427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0f40cedf1f846ee" /><Relationship Type="http://schemas.openxmlformats.org/officeDocument/2006/relationships/notesMaster" Target="/ppt/notesMasters/notesMaster1.xml" Id="Rf3c7226138f84ee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83ef50930024adb" /><Relationship Type="http://schemas.openxmlformats.org/officeDocument/2006/relationships/notesMaster" Target="/ppt/notesMasters/notesMaster1.xml" Id="R96b46020ded8464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06270ba970e4cb3" /><Relationship Type="http://schemas.openxmlformats.org/officeDocument/2006/relationships/notesMaster" Target="/ppt/notesMasters/notesMaster1.xml" Id="Rf50723ed3ba2424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3e8455408c74fb5" /><Relationship Type="http://schemas.openxmlformats.org/officeDocument/2006/relationships/notesMaster" Target="/ppt/notesMasters/notesMaster1.xml" Id="R62092e8e8732448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052cf2b009e4b6c" /><Relationship Type="http://schemas.openxmlformats.org/officeDocument/2006/relationships/notesMaster" Target="/ppt/notesMasters/notesMaster1.xml" Id="Rc52288a5564d47c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d3e8fea1500413e" /><Relationship Type="http://schemas.openxmlformats.org/officeDocument/2006/relationships/notesMaster" Target="/ppt/notesMasters/notesMaster1.xml" Id="Ra63c4d0eda5245a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b9e33792d5a4303" /><Relationship Type="http://schemas.openxmlformats.org/officeDocument/2006/relationships/notesMaster" Target="/ppt/notesMasters/notesMaster1.xml" Id="R60b8c7e841e040f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4894c98d76e4087" /><Relationship Type="http://schemas.openxmlformats.org/officeDocument/2006/relationships/notesMaster" Target="/ppt/notesMasters/notesMaster1.xml" Id="Rff7049d4547a462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653de10ea4a495a" /><Relationship Type="http://schemas.openxmlformats.org/officeDocument/2006/relationships/notesMaster" Target="/ppt/notesMasters/notesMaster1.xml" Id="R8bd9158031f5436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d52fadb913b4905" /><Relationship Type="http://schemas.openxmlformats.org/officeDocument/2006/relationships/notesMaster" Target="/ppt/notesMasters/notesMaster1.xml" Id="R4c0a33edc0cd471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aecf845aa974218" /><Relationship Type="http://schemas.openxmlformats.org/officeDocument/2006/relationships/notesMaster" Target="/ppt/notesMasters/notesMaster1.xml" Id="R479b569b3d874aa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55ac6b038da4fe0" /><Relationship Type="http://schemas.openxmlformats.org/officeDocument/2006/relationships/notesMaster" Target="/ppt/notesMasters/notesMaster1.xml" Id="R044f80da8d624e8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d12b140694f4a16" /><Relationship Type="http://schemas.openxmlformats.org/officeDocument/2006/relationships/notesMaster" Target="/ppt/notesMasters/notesMaster1.xml" Id="Rb195452b3c0a450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4078295028b4d0f" /><Relationship Type="http://schemas.openxmlformats.org/officeDocument/2006/relationships/notesMaster" Target="/ppt/notesMasters/notesMaster1.xml" Id="R6b9480dae5e940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Honest validation and leakage</a:t>
            </a:r>
          </a:p>
          <a:p xmlns:a="http://schemas.openxmlformats.org/drawingml/2006/main">
            <a:r>
              <a:t>Explanation to give</a:t>
            </a:r>
          </a:p>
          <a:p xmlns:a="http://schemas.openxmlformats.org/drawingml/2006/main">
            <a:r>
              <a:t>Connect evaluation to intended use. Decide how to hold out observations before fitting either preprocessing or the linear_model.</a:t>
            </a:r>
          </a:p>
          <a:p xmlns:a="http://schemas.openxmlformats.org/drawingml/2006/main">
            <a:r>
              <a:t/>
            </a:r>
          </a:p>
          <a:p xmlns:a="http://schemas.openxmlformats.org/drawingml/2006/main">
            <a:r>
              <a:t>Worked illustration / lecturer answer</a:t>
            </a:r>
          </a:p>
          <a:p xmlns:a="http://schemas.openxmlformats.org/drawingml/2006/main">
            <a:r>
              <a:t>When testing new equipment, all observations from equipment A stay in one partition. Training must not learn its missing-value replacements from held-out equipment.</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Civil Engineering and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practice precedes the assessment brief. Give the class one consistent data-handling approach: pandas for tables, scikit-learn for models, matplotlib for figures.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Uploading a notebook does not upload its modelling_data. Check the exact filename and column headings. Each cohort has its own data, so numerical results can differ.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short names</a:t>
            </a:r>
          </a:p>
          <a:p xmlns:a="http://schemas.openxmlformats.org/drawingml/2006/main">
            <a:r>
              <a:t>import pandas as pd loads pandas and gives it the short name pd. pd.read_csv refers to a function in that library.</a:t>
            </a:r>
          </a:p>
          <a:p xmlns:a="http://schemas.openxmlformats.org/drawingml/2006/main">
            <a:r>
              <a:t/>
            </a:r>
          </a:p>
          <a:p xmlns:a="http://schemas.openxmlformats.org/drawingml/2006/main">
            <a:r>
              <a:t>Reading a CSV</a:t>
            </a:r>
          </a:p>
          <a:p xmlns:a="http://schemas.openxmlformats.org/drawingml/2006/main">
            <a:r>
              <a:t>pd.read_csv("practice_filename.csv") reads the named file into a DataFrame: a table with labelled columns and row labels. The file must exist in the working folder.</a:t>
            </a:r>
          </a:p>
          <a:p xmlns:a="http://schemas.openxmlformats.org/drawingml/2006/main">
            <a:r>
              <a:t/>
            </a:r>
          </a:p>
          <a:p xmlns:a="http://schemas.openxmlformats.org/drawingml/2006/main">
            <a:r>
              <a:t>Counting dimensions</a:t>
            </a:r>
          </a:p>
          <a:p xmlns:a="http://schemas.openxmlformats.org/drawingml/2006/main">
            <a:r>
              <a:t>equipment_data.shape gives (number of rows, number of columns). shape is a property, so it has no parentheses.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Column data types</a:t>
            </a:r>
          </a:p>
          <a:p xmlns:a="http://schemas.openxmlformats.org/drawingml/2006/main">
            <a:r>
              <a:t>equipment_data.dtypes reports each column’s stored type. int64 means integers, float64 means decimal numbers, and object often contains text. Numeric blanks commonly appear as NaN.</a:t>
            </a:r>
          </a:p>
          <a:p xmlns:a="http://schemas.openxmlformats.org/drawingml/2006/main">
            <a:r>
              <a:t/>
            </a:r>
          </a:p>
          <a:p xmlns:a="http://schemas.openxmlformats.org/drawingml/2006/main">
            <a:r>
              <a:t>A preview of rows</a:t>
            </a:r>
          </a:p>
          <a:p xmlns:a="http://schemas.openxmlformats.org/drawingml/2006/main">
            <a:r>
              <a:t>equipment_data.head() returns the first five rows. It leaves the table unchanged. A preview is not the entire dataset.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raw_data = pd.read_csv('engineering_data.csv')</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print(raw_data.shape)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print(raw_data.dtypes)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record_id equipment_id  load_pct  ambient_c  target</a:t>
            </a:r>
          </a:p>
          <a:p xmlns:a="http://schemas.openxmlformats.org/drawingml/2006/main">
            <a:r>
              <a:t>0          1           E1     59.15      31.71  52.547</a:t>
            </a:r>
          </a:p>
          <a:p xmlns:a="http://schemas.openxmlformats.org/drawingml/2006/main">
            <a:r>
              <a:t>1          2           E2     77.46      29.97  58.691</a:t>
            </a:r>
          </a:p>
          <a:p xmlns:a="http://schemas.openxmlformats.org/drawingml/2006/main">
            <a:r>
              <a:t>2          3           E3     69.60      19.87  47.895</a:t>
            </a:r>
          </a:p>
          <a:p xmlns:a="http://schemas.openxmlformats.org/drawingml/2006/main">
            <a:r>
              <a:t>3          4           E4     75.98      22.29     NaN</a:t>
            </a:r>
          </a:p>
          <a:p xmlns:a="http://schemas.openxmlformats.org/drawingml/2006/main">
            <a:r>
              <a:t>4          5           E5     57.62      23.40  45.609</a:t>
            </a:r>
          </a:p>
          <a:p xmlns:a="http://schemas.openxmlformats.org/drawingml/2006/main">
            <a:r>
              <a:t>(91, 5)</a:t>
            </a:r>
          </a:p>
          <a:p xmlns:a="http://schemas.openxmlformats.org/drawingml/2006/main">
            <a:r>
              <a:t>record_id         int64</a:t>
            </a:r>
          </a:p>
          <a:p xmlns:a="http://schemas.openxmlformats.org/drawingml/2006/main">
            <a:r>
              <a:t>equipment_id     object</a:t>
            </a:r>
          </a:p>
          <a:p xmlns:a="http://schemas.openxmlformats.org/drawingml/2006/main">
            <a:r>
              <a:t>load_pct        float64</a:t>
            </a:r>
          </a:p>
          <a:p xmlns:a="http://schemas.openxmlformats.org/drawingml/2006/main">
            <a:r>
              <a:t>ambient_c       float64</a:t>
            </a:r>
          </a:p>
          <a:p xmlns:a="http://schemas.openxmlformats.org/drawingml/2006/main">
            <a:r>
              <a:t>target          float64</a:t>
            </a:r>
          </a:p>
          <a:p xmlns:a="http://schemas.openxmlformats.org/drawingml/2006/main">
            <a:r>
              <a:t>dtype: object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sets have different jobs</a:t>
            </a:r>
          </a:p>
          <a:p xmlns:a="http://schemas.openxmlformats.org/drawingml/2006/main">
            <a:r>
              <a:t>Explanation to give</a:t>
            </a:r>
          </a:p>
          <a:p xmlns:a="http://schemas.openxmlformats.org/drawingml/2006/main">
            <a:r>
              <a:t>Training observations teach the linear_model. Validation observations help choose among models and settings. The final test is reserved for evaluating the chosen method after those choices are fixed.</a:t>
            </a:r>
          </a:p>
          <a:p xmlns:a="http://schemas.openxmlformats.org/drawingml/2006/main">
            <a:r>
              <a:t/>
            </a:r>
          </a:p>
          <a:p xmlns:a="http://schemas.openxmlformats.org/drawingml/2006/main">
            <a:r>
              <a:t>Worked illustration / lecturer answer</a:t>
            </a:r>
          </a:p>
          <a:p xmlns:a="http://schemas.openxmlformats.org/drawingml/2006/main">
            <a:r>
              <a:t>Compare two models using the same validation observations, choose a method, then evaluate it once on the held-out test_data. Imagine the test as a sealed examination paper.</a:t>
            </a:r>
          </a:p>
          <a:p xmlns:a="http://schemas.openxmlformats.org/drawingml/2006/main">
            <a:r>
              <a:t/>
            </a:r>
          </a:p>
          <a:p xmlns:a="http://schemas.openxmlformats.org/drawingml/2006/main">
            <a:r>
              <a:t>Misconception to address</a:t>
            </a:r>
          </a:p>
          <a:p xmlns:a="http://schemas.openxmlformats.org/drawingml/2006/main">
            <a:r>
              <a:t>Repeatedly checking the test while selecting features or settings makes it part of the selection process, so it no longer gives an independent final check.</a:t>
            </a:r>
          </a:p>
          <a:p xmlns:a="http://schemas.openxmlformats.org/drawingml/2006/main">
            <a:r>
              <a:t/>
            </a:r>
          </a:p>
          <a:p xmlns:a="http://schemas.openxmlformats.org/drawingml/2006/main">
            <a:r>
              <a:t>On this slide</a:t>
            </a:r>
          </a:p>
          <a:p xmlns:a="http://schemas.openxmlformats.org/drawingml/2006/main">
            <a:r>
              <a:t>Which set must stay sealed until choices are 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issued data rules. Filtering observed targets is different from estimating missing targets. Deduplicate before filtering, so an invalid first occurrence is not replaced by its later duplicate.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chained operations</a:t>
            </a:r>
          </a:p>
          <a:p xmlns:a="http://schemas.openxmlformats.org/drawingml/2006/main">
            <a:r>
              <a:t>Read a chain from left to right. In equipment_data["target"].mean(), select the target Series first, then calculate its mean. Each step uses the previous step’s result.</a:t>
            </a:r>
          </a:p>
          <a:p xmlns:a="http://schemas.openxmlformats.org/drawingml/2006/main">
            <a:r>
              <a:t/>
            </a:r>
          </a:p>
          <a:p xmlns:a="http://schemas.openxmlformats.org/drawingml/2006/main">
            <a:r>
              <a:t>A separate working table</a:t>
            </a:r>
          </a:p>
          <a:p xmlns:a="http://schemas.openxmlformats.org/drawingml/2006/main">
            <a:r>
              <a:t>equipment_data.copy() creates a working copy. Assigning columns on this copy preserves the source table, so you can compare before and after.</a:t>
            </a:r>
          </a:p>
          <a:p xmlns:a="http://schemas.openxmlformats.org/drawingml/2006/main">
            <a:r>
              <a:t/>
            </a:r>
          </a:p>
          <a:p xmlns:a="http://schemas.openxmlformats.org/drawingml/2006/main">
            <a:r>
              <a:t>Finding recorded cells</a:t>
            </a:r>
          </a:p>
          <a:p xmlns:a="http://schemas.openxmlformats.org/drawingml/2006/main">
            <a:r>
              <a:t>notna() returns True where a value is present. Use it to retain observations with a recorded target before modelling.</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inclusive range</a:t>
            </a:r>
          </a:p>
          <a:p xmlns:a="http://schemas.openxmlformats.org/drawingml/2006/main">
            <a:r>
              <a:t>series.between(0, 100) is True for values from 0 through 100, including both limits. The resulting mask helps select valid rows.</a:t>
            </a:r>
          </a:p>
          <a:p xmlns:a="http://schemas.openxmlformats.org/drawingml/2006/main">
            <a:r>
              <a:t/>
            </a:r>
          </a:p>
          <a:p xmlns:a="http://schemas.openxmlformats.org/drawingml/2006/main">
            <a:r>
              <a:t>Selecting columns</a:t>
            </a:r>
          </a:p>
          <a:p xmlns:a="http://schemas.openxmlformats.org/drawingml/2006/main">
            <a:r>
              <a:t>equipment_data["column"] returns one labelled column, a Series. equipment_data[["a", "b"]] returns a DataFrame containing those named columns in that order.</a:t>
            </a:r>
          </a:p>
          <a:p xmlns:a="http://schemas.openxmlformats.org/drawingml/2006/main">
            <a:r>
              <a:t/>
            </a:r>
          </a:p>
          <a:p xmlns:a="http://schemas.openxmlformats.org/drawingml/2006/main">
            <a:r>
              <a:t>Selecting rows with a mask</a:t>
            </a:r>
          </a:p>
          <a:p xmlns:a="http://schemas.openxmlformats.org/drawingml/2006/main">
            <a:r>
              <a:t>A column comparison produces one True or False per row. equipment_data[mask] keeps the True rows. &amp; combines masks: both conditions must hold. Parenthesise each comparison.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Keeping the first observation</a:t>
            </a:r>
          </a:p>
          <a:p xmlns:a="http://schemas.openxmlformats.org/drawingml/2006/main">
            <a:r>
              <a:t>equipment_data.drop_duplicates("record_id") returns rows with the first occurrence of each ID, preserving their order. It does not overwrite the source unless you assign the result.</a:t>
            </a:r>
          </a:p>
          <a:p xmlns:a="http://schemas.openxmlformats.org/drawingml/2006/main">
            <a:r>
              <a:t/>
            </a:r>
          </a:p>
          <a:p xmlns:a="http://schemas.openxmlformats.org/drawingml/2006/main">
            <a:r>
              <a:t>Membership in a group list</a:t>
            </a:r>
          </a:p>
          <a:p xmlns:a="http://schemas.openxmlformats.org/drawingml/2006/main">
            <a:r>
              <a:t>series.isin(["E1", "E2"]) returns True for entries matching either listed label. equipment_data[that_mask] keeps all observations belonging to those groups.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modelling_data = raw_data.drop_duplicates('record_id').copy()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target_is_recorded = modelling_data['target'].notna()</a:t>
            </a:r>
          </a:p>
          <a:p xmlns:a="http://schemas.openxmlformats.org/drawingml/2006/main">
            <a:r>
              <a:t>target_is_recorded stores the result of the displayed expression.</a:t>
            </a:r>
          </a:p>
          <a:p xmlns:a="http://schemas.openxmlformats.org/drawingml/2006/main">
            <a:r>
              <a:t/>
            </a:r>
          </a:p>
          <a:p xmlns:a="http://schemas.openxmlformats.org/drawingml/2006/main">
            <a:r>
              <a:t>load_is_valid = modelling_data['load_pct'].between(0, 100)</a:t>
            </a:r>
          </a:p>
          <a:p xmlns:a="http://schemas.openxmlformats.org/drawingml/2006/main">
            <a:r>
              <a:t>load_is_valid stores the result of the displayed expression.</a:t>
            </a:r>
          </a:p>
          <a:p xmlns:a="http://schemas.openxmlformats.org/drawingml/2006/main">
            <a:r>
              <a:t/>
            </a:r>
          </a:p>
          <a:p xmlns:a="http://schemas.openxmlformats.org/drawingml/2006/main">
            <a:r>
              <a:t>rows_to_keep = target_is_recorded &amp; load_is_valid</a:t>
            </a:r>
          </a:p>
          <a:p xmlns:a="http://schemas.openxmlformats.org/drawingml/2006/main">
            <a:r>
              <a:t>rows_to_keep stores the result of the displayed expression.</a:t>
            </a:r>
          </a:p>
          <a:p xmlns:a="http://schemas.openxmlformats.org/drawingml/2006/main">
            <a:r>
              <a:t/>
            </a:r>
          </a:p>
          <a:p xmlns:a="http://schemas.openxmlformats.org/drawingml/2006/main">
            <a:r>
              <a:t>print(target_is_recorded.head())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print(load_is_valid.head())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modelling_data = modelling_data[rows_to_keep].copy()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print(len(raw_data), len(modelling_data))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False</a:t>
            </a:r>
          </a:p>
          <a:p xmlns:a="http://schemas.openxmlformats.org/drawingml/2006/main">
            <a:r>
              <a:t>4     True</a:t>
            </a:r>
          </a:p>
          <a:p xmlns:a="http://schemas.openxmlformats.org/drawingml/2006/main">
            <a:r>
              <a:t>Name: target, dtype: bool</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True</a:t>
            </a:r>
          </a:p>
          <a:p xmlns:a="http://schemas.openxmlformats.org/drawingml/2006/main">
            <a:r>
              <a:t>4    True</a:t>
            </a:r>
          </a:p>
          <a:p xmlns:a="http://schemas.openxmlformats.org/drawingml/2006/main">
            <a:r>
              <a:t>Name: load_pct, dtype: bool</a:t>
            </a:r>
          </a:p>
          <a:p xmlns:a="http://schemas.openxmlformats.org/drawingml/2006/main">
            <a:r>
              <a:t>91 88</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is_training_equipment = modelling_data['equipment_id'].isin(['E1', 'E2', 'E3', 'E4'])</a:t>
            </a:r>
          </a:p>
          <a:p xmlns:a="http://schemas.openxmlformats.org/drawingml/2006/main">
            <a:r>
              <a:t>is_training_equipment stores the result of the displayed expression.</a:t>
            </a:r>
          </a:p>
          <a:p xmlns:a="http://schemas.openxmlformats.org/drawingml/2006/main">
            <a:r>
              <a:t/>
            </a:r>
          </a:p>
          <a:p xmlns:a="http://schemas.openxmlformats.org/drawingml/2006/main">
            <a:r>
              <a:t>is_validation_equipment = modelling_data['equipment_id'].isin(['E5'])</a:t>
            </a:r>
          </a:p>
          <a:p xmlns:a="http://schemas.openxmlformats.org/drawingml/2006/main">
            <a:r>
              <a:t>is_validation_equipment stores the result of the displayed expression.</a:t>
            </a:r>
          </a:p>
          <a:p xmlns:a="http://schemas.openxmlformats.org/drawingml/2006/main">
            <a:r>
              <a:t/>
            </a:r>
          </a:p>
          <a:p xmlns:a="http://schemas.openxmlformats.org/drawingml/2006/main">
            <a:r>
              <a:t>is_test_equipment = modelling_data['equipment_id'].isin(['E6'])</a:t>
            </a:r>
          </a:p>
          <a:p xmlns:a="http://schemas.openxmlformats.org/drawingml/2006/main">
            <a:r>
              <a:t>is_test_equipment stores the result of the displayed expression.</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training_data = modelling_data[is_training_equipment].copy()</a:t>
            </a:r>
          </a:p>
          <a:p xmlns:a="http://schemas.openxmlformats.org/drawingml/2006/main">
            <a:r>
              <a:t>training_data stores rows used to learn model settings; only these rows may determine imputation values.</a:t>
            </a:r>
          </a:p>
          <a:p xmlns:a="http://schemas.openxmlformats.org/drawingml/2006/main">
            <a:r>
              <a:t/>
            </a:r>
          </a:p>
          <a:p xmlns:a="http://schemas.openxmlformats.org/drawingml/2006/main">
            <a:r>
              <a:t>validation_data = modelling_data[is_validation_equipment].copy()</a:t>
            </a:r>
          </a:p>
          <a:p xmlns:a="http://schemas.openxmlformats.org/drawingml/2006/main">
            <a:r>
              <a:t>validation_data stores separate rows used to compare models without fitting on them.</a:t>
            </a:r>
          </a:p>
          <a:p xmlns:a="http://schemas.openxmlformats.org/drawingml/2006/main">
            <a:r>
              <a:t/>
            </a:r>
          </a:p>
          <a:p xmlns:a="http://schemas.openxmlformats.org/drawingml/2006/main">
            <a:r>
              <a:t>test_data = modelling_data[is_test_equipment].copy()</a:t>
            </a:r>
          </a:p>
          <a:p xmlns:a="http://schemas.openxmlformats.org/drawingml/2006/main">
            <a:r>
              <a:t>test_data stores held-out rows kept aside until the final evaluation.</a:t>
            </a:r>
          </a:p>
          <a:p xmlns:a="http://schemas.openxmlformats.org/drawingml/2006/main">
            <a:r>
              <a:t/>
            </a:r>
          </a:p>
          <a:p xmlns:a="http://schemas.openxmlformats.org/drawingml/2006/main">
            <a:r>
              <a:t>feature_columns = ['load_pct', 'ambient_c']</a:t>
            </a:r>
          </a:p>
          <a:p xmlns:a="http://schemas.openxmlformats.org/drawingml/2006/main">
            <a:r>
              <a:t>feature_columns stores the list of input column names supplied to the model.</a:t>
            </a:r>
          </a:p>
          <a:p xmlns:a="http://schemas.openxmlformats.org/drawingml/2006/main">
            <a:r>
              <a:t/>
            </a:r>
          </a:p>
          <a:p xmlns:a="http://schemas.openxmlformats.org/drawingml/2006/main">
            <a:r>
              <a:t>print(len(training_data), len(validation_data), len(test_data))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58 15 15</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preprocessing without target labels can leak information about evaluation distributions.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Middle recorded value</a:t>
            </a:r>
          </a:p>
          <a:p xmlns:a="http://schemas.openxmlformats.org/drawingml/2006/main">
            <a:r>
              <a:t>series.median() sorts known values conceptually and returns the middle one. With an even count, it averages the two middle values. Missing entries do not enter the calculation.</a:t>
            </a:r>
          </a:p>
          <a:p xmlns:a="http://schemas.openxmlformats.org/drawingml/2006/main">
            <a:r>
              <a:t/>
            </a:r>
          </a:p>
          <a:p xmlns:a="http://schemas.openxmlformats.org/drawingml/2006/main">
            <a:r>
              <a:t>Replacing missing entries</a:t>
            </a:r>
          </a:p>
          <a:p xmlns:a="http://schemas.openxmlformats.org/drawingml/2006/main">
            <a:r>
              <a:t>series.fillna(value) returns a column whose missing entries contain value. Recorded values stay unchanged. Assign the returned column to retain the fill.</a:t>
            </a:r>
          </a:p>
          <a:p xmlns:a="http://schemas.openxmlformats.org/drawingml/2006/main">
            <a:r>
              <a:t/>
            </a:r>
          </a:p>
          <a:p xmlns:a="http://schemas.openxmlformats.org/drawingml/2006/main">
            <a:r>
              <a:t>Rounded display</a:t>
            </a:r>
          </a:p>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values and counting True</a:t>
            </a:r>
          </a:p>
          <a:p xmlns:a="http://schemas.openxmlformats.org/drawingml/2006/main">
            <a:r>
              <a:t>series.sum() adds its values. For a Boolean mask, True counts as 1 and False as 0. equipment_data.isna().sum() therefore counts missing cells separately for each column.</a:t>
            </a:r>
          </a:p>
          <a:p xmlns:a="http://schemas.openxmlformats.org/drawingml/2006/main">
            <a:r>
              <a:t/>
            </a:r>
          </a:p>
          <a:p xmlns:a="http://schemas.openxmlformats.org/drawingml/2006/main">
            <a:r>
              <a:t>Finding missing cells</a:t>
            </a:r>
          </a:p>
          <a:p xmlns:a="http://schemas.openxmlformats.org/drawingml/2006/main">
            <a:r>
              <a:t>isna() returns True for missing entries such as NaN and None. It returns False for a recorded zero. A DataFrame gives a mask for every cell; a Series gives one mask value per row.</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values and counting True: series.sum() adds its values. For a Boolean mask, True counts as 1 and False as 0. equipment_data.isna().sum() therefore counts missing cells separately for each column.</a:t>
            </a:r>
          </a:p>
          <a:p xmlns:a="http://schemas.openxmlformats.org/drawingml/2006/main">
            <a:r>
              <a:t/>
            </a:r>
          </a:p>
          <a:p xmlns:a="http://schemas.openxmlformats.org/drawingml/2006/main">
            <a:r>
              <a:t>Finding missing cells: isna() returns True for missing entries such as NaN and None. It returns False for a recorded zero. A DataFrame gives a mask for every cell; a Series gives one mask value per row.</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training_ambient_median = training_data['ambient_c'].median()</a:t>
            </a:r>
          </a:p>
          <a:p xmlns:a="http://schemas.openxmlformats.org/drawingml/2006/main">
            <a:r>
              <a:t>training_ambient_median stores median ambient temperature calculated only from training rows.</a:t>
            </a:r>
          </a:p>
          <a:p xmlns:a="http://schemas.openxmlformats.org/drawingml/2006/main">
            <a:r>
              <a:t/>
            </a:r>
          </a:p>
          <a:p xmlns:a="http://schemas.openxmlformats.org/drawingml/2006/main">
            <a:r>
              <a:t>filled_validation_ambient = validation_data['ambient_c'].fillna(training_ambient_median)</a:t>
            </a:r>
          </a:p>
          <a:p xmlns:a="http://schemas.openxmlformats.org/drawingml/2006/main">
            <a:r>
              <a:t>filled_validation_ambient stores validation ambient column with gaps filled using the training median.</a:t>
            </a:r>
          </a:p>
          <a:p xmlns:a="http://schemas.openxmlformats.org/drawingml/2006/main">
            <a:r>
              <a:t/>
            </a:r>
          </a:p>
          <a:p xmlns:a="http://schemas.openxmlformats.org/drawingml/2006/main">
            <a:r>
              <a:t>print(round(float(training_ambient_median), 3))</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print(validation_data['ambient_c'].isna().sum())</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print(filled_validation_ambient.head())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26.07</a:t>
            </a:r>
          </a:p>
          <a:p xmlns:a="http://schemas.openxmlformats.org/drawingml/2006/main">
            <a:r>
              <a:t>0</a:t>
            </a:r>
          </a:p>
          <a:p xmlns:a="http://schemas.openxmlformats.org/drawingml/2006/main">
            <a:r>
              <a:t>4     23.40</a:t>
            </a:r>
          </a:p>
          <a:p xmlns:a="http://schemas.openxmlformats.org/drawingml/2006/main">
            <a:r>
              <a:t>10    33.98</a:t>
            </a:r>
          </a:p>
          <a:p xmlns:a="http://schemas.openxmlformats.org/drawingml/2006/main">
            <a:r>
              <a:t>16    34.28</a:t>
            </a:r>
          </a:p>
          <a:p xmlns:a="http://schemas.openxmlformats.org/drawingml/2006/main">
            <a:r>
              <a:t>22    30.81</a:t>
            </a:r>
          </a:p>
          <a:p xmlns:a="http://schemas.openxmlformats.org/drawingml/2006/main">
            <a:r>
              <a:t>28    21.33</a:t>
            </a:r>
          </a:p>
          <a:p xmlns:a="http://schemas.openxmlformats.org/drawingml/2006/main">
            <a:r>
              <a:t>Name: ambient_c, dtype: float64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object exists before training. X is two-dimensional and y is one-dimensional. Select inputs in the same order during prediction. A validation target must never enter fit.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plain values</a:t>
            </a:r>
          </a:p>
          <a:p xmlns:a="http://schemas.openxmlformats.org/drawingml/2006/main">
            <a:r>
              <a:t>series.tolist() or array.tolist() returns a Python list of values, without pandas row labels. Preserve their order when pairing actual values and validation_predictions.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LinearRegression() creates an unfitted model. It will learn coefficients and an intercept from training examples. Creating it alone does not train it or make predictions.</a:t>
            </a:r>
          </a:p>
          <a:p xmlns:a="http://schemas.openxmlformats.org/drawingml/2006/main">
            <a:r>
              <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
            </a:r>
          </a:p>
          <a:p xmlns:a="http://schemas.openxmlformats.org/drawingml/2006/main">
            <a:r>
              <a:t>values[:5] selects positions 0 through 4, or fewer if the sequence is shorter. The stop position is excluded. This preview does not change the full array stored in the variable.</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common machine-learning conventions. Some tutorials write train_x and train_y instead. The names are chosen by the programmer, not special Python keywords. Keep training_data as the full table; selecting X_train must exclude target. Rows in X and y must stay paired. fit uses training pairs; predict receives only X_valid. Compare predictions with y_valid afterwards.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X_train = training_data[feature_columns]</a:t>
            </a:r>
          </a:p>
          <a:p xmlns:a="http://schemas.openxmlformats.org/drawingml/2006/main">
            <a:r>
              <a:t>X_train stores training input columns, excluding the target.</a:t>
            </a:r>
          </a:p>
          <a:p xmlns:a="http://schemas.openxmlformats.org/drawingml/2006/main">
            <a:r>
              <a:t/>
            </a:r>
          </a:p>
          <a:p xmlns:a="http://schemas.openxmlformats.org/drawingml/2006/main">
            <a:r>
              <a:t>y_train = training_data['target']</a:t>
            </a:r>
          </a:p>
          <a:p xmlns:a="http://schemas.openxmlformats.org/drawingml/2006/main">
            <a:r>
              <a:t>y_train stores observed training targets in matching row order.</a:t>
            </a:r>
          </a:p>
          <a:p xmlns:a="http://schemas.openxmlformats.org/drawingml/2006/main">
            <a:r>
              <a:t/>
            </a:r>
          </a:p>
          <a:p xmlns:a="http://schemas.openxmlformats.org/drawingml/2006/main">
            <a:r>
              <a:t>X_valid = validation_data[feature_columns]</a:t>
            </a:r>
          </a:p>
          <a:p xmlns:a="http://schemas.openxmlformats.org/drawingml/2006/main">
            <a:r>
              <a:t>X_valid stores validation input columns in training-column order.</a:t>
            </a:r>
          </a:p>
          <a:p xmlns:a="http://schemas.openxmlformats.org/drawingml/2006/main">
            <a:r>
              <a:t/>
            </a:r>
          </a:p>
          <a:p xmlns:a="http://schemas.openxmlformats.org/drawingml/2006/main">
            <a:r>
              <a:t>y_valid = validation_data['target']</a:t>
            </a:r>
          </a:p>
          <a:p xmlns:a="http://schemas.openxmlformats.org/drawingml/2006/main">
            <a:r>
              <a:t>y_valid stores observed validation targets, used only for evaluation.</a:t>
            </a:r>
          </a:p>
          <a:p xmlns:a="http://schemas.openxmlformats.org/drawingml/2006/main">
            <a:r>
              <a:t/>
            </a:r>
          </a:p>
          <a:p xmlns:a="http://schemas.openxmlformats.org/drawingml/2006/main">
            <a:r>
              <a:t>from sklearn.impute import SimpleImputer</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sklearn.pipeline import make_pipeline</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sklearn.linear_model import LinearRegression</a:t>
            </a:r>
          </a:p>
          <a:p xmlns:a="http://schemas.openxmlformats.org/drawingml/2006/main">
            <a:r>
              <a:t>Load the named tools. Importing a model class does not train a model.</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linear_model = make_pipeline(SimpleImputer(strategy='median'), LinearRegression())</a:t>
            </a:r>
          </a:p>
          <a:p xmlns:a="http://schemas.openxmlformats.org/drawingml/2006/main">
            <a:r>
              <a:t>linear_model stores the linear regression estimator or imputation-and-regression pipeline.</a:t>
            </a:r>
          </a:p>
          <a:p xmlns:a="http://schemas.openxmlformats.org/drawingml/2006/main">
            <a:r>
              <a:t/>
            </a:r>
          </a:p>
          <a:p xmlns:a="http://schemas.openxmlformats.org/drawingml/2006/main">
            <a:r>
              <a:t>linear_model.fit(X_train,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validation_predictions = linear_model.predict(X_valid)</a:t>
            </a:r>
          </a:p>
          <a:p xmlns:a="http://schemas.openxmlformats.org/drawingml/2006/main">
            <a:r>
              <a:t>validation_predictions stores one predicted target for each validation row, in the same order.</a:t>
            </a:r>
          </a:p>
          <a:p xmlns:a="http://schemas.openxmlformats.org/drawingml/2006/main">
            <a:r>
              <a:t/>
            </a:r>
          </a:p>
          <a:p xmlns:a="http://schemas.openxmlformats.org/drawingml/2006/main">
            <a:r>
              <a:t>print(validation_predictions[:5].round(3).tolist())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[44.91, 38.847, 54.982, 34.035, 39.662]</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fold takes a turn at validation</a:t>
            </a:r>
          </a:p>
          <a:p xmlns:a="http://schemas.openxmlformats.org/drawingml/2006/main">
            <a:r>
              <a:t>Explanation to give</a:t>
            </a:r>
          </a:p>
          <a:p xmlns:a="http://schemas.openxmlformats.org/drawingml/2006/main">
            <a:r>
              <a:t>A parameter is learned during fit. A hyperparameter is chosen as a setting. Cross-validation repeats fitting with different held-out portions of the development data to assess choices more steadily.</a:t>
            </a:r>
          </a:p>
          <a:p xmlns:a="http://schemas.openxmlformats.org/drawingml/2006/main">
            <a:r>
              <a:t/>
            </a:r>
          </a:p>
          <a:p xmlns:a="http://schemas.openxmlformats.org/drawingml/2006/main">
            <a:r>
              <a:t>Worked illustration / lecturer answer</a:t>
            </a:r>
          </a:p>
          <a:p xmlns:a="http://schemas.openxmlformats.org/drawingml/2006/main">
            <a:r>
              <a:t>If validation errors are 2, 3 and 4, the mean is 3. Their spread indicates sensitivity to the held-out portion. A standard deviation describes that spread; it is not automatically a confidence interval.</a:t>
            </a:r>
          </a:p>
          <a:p xmlns:a="http://schemas.openxmlformats.org/drawingml/2006/main">
            <a:r>
              <a:t/>
            </a:r>
          </a:p>
          <a:p xmlns:a="http://schemas.openxmlformats.org/drawingml/2006/main">
            <a:r>
              <a:t>Misconception to address</a:t>
            </a:r>
          </a:p>
          <a:p xmlns:a="http://schemas.openxmlformats.org/drawingml/2006/main">
            <a:r>
              <a:t>Fit preprocessing separately within each training fold. Keep groups or time order intact where required. The final test remains separate from tuning.</a:t>
            </a:r>
          </a:p>
          <a:p xmlns:a="http://schemas.openxmlformats.org/drawingml/2006/main">
            <a:r>
              <a:t/>
            </a:r>
          </a:p>
          <a:p xmlns:a="http://schemas.openxmlformats.org/drawingml/2006/main">
            <a:r>
              <a:t>On this slide</a:t>
            </a:r>
          </a:p>
          <a:p xmlns:a="http://schemas.openxmlformats.org/drawingml/2006/main">
            <a:r>
              <a:t>Illustrated spread: population SD 0.39 MPa, not a confidence interval.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the E1–E4 training partition here. E5 remains the separate validation partition and E6 the final test_data. The imputer is refitted within each training fold.</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labelled column</a:t>
            </a:r>
          </a:p>
          <a:p xmlns:a="http://schemas.openxmlformats.org/drawingml/2006/main">
            <a:r>
              <a:t>pd.Series(values) creates a one-dimensional labelled sequence. With an array of fold errors, the default labels are 0, 1, 2 and so on.</a:t>
            </a:r>
          </a:p>
          <a:p xmlns:a="http://schemas.openxmlformats.org/drawingml/2006/main">
            <a:r>
              <a:t/>
            </a:r>
          </a:p>
          <a:p xmlns:a="http://schemas.openxmlformats.org/drawingml/2006/main">
            <a:r>
              <a:t>Mean of recorded values</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Spread of fold errors</a:t>
            </a:r>
          </a:p>
          <a:p xmlns:a="http://schemas.openxmlformats.org/drawingml/2006/main">
            <a:r>
              <a:t>series.std(ddof=0) measures how far values spread around their mean. ddof=0 divides squared deviations by the number of values. This describes these folds, not a confidence interval.</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GroupKFold(n_splits=4) creates four train/validation splits. All rows of an equipment group stay on one side of each split. Four splits require at least four distinct training groups.</a:t>
            </a:r>
          </a:p>
          <a:p xmlns:a="http://schemas.openxmlformats.org/drawingml/2006/main">
            <a:r>
              <a:t/>
            </a:r>
          </a:p>
          <a:p xmlns:a="http://schemas.openxmlformats.org/drawingml/2006/main">
            <a:r>
              <a:t>cross_val_score fits a fresh model for each split and scores its held-out rows. groups identifies the equipment groups and cv supplies the split rule. neg_mean_absolute_error returns negative MAE; negate it to report positive errors.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folds means four held-out group turns. In each turn, learn a fresh pipeline on the other training groups and score the held-out group. This uses training_data only; validation and test tables stay outside this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folds means four held-out group turns. In each turn, learn a fresh pipeline on the other training groups and score the held-out group. This uses training_data only; validation and test tables stay outside this calculation.</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from sklearn.model_selection import GroupKFold, cross_val_score</a:t>
            </a:r>
          </a:p>
          <a:p xmlns:a="http://schemas.openxmlformats.org/drawingml/2006/main">
            <a:r>
              <a:t>Load the named tools. Importing a model class does not train a model.</a:t>
            </a:r>
          </a:p>
          <a:p xmlns:a="http://schemas.openxmlformats.org/drawingml/2006/main">
            <a:r>
              <a:t/>
            </a:r>
          </a:p>
          <a:p xmlns:a="http://schemas.openxmlformats.org/drawingml/2006/main">
            <a:r>
              <a:t>grouped_folds = GroupKFold(n_splits=4)</a:t>
            </a:r>
          </a:p>
          <a:p xmlns:a="http://schemas.openxmlformats.org/drawingml/2006/main">
            <a:r>
              <a:t>grouped_folds stores the split rule that keeps observations from one equipment group together.</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scikit-learn uses larger scores as better. neg_mean_absolute_error therefore returns negative errors. Negate the returned scores to recover ordinary positive MAE; lower MAE is better.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scikit-learn uses larger scores as better. neg_mean_absolute_error therefore returns negative errors. Negate the returned scores to recover ordinary positive MAE; lower MAE is better.</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negative_error_scores = cross_val_score(linear_model, X_train, y_train, groups=training_data['equipment_id'], cv=grouped_folds, scoring='neg_mean_absolute_error')</a:t>
            </a:r>
          </a:p>
          <a:p xmlns:a="http://schemas.openxmlformats.org/drawingml/2006/main">
            <a:r>
              <a:t>negative_error_scores stores negative mean absolute errors returned by scikit-learn’s scoring convention.</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value is the MAE of one held-out fold. mean gives average error. std(ddof=0) describes spread across these four errors; it is not a confidence interval. A large spread suggests performance depends on the held-out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value is the MAE of one held-out fold. mean gives average error. std(ddof=0) describes spread across these four errors; it is not a confidence interval. A large spread suggests performance depends on the held-out equipment.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fold_absolute_errors = pd.Series(-negative_error_scores)</a:t>
            </a:r>
          </a:p>
          <a:p xmlns:a="http://schemas.openxmlformats.org/drawingml/2006/main">
            <a:r>
              <a:t>fold_absolute_errors stores positive mean absolute error for each validation fold.</a:t>
            </a:r>
          </a:p>
          <a:p xmlns:a="http://schemas.openxmlformats.org/drawingml/2006/main">
            <a:r>
              <a:t/>
            </a:r>
          </a:p>
          <a:p xmlns:a="http://schemas.openxmlformats.org/drawingml/2006/main">
            <a:r>
              <a:t>print(fold_absolute_errors.round(4).tolist())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print(round(float(fold_absolute_errors.mean()),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print(round(float(fold_absolute_errors.std(ddof=0)),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[0.7714, 0.7628, 0.7449, 0.7562]</a:t>
            </a:r>
          </a:p>
          <a:p xmlns:a="http://schemas.openxmlformats.org/drawingml/2006/main">
            <a:r>
              <a:t>0.7588</a:t>
            </a:r>
          </a:p>
          <a:p xmlns:a="http://schemas.openxmlformats.org/drawingml/2006/main">
            <a:r>
              <a:t>0.0097</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original function names and return types. Do not read a fixed CSV inside the assessed function: hidden tests supply different equipment_records. The separate calling cell reads the CSV.</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a dictionary</a:t>
            </a:r>
          </a:p>
          <a:p xmlns:a="http://schemas.openxmlformats.org/drawingml/2006/main">
            <a:r>
              <a:t>series.to_dict() maps Series labels to values. equipment_data.to_dict("records") instead returns a list of row dictionaries. Choose the form required by the assignment.</a:t>
            </a:r>
          </a:p>
          <a:p xmlns:a="http://schemas.openxmlformats.org/drawingml/2006/main">
            <a:r>
              <a:t/>
            </a:r>
          </a:p>
          <a:p xmlns:a="http://schemas.openxmlformats.org/drawingml/2006/main">
            <a:r>
              <a:t>A table from Python values</a:t>
            </a:r>
          </a:p>
          <a:p xmlns:a="http://schemas.openxmlformats.org/drawingml/2006/main">
            <a:r>
              <a:t>pd.DataFrame(records) builds a table from row dictionaries. With a dictionary of column lists, keys become column names and each list supplies that column’s values.</a:t>
            </a:r>
          </a:p>
          <a:p xmlns:a="http://schemas.openxmlformats.org/drawingml/2006/main">
            <a:r>
              <a:t/>
            </a:r>
          </a:p>
          <a:p xmlns:a="http://schemas.openxmlformats.org/drawingml/2006/main">
            <a:r>
              <a:t>Grouping rows</a:t>
            </a:r>
          </a:p>
          <a:p xmlns:a="http://schemas.openxmlformats.org/drawingml/2006/main">
            <a:r>
              <a:t>equipment_data.groupby("label")["value"]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mean_load_by_equipment(equipment_records):</a:t>
            </a:r>
          </a:p>
          <a:p xmlns:a="http://schemas.openxmlformats.org/drawingml/2006/main">
            <a:r>
              <a:t>    equipment_data = pd.DataFrame(equipment_records)</a:t>
            </a:r>
          </a:p>
          <a:p xmlns:a="http://schemas.openxmlformats.org/drawingml/2006/main">
            <a:r>
              <a:t>    mean_load_by_equipment_group = equipment_data.groupby('equipment_id')['load_pct'].mean()</a:t>
            </a:r>
          </a:p>
          <a:p xmlns:a="http://schemas.openxmlformats.org/drawingml/2006/main">
            <a:r>
              <a:t>    return mean_load_by_equipment_group.to_dict()</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equipment_records = raw_data.to_dict('records')</a:t>
            </a:r>
          </a:p>
          <a:p xmlns:a="http://schemas.openxmlformats.org/drawingml/2006/main">
            <a:r>
              <a:t>equipment_records stores the input list of row dictionaries supplied to the function.</a:t>
            </a:r>
          </a:p>
          <a:p xmlns:a="http://schemas.openxmlformats.org/drawingml/2006/main">
            <a:r>
              <a:t/>
            </a:r>
          </a:p>
          <a:p xmlns:a="http://schemas.openxmlformats.org/drawingml/2006/main">
            <a:r>
              <a:t>print(mean_load_by_equipment(equipment_records))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{'E1': 54.9475, 'E2': 61.326, 'E3': 53.46933333333333, 'E4': 66.854, 'E5': 48.10133333333333, 'E6': 51.54}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task</a:t>
            </a:r>
          </a:p>
          <a:p xmlns:a="http://schemas.openxmlformats.org/drawingml/2006/main">
            <a:r>
              <a:t>Explanation to give</a:t>
            </a:r>
          </a:p>
          <a:p xmlns:a="http://schemas.openxmlformats.org/drawingml/2006/main">
            <a:r>
              <a:t>Name this cohort’s target and its unit exactly as displayed. Each row is one operating observation, while equipment_id can repeat across several observations.</a:t>
            </a:r>
          </a:p>
          <a:p xmlns:a="http://schemas.openxmlformats.org/drawingml/2006/main">
            <a:r>
              <a:t/>
            </a:r>
          </a:p>
          <a:p xmlns:a="http://schemas.openxmlformats.org/drawingml/2006/main">
            <a:r>
              <a:t>Worked illustration / lecturer answer</a:t>
            </a:r>
          </a:p>
          <a:p xmlns:a="http://schemas.openxmlformats.org/drawingml/2006/main">
            <a:r>
              <a:t>Explain record_id as the identifier of an observation, load_pct as load expressed in percent and ambient_c as temperature in degrees Celsius. The target records the known answer in training data.</a:t>
            </a:r>
          </a:p>
          <a:p xmlns:a="http://schemas.openxmlformats.org/drawingml/2006/main">
            <a:r>
              <a:t/>
            </a:r>
          </a:p>
          <a:p xmlns:a="http://schemas.openxmlformats.org/drawingml/2006/main">
            <a:r>
              <a:t>Misconception to address</a:t>
            </a:r>
          </a:p>
          <a:p xmlns:a="http://schemas.openxmlformats.org/drawingml/2006/main">
            <a:r>
              <a:t>These are synthetic examples for learning. They do not establish a calibrated physical relationship or justify operation of real equipment.</a:t>
            </a:r>
          </a:p>
          <a:p xmlns:a="http://schemas.openxmlformats.org/drawingml/2006/main">
            <a:r>
              <a:t/>
            </a:r>
          </a:p>
          <a:p xmlns:a="http://schemas.openxmlformats.org/drawingml/2006/main">
            <a:r>
              <a:t>On this slide</a:t>
            </a:r>
          </a:p>
          <a:p xmlns:a="http://schemas.openxmlformats.org/drawingml/2006/main">
            <a:r>
              <a:t>Investigate building cooling load.</a:t>
            </a:r>
          </a:p>
          <a:p xmlns:a="http://schemas.openxmlformats.org/drawingml/2006/main">
            <a:r>
              <a:t/>
            </a:r>
          </a:p>
          <a:p xmlns:a="http://schemas.openxmlformats.org/drawingml/2006/main">
            <a:r>
              <a:t>Target units: kW.</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group_split(records)</a:t>
            </a:r>
          </a:p>
          <a:p xmlns:a="http://schemas.openxmlformats.org/drawingml/2006/main">
            <a:r>
              <a:t/>
            </a:r>
          </a:p>
          <a:p xmlns:a="http://schemas.openxmlformats.org/drawingml/2006/main">
            <a:r>
              <a:t>Assign whole equipment groups: E1–E4 to train, E5 to validation, E6 to test.</a:t>
            </a:r>
          </a:p>
          <a:p xmlns:a="http://schemas.openxmlformats.org/drawingml/2006/main">
            <a:r>
              <a:t/>
            </a:r>
          </a:p>
          <a:p xmlns:a="http://schemas.openxmlformats.org/drawingml/2006/main">
            <a:r>
              <a:t>Return train, validation and test lists of record_id in input order.</a:t>
            </a:r>
          </a:p>
          <a:p xmlns:a="http://schemas.openxmlformats.org/drawingml/2006/main">
            <a:r>
              <a:t/>
            </a:r>
          </a:p>
          <a:p xmlns:a="http://schemas.openxmlformats.org/drawingml/2006/main">
            <a:r>
              <a:t>Do not use target values to choose membership.</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predict_regression(training_records, feature_records)</a:t>
            </a:r>
          </a:p>
          <a:p xmlns:a="http://schemas.openxmlformats.org/drawingml/2006/main">
            <a:r>
              <a:t/>
            </a:r>
          </a:p>
          <a:p xmlns:a="http://schemas.openxmlformats.org/drawingml/2006/main">
            <a:r>
              <a:t>Fit a training-mean baseline, linear regression and a decision tree (max_depth=4, random_state=17) using load_pct and ambient_c only.</a:t>
            </a:r>
          </a:p>
          <a:p xmlns:a="http://schemas.openxmlformats.org/drawingml/2006/main">
            <a:r>
              <a:t/>
            </a:r>
          </a:p>
          <a:p xmlns:a="http://schemas.openxmlformats.org/drawingml/2006/main">
            <a:r>
              <a:t>Return three prediction lists under baseline, linear and tree.</a:t>
            </a:r>
          </a:p>
          <a:p xmlns:a="http://schemas.openxmlformats.org/drawingml/2006/main">
            <a:r>
              <a:t/>
            </a:r>
          </a:p>
          <a:p xmlns:a="http://schemas.openxmlformats.org/drawingml/2006/main">
            <a:r>
              <a:t>Feature records have no target.</a:t>
            </a:r>
          </a:p>
          <a:p xmlns:a="http://schemas.openxmlformats.org/drawingml/2006/main">
            <a:r>
              <a:t/>
            </a:r>
          </a:p>
          <a:p xmlns:a="http://schemas.openxmlformats.org/drawingml/2006/main">
            <a:r>
              <a:t>Fit preprocessing only on training data.</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Written evidence</a:t>
            </a:r>
          </a:p>
          <a:p xmlns:a="http://schemas.openxmlformats.org/drawingml/2006/main">
            <a:r>
              <a:t>Explanation to give</a:t>
            </a:r>
          </a:p>
          <a:p xmlns:a="http://schemas.openxmlformats.org/drawingml/2006/main">
            <a:r>
              <a:t>Show the actual markdown answer cell headed My written evidence. This is where the learner explains the choices and the supplied scenario in their own words.</a:t>
            </a:r>
          </a:p>
          <a:p xmlns:a="http://schemas.openxmlformats.org/drawingml/2006/main">
            <a:r>
              <a:t/>
            </a:r>
          </a:p>
          <a:p xmlns:a="http://schemas.openxmlformats.org/drawingml/2006/main">
            <a:r>
              <a:t>Worked illustration / lecturer answer</a:t>
            </a:r>
          </a:p>
          <a:p xmlns:a="http://schemas.openxmlformats.org/drawingml/2006/main">
            <a:r>
              <a:t>A useful explanation connects a decision to a named result and its limitation: for example, why a training-only median avoids using evaluation information. Describe supplied scenario figures as supplied, not as measurements the learner produced.</a:t>
            </a:r>
          </a:p>
          <a:p xmlns:a="http://schemas.openxmlformats.org/drawingml/2006/main">
            <a:r>
              <a:t/>
            </a:r>
          </a:p>
          <a:p xmlns:a="http://schemas.openxmlformats.org/drawingml/2006/main">
            <a:r>
              <a:t>Misconception to address</a:t>
            </a:r>
          </a:p>
          <a:p xmlns:a="http://schemas.openxmlformats.org/drawingml/2006/main">
            <a:r>
              <a:t>Prompts and copied code comments do not substitute for the learner’s reasoning. Weekly work and tests use the notebook; projects also require their separate readable report.</a:t>
            </a:r>
          </a:p>
          <a:p xmlns:a="http://schemas.openxmlformats.org/drawingml/2006/main">
            <a:r>
              <a:t/>
            </a:r>
          </a:p>
          <a:p xmlns:a="http://schemas.openxmlformats.org/drawingml/2006/main">
            <a:r>
              <a:t>On this slide</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and trust submission</a:t>
            </a:r>
          </a:p>
          <a:p xmlns:a="http://schemas.openxmlformats.org/drawingml/2006/main">
            <a:r>
              <a:t>Explanation to give</a:t>
            </a:r>
          </a:p>
          <a:p xmlns:a="http://schemas.openxmlformats.org/drawingml/2006/main">
            <a:r>
              <a:t>This slide hands over CML3112 W10.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2026-11-17T11:00:00+03:00.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10 Nov 2026, 11:00 Kampala</a:t>
            </a:r>
          </a:p>
          <a:p xmlns:a="http://schemas.openxmlformats.org/drawingml/2006/main">
            <a:r>
              <a:t/>
            </a:r>
          </a:p>
          <a:p xmlns:a="http://schemas.openxmlformats.org/drawingml/2006/main">
            <a:r>
              <a:t>Deadline: 17 Nov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10 quiz</a:t>
            </a:r>
          </a:p>
          <a:p xmlns:a="http://schemas.openxmlformats.org/drawingml/2006/main">
            <a:r>
              <a:t>Explanation to give</a:t>
            </a:r>
          </a:p>
          <a:p xmlns:a="http://schemas.openxmlformats.org/drawingml/2006/main">
            <a:r>
              <a:t>This is the CML3112 Week 1 quiz. The student link opens the response form; it does not activate its window. In Quiz Controls use open_W1_CML3112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Connect evaluation to intended use. Decide how to hold out observations before fitting either preprocessing or the linear_model.</a:t>
            </a:r>
          </a:p>
          <a:p xmlns:a="http://schemas.openxmlformats.org/drawingml/2006/main">
            <a:r>
              <a:t/>
            </a:r>
          </a:p>
          <a:p xmlns:a="http://schemas.openxmlformats.org/drawingml/2006/main">
            <a:r>
              <a:t>Worked illustration / lecturer answer</a:t>
            </a:r>
          </a:p>
          <a:p xmlns:a="http://schemas.openxmlformats.org/drawingml/2006/main">
            <a:r>
              <a:t>When testing new equipment, all observations from equipment A stay in one partition. Training must not learn its missing-value replacements from held-out equipment.</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identify which records may influence preprocessing and model selection.</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revision video</a:t>
            </a:r>
          </a:p>
          <a:p xmlns:a="http://schemas.openxmlformats.org/drawingml/2006/main">
            <a:r>
              <a:t>Explanation to give</a:t>
            </a:r>
          </a:p>
          <a:p xmlns:a="http://schemas.openxmlformats.org/drawingml/2006/main">
            <a:r>
              <a:t>Give the viewing question before playing the excerpt: Why evaluate using observations not used to fit that particular model?</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Machine Learning Fundamentals Cross Validation</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Why evaluate using observations not used to fit that particular model?</a:t>
            </a:r>
          </a:p>
          <a:p xmlns:a="http://schemas.openxmlformats.org/drawingml/2006/main">
            <a:r>
              <a:t/>
            </a:r>
          </a:p>
          <a:p xmlns:a="http://schemas.openxmlformats.org/drawingml/2006/main">
            <a:r>
              <a:t>Reference / existing resource</a:t>
            </a:r>
          </a:p>
          <a:p xmlns:a="http://schemas.openxmlformats.org/drawingml/2006/main">
            <a:r>
              <a:t>https://www.youtube.com/watch?v=fSytzGwwBVw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13c4a61e7e43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5eedd3052c43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897d6a76894e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eab3c568ff4e2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3de96be9ef48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ebcf17da6745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48B1E8-0763-4DAA-86B5-5F6FFA3925D3}"/>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1C0895-5838-4F01-A205-159058AFDF7C}"/>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FF453D-ADF8-4D6E-8ADB-EC0CAED82A8E}"/>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A29CFE-3FB0-432D-8D61-D7AF7361AB0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8983CC-F0F6-48B1-B201-A65232FD81B7}"/>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EADD9A-0E64-4E33-985E-0FE68A9612F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1D28CB-D998-464D-9349-BB13B440B421}"/>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82B627-08AF-4ADE-B506-5242CE6935DE}"/>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CABB22-5EB9-4D50-92B2-81E4E238F5B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F4F5B3-1CC6-4922-9484-C71C30F92F9E}"/>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fcc41b463547c1" /><Relationship Type="http://schemas.openxmlformats.org/officeDocument/2006/relationships/slideLayout" Target="/ppt/slideLayouts/slideLayout1.xml" Id="R10398459e71040c1" /><Relationship Type="http://schemas.openxmlformats.org/officeDocument/2006/relationships/slideLayout" Target="/ppt/slideLayouts/slideLayout2.xml" Id="Rd97297d191d84f88" /><Relationship Type="http://schemas.openxmlformats.org/officeDocument/2006/relationships/slideLayout" Target="/ppt/slideLayouts/slideLayout3.xml" Id="R17caf89555264035" /><Relationship Type="http://schemas.openxmlformats.org/officeDocument/2006/relationships/slideLayout" Target="/ppt/slideLayouts/slideLayout4.xml" Id="R8dc143e02f3b427f" /><Relationship Type="http://schemas.openxmlformats.org/officeDocument/2006/relationships/slideLayout" Target="/ppt/slideLayouts/slideLayout5.xml" Id="R835079b827fd4ab8" /><Relationship Type="http://schemas.openxmlformats.org/officeDocument/2006/relationships/slideLayout" Target="/ppt/slideLayouts/slideLayout6.xml" Id="Rbde900defe0645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398459e71040c1"/>
    <p:sldLayoutId xmlns:r="http://schemas.openxmlformats.org/officeDocument/2006/relationships" id="2147483650" r:id="Rd97297d191d84f88"/>
    <p:sldLayoutId xmlns:r="http://schemas.openxmlformats.org/officeDocument/2006/relationships" id="2147483651" r:id="R17caf89555264035"/>
    <p:sldLayoutId xmlns:r="http://schemas.openxmlformats.org/officeDocument/2006/relationships" id="2147483652" r:id="R8dc143e02f3b427f"/>
    <p:sldLayoutId xmlns:r="http://schemas.openxmlformats.org/officeDocument/2006/relationships" id="2147483653" r:id="R835079b827fd4ab8"/>
    <p:sldLayoutId xmlns:r="http://schemas.openxmlformats.org/officeDocument/2006/relationships" id="2147483654" r:id="Rbde900defe0645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8c0e9e1505438d" /><Relationship Type="http://schemas.openxmlformats.org/officeDocument/2006/relationships/image" Target="/ppt/media/image.png" Id="R7430bb352d144ab6" /><Relationship Type="http://schemas.openxmlformats.org/officeDocument/2006/relationships/notesSlide" Target="/ppt/notesSlides/notesSlide1.xml" Id="Ra87f9164a98542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4ad5e7eba74321" /><Relationship Type="http://schemas.openxmlformats.org/officeDocument/2006/relationships/notesSlide" Target="/ppt/notesSlides/notesSlide2.xml" Id="Rff918828203645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6b481270734ea1" /><Relationship Type="http://schemas.openxmlformats.org/officeDocument/2006/relationships/notesSlide" Target="/ppt/notesSlides/notesSlide3.xml" Id="Rb70409e8c1c14e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25a66521f2426b" /><Relationship Type="http://schemas.openxmlformats.org/officeDocument/2006/relationships/notesSlide" Target="/ppt/notesSlides/notesSlide4.xml" Id="R6342f857e7a441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d7750d5c4274c1c" /><Relationship Type="http://schemas.openxmlformats.org/officeDocument/2006/relationships/notesSlide" Target="/ppt/notesSlides/notesSlide5.xml" Id="R51affc50b5b947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fbe4f9c67a48f8" /><Relationship Type="http://schemas.openxmlformats.org/officeDocument/2006/relationships/notesSlide" Target="/ppt/notesSlides/notesSlide6.xml" Id="R8dd2c27030d645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b79968ab4d457d" /><Relationship Type="http://schemas.openxmlformats.org/officeDocument/2006/relationships/notesSlide" Target="/ppt/notesSlides/notesSlide7.xml" Id="R1cd84ac6e6834a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f7203e240f42fd" /><Relationship Type="http://schemas.openxmlformats.org/officeDocument/2006/relationships/image" Target="/ppt/media/image2.png" Id="Rf1abb84b409d42e2" /><Relationship Type="http://schemas.openxmlformats.org/officeDocument/2006/relationships/notesSlide" Target="/ppt/notesSlides/notesSlide8.xml" Id="R252af78123fc4c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402610ca4141a4" /><Relationship Type="http://schemas.openxmlformats.org/officeDocument/2006/relationships/notesSlide" Target="/ppt/notesSlides/notesSlide9.xml" Id="R3904557bcb994a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3dc21263c14806" /><Relationship Type="http://schemas.openxmlformats.org/officeDocument/2006/relationships/notesSlide" Target="/ppt/notesSlides/notesSlide10.xml" Id="Rf9d55cd265f144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4762ebbd10d4231" /><Relationship Type="http://schemas.openxmlformats.org/officeDocument/2006/relationships/notesSlide" Target="/ppt/notesSlides/notesSlide11.xml" Id="R9af09b12bef040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64f31bd98104784" /><Relationship Type="http://schemas.openxmlformats.org/officeDocument/2006/relationships/notesSlide" Target="/ppt/notesSlides/notesSlide12.xml" Id="Rdf46eeadc27f4f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2e96c3022e54a45" /><Relationship Type="http://schemas.openxmlformats.org/officeDocument/2006/relationships/notesSlide" Target="/ppt/notesSlides/notesSlide13.xml" Id="R72019796cb6d4a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c6603907d8f4970" /><Relationship Type="http://schemas.openxmlformats.org/officeDocument/2006/relationships/notesSlide" Target="/ppt/notesSlides/notesSlide14.xml" Id="R1517cbbfcf294b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915a69699c8401c" /><Relationship Type="http://schemas.openxmlformats.org/officeDocument/2006/relationships/notesSlide" Target="/ppt/notesSlides/notesSlide15.xml" Id="R954a31c80f1b40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120875ee4714b85" /><Relationship Type="http://schemas.openxmlformats.org/officeDocument/2006/relationships/notesSlide" Target="/ppt/notesSlides/notesSlide16.xml" Id="R21a214685e7d43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c202aa261794346" /><Relationship Type="http://schemas.openxmlformats.org/officeDocument/2006/relationships/notesSlide" Target="/ppt/notesSlides/notesSlide17.xml" Id="R0b4865e2718244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1386ff81f7545e1" /><Relationship Type="http://schemas.openxmlformats.org/officeDocument/2006/relationships/notesSlide" Target="/ppt/notesSlides/notesSlide18.xml" Id="Rf2b25b4af02249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d7cacd3d3864635" /><Relationship Type="http://schemas.openxmlformats.org/officeDocument/2006/relationships/notesSlide" Target="/ppt/notesSlides/notesSlide19.xml" Id="Rbd796f34560241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f469298d3c447cc" /><Relationship Type="http://schemas.openxmlformats.org/officeDocument/2006/relationships/notesSlide" Target="/ppt/notesSlides/notesSlide20.xml" Id="Rbc6d0f1ade834a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fce7f0c92de46f4" /><Relationship Type="http://schemas.openxmlformats.org/officeDocument/2006/relationships/notesSlide" Target="/ppt/notesSlides/notesSlide21.xml" Id="Re67a0cd4dd694eb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39592af1f7a4db1" /><Relationship Type="http://schemas.openxmlformats.org/officeDocument/2006/relationships/notesSlide" Target="/ppt/notesSlides/notesSlide22.xml" Id="Rdb9300fa152b4d4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3534b00208f4092" /><Relationship Type="http://schemas.openxmlformats.org/officeDocument/2006/relationships/notesSlide" Target="/ppt/notesSlides/notesSlide23.xml" Id="Rfb3978f0b9e648b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259e87f8a2747a1" /><Relationship Type="http://schemas.openxmlformats.org/officeDocument/2006/relationships/notesSlide" Target="/ppt/notesSlides/notesSlide24.xml" Id="R48a325cdcbc64cf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4c7a834f7024f5f" /><Relationship Type="http://schemas.openxmlformats.org/officeDocument/2006/relationships/notesSlide" Target="/ppt/notesSlides/notesSlide25.xml" Id="R423fe89e02c2476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3875e9f9a4549be" /><Relationship Type="http://schemas.openxmlformats.org/officeDocument/2006/relationships/notesSlide" Target="/ppt/notesSlides/notesSlide26.xml" Id="R943d2d861b67430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777736629ee40fc" /><Relationship Type="http://schemas.openxmlformats.org/officeDocument/2006/relationships/notesSlide" Target="/ppt/notesSlides/notesSlide27.xml" Id="R137fcb0d58ff496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87c2d7d7974695" /><Relationship Type="http://schemas.openxmlformats.org/officeDocument/2006/relationships/notesSlide" Target="/ppt/notesSlides/notesSlide28.xml" Id="R545d2acc607a4f2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510561ba028428d" /><Relationship Type="http://schemas.openxmlformats.org/officeDocument/2006/relationships/notesSlide" Target="/ppt/notesSlides/notesSlide29.xml" Id="Rb96d9e9144bd42a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e9ad56a07594569" /><Relationship Type="http://schemas.openxmlformats.org/officeDocument/2006/relationships/notesSlide" Target="/ppt/notesSlides/notesSlide30.xml" Id="R3a3551b72bfa405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a2ba8b27507425d" /><Relationship Type="http://schemas.openxmlformats.org/officeDocument/2006/relationships/notesSlide" Target="/ppt/notesSlides/notesSlide31.xml" Id="R9f49d88915c541e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2064702c9db44dc" /><Relationship Type="http://schemas.openxmlformats.org/officeDocument/2006/relationships/notesSlide" Target="/ppt/notesSlides/notesSlide32.xml" Id="Rc82c61d00a6846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d93c985959642d3" /><Relationship Type="http://schemas.openxmlformats.org/officeDocument/2006/relationships/image" Target="/ppt/media/image3.png" Id="Re5631e2cca9d4ac5" /><Relationship Type="http://schemas.openxmlformats.org/officeDocument/2006/relationships/notesSlide" Target="/ppt/notesSlides/notesSlide33.xml" Id="R1d81c7157a4e41f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96f4cdf46a34444" /><Relationship Type="http://schemas.openxmlformats.org/officeDocument/2006/relationships/notesSlide" Target="/ppt/notesSlides/notesSlide34.xml" Id="R62de75beed6b4b5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a7836c9195f4a0a" /><Relationship Type="http://schemas.openxmlformats.org/officeDocument/2006/relationships/notesSlide" Target="/ppt/notesSlides/notesSlide35.xml" Id="R3dcd7b04224840e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8dbcd489c8d4485" /><Relationship Type="http://schemas.openxmlformats.org/officeDocument/2006/relationships/notesSlide" Target="/ppt/notesSlides/notesSlide36.xml" Id="R9fd4d12729ab4b3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f9a530615df4430" /><Relationship Type="http://schemas.openxmlformats.org/officeDocument/2006/relationships/notesSlide" Target="/ppt/notesSlides/notesSlide37.xml" Id="R2c661f5d7ed941b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8eb4603d41e4d61" /><Relationship Type="http://schemas.openxmlformats.org/officeDocument/2006/relationships/notesSlide" Target="/ppt/notesSlides/notesSlide38.xml" Id="Rabfa37982fe440e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0680f9839974717" /><Relationship Type="http://schemas.openxmlformats.org/officeDocument/2006/relationships/notesSlide" Target="/ppt/notesSlides/notesSlide39.xml" Id="R556af8411e5845b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bb9c2caedcd496e" /><Relationship Type="http://schemas.openxmlformats.org/officeDocument/2006/relationships/notesSlide" Target="/ppt/notesSlides/notesSlide40.xml" Id="R904f79370f1d452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bc937f70a0646cb" /><Relationship Type="http://schemas.openxmlformats.org/officeDocument/2006/relationships/notesSlide" Target="/ppt/notesSlides/notesSlide41.xml" Id="Ra1843511e6444b3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973c1687ebc48e7" /><Relationship Type="http://schemas.openxmlformats.org/officeDocument/2006/relationships/notesSlide" Target="/ppt/notesSlides/notesSlide42.xml" Id="Rf64b9b432cab4e5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ddbf8853a50419a" /><Relationship Type="http://schemas.openxmlformats.org/officeDocument/2006/relationships/notesSlide" Target="/ppt/notesSlides/notesSlide43.xml" Id="R3ef5729b302d40c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c2aaef679e649ef" /><Relationship Type="http://schemas.openxmlformats.org/officeDocument/2006/relationships/notesSlide" Target="/ppt/notesSlides/notesSlide44.xml" Id="R482b3b77802c485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193ca40d8bd431f" /><Relationship Type="http://schemas.openxmlformats.org/officeDocument/2006/relationships/notesSlide" Target="/ppt/notesSlides/notesSlide45.xml" Id="R20d1bb8ccb6c486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bc4c6a9cd114ef1" /><Relationship Type="http://schemas.openxmlformats.org/officeDocument/2006/relationships/notesSlide" Target="/ppt/notesSlides/notesSlide46.xml" Id="R9ff196af499342d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655513c3564496d" /><Relationship Type="http://schemas.openxmlformats.org/officeDocument/2006/relationships/notesSlide" Target="/ppt/notesSlides/notesSlide47.xml" Id="R7a43cf4bbed0423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40484921b6b4e7b" /><Relationship Type="http://schemas.openxmlformats.org/officeDocument/2006/relationships/notesSlide" Target="/ppt/notesSlides/notesSlide48.xml" Id="R2497fa8c52c841d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c521ebb76047474a" /><Relationship Type="http://schemas.openxmlformats.org/officeDocument/2006/relationships/notesSlide" Target="/ppt/notesSlides/notesSlide49.xml" Id="R2c34b62395ca440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4a0c3f1c920422e" /><Relationship Type="http://schemas.openxmlformats.org/officeDocument/2006/relationships/notesSlide" Target="/ppt/notesSlides/notesSlide50.xml" Id="R97eedc5dd051474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c399f0c47b694d77" /><Relationship Type="http://schemas.openxmlformats.org/officeDocument/2006/relationships/hyperlink" Target="https://docs.google.com/forms/d/e/1FAIpQLSfHHR9NLI-zvGYZ2Xf7wgwxBjXO3bjfUZRIH9SX_g3JtGRLXQ/viewform" TargetMode="External" Id="R6f9caab453de4606" /><Relationship Type="http://schemas.openxmlformats.org/officeDocument/2006/relationships/notesSlide" Target="/ppt/notesSlides/notesSlide51.xml" Id="R36ee2c0c3ed0468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bed3e1b920a9467e" /><Relationship Type="http://schemas.openxmlformats.org/officeDocument/2006/relationships/image" Target="/ppt/media/image4.png" Id="Rfde481e6afde465b" /><Relationship Type="http://schemas.openxmlformats.org/officeDocument/2006/relationships/hyperlink" Target="https://forms.gle/8BV6yg76yvUwbQGK9" TargetMode="External" Id="Rdb58330c9c0f4354" /><Relationship Type="http://schemas.openxmlformats.org/officeDocument/2006/relationships/notesSlide" Target="/ppt/notesSlides/notesSlide52.xml" Id="R0b81638c7bb946c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91f21afb17344260" /><Relationship Type="http://schemas.openxmlformats.org/officeDocument/2006/relationships/notesSlide" Target="/ppt/notesSlides/notesSlide53.xml" Id="R792f6705f1ca478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5f0598030e2c48e2" /><Relationship Type="http://schemas.openxmlformats.org/officeDocument/2006/relationships/hyperlink" Target="https://www.youtube.com/watch?v=fSytzGwwBVw" TargetMode="External" Id="Rdd832096b8a04d63" /><Relationship Type="http://schemas.openxmlformats.org/officeDocument/2006/relationships/notesSlide" Target="/ppt/notesSlides/notesSlide54.xml" Id="R692d8fd1a8474ed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44E3EEB-176C-4212-9291-47ACA549CEC7}"/>
              </a:ext>
            </a:extLst>
          </p:cNvPr>
          <p:cNvPicPr>
            <a:picLocks xmlns:a="http://schemas.openxmlformats.org/drawingml/2006/main" noChangeAspect="1"/>
          </p:cNvPicPr>
          <p:nvPr/>
        </p:nvPicPr>
        <p:blipFill>
          <a:blip xmlns:r="http://schemas.openxmlformats.org/officeDocument/2006/relationships" xmlns:a="http://schemas.openxmlformats.org/drawingml/2006/main" r:embed="R7430bb352d144ab6"/>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1F70182-A46E-446A-BBF0-12921FA24E7B}"/>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BAC4F4-056C-4E64-870A-CDF495DB7D95}"/>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10</a:t>
            </a:r>
          </a:p>
        </p:txBody>
      </p:sp>
      <p:sp>
        <p:nvSpPr>
          <p:cNvPr id="4" name="">
            <a:extLst xmlns:a="http://schemas.openxmlformats.org/drawingml/2006/main">
              <a:ext uri="{FF2B5EF4-FFF2-40B4-BE49-F238E27FC236}">
                <a16:creationId xmlns:a16="http://schemas.microsoft.com/office/drawing/2014/main" id="{0C1E3A56-8E26-46D8-B38F-6BF636507A75}"/>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Honest validation and leakage</a:t>
            </a:r>
          </a:p>
        </p:txBody>
      </p:sp>
      <p:sp>
        <p:nvSpPr>
          <p:cNvPr id="5" name="">
            <a:extLst xmlns:a="http://schemas.openxmlformats.org/drawingml/2006/main">
              <a:ext uri="{FF2B5EF4-FFF2-40B4-BE49-F238E27FC236}">
                <a16:creationId xmlns:a16="http://schemas.microsoft.com/office/drawing/2014/main" id="{E5EB883B-1F00-4B4D-9AA7-329048DF857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D1E6E9F6-5FE0-43D2-B53D-66F99080C674}"/>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10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19867680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D6FCEC-C39B-4EDD-B60B-35547CB3024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C69F86-6648-44FB-B9BA-444C19ED58D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3F24367-1B7F-471C-9F93-7AEE4AFAC6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299D1EED-F672-490B-B323-676427B48A7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C3B3DB-6CD0-4515-9AE7-B958CFBD369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ABA435-FF28-4662-8BC1-DF6F6CB6F25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tables for this week’s data work. Explain the decisions and check the outputs.</a:t>
            </a:r>
          </a:p>
        </p:txBody>
      </p:sp>
      <p:sp>
        <p:nvSpPr>
          <p:cNvPr id="7" name="">
            <a:extLst xmlns:a="http://schemas.openxmlformats.org/drawingml/2006/main">
              <a:ext uri="{FF2B5EF4-FFF2-40B4-BE49-F238E27FC236}">
                <a16:creationId xmlns:a16="http://schemas.microsoft.com/office/drawing/2014/main" id="{4FFE750D-C200-4890-9501-4E6C51DA6B2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Complete the issued function interfaces and written evidence using the demonstrated workflow.</a:t>
            </a:r>
          </a:p>
        </p:txBody>
      </p:sp>
      <p:sp>
        <p:nvSpPr>
          <p:cNvPr id="8" name="">
            <a:extLst xmlns:a="http://schemas.openxmlformats.org/drawingml/2006/main">
              <a:ext uri="{FF2B5EF4-FFF2-40B4-BE49-F238E27FC236}">
                <a16:creationId xmlns:a16="http://schemas.microsoft.com/office/drawing/2014/main" id="{95ABA4EF-2E54-4B85-812D-807AF17837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a:t>
            </a:r>
          </a:p>
        </p:txBody>
      </p:sp>
    </p:spTree>
    <p:extLst>
      <p:ext uri="{BB962C8B-B14F-4D97-AF65-F5344CB8AC3E}">
        <p14:creationId xmlns:p14="http://schemas.microsoft.com/office/powerpoint/2010/main" val="18500218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E543C6-7923-4058-A4C6-6DCD8F8193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ADEE31-259A-44B3-A4BE-1401CB0AE5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7F048C1-B144-42A0-B7ED-504FE537B8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3D0A3C5D-D532-4F02-BD13-EB40C951631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8A98DE-3D93-46CF-AFF4-038FF458A13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58A1494-B6D0-4444-AED5-277D82FD466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5B337CFC-C725-46B9-918B-98D151DF4D4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EE1DB1AE-BAE6-4D9B-9A92-53FCEBFA6B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a:t>
            </a:r>
          </a:p>
        </p:txBody>
      </p:sp>
    </p:spTree>
    <p:extLst>
      <p:ext uri="{BB962C8B-B14F-4D97-AF65-F5344CB8AC3E}">
        <p14:creationId xmlns:p14="http://schemas.microsoft.com/office/powerpoint/2010/main" val="9308911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CE6BCB-F4A2-4E75-800B-63063C6DC65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8E76F8-4878-4F53-A7D7-3B99319A0C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BB412FE-ACCE-4669-BA5E-6B67BC84F8B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303CCC04-62DB-4FD8-AB9C-35E31632A56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FFD6927-63E3-4785-83E8-CD84809B38D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742EA038-D71A-4171-9752-A20360501CD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D6001AF-D17E-4FB6-9A12-99082BECA55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pd.read_csv("practice_filename.csv")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2254EEC9-7AD5-4BDC-AA2A-A484E39E63D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514F3CB-4DCE-4E73-B782-3E4C82C8D3C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equipment_data.shape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1823B7B5-1ECA-4826-B954-3E64717906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a:t>
            </a:r>
          </a:p>
        </p:txBody>
      </p:sp>
    </p:spTree>
    <p:extLst>
      <p:ext uri="{BB962C8B-B14F-4D97-AF65-F5344CB8AC3E}">
        <p14:creationId xmlns:p14="http://schemas.microsoft.com/office/powerpoint/2010/main" val="13118323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A86BC8-8692-40ED-B5E6-89EFEFF6A0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E46934-C39F-4720-A50E-E2C31704B1D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8BCF240-1865-426F-8CE0-7AFECB42911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A28FA3B1-C882-41B5-B062-3DFD5B89ACE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345D84-52CC-4F3C-8AE7-41B40BEC8B6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DEB59B4-1476-486E-A69A-91A80C081EA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equipment_data.dtypes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A6F95CBB-9222-4569-9F28-F6F021545B9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equipment_data.head()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C3E9A722-0D48-4984-A413-478AA7655F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5</a:t>
            </a:r>
          </a:p>
        </p:txBody>
      </p:sp>
    </p:spTree>
    <p:extLst>
      <p:ext uri="{BB962C8B-B14F-4D97-AF65-F5344CB8AC3E}">
        <p14:creationId xmlns:p14="http://schemas.microsoft.com/office/powerpoint/2010/main" val="4648621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86DB81-04A3-4802-B414-CFCFC3B5B73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3F1DA2-20F2-481C-9C52-A10017D70E0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C1A4770-5826-4120-A140-68516FBB66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a:t>
            </a:r>
          </a:p>
        </p:txBody>
      </p:sp>
      <p:sp>
        <p:nvSpPr>
          <p:cNvPr id="4" name="">
            <a:extLst xmlns:a="http://schemas.openxmlformats.org/drawingml/2006/main">
              <a:ext uri="{FF2B5EF4-FFF2-40B4-BE49-F238E27FC236}">
                <a16:creationId xmlns:a16="http://schemas.microsoft.com/office/drawing/2014/main" id="{D66A9EE8-2DB9-458A-BFAD-0E51DC4432DC}"/>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2E246F-B51B-4F65-B7DA-8B51C7AF01F1}"/>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6" name="">
            <a:extLst xmlns:a="http://schemas.openxmlformats.org/drawingml/2006/main">
              <a:ext uri="{FF2B5EF4-FFF2-40B4-BE49-F238E27FC236}">
                <a16:creationId xmlns:a16="http://schemas.microsoft.com/office/drawing/2014/main" id="{541D25B6-6A90-4BAC-8354-C4790D3126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6</a:t>
            </a:r>
          </a:p>
        </p:txBody>
      </p:sp>
    </p:spTree>
    <p:extLst>
      <p:ext uri="{BB962C8B-B14F-4D97-AF65-F5344CB8AC3E}">
        <p14:creationId xmlns:p14="http://schemas.microsoft.com/office/powerpoint/2010/main" val="621754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01B413-D711-4871-8CDB-63782278CA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8338BF-8F65-41C2-A3D5-6287CC66AF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28F90EE-1A16-4254-8005-35CB72656F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B1BA7059-773F-4036-8E65-EE9E44FD458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C67F47-FCF9-40DB-BC71-E109AC0D224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D48B5176-8CD4-44FF-9D37-9980E5AB0A8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D01B0893-6538-448D-B9EA-D377B8F64DD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35F8B199-88EC-4AD5-BF91-58AEDB5950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7</a:t>
            </a:r>
          </a:p>
        </p:txBody>
      </p:sp>
    </p:spTree>
    <p:extLst>
      <p:ext uri="{BB962C8B-B14F-4D97-AF65-F5344CB8AC3E}">
        <p14:creationId xmlns:p14="http://schemas.microsoft.com/office/powerpoint/2010/main" val="13585964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76125F-B0DB-4E23-826B-EE8CE38F8CD1}"/>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6C8BE9-3219-4189-BBF8-659BA7EE32AF}"/>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Three sets have different jobs</a:t>
            </a:r>
          </a:p>
        </p:txBody>
      </p:sp>
      <p:pic>
        <p:nvPicPr>
          <p:cNvPr id="3" name="">
            <a:extLst xmlns:a="http://schemas.openxmlformats.org/drawingml/2006/main">
              <a:ext uri="{FF2B5EF4-FFF2-40B4-BE49-F238E27FC236}">
                <a16:creationId xmlns:a16="http://schemas.microsoft.com/office/drawing/2014/main" id="{8F43193C-0ED1-453A-91C2-E2903D9ADE27}"/>
              </a:ext>
            </a:extLst>
          </p:cNvPr>
          <p:cNvPicPr>
            <a:picLocks xmlns:a="http://schemas.openxmlformats.org/drawingml/2006/main" noChangeAspect="1"/>
          </p:cNvPicPr>
          <p:nvPr/>
        </p:nvPicPr>
        <p:blipFill>
          <a:blip xmlns:r="http://schemas.openxmlformats.org/officeDocument/2006/relationships" xmlns:a="http://schemas.openxmlformats.org/drawingml/2006/main" r:embed="Rf1abb84b409d42e2"/>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13E0DE9-17B0-4914-B2B8-1FF2D947C75C}"/>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05151F-87BB-44AC-B0B5-A1CEE3540F1B}"/>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set must stay sealed until choices are fixed?</a:t>
            </a:r>
          </a:p>
        </p:txBody>
      </p:sp>
      <p:sp>
        <p:nvSpPr>
          <p:cNvPr id="6" name="">
            <a:extLst xmlns:a="http://schemas.openxmlformats.org/drawingml/2006/main">
              <a:ext uri="{FF2B5EF4-FFF2-40B4-BE49-F238E27FC236}">
                <a16:creationId xmlns:a16="http://schemas.microsoft.com/office/drawing/2014/main" id="{30AF4C78-BA05-4E24-AF9A-A09F46691A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8</a:t>
            </a:r>
          </a:p>
        </p:txBody>
      </p:sp>
    </p:spTree>
    <p:extLst>
      <p:ext uri="{BB962C8B-B14F-4D97-AF65-F5344CB8AC3E}">
        <p14:creationId xmlns:p14="http://schemas.microsoft.com/office/powerpoint/2010/main" val="16798260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2EC551-7116-49A6-80EE-BBFDF70889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D96A15-9384-4C95-AACB-D789DD2A3D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1CC9FB8-D159-46D7-B474-D0B445777AD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used for modelling</a:t>
            </a:r>
          </a:p>
        </p:txBody>
      </p:sp>
      <p:sp>
        <p:nvSpPr>
          <p:cNvPr id="4" name="">
            <a:extLst xmlns:a="http://schemas.openxmlformats.org/drawingml/2006/main">
              <a:ext uri="{FF2B5EF4-FFF2-40B4-BE49-F238E27FC236}">
                <a16:creationId xmlns:a16="http://schemas.microsoft.com/office/drawing/2014/main" id="{82E4B543-937A-4670-AFD0-F624C4232FE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3108F5-2DFF-4D71-ABE4-7043C78E44D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273239-C7A2-406F-97B2-8AB81E8F6FA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the first occurrence of each record_id. Retain recorded targets and load_pct within 0–100. Then separate E1–E4 for training, E5 for validation and E6 for the final test_data.</a:t>
            </a:r>
          </a:p>
        </p:txBody>
      </p:sp>
      <p:sp>
        <p:nvSpPr>
          <p:cNvPr id="7" name="">
            <a:extLst xmlns:a="http://schemas.openxmlformats.org/drawingml/2006/main">
              <a:ext uri="{FF2B5EF4-FFF2-40B4-BE49-F238E27FC236}">
                <a16:creationId xmlns:a16="http://schemas.microsoft.com/office/drawing/2014/main" id="{10414DB1-093C-41F3-B471-543F8CAD5BD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 missing input values using training data only. Keep final-test targets out of model selection.</a:t>
            </a:r>
          </a:p>
        </p:txBody>
      </p:sp>
      <p:sp>
        <p:nvSpPr>
          <p:cNvPr id="8" name="">
            <a:extLst xmlns:a="http://schemas.openxmlformats.org/drawingml/2006/main">
              <a:ext uri="{FF2B5EF4-FFF2-40B4-BE49-F238E27FC236}">
                <a16:creationId xmlns:a16="http://schemas.microsoft.com/office/drawing/2014/main" id="{DA30C5D2-5DD9-4EA9-B7DA-6C135B0227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9</a:t>
            </a:r>
          </a:p>
        </p:txBody>
      </p:sp>
    </p:spTree>
    <p:extLst>
      <p:ext uri="{BB962C8B-B14F-4D97-AF65-F5344CB8AC3E}">
        <p14:creationId xmlns:p14="http://schemas.microsoft.com/office/powerpoint/2010/main" val="14621687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A63FAC-F43C-4959-9585-95CFB97ECF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AA6952-844D-4535-ADA2-4C29C11616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2501B72-BF7A-46BE-8DCE-2125AE3215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1E0FD059-3FC0-490E-B5EA-9F37A200189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426C542-4687-40F0-9783-6AAD94BC9DD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equipment_data["target"].mean(),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87A5B041-8B2F-4791-8F7A-E778459169A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03886DD-664B-4CF7-BB34-74178E811B8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separate working table: equipment_data.copy() creates a working copy. Assigning columns on this copy preserves the source table, so you can compare before and after.</a:t>
            </a:r>
          </a:p>
        </p:txBody>
      </p:sp>
      <p:sp>
        <p:nvSpPr>
          <p:cNvPr id="8" name="">
            <a:extLst xmlns:a="http://schemas.openxmlformats.org/drawingml/2006/main">
              <a:ext uri="{FF2B5EF4-FFF2-40B4-BE49-F238E27FC236}">
                <a16:creationId xmlns:a16="http://schemas.microsoft.com/office/drawing/2014/main" id="{C2DF681D-5BA9-4ECE-83FF-BBE8FBE79BE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25E1B67-E831-41A6-8911-CA2EF508E85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Finding recorded cells: notna() returns True where a value is present. Use it to retain observations with a recorded target before modelling.</a:t>
            </a:r>
          </a:p>
        </p:txBody>
      </p:sp>
      <p:sp>
        <p:nvSpPr>
          <p:cNvPr id="10" name="">
            <a:extLst xmlns:a="http://schemas.openxmlformats.org/drawingml/2006/main">
              <a:ext uri="{FF2B5EF4-FFF2-40B4-BE49-F238E27FC236}">
                <a16:creationId xmlns:a16="http://schemas.microsoft.com/office/drawing/2014/main" id="{CAF98CDE-D864-4F39-8562-A46BB04B3F4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10</a:t>
            </a:r>
          </a:p>
        </p:txBody>
      </p:sp>
    </p:spTree>
    <p:extLst>
      <p:ext uri="{BB962C8B-B14F-4D97-AF65-F5344CB8AC3E}">
        <p14:creationId xmlns:p14="http://schemas.microsoft.com/office/powerpoint/2010/main" val="11741012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97D119-7957-48AF-8201-C96654C9711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9EE397-3082-4492-8ADA-3EDD07FD82A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3079C87-3844-4B45-BDC4-EC70A11AF9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0531CD48-8AE0-430C-9952-5C0E9E1842C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A2D2F85-59CB-4CF4-8A8A-C0A847F177A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inclusive range: series.between(0, 100) is True for values from 0 through 100, including both limits. The resulting mask helps select valid rows.</a:t>
            </a:r>
          </a:p>
        </p:txBody>
      </p:sp>
      <p:sp>
        <p:nvSpPr>
          <p:cNvPr id="6" name="">
            <a:extLst xmlns:a="http://schemas.openxmlformats.org/drawingml/2006/main">
              <a:ext uri="{FF2B5EF4-FFF2-40B4-BE49-F238E27FC236}">
                <a16:creationId xmlns:a16="http://schemas.microsoft.com/office/drawing/2014/main" id="{8AF3E938-0D8C-4CC7-B891-F6A868CC572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273F776-2571-4654-8E58-8FE3109EACF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equipment_data["column"] returns one labelled column, a Series. equipment_data[["a", "b"]] returns a DataFrame containing those named columns in that order.</a:t>
            </a:r>
          </a:p>
        </p:txBody>
      </p:sp>
      <p:sp>
        <p:nvSpPr>
          <p:cNvPr id="8" name="">
            <a:extLst xmlns:a="http://schemas.openxmlformats.org/drawingml/2006/main">
              <a:ext uri="{FF2B5EF4-FFF2-40B4-BE49-F238E27FC236}">
                <a16:creationId xmlns:a16="http://schemas.microsoft.com/office/drawing/2014/main" id="{8BC1CAB2-630A-4AC4-A6B0-B6C663812CE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BB7EAAD-6F2F-48C9-AE01-39DA5BF80EA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rows with a mask: A column comparison produces one True or False per row. equipment_data[mask] keeps the True rows. &amp; combines masks: both conditions must hold. Parenthesise each comparison.</a:t>
            </a:r>
          </a:p>
        </p:txBody>
      </p:sp>
      <p:sp>
        <p:nvSpPr>
          <p:cNvPr id="10" name="">
            <a:extLst xmlns:a="http://schemas.openxmlformats.org/drawingml/2006/main">
              <a:ext uri="{FF2B5EF4-FFF2-40B4-BE49-F238E27FC236}">
                <a16:creationId xmlns:a16="http://schemas.microsoft.com/office/drawing/2014/main" id="{49E31D00-F009-486A-955D-D0B423CA20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11</a:t>
            </a:r>
          </a:p>
        </p:txBody>
      </p:sp>
    </p:spTree>
    <p:extLst>
      <p:ext uri="{BB962C8B-B14F-4D97-AF65-F5344CB8AC3E}">
        <p14:creationId xmlns:p14="http://schemas.microsoft.com/office/powerpoint/2010/main" val="2280123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5F4D4E-E2B7-4569-8705-252F747BE6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509AF1-B6FA-496A-BD37-052F95F286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DCCB3D3-D55E-4E6C-AEB9-FCFAB19034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A4C0CB1B-7ADC-41C1-BF20-3432C02CCA4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BF4B1B-8B46-4A83-A5D8-2BEEAE402E0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AA42051-2AD2-4B45-BAA8-E02E2785E79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Keeping the first observation: equipment_data.drop_duplicates("record_id") returns rows with the first occurrence of each ID, preserving their order. It does not overwrite the source unless you assign the result.</a:t>
            </a:r>
          </a:p>
        </p:txBody>
      </p:sp>
      <p:sp>
        <p:nvSpPr>
          <p:cNvPr id="7" name="">
            <a:extLst xmlns:a="http://schemas.openxmlformats.org/drawingml/2006/main">
              <a:ext uri="{FF2B5EF4-FFF2-40B4-BE49-F238E27FC236}">
                <a16:creationId xmlns:a16="http://schemas.microsoft.com/office/drawing/2014/main" id="{CD7A4DAC-1066-46E5-AB0C-0D3BF1EF778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Membership in a group list: series.isin(["E1", "E2"]) returns True for entries matching either listed label. equipment_data[that_mask] keeps all observations belonging to those groups.</a:t>
            </a:r>
          </a:p>
        </p:txBody>
      </p:sp>
      <p:sp>
        <p:nvSpPr>
          <p:cNvPr id="8" name="">
            <a:extLst xmlns:a="http://schemas.openxmlformats.org/drawingml/2006/main">
              <a:ext uri="{FF2B5EF4-FFF2-40B4-BE49-F238E27FC236}">
                <a16:creationId xmlns:a16="http://schemas.microsoft.com/office/drawing/2014/main" id="{F70A4A33-F17F-46D3-9F1F-BD5E343E8D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12</a:t>
            </a:r>
          </a:p>
        </p:txBody>
      </p:sp>
    </p:spTree>
    <p:extLst>
      <p:ext uri="{BB962C8B-B14F-4D97-AF65-F5344CB8AC3E}">
        <p14:creationId xmlns:p14="http://schemas.microsoft.com/office/powerpoint/2010/main" val="8357836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426869-3103-4C99-A1BB-F9C6F68958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A49B3F-2D9E-41AC-92CB-74F6AE9178A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9B1A837-DE58-4C6D-822D-CD6D57CC58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Prepare valid observations</a:t>
            </a:r>
          </a:p>
        </p:txBody>
      </p:sp>
      <p:sp>
        <p:nvSpPr>
          <p:cNvPr id="4" name="">
            <a:extLst xmlns:a="http://schemas.openxmlformats.org/drawingml/2006/main">
              <a:ext uri="{FF2B5EF4-FFF2-40B4-BE49-F238E27FC236}">
                <a16:creationId xmlns:a16="http://schemas.microsoft.com/office/drawing/2014/main" id="{3F9A93F7-A63B-42C3-98E0-FC721F7EEF2A}"/>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135A1AD-209E-4AE8-BA3E-F2BCBEAAB88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First keep the first record ID.</a:t>
            </a:r>
          </a:p>
        </p:txBody>
      </p:sp>
      <p:sp>
        <p:nvSpPr>
          <p:cNvPr id="6" name="">
            <a:extLst xmlns:a="http://schemas.openxmlformats.org/drawingml/2006/main">
              <a:ext uri="{FF2B5EF4-FFF2-40B4-BE49-F238E27FC236}">
                <a16:creationId xmlns:a16="http://schemas.microsoft.com/office/drawing/2014/main" id="{DA0D74B4-DA6A-4F24-A43D-2FC272024C4B}"/>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Then ask two questions for each remaining row: is the target recorded, and is load between 0 and 100?</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a row passing both checks stays.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Missing inputs are handled later using training data only.</a:t>
            </a:r>
          </a:p>
        </p:txBody>
      </p:sp>
      <p:sp>
        <p:nvSpPr>
          <p:cNvPr id="7" name="">
            <a:extLst xmlns:a="http://schemas.openxmlformats.org/drawingml/2006/main">
              <a:ext uri="{FF2B5EF4-FFF2-40B4-BE49-F238E27FC236}">
                <a16:creationId xmlns:a16="http://schemas.microsoft.com/office/drawing/2014/main" id="{32EC7ACF-550A-4205-A574-B04A7E22413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13</a:t>
            </a:r>
          </a:p>
        </p:txBody>
      </p:sp>
    </p:spTree>
    <p:extLst>
      <p:ext uri="{BB962C8B-B14F-4D97-AF65-F5344CB8AC3E}">
        <p14:creationId xmlns:p14="http://schemas.microsoft.com/office/powerpoint/2010/main" val="4729874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538112-DC42-4A69-BEF3-586DC3912A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948F7C-6B0E-4B3C-ABB4-614C3BA8DA5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8E11C40-5E21-4936-9C00-5F5A44DCCB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1</a:t>
            </a:r>
          </a:p>
        </p:txBody>
      </p:sp>
      <p:sp>
        <p:nvSpPr>
          <p:cNvPr id="4" name="">
            <a:extLst xmlns:a="http://schemas.openxmlformats.org/drawingml/2006/main">
              <a:ext uri="{FF2B5EF4-FFF2-40B4-BE49-F238E27FC236}">
                <a16:creationId xmlns:a16="http://schemas.microsoft.com/office/drawing/2014/main" id="{3E7E74DE-FB07-46AF-A531-9539F84D67A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708EFC-9AD8-4BDB-8CAD-3B40E27CA5C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577CE687-C62B-4745-8A1C-92354804C36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FBD74A41-51E2-4BE0-AE25-16B61336A96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09AD70DF-19C4-4337-B9D5-DC7F03A56E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14</a:t>
            </a:r>
          </a:p>
        </p:txBody>
      </p:sp>
    </p:spTree>
    <p:extLst>
      <p:ext uri="{BB962C8B-B14F-4D97-AF65-F5344CB8AC3E}">
        <p14:creationId xmlns:p14="http://schemas.microsoft.com/office/powerpoint/2010/main" val="8310323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380313-4D8B-4FAC-B086-25961288C8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93B5AB-27C6-4034-B1E8-85D2D98C9F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2595E13-CB8C-4354-9976-7B61E80DD4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F89DE1E1-DFF0-41C4-8892-E476657AF82C}"/>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19D9A6-0FE6-4E41-8FA2-093716D2B01E}"/>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D61682BA-6CDC-4B6F-AABE-3ABFB0B2280D}"/>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260890D3-B065-4ECB-AD1C-93A60864F1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15</a:t>
            </a:r>
          </a:p>
        </p:txBody>
      </p:sp>
    </p:spTree>
    <p:extLst>
      <p:ext uri="{BB962C8B-B14F-4D97-AF65-F5344CB8AC3E}">
        <p14:creationId xmlns:p14="http://schemas.microsoft.com/office/powerpoint/2010/main" val="11429078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3D37F4-6509-4FB9-B643-E0428608EC4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2F8ABF-8CB3-4CE1-80EB-B005B3F03A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E118AF6-B75A-47CE-909A-1EEEDA749D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2</a:t>
            </a:r>
          </a:p>
        </p:txBody>
      </p:sp>
      <p:sp>
        <p:nvSpPr>
          <p:cNvPr id="4" name="">
            <a:extLst xmlns:a="http://schemas.openxmlformats.org/drawingml/2006/main">
              <a:ext uri="{FF2B5EF4-FFF2-40B4-BE49-F238E27FC236}">
                <a16:creationId xmlns:a16="http://schemas.microsoft.com/office/drawing/2014/main" id="{DAE1173A-7629-4822-A845-6A3ED06D264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52D2C1-1E71-410F-9F8F-7C35EDCA39E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E2AABC99-4F36-402A-99B9-B87FCB47086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06386A80-CD1E-4615-BCAC-A311DB7D58F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33F88FF1-6957-472D-A940-27F5160BCC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16</a:t>
            </a:r>
          </a:p>
        </p:txBody>
      </p:sp>
    </p:spTree>
    <p:extLst>
      <p:ext uri="{BB962C8B-B14F-4D97-AF65-F5344CB8AC3E}">
        <p14:creationId xmlns:p14="http://schemas.microsoft.com/office/powerpoint/2010/main" val="21121344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2C6AC9-C429-4B69-8E40-4A5B9E905BB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E710F9-6403-4C35-862D-35C47B0B1B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E2CB51E-250A-483A-BFBD-10D5E83832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C7BCC44A-6BF4-47D1-B6F2-FE355A62B47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86004A-64E7-409E-8B4C-FD50F215E34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753993-CB38-4CB4-AB94-2033B024C84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 rows used to learn model settings; only these rows may determine imputation values.</a:t>
            </a:r>
          </a:p>
        </p:txBody>
      </p:sp>
      <p:sp>
        <p:nvSpPr>
          <p:cNvPr id="7" name="">
            <a:extLst xmlns:a="http://schemas.openxmlformats.org/drawingml/2006/main">
              <a:ext uri="{FF2B5EF4-FFF2-40B4-BE49-F238E27FC236}">
                <a16:creationId xmlns:a16="http://schemas.microsoft.com/office/drawing/2014/main" id="{4B0D0665-9498-4903-9EA3-54E6A796E41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validation_data: separate rows used to compare models without fitting on them.</a:t>
            </a:r>
          </a:p>
        </p:txBody>
      </p:sp>
      <p:sp>
        <p:nvSpPr>
          <p:cNvPr id="8" name="">
            <a:extLst xmlns:a="http://schemas.openxmlformats.org/drawingml/2006/main">
              <a:ext uri="{FF2B5EF4-FFF2-40B4-BE49-F238E27FC236}">
                <a16:creationId xmlns:a16="http://schemas.microsoft.com/office/drawing/2014/main" id="{32C76D7B-90BE-40CD-89AB-DBBF9B1B7A4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17</a:t>
            </a:r>
          </a:p>
        </p:txBody>
      </p:sp>
    </p:spTree>
    <p:extLst>
      <p:ext uri="{BB962C8B-B14F-4D97-AF65-F5344CB8AC3E}">
        <p14:creationId xmlns:p14="http://schemas.microsoft.com/office/powerpoint/2010/main" val="18987088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822C6B-8554-4305-A80E-057B2B4757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4FF8B8-6C94-4FB4-9332-94BFE95F91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63AB928-70F7-4487-85D1-055EA19410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C85523DF-2A7C-4D55-93E2-4B5EA0AC48C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753F3E-2A93-4515-9D8B-45EC4396EF4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4B8A6883-B59C-44B8-A60A-D2033E54B3F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65BF1B38-4B7F-4B87-96BF-159C7E70DB5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C98BD1D1-94A5-45EE-BCD3-90296DCBE9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18</a:t>
            </a:r>
          </a:p>
        </p:txBody>
      </p:sp>
    </p:spTree>
    <p:extLst>
      <p:ext uri="{BB962C8B-B14F-4D97-AF65-F5344CB8AC3E}">
        <p14:creationId xmlns:p14="http://schemas.microsoft.com/office/powerpoint/2010/main" val="39880709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F0ACEF-9392-4981-BE41-19E363D1D94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6C347F-FA92-46AF-A3F0-518097B2C7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BE81217-8AB6-4EB8-84A4-CD2D3830E11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Training-only filling</a:t>
            </a:r>
          </a:p>
        </p:txBody>
      </p:sp>
      <p:sp>
        <p:nvSpPr>
          <p:cNvPr id="4" name="">
            <a:extLst xmlns:a="http://schemas.openxmlformats.org/drawingml/2006/main">
              <a:ext uri="{FF2B5EF4-FFF2-40B4-BE49-F238E27FC236}">
                <a16:creationId xmlns:a16="http://schemas.microsoft.com/office/drawing/2014/main" id="{322456AF-EAF6-497D-8DA3-2C21B7D6DE2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C12612-B17A-424F-AA6B-A56F00280BA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9A9988D-46EC-4FA2-BCD1-B66EE44414A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median ignores missing values. Calculate it from training input values and reuse it for validation gaps.</a:t>
            </a:r>
          </a:p>
        </p:txBody>
      </p:sp>
      <p:sp>
        <p:nvSpPr>
          <p:cNvPr id="7" name="">
            <a:extLst xmlns:a="http://schemas.openxmlformats.org/drawingml/2006/main">
              <a:ext uri="{FF2B5EF4-FFF2-40B4-BE49-F238E27FC236}">
                <a16:creationId xmlns:a16="http://schemas.microsoft.com/office/drawing/2014/main" id="{951BB99B-3DA7-4167-91F8-ADF847CC849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Do not calculate a new median from validation or test observations. A pipeline keeps this rule with the linear_model.</a:t>
            </a:r>
          </a:p>
        </p:txBody>
      </p:sp>
      <p:sp>
        <p:nvSpPr>
          <p:cNvPr id="8" name="">
            <a:extLst xmlns:a="http://schemas.openxmlformats.org/drawingml/2006/main">
              <a:ext uri="{FF2B5EF4-FFF2-40B4-BE49-F238E27FC236}">
                <a16:creationId xmlns:a16="http://schemas.microsoft.com/office/drawing/2014/main" id="{53FD3394-B299-4142-A6E6-E16C2B6EB3B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19</a:t>
            </a:r>
          </a:p>
        </p:txBody>
      </p:sp>
    </p:spTree>
    <p:extLst>
      <p:ext uri="{BB962C8B-B14F-4D97-AF65-F5344CB8AC3E}">
        <p14:creationId xmlns:p14="http://schemas.microsoft.com/office/powerpoint/2010/main" val="27599127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AD8BC0-FBD1-428E-A082-5CE7587D89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17D884-470C-481A-821A-CC0FA087CE9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242CC02-95DF-4911-BF78-33FEF2E1658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1FD283B8-69FA-4B75-B2DF-96AB0E0195D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5D94BD0-27C0-48DE-A0C7-8A60A267B42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Middle recorded value: series.median() sorts known values conceptually and returns the middle one. With an even count, it averages the two middle values. Missing entries do not enter the calculation.</a:t>
            </a:r>
          </a:p>
        </p:txBody>
      </p:sp>
      <p:sp>
        <p:nvSpPr>
          <p:cNvPr id="6" name="">
            <a:extLst xmlns:a="http://schemas.openxmlformats.org/drawingml/2006/main">
              <a:ext uri="{FF2B5EF4-FFF2-40B4-BE49-F238E27FC236}">
                <a16:creationId xmlns:a16="http://schemas.microsoft.com/office/drawing/2014/main" id="{3FB1D3C2-256F-400A-A553-27D8EEFC104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541FC99-7FA7-4C27-BF52-454D518BA2A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Replacing missing entries: series.fillna(value) returns a column whose missing entries contain value. Recorded values stay unchanged. Assign the returned column to retain the fill.</a:t>
            </a:r>
          </a:p>
        </p:txBody>
      </p:sp>
      <p:sp>
        <p:nvSpPr>
          <p:cNvPr id="8" name="">
            <a:extLst xmlns:a="http://schemas.openxmlformats.org/drawingml/2006/main">
              <a:ext uri="{FF2B5EF4-FFF2-40B4-BE49-F238E27FC236}">
                <a16:creationId xmlns:a16="http://schemas.microsoft.com/office/drawing/2014/main" id="{691AF47D-773E-4DF8-BC65-8808F398166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28594F4-CEE9-4D3A-91E9-3A646B4A161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10" name="">
            <a:extLst xmlns:a="http://schemas.openxmlformats.org/drawingml/2006/main">
              <a:ext uri="{FF2B5EF4-FFF2-40B4-BE49-F238E27FC236}">
                <a16:creationId xmlns:a16="http://schemas.microsoft.com/office/drawing/2014/main" id="{D66F4F58-E4E4-4B89-9611-D7FE6458301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20</a:t>
            </a:r>
          </a:p>
        </p:txBody>
      </p:sp>
    </p:spTree>
    <p:extLst>
      <p:ext uri="{BB962C8B-B14F-4D97-AF65-F5344CB8AC3E}">
        <p14:creationId xmlns:p14="http://schemas.microsoft.com/office/powerpoint/2010/main" val="145578896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B74D8E-FFB2-432C-B800-9D8385CDC3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F2BE7C-9D95-4BA4-8864-EC16FF252D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818C45E-B868-4938-86B1-8EC9D48DFAF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1B6F96B-C7E1-41C9-96C4-722818203F5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744130-606D-490C-9C3D-D034C2D77BB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18910E-CF43-4973-B007-7B82A4CEB5D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Adding values and counting True: series.sum() adds its values. For a Boolean mask, True counts as 1 and False as 0. equipment_data.isna().sum() therefore counts missing cells separately for each column.</a:t>
            </a:r>
          </a:p>
        </p:txBody>
      </p:sp>
      <p:sp>
        <p:nvSpPr>
          <p:cNvPr id="7" name="">
            <a:extLst xmlns:a="http://schemas.openxmlformats.org/drawingml/2006/main">
              <a:ext uri="{FF2B5EF4-FFF2-40B4-BE49-F238E27FC236}">
                <a16:creationId xmlns:a16="http://schemas.microsoft.com/office/drawing/2014/main" id="{D3D75A2C-C6C5-432F-9DD4-0BA0E0C744C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Finding missing cells: isna() returns True for missing entries such as NaN and None. It returns False for a recorded zero. A DataFrame gives a mask for every cell; a Series gives one mask value per row.</a:t>
            </a:r>
          </a:p>
        </p:txBody>
      </p:sp>
      <p:sp>
        <p:nvSpPr>
          <p:cNvPr id="8" name="">
            <a:extLst xmlns:a="http://schemas.openxmlformats.org/drawingml/2006/main">
              <a:ext uri="{FF2B5EF4-FFF2-40B4-BE49-F238E27FC236}">
                <a16:creationId xmlns:a16="http://schemas.microsoft.com/office/drawing/2014/main" id="{F57C7DBE-2CA6-4433-B04B-B1C7EDC311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21</a:t>
            </a:r>
          </a:p>
        </p:txBody>
      </p:sp>
    </p:spTree>
    <p:extLst>
      <p:ext uri="{BB962C8B-B14F-4D97-AF65-F5344CB8AC3E}">
        <p14:creationId xmlns:p14="http://schemas.microsoft.com/office/powerpoint/2010/main" val="29356561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997C3B-1103-4200-8A8C-7F9FAB9DD5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D0F6BD-C333-4D1B-BCAA-E2B145A4367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06B65F1-7C07-4887-A6B1-6C11A1526D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median from the actual ambient readings</a:t>
            </a:r>
          </a:p>
        </p:txBody>
      </p:sp>
      <p:sp>
        <p:nvSpPr>
          <p:cNvPr id="4" name="">
            <a:extLst xmlns:a="http://schemas.openxmlformats.org/drawingml/2006/main">
              <a:ext uri="{FF2B5EF4-FFF2-40B4-BE49-F238E27FC236}">
                <a16:creationId xmlns:a16="http://schemas.microsoft.com/office/drawing/2014/main" id="{5C7EFC5C-FCBB-4414-B598-518AEB68FEB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4D0FEB4-E6EC-4067-9907-AA37AA915DC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training_ambient_median = training_data["ambient_c"].median()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filled_validation_ambient = validation_data["ambient_c"].fillna(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training_ambient_median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print(round(float(training_ambient_median), 3))</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print(validation_data["ambient_c"].isna().sum())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print(filled_validation_ambient.head())</a:t>
            </a:r>
          </a:p>
        </p:txBody>
      </p:sp>
      <p:sp>
        <p:nvSpPr>
          <p:cNvPr id="6" name="">
            <a:extLst xmlns:a="http://schemas.openxmlformats.org/drawingml/2006/main">
              <a:ext uri="{FF2B5EF4-FFF2-40B4-BE49-F238E27FC236}">
                <a16:creationId xmlns:a16="http://schemas.microsoft.com/office/drawing/2014/main" id="{E6687FD8-E908-45F1-B4D5-F4AF4F6D8EC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training_ambient_median: median ambient temperature calculated only from training rows.</a:t>
            </a:r>
          </a:p>
        </p:txBody>
      </p:sp>
      <p:sp>
        <p:nvSpPr>
          <p:cNvPr id="7" name="">
            <a:extLst xmlns:a="http://schemas.openxmlformats.org/drawingml/2006/main">
              <a:ext uri="{FF2B5EF4-FFF2-40B4-BE49-F238E27FC236}">
                <a16:creationId xmlns:a16="http://schemas.microsoft.com/office/drawing/2014/main" id="{C30FA6E9-6E1D-420D-8884-7C41EF9C6AD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83453AC4-1E66-4005-8E35-BC00B4FF74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22</a:t>
            </a:r>
          </a:p>
        </p:txBody>
      </p:sp>
    </p:spTree>
    <p:extLst>
      <p:ext uri="{BB962C8B-B14F-4D97-AF65-F5344CB8AC3E}">
        <p14:creationId xmlns:p14="http://schemas.microsoft.com/office/powerpoint/2010/main" val="17866084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B2E6DA-ADE4-404F-AC84-41843177CE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F828EC-855D-46A0-8795-C9FA1DD9154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863546A-8D93-4EB6-9B12-A89D47A9FF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a model with missing inputs</a:t>
            </a:r>
          </a:p>
        </p:txBody>
      </p:sp>
      <p:sp>
        <p:nvSpPr>
          <p:cNvPr id="4" name="">
            <a:extLst xmlns:a="http://schemas.openxmlformats.org/drawingml/2006/main">
              <a:ext uri="{FF2B5EF4-FFF2-40B4-BE49-F238E27FC236}">
                <a16:creationId xmlns:a16="http://schemas.microsoft.com/office/drawing/2014/main" id="{48FD5A6F-2233-423B-BC00-273860BFBF6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421AC4-29F1-419E-99DD-2EFBB0AAE36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7D2FCFD-E1F7-43CB-A13A-C30EFD9CA21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training_data[features] selects the two input columns as a equipment_data. training_data["target"] selects the observed target as a Series.</a:t>
            </a:r>
          </a:p>
        </p:txBody>
      </p:sp>
      <p:sp>
        <p:nvSpPr>
          <p:cNvPr id="7" name="">
            <a:extLst xmlns:a="http://schemas.openxmlformats.org/drawingml/2006/main">
              <a:ext uri="{FF2B5EF4-FFF2-40B4-BE49-F238E27FC236}">
                <a16:creationId xmlns:a16="http://schemas.microsoft.com/office/drawing/2014/main" id="{E54E20F6-2F3E-45C5-8083-272B96A008E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input fill values from training rows. make_pipeline links that operation to LinearRegression. fit learns the steps and predict reuses them.</a:t>
            </a:r>
          </a:p>
        </p:txBody>
      </p:sp>
      <p:sp>
        <p:nvSpPr>
          <p:cNvPr id="8" name="">
            <a:extLst xmlns:a="http://schemas.openxmlformats.org/drawingml/2006/main">
              <a:ext uri="{FF2B5EF4-FFF2-40B4-BE49-F238E27FC236}">
                <a16:creationId xmlns:a16="http://schemas.microsoft.com/office/drawing/2014/main" id="{3EF56603-A830-48B9-9538-38F3233574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23</a:t>
            </a:r>
          </a:p>
        </p:txBody>
      </p:sp>
    </p:spTree>
    <p:extLst>
      <p:ext uri="{BB962C8B-B14F-4D97-AF65-F5344CB8AC3E}">
        <p14:creationId xmlns:p14="http://schemas.microsoft.com/office/powerpoint/2010/main" val="44592121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3F4A38-1D3D-4510-BC56-B072AD6F79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E66CAD-2654-4867-A91A-30412345C4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3A24E07-3D41-430E-8197-8002C60899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644B9D0C-CEE2-49D8-89AC-D901B69C3638}"/>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37F0FB-80C4-4243-A4F7-568FDF3BC29B}"/>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Returning plain values: series.tolist() or array.tolist() returns a Python list of values, without pandas row labels. Preserve their order when pairing actual values and validation_predictions.</a:t>
            </a:r>
          </a:p>
        </p:txBody>
      </p:sp>
      <p:sp>
        <p:nvSpPr>
          <p:cNvPr id="6" name="">
            <a:extLst xmlns:a="http://schemas.openxmlformats.org/drawingml/2006/main">
              <a:ext uri="{FF2B5EF4-FFF2-40B4-BE49-F238E27FC236}">
                <a16:creationId xmlns:a16="http://schemas.microsoft.com/office/drawing/2014/main" id="{66907647-0622-4B28-9927-BEB8EE4F1E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24</a:t>
            </a:r>
          </a:p>
        </p:txBody>
      </p:sp>
    </p:spTree>
    <p:extLst>
      <p:ext uri="{BB962C8B-B14F-4D97-AF65-F5344CB8AC3E}">
        <p14:creationId xmlns:p14="http://schemas.microsoft.com/office/powerpoint/2010/main" val="10693065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D31482-65A0-4D33-8BA7-40231CE7CDB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F97321-64AA-447C-B2BC-15D11C0BC0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8E9269E-2889-49EF-AB87-D9A10F80B2C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sequence of model steps / Filling model inputs</a:t>
            </a:r>
          </a:p>
        </p:txBody>
      </p:sp>
      <p:sp>
        <p:nvSpPr>
          <p:cNvPr id="4" name="">
            <a:extLst xmlns:a="http://schemas.openxmlformats.org/drawingml/2006/main">
              <a:ext uri="{FF2B5EF4-FFF2-40B4-BE49-F238E27FC236}">
                <a16:creationId xmlns:a16="http://schemas.microsoft.com/office/drawing/2014/main" id="{C8B7F6B5-C4D7-42CC-9479-0B3FA1B19F1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8B5276-DEDB-49BE-B51C-39194B32CF9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07D78E6-FF01-442C-AF0C-C07E5A48713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7DDEF9A7-3CC2-4E2E-96C9-C8B13BE752A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8" name="">
            <a:extLst xmlns:a="http://schemas.openxmlformats.org/drawingml/2006/main">
              <a:ext uri="{FF2B5EF4-FFF2-40B4-BE49-F238E27FC236}">
                <a16:creationId xmlns:a16="http://schemas.microsoft.com/office/drawing/2014/main" id="{7E1C68CF-34AF-4481-B9E7-45916741F8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25</a:t>
            </a:r>
          </a:p>
        </p:txBody>
      </p:sp>
    </p:spTree>
    <p:extLst>
      <p:ext uri="{BB962C8B-B14F-4D97-AF65-F5344CB8AC3E}">
        <p14:creationId xmlns:p14="http://schemas.microsoft.com/office/powerpoint/2010/main" val="124031381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C84E0B-5AFC-41F6-ADB9-8792625FC56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DFA903-E232-4AA0-9B54-92715B116F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A5ACD94-6FD7-4F86-B91C-C9CC0065B6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Creating linear regression / Learning from training examples</a:t>
            </a:r>
          </a:p>
        </p:txBody>
      </p:sp>
      <p:sp>
        <p:nvSpPr>
          <p:cNvPr id="4" name="">
            <a:extLst xmlns:a="http://schemas.openxmlformats.org/drawingml/2006/main">
              <a:ext uri="{FF2B5EF4-FFF2-40B4-BE49-F238E27FC236}">
                <a16:creationId xmlns:a16="http://schemas.microsoft.com/office/drawing/2014/main" id="{DCA13843-9777-41C1-B7AC-B357861E951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091A54-9D2B-492F-9900-F56A60AE5C7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41C0EC0-2239-4369-90BC-D0191DAAC66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7" name="">
            <a:extLst xmlns:a="http://schemas.openxmlformats.org/drawingml/2006/main">
              <a:ext uri="{FF2B5EF4-FFF2-40B4-BE49-F238E27FC236}">
                <a16:creationId xmlns:a16="http://schemas.microsoft.com/office/drawing/2014/main" id="{4FFE2C4F-0F20-40D4-A97A-ECFF79266FE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8" name="">
            <a:extLst xmlns:a="http://schemas.openxmlformats.org/drawingml/2006/main">
              <a:ext uri="{FF2B5EF4-FFF2-40B4-BE49-F238E27FC236}">
                <a16:creationId xmlns:a16="http://schemas.microsoft.com/office/drawing/2014/main" id="{1DE33C71-A23F-40C7-BA70-63814198C2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26</a:t>
            </a:r>
          </a:p>
        </p:txBody>
      </p:sp>
    </p:spTree>
    <p:extLst>
      <p:ext uri="{BB962C8B-B14F-4D97-AF65-F5344CB8AC3E}">
        <p14:creationId xmlns:p14="http://schemas.microsoft.com/office/powerpoint/2010/main" val="93580147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B4545E-6ECA-4337-8E6F-8CB1E3C1E8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31CFFF-FC35-43D3-864B-938C46522F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127DBEB-C5D3-4AEA-9A11-3D78022F08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Predicting new targets / Selecting a short preview</a:t>
            </a:r>
          </a:p>
        </p:txBody>
      </p:sp>
      <p:sp>
        <p:nvSpPr>
          <p:cNvPr id="4" name="">
            <a:extLst xmlns:a="http://schemas.openxmlformats.org/drawingml/2006/main">
              <a:ext uri="{FF2B5EF4-FFF2-40B4-BE49-F238E27FC236}">
                <a16:creationId xmlns:a16="http://schemas.microsoft.com/office/drawing/2014/main" id="{EF7AFF17-44C1-4B98-B982-008713B7844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D11E50-B8CB-450F-9927-2229CD86F18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8AEF88E-6AE7-4662-B6C9-5A28F67906D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7" name="">
            <a:extLst xmlns:a="http://schemas.openxmlformats.org/drawingml/2006/main">
              <a:ext uri="{FF2B5EF4-FFF2-40B4-BE49-F238E27FC236}">
                <a16:creationId xmlns:a16="http://schemas.microsoft.com/office/drawing/2014/main" id="{246B3D4E-DC88-47E3-A610-F83DE47F1CA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values[:5] selects positions 0 through 4, or fewer if the sequence is shorter. The stop position is excluded. This preview does not change the full array stored in the variable.</a:t>
            </a:r>
          </a:p>
        </p:txBody>
      </p:sp>
      <p:sp>
        <p:nvSpPr>
          <p:cNvPr id="8" name="">
            <a:extLst xmlns:a="http://schemas.openxmlformats.org/drawingml/2006/main">
              <a:ext uri="{FF2B5EF4-FFF2-40B4-BE49-F238E27FC236}">
                <a16:creationId xmlns:a16="http://schemas.microsoft.com/office/drawing/2014/main" id="{A899769C-6CA7-4F86-BBE2-185100EA70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27</a:t>
            </a:r>
          </a:p>
        </p:txBody>
      </p:sp>
    </p:spTree>
    <p:extLst>
      <p:ext uri="{BB962C8B-B14F-4D97-AF65-F5344CB8AC3E}">
        <p14:creationId xmlns:p14="http://schemas.microsoft.com/office/powerpoint/2010/main" val="119820094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3B6496-AAF2-4674-8514-DCD8A54B8B4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AF3568-732D-48F0-BAAF-542CFC67B17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5032AC6-7DEF-4C80-9391-32CFBBE261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Standard names for model inputs</a:t>
            </a:r>
          </a:p>
        </p:txBody>
      </p:sp>
      <p:sp>
        <p:nvSpPr>
          <p:cNvPr id="4" name="">
            <a:extLst xmlns:a="http://schemas.openxmlformats.org/drawingml/2006/main">
              <a:ext uri="{FF2B5EF4-FFF2-40B4-BE49-F238E27FC236}">
                <a16:creationId xmlns:a16="http://schemas.microsoft.com/office/drawing/2014/main" id="{92B684FE-68CB-49E1-90F6-9BD15556E4E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ED65C89-AAEF-4153-8C17-D6C23583A23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X_train: training input columns. y_train: the matching observed targets.</a:t>
            </a:r>
          </a:p>
        </p:txBody>
      </p:sp>
      <p:sp>
        <p:nvSpPr>
          <p:cNvPr id="6" name="">
            <a:extLst xmlns:a="http://schemas.openxmlformats.org/drawingml/2006/main">
              <a:ext uri="{FF2B5EF4-FFF2-40B4-BE49-F238E27FC236}">
                <a16:creationId xmlns:a16="http://schemas.microsoft.com/office/drawing/2014/main" id="{7674330D-99FB-4B4C-A623-C484312AB5A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FAD087-7109-4C38-B2AA-3494552CF82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validation input columns. y_valid: their observed targets, kept for evaluation.</a:t>
            </a:r>
          </a:p>
        </p:txBody>
      </p:sp>
      <p:sp>
        <p:nvSpPr>
          <p:cNvPr id="8" name="">
            <a:extLst xmlns:a="http://schemas.openxmlformats.org/drawingml/2006/main">
              <a:ext uri="{FF2B5EF4-FFF2-40B4-BE49-F238E27FC236}">
                <a16:creationId xmlns:a16="http://schemas.microsoft.com/office/drawing/2014/main" id="{7EE9E978-EEF8-4D76-AF83-3425F3A1D61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83AC80C-0537-493C-AACE-E5BB1BC08BF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Capital X usually means a two-dimensional table; lowercase y usually means one target per row.</a:t>
            </a:r>
          </a:p>
        </p:txBody>
      </p:sp>
      <p:sp>
        <p:nvSpPr>
          <p:cNvPr id="10" name="">
            <a:extLst xmlns:a="http://schemas.openxmlformats.org/drawingml/2006/main">
              <a:ext uri="{FF2B5EF4-FFF2-40B4-BE49-F238E27FC236}">
                <a16:creationId xmlns:a16="http://schemas.microsoft.com/office/drawing/2014/main" id="{C9E8460E-CA0B-4844-8FC3-26842EFAA5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28</a:t>
            </a:r>
          </a:p>
        </p:txBody>
      </p:sp>
    </p:spTree>
    <p:extLst>
      <p:ext uri="{BB962C8B-B14F-4D97-AF65-F5344CB8AC3E}">
        <p14:creationId xmlns:p14="http://schemas.microsoft.com/office/powerpoint/2010/main" val="6831792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22277C-04C4-4994-B638-B25F6F262B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4AD1B6-D496-44EF-BA00-DC44C2C46FC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27EF803-7C7B-4990-B261-B4DE5CCE5A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BCD50217-58F8-490C-BE25-0E7FA669EB60}"/>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8EC192-990C-4273-94F7-A1C64A528C7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119D5628-53E2-4082-B740-703C7CC692CA}"/>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410D6895-3D02-40C6-B2D7-CCC085BE4E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29</a:t>
            </a:r>
          </a:p>
        </p:txBody>
      </p:sp>
    </p:spTree>
    <p:extLst>
      <p:ext uri="{BB962C8B-B14F-4D97-AF65-F5344CB8AC3E}">
        <p14:creationId xmlns:p14="http://schemas.microsoft.com/office/powerpoint/2010/main" val="4749478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4BD73A-E92A-423E-853E-5BC5B6B6C5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8D8CFE-EFA1-477C-AD6C-C8D35F4B56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57C8216-A907-4546-9A01-670765B4B9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 step 1</a:t>
            </a:r>
          </a:p>
        </p:txBody>
      </p:sp>
      <p:sp>
        <p:nvSpPr>
          <p:cNvPr id="4" name="">
            <a:extLst xmlns:a="http://schemas.openxmlformats.org/drawingml/2006/main">
              <a:ext uri="{FF2B5EF4-FFF2-40B4-BE49-F238E27FC236}">
                <a16:creationId xmlns:a16="http://schemas.microsoft.com/office/drawing/2014/main" id="{2FCC42C0-8951-4509-A6E9-034B67B94C7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D55B84-0D64-4BB4-9E20-AB6FCA984E8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y_train =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y_valid = validation_data["target"]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sklearn.linear_model import LinearRegression</a:t>
            </a:r>
          </a:p>
        </p:txBody>
      </p:sp>
      <p:sp>
        <p:nvSpPr>
          <p:cNvPr id="6" name="">
            <a:extLst xmlns:a="http://schemas.openxmlformats.org/drawingml/2006/main">
              <a:ext uri="{FF2B5EF4-FFF2-40B4-BE49-F238E27FC236}">
                <a16:creationId xmlns:a16="http://schemas.microsoft.com/office/drawing/2014/main" id="{6DE87B0A-A389-459B-A934-F8F63175F4B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555ACACF-7D28-4CE6-8F5A-0CABE595EB5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BD2B70AB-49EA-40B0-8965-3D203721D5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30</a:t>
            </a:r>
          </a:p>
        </p:txBody>
      </p:sp>
    </p:spTree>
    <p:extLst>
      <p:ext uri="{BB962C8B-B14F-4D97-AF65-F5344CB8AC3E}">
        <p14:creationId xmlns:p14="http://schemas.microsoft.com/office/powerpoint/2010/main" val="69177711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EAC8D8-5124-47C2-AC12-E4357DE396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D53B8F-F225-477B-9DB2-2A1F00F1468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7E4C4FB-88DC-42F6-9074-7BDD1E8C3B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then train, then predict</a:t>
            </a:r>
          </a:p>
        </p:txBody>
      </p:sp>
      <p:sp>
        <p:nvSpPr>
          <p:cNvPr id="4" name="">
            <a:extLst xmlns:a="http://schemas.openxmlformats.org/drawingml/2006/main">
              <a:ext uri="{FF2B5EF4-FFF2-40B4-BE49-F238E27FC236}">
                <a16:creationId xmlns:a16="http://schemas.microsoft.com/office/drawing/2014/main" id="{03C64D6A-2982-4B4C-8B1C-AB7DBDEF015B}"/>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C234E1-9593-485A-8EB2-D56314E28881}"/>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Creating an estimator sets up an empty model. fit learns settings from training inputs and their targets. predict uses those learned settings on new inputs; it does not learn from the validation targets.</a:t>
            </a:r>
          </a:p>
        </p:txBody>
      </p:sp>
      <p:sp>
        <p:nvSpPr>
          <p:cNvPr id="6" name="">
            <a:extLst xmlns:a="http://schemas.openxmlformats.org/drawingml/2006/main">
              <a:ext uri="{FF2B5EF4-FFF2-40B4-BE49-F238E27FC236}">
                <a16:creationId xmlns:a16="http://schemas.microsoft.com/office/drawing/2014/main" id="{9F3FCA97-D22F-424A-B41F-9CEA2BFDC5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31</a:t>
            </a:r>
          </a:p>
        </p:txBody>
      </p:sp>
    </p:spTree>
    <p:extLst>
      <p:ext uri="{BB962C8B-B14F-4D97-AF65-F5344CB8AC3E}">
        <p14:creationId xmlns:p14="http://schemas.microsoft.com/office/powerpoint/2010/main" val="16837945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C6E68A-6124-4367-8983-7F6FBBBA0A9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8EF8ED-07A8-499A-8405-B98B33F5AA6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EA1640C-B558-4B53-979A-CDF93F9EBF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 step 2</a:t>
            </a:r>
          </a:p>
        </p:txBody>
      </p:sp>
      <p:sp>
        <p:nvSpPr>
          <p:cNvPr id="4" name="">
            <a:extLst xmlns:a="http://schemas.openxmlformats.org/drawingml/2006/main">
              <a:ext uri="{FF2B5EF4-FFF2-40B4-BE49-F238E27FC236}">
                <a16:creationId xmlns:a16="http://schemas.microsoft.com/office/drawing/2014/main" id="{B76730D3-5543-4CED-AD2F-782E6F74102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531B898-5DE1-4285-B873-68C12039F0B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validation_predictions = 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print(validation_predictions[:5].round(3).tolist())</a:t>
            </a:r>
          </a:p>
        </p:txBody>
      </p:sp>
      <p:sp>
        <p:nvSpPr>
          <p:cNvPr id="6" name="">
            <a:extLst xmlns:a="http://schemas.openxmlformats.org/drawingml/2006/main">
              <a:ext uri="{FF2B5EF4-FFF2-40B4-BE49-F238E27FC236}">
                <a16:creationId xmlns:a16="http://schemas.microsoft.com/office/drawing/2014/main" id="{7A208F04-9C06-40F1-A55A-3C18F62E04B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479B2674-89C8-411E-8759-58084322FE7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4A5DA3A7-4968-4DF5-815C-D96D16E9EA8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32</a:t>
            </a:r>
          </a:p>
        </p:txBody>
      </p:sp>
    </p:spTree>
    <p:extLst>
      <p:ext uri="{BB962C8B-B14F-4D97-AF65-F5344CB8AC3E}">
        <p14:creationId xmlns:p14="http://schemas.microsoft.com/office/powerpoint/2010/main" val="120008365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3B7089-2DD8-4B1F-9F6F-7CF8284226DF}"/>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748DDD-FDF7-4E3B-BD6D-B05BB3C4F826}"/>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Each fold takes a turn at validation</a:t>
            </a:r>
          </a:p>
        </p:txBody>
      </p:sp>
      <p:pic>
        <p:nvPicPr>
          <p:cNvPr id="3" name="">
            <a:extLst xmlns:a="http://schemas.openxmlformats.org/drawingml/2006/main">
              <a:ext uri="{FF2B5EF4-FFF2-40B4-BE49-F238E27FC236}">
                <a16:creationId xmlns:a16="http://schemas.microsoft.com/office/drawing/2014/main" id="{0F5DA95A-89EE-408D-BDCF-821DD867CEFA}"/>
              </a:ext>
            </a:extLst>
          </p:cNvPr>
          <p:cNvPicPr>
            <a:picLocks xmlns:a="http://schemas.openxmlformats.org/drawingml/2006/main" noChangeAspect="1"/>
          </p:cNvPicPr>
          <p:nvPr/>
        </p:nvPicPr>
        <p:blipFill>
          <a:blip xmlns:r="http://schemas.openxmlformats.org/officeDocument/2006/relationships" xmlns:a="http://schemas.openxmlformats.org/drawingml/2006/main" r:embed="Re5631e2cca9d4ac5"/>
          <a:stretch xmlns:a="http://schemas.openxmlformats.org/drawingml/2006/main"/>
        </p:blipFill>
        <p:spPr>
          <a:xfrm xmlns:a="http://schemas.openxmlformats.org/drawingml/2006/main">
            <a:off x="984088" y="1057275"/>
            <a:ext cx="10223825"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527B32-4440-41C9-944E-71B712D0E4DF}"/>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8C3D61-811C-478B-9BEA-F6B4CA5037F4}"/>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Illustrated spread: population SD 0.39 MPa, not a confidence interval.</a:t>
            </a:r>
          </a:p>
        </p:txBody>
      </p:sp>
      <p:sp>
        <p:nvSpPr>
          <p:cNvPr id="6" name="">
            <a:extLst xmlns:a="http://schemas.openxmlformats.org/drawingml/2006/main">
              <a:ext uri="{FF2B5EF4-FFF2-40B4-BE49-F238E27FC236}">
                <a16:creationId xmlns:a16="http://schemas.microsoft.com/office/drawing/2014/main" id="{EB1B8328-093B-4171-8C98-05A38E9CA7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33</a:t>
            </a:r>
          </a:p>
        </p:txBody>
      </p:sp>
    </p:spTree>
    <p:extLst>
      <p:ext uri="{BB962C8B-B14F-4D97-AF65-F5344CB8AC3E}">
        <p14:creationId xmlns:p14="http://schemas.microsoft.com/office/powerpoint/2010/main" val="152620164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C8773F-3088-4506-A995-D8E9068BA1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504E4E-E53E-43A7-BDB7-D80930F1DA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C546005-05F3-4CD3-AE63-61DBE7EA18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Cross-validation within training data</a:t>
            </a:r>
          </a:p>
        </p:txBody>
      </p:sp>
      <p:sp>
        <p:nvSpPr>
          <p:cNvPr id="4" name="">
            <a:extLst xmlns:a="http://schemas.openxmlformats.org/drawingml/2006/main">
              <a:ext uri="{FF2B5EF4-FFF2-40B4-BE49-F238E27FC236}">
                <a16:creationId xmlns:a16="http://schemas.microsoft.com/office/drawing/2014/main" id="{304F0072-6C36-4619-85F0-D40C01C8861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E9519C-669C-4C78-B565-84A5CBE233C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903E21E-E056-44A2-9599-95A5E0E7AA8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GroupKFold keeps each equipment group within one fold. Each fold takes a turn as validation while the remaining folds train the pipeline.</a:t>
            </a:r>
          </a:p>
        </p:txBody>
      </p:sp>
      <p:sp>
        <p:nvSpPr>
          <p:cNvPr id="7" name="">
            <a:extLst xmlns:a="http://schemas.openxmlformats.org/drawingml/2006/main">
              <a:ext uri="{FF2B5EF4-FFF2-40B4-BE49-F238E27FC236}">
                <a16:creationId xmlns:a16="http://schemas.microsoft.com/office/drawing/2014/main" id="{937CA71B-A4F0-47C8-AD37-FBD99724930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cross_val_score reports one score per fold. neg_mean_absolute_error returns negative MAE, so negate the scores before reporting baseline_errors.</a:t>
            </a:r>
          </a:p>
        </p:txBody>
      </p:sp>
      <p:sp>
        <p:nvSpPr>
          <p:cNvPr id="8" name="">
            <a:extLst xmlns:a="http://schemas.openxmlformats.org/drawingml/2006/main">
              <a:ext uri="{FF2B5EF4-FFF2-40B4-BE49-F238E27FC236}">
                <a16:creationId xmlns:a16="http://schemas.microsoft.com/office/drawing/2014/main" id="{2D072B5C-87AB-4275-81BE-442E5CA639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34</a:t>
            </a:r>
          </a:p>
        </p:txBody>
      </p:sp>
    </p:spTree>
    <p:extLst>
      <p:ext uri="{BB962C8B-B14F-4D97-AF65-F5344CB8AC3E}">
        <p14:creationId xmlns:p14="http://schemas.microsoft.com/office/powerpoint/2010/main" val="140198927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B089F3-9F4B-41F6-BF89-3ADAB4CE58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D196EB-9BCA-4927-8D39-2066D57C99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E598526-53B5-4B3C-89B8-B408089FB5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289400BC-30C4-45AD-B0B5-48821C475E9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36D1912-F30C-49D9-BEDC-15A36A5DFBA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labelled column: pd.Series(values) creates a one-dimensional labelled sequence. With an array of fold errors, the default labels are 0, 1, 2 and so on.</a:t>
            </a:r>
          </a:p>
        </p:txBody>
      </p:sp>
      <p:sp>
        <p:nvSpPr>
          <p:cNvPr id="6" name="">
            <a:extLst xmlns:a="http://schemas.openxmlformats.org/drawingml/2006/main">
              <a:ext uri="{FF2B5EF4-FFF2-40B4-BE49-F238E27FC236}">
                <a16:creationId xmlns:a16="http://schemas.microsoft.com/office/drawing/2014/main" id="{2F838D01-3197-4272-9F4F-990FE566144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E2A1ACE-EDB6-49D0-85A0-A2F53F2B8D7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8" name="">
            <a:extLst xmlns:a="http://schemas.openxmlformats.org/drawingml/2006/main">
              <a:ext uri="{FF2B5EF4-FFF2-40B4-BE49-F238E27FC236}">
                <a16:creationId xmlns:a16="http://schemas.microsoft.com/office/drawing/2014/main" id="{18A3FA47-81C0-412E-A841-7AD186C7834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CA4F405-5528-48D9-94F7-9802D705E5F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Spread of fold errors: series.std(ddof=0) measures how far values spread around their mean. ddof=0 divides squared deviations by the number of values. This describes these folds, not a confidence interval.</a:t>
            </a:r>
          </a:p>
        </p:txBody>
      </p:sp>
      <p:sp>
        <p:nvSpPr>
          <p:cNvPr id="10" name="">
            <a:extLst xmlns:a="http://schemas.openxmlformats.org/drawingml/2006/main">
              <a:ext uri="{FF2B5EF4-FFF2-40B4-BE49-F238E27FC236}">
                <a16:creationId xmlns:a16="http://schemas.microsoft.com/office/drawing/2014/main" id="{472D8399-0C65-4598-A205-472E7CC112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35</a:t>
            </a:r>
          </a:p>
        </p:txBody>
      </p:sp>
    </p:spTree>
    <p:extLst>
      <p:ext uri="{BB962C8B-B14F-4D97-AF65-F5344CB8AC3E}">
        <p14:creationId xmlns:p14="http://schemas.microsoft.com/office/powerpoint/2010/main" val="145001004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11D353-D3F4-49C3-B621-1797955B6EB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43F967-1AC6-4C49-85B1-D9E97CA1C9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5432E75-C47D-4100-8BE2-6EFD5ADFA4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groups together / Scoring repeated splits</a:t>
            </a:r>
          </a:p>
        </p:txBody>
      </p:sp>
      <p:sp>
        <p:nvSpPr>
          <p:cNvPr id="4" name="">
            <a:extLst xmlns:a="http://schemas.openxmlformats.org/drawingml/2006/main">
              <a:ext uri="{FF2B5EF4-FFF2-40B4-BE49-F238E27FC236}">
                <a16:creationId xmlns:a16="http://schemas.microsoft.com/office/drawing/2014/main" id="{95ACD7A7-E46C-476D-81ED-25DC6561A52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DE69E65-BD27-456E-AA8F-36A90EE8103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D6F0C5-4992-44AB-8DCE-6CD82B672ED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GroupKFold(n_splits=4) creates four train/validation splits. All rows of an equipment group stay on one side of each split. Four splits require at least four distinct training groups.</a:t>
            </a:r>
          </a:p>
        </p:txBody>
      </p:sp>
      <p:sp>
        <p:nvSpPr>
          <p:cNvPr id="7" name="">
            <a:extLst xmlns:a="http://schemas.openxmlformats.org/drawingml/2006/main">
              <a:ext uri="{FF2B5EF4-FFF2-40B4-BE49-F238E27FC236}">
                <a16:creationId xmlns:a16="http://schemas.microsoft.com/office/drawing/2014/main" id="{FEFACD5C-0F57-4602-B384-F04E680175F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cross_val_score fits a fresh model for each split and scores its held-out rows. groups identifies the equipment groups and cv supplies the split rule. neg_mean_absolute_error returns negative MAE; negate it to report positive errors.</a:t>
            </a:r>
          </a:p>
        </p:txBody>
      </p:sp>
      <p:sp>
        <p:nvSpPr>
          <p:cNvPr id="8" name="">
            <a:extLst xmlns:a="http://schemas.openxmlformats.org/drawingml/2006/main">
              <a:ext uri="{FF2B5EF4-FFF2-40B4-BE49-F238E27FC236}">
                <a16:creationId xmlns:a16="http://schemas.microsoft.com/office/drawing/2014/main" id="{57AD3D9E-014B-40DE-8896-56078023FA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36</a:t>
            </a:r>
          </a:p>
        </p:txBody>
      </p:sp>
    </p:spTree>
    <p:extLst>
      <p:ext uri="{BB962C8B-B14F-4D97-AF65-F5344CB8AC3E}">
        <p14:creationId xmlns:p14="http://schemas.microsoft.com/office/powerpoint/2010/main" val="27259191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33B660-9ADA-43C4-932B-089F5F3B6C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75FAD8-448C-464B-A481-F6F91E8D63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3BA9578-50B0-43E2-8C18-B2354684C5A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Repeat evaluation without mixing groups</a:t>
            </a:r>
          </a:p>
        </p:txBody>
      </p:sp>
      <p:sp>
        <p:nvSpPr>
          <p:cNvPr id="4" name="">
            <a:extLst xmlns:a="http://schemas.openxmlformats.org/drawingml/2006/main">
              <a:ext uri="{FF2B5EF4-FFF2-40B4-BE49-F238E27FC236}">
                <a16:creationId xmlns:a16="http://schemas.microsoft.com/office/drawing/2014/main" id="{C0FFA1D9-6B1B-452E-B950-5CE4AEC832C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8C1A7E-F4EC-4308-B041-D4721BD94243}"/>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Four folds means four held-out group turns.</a:t>
            </a:r>
          </a:p>
        </p:txBody>
      </p:sp>
      <p:sp>
        <p:nvSpPr>
          <p:cNvPr id="6" name="">
            <a:extLst xmlns:a="http://schemas.openxmlformats.org/drawingml/2006/main">
              <a:ext uri="{FF2B5EF4-FFF2-40B4-BE49-F238E27FC236}">
                <a16:creationId xmlns:a16="http://schemas.microsoft.com/office/drawing/2014/main" id="{8C51DF7D-515D-466F-B206-257A61A6B92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each turn, learn a fresh pipeline on the other training groups and score the held-out group.</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uses training_data only; validation and test tables stay outside this calculation.</a:t>
            </a:r>
          </a:p>
        </p:txBody>
      </p:sp>
      <p:sp>
        <p:nvSpPr>
          <p:cNvPr id="7" name="">
            <a:extLst xmlns:a="http://schemas.openxmlformats.org/drawingml/2006/main">
              <a:ext uri="{FF2B5EF4-FFF2-40B4-BE49-F238E27FC236}">
                <a16:creationId xmlns:a16="http://schemas.microsoft.com/office/drawing/2014/main" id="{F4C32F68-1023-463A-989E-A0C99483BBD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37</a:t>
            </a:r>
          </a:p>
        </p:txBody>
      </p:sp>
    </p:spTree>
    <p:extLst>
      <p:ext uri="{BB962C8B-B14F-4D97-AF65-F5344CB8AC3E}">
        <p14:creationId xmlns:p14="http://schemas.microsoft.com/office/powerpoint/2010/main" val="183667874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67D15B-6210-44EE-9FBB-2B3F143B429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C59834-F66B-46BF-A80C-E1C56CC0AB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ECBB2D2-7875-47D7-B958-CB2DBCDF97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Fold errors calculated from the supplied training rows — step 1</a:t>
            </a:r>
          </a:p>
        </p:txBody>
      </p:sp>
      <p:sp>
        <p:nvSpPr>
          <p:cNvPr id="4" name="">
            <a:extLst xmlns:a="http://schemas.openxmlformats.org/drawingml/2006/main">
              <a:ext uri="{FF2B5EF4-FFF2-40B4-BE49-F238E27FC236}">
                <a16:creationId xmlns:a16="http://schemas.microsoft.com/office/drawing/2014/main" id="{92734A27-57B6-4655-83A6-DF650ED7C61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52D868-22BF-4589-82BA-1D5827BD0B3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sklearn.model_selection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GroupKFold, cross_val_score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grouped_folds = GroupKFold(n_splits=4)</a:t>
            </a:r>
          </a:p>
        </p:txBody>
      </p:sp>
      <p:sp>
        <p:nvSpPr>
          <p:cNvPr id="6" name="">
            <a:extLst xmlns:a="http://schemas.openxmlformats.org/drawingml/2006/main">
              <a:ext uri="{FF2B5EF4-FFF2-40B4-BE49-F238E27FC236}">
                <a16:creationId xmlns:a16="http://schemas.microsoft.com/office/drawing/2014/main" id="{B593C22D-1F98-4E1B-86D5-33E2402D9A1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grouped_folds: the split rule that keeps observations from one equipment group together.</a:t>
            </a:r>
          </a:p>
        </p:txBody>
      </p:sp>
      <p:sp>
        <p:nvSpPr>
          <p:cNvPr id="7" name="">
            <a:extLst xmlns:a="http://schemas.openxmlformats.org/drawingml/2006/main">
              <a:ext uri="{FF2B5EF4-FFF2-40B4-BE49-F238E27FC236}">
                <a16:creationId xmlns:a16="http://schemas.microsoft.com/office/drawing/2014/main" id="{610C87DB-C062-4D3A-B625-690B81C098F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010C18BD-CD8A-41F7-B06B-79A05592C8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38</a:t>
            </a:r>
          </a:p>
        </p:txBody>
      </p:sp>
    </p:spTree>
    <p:extLst>
      <p:ext uri="{BB962C8B-B14F-4D97-AF65-F5344CB8AC3E}">
        <p14:creationId xmlns:p14="http://schemas.microsoft.com/office/powerpoint/2010/main" val="133247933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9D45F3-A0D1-4D10-B40C-2EDA289EB5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564938-58CC-41E7-9E0B-B410E7A66A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9CC9CE-277A-4B80-8734-9568C1F25B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scoring convention</a:t>
            </a:r>
          </a:p>
        </p:txBody>
      </p:sp>
      <p:sp>
        <p:nvSpPr>
          <p:cNvPr id="4" name="">
            <a:extLst xmlns:a="http://schemas.openxmlformats.org/drawingml/2006/main">
              <a:ext uri="{FF2B5EF4-FFF2-40B4-BE49-F238E27FC236}">
                <a16:creationId xmlns:a16="http://schemas.microsoft.com/office/drawing/2014/main" id="{3622151D-3226-4E5B-BF8C-F41F6DA71A39}"/>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EA96715-F53B-4C85-8E99-0481FE9437B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scikit-learn uses larger scores as better. neg_mean_absolute_error therefore returns negative errors.</a:t>
            </a:r>
          </a:p>
        </p:txBody>
      </p:sp>
      <p:sp>
        <p:nvSpPr>
          <p:cNvPr id="6" name="">
            <a:extLst xmlns:a="http://schemas.openxmlformats.org/drawingml/2006/main">
              <a:ext uri="{FF2B5EF4-FFF2-40B4-BE49-F238E27FC236}">
                <a16:creationId xmlns:a16="http://schemas.microsoft.com/office/drawing/2014/main" id="{D7763A6E-A989-457A-A16A-799FEDD1D419}"/>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Negate the returned scores to recover ordinary positive MAE; lower MAE is better.</a:t>
            </a:r>
          </a:p>
        </p:txBody>
      </p:sp>
      <p:sp>
        <p:nvSpPr>
          <p:cNvPr id="7" name="">
            <a:extLst xmlns:a="http://schemas.openxmlformats.org/drawingml/2006/main">
              <a:ext uri="{FF2B5EF4-FFF2-40B4-BE49-F238E27FC236}">
                <a16:creationId xmlns:a16="http://schemas.microsoft.com/office/drawing/2014/main" id="{04F29B57-5061-4905-8D36-10D5C512EA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39</a:t>
            </a:r>
          </a:p>
        </p:txBody>
      </p:sp>
    </p:spTree>
    <p:extLst>
      <p:ext uri="{BB962C8B-B14F-4D97-AF65-F5344CB8AC3E}">
        <p14:creationId xmlns:p14="http://schemas.microsoft.com/office/powerpoint/2010/main" val="73733659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49CCD6-E641-4112-8AD2-560B9034C0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928E4B-7870-426B-82D4-426AF3B2A43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EB3CEF7-D166-4BE9-BF3D-A6842322FE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Fold errors calculated from the supplied training rows — step 2</a:t>
            </a:r>
          </a:p>
        </p:txBody>
      </p:sp>
      <p:sp>
        <p:nvSpPr>
          <p:cNvPr id="4" name="">
            <a:extLst xmlns:a="http://schemas.openxmlformats.org/drawingml/2006/main">
              <a:ext uri="{FF2B5EF4-FFF2-40B4-BE49-F238E27FC236}">
                <a16:creationId xmlns:a16="http://schemas.microsoft.com/office/drawing/2014/main" id="{8A84C059-1D51-4189-9690-A2EEB49AA2A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D795A1-6FED-4A40-9D2C-E09BFC1B2DC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negative_error_scores = cross_val_score(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linear_model,</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X_train,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groups=training_data["equipment_id"],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cv=grouped_folds,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scoring="neg_mean_absolute_error",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85C69FFD-BD4A-425F-B505-8E4A5B8795A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158D490-33B0-4995-8DC8-7E2780D759D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grouped_folds: the split rule that keeps observations from one equipment group together.</a:t>
            </a:r>
          </a:p>
        </p:txBody>
      </p:sp>
      <p:sp>
        <p:nvSpPr>
          <p:cNvPr id="8" name="">
            <a:extLst xmlns:a="http://schemas.openxmlformats.org/drawingml/2006/main">
              <a:ext uri="{FF2B5EF4-FFF2-40B4-BE49-F238E27FC236}">
                <a16:creationId xmlns:a16="http://schemas.microsoft.com/office/drawing/2014/main" id="{B05C31A2-59CF-4912-9D46-5486777E682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3563C3F7-486F-4B2C-A863-052DE97F68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40</a:t>
            </a:r>
          </a:p>
        </p:txBody>
      </p:sp>
    </p:spTree>
    <p:extLst>
      <p:ext uri="{BB962C8B-B14F-4D97-AF65-F5344CB8AC3E}">
        <p14:creationId xmlns:p14="http://schemas.microsoft.com/office/powerpoint/2010/main" val="57561178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BE5481-0C3C-48C2-81DD-0C9C6B747B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3021E9-D7B6-40F1-A8F5-CA5BC42C3F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3944912-2640-42DC-8363-6F59802C64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Report typical error and variation</a:t>
            </a:r>
          </a:p>
        </p:txBody>
      </p:sp>
      <p:sp>
        <p:nvSpPr>
          <p:cNvPr id="4" name="">
            <a:extLst xmlns:a="http://schemas.openxmlformats.org/drawingml/2006/main">
              <a:ext uri="{FF2B5EF4-FFF2-40B4-BE49-F238E27FC236}">
                <a16:creationId xmlns:a16="http://schemas.microsoft.com/office/drawing/2014/main" id="{4DBE6E4A-31CC-4BB5-A232-76A051108DF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1B33EC-9F12-4A2C-940F-0A86F55218E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Each value is the MAE of one held-out fold. mean gives average error. std(ddof=0) describes spread across these four errors; it is not a confidence interval.</a:t>
            </a:r>
          </a:p>
        </p:txBody>
      </p:sp>
      <p:sp>
        <p:nvSpPr>
          <p:cNvPr id="6" name="">
            <a:extLst xmlns:a="http://schemas.openxmlformats.org/drawingml/2006/main">
              <a:ext uri="{FF2B5EF4-FFF2-40B4-BE49-F238E27FC236}">
                <a16:creationId xmlns:a16="http://schemas.microsoft.com/office/drawing/2014/main" id="{DD9B1B8F-31E4-4CF6-BDF6-E8EF8367D38D}"/>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large spread suggests performance depends on the held-out equipment.</a:t>
            </a:r>
          </a:p>
        </p:txBody>
      </p:sp>
      <p:sp>
        <p:nvSpPr>
          <p:cNvPr id="7" name="">
            <a:extLst xmlns:a="http://schemas.openxmlformats.org/drawingml/2006/main">
              <a:ext uri="{FF2B5EF4-FFF2-40B4-BE49-F238E27FC236}">
                <a16:creationId xmlns:a16="http://schemas.microsoft.com/office/drawing/2014/main" id="{464C631E-90BE-44A5-947C-6D91DF9A52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41</a:t>
            </a:r>
          </a:p>
        </p:txBody>
      </p:sp>
    </p:spTree>
    <p:extLst>
      <p:ext uri="{BB962C8B-B14F-4D97-AF65-F5344CB8AC3E}">
        <p14:creationId xmlns:p14="http://schemas.microsoft.com/office/powerpoint/2010/main" val="145422406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09BC88-33DB-4DD8-93E5-0C46336410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CE23B6-2895-4D02-A29A-217ED84E8F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987FEBE-4A5F-4927-85A2-36D8A94132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Fold errors calculated from the supplied training rows — step 3</a:t>
            </a:r>
          </a:p>
        </p:txBody>
      </p:sp>
      <p:sp>
        <p:nvSpPr>
          <p:cNvPr id="4" name="">
            <a:extLst xmlns:a="http://schemas.openxmlformats.org/drawingml/2006/main">
              <a:ext uri="{FF2B5EF4-FFF2-40B4-BE49-F238E27FC236}">
                <a16:creationId xmlns:a16="http://schemas.microsoft.com/office/drawing/2014/main" id="{2F07ED2A-E96E-4F18-B7F4-F471D0ADA3E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6AFC66-4FA1-42E9-89EB-C05C251D7FC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fold_absolute_errors = pd.Series(-negative_error_scores)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print(fold_absolute_errors.round(4).tolist())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print(round(float(fold_absolute_errors.mean()), 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print(round(float(fold_absolute_errors.std(ddof=0)), 4))</a:t>
            </a:r>
          </a:p>
        </p:txBody>
      </p:sp>
      <p:sp>
        <p:nvSpPr>
          <p:cNvPr id="6" name="">
            <a:extLst xmlns:a="http://schemas.openxmlformats.org/drawingml/2006/main">
              <a:ext uri="{FF2B5EF4-FFF2-40B4-BE49-F238E27FC236}">
                <a16:creationId xmlns:a16="http://schemas.microsoft.com/office/drawing/2014/main" id="{186D300F-0C62-489D-9B1F-6568A7A0C10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grouped_folds: the split rule that keeps observations from one equipment group together.</a:t>
            </a:r>
          </a:p>
        </p:txBody>
      </p:sp>
      <p:sp>
        <p:nvSpPr>
          <p:cNvPr id="7" name="">
            <a:extLst xmlns:a="http://schemas.openxmlformats.org/drawingml/2006/main">
              <a:ext uri="{FF2B5EF4-FFF2-40B4-BE49-F238E27FC236}">
                <a16:creationId xmlns:a16="http://schemas.microsoft.com/office/drawing/2014/main" id="{939E77CB-EDCA-49F2-936D-DC26BA4A106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E7C083E5-6BE9-4DAE-91CE-2EFEA72465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42</a:t>
            </a:r>
          </a:p>
        </p:txBody>
      </p:sp>
    </p:spTree>
    <p:extLst>
      <p:ext uri="{BB962C8B-B14F-4D97-AF65-F5344CB8AC3E}">
        <p14:creationId xmlns:p14="http://schemas.microsoft.com/office/powerpoint/2010/main" val="107054120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071AB9-DA44-4C29-966F-A651643E6F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750522-A4F7-45CB-8314-1BB6E7F834B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CAF3473-454F-4A04-A779-A3C356F9B6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inside the required function</a:t>
            </a:r>
          </a:p>
        </p:txBody>
      </p:sp>
      <p:sp>
        <p:nvSpPr>
          <p:cNvPr id="4" name="">
            <a:extLst xmlns:a="http://schemas.openxmlformats.org/drawingml/2006/main">
              <a:ext uri="{FF2B5EF4-FFF2-40B4-BE49-F238E27FC236}">
                <a16:creationId xmlns:a16="http://schemas.microsoft.com/office/drawing/2014/main" id="{8349C3F0-B2AC-4E7B-B025-F5189163C79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4554E0-5168-4920-9936-475F1799846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7E5640-D813-40BD-B371-9504435C985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assignment caller supplies equipment_records. pd.DataFrame(records) gives those records named columns. Calculate with pandas, then return the published Python type.</a:t>
            </a:r>
          </a:p>
        </p:txBody>
      </p:sp>
      <p:sp>
        <p:nvSpPr>
          <p:cNvPr id="7" name="">
            <a:extLst xmlns:a="http://schemas.openxmlformats.org/drawingml/2006/main">
              <a:ext uri="{FF2B5EF4-FFF2-40B4-BE49-F238E27FC236}">
                <a16:creationId xmlns:a16="http://schemas.microsoft.com/office/drawing/2014/main" id="{EFEDD182-E541-45BC-827C-55363E0FC3C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to_dict("records") makes a list of row dictionaries. Series.tolist() makes a list of values. A grouped Series.to_dict() maps group labels to validation_results.</a:t>
            </a:r>
          </a:p>
        </p:txBody>
      </p:sp>
      <p:sp>
        <p:nvSpPr>
          <p:cNvPr id="8" name="">
            <a:extLst xmlns:a="http://schemas.openxmlformats.org/drawingml/2006/main">
              <a:ext uri="{FF2B5EF4-FFF2-40B4-BE49-F238E27FC236}">
                <a16:creationId xmlns:a16="http://schemas.microsoft.com/office/drawing/2014/main" id="{D441CD8A-92AC-483D-8AFA-3D3509C398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43</a:t>
            </a:r>
          </a:p>
        </p:txBody>
      </p:sp>
    </p:spTree>
    <p:extLst>
      <p:ext uri="{BB962C8B-B14F-4D97-AF65-F5344CB8AC3E}">
        <p14:creationId xmlns:p14="http://schemas.microsoft.com/office/powerpoint/2010/main" val="206518813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75B59E-38F1-4DEB-A6B2-81200C8367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C6248C-6A55-4337-82A9-E588ABBDB8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6662C6B-A029-40A7-86FE-86DE2D4926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368B5CE7-BD73-4F66-8222-05E9CD9177B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2BCF351-BD27-4A70-8870-425B84CC140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Returning a dictionary: series.to_dict() maps Series labels to values. equipment_data.to_dict("records") instead returns a list of row dictionaries. Choose the form required by the assignment.</a:t>
            </a:r>
          </a:p>
        </p:txBody>
      </p:sp>
      <p:sp>
        <p:nvSpPr>
          <p:cNvPr id="6" name="">
            <a:extLst xmlns:a="http://schemas.openxmlformats.org/drawingml/2006/main">
              <a:ext uri="{FF2B5EF4-FFF2-40B4-BE49-F238E27FC236}">
                <a16:creationId xmlns:a16="http://schemas.microsoft.com/office/drawing/2014/main" id="{7E7CCF33-09FD-432A-B1B3-E6D7E9CE458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E2DD567-BE4C-4DCF-814F-8DE6010FE64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8A8922A2-500F-4562-A04F-68D5CDA7610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1BE3083-D6D8-4697-AE1D-EB2A77818A4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Grouping rows: equipment_data.groupby("label")["value"]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3A713BB2-A898-4FD8-9CD6-2772234635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44</a:t>
            </a:r>
          </a:p>
        </p:txBody>
      </p:sp>
    </p:spTree>
    <p:extLst>
      <p:ext uri="{BB962C8B-B14F-4D97-AF65-F5344CB8AC3E}">
        <p14:creationId xmlns:p14="http://schemas.microsoft.com/office/powerpoint/2010/main" val="89010173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4E1C47-4A8A-4954-9084-67376563F7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ED0FB1-B949-472C-819B-3CF3CDACA8A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0058E40-2C47-406B-8858-B192922619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0BA93E1A-3F61-49A3-8DB2-46D55DBF692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B90A41-803A-413C-B8D9-D7FB1030E0B5}"/>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1450748E-CF86-4307-8CDA-ECBA8C561B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45</a:t>
            </a:r>
          </a:p>
        </p:txBody>
      </p:sp>
    </p:spTree>
    <p:extLst>
      <p:ext uri="{BB962C8B-B14F-4D97-AF65-F5344CB8AC3E}">
        <p14:creationId xmlns:p14="http://schemas.microsoft.com/office/powerpoint/2010/main" val="72983650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31FBD9-59FA-42A7-802E-D3152FF03E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11C63C-1524-4099-A289-814686AF99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6DE1087-4A2E-4DAD-B443-432CA7EB7B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45DD2EB9-D638-4C56-8CA0-3AB812FDECE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C03428-CD33-4A58-BAEE-A26C876320E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mean_load_by_equipment_group = equipment_data.groupby(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mean_load_by_equipment_group.to_dict()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equipment_records = raw_data.to_dict("records")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print(mean_load_by_equipment(equipment_records))</a:t>
            </a:r>
          </a:p>
        </p:txBody>
      </p:sp>
      <p:sp>
        <p:nvSpPr>
          <p:cNvPr id="6" name="">
            <a:extLst xmlns:a="http://schemas.openxmlformats.org/drawingml/2006/main">
              <a:ext uri="{FF2B5EF4-FFF2-40B4-BE49-F238E27FC236}">
                <a16:creationId xmlns:a16="http://schemas.microsoft.com/office/drawing/2014/main" id="{123B6742-723C-4A86-A763-19D3884FC44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the input list of row dictionaries supplied to the function.</a:t>
            </a:r>
          </a:p>
        </p:txBody>
      </p:sp>
      <p:sp>
        <p:nvSpPr>
          <p:cNvPr id="7" name="">
            <a:extLst xmlns:a="http://schemas.openxmlformats.org/drawingml/2006/main">
              <a:ext uri="{FF2B5EF4-FFF2-40B4-BE49-F238E27FC236}">
                <a16:creationId xmlns:a16="http://schemas.microsoft.com/office/drawing/2014/main" id="{485ABFF3-EA2C-4ABB-8F38-740D9187BDC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8BBA5DD0-B4BC-480C-B4F5-52CDDC280D2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46</a:t>
            </a:r>
          </a:p>
        </p:txBody>
      </p:sp>
    </p:spTree>
    <p:extLst>
      <p:ext uri="{BB962C8B-B14F-4D97-AF65-F5344CB8AC3E}">
        <p14:creationId xmlns:p14="http://schemas.microsoft.com/office/powerpoint/2010/main" val="171402000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FD4F9B-FBB3-4074-94D7-845BA01F7B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E840EF-270B-414B-8914-4F87D70886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F3AAE11-8B0F-4B5E-87CB-95730430B5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CDC2F588-FA64-4758-8F4B-00433897878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93305ED-B304-474A-A0CA-2C0479DF85B5}"/>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building cooling load.</a:t>
            </a:r>
          </a:p>
        </p:txBody>
      </p:sp>
      <p:sp>
        <p:nvSpPr>
          <p:cNvPr id="6" name="">
            <a:extLst xmlns:a="http://schemas.openxmlformats.org/drawingml/2006/main">
              <a:ext uri="{FF2B5EF4-FFF2-40B4-BE49-F238E27FC236}">
                <a16:creationId xmlns:a16="http://schemas.microsoft.com/office/drawing/2014/main" id="{65B99E0C-AE88-44A2-AE3F-77D5382219F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C39654-6DC3-4F21-A2FC-630F87DB2193}"/>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a:t>
            </a:r>
          </a:p>
        </p:txBody>
      </p:sp>
      <p:sp>
        <p:nvSpPr>
          <p:cNvPr id="8" name="">
            <a:extLst xmlns:a="http://schemas.openxmlformats.org/drawingml/2006/main">
              <a:ext uri="{FF2B5EF4-FFF2-40B4-BE49-F238E27FC236}">
                <a16:creationId xmlns:a16="http://schemas.microsoft.com/office/drawing/2014/main" id="{89A4F59D-6FC6-4CF6-8460-AB8994E011B5}"/>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5B3482C-2712-4E20-A667-A0E086FC2C4F}"/>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A3CDC1FC-B3EF-4CD6-A007-96E4FD43E64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0EDA738-5F07-4D8F-BEC7-6401E0279BC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E80E462C-D659-4AA9-B24F-F1B11501B4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47</a:t>
            </a:r>
          </a:p>
        </p:txBody>
      </p:sp>
    </p:spTree>
    <p:extLst>
      <p:ext uri="{BB962C8B-B14F-4D97-AF65-F5344CB8AC3E}">
        <p14:creationId xmlns:p14="http://schemas.microsoft.com/office/powerpoint/2010/main" val="198418495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FB02E9-2B6A-4870-B243-1383B316F7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A6B49B-D14B-42EE-A0A8-7C19CD58BD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3D84E5FF-C4E4-4934-93B5-AE29D6F406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group_split(records)</a:t>
            </a:r>
          </a:p>
        </p:txBody>
      </p:sp>
      <p:sp>
        <p:nvSpPr>
          <p:cNvPr id="4" name="">
            <a:extLst xmlns:a="http://schemas.openxmlformats.org/drawingml/2006/main">
              <a:ext uri="{FF2B5EF4-FFF2-40B4-BE49-F238E27FC236}">
                <a16:creationId xmlns:a16="http://schemas.microsoft.com/office/drawing/2014/main" id="{EF537E44-355E-4263-859D-BCEEC674F4F8}"/>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6444AB-842E-4611-BFD3-B879B9540019}"/>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Assign whole equipment groups: E1–E4 to train, E5 to validation, E6 to test.</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train, validation and test lists of record_id in input order.</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Do not use target values to choose membership.</a:t>
            </a:r>
          </a:p>
        </p:txBody>
      </p:sp>
      <p:sp>
        <p:nvSpPr>
          <p:cNvPr id="6" name="">
            <a:extLst xmlns:a="http://schemas.openxmlformats.org/drawingml/2006/main">
              <a:ext uri="{FF2B5EF4-FFF2-40B4-BE49-F238E27FC236}">
                <a16:creationId xmlns:a16="http://schemas.microsoft.com/office/drawing/2014/main" id="{D6681A59-307A-434C-BE5A-9D620265519A}"/>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214C774-102F-4255-A435-0D8947FD988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DDCAC8E6-A3D4-4E48-86B1-405D5ED0C7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48</a:t>
            </a:r>
          </a:p>
        </p:txBody>
      </p:sp>
    </p:spTree>
    <p:extLst>
      <p:ext uri="{BB962C8B-B14F-4D97-AF65-F5344CB8AC3E}">
        <p14:creationId xmlns:p14="http://schemas.microsoft.com/office/powerpoint/2010/main" val="176610456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FD5F71-8F36-4420-A4DE-39C3A97530E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32E833-C720-46E9-A0FF-5CBA8C150B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440E07A7-6B5B-4998-8BB3-4718CEB227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predict_regression(training_records, feature_records)</a:t>
            </a:r>
          </a:p>
        </p:txBody>
      </p:sp>
      <p:sp>
        <p:nvSpPr>
          <p:cNvPr id="4" name="">
            <a:extLst xmlns:a="http://schemas.openxmlformats.org/drawingml/2006/main">
              <a:ext uri="{FF2B5EF4-FFF2-40B4-BE49-F238E27FC236}">
                <a16:creationId xmlns:a16="http://schemas.microsoft.com/office/drawing/2014/main" id="{DC7C3845-B2BC-47EA-893B-C163E89A6992}"/>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3787AA-C5FE-4083-B66A-06EF49D657DA}"/>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a training-mean baseline, linear regression and a decision tree (max_depth=4, random_state=17) using load_pct and ambient_c only.</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three prediction lists under baseline, linear and tree.</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Feature records have no target.</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preprocessing only on training data.</a:t>
            </a:r>
          </a:p>
        </p:txBody>
      </p:sp>
      <p:sp>
        <p:nvSpPr>
          <p:cNvPr id="6" name="">
            <a:extLst xmlns:a="http://schemas.openxmlformats.org/drawingml/2006/main">
              <a:ext uri="{FF2B5EF4-FFF2-40B4-BE49-F238E27FC236}">
                <a16:creationId xmlns:a16="http://schemas.microsoft.com/office/drawing/2014/main" id="{A4D80D6A-885A-4D49-B51D-FD380E0F35D5}"/>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825F34-1076-4197-AA01-4BC73E339C50}"/>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45451DD9-DB70-40DD-B2A0-43FE2B061F6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49</a:t>
            </a:r>
          </a:p>
        </p:txBody>
      </p:sp>
    </p:spTree>
    <p:extLst>
      <p:ext uri="{BB962C8B-B14F-4D97-AF65-F5344CB8AC3E}">
        <p14:creationId xmlns:p14="http://schemas.microsoft.com/office/powerpoint/2010/main" val="148224321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851305-A426-42E4-AD70-B16CF20B22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16A9C3-0EEF-4561-BBF1-0F55BC6BF4A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BD4D63A-A0C5-46B9-975D-5A591D5383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F08A255D-C792-4BCB-8C04-8A415003B78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4501358-C1D4-46E7-9BBB-CDBE210099A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4A1FB9C8-0281-4979-86D0-BCA577C68F8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1D56087-6FAC-4768-A264-3C90D825B82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BE2DD3D9-7008-4484-AFDE-A5B37FAFBD9B}"/>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92DA883-00A5-46D0-BA9F-6FD61A98B08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69B8781A-DCC2-444B-9E7D-C55F1F63C22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B9E3AA3-FC5F-414A-B341-165865BDCA3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50208068-2A3D-49E3-A88D-6B9F8B6B72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50</a:t>
            </a:r>
          </a:p>
        </p:txBody>
      </p:sp>
    </p:spTree>
    <p:extLst>
      <p:ext uri="{BB962C8B-B14F-4D97-AF65-F5344CB8AC3E}">
        <p14:creationId xmlns:p14="http://schemas.microsoft.com/office/powerpoint/2010/main" val="107785494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C5E6469-428D-4D3E-BD2F-6F910EC89D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2B7C5B-38E6-40F9-8540-FD46C4E9E7C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CD813E8C-9E36-4B9E-B990-6167275A82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Validation and trust submission</a:t>
            </a:r>
          </a:p>
        </p:txBody>
      </p:sp>
      <p:sp>
        <p:nvSpPr>
          <p:cNvPr id="4" name="">
            <a:extLst xmlns:a="http://schemas.openxmlformats.org/drawingml/2006/main">
              <a:ext uri="{FF2B5EF4-FFF2-40B4-BE49-F238E27FC236}">
                <a16:creationId xmlns:a16="http://schemas.microsoft.com/office/drawing/2014/main" id="{C368737F-985D-4B81-9C14-5E856205D2A1}"/>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E478D42-D75A-4C2A-B137-B8A39E822E76}"/>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10 Nov 2026, 11:00 Kampala</a:t>
            </a:r>
          </a:p>
        </p:txBody>
      </p:sp>
      <p:sp>
        <p:nvSpPr>
          <p:cNvPr id="6" name="">
            <a:extLst xmlns:a="http://schemas.openxmlformats.org/drawingml/2006/main">
              <a:ext uri="{FF2B5EF4-FFF2-40B4-BE49-F238E27FC236}">
                <a16:creationId xmlns:a16="http://schemas.microsoft.com/office/drawing/2014/main" id="{1AD594F6-B137-4944-AC39-7FFD13CA6E47}"/>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9F23AD3-D905-4A37-8195-81352F48822E}"/>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17 Nov 2026, 11:00 Kampala</a:t>
            </a:r>
          </a:p>
        </p:txBody>
      </p:sp>
      <p:sp>
        <p:nvSpPr>
          <p:cNvPr id="8" name="">
            <a:extLst xmlns:a="http://schemas.openxmlformats.org/drawingml/2006/main">
              <a:ext uri="{FF2B5EF4-FFF2-40B4-BE49-F238E27FC236}">
                <a16:creationId xmlns:a16="http://schemas.microsoft.com/office/drawing/2014/main" id="{3A526ABB-ECDB-46EA-9F8A-64EFB7CDC36F}"/>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4C83BAC-0FC0-4EA9-B61E-3E7FE5C8B345}"/>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32B67265-5C32-47E7-8CC6-8A824FF1B297}"/>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D4B2D6B-3624-4799-9797-907672632E23}"/>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EAE79C35-8F91-49A0-B4A6-B165A929376D}"/>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404045F-4E5C-4118-9DE7-5B797ECBFEB1}"/>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6f9caab453de4606"/>
              </a:rPr>
              <a:t>Open W10 assignment form</a:t>
            </a:r>
          </a:p>
        </p:txBody>
      </p:sp>
      <p:sp>
        <p:nvSpPr>
          <p:cNvPr id="14" name="">
            <a:extLst xmlns:a="http://schemas.openxmlformats.org/drawingml/2006/main">
              <a:ext uri="{FF2B5EF4-FFF2-40B4-BE49-F238E27FC236}">
                <a16:creationId xmlns:a16="http://schemas.microsoft.com/office/drawing/2014/main" id="{929D4290-439A-4888-BEB8-5DDDD1D6578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https://docs.google.com/forms/d/e/1FAIpQLSfHHR9NLI-zvGYZ2Xf7wgwxBjXO3bjfUZRIH9SX_g3JtGRLXQ/viewform</a:t>
            </a:r>
          </a:p>
        </p:txBody>
      </p:sp>
      <p:sp>
        <p:nvSpPr>
          <p:cNvPr id="15" name="">
            <a:extLst xmlns:a="http://schemas.openxmlformats.org/drawingml/2006/main">
              <a:ext uri="{FF2B5EF4-FFF2-40B4-BE49-F238E27FC236}">
                <a16:creationId xmlns:a16="http://schemas.microsoft.com/office/drawing/2014/main" id="{EDBFC746-9096-491E-8163-8CFDFCA936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51</a:t>
            </a:r>
          </a:p>
        </p:txBody>
      </p:sp>
    </p:spTree>
    <p:extLst>
      <p:ext uri="{BB962C8B-B14F-4D97-AF65-F5344CB8AC3E}">
        <p14:creationId xmlns:p14="http://schemas.microsoft.com/office/powerpoint/2010/main" val="97322144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8A1A43-D1C0-4A34-81E6-34BE484F309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FA9DCF-0A7D-4A93-B5D0-B343D6DCB43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94AD82F7-C371-4707-9FD0-B8B603E181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10 quiz</a:t>
            </a:r>
          </a:p>
        </p:txBody>
      </p:sp>
      <p:sp>
        <p:nvSpPr>
          <p:cNvPr id="4" name="">
            <a:extLst xmlns:a="http://schemas.openxmlformats.org/drawingml/2006/main">
              <a:ext uri="{FF2B5EF4-FFF2-40B4-BE49-F238E27FC236}">
                <a16:creationId xmlns:a16="http://schemas.microsoft.com/office/drawing/2014/main" id="{44F06C5B-4F97-49C3-BA07-AE750470689A}"/>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7645615-E55F-46E4-8A67-86CE4525EAC4}"/>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78F25C9C-7486-43D1-94EC-CE61C6719A2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82E6BDF-A293-42D6-AB3D-548F0FA768CC}"/>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46A32CDF-D05E-4D41-A72E-862586ACE19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6839B43-E5B5-4576-9AD9-67F9F68D9D31}"/>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2067AAF8-0B8B-46A2-88FF-CE0E7A54B4DE}"/>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FD99706-F568-44BB-A7A4-DC9080586FC5}"/>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4B905F91-805E-493D-9316-5A7221BC188C}"/>
              </a:ext>
            </a:extLst>
          </p:cNvPr>
          <p:cNvPicPr>
            <a:picLocks xmlns:a="http://schemas.openxmlformats.org/drawingml/2006/main" noChangeAspect="1"/>
          </p:cNvPicPr>
          <p:nvPr/>
        </p:nvPicPr>
        <p:blipFill>
          <a:blip xmlns:r="http://schemas.openxmlformats.org/officeDocument/2006/relationships" xmlns:a="http://schemas.openxmlformats.org/drawingml/2006/main" r:embed="Rfde481e6afde465b"/>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0F24B3C-623A-448C-9208-C10849EC05EF}"/>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4FAFAA62-040F-49B5-A19D-A3A29E6E5259}"/>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E2850C7-56C6-401F-9013-B463F620C9EA}"/>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db58330c9c0f4354"/>
              </a:rPr>
              <a:t>Open this week’s quiz</a:t>
            </a:r>
          </a:p>
        </p:txBody>
      </p:sp>
      <p:sp>
        <p:nvSpPr>
          <p:cNvPr id="16" name="">
            <a:extLst xmlns:a="http://schemas.openxmlformats.org/drawingml/2006/main">
              <a:ext uri="{FF2B5EF4-FFF2-40B4-BE49-F238E27FC236}">
                <a16:creationId xmlns:a16="http://schemas.microsoft.com/office/drawing/2014/main" id="{29C8474E-4FD7-4595-BD50-6255FAED740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https://forms.gle/8BV6yg76yvUwbQGK9</a:t>
            </a:r>
          </a:p>
        </p:txBody>
      </p:sp>
      <p:sp>
        <p:nvSpPr>
          <p:cNvPr id="17" name="">
            <a:extLst xmlns:a="http://schemas.openxmlformats.org/drawingml/2006/main">
              <a:ext uri="{FF2B5EF4-FFF2-40B4-BE49-F238E27FC236}">
                <a16:creationId xmlns:a16="http://schemas.microsoft.com/office/drawing/2014/main" id="{46507C6F-EBF1-4D5E-8522-F129F48FF1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52</a:t>
            </a:r>
          </a:p>
        </p:txBody>
      </p:sp>
    </p:spTree>
    <p:extLst>
      <p:ext uri="{BB962C8B-B14F-4D97-AF65-F5344CB8AC3E}">
        <p14:creationId xmlns:p14="http://schemas.microsoft.com/office/powerpoint/2010/main" val="255065833"/>
      </p:ext>
    </p:extLst>
  </p:cSld>
</p:sld>
</file>

<file path=ppt/slides/slide5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15A88E-9BE5-4ACC-85E5-CAF351A58F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EC54765D-ABFE-4210-95C1-D2F6636761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91BBD823-623A-4603-A410-6E74B54F6DEB}"/>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CA85BB8E-EF83-4C62-B7DF-C1334F91FB48}"/>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each cleaning or modelling decision using your pandas table and its outputs.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submitting the required assignment notebook.</a:t>
            </a:r>
          </a:p>
        </p:txBody>
      </p:sp>
      <p:sp>
        <p:nvSpPr>
          <p:cNvPr id="5" name="">
            <a:extLst xmlns:a="http://schemas.openxmlformats.org/drawingml/2006/main">
              <a:ext uri="{FF2B5EF4-FFF2-40B4-BE49-F238E27FC236}">
                <a16:creationId xmlns:a16="http://schemas.microsoft.com/office/drawing/2014/main" id="{EAF23F51-6F8F-4183-963A-3F90C4ACCD6F}"/>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754078C0-57F4-434E-B7D8-E12DD88479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10   53</a:t>
            </a:r>
          </a:p>
        </p:txBody>
      </p:sp>
    </p:spTree>
    <p:extLst>
      <p:ext uri="{BB962C8B-B14F-4D97-AF65-F5344CB8AC3E}">
        <p14:creationId xmlns:p14="http://schemas.microsoft.com/office/powerpoint/2010/main" val="142972819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B6FB343-24EC-4216-A7FA-C7EA493D532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0CF376-67BD-4604-9BF5-0B5AD7B1CD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CCC42B7C-8215-4E6F-9A0A-D2B40B2EE59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7DA57FC5-9EA6-405C-B412-056CFC11646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8F4FFFB-ACA4-4297-86EA-5755E765A55D}"/>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352FA2FB-770D-4A9A-BA2C-18E4B953F1D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A9B3EFD-A510-4B4E-B12A-F41EEB654EA9}"/>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Cross Validation</a:t>
            </a:r>
          </a:p>
        </p:txBody>
      </p:sp>
      <p:sp>
        <p:nvSpPr>
          <p:cNvPr id="8" name="">
            <a:extLst xmlns:a="http://schemas.openxmlformats.org/drawingml/2006/main">
              <a:ext uri="{FF2B5EF4-FFF2-40B4-BE49-F238E27FC236}">
                <a16:creationId xmlns:a16="http://schemas.microsoft.com/office/drawing/2014/main" id="{7D670CC9-FF84-422E-A952-870D9D569D7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6B6FE5A-7DEF-4835-B578-8EC1720FDE9A}"/>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B2A4B7E5-A172-47B9-BA38-C84A32CA695E}"/>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E842A1D-59FF-4C62-AD8E-FCB075AEC302}"/>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evaluate using observations not used to fit that particular model?</a:t>
            </a:r>
          </a:p>
        </p:txBody>
      </p:sp>
      <p:sp>
        <p:nvSpPr>
          <p:cNvPr id="12" name="">
            <a:extLst xmlns:a="http://schemas.openxmlformats.org/drawingml/2006/main">
              <a:ext uri="{FF2B5EF4-FFF2-40B4-BE49-F238E27FC236}">
                <a16:creationId xmlns:a16="http://schemas.microsoft.com/office/drawing/2014/main" id="{9B07D2D2-6FE1-4F1D-9194-59FB3920DAB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3BD0A6-6533-495E-99FA-E8A5957BF00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dd832096b8a04d63"/>
              </a:rPr>
              <a:t>Open explainer video</a:t>
            </a:r>
          </a:p>
        </p:txBody>
      </p:sp>
      <p:sp>
        <p:nvSpPr>
          <p:cNvPr id="14" name="">
            <a:extLst xmlns:a="http://schemas.openxmlformats.org/drawingml/2006/main">
              <a:ext uri="{FF2B5EF4-FFF2-40B4-BE49-F238E27FC236}">
                <a16:creationId xmlns:a16="http://schemas.microsoft.com/office/drawing/2014/main" id="{BC491330-D87C-48BE-918C-D6A6525D8DA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https://www.youtube.com/watch?v=fSytzGwwBVw</a:t>
            </a:r>
          </a:p>
        </p:txBody>
      </p:sp>
      <p:sp>
        <p:nvSpPr>
          <p:cNvPr id="15" name="">
            <a:extLst xmlns:a="http://schemas.openxmlformats.org/drawingml/2006/main">
              <a:ext uri="{FF2B5EF4-FFF2-40B4-BE49-F238E27FC236}">
                <a16:creationId xmlns:a16="http://schemas.microsoft.com/office/drawing/2014/main" id="{4D15B39A-7DE4-4F81-B9DF-744BAA8F4E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10   54</a:t>
            </a:r>
          </a:p>
        </p:txBody>
      </p:sp>
    </p:spTree>
    <p:extLst>
      <p:ext uri="{BB962C8B-B14F-4D97-AF65-F5344CB8AC3E}">
        <p14:creationId xmlns:p14="http://schemas.microsoft.com/office/powerpoint/2010/main" val="691826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2026-10-20T18:00:03.3290000Z</dcterms:created>
  <dcterms:modified xsi:type="dcterms:W3CDTF">2026-10-20T18:00:03.3290000Z</dcterms:modified>
</coreProperties>
</file>