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040cf085434169" /><Relationship Type="http://schemas.openxmlformats.org/officeDocument/2006/relationships/extended-properties" Target="/docProps/app.xml" Id="R3fdc60c971c04978" /><Relationship Type="http://schemas.openxmlformats.org/officeDocument/2006/relationships/officeDocument" Target="/ppt/presentation.xml" Id="R3413b394d9ed484f" /></Relationships>
</file>

<file path=ppt/presentation.xml><?xml version="1.0" encoding="utf-8"?>
<p:presentation xmlns:p="http://schemas.openxmlformats.org/presentationml/2006/main">
  <p:sldMasterIdLst>
    <p:sldMasterId xmlns:r="http://schemas.openxmlformats.org/officeDocument/2006/relationships" id="2147483648" r:id="R692b7da831a94cbf"/>
  </p:sldMasterIdLst>
  <p:notesMasterIdLst>
    <p:notesMasterId xmlns:r="http://schemas.openxmlformats.org/officeDocument/2006/relationships" r:id="Rf291da8697894b5d"/>
  </p:notesMasterIdLst>
  <p:sldIdLst>
    <p:sldId xmlns:r="http://schemas.openxmlformats.org/officeDocument/2006/relationships" id="256" r:id="R4e17a8b69be44d37"/>
    <p:sldId xmlns:r="http://schemas.openxmlformats.org/officeDocument/2006/relationships" id="257" r:id="R39e9dbda7b57492a"/>
    <p:sldId xmlns:r="http://schemas.openxmlformats.org/officeDocument/2006/relationships" id="258" r:id="Rc40ea7137be84e17"/>
    <p:sldId xmlns:r="http://schemas.openxmlformats.org/officeDocument/2006/relationships" id="259" r:id="R8c11679fe3584870"/>
    <p:sldId xmlns:r="http://schemas.openxmlformats.org/officeDocument/2006/relationships" id="260" r:id="Re041f620aabd4707"/>
    <p:sldId xmlns:r="http://schemas.openxmlformats.org/officeDocument/2006/relationships" id="261" r:id="R6ffb7a39e5cb44f0"/>
    <p:sldId xmlns:r="http://schemas.openxmlformats.org/officeDocument/2006/relationships" id="262" r:id="Rb296b5a70976443c"/>
    <p:sldId xmlns:r="http://schemas.openxmlformats.org/officeDocument/2006/relationships" id="263" r:id="Rd1c10a8916df4d66"/>
    <p:sldId xmlns:r="http://schemas.openxmlformats.org/officeDocument/2006/relationships" id="264" r:id="R25c3258e4da54f53"/>
    <p:sldId xmlns:r="http://schemas.openxmlformats.org/officeDocument/2006/relationships" id="265" r:id="R70d04182d72a4c3d"/>
    <p:sldId xmlns:r="http://schemas.openxmlformats.org/officeDocument/2006/relationships" id="266" r:id="Rb29210b5b0474757"/>
    <p:sldId xmlns:r="http://schemas.openxmlformats.org/officeDocument/2006/relationships" id="267" r:id="Rddb29dda9c534883"/>
    <p:sldId xmlns:r="http://schemas.openxmlformats.org/officeDocument/2006/relationships" id="268" r:id="Re7f67ef6fbe8403d"/>
    <p:sldId xmlns:r="http://schemas.openxmlformats.org/officeDocument/2006/relationships" id="269" r:id="R16d4ea7da45f478f"/>
    <p:sldId xmlns:r="http://schemas.openxmlformats.org/officeDocument/2006/relationships" id="270" r:id="R63d1f3c4c9d44211"/>
    <p:sldId xmlns:r="http://schemas.openxmlformats.org/officeDocument/2006/relationships" id="271" r:id="R5d1d415480e94c10"/>
    <p:sldId xmlns:r="http://schemas.openxmlformats.org/officeDocument/2006/relationships" id="272" r:id="R46f20b4fa7e34e5c"/>
    <p:sldId xmlns:r="http://schemas.openxmlformats.org/officeDocument/2006/relationships" id="273" r:id="Rffe03acdd9b24b83"/>
    <p:sldId xmlns:r="http://schemas.openxmlformats.org/officeDocument/2006/relationships" id="274" r:id="Rb820e244d0f64f96"/>
    <p:sldId xmlns:r="http://schemas.openxmlformats.org/officeDocument/2006/relationships" id="275" r:id="R2806175cf4ed43fc"/>
    <p:sldId xmlns:r="http://schemas.openxmlformats.org/officeDocument/2006/relationships" id="276" r:id="R65c8dcd3e70e4660"/>
    <p:sldId xmlns:r="http://schemas.openxmlformats.org/officeDocument/2006/relationships" id="277" r:id="R646fb881d06f4bc4"/>
    <p:sldId xmlns:r="http://schemas.openxmlformats.org/officeDocument/2006/relationships" id="278" r:id="Rf9e2d20a800c494f"/>
    <p:sldId xmlns:r="http://schemas.openxmlformats.org/officeDocument/2006/relationships" id="279" r:id="R3ecb72e246184aa5"/>
    <p:sldId xmlns:r="http://schemas.openxmlformats.org/officeDocument/2006/relationships" id="280" r:id="R3fe32a97834347ce"/>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ff67dc740e4910" /><Relationship Type="http://schemas.openxmlformats.org/officeDocument/2006/relationships/slideMaster" Target="/ppt/slideMasters/slideMaster1.xml" Id="R692b7da831a94cbf" /><Relationship Type="http://schemas.openxmlformats.org/officeDocument/2006/relationships/notesMaster" Target="/ppt/notesMasters/notesMaster1.xml" Id="Rf291da8697894b5d" /><Relationship Type="http://schemas.openxmlformats.org/officeDocument/2006/relationships/presProps" Target="/ppt/presProps.xml" Id="R5a4782975f2040a9" /><Relationship Type="http://schemas.openxmlformats.org/officeDocument/2006/relationships/tableStyles" Target="/ppt/tableStyles.xml" Id="R0dbbe1f2cc384828" /><Relationship Type="http://schemas.openxmlformats.org/officeDocument/2006/relationships/slide" Target="/ppt/slides/slide1.xml" Id="R4e17a8b69be44d37" /><Relationship Type="http://schemas.openxmlformats.org/officeDocument/2006/relationships/slide" Target="/ppt/slides/slide2.xml" Id="R39e9dbda7b57492a" /><Relationship Type="http://schemas.openxmlformats.org/officeDocument/2006/relationships/slide" Target="/ppt/slides/slide3.xml" Id="Rc40ea7137be84e17" /><Relationship Type="http://schemas.openxmlformats.org/officeDocument/2006/relationships/slide" Target="/ppt/slides/slide4.xml" Id="R8c11679fe3584870" /><Relationship Type="http://schemas.openxmlformats.org/officeDocument/2006/relationships/slide" Target="/ppt/slides/slide5.xml" Id="Re041f620aabd4707" /><Relationship Type="http://schemas.openxmlformats.org/officeDocument/2006/relationships/slide" Target="/ppt/slides/slide6.xml" Id="R6ffb7a39e5cb44f0" /><Relationship Type="http://schemas.openxmlformats.org/officeDocument/2006/relationships/slide" Target="/ppt/slides/slide7.xml" Id="Rb296b5a70976443c" /><Relationship Type="http://schemas.openxmlformats.org/officeDocument/2006/relationships/slide" Target="/ppt/slides/slide8.xml" Id="Rd1c10a8916df4d66" /><Relationship Type="http://schemas.openxmlformats.org/officeDocument/2006/relationships/slide" Target="/ppt/slides/slide9.xml" Id="R25c3258e4da54f53" /><Relationship Type="http://schemas.openxmlformats.org/officeDocument/2006/relationships/slide" Target="/ppt/slides/slide10.xml" Id="R70d04182d72a4c3d" /><Relationship Type="http://schemas.openxmlformats.org/officeDocument/2006/relationships/slide" Target="/ppt/slides/slide11.xml" Id="Rb29210b5b0474757" /><Relationship Type="http://schemas.openxmlformats.org/officeDocument/2006/relationships/slide" Target="/ppt/slides/slide12.xml" Id="Rddb29dda9c534883" /><Relationship Type="http://schemas.openxmlformats.org/officeDocument/2006/relationships/slide" Target="/ppt/slides/slide13.xml" Id="Re7f67ef6fbe8403d" /><Relationship Type="http://schemas.openxmlformats.org/officeDocument/2006/relationships/slide" Target="/ppt/slides/slide14.xml" Id="R16d4ea7da45f478f" /><Relationship Type="http://schemas.openxmlformats.org/officeDocument/2006/relationships/slide" Target="/ppt/slides/slide15.xml" Id="R63d1f3c4c9d44211" /><Relationship Type="http://schemas.openxmlformats.org/officeDocument/2006/relationships/slide" Target="/ppt/slides/slide16.xml" Id="R5d1d415480e94c10" /><Relationship Type="http://schemas.openxmlformats.org/officeDocument/2006/relationships/slide" Target="/ppt/slides/slide17.xml" Id="R46f20b4fa7e34e5c" /><Relationship Type="http://schemas.openxmlformats.org/officeDocument/2006/relationships/slide" Target="/ppt/slides/slide18.xml" Id="Rffe03acdd9b24b83" /><Relationship Type="http://schemas.openxmlformats.org/officeDocument/2006/relationships/slide" Target="/ppt/slides/slide19.xml" Id="Rb820e244d0f64f96" /><Relationship Type="http://schemas.openxmlformats.org/officeDocument/2006/relationships/slide" Target="/ppt/slides/slide20.xml" Id="R2806175cf4ed43fc" /><Relationship Type="http://schemas.openxmlformats.org/officeDocument/2006/relationships/slide" Target="/ppt/slides/slide21.xml" Id="R65c8dcd3e70e4660" /><Relationship Type="http://schemas.openxmlformats.org/officeDocument/2006/relationships/slide" Target="/ppt/slides/slide22.xml" Id="R646fb881d06f4bc4" /><Relationship Type="http://schemas.openxmlformats.org/officeDocument/2006/relationships/slide" Target="/ppt/slides/slide23.xml" Id="Rf9e2d20a800c494f" /><Relationship Type="http://schemas.openxmlformats.org/officeDocument/2006/relationships/slide" Target="/ppt/slides/slide24.xml" Id="R3ecb72e246184aa5" /><Relationship Type="http://schemas.openxmlformats.org/officeDocument/2006/relationships/slide" Target="/ppt/slides/slide25.xml" Id="R3fe32a97834347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509e71abf04c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4b496075034444" /><Relationship Type="http://schemas.openxmlformats.org/officeDocument/2006/relationships/notesMaster" Target="/ppt/notesMasters/notesMaster1.xml" Id="R49dce7ec92ed44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ee7ab7134c49cb" /><Relationship Type="http://schemas.openxmlformats.org/officeDocument/2006/relationships/notesMaster" Target="/ppt/notesMasters/notesMaster1.xml" Id="R570e4067be3a47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8c7d1796ae4044" /><Relationship Type="http://schemas.openxmlformats.org/officeDocument/2006/relationships/notesMaster" Target="/ppt/notesMasters/notesMaster1.xml" Id="R2bde0360b61d42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8cb03e79b44c4f" /><Relationship Type="http://schemas.openxmlformats.org/officeDocument/2006/relationships/notesMaster" Target="/ppt/notesMasters/notesMaster1.xml" Id="R3efa302f53d54a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cb4158d9c343a5" /><Relationship Type="http://schemas.openxmlformats.org/officeDocument/2006/relationships/notesMaster" Target="/ppt/notesMasters/notesMaster1.xml" Id="Re5b0e6e627a84d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07b06c9f2a4c30" /><Relationship Type="http://schemas.openxmlformats.org/officeDocument/2006/relationships/notesMaster" Target="/ppt/notesMasters/notesMaster1.xml" Id="R3a518ad40a244a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d06d034a82410b" /><Relationship Type="http://schemas.openxmlformats.org/officeDocument/2006/relationships/notesMaster" Target="/ppt/notesMasters/notesMaster1.xml" Id="R0472f5ea7c474f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4a7b7cfc984f64" /><Relationship Type="http://schemas.openxmlformats.org/officeDocument/2006/relationships/notesMaster" Target="/ppt/notesMasters/notesMaster1.xml" Id="R046f27bd8ce94c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21ca8ccc1f48e0" /><Relationship Type="http://schemas.openxmlformats.org/officeDocument/2006/relationships/notesMaster" Target="/ppt/notesMasters/notesMaster1.xml" Id="Ra2e14e2e0f8d45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bb9fdf357b4585" /><Relationship Type="http://schemas.openxmlformats.org/officeDocument/2006/relationships/notesMaster" Target="/ppt/notesMasters/notesMaster1.xml" Id="Ra9a37eff384b43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26c0cda41b410d" /><Relationship Type="http://schemas.openxmlformats.org/officeDocument/2006/relationships/notesMaster" Target="/ppt/notesMasters/notesMaster1.xml" Id="R0644ab5212f940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51191ab9b04eda" /><Relationship Type="http://schemas.openxmlformats.org/officeDocument/2006/relationships/notesMaster" Target="/ppt/notesMasters/notesMaster1.xml" Id="R4bc025b2411e41e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0d99d2a92344ce" /><Relationship Type="http://schemas.openxmlformats.org/officeDocument/2006/relationships/notesMaster" Target="/ppt/notesMasters/notesMaster1.xml" Id="Rce9fa284270e408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09e490cf6d4fec" /><Relationship Type="http://schemas.openxmlformats.org/officeDocument/2006/relationships/notesMaster" Target="/ppt/notesMasters/notesMaster1.xml" Id="Ra5ee96b28e904a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7ae0b2685943cb" /><Relationship Type="http://schemas.openxmlformats.org/officeDocument/2006/relationships/notesMaster" Target="/ppt/notesMasters/notesMaster1.xml" Id="Rd81a1a3e1a2244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2428e4cbdeb4a08" /><Relationship Type="http://schemas.openxmlformats.org/officeDocument/2006/relationships/notesMaster" Target="/ppt/notesMasters/notesMaster1.xml" Id="Reaf7c266900043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00d6a4bb93b471a" /><Relationship Type="http://schemas.openxmlformats.org/officeDocument/2006/relationships/notesMaster" Target="/ppt/notesMasters/notesMaster1.xml" Id="Rbb7177e51e67431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c63f285e3da4480" /><Relationship Type="http://schemas.openxmlformats.org/officeDocument/2006/relationships/notesMaster" Target="/ppt/notesMasters/notesMaster1.xml" Id="R8d9bc913dd9046a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d60c27b79634ca2" /><Relationship Type="http://schemas.openxmlformats.org/officeDocument/2006/relationships/notesMaster" Target="/ppt/notesMasters/notesMaster1.xml" Id="R051bb5ea2a2d43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026bd80c8d5408c" /><Relationship Type="http://schemas.openxmlformats.org/officeDocument/2006/relationships/notesMaster" Target="/ppt/notesMasters/notesMaster1.xml" Id="R1ea06d77fd3044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2660afd96b741c4" /><Relationship Type="http://schemas.openxmlformats.org/officeDocument/2006/relationships/notesMaster" Target="/ppt/notesMasters/notesMaster1.xml" Id="R94dbe442e3df45b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747666048db4ca2" /><Relationship Type="http://schemas.openxmlformats.org/officeDocument/2006/relationships/notesMaster" Target="/ppt/notesMasters/notesMaster1.xml" Id="R775fedbef990462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e9b3d11758545a5" /><Relationship Type="http://schemas.openxmlformats.org/officeDocument/2006/relationships/notesMaster" Target="/ppt/notesMasters/notesMaster1.xml" Id="Raa4d3f7cc792408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9be284ca8524f78" /><Relationship Type="http://schemas.openxmlformats.org/officeDocument/2006/relationships/notesMaster" Target="/ppt/notesMasters/notesMaster1.xml" Id="R3583a57d51114c7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c68f74d754f43e6" /><Relationship Type="http://schemas.openxmlformats.org/officeDocument/2006/relationships/notesMaster" Target="/ppt/notesMasters/notesMaster1.xml" Id="R6300072dc71747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Making the project understandable and runnable</a:t>
            </a:r>
          </a:p>
          <a:p xmlns:a="http://schemas.openxmlformats.org/drawingml/2006/main">
            <a:r>
              <a:t>Explanation to give</a:t>
            </a:r>
          </a:p>
          <a:p xmlns:a="http://schemas.openxmlformats.org/drawingml/2006/main">
            <a:r>
              <a:t>The handover should reproduce the result using the files and instructions alone. Saved output is insufficient evidence.</a:t>
            </a:r>
          </a:p>
          <a:p xmlns:a="http://schemas.openxmlformats.org/drawingml/2006/main">
            <a:r>
              <a:t/>
            </a:r>
          </a:p>
          <a:p xmlns:a="http://schemas.openxmlformats.org/drawingml/2006/main">
            <a:r>
              <a:t>Worked illustration / lecturer answer</a:t>
            </a:r>
          </a:p>
          <a:p xmlns:a="http://schemas.openxmlformats.org/drawingml/2006/main">
            <a:r>
              <a:t>Restart, load the stated data and follow the README literally. A mismatch between a documented filename and the actual file is a handover defect to fix.</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Communications, Electrical, Mechatronics and Robotics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Today’s learning</a:t>
            </a:r>
          </a:p>
          <a:p xmlns:a="http://schemas.openxmlformats.org/drawingml/2006/main">
            <a:r>
              <a:t>Explanation to give</a:t>
            </a:r>
          </a:p>
          <a:p xmlns:a="http://schemas.openxmlformats.org/drawingml/2006/main">
            <a:r>
              <a:t>The handover should reproduce the result using the files and instructions alone. Saved output is insufficient evidence.</a:t>
            </a:r>
          </a:p>
          <a:p xmlns:a="http://schemas.openxmlformats.org/drawingml/2006/main">
            <a:r>
              <a:t/>
            </a:r>
          </a:p>
          <a:p xmlns:a="http://schemas.openxmlformats.org/drawingml/2006/main">
            <a:r>
              <a:t>Worked illustration / lecturer answer</a:t>
            </a:r>
          </a:p>
          <a:p xmlns:a="http://schemas.openxmlformats.org/drawingml/2006/main">
            <a:r>
              <a:t>Restart, load the stated data and follow the README literally. A mismatch between a documented filename and the actual file is a handover defect to fix.</a:t>
            </a:r>
          </a:p>
          <a:p xmlns:a="http://schemas.openxmlformats.org/drawingml/2006/main">
            <a:r>
              <a:t/>
            </a:r>
          </a:p>
          <a:p xmlns:a="http://schemas.openxmlformats.org/drawingml/2006/main">
            <a:r>
              <a:t>Misconception to address</a:t>
            </a:r>
          </a:p>
          <a:p xmlns:a="http://schemas.openxmlformats.org/drawingml/2006/main">
            <a:r>
              <a:t>At the end, check the specific outcome shown here using a small previously demonstrated example. A completed file without an explanation is not evidence of understanding.</a:t>
            </a:r>
          </a:p>
          <a:p xmlns:a="http://schemas.openxmlformats.org/drawingml/2006/main">
            <a:r>
              <a:t/>
            </a:r>
          </a:p>
          <a:p xmlns:a="http://schemas.openxmlformats.org/drawingml/2006/main">
            <a:r>
              <a:t>On this slide</a:t>
            </a:r>
          </a:p>
          <a:p xmlns:a="http://schemas.openxmlformats.org/drawingml/2006/main">
            <a:r>
              <a:t>Run the project from a fresh session.</a:t>
            </a:r>
          </a:p>
          <a:p xmlns:a="http://schemas.openxmlformats.org/drawingml/2006/main">
            <a:r>
              <a:t/>
            </a:r>
          </a:p>
          <a:p xmlns:a="http://schemas.openxmlformats.org/drawingml/2006/main">
            <a:r>
              <a:t>Repair unclear run instructions using a fresh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Connection to the previous lesson</a:t>
            </a:r>
          </a:p>
          <a:p xmlns:a="http://schemas.openxmlformats.org/drawingml/2006/main">
            <a:r>
              <a:t>Explanation to give</a:t>
            </a:r>
          </a:p>
          <a:p xmlns:a="http://schemas.openxmlformats.org/drawingml/2006/main">
            <a:r>
              <a:t>The handover should reproduce the result using the files and instructions alone. Saved output is insufficient evidence.</a:t>
            </a:r>
          </a:p>
          <a:p xmlns:a="http://schemas.openxmlformats.org/drawingml/2006/main">
            <a:r>
              <a:t/>
            </a:r>
          </a:p>
          <a:p xmlns:a="http://schemas.openxmlformats.org/drawingml/2006/main">
            <a:r>
              <a:t>Worked illustration / lecturer answer</a:t>
            </a:r>
          </a:p>
          <a:p xmlns:a="http://schemas.openxmlformats.org/drawingml/2006/main">
            <a:r>
              <a:t>Restart, load the stated data and follow the README literally. A mismatch between a documented filename and the actual file is a handover defect to fix.</a:t>
            </a:r>
          </a:p>
          <a:p xmlns:a="http://schemas.openxmlformats.org/drawingml/2006/main">
            <a:r>
              <a:t/>
            </a:r>
          </a:p>
          <a:p xmlns:a="http://schemas.openxmlformats.org/drawingml/2006/main">
            <a:r>
              <a:t>Misconception to address</a:t>
            </a:r>
          </a:p>
          <a:p xmlns:a="http://schemas.openxmlformats.org/drawingml/2006/main">
            <a:r>
              <a:t>Connect this to the previous result named on this slide. Demonstrate the first step again if necessary; there is no requirement for partner work before the explanation.</a:t>
            </a:r>
          </a:p>
          <a:p xmlns:a="http://schemas.openxmlformats.org/drawingml/2006/main">
            <a:r>
              <a:t/>
            </a:r>
          </a:p>
          <a:p xmlns:a="http://schemas.openxmlformats.org/drawingml/2006/main">
            <a:r>
              <a:t>On this slide</a:t>
            </a:r>
          </a:p>
          <a:p xmlns:a="http://schemas.openxmlformats.org/drawingml/2006/main">
            <a:r>
              <a:t>The models and charts already exist. The remaining task is to make the evidence understandable and runnable from the supplied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revision, not a new test requirement. Lists can name columns or hold returned predictions, but students do not need to rebuild table operations with manual CSV loops. Existing function signatures, marks and allowed-resource rules stay unchanged.</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data/raw as folders inside the project. A path starting with a private machine username will fail elsewhere. Keep raw data separate and never overwrite it with cleaned data.</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this week’s tools are needed</a:t>
            </a:r>
          </a:p>
          <a:p xmlns:a="http://schemas.openxmlformats.org/drawingml/2006/main">
            <a:r>
              <a:t>Explanation to give</a:t>
            </a:r>
          </a:p>
          <a:p xmlns:a="http://schemas.openxmlformats.org/drawingml/2006/main">
            <a:r>
              <a:t>The handover should reproduce the result using the files and instructions alone. Saved output is insufficient evidence.</a:t>
            </a:r>
          </a:p>
          <a:p xmlns:a="http://schemas.openxmlformats.org/drawingml/2006/main">
            <a:r>
              <a:t/>
            </a:r>
          </a:p>
          <a:p xmlns:a="http://schemas.openxmlformats.org/drawingml/2006/main">
            <a:r>
              <a:t>Worked illustration / lecturer answer</a:t>
            </a:r>
          </a:p>
          <a:p xmlns:a="http://schemas.openxmlformats.org/drawingml/2006/main">
            <a:r>
              <a:t>Restart, load the stated data and follow the README literally. A mismatch between a documented filename and the actual file is a handover defect to fix.</a:t>
            </a:r>
          </a:p>
          <a:p xmlns:a="http://schemas.openxmlformats.org/drawingml/2006/main">
            <a:r>
              <a:t/>
            </a:r>
          </a:p>
          <a:p xmlns:a="http://schemas.openxmlformats.org/drawingml/2006/main">
            <a:r>
              <a:t>Misconception to address</a:t>
            </a:r>
          </a:p>
          <a:p xmlns:a="http://schemas.openxmlformats.org/drawingml/2006/main">
            <a:r>
              <a:t>Connect this to the previous result named on this slide. Demonstrate the first step again if necessary; there is no requirement for partner work before the explanation.</a:t>
            </a:r>
          </a:p>
          <a:p xmlns:a="http://schemas.openxmlformats.org/drawingml/2006/main">
            <a:r>
              <a:t/>
            </a:r>
          </a:p>
          <a:p xmlns:a="http://schemas.openxmlformats.org/drawingml/2006/main">
            <a:r>
              <a:t>On this slide</a:t>
            </a:r>
          </a:p>
          <a:p xmlns:a="http://schemas.openxmlformats.org/drawingml/2006/main">
            <a:r>
              <a:t>A project is ready for handover when its files and written instructions reproduce its results in a fresh session. Check each claim against the results in your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Reproducibility and Dependency</a:t>
            </a:r>
          </a:p>
          <a:p xmlns:a="http://schemas.openxmlformats.org/drawingml/2006/main">
            <a:r>
              <a:t>Explanation to give</a:t>
            </a:r>
          </a:p>
          <a:p xmlns:a="http://schemas.openxmlformats.org/drawingml/2006/main">
            <a:r>
              <a:t>A reproducible handover gives another person enough files and instructions to obtain the reported result from a fresh environment. Saved outputs can survive even when the code no longer produces them.</a:t>
            </a:r>
          </a:p>
          <a:p xmlns:a="http://schemas.openxmlformats.org/drawingml/2006/main">
            <a:r>
              <a:t/>
            </a:r>
          </a:p>
          <a:p xmlns:a="http://schemas.openxmlformats.org/drawingml/2006/main">
            <a:r>
              <a:t>Worked illustration / lecturer answer</a:t>
            </a:r>
          </a:p>
          <a:p xmlns:a="http://schemas.openxmlformats.org/drawingml/2006/main">
            <a:r>
              <a:t>Restart, load the documented data and run from the first cell. If a later cell relies on a deleted variable, the clean run reveals the missing step. Record the required Python libraries and versions.</a:t>
            </a:r>
          </a:p>
          <a:p xmlns:a="http://schemas.openxmlformats.org/drawingml/2006/main">
            <a:r>
              <a:t/>
            </a:r>
          </a:p>
          <a:p xmlns:a="http://schemas.openxmlformats.org/drawingml/2006/main">
            <a:r>
              <a:t>Misconception to address</a:t>
            </a:r>
          </a:p>
          <a:p xmlns:a="http://schemas.openxmlformats.org/drawingml/2006/main">
            <a:r>
              <a:t>Restarting the runtime clears variables; it does not necessarily restore deleted data files. Re-upload or locate the documented inputs before the fresh run.</a:t>
            </a:r>
          </a:p>
          <a:p xmlns:a="http://schemas.openxmlformats.org/drawingml/2006/main">
            <a:r>
              <a:t/>
            </a:r>
          </a:p>
          <a:p xmlns:a="http://schemas.openxmlformats.org/drawingml/2006/main">
            <a:r>
              <a:t>On this slide</a:t>
            </a:r>
          </a:p>
          <a:p xmlns:a="http://schemas.openxmlformats.org/drawingml/2006/main">
            <a:r>
              <a:t>Reproducibility: Another person can use the stated data, environment and steps to check the result. Terminology varies; state the operational test_data.</a:t>
            </a:r>
          </a:p>
          <a:p xmlns:a="http://schemas.openxmlformats.org/drawingml/2006/main">
            <a:r>
              <a:t>Dependency: A package your code needs. Record versions actually used, rather than guessing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Relative path and README</a:t>
            </a:r>
          </a:p>
          <a:p xmlns:a="http://schemas.openxmlformats.org/drawingml/2006/main">
            <a:r>
              <a:t>Explanation to give</a:t>
            </a:r>
          </a:p>
          <a:p xmlns:a="http://schemas.openxmlformats.org/drawingml/2006/main">
            <a:r>
              <a:t>A path identifies where a file is found. A relative path starts from the current working directory. Explain each folder component and the final practice_filename.</a:t>
            </a:r>
          </a:p>
          <a:p xmlns:a="http://schemas.openxmlformats.org/drawingml/2006/main">
            <a:r>
              <a:t/>
            </a:r>
          </a:p>
          <a:p xmlns:a="http://schemas.openxmlformats.org/drawingml/2006/main">
            <a:r>
              <a:t>Worked illustration / lecturer answer</a:t>
            </a:r>
          </a:p>
          <a:p xmlns:a="http://schemas.openxmlformats.org/drawingml/2006/main">
            <a:r>
              <a:t>data/readings.csv means the readings.csv file inside a data folder under the current working directory. A path from your own Downloads folder will usually fail on another person's machine.</a:t>
            </a:r>
          </a:p>
          <a:p xmlns:a="http://schemas.openxmlformats.org/drawingml/2006/main">
            <a:r>
              <a:t/>
            </a:r>
          </a:p>
          <a:p xmlns:a="http://schemas.openxmlformats.org/drawingml/2006/main">
            <a:r>
              <a:t>Misconception to address</a:t>
            </a:r>
          </a:p>
          <a:p xmlns:a="http://schemas.openxmlformats.org/drawingml/2006/main">
            <a:r>
              <a:t>The working directory is not automatically the notebook's own folder in every tool. Check it and organise the project rather than hard-coding a personal absolute path.</a:t>
            </a:r>
          </a:p>
          <a:p xmlns:a="http://schemas.openxmlformats.org/drawingml/2006/main">
            <a:r>
              <a:t/>
            </a:r>
          </a:p>
          <a:p xmlns:a="http://schemas.openxmlformats.org/drawingml/2006/main">
            <a:r>
              <a:t>On this slide</a:t>
            </a:r>
          </a:p>
          <a:p xmlns:a="http://schemas.openxmlformats.org/drawingml/2006/main">
            <a:r>
              <a:t>Relative path: A location interpreted from the current working folder. It is not always relative to the notebook file itself.</a:t>
            </a:r>
          </a:p>
          <a:p xmlns:a="http://schemas.openxmlformats.org/drawingml/2006/main">
            <a:r>
              <a:t>README: The project’s instructions: question, files, data source, environment, run order, results and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README</a:t>
            </a:r>
          </a:p>
          <a:p xmlns:a="http://schemas.openxmlformats.org/drawingml/2006/main">
            <a:r>
              <a:t>Explanation to give</a:t>
            </a:r>
          </a:p>
          <a:p xmlns:a="http://schemas.openxmlformats.org/drawingml/2006/main">
            <a:r>
              <a:t>Treat the README as instructions for someone opening the project for the first time. Name the files, setup requirements, entry notebook and exact order needed to reproduce the result.</a:t>
            </a:r>
          </a:p>
          <a:p xmlns:a="http://schemas.openxmlformats.org/drawingml/2006/main">
            <a:r>
              <a:t/>
            </a:r>
          </a:p>
          <a:p xmlns:a="http://schemas.openxmlformats.org/drawingml/2006/main">
            <a:r>
              <a:t>Worked illustration / lecturer answer</a:t>
            </a:r>
          </a:p>
          <a:p xmlns:a="http://schemas.openxmlformats.org/drawingml/2006/main">
            <a:r>
              <a:t>Replace “run the analysis” with “Open analysis.ipynb, place readings.csv in data/, restart the runtime and run all cells.” A useful repair comment names the failed step and the corrected practice_filename.</a:t>
            </a:r>
          </a:p>
          <a:p xmlns:a="http://schemas.openxmlformats.org/drawingml/2006/main">
            <a:r>
              <a:t/>
            </a:r>
          </a:p>
          <a:p xmlns:a="http://schemas.openxmlformats.org/drawingml/2006/main">
            <a:r>
              <a:t>Misconception to address</a:t>
            </a:r>
          </a:p>
          <a:p xmlns:a="http://schemas.openxmlformats.org/drawingml/2006/main">
            <a:r>
              <a:t>A repository URL proves a location exists, not that the work runs or was submitted. Contribution claims should point to specific work, not only a count of commits.</a:t>
            </a:r>
          </a:p>
          <a:p xmlns:a="http://schemas.openxmlformats.org/drawingml/2006/main">
            <a:r>
              <a:t/>
            </a:r>
          </a:p>
          <a:p xmlns:a="http://schemas.openxmlformats.org/drawingml/2006/main">
            <a:r>
              <a:t>On this slide</a:t>
            </a:r>
          </a:p>
          <a:p xmlns:a="http://schemas.openxmlformats.org/drawingml/2006/main">
            <a:r>
              <a:t>State the engineering question and target unit.</a:t>
            </a:r>
          </a:p>
          <a:p xmlns:a="http://schemas.openxmlformats.org/drawingml/2006/main">
            <a:r>
              <a:t/>
            </a:r>
          </a:p>
          <a:p xmlns:a="http://schemas.openxmlformats.org/drawingml/2006/main">
            <a:r>
              <a:t>List the supplied data and required software versions.</a:t>
            </a:r>
          </a:p>
          <a:p xmlns:a="http://schemas.openxmlformats.org/drawingml/2006/main">
            <a:r>
              <a:t/>
            </a:r>
          </a:p>
          <a:p xmlns:a="http://schemas.openxmlformats.org/drawingml/2006/main">
            <a:r>
              <a:t>Give the order for running the notebook from a fresh session.</a:t>
            </a:r>
          </a:p>
          <a:p xmlns:a="http://schemas.openxmlformats.org/drawingml/2006/main">
            <a:r>
              <a:t/>
            </a:r>
          </a:p>
          <a:p xmlns:a="http://schemas.openxmlformats.org/drawingml/2006/main">
            <a:r>
              <a:t>State limitations and each member’s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Someone else needs to reproduce the result</a:t>
            </a:r>
          </a:p>
          <a:p xmlns:a="http://schemas.openxmlformats.org/drawingml/2006/main">
            <a:r>
              <a:t>Explanation to give</a:t>
            </a:r>
          </a:p>
          <a:p xmlns:a="http://schemas.openxmlformats.org/drawingml/2006/main">
            <a:r>
              <a:t>Describe a handover as a reproducibility test carried out with only the delivered files and written directions. The person checking it should not need your memory of previous actions.</a:t>
            </a:r>
          </a:p>
          <a:p xmlns:a="http://schemas.openxmlformats.org/drawingml/2006/main">
            <a:r>
              <a:t/>
            </a:r>
          </a:p>
          <a:p xmlns:a="http://schemas.openxmlformats.org/drawingml/2006/main">
            <a:r>
              <a:t>Worked illustration / lecturer answer</a:t>
            </a:r>
          </a:p>
          <a:p xmlns:a="http://schemas.openxmlformats.org/drawingml/2006/main">
            <a:r>
              <a:t>Close the runtime, start fresh and follow the README literally. If it names data.csv while the folder contains readings.csv, repair the instructions and repeat the check.</a:t>
            </a:r>
          </a:p>
          <a:p xmlns:a="http://schemas.openxmlformats.org/drawingml/2006/main">
            <a:r>
              <a:t/>
            </a:r>
          </a:p>
          <a:p xmlns:a="http://schemas.openxmlformats.org/drawingml/2006/main">
            <a:r>
              <a:t>Misconception to address</a:t>
            </a:r>
          </a:p>
          <a:p xmlns:a="http://schemas.openxmlformats.org/drawingml/2006/main">
            <a:r>
              <a:t>A screenshot of a successful old output is not proof that today's package works from a clean prediction_start_time.</a:t>
            </a:r>
          </a:p>
          <a:p xmlns:a="http://schemas.openxmlformats.org/drawingml/2006/main">
            <a:r>
              <a:t/>
            </a:r>
          </a:p>
          <a:p xmlns:a="http://schemas.openxmlformats.org/drawingml/2006/main">
            <a:r>
              <a:t>On this slide</a:t>
            </a:r>
          </a:p>
          <a:p xmlns:a="http://schemas.openxmlformats.org/drawingml/2006/main">
            <a:r>
              <a:t>Which instructions would a new user need?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reproducible notebook starts fresh</a:t>
            </a:r>
          </a:p>
          <a:p xmlns:a="http://schemas.openxmlformats.org/drawingml/2006/main">
            <a:r>
              <a:t>Explanation to give</a:t>
            </a:r>
          </a:p>
          <a:p xmlns:a="http://schemas.openxmlformats.org/drawingml/2006/main">
            <a:r>
              <a:t>A reproducible handover gives another person enough files and instructions to obtain the reported result from a fresh environment. Saved outputs can survive even when the code no longer produces them.</a:t>
            </a:r>
          </a:p>
          <a:p xmlns:a="http://schemas.openxmlformats.org/drawingml/2006/main">
            <a:r>
              <a:t/>
            </a:r>
          </a:p>
          <a:p xmlns:a="http://schemas.openxmlformats.org/drawingml/2006/main">
            <a:r>
              <a:t>Worked illustration / lecturer answer</a:t>
            </a:r>
          </a:p>
          <a:p xmlns:a="http://schemas.openxmlformats.org/drawingml/2006/main">
            <a:r>
              <a:t>Restart, load the documented data and run from the first cell. If a later cell relies on a deleted variable, the clean run reveals the missing step. Record the required Python libraries and versions.</a:t>
            </a:r>
          </a:p>
          <a:p xmlns:a="http://schemas.openxmlformats.org/drawingml/2006/main">
            <a:r>
              <a:t/>
            </a:r>
          </a:p>
          <a:p xmlns:a="http://schemas.openxmlformats.org/drawingml/2006/main">
            <a:r>
              <a:t>Misconception to address</a:t>
            </a:r>
          </a:p>
          <a:p xmlns:a="http://schemas.openxmlformats.org/drawingml/2006/main">
            <a:r>
              <a:t>Restarting the runtime clears variables; it does not necessarily restore deleted data files. Re-upload or locate the documented inputs before the fresh run.</a:t>
            </a:r>
          </a:p>
          <a:p xmlns:a="http://schemas.openxmlformats.org/drawingml/2006/main">
            <a:r>
              <a:t/>
            </a:r>
          </a:p>
          <a:p xmlns:a="http://schemas.openxmlformats.org/drawingml/2006/main">
            <a:r>
              <a:t>On this slide</a:t>
            </a:r>
          </a:p>
          <a:p xmlns:a="http://schemas.openxmlformats.org/drawingml/2006/main">
            <a:r>
              <a:t>The saved outputs must agree with a fresh run in the stated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outputs can hide missing steps</a:t>
            </a:r>
          </a:p>
          <a:p xmlns:a="http://schemas.openxmlformats.org/drawingml/2006/main">
            <a:r>
              <a:t>Explanation to give</a:t>
            </a:r>
          </a:p>
          <a:p xmlns:a="http://schemas.openxmlformats.org/drawingml/2006/main">
            <a:r>
              <a:t>A reproducible handover gives another person enough files and instructions to obtain the reported result from a fresh environment. Saved outputs can survive even when the code no longer produces them.</a:t>
            </a:r>
          </a:p>
          <a:p xmlns:a="http://schemas.openxmlformats.org/drawingml/2006/main">
            <a:r>
              <a:t/>
            </a:r>
          </a:p>
          <a:p xmlns:a="http://schemas.openxmlformats.org/drawingml/2006/main">
            <a:r>
              <a:t>Worked illustration / lecturer answer</a:t>
            </a:r>
          </a:p>
          <a:p xmlns:a="http://schemas.openxmlformats.org/drawingml/2006/main">
            <a:r>
              <a:t>Restart, load the documented data and run from the first cell. If a later cell relies on a deleted variable, the clean run reveals the missing step. Record the required Python libraries and versions.</a:t>
            </a:r>
          </a:p>
          <a:p xmlns:a="http://schemas.openxmlformats.org/drawingml/2006/main">
            <a:r>
              <a:t/>
            </a:r>
          </a:p>
          <a:p xmlns:a="http://schemas.openxmlformats.org/drawingml/2006/main">
            <a:r>
              <a:t>Misconception to address</a:t>
            </a:r>
          </a:p>
          <a:p xmlns:a="http://schemas.openxmlformats.org/drawingml/2006/main">
            <a:r>
              <a:t>Restarting the runtime clears variables; it does not necessarily restore deleted data files. Re-upload or locate the documented inputs before the fresh run.</a:t>
            </a:r>
          </a:p>
          <a:p xmlns:a="http://schemas.openxmlformats.org/drawingml/2006/main">
            <a:r>
              <a:t/>
            </a:r>
          </a:p>
          <a:p xmlns:a="http://schemas.openxmlformats.org/drawingml/2006/main">
            <a:r>
              <a:t>On this slide</a:t>
            </a:r>
          </a:p>
          <a:p xmlns:a="http://schemas.openxmlformats.org/drawingml/2006/main">
            <a:r>
              <a:t>A notebook can display an old answer after its inputs have changed.</a:t>
            </a:r>
          </a:p>
          <a:p xmlns:a="http://schemas.openxmlformats.org/drawingml/2006/main">
            <a:r>
              <a:t/>
            </a:r>
          </a:p>
          <a:p xmlns:a="http://schemas.openxmlformats.org/drawingml/2006/main">
            <a:r>
              <a:t>A fresh session begins without the old variables.</a:t>
            </a:r>
          </a:p>
          <a:p xmlns:a="http://schemas.openxmlformats.org/drawingml/2006/main">
            <a:r>
              <a:t/>
            </a:r>
          </a:p>
          <a:p xmlns:a="http://schemas.openxmlformats.org/drawingml/2006/main">
            <a:r>
              <a:t>Restarting and running all tests whether the stated order creates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path names where a file is found</a:t>
            </a:r>
          </a:p>
          <a:p xmlns:a="http://schemas.openxmlformats.org/drawingml/2006/main">
            <a:r>
              <a:t>Explanation to give</a:t>
            </a:r>
          </a:p>
          <a:p xmlns:a="http://schemas.openxmlformats.org/drawingml/2006/main">
            <a:r>
              <a:t>A path identifies where a file is found. A relative path starts from the current working directory. Explain each folder component and the final practice_filename.</a:t>
            </a:r>
          </a:p>
          <a:p xmlns:a="http://schemas.openxmlformats.org/drawingml/2006/main">
            <a:r>
              <a:t/>
            </a:r>
          </a:p>
          <a:p xmlns:a="http://schemas.openxmlformats.org/drawingml/2006/main">
            <a:r>
              <a:t>Worked illustration / lecturer answer</a:t>
            </a:r>
          </a:p>
          <a:p xmlns:a="http://schemas.openxmlformats.org/drawingml/2006/main">
            <a:r>
              <a:t>data/readings.csv means the readings.csv file inside a data folder under the current working directory. A path from your own Downloads folder will usually fail on another person's machine.</a:t>
            </a:r>
          </a:p>
          <a:p xmlns:a="http://schemas.openxmlformats.org/drawingml/2006/main">
            <a:r>
              <a:t/>
            </a:r>
          </a:p>
          <a:p xmlns:a="http://schemas.openxmlformats.org/drawingml/2006/main">
            <a:r>
              <a:t>Misconception to address</a:t>
            </a:r>
          </a:p>
          <a:p xmlns:a="http://schemas.openxmlformats.org/drawingml/2006/main">
            <a:r>
              <a:t>The working directory is not automatically the notebook's own folder in every tool. Check it and organise the project rather than hard-coding a personal absolute path.</a:t>
            </a:r>
          </a:p>
          <a:p xmlns:a="http://schemas.openxmlformats.org/drawingml/2006/main">
            <a:r>
              <a:t/>
            </a:r>
          </a:p>
          <a:p xmlns:a="http://schemas.openxmlformats.org/drawingml/2006/main">
            <a:r>
              <a:t>On this slide</a:t>
            </a:r>
          </a:p>
          <a:p xmlns:a="http://schemas.openxmlformats.org/drawingml/2006/main">
            <a:r>
              <a:t>A relative path is interpreted from the current working folder.</a:t>
            </a:r>
          </a:p>
          <a:p xmlns:a="http://schemas.openxmlformats.org/drawingml/2006/main">
            <a:r>
              <a:t/>
            </a:r>
          </a:p>
          <a:p xmlns:a="http://schemas.openxmlformats.org/drawingml/2006/main">
            <a:r>
              <a:t>Package versions describe the software used to run the code.</a:t>
            </a:r>
          </a:p>
          <a:p xmlns:a="http://schemas.openxmlformats.org/drawingml/2006/main">
            <a:r>
              <a:t/>
            </a:r>
          </a:p>
          <a:p xmlns:a="http://schemas.openxmlformats.org/drawingml/2006/main">
            <a:r>
              <a:t>The README must give both run instructions and data-access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path example</a:t>
            </a:r>
          </a:p>
          <a:p xmlns:a="http://schemas.openxmlformats.org/drawingml/2006/main">
            <a:r>
              <a:t>Explanation to give</a:t>
            </a:r>
          </a:p>
          <a:p xmlns:a="http://schemas.openxmlformats.org/drawingml/2006/main">
            <a:r>
              <a:t>A path identifies where a file is found. A relative path starts from the current working directory. Explain each folder component and the final practice_filename.</a:t>
            </a:r>
          </a:p>
          <a:p xmlns:a="http://schemas.openxmlformats.org/drawingml/2006/main">
            <a:r>
              <a:t/>
            </a:r>
          </a:p>
          <a:p xmlns:a="http://schemas.openxmlformats.org/drawingml/2006/main">
            <a:r>
              <a:t>Worked illustration / lecturer answer</a:t>
            </a:r>
          </a:p>
          <a:p xmlns:a="http://schemas.openxmlformats.org/drawingml/2006/main">
            <a:r>
              <a:t>data/readings.csv means the readings.csv file inside a data folder under the current working directory. A path from your own Downloads folder will usually fail on another person's machine.</a:t>
            </a:r>
          </a:p>
          <a:p xmlns:a="http://schemas.openxmlformats.org/drawingml/2006/main">
            <a:r>
              <a:t/>
            </a:r>
          </a:p>
          <a:p xmlns:a="http://schemas.openxmlformats.org/drawingml/2006/main">
            <a:r>
              <a:t>Misconception to address</a:t>
            </a:r>
          </a:p>
          <a:p xmlns:a="http://schemas.openxmlformats.org/drawingml/2006/main">
            <a:r>
              <a:t>The working directory is not automatically the notebook's own folder in every tool. Check it and organise the project rather than hard-coding a personal absolute path.</a:t>
            </a:r>
          </a:p>
          <a:p xmlns:a="http://schemas.openxmlformats.org/drawingml/2006/main">
            <a:r>
              <a:t/>
            </a:r>
          </a:p>
          <a:p xmlns:a="http://schemas.openxmlformats.org/drawingml/2006/main">
            <a:r>
              <a:t>On this slide</a:t>
            </a:r>
          </a:p>
          <a:p xmlns:a="http://schemas.openxmlformats.org/drawingml/2006/main">
            <a:r>
              <a:t>Path and cwd: Path is a tool imported from Python’s pathlib module. Path.cwd() returns the folder where Python is currently running.</a:t>
            </a:r>
          </a:p>
          <a:p xmlns:a="http://schemas.openxmlformats.org/drawingml/2006/main">
            <a:r>
              <a:t>name: The .name property gives the last folder component as text. It depends on your runtime. A different folder name is expected on another computer.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another person what the project needs</a:t>
            </a:r>
          </a:p>
          <a:p xmlns:a="http://schemas.openxmlformats.org/drawingml/2006/main">
            <a:r>
              <a:t>Explanation to give</a:t>
            </a:r>
          </a:p>
          <a:p xmlns:a="http://schemas.openxmlformats.org/drawingml/2006/main">
            <a:r>
              <a:t>Treat the README as instructions for someone opening the project for the first time. Name the files, setup requirements, entry notebook and exact order needed to reproduce the result.</a:t>
            </a:r>
          </a:p>
          <a:p xmlns:a="http://schemas.openxmlformats.org/drawingml/2006/main">
            <a:r>
              <a:t/>
            </a:r>
          </a:p>
          <a:p xmlns:a="http://schemas.openxmlformats.org/drawingml/2006/main">
            <a:r>
              <a:t>Worked illustration / lecturer answer</a:t>
            </a:r>
          </a:p>
          <a:p xmlns:a="http://schemas.openxmlformats.org/drawingml/2006/main">
            <a:r>
              <a:t>Replace “run the analysis” with “Open analysis.ipynb, place readings.csv in data/, restart the runtime and run all cells.” A useful repair comment names the failed step and the corrected practice_filename.</a:t>
            </a:r>
          </a:p>
          <a:p xmlns:a="http://schemas.openxmlformats.org/drawingml/2006/main">
            <a:r>
              <a:t/>
            </a:r>
          </a:p>
          <a:p xmlns:a="http://schemas.openxmlformats.org/drawingml/2006/main">
            <a:r>
              <a:t>Misconception to address</a:t>
            </a:r>
          </a:p>
          <a:p xmlns:a="http://schemas.openxmlformats.org/drawingml/2006/main">
            <a:r>
              <a:t>A repository URL proves a location exists, not that the work runs or was submitted. Contribution claims should point to specific work, not only a count of commits.</a:t>
            </a:r>
          </a:p>
          <a:p xmlns:a="http://schemas.openxmlformats.org/drawingml/2006/main">
            <a:r>
              <a:t/>
            </a:r>
          </a:p>
          <a:p xmlns:a="http://schemas.openxmlformats.org/drawingml/2006/main">
            <a:r>
              <a:t>On this slide</a:t>
            </a:r>
          </a:p>
          <a:p xmlns:a="http://schemas.openxmlformats.org/drawingml/2006/main">
            <a:r>
              <a:t>requirements.txt and versions: This text file lists required Python packages and their versions. Record the versions used in the working environment; test them with the supplied run instructions.</a:t>
            </a:r>
          </a:p>
          <a:p xmlns:a="http://schemas.openxmlformats.org/drawingml/2006/main">
            <a:r>
              <a:t>Data source, permission and seed: Name the data source and any licence or permission for reuse. Record random seeds used in modelling. A seed supports repeatability; it does not repair data leakage.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checks and contribution evidence</a:t>
            </a:r>
          </a:p>
          <a:p xmlns:a="http://schemas.openxmlformats.org/drawingml/2006/main">
            <a:r>
              <a:t>Explanation to give</a:t>
            </a:r>
          </a:p>
          <a:p xmlns:a="http://schemas.openxmlformats.org/drawingml/2006/main">
            <a:r>
              <a:t>Treat the README as instructions for someone opening the project for the first time. Name the files, setup requirements, entry notebook and exact order needed to reproduce the result.</a:t>
            </a:r>
          </a:p>
          <a:p xmlns:a="http://schemas.openxmlformats.org/drawingml/2006/main">
            <a:r>
              <a:t/>
            </a:r>
          </a:p>
          <a:p xmlns:a="http://schemas.openxmlformats.org/drawingml/2006/main">
            <a:r>
              <a:t>Worked illustration / lecturer answer</a:t>
            </a:r>
          </a:p>
          <a:p xmlns:a="http://schemas.openxmlformats.org/drawingml/2006/main">
            <a:r>
              <a:t>Replace “run the analysis” with “Open analysis.ipynb, place readings.csv in data/, restart the runtime and run all cells.” A useful repair comment names the failed step and the corrected practice_filename.</a:t>
            </a:r>
          </a:p>
          <a:p xmlns:a="http://schemas.openxmlformats.org/drawingml/2006/main">
            <a:r>
              <a:t/>
            </a:r>
          </a:p>
          <a:p xmlns:a="http://schemas.openxmlformats.org/drawingml/2006/main">
            <a:r>
              <a:t>Misconception to address</a:t>
            </a:r>
          </a:p>
          <a:p xmlns:a="http://schemas.openxmlformats.org/drawingml/2006/main">
            <a:r>
              <a:t>A repository URL proves a location exists, not that the work runs or was submitted. Contribution claims should point to specific work, not only a count of commits.</a:t>
            </a:r>
          </a:p>
          <a:p xmlns:a="http://schemas.openxmlformats.org/drawingml/2006/main">
            <a:r>
              <a:t/>
            </a:r>
          </a:p>
          <a:p xmlns:a="http://schemas.openxmlformats.org/drawingml/2006/main">
            <a:r>
              <a:t>On this slide</a:t>
            </a:r>
          </a:p>
          <a:p xmlns:a="http://schemas.openxmlformats.org/drawingml/2006/main">
            <a:r>
              <a:t>Independent run check: Restart the session and follow your written instructions without relying on earlier variables. Record the first failure and its repair.</a:t>
            </a:r>
          </a:p>
          <a:p xmlns:a="http://schemas.openxmlformats.org/drawingml/2006/main">
            <a:r>
              <a:t>Contribution evidence: A record of each person’s work, tied to files, commits or explanations. It does not require making a private repository public.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Useful feedback identifies an exact repair</a:t>
            </a:r>
          </a:p>
          <a:p xmlns:a="http://schemas.openxmlformats.org/drawingml/2006/main">
            <a:r>
              <a:t>Explanation to give</a:t>
            </a:r>
          </a:p>
          <a:p xmlns:a="http://schemas.openxmlformats.org/drawingml/2006/main">
            <a:r>
              <a:t>Treat the README as instructions for someone opening the project for the first time. Name the files, setup requirements, entry notebook and exact order needed to reproduce the result.</a:t>
            </a:r>
          </a:p>
          <a:p xmlns:a="http://schemas.openxmlformats.org/drawingml/2006/main">
            <a:r>
              <a:t/>
            </a:r>
          </a:p>
          <a:p xmlns:a="http://schemas.openxmlformats.org/drawingml/2006/main">
            <a:r>
              <a:t>Worked illustration / lecturer answer</a:t>
            </a:r>
          </a:p>
          <a:p xmlns:a="http://schemas.openxmlformats.org/drawingml/2006/main">
            <a:r>
              <a:t>Replace “run the analysis” with “Open analysis.ipynb, place readings.csv in data/, restart the runtime and run all cells.” A useful repair comment names the failed step and the corrected practice_filename.</a:t>
            </a:r>
          </a:p>
          <a:p xmlns:a="http://schemas.openxmlformats.org/drawingml/2006/main">
            <a:r>
              <a:t/>
            </a:r>
          </a:p>
          <a:p xmlns:a="http://schemas.openxmlformats.org/drawingml/2006/main">
            <a:r>
              <a:t>Misconception to address</a:t>
            </a:r>
          </a:p>
          <a:p xmlns:a="http://schemas.openxmlformats.org/drawingml/2006/main">
            <a:r>
              <a:t>A repository URL proves a location exists, not that the work runs or was submitted. Contribution claims should point to specific work, not only a count of commits.</a:t>
            </a:r>
          </a:p>
          <a:p xmlns:a="http://schemas.openxmlformats.org/drawingml/2006/main">
            <a:r>
              <a:t/>
            </a:r>
          </a:p>
          <a:p xmlns:a="http://schemas.openxmlformats.org/drawingml/2006/main">
            <a:r>
              <a:t>On this slide</a:t>
            </a:r>
          </a:p>
          <a:p xmlns:a="http://schemas.openxmlformats.org/drawingml/2006/main">
            <a:r>
              <a:t>Vague feedback: "It does not work."</a:t>
            </a:r>
          </a:p>
          <a:p xmlns:a="http://schemas.openxmlformats.org/drawingml/2006/main">
            <a:r>
              <a:t/>
            </a:r>
          </a:p>
          <a:p xmlns:a="http://schemas.openxmlformats.org/drawingml/2006/main">
            <a:r>
              <a:t>Useful feedback: "Step 2 names data.csv, but the supplied file is readings.csv."</a:t>
            </a:r>
          </a:p>
          <a:p xmlns:a="http://schemas.openxmlformats.org/drawingml/2006/main">
            <a:r>
              <a:t/>
            </a:r>
          </a:p>
          <a:p xmlns:a="http://schemas.openxmlformats.org/drawingml/2006/main">
            <a:r>
              <a:t>The repair is to make the instructions and actual filename agree.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example and answer</a:t>
            </a:r>
          </a:p>
          <a:p xmlns:a="http://schemas.openxmlformats.org/drawingml/2006/main">
            <a:r>
              <a:t>Explanation to give</a:t>
            </a:r>
          </a:p>
          <a:p xmlns:a="http://schemas.openxmlformats.org/drawingml/2006/main">
            <a:r>
              <a:t>Use the displayed example as a short individual revision question, then explain the reasoning behind its answer.</a:t>
            </a:r>
          </a:p>
          <a:p xmlns:a="http://schemas.openxmlformats.org/drawingml/2006/main">
            <a:r>
              <a:t/>
            </a:r>
          </a:p>
          <a:p xmlns:a="http://schemas.openxmlformats.org/drawingml/2006/main">
            <a:r>
              <a:t>Worked illustration / lecturer answer</a:t>
            </a:r>
          </a:p>
          <a:p xmlns:a="http://schemas.openxmlformats.org/drawingml/2006/main">
            <a:r>
              <a:t>Check: restart the notebook runtime and follow your README exactly, without using remembered variables.</a:t>
            </a:r>
          </a:p>
          <a:p xmlns:a="http://schemas.openxmlformats.org/drawingml/2006/main">
            <a:r>
              <a:t/>
            </a:r>
          </a:p>
          <a:p xmlns:a="http://schemas.openxmlformats.org/drawingml/2006/main">
            <a:r>
              <a:t>If Step 2 names data.csv but the file is readings.csv, correct the filename in the instructions. Run again from the beginning and record the successful result.</a:t>
            </a:r>
          </a:p>
          <a:p xmlns:a="http://schemas.openxmlformats.org/drawingml/2006/main">
            <a:r>
              <a:t/>
            </a:r>
          </a:p>
          <a:p xmlns:a="http://schemas.openxmlformats.org/drawingml/2006/main">
            <a:r>
              <a:t>Misconception to address</a:t>
            </a:r>
          </a:p>
          <a:p xmlns:a="http://schemas.openxmlformats.org/drawingml/2006/main">
            <a:r>
              <a:t>Trace the operation that changes the value rather than accepting a memorised output. For notebook-state examples, specify which cell is repeated and whether the initialisation ran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Preparing for the assignment</a:t>
            </a:r>
          </a:p>
          <a:p xmlns:a="http://schemas.openxmlformats.org/drawingml/2006/main">
            <a:r>
              <a:t>Explanation to give</a:t>
            </a:r>
          </a:p>
          <a:p xmlns:a="http://schemas.openxmlformats.org/drawingml/2006/main">
            <a:r>
              <a:t>Week 13 adds no new weekly assignment notebook. Use the time to make the existing project reproducible and prepare for the offline test_data.</a:t>
            </a:r>
          </a:p>
          <a:p xmlns:a="http://schemas.openxmlformats.org/drawingml/2006/main">
            <a:r>
              <a:t/>
            </a:r>
          </a:p>
          <a:p xmlns:a="http://schemas.openxmlformats.org/drawingml/2006/main">
            <a:r>
              <a:t>Worked illustration / lecturer answer</a:t>
            </a:r>
          </a:p>
          <a:p xmlns:a="http://schemas.openxmlformats.org/drawingml/2006/main">
            <a:r>
              <a:t>Open the project README, restart and follow its steps. Then rehearse locating and reopening the complete test notebook on the prepared offline computer.</a:t>
            </a:r>
          </a:p>
          <a:p xmlns:a="http://schemas.openxmlformats.org/drawingml/2006/main">
            <a:r>
              <a:t/>
            </a:r>
          </a:p>
          <a:p xmlns:a="http://schemas.openxmlformats.org/drawingml/2006/main">
            <a:r>
              <a:t>Misconception to address</a:t>
            </a:r>
          </a:p>
          <a:p xmlns:a="http://schemas.openxmlformats.org/drawingml/2006/main">
            <a:r>
              <a:t>Quiz 13 is a separate activity when activated. Do not invent an A13 upload or require students to submit an extra weekly report.</a:t>
            </a:r>
          </a:p>
          <a:p xmlns:a="http://schemas.openxmlformats.org/drawingml/2006/main">
            <a:r>
              <a:t/>
            </a:r>
          </a:p>
          <a:p xmlns:a="http://schemas.openxmlformats.org/drawingml/2006/main">
            <a:r>
              <a:t>On this slide</a:t>
            </a:r>
          </a:p>
          <a:p xmlns:a="http://schemas.openxmlformats.org/drawingml/2006/main">
            <a:r>
              <a:t>No new weekly assignment.</a:t>
            </a:r>
          </a:p>
          <a:p xmlns:a="http://schemas.openxmlformats.org/drawingml/2006/main">
            <a:r>
              <a:t/>
            </a:r>
          </a:p>
          <a:p xmlns:a="http://schemas.openxmlformats.org/drawingml/2006/main">
            <a:r>
              <a:t>Continue the official project deliverables and Week 13 quiz.</a:t>
            </a:r>
          </a:p>
          <a:p xmlns:a="http://schemas.openxmlformats.org/drawingml/2006/main">
            <a:r>
              <a:t/>
            </a:r>
          </a:p>
          <a:p xmlns:a="http://schemas.openxmlformats.org/drawingml/2006/main">
            <a:r>
              <a:t>Rehearse Colab Test 2 saving and submission and the published function interfaces before Week 14.</a:t>
            </a:r>
          </a:p>
          <a:p xmlns:a="http://schemas.openxmlformats.org/drawingml/2006/main">
            <a:r>
              <a:t/>
            </a:r>
          </a:p>
          <a:p xmlns:a="http://schemas.openxmlformats.org/drawingml/2006/main">
            <a:r>
              <a:t>Do not add an extra upload.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reproducible handover</a:t>
            </a:r>
          </a:p>
          <a:p xmlns:a="http://schemas.openxmlformats.org/drawingml/2006/main">
            <a:r>
              <a:t>Explanation to give</a:t>
            </a:r>
          </a:p>
          <a:p xmlns:a="http://schemas.openxmlformats.org/drawingml/2006/main">
            <a:r>
              <a:t>A reproducible handover gives another person enough files and instructions to obtain the reported result from a fresh environment. Saved outputs can survive even when the code no longer produces them.</a:t>
            </a:r>
          </a:p>
          <a:p xmlns:a="http://schemas.openxmlformats.org/drawingml/2006/main">
            <a:r>
              <a:t/>
            </a:r>
          </a:p>
          <a:p xmlns:a="http://schemas.openxmlformats.org/drawingml/2006/main">
            <a:r>
              <a:t>Worked illustration / lecturer answer</a:t>
            </a:r>
          </a:p>
          <a:p xmlns:a="http://schemas.openxmlformats.org/drawingml/2006/main">
            <a:r>
              <a:t>Restart, load the documented data and run from the first cell. If a later cell relies on a deleted variable, the clean run reveals the missing step. Record the required Python libraries and versions.</a:t>
            </a:r>
          </a:p>
          <a:p xmlns:a="http://schemas.openxmlformats.org/drawingml/2006/main">
            <a:r>
              <a:t/>
            </a:r>
          </a:p>
          <a:p xmlns:a="http://schemas.openxmlformats.org/drawingml/2006/main">
            <a:r>
              <a:t>Misconception to address</a:t>
            </a:r>
          </a:p>
          <a:p xmlns:a="http://schemas.openxmlformats.org/drawingml/2006/main">
            <a:r>
              <a:t>Restarting the runtime clears variables; it does not necessarily restore deleted data files. Re-upload or locate the documented inputs before the fresh run.</a:t>
            </a:r>
          </a:p>
          <a:p xmlns:a="http://schemas.openxmlformats.org/drawingml/2006/main">
            <a:r>
              <a:t/>
            </a:r>
          </a:p>
          <a:p xmlns:a="http://schemas.openxmlformats.org/drawingml/2006/main">
            <a:r>
              <a:t>On this slide</a:t>
            </a:r>
          </a:p>
          <a:p xmlns:a="http://schemas.openxmlformats.org/drawingml/2006/main">
            <a:r>
              <a:t>An absolute path from your own computer will usually fail elsewhere.</a:t>
            </a:r>
          </a:p>
          <a:p xmlns:a="http://schemas.openxmlformats.org/drawingml/2006/main">
            <a:r>
              <a:t/>
            </a:r>
          </a:p>
          <a:p xmlns:a="http://schemas.openxmlformats.org/drawingml/2006/main">
            <a:r>
              <a:t>A relative path starts from the current working folder.</a:t>
            </a:r>
          </a:p>
          <a:p xmlns:a="http://schemas.openxmlformats.org/drawingml/2006/main">
            <a:r>
              <a:t/>
            </a:r>
          </a:p>
          <a:p xmlns:a="http://schemas.openxmlformats.org/drawingml/2006/main">
            <a:r>
              <a:t>Record dependencies and actual versions, and fix randomness where appropriate; identical results across all machines are not guaranteed by a seed alone.</a:t>
            </a:r>
          </a:p>
          <a:p xmlns:a="http://schemas.openxmlformats.org/drawingml/2006/main">
            <a:r>
              <a:t/>
            </a:r>
          </a:p>
          <a:p xmlns:a="http://schemas.openxmlformats.org/drawingml/2006/main">
            <a:r>
              <a:t>Captions should state a supported finding and its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reproducible handover continued</a:t>
            </a:r>
          </a:p>
          <a:p xmlns:a="http://schemas.openxmlformats.org/drawingml/2006/main">
            <a:r>
              <a:t>Explanation to give</a:t>
            </a:r>
          </a:p>
          <a:p xmlns:a="http://schemas.openxmlformats.org/drawingml/2006/main">
            <a:r>
              <a:t>A reproducible handover gives another person enough files and instructions to obtain the reported result from a fresh environment. Saved outputs can survive even when the code no longer produces them.</a:t>
            </a:r>
          </a:p>
          <a:p xmlns:a="http://schemas.openxmlformats.org/drawingml/2006/main">
            <a:r>
              <a:t/>
            </a:r>
          </a:p>
          <a:p xmlns:a="http://schemas.openxmlformats.org/drawingml/2006/main">
            <a:r>
              <a:t>Worked illustration / lecturer answer</a:t>
            </a:r>
          </a:p>
          <a:p xmlns:a="http://schemas.openxmlformats.org/drawingml/2006/main">
            <a:r>
              <a:t>Restart, load the documented data and run from the first cell. If a later cell relies on a deleted variable, the clean run reveals the missing step. Record the required Python libraries and versions.</a:t>
            </a:r>
          </a:p>
          <a:p xmlns:a="http://schemas.openxmlformats.org/drawingml/2006/main">
            <a:r>
              <a:t/>
            </a:r>
          </a:p>
          <a:p xmlns:a="http://schemas.openxmlformats.org/drawingml/2006/main">
            <a:r>
              <a:t>Misconception to address</a:t>
            </a:r>
          </a:p>
          <a:p xmlns:a="http://schemas.openxmlformats.org/drawingml/2006/main">
            <a:r>
              <a:t>Restarting the runtime clears variables; it does not necessarily restore deleted data files. Re-upload or locate the documented inputs before the fresh run.</a:t>
            </a:r>
          </a:p>
          <a:p xmlns:a="http://schemas.openxmlformats.org/drawingml/2006/main">
            <a:r>
              <a:t/>
            </a:r>
          </a:p>
          <a:p xmlns:a="http://schemas.openxmlformats.org/drawingml/2006/main">
            <a:r>
              <a:t>On this slide</a:t>
            </a:r>
          </a:p>
          <a:p xmlns:a="http://schemas.openxmlformats.org/drawingml/2006/main">
            <a:r>
              <a:t>Remove conflicting cell assignments and verify a fresh run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preparation</a:t>
            </a:r>
          </a:p>
          <a:p xmlns:a="http://schemas.openxmlformats.org/drawingml/2006/main">
            <a:r>
              <a:t>Explanation to give</a:t>
            </a:r>
          </a:p>
          <a:p xmlns:a="http://schemas.openxmlformats.org/drawingml/2006/main">
            <a:r>
              <a:t>Make contribution evidence specific enough to check. A seed records the starting state of random choices; a contribution log records who produced and explained which work.</a:t>
            </a:r>
          </a:p>
          <a:p xmlns:a="http://schemas.openxmlformats.org/drawingml/2006/main">
            <a:r>
              <a:t/>
            </a:r>
          </a:p>
          <a:p xmlns:a="http://schemas.openxmlformats.org/drawingml/2006/main">
            <a:r>
              <a:t>Worked illustration / lecturer answer</a:t>
            </a:r>
          </a:p>
          <a:p xmlns:a="http://schemas.openxmlformats.org/drawingml/2006/main">
            <a:r>
              <a:t>Name a file, function or chart and the decision behind it. Match that entry to meaningful repository history. Disclose AI assistance according to the assessment policy.</a:t>
            </a:r>
          </a:p>
          <a:p xmlns:a="http://schemas.openxmlformats.org/drawingml/2006/main">
            <a:r>
              <a:t/>
            </a:r>
          </a:p>
          <a:p xmlns:a="http://schemas.openxmlformats.org/drawingml/2006/main">
            <a:r>
              <a:t>Misconception to address</a:t>
            </a:r>
          </a:p>
          <a:p xmlns:a="http://schemas.openxmlformats.org/drawingml/2006/main">
            <a:r>
              <a:t>Many commits do not necessarily mean substantial work, and a seed does not establish accuracy. Both are supporting evidence, not replacements for the analysis.</a:t>
            </a:r>
          </a:p>
          <a:p xmlns:a="http://schemas.openxmlformats.org/drawingml/2006/main">
            <a:r>
              <a:t/>
            </a:r>
          </a:p>
          <a:p xmlns:a="http://schemas.openxmlformats.org/drawingml/2006/main">
            <a:r>
              <a:t>On this slide</a:t>
            </a:r>
          </a:p>
          <a:p xmlns:a="http://schemas.openxmlformats.org/drawingml/2006/main">
            <a:r>
              <a:t>Use the published machine learning project brief.</a:t>
            </a:r>
          </a:p>
          <a:p xmlns:a="http://schemas.openxmlformats.org/drawingml/2006/main">
            <a:r>
              <a:t/>
            </a:r>
          </a:p>
          <a:p xmlns:a="http://schemas.openxmlformats.org/drawingml/2006/main">
            <a:r>
              <a:t>Build the evidence gradually in your project notebook.</a:t>
            </a:r>
          </a:p>
          <a:p xmlns:a="http://schemas.openxmlformats.org/drawingml/2006/main">
            <a:r>
              <a:t/>
            </a:r>
          </a:p>
          <a:p xmlns:a="http://schemas.openxmlformats.org/drawingml/2006/main">
            <a:r>
              <a:t>Keep raw data, labelled charts, run instructions and individual contributions.</a:t>
            </a:r>
          </a:p>
          <a:p xmlns:a="http://schemas.openxmlformats.org/drawingml/2006/main">
            <a:r>
              <a:t/>
            </a:r>
          </a:p>
          <a:p xmlns:a="http://schemas.openxmlformats.org/drawingml/2006/main">
            <a:r>
              <a:t>Published deadline: 18 Dec 2026, 11:00 Kampala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13 quiz</a:t>
            </a:r>
          </a:p>
          <a:p xmlns:a="http://schemas.openxmlformats.org/drawingml/2006/main">
            <a:r>
              <a:t>Explanation to give</a:t>
            </a:r>
          </a:p>
          <a:p xmlns:a="http://schemas.openxmlformats.org/drawingml/2006/main">
            <a:r>
              <a:t>This is the CML3111 Week 1 quiz. The student link opens the response form; it does not activate its window. In Quiz Controls use open_W1_CML3111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Explanation to give</a:t>
            </a:r>
          </a:p>
          <a:p xmlns:a="http://schemas.openxmlformats.org/drawingml/2006/main">
            <a:r>
              <a:t>The handover should reproduce the result using the files and instructions alone. Saved output is insufficient evidence.</a:t>
            </a:r>
          </a:p>
          <a:p xmlns:a="http://schemas.openxmlformats.org/drawingml/2006/main">
            <a:r>
              <a:t/>
            </a:r>
          </a:p>
          <a:p xmlns:a="http://schemas.openxmlformats.org/drawingml/2006/main">
            <a:r>
              <a:t>Worked illustration / lecturer answer</a:t>
            </a:r>
          </a:p>
          <a:p xmlns:a="http://schemas.openxmlformats.org/drawingml/2006/main">
            <a:r>
              <a:t>Restart, load the stated data and follow the README literally. A mismatch between a documented filename and the actual file is a handover defect to fix.</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Another learner can follow your README and reproduce the stated result.</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revision video</a:t>
            </a:r>
          </a:p>
          <a:p xmlns:a="http://schemas.openxmlformats.org/drawingml/2006/main">
            <a:r>
              <a:t>Explanation to give</a:t>
            </a:r>
          </a:p>
          <a:p xmlns:a="http://schemas.openxmlformats.org/drawingml/2006/main">
            <a:r>
              <a:t>Give the viewing question before playing the excerpt: Why keep history, and what is a repository?</a:t>
            </a:r>
          </a:p>
          <a:p xmlns:a="http://schemas.openxmlformats.org/drawingml/2006/main">
            <a:r>
              <a:t/>
            </a:r>
          </a:p>
          <a:p xmlns:a="http://schemas.openxmlformats.org/drawingml/2006/main">
            <a:r>
              <a:t>Worked illustration / lecturer answer</a:t>
            </a:r>
          </a:p>
          <a:p xmlns:a="http://schemas.openxmlformats.org/drawingml/2006/main">
            <a:r>
              <a:t>Use the adjacent worked example as the explanation if the video cannot load. Pause after the relevant example and connect its terms to the names and units already used in this lesson. Preview the displayed link and excerpt before class.</a:t>
            </a:r>
          </a:p>
          <a:p xmlns:a="http://schemas.openxmlformats.org/drawingml/2006/main">
            <a:r>
              <a:t/>
            </a:r>
          </a:p>
          <a:p xmlns:a="http://schemas.openxmlformats.org/drawingml/2006/main">
            <a:r>
              <a:t>Misconception to address</a:t>
            </a:r>
          </a:p>
          <a:p xmlns:a="http://schemas.openxmlformats.org/drawingml/2006/main">
            <a:r>
              <a:t>The video is supporting revision, not a replacement for defining the symbols or a requirement to watch a full tutorial during limited class time.</a:t>
            </a:r>
          </a:p>
          <a:p xmlns:a="http://schemas.openxmlformats.org/drawingml/2006/main">
            <a:r>
              <a:t/>
            </a:r>
          </a:p>
          <a:p xmlns:a="http://schemas.openxmlformats.org/drawingml/2006/main">
            <a:r>
              <a:t>On this slide</a:t>
            </a:r>
          </a:p>
          <a:p xmlns:a="http://schemas.openxmlformats.org/drawingml/2006/main">
            <a:r>
              <a:t>For revision after class.</a:t>
            </a:r>
          </a:p>
          <a:p xmlns:a="http://schemas.openxmlformats.org/drawingml/2006/main">
            <a:r>
              <a:t/>
            </a:r>
          </a:p>
          <a:p xmlns:a="http://schemas.openxmlformats.org/drawingml/2006/main">
            <a:r>
              <a:t>CodeWithChris</a:t>
            </a:r>
          </a:p>
          <a:p xmlns:a="http://schemas.openxmlformats.org/drawingml/2006/main">
            <a:r>
              <a:t>GitHub Tutorial for Beginners (2025)</a:t>
            </a:r>
          </a:p>
          <a:p xmlns:a="http://schemas.openxmlformats.org/drawingml/2006/main">
            <a:r>
              <a:t/>
            </a:r>
          </a:p>
          <a:p xmlns:a="http://schemas.openxmlformats.org/drawingml/2006/main">
            <a:r>
              <a:t>00:00–02:10, then 03:35–06:08 (4 min 43 sec total)</a:t>
            </a:r>
          </a:p>
          <a:p xmlns:a="http://schemas.openxmlformats.org/drawingml/2006/main">
            <a:r>
              <a:t/>
            </a:r>
          </a:p>
          <a:p xmlns:a="http://schemas.openxmlformats.org/drawingml/2006/main">
            <a:r>
              <a:t>Listening question: Why keep history, and what is a repository?</a:t>
            </a:r>
          </a:p>
          <a:p xmlns:a="http://schemas.openxmlformats.org/drawingml/2006/main">
            <a:r>
              <a:t/>
            </a:r>
          </a:p>
          <a:p xmlns:a="http://schemas.openxmlformats.org/drawingml/2006/main">
            <a:r>
              <a:t>Reference / existing resource</a:t>
            </a:r>
          </a:p>
          <a:p xmlns:a="http://schemas.openxmlformats.org/drawingml/2006/main">
            <a:r>
              <a:t>https://www.youtube.com/watch?v=v5gnvDUWqFM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f85cc1262441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a0a6f26f5a44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8042434fac4f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7a63aee9f140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31190379fa40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5b96a602a243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EA5A20-0C44-4C56-91E2-2672D4D7C9E5}"/>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0BC07C-07B3-4A37-A9C2-07ABA75EFAE7}"/>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9FA4DB3-B166-4BCF-9612-8A31C185627D}"/>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C7B96B-7BAD-4E80-AD6F-F8A1BB0F15A1}"/>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41059C-052F-456B-9557-3DD7581C6D95}"/>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E60FD1E-575B-4048-BF9D-5818DABD64DF}"/>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8E1029-AAF8-4C05-A714-5CF50FE644FD}"/>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D4079A-750A-48A4-9463-BAF8B9581987}"/>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C1096C-6EAF-45C8-87B4-964A0E90EC3A}"/>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5E9DB9-48C6-4A20-9DEE-C4D52DBADC9C}"/>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77a042a8da4938" /><Relationship Type="http://schemas.openxmlformats.org/officeDocument/2006/relationships/slideLayout" Target="/ppt/slideLayouts/slideLayout1.xml" Id="Ra85919f403404649" /><Relationship Type="http://schemas.openxmlformats.org/officeDocument/2006/relationships/slideLayout" Target="/ppt/slideLayouts/slideLayout2.xml" Id="Re6686bee015b4720" /><Relationship Type="http://schemas.openxmlformats.org/officeDocument/2006/relationships/slideLayout" Target="/ppt/slideLayouts/slideLayout3.xml" Id="R493ac164950f490e" /><Relationship Type="http://schemas.openxmlformats.org/officeDocument/2006/relationships/slideLayout" Target="/ppt/slideLayouts/slideLayout4.xml" Id="R4273727b7b634cb5" /><Relationship Type="http://schemas.openxmlformats.org/officeDocument/2006/relationships/slideLayout" Target="/ppt/slideLayouts/slideLayout5.xml" Id="Rcbc00dfee6cd4d2f" /><Relationship Type="http://schemas.openxmlformats.org/officeDocument/2006/relationships/slideLayout" Target="/ppt/slideLayouts/slideLayout6.xml" Id="R8fab35b453304d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5919f403404649"/>
    <p:sldLayoutId xmlns:r="http://schemas.openxmlformats.org/officeDocument/2006/relationships" id="2147483650" r:id="Re6686bee015b4720"/>
    <p:sldLayoutId xmlns:r="http://schemas.openxmlformats.org/officeDocument/2006/relationships" id="2147483651" r:id="R493ac164950f490e"/>
    <p:sldLayoutId xmlns:r="http://schemas.openxmlformats.org/officeDocument/2006/relationships" id="2147483652" r:id="R4273727b7b634cb5"/>
    <p:sldLayoutId xmlns:r="http://schemas.openxmlformats.org/officeDocument/2006/relationships" id="2147483653" r:id="Rcbc00dfee6cd4d2f"/>
    <p:sldLayoutId xmlns:r="http://schemas.openxmlformats.org/officeDocument/2006/relationships" id="2147483654" r:id="R8fab35b453304d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1fb891d56a84b4f" /><Relationship Type="http://schemas.openxmlformats.org/officeDocument/2006/relationships/image" Target="/ppt/media/image.png" Id="R57a1965919ce4cbf" /><Relationship Type="http://schemas.openxmlformats.org/officeDocument/2006/relationships/notesSlide" Target="/ppt/notesSlides/notesSlide1.xml" Id="Ra37032a7cf354f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e790f90991446e" /><Relationship Type="http://schemas.openxmlformats.org/officeDocument/2006/relationships/notesSlide" Target="/ppt/notesSlides/notesSlide2.xml" Id="R059a59e4f65049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773527906b449ea" /><Relationship Type="http://schemas.openxmlformats.org/officeDocument/2006/relationships/notesSlide" Target="/ppt/notesSlides/notesSlide3.xml" Id="R7c58ba38279c42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a5af0ff40e4eda" /><Relationship Type="http://schemas.openxmlformats.org/officeDocument/2006/relationships/notesSlide" Target="/ppt/notesSlides/notesSlide4.xml" Id="R36b798cba6d143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41c3b0f948844d6" /><Relationship Type="http://schemas.openxmlformats.org/officeDocument/2006/relationships/notesSlide" Target="/ppt/notesSlides/notesSlide5.xml" Id="Ra4a6b42c68d541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dea84c8430c403a" /><Relationship Type="http://schemas.openxmlformats.org/officeDocument/2006/relationships/notesSlide" Target="/ppt/notesSlides/notesSlide6.xml" Id="R752c83b461b741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68300d649fd49ac" /><Relationship Type="http://schemas.openxmlformats.org/officeDocument/2006/relationships/notesSlide" Target="/ppt/notesSlides/notesSlide7.xml" Id="R915e9060f9364f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7704ca511be4b4d" /><Relationship Type="http://schemas.openxmlformats.org/officeDocument/2006/relationships/notesSlide" Target="/ppt/notesSlides/notesSlide8.xml" Id="R79f31d47a62e4b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2ee8781a5f04e73" /><Relationship Type="http://schemas.openxmlformats.org/officeDocument/2006/relationships/notesSlide" Target="/ppt/notesSlides/notesSlide9.xml" Id="Rd9551fa9027d46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0e5cf0694b64a9a" /><Relationship Type="http://schemas.openxmlformats.org/officeDocument/2006/relationships/image" Target="/ppt/media/image2.png" Id="Rd27d63ec9d6f4ed0" /><Relationship Type="http://schemas.openxmlformats.org/officeDocument/2006/relationships/notesSlide" Target="/ppt/notesSlides/notesSlide10.xml" Id="R69d06fba4d7347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b1ee5c80c0c4e17" /><Relationship Type="http://schemas.openxmlformats.org/officeDocument/2006/relationships/image" Target="/ppt/media/image3.png" Id="R6d8dc42ecf424e8f" /><Relationship Type="http://schemas.openxmlformats.org/officeDocument/2006/relationships/notesSlide" Target="/ppt/notesSlides/notesSlide11.xml" Id="Reb177152847b43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c20a878c4ff411d" /><Relationship Type="http://schemas.openxmlformats.org/officeDocument/2006/relationships/notesSlide" Target="/ppt/notesSlides/notesSlide12.xml" Id="R5dd0dfad7fdd43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ab88e6d99c44440" /><Relationship Type="http://schemas.openxmlformats.org/officeDocument/2006/relationships/notesSlide" Target="/ppt/notesSlides/notesSlide13.xml" Id="R1ebfe4ffeb2846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d61e859097e4922" /><Relationship Type="http://schemas.openxmlformats.org/officeDocument/2006/relationships/notesSlide" Target="/ppt/notesSlides/notesSlide14.xml" Id="R3bd7f7e6347a40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5ab45ce1a544818" /><Relationship Type="http://schemas.openxmlformats.org/officeDocument/2006/relationships/notesSlide" Target="/ppt/notesSlides/notesSlide15.xml" Id="Rc8a24360f98a4f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f5a2868c899423d" /><Relationship Type="http://schemas.openxmlformats.org/officeDocument/2006/relationships/notesSlide" Target="/ppt/notesSlides/notesSlide16.xml" Id="R70e285c03ab2492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1f631073dc44f3f" /><Relationship Type="http://schemas.openxmlformats.org/officeDocument/2006/relationships/notesSlide" Target="/ppt/notesSlides/notesSlide17.xml" Id="R35b7827cfdc3437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9c1cdabedcf4435" /><Relationship Type="http://schemas.openxmlformats.org/officeDocument/2006/relationships/notesSlide" Target="/ppt/notesSlides/notesSlide18.xml" Id="Rc72b6e6114414e8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f57add562c84744" /><Relationship Type="http://schemas.openxmlformats.org/officeDocument/2006/relationships/notesSlide" Target="/ppt/notesSlides/notesSlide19.xml" Id="R9c4d5ec3f5b5406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b0644fa8a464ed8" /><Relationship Type="http://schemas.openxmlformats.org/officeDocument/2006/relationships/notesSlide" Target="/ppt/notesSlides/notesSlide20.xml" Id="Rc0f4f237d8404be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0ffd4ab441f46e1" /><Relationship Type="http://schemas.openxmlformats.org/officeDocument/2006/relationships/notesSlide" Target="/ppt/notesSlides/notesSlide21.xml" Id="R0436f45e868a4f8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56f9a1da9764330" /><Relationship Type="http://schemas.openxmlformats.org/officeDocument/2006/relationships/notesSlide" Target="/ppt/notesSlides/notesSlide22.xml" Id="Ra7e75e63b1d249b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1eb656b23d244d1" /><Relationship Type="http://schemas.openxmlformats.org/officeDocument/2006/relationships/image" Target="/ppt/media/image4.png" Id="Ra938ebf5cb3e4a2a" /><Relationship Type="http://schemas.openxmlformats.org/officeDocument/2006/relationships/hyperlink" Target="https://forms.gle/ameQRYSJ5kfrpcKWA" TargetMode="External" Id="Rae3dae50c5c74b5e" /><Relationship Type="http://schemas.openxmlformats.org/officeDocument/2006/relationships/notesSlide" Target="/ppt/notesSlides/notesSlide23.xml" Id="Re2c8ba96537e41b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a479aff971f4912" /><Relationship Type="http://schemas.openxmlformats.org/officeDocument/2006/relationships/notesSlide" Target="/ppt/notesSlides/notesSlide24.xml" Id="Rfcc0d8699e8d4f1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00963d7603449fa" /><Relationship Type="http://schemas.openxmlformats.org/officeDocument/2006/relationships/hyperlink" Target="https://www.youtube.com/watch?v=v5gnvDUWqFM" TargetMode="External" Id="R8892988f18034790" /><Relationship Type="http://schemas.openxmlformats.org/officeDocument/2006/relationships/notesSlide" Target="/ppt/notesSlides/notesSlide25.xml" Id="Re1ddb6763f7b4b1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B703069-1023-4A83-9634-8E6BCEA49FDF}"/>
              </a:ext>
            </a:extLst>
          </p:cNvPr>
          <p:cNvPicPr>
            <a:picLocks xmlns:a="http://schemas.openxmlformats.org/drawingml/2006/main" noChangeAspect="1"/>
          </p:cNvPicPr>
          <p:nvPr/>
        </p:nvPicPr>
        <p:blipFill>
          <a:blip xmlns:r="http://schemas.openxmlformats.org/officeDocument/2006/relationships" xmlns:a="http://schemas.openxmlformats.org/drawingml/2006/main" r:embed="R57a1965919ce4cbf"/>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9F0D082-B493-4F65-AA8C-10414F83570B}"/>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412A91-2689-49AE-BE77-1C3B8B399D58}"/>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13</a:t>
            </a:r>
          </a:p>
        </p:txBody>
      </p:sp>
      <p:sp>
        <p:nvSpPr>
          <p:cNvPr id="4" name="">
            <a:extLst xmlns:a="http://schemas.openxmlformats.org/drawingml/2006/main">
              <a:ext uri="{FF2B5EF4-FFF2-40B4-BE49-F238E27FC236}">
                <a16:creationId xmlns:a16="http://schemas.microsoft.com/office/drawing/2014/main" id="{7B7BFE40-38BC-4A52-84DB-1D20A198C4C7}"/>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Making the project understandable and runnable</a:t>
            </a:r>
          </a:p>
        </p:txBody>
      </p:sp>
      <p:sp>
        <p:nvSpPr>
          <p:cNvPr id="5" name="">
            <a:extLst xmlns:a="http://schemas.openxmlformats.org/drawingml/2006/main">
              <a:ext uri="{FF2B5EF4-FFF2-40B4-BE49-F238E27FC236}">
                <a16:creationId xmlns:a16="http://schemas.microsoft.com/office/drawing/2014/main" id="{381E6834-0AFC-4BA8-B924-ED6DD919A178}"/>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297F5133-BD51-4CE5-A30B-18FEF3B19CA3}"/>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04 December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0441933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B99C09-E2EF-43BC-A66C-9EBE292325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935EEB-47E2-4163-860C-1764637957C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5A8E6A8D-C62B-4590-827C-D0302BAF0FA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77CDB4B1-8CF8-4F9A-A466-617C9FC98D62}"/>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2C027F-7C49-4701-855B-19E1611FC936}"/>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E4572E"/>
                </a:solidFill>
                <a:latin typeface="Calibri"/>
                <a:ea typeface="Calibri"/>
                <a:cs typeface="Calibri"/>
              </a:defRPr>
            </a:defPPr>
            <a:lvl1pPr>
              <a:defRPr sz="1650" b="1">
                <a:solidFill>
                  <a:srgbClr val="E4572E"/>
                </a:solidFill>
                <a:latin typeface="Calibri"/>
                <a:ea typeface="Calibri"/>
                <a:cs typeface="Calibri"/>
              </a:defRPr>
            </a:lvl1pPr>
            <a:lvl2pPr>
              <a:defRPr sz="1650" b="1">
                <a:solidFill>
                  <a:srgbClr val="E4572E"/>
                </a:solidFill>
                <a:latin typeface="Calibri"/>
                <a:ea typeface="Calibri"/>
                <a:cs typeface="Calibri"/>
              </a:defRPr>
            </a:lvl2pPr>
            <a:lvl3pPr>
              <a:defRPr sz="1650" b="1">
                <a:solidFill>
                  <a:srgbClr val="E4572E"/>
                </a:solidFill>
                <a:latin typeface="Calibri"/>
                <a:ea typeface="Calibri"/>
                <a:cs typeface="Calibri"/>
              </a:defRPr>
            </a:lvl3pPr>
            <a:lvl4pPr>
              <a:defRPr sz="1650" b="1">
                <a:solidFill>
                  <a:srgbClr val="E4572E"/>
                </a:solidFill>
                <a:latin typeface="Calibri"/>
                <a:ea typeface="Calibri"/>
                <a:cs typeface="Calibri"/>
              </a:defRPr>
            </a:lvl4pPr>
            <a:lvl5pPr>
              <a:defRPr sz="1650" b="1">
                <a:solidFill>
                  <a:srgbClr val="E4572E"/>
                </a:solidFill>
                <a:latin typeface="Calibri"/>
                <a:ea typeface="Calibri"/>
                <a:cs typeface="Calibri"/>
              </a:defRPr>
            </a:lvl5pPr>
            <a:lvl6pPr>
              <a:defRPr sz="1650" b="1">
                <a:solidFill>
                  <a:srgbClr val="E4572E"/>
                </a:solidFill>
                <a:latin typeface="Calibri"/>
                <a:ea typeface="Calibri"/>
                <a:cs typeface="Calibri"/>
              </a:defRPr>
            </a:lvl6pPr>
            <a:lvl7pPr>
              <a:defRPr sz="1650" b="1">
                <a:solidFill>
                  <a:srgbClr val="E4572E"/>
                </a:solidFill>
                <a:latin typeface="Calibri"/>
                <a:ea typeface="Calibri"/>
                <a:cs typeface="Calibri"/>
              </a:defRPr>
            </a:lvl7pPr>
            <a:lvl8pPr>
              <a:defRPr sz="1650" b="1">
                <a:solidFill>
                  <a:srgbClr val="E4572E"/>
                </a:solidFill>
                <a:latin typeface="Calibri"/>
                <a:ea typeface="Calibri"/>
                <a:cs typeface="Calibri"/>
              </a:defRPr>
            </a:lvl8pPr>
            <a:lvl9pPr>
              <a:defRPr sz="1650" b="1">
                <a:solidFill>
                  <a:srgbClr val="E4572E"/>
                </a:solidFill>
                <a:latin typeface="Calibri"/>
                <a:ea typeface="Calibri"/>
                <a:cs typeface="Calibri"/>
              </a:defRPr>
            </a:lvl9pPr>
          </a:lstStyle>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7D0DABA5-0B72-4A13-BB42-A8F66B105FCE}"/>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the project from a fresh session.</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Repair unclear run instructions using a fresh run.</a:t>
            </a:r>
          </a:p>
        </p:txBody>
      </p:sp>
      <p:sp>
        <p:nvSpPr>
          <p:cNvPr id="7" name="">
            <a:extLst xmlns:a="http://schemas.openxmlformats.org/drawingml/2006/main">
              <a:ext uri="{FF2B5EF4-FFF2-40B4-BE49-F238E27FC236}">
                <a16:creationId xmlns:a16="http://schemas.microsoft.com/office/drawing/2014/main" id="{731F570B-88CC-431B-ABC7-8785DB6C6DA3}"/>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2E7D6F"/>
                </a:solidFill>
                <a:latin typeface="Calibri"/>
                <a:ea typeface="Calibri"/>
                <a:cs typeface="Calibri"/>
              </a:defRPr>
            </a:defPPr>
            <a:lvl1pPr>
              <a:defRPr sz="1650" b="1">
                <a:solidFill>
                  <a:srgbClr val="2E7D6F"/>
                </a:solidFill>
                <a:latin typeface="Calibri"/>
                <a:ea typeface="Calibri"/>
                <a:cs typeface="Calibri"/>
              </a:defRPr>
            </a:lvl1pPr>
            <a:lvl2pPr>
              <a:defRPr sz="1650" b="1">
                <a:solidFill>
                  <a:srgbClr val="2E7D6F"/>
                </a:solidFill>
                <a:latin typeface="Calibri"/>
                <a:ea typeface="Calibri"/>
                <a:cs typeface="Calibri"/>
              </a:defRPr>
            </a:lvl2pPr>
            <a:lvl3pPr>
              <a:defRPr sz="1650" b="1">
                <a:solidFill>
                  <a:srgbClr val="2E7D6F"/>
                </a:solidFill>
                <a:latin typeface="Calibri"/>
                <a:ea typeface="Calibri"/>
                <a:cs typeface="Calibri"/>
              </a:defRPr>
            </a:lvl3pPr>
            <a:lvl4pPr>
              <a:defRPr sz="1650" b="1">
                <a:solidFill>
                  <a:srgbClr val="2E7D6F"/>
                </a:solidFill>
                <a:latin typeface="Calibri"/>
                <a:ea typeface="Calibri"/>
                <a:cs typeface="Calibri"/>
              </a:defRPr>
            </a:lvl4pPr>
            <a:lvl5pPr>
              <a:defRPr sz="1650" b="1">
                <a:solidFill>
                  <a:srgbClr val="2E7D6F"/>
                </a:solidFill>
                <a:latin typeface="Calibri"/>
                <a:ea typeface="Calibri"/>
                <a:cs typeface="Calibri"/>
              </a:defRPr>
            </a:lvl5pPr>
            <a:lvl6pPr>
              <a:defRPr sz="1650" b="1">
                <a:solidFill>
                  <a:srgbClr val="2E7D6F"/>
                </a:solidFill>
                <a:latin typeface="Calibri"/>
                <a:ea typeface="Calibri"/>
                <a:cs typeface="Calibri"/>
              </a:defRPr>
            </a:lvl6pPr>
            <a:lvl7pPr>
              <a:defRPr sz="1650" b="1">
                <a:solidFill>
                  <a:srgbClr val="2E7D6F"/>
                </a:solidFill>
                <a:latin typeface="Calibri"/>
                <a:ea typeface="Calibri"/>
                <a:cs typeface="Calibri"/>
              </a:defRPr>
            </a:lvl7pPr>
            <a:lvl8pPr>
              <a:defRPr sz="1650" b="1">
                <a:solidFill>
                  <a:srgbClr val="2E7D6F"/>
                </a:solidFill>
                <a:latin typeface="Calibri"/>
                <a:ea typeface="Calibri"/>
                <a:cs typeface="Calibri"/>
              </a:defRPr>
            </a:lvl8pPr>
            <a:lvl9pPr>
              <a:defRPr sz="1650" b="1">
                <a:solidFill>
                  <a:srgbClr val="2E7D6F"/>
                </a:solidFill>
                <a:latin typeface="Calibri"/>
                <a:ea typeface="Calibri"/>
                <a:cs typeface="Calibri"/>
              </a:defRPr>
            </a:lvl9pPr>
          </a:lstStyle>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013E0489-E45B-452C-8068-DE9DF7936754}"/>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Another learner can follow your README and reproduce the stated result.</a:t>
            </a:r>
          </a:p>
        </p:txBody>
      </p:sp>
      <p:sp>
        <p:nvSpPr>
          <p:cNvPr id="9" name="">
            <a:extLst xmlns:a="http://schemas.openxmlformats.org/drawingml/2006/main">
              <a:ext uri="{FF2B5EF4-FFF2-40B4-BE49-F238E27FC236}">
                <a16:creationId xmlns:a16="http://schemas.microsoft.com/office/drawing/2014/main" id="{E3E9E88A-135B-4C53-8B3F-5419D21B2F6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a:t>
            </a:r>
          </a:p>
        </p:txBody>
      </p:sp>
    </p:spTree>
    <p:extLst>
      <p:ext uri="{BB962C8B-B14F-4D97-AF65-F5344CB8AC3E}">
        <p14:creationId xmlns:p14="http://schemas.microsoft.com/office/powerpoint/2010/main" val="1829129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F2AC4B-9231-4A79-9B4D-B24CBB8872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CADE41-E09A-4FE1-A093-EE9648A1C76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C72EA60-89C7-4704-8357-66462DA172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4F81F7F8-1953-4DF7-8CE4-49AC32A3D83F}"/>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E4783D4-88C2-4CBD-8AEB-BC169F7CAB9A}"/>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The models and charts already exist.</a:t>
            </a:r>
          </a:p>
        </p:txBody>
      </p:sp>
      <p:sp>
        <p:nvSpPr>
          <p:cNvPr id="6" name="">
            <a:extLst xmlns:a="http://schemas.openxmlformats.org/drawingml/2006/main">
              <a:ext uri="{FF2B5EF4-FFF2-40B4-BE49-F238E27FC236}">
                <a16:creationId xmlns:a16="http://schemas.microsoft.com/office/drawing/2014/main" id="{DC86DB19-2261-45E3-9A75-25CE2CD5D523}"/>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remaining task is to make the evidence understandable and runnable from the supplied files.</a:t>
            </a:r>
          </a:p>
        </p:txBody>
      </p:sp>
      <p:sp>
        <p:nvSpPr>
          <p:cNvPr id="7" name="">
            <a:extLst xmlns:a="http://schemas.openxmlformats.org/drawingml/2006/main">
              <a:ext uri="{FF2B5EF4-FFF2-40B4-BE49-F238E27FC236}">
                <a16:creationId xmlns:a16="http://schemas.microsoft.com/office/drawing/2014/main" id="{9E1F187F-5FC1-4040-83FC-D8B8E05D66E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3</a:t>
            </a:r>
          </a:p>
        </p:txBody>
      </p:sp>
    </p:spTree>
    <p:extLst>
      <p:ext uri="{BB962C8B-B14F-4D97-AF65-F5344CB8AC3E}">
        <p14:creationId xmlns:p14="http://schemas.microsoft.com/office/powerpoint/2010/main" val="7534203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5B7D7A-9A98-4931-B2E4-863AA02E967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726D45-A14C-476C-ABE4-6AD8E3C89E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020FA40-DA0A-4BBC-9622-0CB8863EE0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continuing pandas workflow</a:t>
            </a:r>
          </a:p>
        </p:txBody>
      </p:sp>
      <p:sp>
        <p:nvSpPr>
          <p:cNvPr id="4" name="">
            <a:extLst xmlns:a="http://schemas.openxmlformats.org/drawingml/2006/main">
              <a:ext uri="{FF2B5EF4-FFF2-40B4-BE49-F238E27FC236}">
                <a16:creationId xmlns:a16="http://schemas.microsoft.com/office/drawing/2014/main" id="{3F579B2F-3AC7-44C1-9F78-E6E8B31576F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F119186-00B3-4C83-97DD-8455D5005D1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74C4537-0B45-491D-BCBF-FE78FF05347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Load CSV files with pd.read_csv. Keep raw data unchanged and use named columns throughout the investigation.</a:t>
            </a:r>
          </a:p>
        </p:txBody>
      </p:sp>
      <p:sp>
        <p:nvSpPr>
          <p:cNvPr id="7" name="">
            <a:extLst xmlns:a="http://schemas.openxmlformats.org/drawingml/2006/main">
              <a:ext uri="{FF2B5EF4-FFF2-40B4-BE49-F238E27FC236}">
                <a16:creationId xmlns:a16="http://schemas.microsoft.com/office/drawing/2014/main" id="{EEC1CDE4-3013-469C-B9DD-DAEE17387FB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pandas for cleaning, summaries and model inputs. Return the published Python types at assessment function boundaries.</a:t>
            </a:r>
          </a:p>
        </p:txBody>
      </p:sp>
      <p:sp>
        <p:nvSpPr>
          <p:cNvPr id="8" name="">
            <a:extLst xmlns:a="http://schemas.openxmlformats.org/drawingml/2006/main">
              <a:ext uri="{FF2B5EF4-FFF2-40B4-BE49-F238E27FC236}">
                <a16:creationId xmlns:a16="http://schemas.microsoft.com/office/drawing/2014/main" id="{FE45BF7F-1B24-4762-8DED-E6F0677312F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4</a:t>
            </a:r>
          </a:p>
        </p:txBody>
      </p:sp>
    </p:spTree>
    <p:extLst>
      <p:ext uri="{BB962C8B-B14F-4D97-AF65-F5344CB8AC3E}">
        <p14:creationId xmlns:p14="http://schemas.microsoft.com/office/powerpoint/2010/main" val="18987887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678C20-7972-4A33-86D7-23B1C0BFE2C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008C3E-3296-434F-A836-AA5FA34A92A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050B7C4-8771-440C-99DE-C1FF1099124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Relative data paths and saved outputs</a:t>
            </a:r>
          </a:p>
        </p:txBody>
      </p:sp>
      <p:sp>
        <p:nvSpPr>
          <p:cNvPr id="4" name="">
            <a:extLst xmlns:a="http://schemas.openxmlformats.org/drawingml/2006/main">
              <a:ext uri="{FF2B5EF4-FFF2-40B4-BE49-F238E27FC236}">
                <a16:creationId xmlns:a16="http://schemas.microsoft.com/office/drawing/2014/main" id="{69C64524-A84C-466F-9DFB-D75088F7CB1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877C0E-2537-4CDD-BF66-3517ACC0597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D30F7E2-764F-4F90-A70D-36648F0B0F1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pd.read_csv("data/raw/engineering_data.csv") reads a file relative to the notebook’s working folder. State that folder in the README.</a:t>
            </a:r>
          </a:p>
        </p:txBody>
      </p:sp>
      <p:sp>
        <p:nvSpPr>
          <p:cNvPr id="7" name="">
            <a:extLst xmlns:a="http://schemas.openxmlformats.org/drawingml/2006/main">
              <a:ext uri="{FF2B5EF4-FFF2-40B4-BE49-F238E27FC236}">
                <a16:creationId xmlns:a16="http://schemas.microsoft.com/office/drawing/2014/main" id="{3F461217-8702-4A7C-BF7A-CE9E7E520E4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clean.to_csv("cleaned_data.csv", index=False) exports a table without adding pandas row labels as a new column.</a:t>
            </a:r>
          </a:p>
        </p:txBody>
      </p:sp>
      <p:sp>
        <p:nvSpPr>
          <p:cNvPr id="8" name="">
            <a:extLst xmlns:a="http://schemas.openxmlformats.org/drawingml/2006/main">
              <a:ext uri="{FF2B5EF4-FFF2-40B4-BE49-F238E27FC236}">
                <a16:creationId xmlns:a16="http://schemas.microsoft.com/office/drawing/2014/main" id="{53FDA7D9-5768-4576-B0C0-DF8994F0A21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5</a:t>
            </a:r>
          </a:p>
        </p:txBody>
      </p:sp>
    </p:spTree>
    <p:extLst>
      <p:ext uri="{BB962C8B-B14F-4D97-AF65-F5344CB8AC3E}">
        <p14:creationId xmlns:p14="http://schemas.microsoft.com/office/powerpoint/2010/main" val="11868449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76A03F-1169-451C-A174-565786D7B9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5AB451-F7AC-42E2-80E3-C4789DF63F3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5BDDC8A-3014-4BB2-8D33-9366DD9926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CBF27E46-D9CC-4E85-934D-DA9B5CC42651}"/>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042FAA2-135E-416B-857E-DF98CB2AE0C8}"/>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project is ready for handover when its files and written instructions reproduce its results in a fresh session.</a:t>
            </a:r>
          </a:p>
        </p:txBody>
      </p:sp>
      <p:sp>
        <p:nvSpPr>
          <p:cNvPr id="6" name="">
            <a:extLst xmlns:a="http://schemas.openxmlformats.org/drawingml/2006/main">
              <a:ext uri="{FF2B5EF4-FFF2-40B4-BE49-F238E27FC236}">
                <a16:creationId xmlns:a16="http://schemas.microsoft.com/office/drawing/2014/main" id="{28DFCC80-404E-436F-9D37-A3AD0C5C7648}"/>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each claim against the results in your notebook.</a:t>
            </a:r>
          </a:p>
        </p:txBody>
      </p:sp>
      <p:sp>
        <p:nvSpPr>
          <p:cNvPr id="7" name="">
            <a:extLst xmlns:a="http://schemas.openxmlformats.org/drawingml/2006/main">
              <a:ext uri="{FF2B5EF4-FFF2-40B4-BE49-F238E27FC236}">
                <a16:creationId xmlns:a16="http://schemas.microsoft.com/office/drawing/2014/main" id="{9BD3D621-B4E0-465A-BF11-D1BAB6E0686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6</a:t>
            </a:r>
          </a:p>
        </p:txBody>
      </p:sp>
    </p:spTree>
    <p:extLst>
      <p:ext uri="{BB962C8B-B14F-4D97-AF65-F5344CB8AC3E}">
        <p14:creationId xmlns:p14="http://schemas.microsoft.com/office/powerpoint/2010/main" val="9693911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09073A-DF98-4629-803D-3EDF93581DE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40746C-913A-4EA2-8BAE-C60BA3B920A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6345755-1E3E-4816-A50C-41EC8E5752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Reproducibility and Dependency</a:t>
            </a:r>
          </a:p>
        </p:txBody>
      </p:sp>
      <p:sp>
        <p:nvSpPr>
          <p:cNvPr id="4" name="">
            <a:extLst xmlns:a="http://schemas.openxmlformats.org/drawingml/2006/main">
              <a:ext uri="{FF2B5EF4-FFF2-40B4-BE49-F238E27FC236}">
                <a16:creationId xmlns:a16="http://schemas.microsoft.com/office/drawing/2014/main" id="{C6D41A14-B580-44AA-9AB1-51D486F55B6C}"/>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5C1FE7-FF32-4416-9A45-DF434CEBDD13}"/>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Reproducibility</a:t>
            </a:r>
          </a:p>
        </p:txBody>
      </p:sp>
      <p:sp>
        <p:nvSpPr>
          <p:cNvPr id="6" name="">
            <a:extLst xmlns:a="http://schemas.openxmlformats.org/drawingml/2006/main">
              <a:ext uri="{FF2B5EF4-FFF2-40B4-BE49-F238E27FC236}">
                <a16:creationId xmlns:a16="http://schemas.microsoft.com/office/drawing/2014/main" id="{D52F47CB-6920-4A6B-A0DB-13DA1A43CFDF}"/>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Another person can use the stated data, environment and steps to check the mean_load_by_equipment_group. Terminology varies; state the operational test_data.</a:t>
            </a:r>
          </a:p>
        </p:txBody>
      </p:sp>
      <p:sp>
        <p:nvSpPr>
          <p:cNvPr id="7" name="">
            <a:extLst xmlns:a="http://schemas.openxmlformats.org/drawingml/2006/main">
              <a:ext uri="{FF2B5EF4-FFF2-40B4-BE49-F238E27FC236}">
                <a16:creationId xmlns:a16="http://schemas.microsoft.com/office/drawing/2014/main" id="{3CEC7DB6-E99A-4F4D-AFA5-BA84807C9BCA}"/>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85D5B20-48EC-4C8D-B90B-7F8BEB5C1BE8}"/>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Dependency</a:t>
            </a:r>
          </a:p>
        </p:txBody>
      </p:sp>
      <p:sp>
        <p:nvSpPr>
          <p:cNvPr id="9" name="">
            <a:extLst xmlns:a="http://schemas.openxmlformats.org/drawingml/2006/main">
              <a:ext uri="{FF2B5EF4-FFF2-40B4-BE49-F238E27FC236}">
                <a16:creationId xmlns:a16="http://schemas.microsoft.com/office/drawing/2014/main" id="{F71BAE5C-6A96-4DCF-91F2-0D6104DEBE14}"/>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package your code needs. Record versions actually used, rather than guessing them.</a:t>
            </a:r>
          </a:p>
        </p:txBody>
      </p:sp>
      <p:sp>
        <p:nvSpPr>
          <p:cNvPr id="10" name="">
            <a:extLst xmlns:a="http://schemas.openxmlformats.org/drawingml/2006/main">
              <a:ext uri="{FF2B5EF4-FFF2-40B4-BE49-F238E27FC236}">
                <a16:creationId xmlns:a16="http://schemas.microsoft.com/office/drawing/2014/main" id="{E440E6A2-3EE9-485A-8670-039D3AFA7E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7</a:t>
            </a:r>
          </a:p>
        </p:txBody>
      </p:sp>
    </p:spTree>
    <p:extLst>
      <p:ext uri="{BB962C8B-B14F-4D97-AF65-F5344CB8AC3E}">
        <p14:creationId xmlns:p14="http://schemas.microsoft.com/office/powerpoint/2010/main" val="146244462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407B6F-9A91-47F5-B892-64BB78B52A9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330F77-1675-4B99-9F79-5E2F6754FF2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B6960779-C526-458D-9556-648149E7DDE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Relative path and README</a:t>
            </a:r>
          </a:p>
        </p:txBody>
      </p:sp>
      <p:sp>
        <p:nvSpPr>
          <p:cNvPr id="4" name="">
            <a:extLst xmlns:a="http://schemas.openxmlformats.org/drawingml/2006/main">
              <a:ext uri="{FF2B5EF4-FFF2-40B4-BE49-F238E27FC236}">
                <a16:creationId xmlns:a16="http://schemas.microsoft.com/office/drawing/2014/main" id="{B3C9D6F8-740D-49D8-B2A5-F5FAB2C2FA18}"/>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05686E-7787-4BA0-9C88-990EBA277FB6}"/>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Relative path</a:t>
            </a:r>
          </a:p>
        </p:txBody>
      </p:sp>
      <p:sp>
        <p:nvSpPr>
          <p:cNvPr id="6" name="">
            <a:extLst xmlns:a="http://schemas.openxmlformats.org/drawingml/2006/main">
              <a:ext uri="{FF2B5EF4-FFF2-40B4-BE49-F238E27FC236}">
                <a16:creationId xmlns:a16="http://schemas.microsoft.com/office/drawing/2014/main" id="{AE69E9A0-0EDD-4E40-BD71-ECCEDCB3F507}"/>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location interpreted from the current working folder. It is not always relative to the notebook file itself.</a:t>
            </a:r>
          </a:p>
        </p:txBody>
      </p:sp>
      <p:sp>
        <p:nvSpPr>
          <p:cNvPr id="7" name="">
            <a:extLst xmlns:a="http://schemas.openxmlformats.org/drawingml/2006/main">
              <a:ext uri="{FF2B5EF4-FFF2-40B4-BE49-F238E27FC236}">
                <a16:creationId xmlns:a16="http://schemas.microsoft.com/office/drawing/2014/main" id="{8320DCA8-8396-4B0B-BD4C-9D9BF582D7EE}"/>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2F1743A-AEC1-4C63-955E-9E1559BE7FB9}"/>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README</a:t>
            </a:r>
          </a:p>
        </p:txBody>
      </p:sp>
      <p:sp>
        <p:nvSpPr>
          <p:cNvPr id="9" name="">
            <a:extLst xmlns:a="http://schemas.openxmlformats.org/drawingml/2006/main">
              <a:ext uri="{FF2B5EF4-FFF2-40B4-BE49-F238E27FC236}">
                <a16:creationId xmlns:a16="http://schemas.microsoft.com/office/drawing/2014/main" id="{C7123065-DBF2-47E9-B9E9-0D17D232BAF4}"/>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The project’s instructions: question, files, data source, environment, run order, results and limitations.</a:t>
            </a:r>
          </a:p>
        </p:txBody>
      </p:sp>
      <p:sp>
        <p:nvSpPr>
          <p:cNvPr id="10" name="">
            <a:extLst xmlns:a="http://schemas.openxmlformats.org/drawingml/2006/main">
              <a:ext uri="{FF2B5EF4-FFF2-40B4-BE49-F238E27FC236}">
                <a16:creationId xmlns:a16="http://schemas.microsoft.com/office/drawing/2014/main" id="{D0F7469C-1CE1-4D51-A4CD-343A5C661EA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8</a:t>
            </a:r>
          </a:p>
        </p:txBody>
      </p:sp>
    </p:spTree>
    <p:extLst>
      <p:ext uri="{BB962C8B-B14F-4D97-AF65-F5344CB8AC3E}">
        <p14:creationId xmlns:p14="http://schemas.microsoft.com/office/powerpoint/2010/main" val="16839943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902F73-6701-481F-9BF4-6787A479C4A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FE17A3-116F-47D4-A090-283B86FDBB3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FFC36A6-D162-40B3-B79A-150662532D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useful README</a:t>
            </a:r>
          </a:p>
        </p:txBody>
      </p:sp>
      <p:sp>
        <p:nvSpPr>
          <p:cNvPr id="4" name="">
            <a:extLst xmlns:a="http://schemas.openxmlformats.org/drawingml/2006/main">
              <a:ext uri="{FF2B5EF4-FFF2-40B4-BE49-F238E27FC236}">
                <a16:creationId xmlns:a16="http://schemas.microsoft.com/office/drawing/2014/main" id="{B6730982-B2BD-43BD-BA9F-8F8A32D7D20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550D165-D51B-4DAC-BF8E-715857E14535}"/>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the engineering question and target unit.</a:t>
            </a:r>
          </a:p>
        </p:txBody>
      </p:sp>
      <p:sp>
        <p:nvSpPr>
          <p:cNvPr id="6" name="">
            <a:extLst xmlns:a="http://schemas.openxmlformats.org/drawingml/2006/main">
              <a:ext uri="{FF2B5EF4-FFF2-40B4-BE49-F238E27FC236}">
                <a16:creationId xmlns:a16="http://schemas.microsoft.com/office/drawing/2014/main" id="{6C6556B8-39BB-4C72-A1F8-5DAEA3706B91}"/>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58CE403-008D-474F-9D79-A051636827BB}"/>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 the supplied data and required software versions.</a:t>
            </a:r>
          </a:p>
        </p:txBody>
      </p:sp>
      <p:sp>
        <p:nvSpPr>
          <p:cNvPr id="8" name="">
            <a:extLst xmlns:a="http://schemas.openxmlformats.org/drawingml/2006/main">
              <a:ext uri="{FF2B5EF4-FFF2-40B4-BE49-F238E27FC236}">
                <a16:creationId xmlns:a16="http://schemas.microsoft.com/office/drawing/2014/main" id="{BF43AED1-9B3D-468F-9A3C-797CBB898FF0}"/>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F34877F-2EEC-4297-832C-5A5B40AF3260}"/>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Give the order for running the notebook from a fresh session.</a:t>
            </a:r>
          </a:p>
        </p:txBody>
      </p:sp>
      <p:sp>
        <p:nvSpPr>
          <p:cNvPr id="10" name="">
            <a:extLst xmlns:a="http://schemas.openxmlformats.org/drawingml/2006/main">
              <a:ext uri="{FF2B5EF4-FFF2-40B4-BE49-F238E27FC236}">
                <a16:creationId xmlns:a16="http://schemas.microsoft.com/office/drawing/2014/main" id="{EFDEB1F7-94DE-4577-91A1-EFC25393EBE4}"/>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CBA54D2-B11A-4A71-BB6B-82B667672401}"/>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limitations and each member’s contribution.</a:t>
            </a:r>
          </a:p>
        </p:txBody>
      </p:sp>
      <p:sp>
        <p:nvSpPr>
          <p:cNvPr id="12" name="">
            <a:extLst xmlns:a="http://schemas.openxmlformats.org/drawingml/2006/main">
              <a:ext uri="{FF2B5EF4-FFF2-40B4-BE49-F238E27FC236}">
                <a16:creationId xmlns:a16="http://schemas.microsoft.com/office/drawing/2014/main" id="{D29EB785-5CD8-41DA-A5D3-A6F46FEF5F2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9</a:t>
            </a:r>
          </a:p>
        </p:txBody>
      </p:sp>
    </p:spTree>
    <p:extLst>
      <p:ext uri="{BB962C8B-B14F-4D97-AF65-F5344CB8AC3E}">
        <p14:creationId xmlns:p14="http://schemas.microsoft.com/office/powerpoint/2010/main" val="4430759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DA76EA-9444-4013-B08F-FD1D35B346C1}"/>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A279FF-3C64-462D-91D4-1A1D559EA7F5}"/>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Someone else needs to reproduce the result</a:t>
            </a:r>
          </a:p>
        </p:txBody>
      </p:sp>
      <p:pic>
        <p:nvPicPr>
          <p:cNvPr id="3" name="">
            <a:extLst xmlns:a="http://schemas.openxmlformats.org/drawingml/2006/main">
              <a:ext uri="{FF2B5EF4-FFF2-40B4-BE49-F238E27FC236}">
                <a16:creationId xmlns:a16="http://schemas.microsoft.com/office/drawing/2014/main" id="{02B5AAE1-DD00-4D66-9BC6-89180C853640}"/>
              </a:ext>
            </a:extLst>
          </p:cNvPr>
          <p:cNvPicPr>
            <a:picLocks xmlns:a="http://schemas.openxmlformats.org/drawingml/2006/main" noChangeAspect="1"/>
          </p:cNvPicPr>
          <p:nvPr/>
        </p:nvPicPr>
        <p:blipFill>
          <a:blip xmlns:r="http://schemas.openxmlformats.org/officeDocument/2006/relationships" xmlns:a="http://schemas.openxmlformats.org/drawingml/2006/main" r:embed="Rd27d63ec9d6f4ed0"/>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1F53FFF-E340-4A84-A2A3-9005D960A8AB}"/>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5F2589-5896-4A38-8435-9D981A4E09A6}"/>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Which instructions would a new user need?</a:t>
            </a:r>
          </a:p>
        </p:txBody>
      </p:sp>
      <p:sp>
        <p:nvSpPr>
          <p:cNvPr id="6" name="">
            <a:extLst xmlns:a="http://schemas.openxmlformats.org/drawingml/2006/main">
              <a:ext uri="{FF2B5EF4-FFF2-40B4-BE49-F238E27FC236}">
                <a16:creationId xmlns:a16="http://schemas.microsoft.com/office/drawing/2014/main" id="{FACBC540-E2FD-49B5-82A1-660563D377F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10</a:t>
            </a:r>
          </a:p>
        </p:txBody>
      </p:sp>
    </p:spTree>
    <p:extLst>
      <p:ext uri="{BB962C8B-B14F-4D97-AF65-F5344CB8AC3E}">
        <p14:creationId xmlns:p14="http://schemas.microsoft.com/office/powerpoint/2010/main" val="2316753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3DBD04-7E3E-4B63-82B6-DBC7033B56C7}"/>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718C2A-6144-453E-9622-CAD95D9FA7CC}"/>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reproducible notebook starts fresh</a:t>
            </a:r>
          </a:p>
        </p:txBody>
      </p:sp>
      <p:pic>
        <p:nvPicPr>
          <p:cNvPr id="3" name="">
            <a:extLst xmlns:a="http://schemas.openxmlformats.org/drawingml/2006/main">
              <a:ext uri="{FF2B5EF4-FFF2-40B4-BE49-F238E27FC236}">
                <a16:creationId xmlns:a16="http://schemas.microsoft.com/office/drawing/2014/main" id="{24BFEB2F-A824-410B-9F1C-04369E9AD0B9}"/>
              </a:ext>
            </a:extLst>
          </p:cNvPr>
          <p:cNvPicPr>
            <a:picLocks xmlns:a="http://schemas.openxmlformats.org/drawingml/2006/main" noChangeAspect="1"/>
          </p:cNvPicPr>
          <p:nvPr/>
        </p:nvPicPr>
        <p:blipFill>
          <a:blip xmlns:r="http://schemas.openxmlformats.org/officeDocument/2006/relationships" xmlns:a="http://schemas.openxmlformats.org/drawingml/2006/main" r:embed="R6d8dc42ecf424e8f"/>
          <a:stretch xmlns:a="http://schemas.openxmlformats.org/drawingml/2006/main"/>
        </p:blipFill>
        <p:spPr>
          <a:xfrm xmlns:a="http://schemas.openxmlformats.org/drawingml/2006/main">
            <a:off x="333375" y="1132281"/>
            <a:ext cx="11525250" cy="446961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14EB5FB-3572-4D91-BA00-44A301D5A652}"/>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FBAC47-2230-40C5-86CA-6DABB680E21E}"/>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The saved outputs must agree with a fresh run in the stated order.</a:t>
            </a:r>
          </a:p>
        </p:txBody>
      </p:sp>
      <p:sp>
        <p:nvSpPr>
          <p:cNvPr id="6" name="">
            <a:extLst xmlns:a="http://schemas.openxmlformats.org/drawingml/2006/main">
              <a:ext uri="{FF2B5EF4-FFF2-40B4-BE49-F238E27FC236}">
                <a16:creationId xmlns:a16="http://schemas.microsoft.com/office/drawing/2014/main" id="{31025E89-D555-4417-A821-B36AEF79109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11</a:t>
            </a:r>
          </a:p>
        </p:txBody>
      </p:sp>
    </p:spTree>
    <p:extLst>
      <p:ext uri="{BB962C8B-B14F-4D97-AF65-F5344CB8AC3E}">
        <p14:creationId xmlns:p14="http://schemas.microsoft.com/office/powerpoint/2010/main" val="143700621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3F43EA-F8E5-4056-A836-8535BD8C10C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F78560-53EB-4120-9980-80A6542389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334393C-8BD0-4818-BDED-61747722C6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Saved outputs can hide missing steps</a:t>
            </a:r>
          </a:p>
        </p:txBody>
      </p:sp>
      <p:sp>
        <p:nvSpPr>
          <p:cNvPr id="4" name="">
            <a:extLst xmlns:a="http://schemas.openxmlformats.org/drawingml/2006/main">
              <a:ext uri="{FF2B5EF4-FFF2-40B4-BE49-F238E27FC236}">
                <a16:creationId xmlns:a16="http://schemas.microsoft.com/office/drawing/2014/main" id="{B33C811A-D0DA-44AD-93B6-2A6D4D9E1A7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C98E73A-2026-40C0-8EBB-C259FC5BB6D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notebook can display an old answer after its inputs have changed.</a:t>
            </a:r>
          </a:p>
        </p:txBody>
      </p:sp>
      <p:sp>
        <p:nvSpPr>
          <p:cNvPr id="6" name="">
            <a:extLst xmlns:a="http://schemas.openxmlformats.org/drawingml/2006/main">
              <a:ext uri="{FF2B5EF4-FFF2-40B4-BE49-F238E27FC236}">
                <a16:creationId xmlns:a16="http://schemas.microsoft.com/office/drawing/2014/main" id="{5DD76886-5E86-4316-A0FC-15354809CF7F}"/>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EAC2B53-CC45-4DCA-A812-6027F421A98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fresh session begins without the old variables.</a:t>
            </a:r>
          </a:p>
        </p:txBody>
      </p:sp>
      <p:sp>
        <p:nvSpPr>
          <p:cNvPr id="8" name="">
            <a:extLst xmlns:a="http://schemas.openxmlformats.org/drawingml/2006/main">
              <a:ext uri="{FF2B5EF4-FFF2-40B4-BE49-F238E27FC236}">
                <a16:creationId xmlns:a16="http://schemas.microsoft.com/office/drawing/2014/main" id="{47C5255D-95AE-4E7D-97AF-F948D18CB1D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1B00582-859E-43B2-8C31-D1C507A241B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Restarting and running all tests whether the stated order creates the result.</a:t>
            </a:r>
          </a:p>
        </p:txBody>
      </p:sp>
      <p:sp>
        <p:nvSpPr>
          <p:cNvPr id="10" name="">
            <a:extLst xmlns:a="http://schemas.openxmlformats.org/drawingml/2006/main">
              <a:ext uri="{FF2B5EF4-FFF2-40B4-BE49-F238E27FC236}">
                <a16:creationId xmlns:a16="http://schemas.microsoft.com/office/drawing/2014/main" id="{1F9FD36F-0DE4-470D-BC55-A003E49F2B8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12</a:t>
            </a:r>
          </a:p>
        </p:txBody>
      </p:sp>
    </p:spTree>
    <p:extLst>
      <p:ext uri="{BB962C8B-B14F-4D97-AF65-F5344CB8AC3E}">
        <p14:creationId xmlns:p14="http://schemas.microsoft.com/office/powerpoint/2010/main" val="17340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E58DE68-2B57-4A64-B7C1-03591EEC70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779D44-84E7-4A97-B3C3-308819FEB6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C26A243-1A2A-4A7C-9F24-324E0BF10F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path names where a file is found</a:t>
            </a:r>
          </a:p>
        </p:txBody>
      </p:sp>
      <p:sp>
        <p:nvSpPr>
          <p:cNvPr id="4" name="">
            <a:extLst xmlns:a="http://schemas.openxmlformats.org/drawingml/2006/main">
              <a:ext uri="{FF2B5EF4-FFF2-40B4-BE49-F238E27FC236}">
                <a16:creationId xmlns:a16="http://schemas.microsoft.com/office/drawing/2014/main" id="{E6740459-5AD7-4B2C-9D35-8F91A8B2B63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1243F20-C4DE-4DAD-AE5D-55A3A06BF3B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relative path is interpreted from the current working folder.</a:t>
            </a:r>
          </a:p>
        </p:txBody>
      </p:sp>
      <p:sp>
        <p:nvSpPr>
          <p:cNvPr id="6" name="">
            <a:extLst xmlns:a="http://schemas.openxmlformats.org/drawingml/2006/main">
              <a:ext uri="{FF2B5EF4-FFF2-40B4-BE49-F238E27FC236}">
                <a16:creationId xmlns:a16="http://schemas.microsoft.com/office/drawing/2014/main" id="{92C5F052-1C0C-45C1-A503-C9BB19F8DB4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4A47207-4AAA-42AF-9DE5-155AA115CF9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Package versions describe the software used to run the code.</a:t>
            </a:r>
          </a:p>
        </p:txBody>
      </p:sp>
      <p:sp>
        <p:nvSpPr>
          <p:cNvPr id="8" name="">
            <a:extLst xmlns:a="http://schemas.openxmlformats.org/drawingml/2006/main">
              <a:ext uri="{FF2B5EF4-FFF2-40B4-BE49-F238E27FC236}">
                <a16:creationId xmlns:a16="http://schemas.microsoft.com/office/drawing/2014/main" id="{E9CADEF1-DDDC-4613-8A66-DD6CC5A8532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1AD5C5B-0C81-4EEC-B575-FB6E3504153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README must give both run instructions and data-access instructions.</a:t>
            </a:r>
          </a:p>
        </p:txBody>
      </p:sp>
      <p:sp>
        <p:nvSpPr>
          <p:cNvPr id="10" name="">
            <a:extLst xmlns:a="http://schemas.openxmlformats.org/drawingml/2006/main">
              <a:ext uri="{FF2B5EF4-FFF2-40B4-BE49-F238E27FC236}">
                <a16:creationId xmlns:a16="http://schemas.microsoft.com/office/drawing/2014/main" id="{B1FBE502-D49B-4CEC-BE94-6FCDD68C568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13</a:t>
            </a:r>
          </a:p>
        </p:txBody>
      </p:sp>
    </p:spTree>
    <p:extLst>
      <p:ext uri="{BB962C8B-B14F-4D97-AF65-F5344CB8AC3E}">
        <p14:creationId xmlns:p14="http://schemas.microsoft.com/office/powerpoint/2010/main" val="60544969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9AD4D5-C360-4272-8AD8-67298A68D4B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A583F7-1042-48B4-B4A0-06B827724FD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707B9C51-279B-47C0-B338-FFDF9C37402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path example</a:t>
            </a:r>
          </a:p>
        </p:txBody>
      </p:sp>
      <p:sp>
        <p:nvSpPr>
          <p:cNvPr id="4" name="">
            <a:extLst xmlns:a="http://schemas.openxmlformats.org/drawingml/2006/main">
              <a:ext uri="{FF2B5EF4-FFF2-40B4-BE49-F238E27FC236}">
                <a16:creationId xmlns:a16="http://schemas.microsoft.com/office/drawing/2014/main" id="{D8AF6034-D688-4580-B398-F9A57E787086}"/>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4101BD0-4F9A-43B0-AA80-10ADEF6ED8F2}"/>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Path and cwd</a:t>
            </a:r>
          </a:p>
        </p:txBody>
      </p:sp>
      <p:sp>
        <p:nvSpPr>
          <p:cNvPr id="6" name="">
            <a:extLst xmlns:a="http://schemas.openxmlformats.org/drawingml/2006/main">
              <a:ext uri="{FF2B5EF4-FFF2-40B4-BE49-F238E27FC236}">
                <a16:creationId xmlns:a16="http://schemas.microsoft.com/office/drawing/2014/main" id="{ECFE5C07-2761-4F14-A090-C22B22B1E9DD}"/>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Path is a tool imported from Python’s pathlib module. Path.cwd() returns the folder where Python is currently running.</a:t>
            </a:r>
          </a:p>
        </p:txBody>
      </p:sp>
      <p:sp>
        <p:nvSpPr>
          <p:cNvPr id="7" name="">
            <a:extLst xmlns:a="http://schemas.openxmlformats.org/drawingml/2006/main">
              <a:ext uri="{FF2B5EF4-FFF2-40B4-BE49-F238E27FC236}">
                <a16:creationId xmlns:a16="http://schemas.microsoft.com/office/drawing/2014/main" id="{7D060F00-9858-49B0-914A-0862DD74181C}"/>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F2F1436-3DEF-48C7-8E91-1711968D9E3C}"/>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name</a:t>
            </a:r>
          </a:p>
        </p:txBody>
      </p:sp>
      <p:sp>
        <p:nvSpPr>
          <p:cNvPr id="9" name="">
            <a:extLst xmlns:a="http://schemas.openxmlformats.org/drawingml/2006/main">
              <a:ext uri="{FF2B5EF4-FFF2-40B4-BE49-F238E27FC236}">
                <a16:creationId xmlns:a16="http://schemas.microsoft.com/office/drawing/2014/main" id="{87B344F2-B2D0-4F77-8D9C-561A8737527A}"/>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The .name property gives the last folder component as text. It depends on your runtime. A different folder name is expected on another computer.</a:t>
            </a:r>
          </a:p>
        </p:txBody>
      </p:sp>
      <p:sp>
        <p:nvSpPr>
          <p:cNvPr id="10" name="">
            <a:extLst xmlns:a="http://schemas.openxmlformats.org/drawingml/2006/main">
              <a:ext uri="{FF2B5EF4-FFF2-40B4-BE49-F238E27FC236}">
                <a16:creationId xmlns:a16="http://schemas.microsoft.com/office/drawing/2014/main" id="{709136DA-5456-4AFA-A54F-8B6ACC40315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14</a:t>
            </a:r>
          </a:p>
        </p:txBody>
      </p:sp>
    </p:spTree>
    <p:extLst>
      <p:ext uri="{BB962C8B-B14F-4D97-AF65-F5344CB8AC3E}">
        <p14:creationId xmlns:p14="http://schemas.microsoft.com/office/powerpoint/2010/main" val="10667822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680D41-2651-41C6-BE6F-7845D20DF07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76E86F-53DD-4BC7-9566-3C186AA4951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708BD0DB-7356-4914-B38A-A757E720736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Tell another person what the project needs</a:t>
            </a:r>
          </a:p>
        </p:txBody>
      </p:sp>
      <p:sp>
        <p:nvSpPr>
          <p:cNvPr id="4" name="">
            <a:extLst xmlns:a="http://schemas.openxmlformats.org/drawingml/2006/main">
              <a:ext uri="{FF2B5EF4-FFF2-40B4-BE49-F238E27FC236}">
                <a16:creationId xmlns:a16="http://schemas.microsoft.com/office/drawing/2014/main" id="{E3F95E80-0D23-4C01-A2AB-830867F1ECC3}"/>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3221DF-1E8F-460F-A5A9-DD2AA6D8B049}"/>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requirements.txt and versions</a:t>
            </a:r>
          </a:p>
        </p:txBody>
      </p:sp>
      <p:sp>
        <p:nvSpPr>
          <p:cNvPr id="6" name="">
            <a:extLst xmlns:a="http://schemas.openxmlformats.org/drawingml/2006/main">
              <a:ext uri="{FF2B5EF4-FFF2-40B4-BE49-F238E27FC236}">
                <a16:creationId xmlns:a16="http://schemas.microsoft.com/office/drawing/2014/main" id="{AA05106F-8B53-473E-9D1F-12CCAD768264}"/>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This text file lists required Python packages and their versions. Record the versions used in the working environment; test them with the supplied run instructions.</a:t>
            </a:r>
          </a:p>
        </p:txBody>
      </p:sp>
      <p:sp>
        <p:nvSpPr>
          <p:cNvPr id="7" name="">
            <a:extLst xmlns:a="http://schemas.openxmlformats.org/drawingml/2006/main">
              <a:ext uri="{FF2B5EF4-FFF2-40B4-BE49-F238E27FC236}">
                <a16:creationId xmlns:a16="http://schemas.microsoft.com/office/drawing/2014/main" id="{87E405FF-789C-4943-B0C7-0A77F862375C}"/>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0C643C6-7DE5-4DBC-87C7-0F2120F2094E}"/>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Data source, permission and seed</a:t>
            </a:r>
          </a:p>
        </p:txBody>
      </p:sp>
      <p:sp>
        <p:nvSpPr>
          <p:cNvPr id="9" name="">
            <a:extLst xmlns:a="http://schemas.openxmlformats.org/drawingml/2006/main">
              <a:ext uri="{FF2B5EF4-FFF2-40B4-BE49-F238E27FC236}">
                <a16:creationId xmlns:a16="http://schemas.microsoft.com/office/drawing/2014/main" id="{D45B4AE3-273C-47C7-92E6-432398A48C85}"/>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Name the data source and any licence or permission for reuse. Record random seeds used in modelling. A seed supports repeatability; it does not repair data leakage.</a:t>
            </a:r>
          </a:p>
        </p:txBody>
      </p:sp>
      <p:sp>
        <p:nvSpPr>
          <p:cNvPr id="10" name="">
            <a:extLst xmlns:a="http://schemas.openxmlformats.org/drawingml/2006/main">
              <a:ext uri="{FF2B5EF4-FFF2-40B4-BE49-F238E27FC236}">
                <a16:creationId xmlns:a16="http://schemas.microsoft.com/office/drawing/2014/main" id="{3A1900F7-E7CC-4035-862D-C2E2924EE0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15</a:t>
            </a:r>
          </a:p>
        </p:txBody>
      </p:sp>
    </p:spTree>
    <p:extLst>
      <p:ext uri="{BB962C8B-B14F-4D97-AF65-F5344CB8AC3E}">
        <p14:creationId xmlns:p14="http://schemas.microsoft.com/office/powerpoint/2010/main" val="24149969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BF6AA1-56CA-49ED-AA05-0D743D5A796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887F2E-9681-4054-9BF3-34F48220570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8373E8DC-1BA9-43E6-8362-124389826A5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Run checks and contribution evidence</a:t>
            </a:r>
          </a:p>
        </p:txBody>
      </p:sp>
      <p:sp>
        <p:nvSpPr>
          <p:cNvPr id="4" name="">
            <a:extLst xmlns:a="http://schemas.openxmlformats.org/drawingml/2006/main">
              <a:ext uri="{FF2B5EF4-FFF2-40B4-BE49-F238E27FC236}">
                <a16:creationId xmlns:a16="http://schemas.microsoft.com/office/drawing/2014/main" id="{DB7102EA-9E9E-4B41-B7A0-C7F20DB4648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15E4F1-FD39-49A5-B662-7F87DFF50794}"/>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Independent run check</a:t>
            </a:r>
          </a:p>
        </p:txBody>
      </p:sp>
      <p:sp>
        <p:nvSpPr>
          <p:cNvPr id="6" name="">
            <a:extLst xmlns:a="http://schemas.openxmlformats.org/drawingml/2006/main">
              <a:ext uri="{FF2B5EF4-FFF2-40B4-BE49-F238E27FC236}">
                <a16:creationId xmlns:a16="http://schemas.microsoft.com/office/drawing/2014/main" id="{241752B8-58AE-46F3-8F28-B321599E3792}"/>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Restart the session and follow your written instructions without relying on earlier variables. Record the first failure and its repair.</a:t>
            </a:r>
          </a:p>
        </p:txBody>
      </p:sp>
      <p:sp>
        <p:nvSpPr>
          <p:cNvPr id="7" name="">
            <a:extLst xmlns:a="http://schemas.openxmlformats.org/drawingml/2006/main">
              <a:ext uri="{FF2B5EF4-FFF2-40B4-BE49-F238E27FC236}">
                <a16:creationId xmlns:a16="http://schemas.microsoft.com/office/drawing/2014/main" id="{7938B48D-2954-4AA8-B691-3144A5E66030}"/>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05F33E3-2715-4CE3-824D-F11FA3E7C2C9}"/>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Contribution evidence</a:t>
            </a:r>
          </a:p>
        </p:txBody>
      </p:sp>
      <p:sp>
        <p:nvSpPr>
          <p:cNvPr id="9" name="">
            <a:extLst xmlns:a="http://schemas.openxmlformats.org/drawingml/2006/main">
              <a:ext uri="{FF2B5EF4-FFF2-40B4-BE49-F238E27FC236}">
                <a16:creationId xmlns:a16="http://schemas.microsoft.com/office/drawing/2014/main" id="{2F8E2FE5-29E9-4DCA-A680-81418009EE97}"/>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record of each person’s work, tied to files, commits or explanations. It does not require making a private repository public.</a:t>
            </a:r>
          </a:p>
        </p:txBody>
      </p:sp>
      <p:sp>
        <p:nvSpPr>
          <p:cNvPr id="10" name="">
            <a:extLst xmlns:a="http://schemas.openxmlformats.org/drawingml/2006/main">
              <a:ext uri="{FF2B5EF4-FFF2-40B4-BE49-F238E27FC236}">
                <a16:creationId xmlns:a16="http://schemas.microsoft.com/office/drawing/2014/main" id="{14872F66-97D4-4C42-8C85-9E53AE5AB6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16</a:t>
            </a:r>
          </a:p>
        </p:txBody>
      </p:sp>
    </p:spTree>
    <p:extLst>
      <p:ext uri="{BB962C8B-B14F-4D97-AF65-F5344CB8AC3E}">
        <p14:creationId xmlns:p14="http://schemas.microsoft.com/office/powerpoint/2010/main" val="19412404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2860EE-2F01-415D-80B2-F13C717C705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962392-4EAB-406E-8CC5-991D050223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3B76CE4-F917-4CCE-89C9-B7677DFB25E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Useful feedback identifies an exact repair</a:t>
            </a:r>
          </a:p>
        </p:txBody>
      </p:sp>
      <p:sp>
        <p:nvSpPr>
          <p:cNvPr id="4" name="">
            <a:extLst xmlns:a="http://schemas.openxmlformats.org/drawingml/2006/main">
              <a:ext uri="{FF2B5EF4-FFF2-40B4-BE49-F238E27FC236}">
                <a16:creationId xmlns:a16="http://schemas.microsoft.com/office/drawing/2014/main" id="{A5BF300C-E2EF-453A-967F-F3865D41F91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7CAA52B-17FB-48B7-B829-546B3F7FF08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Vague feedback: "It does not work."</a:t>
            </a:r>
          </a:p>
        </p:txBody>
      </p:sp>
      <p:sp>
        <p:nvSpPr>
          <p:cNvPr id="6" name="">
            <a:extLst xmlns:a="http://schemas.openxmlformats.org/drawingml/2006/main">
              <a:ext uri="{FF2B5EF4-FFF2-40B4-BE49-F238E27FC236}">
                <a16:creationId xmlns:a16="http://schemas.microsoft.com/office/drawing/2014/main" id="{78E4219C-9B4B-4B99-B8E2-D2DE04A77B2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B16C98F-EF16-48C0-95AA-73388C57FA8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Useful feedback: "Step 2 names data.csv, but the supplied file is readings.csv."</a:t>
            </a:r>
          </a:p>
        </p:txBody>
      </p:sp>
      <p:sp>
        <p:nvSpPr>
          <p:cNvPr id="8" name="">
            <a:extLst xmlns:a="http://schemas.openxmlformats.org/drawingml/2006/main">
              <a:ext uri="{FF2B5EF4-FFF2-40B4-BE49-F238E27FC236}">
                <a16:creationId xmlns:a16="http://schemas.microsoft.com/office/drawing/2014/main" id="{1BCEA1CF-3C91-4BDE-834B-DE38450C8F8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CDC17AA-74E8-40CA-8F4C-A81CF8FEB2F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repair is to make the instructions and actual filename agree.</a:t>
            </a:r>
          </a:p>
        </p:txBody>
      </p:sp>
      <p:sp>
        <p:nvSpPr>
          <p:cNvPr id="10" name="">
            <a:extLst xmlns:a="http://schemas.openxmlformats.org/drawingml/2006/main">
              <a:ext uri="{FF2B5EF4-FFF2-40B4-BE49-F238E27FC236}">
                <a16:creationId xmlns:a16="http://schemas.microsoft.com/office/drawing/2014/main" id="{98EA31E0-0CEC-4968-816B-ED7CC6726B2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17</a:t>
            </a:r>
          </a:p>
        </p:txBody>
      </p:sp>
    </p:spTree>
    <p:extLst>
      <p:ext uri="{BB962C8B-B14F-4D97-AF65-F5344CB8AC3E}">
        <p14:creationId xmlns:p14="http://schemas.microsoft.com/office/powerpoint/2010/main" val="6637777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58B7CE-65D3-41E8-873E-301A30380F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584EA9-3D00-4021-B2D8-344B079A7D4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813E9BC-E204-4582-9ACB-D0D7C9266CA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A525EFC4-CD9B-4131-BA75-70B8EC01DE3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262473-7CBF-4D6A-A35A-992BE70E354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40113D-96D0-48F1-A927-BBB02968EDA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Check: restart the notebook runtime and follow your README exactly, without using remembered variables.</a:t>
            </a:r>
          </a:p>
        </p:txBody>
      </p:sp>
      <p:sp>
        <p:nvSpPr>
          <p:cNvPr id="7" name="">
            <a:extLst xmlns:a="http://schemas.openxmlformats.org/drawingml/2006/main">
              <a:ext uri="{FF2B5EF4-FFF2-40B4-BE49-F238E27FC236}">
                <a16:creationId xmlns:a16="http://schemas.microsoft.com/office/drawing/2014/main" id="{FB0B145B-0A91-4E68-AC6B-F55EDF6E3F7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If Step 2 names data.csv but the file is readings.csv, correct the filename in the instructions. Run again from the beginning and record the successful result.</a:t>
            </a:r>
          </a:p>
        </p:txBody>
      </p:sp>
      <p:sp>
        <p:nvSpPr>
          <p:cNvPr id="8" name="">
            <a:extLst xmlns:a="http://schemas.openxmlformats.org/drawingml/2006/main">
              <a:ext uri="{FF2B5EF4-FFF2-40B4-BE49-F238E27FC236}">
                <a16:creationId xmlns:a16="http://schemas.microsoft.com/office/drawing/2014/main" id="{FFCAA888-619C-4135-A5D7-82038F66988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18</a:t>
            </a:r>
          </a:p>
        </p:txBody>
      </p:sp>
    </p:spTree>
    <p:extLst>
      <p:ext uri="{BB962C8B-B14F-4D97-AF65-F5344CB8AC3E}">
        <p14:creationId xmlns:p14="http://schemas.microsoft.com/office/powerpoint/2010/main" val="180165746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21AA4B5-C47D-4A2C-8E1E-DDEE7CFFE07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F5386A-3293-4008-9778-74D4F00225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CD5D7C4-90AA-4C88-AF26-0E243598DD8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AE46998E-1B1D-44AF-B22E-DCA20F04DAE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D5F3ADE-DEA8-4440-A126-3D311C467A48}"/>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 new weekly assignment.</a:t>
            </a:r>
          </a:p>
        </p:txBody>
      </p:sp>
      <p:sp>
        <p:nvSpPr>
          <p:cNvPr id="6" name="">
            <a:extLst xmlns:a="http://schemas.openxmlformats.org/drawingml/2006/main">
              <a:ext uri="{FF2B5EF4-FFF2-40B4-BE49-F238E27FC236}">
                <a16:creationId xmlns:a16="http://schemas.microsoft.com/office/drawing/2014/main" id="{40C39BA2-97C3-440C-885E-E1350A4F64A0}"/>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54C0DAE-9B21-473C-9BFC-603A1B2C9762}"/>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Continue the official project deliverables and Week 13 quiz.</a:t>
            </a:r>
          </a:p>
        </p:txBody>
      </p:sp>
      <p:sp>
        <p:nvSpPr>
          <p:cNvPr id="8" name="">
            <a:extLst xmlns:a="http://schemas.openxmlformats.org/drawingml/2006/main">
              <a:ext uri="{FF2B5EF4-FFF2-40B4-BE49-F238E27FC236}">
                <a16:creationId xmlns:a16="http://schemas.microsoft.com/office/drawing/2014/main" id="{EE4811CA-9B6A-47BA-9C92-32ACD44CA2C4}"/>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8C769D5-7F60-4EBD-AD6A-D5B55B640B13}"/>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Rehearse Colab Test 2 saving and submission and the published function interfaces before Week 14.</a:t>
            </a:r>
          </a:p>
        </p:txBody>
      </p:sp>
      <p:sp>
        <p:nvSpPr>
          <p:cNvPr id="10" name="">
            <a:extLst xmlns:a="http://schemas.openxmlformats.org/drawingml/2006/main">
              <a:ext uri="{FF2B5EF4-FFF2-40B4-BE49-F238E27FC236}">
                <a16:creationId xmlns:a16="http://schemas.microsoft.com/office/drawing/2014/main" id="{AC577E6A-B742-4F3C-BDD0-69C9C9552C52}"/>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615769F-F966-41DE-836A-EF503010E058}"/>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 not add an extra upload.</a:t>
            </a:r>
          </a:p>
        </p:txBody>
      </p:sp>
      <p:sp>
        <p:nvSpPr>
          <p:cNvPr id="12" name="">
            <a:extLst xmlns:a="http://schemas.openxmlformats.org/drawingml/2006/main">
              <a:ext uri="{FF2B5EF4-FFF2-40B4-BE49-F238E27FC236}">
                <a16:creationId xmlns:a16="http://schemas.microsoft.com/office/drawing/2014/main" id="{D5618FEE-56D2-4DA2-BBF5-9AE50C5562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19</a:t>
            </a:r>
          </a:p>
        </p:txBody>
      </p:sp>
    </p:spTree>
    <p:extLst>
      <p:ext uri="{BB962C8B-B14F-4D97-AF65-F5344CB8AC3E}">
        <p14:creationId xmlns:p14="http://schemas.microsoft.com/office/powerpoint/2010/main" val="75495545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4D5CB18-BCA1-44CC-BC5D-1E2196F28C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7441F2-3B0D-4158-8361-F856D1B4728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3E05DE7-91BD-4596-9911-EE23C97CCF3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reproducible handover</a:t>
            </a:r>
          </a:p>
        </p:txBody>
      </p:sp>
      <p:sp>
        <p:nvSpPr>
          <p:cNvPr id="4" name="">
            <a:extLst xmlns:a="http://schemas.openxmlformats.org/drawingml/2006/main">
              <a:ext uri="{FF2B5EF4-FFF2-40B4-BE49-F238E27FC236}">
                <a16:creationId xmlns:a16="http://schemas.microsoft.com/office/drawing/2014/main" id="{E4565883-1C99-4CBA-9D29-169641A78CB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53C3540-0D04-45B1-8AA5-C572C79997A7}"/>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absolute path from your own computer will usually fail elsewhere.</a:t>
            </a:r>
          </a:p>
        </p:txBody>
      </p:sp>
      <p:sp>
        <p:nvSpPr>
          <p:cNvPr id="6" name="">
            <a:extLst xmlns:a="http://schemas.openxmlformats.org/drawingml/2006/main">
              <a:ext uri="{FF2B5EF4-FFF2-40B4-BE49-F238E27FC236}">
                <a16:creationId xmlns:a16="http://schemas.microsoft.com/office/drawing/2014/main" id="{D6503CBA-1390-41CC-BD9E-141BD705C969}"/>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9E7B650-431A-4C81-A99E-9C19DDDDD9E4}"/>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relative path starts from the current working folder.</a:t>
            </a:r>
          </a:p>
        </p:txBody>
      </p:sp>
      <p:sp>
        <p:nvSpPr>
          <p:cNvPr id="8" name="">
            <a:extLst xmlns:a="http://schemas.openxmlformats.org/drawingml/2006/main">
              <a:ext uri="{FF2B5EF4-FFF2-40B4-BE49-F238E27FC236}">
                <a16:creationId xmlns:a16="http://schemas.microsoft.com/office/drawing/2014/main" id="{16748CD3-95B8-4AB4-A251-F18BB3FD3533}"/>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CD72DD1-A237-4B73-8ACB-188F8B6BEB9E}"/>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Record dependencies and actual versions, and fix randomness where appropriate; identical results across all machines are not guaranteed by a seed alone.</a:t>
            </a:r>
          </a:p>
        </p:txBody>
      </p:sp>
      <p:sp>
        <p:nvSpPr>
          <p:cNvPr id="10" name="">
            <a:extLst xmlns:a="http://schemas.openxmlformats.org/drawingml/2006/main">
              <a:ext uri="{FF2B5EF4-FFF2-40B4-BE49-F238E27FC236}">
                <a16:creationId xmlns:a16="http://schemas.microsoft.com/office/drawing/2014/main" id="{82E7C752-F9FC-4CD8-BDA5-781F73ABF506}"/>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4CE1E229-C462-4C2C-9019-C48FF0018FB0}"/>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Captions should state a supported finding and its scope.</a:t>
            </a:r>
          </a:p>
        </p:txBody>
      </p:sp>
      <p:sp>
        <p:nvSpPr>
          <p:cNvPr id="12" name="">
            <a:extLst xmlns:a="http://schemas.openxmlformats.org/drawingml/2006/main">
              <a:ext uri="{FF2B5EF4-FFF2-40B4-BE49-F238E27FC236}">
                <a16:creationId xmlns:a16="http://schemas.microsoft.com/office/drawing/2014/main" id="{053A8897-D0FB-447C-B497-AC89A479CC4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20</a:t>
            </a:r>
          </a:p>
        </p:txBody>
      </p:sp>
    </p:spTree>
    <p:extLst>
      <p:ext uri="{BB962C8B-B14F-4D97-AF65-F5344CB8AC3E}">
        <p14:creationId xmlns:p14="http://schemas.microsoft.com/office/powerpoint/2010/main" val="14404815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56E71C-4D88-4280-8798-D56D6426EB5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01E84C-9190-4908-B778-F0336C6F0CF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129B2A0-2989-4885-98CB-CBDE6128F90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reproducible handover continued</a:t>
            </a:r>
          </a:p>
        </p:txBody>
      </p:sp>
      <p:sp>
        <p:nvSpPr>
          <p:cNvPr id="4" name="">
            <a:extLst xmlns:a="http://schemas.openxmlformats.org/drawingml/2006/main">
              <a:ext uri="{FF2B5EF4-FFF2-40B4-BE49-F238E27FC236}">
                <a16:creationId xmlns:a16="http://schemas.microsoft.com/office/drawing/2014/main" id="{9D3FD52B-912D-4CA8-B8FC-59CBC26A8D92}"/>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C650B00-D213-483B-AABA-BE7EEF66142F}"/>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Remove conflicting cell assignments and verify a fresh run before submission.</a:t>
            </a:r>
          </a:p>
        </p:txBody>
      </p:sp>
      <p:sp>
        <p:nvSpPr>
          <p:cNvPr id="6" name="">
            <a:extLst xmlns:a="http://schemas.openxmlformats.org/drawingml/2006/main">
              <a:ext uri="{FF2B5EF4-FFF2-40B4-BE49-F238E27FC236}">
                <a16:creationId xmlns:a16="http://schemas.microsoft.com/office/drawing/2014/main" id="{C8321480-7ABC-4233-BE77-0725AD41437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21</a:t>
            </a:r>
          </a:p>
        </p:txBody>
      </p:sp>
    </p:spTree>
    <p:extLst>
      <p:ext uri="{BB962C8B-B14F-4D97-AF65-F5344CB8AC3E}">
        <p14:creationId xmlns:p14="http://schemas.microsoft.com/office/powerpoint/2010/main" val="11590708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AE417DB-41A2-4A8E-A46F-70B1B6FFC00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ACB4D1-014C-4125-BBBF-CE068EEC8C1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8BF46D3-F392-4B4E-8A8C-BF1B86E745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EB5DDADC-F54C-4558-8541-0A30805681A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1E3C668-E0D8-4841-9D6E-883448B010E4}"/>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machine learning project brief.</a:t>
            </a:r>
          </a:p>
        </p:txBody>
      </p:sp>
      <p:sp>
        <p:nvSpPr>
          <p:cNvPr id="6" name="">
            <a:extLst xmlns:a="http://schemas.openxmlformats.org/drawingml/2006/main">
              <a:ext uri="{FF2B5EF4-FFF2-40B4-BE49-F238E27FC236}">
                <a16:creationId xmlns:a16="http://schemas.microsoft.com/office/drawing/2014/main" id="{287E9D46-6D03-4334-BFC5-7A85B8C2D257}"/>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1396A7D-CB4B-404F-A36B-36CB7F99352A}"/>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47FFF78E-CF31-4BA2-91D1-2E39285A0EFF}"/>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188F76F-AC98-430D-A694-85AC1B850C07}"/>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9617F117-0B65-4B76-B459-1854BA71655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C5F1B39-7116-49F7-B1D8-4055FC548BF4}"/>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18 Dec 2026, 11:00 Kampala</a:t>
            </a:r>
          </a:p>
        </p:txBody>
      </p:sp>
      <p:sp>
        <p:nvSpPr>
          <p:cNvPr id="12" name="">
            <a:extLst xmlns:a="http://schemas.openxmlformats.org/drawingml/2006/main">
              <a:ext uri="{FF2B5EF4-FFF2-40B4-BE49-F238E27FC236}">
                <a16:creationId xmlns:a16="http://schemas.microsoft.com/office/drawing/2014/main" id="{E55EAEFA-892D-475F-A707-6BF307E8964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22</a:t>
            </a:r>
          </a:p>
        </p:txBody>
      </p:sp>
    </p:spTree>
    <p:extLst>
      <p:ext uri="{BB962C8B-B14F-4D97-AF65-F5344CB8AC3E}">
        <p14:creationId xmlns:p14="http://schemas.microsoft.com/office/powerpoint/2010/main" val="197430496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4AA6C7C-1BF9-41E8-B4D0-44A3952CB8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22A91F-7CBF-485A-96C9-25EF0780DDD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C7A8977D-73EA-43D4-99AF-57CAA55C273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13 quiz</a:t>
            </a:r>
          </a:p>
        </p:txBody>
      </p:sp>
      <p:sp>
        <p:nvSpPr>
          <p:cNvPr id="4" name="">
            <a:extLst xmlns:a="http://schemas.openxmlformats.org/drawingml/2006/main">
              <a:ext uri="{FF2B5EF4-FFF2-40B4-BE49-F238E27FC236}">
                <a16:creationId xmlns:a16="http://schemas.microsoft.com/office/drawing/2014/main" id="{D0C63059-3ED1-4704-8F73-7A6161D47B4D}"/>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54080B6-94C3-4173-BD25-7639F48EEED1}"/>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A2E7EE12-E08A-4A25-AAD6-48412B30CC5D}"/>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2161DEE-C350-40C6-A541-F706B0CCAF72}"/>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4D30140A-F824-46D4-8DCE-3385D1131EE2}"/>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0FBC36B-4BB9-45EB-97D1-51705E86439E}"/>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5BB18600-D585-48C0-A784-B6DB3D4794B1}"/>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65A42A0-AB3D-4BA1-8E0F-3C7692BA4398}"/>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DC22F067-0E24-42B3-9F5B-840C431D5110}"/>
              </a:ext>
            </a:extLst>
          </p:cNvPr>
          <p:cNvPicPr>
            <a:picLocks xmlns:a="http://schemas.openxmlformats.org/drawingml/2006/main" noChangeAspect="1"/>
          </p:cNvPicPr>
          <p:nvPr/>
        </p:nvPicPr>
        <p:blipFill>
          <a:blip xmlns:r="http://schemas.openxmlformats.org/officeDocument/2006/relationships" xmlns:a="http://schemas.openxmlformats.org/drawingml/2006/main" r:embed="Ra938ebf5cb3e4a2a"/>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272E643-2B5A-4AAC-81EA-629746B84E43}"/>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B6236BE9-09B6-44C0-95D5-5D4831C74A4C}"/>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4ABEE81-6780-476D-A8F7-9147CCCDF4C8}"/>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ae3dae50c5c74b5e"/>
              </a:rPr>
              <a:t>Open this week’s quiz</a:t>
            </a:r>
          </a:p>
        </p:txBody>
      </p:sp>
      <p:sp>
        <p:nvSpPr>
          <p:cNvPr id="16" name="">
            <a:extLst xmlns:a="http://schemas.openxmlformats.org/drawingml/2006/main">
              <a:ext uri="{FF2B5EF4-FFF2-40B4-BE49-F238E27FC236}">
                <a16:creationId xmlns:a16="http://schemas.microsoft.com/office/drawing/2014/main" id="{2C41434F-B669-47DB-BA7D-1AFA33E25496}"/>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https://forms.gle/ameQRYSJ5kfrpcKWA</a:t>
            </a:r>
          </a:p>
        </p:txBody>
      </p:sp>
      <p:sp>
        <p:nvSpPr>
          <p:cNvPr id="17" name="">
            <a:extLst xmlns:a="http://schemas.openxmlformats.org/drawingml/2006/main">
              <a:ext uri="{FF2B5EF4-FFF2-40B4-BE49-F238E27FC236}">
                <a16:creationId xmlns:a16="http://schemas.microsoft.com/office/drawing/2014/main" id="{53424EB8-7434-4BC2-9AFD-ACDDBA57312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23</a:t>
            </a:r>
          </a:p>
        </p:txBody>
      </p:sp>
    </p:spTree>
    <p:extLst>
      <p:ext uri="{BB962C8B-B14F-4D97-AF65-F5344CB8AC3E}">
        <p14:creationId xmlns:p14="http://schemas.microsoft.com/office/powerpoint/2010/main" val="2015875216"/>
      </p:ext>
    </p:extLst>
  </p:cSld>
</p:sld>
</file>

<file path=ppt/slides/slide2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6F7BB3-CCB0-4050-9955-68674791B78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CBEA4C8A-0211-4837-B984-11074B510BA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099CF0BF-D066-479D-9DB0-53050CEA7E1F}"/>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A97FE817-9B30-42CE-8BDA-45A43D8FD61A}"/>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Another learner can follow your README and reproduce the stated result.</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45AF9F6A-A694-4ACD-9DA0-86126404E49A}"/>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24DF6DE3-8F49-46E7-9915-FFEAFC7832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13   24</a:t>
            </a:r>
          </a:p>
        </p:txBody>
      </p:sp>
    </p:spTree>
    <p:extLst>
      <p:ext uri="{BB962C8B-B14F-4D97-AF65-F5344CB8AC3E}">
        <p14:creationId xmlns:p14="http://schemas.microsoft.com/office/powerpoint/2010/main" val="51972842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5578B09-39E6-4C31-B49A-5083623CC1A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90547D-8FDB-468F-87CC-E130EF77908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E21F2727-3248-4ED7-AF44-1BE5E06BEF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301F4C08-98EB-49C2-8DB5-4259D8627DC3}"/>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4D647D8-EB93-4A2C-87DA-77319939581A}"/>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F314CB32-6EFE-4F15-A272-D1992EADA564}"/>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A5752F0-B929-4468-9706-CDB0A8A2DA18}"/>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CodeWithChris</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GitHub Tutorial for Beginners (2025)</a:t>
            </a:r>
          </a:p>
        </p:txBody>
      </p:sp>
      <p:sp>
        <p:nvSpPr>
          <p:cNvPr id="8" name="">
            <a:extLst xmlns:a="http://schemas.openxmlformats.org/drawingml/2006/main">
              <a:ext uri="{FF2B5EF4-FFF2-40B4-BE49-F238E27FC236}">
                <a16:creationId xmlns:a16="http://schemas.microsoft.com/office/drawing/2014/main" id="{193DC913-5B30-4F51-9A19-375215ADC9D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7BE2824-CB18-4A36-8A5F-830A308479A7}"/>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00:00–02:10, then 03:35–06:08 (4 min 43 sec total)</a:t>
            </a:r>
          </a:p>
        </p:txBody>
      </p:sp>
      <p:sp>
        <p:nvSpPr>
          <p:cNvPr id="10" name="">
            <a:extLst xmlns:a="http://schemas.openxmlformats.org/drawingml/2006/main">
              <a:ext uri="{FF2B5EF4-FFF2-40B4-BE49-F238E27FC236}">
                <a16:creationId xmlns:a16="http://schemas.microsoft.com/office/drawing/2014/main" id="{FAA5D756-4678-4A52-A238-424CAA3B081E}"/>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797541D-24E2-4C49-AED6-A439DEA91DFA}"/>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keep history, and what is a repository?</a:t>
            </a:r>
          </a:p>
        </p:txBody>
      </p:sp>
      <p:sp>
        <p:nvSpPr>
          <p:cNvPr id="12" name="">
            <a:extLst xmlns:a="http://schemas.openxmlformats.org/drawingml/2006/main">
              <a:ext uri="{FF2B5EF4-FFF2-40B4-BE49-F238E27FC236}">
                <a16:creationId xmlns:a16="http://schemas.microsoft.com/office/drawing/2014/main" id="{DC216BC0-30B7-44FC-9D9E-BA04F212AE98}"/>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C3E912F-FAA7-43C5-A41E-6D84EF6EF108}"/>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8892988f18034790"/>
              </a:rPr>
              <a:t>Open explainer video</a:t>
            </a:r>
          </a:p>
        </p:txBody>
      </p:sp>
      <p:sp>
        <p:nvSpPr>
          <p:cNvPr id="14" name="">
            <a:extLst xmlns:a="http://schemas.openxmlformats.org/drawingml/2006/main">
              <a:ext uri="{FF2B5EF4-FFF2-40B4-BE49-F238E27FC236}">
                <a16:creationId xmlns:a16="http://schemas.microsoft.com/office/drawing/2014/main" id="{0295E059-9CBD-4937-B99D-79390EF9929C}"/>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https://www.youtube.com/watch?v=v5gnvDUWqFM</a:t>
            </a:r>
          </a:p>
        </p:txBody>
      </p:sp>
      <p:sp>
        <p:nvSpPr>
          <p:cNvPr id="15" name="">
            <a:extLst xmlns:a="http://schemas.openxmlformats.org/drawingml/2006/main">
              <a:ext uri="{FF2B5EF4-FFF2-40B4-BE49-F238E27FC236}">
                <a16:creationId xmlns:a16="http://schemas.microsoft.com/office/drawing/2014/main" id="{0AC9F18F-D963-499F-A968-2BDF047D2BB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13   25</a:t>
            </a:r>
          </a:p>
        </p:txBody>
      </p:sp>
    </p:spTree>
    <p:extLst>
      <p:ext uri="{BB962C8B-B14F-4D97-AF65-F5344CB8AC3E}">
        <p14:creationId xmlns:p14="http://schemas.microsoft.com/office/powerpoint/2010/main" val="1833304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2026-10-20T18:02:29.5910000Z</dcterms:created>
  <dcterms:modified xsi:type="dcterms:W3CDTF">2026-10-20T18:02:29.5910000Z</dcterms:modified>
</coreProperties>
</file>