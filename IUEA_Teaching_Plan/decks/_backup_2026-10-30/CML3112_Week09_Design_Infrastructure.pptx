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e1b58f30b14703" /><Relationship Type="http://schemas.openxmlformats.org/officeDocument/2006/relationships/extended-properties" Target="/docProps/app.xml" Id="Rc9122d5ae2f84ceb" /><Relationship Type="http://schemas.openxmlformats.org/officeDocument/2006/relationships/officeDocument" Target="/ppt/presentation.xml" Id="R58b3f05950f2417e" /></Relationships>
</file>

<file path=ppt/presentation.xml><?xml version="1.0" encoding="utf-8"?>
<p:presentation xmlns:p="http://schemas.openxmlformats.org/presentationml/2006/main">
  <p:sldMasterIdLst>
    <p:sldMasterId xmlns:r="http://schemas.openxmlformats.org/officeDocument/2006/relationships" id="2147483648" r:id="R3573f7cec2b64535"/>
  </p:sldMasterIdLst>
  <p:notesMasterIdLst>
    <p:notesMasterId xmlns:r="http://schemas.openxmlformats.org/officeDocument/2006/relationships" r:id="R3deae74a18da4acc"/>
  </p:notesMasterIdLst>
  <p:sldIdLst>
    <p:sldId xmlns:r="http://schemas.openxmlformats.org/officeDocument/2006/relationships" id="256" r:id="R28088a671ad044ff"/>
    <p:sldId xmlns:r="http://schemas.openxmlformats.org/officeDocument/2006/relationships" id="257" r:id="Ra4e157923ed34616"/>
    <p:sldId xmlns:r="http://schemas.openxmlformats.org/officeDocument/2006/relationships" id="258" r:id="Rb1ebc40284a64642"/>
    <p:sldId xmlns:r="http://schemas.openxmlformats.org/officeDocument/2006/relationships" id="259" r:id="R59fbaf08760b491f"/>
    <p:sldId xmlns:r="http://schemas.openxmlformats.org/officeDocument/2006/relationships" id="260" r:id="Rdf30abff5d6f49cf"/>
    <p:sldId xmlns:r="http://schemas.openxmlformats.org/officeDocument/2006/relationships" id="261" r:id="Rf54c7247ef724c71"/>
    <p:sldId xmlns:r="http://schemas.openxmlformats.org/officeDocument/2006/relationships" id="262" r:id="R8a0164fa69f24e7a"/>
    <p:sldId xmlns:r="http://schemas.openxmlformats.org/officeDocument/2006/relationships" id="263" r:id="Rbb2ec15952e24132"/>
    <p:sldId xmlns:r="http://schemas.openxmlformats.org/officeDocument/2006/relationships" id="264" r:id="Rab73083caeb24f5b"/>
    <p:sldId xmlns:r="http://schemas.openxmlformats.org/officeDocument/2006/relationships" id="265" r:id="R7ca5abc3f9a74450"/>
    <p:sldId xmlns:r="http://schemas.openxmlformats.org/officeDocument/2006/relationships" id="266" r:id="Rd89276e316e54b20"/>
    <p:sldId xmlns:r="http://schemas.openxmlformats.org/officeDocument/2006/relationships" id="267" r:id="Rfa60bcf0ae1545d4"/>
    <p:sldId xmlns:r="http://schemas.openxmlformats.org/officeDocument/2006/relationships" id="268" r:id="Rc8edc50940c24a71"/>
    <p:sldId xmlns:r="http://schemas.openxmlformats.org/officeDocument/2006/relationships" id="269" r:id="R125bb99403ac46f8"/>
    <p:sldId xmlns:r="http://schemas.openxmlformats.org/officeDocument/2006/relationships" id="270" r:id="R1282e8915c6248b9"/>
    <p:sldId xmlns:r="http://schemas.openxmlformats.org/officeDocument/2006/relationships" id="271" r:id="R2d9a7e07cb444cc8"/>
    <p:sldId xmlns:r="http://schemas.openxmlformats.org/officeDocument/2006/relationships" id="272" r:id="R52e65ad004dd4550"/>
    <p:sldId xmlns:r="http://schemas.openxmlformats.org/officeDocument/2006/relationships" id="273" r:id="R5e44583c8c4540c8"/>
    <p:sldId xmlns:r="http://schemas.openxmlformats.org/officeDocument/2006/relationships" id="274" r:id="Rbf73c93e54b648ea"/>
    <p:sldId xmlns:r="http://schemas.openxmlformats.org/officeDocument/2006/relationships" id="275" r:id="Rb8b706377f754f4c"/>
    <p:sldId xmlns:r="http://schemas.openxmlformats.org/officeDocument/2006/relationships" id="276" r:id="Rd5621e8cab0c4929"/>
    <p:sldId xmlns:r="http://schemas.openxmlformats.org/officeDocument/2006/relationships" id="277" r:id="Rd909187cdd9f4f1e"/>
    <p:sldId xmlns:r="http://schemas.openxmlformats.org/officeDocument/2006/relationships" id="278" r:id="Re5ff3a71d5bd410c"/>
    <p:sldId xmlns:r="http://schemas.openxmlformats.org/officeDocument/2006/relationships" id="279" r:id="R4fe3f71d653a4dac"/>
    <p:sldId xmlns:r="http://schemas.openxmlformats.org/officeDocument/2006/relationships" id="280" r:id="R14c9436fddee482b"/>
    <p:sldId xmlns:r="http://schemas.openxmlformats.org/officeDocument/2006/relationships" id="281" r:id="Re469bda810a54f38"/>
    <p:sldId xmlns:r="http://schemas.openxmlformats.org/officeDocument/2006/relationships" id="282" r:id="R0a6b4ecaabf44ac4"/>
    <p:sldId xmlns:r="http://schemas.openxmlformats.org/officeDocument/2006/relationships" id="283" r:id="R5a05637aa4ec46c3"/>
    <p:sldId xmlns:r="http://schemas.openxmlformats.org/officeDocument/2006/relationships" id="284" r:id="Rc274a593e775460c"/>
    <p:sldId xmlns:r="http://schemas.openxmlformats.org/officeDocument/2006/relationships" id="285" r:id="R24b0171167644470"/>
    <p:sldId xmlns:r="http://schemas.openxmlformats.org/officeDocument/2006/relationships" id="286" r:id="R89bf25cc82d04adf"/>
    <p:sldId xmlns:r="http://schemas.openxmlformats.org/officeDocument/2006/relationships" id="287" r:id="R5356d18ead154080"/>
    <p:sldId xmlns:r="http://schemas.openxmlformats.org/officeDocument/2006/relationships" id="288" r:id="R08eef6cd71904903"/>
    <p:sldId xmlns:r="http://schemas.openxmlformats.org/officeDocument/2006/relationships" id="289" r:id="R1ef1acbfd3f04165"/>
    <p:sldId xmlns:r="http://schemas.openxmlformats.org/officeDocument/2006/relationships" id="290" r:id="Rc0c07bbf4975415b"/>
    <p:sldId xmlns:r="http://schemas.openxmlformats.org/officeDocument/2006/relationships" id="291" r:id="R51990237ad164ced"/>
    <p:sldId xmlns:r="http://schemas.openxmlformats.org/officeDocument/2006/relationships" id="292" r:id="Rf5d9253cdf214481"/>
    <p:sldId xmlns:r="http://schemas.openxmlformats.org/officeDocument/2006/relationships" id="293" r:id="R02fae14b398c4a24"/>
    <p:sldId xmlns:r="http://schemas.openxmlformats.org/officeDocument/2006/relationships" id="294" r:id="Rfaa0a9de3d02438f"/>
    <p:sldId xmlns:r="http://schemas.openxmlformats.org/officeDocument/2006/relationships" id="295" r:id="Rbd5ed8db8f914838"/>
    <p:sldId xmlns:r="http://schemas.openxmlformats.org/officeDocument/2006/relationships" id="296" r:id="R72de0857092a436d"/>
    <p:sldId xmlns:r="http://schemas.openxmlformats.org/officeDocument/2006/relationships" id="297" r:id="Reef4489051d34eea"/>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1fbaca62124a70" /><Relationship Type="http://schemas.openxmlformats.org/officeDocument/2006/relationships/slideMaster" Target="/ppt/slideMasters/slideMaster1.xml" Id="R3573f7cec2b64535" /><Relationship Type="http://schemas.openxmlformats.org/officeDocument/2006/relationships/notesMaster" Target="/ppt/notesMasters/notesMaster1.xml" Id="R3deae74a18da4acc" /><Relationship Type="http://schemas.openxmlformats.org/officeDocument/2006/relationships/presProps" Target="/ppt/presProps.xml" Id="R4dd1369d65f041c8" /><Relationship Type="http://schemas.openxmlformats.org/officeDocument/2006/relationships/tableStyles" Target="/ppt/tableStyles.xml" Id="Rb0963c2de4be4baa" /><Relationship Type="http://schemas.openxmlformats.org/officeDocument/2006/relationships/slide" Target="/ppt/slides/slide1.xml" Id="R28088a671ad044ff" /><Relationship Type="http://schemas.openxmlformats.org/officeDocument/2006/relationships/slide" Target="/ppt/slides/slide2.xml" Id="Ra4e157923ed34616" /><Relationship Type="http://schemas.openxmlformats.org/officeDocument/2006/relationships/slide" Target="/ppt/slides/slide3.xml" Id="Rb1ebc40284a64642" /><Relationship Type="http://schemas.openxmlformats.org/officeDocument/2006/relationships/slide" Target="/ppt/slides/slide4.xml" Id="R59fbaf08760b491f" /><Relationship Type="http://schemas.openxmlformats.org/officeDocument/2006/relationships/slide" Target="/ppt/slides/slide5.xml" Id="Rdf30abff5d6f49cf" /><Relationship Type="http://schemas.openxmlformats.org/officeDocument/2006/relationships/slide" Target="/ppt/slides/slide6.xml" Id="Rf54c7247ef724c71" /><Relationship Type="http://schemas.openxmlformats.org/officeDocument/2006/relationships/slide" Target="/ppt/slides/slide7.xml" Id="R8a0164fa69f24e7a" /><Relationship Type="http://schemas.openxmlformats.org/officeDocument/2006/relationships/slide" Target="/ppt/slides/slide8.xml" Id="Rbb2ec15952e24132" /><Relationship Type="http://schemas.openxmlformats.org/officeDocument/2006/relationships/slide" Target="/ppt/slides/slide9.xml" Id="Rab73083caeb24f5b" /><Relationship Type="http://schemas.openxmlformats.org/officeDocument/2006/relationships/slide" Target="/ppt/slides/slide10.xml" Id="R7ca5abc3f9a74450" /><Relationship Type="http://schemas.openxmlformats.org/officeDocument/2006/relationships/slide" Target="/ppt/slides/slide11.xml" Id="Rd89276e316e54b20" /><Relationship Type="http://schemas.openxmlformats.org/officeDocument/2006/relationships/slide" Target="/ppt/slides/slide12.xml" Id="Rfa60bcf0ae1545d4" /><Relationship Type="http://schemas.openxmlformats.org/officeDocument/2006/relationships/slide" Target="/ppt/slides/slide13.xml" Id="Rc8edc50940c24a71" /><Relationship Type="http://schemas.openxmlformats.org/officeDocument/2006/relationships/slide" Target="/ppt/slides/slide14.xml" Id="R125bb99403ac46f8" /><Relationship Type="http://schemas.openxmlformats.org/officeDocument/2006/relationships/slide" Target="/ppt/slides/slide15.xml" Id="R1282e8915c6248b9" /><Relationship Type="http://schemas.openxmlformats.org/officeDocument/2006/relationships/slide" Target="/ppt/slides/slide16.xml" Id="R2d9a7e07cb444cc8" /><Relationship Type="http://schemas.openxmlformats.org/officeDocument/2006/relationships/slide" Target="/ppt/slides/slide17.xml" Id="R52e65ad004dd4550" /><Relationship Type="http://schemas.openxmlformats.org/officeDocument/2006/relationships/slide" Target="/ppt/slides/slide18.xml" Id="R5e44583c8c4540c8" /><Relationship Type="http://schemas.openxmlformats.org/officeDocument/2006/relationships/slide" Target="/ppt/slides/slide19.xml" Id="Rbf73c93e54b648ea" /><Relationship Type="http://schemas.openxmlformats.org/officeDocument/2006/relationships/slide" Target="/ppt/slides/slide20.xml" Id="Rb8b706377f754f4c" /><Relationship Type="http://schemas.openxmlformats.org/officeDocument/2006/relationships/slide" Target="/ppt/slides/slide21.xml" Id="Rd5621e8cab0c4929" /><Relationship Type="http://schemas.openxmlformats.org/officeDocument/2006/relationships/slide" Target="/ppt/slides/slide22.xml" Id="Rd909187cdd9f4f1e" /><Relationship Type="http://schemas.openxmlformats.org/officeDocument/2006/relationships/slide" Target="/ppt/slides/slide23.xml" Id="Re5ff3a71d5bd410c" /><Relationship Type="http://schemas.openxmlformats.org/officeDocument/2006/relationships/slide" Target="/ppt/slides/slide24.xml" Id="R4fe3f71d653a4dac" /><Relationship Type="http://schemas.openxmlformats.org/officeDocument/2006/relationships/slide" Target="/ppt/slides/slide25.xml" Id="R14c9436fddee482b" /><Relationship Type="http://schemas.openxmlformats.org/officeDocument/2006/relationships/slide" Target="/ppt/slides/slide26.xml" Id="Re469bda810a54f38" /><Relationship Type="http://schemas.openxmlformats.org/officeDocument/2006/relationships/slide" Target="/ppt/slides/slide27.xml" Id="R0a6b4ecaabf44ac4" /><Relationship Type="http://schemas.openxmlformats.org/officeDocument/2006/relationships/slide" Target="/ppt/slides/slide28.xml" Id="R5a05637aa4ec46c3" /><Relationship Type="http://schemas.openxmlformats.org/officeDocument/2006/relationships/slide" Target="/ppt/slides/slide29.xml" Id="Rc274a593e775460c" /><Relationship Type="http://schemas.openxmlformats.org/officeDocument/2006/relationships/slide" Target="/ppt/slides/slide30.xml" Id="R24b0171167644470" /><Relationship Type="http://schemas.openxmlformats.org/officeDocument/2006/relationships/slide" Target="/ppt/slides/slide31.xml" Id="R89bf25cc82d04adf" /><Relationship Type="http://schemas.openxmlformats.org/officeDocument/2006/relationships/slide" Target="/ppt/slides/slide32.xml" Id="R5356d18ead154080" /><Relationship Type="http://schemas.openxmlformats.org/officeDocument/2006/relationships/slide" Target="/ppt/slides/slide33.xml" Id="R08eef6cd71904903" /><Relationship Type="http://schemas.openxmlformats.org/officeDocument/2006/relationships/slide" Target="/ppt/slides/slide34.xml" Id="R1ef1acbfd3f04165" /><Relationship Type="http://schemas.openxmlformats.org/officeDocument/2006/relationships/slide" Target="/ppt/slides/slide35.xml" Id="Rc0c07bbf4975415b" /><Relationship Type="http://schemas.openxmlformats.org/officeDocument/2006/relationships/slide" Target="/ppt/slides/slide36.xml" Id="R51990237ad164ced" /><Relationship Type="http://schemas.openxmlformats.org/officeDocument/2006/relationships/slide" Target="/ppt/slides/slide37.xml" Id="Rf5d9253cdf214481" /><Relationship Type="http://schemas.openxmlformats.org/officeDocument/2006/relationships/slide" Target="/ppt/slides/slide38.xml" Id="R02fae14b398c4a24" /><Relationship Type="http://schemas.openxmlformats.org/officeDocument/2006/relationships/slide" Target="/ppt/slides/slide39.xml" Id="Rfaa0a9de3d02438f" /><Relationship Type="http://schemas.openxmlformats.org/officeDocument/2006/relationships/slide" Target="/ppt/slides/slide40.xml" Id="Rbd5ed8db8f914838" /><Relationship Type="http://schemas.openxmlformats.org/officeDocument/2006/relationships/slide" Target="/ppt/slides/slide41.xml" Id="R72de0857092a436d" /><Relationship Type="http://schemas.openxmlformats.org/officeDocument/2006/relationships/slide" Target="/ppt/slides/slide42.xml" Id="Reef4489051d34e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b5d034506d4d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aed29e235e49f1" /><Relationship Type="http://schemas.openxmlformats.org/officeDocument/2006/relationships/notesMaster" Target="/ppt/notesMasters/notesMaster1.xml" Id="R4e6e243537424b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03bc5e09ac4d3e" /><Relationship Type="http://schemas.openxmlformats.org/officeDocument/2006/relationships/notesMaster" Target="/ppt/notesMasters/notesMaster1.xml" Id="Ra8b9c8e5e8e04e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c5a531abf54516" /><Relationship Type="http://schemas.openxmlformats.org/officeDocument/2006/relationships/notesMaster" Target="/ppt/notesMasters/notesMaster1.xml" Id="R91e9acfeaba54a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55c94794fc44a7" /><Relationship Type="http://schemas.openxmlformats.org/officeDocument/2006/relationships/notesMaster" Target="/ppt/notesMasters/notesMaster1.xml" Id="R9650955720f641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ddd2160db74050" /><Relationship Type="http://schemas.openxmlformats.org/officeDocument/2006/relationships/notesMaster" Target="/ppt/notesMasters/notesMaster1.xml" Id="Ra68fc03108d947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245627f9af40d6" /><Relationship Type="http://schemas.openxmlformats.org/officeDocument/2006/relationships/notesMaster" Target="/ppt/notesMasters/notesMaster1.xml" Id="R88ca9e2b9d6c4c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05f5fd9b094c1b" /><Relationship Type="http://schemas.openxmlformats.org/officeDocument/2006/relationships/notesMaster" Target="/ppt/notesMasters/notesMaster1.xml" Id="R1bd0591e42a943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9c9fc4be8840e2" /><Relationship Type="http://schemas.openxmlformats.org/officeDocument/2006/relationships/notesMaster" Target="/ppt/notesMasters/notesMaster1.xml" Id="R590d1f5f2dc642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1c0b67156249c3" /><Relationship Type="http://schemas.openxmlformats.org/officeDocument/2006/relationships/notesMaster" Target="/ppt/notesMasters/notesMaster1.xml" Id="R7164dc0412e84b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1d168065ec4a13" /><Relationship Type="http://schemas.openxmlformats.org/officeDocument/2006/relationships/notesMaster" Target="/ppt/notesMasters/notesMaster1.xml" Id="R13af081eb0e24f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29837389b84cf3" /><Relationship Type="http://schemas.openxmlformats.org/officeDocument/2006/relationships/notesMaster" Target="/ppt/notesMasters/notesMaster1.xml" Id="R57ebf14c4edd40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7e1b12b404489b" /><Relationship Type="http://schemas.openxmlformats.org/officeDocument/2006/relationships/notesMaster" Target="/ppt/notesMasters/notesMaster1.xml" Id="R7c17dfdadd894ab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5b1a43138f4dc6" /><Relationship Type="http://schemas.openxmlformats.org/officeDocument/2006/relationships/notesMaster" Target="/ppt/notesMasters/notesMaster1.xml" Id="Rb660f55d9af64f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bf60627bca24f62" /><Relationship Type="http://schemas.openxmlformats.org/officeDocument/2006/relationships/notesMaster" Target="/ppt/notesMasters/notesMaster1.xml" Id="R905c03b34ac84ba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7bcfad1ec14acf" /><Relationship Type="http://schemas.openxmlformats.org/officeDocument/2006/relationships/notesMaster" Target="/ppt/notesMasters/notesMaster1.xml" Id="R97712beca32f4c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2d46f4eadaf47ec" /><Relationship Type="http://schemas.openxmlformats.org/officeDocument/2006/relationships/notesMaster" Target="/ppt/notesMasters/notesMaster1.xml" Id="Rd7638e92a06b420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3675d43f3243ca" /><Relationship Type="http://schemas.openxmlformats.org/officeDocument/2006/relationships/notesMaster" Target="/ppt/notesMasters/notesMaster1.xml" Id="R1180b9d95fa84e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aa3ec70f854963" /><Relationship Type="http://schemas.openxmlformats.org/officeDocument/2006/relationships/notesMaster" Target="/ppt/notesMasters/notesMaster1.xml" Id="Rd684c63fbe0341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0e3faf571a4076" /><Relationship Type="http://schemas.openxmlformats.org/officeDocument/2006/relationships/notesMaster" Target="/ppt/notesMasters/notesMaster1.xml" Id="R9afe8d8070f94ed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8f765565ab4cdb" /><Relationship Type="http://schemas.openxmlformats.org/officeDocument/2006/relationships/notesMaster" Target="/ppt/notesMasters/notesMaster1.xml" Id="R32736f4abb2a4cb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62f83f3f814f5c" /><Relationship Type="http://schemas.openxmlformats.org/officeDocument/2006/relationships/notesMaster" Target="/ppt/notesMasters/notesMaster1.xml" Id="R13731b4e9858489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654efdb76d41f0" /><Relationship Type="http://schemas.openxmlformats.org/officeDocument/2006/relationships/notesMaster" Target="/ppt/notesMasters/notesMaster1.xml" Id="Rcce8f1206a86449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47c53b04794d83" /><Relationship Type="http://schemas.openxmlformats.org/officeDocument/2006/relationships/notesMaster" Target="/ppt/notesMasters/notesMaster1.xml" Id="R67c4b4dc2aee466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0df9b29c3ba41f3" /><Relationship Type="http://schemas.openxmlformats.org/officeDocument/2006/relationships/notesMaster" Target="/ppt/notesMasters/notesMaster1.xml" Id="Raa8f78a1e7c84c6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e30f4a140bd445b" /><Relationship Type="http://schemas.openxmlformats.org/officeDocument/2006/relationships/notesMaster" Target="/ppt/notesMasters/notesMaster1.xml" Id="Rdab668bd7840448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c2a310e6a934c5c" /><Relationship Type="http://schemas.openxmlformats.org/officeDocument/2006/relationships/notesMaster" Target="/ppt/notesMasters/notesMaster1.xml" Id="R5b894a0d776d47d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c5e0bcb88f44f28" /><Relationship Type="http://schemas.openxmlformats.org/officeDocument/2006/relationships/notesMaster" Target="/ppt/notesMasters/notesMaster1.xml" Id="Ra652766886854d9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d3dc8ad9bd24f5b" /><Relationship Type="http://schemas.openxmlformats.org/officeDocument/2006/relationships/notesMaster" Target="/ppt/notesMasters/notesMaster1.xml" Id="R5e876309878d48a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86ad55d9694a17" /><Relationship Type="http://schemas.openxmlformats.org/officeDocument/2006/relationships/notesMaster" Target="/ppt/notesMasters/notesMaster1.xml" Id="Rd5024a291ac84a2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907614ccd8349ee" /><Relationship Type="http://schemas.openxmlformats.org/officeDocument/2006/relationships/notesMaster" Target="/ppt/notesMasters/notesMaster1.xml" Id="R0debca4215e646a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24b4127926947e7" /><Relationship Type="http://schemas.openxmlformats.org/officeDocument/2006/relationships/notesMaster" Target="/ppt/notesMasters/notesMaster1.xml" Id="R1704701bd9b0498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6545ab657c84918" /><Relationship Type="http://schemas.openxmlformats.org/officeDocument/2006/relationships/notesMaster" Target="/ppt/notesMasters/notesMaster1.xml" Id="R9c8ba24979dc4d1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74103d1875435b" /><Relationship Type="http://schemas.openxmlformats.org/officeDocument/2006/relationships/notesMaster" Target="/ppt/notesMasters/notesMaster1.xml" Id="R2bf1c5acafda465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ff1ce693cb047db" /><Relationship Type="http://schemas.openxmlformats.org/officeDocument/2006/relationships/notesMaster" Target="/ppt/notesMasters/notesMaster1.xml" Id="Rde0aea3eaca3473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ebf6810e4cc4da3" /><Relationship Type="http://schemas.openxmlformats.org/officeDocument/2006/relationships/notesMaster" Target="/ppt/notesMasters/notesMaster1.xml" Id="R5f5def8e9e3946d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406472cdfa64cc6" /><Relationship Type="http://schemas.openxmlformats.org/officeDocument/2006/relationships/notesMaster" Target="/ppt/notesMasters/notesMaster1.xml" Id="R0490c1f731064b4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290a65b8a5c44c0" /><Relationship Type="http://schemas.openxmlformats.org/officeDocument/2006/relationships/notesMaster" Target="/ppt/notesMasters/notesMaster1.xml" Id="R60eeee898cbf4e5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aa8034d60a84dc6" /><Relationship Type="http://schemas.openxmlformats.org/officeDocument/2006/relationships/notesMaster" Target="/ppt/notesMasters/notesMaster1.xml" Id="R67c7ed91f36243d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27437f016ea4e15" /><Relationship Type="http://schemas.openxmlformats.org/officeDocument/2006/relationships/notesMaster" Target="/ppt/notesMasters/notesMaster1.xml" Id="R483b7427ce6546f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d6c65173b0345ad" /><Relationship Type="http://schemas.openxmlformats.org/officeDocument/2006/relationships/notesMaster" Target="/ppt/notesMasters/notesMaster1.xml" Id="Ra805e421cf5d412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946de60cc9a40d5" /><Relationship Type="http://schemas.openxmlformats.org/officeDocument/2006/relationships/notesMaster" Target="/ppt/notesMasters/notesMaster1.xml" Id="R1d39cb57e5ce4e7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487baa8e1534ad2" /><Relationship Type="http://schemas.openxmlformats.org/officeDocument/2006/relationships/notesMaster" Target="/ppt/notesMasters/notesMaster1.xml" Id="Rea26762c03dc40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Classification and the cost of mistakes</a:t>
            </a:r>
          </a:p>
          <a:p xmlns:a="http://schemas.openxmlformats.org/drawingml/2006/main">
            <a:r>
              <a:t>Explanation to give</a:t>
            </a:r>
          </a:p>
          <a:p xmlns:a="http://schemas.openxmlformats.org/drawingml/2006/main">
            <a:r>
              <a:t>Move from a numerical prediction to a category decision. Name the positive class before counting correct warnings, false alarms and missed warnings.</a:t>
            </a:r>
          </a:p>
          <a:p xmlns:a="http://schemas.openxmlformats.org/drawingml/2006/main">
            <a:r>
              <a:t/>
            </a:r>
          </a:p>
          <a:p xmlns:a="http://schemas.openxmlformats.org/drawingml/2006/main">
            <a:r>
              <a:t>Worked illustration / lecturer answer</a:t>
            </a:r>
          </a:p>
          <a:p xmlns:a="http://schemas.openxmlformats.org/drawingml/2006/main">
            <a:r>
              <a:t>Actual 1 with predicted 0 is a false negative. If 1 means warning, this is a missed warning, not merely a wrong number.</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Civil Engineering and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practice precedes the assessment brief. Give the class one consistent data-handling approach: pandas for tables, scikit-learn for models, matplotlib for figures.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Uploading a notebook does not upload its modelling_data. Check the exact filename and column headings. Each cohort has its own data, so numerical results can differ.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short names</a:t>
            </a:r>
          </a:p>
          <a:p xmlns:a="http://schemas.openxmlformats.org/drawingml/2006/main">
            <a:r>
              <a:t>import pandas as pd loads pandas and gives it the short name pd. pd.read_csv refers to a function in that library.</a:t>
            </a:r>
          </a:p>
          <a:p xmlns:a="http://schemas.openxmlformats.org/drawingml/2006/main">
            <a:r>
              <a:t/>
            </a:r>
          </a:p>
          <a:p xmlns:a="http://schemas.openxmlformats.org/drawingml/2006/main">
            <a:r>
              <a:t>Reading a CSV</a:t>
            </a:r>
          </a:p>
          <a:p xmlns:a="http://schemas.openxmlformats.org/drawingml/2006/main">
            <a:r>
              <a:t>pd.read_csv("practice_filename.csv") reads the named file into a DataFrame: a table with labelled columns and row labels. The file must exist in the working folder.</a:t>
            </a:r>
          </a:p>
          <a:p xmlns:a="http://schemas.openxmlformats.org/drawingml/2006/main">
            <a:r>
              <a:t/>
            </a:r>
          </a:p>
          <a:p xmlns:a="http://schemas.openxmlformats.org/drawingml/2006/main">
            <a:r>
              <a:t>Counting dimensions</a:t>
            </a:r>
          </a:p>
          <a:p xmlns:a="http://schemas.openxmlformats.org/drawingml/2006/main">
            <a:r>
              <a:t>equipment_data.shape gives (number of rows, number of columns). shape is a property, so it has no parentheses.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Column data types</a:t>
            </a:r>
          </a:p>
          <a:p xmlns:a="http://schemas.openxmlformats.org/drawingml/2006/main">
            <a:r>
              <a:t>equipment_data.dtypes reports each column’s stored type. int64 means integers, float64 means decimal numbers, and object often contains text. Numeric blanks commonly appear as NaN.</a:t>
            </a:r>
          </a:p>
          <a:p xmlns:a="http://schemas.openxmlformats.org/drawingml/2006/main">
            <a:r>
              <a:t/>
            </a:r>
          </a:p>
          <a:p xmlns:a="http://schemas.openxmlformats.org/drawingml/2006/main">
            <a:r>
              <a:t>A preview of rows</a:t>
            </a:r>
          </a:p>
          <a:p xmlns:a="http://schemas.openxmlformats.org/drawingml/2006/main">
            <a:r>
              <a:t>equipment_data.head() returns the first five rows. It leaves the table unchanged. A preview is not the entire dataset.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raw_data = pd.read_csv('classification_case.csv')</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print(raw_data.shape)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print(raw_data.dtypes)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actual  predicted</a:t>
            </a:r>
          </a:p>
          <a:p xmlns:a="http://schemas.openxmlformats.org/drawingml/2006/main">
            <a:r>
              <a:t>0       1          1</a:t>
            </a:r>
          </a:p>
          <a:p xmlns:a="http://schemas.openxmlformats.org/drawingml/2006/main">
            <a:r>
              <a:t>1       0          0</a:t>
            </a:r>
          </a:p>
          <a:p xmlns:a="http://schemas.openxmlformats.org/drawingml/2006/main">
            <a:r>
              <a:t>2       1          0</a:t>
            </a:r>
          </a:p>
          <a:p xmlns:a="http://schemas.openxmlformats.org/drawingml/2006/main">
            <a:r>
              <a:t>3       1          1</a:t>
            </a:r>
          </a:p>
          <a:p xmlns:a="http://schemas.openxmlformats.org/drawingml/2006/main">
            <a:r>
              <a:t>4       0          1</a:t>
            </a:r>
          </a:p>
          <a:p xmlns:a="http://schemas.openxmlformats.org/drawingml/2006/main">
            <a:r>
              <a:t>(6, 2)</a:t>
            </a:r>
          </a:p>
          <a:p xmlns:a="http://schemas.openxmlformats.org/drawingml/2006/main">
            <a:r>
              <a:t>actual       int64</a:t>
            </a:r>
          </a:p>
          <a:p xmlns:a="http://schemas.openxmlformats.org/drawingml/2006/main">
            <a:r>
              <a:t>predicted    int64</a:t>
            </a:r>
          </a:p>
          <a:p xmlns:a="http://schemas.openxmlformats.org/drawingml/2006/main">
            <a:r>
              <a:t>dtype: object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paired result belongs in one cell</a:t>
            </a:r>
          </a:p>
          <a:p xmlns:a="http://schemas.openxmlformats.org/drawingml/2006/main">
            <a:r>
              <a:t>Explanation to give</a:t>
            </a:r>
          </a:p>
          <a:p xmlns:a="http://schemas.openxmlformats.org/drawingml/2006/main">
            <a:r>
              <a:t>First name what 1 means. Read the actual label before the prediction. True/false refers to whether the prediction is correct; positive/negative refers to the predicted class.</a:t>
            </a:r>
          </a:p>
          <a:p xmlns:a="http://schemas.openxmlformats.org/drawingml/2006/main">
            <a:r>
              <a:t/>
            </a:r>
          </a:p>
          <a:p xmlns:a="http://schemas.openxmlformats.org/drawingml/2006/main">
            <a:r>
              <a:t>Worked illustration / lecturer answer</a:t>
            </a:r>
          </a:p>
          <a:p xmlns:a="http://schemas.openxmlformats.org/drawingml/2006/main">
            <a:r>
              <a:t>With 1 meaning warning: actual 1, predicted 0 is a false negative, a missed warning. Actual 0, predicted 1 is a false positive, an unnecessary warning.</a:t>
            </a:r>
          </a:p>
          <a:p xmlns:a="http://schemas.openxmlformats.org/drawingml/2006/main">
            <a:r>
              <a:t/>
            </a:r>
          </a:p>
          <a:p xmlns:a="http://schemas.openxmlformats.org/drawingml/2006/main">
            <a:r>
              <a:t>Misconception to address</a:t>
            </a:r>
          </a:p>
          <a:p xmlns:a="http://schemas.openxmlformats.org/drawingml/2006/main">
            <a:r>
              <a:t>Positive does not mean good. A high count of correct normal cases can hide a dangerous number of missed warnings.</a:t>
            </a:r>
          </a:p>
          <a:p xmlns:a="http://schemas.openxmlformats.org/drawingml/2006/main">
            <a:r>
              <a:t/>
            </a:r>
          </a:p>
          <a:p xmlns:a="http://schemas.openxmlformats.org/drawingml/2006/main">
            <a:r>
              <a:t>On this slide</a:t>
            </a:r>
          </a:p>
          <a:p xmlns:a="http://schemas.openxmlformats.org/drawingml/2006/main">
            <a:r>
              <a:t>Read actual first, then predicted_values. Explain the missed warning.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True positive: actual 1 and predicted 1. False negative: actual 1 and predicted 0. False positive: actual 0 and predicted 1. True negative: both 0. Keep the two columns paired.</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columns</a:t>
            </a:r>
          </a:p>
          <a:p xmlns:a="http://schemas.openxmlformats.org/drawingml/2006/main">
            <a:r>
              <a:t>equipment_data["column"] returns one labelled column, a Series. equipment_data[["a", "b"]] returns a DataFrame containing those named columns in that order.</a:t>
            </a:r>
          </a:p>
          <a:p xmlns:a="http://schemas.openxmlformats.org/drawingml/2006/main">
            <a:r>
              <a:t/>
            </a:r>
          </a:p>
          <a:p xmlns:a="http://schemas.openxmlformats.org/drawingml/2006/main">
            <a:r>
              <a:t>Column arithmetic</a:t>
            </a:r>
          </a:p>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Adding values and counting True</a:t>
            </a:r>
          </a:p>
          <a:p xmlns:a="http://schemas.openxmlformats.org/drawingml/2006/main">
            <a:r>
              <a:t>series.sum() adds its values. For a Boolean mask, True counts as 1 and False as 0. equipment_data.isna().sum() therefore counts missing cells separately for each column.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column comparison produces one True or False per row. table[mask] keeps the True rows. &amp; combines masks: both conditions must hold. Parenthesise each comparison.</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contains the recorded class; predicted contains the model’s decision for the same row. Here 1 means positive and 0 negative. These are already-issued decisions; this exercise does not train a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contains the recorded class; predicted contains the model’s decision for the same row. Here 1 means positive and 0 negative. These are already-issued decisions; this exercise does not train a classifier.</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actual_labels = raw_data['actual']</a:t>
            </a:r>
          </a:p>
          <a:p xmlns:a="http://schemas.openxmlformats.org/drawingml/2006/main">
            <a:r>
              <a:t>actual_labels stores the recorded class of each observation: 1 means positive and 0 means negative.</a:t>
            </a:r>
          </a:p>
          <a:p xmlns:a="http://schemas.openxmlformats.org/drawingml/2006/main">
            <a:r>
              <a:t/>
            </a:r>
          </a:p>
          <a:p xmlns:a="http://schemas.openxmlformats.org/drawingml/2006/main">
            <a:r>
              <a:t>predicted_labels = raw_data['predicted']</a:t>
            </a:r>
          </a:p>
          <a:p xmlns:a="http://schemas.openxmlformats.org/drawingml/2006/main">
            <a:r>
              <a:t>predicted_labels stores the model’s 0/1 class decisions in matching row order.</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 1 asks whether the real class is positive; predicted == 1 asks whether the model predicted positive. Each comparison returns one True/False answer per row. Equality uses ==; assignment uses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 1 asks whether the real class is positive; predicted == 1 asks whether the model predicted positive. Each comparison returns one True/False answer per row. Equality uses ==; assignment uses =.</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actual_is_positive = actual_labels == 1</a:t>
            </a:r>
          </a:p>
          <a:p xmlns:a="http://schemas.openxmlformats.org/drawingml/2006/main">
            <a:r>
              <a:t>actual_is_positive stores the result of the displayed expression.</a:t>
            </a:r>
          </a:p>
          <a:p xmlns:a="http://schemas.openxmlformats.org/drawingml/2006/main">
            <a:r>
              <a:t/>
            </a:r>
          </a:p>
          <a:p xmlns:a="http://schemas.openxmlformats.org/drawingml/2006/main">
            <a:r>
              <a:t>prediction_is_positive = predicted_labels == 1</a:t>
            </a:r>
          </a:p>
          <a:p xmlns:a="http://schemas.openxmlformats.org/drawingml/2006/main">
            <a:r>
              <a:t>prediction_is_positive stores the result of the displayed expression.</a:t>
            </a:r>
          </a:p>
          <a:p xmlns:a="http://schemas.openxmlformats.org/drawingml/2006/main">
            <a:r>
              <a:t/>
            </a:r>
          </a:p>
          <a:p xmlns:a="http://schemas.openxmlformats.org/drawingml/2006/main">
            <a:r>
              <a:t>actual_is_negative = actual_labels == 0</a:t>
            </a:r>
          </a:p>
          <a:p xmlns:a="http://schemas.openxmlformats.org/drawingml/2006/main">
            <a:r>
              <a:t>actual_is_negative stores the result of the displayed expression.</a:t>
            </a:r>
          </a:p>
          <a:p xmlns:a="http://schemas.openxmlformats.org/drawingml/2006/main">
            <a:r>
              <a:t/>
            </a:r>
          </a:p>
          <a:p xmlns:a="http://schemas.openxmlformats.org/drawingml/2006/main">
            <a:r>
              <a:t>prediction_is_negative = predicted_labels == 0</a:t>
            </a:r>
          </a:p>
          <a:p xmlns:a="http://schemas.openxmlformats.org/drawingml/2006/main">
            <a:r>
              <a:t>prediction_is_negative stores the result of the displayed expression.</a:t>
            </a:r>
          </a:p>
          <a:p xmlns:a="http://schemas.openxmlformats.org/drawingml/2006/main">
            <a:r>
              <a:t/>
            </a:r>
          </a:p>
          <a:p xmlns:a="http://schemas.openxmlformats.org/drawingml/2006/main">
            <a:r>
              <a:t>print(actual_is_positive.head())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print(prediction_is_positive.head())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     True</a:t>
            </a:r>
          </a:p>
          <a:p xmlns:a="http://schemas.openxmlformats.org/drawingml/2006/main">
            <a:r>
              <a:t>1    False</a:t>
            </a:r>
          </a:p>
          <a:p xmlns:a="http://schemas.openxmlformats.org/drawingml/2006/main">
            <a:r>
              <a:t>2     True</a:t>
            </a:r>
          </a:p>
          <a:p xmlns:a="http://schemas.openxmlformats.org/drawingml/2006/main">
            <a:r>
              <a:t>3     True</a:t>
            </a:r>
          </a:p>
          <a:p xmlns:a="http://schemas.openxmlformats.org/drawingml/2006/main">
            <a:r>
              <a:t>4    False</a:t>
            </a:r>
          </a:p>
          <a:p xmlns:a="http://schemas.openxmlformats.org/drawingml/2006/main">
            <a:r>
              <a:t>Name: actual, dtype: bool</a:t>
            </a:r>
          </a:p>
          <a:p xmlns:a="http://schemas.openxmlformats.org/drawingml/2006/main">
            <a:r>
              <a:t>0     True</a:t>
            </a:r>
          </a:p>
          <a:p xmlns:a="http://schemas.openxmlformats.org/drawingml/2006/main">
            <a:r>
              <a:t>1    False</a:t>
            </a:r>
          </a:p>
          <a:p xmlns:a="http://schemas.openxmlformats.org/drawingml/2006/main">
            <a:r>
              <a:t>2    False</a:t>
            </a:r>
          </a:p>
          <a:p xmlns:a="http://schemas.openxmlformats.org/drawingml/2006/main">
            <a:r>
              <a:t>3     True</a:t>
            </a:r>
          </a:p>
          <a:p xmlns:a="http://schemas.openxmlformats.org/drawingml/2006/main">
            <a:r>
              <a:t>4     True</a:t>
            </a:r>
          </a:p>
          <a:p xmlns:a="http://schemas.openxmlformats.org/drawingml/2006/main">
            <a:r>
              <a:t>Name: predicted, dtype: bool</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true positive has actual 1 AND predicted 1. Combine the two answer columns with &amp;, then sum the True entries. The other three outcomes use their own pairs of actual and predicted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true positive has actual 1 AND predicted 1. Combine the two answer columns with &amp;, then sum the True entries. The other three outcomes use their own pairs of actual and predicted labels.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is_true_positive = actual_is_positive &amp; prediction_is_positive</a:t>
            </a:r>
          </a:p>
          <a:p xmlns:a="http://schemas.openxmlformats.org/drawingml/2006/main">
            <a:r>
              <a:t>is_true_positive stores the result of the displayed expression.</a:t>
            </a:r>
          </a:p>
          <a:p xmlns:a="http://schemas.openxmlformats.org/drawingml/2006/main">
            <a:r>
              <a:t/>
            </a:r>
          </a:p>
          <a:p xmlns:a="http://schemas.openxmlformats.org/drawingml/2006/main">
            <a:r>
              <a:t>true_positive_count = int(is_true_positive.sum())</a:t>
            </a:r>
          </a:p>
          <a:p xmlns:a="http://schemas.openxmlformats.org/drawingml/2006/main">
            <a:r>
              <a:t>true_positive_count stores number of rows with actual 1 and predicted 1.</a:t>
            </a:r>
          </a:p>
          <a:p xmlns:a="http://schemas.openxmlformats.org/drawingml/2006/main">
            <a:r>
              <a:t/>
            </a:r>
          </a:p>
          <a:p xmlns:a="http://schemas.openxmlformats.org/drawingml/2006/main">
            <a:r>
              <a:t>print('True positives:', true_positive_count)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True positives: 3</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false_negative_count: number of missed positives: actual 1 but predicted 0.</a:t>
            </a:r>
          </a:p>
          <a:p xmlns:a="http://schemas.openxmlformats.org/drawingml/2006/main">
            <a:r>
              <a:t/>
            </a:r>
          </a:p>
          <a:p xmlns:a="http://schemas.openxmlformats.org/drawingml/2006/main">
            <a:r>
              <a:t>false_positive_count: number of false alarms: actual 0 but predicted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false_negative_count: number of missed positives: actual 1 but predicted 0.</a:t>
            </a:r>
          </a:p>
          <a:p xmlns:a="http://schemas.openxmlformats.org/drawingml/2006/main">
            <a:r>
              <a:t/>
            </a:r>
          </a:p>
          <a:p xmlns:a="http://schemas.openxmlformats.org/drawingml/2006/main">
            <a:r>
              <a:t>false_positive_count: number of false alarms: actual 0 but predicted 1.</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false_negative_count = int((actual_is_positive &amp; prediction_is_negative).sum())</a:t>
            </a:r>
          </a:p>
          <a:p xmlns:a="http://schemas.openxmlformats.org/drawingml/2006/main">
            <a:r>
              <a:t>false_negative_count stores number of missed positives: actual 1 but predicted 0.</a:t>
            </a:r>
          </a:p>
          <a:p xmlns:a="http://schemas.openxmlformats.org/drawingml/2006/main">
            <a:r>
              <a:t/>
            </a:r>
          </a:p>
          <a:p xmlns:a="http://schemas.openxmlformats.org/drawingml/2006/main">
            <a:r>
              <a:t>false_positive_count = int((actual_is_negative &amp; prediction_is_positive).sum())</a:t>
            </a:r>
          </a:p>
          <a:p xmlns:a="http://schemas.openxmlformats.org/drawingml/2006/main">
            <a:r>
              <a:t>false_positive_count stores number of false alarms: actual 0 but predicted 1.</a:t>
            </a:r>
          </a:p>
          <a:p xmlns:a="http://schemas.openxmlformats.org/drawingml/2006/main">
            <a:r>
              <a:t/>
            </a:r>
          </a:p>
          <a:p xmlns:a="http://schemas.openxmlformats.org/drawingml/2006/main">
            <a:r>
              <a:t>true_negative_count = int((actual_is_negative &amp; prediction_is_negative).sum())</a:t>
            </a:r>
          </a:p>
          <a:p xmlns:a="http://schemas.openxmlformats.org/drawingml/2006/main">
            <a:r>
              <a:t>true_negative_count stores number of rows with actual 0 and predicted 0.</a:t>
            </a:r>
          </a:p>
          <a:p xmlns:a="http://schemas.openxmlformats.org/drawingml/2006/main">
            <a:r>
              <a:t/>
            </a:r>
          </a:p>
          <a:p xmlns:a="http://schemas.openxmlformats.org/drawingml/2006/main">
            <a:r>
              <a:t>print(false_negative_count, false_positive_count, true_negative_count)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print(true_positive_count + false_negative_count + false_positive_count + true_negative_count, len(raw_data))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1 1 1</a:t>
            </a:r>
          </a:p>
          <a:p xmlns:a="http://schemas.openxmlformats.org/drawingml/2006/main">
            <a:r>
              <a:t>6 6</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false_negative_count: number of missed positives: actual 1 but predicted 0.</a:t>
            </a:r>
          </a:p>
          <a:p xmlns:a="http://schemas.openxmlformats.org/drawingml/2006/main">
            <a:r>
              <a:t/>
            </a:r>
          </a:p>
          <a:p xmlns:a="http://schemas.openxmlformats.org/drawingml/2006/main">
            <a:r>
              <a:t>false_positive_count: number of false alarms: actual 0 but predicted 1.</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false_negative_count = int((actual_is_positive &amp; prediction_is_negative).sum())</a:t>
            </a:r>
          </a:p>
          <a:p xmlns:a="http://schemas.openxmlformats.org/drawingml/2006/main">
            <a:r>
              <a:t>false_negative_count stores number of missed positives: actual 1 but predicted 0.</a:t>
            </a:r>
          </a:p>
          <a:p xmlns:a="http://schemas.openxmlformats.org/drawingml/2006/main">
            <a:r>
              <a:t/>
            </a:r>
          </a:p>
          <a:p xmlns:a="http://schemas.openxmlformats.org/drawingml/2006/main">
            <a:r>
              <a:t>false_positive_count = int((actual_is_negative &amp; prediction_is_positive).sum())</a:t>
            </a:r>
          </a:p>
          <a:p xmlns:a="http://schemas.openxmlformats.org/drawingml/2006/main">
            <a:r>
              <a:t>false_positive_count stores number of false alarms: actual 0 but predicted 1.</a:t>
            </a:r>
          </a:p>
          <a:p xmlns:a="http://schemas.openxmlformats.org/drawingml/2006/main">
            <a:r>
              <a:t/>
            </a:r>
          </a:p>
          <a:p xmlns:a="http://schemas.openxmlformats.org/drawingml/2006/main">
            <a:r>
              <a:t>true_negative_count = int((actual_is_negative &amp; prediction_is_negative).sum())</a:t>
            </a:r>
          </a:p>
          <a:p xmlns:a="http://schemas.openxmlformats.org/drawingml/2006/main">
            <a:r>
              <a:t>true_negative_count stores number of rows with actual 0 and predicted 0.</a:t>
            </a:r>
          </a:p>
          <a:p xmlns:a="http://schemas.openxmlformats.org/drawingml/2006/main">
            <a:r>
              <a:t/>
            </a:r>
          </a:p>
          <a:p xmlns:a="http://schemas.openxmlformats.org/drawingml/2006/main">
            <a:r>
              <a:t>print(false_negative_count, false_positive_count, true_negative_count)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print(true_positive_count + false_negative_count + false_positive_count + true_negative_count, len(raw_data))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1 1 1</a:t>
            </a:r>
          </a:p>
          <a:p xmlns:a="http://schemas.openxmlformats.org/drawingml/2006/main">
            <a:r>
              <a:t>6 6</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false_negative_count: number of missed positives: actual 1 but predicted 0.</a:t>
            </a:r>
          </a:p>
          <a:p xmlns:a="http://schemas.openxmlformats.org/drawingml/2006/main">
            <a:r>
              <a:t/>
            </a:r>
          </a:p>
          <a:p xmlns:a="http://schemas.openxmlformats.org/drawingml/2006/main">
            <a:r>
              <a:t>false_positive_count: number of false alarms: actual 0 but predicted 1.</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false_negative_count = int((actual_is_positive &amp; prediction_is_negative).sum())</a:t>
            </a:r>
          </a:p>
          <a:p xmlns:a="http://schemas.openxmlformats.org/drawingml/2006/main">
            <a:r>
              <a:t>false_negative_count stores number of missed positives: actual 1 but predicted 0.</a:t>
            </a:r>
          </a:p>
          <a:p xmlns:a="http://schemas.openxmlformats.org/drawingml/2006/main">
            <a:r>
              <a:t/>
            </a:r>
          </a:p>
          <a:p xmlns:a="http://schemas.openxmlformats.org/drawingml/2006/main">
            <a:r>
              <a:t>false_positive_count = int((actual_is_negative &amp; prediction_is_positive).sum())</a:t>
            </a:r>
          </a:p>
          <a:p xmlns:a="http://schemas.openxmlformats.org/drawingml/2006/main">
            <a:r>
              <a:t>false_positive_count stores number of false alarms: actual 0 but predicted 1.</a:t>
            </a:r>
          </a:p>
          <a:p xmlns:a="http://schemas.openxmlformats.org/drawingml/2006/main">
            <a:r>
              <a:t/>
            </a:r>
          </a:p>
          <a:p xmlns:a="http://schemas.openxmlformats.org/drawingml/2006/main">
            <a:r>
              <a:t>true_negative_count = int((actual_is_negative &amp; prediction_is_negative).sum())</a:t>
            </a:r>
          </a:p>
          <a:p xmlns:a="http://schemas.openxmlformats.org/drawingml/2006/main">
            <a:r>
              <a:t>true_negative_count stores number of rows with actual 0 and predicted 0.</a:t>
            </a:r>
          </a:p>
          <a:p xmlns:a="http://schemas.openxmlformats.org/drawingml/2006/main">
            <a:r>
              <a:t/>
            </a:r>
          </a:p>
          <a:p xmlns:a="http://schemas.openxmlformats.org/drawingml/2006/main">
            <a:r>
              <a:t>print(false_negative_count, false_positive_count, true_negative_count)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print(true_positive_count + false_negative_count + false_positive_count + true_negative_count, len(raw_data))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1 1 1</a:t>
            </a:r>
          </a:p>
          <a:p xmlns:a="http://schemas.openxmlformats.org/drawingml/2006/main">
            <a:r>
              <a:t>6 6</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Precision asks how many warnings were correct. Recall asks how many real warning cases were found. Neither alone shows all mistakes. The cost is not an approved safety limit.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Rounded display</a:t>
            </a:r>
          </a:p>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condition: runs its indented statements only when the condition is True. else: handles the other case. Check for a nonzero denominator before division, and for a nonempty table before selecting its first row.</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is all predicted positives: true positives plus false positives. Divide correct positive predictions by that total. Check the denominator before dividing; this teaching example uses 0 when it is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is all predicted positives: true positives plus false positives. Divide correct positive predictions by that total. Check the denominator before dividing; this teaching example uses 0 when it is zero.</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precision = 0.0</a:t>
            </a:r>
          </a:p>
          <a:p xmlns:a="http://schemas.openxmlformats.org/drawingml/2006/main">
            <a:r>
              <a:t>precision stores fraction of positive predictions that are correct.</a:t>
            </a:r>
          </a:p>
          <a:p xmlns:a="http://schemas.openxmlformats.org/drawingml/2006/main">
            <a:r>
              <a:t/>
            </a:r>
          </a:p>
          <a:p xmlns:a="http://schemas.openxmlformats.org/drawingml/2006/main">
            <a:r>
              <a:t>if true_positive_count + false_positive_count &gt; 0:</a:t>
            </a:r>
          </a:p>
          <a:p xmlns:a="http://schemas.openxmlformats.org/drawingml/2006/main">
            <a:r>
              <a:t>    precision = true_positive_count / (true_positive_count + false_positive_count)</a:t>
            </a:r>
          </a:p>
          <a:p xmlns:a="http://schemas.openxmlformats.org/drawingml/2006/main">
            <a:r>
              <a:t>Check the condition first, then run only the matching branch. This avoids invalid division or selecting a row that does not exist.</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is all actual positives: true positives plus false negatives. Divide detected positives by that total. Precision and recall answer different questions even when they happen to have the same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is all actual positives: true positives plus false negatives. Divide detected positives by that total. Precision and recall answer different questions even when they happen to have the same value.</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recall = 0.0</a:t>
            </a:r>
          </a:p>
          <a:p xmlns:a="http://schemas.openxmlformats.org/drawingml/2006/main">
            <a:r>
              <a:t>recall stores fraction of actual positives detected by the model.</a:t>
            </a:r>
          </a:p>
          <a:p xmlns:a="http://schemas.openxmlformats.org/drawingml/2006/main">
            <a:r>
              <a:t/>
            </a:r>
          </a:p>
          <a:p xmlns:a="http://schemas.openxmlformats.org/drawingml/2006/main">
            <a:r>
              <a:t>if true_positive_count + false_negative_count &gt; 0:</a:t>
            </a:r>
          </a:p>
          <a:p xmlns:a="http://schemas.openxmlformats.org/drawingml/2006/main">
            <a:r>
              <a:t>    recall = true_positive_count / (true_positive_count + false_negative_count)</a:t>
            </a:r>
          </a:p>
          <a:p xmlns:a="http://schemas.openxmlformats.org/drawingml/2006/main">
            <a:r>
              <a:t>Check the condition first, then run only the matching branch. This avoids invalid division or selecting a row that does not exist.</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total_error_cost: five penalty units per missed positive plus one per false alarm in this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total_error_cost: five penalty units per missed positive plus one per false alarm in this scenario.</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total_error_cost = 5 * false_negative_count + false_positive_count</a:t>
            </a:r>
          </a:p>
          <a:p xmlns:a="http://schemas.openxmlformats.org/drawingml/2006/main">
            <a:r>
              <a:t>total_error_cost stores five penalty units per missed positive plus one per false alarm in this scenario.</a:t>
            </a:r>
          </a:p>
          <a:p xmlns:a="http://schemas.openxmlformats.org/drawingml/2006/main">
            <a:r>
              <a:t/>
            </a:r>
          </a:p>
          <a:p xmlns:a="http://schemas.openxmlformats.org/drawingml/2006/main">
            <a:r>
              <a:t>print(round(precision, 4), round(recall, 4), total_error_cost)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0.75 0.75 6</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threshold at 0.5 labels probabilities at least 0.5 as positive. Do not treat existing 0/1 labels as original probability estimates. Threshold selection requires held-out probability validation_predictions.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representation demonstration. Do not use predicted labels as model input features to predict those same labels. A multiclass metric needs a stated policy for every class.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chained operations</a:t>
            </a:r>
          </a:p>
          <a:p xmlns:a="http://schemas.openxmlformats.org/drawingml/2006/main">
            <a:r>
              <a:t>Read a chain from left to right. In equipment_data["target"].mean(), select the target Series first, then calculate its mean. Each step uses the previous step’s result.</a:t>
            </a:r>
          </a:p>
          <a:p xmlns:a="http://schemas.openxmlformats.org/drawingml/2006/main">
            <a:r>
              <a:t/>
            </a:r>
          </a:p>
          <a:p xmlns:a="http://schemas.openxmlformats.org/drawingml/2006/main">
            <a:r>
              <a:t>Category indicator columns</a:t>
            </a:r>
          </a:p>
          <a:p xmlns:a="http://schemas.openxmlformats.org/drawingml/2006/main">
            <a:r>
              <a:t>pd.get_dummies(column, prefix="class", dtype=int) creates a 0/1 column per category. prefix names the columns, such as class_0 and class_1. dtype=int displays integers.</a:t>
            </a:r>
          </a:p>
          <a:p xmlns:a="http://schemas.openxmlformats.org/drawingml/2006/main">
            <a:r>
              <a:t/>
            </a:r>
          </a:p>
          <a:p xmlns:a="http://schemas.openxmlformats.org/drawingml/2006/main">
            <a:r>
              <a:t>Returning plain values</a:t>
            </a:r>
          </a:p>
          <a:p xmlns:a="http://schemas.openxmlformats.org/drawingml/2006/main">
            <a:r>
              <a:t>series.tolist() or array.tolist() returns a Python list of values, without pandas row labels. Preserve their order when pairing actual values and validation_predictions.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chained operations: Read a chain from left to right. In equipment_data["target"].mean(), select the target Series first, then calculate its mean. Each step uses the previous step’s mean_load_by_equipment_group.</a:t>
            </a:r>
          </a:p>
          <a:p xmlns:a="http://schemas.openxmlformats.org/drawingml/2006/main">
            <a:r>
              <a:t/>
            </a:r>
          </a:p>
          <a:p xmlns:a="http://schemas.openxmlformats.org/drawingml/2006/main">
            <a:r>
              <a:t>Category indicator columns: pd.get_dummies(column, prefix="class", dtype=int) creates a 0/1 column per category. prefix names the columns, such as class_0 and class_1. dtype=int displays integers.</a:t>
            </a:r>
          </a:p>
          <a:p xmlns:a="http://schemas.openxmlformats.org/drawingml/2006/main">
            <a:r>
              <a:t/>
            </a:r>
          </a:p>
          <a:p xmlns:a="http://schemas.openxmlformats.org/drawingml/2006/main">
            <a:r>
              <a:t>Returning plain values: series.tolist() or array.tolist() returns a Python list of values, without pandas row labels. Preserve their order when pairing actual values and validation_predictions.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class_indicator_columns = pd.get_dummies(raw_data['predicted'], prefix='class', dtype=int)</a:t>
            </a:r>
          </a:p>
          <a:p xmlns:a="http://schemas.openxmlformats.org/drawingml/2006/main">
            <a:r>
              <a:t>class_indicator_columns stores one integer 0/1 column for each predicted class.</a:t>
            </a:r>
          </a:p>
          <a:p xmlns:a="http://schemas.openxmlformats.org/drawingml/2006/main">
            <a:r>
              <a:t/>
            </a:r>
          </a:p>
          <a:p xmlns:a="http://schemas.openxmlformats.org/drawingml/2006/main">
            <a:r>
              <a:t>print(class_indicator_columns.head())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actual_values = raw_data['actual'].tolist()</a:t>
            </a:r>
          </a:p>
          <a:p xmlns:a="http://schemas.openxmlformats.org/drawingml/2006/main">
            <a:r>
              <a:t>actual_values stores observed targets or labels in the order used for comparison.</a:t>
            </a:r>
          </a:p>
          <a:p xmlns:a="http://schemas.openxmlformats.org/drawingml/2006/main">
            <a:r>
              <a:t/>
            </a:r>
          </a:p>
          <a:p xmlns:a="http://schemas.openxmlformats.org/drawingml/2006/main">
            <a:r>
              <a:t>predicted_values = raw_data['predicted'].tolist()</a:t>
            </a:r>
          </a:p>
          <a:p xmlns:a="http://schemas.openxmlformats.org/drawingml/2006/main">
            <a:r>
              <a:t>predicted_values stores predictions aligned with those actual values.</a:t>
            </a:r>
          </a:p>
          <a:p xmlns:a="http://schemas.openxmlformats.org/drawingml/2006/main">
            <a:r>
              <a:t/>
            </a:r>
          </a:p>
          <a:p xmlns:a="http://schemas.openxmlformats.org/drawingml/2006/main">
            <a:r>
              <a:t>print(len(actual_values), len(predicted_values))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class_0  class_1</a:t>
            </a:r>
          </a:p>
          <a:p xmlns:a="http://schemas.openxmlformats.org/drawingml/2006/main">
            <a:r>
              <a:t>0        0        1</a:t>
            </a:r>
          </a:p>
          <a:p xmlns:a="http://schemas.openxmlformats.org/drawingml/2006/main">
            <a:r>
              <a:t>1        1        0</a:t>
            </a:r>
          </a:p>
          <a:p xmlns:a="http://schemas.openxmlformats.org/drawingml/2006/main">
            <a:r>
              <a:t>2        1        0</a:t>
            </a:r>
          </a:p>
          <a:p xmlns:a="http://schemas.openxmlformats.org/drawingml/2006/main">
            <a:r>
              <a:t>3        0        1</a:t>
            </a:r>
          </a:p>
          <a:p xmlns:a="http://schemas.openxmlformats.org/drawingml/2006/main">
            <a:r>
              <a:t>4        0        1</a:t>
            </a:r>
          </a:p>
          <a:p xmlns:a="http://schemas.openxmlformats.org/drawingml/2006/main">
            <a:r>
              <a:t>6 6</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task</a:t>
            </a:r>
          </a:p>
          <a:p xmlns:a="http://schemas.openxmlformats.org/drawingml/2006/main">
            <a:r>
              <a:t>Explanation to give</a:t>
            </a:r>
          </a:p>
          <a:p xmlns:a="http://schemas.openxmlformats.org/drawingml/2006/main">
            <a:r>
              <a:t>The warning labels and costs belong to this teaching scenario. Name what positive means before discussing benefit or harm.</a:t>
            </a:r>
          </a:p>
          <a:p xmlns:a="http://schemas.openxmlformats.org/drawingml/2006/main">
            <a:r>
              <a:t/>
            </a:r>
          </a:p>
          <a:p xmlns:a="http://schemas.openxmlformats.org/drawingml/2006/main">
            <a:r>
              <a:t>Worked illustration / lecturer answer</a:t>
            </a:r>
          </a:p>
          <a:p xmlns:a="http://schemas.openxmlformats.org/drawingml/2006/main">
            <a:r>
              <a:t>Compute the confusion counts from aligned actual/predicted labels, then apply the published cost weights. A false alarm and a missed warning can have different costs.</a:t>
            </a:r>
          </a:p>
          <a:p xmlns:a="http://schemas.openxmlformats.org/drawingml/2006/main">
            <a:r>
              <a:t/>
            </a:r>
          </a:p>
          <a:p xmlns:a="http://schemas.openxmlformats.org/drawingml/2006/main">
            <a:r>
              <a:t>Misconception to address</a:t>
            </a:r>
          </a:p>
          <a:p xmlns:a="http://schemas.openxmlformats.org/drawingml/2006/main">
            <a:r>
              <a:t>These illustrative costs are not approved operational thresholds. Claimed benefits need evaluation on relevant real observations before use in engineering decisions.</a:t>
            </a:r>
          </a:p>
          <a:p xmlns:a="http://schemas.openxmlformats.org/drawingml/2006/main">
            <a:r>
              <a:t/>
            </a:r>
          </a:p>
          <a:p xmlns:a="http://schemas.openxmlformats.org/drawingml/2006/main">
            <a:r>
              <a:t>On this slide</a:t>
            </a:r>
          </a:p>
          <a:p xmlns:a="http://schemas.openxmlformats.org/drawingml/2006/main">
            <a:r>
              <a:t>Use classification_case.csv.</a:t>
            </a:r>
          </a:p>
          <a:p xmlns:a="http://schemas.openxmlformats.org/drawingml/2006/main">
            <a:r>
              <a:t/>
            </a:r>
          </a:p>
          <a:p xmlns:a="http://schemas.openxmlformats.org/drawingml/2006/main">
            <a:r>
              <a:t>Positive means a synthetic warning condition.</a:t>
            </a:r>
          </a:p>
          <a:p xmlns:a="http://schemas.openxmlformats.org/drawingml/2006/main">
            <a:r>
              <a:t/>
            </a:r>
          </a:p>
          <a:p xmlns:a="http://schemas.openxmlformats.org/drawingml/2006/main">
            <a:r>
              <a:t>Compute the confusion matrix, precision, recall and total_error_cost.</a:t>
            </a:r>
          </a:p>
          <a:p xmlns:a="http://schemas.openxmlformats.org/drawingml/2006/main">
            <a:r>
              <a:t/>
            </a:r>
          </a:p>
          <a:p xmlns:a="http://schemas.openxmlformats.org/drawingml/2006/main">
            <a:r>
              <a:t>Explain the 5:1 missed-warning/false-alarm cost assumption and why accuracy alone is insufficient.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task continued</a:t>
            </a:r>
          </a:p>
          <a:p xmlns:a="http://schemas.openxmlformats.org/drawingml/2006/main">
            <a:r>
              <a:t>Explanation to give</a:t>
            </a:r>
          </a:p>
          <a:p xmlns:a="http://schemas.openxmlformats.org/drawingml/2006/main">
            <a:r>
              <a:t>The warning labels and costs belong to this teaching scenario. Name what positive means before discussing benefit or harm.</a:t>
            </a:r>
          </a:p>
          <a:p xmlns:a="http://schemas.openxmlformats.org/drawingml/2006/main">
            <a:r>
              <a:t/>
            </a:r>
          </a:p>
          <a:p xmlns:a="http://schemas.openxmlformats.org/drawingml/2006/main">
            <a:r>
              <a:t>Worked illustration / lecturer answer</a:t>
            </a:r>
          </a:p>
          <a:p xmlns:a="http://schemas.openxmlformats.org/drawingml/2006/main">
            <a:r>
              <a:t>Compute the confusion counts from aligned actual/predicted labels, then apply the published cost weights. A false alarm and a missed warning can have different costs.</a:t>
            </a:r>
          </a:p>
          <a:p xmlns:a="http://schemas.openxmlformats.org/drawingml/2006/main">
            <a:r>
              <a:t/>
            </a:r>
          </a:p>
          <a:p xmlns:a="http://schemas.openxmlformats.org/drawingml/2006/main">
            <a:r>
              <a:t>Misconception to address</a:t>
            </a:r>
          </a:p>
          <a:p xmlns:a="http://schemas.openxmlformats.org/drawingml/2006/main">
            <a:r>
              <a:t>These illustrative costs are not approved operational thresholds. Claimed benefits need evaluation on relevant real observations before use in engineering decisions.</a:t>
            </a:r>
          </a:p>
          <a:p xmlns:a="http://schemas.openxmlformats.org/drawingml/2006/main">
            <a:r>
              <a:t/>
            </a:r>
          </a:p>
          <a:p xmlns:a="http://schemas.openxmlformats.org/drawingml/2006/main">
            <a:r>
              <a:t>On this slide</a:t>
            </a:r>
          </a:p>
          <a:p xmlns:a="http://schemas.openxmlformats.org/drawingml/2006/main">
            <a:r>
              <a:t>These costs are teaching assumptions, not approved operating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classification_metrics(actual, predicted)</a:t>
            </a:r>
          </a:p>
          <a:p xmlns:a="http://schemas.openxmlformats.org/drawingml/2006/main">
            <a:r>
              <a:t/>
            </a:r>
          </a:p>
          <a:p xmlns:a="http://schemas.openxmlformats.org/drawingml/2006/main">
            <a:r>
              <a:t>Return dictionary keys tp, tn, fp, fn, precision, recall and cost.</a:t>
            </a:r>
          </a:p>
          <a:p xmlns:a="http://schemas.openxmlformats.org/drawingml/2006/main">
            <a:r>
              <a:t/>
            </a:r>
          </a:p>
          <a:p xmlns:a="http://schemas.openxmlformats.org/drawingml/2006/main">
            <a:r>
              <a:t>tp = true positives; tn = true negatives; fp = false positives; fn = false negatives.</a:t>
            </a:r>
          </a:p>
          <a:p xmlns:a="http://schemas.openxmlformats.org/drawingml/2006/main">
            <a:r>
              <a:t/>
            </a:r>
          </a:p>
          <a:p xmlns:a="http://schemas.openxmlformats.org/drawingml/2006/main">
            <a:r>
              <a:t>cost = 5 * fn + fp. Return zero when a precision or recall denominator is zero.</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Written evidence</a:t>
            </a:r>
          </a:p>
          <a:p xmlns:a="http://schemas.openxmlformats.org/drawingml/2006/main">
            <a:r>
              <a:t>Explanation to give</a:t>
            </a:r>
          </a:p>
          <a:p xmlns:a="http://schemas.openxmlformats.org/drawingml/2006/main">
            <a:r>
              <a:t>Show the actual markdown answer cell headed My written evidence. This is where the learner explains the choices and the supplied scenario in their own words.</a:t>
            </a:r>
          </a:p>
          <a:p xmlns:a="http://schemas.openxmlformats.org/drawingml/2006/main">
            <a:r>
              <a:t/>
            </a:r>
          </a:p>
          <a:p xmlns:a="http://schemas.openxmlformats.org/drawingml/2006/main">
            <a:r>
              <a:t>Worked illustration / lecturer answer</a:t>
            </a:r>
          </a:p>
          <a:p xmlns:a="http://schemas.openxmlformats.org/drawingml/2006/main">
            <a:r>
              <a:t>A useful explanation connects a decision to a named result and its limitation: for example, why a training-only median avoids using evaluation information. Describe supplied scenario figures as supplied, not as measurements the learner produced.</a:t>
            </a:r>
          </a:p>
          <a:p xmlns:a="http://schemas.openxmlformats.org/drawingml/2006/main">
            <a:r>
              <a:t/>
            </a:r>
          </a:p>
          <a:p xmlns:a="http://schemas.openxmlformats.org/drawingml/2006/main">
            <a:r>
              <a:t>Misconception to address</a:t>
            </a:r>
          </a:p>
          <a:p xmlns:a="http://schemas.openxmlformats.org/drawingml/2006/main">
            <a:r>
              <a:t>Prompts and copied code comments do not substitute for the learner’s reasoning. Weekly work and tests use the notebook; projects also require their separate readable report.</a:t>
            </a:r>
          </a:p>
          <a:p xmlns:a="http://schemas.openxmlformats.org/drawingml/2006/main">
            <a:r>
              <a:t/>
            </a:r>
          </a:p>
          <a:p xmlns:a="http://schemas.openxmlformats.org/drawingml/2006/main">
            <a:r>
              <a:t>On this slide</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Classification and cost submission</a:t>
            </a:r>
          </a:p>
          <a:p xmlns:a="http://schemas.openxmlformats.org/drawingml/2006/main">
            <a:r>
              <a:t>Explanation to give</a:t>
            </a:r>
          </a:p>
          <a:p xmlns:a="http://schemas.openxmlformats.org/drawingml/2006/main">
            <a:r>
              <a:t>This slide hands over CML3112 W09.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2026-11-10T11:00:00+03:00.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03 Nov 2026, 11:00 Kampala</a:t>
            </a:r>
          </a:p>
          <a:p xmlns:a="http://schemas.openxmlformats.org/drawingml/2006/main">
            <a:r>
              <a:t/>
            </a:r>
          </a:p>
          <a:p xmlns:a="http://schemas.openxmlformats.org/drawingml/2006/main">
            <a:r>
              <a:t>Deadline: 10 Nov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9 quiz</a:t>
            </a:r>
          </a:p>
          <a:p xmlns:a="http://schemas.openxmlformats.org/drawingml/2006/main">
            <a:r>
              <a:t>Explanation to give</a:t>
            </a:r>
          </a:p>
          <a:p xmlns:a="http://schemas.openxmlformats.org/drawingml/2006/main">
            <a:r>
              <a:t>This is the CML3112 Week 9 quiz. The student link opens the response form; it does not activate its window. In Quiz Controls use open_W9_CML3112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Move from a numerical prediction to a category decision. Name the positive class before counting correct warnings, false alarms and missed warnings.</a:t>
            </a:r>
          </a:p>
          <a:p xmlns:a="http://schemas.openxmlformats.org/drawingml/2006/main">
            <a:r>
              <a:t/>
            </a:r>
          </a:p>
          <a:p xmlns:a="http://schemas.openxmlformats.org/drawingml/2006/main">
            <a:r>
              <a:t>Worked illustration / lecturer answer</a:t>
            </a:r>
          </a:p>
          <a:p xmlns:a="http://schemas.openxmlformats.org/drawingml/2006/main">
            <a:r>
              <a:t>Actual 1 with predicted 0 is a false negative. If 1 means warning, this is a missed warning, not merely a wrong number.</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identify a false negative and explain precision and recall with counts.</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revision video</a:t>
            </a:r>
          </a:p>
          <a:p xmlns:a="http://schemas.openxmlformats.org/drawingml/2006/main">
            <a:r>
              <a:t>Explanation to give</a:t>
            </a:r>
          </a:p>
          <a:p xmlns:a="http://schemas.openxmlformats.org/drawingml/2006/main">
            <a:r>
              <a:t>Give the viewing question before playing the excerpt: Which observations are correctly or incorrectly classified?</a:t>
            </a:r>
          </a:p>
          <a:p xmlns:a="http://schemas.openxmlformats.org/drawingml/2006/main">
            <a:r>
              <a:t/>
            </a:r>
          </a:p>
          <a:p xmlns:a="http://schemas.openxmlformats.org/drawingml/2006/main">
            <a:r>
              <a:t>Worked illustration / lecturer answer</a:t>
            </a:r>
          </a:p>
          <a:p xmlns:a="http://schemas.openxmlformats.org/drawingml/2006/main">
            <a:r>
              <a:t>Use the adjacent worked example as the explanation if the video cannot load. Pause after the relevant example and connect its terms to the names and units already used in this lesson. Preview the displayed link and excerpt before class.</a:t>
            </a:r>
          </a:p>
          <a:p xmlns:a="http://schemas.openxmlformats.org/drawingml/2006/main">
            <a:r>
              <a:t/>
            </a:r>
          </a:p>
          <a:p xmlns:a="http://schemas.openxmlformats.org/drawingml/2006/main">
            <a:r>
              <a:t>Misconception to address</a:t>
            </a:r>
          </a:p>
          <a:p xmlns:a="http://schemas.openxmlformats.org/drawingml/2006/main">
            <a:r>
              <a:t>The video is supporting revision, not a replacement for defining the symbols or a requirement to watch a full tutorial during limited class time.</a:t>
            </a:r>
          </a:p>
          <a:p xmlns:a="http://schemas.openxmlformats.org/drawingml/2006/main">
            <a:r>
              <a:t/>
            </a:r>
          </a:p>
          <a:p xmlns:a="http://schemas.openxmlformats.org/drawingml/2006/main">
            <a:r>
              <a:t>On this slide</a:t>
            </a:r>
          </a:p>
          <a:p xmlns:a="http://schemas.openxmlformats.org/drawingml/2006/main">
            <a:r>
              <a:t>For revision after class.</a:t>
            </a:r>
          </a:p>
          <a:p xmlns:a="http://schemas.openxmlformats.org/drawingml/2006/main">
            <a:r>
              <a:t/>
            </a:r>
          </a:p>
          <a:p xmlns:a="http://schemas.openxmlformats.org/drawingml/2006/main">
            <a:r>
              <a:t>StatQuest with Josh Starmer</a:t>
            </a:r>
          </a:p>
          <a:p xmlns:a="http://schemas.openxmlformats.org/drawingml/2006/main">
            <a:r>
              <a:t>Machine Learning Fundamentals The Confusion Matrix</a:t>
            </a:r>
          </a:p>
          <a:p xmlns:a="http://schemas.openxmlformats.org/drawingml/2006/main">
            <a:r>
              <a:t/>
            </a:r>
          </a:p>
          <a:p xmlns:a="http://schemas.openxmlformats.org/drawingml/2006/main">
            <a:r>
              <a:t>Opening up to 04:00, optional preview-selected excerpt</a:t>
            </a:r>
          </a:p>
          <a:p xmlns:a="http://schemas.openxmlformats.org/drawingml/2006/main">
            <a:r>
              <a:t/>
            </a:r>
          </a:p>
          <a:p xmlns:a="http://schemas.openxmlformats.org/drawingml/2006/main">
            <a:r>
              <a:t>Listening question: Which observations are correctly or incorrectly classified?</a:t>
            </a:r>
          </a:p>
          <a:p xmlns:a="http://schemas.openxmlformats.org/drawingml/2006/main">
            <a:r>
              <a:t/>
            </a:r>
          </a:p>
          <a:p xmlns:a="http://schemas.openxmlformats.org/drawingml/2006/main">
            <a:r>
              <a:t>Reference / existing resource</a:t>
            </a:r>
          </a:p>
          <a:p xmlns:a="http://schemas.openxmlformats.org/drawingml/2006/main">
            <a:r>
              <a:t>https://www.youtube.com/watch?v=Kdsp6soqA7o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ec6ea46f7f42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606dd151fbf43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9807a69a1044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7a099feddb49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052e39f9cd43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c5bc63b99e4e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56F0F5-4CFC-4316-9FC9-9144B3C3C73E}"/>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BE03BB-1E0B-4223-A4C6-2F6739BAEAAA}"/>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10A394-9C7B-4A29-9FA0-7E61BED6AD69}"/>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100234-4FC2-43E0-9924-81B6BA445895}"/>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7D52CDD-A022-4CED-B04F-FAD543F3CA29}"/>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C312B9-FE14-447B-9545-2677EA0BFF43}"/>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D876EE-D71B-46BB-9E24-B9D4FCCA1170}"/>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0CFDE1-13B3-4716-8D32-6053A206EAC0}"/>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2C81BF-8A16-42DF-ADCD-2189F866ADCD}"/>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FF6D39-EC99-44EF-A11E-73F8745999F7}"/>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c7fec85717410d" /><Relationship Type="http://schemas.openxmlformats.org/officeDocument/2006/relationships/slideLayout" Target="/ppt/slideLayouts/slideLayout1.xml" Id="Rba37a3c177bb495e" /><Relationship Type="http://schemas.openxmlformats.org/officeDocument/2006/relationships/slideLayout" Target="/ppt/slideLayouts/slideLayout2.xml" Id="Rbd1f61e4481c4e90" /><Relationship Type="http://schemas.openxmlformats.org/officeDocument/2006/relationships/slideLayout" Target="/ppt/slideLayouts/slideLayout3.xml" Id="R4ca4e6148276451b" /><Relationship Type="http://schemas.openxmlformats.org/officeDocument/2006/relationships/slideLayout" Target="/ppt/slideLayouts/slideLayout4.xml" Id="Ra35637d7d52042c8" /><Relationship Type="http://schemas.openxmlformats.org/officeDocument/2006/relationships/slideLayout" Target="/ppt/slideLayouts/slideLayout5.xml" Id="R18b42411ca434698" /><Relationship Type="http://schemas.openxmlformats.org/officeDocument/2006/relationships/slideLayout" Target="/ppt/slideLayouts/slideLayout6.xml" Id="R5821d87d1ea54a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37a3c177bb495e"/>
    <p:sldLayoutId xmlns:r="http://schemas.openxmlformats.org/officeDocument/2006/relationships" id="2147483650" r:id="Rbd1f61e4481c4e90"/>
    <p:sldLayoutId xmlns:r="http://schemas.openxmlformats.org/officeDocument/2006/relationships" id="2147483651" r:id="R4ca4e6148276451b"/>
    <p:sldLayoutId xmlns:r="http://schemas.openxmlformats.org/officeDocument/2006/relationships" id="2147483652" r:id="Ra35637d7d52042c8"/>
    <p:sldLayoutId xmlns:r="http://schemas.openxmlformats.org/officeDocument/2006/relationships" id="2147483653" r:id="R18b42411ca434698"/>
    <p:sldLayoutId xmlns:r="http://schemas.openxmlformats.org/officeDocument/2006/relationships" id="2147483654" r:id="R5821d87d1ea54a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cdc4c9ef974af9" /><Relationship Type="http://schemas.openxmlformats.org/officeDocument/2006/relationships/image" Target="/ppt/media/image.png" Id="R71986a7b15e74676" /><Relationship Type="http://schemas.openxmlformats.org/officeDocument/2006/relationships/notesSlide" Target="/ppt/notesSlides/notesSlide1.xml" Id="R62790bd478a445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f96cf532a14984" /><Relationship Type="http://schemas.openxmlformats.org/officeDocument/2006/relationships/notesSlide" Target="/ppt/notesSlides/notesSlide2.xml" Id="Re54adb4ebebd49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305e2381454e78" /><Relationship Type="http://schemas.openxmlformats.org/officeDocument/2006/relationships/notesSlide" Target="/ppt/notesSlides/notesSlide3.xml" Id="Rc7c8806321994f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258d8e9fbf48a0" /><Relationship Type="http://schemas.openxmlformats.org/officeDocument/2006/relationships/notesSlide" Target="/ppt/notesSlides/notesSlide4.xml" Id="Rba9056f84d6c48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9dba06bae54e4c" /><Relationship Type="http://schemas.openxmlformats.org/officeDocument/2006/relationships/notesSlide" Target="/ppt/notesSlides/notesSlide5.xml" Id="R548f42a6fcb640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fd8de4c8a7d48af" /><Relationship Type="http://schemas.openxmlformats.org/officeDocument/2006/relationships/notesSlide" Target="/ppt/notesSlides/notesSlide6.xml" Id="R1b00ee8b2f6545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c721804b82142a5" /><Relationship Type="http://schemas.openxmlformats.org/officeDocument/2006/relationships/notesSlide" Target="/ppt/notesSlides/notesSlide7.xml" Id="R1e3962d8799345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ee80c6cfc794851" /><Relationship Type="http://schemas.openxmlformats.org/officeDocument/2006/relationships/image" Target="/ppt/media/image2.png" Id="R9675d9d0488b4ec1" /><Relationship Type="http://schemas.openxmlformats.org/officeDocument/2006/relationships/notesSlide" Target="/ppt/notesSlides/notesSlide8.xml" Id="Raa61932b90d741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3da3bfda33045c0" /><Relationship Type="http://schemas.openxmlformats.org/officeDocument/2006/relationships/notesSlide" Target="/ppt/notesSlides/notesSlide9.xml" Id="Rb137a0c603eb4b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9f625d65aa942c3" /><Relationship Type="http://schemas.openxmlformats.org/officeDocument/2006/relationships/notesSlide" Target="/ppt/notesSlides/notesSlide10.xml" Id="Re6d0e90509be49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a877e209c44bd1" /><Relationship Type="http://schemas.openxmlformats.org/officeDocument/2006/relationships/notesSlide" Target="/ppt/notesSlides/notesSlide11.xml" Id="R4135af8ced3049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49a7ffb3d274a03" /><Relationship Type="http://schemas.openxmlformats.org/officeDocument/2006/relationships/notesSlide" Target="/ppt/notesSlides/notesSlide12.xml" Id="R6200a449ee9b4b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ce3f05f0e14489b" /><Relationship Type="http://schemas.openxmlformats.org/officeDocument/2006/relationships/notesSlide" Target="/ppt/notesSlides/notesSlide13.xml" Id="Ra991e61f6e304d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d25d5c127c247d7" /><Relationship Type="http://schemas.openxmlformats.org/officeDocument/2006/relationships/notesSlide" Target="/ppt/notesSlides/notesSlide14.xml" Id="R320a34b258ab4d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09b25671b0444b1" /><Relationship Type="http://schemas.openxmlformats.org/officeDocument/2006/relationships/notesSlide" Target="/ppt/notesSlides/notesSlide15.xml" Id="Rbe8e05c849e94c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3a0ee08514a4f1b" /><Relationship Type="http://schemas.openxmlformats.org/officeDocument/2006/relationships/notesSlide" Target="/ppt/notesSlides/notesSlide16.xml" Id="R694ea8f8d775413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f2779dfd7884c32" /><Relationship Type="http://schemas.openxmlformats.org/officeDocument/2006/relationships/notesSlide" Target="/ppt/notesSlides/notesSlide17.xml" Id="Re26a7b14cff74f1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f806c20543043d1" /><Relationship Type="http://schemas.openxmlformats.org/officeDocument/2006/relationships/notesSlide" Target="/ppt/notesSlides/notesSlide18.xml" Id="Rc0e23d8ff52545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7d46547a6404a1d" /><Relationship Type="http://schemas.openxmlformats.org/officeDocument/2006/relationships/notesSlide" Target="/ppt/notesSlides/notesSlide19.xml" Id="R99c932933e6748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1b586f01c8f4467" /><Relationship Type="http://schemas.openxmlformats.org/officeDocument/2006/relationships/notesSlide" Target="/ppt/notesSlides/notesSlide20.xml" Id="R9f640c301b68493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aa44b785dba4251" /><Relationship Type="http://schemas.openxmlformats.org/officeDocument/2006/relationships/notesSlide" Target="/ppt/notesSlides/notesSlide21.xml" Id="R7093ab5c6e61478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af4b01f297e425c" /><Relationship Type="http://schemas.openxmlformats.org/officeDocument/2006/relationships/notesSlide" Target="/ppt/notesSlides/notesSlide22.xml" Id="R920fbe77cff04f3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23d785e2c1940d2" /><Relationship Type="http://schemas.openxmlformats.org/officeDocument/2006/relationships/notesSlide" Target="/ppt/notesSlides/notesSlide23.xml" Id="R59f25e59e20a49c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e19a8fbfba14d77" /><Relationship Type="http://schemas.openxmlformats.org/officeDocument/2006/relationships/notesSlide" Target="/ppt/notesSlides/notesSlide24.xml" Id="R31921ed489f54fd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0cf33e22f914b3d" /><Relationship Type="http://schemas.openxmlformats.org/officeDocument/2006/relationships/notesSlide" Target="/ppt/notesSlides/notesSlide25.xml" Id="R669ec29ef20b42e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a38745741ba496f" /><Relationship Type="http://schemas.openxmlformats.org/officeDocument/2006/relationships/notesSlide" Target="/ppt/notesSlides/notesSlide26.xml" Id="R33eb4671cb174b8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7a15128a40b4a5c" /><Relationship Type="http://schemas.openxmlformats.org/officeDocument/2006/relationships/notesSlide" Target="/ppt/notesSlides/notesSlide27.xml" Id="R4bbbbb289573495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2b9855b1a6344aa" /><Relationship Type="http://schemas.openxmlformats.org/officeDocument/2006/relationships/notesSlide" Target="/ppt/notesSlides/notesSlide28.xml" Id="Rb652d9a531f6465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c89faf339f54298" /><Relationship Type="http://schemas.openxmlformats.org/officeDocument/2006/relationships/notesSlide" Target="/ppt/notesSlides/notesSlide29.xml" Id="R77363e9dc37d470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8073af506d14a13" /><Relationship Type="http://schemas.openxmlformats.org/officeDocument/2006/relationships/notesSlide" Target="/ppt/notesSlides/notesSlide30.xml" Id="Ra1b52e1ebc334c6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1782abdabc44dd7" /><Relationship Type="http://schemas.openxmlformats.org/officeDocument/2006/relationships/notesSlide" Target="/ppt/notesSlides/notesSlide31.xml" Id="R4edd377313a34ab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a62d2f9e0284113" /><Relationship Type="http://schemas.openxmlformats.org/officeDocument/2006/relationships/notesSlide" Target="/ppt/notesSlides/notesSlide32.xml" Id="R2e473a82c55e40b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80d330b49a84497" /><Relationship Type="http://schemas.openxmlformats.org/officeDocument/2006/relationships/notesSlide" Target="/ppt/notesSlides/notesSlide33.xml" Id="R1c484cd7b39c4d5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d92100b22f54291" /><Relationship Type="http://schemas.openxmlformats.org/officeDocument/2006/relationships/notesSlide" Target="/ppt/notesSlides/notesSlide34.xml" Id="R06ce4f21343946f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df7d002420443b5" /><Relationship Type="http://schemas.openxmlformats.org/officeDocument/2006/relationships/notesSlide" Target="/ppt/notesSlides/notesSlide35.xml" Id="R96f9ff8b106f4cf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7675edf90634186" /><Relationship Type="http://schemas.openxmlformats.org/officeDocument/2006/relationships/notesSlide" Target="/ppt/notesSlides/notesSlide36.xml" Id="R43394fcd6541487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7883fb11e8b4b94" /><Relationship Type="http://schemas.openxmlformats.org/officeDocument/2006/relationships/notesSlide" Target="/ppt/notesSlides/notesSlide37.xml" Id="R01ffedc52f9945a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aa0d87fcd1f4868" /><Relationship Type="http://schemas.openxmlformats.org/officeDocument/2006/relationships/notesSlide" Target="/ppt/notesSlides/notesSlide38.xml" Id="Rc436d154398240f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6011f998b4241bf" /><Relationship Type="http://schemas.openxmlformats.org/officeDocument/2006/relationships/hyperlink" Target="https://docs.google.com/forms/d/e/1FAIpQLSfTe7OkZ7tZEVzG-mup0-8liXg1jKy_KmsDWZiPK9EWMJ9InA/viewform" TargetMode="External" Id="Rcb8162fdb1ae40fc" /><Relationship Type="http://schemas.openxmlformats.org/officeDocument/2006/relationships/notesSlide" Target="/ppt/notesSlides/notesSlide39.xml" Id="R16f70b25344348c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2329a3a94804752" /><Relationship Type="http://schemas.openxmlformats.org/officeDocument/2006/relationships/image" Target="/ppt/media/image3.png" Id="R34ec9dd77c9443d8" /><Relationship Type="http://schemas.openxmlformats.org/officeDocument/2006/relationships/hyperlink" Target="https://forms.gle/6XBHNCQXESUyQ6G86" TargetMode="External" Id="R973832fa884a4aaa" /><Relationship Type="http://schemas.openxmlformats.org/officeDocument/2006/relationships/notesSlide" Target="/ppt/notesSlides/notesSlide40.xml" Id="Raf558ddfde5c422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5ebd20d591d400f" /><Relationship Type="http://schemas.openxmlformats.org/officeDocument/2006/relationships/notesSlide" Target="/ppt/notesSlides/notesSlide41.xml" Id="Rc4d5334623354d2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f83683c610b4ffd" /><Relationship Type="http://schemas.openxmlformats.org/officeDocument/2006/relationships/hyperlink" Target="https://www.youtube.com/watch?v=Kdsp6soqA7o" TargetMode="External" Id="Rbd3b0917c66f4441" /><Relationship Type="http://schemas.openxmlformats.org/officeDocument/2006/relationships/notesSlide" Target="/ppt/notesSlides/notesSlide42.xml" Id="Rbcc29204a9904b1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8D28B1A-6B73-40EA-A847-7D603AFDCFD1}"/>
              </a:ext>
            </a:extLst>
          </p:cNvPr>
          <p:cNvPicPr>
            <a:picLocks xmlns:a="http://schemas.openxmlformats.org/drawingml/2006/main" noChangeAspect="1"/>
          </p:cNvPicPr>
          <p:nvPr/>
        </p:nvPicPr>
        <p:blipFill>
          <a:blip xmlns:r="http://schemas.openxmlformats.org/officeDocument/2006/relationships" xmlns:a="http://schemas.openxmlformats.org/drawingml/2006/main" r:embed="R71986a7b15e74676"/>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071E8C-B5A0-49E4-8E1F-D83BB48768BF}"/>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1E6430-48D5-4B05-81B5-76757E17B304}"/>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9</a:t>
            </a:r>
          </a:p>
        </p:txBody>
      </p:sp>
      <p:sp>
        <p:nvSpPr>
          <p:cNvPr id="4" name="">
            <a:extLst xmlns:a="http://schemas.openxmlformats.org/drawingml/2006/main">
              <a:ext uri="{FF2B5EF4-FFF2-40B4-BE49-F238E27FC236}">
                <a16:creationId xmlns:a16="http://schemas.microsoft.com/office/drawing/2014/main" id="{D104B39F-1A2F-4A8D-8184-58483DFF2759}"/>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Classification and the cost of mistakes</a:t>
            </a:r>
          </a:p>
        </p:txBody>
      </p:sp>
      <p:sp>
        <p:nvSpPr>
          <p:cNvPr id="5" name="">
            <a:extLst xmlns:a="http://schemas.openxmlformats.org/drawingml/2006/main">
              <a:ext uri="{FF2B5EF4-FFF2-40B4-BE49-F238E27FC236}">
                <a16:creationId xmlns:a16="http://schemas.microsoft.com/office/drawing/2014/main" id="{87711498-7373-4286-B8D7-538AF118EFF7}"/>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1456E006-03A3-4B2D-9244-4A452170CAD8}"/>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03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6939799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89BDE7-F380-4949-9E4C-9D04E0BD7F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C4BC89-FD94-49B0-961A-EF4797EE53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CA2BB66-6BB5-4630-9D2F-923261E0E4E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13231A94-307D-4AB8-B1C9-98531F1F379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8312A0-A9ED-407E-AF2D-2A388CE0E82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2A6003-BFC8-4E6A-81A7-A9769FE9312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tables for this week’s data work. Explain the decisions and check the outputs.</a:t>
            </a:r>
          </a:p>
        </p:txBody>
      </p:sp>
      <p:sp>
        <p:nvSpPr>
          <p:cNvPr id="7" name="">
            <a:extLst xmlns:a="http://schemas.openxmlformats.org/drawingml/2006/main">
              <a:ext uri="{FF2B5EF4-FFF2-40B4-BE49-F238E27FC236}">
                <a16:creationId xmlns:a16="http://schemas.microsoft.com/office/drawing/2014/main" id="{BA5EA4A0-F31B-4513-B900-A5CD27E11D0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Complete the issued function interfaces and written evidence using the demonstrated workflow.</a:t>
            </a:r>
          </a:p>
        </p:txBody>
      </p:sp>
      <p:sp>
        <p:nvSpPr>
          <p:cNvPr id="8" name="">
            <a:extLst xmlns:a="http://schemas.openxmlformats.org/drawingml/2006/main">
              <a:ext uri="{FF2B5EF4-FFF2-40B4-BE49-F238E27FC236}">
                <a16:creationId xmlns:a16="http://schemas.microsoft.com/office/drawing/2014/main" id="{69E83965-A054-44CC-A33F-732BAA610F6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a:t>
            </a:r>
          </a:p>
        </p:txBody>
      </p:sp>
    </p:spTree>
    <p:extLst>
      <p:ext uri="{BB962C8B-B14F-4D97-AF65-F5344CB8AC3E}">
        <p14:creationId xmlns:p14="http://schemas.microsoft.com/office/powerpoint/2010/main" val="7703653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AA042A-B211-4712-8622-07690B1073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284AB0-C157-425D-A2F2-3DCE85AB065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66A62A6-B3C7-4EB4-9626-F5CEEA3244D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7993D173-14FB-466D-9A53-F216B20EDF6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0A65C1-345A-4586-AAAA-C7A0F88FAF1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3206CD8-BF30-4ABA-8579-94C7AC02D7A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classification_case.csv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C417402B-C97A-44A3-9D2F-ECE977FB055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25169177-636C-4659-AC40-507CF87016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a:t>
            </a:r>
          </a:p>
        </p:txBody>
      </p:sp>
    </p:spTree>
    <p:extLst>
      <p:ext uri="{BB962C8B-B14F-4D97-AF65-F5344CB8AC3E}">
        <p14:creationId xmlns:p14="http://schemas.microsoft.com/office/powerpoint/2010/main" val="8284680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7C776B-6760-4B28-BC3C-0EDAC3AEFC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C4ABFE-E037-42D4-9428-F4602DB6E4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17F5CF3-1195-4A45-BE9B-213C34A1524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AAA8AFB-5E08-49D2-A057-A3F9E9F57FC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497DEF2-8FF3-47D4-B3FC-4399389CF5C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94E51E47-B728-4247-9933-D1C99F91712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F7B519B-5F69-41F4-8671-76FA73B494E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pd.read_csv("practice_filename.csv")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EC39A96B-46D0-498C-A2DD-C9B55D40AB7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21D7D3A-CEC3-43D7-BD43-9205A4EBC92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equipment_data.shape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63919C4E-60B7-42D2-BF94-334981D3873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4</a:t>
            </a:r>
          </a:p>
        </p:txBody>
      </p:sp>
    </p:spTree>
    <p:extLst>
      <p:ext uri="{BB962C8B-B14F-4D97-AF65-F5344CB8AC3E}">
        <p14:creationId xmlns:p14="http://schemas.microsoft.com/office/powerpoint/2010/main" val="8888899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38BD8F-DCB9-477C-A4E1-7219A4A0EFD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B5B6D7-0E21-47BA-BB75-FDB7D10234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AA1A005-71BD-4364-89A1-F3D5AD8AF3E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1D89AD9E-03A9-4C11-9800-199293E8C4D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1D8807F-ED71-4706-93A1-3D472368D34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3F69A26-0B62-49BF-8E1A-4EBC7998F2F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equipment_data.dtypes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626A4972-EFF2-46DE-BE39-A1BB47D754B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equipment_data.head()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CAF997FD-3EE9-4201-92DA-8809D2D79A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5</a:t>
            </a:r>
          </a:p>
        </p:txBody>
      </p:sp>
    </p:spTree>
    <p:extLst>
      <p:ext uri="{BB962C8B-B14F-4D97-AF65-F5344CB8AC3E}">
        <p14:creationId xmlns:p14="http://schemas.microsoft.com/office/powerpoint/2010/main" val="9001524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13D94F-F70A-4547-A5B4-1FCE92E156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F9B06F-A14D-408F-A4CB-4E8F054D7D6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1EF4459-E124-4875-9BC9-66DB6E1109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a:t>
            </a:r>
          </a:p>
        </p:txBody>
      </p:sp>
      <p:sp>
        <p:nvSpPr>
          <p:cNvPr id="4" name="">
            <a:extLst xmlns:a="http://schemas.openxmlformats.org/drawingml/2006/main">
              <a:ext uri="{FF2B5EF4-FFF2-40B4-BE49-F238E27FC236}">
                <a16:creationId xmlns:a16="http://schemas.microsoft.com/office/drawing/2014/main" id="{F30736F6-E423-4C0B-9DDA-201A4D661503}"/>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F27B93-6D88-4CA3-B0EC-B818DA03DC8D}"/>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6" name="">
            <a:extLst xmlns:a="http://schemas.openxmlformats.org/drawingml/2006/main">
              <a:ext uri="{FF2B5EF4-FFF2-40B4-BE49-F238E27FC236}">
                <a16:creationId xmlns:a16="http://schemas.microsoft.com/office/drawing/2014/main" id="{9D9433C6-B198-4110-8F60-F6F8FDA78A0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6</a:t>
            </a:r>
          </a:p>
        </p:txBody>
      </p:sp>
    </p:spTree>
    <p:extLst>
      <p:ext uri="{BB962C8B-B14F-4D97-AF65-F5344CB8AC3E}">
        <p14:creationId xmlns:p14="http://schemas.microsoft.com/office/powerpoint/2010/main" val="16484502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F38B0E-4C40-4A81-A835-40F2F5AD1B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02DDF7-7F9C-486B-8974-45CFD84413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AB1879A-6384-4E7D-9000-1DAB4DF4DC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99F206FA-5F00-4D1F-A332-6B7E093AC8A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884CAE-E592-4492-9674-8BC709F5FDE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pd.read_csv("class</a:t>
            </a:r>
            <a:r>
              <a:rPr sz="1875" b="0">
                <a:solidFill>
                  <a:srgbClr val="FFB080"/>
                </a:solidFill>
                <a:latin typeface="Courier New"/>
                <a:ea typeface="Courier New"/>
                <a:cs typeface="Courier New"/>
              </a:rPr>
              <a:t>if</a:t>
            </a:r>
            <a:r>
              <a:rPr sz="1875" b="0">
                <a:solidFill>
                  <a:srgbClr val="F4F7FA"/>
                </a:solidFill>
                <a:latin typeface="Courier New"/>
                <a:ea typeface="Courier New"/>
                <a:cs typeface="Courier New"/>
              </a:rPr>
              <a:t>ication_case.csv")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42655B04-12D8-4B52-8818-4A6A46B27C8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89F111F3-F1F4-456A-ADD0-0A8FE24800C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26435886-DA6C-4D73-A3D6-C6C1980801A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7</a:t>
            </a:r>
          </a:p>
        </p:txBody>
      </p:sp>
    </p:spTree>
    <p:extLst>
      <p:ext uri="{BB962C8B-B14F-4D97-AF65-F5344CB8AC3E}">
        <p14:creationId xmlns:p14="http://schemas.microsoft.com/office/powerpoint/2010/main" val="813564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3FC8F4-B2E1-4BA5-8BF4-35099CF97470}"/>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7A915E-2FC2-4661-A704-0CBD58E0801D}"/>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Every paired result belongs in one cell</a:t>
            </a:r>
          </a:p>
        </p:txBody>
      </p:sp>
      <p:pic>
        <p:nvPicPr>
          <p:cNvPr id="3" name="">
            <a:extLst xmlns:a="http://schemas.openxmlformats.org/drawingml/2006/main">
              <a:ext uri="{FF2B5EF4-FFF2-40B4-BE49-F238E27FC236}">
                <a16:creationId xmlns:a16="http://schemas.microsoft.com/office/drawing/2014/main" id="{DC50E8E3-F484-4F5E-B673-117E8B2B8A7F}"/>
              </a:ext>
            </a:extLst>
          </p:cNvPr>
          <p:cNvPicPr>
            <a:picLocks xmlns:a="http://schemas.openxmlformats.org/drawingml/2006/main" noChangeAspect="1"/>
          </p:cNvPicPr>
          <p:nvPr/>
        </p:nvPicPr>
        <p:blipFill>
          <a:blip xmlns:r="http://schemas.openxmlformats.org/officeDocument/2006/relationships" xmlns:a="http://schemas.openxmlformats.org/drawingml/2006/main" r:embed="R9675d9d0488b4ec1"/>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DC3D272-CFED-49DB-ABF6-079CD0BE5B8F}"/>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147E77-E38A-4F49-A47A-504CB3724507}"/>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Read actual first, then predicted_values. Explain the missed warning.</a:t>
            </a:r>
          </a:p>
        </p:txBody>
      </p:sp>
      <p:sp>
        <p:nvSpPr>
          <p:cNvPr id="6" name="">
            <a:extLst xmlns:a="http://schemas.openxmlformats.org/drawingml/2006/main">
              <a:ext uri="{FF2B5EF4-FFF2-40B4-BE49-F238E27FC236}">
                <a16:creationId xmlns:a16="http://schemas.microsoft.com/office/drawing/2014/main" id="{D518144D-5DEB-42A2-A136-20DC4DBBCD9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8</a:t>
            </a:r>
          </a:p>
        </p:txBody>
      </p:sp>
    </p:spTree>
    <p:extLst>
      <p:ext uri="{BB962C8B-B14F-4D97-AF65-F5344CB8AC3E}">
        <p14:creationId xmlns:p14="http://schemas.microsoft.com/office/powerpoint/2010/main" val="18078041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41FCA3-3C7A-4923-BAEF-8C2A5ADC8A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31E92B-F14B-4DFA-A811-FB497BC43A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B960DB3-86B7-4D28-BF68-FF3EFFBF39D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Counting the supplied paired labels</a:t>
            </a:r>
          </a:p>
        </p:txBody>
      </p:sp>
      <p:sp>
        <p:nvSpPr>
          <p:cNvPr id="4" name="">
            <a:extLst xmlns:a="http://schemas.openxmlformats.org/drawingml/2006/main">
              <a:ext uri="{FF2B5EF4-FFF2-40B4-BE49-F238E27FC236}">
                <a16:creationId xmlns:a16="http://schemas.microsoft.com/office/drawing/2014/main" id="{56C14EAA-5FE2-4BD0-9FBE-5A155822B98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591A681-0E67-4B99-8783-B000ED4DAA8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EB3A277-99AA-42E4-A29F-2EA691F6B1F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actual holds the reference label. predicted holds the model decision. In this file, 1 means warning and 0 means no warning.</a:t>
            </a:r>
          </a:p>
        </p:txBody>
      </p:sp>
      <p:sp>
        <p:nvSpPr>
          <p:cNvPr id="7" name="">
            <a:extLst xmlns:a="http://schemas.openxmlformats.org/drawingml/2006/main">
              <a:ext uri="{FF2B5EF4-FFF2-40B4-BE49-F238E27FC236}">
                <a16:creationId xmlns:a16="http://schemas.microsoft.com/office/drawing/2014/main" id="{224290F3-3C84-48B6-88A3-5C6268C7872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 compares values. &amp; requires both conditions for each row. Parenthesise each comparison. sum counts the True validation_results.</a:t>
            </a:r>
          </a:p>
        </p:txBody>
      </p:sp>
      <p:sp>
        <p:nvSpPr>
          <p:cNvPr id="8" name="">
            <a:extLst xmlns:a="http://schemas.openxmlformats.org/drawingml/2006/main">
              <a:ext uri="{FF2B5EF4-FFF2-40B4-BE49-F238E27FC236}">
                <a16:creationId xmlns:a16="http://schemas.microsoft.com/office/drawing/2014/main" id="{E8F8B6A0-8938-4C5C-99CC-A851FADF53B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9</a:t>
            </a:r>
          </a:p>
        </p:txBody>
      </p:sp>
    </p:spTree>
    <p:extLst>
      <p:ext uri="{BB962C8B-B14F-4D97-AF65-F5344CB8AC3E}">
        <p14:creationId xmlns:p14="http://schemas.microsoft.com/office/powerpoint/2010/main" val="9638880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222380-0D7C-4C8E-B24B-177237CC6AF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21D0E8-97C9-4EDF-B7F7-BD84940875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ED559B6-0C48-4215-BE82-381331C3AE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425675D-6B53-40C3-A614-0D20F961F8C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C5ADFE8-BDE9-40E7-8ADD-E0DE0E4F3B3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equipment_data["column"] returns one labelled column, a Series. equipment_data[["a", "b"]] returns a DataFrame containing those named columns in that order.</a:t>
            </a:r>
          </a:p>
        </p:txBody>
      </p:sp>
      <p:sp>
        <p:nvSpPr>
          <p:cNvPr id="6" name="">
            <a:extLst xmlns:a="http://schemas.openxmlformats.org/drawingml/2006/main">
              <a:ext uri="{FF2B5EF4-FFF2-40B4-BE49-F238E27FC236}">
                <a16:creationId xmlns:a16="http://schemas.microsoft.com/office/drawing/2014/main" id="{E0615B70-C461-448B-9B5C-D8DD2978B46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24DAB70-7B2E-4412-8729-279C2E3A556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3C11A9E1-C754-4D4D-A7A4-8BCE3420CBD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378902C-7BC0-4BFB-A2F8-67723E6584E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Adding values and counting True: series.sum() adds its values. For a Boolean mask, True counts as 1 and False as 0. equipment_data.isna().sum() therefore counts missing cells separately for each column.</a:t>
            </a:r>
          </a:p>
        </p:txBody>
      </p:sp>
      <p:sp>
        <p:nvSpPr>
          <p:cNvPr id="10" name="">
            <a:extLst xmlns:a="http://schemas.openxmlformats.org/drawingml/2006/main">
              <a:ext uri="{FF2B5EF4-FFF2-40B4-BE49-F238E27FC236}">
                <a16:creationId xmlns:a16="http://schemas.microsoft.com/office/drawing/2014/main" id="{1D6E4136-99DE-44F3-864A-A3940DC2ECA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10</a:t>
            </a:r>
          </a:p>
        </p:txBody>
      </p:sp>
    </p:spTree>
    <p:extLst>
      <p:ext uri="{BB962C8B-B14F-4D97-AF65-F5344CB8AC3E}">
        <p14:creationId xmlns:p14="http://schemas.microsoft.com/office/powerpoint/2010/main" val="20088546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C33112-266D-455B-A79A-FFE529336D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36E5EA-25FB-4F22-9436-6C216444024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853A8EA-7A68-4B6F-B1F9-D5C413D3C6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rows with a mask</a:t>
            </a:r>
          </a:p>
        </p:txBody>
      </p:sp>
      <p:sp>
        <p:nvSpPr>
          <p:cNvPr id="4" name="">
            <a:extLst xmlns:a="http://schemas.openxmlformats.org/drawingml/2006/main">
              <a:ext uri="{FF2B5EF4-FFF2-40B4-BE49-F238E27FC236}">
                <a16:creationId xmlns:a16="http://schemas.microsoft.com/office/drawing/2014/main" id="{3F1AAA2D-3084-47B2-85E8-BEE38291096F}"/>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2945AB-64B1-44DC-ACCA-6812AE0133F6}"/>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column comparison produces one True or False per row. table[mask] keeps the True rows. &amp; combines masks: both conditions must hold. Parenthesise each comparison.</a:t>
            </a:r>
          </a:p>
        </p:txBody>
      </p:sp>
      <p:sp>
        <p:nvSpPr>
          <p:cNvPr id="6" name="">
            <a:extLst xmlns:a="http://schemas.openxmlformats.org/drawingml/2006/main">
              <a:ext uri="{FF2B5EF4-FFF2-40B4-BE49-F238E27FC236}">
                <a16:creationId xmlns:a16="http://schemas.microsoft.com/office/drawing/2014/main" id="{67B2FE76-38E8-4A01-8404-F042321BC3B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11</a:t>
            </a:r>
          </a:p>
        </p:txBody>
      </p:sp>
    </p:spTree>
    <p:extLst>
      <p:ext uri="{BB962C8B-B14F-4D97-AF65-F5344CB8AC3E}">
        <p14:creationId xmlns:p14="http://schemas.microsoft.com/office/powerpoint/2010/main" val="544966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A1E817-D833-46C8-B795-8CE1499525B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22739C-F3B9-407E-85B6-DBB09FF121D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4B76148-D35B-4271-9D72-0AE06683B0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observations and decisions paired</a:t>
            </a:r>
          </a:p>
        </p:txBody>
      </p:sp>
      <p:sp>
        <p:nvSpPr>
          <p:cNvPr id="4" name="">
            <a:extLst xmlns:a="http://schemas.openxmlformats.org/drawingml/2006/main">
              <a:ext uri="{FF2B5EF4-FFF2-40B4-BE49-F238E27FC236}">
                <a16:creationId xmlns:a16="http://schemas.microsoft.com/office/drawing/2014/main" id="{8AFD5269-F76B-4901-B076-25FFE75AC919}"/>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D7ADE7C-9C65-4CC6-BF3D-64FE1CA0CBD5}"/>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actual contains the recorded class; predicted contains the model’s decision for the same row.</a:t>
            </a:r>
          </a:p>
        </p:txBody>
      </p:sp>
      <p:sp>
        <p:nvSpPr>
          <p:cNvPr id="6" name="">
            <a:extLst xmlns:a="http://schemas.openxmlformats.org/drawingml/2006/main">
              <a:ext uri="{FF2B5EF4-FFF2-40B4-BE49-F238E27FC236}">
                <a16:creationId xmlns:a16="http://schemas.microsoft.com/office/drawing/2014/main" id="{470EA12E-B836-4A79-9F30-8E643BBFC95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1 means positive and 0 negative.</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already-issued decisions; this exercise does not train a classifier.</a:t>
            </a:r>
          </a:p>
        </p:txBody>
      </p:sp>
      <p:sp>
        <p:nvSpPr>
          <p:cNvPr id="7" name="">
            <a:extLst xmlns:a="http://schemas.openxmlformats.org/drawingml/2006/main">
              <a:ext uri="{FF2B5EF4-FFF2-40B4-BE49-F238E27FC236}">
                <a16:creationId xmlns:a16="http://schemas.microsoft.com/office/drawing/2014/main" id="{1323E0DF-E76B-481B-BD81-73CF6290326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12</a:t>
            </a:r>
          </a:p>
        </p:txBody>
      </p:sp>
    </p:spTree>
    <p:extLst>
      <p:ext uri="{BB962C8B-B14F-4D97-AF65-F5344CB8AC3E}">
        <p14:creationId xmlns:p14="http://schemas.microsoft.com/office/powerpoint/2010/main" val="6270296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9AD9BF-6931-4974-A851-6EAB8CB00D3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4F761B-BD11-4FBF-A5B5-9B068655F9F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612DA11-81A5-4A2F-87B9-04247EF5F8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 step 1</a:t>
            </a:r>
          </a:p>
        </p:txBody>
      </p:sp>
      <p:sp>
        <p:nvSpPr>
          <p:cNvPr id="4" name="">
            <a:extLst xmlns:a="http://schemas.openxmlformats.org/drawingml/2006/main">
              <a:ext uri="{FF2B5EF4-FFF2-40B4-BE49-F238E27FC236}">
                <a16:creationId xmlns:a16="http://schemas.microsoft.com/office/drawing/2014/main" id="{F77B01FC-18E2-4345-9AED-00277A4F1007}"/>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CA22E2-AB43-435D-A506-D00E389F4525}"/>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actual_labels = raw_data["actual"]</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predicted_labels = raw_data["predicted"]</a:t>
            </a:r>
          </a:p>
        </p:txBody>
      </p:sp>
      <p:sp>
        <p:nvSpPr>
          <p:cNvPr id="6" name="">
            <a:extLst xmlns:a="http://schemas.openxmlformats.org/drawingml/2006/main">
              <a:ext uri="{FF2B5EF4-FFF2-40B4-BE49-F238E27FC236}">
                <a16:creationId xmlns:a16="http://schemas.microsoft.com/office/drawing/2014/main" id="{8E6AB2F2-BD71-4824-9C0F-6CC34867000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CDAE6B0-B92A-4A7D-9CAA-9856D6B24F2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actual_labels: the recorded class of each observation: 1 means positive and 0 means negative.</a:t>
            </a:r>
          </a:p>
        </p:txBody>
      </p:sp>
      <p:sp>
        <p:nvSpPr>
          <p:cNvPr id="8" name="">
            <a:extLst xmlns:a="http://schemas.openxmlformats.org/drawingml/2006/main">
              <a:ext uri="{FF2B5EF4-FFF2-40B4-BE49-F238E27FC236}">
                <a16:creationId xmlns:a16="http://schemas.microsoft.com/office/drawing/2014/main" id="{54E224C0-85B3-4184-9758-33E59652AE1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AFB64A80-3802-4C1F-823C-884861BF18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13</a:t>
            </a:r>
          </a:p>
        </p:txBody>
      </p:sp>
    </p:spTree>
    <p:extLst>
      <p:ext uri="{BB962C8B-B14F-4D97-AF65-F5344CB8AC3E}">
        <p14:creationId xmlns:p14="http://schemas.microsoft.com/office/powerpoint/2010/main" val="19715826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BA385C-B9A5-4E30-943B-605A648AC3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3C8B75-D73A-4F07-A25D-3EA53B3EF9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81DF1EF-1BE8-4BCD-8C99-0FC51FF409C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Turn each class label into a question</a:t>
            </a:r>
          </a:p>
        </p:txBody>
      </p:sp>
      <p:sp>
        <p:nvSpPr>
          <p:cNvPr id="4" name="">
            <a:extLst xmlns:a="http://schemas.openxmlformats.org/drawingml/2006/main">
              <a:ext uri="{FF2B5EF4-FFF2-40B4-BE49-F238E27FC236}">
                <a16:creationId xmlns:a16="http://schemas.microsoft.com/office/drawing/2014/main" id="{33C655B8-56B1-4F7E-B720-453DCEC0D8A0}"/>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5FBAA41-5E31-4728-9238-FAA80E403EC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actual == 1 asks whether the real class is positive; predicted == 1 asks whether the model predicted positive.</a:t>
            </a:r>
          </a:p>
        </p:txBody>
      </p:sp>
      <p:sp>
        <p:nvSpPr>
          <p:cNvPr id="6" name="">
            <a:extLst xmlns:a="http://schemas.openxmlformats.org/drawingml/2006/main">
              <a:ext uri="{FF2B5EF4-FFF2-40B4-BE49-F238E27FC236}">
                <a16:creationId xmlns:a16="http://schemas.microsoft.com/office/drawing/2014/main" id="{A751123A-87C2-4A19-A2F1-5E9EB647C441}"/>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comparison returns one True/False answer per row.</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Equality uses ==; assignment uses =.</a:t>
            </a:r>
          </a:p>
        </p:txBody>
      </p:sp>
      <p:sp>
        <p:nvSpPr>
          <p:cNvPr id="7" name="">
            <a:extLst xmlns:a="http://schemas.openxmlformats.org/drawingml/2006/main">
              <a:ext uri="{FF2B5EF4-FFF2-40B4-BE49-F238E27FC236}">
                <a16:creationId xmlns:a16="http://schemas.microsoft.com/office/drawing/2014/main" id="{DB8FB859-2D7A-497F-99BD-00BA09FA66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14</a:t>
            </a:r>
          </a:p>
        </p:txBody>
      </p:sp>
    </p:spTree>
    <p:extLst>
      <p:ext uri="{BB962C8B-B14F-4D97-AF65-F5344CB8AC3E}">
        <p14:creationId xmlns:p14="http://schemas.microsoft.com/office/powerpoint/2010/main" val="7820833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FE0507-85E6-4484-B66B-DCBEAEAF8D6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0F22E6-8429-456C-AC23-02A9AB1B17E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6A6C9B3-1D2B-4126-83D9-E9776A7260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 step 2</a:t>
            </a:r>
          </a:p>
        </p:txBody>
      </p:sp>
      <p:sp>
        <p:nvSpPr>
          <p:cNvPr id="4" name="">
            <a:extLst xmlns:a="http://schemas.openxmlformats.org/drawingml/2006/main">
              <a:ext uri="{FF2B5EF4-FFF2-40B4-BE49-F238E27FC236}">
                <a16:creationId xmlns:a16="http://schemas.microsoft.com/office/drawing/2014/main" id="{977E7556-C529-4911-B0B5-33FFF35F358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09C21F-D346-4167-863B-F855885593A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actual_is_positive = actual_labels == 1</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prediction_is_positive = predicted_labels == 1</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actual_is_negative = actual_labels == 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prediction_is_negative = predicted_labels == 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print(actual_is_positive.head())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print(prediction_is_positive.head())</a:t>
            </a:r>
          </a:p>
        </p:txBody>
      </p:sp>
      <p:sp>
        <p:nvSpPr>
          <p:cNvPr id="6" name="">
            <a:extLst xmlns:a="http://schemas.openxmlformats.org/drawingml/2006/main">
              <a:ext uri="{FF2B5EF4-FFF2-40B4-BE49-F238E27FC236}">
                <a16:creationId xmlns:a16="http://schemas.microsoft.com/office/drawing/2014/main" id="{F9865339-2A5F-4476-9CF3-ED976E8125D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actual_labels: the recorded class of each observation: 1 means positive and 0 means negative.</a:t>
            </a:r>
          </a:p>
        </p:txBody>
      </p:sp>
      <p:sp>
        <p:nvSpPr>
          <p:cNvPr id="7" name="">
            <a:extLst xmlns:a="http://schemas.openxmlformats.org/drawingml/2006/main">
              <a:ext uri="{FF2B5EF4-FFF2-40B4-BE49-F238E27FC236}">
                <a16:creationId xmlns:a16="http://schemas.microsoft.com/office/drawing/2014/main" id="{4111EE70-EF37-4F4B-B05B-6C448FEAF03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94DC5311-1474-49C1-A858-D82D85ED8F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15</a:t>
            </a:r>
          </a:p>
        </p:txBody>
      </p:sp>
    </p:spTree>
    <p:extLst>
      <p:ext uri="{BB962C8B-B14F-4D97-AF65-F5344CB8AC3E}">
        <p14:creationId xmlns:p14="http://schemas.microsoft.com/office/powerpoint/2010/main" val="37059343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7D5941-A3A4-43BE-8944-A463AE09633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984DCD-4917-47E5-9B59-4644159B59C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FC90E87-7B47-45CB-84B1-DBDF491C77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one outcome at a time</a:t>
            </a:r>
          </a:p>
        </p:txBody>
      </p:sp>
      <p:sp>
        <p:nvSpPr>
          <p:cNvPr id="4" name="">
            <a:extLst xmlns:a="http://schemas.openxmlformats.org/drawingml/2006/main">
              <a:ext uri="{FF2B5EF4-FFF2-40B4-BE49-F238E27FC236}">
                <a16:creationId xmlns:a16="http://schemas.microsoft.com/office/drawing/2014/main" id="{26A73FD4-C6ED-4893-8324-9A6368F963C8}"/>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789C5C-D36A-48E7-8320-ABE699AF1126}"/>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true positive has actual 1 AND predicted 1.</a:t>
            </a:r>
          </a:p>
        </p:txBody>
      </p:sp>
      <p:sp>
        <p:nvSpPr>
          <p:cNvPr id="6" name="">
            <a:extLst xmlns:a="http://schemas.openxmlformats.org/drawingml/2006/main">
              <a:ext uri="{FF2B5EF4-FFF2-40B4-BE49-F238E27FC236}">
                <a16:creationId xmlns:a16="http://schemas.microsoft.com/office/drawing/2014/main" id="{B5A3392E-C410-4219-8B61-20312382BEBB}"/>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Combine the two answer columns with &amp;, then sum the True entries.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other three outcomes use their own pairs of actual and predicted labels.</a:t>
            </a:r>
          </a:p>
        </p:txBody>
      </p:sp>
      <p:sp>
        <p:nvSpPr>
          <p:cNvPr id="7" name="">
            <a:extLst xmlns:a="http://schemas.openxmlformats.org/drawingml/2006/main">
              <a:ext uri="{FF2B5EF4-FFF2-40B4-BE49-F238E27FC236}">
                <a16:creationId xmlns:a16="http://schemas.microsoft.com/office/drawing/2014/main" id="{4FEE2DDB-F2B5-4EDF-9224-6E34DAB976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16</a:t>
            </a:r>
          </a:p>
        </p:txBody>
      </p:sp>
    </p:spTree>
    <p:extLst>
      <p:ext uri="{BB962C8B-B14F-4D97-AF65-F5344CB8AC3E}">
        <p14:creationId xmlns:p14="http://schemas.microsoft.com/office/powerpoint/2010/main" val="189196583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DE075B-1531-4A05-92E8-70C720C8F3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330D77-0064-4009-B561-9B09CB2ED5D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84FD50F-33BA-4CE2-8630-4181D353D70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 step 3</a:t>
            </a:r>
          </a:p>
        </p:txBody>
      </p:sp>
      <p:sp>
        <p:nvSpPr>
          <p:cNvPr id="4" name="">
            <a:extLst xmlns:a="http://schemas.openxmlformats.org/drawingml/2006/main">
              <a:ext uri="{FF2B5EF4-FFF2-40B4-BE49-F238E27FC236}">
                <a16:creationId xmlns:a16="http://schemas.microsoft.com/office/drawing/2014/main" id="{C2EFCE32-5230-41D1-9B2F-EC943DB69B3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00BD76-249F-4710-AD58-17B1011B8E6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is_true_positive = actual_is_positive &amp; prediction_is_positive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true_positive_count = int(is_true_positive.sum())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r>
              <a:rPr sz="1875" b="0">
                <a:solidFill>
                  <a:srgbClr val="FFB080"/>
                </a:solidFill>
                <a:latin typeface="Courier New"/>
                <a:ea typeface="Courier New"/>
                <a:cs typeface="Courier New"/>
              </a:rPr>
              <a:t>True</a:t>
            </a:r>
            <a:r>
              <a:rPr sz="1875" b="0">
                <a:solidFill>
                  <a:srgbClr val="F4F7FA"/>
                </a:solidFill>
                <a:latin typeface="Courier New"/>
                <a:ea typeface="Courier New"/>
                <a:cs typeface="Courier New"/>
              </a:rPr>
              <a:t> positives:", true_positive_count)</a:t>
            </a:r>
          </a:p>
        </p:txBody>
      </p:sp>
      <p:sp>
        <p:nvSpPr>
          <p:cNvPr id="6" name="">
            <a:extLst xmlns:a="http://schemas.openxmlformats.org/drawingml/2006/main">
              <a:ext uri="{FF2B5EF4-FFF2-40B4-BE49-F238E27FC236}">
                <a16:creationId xmlns:a16="http://schemas.microsoft.com/office/drawing/2014/main" id="{27EC0F34-8D70-46D9-8D4B-0B99F8C63B4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actual_labels: the recorded class of each observation: 1 means positive and 0 means negative.</a:t>
            </a:r>
          </a:p>
        </p:txBody>
      </p:sp>
      <p:sp>
        <p:nvSpPr>
          <p:cNvPr id="7" name="">
            <a:extLst xmlns:a="http://schemas.openxmlformats.org/drawingml/2006/main">
              <a:ext uri="{FF2B5EF4-FFF2-40B4-BE49-F238E27FC236}">
                <a16:creationId xmlns:a16="http://schemas.microsoft.com/office/drawing/2014/main" id="{A2B44CDD-87AA-482D-B960-777091B1079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30F1DC2D-E1A5-4599-827F-B4CDAAA5CF3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17</a:t>
            </a:r>
          </a:p>
        </p:txBody>
      </p:sp>
    </p:spTree>
    <p:extLst>
      <p:ext uri="{BB962C8B-B14F-4D97-AF65-F5344CB8AC3E}">
        <p14:creationId xmlns:p14="http://schemas.microsoft.com/office/powerpoint/2010/main" val="18871352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829536-F1FA-4834-802E-98840D5AFF4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F4A34E-8265-43AA-A3F7-27289CA9E8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23C1E8C-D25F-4739-A71C-7ED57FDB12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 step 4</a:t>
            </a:r>
          </a:p>
        </p:txBody>
      </p:sp>
      <p:sp>
        <p:nvSpPr>
          <p:cNvPr id="4" name="">
            <a:extLst xmlns:a="http://schemas.openxmlformats.org/drawingml/2006/main">
              <a:ext uri="{FF2B5EF4-FFF2-40B4-BE49-F238E27FC236}">
                <a16:creationId xmlns:a16="http://schemas.microsoft.com/office/drawing/2014/main" id="{8B04F181-B847-481C-8E92-00B7271CB86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411097F-1234-4EE9-A285-CD97114345E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0770F3B-E1A1-4728-BD53-729004AE411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false_negative_count: number of missed positives: actual 1 but predicted 0.</a:t>
            </a:r>
          </a:p>
        </p:txBody>
      </p:sp>
      <p:sp>
        <p:nvSpPr>
          <p:cNvPr id="7" name="">
            <a:extLst xmlns:a="http://schemas.openxmlformats.org/drawingml/2006/main">
              <a:ext uri="{FF2B5EF4-FFF2-40B4-BE49-F238E27FC236}">
                <a16:creationId xmlns:a16="http://schemas.microsoft.com/office/drawing/2014/main" id="{4558AA98-3FAE-4F60-B9CC-985CA81CAA8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false_positive_count: number of false alarms: actual 0 but predicted 1.</a:t>
            </a:r>
          </a:p>
        </p:txBody>
      </p:sp>
      <p:sp>
        <p:nvSpPr>
          <p:cNvPr id="8" name="">
            <a:extLst xmlns:a="http://schemas.openxmlformats.org/drawingml/2006/main">
              <a:ext uri="{FF2B5EF4-FFF2-40B4-BE49-F238E27FC236}">
                <a16:creationId xmlns:a16="http://schemas.microsoft.com/office/drawing/2014/main" id="{121C341B-E234-48B4-A5E3-CB11FFA1DC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18</a:t>
            </a:r>
          </a:p>
        </p:txBody>
      </p:sp>
    </p:spTree>
    <p:extLst>
      <p:ext uri="{BB962C8B-B14F-4D97-AF65-F5344CB8AC3E}">
        <p14:creationId xmlns:p14="http://schemas.microsoft.com/office/powerpoint/2010/main" val="8507236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B2DEF4-C9D5-4B58-9E4D-96507E04C7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8E97B5-5589-41A9-A27D-CD87043FCD9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DB81405-2AD8-4637-8497-9F98952614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 step 4 (1/3)</a:t>
            </a:r>
          </a:p>
        </p:txBody>
      </p:sp>
      <p:sp>
        <p:nvSpPr>
          <p:cNvPr id="4" name="">
            <a:extLst xmlns:a="http://schemas.openxmlformats.org/drawingml/2006/main">
              <a:ext uri="{FF2B5EF4-FFF2-40B4-BE49-F238E27FC236}">
                <a16:creationId xmlns:a16="http://schemas.microsoft.com/office/drawing/2014/main" id="{DBCA5F75-19B0-4B0C-95CC-7CF827FF3B2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28E47B-C3A8-4A0C-8F15-2120D35090B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false_negative_count = 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(actual_is_positive &amp; prediction_is_negative).sum()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false_positive_count = 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(actual_is_negative &amp; prediction_is_positive).sum()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6C990873-3793-473B-9088-545590BA1EF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actual_labels: the recorded class of each observation: 1 means positive and 0 means negative.</a:t>
            </a:r>
          </a:p>
        </p:txBody>
      </p:sp>
      <p:sp>
        <p:nvSpPr>
          <p:cNvPr id="7" name="">
            <a:extLst xmlns:a="http://schemas.openxmlformats.org/drawingml/2006/main">
              <a:ext uri="{FF2B5EF4-FFF2-40B4-BE49-F238E27FC236}">
                <a16:creationId xmlns:a16="http://schemas.microsoft.com/office/drawing/2014/main" id="{6AEDCBD4-1EC3-47EA-8B0D-A5CF6F02BB4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29348BE8-DB50-4A9D-A2BA-F3D02852B1A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19</a:t>
            </a:r>
          </a:p>
        </p:txBody>
      </p:sp>
    </p:spTree>
    <p:extLst>
      <p:ext uri="{BB962C8B-B14F-4D97-AF65-F5344CB8AC3E}">
        <p14:creationId xmlns:p14="http://schemas.microsoft.com/office/powerpoint/2010/main" val="14855747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317242-DBDA-413E-8596-41CBDE49C1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934C08-3527-48D0-86FF-C9B124524C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15CD09B-BCF2-49BB-9BDD-A3A07FAFC0A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 step 4 (2/3)</a:t>
            </a:r>
          </a:p>
        </p:txBody>
      </p:sp>
      <p:sp>
        <p:nvSpPr>
          <p:cNvPr id="4" name="">
            <a:extLst xmlns:a="http://schemas.openxmlformats.org/drawingml/2006/main">
              <a:ext uri="{FF2B5EF4-FFF2-40B4-BE49-F238E27FC236}">
                <a16:creationId xmlns:a16="http://schemas.microsoft.com/office/drawing/2014/main" id="{36007F75-53BA-4C26-82D4-60C97CECDB3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7E487B-3F99-4769-8F36-54170C5107A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true_negative_count = 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(actual_is_negative &amp; prediction_is_negative).sum()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false_negative_count,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false_positive_count,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true_negative_count,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AAAB85E1-F8E7-48D5-9F45-CD8F81B4716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actual_labels: the recorded class of each observation: 1 means positive and 0 means negative.</a:t>
            </a:r>
          </a:p>
        </p:txBody>
      </p:sp>
      <p:sp>
        <p:nvSpPr>
          <p:cNvPr id="7" name="">
            <a:extLst xmlns:a="http://schemas.openxmlformats.org/drawingml/2006/main">
              <a:ext uri="{FF2B5EF4-FFF2-40B4-BE49-F238E27FC236}">
                <a16:creationId xmlns:a16="http://schemas.microsoft.com/office/drawing/2014/main" id="{E163E5C0-E48C-47EC-AF53-A09C077D867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in the same code cell.</a:t>
            </a:r>
          </a:p>
        </p:txBody>
      </p:sp>
      <p:sp>
        <p:nvSpPr>
          <p:cNvPr id="8" name="">
            <a:extLst xmlns:a="http://schemas.openxmlformats.org/drawingml/2006/main">
              <a:ext uri="{FF2B5EF4-FFF2-40B4-BE49-F238E27FC236}">
                <a16:creationId xmlns:a16="http://schemas.microsoft.com/office/drawing/2014/main" id="{3BAE1837-66F7-4D03-BAE5-592B57C0B3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20</a:t>
            </a:r>
          </a:p>
        </p:txBody>
      </p:sp>
    </p:spTree>
    <p:extLst>
      <p:ext uri="{BB962C8B-B14F-4D97-AF65-F5344CB8AC3E}">
        <p14:creationId xmlns:p14="http://schemas.microsoft.com/office/powerpoint/2010/main" val="17168036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D06D11-F271-4BDC-B032-EB623DB4943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479B28-BAA9-45E9-99BB-E85F6B8F115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420E6F2-4694-469D-8D42-E716A96FAA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Confusion counts from classification_case.csv — step 4 (3/3)</a:t>
            </a:r>
          </a:p>
        </p:txBody>
      </p:sp>
      <p:sp>
        <p:nvSpPr>
          <p:cNvPr id="4" name="">
            <a:extLst xmlns:a="http://schemas.openxmlformats.org/drawingml/2006/main">
              <a:ext uri="{FF2B5EF4-FFF2-40B4-BE49-F238E27FC236}">
                <a16:creationId xmlns:a16="http://schemas.microsoft.com/office/drawing/2014/main" id="{43EE6946-325D-494D-81E7-B7CAD6D7E6A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767279-F4F7-4429-9F5F-A280C903A35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true_positive_count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false_negative_count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false_positive_count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true_negative_count,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len(raw_data),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FF5A483A-F886-46FC-A9BA-CAA4CD8D4DDE}"/>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A8D40C30-43C8-4814-A814-A84925A299D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actual_labels: the recorded class of each observation: 1 means positive and 0 means negative.</a:t>
            </a:r>
          </a:p>
        </p:txBody>
      </p:sp>
      <p:sp>
        <p:nvSpPr>
          <p:cNvPr id="8" name="">
            <a:extLst xmlns:a="http://schemas.openxmlformats.org/drawingml/2006/main">
              <a:ext uri="{FF2B5EF4-FFF2-40B4-BE49-F238E27FC236}">
                <a16:creationId xmlns:a16="http://schemas.microsoft.com/office/drawing/2014/main" id="{34EA8F75-1F68-46F5-97AC-CDDEC8C7A31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16312025-1919-4025-9E38-0EB6FE3864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21</a:t>
            </a:r>
          </a:p>
        </p:txBody>
      </p:sp>
    </p:spTree>
    <p:extLst>
      <p:ext uri="{BB962C8B-B14F-4D97-AF65-F5344CB8AC3E}">
        <p14:creationId xmlns:p14="http://schemas.microsoft.com/office/powerpoint/2010/main" val="9660069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EB2A4C-14E1-4086-A6E2-6F1C612D5E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1FF1BD-A679-4247-B344-09258EF199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9FCA45F-3CCB-40D0-81A3-AFF8744344F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Precision recall and cost</a:t>
            </a:r>
          </a:p>
        </p:txBody>
      </p:sp>
      <p:sp>
        <p:nvSpPr>
          <p:cNvPr id="4" name="">
            <a:extLst xmlns:a="http://schemas.openxmlformats.org/drawingml/2006/main">
              <a:ext uri="{FF2B5EF4-FFF2-40B4-BE49-F238E27FC236}">
                <a16:creationId xmlns:a16="http://schemas.microsoft.com/office/drawing/2014/main" id="{F6E60B9A-4CC4-457E-88AB-003094F3BD8C}"/>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0776943-D4B4-4F0B-8D0D-3F0F4170389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8DF309F-C395-4E03-906B-51D2A1C1C98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Precision is TP divided by TP + FP. Recall is TP divided by TP + FN. The issued policy returns zero when a denominator is zero.</a:t>
            </a:r>
          </a:p>
        </p:txBody>
      </p:sp>
      <p:sp>
        <p:nvSpPr>
          <p:cNvPr id="7" name="">
            <a:extLst xmlns:a="http://schemas.openxmlformats.org/drawingml/2006/main">
              <a:ext uri="{FF2B5EF4-FFF2-40B4-BE49-F238E27FC236}">
                <a16:creationId xmlns:a16="http://schemas.microsoft.com/office/drawing/2014/main" id="{53D6678B-8D9A-4797-99D6-92F9542953D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teaching cost is five units per missed warning plus one per false alarm. Explain the assumption when interpreting the result.</a:t>
            </a:r>
          </a:p>
        </p:txBody>
      </p:sp>
      <p:sp>
        <p:nvSpPr>
          <p:cNvPr id="8" name="">
            <a:extLst xmlns:a="http://schemas.openxmlformats.org/drawingml/2006/main">
              <a:ext uri="{FF2B5EF4-FFF2-40B4-BE49-F238E27FC236}">
                <a16:creationId xmlns:a16="http://schemas.microsoft.com/office/drawing/2014/main" id="{86D7098E-F8C4-4E6D-97CA-FBB6F92BD1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22</a:t>
            </a:r>
          </a:p>
        </p:txBody>
      </p:sp>
    </p:spTree>
    <p:extLst>
      <p:ext uri="{BB962C8B-B14F-4D97-AF65-F5344CB8AC3E}">
        <p14:creationId xmlns:p14="http://schemas.microsoft.com/office/powerpoint/2010/main" val="8948474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9E81FB-59AA-4558-8F39-E7DBD66A37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5480BB-C13C-4EDB-BF1A-D80BD56F53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3AC32AB-EB9E-4A7A-93C3-06BD36D68F9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494D3818-34AC-454C-9EC3-B050270DCE66}"/>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7C46FC-4BA9-43D5-ADF0-78FF60FDD6B7}"/>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6" name="">
            <a:extLst xmlns:a="http://schemas.openxmlformats.org/drawingml/2006/main">
              <a:ext uri="{FF2B5EF4-FFF2-40B4-BE49-F238E27FC236}">
                <a16:creationId xmlns:a16="http://schemas.microsoft.com/office/drawing/2014/main" id="{8BD39487-74CF-40A2-A75B-2FFDBC9694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23</a:t>
            </a:r>
          </a:p>
        </p:txBody>
      </p:sp>
    </p:spTree>
    <p:extLst>
      <p:ext uri="{BB962C8B-B14F-4D97-AF65-F5344CB8AC3E}">
        <p14:creationId xmlns:p14="http://schemas.microsoft.com/office/powerpoint/2010/main" val="104601982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C135A0-B850-4960-BDAF-2FC8AE54741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467A69-64F1-49F8-B4EA-DDE22EB804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BB70565-1308-4151-9571-A9799320AB6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Checking a condition before calculating</a:t>
            </a:r>
          </a:p>
        </p:txBody>
      </p:sp>
      <p:sp>
        <p:nvSpPr>
          <p:cNvPr id="4" name="">
            <a:extLst xmlns:a="http://schemas.openxmlformats.org/drawingml/2006/main">
              <a:ext uri="{FF2B5EF4-FFF2-40B4-BE49-F238E27FC236}">
                <a16:creationId xmlns:a16="http://schemas.microsoft.com/office/drawing/2014/main" id="{D51937C9-1199-48D8-A609-1C1C7876B94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76F7CDD-F4E8-4D08-B347-A6838C1DD999}"/>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if condition: runs its indented statements only when the condition is True. else: handles the other case. Check for a nonzero denominator before division, and for a nonempty table before selecting its first row.</a:t>
            </a:r>
          </a:p>
        </p:txBody>
      </p:sp>
      <p:sp>
        <p:nvSpPr>
          <p:cNvPr id="6" name="">
            <a:extLst xmlns:a="http://schemas.openxmlformats.org/drawingml/2006/main">
              <a:ext uri="{FF2B5EF4-FFF2-40B4-BE49-F238E27FC236}">
                <a16:creationId xmlns:a16="http://schemas.microsoft.com/office/drawing/2014/main" id="{D9095198-FCA2-4C82-9541-611F0F9A36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24</a:t>
            </a:r>
          </a:p>
        </p:txBody>
      </p:sp>
    </p:spTree>
    <p:extLst>
      <p:ext uri="{BB962C8B-B14F-4D97-AF65-F5344CB8AC3E}">
        <p14:creationId xmlns:p14="http://schemas.microsoft.com/office/powerpoint/2010/main" val="11816026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2C2D03-FAB3-4B01-AE67-49D5846CD1E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61B45C-2E4B-464E-BF0A-6B1A68C505E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E6F06CF-B317-4D3D-B7C6-F9790D2DF0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Precision: how trustworthy are positive predictions?</a:t>
            </a:r>
          </a:p>
        </p:txBody>
      </p:sp>
      <p:sp>
        <p:nvSpPr>
          <p:cNvPr id="4" name="">
            <a:extLst xmlns:a="http://schemas.openxmlformats.org/drawingml/2006/main">
              <a:ext uri="{FF2B5EF4-FFF2-40B4-BE49-F238E27FC236}">
                <a16:creationId xmlns:a16="http://schemas.microsoft.com/office/drawing/2014/main" id="{2FEF86D9-4A3F-4E09-A81E-0023F26B12A7}"/>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D93A70C-23CF-445C-8C82-24BD2272B32A}"/>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denominator is all predicted positives: true positives plus false positives.</a:t>
            </a:r>
          </a:p>
        </p:txBody>
      </p:sp>
      <p:sp>
        <p:nvSpPr>
          <p:cNvPr id="6" name="">
            <a:extLst xmlns:a="http://schemas.openxmlformats.org/drawingml/2006/main">
              <a:ext uri="{FF2B5EF4-FFF2-40B4-BE49-F238E27FC236}">
                <a16:creationId xmlns:a16="http://schemas.microsoft.com/office/drawing/2014/main" id="{F22A25A5-63D6-4997-961D-CB75A194DE06}"/>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Divide correct positive predictions by that total.</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denominator before dividing; this teaching example uses 0 when it is zero.</a:t>
            </a:r>
          </a:p>
        </p:txBody>
      </p:sp>
      <p:sp>
        <p:nvSpPr>
          <p:cNvPr id="7" name="">
            <a:extLst xmlns:a="http://schemas.openxmlformats.org/drawingml/2006/main">
              <a:ext uri="{FF2B5EF4-FFF2-40B4-BE49-F238E27FC236}">
                <a16:creationId xmlns:a16="http://schemas.microsoft.com/office/drawing/2014/main" id="{13AF7CFD-E9F2-4D04-929B-41082FCC524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25</a:t>
            </a:r>
          </a:p>
        </p:txBody>
      </p:sp>
    </p:spTree>
    <p:extLst>
      <p:ext uri="{BB962C8B-B14F-4D97-AF65-F5344CB8AC3E}">
        <p14:creationId xmlns:p14="http://schemas.microsoft.com/office/powerpoint/2010/main" val="3572069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604F24-43E6-4941-86F6-97F2215C46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89BE80-C72D-4512-960E-420BAA2D111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FCFFA89-F947-491A-993E-DBFED0296C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Metrics from the supplied outcomes — step 1</a:t>
            </a:r>
          </a:p>
        </p:txBody>
      </p:sp>
      <p:sp>
        <p:nvSpPr>
          <p:cNvPr id="4" name="">
            <a:extLst xmlns:a="http://schemas.openxmlformats.org/drawingml/2006/main">
              <a:ext uri="{FF2B5EF4-FFF2-40B4-BE49-F238E27FC236}">
                <a16:creationId xmlns:a16="http://schemas.microsoft.com/office/drawing/2014/main" id="{A1E3B950-6476-4CCC-A792-9D841F12DD6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307E82-008B-4AED-AD7C-5DECD4B204C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precision = 0.0</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if</a:t>
            </a:r>
            <a:r>
              <a:rPr sz="1875" b="0">
                <a:solidFill>
                  <a:srgbClr val="F4F7FA"/>
                </a:solidFill>
                <a:latin typeface="Courier New"/>
                <a:ea typeface="Courier New"/>
                <a:cs typeface="Courier New"/>
              </a:rPr>
              <a:t> true_positive_count + false_positive_count &gt; 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precision = true_positive_count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true_positive_count + false_positive_count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p:txBody>
      </p:sp>
      <p:sp>
        <p:nvSpPr>
          <p:cNvPr id="6" name="">
            <a:extLst xmlns:a="http://schemas.openxmlformats.org/drawingml/2006/main">
              <a:ext uri="{FF2B5EF4-FFF2-40B4-BE49-F238E27FC236}">
                <a16:creationId xmlns:a16="http://schemas.microsoft.com/office/drawing/2014/main" id="{52CD84FC-827E-4AC3-BBF8-7A2B56475B5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precision: fraction of positive predictions that are correct.</a:t>
            </a:r>
          </a:p>
        </p:txBody>
      </p:sp>
      <p:sp>
        <p:nvSpPr>
          <p:cNvPr id="7" name="">
            <a:extLst xmlns:a="http://schemas.openxmlformats.org/drawingml/2006/main">
              <a:ext uri="{FF2B5EF4-FFF2-40B4-BE49-F238E27FC236}">
                <a16:creationId xmlns:a16="http://schemas.microsoft.com/office/drawing/2014/main" id="{B0EB6DCF-7C43-4997-B85B-6A372A95A3F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5A46B8AA-D96D-4216-9FC0-BBC724364F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26</a:t>
            </a:r>
          </a:p>
        </p:txBody>
      </p:sp>
    </p:spTree>
    <p:extLst>
      <p:ext uri="{BB962C8B-B14F-4D97-AF65-F5344CB8AC3E}">
        <p14:creationId xmlns:p14="http://schemas.microsoft.com/office/powerpoint/2010/main" val="101805950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CFA4AB-0ECF-4BF2-8948-BA724F0996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A12B92-4214-481F-AC90-81407F4E97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679C22E-3CFD-4AF5-9D2F-C52D0C0CE5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how many real positives were found?</a:t>
            </a:r>
          </a:p>
        </p:txBody>
      </p:sp>
      <p:sp>
        <p:nvSpPr>
          <p:cNvPr id="4" name="">
            <a:extLst xmlns:a="http://schemas.openxmlformats.org/drawingml/2006/main">
              <a:ext uri="{FF2B5EF4-FFF2-40B4-BE49-F238E27FC236}">
                <a16:creationId xmlns:a16="http://schemas.microsoft.com/office/drawing/2014/main" id="{F73D1815-E785-40B6-A2D7-DB47BE01C73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636CBC-7EC3-48A0-910F-761320AA54A2}"/>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The denominator is all actual positives: true positives plus false negatives.</a:t>
            </a:r>
          </a:p>
        </p:txBody>
      </p:sp>
      <p:sp>
        <p:nvSpPr>
          <p:cNvPr id="6" name="">
            <a:extLst xmlns:a="http://schemas.openxmlformats.org/drawingml/2006/main">
              <a:ext uri="{FF2B5EF4-FFF2-40B4-BE49-F238E27FC236}">
                <a16:creationId xmlns:a16="http://schemas.microsoft.com/office/drawing/2014/main" id="{8FDAD762-E668-4621-9B6A-48409C2E23DB}"/>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Divide detected positives by that total.</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Precision and recall answer different questions even when they happen to have the same value.</a:t>
            </a:r>
          </a:p>
        </p:txBody>
      </p:sp>
      <p:sp>
        <p:nvSpPr>
          <p:cNvPr id="7" name="">
            <a:extLst xmlns:a="http://schemas.openxmlformats.org/drawingml/2006/main">
              <a:ext uri="{FF2B5EF4-FFF2-40B4-BE49-F238E27FC236}">
                <a16:creationId xmlns:a16="http://schemas.microsoft.com/office/drawing/2014/main" id="{77F64E6D-A03F-4C60-951A-CBF868E0D4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27</a:t>
            </a:r>
          </a:p>
        </p:txBody>
      </p:sp>
    </p:spTree>
    <p:extLst>
      <p:ext uri="{BB962C8B-B14F-4D97-AF65-F5344CB8AC3E}">
        <p14:creationId xmlns:p14="http://schemas.microsoft.com/office/powerpoint/2010/main" val="26612797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99B499-9729-43E6-9D04-DFDB3A2EC6B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12CDD9-6B9B-4FC0-A6C1-4ABF433FEE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E0F52FE-A631-46AA-A32C-7F66F34CF8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Metrics from the supplied outcomes — step 2</a:t>
            </a:r>
          </a:p>
        </p:txBody>
      </p:sp>
      <p:sp>
        <p:nvSpPr>
          <p:cNvPr id="4" name="">
            <a:extLst xmlns:a="http://schemas.openxmlformats.org/drawingml/2006/main">
              <a:ext uri="{FF2B5EF4-FFF2-40B4-BE49-F238E27FC236}">
                <a16:creationId xmlns:a16="http://schemas.microsoft.com/office/drawing/2014/main" id="{71D0A6A2-956B-4302-A361-9FA43EC79D9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1ED44A9-4EE9-4509-97F4-B4360E2457B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recall = 0.0</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if</a:t>
            </a:r>
            <a:r>
              <a:rPr sz="1875" b="0">
                <a:solidFill>
                  <a:srgbClr val="F4F7FA"/>
                </a:solidFill>
                <a:latin typeface="Courier New"/>
                <a:ea typeface="Courier New"/>
                <a:cs typeface="Courier New"/>
              </a:rPr>
              <a:t> true_positive_count + false_negative_count &gt; 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recall = true_positive_count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true_positive_count + false_negative_count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p:txBody>
      </p:sp>
      <p:sp>
        <p:nvSpPr>
          <p:cNvPr id="6" name="">
            <a:extLst xmlns:a="http://schemas.openxmlformats.org/drawingml/2006/main">
              <a:ext uri="{FF2B5EF4-FFF2-40B4-BE49-F238E27FC236}">
                <a16:creationId xmlns:a16="http://schemas.microsoft.com/office/drawing/2014/main" id="{E2F7831D-3876-492C-9E8F-94D6A8850FF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precision: fraction of positive predictions that are correct.</a:t>
            </a:r>
          </a:p>
        </p:txBody>
      </p:sp>
      <p:sp>
        <p:nvSpPr>
          <p:cNvPr id="7" name="">
            <a:extLst xmlns:a="http://schemas.openxmlformats.org/drawingml/2006/main">
              <a:ext uri="{FF2B5EF4-FFF2-40B4-BE49-F238E27FC236}">
                <a16:creationId xmlns:a16="http://schemas.microsoft.com/office/drawing/2014/main" id="{4638940E-829F-4734-AC4D-0D67C38834B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A5992A37-62E3-4450-8D3C-8112D1DF44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28</a:t>
            </a:r>
          </a:p>
        </p:txBody>
      </p:sp>
    </p:spTree>
    <p:extLst>
      <p:ext uri="{BB962C8B-B14F-4D97-AF65-F5344CB8AC3E}">
        <p14:creationId xmlns:p14="http://schemas.microsoft.com/office/powerpoint/2010/main" val="33125945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0A8EA9-CD46-417F-A5A3-710AF29622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E05219-4C4C-4C24-B63B-615AF43A09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74C4343-A8B2-472F-9AB9-788EDAF14E6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Metrics from the supplied outcomes — step 3</a:t>
            </a:r>
          </a:p>
        </p:txBody>
      </p:sp>
      <p:sp>
        <p:nvSpPr>
          <p:cNvPr id="4" name="">
            <a:extLst xmlns:a="http://schemas.openxmlformats.org/drawingml/2006/main">
              <a:ext uri="{FF2B5EF4-FFF2-40B4-BE49-F238E27FC236}">
                <a16:creationId xmlns:a16="http://schemas.microsoft.com/office/drawing/2014/main" id="{3243EEA2-9AC9-4EF3-B79F-C823D35A24E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DA6CD3-86CA-470D-ACA7-FE3AEBDB9CE4}"/>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total_error_cost: five penalty units per missed positive plus one per false alarm in this scenario.</a:t>
            </a:r>
          </a:p>
        </p:txBody>
      </p:sp>
      <p:sp>
        <p:nvSpPr>
          <p:cNvPr id="6" name="">
            <a:extLst xmlns:a="http://schemas.openxmlformats.org/drawingml/2006/main">
              <a:ext uri="{FF2B5EF4-FFF2-40B4-BE49-F238E27FC236}">
                <a16:creationId xmlns:a16="http://schemas.microsoft.com/office/drawing/2014/main" id="{98B6C6EA-D41B-4E09-90B9-97AB719D9E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29</a:t>
            </a:r>
          </a:p>
        </p:txBody>
      </p:sp>
    </p:spTree>
    <p:extLst>
      <p:ext uri="{BB962C8B-B14F-4D97-AF65-F5344CB8AC3E}">
        <p14:creationId xmlns:p14="http://schemas.microsoft.com/office/powerpoint/2010/main" val="25925047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92CEEB-2FFF-4BBE-A2D7-E77BBFE381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3C9917-53DB-433C-8B4C-9D7A383669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B949F73-E15D-43A9-8BE9-EE0B1A1D603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Metrics from the supplied outcomes — step 3</a:t>
            </a:r>
          </a:p>
        </p:txBody>
      </p:sp>
      <p:sp>
        <p:nvSpPr>
          <p:cNvPr id="4" name="">
            <a:extLst xmlns:a="http://schemas.openxmlformats.org/drawingml/2006/main">
              <a:ext uri="{FF2B5EF4-FFF2-40B4-BE49-F238E27FC236}">
                <a16:creationId xmlns:a16="http://schemas.microsoft.com/office/drawing/2014/main" id="{BA744AA1-9B67-4ADD-A925-E095226A2ED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F2DAE7-EB30-4B8B-A1A9-89FB6367AA4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total_error_cost = 5 * false_negative_count + false_positive_count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print(round(precision, 4), round(recall, 4), total_error_cost)</a:t>
            </a:r>
          </a:p>
        </p:txBody>
      </p:sp>
      <p:sp>
        <p:nvSpPr>
          <p:cNvPr id="6" name="">
            <a:extLst xmlns:a="http://schemas.openxmlformats.org/drawingml/2006/main">
              <a:ext uri="{FF2B5EF4-FFF2-40B4-BE49-F238E27FC236}">
                <a16:creationId xmlns:a16="http://schemas.microsoft.com/office/drawing/2014/main" id="{5FC870DE-6BFF-4B4E-91BB-5146C9534E1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precision: fraction of positive predictions that are correct.</a:t>
            </a:r>
          </a:p>
        </p:txBody>
      </p:sp>
      <p:sp>
        <p:nvSpPr>
          <p:cNvPr id="7" name="">
            <a:extLst xmlns:a="http://schemas.openxmlformats.org/drawingml/2006/main">
              <a:ext uri="{FF2B5EF4-FFF2-40B4-BE49-F238E27FC236}">
                <a16:creationId xmlns:a16="http://schemas.microsoft.com/office/drawing/2014/main" id="{67513A98-BEA1-4FEC-A455-E7A3246CA89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D76FEC10-5C6C-4AD0-AF64-AA4D1C04A8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30</a:t>
            </a:r>
          </a:p>
        </p:txBody>
      </p:sp>
    </p:spTree>
    <p:extLst>
      <p:ext uri="{BB962C8B-B14F-4D97-AF65-F5344CB8AC3E}">
        <p14:creationId xmlns:p14="http://schemas.microsoft.com/office/powerpoint/2010/main" val="207922964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3F072F-1B1D-45D7-989E-2A0C338401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A3A2B2-45E8-4E28-BFB2-8A80DD4D58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B12A7C3-C00D-4F76-AD70-8A40F769A3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Probabilities and thresholds</a:t>
            </a:r>
          </a:p>
        </p:txBody>
      </p:sp>
      <p:sp>
        <p:nvSpPr>
          <p:cNvPr id="4" name="">
            <a:extLst xmlns:a="http://schemas.openxmlformats.org/drawingml/2006/main">
              <a:ext uri="{FF2B5EF4-FFF2-40B4-BE49-F238E27FC236}">
                <a16:creationId xmlns:a16="http://schemas.microsoft.com/office/drawing/2014/main" id="{8BDCA65B-9C38-4625-BBBE-29213C43E88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895867-BA13-499F-8DA2-C886E6943CC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07F4BC-B330-4E57-AA44-C8BA372BAAC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probability is a model’s estimated chance of class 1. A threshold turns it into a class decision. Lowering the threshold generally raises more warnings.</a:t>
            </a:r>
          </a:p>
        </p:txBody>
      </p:sp>
      <p:sp>
        <p:nvSpPr>
          <p:cNvPr id="7" name="">
            <a:extLst xmlns:a="http://schemas.openxmlformats.org/drawingml/2006/main">
              <a:ext uri="{FF2B5EF4-FFF2-40B4-BE49-F238E27FC236}">
                <a16:creationId xmlns:a16="http://schemas.microsoft.com/office/drawing/2014/main" id="{C7972343-8340-4FA7-A669-72FE23EDA85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classification_case.csv supplies decisions only. It has no probability column, so we cannot recompute threshold choices from this file.</a:t>
            </a:r>
          </a:p>
        </p:txBody>
      </p:sp>
      <p:sp>
        <p:nvSpPr>
          <p:cNvPr id="8" name="">
            <a:extLst xmlns:a="http://schemas.openxmlformats.org/drawingml/2006/main">
              <a:ext uri="{FF2B5EF4-FFF2-40B4-BE49-F238E27FC236}">
                <a16:creationId xmlns:a16="http://schemas.microsoft.com/office/drawing/2014/main" id="{61BF4F8F-C48A-47CC-B64A-307B4950A8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31</a:t>
            </a:r>
          </a:p>
        </p:txBody>
      </p:sp>
    </p:spTree>
    <p:extLst>
      <p:ext uri="{BB962C8B-B14F-4D97-AF65-F5344CB8AC3E}">
        <p14:creationId xmlns:p14="http://schemas.microsoft.com/office/powerpoint/2010/main" val="107363317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3391C6-C12D-4B02-AF6E-C3C4ACDE13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219B3F-4F66-4FA5-B7B0-6D6FAAB74F9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70EE904-860C-41E9-A213-1D701A74D3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Category indicators</a:t>
            </a:r>
          </a:p>
        </p:txBody>
      </p:sp>
      <p:sp>
        <p:nvSpPr>
          <p:cNvPr id="4" name="">
            <a:extLst xmlns:a="http://schemas.openxmlformats.org/drawingml/2006/main">
              <a:ext uri="{FF2B5EF4-FFF2-40B4-BE49-F238E27FC236}">
                <a16:creationId xmlns:a16="http://schemas.microsoft.com/office/drawing/2014/main" id="{899B84ED-266D-4351-B61D-DC2063CC6FE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69112C-1F4B-4351-9EF6-AE8F65FB416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5AFBB4-F4ED-4FEC-BD5A-50A68FC7877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get_dummies creates one indicator column per category. Each indicator is 1 for a matching row and 0 otherwise.</a:t>
            </a:r>
          </a:p>
        </p:txBody>
      </p:sp>
      <p:sp>
        <p:nvSpPr>
          <p:cNvPr id="7" name="">
            <a:extLst xmlns:a="http://schemas.openxmlformats.org/drawingml/2006/main">
              <a:ext uri="{FF2B5EF4-FFF2-40B4-BE49-F238E27FC236}">
                <a16:creationId xmlns:a16="http://schemas.microsoft.com/office/drawing/2014/main" id="{F69D6D81-E581-4CB5-90CF-EA75165F94E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Here we can demonstrate indicators using the predicted class labels already present in the CSV.</a:t>
            </a:r>
          </a:p>
        </p:txBody>
      </p:sp>
      <p:sp>
        <p:nvSpPr>
          <p:cNvPr id="8" name="">
            <a:extLst xmlns:a="http://schemas.openxmlformats.org/drawingml/2006/main">
              <a:ext uri="{FF2B5EF4-FFF2-40B4-BE49-F238E27FC236}">
                <a16:creationId xmlns:a16="http://schemas.microsoft.com/office/drawing/2014/main" id="{28C1B12E-1C36-4366-9846-CE5EFE9EDA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32</a:t>
            </a:r>
          </a:p>
        </p:txBody>
      </p:sp>
    </p:spTree>
    <p:extLst>
      <p:ext uri="{BB962C8B-B14F-4D97-AF65-F5344CB8AC3E}">
        <p14:creationId xmlns:p14="http://schemas.microsoft.com/office/powerpoint/2010/main" val="5353972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FA935D-5F1C-4960-BA1B-ACD12EE6A13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7EB2C1-0DC8-476B-ABC5-8D95905B01E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BED904F-E994-4F08-9A46-652FC37860A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4C443A67-A080-48DB-BEDF-9016FCAC7E1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6665EA4-0A6F-494D-87BA-ECDAD6C3F6C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equipment_data["target"].mean(),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C4B04B05-DF6B-4D3E-99CD-3D3FDE4E2B8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0537662-0433-48A1-A0D4-5BD2DAC3C84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Category indicator columns: pd.get_dummies(column, prefix="class", dtype=int) creates a 0/1 column per category. prefix names the columns, such as class_0 and class_1. dtype=int displays integers.</a:t>
            </a:r>
          </a:p>
        </p:txBody>
      </p:sp>
      <p:sp>
        <p:nvSpPr>
          <p:cNvPr id="8" name="">
            <a:extLst xmlns:a="http://schemas.openxmlformats.org/drawingml/2006/main">
              <a:ext uri="{FF2B5EF4-FFF2-40B4-BE49-F238E27FC236}">
                <a16:creationId xmlns:a16="http://schemas.microsoft.com/office/drawing/2014/main" id="{F7349A18-BEFD-425E-AE88-877A2ED9232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F85400A-42CE-4961-9BF9-78B34BDDFDE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Returning plain values: series.tolist() or array.tolist() returns a Python list of values, without pandas row labels. Preserve their order when pairing actual values and validation_predictions.</a:t>
            </a:r>
          </a:p>
        </p:txBody>
      </p:sp>
      <p:sp>
        <p:nvSpPr>
          <p:cNvPr id="10" name="">
            <a:extLst xmlns:a="http://schemas.openxmlformats.org/drawingml/2006/main">
              <a:ext uri="{FF2B5EF4-FFF2-40B4-BE49-F238E27FC236}">
                <a16:creationId xmlns:a16="http://schemas.microsoft.com/office/drawing/2014/main" id="{F3F28C7C-2881-4ADB-9EC1-47F8F19D132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33</a:t>
            </a:r>
          </a:p>
        </p:txBody>
      </p:sp>
    </p:spTree>
    <p:extLst>
      <p:ext uri="{BB962C8B-B14F-4D97-AF65-F5344CB8AC3E}">
        <p14:creationId xmlns:p14="http://schemas.microsoft.com/office/powerpoint/2010/main" val="64775198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DE58BA-AEB6-4839-8221-EE96E831CEA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EBB418-600A-48AB-BA21-F886915B7E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5977C6B-62B3-48B6-A660-B32CDFBF189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Indicators from the supplied class labels</a:t>
            </a:r>
          </a:p>
        </p:txBody>
      </p:sp>
      <p:sp>
        <p:nvSpPr>
          <p:cNvPr id="4" name="">
            <a:extLst xmlns:a="http://schemas.openxmlformats.org/drawingml/2006/main">
              <a:ext uri="{FF2B5EF4-FFF2-40B4-BE49-F238E27FC236}">
                <a16:creationId xmlns:a16="http://schemas.microsoft.com/office/drawing/2014/main" id="{696AC5BC-4EB6-48CB-A6C7-4E110087298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810168-C58B-446A-9255-4A75B6ECC63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class_indicator_columns = pd.get_dummies(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raw_data["predicted"], prefix="class", dtype=int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print(class_indicator_columns.head())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actual_values = raw_data["actual"].tolist()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predicted_values = raw_data["predicted"].tolist()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print(len(actual_values), len(predicted_values))</a:t>
            </a:r>
          </a:p>
        </p:txBody>
      </p:sp>
      <p:sp>
        <p:nvSpPr>
          <p:cNvPr id="6" name="">
            <a:extLst xmlns:a="http://schemas.openxmlformats.org/drawingml/2006/main">
              <a:ext uri="{FF2B5EF4-FFF2-40B4-BE49-F238E27FC236}">
                <a16:creationId xmlns:a16="http://schemas.microsoft.com/office/drawing/2014/main" id="{EE18A6B2-F7A1-41F1-8C5C-4E3C72BCA20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class_indicator_columns: one integer 0/1 column for each predicted class.</a:t>
            </a:r>
          </a:p>
        </p:txBody>
      </p:sp>
      <p:sp>
        <p:nvSpPr>
          <p:cNvPr id="7" name="">
            <a:extLst xmlns:a="http://schemas.openxmlformats.org/drawingml/2006/main">
              <a:ext uri="{FF2B5EF4-FFF2-40B4-BE49-F238E27FC236}">
                <a16:creationId xmlns:a16="http://schemas.microsoft.com/office/drawing/2014/main" id="{44671331-87B5-48F1-B6AE-8041A9E73E0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EEF4E330-B4D5-4914-9CB9-7EFDA67898F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34</a:t>
            </a:r>
          </a:p>
        </p:txBody>
      </p:sp>
    </p:spTree>
    <p:extLst>
      <p:ext uri="{BB962C8B-B14F-4D97-AF65-F5344CB8AC3E}">
        <p14:creationId xmlns:p14="http://schemas.microsoft.com/office/powerpoint/2010/main" val="30129341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1E0526-2D1B-4BBC-9216-68A6299BC51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72C119-F9D4-46A5-933D-0F058DCA5B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3124A19-A1C0-416B-80A8-F7B0E1679AD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F0915FA4-A398-4C01-82D9-83F9E4D932D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0B72623-8195-44D8-BDC4-BCA051E27E9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classification_case.csv.</a:t>
            </a:r>
          </a:p>
        </p:txBody>
      </p:sp>
      <p:sp>
        <p:nvSpPr>
          <p:cNvPr id="6" name="">
            <a:extLst xmlns:a="http://schemas.openxmlformats.org/drawingml/2006/main">
              <a:ext uri="{FF2B5EF4-FFF2-40B4-BE49-F238E27FC236}">
                <a16:creationId xmlns:a16="http://schemas.microsoft.com/office/drawing/2014/main" id="{7B0FA8E0-E8AD-4131-9331-6F4C7B577845}"/>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486742E-3C24-4168-92AB-962B37E7EEE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Positive means a synthetic warning condition.</a:t>
            </a:r>
          </a:p>
        </p:txBody>
      </p:sp>
      <p:sp>
        <p:nvSpPr>
          <p:cNvPr id="8" name="">
            <a:extLst xmlns:a="http://schemas.openxmlformats.org/drawingml/2006/main">
              <a:ext uri="{FF2B5EF4-FFF2-40B4-BE49-F238E27FC236}">
                <a16:creationId xmlns:a16="http://schemas.microsoft.com/office/drawing/2014/main" id="{D9AE823A-7D09-49F4-9E34-8AEFD41E2172}"/>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9319572-57D7-4FF0-9DA7-FBCD4FB762D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Compute the confusion matrix, precision, recall and total_error_cost.</a:t>
            </a:r>
          </a:p>
        </p:txBody>
      </p:sp>
      <p:sp>
        <p:nvSpPr>
          <p:cNvPr id="10" name="">
            <a:extLst xmlns:a="http://schemas.openxmlformats.org/drawingml/2006/main">
              <a:ext uri="{FF2B5EF4-FFF2-40B4-BE49-F238E27FC236}">
                <a16:creationId xmlns:a16="http://schemas.microsoft.com/office/drawing/2014/main" id="{2038D7DE-E672-4CE8-8D52-217F7F843C5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3893B7D-49FB-4CD2-80D0-25775E7E114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5:1 missed-warning/false-alarm cost assumption and why accuracy alone is insufficient.</a:t>
            </a:r>
          </a:p>
        </p:txBody>
      </p:sp>
      <p:sp>
        <p:nvSpPr>
          <p:cNvPr id="12" name="">
            <a:extLst xmlns:a="http://schemas.openxmlformats.org/drawingml/2006/main">
              <a:ext uri="{FF2B5EF4-FFF2-40B4-BE49-F238E27FC236}">
                <a16:creationId xmlns:a16="http://schemas.microsoft.com/office/drawing/2014/main" id="{961A68E1-62B6-4E99-AA4C-1E4C96BB0D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35</a:t>
            </a:r>
          </a:p>
        </p:txBody>
      </p:sp>
    </p:spTree>
    <p:extLst>
      <p:ext uri="{BB962C8B-B14F-4D97-AF65-F5344CB8AC3E}">
        <p14:creationId xmlns:p14="http://schemas.microsoft.com/office/powerpoint/2010/main" val="193214707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C3174E-A3BA-411E-8644-003C9DAA5E2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C615D9-BCA3-495F-8D1A-8AE1B0FA6BE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A96818B-14BA-4863-B9DC-DFCF15E783C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 continued</a:t>
            </a:r>
          </a:p>
        </p:txBody>
      </p:sp>
      <p:sp>
        <p:nvSpPr>
          <p:cNvPr id="4" name="">
            <a:extLst xmlns:a="http://schemas.openxmlformats.org/drawingml/2006/main">
              <a:ext uri="{FF2B5EF4-FFF2-40B4-BE49-F238E27FC236}">
                <a16:creationId xmlns:a16="http://schemas.microsoft.com/office/drawing/2014/main" id="{E2FCE129-6D6C-4FD6-8475-C67C56164AF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BC18E5E-8690-4A73-95CE-5D2EF8B8EBFF}"/>
              </a:ext>
            </a:extLst>
          </p:cNvPr>
          <p:cNvSpPr>
            <a:spLocks xmlns:a="http://schemas.openxmlformats.org/drawingml/2006/main" noGrp="1"/>
          </p:cNvSpPr>
          <p:nvPr/>
        </p:nvSpPr>
        <p:spPr>
          <a:xfrm xmlns:a="http://schemas.openxmlformats.org/drawingml/2006/main">
            <a:off x="1381125" y="1781175"/>
            <a:ext cx="10096500" cy="420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costs are teaching assumptions, not approved operating limits.</a:t>
            </a:r>
          </a:p>
        </p:txBody>
      </p:sp>
      <p:sp>
        <p:nvSpPr>
          <p:cNvPr id="6" name="">
            <a:extLst xmlns:a="http://schemas.openxmlformats.org/drawingml/2006/main">
              <a:ext uri="{FF2B5EF4-FFF2-40B4-BE49-F238E27FC236}">
                <a16:creationId xmlns:a16="http://schemas.microsoft.com/office/drawing/2014/main" id="{D98EF2FB-8584-4ADC-85D1-660D42E422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36</a:t>
            </a:r>
          </a:p>
        </p:txBody>
      </p:sp>
    </p:spTree>
    <p:extLst>
      <p:ext uri="{BB962C8B-B14F-4D97-AF65-F5344CB8AC3E}">
        <p14:creationId xmlns:p14="http://schemas.microsoft.com/office/powerpoint/2010/main" val="183747970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A2AB43-9C0A-47A1-90A2-8262DBDA60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A465A5-EE8B-46BD-97F5-A6A05B041C9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5A22983D-CFE3-4C59-9702-C72C790E5A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classification_metrics(actual, predicted)</a:t>
            </a:r>
          </a:p>
        </p:txBody>
      </p:sp>
      <p:sp>
        <p:nvSpPr>
          <p:cNvPr id="4" name="">
            <a:extLst xmlns:a="http://schemas.openxmlformats.org/drawingml/2006/main">
              <a:ext uri="{FF2B5EF4-FFF2-40B4-BE49-F238E27FC236}">
                <a16:creationId xmlns:a16="http://schemas.microsoft.com/office/drawing/2014/main" id="{4C4827FB-2706-4757-97A7-55B0D3AF5C83}"/>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C1D23A-F475-4999-89AC-8EDBA0F48364}"/>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dictionary keys tp, tn, fp, fn, precision, recall and cost.</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tp = true positives; tn = true negatives; fp = false positives; fn = false negatives.</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cost = 5 * fn + fp. Return zero when a precision or recall denominator is zero.</a:t>
            </a:r>
          </a:p>
        </p:txBody>
      </p:sp>
      <p:sp>
        <p:nvSpPr>
          <p:cNvPr id="6" name="">
            <a:extLst xmlns:a="http://schemas.openxmlformats.org/drawingml/2006/main">
              <a:ext uri="{FF2B5EF4-FFF2-40B4-BE49-F238E27FC236}">
                <a16:creationId xmlns:a16="http://schemas.microsoft.com/office/drawing/2014/main" id="{62819E6E-9E95-4BAC-8065-33505CC3BD0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BB02C42-8E9D-48BA-A209-9C8337A62A33}"/>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32F0813B-12EC-4992-95E7-18F027CD40C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37</a:t>
            </a:r>
          </a:p>
        </p:txBody>
      </p:sp>
    </p:spTree>
    <p:extLst>
      <p:ext uri="{BB962C8B-B14F-4D97-AF65-F5344CB8AC3E}">
        <p14:creationId xmlns:p14="http://schemas.microsoft.com/office/powerpoint/2010/main" val="61325861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21DE33-4E7C-484B-8777-3A54824EA0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6CA2F0-9DB8-4771-B6A8-3791C9FF2B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7589BD1-6A3F-485D-A718-E3E87BD4260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70EB0056-60D9-4EC7-94FA-6E96C814649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EBE94EC-7F9C-46FD-8541-F5333CED7C8C}"/>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4D5477D6-1FA4-44D5-88B4-B307F2A7ABB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33F0AFE-D3DD-4E7E-BDD5-EB7500EECA5E}"/>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EB61A4F2-B044-4CFC-AAE9-EFDD488DF43D}"/>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AAE8E3C-2240-4266-B055-076C076121E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34E125F7-2587-49C4-A38E-104062829FB1}"/>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B5D3F0D-87A8-45E6-B782-A9F94D62FD25}"/>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586EDE28-7E24-4572-B5DA-FC08B22024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38</a:t>
            </a:r>
          </a:p>
        </p:txBody>
      </p:sp>
    </p:spTree>
    <p:extLst>
      <p:ext uri="{BB962C8B-B14F-4D97-AF65-F5344CB8AC3E}">
        <p14:creationId xmlns:p14="http://schemas.microsoft.com/office/powerpoint/2010/main" val="10114499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44CCF43-8E4E-493C-9D84-8B97AB02E4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77FB97-8B44-481E-B315-C501019CD25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4E0069CD-371E-4F0F-9C81-20A6ACF773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Classification and cost submission</a:t>
            </a:r>
          </a:p>
        </p:txBody>
      </p:sp>
      <p:sp>
        <p:nvSpPr>
          <p:cNvPr id="4" name="">
            <a:extLst xmlns:a="http://schemas.openxmlformats.org/drawingml/2006/main">
              <a:ext uri="{FF2B5EF4-FFF2-40B4-BE49-F238E27FC236}">
                <a16:creationId xmlns:a16="http://schemas.microsoft.com/office/drawing/2014/main" id="{283EA3FC-6789-4E5C-937A-AF9D36FAC4A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B0E6243-D217-411B-9120-70F42DC1D996}"/>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03 Nov 2026, 11:00 Kampala</a:t>
            </a:r>
          </a:p>
        </p:txBody>
      </p:sp>
      <p:sp>
        <p:nvSpPr>
          <p:cNvPr id="6" name="">
            <a:extLst xmlns:a="http://schemas.openxmlformats.org/drawingml/2006/main">
              <a:ext uri="{FF2B5EF4-FFF2-40B4-BE49-F238E27FC236}">
                <a16:creationId xmlns:a16="http://schemas.microsoft.com/office/drawing/2014/main" id="{6F2F7A04-7CBB-457C-AF74-E505CDE2E429}"/>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494B41C-BF2C-4407-9CD6-AAC8EDB59A61}"/>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10 Nov 2026, 11:00 Kampala</a:t>
            </a:r>
          </a:p>
        </p:txBody>
      </p:sp>
      <p:sp>
        <p:nvSpPr>
          <p:cNvPr id="8" name="">
            <a:extLst xmlns:a="http://schemas.openxmlformats.org/drawingml/2006/main">
              <a:ext uri="{FF2B5EF4-FFF2-40B4-BE49-F238E27FC236}">
                <a16:creationId xmlns:a16="http://schemas.microsoft.com/office/drawing/2014/main" id="{C0558657-0487-4EED-8D48-24C2786A9B56}"/>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8A95B4E-9E52-4071-96E3-F815F7DDC4FF}"/>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17B3D9F4-59B4-46A4-84E7-2492AE2056DE}"/>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3AC5394-4E20-48E7-88A6-150F51FD68B9}"/>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7E5A727D-5EFF-4FB3-915B-9DB7EB4CFD4F}"/>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2BEC05-8187-4D08-8ECB-DFF447BF20C0}"/>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cb8162fdb1ae40fc"/>
              </a:rPr>
              <a:t>Open W09 assignment form</a:t>
            </a:r>
          </a:p>
        </p:txBody>
      </p:sp>
      <p:sp>
        <p:nvSpPr>
          <p:cNvPr id="14" name="">
            <a:extLst xmlns:a="http://schemas.openxmlformats.org/drawingml/2006/main">
              <a:ext uri="{FF2B5EF4-FFF2-40B4-BE49-F238E27FC236}">
                <a16:creationId xmlns:a16="http://schemas.microsoft.com/office/drawing/2014/main" id="{62805B7A-2EC4-43C4-98F2-CA68CDA1B67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https://docs.google.com/forms/d/e/1FAIpQLSfTe7OkZ7tZEVzG-mup0-8liXg1jKy_KmsDWZiPK9EWMJ9InA/viewform</a:t>
            </a:r>
          </a:p>
        </p:txBody>
      </p:sp>
      <p:sp>
        <p:nvSpPr>
          <p:cNvPr id="15" name="">
            <a:extLst xmlns:a="http://schemas.openxmlformats.org/drawingml/2006/main">
              <a:ext uri="{FF2B5EF4-FFF2-40B4-BE49-F238E27FC236}">
                <a16:creationId xmlns:a16="http://schemas.microsoft.com/office/drawing/2014/main" id="{31BB6353-8FA5-460D-A3A0-4E3D78CE43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39</a:t>
            </a:r>
          </a:p>
        </p:txBody>
      </p:sp>
    </p:spTree>
    <p:extLst>
      <p:ext uri="{BB962C8B-B14F-4D97-AF65-F5344CB8AC3E}">
        <p14:creationId xmlns:p14="http://schemas.microsoft.com/office/powerpoint/2010/main" val="135949283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65616C4-F4A6-43E6-BABF-49BF4A8520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356A98-6DAC-46D5-834C-DF9751C804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C67DE613-0241-43E0-991A-8255C3E38E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9 quiz</a:t>
            </a:r>
          </a:p>
        </p:txBody>
      </p:sp>
      <p:sp>
        <p:nvSpPr>
          <p:cNvPr id="4" name="">
            <a:extLst xmlns:a="http://schemas.openxmlformats.org/drawingml/2006/main">
              <a:ext uri="{FF2B5EF4-FFF2-40B4-BE49-F238E27FC236}">
                <a16:creationId xmlns:a16="http://schemas.microsoft.com/office/drawing/2014/main" id="{E2C1B29E-C892-48CA-839F-22F8703B2B24}"/>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EE159BB-2BA1-4FC2-A306-7A8C2A3A60B3}"/>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6A6BE06E-392E-4A07-AF38-8E874B159DE5}"/>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5273B41-3EEB-4FB2-B52B-C8F17B5EF404}"/>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4CF52FE5-5237-4369-A9E8-DE2269151AC9}"/>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5C6C5E6-A3BE-45D6-8FC0-050102C10A2F}"/>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08D49A98-0F0E-4EF1-9DB1-B0DF5DFDBEA2}"/>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E01A9DE-D687-45DA-9641-36656F822387}"/>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CC41E466-9924-4E6F-A23A-5A30C8904475}"/>
              </a:ext>
            </a:extLst>
          </p:cNvPr>
          <p:cNvPicPr>
            <a:picLocks xmlns:a="http://schemas.openxmlformats.org/drawingml/2006/main" noChangeAspect="1"/>
          </p:cNvPicPr>
          <p:nvPr/>
        </p:nvPicPr>
        <p:blipFill>
          <a:blip xmlns:r="http://schemas.openxmlformats.org/officeDocument/2006/relationships" xmlns:a="http://schemas.openxmlformats.org/drawingml/2006/main" r:embed="R34ec9dd77c9443d8"/>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40BCA18-C3AF-4BE7-BB21-D5AE76A90CBE}"/>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49A57C3A-4B7C-4195-841C-ABFCBC9F89EB}"/>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5CC1DD9-96C1-46C7-BC55-4948680F9B01}"/>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973832fa884a4aaa"/>
              </a:rPr>
              <a:t>Open this week’s quiz</a:t>
            </a:r>
          </a:p>
        </p:txBody>
      </p:sp>
      <p:sp>
        <p:nvSpPr>
          <p:cNvPr id="16" name="">
            <a:extLst xmlns:a="http://schemas.openxmlformats.org/drawingml/2006/main">
              <a:ext uri="{FF2B5EF4-FFF2-40B4-BE49-F238E27FC236}">
                <a16:creationId xmlns:a16="http://schemas.microsoft.com/office/drawing/2014/main" id="{1F8987B4-A137-4EFB-A95F-31F48CC98AE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https://forms.gle/6XBHNCQXESUyQ6G86</a:t>
            </a:r>
          </a:p>
        </p:txBody>
      </p:sp>
      <p:sp>
        <p:nvSpPr>
          <p:cNvPr id="17" name="">
            <a:extLst xmlns:a="http://schemas.openxmlformats.org/drawingml/2006/main">
              <a:ext uri="{FF2B5EF4-FFF2-40B4-BE49-F238E27FC236}">
                <a16:creationId xmlns:a16="http://schemas.microsoft.com/office/drawing/2014/main" id="{440DCD02-7602-42A4-BEB9-B0B692C24D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40</a:t>
            </a:r>
          </a:p>
        </p:txBody>
      </p:sp>
    </p:spTree>
    <p:extLst>
      <p:ext uri="{BB962C8B-B14F-4D97-AF65-F5344CB8AC3E}">
        <p14:creationId xmlns:p14="http://schemas.microsoft.com/office/powerpoint/2010/main" val="190778552"/>
      </p:ext>
    </p:extLst>
  </p:cSld>
</p:sld>
</file>

<file path=ppt/slides/slide41.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3E21AC-7580-4D1C-8DBA-201539CAFB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CFCB4CB6-5BCB-4373-8A92-3A7B8B706B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325B55A4-11F4-4F68-8598-F4FE1C2DF7CD}"/>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730A43D7-A0DA-4C64-A0E0-6CCEFB55F759}"/>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each cleaning or modelling decision using your pandas table and its outputs.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submitting the required assignment notebook.</a:t>
            </a:r>
          </a:p>
        </p:txBody>
      </p:sp>
      <p:sp>
        <p:nvSpPr>
          <p:cNvPr id="5" name="">
            <a:extLst xmlns:a="http://schemas.openxmlformats.org/drawingml/2006/main">
              <a:ext uri="{FF2B5EF4-FFF2-40B4-BE49-F238E27FC236}">
                <a16:creationId xmlns:a16="http://schemas.microsoft.com/office/drawing/2014/main" id="{C0F25DAB-67B3-4340-BBE8-AABFACE0FBA9}"/>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F76B1140-2617-49BB-ABF4-3552E28EA2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9   41</a:t>
            </a:r>
          </a:p>
        </p:txBody>
      </p:sp>
    </p:spTree>
    <p:extLst>
      <p:ext uri="{BB962C8B-B14F-4D97-AF65-F5344CB8AC3E}">
        <p14:creationId xmlns:p14="http://schemas.microsoft.com/office/powerpoint/2010/main" val="202084563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18EBF9-488D-4E07-85A7-935643F968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00D527-21EB-4B0C-8468-8BE6D8CF6A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71B14DC6-AAD0-4F45-ACBB-2E2145E64F7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D91623A2-219F-43C2-A2AA-17C8700B6837}"/>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BCC4C68-F17D-45EF-9635-7EE1B5CECDFE}"/>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F8505440-593B-4DA5-A31D-6EC5C170A7A5}"/>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C6B830-9089-4953-984E-8A4B0017C4EF}"/>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The Confusion Matrix</a:t>
            </a:r>
          </a:p>
        </p:txBody>
      </p:sp>
      <p:sp>
        <p:nvSpPr>
          <p:cNvPr id="8" name="">
            <a:extLst xmlns:a="http://schemas.openxmlformats.org/drawingml/2006/main">
              <a:ext uri="{FF2B5EF4-FFF2-40B4-BE49-F238E27FC236}">
                <a16:creationId xmlns:a16="http://schemas.microsoft.com/office/drawing/2014/main" id="{E227120E-E7BE-48F7-8E9B-EF71DA0CF6E1}"/>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EB23629-DD16-44CD-B680-C768CBF47E52}"/>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03DB12D5-3773-4F1B-8AC2-41C422569858}"/>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BFCB2E03-2739-4D72-B436-70E7320E1570}"/>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Which observations are correctly or incorrectly classified?</a:t>
            </a:r>
          </a:p>
        </p:txBody>
      </p:sp>
      <p:sp>
        <p:nvSpPr>
          <p:cNvPr id="12" name="">
            <a:extLst xmlns:a="http://schemas.openxmlformats.org/drawingml/2006/main">
              <a:ext uri="{FF2B5EF4-FFF2-40B4-BE49-F238E27FC236}">
                <a16:creationId xmlns:a16="http://schemas.microsoft.com/office/drawing/2014/main" id="{5D790377-E63F-484F-BBCB-4E18AD63500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B35711-A612-4553-9052-1C948693B17D}"/>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bd3b0917c66f4441"/>
              </a:rPr>
              <a:t>Open explainer video</a:t>
            </a:r>
          </a:p>
        </p:txBody>
      </p:sp>
      <p:sp>
        <p:nvSpPr>
          <p:cNvPr id="14" name="">
            <a:extLst xmlns:a="http://schemas.openxmlformats.org/drawingml/2006/main">
              <a:ext uri="{FF2B5EF4-FFF2-40B4-BE49-F238E27FC236}">
                <a16:creationId xmlns:a16="http://schemas.microsoft.com/office/drawing/2014/main" id="{6C7E0E98-7897-46FB-8677-49AA6C0C1633}"/>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https://www.youtube.com/watch?v=Kdsp6soqA7o</a:t>
            </a:r>
          </a:p>
        </p:txBody>
      </p:sp>
      <p:sp>
        <p:nvSpPr>
          <p:cNvPr id="15" name="">
            <a:extLst xmlns:a="http://schemas.openxmlformats.org/drawingml/2006/main">
              <a:ext uri="{FF2B5EF4-FFF2-40B4-BE49-F238E27FC236}">
                <a16:creationId xmlns:a16="http://schemas.microsoft.com/office/drawing/2014/main" id="{D658C209-B7BD-43DA-B2BB-877024D99C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9   42</a:t>
            </a:r>
          </a:p>
        </p:txBody>
      </p:sp>
    </p:spTree>
    <p:extLst>
      <p:ext uri="{BB962C8B-B14F-4D97-AF65-F5344CB8AC3E}">
        <p14:creationId xmlns:p14="http://schemas.microsoft.com/office/powerpoint/2010/main" val="17820472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2026-10-20T17:59:59.2080000Z</dcterms:created>
  <dcterms:modified xsi:type="dcterms:W3CDTF">2026-10-20T17:59:59.2080000Z</dcterms:modified>
</coreProperties>
</file>