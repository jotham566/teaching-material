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ba0308396341a0" /><Relationship Type="http://schemas.openxmlformats.org/officeDocument/2006/relationships/extended-properties" Target="/docProps/app.xml" Id="R14c84c7bbb9b4f3d" /><Relationship Type="http://schemas.openxmlformats.org/officeDocument/2006/relationships/officeDocument" Target="/ppt/presentation.xml" Id="R268b514228924491" /></Relationships>
</file>

<file path=ppt/presentation.xml><?xml version="1.0" encoding="utf-8"?>
<p:presentation xmlns:p="http://schemas.openxmlformats.org/presentationml/2006/main">
  <p:sldMasterIdLst>
    <p:sldMasterId xmlns:r="http://schemas.openxmlformats.org/officeDocument/2006/relationships" id="2147483648" r:id="Rbaab751743a24cf3"/>
  </p:sldMasterIdLst>
  <p:notesMasterIdLst>
    <p:notesMasterId xmlns:r="http://schemas.openxmlformats.org/officeDocument/2006/relationships" r:id="R3968735280a34497"/>
  </p:notesMasterIdLst>
  <p:sldIdLst>
    <p:sldId xmlns:r="http://schemas.openxmlformats.org/officeDocument/2006/relationships" id="256" r:id="Ree03a0775768408b"/>
    <p:sldId xmlns:r="http://schemas.openxmlformats.org/officeDocument/2006/relationships" id="257" r:id="R49ebc75630f24658"/>
    <p:sldId xmlns:r="http://schemas.openxmlformats.org/officeDocument/2006/relationships" id="258" r:id="R2b97046bfe634ac7"/>
    <p:sldId xmlns:r="http://schemas.openxmlformats.org/officeDocument/2006/relationships" id="259" r:id="R54d13751e90c4802"/>
    <p:sldId xmlns:r="http://schemas.openxmlformats.org/officeDocument/2006/relationships" id="260" r:id="R49e3e6171c4f444c"/>
    <p:sldId xmlns:r="http://schemas.openxmlformats.org/officeDocument/2006/relationships" id="261" r:id="Rc1d19083f1644006"/>
    <p:sldId xmlns:r="http://schemas.openxmlformats.org/officeDocument/2006/relationships" id="262" r:id="R077606ba0b5e4762"/>
    <p:sldId xmlns:r="http://schemas.openxmlformats.org/officeDocument/2006/relationships" id="263" r:id="R789e8f647ad24131"/>
    <p:sldId xmlns:r="http://schemas.openxmlformats.org/officeDocument/2006/relationships" id="264" r:id="Race067eed3374ef9"/>
    <p:sldId xmlns:r="http://schemas.openxmlformats.org/officeDocument/2006/relationships" id="265" r:id="Rf59c03b29613477e"/>
    <p:sldId xmlns:r="http://schemas.openxmlformats.org/officeDocument/2006/relationships" id="266" r:id="R76ffc8bc692b40e3"/>
    <p:sldId xmlns:r="http://schemas.openxmlformats.org/officeDocument/2006/relationships" id="267" r:id="R75fcc4998e12481f"/>
    <p:sldId xmlns:r="http://schemas.openxmlformats.org/officeDocument/2006/relationships" id="268" r:id="Ra954340c7d084f1d"/>
    <p:sldId xmlns:r="http://schemas.openxmlformats.org/officeDocument/2006/relationships" id="269" r:id="R25cac5f0490d4ea2"/>
    <p:sldId xmlns:r="http://schemas.openxmlformats.org/officeDocument/2006/relationships" id="270" r:id="Raccf6f6cfb89441c"/>
    <p:sldId xmlns:r="http://schemas.openxmlformats.org/officeDocument/2006/relationships" id="271" r:id="R162e5dbe1ff44d24"/>
    <p:sldId xmlns:r="http://schemas.openxmlformats.org/officeDocument/2006/relationships" id="272" r:id="Rabc2880cdba7469e"/>
    <p:sldId xmlns:r="http://schemas.openxmlformats.org/officeDocument/2006/relationships" id="273" r:id="R01dbf2f57c824bde"/>
    <p:sldId xmlns:r="http://schemas.openxmlformats.org/officeDocument/2006/relationships" id="274" r:id="R836ec42ec275462a"/>
    <p:sldId xmlns:r="http://schemas.openxmlformats.org/officeDocument/2006/relationships" id="275" r:id="R4619a812c152462c"/>
    <p:sldId xmlns:r="http://schemas.openxmlformats.org/officeDocument/2006/relationships" id="276" r:id="Rb30f82b4a5ab4ac0"/>
    <p:sldId xmlns:r="http://schemas.openxmlformats.org/officeDocument/2006/relationships" id="277" r:id="Rc87a904839ce4d81"/>
    <p:sldId xmlns:r="http://schemas.openxmlformats.org/officeDocument/2006/relationships" id="278" r:id="R1d806e86bb4a490b"/>
    <p:sldId xmlns:r="http://schemas.openxmlformats.org/officeDocument/2006/relationships" id="279" r:id="Rc9b5d409ef00428f"/>
    <p:sldId xmlns:r="http://schemas.openxmlformats.org/officeDocument/2006/relationships" id="280" r:id="R1ec93e5bfcd3435d"/>
    <p:sldId xmlns:r="http://schemas.openxmlformats.org/officeDocument/2006/relationships" id="281" r:id="R14668b2702be41cb"/>
    <p:sldId xmlns:r="http://schemas.openxmlformats.org/officeDocument/2006/relationships" id="282" r:id="R45f91c40f9c74fcb"/>
    <p:sldId xmlns:r="http://schemas.openxmlformats.org/officeDocument/2006/relationships" id="283" r:id="Ref57b887547c4896"/>
    <p:sldId xmlns:r="http://schemas.openxmlformats.org/officeDocument/2006/relationships" id="284" r:id="Radef57a7e8ba4c0d"/>
    <p:sldId xmlns:r="http://schemas.openxmlformats.org/officeDocument/2006/relationships" id="285" r:id="Rbce1727351454b52"/>
    <p:sldId xmlns:r="http://schemas.openxmlformats.org/officeDocument/2006/relationships" id="286" r:id="R8c95ae8f2acf4e9e"/>
    <p:sldId xmlns:r="http://schemas.openxmlformats.org/officeDocument/2006/relationships" id="287" r:id="Rda8a11916b884268"/>
    <p:sldId xmlns:r="http://schemas.openxmlformats.org/officeDocument/2006/relationships" id="288" r:id="R178d6408ad3146f7"/>
    <p:sldId xmlns:r="http://schemas.openxmlformats.org/officeDocument/2006/relationships" id="289" r:id="Ra9860a25e70b4a68"/>
    <p:sldId xmlns:r="http://schemas.openxmlformats.org/officeDocument/2006/relationships" id="290" r:id="R9cef482d78df4106"/>
    <p:sldId xmlns:r="http://schemas.openxmlformats.org/officeDocument/2006/relationships" id="291" r:id="Rb0e0733569b9494a"/>
    <p:sldId xmlns:r="http://schemas.openxmlformats.org/officeDocument/2006/relationships" id="292" r:id="Rf46052b6969b4809"/>
    <p:sldId xmlns:r="http://schemas.openxmlformats.org/officeDocument/2006/relationships" id="293" r:id="R9d227e35f7c84a13"/>
    <p:sldId xmlns:r="http://schemas.openxmlformats.org/officeDocument/2006/relationships" id="294" r:id="R82a71fc7c9c84575"/>
    <p:sldId xmlns:r="http://schemas.openxmlformats.org/officeDocument/2006/relationships" id="295" r:id="R5bf932b696dc4c69"/>
    <p:sldId xmlns:r="http://schemas.openxmlformats.org/officeDocument/2006/relationships" id="296" r:id="R5315d8c12266431c"/>
    <p:sldId xmlns:r="http://schemas.openxmlformats.org/officeDocument/2006/relationships" id="297" r:id="R396a7039e2ae41af"/>
    <p:sldId xmlns:r="http://schemas.openxmlformats.org/officeDocument/2006/relationships" id="298" r:id="Rc935fe27b3704f72"/>
    <p:sldId xmlns:r="http://schemas.openxmlformats.org/officeDocument/2006/relationships" id="299" r:id="Rbae7ef0ae5304f2d"/>
    <p:sldId xmlns:r="http://schemas.openxmlformats.org/officeDocument/2006/relationships" id="300" r:id="R19d68d39d6714384"/>
    <p:sldId xmlns:r="http://schemas.openxmlformats.org/officeDocument/2006/relationships" id="301" r:id="Rfec88c160b704e9d"/>
    <p:sldId xmlns:r="http://schemas.openxmlformats.org/officeDocument/2006/relationships" id="302" r:id="Rdc25d699125a4d76"/>
    <p:sldId xmlns:r="http://schemas.openxmlformats.org/officeDocument/2006/relationships" id="303" r:id="R42cb7c4c52b2467b"/>
    <p:sldId xmlns:r="http://schemas.openxmlformats.org/officeDocument/2006/relationships" id="304" r:id="R3ee1260db9444dd7"/>
    <p:sldId xmlns:r="http://schemas.openxmlformats.org/officeDocument/2006/relationships" id="305" r:id="Re6f105dc99c24741"/>
    <p:sldId xmlns:r="http://schemas.openxmlformats.org/officeDocument/2006/relationships" id="306" r:id="R80c87bc52a7f41b9"/>
    <p:sldId xmlns:r="http://schemas.openxmlformats.org/officeDocument/2006/relationships" id="307" r:id="Rc8554f5f5c1e48f8"/>
    <p:sldId xmlns:r="http://schemas.openxmlformats.org/officeDocument/2006/relationships" id="308" r:id="R8bb4af3783e54fce"/>
    <p:sldId xmlns:r="http://schemas.openxmlformats.org/officeDocument/2006/relationships" id="309" r:id="R7cc5aa8793384fae"/>
    <p:sldId xmlns:r="http://schemas.openxmlformats.org/officeDocument/2006/relationships" id="310" r:id="R46c8423d47234c6d"/>
    <p:sldId xmlns:r="http://schemas.openxmlformats.org/officeDocument/2006/relationships" id="311" r:id="R6af225762c284d14"/>
    <p:sldId xmlns:r="http://schemas.openxmlformats.org/officeDocument/2006/relationships" id="312" r:id="Recdc3c7e896c47c1"/>
    <p:sldId xmlns:r="http://schemas.openxmlformats.org/officeDocument/2006/relationships" id="313" r:id="R852391ebab864526"/>
    <p:sldId xmlns:r="http://schemas.openxmlformats.org/officeDocument/2006/relationships" id="314" r:id="Ra17ad0dc2e054a59"/>
    <p:sldId xmlns:r="http://schemas.openxmlformats.org/officeDocument/2006/relationships" id="315" r:id="Rc4aca0cec7424851"/>
    <p:sldId xmlns:r="http://schemas.openxmlformats.org/officeDocument/2006/relationships" id="316" r:id="R1b3c44a67fbc4d60"/>
    <p:sldId xmlns:r="http://schemas.openxmlformats.org/officeDocument/2006/relationships" id="317" r:id="R601613c3cfb3467e"/>
    <p:sldId xmlns:r="http://schemas.openxmlformats.org/officeDocument/2006/relationships" id="318" r:id="R71202f5e2a734867"/>
    <p:sldId xmlns:r="http://schemas.openxmlformats.org/officeDocument/2006/relationships" id="319" r:id="R1e9ad4aef2a3458c"/>
    <p:sldId xmlns:r="http://schemas.openxmlformats.org/officeDocument/2006/relationships" id="320" r:id="Rd4617cd977ed4334"/>
    <p:sldId xmlns:r="http://schemas.openxmlformats.org/officeDocument/2006/relationships" id="321" r:id="Re57544c278644883"/>
    <p:sldId xmlns:r="http://schemas.openxmlformats.org/officeDocument/2006/relationships" id="322" r:id="R00e7c1eb78aa424f"/>
    <p:sldId xmlns:r="http://schemas.openxmlformats.org/officeDocument/2006/relationships" id="323" r:id="R5175d02b99b949ea"/>
    <p:sldId xmlns:r="http://schemas.openxmlformats.org/officeDocument/2006/relationships" id="324" r:id="R7c868ada2dbc4d38"/>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212ef72e45a48ef" /><Relationship Type="http://schemas.openxmlformats.org/officeDocument/2006/relationships/slideMaster" Target="/ppt/slideMasters/slideMaster1.xml" Id="Rbaab751743a24cf3" /><Relationship Type="http://schemas.openxmlformats.org/officeDocument/2006/relationships/notesMaster" Target="/ppt/notesMasters/notesMaster1.xml" Id="R3968735280a34497" /><Relationship Type="http://schemas.openxmlformats.org/officeDocument/2006/relationships/presProps" Target="/ppt/presProps.xml" Id="R8c54a62a5f0b40ba" /><Relationship Type="http://schemas.openxmlformats.org/officeDocument/2006/relationships/tableStyles" Target="/ppt/tableStyles.xml" Id="R720a3f4cb1e044a8" /><Relationship Type="http://schemas.openxmlformats.org/officeDocument/2006/relationships/slide" Target="/ppt/slides/slide1.xml" Id="Ree03a0775768408b" /><Relationship Type="http://schemas.openxmlformats.org/officeDocument/2006/relationships/slide" Target="/ppt/slides/slide2.xml" Id="R49ebc75630f24658" /><Relationship Type="http://schemas.openxmlformats.org/officeDocument/2006/relationships/slide" Target="/ppt/slides/slide3.xml" Id="R2b97046bfe634ac7" /><Relationship Type="http://schemas.openxmlformats.org/officeDocument/2006/relationships/slide" Target="/ppt/slides/slide4.xml" Id="R54d13751e90c4802" /><Relationship Type="http://schemas.openxmlformats.org/officeDocument/2006/relationships/slide" Target="/ppt/slides/slide5.xml" Id="R49e3e6171c4f444c" /><Relationship Type="http://schemas.openxmlformats.org/officeDocument/2006/relationships/slide" Target="/ppt/slides/slide6.xml" Id="Rc1d19083f1644006" /><Relationship Type="http://schemas.openxmlformats.org/officeDocument/2006/relationships/slide" Target="/ppt/slides/slide7.xml" Id="R077606ba0b5e4762" /><Relationship Type="http://schemas.openxmlformats.org/officeDocument/2006/relationships/slide" Target="/ppt/slides/slide8.xml" Id="R789e8f647ad24131" /><Relationship Type="http://schemas.openxmlformats.org/officeDocument/2006/relationships/slide" Target="/ppt/slides/slide9.xml" Id="Race067eed3374ef9" /><Relationship Type="http://schemas.openxmlformats.org/officeDocument/2006/relationships/slide" Target="/ppt/slides/slide10.xml" Id="Rf59c03b29613477e" /><Relationship Type="http://schemas.openxmlformats.org/officeDocument/2006/relationships/slide" Target="/ppt/slides/slide11.xml" Id="R76ffc8bc692b40e3" /><Relationship Type="http://schemas.openxmlformats.org/officeDocument/2006/relationships/slide" Target="/ppt/slides/slide12.xml" Id="R75fcc4998e12481f" /><Relationship Type="http://schemas.openxmlformats.org/officeDocument/2006/relationships/slide" Target="/ppt/slides/slide13.xml" Id="Ra954340c7d084f1d" /><Relationship Type="http://schemas.openxmlformats.org/officeDocument/2006/relationships/slide" Target="/ppt/slides/slide14.xml" Id="R25cac5f0490d4ea2" /><Relationship Type="http://schemas.openxmlformats.org/officeDocument/2006/relationships/slide" Target="/ppt/slides/slide15.xml" Id="Raccf6f6cfb89441c" /><Relationship Type="http://schemas.openxmlformats.org/officeDocument/2006/relationships/slide" Target="/ppt/slides/slide16.xml" Id="R162e5dbe1ff44d24" /><Relationship Type="http://schemas.openxmlformats.org/officeDocument/2006/relationships/slide" Target="/ppt/slides/slide17.xml" Id="Rabc2880cdba7469e" /><Relationship Type="http://schemas.openxmlformats.org/officeDocument/2006/relationships/slide" Target="/ppt/slides/slide18.xml" Id="R01dbf2f57c824bde" /><Relationship Type="http://schemas.openxmlformats.org/officeDocument/2006/relationships/slide" Target="/ppt/slides/slide19.xml" Id="R836ec42ec275462a" /><Relationship Type="http://schemas.openxmlformats.org/officeDocument/2006/relationships/slide" Target="/ppt/slides/slide20.xml" Id="R4619a812c152462c" /><Relationship Type="http://schemas.openxmlformats.org/officeDocument/2006/relationships/slide" Target="/ppt/slides/slide21.xml" Id="Rb30f82b4a5ab4ac0" /><Relationship Type="http://schemas.openxmlformats.org/officeDocument/2006/relationships/slide" Target="/ppt/slides/slide22.xml" Id="Rc87a904839ce4d81" /><Relationship Type="http://schemas.openxmlformats.org/officeDocument/2006/relationships/slide" Target="/ppt/slides/slide23.xml" Id="R1d806e86bb4a490b" /><Relationship Type="http://schemas.openxmlformats.org/officeDocument/2006/relationships/slide" Target="/ppt/slides/slide24.xml" Id="Rc9b5d409ef00428f" /><Relationship Type="http://schemas.openxmlformats.org/officeDocument/2006/relationships/slide" Target="/ppt/slides/slide25.xml" Id="R1ec93e5bfcd3435d" /><Relationship Type="http://schemas.openxmlformats.org/officeDocument/2006/relationships/slide" Target="/ppt/slides/slide26.xml" Id="R14668b2702be41cb" /><Relationship Type="http://schemas.openxmlformats.org/officeDocument/2006/relationships/slide" Target="/ppt/slides/slide27.xml" Id="R45f91c40f9c74fcb" /><Relationship Type="http://schemas.openxmlformats.org/officeDocument/2006/relationships/slide" Target="/ppt/slides/slide28.xml" Id="Ref57b887547c4896" /><Relationship Type="http://schemas.openxmlformats.org/officeDocument/2006/relationships/slide" Target="/ppt/slides/slide29.xml" Id="Radef57a7e8ba4c0d" /><Relationship Type="http://schemas.openxmlformats.org/officeDocument/2006/relationships/slide" Target="/ppt/slides/slide30.xml" Id="Rbce1727351454b52" /><Relationship Type="http://schemas.openxmlformats.org/officeDocument/2006/relationships/slide" Target="/ppt/slides/slide31.xml" Id="R8c95ae8f2acf4e9e" /><Relationship Type="http://schemas.openxmlformats.org/officeDocument/2006/relationships/slide" Target="/ppt/slides/slide32.xml" Id="Rda8a11916b884268" /><Relationship Type="http://schemas.openxmlformats.org/officeDocument/2006/relationships/slide" Target="/ppt/slides/slide33.xml" Id="R178d6408ad3146f7" /><Relationship Type="http://schemas.openxmlformats.org/officeDocument/2006/relationships/slide" Target="/ppt/slides/slide34.xml" Id="Ra9860a25e70b4a68" /><Relationship Type="http://schemas.openxmlformats.org/officeDocument/2006/relationships/slide" Target="/ppt/slides/slide35.xml" Id="R9cef482d78df4106" /><Relationship Type="http://schemas.openxmlformats.org/officeDocument/2006/relationships/slide" Target="/ppt/slides/slide36.xml" Id="Rb0e0733569b9494a" /><Relationship Type="http://schemas.openxmlformats.org/officeDocument/2006/relationships/slide" Target="/ppt/slides/slide37.xml" Id="Rf46052b6969b4809" /><Relationship Type="http://schemas.openxmlformats.org/officeDocument/2006/relationships/slide" Target="/ppt/slides/slide38.xml" Id="R9d227e35f7c84a13" /><Relationship Type="http://schemas.openxmlformats.org/officeDocument/2006/relationships/slide" Target="/ppt/slides/slide39.xml" Id="R82a71fc7c9c84575" /><Relationship Type="http://schemas.openxmlformats.org/officeDocument/2006/relationships/slide" Target="/ppt/slides/slide40.xml" Id="R5bf932b696dc4c69" /><Relationship Type="http://schemas.openxmlformats.org/officeDocument/2006/relationships/slide" Target="/ppt/slides/slide41.xml" Id="R5315d8c12266431c" /><Relationship Type="http://schemas.openxmlformats.org/officeDocument/2006/relationships/slide" Target="/ppt/slides/slide42.xml" Id="R396a7039e2ae41af" /><Relationship Type="http://schemas.openxmlformats.org/officeDocument/2006/relationships/slide" Target="/ppt/slides/slide43.xml" Id="Rc935fe27b3704f72" /><Relationship Type="http://schemas.openxmlformats.org/officeDocument/2006/relationships/slide" Target="/ppt/slides/slide44.xml" Id="Rbae7ef0ae5304f2d" /><Relationship Type="http://schemas.openxmlformats.org/officeDocument/2006/relationships/slide" Target="/ppt/slides/slide45.xml" Id="R19d68d39d6714384" /><Relationship Type="http://schemas.openxmlformats.org/officeDocument/2006/relationships/slide" Target="/ppt/slides/slide46.xml" Id="Rfec88c160b704e9d" /><Relationship Type="http://schemas.openxmlformats.org/officeDocument/2006/relationships/slide" Target="/ppt/slides/slide47.xml" Id="Rdc25d699125a4d76" /><Relationship Type="http://schemas.openxmlformats.org/officeDocument/2006/relationships/slide" Target="/ppt/slides/slide48.xml" Id="R42cb7c4c52b2467b" /><Relationship Type="http://schemas.openxmlformats.org/officeDocument/2006/relationships/slide" Target="/ppt/slides/slide49.xml" Id="R3ee1260db9444dd7" /><Relationship Type="http://schemas.openxmlformats.org/officeDocument/2006/relationships/slide" Target="/ppt/slides/slide50.xml" Id="Re6f105dc99c24741" /><Relationship Type="http://schemas.openxmlformats.org/officeDocument/2006/relationships/slide" Target="/ppt/slides/slide51.xml" Id="R80c87bc52a7f41b9" /><Relationship Type="http://schemas.openxmlformats.org/officeDocument/2006/relationships/slide" Target="/ppt/slides/slide52.xml" Id="Rc8554f5f5c1e48f8" /><Relationship Type="http://schemas.openxmlformats.org/officeDocument/2006/relationships/slide" Target="/ppt/slides/slide53.xml" Id="R8bb4af3783e54fce" /><Relationship Type="http://schemas.openxmlformats.org/officeDocument/2006/relationships/slide" Target="/ppt/slides/slide54.xml" Id="R7cc5aa8793384fae" /><Relationship Type="http://schemas.openxmlformats.org/officeDocument/2006/relationships/slide" Target="/ppt/slides/slide55.xml" Id="R46c8423d47234c6d" /><Relationship Type="http://schemas.openxmlformats.org/officeDocument/2006/relationships/slide" Target="/ppt/slides/slide56.xml" Id="R6af225762c284d14" /><Relationship Type="http://schemas.openxmlformats.org/officeDocument/2006/relationships/slide" Target="/ppt/slides/slide57.xml" Id="Recdc3c7e896c47c1" /><Relationship Type="http://schemas.openxmlformats.org/officeDocument/2006/relationships/slide" Target="/ppt/slides/slide58.xml" Id="R852391ebab864526" /><Relationship Type="http://schemas.openxmlformats.org/officeDocument/2006/relationships/slide" Target="/ppt/slides/slide59.xml" Id="Ra17ad0dc2e054a59" /><Relationship Type="http://schemas.openxmlformats.org/officeDocument/2006/relationships/slide" Target="/ppt/slides/slide60.xml" Id="Rc4aca0cec7424851" /><Relationship Type="http://schemas.openxmlformats.org/officeDocument/2006/relationships/slide" Target="/ppt/slides/slide61.xml" Id="R1b3c44a67fbc4d60" /><Relationship Type="http://schemas.openxmlformats.org/officeDocument/2006/relationships/slide" Target="/ppt/slides/slide62.xml" Id="R601613c3cfb3467e" /><Relationship Type="http://schemas.openxmlformats.org/officeDocument/2006/relationships/slide" Target="/ppt/slides/slide63.xml" Id="R71202f5e2a734867" /><Relationship Type="http://schemas.openxmlformats.org/officeDocument/2006/relationships/slide" Target="/ppt/slides/slide64.xml" Id="R1e9ad4aef2a3458c" /><Relationship Type="http://schemas.openxmlformats.org/officeDocument/2006/relationships/slide" Target="/ppt/slides/slide65.xml" Id="Rd4617cd977ed4334" /><Relationship Type="http://schemas.openxmlformats.org/officeDocument/2006/relationships/slide" Target="/ppt/slides/slide66.xml" Id="Re57544c278644883" /><Relationship Type="http://schemas.openxmlformats.org/officeDocument/2006/relationships/slide" Target="/ppt/slides/slide67.xml" Id="R00e7c1eb78aa424f" /><Relationship Type="http://schemas.openxmlformats.org/officeDocument/2006/relationships/slide" Target="/ppt/slides/slide68.xml" Id="R5175d02b99b949ea" /><Relationship Type="http://schemas.openxmlformats.org/officeDocument/2006/relationships/slide" Target="/ppt/slides/slide69.xml" Id="R7c868ada2dbc4d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1275c4e82242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8e9ad5235b43f5" /><Relationship Type="http://schemas.openxmlformats.org/officeDocument/2006/relationships/notesMaster" Target="/ppt/notesMasters/notesMaster1.xml" Id="R568e938958ee4d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8a4a54de7e4bd0" /><Relationship Type="http://schemas.openxmlformats.org/officeDocument/2006/relationships/notesMaster" Target="/ppt/notesMasters/notesMaster1.xml" Id="R6cc165da8b2348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6c9f697fd14ce3" /><Relationship Type="http://schemas.openxmlformats.org/officeDocument/2006/relationships/notesMaster" Target="/ppt/notesMasters/notesMaster1.xml" Id="Rfdaf8f3a65b94c5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7d2731ccad471b" /><Relationship Type="http://schemas.openxmlformats.org/officeDocument/2006/relationships/notesMaster" Target="/ppt/notesMasters/notesMaster1.xml" Id="R247c4a076ba24b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fc3c6e5ec5453b" /><Relationship Type="http://schemas.openxmlformats.org/officeDocument/2006/relationships/notesMaster" Target="/ppt/notesMasters/notesMaster1.xml" Id="Rab11697135b14f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5fa51afedd4813" /><Relationship Type="http://schemas.openxmlformats.org/officeDocument/2006/relationships/notesMaster" Target="/ppt/notesMasters/notesMaster1.xml" Id="R7cac3b7701074a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5c98c863404055" /><Relationship Type="http://schemas.openxmlformats.org/officeDocument/2006/relationships/notesMaster" Target="/ppt/notesMasters/notesMaster1.xml" Id="R8675f4490f614b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4a77ca673149f9" /><Relationship Type="http://schemas.openxmlformats.org/officeDocument/2006/relationships/notesMaster" Target="/ppt/notesMasters/notesMaster1.xml" Id="R572aa176168246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902491cb9ad43e2" /><Relationship Type="http://schemas.openxmlformats.org/officeDocument/2006/relationships/notesMaster" Target="/ppt/notesMasters/notesMaster1.xml" Id="Rda952eccac2543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d4b25183bd34165" /><Relationship Type="http://schemas.openxmlformats.org/officeDocument/2006/relationships/notesMaster" Target="/ppt/notesMasters/notesMaster1.xml" Id="Rdfe6e5e2595547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f4132d3df7a4e02" /><Relationship Type="http://schemas.openxmlformats.org/officeDocument/2006/relationships/notesMaster" Target="/ppt/notesMasters/notesMaster1.xml" Id="Refdf0685969f40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ad542ad39d4ae8" /><Relationship Type="http://schemas.openxmlformats.org/officeDocument/2006/relationships/notesMaster" Target="/ppt/notesMasters/notesMaster1.xml" Id="R96ba6cab5f9f43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700e94852f94a3d" /><Relationship Type="http://schemas.openxmlformats.org/officeDocument/2006/relationships/notesMaster" Target="/ppt/notesMasters/notesMaster1.xml" Id="R05216f03bfa149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86078d5c064576" /><Relationship Type="http://schemas.openxmlformats.org/officeDocument/2006/relationships/notesMaster" Target="/ppt/notesMasters/notesMaster1.xml" Id="R45902620b5f048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d9e84c7d8c4f50" /><Relationship Type="http://schemas.openxmlformats.org/officeDocument/2006/relationships/notesMaster" Target="/ppt/notesMasters/notesMaster1.xml" Id="Re635d398ff74417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da65c693eb54971" /><Relationship Type="http://schemas.openxmlformats.org/officeDocument/2006/relationships/notesMaster" Target="/ppt/notesMasters/notesMaster1.xml" Id="R22e57798f043423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0b18876b9de453f" /><Relationship Type="http://schemas.openxmlformats.org/officeDocument/2006/relationships/notesMaster" Target="/ppt/notesMasters/notesMaster1.xml" Id="R6f88dc5d7ccf47c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aa3d1f6fe35482f" /><Relationship Type="http://schemas.openxmlformats.org/officeDocument/2006/relationships/notesMaster" Target="/ppt/notesMasters/notesMaster1.xml" Id="R62cd41161c214f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81d07174d04307" /><Relationship Type="http://schemas.openxmlformats.org/officeDocument/2006/relationships/notesMaster" Target="/ppt/notesMasters/notesMaster1.xml" Id="Rc405f32d21764b5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9aa1d01b9634fba" /><Relationship Type="http://schemas.openxmlformats.org/officeDocument/2006/relationships/notesMaster" Target="/ppt/notesMasters/notesMaster1.xml" Id="R2c3dbc9a7f1547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5ab0238d1884d26" /><Relationship Type="http://schemas.openxmlformats.org/officeDocument/2006/relationships/notesMaster" Target="/ppt/notesMasters/notesMaster1.xml" Id="Rd13d9f889ac740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433d2c1fe684e85" /><Relationship Type="http://schemas.openxmlformats.org/officeDocument/2006/relationships/notesMaster" Target="/ppt/notesMasters/notesMaster1.xml" Id="Rf222dc49c62448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8de2beb630d4500" /><Relationship Type="http://schemas.openxmlformats.org/officeDocument/2006/relationships/notesMaster" Target="/ppt/notesMasters/notesMaster1.xml" Id="R795248b9c76f4b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3f6ac063ece4aed" /><Relationship Type="http://schemas.openxmlformats.org/officeDocument/2006/relationships/notesMaster" Target="/ppt/notesMasters/notesMaster1.xml" Id="R4d75999804c147b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0273f3f40ff4f37" /><Relationship Type="http://schemas.openxmlformats.org/officeDocument/2006/relationships/notesMaster" Target="/ppt/notesMasters/notesMaster1.xml" Id="Rc4a2814e2bc34f3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67c7f037d442b1" /><Relationship Type="http://schemas.openxmlformats.org/officeDocument/2006/relationships/notesMaster" Target="/ppt/notesMasters/notesMaster1.xml" Id="R9565dc0ce35d43e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c3dcd1274d44bc1" /><Relationship Type="http://schemas.openxmlformats.org/officeDocument/2006/relationships/notesMaster" Target="/ppt/notesMasters/notesMaster1.xml" Id="R4ba64066a0f1409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7b186892da54cf6" /><Relationship Type="http://schemas.openxmlformats.org/officeDocument/2006/relationships/notesMaster" Target="/ppt/notesMasters/notesMaster1.xml" Id="R7e79db28797740c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104d28739264840" /><Relationship Type="http://schemas.openxmlformats.org/officeDocument/2006/relationships/notesMaster" Target="/ppt/notesMasters/notesMaster1.xml" Id="Rdc6ce605483f445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663158a62b24cf7" /><Relationship Type="http://schemas.openxmlformats.org/officeDocument/2006/relationships/notesMaster" Target="/ppt/notesMasters/notesMaster1.xml" Id="R4a85c587883b4d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e6e0dc806524ede" /><Relationship Type="http://schemas.openxmlformats.org/officeDocument/2006/relationships/notesMaster" Target="/ppt/notesMasters/notesMaster1.xml" Id="R91ba35dcbf644c4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3ba3c360a5048df" /><Relationship Type="http://schemas.openxmlformats.org/officeDocument/2006/relationships/notesMaster" Target="/ppt/notesMasters/notesMaster1.xml" Id="R591965c071a3454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ac66ed41077406d" /><Relationship Type="http://schemas.openxmlformats.org/officeDocument/2006/relationships/notesMaster" Target="/ppt/notesMasters/notesMaster1.xml" Id="R8a1fcb1fe06b4cd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50be337389b47c7" /><Relationship Type="http://schemas.openxmlformats.org/officeDocument/2006/relationships/notesMaster" Target="/ppt/notesMasters/notesMaster1.xml" Id="R265469866a24492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6ac08f3be1643b3" /><Relationship Type="http://schemas.openxmlformats.org/officeDocument/2006/relationships/notesMaster" Target="/ppt/notesMasters/notesMaster1.xml" Id="R0a07f628c57c44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457913bba2345ef" /><Relationship Type="http://schemas.openxmlformats.org/officeDocument/2006/relationships/notesMaster" Target="/ppt/notesMasters/notesMaster1.xml" Id="Rc151f41a27904bb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cfc529516b94294" /><Relationship Type="http://schemas.openxmlformats.org/officeDocument/2006/relationships/notesMaster" Target="/ppt/notesMasters/notesMaster1.xml" Id="Ra4eb028116d5413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688f47d651b413a" /><Relationship Type="http://schemas.openxmlformats.org/officeDocument/2006/relationships/notesMaster" Target="/ppt/notesMasters/notesMaster1.xml" Id="Rb38547c1556849d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c51a8957c9c48c3" /><Relationship Type="http://schemas.openxmlformats.org/officeDocument/2006/relationships/notesMaster" Target="/ppt/notesMasters/notesMaster1.xml" Id="R240cc30006824ab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d48430574794bbd" /><Relationship Type="http://schemas.openxmlformats.org/officeDocument/2006/relationships/notesMaster" Target="/ppt/notesMasters/notesMaster1.xml" Id="Ref621d56b2634365"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7a1ae8b6cb44e64" /><Relationship Type="http://schemas.openxmlformats.org/officeDocument/2006/relationships/notesMaster" Target="/ppt/notesMasters/notesMaster1.xml" Id="R505da8d2526549d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4d02d82d6fa45d8" /><Relationship Type="http://schemas.openxmlformats.org/officeDocument/2006/relationships/notesMaster" Target="/ppt/notesMasters/notesMaster1.xml" Id="Ra4a097dc7014439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60f7a88af944415" /><Relationship Type="http://schemas.openxmlformats.org/officeDocument/2006/relationships/notesMaster" Target="/ppt/notesMasters/notesMaster1.xml" Id="R708e03e40f0d4370"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c48f94f8be040f3" /><Relationship Type="http://schemas.openxmlformats.org/officeDocument/2006/relationships/notesMaster" Target="/ppt/notesMasters/notesMaster1.xml" Id="R0a59ba7068ee4b8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e29039d645a400d" /><Relationship Type="http://schemas.openxmlformats.org/officeDocument/2006/relationships/notesMaster" Target="/ppt/notesMasters/notesMaster1.xml" Id="R60e8980c293b490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89001670a674125" /><Relationship Type="http://schemas.openxmlformats.org/officeDocument/2006/relationships/notesMaster" Target="/ppt/notesMasters/notesMaster1.xml" Id="Recc82c087b8a4d9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9049010e6ef43e1" /><Relationship Type="http://schemas.openxmlformats.org/officeDocument/2006/relationships/notesMaster" Target="/ppt/notesMasters/notesMaster1.xml" Id="R272a9f7e980e4d6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1e191569d2b40f7" /><Relationship Type="http://schemas.openxmlformats.org/officeDocument/2006/relationships/notesMaster" Target="/ppt/notesMasters/notesMaster1.xml" Id="Re7a5fe87ab3f4d6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508a27b62814f11" /><Relationship Type="http://schemas.openxmlformats.org/officeDocument/2006/relationships/notesMaster" Target="/ppt/notesMasters/notesMaster1.xml" Id="R821b2c1d58a7453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1c1d3b12e1f4ec9" /><Relationship Type="http://schemas.openxmlformats.org/officeDocument/2006/relationships/notesMaster" Target="/ppt/notesMasters/notesMaster1.xml" Id="Re2988a81bfdf4200"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3c82ffa71ca4549" /><Relationship Type="http://schemas.openxmlformats.org/officeDocument/2006/relationships/notesMaster" Target="/ppt/notesMasters/notesMaster1.xml" Id="R6064db27be7c486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0fe6ce8614644db" /><Relationship Type="http://schemas.openxmlformats.org/officeDocument/2006/relationships/notesMaster" Target="/ppt/notesMasters/notesMaster1.xml" Id="R8d9b04aefca44ae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97d635813b64a1b" /><Relationship Type="http://schemas.openxmlformats.org/officeDocument/2006/relationships/notesMaster" Target="/ppt/notesMasters/notesMaster1.xml" Id="Rb7c561a23ec942d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d0e9f627d0b46a7" /><Relationship Type="http://schemas.openxmlformats.org/officeDocument/2006/relationships/notesMaster" Target="/ppt/notesMasters/notesMaster1.xml" Id="R0a1144f5157545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a2fcceec7be49ee" /><Relationship Type="http://schemas.openxmlformats.org/officeDocument/2006/relationships/notesMaster" Target="/ppt/notesMasters/notesMaster1.xml" Id="R1cace410a2f5430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b59e9eda8354a14" /><Relationship Type="http://schemas.openxmlformats.org/officeDocument/2006/relationships/notesMaster" Target="/ppt/notesMasters/notesMaster1.xml" Id="R87201f3562e8460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e69d7d1410744d4" /><Relationship Type="http://schemas.openxmlformats.org/officeDocument/2006/relationships/notesMaster" Target="/ppt/notesMasters/notesMaster1.xml" Id="R4b15735bdd94453f"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ad1a31babc94e28" /><Relationship Type="http://schemas.openxmlformats.org/officeDocument/2006/relationships/notesMaster" Target="/ppt/notesMasters/notesMaster1.xml" Id="R5a49fb6ebaa04e3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c65fd01ad8e4999" /><Relationship Type="http://schemas.openxmlformats.org/officeDocument/2006/relationships/notesMaster" Target="/ppt/notesMasters/notesMaster1.xml" Id="Rce7405368f2f4b33"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4dcc5287b944e95" /><Relationship Type="http://schemas.openxmlformats.org/officeDocument/2006/relationships/notesMaster" Target="/ppt/notesMasters/notesMaster1.xml" Id="R1fc508d3ff3d46c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b0c303b059748e0" /><Relationship Type="http://schemas.openxmlformats.org/officeDocument/2006/relationships/notesMaster" Target="/ppt/notesMasters/notesMaster1.xml" Id="R265f1dc6c5584a1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835778cad2c4636" /><Relationship Type="http://schemas.openxmlformats.org/officeDocument/2006/relationships/notesMaster" Target="/ppt/notesMasters/notesMaster1.xml" Id="Rb72ab6492e6f461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8f1043db60ae4b0f" /><Relationship Type="http://schemas.openxmlformats.org/officeDocument/2006/relationships/notesMaster" Target="/ppt/notesMasters/notesMaster1.xml" Id="Rcdd9313f851048e7"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613c41c0001413a" /><Relationship Type="http://schemas.openxmlformats.org/officeDocument/2006/relationships/notesMaster" Target="/ppt/notesMasters/notesMaster1.xml" Id="R7b1159680a974898"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5f51f1e52a04a7f" /><Relationship Type="http://schemas.openxmlformats.org/officeDocument/2006/relationships/notesMaster" Target="/ppt/notesMasters/notesMaster1.xml" Id="Rf6da59b61ead49e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d6dad3c6746c4fde" /><Relationship Type="http://schemas.openxmlformats.org/officeDocument/2006/relationships/notesMaster" Target="/ppt/notesMasters/notesMaster1.xml" Id="Rc5aa5e5fddc04f52"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7f868a89ec64af9" /><Relationship Type="http://schemas.openxmlformats.org/officeDocument/2006/relationships/notesMaster" Target="/ppt/notesMasters/notesMaster1.xml" Id="R7c93cb7d07e34e5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c2a40d34fd243ec" /><Relationship Type="http://schemas.openxmlformats.org/officeDocument/2006/relationships/notesMaster" Target="/ppt/notesMasters/notesMaster1.xml" Id="Ra8abb8805ebd4feb"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74eca9ac8dcc4ece" /><Relationship Type="http://schemas.openxmlformats.org/officeDocument/2006/relationships/notesMaster" Target="/ppt/notesMasters/notesMaster1.xml" Id="Ra807388a3afb4c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Send this deck and CML3112_Test2_practice.csv together several days before Test 2. The CSV contains synthetic practice reading_values. All worked data examples use this file. Practice is ungraded. The later test-day section uses different files from the timed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 the CSV as a separate attachment beside the PPTX. Students do not need an assessment packet or grader. The practice CSV is intentionally small so they can check every calculation by hand.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clearly named practice file avoids confusing it with engineering_data.csv. Portal timing applies to test downloads, not the practice attachment. The repository remains public by the lecturer’s decision, so portal timing is not a claim that public repository files are private.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holds code cells and output. Later cells use names created by earlier cells. Confirm the name and saved status. Students do not need a test notebook for this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Files panel uploads to the temporary session, not into the notebook itself. A FileNotFoundError usually means the file was not uploaded, its filename differs, or the session reset. Do not upload the PPTX into Colab. Avoid a duplicate download name ending in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synthetic teaching values, not measurements from an operating site. A row contains one measurement and its associated input conditions. target is a column name, not a unit. M1 and M2 are invented equipment identifiers. read_csv displays missing numeric values as 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DataFrame is a table with named columns. The equals sign assigns a result to a name. CSV means comma-separated values. Python is case-sensitive, including the practice_filename.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assigns a value to a name; == compares values. Parentheses pass inputs or continue an expression across lines. print displays a value; len counts entries. int and float convert to integer and decimal numeric values.</a:t>
            </a:r>
          </a:p>
          <a:p xmlns:a="http://schemas.openxmlformats.org/drawingml/2006/main">
            <a:r>
              <a:t/>
            </a:r>
          </a:p>
          <a:p xmlns:a="http://schemas.openxmlformats.org/drawingml/2006/main">
            <a:r>
              <a:t>import pandas as pd loads pandas and gives it the short name pd. pd.read_csv refers to a function in that library.</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import pandas as pd</a:t>
            </a:r>
          </a:p>
          <a:p xmlns:a="http://schemas.openxmlformats.org/drawingml/2006/main">
            <a:r>
              <a:t>Load the named tools. Importing a model class does not train a model.</a:t>
            </a:r>
          </a:p>
          <a:p xmlns:a="http://schemas.openxmlformats.org/drawingml/2006/main">
            <a:r>
              <a:t/>
            </a:r>
          </a:p>
          <a:p xmlns:a="http://schemas.openxmlformats.org/drawingml/2006/main">
            <a:r>
              <a:t>practice_filename = 'CML3112_Test2_practice.csv'</a:t>
            </a:r>
          </a:p>
          <a:p xmlns:a="http://schemas.openxmlformats.org/drawingml/2006/main">
            <a:r>
              <a:t>practice_filename stores the exact name of the accompanying revision CSV.</a:t>
            </a:r>
          </a:p>
          <a:p xmlns:a="http://schemas.openxmlformats.org/drawingml/2006/main">
            <a:r>
              <a:t/>
            </a:r>
          </a:p>
          <a:p xmlns:a="http://schemas.openxmlformats.org/drawingml/2006/main">
            <a:r>
              <a:t>practice_data = pd.read_csv(practice_filename)</a:t>
            </a:r>
          </a:p>
          <a:p xmlns:a="http://schemas.openxmlformats.org/drawingml/2006/main">
            <a:r>
              <a:t>practice_data stores the small practice table read from that CSV.</a:t>
            </a:r>
          </a:p>
          <a:p xmlns:a="http://schemas.openxmlformats.org/drawingml/2006/main">
            <a:r>
              <a:t/>
            </a:r>
          </a:p>
          <a:p xmlns:a="http://schemas.openxmlformats.org/drawingml/2006/main">
            <a:r>
              <a:t>print(practice_data)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print(len(practice_data))</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reading machine  load  target  ambient</a:t>
            </a:r>
          </a:p>
          <a:p xmlns:a="http://schemas.openxmlformats.org/drawingml/2006/main">
            <a:r>
              <a:t>0        1      M1    20      10     20.0</a:t>
            </a:r>
          </a:p>
          <a:p xmlns:a="http://schemas.openxmlformats.org/drawingml/2006/main">
            <a:r>
              <a:t>1        2      M1    40      20      NaN</a:t>
            </a:r>
          </a:p>
          <a:p xmlns:a="http://schemas.openxmlformats.org/drawingml/2006/main">
            <a:r>
              <a:t>2        3      M2    60      30     30.0</a:t>
            </a:r>
          </a:p>
          <a:p xmlns:a="http://schemas.openxmlformats.org/drawingml/2006/main">
            <a:r>
              <a:t>3        4      M2    80      40     40.0</a:t>
            </a:r>
          </a:p>
          <a:p xmlns:a="http://schemas.openxmlformats.org/drawingml/2006/main">
            <a:r>
              <a:t>4</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table.copy() creates a working copy. Assigning columns on this copy preserves the source table, so you can compare before and after.</a:t>
            </a:r>
          </a:p>
          <a:p xmlns:a="http://schemas.openxmlformats.org/drawingml/2006/main">
            <a:r>
              <a:t/>
            </a:r>
          </a:p>
          <a:p xmlns:a="http://schemas.openxmlformats.org/drawingml/2006/main">
            <a:r>
              <a:t>series.tolist() or array.tolist() returns a Python list of values, without pandas row labels. Preserve their order when pairing actual values and predictions.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table["column"] returns one labelled column, a Series. table[["a", "b"]] returns a DataFrame containing those named columns in that order.</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raw_data = practice_data.copy()</a:t>
            </a:r>
          </a:p>
          <a:p xmlns:a="http://schemas.openxmlformats.org/drawingml/2006/main">
            <a:r>
              <a:t>raw_data stores original CSV table; keep it unchanged so the analysis can be checked.</a:t>
            </a:r>
          </a:p>
          <a:p xmlns:a="http://schemas.openxmlformats.org/drawingml/2006/main">
            <a:r>
              <a:t/>
            </a:r>
          </a:p>
          <a:p xmlns:a="http://schemas.openxmlformats.org/drawingml/2006/main">
            <a:r>
              <a:t>print(raw_data['target'].tolist())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 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small practice, only one feature is used. The assessed notebook specifies its own required feature_columns. Training, validation and final test are roles for data, not different versions of a student paper. A final test estimate becomes optimistic if repeatedly used to select a linear_model.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practice uses M1 for training and M2 for validation to keep the example short. It has no separate final test set. A real test task specifies additional equipment groups. A row-wise random split could place readings from the same machine on both sides.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table.loc[row_mask] selects rows whose mask is True. With column labels, .loc selects named columns too. .copy() makes a separate working table after selection.</a:t>
            </a:r>
          </a:p>
          <a:p xmlns:a="http://schemas.openxmlformats.org/drawingml/2006/main">
            <a:r>
              <a:t/>
            </a:r>
          </a:p>
          <a:p xmlns:a="http://schemas.openxmlformats.org/drawingml/2006/main">
            <a:r>
              <a:t>series.isin(["E1", "E2"]) returns True for entries matching either listed label. table[that_mask] keeps all observations belonging to those groups.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training_data = raw_data.loc[raw_data['machine'].isin(['M1'])].copy()</a:t>
            </a:r>
          </a:p>
          <a:p xmlns:a="http://schemas.openxmlformats.org/drawingml/2006/main">
            <a:r>
              <a:t>training_data stores rows used to learn model settings; only these rows may determine imputation values.</a:t>
            </a:r>
          </a:p>
          <a:p xmlns:a="http://schemas.openxmlformats.org/drawingml/2006/main">
            <a:r>
              <a:t/>
            </a:r>
          </a:p>
          <a:p xmlns:a="http://schemas.openxmlformats.org/drawingml/2006/main">
            <a:r>
              <a:t>validation_data = raw_data.loc[raw_data['machine'].isin(['M2'])].copy()</a:t>
            </a:r>
          </a:p>
          <a:p xmlns:a="http://schemas.openxmlformats.org/drawingml/2006/main">
            <a:r>
              <a:t>validation_data stores separate rows used to compare models without fitting on them.</a:t>
            </a:r>
          </a:p>
          <a:p xmlns:a="http://schemas.openxmlformats.org/drawingml/2006/main">
            <a:r>
              <a:t/>
            </a:r>
          </a:p>
          <a:p xmlns:a="http://schemas.openxmlformats.org/drawingml/2006/main">
            <a:r>
              <a:t>print(training_data['target'].tolist())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print(validation_data['target'].tolist())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[10, 20]</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targets are 10 and 20, so their mean is 15. The baseline predicts 15 for both validation rows even though their actual targets are 30 and 40. This is a benchmark rather than a model that responds to the input 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[training_target_mean] is a one-item list. Multiplying that list by the number of validation rows repeats its value once per row. This is list repetition, not multiplication of the mean itself.</a:t>
            </a:r>
          </a:p>
          <a:p xmlns:a="http://schemas.openxmlformats.org/drawingml/2006/main">
            <a:r>
              <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training_target_mean = training_data['target'].mean()</a:t>
            </a:r>
          </a:p>
          <a:p xmlns:a="http://schemas.openxmlformats.org/drawingml/2006/main">
            <a:r>
              <a:t>training_target_mean stores mean target calculated from training rows only.</a:t>
            </a:r>
          </a:p>
          <a:p xmlns:a="http://schemas.openxmlformats.org/drawingml/2006/main">
            <a:r>
              <a:t/>
            </a:r>
          </a:p>
          <a:p xmlns:a="http://schemas.openxmlformats.org/drawingml/2006/main">
            <a:r>
              <a:t>baseline_predictions = [training_target_mean] * len(validation_data)</a:t>
            </a:r>
          </a:p>
          <a:p xmlns:a="http://schemas.openxmlformats.org/drawingml/2006/main">
            <a:r>
              <a:t>baseline_predictions stores the training mean repeated once per validation observation.</a:t>
            </a:r>
          </a:p>
          <a:p xmlns:a="http://schemas.openxmlformats.org/drawingml/2006/main">
            <a:r>
              <a:t/>
            </a:r>
          </a:p>
          <a:p xmlns:a="http://schemas.openxmlformats.org/drawingml/2006/main">
            <a:r>
              <a:t>print(baseline_predictions)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[np.float64(15.0), np.float64(15.0)]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actual [30, 40] and predicted [15, 15], errors are [15, 25]. MAE = (15 + 25)/2 = 20. Squared errors are [225, 625]. Their mean is 425, whose square root is about 20.62. Squaring penalises larger errors more strongly.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validation table retained original labels 2 and 3. The baseline list becomes a Series labelled 0 and 1. Resetting the actual labels lets corresponding values subtract correctly. Resetting labels cannot fix an incorrectly reordered prediction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error ** 2 squares each error. After averaging, ** 0.5 takes the square root. This gives root mean squared error, which penalises large errors more strongly than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series.reset_index(drop=True) replaces old row labels with 0, 1, 2, and so on. drop=True discards the old labels. Apply it when pairing with a new prediction Series that has those positional labels.</a:t>
            </a:r>
          </a:p>
          <a:p xmlns:a="http://schemas.openxmlformats.org/drawingml/2006/main">
            <a:r>
              <a:t/>
            </a:r>
          </a:p>
          <a:p xmlns:a="http://schemas.openxmlformats.org/drawingml/2006/main">
            <a:r>
              <a:t>pd.Series(values) creates a one-dimensional labelled sequence. With an array of fold errors, the default labels are 0, 1, 2 and so on.</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series.abs() makes negative values positive while leaving nonnegative values unchanged. Averaging these magnitudes gives mean absolute error.</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actual_values: observed targets or labels in the order used for comparison.</a:t>
            </a:r>
          </a:p>
          <a:p xmlns:a="http://schemas.openxmlformats.org/drawingml/2006/main">
            <a:r>
              <a:t/>
            </a:r>
          </a:p>
          <a:p xmlns:a="http://schemas.openxmlformats.org/drawingml/2006/main">
            <a:r>
              <a:t>predicted_values: predictions aligned with those actual values.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actual_values = validation_data['target'].reset_index(drop=True)</a:t>
            </a:r>
          </a:p>
          <a:p xmlns:a="http://schemas.openxmlformats.org/drawingml/2006/main">
            <a:r>
              <a:t>actual_values stores observed targets or labels in the order used for comparison.</a:t>
            </a:r>
          </a:p>
          <a:p xmlns:a="http://schemas.openxmlformats.org/drawingml/2006/main">
            <a:r>
              <a:t/>
            </a:r>
          </a:p>
          <a:p xmlns:a="http://schemas.openxmlformats.org/drawingml/2006/main">
            <a:r>
              <a:t>predicted_values = pd.Series(baseline_predictions)</a:t>
            </a:r>
          </a:p>
          <a:p xmlns:a="http://schemas.openxmlformats.org/drawingml/2006/main">
            <a:r>
              <a:t>predicted_values stores predictions aligned with those actual values.</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 each baseline prediction with its validation target. reset_index(drop=True) makes their row labels match by position before subtraction. The training mean must come from training rows only.</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baseline_errors = actual_values - predicted_values</a:t>
            </a:r>
          </a:p>
          <a:p xmlns:a="http://schemas.openxmlformats.org/drawingml/2006/main">
            <a:r>
              <a:t>baseline_errors stores observed validation targets minus baseline predictions.</a:t>
            </a:r>
          </a:p>
          <a:p xmlns:a="http://schemas.openxmlformats.org/drawingml/2006/main">
            <a:r>
              <a:t/>
            </a:r>
          </a:p>
          <a:p xmlns:a="http://schemas.openxmlformats.org/drawingml/2006/main">
            <a:r>
              <a:t>mae = baseline_errors.abs().mean()</a:t>
            </a:r>
          </a:p>
          <a:p xmlns:a="http://schemas.openxmlformats.org/drawingml/2006/main">
            <a:r>
              <a:t>mae stores mean absolute error in the target unit.</a:t>
            </a:r>
          </a:p>
          <a:p xmlns:a="http://schemas.openxmlformats.org/drawingml/2006/main">
            <a:r>
              <a:t/>
            </a:r>
          </a:p>
          <a:p xmlns:a="http://schemas.openxmlformats.org/drawingml/2006/main">
            <a:r>
              <a:t>rmse = (baseline_errors ** 2).mean() ** 0.5</a:t>
            </a:r>
          </a:p>
          <a:p xmlns:a="http://schemas.openxmlformats.org/drawingml/2006/main">
            <a:r>
              <a:t>rmse stores root mean squared error in the target unit.</a:t>
            </a:r>
          </a:p>
          <a:p xmlns:a="http://schemas.openxmlformats.org/drawingml/2006/main">
            <a:r>
              <a:t/>
            </a:r>
          </a:p>
          <a:p xmlns:a="http://schemas.openxmlformats.org/drawingml/2006/main">
            <a:r>
              <a:t>print(round(mae, 2), round(rmse, 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20.0 20.62</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negative second error means overprediction. A negative error is not automatically a good prediction. Absolute and squared errors prevent positive and negative errors cancelling. Small invented validation data does not demonstrate generalisation to real equipment.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pair of brackets gives a Series. Double brackets provide a list of column names and keep a DataFrame, which scikit-learn expects for X. y is a one-dimensional target Series. The four practice targets follow target = load / 2 exactly, so the two validation predictions should be 30 and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LinearRegression() creates an unfitted model. It will learn coefficients and an intercept from training examples. Creating it alone does not train it or make predictions.</a:t>
            </a:r>
          </a:p>
          <a:p xmlns:a="http://schemas.openxmlformats.org/drawingml/2006/main">
            <a:r>
              <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model.predict(input_table) returns one prediction per input row. Use the same feature columns and order as during training. Prediction uses learned settings; it does not refit the model.</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common machine-learning conventions. Some tutorials write train_x and train_y instead. The names are chosen by the programmer, not special Python keywords. Keep training_data as the full table; selecting X_train must exclude target. Rows in X and y must stay paired. fit uses training pairs; predict receives only X_valid. Compare predictions with y_valid afterwards.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training_data[['load']]</a:t>
            </a:r>
          </a:p>
          <a:p xmlns:a="http://schemas.openxmlformats.org/drawingml/2006/main">
            <a:r>
              <a:t>X_train stores training input columns, excluding the target.</a:t>
            </a:r>
          </a:p>
          <a:p xmlns:a="http://schemas.openxmlformats.org/drawingml/2006/main">
            <a:r>
              <a:t/>
            </a:r>
          </a:p>
          <a:p xmlns:a="http://schemas.openxmlformats.org/drawingml/2006/main">
            <a:r>
              <a:t>y_train = training_data['target']</a:t>
            </a:r>
          </a:p>
          <a:p xmlns:a="http://schemas.openxmlformats.org/drawingml/2006/main">
            <a:r>
              <a:t>y_train stores observed training targets in matching row order.</a:t>
            </a:r>
          </a:p>
          <a:p xmlns:a="http://schemas.openxmlformats.org/drawingml/2006/main">
            <a:r>
              <a:t/>
            </a:r>
          </a:p>
          <a:p xmlns:a="http://schemas.openxmlformats.org/drawingml/2006/main">
            <a:r>
              <a:t>X_valid = validation_data[['load']]</a:t>
            </a:r>
          </a:p>
          <a:p xmlns:a="http://schemas.openxmlformats.org/drawingml/2006/main">
            <a:r>
              <a:t>X_valid stores validation input columns in training-column order.</a:t>
            </a:r>
          </a:p>
          <a:p xmlns:a="http://schemas.openxmlformats.org/drawingml/2006/main">
            <a:r>
              <a:t/>
            </a:r>
          </a:p>
          <a:p xmlns:a="http://schemas.openxmlformats.org/drawingml/2006/main">
            <a:r>
              <a:t>y_valid = validation_data['target']</a:t>
            </a:r>
          </a:p>
          <a:p xmlns:a="http://schemas.openxmlformats.org/drawingml/2006/main">
            <a:r>
              <a:t>y_valid stores observed validation targets, used only for evaluation.</a:t>
            </a:r>
          </a:p>
          <a:p xmlns:a="http://schemas.openxmlformats.org/drawingml/2006/main">
            <a:r>
              <a:t/>
            </a:r>
          </a:p>
          <a:p xmlns:a="http://schemas.openxmlformats.org/drawingml/2006/main">
            <a:r>
              <a:t>from sklearn.linear_model import LinearRegression</a:t>
            </a:r>
          </a:p>
          <a:p xmlns:a="http://schemas.openxmlformats.org/drawingml/2006/main">
            <a:r>
              <a:t>Load the named tools. Importing a model class does not train a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Creating an estimator sets up an empty model. fit learns settings from training inputs and their targets. predict uses those learned settings on new inputs; it does not learn from the validation targets.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linear_model = LinearRegression()</a:t>
            </a:r>
          </a:p>
          <a:p xmlns:a="http://schemas.openxmlformats.org/drawingml/2006/main">
            <a:r>
              <a:t>linear_model stores the linear regression estimator or imputation-and-regression pipeline.</a:t>
            </a:r>
          </a:p>
          <a:p xmlns:a="http://schemas.openxmlformats.org/drawingml/2006/main">
            <a:r>
              <a:t/>
            </a:r>
          </a:p>
          <a:p xmlns:a="http://schemas.openxmlformats.org/drawingml/2006/main">
            <a:r>
              <a:t>linear_model.fit(X_train,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validation_predictions = linear_model.predict(X_valid)</a:t>
            </a:r>
          </a:p>
          <a:p xmlns:a="http://schemas.openxmlformats.org/drawingml/2006/main">
            <a:r>
              <a:t>validation_predictions stores one predicted target for each validation row, in the same order.</a:t>
            </a:r>
          </a:p>
          <a:p xmlns:a="http://schemas.openxmlformats.org/drawingml/2006/main">
            <a:r>
              <a:t/>
            </a:r>
          </a:p>
          <a:p xmlns:a="http://schemas.openxmlformats.org/drawingml/2006/main">
            <a:r>
              <a:t>print(validation_predictions.round(2))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Revise the pipeline and decision-tree examples from the previous teaching weeks. Fit SimpleImputer on the training partition only, even though it does not use target values. A tree learns splits and can overfit. Compare errors on the same rows, and follow the supplied model settings. The first linear example uses only load, which has no missing values. The following pipeline adds ambient and learns its missing-value replacement from training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ambient values are 20 and missing, so the learned ambient median is 20. The full-data median would be 30, which includes validation information. That is why filling the entire source table before splitting is wrong for model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feature_columns: the list of input column names supplied to the model.</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from sklearn.impute import SimpleImputer</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sklearn.pipeline import make_pipeline</a:t>
            </a:r>
          </a:p>
          <a:p xmlns:a="http://schemas.openxmlformats.org/drawingml/2006/main">
            <a:r>
              <a:t>Load the named tools. Importing a model class does not train a model.</a:t>
            </a:r>
          </a:p>
          <a:p xmlns:a="http://schemas.openxmlformats.org/drawingml/2006/main">
            <a:r>
              <a:t/>
            </a:r>
          </a:p>
          <a:p xmlns:a="http://schemas.openxmlformats.org/drawingml/2006/main">
            <a:r>
              <a:t>from sklearn.tree import DecisionTreeRegressor</a:t>
            </a:r>
          </a:p>
          <a:p xmlns:a="http://schemas.openxmlformats.org/drawingml/2006/main">
            <a:r>
              <a:t>Load the named tools. Importing a model class does not train a model.</a:t>
            </a:r>
          </a:p>
          <a:p xmlns:a="http://schemas.openxmlformats.org/drawingml/2006/main">
            <a:r>
              <a:t/>
            </a:r>
          </a:p>
          <a:p xmlns:a="http://schemas.openxmlformats.org/drawingml/2006/main">
            <a:r>
              <a:t>feature_columns = ['load', 'ambient']</a:t>
            </a:r>
          </a:p>
          <a:p xmlns:a="http://schemas.openxmlformats.org/drawingml/2006/main">
            <a:r>
              <a:t>feature_columns stores the list of input column names supplied to the model.</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X_train contains the input columns; y_train contains their observed targets. X_valid contains the same input columns for validation; y_valid holds the answers for checking predictions. Never include target among the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X_train = training_data[feature_columns]</a:t>
            </a:r>
          </a:p>
          <a:p xmlns:a="http://schemas.openxmlformats.org/drawingml/2006/main">
            <a:r>
              <a:t>X_train stores training input columns, excluding the target.</a:t>
            </a:r>
          </a:p>
          <a:p xmlns:a="http://schemas.openxmlformats.org/drawingml/2006/main">
            <a:r>
              <a:t/>
            </a:r>
          </a:p>
          <a:p xmlns:a="http://schemas.openxmlformats.org/drawingml/2006/main">
            <a:r>
              <a:t>X_valid = validation_data[feature_columns]</a:t>
            </a:r>
          </a:p>
          <a:p xmlns:a="http://schemas.openxmlformats.org/drawingml/2006/main">
            <a:r>
              <a:t>X_valid stores validation input columns in training-column order.</a:t>
            </a:r>
          </a:p>
          <a:p xmlns:a="http://schemas.openxmlformats.org/drawingml/2006/main">
            <a:r>
              <a:t/>
            </a:r>
          </a:p>
          <a:p xmlns:a="http://schemas.openxmlformats.org/drawingml/2006/main">
            <a:r>
              <a:t>Verified result with the supplied CSV</a:t>
            </a:r>
          </a:p>
          <a:p xmlns:a="http://schemas.openxmlformats.org/drawingml/2006/main">
            <a:r>
              <a:t>This cell stores values for the next example; it does not print a result.</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make_pipeline(imputer, estimator) links preprocessing and prediction. fit learns the imputer and estimator on training rows. predict applies the learned steps to new rows in the same order.</a:t>
            </a:r>
          </a:p>
          <a:p xmlns:a="http://schemas.openxmlformats.org/drawingml/2006/main">
            <a:r>
              <a:t/>
            </a:r>
          </a:p>
          <a:p xmlns:a="http://schemas.openxmlformats.org/drawingml/2006/main">
            <a:r>
              <a:t>SimpleImputer(strategy="median") learns a median for each input column during fit. It uses those training medians to fill gaps later. Never learn replacement values from validation or test rows.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linear_pipeline = make_pipeline(SimpleImputer(strategy='median'), LinearRegression())</a:t>
            </a:r>
          </a:p>
          <a:p xmlns:a="http://schemas.openxmlformats.org/drawingml/2006/main">
            <a:r>
              <a:t>linear_pipeline stores median imputer followed by linear regression.</a:t>
            </a:r>
          </a:p>
          <a:p xmlns:a="http://schemas.openxmlformats.org/drawingml/2006/main">
            <a:r>
              <a:t/>
            </a:r>
          </a:p>
          <a:p xmlns:a="http://schemas.openxmlformats.org/drawingml/2006/main">
            <a:r>
              <a:t>linear_pipeline.fit(X_train,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linear_predictions = linear_pipeline.predict(X_valid)</a:t>
            </a:r>
          </a:p>
          <a:p xmlns:a="http://schemas.openxmlformats.org/drawingml/2006/main">
            <a:r>
              <a:t>linear_predictions stores validation predictions from the linear pipeline.</a:t>
            </a:r>
          </a:p>
          <a:p xmlns:a="http://schemas.openxmlformats.org/drawingml/2006/main">
            <a:r>
              <a:t/>
            </a:r>
          </a:p>
          <a:p xmlns:a="http://schemas.openxmlformats.org/drawingml/2006/main">
            <a:r>
              <a:t>print(linear_predictions.round(2))</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[30. 40.]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training loads are 20 and 40. A split near 30 separates their targets 10 and 20. Both validation loads, 60 and 80, follow the higher-load branch and receive 20. Trees do not extend a fitted straight line beyond the training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DecisionTreeRegressor splits inputs into regions with different predicted values. max_depth limits the number of split levels. random_state fixes random choices so the example can be repeated.</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regression tree learns splits in the input columns. max_depth limits its split levels. The imputer fills missing inputs using training medians; the tree then learns from those filled inputs.</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tree_model = make_pipeline(SimpleImputer(strategy='median'), DecisionTreeRegressor(max_depth=2, random_state=7))</a:t>
            </a:r>
          </a:p>
          <a:p xmlns:a="http://schemas.openxmlformats.org/drawingml/2006/main">
            <a:r>
              <a:t>tree_model stores the tree regression pipeline being compared on the same validation rows.</a:t>
            </a:r>
          </a:p>
          <a:p xmlns:a="http://schemas.openxmlformats.org/drawingml/2006/main">
            <a:r>
              <a:t/>
            </a:r>
          </a:p>
          <a:p xmlns:a="http://schemas.openxmlformats.org/drawingml/2006/main">
            <a:r>
              <a:t>tree_model.fit(X_train, y_train)</a:t>
            </a:r>
          </a:p>
          <a:p xmlns:a="http://schemas.openxmlformats.org/drawingml/2006/main">
            <a:r>
              <a:t>model.fit(input_table, observed_targets) learns model settings from paired rows. The two inputs must describe the same observations in the same order. Call fit before predict.</a:t>
            </a:r>
          </a:p>
          <a:p xmlns:a="http://schemas.openxmlformats.org/drawingml/2006/main">
            <a:r>
              <a:t/>
            </a:r>
          </a:p>
          <a:p xmlns:a="http://schemas.openxmlformats.org/drawingml/2006/main">
            <a:r>
              <a:t>tree_predictions = tree_model.predict(X_valid)</a:t>
            </a:r>
          </a:p>
          <a:p xmlns:a="http://schemas.openxmlformats.org/drawingml/2006/main">
            <a:r>
              <a:t>tree_predictions stores validation predictions from the tree pipeline.</a:t>
            </a:r>
          </a:p>
          <a:p xmlns:a="http://schemas.openxmlformats.org/drawingml/2006/main">
            <a:r>
              <a:t/>
            </a:r>
          </a:p>
          <a:p xmlns:a="http://schemas.openxmlformats.org/drawingml/2006/main">
            <a:r>
              <a:t>print(tree_predictions)</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[20. 20.]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tree errors are 10 and 20, so MAE is 15 and RMSE is sqrt(250), about 15.81. The zero linear error follows the deliberately exact relationship. A separate final test set is still required for an unbiased final evaluation; this miniature example only demonstrates training and validation_data.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worked predictions come from the attached CSV. M1 is training and M2 validation_data. The actual test specifies additional groups, a final held-out group, model settings and function return formats. The practice file is intentionally smaller.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automated grader calls functions with other equipment_records. A pasted fixed answer can match a displayed example and still fail for another input. print displays a value but does not replace return. The following practice function is unrelated to the assessed function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Explain these operations before running the following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 gives a reusable block a name and input parameters. The indented statements run when it is called. return sends a result back to the caller; print displays a result but does not return it.</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def average_reading(values):</a:t>
            </a:r>
          </a:p>
          <a:p xmlns:a="http://schemas.openxmlformats.org/drawingml/2006/main">
            <a:r>
              <a:t>    reading_values = pd.Series(values)</a:t>
            </a:r>
          </a:p>
          <a:p xmlns:a="http://schemas.openxmlformats.org/drawingml/2006/main">
            <a:r>
              <a:t>    return float(reading_values.mean())</a:t>
            </a:r>
          </a:p>
          <a:p xmlns:a="http://schemas.openxmlformats.org/drawingml/2006/main">
            <a:r>
              <a:t>Define the function. Explain each input before the call. Its body runs only when called; return supplies the computed value.</a:t>
            </a:r>
          </a:p>
          <a:p xmlns:a="http://schemas.openxmlformats.org/drawingml/2006/main">
            <a:r>
              <a:t/>
            </a:r>
          </a:p>
          <a:p xmlns:a="http://schemas.openxmlformats.org/drawingml/2006/main">
            <a:r>
              <a:t>print(average_reading(raw_data['target']))</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print(average_reading(raw_data['load']))</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25.0</a:t>
            </a:r>
          </a:p>
          <a:p xmlns:a="http://schemas.openxmlformats.org/drawingml/2006/main">
            <a:r>
              <a:t>50.0</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is a Python dictionary in the notebook. Its keys identify questions and its string values hold selected option letters. Use the labels printed in that question. A choice label is unrelated to file allocation. No student should select a paper version or edit the internal allocation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a:p xmlns:a="http://schemas.openxmlformats.org/drawingml/2006/main">
            <a:r>
              <a:t/>
            </a:r>
          </a:p>
          <a:p xmlns:a="http://schemas.openxmlformats.org/drawingml/2006/main">
            <a:r>
              <a:t>Step-by-step explanation</a:t>
            </a:r>
          </a:p>
          <a:p xmlns:a="http://schemas.openxmlformats.org/drawingml/2006/main">
            <a:r>
              <a:t/>
            </a:r>
          </a:p>
          <a:p xmlns:a="http://schemas.openxmlformats.org/drawingml/2006/main">
            <a:r>
              <a:t>DECISIONS = {'practice': 'B'}</a:t>
            </a:r>
          </a:p>
          <a:p xmlns:a="http://schemas.openxmlformats.org/drawingml/2006/main">
            <a:r>
              <a:t>DECISIONS stores the result of the displayed expression.</a:t>
            </a:r>
          </a:p>
          <a:p xmlns:a="http://schemas.openxmlformats.org/drawingml/2006/main">
            <a:r>
              <a:t/>
            </a:r>
          </a:p>
          <a:p xmlns:a="http://schemas.openxmlformats.org/drawingml/2006/main">
            <a:r>
              <a:t>print(DECISIONS['practice'])</a:t>
            </a:r>
          </a:p>
          <a:p xmlns:a="http://schemas.openxmlformats.org/drawingml/2006/main">
            <a:r>
              <a:t>Display these values in the order written. Read their labels and units; displaying them does not alter the stored calculation.</a:t>
            </a:r>
          </a:p>
          <a:p xmlns:a="http://schemas.openxmlformats.org/drawingml/2006/main">
            <a:r>
              <a:t/>
            </a:r>
          </a:p>
          <a:p xmlns:a="http://schemas.openxmlformats.org/drawingml/2006/main">
            <a:r>
              <a:t>Verified result with the supplied CSV</a:t>
            </a:r>
          </a:p>
          <a:p xmlns:a="http://schemas.openxmlformats.org/drawingml/2006/main">
            <a:r>
              <a:t>B</a:t>
            </a:r>
          </a:p>
          <a:p xmlns:a="http://schemas.openxmlformats.org/drawingml/2006/main">
            <a:r>
              <a:t/>
            </a:r>
          </a:p>
          <a:p xmlns:a="http://schemas.openxmlformats.org/drawingml/2006/main">
            <a:r>
              <a:t>Run this complete example after the preceding examples. Continuation slides belong to the same notebook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at this boundary when reviewing in advance. The remaining slides are procedural instructions, not additional practice tasks. No practice file should be submitted to the test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page assigns files automatically. Students do not choose a version. Re-entering the same registration number and Google email retrieves the same allocation. The page can be opened in advance, but downloads are available only during the authorised test window. A phone scan is useful for opening the page, but students must download and use both files on their laptop. Students never choose a test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notebook upload does not include its modelling_data. Show the folder icon, then Upload. Wait until engineering_data.csv appears. Do not upload a ZIP. The portal prefills the identity cell; students check it and run it before later cells. The final submission cell contains an internal allocation code and is collapsed for clarity. Keep it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function is a named block of code. The grader calls that function with different records, so it must calculate from its argument. DECISIONS is a dictionary pairing each question identifier with one option letter. Use a non-assessed demonstration such as {"practice": "B"}. No separate report or prose answer section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all marks come from the published checks. Correct code on unseen inputs earns coding marks. Each of the six interpretation choices earns 5 marks. Test 1 contributes 15 points and Test 2 contributes 20 points to the semester total. For example, 80/100 in Test 1 contributes 12 semester points. Partial marks are available for independently checked outputs; charts and cleaning each have a complete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 1: duplicate removal keeps the first occurrence. Exclude a missing target or invalid load. Only then calculate the retained ambient median. Test 2: row filters are supplied, but missing ambient values remain. A pipeline learns the median from the training partition and reuses it for validation_data. Fitting a median on all rows leaks evaluation information. Do not reveal assessed option answers during the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Announce the actual start and close time displayed by the form. These periods total 180 minutes. Code execution is allowed during checking. Report internet or runtime problems immediately. Record incidents with the affected learner and time. Do not silently treat a failed upload as a submitted test_data.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fresh session has no variables from earlier runs. This exposes cells that depend on stale values or an incorrect order. The supplied CSV example cell calls the implemented functions. The final submission cell creates a button. Clicking it prepares a separate snapshot of the current notebook in Drive; later edits to the working notebook do not change that snapshot. Students must open the generated form link and press Submit. The button alone is not a completed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final button using a rehearsal notebook. The button privately shares a saved snapshot with the lecturer and fills the form fields. Tick the form’s email confirmation box before pressing Submit. Do not type snapshot IDs manually. The form records the verified Google email; it must be the same account that owns the snapshot. A new attempt requires clicking the notebook button again and submitting its new form link. The latest on-time attempt is considered; technical or identity errors remain pending. Earlier attempts are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Grades are calculated in a batch on the lecturer’s Mac after the test_data. The Mac can be off during submission. Google Forms and Drive collect the snapshots. Before admitting students, rehearse the entry page, two downloads, notebook button and form confirmation. After the test, export the batch and run Grade_Tests.command with Docker running. A receipt is not a grade. A genuine zero is distinct from pending or infrastructure failure. The attendee register is built from submissions; without an enrolled roster it cannot identify absentees.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41e6d0cb344d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8391524f6846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44f11f366949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d98f63f63e3480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f77661d4b14f7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7e9c9e89f842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B62713-4036-4B0A-9032-5EFA1A7C69A0}"/>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76A4C8-5192-4B20-8338-CB1D80CE235D}"/>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38E7F7-8DBA-4D16-A2F6-26ADED064E14}"/>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C9D719-F9EF-4A6D-B856-CC9BC477647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7E2DC3-0402-4DB6-B9F4-E722F45DDAEF}"/>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DD517E-DBB0-40EA-83C6-AE83C9C2024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346171-28B2-4EE4-87E5-D220470B2361}"/>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5248EF-DCAA-45F4-9614-29BE22E28514}"/>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460B42-7B7B-47BD-8E2B-9DC864F17DC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130372-8DD6-45AA-933F-46D39322C2F7}"/>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a79ba613ae4c4c" /><Relationship Type="http://schemas.openxmlformats.org/officeDocument/2006/relationships/slideLayout" Target="/ppt/slideLayouts/slideLayout1.xml" Id="R332609d748634075" /><Relationship Type="http://schemas.openxmlformats.org/officeDocument/2006/relationships/slideLayout" Target="/ppt/slideLayouts/slideLayout2.xml" Id="Raf113f1cfe3a449b" /><Relationship Type="http://schemas.openxmlformats.org/officeDocument/2006/relationships/slideLayout" Target="/ppt/slideLayouts/slideLayout3.xml" Id="R75da8ec4f91e4660" /><Relationship Type="http://schemas.openxmlformats.org/officeDocument/2006/relationships/slideLayout" Target="/ppt/slideLayouts/slideLayout4.xml" Id="R7e78eeff2adf4439" /><Relationship Type="http://schemas.openxmlformats.org/officeDocument/2006/relationships/slideLayout" Target="/ppt/slideLayouts/slideLayout5.xml" Id="Rc1ad042b4cdd4dde" /><Relationship Type="http://schemas.openxmlformats.org/officeDocument/2006/relationships/slideLayout" Target="/ppt/slideLayouts/slideLayout6.xml" Id="R5073249c417f49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2609d748634075"/>
    <p:sldLayoutId xmlns:r="http://schemas.openxmlformats.org/officeDocument/2006/relationships" id="2147483650" r:id="Raf113f1cfe3a449b"/>
    <p:sldLayoutId xmlns:r="http://schemas.openxmlformats.org/officeDocument/2006/relationships" id="2147483651" r:id="R75da8ec4f91e4660"/>
    <p:sldLayoutId xmlns:r="http://schemas.openxmlformats.org/officeDocument/2006/relationships" id="2147483652" r:id="R7e78eeff2adf4439"/>
    <p:sldLayoutId xmlns:r="http://schemas.openxmlformats.org/officeDocument/2006/relationships" id="2147483653" r:id="Rc1ad042b4cdd4dde"/>
    <p:sldLayoutId xmlns:r="http://schemas.openxmlformats.org/officeDocument/2006/relationships" id="2147483654" r:id="R5073249c417f49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f1b8fb2e674007" /><Relationship Type="http://schemas.openxmlformats.org/officeDocument/2006/relationships/image" Target="/ppt/media/image.png" Id="R20fd9640f9f74bb9" /><Relationship Type="http://schemas.openxmlformats.org/officeDocument/2006/relationships/notesSlide" Target="/ppt/notesSlides/notesSlide1.xml" Id="R7d7a6d7e767941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328f870a1b448e2" /><Relationship Type="http://schemas.openxmlformats.org/officeDocument/2006/relationships/notesSlide" Target="/ppt/notesSlides/notesSlide2.xml" Id="Rcdf250c5eb4943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b3a422fb4b14f4c" /><Relationship Type="http://schemas.openxmlformats.org/officeDocument/2006/relationships/notesSlide" Target="/ppt/notesSlides/notesSlide3.xml" Id="R7a56957b38894f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ccd86a74f304a8a" /><Relationship Type="http://schemas.openxmlformats.org/officeDocument/2006/relationships/notesSlide" Target="/ppt/notesSlides/notesSlide4.xml" Id="R87adf518c9364c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1144d61401147e4" /><Relationship Type="http://schemas.openxmlformats.org/officeDocument/2006/relationships/notesSlide" Target="/ppt/notesSlides/notesSlide5.xml" Id="Rdc85f2ffd97442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a0d3d086f3493c" /><Relationship Type="http://schemas.openxmlformats.org/officeDocument/2006/relationships/notesSlide" Target="/ppt/notesSlides/notesSlide6.xml" Id="Rde0391690c024d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96ea78984415c" /><Relationship Type="http://schemas.openxmlformats.org/officeDocument/2006/relationships/notesSlide" Target="/ppt/notesSlides/notesSlide7.xml" Id="R32c825d3dcfc44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3e19bdaf074724" /><Relationship Type="http://schemas.openxmlformats.org/officeDocument/2006/relationships/notesSlide" Target="/ppt/notesSlides/notesSlide8.xml" Id="R97da1e688ea247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0bf095fa8f4572" /><Relationship Type="http://schemas.openxmlformats.org/officeDocument/2006/relationships/notesSlide" Target="/ppt/notesSlides/notesSlide9.xml" Id="R1c29b72b71cf41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6f97b3f2974c7e" /><Relationship Type="http://schemas.openxmlformats.org/officeDocument/2006/relationships/notesSlide" Target="/ppt/notesSlides/notesSlide10.xml" Id="Re36e4a789cbe41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21e6367822643ad" /><Relationship Type="http://schemas.openxmlformats.org/officeDocument/2006/relationships/notesSlide" Target="/ppt/notesSlides/notesSlide11.xml" Id="Ra95e07c7b91643f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189a0e4583b41b7" /><Relationship Type="http://schemas.openxmlformats.org/officeDocument/2006/relationships/notesSlide" Target="/ppt/notesSlides/notesSlide12.xml" Id="R6638645f7aee49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cdbe12da66e4de8" /><Relationship Type="http://schemas.openxmlformats.org/officeDocument/2006/relationships/notesSlide" Target="/ppt/notesSlides/notesSlide13.xml" Id="R99ee1dadc03c4d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e6e5d770d2c4013" /><Relationship Type="http://schemas.openxmlformats.org/officeDocument/2006/relationships/notesSlide" Target="/ppt/notesSlides/notesSlide14.xml" Id="R19abb05931424f9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06a0370b844064" /><Relationship Type="http://schemas.openxmlformats.org/officeDocument/2006/relationships/notesSlide" Target="/ppt/notesSlides/notesSlide15.xml" Id="Re0c001f713c648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07c571a0d83458b" /><Relationship Type="http://schemas.openxmlformats.org/officeDocument/2006/relationships/notesSlide" Target="/ppt/notesSlides/notesSlide16.xml" Id="R2d3327d215ff4b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2e7810a428426a" /><Relationship Type="http://schemas.openxmlformats.org/officeDocument/2006/relationships/notesSlide" Target="/ppt/notesSlides/notesSlide17.xml" Id="Rd962ff165c7940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b1e7ee3c16b4958" /><Relationship Type="http://schemas.openxmlformats.org/officeDocument/2006/relationships/notesSlide" Target="/ppt/notesSlides/notesSlide18.xml" Id="R69482a8ea1d84f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e52246765dd42b1" /><Relationship Type="http://schemas.openxmlformats.org/officeDocument/2006/relationships/notesSlide" Target="/ppt/notesSlides/notesSlide19.xml" Id="Rc090af1fb59c4a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f3cddc862c24ef7" /><Relationship Type="http://schemas.openxmlformats.org/officeDocument/2006/relationships/notesSlide" Target="/ppt/notesSlides/notesSlide20.xml" Id="Rab636d10312947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d2ab3cc951b46c3" /><Relationship Type="http://schemas.openxmlformats.org/officeDocument/2006/relationships/notesSlide" Target="/ppt/notesSlides/notesSlide21.xml" Id="R9ea81de3cb5944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e03b2de428a4b2e" /><Relationship Type="http://schemas.openxmlformats.org/officeDocument/2006/relationships/notesSlide" Target="/ppt/notesSlides/notesSlide22.xml" Id="Re7ff14754c22496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7e7811cce114ac2" /><Relationship Type="http://schemas.openxmlformats.org/officeDocument/2006/relationships/notesSlide" Target="/ppt/notesSlides/notesSlide23.xml" Id="R0410ab1976c74b7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9efd9fe3e074666" /><Relationship Type="http://schemas.openxmlformats.org/officeDocument/2006/relationships/notesSlide" Target="/ppt/notesSlides/notesSlide24.xml" Id="Rb6ee01e8dad6481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79ddb8786784b70" /><Relationship Type="http://schemas.openxmlformats.org/officeDocument/2006/relationships/notesSlide" Target="/ppt/notesSlides/notesSlide25.xml" Id="R53582047ef0143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e0214a91c7b46b4" /><Relationship Type="http://schemas.openxmlformats.org/officeDocument/2006/relationships/notesSlide" Target="/ppt/notesSlides/notesSlide26.xml" Id="Ra70a32cff98344f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57e3e26788e4dc9" /><Relationship Type="http://schemas.openxmlformats.org/officeDocument/2006/relationships/notesSlide" Target="/ppt/notesSlides/notesSlide27.xml" Id="R136f5a138da9445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7b4bcf52142427f" /><Relationship Type="http://schemas.openxmlformats.org/officeDocument/2006/relationships/notesSlide" Target="/ppt/notesSlides/notesSlide28.xml" Id="R19923cb65a0c4e3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97719a72b644bc1" /><Relationship Type="http://schemas.openxmlformats.org/officeDocument/2006/relationships/notesSlide" Target="/ppt/notesSlides/notesSlide29.xml" Id="R594426f98e7c44f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c0027933b9a424f" /><Relationship Type="http://schemas.openxmlformats.org/officeDocument/2006/relationships/notesSlide" Target="/ppt/notesSlides/notesSlide30.xml" Id="R17ca5360b0754d3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fcb846f7ec7141eb" /><Relationship Type="http://schemas.openxmlformats.org/officeDocument/2006/relationships/notesSlide" Target="/ppt/notesSlides/notesSlide31.xml" Id="R1ea31c7a05284e6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0143676be32408c" /><Relationship Type="http://schemas.openxmlformats.org/officeDocument/2006/relationships/notesSlide" Target="/ppt/notesSlides/notesSlide32.xml" Id="R189054e0725b42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9653019ec654186" /><Relationship Type="http://schemas.openxmlformats.org/officeDocument/2006/relationships/notesSlide" Target="/ppt/notesSlides/notesSlide33.xml" Id="R8ca093865c51423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c39f2ced38d4fc1" /><Relationship Type="http://schemas.openxmlformats.org/officeDocument/2006/relationships/notesSlide" Target="/ppt/notesSlides/notesSlide34.xml" Id="R966087280e06462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d89aee0b2f34478" /><Relationship Type="http://schemas.openxmlformats.org/officeDocument/2006/relationships/notesSlide" Target="/ppt/notesSlides/notesSlide35.xml" Id="R9f03f247f6c94b5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81e8e6cfde343e3" /><Relationship Type="http://schemas.openxmlformats.org/officeDocument/2006/relationships/notesSlide" Target="/ppt/notesSlides/notesSlide36.xml" Id="Rbe4ac160e300427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2deee7e8147447d" /><Relationship Type="http://schemas.openxmlformats.org/officeDocument/2006/relationships/notesSlide" Target="/ppt/notesSlides/notesSlide37.xml" Id="R712af722694d431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7e9f23205c94270" /><Relationship Type="http://schemas.openxmlformats.org/officeDocument/2006/relationships/notesSlide" Target="/ppt/notesSlides/notesSlide38.xml" Id="Ree59f798d60d427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c443ac022a842b8" /><Relationship Type="http://schemas.openxmlformats.org/officeDocument/2006/relationships/notesSlide" Target="/ppt/notesSlides/notesSlide39.xml" Id="R428e5a4799c64d5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32379a26ec44e01" /><Relationship Type="http://schemas.openxmlformats.org/officeDocument/2006/relationships/notesSlide" Target="/ppt/notesSlides/notesSlide40.xml" Id="R0d1ff784801b425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fd91a6330d8b45de" /><Relationship Type="http://schemas.openxmlformats.org/officeDocument/2006/relationships/notesSlide" Target="/ppt/notesSlides/notesSlide41.xml" Id="R920d1e6bb90d430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ac404aa44004937" /><Relationship Type="http://schemas.openxmlformats.org/officeDocument/2006/relationships/notesSlide" Target="/ppt/notesSlides/notesSlide42.xml" Id="R44448625e99c42a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d8484090e4844b3" /><Relationship Type="http://schemas.openxmlformats.org/officeDocument/2006/relationships/notesSlide" Target="/ppt/notesSlides/notesSlide43.xml" Id="R709a32a1298b469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969a0e7da8b49df" /><Relationship Type="http://schemas.openxmlformats.org/officeDocument/2006/relationships/notesSlide" Target="/ppt/notesSlides/notesSlide44.xml" Id="R220e6d8a35cc42e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0e427615cf74431" /><Relationship Type="http://schemas.openxmlformats.org/officeDocument/2006/relationships/notesSlide" Target="/ppt/notesSlides/notesSlide45.xml" Id="Rff7b3173af9d40b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6211891c2ce455c" /><Relationship Type="http://schemas.openxmlformats.org/officeDocument/2006/relationships/notesSlide" Target="/ppt/notesSlides/notesSlide46.xml" Id="R76aaf3356833439c"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89a325cecdd64fb0" /><Relationship Type="http://schemas.openxmlformats.org/officeDocument/2006/relationships/notesSlide" Target="/ppt/notesSlides/notesSlide47.xml" Id="R47c55b9441624f6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b380dda2f974386" /><Relationship Type="http://schemas.openxmlformats.org/officeDocument/2006/relationships/notesSlide" Target="/ppt/notesSlides/notesSlide48.xml" Id="R6122ee7f3586498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ee117f355b54657" /><Relationship Type="http://schemas.openxmlformats.org/officeDocument/2006/relationships/notesSlide" Target="/ppt/notesSlides/notesSlide49.xml" Id="R30ca48b6518a43e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b15fd76e8994e77" /><Relationship Type="http://schemas.openxmlformats.org/officeDocument/2006/relationships/notesSlide" Target="/ppt/notesSlides/notesSlide50.xml" Id="R48257753fb7a4ac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c2782c79a8543f3" /><Relationship Type="http://schemas.openxmlformats.org/officeDocument/2006/relationships/notesSlide" Target="/ppt/notesSlides/notesSlide51.xml" Id="Rf23d77267c374a3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4afdb3f1bfd5449f" /><Relationship Type="http://schemas.openxmlformats.org/officeDocument/2006/relationships/notesSlide" Target="/ppt/notesSlides/notesSlide52.xml" Id="R5c37f6c299cc43b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1f7b8bd7d144fbc" /><Relationship Type="http://schemas.openxmlformats.org/officeDocument/2006/relationships/notesSlide" Target="/ppt/notesSlides/notesSlide53.xml" Id="R8b4f4714ab304ca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e4dae8027134ea3" /><Relationship Type="http://schemas.openxmlformats.org/officeDocument/2006/relationships/notesSlide" Target="/ppt/notesSlides/notesSlide54.xml" Id="Recb82bb1599c49c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3250c9f0ad6f42b3" /><Relationship Type="http://schemas.openxmlformats.org/officeDocument/2006/relationships/notesSlide" Target="/ppt/notesSlides/notesSlide55.xml" Id="R74738c8f8a4c4a9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fd0788c9ba08445c" /><Relationship Type="http://schemas.openxmlformats.org/officeDocument/2006/relationships/notesSlide" Target="/ppt/notesSlides/notesSlide56.xml" Id="Rb36838c969014e3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07d09adf71e4ea6" /><Relationship Type="http://schemas.openxmlformats.org/officeDocument/2006/relationships/notesSlide" Target="/ppt/notesSlides/notesSlide57.xml" Id="R9d5333a73a054c0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b9c29286d85c4e0c" /><Relationship Type="http://schemas.openxmlformats.org/officeDocument/2006/relationships/notesSlide" Target="/ppt/notesSlides/notesSlide58.xml" Id="R017367f1b620431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4f97ff4048f34e3a" /><Relationship Type="http://schemas.openxmlformats.org/officeDocument/2006/relationships/notesSlide" Target="/ppt/notesSlides/notesSlide59.xml" Id="Rc97fa8105a94492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0f7365c526ee4eb6" /><Relationship Type="http://schemas.openxmlformats.org/officeDocument/2006/relationships/notesSlide" Target="/ppt/notesSlides/notesSlide60.xml" Id="R4c4c17a46ee0416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8fac6db4dfe4ff9" /><Relationship Type="http://schemas.openxmlformats.org/officeDocument/2006/relationships/image" Target="/ppt/media/image2.png" Id="R97da985286744e43" /><Relationship Type="http://schemas.openxmlformats.org/officeDocument/2006/relationships/hyperlink" Target="https://iuea-test-entry.jothammartin-wambi.workers.dev/?test=CML3112%7CTEST2" TargetMode="External" Id="R8b504a3b85a04693" /><Relationship Type="http://schemas.openxmlformats.org/officeDocument/2006/relationships/hyperlink" Target="https://iuea-test-entry.jothammartin-wambi.workers.dev/?test=CML3112%7CTEST2" TargetMode="External" Id="R60ec88622ab94a8d" /><Relationship Type="http://schemas.openxmlformats.org/officeDocument/2006/relationships/notesSlide" Target="/ppt/notesSlides/notesSlide61.xml" Id="R6e9f00d776cf4e0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2cc5aa8c36b4efe" /><Relationship Type="http://schemas.openxmlformats.org/officeDocument/2006/relationships/notesSlide" Target="/ppt/notesSlides/notesSlide62.xml" Id="R64e798e48eb1460d"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4ec3536d284143b4" /><Relationship Type="http://schemas.openxmlformats.org/officeDocument/2006/relationships/notesSlide" Target="/ppt/notesSlides/notesSlide63.xml" Id="Rdf3b4be46cb04eb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b0ce9d1038014a38" /><Relationship Type="http://schemas.openxmlformats.org/officeDocument/2006/relationships/notesSlide" Target="/ppt/notesSlides/notesSlide64.xml" Id="Ra10c3efaeee445a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1bdfc7524454a5a" /><Relationship Type="http://schemas.openxmlformats.org/officeDocument/2006/relationships/notesSlide" Target="/ppt/notesSlides/notesSlide65.xml" Id="R40f18a9b6ea14a1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b607c6429d9d4771" /><Relationship Type="http://schemas.openxmlformats.org/officeDocument/2006/relationships/notesSlide" Target="/ppt/notesSlides/notesSlide66.xml" Id="R5eb037be4c55469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ec46156024594269" /><Relationship Type="http://schemas.openxmlformats.org/officeDocument/2006/relationships/notesSlide" Target="/ppt/notesSlides/notesSlide67.xml" Id="R60ed4fe956d34f35"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efa5789b2fe14387" /><Relationship Type="http://schemas.openxmlformats.org/officeDocument/2006/relationships/notesSlide" Target="/ppt/notesSlides/notesSlide68.xml" Id="R9e92285618f2441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0f2a4058cd524bac" /><Relationship Type="http://schemas.openxmlformats.org/officeDocument/2006/relationships/notesSlide" Target="/ppt/notesSlides/notesSlide69.xml" Id="R60dc450cae564e1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E2767A3-5B33-42D4-994C-30A57A9E1C62}"/>
              </a:ext>
            </a:extLst>
          </p:cNvPr>
          <p:cNvPicPr>
            <a:picLocks xmlns:a="http://schemas.openxmlformats.org/drawingml/2006/main" noChangeAspect="1"/>
          </p:cNvPicPr>
          <p:nvPr/>
        </p:nvPicPr>
        <p:blipFill>
          <a:blip xmlns:r="http://schemas.openxmlformats.org/officeDocument/2006/relationships" xmlns:a="http://schemas.openxmlformats.org/drawingml/2006/main" r:embed="R20fd9640f9f74bb9"/>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41F3AE0-447F-4ED8-B48C-140035535E99}"/>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7BF831-D055-44EF-92FF-E612F3CF9F69}"/>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14</a:t>
            </a:r>
          </a:p>
        </p:txBody>
      </p:sp>
      <p:sp>
        <p:nvSpPr>
          <p:cNvPr id="4" name="">
            <a:extLst xmlns:a="http://schemas.openxmlformats.org/drawingml/2006/main">
              <a:ext uri="{FF2B5EF4-FFF2-40B4-BE49-F238E27FC236}">
                <a16:creationId xmlns:a16="http://schemas.microsoft.com/office/drawing/2014/main" id="{D3634415-5487-4E56-92CB-E0C6B1F2160F}"/>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Preparing for Practical Test 2</a:t>
            </a:r>
          </a:p>
        </p:txBody>
      </p:sp>
      <p:sp>
        <p:nvSpPr>
          <p:cNvPr id="5" name="">
            <a:extLst xmlns:a="http://schemas.openxmlformats.org/drawingml/2006/main">
              <a:ext uri="{FF2B5EF4-FFF2-40B4-BE49-F238E27FC236}">
                <a16:creationId xmlns:a16="http://schemas.microsoft.com/office/drawing/2014/main" id="{0153EE78-2A8C-4EE0-9608-C878E20D5B0B}"/>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52102E28-BD51-46E6-81BE-B9E592D755D5}"/>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Advance revision and test-day guide</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Test time: confirm with the lecturer</a:t>
            </a:r>
          </a:p>
        </p:txBody>
      </p:sp>
    </p:spTree>
    <p:extLst>
      <p:ext uri="{BB962C8B-B14F-4D97-AF65-F5344CB8AC3E}">
        <p14:creationId xmlns:p14="http://schemas.microsoft.com/office/powerpoint/2010/main" val="11309625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B50728-6434-461A-8039-75DCF84777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CAEB7F-6EA7-48F1-9D1F-0F0A90BD88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6799BA9-D4C9-484A-8E7D-2EEDC10F1F6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revision files</a:t>
            </a:r>
          </a:p>
        </p:txBody>
      </p:sp>
      <p:sp>
        <p:nvSpPr>
          <p:cNvPr id="4" name="">
            <a:extLst xmlns:a="http://schemas.openxmlformats.org/drawingml/2006/main">
              <a:ext uri="{FF2B5EF4-FFF2-40B4-BE49-F238E27FC236}">
                <a16:creationId xmlns:a16="http://schemas.microsoft.com/office/drawing/2014/main" id="{C54644BB-DC1C-44EF-BE53-D6CB74C2441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3C1B2D4-DA01-4E4D-8A2D-EA8EBCECB26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this slide deck and CML3112_Test2_practice.csv. Save both on your laptop.</a:t>
            </a:r>
          </a:p>
        </p:txBody>
      </p:sp>
      <p:sp>
        <p:nvSpPr>
          <p:cNvPr id="6" name="">
            <a:extLst xmlns:a="http://schemas.openxmlformats.org/drawingml/2006/main">
              <a:ext uri="{FF2B5EF4-FFF2-40B4-BE49-F238E27FC236}">
                <a16:creationId xmlns:a16="http://schemas.microsoft.com/office/drawing/2014/main" id="{5843B067-EDE5-430D-856B-74232E9B805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8DB2F65-9BDD-46A9-9A1F-E419B7D422B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Work through the examples in order in a new Colab notebook. Try each practice question before reading its answer.</a:t>
            </a:r>
          </a:p>
        </p:txBody>
      </p:sp>
      <p:sp>
        <p:nvSpPr>
          <p:cNvPr id="8" name="">
            <a:extLst xmlns:a="http://schemas.openxmlformats.org/drawingml/2006/main">
              <a:ext uri="{FF2B5EF4-FFF2-40B4-BE49-F238E27FC236}">
                <a16:creationId xmlns:a16="http://schemas.microsoft.com/office/drawing/2014/main" id="{6893E581-8CE7-4526-BDC3-621B6F299E9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2C0E4C2-10B1-432C-A9DA-E241760A85A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Practice is ungraded. Keep your notebook for revision. No form submission is needed.</a:t>
            </a:r>
          </a:p>
        </p:txBody>
      </p:sp>
      <p:sp>
        <p:nvSpPr>
          <p:cNvPr id="10" name="">
            <a:extLst xmlns:a="http://schemas.openxmlformats.org/drawingml/2006/main">
              <a:ext uri="{FF2B5EF4-FFF2-40B4-BE49-F238E27FC236}">
                <a16:creationId xmlns:a16="http://schemas.microsoft.com/office/drawing/2014/main" id="{F56F54AB-71A1-4B91-B61C-3D5B27A396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a:t>
            </a:r>
          </a:p>
        </p:txBody>
      </p:sp>
    </p:spTree>
    <p:extLst>
      <p:ext uri="{BB962C8B-B14F-4D97-AF65-F5344CB8AC3E}">
        <p14:creationId xmlns:p14="http://schemas.microsoft.com/office/powerpoint/2010/main" val="21206186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51D46A1-6F4D-4A63-9381-4FF68BDCF3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B8AAB5-3B0C-4EEB-A0BC-C45273EB6F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D607291-95E6-48D6-950D-B415500FE2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and test-day files</a:t>
            </a:r>
          </a:p>
        </p:txBody>
      </p:sp>
      <p:sp>
        <p:nvSpPr>
          <p:cNvPr id="4" name="">
            <a:extLst xmlns:a="http://schemas.openxmlformats.org/drawingml/2006/main">
              <a:ext uri="{FF2B5EF4-FFF2-40B4-BE49-F238E27FC236}">
                <a16:creationId xmlns:a16="http://schemas.microsoft.com/office/drawing/2014/main" id="{91CA1CB5-6B9D-4DE6-B2E3-7892FD7577D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AE9C385-323D-4EE6-A8B7-EDEDB24AD17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BEFORE THE TEST: use CML3112_Test2_practice.csv with the worked examples in this section.</a:t>
            </a:r>
          </a:p>
        </p:txBody>
      </p:sp>
      <p:sp>
        <p:nvSpPr>
          <p:cNvPr id="6" name="">
            <a:extLst xmlns:a="http://schemas.openxmlformats.org/drawingml/2006/main">
              <a:ext uri="{FF2B5EF4-FFF2-40B4-BE49-F238E27FC236}">
                <a16:creationId xmlns:a16="http://schemas.microsoft.com/office/drawing/2014/main" id="{6E9D9912-D4B5-468B-B115-84B081FBE21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DB6D64F-E103-4666-A5ED-03931204E56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 TEST DAY: the entry page provides a different notebook and engineering_data.csv.</a:t>
            </a:r>
          </a:p>
        </p:txBody>
      </p:sp>
      <p:sp>
        <p:nvSpPr>
          <p:cNvPr id="8" name="">
            <a:extLst xmlns:a="http://schemas.openxmlformats.org/drawingml/2006/main">
              <a:ext uri="{FF2B5EF4-FFF2-40B4-BE49-F238E27FC236}">
                <a16:creationId xmlns:a16="http://schemas.microsoft.com/office/drawing/2014/main" id="{4D94A221-48CE-486A-97B3-88EEC84FA8D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8CEEE8-3B68-490A-A322-7B90BBB569E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test downloads unlock only during the scheduled test window.</a:t>
            </a:r>
          </a:p>
        </p:txBody>
      </p:sp>
      <p:sp>
        <p:nvSpPr>
          <p:cNvPr id="10" name="">
            <a:extLst xmlns:a="http://schemas.openxmlformats.org/drawingml/2006/main">
              <a:ext uri="{FF2B5EF4-FFF2-40B4-BE49-F238E27FC236}">
                <a16:creationId xmlns:a16="http://schemas.microsoft.com/office/drawing/2014/main" id="{2DAA1080-7189-4F6E-9EC6-5BA38D9D9AF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a:t>
            </a:r>
          </a:p>
        </p:txBody>
      </p:sp>
    </p:spTree>
    <p:extLst>
      <p:ext uri="{BB962C8B-B14F-4D97-AF65-F5344CB8AC3E}">
        <p14:creationId xmlns:p14="http://schemas.microsoft.com/office/powerpoint/2010/main" val="16743107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C02580-7099-422F-BBC6-3A40FB12B7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B5C22D-381E-4426-8010-2E7D577FE11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C88306A-3726-46F6-89AF-42D6F8E849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new practice notebook in Colab</a:t>
            </a:r>
          </a:p>
        </p:txBody>
      </p:sp>
      <p:sp>
        <p:nvSpPr>
          <p:cNvPr id="4" name="">
            <a:extLst xmlns:a="http://schemas.openxmlformats.org/drawingml/2006/main">
              <a:ext uri="{FF2B5EF4-FFF2-40B4-BE49-F238E27FC236}">
                <a16:creationId xmlns:a16="http://schemas.microsoft.com/office/drawing/2014/main" id="{AA76E165-8E0E-4E84-B609-F8205A5C1FA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3A60912-0EBC-4526-9C83-49A5FFC2B8A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colab.research.google.com and sign in. Choose New notebook. Rename it Test revision.</a:t>
            </a:r>
          </a:p>
        </p:txBody>
      </p:sp>
      <p:sp>
        <p:nvSpPr>
          <p:cNvPr id="6" name="">
            <a:extLst xmlns:a="http://schemas.openxmlformats.org/drawingml/2006/main">
              <a:ext uri="{FF2B5EF4-FFF2-40B4-BE49-F238E27FC236}">
                <a16:creationId xmlns:a16="http://schemas.microsoft.com/office/drawing/2014/main" id="{9FD8644C-39D8-46BF-9685-3E383196E66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9F0ED2-31E9-424F-809F-EC24E94E4D0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Connect. Add a code cell with + Code. Run a cell with its triangle button.</a:t>
            </a:r>
          </a:p>
        </p:txBody>
      </p:sp>
      <p:sp>
        <p:nvSpPr>
          <p:cNvPr id="8" name="">
            <a:extLst xmlns:a="http://schemas.openxmlformats.org/drawingml/2006/main">
              <a:ext uri="{FF2B5EF4-FFF2-40B4-BE49-F238E27FC236}">
                <a16:creationId xmlns:a16="http://schemas.microsoft.com/office/drawing/2014/main" id="{1D6EE4AA-7E82-4E57-BE84-896D9BA2536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338B667-6EF5-4886-AD95-F9EB1A73510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cells from top to bottom. Save with File, then Save.</a:t>
            </a:r>
          </a:p>
        </p:txBody>
      </p:sp>
      <p:sp>
        <p:nvSpPr>
          <p:cNvPr id="10" name="">
            <a:extLst xmlns:a="http://schemas.openxmlformats.org/drawingml/2006/main">
              <a:ext uri="{FF2B5EF4-FFF2-40B4-BE49-F238E27FC236}">
                <a16:creationId xmlns:a16="http://schemas.microsoft.com/office/drawing/2014/main" id="{6936DB12-E79E-48BE-94A9-FF7FA83B33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a:t>
            </a:r>
          </a:p>
        </p:txBody>
      </p:sp>
    </p:spTree>
    <p:extLst>
      <p:ext uri="{BB962C8B-B14F-4D97-AF65-F5344CB8AC3E}">
        <p14:creationId xmlns:p14="http://schemas.microsoft.com/office/powerpoint/2010/main" val="518794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0FCC46-2672-4B01-8966-E1E688A5443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16E36E-F38E-4DB0-90C1-98D7CB40B02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A2FA0B7F-E2A3-4069-B880-C4D91C09CE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Uploading your practice CSV</a:t>
            </a:r>
          </a:p>
        </p:txBody>
      </p:sp>
      <p:sp>
        <p:nvSpPr>
          <p:cNvPr id="4" name="">
            <a:extLst xmlns:a="http://schemas.openxmlformats.org/drawingml/2006/main">
              <a:ext uri="{FF2B5EF4-FFF2-40B4-BE49-F238E27FC236}">
                <a16:creationId xmlns:a16="http://schemas.microsoft.com/office/drawing/2014/main" id="{38103A88-2F89-4E87-9C86-758475B89CA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5D2BD44-AA52-43E7-BDC7-AB4840DAC46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click the folder icon on the left. Click Upload and choose CML3112_Test2_practice.csv.</a:t>
            </a:r>
          </a:p>
        </p:txBody>
      </p:sp>
      <p:sp>
        <p:nvSpPr>
          <p:cNvPr id="6" name="">
            <a:extLst xmlns:a="http://schemas.openxmlformats.org/drawingml/2006/main">
              <a:ext uri="{FF2B5EF4-FFF2-40B4-BE49-F238E27FC236}">
                <a16:creationId xmlns:a16="http://schemas.microsoft.com/office/drawing/2014/main" id="{7174BF38-C170-4928-A6E2-9EBB20969E1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C6348B9-6672-4BDF-9C45-4B3AA6874E0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Wait until the filename appears in the Files panel. Keep its name unchanged.</a:t>
            </a:r>
          </a:p>
        </p:txBody>
      </p:sp>
      <p:sp>
        <p:nvSpPr>
          <p:cNvPr id="8" name="">
            <a:extLst xmlns:a="http://schemas.openxmlformats.org/drawingml/2006/main">
              <a:ext uri="{FF2B5EF4-FFF2-40B4-BE49-F238E27FC236}">
                <a16:creationId xmlns:a16="http://schemas.microsoft.com/office/drawing/2014/main" id="{F3ECDB09-C911-4C03-A39C-66079BE4FC7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E59E403-C8A0-4B4C-9EBB-AA058A94969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If the session resets, upload the file again before running your cells.</a:t>
            </a:r>
          </a:p>
        </p:txBody>
      </p:sp>
      <p:sp>
        <p:nvSpPr>
          <p:cNvPr id="10" name="">
            <a:extLst xmlns:a="http://schemas.openxmlformats.org/drawingml/2006/main">
              <a:ext uri="{FF2B5EF4-FFF2-40B4-BE49-F238E27FC236}">
                <a16:creationId xmlns:a16="http://schemas.microsoft.com/office/drawing/2014/main" id="{92192DA5-AB84-44D4-8A41-31FF5D8042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a:t>
            </a:r>
          </a:p>
        </p:txBody>
      </p:sp>
    </p:spTree>
    <p:extLst>
      <p:ext uri="{BB962C8B-B14F-4D97-AF65-F5344CB8AC3E}">
        <p14:creationId xmlns:p14="http://schemas.microsoft.com/office/powerpoint/2010/main" val="12684765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D7F59E-9F26-448D-9666-C084018A01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93DC1B-30DD-4778-AD5C-94572579CC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E5287C3-0A27-4ABA-BF86-6DF65859F0E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What each column means</a:t>
            </a:r>
          </a:p>
        </p:txBody>
      </p:sp>
      <p:sp>
        <p:nvSpPr>
          <p:cNvPr id="4" name="">
            <a:extLst xmlns:a="http://schemas.openxmlformats.org/drawingml/2006/main">
              <a:ext uri="{FF2B5EF4-FFF2-40B4-BE49-F238E27FC236}">
                <a16:creationId xmlns:a16="http://schemas.microsoft.com/office/drawing/2014/main" id="{B5144181-0AE6-4C82-9F86-2C019EF593B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BDF599B-E2B4-4AA6-A739-BD61ED8A587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identifies one measurement. machine identifies the equipment that produced it.</a:t>
            </a:r>
          </a:p>
        </p:txBody>
      </p:sp>
      <p:sp>
        <p:nvSpPr>
          <p:cNvPr id="6" name="">
            <a:extLst xmlns:a="http://schemas.openxmlformats.org/drawingml/2006/main">
              <a:ext uri="{FF2B5EF4-FFF2-40B4-BE49-F238E27FC236}">
                <a16:creationId xmlns:a16="http://schemas.microsoft.com/office/drawing/2014/main" id="{957E2BD2-B62F-4B67-B55C-3E7F6D452D64}"/>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5278E34-38CB-4B0B-B8B1-3E880B1DA42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load is the equipment load in percent. target is power demand, measured in kW.</a:t>
            </a:r>
          </a:p>
        </p:txBody>
      </p:sp>
      <p:sp>
        <p:nvSpPr>
          <p:cNvPr id="8" name="">
            <a:extLst xmlns:a="http://schemas.openxmlformats.org/drawingml/2006/main">
              <a:ext uri="{FF2B5EF4-FFF2-40B4-BE49-F238E27FC236}">
                <a16:creationId xmlns:a16="http://schemas.microsoft.com/office/drawing/2014/main" id="{E2B46BA0-9217-4279-A183-0BD31871C3F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E8707E-4FE7-4F7A-A583-C26FBA49D4A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ambient is the surrounding air temperature in °C. A blank cell means the value is missing.</a:t>
            </a:r>
          </a:p>
        </p:txBody>
      </p:sp>
      <p:sp>
        <p:nvSpPr>
          <p:cNvPr id="10" name="">
            <a:extLst xmlns:a="http://schemas.openxmlformats.org/drawingml/2006/main">
              <a:ext uri="{FF2B5EF4-FFF2-40B4-BE49-F238E27FC236}">
                <a16:creationId xmlns:a16="http://schemas.microsoft.com/office/drawing/2014/main" id="{B9013B6D-A334-48FF-9D7B-AD1FDAACAD3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a:t>
            </a:r>
          </a:p>
        </p:txBody>
      </p:sp>
    </p:spTree>
    <p:extLst>
      <p:ext uri="{BB962C8B-B14F-4D97-AF65-F5344CB8AC3E}">
        <p14:creationId xmlns:p14="http://schemas.microsoft.com/office/powerpoint/2010/main" val="20876506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6DBC69-E01F-4404-8B3A-CC36E00E0D7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413575-F8B1-468A-80E0-B7A9A18F227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AD9DEDF-B91D-4DF2-B0F6-1F2B828F69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 with pandas</a:t>
            </a:r>
          </a:p>
        </p:txBody>
      </p:sp>
      <p:sp>
        <p:nvSpPr>
          <p:cNvPr id="4" name="">
            <a:extLst xmlns:a="http://schemas.openxmlformats.org/drawingml/2006/main">
              <a:ext uri="{FF2B5EF4-FFF2-40B4-BE49-F238E27FC236}">
                <a16:creationId xmlns:a16="http://schemas.microsoft.com/office/drawing/2014/main" id="{59CFA2EC-7C16-46BF-858F-E118DB3E980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F1ABA8A-BDE6-420D-9438-8D59763B242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pandas as pd loads pandas and gives it the short name pd.</a:t>
            </a:r>
          </a:p>
        </p:txBody>
      </p:sp>
      <p:sp>
        <p:nvSpPr>
          <p:cNvPr id="6" name="">
            <a:extLst xmlns:a="http://schemas.openxmlformats.org/drawingml/2006/main">
              <a:ext uri="{FF2B5EF4-FFF2-40B4-BE49-F238E27FC236}">
                <a16:creationId xmlns:a16="http://schemas.microsoft.com/office/drawing/2014/main" id="{BABA564B-9694-4485-A7AA-B33E10CE5DC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67B37201-EA4E-4E31-BBC4-90F6C17C6C8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pd.read_csv(filename) reads the uploaded equipment_data. The filename is text, so it needs quotation marks.</a:t>
            </a:r>
          </a:p>
        </p:txBody>
      </p:sp>
      <p:sp>
        <p:nvSpPr>
          <p:cNvPr id="8" name="">
            <a:extLst xmlns:a="http://schemas.openxmlformats.org/drawingml/2006/main">
              <a:ext uri="{FF2B5EF4-FFF2-40B4-BE49-F238E27FC236}">
                <a16:creationId xmlns:a16="http://schemas.microsoft.com/office/drawing/2014/main" id="{35691961-6080-4D40-B870-F5FD3ED7591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86F290D-39A5-4312-A6E9-305A54E7E24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name stores the resulting DataFrame. print(table) displays it, and len(table) counts its rows.</a:t>
            </a:r>
          </a:p>
        </p:txBody>
      </p:sp>
      <p:sp>
        <p:nvSpPr>
          <p:cNvPr id="10" name="">
            <a:extLst xmlns:a="http://schemas.openxmlformats.org/drawingml/2006/main">
              <a:ext uri="{FF2B5EF4-FFF2-40B4-BE49-F238E27FC236}">
                <a16:creationId xmlns:a16="http://schemas.microsoft.com/office/drawing/2014/main" id="{84CB17EA-4B45-4C96-BD2F-F1B3CD82DC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7</a:t>
            </a:r>
          </a:p>
        </p:txBody>
      </p:sp>
    </p:spTree>
    <p:extLst>
      <p:ext uri="{BB962C8B-B14F-4D97-AF65-F5344CB8AC3E}">
        <p14:creationId xmlns:p14="http://schemas.microsoft.com/office/powerpoint/2010/main" val="15012023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AE84F9-5873-4CCF-945B-21ACFA260CF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342DA76-20EB-437F-963A-95E53742883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5AAA082-A8E7-4505-91CB-0C5A914F0C1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the code syntax / Import and short names</a:t>
            </a:r>
          </a:p>
        </p:txBody>
      </p:sp>
      <p:sp>
        <p:nvSpPr>
          <p:cNvPr id="4" name="">
            <a:extLst xmlns:a="http://schemas.openxmlformats.org/drawingml/2006/main">
              <a:ext uri="{FF2B5EF4-FFF2-40B4-BE49-F238E27FC236}">
                <a16:creationId xmlns:a16="http://schemas.microsoft.com/office/drawing/2014/main" id="{34E851BE-E5DB-4D51-A3E8-455A8B0180F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271B10-90CA-47E1-BF7B-B9089D208EF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81EE947-9F50-4B33-B588-AF962D2AC12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 assigns a value to a name; == compares values. Parentheses pass inputs or continue an expression across lines. print displays a value; len counts entries. int and float convert to integer and decimal numeric values.</a:t>
            </a:r>
          </a:p>
        </p:txBody>
      </p:sp>
      <p:sp>
        <p:nvSpPr>
          <p:cNvPr id="7" name="">
            <a:extLst xmlns:a="http://schemas.openxmlformats.org/drawingml/2006/main">
              <a:ext uri="{FF2B5EF4-FFF2-40B4-BE49-F238E27FC236}">
                <a16:creationId xmlns:a16="http://schemas.microsoft.com/office/drawing/2014/main" id="{2352D19C-7BE2-4A98-A5EB-E8DB1F0AB37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import pandas as pd loads pandas and gives it the short name pd. pd.read_csv refers to a function in that library.</a:t>
            </a:r>
          </a:p>
        </p:txBody>
      </p:sp>
      <p:sp>
        <p:nvSpPr>
          <p:cNvPr id="8" name="">
            <a:extLst xmlns:a="http://schemas.openxmlformats.org/drawingml/2006/main">
              <a:ext uri="{FF2B5EF4-FFF2-40B4-BE49-F238E27FC236}">
                <a16:creationId xmlns:a16="http://schemas.microsoft.com/office/drawing/2014/main" id="{2F096A85-FEAB-410B-A8AC-77605CEEEF9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8</a:t>
            </a:r>
          </a:p>
        </p:txBody>
      </p:sp>
    </p:spTree>
    <p:extLst>
      <p:ext uri="{BB962C8B-B14F-4D97-AF65-F5344CB8AC3E}">
        <p14:creationId xmlns:p14="http://schemas.microsoft.com/office/powerpoint/2010/main" val="5258932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990DCC-4BD8-47AC-8503-D9FD985065D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B710BE9-2443-45F8-92BE-3BE5D1EC6EF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8922ABE-F74E-4166-8761-197F3ACD176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Reading a CSV</a:t>
            </a:r>
          </a:p>
        </p:txBody>
      </p:sp>
      <p:sp>
        <p:nvSpPr>
          <p:cNvPr id="4" name="">
            <a:extLst xmlns:a="http://schemas.openxmlformats.org/drawingml/2006/main">
              <a:ext uri="{FF2B5EF4-FFF2-40B4-BE49-F238E27FC236}">
                <a16:creationId xmlns:a16="http://schemas.microsoft.com/office/drawing/2014/main" id="{F2B43B01-BFF7-40C5-9C57-E2852F1A2E1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B632C1-9146-4638-A72A-2E1041F82DF1}"/>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pd.read_csv("filename.csv") reads the named file into a DataFrame: a table with labelled columns and row labels. The file must exist in the working folder.</a:t>
            </a:r>
          </a:p>
        </p:txBody>
      </p:sp>
      <p:sp>
        <p:nvSpPr>
          <p:cNvPr id="6" name="">
            <a:extLst xmlns:a="http://schemas.openxmlformats.org/drawingml/2006/main">
              <a:ext uri="{FF2B5EF4-FFF2-40B4-BE49-F238E27FC236}">
                <a16:creationId xmlns:a16="http://schemas.microsoft.com/office/drawing/2014/main" id="{A922B288-66E2-4138-A9BA-BB8DFD91BF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9</a:t>
            </a:r>
          </a:p>
        </p:txBody>
      </p:sp>
    </p:spTree>
    <p:extLst>
      <p:ext uri="{BB962C8B-B14F-4D97-AF65-F5344CB8AC3E}">
        <p14:creationId xmlns:p14="http://schemas.microsoft.com/office/powerpoint/2010/main" val="6952324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3F2AFFB-4357-4232-B79C-699503C6747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20CE84-43C9-4E96-A421-DCCCF96617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11A2D7F4-3C84-47D6-A3A4-A8FE1D2583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practice file</a:t>
            </a:r>
          </a:p>
        </p:txBody>
      </p:sp>
      <p:sp>
        <p:nvSpPr>
          <p:cNvPr id="4" name="">
            <a:extLst xmlns:a="http://schemas.openxmlformats.org/drawingml/2006/main">
              <a:ext uri="{FF2B5EF4-FFF2-40B4-BE49-F238E27FC236}">
                <a16:creationId xmlns:a16="http://schemas.microsoft.com/office/drawing/2014/main" id="{CC205E31-62E7-4FE0-AB6D-E9DBDF1A202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B2B2597-267D-4286-AC18-37B27CD78EF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practice_filename = "CML3112_Test2_practice.csv"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practice_data = pd.read_csv(practice_filename)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print(practice_data)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print(len(practice_data))</a:t>
            </a:r>
          </a:p>
        </p:txBody>
      </p:sp>
      <p:sp>
        <p:nvSpPr>
          <p:cNvPr id="6" name="">
            <a:extLst xmlns:a="http://schemas.openxmlformats.org/drawingml/2006/main">
              <a:ext uri="{FF2B5EF4-FFF2-40B4-BE49-F238E27FC236}">
                <a16:creationId xmlns:a16="http://schemas.microsoft.com/office/drawing/2014/main" id="{0C815866-88C4-4A80-98AB-1958B2022F45}"/>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practice_filename: the exact name of the accompanying revision CSV.</a:t>
            </a:r>
          </a:p>
        </p:txBody>
      </p:sp>
      <p:sp>
        <p:nvSpPr>
          <p:cNvPr id="7" name="">
            <a:extLst xmlns:a="http://schemas.openxmlformats.org/drawingml/2006/main">
              <a:ext uri="{FF2B5EF4-FFF2-40B4-BE49-F238E27FC236}">
                <a16:creationId xmlns:a16="http://schemas.microsoft.com/office/drawing/2014/main" id="{8C490957-BD17-46FE-90A4-854A196B262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8283B6D-8647-4679-9472-DD8BB154E48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10</a:t>
            </a:r>
          </a:p>
        </p:txBody>
      </p:sp>
    </p:spTree>
    <p:extLst>
      <p:ext uri="{BB962C8B-B14F-4D97-AF65-F5344CB8AC3E}">
        <p14:creationId xmlns:p14="http://schemas.microsoft.com/office/powerpoint/2010/main" val="5171569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9C2859A-833B-4652-8370-94681A0114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EA256C-7441-4F5A-BD27-75CDE75B508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61EF272-41DA-4D26-8FB0-1DE451F9337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separate working table / Returning plain values</a:t>
            </a:r>
          </a:p>
        </p:txBody>
      </p:sp>
      <p:sp>
        <p:nvSpPr>
          <p:cNvPr id="4" name="">
            <a:extLst xmlns:a="http://schemas.openxmlformats.org/drawingml/2006/main">
              <a:ext uri="{FF2B5EF4-FFF2-40B4-BE49-F238E27FC236}">
                <a16:creationId xmlns:a16="http://schemas.microsoft.com/office/drawing/2014/main" id="{670E0318-CFF0-492F-8408-339F734A0B0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49FC54E-DEE3-458E-8711-8299C66DCFD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E35BD0E-AC3B-4691-ACB0-45B165F3DD6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table.copy() creates a working copy. Assigning columns on this copy preserves the source table, so you can compare before and after.</a:t>
            </a:r>
          </a:p>
        </p:txBody>
      </p:sp>
      <p:sp>
        <p:nvSpPr>
          <p:cNvPr id="7" name="">
            <a:extLst xmlns:a="http://schemas.openxmlformats.org/drawingml/2006/main">
              <a:ext uri="{FF2B5EF4-FFF2-40B4-BE49-F238E27FC236}">
                <a16:creationId xmlns:a16="http://schemas.microsoft.com/office/drawing/2014/main" id="{B7A90639-FAB2-42BA-934E-0A2E381965B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series.tolist() or array.tolist() returns a Python list of values, without pandas row labels. Preserve their order when pairing actual values and predictions.</a:t>
            </a:r>
          </a:p>
        </p:txBody>
      </p:sp>
      <p:sp>
        <p:nvSpPr>
          <p:cNvPr id="8" name="">
            <a:extLst xmlns:a="http://schemas.openxmlformats.org/drawingml/2006/main">
              <a:ext uri="{FF2B5EF4-FFF2-40B4-BE49-F238E27FC236}">
                <a16:creationId xmlns:a16="http://schemas.microsoft.com/office/drawing/2014/main" id="{0E6692FC-CBD7-4C8B-92B4-1E5B66D5DF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11</a:t>
            </a:r>
          </a:p>
        </p:txBody>
      </p:sp>
    </p:spTree>
    <p:extLst>
      <p:ext uri="{BB962C8B-B14F-4D97-AF65-F5344CB8AC3E}">
        <p14:creationId xmlns:p14="http://schemas.microsoft.com/office/powerpoint/2010/main" val="19486442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97484D-4CCB-4A4A-8E4C-FDFEB37E79E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6F03F9-D17B-4638-9031-CC57698B8B8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7526DE-A80B-4A04-99D0-672960832A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columns</a:t>
            </a:r>
          </a:p>
        </p:txBody>
      </p:sp>
      <p:sp>
        <p:nvSpPr>
          <p:cNvPr id="4" name="">
            <a:extLst xmlns:a="http://schemas.openxmlformats.org/drawingml/2006/main">
              <a:ext uri="{FF2B5EF4-FFF2-40B4-BE49-F238E27FC236}">
                <a16:creationId xmlns:a16="http://schemas.microsoft.com/office/drawing/2014/main" id="{D54CEC1F-54B8-406A-9412-9DE2CE692EE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CFD0E3-750F-4371-8D84-B2C0B7103B3E}"/>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table["column"] returns one labelled column, a Series. table[["a", "b"]] returns a DataFrame containing those named columns in that order.</a:t>
            </a:r>
          </a:p>
        </p:txBody>
      </p:sp>
      <p:sp>
        <p:nvSpPr>
          <p:cNvPr id="6" name="">
            <a:extLst xmlns:a="http://schemas.openxmlformats.org/drawingml/2006/main">
              <a:ext uri="{FF2B5EF4-FFF2-40B4-BE49-F238E27FC236}">
                <a16:creationId xmlns:a16="http://schemas.microsoft.com/office/drawing/2014/main" id="{EABFA89B-2637-442D-B60E-0A56FBB917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12</a:t>
            </a:r>
          </a:p>
        </p:txBody>
      </p:sp>
    </p:spTree>
    <p:extLst>
      <p:ext uri="{BB962C8B-B14F-4D97-AF65-F5344CB8AC3E}">
        <p14:creationId xmlns:p14="http://schemas.microsoft.com/office/powerpoint/2010/main" val="1013129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4FCB1B-DD1C-4B36-B6CE-5EE39C8CA4F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C23D1-CC85-4E0A-8150-1E32F59CA5C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9EFF100-8AC7-4BEE-8174-385BC35262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Keeping the source table</a:t>
            </a:r>
          </a:p>
        </p:txBody>
      </p:sp>
      <p:sp>
        <p:nvSpPr>
          <p:cNvPr id="4" name="">
            <a:extLst xmlns:a="http://schemas.openxmlformats.org/drawingml/2006/main">
              <a:ext uri="{FF2B5EF4-FFF2-40B4-BE49-F238E27FC236}">
                <a16:creationId xmlns:a16="http://schemas.microsoft.com/office/drawing/2014/main" id="{6B0EAF95-A6FB-45D2-94D7-249CC487464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F17E37-02A3-4A8F-9FFD-36478F8DEB16}"/>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practice_data.copy()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print(raw_data["target"].tolist())</a:t>
            </a:r>
          </a:p>
        </p:txBody>
      </p:sp>
      <p:sp>
        <p:nvSpPr>
          <p:cNvPr id="6" name="">
            <a:extLst xmlns:a="http://schemas.openxmlformats.org/drawingml/2006/main">
              <a:ext uri="{FF2B5EF4-FFF2-40B4-BE49-F238E27FC236}">
                <a16:creationId xmlns:a16="http://schemas.microsoft.com/office/drawing/2014/main" id="{B41D4CB6-C597-4808-9E2B-2A6FAD4BBAA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681570C-D4C9-4BD7-A596-D26482EB4E9F}"/>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raw_data: original CSV table; keep it unchanged so the analysis can be checked.</a:t>
            </a:r>
          </a:p>
        </p:txBody>
      </p:sp>
      <p:sp>
        <p:nvSpPr>
          <p:cNvPr id="8" name="">
            <a:extLst xmlns:a="http://schemas.openxmlformats.org/drawingml/2006/main">
              <a:ext uri="{FF2B5EF4-FFF2-40B4-BE49-F238E27FC236}">
                <a16:creationId xmlns:a16="http://schemas.microsoft.com/office/drawing/2014/main" id="{EF35B1BF-44BA-469E-9AAC-533186B5A68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4A05290F-0FBF-4830-B109-3927C234851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13</a:t>
            </a:r>
          </a:p>
        </p:txBody>
      </p:sp>
    </p:spTree>
    <p:extLst>
      <p:ext uri="{BB962C8B-B14F-4D97-AF65-F5344CB8AC3E}">
        <p14:creationId xmlns:p14="http://schemas.microsoft.com/office/powerpoint/2010/main" val="10159177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FD7F46-8E01-47A1-8769-60F300D0F9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8D9771-4F9B-4251-8C89-A203EB0E243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B77F849-0057-419C-BC0C-3243F172824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Inputs, targets and held-out data</a:t>
            </a:r>
          </a:p>
        </p:txBody>
      </p:sp>
      <p:sp>
        <p:nvSpPr>
          <p:cNvPr id="4" name="">
            <a:extLst xmlns:a="http://schemas.openxmlformats.org/drawingml/2006/main">
              <a:ext uri="{FF2B5EF4-FFF2-40B4-BE49-F238E27FC236}">
                <a16:creationId xmlns:a16="http://schemas.microsoft.com/office/drawing/2014/main" id="{FED527AD-3424-412F-AC1E-94455A4932A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DCEE3AF-FBEA-4711-8980-3CBCFFAAE15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Features are the input columns used to predict. In this example, load is the feature and target is the measured result.</a:t>
            </a:r>
          </a:p>
        </p:txBody>
      </p:sp>
      <p:sp>
        <p:nvSpPr>
          <p:cNvPr id="6" name="">
            <a:extLst xmlns:a="http://schemas.openxmlformats.org/drawingml/2006/main">
              <a:ext uri="{FF2B5EF4-FFF2-40B4-BE49-F238E27FC236}">
                <a16:creationId xmlns:a16="http://schemas.microsoft.com/office/drawing/2014/main" id="{DDE00610-5DB7-46D9-B3CA-DC7D6C01CA8F}"/>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E67A00-72BF-4DFC-B9D2-5C8A61467693}"/>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Training rows teach the linear_model. Validation rows help compare models.</a:t>
            </a:r>
          </a:p>
        </p:txBody>
      </p:sp>
      <p:sp>
        <p:nvSpPr>
          <p:cNvPr id="8" name="">
            <a:extLst xmlns:a="http://schemas.openxmlformats.org/drawingml/2006/main">
              <a:ext uri="{FF2B5EF4-FFF2-40B4-BE49-F238E27FC236}">
                <a16:creationId xmlns:a16="http://schemas.microsoft.com/office/drawing/2014/main" id="{56595B11-5752-43EB-A74C-36B6345AEE7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F44B26E-7095-4450-A385-9A6AA14C8F7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final test rows untouched until the model choice is complete.</a:t>
            </a:r>
          </a:p>
        </p:txBody>
      </p:sp>
      <p:sp>
        <p:nvSpPr>
          <p:cNvPr id="10" name="">
            <a:extLst xmlns:a="http://schemas.openxmlformats.org/drawingml/2006/main">
              <a:ext uri="{FF2B5EF4-FFF2-40B4-BE49-F238E27FC236}">
                <a16:creationId xmlns:a16="http://schemas.microsoft.com/office/drawing/2014/main" id="{C92541B5-783A-4716-8080-2A5B0F9A78C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14</a:t>
            </a:r>
          </a:p>
        </p:txBody>
      </p:sp>
    </p:spTree>
    <p:extLst>
      <p:ext uri="{BB962C8B-B14F-4D97-AF65-F5344CB8AC3E}">
        <p14:creationId xmlns:p14="http://schemas.microsoft.com/office/powerpoint/2010/main" val="5270976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FFF9E8-9134-4517-8165-16633F84958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CD7B76-5758-40BD-8AF0-78236D6824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F159593-A479-4C12-900B-209ECED501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groups without mixing machines</a:t>
            </a:r>
          </a:p>
        </p:txBody>
      </p:sp>
      <p:sp>
        <p:nvSpPr>
          <p:cNvPr id="4" name="">
            <a:extLst xmlns:a="http://schemas.openxmlformats.org/drawingml/2006/main">
              <a:ext uri="{FF2B5EF4-FFF2-40B4-BE49-F238E27FC236}">
                <a16:creationId xmlns:a16="http://schemas.microsoft.com/office/drawing/2014/main" id="{FE82C78A-9F8C-45EC-93EC-205AE61386E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4DD18C4-A273-492B-901E-06F77906A51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isin(["M1"]) marks rows belonging to the listed machine.</a:t>
            </a:r>
          </a:p>
        </p:txBody>
      </p:sp>
      <p:sp>
        <p:nvSpPr>
          <p:cNvPr id="6" name="">
            <a:extLst xmlns:a="http://schemas.openxmlformats.org/drawingml/2006/main">
              <a:ext uri="{FF2B5EF4-FFF2-40B4-BE49-F238E27FC236}">
                <a16:creationId xmlns:a16="http://schemas.microsoft.com/office/drawing/2014/main" id="{3B641324-062B-416C-AAE4-F94292B6B76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D21BC10-47A6-4C10-A91C-2547C9A9CB4A}"/>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.loc[mask] keeps the rows marked True. .copy() creates a separate equipment_data.</a:t>
            </a:r>
          </a:p>
        </p:txBody>
      </p:sp>
      <p:sp>
        <p:nvSpPr>
          <p:cNvPr id="8" name="">
            <a:extLst xmlns:a="http://schemas.openxmlformats.org/drawingml/2006/main">
              <a:ext uri="{FF2B5EF4-FFF2-40B4-BE49-F238E27FC236}">
                <a16:creationId xmlns:a16="http://schemas.microsoft.com/office/drawing/2014/main" id="{FD5B84F1-4FA0-4345-BFD0-3A9FD97D183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D4CFA60-C2EC-40BC-8F8C-6BAFDC64E61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machine must belong to one data partition. Otherwise its patterns may leak into evaluation.</a:t>
            </a:r>
          </a:p>
        </p:txBody>
      </p:sp>
      <p:sp>
        <p:nvSpPr>
          <p:cNvPr id="10" name="">
            <a:extLst xmlns:a="http://schemas.openxmlformats.org/drawingml/2006/main">
              <a:ext uri="{FF2B5EF4-FFF2-40B4-BE49-F238E27FC236}">
                <a16:creationId xmlns:a16="http://schemas.microsoft.com/office/drawing/2014/main" id="{4564BF75-E126-4EFD-AA3D-DC94CD9C1F6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15</a:t>
            </a:r>
          </a:p>
        </p:txBody>
      </p:sp>
    </p:spTree>
    <p:extLst>
      <p:ext uri="{BB962C8B-B14F-4D97-AF65-F5344CB8AC3E}">
        <p14:creationId xmlns:p14="http://schemas.microsoft.com/office/powerpoint/2010/main" val="14041072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9E6DAC-8ED1-4885-B1A3-AD4A2541C7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F23138-846E-4553-8D1D-214A6E6A1F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397D99E-8798-4399-A3E4-6CD0DF1D43A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Selecting labelled rows / Membership in a group list</a:t>
            </a:r>
          </a:p>
        </p:txBody>
      </p:sp>
      <p:sp>
        <p:nvSpPr>
          <p:cNvPr id="4" name="">
            <a:extLst xmlns:a="http://schemas.openxmlformats.org/drawingml/2006/main">
              <a:ext uri="{FF2B5EF4-FFF2-40B4-BE49-F238E27FC236}">
                <a16:creationId xmlns:a16="http://schemas.microsoft.com/office/drawing/2014/main" id="{70CB28F3-F86F-4C3B-B724-52B94B6B78C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7B4F6AC-FB0C-4DBB-9E31-489FD40631B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5D78FA-8911-465F-B489-734EBFE4553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table.loc[row_mask] selects rows whose mask is True. With column labels, .loc selects named columns too. .copy() makes a separate working table after selection.</a:t>
            </a:r>
          </a:p>
        </p:txBody>
      </p:sp>
      <p:sp>
        <p:nvSpPr>
          <p:cNvPr id="7" name="">
            <a:extLst xmlns:a="http://schemas.openxmlformats.org/drawingml/2006/main">
              <a:ext uri="{FF2B5EF4-FFF2-40B4-BE49-F238E27FC236}">
                <a16:creationId xmlns:a16="http://schemas.microsoft.com/office/drawing/2014/main" id="{4563ED86-C3AC-44AE-B23E-A440D666890C}"/>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series.isin(["E1", "E2"]) returns True for entries matching either listed label. table[that_mask] keeps all observations belonging to those groups.</a:t>
            </a:r>
          </a:p>
        </p:txBody>
      </p:sp>
      <p:sp>
        <p:nvSpPr>
          <p:cNvPr id="8" name="">
            <a:extLst xmlns:a="http://schemas.openxmlformats.org/drawingml/2006/main">
              <a:ext uri="{FF2B5EF4-FFF2-40B4-BE49-F238E27FC236}">
                <a16:creationId xmlns:a16="http://schemas.microsoft.com/office/drawing/2014/main" id="{E8A8D66C-A5F6-48FE-8B0A-3613FD560B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16</a:t>
            </a:r>
          </a:p>
        </p:txBody>
      </p:sp>
    </p:spTree>
    <p:extLst>
      <p:ext uri="{BB962C8B-B14F-4D97-AF65-F5344CB8AC3E}">
        <p14:creationId xmlns:p14="http://schemas.microsoft.com/office/powerpoint/2010/main" val="67587066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60F414-5117-49E2-94B4-DE9D0398F2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8B57C2-6D23-4BD1-A469-54047654D67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A0D80F0-EACB-43DB-A44A-6593FB7DE3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small group split</a:t>
            </a:r>
          </a:p>
        </p:txBody>
      </p:sp>
      <p:sp>
        <p:nvSpPr>
          <p:cNvPr id="4" name="">
            <a:extLst xmlns:a="http://schemas.openxmlformats.org/drawingml/2006/main">
              <a:ext uri="{FF2B5EF4-FFF2-40B4-BE49-F238E27FC236}">
                <a16:creationId xmlns:a16="http://schemas.microsoft.com/office/drawing/2014/main" id="{46D798BB-9687-47F4-B5B2-FFB625D33D10}"/>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1A5CAD-AEA8-4915-ACF7-6E7942784F0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raw_data["machine"].isin(["M1"])</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raw_data.loc[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raw_data["machine"].isin(["M2"])</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print(training_data["target"].tolist())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print(validation_data["target"].tolist())</a:t>
            </a:r>
          </a:p>
        </p:txBody>
      </p:sp>
      <p:sp>
        <p:nvSpPr>
          <p:cNvPr id="6" name="">
            <a:extLst xmlns:a="http://schemas.openxmlformats.org/drawingml/2006/main">
              <a:ext uri="{FF2B5EF4-FFF2-40B4-BE49-F238E27FC236}">
                <a16:creationId xmlns:a16="http://schemas.microsoft.com/office/drawing/2014/main" id="{E230C842-7D76-45A4-B683-13AECBF01C9F}"/>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D6515A2E-FE85-41C7-A157-B3E2E70B2DA8}"/>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training_data: rows used to learn model settings; only these rows may determine imputation values.</a:t>
            </a:r>
          </a:p>
        </p:txBody>
      </p:sp>
      <p:sp>
        <p:nvSpPr>
          <p:cNvPr id="8" name="">
            <a:extLst xmlns:a="http://schemas.openxmlformats.org/drawingml/2006/main">
              <a:ext uri="{FF2B5EF4-FFF2-40B4-BE49-F238E27FC236}">
                <a16:creationId xmlns:a16="http://schemas.microsoft.com/office/drawing/2014/main" id="{65E5261C-2C10-405D-909E-774A756BC42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FD6A5681-E217-487B-B30F-856010DD41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17</a:t>
            </a:r>
          </a:p>
        </p:txBody>
      </p:sp>
    </p:spTree>
    <p:extLst>
      <p:ext uri="{BB962C8B-B14F-4D97-AF65-F5344CB8AC3E}">
        <p14:creationId xmlns:p14="http://schemas.microsoft.com/office/powerpoint/2010/main" val="195422364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3D3240-E704-46C0-AE17-3CFB359560F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1AC960-B603-4C5D-9F2E-4DBA0B4E2BE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FA110B5-04F8-4303-BA2B-DB0201514A5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baseline before a fitted model</a:t>
            </a:r>
          </a:p>
        </p:txBody>
      </p:sp>
      <p:sp>
        <p:nvSpPr>
          <p:cNvPr id="4" name="">
            <a:extLst xmlns:a="http://schemas.openxmlformats.org/drawingml/2006/main">
              <a:ext uri="{FF2B5EF4-FFF2-40B4-BE49-F238E27FC236}">
                <a16:creationId xmlns:a16="http://schemas.microsoft.com/office/drawing/2014/main" id="{3176FB8E-4068-44A8-B6D2-F6686EA8745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CB5B227-103F-40CC-8E86-62FB0C2823AF}"/>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baseline is a simple prediction used for comparison.</a:t>
            </a:r>
          </a:p>
        </p:txBody>
      </p:sp>
      <p:sp>
        <p:nvSpPr>
          <p:cNvPr id="6" name="">
            <a:extLst xmlns:a="http://schemas.openxmlformats.org/drawingml/2006/main">
              <a:ext uri="{FF2B5EF4-FFF2-40B4-BE49-F238E27FC236}">
                <a16:creationId xmlns:a16="http://schemas.microsoft.com/office/drawing/2014/main" id="{C9075F4B-B223-4E9E-93E6-EB4439F5457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D97CF9F-7592-4ED2-9D70-78ACC60B240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mean baseline predicts the training target mean for every new row.</a:t>
            </a:r>
          </a:p>
        </p:txBody>
      </p:sp>
      <p:sp>
        <p:nvSpPr>
          <p:cNvPr id="8" name="">
            <a:extLst xmlns:a="http://schemas.openxmlformats.org/drawingml/2006/main">
              <a:ext uri="{FF2B5EF4-FFF2-40B4-BE49-F238E27FC236}">
                <a16:creationId xmlns:a16="http://schemas.microsoft.com/office/drawing/2014/main" id="{E4E19EE6-4EB7-4D71-8653-BCB931F4F450}"/>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BB6D4FE-84FA-404A-B5F2-2C69D43D222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use validation targets to calculate the training mean.</a:t>
            </a:r>
          </a:p>
        </p:txBody>
      </p:sp>
      <p:sp>
        <p:nvSpPr>
          <p:cNvPr id="10" name="">
            <a:extLst xmlns:a="http://schemas.openxmlformats.org/drawingml/2006/main">
              <a:ext uri="{FF2B5EF4-FFF2-40B4-BE49-F238E27FC236}">
                <a16:creationId xmlns:a16="http://schemas.microsoft.com/office/drawing/2014/main" id="{CA0AC285-CEC2-48EA-B903-6D75D911591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18</a:t>
            </a:r>
          </a:p>
        </p:txBody>
      </p:sp>
    </p:spTree>
    <p:extLst>
      <p:ext uri="{BB962C8B-B14F-4D97-AF65-F5344CB8AC3E}">
        <p14:creationId xmlns:p14="http://schemas.microsoft.com/office/powerpoint/2010/main" val="165056805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596F17-0F45-43CE-9CC5-71DFA44A49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D01B63E-EAAD-49CC-BF18-0057BB5EA84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27D1AA7-9D05-4812-87FC-77E3BCAE8E4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Repeating a baseline value / Mean of recorded values</a:t>
            </a:r>
          </a:p>
        </p:txBody>
      </p:sp>
      <p:sp>
        <p:nvSpPr>
          <p:cNvPr id="4" name="">
            <a:extLst xmlns:a="http://schemas.openxmlformats.org/drawingml/2006/main">
              <a:ext uri="{FF2B5EF4-FFF2-40B4-BE49-F238E27FC236}">
                <a16:creationId xmlns:a16="http://schemas.microsoft.com/office/drawing/2014/main" id="{7DA449A8-CAA8-4B47-9123-F7C0B50C445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6CA013B-5050-469C-8D5F-429E2DEBDFB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0BF891-8809-49F0-9CE4-C74AA43F64C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[training_target_mean] is a one-item list. Multiplying that list by the number of validation rows repeats its value once per row. This is list repetition, not multiplication of the mean itself.</a:t>
            </a:r>
          </a:p>
        </p:txBody>
      </p:sp>
      <p:sp>
        <p:nvSpPr>
          <p:cNvPr id="7" name="">
            <a:extLst xmlns:a="http://schemas.openxmlformats.org/drawingml/2006/main">
              <a:ext uri="{FF2B5EF4-FFF2-40B4-BE49-F238E27FC236}">
                <a16:creationId xmlns:a16="http://schemas.microsoft.com/office/drawing/2014/main" id="{37752A6C-DE56-43BC-8DE7-CA6035D1B42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series.mean() adds known values and divides by their count. pandas skips missing values by default. The result has the same unit as the original column.</a:t>
            </a:r>
          </a:p>
        </p:txBody>
      </p:sp>
      <p:sp>
        <p:nvSpPr>
          <p:cNvPr id="8" name="">
            <a:extLst xmlns:a="http://schemas.openxmlformats.org/drawingml/2006/main">
              <a:ext uri="{FF2B5EF4-FFF2-40B4-BE49-F238E27FC236}">
                <a16:creationId xmlns:a16="http://schemas.microsoft.com/office/drawing/2014/main" id="{6FD23A92-EDBA-4F44-822B-FD647956F9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19</a:t>
            </a:r>
          </a:p>
        </p:txBody>
      </p:sp>
    </p:spTree>
    <p:extLst>
      <p:ext uri="{BB962C8B-B14F-4D97-AF65-F5344CB8AC3E}">
        <p14:creationId xmlns:p14="http://schemas.microsoft.com/office/powerpoint/2010/main" val="163833444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7343F7-24AE-49B7-A865-2992E2E2A58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BE1487-7244-4A61-BBDD-EE0C79F3644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2EAAABA-8C81-4282-96CB-26ECD56C784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Training-mean baseline</a:t>
            </a:r>
          </a:p>
        </p:txBody>
      </p:sp>
      <p:sp>
        <p:nvSpPr>
          <p:cNvPr id="4" name="">
            <a:extLst xmlns:a="http://schemas.openxmlformats.org/drawingml/2006/main">
              <a:ext uri="{FF2B5EF4-FFF2-40B4-BE49-F238E27FC236}">
                <a16:creationId xmlns:a16="http://schemas.microsoft.com/office/drawing/2014/main" id="{3C789F16-8555-4D62-A60E-7084E2A2D46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82A4F04-F835-45C2-83C0-6FD4E536A230}"/>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training_target_mean = training_data["target"].mean()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baseline_predictions = [training_target_mean] * len(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print(baseline_predictions)</a:t>
            </a:r>
          </a:p>
        </p:txBody>
      </p:sp>
      <p:sp>
        <p:nvSpPr>
          <p:cNvPr id="6" name="">
            <a:extLst xmlns:a="http://schemas.openxmlformats.org/drawingml/2006/main">
              <a:ext uri="{FF2B5EF4-FFF2-40B4-BE49-F238E27FC236}">
                <a16:creationId xmlns:a16="http://schemas.microsoft.com/office/drawing/2014/main" id="{0235836D-501E-4F8C-AC9E-849C73F331A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training_target_mean: mean target calculated from training rows only.</a:t>
            </a:r>
          </a:p>
        </p:txBody>
      </p:sp>
      <p:sp>
        <p:nvSpPr>
          <p:cNvPr id="7" name="">
            <a:extLst xmlns:a="http://schemas.openxmlformats.org/drawingml/2006/main">
              <a:ext uri="{FF2B5EF4-FFF2-40B4-BE49-F238E27FC236}">
                <a16:creationId xmlns:a16="http://schemas.microsoft.com/office/drawing/2014/main" id="{08F9C450-CF95-4191-B113-B67A7619EFE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AB648D31-7C0D-43E8-9BAD-5EA7CE1DB50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20</a:t>
            </a:r>
          </a:p>
        </p:txBody>
      </p:sp>
    </p:spTree>
    <p:extLst>
      <p:ext uri="{BB962C8B-B14F-4D97-AF65-F5344CB8AC3E}">
        <p14:creationId xmlns:p14="http://schemas.microsoft.com/office/powerpoint/2010/main" val="13656959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00B35E-AE69-41DA-BDB7-4E6891F13A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FDCDC9-026C-4A81-9FC9-E04E95FC23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C36977A-F05E-4CE9-8C6F-3921694E26A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absolute error and RMSE</a:t>
            </a:r>
          </a:p>
        </p:txBody>
      </p:sp>
      <p:sp>
        <p:nvSpPr>
          <p:cNvPr id="4" name="">
            <a:extLst xmlns:a="http://schemas.openxmlformats.org/drawingml/2006/main">
              <a:ext uri="{FF2B5EF4-FFF2-40B4-BE49-F238E27FC236}">
                <a16:creationId xmlns:a16="http://schemas.microsoft.com/office/drawing/2014/main" id="{0ECE4B36-8C65-46B1-8213-E723674BEA02}"/>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42BF200-1DF0-458A-BA7D-EB473667969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 = actual value − predicted value. Absolute error removes the sign.</a:t>
            </a:r>
          </a:p>
        </p:txBody>
      </p:sp>
      <p:sp>
        <p:nvSpPr>
          <p:cNvPr id="6" name="">
            <a:extLst xmlns:a="http://schemas.openxmlformats.org/drawingml/2006/main">
              <a:ext uri="{FF2B5EF4-FFF2-40B4-BE49-F238E27FC236}">
                <a16:creationId xmlns:a16="http://schemas.microsoft.com/office/drawing/2014/main" id="{0A4D47BC-F355-42DA-B6CA-B7C42D447F1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C4D8EAB-1A68-4429-BB8F-B4FF6BAE04B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is the mean absolute error. RMSE is the square root of the mean squared error.</a:t>
            </a:r>
          </a:p>
        </p:txBody>
      </p:sp>
      <p:sp>
        <p:nvSpPr>
          <p:cNvPr id="8" name="">
            <a:extLst xmlns:a="http://schemas.openxmlformats.org/drawingml/2006/main">
              <a:ext uri="{FF2B5EF4-FFF2-40B4-BE49-F238E27FC236}">
                <a16:creationId xmlns:a16="http://schemas.microsoft.com/office/drawing/2014/main" id="{52F06500-27DC-43B0-826E-83E8AC1799C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4D18FDE-86C8-42DD-B41D-3568378948F1}"/>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Lower is better on the same held-out rows. Both use the target’s unit.</a:t>
            </a:r>
          </a:p>
        </p:txBody>
      </p:sp>
      <p:sp>
        <p:nvSpPr>
          <p:cNvPr id="10" name="">
            <a:extLst xmlns:a="http://schemas.openxmlformats.org/drawingml/2006/main">
              <a:ext uri="{FF2B5EF4-FFF2-40B4-BE49-F238E27FC236}">
                <a16:creationId xmlns:a16="http://schemas.microsoft.com/office/drawing/2014/main" id="{B8668A74-07DB-4364-8859-8C18C57B7FF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21</a:t>
            </a:r>
          </a:p>
        </p:txBody>
      </p:sp>
    </p:spTree>
    <p:extLst>
      <p:ext uri="{BB962C8B-B14F-4D97-AF65-F5344CB8AC3E}">
        <p14:creationId xmlns:p14="http://schemas.microsoft.com/office/powerpoint/2010/main" val="27553363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0EC1E2E-F7C9-4FCB-835C-D78D2F6F9CF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327BEB-C7A7-4D3E-B024-5C5399A6B8D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B59A1C47-0097-4BC7-9274-E3D521D6768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Matching predictions to the correct rows</a:t>
            </a:r>
          </a:p>
        </p:txBody>
      </p:sp>
      <p:sp>
        <p:nvSpPr>
          <p:cNvPr id="4" name="">
            <a:extLst xmlns:a="http://schemas.openxmlformats.org/drawingml/2006/main">
              <a:ext uri="{FF2B5EF4-FFF2-40B4-BE49-F238E27FC236}">
                <a16:creationId xmlns:a16="http://schemas.microsoft.com/office/drawing/2014/main" id="{427A20F0-3746-4DCA-89D6-EC07A5EAC1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C9A7AC6-CA3D-430A-8EC2-FA37325C00E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Pandas subtracts Series by row label. A filtered table can keep old labels such as 2 and 3.</a:t>
            </a:r>
          </a:p>
        </p:txBody>
      </p:sp>
      <p:sp>
        <p:nvSpPr>
          <p:cNvPr id="6" name="">
            <a:extLst xmlns:a="http://schemas.openxmlformats.org/drawingml/2006/main">
              <a:ext uri="{FF2B5EF4-FFF2-40B4-BE49-F238E27FC236}">
                <a16:creationId xmlns:a16="http://schemas.microsoft.com/office/drawing/2014/main" id="{0477C523-DD54-458D-99F7-05538C05D75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4108474-0F2B-48C8-BA69-5EF1569424B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reset_index(drop=True) replaces those labels with 0 and 1. pd.Series(a_list) also starts at 0.</a:t>
            </a:r>
          </a:p>
        </p:txBody>
      </p:sp>
      <p:sp>
        <p:nvSpPr>
          <p:cNvPr id="8" name="">
            <a:extLst xmlns:a="http://schemas.openxmlformats.org/drawingml/2006/main">
              <a:ext uri="{FF2B5EF4-FFF2-40B4-BE49-F238E27FC236}">
                <a16:creationId xmlns:a16="http://schemas.microsoft.com/office/drawing/2014/main" id="{46AFFCD2-C8A1-4A4F-B4A4-7F4AAA1FF0E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DEB5BCF-1A0F-4CCE-A59A-26B66D94CEA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same row order for actual values and validation_predictions.</a:t>
            </a:r>
          </a:p>
        </p:txBody>
      </p:sp>
      <p:sp>
        <p:nvSpPr>
          <p:cNvPr id="10" name="">
            <a:extLst xmlns:a="http://schemas.openxmlformats.org/drawingml/2006/main">
              <a:ext uri="{FF2B5EF4-FFF2-40B4-BE49-F238E27FC236}">
                <a16:creationId xmlns:a16="http://schemas.microsoft.com/office/drawing/2014/main" id="{A6470CEB-8FEA-4A74-B154-51C764E0946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22</a:t>
            </a:r>
          </a:p>
        </p:txBody>
      </p:sp>
    </p:spTree>
    <p:extLst>
      <p:ext uri="{BB962C8B-B14F-4D97-AF65-F5344CB8AC3E}">
        <p14:creationId xmlns:p14="http://schemas.microsoft.com/office/powerpoint/2010/main" val="197482071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DA640AB-25AC-4CEB-AFB8-208973F2985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CAB58D-A77A-4512-B9AB-1E182ED771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E8C499B-7C78-4725-8B2D-D9F7AA943E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Column arithmetic / Squared error and square root</a:t>
            </a:r>
          </a:p>
        </p:txBody>
      </p:sp>
      <p:sp>
        <p:nvSpPr>
          <p:cNvPr id="4" name="">
            <a:extLst xmlns:a="http://schemas.openxmlformats.org/drawingml/2006/main">
              <a:ext uri="{FF2B5EF4-FFF2-40B4-BE49-F238E27FC236}">
                <a16:creationId xmlns:a16="http://schemas.microsoft.com/office/drawing/2014/main" id="{2ADB9F17-E041-41B7-A64C-EC80CCC3B8F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419084C-35FC-44F2-937B-E0F9CC8DC6E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F5624F-5ECC-4034-A4F4-DEDE1A38DCF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Arithmetic on columns calculates one result per row. Series align by row label. Divide only where the denominator is valid and keep actual and predicted observations paired.</a:t>
            </a:r>
          </a:p>
        </p:txBody>
      </p:sp>
      <p:sp>
        <p:nvSpPr>
          <p:cNvPr id="7" name="">
            <a:extLst xmlns:a="http://schemas.openxmlformats.org/drawingml/2006/main">
              <a:ext uri="{FF2B5EF4-FFF2-40B4-BE49-F238E27FC236}">
                <a16:creationId xmlns:a16="http://schemas.microsoft.com/office/drawing/2014/main" id="{98FE6904-76E8-4637-80B5-9F3D5E3854A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error ** 2 squares each error. After averaging, ** 0.5 takes the square root. This gives root mean squared error, which penalises large errors more strongly than mean absolute error.</a:t>
            </a:r>
          </a:p>
        </p:txBody>
      </p:sp>
      <p:sp>
        <p:nvSpPr>
          <p:cNvPr id="8" name="">
            <a:extLst xmlns:a="http://schemas.openxmlformats.org/drawingml/2006/main">
              <a:ext uri="{FF2B5EF4-FFF2-40B4-BE49-F238E27FC236}">
                <a16:creationId xmlns:a16="http://schemas.microsoft.com/office/drawing/2014/main" id="{D496978A-0358-4B05-AE2C-0AECA046DC4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23</a:t>
            </a:r>
          </a:p>
        </p:txBody>
      </p:sp>
    </p:spTree>
    <p:extLst>
      <p:ext uri="{BB962C8B-B14F-4D97-AF65-F5344CB8AC3E}">
        <p14:creationId xmlns:p14="http://schemas.microsoft.com/office/powerpoint/2010/main" val="210152836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7DF206-8AE1-4662-9FCA-70D12AC747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62BD45-C4DE-4253-9FA9-517EC04CC0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557A95C-8094-4562-B098-B112B9C557B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Aligning positions for subtraction / A labelled column</a:t>
            </a:r>
          </a:p>
        </p:txBody>
      </p:sp>
      <p:sp>
        <p:nvSpPr>
          <p:cNvPr id="4" name="">
            <a:extLst xmlns:a="http://schemas.openxmlformats.org/drawingml/2006/main">
              <a:ext uri="{FF2B5EF4-FFF2-40B4-BE49-F238E27FC236}">
                <a16:creationId xmlns:a16="http://schemas.microsoft.com/office/drawing/2014/main" id="{CEB51CC5-E21D-46A0-BE63-14D4C9602AB2}"/>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8D018B-4418-4826-8F31-B0F43C18002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3DF8593-FF67-48DD-9540-6A10955C2AA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series.reset_index(drop=True) replaces old row labels with 0, 1, 2, and so on. drop=True discards the old labels. Apply it when pairing with a new prediction Series that has those positional labels.</a:t>
            </a:r>
          </a:p>
        </p:txBody>
      </p:sp>
      <p:sp>
        <p:nvSpPr>
          <p:cNvPr id="7" name="">
            <a:extLst xmlns:a="http://schemas.openxmlformats.org/drawingml/2006/main">
              <a:ext uri="{FF2B5EF4-FFF2-40B4-BE49-F238E27FC236}">
                <a16:creationId xmlns:a16="http://schemas.microsoft.com/office/drawing/2014/main" id="{79D401F9-A517-4A07-9FFF-D6AC24841B4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pd.Series(values) creates a one-dimensional labelled sequence. With an array of fold errors, the default labels are 0, 1, 2 and so on.</a:t>
            </a:r>
          </a:p>
        </p:txBody>
      </p:sp>
      <p:sp>
        <p:nvSpPr>
          <p:cNvPr id="8" name="">
            <a:extLst xmlns:a="http://schemas.openxmlformats.org/drawingml/2006/main">
              <a:ext uri="{FF2B5EF4-FFF2-40B4-BE49-F238E27FC236}">
                <a16:creationId xmlns:a16="http://schemas.microsoft.com/office/drawing/2014/main" id="{2AB6631A-F0B0-4CB3-B9FA-78EA537A86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24</a:t>
            </a:r>
          </a:p>
        </p:txBody>
      </p:sp>
    </p:spTree>
    <p:extLst>
      <p:ext uri="{BB962C8B-B14F-4D97-AF65-F5344CB8AC3E}">
        <p14:creationId xmlns:p14="http://schemas.microsoft.com/office/powerpoint/2010/main" val="2221022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39A997-AC2E-4142-B503-7B5E9CB084E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AC43DF-32F2-45D1-A1D6-F512E0717B9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FFB4D17-7B83-4ED1-B720-8344DAAAF8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Rounded display / Magnitude of each error</a:t>
            </a:r>
          </a:p>
        </p:txBody>
      </p:sp>
      <p:sp>
        <p:nvSpPr>
          <p:cNvPr id="4" name="">
            <a:extLst xmlns:a="http://schemas.openxmlformats.org/drawingml/2006/main">
              <a:ext uri="{FF2B5EF4-FFF2-40B4-BE49-F238E27FC236}">
                <a16:creationId xmlns:a16="http://schemas.microsoft.com/office/drawing/2014/main" id="{BD001093-F273-417B-AD8F-8EB14465713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357EE5-FCD0-4E4B-BA39-36550F7ECC4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6182CD5-D096-4FAD-9FF8-7C6DF119D03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series.round(3) returns values rounded to three decimal places. Python round(number, 3) rounds one number. Keep unrounded calculations for returned assessment answers.</a:t>
            </a:r>
          </a:p>
        </p:txBody>
      </p:sp>
      <p:sp>
        <p:nvSpPr>
          <p:cNvPr id="7" name="">
            <a:extLst xmlns:a="http://schemas.openxmlformats.org/drawingml/2006/main">
              <a:ext uri="{FF2B5EF4-FFF2-40B4-BE49-F238E27FC236}">
                <a16:creationId xmlns:a16="http://schemas.microsoft.com/office/drawing/2014/main" id="{A05614E8-5DE3-4C43-B25E-34BC94BE8E8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series.abs() makes negative values positive while leaving nonnegative values unchanged. Averaging these magnitudes gives mean absolute error.</a:t>
            </a:r>
          </a:p>
        </p:txBody>
      </p:sp>
      <p:sp>
        <p:nvSpPr>
          <p:cNvPr id="8" name="">
            <a:extLst xmlns:a="http://schemas.openxmlformats.org/drawingml/2006/main">
              <a:ext uri="{FF2B5EF4-FFF2-40B4-BE49-F238E27FC236}">
                <a16:creationId xmlns:a16="http://schemas.microsoft.com/office/drawing/2014/main" id="{3C0B2013-99BC-4C3C-BEDA-2EC49BA1043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25</a:t>
            </a:r>
          </a:p>
        </p:txBody>
      </p:sp>
    </p:spTree>
    <p:extLst>
      <p:ext uri="{BB962C8B-B14F-4D97-AF65-F5344CB8AC3E}">
        <p14:creationId xmlns:p14="http://schemas.microsoft.com/office/powerpoint/2010/main" val="185270457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8887A6-418A-47A9-B904-2A94E813286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41F3F0-CD78-43CD-AECE-294F67CAC0B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1E73C46-FE4B-4B28-B163-FC21F54314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34712DF4-2B57-417B-B4A8-546ED3BA1C6C}"/>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6C681A2-2C19-4479-87D9-8E6286FD983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535274-7BF8-457C-8052-11A592104A8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0CBCCD11-0FF6-48B4-8CB0-8BA763A1305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predicted_values: predictions aligned with those actual values.</a:t>
            </a:r>
          </a:p>
        </p:txBody>
      </p:sp>
      <p:sp>
        <p:nvSpPr>
          <p:cNvPr id="8" name="">
            <a:extLst xmlns:a="http://schemas.openxmlformats.org/drawingml/2006/main">
              <a:ext uri="{FF2B5EF4-FFF2-40B4-BE49-F238E27FC236}">
                <a16:creationId xmlns:a16="http://schemas.microsoft.com/office/drawing/2014/main" id="{84C8AA7E-DF5C-4A97-A173-CA395286A9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26</a:t>
            </a:r>
          </a:p>
        </p:txBody>
      </p:sp>
    </p:spTree>
    <p:extLst>
      <p:ext uri="{BB962C8B-B14F-4D97-AF65-F5344CB8AC3E}">
        <p14:creationId xmlns:p14="http://schemas.microsoft.com/office/powerpoint/2010/main" val="164431872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01BDD7F-46C1-49DB-8FB2-5A4BD1B080A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24EFD6-CD2F-41D5-8B0C-A6B0F027BE0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5BDAC71-463A-4A37-8578-3EE038874AC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1</a:t>
            </a:r>
          </a:p>
        </p:txBody>
      </p:sp>
      <p:sp>
        <p:nvSpPr>
          <p:cNvPr id="4" name="">
            <a:extLst xmlns:a="http://schemas.openxmlformats.org/drawingml/2006/main">
              <a:ext uri="{FF2B5EF4-FFF2-40B4-BE49-F238E27FC236}">
                <a16:creationId xmlns:a16="http://schemas.microsoft.com/office/drawing/2014/main" id="{2D8C3B0B-67E7-415D-A8EF-40E48E96560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E919D0-1649-44D2-81B2-8705187B25B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actual_values = validation_data["target"].reset_index(drop=</a:t>
            </a:r>
            <a:r>
              <a:rPr sz="1875" b="0">
                <a:solidFill>
                  <a:srgbClr val="FFB080"/>
                </a:solidFill>
                <a:latin typeface="Courier New"/>
                <a:ea typeface="Courier New"/>
                <a:cs typeface="Courier New"/>
              </a:rPr>
              <a:t>True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predicted_values = pd.Series(baseline_predictions)</a:t>
            </a:r>
          </a:p>
        </p:txBody>
      </p:sp>
      <p:sp>
        <p:nvSpPr>
          <p:cNvPr id="6" name="">
            <a:extLst xmlns:a="http://schemas.openxmlformats.org/drawingml/2006/main">
              <a:ext uri="{FF2B5EF4-FFF2-40B4-BE49-F238E27FC236}">
                <a16:creationId xmlns:a16="http://schemas.microsoft.com/office/drawing/2014/main" id="{2AF2BC0D-ADEA-400A-960B-41ACCA8E1BB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EA2D64C1-7CCC-465A-814D-85868CA5CCE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1A7096F6-5CFC-4E3C-91A5-BBD8822F48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27</a:t>
            </a:r>
          </a:p>
        </p:txBody>
      </p:sp>
    </p:spTree>
    <p:extLst>
      <p:ext uri="{BB962C8B-B14F-4D97-AF65-F5344CB8AC3E}">
        <p14:creationId xmlns:p14="http://schemas.microsoft.com/office/powerpoint/2010/main" val="16087945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CF137E-7DEB-43A9-B74D-E59B05EADDF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52575C-CEDD-4970-AF17-63715187A48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7AD88E7-5FE1-4DB0-A856-6E494E9FE1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the baseline with observed targets</a:t>
            </a:r>
          </a:p>
        </p:txBody>
      </p:sp>
      <p:sp>
        <p:nvSpPr>
          <p:cNvPr id="4" name="">
            <a:extLst xmlns:a="http://schemas.openxmlformats.org/drawingml/2006/main">
              <a:ext uri="{FF2B5EF4-FFF2-40B4-BE49-F238E27FC236}">
                <a16:creationId xmlns:a16="http://schemas.microsoft.com/office/drawing/2014/main" id="{40A6E738-1CD0-4FCE-A517-EB6A2BAACFF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11FA80-3235-4EDD-A04C-88B08746E3FD}"/>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Pair each baseline prediction with its validation target. reset_index(drop=True) makes their row labels match by position before subtraction.</a:t>
            </a:r>
          </a:p>
        </p:txBody>
      </p:sp>
      <p:sp>
        <p:nvSpPr>
          <p:cNvPr id="6" name="">
            <a:extLst xmlns:a="http://schemas.openxmlformats.org/drawingml/2006/main">
              <a:ext uri="{FF2B5EF4-FFF2-40B4-BE49-F238E27FC236}">
                <a16:creationId xmlns:a16="http://schemas.microsoft.com/office/drawing/2014/main" id="{DEED10E7-8094-4ED4-B135-5EA6C2BB20E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training mean must come from training rows only.</a:t>
            </a:r>
          </a:p>
        </p:txBody>
      </p:sp>
      <p:sp>
        <p:nvSpPr>
          <p:cNvPr id="7" name="">
            <a:extLst xmlns:a="http://schemas.openxmlformats.org/drawingml/2006/main">
              <a:ext uri="{FF2B5EF4-FFF2-40B4-BE49-F238E27FC236}">
                <a16:creationId xmlns:a16="http://schemas.microsoft.com/office/drawing/2014/main" id="{BF3A80AF-63D9-4FF5-B030-88F27DF973E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28</a:t>
            </a:r>
          </a:p>
        </p:txBody>
      </p:sp>
    </p:spTree>
    <p:extLst>
      <p:ext uri="{BB962C8B-B14F-4D97-AF65-F5344CB8AC3E}">
        <p14:creationId xmlns:p14="http://schemas.microsoft.com/office/powerpoint/2010/main" val="91725877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4316E5E-4803-49C1-807D-DBCA0E49F29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57B436-F828-4C1E-BA5E-9A372B4D40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D412323-6879-4607-97D2-1CE32FBCF8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Calculating baseline errors — step 2</a:t>
            </a:r>
          </a:p>
        </p:txBody>
      </p:sp>
      <p:sp>
        <p:nvSpPr>
          <p:cNvPr id="4" name="">
            <a:extLst xmlns:a="http://schemas.openxmlformats.org/drawingml/2006/main">
              <a:ext uri="{FF2B5EF4-FFF2-40B4-BE49-F238E27FC236}">
                <a16:creationId xmlns:a16="http://schemas.microsoft.com/office/drawing/2014/main" id="{3E27077F-AA8D-42D1-B279-5ADF3E88F90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91D88D-3A8A-4383-877B-6DFF4809F0A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baseline_errors = actual_values - predicted_values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mae = baseline_errors.abs().mean()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rmse = (baseline_errors**2).mean() ** 0.5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print(round(mae, 2), round(rmse, 2))</a:t>
            </a:r>
          </a:p>
        </p:txBody>
      </p:sp>
      <p:sp>
        <p:nvSpPr>
          <p:cNvPr id="6" name="">
            <a:extLst xmlns:a="http://schemas.openxmlformats.org/drawingml/2006/main">
              <a:ext uri="{FF2B5EF4-FFF2-40B4-BE49-F238E27FC236}">
                <a16:creationId xmlns:a16="http://schemas.microsoft.com/office/drawing/2014/main" id="{60085029-F36B-4660-B3CE-031E9D1C4FB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actual_values: observed targets or labels in the order used for comparison.</a:t>
            </a:r>
          </a:p>
        </p:txBody>
      </p:sp>
      <p:sp>
        <p:nvSpPr>
          <p:cNvPr id="7" name="">
            <a:extLst xmlns:a="http://schemas.openxmlformats.org/drawingml/2006/main">
              <a:ext uri="{FF2B5EF4-FFF2-40B4-BE49-F238E27FC236}">
                <a16:creationId xmlns:a16="http://schemas.microsoft.com/office/drawing/2014/main" id="{D93A579E-84E3-494C-A2D6-268631B8DFF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7AA697D5-81D2-4C52-867A-015D61E36CF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29</a:t>
            </a:r>
          </a:p>
        </p:txBody>
      </p:sp>
    </p:spTree>
    <p:extLst>
      <p:ext uri="{BB962C8B-B14F-4D97-AF65-F5344CB8AC3E}">
        <p14:creationId xmlns:p14="http://schemas.microsoft.com/office/powerpoint/2010/main" val="85245253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3D64A5-C991-4262-A26A-2C1CE4E5CF8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82309A-80D9-471B-BF74-B7676DAACB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F15E4CC-11BA-4278-B5A7-5704011C3D2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two predictions</a:t>
            </a:r>
          </a:p>
        </p:txBody>
      </p:sp>
      <p:sp>
        <p:nvSpPr>
          <p:cNvPr id="4" name="">
            <a:extLst xmlns:a="http://schemas.openxmlformats.org/drawingml/2006/main">
              <a:ext uri="{FF2B5EF4-FFF2-40B4-BE49-F238E27FC236}">
                <a16:creationId xmlns:a16="http://schemas.microsoft.com/office/drawing/2014/main" id="{AEC06B95-A08C-4EDC-B079-21D697F90719}"/>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A6CF07F-8DDC-4BD9-8CFA-4A69F19624B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Actual values are 30 and 40. New predictions are 28 and 44.</a:t>
            </a:r>
          </a:p>
        </p:txBody>
      </p:sp>
      <p:sp>
        <p:nvSpPr>
          <p:cNvPr id="6" name="">
            <a:extLst xmlns:a="http://schemas.openxmlformats.org/drawingml/2006/main">
              <a:ext uri="{FF2B5EF4-FFF2-40B4-BE49-F238E27FC236}">
                <a16:creationId xmlns:a16="http://schemas.microsoft.com/office/drawing/2014/main" id="{7643A126-096E-4B34-A920-CBE31DCBB99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41E879F-ABB2-4BF6-9396-E39B61A2F86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the two errors, MAE and RMSE by hand.</a:t>
            </a:r>
          </a:p>
        </p:txBody>
      </p:sp>
      <p:sp>
        <p:nvSpPr>
          <p:cNvPr id="8" name="">
            <a:extLst xmlns:a="http://schemas.openxmlformats.org/drawingml/2006/main">
              <a:ext uri="{FF2B5EF4-FFF2-40B4-BE49-F238E27FC236}">
                <a16:creationId xmlns:a16="http://schemas.microsoft.com/office/drawing/2014/main" id="{43383748-55F2-44DA-8F0B-87E4392D61B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A66ABD4-343D-467E-B5F6-480E700C82A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Does this improve on the baseline MAE of 20?</a:t>
            </a:r>
          </a:p>
        </p:txBody>
      </p:sp>
      <p:sp>
        <p:nvSpPr>
          <p:cNvPr id="10" name="">
            <a:extLst xmlns:a="http://schemas.openxmlformats.org/drawingml/2006/main">
              <a:ext uri="{FF2B5EF4-FFF2-40B4-BE49-F238E27FC236}">
                <a16:creationId xmlns:a16="http://schemas.microsoft.com/office/drawing/2014/main" id="{DF51792A-AA1A-4163-BB6B-69B232497C1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30</a:t>
            </a:r>
          </a:p>
        </p:txBody>
      </p:sp>
    </p:spTree>
    <p:extLst>
      <p:ext uri="{BB962C8B-B14F-4D97-AF65-F5344CB8AC3E}">
        <p14:creationId xmlns:p14="http://schemas.microsoft.com/office/powerpoint/2010/main" val="17832637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6B118D-C75D-4B67-8444-7BE006047EF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AC6BA4-26BF-48B3-82E5-77492ADA98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2D60812-B688-4153-B48A-9EFBE810D1A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5CEE0332-191E-4657-8CA3-66CC121918B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F9C3424-DD16-4B8E-88A0-92906A9DA07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Errors: 2 and −4. Absolute errors: 2 and 4.</a:t>
            </a:r>
          </a:p>
        </p:txBody>
      </p:sp>
      <p:sp>
        <p:nvSpPr>
          <p:cNvPr id="6" name="">
            <a:extLst xmlns:a="http://schemas.openxmlformats.org/drawingml/2006/main">
              <a:ext uri="{FF2B5EF4-FFF2-40B4-BE49-F238E27FC236}">
                <a16:creationId xmlns:a16="http://schemas.microsoft.com/office/drawing/2014/main" id="{B936BE53-0AFE-4105-AC9C-F8C1A6BEF8C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337390D-5D4D-4ACA-94C9-4F03CD91F1AF}"/>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 3 kW. RMSE = √10 ≈ 3.16 kW.</a:t>
            </a:r>
          </a:p>
        </p:txBody>
      </p:sp>
      <p:sp>
        <p:nvSpPr>
          <p:cNvPr id="8" name="">
            <a:extLst xmlns:a="http://schemas.openxmlformats.org/drawingml/2006/main">
              <a:ext uri="{FF2B5EF4-FFF2-40B4-BE49-F238E27FC236}">
                <a16:creationId xmlns:a16="http://schemas.microsoft.com/office/drawing/2014/main" id="{6E17C985-42E2-4B04-B64A-529A3FAD3B2D}"/>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8505B0A-93F2-4B01-A118-39950682781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Both errors are lower than the baseline on these same two rows.</a:t>
            </a:r>
          </a:p>
        </p:txBody>
      </p:sp>
      <p:sp>
        <p:nvSpPr>
          <p:cNvPr id="10" name="">
            <a:extLst xmlns:a="http://schemas.openxmlformats.org/drawingml/2006/main">
              <a:ext uri="{FF2B5EF4-FFF2-40B4-BE49-F238E27FC236}">
                <a16:creationId xmlns:a16="http://schemas.microsoft.com/office/drawing/2014/main" id="{186DC6B1-AE33-4432-AC3B-716B3A7010C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31</a:t>
            </a:r>
          </a:p>
        </p:txBody>
      </p:sp>
    </p:spTree>
    <p:extLst>
      <p:ext uri="{BB962C8B-B14F-4D97-AF65-F5344CB8AC3E}">
        <p14:creationId xmlns:p14="http://schemas.microsoft.com/office/powerpoint/2010/main" val="109483550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BFC8C55-5CD8-4FDC-ABE3-E20445C1FB6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0A9BE87-0136-424D-9CCA-7CBC0516AA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3363E57-9A9E-488B-8E85-86A8AB0FEC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Fitting and predicting with scikit-learn</a:t>
            </a:r>
          </a:p>
        </p:txBody>
      </p:sp>
      <p:sp>
        <p:nvSpPr>
          <p:cNvPr id="4" name="">
            <a:extLst xmlns:a="http://schemas.openxmlformats.org/drawingml/2006/main">
              <a:ext uri="{FF2B5EF4-FFF2-40B4-BE49-F238E27FC236}">
                <a16:creationId xmlns:a16="http://schemas.microsoft.com/office/drawing/2014/main" id="{43D27580-F1EF-4CD3-9B79-598EEB9A3FD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EF4405F-3367-447E-BDBC-8911A57F3EE4}"/>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LinearRegression learns a straight-line relationship. fit(X, y) learns from training features and targets.</a:t>
            </a:r>
          </a:p>
        </p:txBody>
      </p:sp>
      <p:sp>
        <p:nvSpPr>
          <p:cNvPr id="6" name="">
            <a:extLst xmlns:a="http://schemas.openxmlformats.org/drawingml/2006/main">
              <a:ext uri="{FF2B5EF4-FFF2-40B4-BE49-F238E27FC236}">
                <a16:creationId xmlns:a16="http://schemas.microsoft.com/office/drawing/2014/main" id="{B755DA08-BAD8-4235-8864-C01F5F19271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271126F-DDCE-40C4-ADD1-FD111962D93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predict(X_new) uses the fitted relationship on new feature_columns. It does not receive their targets.</a:t>
            </a:r>
          </a:p>
        </p:txBody>
      </p:sp>
      <p:sp>
        <p:nvSpPr>
          <p:cNvPr id="8" name="">
            <a:extLst xmlns:a="http://schemas.openxmlformats.org/drawingml/2006/main">
              <a:ext uri="{FF2B5EF4-FFF2-40B4-BE49-F238E27FC236}">
                <a16:creationId xmlns:a16="http://schemas.microsoft.com/office/drawing/2014/main" id="{0A88B64C-A96F-4AD7-ABF3-B531720F2E5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EE630A2-E6EB-4A01-A5CB-5888C6C8E20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Double brackets, [["load"]], retain a two-dimensional feature equipment_data.</a:t>
            </a:r>
          </a:p>
        </p:txBody>
      </p:sp>
      <p:sp>
        <p:nvSpPr>
          <p:cNvPr id="10" name="">
            <a:extLst xmlns:a="http://schemas.openxmlformats.org/drawingml/2006/main">
              <a:ext uri="{FF2B5EF4-FFF2-40B4-BE49-F238E27FC236}">
                <a16:creationId xmlns:a16="http://schemas.microsoft.com/office/drawing/2014/main" id="{F3AECBC8-1019-434F-A1A0-189A794783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32</a:t>
            </a:r>
          </a:p>
        </p:txBody>
      </p:sp>
    </p:spTree>
    <p:extLst>
      <p:ext uri="{BB962C8B-B14F-4D97-AF65-F5344CB8AC3E}">
        <p14:creationId xmlns:p14="http://schemas.microsoft.com/office/powerpoint/2010/main" val="80455604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96BAEE-92A7-42C1-8F81-C864DDFBE3F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53E18B8-F479-4C8E-834A-8727A65266D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5071364-9D53-4418-8A61-8C6E088FDC2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Creating linear regression / Learning from training examples</a:t>
            </a:r>
          </a:p>
        </p:txBody>
      </p:sp>
      <p:sp>
        <p:nvSpPr>
          <p:cNvPr id="4" name="">
            <a:extLst xmlns:a="http://schemas.openxmlformats.org/drawingml/2006/main">
              <a:ext uri="{FF2B5EF4-FFF2-40B4-BE49-F238E27FC236}">
                <a16:creationId xmlns:a16="http://schemas.microsoft.com/office/drawing/2014/main" id="{9DB3216D-4A06-4C9C-AD79-C6037FE0D39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E014A1E-78A9-467D-AF9B-60778A80A8A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0420B53-BA4F-439F-B253-985731210C0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LinearRegression() creates an unfitted model. It will learn coefficients and an intercept from training examples. Creating it alone does not train it or make predictions.</a:t>
            </a:r>
          </a:p>
        </p:txBody>
      </p:sp>
      <p:sp>
        <p:nvSpPr>
          <p:cNvPr id="7" name="">
            <a:extLst xmlns:a="http://schemas.openxmlformats.org/drawingml/2006/main">
              <a:ext uri="{FF2B5EF4-FFF2-40B4-BE49-F238E27FC236}">
                <a16:creationId xmlns:a16="http://schemas.microsoft.com/office/drawing/2014/main" id="{CF87CBA6-DB05-4AA5-AE7A-FFA77A2AAE9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model.fit(input_table, observed_targets) learns model settings from paired rows. The two inputs must describe the same observations in the same order. Call fit before predict.</a:t>
            </a:r>
          </a:p>
        </p:txBody>
      </p:sp>
      <p:sp>
        <p:nvSpPr>
          <p:cNvPr id="8" name="">
            <a:extLst xmlns:a="http://schemas.openxmlformats.org/drawingml/2006/main">
              <a:ext uri="{FF2B5EF4-FFF2-40B4-BE49-F238E27FC236}">
                <a16:creationId xmlns:a16="http://schemas.microsoft.com/office/drawing/2014/main" id="{C6F337CE-A4F6-4295-B5B9-0C9707E6A0C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33</a:t>
            </a:r>
          </a:p>
        </p:txBody>
      </p:sp>
    </p:spTree>
    <p:extLst>
      <p:ext uri="{BB962C8B-B14F-4D97-AF65-F5344CB8AC3E}">
        <p14:creationId xmlns:p14="http://schemas.microsoft.com/office/powerpoint/2010/main" val="142880677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DD5261-3E73-4615-A8DF-7BCAACF5B0A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D465F6-D6E1-4F21-AC1D-D3AB1AE05E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716C0E7-2A1F-4D0A-8331-273307CD93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Predicting new targets</a:t>
            </a:r>
          </a:p>
        </p:txBody>
      </p:sp>
      <p:sp>
        <p:nvSpPr>
          <p:cNvPr id="4" name="">
            <a:extLst xmlns:a="http://schemas.openxmlformats.org/drawingml/2006/main">
              <a:ext uri="{FF2B5EF4-FFF2-40B4-BE49-F238E27FC236}">
                <a16:creationId xmlns:a16="http://schemas.microsoft.com/office/drawing/2014/main" id="{45B05417-5685-4157-9473-C2E72FE99E9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70CA9E-07AD-40AE-960B-B1B43DFD01BD}"/>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model.predict(input_table) returns one prediction per input row. Use the same feature columns and order as during training. Prediction uses learned settings; it does not refit the model.</a:t>
            </a:r>
          </a:p>
        </p:txBody>
      </p:sp>
      <p:sp>
        <p:nvSpPr>
          <p:cNvPr id="6" name="">
            <a:extLst xmlns:a="http://schemas.openxmlformats.org/drawingml/2006/main">
              <a:ext uri="{FF2B5EF4-FFF2-40B4-BE49-F238E27FC236}">
                <a16:creationId xmlns:a16="http://schemas.microsoft.com/office/drawing/2014/main" id="{553B78CC-87E8-45CD-B303-A23D59CC25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34</a:t>
            </a:r>
          </a:p>
        </p:txBody>
      </p:sp>
    </p:spTree>
    <p:extLst>
      <p:ext uri="{BB962C8B-B14F-4D97-AF65-F5344CB8AC3E}">
        <p14:creationId xmlns:p14="http://schemas.microsoft.com/office/powerpoint/2010/main" val="7976370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B033E0B-FAE8-451A-925C-FBD8B31902F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098FA4-609F-415F-AB0A-53BE2950A40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D48C4C6-0DB7-442F-BCA7-46484603265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Standard names for model inputs</a:t>
            </a:r>
          </a:p>
        </p:txBody>
      </p:sp>
      <p:sp>
        <p:nvSpPr>
          <p:cNvPr id="4" name="">
            <a:extLst xmlns:a="http://schemas.openxmlformats.org/drawingml/2006/main">
              <a:ext uri="{FF2B5EF4-FFF2-40B4-BE49-F238E27FC236}">
                <a16:creationId xmlns:a16="http://schemas.microsoft.com/office/drawing/2014/main" id="{1C5DA7F4-0BCB-4F7A-B5FF-2833279DF9D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46C4F64-F590-422B-A37C-FE516C05CC6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X_train: training input columns. y_train: the matching observed targets.</a:t>
            </a:r>
          </a:p>
        </p:txBody>
      </p:sp>
      <p:sp>
        <p:nvSpPr>
          <p:cNvPr id="6" name="">
            <a:extLst xmlns:a="http://schemas.openxmlformats.org/drawingml/2006/main">
              <a:ext uri="{FF2B5EF4-FFF2-40B4-BE49-F238E27FC236}">
                <a16:creationId xmlns:a16="http://schemas.microsoft.com/office/drawing/2014/main" id="{E116CD4F-BB7A-4925-A697-DCBBFF75FE1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AFF5D9B-8FA6-4886-AB47-21B953586C66}"/>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validation input columns. y_valid: their observed targets, kept for evaluation.</a:t>
            </a:r>
          </a:p>
        </p:txBody>
      </p:sp>
      <p:sp>
        <p:nvSpPr>
          <p:cNvPr id="8" name="">
            <a:extLst xmlns:a="http://schemas.openxmlformats.org/drawingml/2006/main">
              <a:ext uri="{FF2B5EF4-FFF2-40B4-BE49-F238E27FC236}">
                <a16:creationId xmlns:a16="http://schemas.microsoft.com/office/drawing/2014/main" id="{A97C4806-9D3E-4CAE-B5DC-F74CEDF988B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582D264-DEC7-49C2-96B4-6CEBBF1AEEE4}"/>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Capital X usually means a two-dimensional table; lowercase y usually means one target per row.</a:t>
            </a:r>
          </a:p>
        </p:txBody>
      </p:sp>
      <p:sp>
        <p:nvSpPr>
          <p:cNvPr id="10" name="">
            <a:extLst xmlns:a="http://schemas.openxmlformats.org/drawingml/2006/main">
              <a:ext uri="{FF2B5EF4-FFF2-40B4-BE49-F238E27FC236}">
                <a16:creationId xmlns:a16="http://schemas.microsoft.com/office/drawing/2014/main" id="{C9817B55-7FCD-48A2-9C83-1E089C85EEE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35</a:t>
            </a:r>
          </a:p>
        </p:txBody>
      </p:sp>
    </p:spTree>
    <p:extLst>
      <p:ext uri="{BB962C8B-B14F-4D97-AF65-F5344CB8AC3E}">
        <p14:creationId xmlns:p14="http://schemas.microsoft.com/office/powerpoint/2010/main" val="8674739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966271-3CD0-4BC4-9320-78C0820B2B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D370E1-1E9F-4EF6-AB08-CBEEB7E344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F3E619B-17E8-428D-88DA-8F92480CC23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2D621912-64F6-4C64-847C-C63ECAACAE91}"/>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B700B5-FC67-4DFC-9C56-AC4E015F931F}"/>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9F394F27-EF62-4D45-A95E-4BEEB01B7A1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0162D919-40C8-4A8C-AE29-C6FB0B46241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36</a:t>
            </a:r>
          </a:p>
        </p:txBody>
      </p:sp>
    </p:spTree>
    <p:extLst>
      <p:ext uri="{BB962C8B-B14F-4D97-AF65-F5344CB8AC3E}">
        <p14:creationId xmlns:p14="http://schemas.microsoft.com/office/powerpoint/2010/main" val="117556578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3FC7606-B4B6-47D5-8997-DCF67CEFA98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81B6D0-8A6D-4DDC-8B12-23064E78D32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ED54BF0-879A-4520-A72E-7DF6072D02C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1</a:t>
            </a:r>
          </a:p>
        </p:txBody>
      </p:sp>
      <p:sp>
        <p:nvSpPr>
          <p:cNvPr id="4" name="">
            <a:extLst xmlns:a="http://schemas.openxmlformats.org/drawingml/2006/main">
              <a:ext uri="{FF2B5EF4-FFF2-40B4-BE49-F238E27FC236}">
                <a16:creationId xmlns:a16="http://schemas.microsoft.com/office/drawing/2014/main" id="{59D12C4D-C55D-446D-9F81-FE1E4A21C0A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25B63F8-7A23-42C2-8FF5-4543536A2B8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y_train = training_data["target"]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validation_data[["load"]]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y_valid = validation_data["target"]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sklearn.linear_model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LinearRegression</a:t>
            </a:r>
          </a:p>
        </p:txBody>
      </p:sp>
      <p:sp>
        <p:nvSpPr>
          <p:cNvPr id="6" name="">
            <a:extLst xmlns:a="http://schemas.openxmlformats.org/drawingml/2006/main">
              <a:ext uri="{FF2B5EF4-FFF2-40B4-BE49-F238E27FC236}">
                <a16:creationId xmlns:a16="http://schemas.microsoft.com/office/drawing/2014/main" id="{0D6DF00D-2DA9-4C0B-AC0B-E1915707257E}"/>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265AB92A-A5E6-4B66-B2DD-032D85E9F40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34B95E21-2AB1-4F03-ABFA-47A1E1D6F1D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37</a:t>
            </a:r>
          </a:p>
        </p:txBody>
      </p:sp>
    </p:spTree>
    <p:extLst>
      <p:ext uri="{BB962C8B-B14F-4D97-AF65-F5344CB8AC3E}">
        <p14:creationId xmlns:p14="http://schemas.microsoft.com/office/powerpoint/2010/main" val="11472243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8F1B07-42A2-4D07-ACBA-52A62A2470A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86F1D4-6141-496D-94C7-A09FAA1D1C2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8460EBC-32CC-4D3E-8D1E-AD88A527065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then train, then predict</a:t>
            </a:r>
          </a:p>
        </p:txBody>
      </p:sp>
      <p:sp>
        <p:nvSpPr>
          <p:cNvPr id="4" name="">
            <a:extLst xmlns:a="http://schemas.openxmlformats.org/drawingml/2006/main">
              <a:ext uri="{FF2B5EF4-FFF2-40B4-BE49-F238E27FC236}">
                <a16:creationId xmlns:a16="http://schemas.microsoft.com/office/drawing/2014/main" id="{78698EFD-75F3-42BB-AEB9-AF3DD71597B7}"/>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A82736-1C74-4C9C-9DDA-42BAE98F84DF}"/>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Creating an estimator sets up an empty model. fit learns settings from training inputs and their targets. predict uses those learned settings on new inputs; it does not learn from the validation targets.</a:t>
            </a:r>
          </a:p>
        </p:txBody>
      </p:sp>
      <p:sp>
        <p:nvSpPr>
          <p:cNvPr id="6" name="">
            <a:extLst xmlns:a="http://schemas.openxmlformats.org/drawingml/2006/main">
              <a:ext uri="{FF2B5EF4-FFF2-40B4-BE49-F238E27FC236}">
                <a16:creationId xmlns:a16="http://schemas.microsoft.com/office/drawing/2014/main" id="{1C4F6869-9E77-4619-A261-D363980F6A8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38</a:t>
            </a:r>
          </a:p>
        </p:txBody>
      </p:sp>
    </p:spTree>
    <p:extLst>
      <p:ext uri="{BB962C8B-B14F-4D97-AF65-F5344CB8AC3E}">
        <p14:creationId xmlns:p14="http://schemas.microsoft.com/office/powerpoint/2010/main" val="1301662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9DFD10E-E955-49B9-B86E-B49B29426F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4029D51-939F-4D72-8FDD-502EBD48A8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4A37ACA-19D6-47E1-B740-0217480354C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fitted linear model — step 2</a:t>
            </a:r>
          </a:p>
        </p:txBody>
      </p:sp>
      <p:sp>
        <p:nvSpPr>
          <p:cNvPr id="4" name="">
            <a:extLst xmlns:a="http://schemas.openxmlformats.org/drawingml/2006/main">
              <a:ext uri="{FF2B5EF4-FFF2-40B4-BE49-F238E27FC236}">
                <a16:creationId xmlns:a16="http://schemas.microsoft.com/office/drawing/2014/main" id="{DE1595C6-9943-4A0B-BF50-2FF1AA68C82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1433165-4DB8-4425-96F8-EE72BB99545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 =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validation_predictions = 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print(validation_predictions.round(2))</a:t>
            </a:r>
          </a:p>
        </p:txBody>
      </p:sp>
      <p:sp>
        <p:nvSpPr>
          <p:cNvPr id="6" name="">
            <a:extLst xmlns:a="http://schemas.openxmlformats.org/drawingml/2006/main">
              <a:ext uri="{FF2B5EF4-FFF2-40B4-BE49-F238E27FC236}">
                <a16:creationId xmlns:a16="http://schemas.microsoft.com/office/drawing/2014/main" id="{A1E44E0E-6553-4C20-9BD4-94477D0C68B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X_train: input columns used for training.</a:t>
            </a:r>
          </a:p>
        </p:txBody>
      </p:sp>
      <p:sp>
        <p:nvSpPr>
          <p:cNvPr id="7" name="">
            <a:extLst xmlns:a="http://schemas.openxmlformats.org/drawingml/2006/main">
              <a:ext uri="{FF2B5EF4-FFF2-40B4-BE49-F238E27FC236}">
                <a16:creationId xmlns:a16="http://schemas.microsoft.com/office/drawing/2014/main" id="{BF31B78E-B0F8-43C9-A109-5122EEAA09D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B997C70E-5DEC-41A7-B786-FF719139ED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39</a:t>
            </a:r>
          </a:p>
        </p:txBody>
      </p:sp>
    </p:spTree>
    <p:extLst>
      <p:ext uri="{BB962C8B-B14F-4D97-AF65-F5344CB8AC3E}">
        <p14:creationId xmlns:p14="http://schemas.microsoft.com/office/powerpoint/2010/main" val="136766057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83DD514-5426-4313-93B4-4581D6F46FF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CA4162-B762-415B-AA9F-989C10A2526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A8F0239-F686-47F5-9313-95A8CAAE3B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Missing values and a fair model comparison</a:t>
            </a:r>
          </a:p>
        </p:txBody>
      </p:sp>
      <p:sp>
        <p:nvSpPr>
          <p:cNvPr id="4" name="">
            <a:extLst xmlns:a="http://schemas.openxmlformats.org/drawingml/2006/main">
              <a:ext uri="{FF2B5EF4-FFF2-40B4-BE49-F238E27FC236}">
                <a16:creationId xmlns:a16="http://schemas.microsoft.com/office/drawing/2014/main" id="{06209837-DE7D-4721-9916-43D61296DEB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D66E526-833D-4DAF-9B90-EE6FB53DDA9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imputer learns replacement values, such as a median, from training features only.</a:t>
            </a:r>
          </a:p>
        </p:txBody>
      </p:sp>
      <p:sp>
        <p:nvSpPr>
          <p:cNvPr id="6" name="">
            <a:extLst xmlns:a="http://schemas.openxmlformats.org/drawingml/2006/main">
              <a:ext uri="{FF2B5EF4-FFF2-40B4-BE49-F238E27FC236}">
                <a16:creationId xmlns:a16="http://schemas.microsoft.com/office/drawing/2014/main" id="{84AEEB2A-4F0C-431B-AEDF-5972B2E675B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ABCD0FB-73DB-4C36-B327-D7C511E2F17B}"/>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pipeline applies the same learned replacement before fitting or predicting.</a:t>
            </a:r>
          </a:p>
        </p:txBody>
      </p:sp>
      <p:sp>
        <p:nvSpPr>
          <p:cNvPr id="8" name="">
            <a:extLst xmlns:a="http://schemas.openxmlformats.org/drawingml/2006/main">
              <a:ext uri="{FF2B5EF4-FFF2-40B4-BE49-F238E27FC236}">
                <a16:creationId xmlns:a16="http://schemas.microsoft.com/office/drawing/2014/main" id="{EAD3A990-D221-42B0-B496-247C77E2F84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87C8676-7959-47EF-B6FA-B2FE9BA1FC7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the baseline, linear model and tree on the same validation rows. Keep final test rows separate.</a:t>
            </a:r>
          </a:p>
        </p:txBody>
      </p:sp>
      <p:sp>
        <p:nvSpPr>
          <p:cNvPr id="10" name="">
            <a:extLst xmlns:a="http://schemas.openxmlformats.org/drawingml/2006/main">
              <a:ext uri="{FF2B5EF4-FFF2-40B4-BE49-F238E27FC236}">
                <a16:creationId xmlns:a16="http://schemas.microsoft.com/office/drawing/2014/main" id="{5DCEA4A5-FD3B-4868-AC74-60908F289C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40</a:t>
            </a:r>
          </a:p>
        </p:txBody>
      </p:sp>
    </p:spTree>
    <p:extLst>
      <p:ext uri="{BB962C8B-B14F-4D97-AF65-F5344CB8AC3E}">
        <p14:creationId xmlns:p14="http://schemas.microsoft.com/office/powerpoint/2010/main" val="158921038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01CBD5-3688-4440-AD9D-1CB5F589231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ECC20A-F5F6-4D3D-B0FA-46CACCC8652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68BA1D66-B8F1-48FE-91AB-0076FF85EF3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pipeline with a median imputer</a:t>
            </a:r>
          </a:p>
        </p:txBody>
      </p:sp>
      <p:sp>
        <p:nvSpPr>
          <p:cNvPr id="4" name="">
            <a:extLst xmlns:a="http://schemas.openxmlformats.org/drawingml/2006/main">
              <a:ext uri="{FF2B5EF4-FFF2-40B4-BE49-F238E27FC236}">
                <a16:creationId xmlns:a16="http://schemas.microsoft.com/office/drawing/2014/main" id="{496F6F6A-9765-40CB-9989-078E21ED07B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6653346-4615-4B4F-98E2-EC54ECDBA49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SimpleImputer(strategy="median") learns one median per training feature.</a:t>
            </a:r>
          </a:p>
        </p:txBody>
      </p:sp>
      <p:sp>
        <p:nvSpPr>
          <p:cNvPr id="6" name="">
            <a:extLst xmlns:a="http://schemas.openxmlformats.org/drawingml/2006/main">
              <a:ext uri="{FF2B5EF4-FFF2-40B4-BE49-F238E27FC236}">
                <a16:creationId xmlns:a16="http://schemas.microsoft.com/office/drawing/2014/main" id="{A49AF207-1D57-4226-983C-BE6F8BBA15B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C0F889F-9A5B-42DF-8D1C-AD126F6A078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make_pipeline(imputer, model) applies the imputer before the linear_model.</a:t>
            </a:r>
          </a:p>
        </p:txBody>
      </p:sp>
      <p:sp>
        <p:nvSpPr>
          <p:cNvPr id="8" name="">
            <a:extLst xmlns:a="http://schemas.openxmlformats.org/drawingml/2006/main">
              <a:ext uri="{FF2B5EF4-FFF2-40B4-BE49-F238E27FC236}">
                <a16:creationId xmlns:a16="http://schemas.microsoft.com/office/drawing/2014/main" id="{286352AD-EF3D-4828-B7C1-EB28A860B13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42CF3F9-8F7A-4DFB-A629-6FB2077392F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Calling fit on the pipeline learns both stages using training rows only.</a:t>
            </a:r>
          </a:p>
        </p:txBody>
      </p:sp>
      <p:sp>
        <p:nvSpPr>
          <p:cNvPr id="10" name="">
            <a:extLst xmlns:a="http://schemas.openxmlformats.org/drawingml/2006/main">
              <a:ext uri="{FF2B5EF4-FFF2-40B4-BE49-F238E27FC236}">
                <a16:creationId xmlns:a16="http://schemas.microsoft.com/office/drawing/2014/main" id="{E6B6069B-687B-49DD-83D8-7878BD71FB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41</a:t>
            </a:r>
          </a:p>
        </p:txBody>
      </p:sp>
    </p:spTree>
    <p:extLst>
      <p:ext uri="{BB962C8B-B14F-4D97-AF65-F5344CB8AC3E}">
        <p14:creationId xmlns:p14="http://schemas.microsoft.com/office/powerpoint/2010/main" val="168821320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3DF7AD-0143-480A-A88D-84B087F7DD8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95EED4-98C6-4F52-8E86-24E168D0FE5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59B5A0F-ABE0-4074-803A-58811286A5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EF580295-2233-4413-9A91-EDE83C7C609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3DC359A-B404-4435-9FC1-E8BF28F9618D}"/>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feature_columns: the list of input column names supplied to the model.</a:t>
            </a:r>
          </a:p>
        </p:txBody>
      </p:sp>
      <p:sp>
        <p:nvSpPr>
          <p:cNvPr id="6" name="">
            <a:extLst xmlns:a="http://schemas.openxmlformats.org/drawingml/2006/main">
              <a:ext uri="{FF2B5EF4-FFF2-40B4-BE49-F238E27FC236}">
                <a16:creationId xmlns:a16="http://schemas.microsoft.com/office/drawing/2014/main" id="{7E9A7B08-5A64-4CF1-A5BB-9A42CED8348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42</a:t>
            </a:r>
          </a:p>
        </p:txBody>
      </p:sp>
    </p:spTree>
    <p:extLst>
      <p:ext uri="{BB962C8B-B14F-4D97-AF65-F5344CB8AC3E}">
        <p14:creationId xmlns:p14="http://schemas.microsoft.com/office/powerpoint/2010/main" val="168183519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F51762-9110-4122-B87B-72554744C3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15CC4E-8260-4538-8A39-B3D6FD5AC8E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466DF4CE-5A81-4ADA-9F31-3F05EFBB4AB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1</a:t>
            </a:r>
          </a:p>
        </p:txBody>
      </p:sp>
      <p:sp>
        <p:nvSpPr>
          <p:cNvPr id="4" name="">
            <a:extLst xmlns:a="http://schemas.openxmlformats.org/drawingml/2006/main">
              <a:ext uri="{FF2B5EF4-FFF2-40B4-BE49-F238E27FC236}">
                <a16:creationId xmlns:a16="http://schemas.microsoft.com/office/drawing/2014/main" id="{FE79CDEB-C5B4-4F8E-9FE8-49A92602681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11FB20-2282-4C6D-8A8C-BB9B43AD0F1F}"/>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sklearn.impute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SimpleImputer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sklearn.pipeline import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from sklearn.tree import DecisionTreeRegressor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 "ambient"]</a:t>
            </a:r>
          </a:p>
        </p:txBody>
      </p:sp>
      <p:sp>
        <p:nvSpPr>
          <p:cNvPr id="6" name="">
            <a:extLst xmlns:a="http://schemas.openxmlformats.org/drawingml/2006/main">
              <a:ext uri="{FF2B5EF4-FFF2-40B4-BE49-F238E27FC236}">
                <a16:creationId xmlns:a16="http://schemas.microsoft.com/office/drawing/2014/main" id="{497F00AC-3A35-4C65-999D-5ADC1AEC2340}"/>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feature_columns: the list of input column names supplied to the model.</a:t>
            </a:r>
          </a:p>
        </p:txBody>
      </p:sp>
      <p:sp>
        <p:nvSpPr>
          <p:cNvPr id="7" name="">
            <a:extLst xmlns:a="http://schemas.openxmlformats.org/drawingml/2006/main">
              <a:ext uri="{FF2B5EF4-FFF2-40B4-BE49-F238E27FC236}">
                <a16:creationId xmlns:a16="http://schemas.microsoft.com/office/drawing/2014/main" id="{827230CA-5FC8-4ED1-9033-87CEBC1F950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41C5E2E5-FC43-431E-B1C0-470A97AF78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43</a:t>
            </a:r>
          </a:p>
        </p:txBody>
      </p:sp>
    </p:spTree>
    <p:extLst>
      <p:ext uri="{BB962C8B-B14F-4D97-AF65-F5344CB8AC3E}">
        <p14:creationId xmlns:p14="http://schemas.microsoft.com/office/powerpoint/2010/main" val="197872944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0F6AEE-7A53-419D-8F19-85813D7FC1C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0275FE-EB82-4BDC-9C7A-B170DCEC468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41FC0F4-02E3-4492-85EE-31ECD419AA4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Separate inputs from answers</a:t>
            </a:r>
          </a:p>
        </p:txBody>
      </p:sp>
      <p:sp>
        <p:nvSpPr>
          <p:cNvPr id="4" name="">
            <a:extLst xmlns:a="http://schemas.openxmlformats.org/drawingml/2006/main">
              <a:ext uri="{FF2B5EF4-FFF2-40B4-BE49-F238E27FC236}">
                <a16:creationId xmlns:a16="http://schemas.microsoft.com/office/drawing/2014/main" id="{44AA5EE3-16B9-4848-A4E4-CC184622DC3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B4B92C3-2EBB-4935-9772-E2957EA617A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X_train contains the input columns; y_train contains their observed targets.</a:t>
            </a:r>
          </a:p>
        </p:txBody>
      </p:sp>
      <p:sp>
        <p:nvSpPr>
          <p:cNvPr id="6" name="">
            <a:extLst xmlns:a="http://schemas.openxmlformats.org/drawingml/2006/main">
              <a:ext uri="{FF2B5EF4-FFF2-40B4-BE49-F238E27FC236}">
                <a16:creationId xmlns:a16="http://schemas.microsoft.com/office/drawing/2014/main" id="{6DA754DB-3DDE-441C-93D4-B4EAFCDE614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X_valid contains the same input columns for validation; y_valid holds the answers for checking predictions.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Never include target among the inputs.</a:t>
            </a:r>
          </a:p>
        </p:txBody>
      </p:sp>
      <p:sp>
        <p:nvSpPr>
          <p:cNvPr id="7" name="">
            <a:extLst xmlns:a="http://schemas.openxmlformats.org/drawingml/2006/main">
              <a:ext uri="{FF2B5EF4-FFF2-40B4-BE49-F238E27FC236}">
                <a16:creationId xmlns:a16="http://schemas.microsoft.com/office/drawing/2014/main" id="{E71C6ECD-BE69-426E-9EE7-9ABC7D2C939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44</a:t>
            </a:r>
          </a:p>
        </p:txBody>
      </p:sp>
    </p:spTree>
    <p:extLst>
      <p:ext uri="{BB962C8B-B14F-4D97-AF65-F5344CB8AC3E}">
        <p14:creationId xmlns:p14="http://schemas.microsoft.com/office/powerpoint/2010/main" val="209522440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7C2D71-4218-4DC0-B449-D068177E247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8D20AF8-E5E6-4C7B-8CE8-001A28182AB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B04DFD9E-69A0-418F-8918-D94A42446F9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model tools — step 2</a:t>
            </a:r>
          </a:p>
        </p:txBody>
      </p:sp>
      <p:sp>
        <p:nvSpPr>
          <p:cNvPr id="4" name="">
            <a:extLst xmlns:a="http://schemas.openxmlformats.org/drawingml/2006/main">
              <a:ext uri="{FF2B5EF4-FFF2-40B4-BE49-F238E27FC236}">
                <a16:creationId xmlns:a16="http://schemas.microsoft.com/office/drawing/2014/main" id="{8B89D40D-FBB4-4CDB-AC85-3E020401ABBB}"/>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B6305E-53B4-491B-8E93-8D8388A4F6F0}"/>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X_train = training_data[feature_columns]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X_valid = validation_data[feature_columns]</a:t>
            </a:r>
          </a:p>
        </p:txBody>
      </p:sp>
      <p:sp>
        <p:nvSpPr>
          <p:cNvPr id="6" name="">
            <a:extLst xmlns:a="http://schemas.openxmlformats.org/drawingml/2006/main">
              <a:ext uri="{FF2B5EF4-FFF2-40B4-BE49-F238E27FC236}">
                <a16:creationId xmlns:a16="http://schemas.microsoft.com/office/drawing/2014/main" id="{D974613B-98CA-4C81-BD90-821898828FB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DD81CEF-F07D-4686-B68C-CC0CEFFE2BE2}"/>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feature_columns: the list of input column names supplied to the model.</a:t>
            </a:r>
          </a:p>
        </p:txBody>
      </p:sp>
      <p:sp>
        <p:nvSpPr>
          <p:cNvPr id="8" name="">
            <a:extLst xmlns:a="http://schemas.openxmlformats.org/drawingml/2006/main">
              <a:ext uri="{FF2B5EF4-FFF2-40B4-BE49-F238E27FC236}">
                <a16:creationId xmlns:a16="http://schemas.microsoft.com/office/drawing/2014/main" id="{195F335F-F446-4EE0-89A7-0C864CC5C661}"/>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B33E01BE-81A0-49D3-82D5-F792905868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45</a:t>
            </a:r>
          </a:p>
        </p:txBody>
      </p:sp>
    </p:spTree>
    <p:extLst>
      <p:ext uri="{BB962C8B-B14F-4D97-AF65-F5344CB8AC3E}">
        <p14:creationId xmlns:p14="http://schemas.microsoft.com/office/powerpoint/2010/main" val="184415132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1EBED2-5F74-400F-88C7-6138FB1C574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0E3B95-D9D5-44B2-B3B9-D981E64C10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B9C3AC0-BBAC-4AC4-855F-0B975088FD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sequence of model steps / Filling model inputs</a:t>
            </a:r>
          </a:p>
        </p:txBody>
      </p:sp>
      <p:sp>
        <p:nvSpPr>
          <p:cNvPr id="4" name="">
            <a:extLst xmlns:a="http://schemas.openxmlformats.org/drawingml/2006/main">
              <a:ext uri="{FF2B5EF4-FFF2-40B4-BE49-F238E27FC236}">
                <a16:creationId xmlns:a16="http://schemas.microsoft.com/office/drawing/2014/main" id="{205D246D-713A-415E-B264-44830F52932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24848BD-A2A0-4192-B992-26CA13BC9C2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337DFB7-F254-4C4C-A2F8-F8B1A7011CD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make_pipeline(imputer, estimator) links preprocessing and prediction. fit learns the imputer and estimator on training rows. predict applies the learned steps to new rows in the same order.</a:t>
            </a:r>
          </a:p>
        </p:txBody>
      </p:sp>
      <p:sp>
        <p:nvSpPr>
          <p:cNvPr id="7" name="">
            <a:extLst xmlns:a="http://schemas.openxmlformats.org/drawingml/2006/main">
              <a:ext uri="{FF2B5EF4-FFF2-40B4-BE49-F238E27FC236}">
                <a16:creationId xmlns:a16="http://schemas.microsoft.com/office/drawing/2014/main" id="{756E365F-07B6-4D1B-B7FA-3E5201593ED7}"/>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SimpleImputer(strategy="median") learns a median for each input column during fit. It uses those training medians to fill gaps later. Never learn replacement values from validation or test rows.</a:t>
            </a:r>
          </a:p>
        </p:txBody>
      </p:sp>
      <p:sp>
        <p:nvSpPr>
          <p:cNvPr id="8" name="">
            <a:extLst xmlns:a="http://schemas.openxmlformats.org/drawingml/2006/main">
              <a:ext uri="{FF2B5EF4-FFF2-40B4-BE49-F238E27FC236}">
                <a16:creationId xmlns:a16="http://schemas.microsoft.com/office/drawing/2014/main" id="{A9C9A962-5FC7-4851-BDC6-3D92F3F315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46</a:t>
            </a:r>
          </a:p>
        </p:txBody>
      </p:sp>
    </p:spTree>
    <p:extLst>
      <p:ext uri="{BB962C8B-B14F-4D97-AF65-F5344CB8AC3E}">
        <p14:creationId xmlns:p14="http://schemas.microsoft.com/office/powerpoint/2010/main" val="2120043485"/>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AF477BA-D3E1-454B-B338-88BBB3DE4D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990EDD-C646-4800-90F9-374E4FA75B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7F56B5C-E1CF-4223-94F1-5C81254B15C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linear pipeline</a:t>
            </a:r>
          </a:p>
        </p:txBody>
      </p:sp>
      <p:sp>
        <p:nvSpPr>
          <p:cNvPr id="4" name="">
            <a:extLst xmlns:a="http://schemas.openxmlformats.org/drawingml/2006/main">
              <a:ext uri="{FF2B5EF4-FFF2-40B4-BE49-F238E27FC236}">
                <a16:creationId xmlns:a16="http://schemas.microsoft.com/office/drawing/2014/main" id="{85ACBF1B-8661-46B0-AD15-75A5CC50A46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AB9C1C4-9F25-4F7B-9D48-7E613E97B07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 LinearRegression()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linear_pipeline.fit(X_train,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linear_predictions = linear_pipeline.predict(X_valid)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print(linear_predictions.round(2))</a:t>
            </a:r>
          </a:p>
        </p:txBody>
      </p:sp>
      <p:sp>
        <p:nvSpPr>
          <p:cNvPr id="6" name="">
            <a:extLst xmlns:a="http://schemas.openxmlformats.org/drawingml/2006/main">
              <a:ext uri="{FF2B5EF4-FFF2-40B4-BE49-F238E27FC236}">
                <a16:creationId xmlns:a16="http://schemas.microsoft.com/office/drawing/2014/main" id="{7A970E8D-B868-4C00-A6DC-BB51020DF6F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linear_pipeline: median imputer followed by linear regression.</a:t>
            </a:r>
          </a:p>
        </p:txBody>
      </p:sp>
      <p:sp>
        <p:nvSpPr>
          <p:cNvPr id="7" name="">
            <a:extLst xmlns:a="http://schemas.openxmlformats.org/drawingml/2006/main">
              <a:ext uri="{FF2B5EF4-FFF2-40B4-BE49-F238E27FC236}">
                <a16:creationId xmlns:a16="http://schemas.microsoft.com/office/drawing/2014/main" id="{60426B6A-F770-43B8-85E8-FE70CB962A8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DBCD786F-2B68-4C9E-9B3A-21E33BE128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47</a:t>
            </a:r>
          </a:p>
        </p:txBody>
      </p:sp>
    </p:spTree>
    <p:extLst>
      <p:ext uri="{BB962C8B-B14F-4D97-AF65-F5344CB8AC3E}">
        <p14:creationId xmlns:p14="http://schemas.microsoft.com/office/powerpoint/2010/main" val="210263650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2D7CBE4-834F-4F8F-BB46-7DE97E1499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33E13E-05A0-40C9-8387-91E2B9DD1F3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8CE6559-E91C-4770-9224-172F3E291D7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shallow decision tree</a:t>
            </a:r>
          </a:p>
        </p:txBody>
      </p:sp>
      <p:sp>
        <p:nvSpPr>
          <p:cNvPr id="4" name="">
            <a:extLst xmlns:a="http://schemas.openxmlformats.org/drawingml/2006/main">
              <a:ext uri="{FF2B5EF4-FFF2-40B4-BE49-F238E27FC236}">
                <a16:creationId xmlns:a16="http://schemas.microsoft.com/office/drawing/2014/main" id="{CED3AC03-56F0-42F5-A6EF-72A1BB99577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DC898D6-B87F-41EC-90C5-4FB204AC861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regression tree divides training rows using feature thresholds and predicts a value within each resulting group.</a:t>
            </a:r>
          </a:p>
        </p:txBody>
      </p:sp>
      <p:sp>
        <p:nvSpPr>
          <p:cNvPr id="6" name="">
            <a:extLst xmlns:a="http://schemas.openxmlformats.org/drawingml/2006/main">
              <a:ext uri="{FF2B5EF4-FFF2-40B4-BE49-F238E27FC236}">
                <a16:creationId xmlns:a16="http://schemas.microsoft.com/office/drawing/2014/main" id="{C1CC44B4-119F-48FB-8DD4-DE33557F3AC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CCF7D66-4A5E-43CF-9E81-BB86C899B03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max_depth limits the number of levels of splits. random_state fixes the random choices for repeatability.</a:t>
            </a:r>
          </a:p>
        </p:txBody>
      </p:sp>
      <p:sp>
        <p:nvSpPr>
          <p:cNvPr id="8" name="">
            <a:extLst xmlns:a="http://schemas.openxmlformats.org/drawingml/2006/main">
              <a:ext uri="{FF2B5EF4-FFF2-40B4-BE49-F238E27FC236}">
                <a16:creationId xmlns:a16="http://schemas.microsoft.com/office/drawing/2014/main" id="{83389EBE-DF3B-403C-B33C-70956E01E49C}"/>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A28BA6-B565-46A5-B884-43FC83429FD3}"/>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With these tiny training data, loads above the observed range receive the larger training target.</a:t>
            </a:r>
          </a:p>
        </p:txBody>
      </p:sp>
      <p:sp>
        <p:nvSpPr>
          <p:cNvPr id="10" name="">
            <a:extLst xmlns:a="http://schemas.openxmlformats.org/drawingml/2006/main">
              <a:ext uri="{FF2B5EF4-FFF2-40B4-BE49-F238E27FC236}">
                <a16:creationId xmlns:a16="http://schemas.microsoft.com/office/drawing/2014/main" id="{30060E45-8CB0-4435-B571-03EDE0CE32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48</a:t>
            </a:r>
          </a:p>
        </p:txBody>
      </p:sp>
    </p:spTree>
    <p:extLst>
      <p:ext uri="{BB962C8B-B14F-4D97-AF65-F5344CB8AC3E}">
        <p14:creationId xmlns:p14="http://schemas.microsoft.com/office/powerpoint/2010/main" val="887008879"/>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42CE94-6FD7-4A92-8BE7-F4709AE47BB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3AB830-565A-4415-A9B5-068F41B7A9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692F15A-863F-4FB9-AD58-9FAF533B50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Creating a regression tree</a:t>
            </a:r>
          </a:p>
        </p:txBody>
      </p:sp>
      <p:sp>
        <p:nvSpPr>
          <p:cNvPr id="4" name="">
            <a:extLst xmlns:a="http://schemas.openxmlformats.org/drawingml/2006/main">
              <a:ext uri="{FF2B5EF4-FFF2-40B4-BE49-F238E27FC236}">
                <a16:creationId xmlns:a16="http://schemas.microsoft.com/office/drawing/2014/main" id="{2DD81780-60F6-4EEA-B7BB-A6F0979D561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AF09FD-060C-49BC-9E94-E357EA857F1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DecisionTreeRegressor splits inputs into regions with different predicted values. max_depth limits the number of split levels. random_state fixes random choices so the example can be repeated.</a:t>
            </a:r>
          </a:p>
        </p:txBody>
      </p:sp>
      <p:sp>
        <p:nvSpPr>
          <p:cNvPr id="6" name="">
            <a:extLst xmlns:a="http://schemas.openxmlformats.org/drawingml/2006/main">
              <a:ext uri="{FF2B5EF4-FFF2-40B4-BE49-F238E27FC236}">
                <a16:creationId xmlns:a16="http://schemas.microsoft.com/office/drawing/2014/main" id="{A7ACFC63-0B06-4D67-934B-9A41C666C85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49</a:t>
            </a:r>
          </a:p>
        </p:txBody>
      </p:sp>
    </p:spTree>
    <p:extLst>
      <p:ext uri="{BB962C8B-B14F-4D97-AF65-F5344CB8AC3E}">
        <p14:creationId xmlns:p14="http://schemas.microsoft.com/office/powerpoint/2010/main" val="60280341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ED69DE-9CBC-4543-A391-EE763FACF7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2F495E-35BC-4222-9F93-AA96A10F3B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465BDAA-45DC-47F5-B846-89043EDDDFA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Compare a second kind of model</a:t>
            </a:r>
          </a:p>
        </p:txBody>
      </p:sp>
      <p:sp>
        <p:nvSpPr>
          <p:cNvPr id="4" name="">
            <a:extLst xmlns:a="http://schemas.openxmlformats.org/drawingml/2006/main">
              <a:ext uri="{FF2B5EF4-FFF2-40B4-BE49-F238E27FC236}">
                <a16:creationId xmlns:a16="http://schemas.microsoft.com/office/drawing/2014/main" id="{A7A6FD88-0036-491C-BA95-415A5F7F3CA5}"/>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EC6D9C-F5BE-4A1E-803C-AE6FFA514BF4}"/>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regression tree learns splits in the input columns. max_depth limits its split levels.</a:t>
            </a:r>
          </a:p>
        </p:txBody>
      </p:sp>
      <p:sp>
        <p:nvSpPr>
          <p:cNvPr id="6" name="">
            <a:extLst xmlns:a="http://schemas.openxmlformats.org/drawingml/2006/main">
              <a:ext uri="{FF2B5EF4-FFF2-40B4-BE49-F238E27FC236}">
                <a16:creationId xmlns:a16="http://schemas.microsoft.com/office/drawing/2014/main" id="{A6949F8E-F643-4D94-97D5-0C7FC162C2EE}"/>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imputer fills missing inputs using training medians; the tree then learns from those filled inputs.</a:t>
            </a:r>
          </a:p>
        </p:txBody>
      </p:sp>
      <p:sp>
        <p:nvSpPr>
          <p:cNvPr id="7" name="">
            <a:extLst xmlns:a="http://schemas.openxmlformats.org/drawingml/2006/main">
              <a:ext uri="{FF2B5EF4-FFF2-40B4-BE49-F238E27FC236}">
                <a16:creationId xmlns:a16="http://schemas.microsoft.com/office/drawing/2014/main" id="{1DCC9181-42EA-4048-84C8-7B7631522BE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50</a:t>
            </a:r>
          </a:p>
        </p:txBody>
      </p:sp>
    </p:spTree>
    <p:extLst>
      <p:ext uri="{BB962C8B-B14F-4D97-AF65-F5344CB8AC3E}">
        <p14:creationId xmlns:p14="http://schemas.microsoft.com/office/powerpoint/2010/main" val="44174543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E04FFC-5A2F-4689-9024-FA6F9ADFE87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C6BAD8-C934-401C-A148-8507CD3CC9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4873D20-9C21-4520-BB44-2804C688004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tree pipeline</a:t>
            </a:r>
          </a:p>
        </p:txBody>
      </p:sp>
      <p:sp>
        <p:nvSpPr>
          <p:cNvPr id="4" name="">
            <a:extLst xmlns:a="http://schemas.openxmlformats.org/drawingml/2006/main">
              <a:ext uri="{FF2B5EF4-FFF2-40B4-BE49-F238E27FC236}">
                <a16:creationId xmlns:a16="http://schemas.microsoft.com/office/drawing/2014/main" id="{BD4A8F5F-B0C6-4B61-8789-70D1CD92836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1B6B0D-BDB6-412F-B4F1-9BF358BAD20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 = make_pipeline(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SimpleImputer(strategy="median"),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DecisionTreeRegressor(max_depth=2, random_state=7),</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tree_model.fit(X_train, y_train)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tree_predictions = tree_model.predict(X_valid)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print(tree_predictions)</a:t>
            </a:r>
          </a:p>
        </p:txBody>
      </p:sp>
      <p:sp>
        <p:nvSpPr>
          <p:cNvPr id="6" name="">
            <a:extLst xmlns:a="http://schemas.openxmlformats.org/drawingml/2006/main">
              <a:ext uri="{FF2B5EF4-FFF2-40B4-BE49-F238E27FC236}">
                <a16:creationId xmlns:a16="http://schemas.microsoft.com/office/drawing/2014/main" id="{8AF57CEA-330D-430C-AD0C-15FC131AF58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tree_model: the tree regression pipeline being compared on the same validation rows.</a:t>
            </a:r>
          </a:p>
        </p:txBody>
      </p:sp>
      <p:sp>
        <p:nvSpPr>
          <p:cNvPr id="7" name="">
            <a:extLst xmlns:a="http://schemas.openxmlformats.org/drawingml/2006/main">
              <a:ext uri="{FF2B5EF4-FFF2-40B4-BE49-F238E27FC236}">
                <a16:creationId xmlns:a16="http://schemas.microsoft.com/office/drawing/2014/main" id="{20BCFB9C-096C-4103-BB1F-37ED729D4A5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8" name="">
            <a:extLst xmlns:a="http://schemas.openxmlformats.org/drawingml/2006/main">
              <a:ext uri="{FF2B5EF4-FFF2-40B4-BE49-F238E27FC236}">
                <a16:creationId xmlns:a16="http://schemas.microsoft.com/office/drawing/2014/main" id="{EA0FF7F9-3948-451A-8892-E62D6871B3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51</a:t>
            </a:r>
          </a:p>
        </p:txBody>
      </p:sp>
    </p:spTree>
    <p:extLst>
      <p:ext uri="{BB962C8B-B14F-4D97-AF65-F5344CB8AC3E}">
        <p14:creationId xmlns:p14="http://schemas.microsoft.com/office/powerpoint/2010/main" val="118480230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BCB3FB6-F8FE-45C9-BE5F-5D97109F9B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9935E5-3180-4060-A059-E90DC08EE18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0BB75AF-CE8F-4C17-96F6-42FA7246743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compare the three models</a:t>
            </a:r>
          </a:p>
        </p:txBody>
      </p:sp>
      <p:sp>
        <p:nvSpPr>
          <p:cNvPr id="4" name="">
            <a:extLst xmlns:a="http://schemas.openxmlformats.org/drawingml/2006/main">
              <a:ext uri="{FF2B5EF4-FFF2-40B4-BE49-F238E27FC236}">
                <a16:creationId xmlns:a16="http://schemas.microsoft.com/office/drawing/2014/main" id="{A1F39200-0CCC-4860-8988-9BEC0730313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C328D8-AD10-44E7-A5BB-B5A877B3D735}"/>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Validation targets: 30 and 40.</a:t>
            </a:r>
          </a:p>
        </p:txBody>
      </p:sp>
      <p:sp>
        <p:nvSpPr>
          <p:cNvPr id="6" name="">
            <a:extLst xmlns:a="http://schemas.openxmlformats.org/drawingml/2006/main">
              <a:ext uri="{FF2B5EF4-FFF2-40B4-BE49-F238E27FC236}">
                <a16:creationId xmlns:a16="http://schemas.microsoft.com/office/drawing/2014/main" id="{ABB38AE5-0E51-4DB2-8540-9C05118F0F8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5839D9EF-553B-49F1-8A01-AC4E8408AE1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predictions: 15, 15. Linear: 30, 40. Tree: 20, 20.</a:t>
            </a:r>
          </a:p>
        </p:txBody>
      </p:sp>
      <p:sp>
        <p:nvSpPr>
          <p:cNvPr id="8" name="">
            <a:extLst xmlns:a="http://schemas.openxmlformats.org/drawingml/2006/main">
              <a:ext uri="{FF2B5EF4-FFF2-40B4-BE49-F238E27FC236}">
                <a16:creationId xmlns:a16="http://schemas.microsoft.com/office/drawing/2014/main" id="{51FA9D36-ABFB-4A66-BD8A-EDD3E47BF385}"/>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85DD0E6-FAC1-4970-A7C3-066513260A3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for each linear_model. Which performs best on these two rows?</a:t>
            </a:r>
          </a:p>
        </p:txBody>
      </p:sp>
      <p:sp>
        <p:nvSpPr>
          <p:cNvPr id="10" name="">
            <a:extLst xmlns:a="http://schemas.openxmlformats.org/drawingml/2006/main">
              <a:ext uri="{FF2B5EF4-FFF2-40B4-BE49-F238E27FC236}">
                <a16:creationId xmlns:a16="http://schemas.microsoft.com/office/drawing/2014/main" id="{9088091F-EAA2-494F-B7DB-8C7A339E265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52</a:t>
            </a:r>
          </a:p>
        </p:txBody>
      </p:sp>
    </p:spTree>
    <p:extLst>
      <p:ext uri="{BB962C8B-B14F-4D97-AF65-F5344CB8AC3E}">
        <p14:creationId xmlns:p14="http://schemas.microsoft.com/office/powerpoint/2010/main" val="57421209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1B9B0DE-6BDF-4953-ADA7-773C7EC7A4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E7F575-80AA-449B-873A-1D38C0D0D06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48E477F-9E32-4AE7-8A1E-9B8E9449537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Practice answer</a:t>
            </a:r>
          </a:p>
        </p:txBody>
      </p:sp>
      <p:sp>
        <p:nvSpPr>
          <p:cNvPr id="4" name="">
            <a:extLst xmlns:a="http://schemas.openxmlformats.org/drawingml/2006/main">
              <a:ext uri="{FF2B5EF4-FFF2-40B4-BE49-F238E27FC236}">
                <a16:creationId xmlns:a16="http://schemas.microsoft.com/office/drawing/2014/main" id="{49FEE0B4-0C1A-47C0-B2D3-0413B394DC4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9D5853F-BC7C-4987-9C74-FB163356F9A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MAE 20, RMSE 20.62 kW.</a:t>
            </a:r>
          </a:p>
        </p:txBody>
      </p:sp>
      <p:sp>
        <p:nvSpPr>
          <p:cNvPr id="6" name="">
            <a:extLst xmlns:a="http://schemas.openxmlformats.org/drawingml/2006/main">
              <a:ext uri="{FF2B5EF4-FFF2-40B4-BE49-F238E27FC236}">
                <a16:creationId xmlns:a16="http://schemas.microsoft.com/office/drawing/2014/main" id="{B623B2C1-0326-42AD-8F7C-C938F7FFA0A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BBE07B3-5ACE-43A3-A068-E10E71C75EEE}"/>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MAE 0, RMSE 0 kW. Tree: MAE 15, RMSE 15.81 kW.</a:t>
            </a:r>
          </a:p>
        </p:txBody>
      </p:sp>
      <p:sp>
        <p:nvSpPr>
          <p:cNvPr id="8" name="">
            <a:extLst xmlns:a="http://schemas.openxmlformats.org/drawingml/2006/main">
              <a:ext uri="{FF2B5EF4-FFF2-40B4-BE49-F238E27FC236}">
                <a16:creationId xmlns:a16="http://schemas.microsoft.com/office/drawing/2014/main" id="{717885F8-5283-4B96-85B6-6ADB91818F9B}"/>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D7C8C4B-25AE-4DE5-81E3-A53288023A2D}"/>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Linear performs best here. Two synthetic rows do not prove performance on new equipment.</a:t>
            </a:r>
          </a:p>
        </p:txBody>
      </p:sp>
      <p:sp>
        <p:nvSpPr>
          <p:cNvPr id="10" name="">
            <a:extLst xmlns:a="http://schemas.openxmlformats.org/drawingml/2006/main">
              <a:ext uri="{FF2B5EF4-FFF2-40B4-BE49-F238E27FC236}">
                <a16:creationId xmlns:a16="http://schemas.microsoft.com/office/drawing/2014/main" id="{29B2C99E-24D3-46AF-8789-3FE7687FA9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53</a:t>
            </a:r>
          </a:p>
        </p:txBody>
      </p:sp>
    </p:spTree>
    <p:extLst>
      <p:ext uri="{BB962C8B-B14F-4D97-AF65-F5344CB8AC3E}">
        <p14:creationId xmlns:p14="http://schemas.microsoft.com/office/powerpoint/2010/main" val="169708109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73CA6BC-37CD-4ED6-B5A4-6ADE7A70D1A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AFBEA4-1863-4302-94D7-181727AAE37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898C346D-3008-4566-AFBD-D0DEAD1F3B1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 2 revision checklist</a:t>
            </a:r>
          </a:p>
        </p:txBody>
      </p:sp>
      <p:sp>
        <p:nvSpPr>
          <p:cNvPr id="4" name="">
            <a:extLst xmlns:a="http://schemas.openxmlformats.org/drawingml/2006/main">
              <a:ext uri="{FF2B5EF4-FFF2-40B4-BE49-F238E27FC236}">
                <a16:creationId xmlns:a16="http://schemas.microsoft.com/office/drawing/2014/main" id="{14B8B3F7-802C-438C-A21E-45752E0AEF9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C518930-978B-422D-A951-FF64B50FCE91}"/>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machine split and why the ambient median must come from training rows.</a:t>
            </a:r>
          </a:p>
        </p:txBody>
      </p:sp>
      <p:sp>
        <p:nvSpPr>
          <p:cNvPr id="6" name="">
            <a:extLst xmlns:a="http://schemas.openxmlformats.org/drawingml/2006/main">
              <a:ext uri="{FF2B5EF4-FFF2-40B4-BE49-F238E27FC236}">
                <a16:creationId xmlns:a16="http://schemas.microsoft.com/office/drawing/2014/main" id="{CDD527E8-674C-4B56-A1E6-9ADA369188CD}"/>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85E480E-7597-4DBD-AC1C-5C91C453852D}"/>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Rerun both pipelines. Compare their predictions with the baseline on the same validation rows.</a:t>
            </a:r>
          </a:p>
        </p:txBody>
      </p:sp>
      <p:sp>
        <p:nvSpPr>
          <p:cNvPr id="8" name="">
            <a:extLst xmlns:a="http://schemas.openxmlformats.org/drawingml/2006/main">
              <a:ext uri="{FF2B5EF4-FFF2-40B4-BE49-F238E27FC236}">
                <a16:creationId xmlns:a16="http://schemas.microsoft.com/office/drawing/2014/main" id="{5CFD2ECE-622B-4A30-A5CC-F6681DD4A2D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74E6CA9-F572-4F73-B422-0B804813568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MAE and RMSE and explain why a perfect result on this tiny file is not proof of generalisation.</a:t>
            </a:r>
          </a:p>
        </p:txBody>
      </p:sp>
      <p:sp>
        <p:nvSpPr>
          <p:cNvPr id="10" name="">
            <a:extLst xmlns:a="http://schemas.openxmlformats.org/drawingml/2006/main">
              <a:ext uri="{FF2B5EF4-FFF2-40B4-BE49-F238E27FC236}">
                <a16:creationId xmlns:a16="http://schemas.microsoft.com/office/drawing/2014/main" id="{6C4EA95D-6709-4ACE-B319-B3FACAB6FB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54</a:t>
            </a:r>
          </a:p>
        </p:txBody>
      </p:sp>
    </p:spTree>
    <p:extLst>
      <p:ext uri="{BB962C8B-B14F-4D97-AF65-F5344CB8AC3E}">
        <p14:creationId xmlns:p14="http://schemas.microsoft.com/office/powerpoint/2010/main" val="93073029"/>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CBEF74-0D63-4D82-8987-F2232D9E0CC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17C2BB-66CF-4D05-A45C-94C34116DDD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D35A8A2-0D83-455C-BB6E-7431D55AAE4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Functions and returned answers</a:t>
            </a:r>
          </a:p>
        </p:txBody>
      </p:sp>
      <p:sp>
        <p:nvSpPr>
          <p:cNvPr id="4" name="">
            <a:extLst xmlns:a="http://schemas.openxmlformats.org/drawingml/2006/main">
              <a:ext uri="{FF2B5EF4-FFF2-40B4-BE49-F238E27FC236}">
                <a16:creationId xmlns:a16="http://schemas.microsoft.com/office/drawing/2014/main" id="{7D82A2BA-2E81-4F30-A231-C78428BE0983}"/>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E4A4499-5EA8-424F-83F2-10543793195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function is a named calculation. def starts its definition. Indented lines belong to it.</a:t>
            </a:r>
          </a:p>
        </p:txBody>
      </p:sp>
      <p:sp>
        <p:nvSpPr>
          <p:cNvPr id="6" name="">
            <a:extLst xmlns:a="http://schemas.openxmlformats.org/drawingml/2006/main">
              <a:ext uri="{FF2B5EF4-FFF2-40B4-BE49-F238E27FC236}">
                <a16:creationId xmlns:a16="http://schemas.microsoft.com/office/drawing/2014/main" id="{019DB38E-A691-49C1-8972-971B6BA84AB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077C871-5539-4A45-924E-7B82B569366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 argument supplies the input. return sends the result back to the caller.</a:t>
            </a:r>
          </a:p>
        </p:txBody>
      </p:sp>
      <p:sp>
        <p:nvSpPr>
          <p:cNvPr id="8" name="">
            <a:extLst xmlns:a="http://schemas.openxmlformats.org/drawingml/2006/main">
              <a:ext uri="{FF2B5EF4-FFF2-40B4-BE49-F238E27FC236}">
                <a16:creationId xmlns:a16="http://schemas.microsoft.com/office/drawing/2014/main" id="{9BA9EE9E-F91C-412E-A7C9-34F4461A21A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D171071C-5806-4D9A-9D30-15DBD8803B9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the test, keep every supplied function name and calculate from its input.</a:t>
            </a:r>
          </a:p>
        </p:txBody>
      </p:sp>
      <p:sp>
        <p:nvSpPr>
          <p:cNvPr id="10" name="">
            <a:extLst xmlns:a="http://schemas.openxmlformats.org/drawingml/2006/main">
              <a:ext uri="{FF2B5EF4-FFF2-40B4-BE49-F238E27FC236}">
                <a16:creationId xmlns:a16="http://schemas.microsoft.com/office/drawing/2014/main" id="{9BF0FA01-2A1E-4103-A768-41EE05D193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55</a:t>
            </a:r>
          </a:p>
        </p:txBody>
      </p:sp>
    </p:spTree>
    <p:extLst>
      <p:ext uri="{BB962C8B-B14F-4D97-AF65-F5344CB8AC3E}">
        <p14:creationId xmlns:p14="http://schemas.microsoft.com/office/powerpoint/2010/main" val="171122330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26A4CA-0552-45AC-8258-A243390C0B9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DCCBC2-621A-4109-8C66-E6EA73FB515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129F0FC-19EC-4DD8-B651-53D42A1664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Defining and calling a function</a:t>
            </a:r>
          </a:p>
        </p:txBody>
      </p:sp>
      <p:sp>
        <p:nvSpPr>
          <p:cNvPr id="4" name="">
            <a:extLst xmlns:a="http://schemas.openxmlformats.org/drawingml/2006/main">
              <a:ext uri="{FF2B5EF4-FFF2-40B4-BE49-F238E27FC236}">
                <a16:creationId xmlns:a16="http://schemas.microsoft.com/office/drawing/2014/main" id="{572BFDA5-4B63-41A3-B4D5-301546DC6EF6}"/>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4B277B-EC0F-4D81-A9E5-BF0808734B20}"/>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def gives a reusable block a name and input parameters. The indented statements run when it is called. return sends a result back to the caller; print displays a result but does not return it.</a:t>
            </a:r>
          </a:p>
        </p:txBody>
      </p:sp>
      <p:sp>
        <p:nvSpPr>
          <p:cNvPr id="6" name="">
            <a:extLst xmlns:a="http://schemas.openxmlformats.org/drawingml/2006/main">
              <a:ext uri="{FF2B5EF4-FFF2-40B4-BE49-F238E27FC236}">
                <a16:creationId xmlns:a16="http://schemas.microsoft.com/office/drawing/2014/main" id="{75DB6682-02B6-431C-BCF1-11C0BF67019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56</a:t>
            </a:r>
          </a:p>
        </p:txBody>
      </p:sp>
    </p:spTree>
    <p:extLst>
      <p:ext uri="{BB962C8B-B14F-4D97-AF65-F5344CB8AC3E}">
        <p14:creationId xmlns:p14="http://schemas.microsoft.com/office/powerpoint/2010/main" val="163034905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E7F2E31-4A04-4158-AACB-AAC7CAFBCD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8B14C2-A4EB-4644-B3BF-87FFA4A3AE0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6829743-2E87-4F6B-957E-6FF4CA33BEF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practice function</a:t>
            </a:r>
          </a:p>
        </p:txBody>
      </p:sp>
      <p:sp>
        <p:nvSpPr>
          <p:cNvPr id="4" name="">
            <a:extLst xmlns:a="http://schemas.openxmlformats.org/drawingml/2006/main">
              <a:ext uri="{FF2B5EF4-FFF2-40B4-BE49-F238E27FC236}">
                <a16:creationId xmlns:a16="http://schemas.microsoft.com/office/drawing/2014/main" id="{EB73B959-3F27-4EB6-BC34-42B74D64AD3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E385C0-44E4-4EDA-90C8-30CB8E29B604}"/>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average_reading(values):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reading_values = pd.Series(values)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float(reading_values.mean())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print(average_reading(raw_data["load"]))</a:t>
            </a:r>
          </a:p>
        </p:txBody>
      </p:sp>
      <p:sp>
        <p:nvSpPr>
          <p:cNvPr id="6" name="">
            <a:extLst xmlns:a="http://schemas.openxmlformats.org/drawingml/2006/main">
              <a:ext uri="{FF2B5EF4-FFF2-40B4-BE49-F238E27FC236}">
                <a16:creationId xmlns:a16="http://schemas.microsoft.com/office/drawing/2014/main" id="{ED326386-B149-4835-A607-1EFAECD63D1B}"/>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C398C8D6-1718-4075-8AFA-C9CCAE8DB95E}"/>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14A6F083-7E09-4AC1-BB00-E79815D7A79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412FA60F-162A-4E25-A8A1-B19ABB6DA27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57</a:t>
            </a:r>
          </a:p>
        </p:txBody>
      </p:sp>
    </p:spTree>
    <p:extLst>
      <p:ext uri="{BB962C8B-B14F-4D97-AF65-F5344CB8AC3E}">
        <p14:creationId xmlns:p14="http://schemas.microsoft.com/office/powerpoint/2010/main" val="14779877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838BA7E-E0CF-4B36-A857-6D14B6DA70E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E017BE-73CE-4BDD-8B98-E4689B5C7A8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67D77CD-91ED-4B5A-9FC1-A8008BCD33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Recording interpretation answers</a:t>
            </a:r>
          </a:p>
        </p:txBody>
      </p:sp>
      <p:sp>
        <p:nvSpPr>
          <p:cNvPr id="4" name="">
            <a:extLst xmlns:a="http://schemas.openxmlformats.org/drawingml/2006/main">
              <a:ext uri="{FF2B5EF4-FFF2-40B4-BE49-F238E27FC236}">
                <a16:creationId xmlns:a16="http://schemas.microsoft.com/office/drawing/2014/main" id="{B50E1189-D034-4CC5-8548-10490AAFD7E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785A3A0E-1797-4BC8-86B7-D2F561429B37}"/>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each question and its labelled answer options. Choose the option supported by the data or code.</a:t>
            </a:r>
          </a:p>
        </p:txBody>
      </p:sp>
      <p:sp>
        <p:nvSpPr>
          <p:cNvPr id="6" name="">
            <a:extLst xmlns:a="http://schemas.openxmlformats.org/drawingml/2006/main">
              <a:ext uri="{FF2B5EF4-FFF2-40B4-BE49-F238E27FC236}">
                <a16:creationId xmlns:a16="http://schemas.microsoft.com/office/drawing/2014/main" id="{AEE9CA7C-B55C-445F-BF4D-CB7F5EE65A0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11012C0-6AEF-431D-9A85-C8E6B3709C28}"/>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DECISIONS, keep the question identifier unchanged and replace its blank value with your chosen option letter.</a:t>
            </a:r>
          </a:p>
        </p:txBody>
      </p:sp>
      <p:sp>
        <p:nvSpPr>
          <p:cNvPr id="8" name="">
            <a:extLst xmlns:a="http://schemas.openxmlformats.org/drawingml/2006/main">
              <a:ext uri="{FF2B5EF4-FFF2-40B4-BE49-F238E27FC236}">
                <a16:creationId xmlns:a16="http://schemas.microsoft.com/office/drawing/2014/main" id="{AF7C781C-CBCD-4AD7-BB12-B6A253B12E3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A1924102-81FF-43C8-A6F3-63C973D3BE5A}"/>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letters identify answer choices. The portal assigns your test files automatically.</a:t>
            </a:r>
          </a:p>
        </p:txBody>
      </p:sp>
      <p:sp>
        <p:nvSpPr>
          <p:cNvPr id="10" name="">
            <a:extLst xmlns:a="http://schemas.openxmlformats.org/drawingml/2006/main">
              <a:ext uri="{FF2B5EF4-FFF2-40B4-BE49-F238E27FC236}">
                <a16:creationId xmlns:a16="http://schemas.microsoft.com/office/drawing/2014/main" id="{C73813FD-2D9C-4F73-94FE-0A59953025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58</a:t>
            </a:r>
          </a:p>
        </p:txBody>
      </p:sp>
    </p:spTree>
    <p:extLst>
      <p:ext uri="{BB962C8B-B14F-4D97-AF65-F5344CB8AC3E}">
        <p14:creationId xmlns:p14="http://schemas.microsoft.com/office/powerpoint/2010/main" val="1029694216"/>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3A23DB3-34C1-47C6-A1E2-5B42F8CD9F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0E732B-3A52-47A1-BE38-50E76ED802D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A9D085C-3B5F-473D-85F4-AC7EF7DFA1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dictionary entry for a practice question</a:t>
            </a:r>
          </a:p>
        </p:txBody>
      </p:sp>
      <p:sp>
        <p:nvSpPr>
          <p:cNvPr id="4" name="">
            <a:extLst xmlns:a="http://schemas.openxmlformats.org/drawingml/2006/main">
              <a:ext uri="{FF2B5EF4-FFF2-40B4-BE49-F238E27FC236}">
                <a16:creationId xmlns:a16="http://schemas.microsoft.com/office/drawing/2014/main" id="{7E302154-4CD4-4734-9CFE-B4441A9AC17F}"/>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C33089-D19B-42DF-8790-9B5BDCF5780D}"/>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DECISIONS = {"practice": "B"}</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print(DECISIONS["practice"])</a:t>
            </a:r>
          </a:p>
        </p:txBody>
      </p:sp>
      <p:sp>
        <p:nvSpPr>
          <p:cNvPr id="6" name="">
            <a:extLst xmlns:a="http://schemas.openxmlformats.org/drawingml/2006/main">
              <a:ext uri="{FF2B5EF4-FFF2-40B4-BE49-F238E27FC236}">
                <a16:creationId xmlns:a16="http://schemas.microsoft.com/office/drawing/2014/main" id="{02374343-DB56-4D79-BFA9-8F031D87AA22}"/>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EA349B12-4619-421C-821A-ED69E4C7A1FC}"/>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Use the inputs and operations defined in the preceding slides.</a:t>
            </a:r>
          </a:p>
        </p:txBody>
      </p:sp>
      <p:sp>
        <p:nvSpPr>
          <p:cNvPr id="8" name="">
            <a:extLst xmlns:a="http://schemas.openxmlformats.org/drawingml/2006/main">
              <a:ext uri="{FF2B5EF4-FFF2-40B4-BE49-F238E27FC236}">
                <a16:creationId xmlns:a16="http://schemas.microsoft.com/office/drawing/2014/main" id="{901C01AF-B994-459D-8291-3DC5088A1C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Compare the printed result with the explanation in the notebook.</a:t>
            </a:r>
          </a:p>
        </p:txBody>
      </p:sp>
      <p:sp>
        <p:nvSpPr>
          <p:cNvPr id="9" name="">
            <a:extLst xmlns:a="http://schemas.openxmlformats.org/drawingml/2006/main">
              <a:ext uri="{FF2B5EF4-FFF2-40B4-BE49-F238E27FC236}">
                <a16:creationId xmlns:a16="http://schemas.microsoft.com/office/drawing/2014/main" id="{6AA0877D-AA1A-4960-BA4D-8F443273E10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59</a:t>
            </a:r>
          </a:p>
        </p:txBody>
      </p:sp>
    </p:spTree>
    <p:extLst>
      <p:ext uri="{BB962C8B-B14F-4D97-AF65-F5344CB8AC3E}">
        <p14:creationId xmlns:p14="http://schemas.microsoft.com/office/powerpoint/2010/main" val="53555429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9D9B7BA-BC41-495E-BBB3-6A850FA9D42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467B7E-EC48-41DA-9FFF-021AA872A5C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EC4DC67-A3D0-47DF-B5A2-0C62788B88A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Test-day instructions</a:t>
            </a:r>
          </a:p>
        </p:txBody>
      </p:sp>
      <p:sp>
        <p:nvSpPr>
          <p:cNvPr id="4" name="">
            <a:extLst xmlns:a="http://schemas.openxmlformats.org/drawingml/2006/main">
              <a:ext uri="{FF2B5EF4-FFF2-40B4-BE49-F238E27FC236}">
                <a16:creationId xmlns:a16="http://schemas.microsoft.com/office/drawing/2014/main" id="{8677F5E5-5D55-43E3-8518-223607A60E3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71C697-7C2D-468D-ABCC-CE62344AFB7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practice section ends here. Keep your revision notebook for study.</a:t>
            </a:r>
          </a:p>
        </p:txBody>
      </p:sp>
      <p:sp>
        <p:nvSpPr>
          <p:cNvPr id="6" name="">
            <a:extLst xmlns:a="http://schemas.openxmlformats.org/drawingml/2006/main">
              <a:ext uri="{FF2B5EF4-FFF2-40B4-BE49-F238E27FC236}">
                <a16:creationId xmlns:a16="http://schemas.microsoft.com/office/drawing/2014/main" id="{0F771E28-CE03-418D-9A49-911F9C4ECAB9}"/>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422B2FF-02A0-4B10-8691-7B019417AD89}"/>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following slides explain the timed test files, individual work and submission.</a:t>
            </a:r>
          </a:p>
        </p:txBody>
      </p:sp>
      <p:sp>
        <p:nvSpPr>
          <p:cNvPr id="8" name="">
            <a:extLst xmlns:a="http://schemas.openxmlformats.org/drawingml/2006/main">
              <a:ext uri="{FF2B5EF4-FFF2-40B4-BE49-F238E27FC236}">
                <a16:creationId xmlns:a16="http://schemas.microsoft.com/office/drawing/2014/main" id="{5C0F4FD4-4B68-46A3-8DCA-FD994696A28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2DDE59D-CEB6-4EAA-8D5C-6A50C28732B8}"/>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portal-issued notebook and CSV for the actual test_data.</a:t>
            </a:r>
          </a:p>
        </p:txBody>
      </p:sp>
      <p:sp>
        <p:nvSpPr>
          <p:cNvPr id="10" name="">
            <a:extLst xmlns:a="http://schemas.openxmlformats.org/drawingml/2006/main">
              <a:ext uri="{FF2B5EF4-FFF2-40B4-BE49-F238E27FC236}">
                <a16:creationId xmlns:a16="http://schemas.microsoft.com/office/drawing/2014/main" id="{A10224FC-6C55-44C8-97BC-F4F259FFA40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60</a:t>
            </a:r>
          </a:p>
        </p:txBody>
      </p:sp>
    </p:spTree>
    <p:extLst>
      <p:ext uri="{BB962C8B-B14F-4D97-AF65-F5344CB8AC3E}">
        <p14:creationId xmlns:p14="http://schemas.microsoft.com/office/powerpoint/2010/main" val="42687243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6524738-7D26-4CEF-8B95-5D953952ED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B67AAD-3498-486E-A3D5-FAE3A31A70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TEST ACCESS</a:t>
            </a:r>
          </a:p>
        </p:txBody>
      </p:sp>
      <p:sp>
        <p:nvSpPr>
          <p:cNvPr id="3" name="">
            <a:extLst xmlns:a="http://schemas.openxmlformats.org/drawingml/2006/main">
              <a:ext uri="{FF2B5EF4-FFF2-40B4-BE49-F238E27FC236}">
                <a16:creationId xmlns:a16="http://schemas.microsoft.com/office/drawing/2014/main" id="{045AE2C7-FA5F-4AFB-9AEC-6D5A9F8246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test files on test day</a:t>
            </a:r>
          </a:p>
        </p:txBody>
      </p:sp>
      <p:sp>
        <p:nvSpPr>
          <p:cNvPr id="4" name="">
            <a:extLst xmlns:a="http://schemas.openxmlformats.org/drawingml/2006/main">
              <a:ext uri="{FF2B5EF4-FFF2-40B4-BE49-F238E27FC236}">
                <a16:creationId xmlns:a16="http://schemas.microsoft.com/office/drawing/2014/main" id="{F9138128-63B7-48EC-829B-F12675E7840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F885A84-69E1-4FE2-BB30-2B177AB7E85B}"/>
              </a:ext>
            </a:extLst>
          </p:cNvPr>
          <p:cNvSpPr>
            <a:spLocks xmlns:a="http://schemas.openxmlformats.org/drawingml/2006/main" noGrp="1"/>
          </p:cNvSpPr>
          <p:nvPr/>
        </p:nvSpPr>
        <p:spPr>
          <a:xfrm xmlns:a="http://schemas.openxmlformats.org/drawingml/2006/main">
            <a:off x="1381125" y="172402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Downloads unlock at the scheduled start time. Open the link or scan its QR code.</a:t>
            </a:r>
          </a:p>
        </p:txBody>
      </p:sp>
      <p:sp>
        <p:nvSpPr>
          <p:cNvPr id="6" name="">
            <a:extLst xmlns:a="http://schemas.openxmlformats.org/drawingml/2006/main">
              <a:ext uri="{FF2B5EF4-FFF2-40B4-BE49-F238E27FC236}">
                <a16:creationId xmlns:a16="http://schemas.microsoft.com/office/drawing/2014/main" id="{D3D2BDB8-07FC-4DA9-9E50-7A6F5B0898F1}"/>
              </a:ext>
            </a:extLst>
          </p:cNvPr>
          <p:cNvSpPr>
            <a:spLocks xmlns:a="http://schemas.openxmlformats.org/drawingml/2006/main" noGrp="1"/>
          </p:cNvSpPr>
          <p:nvPr/>
        </p:nvSpPr>
        <p:spPr>
          <a:xfrm xmlns:a="http://schemas.openxmlformats.org/drawingml/2006/main">
            <a:off x="590550" y="27876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17B1B3A-827F-47C3-A9EB-D915DDA7B1EF}"/>
              </a:ext>
            </a:extLst>
          </p:cNvPr>
          <p:cNvSpPr>
            <a:spLocks xmlns:a="http://schemas.openxmlformats.org/drawingml/2006/main" noGrp="1"/>
          </p:cNvSpPr>
          <p:nvPr/>
        </p:nvSpPr>
        <p:spPr>
          <a:xfrm xmlns:a="http://schemas.openxmlformats.org/drawingml/2006/main">
            <a:off x="1381125" y="2787650"/>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Enter your name, Google email and Student Registration Number.</a:t>
            </a:r>
          </a:p>
        </p:txBody>
      </p:sp>
      <p:sp>
        <p:nvSpPr>
          <p:cNvPr id="8" name="">
            <a:extLst xmlns:a="http://schemas.openxmlformats.org/drawingml/2006/main">
              <a:ext uri="{FF2B5EF4-FFF2-40B4-BE49-F238E27FC236}">
                <a16:creationId xmlns:a16="http://schemas.microsoft.com/office/drawing/2014/main" id="{D4BE2E29-DE15-4D12-9469-049CF9CE9415}"/>
              </a:ext>
            </a:extLst>
          </p:cNvPr>
          <p:cNvSpPr>
            <a:spLocks xmlns:a="http://schemas.openxmlformats.org/drawingml/2006/main" noGrp="1"/>
          </p:cNvSpPr>
          <p:nvPr/>
        </p:nvSpPr>
        <p:spPr>
          <a:xfrm xmlns:a="http://schemas.openxmlformats.org/drawingml/2006/main">
            <a:off x="590550" y="38512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93E9C5A-33A6-4CAF-BDFA-6FFE5C26BA2C}"/>
              </a:ext>
            </a:extLst>
          </p:cNvPr>
          <p:cNvSpPr>
            <a:spLocks xmlns:a="http://schemas.openxmlformats.org/drawingml/2006/main" noGrp="1"/>
          </p:cNvSpPr>
          <p:nvPr/>
        </p:nvSpPr>
        <p:spPr>
          <a:xfrm xmlns:a="http://schemas.openxmlformats.org/drawingml/2006/main">
            <a:off x="1381125" y="3851275"/>
            <a:ext cx="7143750" cy="98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Download your notebook and engineering_data.csv.</a:t>
            </a:r>
          </a:p>
        </p:txBody>
      </p:sp>
      <p:pic>
        <p:nvPicPr>
          <p:cNvPr id="10" name="">
            <a:extLst xmlns:a="http://schemas.openxmlformats.org/drawingml/2006/main">
              <a:ext uri="{FF2B5EF4-FFF2-40B4-BE49-F238E27FC236}">
                <a16:creationId xmlns:a16="http://schemas.microsoft.com/office/drawing/2014/main" id="{B47CA1D2-EF66-4B9E-AAFF-880C5B6895E0}"/>
              </a:ext>
            </a:extLst>
          </p:cNvPr>
          <p:cNvPicPr>
            <a:picLocks xmlns:a="http://schemas.openxmlformats.org/drawingml/2006/main" noChangeAspect="1"/>
          </p:cNvPicPr>
          <p:nvPr/>
        </p:nvPicPr>
        <p:blipFill>
          <a:blip xmlns:r="http://schemas.openxmlformats.org/officeDocument/2006/relationships" xmlns:a="http://schemas.openxmlformats.org/drawingml/2006/main" r:embed="R97da985286744e43"/>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A1629BBC-E1D5-4992-950B-B8CFFDC0E8E6}"/>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TEST FILES</a:t>
            </a:r>
          </a:p>
        </p:txBody>
      </p:sp>
      <p:sp>
        <p:nvSpPr>
          <p:cNvPr id="12" name="">
            <a:extLst xmlns:a="http://schemas.openxmlformats.org/drawingml/2006/main">
              <a:ext uri="{FF2B5EF4-FFF2-40B4-BE49-F238E27FC236}">
                <a16:creationId xmlns:a16="http://schemas.microsoft.com/office/drawing/2014/main" id="{4A175AA8-F1DF-4158-A6D6-A3BD234BA9FB}"/>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D074C48-A5C5-4B61-8E5D-F63BE3854481}"/>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8b504a3b85a04693"/>
              </a:rPr>
              <a:t>Open your test files</a:t>
            </a:r>
          </a:p>
        </p:txBody>
      </p:sp>
      <p:sp>
        <p:nvSpPr>
          <p:cNvPr id="14" name="">
            <a:extLst xmlns:a="http://schemas.openxmlformats.org/drawingml/2006/main">
              <a:ext uri="{FF2B5EF4-FFF2-40B4-BE49-F238E27FC236}">
                <a16:creationId xmlns:a16="http://schemas.microsoft.com/office/drawing/2014/main" id="{83A69C67-395B-411C-BC74-C86F9662860D}"/>
              </a:ext>
            </a:extLst>
          </p:cNvPr>
          <p:cNvSpPr>
            <a:spLocks xmlns:a="http://schemas.openxmlformats.org/drawingml/2006/main" noGrp="1"/>
          </p:cNvSpPr>
          <p:nvPr/>
        </p:nvSpPr>
        <p:spPr>
          <a:xfrm xmlns:a="http://schemas.openxmlformats.org/drawingml/2006/main">
            <a:off x="685800" y="58769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Direct URL (click or copy into your laptop browser):</a:t>
            </a:r>
          </a:p>
        </p:txBody>
      </p:sp>
      <p:sp>
        <p:nvSpPr>
          <p:cNvPr id="15" name="">
            <a:extLst xmlns:a="http://schemas.openxmlformats.org/drawingml/2006/main">
              <a:ext uri="{FF2B5EF4-FFF2-40B4-BE49-F238E27FC236}">
                <a16:creationId xmlns:a16="http://schemas.microsoft.com/office/drawing/2014/main" id="{9E17DFFF-8AA7-4A72-8952-B7D7CC60B310}"/>
              </a:ext>
            </a:extLst>
          </p:cNvPr>
          <p:cNvSpPr>
            <a:spLocks xmlns:a="http://schemas.openxmlformats.org/drawingml/2006/main" noGrp="1"/>
          </p:cNvSpPr>
          <p:nvPr/>
        </p:nvSpPr>
        <p:spPr>
          <a:xfrm xmlns:a="http://schemas.openxmlformats.org/drawingml/2006/main">
            <a:off x="685800" y="6153150"/>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050" b="0">
                <a:solidFill>
                  <a:srgbClr val="2E7D6F"/>
                </a:solidFill>
                <a:latin typeface="Calibri"/>
                <a:ea typeface="Calibri"/>
                <a:cs typeface="Calibri"/>
              </a:defRPr>
            </a:defPPr>
            <a:lvl1pPr>
              <a:defRPr sz="1050" b="0">
                <a:solidFill>
                  <a:srgbClr val="2E7D6F"/>
                </a:solidFill>
                <a:latin typeface="Calibri"/>
                <a:ea typeface="Calibri"/>
                <a:cs typeface="Calibri"/>
              </a:defRPr>
            </a:lvl1pPr>
            <a:lvl2pPr>
              <a:defRPr sz="1050" b="0">
                <a:solidFill>
                  <a:srgbClr val="2E7D6F"/>
                </a:solidFill>
                <a:latin typeface="Calibri"/>
                <a:ea typeface="Calibri"/>
                <a:cs typeface="Calibri"/>
              </a:defRPr>
            </a:lvl2pPr>
            <a:lvl3pPr>
              <a:defRPr sz="1050" b="0">
                <a:solidFill>
                  <a:srgbClr val="2E7D6F"/>
                </a:solidFill>
                <a:latin typeface="Calibri"/>
                <a:ea typeface="Calibri"/>
                <a:cs typeface="Calibri"/>
              </a:defRPr>
            </a:lvl3pPr>
            <a:lvl4pPr>
              <a:defRPr sz="1050" b="0">
                <a:solidFill>
                  <a:srgbClr val="2E7D6F"/>
                </a:solidFill>
                <a:latin typeface="Calibri"/>
                <a:ea typeface="Calibri"/>
                <a:cs typeface="Calibri"/>
              </a:defRPr>
            </a:lvl4pPr>
            <a:lvl5pPr>
              <a:defRPr sz="1050" b="0">
                <a:solidFill>
                  <a:srgbClr val="2E7D6F"/>
                </a:solidFill>
                <a:latin typeface="Calibri"/>
                <a:ea typeface="Calibri"/>
                <a:cs typeface="Calibri"/>
              </a:defRPr>
            </a:lvl5pPr>
            <a:lvl6pPr>
              <a:defRPr sz="1050" b="0">
                <a:solidFill>
                  <a:srgbClr val="2E7D6F"/>
                </a:solidFill>
                <a:latin typeface="Calibri"/>
                <a:ea typeface="Calibri"/>
                <a:cs typeface="Calibri"/>
              </a:defRPr>
            </a:lvl6pPr>
            <a:lvl7pPr>
              <a:defRPr sz="1050" b="0">
                <a:solidFill>
                  <a:srgbClr val="2E7D6F"/>
                </a:solidFill>
                <a:latin typeface="Calibri"/>
                <a:ea typeface="Calibri"/>
                <a:cs typeface="Calibri"/>
              </a:defRPr>
            </a:lvl7pPr>
            <a:lvl8pPr>
              <a:defRPr sz="1050" b="0">
                <a:solidFill>
                  <a:srgbClr val="2E7D6F"/>
                </a:solidFill>
                <a:latin typeface="Calibri"/>
                <a:ea typeface="Calibri"/>
                <a:cs typeface="Calibri"/>
              </a:defRPr>
            </a:lvl8pPr>
            <a:lvl9pPr>
              <a:defRPr sz="1050" b="0">
                <a:solidFill>
                  <a:srgbClr val="2E7D6F"/>
                </a:solidFill>
                <a:latin typeface="Calibri"/>
                <a:ea typeface="Calibri"/>
                <a:cs typeface="Calibri"/>
              </a:defRPr>
            </a:lvl9pPr>
          </a:lstStyle>
          <a:p xmlns:a="http://schemas.openxmlformats.org/drawingml/2006/main">
            <a:pPr>
              <a:defRPr sz="1050" b="0">
                <a:solidFill>
                  <a:srgbClr val="2E7D6F"/>
                </a:solidFill>
                <a:latin typeface="Calibri"/>
                <a:ea typeface="Calibri"/>
                <a:cs typeface="Calibri"/>
              </a:defRPr>
            </a:pPr>
            <a:r>
              <a:rPr sz="1050" b="0">
                <a:solidFill>
                  <a:srgbClr val="2E7D6F"/>
                </a:solidFill>
                <a:latin typeface="Calibri"/>
                <a:ea typeface="Calibri"/>
                <a:cs typeface="Calibri"/>
                <a:hlinkClick xmlns:r="http://schemas.openxmlformats.org/officeDocument/2006/relationships" r:id="R60ec88622ab94a8d"/>
              </a:rPr>
              <a:t>https://iuea-test-entry.jothammartin-wambi.workers.dev/?test=CML3112%7CTEST2</a:t>
            </a:r>
          </a:p>
        </p:txBody>
      </p:sp>
      <p:sp>
        <p:nvSpPr>
          <p:cNvPr id="16" name="">
            <a:extLst xmlns:a="http://schemas.openxmlformats.org/drawingml/2006/main">
              <a:ext uri="{FF2B5EF4-FFF2-40B4-BE49-F238E27FC236}">
                <a16:creationId xmlns:a16="http://schemas.microsoft.com/office/drawing/2014/main" id="{4C13C6E2-64CC-4B12-BF7A-CF19E736B72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61</a:t>
            </a:r>
          </a:p>
        </p:txBody>
      </p:sp>
    </p:spTree>
    <p:extLst>
      <p:ext uri="{BB962C8B-B14F-4D97-AF65-F5344CB8AC3E}">
        <p14:creationId xmlns:p14="http://schemas.microsoft.com/office/powerpoint/2010/main" val="75788450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3153159-E7A7-4ABE-8E2C-B49AC669A52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860676-ACC9-4956-B10B-779FA4732A1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FABA82FE-9F6D-4868-869F-3EB90096258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Opening the notebook and CSV</a:t>
            </a:r>
          </a:p>
        </p:txBody>
      </p:sp>
      <p:sp>
        <p:nvSpPr>
          <p:cNvPr id="4" name="">
            <a:extLst xmlns:a="http://schemas.openxmlformats.org/drawingml/2006/main">
              <a:ext uri="{FF2B5EF4-FFF2-40B4-BE49-F238E27FC236}">
                <a16:creationId xmlns:a16="http://schemas.microsoft.com/office/drawing/2014/main" id="{197FC1C5-A47C-40B1-96AA-EBF73565BCE1}"/>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9847F6C-1D9D-4431-9828-02A2C2A315C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Colab: File → Open notebook → Upload. Select the downloaded notebook.</a:t>
            </a:r>
          </a:p>
        </p:txBody>
      </p:sp>
      <p:sp>
        <p:nvSpPr>
          <p:cNvPr id="6" name="">
            <a:extLst xmlns:a="http://schemas.openxmlformats.org/drawingml/2006/main">
              <a:ext uri="{FF2B5EF4-FFF2-40B4-BE49-F238E27FC236}">
                <a16:creationId xmlns:a16="http://schemas.microsoft.com/office/drawing/2014/main" id="{1AEB47AD-DE01-44B8-B326-9DA21CBF26B1}"/>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A644A1D-4D06-421A-B242-485E6BBED3B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a copy in Drive. Connect the session.</a:t>
            </a:r>
          </a:p>
        </p:txBody>
      </p:sp>
      <p:sp>
        <p:nvSpPr>
          <p:cNvPr id="8" name="">
            <a:extLst xmlns:a="http://schemas.openxmlformats.org/drawingml/2006/main">
              <a:ext uri="{FF2B5EF4-FFF2-40B4-BE49-F238E27FC236}">
                <a16:creationId xmlns:a16="http://schemas.microsoft.com/office/drawing/2014/main" id="{8B582695-065B-456F-A33E-83510818E5B7}"/>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C5743245-88D7-46EE-8868-508A960B0DD6}"/>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Files on the left, upload engineering_data.csv.</a:t>
            </a:r>
          </a:p>
        </p:txBody>
      </p:sp>
      <p:sp>
        <p:nvSpPr>
          <p:cNvPr id="10" name="">
            <a:extLst xmlns:a="http://schemas.openxmlformats.org/drawingml/2006/main">
              <a:ext uri="{FF2B5EF4-FFF2-40B4-BE49-F238E27FC236}">
                <a16:creationId xmlns:a16="http://schemas.microsoft.com/office/drawing/2014/main" id="{404896FC-07FC-4DD8-9483-EA231680C4D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62</a:t>
            </a:r>
          </a:p>
        </p:txBody>
      </p:sp>
    </p:spTree>
    <p:extLst>
      <p:ext uri="{BB962C8B-B14F-4D97-AF65-F5344CB8AC3E}">
        <p14:creationId xmlns:p14="http://schemas.microsoft.com/office/powerpoint/2010/main" val="1572276435"/>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EB65A4-9ABE-4D9C-B1F4-38C606DB075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E8AF14-0703-4D97-BA6C-19D98267A4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D5A98167-0504-43F9-AC3D-740E2F32B70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One notebook contains all answers</a:t>
            </a:r>
          </a:p>
        </p:txBody>
      </p:sp>
      <p:sp>
        <p:nvSpPr>
          <p:cNvPr id="4" name="">
            <a:extLst xmlns:a="http://schemas.openxmlformats.org/drawingml/2006/main">
              <a:ext uri="{FF2B5EF4-FFF2-40B4-BE49-F238E27FC236}">
                <a16:creationId xmlns:a16="http://schemas.microsoft.com/office/drawing/2014/main" id="{15A945ED-EFC6-4768-A6D1-D1C39991E05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4523C2C-A089-4455-ACAF-6F4200690D12}"/>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Code tasks have a prompt, function name and marks.</a:t>
            </a:r>
          </a:p>
        </p:txBody>
      </p:sp>
      <p:sp>
        <p:nvSpPr>
          <p:cNvPr id="6" name="">
            <a:extLst xmlns:a="http://schemas.openxmlformats.org/drawingml/2006/main">
              <a:ext uri="{FF2B5EF4-FFF2-40B4-BE49-F238E27FC236}">
                <a16:creationId xmlns:a16="http://schemas.microsoft.com/office/drawing/2014/main" id="{49272A2B-2A2B-48D5-A166-0DFAA8D4D42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5B1D3C8-5DF8-4E1E-AF9B-A87991FDD720}"/>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Six interpretation questions: record your chosen option letters in DECISIONS.</a:t>
            </a:r>
          </a:p>
        </p:txBody>
      </p:sp>
      <p:sp>
        <p:nvSpPr>
          <p:cNvPr id="8" name="">
            <a:extLst xmlns:a="http://schemas.openxmlformats.org/drawingml/2006/main">
              <a:ext uri="{FF2B5EF4-FFF2-40B4-BE49-F238E27FC236}">
                <a16:creationId xmlns:a16="http://schemas.microsoft.com/office/drawing/2014/main" id="{83F65521-8806-47B0-A92A-C1D44F6C599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67B29076-29B5-40A7-928C-42B6BBA3933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notebook snapshot using the final button.</a:t>
            </a:r>
          </a:p>
        </p:txBody>
      </p:sp>
      <p:sp>
        <p:nvSpPr>
          <p:cNvPr id="10" name="">
            <a:extLst xmlns:a="http://schemas.openxmlformats.org/drawingml/2006/main">
              <a:ext uri="{FF2B5EF4-FFF2-40B4-BE49-F238E27FC236}">
                <a16:creationId xmlns:a16="http://schemas.microsoft.com/office/drawing/2014/main" id="{78B6D8B2-61E3-469C-B2F1-544AA561CE2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63</a:t>
            </a:r>
          </a:p>
        </p:txBody>
      </p:sp>
    </p:spTree>
    <p:extLst>
      <p:ext uri="{BB962C8B-B14F-4D97-AF65-F5344CB8AC3E}">
        <p14:creationId xmlns:p14="http://schemas.microsoft.com/office/powerpoint/2010/main" val="2035980562"/>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40691F-6C87-456F-8FF5-5128CFA95E7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AABAE8-E8C6-478C-B64C-E72DDB2796D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8F85BC4-36CB-410E-863D-A181BA7E6B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the 100 marks are allocated</a:t>
            </a:r>
          </a:p>
        </p:txBody>
      </p:sp>
      <p:sp>
        <p:nvSpPr>
          <p:cNvPr id="4" name="">
            <a:extLst xmlns:a="http://schemas.openxmlformats.org/drawingml/2006/main">
              <a:ext uri="{FF2B5EF4-FFF2-40B4-BE49-F238E27FC236}">
                <a16:creationId xmlns:a16="http://schemas.microsoft.com/office/drawing/2014/main" id="{9136015D-E19E-4083-B177-20452F0BAF9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95136E0-7A2F-417C-9767-B282C2211C5B}"/>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Equipment-group split 20.</a:t>
            </a:r>
          </a:p>
        </p:txBody>
      </p:sp>
      <p:sp>
        <p:nvSpPr>
          <p:cNvPr id="6" name="">
            <a:extLst xmlns:a="http://schemas.openxmlformats.org/drawingml/2006/main">
              <a:ext uri="{FF2B5EF4-FFF2-40B4-BE49-F238E27FC236}">
                <a16:creationId xmlns:a16="http://schemas.microsoft.com/office/drawing/2014/main" id="{8FCD9806-2311-4B4C-A2B8-E3EB2B152EE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E94F795-EFED-46FF-BB2D-127A86FDFF07}"/>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Baseline, linear and tree predictions 30.</a:t>
            </a:r>
          </a:p>
        </p:txBody>
      </p:sp>
      <p:sp>
        <p:nvSpPr>
          <p:cNvPr id="8" name="">
            <a:extLst xmlns:a="http://schemas.openxmlformats.org/drawingml/2006/main">
              <a:ext uri="{FF2B5EF4-FFF2-40B4-BE49-F238E27FC236}">
                <a16:creationId xmlns:a16="http://schemas.microsoft.com/office/drawing/2014/main" id="{6887ABEF-0748-4D05-8225-DE4D27E83593}"/>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98357B5-5C67-4629-A482-1E8B4A9C392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MAE and RMSE 20. Structured interpretation 30.</a:t>
            </a:r>
          </a:p>
        </p:txBody>
      </p:sp>
      <p:sp>
        <p:nvSpPr>
          <p:cNvPr id="10" name="">
            <a:extLst xmlns:a="http://schemas.openxmlformats.org/drawingml/2006/main">
              <a:ext uri="{FF2B5EF4-FFF2-40B4-BE49-F238E27FC236}">
                <a16:creationId xmlns:a16="http://schemas.microsoft.com/office/drawing/2014/main" id="{5C8C4E7E-689B-4F99-9AE8-F36A47A88A7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64</a:t>
            </a:r>
          </a:p>
        </p:txBody>
      </p:sp>
    </p:spTree>
    <p:extLst>
      <p:ext uri="{BB962C8B-B14F-4D97-AF65-F5344CB8AC3E}">
        <p14:creationId xmlns:p14="http://schemas.microsoft.com/office/powerpoint/2010/main" val="1948790688"/>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D1C4FC-9C88-4D57-AC70-9FBFC6780F9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4EB4C1-CC47-4E82-9D20-DF39DFA6012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FDE821C-7BEC-44FE-9E42-03D3D96F46E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Order of work</a:t>
            </a:r>
          </a:p>
        </p:txBody>
      </p:sp>
      <p:sp>
        <p:nvSpPr>
          <p:cNvPr id="4" name="">
            <a:extLst xmlns:a="http://schemas.openxmlformats.org/drawingml/2006/main">
              <a:ext uri="{FF2B5EF4-FFF2-40B4-BE49-F238E27FC236}">
                <a16:creationId xmlns:a16="http://schemas.microsoft.com/office/drawing/2014/main" id="{33DB2131-8B9F-4E73-B2AC-F08F183D20A5}"/>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93269001-B0C2-4CF5-A4BE-28BCDA5CAD4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supplied row filters, then split by equipment ID.</a:t>
            </a:r>
          </a:p>
        </p:txBody>
      </p:sp>
      <p:sp>
        <p:nvSpPr>
          <p:cNvPr id="6" name="">
            <a:extLst xmlns:a="http://schemas.openxmlformats.org/drawingml/2006/main">
              <a:ext uri="{FF2B5EF4-FFF2-40B4-BE49-F238E27FC236}">
                <a16:creationId xmlns:a16="http://schemas.microsoft.com/office/drawing/2014/main" id="{8BB6AA95-1F4F-4415-902D-268AA1087A87}"/>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561E65B-3F1B-4D73-818F-FCB5CA062242}"/>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Fit the imputer and models on training records only.</a:t>
            </a:r>
          </a:p>
        </p:txBody>
      </p:sp>
      <p:sp>
        <p:nvSpPr>
          <p:cNvPr id="8" name="">
            <a:extLst xmlns:a="http://schemas.openxmlformats.org/drawingml/2006/main">
              <a:ext uri="{FF2B5EF4-FFF2-40B4-BE49-F238E27FC236}">
                <a16:creationId xmlns:a16="http://schemas.microsoft.com/office/drawing/2014/main" id="{AF840AA7-EB83-46E2-BFA3-1E2FD481444F}"/>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17DBDE4-8431-4343-B27F-2AF57C00E4C9}"/>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validation baseline_errors. Keep the specified final-test group untouched.</a:t>
            </a:r>
          </a:p>
        </p:txBody>
      </p:sp>
      <p:sp>
        <p:nvSpPr>
          <p:cNvPr id="10" name="">
            <a:extLst xmlns:a="http://schemas.openxmlformats.org/drawingml/2006/main">
              <a:ext uri="{FF2B5EF4-FFF2-40B4-BE49-F238E27FC236}">
                <a16:creationId xmlns:a16="http://schemas.microsoft.com/office/drawing/2014/main" id="{CA35EFF5-12AB-437D-AF00-862DDCED702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65</a:t>
            </a:r>
          </a:p>
        </p:txBody>
      </p:sp>
    </p:spTree>
    <p:extLst>
      <p:ext uri="{BB962C8B-B14F-4D97-AF65-F5344CB8AC3E}">
        <p14:creationId xmlns:p14="http://schemas.microsoft.com/office/powerpoint/2010/main" val="1430573999"/>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4D3E0A-BFDA-4015-97EC-DBEB4122CB0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93DACE-F405-4731-BDB2-43D09AF2355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482EC775-8B20-4CB3-96C6-F3C33450FB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three-hour session</a:t>
            </a:r>
          </a:p>
        </p:txBody>
      </p:sp>
      <p:sp>
        <p:nvSpPr>
          <p:cNvPr id="4" name="">
            <a:extLst xmlns:a="http://schemas.openxmlformats.org/drawingml/2006/main">
              <a:ext uri="{FF2B5EF4-FFF2-40B4-BE49-F238E27FC236}">
                <a16:creationId xmlns:a16="http://schemas.microsoft.com/office/drawing/2014/main" id="{9D41A8FF-EC13-4534-ADAF-12E08055D20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59004F9-64E5-415C-8088-2862AAA3B79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First 15 minutes: setup and file checks.</a:t>
            </a:r>
          </a:p>
        </p:txBody>
      </p:sp>
      <p:sp>
        <p:nvSpPr>
          <p:cNvPr id="6" name="">
            <a:extLst xmlns:a="http://schemas.openxmlformats.org/drawingml/2006/main">
              <a:ext uri="{FF2B5EF4-FFF2-40B4-BE49-F238E27FC236}">
                <a16:creationId xmlns:a16="http://schemas.microsoft.com/office/drawing/2014/main" id="{B4AFEE8C-05C1-4265-9442-486FE10B3275}"/>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69CE3F-0732-4D26-99B5-4C575A2F9576}"/>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120 minutes: individual coding tasks.</a:t>
            </a:r>
          </a:p>
        </p:txBody>
      </p:sp>
      <p:sp>
        <p:nvSpPr>
          <p:cNvPr id="8" name="">
            <a:extLst xmlns:a="http://schemas.openxmlformats.org/drawingml/2006/main">
              <a:ext uri="{FF2B5EF4-FFF2-40B4-BE49-F238E27FC236}">
                <a16:creationId xmlns:a16="http://schemas.microsoft.com/office/drawing/2014/main" id="{52A42BD3-AD37-47E9-9D38-69D1765ED98F}"/>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E13CBC6-A8D8-473C-BC11-D78B0CDE4D89}"/>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25 minutes: interpretation and checking.</a:t>
            </a:r>
          </a:p>
        </p:txBody>
      </p:sp>
      <p:sp>
        <p:nvSpPr>
          <p:cNvPr id="10" name="">
            <a:extLst xmlns:a="http://schemas.openxmlformats.org/drawingml/2006/main">
              <a:ext uri="{FF2B5EF4-FFF2-40B4-BE49-F238E27FC236}">
                <a16:creationId xmlns:a16="http://schemas.microsoft.com/office/drawing/2014/main" id="{060F7616-97F4-4F70-88F5-E46730542AB5}"/>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AAD9D2E-F2B7-43BD-B068-C0ACAFFDA14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Final 20 minutes: prepare the snapshot and submit the form.</a:t>
            </a:r>
          </a:p>
        </p:txBody>
      </p:sp>
      <p:sp>
        <p:nvSpPr>
          <p:cNvPr id="12" name="">
            <a:extLst xmlns:a="http://schemas.openxmlformats.org/drawingml/2006/main">
              <a:ext uri="{FF2B5EF4-FFF2-40B4-BE49-F238E27FC236}">
                <a16:creationId xmlns:a16="http://schemas.microsoft.com/office/drawing/2014/main" id="{070BA015-7E85-4CC3-A71A-FAA807A15A4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66</a:t>
            </a:r>
          </a:p>
        </p:txBody>
      </p:sp>
    </p:spTree>
    <p:extLst>
      <p:ext uri="{BB962C8B-B14F-4D97-AF65-F5344CB8AC3E}">
        <p14:creationId xmlns:p14="http://schemas.microsoft.com/office/powerpoint/2010/main" val="1286223322"/>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B6B82C3-D1D1-4DD7-A402-5D01D0CC4E5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34E996-B8D2-4247-A70F-C061975AC09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178C667C-225E-48E6-BC63-8474DF80AE6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Before submitting</a:t>
            </a:r>
          </a:p>
        </p:txBody>
      </p:sp>
      <p:sp>
        <p:nvSpPr>
          <p:cNvPr id="4" name="">
            <a:extLst xmlns:a="http://schemas.openxmlformats.org/drawingml/2006/main">
              <a:ext uri="{FF2B5EF4-FFF2-40B4-BE49-F238E27FC236}">
                <a16:creationId xmlns:a16="http://schemas.microsoft.com/office/drawing/2014/main" id="{39C914D0-B2A2-4662-B857-CAA39B15A15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8EBBDC0-DD44-4FCC-ADD7-249A6790BFE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the Colab session and run cells from the top.</a:t>
            </a:r>
          </a:p>
        </p:txBody>
      </p:sp>
      <p:sp>
        <p:nvSpPr>
          <p:cNvPr id="6" name="">
            <a:extLst xmlns:a="http://schemas.openxmlformats.org/drawingml/2006/main">
              <a:ext uri="{FF2B5EF4-FFF2-40B4-BE49-F238E27FC236}">
                <a16:creationId xmlns:a16="http://schemas.microsoft.com/office/drawing/2014/main" id="{1EF84F73-679F-4F32-AA96-0495CC24E32A}"/>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281AA7A-21B3-46B9-81BE-2104A96A89B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Upload the same CSV again if the new session needs it.</a:t>
            </a:r>
          </a:p>
        </p:txBody>
      </p:sp>
      <p:sp>
        <p:nvSpPr>
          <p:cNvPr id="8" name="">
            <a:extLst xmlns:a="http://schemas.openxmlformats.org/drawingml/2006/main">
              <a:ext uri="{FF2B5EF4-FFF2-40B4-BE49-F238E27FC236}">
                <a16:creationId xmlns:a16="http://schemas.microsoft.com/office/drawing/2014/main" id="{14A160B9-6192-4AAA-83D0-CE977DB9B25E}"/>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713AF3FC-1888-49D4-AEA1-7BD974AE556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Fix errors and run the final submission cell.</a:t>
            </a:r>
          </a:p>
        </p:txBody>
      </p:sp>
      <p:sp>
        <p:nvSpPr>
          <p:cNvPr id="10" name="">
            <a:extLst xmlns:a="http://schemas.openxmlformats.org/drawingml/2006/main">
              <a:ext uri="{FF2B5EF4-FFF2-40B4-BE49-F238E27FC236}">
                <a16:creationId xmlns:a16="http://schemas.microsoft.com/office/drawing/2014/main" id="{BD95CB4D-B75B-43C9-AE1A-4804C09F8A6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67</a:t>
            </a:r>
          </a:p>
        </p:txBody>
      </p:sp>
    </p:spTree>
    <p:extLst>
      <p:ext uri="{BB962C8B-B14F-4D97-AF65-F5344CB8AC3E}">
        <p14:creationId xmlns:p14="http://schemas.microsoft.com/office/powerpoint/2010/main" val="333657363"/>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15BBCC-12CC-419E-832E-C5EBE1333D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654AF7-0240-45AA-BD88-E967A8D4FF9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144DD8A-AE30-4E57-8114-7B7966B9636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Submission and confirmation</a:t>
            </a:r>
          </a:p>
        </p:txBody>
      </p:sp>
      <p:sp>
        <p:nvSpPr>
          <p:cNvPr id="4" name="">
            <a:extLst xmlns:a="http://schemas.openxmlformats.org/drawingml/2006/main">
              <a:ext uri="{FF2B5EF4-FFF2-40B4-BE49-F238E27FC236}">
                <a16:creationId xmlns:a16="http://schemas.microsoft.com/office/drawing/2014/main" id="{92CD96E6-43F3-474C-9A07-195797F24F3F}"/>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399796B-D1CA-46EB-BB94-FABAF19A84B3}"/>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Click Submit test at the end of your notebook.</a:t>
            </a:r>
          </a:p>
        </p:txBody>
      </p:sp>
      <p:sp>
        <p:nvSpPr>
          <p:cNvPr id="6" name="">
            <a:extLst xmlns:a="http://schemas.openxmlformats.org/drawingml/2006/main">
              <a:ext uri="{FF2B5EF4-FFF2-40B4-BE49-F238E27FC236}">
                <a16:creationId xmlns:a16="http://schemas.microsoft.com/office/drawing/2014/main" id="{18C44824-C4B8-4B7A-9205-0D5E7AF02A16}"/>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907DE3DE-2879-44AE-B5A8-E26F1326A406}"/>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the generated form link using the same Google account. Check your details.</a:t>
            </a:r>
          </a:p>
        </p:txBody>
      </p:sp>
      <p:sp>
        <p:nvSpPr>
          <p:cNvPr id="8" name="">
            <a:extLst xmlns:a="http://schemas.openxmlformats.org/drawingml/2006/main">
              <a:ext uri="{FF2B5EF4-FFF2-40B4-BE49-F238E27FC236}">
                <a16:creationId xmlns:a16="http://schemas.microsoft.com/office/drawing/2014/main" id="{11655563-67DB-4E91-A848-A8EF4BDC3C34}"/>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1BCA7104-F5AD-4F0D-9ECB-331827F23AAB}"/>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Press Submit before the deadline. Keep the confirmation.</a:t>
            </a:r>
          </a:p>
        </p:txBody>
      </p:sp>
      <p:sp>
        <p:nvSpPr>
          <p:cNvPr id="10" name="">
            <a:extLst xmlns:a="http://schemas.openxmlformats.org/drawingml/2006/main">
              <a:ext uri="{FF2B5EF4-FFF2-40B4-BE49-F238E27FC236}">
                <a16:creationId xmlns:a16="http://schemas.microsoft.com/office/drawing/2014/main" id="{831F44D2-0AA6-4602-9F77-BE1525E8E4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68</a:t>
            </a:r>
          </a:p>
        </p:txBody>
      </p:sp>
    </p:spTree>
    <p:extLst>
      <p:ext uri="{BB962C8B-B14F-4D97-AF65-F5344CB8AC3E}">
        <p14:creationId xmlns:p14="http://schemas.microsoft.com/office/powerpoint/2010/main" val="106843052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F74927-5A75-4633-8B6B-FD631DCA826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257E64-7434-4ED4-955E-46EDD5D60E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C17B2438-2B82-4348-9091-810421D0446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How grading works</a:t>
            </a:r>
          </a:p>
        </p:txBody>
      </p:sp>
      <p:sp>
        <p:nvSpPr>
          <p:cNvPr id="4" name="">
            <a:extLst xmlns:a="http://schemas.openxmlformats.org/drawingml/2006/main">
              <a:ext uri="{FF2B5EF4-FFF2-40B4-BE49-F238E27FC236}">
                <a16:creationId xmlns:a16="http://schemas.microsoft.com/office/drawing/2014/main" id="{F2F555F4-3A3B-4A00-AF30-1B26B3B19BD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3F86350-CDFE-4823-93C4-2649DA008A7D}"/>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lecturer’s grader runs your submitted code on unseen data.</a:t>
            </a:r>
          </a:p>
        </p:txBody>
      </p:sp>
      <p:sp>
        <p:nvSpPr>
          <p:cNvPr id="6" name="">
            <a:extLst xmlns:a="http://schemas.openxmlformats.org/drawingml/2006/main">
              <a:ext uri="{FF2B5EF4-FFF2-40B4-BE49-F238E27FC236}">
                <a16:creationId xmlns:a16="http://schemas.microsoft.com/office/drawing/2014/main" id="{31FC5BA8-E418-4BC6-97F7-83FBBDC089DC}"/>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B01D889-3F61-49B7-800F-52894FEF105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private workbook records identity, submission time, status and marks.</a:t>
            </a:r>
          </a:p>
        </p:txBody>
      </p:sp>
      <p:sp>
        <p:nvSpPr>
          <p:cNvPr id="8" name="">
            <a:extLst xmlns:a="http://schemas.openxmlformats.org/drawingml/2006/main">
              <a:ext uri="{FF2B5EF4-FFF2-40B4-BE49-F238E27FC236}">
                <a16:creationId xmlns:a16="http://schemas.microsoft.com/office/drawing/2014/main" id="{3725C348-D472-4221-8251-D9A4AA6BD952}"/>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CA6BE89-E255-4089-9FEB-09FBC4B1B8F5}"/>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technical or identity problem remains pending until resolved.</a:t>
            </a:r>
          </a:p>
        </p:txBody>
      </p:sp>
      <p:sp>
        <p:nvSpPr>
          <p:cNvPr id="10" name="">
            <a:extLst xmlns:a="http://schemas.openxmlformats.org/drawingml/2006/main">
              <a:ext uri="{FF2B5EF4-FFF2-40B4-BE49-F238E27FC236}">
                <a16:creationId xmlns:a16="http://schemas.microsoft.com/office/drawing/2014/main" id="{92E22888-0554-44D2-8666-25891147C5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14   69</a:t>
            </a:r>
          </a:p>
        </p:txBody>
      </p:sp>
    </p:spTree>
    <p:extLst>
      <p:ext uri="{BB962C8B-B14F-4D97-AF65-F5344CB8AC3E}">
        <p14:creationId xmlns:p14="http://schemas.microsoft.com/office/powerpoint/2010/main" val="5114148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2026-10-20T18:00:21.2090000Z</dcterms:created>
  <dcterms:modified xsi:type="dcterms:W3CDTF">2026-10-20T18:00:21.2090000Z</dcterms:modified>
</coreProperties>
</file>