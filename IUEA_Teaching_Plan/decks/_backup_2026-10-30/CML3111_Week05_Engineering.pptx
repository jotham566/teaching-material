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7edad52fbc4c76" /><Relationship Type="http://schemas.openxmlformats.org/officeDocument/2006/relationships/extended-properties" Target="/docProps/app.xml" Id="Re91b7964a346435a" /><Relationship Type="http://schemas.openxmlformats.org/officeDocument/2006/relationships/officeDocument" Target="/ppt/presentation.xml" Id="R66ed39cf0e4744a2" /></Relationships>
</file>

<file path=ppt/presentation.xml><?xml version="1.0" encoding="utf-8"?>
<p:presentation xmlns:p="http://schemas.openxmlformats.org/presentationml/2006/main">
  <p:sldMasterIdLst>
    <p:sldMasterId xmlns:r="http://schemas.openxmlformats.org/officeDocument/2006/relationships" id="2147483648" r:id="R3fb02ed748184393"/>
  </p:sldMasterIdLst>
  <p:notesMasterIdLst>
    <p:notesMasterId xmlns:r="http://schemas.openxmlformats.org/officeDocument/2006/relationships" r:id="Rf827bdab46894032"/>
  </p:notesMasterIdLst>
  <p:sldIdLst>
    <p:sldId xmlns:r="http://schemas.openxmlformats.org/officeDocument/2006/relationships" id="256" r:id="Rb7b38889552c4c13"/>
    <p:sldId xmlns:r="http://schemas.openxmlformats.org/officeDocument/2006/relationships" id="257" r:id="Re02ea831bc1741f7"/>
    <p:sldId xmlns:r="http://schemas.openxmlformats.org/officeDocument/2006/relationships" id="258" r:id="R94629ba2a0264963"/>
    <p:sldId xmlns:r="http://schemas.openxmlformats.org/officeDocument/2006/relationships" id="259" r:id="Rb487b18180944ff7"/>
    <p:sldId xmlns:r="http://schemas.openxmlformats.org/officeDocument/2006/relationships" id="260" r:id="Ra9f61806db844da3"/>
    <p:sldId xmlns:r="http://schemas.openxmlformats.org/officeDocument/2006/relationships" id="261" r:id="R4bdf4965a4ef45f8"/>
    <p:sldId xmlns:r="http://schemas.openxmlformats.org/officeDocument/2006/relationships" id="262" r:id="Rfaf26963aa9745dc"/>
    <p:sldId xmlns:r="http://schemas.openxmlformats.org/officeDocument/2006/relationships" id="263" r:id="R2ef36d80b8fc49c5"/>
    <p:sldId xmlns:r="http://schemas.openxmlformats.org/officeDocument/2006/relationships" id="264" r:id="Rf6089e3b8f5a4b02"/>
    <p:sldId xmlns:r="http://schemas.openxmlformats.org/officeDocument/2006/relationships" id="265" r:id="R235867febaf34f6a"/>
    <p:sldId xmlns:r="http://schemas.openxmlformats.org/officeDocument/2006/relationships" id="266" r:id="Rc06a64f8516a47bc"/>
    <p:sldId xmlns:r="http://schemas.openxmlformats.org/officeDocument/2006/relationships" id="267" r:id="R92ed2ec524fe4147"/>
    <p:sldId xmlns:r="http://schemas.openxmlformats.org/officeDocument/2006/relationships" id="268" r:id="R13932fbb860e4da1"/>
    <p:sldId xmlns:r="http://schemas.openxmlformats.org/officeDocument/2006/relationships" id="269" r:id="R5189830581e04537"/>
    <p:sldId xmlns:r="http://schemas.openxmlformats.org/officeDocument/2006/relationships" id="270" r:id="R47eecaa68dfb4d3b"/>
    <p:sldId xmlns:r="http://schemas.openxmlformats.org/officeDocument/2006/relationships" id="271" r:id="R097e5c821bba4800"/>
    <p:sldId xmlns:r="http://schemas.openxmlformats.org/officeDocument/2006/relationships" id="272" r:id="Rea8a7f32d6184042"/>
    <p:sldId xmlns:r="http://schemas.openxmlformats.org/officeDocument/2006/relationships" id="273" r:id="R68b52a5e7efd4798"/>
    <p:sldId xmlns:r="http://schemas.openxmlformats.org/officeDocument/2006/relationships" id="274" r:id="Re94f509bc94b42f4"/>
    <p:sldId xmlns:r="http://schemas.openxmlformats.org/officeDocument/2006/relationships" id="275" r:id="R1200829852cf43c0"/>
    <p:sldId xmlns:r="http://schemas.openxmlformats.org/officeDocument/2006/relationships" id="276" r:id="Rdebbdd92dbaa477c"/>
    <p:sldId xmlns:r="http://schemas.openxmlformats.org/officeDocument/2006/relationships" id="277" r:id="R96461866dde84fe2"/>
    <p:sldId xmlns:r="http://schemas.openxmlformats.org/officeDocument/2006/relationships" id="278" r:id="R62974c34e82a4b72"/>
    <p:sldId xmlns:r="http://schemas.openxmlformats.org/officeDocument/2006/relationships" id="279" r:id="R5e187e5a16d340d2"/>
    <p:sldId xmlns:r="http://schemas.openxmlformats.org/officeDocument/2006/relationships" id="280" r:id="R11f6de685b0f41b0"/>
    <p:sldId xmlns:r="http://schemas.openxmlformats.org/officeDocument/2006/relationships" id="281" r:id="Rda43ee51743849c3"/>
    <p:sldId xmlns:r="http://schemas.openxmlformats.org/officeDocument/2006/relationships" id="282" r:id="Rb7826123ac27404a"/>
    <p:sldId xmlns:r="http://schemas.openxmlformats.org/officeDocument/2006/relationships" id="283" r:id="Rf0990a2aa3f444b7"/>
    <p:sldId xmlns:r="http://schemas.openxmlformats.org/officeDocument/2006/relationships" id="284" r:id="R54452ed4bd0e4417"/>
    <p:sldId xmlns:r="http://schemas.openxmlformats.org/officeDocument/2006/relationships" id="285" r:id="Rb5e975dd4648415b"/>
    <p:sldId xmlns:r="http://schemas.openxmlformats.org/officeDocument/2006/relationships" id="286" r:id="R1bc68f2ffd8f4b27"/>
    <p:sldId xmlns:r="http://schemas.openxmlformats.org/officeDocument/2006/relationships" id="287" r:id="Rf08ce4bc76694a09"/>
    <p:sldId xmlns:r="http://schemas.openxmlformats.org/officeDocument/2006/relationships" id="288" r:id="R9061e24689624008"/>
    <p:sldId xmlns:r="http://schemas.openxmlformats.org/officeDocument/2006/relationships" id="289" r:id="Rfc4e27de04794021"/>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623fc267944478" /><Relationship Type="http://schemas.openxmlformats.org/officeDocument/2006/relationships/slideMaster" Target="/ppt/slideMasters/slideMaster1.xml" Id="R3fb02ed748184393" /><Relationship Type="http://schemas.openxmlformats.org/officeDocument/2006/relationships/notesMaster" Target="/ppt/notesMasters/notesMaster1.xml" Id="Rf827bdab46894032" /><Relationship Type="http://schemas.openxmlformats.org/officeDocument/2006/relationships/presProps" Target="/ppt/presProps.xml" Id="Rb8fd8d75b67941f1" /><Relationship Type="http://schemas.openxmlformats.org/officeDocument/2006/relationships/tableStyles" Target="/ppt/tableStyles.xml" Id="R47020c92dfe34dcf" /><Relationship Type="http://schemas.openxmlformats.org/officeDocument/2006/relationships/slide" Target="/ppt/slides/slide1.xml" Id="Rb7b38889552c4c13" /><Relationship Type="http://schemas.openxmlformats.org/officeDocument/2006/relationships/slide" Target="/ppt/slides/slide2.xml" Id="Re02ea831bc1741f7" /><Relationship Type="http://schemas.openxmlformats.org/officeDocument/2006/relationships/slide" Target="/ppt/slides/slide3.xml" Id="R94629ba2a0264963" /><Relationship Type="http://schemas.openxmlformats.org/officeDocument/2006/relationships/slide" Target="/ppt/slides/slide4.xml" Id="Rb487b18180944ff7" /><Relationship Type="http://schemas.openxmlformats.org/officeDocument/2006/relationships/slide" Target="/ppt/slides/slide5.xml" Id="Ra9f61806db844da3" /><Relationship Type="http://schemas.openxmlformats.org/officeDocument/2006/relationships/slide" Target="/ppt/slides/slide6.xml" Id="R4bdf4965a4ef45f8" /><Relationship Type="http://schemas.openxmlformats.org/officeDocument/2006/relationships/slide" Target="/ppt/slides/slide7.xml" Id="Rfaf26963aa9745dc" /><Relationship Type="http://schemas.openxmlformats.org/officeDocument/2006/relationships/slide" Target="/ppt/slides/slide8.xml" Id="R2ef36d80b8fc49c5" /><Relationship Type="http://schemas.openxmlformats.org/officeDocument/2006/relationships/slide" Target="/ppt/slides/slide9.xml" Id="Rf6089e3b8f5a4b02" /><Relationship Type="http://schemas.openxmlformats.org/officeDocument/2006/relationships/slide" Target="/ppt/slides/slide10.xml" Id="R235867febaf34f6a" /><Relationship Type="http://schemas.openxmlformats.org/officeDocument/2006/relationships/slide" Target="/ppt/slides/slide11.xml" Id="Rc06a64f8516a47bc" /><Relationship Type="http://schemas.openxmlformats.org/officeDocument/2006/relationships/slide" Target="/ppt/slides/slide12.xml" Id="R92ed2ec524fe4147" /><Relationship Type="http://schemas.openxmlformats.org/officeDocument/2006/relationships/slide" Target="/ppt/slides/slide13.xml" Id="R13932fbb860e4da1" /><Relationship Type="http://schemas.openxmlformats.org/officeDocument/2006/relationships/slide" Target="/ppt/slides/slide14.xml" Id="R5189830581e04537" /><Relationship Type="http://schemas.openxmlformats.org/officeDocument/2006/relationships/slide" Target="/ppt/slides/slide15.xml" Id="R47eecaa68dfb4d3b" /><Relationship Type="http://schemas.openxmlformats.org/officeDocument/2006/relationships/slide" Target="/ppt/slides/slide16.xml" Id="R097e5c821bba4800" /><Relationship Type="http://schemas.openxmlformats.org/officeDocument/2006/relationships/slide" Target="/ppt/slides/slide17.xml" Id="Rea8a7f32d6184042" /><Relationship Type="http://schemas.openxmlformats.org/officeDocument/2006/relationships/slide" Target="/ppt/slides/slide18.xml" Id="R68b52a5e7efd4798" /><Relationship Type="http://schemas.openxmlformats.org/officeDocument/2006/relationships/slide" Target="/ppt/slides/slide19.xml" Id="Re94f509bc94b42f4" /><Relationship Type="http://schemas.openxmlformats.org/officeDocument/2006/relationships/slide" Target="/ppt/slides/slide20.xml" Id="R1200829852cf43c0" /><Relationship Type="http://schemas.openxmlformats.org/officeDocument/2006/relationships/slide" Target="/ppt/slides/slide21.xml" Id="Rdebbdd92dbaa477c" /><Relationship Type="http://schemas.openxmlformats.org/officeDocument/2006/relationships/slide" Target="/ppt/slides/slide22.xml" Id="R96461866dde84fe2" /><Relationship Type="http://schemas.openxmlformats.org/officeDocument/2006/relationships/slide" Target="/ppt/slides/slide23.xml" Id="R62974c34e82a4b72" /><Relationship Type="http://schemas.openxmlformats.org/officeDocument/2006/relationships/slide" Target="/ppt/slides/slide24.xml" Id="R5e187e5a16d340d2" /><Relationship Type="http://schemas.openxmlformats.org/officeDocument/2006/relationships/slide" Target="/ppt/slides/slide25.xml" Id="R11f6de685b0f41b0" /><Relationship Type="http://schemas.openxmlformats.org/officeDocument/2006/relationships/slide" Target="/ppt/slides/slide26.xml" Id="Rda43ee51743849c3" /><Relationship Type="http://schemas.openxmlformats.org/officeDocument/2006/relationships/slide" Target="/ppt/slides/slide27.xml" Id="Rb7826123ac27404a" /><Relationship Type="http://schemas.openxmlformats.org/officeDocument/2006/relationships/slide" Target="/ppt/slides/slide28.xml" Id="Rf0990a2aa3f444b7" /><Relationship Type="http://schemas.openxmlformats.org/officeDocument/2006/relationships/slide" Target="/ppt/slides/slide29.xml" Id="R54452ed4bd0e4417" /><Relationship Type="http://schemas.openxmlformats.org/officeDocument/2006/relationships/slide" Target="/ppt/slides/slide30.xml" Id="Rb5e975dd4648415b" /><Relationship Type="http://schemas.openxmlformats.org/officeDocument/2006/relationships/slide" Target="/ppt/slides/slide31.xml" Id="R1bc68f2ffd8f4b27" /><Relationship Type="http://schemas.openxmlformats.org/officeDocument/2006/relationships/slide" Target="/ppt/slides/slide32.xml" Id="Rf08ce4bc76694a09" /><Relationship Type="http://schemas.openxmlformats.org/officeDocument/2006/relationships/slide" Target="/ppt/slides/slide33.xml" Id="R9061e24689624008" /><Relationship Type="http://schemas.openxmlformats.org/officeDocument/2006/relationships/slide" Target="/ppt/slides/slide34.xml" Id="Rfc4e27de047940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1d4621606640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2b51a68c614325" /><Relationship Type="http://schemas.openxmlformats.org/officeDocument/2006/relationships/notesMaster" Target="/ppt/notesMasters/notesMaster1.xml" Id="R890f62835da946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218d1ee7a744e2" /><Relationship Type="http://schemas.openxmlformats.org/officeDocument/2006/relationships/notesMaster" Target="/ppt/notesMasters/notesMaster1.xml" Id="R3f732d6f677f44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e1f38f04c541f5" /><Relationship Type="http://schemas.openxmlformats.org/officeDocument/2006/relationships/notesMaster" Target="/ppt/notesMasters/notesMaster1.xml" Id="Re5e6b3a81ba144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9a1a3d595844ad" /><Relationship Type="http://schemas.openxmlformats.org/officeDocument/2006/relationships/notesMaster" Target="/ppt/notesMasters/notesMaster1.xml" Id="R18108d6ef46448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b07b3afa6c44d3" /><Relationship Type="http://schemas.openxmlformats.org/officeDocument/2006/relationships/notesMaster" Target="/ppt/notesMasters/notesMaster1.xml" Id="Rde6c512b99ed45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301d7977b344c0" /><Relationship Type="http://schemas.openxmlformats.org/officeDocument/2006/relationships/notesMaster" Target="/ppt/notesMasters/notesMaster1.xml" Id="R46c0972c7e5c44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2259218c314c36" /><Relationship Type="http://schemas.openxmlformats.org/officeDocument/2006/relationships/notesMaster" Target="/ppt/notesMasters/notesMaster1.xml" Id="R87efd7e74ee846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7808325a55462a" /><Relationship Type="http://schemas.openxmlformats.org/officeDocument/2006/relationships/notesMaster" Target="/ppt/notesMasters/notesMaster1.xml" Id="R140bce3fa1b142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1c513370a94ca6" /><Relationship Type="http://schemas.openxmlformats.org/officeDocument/2006/relationships/notesMaster" Target="/ppt/notesMasters/notesMaster1.xml" Id="R189fcde9651944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e5bd6f11cd4fef" /><Relationship Type="http://schemas.openxmlformats.org/officeDocument/2006/relationships/notesMaster" Target="/ppt/notesMasters/notesMaster1.xml" Id="Reb9dbb0a8a6b4a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3a6def2d8d4335" /><Relationship Type="http://schemas.openxmlformats.org/officeDocument/2006/relationships/notesMaster" Target="/ppt/notesMasters/notesMaster1.xml" Id="R541bdc09195146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a6eaf5e6364935" /><Relationship Type="http://schemas.openxmlformats.org/officeDocument/2006/relationships/notesMaster" Target="/ppt/notesMasters/notesMaster1.xml" Id="R59c2701df63e48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519f8355b4461c" /><Relationship Type="http://schemas.openxmlformats.org/officeDocument/2006/relationships/notesMaster" Target="/ppt/notesMasters/notesMaster1.xml" Id="R49f5a084f74345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a0f4e557ec4a5d" /><Relationship Type="http://schemas.openxmlformats.org/officeDocument/2006/relationships/notesMaster" Target="/ppt/notesMasters/notesMaster1.xml" Id="R6793398fd95f44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be6b13b9074457" /><Relationship Type="http://schemas.openxmlformats.org/officeDocument/2006/relationships/notesMaster" Target="/ppt/notesMasters/notesMaster1.xml" Id="Rf8f6996d868841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daaaf2dfb84d53" /><Relationship Type="http://schemas.openxmlformats.org/officeDocument/2006/relationships/notesMaster" Target="/ppt/notesMasters/notesMaster1.xml" Id="R0856260b5c0246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bc4c29389d4155" /><Relationship Type="http://schemas.openxmlformats.org/officeDocument/2006/relationships/notesMaster" Target="/ppt/notesMasters/notesMaster1.xml" Id="R18c78b83fbcf4f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ea38c1982c43e9" /><Relationship Type="http://schemas.openxmlformats.org/officeDocument/2006/relationships/notesMaster" Target="/ppt/notesMasters/notesMaster1.xml" Id="R5e86129b54ff445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f0d5ddaef24c63" /><Relationship Type="http://schemas.openxmlformats.org/officeDocument/2006/relationships/notesMaster" Target="/ppt/notesMasters/notesMaster1.xml" Id="R3ad51e4844334e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a716798f444f35" /><Relationship Type="http://schemas.openxmlformats.org/officeDocument/2006/relationships/notesMaster" Target="/ppt/notesMasters/notesMaster1.xml" Id="R78185b48acf740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d35812f6b1c4340" /><Relationship Type="http://schemas.openxmlformats.org/officeDocument/2006/relationships/notesMaster" Target="/ppt/notesMasters/notesMaster1.xml" Id="Rdf7e711bf2224b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14ac9d4a534607" /><Relationship Type="http://schemas.openxmlformats.org/officeDocument/2006/relationships/notesMaster" Target="/ppt/notesMasters/notesMaster1.xml" Id="Rcc5233070d4f4f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7f3f5b068643f9" /><Relationship Type="http://schemas.openxmlformats.org/officeDocument/2006/relationships/notesMaster" Target="/ppt/notesMasters/notesMaster1.xml" Id="R3f4b764bc2a94b7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88de6be75140b9" /><Relationship Type="http://schemas.openxmlformats.org/officeDocument/2006/relationships/notesMaster" Target="/ppt/notesMasters/notesMaster1.xml" Id="R4acc216458c849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ad78c0aaac2439d" /><Relationship Type="http://schemas.openxmlformats.org/officeDocument/2006/relationships/notesMaster" Target="/ppt/notesMasters/notesMaster1.xml" Id="R4e448504cd264d3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8ecb22402f4d07" /><Relationship Type="http://schemas.openxmlformats.org/officeDocument/2006/relationships/notesMaster" Target="/ppt/notesMasters/notesMaster1.xml" Id="Rb2c80e86462e46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8eef9fe8dc4b0b" /><Relationship Type="http://schemas.openxmlformats.org/officeDocument/2006/relationships/notesMaster" Target="/ppt/notesMasters/notesMaster1.xml" Id="Ree12d1bebf3643d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43389db96e497b" /><Relationship Type="http://schemas.openxmlformats.org/officeDocument/2006/relationships/notesMaster" Target="/ppt/notesMasters/notesMaster1.xml" Id="Rc29182654c2140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3848be5c1c407d" /><Relationship Type="http://schemas.openxmlformats.org/officeDocument/2006/relationships/notesMaster" Target="/ppt/notesMasters/notesMaster1.xml" Id="R282f480d8c13434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9e81e36cc694b7d" /><Relationship Type="http://schemas.openxmlformats.org/officeDocument/2006/relationships/notesMaster" Target="/ppt/notesMasters/notesMaster1.xml" Id="R09e7f1c1988344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5fa6a115a634e75" /><Relationship Type="http://schemas.openxmlformats.org/officeDocument/2006/relationships/notesMaster" Target="/ppt/notesMasters/notesMaster1.xml" Id="Rcc4b90ae03404a0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252dd2bb3124743" /><Relationship Type="http://schemas.openxmlformats.org/officeDocument/2006/relationships/notesMaster" Target="/ppt/notesMasters/notesMaster1.xml" Id="Rdeaf287c00394eb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e241d479474092" /><Relationship Type="http://schemas.openxmlformats.org/officeDocument/2006/relationships/notesMaster" Target="/ppt/notesMasters/notesMaster1.xml" Id="R14bd54356c0f44b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60831d6424d4532" /><Relationship Type="http://schemas.openxmlformats.org/officeDocument/2006/relationships/notesMaster" Target="/ppt/notesMasters/notesMaster1.xml" Id="R8fd7a024075c47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pandas to answer table questions</a:t>
            </a:r>
          </a:p>
          <a:p xmlns:a="http://schemas.openxmlformats.org/drawingml/2006/main">
            <a:r>
              <a:t>CML3111, Week 5, slide 1</a:t>
            </a:r>
          </a:p>
          <a:p xmlns:a="http://schemas.openxmlformats.org/drawingml/2006/main">
            <a:r>
              <a:t/>
            </a:r>
          </a:p>
          <a:p xmlns:a="http://schemas.openxmlformats.org/drawingml/2006/main">
            <a:r>
              <a:t>Explanation to give</a:t>
            </a:r>
          </a:p>
          <a:p xmlns:a="http://schemas.openxmlformats.org/drawingml/2006/main">
            <a:r>
              <a:t>pandas performs table operations that build on the lists, records and loops already taught. Explain the row, column and unit before using an operation.</a:t>
            </a:r>
          </a:p>
          <a:p xmlns:a="http://schemas.openxmlformats.org/drawingml/2006/main">
            <a:r>
              <a:t/>
            </a:r>
          </a:p>
          <a:p xmlns:a="http://schemas.openxmlformats.org/drawingml/2006/main">
            <a:r>
              <a:t>Worked illustration / lecturer answer</a:t>
            </a:r>
          </a:p>
          <a:p xmlns:a="http://schemas.openxmlformats.org/drawingml/2006/main">
            <a:r>
              <a:t>A filter retains matching rows. groupby gathers matching labels. For A:2, A:3, B:4, the totals are A:5 and B:4.</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CML3111, Week 5, slide 2</a:t>
            </a:r>
          </a:p>
          <a:p xmlns:a="http://schemas.openxmlformats.org/drawingml/2006/main">
            <a:r>
              <a:t/>
            </a:r>
          </a:p>
          <a:p xmlns:a="http://schemas.openxmlformats.org/drawingml/2006/main">
            <a:r>
              <a:t>Explanation to give</a:t>
            </a:r>
          </a:p>
          <a:p xmlns:a="http://schemas.openxmlformats.org/drawingml/2006/main">
            <a:r>
              <a:t>pandas performs table operations that build on the lists, records and loops already taught. Explain the row, column and unit before using an operation.</a:t>
            </a:r>
          </a:p>
          <a:p xmlns:a="http://schemas.openxmlformats.org/drawingml/2006/main">
            <a:r>
              <a:t/>
            </a:r>
          </a:p>
          <a:p xmlns:a="http://schemas.openxmlformats.org/drawingml/2006/main">
            <a:r>
              <a:t>Worked illustration / lecturer answer</a:t>
            </a:r>
          </a:p>
          <a:p xmlns:a="http://schemas.openxmlformats.org/drawingml/2006/main">
            <a:r>
              <a:t>A filter retains matching rows. groupby gathers matching labels. For A:2, A:3, B:4, the totals are A:5 and B:4.</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Read a labelled table and select rows.</a:t>
            </a:r>
          </a:p>
          <a:p xmlns:a="http://schemas.openxmlformats.org/drawingml/2006/main">
            <a:r>
              <a:t/>
            </a:r>
          </a:p>
          <a:p xmlns:a="http://schemas.openxmlformats.org/drawingml/2006/main">
            <a:r>
              <a:t>Calculate column summaries and grouped totals.</a:t>
            </a:r>
          </a:p>
          <a:p xmlns:a="http://schemas.openxmlformats.org/drawingml/2006/main">
            <a:r>
              <a:t/>
            </a:r>
          </a:p>
          <a:p xmlns:a="http://schemas.openxmlformats.org/drawingml/2006/main">
            <a:r>
              <a:t>Continue to</a:t>
            </a:r>
          </a:p>
          <a:p xmlns:a="http://schemas.openxmlformats.org/drawingml/2006/main">
            <a:r>
              <a:t>Connection to the previous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field before indexing. This file provides the observations for every calculation in the lesson.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table.shape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table.dtypes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table.head()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import pandas as pd</a:t>
            </a:r>
          </a:p>
          <a:p xmlns:a="http://schemas.openxmlformats.org/drawingml/2006/main">
            <a:r>
              <a:t>Load pandas. An import makes these names available; it does not run the analysis.</a:t>
            </a:r>
          </a:p>
          <a:p xmlns:a="http://schemas.openxmlformats.org/drawingml/2006/main">
            <a:r>
              <a:t/>
            </a:r>
          </a:p>
          <a:p xmlns:a="http://schemas.openxmlformats.org/drawingml/2006/main">
            <a:r>
              <a:t>Line 2: raw = pd.read_csv("campus_energy.csv")</a:t>
            </a:r>
          </a:p>
          <a:p xmlns:a="http://schemas.openxmlformats.org/drawingml/2006/main">
            <a:r>
              <a:t>Read the supplied file into raw. Its rows remain the untouched source for this lesson.</a:t>
            </a:r>
          </a:p>
          <a:p xmlns:a="http://schemas.openxmlformats.org/drawingml/2006/main">
            <a:r>
              <a:t/>
            </a:r>
          </a:p>
          <a:p xmlns:a="http://schemas.openxmlformats.org/drawingml/2006/main">
            <a:r>
              <a:t>Line 3: print(raw.head())</a:t>
            </a:r>
          </a:p>
          <a:p xmlns:a="http://schemas.openxmlformats.org/drawingml/2006/main">
            <a:r>
              <a:t>Display raw.head(). The first five observations and their column headings. Read one whole row aloud before discussing a column.</a:t>
            </a:r>
          </a:p>
          <a:p xmlns:a="http://schemas.openxmlformats.org/drawingml/2006/main">
            <a:r>
              <a:t/>
            </a:r>
          </a:p>
          <a:p xmlns:a="http://schemas.openxmlformats.org/drawingml/2006/main">
            <a:r>
              <a:t>Line 4: print(raw.shape)</a:t>
            </a:r>
          </a:p>
          <a:p xmlns:a="http://schemas.openxmlformats.org/drawingml/2006/main">
            <a:r>
              <a:t>Display raw.shape. The pair is row count followed by column count.</a:t>
            </a:r>
          </a:p>
          <a:p xmlns:a="http://schemas.openxmlformats.org/drawingml/2006/main">
            <a:r>
              <a:t/>
            </a:r>
          </a:p>
          <a:p xmlns:a="http://schemas.openxmlformats.org/drawingml/2006/main">
            <a:r>
              <a:t>Line 5: print(raw.dtypes)</a:t>
            </a:r>
          </a:p>
          <a:p xmlns:a="http://schemas.openxmlformats.org/drawingml/2006/main">
            <a:r>
              <a:t>Display raw.dtypes. Read each heading beside its stored type. float64 can include missing numerical entries.</a:t>
            </a:r>
          </a:p>
          <a:p xmlns:a="http://schemas.openxmlformats.org/drawingml/2006/main">
            <a:r>
              <a:t/>
            </a:r>
          </a:p>
          <a:p xmlns:a="http://schemas.openxmlformats.org/drawingml/2006/main">
            <a:r>
              <a:t>Reading the result</a:t>
            </a:r>
          </a:p>
          <a:p xmlns:a="http://schemas.openxmlformats.org/drawingml/2006/main">
            <a:r>
              <a:t>The preview establishes the file schema. The row/column pair describes the full file, while head shows only five rows. Explain that NaN means a missing entry, not a measured zero.</a:t>
            </a:r>
          </a:p>
          <a:p xmlns:a="http://schemas.openxmlformats.org/drawingml/2006/main">
            <a:r>
              <a:t/>
            </a:r>
          </a:p>
          <a:p xmlns:a="http://schemas.openxmlformats.org/drawingml/2006/main">
            <a:r>
              <a:t>Output from the supplied CSV (this cohort):</a:t>
            </a:r>
          </a:p>
          <a:p xmlns:a="http://schemas.openxmlformats.org/drawingml/2006/main">
            <a:r>
              <a:t>  meter_id     building        block    month   kwh  cost_ugx</a:t>
            </a:r>
          </a:p>
          <a:p xmlns:a="http://schemas.openxmlformats.org/drawingml/2006/main">
            <a:r>
              <a:t>0    M-001  Kabojja Lab  Engineering  2026-01  4820   3374000</a:t>
            </a:r>
          </a:p>
          <a:p xmlns:a="http://schemas.openxmlformats.org/drawingml/2006/main">
            <a:r>
              <a:t>1    M-001  Kabojja Lab  Engineering  2026-02  5310   3717000</a:t>
            </a:r>
          </a:p>
          <a:p xmlns:a="http://schemas.openxmlformats.org/drawingml/2006/main">
            <a:r>
              <a:t>2    M-001  Kabojja Lab  Engineering  2026-03  6140   4298000</a:t>
            </a:r>
          </a:p>
          <a:p xmlns:a="http://schemas.openxmlformats.org/drawingml/2006/main">
            <a:r>
              <a:t>3    M-002   Workshop A  Engineering  2026-01  7420   5194000</a:t>
            </a:r>
          </a:p>
          <a:p xmlns:a="http://schemas.openxmlformats.org/drawingml/2006/main">
            <a:r>
              <a:t>4    M-002   Workshop A  Engineering  2026-02  7980   5586000</a:t>
            </a:r>
          </a:p>
          <a:p xmlns:a="http://schemas.openxmlformats.org/drawingml/2006/main">
            <a:r>
              <a:t>(24, 6)</a:t>
            </a:r>
          </a:p>
          <a:p xmlns:a="http://schemas.openxmlformats.org/drawingml/2006/main">
            <a:r>
              <a:t>meter_id    object</a:t>
            </a:r>
          </a:p>
          <a:p xmlns:a="http://schemas.openxmlformats.org/drawingml/2006/main">
            <a:r>
              <a:t>building    object</a:t>
            </a:r>
          </a:p>
          <a:p xmlns:a="http://schemas.openxmlformats.org/drawingml/2006/main">
            <a:r>
              <a:t>block       object</a:t>
            </a:r>
          </a:p>
          <a:p xmlns:a="http://schemas.openxmlformats.org/drawingml/2006/main">
            <a:r>
              <a:t>month       object</a:t>
            </a:r>
          </a:p>
          <a:p xmlns:a="http://schemas.openxmlformats.org/drawingml/2006/main">
            <a:r>
              <a:t>kwh          int64</a:t>
            </a:r>
          </a:p>
          <a:p xmlns:a="http://schemas.openxmlformats.org/drawingml/2006/main">
            <a:r>
              <a:t>cost_ugx     int64</a:t>
            </a:r>
          </a:p>
          <a:p xmlns:a="http://schemas.openxmlformats.org/drawingml/2006/main">
            <a:r>
              <a:t>dtype: object</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read_csv creates a DataFrame. head shows the first five rows. shape gives row and column counts. dtypes describes each column. raw remains unchanged throughout the lesson.</a:t>
            </a:r>
          </a:p>
          <a:p xmlns:a="http://schemas.openxmlformats.org/drawingml/2006/main">
            <a:r>
              <a:t/>
            </a:r>
          </a:p>
          <a:p xmlns:a="http://schemas.openxmlformats.org/drawingml/2006/main">
            <a:r>
              <a:t>Complete worked example:</a:t>
            </a:r>
          </a:p>
          <a:p xmlns:a="http://schemas.openxmlformats.org/drawingml/2006/main">
            <a:r>
              <a:t>import pandas as pd</a:t>
            </a:r>
          </a:p>
          <a:p xmlns:a="http://schemas.openxmlformats.org/drawingml/2006/main">
            <a:r>
              <a:t>raw = pd.read_csv("campus_energy.csv")</a:t>
            </a:r>
          </a:p>
          <a:p xmlns:a="http://schemas.openxmlformats.org/drawingml/2006/main">
            <a:r>
              <a:t>print(raw.head())</a:t>
            </a:r>
          </a:p>
          <a:p xmlns:a="http://schemas.openxmlformats.org/drawingml/2006/main">
            <a:r>
              <a:t>print(raw.shape)</a:t>
            </a:r>
          </a:p>
          <a:p xmlns:a="http://schemas.openxmlformats.org/drawingml/2006/main">
            <a:r>
              <a:t>print(raw.dtypes)</a:t>
            </a:r>
          </a:p>
          <a:p xmlns:a="http://schemas.openxmlformats.org/drawingml/2006/main">
            <a:r>
              <a:t/>
            </a:r>
          </a:p>
          <a:p xmlns:a="http://schemas.openxmlformats.org/drawingml/2006/main">
            <a:r>
              <a:t>Result from the supplied example</a:t>
            </a:r>
          </a:p>
          <a:p xmlns:a="http://schemas.openxmlformats.org/drawingml/2006/main">
            <a:r>
              <a:t>meter_id     building        block    month   kwh  cost_ugx</a:t>
            </a:r>
          </a:p>
          <a:p xmlns:a="http://schemas.openxmlformats.org/drawingml/2006/main">
            <a:r>
              <a:t>0    M-001  Kabojja Lab  Engineering  2026-01  4820   3374000</a:t>
            </a:r>
          </a:p>
          <a:p xmlns:a="http://schemas.openxmlformats.org/drawingml/2006/main">
            <a:r>
              <a:t>1    M-001  Kabojja Lab  Engineering  2026-02  5310   3717000</a:t>
            </a:r>
          </a:p>
          <a:p xmlns:a="http://schemas.openxmlformats.org/drawingml/2006/main">
            <a:r>
              <a:t>2    M-001  Kabojja Lab  Engineering  2026-03  6140   4298000</a:t>
            </a:r>
          </a:p>
          <a:p xmlns:a="http://schemas.openxmlformats.org/drawingml/2006/main">
            <a:r>
              <a:t>3    M-002   Workshop A  Engineering  2026-01  7420   5194000</a:t>
            </a:r>
          </a:p>
          <a:p xmlns:a="http://schemas.openxmlformats.org/drawingml/2006/main">
            <a:r>
              <a:t>4    M-002   Workshop A  Engineering  2026-02  7980   5586000</a:t>
            </a:r>
          </a:p>
          <a:p xmlns:a="http://schemas.openxmlformats.org/drawingml/2006/main">
            <a:r>
              <a:t>(24, 6)</a:t>
            </a:r>
          </a:p>
          <a:p xmlns:a="http://schemas.openxmlformats.org/drawingml/2006/main">
            <a:r>
              <a:t>meter_id    object</a:t>
            </a:r>
          </a:p>
          <a:p xmlns:a="http://schemas.openxmlformats.org/drawingml/2006/main">
            <a:r>
              <a:t>building    object</a:t>
            </a:r>
          </a:p>
          <a:p xmlns:a="http://schemas.openxmlformats.org/drawingml/2006/main">
            <a:r>
              <a:t>block       object</a:t>
            </a:r>
          </a:p>
          <a:p xmlns:a="http://schemas.openxmlformats.org/drawingml/2006/main">
            <a:r>
              <a:t>month       object</a:t>
            </a:r>
          </a:p>
          <a:p xmlns:a="http://schemas.openxmlformats.org/drawingml/2006/main">
            <a:r>
              <a:t>kwh          int64</a:t>
            </a:r>
          </a:p>
          <a:p xmlns:a="http://schemas.openxmlformats.org/drawingml/2006/main">
            <a:r>
              <a:t>cost_ugx     int64</a:t>
            </a:r>
          </a:p>
          <a:p xmlns:a="http://schemas.openxmlformats.org/drawingml/2006/main">
            <a:r>
              <a:t>dtype: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mean describes readings in this supplied file, not a general expected monthly use.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table["target"].mean(), select the target Series first, then calculate its mean. Each step uses the previous step’s result.</a:t>
            </a:r>
          </a:p>
          <a:p xmlns:a="http://schemas.openxmlformats.org/drawingml/2006/main">
            <a:r>
              <a:t/>
            </a:r>
          </a:p>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Selecting columns</a:t>
            </a:r>
          </a:p>
          <a:p xmlns:a="http://schemas.openxmlformats.org/drawingml/2006/main">
            <a:r>
              <a:t>table["column"] returns one labelled column, a Series. table[["a", "b"]] returns a DataFrame containing those named columns in that order.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print(raw["kwh"].head())</a:t>
            </a:r>
          </a:p>
          <a:p xmlns:a="http://schemas.openxmlformats.org/drawingml/2006/main">
            <a:r>
              <a:t>Display raw['kwh'].head(). Read these values alongside their source column labels. The display does not change the calculation or source data.</a:t>
            </a:r>
          </a:p>
          <a:p xmlns:a="http://schemas.openxmlformats.org/drawingml/2006/main">
            <a:r>
              <a:t/>
            </a:r>
          </a:p>
          <a:p xmlns:a="http://schemas.openxmlformats.org/drawingml/2006/main">
            <a:r>
              <a:t>Line 2: print(round(float(raw["kwh"].mean()), 3))</a:t>
            </a:r>
          </a:p>
          <a:p xmlns:a="http://schemas.openxmlformats.org/drawingml/2006/main">
            <a:r>
              <a:t>Display round(float(raw['kwh'].mean()), 3). Read these values alongside their source column labels. The display does not change the calculation or source data.</a:t>
            </a:r>
          </a:p>
          <a:p xmlns:a="http://schemas.openxmlformats.org/drawingml/2006/main">
            <a:r>
              <a:t/>
            </a:r>
          </a:p>
          <a:p xmlns:a="http://schemas.openxmlformats.org/drawingml/2006/main">
            <a:r>
              <a:t>Reading the result</a:t>
            </a:r>
          </a:p>
          <a:p xmlns:a="http://schemas.openxmlformats.org/drawingml/2006/main">
            <a:r>
              <a:t>The displayed mean covers the entire kwh column, not just the five previewed readings. Its unit is kWh per recorded meter-month.</a:t>
            </a:r>
          </a:p>
          <a:p xmlns:a="http://schemas.openxmlformats.org/drawingml/2006/main">
            <a:r>
              <a:t/>
            </a:r>
          </a:p>
          <a:p xmlns:a="http://schemas.openxmlformats.org/drawingml/2006/main">
            <a:r>
              <a:t>Output from the supplied CSV (this cohort):</a:t>
            </a:r>
          </a:p>
          <a:p xmlns:a="http://schemas.openxmlformats.org/drawingml/2006/main">
            <a:r>
              <a:t>0    4820</a:t>
            </a:r>
          </a:p>
          <a:p xmlns:a="http://schemas.openxmlformats.org/drawingml/2006/main">
            <a:r>
              <a:t>1    5310</a:t>
            </a:r>
          </a:p>
          <a:p xmlns:a="http://schemas.openxmlformats.org/drawingml/2006/main">
            <a:r>
              <a:t>2    6140</a:t>
            </a:r>
          </a:p>
          <a:p xmlns:a="http://schemas.openxmlformats.org/drawingml/2006/main">
            <a:r>
              <a:t>3    7420</a:t>
            </a:r>
          </a:p>
          <a:p xmlns:a="http://schemas.openxmlformats.org/drawingml/2006/main">
            <a:r>
              <a:t>4    7980</a:t>
            </a:r>
          </a:p>
          <a:p xmlns:a="http://schemas.openxmlformats.org/drawingml/2006/main">
            <a:r>
              <a:t>Name: kwh, dtype: int64</a:t>
            </a:r>
          </a:p>
          <a:p xmlns:a="http://schemas.openxmlformats.org/drawingml/2006/main">
            <a:r>
              <a:t>5666.042</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head shows the first five readings. The mean uses the entire column.</a:t>
            </a:r>
          </a:p>
          <a:p xmlns:a="http://schemas.openxmlformats.org/drawingml/2006/main">
            <a:r>
              <a:t/>
            </a:r>
          </a:p>
          <a:p xmlns:a="http://schemas.openxmlformats.org/drawingml/2006/main">
            <a:r>
              <a:t>Complete worked example:</a:t>
            </a:r>
          </a:p>
          <a:p xmlns:a="http://schemas.openxmlformats.org/drawingml/2006/main">
            <a:r>
              <a:t>print(raw["kwh"].head())</a:t>
            </a:r>
          </a:p>
          <a:p xmlns:a="http://schemas.openxmlformats.org/drawingml/2006/main">
            <a:r>
              <a:t>print(round(float(raw["kwh"].mean()), 3))</a:t>
            </a:r>
          </a:p>
          <a:p xmlns:a="http://schemas.openxmlformats.org/drawingml/2006/main">
            <a:r>
              <a:t/>
            </a:r>
          </a:p>
          <a:p xmlns:a="http://schemas.openxmlformats.org/drawingml/2006/main">
            <a:r>
              <a:t>Result from the supplied example</a:t>
            </a:r>
          </a:p>
          <a:p xmlns:a="http://schemas.openxmlformats.org/drawingml/2006/main">
            <a:r>
              <a:t>0    4820</a:t>
            </a:r>
          </a:p>
          <a:p xmlns:a="http://schemas.openxmlformats.org/drawingml/2006/main">
            <a:r>
              <a:t>1    5310</a:t>
            </a:r>
          </a:p>
          <a:p xmlns:a="http://schemas.openxmlformats.org/drawingml/2006/main">
            <a:r>
              <a:t>2    6140</a:t>
            </a:r>
          </a:p>
          <a:p xmlns:a="http://schemas.openxmlformats.org/drawingml/2006/main">
            <a:r>
              <a:t>3    7420</a:t>
            </a:r>
          </a:p>
          <a:p xmlns:a="http://schemas.openxmlformats.org/drawingml/2006/main">
            <a:r>
              <a:t>4    7980</a:t>
            </a:r>
          </a:p>
          <a:p xmlns:a="http://schemas.openxmlformats.org/drawingml/2006/main">
            <a:r>
              <a:t>Name: kwh, dtype: int64</a:t>
            </a:r>
          </a:p>
          <a:p xmlns:a="http://schemas.openxmlformats.org/drawingml/2006/main">
            <a:r>
              <a:t>5666.042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practice question, not an engineering safety limit. Separate calculating the answers from selecting the rows. True and False are Boolean values, not the strings "True" and "False".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rows with a mask</a:t>
            </a:r>
          </a:p>
          <a:p xmlns:a="http://schemas.openxmlformats.org/drawingml/2006/main">
            <a:r>
              <a:t>A column comparison produces one True or False per row. table[mask] keeps the True rows. &amp; combines masks: both conditions must hold. Parenthesise each comparison.</a:t>
            </a:r>
          </a:p>
          <a:p xmlns:a="http://schemas.openxmlformats.org/drawingml/2006/main">
            <a:r>
              <a:t/>
            </a:r>
          </a:p>
          <a:p xmlns:a="http://schemas.openxmlformats.org/drawingml/2006/main">
            <a:r>
              <a:t>Adding values and counting True</a:t>
            </a:r>
          </a:p>
          <a:p xmlns:a="http://schemas.openxmlformats.org/drawingml/2006/main">
            <a:r>
              <a:t>series.sum() adds its values. For a Boolean mask, True counts as 1 and False as 0. table.isna().sum() therefore counts missing cells separately for each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 the row labels in the two outputs. The comparison answers the question for every row and leaves raw unchanged.</a:t>
            </a:r>
          </a:p>
          <a:p xmlns:a="http://schemas.openxmlformats.org/drawingml/2006/main">
            <a:r>
              <a:t/>
            </a:r>
          </a:p>
          <a:p xmlns:a="http://schemas.openxmlformats.org/drawingml/2006/main">
            <a:r>
              <a:t>Result from the supplied example</a:t>
            </a:r>
          </a:p>
          <a:p xmlns:a="http://schemas.openxmlformats.org/drawingml/2006/main">
            <a:r>
              <a:t>0    4820</a:t>
            </a:r>
          </a:p>
          <a:p xmlns:a="http://schemas.openxmlformats.org/drawingml/2006/main">
            <a:r>
              <a:t>1    5310</a:t>
            </a:r>
          </a:p>
          <a:p xmlns:a="http://schemas.openxmlformats.org/drawingml/2006/main">
            <a:r>
              <a:t>2    6140</a:t>
            </a:r>
          </a:p>
          <a:p xmlns:a="http://schemas.openxmlformats.org/drawingml/2006/main">
            <a:r>
              <a:t>3    7420</a:t>
            </a:r>
          </a:p>
          <a:p xmlns:a="http://schemas.openxmlformats.org/drawingml/2006/main">
            <a:r>
              <a:t>4    7980</a:t>
            </a:r>
          </a:p>
          <a:p xmlns:a="http://schemas.openxmlformats.org/drawingml/2006/main">
            <a:r>
              <a:t>Name: kwh, dtype: int64</a:t>
            </a:r>
          </a:p>
          <a:p xmlns:a="http://schemas.openxmlformats.org/drawingml/2006/main">
            <a:r>
              <a:t>0    False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kwh, dtype: bool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Quoted names inside brackets select a named column; a True/False Series inside brackets selects rows. The question and the table must refer to matching row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table contains the selected rows. We only inspect it here; the original raw table remains unchanged. The count should equal the number of retained rows. The supplied threshold is strictly greater than 5000, so exactly 5000 is excluded.</a:t>
            </a:r>
          </a:p>
          <a:p xmlns:a="http://schemas.openxmlformats.org/drawingml/2006/main">
            <a:r>
              <a:t/>
            </a:r>
          </a:p>
          <a:p xmlns:a="http://schemas.openxmlformats.org/drawingml/2006/main">
            <a:r>
              <a:t>Result from the supplied example</a:t>
            </a:r>
          </a:p>
          <a:p xmlns:a="http://schemas.openxmlformats.org/drawingml/2006/main">
            <a:r>
              <a:t>meter_id     building        block    month   kwh  cost_ugx</a:t>
            </a:r>
          </a:p>
          <a:p xmlns:a="http://schemas.openxmlformats.org/drawingml/2006/main">
            <a:r>
              <a:t>1    M-001  Kabojja Lab  Engineering  2026-02  5310   3717000</a:t>
            </a:r>
          </a:p>
          <a:p xmlns:a="http://schemas.openxmlformats.org/drawingml/2006/main">
            <a:r>
              <a:t>2    M-001  Kabojja Lab  Engineering  2026-03  6140   4298000</a:t>
            </a:r>
          </a:p>
          <a:p xmlns:a="http://schemas.openxmlformats.org/drawingml/2006/main">
            <a:r>
              <a:t>3    M-002   Workshop A  Engineering  2026-01  7420   5194000</a:t>
            </a:r>
          </a:p>
          <a:p xmlns:a="http://schemas.openxmlformats.org/drawingml/2006/main">
            <a:r>
              <a:t>4    M-002   Workshop A  Engineering  2026-02  7980   5586000</a:t>
            </a:r>
          </a:p>
          <a:p xmlns:a="http://schemas.openxmlformats.org/drawingml/2006/main">
            <a:r>
              <a:t>5    M-002   Workshop A  Engineering  2026-03  8115   5680500</a:t>
            </a:r>
          </a:p>
          <a:p xmlns:a="http://schemas.openxmlformats.org/drawingml/2006/main">
            <a:r>
              <a:t>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maximum is a building label, not a row number. Group totals cover the months present in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Counting distinct labels</a:t>
            </a:r>
          </a:p>
          <a:p xmlns:a="http://schemas.openxmlformats.org/drawingml/2006/main">
            <a:r>
              <a:t>series.nunique() counts different recorded values, ignoring missing values by default. It counts categories rather than rows.</a:t>
            </a:r>
          </a:p>
          <a:p xmlns:a="http://schemas.openxmlformats.org/drawingml/2006/main">
            <a:r>
              <a:t/>
            </a:r>
          </a:p>
          <a:p xmlns:a="http://schemas.openxmlformats.org/drawingml/2006/main">
            <a:r>
              <a:t>Label of the largest value</a:t>
            </a:r>
          </a:p>
          <a:p xmlns:a="http://schemas.openxmlformats.org/drawingml/2006/main">
            <a:r>
              <a:t>series.idxmax() returns the label attached to the largest value. It does not return that value. If several entries tie, it returns the first such label.</a:t>
            </a:r>
          </a:p>
          <a:p xmlns:a="http://schemas.openxmlformats.org/drawingml/2006/main">
            <a:r>
              <a:t/>
            </a:r>
          </a:p>
          <a:p xmlns:a="http://schemas.openxmlformats.org/drawingml/2006/main">
            <a:r>
              <a:t>Grouping rows</a:t>
            </a:r>
          </a:p>
          <a:p xmlns:a="http://schemas.openxmlformats.org/drawingml/2006/main">
            <a:r>
              <a:t>table.groupby("label")["value"]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totals = raw.groupby("building")["kwh"].sum()</a:t>
            </a:r>
          </a:p>
          <a:p xmlns:a="http://schemas.openxmlformats.org/drawingml/2006/main">
            <a:r>
              <a:t>Group all source rows by building and add each group’s recorded energy.</a:t>
            </a:r>
          </a:p>
          <a:p xmlns:a="http://schemas.openxmlformats.org/drawingml/2006/main">
            <a:r>
              <a:t/>
            </a:r>
          </a:p>
          <a:p xmlns:a="http://schemas.openxmlformats.org/drawingml/2006/main">
            <a:r>
              <a:t>Line 2: print(totals)</a:t>
            </a:r>
          </a:p>
          <a:p xmlns:a="http://schemas.openxmlformats.org/drawingml/2006/main">
            <a:r>
              <a:t>Display totals. Read these values alongside their source column labels. The display does not change the calculation or source data.</a:t>
            </a:r>
          </a:p>
          <a:p xmlns:a="http://schemas.openxmlformats.org/drawingml/2006/main">
            <a:r>
              <a:t/>
            </a:r>
          </a:p>
          <a:p xmlns:a="http://schemas.openxmlformats.org/drawingml/2006/main">
            <a:r>
              <a:t>Line 3: print(raw["building"].nunique())</a:t>
            </a:r>
          </a:p>
          <a:p xmlns:a="http://schemas.openxmlformats.org/drawingml/2006/main">
            <a:r>
              <a:t>Display raw['building'].nunique(). Read these values alongside their source column labels. The display does not change the calculation or source data.</a:t>
            </a:r>
          </a:p>
          <a:p xmlns:a="http://schemas.openxmlformats.org/drawingml/2006/main">
            <a:r>
              <a:t/>
            </a:r>
          </a:p>
          <a:p xmlns:a="http://schemas.openxmlformats.org/drawingml/2006/main">
            <a:r>
              <a:t>Line 4: print(totals.idxmax())</a:t>
            </a:r>
          </a:p>
          <a:p xmlns:a="http://schemas.openxmlformats.org/drawingml/2006/main">
            <a:r>
              <a:t>Display totals.idxmax(). Read these values alongside their source column labels. The display does not change the calculation or source data.</a:t>
            </a:r>
          </a:p>
          <a:p xmlns:a="http://schemas.openxmlformats.org/drawingml/2006/main">
            <a:r>
              <a:t/>
            </a:r>
          </a:p>
          <a:p xmlns:a="http://schemas.openxmlformats.org/drawingml/2006/main">
            <a:r>
              <a:t>Reading the result</a:t>
            </a:r>
          </a:p>
          <a:p xmlns:a="http://schemas.openxmlformats.org/drawingml/2006/main">
            <a:r>
              <a:t>The labelled totals add energy over the recorded months. The distinct-label count is the number of buildings, and the final name identifies the largest total.</a:t>
            </a:r>
          </a:p>
          <a:p xmlns:a="http://schemas.openxmlformats.org/drawingml/2006/main">
            <a:r>
              <a:t/>
            </a:r>
          </a:p>
          <a:p xmlns:a="http://schemas.openxmlformats.org/drawingml/2006/main">
            <a:r>
              <a:t>Output from the supplied CSV (this cohort):</a:t>
            </a:r>
          </a:p>
          <a:p xmlns:a="http://schemas.openxmlformats.org/drawingml/2006/main">
            <a:r>
              <a:t>building</a:t>
            </a:r>
          </a:p>
          <a:p xmlns:a="http://schemas.openxmlformats.org/drawingml/2006/main">
            <a:r>
              <a:t>Admin Tower        7385</a:t>
            </a:r>
          </a:p>
          <a:p xmlns:a="http://schemas.openxmlformats.org/drawingml/2006/main">
            <a:r>
              <a:t>Hostel Block C    29530</a:t>
            </a:r>
          </a:p>
          <a:p xmlns:a="http://schemas.openxmlformats.org/drawingml/2006/main">
            <a:r>
              <a:t>Hostel Block D    26745</a:t>
            </a:r>
          </a:p>
          <a:p xmlns:a="http://schemas.openxmlformats.org/drawingml/2006/main">
            <a:r>
              <a:t>Kabojja Lab       16270</a:t>
            </a:r>
          </a:p>
          <a:p xmlns:a="http://schemas.openxmlformats.org/drawingml/2006/main">
            <a:r>
              <a:t>Lecture Hall 2     5685</a:t>
            </a:r>
          </a:p>
          <a:p xmlns:a="http://schemas.openxmlformats.org/drawingml/2006/main">
            <a:r>
              <a:t>Library            9650</a:t>
            </a:r>
          </a:p>
          <a:p xmlns:a="http://schemas.openxmlformats.org/drawingml/2006/main">
            <a:r>
              <a:t>Server Room       17205</a:t>
            </a:r>
          </a:p>
          <a:p xmlns:a="http://schemas.openxmlformats.org/drawingml/2006/main">
            <a:r>
              <a:t>Workshop A        23515</a:t>
            </a:r>
          </a:p>
          <a:p xmlns:a="http://schemas.openxmlformats.org/drawingml/2006/main">
            <a:r>
              <a:t>Name: kwh, dtype: int64</a:t>
            </a:r>
          </a:p>
          <a:p xmlns:a="http://schemas.openxmlformats.org/drawingml/2006/main">
            <a:r>
              <a:t>8</a:t>
            </a:r>
          </a:p>
          <a:p xmlns:a="http://schemas.openxmlformats.org/drawingml/2006/main">
            <a:r>
              <a:t>Hostel Block C</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Trace one building back to its source rows. pandas performs the grouping and addition.</a:t>
            </a:r>
          </a:p>
          <a:p xmlns:a="http://schemas.openxmlformats.org/drawingml/2006/main">
            <a:r>
              <a:t/>
            </a:r>
          </a:p>
          <a:p xmlns:a="http://schemas.openxmlformats.org/drawingml/2006/main">
            <a:r>
              <a:t>Complete worked example:</a:t>
            </a:r>
          </a:p>
          <a:p xmlns:a="http://schemas.openxmlformats.org/drawingml/2006/main">
            <a:r>
              <a:t>totals = raw.groupby("building")["kwh"].sum()</a:t>
            </a:r>
          </a:p>
          <a:p xmlns:a="http://schemas.openxmlformats.org/drawingml/2006/main">
            <a:r>
              <a:t>print(totals)</a:t>
            </a:r>
          </a:p>
          <a:p xmlns:a="http://schemas.openxmlformats.org/drawingml/2006/main">
            <a:r>
              <a:t>print(raw["building"].nunique())</a:t>
            </a:r>
          </a:p>
          <a:p xmlns:a="http://schemas.openxmlformats.org/drawingml/2006/main">
            <a:r>
              <a:t>print(totals.idxmax())</a:t>
            </a:r>
          </a:p>
          <a:p xmlns:a="http://schemas.openxmlformats.org/drawingml/2006/main">
            <a:r>
              <a:t/>
            </a:r>
          </a:p>
          <a:p xmlns:a="http://schemas.openxmlformats.org/drawingml/2006/main">
            <a:r>
              <a:t>Result from the supplied example</a:t>
            </a:r>
          </a:p>
          <a:p xmlns:a="http://schemas.openxmlformats.org/drawingml/2006/main">
            <a:r>
              <a:t>building</a:t>
            </a:r>
          </a:p>
          <a:p xmlns:a="http://schemas.openxmlformats.org/drawingml/2006/main">
            <a:r>
              <a:t>Admin Tower        7385</a:t>
            </a:r>
          </a:p>
          <a:p xmlns:a="http://schemas.openxmlformats.org/drawingml/2006/main">
            <a:r>
              <a:t>Hostel Block C    29530</a:t>
            </a:r>
          </a:p>
          <a:p xmlns:a="http://schemas.openxmlformats.org/drawingml/2006/main">
            <a:r>
              <a:t>Hostel Block D    26745</a:t>
            </a:r>
          </a:p>
          <a:p xmlns:a="http://schemas.openxmlformats.org/drawingml/2006/main">
            <a:r>
              <a:t>Kabojja Lab       16270</a:t>
            </a:r>
          </a:p>
          <a:p xmlns:a="http://schemas.openxmlformats.org/drawingml/2006/main">
            <a:r>
              <a:t>Lecture Hall 2     5685</a:t>
            </a:r>
          </a:p>
          <a:p xmlns:a="http://schemas.openxmlformats.org/drawingml/2006/main">
            <a:r>
              <a:t>Library            9650</a:t>
            </a:r>
          </a:p>
          <a:p xmlns:a="http://schemas.openxmlformats.org/drawingml/2006/main">
            <a:r>
              <a:t>Server Room       17205</a:t>
            </a:r>
          </a:p>
          <a:p xmlns:a="http://schemas.openxmlformats.org/drawingml/2006/main">
            <a:r>
              <a:t>Workshop A        23515</a:t>
            </a:r>
          </a:p>
          <a:p xmlns:a="http://schemas.openxmlformats.org/drawingml/2006/main">
            <a:r>
              <a:t>Name: kwh, dtype: int64</a:t>
            </a:r>
          </a:p>
          <a:p xmlns:a="http://schemas.openxmlformats.org/drawingml/2006/main">
            <a:r>
              <a:t>8</a:t>
            </a:r>
          </a:p>
          <a:p xmlns:a="http://schemas.openxmlformats.org/drawingml/2006/main">
            <a:r>
              <a:t>Hostel Block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zero denominator cannot define a unit rate. Filtering here is for this rate demonstration, not an instruction to delete the original observation.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or replacing a column</a:t>
            </a:r>
          </a:p>
          <a:p xmlns:a="http://schemas.openxmlformats.org/drawingml/2006/main">
            <a:r>
              <a:t>table["name"] = values assigns that column. An array follows row order. A Series aligns by row label, so keep labels paired with the intended observations.</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A separate working table</a:t>
            </a:r>
          </a:p>
          <a:p xmlns:a="http://schemas.openxmlformats.org/drawingml/2006/main">
            <a:r>
              <a:t>table.copy() creates a working copy. Assigning columns on this copy preserves the source table, so you can compare before and after.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priced = raw[raw["kwh"] &gt; 0].copy()</a:t>
            </a:r>
          </a:p>
          <a:p xmlns:a="http://schemas.openxmlformats.org/drawingml/2006/main">
            <a:r>
              <a:t>Select positive energy readings and copy them before calculating a unit rate.</a:t>
            </a:r>
          </a:p>
          <a:p xmlns:a="http://schemas.openxmlformats.org/drawingml/2006/main">
            <a:r>
              <a:t/>
            </a:r>
          </a:p>
          <a:p xmlns:a="http://schemas.openxmlformats.org/drawingml/2006/main">
            <a:r>
              <a:t>Line 2: priced["rate_ugx_per_kwh"] = priced["cost_ugx"] / priced["kwh"]</a:t>
            </a:r>
          </a:p>
          <a:p xmlns:a="http://schemas.openxmlformats.org/drawingml/2006/main">
            <a:r>
              <a:t>Divide each recorded cost by its paired positive energy reading. The new column has units UGX/kWh.</a:t>
            </a:r>
          </a:p>
          <a:p xmlns:a="http://schemas.openxmlformats.org/drawingml/2006/main">
            <a:r>
              <a:t/>
            </a:r>
          </a:p>
          <a:p xmlns:a="http://schemas.openxmlformats.org/drawingml/2006/main">
            <a:r>
              <a:t>Line 3: print(priced[["building", "kwh", "cost_ugx", "rate_ugx_per_kwh"]].head())</a:t>
            </a:r>
          </a:p>
          <a:p xmlns:a="http://schemas.openxmlformats.org/drawingml/2006/main">
            <a:r>
              <a:t>Display priced[['building', 'kwh', 'cost_ugx', 'rate_ugx_per_kwh']].head(). Read these values alongside their source column labels. The display does not change the calculation or source data.</a:t>
            </a:r>
          </a:p>
          <a:p xmlns:a="http://schemas.openxmlformats.org/drawingml/2006/main">
            <a:r>
              <a:t/>
            </a:r>
          </a:p>
          <a:p xmlns:a="http://schemas.openxmlformats.org/drawingml/2006/main">
            <a:r>
              <a:t>Reading the result</a:t>
            </a:r>
          </a:p>
          <a:p xmlns:a="http://schemas.openxmlformats.org/drawingml/2006/main">
            <a:r>
              <a:t>For any displayed row, divide cost_ugx by kwh to reproduce the rate. Compare rates only where energy is positive.</a:t>
            </a:r>
          </a:p>
          <a:p xmlns:a="http://schemas.openxmlformats.org/drawingml/2006/main">
            <a:r>
              <a:t/>
            </a:r>
          </a:p>
          <a:p xmlns:a="http://schemas.openxmlformats.org/drawingml/2006/main">
            <a:r>
              <a:t>Output from the supplied CSV (this cohort):</a:t>
            </a:r>
          </a:p>
          <a:p xmlns:a="http://schemas.openxmlformats.org/drawingml/2006/main">
            <a:r>
              <a:t>      building   kwh  cost_ugx  rate_ugx_per_kwh</a:t>
            </a:r>
          </a:p>
          <a:p xmlns:a="http://schemas.openxmlformats.org/drawingml/2006/main">
            <a:r>
              <a:t>0  Kabojja Lab  4820   3374000             700.0</a:t>
            </a:r>
          </a:p>
          <a:p xmlns:a="http://schemas.openxmlformats.org/drawingml/2006/main">
            <a:r>
              <a:t>1  Kabojja Lab  5310   3717000             700.0</a:t>
            </a:r>
          </a:p>
          <a:p xmlns:a="http://schemas.openxmlformats.org/drawingml/2006/main">
            <a:r>
              <a:t>2  Kabojja Lab  6140   4298000             700.0</a:t>
            </a:r>
          </a:p>
          <a:p xmlns:a="http://schemas.openxmlformats.org/drawingml/2006/main">
            <a:r>
              <a:t>3   Workshop A  7420   5194000             700.0</a:t>
            </a:r>
          </a:p>
          <a:p xmlns:a="http://schemas.openxmlformats.org/drawingml/2006/main">
            <a:r>
              <a:t>4   Workshop A  7980   5586000             700.0</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The two columns come from the same source row. Double brackets select a list of columns in the requested display order.</a:t>
            </a:r>
          </a:p>
          <a:p xmlns:a="http://schemas.openxmlformats.org/drawingml/2006/main">
            <a:r>
              <a:t/>
            </a:r>
          </a:p>
          <a:p xmlns:a="http://schemas.openxmlformats.org/drawingml/2006/main">
            <a:r>
              <a:t>Complete worked example:</a:t>
            </a:r>
          </a:p>
          <a:p xmlns:a="http://schemas.openxmlformats.org/drawingml/2006/main">
            <a:r>
              <a:t>priced = raw[raw["kwh"] &gt; 0].copy()</a:t>
            </a:r>
          </a:p>
          <a:p xmlns:a="http://schemas.openxmlformats.org/drawingml/2006/main">
            <a:r>
              <a:t>priced["rate_ugx_per_kwh"] = priced["cost_ugx"] / priced["kwh"]</a:t>
            </a:r>
          </a:p>
          <a:p xmlns:a="http://schemas.openxmlformats.org/drawingml/2006/main">
            <a:r>
              <a:t>print(priced[["building", "kwh", "cost_ugx", "rate_ugx_per_kwh"]].head())</a:t>
            </a:r>
          </a:p>
          <a:p xmlns:a="http://schemas.openxmlformats.org/drawingml/2006/main">
            <a:r>
              <a:t/>
            </a:r>
          </a:p>
          <a:p xmlns:a="http://schemas.openxmlformats.org/drawingml/2006/main">
            <a:r>
              <a:t>Result from the supplied example</a:t>
            </a:r>
          </a:p>
          <a:p xmlns:a="http://schemas.openxmlformats.org/drawingml/2006/main">
            <a:r>
              <a:t>building   kwh  cost_ugx  rate_ugx_per_kwh</a:t>
            </a:r>
          </a:p>
          <a:p xmlns:a="http://schemas.openxmlformats.org/drawingml/2006/main">
            <a:r>
              <a:t>0  Kabojja Lab  4820   3374000             700.0</a:t>
            </a:r>
          </a:p>
          <a:p xmlns:a="http://schemas.openxmlformats.org/drawingml/2006/main">
            <a:r>
              <a:t>1  Kabojja Lab  5310   3717000             700.0</a:t>
            </a:r>
          </a:p>
          <a:p xmlns:a="http://schemas.openxmlformats.org/drawingml/2006/main">
            <a:r>
              <a:t>2  Kabojja Lab  6140   4298000             700.0</a:t>
            </a:r>
          </a:p>
          <a:p xmlns:a="http://schemas.openxmlformats.org/drawingml/2006/main">
            <a:r>
              <a:t>3   Workshop A  7420   5194000             700.0</a:t>
            </a:r>
          </a:p>
          <a:p xmlns:a="http://schemas.openxmlformats.org/drawingml/2006/main">
            <a:r>
              <a:t>4   Workshop A  7980   5586000             700.0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assignment</a:t>
            </a:r>
          </a:p>
          <a:p xmlns:a="http://schemas.openxmlformats.org/drawingml/2006/main">
            <a:r>
              <a:t>CML3111, Week 5, slide 34</a:t>
            </a:r>
          </a:p>
          <a:p xmlns:a="http://schemas.openxmlformats.org/drawingml/2006/main">
            <a:r>
              <a:t/>
            </a:r>
          </a:p>
          <a:p xmlns:a="http://schemas.openxmlformats.org/drawingml/2006/main">
            <a:r>
              <a:t>Explanation to give</a:t>
            </a:r>
          </a:p>
          <a:p xmlns:a="http://schemas.openxmlformats.org/drawingml/2006/main">
            <a:r>
              <a:t>A5 uses the supplied campus_energy.csv and six named pandas outputs. Start with the loaded table, then create the rate column before taking the filtered subset.</a:t>
            </a:r>
          </a:p>
          <a:p xmlns:a="http://schemas.openxmlformats.org/drawingml/2006/main">
            <a:r>
              <a:t/>
            </a:r>
          </a:p>
          <a:p xmlns:a="http://schemas.openxmlformats.org/drawingml/2006/main">
            <a:r>
              <a:t>Worked illustration / lecturer answer</a:t>
            </a:r>
          </a:p>
          <a:p xmlns:a="http://schemas.openxmlformats.org/drawingml/2006/main">
            <a:r>
              <a:t>Distinguish distinct meter count, a mean rate and the building with greatest total energy. These are three different questions about the same table.</a:t>
            </a:r>
          </a:p>
          <a:p xmlns:a="http://schemas.openxmlformats.org/drawingml/2006/main">
            <a:r>
              <a:t/>
            </a:r>
          </a:p>
          <a:p xmlns:a="http://schemas.openxmlformats.org/drawingml/2006/main">
            <a:r>
              <a:t>Misconception to address</a:t>
            </a:r>
          </a:p>
          <a:p xmlns:a="http://schemas.openxmlformats.org/drawingml/2006/main">
            <a:r>
              <a:t>Return the exact requested values in one completed notebook. The learner does not upload data, ZIPs, helper scripts or a separate report for A5.</a:t>
            </a:r>
          </a:p>
          <a:p xmlns:a="http://schemas.openxmlformats.org/drawingml/2006/main">
            <a:r>
              <a:t/>
            </a:r>
          </a:p>
          <a:p xmlns:a="http://schemas.openxmlformats.org/drawingml/2006/main">
            <a:r>
              <a:t>On this slide</a:t>
            </a:r>
          </a:p>
          <a:p xmlns:a="http://schemas.openxmlformats.org/drawingml/2006/main">
            <a:r>
              <a:t>Open W05_student.ipynb.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Restart and run all cells, then save the completed notebook.</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q1: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q1: 3 marks</a:t>
            </a:r>
          </a:p>
          <a:p xmlns:a="http://schemas.openxmlformats.org/drawingml/2006/main">
            <a:r>
              <a:t/>
            </a:r>
          </a:p>
          <a:p xmlns:a="http://schemas.openxmlformats.org/drawingml/2006/main">
            <a:r>
              <a:t>Load campus_energy.csv into a DataFrame called df.</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q2: 3 marks</a:t>
            </a:r>
          </a:p>
          <a:p xmlns:a="http://schemas.openxmlformats.org/drawingml/2006/main">
            <a:r>
              <a:t/>
            </a:r>
          </a:p>
          <a:p xmlns:a="http://schemas.openxmlformats.org/drawingml/2006/main">
            <a:r>
              <a:t>Set n_meters to the number of distinct meters in the file.</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q3: 4 marks</a:t>
            </a:r>
          </a:p>
          <a:p xmlns:a="http://schemas.openxmlformats.org/drawingml/2006/main">
            <a:r>
              <a:t/>
            </a:r>
          </a:p>
          <a:p xmlns:a="http://schemas.openxmlformats.org/drawingml/2006/main">
            <a:r>
              <a:t>Add a column cost_per_kwh to df, equal to cost_ugx / kwh.</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q4: 4 marks</a:t>
            </a:r>
          </a:p>
          <a:p xmlns:a="http://schemas.openxmlformats.org/drawingml/2006/main">
            <a:r>
              <a:t/>
            </a:r>
          </a:p>
          <a:p xmlns:a="http://schemas.openxmlformats.org/drawingml/2006/main">
            <a:r>
              <a:t>Set high_use to the rows of df where kwh is greater than 5000.</a:t>
            </a:r>
          </a:p>
          <a:p xmlns:a="http://schemas.openxmlformats.org/drawingml/2006/main">
            <a:r>
              <a:t/>
            </a:r>
          </a:p>
          <a:p xmlns:a="http://schemas.openxmlformats.org/drawingml/2006/main">
            <a:r>
              <a:t>Do this after q3 so the derived column comes along.</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q5: 3 marks</a:t>
            </a:r>
          </a:p>
          <a:p xmlns:a="http://schemas.openxmlformats.org/drawingml/2006/main">
            <a:r>
              <a:t/>
            </a:r>
          </a:p>
          <a:p xmlns:a="http://schemas.openxmlformats.org/drawingml/2006/main">
            <a:r>
              <a:t>Set mean_cost_per_kwh to the mean of the cost_per_kwh column.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q6: 3 marks</a:t>
            </a:r>
          </a:p>
          <a:p xmlns:a="http://schemas.openxmlformats.org/drawingml/2006/main">
            <a:r>
              <a:t/>
            </a:r>
          </a:p>
          <a:p xmlns:a="http://schemas.openxmlformats.org/drawingml/2006/main">
            <a:r>
              <a:t>Set peak_building to the name of the building with the highest total kwh.</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Pandas investigation submission</a:t>
            </a:r>
          </a:p>
          <a:p xmlns:a="http://schemas.openxmlformats.org/drawingml/2006/main">
            <a:r>
              <a:t>CML3111, Week 5, slide 41</a:t>
            </a:r>
          </a:p>
          <a:p xmlns:a="http://schemas.openxmlformats.org/drawingml/2006/main">
            <a:r>
              <a:t/>
            </a:r>
          </a:p>
          <a:p xmlns:a="http://schemas.openxmlformats.org/drawingml/2006/main">
            <a:r>
              <a:t>Explanation to give</a:t>
            </a:r>
          </a:p>
          <a:p xmlns:a="http://schemas.openxmlformats.org/drawingml/2006/main">
            <a:r>
              <a:t>This slide hands over CML3111 W05.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2026-10-16T11:00:00+03:00.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07 Oct 2026, 11:00 Kampala</a:t>
            </a:r>
          </a:p>
          <a:p xmlns:a="http://schemas.openxmlformats.org/drawingml/2006/main">
            <a:r>
              <a:t/>
            </a:r>
          </a:p>
          <a:p xmlns:a="http://schemas.openxmlformats.org/drawingml/2006/main">
            <a:r>
              <a:t>Deadline: 16 Oct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Project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CML3111, Week 5, slide 42</a:t>
            </a:r>
          </a:p>
          <a:p xmlns:a="http://schemas.openxmlformats.org/drawingml/2006/main">
            <a:r>
              <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data analysis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30 Oct 2026, 11:00 Kampala</a:t>
            </a:r>
          </a:p>
          <a:p xmlns:a="http://schemas.openxmlformats.org/drawingml/2006/main">
            <a:r>
              <a:t/>
            </a:r>
          </a:p>
          <a:p xmlns:a="http://schemas.openxmlformats.org/drawingml/2006/main">
            <a:r>
              <a:t>Continue to</a:t>
            </a:r>
          </a:p>
          <a:p xmlns:a="http://schemas.openxmlformats.org/drawingml/2006/main">
            <a:r>
              <a:t>Week 5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5 quiz</a:t>
            </a:r>
          </a:p>
          <a:p xmlns:a="http://schemas.openxmlformats.org/drawingml/2006/main">
            <a:r>
              <a:t>CML3111, Week 5, slide 43</a:t>
            </a:r>
          </a:p>
          <a:p xmlns:a="http://schemas.openxmlformats.org/drawingml/2006/main">
            <a:r>
              <a:t/>
            </a:r>
          </a:p>
          <a:p xmlns:a="http://schemas.openxmlformats.org/drawingml/2006/main">
            <a:r>
              <a:t>Explanation to give</a:t>
            </a:r>
          </a:p>
          <a:p xmlns:a="http://schemas.openxmlformats.org/drawingml/2006/main">
            <a:r>
              <a:t>This is the CML3111 Week 5 quiz. The student link opens the response form; it does not activate its window. In Quiz Controls use open_W5_CML3111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Week 5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5 support</a:t>
            </a:r>
          </a:p>
          <a:p xmlns:a="http://schemas.openxmlformats.org/drawingml/2006/main">
            <a:r>
              <a:t>CML3111, Week 5, slide 44</a:t>
            </a:r>
          </a:p>
          <a:p xmlns:a="http://schemas.openxmlformats.org/drawingml/2006/main">
            <a:r>
              <a:t/>
            </a:r>
          </a:p>
          <a:p xmlns:a="http://schemas.openxmlformats.org/drawingml/2006/main">
            <a:r>
              <a:t>Explanation to give</a:t>
            </a:r>
          </a:p>
          <a:p xmlns:a="http://schemas.openxmlformats.org/drawingml/2006/main">
            <a:r>
              <a:t>This is a scheduling notice for the Friday cohorts. Confirm the faculty-approved replacement teaching arrangement before announcing details.</a:t>
            </a:r>
          </a:p>
          <a:p xmlns:a="http://schemas.openxmlformats.org/drawingml/2006/main">
            <a:r>
              <a:t/>
            </a:r>
          </a:p>
          <a:p xmlns:a="http://schemas.openxmlformats.org/drawingml/2006/main">
            <a:r>
              <a:t>Worked illustration / lecturer answer</a:t>
            </a:r>
          </a:p>
          <a:p xmlns:a="http://schemas.openxmlformats.org/drawingml/2006/main">
            <a:r>
              <a:t>Provide a supported explanation of the pandas examples and an opportunity to ask questions. Begin the following session by revisiting column selection, masks and group summaries.</a:t>
            </a:r>
          </a:p>
          <a:p xmlns:a="http://schemas.openxmlformats.org/drawingml/2006/main">
            <a:r>
              <a:t/>
            </a:r>
          </a:p>
          <a:p xmlns:a="http://schemas.openxmlformats.org/drawingml/2006/main">
            <a:r>
              <a:t>Misconception to address</a:t>
            </a:r>
          </a:p>
          <a:p xmlns:a="http://schemas.openxmlformats.org/drawingml/2006/main">
            <a:r>
              <a:t>A published upload deadline is separate from a replacement teaching session. Do not invent a session time or treat video-only homework as sufficient replacement support.</a:t>
            </a:r>
          </a:p>
          <a:p xmlns:a="http://schemas.openxmlformats.org/drawingml/2006/main">
            <a:r>
              <a:t/>
            </a:r>
          </a:p>
          <a:p xmlns:a="http://schemas.openxmlformats.org/drawingml/2006/main">
            <a:r>
              <a:t>On this slide</a:t>
            </a:r>
          </a:p>
          <a:p xmlns:a="http://schemas.openxmlformats.org/drawingml/2006/main">
            <a:r>
              <a:t>Friday 9 October has no normal class.</a:t>
            </a:r>
          </a:p>
          <a:p xmlns:a="http://schemas.openxmlformats.org/drawingml/2006/main">
            <a:r>
              <a:t/>
            </a:r>
          </a:p>
          <a:p xmlns:a="http://schemas.openxmlformats.org/drawingml/2006/main">
            <a:r>
              <a:t>The lecturer will announce a supported replacement session or recording with a clinic.</a:t>
            </a:r>
          </a:p>
          <a:p xmlns:a="http://schemas.openxmlformats.org/drawingml/2006/main">
            <a:r>
              <a:t/>
            </a:r>
          </a:p>
          <a:p xmlns:a="http://schemas.openxmlformats.org/drawingml/2006/main">
            <a:r>
              <a:t>Week 6 starts with 30 minutes of consolidation.</a:t>
            </a:r>
          </a:p>
          <a:p xmlns:a="http://schemas.openxmlformats.org/drawingml/2006/main">
            <a:r>
              <a:t/>
            </a:r>
          </a:p>
          <a:p xmlns:a="http://schemas.openxmlformats.org/drawingml/2006/main">
            <a:r>
              <a:t>Continue to</a:t>
            </a:r>
          </a:p>
          <a:p xmlns:a="http://schemas.openxmlformats.org/drawingml/2006/main">
            <a:r>
              <a:t>Revision and submission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CML3111, Week 5, slide 45</a:t>
            </a:r>
          </a:p>
          <a:p xmlns:a="http://schemas.openxmlformats.org/drawingml/2006/main">
            <a:r>
              <a:t/>
            </a:r>
          </a:p>
          <a:p xmlns:a="http://schemas.openxmlformats.org/drawingml/2006/main">
            <a:r>
              <a:t>Explanation to give</a:t>
            </a:r>
          </a:p>
          <a:p xmlns:a="http://schemas.openxmlformats.org/drawingml/2006/main">
            <a:r>
              <a:t>pandas performs table operations that build on the lists, records and loops already taught. Explain the row, column and unit before using an operation.</a:t>
            </a:r>
          </a:p>
          <a:p xmlns:a="http://schemas.openxmlformats.org/drawingml/2006/main">
            <a:r>
              <a:t/>
            </a:r>
          </a:p>
          <a:p xmlns:a="http://schemas.openxmlformats.org/drawingml/2006/main">
            <a:r>
              <a:t>Worked illustration / lecturer answer</a:t>
            </a:r>
          </a:p>
          <a:p xmlns:a="http://schemas.openxmlformats.org/drawingml/2006/main">
            <a:r>
              <a:t>A filter retains matching rows. groupby gathers matching labels. For A:2, A:3, B:4, the totals are A:5 and B:4.</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explain which observations a filter keeps and what a grouped total means.</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8cbf09da794d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53a99eaa9a43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b9f171f4b347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fa465191cf42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739254cd0247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374530e60f4f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6BCDA8-930E-43FE-9F80-5CEC8449462A}"/>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B08958-FEBD-4A2F-914A-04891EE36D23}"/>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AFAF53-476E-45D7-A7F6-EAD1A48EB342}"/>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0E9726-1A11-4409-B764-4C02BA1ECCF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F5ED3D-1A0B-4E3A-88A9-E2E189F57923}"/>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F9ED19-078E-4A5F-B054-B7CFCB6CA27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BBB2D8-26DD-4696-9297-D9A01AE538B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7B5A39-FDC2-45E2-B09D-CDAF6519F8D0}"/>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DC152A-DBA1-4EB2-9D6F-32DF516EF8D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6E3778-8688-414C-8256-F559DE0C4F3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75abfd76e24f0c" /><Relationship Type="http://schemas.openxmlformats.org/officeDocument/2006/relationships/slideLayout" Target="/ppt/slideLayouts/slideLayout1.xml" Id="R949238d9f35e4503" /><Relationship Type="http://schemas.openxmlformats.org/officeDocument/2006/relationships/slideLayout" Target="/ppt/slideLayouts/slideLayout2.xml" Id="Ra5242b6df88046a2" /><Relationship Type="http://schemas.openxmlformats.org/officeDocument/2006/relationships/slideLayout" Target="/ppt/slideLayouts/slideLayout3.xml" Id="Rd9fcd1abdbc24ab0" /><Relationship Type="http://schemas.openxmlformats.org/officeDocument/2006/relationships/slideLayout" Target="/ppt/slideLayouts/slideLayout4.xml" Id="R6d4819a47287413b" /><Relationship Type="http://schemas.openxmlformats.org/officeDocument/2006/relationships/slideLayout" Target="/ppt/slideLayouts/slideLayout5.xml" Id="R996328a393234d6b" /><Relationship Type="http://schemas.openxmlformats.org/officeDocument/2006/relationships/slideLayout" Target="/ppt/slideLayouts/slideLayout6.xml" Id="R83034cbf6f8141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9238d9f35e4503"/>
    <p:sldLayoutId xmlns:r="http://schemas.openxmlformats.org/officeDocument/2006/relationships" id="2147483650" r:id="Ra5242b6df88046a2"/>
    <p:sldLayoutId xmlns:r="http://schemas.openxmlformats.org/officeDocument/2006/relationships" id="2147483651" r:id="Rd9fcd1abdbc24ab0"/>
    <p:sldLayoutId xmlns:r="http://schemas.openxmlformats.org/officeDocument/2006/relationships" id="2147483652" r:id="R6d4819a47287413b"/>
    <p:sldLayoutId xmlns:r="http://schemas.openxmlformats.org/officeDocument/2006/relationships" id="2147483653" r:id="R996328a393234d6b"/>
    <p:sldLayoutId xmlns:r="http://schemas.openxmlformats.org/officeDocument/2006/relationships" id="2147483654" r:id="R83034cbf6f8141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4f5d7295be4de4" /><Relationship Type="http://schemas.openxmlformats.org/officeDocument/2006/relationships/image" Target="/ppt/media/image.png" Id="R28176966433b4a25" /><Relationship Type="http://schemas.openxmlformats.org/officeDocument/2006/relationships/notesSlide" Target="/ppt/notesSlides/notesSlide1.xml" Id="Rdec777dada274c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ea932540ab475c" /><Relationship Type="http://schemas.openxmlformats.org/officeDocument/2006/relationships/notesSlide" Target="/ppt/notesSlides/notesSlide2.xml" Id="R20fa4408586c42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9adb15696e4a6a" /><Relationship Type="http://schemas.openxmlformats.org/officeDocument/2006/relationships/notesSlide" Target="/ppt/notesSlides/notesSlide3.xml" Id="R109bcf80826948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96e7d277014089" /><Relationship Type="http://schemas.openxmlformats.org/officeDocument/2006/relationships/notesSlide" Target="/ppt/notesSlides/notesSlide4.xml" Id="Rb37d58da4e1946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6e41f3f6634ee2" /><Relationship Type="http://schemas.openxmlformats.org/officeDocument/2006/relationships/notesSlide" Target="/ppt/notesSlides/notesSlide5.xml" Id="R4c644dcc178d40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35c5f739c84880" /><Relationship Type="http://schemas.openxmlformats.org/officeDocument/2006/relationships/notesSlide" Target="/ppt/notesSlides/notesSlide6.xml" Id="R8852453a0de646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20068b4989475a" /><Relationship Type="http://schemas.openxmlformats.org/officeDocument/2006/relationships/notesSlide" Target="/ppt/notesSlides/notesSlide7.xml" Id="R6041e107712d44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5022474f204811" /><Relationship Type="http://schemas.openxmlformats.org/officeDocument/2006/relationships/notesSlide" Target="/ppt/notesSlides/notesSlide8.xml" Id="R62c095ee739641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e50b29e32144c0" /><Relationship Type="http://schemas.openxmlformats.org/officeDocument/2006/relationships/notesSlide" Target="/ppt/notesSlides/notesSlide9.xml" Id="R53b2193410d645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aeb7521e4bb42f7" /><Relationship Type="http://schemas.openxmlformats.org/officeDocument/2006/relationships/notesSlide" Target="/ppt/notesSlides/notesSlide10.xml" Id="Rb92ca21c0c4147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1ee6af62c64c31" /><Relationship Type="http://schemas.openxmlformats.org/officeDocument/2006/relationships/notesSlide" Target="/ppt/notesSlides/notesSlide11.xml" Id="R522054d3826b49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0992ee5b334c95" /><Relationship Type="http://schemas.openxmlformats.org/officeDocument/2006/relationships/notesSlide" Target="/ppt/notesSlides/notesSlide12.xml" Id="R99e92ad0eb6041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c55127acba641e4" /><Relationship Type="http://schemas.openxmlformats.org/officeDocument/2006/relationships/notesSlide" Target="/ppt/notesSlides/notesSlide13.xml" Id="Re02cb92741fb4d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a76feaad484373" /><Relationship Type="http://schemas.openxmlformats.org/officeDocument/2006/relationships/notesSlide" Target="/ppt/notesSlides/notesSlide14.xml" Id="Rbd4c1436c06146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1b5db75c9aa495c" /><Relationship Type="http://schemas.openxmlformats.org/officeDocument/2006/relationships/notesSlide" Target="/ppt/notesSlides/notesSlide15.xml" Id="Rc9e54eb283a044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6e009aaef804203" /><Relationship Type="http://schemas.openxmlformats.org/officeDocument/2006/relationships/notesSlide" Target="/ppt/notesSlides/notesSlide16.xml" Id="R5dbb5097ee4045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892c6c5e9b4d7f" /><Relationship Type="http://schemas.openxmlformats.org/officeDocument/2006/relationships/notesSlide" Target="/ppt/notesSlides/notesSlide17.xml" Id="R0c392bf40c314f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76731a719934470" /><Relationship Type="http://schemas.openxmlformats.org/officeDocument/2006/relationships/notesSlide" Target="/ppt/notesSlides/notesSlide18.xml" Id="Ra65c03ce350043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e3a1253d31a4da2" /><Relationship Type="http://schemas.openxmlformats.org/officeDocument/2006/relationships/notesSlide" Target="/ppt/notesSlides/notesSlide19.xml" Id="Re300a52a58e54f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c11f129e23e4b30" /><Relationship Type="http://schemas.openxmlformats.org/officeDocument/2006/relationships/notesSlide" Target="/ppt/notesSlides/notesSlide20.xml" Id="R947d1beb239648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6c2e2aed8bf4bbe" /><Relationship Type="http://schemas.openxmlformats.org/officeDocument/2006/relationships/notesSlide" Target="/ppt/notesSlides/notesSlide21.xml" Id="R59960db8db5f4e4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c630f3944c24996" /><Relationship Type="http://schemas.openxmlformats.org/officeDocument/2006/relationships/notesSlide" Target="/ppt/notesSlides/notesSlide22.xml" Id="Ra28053de5b3f4f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8375ccad4824614" /><Relationship Type="http://schemas.openxmlformats.org/officeDocument/2006/relationships/notesSlide" Target="/ppt/notesSlides/notesSlide23.xml" Id="R3c94c2277eb340d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ab2227de0e64a61" /><Relationship Type="http://schemas.openxmlformats.org/officeDocument/2006/relationships/notesSlide" Target="/ppt/notesSlides/notesSlide24.xml" Id="R71eedba6b4e947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4902b8f4b2a4e95" /><Relationship Type="http://schemas.openxmlformats.org/officeDocument/2006/relationships/notesSlide" Target="/ppt/notesSlides/notesSlide25.xml" Id="R9d02c68e0d1e4fd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c5f174829184d9f" /><Relationship Type="http://schemas.openxmlformats.org/officeDocument/2006/relationships/notesSlide" Target="/ppt/notesSlides/notesSlide26.xml" Id="R21bdc4f852f342f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db8f7995ddc42b9" /><Relationship Type="http://schemas.openxmlformats.org/officeDocument/2006/relationships/notesSlide" Target="/ppt/notesSlides/notesSlide27.xml" Id="R7f6729237b224c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fe0435a97da4002" /><Relationship Type="http://schemas.openxmlformats.org/officeDocument/2006/relationships/notesSlide" Target="/ppt/notesSlides/notesSlide28.xml" Id="R596b502c8b34422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5bcaf1c1ce34b83" /><Relationship Type="http://schemas.openxmlformats.org/officeDocument/2006/relationships/notesSlide" Target="/ppt/notesSlides/notesSlide29.xml" Id="R9aff6cb7793f44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4550c5462c1462f" /><Relationship Type="http://schemas.openxmlformats.org/officeDocument/2006/relationships/hyperlink" Target="https://docs.google.com/forms/d/e/1FAIpQLSea9Y9pC-JeaVEPpu4prViKZaOHF8cmPczko8iGDiPmr73I2A/viewform" TargetMode="External" Id="R268c8052be2849db" /><Relationship Type="http://schemas.openxmlformats.org/officeDocument/2006/relationships/notesSlide" Target="/ppt/notesSlides/notesSlide30.xml" Id="Ra22efbc5ac3f45e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8bc3491c2ba466c" /><Relationship Type="http://schemas.openxmlformats.org/officeDocument/2006/relationships/notesSlide" Target="/ppt/notesSlides/notesSlide31.xml" Id="Ra5ff5c8a6a074e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7d7d483e96841a4" /><Relationship Type="http://schemas.openxmlformats.org/officeDocument/2006/relationships/image" Target="/ppt/media/image2.png" Id="R321c807bf1464a88" /><Relationship Type="http://schemas.openxmlformats.org/officeDocument/2006/relationships/hyperlink" Target="https://forms.gle/a2TPHUcEF6sacSnr6" TargetMode="External" Id="R62921acc93e5429f" /><Relationship Type="http://schemas.openxmlformats.org/officeDocument/2006/relationships/notesSlide" Target="/ppt/notesSlides/notesSlide32.xml" Id="Raaf6387214ab40d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282c95a9c564a99" /><Relationship Type="http://schemas.openxmlformats.org/officeDocument/2006/relationships/notesSlide" Target="/ppt/notesSlides/notesSlide33.xml" Id="R51982c0f266043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759bc56fe1c417c" /><Relationship Type="http://schemas.openxmlformats.org/officeDocument/2006/relationships/notesSlide" Target="/ppt/notesSlides/notesSlide34.xml" Id="R9685cc102f0849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628BA3C-78B1-41C0-8F43-917C8706381D}"/>
              </a:ext>
            </a:extLst>
          </p:cNvPr>
          <p:cNvPicPr>
            <a:picLocks xmlns:a="http://schemas.openxmlformats.org/drawingml/2006/main" noChangeAspect="1"/>
          </p:cNvPicPr>
          <p:nvPr/>
        </p:nvPicPr>
        <p:blipFill>
          <a:blip xmlns:r="http://schemas.openxmlformats.org/officeDocument/2006/relationships" xmlns:a="http://schemas.openxmlformats.org/drawingml/2006/main" r:embed="R28176966433b4a25"/>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800C0E-A25A-46FD-B1F6-24D910FA24EE}"/>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9B59F6-F719-4A94-82F9-B52342B681F9}"/>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5</a:t>
            </a:r>
          </a:p>
        </p:txBody>
      </p:sp>
      <p:sp>
        <p:nvSpPr>
          <p:cNvPr id="4" name="">
            <a:extLst xmlns:a="http://schemas.openxmlformats.org/drawingml/2006/main">
              <a:ext uri="{FF2B5EF4-FFF2-40B4-BE49-F238E27FC236}">
                <a16:creationId xmlns:a16="http://schemas.microsoft.com/office/drawing/2014/main" id="{9CB80784-EF19-432B-8C5D-4194752F56E9}"/>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Using pandas to answer table questions</a:t>
            </a:r>
          </a:p>
        </p:txBody>
      </p:sp>
      <p:sp>
        <p:nvSpPr>
          <p:cNvPr id="5" name="">
            <a:extLst xmlns:a="http://schemas.openxmlformats.org/drawingml/2006/main">
              <a:ext uri="{FF2B5EF4-FFF2-40B4-BE49-F238E27FC236}">
                <a16:creationId xmlns:a16="http://schemas.microsoft.com/office/drawing/2014/main" id="{BBBDD6E5-D057-4466-AE3F-CC01C1D25491}"/>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BEF9E328-E3EC-4997-8F48-44A4F2C71B34}"/>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09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1083290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438214-26DC-405D-9F84-34426B6428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64AB5F-868F-4516-82F7-0DA1F5684A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183A1401-DBD1-4F90-8C7B-B0B0779A85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7C48EEDD-7640-4A5C-A069-DD84D6A1F587}"/>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05C0F9-3315-4491-9D3F-E8189F736933}"/>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C7C8D28C-D205-4BDF-96A5-4C3CD349D0F3}"/>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 labelled table and select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column summaries and grouped totals.</a:t>
            </a:r>
          </a:p>
        </p:txBody>
      </p:sp>
      <p:sp>
        <p:nvSpPr>
          <p:cNvPr id="7" name="">
            <a:extLst xmlns:a="http://schemas.openxmlformats.org/drawingml/2006/main">
              <a:ext uri="{FF2B5EF4-FFF2-40B4-BE49-F238E27FC236}">
                <a16:creationId xmlns:a16="http://schemas.microsoft.com/office/drawing/2014/main" id="{74C103DC-B688-4FDB-B65C-9296E5C097EA}"/>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9D07F351-6B08-42E9-ABD7-1305ABE10EEB}"/>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which observations a filter keeps and what a grouped total means.</a:t>
            </a:r>
          </a:p>
        </p:txBody>
      </p:sp>
      <p:sp>
        <p:nvSpPr>
          <p:cNvPr id="9" name="">
            <a:extLst xmlns:a="http://schemas.openxmlformats.org/drawingml/2006/main">
              <a:ext uri="{FF2B5EF4-FFF2-40B4-BE49-F238E27FC236}">
                <a16:creationId xmlns:a16="http://schemas.microsoft.com/office/drawing/2014/main" id="{18BDEB1B-1E2B-43F9-99C6-DF75223575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a:t>
            </a:r>
          </a:p>
        </p:txBody>
      </p:sp>
    </p:spTree>
    <p:extLst>
      <p:ext uri="{BB962C8B-B14F-4D97-AF65-F5344CB8AC3E}">
        <p14:creationId xmlns:p14="http://schemas.microsoft.com/office/powerpoint/2010/main" val="12650600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8CF11E-76EE-49B6-8C56-0593636275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A1ECA3-FB7F-46BD-9858-1FBF01C541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0FF508A-C54B-4268-90CF-23D63B1FA7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DataFrame and column names</a:t>
            </a:r>
          </a:p>
        </p:txBody>
      </p:sp>
      <p:sp>
        <p:nvSpPr>
          <p:cNvPr id="4" name="">
            <a:extLst xmlns:a="http://schemas.openxmlformats.org/drawingml/2006/main">
              <a:ext uri="{FF2B5EF4-FFF2-40B4-BE49-F238E27FC236}">
                <a16:creationId xmlns:a16="http://schemas.microsoft.com/office/drawing/2014/main" id="{628A131D-BE26-487D-B767-B8381FAD3F1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037E8A-84B8-40CA-AF00-038C2083281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D5C034-F774-4BCE-B746-A4A5BB938D5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DataFrame is a table with named columns. campus_energy.csv contains meter_id, building, block, month, kwh and cost_ugx.</a:t>
            </a:r>
          </a:p>
        </p:txBody>
      </p:sp>
      <p:sp>
        <p:nvSpPr>
          <p:cNvPr id="7" name="">
            <a:extLst xmlns:a="http://schemas.openxmlformats.org/drawingml/2006/main">
              <a:ext uri="{FF2B5EF4-FFF2-40B4-BE49-F238E27FC236}">
                <a16:creationId xmlns:a16="http://schemas.microsoft.com/office/drawing/2014/main" id="{B3311C12-0963-45D7-BC02-BD3FDD8EC96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One row records a meter reading for a month. kwh measures energy and cost_ugx gives the cost in Uganda shillings.</a:t>
            </a:r>
          </a:p>
        </p:txBody>
      </p:sp>
      <p:sp>
        <p:nvSpPr>
          <p:cNvPr id="8" name="">
            <a:extLst xmlns:a="http://schemas.openxmlformats.org/drawingml/2006/main">
              <a:ext uri="{FF2B5EF4-FFF2-40B4-BE49-F238E27FC236}">
                <a16:creationId xmlns:a16="http://schemas.microsoft.com/office/drawing/2014/main" id="{10ADE7B4-8FE7-453C-A7F0-5609521D5A4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a:t>
            </a:r>
          </a:p>
        </p:txBody>
      </p:sp>
    </p:spTree>
    <p:extLst>
      <p:ext uri="{BB962C8B-B14F-4D97-AF65-F5344CB8AC3E}">
        <p14:creationId xmlns:p14="http://schemas.microsoft.com/office/powerpoint/2010/main" val="13818234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B5094B-DAE6-4A0F-9B9A-6807CBD232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BC63CC-A935-4ED4-B2A6-34926E37FA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71DC7C5-34C3-439D-98E0-C9D9B917A8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1EFA38EA-2517-41B7-A2AD-B0316633269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5C5F1B-E672-41A4-BC85-77CF99FD0BB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D5F62C-0FD7-4D4E-BE79-C505BD4E871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campus_energy.csv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09876A9E-2883-4631-BA0D-19F901490BC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B99F807F-2799-4B59-BA95-3AD0C866A4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a:t>
            </a:r>
          </a:p>
        </p:txBody>
      </p:sp>
    </p:spTree>
    <p:extLst>
      <p:ext uri="{BB962C8B-B14F-4D97-AF65-F5344CB8AC3E}">
        <p14:creationId xmlns:p14="http://schemas.microsoft.com/office/powerpoint/2010/main" val="15891257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1F6652-A133-4BF6-8DF4-3B58DE4C76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FC0DD5-C939-416E-BEDB-CECB32B52F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385AAE3-55E1-41F8-B14D-F5678EF35A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B159897-2BCB-4311-BB27-10009205588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DFF7A85-D3A6-4DF0-98A4-210D0473ECF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E94B319C-4CB9-4367-9AB8-75250D02AAF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D0912C4-2C12-4EDD-8276-767FCA0BD5A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6EB07188-840C-46BF-8D9D-0AC4B5CF1E9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0471F20-6A06-42A7-AC05-BEAAAA3335E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table.shape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8A1F37CF-FC56-423C-A6EF-3B701B5AB9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5</a:t>
            </a:r>
          </a:p>
        </p:txBody>
      </p:sp>
    </p:spTree>
    <p:extLst>
      <p:ext uri="{BB962C8B-B14F-4D97-AF65-F5344CB8AC3E}">
        <p14:creationId xmlns:p14="http://schemas.microsoft.com/office/powerpoint/2010/main" val="13740556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23EB48-F5FE-4017-B909-89A9EEB54C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4212D6-4872-44E1-8786-99F05FA8AD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D352CDB-8F91-468F-B3E8-2071A1E951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049F1EB-E215-4915-A982-716182FE068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F9AC0B-CA27-4E21-91C7-1CB0E7BD3BB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B8478E5-8B58-4D18-ADB6-1245D5DD75C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table.dtypes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0120149C-18E8-4FBD-BC5C-F5B0C3A4702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table.head()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0D9BB5BF-F3DC-4424-9F37-2CBDE57EF1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6</a:t>
            </a:r>
          </a:p>
        </p:txBody>
      </p:sp>
    </p:spTree>
    <p:extLst>
      <p:ext uri="{BB962C8B-B14F-4D97-AF65-F5344CB8AC3E}">
        <p14:creationId xmlns:p14="http://schemas.microsoft.com/office/powerpoint/2010/main" val="2718211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31C7AA-4232-42A9-A70F-780ED528EA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0BC732-0146-48A1-9164-EF60AFCA63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FC84279-5555-4226-9126-BD932EE6CF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6B454F90-F72E-4C9A-B7EB-5E6BEA2964A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7CF8B5-30C4-4F8A-9C10-79A250E9F60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pandas as pd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 = pd.read_csv("campus_energy.csv")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print(raw.head())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print(raw.shape)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print(raw.dtypes)</a:t>
            </a:r>
          </a:p>
        </p:txBody>
      </p:sp>
      <p:sp>
        <p:nvSpPr>
          <p:cNvPr id="6" name="">
            <a:extLst xmlns:a="http://schemas.openxmlformats.org/drawingml/2006/main">
              <a:ext uri="{FF2B5EF4-FFF2-40B4-BE49-F238E27FC236}">
                <a16:creationId xmlns:a16="http://schemas.microsoft.com/office/drawing/2014/main" id="{965CE144-1E00-4DAC-8D1B-A136582872E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AC1D6F1-42CA-4641-B579-2FDAF978FA9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read_csv creates a DataFrame.</a:t>
            </a:r>
          </a:p>
        </p:txBody>
      </p:sp>
      <p:sp>
        <p:nvSpPr>
          <p:cNvPr id="8" name="">
            <a:extLst xmlns:a="http://schemas.openxmlformats.org/drawingml/2006/main">
              <a:ext uri="{FF2B5EF4-FFF2-40B4-BE49-F238E27FC236}">
                <a16:creationId xmlns:a16="http://schemas.microsoft.com/office/drawing/2014/main" id="{9EB5BBEA-BDC2-4D1D-A467-56A39D599C2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9" name="">
            <a:extLst xmlns:a="http://schemas.openxmlformats.org/drawingml/2006/main">
              <a:ext uri="{FF2B5EF4-FFF2-40B4-BE49-F238E27FC236}">
                <a16:creationId xmlns:a16="http://schemas.microsoft.com/office/drawing/2014/main" id="{86EE78BC-111C-43DD-8636-53A0529015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7</a:t>
            </a:r>
          </a:p>
        </p:txBody>
      </p:sp>
    </p:spTree>
    <p:extLst>
      <p:ext uri="{BB962C8B-B14F-4D97-AF65-F5344CB8AC3E}">
        <p14:creationId xmlns:p14="http://schemas.microsoft.com/office/powerpoint/2010/main" val="1363767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0C3C8F-5392-4250-8FB6-F1BAAB0874B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AFC61B-1593-4B32-953C-DDBEBF8481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3839672-72C5-42E0-861A-B02B0A56CD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and summarising a column</a:t>
            </a:r>
          </a:p>
        </p:txBody>
      </p:sp>
      <p:sp>
        <p:nvSpPr>
          <p:cNvPr id="4" name="">
            <a:extLst xmlns:a="http://schemas.openxmlformats.org/drawingml/2006/main">
              <a:ext uri="{FF2B5EF4-FFF2-40B4-BE49-F238E27FC236}">
                <a16:creationId xmlns:a16="http://schemas.microsoft.com/office/drawing/2014/main" id="{CF452C11-BAAB-4CBA-A095-B6435B58722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3D2E8E-553F-4229-B433-5A9DF459FF6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8C14BF-7B75-4073-8AB3-C150ECE4FFE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raw["kwh"] selects the energy column as a Series. mean() averages its known values.</a:t>
            </a:r>
          </a:p>
        </p:txBody>
      </p:sp>
      <p:sp>
        <p:nvSpPr>
          <p:cNvPr id="7" name="">
            <a:extLst xmlns:a="http://schemas.openxmlformats.org/drawingml/2006/main">
              <a:ext uri="{FF2B5EF4-FFF2-40B4-BE49-F238E27FC236}">
                <a16:creationId xmlns:a16="http://schemas.microsoft.com/office/drawing/2014/main" id="{6D793301-F937-40BA-934D-CDFF4688F64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Square brackets select a named column. Parentheses call a method such as mean().</a:t>
            </a:r>
          </a:p>
        </p:txBody>
      </p:sp>
      <p:sp>
        <p:nvSpPr>
          <p:cNvPr id="8" name="">
            <a:extLst xmlns:a="http://schemas.openxmlformats.org/drawingml/2006/main">
              <a:ext uri="{FF2B5EF4-FFF2-40B4-BE49-F238E27FC236}">
                <a16:creationId xmlns:a16="http://schemas.microsoft.com/office/drawing/2014/main" id="{32F9E4D5-D71A-4E7D-BB8E-2620BEBFA6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8</a:t>
            </a:r>
          </a:p>
        </p:txBody>
      </p:sp>
    </p:spTree>
    <p:extLst>
      <p:ext uri="{BB962C8B-B14F-4D97-AF65-F5344CB8AC3E}">
        <p14:creationId xmlns:p14="http://schemas.microsoft.com/office/powerpoint/2010/main" val="6157658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36E151-A67D-4A92-BF67-F841E85F4E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7D678A-447F-441F-9894-CDF449C658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B4412AD-2CC5-4536-AE6C-08F3BFC5AD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7976C8F-5898-492E-B1BB-8EB8EEC62F2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ED8B17-9836-41A0-9BDF-A0E7B053D4A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table["target"].mean(),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04D2307F-B766-4646-B3D2-FF7B5D81411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D880553-32D1-4F9D-8F5C-05B1084AD44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8" name="">
            <a:extLst xmlns:a="http://schemas.openxmlformats.org/drawingml/2006/main">
              <a:ext uri="{FF2B5EF4-FFF2-40B4-BE49-F238E27FC236}">
                <a16:creationId xmlns:a16="http://schemas.microsoft.com/office/drawing/2014/main" id="{A5E723FA-C330-44B6-AC73-68D8A12449A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C73E180-D37D-402A-8D16-4C29DE423ED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table["column"] returns one labelled column, a Series. table[["a", "b"]] returns a DataFrame containing those named columns in that order.</a:t>
            </a:r>
          </a:p>
        </p:txBody>
      </p:sp>
      <p:sp>
        <p:nvSpPr>
          <p:cNvPr id="10" name="">
            <a:extLst xmlns:a="http://schemas.openxmlformats.org/drawingml/2006/main">
              <a:ext uri="{FF2B5EF4-FFF2-40B4-BE49-F238E27FC236}">
                <a16:creationId xmlns:a16="http://schemas.microsoft.com/office/drawing/2014/main" id="{FC91827B-137D-4977-BCAC-FEA1400838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9</a:t>
            </a:r>
          </a:p>
        </p:txBody>
      </p:sp>
    </p:spTree>
    <p:extLst>
      <p:ext uri="{BB962C8B-B14F-4D97-AF65-F5344CB8AC3E}">
        <p14:creationId xmlns:p14="http://schemas.microsoft.com/office/powerpoint/2010/main" val="15931207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9F7C17-80CE-4B2B-83F8-B066E4DDF8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EF36A0-D9DC-4378-9A7B-9590F9B1F1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918D6DC-A4CC-4922-B4F6-A720FFF824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6626D237-F021-41AF-AD17-4E90427ED22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9C42DA-31D8-46F1-A959-70CB8919C3B6}"/>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6" name="">
            <a:extLst xmlns:a="http://schemas.openxmlformats.org/drawingml/2006/main">
              <a:ext uri="{FF2B5EF4-FFF2-40B4-BE49-F238E27FC236}">
                <a16:creationId xmlns:a16="http://schemas.microsoft.com/office/drawing/2014/main" id="{F7966E20-B12B-4C5F-BB2C-EBF9CBC649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10</a:t>
            </a:r>
          </a:p>
        </p:txBody>
      </p:sp>
    </p:spTree>
    <p:extLst>
      <p:ext uri="{BB962C8B-B14F-4D97-AF65-F5344CB8AC3E}">
        <p14:creationId xmlns:p14="http://schemas.microsoft.com/office/powerpoint/2010/main" val="8382672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F45A08-9E5A-442A-BEF0-40CA87E371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D88E38-9868-428E-BFC8-36B4A88E48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A70E6B7-E5E6-45D2-A1EE-E2BBE51829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Energy values and their mean</a:t>
            </a:r>
          </a:p>
        </p:txBody>
      </p:sp>
      <p:sp>
        <p:nvSpPr>
          <p:cNvPr id="4" name="">
            <a:extLst xmlns:a="http://schemas.openxmlformats.org/drawingml/2006/main">
              <a:ext uri="{FF2B5EF4-FFF2-40B4-BE49-F238E27FC236}">
                <a16:creationId xmlns:a16="http://schemas.microsoft.com/office/drawing/2014/main" id="{8B1D5848-72FF-4FCB-9025-AAC68CC7B21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087228-0686-4611-917F-270049CC003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print(raw["kwh"].head())</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print(round(float(raw["kwh"].mean()), 3))</a:t>
            </a:r>
          </a:p>
        </p:txBody>
      </p:sp>
      <p:sp>
        <p:nvSpPr>
          <p:cNvPr id="6" name="">
            <a:extLst xmlns:a="http://schemas.openxmlformats.org/drawingml/2006/main">
              <a:ext uri="{FF2B5EF4-FFF2-40B4-BE49-F238E27FC236}">
                <a16:creationId xmlns:a16="http://schemas.microsoft.com/office/drawing/2014/main" id="{62BC9172-6F30-4A6E-8B40-6B49165EF17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23E8075-FD53-402B-BF98-D2BD7F5FE73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head shows the first five readings.</a:t>
            </a:r>
          </a:p>
        </p:txBody>
      </p:sp>
      <p:sp>
        <p:nvSpPr>
          <p:cNvPr id="8" name="">
            <a:extLst xmlns:a="http://schemas.openxmlformats.org/drawingml/2006/main">
              <a:ext uri="{FF2B5EF4-FFF2-40B4-BE49-F238E27FC236}">
                <a16:creationId xmlns:a16="http://schemas.microsoft.com/office/drawing/2014/main" id="{02B5EBC7-C376-4C02-979F-5465CBF4046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9" name="">
            <a:extLst xmlns:a="http://schemas.openxmlformats.org/drawingml/2006/main">
              <a:ext uri="{FF2B5EF4-FFF2-40B4-BE49-F238E27FC236}">
                <a16:creationId xmlns:a16="http://schemas.microsoft.com/office/drawing/2014/main" id="{DD6D5BC3-B1D8-4220-8CC0-6E170FD079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11</a:t>
            </a:r>
          </a:p>
        </p:txBody>
      </p:sp>
    </p:spTree>
    <p:extLst>
      <p:ext uri="{BB962C8B-B14F-4D97-AF65-F5344CB8AC3E}">
        <p14:creationId xmlns:p14="http://schemas.microsoft.com/office/powerpoint/2010/main" val="19832164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32F857-4BF5-4FAE-9FF0-CDF7D804E3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8AF2D4-8CA7-4A21-82D5-C8B8AB2D2C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F5E27CA-BA66-4A0C-ADBA-E0DF496D33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Ask a question about each energy reading</a:t>
            </a:r>
          </a:p>
        </p:txBody>
      </p:sp>
      <p:sp>
        <p:nvSpPr>
          <p:cNvPr id="4" name="">
            <a:extLst xmlns:a="http://schemas.openxmlformats.org/drawingml/2006/main">
              <a:ext uri="{FF2B5EF4-FFF2-40B4-BE49-F238E27FC236}">
                <a16:creationId xmlns:a16="http://schemas.microsoft.com/office/drawing/2014/main" id="{DF9DCC3D-9D35-4A49-8F38-1F4DEE8C934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77F93A-5A04-47A3-B05E-86BB335A646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8AB20F-E374-49A1-BE1D-4A7A9F3EBB9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raw["kwh"] selects the energy column. Comparing it with 5000 returns one True or False per row.</a:t>
            </a:r>
          </a:p>
        </p:txBody>
      </p:sp>
      <p:sp>
        <p:nvSpPr>
          <p:cNvPr id="7" name="">
            <a:extLst xmlns:a="http://schemas.openxmlformats.org/drawingml/2006/main">
              <a:ext uri="{FF2B5EF4-FFF2-40B4-BE49-F238E27FC236}">
                <a16:creationId xmlns:a16="http://schemas.microsoft.com/office/drawing/2014/main" id="{C2A149D9-ACEC-46BF-8489-CAEC526B2AD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True means the reading is greater than 5,000 kWh; False means it is not. Equality does not pass this strict threshold.</a:t>
            </a:r>
          </a:p>
        </p:txBody>
      </p:sp>
      <p:sp>
        <p:nvSpPr>
          <p:cNvPr id="8" name="">
            <a:extLst xmlns:a="http://schemas.openxmlformats.org/drawingml/2006/main">
              <a:ext uri="{FF2B5EF4-FFF2-40B4-BE49-F238E27FC236}">
                <a16:creationId xmlns:a16="http://schemas.microsoft.com/office/drawing/2014/main" id="{C6603C3F-4BE2-4A3D-A501-E372139C5E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12</a:t>
            </a:r>
          </a:p>
        </p:txBody>
      </p:sp>
    </p:spTree>
    <p:extLst>
      <p:ext uri="{BB962C8B-B14F-4D97-AF65-F5344CB8AC3E}">
        <p14:creationId xmlns:p14="http://schemas.microsoft.com/office/powerpoint/2010/main" val="1995956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58E04F-B9AF-446D-8508-C7014E771C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6C351-06CA-4CEC-96E6-AC173C027A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1B85135-AAFA-48EA-9EEF-F685852B28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49FD9E00-9CB4-42E4-AAD2-5754156D9A1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DB40A7-2F1D-4E53-AB0B-2ED8FC1A716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907438-788B-4B43-A99F-B31BBFF5647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Selecting rows with a mask: A column comparison produces one True or False per row. table[mask] keeps the True rows. &amp; combines masks: both conditions must hold. Parenthesise each comparison.</a:t>
            </a:r>
          </a:p>
        </p:txBody>
      </p:sp>
      <p:sp>
        <p:nvSpPr>
          <p:cNvPr id="7" name="">
            <a:extLst xmlns:a="http://schemas.openxmlformats.org/drawingml/2006/main">
              <a:ext uri="{FF2B5EF4-FFF2-40B4-BE49-F238E27FC236}">
                <a16:creationId xmlns:a16="http://schemas.microsoft.com/office/drawing/2014/main" id="{AEE4E5B4-52B7-4609-8EE3-44D3943FC2C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values and counting True: series.sum() adds its values. For a Boolean mask, True counts as 1 and False as 0. table.isna().sum() therefore counts missing cells separately for each column.</a:t>
            </a:r>
          </a:p>
        </p:txBody>
      </p:sp>
      <p:sp>
        <p:nvSpPr>
          <p:cNvPr id="8" name="">
            <a:extLst xmlns:a="http://schemas.openxmlformats.org/drawingml/2006/main">
              <a:ext uri="{FF2B5EF4-FFF2-40B4-BE49-F238E27FC236}">
                <a16:creationId xmlns:a16="http://schemas.microsoft.com/office/drawing/2014/main" id="{49227395-8739-4188-8847-09B84ACE0D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13</a:t>
            </a:r>
          </a:p>
        </p:txBody>
      </p:sp>
    </p:spTree>
    <p:extLst>
      <p:ext uri="{BB962C8B-B14F-4D97-AF65-F5344CB8AC3E}">
        <p14:creationId xmlns:p14="http://schemas.microsoft.com/office/powerpoint/2010/main" val="5201297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E717F4-583F-470A-B32E-C16DB26022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BE1A82-CA25-4637-9066-89A4A73707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A7CC0E-A0C8-473E-8906-1EA041841F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answers before selecting rows</a:t>
            </a:r>
          </a:p>
        </p:txBody>
      </p:sp>
      <p:sp>
        <p:nvSpPr>
          <p:cNvPr id="4" name="">
            <a:extLst xmlns:a="http://schemas.openxmlformats.org/drawingml/2006/main">
              <a:ext uri="{FF2B5EF4-FFF2-40B4-BE49-F238E27FC236}">
                <a16:creationId xmlns:a16="http://schemas.microsoft.com/office/drawing/2014/main" id="{9A920DD8-9C4F-4AEC-9185-89D0A4DBDAD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824F9E-42C7-4B44-82B4-4AF033D0713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energy_is_high = raw["kwh"] &gt; 5000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print(raw["kwh"].head())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print(energy_is_high.head())</a:t>
            </a:r>
          </a:p>
        </p:txBody>
      </p:sp>
      <p:sp>
        <p:nvSpPr>
          <p:cNvPr id="6" name="">
            <a:extLst xmlns:a="http://schemas.openxmlformats.org/drawingml/2006/main">
              <a:ext uri="{FF2B5EF4-FFF2-40B4-BE49-F238E27FC236}">
                <a16:creationId xmlns:a16="http://schemas.microsoft.com/office/drawing/2014/main" id="{767FC36D-D736-48C7-8200-8D4F6342D4F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AF79397-12DA-41A6-B300-8C8F6B3D715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using this week’s supplied CSV.</a:t>
            </a:r>
          </a:p>
        </p:txBody>
      </p:sp>
      <p:sp>
        <p:nvSpPr>
          <p:cNvPr id="8" name="">
            <a:extLst xmlns:a="http://schemas.openxmlformats.org/drawingml/2006/main">
              <a:ext uri="{FF2B5EF4-FFF2-40B4-BE49-F238E27FC236}">
                <a16:creationId xmlns:a16="http://schemas.microsoft.com/office/drawing/2014/main" id="{304A9888-AE7C-42A8-9AD4-4E8ABF107D5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14</a:t>
            </a:r>
          </a:p>
        </p:txBody>
      </p:sp>
    </p:spTree>
    <p:extLst>
      <p:ext uri="{BB962C8B-B14F-4D97-AF65-F5344CB8AC3E}">
        <p14:creationId xmlns:p14="http://schemas.microsoft.com/office/powerpoint/2010/main" val="16195959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CC2F29-8D95-4CEC-9D44-37841E95B6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B0EB80-11E1-4498-A303-8C02530DD2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63AD703-2EC2-4E6E-BC37-792A6DE67F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 the True answers to select rows</a:t>
            </a:r>
          </a:p>
        </p:txBody>
      </p:sp>
      <p:sp>
        <p:nvSpPr>
          <p:cNvPr id="4" name="">
            <a:extLst xmlns:a="http://schemas.openxmlformats.org/drawingml/2006/main">
              <a:ext uri="{FF2B5EF4-FFF2-40B4-BE49-F238E27FC236}">
                <a16:creationId xmlns:a16="http://schemas.microsoft.com/office/drawing/2014/main" id="{0605B4C4-6881-4412-8666-4FC6F0C95CE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553B11-92C7-41C8-81A0-1541006D6E9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529E1B-7024-4E49-B60D-A8174341A0E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raw[energy_is_high] returns the rows whose answer is True. This selection is often called a Boolean mask.</a:t>
            </a:r>
          </a:p>
        </p:txBody>
      </p:sp>
      <p:sp>
        <p:nvSpPr>
          <p:cNvPr id="7" name="">
            <a:extLst xmlns:a="http://schemas.openxmlformats.org/drawingml/2006/main">
              <a:ext uri="{FF2B5EF4-FFF2-40B4-BE49-F238E27FC236}">
                <a16:creationId xmlns:a16="http://schemas.microsoft.com/office/drawing/2014/main" id="{229E2098-F442-4C23-A40F-F6B1B1B464A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.sum() counts True answers because True counts as 1 and False as 0.</a:t>
            </a:r>
          </a:p>
        </p:txBody>
      </p:sp>
      <p:sp>
        <p:nvSpPr>
          <p:cNvPr id="8" name="">
            <a:extLst xmlns:a="http://schemas.openxmlformats.org/drawingml/2006/main">
              <a:ext uri="{FF2B5EF4-FFF2-40B4-BE49-F238E27FC236}">
                <a16:creationId xmlns:a16="http://schemas.microsoft.com/office/drawing/2014/main" id="{8918C256-40CA-44A1-9A7D-CDFF853228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15</a:t>
            </a:r>
          </a:p>
        </p:txBody>
      </p:sp>
    </p:spTree>
    <p:extLst>
      <p:ext uri="{BB962C8B-B14F-4D97-AF65-F5344CB8AC3E}">
        <p14:creationId xmlns:p14="http://schemas.microsoft.com/office/powerpoint/2010/main" val="14794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0823E-0CA3-4A4C-AD27-199FBF72DD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C5F9B0-B44F-4430-B7B0-76826B3730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09A30BD-62ED-4588-9C04-12DD627C45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and count the high-energy readings</a:t>
            </a:r>
          </a:p>
        </p:txBody>
      </p:sp>
      <p:sp>
        <p:nvSpPr>
          <p:cNvPr id="4" name="">
            <a:extLst xmlns:a="http://schemas.openxmlformats.org/drawingml/2006/main">
              <a:ext uri="{FF2B5EF4-FFF2-40B4-BE49-F238E27FC236}">
                <a16:creationId xmlns:a16="http://schemas.microsoft.com/office/drawing/2014/main" id="{F1FB1108-38F3-4283-8BD8-C188F5264FD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06240B-0ADD-4B39-9BF6-4107200E507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high_energy_readings = raw[energy_is_high]</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print(high_energy_readings.head())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print(int(energy_is_high.sum()))</a:t>
            </a:r>
          </a:p>
        </p:txBody>
      </p:sp>
      <p:sp>
        <p:nvSpPr>
          <p:cNvPr id="6" name="">
            <a:extLst xmlns:a="http://schemas.openxmlformats.org/drawingml/2006/main">
              <a:ext uri="{FF2B5EF4-FFF2-40B4-BE49-F238E27FC236}">
                <a16:creationId xmlns:a16="http://schemas.microsoft.com/office/drawing/2014/main" id="{DB0F5EBE-0FE4-45F4-B77F-FC238B7A553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9B00396-F02A-423D-88BD-DBE206513F2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using this week’s supplied CSV.</a:t>
            </a:r>
          </a:p>
        </p:txBody>
      </p:sp>
      <p:sp>
        <p:nvSpPr>
          <p:cNvPr id="8" name="">
            <a:extLst xmlns:a="http://schemas.openxmlformats.org/drawingml/2006/main">
              <a:ext uri="{FF2B5EF4-FFF2-40B4-BE49-F238E27FC236}">
                <a16:creationId xmlns:a16="http://schemas.microsoft.com/office/drawing/2014/main" id="{C64DDDB6-B98B-4B6B-905B-CE7380E38D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16</a:t>
            </a:r>
          </a:p>
        </p:txBody>
      </p:sp>
    </p:spTree>
    <p:extLst>
      <p:ext uri="{BB962C8B-B14F-4D97-AF65-F5344CB8AC3E}">
        <p14:creationId xmlns:p14="http://schemas.microsoft.com/office/powerpoint/2010/main" val="13531669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B177A3-A87C-4F59-8753-7E58A7960B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0B046E-0C2B-4241-83AF-EE325A4505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5BA91F-A0AF-493B-98E3-96EB36D835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Groups and labels</a:t>
            </a:r>
          </a:p>
        </p:txBody>
      </p:sp>
      <p:sp>
        <p:nvSpPr>
          <p:cNvPr id="4" name="">
            <a:extLst xmlns:a="http://schemas.openxmlformats.org/drawingml/2006/main">
              <a:ext uri="{FF2B5EF4-FFF2-40B4-BE49-F238E27FC236}">
                <a16:creationId xmlns:a16="http://schemas.microsoft.com/office/drawing/2014/main" id="{090E78D8-AC4E-4F26-8E20-1EA45BA5F84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83888D-185B-4742-B16E-6980C9C6542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1FC421-0435-4DB9-8C9D-D7F2F4B1F5E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groupby("building") gathers rows with the same building label. Selecting kwh and calling sum adds their energy.</a:t>
            </a:r>
          </a:p>
        </p:txBody>
      </p:sp>
      <p:sp>
        <p:nvSpPr>
          <p:cNvPr id="7" name="">
            <a:extLst xmlns:a="http://schemas.openxmlformats.org/drawingml/2006/main">
              <a:ext uri="{FF2B5EF4-FFF2-40B4-BE49-F238E27FC236}">
                <a16:creationId xmlns:a16="http://schemas.microsoft.com/office/drawing/2014/main" id="{4F22A055-9434-4A62-94E9-6953272CB6B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nunique counts distinct building labels. idxmax returns the label whose total is largest.</a:t>
            </a:r>
          </a:p>
        </p:txBody>
      </p:sp>
      <p:sp>
        <p:nvSpPr>
          <p:cNvPr id="8" name="">
            <a:extLst xmlns:a="http://schemas.openxmlformats.org/drawingml/2006/main">
              <a:ext uri="{FF2B5EF4-FFF2-40B4-BE49-F238E27FC236}">
                <a16:creationId xmlns:a16="http://schemas.microsoft.com/office/drawing/2014/main" id="{C30115E6-0D17-41A6-82FD-2543358E2C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17</a:t>
            </a:r>
          </a:p>
        </p:txBody>
      </p:sp>
    </p:spTree>
    <p:extLst>
      <p:ext uri="{BB962C8B-B14F-4D97-AF65-F5344CB8AC3E}">
        <p14:creationId xmlns:p14="http://schemas.microsoft.com/office/powerpoint/2010/main" val="12765909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DE6AF2-B214-4D16-A3B4-90ACE158CC0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A62D76-216C-47BB-88C9-7F8670494D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A7B52ED-427E-42C5-ACC0-0667A6B78C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B931361-AB3A-4085-BF54-E6F2F8F2A90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AE363B4-6CE6-4EA9-A073-9EFB752A67B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distinct labels: series.nunique() counts different recorded values, ignoring missing values by default. It counts categories rather than rows.</a:t>
            </a:r>
          </a:p>
        </p:txBody>
      </p:sp>
      <p:sp>
        <p:nvSpPr>
          <p:cNvPr id="6" name="">
            <a:extLst xmlns:a="http://schemas.openxmlformats.org/drawingml/2006/main">
              <a:ext uri="{FF2B5EF4-FFF2-40B4-BE49-F238E27FC236}">
                <a16:creationId xmlns:a16="http://schemas.microsoft.com/office/drawing/2014/main" id="{0CD5FA3C-2997-47D9-9A8F-24E64905134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65BE7C-EDD9-4AF7-B27A-7E927FE4349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Label of the largest value: series.idxmax() returns the label attached to the largest value. It does not return that value. If several entries tie, it returns the first such label.</a:t>
            </a:r>
          </a:p>
        </p:txBody>
      </p:sp>
      <p:sp>
        <p:nvSpPr>
          <p:cNvPr id="8" name="">
            <a:extLst xmlns:a="http://schemas.openxmlformats.org/drawingml/2006/main">
              <a:ext uri="{FF2B5EF4-FFF2-40B4-BE49-F238E27FC236}">
                <a16:creationId xmlns:a16="http://schemas.microsoft.com/office/drawing/2014/main" id="{405BDAA8-5407-47EE-9E87-5FDC482FFDE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3F448CC-B13F-491F-A4D8-2EE0A94B273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rows: table.groupby("label")["value"]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634EEF91-F638-4645-AA15-FA7610EE3F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18</a:t>
            </a:r>
          </a:p>
        </p:txBody>
      </p:sp>
    </p:spTree>
    <p:extLst>
      <p:ext uri="{BB962C8B-B14F-4D97-AF65-F5344CB8AC3E}">
        <p14:creationId xmlns:p14="http://schemas.microsoft.com/office/powerpoint/2010/main" val="3014059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DC8FDE-ABDF-441B-A4CF-DA7B587ADF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2817CB-5923-410B-9A77-955C0B3FCC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855B227-8ACF-4911-A049-366936F123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Building totals from campus_energy.csv</a:t>
            </a:r>
          </a:p>
        </p:txBody>
      </p:sp>
      <p:sp>
        <p:nvSpPr>
          <p:cNvPr id="4" name="">
            <a:extLst xmlns:a="http://schemas.openxmlformats.org/drawingml/2006/main">
              <a:ext uri="{FF2B5EF4-FFF2-40B4-BE49-F238E27FC236}">
                <a16:creationId xmlns:a16="http://schemas.microsoft.com/office/drawing/2014/main" id="{44918F30-B321-4432-A40D-1461F44980F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6A41F1-FB85-46B3-8CDD-3529B9E11E3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totals = raw.groupby("building")["kwh"].sum()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print(totals)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print(raw["building"].nunique())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print(totals.idxmax())</a:t>
            </a:r>
          </a:p>
        </p:txBody>
      </p:sp>
      <p:sp>
        <p:nvSpPr>
          <p:cNvPr id="6" name="">
            <a:extLst xmlns:a="http://schemas.openxmlformats.org/drawingml/2006/main">
              <a:ext uri="{FF2B5EF4-FFF2-40B4-BE49-F238E27FC236}">
                <a16:creationId xmlns:a16="http://schemas.microsoft.com/office/drawing/2014/main" id="{F48E68A3-89BB-44D4-9987-CAB2FE690D7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Trace one building back to its source rows.</a:t>
            </a:r>
          </a:p>
        </p:txBody>
      </p:sp>
      <p:sp>
        <p:nvSpPr>
          <p:cNvPr id="7" name="">
            <a:extLst xmlns:a="http://schemas.openxmlformats.org/drawingml/2006/main">
              <a:ext uri="{FF2B5EF4-FFF2-40B4-BE49-F238E27FC236}">
                <a16:creationId xmlns:a16="http://schemas.microsoft.com/office/drawing/2014/main" id="{DA975AA7-9833-40AC-9F41-96E56F6C667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8" name="">
            <a:extLst xmlns:a="http://schemas.openxmlformats.org/drawingml/2006/main">
              <a:ext uri="{FF2B5EF4-FFF2-40B4-BE49-F238E27FC236}">
                <a16:creationId xmlns:a16="http://schemas.microsoft.com/office/drawing/2014/main" id="{55107568-835C-47F9-9ADC-3E80C54714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19</a:t>
            </a:r>
          </a:p>
        </p:txBody>
      </p:sp>
    </p:spTree>
    <p:extLst>
      <p:ext uri="{BB962C8B-B14F-4D97-AF65-F5344CB8AC3E}">
        <p14:creationId xmlns:p14="http://schemas.microsoft.com/office/powerpoint/2010/main" val="10952023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EE2E8E-BB01-4AE5-8A53-8D152039278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1C938A-4077-4B14-98B5-CE53625F77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0D79F3C-09BC-43D7-829C-BAA1BFA4BB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calculated energy rate</a:t>
            </a:r>
          </a:p>
        </p:txBody>
      </p:sp>
      <p:sp>
        <p:nvSpPr>
          <p:cNvPr id="4" name="">
            <a:extLst xmlns:a="http://schemas.openxmlformats.org/drawingml/2006/main">
              <a:ext uri="{FF2B5EF4-FFF2-40B4-BE49-F238E27FC236}">
                <a16:creationId xmlns:a16="http://schemas.microsoft.com/office/drawing/2014/main" id="{E3E6C315-1B81-4DB1-AC0D-2C44B69AA51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7549791-90AD-48D1-9307-593F9E3C6AD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B13394-A3B5-4984-BB42-E352BC69510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Cost divided by energy gives UGX per kWh. First check that the denominator is positive.</a:t>
            </a:r>
          </a:p>
        </p:txBody>
      </p:sp>
      <p:sp>
        <p:nvSpPr>
          <p:cNvPr id="7" name="">
            <a:extLst xmlns:a="http://schemas.openxmlformats.org/drawingml/2006/main">
              <a:ext uri="{FF2B5EF4-FFF2-40B4-BE49-F238E27FC236}">
                <a16:creationId xmlns:a16="http://schemas.microsoft.com/office/drawing/2014/main" id="{72028806-66F7-49C3-995E-AE7D271524F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copy preserves raw. Assigning table["new_name"] adds a calculated column.</a:t>
            </a:r>
          </a:p>
        </p:txBody>
      </p:sp>
      <p:sp>
        <p:nvSpPr>
          <p:cNvPr id="8" name="">
            <a:extLst xmlns:a="http://schemas.openxmlformats.org/drawingml/2006/main">
              <a:ext uri="{FF2B5EF4-FFF2-40B4-BE49-F238E27FC236}">
                <a16:creationId xmlns:a16="http://schemas.microsoft.com/office/drawing/2014/main" id="{8860277F-1031-481F-9011-4C7A52422A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20</a:t>
            </a:r>
          </a:p>
        </p:txBody>
      </p:sp>
    </p:spTree>
    <p:extLst>
      <p:ext uri="{BB962C8B-B14F-4D97-AF65-F5344CB8AC3E}">
        <p14:creationId xmlns:p14="http://schemas.microsoft.com/office/powerpoint/2010/main" val="572036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311257-650F-4485-92F7-DDFF61084A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65B19A-0F5B-47F9-884F-EB47100DF6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08320E0-E45F-4FEF-8CC2-4B35B5A59A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F32E9A5B-E5CE-429C-858B-44846D60A0D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3C4AFB-DC7B-4CDB-8513-BB478D0B685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Adding or replacing a column: table["name"] = values assigns that column. An array follows row order. A Series aligns by row label, so keep labels paired with the intended observations.</a:t>
            </a:r>
          </a:p>
        </p:txBody>
      </p:sp>
      <p:sp>
        <p:nvSpPr>
          <p:cNvPr id="6" name="">
            <a:extLst xmlns:a="http://schemas.openxmlformats.org/drawingml/2006/main">
              <a:ext uri="{FF2B5EF4-FFF2-40B4-BE49-F238E27FC236}">
                <a16:creationId xmlns:a16="http://schemas.microsoft.com/office/drawing/2014/main" id="{73260B58-7114-4DF7-B017-A1D94D60363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F443D7D-2BD8-4725-A2F8-CA89F54276A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55F269A9-A88C-4EDD-8CA6-E5DE555D4F0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CE0CEF-012E-4170-9586-D4FD00C5D63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table.copy() creates a working copy. Assigning columns on this copy preserves the source table, so you can compare before and after.</a:t>
            </a:r>
          </a:p>
        </p:txBody>
      </p:sp>
      <p:sp>
        <p:nvSpPr>
          <p:cNvPr id="10" name="">
            <a:extLst xmlns:a="http://schemas.openxmlformats.org/drawingml/2006/main">
              <a:ext uri="{FF2B5EF4-FFF2-40B4-BE49-F238E27FC236}">
                <a16:creationId xmlns:a16="http://schemas.microsoft.com/office/drawing/2014/main" id="{6E08B8E8-9BD6-4EA0-8BAC-21F9722B1FD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21</a:t>
            </a:r>
          </a:p>
        </p:txBody>
      </p:sp>
    </p:spTree>
    <p:extLst>
      <p:ext uri="{BB962C8B-B14F-4D97-AF65-F5344CB8AC3E}">
        <p14:creationId xmlns:p14="http://schemas.microsoft.com/office/powerpoint/2010/main" val="29627690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7736AC-9936-4072-9FC5-2D43C549FD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782CFC-F3DD-4007-A45A-5DC1529387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4DFFA19-F991-479D-B392-C29D6D6400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Rates from recorded cost and energy</a:t>
            </a:r>
          </a:p>
        </p:txBody>
      </p:sp>
      <p:sp>
        <p:nvSpPr>
          <p:cNvPr id="4" name="">
            <a:extLst xmlns:a="http://schemas.openxmlformats.org/drawingml/2006/main">
              <a:ext uri="{FF2B5EF4-FFF2-40B4-BE49-F238E27FC236}">
                <a16:creationId xmlns:a16="http://schemas.microsoft.com/office/drawing/2014/main" id="{D4322116-AE65-41C7-A9D2-87E53F0EC4C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9C94E9-097A-4406-916D-D6F72EC9DFC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57" b="0">
                <a:solidFill>
                  <a:srgbClr val="F4F7FA"/>
                </a:solidFill>
                <a:latin typeface="Courier New"/>
                <a:ea typeface="Courier New"/>
                <a:cs typeface="Courier New"/>
              </a:defRPr>
            </a:defPPr>
            <a:lvl1pPr>
              <a:defRPr sz="1757" b="0">
                <a:solidFill>
                  <a:srgbClr val="F4F7FA"/>
                </a:solidFill>
                <a:latin typeface="Courier New"/>
                <a:ea typeface="Courier New"/>
                <a:cs typeface="Courier New"/>
              </a:defRPr>
            </a:lvl1pPr>
            <a:lvl2pPr>
              <a:defRPr sz="1757" b="0">
                <a:solidFill>
                  <a:srgbClr val="F4F7FA"/>
                </a:solidFill>
                <a:latin typeface="Courier New"/>
                <a:ea typeface="Courier New"/>
                <a:cs typeface="Courier New"/>
              </a:defRPr>
            </a:lvl2pPr>
            <a:lvl3pPr>
              <a:defRPr sz="1757" b="0">
                <a:solidFill>
                  <a:srgbClr val="F4F7FA"/>
                </a:solidFill>
                <a:latin typeface="Courier New"/>
                <a:ea typeface="Courier New"/>
                <a:cs typeface="Courier New"/>
              </a:defRPr>
            </a:lvl3pPr>
            <a:lvl4pPr>
              <a:defRPr sz="1757" b="0">
                <a:solidFill>
                  <a:srgbClr val="F4F7FA"/>
                </a:solidFill>
                <a:latin typeface="Courier New"/>
                <a:ea typeface="Courier New"/>
                <a:cs typeface="Courier New"/>
              </a:defRPr>
            </a:lvl4pPr>
            <a:lvl5pPr>
              <a:defRPr sz="1757" b="0">
                <a:solidFill>
                  <a:srgbClr val="F4F7FA"/>
                </a:solidFill>
                <a:latin typeface="Courier New"/>
                <a:ea typeface="Courier New"/>
                <a:cs typeface="Courier New"/>
              </a:defRPr>
            </a:lvl5pPr>
            <a:lvl6pPr>
              <a:defRPr sz="1757" b="0">
                <a:solidFill>
                  <a:srgbClr val="F4F7FA"/>
                </a:solidFill>
                <a:latin typeface="Courier New"/>
                <a:ea typeface="Courier New"/>
                <a:cs typeface="Courier New"/>
              </a:defRPr>
            </a:lvl6pPr>
            <a:lvl7pPr>
              <a:defRPr sz="1757" b="0">
                <a:solidFill>
                  <a:srgbClr val="F4F7FA"/>
                </a:solidFill>
                <a:latin typeface="Courier New"/>
                <a:ea typeface="Courier New"/>
                <a:cs typeface="Courier New"/>
              </a:defRPr>
            </a:lvl7pPr>
            <a:lvl8pPr>
              <a:defRPr sz="1757" b="0">
                <a:solidFill>
                  <a:srgbClr val="F4F7FA"/>
                </a:solidFill>
                <a:latin typeface="Courier New"/>
                <a:ea typeface="Courier New"/>
                <a:cs typeface="Courier New"/>
              </a:defRPr>
            </a:lvl8pPr>
            <a:lvl9pPr>
              <a:defRPr sz="1757" b="0">
                <a:solidFill>
                  <a:srgbClr val="F4F7FA"/>
                </a:solidFill>
                <a:latin typeface="Courier New"/>
                <a:ea typeface="Courier New"/>
                <a:cs typeface="Courier New"/>
              </a:defRPr>
            </a:lvl9pPr>
          </a:lstStyle>
          <a:p xmlns:a="http://schemas.openxmlformats.org/drawingml/2006/main">
            <a:pPr>
              <a:defRPr sz="1757" b="0">
                <a:solidFill>
                  <a:srgbClr val="F4F7FA"/>
                </a:solidFill>
                <a:latin typeface="Courier New"/>
                <a:ea typeface="Courier New"/>
                <a:cs typeface="Courier New"/>
              </a:defRPr>
            </a:pPr>
            <a:r>
              <a:rPr sz="1757" b="0">
                <a:solidFill>
                  <a:srgbClr val="F4F7FA"/>
                </a:solidFill>
                <a:latin typeface="Courier New"/>
                <a:ea typeface="Courier New"/>
                <a:cs typeface="Courier New"/>
              </a:rPr>
              <a:t>priced = raw[raw["kwh"] &gt; 0].copy()</a:t>
            </a:r>
          </a:p>
          <a:p xmlns:a="http://schemas.openxmlformats.org/drawingml/2006/main">
            <a:pPr>
              <a:defRPr sz="1757" b="0">
                <a:solidFill>
                  <a:srgbClr val="F4F7FA"/>
                </a:solidFill>
                <a:latin typeface="Courier New"/>
                <a:ea typeface="Courier New"/>
                <a:cs typeface="Courier New"/>
              </a:defRPr>
            </a:pPr>
            <a:r>
              <a:rPr sz="1757" b="0">
                <a:solidFill>
                  <a:srgbClr val="F4F7FA"/>
                </a:solidFill>
                <a:latin typeface="Courier New"/>
                <a:ea typeface="Courier New"/>
                <a:cs typeface="Courier New"/>
              </a:rPr>
              <a:t>priced["rate_ugx_per_kwh"] = priced["cost_ugx"] / priced["kwh"]</a:t>
            </a:r>
          </a:p>
          <a:p xmlns:a="http://schemas.openxmlformats.org/drawingml/2006/main">
            <a:pPr>
              <a:defRPr sz="1757" b="0">
                <a:solidFill>
                  <a:srgbClr val="F4F7FA"/>
                </a:solidFill>
                <a:latin typeface="Courier New"/>
                <a:ea typeface="Courier New"/>
                <a:cs typeface="Courier New"/>
              </a:defRPr>
            </a:pPr>
            <a:r>
              <a:rPr sz="1757" b="0">
                <a:solidFill>
                  <a:srgbClr val="F4F7FA"/>
                </a:solidFill>
                <a:latin typeface="Courier New"/>
                <a:ea typeface="Courier New"/>
                <a:cs typeface="Courier New"/>
              </a:rPr>
              <a:t>print(priced[["building", "kwh", "cost_ugx", "rate_ugx_per_kwh"]].head())</a:t>
            </a:r>
          </a:p>
        </p:txBody>
      </p:sp>
      <p:sp>
        <p:nvSpPr>
          <p:cNvPr id="6" name="">
            <a:extLst xmlns:a="http://schemas.openxmlformats.org/drawingml/2006/main">
              <a:ext uri="{FF2B5EF4-FFF2-40B4-BE49-F238E27FC236}">
                <a16:creationId xmlns:a16="http://schemas.microsoft.com/office/drawing/2014/main" id="{79162077-029F-4145-B39B-2399D82BC25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two columns come from the same source row.</a:t>
            </a:r>
          </a:p>
        </p:txBody>
      </p:sp>
      <p:sp>
        <p:nvSpPr>
          <p:cNvPr id="7" name="">
            <a:extLst xmlns:a="http://schemas.openxmlformats.org/drawingml/2006/main">
              <a:ext uri="{FF2B5EF4-FFF2-40B4-BE49-F238E27FC236}">
                <a16:creationId xmlns:a16="http://schemas.microsoft.com/office/drawing/2014/main" id="{8301EEC0-B086-43E9-AC9C-66887573069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8" name="">
            <a:extLst xmlns:a="http://schemas.openxmlformats.org/drawingml/2006/main">
              <a:ext uri="{FF2B5EF4-FFF2-40B4-BE49-F238E27FC236}">
                <a16:creationId xmlns:a16="http://schemas.microsoft.com/office/drawing/2014/main" id="{D73B3AC2-DDFA-4FAB-94C9-325280E001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22</a:t>
            </a:r>
          </a:p>
        </p:txBody>
      </p:sp>
    </p:spTree>
    <p:extLst>
      <p:ext uri="{BB962C8B-B14F-4D97-AF65-F5344CB8AC3E}">
        <p14:creationId xmlns:p14="http://schemas.microsoft.com/office/powerpoint/2010/main" val="18967141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EF7C12-9953-476F-9410-1FE28E945E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F764AC-DCBE-4627-956D-54C1A24904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EFE44EC-F894-4DD0-ADB1-9CCD302EF3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3828B79C-1EF5-4BD1-BF66-1068E07187A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E344B7B-F189-4C32-8C2D-FF913FDE26C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W05_student.ipynb.</a:t>
            </a:r>
          </a:p>
        </p:txBody>
      </p:sp>
      <p:sp>
        <p:nvSpPr>
          <p:cNvPr id="6" name="">
            <a:extLst xmlns:a="http://schemas.openxmlformats.org/drawingml/2006/main">
              <a:ext uri="{FF2B5EF4-FFF2-40B4-BE49-F238E27FC236}">
                <a16:creationId xmlns:a16="http://schemas.microsoft.com/office/drawing/2014/main" id="{C6A17F1D-EF6C-4006-ADA2-1F20B66AE7D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9289AA0-64EF-46D2-9164-F63861605638}"/>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9FDC595F-27E1-4571-BF67-AD5839DF311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3BEBBC4-FD3B-40AF-A29D-807FE0F2A14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7BAF17A1-F8EB-40E5-8A93-885CA798AC4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5B43AA5-6B13-40EC-9DEF-A6BAA6CD7EC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xmlns:a="http://schemas.openxmlformats.org/drawingml/2006/main">
              <a:ext uri="{FF2B5EF4-FFF2-40B4-BE49-F238E27FC236}">
                <a16:creationId xmlns:a16="http://schemas.microsoft.com/office/drawing/2014/main" id="{367E58F7-F7FE-4492-8F87-9C0683F09F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23</a:t>
            </a:r>
          </a:p>
        </p:txBody>
      </p:sp>
    </p:spTree>
    <p:extLst>
      <p:ext uri="{BB962C8B-B14F-4D97-AF65-F5344CB8AC3E}">
        <p14:creationId xmlns:p14="http://schemas.microsoft.com/office/powerpoint/2010/main" val="193842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BAAD35-EABC-4E40-9298-CFBBC8BFB4D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2A3B52-9DC6-416B-B87C-EB9E189C6F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77FED3A-D695-4592-881B-02FF9BE890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4B0AD58C-28BB-4F0A-9756-5A30816EF6E5}"/>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72FCED-17D8-415F-8455-CE0ED46DB13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Load campus_energy.csv into a DataFrame called df.</a:t>
            </a:r>
          </a:p>
        </p:txBody>
      </p:sp>
      <p:sp>
        <p:nvSpPr>
          <p:cNvPr id="6" name="">
            <a:extLst xmlns:a="http://schemas.openxmlformats.org/drawingml/2006/main">
              <a:ext uri="{FF2B5EF4-FFF2-40B4-BE49-F238E27FC236}">
                <a16:creationId xmlns:a16="http://schemas.microsoft.com/office/drawing/2014/main" id="{EE6F79D7-B5A5-47EF-928E-768242778CB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147A22-07B3-40E3-B9B8-727BB0B5FFC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5BC71E3-E4AF-4131-B976-FD22CA21F5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24</a:t>
            </a:r>
          </a:p>
        </p:txBody>
      </p:sp>
    </p:spTree>
    <p:extLst>
      <p:ext uri="{BB962C8B-B14F-4D97-AF65-F5344CB8AC3E}">
        <p14:creationId xmlns:p14="http://schemas.microsoft.com/office/powerpoint/2010/main" val="50425289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EBA760-AAE8-48E9-8B59-269B2D5B5E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46F6BB-B46A-44CD-A472-754A65C91F4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8903BEF-F781-49D8-8C61-62C673140A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3 marks</a:t>
            </a:r>
          </a:p>
        </p:txBody>
      </p:sp>
      <p:sp>
        <p:nvSpPr>
          <p:cNvPr id="4" name="">
            <a:extLst xmlns:a="http://schemas.openxmlformats.org/drawingml/2006/main">
              <a:ext uri="{FF2B5EF4-FFF2-40B4-BE49-F238E27FC236}">
                <a16:creationId xmlns:a16="http://schemas.microsoft.com/office/drawing/2014/main" id="{396BF185-83B0-4180-8E67-7666EB336DA6}"/>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D18E61-9EBF-43B9-AB2A-F8DD7EB7DBB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n_meters to the number of distinct meters in the file.</a:t>
            </a:r>
          </a:p>
        </p:txBody>
      </p:sp>
      <p:sp>
        <p:nvSpPr>
          <p:cNvPr id="6" name="">
            <a:extLst xmlns:a="http://schemas.openxmlformats.org/drawingml/2006/main">
              <a:ext uri="{FF2B5EF4-FFF2-40B4-BE49-F238E27FC236}">
                <a16:creationId xmlns:a16="http://schemas.microsoft.com/office/drawing/2014/main" id="{F6B0F338-AF06-4281-9DBB-502447842300}"/>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D4D123-7F57-482D-9C0D-7FB497A12CA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1F14754-6F2F-4A5A-83A3-D83482B25BB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25</a:t>
            </a:r>
          </a:p>
        </p:txBody>
      </p:sp>
    </p:spTree>
    <p:extLst>
      <p:ext uri="{BB962C8B-B14F-4D97-AF65-F5344CB8AC3E}">
        <p14:creationId xmlns:p14="http://schemas.microsoft.com/office/powerpoint/2010/main" val="143059189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2EEC8F-BB8C-40F4-B8FE-8BE6F09C42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A2B543-E129-4755-B8A2-0ED604E6B2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FE342106-9C2D-4F3F-8021-0EAB2B4FFB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4 marks</a:t>
            </a:r>
          </a:p>
        </p:txBody>
      </p:sp>
      <p:sp>
        <p:nvSpPr>
          <p:cNvPr id="4" name="">
            <a:extLst xmlns:a="http://schemas.openxmlformats.org/drawingml/2006/main">
              <a:ext uri="{FF2B5EF4-FFF2-40B4-BE49-F238E27FC236}">
                <a16:creationId xmlns:a16="http://schemas.microsoft.com/office/drawing/2014/main" id="{EDCCA079-5DE4-44E3-8FC5-AC9CBF2D277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817763-1F74-4990-93EB-F1B0F959E6B1}"/>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Add a column cost_per_kwh to df, equal to cost_ugx / kwh.</a:t>
            </a:r>
          </a:p>
        </p:txBody>
      </p:sp>
      <p:sp>
        <p:nvSpPr>
          <p:cNvPr id="6" name="">
            <a:extLst xmlns:a="http://schemas.openxmlformats.org/drawingml/2006/main">
              <a:ext uri="{FF2B5EF4-FFF2-40B4-BE49-F238E27FC236}">
                <a16:creationId xmlns:a16="http://schemas.microsoft.com/office/drawing/2014/main" id="{DEBED6FE-C95C-4EB4-8FFC-E277FBF05C2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7FEC28-7659-4E81-AE19-93267750503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D1E44F9-1704-4C5F-B4E1-8E34D3AE64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26</a:t>
            </a:r>
          </a:p>
        </p:txBody>
      </p:sp>
    </p:spTree>
    <p:extLst>
      <p:ext uri="{BB962C8B-B14F-4D97-AF65-F5344CB8AC3E}">
        <p14:creationId xmlns:p14="http://schemas.microsoft.com/office/powerpoint/2010/main" val="12727687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E60381-3E45-452F-B689-FBDF1C660F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DD100A-4E7A-4978-9C65-B8C37614F4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FA49A01F-787F-40DB-95E1-19F6682435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4 marks</a:t>
            </a:r>
          </a:p>
        </p:txBody>
      </p:sp>
      <p:sp>
        <p:nvSpPr>
          <p:cNvPr id="4" name="">
            <a:extLst xmlns:a="http://schemas.openxmlformats.org/drawingml/2006/main">
              <a:ext uri="{FF2B5EF4-FFF2-40B4-BE49-F238E27FC236}">
                <a16:creationId xmlns:a16="http://schemas.microsoft.com/office/drawing/2014/main" id="{1F0F1D9D-5DB5-4ED0-B99B-D358DE3219E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6FFF2E-0AF8-41D9-A8EC-AAD74EC1152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high_use to the rows of df where kwh is greater than 5000.</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this after q3 so the derived column comes along.</a:t>
            </a:r>
          </a:p>
        </p:txBody>
      </p:sp>
      <p:sp>
        <p:nvSpPr>
          <p:cNvPr id="6" name="">
            <a:extLst xmlns:a="http://schemas.openxmlformats.org/drawingml/2006/main">
              <a:ext uri="{FF2B5EF4-FFF2-40B4-BE49-F238E27FC236}">
                <a16:creationId xmlns:a16="http://schemas.microsoft.com/office/drawing/2014/main" id="{378D6A42-1D36-4B05-AC09-36BA622A4EC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09D443-775A-4121-912B-D5C7CD551B0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6B45B43-4013-49CD-BFB6-7AEA0CF21C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27</a:t>
            </a:r>
          </a:p>
        </p:txBody>
      </p:sp>
    </p:spTree>
    <p:extLst>
      <p:ext uri="{BB962C8B-B14F-4D97-AF65-F5344CB8AC3E}">
        <p14:creationId xmlns:p14="http://schemas.microsoft.com/office/powerpoint/2010/main" val="168505880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BCA66E-28AE-4A0E-A94E-4CAD54E465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F3A3A9-CE70-45CA-B6C6-84FFF7D804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924155B-A79E-468F-9EE2-46F3A5AB11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3 marks</a:t>
            </a:r>
          </a:p>
        </p:txBody>
      </p:sp>
      <p:sp>
        <p:nvSpPr>
          <p:cNvPr id="4" name="">
            <a:extLst xmlns:a="http://schemas.openxmlformats.org/drawingml/2006/main">
              <a:ext uri="{FF2B5EF4-FFF2-40B4-BE49-F238E27FC236}">
                <a16:creationId xmlns:a16="http://schemas.microsoft.com/office/drawing/2014/main" id="{D296626E-75BF-4F2F-A646-2B0DB39C735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DDBE1C-6C14-41C6-A8FD-76A89795CBD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mean_cost_per_kwh to the mean of the cost_per_kwh column.</a:t>
            </a:r>
          </a:p>
        </p:txBody>
      </p:sp>
      <p:sp>
        <p:nvSpPr>
          <p:cNvPr id="6" name="">
            <a:extLst xmlns:a="http://schemas.openxmlformats.org/drawingml/2006/main">
              <a:ext uri="{FF2B5EF4-FFF2-40B4-BE49-F238E27FC236}">
                <a16:creationId xmlns:a16="http://schemas.microsoft.com/office/drawing/2014/main" id="{8DEBFE55-8EF8-4157-A7A3-201C61DD6D77}"/>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BD0DE5-C4DC-4758-90AD-09A1D34449B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29A9F49E-DA7C-4371-AC31-9E14762F9E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28</a:t>
            </a:r>
          </a:p>
        </p:txBody>
      </p:sp>
    </p:spTree>
    <p:extLst>
      <p:ext uri="{BB962C8B-B14F-4D97-AF65-F5344CB8AC3E}">
        <p14:creationId xmlns:p14="http://schemas.microsoft.com/office/powerpoint/2010/main" val="31625586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DE6916-888F-4C60-B3DB-39A6EEA235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C00C59-AF8B-4777-A6CB-491FCC5300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8AF5E01-8CB0-4751-ABD8-6DEF7C7DCD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q6: 3 marks</a:t>
            </a:r>
          </a:p>
        </p:txBody>
      </p:sp>
      <p:sp>
        <p:nvSpPr>
          <p:cNvPr id="4" name="">
            <a:extLst xmlns:a="http://schemas.openxmlformats.org/drawingml/2006/main">
              <a:ext uri="{FF2B5EF4-FFF2-40B4-BE49-F238E27FC236}">
                <a16:creationId xmlns:a16="http://schemas.microsoft.com/office/drawing/2014/main" id="{82DE4D25-6488-41AA-A830-865170145695}"/>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FE0163-DBD0-4C50-8A58-B8A69A4DDB1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peak_building to the name of the building with the highest total kwh.</a:t>
            </a:r>
          </a:p>
        </p:txBody>
      </p:sp>
      <p:sp>
        <p:nvSpPr>
          <p:cNvPr id="6" name="">
            <a:extLst xmlns:a="http://schemas.openxmlformats.org/drawingml/2006/main">
              <a:ext uri="{FF2B5EF4-FFF2-40B4-BE49-F238E27FC236}">
                <a16:creationId xmlns:a16="http://schemas.microsoft.com/office/drawing/2014/main" id="{C6B95C23-C3C4-48F8-A0BA-69964442EC1F}"/>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037C7A-FEAC-448B-93B2-C5C37D34AA1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C2FB730B-CE26-4597-9CA2-55977D65CC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29</a:t>
            </a:r>
          </a:p>
        </p:txBody>
      </p:sp>
    </p:spTree>
    <p:extLst>
      <p:ext uri="{BB962C8B-B14F-4D97-AF65-F5344CB8AC3E}">
        <p14:creationId xmlns:p14="http://schemas.microsoft.com/office/powerpoint/2010/main" val="145872057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E6153FC-D0F4-43B1-B1A9-DB610A4FFE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22E43B-DCBA-4702-A20F-5C90D118F40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9CC30F6F-F290-403C-843E-C0839DEBF5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investigation submission</a:t>
            </a:r>
          </a:p>
        </p:txBody>
      </p:sp>
      <p:sp>
        <p:nvSpPr>
          <p:cNvPr id="4" name="">
            <a:extLst xmlns:a="http://schemas.openxmlformats.org/drawingml/2006/main">
              <a:ext uri="{FF2B5EF4-FFF2-40B4-BE49-F238E27FC236}">
                <a16:creationId xmlns:a16="http://schemas.microsoft.com/office/drawing/2014/main" id="{D6AE8E24-DE15-4592-B355-890A1E8AEBF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5C152DD-8263-4D53-90D9-07C724689D6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07 Oct 2026, 11:00 Kampala</a:t>
            </a:r>
          </a:p>
        </p:txBody>
      </p:sp>
      <p:sp>
        <p:nvSpPr>
          <p:cNvPr id="6" name="">
            <a:extLst xmlns:a="http://schemas.openxmlformats.org/drawingml/2006/main">
              <a:ext uri="{FF2B5EF4-FFF2-40B4-BE49-F238E27FC236}">
                <a16:creationId xmlns:a16="http://schemas.microsoft.com/office/drawing/2014/main" id="{19D9AC5D-E8B9-4D82-BF10-4E4B2613F2A6}"/>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7B40C2E-D9EF-4D45-AD38-602A585FC240}"/>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16 Oct 2026, 11:00 Kampala</a:t>
            </a:r>
          </a:p>
        </p:txBody>
      </p:sp>
      <p:sp>
        <p:nvSpPr>
          <p:cNvPr id="8" name="">
            <a:extLst xmlns:a="http://schemas.openxmlformats.org/drawingml/2006/main">
              <a:ext uri="{FF2B5EF4-FFF2-40B4-BE49-F238E27FC236}">
                <a16:creationId xmlns:a16="http://schemas.microsoft.com/office/drawing/2014/main" id="{F02EB15C-8DC8-4DED-BE57-C919EAB2E2B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006DFA-73AC-45F4-969D-D29B71899500}"/>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79BAAD1F-7AF8-48D5-82FD-9AE84C4274E2}"/>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B3388E7-E26D-4A6D-A7D5-22DFACCD108B}"/>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26045E1C-27B6-47C5-8666-3A1B79399634}"/>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B8B255-DC57-4BC3-ABF3-A4D38972F1F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268c8052be2849db"/>
              </a:rPr>
              <a:t>Open W05 assignment form</a:t>
            </a:r>
          </a:p>
        </p:txBody>
      </p:sp>
      <p:sp>
        <p:nvSpPr>
          <p:cNvPr id="14" name="">
            <a:extLst xmlns:a="http://schemas.openxmlformats.org/drawingml/2006/main">
              <a:ext uri="{FF2B5EF4-FFF2-40B4-BE49-F238E27FC236}">
                <a16:creationId xmlns:a16="http://schemas.microsoft.com/office/drawing/2014/main" id="{A98EA029-D7F0-4CA9-8AEB-2B008D7F06F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https://docs.google.com/forms/d/e/1FAIpQLSea9Y9pC-JeaVEPpu4prViKZaOHF8cmPczko8iGDiPmr73I2A/viewform</a:t>
            </a:r>
          </a:p>
        </p:txBody>
      </p:sp>
      <p:sp>
        <p:nvSpPr>
          <p:cNvPr id="15" name="">
            <a:extLst xmlns:a="http://schemas.openxmlformats.org/drawingml/2006/main">
              <a:ext uri="{FF2B5EF4-FFF2-40B4-BE49-F238E27FC236}">
                <a16:creationId xmlns:a16="http://schemas.microsoft.com/office/drawing/2014/main" id="{D64092FD-1CB6-4C5B-8EB7-592E65012F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30</a:t>
            </a:r>
          </a:p>
        </p:txBody>
      </p:sp>
    </p:spTree>
    <p:extLst>
      <p:ext uri="{BB962C8B-B14F-4D97-AF65-F5344CB8AC3E}">
        <p14:creationId xmlns:p14="http://schemas.microsoft.com/office/powerpoint/2010/main" val="419221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9867B0-62D3-434D-B695-C3973DB693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477C84-C86D-4C0D-A17D-7ABAB71968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9B18082-90FA-4DED-9F53-0988CA2264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26C6710A-DCBB-4675-B388-35728E1FEA5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5125E48-318B-447B-A0C5-18E53A51B1D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45D9B09C-4B16-4E26-907F-E7152B0A5F2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4094FD5-8A8F-452E-B2A9-6015F8C62C1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A320E7E4-028C-47FC-AC36-A019E0AF5CE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1406F45-9A88-4C4F-940B-D65CBF13848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5ADD2880-67CE-4314-B2ED-248233CC30F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8EF0932-E996-44C8-B542-C6CAB2AFDCF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30 Oct 2026, 11:00 Kampala</a:t>
            </a:r>
          </a:p>
        </p:txBody>
      </p:sp>
      <p:sp>
        <p:nvSpPr>
          <p:cNvPr id="12" name="">
            <a:extLst xmlns:a="http://schemas.openxmlformats.org/drawingml/2006/main">
              <a:ext uri="{FF2B5EF4-FFF2-40B4-BE49-F238E27FC236}">
                <a16:creationId xmlns:a16="http://schemas.microsoft.com/office/drawing/2014/main" id="{43C2360D-34E4-4640-9D7E-928BD5A32B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31</a:t>
            </a:r>
          </a:p>
        </p:txBody>
      </p:sp>
    </p:spTree>
    <p:extLst>
      <p:ext uri="{BB962C8B-B14F-4D97-AF65-F5344CB8AC3E}">
        <p14:creationId xmlns:p14="http://schemas.microsoft.com/office/powerpoint/2010/main" val="56103729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4A75743-6CCA-4D65-AAFB-B69413A623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AF6CA5-95BF-49DB-9C84-C40D298191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113D216E-2485-4808-A36A-1212F3D8A89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quiz</a:t>
            </a:r>
          </a:p>
        </p:txBody>
      </p:sp>
      <p:sp>
        <p:nvSpPr>
          <p:cNvPr id="4" name="">
            <a:extLst xmlns:a="http://schemas.openxmlformats.org/drawingml/2006/main">
              <a:ext uri="{FF2B5EF4-FFF2-40B4-BE49-F238E27FC236}">
                <a16:creationId xmlns:a16="http://schemas.microsoft.com/office/drawing/2014/main" id="{3EF2FB50-A682-499B-8161-15F7D2ABDFA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12D2C62-D702-45F7-AD78-A0B607DCE729}"/>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61977358-4255-4145-AFC4-732C63180CD1}"/>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6EA7DE7-6876-4C1B-A2D2-B02BB0FEB0C3}"/>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FD931C7E-DEAB-43ED-B9A0-598D80FD016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6BFA9A-342E-4AA4-A877-93CFF01FEFC0}"/>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1FCF7BD8-464E-4BA7-9A2C-72357494EF7D}"/>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3C80C79-C9F9-4860-AF21-199C9FA56A93}"/>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94CC850D-08A6-4A6F-A6EE-9BE19C550E66}"/>
              </a:ext>
            </a:extLst>
          </p:cNvPr>
          <p:cNvPicPr>
            <a:picLocks xmlns:a="http://schemas.openxmlformats.org/drawingml/2006/main" noChangeAspect="1"/>
          </p:cNvPicPr>
          <p:nvPr/>
        </p:nvPicPr>
        <p:blipFill>
          <a:blip xmlns:r="http://schemas.openxmlformats.org/officeDocument/2006/relationships" xmlns:a="http://schemas.openxmlformats.org/drawingml/2006/main" r:embed="R321c807bf1464a88"/>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7854E52-C3A3-40E4-B28F-5A9735A74B8C}"/>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AAEE284A-6377-42D5-9966-247829BC2DC1}"/>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AAEC443-81F9-4C5F-95D9-207C7E02BD1F}"/>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62921acc93e5429f"/>
              </a:rPr>
              <a:t>Open this week’s quiz</a:t>
            </a:r>
          </a:p>
        </p:txBody>
      </p:sp>
      <p:sp>
        <p:nvSpPr>
          <p:cNvPr id="16" name="">
            <a:extLst xmlns:a="http://schemas.openxmlformats.org/drawingml/2006/main">
              <a:ext uri="{FF2B5EF4-FFF2-40B4-BE49-F238E27FC236}">
                <a16:creationId xmlns:a16="http://schemas.microsoft.com/office/drawing/2014/main" id="{14204349-8489-43A0-BCEC-7C070391BAC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https://forms.gle/a2TPHUcEF6sacSnr6</a:t>
            </a:r>
          </a:p>
        </p:txBody>
      </p:sp>
      <p:sp>
        <p:nvSpPr>
          <p:cNvPr id="17" name="">
            <a:extLst xmlns:a="http://schemas.openxmlformats.org/drawingml/2006/main">
              <a:ext uri="{FF2B5EF4-FFF2-40B4-BE49-F238E27FC236}">
                <a16:creationId xmlns:a16="http://schemas.microsoft.com/office/drawing/2014/main" id="{502ED961-6AF2-4D1E-BC2C-3BBDD78A65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32</a:t>
            </a:r>
          </a:p>
        </p:txBody>
      </p:sp>
    </p:spTree>
    <p:extLst>
      <p:ext uri="{BB962C8B-B14F-4D97-AF65-F5344CB8AC3E}">
        <p14:creationId xmlns:p14="http://schemas.microsoft.com/office/powerpoint/2010/main" val="140501526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A3DDBE-1CC6-4EBB-91E0-4479C1D187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DBA144-038B-468F-9D16-208521EB70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C4ECC4-1498-43C4-A468-4BA91FA977E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support</a:t>
            </a:r>
          </a:p>
        </p:txBody>
      </p:sp>
      <p:sp>
        <p:nvSpPr>
          <p:cNvPr id="4" name="">
            <a:extLst xmlns:a="http://schemas.openxmlformats.org/drawingml/2006/main">
              <a:ext uri="{FF2B5EF4-FFF2-40B4-BE49-F238E27FC236}">
                <a16:creationId xmlns:a16="http://schemas.microsoft.com/office/drawing/2014/main" id="{D5F3D372-10FE-49AC-A588-7D146AAE0C2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EDEF7B5-CB4A-4869-BC96-12200701277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Friday 9 October has no normal class.</a:t>
            </a:r>
          </a:p>
        </p:txBody>
      </p:sp>
      <p:sp>
        <p:nvSpPr>
          <p:cNvPr id="6" name="">
            <a:extLst xmlns:a="http://schemas.openxmlformats.org/drawingml/2006/main">
              <a:ext uri="{FF2B5EF4-FFF2-40B4-BE49-F238E27FC236}">
                <a16:creationId xmlns:a16="http://schemas.microsoft.com/office/drawing/2014/main" id="{6C860ADA-22A8-4844-AA03-86C7D104901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7DE004C-9B6E-43EF-9D9F-91E77FB5A5D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announce a supported replacement session or recording with a clinic.</a:t>
            </a:r>
          </a:p>
        </p:txBody>
      </p:sp>
      <p:sp>
        <p:nvSpPr>
          <p:cNvPr id="8" name="">
            <a:extLst xmlns:a="http://schemas.openxmlformats.org/drawingml/2006/main">
              <a:ext uri="{FF2B5EF4-FFF2-40B4-BE49-F238E27FC236}">
                <a16:creationId xmlns:a16="http://schemas.microsoft.com/office/drawing/2014/main" id="{BDDAAE58-512B-4C91-BB57-B0BD5909C86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D28B674-C152-4F89-9A77-E40663A33C9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Week 6 starts with 30 minutes of consolidation.</a:t>
            </a:r>
          </a:p>
        </p:txBody>
      </p:sp>
      <p:sp>
        <p:nvSpPr>
          <p:cNvPr id="10" name="">
            <a:extLst xmlns:a="http://schemas.openxmlformats.org/drawingml/2006/main">
              <a:ext uri="{FF2B5EF4-FFF2-40B4-BE49-F238E27FC236}">
                <a16:creationId xmlns:a16="http://schemas.microsoft.com/office/drawing/2014/main" id="{CD482EC5-83F2-40D7-B7C6-368ADAB4C56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33</a:t>
            </a:r>
          </a:p>
        </p:txBody>
      </p:sp>
    </p:spTree>
    <p:extLst>
      <p:ext uri="{BB962C8B-B14F-4D97-AF65-F5344CB8AC3E}">
        <p14:creationId xmlns:p14="http://schemas.microsoft.com/office/powerpoint/2010/main" val="531134170"/>
      </p:ext>
    </p:extLst>
  </p:cSld>
</p:sld>
</file>

<file path=ppt/slides/slide3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D03814-84C6-4581-90B4-CDA190568E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2E4ABDD0-4F91-457F-BC6F-6A737A7EB0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AE676D02-D764-4524-82D0-4B5BDDD35DA0}"/>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0DF2EC53-C1B4-40ED-B8E1-8F408CE121E3}"/>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which observations a filter keeps and what a grouped total means.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0474DCA7-373B-4277-AE54-D93D3F0EC7ED}"/>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C023528B-4A67-4A36-AF1C-FB72A962FC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5   34</a:t>
            </a:r>
          </a:p>
        </p:txBody>
      </p:sp>
    </p:spTree>
    <p:extLst>
      <p:ext uri="{BB962C8B-B14F-4D97-AF65-F5344CB8AC3E}">
        <p14:creationId xmlns:p14="http://schemas.microsoft.com/office/powerpoint/2010/main" val="268072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2026-10-20T18:04:29.5420000Z</dcterms:created>
  <dcterms:modified xsi:type="dcterms:W3CDTF">2026-10-20T18:04:29.5420000Z</dcterms:modified>
</coreProperties>
</file>