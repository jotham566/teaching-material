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50138c679140e3" /><Relationship Type="http://schemas.openxmlformats.org/officeDocument/2006/relationships/extended-properties" Target="/docProps/app.xml" Id="R520fedea82944990" /><Relationship Type="http://schemas.openxmlformats.org/officeDocument/2006/relationships/officeDocument" Target="/ppt/presentation.xml" Id="Rabc534ec773e46e7" /></Relationships>
</file>

<file path=ppt/presentation.xml><?xml version="1.0" encoding="utf-8"?>
<p:presentation xmlns:p="http://schemas.openxmlformats.org/presentationml/2006/main">
  <p:sldMasterIdLst>
    <p:sldMasterId xmlns:r="http://schemas.openxmlformats.org/officeDocument/2006/relationships" id="2147483648" r:id="R5700007781194cc3"/>
  </p:sldMasterIdLst>
  <p:notesMasterIdLst>
    <p:notesMasterId xmlns:r="http://schemas.openxmlformats.org/officeDocument/2006/relationships" r:id="Rb445075429e04ed9"/>
  </p:notesMasterIdLst>
  <p:sldIdLst>
    <p:sldId xmlns:r="http://schemas.openxmlformats.org/officeDocument/2006/relationships" id="256" r:id="R029a58dc10674f46"/>
    <p:sldId xmlns:r="http://schemas.openxmlformats.org/officeDocument/2006/relationships" id="257" r:id="Rbbe4cdd00cd94d3b"/>
    <p:sldId xmlns:r="http://schemas.openxmlformats.org/officeDocument/2006/relationships" id="258" r:id="Re34bc6266a524109"/>
    <p:sldId xmlns:r="http://schemas.openxmlformats.org/officeDocument/2006/relationships" id="259" r:id="Rca05d4d80304462b"/>
    <p:sldId xmlns:r="http://schemas.openxmlformats.org/officeDocument/2006/relationships" id="260" r:id="R36a43370c0cd4639"/>
    <p:sldId xmlns:r="http://schemas.openxmlformats.org/officeDocument/2006/relationships" id="261" r:id="R68433639bdbf4787"/>
    <p:sldId xmlns:r="http://schemas.openxmlformats.org/officeDocument/2006/relationships" id="262" r:id="Rf704e9d82b1746eb"/>
    <p:sldId xmlns:r="http://schemas.openxmlformats.org/officeDocument/2006/relationships" id="263" r:id="R0471998e78cb47fb"/>
    <p:sldId xmlns:r="http://schemas.openxmlformats.org/officeDocument/2006/relationships" id="264" r:id="Rbca5ce35d8da44fd"/>
    <p:sldId xmlns:r="http://schemas.openxmlformats.org/officeDocument/2006/relationships" id="265" r:id="R2afc4bad450748bb"/>
    <p:sldId xmlns:r="http://schemas.openxmlformats.org/officeDocument/2006/relationships" id="266" r:id="Ra2d6cee70cc54ad6"/>
    <p:sldId xmlns:r="http://schemas.openxmlformats.org/officeDocument/2006/relationships" id="267" r:id="Ra9b97e81af1c4859"/>
    <p:sldId xmlns:r="http://schemas.openxmlformats.org/officeDocument/2006/relationships" id="268" r:id="Rf8a4f5026a064d62"/>
    <p:sldId xmlns:r="http://schemas.openxmlformats.org/officeDocument/2006/relationships" id="269" r:id="R4474c1efe6054af5"/>
    <p:sldId xmlns:r="http://schemas.openxmlformats.org/officeDocument/2006/relationships" id="270" r:id="Rddfde1455c1f4579"/>
    <p:sldId xmlns:r="http://schemas.openxmlformats.org/officeDocument/2006/relationships" id="271" r:id="R2d4d6a9fcc21418b"/>
    <p:sldId xmlns:r="http://schemas.openxmlformats.org/officeDocument/2006/relationships" id="272" r:id="R3c9c83586e7a455c"/>
    <p:sldId xmlns:r="http://schemas.openxmlformats.org/officeDocument/2006/relationships" id="273" r:id="Re9869d30cf9248cd"/>
    <p:sldId xmlns:r="http://schemas.openxmlformats.org/officeDocument/2006/relationships" id="274" r:id="R231c02b49564431d"/>
    <p:sldId xmlns:r="http://schemas.openxmlformats.org/officeDocument/2006/relationships" id="275" r:id="R7e9dd4e126ee47dc"/>
    <p:sldId xmlns:r="http://schemas.openxmlformats.org/officeDocument/2006/relationships" id="276" r:id="R2c4dc0dc263d425f"/>
    <p:sldId xmlns:r="http://schemas.openxmlformats.org/officeDocument/2006/relationships" id="277" r:id="R4d315309af634715"/>
    <p:sldId xmlns:r="http://schemas.openxmlformats.org/officeDocument/2006/relationships" id="278" r:id="Rab00b37efb1e404e"/>
    <p:sldId xmlns:r="http://schemas.openxmlformats.org/officeDocument/2006/relationships" id="279" r:id="R0853127589f3473a"/>
    <p:sldId xmlns:r="http://schemas.openxmlformats.org/officeDocument/2006/relationships" id="280" r:id="Rbaea2d02e16b430c"/>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c7643ba51c4d31" /><Relationship Type="http://schemas.openxmlformats.org/officeDocument/2006/relationships/slideMaster" Target="/ppt/slideMasters/slideMaster1.xml" Id="R5700007781194cc3" /><Relationship Type="http://schemas.openxmlformats.org/officeDocument/2006/relationships/notesMaster" Target="/ppt/notesMasters/notesMaster1.xml" Id="Rb445075429e04ed9" /><Relationship Type="http://schemas.openxmlformats.org/officeDocument/2006/relationships/presProps" Target="/ppt/presProps.xml" Id="R25eac72c545b4af0" /><Relationship Type="http://schemas.openxmlformats.org/officeDocument/2006/relationships/tableStyles" Target="/ppt/tableStyles.xml" Id="R456cc47802414c7e" /><Relationship Type="http://schemas.openxmlformats.org/officeDocument/2006/relationships/slide" Target="/ppt/slides/slide1.xml" Id="R029a58dc10674f46" /><Relationship Type="http://schemas.openxmlformats.org/officeDocument/2006/relationships/slide" Target="/ppt/slides/slide2.xml" Id="Rbbe4cdd00cd94d3b" /><Relationship Type="http://schemas.openxmlformats.org/officeDocument/2006/relationships/slide" Target="/ppt/slides/slide3.xml" Id="Re34bc6266a524109" /><Relationship Type="http://schemas.openxmlformats.org/officeDocument/2006/relationships/slide" Target="/ppt/slides/slide4.xml" Id="Rca05d4d80304462b" /><Relationship Type="http://schemas.openxmlformats.org/officeDocument/2006/relationships/slide" Target="/ppt/slides/slide5.xml" Id="R36a43370c0cd4639" /><Relationship Type="http://schemas.openxmlformats.org/officeDocument/2006/relationships/slide" Target="/ppt/slides/slide6.xml" Id="R68433639bdbf4787" /><Relationship Type="http://schemas.openxmlformats.org/officeDocument/2006/relationships/slide" Target="/ppt/slides/slide7.xml" Id="Rf704e9d82b1746eb" /><Relationship Type="http://schemas.openxmlformats.org/officeDocument/2006/relationships/slide" Target="/ppt/slides/slide8.xml" Id="R0471998e78cb47fb" /><Relationship Type="http://schemas.openxmlformats.org/officeDocument/2006/relationships/slide" Target="/ppt/slides/slide9.xml" Id="Rbca5ce35d8da44fd" /><Relationship Type="http://schemas.openxmlformats.org/officeDocument/2006/relationships/slide" Target="/ppt/slides/slide10.xml" Id="R2afc4bad450748bb" /><Relationship Type="http://schemas.openxmlformats.org/officeDocument/2006/relationships/slide" Target="/ppt/slides/slide11.xml" Id="Ra2d6cee70cc54ad6" /><Relationship Type="http://schemas.openxmlformats.org/officeDocument/2006/relationships/slide" Target="/ppt/slides/slide12.xml" Id="Ra9b97e81af1c4859" /><Relationship Type="http://schemas.openxmlformats.org/officeDocument/2006/relationships/slide" Target="/ppt/slides/slide13.xml" Id="Rf8a4f5026a064d62" /><Relationship Type="http://schemas.openxmlformats.org/officeDocument/2006/relationships/slide" Target="/ppt/slides/slide14.xml" Id="R4474c1efe6054af5" /><Relationship Type="http://schemas.openxmlformats.org/officeDocument/2006/relationships/slide" Target="/ppt/slides/slide15.xml" Id="Rddfde1455c1f4579" /><Relationship Type="http://schemas.openxmlformats.org/officeDocument/2006/relationships/slide" Target="/ppt/slides/slide16.xml" Id="R2d4d6a9fcc21418b" /><Relationship Type="http://schemas.openxmlformats.org/officeDocument/2006/relationships/slide" Target="/ppt/slides/slide17.xml" Id="R3c9c83586e7a455c" /><Relationship Type="http://schemas.openxmlformats.org/officeDocument/2006/relationships/slide" Target="/ppt/slides/slide18.xml" Id="Re9869d30cf9248cd" /><Relationship Type="http://schemas.openxmlformats.org/officeDocument/2006/relationships/slide" Target="/ppt/slides/slide19.xml" Id="R231c02b49564431d" /><Relationship Type="http://schemas.openxmlformats.org/officeDocument/2006/relationships/slide" Target="/ppt/slides/slide20.xml" Id="R7e9dd4e126ee47dc" /><Relationship Type="http://schemas.openxmlformats.org/officeDocument/2006/relationships/slide" Target="/ppt/slides/slide21.xml" Id="R2c4dc0dc263d425f" /><Relationship Type="http://schemas.openxmlformats.org/officeDocument/2006/relationships/slide" Target="/ppt/slides/slide22.xml" Id="R4d315309af634715" /><Relationship Type="http://schemas.openxmlformats.org/officeDocument/2006/relationships/slide" Target="/ppt/slides/slide23.xml" Id="Rab00b37efb1e404e" /><Relationship Type="http://schemas.openxmlformats.org/officeDocument/2006/relationships/slide" Target="/ppt/slides/slide24.xml" Id="R0853127589f3473a" /><Relationship Type="http://schemas.openxmlformats.org/officeDocument/2006/relationships/slide" Target="/ppt/slides/slide25.xml" Id="Rbaea2d02e16b43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44e685ca004b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8dcbfc8e3e4542" /><Relationship Type="http://schemas.openxmlformats.org/officeDocument/2006/relationships/notesMaster" Target="/ppt/notesMasters/notesMaster1.xml" Id="R51b26cba96fe41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3dbf3cf6e744be" /><Relationship Type="http://schemas.openxmlformats.org/officeDocument/2006/relationships/notesMaster" Target="/ppt/notesMasters/notesMaster1.xml" Id="Rd1e1a038066242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08714d0a674c32" /><Relationship Type="http://schemas.openxmlformats.org/officeDocument/2006/relationships/notesMaster" Target="/ppt/notesMasters/notesMaster1.xml" Id="Rf9eeeb2700e84e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082944631147a6" /><Relationship Type="http://schemas.openxmlformats.org/officeDocument/2006/relationships/notesMaster" Target="/ppt/notesMasters/notesMaster1.xml" Id="Rd3ef943051cf46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53a20a2d89463f" /><Relationship Type="http://schemas.openxmlformats.org/officeDocument/2006/relationships/notesMaster" Target="/ppt/notesMasters/notesMaster1.xml" Id="Raa059caefe9e45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f85a60a1a545bb" /><Relationship Type="http://schemas.openxmlformats.org/officeDocument/2006/relationships/notesMaster" Target="/ppt/notesMasters/notesMaster1.xml" Id="R5174cd3c49c24f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34f64c18c94901" /><Relationship Type="http://schemas.openxmlformats.org/officeDocument/2006/relationships/notesMaster" Target="/ppt/notesMasters/notesMaster1.xml" Id="R3da99bb2254e41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2359171aeb46a1" /><Relationship Type="http://schemas.openxmlformats.org/officeDocument/2006/relationships/notesMaster" Target="/ppt/notesMasters/notesMaster1.xml" Id="R4f10d68d4cba49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4a3749e6534225" /><Relationship Type="http://schemas.openxmlformats.org/officeDocument/2006/relationships/notesMaster" Target="/ppt/notesMasters/notesMaster1.xml" Id="R39d750df57bc40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dd28a835564c43" /><Relationship Type="http://schemas.openxmlformats.org/officeDocument/2006/relationships/notesMaster" Target="/ppt/notesMasters/notesMaster1.xml" Id="Rabc00c40d1b046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5b7f68fe4f54aa7" /><Relationship Type="http://schemas.openxmlformats.org/officeDocument/2006/relationships/notesMaster" Target="/ppt/notesMasters/notesMaster1.xml" Id="R819ce80454534c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9b0db46a0247a4" /><Relationship Type="http://schemas.openxmlformats.org/officeDocument/2006/relationships/notesMaster" Target="/ppt/notesMasters/notesMaster1.xml" Id="R9a60a9bbce514b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daee5c90654bf4" /><Relationship Type="http://schemas.openxmlformats.org/officeDocument/2006/relationships/notesMaster" Target="/ppt/notesMasters/notesMaster1.xml" Id="Rfa72f2170e6e43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a74e2864e0d4759" /><Relationship Type="http://schemas.openxmlformats.org/officeDocument/2006/relationships/notesMaster" Target="/ppt/notesMasters/notesMaster1.xml" Id="R348c14732f91418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35d2e096b3942ff" /><Relationship Type="http://schemas.openxmlformats.org/officeDocument/2006/relationships/notesMaster" Target="/ppt/notesMasters/notesMaster1.xml" Id="R8e070cc3e58d46b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e103c1e7464bb4" /><Relationship Type="http://schemas.openxmlformats.org/officeDocument/2006/relationships/notesMaster" Target="/ppt/notesMasters/notesMaster1.xml" Id="R1f85d00339e447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49b5cfa41f1497d" /><Relationship Type="http://schemas.openxmlformats.org/officeDocument/2006/relationships/notesMaster" Target="/ppt/notesMasters/notesMaster1.xml" Id="Rdfe2fa4c626742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27f930496a48fa" /><Relationship Type="http://schemas.openxmlformats.org/officeDocument/2006/relationships/notesMaster" Target="/ppt/notesMasters/notesMaster1.xml" Id="Rf862ecdf3a6548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8f1a7fd2294f8e" /><Relationship Type="http://schemas.openxmlformats.org/officeDocument/2006/relationships/notesMaster" Target="/ppt/notesMasters/notesMaster1.xml" Id="Rb1c55a7555c042a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f000f473854ea4" /><Relationship Type="http://schemas.openxmlformats.org/officeDocument/2006/relationships/notesMaster" Target="/ppt/notesMasters/notesMaster1.xml" Id="Re740a707b7a140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8f67494b15d4bd5" /><Relationship Type="http://schemas.openxmlformats.org/officeDocument/2006/relationships/notesMaster" Target="/ppt/notesMasters/notesMaster1.xml" Id="Rc8d8cebbb76c4e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4b786ae16847e5" /><Relationship Type="http://schemas.openxmlformats.org/officeDocument/2006/relationships/notesMaster" Target="/ppt/notesMasters/notesMaster1.xml" Id="R935bc470a691466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5ef5a2127f04dc2" /><Relationship Type="http://schemas.openxmlformats.org/officeDocument/2006/relationships/notesMaster" Target="/ppt/notesMasters/notesMaster1.xml" Id="R091d0008816d449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2da85cf25dd4596" /><Relationship Type="http://schemas.openxmlformats.org/officeDocument/2006/relationships/notesMaster" Target="/ppt/notesMasters/notesMaster1.xml" Id="R8d8f2349e39c484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2db5ec3799447ae" /><Relationship Type="http://schemas.openxmlformats.org/officeDocument/2006/relationships/notesMaster" Target="/ppt/notesMasters/notesMaster1.xml" Id="Rb121998f83cd41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Presenting the project and individual contribution</a:t>
            </a:r>
          </a:p>
          <a:p xmlns:a="http://schemas.openxmlformats.org/drawingml/2006/main">
            <a:r>
              <a:t>Explanation to give</a:t>
            </a:r>
          </a:p>
          <a:p xmlns:a="http://schemas.openxmlformats.org/drawingml/2006/main">
            <a:r>
              <a:t>Explain a supported finding, its limitation and the individual work behind it. The team project and each learner’s defence are distinct evidence.</a:t>
            </a:r>
          </a:p>
          <a:p xmlns:a="http://schemas.openxmlformats.org/drawingml/2006/main">
            <a:r>
              <a:t/>
            </a:r>
          </a:p>
          <a:p xmlns:a="http://schemas.openxmlformats.org/drawingml/2006/main">
            <a:r>
              <a:t>Worked illustration / lecturer answer</a:t>
            </a:r>
          </a:p>
          <a:p xmlns:a="http://schemas.openxmlformats.org/drawingml/2006/main">
            <a:r>
              <a:t>A claim should point to a named plot or result, its target unit, the evaluated sample and the decision it supports. “Our model is good” supplies none of these.</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Mining and Petroleum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Explanation to give</a:t>
            </a:r>
          </a:p>
          <a:p xmlns:a="http://schemas.openxmlformats.org/drawingml/2006/main">
            <a:r>
              <a:t>Explain a supported finding, its limitation and the individual work behind it. The team project and each learner’s defence are distinct evidence.</a:t>
            </a:r>
          </a:p>
          <a:p xmlns:a="http://schemas.openxmlformats.org/drawingml/2006/main">
            <a:r>
              <a:t/>
            </a:r>
          </a:p>
          <a:p xmlns:a="http://schemas.openxmlformats.org/drawingml/2006/main">
            <a:r>
              <a:t>Worked illustration / lecturer answer</a:t>
            </a:r>
          </a:p>
          <a:p xmlns:a="http://schemas.openxmlformats.org/drawingml/2006/main">
            <a:r>
              <a:t>A claim should point to a named plot or result, its target unit, the evaluated sample and the decision it supports. “Our model is good” supplies none of these.</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Explain your question and one supported finding.</a:t>
            </a:r>
          </a:p>
          <a:p xmlns:a="http://schemas.openxmlformats.org/drawingml/2006/main">
            <a:r>
              <a:t/>
            </a:r>
          </a:p>
          <a:p xmlns:a="http://schemas.openxmlformats.org/drawingml/2006/main">
            <a:r>
              <a:t>State a limitation and your individual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Connection to the previous lesson</a:t>
            </a:r>
          </a:p>
          <a:p xmlns:a="http://schemas.openxmlformats.org/drawingml/2006/main">
            <a:r>
              <a:t>Explanation to give</a:t>
            </a:r>
          </a:p>
          <a:p xmlns:a="http://schemas.openxmlformats.org/drawingml/2006/main">
            <a:r>
              <a:t>Explain a supported finding, its limitation and the individual work behind it. The team project and each learner’s defence are distinct evidence.</a:t>
            </a:r>
          </a:p>
          <a:p xmlns:a="http://schemas.openxmlformats.org/drawingml/2006/main">
            <a:r>
              <a:t/>
            </a:r>
          </a:p>
          <a:p xmlns:a="http://schemas.openxmlformats.org/drawingml/2006/main">
            <a:r>
              <a:t>Worked illustration / lecturer answer</a:t>
            </a:r>
          </a:p>
          <a:p xmlns:a="http://schemas.openxmlformats.org/drawingml/2006/main">
            <a:r>
              <a:t>A claim should point to a named plot or result, its target unit, the evaluated sample and the decision it supports. “Our model is good” supplies none of these.</a:t>
            </a:r>
          </a:p>
          <a:p xmlns:a="http://schemas.openxmlformats.org/drawingml/2006/main">
            <a:r>
              <a:t/>
            </a:r>
          </a:p>
          <a:p xmlns:a="http://schemas.openxmlformats.org/drawingml/2006/main">
            <a:r>
              <a:t>Misconception to address</a:t>
            </a:r>
          </a:p>
          <a:p xmlns:a="http://schemas.openxmlformats.org/drawingml/2006/main">
            <a:r>
              <a:t>Connect this to the previous result named on this slide. Demonstrate the first step again if necessary; there is no requirement for partner work before the explanation.</a:t>
            </a:r>
          </a:p>
          <a:p xmlns:a="http://schemas.openxmlformats.org/drawingml/2006/main">
            <a:r>
              <a:t/>
            </a:r>
          </a:p>
          <a:p xmlns:a="http://schemas.openxmlformats.org/drawingml/2006/main">
            <a:r>
              <a:t>On this slide</a:t>
            </a:r>
          </a:p>
          <a:p xmlns:a="http://schemas.openxmlformats.org/drawingml/2006/main">
            <a:r>
              <a:t>What question did your team investigate, and what result can you support with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revision, not a new test requirement. Lists can name columns or hold returned predictions, but students do not need to rebuild table operations with manual CSV loops. Existing function signatures, marks and allowed-resource rules stay unchanged.</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presentation connects a claim to evidence</a:t>
            </a:r>
          </a:p>
          <a:p xmlns:a="http://schemas.openxmlformats.org/drawingml/2006/main">
            <a:r>
              <a:t>Explanation to give</a:t>
            </a:r>
          </a:p>
          <a:p xmlns:a="http://schemas.openxmlformats.org/drawingml/2006/main">
            <a:r>
              <a:t>Explain the chain from engineering question to measured evidence to a bounded recommendation. A finding states what was observed; a limitation identifies where that evidence may not apply.</a:t>
            </a:r>
          </a:p>
          <a:p xmlns:a="http://schemas.openxmlformats.org/drawingml/2006/main">
            <a:r>
              <a:t/>
            </a:r>
          </a:p>
          <a:p xmlns:a="http://schemas.openxmlformats.org/drawingml/2006/main">
            <a:r>
              <a:t>Worked illustration / lecturer answer</a:t>
            </a:r>
          </a:p>
          <a:p xmlns:a="http://schemas.openxmlformats.org/drawingml/2006/main">
            <a:r>
              <a:t>“On this held-out sample, MAE was 3 kW” states a result. “The sample contains only one site” limits the claim. Neither statement alone justifies deployment at every site.</a:t>
            </a:r>
          </a:p>
          <a:p xmlns:a="http://schemas.openxmlformats.org/drawingml/2006/main">
            <a:r>
              <a:t/>
            </a:r>
          </a:p>
          <a:p xmlns:a="http://schemas.openxmlformats.org/drawingml/2006/main">
            <a:r>
              <a:t>Misconception to address</a:t>
            </a:r>
          </a:p>
          <a:p xmlns:a="http://schemas.openxmlformats.org/drawingml/2006/main">
            <a:r>
              <a:t>A polished chart cannot replace a defined target, correct units or an honest description of the evaluation sample.</a:t>
            </a:r>
          </a:p>
          <a:p xmlns:a="http://schemas.openxmlformats.org/drawingml/2006/main">
            <a:r>
              <a:t/>
            </a:r>
          </a:p>
          <a:p xmlns:a="http://schemas.openxmlformats.org/drawingml/2006/main">
            <a:r>
              <a:t>On this slide</a:t>
            </a:r>
          </a:p>
          <a:p xmlns:a="http://schemas.openxmlformats.org/drawingml/2006/main">
            <a:r>
              <a:t>Finding and limitation: A finding states what the evidence shows. A limitation states where that evidence is incomplete or may not apply. Point to the relevant chart, metric or record.</a:t>
            </a:r>
          </a:p>
          <a:p xmlns:a="http://schemas.openxmlformats.org/drawingml/2006/main">
            <a:r>
              <a:t>Defence and reflection: A defence explains why you made a choice. A reflection explains what you learned and would improve. Describe your own contribution with specific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six-minute presentation</a:t>
            </a:r>
          </a:p>
          <a:p xmlns:a="http://schemas.openxmlformats.org/drawingml/2006/main">
            <a:r>
              <a:t>Explanation to give</a:t>
            </a:r>
          </a:p>
          <a:p xmlns:a="http://schemas.openxmlformats.org/drawingml/2006/main">
            <a:r>
              <a:t>Explain the chain from engineering question to measured evidence to a bounded recommendation. A finding states what was observed; a limitation identifies where that evidence may not apply.</a:t>
            </a:r>
          </a:p>
          <a:p xmlns:a="http://schemas.openxmlformats.org/drawingml/2006/main">
            <a:r>
              <a:t/>
            </a:r>
          </a:p>
          <a:p xmlns:a="http://schemas.openxmlformats.org/drawingml/2006/main">
            <a:r>
              <a:t>Worked illustration / lecturer answer</a:t>
            </a:r>
          </a:p>
          <a:p xmlns:a="http://schemas.openxmlformats.org/drawingml/2006/main">
            <a:r>
              <a:t>“On this held-out sample, MAE was 3 kW” states a result. “The sample contains only one site” limits the claim. Neither statement alone justifies deployment at every site.</a:t>
            </a:r>
          </a:p>
          <a:p xmlns:a="http://schemas.openxmlformats.org/drawingml/2006/main">
            <a:r>
              <a:t/>
            </a:r>
          </a:p>
          <a:p xmlns:a="http://schemas.openxmlformats.org/drawingml/2006/main">
            <a:r>
              <a:t>Misconception to address</a:t>
            </a:r>
          </a:p>
          <a:p xmlns:a="http://schemas.openxmlformats.org/drawingml/2006/main">
            <a:r>
              <a:t>A polished chart cannot replace a defined target, correct units or an honest description of the evaluation sample.</a:t>
            </a:r>
          </a:p>
          <a:p xmlns:a="http://schemas.openxmlformats.org/drawingml/2006/main">
            <a:r>
              <a:t/>
            </a:r>
          </a:p>
          <a:p xmlns:a="http://schemas.openxmlformats.org/drawingml/2006/main">
            <a:r>
              <a:t>On this slide</a:t>
            </a:r>
          </a:p>
          <a:p xmlns:a="http://schemas.openxmlformats.org/drawingml/2006/main">
            <a:r>
              <a:t>Minutes 1–2: explain the question and data.</a:t>
            </a:r>
          </a:p>
          <a:p xmlns:a="http://schemas.openxmlformats.org/drawingml/2006/main">
            <a:r>
              <a:t/>
            </a:r>
          </a:p>
          <a:p xmlns:a="http://schemas.openxmlformats.org/drawingml/2006/main">
            <a:r>
              <a:t>Minutes 3–4: show the method and one supported result.</a:t>
            </a:r>
          </a:p>
          <a:p xmlns:a="http://schemas.openxmlformats.org/drawingml/2006/main">
            <a:r>
              <a:t/>
            </a:r>
          </a:p>
          <a:p xmlns:a="http://schemas.openxmlformats.org/drawingml/2006/main">
            <a:r>
              <a:t>Minutes 5–6: explain limitations, contributions and a next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evidence readable</a:t>
            </a:r>
          </a:p>
          <a:p xmlns:a="http://schemas.openxmlformats.org/drawingml/2006/main">
            <a:r>
              <a:t>Explanation to give</a:t>
            </a:r>
          </a:p>
          <a:p xmlns:a="http://schemas.openxmlformats.org/drawingml/2006/main">
            <a:r>
              <a:t>Explain the chain from engineering question to measured evidence to a bounded recommendation. A finding states what was observed; a limitation identifies where that evidence may not apply.</a:t>
            </a:r>
          </a:p>
          <a:p xmlns:a="http://schemas.openxmlformats.org/drawingml/2006/main">
            <a:r>
              <a:t/>
            </a:r>
          </a:p>
          <a:p xmlns:a="http://schemas.openxmlformats.org/drawingml/2006/main">
            <a:r>
              <a:t>Worked illustration / lecturer answer</a:t>
            </a:r>
          </a:p>
          <a:p xmlns:a="http://schemas.openxmlformats.org/drawingml/2006/main">
            <a:r>
              <a:t>“On this held-out sample, MAE was 3 kW” states a result. “The sample contains only one site” limits the claim. Neither statement alone justifies deployment at every site.</a:t>
            </a:r>
          </a:p>
          <a:p xmlns:a="http://schemas.openxmlformats.org/drawingml/2006/main">
            <a:r>
              <a:t/>
            </a:r>
          </a:p>
          <a:p xmlns:a="http://schemas.openxmlformats.org/drawingml/2006/main">
            <a:r>
              <a:t>Misconception to address</a:t>
            </a:r>
          </a:p>
          <a:p xmlns:a="http://schemas.openxmlformats.org/drawingml/2006/main">
            <a:r>
              <a:t>A polished chart cannot replace a defined target, correct units or an honest description of the evaluation sample.</a:t>
            </a:r>
          </a:p>
          <a:p xmlns:a="http://schemas.openxmlformats.org/drawingml/2006/main">
            <a:r>
              <a:t/>
            </a:r>
          </a:p>
          <a:p xmlns:a="http://schemas.openxmlformats.org/drawingml/2006/main">
            <a:r>
              <a:t>On this slide</a:t>
            </a:r>
          </a:p>
          <a:p xmlns:a="http://schemas.openxmlformats.org/drawingml/2006/main">
            <a:r>
              <a:t>Name the chart axes and their units.</a:t>
            </a:r>
          </a:p>
          <a:p xmlns:a="http://schemas.openxmlformats.org/drawingml/2006/main">
            <a:r>
              <a:t/>
            </a:r>
          </a:p>
          <a:p xmlns:a="http://schemas.openxmlformats.org/drawingml/2006/main">
            <a:r>
              <a:t>State the measured evaluation result and how you obtained it.</a:t>
            </a:r>
          </a:p>
          <a:p xmlns:a="http://schemas.openxmlformats.org/drawingml/2006/main">
            <a:r>
              <a:t/>
            </a:r>
          </a:p>
          <a:p xmlns:a="http://schemas.openxmlformats.org/drawingml/2006/main">
            <a:r>
              <a:t>Point to the particular table, plot or calculation that supports your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Limitations of the results</a:t>
            </a:r>
          </a:p>
          <a:p xmlns:a="http://schemas.openxmlformats.org/drawingml/2006/main">
            <a:r>
              <a:t>Explanation to give</a:t>
            </a:r>
          </a:p>
          <a:p xmlns:a="http://schemas.openxmlformats.org/drawingml/2006/main">
            <a:r>
              <a:t>Explain the chain from engineering question to measured evidence to a bounded recommendation. A finding states what was observed; a limitation identifies where that evidence may not apply.</a:t>
            </a:r>
          </a:p>
          <a:p xmlns:a="http://schemas.openxmlformats.org/drawingml/2006/main">
            <a:r>
              <a:t/>
            </a:r>
          </a:p>
          <a:p xmlns:a="http://schemas.openxmlformats.org/drawingml/2006/main">
            <a:r>
              <a:t>Worked illustration / lecturer answer</a:t>
            </a:r>
          </a:p>
          <a:p xmlns:a="http://schemas.openxmlformats.org/drawingml/2006/main">
            <a:r>
              <a:t>“On this held-out sample, MAE was 3 kW” states a result. “The sample contains only one site” limits the claim. Neither statement alone justifies deployment at every site.</a:t>
            </a:r>
          </a:p>
          <a:p xmlns:a="http://schemas.openxmlformats.org/drawingml/2006/main">
            <a:r>
              <a:t/>
            </a:r>
          </a:p>
          <a:p xmlns:a="http://schemas.openxmlformats.org/drawingml/2006/main">
            <a:r>
              <a:t>Misconception to address</a:t>
            </a:r>
          </a:p>
          <a:p xmlns:a="http://schemas.openxmlformats.org/drawingml/2006/main">
            <a:r>
              <a:t>A polished chart cannot replace a defined target, correct units or an honest description of the evaluation sample.</a:t>
            </a:r>
          </a:p>
          <a:p xmlns:a="http://schemas.openxmlformats.org/drawingml/2006/main">
            <a:r>
              <a:t/>
            </a:r>
          </a:p>
          <a:p xmlns:a="http://schemas.openxmlformats.org/drawingml/2006/main">
            <a:r>
              <a:t>On this slide</a:t>
            </a:r>
          </a:p>
          <a:p xmlns:a="http://schemas.openxmlformats.org/drawingml/2006/main">
            <a:r>
              <a:t>State what your investigation can support.</a:t>
            </a:r>
          </a:p>
          <a:p xmlns:a="http://schemas.openxmlformats.org/drawingml/2006/main">
            <a:r>
              <a:t/>
            </a:r>
          </a:p>
          <a:p xmlns:a="http://schemas.openxmlformats.org/drawingml/2006/main">
            <a:r>
              <a:t>If an answer is unknown, say what evidence would resolve it.</a:t>
            </a:r>
          </a:p>
          <a:p xmlns:a="http://schemas.openxmlformats.org/drawingml/2006/main">
            <a:r>
              <a:t/>
            </a:r>
          </a:p>
          <a:p xmlns:a="http://schemas.openxmlformats.org/drawingml/2006/main">
            <a:r>
              <a:t>Teaching data alone do not establish readiness for real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 checkpoint</a:t>
            </a:r>
          </a:p>
          <a:p xmlns:a="http://schemas.openxmlformats.org/drawingml/2006/main">
            <a:r>
              <a:t>Explanation to give</a:t>
            </a:r>
          </a:p>
          <a:p xmlns:a="http://schemas.openxmlformats.org/drawingml/2006/main">
            <a:r>
              <a:t>Each learner should be able to explain one decision they personally worked on and point to its evidence in the project.</a:t>
            </a:r>
          </a:p>
          <a:p xmlns:a="http://schemas.openxmlformats.org/drawingml/2006/main">
            <a:r>
              <a:t/>
            </a:r>
          </a:p>
          <a:p xmlns:a="http://schemas.openxmlformats.org/drawingml/2006/main">
            <a:r>
              <a:t>Worked illustration / lecturer answer</a:t>
            </a:r>
          </a:p>
          <a:p xmlns:a="http://schemas.openxmlformats.org/drawingml/2006/main">
            <a:r>
              <a:t>Ask for the relevant cell, chart or contribution entry, then a reason for that choice and a limitation. This connects authorship to understanding.</a:t>
            </a:r>
          </a:p>
          <a:p xmlns:a="http://schemas.openxmlformats.org/drawingml/2006/main">
            <a:r>
              <a:t/>
            </a:r>
          </a:p>
          <a:p xmlns:a="http://schemas.openxmlformats.org/drawingml/2006/main">
            <a:r>
              <a:t>Misconception to address</a:t>
            </a:r>
          </a:p>
          <a:p xmlns:a="http://schemas.openxmlformats.org/drawingml/2006/main">
            <a:r>
              <a:t>Live discussion is formative. Collect the individual written evidence required by DEMO so the automatic assessment has the explanation in an accessible form.</a:t>
            </a:r>
          </a:p>
          <a:p xmlns:a="http://schemas.openxmlformats.org/drawingml/2006/main">
            <a:r>
              <a:t/>
            </a:r>
          </a:p>
          <a:p xmlns:a="http://schemas.openxmlformats.org/drawingml/2006/main">
            <a:r>
              <a:t>On this slide</a:t>
            </a:r>
          </a:p>
          <a:p xmlns:a="http://schemas.openxmlformats.org/drawingml/2006/main">
            <a:r>
              <a:t>Each student can explain one decision they personally worked on and point to its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evidence</a:t>
            </a:r>
          </a:p>
          <a:p xmlns:a="http://schemas.openxmlformats.org/drawingml/2006/main">
            <a:r>
              <a:t>Explanation to give</a:t>
            </a:r>
          </a:p>
          <a:p xmlns:a="http://schemas.openxmlformats.org/drawingml/2006/main">
            <a:r>
              <a:t>The team project and the individual DEMO evidence have separate purposes. Each learner submits their own explanation of decisions and reflection on learning.</a:t>
            </a:r>
          </a:p>
          <a:p xmlns:a="http://schemas.openxmlformats.org/drawingml/2006/main">
            <a:r>
              <a:t/>
            </a:r>
          </a:p>
          <a:p xmlns:a="http://schemas.openxmlformats.org/drawingml/2006/main">
            <a:r>
              <a:t>Worked illustration / lecturer answer</a:t>
            </a:r>
          </a:p>
          <a:p xmlns:a="http://schemas.openxmlformats.org/drawingml/2006/main">
            <a:r>
              <a:t>A defence points to specific cells or results in the project. A reflection describes changed understanding, remaining difficulties and the required Semester 2 goals.</a:t>
            </a:r>
          </a:p>
          <a:p xmlns:a="http://schemas.openxmlformats.org/drawingml/2006/main">
            <a:r>
              <a:t/>
            </a:r>
          </a:p>
          <a:p xmlns:a="http://schemas.openxmlformats.org/drawingml/2006/main">
            <a:r>
              <a:t>Misconception to address</a:t>
            </a:r>
          </a:p>
          <a:p xmlns:a="http://schemas.openxmlformats.org/drawingml/2006/main">
            <a:r>
              <a:t>Do not submit one generic team reflection for everybody. Follow the DEMO guide’s presentation and written-document requirements.</a:t>
            </a:r>
          </a:p>
          <a:p xmlns:a="http://schemas.openxmlformats.org/drawingml/2006/main">
            <a:r>
              <a:t/>
            </a:r>
          </a:p>
          <a:p xmlns:a="http://schemas.openxmlformats.org/drawingml/2006/main">
            <a:r>
              <a:t>On this slide</a:t>
            </a:r>
          </a:p>
          <a:p xmlns:a="http://schemas.openxmlformats.org/drawingml/2006/main">
            <a:r>
              <a:t>Use the published project and DEMO requirements.</a:t>
            </a:r>
          </a:p>
          <a:p xmlns:a="http://schemas.openxmlformats.org/drawingml/2006/main">
            <a:r>
              <a:t/>
            </a:r>
          </a:p>
          <a:p xmlns:a="http://schemas.openxmlformats.org/drawingml/2006/main">
            <a:r>
              <a:t>Each individual submits their own typed defence and reflection through the designated route.</a:t>
            </a:r>
          </a:p>
          <a:p xmlns:a="http://schemas.openxmlformats.org/drawingml/2006/main">
            <a:r>
              <a:t/>
            </a:r>
          </a:p>
          <a:p xmlns:a="http://schemas.openxmlformats.org/drawingml/2006/main">
            <a:r>
              <a:t>Submit your own written defence and reflection as instructed.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a:t>
            </a:r>
          </a:p>
          <a:p xmlns:a="http://schemas.openxmlformats.org/drawingml/2006/main">
            <a:r>
              <a:t>Explanation to give</a:t>
            </a:r>
          </a:p>
          <a:p xmlns:a="http://schemas.openxmlformats.org/drawingml/2006/main">
            <a:r>
              <a:t>Show the actual markdown answer cell headed My written evidence. This is where the learner explains the choices and the supplied scenario in their own words.</a:t>
            </a:r>
          </a:p>
          <a:p xmlns:a="http://schemas.openxmlformats.org/drawingml/2006/main">
            <a:r>
              <a:t/>
            </a:r>
          </a:p>
          <a:p xmlns:a="http://schemas.openxmlformats.org/drawingml/2006/main">
            <a:r>
              <a:t>Worked illustration / lecturer answer</a:t>
            </a:r>
          </a:p>
          <a:p xmlns:a="http://schemas.openxmlformats.org/drawingml/2006/main">
            <a:r>
              <a:t>A useful explanation connects a decision to a named result and its limitation: for example, why a training-only median avoids using evaluation information. Describe supplied scenario figures as supplied, not as measurements the learner produced.</a:t>
            </a:r>
          </a:p>
          <a:p xmlns:a="http://schemas.openxmlformats.org/drawingml/2006/main">
            <a:r>
              <a:t/>
            </a:r>
          </a:p>
          <a:p xmlns:a="http://schemas.openxmlformats.org/drawingml/2006/main">
            <a:r>
              <a:t>Misconception to address</a:t>
            </a:r>
          </a:p>
          <a:p xmlns:a="http://schemas.openxmlformats.org/drawingml/2006/main">
            <a:r>
              <a:t>Prompts and copied code comments do not substitute for the learner’s reasoning. Weekly work and tests use the notebook; projects also require their separate readable report.</a:t>
            </a:r>
          </a:p>
          <a:p xmlns:a="http://schemas.openxmlformats.org/drawingml/2006/main">
            <a:r>
              <a:t/>
            </a:r>
          </a:p>
          <a:p xmlns:a="http://schemas.openxmlformats.org/drawingml/2006/main">
            <a:r>
              <a:t>On this slide</a:t>
            </a:r>
          </a:p>
          <a:p xmlns:a="http://schemas.openxmlformats.org/drawingml/2006/main">
            <a:r>
              <a:t>Write your own explanation in the markdown cell headed `## My written evidence`.</a:t>
            </a:r>
          </a:p>
          <a:p xmlns:a="http://schemas.openxmlformats.org/drawingml/2006/main">
            <a:r>
              <a:t/>
            </a:r>
          </a:p>
          <a:p xmlns:a="http://schemas.openxmlformats.org/drawingml/2006/main">
            <a:r>
              <a:t>Keep that heading.</a:t>
            </a:r>
          </a:p>
          <a:p xmlns:a="http://schemas.openxmlformats.org/drawingml/2006/main">
            <a:r>
              <a:t/>
            </a:r>
          </a:p>
          <a:p xmlns:a="http://schemas.openxmlformats.org/drawingml/2006/main">
            <a:r>
              <a:t>Task prompts and code comments are excluded from reasoning marks.</a:t>
            </a:r>
          </a:p>
          <a:p xmlns:a="http://schemas.openxmlformats.org/drawingml/2006/main">
            <a:r>
              <a:t/>
            </a:r>
          </a:p>
          <a:p xmlns:a="http://schemas.openxmlformats.org/drawingml/2006/main">
            <a:r>
              <a:t>Complete every original rubric criterion below, not just the checked functions.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A chart must answer a stated question and show the actual data result. Explain what one mark represents and label both the quantity and unit before stating the finding.</a:t>
            </a:r>
          </a:p>
          <a:p xmlns:a="http://schemas.openxmlformats.org/drawingml/2006/main">
            <a:r>
              <a:t/>
            </a:r>
          </a:p>
          <a:p xmlns:a="http://schemas.openxmlformats.org/drawingml/2006/main">
            <a:r>
              <a:t>Worked illustration / lecturer answer</a:t>
            </a:r>
          </a:p>
          <a:p xmlns:a="http://schemas.openxmlformats.org/drawingml/2006/main">
            <a:r>
              <a:t>A useful caption names the group or sample, the observed difference and the relevant unit. A limitation states what the plotted observations cannot establish, such as causation or performance at a new site.</a:t>
            </a:r>
          </a:p>
          <a:p xmlns:a="http://schemas.openxmlformats.org/drawingml/2006/main">
            <a:r>
              <a:t/>
            </a:r>
          </a:p>
          <a:p xmlns:a="http://schemas.openxmlformats.org/drawingml/2006/main">
            <a:r>
              <a:t>Misconception to address</a:t>
            </a:r>
          </a:p>
          <a:p xmlns:a="http://schemas.openxmlformats.org/drawingml/2006/main">
            <a:r>
              <a:t>Text claiming “a chart was made” is not the required chart. Check the exact number and kinds required on this slide and in the assessment guide.</a:t>
            </a:r>
          </a:p>
          <a:p xmlns:a="http://schemas.openxmlformats.org/drawingml/2006/main">
            <a:r>
              <a:t/>
            </a:r>
          </a:p>
          <a:p xmlns:a="http://schemas.openxmlformats.org/drawingml/2006/main">
            <a:r>
              <a:t>On this slide</a:t>
            </a:r>
          </a:p>
          <a:p xmlns:a="http://schemas.openxmlformats.org/drawingml/2006/main">
            <a:r>
              <a:t>Include profiling, justified cleaning, question-led charts and your engineering recommendation where required.</a:t>
            </a:r>
          </a:p>
          <a:p xmlns:a="http://schemas.openxmlformats.org/drawingml/2006/main">
            <a:r>
              <a:t/>
            </a:r>
          </a:p>
          <a:p xmlns:a="http://schemas.openxmlformats.org/drawingml/2006/main">
            <a:r>
              <a:t>Keep raw data.</a:t>
            </a:r>
          </a:p>
          <a:p xmlns:a="http://schemas.openxmlformats.org/drawingml/2006/main">
            <a:r>
              <a:t/>
            </a:r>
          </a:p>
          <a:p xmlns:a="http://schemas.openxmlformats.org/drawingml/2006/main">
            <a:r>
              <a:t>State units and distinguish correlation from causation.</a:t>
            </a:r>
          </a:p>
          <a:p xmlns:a="http://schemas.openxmlformats.org/drawingml/2006/main">
            <a:r>
              <a:t/>
            </a:r>
          </a:p>
          <a:p xmlns:a="http://schemas.openxmlformats.org/drawingml/2006/main">
            <a:r>
              <a:t>Charts must be actual labelled figures in the notebook, not claims that charts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Bound the proposed engineering problem: identify the decision, intended users, operating setting and quantity or class to predict. Explain why the target supports that decision.</a:t>
            </a:r>
          </a:p>
          <a:p xmlns:a="http://schemas.openxmlformats.org/drawingml/2006/main">
            <a:r>
              <a:t/>
            </a:r>
          </a:p>
          <a:p xmlns:a="http://schemas.openxmlformats.org/drawingml/2006/main">
            <a:r>
              <a:t>Worked illustration / lecturer answer</a:t>
            </a:r>
          </a:p>
          <a:p xmlns:a="http://schemas.openxmlformats.org/drawingml/2006/main">
            <a:r>
              <a:t>A target should be chosen because knowing it helps the decision, not merely because it is a convenient numeric column in the file.</a:t>
            </a:r>
          </a:p>
          <a:p xmlns:a="http://schemas.openxmlformats.org/drawingml/2006/main">
            <a:r>
              <a:t/>
            </a:r>
          </a:p>
          <a:p xmlns:a="http://schemas.openxmlformats.org/drawingml/2006/main">
            <a:r>
              <a:t>Misconception to address</a:t>
            </a:r>
          </a:p>
          <a:p xmlns:a="http://schemas.openxmlformats.org/drawingml/2006/main">
            <a:r>
              <a:t>A broad theme such as “AI for buildings” does not yet specify a model task. The project report must make the target and intended use explicit.</a:t>
            </a:r>
          </a:p>
          <a:p xmlns:a="http://schemas.openxmlformats.org/drawingml/2006/main">
            <a:r>
              <a:t/>
            </a:r>
          </a:p>
          <a:p xmlns:a="http://schemas.openxmlformats.org/drawingml/2006/main">
            <a:r>
              <a:t>On this slide</a:t>
            </a:r>
          </a:p>
          <a:p xmlns:a="http://schemas.openxmlformats.org/drawingml/2006/main">
            <a:r>
              <a:t>Include captions and a separate readable DOCX/PDF report.</a:t>
            </a:r>
          </a:p>
          <a:p xmlns:a="http://schemas.openxmlformats.org/drawingml/2006/main">
            <a:r>
              <a:t/>
            </a:r>
          </a:p>
          <a:p xmlns:a="http://schemas.openxmlformats.org/drawingml/2006/main">
            <a:r>
              <a:t>Problem definition (15.0 total): The engineering problem is real, specific and bounded.</a:t>
            </a:r>
          </a:p>
          <a:p xmlns:a="http://schemas.openxmlformats.org/drawingml/2006/main">
            <a:r>
              <a:t/>
            </a:r>
          </a:p>
          <a:p xmlns:a="http://schemas.openxmlformats.org/drawingml/2006/main">
            <a:r>
              <a:t>The ML task is correctly derived from it.</a:t>
            </a:r>
          </a:p>
          <a:p xmlns:a="http://schemas.openxmlformats.org/drawingml/2006/main">
            <a:r>
              <a:t/>
            </a:r>
          </a:p>
          <a:p xmlns:a="http://schemas.openxmlformats.org/drawingml/2006/main">
            <a:r>
              <a:t>The target variable is justified, not merely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Problem framing begins with a bounded engineering decision and a defined target. Provenance explains where observations came from; a licence states what reuse is allowed.</a:t>
            </a:r>
          </a:p>
          <a:p xmlns:a="http://schemas.openxmlformats.org/drawingml/2006/main">
            <a:r>
              <a:t/>
            </a:r>
          </a:p>
          <a:p xmlns:a="http://schemas.openxmlformats.org/drawingml/2006/main">
            <a:r>
              <a:t>Worked illustration / lecturer answer</a:t>
            </a:r>
          </a:p>
          <a:p xmlns:a="http://schemas.openxmlformats.org/drawingml/2006/main">
            <a:r>
              <a:t>State the population, measurement period, units and who collected the data. Explain how those observations could answer the chosen question rather than merely describing an interesting file.</a:t>
            </a:r>
          </a:p>
          <a:p xmlns:a="http://schemas.openxmlformats.org/drawingml/2006/main">
            <a:r>
              <a:t/>
            </a:r>
          </a:p>
          <a:p xmlns:a="http://schemas.openxmlformats.org/drawingml/2006/main">
            <a:r>
              <a:t>Misconception to address</a:t>
            </a:r>
          </a:p>
          <a:p xmlns:a="http://schemas.openxmlformats.org/drawingml/2006/main">
            <a:r>
              <a:t>Synthetic teaching data must be labelled as synthetic. A plausible story does not establish that a dataset contains the information or permissions the proposed project needs.</a:t>
            </a:r>
          </a:p>
          <a:p xmlns:a="http://schemas.openxmlformats.org/drawingml/2006/main">
            <a:r>
              <a:t/>
            </a:r>
          </a:p>
          <a:p xmlns:a="http://schemas.openxmlformats.org/drawingml/2006/main">
            <a:r>
              <a:t>On this slide</a:t>
            </a:r>
          </a:p>
          <a:p xmlns:a="http://schemas.openxmlformats.org/drawingml/2006/main">
            <a:r>
              <a:t>Data understanding (15.0 total): Provenance, licence and collection method stated.</a:t>
            </a:r>
          </a:p>
          <a:p xmlns:a="http://schemas.openxmlformats.org/drawingml/2006/main">
            <a:r>
              <a:t/>
            </a:r>
          </a:p>
          <a:p xmlns:a="http://schemas.openxmlformats.org/drawingml/2006/main">
            <a:r>
              <a:t>Defects found and handled with justification.</a:t>
            </a:r>
          </a:p>
          <a:p xmlns:a="http://schemas.openxmlformats.org/drawingml/2006/main">
            <a:r>
              <a:t/>
            </a:r>
          </a:p>
          <a:p xmlns:a="http://schemas.openxmlformats.org/drawingml/2006/main">
            <a:r>
              <a:t>Limitations of the data acknowledged before any modelling.</a:t>
            </a:r>
          </a:p>
          <a:p xmlns:a="http://schemas.openxmlformats.org/drawingml/2006/main">
            <a:r>
              <a:t/>
            </a:r>
          </a:p>
          <a:p xmlns:a="http://schemas.openxmlformats.org/drawingml/2006/main">
            <a:r>
              <a:t>Methodology (20.0 total): Appropriate models chosen and compared under one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Explain the order: partition data using the stated protocol, fit preparation on training data, fit models, compare on validation data and leave final test data untouched until choices are fixed.</a:t>
            </a:r>
          </a:p>
          <a:p xmlns:a="http://schemas.openxmlformats.org/drawingml/2006/main">
            <a:r>
              <a:t/>
            </a:r>
          </a:p>
          <a:p xmlns:a="http://schemas.openxmlformats.org/drawingml/2006/main">
            <a:r>
              <a:t>Worked illustration / lecturer answer</a:t>
            </a:r>
          </a:p>
          <a:p xmlns:a="http://schemas.openxmlformats.org/drawingml/2006/main">
            <a:r>
              <a:t>Compare models on identical held-out observations with the same metric and preprocessing rules. Each cross-validation training fold learns its own preparation values.</a:t>
            </a:r>
          </a:p>
          <a:p xmlns:a="http://schemas.openxmlformats.org/drawingml/2006/main">
            <a:r>
              <a:t/>
            </a:r>
          </a:p>
          <a:p xmlns:a="http://schemas.openxmlformats.org/drawingml/2006/main">
            <a:r>
              <a:t>Misconception to address</a:t>
            </a:r>
          </a:p>
          <a:p xmlns:a="http://schemas.openxmlformats.org/drawingml/2006/main">
            <a:r>
              <a:t>A written claim of no leakage must agree with the executable split and fitting code. Follow the published execution requirement for any criterion linked to the split check.</a:t>
            </a:r>
          </a:p>
          <a:p xmlns:a="http://schemas.openxmlformats.org/drawingml/2006/main">
            <a:r>
              <a:t/>
            </a:r>
          </a:p>
          <a:p xmlns:a="http://schemas.openxmlformats.org/drawingml/2006/main">
            <a:r>
              <a:t>On this slide</a:t>
            </a:r>
          </a:p>
          <a:p xmlns:a="http://schemas.openxmlformats.org/drawingml/2006/main">
            <a:r>
              <a:t>Pipeline used.</a:t>
            </a:r>
          </a:p>
          <a:p xmlns:a="http://schemas.openxmlformats.org/drawingml/2006/main">
            <a:r>
              <a:t/>
            </a:r>
          </a:p>
          <a:p xmlns:a="http://schemas.openxmlformats.org/drawingml/2006/main">
            <a:r>
              <a:t>Hyperparameters handled sensibly.</a:t>
            </a:r>
          </a:p>
          <a:p xmlns:a="http://schemas.openxmlformats.org/drawingml/2006/main">
            <a:r>
              <a:t/>
            </a:r>
          </a:p>
          <a:p xmlns:a="http://schemas.openxmlformats.org/drawingml/2006/main">
            <a:r>
              <a:t>Choices explained rather than defaulted to.</a:t>
            </a:r>
          </a:p>
          <a:p xmlns:a="http://schemas.openxmlformats.org/drawingml/2006/main">
            <a:r>
              <a:t/>
            </a:r>
          </a:p>
          <a:p xmlns:a="http://schemas.openxmlformats.org/drawingml/2006/main">
            <a:r>
              <a:t>Engineering reasoning (20.0 total): Domain knowledge visibly enters the work through features, banding, metric choice or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Explain the order: partition data using the stated protocol, fit preparation on training data, fit models, compare on validation data and leave final test data untouched until choices are fixed.</a:t>
            </a:r>
          </a:p>
          <a:p xmlns:a="http://schemas.openxmlformats.org/drawingml/2006/main">
            <a:r>
              <a:t/>
            </a:r>
          </a:p>
          <a:p xmlns:a="http://schemas.openxmlformats.org/drawingml/2006/main">
            <a:r>
              <a:t>Worked illustration / lecturer answer</a:t>
            </a:r>
          </a:p>
          <a:p xmlns:a="http://schemas.openxmlformats.org/drawingml/2006/main">
            <a:r>
              <a:t>Compare models on identical held-out observations with the same metric and preprocessing rules. Each cross-validation training fold learns its own preparation values.</a:t>
            </a:r>
          </a:p>
          <a:p xmlns:a="http://schemas.openxmlformats.org/drawingml/2006/main">
            <a:r>
              <a:t/>
            </a:r>
          </a:p>
          <a:p xmlns:a="http://schemas.openxmlformats.org/drawingml/2006/main">
            <a:r>
              <a:t>Misconception to address</a:t>
            </a:r>
          </a:p>
          <a:p xmlns:a="http://schemas.openxmlformats.org/drawingml/2006/main">
            <a:r>
              <a:t>A written claim of no leakage must agree with the executable split and fitting code. Follow the published execution requirement for any criterion linked to the split check.</a:t>
            </a:r>
          </a:p>
          <a:p xmlns:a="http://schemas.openxmlformats.org/drawingml/2006/main">
            <a:r>
              <a:t/>
            </a:r>
          </a:p>
          <a:p xmlns:a="http://schemas.openxmlformats.org/drawingml/2006/main">
            <a:r>
              <a:t>On this slide</a:t>
            </a:r>
          </a:p>
          <a:p xmlns:a="http://schemas.openxmlformats.org/drawingml/2006/main">
            <a:r>
              <a:t>The result is discussed as engineering, not as a score.</a:t>
            </a:r>
          </a:p>
          <a:p xmlns:a="http://schemas.openxmlformats.org/drawingml/2006/main">
            <a:r>
              <a:t/>
            </a:r>
          </a:p>
          <a:p xmlns:a="http://schemas.openxmlformats.org/drawingml/2006/main">
            <a:r>
              <a:t>Validation (15.0 total): Correct train/test discipline, cross-validation with a reported spread, leakage explicitly checked and ruled out, metric justified against the cost of error.</a:t>
            </a:r>
          </a:p>
          <a:p xmlns:a="http://schemas.openxmlformats.org/drawingml/2006/main">
            <a:r>
              <a:t/>
            </a:r>
          </a:p>
          <a:p xmlns:a="http://schemas.openxmlformats.org/drawingml/2006/main">
            <a:r>
              <a:t>Communication (10.0 total): The 2-page brief is readable by a non-specialist engineer.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A chart must answer a stated question and show the actual data result. Explain what one mark represents and label both the quantity and unit before stating the finding.</a:t>
            </a:r>
          </a:p>
          <a:p xmlns:a="http://schemas.openxmlformats.org/drawingml/2006/main">
            <a:r>
              <a:t/>
            </a:r>
          </a:p>
          <a:p xmlns:a="http://schemas.openxmlformats.org/drawingml/2006/main">
            <a:r>
              <a:t>Worked illustration / lecturer answer</a:t>
            </a:r>
          </a:p>
          <a:p xmlns:a="http://schemas.openxmlformats.org/drawingml/2006/main">
            <a:r>
              <a:t>A useful caption names the group or sample, the observed difference and the relevant unit. A limitation states what the plotted observations cannot establish, such as causation or performance at a new site.</a:t>
            </a:r>
          </a:p>
          <a:p xmlns:a="http://schemas.openxmlformats.org/drawingml/2006/main">
            <a:r>
              <a:t/>
            </a:r>
          </a:p>
          <a:p xmlns:a="http://schemas.openxmlformats.org/drawingml/2006/main">
            <a:r>
              <a:t>Misconception to address</a:t>
            </a:r>
          </a:p>
          <a:p xmlns:a="http://schemas.openxmlformats.org/drawingml/2006/main">
            <a:r>
              <a:t>Text claiming “a chart was made” is not the required chart. Check the exact number and kinds required on this slide and in the assessment guide.</a:t>
            </a:r>
          </a:p>
          <a:p xmlns:a="http://schemas.openxmlformats.org/drawingml/2006/main">
            <a:r>
              <a:t/>
            </a:r>
          </a:p>
          <a:p xmlns:a="http://schemas.openxmlformats.org/drawingml/2006/main">
            <a:r>
              <a:t>On this slide</a:t>
            </a:r>
          </a:p>
          <a:p xmlns:a="http://schemas.openxmlformats.org/drawingml/2006/main">
            <a:r>
              <a:t>Charts answer questions and are captioned with findings.</a:t>
            </a:r>
          </a:p>
          <a:p xmlns:a="http://schemas.openxmlformats.org/drawingml/2006/main">
            <a:r>
              <a:t/>
            </a:r>
          </a:p>
          <a:p xmlns:a="http://schemas.openxmlformats.org/drawingml/2006/main">
            <a:r>
              <a:t>State uncertainty and limitations.</a:t>
            </a:r>
          </a:p>
          <a:p xmlns:a="http://schemas.openxmlformats.org/drawingml/2006/main">
            <a:r>
              <a:t/>
            </a:r>
          </a:p>
          <a:p xmlns:a="http://schemas.openxmlformats.org/drawingml/2006/main">
            <a:r>
              <a:t>Reproducibility &amp; documentation (5.0 total): Repository runs from a clean clone.</a:t>
            </a:r>
          </a:p>
          <a:p xmlns:a="http://schemas.openxmlformats.org/drawingml/2006/main">
            <a:r>
              <a:t/>
            </a:r>
          </a:p>
          <a:p xmlns:a="http://schemas.openxmlformats.org/drawingml/2006/main">
            <a:r>
              <a:t>README complete. requirements.txt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continued</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Seeds set.</a:t>
            </a:r>
          </a:p>
          <a:p xmlns:a="http://schemas.openxmlformats.org/drawingml/2006/main">
            <a:r>
              <a:t/>
            </a:r>
          </a:p>
          <a:p xmlns:a="http://schemas.openxmlformats.org/drawingml/2006/main">
            <a:r>
              <a:t>AI use declared.</a:t>
            </a:r>
          </a:p>
          <a:p xmlns:a="http://schemas.openxmlformats.org/drawingml/2006/main">
            <a:r>
              <a:t/>
            </a:r>
          </a:p>
          <a:p xmlns:a="http://schemas.openxmlformats.org/drawingml/2006/main">
            <a:r>
              <a:t>Contribution log present.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ML project submission</a:t>
            </a:r>
          </a:p>
          <a:p xmlns:a="http://schemas.openxmlformats.org/drawingml/2006/main">
            <a:r>
              <a:t>Explanation to give</a:t>
            </a:r>
          </a:p>
          <a:p xmlns:a="http://schemas.openxmlformats.org/drawingml/2006/main">
            <a:r>
              <a:t>This slide hands over CML3113 ML_PROJECT. Show the exact form title before uploading. The required packet is the completed project notebook together with one readable DOCX or selectable-text PDF report.</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2026-12-18T08:00:00+03:00.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27 Nov 2026, 08:00 Kampala</a:t>
            </a:r>
          </a:p>
          <a:p xmlns:a="http://schemas.openxmlformats.org/drawingml/2006/main">
            <a:r>
              <a:t/>
            </a:r>
          </a:p>
          <a:p xmlns:a="http://schemas.openxmlformats.org/drawingml/2006/main">
            <a:r>
              <a:t>Deadline: 18 Dec 2026, 08:00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evidence (35 marks)</a:t>
            </a:r>
          </a:p>
          <a:p xmlns:a="http://schemas.openxmlformats.org/drawingml/2006/main">
            <a:r>
              <a:t>Explanation to give</a:t>
            </a:r>
          </a:p>
          <a:p xmlns:a="http://schemas.openxmlformats.org/drawingml/2006/main">
            <a:r>
              <a:t>Speaker notes contain the explanation behind each presentation slide. They should connect the question, method, evidence and limitations so the submitted file remains understandable without a live talk.</a:t>
            </a:r>
          </a:p>
          <a:p xmlns:a="http://schemas.openxmlformats.org/drawingml/2006/main">
            <a:r>
              <a:t/>
            </a:r>
          </a:p>
          <a:p xmlns:a="http://schemas.openxmlformats.org/drawingml/2006/main">
            <a:r>
              <a:t>Worked illustration / lecturer answer</a:t>
            </a:r>
          </a:p>
          <a:p xmlns:a="http://schemas.openxmlformats.org/drawingml/2006/main">
            <a:r>
              <a:t>For a results chart, notes identify the sample, target unit, metric and interpretation. The written evidence can then be assessed even when the speaker is absent.</a:t>
            </a:r>
          </a:p>
          <a:p xmlns:a="http://schemas.openxmlformats.org/drawingml/2006/main">
            <a:r>
              <a:t/>
            </a:r>
          </a:p>
          <a:p xmlns:a="http://schemas.openxmlformats.org/drawingml/2006/main">
            <a:r>
              <a:t>Misconception to address</a:t>
            </a:r>
          </a:p>
          <a:p xmlns:a="http://schemas.openxmlformats.org/drawingml/2006/main">
            <a:r>
              <a:t>The local text-based grader does not assess visual polish or spoken delivery. Make required reasoning accessible as actual text rather than only screenshots.</a:t>
            </a:r>
          </a:p>
          <a:p xmlns:a="http://schemas.openxmlformats.org/drawingml/2006/main">
            <a:r>
              <a:t/>
            </a:r>
          </a:p>
          <a:p xmlns:a="http://schemas.openxmlformats.org/drawingml/2006/main">
            <a:r>
              <a:t>On this slide</a:t>
            </a:r>
          </a:p>
          <a:p xmlns:a="http://schemas.openxmlformats.org/drawingml/2006/main">
            <a:r>
              <a:t>Slides and narration notes explain the question, method, evidence and limitations for an engineering audience.</a:t>
            </a:r>
          </a:p>
          <a:p xmlns:a="http://schemas.openxmlformats.org/drawingml/2006/main">
            <a:r>
              <a:t/>
            </a:r>
          </a:p>
          <a:p xmlns:a="http://schemas.openxmlformats.org/drawingml/2006/main">
            <a:r>
              <a:t>The local text grader does not assess visual styling or spoken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written defence (40 marks)</a:t>
            </a:r>
          </a:p>
          <a:p xmlns:a="http://schemas.openxmlformats.org/drawingml/2006/main">
            <a:r>
              <a:t>Explanation to give</a:t>
            </a:r>
          </a:p>
          <a:p xmlns:a="http://schemas.openxmlformats.org/drawingml/2006/main">
            <a:r>
              <a:t>A defence explains the reasoning behind a decision the learner actually made. Ask for a named cell, result or chart so the explanation can be checked against the project.</a:t>
            </a:r>
          </a:p>
          <a:p xmlns:a="http://schemas.openxmlformats.org/drawingml/2006/main">
            <a:r>
              <a:t/>
            </a:r>
          </a:p>
          <a:p xmlns:a="http://schemas.openxmlformats.org/drawingml/2006/main">
            <a:r>
              <a:t>Worked illustration / lecturer answer</a:t>
            </a:r>
          </a:p>
          <a:p xmlns:a="http://schemas.openxmlformats.org/drawingml/2006/main">
            <a:r>
              <a:t>“I used a group split because the same equipment appears repeatedly; this cell lists disjoint equipment IDs” links a choice, reason and evidence.</a:t>
            </a:r>
          </a:p>
          <a:p xmlns:a="http://schemas.openxmlformats.org/drawingml/2006/main">
            <a:r>
              <a:t/>
            </a:r>
          </a:p>
          <a:p xmlns:a="http://schemas.openxmlformats.org/drawingml/2006/main">
            <a:r>
              <a:t>Misconception to address</a:t>
            </a:r>
          </a:p>
          <a:p xmlns:a="http://schemas.openxmlformats.org/drawingml/2006/main">
            <a:r>
              <a:t>A general definition of group splitting is not evidence that this project used it. Each student's explanation must match their own contribution.</a:t>
            </a:r>
          </a:p>
          <a:p xmlns:a="http://schemas.openxmlformats.org/drawingml/2006/main">
            <a:r>
              <a:t/>
            </a:r>
          </a:p>
          <a:p xmlns:a="http://schemas.openxmlformats.org/drawingml/2006/main">
            <a:r>
              <a:t>On this slide</a:t>
            </a:r>
          </a:p>
          <a:p xmlns:a="http://schemas.openxmlformats.org/drawingml/2006/main">
            <a:r>
              <a:t>Two typed answers about the student's own repository identify specific cells/results and explain the decisions.</a:t>
            </a:r>
          </a:p>
          <a:p xmlns:a="http://schemas.openxmlformats.org/drawingml/2006/main">
            <a:r>
              <a:t/>
            </a:r>
          </a:p>
          <a:p xmlns:a="http://schemas.openxmlformats.org/drawingml/2006/main">
            <a:r>
              <a:t>Credit is based on the submitted evidence; live questioning is formative.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(20 marks)</a:t>
            </a:r>
          </a:p>
          <a:p xmlns:a="http://schemas.openxmlformats.org/drawingml/2006/main">
            <a:r>
              <a:t>Explanation to give</a:t>
            </a:r>
          </a:p>
          <a:p xmlns:a="http://schemas.openxmlformats.org/drawingml/2006/main">
            <a:r>
              <a:t>Reflection should compare the learner's earlier understanding with what they can now demonstrate, then specify an achievable next step.</a:t>
            </a:r>
          </a:p>
          <a:p xmlns:a="http://schemas.openxmlformats.org/drawingml/2006/main">
            <a:r>
              <a:t/>
            </a:r>
          </a:p>
          <a:p xmlns:a="http://schemas.openxmlformats.org/drawingml/2006/main">
            <a:r>
              <a:t>Worked illustration / lecturer answer</a:t>
            </a:r>
          </a:p>
          <a:p xmlns:a="http://schemas.openxmlformats.org/drawingml/2006/main">
            <a:r>
              <a:t>A concrete reflection describes an execution-order mistake, how a clean run revealed it, and how the learner now checks notebooks. A goal might be to practise grouped validation on a second dataset.</a:t>
            </a:r>
          </a:p>
          <a:p xmlns:a="http://schemas.openxmlformats.org/drawingml/2006/main">
            <a:r>
              <a:t/>
            </a:r>
          </a:p>
          <a:p xmlns:a="http://schemas.openxmlformats.org/drawingml/2006/main">
            <a:r>
              <a:t>Misconception to address</a:t>
            </a:r>
          </a:p>
          <a:p xmlns:a="http://schemas.openxmlformats.org/drawingml/2006/main">
            <a:r>
              <a:t>“I learned a lot about AI” provides little evidence. Keep the published 500-word requirement and the two Semester 2 goals.</a:t>
            </a:r>
          </a:p>
          <a:p xmlns:a="http://schemas.openxmlformats.org/drawingml/2006/main">
            <a:r>
              <a:t/>
            </a:r>
          </a:p>
          <a:p xmlns:a="http://schemas.openxmlformats.org/drawingml/2006/main">
            <a:r>
              <a:t>On this slide</a:t>
            </a:r>
          </a:p>
          <a:p xmlns:a="http://schemas.openxmlformats.org/drawingml/2006/main">
            <a:r>
              <a:t>500 words.</a:t>
            </a:r>
          </a:p>
          <a:p xmlns:a="http://schemas.openxmlformats.org/drawingml/2006/main">
            <a:r>
              <a:t/>
            </a:r>
          </a:p>
          <a:p xmlns:a="http://schemas.openxmlformats.org/drawingml/2006/main">
            <a:r>
              <a:t>Specific about what changed since Week 1, what remains difficult, and two concrete Semester 2 goals.</a:t>
            </a:r>
          </a:p>
          <a:p xmlns:a="http://schemas.openxmlformats.org/drawingml/2006/main">
            <a:r>
              <a:t/>
            </a:r>
          </a:p>
          <a:p xmlns:a="http://schemas.openxmlformats.org/drawingml/2006/main">
            <a:r>
              <a:t>Generic reflection scores 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AI-use declaration (5 marks)</a:t>
            </a:r>
          </a:p>
          <a:p xmlns:a="http://schemas.openxmlformats.org/drawingml/2006/main">
            <a:r>
              <a:t>Explanation to give</a:t>
            </a:r>
          </a:p>
          <a:p xmlns:a="http://schemas.openxmlformats.org/drawingml/2006/main">
            <a:r>
              <a:t>Explain that disclosure records what help was used, where and how the learner checked it. It does not remove responsibility for the submitted work or override an assessment's restrictions.</a:t>
            </a:r>
          </a:p>
          <a:p xmlns:a="http://schemas.openxmlformats.org/drawingml/2006/main">
            <a:r>
              <a:t/>
            </a:r>
          </a:p>
          <a:p xmlns:a="http://schemas.openxmlformats.org/drawingml/2006/main">
            <a:r>
              <a:t>Worked illustration / lecturer answer</a:t>
            </a:r>
          </a:p>
          <a:p xmlns:a="http://schemas.openxmlformats.org/drawingml/2006/main">
            <a:r>
              <a:t>An informative declaration names the tool, the task for which it helped, the affected file or section and the verification performed. If no AI was used, state that directly.</a:t>
            </a:r>
          </a:p>
          <a:p xmlns:a="http://schemas.openxmlformats.org/drawingml/2006/main">
            <a:r>
              <a:t/>
            </a:r>
          </a:p>
          <a:p xmlns:a="http://schemas.openxmlformats.org/drawingml/2006/main">
            <a:r>
              <a:t>Misconception to address</a:t>
            </a:r>
          </a:p>
          <a:p xmlns:a="http://schemas.openxmlformats.org/drawingml/2006/main">
            <a:r>
              <a:t>Do not imply AI is permitted in an independent test_data. Follow the policy for the particular assessment, and require the learner to explain their own work.</a:t>
            </a:r>
          </a:p>
          <a:p xmlns:a="http://schemas.openxmlformats.org/drawingml/2006/main">
            <a:r>
              <a:t/>
            </a:r>
          </a:p>
          <a:p xmlns:a="http://schemas.openxmlformats.org/drawingml/2006/main">
            <a:r>
              <a:t>On this slide</a:t>
            </a:r>
          </a:p>
          <a:p xmlns:a="http://schemas.openxmlformats.org/drawingml/2006/main">
            <a:r>
              <a:t>Present, complete and plausible against the repository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and individual reflection submission</a:t>
            </a:r>
          </a:p>
          <a:p xmlns:a="http://schemas.openxmlformats.org/drawingml/2006/main">
            <a:r>
              <a:t>Explanation to give</a:t>
            </a:r>
          </a:p>
          <a:p xmlns:a="http://schemas.openxmlformats.org/drawingml/2006/main">
            <a:r>
              <a:t>This slide hands over CML3113 DEMO. Show the exact form title before uploading. The required packet is the presentation with narration notes and the required written defence/reflection document, as listed in the DEMO guide.</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2026-12-18T11:00:00+03:00.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27 Nov 2026, 08:00 Kampala</a:t>
            </a:r>
          </a:p>
          <a:p xmlns:a="http://schemas.openxmlformats.org/drawingml/2006/main">
            <a:r>
              <a:t/>
            </a:r>
          </a:p>
          <a:p xmlns:a="http://schemas.openxmlformats.org/drawingml/2006/main">
            <a:r>
              <a:t>Deadline: 18 Dec 2026, 11:00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Explanation to give</a:t>
            </a:r>
          </a:p>
          <a:p xmlns:a="http://schemas.openxmlformats.org/drawingml/2006/main">
            <a:r>
              <a:t>Explain a supported finding, its limitation and the individual work behind it. The team project and each learner’s defence are distinct evidence.</a:t>
            </a:r>
          </a:p>
          <a:p xmlns:a="http://schemas.openxmlformats.org/drawingml/2006/main">
            <a:r>
              <a:t/>
            </a:r>
          </a:p>
          <a:p xmlns:a="http://schemas.openxmlformats.org/drawingml/2006/main">
            <a:r>
              <a:t>Worked illustration / lecturer answer</a:t>
            </a:r>
          </a:p>
          <a:p xmlns:a="http://schemas.openxmlformats.org/drawingml/2006/main">
            <a:r>
              <a:t>A claim should point to a named plot or result, its target unit, the evaluated sample and the decision it supports. “Our model is good” supplies none of these.</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point to the evidence behind one decision you personally worked on.</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c6663139f645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56023b8211447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696526c270c4f7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ee3a44aa3d44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ff0b5bc97d46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a90ee74fff4b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522DBC-FCB1-47EC-9443-279FCC4ABEA9}"/>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70BEAC6-0E1F-44C1-B69C-01879BD45B51}"/>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7C6CD1C-0018-43A0-8ED7-AF2E79E4A6BB}"/>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77574B-A714-4D5F-8918-458882E11415}"/>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91BA5E-6586-4C3B-909F-E61674A54F12}"/>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B69BE4-F294-4D40-9406-C03770780F4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B32208-1BCD-4AAF-A1F8-5BB53E7CFD5C}"/>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A31077B-C4C5-4EBF-A415-BC5FF775D908}"/>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8BE0A2-5B85-496E-A66E-2F3F2C9D69B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E01642-7ECD-40DF-AB0C-4D17C00F5D76}"/>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f3630af198408d" /><Relationship Type="http://schemas.openxmlformats.org/officeDocument/2006/relationships/slideLayout" Target="/ppt/slideLayouts/slideLayout1.xml" Id="R3cc925f403884165" /><Relationship Type="http://schemas.openxmlformats.org/officeDocument/2006/relationships/slideLayout" Target="/ppt/slideLayouts/slideLayout2.xml" Id="R0e4407f5dea14d5b" /><Relationship Type="http://schemas.openxmlformats.org/officeDocument/2006/relationships/slideLayout" Target="/ppt/slideLayouts/slideLayout3.xml" Id="Rb94dde2ccfdc46c0" /><Relationship Type="http://schemas.openxmlformats.org/officeDocument/2006/relationships/slideLayout" Target="/ppt/slideLayouts/slideLayout4.xml" Id="R3f35517c2f5b49f7" /><Relationship Type="http://schemas.openxmlformats.org/officeDocument/2006/relationships/slideLayout" Target="/ppt/slideLayouts/slideLayout5.xml" Id="R9542f407541b496e" /><Relationship Type="http://schemas.openxmlformats.org/officeDocument/2006/relationships/slideLayout" Target="/ppt/slideLayouts/slideLayout6.xml" Id="Ref256ab003f446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c925f403884165"/>
    <p:sldLayoutId xmlns:r="http://schemas.openxmlformats.org/officeDocument/2006/relationships" id="2147483650" r:id="R0e4407f5dea14d5b"/>
    <p:sldLayoutId xmlns:r="http://schemas.openxmlformats.org/officeDocument/2006/relationships" id="2147483651" r:id="Rb94dde2ccfdc46c0"/>
    <p:sldLayoutId xmlns:r="http://schemas.openxmlformats.org/officeDocument/2006/relationships" id="2147483652" r:id="R3f35517c2f5b49f7"/>
    <p:sldLayoutId xmlns:r="http://schemas.openxmlformats.org/officeDocument/2006/relationships" id="2147483653" r:id="R9542f407541b496e"/>
    <p:sldLayoutId xmlns:r="http://schemas.openxmlformats.org/officeDocument/2006/relationships" id="2147483654" r:id="Ref256ab003f446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af95faf29084a02" /><Relationship Type="http://schemas.openxmlformats.org/officeDocument/2006/relationships/image" Target="/ppt/media/image.png" Id="Rf37e5bb65733487e" /><Relationship Type="http://schemas.openxmlformats.org/officeDocument/2006/relationships/notesSlide" Target="/ppt/notesSlides/notesSlide1.xml" Id="R771d140ab6054e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e899bf270b4de9" /><Relationship Type="http://schemas.openxmlformats.org/officeDocument/2006/relationships/notesSlide" Target="/ppt/notesSlides/notesSlide2.xml" Id="R442872c2aa5c47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8499d3f95cb43f6" /><Relationship Type="http://schemas.openxmlformats.org/officeDocument/2006/relationships/notesSlide" Target="/ppt/notesSlides/notesSlide3.xml" Id="R11bf82b6f70e4f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19d55b4da854784" /><Relationship Type="http://schemas.openxmlformats.org/officeDocument/2006/relationships/notesSlide" Target="/ppt/notesSlides/notesSlide4.xml" Id="Rcbc68ff61a404b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9335ce3a7f84788" /><Relationship Type="http://schemas.openxmlformats.org/officeDocument/2006/relationships/notesSlide" Target="/ppt/notesSlides/notesSlide5.xml" Id="R3b418b389a5f48b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bbd41b31434161" /><Relationship Type="http://schemas.openxmlformats.org/officeDocument/2006/relationships/notesSlide" Target="/ppt/notesSlides/notesSlide6.xml" Id="R960480a7d94542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15fdff917d4f47" /><Relationship Type="http://schemas.openxmlformats.org/officeDocument/2006/relationships/notesSlide" Target="/ppt/notesSlides/notesSlide7.xml" Id="R2e3a0c6946024e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f6bb32fe1a4eb2" /><Relationship Type="http://schemas.openxmlformats.org/officeDocument/2006/relationships/notesSlide" Target="/ppt/notesSlides/notesSlide8.xml" Id="Re9ceb980d12f41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61e004ac204d4a" /><Relationship Type="http://schemas.openxmlformats.org/officeDocument/2006/relationships/notesSlide" Target="/ppt/notesSlides/notesSlide9.xml" Id="R6364c62a2a1d4b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290e1854c14dfc" /><Relationship Type="http://schemas.openxmlformats.org/officeDocument/2006/relationships/notesSlide" Target="/ppt/notesSlides/notesSlide10.xml" Id="R9a7b753249a941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228f6bc10444f27" /><Relationship Type="http://schemas.openxmlformats.org/officeDocument/2006/relationships/notesSlide" Target="/ppt/notesSlides/notesSlide11.xml" Id="R9aadf55eaf6344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98e289cdfba4110" /><Relationship Type="http://schemas.openxmlformats.org/officeDocument/2006/relationships/notesSlide" Target="/ppt/notesSlides/notesSlide12.xml" Id="R751003b3754c43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d262eb6d7a24be2" /><Relationship Type="http://schemas.openxmlformats.org/officeDocument/2006/relationships/notesSlide" Target="/ppt/notesSlides/notesSlide13.xml" Id="Rf5ec6dc14fb9447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b9af63bde8547ee" /><Relationship Type="http://schemas.openxmlformats.org/officeDocument/2006/relationships/notesSlide" Target="/ppt/notesSlides/notesSlide14.xml" Id="R27e3893c4fa5426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2e1d3c542314bed" /><Relationship Type="http://schemas.openxmlformats.org/officeDocument/2006/relationships/notesSlide" Target="/ppt/notesSlides/notesSlide15.xml" Id="R5dba9d3ec1a04d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aba57b48e604ce5" /><Relationship Type="http://schemas.openxmlformats.org/officeDocument/2006/relationships/notesSlide" Target="/ppt/notesSlides/notesSlide16.xml" Id="R6c1abc352e5e46e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9c8f921b3c84ce6" /><Relationship Type="http://schemas.openxmlformats.org/officeDocument/2006/relationships/notesSlide" Target="/ppt/notesSlides/notesSlide17.xml" Id="Rc885575dfeeb4fc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011f25e7d564530" /><Relationship Type="http://schemas.openxmlformats.org/officeDocument/2006/relationships/notesSlide" Target="/ppt/notesSlides/notesSlide18.xml" Id="Rbefc504a6f6b48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ba1ee9499984aaf" /><Relationship Type="http://schemas.openxmlformats.org/officeDocument/2006/relationships/hyperlink" Target="https://docs.google.com/forms/d/e/1FAIpQLSe_nQBvitfOInzsUcXkNH9V5Ykc95ymXHHeujjqHXX2lNzgpg/viewform" TargetMode="External" Id="Rd6d21376766246fd" /><Relationship Type="http://schemas.openxmlformats.org/officeDocument/2006/relationships/notesSlide" Target="/ppt/notesSlides/notesSlide19.xml" Id="R374d5550d92f4c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be755cd5ac847cd" /><Relationship Type="http://schemas.openxmlformats.org/officeDocument/2006/relationships/notesSlide" Target="/ppt/notesSlides/notesSlide20.xml" Id="R5f8b6e8dfef746d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35bbac234044e2a" /><Relationship Type="http://schemas.openxmlformats.org/officeDocument/2006/relationships/notesSlide" Target="/ppt/notesSlides/notesSlide21.xml" Id="R9050ee68abb247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0454b066ac649c6" /><Relationship Type="http://schemas.openxmlformats.org/officeDocument/2006/relationships/notesSlide" Target="/ppt/notesSlides/notesSlide22.xml" Id="Rc6c737da20c1486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7d8f9b86f3542c8" /><Relationship Type="http://schemas.openxmlformats.org/officeDocument/2006/relationships/notesSlide" Target="/ppt/notesSlides/notesSlide23.xml" Id="R2b91306d0136480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30df6d0e7254342" /><Relationship Type="http://schemas.openxmlformats.org/officeDocument/2006/relationships/hyperlink" Target="https://docs.google.com/forms/d/e/1FAIpQLSfMM5T1LqYDNTMxlFZKxTow0BlO6efCj2pBtKfW6ky1-aroIg/viewform" TargetMode="External" Id="R6716b0b44e4248cf" /><Relationship Type="http://schemas.openxmlformats.org/officeDocument/2006/relationships/notesSlide" Target="/ppt/notesSlides/notesSlide24.xml" Id="R1ed68f8b8366408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70a90206a1d45b0" /><Relationship Type="http://schemas.openxmlformats.org/officeDocument/2006/relationships/notesSlide" Target="/ppt/notesSlides/notesSlide25.xml" Id="Rf5c420d1cead48a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30B6CF6-3BF2-43CA-AFF7-3FE0B2257CA9}"/>
              </a:ext>
            </a:extLst>
          </p:cNvPr>
          <p:cNvPicPr>
            <a:picLocks xmlns:a="http://schemas.openxmlformats.org/drawingml/2006/main" noChangeAspect="1"/>
          </p:cNvPicPr>
          <p:nvPr/>
        </p:nvPicPr>
        <p:blipFill>
          <a:blip xmlns:r="http://schemas.openxmlformats.org/officeDocument/2006/relationships" xmlns:a="http://schemas.openxmlformats.org/drawingml/2006/main" r:embed="Rf37e5bb65733487e"/>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5DD485-9460-4C05-B2A8-A02652AB1B69}"/>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70ACF1-3DAC-4F15-9AFE-B7FE45CB29C8}"/>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15</a:t>
            </a:r>
          </a:p>
        </p:txBody>
      </p:sp>
      <p:sp>
        <p:nvSpPr>
          <p:cNvPr id="4" name="">
            <a:extLst xmlns:a="http://schemas.openxmlformats.org/drawingml/2006/main">
              <a:ext uri="{FF2B5EF4-FFF2-40B4-BE49-F238E27FC236}">
                <a16:creationId xmlns:a16="http://schemas.microsoft.com/office/drawing/2014/main" id="{74BF3783-04DE-4044-B540-E46742984F75}"/>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Presenting the project and individual contribution</a:t>
            </a:r>
          </a:p>
        </p:txBody>
      </p:sp>
      <p:sp>
        <p:nvSpPr>
          <p:cNvPr id="5" name="">
            <a:extLst xmlns:a="http://schemas.openxmlformats.org/drawingml/2006/main">
              <a:ext uri="{FF2B5EF4-FFF2-40B4-BE49-F238E27FC236}">
                <a16:creationId xmlns:a16="http://schemas.microsoft.com/office/drawing/2014/main" id="{2072775E-AC14-4873-B882-5113E2AF6B60}"/>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088DA4A7-A641-40FC-AFEB-7FF141166D33}"/>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18 December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7706223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7B0F9C7-5DAD-4F4E-8CAC-657BA28CCD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FB7013D-B572-49E2-820D-C09A81CCF81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3D3CECB4-D1F0-4BF3-A2FF-363C18492E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AB9C6A4C-900B-4BA3-BAB1-6C4B613CBD67}"/>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6EDB110-9445-4A1F-8489-25F55D9A9BF7}"/>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38621603-D36A-4AFD-8B02-08B39BE7A6BC}"/>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your question and one supported finding.</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a limitation and your individual contribution.</a:t>
            </a:r>
          </a:p>
        </p:txBody>
      </p:sp>
      <p:sp>
        <p:nvSpPr>
          <p:cNvPr id="7" name="">
            <a:extLst xmlns:a="http://schemas.openxmlformats.org/drawingml/2006/main">
              <a:ext uri="{FF2B5EF4-FFF2-40B4-BE49-F238E27FC236}">
                <a16:creationId xmlns:a16="http://schemas.microsoft.com/office/drawing/2014/main" id="{3AD59DE4-386A-4708-AC90-A499D790FAF0}"/>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692FCDA0-F425-4327-9E76-381AC1B66478}"/>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point to the evidence behind one decision you personally worked on.</a:t>
            </a:r>
          </a:p>
        </p:txBody>
      </p:sp>
      <p:sp>
        <p:nvSpPr>
          <p:cNvPr id="9" name="">
            <a:extLst xmlns:a="http://schemas.openxmlformats.org/drawingml/2006/main">
              <a:ext uri="{FF2B5EF4-FFF2-40B4-BE49-F238E27FC236}">
                <a16:creationId xmlns:a16="http://schemas.microsoft.com/office/drawing/2014/main" id="{1F6E9C9F-BD57-4884-B17F-8F209611ED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a:t>
            </a:r>
          </a:p>
        </p:txBody>
      </p:sp>
    </p:spTree>
    <p:extLst>
      <p:ext uri="{BB962C8B-B14F-4D97-AF65-F5344CB8AC3E}">
        <p14:creationId xmlns:p14="http://schemas.microsoft.com/office/powerpoint/2010/main" val="13414633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1080EBB-6108-44AD-9486-B09EA4684F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B4749C-B53E-4F09-9AEA-99E49DB6903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3CCA556-9E2F-401C-B750-0AB3797140E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4FDC21A4-57E8-4E19-808F-0D66EAFCD20F}"/>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419D23-0153-40DB-B274-62C25E2BF390}"/>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What question did your team investigate, and what result can you support with evidence?</a:t>
            </a:r>
          </a:p>
        </p:txBody>
      </p:sp>
      <p:sp>
        <p:nvSpPr>
          <p:cNvPr id="6" name="">
            <a:extLst xmlns:a="http://schemas.openxmlformats.org/drawingml/2006/main">
              <a:ext uri="{FF2B5EF4-FFF2-40B4-BE49-F238E27FC236}">
                <a16:creationId xmlns:a16="http://schemas.microsoft.com/office/drawing/2014/main" id="{803FE1B8-3944-46F0-806C-6789B3D27C1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3</a:t>
            </a:r>
          </a:p>
        </p:txBody>
      </p:sp>
    </p:spTree>
    <p:extLst>
      <p:ext uri="{BB962C8B-B14F-4D97-AF65-F5344CB8AC3E}">
        <p14:creationId xmlns:p14="http://schemas.microsoft.com/office/powerpoint/2010/main" val="3150205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90A2EB-2844-4E8B-8891-BA7438DE0A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E933FB-B00D-4372-87AC-BCC87B01E7A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70F871C-30D1-4527-91AA-842F386467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continuing pandas workflow</a:t>
            </a:r>
          </a:p>
        </p:txBody>
      </p:sp>
      <p:sp>
        <p:nvSpPr>
          <p:cNvPr id="4" name="">
            <a:extLst xmlns:a="http://schemas.openxmlformats.org/drawingml/2006/main">
              <a:ext uri="{FF2B5EF4-FFF2-40B4-BE49-F238E27FC236}">
                <a16:creationId xmlns:a16="http://schemas.microsoft.com/office/drawing/2014/main" id="{47D3210C-B071-4FCB-9F13-F66285D5888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B0EB1B-AFD7-404B-9219-C4E67B12BCC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390E555-CD37-46CE-8E92-EACBB1B7F29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 CSV files with pd.read_csv. Keep raw data unchanged and use named columns throughout the investigation.</a:t>
            </a:r>
          </a:p>
        </p:txBody>
      </p:sp>
      <p:sp>
        <p:nvSpPr>
          <p:cNvPr id="7" name="">
            <a:extLst xmlns:a="http://schemas.openxmlformats.org/drawingml/2006/main">
              <a:ext uri="{FF2B5EF4-FFF2-40B4-BE49-F238E27FC236}">
                <a16:creationId xmlns:a16="http://schemas.microsoft.com/office/drawing/2014/main" id="{24D5C463-FD0D-4311-898B-729709D4D40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pandas for cleaning, summaries and model inputs. Return the published Python types at assessment function boundaries.</a:t>
            </a:r>
          </a:p>
        </p:txBody>
      </p:sp>
      <p:sp>
        <p:nvSpPr>
          <p:cNvPr id="8" name="">
            <a:extLst xmlns:a="http://schemas.openxmlformats.org/drawingml/2006/main">
              <a:ext uri="{FF2B5EF4-FFF2-40B4-BE49-F238E27FC236}">
                <a16:creationId xmlns:a16="http://schemas.microsoft.com/office/drawing/2014/main" id="{5BD79808-892C-43C2-85DC-A1503485C9D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4</a:t>
            </a:r>
          </a:p>
        </p:txBody>
      </p:sp>
    </p:spTree>
    <p:extLst>
      <p:ext uri="{BB962C8B-B14F-4D97-AF65-F5344CB8AC3E}">
        <p14:creationId xmlns:p14="http://schemas.microsoft.com/office/powerpoint/2010/main" val="2425706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1567A5-AD0B-46A5-93CE-A8B96374B71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450CA5-9894-4515-B094-C1848342D18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06312F14-F69B-40B5-A606-4F4B774A766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presentation connects a claim to evidence</a:t>
            </a:r>
          </a:p>
        </p:txBody>
      </p:sp>
      <p:sp>
        <p:nvSpPr>
          <p:cNvPr id="4" name="">
            <a:extLst xmlns:a="http://schemas.openxmlformats.org/drawingml/2006/main">
              <a:ext uri="{FF2B5EF4-FFF2-40B4-BE49-F238E27FC236}">
                <a16:creationId xmlns:a16="http://schemas.microsoft.com/office/drawing/2014/main" id="{6536F78F-43DB-41E4-A872-C45863E2371F}"/>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C16355-1BD9-4D21-9A1E-AFA2F885FAE0}"/>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E4572E"/>
                </a:solidFill>
                <a:latin typeface="Calibri"/>
                <a:ea typeface="Calibri"/>
                <a:cs typeface="Calibri"/>
              </a:defRPr>
            </a:defPPr>
            <a:lvl1pPr>
              <a:defRPr sz="2625" b="1">
                <a:solidFill>
                  <a:srgbClr val="E4572E"/>
                </a:solidFill>
                <a:latin typeface="Calibri"/>
                <a:ea typeface="Calibri"/>
                <a:cs typeface="Calibri"/>
              </a:defRPr>
            </a:lvl1pPr>
            <a:lvl2pPr>
              <a:defRPr sz="2625" b="1">
                <a:solidFill>
                  <a:srgbClr val="E4572E"/>
                </a:solidFill>
                <a:latin typeface="Calibri"/>
                <a:ea typeface="Calibri"/>
                <a:cs typeface="Calibri"/>
              </a:defRPr>
            </a:lvl2pPr>
            <a:lvl3pPr>
              <a:defRPr sz="2625" b="1">
                <a:solidFill>
                  <a:srgbClr val="E4572E"/>
                </a:solidFill>
                <a:latin typeface="Calibri"/>
                <a:ea typeface="Calibri"/>
                <a:cs typeface="Calibri"/>
              </a:defRPr>
            </a:lvl3pPr>
            <a:lvl4pPr>
              <a:defRPr sz="2625" b="1">
                <a:solidFill>
                  <a:srgbClr val="E4572E"/>
                </a:solidFill>
                <a:latin typeface="Calibri"/>
                <a:ea typeface="Calibri"/>
                <a:cs typeface="Calibri"/>
              </a:defRPr>
            </a:lvl4pPr>
            <a:lvl5pPr>
              <a:defRPr sz="2625" b="1">
                <a:solidFill>
                  <a:srgbClr val="E4572E"/>
                </a:solidFill>
                <a:latin typeface="Calibri"/>
                <a:ea typeface="Calibri"/>
                <a:cs typeface="Calibri"/>
              </a:defRPr>
            </a:lvl5pPr>
            <a:lvl6pPr>
              <a:defRPr sz="2625" b="1">
                <a:solidFill>
                  <a:srgbClr val="E4572E"/>
                </a:solidFill>
                <a:latin typeface="Calibri"/>
                <a:ea typeface="Calibri"/>
                <a:cs typeface="Calibri"/>
              </a:defRPr>
            </a:lvl6pPr>
            <a:lvl7pPr>
              <a:defRPr sz="2625" b="1">
                <a:solidFill>
                  <a:srgbClr val="E4572E"/>
                </a:solidFill>
                <a:latin typeface="Calibri"/>
                <a:ea typeface="Calibri"/>
                <a:cs typeface="Calibri"/>
              </a:defRPr>
            </a:lvl7pPr>
            <a:lvl8pPr>
              <a:defRPr sz="2625" b="1">
                <a:solidFill>
                  <a:srgbClr val="E4572E"/>
                </a:solidFill>
                <a:latin typeface="Calibri"/>
                <a:ea typeface="Calibri"/>
                <a:cs typeface="Calibri"/>
              </a:defRPr>
            </a:lvl8pPr>
            <a:lvl9pPr>
              <a:defRPr sz="2625" b="1">
                <a:solidFill>
                  <a:srgbClr val="E4572E"/>
                </a:solidFill>
                <a:latin typeface="Calibri"/>
                <a:ea typeface="Calibri"/>
                <a:cs typeface="Calibri"/>
              </a:defRPr>
            </a:lvl9pPr>
          </a:lstStyle>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Finding and limitation</a:t>
            </a:r>
          </a:p>
        </p:txBody>
      </p:sp>
      <p:sp>
        <p:nvSpPr>
          <p:cNvPr id="6" name="">
            <a:extLst xmlns:a="http://schemas.openxmlformats.org/drawingml/2006/main">
              <a:ext uri="{FF2B5EF4-FFF2-40B4-BE49-F238E27FC236}">
                <a16:creationId xmlns:a16="http://schemas.microsoft.com/office/drawing/2014/main" id="{4187465F-BD73-45D0-896A-84E1ADB43AA9}"/>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finding states what the evidence shows. A limitation states where that evidence is incomplete or may not apply. Point to the relevant chart, metric or record.</a:t>
            </a:r>
          </a:p>
        </p:txBody>
      </p:sp>
      <p:sp>
        <p:nvSpPr>
          <p:cNvPr id="7" name="">
            <a:extLst xmlns:a="http://schemas.openxmlformats.org/drawingml/2006/main">
              <a:ext uri="{FF2B5EF4-FFF2-40B4-BE49-F238E27FC236}">
                <a16:creationId xmlns:a16="http://schemas.microsoft.com/office/drawing/2014/main" id="{A1029089-F24C-455A-AF46-DB92BF303B46}"/>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D0FBA6A-D0CA-4224-ABAF-768181AF85E7}"/>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2E7D6F"/>
                </a:solidFill>
                <a:latin typeface="Calibri"/>
                <a:ea typeface="Calibri"/>
                <a:cs typeface="Calibri"/>
              </a:defRPr>
            </a:defPPr>
            <a:lvl1pPr>
              <a:defRPr sz="2625" b="1">
                <a:solidFill>
                  <a:srgbClr val="2E7D6F"/>
                </a:solidFill>
                <a:latin typeface="Calibri"/>
                <a:ea typeface="Calibri"/>
                <a:cs typeface="Calibri"/>
              </a:defRPr>
            </a:lvl1pPr>
            <a:lvl2pPr>
              <a:defRPr sz="2625" b="1">
                <a:solidFill>
                  <a:srgbClr val="2E7D6F"/>
                </a:solidFill>
                <a:latin typeface="Calibri"/>
                <a:ea typeface="Calibri"/>
                <a:cs typeface="Calibri"/>
              </a:defRPr>
            </a:lvl2pPr>
            <a:lvl3pPr>
              <a:defRPr sz="2625" b="1">
                <a:solidFill>
                  <a:srgbClr val="2E7D6F"/>
                </a:solidFill>
                <a:latin typeface="Calibri"/>
                <a:ea typeface="Calibri"/>
                <a:cs typeface="Calibri"/>
              </a:defRPr>
            </a:lvl3pPr>
            <a:lvl4pPr>
              <a:defRPr sz="2625" b="1">
                <a:solidFill>
                  <a:srgbClr val="2E7D6F"/>
                </a:solidFill>
                <a:latin typeface="Calibri"/>
                <a:ea typeface="Calibri"/>
                <a:cs typeface="Calibri"/>
              </a:defRPr>
            </a:lvl4pPr>
            <a:lvl5pPr>
              <a:defRPr sz="2625" b="1">
                <a:solidFill>
                  <a:srgbClr val="2E7D6F"/>
                </a:solidFill>
                <a:latin typeface="Calibri"/>
                <a:ea typeface="Calibri"/>
                <a:cs typeface="Calibri"/>
              </a:defRPr>
            </a:lvl5pPr>
            <a:lvl6pPr>
              <a:defRPr sz="2625" b="1">
                <a:solidFill>
                  <a:srgbClr val="2E7D6F"/>
                </a:solidFill>
                <a:latin typeface="Calibri"/>
                <a:ea typeface="Calibri"/>
                <a:cs typeface="Calibri"/>
              </a:defRPr>
            </a:lvl6pPr>
            <a:lvl7pPr>
              <a:defRPr sz="2625" b="1">
                <a:solidFill>
                  <a:srgbClr val="2E7D6F"/>
                </a:solidFill>
                <a:latin typeface="Calibri"/>
                <a:ea typeface="Calibri"/>
                <a:cs typeface="Calibri"/>
              </a:defRPr>
            </a:lvl7pPr>
            <a:lvl8pPr>
              <a:defRPr sz="2625" b="1">
                <a:solidFill>
                  <a:srgbClr val="2E7D6F"/>
                </a:solidFill>
                <a:latin typeface="Calibri"/>
                <a:ea typeface="Calibri"/>
                <a:cs typeface="Calibri"/>
              </a:defRPr>
            </a:lvl8pPr>
            <a:lvl9pPr>
              <a:defRPr sz="2625" b="1">
                <a:solidFill>
                  <a:srgbClr val="2E7D6F"/>
                </a:solidFill>
                <a:latin typeface="Calibri"/>
                <a:ea typeface="Calibri"/>
                <a:cs typeface="Calibri"/>
              </a:defRPr>
            </a:lvl9pPr>
          </a:lstStyle>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Defence and reflection</a:t>
            </a:r>
          </a:p>
        </p:txBody>
      </p:sp>
      <p:sp>
        <p:nvSpPr>
          <p:cNvPr id="9" name="">
            <a:extLst xmlns:a="http://schemas.openxmlformats.org/drawingml/2006/main">
              <a:ext uri="{FF2B5EF4-FFF2-40B4-BE49-F238E27FC236}">
                <a16:creationId xmlns:a16="http://schemas.microsoft.com/office/drawing/2014/main" id="{A15C0806-198F-4CBF-9788-819CEA6BBCA0}"/>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C3144"/>
                </a:solidFill>
                <a:latin typeface="Calibri"/>
                <a:ea typeface="Calibri"/>
                <a:cs typeface="Calibri"/>
              </a:defRPr>
            </a:defPPr>
            <a:lvl1pPr>
              <a:defRPr sz="2100" b="0">
                <a:solidFill>
                  <a:srgbClr val="1C3144"/>
                </a:solidFill>
                <a:latin typeface="Calibri"/>
                <a:ea typeface="Calibri"/>
                <a:cs typeface="Calibri"/>
              </a:defRPr>
            </a:lvl1pPr>
            <a:lvl2pPr>
              <a:defRPr sz="2100" b="0">
                <a:solidFill>
                  <a:srgbClr val="1C3144"/>
                </a:solidFill>
                <a:latin typeface="Calibri"/>
                <a:ea typeface="Calibri"/>
                <a:cs typeface="Calibri"/>
              </a:defRPr>
            </a:lvl2pPr>
            <a:lvl3pPr>
              <a:defRPr sz="2100" b="0">
                <a:solidFill>
                  <a:srgbClr val="1C3144"/>
                </a:solidFill>
                <a:latin typeface="Calibri"/>
                <a:ea typeface="Calibri"/>
                <a:cs typeface="Calibri"/>
              </a:defRPr>
            </a:lvl3pPr>
            <a:lvl4pPr>
              <a:defRPr sz="2100" b="0">
                <a:solidFill>
                  <a:srgbClr val="1C3144"/>
                </a:solidFill>
                <a:latin typeface="Calibri"/>
                <a:ea typeface="Calibri"/>
                <a:cs typeface="Calibri"/>
              </a:defRPr>
            </a:lvl4pPr>
            <a:lvl5pPr>
              <a:defRPr sz="2100" b="0">
                <a:solidFill>
                  <a:srgbClr val="1C3144"/>
                </a:solidFill>
                <a:latin typeface="Calibri"/>
                <a:ea typeface="Calibri"/>
                <a:cs typeface="Calibri"/>
              </a:defRPr>
            </a:lvl5pPr>
            <a:lvl6pPr>
              <a:defRPr sz="2100" b="0">
                <a:solidFill>
                  <a:srgbClr val="1C3144"/>
                </a:solidFill>
                <a:latin typeface="Calibri"/>
                <a:ea typeface="Calibri"/>
                <a:cs typeface="Calibri"/>
              </a:defRPr>
            </a:lvl6pPr>
            <a:lvl7pPr>
              <a:defRPr sz="2100" b="0">
                <a:solidFill>
                  <a:srgbClr val="1C3144"/>
                </a:solidFill>
                <a:latin typeface="Calibri"/>
                <a:ea typeface="Calibri"/>
                <a:cs typeface="Calibri"/>
              </a:defRPr>
            </a:lvl7pPr>
            <a:lvl8pPr>
              <a:defRPr sz="2100" b="0">
                <a:solidFill>
                  <a:srgbClr val="1C3144"/>
                </a:solidFill>
                <a:latin typeface="Calibri"/>
                <a:ea typeface="Calibri"/>
                <a:cs typeface="Calibri"/>
              </a:defRPr>
            </a:lvl8pPr>
            <a:lvl9pPr>
              <a:defRPr sz="2100" b="0">
                <a:solidFill>
                  <a:srgbClr val="1C3144"/>
                </a:solidFill>
                <a:latin typeface="Calibri"/>
                <a:ea typeface="Calibri"/>
                <a:cs typeface="Calibri"/>
              </a:defRPr>
            </a:lvl9pPr>
          </a:lstStyle>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defence explains why you made a choice. A reflection explains what you learned and would improve. Describe your own contribution with specific evidence.</a:t>
            </a:r>
          </a:p>
        </p:txBody>
      </p:sp>
      <p:sp>
        <p:nvSpPr>
          <p:cNvPr id="10" name="">
            <a:extLst xmlns:a="http://schemas.openxmlformats.org/drawingml/2006/main">
              <a:ext uri="{FF2B5EF4-FFF2-40B4-BE49-F238E27FC236}">
                <a16:creationId xmlns:a16="http://schemas.microsoft.com/office/drawing/2014/main" id="{4B0D3FC1-3F75-41C7-82D7-205A39E3A6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5</a:t>
            </a:r>
          </a:p>
        </p:txBody>
      </p:sp>
    </p:spTree>
    <p:extLst>
      <p:ext uri="{BB962C8B-B14F-4D97-AF65-F5344CB8AC3E}">
        <p14:creationId xmlns:p14="http://schemas.microsoft.com/office/powerpoint/2010/main" val="108364075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7F02F2-0E39-4AFC-874D-7B9018DFF2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5B8850-7E43-461A-888F-D418D559F40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CFD537E-E12C-4B1C-8369-D7265C9161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six-minute presentation</a:t>
            </a:r>
          </a:p>
        </p:txBody>
      </p:sp>
      <p:sp>
        <p:nvSpPr>
          <p:cNvPr id="4" name="">
            <a:extLst xmlns:a="http://schemas.openxmlformats.org/drawingml/2006/main">
              <a:ext uri="{FF2B5EF4-FFF2-40B4-BE49-F238E27FC236}">
                <a16:creationId xmlns:a16="http://schemas.microsoft.com/office/drawing/2014/main" id="{E5AB3A49-AFEF-49C9-B1C6-987EF27F78A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899C148-ED78-4878-AEDF-0B097907895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1–2: explain the question and data.</a:t>
            </a:r>
          </a:p>
        </p:txBody>
      </p:sp>
      <p:sp>
        <p:nvSpPr>
          <p:cNvPr id="6" name="">
            <a:extLst xmlns:a="http://schemas.openxmlformats.org/drawingml/2006/main">
              <a:ext uri="{FF2B5EF4-FFF2-40B4-BE49-F238E27FC236}">
                <a16:creationId xmlns:a16="http://schemas.microsoft.com/office/drawing/2014/main" id="{DDFA26B6-D832-4A6B-9DD5-8038D3A8703B}"/>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1357B12-95DE-4A09-96F7-8C4426189CC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3–4: show the method and one supported result.</a:t>
            </a:r>
          </a:p>
        </p:txBody>
      </p:sp>
      <p:sp>
        <p:nvSpPr>
          <p:cNvPr id="8" name="">
            <a:extLst xmlns:a="http://schemas.openxmlformats.org/drawingml/2006/main">
              <a:ext uri="{FF2B5EF4-FFF2-40B4-BE49-F238E27FC236}">
                <a16:creationId xmlns:a16="http://schemas.microsoft.com/office/drawing/2014/main" id="{0695FAE6-6708-48A5-8F3F-06F04A04DFB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8929679-948E-46E6-81EC-8FD467B128E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Minutes 5–6: explain limitations, contributions and a next step.</a:t>
            </a:r>
          </a:p>
        </p:txBody>
      </p:sp>
      <p:sp>
        <p:nvSpPr>
          <p:cNvPr id="10" name="">
            <a:extLst xmlns:a="http://schemas.openxmlformats.org/drawingml/2006/main">
              <a:ext uri="{FF2B5EF4-FFF2-40B4-BE49-F238E27FC236}">
                <a16:creationId xmlns:a16="http://schemas.microsoft.com/office/drawing/2014/main" id="{F890B215-EDD2-497F-8573-CE9602DF4B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6</a:t>
            </a:r>
          </a:p>
        </p:txBody>
      </p:sp>
    </p:spTree>
    <p:extLst>
      <p:ext uri="{BB962C8B-B14F-4D97-AF65-F5344CB8AC3E}">
        <p14:creationId xmlns:p14="http://schemas.microsoft.com/office/powerpoint/2010/main" val="335359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17B8D86-8702-4DBF-8B84-5832CCC0C3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1A8747-4989-43CE-B366-E6DA1C2BFBF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14B1BD5-A858-4197-8E46-A6D21B6C6B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 the evidence readable</a:t>
            </a:r>
          </a:p>
        </p:txBody>
      </p:sp>
      <p:sp>
        <p:nvSpPr>
          <p:cNvPr id="4" name="">
            <a:extLst xmlns:a="http://schemas.openxmlformats.org/drawingml/2006/main">
              <a:ext uri="{FF2B5EF4-FFF2-40B4-BE49-F238E27FC236}">
                <a16:creationId xmlns:a16="http://schemas.microsoft.com/office/drawing/2014/main" id="{45642AAD-FB4A-4507-A36F-3B564F759E5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0EFF8F0-187F-4B9F-AFEC-74BD15657B3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Name the chart axes and their units.</a:t>
            </a:r>
          </a:p>
        </p:txBody>
      </p:sp>
      <p:sp>
        <p:nvSpPr>
          <p:cNvPr id="6" name="">
            <a:extLst xmlns:a="http://schemas.openxmlformats.org/drawingml/2006/main">
              <a:ext uri="{FF2B5EF4-FFF2-40B4-BE49-F238E27FC236}">
                <a16:creationId xmlns:a16="http://schemas.microsoft.com/office/drawing/2014/main" id="{2DA5D709-DB48-4B9C-9D37-360CF76A9A0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FBE0A9D-5BD7-4B31-AE6A-EA0C98094C8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the measured evaluation result and how you obtained it.</a:t>
            </a:r>
          </a:p>
        </p:txBody>
      </p:sp>
      <p:sp>
        <p:nvSpPr>
          <p:cNvPr id="8" name="">
            <a:extLst xmlns:a="http://schemas.openxmlformats.org/drawingml/2006/main">
              <a:ext uri="{FF2B5EF4-FFF2-40B4-BE49-F238E27FC236}">
                <a16:creationId xmlns:a16="http://schemas.microsoft.com/office/drawing/2014/main" id="{67491597-E607-4E7F-B5A9-61A72F9083F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82831BD-07C4-4F7C-A04F-AA3CAD14AD8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Point to the particular table, plot or calculation that supports your claim.</a:t>
            </a:r>
          </a:p>
        </p:txBody>
      </p:sp>
      <p:sp>
        <p:nvSpPr>
          <p:cNvPr id="10" name="">
            <a:extLst xmlns:a="http://schemas.openxmlformats.org/drawingml/2006/main">
              <a:ext uri="{FF2B5EF4-FFF2-40B4-BE49-F238E27FC236}">
                <a16:creationId xmlns:a16="http://schemas.microsoft.com/office/drawing/2014/main" id="{F72C41C5-1EFD-4AD2-B500-FF16E7187B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7</a:t>
            </a:r>
          </a:p>
        </p:txBody>
      </p:sp>
    </p:spTree>
    <p:extLst>
      <p:ext uri="{BB962C8B-B14F-4D97-AF65-F5344CB8AC3E}">
        <p14:creationId xmlns:p14="http://schemas.microsoft.com/office/powerpoint/2010/main" val="4643565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A7924D6-4BC6-4F6E-9431-3A94DDBF0D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307476-D3D7-430E-8F0B-8164CCC47B6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0C6FBA5-FCC7-48D9-9A9C-2CD96D5BCA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Limitations of the results</a:t>
            </a:r>
          </a:p>
        </p:txBody>
      </p:sp>
      <p:sp>
        <p:nvSpPr>
          <p:cNvPr id="4" name="">
            <a:extLst xmlns:a="http://schemas.openxmlformats.org/drawingml/2006/main">
              <a:ext uri="{FF2B5EF4-FFF2-40B4-BE49-F238E27FC236}">
                <a16:creationId xmlns:a16="http://schemas.microsoft.com/office/drawing/2014/main" id="{9D1F952D-6E82-413E-991C-44758785494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8B157F5-D529-4441-8C82-2E69B83E512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what your investigation can support.</a:t>
            </a:r>
          </a:p>
        </p:txBody>
      </p:sp>
      <p:sp>
        <p:nvSpPr>
          <p:cNvPr id="6" name="">
            <a:extLst xmlns:a="http://schemas.openxmlformats.org/drawingml/2006/main">
              <a:ext uri="{FF2B5EF4-FFF2-40B4-BE49-F238E27FC236}">
                <a16:creationId xmlns:a16="http://schemas.microsoft.com/office/drawing/2014/main" id="{94468D09-6080-42E4-9D0D-F3F51F3B1D0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C5172FC-CB67-4E99-8F8F-5D4AF6C7245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an answer is unknown, say what evidence would resolve it.</a:t>
            </a:r>
          </a:p>
        </p:txBody>
      </p:sp>
      <p:sp>
        <p:nvSpPr>
          <p:cNvPr id="8" name="">
            <a:extLst xmlns:a="http://schemas.openxmlformats.org/drawingml/2006/main">
              <a:ext uri="{FF2B5EF4-FFF2-40B4-BE49-F238E27FC236}">
                <a16:creationId xmlns:a16="http://schemas.microsoft.com/office/drawing/2014/main" id="{AE511ECE-4C7E-4094-AFA9-06AD121FAD4B}"/>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72B9670-F733-414C-8F8D-5FCB22C6DE7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Teaching data alone do not establish readiness for real operation.</a:t>
            </a:r>
          </a:p>
        </p:txBody>
      </p:sp>
      <p:sp>
        <p:nvSpPr>
          <p:cNvPr id="10" name="">
            <a:extLst xmlns:a="http://schemas.openxmlformats.org/drawingml/2006/main">
              <a:ext uri="{FF2B5EF4-FFF2-40B4-BE49-F238E27FC236}">
                <a16:creationId xmlns:a16="http://schemas.microsoft.com/office/drawing/2014/main" id="{5A1B7135-4D3E-4AD9-BF7A-6ED91216F8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8</a:t>
            </a:r>
          </a:p>
        </p:txBody>
      </p:sp>
    </p:spTree>
    <p:extLst>
      <p:ext uri="{BB962C8B-B14F-4D97-AF65-F5344CB8AC3E}">
        <p14:creationId xmlns:p14="http://schemas.microsoft.com/office/powerpoint/2010/main" val="9483369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E1CE79-BB5F-4492-BC33-A996DEBAC2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F90F58-EC8B-4A03-A3F8-01945E4AF07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301E18B-4F12-48D8-9DC1-887DD46C66E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Preparation checkpoint</a:t>
            </a:r>
          </a:p>
        </p:txBody>
      </p:sp>
      <p:sp>
        <p:nvSpPr>
          <p:cNvPr id="4" name="">
            <a:extLst xmlns:a="http://schemas.openxmlformats.org/drawingml/2006/main">
              <a:ext uri="{FF2B5EF4-FFF2-40B4-BE49-F238E27FC236}">
                <a16:creationId xmlns:a16="http://schemas.microsoft.com/office/drawing/2014/main" id="{9E98BF81-63BB-496F-9EF2-5723351311E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B1ACC60-974D-49E6-A6E1-E1EAF735C606}"/>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Each student can explain one decision they personally worked on and point to its evidence.</a:t>
            </a:r>
          </a:p>
        </p:txBody>
      </p:sp>
      <p:sp>
        <p:nvSpPr>
          <p:cNvPr id="6" name="">
            <a:extLst xmlns:a="http://schemas.openxmlformats.org/drawingml/2006/main">
              <a:ext uri="{FF2B5EF4-FFF2-40B4-BE49-F238E27FC236}">
                <a16:creationId xmlns:a16="http://schemas.microsoft.com/office/drawing/2014/main" id="{997F5534-52DF-4CC0-A8A0-64A1A96D09C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9</a:t>
            </a:r>
          </a:p>
        </p:txBody>
      </p:sp>
    </p:spTree>
    <p:extLst>
      <p:ext uri="{BB962C8B-B14F-4D97-AF65-F5344CB8AC3E}">
        <p14:creationId xmlns:p14="http://schemas.microsoft.com/office/powerpoint/2010/main" val="13292930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DCE0763-BCFD-4F30-9046-8FF0B4C529F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A4574B-94CE-4675-8C89-539EB9F749A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3AB480E-2CA8-4BD4-8F18-B20C7A6C0BD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evidence</a:t>
            </a:r>
          </a:p>
        </p:txBody>
      </p:sp>
      <p:sp>
        <p:nvSpPr>
          <p:cNvPr id="4" name="">
            <a:extLst xmlns:a="http://schemas.openxmlformats.org/drawingml/2006/main">
              <a:ext uri="{FF2B5EF4-FFF2-40B4-BE49-F238E27FC236}">
                <a16:creationId xmlns:a16="http://schemas.microsoft.com/office/drawing/2014/main" id="{B81A8184-3D67-4915-86C0-B43795639C7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67C2712-8EE5-4932-9B00-2CBE9C3EE82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project and DEMO requirements.</a:t>
            </a:r>
          </a:p>
        </p:txBody>
      </p:sp>
      <p:sp>
        <p:nvSpPr>
          <p:cNvPr id="6" name="">
            <a:extLst xmlns:a="http://schemas.openxmlformats.org/drawingml/2006/main">
              <a:ext uri="{FF2B5EF4-FFF2-40B4-BE49-F238E27FC236}">
                <a16:creationId xmlns:a16="http://schemas.microsoft.com/office/drawing/2014/main" id="{2DA87124-6277-42D4-9D90-FF4D26C446D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5D775FC-8128-4281-87B1-7C84DA8FE94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individual submits their own typed defence and reflection through the designated route.</a:t>
            </a:r>
          </a:p>
        </p:txBody>
      </p:sp>
      <p:sp>
        <p:nvSpPr>
          <p:cNvPr id="8" name="">
            <a:extLst xmlns:a="http://schemas.openxmlformats.org/drawingml/2006/main">
              <a:ext uri="{FF2B5EF4-FFF2-40B4-BE49-F238E27FC236}">
                <a16:creationId xmlns:a16="http://schemas.microsoft.com/office/drawing/2014/main" id="{64434A89-2086-47CE-A573-FD05226CEEC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8483521-D574-4D4F-BFCF-3C362D281F0F}"/>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your own written defence and reflection as instructed.</a:t>
            </a:r>
          </a:p>
        </p:txBody>
      </p:sp>
      <p:sp>
        <p:nvSpPr>
          <p:cNvPr id="10" name="">
            <a:extLst xmlns:a="http://schemas.openxmlformats.org/drawingml/2006/main">
              <a:ext uri="{FF2B5EF4-FFF2-40B4-BE49-F238E27FC236}">
                <a16:creationId xmlns:a16="http://schemas.microsoft.com/office/drawing/2014/main" id="{B24C9C0A-E2A1-404E-AEF3-B4BD2DB8CE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10</a:t>
            </a:r>
          </a:p>
        </p:txBody>
      </p:sp>
    </p:spTree>
    <p:extLst>
      <p:ext uri="{BB962C8B-B14F-4D97-AF65-F5344CB8AC3E}">
        <p14:creationId xmlns:p14="http://schemas.microsoft.com/office/powerpoint/2010/main" val="137392570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A0E6DC-9448-4874-ADCA-5432538FC05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E5CDE5-D0C4-4C35-A433-F8009CE15E5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78EA9ED-DB84-4C5B-B7A2-A9BB664CD12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a:t>
            </a:r>
          </a:p>
        </p:txBody>
      </p:sp>
      <p:sp>
        <p:nvSpPr>
          <p:cNvPr id="4" name="">
            <a:extLst xmlns:a="http://schemas.openxmlformats.org/drawingml/2006/main">
              <a:ext uri="{FF2B5EF4-FFF2-40B4-BE49-F238E27FC236}">
                <a16:creationId xmlns:a16="http://schemas.microsoft.com/office/drawing/2014/main" id="{57EF6B6A-D212-41DC-9347-AACB85B2BE5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2B70A1F-33EE-4823-8C9F-CE7B6E86275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Write your own explanation in the markdown cell headed `## My written evidence`.</a:t>
            </a:r>
          </a:p>
        </p:txBody>
      </p:sp>
      <p:sp>
        <p:nvSpPr>
          <p:cNvPr id="6" name="">
            <a:extLst xmlns:a="http://schemas.openxmlformats.org/drawingml/2006/main">
              <a:ext uri="{FF2B5EF4-FFF2-40B4-BE49-F238E27FC236}">
                <a16:creationId xmlns:a16="http://schemas.microsoft.com/office/drawing/2014/main" id="{0B847D4F-0DEF-4532-819B-76CA7EDBB05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439AFE7-416F-40F3-B79E-B34F93B8549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that heading.</a:t>
            </a:r>
          </a:p>
        </p:txBody>
      </p:sp>
      <p:sp>
        <p:nvSpPr>
          <p:cNvPr id="8" name="">
            <a:extLst xmlns:a="http://schemas.openxmlformats.org/drawingml/2006/main">
              <a:ext uri="{FF2B5EF4-FFF2-40B4-BE49-F238E27FC236}">
                <a16:creationId xmlns:a16="http://schemas.microsoft.com/office/drawing/2014/main" id="{601395C2-97D4-462B-A8EC-63E2042585E1}"/>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260A9BF-24C2-4917-BB04-EE54BF7997D5}"/>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Task prompts and code comments are excluded from reasoning marks.</a:t>
            </a:r>
          </a:p>
        </p:txBody>
      </p:sp>
      <p:sp>
        <p:nvSpPr>
          <p:cNvPr id="10" name="">
            <a:extLst xmlns:a="http://schemas.openxmlformats.org/drawingml/2006/main">
              <a:ext uri="{FF2B5EF4-FFF2-40B4-BE49-F238E27FC236}">
                <a16:creationId xmlns:a16="http://schemas.microsoft.com/office/drawing/2014/main" id="{B4935AB1-8594-4B07-B3F1-AC4EC99B1EA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D7C68CAA-F809-42C9-A231-142FF5121F6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Complete every original rubric criterion below, not just the checked functions.</a:t>
            </a:r>
          </a:p>
        </p:txBody>
      </p:sp>
      <p:sp>
        <p:nvSpPr>
          <p:cNvPr id="12" name="">
            <a:extLst xmlns:a="http://schemas.openxmlformats.org/drawingml/2006/main">
              <a:ext uri="{FF2B5EF4-FFF2-40B4-BE49-F238E27FC236}">
                <a16:creationId xmlns:a16="http://schemas.microsoft.com/office/drawing/2014/main" id="{B34CB382-33A8-4BEC-BB58-3BFE0C6E768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11</a:t>
            </a:r>
          </a:p>
        </p:txBody>
      </p:sp>
    </p:spTree>
    <p:extLst>
      <p:ext uri="{BB962C8B-B14F-4D97-AF65-F5344CB8AC3E}">
        <p14:creationId xmlns:p14="http://schemas.microsoft.com/office/powerpoint/2010/main" val="11851660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3C11512-6CB4-457C-A156-8D9B316D653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C932FD-2F35-409D-B48D-A40FC4DC65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CB0EFBE-209C-4BF2-8D7F-8984C28EE19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3CA7DF8F-3B9C-498C-B04A-FDA24FA906F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411609F-824B-4FC9-93BD-52D549C5A65A}"/>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profiling, justified cleaning, question-led charts and your engineering recommendation where required.</a:t>
            </a:r>
          </a:p>
        </p:txBody>
      </p:sp>
      <p:sp>
        <p:nvSpPr>
          <p:cNvPr id="6" name="">
            <a:extLst xmlns:a="http://schemas.openxmlformats.org/drawingml/2006/main">
              <a:ext uri="{FF2B5EF4-FFF2-40B4-BE49-F238E27FC236}">
                <a16:creationId xmlns:a16="http://schemas.microsoft.com/office/drawing/2014/main" id="{850B5292-1D34-48EF-99C8-5B89EBFB683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9295008-F79E-48AF-9768-80A7F3E00AC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a:t>
            </a:r>
          </a:p>
        </p:txBody>
      </p:sp>
      <p:sp>
        <p:nvSpPr>
          <p:cNvPr id="8" name="">
            <a:extLst xmlns:a="http://schemas.openxmlformats.org/drawingml/2006/main">
              <a:ext uri="{FF2B5EF4-FFF2-40B4-BE49-F238E27FC236}">
                <a16:creationId xmlns:a16="http://schemas.microsoft.com/office/drawing/2014/main" id="{6E81C8B3-BEBD-4948-A18C-7D51B708F2D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F1D3EF9-107B-4318-9B42-BC4D6F4AE4D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units and distinguish correlation from causation.</a:t>
            </a:r>
          </a:p>
        </p:txBody>
      </p:sp>
      <p:sp>
        <p:nvSpPr>
          <p:cNvPr id="10" name="">
            <a:extLst xmlns:a="http://schemas.openxmlformats.org/drawingml/2006/main">
              <a:ext uri="{FF2B5EF4-FFF2-40B4-BE49-F238E27FC236}">
                <a16:creationId xmlns:a16="http://schemas.microsoft.com/office/drawing/2014/main" id="{71D84A86-BA1F-496D-B862-812726A403A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6FA3B946-937F-4A8F-966D-5BE52AB080A8}"/>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must be actual labelled figures in the notebook, not claims that charts exist.</a:t>
            </a:r>
          </a:p>
        </p:txBody>
      </p:sp>
      <p:sp>
        <p:nvSpPr>
          <p:cNvPr id="12" name="">
            <a:extLst xmlns:a="http://schemas.openxmlformats.org/drawingml/2006/main">
              <a:ext uri="{FF2B5EF4-FFF2-40B4-BE49-F238E27FC236}">
                <a16:creationId xmlns:a16="http://schemas.microsoft.com/office/drawing/2014/main" id="{15167CFE-E774-4798-AF48-FE86FEC9B49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12</a:t>
            </a:r>
          </a:p>
        </p:txBody>
      </p:sp>
    </p:spTree>
    <p:extLst>
      <p:ext uri="{BB962C8B-B14F-4D97-AF65-F5344CB8AC3E}">
        <p14:creationId xmlns:p14="http://schemas.microsoft.com/office/powerpoint/2010/main" val="405591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E259560-A5AB-480E-93E4-414AAB821B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D53771-2821-4ED3-A132-DED0D54D883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0471BE4-D786-4686-BF6E-9A644335652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FD0F4328-837F-4F9D-905F-87624976C66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62C8D11-1F01-4149-991A-EC99E9B9145A}"/>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Include captions and a separate readable DOCX/PDF report.</a:t>
            </a:r>
          </a:p>
        </p:txBody>
      </p:sp>
      <p:sp>
        <p:nvSpPr>
          <p:cNvPr id="6" name="">
            <a:extLst xmlns:a="http://schemas.openxmlformats.org/drawingml/2006/main">
              <a:ext uri="{FF2B5EF4-FFF2-40B4-BE49-F238E27FC236}">
                <a16:creationId xmlns:a16="http://schemas.microsoft.com/office/drawing/2014/main" id="{C1C53275-24F7-49CE-9FD7-876DC883091A}"/>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7A28AAE-95E5-4A94-AED6-38961126FAA7}"/>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Problem definition (15.0 total): The engineering problem is real, specific and bounded.</a:t>
            </a:r>
          </a:p>
        </p:txBody>
      </p:sp>
      <p:sp>
        <p:nvSpPr>
          <p:cNvPr id="8" name="">
            <a:extLst xmlns:a="http://schemas.openxmlformats.org/drawingml/2006/main">
              <a:ext uri="{FF2B5EF4-FFF2-40B4-BE49-F238E27FC236}">
                <a16:creationId xmlns:a16="http://schemas.microsoft.com/office/drawing/2014/main" id="{261CFCDC-3702-4F22-B946-C44D4C3E8C6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13E916E-DE6D-49B4-9240-AB1F3174F590}"/>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ML task is correctly derived from it.</a:t>
            </a:r>
          </a:p>
        </p:txBody>
      </p:sp>
      <p:sp>
        <p:nvSpPr>
          <p:cNvPr id="10" name="">
            <a:extLst xmlns:a="http://schemas.openxmlformats.org/drawingml/2006/main">
              <a:ext uri="{FF2B5EF4-FFF2-40B4-BE49-F238E27FC236}">
                <a16:creationId xmlns:a16="http://schemas.microsoft.com/office/drawing/2014/main" id="{057D0A93-DA67-4D80-A04A-99749A4DA2D1}"/>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B418235-43F2-4A39-8663-EB4F0D92889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target variable is justified, not merely available.</a:t>
            </a:r>
          </a:p>
        </p:txBody>
      </p:sp>
      <p:sp>
        <p:nvSpPr>
          <p:cNvPr id="12" name="">
            <a:extLst xmlns:a="http://schemas.openxmlformats.org/drawingml/2006/main">
              <a:ext uri="{FF2B5EF4-FFF2-40B4-BE49-F238E27FC236}">
                <a16:creationId xmlns:a16="http://schemas.microsoft.com/office/drawing/2014/main" id="{A684A81E-EA8B-4621-9E45-E66361A415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13</a:t>
            </a:r>
          </a:p>
        </p:txBody>
      </p:sp>
    </p:spTree>
    <p:extLst>
      <p:ext uri="{BB962C8B-B14F-4D97-AF65-F5344CB8AC3E}">
        <p14:creationId xmlns:p14="http://schemas.microsoft.com/office/powerpoint/2010/main" val="752161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467794-88C5-46ED-8F9F-CFA218FDDFF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7AF8B6-3F18-451B-AC6A-E19C92F80D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A179429-1881-4F3E-A326-1964013024A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42EB6A10-86F4-440F-B97A-5B14D7A42D0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0119565-E0FD-403A-A122-C945676E91A2}"/>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Data understanding (15.0 total): Provenance, licence and collection method stated.</a:t>
            </a:r>
          </a:p>
        </p:txBody>
      </p:sp>
      <p:sp>
        <p:nvSpPr>
          <p:cNvPr id="6" name="">
            <a:extLst xmlns:a="http://schemas.openxmlformats.org/drawingml/2006/main">
              <a:ext uri="{FF2B5EF4-FFF2-40B4-BE49-F238E27FC236}">
                <a16:creationId xmlns:a16="http://schemas.microsoft.com/office/drawing/2014/main" id="{FEF953F1-9698-436B-A2F1-36C9DD194A92}"/>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F085496-38A0-43DD-9DBF-5FEC0703B0F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Defects found and handled with justification.</a:t>
            </a:r>
          </a:p>
        </p:txBody>
      </p:sp>
      <p:sp>
        <p:nvSpPr>
          <p:cNvPr id="8" name="">
            <a:extLst xmlns:a="http://schemas.openxmlformats.org/drawingml/2006/main">
              <a:ext uri="{FF2B5EF4-FFF2-40B4-BE49-F238E27FC236}">
                <a16:creationId xmlns:a16="http://schemas.microsoft.com/office/drawing/2014/main" id="{0A1A3B1F-0D0B-45DC-A113-43D0C5EA9D9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C797331-94A9-4611-B5CA-F1616476F211}"/>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Limitations of the data acknowledged before any modelling.</a:t>
            </a:r>
          </a:p>
        </p:txBody>
      </p:sp>
      <p:sp>
        <p:nvSpPr>
          <p:cNvPr id="10" name="">
            <a:extLst xmlns:a="http://schemas.openxmlformats.org/drawingml/2006/main">
              <a:ext uri="{FF2B5EF4-FFF2-40B4-BE49-F238E27FC236}">
                <a16:creationId xmlns:a16="http://schemas.microsoft.com/office/drawing/2014/main" id="{1A437B8E-64B3-44E3-A0A8-43E6D0DF2122}"/>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57AC908-DB3E-48C0-9C16-A99830BC007F}"/>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Methodology (20.0 total): Appropriate models chosen and compared under one protocol.</a:t>
            </a:r>
          </a:p>
        </p:txBody>
      </p:sp>
      <p:sp>
        <p:nvSpPr>
          <p:cNvPr id="12" name="">
            <a:extLst xmlns:a="http://schemas.openxmlformats.org/drawingml/2006/main">
              <a:ext uri="{FF2B5EF4-FFF2-40B4-BE49-F238E27FC236}">
                <a16:creationId xmlns:a16="http://schemas.microsoft.com/office/drawing/2014/main" id="{46605173-48A2-48B2-BC7C-DC6C8F406D8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14</a:t>
            </a:r>
          </a:p>
        </p:txBody>
      </p:sp>
    </p:spTree>
    <p:extLst>
      <p:ext uri="{BB962C8B-B14F-4D97-AF65-F5344CB8AC3E}">
        <p14:creationId xmlns:p14="http://schemas.microsoft.com/office/powerpoint/2010/main" val="35518168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3174377-8250-4BE6-A202-568633CEE8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72F2B64-1316-42D0-B4BC-877873B4386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74615A1-E613-4FC8-B0B8-3E523670A3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E8E7AC94-F62B-445B-B2A6-393831CB98A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FA65506-5F6D-4C8A-B206-3F1A0964FDC9}"/>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Pipeline used.</a:t>
            </a:r>
          </a:p>
        </p:txBody>
      </p:sp>
      <p:sp>
        <p:nvSpPr>
          <p:cNvPr id="6" name="">
            <a:extLst xmlns:a="http://schemas.openxmlformats.org/drawingml/2006/main">
              <a:ext uri="{FF2B5EF4-FFF2-40B4-BE49-F238E27FC236}">
                <a16:creationId xmlns:a16="http://schemas.microsoft.com/office/drawing/2014/main" id="{D8D91C54-F8FC-418F-85BE-C6ED71F050B1}"/>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8FDE1B4-AAF2-430F-B283-2AF8076D8072}"/>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Hyperparameters handled sensibly.</a:t>
            </a:r>
          </a:p>
        </p:txBody>
      </p:sp>
      <p:sp>
        <p:nvSpPr>
          <p:cNvPr id="8" name="">
            <a:extLst xmlns:a="http://schemas.openxmlformats.org/drawingml/2006/main">
              <a:ext uri="{FF2B5EF4-FFF2-40B4-BE49-F238E27FC236}">
                <a16:creationId xmlns:a16="http://schemas.microsoft.com/office/drawing/2014/main" id="{F6F589A0-3DD7-4DC9-8EF5-2AF87284110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A7D1E40-B9F3-46A4-9030-AB62B38C6A2B}"/>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Choices explained rather than defaulted to.</a:t>
            </a:r>
          </a:p>
        </p:txBody>
      </p:sp>
      <p:sp>
        <p:nvSpPr>
          <p:cNvPr id="10" name="">
            <a:extLst xmlns:a="http://schemas.openxmlformats.org/drawingml/2006/main">
              <a:ext uri="{FF2B5EF4-FFF2-40B4-BE49-F238E27FC236}">
                <a16:creationId xmlns:a16="http://schemas.microsoft.com/office/drawing/2014/main" id="{09C805DB-A748-4B71-A611-22878AAF653C}"/>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8ADCB2FB-D625-4BB1-A451-45C82AB0D189}"/>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Engineering reasoning (20.0 total): Domain knowledge visibly enters the work through features, banding, metric choice or interpretation.</a:t>
            </a:r>
          </a:p>
        </p:txBody>
      </p:sp>
      <p:sp>
        <p:nvSpPr>
          <p:cNvPr id="12" name="">
            <a:extLst xmlns:a="http://schemas.openxmlformats.org/drawingml/2006/main">
              <a:ext uri="{FF2B5EF4-FFF2-40B4-BE49-F238E27FC236}">
                <a16:creationId xmlns:a16="http://schemas.microsoft.com/office/drawing/2014/main" id="{9F669575-B1EF-4A1B-850D-573FEBD16AA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15</a:t>
            </a:r>
          </a:p>
        </p:txBody>
      </p:sp>
    </p:spTree>
    <p:extLst>
      <p:ext uri="{BB962C8B-B14F-4D97-AF65-F5344CB8AC3E}">
        <p14:creationId xmlns:p14="http://schemas.microsoft.com/office/powerpoint/2010/main" val="1731239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5EA430-DD8D-4444-B080-FDDD25346D0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3AAB73-BB2C-40EE-BA48-D378A020A1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6E6395A-6698-4B3C-9DA7-063C99A2E7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111F528A-3552-4872-8A84-F9EFF2FF434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02FC493-FF55-4782-8973-C91E49635C80}"/>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result is discussed as engineering, not as a score.</a:t>
            </a:r>
          </a:p>
        </p:txBody>
      </p:sp>
      <p:sp>
        <p:nvSpPr>
          <p:cNvPr id="6" name="">
            <a:extLst xmlns:a="http://schemas.openxmlformats.org/drawingml/2006/main">
              <a:ext uri="{FF2B5EF4-FFF2-40B4-BE49-F238E27FC236}">
                <a16:creationId xmlns:a16="http://schemas.microsoft.com/office/drawing/2014/main" id="{3B1CA07C-2061-4D09-A868-DA7445F9396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7CC2E08-EEE8-4F95-BFA2-58F59F1CABE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Validation (15.0 total): Correct train/test discipline, cross-validation with a reported spread, leakage explicitly checked and ruled out, metric justified against the cost of error.</a:t>
            </a:r>
          </a:p>
        </p:txBody>
      </p:sp>
      <p:sp>
        <p:nvSpPr>
          <p:cNvPr id="8" name="">
            <a:extLst xmlns:a="http://schemas.openxmlformats.org/drawingml/2006/main">
              <a:ext uri="{FF2B5EF4-FFF2-40B4-BE49-F238E27FC236}">
                <a16:creationId xmlns:a16="http://schemas.microsoft.com/office/drawing/2014/main" id="{9B124F3A-F31E-4325-B81B-5F8CBA9D52C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1E41409-E3CD-4C11-914B-0DDA22D36C8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Communication (10.0 total): The 2-page brief is readable by a non-specialist engineer.</a:t>
            </a:r>
          </a:p>
        </p:txBody>
      </p:sp>
      <p:sp>
        <p:nvSpPr>
          <p:cNvPr id="10" name="">
            <a:extLst xmlns:a="http://schemas.openxmlformats.org/drawingml/2006/main">
              <a:ext uri="{FF2B5EF4-FFF2-40B4-BE49-F238E27FC236}">
                <a16:creationId xmlns:a16="http://schemas.microsoft.com/office/drawing/2014/main" id="{9FBA390B-D44F-4529-9FBB-B4E26E3794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16</a:t>
            </a:r>
          </a:p>
        </p:txBody>
      </p:sp>
    </p:spTree>
    <p:extLst>
      <p:ext uri="{BB962C8B-B14F-4D97-AF65-F5344CB8AC3E}">
        <p14:creationId xmlns:p14="http://schemas.microsoft.com/office/powerpoint/2010/main" val="13988486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5BE8881-9158-4D3C-B0C2-2AE544C36BB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20B029-4C33-4D03-BC76-5F0B5E5392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0D40E7D-155F-44BC-A764-8DBEFAC98D2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2C3FE3C4-00C4-4D22-93CD-791CDAED664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B629E7F-ABAC-4A3B-A07F-37BE55A544A0}"/>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Charts answer questions and are captioned with findings.</a:t>
            </a:r>
          </a:p>
        </p:txBody>
      </p:sp>
      <p:sp>
        <p:nvSpPr>
          <p:cNvPr id="6" name="">
            <a:extLst xmlns:a="http://schemas.openxmlformats.org/drawingml/2006/main">
              <a:ext uri="{FF2B5EF4-FFF2-40B4-BE49-F238E27FC236}">
                <a16:creationId xmlns:a16="http://schemas.microsoft.com/office/drawing/2014/main" id="{BBD02C13-371B-464C-AFF1-47565C598D16}"/>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5A4D1D9-667C-4327-8D40-8167AAB33B09}"/>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uncertainty and limitations.</a:t>
            </a:r>
          </a:p>
        </p:txBody>
      </p:sp>
      <p:sp>
        <p:nvSpPr>
          <p:cNvPr id="8" name="">
            <a:extLst xmlns:a="http://schemas.openxmlformats.org/drawingml/2006/main">
              <a:ext uri="{FF2B5EF4-FFF2-40B4-BE49-F238E27FC236}">
                <a16:creationId xmlns:a16="http://schemas.microsoft.com/office/drawing/2014/main" id="{E4957D1D-BE02-436C-B2FA-06A53E7BCB55}"/>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351622A-2E55-4994-90CD-AFA3C62C6B0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Reproducibility &amp; documentation (5.0 total): Repository runs from a clean clone.</a:t>
            </a:r>
          </a:p>
        </p:txBody>
      </p:sp>
      <p:sp>
        <p:nvSpPr>
          <p:cNvPr id="10" name="">
            <a:extLst xmlns:a="http://schemas.openxmlformats.org/drawingml/2006/main">
              <a:ext uri="{FF2B5EF4-FFF2-40B4-BE49-F238E27FC236}">
                <a16:creationId xmlns:a16="http://schemas.microsoft.com/office/drawing/2014/main" id="{21BAA2B0-8881-4C9E-9296-B13D56D5E168}"/>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C940F27-F35F-4FD6-AF42-A022D3F6C6E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README complete. requirements.txt present.</a:t>
            </a:r>
          </a:p>
        </p:txBody>
      </p:sp>
      <p:sp>
        <p:nvSpPr>
          <p:cNvPr id="12" name="">
            <a:extLst xmlns:a="http://schemas.openxmlformats.org/drawingml/2006/main">
              <a:ext uri="{FF2B5EF4-FFF2-40B4-BE49-F238E27FC236}">
                <a16:creationId xmlns:a16="http://schemas.microsoft.com/office/drawing/2014/main" id="{9F372A22-A1AB-4164-BE8B-55286BA503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17</a:t>
            </a:r>
          </a:p>
        </p:txBody>
      </p:sp>
    </p:spTree>
    <p:extLst>
      <p:ext uri="{BB962C8B-B14F-4D97-AF65-F5344CB8AC3E}">
        <p14:creationId xmlns:p14="http://schemas.microsoft.com/office/powerpoint/2010/main" val="12433602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7CD0DB4-97B4-4C38-AC4A-3CEC5E6EA2C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EDED2D-B0C8-4A72-B3BF-C77E1C66451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75E4797-BD98-4A9A-BC27-71AC7A0C64C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continued</a:t>
            </a:r>
          </a:p>
        </p:txBody>
      </p:sp>
      <p:sp>
        <p:nvSpPr>
          <p:cNvPr id="4" name="">
            <a:extLst xmlns:a="http://schemas.openxmlformats.org/drawingml/2006/main">
              <a:ext uri="{FF2B5EF4-FFF2-40B4-BE49-F238E27FC236}">
                <a16:creationId xmlns:a16="http://schemas.microsoft.com/office/drawing/2014/main" id="{B86723C7-2C2D-4C02-9CA7-0D9F279E7F9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94EB849-7674-42A3-A271-A61F1C6EA1B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Seeds set.</a:t>
            </a:r>
          </a:p>
        </p:txBody>
      </p:sp>
      <p:sp>
        <p:nvSpPr>
          <p:cNvPr id="6" name="">
            <a:extLst xmlns:a="http://schemas.openxmlformats.org/drawingml/2006/main">
              <a:ext uri="{FF2B5EF4-FFF2-40B4-BE49-F238E27FC236}">
                <a16:creationId xmlns:a16="http://schemas.microsoft.com/office/drawing/2014/main" id="{CAC94749-5DDD-419B-8031-EE637A990220}"/>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783B2F7-C8EA-4029-BDB7-0A2AF93E767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AI use declared.</a:t>
            </a:r>
          </a:p>
        </p:txBody>
      </p:sp>
      <p:sp>
        <p:nvSpPr>
          <p:cNvPr id="8" name="">
            <a:extLst xmlns:a="http://schemas.openxmlformats.org/drawingml/2006/main">
              <a:ext uri="{FF2B5EF4-FFF2-40B4-BE49-F238E27FC236}">
                <a16:creationId xmlns:a16="http://schemas.microsoft.com/office/drawing/2014/main" id="{4657F63E-A126-4C0B-AAAC-460AD923336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B1F5043-2462-4368-9C1C-6CBAE83A9EC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Contribution log present.</a:t>
            </a:r>
          </a:p>
        </p:txBody>
      </p:sp>
      <p:sp>
        <p:nvSpPr>
          <p:cNvPr id="10" name="">
            <a:extLst xmlns:a="http://schemas.openxmlformats.org/drawingml/2006/main">
              <a:ext uri="{FF2B5EF4-FFF2-40B4-BE49-F238E27FC236}">
                <a16:creationId xmlns:a16="http://schemas.microsoft.com/office/drawing/2014/main" id="{0054580D-D5CE-4977-8BAA-FAF0B0DDA95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18</a:t>
            </a:r>
          </a:p>
        </p:txBody>
      </p:sp>
    </p:spTree>
    <p:extLst>
      <p:ext uri="{BB962C8B-B14F-4D97-AF65-F5344CB8AC3E}">
        <p14:creationId xmlns:p14="http://schemas.microsoft.com/office/powerpoint/2010/main" val="9364496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03C2CD8-AE2E-4AAF-A4D3-7B516921D73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C1AC1F-7685-43C7-BFD5-D050C9BEDA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71AC5986-3B0A-4E4C-82C1-F6D426DB3E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Engineering ML project submission</a:t>
            </a:r>
          </a:p>
        </p:txBody>
      </p:sp>
      <p:sp>
        <p:nvSpPr>
          <p:cNvPr id="4" name="">
            <a:extLst xmlns:a="http://schemas.openxmlformats.org/drawingml/2006/main">
              <a:ext uri="{FF2B5EF4-FFF2-40B4-BE49-F238E27FC236}">
                <a16:creationId xmlns:a16="http://schemas.microsoft.com/office/drawing/2014/main" id="{C0B9F77E-F9D5-4FA1-9E87-BDD5595BB3C5}"/>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A802CD6-711C-4519-9FE9-85AED8929C99}"/>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08:00 Kampala</a:t>
            </a:r>
          </a:p>
        </p:txBody>
      </p:sp>
      <p:sp>
        <p:nvSpPr>
          <p:cNvPr id="6" name="">
            <a:extLst xmlns:a="http://schemas.openxmlformats.org/drawingml/2006/main">
              <a:ext uri="{FF2B5EF4-FFF2-40B4-BE49-F238E27FC236}">
                <a16:creationId xmlns:a16="http://schemas.microsoft.com/office/drawing/2014/main" id="{08E1996B-A895-499B-B568-316B04C1BD8F}"/>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392731E-D995-4DF7-866C-CDA0DD367576}"/>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18 Dec 2026, 08:00 Kampala</a:t>
            </a:r>
          </a:p>
        </p:txBody>
      </p:sp>
      <p:sp>
        <p:nvSpPr>
          <p:cNvPr id="8" name="">
            <a:extLst xmlns:a="http://schemas.openxmlformats.org/drawingml/2006/main">
              <a:ext uri="{FF2B5EF4-FFF2-40B4-BE49-F238E27FC236}">
                <a16:creationId xmlns:a16="http://schemas.microsoft.com/office/drawing/2014/main" id="{06FD30C5-5F3C-43AF-9560-6E3FDBA92E5F}"/>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0303A45-CE96-4AC3-982F-39DA724390C4}"/>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2FB6F997-53DB-41E3-BE4E-42D360F70A9D}"/>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6EE110E-D568-4C93-8A23-A66B6B335E2B}"/>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079BA40F-38D2-4C4F-87FB-26A085B30B1C}"/>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579C535-1563-4D8F-9EAB-ABA7EF42C346}"/>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d6d21376766246fd"/>
              </a:rPr>
              <a:t>Open ML_PROJECT assignment form</a:t>
            </a:r>
          </a:p>
        </p:txBody>
      </p:sp>
      <p:sp>
        <p:nvSpPr>
          <p:cNvPr id="14" name="">
            <a:extLst xmlns:a="http://schemas.openxmlformats.org/drawingml/2006/main">
              <a:ext uri="{FF2B5EF4-FFF2-40B4-BE49-F238E27FC236}">
                <a16:creationId xmlns:a16="http://schemas.microsoft.com/office/drawing/2014/main" id="{79FF00F0-B6A8-4CA4-9AB9-2F331747D27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https://docs.google.com/forms/d/e/1FAIpQLSe_nQBvitfOInzsUcXkNH9V5Ykc95ymXHHeujjqHXX2lNzgpg/viewform</a:t>
            </a:r>
          </a:p>
        </p:txBody>
      </p:sp>
      <p:sp>
        <p:nvSpPr>
          <p:cNvPr id="15" name="">
            <a:extLst xmlns:a="http://schemas.openxmlformats.org/drawingml/2006/main">
              <a:ext uri="{FF2B5EF4-FFF2-40B4-BE49-F238E27FC236}">
                <a16:creationId xmlns:a16="http://schemas.microsoft.com/office/drawing/2014/main" id="{B9186BC3-B37B-4198-9F73-DD036DCC51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19</a:t>
            </a:r>
          </a:p>
        </p:txBody>
      </p:sp>
    </p:spTree>
    <p:extLst>
      <p:ext uri="{BB962C8B-B14F-4D97-AF65-F5344CB8AC3E}">
        <p14:creationId xmlns:p14="http://schemas.microsoft.com/office/powerpoint/2010/main" val="140097058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F90954-691D-4A09-B33B-A17B6FBAEE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0693EC-77E2-4DCB-923B-65E3B37ED86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5AEFCEF-FC65-4B69-9D6C-706F2CC62B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evidence (35 marks)</a:t>
            </a:r>
          </a:p>
        </p:txBody>
      </p:sp>
      <p:sp>
        <p:nvSpPr>
          <p:cNvPr id="4" name="">
            <a:extLst xmlns:a="http://schemas.openxmlformats.org/drawingml/2006/main">
              <a:ext uri="{FF2B5EF4-FFF2-40B4-BE49-F238E27FC236}">
                <a16:creationId xmlns:a16="http://schemas.microsoft.com/office/drawing/2014/main" id="{16F14BF1-B555-45B3-A18D-3EF837300DA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809C796-2EB7-409F-B98F-7C69483E50C9}"/>
              </a:ext>
            </a:extLst>
          </p:cNvPr>
          <p:cNvSpPr>
            <a:spLocks xmlns:a="http://schemas.openxmlformats.org/drawingml/2006/main" noGrp="1"/>
          </p:cNvSpPr>
          <p:nvPr/>
        </p:nvSpPr>
        <p:spPr>
          <a:xfrm xmlns:a="http://schemas.openxmlformats.org/drawingml/2006/main">
            <a:off x="1381125" y="1781175"/>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Slides and narration notes explain the question, method, evidence and limitations for an engineering audience.</a:t>
            </a:r>
          </a:p>
        </p:txBody>
      </p:sp>
      <p:sp>
        <p:nvSpPr>
          <p:cNvPr id="6" name="">
            <a:extLst xmlns:a="http://schemas.openxmlformats.org/drawingml/2006/main">
              <a:ext uri="{FF2B5EF4-FFF2-40B4-BE49-F238E27FC236}">
                <a16:creationId xmlns:a16="http://schemas.microsoft.com/office/drawing/2014/main" id="{D3C14F5B-0531-47DE-B9EA-D74CED0F6554}"/>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CEF8C11-1F00-4E8D-A6DA-563B791144D2}"/>
              </a:ext>
            </a:extLst>
          </p:cNvPr>
          <p:cNvSpPr>
            <a:spLocks xmlns:a="http://schemas.openxmlformats.org/drawingml/2006/main" noGrp="1"/>
          </p:cNvSpPr>
          <p:nvPr/>
        </p:nvSpPr>
        <p:spPr>
          <a:xfrm xmlns:a="http://schemas.openxmlformats.org/drawingml/2006/main">
            <a:off x="1381125" y="3919538"/>
            <a:ext cx="10096500" cy="2062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local text grader does not assess visual styling or spoken delivery.</a:t>
            </a:r>
          </a:p>
        </p:txBody>
      </p:sp>
      <p:sp>
        <p:nvSpPr>
          <p:cNvPr id="8" name="">
            <a:extLst xmlns:a="http://schemas.openxmlformats.org/drawingml/2006/main">
              <a:ext uri="{FF2B5EF4-FFF2-40B4-BE49-F238E27FC236}">
                <a16:creationId xmlns:a16="http://schemas.microsoft.com/office/drawing/2014/main" id="{3BE82B24-AD24-49C8-862C-48CDDA85051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20</a:t>
            </a:r>
          </a:p>
        </p:txBody>
      </p:sp>
    </p:spTree>
    <p:extLst>
      <p:ext uri="{BB962C8B-B14F-4D97-AF65-F5344CB8AC3E}">
        <p14:creationId xmlns:p14="http://schemas.microsoft.com/office/powerpoint/2010/main" val="123211938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20BDA0-B9C5-4852-8F3C-4C1DC7B1BA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F2D86E-CE38-401F-9C56-6D029D1B531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7CDB5F3-A29B-4BD0-86D6-CFCD8E1B792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Individual written defence (40 marks)</a:t>
            </a:r>
          </a:p>
        </p:txBody>
      </p:sp>
      <p:sp>
        <p:nvSpPr>
          <p:cNvPr id="4" name="">
            <a:extLst xmlns:a="http://schemas.openxmlformats.org/drawingml/2006/main">
              <a:ext uri="{FF2B5EF4-FFF2-40B4-BE49-F238E27FC236}">
                <a16:creationId xmlns:a16="http://schemas.microsoft.com/office/drawing/2014/main" id="{9C6DCFD6-70DF-4651-8B6A-B669D56BB43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F11BF7-0323-4589-916C-D18D45857FE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756A7E1-4924-4650-8778-2BFAF25222E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Two typed answers about the student's own repository identify specific cells/results and explain the decisions.</a:t>
            </a:r>
          </a:p>
        </p:txBody>
      </p:sp>
      <p:sp>
        <p:nvSpPr>
          <p:cNvPr id="7" name="">
            <a:extLst xmlns:a="http://schemas.openxmlformats.org/drawingml/2006/main">
              <a:ext uri="{FF2B5EF4-FFF2-40B4-BE49-F238E27FC236}">
                <a16:creationId xmlns:a16="http://schemas.microsoft.com/office/drawing/2014/main" id="{17E15E12-18D9-4218-A654-8F8D95B026A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Credit is based on the submitted evidence; live questioning is formative.</a:t>
            </a:r>
          </a:p>
        </p:txBody>
      </p:sp>
      <p:sp>
        <p:nvSpPr>
          <p:cNvPr id="8" name="">
            <a:extLst xmlns:a="http://schemas.openxmlformats.org/drawingml/2006/main">
              <a:ext uri="{FF2B5EF4-FFF2-40B4-BE49-F238E27FC236}">
                <a16:creationId xmlns:a16="http://schemas.microsoft.com/office/drawing/2014/main" id="{9C717A31-78A4-4EA7-AFD3-BB960D146D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21</a:t>
            </a:r>
          </a:p>
        </p:txBody>
      </p:sp>
    </p:spTree>
    <p:extLst>
      <p:ext uri="{BB962C8B-B14F-4D97-AF65-F5344CB8AC3E}">
        <p14:creationId xmlns:p14="http://schemas.microsoft.com/office/powerpoint/2010/main" val="3932239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70261A-3B9F-46DD-9B26-37F865D7B0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8D3D0B-D9AD-4BDB-A570-92D238A0823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8EFBEE1-4045-4ECC-9247-A2984E8F08E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Reflection (20 marks)</a:t>
            </a:r>
          </a:p>
        </p:txBody>
      </p:sp>
      <p:sp>
        <p:nvSpPr>
          <p:cNvPr id="4" name="">
            <a:extLst xmlns:a="http://schemas.openxmlformats.org/drawingml/2006/main">
              <a:ext uri="{FF2B5EF4-FFF2-40B4-BE49-F238E27FC236}">
                <a16:creationId xmlns:a16="http://schemas.microsoft.com/office/drawing/2014/main" id="{C8CA3E10-33F4-4F31-BE5C-B69A4392397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7DB8059-44CA-4E1D-8D96-B2339166BD7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500 words.</a:t>
            </a:r>
          </a:p>
        </p:txBody>
      </p:sp>
      <p:sp>
        <p:nvSpPr>
          <p:cNvPr id="6" name="">
            <a:extLst xmlns:a="http://schemas.openxmlformats.org/drawingml/2006/main">
              <a:ext uri="{FF2B5EF4-FFF2-40B4-BE49-F238E27FC236}">
                <a16:creationId xmlns:a16="http://schemas.microsoft.com/office/drawing/2014/main" id="{DC54D646-FF67-4F07-991D-20D5A047DA0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17E8469-36DA-4C77-BB8B-02F8A1106D3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Specific about what changed since Week 1, what remains difficult, and two concrete Semester 2 goals.</a:t>
            </a:r>
          </a:p>
        </p:txBody>
      </p:sp>
      <p:sp>
        <p:nvSpPr>
          <p:cNvPr id="8" name="">
            <a:extLst xmlns:a="http://schemas.openxmlformats.org/drawingml/2006/main">
              <a:ext uri="{FF2B5EF4-FFF2-40B4-BE49-F238E27FC236}">
                <a16:creationId xmlns:a16="http://schemas.microsoft.com/office/drawing/2014/main" id="{D5B8D548-5740-4463-8060-40FBA1A6A60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E2810BB-D4A4-41C4-AAC5-A53CCAE28A87}"/>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Generic reflection scores low.</a:t>
            </a:r>
          </a:p>
        </p:txBody>
      </p:sp>
      <p:sp>
        <p:nvSpPr>
          <p:cNvPr id="10" name="">
            <a:extLst xmlns:a="http://schemas.openxmlformats.org/drawingml/2006/main">
              <a:ext uri="{FF2B5EF4-FFF2-40B4-BE49-F238E27FC236}">
                <a16:creationId xmlns:a16="http://schemas.microsoft.com/office/drawing/2014/main" id="{34D5CDB9-25A9-49BF-A3A8-D5A413E5303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22</a:t>
            </a:r>
          </a:p>
        </p:txBody>
      </p:sp>
    </p:spTree>
    <p:extLst>
      <p:ext uri="{BB962C8B-B14F-4D97-AF65-F5344CB8AC3E}">
        <p14:creationId xmlns:p14="http://schemas.microsoft.com/office/powerpoint/2010/main" val="52657830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E59E86-D32B-4257-825E-CCD64D59269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C5F8BC-7690-4608-A08E-CA0299C9B0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E64B8A6-4387-4413-B393-79F9A665188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AI-use declaration (5 marks)</a:t>
            </a:r>
          </a:p>
        </p:txBody>
      </p:sp>
      <p:sp>
        <p:nvSpPr>
          <p:cNvPr id="4" name="">
            <a:extLst xmlns:a="http://schemas.openxmlformats.org/drawingml/2006/main">
              <a:ext uri="{FF2B5EF4-FFF2-40B4-BE49-F238E27FC236}">
                <a16:creationId xmlns:a16="http://schemas.microsoft.com/office/drawing/2014/main" id="{BD474474-D036-4518-878B-AE4321E7154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0EEDCC-6630-4DC6-B0C4-20C641C4020B}"/>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Present, complete and plausible against the repository history.</a:t>
            </a:r>
          </a:p>
        </p:txBody>
      </p:sp>
      <p:sp>
        <p:nvSpPr>
          <p:cNvPr id="6" name="">
            <a:extLst xmlns:a="http://schemas.openxmlformats.org/drawingml/2006/main">
              <a:ext uri="{FF2B5EF4-FFF2-40B4-BE49-F238E27FC236}">
                <a16:creationId xmlns:a16="http://schemas.microsoft.com/office/drawing/2014/main" id="{057D1CDE-90C8-42FC-A2B7-03FFAA59E4C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23</a:t>
            </a:r>
          </a:p>
        </p:txBody>
      </p:sp>
    </p:spTree>
    <p:extLst>
      <p:ext uri="{BB962C8B-B14F-4D97-AF65-F5344CB8AC3E}">
        <p14:creationId xmlns:p14="http://schemas.microsoft.com/office/powerpoint/2010/main" val="158235025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529364C-DE24-4C7D-A345-D4F4CE6AF98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9E24376-0B88-41C5-871F-33025449FFB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8B238F7D-A03F-4A2C-8621-AC7AC765E51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Presentation and individual reflection submission</a:t>
            </a:r>
          </a:p>
        </p:txBody>
      </p:sp>
      <p:sp>
        <p:nvSpPr>
          <p:cNvPr id="4" name="">
            <a:extLst xmlns:a="http://schemas.openxmlformats.org/drawingml/2006/main">
              <a:ext uri="{FF2B5EF4-FFF2-40B4-BE49-F238E27FC236}">
                <a16:creationId xmlns:a16="http://schemas.microsoft.com/office/drawing/2014/main" id="{39D9E09F-5700-4A7D-8723-7D7AF6D15FEE}"/>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7E95C67-6556-4D72-ACF8-F7BDAC17AACA}"/>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27 Nov 2026, 08:00 Kampala</a:t>
            </a:r>
          </a:p>
        </p:txBody>
      </p:sp>
      <p:sp>
        <p:nvSpPr>
          <p:cNvPr id="6" name="">
            <a:extLst xmlns:a="http://schemas.openxmlformats.org/drawingml/2006/main">
              <a:ext uri="{FF2B5EF4-FFF2-40B4-BE49-F238E27FC236}">
                <a16:creationId xmlns:a16="http://schemas.microsoft.com/office/drawing/2014/main" id="{63086389-0E89-46CA-A10D-DAFB26BFD761}"/>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8E42CA5-52C8-4307-9DEC-FC26A192A314}"/>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18 Dec 2026, 11:00 Kampala</a:t>
            </a:r>
          </a:p>
        </p:txBody>
      </p:sp>
      <p:sp>
        <p:nvSpPr>
          <p:cNvPr id="8" name="">
            <a:extLst xmlns:a="http://schemas.openxmlformats.org/drawingml/2006/main">
              <a:ext uri="{FF2B5EF4-FFF2-40B4-BE49-F238E27FC236}">
                <a16:creationId xmlns:a16="http://schemas.microsoft.com/office/drawing/2014/main" id="{435212B0-9F45-4CB2-B610-9D668E7E2080}"/>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D90DB16-DC43-4819-B7A1-564AC938AC6D}"/>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47689C29-0995-4967-9286-D9DD723C3C8E}"/>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91339B03-6D05-4A54-8433-1162581E0B48}"/>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2DD87C6A-D615-467E-92FC-4B4C9E76EDA9}"/>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0A40ADF-507B-4C70-978E-EAB004B91504}"/>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6716b0b44e4248cf"/>
              </a:rPr>
              <a:t>Open DEMO assignment form</a:t>
            </a:r>
          </a:p>
        </p:txBody>
      </p:sp>
      <p:sp>
        <p:nvSpPr>
          <p:cNvPr id="14" name="">
            <a:extLst xmlns:a="http://schemas.openxmlformats.org/drawingml/2006/main">
              <a:ext uri="{FF2B5EF4-FFF2-40B4-BE49-F238E27FC236}">
                <a16:creationId xmlns:a16="http://schemas.microsoft.com/office/drawing/2014/main" id="{0D165501-18BC-43FC-85B3-25C5F6D98931}"/>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https://docs.google.com/forms/d/e/1FAIpQLSfMM5T1LqYDNTMxlFZKxTow0BlO6efCj2pBtKfW6ky1-aroIg/viewform</a:t>
            </a:r>
          </a:p>
        </p:txBody>
      </p:sp>
      <p:sp>
        <p:nvSpPr>
          <p:cNvPr id="15" name="">
            <a:extLst xmlns:a="http://schemas.openxmlformats.org/drawingml/2006/main">
              <a:ext uri="{FF2B5EF4-FFF2-40B4-BE49-F238E27FC236}">
                <a16:creationId xmlns:a16="http://schemas.microsoft.com/office/drawing/2014/main" id="{5F29A1FF-CC92-4A3D-89FB-A7DF87DDB1E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15   24</a:t>
            </a:r>
          </a:p>
        </p:txBody>
      </p:sp>
    </p:spTree>
    <p:extLst>
      <p:ext uri="{BB962C8B-B14F-4D97-AF65-F5344CB8AC3E}">
        <p14:creationId xmlns:p14="http://schemas.microsoft.com/office/powerpoint/2010/main" val="153567376"/>
      </p:ext>
    </p:extLst>
  </p:cSld>
</p:sld>
</file>

<file path=ppt/slides/slide25.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5C2041-310C-420F-A4F4-8C985AC767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84073129-7D7D-484E-A67F-C19C7F631C0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1B13981D-81FB-4629-86EC-EF9EBAD6C0D7}"/>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77F7F2A8-3FA0-44BE-B619-0C8DE672199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point to the evidence behind one decision you personally worked on.</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394E0A50-1D89-4E08-81FE-79E6EAC333E0}"/>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8D369FE9-194F-45FC-8406-0C39E6CD9B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15   25</a:t>
            </a:r>
          </a:p>
        </p:txBody>
      </p:sp>
    </p:spTree>
    <p:extLst>
      <p:ext uri="{BB962C8B-B14F-4D97-AF65-F5344CB8AC3E}">
        <p14:creationId xmlns:p14="http://schemas.microsoft.com/office/powerpoint/2010/main" val="9529279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2026-10-20T18:01:32.4710000Z</dcterms:created>
  <dcterms:modified xsi:type="dcterms:W3CDTF">2026-10-20T18:01:32.4710000Z</dcterms:modified>
</coreProperties>
</file>