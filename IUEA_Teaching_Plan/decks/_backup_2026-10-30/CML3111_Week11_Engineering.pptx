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fb99c538d34ea5" /><Relationship Type="http://schemas.openxmlformats.org/officeDocument/2006/relationships/extended-properties" Target="/docProps/app.xml" Id="R3764fddcd10841b0" /><Relationship Type="http://schemas.openxmlformats.org/officeDocument/2006/relationships/officeDocument" Target="/ppt/presentation.xml" Id="R44b8a43b32b84953" /></Relationships>
</file>

<file path=ppt/presentation.xml><?xml version="1.0" encoding="utf-8"?>
<p:presentation xmlns:p="http://schemas.openxmlformats.org/presentationml/2006/main">
  <p:sldMasterIdLst>
    <p:sldMasterId xmlns:r="http://schemas.openxmlformats.org/officeDocument/2006/relationships" id="2147483648" r:id="R4ff1b8b0af5941ee"/>
  </p:sldMasterIdLst>
  <p:notesMasterIdLst>
    <p:notesMasterId xmlns:r="http://schemas.openxmlformats.org/officeDocument/2006/relationships" r:id="R7fdcd78c6a5046a6"/>
  </p:notesMasterIdLst>
  <p:sldIdLst>
    <p:sldId xmlns:r="http://schemas.openxmlformats.org/officeDocument/2006/relationships" id="256" r:id="Rcf7f23de7c6744ba"/>
    <p:sldId xmlns:r="http://schemas.openxmlformats.org/officeDocument/2006/relationships" id="257" r:id="Rda9328a336864217"/>
    <p:sldId xmlns:r="http://schemas.openxmlformats.org/officeDocument/2006/relationships" id="258" r:id="R96ba7e9102564dcc"/>
    <p:sldId xmlns:r="http://schemas.openxmlformats.org/officeDocument/2006/relationships" id="259" r:id="R717aaa1be1534712"/>
    <p:sldId xmlns:r="http://schemas.openxmlformats.org/officeDocument/2006/relationships" id="260" r:id="R75cd4c51844a431b"/>
    <p:sldId xmlns:r="http://schemas.openxmlformats.org/officeDocument/2006/relationships" id="261" r:id="Rdd50a2a1e7a1486a"/>
    <p:sldId xmlns:r="http://schemas.openxmlformats.org/officeDocument/2006/relationships" id="262" r:id="Rd707744e15c54ff7"/>
    <p:sldId xmlns:r="http://schemas.openxmlformats.org/officeDocument/2006/relationships" id="263" r:id="R75c01c3b271d4d95"/>
    <p:sldId xmlns:r="http://schemas.openxmlformats.org/officeDocument/2006/relationships" id="264" r:id="Raffded0386d84723"/>
    <p:sldId xmlns:r="http://schemas.openxmlformats.org/officeDocument/2006/relationships" id="265" r:id="R140541fe3e1549b6"/>
    <p:sldId xmlns:r="http://schemas.openxmlformats.org/officeDocument/2006/relationships" id="266" r:id="Rf420ca0294c348ac"/>
    <p:sldId xmlns:r="http://schemas.openxmlformats.org/officeDocument/2006/relationships" id="267" r:id="R688e466d189a4f0a"/>
    <p:sldId xmlns:r="http://schemas.openxmlformats.org/officeDocument/2006/relationships" id="268" r:id="Rcb4d650be4bf49ee"/>
    <p:sldId xmlns:r="http://schemas.openxmlformats.org/officeDocument/2006/relationships" id="269" r:id="Rb25ec1cb5ee44f9a"/>
    <p:sldId xmlns:r="http://schemas.openxmlformats.org/officeDocument/2006/relationships" id="270" r:id="Rb1a9e39e708e48f3"/>
    <p:sldId xmlns:r="http://schemas.openxmlformats.org/officeDocument/2006/relationships" id="271" r:id="Rc99e780a874a46a3"/>
    <p:sldId xmlns:r="http://schemas.openxmlformats.org/officeDocument/2006/relationships" id="272" r:id="Rf3423ca29e6147c2"/>
    <p:sldId xmlns:r="http://schemas.openxmlformats.org/officeDocument/2006/relationships" id="273" r:id="R658815d243a1421c"/>
    <p:sldId xmlns:r="http://schemas.openxmlformats.org/officeDocument/2006/relationships" id="274" r:id="R9ef40578c0f94ceb"/>
    <p:sldId xmlns:r="http://schemas.openxmlformats.org/officeDocument/2006/relationships" id="275" r:id="Rf4fb16ddd6214dca"/>
    <p:sldId xmlns:r="http://schemas.openxmlformats.org/officeDocument/2006/relationships" id="276" r:id="Re871523da7874b95"/>
    <p:sldId xmlns:r="http://schemas.openxmlformats.org/officeDocument/2006/relationships" id="277" r:id="R1837d18cabe74f2e"/>
    <p:sldId xmlns:r="http://schemas.openxmlformats.org/officeDocument/2006/relationships" id="278" r:id="Rc378dfe5ed2d4e65"/>
    <p:sldId xmlns:r="http://schemas.openxmlformats.org/officeDocument/2006/relationships" id="279" r:id="Ra3ec3b1cfd63469e"/>
    <p:sldId xmlns:r="http://schemas.openxmlformats.org/officeDocument/2006/relationships" id="280" r:id="R40fff85b80be40ad"/>
    <p:sldId xmlns:r="http://schemas.openxmlformats.org/officeDocument/2006/relationships" id="281" r:id="Rb7aa5ea3176847a4"/>
    <p:sldId xmlns:r="http://schemas.openxmlformats.org/officeDocument/2006/relationships" id="282" r:id="R90e9ad39278e41bb"/>
    <p:sldId xmlns:r="http://schemas.openxmlformats.org/officeDocument/2006/relationships" id="283" r:id="R0af325a3c8524627"/>
    <p:sldId xmlns:r="http://schemas.openxmlformats.org/officeDocument/2006/relationships" id="284" r:id="R18bcea3d8db64a29"/>
    <p:sldId xmlns:r="http://schemas.openxmlformats.org/officeDocument/2006/relationships" id="285" r:id="Rd963e6f1987c43d3"/>
    <p:sldId xmlns:r="http://schemas.openxmlformats.org/officeDocument/2006/relationships" id="286" r:id="Rb1c775afa3c744f7"/>
    <p:sldId xmlns:r="http://schemas.openxmlformats.org/officeDocument/2006/relationships" id="287" r:id="Rf3009cffd7c649b3"/>
    <p:sldId xmlns:r="http://schemas.openxmlformats.org/officeDocument/2006/relationships" id="288" r:id="R5fbc685594f44c4b"/>
    <p:sldId xmlns:r="http://schemas.openxmlformats.org/officeDocument/2006/relationships" id="289" r:id="R3ed615d16b7b4e4d"/>
    <p:sldId xmlns:r="http://schemas.openxmlformats.org/officeDocument/2006/relationships" id="290" r:id="R2df11a783a444c80"/>
    <p:sldId xmlns:r="http://schemas.openxmlformats.org/officeDocument/2006/relationships" id="291" r:id="Ra91b959b579942b1"/>
    <p:sldId xmlns:r="http://schemas.openxmlformats.org/officeDocument/2006/relationships" id="292" r:id="R1625e40a7b654495"/>
    <p:sldId xmlns:r="http://schemas.openxmlformats.org/officeDocument/2006/relationships" id="293" r:id="Rb9602ef0fd61472f"/>
    <p:sldId xmlns:r="http://schemas.openxmlformats.org/officeDocument/2006/relationships" id="294" r:id="R1777dbb6bb2748d5"/>
    <p:sldId xmlns:r="http://schemas.openxmlformats.org/officeDocument/2006/relationships" id="295" r:id="R959cf033547048e0"/>
    <p:sldId xmlns:r="http://schemas.openxmlformats.org/officeDocument/2006/relationships" id="296" r:id="R9ce0efbcbc094271"/>
    <p:sldId xmlns:r="http://schemas.openxmlformats.org/officeDocument/2006/relationships" id="297" r:id="R4f49280fc1a94301"/>
    <p:sldId xmlns:r="http://schemas.openxmlformats.org/officeDocument/2006/relationships" id="298" r:id="R9a55b1843e07436f"/>
    <p:sldId xmlns:r="http://schemas.openxmlformats.org/officeDocument/2006/relationships" id="299" r:id="R20dae676eb194717"/>
    <p:sldId xmlns:r="http://schemas.openxmlformats.org/officeDocument/2006/relationships" id="300" r:id="R1c5787958563453e"/>
    <p:sldId xmlns:r="http://schemas.openxmlformats.org/officeDocument/2006/relationships" id="301" r:id="R86908e2e202f4e08"/>
    <p:sldId xmlns:r="http://schemas.openxmlformats.org/officeDocument/2006/relationships" id="302" r:id="R21cfc854a3674544"/>
    <p:sldId xmlns:r="http://schemas.openxmlformats.org/officeDocument/2006/relationships" id="303" r:id="Rfc2c44586198438a"/>
    <p:sldId xmlns:r="http://schemas.openxmlformats.org/officeDocument/2006/relationships" id="304" r:id="Rf7c63ffe87424b16"/>
    <p:sldId xmlns:r="http://schemas.openxmlformats.org/officeDocument/2006/relationships" id="305" r:id="R823911cb26754962"/>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acf692101c4322" /><Relationship Type="http://schemas.openxmlformats.org/officeDocument/2006/relationships/slideMaster" Target="/ppt/slideMasters/slideMaster1.xml" Id="R4ff1b8b0af5941ee" /><Relationship Type="http://schemas.openxmlformats.org/officeDocument/2006/relationships/notesMaster" Target="/ppt/notesMasters/notesMaster1.xml" Id="R7fdcd78c6a5046a6" /><Relationship Type="http://schemas.openxmlformats.org/officeDocument/2006/relationships/presProps" Target="/ppt/presProps.xml" Id="R9ece203b573d4c25" /><Relationship Type="http://schemas.openxmlformats.org/officeDocument/2006/relationships/tableStyles" Target="/ppt/tableStyles.xml" Id="R6865c3e9d6cb4e12" /><Relationship Type="http://schemas.openxmlformats.org/officeDocument/2006/relationships/slide" Target="/ppt/slides/slide1.xml" Id="Rcf7f23de7c6744ba" /><Relationship Type="http://schemas.openxmlformats.org/officeDocument/2006/relationships/slide" Target="/ppt/slides/slide2.xml" Id="Rda9328a336864217" /><Relationship Type="http://schemas.openxmlformats.org/officeDocument/2006/relationships/slide" Target="/ppt/slides/slide3.xml" Id="R96ba7e9102564dcc" /><Relationship Type="http://schemas.openxmlformats.org/officeDocument/2006/relationships/slide" Target="/ppt/slides/slide4.xml" Id="R717aaa1be1534712" /><Relationship Type="http://schemas.openxmlformats.org/officeDocument/2006/relationships/slide" Target="/ppt/slides/slide5.xml" Id="R75cd4c51844a431b" /><Relationship Type="http://schemas.openxmlformats.org/officeDocument/2006/relationships/slide" Target="/ppt/slides/slide6.xml" Id="Rdd50a2a1e7a1486a" /><Relationship Type="http://schemas.openxmlformats.org/officeDocument/2006/relationships/slide" Target="/ppt/slides/slide7.xml" Id="Rd707744e15c54ff7" /><Relationship Type="http://schemas.openxmlformats.org/officeDocument/2006/relationships/slide" Target="/ppt/slides/slide8.xml" Id="R75c01c3b271d4d95" /><Relationship Type="http://schemas.openxmlformats.org/officeDocument/2006/relationships/slide" Target="/ppt/slides/slide9.xml" Id="Raffded0386d84723" /><Relationship Type="http://schemas.openxmlformats.org/officeDocument/2006/relationships/slide" Target="/ppt/slides/slide10.xml" Id="R140541fe3e1549b6" /><Relationship Type="http://schemas.openxmlformats.org/officeDocument/2006/relationships/slide" Target="/ppt/slides/slide11.xml" Id="Rf420ca0294c348ac" /><Relationship Type="http://schemas.openxmlformats.org/officeDocument/2006/relationships/slide" Target="/ppt/slides/slide12.xml" Id="R688e466d189a4f0a" /><Relationship Type="http://schemas.openxmlformats.org/officeDocument/2006/relationships/slide" Target="/ppt/slides/slide13.xml" Id="Rcb4d650be4bf49ee" /><Relationship Type="http://schemas.openxmlformats.org/officeDocument/2006/relationships/slide" Target="/ppt/slides/slide14.xml" Id="Rb25ec1cb5ee44f9a" /><Relationship Type="http://schemas.openxmlformats.org/officeDocument/2006/relationships/slide" Target="/ppt/slides/slide15.xml" Id="Rb1a9e39e708e48f3" /><Relationship Type="http://schemas.openxmlformats.org/officeDocument/2006/relationships/slide" Target="/ppt/slides/slide16.xml" Id="Rc99e780a874a46a3" /><Relationship Type="http://schemas.openxmlformats.org/officeDocument/2006/relationships/slide" Target="/ppt/slides/slide17.xml" Id="Rf3423ca29e6147c2" /><Relationship Type="http://schemas.openxmlformats.org/officeDocument/2006/relationships/slide" Target="/ppt/slides/slide18.xml" Id="R658815d243a1421c" /><Relationship Type="http://schemas.openxmlformats.org/officeDocument/2006/relationships/slide" Target="/ppt/slides/slide19.xml" Id="R9ef40578c0f94ceb" /><Relationship Type="http://schemas.openxmlformats.org/officeDocument/2006/relationships/slide" Target="/ppt/slides/slide20.xml" Id="Rf4fb16ddd6214dca" /><Relationship Type="http://schemas.openxmlformats.org/officeDocument/2006/relationships/slide" Target="/ppt/slides/slide21.xml" Id="Re871523da7874b95" /><Relationship Type="http://schemas.openxmlformats.org/officeDocument/2006/relationships/slide" Target="/ppt/slides/slide22.xml" Id="R1837d18cabe74f2e" /><Relationship Type="http://schemas.openxmlformats.org/officeDocument/2006/relationships/slide" Target="/ppt/slides/slide23.xml" Id="Rc378dfe5ed2d4e65" /><Relationship Type="http://schemas.openxmlformats.org/officeDocument/2006/relationships/slide" Target="/ppt/slides/slide24.xml" Id="Ra3ec3b1cfd63469e" /><Relationship Type="http://schemas.openxmlformats.org/officeDocument/2006/relationships/slide" Target="/ppt/slides/slide25.xml" Id="R40fff85b80be40ad" /><Relationship Type="http://schemas.openxmlformats.org/officeDocument/2006/relationships/slide" Target="/ppt/slides/slide26.xml" Id="Rb7aa5ea3176847a4" /><Relationship Type="http://schemas.openxmlformats.org/officeDocument/2006/relationships/slide" Target="/ppt/slides/slide27.xml" Id="R90e9ad39278e41bb" /><Relationship Type="http://schemas.openxmlformats.org/officeDocument/2006/relationships/slide" Target="/ppt/slides/slide28.xml" Id="R0af325a3c8524627" /><Relationship Type="http://schemas.openxmlformats.org/officeDocument/2006/relationships/slide" Target="/ppt/slides/slide29.xml" Id="R18bcea3d8db64a29" /><Relationship Type="http://schemas.openxmlformats.org/officeDocument/2006/relationships/slide" Target="/ppt/slides/slide30.xml" Id="Rd963e6f1987c43d3" /><Relationship Type="http://schemas.openxmlformats.org/officeDocument/2006/relationships/slide" Target="/ppt/slides/slide31.xml" Id="Rb1c775afa3c744f7" /><Relationship Type="http://schemas.openxmlformats.org/officeDocument/2006/relationships/slide" Target="/ppt/slides/slide32.xml" Id="Rf3009cffd7c649b3" /><Relationship Type="http://schemas.openxmlformats.org/officeDocument/2006/relationships/slide" Target="/ppt/slides/slide33.xml" Id="R5fbc685594f44c4b" /><Relationship Type="http://schemas.openxmlformats.org/officeDocument/2006/relationships/slide" Target="/ppt/slides/slide34.xml" Id="R3ed615d16b7b4e4d" /><Relationship Type="http://schemas.openxmlformats.org/officeDocument/2006/relationships/slide" Target="/ppt/slides/slide35.xml" Id="R2df11a783a444c80" /><Relationship Type="http://schemas.openxmlformats.org/officeDocument/2006/relationships/slide" Target="/ppt/slides/slide36.xml" Id="Ra91b959b579942b1" /><Relationship Type="http://schemas.openxmlformats.org/officeDocument/2006/relationships/slide" Target="/ppt/slides/slide37.xml" Id="R1625e40a7b654495" /><Relationship Type="http://schemas.openxmlformats.org/officeDocument/2006/relationships/slide" Target="/ppt/slides/slide38.xml" Id="Rb9602ef0fd61472f" /><Relationship Type="http://schemas.openxmlformats.org/officeDocument/2006/relationships/slide" Target="/ppt/slides/slide39.xml" Id="R1777dbb6bb2748d5" /><Relationship Type="http://schemas.openxmlformats.org/officeDocument/2006/relationships/slide" Target="/ppt/slides/slide40.xml" Id="R959cf033547048e0" /><Relationship Type="http://schemas.openxmlformats.org/officeDocument/2006/relationships/slide" Target="/ppt/slides/slide41.xml" Id="R9ce0efbcbc094271" /><Relationship Type="http://schemas.openxmlformats.org/officeDocument/2006/relationships/slide" Target="/ppt/slides/slide42.xml" Id="R4f49280fc1a94301" /><Relationship Type="http://schemas.openxmlformats.org/officeDocument/2006/relationships/slide" Target="/ppt/slides/slide43.xml" Id="R9a55b1843e07436f" /><Relationship Type="http://schemas.openxmlformats.org/officeDocument/2006/relationships/slide" Target="/ppt/slides/slide44.xml" Id="R20dae676eb194717" /><Relationship Type="http://schemas.openxmlformats.org/officeDocument/2006/relationships/slide" Target="/ppt/slides/slide45.xml" Id="R1c5787958563453e" /><Relationship Type="http://schemas.openxmlformats.org/officeDocument/2006/relationships/slide" Target="/ppt/slides/slide46.xml" Id="R86908e2e202f4e08" /><Relationship Type="http://schemas.openxmlformats.org/officeDocument/2006/relationships/slide" Target="/ppt/slides/slide47.xml" Id="R21cfc854a3674544" /><Relationship Type="http://schemas.openxmlformats.org/officeDocument/2006/relationships/slide" Target="/ppt/slides/slide48.xml" Id="Rfc2c44586198438a" /><Relationship Type="http://schemas.openxmlformats.org/officeDocument/2006/relationships/slide" Target="/ppt/slides/slide49.xml" Id="Rf7c63ffe87424b16" /><Relationship Type="http://schemas.openxmlformats.org/officeDocument/2006/relationships/slide" Target="/ppt/slides/slide50.xml" Id="R823911cb267549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ec60a6533642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1f45d8b9c742e5" /><Relationship Type="http://schemas.openxmlformats.org/officeDocument/2006/relationships/notesMaster" Target="/ppt/notesMasters/notesMaster1.xml" Id="Rda6dc0c57e6143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6862727b7c42bc" /><Relationship Type="http://schemas.openxmlformats.org/officeDocument/2006/relationships/notesMaster" Target="/ppt/notesMasters/notesMaster1.xml" Id="R40e87e840f1e47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c82cf0f945481d" /><Relationship Type="http://schemas.openxmlformats.org/officeDocument/2006/relationships/notesMaster" Target="/ppt/notesMasters/notesMaster1.xml" Id="R0170e800ad0a44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d97b151e394a86" /><Relationship Type="http://schemas.openxmlformats.org/officeDocument/2006/relationships/notesMaster" Target="/ppt/notesMasters/notesMaster1.xml" Id="R8fedccf1cb294c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eff09add6b488f" /><Relationship Type="http://schemas.openxmlformats.org/officeDocument/2006/relationships/notesMaster" Target="/ppt/notesMasters/notesMaster1.xml" Id="Raafaef46f17c49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37795fedef4b67" /><Relationship Type="http://schemas.openxmlformats.org/officeDocument/2006/relationships/notesMaster" Target="/ppt/notesMasters/notesMaster1.xml" Id="R29eadebebd2945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446fd587c14531" /><Relationship Type="http://schemas.openxmlformats.org/officeDocument/2006/relationships/notesMaster" Target="/ppt/notesMasters/notesMaster1.xml" Id="R9ce6eb3b53d141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b4c213fc3144d3" /><Relationship Type="http://schemas.openxmlformats.org/officeDocument/2006/relationships/notesMaster" Target="/ppt/notesMasters/notesMaster1.xml" Id="R743400cba07d49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3350d0a47a4e80" /><Relationship Type="http://schemas.openxmlformats.org/officeDocument/2006/relationships/notesMaster" Target="/ppt/notesMasters/notesMaster1.xml" Id="R9f0544b6f75c4e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051d3c37654f0c" /><Relationship Type="http://schemas.openxmlformats.org/officeDocument/2006/relationships/notesMaster" Target="/ppt/notesMasters/notesMaster1.xml" Id="R42c93e8f20d14d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bb1567c4144f96" /><Relationship Type="http://schemas.openxmlformats.org/officeDocument/2006/relationships/notesMaster" Target="/ppt/notesMasters/notesMaster1.xml" Id="R3bae31bb545943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0cae5fcc364516" /><Relationship Type="http://schemas.openxmlformats.org/officeDocument/2006/relationships/notesMaster" Target="/ppt/notesMasters/notesMaster1.xml" Id="Rd9ca0a81d2b049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fc4337274f4877" /><Relationship Type="http://schemas.openxmlformats.org/officeDocument/2006/relationships/notesMaster" Target="/ppt/notesMasters/notesMaster1.xml" Id="Rccd13fdaa05641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23d1a8278c41cf" /><Relationship Type="http://schemas.openxmlformats.org/officeDocument/2006/relationships/notesMaster" Target="/ppt/notesMasters/notesMaster1.xml" Id="R9861d0dcfda140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2659d425741491e" /><Relationship Type="http://schemas.openxmlformats.org/officeDocument/2006/relationships/notesMaster" Target="/ppt/notesMasters/notesMaster1.xml" Id="R4f1b35ee6d9c40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1bbb814eb3a42fc" /><Relationship Type="http://schemas.openxmlformats.org/officeDocument/2006/relationships/notesMaster" Target="/ppt/notesMasters/notesMaster1.xml" Id="R08a82c17cbc84e5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16928a69c804254" /><Relationship Type="http://schemas.openxmlformats.org/officeDocument/2006/relationships/notesMaster" Target="/ppt/notesMasters/notesMaster1.xml" Id="R111c87722d39411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b677732eeb140f5" /><Relationship Type="http://schemas.openxmlformats.org/officeDocument/2006/relationships/notesMaster" Target="/ppt/notesMasters/notesMaster1.xml" Id="Rc99433bbe61d47c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db5278631e4427" /><Relationship Type="http://schemas.openxmlformats.org/officeDocument/2006/relationships/notesMaster" Target="/ppt/notesMasters/notesMaster1.xml" Id="Rfaa4c719fb334dc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f8213b791b7412e" /><Relationship Type="http://schemas.openxmlformats.org/officeDocument/2006/relationships/notesMaster" Target="/ppt/notesMasters/notesMaster1.xml" Id="R134202c02cd540c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703ae553004675" /><Relationship Type="http://schemas.openxmlformats.org/officeDocument/2006/relationships/notesMaster" Target="/ppt/notesMasters/notesMaster1.xml" Id="R493357c69f10415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ee1a54ea7c04cad" /><Relationship Type="http://schemas.openxmlformats.org/officeDocument/2006/relationships/notesMaster" Target="/ppt/notesMasters/notesMaster1.xml" Id="R8757c2316d93476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757c6413b4a406a" /><Relationship Type="http://schemas.openxmlformats.org/officeDocument/2006/relationships/notesMaster" Target="/ppt/notesMasters/notesMaster1.xml" Id="R490ede49feb444e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d33d1e2926947ac" /><Relationship Type="http://schemas.openxmlformats.org/officeDocument/2006/relationships/notesMaster" Target="/ppt/notesMasters/notesMaster1.xml" Id="R2cdad63aa591414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95d691d6e5840d5" /><Relationship Type="http://schemas.openxmlformats.org/officeDocument/2006/relationships/notesMaster" Target="/ppt/notesMasters/notesMaster1.xml" Id="R8f302c2eb4ed4f0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3a57fb638894b2f" /><Relationship Type="http://schemas.openxmlformats.org/officeDocument/2006/relationships/notesMaster" Target="/ppt/notesMasters/notesMaster1.xml" Id="R937bf7ccd4934c2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e6812b12f184f77" /><Relationship Type="http://schemas.openxmlformats.org/officeDocument/2006/relationships/notesMaster" Target="/ppt/notesMasters/notesMaster1.xml" Id="R887a971dcf15484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297ae580969402e" /><Relationship Type="http://schemas.openxmlformats.org/officeDocument/2006/relationships/notesMaster" Target="/ppt/notesMasters/notesMaster1.xml" Id="R8dea71cf3232487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1310e1662b74a1c" /><Relationship Type="http://schemas.openxmlformats.org/officeDocument/2006/relationships/notesMaster" Target="/ppt/notesMasters/notesMaster1.xml" Id="Rc0e6681bc6a54eb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2c3965b38364dc5" /><Relationship Type="http://schemas.openxmlformats.org/officeDocument/2006/relationships/notesMaster" Target="/ppt/notesMasters/notesMaster1.xml" Id="Rf067349076e146f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5e0b697cc3e4195" /><Relationship Type="http://schemas.openxmlformats.org/officeDocument/2006/relationships/notesMaster" Target="/ppt/notesMasters/notesMaster1.xml" Id="Rb464e652378b462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cc370b615544d70" /><Relationship Type="http://schemas.openxmlformats.org/officeDocument/2006/relationships/notesMaster" Target="/ppt/notesMasters/notesMaster1.xml" Id="Re627d1bd57c14f3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1b361f620ce44fc" /><Relationship Type="http://schemas.openxmlformats.org/officeDocument/2006/relationships/notesMaster" Target="/ppt/notesMasters/notesMaster1.xml" Id="R122a106b0156441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3852d235b604da5" /><Relationship Type="http://schemas.openxmlformats.org/officeDocument/2006/relationships/notesMaster" Target="/ppt/notesMasters/notesMaster1.xml" Id="R0d9a81bb5e41441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e7c530303194449" /><Relationship Type="http://schemas.openxmlformats.org/officeDocument/2006/relationships/notesMaster" Target="/ppt/notesMasters/notesMaster1.xml" Id="R9c826a3f88c2474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5ebadcc90284d23" /><Relationship Type="http://schemas.openxmlformats.org/officeDocument/2006/relationships/notesMaster" Target="/ppt/notesMasters/notesMaster1.xml" Id="Red31b13e72a341e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51d61fcb79249b3" /><Relationship Type="http://schemas.openxmlformats.org/officeDocument/2006/relationships/notesMaster" Target="/ppt/notesMasters/notesMaster1.xml" Id="Ra4ab3ddeafda43e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ad8d9accd6b4a9e" /><Relationship Type="http://schemas.openxmlformats.org/officeDocument/2006/relationships/notesMaster" Target="/ppt/notesMasters/notesMaster1.xml" Id="R701ca6543a6c4f1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6744f5c9fcc498f" /><Relationship Type="http://schemas.openxmlformats.org/officeDocument/2006/relationships/notesMaster" Target="/ppt/notesMasters/notesMaster1.xml" Id="R0fd2d5f1a17b462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dc396f72615428c" /><Relationship Type="http://schemas.openxmlformats.org/officeDocument/2006/relationships/notesMaster" Target="/ppt/notesMasters/notesMaster1.xml" Id="R70a1983fa42d4a6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202552a1dd14356" /><Relationship Type="http://schemas.openxmlformats.org/officeDocument/2006/relationships/notesMaster" Target="/ppt/notesMasters/notesMaster1.xml" Id="Ra9583a8d0a784a2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5c62117234e4a6b" /><Relationship Type="http://schemas.openxmlformats.org/officeDocument/2006/relationships/notesMaster" Target="/ppt/notesMasters/notesMaster1.xml" Id="R3a16a2432a0a42f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d1d0eff726843c7" /><Relationship Type="http://schemas.openxmlformats.org/officeDocument/2006/relationships/notesMaster" Target="/ppt/notesMasters/notesMaster1.xml" Id="R5bab16ed54d24ab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7b6b9c4241649cf" /><Relationship Type="http://schemas.openxmlformats.org/officeDocument/2006/relationships/notesMaster" Target="/ppt/notesMasters/notesMaster1.xml" Id="R8cd3620089ab409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4a3c2a364be4c92" /><Relationship Type="http://schemas.openxmlformats.org/officeDocument/2006/relationships/notesMaster" Target="/ppt/notesMasters/notesMaster1.xml" Id="Ra7813b59493143a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d6590d752ed4c72" /><Relationship Type="http://schemas.openxmlformats.org/officeDocument/2006/relationships/notesMaster" Target="/ppt/notesMasters/notesMaster1.xml" Id="R7b3f40b222a0448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ccd59c5bd3c47e1" /><Relationship Type="http://schemas.openxmlformats.org/officeDocument/2006/relationships/notesMaster" Target="/ppt/notesMasters/notesMaster1.xml" Id="Rb3854774f46e4b6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3d6ee09532b447e" /><Relationship Type="http://schemas.openxmlformats.org/officeDocument/2006/relationships/notesMaster" Target="/ppt/notesMasters/notesMaster1.xml" Id="Re12df85c89474d8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bdb8f56885a4179" /><Relationship Type="http://schemas.openxmlformats.org/officeDocument/2006/relationships/notesMaster" Target="/ppt/notesMasters/notesMaster1.xml" Id="R119e1eb7a1ba44a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842c3da0f404b43" /><Relationship Type="http://schemas.openxmlformats.org/officeDocument/2006/relationships/notesMaster" Target="/ppt/notesMasters/notesMaster1.xml" Id="Rdcdfee9b114c4a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and testing a useful feature</a:t>
            </a:r>
          </a:p>
          <a:p xmlns:a="http://schemas.openxmlformats.org/drawingml/2006/main">
            <a:r>
              <a:t>Explanation to give</a:t>
            </a:r>
          </a:p>
          <a:p xmlns:a="http://schemas.openxmlformats.org/drawingml/2006/main">
            <a:r>
              <a:t>Explain why a calculated input may help and test the idea under an unchanged validation protocol.</a:t>
            </a:r>
          </a:p>
          <a:p xmlns:a="http://schemas.openxmlformats.org/drawingml/2006/main">
            <a:r>
              <a:t/>
            </a:r>
          </a:p>
          <a:p xmlns:a="http://schemas.openxmlformats.org/drawingml/2006/main">
            <a:r>
              <a:t>Worked illustration / lecturer answer</a:t>
            </a:r>
          </a:p>
          <a:p xmlns:a="http://schemas.openxmlformats.org/drawingml/2006/main">
            <a:r>
              <a:t>If validation MAE falls from 5 to 4 after adding one feature, the reduction is 1 target unit, or 20%. A comparison on a different split cannot isolate that change.</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Communications, Electrical, Mechatronics and Robotics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practice precedes the assessment brief. Give the class one consistent data-handling approach: pandas for tables, scikit-learn for models, matplotlib for figures.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Uploading a notebook does not upload its modelling_data. Check the exact filename and column headings. Each cohort has its own data, so numerical results can differ.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and short names</a:t>
            </a:r>
          </a:p>
          <a:p xmlns:a="http://schemas.openxmlformats.org/drawingml/2006/main">
            <a:r>
              <a:t>import pandas as pd loads pandas and gives it the short name pd. pd.read_csv refers to a function in that library.</a:t>
            </a:r>
          </a:p>
          <a:p xmlns:a="http://schemas.openxmlformats.org/drawingml/2006/main">
            <a:r>
              <a:t/>
            </a:r>
          </a:p>
          <a:p xmlns:a="http://schemas.openxmlformats.org/drawingml/2006/main">
            <a:r>
              <a:t>Reading a CSV</a:t>
            </a:r>
          </a:p>
          <a:p xmlns:a="http://schemas.openxmlformats.org/drawingml/2006/main">
            <a:r>
              <a:t>pd.read_csv("practice_filename.csv") reads the named file into a DataFrame: a table with labelled columns and row labels. The file must exist in the working folder.</a:t>
            </a:r>
          </a:p>
          <a:p xmlns:a="http://schemas.openxmlformats.org/drawingml/2006/main">
            <a:r>
              <a:t/>
            </a:r>
          </a:p>
          <a:p xmlns:a="http://schemas.openxmlformats.org/drawingml/2006/main">
            <a:r>
              <a:t>Counting dimensions</a:t>
            </a:r>
          </a:p>
          <a:p xmlns:a="http://schemas.openxmlformats.org/drawingml/2006/main">
            <a:r>
              <a:t>equipment_data.shape gives (number of rows, number of columns). shape is a property, so it has no parentheses.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Column data types</a:t>
            </a:r>
          </a:p>
          <a:p xmlns:a="http://schemas.openxmlformats.org/drawingml/2006/main">
            <a:r>
              <a:t>equipment_data.dtypes reports each column’s stored type. int64 means integers, float64 means decimal numbers, and object often contains text. Numeric blanks commonly appear as NaN.</a:t>
            </a:r>
          </a:p>
          <a:p xmlns:a="http://schemas.openxmlformats.org/drawingml/2006/main">
            <a:r>
              <a:t/>
            </a:r>
          </a:p>
          <a:p xmlns:a="http://schemas.openxmlformats.org/drawingml/2006/main">
            <a:r>
              <a:t>A preview of rows</a:t>
            </a:r>
          </a:p>
          <a:p xmlns:a="http://schemas.openxmlformats.org/drawingml/2006/main">
            <a:r>
              <a:t>equipment_data.head() returns the first five rows. It leaves the table unchanged. A preview is not the entire dataset.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import pandas as pd</a:t>
            </a:r>
          </a:p>
          <a:p xmlns:a="http://schemas.openxmlformats.org/drawingml/2006/main">
            <a:r>
              <a:t>Load the named tools. Importing a model class does not train a model.</a:t>
            </a:r>
          </a:p>
          <a:p xmlns:a="http://schemas.openxmlformats.org/drawingml/2006/main">
            <a:r>
              <a:t/>
            </a:r>
          </a:p>
          <a:p xmlns:a="http://schemas.openxmlformats.org/drawingml/2006/main">
            <a:r>
              <a:t>raw_data = pd.read_csv('engineering_data.csv')</a:t>
            </a:r>
          </a:p>
          <a:p xmlns:a="http://schemas.openxmlformats.org/drawingml/2006/main">
            <a:r>
              <a:t>raw_data stores original CSV table; keep it unchanged so the analysis can be checked.</a:t>
            </a:r>
          </a:p>
          <a:p xmlns:a="http://schemas.openxmlformats.org/drawingml/2006/main">
            <a:r>
              <a:t/>
            </a:r>
          </a:p>
          <a:p xmlns:a="http://schemas.openxmlformats.org/drawingml/2006/main">
            <a:r>
              <a:t>print(raw_data.head())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print(raw_data.shape)</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print(raw_data.dtypes)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record_id equipment_id  load_pct  ambient_c  target</a:t>
            </a:r>
          </a:p>
          <a:p xmlns:a="http://schemas.openxmlformats.org/drawingml/2006/main">
            <a:r>
              <a:t>0          1           E1     59.15      31.71  76.847</a:t>
            </a:r>
          </a:p>
          <a:p xmlns:a="http://schemas.openxmlformats.org/drawingml/2006/main">
            <a:r>
              <a:t>1          2           E2     77.46      29.97  87.047</a:t>
            </a:r>
          </a:p>
          <a:p xmlns:a="http://schemas.openxmlformats.org/drawingml/2006/main">
            <a:r>
              <a:t>2          3           E3     69.60      19.87  71.256</a:t>
            </a:r>
          </a:p>
          <a:p xmlns:a="http://schemas.openxmlformats.org/drawingml/2006/main">
            <a:r>
              <a:t>3          4           E4     75.98      22.29     NaN</a:t>
            </a:r>
          </a:p>
          <a:p xmlns:a="http://schemas.openxmlformats.org/drawingml/2006/main">
            <a:r>
              <a:t>4          5           E5     57.62      23.40  67.034</a:t>
            </a:r>
          </a:p>
          <a:p xmlns:a="http://schemas.openxmlformats.org/drawingml/2006/main">
            <a:r>
              <a:t>(91, 5)</a:t>
            </a:r>
          </a:p>
          <a:p xmlns:a="http://schemas.openxmlformats.org/drawingml/2006/main">
            <a:r>
              <a:t>record_id         int64</a:t>
            </a:r>
          </a:p>
          <a:p xmlns:a="http://schemas.openxmlformats.org/drawingml/2006/main">
            <a:r>
              <a:t>equipment_id     object</a:t>
            </a:r>
          </a:p>
          <a:p xmlns:a="http://schemas.openxmlformats.org/drawingml/2006/main">
            <a:r>
              <a:t>load_pct        float64</a:t>
            </a:r>
          </a:p>
          <a:p xmlns:a="http://schemas.openxmlformats.org/drawingml/2006/main">
            <a:r>
              <a:t>ambient_c       float64</a:t>
            </a:r>
          </a:p>
          <a:p xmlns:a="http://schemas.openxmlformats.org/drawingml/2006/main">
            <a:r>
              <a:t>target          float64</a:t>
            </a:r>
          </a:p>
          <a:p xmlns:a="http://schemas.openxmlformats.org/drawingml/2006/main">
            <a:r>
              <a:t>dtype: object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issued data rules. Filtering observed targets is different from estimating missing targets. Deduplicate before filtering, so an invalid first occurrence is not replaced by its later duplicate.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chained operations</a:t>
            </a:r>
          </a:p>
          <a:p xmlns:a="http://schemas.openxmlformats.org/drawingml/2006/main">
            <a:r>
              <a:t>Read a chain from left to right. In equipment_data["target"].mean(), select the target Series first, then calculate its mean. Each step uses the previous step’s result.</a:t>
            </a:r>
          </a:p>
          <a:p xmlns:a="http://schemas.openxmlformats.org/drawingml/2006/main">
            <a:r>
              <a:t/>
            </a:r>
          </a:p>
          <a:p xmlns:a="http://schemas.openxmlformats.org/drawingml/2006/main">
            <a:r>
              <a:t>A separate working table</a:t>
            </a:r>
          </a:p>
          <a:p xmlns:a="http://schemas.openxmlformats.org/drawingml/2006/main">
            <a:r>
              <a:t>equipment_data.copy() creates a working copy. Assigning columns on this copy preserves the source table, so you can compare before and after.</a:t>
            </a:r>
          </a:p>
          <a:p xmlns:a="http://schemas.openxmlformats.org/drawingml/2006/main">
            <a:r>
              <a:t/>
            </a:r>
          </a:p>
          <a:p xmlns:a="http://schemas.openxmlformats.org/drawingml/2006/main">
            <a:r>
              <a:t>Finding recorded cells</a:t>
            </a:r>
          </a:p>
          <a:p xmlns:a="http://schemas.openxmlformats.org/drawingml/2006/main">
            <a:r>
              <a:t>notna() returns True where a value is present. Use it to retain observations with a recorded target before modelling.</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inclusive range</a:t>
            </a:r>
          </a:p>
          <a:p xmlns:a="http://schemas.openxmlformats.org/drawingml/2006/main">
            <a:r>
              <a:t>series.between(0, 100) is True for values from 0 through 100, including both limits. The resulting mask helps select valid rows.</a:t>
            </a:r>
          </a:p>
          <a:p xmlns:a="http://schemas.openxmlformats.org/drawingml/2006/main">
            <a:r>
              <a:t/>
            </a:r>
          </a:p>
          <a:p xmlns:a="http://schemas.openxmlformats.org/drawingml/2006/main">
            <a:r>
              <a:t>Selecting columns</a:t>
            </a:r>
          </a:p>
          <a:p xmlns:a="http://schemas.openxmlformats.org/drawingml/2006/main">
            <a:r>
              <a:t>equipment_data["column"] returns one labelled column, a Series. equipment_data[["a", "b"]] returns a DataFrame containing those named columns in that order.</a:t>
            </a:r>
          </a:p>
          <a:p xmlns:a="http://schemas.openxmlformats.org/drawingml/2006/main">
            <a:r>
              <a:t/>
            </a:r>
          </a:p>
          <a:p xmlns:a="http://schemas.openxmlformats.org/drawingml/2006/main">
            <a:r>
              <a:t>Selecting rows with a mask</a:t>
            </a:r>
          </a:p>
          <a:p xmlns:a="http://schemas.openxmlformats.org/drawingml/2006/main">
            <a:r>
              <a:t>A column comparison produces one True or False per row. equipment_data[mask] keeps the True rows. &amp; combines masks: both conditions must hold. Parenthesise each comparison.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Keeping the first observation</a:t>
            </a:r>
          </a:p>
          <a:p xmlns:a="http://schemas.openxmlformats.org/drawingml/2006/main">
            <a:r>
              <a:t>equipment_data.drop_duplicates("record_id") returns rows with the first occurrence of each ID, preserving their order. It does not overwrite the source unless you assign the result.</a:t>
            </a:r>
          </a:p>
          <a:p xmlns:a="http://schemas.openxmlformats.org/drawingml/2006/main">
            <a:r>
              <a:t/>
            </a:r>
          </a:p>
          <a:p xmlns:a="http://schemas.openxmlformats.org/drawingml/2006/main">
            <a:r>
              <a:t>Membership in a group list</a:t>
            </a:r>
          </a:p>
          <a:p xmlns:a="http://schemas.openxmlformats.org/drawingml/2006/main">
            <a:r>
              <a:t>series.isin(["E1", "E2"]) returns True for entries matching either listed label. equipment_data[that_mask] keeps all observations belonging to those groups.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keep the first record ID. Then ask two questions for each remaining row: is the target recorded, and is load between 0 and 100? Only a row passing both checks stays. Missing inputs are handled later using training data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keep the first record ID. Then ask two questions for each remaining row: is the target recorded, and is load between 0 and 100? Only a row passing both checks stays. Missing inputs are handled later using training data only.</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modelling_data = raw_data.drop_duplicates('record_id').copy()</a:t>
            </a:r>
          </a:p>
          <a:p xmlns:a="http://schemas.openxmlformats.org/drawingml/2006/main">
            <a:r>
              <a:t>modelling_data stores copied observations after duplicate and validity checks.</a:t>
            </a:r>
          </a:p>
          <a:p xmlns:a="http://schemas.openxmlformats.org/drawingml/2006/main">
            <a:r>
              <a:t/>
            </a:r>
          </a:p>
          <a:p xmlns:a="http://schemas.openxmlformats.org/drawingml/2006/main">
            <a:r>
              <a:t>target_is_recorded = modelling_data['target'].notna()</a:t>
            </a:r>
          </a:p>
          <a:p xmlns:a="http://schemas.openxmlformats.org/drawingml/2006/main">
            <a:r>
              <a:t>target_is_recorded stores the result of the displayed expression.</a:t>
            </a:r>
          </a:p>
          <a:p xmlns:a="http://schemas.openxmlformats.org/drawingml/2006/main">
            <a:r>
              <a:t/>
            </a:r>
          </a:p>
          <a:p xmlns:a="http://schemas.openxmlformats.org/drawingml/2006/main">
            <a:r>
              <a:t>load_is_valid = modelling_data['load_pct'].between(0, 100)</a:t>
            </a:r>
          </a:p>
          <a:p xmlns:a="http://schemas.openxmlformats.org/drawingml/2006/main">
            <a:r>
              <a:t>load_is_valid stores the result of the displayed expression.</a:t>
            </a:r>
          </a:p>
          <a:p xmlns:a="http://schemas.openxmlformats.org/drawingml/2006/main">
            <a:r>
              <a:t/>
            </a:r>
          </a:p>
          <a:p xmlns:a="http://schemas.openxmlformats.org/drawingml/2006/main">
            <a:r>
              <a:t>rows_to_keep = target_is_recorded &amp; load_is_valid</a:t>
            </a:r>
          </a:p>
          <a:p xmlns:a="http://schemas.openxmlformats.org/drawingml/2006/main">
            <a:r>
              <a:t>rows_to_keep stores the result of the displayed expression.</a:t>
            </a:r>
          </a:p>
          <a:p xmlns:a="http://schemas.openxmlformats.org/drawingml/2006/main">
            <a:r>
              <a:t/>
            </a:r>
          </a:p>
          <a:p xmlns:a="http://schemas.openxmlformats.org/drawingml/2006/main">
            <a:r>
              <a:t>print(target_is_recorded.head())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print(load_is_valid.head())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modelling_data = modelling_data[rows_to_keep].copy()</a:t>
            </a:r>
          </a:p>
          <a:p xmlns:a="http://schemas.openxmlformats.org/drawingml/2006/main">
            <a:r>
              <a:t>modelling_data stores copied observations after duplicate and validity checks.</a:t>
            </a:r>
          </a:p>
          <a:p xmlns:a="http://schemas.openxmlformats.org/drawingml/2006/main">
            <a:r>
              <a:t/>
            </a:r>
          </a:p>
          <a:p xmlns:a="http://schemas.openxmlformats.org/drawingml/2006/main">
            <a:r>
              <a:t>print(len(raw_data), len(modelling_data))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     True</a:t>
            </a:r>
          </a:p>
          <a:p xmlns:a="http://schemas.openxmlformats.org/drawingml/2006/main">
            <a:r>
              <a:t>1     True</a:t>
            </a:r>
          </a:p>
          <a:p xmlns:a="http://schemas.openxmlformats.org/drawingml/2006/main">
            <a:r>
              <a:t>2     True</a:t>
            </a:r>
          </a:p>
          <a:p xmlns:a="http://schemas.openxmlformats.org/drawingml/2006/main">
            <a:r>
              <a:t>3    False</a:t>
            </a:r>
          </a:p>
          <a:p xmlns:a="http://schemas.openxmlformats.org/drawingml/2006/main">
            <a:r>
              <a:t>4     True</a:t>
            </a:r>
          </a:p>
          <a:p xmlns:a="http://schemas.openxmlformats.org/drawingml/2006/main">
            <a:r>
              <a:t>Name: target, dtype: bool</a:t>
            </a:r>
          </a:p>
          <a:p xmlns:a="http://schemas.openxmlformats.org/drawingml/2006/main">
            <a:r>
              <a:t>0    True</a:t>
            </a:r>
          </a:p>
          <a:p xmlns:a="http://schemas.openxmlformats.org/drawingml/2006/main">
            <a:r>
              <a:t>1    True</a:t>
            </a:r>
          </a:p>
          <a:p xmlns:a="http://schemas.openxmlformats.org/drawingml/2006/main">
            <a:r>
              <a:t>2    True</a:t>
            </a:r>
          </a:p>
          <a:p xmlns:a="http://schemas.openxmlformats.org/drawingml/2006/main">
            <a:r>
              <a:t>3    True</a:t>
            </a:r>
          </a:p>
          <a:p xmlns:a="http://schemas.openxmlformats.org/drawingml/2006/main">
            <a:r>
              <a:t>4    True</a:t>
            </a:r>
          </a:p>
          <a:p xmlns:a="http://schemas.openxmlformats.org/drawingml/2006/main">
            <a:r>
              <a:t>Name: load_pct, dtype: bool</a:t>
            </a:r>
          </a:p>
          <a:p xmlns:a="http://schemas.openxmlformats.org/drawingml/2006/main">
            <a:r>
              <a:t>91 88</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isin(list_of_labels) answers True when a row’s equipment ID appears in the list. Here E1–E4 supply training rows, E5 validation rows and E6 test rows. The groups stay separate so one equipment group cannot appear on both sides.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isin(list_of_labels) answers True when a row’s equipment ID appears in the list. Here E1–E4 supply training rows, E5 validation rows and E6 test rows. The groups stay separate so one equipment group cannot appear on both sides.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is_training_equipment = modelling_data['equipment_id'].isin(['E1', 'E2', 'E3', 'E4'])</a:t>
            </a:r>
          </a:p>
          <a:p xmlns:a="http://schemas.openxmlformats.org/drawingml/2006/main">
            <a:r>
              <a:t>is_training_equipment stores the result of the displayed expression.</a:t>
            </a:r>
          </a:p>
          <a:p xmlns:a="http://schemas.openxmlformats.org/drawingml/2006/main">
            <a:r>
              <a:t/>
            </a:r>
          </a:p>
          <a:p xmlns:a="http://schemas.openxmlformats.org/drawingml/2006/main">
            <a:r>
              <a:t>is_validation_equipment = modelling_data['equipment_id'].isin(['E5'])</a:t>
            </a:r>
          </a:p>
          <a:p xmlns:a="http://schemas.openxmlformats.org/drawingml/2006/main">
            <a:r>
              <a:t>is_validation_equipment stores the result of the displayed expression.</a:t>
            </a:r>
          </a:p>
          <a:p xmlns:a="http://schemas.openxmlformats.org/drawingml/2006/main">
            <a:r>
              <a:t/>
            </a:r>
          </a:p>
          <a:p xmlns:a="http://schemas.openxmlformats.org/drawingml/2006/main">
            <a:r>
              <a:t>is_test_equipment = modelling_data['equipment_id'].isin(['E6'])</a:t>
            </a:r>
          </a:p>
          <a:p xmlns:a="http://schemas.openxmlformats.org/drawingml/2006/main">
            <a:r>
              <a:t>is_test_equipment stores the result of the displayed expression.</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training_data: rows used to learn model settings; only these rows may determine imputation values.</a:t>
            </a:r>
          </a:p>
          <a:p xmlns:a="http://schemas.openxmlformats.org/drawingml/2006/main">
            <a:r>
              <a:t/>
            </a:r>
          </a:p>
          <a:p xmlns:a="http://schemas.openxmlformats.org/drawingml/2006/main">
            <a:r>
              <a:t>validation_data: separate rows used to compare models without fitting on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training_data: rows used to learn model settings; only these rows may determine imputation values.</a:t>
            </a:r>
          </a:p>
          <a:p xmlns:a="http://schemas.openxmlformats.org/drawingml/2006/main">
            <a:r>
              <a:t/>
            </a:r>
          </a:p>
          <a:p xmlns:a="http://schemas.openxmlformats.org/drawingml/2006/main">
            <a:r>
              <a:t>validation_data: separate rows used to compare models without fitting on them.</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training_data = modelling_data[is_training_equipment].copy()</a:t>
            </a:r>
          </a:p>
          <a:p xmlns:a="http://schemas.openxmlformats.org/drawingml/2006/main">
            <a:r>
              <a:t>training_data stores rows used to learn model settings; only these rows may determine imputation values.</a:t>
            </a:r>
          </a:p>
          <a:p xmlns:a="http://schemas.openxmlformats.org/drawingml/2006/main">
            <a:r>
              <a:t/>
            </a:r>
          </a:p>
          <a:p xmlns:a="http://schemas.openxmlformats.org/drawingml/2006/main">
            <a:r>
              <a:t>validation_data = modelling_data[is_validation_equipment].copy()</a:t>
            </a:r>
          </a:p>
          <a:p xmlns:a="http://schemas.openxmlformats.org/drawingml/2006/main">
            <a:r>
              <a:t>validation_data stores separate rows used to compare models without fitting on them.</a:t>
            </a:r>
          </a:p>
          <a:p xmlns:a="http://schemas.openxmlformats.org/drawingml/2006/main">
            <a:r>
              <a:t/>
            </a:r>
          </a:p>
          <a:p xmlns:a="http://schemas.openxmlformats.org/drawingml/2006/main">
            <a:r>
              <a:t>test_data = modelling_data[is_test_equipment].copy()</a:t>
            </a:r>
          </a:p>
          <a:p xmlns:a="http://schemas.openxmlformats.org/drawingml/2006/main">
            <a:r>
              <a:t>test_data stores held-out rows kept aside until the final evaluation.</a:t>
            </a:r>
          </a:p>
          <a:p xmlns:a="http://schemas.openxmlformats.org/drawingml/2006/main">
            <a:r>
              <a:t/>
            </a:r>
          </a:p>
          <a:p xmlns:a="http://schemas.openxmlformats.org/drawingml/2006/main">
            <a:r>
              <a:t>feature_columns = ['load_pct', 'ambient_c']</a:t>
            </a:r>
          </a:p>
          <a:p xmlns:a="http://schemas.openxmlformats.org/drawingml/2006/main">
            <a:r>
              <a:t>feature_columns stores the list of input column names supplied to the model.</a:t>
            </a:r>
          </a:p>
          <a:p xmlns:a="http://schemas.openxmlformats.org/drawingml/2006/main">
            <a:r>
              <a:t/>
            </a:r>
          </a:p>
          <a:p xmlns:a="http://schemas.openxmlformats.org/drawingml/2006/main">
            <a:r>
              <a:t>print(len(training_data), len(validation_data), len(test_data))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58 15 15</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physical relationship can form a feature</a:t>
            </a:r>
          </a:p>
          <a:p xmlns:a="http://schemas.openxmlformats.org/drawingml/2006/main">
            <a:r>
              <a:t>Explanation to give</a:t>
            </a:r>
          </a:p>
          <a:p xmlns:a="http://schemas.openxmlformats.org/drawingml/2006/main">
            <a:r>
              <a:t>A derived feature is a new input calculated from known inputs. Explain its physical or operational reason and its units before presenting it to a linear_model. An interaction allows one input's effect to depend on another.</a:t>
            </a:r>
          </a:p>
          <a:p xmlns:a="http://schemas.openxmlformats.org/drawingml/2006/main">
            <a:r>
              <a:t/>
            </a:r>
          </a:p>
          <a:p xmlns:a="http://schemas.openxmlformats.org/drawingml/2006/main">
            <a:r>
              <a:t>Worked illustration / lecturer answer</a:t>
            </a:r>
          </a:p>
          <a:p xmlns:a="http://schemas.openxmlformats.org/drawingml/2006/main">
            <a:r>
              <a:t>For load_pct 50 and ambient_c 30, the course interaction load_pct * ambient_c is 1500. Separately, load_pct / 100 gives the fraction 0.5. These are different derived quantities. The interaction is a hypothesis to test, not a measured law.</a:t>
            </a:r>
          </a:p>
          <a:p xmlns:a="http://schemas.openxmlformats.org/drawingml/2006/main">
            <a:r>
              <a:t/>
            </a:r>
          </a:p>
          <a:p xmlns:a="http://schemas.openxmlformats.org/drawingml/2006/main">
            <a:r>
              <a:t>Misconception to address</a:t>
            </a:r>
          </a:p>
          <a:p xmlns:a="http://schemas.openxmlformats.org/drawingml/2006/main">
            <a:r>
              <a:t>A plausible physical story does not guarantee an improvement. Do not use the target or information that would only become available after the prediction.</a:t>
            </a:r>
          </a:p>
          <a:p xmlns:a="http://schemas.openxmlformats.org/drawingml/2006/main">
            <a:r>
              <a:t/>
            </a:r>
          </a:p>
          <a:p xmlns:a="http://schemas.openxmlformats.org/drawingml/2006/main">
            <a:r>
              <a:t>On this slide</a:t>
            </a:r>
          </a:p>
          <a:p xmlns:a="http://schemas.openxmlformats.org/drawingml/2006/main">
            <a:r>
              <a:t>Explain each quantity and the unit of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interaction has combined units. It is not a new measured physical quantity. Use information available at prediction time.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Adding or replacing a column</a:t>
            </a:r>
          </a:p>
          <a:p xmlns:a="http://schemas.openxmlformats.org/drawingml/2006/main">
            <a:r>
              <a:t>equipment_data["name"] = values assigns that column. An array follows row order. A Series aligns by row label, so keep labels paired with the intended observations.</a:t>
            </a:r>
          </a:p>
          <a:p xmlns:a="http://schemas.openxmlformats.org/drawingml/2006/main">
            <a:r>
              <a:t/>
            </a:r>
          </a:p>
          <a:p xmlns:a="http://schemas.openxmlformats.org/drawingml/2006/main">
            <a:r>
              <a:t>Column arithmetic</a:t>
            </a:r>
          </a:p>
          <a:p xmlns:a="http://schemas.openxmlformats.org/drawingml/2006/main">
            <a:r>
              <a:t>Arithmetic on columns calculates one result per row. Series align by row label. Divide only where the denominator is valid and keep actual and predicted observations paired.</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def add_features(equipment_data):</a:t>
            </a:r>
          </a:p>
          <a:p xmlns:a="http://schemas.openxmlformats.org/drawingml/2006/main">
            <a:r>
              <a:t>    extended_data = equipment_data.copy()</a:t>
            </a:r>
          </a:p>
          <a:p xmlns:a="http://schemas.openxmlformats.org/drawingml/2006/main">
            <a:r>
              <a:t>    extended_data['load_fraction'] = extended_data['load_pct'] / 100</a:t>
            </a:r>
          </a:p>
          <a:p xmlns:a="http://schemas.openxmlformats.org/drawingml/2006/main">
            <a:r>
              <a:t>    extended_data['load_ambient'] = extended_data['load_pct'] * extended_data['ambient_c']</a:t>
            </a:r>
          </a:p>
          <a:p xmlns:a="http://schemas.openxmlformats.org/drawingml/2006/main">
            <a:r>
              <a:t>    return extended_data</a:t>
            </a:r>
          </a:p>
          <a:p xmlns:a="http://schemas.openxmlformats.org/drawingml/2006/main">
            <a:r>
              <a:t>Define the function. Explain each input before the call. Its body runs only when called; return supplies the computed value.</a:t>
            </a:r>
          </a:p>
          <a:p xmlns:a="http://schemas.openxmlformats.org/drawingml/2006/main">
            <a:r>
              <a:t/>
            </a:r>
          </a:p>
          <a:p xmlns:a="http://schemas.openxmlformats.org/drawingml/2006/main">
            <a:r>
              <a:t>training_features = add_features(training_data)</a:t>
            </a:r>
          </a:p>
          <a:p xmlns:a="http://schemas.openxmlformats.org/drawingml/2006/main">
            <a:r>
              <a:t>training_features stores training table containing the engineered feature columns.</a:t>
            </a:r>
          </a:p>
          <a:p xmlns:a="http://schemas.openxmlformats.org/drawingml/2006/main">
            <a:r>
              <a:t/>
            </a:r>
          </a:p>
          <a:p xmlns:a="http://schemas.openxmlformats.org/drawingml/2006/main">
            <a:r>
              <a:t>validation_features = add_features(validation_data)</a:t>
            </a:r>
          </a:p>
          <a:p xmlns:a="http://schemas.openxmlformats.org/drawingml/2006/main">
            <a:r>
              <a:t>validation_features stores validation table with the same feature calculations applied.</a:t>
            </a:r>
          </a:p>
          <a:p xmlns:a="http://schemas.openxmlformats.org/drawingml/2006/main">
            <a:r>
              <a:t/>
            </a:r>
          </a:p>
          <a:p xmlns:a="http://schemas.openxmlformats.org/drawingml/2006/main">
            <a:r>
              <a:t>print(training_features[['load_pct', 'load_fraction', 'load_ambient']].head())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load_pct  load_fraction  load_ambient</a:t>
            </a:r>
          </a:p>
          <a:p xmlns:a="http://schemas.openxmlformats.org/drawingml/2006/main">
            <a:r>
              <a:t>0     59.15         0.5915     1875.6465</a:t>
            </a:r>
          </a:p>
          <a:p xmlns:a="http://schemas.openxmlformats.org/drawingml/2006/main">
            <a:r>
              <a:t>1     77.46         0.7746     2321.4762</a:t>
            </a:r>
          </a:p>
          <a:p xmlns:a="http://schemas.openxmlformats.org/drawingml/2006/main">
            <a:r>
              <a:t>2     69.60         0.6960     1382.9520</a:t>
            </a:r>
          </a:p>
          <a:p xmlns:a="http://schemas.openxmlformats.org/drawingml/2006/main">
            <a:r>
              <a:t>6     24.66         0.2466      784.4346</a:t>
            </a:r>
          </a:p>
          <a:p xmlns:a="http://schemas.openxmlformats.org/drawingml/2006/main">
            <a:r>
              <a:t>7     72.92         0.7292     2005.3000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def add_features(equipment_data):</a:t>
            </a:r>
          </a:p>
          <a:p xmlns:a="http://schemas.openxmlformats.org/drawingml/2006/main">
            <a:r>
              <a:t>    extended_data = equipment_data.copy()</a:t>
            </a:r>
          </a:p>
          <a:p xmlns:a="http://schemas.openxmlformats.org/drawingml/2006/main">
            <a:r>
              <a:t>    extended_data['load_fraction'] = extended_data['load_pct'] / 100</a:t>
            </a:r>
          </a:p>
          <a:p xmlns:a="http://schemas.openxmlformats.org/drawingml/2006/main">
            <a:r>
              <a:t>    extended_data['load_ambient'] = extended_data['load_pct'] * extended_data['ambient_c']</a:t>
            </a:r>
          </a:p>
          <a:p xmlns:a="http://schemas.openxmlformats.org/drawingml/2006/main">
            <a:r>
              <a:t>    return extended_data</a:t>
            </a:r>
          </a:p>
          <a:p xmlns:a="http://schemas.openxmlformats.org/drawingml/2006/main">
            <a:r>
              <a:t>Define the function. Explain each input before the call. Its body runs only when called; return supplies the computed value.</a:t>
            </a:r>
          </a:p>
          <a:p xmlns:a="http://schemas.openxmlformats.org/drawingml/2006/main">
            <a:r>
              <a:t/>
            </a:r>
          </a:p>
          <a:p xmlns:a="http://schemas.openxmlformats.org/drawingml/2006/main">
            <a:r>
              <a:t>training_features = add_features(training_data)</a:t>
            </a:r>
          </a:p>
          <a:p xmlns:a="http://schemas.openxmlformats.org/drawingml/2006/main">
            <a:r>
              <a:t>training_features stores training table containing the engineered feature columns.</a:t>
            </a:r>
          </a:p>
          <a:p xmlns:a="http://schemas.openxmlformats.org/drawingml/2006/main">
            <a:r>
              <a:t/>
            </a:r>
          </a:p>
          <a:p xmlns:a="http://schemas.openxmlformats.org/drawingml/2006/main">
            <a:r>
              <a:t>validation_features = add_features(validation_data)</a:t>
            </a:r>
          </a:p>
          <a:p xmlns:a="http://schemas.openxmlformats.org/drawingml/2006/main">
            <a:r>
              <a:t>validation_features stores validation table with the same feature calculations applied.</a:t>
            </a:r>
          </a:p>
          <a:p xmlns:a="http://schemas.openxmlformats.org/drawingml/2006/main">
            <a:r>
              <a:t/>
            </a:r>
          </a:p>
          <a:p xmlns:a="http://schemas.openxmlformats.org/drawingml/2006/main">
            <a:r>
              <a:t>print(training_features[['load_pct', 'load_fraction', 'load_ambient']].head())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load_pct  load_fraction  load_ambient</a:t>
            </a:r>
          </a:p>
          <a:p xmlns:a="http://schemas.openxmlformats.org/drawingml/2006/main">
            <a:r>
              <a:t>0     59.15         0.5915     1875.6465</a:t>
            </a:r>
          </a:p>
          <a:p xmlns:a="http://schemas.openxmlformats.org/drawingml/2006/main">
            <a:r>
              <a:t>1     77.46         0.7746     2321.4762</a:t>
            </a:r>
          </a:p>
          <a:p xmlns:a="http://schemas.openxmlformats.org/drawingml/2006/main">
            <a:r>
              <a:t>2     69.60         0.6960     1382.9520</a:t>
            </a:r>
          </a:p>
          <a:p xmlns:a="http://schemas.openxmlformats.org/drawingml/2006/main">
            <a:r>
              <a:t>6     24.66         0.2466      784.4346</a:t>
            </a:r>
          </a:p>
          <a:p xmlns:a="http://schemas.openxmlformats.org/drawingml/2006/main">
            <a:r>
              <a:t>7     72.92         0.7292     2005.3000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positive improvement means lower error for the extended linear_model. The four-column make_features output also includes load_fraction, but the ablation comparison uses the three specified extended columns.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Rounded display</a:t>
            </a:r>
          </a:p>
          <a:p xmlns:a="http://schemas.openxmlformats.org/drawingml/2006/main">
            <a:r>
              <a:t>series.round(3) returns values rounded to three decimal places. Python round(number, 3) rounds one number. Keep unrounded calculations for returned assessment answers.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make_pipeline(imputer, estimator) links preprocessing and prediction. fit learns the imputer and estimator on training rows. predict applies the learned steps to new rows in the same order.</a:t>
            </a:r>
          </a:p>
          <a:p xmlns:a="http://schemas.openxmlformats.org/drawingml/2006/main">
            <a:r>
              <a:t/>
            </a:r>
          </a:p>
          <a:p xmlns:a="http://schemas.openxmlformats.org/drawingml/2006/main">
            <a:r>
              <a:t>mean_absolute_error(actual, predicted) averages the absolute differences of paired values. Lower is better. Both lists must have the same length and row order; the answer has the target’s unit.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SimpleImputer(strategy="median") learns a median for each input column during fit. It uses those training medians to fill gaps later. Never learn replacement values from validation or test rows.</a:t>
            </a:r>
          </a:p>
          <a:p xmlns:a="http://schemas.openxmlformats.org/drawingml/2006/main">
            <a:r>
              <a:t/>
            </a:r>
          </a:p>
          <a:p xmlns:a="http://schemas.openxmlformats.org/drawingml/2006/main">
            <a:r>
              <a:t>LinearRegression() creates an unfitted model. It will learn coefficients and an intercept from training examples. Creating it alone does not train it or make predictions.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model.predict(input_table) returns one prediction per input row. Use the same feature columns and order as during training. Prediction uses learned settings; it does not refit the model.</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 inputs are load and ambient temperature. The extended inputs also include their product. Train separate pipelines on the same rows and compare on the same validation rows. This isolates the effect of adding the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 inputs are load and ambient temperature. The extended inputs also include their product. Train separate pipelines on the same rows and compare on the same validation rows. This isolates the effect of adding the feature.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from sklearn.impute import SimpleImputer</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sklearn.pipeline import make_pipeline</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sklearn.linear_model import LinearRegression</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sklearn.metrics import mean_absolute_error</a:t>
            </a:r>
          </a:p>
          <a:p xmlns:a="http://schemas.openxmlformats.org/drawingml/2006/main">
            <a:r>
              <a:t>Load the named tools. Importing a model class does not train a model.</a:t>
            </a:r>
          </a:p>
          <a:p xmlns:a="http://schemas.openxmlformats.org/drawingml/2006/main">
            <a:r>
              <a:t/>
            </a:r>
          </a:p>
          <a:p xmlns:a="http://schemas.openxmlformats.org/drawingml/2006/main">
            <a:r>
              <a:t>base_feature_columns = ['load_pct', 'ambient_c']</a:t>
            </a:r>
          </a:p>
          <a:p xmlns:a="http://schemas.openxmlformats.org/drawingml/2006/main">
            <a:r>
              <a:t>base_feature_columns stores input columns for the simpler comparison pipeline.</a:t>
            </a:r>
          </a:p>
          <a:p xmlns:a="http://schemas.openxmlformats.org/drawingml/2006/main">
            <a:r>
              <a:t/>
            </a:r>
          </a:p>
          <a:p xmlns:a="http://schemas.openxmlformats.org/drawingml/2006/main">
            <a:r>
              <a:t>extended_feature_columns = base_feature_columns + ['load_ambient']</a:t>
            </a:r>
          </a:p>
          <a:p xmlns:a="http://schemas.openxmlformats.org/drawingml/2006/main">
            <a:r>
              <a:t>extended_feature_columns stores base columns plus the interaction feature being tested.</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pipeline learns its own training medians and regression settings. The base model sees only base columns; the extended model sees the additional feature. Neither uses validation targets while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pipeline learns its own training medians and regression settings. The base model sees only base columns; the extended model sees the additional feature. Neither uses validation targets while learning.</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base_pipeline = make_pipeline(SimpleImputer(strategy='median'), LinearRegression())</a:t>
            </a:r>
          </a:p>
          <a:p xmlns:a="http://schemas.openxmlformats.org/drawingml/2006/main">
            <a:r>
              <a:t>base_pipeline stores imputer and regression model using only the base columns.</a:t>
            </a:r>
          </a:p>
          <a:p xmlns:a="http://schemas.openxmlformats.org/drawingml/2006/main">
            <a:r>
              <a:t/>
            </a:r>
          </a:p>
          <a:p xmlns:a="http://schemas.openxmlformats.org/drawingml/2006/main">
            <a:r>
              <a:t>extended_pipeline = make_pipeline(SimpleImputer(strategy='median'), LinearRegression())</a:t>
            </a:r>
          </a:p>
          <a:p xmlns:a="http://schemas.openxmlformats.org/drawingml/2006/main">
            <a:r>
              <a:t>extended_pipeline stores a separate imputer and regression model using the extended columns.</a:t>
            </a:r>
          </a:p>
          <a:p xmlns:a="http://schemas.openxmlformats.org/drawingml/2006/main">
            <a:r>
              <a:t/>
            </a:r>
          </a:p>
          <a:p xmlns:a="http://schemas.openxmlformats.org/drawingml/2006/main">
            <a:r>
              <a:t>base_pipeline.fit(training_features[base_feature_columns], training_data['target'])</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extended_pipeline.fit(training_features[extended_feature_columns], training_data['target'])</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pipeline learns its own training medians and regression settings. The base model sees only base columns; the extended model sees the additional feature. Neither uses validation targets while learning.</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base_pipeline = make_pipeline(SimpleImputer(strategy='median'), LinearRegression())</a:t>
            </a:r>
          </a:p>
          <a:p xmlns:a="http://schemas.openxmlformats.org/drawingml/2006/main">
            <a:r>
              <a:t>base_pipeline stores imputer and regression model using only the base columns.</a:t>
            </a:r>
          </a:p>
          <a:p xmlns:a="http://schemas.openxmlformats.org/drawingml/2006/main">
            <a:r>
              <a:t/>
            </a:r>
          </a:p>
          <a:p xmlns:a="http://schemas.openxmlformats.org/drawingml/2006/main">
            <a:r>
              <a:t>extended_pipeline = make_pipeline(SimpleImputer(strategy='median'), LinearRegression())</a:t>
            </a:r>
          </a:p>
          <a:p xmlns:a="http://schemas.openxmlformats.org/drawingml/2006/main">
            <a:r>
              <a:t>extended_pipeline stores a separate imputer and regression model using the extended columns.</a:t>
            </a:r>
          </a:p>
          <a:p xmlns:a="http://schemas.openxmlformats.org/drawingml/2006/main">
            <a:r>
              <a:t/>
            </a:r>
          </a:p>
          <a:p xmlns:a="http://schemas.openxmlformats.org/drawingml/2006/main">
            <a:r>
              <a:t>base_pipeline.fit(training_features[base_feature_columns], training_data['target'])</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extended_pipeline.fit(training_features[extended_feature_columns], training_data['target'])</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both alternatives on matching validation rows. mean_absolute_error compares each prediction with its observed target. Base MAE minus extended MAE is positive when the extra feature helped on this validation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both alternatives on matching validation rows. mean_absolute_error compares each prediction with its observed target. Base MAE minus extended MAE is positive when the extra feature helped on this validation set.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base_predictions = base_pipeline.predict(validation_features[base_feature_columns])</a:t>
            </a:r>
          </a:p>
          <a:p xmlns:a="http://schemas.openxmlformats.org/drawingml/2006/main">
            <a:r>
              <a:t>base_predictions stores validation predictions from the base pipeline.</a:t>
            </a:r>
          </a:p>
          <a:p xmlns:a="http://schemas.openxmlformats.org/drawingml/2006/main">
            <a:r>
              <a:t/>
            </a:r>
          </a:p>
          <a:p xmlns:a="http://schemas.openxmlformats.org/drawingml/2006/main">
            <a:r>
              <a:t>base_absolute_error = mean_absolute_error(validation_data['target'], base_predictions)</a:t>
            </a:r>
          </a:p>
          <a:p xmlns:a="http://schemas.openxmlformats.org/drawingml/2006/main">
            <a:r>
              <a:t>base_absolute_error stores validation mean absolute error for the base pipeline.</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extended_predictions: validation predictions from the extended pipeline.</a:t>
            </a:r>
          </a:p>
          <a:p xmlns:a="http://schemas.openxmlformats.org/drawingml/2006/main">
            <a:r>
              <a:t/>
            </a:r>
          </a:p>
          <a:p xmlns:a="http://schemas.openxmlformats.org/drawingml/2006/main">
            <a:r>
              <a:t>extended_absolute_error: validation mean absolute error for the extended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extended_predictions: validation predictions from the extended pipeline.</a:t>
            </a:r>
          </a:p>
          <a:p xmlns:a="http://schemas.openxmlformats.org/drawingml/2006/main">
            <a:r>
              <a:t/>
            </a:r>
          </a:p>
          <a:p xmlns:a="http://schemas.openxmlformats.org/drawingml/2006/main">
            <a:r>
              <a:t>extended_absolute_error: validation mean absolute error for the extended pipeline.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extended_predictions = extended_pipeline.predict(validation_features[extended_feature_columns])</a:t>
            </a:r>
          </a:p>
          <a:p xmlns:a="http://schemas.openxmlformats.org/drawingml/2006/main">
            <a:r>
              <a:t>extended_predictions stores validation predictions from the extended pipeline.</a:t>
            </a:r>
          </a:p>
          <a:p xmlns:a="http://schemas.openxmlformats.org/drawingml/2006/main">
            <a:r>
              <a:t/>
            </a:r>
          </a:p>
          <a:p xmlns:a="http://schemas.openxmlformats.org/drawingml/2006/main">
            <a:r>
              <a:t>extended_absolute_error = mean_absolute_error(validation_data['target'], extended_predictions)</a:t>
            </a:r>
          </a:p>
          <a:p xmlns:a="http://schemas.openxmlformats.org/drawingml/2006/main">
            <a:r>
              <a:t>extended_absolute_error stores validation mean absolute error for the extended pipeline.</a:t>
            </a:r>
          </a:p>
          <a:p xmlns:a="http://schemas.openxmlformats.org/drawingml/2006/main">
            <a:r>
              <a:t/>
            </a:r>
          </a:p>
          <a:p xmlns:a="http://schemas.openxmlformats.org/drawingml/2006/main">
            <a:r>
              <a:t>print(round(base_absolute_error, 4), round(extended_absolute_error, 4))</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print(round(base_absolute_error - extended_absolute_error, 4))</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0.7775 0.7992</a:t>
            </a:r>
          </a:p>
          <a:p xmlns:a="http://schemas.openxmlformats.org/drawingml/2006/main">
            <a:r>
              <a:t>-0.0217</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extended_predictions: validation predictions from the extended pipeline.</a:t>
            </a:r>
          </a:p>
          <a:p xmlns:a="http://schemas.openxmlformats.org/drawingml/2006/main">
            <a:r>
              <a:t/>
            </a:r>
          </a:p>
          <a:p xmlns:a="http://schemas.openxmlformats.org/drawingml/2006/main">
            <a:r>
              <a:t>extended_absolute_error: validation mean absolute error for the extended pipeline.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extended_predictions = extended_pipeline.predict(validation_features[extended_feature_columns])</a:t>
            </a:r>
          </a:p>
          <a:p xmlns:a="http://schemas.openxmlformats.org/drawingml/2006/main">
            <a:r>
              <a:t>extended_predictions stores validation predictions from the extended pipeline.</a:t>
            </a:r>
          </a:p>
          <a:p xmlns:a="http://schemas.openxmlformats.org/drawingml/2006/main">
            <a:r>
              <a:t/>
            </a:r>
          </a:p>
          <a:p xmlns:a="http://schemas.openxmlformats.org/drawingml/2006/main">
            <a:r>
              <a:t>extended_absolute_error = mean_absolute_error(validation_data['target'], extended_predictions)</a:t>
            </a:r>
          </a:p>
          <a:p xmlns:a="http://schemas.openxmlformats.org/drawingml/2006/main">
            <a:r>
              <a:t>extended_absolute_error stores validation mean absolute error for the extended pipeline.</a:t>
            </a:r>
          </a:p>
          <a:p xmlns:a="http://schemas.openxmlformats.org/drawingml/2006/main">
            <a:r>
              <a:t/>
            </a:r>
          </a:p>
          <a:p xmlns:a="http://schemas.openxmlformats.org/drawingml/2006/main">
            <a:r>
              <a:t>print(round(base_absolute_error, 4), round(extended_absolute_error, 4))</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print(round(base_absolute_error - extended_absolute_error, 4))</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0.7775 0.7992</a:t>
            </a:r>
          </a:p>
          <a:p xmlns:a="http://schemas.openxmlformats.org/drawingml/2006/main">
            <a:r>
              <a:t>-0.0217</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original function names and return types. Do not read a fixed CSV inside the assessed function: hidden tests supply different equipment_records. The separate calling cell reads the CSV.</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Returning a dictionary</a:t>
            </a:r>
          </a:p>
          <a:p xmlns:a="http://schemas.openxmlformats.org/drawingml/2006/main">
            <a:r>
              <a:t>series.to_dict() maps Series labels to values. equipment_data.to_dict("records") instead returns a list of row dictionaries. Choose the form required by the assignment.</a:t>
            </a:r>
          </a:p>
          <a:p xmlns:a="http://schemas.openxmlformats.org/drawingml/2006/main">
            <a:r>
              <a:t/>
            </a:r>
          </a:p>
          <a:p xmlns:a="http://schemas.openxmlformats.org/drawingml/2006/main">
            <a:r>
              <a:t>A table from Python values</a:t>
            </a:r>
          </a:p>
          <a:p xmlns:a="http://schemas.openxmlformats.org/drawingml/2006/main">
            <a:r>
              <a:t>pd.DataFrame(records) builds a table from row dictionaries. With a dictionary of column lists, keys become column names and each list supplies that column’s values.</a:t>
            </a:r>
          </a:p>
          <a:p xmlns:a="http://schemas.openxmlformats.org/drawingml/2006/main">
            <a:r>
              <a:t/>
            </a:r>
          </a:p>
          <a:p xmlns:a="http://schemas.openxmlformats.org/drawingml/2006/main">
            <a:r>
              <a:t>Mean of recorded values</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Grouping rows</a:t>
            </a:r>
          </a:p>
          <a:p xmlns:a="http://schemas.openxmlformats.org/drawingml/2006/main">
            <a:r>
              <a:t>equipment_data.groupby("label")["value"] groups the value column by matching labels. Apply mean() or sum() to calculate one result per group. Missing group labels are excluded by default.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Grouping rows: equipment_data.groupby("label")["value"] groups the value column by matching labels. Apply mean() or sum() to calculate one result per group. Missing group labels are excluded by default.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def mean_load_by_equipment(equipment_records):</a:t>
            </a:r>
          </a:p>
          <a:p xmlns:a="http://schemas.openxmlformats.org/drawingml/2006/main">
            <a:r>
              <a:t>    equipment_data = pd.DataFrame(equipment_records)</a:t>
            </a:r>
          </a:p>
          <a:p xmlns:a="http://schemas.openxmlformats.org/drawingml/2006/main">
            <a:r>
              <a:t>    mean_load_by_equipment_group = equipment_data.groupby('equipment_id')['load_pct'].mean()</a:t>
            </a:r>
          </a:p>
          <a:p xmlns:a="http://schemas.openxmlformats.org/drawingml/2006/main">
            <a:r>
              <a:t>    return mean_load_by_equipment_group.to_dict()</a:t>
            </a:r>
          </a:p>
          <a:p xmlns:a="http://schemas.openxmlformats.org/drawingml/2006/main">
            <a:r>
              <a:t>Define the function. Explain each input before the call. Its body runs only when called; return supplies the computed value.</a:t>
            </a:r>
          </a:p>
          <a:p xmlns:a="http://schemas.openxmlformats.org/drawingml/2006/main">
            <a:r>
              <a:t/>
            </a:r>
          </a:p>
          <a:p xmlns:a="http://schemas.openxmlformats.org/drawingml/2006/main">
            <a:r>
              <a:t>equipment_records = raw_data.to_dict('records')</a:t>
            </a:r>
          </a:p>
          <a:p xmlns:a="http://schemas.openxmlformats.org/drawingml/2006/main">
            <a:r>
              <a:t>equipment_records stores the input list of row dictionaries supplied to the function.</a:t>
            </a:r>
          </a:p>
          <a:p xmlns:a="http://schemas.openxmlformats.org/drawingml/2006/main">
            <a:r>
              <a:t/>
            </a:r>
          </a:p>
          <a:p xmlns:a="http://schemas.openxmlformats.org/drawingml/2006/main">
            <a:r>
              <a:t>print(mean_load_by_equipment(equipment_records))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{'E1': 54.9475, 'E2': 61.326, 'E3': 53.46933333333333, 'E4': 66.854, 'E5': 48.10133333333333, 'E6': 51.54}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issued task</a:t>
            </a:r>
          </a:p>
          <a:p xmlns:a="http://schemas.openxmlformats.org/drawingml/2006/main">
            <a:r>
              <a:t>Explanation to give</a:t>
            </a:r>
          </a:p>
          <a:p xmlns:a="http://schemas.openxmlformats.org/drawingml/2006/main">
            <a:r>
              <a:t>Name this cohort’s target and its unit exactly as displayed. Each row is one operating observation, while equipment_id can repeat across several observations.</a:t>
            </a:r>
          </a:p>
          <a:p xmlns:a="http://schemas.openxmlformats.org/drawingml/2006/main">
            <a:r>
              <a:t/>
            </a:r>
          </a:p>
          <a:p xmlns:a="http://schemas.openxmlformats.org/drawingml/2006/main">
            <a:r>
              <a:t>Worked illustration / lecturer answer</a:t>
            </a:r>
          </a:p>
          <a:p xmlns:a="http://schemas.openxmlformats.org/drawingml/2006/main">
            <a:r>
              <a:t>Explain record_id as the identifier of an observation, load_pct as load expressed in percent and ambient_c as temperature in degrees Celsius. The target records the known answer in training data.</a:t>
            </a:r>
          </a:p>
          <a:p xmlns:a="http://schemas.openxmlformats.org/drawingml/2006/main">
            <a:r>
              <a:t/>
            </a:r>
          </a:p>
          <a:p xmlns:a="http://schemas.openxmlformats.org/drawingml/2006/main">
            <a:r>
              <a:t>Misconception to address</a:t>
            </a:r>
          </a:p>
          <a:p xmlns:a="http://schemas.openxmlformats.org/drawingml/2006/main">
            <a:r>
              <a:t>These are synthetic examples for learning. They do not establish a calibrated physical relationship or justify operation of real equipment.</a:t>
            </a:r>
          </a:p>
          <a:p xmlns:a="http://schemas.openxmlformats.org/drawingml/2006/main">
            <a:r>
              <a:t/>
            </a:r>
          </a:p>
          <a:p xmlns:a="http://schemas.openxmlformats.org/drawingml/2006/main">
            <a:r>
              <a:t>On this slide</a:t>
            </a:r>
          </a:p>
          <a:p xmlns:a="http://schemas.openxmlformats.org/drawingml/2006/main">
            <a:r>
              <a:t>Investigate motor winding temperature.</a:t>
            </a:r>
          </a:p>
          <a:p xmlns:a="http://schemas.openxmlformats.org/drawingml/2006/main">
            <a:r>
              <a:t/>
            </a:r>
          </a:p>
          <a:p xmlns:a="http://schemas.openxmlformats.org/drawingml/2006/main">
            <a:r>
              <a:t>Target units: deg C.</a:t>
            </a:r>
          </a:p>
          <a:p xmlns:a="http://schemas.openxmlformats.org/drawingml/2006/main">
            <a:r>
              <a:t/>
            </a:r>
          </a:p>
          <a:p xmlns:a="http://schemas.openxmlformats.org/drawingml/2006/main">
            <a:r>
              <a:t>These are synthetic teaching records, not measurements suitable for deployment.</a:t>
            </a:r>
          </a:p>
          <a:p xmlns:a="http://schemas.openxmlformats.org/drawingml/2006/main">
            <a:r>
              <a:t/>
            </a:r>
          </a:p>
          <a:p xmlns:a="http://schemas.openxmlformats.org/drawingml/2006/main">
            <a:r>
              <a:t>Each record is one operating observation; equipment_id repeats across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make_features(feature_records)</a:t>
            </a:r>
          </a:p>
          <a:p xmlns:a="http://schemas.openxmlformats.org/drawingml/2006/main">
            <a:r>
              <a:t/>
            </a:r>
          </a:p>
          <a:p xmlns:a="http://schemas.openxmlformats.org/drawingml/2006/main">
            <a:r>
              <a:t>Return one feature row per input, in order: [load_pct, ambient_c, load_pct/100, load_pct*ambient_c].</a:t>
            </a:r>
          </a:p>
          <a:p xmlns:a="http://schemas.openxmlformats.org/drawingml/2006/main">
            <a:r>
              <a:t/>
            </a:r>
          </a:p>
          <a:p xmlns:a="http://schemas.openxmlformats.org/drawingml/2006/main">
            <a:r>
              <a:t>Use inputs available at prediction time only.</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ablation_metrics(training_records, validation_records)</a:t>
            </a:r>
          </a:p>
          <a:p xmlns:a="http://schemas.openxmlformats.org/drawingml/2006/main">
            <a:r>
              <a:t/>
            </a:r>
          </a:p>
          <a:p xmlns:a="http://schemas.openxmlformats.org/drawingml/2006/main">
            <a:r>
              <a:t>Fit two sklearn LinearRegression models on the same training records: base features [load_pct, ambient_c] and extended features adding load_pct*ambient_c.</a:t>
            </a:r>
          </a:p>
          <a:p xmlns:a="http://schemas.openxmlformats.org/drawingml/2006/main">
            <a:r>
              <a:t/>
            </a:r>
          </a:p>
          <a:p xmlns:a="http://schemas.openxmlformats.org/drawingml/2006/main">
            <a:r>
              <a:t>Evaluate both on the same validation records.</a:t>
            </a:r>
          </a:p>
          <a:p xmlns:a="http://schemas.openxmlformats.org/drawingml/2006/main">
            <a:r>
              <a:t/>
            </a:r>
          </a:p>
          <a:p xmlns:a="http://schemas.openxmlformats.org/drawingml/2006/main">
            <a:r>
              <a:t>Return base_mae, extended_mae and improvement=base_mae-extended_mae, without rounding.</a:t>
            </a:r>
          </a:p>
          <a:p xmlns:a="http://schemas.openxmlformats.org/drawingml/2006/main">
            <a:r>
              <a:t/>
            </a:r>
          </a:p>
          <a:p xmlns:a="http://schemas.openxmlformats.org/drawingml/2006/main">
            <a:r>
              <a:t>Inputs are complete; never fit on validation targets.</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Written evidence</a:t>
            </a:r>
          </a:p>
          <a:p xmlns:a="http://schemas.openxmlformats.org/drawingml/2006/main">
            <a:r>
              <a:t>Explanation to give</a:t>
            </a:r>
          </a:p>
          <a:p xmlns:a="http://schemas.openxmlformats.org/drawingml/2006/main">
            <a:r>
              <a:t>Show the actual markdown answer cell headed My written evidence. This is where the learner explains the choices and the supplied scenario in their own words.</a:t>
            </a:r>
          </a:p>
          <a:p xmlns:a="http://schemas.openxmlformats.org/drawingml/2006/main">
            <a:r>
              <a:t/>
            </a:r>
          </a:p>
          <a:p xmlns:a="http://schemas.openxmlformats.org/drawingml/2006/main">
            <a:r>
              <a:t>Worked illustration / lecturer answer</a:t>
            </a:r>
          </a:p>
          <a:p xmlns:a="http://schemas.openxmlformats.org/drawingml/2006/main">
            <a:r>
              <a:t>A useful explanation connects a decision to a named result and its limitation: for example, why a training-only median avoids using evaluation information. Describe supplied scenario figures as supplied, not as measurements the learner produced.</a:t>
            </a:r>
          </a:p>
          <a:p xmlns:a="http://schemas.openxmlformats.org/drawingml/2006/main">
            <a:r>
              <a:t/>
            </a:r>
          </a:p>
          <a:p xmlns:a="http://schemas.openxmlformats.org/drawingml/2006/main">
            <a:r>
              <a:t>Misconception to address</a:t>
            </a:r>
          </a:p>
          <a:p xmlns:a="http://schemas.openxmlformats.org/drawingml/2006/main">
            <a:r>
              <a:t>Prompts and copied code comments do not substitute for the learner’s reasoning. Weekly work and tests use the notebook; projects also require their separate readable report.</a:t>
            </a:r>
          </a:p>
          <a:p xmlns:a="http://schemas.openxmlformats.org/drawingml/2006/main">
            <a:r>
              <a:t/>
            </a:r>
          </a:p>
          <a:p xmlns:a="http://schemas.openxmlformats.org/drawingml/2006/main">
            <a:r>
              <a:t>On this slide</a:t>
            </a:r>
          </a:p>
          <a:p xmlns:a="http://schemas.openxmlformats.org/drawingml/2006/main">
            <a:r>
              <a:t>Use the cell headed “My written evidence”.</a:t>
            </a:r>
          </a:p>
          <a:p xmlns:a="http://schemas.openxmlformats.org/drawingml/2006/main">
            <a:r>
              <a:t/>
            </a:r>
          </a:p>
          <a:p xmlns:a="http://schemas.openxmlformats.org/drawingml/2006/main">
            <a:r>
              <a:t>Explain the supplied scenario in your own words.</a:t>
            </a:r>
          </a:p>
          <a:p xmlns:a="http://schemas.openxmlformats.org/drawingml/2006/main">
            <a:r>
              <a:t/>
            </a:r>
          </a:p>
          <a:p xmlns:a="http://schemas.openxmlformats.org/drawingml/2006/main">
            <a:r>
              <a:t>State target units, reasons and limitations.</a:t>
            </a:r>
          </a:p>
          <a:p xmlns:a="http://schemas.openxmlformats.org/drawingml/2006/main">
            <a:r>
              <a:t/>
            </a:r>
          </a:p>
          <a:p xmlns:a="http://schemas.openxmlformats.org/drawingml/2006/main">
            <a:r>
              <a:t>Submit one complete notebook containing code and written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Features and ablation submission</a:t>
            </a:r>
          </a:p>
          <a:p xmlns:a="http://schemas.openxmlformats.org/drawingml/2006/main">
            <a:r>
              <a:t>Explanation to give</a:t>
            </a:r>
          </a:p>
          <a:p xmlns:a="http://schemas.openxmlformats.org/drawingml/2006/main">
            <a:r>
              <a:t>This slide hands over CML3111 W11. Show the exact form title before uploading. The required packet is one completed .ipynb notebook.</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2026-11-27T11:00:00+03:00.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20 Nov 2026, 11:00 Kampala</a:t>
            </a:r>
          </a:p>
          <a:p xmlns:a="http://schemas.openxmlformats.org/drawingml/2006/main">
            <a:r>
              <a:t/>
            </a:r>
          </a:p>
          <a:p xmlns:a="http://schemas.openxmlformats.org/drawingml/2006/main">
            <a:r>
              <a:t>Deadline: 27 Nov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preparation</a:t>
            </a:r>
          </a:p>
          <a:p xmlns:a="http://schemas.openxmlformats.org/drawingml/2006/main">
            <a:r>
              <a:t>Explanation to give</a:t>
            </a:r>
          </a:p>
          <a:p xmlns:a="http://schemas.openxmlformats.org/drawingml/2006/main">
            <a:r>
              <a:t>Make contribution evidence specific enough to check. A seed records the starting state of random choices; a contribution log records who produced and explained which work.</a:t>
            </a:r>
          </a:p>
          <a:p xmlns:a="http://schemas.openxmlformats.org/drawingml/2006/main">
            <a:r>
              <a:t/>
            </a:r>
          </a:p>
          <a:p xmlns:a="http://schemas.openxmlformats.org/drawingml/2006/main">
            <a:r>
              <a:t>Worked illustration / lecturer answer</a:t>
            </a:r>
          </a:p>
          <a:p xmlns:a="http://schemas.openxmlformats.org/drawingml/2006/main">
            <a:r>
              <a:t>Name a file, function or chart and the decision behind it. Match that entry to meaningful repository history. Disclose AI assistance according to the assessment policy.</a:t>
            </a:r>
          </a:p>
          <a:p xmlns:a="http://schemas.openxmlformats.org/drawingml/2006/main">
            <a:r>
              <a:t/>
            </a:r>
          </a:p>
          <a:p xmlns:a="http://schemas.openxmlformats.org/drawingml/2006/main">
            <a:r>
              <a:t>Misconception to address</a:t>
            </a:r>
          </a:p>
          <a:p xmlns:a="http://schemas.openxmlformats.org/drawingml/2006/main">
            <a:r>
              <a:t>Many commits do not necessarily mean substantial work, and a seed does not establish accuracy. Both are supporting evidence, not replacements for the analysis.</a:t>
            </a:r>
          </a:p>
          <a:p xmlns:a="http://schemas.openxmlformats.org/drawingml/2006/main">
            <a:r>
              <a:t/>
            </a:r>
          </a:p>
          <a:p xmlns:a="http://schemas.openxmlformats.org/drawingml/2006/main">
            <a:r>
              <a:t>On this slide</a:t>
            </a:r>
          </a:p>
          <a:p xmlns:a="http://schemas.openxmlformats.org/drawingml/2006/main">
            <a:r>
              <a:t>Use the published machine learning project brief.</a:t>
            </a:r>
          </a:p>
          <a:p xmlns:a="http://schemas.openxmlformats.org/drawingml/2006/main">
            <a:r>
              <a:t/>
            </a:r>
          </a:p>
          <a:p xmlns:a="http://schemas.openxmlformats.org/drawingml/2006/main">
            <a:r>
              <a:t>Build the evidence gradually in your project notebook.</a:t>
            </a:r>
          </a:p>
          <a:p xmlns:a="http://schemas.openxmlformats.org/drawingml/2006/main">
            <a:r>
              <a:t/>
            </a:r>
          </a:p>
          <a:p xmlns:a="http://schemas.openxmlformats.org/drawingml/2006/main">
            <a:r>
              <a:t>Keep raw data, labelled charts, run instructions and individual contributions.</a:t>
            </a:r>
          </a:p>
          <a:p xmlns:a="http://schemas.openxmlformats.org/drawingml/2006/main">
            <a:r>
              <a:t/>
            </a:r>
          </a:p>
          <a:p xmlns:a="http://schemas.openxmlformats.org/drawingml/2006/main">
            <a:r>
              <a:t>Published deadline: 18 Dec 2026, 11:00 Kampala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11 quiz</a:t>
            </a:r>
          </a:p>
          <a:p xmlns:a="http://schemas.openxmlformats.org/drawingml/2006/main">
            <a:r>
              <a:t>Explanation to give</a:t>
            </a:r>
          </a:p>
          <a:p xmlns:a="http://schemas.openxmlformats.org/drawingml/2006/main">
            <a:r>
              <a:t>This is the CML3111 Week 1 quiz. The student link opens the response form; it does not activate its window. In Quiz Controls use open_W1_CML3111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Explanation to give</a:t>
            </a:r>
          </a:p>
          <a:p xmlns:a="http://schemas.openxmlformats.org/drawingml/2006/main">
            <a:r>
              <a:t>Explain why a calculated input may help and test the idea under an unchanged validation protocol.</a:t>
            </a:r>
          </a:p>
          <a:p xmlns:a="http://schemas.openxmlformats.org/drawingml/2006/main">
            <a:r>
              <a:t/>
            </a:r>
          </a:p>
          <a:p xmlns:a="http://schemas.openxmlformats.org/drawingml/2006/main">
            <a:r>
              <a:t>Worked illustration / lecturer answer</a:t>
            </a:r>
          </a:p>
          <a:p xmlns:a="http://schemas.openxmlformats.org/drawingml/2006/main">
            <a:r>
              <a:t>If validation MAE falls from 5 to 4 after adding one feature, the reduction is 1 target unit, or 20%. A comparison on a different split cannot isolate that change.</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state the new feature’s meaning and calculate an improvement correctly.</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1ca75124214b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a4d170b69d47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87bb8307e743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9af2187caeb422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c9c021c3ae4b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f48fae659947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1AC5A1-D2DF-4DC9-852E-6676A07160A7}"/>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359E3D9-B56F-4D4F-9C33-D2364BF4AE9F}"/>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01B2F78-3463-421A-8CB1-7F9AD0E1F9F5}"/>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E1C9DB-130B-4C0A-A686-F1764BB20A1D}"/>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840F86-6CAA-4ED0-BB5E-8BBFA5512B12}"/>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44C270C-33B9-479D-856D-C01182EAB676}"/>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A6CFA8-F161-4FB8-AA68-E4A5B55F0D46}"/>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190F270-8521-431B-8837-7A0D519AD8C5}"/>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2B2B41-D981-4DBD-BB5D-2FB15043E8CC}"/>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610F15-871C-43AE-8E0A-AA6D0D09229B}"/>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25c3dd08544ed6" /><Relationship Type="http://schemas.openxmlformats.org/officeDocument/2006/relationships/slideLayout" Target="/ppt/slideLayouts/slideLayout1.xml" Id="R66747c48b05140e9" /><Relationship Type="http://schemas.openxmlformats.org/officeDocument/2006/relationships/slideLayout" Target="/ppt/slideLayouts/slideLayout2.xml" Id="R6a14a2f0a0eb4408" /><Relationship Type="http://schemas.openxmlformats.org/officeDocument/2006/relationships/slideLayout" Target="/ppt/slideLayouts/slideLayout3.xml" Id="R96da1e2cd0a349c0" /><Relationship Type="http://schemas.openxmlformats.org/officeDocument/2006/relationships/slideLayout" Target="/ppt/slideLayouts/slideLayout4.xml" Id="R2a1a8f7963f24f66" /><Relationship Type="http://schemas.openxmlformats.org/officeDocument/2006/relationships/slideLayout" Target="/ppt/slideLayouts/slideLayout5.xml" Id="Rf7b095532548453d" /><Relationship Type="http://schemas.openxmlformats.org/officeDocument/2006/relationships/slideLayout" Target="/ppt/slideLayouts/slideLayout6.xml" Id="Rde32a8177c6448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747c48b05140e9"/>
    <p:sldLayoutId xmlns:r="http://schemas.openxmlformats.org/officeDocument/2006/relationships" id="2147483650" r:id="R6a14a2f0a0eb4408"/>
    <p:sldLayoutId xmlns:r="http://schemas.openxmlformats.org/officeDocument/2006/relationships" id="2147483651" r:id="R96da1e2cd0a349c0"/>
    <p:sldLayoutId xmlns:r="http://schemas.openxmlformats.org/officeDocument/2006/relationships" id="2147483652" r:id="R2a1a8f7963f24f66"/>
    <p:sldLayoutId xmlns:r="http://schemas.openxmlformats.org/officeDocument/2006/relationships" id="2147483653" r:id="Rf7b095532548453d"/>
    <p:sldLayoutId xmlns:r="http://schemas.openxmlformats.org/officeDocument/2006/relationships" id="2147483654" r:id="Rde32a8177c6448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ee68b991d654847" /><Relationship Type="http://schemas.openxmlformats.org/officeDocument/2006/relationships/image" Target="/ppt/media/image.png" Id="R0964846f77ed472c" /><Relationship Type="http://schemas.openxmlformats.org/officeDocument/2006/relationships/notesSlide" Target="/ppt/notesSlides/notesSlide1.xml" Id="R41451c38aa0840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dab788b25d4b8d" /><Relationship Type="http://schemas.openxmlformats.org/officeDocument/2006/relationships/notesSlide" Target="/ppt/notesSlides/notesSlide2.xml" Id="R765153963efb4d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8979e9c5a364593" /><Relationship Type="http://schemas.openxmlformats.org/officeDocument/2006/relationships/notesSlide" Target="/ppt/notesSlides/notesSlide3.xml" Id="Rc0cd99caec2441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ed53c3eebd64524" /><Relationship Type="http://schemas.openxmlformats.org/officeDocument/2006/relationships/notesSlide" Target="/ppt/notesSlides/notesSlide4.xml" Id="Ra516b2b148484f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8461a218ca74653" /><Relationship Type="http://schemas.openxmlformats.org/officeDocument/2006/relationships/notesSlide" Target="/ppt/notesSlides/notesSlide5.xml" Id="Rb50f0dde3fc444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4efe67dcce2402a" /><Relationship Type="http://schemas.openxmlformats.org/officeDocument/2006/relationships/notesSlide" Target="/ppt/notesSlides/notesSlide6.xml" Id="R74f256a9791047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a4446e46944ae5" /><Relationship Type="http://schemas.openxmlformats.org/officeDocument/2006/relationships/notesSlide" Target="/ppt/notesSlides/notesSlide7.xml" Id="R38daa60ea39c4e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1b1b349597245bd" /><Relationship Type="http://schemas.openxmlformats.org/officeDocument/2006/relationships/notesSlide" Target="/ppt/notesSlides/notesSlide8.xml" Id="R4487ed0a09a04c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48fb53c064f4bc3" /><Relationship Type="http://schemas.openxmlformats.org/officeDocument/2006/relationships/notesSlide" Target="/ppt/notesSlides/notesSlide9.xml" Id="Ra7005364f52a43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4635e4704684864" /><Relationship Type="http://schemas.openxmlformats.org/officeDocument/2006/relationships/notesSlide" Target="/ppt/notesSlides/notesSlide10.xml" Id="R56d5f60a327e48e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c7ab18557074792" /><Relationship Type="http://schemas.openxmlformats.org/officeDocument/2006/relationships/notesSlide" Target="/ppt/notesSlides/notesSlide11.xml" Id="R10677f860c0341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bdff028a8084a02" /><Relationship Type="http://schemas.openxmlformats.org/officeDocument/2006/relationships/notesSlide" Target="/ppt/notesSlides/notesSlide12.xml" Id="R63e197a83aab45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ce5e98da3f4417e" /><Relationship Type="http://schemas.openxmlformats.org/officeDocument/2006/relationships/notesSlide" Target="/ppt/notesSlides/notesSlide13.xml" Id="Raa5b45aff1564b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b03eb52622d44d4" /><Relationship Type="http://schemas.openxmlformats.org/officeDocument/2006/relationships/notesSlide" Target="/ppt/notesSlides/notesSlide14.xml" Id="Rf1eb9cd2978e4a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c4b11c4b9a94ac8" /><Relationship Type="http://schemas.openxmlformats.org/officeDocument/2006/relationships/notesSlide" Target="/ppt/notesSlides/notesSlide15.xml" Id="Ra3d384d293d949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a55ea5599194c5b" /><Relationship Type="http://schemas.openxmlformats.org/officeDocument/2006/relationships/notesSlide" Target="/ppt/notesSlides/notesSlide16.xml" Id="Rb184fe604c4844b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f461b0d3a084763" /><Relationship Type="http://schemas.openxmlformats.org/officeDocument/2006/relationships/notesSlide" Target="/ppt/notesSlides/notesSlide17.xml" Id="Ra6a7eaa47865472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6e9c54a4da24b8e" /><Relationship Type="http://schemas.openxmlformats.org/officeDocument/2006/relationships/image" Target="/ppt/media/image2.png" Id="Rd4ed300682a443c7" /><Relationship Type="http://schemas.openxmlformats.org/officeDocument/2006/relationships/notesSlide" Target="/ppt/notesSlides/notesSlide18.xml" Id="Rb167cb4e73fb455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b32b2c4690a4570" /><Relationship Type="http://schemas.openxmlformats.org/officeDocument/2006/relationships/notesSlide" Target="/ppt/notesSlides/notesSlide19.xml" Id="R658c8286653740d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2396026692a4bfa" /><Relationship Type="http://schemas.openxmlformats.org/officeDocument/2006/relationships/notesSlide" Target="/ppt/notesSlides/notesSlide20.xml" Id="R394b30116bfd47c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9cd8d8108864c58" /><Relationship Type="http://schemas.openxmlformats.org/officeDocument/2006/relationships/notesSlide" Target="/ppt/notesSlides/notesSlide21.xml" Id="R8af0a39ef48b458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5ce58f7ee474835" /><Relationship Type="http://schemas.openxmlformats.org/officeDocument/2006/relationships/notesSlide" Target="/ppt/notesSlides/notesSlide22.xml" Id="Rc35002af79e4453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d0fcb3f7f2e4e97" /><Relationship Type="http://schemas.openxmlformats.org/officeDocument/2006/relationships/notesSlide" Target="/ppt/notesSlides/notesSlide23.xml" Id="R10457cd718a6459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69c34a7dc644ede" /><Relationship Type="http://schemas.openxmlformats.org/officeDocument/2006/relationships/notesSlide" Target="/ppt/notesSlides/notesSlide24.xml" Id="R7d2ea766e5024a1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25ceecb1a9b4c31" /><Relationship Type="http://schemas.openxmlformats.org/officeDocument/2006/relationships/notesSlide" Target="/ppt/notesSlides/notesSlide25.xml" Id="R5f1756cc717d44c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7ebb28c84a44f26" /><Relationship Type="http://schemas.openxmlformats.org/officeDocument/2006/relationships/notesSlide" Target="/ppt/notesSlides/notesSlide26.xml" Id="R35158a804bab43b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ef3f811a274458e" /><Relationship Type="http://schemas.openxmlformats.org/officeDocument/2006/relationships/notesSlide" Target="/ppt/notesSlides/notesSlide27.xml" Id="R10a4eb965b7c482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50300c86c914192" /><Relationship Type="http://schemas.openxmlformats.org/officeDocument/2006/relationships/notesSlide" Target="/ppt/notesSlides/notesSlide28.xml" Id="Rbd1784a857d8478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0ddc4cc755e44fe" /><Relationship Type="http://schemas.openxmlformats.org/officeDocument/2006/relationships/notesSlide" Target="/ppt/notesSlides/notesSlide29.xml" Id="Re44631c233ae4ac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0123ef4d98a4d26" /><Relationship Type="http://schemas.openxmlformats.org/officeDocument/2006/relationships/notesSlide" Target="/ppt/notesSlides/notesSlide30.xml" Id="Rf60a61fdd2dc46e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6f9d7fc6da44964" /><Relationship Type="http://schemas.openxmlformats.org/officeDocument/2006/relationships/notesSlide" Target="/ppt/notesSlides/notesSlide31.xml" Id="Ra22e320a572e41b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47a74ad2838495f" /><Relationship Type="http://schemas.openxmlformats.org/officeDocument/2006/relationships/notesSlide" Target="/ppt/notesSlides/notesSlide32.xml" Id="R032815e1a999471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0824de77052416d" /><Relationship Type="http://schemas.openxmlformats.org/officeDocument/2006/relationships/notesSlide" Target="/ppt/notesSlides/notesSlide33.xml" Id="Rf96fd8f4145a43d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944bd870a8c44f1" /><Relationship Type="http://schemas.openxmlformats.org/officeDocument/2006/relationships/notesSlide" Target="/ppt/notesSlides/notesSlide34.xml" Id="R98d255c75a384e7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6391bdb072b4a9c" /><Relationship Type="http://schemas.openxmlformats.org/officeDocument/2006/relationships/notesSlide" Target="/ppt/notesSlides/notesSlide35.xml" Id="R89134597a5ce492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6e2e8d073814fc5" /><Relationship Type="http://schemas.openxmlformats.org/officeDocument/2006/relationships/notesSlide" Target="/ppt/notesSlides/notesSlide36.xml" Id="R0af0aefcaaf84e6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0889b5b3813a4464" /><Relationship Type="http://schemas.openxmlformats.org/officeDocument/2006/relationships/notesSlide" Target="/ppt/notesSlides/notesSlide37.xml" Id="Rf491e77d1dd745f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54d0095221f471b" /><Relationship Type="http://schemas.openxmlformats.org/officeDocument/2006/relationships/notesSlide" Target="/ppt/notesSlides/notesSlide38.xml" Id="R373c6a360fa4435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48583d337884faf" /><Relationship Type="http://schemas.openxmlformats.org/officeDocument/2006/relationships/notesSlide" Target="/ppt/notesSlides/notesSlide39.xml" Id="R2b08e77301b54b6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672b0b953ab34cf4" /><Relationship Type="http://schemas.openxmlformats.org/officeDocument/2006/relationships/notesSlide" Target="/ppt/notesSlides/notesSlide40.xml" Id="R95715498c694458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c28216a566d4970" /><Relationship Type="http://schemas.openxmlformats.org/officeDocument/2006/relationships/notesSlide" Target="/ppt/notesSlides/notesSlide41.xml" Id="Ra936ccd535124bf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3173d9c79af482b" /><Relationship Type="http://schemas.openxmlformats.org/officeDocument/2006/relationships/notesSlide" Target="/ppt/notesSlides/notesSlide42.xml" Id="R99e77f40b52943b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a60cc60521504a23" /><Relationship Type="http://schemas.openxmlformats.org/officeDocument/2006/relationships/notesSlide" Target="/ppt/notesSlides/notesSlide43.xml" Id="Rc6418f35d24a46f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0ac9f2916f94e9b" /><Relationship Type="http://schemas.openxmlformats.org/officeDocument/2006/relationships/notesSlide" Target="/ppt/notesSlides/notesSlide44.xml" Id="Rea1f8e7130e646e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84ef9bd5a6f4e5a" /><Relationship Type="http://schemas.openxmlformats.org/officeDocument/2006/relationships/notesSlide" Target="/ppt/notesSlides/notesSlide45.xml" Id="R3ec99c39d8be407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b373a6f822f3402c" /><Relationship Type="http://schemas.openxmlformats.org/officeDocument/2006/relationships/notesSlide" Target="/ppt/notesSlides/notesSlide46.xml" Id="Rf33e4d4f821a49b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7ce20331210e4f5d" /><Relationship Type="http://schemas.openxmlformats.org/officeDocument/2006/relationships/hyperlink" Target="https://docs.google.com/forms/d/e/1FAIpQLSeQJ_LsZgtIRbakN-KW4e4dx5rru2iqg6HwaaKoAQbKW7bh8Q/viewform" TargetMode="External" Id="R5aed0304b33f45a9" /><Relationship Type="http://schemas.openxmlformats.org/officeDocument/2006/relationships/notesSlide" Target="/ppt/notesSlides/notesSlide47.xml" Id="R65f58ff50bd643f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28a4039f330340cb" /><Relationship Type="http://schemas.openxmlformats.org/officeDocument/2006/relationships/notesSlide" Target="/ppt/notesSlides/notesSlide48.xml" Id="R2f2fba02aaed414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6ffea26ee9f444bf" /><Relationship Type="http://schemas.openxmlformats.org/officeDocument/2006/relationships/image" Target="/ppt/media/image3.png" Id="R37aff94988e54350" /><Relationship Type="http://schemas.openxmlformats.org/officeDocument/2006/relationships/hyperlink" Target="https://forms.gle/32Y9ttL1XWaqbGMNA" TargetMode="External" Id="R7cc15a2984604de8" /><Relationship Type="http://schemas.openxmlformats.org/officeDocument/2006/relationships/notesSlide" Target="/ppt/notesSlides/notesSlide49.xml" Id="Rc9eea425e1b74b3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821038a9b86f44a3" /><Relationship Type="http://schemas.openxmlformats.org/officeDocument/2006/relationships/notesSlide" Target="/ppt/notesSlides/notesSlide50.xml" Id="R9e845028c91f4c8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AC31792-C4C8-49EE-9AB4-AC88C765CCA4}"/>
              </a:ext>
            </a:extLst>
          </p:cNvPr>
          <p:cNvPicPr>
            <a:picLocks xmlns:a="http://schemas.openxmlformats.org/drawingml/2006/main" noChangeAspect="1"/>
          </p:cNvPicPr>
          <p:nvPr/>
        </p:nvPicPr>
        <p:blipFill>
          <a:blip xmlns:r="http://schemas.openxmlformats.org/officeDocument/2006/relationships" xmlns:a="http://schemas.openxmlformats.org/drawingml/2006/main" r:embed="R0964846f77ed472c"/>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3EE9510-10BE-450A-BE61-94E70FF08A5C}"/>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793144-192F-4200-B4FA-4A6EA2A0F07E}"/>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11</a:t>
            </a:r>
          </a:p>
        </p:txBody>
      </p:sp>
      <p:sp>
        <p:nvSpPr>
          <p:cNvPr id="4" name="">
            <a:extLst xmlns:a="http://schemas.openxmlformats.org/drawingml/2006/main">
              <a:ext uri="{FF2B5EF4-FFF2-40B4-BE49-F238E27FC236}">
                <a16:creationId xmlns:a16="http://schemas.microsoft.com/office/drawing/2014/main" id="{A6C00810-2D1D-4F53-A065-79078A9166E7}"/>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Creating and testing a useful feature</a:t>
            </a:r>
          </a:p>
        </p:txBody>
      </p:sp>
      <p:sp>
        <p:nvSpPr>
          <p:cNvPr id="5" name="">
            <a:extLst xmlns:a="http://schemas.openxmlformats.org/drawingml/2006/main">
              <a:ext uri="{FF2B5EF4-FFF2-40B4-BE49-F238E27FC236}">
                <a16:creationId xmlns:a16="http://schemas.microsoft.com/office/drawing/2014/main" id="{134DDEC9-1787-4C9B-9E7E-F00F88F5C55E}"/>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05CFB500-3167-4B96-A321-9CC11ECA3D0F}"/>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20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6791871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5C2FB4-92AA-4209-A540-62180379F24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4B85E4-CD47-44BE-BFBB-52F8C21A342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B5D1FE7-AFF6-4017-9414-DFE3BA76277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EC83918F-63F9-4C79-8637-1F22F2D9161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FE67D3-F37B-433D-B862-89A25F51D84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8BABA5C-C1DD-4E26-B5ED-77BA026E704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pandas tables for this week’s data work. Explain the decisions and check the outputs.</a:t>
            </a:r>
          </a:p>
        </p:txBody>
      </p:sp>
      <p:sp>
        <p:nvSpPr>
          <p:cNvPr id="7" name="">
            <a:extLst xmlns:a="http://schemas.openxmlformats.org/drawingml/2006/main">
              <a:ext uri="{FF2B5EF4-FFF2-40B4-BE49-F238E27FC236}">
                <a16:creationId xmlns:a16="http://schemas.microsoft.com/office/drawing/2014/main" id="{8B5F9CC5-9706-4105-9562-7C8B62AFBE7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Complete the issued function interfaces and written evidence using the demonstrated workflow.</a:t>
            </a:r>
          </a:p>
        </p:txBody>
      </p:sp>
      <p:sp>
        <p:nvSpPr>
          <p:cNvPr id="8" name="">
            <a:extLst xmlns:a="http://schemas.openxmlformats.org/drawingml/2006/main">
              <a:ext uri="{FF2B5EF4-FFF2-40B4-BE49-F238E27FC236}">
                <a16:creationId xmlns:a16="http://schemas.microsoft.com/office/drawing/2014/main" id="{6C57EAB7-2CAE-46CB-BDCD-90CA214E247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a:t>
            </a:r>
          </a:p>
        </p:txBody>
      </p:sp>
    </p:spTree>
    <p:extLst>
      <p:ext uri="{BB962C8B-B14F-4D97-AF65-F5344CB8AC3E}">
        <p14:creationId xmlns:p14="http://schemas.microsoft.com/office/powerpoint/2010/main" val="10786301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0E6769-B20B-4812-909E-91401EBC341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9EC503-9D18-4F43-A1F1-60E09EE2CB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BC135BA-EC0D-479E-B261-9106BD3B3A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1D2D31D0-6722-4F42-8F13-FC02B612547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580153-2CC2-48EE-8764-15D1AB41AB4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1C2DA77-F7EF-4155-923F-FC6BDD31EB1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it beside the notebook locally.</a:t>
            </a:r>
          </a:p>
        </p:txBody>
      </p:sp>
      <p:sp>
        <p:nvSpPr>
          <p:cNvPr id="7" name="">
            <a:extLst xmlns:a="http://schemas.openxmlformats.org/drawingml/2006/main">
              <a:ext uri="{FF2B5EF4-FFF2-40B4-BE49-F238E27FC236}">
                <a16:creationId xmlns:a16="http://schemas.microsoft.com/office/drawing/2014/main" id="{A51D8F1A-5CBD-465A-A873-6CE62AE8228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34BC7DB4-FAB2-4D1F-9FDF-D61576981C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a:t>
            </a:r>
          </a:p>
        </p:txBody>
      </p:sp>
    </p:spTree>
    <p:extLst>
      <p:ext uri="{BB962C8B-B14F-4D97-AF65-F5344CB8AC3E}">
        <p14:creationId xmlns:p14="http://schemas.microsoft.com/office/powerpoint/2010/main" val="11625713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E29798-B2E1-4242-AD15-1F5836F3F33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F4045D-4AD5-4A8D-9AED-1ACA1BC95BB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A73AFFE-CBB8-4753-A0D7-65A811EF2C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DE7810F7-09CF-4F07-B0C7-5BCF0C9C694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9E248EC-823A-4643-ABFA-37255346C9D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and short names: import pandas as pd loads pandas and gives it the short name pd. pd.read_csv refers to a function in that library.</a:t>
            </a:r>
          </a:p>
        </p:txBody>
      </p:sp>
      <p:sp>
        <p:nvSpPr>
          <p:cNvPr id="6" name="">
            <a:extLst xmlns:a="http://schemas.openxmlformats.org/drawingml/2006/main">
              <a:ext uri="{FF2B5EF4-FFF2-40B4-BE49-F238E27FC236}">
                <a16:creationId xmlns:a16="http://schemas.microsoft.com/office/drawing/2014/main" id="{70771988-E497-44C6-AD73-079EE6F5335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1B4163A-EF1B-40CB-B500-1D72B68865D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 CSV: pd.read_csv("practice_filename.csv") reads the named file into a DataFrame: a table with labelled columns and row labels. The file must exist in the working folder.</a:t>
            </a:r>
          </a:p>
        </p:txBody>
      </p:sp>
      <p:sp>
        <p:nvSpPr>
          <p:cNvPr id="8" name="">
            <a:extLst xmlns:a="http://schemas.openxmlformats.org/drawingml/2006/main">
              <a:ext uri="{FF2B5EF4-FFF2-40B4-BE49-F238E27FC236}">
                <a16:creationId xmlns:a16="http://schemas.microsoft.com/office/drawing/2014/main" id="{631A3985-EEE1-49D0-ADF8-C6CF9FDE8F2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4BF84E9-6BEE-42F3-AE9A-848D0CD48A8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dimensions: equipment_data.shape gives (number of rows, number of columns). shape is a property, so it has no parentheses.</a:t>
            </a:r>
          </a:p>
        </p:txBody>
      </p:sp>
      <p:sp>
        <p:nvSpPr>
          <p:cNvPr id="10" name="">
            <a:extLst xmlns:a="http://schemas.openxmlformats.org/drawingml/2006/main">
              <a:ext uri="{FF2B5EF4-FFF2-40B4-BE49-F238E27FC236}">
                <a16:creationId xmlns:a16="http://schemas.microsoft.com/office/drawing/2014/main" id="{6CEA1B3E-EC46-408F-89AA-E41C3179220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4</a:t>
            </a:r>
          </a:p>
        </p:txBody>
      </p:sp>
    </p:spTree>
    <p:extLst>
      <p:ext uri="{BB962C8B-B14F-4D97-AF65-F5344CB8AC3E}">
        <p14:creationId xmlns:p14="http://schemas.microsoft.com/office/powerpoint/2010/main" val="8852186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98472A-C3BD-4F89-910A-6E557B54224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BC18C2-0568-4CE3-9BE3-5FED6284E40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B5EAD02-4E33-48B8-9754-14035626B1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9E13FD87-4A11-45E6-87E5-761307245A2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D0452E-FC8E-4B81-AF2A-F9043D24512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7158938-24F2-4F9F-913D-D32EC1C4C59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data types: equipment_data.dtypes reports each column’s stored type. int64 means integers, float64 means decimal numbers, and object often contains text. Numeric blanks commonly appear as NaN.</a:t>
            </a:r>
          </a:p>
        </p:txBody>
      </p:sp>
      <p:sp>
        <p:nvSpPr>
          <p:cNvPr id="7" name="">
            <a:extLst xmlns:a="http://schemas.openxmlformats.org/drawingml/2006/main">
              <a:ext uri="{FF2B5EF4-FFF2-40B4-BE49-F238E27FC236}">
                <a16:creationId xmlns:a16="http://schemas.microsoft.com/office/drawing/2014/main" id="{EF73A453-7BD2-419C-8072-7C1FE05C814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preview of rows: equipment_data.head() returns the first five rows. It leaves the table unchanged. A preview is not the entire dataset.</a:t>
            </a:r>
          </a:p>
        </p:txBody>
      </p:sp>
      <p:sp>
        <p:nvSpPr>
          <p:cNvPr id="8" name="">
            <a:extLst xmlns:a="http://schemas.openxmlformats.org/drawingml/2006/main">
              <a:ext uri="{FF2B5EF4-FFF2-40B4-BE49-F238E27FC236}">
                <a16:creationId xmlns:a16="http://schemas.microsoft.com/office/drawing/2014/main" id="{3790C23A-11CC-416E-8D51-E4C374B661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5</a:t>
            </a:r>
          </a:p>
        </p:txBody>
      </p:sp>
    </p:spTree>
    <p:extLst>
      <p:ext uri="{BB962C8B-B14F-4D97-AF65-F5344CB8AC3E}">
        <p14:creationId xmlns:p14="http://schemas.microsoft.com/office/powerpoint/2010/main" val="12399998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7F0C9E-0E29-4C33-A9DC-F1004AA3C1E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10117F-8BD2-49D5-B147-8F3269A143C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27C237A-E200-435F-B395-29A17E7F592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code syntax</a:t>
            </a:r>
          </a:p>
        </p:txBody>
      </p:sp>
      <p:sp>
        <p:nvSpPr>
          <p:cNvPr id="4" name="">
            <a:extLst xmlns:a="http://schemas.openxmlformats.org/drawingml/2006/main">
              <a:ext uri="{FF2B5EF4-FFF2-40B4-BE49-F238E27FC236}">
                <a16:creationId xmlns:a16="http://schemas.microsoft.com/office/drawing/2014/main" id="{AFCD3D0C-92AB-41F2-909D-EB9D624CB520}"/>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A60B96-F925-4AAA-87AF-9071373EEA14}"/>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 assigns a value to a name; == compares values. Parentheses pass inputs or continue an expression across lines. print displays a value; len counts entries. int and float convert to integer and decimal numeric values.</a:t>
            </a:r>
          </a:p>
        </p:txBody>
      </p:sp>
      <p:sp>
        <p:nvSpPr>
          <p:cNvPr id="6" name="">
            <a:extLst xmlns:a="http://schemas.openxmlformats.org/drawingml/2006/main">
              <a:ext uri="{FF2B5EF4-FFF2-40B4-BE49-F238E27FC236}">
                <a16:creationId xmlns:a16="http://schemas.microsoft.com/office/drawing/2014/main" id="{F4807C0E-090B-45A1-942C-DC36E3D72A9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6</a:t>
            </a:r>
          </a:p>
        </p:txBody>
      </p:sp>
    </p:spTree>
    <p:extLst>
      <p:ext uri="{BB962C8B-B14F-4D97-AF65-F5344CB8AC3E}">
        <p14:creationId xmlns:p14="http://schemas.microsoft.com/office/powerpoint/2010/main" val="16934234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957837-8DD4-4167-8C9F-D98FD743846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030A72-20B1-4116-AE62-38CD57C8D69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4DEE55C-8A2C-4F76-99B9-EDA608D2181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DA013910-72E6-4DEC-8664-44E94681880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F54E27A-25D4-4A65-9185-40A69CC28FD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20E94C4E-5B7A-4EFA-9C21-925C396822A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raw_data: original CSV table; keep it unchanged so the analysis can be checked.</a:t>
            </a:r>
          </a:p>
        </p:txBody>
      </p:sp>
      <p:sp>
        <p:nvSpPr>
          <p:cNvPr id="7" name="">
            <a:extLst xmlns:a="http://schemas.openxmlformats.org/drawingml/2006/main">
              <a:ext uri="{FF2B5EF4-FFF2-40B4-BE49-F238E27FC236}">
                <a16:creationId xmlns:a16="http://schemas.microsoft.com/office/drawing/2014/main" id="{C7866F0B-F95E-4B2C-9EEE-164D17F01CD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D5D93C22-C902-42F5-8CD7-4FCAF62677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7</a:t>
            </a:r>
          </a:p>
        </p:txBody>
      </p:sp>
    </p:spTree>
    <p:extLst>
      <p:ext uri="{BB962C8B-B14F-4D97-AF65-F5344CB8AC3E}">
        <p14:creationId xmlns:p14="http://schemas.microsoft.com/office/powerpoint/2010/main" val="4221418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2C19F1-96EA-4ABA-BD14-1963B7BC92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C221F5-9118-4B45-81E7-358E77FCE5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827DE5D-ACB9-4556-9E22-C2F7BFAFCB1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used for modelling</a:t>
            </a:r>
          </a:p>
        </p:txBody>
      </p:sp>
      <p:sp>
        <p:nvSpPr>
          <p:cNvPr id="4" name="">
            <a:extLst xmlns:a="http://schemas.openxmlformats.org/drawingml/2006/main">
              <a:ext uri="{FF2B5EF4-FFF2-40B4-BE49-F238E27FC236}">
                <a16:creationId xmlns:a16="http://schemas.microsoft.com/office/drawing/2014/main" id="{B1631CDF-5E55-4816-8E03-5BD0335FA64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53AAFE3-0175-4FE9-87EE-432FCBEA31F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CD28F21-F5CA-468F-B14E-36BBE1F5C9B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 the first occurrence of each record_id. Retain recorded targets and load_pct within 0–100. Then separate E1–E4 for training, E5 for validation and E6 for the final test_data.</a:t>
            </a:r>
          </a:p>
        </p:txBody>
      </p:sp>
      <p:sp>
        <p:nvSpPr>
          <p:cNvPr id="7" name="">
            <a:extLst xmlns:a="http://schemas.openxmlformats.org/drawingml/2006/main">
              <a:ext uri="{FF2B5EF4-FFF2-40B4-BE49-F238E27FC236}">
                <a16:creationId xmlns:a16="http://schemas.microsoft.com/office/drawing/2014/main" id="{B0E8244C-8BEF-408C-9702-5E775863D9C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Fill missing input values using training data only. Keep final-test targets out of model selection.</a:t>
            </a:r>
          </a:p>
        </p:txBody>
      </p:sp>
      <p:sp>
        <p:nvSpPr>
          <p:cNvPr id="8" name="">
            <a:extLst xmlns:a="http://schemas.openxmlformats.org/drawingml/2006/main">
              <a:ext uri="{FF2B5EF4-FFF2-40B4-BE49-F238E27FC236}">
                <a16:creationId xmlns:a16="http://schemas.microsoft.com/office/drawing/2014/main" id="{0B1AE737-DDCF-4E07-95F5-899C07F153D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8</a:t>
            </a:r>
          </a:p>
        </p:txBody>
      </p:sp>
    </p:spTree>
    <p:extLst>
      <p:ext uri="{BB962C8B-B14F-4D97-AF65-F5344CB8AC3E}">
        <p14:creationId xmlns:p14="http://schemas.microsoft.com/office/powerpoint/2010/main" val="659929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9F97BD-BFF0-41CE-8C87-034F5FB5CC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FD0516-6AC0-4A9A-926E-58154B8519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204060C-7AAE-4F5B-B947-BE06D09C999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A2BDA5B0-5047-44A9-8495-65C9D5CF45A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23CEEF1-6138-4CF8-B028-6222EEF5014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chained operations: Read a chain from left to right. In equipment_data["target"].mean(), select the target Series first, then calculate its mean. Each step uses the previous step’s result.</a:t>
            </a:r>
          </a:p>
        </p:txBody>
      </p:sp>
      <p:sp>
        <p:nvSpPr>
          <p:cNvPr id="6" name="">
            <a:extLst xmlns:a="http://schemas.openxmlformats.org/drawingml/2006/main">
              <a:ext uri="{FF2B5EF4-FFF2-40B4-BE49-F238E27FC236}">
                <a16:creationId xmlns:a16="http://schemas.microsoft.com/office/drawing/2014/main" id="{457C377B-3344-45F1-9BD3-DB64C87001B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F0CAB1D-EBE0-4AE7-95C4-0AD719FA6AC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separate working table: equipment_data.copy() creates a working copy. Assigning columns on this copy preserves the source table, so you can compare before and after.</a:t>
            </a:r>
          </a:p>
        </p:txBody>
      </p:sp>
      <p:sp>
        <p:nvSpPr>
          <p:cNvPr id="8" name="">
            <a:extLst xmlns:a="http://schemas.openxmlformats.org/drawingml/2006/main">
              <a:ext uri="{FF2B5EF4-FFF2-40B4-BE49-F238E27FC236}">
                <a16:creationId xmlns:a16="http://schemas.microsoft.com/office/drawing/2014/main" id="{7CACA846-9B1F-4D7D-A7BE-FE0FEAF4EE0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61DA312-EF1B-431F-80FE-EA9CEB773BF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Finding recorded cells: notna() returns True where a value is present. Use it to retain observations with a recorded target before modelling.</a:t>
            </a:r>
          </a:p>
        </p:txBody>
      </p:sp>
      <p:sp>
        <p:nvSpPr>
          <p:cNvPr id="10" name="">
            <a:extLst xmlns:a="http://schemas.openxmlformats.org/drawingml/2006/main">
              <a:ext uri="{FF2B5EF4-FFF2-40B4-BE49-F238E27FC236}">
                <a16:creationId xmlns:a16="http://schemas.microsoft.com/office/drawing/2014/main" id="{8BFFA24B-3264-4DCD-BC4F-CD980C9D70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9</a:t>
            </a:r>
          </a:p>
        </p:txBody>
      </p:sp>
    </p:spTree>
    <p:extLst>
      <p:ext uri="{BB962C8B-B14F-4D97-AF65-F5344CB8AC3E}">
        <p14:creationId xmlns:p14="http://schemas.microsoft.com/office/powerpoint/2010/main" val="19347941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8C07C7-4C7A-40D4-AD4D-9F330741E21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AA0101-E1E3-40E3-A40A-FD4022C19D8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93E1901-43E6-4924-8FB1-D896B781988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B525B08B-A29A-4325-8AAD-3A4594E0140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08CAD9F-0986-4F02-B17D-9F8D6D975B7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inclusive range: series.between(0, 100) is True for values from 0 through 100, including both limits. The resulting mask helps select valid rows.</a:t>
            </a:r>
          </a:p>
        </p:txBody>
      </p:sp>
      <p:sp>
        <p:nvSpPr>
          <p:cNvPr id="6" name="">
            <a:extLst xmlns:a="http://schemas.openxmlformats.org/drawingml/2006/main">
              <a:ext uri="{FF2B5EF4-FFF2-40B4-BE49-F238E27FC236}">
                <a16:creationId xmlns:a16="http://schemas.microsoft.com/office/drawing/2014/main" id="{FFBD414A-E567-4E33-96DD-1C4964B95CF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E88AD42-2C6F-43F6-876F-340B6061F0E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columns: equipment_data["column"] returns one labelled column, a Series. equipment_data[["a", "b"]] returns a DataFrame containing those named columns in that order.</a:t>
            </a:r>
          </a:p>
        </p:txBody>
      </p:sp>
      <p:sp>
        <p:nvSpPr>
          <p:cNvPr id="8" name="">
            <a:extLst xmlns:a="http://schemas.openxmlformats.org/drawingml/2006/main">
              <a:ext uri="{FF2B5EF4-FFF2-40B4-BE49-F238E27FC236}">
                <a16:creationId xmlns:a16="http://schemas.microsoft.com/office/drawing/2014/main" id="{981BE022-D3BA-4425-97A3-002735F41DD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DAE5DEA-348A-4C96-9B19-30315600999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rows with a mask: A column comparison produces one True or False per row. equipment_data[mask] keeps the True rows. &amp; combines masks: both conditions must hold. Parenthesise each comparison.</a:t>
            </a:r>
          </a:p>
        </p:txBody>
      </p:sp>
      <p:sp>
        <p:nvSpPr>
          <p:cNvPr id="10" name="">
            <a:extLst xmlns:a="http://schemas.openxmlformats.org/drawingml/2006/main">
              <a:ext uri="{FF2B5EF4-FFF2-40B4-BE49-F238E27FC236}">
                <a16:creationId xmlns:a16="http://schemas.microsoft.com/office/drawing/2014/main" id="{74788EFB-915D-48A4-87B6-6A66B9E24A7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10</a:t>
            </a:r>
          </a:p>
        </p:txBody>
      </p:sp>
    </p:spTree>
    <p:extLst>
      <p:ext uri="{BB962C8B-B14F-4D97-AF65-F5344CB8AC3E}">
        <p14:creationId xmlns:p14="http://schemas.microsoft.com/office/powerpoint/2010/main" val="4045160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0B76A4-E9C3-4FC3-B97F-9E624009890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6CFAF0-E4EB-47C5-811E-99DA32121D7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E1D5FA8-6DC5-4C37-99FB-8BFC7BD0C74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8CA812E9-F797-4F13-A345-F0C04EB23BC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03035B7-C860-46FE-BC84-7A6627C1523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900754-5E82-4453-850B-C7629DF80B5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Keeping the first observation: equipment_data.drop_duplicates("record_id") returns rows with the first occurrence of each ID, preserving their order. It does not overwrite the source unless you assign the result.</a:t>
            </a:r>
          </a:p>
        </p:txBody>
      </p:sp>
      <p:sp>
        <p:nvSpPr>
          <p:cNvPr id="7" name="">
            <a:extLst xmlns:a="http://schemas.openxmlformats.org/drawingml/2006/main">
              <a:ext uri="{FF2B5EF4-FFF2-40B4-BE49-F238E27FC236}">
                <a16:creationId xmlns:a16="http://schemas.microsoft.com/office/drawing/2014/main" id="{0E1B56C2-47C9-49D2-A863-945FC2E6495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Membership in a group list: series.isin(["E1", "E2"]) returns True for entries matching either listed label. equipment_data[that_mask] keeps all observations belonging to those groups.</a:t>
            </a:r>
          </a:p>
        </p:txBody>
      </p:sp>
      <p:sp>
        <p:nvSpPr>
          <p:cNvPr id="8" name="">
            <a:extLst xmlns:a="http://schemas.openxmlformats.org/drawingml/2006/main">
              <a:ext uri="{FF2B5EF4-FFF2-40B4-BE49-F238E27FC236}">
                <a16:creationId xmlns:a16="http://schemas.microsoft.com/office/drawing/2014/main" id="{E0CADB1D-B1DA-4624-AE1B-80B0348E657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11</a:t>
            </a:r>
          </a:p>
        </p:txBody>
      </p:sp>
    </p:spTree>
    <p:extLst>
      <p:ext uri="{BB962C8B-B14F-4D97-AF65-F5344CB8AC3E}">
        <p14:creationId xmlns:p14="http://schemas.microsoft.com/office/powerpoint/2010/main" val="151531708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EAE9B1-6E3C-4F80-BE0D-B42C324D6FF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4F9DC7-CCE1-4A3E-91E3-6F55DF24C7E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C6AFECC-CCD7-40A9-8F69-06B2A1C5299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Prepare valid observations</a:t>
            </a:r>
          </a:p>
        </p:txBody>
      </p:sp>
      <p:sp>
        <p:nvSpPr>
          <p:cNvPr id="4" name="">
            <a:extLst xmlns:a="http://schemas.openxmlformats.org/drawingml/2006/main">
              <a:ext uri="{FF2B5EF4-FFF2-40B4-BE49-F238E27FC236}">
                <a16:creationId xmlns:a16="http://schemas.microsoft.com/office/drawing/2014/main" id="{30BC7EA2-53FA-4129-AD4A-7D66F685384F}"/>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549D95-8050-4BB3-B7C9-A44445C27F22}"/>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First keep the first record ID.</a:t>
            </a:r>
          </a:p>
        </p:txBody>
      </p:sp>
      <p:sp>
        <p:nvSpPr>
          <p:cNvPr id="6" name="">
            <a:extLst xmlns:a="http://schemas.openxmlformats.org/drawingml/2006/main">
              <a:ext uri="{FF2B5EF4-FFF2-40B4-BE49-F238E27FC236}">
                <a16:creationId xmlns:a16="http://schemas.microsoft.com/office/drawing/2014/main" id="{347E8C4F-5941-4FC9-B152-87A3348BC1DF}"/>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Then ask two questions for each remaining row: is the target recorded, and is load between 0 and 100?</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a row passing both checks stays.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Missing inputs are handled later using training data only.</a:t>
            </a:r>
          </a:p>
        </p:txBody>
      </p:sp>
      <p:sp>
        <p:nvSpPr>
          <p:cNvPr id="7" name="">
            <a:extLst xmlns:a="http://schemas.openxmlformats.org/drawingml/2006/main">
              <a:ext uri="{FF2B5EF4-FFF2-40B4-BE49-F238E27FC236}">
                <a16:creationId xmlns:a16="http://schemas.microsoft.com/office/drawing/2014/main" id="{46BAD63E-70B4-4544-932A-CCD11C8D0F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12</a:t>
            </a:r>
          </a:p>
        </p:txBody>
      </p:sp>
    </p:spTree>
    <p:extLst>
      <p:ext uri="{BB962C8B-B14F-4D97-AF65-F5344CB8AC3E}">
        <p14:creationId xmlns:p14="http://schemas.microsoft.com/office/powerpoint/2010/main" val="7535833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1DBC6D-85F6-4872-8DAD-D431887674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EEE792-D30E-4B41-B460-1B7EB906A5F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EA826A4-2A2C-4247-B419-9C2E37D5963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1</a:t>
            </a:r>
          </a:p>
        </p:txBody>
      </p:sp>
      <p:sp>
        <p:nvSpPr>
          <p:cNvPr id="4" name="">
            <a:extLst xmlns:a="http://schemas.openxmlformats.org/drawingml/2006/main">
              <a:ext uri="{FF2B5EF4-FFF2-40B4-BE49-F238E27FC236}">
                <a16:creationId xmlns:a16="http://schemas.microsoft.com/office/drawing/2014/main" id="{FFDD5687-1896-4E8E-A34B-887CFA84425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A442035-A290-4FAC-878E-5963E8ED267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modelling_data["target"].notna()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modelling_data["load_pct"].between(0,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modelling_data[rows_to_keep].copy()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 len(modelling_data))</a:t>
            </a:r>
          </a:p>
        </p:txBody>
      </p:sp>
      <p:sp>
        <p:nvSpPr>
          <p:cNvPr id="6" name="">
            <a:extLst xmlns:a="http://schemas.openxmlformats.org/drawingml/2006/main">
              <a:ext uri="{FF2B5EF4-FFF2-40B4-BE49-F238E27FC236}">
                <a16:creationId xmlns:a16="http://schemas.microsoft.com/office/drawing/2014/main" id="{1582CCFE-7DEC-4682-8245-A0A78CABFC1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5C319C98-1C8B-4144-B469-424C6A37E7E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0EA980F8-2A68-4B96-88AF-F65778AE993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13</a:t>
            </a:r>
          </a:p>
        </p:txBody>
      </p:sp>
    </p:spTree>
    <p:extLst>
      <p:ext uri="{BB962C8B-B14F-4D97-AF65-F5344CB8AC3E}">
        <p14:creationId xmlns:p14="http://schemas.microsoft.com/office/powerpoint/2010/main" val="95469353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B94A93-A7A9-471E-B5D4-F277083D129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2EE198-C493-405B-B17E-D4685820775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B723F35-AACC-41D5-9265-E15DF90283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groups before choosing rows</a:t>
            </a:r>
          </a:p>
        </p:txBody>
      </p:sp>
      <p:sp>
        <p:nvSpPr>
          <p:cNvPr id="4" name="">
            <a:extLst xmlns:a="http://schemas.openxmlformats.org/drawingml/2006/main">
              <a:ext uri="{FF2B5EF4-FFF2-40B4-BE49-F238E27FC236}">
                <a16:creationId xmlns:a16="http://schemas.microsoft.com/office/drawing/2014/main" id="{2879E75D-7999-4C82-B7D3-C0A09B4A0C8E}"/>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80DE41-CF0D-4462-83B6-EDF51F5B8466}"/>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isin(list_of_labels) answers True when a row’s equipment ID appears in the list.</a:t>
            </a:r>
          </a:p>
        </p:txBody>
      </p:sp>
      <p:sp>
        <p:nvSpPr>
          <p:cNvPr id="6" name="">
            <a:extLst xmlns:a="http://schemas.openxmlformats.org/drawingml/2006/main">
              <a:ext uri="{FF2B5EF4-FFF2-40B4-BE49-F238E27FC236}">
                <a16:creationId xmlns:a16="http://schemas.microsoft.com/office/drawing/2014/main" id="{6FDD5B16-C23B-4DD1-AAB7-55DD4627E3AA}"/>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Here E1–E4 supply training rows, E5 validation rows and E6 test rows.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groups stay separate so one equipment group cannot appear on both sides.</a:t>
            </a:r>
          </a:p>
        </p:txBody>
      </p:sp>
      <p:sp>
        <p:nvSpPr>
          <p:cNvPr id="7" name="">
            <a:extLst xmlns:a="http://schemas.openxmlformats.org/drawingml/2006/main">
              <a:ext uri="{FF2B5EF4-FFF2-40B4-BE49-F238E27FC236}">
                <a16:creationId xmlns:a16="http://schemas.microsoft.com/office/drawing/2014/main" id="{E62EADF6-5150-4475-9D5D-A600BA3011B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14</a:t>
            </a:r>
          </a:p>
        </p:txBody>
      </p:sp>
    </p:spTree>
    <p:extLst>
      <p:ext uri="{BB962C8B-B14F-4D97-AF65-F5344CB8AC3E}">
        <p14:creationId xmlns:p14="http://schemas.microsoft.com/office/powerpoint/2010/main" val="21248913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F11650-8ED8-43C1-8F2E-E98CEBFE7A1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2047C5-948F-4E57-9FE7-E84ADA69D38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DD1935F-9B21-4B10-A772-F4A85E8E5C6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2</a:t>
            </a:r>
          </a:p>
        </p:txBody>
      </p:sp>
      <p:sp>
        <p:nvSpPr>
          <p:cNvPr id="4" name="">
            <a:extLst xmlns:a="http://schemas.openxmlformats.org/drawingml/2006/main">
              <a:ext uri="{FF2B5EF4-FFF2-40B4-BE49-F238E27FC236}">
                <a16:creationId xmlns:a16="http://schemas.microsoft.com/office/drawing/2014/main" id="{0C761E5A-3C1F-41B3-B0BF-F85EAAB4E9F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D774174-5FA1-453A-B4BD-63065D23E28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is_training_equipment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["E1", "E2", "E3", "E4"]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is_validation_equipment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is_test_equipment = modelling_data["equipment_id"].isin(["E6"])</a:t>
            </a:r>
          </a:p>
        </p:txBody>
      </p:sp>
      <p:sp>
        <p:nvSpPr>
          <p:cNvPr id="6" name="">
            <a:extLst xmlns:a="http://schemas.openxmlformats.org/drawingml/2006/main">
              <a:ext uri="{FF2B5EF4-FFF2-40B4-BE49-F238E27FC236}">
                <a16:creationId xmlns:a16="http://schemas.microsoft.com/office/drawing/2014/main" id="{15714F92-5E45-4C10-A590-974E4B27839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E05C8A6D-8E1A-4D33-92A5-6C6717FBBFB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4B9883C0-5222-403B-84D1-7F9C7AF6EE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15</a:t>
            </a:r>
          </a:p>
        </p:txBody>
      </p:sp>
    </p:spTree>
    <p:extLst>
      <p:ext uri="{BB962C8B-B14F-4D97-AF65-F5344CB8AC3E}">
        <p14:creationId xmlns:p14="http://schemas.microsoft.com/office/powerpoint/2010/main" val="22169794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38426B-6ED5-422E-BC63-1DF62EDBE47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F173D0-4A80-4120-994B-18FABB2CE29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DD0332C-2C50-45E4-A4B4-D6126576251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3</a:t>
            </a:r>
          </a:p>
        </p:txBody>
      </p:sp>
      <p:sp>
        <p:nvSpPr>
          <p:cNvPr id="4" name="">
            <a:extLst xmlns:a="http://schemas.openxmlformats.org/drawingml/2006/main">
              <a:ext uri="{FF2B5EF4-FFF2-40B4-BE49-F238E27FC236}">
                <a16:creationId xmlns:a16="http://schemas.microsoft.com/office/drawing/2014/main" id="{6B5215DF-8A32-480C-8812-05F9D50B050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40B3BD2-1DBA-4FA2-9F62-CB5067D2EF5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3325DAB-7085-48FA-98D7-E24B3BFF208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 rows used to learn model settings; only these rows may determine imputation values.</a:t>
            </a:r>
          </a:p>
        </p:txBody>
      </p:sp>
      <p:sp>
        <p:nvSpPr>
          <p:cNvPr id="7" name="">
            <a:extLst xmlns:a="http://schemas.openxmlformats.org/drawingml/2006/main">
              <a:ext uri="{FF2B5EF4-FFF2-40B4-BE49-F238E27FC236}">
                <a16:creationId xmlns:a16="http://schemas.microsoft.com/office/drawing/2014/main" id="{9F06B5A0-66F6-4BB5-A3BD-7D676A3652A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validation_data: separate rows used to compare models without fitting on them.</a:t>
            </a:r>
          </a:p>
        </p:txBody>
      </p:sp>
      <p:sp>
        <p:nvSpPr>
          <p:cNvPr id="8" name="">
            <a:extLst xmlns:a="http://schemas.openxmlformats.org/drawingml/2006/main">
              <a:ext uri="{FF2B5EF4-FFF2-40B4-BE49-F238E27FC236}">
                <a16:creationId xmlns:a16="http://schemas.microsoft.com/office/drawing/2014/main" id="{4187787C-954A-44AE-971B-A3E7E9AA6E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16</a:t>
            </a:r>
          </a:p>
        </p:txBody>
      </p:sp>
    </p:spTree>
    <p:extLst>
      <p:ext uri="{BB962C8B-B14F-4D97-AF65-F5344CB8AC3E}">
        <p14:creationId xmlns:p14="http://schemas.microsoft.com/office/powerpoint/2010/main" val="19553587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24E2AE-C534-4234-ABA8-A4D67FF23E5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4900D4-8BE3-4BB7-9176-561D0222017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E46CF1B-E5E2-4D7A-80F7-ECA25587C82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3</a:t>
            </a:r>
          </a:p>
        </p:txBody>
      </p:sp>
      <p:sp>
        <p:nvSpPr>
          <p:cNvPr id="4" name="">
            <a:extLst xmlns:a="http://schemas.openxmlformats.org/drawingml/2006/main">
              <a:ext uri="{FF2B5EF4-FFF2-40B4-BE49-F238E27FC236}">
                <a16:creationId xmlns:a16="http://schemas.microsoft.com/office/drawing/2014/main" id="{6EE990BA-9664-454A-99DC-2C2EB0E8B64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E3F9A8-5710-41E2-AF64-09C1A9E6FCD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modelling_data[is_training_equipment].copy()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modelling_data[is_validation_equipment].copy()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test_data = modelling_data[is_test_equipment].copy()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print(len(training_data), len(validation_data), len(test_data))</a:t>
            </a:r>
          </a:p>
        </p:txBody>
      </p:sp>
      <p:sp>
        <p:nvSpPr>
          <p:cNvPr id="6" name="">
            <a:extLst xmlns:a="http://schemas.openxmlformats.org/drawingml/2006/main">
              <a:ext uri="{FF2B5EF4-FFF2-40B4-BE49-F238E27FC236}">
                <a16:creationId xmlns:a16="http://schemas.microsoft.com/office/drawing/2014/main" id="{B1408A24-D86D-4545-B53B-119B39D6EB5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44C20417-52FA-492C-9C73-C029077DDB3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541332CA-EAAD-4B22-B295-26D47718D4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17</a:t>
            </a:r>
          </a:p>
        </p:txBody>
      </p:sp>
    </p:spTree>
    <p:extLst>
      <p:ext uri="{BB962C8B-B14F-4D97-AF65-F5344CB8AC3E}">
        <p14:creationId xmlns:p14="http://schemas.microsoft.com/office/powerpoint/2010/main" val="189227752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0C2F31-0AC7-4B48-ABEA-C7C91BBC1C3D}"/>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AAB0F4-B338-4E9A-B756-7E210D9286D1}"/>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physical relationship can form a feature</a:t>
            </a:r>
          </a:p>
        </p:txBody>
      </p:sp>
      <p:pic>
        <p:nvPicPr>
          <p:cNvPr id="3" name="">
            <a:extLst xmlns:a="http://schemas.openxmlformats.org/drawingml/2006/main">
              <a:ext uri="{FF2B5EF4-FFF2-40B4-BE49-F238E27FC236}">
                <a16:creationId xmlns:a16="http://schemas.microsoft.com/office/drawing/2014/main" id="{75CE23AC-3147-4A76-A463-2A6119B3A9A9}"/>
              </a:ext>
            </a:extLst>
          </p:cNvPr>
          <p:cNvPicPr>
            <a:picLocks xmlns:a="http://schemas.openxmlformats.org/drawingml/2006/main" noChangeAspect="1"/>
          </p:cNvPicPr>
          <p:nvPr/>
        </p:nvPicPr>
        <p:blipFill>
          <a:blip xmlns:r="http://schemas.openxmlformats.org/officeDocument/2006/relationships" xmlns:a="http://schemas.openxmlformats.org/drawingml/2006/main" r:embed="Rd4ed300682a443c7"/>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150556C-B9AA-4561-859B-7BC5ED518448}"/>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F87F64-1936-4114-BCCA-FB6D6751F82C}"/>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Explain each quantity and the unit of the mean_load_by_equipment_group.</a:t>
            </a:r>
          </a:p>
        </p:txBody>
      </p:sp>
      <p:sp>
        <p:nvSpPr>
          <p:cNvPr id="6" name="">
            <a:extLst xmlns:a="http://schemas.openxmlformats.org/drawingml/2006/main">
              <a:ext uri="{FF2B5EF4-FFF2-40B4-BE49-F238E27FC236}">
                <a16:creationId xmlns:a16="http://schemas.microsoft.com/office/drawing/2014/main" id="{F22F8880-3076-48A4-A69D-CBEF48FF210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18</a:t>
            </a:r>
          </a:p>
        </p:txBody>
      </p:sp>
    </p:spTree>
    <p:extLst>
      <p:ext uri="{BB962C8B-B14F-4D97-AF65-F5344CB8AC3E}">
        <p14:creationId xmlns:p14="http://schemas.microsoft.com/office/powerpoint/2010/main" val="166901659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86E73C-5CC1-44B8-B6DD-1E828A8B7C8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39A69E-FA5B-4EBF-BB56-E1D8B65962F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58C30D9-8D87-4A3B-940C-C506615341E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Derived features from existing inputs</a:t>
            </a:r>
          </a:p>
        </p:txBody>
      </p:sp>
      <p:sp>
        <p:nvSpPr>
          <p:cNvPr id="4" name="">
            <a:extLst xmlns:a="http://schemas.openxmlformats.org/drawingml/2006/main">
              <a:ext uri="{FF2B5EF4-FFF2-40B4-BE49-F238E27FC236}">
                <a16:creationId xmlns:a16="http://schemas.microsoft.com/office/drawing/2014/main" id="{EBEF9374-0A29-4DF6-B22C-060BBE144DF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6D7447-2804-42B5-A3F2-C525B607B26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1DFC7C3-3ECB-45E7-A6EC-24DF1A4B3CE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load_pct / 100 gives load_fraction. Multiplying load_pct by ambient_c gives the load_ambient interaction.</a:t>
            </a:r>
          </a:p>
        </p:txBody>
      </p:sp>
      <p:sp>
        <p:nvSpPr>
          <p:cNvPr id="7" name="">
            <a:extLst xmlns:a="http://schemas.openxmlformats.org/drawingml/2006/main">
              <a:ext uri="{FF2B5EF4-FFF2-40B4-BE49-F238E27FC236}">
                <a16:creationId xmlns:a16="http://schemas.microsoft.com/office/drawing/2014/main" id="{1AD19956-9F9D-43E7-AF22-09AB6D61DCA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equipment_data["new_name"] = expression adds a column. Apply the same formulas to training and validation rows, without changing raw data.</a:t>
            </a:r>
          </a:p>
        </p:txBody>
      </p:sp>
      <p:sp>
        <p:nvSpPr>
          <p:cNvPr id="8" name="">
            <a:extLst xmlns:a="http://schemas.openxmlformats.org/drawingml/2006/main">
              <a:ext uri="{FF2B5EF4-FFF2-40B4-BE49-F238E27FC236}">
                <a16:creationId xmlns:a16="http://schemas.microsoft.com/office/drawing/2014/main" id="{DAF8DA98-DAF5-48BB-96D1-AA8C02EB0D5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19</a:t>
            </a:r>
          </a:p>
        </p:txBody>
      </p:sp>
    </p:spTree>
    <p:extLst>
      <p:ext uri="{BB962C8B-B14F-4D97-AF65-F5344CB8AC3E}">
        <p14:creationId xmlns:p14="http://schemas.microsoft.com/office/powerpoint/2010/main" val="203330184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108C9B-67F7-46BB-BFF6-A7D5153D5C3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D7A1BC-A45B-4575-A2B4-ECB6CCCEA85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52ECE4C-08D1-401F-9ECF-334A0DE53F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8B23CBE2-129D-4BD2-8862-3F414972C41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6A2CA6E-0939-4926-976A-DD054EFB47A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88A728C-CA04-400F-8292-A4E15173EAE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Adding or replacing a column: equipment_data["name"] = values assigns that column. An array follows row order. A Series aligns by row label, so keep labels paired with the intended observations.</a:t>
            </a:r>
          </a:p>
        </p:txBody>
      </p:sp>
      <p:sp>
        <p:nvSpPr>
          <p:cNvPr id="7" name="">
            <a:extLst xmlns:a="http://schemas.openxmlformats.org/drawingml/2006/main">
              <a:ext uri="{FF2B5EF4-FFF2-40B4-BE49-F238E27FC236}">
                <a16:creationId xmlns:a16="http://schemas.microsoft.com/office/drawing/2014/main" id="{0AD424C4-2CB7-4942-8D13-13DB341E489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arithmetic: Arithmetic on columns calculates one result per row. Series align by row label. Divide only where the denominator is valid and keep actual and predicted observations paired.</a:t>
            </a:r>
          </a:p>
        </p:txBody>
      </p:sp>
      <p:sp>
        <p:nvSpPr>
          <p:cNvPr id="8" name="">
            <a:extLst xmlns:a="http://schemas.openxmlformats.org/drawingml/2006/main">
              <a:ext uri="{FF2B5EF4-FFF2-40B4-BE49-F238E27FC236}">
                <a16:creationId xmlns:a16="http://schemas.microsoft.com/office/drawing/2014/main" id="{B6153461-EA61-470D-B36F-1764F96DFBF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20</a:t>
            </a:r>
          </a:p>
        </p:txBody>
      </p:sp>
    </p:spTree>
    <p:extLst>
      <p:ext uri="{BB962C8B-B14F-4D97-AF65-F5344CB8AC3E}">
        <p14:creationId xmlns:p14="http://schemas.microsoft.com/office/powerpoint/2010/main" val="203575981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12B92F-CE58-4075-B3C2-31933A2E43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3214D1-0505-4080-AA90-420A993F5FE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4EA08FD-5B77-4956-AEDD-866952B66EA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a function</a:t>
            </a:r>
          </a:p>
        </p:txBody>
      </p:sp>
      <p:sp>
        <p:nvSpPr>
          <p:cNvPr id="4" name="">
            <a:extLst xmlns:a="http://schemas.openxmlformats.org/drawingml/2006/main">
              <a:ext uri="{FF2B5EF4-FFF2-40B4-BE49-F238E27FC236}">
                <a16:creationId xmlns:a16="http://schemas.microsoft.com/office/drawing/2014/main" id="{4B421324-B264-4EB2-B1D4-B57DE5EA0E82}"/>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CAA5E4-284F-4F1A-9B67-FD968324135A}"/>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def gives a reusable block a name and input parameters. The indented statements run when it is called. return sends a result back to the caller; print displays a result but does not return it.</a:t>
            </a:r>
          </a:p>
        </p:txBody>
      </p:sp>
      <p:sp>
        <p:nvSpPr>
          <p:cNvPr id="6" name="">
            <a:extLst xmlns:a="http://schemas.openxmlformats.org/drawingml/2006/main">
              <a:ext uri="{FF2B5EF4-FFF2-40B4-BE49-F238E27FC236}">
                <a16:creationId xmlns:a16="http://schemas.microsoft.com/office/drawing/2014/main" id="{44E257AA-E8B5-4B44-980E-A6957EA95F2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21</a:t>
            </a:r>
          </a:p>
        </p:txBody>
      </p:sp>
    </p:spTree>
    <p:extLst>
      <p:ext uri="{BB962C8B-B14F-4D97-AF65-F5344CB8AC3E}">
        <p14:creationId xmlns:p14="http://schemas.microsoft.com/office/powerpoint/2010/main" val="70243131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4AC281-A323-4917-8CF4-B6A669DEF4A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BF211B-9298-4B55-9764-FDCA7FC12C4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6A65F94-3429-478F-9FAB-C48589B6E1E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Features from the supplied load and ambient columns (1/2)</a:t>
            </a:r>
          </a:p>
        </p:txBody>
      </p:sp>
      <p:sp>
        <p:nvSpPr>
          <p:cNvPr id="4" name="">
            <a:extLst xmlns:a="http://schemas.openxmlformats.org/drawingml/2006/main">
              <a:ext uri="{FF2B5EF4-FFF2-40B4-BE49-F238E27FC236}">
                <a16:creationId xmlns:a16="http://schemas.microsoft.com/office/drawing/2014/main" id="{3C33CC2B-61D7-40E2-B18D-DC49A198522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BDFC206-2C33-4143-8E6D-0AA21B0BC30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add_features(equipment_data):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 = equipment_data.copy()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extended_data["load_fraction"]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extended_data["load_pct"] /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extended_data["load_ambient"]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extended_data["load_pct"] * extended_data["ambient_c"]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p:txBody>
      </p:sp>
      <p:sp>
        <p:nvSpPr>
          <p:cNvPr id="6" name="">
            <a:extLst xmlns:a="http://schemas.openxmlformats.org/drawingml/2006/main">
              <a:ext uri="{FF2B5EF4-FFF2-40B4-BE49-F238E27FC236}">
                <a16:creationId xmlns:a16="http://schemas.microsoft.com/office/drawing/2014/main" id="{EDF9243A-13DE-45EF-B6AF-49D3D5540AB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Use the inputs and operations defined in the preceding slides.</a:t>
            </a:r>
          </a:p>
        </p:txBody>
      </p:sp>
      <p:sp>
        <p:nvSpPr>
          <p:cNvPr id="7" name="">
            <a:extLst xmlns:a="http://schemas.openxmlformats.org/drawingml/2006/main">
              <a:ext uri="{FF2B5EF4-FFF2-40B4-BE49-F238E27FC236}">
                <a16:creationId xmlns:a16="http://schemas.microsoft.com/office/drawing/2014/main" id="{33CF2A3F-66B8-4C1A-A365-A45C8D580B4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in the same code cell.</a:t>
            </a:r>
          </a:p>
        </p:txBody>
      </p:sp>
      <p:sp>
        <p:nvSpPr>
          <p:cNvPr id="8" name="">
            <a:extLst xmlns:a="http://schemas.openxmlformats.org/drawingml/2006/main">
              <a:ext uri="{FF2B5EF4-FFF2-40B4-BE49-F238E27FC236}">
                <a16:creationId xmlns:a16="http://schemas.microsoft.com/office/drawing/2014/main" id="{26DEB062-8E0B-48C1-A28A-49AE9DC7CD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22</a:t>
            </a:r>
          </a:p>
        </p:txBody>
      </p:sp>
    </p:spTree>
    <p:extLst>
      <p:ext uri="{BB962C8B-B14F-4D97-AF65-F5344CB8AC3E}">
        <p14:creationId xmlns:p14="http://schemas.microsoft.com/office/powerpoint/2010/main" val="166852541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F42380-9F39-439E-B787-B1FDBB90985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743FD9-855D-450A-9652-D620625EF8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1E98722-E4D8-48AA-931F-E65F33CCAF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Features from the supplied load and ambient columns (2/2)</a:t>
            </a:r>
          </a:p>
        </p:txBody>
      </p:sp>
      <p:sp>
        <p:nvSpPr>
          <p:cNvPr id="4" name="">
            <a:extLst xmlns:a="http://schemas.openxmlformats.org/drawingml/2006/main">
              <a:ext uri="{FF2B5EF4-FFF2-40B4-BE49-F238E27FC236}">
                <a16:creationId xmlns:a16="http://schemas.microsoft.com/office/drawing/2014/main" id="{D859A59B-1DC7-4A5C-A001-FBEEE6424E8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D3E43C8-24EB-40AE-BE61-C1665060968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extended_data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training_features = add_features(training_data)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validation_features = add_features(validation_data)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training_features[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["load_pct", "load_fraction", "load_ambient"]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A1BB4E3B-C675-4817-86C5-70B3A94C4BD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Use the inputs and operations defined in the preceding slides.</a:t>
            </a:r>
          </a:p>
        </p:txBody>
      </p:sp>
      <p:sp>
        <p:nvSpPr>
          <p:cNvPr id="7" name="">
            <a:extLst xmlns:a="http://schemas.openxmlformats.org/drawingml/2006/main">
              <a:ext uri="{FF2B5EF4-FFF2-40B4-BE49-F238E27FC236}">
                <a16:creationId xmlns:a16="http://schemas.microsoft.com/office/drawing/2014/main" id="{45E2EE84-25F9-4E90-9A51-0EA60A8DC86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AF05FBD1-4450-43A3-A437-6BB63213AE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23</a:t>
            </a:r>
          </a:p>
        </p:txBody>
      </p:sp>
    </p:spTree>
    <p:extLst>
      <p:ext uri="{BB962C8B-B14F-4D97-AF65-F5344CB8AC3E}">
        <p14:creationId xmlns:p14="http://schemas.microsoft.com/office/powerpoint/2010/main" val="158459472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A86F94-B3DE-484A-A75F-E64987B20FC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C0D4D2-756D-45B7-ADD6-1B9377BAC5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A4FCACD-2AFA-4FEA-A8F7-FCC73BDA97B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Ablation compares the same observations</a:t>
            </a:r>
          </a:p>
        </p:txBody>
      </p:sp>
      <p:sp>
        <p:nvSpPr>
          <p:cNvPr id="4" name="">
            <a:extLst xmlns:a="http://schemas.openxmlformats.org/drawingml/2006/main">
              <a:ext uri="{FF2B5EF4-FFF2-40B4-BE49-F238E27FC236}">
                <a16:creationId xmlns:a16="http://schemas.microsoft.com/office/drawing/2014/main" id="{1294DF54-3B74-4CDC-BB91-5670F21E3AB1}"/>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5E59231-DA68-4647-B270-A1C8D1341D0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99AD1C5-7D26-46A2-918D-12710644E41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Fit one linear model using load_pct and ambient_c. Fit a second using those columns plus load_ambient.</a:t>
            </a:r>
          </a:p>
        </p:txBody>
      </p:sp>
      <p:sp>
        <p:nvSpPr>
          <p:cNvPr id="7" name="">
            <a:extLst xmlns:a="http://schemas.openxmlformats.org/drawingml/2006/main">
              <a:ext uri="{FF2B5EF4-FFF2-40B4-BE49-F238E27FC236}">
                <a16:creationId xmlns:a16="http://schemas.microsoft.com/office/drawing/2014/main" id="{5788E948-E46E-477F-989E-2EDD3530D1C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Compare both on the same validation targets. Improvement equals baseline MAE minus extended MAE.</a:t>
            </a:r>
          </a:p>
        </p:txBody>
      </p:sp>
      <p:sp>
        <p:nvSpPr>
          <p:cNvPr id="8" name="">
            <a:extLst xmlns:a="http://schemas.openxmlformats.org/drawingml/2006/main">
              <a:ext uri="{FF2B5EF4-FFF2-40B4-BE49-F238E27FC236}">
                <a16:creationId xmlns:a16="http://schemas.microsoft.com/office/drawing/2014/main" id="{0728CE11-C304-4D19-BE6B-90741EBD79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24</a:t>
            </a:r>
          </a:p>
        </p:txBody>
      </p:sp>
    </p:spTree>
    <p:extLst>
      <p:ext uri="{BB962C8B-B14F-4D97-AF65-F5344CB8AC3E}">
        <p14:creationId xmlns:p14="http://schemas.microsoft.com/office/powerpoint/2010/main" val="205912820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06C3A1-A3BA-45EB-AC19-CA8399D58AF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39C019-E596-4ADC-A0FF-BA17E5BD8D9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2BA5E9E-309C-4DEB-91F5-FE99F1421F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D590BABA-2B96-477E-9F4D-5E9F89A75082}"/>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CBA188-04C2-4EED-8605-35BC63BE3B54}"/>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Rounded display: series.round(3) returns values rounded to three decimal places. Python round(number, 3) rounds one number. Keep unrounded calculations for returned assessment answers.</a:t>
            </a:r>
          </a:p>
        </p:txBody>
      </p:sp>
      <p:sp>
        <p:nvSpPr>
          <p:cNvPr id="6" name="">
            <a:extLst xmlns:a="http://schemas.openxmlformats.org/drawingml/2006/main">
              <a:ext uri="{FF2B5EF4-FFF2-40B4-BE49-F238E27FC236}">
                <a16:creationId xmlns:a16="http://schemas.microsoft.com/office/drawing/2014/main" id="{7DC02FF9-17B8-4751-9615-B573399BD97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25</a:t>
            </a:r>
          </a:p>
        </p:txBody>
      </p:sp>
    </p:spTree>
    <p:extLst>
      <p:ext uri="{BB962C8B-B14F-4D97-AF65-F5344CB8AC3E}">
        <p14:creationId xmlns:p14="http://schemas.microsoft.com/office/powerpoint/2010/main" val="24287445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B66568-42B1-40E8-9184-56B7AE01831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BB8B7B-27AA-48D3-B273-DB577E6E052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6A07151-B885-490B-8F4D-A4F9A6318D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sequence of model steps / Comparing two prediction sets</a:t>
            </a:r>
          </a:p>
        </p:txBody>
      </p:sp>
      <p:sp>
        <p:nvSpPr>
          <p:cNvPr id="4" name="">
            <a:extLst xmlns:a="http://schemas.openxmlformats.org/drawingml/2006/main">
              <a:ext uri="{FF2B5EF4-FFF2-40B4-BE49-F238E27FC236}">
                <a16:creationId xmlns:a16="http://schemas.microsoft.com/office/drawing/2014/main" id="{6F592C16-4751-4AB3-BBFA-F9073542157C}"/>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612098-6D79-49F6-AE81-75316FB8751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4071BE8-3EDD-41A5-BAA7-42DC3D1DDEE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make_pipeline(imputer, estimator) links preprocessing and prediction. fit learns the imputer and estimator on training rows. predict applies the learned steps to new rows in the same order.</a:t>
            </a:r>
          </a:p>
        </p:txBody>
      </p:sp>
      <p:sp>
        <p:nvSpPr>
          <p:cNvPr id="7" name="">
            <a:extLst xmlns:a="http://schemas.openxmlformats.org/drawingml/2006/main">
              <a:ext uri="{FF2B5EF4-FFF2-40B4-BE49-F238E27FC236}">
                <a16:creationId xmlns:a16="http://schemas.microsoft.com/office/drawing/2014/main" id="{1D2B3D2B-01E6-44DE-AC89-782FD4AF1B1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mean_absolute_error(actual, predicted) averages the absolute differences of paired values. Lower is better. Both lists must have the same length and row order; the answer has the target’s unit.</a:t>
            </a:r>
          </a:p>
        </p:txBody>
      </p:sp>
      <p:sp>
        <p:nvSpPr>
          <p:cNvPr id="8" name="">
            <a:extLst xmlns:a="http://schemas.openxmlformats.org/drawingml/2006/main">
              <a:ext uri="{FF2B5EF4-FFF2-40B4-BE49-F238E27FC236}">
                <a16:creationId xmlns:a16="http://schemas.microsoft.com/office/drawing/2014/main" id="{F7B3624B-49DC-4660-9BAE-9AE41B9A836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26</a:t>
            </a:r>
          </a:p>
        </p:txBody>
      </p:sp>
    </p:spTree>
    <p:extLst>
      <p:ext uri="{BB962C8B-B14F-4D97-AF65-F5344CB8AC3E}">
        <p14:creationId xmlns:p14="http://schemas.microsoft.com/office/powerpoint/2010/main" val="140461038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6DB685-5275-45FF-B4B9-2A33252BD56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533111-61BC-457A-A8CD-89FFA03828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011B8BB-D172-416B-B5B7-874F33D798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Filling model inputs / Creating linear regression</a:t>
            </a:r>
          </a:p>
        </p:txBody>
      </p:sp>
      <p:sp>
        <p:nvSpPr>
          <p:cNvPr id="4" name="">
            <a:extLst xmlns:a="http://schemas.openxmlformats.org/drawingml/2006/main">
              <a:ext uri="{FF2B5EF4-FFF2-40B4-BE49-F238E27FC236}">
                <a16:creationId xmlns:a16="http://schemas.microsoft.com/office/drawing/2014/main" id="{EBD628BB-AF04-4ACF-854D-4CAA79BD7A0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564FF5D-A243-47CF-AAAD-DD8FEC8FF07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2EE8B61-4C57-4A43-8CEB-C216D76CBE4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a median for each input column during fit. It uses those training medians to fill gaps later. Never learn replacement values from validation or test rows.</a:t>
            </a:r>
          </a:p>
        </p:txBody>
      </p:sp>
      <p:sp>
        <p:nvSpPr>
          <p:cNvPr id="7" name="">
            <a:extLst xmlns:a="http://schemas.openxmlformats.org/drawingml/2006/main">
              <a:ext uri="{FF2B5EF4-FFF2-40B4-BE49-F238E27FC236}">
                <a16:creationId xmlns:a16="http://schemas.microsoft.com/office/drawing/2014/main" id="{9BA21F4A-A77A-4341-BC92-59F021814E2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LinearRegression() creates an unfitted model. It will learn coefficients and an intercept from training examples. Creating it alone does not train it or make predictions.</a:t>
            </a:r>
          </a:p>
        </p:txBody>
      </p:sp>
      <p:sp>
        <p:nvSpPr>
          <p:cNvPr id="8" name="">
            <a:extLst xmlns:a="http://schemas.openxmlformats.org/drawingml/2006/main">
              <a:ext uri="{FF2B5EF4-FFF2-40B4-BE49-F238E27FC236}">
                <a16:creationId xmlns:a16="http://schemas.microsoft.com/office/drawing/2014/main" id="{74E7DA37-61F0-49D7-ABD1-CBEF57F322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27</a:t>
            </a:r>
          </a:p>
        </p:txBody>
      </p:sp>
    </p:spTree>
    <p:extLst>
      <p:ext uri="{BB962C8B-B14F-4D97-AF65-F5344CB8AC3E}">
        <p14:creationId xmlns:p14="http://schemas.microsoft.com/office/powerpoint/2010/main" val="42774900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CC18DB-367C-4F5C-A58D-649638CE58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ECB022-C53C-4519-8C55-2A9861408A6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A44F4CD-E5B1-4D59-B14A-0F5F6DC052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Learning from training examples / Predicting new targets</a:t>
            </a:r>
          </a:p>
        </p:txBody>
      </p:sp>
      <p:sp>
        <p:nvSpPr>
          <p:cNvPr id="4" name="">
            <a:extLst xmlns:a="http://schemas.openxmlformats.org/drawingml/2006/main">
              <a:ext uri="{FF2B5EF4-FFF2-40B4-BE49-F238E27FC236}">
                <a16:creationId xmlns:a16="http://schemas.microsoft.com/office/drawing/2014/main" id="{12BE6CA9-B9ED-4649-ACB7-28DACB15614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BB21FC0-D66E-40BF-8E40-7E59A3EA6EB9}"/>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3510616-E4A8-4300-B28C-9689FA09DBD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model.fit(input_table, observed_targets) learns model settings from paired rows. The two inputs must describe the same observations in the same order. Call fit before predict.</a:t>
            </a:r>
          </a:p>
        </p:txBody>
      </p:sp>
      <p:sp>
        <p:nvSpPr>
          <p:cNvPr id="7" name="">
            <a:extLst xmlns:a="http://schemas.openxmlformats.org/drawingml/2006/main">
              <a:ext uri="{FF2B5EF4-FFF2-40B4-BE49-F238E27FC236}">
                <a16:creationId xmlns:a16="http://schemas.microsoft.com/office/drawing/2014/main" id="{060EF683-8D40-465E-BE33-47A7B0C1663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model.predict(input_table) returns one prediction per input row. Use the same feature columns and order as during training. Prediction uses learned settings; it does not refit the model.</a:t>
            </a:r>
          </a:p>
        </p:txBody>
      </p:sp>
      <p:sp>
        <p:nvSpPr>
          <p:cNvPr id="8" name="">
            <a:extLst xmlns:a="http://schemas.openxmlformats.org/drawingml/2006/main">
              <a:ext uri="{FF2B5EF4-FFF2-40B4-BE49-F238E27FC236}">
                <a16:creationId xmlns:a16="http://schemas.microsoft.com/office/drawing/2014/main" id="{9C0FA1FB-64AC-4760-B6D3-924DBD9098D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28</a:t>
            </a:r>
          </a:p>
        </p:txBody>
      </p:sp>
    </p:spTree>
    <p:extLst>
      <p:ext uri="{BB962C8B-B14F-4D97-AF65-F5344CB8AC3E}">
        <p14:creationId xmlns:p14="http://schemas.microsoft.com/office/powerpoint/2010/main" val="173135010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DCAA30-49D2-41C2-9A2F-71E59BEC08B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9331B5-BC82-41B6-94E9-4AD0588A2D6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3D323E7-6C30-4F1F-BC68-D889F0754A5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Change one feature set at a time</a:t>
            </a:r>
          </a:p>
        </p:txBody>
      </p:sp>
      <p:sp>
        <p:nvSpPr>
          <p:cNvPr id="4" name="">
            <a:extLst xmlns:a="http://schemas.openxmlformats.org/drawingml/2006/main">
              <a:ext uri="{FF2B5EF4-FFF2-40B4-BE49-F238E27FC236}">
                <a16:creationId xmlns:a16="http://schemas.microsoft.com/office/drawing/2014/main" id="{31CED9DB-1261-428B-A2D1-ED55BE39E906}"/>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150507-57BE-4378-8D68-17524B1A9EFC}"/>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The base inputs are load and ambient temperature.</a:t>
            </a:r>
          </a:p>
        </p:txBody>
      </p:sp>
      <p:sp>
        <p:nvSpPr>
          <p:cNvPr id="6" name="">
            <a:extLst xmlns:a="http://schemas.openxmlformats.org/drawingml/2006/main">
              <a:ext uri="{FF2B5EF4-FFF2-40B4-BE49-F238E27FC236}">
                <a16:creationId xmlns:a16="http://schemas.microsoft.com/office/drawing/2014/main" id="{EF71B108-E8B4-45EB-BD29-7DD712113325}"/>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extended inputs also include their product.</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Train separate pipelines on the same rows and compare on the same validation rows.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isolates the effect of adding the feature.</a:t>
            </a:r>
          </a:p>
        </p:txBody>
      </p:sp>
      <p:sp>
        <p:nvSpPr>
          <p:cNvPr id="7" name="">
            <a:extLst xmlns:a="http://schemas.openxmlformats.org/drawingml/2006/main">
              <a:ext uri="{FF2B5EF4-FFF2-40B4-BE49-F238E27FC236}">
                <a16:creationId xmlns:a16="http://schemas.microsoft.com/office/drawing/2014/main" id="{515DDB5F-0D08-47E2-9E65-3CFE7DCD317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29</a:t>
            </a:r>
          </a:p>
        </p:txBody>
      </p:sp>
    </p:spTree>
    <p:extLst>
      <p:ext uri="{BB962C8B-B14F-4D97-AF65-F5344CB8AC3E}">
        <p14:creationId xmlns:p14="http://schemas.microsoft.com/office/powerpoint/2010/main" val="214246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CC7CAF-4AC0-4384-B168-8C28A200916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B37E97-85B9-45A5-8C72-31018A17CE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C40111C-4F4B-4232-A4BE-3F55AB6145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Paired ablation using the supplied CSV — step 1</a:t>
            </a:r>
          </a:p>
        </p:txBody>
      </p:sp>
      <p:sp>
        <p:nvSpPr>
          <p:cNvPr id="4" name="">
            <a:extLst xmlns:a="http://schemas.openxmlformats.org/drawingml/2006/main">
              <a:ext uri="{FF2B5EF4-FFF2-40B4-BE49-F238E27FC236}">
                <a16:creationId xmlns:a16="http://schemas.microsoft.com/office/drawing/2014/main" id="{FA086C27-B2E9-46FE-8143-D5384AEA7C7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D54373-6F4D-48A7-B5DD-176531EE22F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sklearn.impute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SimpleImputer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sklearn.pipeline import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sklearn.linear_model import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sklearn.metrics import mean_absolute_error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extended_feature_columns = base_feature_columns + ["load_ambient"]</a:t>
            </a:r>
          </a:p>
        </p:txBody>
      </p:sp>
      <p:sp>
        <p:nvSpPr>
          <p:cNvPr id="6" name="">
            <a:extLst xmlns:a="http://schemas.openxmlformats.org/drawingml/2006/main">
              <a:ext uri="{FF2B5EF4-FFF2-40B4-BE49-F238E27FC236}">
                <a16:creationId xmlns:a16="http://schemas.microsoft.com/office/drawing/2014/main" id="{8247C292-349A-4B9E-9A6D-6C168B405AF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A8DDD7E5-230A-4427-9CF0-4C7038BCE4A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564CF3BE-2D65-4024-AB64-EBB03568F32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30</a:t>
            </a:r>
          </a:p>
        </p:txBody>
      </p:sp>
    </p:spTree>
    <p:extLst>
      <p:ext uri="{BB962C8B-B14F-4D97-AF65-F5344CB8AC3E}">
        <p14:creationId xmlns:p14="http://schemas.microsoft.com/office/powerpoint/2010/main" val="107845153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50A87D-ADF5-4F88-AFF8-2596E5B008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6EB266-FF84-4A39-92E6-2DDFEB863B5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2D387FB-1E50-43A5-88E1-5994BF320E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Fit both alternatives fairly</a:t>
            </a:r>
          </a:p>
        </p:txBody>
      </p:sp>
      <p:sp>
        <p:nvSpPr>
          <p:cNvPr id="4" name="">
            <a:extLst xmlns:a="http://schemas.openxmlformats.org/drawingml/2006/main">
              <a:ext uri="{FF2B5EF4-FFF2-40B4-BE49-F238E27FC236}">
                <a16:creationId xmlns:a16="http://schemas.microsoft.com/office/drawing/2014/main" id="{1DA196E2-9EFC-4C70-9AAD-5A8378D80B94}"/>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72EC6A3-1AE1-42E7-8D4C-8AB4A207FF8C}"/>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Each pipeline learns its own training medians and regression settings.</a:t>
            </a:r>
          </a:p>
        </p:txBody>
      </p:sp>
      <p:sp>
        <p:nvSpPr>
          <p:cNvPr id="6" name="">
            <a:extLst xmlns:a="http://schemas.openxmlformats.org/drawingml/2006/main">
              <a:ext uri="{FF2B5EF4-FFF2-40B4-BE49-F238E27FC236}">
                <a16:creationId xmlns:a16="http://schemas.microsoft.com/office/drawing/2014/main" id="{BE573B12-1842-47F6-9D5A-B21FC0D78FB9}"/>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base model sees only base columns; the extended model sees the additional feature.</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Neither uses validation targets while learning.</a:t>
            </a:r>
          </a:p>
        </p:txBody>
      </p:sp>
      <p:sp>
        <p:nvSpPr>
          <p:cNvPr id="7" name="">
            <a:extLst xmlns:a="http://schemas.openxmlformats.org/drawingml/2006/main">
              <a:ext uri="{FF2B5EF4-FFF2-40B4-BE49-F238E27FC236}">
                <a16:creationId xmlns:a16="http://schemas.microsoft.com/office/drawing/2014/main" id="{17AF4651-E01F-4E3F-A902-C168ABC1D9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31</a:t>
            </a:r>
          </a:p>
        </p:txBody>
      </p:sp>
    </p:spTree>
    <p:extLst>
      <p:ext uri="{BB962C8B-B14F-4D97-AF65-F5344CB8AC3E}">
        <p14:creationId xmlns:p14="http://schemas.microsoft.com/office/powerpoint/2010/main" val="154947103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4E97AF-F025-4BBF-BF96-9369F973B32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72195E-AEF5-41C7-989E-19EBC505C6A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1DA61E9-8090-40ED-B2DF-B5EB39ECB3F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Paired ablation using the supplied CSV — step 2 (1/2)</a:t>
            </a:r>
          </a:p>
        </p:txBody>
      </p:sp>
      <p:sp>
        <p:nvSpPr>
          <p:cNvPr id="4" name="">
            <a:extLst xmlns:a="http://schemas.openxmlformats.org/drawingml/2006/main">
              <a:ext uri="{FF2B5EF4-FFF2-40B4-BE49-F238E27FC236}">
                <a16:creationId xmlns:a16="http://schemas.microsoft.com/office/drawing/2014/main" id="{68468203-7F12-40D8-9636-DC96C9D8B8F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B8439A-897B-4CD2-B7BD-013DFE36114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base_pipeline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extended_pipeline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52450EFE-A0EE-46AE-8ABA-12F058102C3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82A96AB9-B6C9-4248-9025-3690069B9DC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in the same code cell.</a:t>
            </a:r>
          </a:p>
        </p:txBody>
      </p:sp>
      <p:sp>
        <p:nvSpPr>
          <p:cNvPr id="8" name="">
            <a:extLst xmlns:a="http://schemas.openxmlformats.org/drawingml/2006/main">
              <a:ext uri="{FF2B5EF4-FFF2-40B4-BE49-F238E27FC236}">
                <a16:creationId xmlns:a16="http://schemas.microsoft.com/office/drawing/2014/main" id="{1C7A0852-6E0F-4DC9-BA56-F28819299D1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32</a:t>
            </a:r>
          </a:p>
        </p:txBody>
      </p:sp>
    </p:spTree>
    <p:extLst>
      <p:ext uri="{BB962C8B-B14F-4D97-AF65-F5344CB8AC3E}">
        <p14:creationId xmlns:p14="http://schemas.microsoft.com/office/powerpoint/2010/main" val="177005898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89E62B-0FE7-4912-88FF-364409E56D6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6254CE-961D-4266-A1E1-4DD8127D95A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3612059-6B2D-4B4C-AEA7-84E0636053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Paired ablation using the supplied CSV — step 2 (2/2)</a:t>
            </a:r>
          </a:p>
        </p:txBody>
      </p:sp>
      <p:sp>
        <p:nvSpPr>
          <p:cNvPr id="4" name="">
            <a:extLst xmlns:a="http://schemas.openxmlformats.org/drawingml/2006/main">
              <a:ext uri="{FF2B5EF4-FFF2-40B4-BE49-F238E27FC236}">
                <a16:creationId xmlns:a16="http://schemas.microsoft.com/office/drawing/2014/main" id="{88B5DEFD-4F3B-4896-88A6-A7FB2E3B940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DDF68AC-635E-43F3-96C3-5CA6F674B92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base_pipeline.fit(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training_features[base_feature_columns],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extended_pipeline.fit(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training_features[extended_feature_columns],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46E198C7-CC54-421D-981C-08E14BD140B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EBC17868-B9C0-436E-8ADF-B83A227376B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D2BBD7FF-EFD9-4314-AD3B-CF6DDA968F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33</a:t>
            </a:r>
          </a:p>
        </p:txBody>
      </p:sp>
    </p:spTree>
    <p:extLst>
      <p:ext uri="{BB962C8B-B14F-4D97-AF65-F5344CB8AC3E}">
        <p14:creationId xmlns:p14="http://schemas.microsoft.com/office/powerpoint/2010/main" val="170661443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635B2F-64F0-44BA-ABA7-2BF23ECBE3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9063A4-6BF2-441D-9A21-4583720118A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460558D-0226-40C0-B837-9D8A9384D65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errors on the same rows</a:t>
            </a:r>
          </a:p>
        </p:txBody>
      </p:sp>
      <p:sp>
        <p:nvSpPr>
          <p:cNvPr id="4" name="">
            <a:extLst xmlns:a="http://schemas.openxmlformats.org/drawingml/2006/main">
              <a:ext uri="{FF2B5EF4-FFF2-40B4-BE49-F238E27FC236}">
                <a16:creationId xmlns:a16="http://schemas.microsoft.com/office/drawing/2014/main" id="{F9544474-B1F3-44D4-8016-CEDAF34C610B}"/>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B0959B9-D54C-4F07-B809-A6C52421ABA0}"/>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Predict both alternatives on matching validation rows. mean_absolute_error compares each prediction with its observed target.</a:t>
            </a:r>
          </a:p>
        </p:txBody>
      </p:sp>
      <p:sp>
        <p:nvSpPr>
          <p:cNvPr id="6" name="">
            <a:extLst xmlns:a="http://schemas.openxmlformats.org/drawingml/2006/main">
              <a:ext uri="{FF2B5EF4-FFF2-40B4-BE49-F238E27FC236}">
                <a16:creationId xmlns:a16="http://schemas.microsoft.com/office/drawing/2014/main" id="{A98552E4-7FF8-4530-BF4D-C6F632E48E6F}"/>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 MAE minus extended MAE is positive when the extra feature helped on this validation set.</a:t>
            </a:r>
          </a:p>
        </p:txBody>
      </p:sp>
      <p:sp>
        <p:nvSpPr>
          <p:cNvPr id="7" name="">
            <a:extLst xmlns:a="http://schemas.openxmlformats.org/drawingml/2006/main">
              <a:ext uri="{FF2B5EF4-FFF2-40B4-BE49-F238E27FC236}">
                <a16:creationId xmlns:a16="http://schemas.microsoft.com/office/drawing/2014/main" id="{C7608D22-630F-4D20-9FA7-76A76AF3C2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34</a:t>
            </a:r>
          </a:p>
        </p:txBody>
      </p:sp>
    </p:spTree>
    <p:extLst>
      <p:ext uri="{BB962C8B-B14F-4D97-AF65-F5344CB8AC3E}">
        <p14:creationId xmlns:p14="http://schemas.microsoft.com/office/powerpoint/2010/main" val="30111007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2BD111-652E-468F-AB2C-1704C9AEF8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F99A67-C96E-4E5D-BD90-3E81597AF59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49E3893-FE94-4E5E-8331-CAE9BB9C32F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Paired ablation using the supplied CSV — step 3</a:t>
            </a:r>
          </a:p>
        </p:txBody>
      </p:sp>
      <p:sp>
        <p:nvSpPr>
          <p:cNvPr id="4" name="">
            <a:extLst xmlns:a="http://schemas.openxmlformats.org/drawingml/2006/main">
              <a:ext uri="{FF2B5EF4-FFF2-40B4-BE49-F238E27FC236}">
                <a16:creationId xmlns:a16="http://schemas.microsoft.com/office/drawing/2014/main" id="{76AD84C5-AF34-408D-9286-CE9261EDEDF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DA8F8B-36AA-4C06-A8C5-8486D28D285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base_predictions = base_pipeline.predict(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validation_features[base_feature_columns]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base_absolute_error = mean_absolute_error(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validation_data["target"], base_predictions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C90F05FB-CA9A-4CEE-A469-5C4DFAB8F4A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0CD9538B-E12E-4854-B292-4ACF06AEFE6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595714EE-39A9-44D2-B191-9FC21957C12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35</a:t>
            </a:r>
          </a:p>
        </p:txBody>
      </p:sp>
    </p:spTree>
    <p:extLst>
      <p:ext uri="{BB962C8B-B14F-4D97-AF65-F5344CB8AC3E}">
        <p14:creationId xmlns:p14="http://schemas.microsoft.com/office/powerpoint/2010/main" val="55290512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F2CB14-B60D-4D77-A437-DE42A46136B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D052E9-B36D-4CD3-980E-A060D27C960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917DC96-29AD-4123-A0C3-8540CE8370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Paired ablation using the supplied CSV — step 4</a:t>
            </a:r>
          </a:p>
        </p:txBody>
      </p:sp>
      <p:sp>
        <p:nvSpPr>
          <p:cNvPr id="4" name="">
            <a:extLst xmlns:a="http://schemas.openxmlformats.org/drawingml/2006/main">
              <a:ext uri="{FF2B5EF4-FFF2-40B4-BE49-F238E27FC236}">
                <a16:creationId xmlns:a16="http://schemas.microsoft.com/office/drawing/2014/main" id="{4898723C-6582-40D9-9539-7D21C21167C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703DA94-5A57-4D83-93EF-459704EA453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1E054E-3FE1-4056-91FA-3C082703477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extended_predictions: validation predictions from the extended pipeline.</a:t>
            </a:r>
          </a:p>
        </p:txBody>
      </p:sp>
      <p:sp>
        <p:nvSpPr>
          <p:cNvPr id="7" name="">
            <a:extLst xmlns:a="http://schemas.openxmlformats.org/drawingml/2006/main">
              <a:ext uri="{FF2B5EF4-FFF2-40B4-BE49-F238E27FC236}">
                <a16:creationId xmlns:a16="http://schemas.microsoft.com/office/drawing/2014/main" id="{53552A0E-AD2C-477A-9FBF-BC82061A803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extended_absolute_error: validation mean absolute error for the extended pipeline.</a:t>
            </a:r>
          </a:p>
        </p:txBody>
      </p:sp>
      <p:sp>
        <p:nvSpPr>
          <p:cNvPr id="8" name="">
            <a:extLst xmlns:a="http://schemas.openxmlformats.org/drawingml/2006/main">
              <a:ext uri="{FF2B5EF4-FFF2-40B4-BE49-F238E27FC236}">
                <a16:creationId xmlns:a16="http://schemas.microsoft.com/office/drawing/2014/main" id="{1A197173-B245-4C7E-8D31-988B5BF2664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36</a:t>
            </a:r>
          </a:p>
        </p:txBody>
      </p:sp>
    </p:spTree>
    <p:extLst>
      <p:ext uri="{BB962C8B-B14F-4D97-AF65-F5344CB8AC3E}">
        <p14:creationId xmlns:p14="http://schemas.microsoft.com/office/powerpoint/2010/main" val="75198060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E00957-3E34-47F0-8381-EE05900FFC0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11A752-5B7F-4180-9617-B8DDD3A7236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0C8A3A1-83EA-45BF-A2BC-87DC812A2A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Paired ablation using the supplied CSV — step 4 (1/2)</a:t>
            </a:r>
          </a:p>
        </p:txBody>
      </p:sp>
      <p:sp>
        <p:nvSpPr>
          <p:cNvPr id="4" name="">
            <a:extLst xmlns:a="http://schemas.openxmlformats.org/drawingml/2006/main">
              <a:ext uri="{FF2B5EF4-FFF2-40B4-BE49-F238E27FC236}">
                <a16:creationId xmlns:a16="http://schemas.microsoft.com/office/drawing/2014/main" id="{47613E0D-48BB-4AE7-A506-C9468DEE8E8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CDC007-8557-40B6-9059-85F1D4053D2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extended_predictions = extended_pipeline.predict(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validation_features[extended_feature_columns]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extended_absolute_error = mean_absolute_error(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validation_data["target"], extended_predictions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A40E4E81-400C-405F-AE9B-D0A3EBA6370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6E9789F1-EA75-492F-94EE-1E4FACF8368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in the same code cell.</a:t>
            </a:r>
          </a:p>
        </p:txBody>
      </p:sp>
      <p:sp>
        <p:nvSpPr>
          <p:cNvPr id="8" name="">
            <a:extLst xmlns:a="http://schemas.openxmlformats.org/drawingml/2006/main">
              <a:ext uri="{FF2B5EF4-FFF2-40B4-BE49-F238E27FC236}">
                <a16:creationId xmlns:a16="http://schemas.microsoft.com/office/drawing/2014/main" id="{8A3A7F1E-5CF0-488D-A0F2-B51B2A9AC61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37</a:t>
            </a:r>
          </a:p>
        </p:txBody>
      </p:sp>
    </p:spTree>
    <p:extLst>
      <p:ext uri="{BB962C8B-B14F-4D97-AF65-F5344CB8AC3E}">
        <p14:creationId xmlns:p14="http://schemas.microsoft.com/office/powerpoint/2010/main" val="2626229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DBE52A-A71B-4BA4-B6A3-CA8AA70A5EC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1F0776-5A01-4944-925D-13D3DA2126E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9F2FFE7-ED33-4014-A9CD-3D7732277EB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Paired ablation using the supplied CSV — step 4 (2/2)</a:t>
            </a:r>
          </a:p>
        </p:txBody>
      </p:sp>
      <p:sp>
        <p:nvSpPr>
          <p:cNvPr id="4" name="">
            <a:extLst xmlns:a="http://schemas.openxmlformats.org/drawingml/2006/main">
              <a:ext uri="{FF2B5EF4-FFF2-40B4-BE49-F238E27FC236}">
                <a16:creationId xmlns:a16="http://schemas.microsoft.com/office/drawing/2014/main" id="{396175C6-D477-4A81-83FE-DD790C8D9C3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6503CF9-2EF6-47CD-9ED7-FF85C480E7F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round(base_absolute_error, 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round(extended_absolute_error, 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print(round(base_absolute_error - extended_absolute_error, 4))</a:t>
            </a:r>
          </a:p>
        </p:txBody>
      </p:sp>
      <p:sp>
        <p:nvSpPr>
          <p:cNvPr id="6" name="">
            <a:extLst xmlns:a="http://schemas.openxmlformats.org/drawingml/2006/main">
              <a:ext uri="{FF2B5EF4-FFF2-40B4-BE49-F238E27FC236}">
                <a16:creationId xmlns:a16="http://schemas.microsoft.com/office/drawing/2014/main" id="{7D367DA8-9211-46A8-A8D5-3B492E4BC1B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028022B1-98FA-4709-B08A-81637F280B5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C221071B-90DB-4B52-9A8A-30A1B2A4F0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38</a:t>
            </a:r>
          </a:p>
        </p:txBody>
      </p:sp>
    </p:spTree>
    <p:extLst>
      <p:ext uri="{BB962C8B-B14F-4D97-AF65-F5344CB8AC3E}">
        <p14:creationId xmlns:p14="http://schemas.microsoft.com/office/powerpoint/2010/main" val="104047312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798A9C-5B90-4997-B262-753FB9B89D8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6DC1E7-D705-4D8A-8DC0-5A3A38733C0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ED87D22-9058-4939-89B4-6D0E35A5D3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inside the required function</a:t>
            </a:r>
          </a:p>
        </p:txBody>
      </p:sp>
      <p:sp>
        <p:nvSpPr>
          <p:cNvPr id="4" name="">
            <a:extLst xmlns:a="http://schemas.openxmlformats.org/drawingml/2006/main">
              <a:ext uri="{FF2B5EF4-FFF2-40B4-BE49-F238E27FC236}">
                <a16:creationId xmlns:a16="http://schemas.microsoft.com/office/drawing/2014/main" id="{A8E655B1-E91B-4C82-AF59-67199A214A9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FF9AC4-9C0D-4D73-AD77-5CF488EA9E9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82EFABE-9425-46B8-BD62-9CF918441E9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assignment caller supplies equipment_records. pd.DataFrame(records) gives those records named columns. Calculate with pandas, then return the published Python type.</a:t>
            </a:r>
          </a:p>
        </p:txBody>
      </p:sp>
      <p:sp>
        <p:nvSpPr>
          <p:cNvPr id="7" name="">
            <a:extLst xmlns:a="http://schemas.openxmlformats.org/drawingml/2006/main">
              <a:ext uri="{FF2B5EF4-FFF2-40B4-BE49-F238E27FC236}">
                <a16:creationId xmlns:a16="http://schemas.microsoft.com/office/drawing/2014/main" id="{3FCF4082-D7AB-4FF4-94FA-6FB88307292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to_dict("records") makes a list of row dictionaries. Series.tolist() makes a list of values. A grouped Series.to_dict() maps group labels to validation_results.</a:t>
            </a:r>
          </a:p>
        </p:txBody>
      </p:sp>
      <p:sp>
        <p:nvSpPr>
          <p:cNvPr id="8" name="">
            <a:extLst xmlns:a="http://schemas.openxmlformats.org/drawingml/2006/main">
              <a:ext uri="{FF2B5EF4-FFF2-40B4-BE49-F238E27FC236}">
                <a16:creationId xmlns:a16="http://schemas.microsoft.com/office/drawing/2014/main" id="{815864C5-A03F-404D-88F1-D475C18A23C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39</a:t>
            </a:r>
          </a:p>
        </p:txBody>
      </p:sp>
    </p:spTree>
    <p:extLst>
      <p:ext uri="{BB962C8B-B14F-4D97-AF65-F5344CB8AC3E}">
        <p14:creationId xmlns:p14="http://schemas.microsoft.com/office/powerpoint/2010/main" val="42302881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CA63E9-009D-4522-B1FD-763CCEE0F6D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8625ED-BEFF-4FA2-BEF7-B7EFE20B790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7D0A2EA-71FC-4989-9BF8-B7F97E1DA20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CC9DF9D6-FEFE-42E3-8DEC-C1B3BEBAFF5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3509A1D-B56A-4323-B92E-9161C1EDDB6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Returning a dictionary: series.to_dict() maps Series labels to values. equipment_data.to_dict("records") instead returns a list of row dictionaries. Choose the form required by the assignment.</a:t>
            </a:r>
          </a:p>
        </p:txBody>
      </p:sp>
      <p:sp>
        <p:nvSpPr>
          <p:cNvPr id="6" name="">
            <a:extLst xmlns:a="http://schemas.openxmlformats.org/drawingml/2006/main">
              <a:ext uri="{FF2B5EF4-FFF2-40B4-BE49-F238E27FC236}">
                <a16:creationId xmlns:a16="http://schemas.microsoft.com/office/drawing/2014/main" id="{271E82B9-553C-413F-A65E-7D74E60EE8F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587168D-0B4D-421D-B033-76A62C1E524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table from Python values: pd.DataFrame(records) builds a table from row dictionaries. With a dictionary of column lists, keys become column names and each list supplies that column’s values.</a:t>
            </a:r>
          </a:p>
        </p:txBody>
      </p:sp>
      <p:sp>
        <p:nvSpPr>
          <p:cNvPr id="8" name="">
            <a:extLst xmlns:a="http://schemas.openxmlformats.org/drawingml/2006/main">
              <a:ext uri="{FF2B5EF4-FFF2-40B4-BE49-F238E27FC236}">
                <a16:creationId xmlns:a16="http://schemas.microsoft.com/office/drawing/2014/main" id="{38CEDA10-2558-426B-86C2-F159B1305DB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987448D-51D4-4945-91BD-1CF08B9232F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10" name="">
            <a:extLst xmlns:a="http://schemas.openxmlformats.org/drawingml/2006/main">
              <a:ext uri="{FF2B5EF4-FFF2-40B4-BE49-F238E27FC236}">
                <a16:creationId xmlns:a16="http://schemas.microsoft.com/office/drawing/2014/main" id="{2CC29AEB-A9F2-4A56-B543-60FF022AF1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40</a:t>
            </a:r>
          </a:p>
        </p:txBody>
      </p:sp>
    </p:spTree>
    <p:extLst>
      <p:ext uri="{BB962C8B-B14F-4D97-AF65-F5344CB8AC3E}">
        <p14:creationId xmlns:p14="http://schemas.microsoft.com/office/powerpoint/2010/main" val="124863049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7449DC-2733-4318-A762-B8F45CD39BD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83A175-71B4-440C-9022-BF6C6C64A7B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522C31E-C5B4-48BE-8089-604D9E7485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DC03EF47-E1CC-4366-9710-AAA88D861D44}"/>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D7192E-1068-4BF7-8877-4541B7064792}"/>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Grouping rows: equipment_data.groupby("label")["value"] groups the value column by matching labels. Apply mean() or sum() to calculate one result per group. Missing group labels are excluded by default.</a:t>
            </a:r>
          </a:p>
        </p:txBody>
      </p:sp>
      <p:sp>
        <p:nvSpPr>
          <p:cNvPr id="6" name="">
            <a:extLst xmlns:a="http://schemas.openxmlformats.org/drawingml/2006/main">
              <a:ext uri="{FF2B5EF4-FFF2-40B4-BE49-F238E27FC236}">
                <a16:creationId xmlns:a16="http://schemas.microsoft.com/office/drawing/2014/main" id="{1AA30291-7A80-45D8-96B9-5264B18ECBE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41</a:t>
            </a:r>
          </a:p>
        </p:txBody>
      </p:sp>
    </p:spTree>
    <p:extLst>
      <p:ext uri="{BB962C8B-B14F-4D97-AF65-F5344CB8AC3E}">
        <p14:creationId xmlns:p14="http://schemas.microsoft.com/office/powerpoint/2010/main" val="185088780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DAC4E5-89A4-4ECF-9CC6-A15C7C6D9A8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30941A-225B-4225-A49B-FFABDE3E40C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5235200-D2D0-44F0-A8F5-168650E948C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called with the supplied records</a:t>
            </a:r>
          </a:p>
        </p:txBody>
      </p:sp>
      <p:sp>
        <p:nvSpPr>
          <p:cNvPr id="4" name="">
            <a:extLst xmlns:a="http://schemas.openxmlformats.org/drawingml/2006/main">
              <a:ext uri="{FF2B5EF4-FFF2-40B4-BE49-F238E27FC236}">
                <a16:creationId xmlns:a16="http://schemas.microsoft.com/office/drawing/2014/main" id="{55BE05A2-2A20-4770-893C-0C7B805F4183}"/>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9D0FC1-88EA-41E5-A663-735893FE4C2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mean_load_by_equipment(equipment_records):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 = pd.DataFrame(equipment_records)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mean_load_by_equipment_group = equipment_data.groupby(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)["load_pct"].mean()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mean_load_by_equipment_group.to_dict()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equipment_records = raw_data.to_dict("records")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print(mean_load_by_equipment(equipment_records))</a:t>
            </a:r>
          </a:p>
        </p:txBody>
      </p:sp>
      <p:sp>
        <p:nvSpPr>
          <p:cNvPr id="6" name="">
            <a:extLst xmlns:a="http://schemas.openxmlformats.org/drawingml/2006/main">
              <a:ext uri="{FF2B5EF4-FFF2-40B4-BE49-F238E27FC236}">
                <a16:creationId xmlns:a16="http://schemas.microsoft.com/office/drawing/2014/main" id="{B323B58B-E4B9-4F6F-9089-D10E4BC8C0F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equipment_records: the input list of row dictionaries supplied to the function.</a:t>
            </a:r>
          </a:p>
        </p:txBody>
      </p:sp>
      <p:sp>
        <p:nvSpPr>
          <p:cNvPr id="7" name="">
            <a:extLst xmlns:a="http://schemas.openxmlformats.org/drawingml/2006/main">
              <a:ext uri="{FF2B5EF4-FFF2-40B4-BE49-F238E27FC236}">
                <a16:creationId xmlns:a16="http://schemas.microsoft.com/office/drawing/2014/main" id="{47D7C204-827B-4391-B823-A62F733BC16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F51AFA6A-FDD9-4BAA-88BD-FF4776B200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42</a:t>
            </a:r>
          </a:p>
        </p:txBody>
      </p:sp>
    </p:spTree>
    <p:extLst>
      <p:ext uri="{BB962C8B-B14F-4D97-AF65-F5344CB8AC3E}">
        <p14:creationId xmlns:p14="http://schemas.microsoft.com/office/powerpoint/2010/main" val="60574156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19D9D87-2607-413C-9EC7-EA2A437AFC9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D3F4F3-B25F-4BB2-A57A-58090AE074B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11C352D-5DA5-441B-893E-BF3A7DC9E1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200938D7-388D-4377-A07A-56B8753590F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FE5361A-F657-4E4B-B8C5-9DF32C5F17AB}"/>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motor winding temperature.</a:t>
            </a:r>
          </a:p>
        </p:txBody>
      </p:sp>
      <p:sp>
        <p:nvSpPr>
          <p:cNvPr id="6" name="">
            <a:extLst xmlns:a="http://schemas.openxmlformats.org/drawingml/2006/main">
              <a:ext uri="{FF2B5EF4-FFF2-40B4-BE49-F238E27FC236}">
                <a16:creationId xmlns:a16="http://schemas.microsoft.com/office/drawing/2014/main" id="{3799579D-B707-4410-8A40-4DE59C86E928}"/>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6D615BF-F6E3-4745-AAC2-F66A85E06274}"/>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deg C.</a:t>
            </a:r>
          </a:p>
        </p:txBody>
      </p:sp>
      <p:sp>
        <p:nvSpPr>
          <p:cNvPr id="8" name="">
            <a:extLst xmlns:a="http://schemas.openxmlformats.org/drawingml/2006/main">
              <a:ext uri="{FF2B5EF4-FFF2-40B4-BE49-F238E27FC236}">
                <a16:creationId xmlns:a16="http://schemas.microsoft.com/office/drawing/2014/main" id="{C8E95DE7-569B-4462-8BC6-36D51207B4DE}"/>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A2FEF36-0248-4FDB-98E4-D2A79DBD6B57}"/>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not measurements suitable for deployment.</a:t>
            </a:r>
          </a:p>
        </p:txBody>
      </p:sp>
      <p:sp>
        <p:nvSpPr>
          <p:cNvPr id="10" name="">
            <a:extLst xmlns:a="http://schemas.openxmlformats.org/drawingml/2006/main">
              <a:ext uri="{FF2B5EF4-FFF2-40B4-BE49-F238E27FC236}">
                <a16:creationId xmlns:a16="http://schemas.microsoft.com/office/drawing/2014/main" id="{013AE8AC-3994-4F00-9799-55E49C92D4EE}"/>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6069827-F275-4653-A614-5D3B5C9D812B}"/>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69E7D2A1-AD74-473E-8D74-49FD6DA57E2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43</a:t>
            </a:r>
          </a:p>
        </p:txBody>
      </p:sp>
    </p:spTree>
    <p:extLst>
      <p:ext uri="{BB962C8B-B14F-4D97-AF65-F5344CB8AC3E}">
        <p14:creationId xmlns:p14="http://schemas.microsoft.com/office/powerpoint/2010/main" val="150429315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7887FE-BDC8-462D-9447-16DE0FFB489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3F9ADF-A025-4F9E-946F-22C6D1BE38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EDDFA43D-8B6E-4CA5-827B-7123E469588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make_features(feature_records)</a:t>
            </a:r>
          </a:p>
        </p:txBody>
      </p:sp>
      <p:sp>
        <p:nvSpPr>
          <p:cNvPr id="4" name="">
            <a:extLst xmlns:a="http://schemas.openxmlformats.org/drawingml/2006/main">
              <a:ext uri="{FF2B5EF4-FFF2-40B4-BE49-F238E27FC236}">
                <a16:creationId xmlns:a16="http://schemas.microsoft.com/office/drawing/2014/main" id="{655838C8-F8F0-4DF5-9C37-103C3C5AB519}"/>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3F241D-884C-43E2-979C-BD17FBDC328A}"/>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one feature row per input, in order: [load_pct, ambient_c, load_pct/100, load_pct*ambient_c].</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Use inputs available at prediction time only.</a:t>
            </a:r>
          </a:p>
        </p:txBody>
      </p:sp>
      <p:sp>
        <p:nvSpPr>
          <p:cNvPr id="6" name="">
            <a:extLst xmlns:a="http://schemas.openxmlformats.org/drawingml/2006/main">
              <a:ext uri="{FF2B5EF4-FFF2-40B4-BE49-F238E27FC236}">
                <a16:creationId xmlns:a16="http://schemas.microsoft.com/office/drawing/2014/main" id="{BF09CBF8-F0CC-4821-8689-D9443F3C5FF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F3C96F9-F088-483C-99A9-99F4E8761416}"/>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66F1FBAE-DA43-43BC-8573-95B70EFF32C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44</a:t>
            </a:r>
          </a:p>
        </p:txBody>
      </p:sp>
    </p:spTree>
    <p:extLst>
      <p:ext uri="{BB962C8B-B14F-4D97-AF65-F5344CB8AC3E}">
        <p14:creationId xmlns:p14="http://schemas.microsoft.com/office/powerpoint/2010/main" val="206922164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C8B5A2-DCD6-4435-A4B5-986FD438EB1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9718A1-C548-4277-833E-485C3F22A8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0C123AA1-89B0-4124-870D-2959D922ED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ablation_metrics(training_records, validation_records)</a:t>
            </a:r>
          </a:p>
        </p:txBody>
      </p:sp>
      <p:sp>
        <p:nvSpPr>
          <p:cNvPr id="4" name="">
            <a:extLst xmlns:a="http://schemas.openxmlformats.org/drawingml/2006/main">
              <a:ext uri="{FF2B5EF4-FFF2-40B4-BE49-F238E27FC236}">
                <a16:creationId xmlns:a16="http://schemas.microsoft.com/office/drawing/2014/main" id="{51B0A4FC-A728-49C1-AC5D-201380A3C3EE}"/>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2659B0C-AF75-4463-B34D-B7F4B3B5BEF7}"/>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C3144"/>
                </a:solidFill>
                <a:latin typeface="Calibri"/>
                <a:ea typeface="Calibri"/>
                <a:cs typeface="Calibri"/>
              </a:defRPr>
            </a:defPPr>
            <a:lvl1pPr>
              <a:defRPr sz="2175" b="0">
                <a:solidFill>
                  <a:srgbClr val="1C3144"/>
                </a:solidFill>
                <a:latin typeface="Calibri"/>
                <a:ea typeface="Calibri"/>
                <a:cs typeface="Calibri"/>
              </a:defRPr>
            </a:lvl1pPr>
            <a:lvl2pPr>
              <a:defRPr sz="2175" b="0">
                <a:solidFill>
                  <a:srgbClr val="1C3144"/>
                </a:solidFill>
                <a:latin typeface="Calibri"/>
                <a:ea typeface="Calibri"/>
                <a:cs typeface="Calibri"/>
              </a:defRPr>
            </a:lvl2pPr>
            <a:lvl3pPr>
              <a:defRPr sz="2175" b="0">
                <a:solidFill>
                  <a:srgbClr val="1C3144"/>
                </a:solidFill>
                <a:latin typeface="Calibri"/>
                <a:ea typeface="Calibri"/>
                <a:cs typeface="Calibri"/>
              </a:defRPr>
            </a:lvl3pPr>
            <a:lvl4pPr>
              <a:defRPr sz="2175" b="0">
                <a:solidFill>
                  <a:srgbClr val="1C3144"/>
                </a:solidFill>
                <a:latin typeface="Calibri"/>
                <a:ea typeface="Calibri"/>
                <a:cs typeface="Calibri"/>
              </a:defRPr>
            </a:lvl4pPr>
            <a:lvl5pPr>
              <a:defRPr sz="2175" b="0">
                <a:solidFill>
                  <a:srgbClr val="1C3144"/>
                </a:solidFill>
                <a:latin typeface="Calibri"/>
                <a:ea typeface="Calibri"/>
                <a:cs typeface="Calibri"/>
              </a:defRPr>
            </a:lvl5pPr>
            <a:lvl6pPr>
              <a:defRPr sz="2175" b="0">
                <a:solidFill>
                  <a:srgbClr val="1C3144"/>
                </a:solidFill>
                <a:latin typeface="Calibri"/>
                <a:ea typeface="Calibri"/>
                <a:cs typeface="Calibri"/>
              </a:defRPr>
            </a:lvl6pPr>
            <a:lvl7pPr>
              <a:defRPr sz="2175" b="0">
                <a:solidFill>
                  <a:srgbClr val="1C3144"/>
                </a:solidFill>
                <a:latin typeface="Calibri"/>
                <a:ea typeface="Calibri"/>
                <a:cs typeface="Calibri"/>
              </a:defRPr>
            </a:lvl7pPr>
            <a:lvl8pPr>
              <a:defRPr sz="2175" b="0">
                <a:solidFill>
                  <a:srgbClr val="1C3144"/>
                </a:solidFill>
                <a:latin typeface="Calibri"/>
                <a:ea typeface="Calibri"/>
                <a:cs typeface="Calibri"/>
              </a:defRPr>
            </a:lvl8pPr>
            <a:lvl9pPr>
              <a:defRPr sz="2175" b="0">
                <a:solidFill>
                  <a:srgbClr val="1C3144"/>
                </a:solidFill>
                <a:latin typeface="Calibri"/>
                <a:ea typeface="Calibri"/>
                <a:cs typeface="Calibri"/>
              </a:defRPr>
            </a:lvl9pPr>
          </a:lstStyle>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Fit two sklearn LinearRegression models on the same training records: base features [load_pct, ambient_c] and extended features adding load_pct*ambient_c.</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Evaluate both on the same validation records.</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Return base_mae, extended_mae and improvement=base_mae-extended_mae, without rounding.</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Inputs are complete; never fit on validation targets.</a:t>
            </a:r>
          </a:p>
        </p:txBody>
      </p:sp>
      <p:sp>
        <p:nvSpPr>
          <p:cNvPr id="6" name="">
            <a:extLst xmlns:a="http://schemas.openxmlformats.org/drawingml/2006/main">
              <a:ext uri="{FF2B5EF4-FFF2-40B4-BE49-F238E27FC236}">
                <a16:creationId xmlns:a16="http://schemas.microsoft.com/office/drawing/2014/main" id="{6254CE99-1A4D-4E5D-86DE-3F6A7606DAA6}"/>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745801D-7CD0-48AF-9D4C-AC3859E2FB7A}"/>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AF7333A9-4F6E-4FD7-8E90-BD5E33935FD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45</a:t>
            </a:r>
          </a:p>
        </p:txBody>
      </p:sp>
    </p:spTree>
    <p:extLst>
      <p:ext uri="{BB962C8B-B14F-4D97-AF65-F5344CB8AC3E}">
        <p14:creationId xmlns:p14="http://schemas.microsoft.com/office/powerpoint/2010/main" val="2799955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AF914F0-FC69-42E7-AECB-ABA8A8C0B0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ED026D-8C61-4C7A-8576-BDE68CC0885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C14E977-19C4-4CE4-AF3D-CBA767805A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81BE0A62-D655-4D8F-BA28-02C5E7879A3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5AF6019-F033-474B-9FB7-90D4E5DD56BF}"/>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BC2FC608-F472-4CEF-8C50-CAC5A1FC0238}"/>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A52647E-C92B-4413-939B-F431F50E4ADE}"/>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A9A92F5D-1461-4080-ADEF-70F254CFB6DD}"/>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D3618EA-03B0-4178-8FCD-23077546C8DB}"/>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30F43339-7817-4A15-9EFA-C882BE7D6430}"/>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85DC2A6-14F2-4109-9B6D-3BE1D0F32B87}"/>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6368FF1B-5DF4-4C4B-8997-ECF80ABF6A8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46</a:t>
            </a:r>
          </a:p>
        </p:txBody>
      </p:sp>
    </p:spTree>
    <p:extLst>
      <p:ext uri="{BB962C8B-B14F-4D97-AF65-F5344CB8AC3E}">
        <p14:creationId xmlns:p14="http://schemas.microsoft.com/office/powerpoint/2010/main" val="128304215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AEF2E90-A469-4A01-80D1-FCCBB64CC74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C2BE7C-D89D-4DBC-83FE-67C6B3438AE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9C557DC7-ADD4-49BB-8E45-F8C77CEE49F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Features and ablation submission</a:t>
            </a:r>
          </a:p>
        </p:txBody>
      </p:sp>
      <p:sp>
        <p:nvSpPr>
          <p:cNvPr id="4" name="">
            <a:extLst xmlns:a="http://schemas.openxmlformats.org/drawingml/2006/main">
              <a:ext uri="{FF2B5EF4-FFF2-40B4-BE49-F238E27FC236}">
                <a16:creationId xmlns:a16="http://schemas.microsoft.com/office/drawing/2014/main" id="{EDAC5F3D-9E6C-4DDA-AC81-4F8BADFE3F7B}"/>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C6FC36A-5891-4EC2-AEC0-336AC66BF701}"/>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20 Nov 2026, 11:00 Kampala</a:t>
            </a:r>
          </a:p>
        </p:txBody>
      </p:sp>
      <p:sp>
        <p:nvSpPr>
          <p:cNvPr id="6" name="">
            <a:extLst xmlns:a="http://schemas.openxmlformats.org/drawingml/2006/main">
              <a:ext uri="{FF2B5EF4-FFF2-40B4-BE49-F238E27FC236}">
                <a16:creationId xmlns:a16="http://schemas.microsoft.com/office/drawing/2014/main" id="{83597FC5-CA70-4E0C-9F6B-EBC1578B4133}"/>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63F69BF-B681-4328-86D2-1285260B9F63}"/>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27 Nov 2026, 11:00 Kampala</a:t>
            </a:r>
          </a:p>
        </p:txBody>
      </p:sp>
      <p:sp>
        <p:nvSpPr>
          <p:cNvPr id="8" name="">
            <a:extLst xmlns:a="http://schemas.openxmlformats.org/drawingml/2006/main">
              <a:ext uri="{FF2B5EF4-FFF2-40B4-BE49-F238E27FC236}">
                <a16:creationId xmlns:a16="http://schemas.microsoft.com/office/drawing/2014/main" id="{09DD5228-0B31-44BB-9D56-A63350B8C0E4}"/>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F432E11-EFFC-4BB3-A5B1-331E4E756BA8}"/>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FC7EFC75-2B71-446C-9A53-44D39BDCD88E}"/>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E09BB81-D583-4BFD-A46F-209B6FC33237}"/>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83B03F35-6685-40EE-B5BC-0EFDDA668D51}"/>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8B10B18-8815-4263-993D-6CFA00E98C19}"/>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5aed0304b33f45a9"/>
              </a:rPr>
              <a:t>Open W11 assignment form</a:t>
            </a:r>
          </a:p>
        </p:txBody>
      </p:sp>
      <p:sp>
        <p:nvSpPr>
          <p:cNvPr id="14" name="">
            <a:extLst xmlns:a="http://schemas.openxmlformats.org/drawingml/2006/main">
              <a:ext uri="{FF2B5EF4-FFF2-40B4-BE49-F238E27FC236}">
                <a16:creationId xmlns:a16="http://schemas.microsoft.com/office/drawing/2014/main" id="{157B726C-F4FF-4E5C-8F16-5BC143A0359E}"/>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https://docs.google.com/forms/d/e/1FAIpQLSeQJ_LsZgtIRbakN-KW4e4dx5rru2iqg6HwaaKoAQbKW7bh8Q/viewform</a:t>
            </a:r>
          </a:p>
        </p:txBody>
      </p:sp>
      <p:sp>
        <p:nvSpPr>
          <p:cNvPr id="15" name="">
            <a:extLst xmlns:a="http://schemas.openxmlformats.org/drawingml/2006/main">
              <a:ext uri="{FF2B5EF4-FFF2-40B4-BE49-F238E27FC236}">
                <a16:creationId xmlns:a16="http://schemas.microsoft.com/office/drawing/2014/main" id="{117310D3-FA8E-458E-BECF-2E69689E95E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47</a:t>
            </a:r>
          </a:p>
        </p:txBody>
      </p:sp>
    </p:spTree>
    <p:extLst>
      <p:ext uri="{BB962C8B-B14F-4D97-AF65-F5344CB8AC3E}">
        <p14:creationId xmlns:p14="http://schemas.microsoft.com/office/powerpoint/2010/main" val="9523393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A663F4-71E9-49A8-83E3-571D6D1AC2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756236-63BE-44B1-A032-441F6D2ECB3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8E38007-3703-4901-A0DB-2807C20B88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2311D570-0292-4D74-ABC4-1A5D527D488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7724ECF-670A-40A6-A2F2-C715903652C9}"/>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machine learning project brief.</a:t>
            </a:r>
          </a:p>
        </p:txBody>
      </p:sp>
      <p:sp>
        <p:nvSpPr>
          <p:cNvPr id="6" name="">
            <a:extLst xmlns:a="http://schemas.openxmlformats.org/drawingml/2006/main">
              <a:ext uri="{FF2B5EF4-FFF2-40B4-BE49-F238E27FC236}">
                <a16:creationId xmlns:a16="http://schemas.microsoft.com/office/drawing/2014/main" id="{3A9EC3BB-CB74-4ED2-B03A-A2C9AB2C51AB}"/>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E498DB1-B625-4BAB-85DF-5586B040B21B}"/>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9B7E22AD-541E-43FF-A128-C08CABB31998}"/>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A866AE0-1357-45A2-A13B-5C6E72B7D64B}"/>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6400C9CD-55C8-4E9B-AE5B-4056B918FB47}"/>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3B06C7E-1FCB-4B2F-BECE-BF215B1E9257}"/>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18 Dec 2026, 11:00 Kampala</a:t>
            </a:r>
          </a:p>
        </p:txBody>
      </p:sp>
      <p:sp>
        <p:nvSpPr>
          <p:cNvPr id="12" name="">
            <a:extLst xmlns:a="http://schemas.openxmlformats.org/drawingml/2006/main">
              <a:ext uri="{FF2B5EF4-FFF2-40B4-BE49-F238E27FC236}">
                <a16:creationId xmlns:a16="http://schemas.microsoft.com/office/drawing/2014/main" id="{E9A87935-BBC9-4E76-B91D-4B3A7BBA6C5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48</a:t>
            </a:r>
          </a:p>
        </p:txBody>
      </p:sp>
    </p:spTree>
    <p:extLst>
      <p:ext uri="{BB962C8B-B14F-4D97-AF65-F5344CB8AC3E}">
        <p14:creationId xmlns:p14="http://schemas.microsoft.com/office/powerpoint/2010/main" val="1850999886"/>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F3651F2-535A-4308-9294-6B7927B8C58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6869F0-7F74-40CB-8D59-5D627397C5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F327460F-5382-4DAB-B350-449FEFDAF9F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11 quiz</a:t>
            </a:r>
          </a:p>
        </p:txBody>
      </p:sp>
      <p:sp>
        <p:nvSpPr>
          <p:cNvPr id="4" name="">
            <a:extLst xmlns:a="http://schemas.openxmlformats.org/drawingml/2006/main">
              <a:ext uri="{FF2B5EF4-FFF2-40B4-BE49-F238E27FC236}">
                <a16:creationId xmlns:a16="http://schemas.microsoft.com/office/drawing/2014/main" id="{263CC46A-D087-4C04-84DB-16AE84C060D1}"/>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77FEA99-6C78-4977-BD46-A0B570609219}"/>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DDC7A919-1A86-4F8F-8DFB-28420FA6C5D2}"/>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FA5E039-1E3B-481E-9D84-6A54DF2F7056}"/>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1EEC8679-6443-45B4-A760-CAF685A036CD}"/>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0D52B3F-31DF-40F7-8BB3-F372885AA610}"/>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2D8F1911-E1A9-4DD0-8027-152033CB4340}"/>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97DD24D-E6B9-40EE-A11E-5FD0753C5AA0}"/>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69AF8ABE-5D67-440C-B735-F1F1D117B97E}"/>
              </a:ext>
            </a:extLst>
          </p:cNvPr>
          <p:cNvPicPr>
            <a:picLocks xmlns:a="http://schemas.openxmlformats.org/drawingml/2006/main" noChangeAspect="1"/>
          </p:cNvPicPr>
          <p:nvPr/>
        </p:nvPicPr>
        <p:blipFill>
          <a:blip xmlns:r="http://schemas.openxmlformats.org/officeDocument/2006/relationships" xmlns:a="http://schemas.openxmlformats.org/drawingml/2006/main" r:embed="R37aff94988e54350"/>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66335CB-089C-4A75-BD35-0F3907F26DA0}"/>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E2FEFC9B-8A86-4CBB-B434-0E9C13E17313}"/>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EED411-581C-48C5-863F-FC4D420BAD0B}"/>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7cc15a2984604de8"/>
              </a:rPr>
              <a:t>Open this week’s quiz</a:t>
            </a:r>
          </a:p>
        </p:txBody>
      </p:sp>
      <p:sp>
        <p:nvSpPr>
          <p:cNvPr id="16" name="">
            <a:extLst xmlns:a="http://schemas.openxmlformats.org/drawingml/2006/main">
              <a:ext uri="{FF2B5EF4-FFF2-40B4-BE49-F238E27FC236}">
                <a16:creationId xmlns:a16="http://schemas.microsoft.com/office/drawing/2014/main" id="{A15E4C57-3952-451F-B516-0DE2C38BE568}"/>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https://forms.gle/32Y9ttL1XWaqbGMNA</a:t>
            </a:r>
          </a:p>
        </p:txBody>
      </p:sp>
      <p:sp>
        <p:nvSpPr>
          <p:cNvPr id="17" name="">
            <a:extLst xmlns:a="http://schemas.openxmlformats.org/drawingml/2006/main">
              <a:ext uri="{FF2B5EF4-FFF2-40B4-BE49-F238E27FC236}">
                <a16:creationId xmlns:a16="http://schemas.microsoft.com/office/drawing/2014/main" id="{8700F934-26F7-4C17-B07E-713F05D87F2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11   49</a:t>
            </a:r>
          </a:p>
        </p:txBody>
      </p:sp>
    </p:spTree>
    <p:extLst>
      <p:ext uri="{BB962C8B-B14F-4D97-AF65-F5344CB8AC3E}">
        <p14:creationId xmlns:p14="http://schemas.microsoft.com/office/powerpoint/2010/main" val="589235089"/>
      </p:ext>
    </p:extLst>
  </p:cSld>
</p:sld>
</file>

<file path=ppt/slides/slide50.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E91886-BEBC-4C8A-9B53-B20FF923A4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53150502-F7CE-4BC9-87C8-E200B3EF53E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73ECFDAD-74BD-4B38-90FE-A9A16DD76CD8}"/>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C893E17A-38D9-4956-BB86-9C6B8EDD7997}"/>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each cleaning or modelling decision using your pandas table and its outputs.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submitting the required assignment notebook.</a:t>
            </a:r>
          </a:p>
        </p:txBody>
      </p:sp>
      <p:sp>
        <p:nvSpPr>
          <p:cNvPr id="5" name="">
            <a:extLst xmlns:a="http://schemas.openxmlformats.org/drawingml/2006/main">
              <a:ext uri="{FF2B5EF4-FFF2-40B4-BE49-F238E27FC236}">
                <a16:creationId xmlns:a16="http://schemas.microsoft.com/office/drawing/2014/main" id="{6D87BB01-7580-4AF3-B91E-CCB3987A28CE}"/>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0D9E57B8-8DAB-4AA0-B6BB-8920C6DB3C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11   50</a:t>
            </a:r>
          </a:p>
        </p:txBody>
      </p:sp>
    </p:spTree>
    <p:extLst>
      <p:ext uri="{BB962C8B-B14F-4D97-AF65-F5344CB8AC3E}">
        <p14:creationId xmlns:p14="http://schemas.microsoft.com/office/powerpoint/2010/main" val="1185571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2026-10-20T18:02:20.2170000Z</dcterms:created>
  <dcterms:modified xsi:type="dcterms:W3CDTF">2026-10-20T18:02:20.2170000Z</dcterms:modified>
</coreProperties>
</file>