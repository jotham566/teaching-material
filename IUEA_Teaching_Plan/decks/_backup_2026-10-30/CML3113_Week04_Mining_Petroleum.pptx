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864583c026440d" /><Relationship Type="http://schemas.openxmlformats.org/officeDocument/2006/relationships/extended-properties" Target="/docProps/app.xml" Id="Rd5551479142c4793" /><Relationship Type="http://schemas.openxmlformats.org/officeDocument/2006/relationships/officeDocument" Target="/ppt/presentation.xml" Id="Rdceb03524d6948ae" /></Relationships>
</file>

<file path=ppt/presentation.xml><?xml version="1.0" encoding="utf-8"?>
<p:presentation xmlns:p="http://schemas.openxmlformats.org/presentationml/2006/main">
  <p:sldMasterIdLst>
    <p:sldMasterId xmlns:r="http://schemas.openxmlformats.org/officeDocument/2006/relationships" id="2147483648" r:id="R9716a9aa6e2144e4"/>
  </p:sldMasterIdLst>
  <p:notesMasterIdLst>
    <p:notesMasterId xmlns:r="http://schemas.openxmlformats.org/officeDocument/2006/relationships" r:id="R765fb755e0464f3c"/>
  </p:notesMasterIdLst>
  <p:sldIdLst>
    <p:sldId xmlns:r="http://schemas.openxmlformats.org/officeDocument/2006/relationships" id="256" r:id="R3ac22faeaca44f4b"/>
    <p:sldId xmlns:r="http://schemas.openxmlformats.org/officeDocument/2006/relationships" id="257" r:id="Raa3f9724fa5b4b3c"/>
    <p:sldId xmlns:r="http://schemas.openxmlformats.org/officeDocument/2006/relationships" id="258" r:id="R32c9622bb5fa4c0e"/>
    <p:sldId xmlns:r="http://schemas.openxmlformats.org/officeDocument/2006/relationships" id="259" r:id="R6717dd8554fb4bf0"/>
    <p:sldId xmlns:r="http://schemas.openxmlformats.org/officeDocument/2006/relationships" id="260" r:id="Rc6c2f43387c54374"/>
    <p:sldId xmlns:r="http://schemas.openxmlformats.org/officeDocument/2006/relationships" id="261" r:id="Rfd1880426e5b4355"/>
    <p:sldId xmlns:r="http://schemas.openxmlformats.org/officeDocument/2006/relationships" id="262" r:id="R8d675cbe34ac4b4f"/>
    <p:sldId xmlns:r="http://schemas.openxmlformats.org/officeDocument/2006/relationships" id="263" r:id="R2ba58955b8e345bd"/>
    <p:sldId xmlns:r="http://schemas.openxmlformats.org/officeDocument/2006/relationships" id="264" r:id="R75182233a5d44263"/>
    <p:sldId xmlns:r="http://schemas.openxmlformats.org/officeDocument/2006/relationships" id="265" r:id="Rc64af7203ecf4205"/>
    <p:sldId xmlns:r="http://schemas.openxmlformats.org/officeDocument/2006/relationships" id="266" r:id="R6bcd99deca0f4851"/>
    <p:sldId xmlns:r="http://schemas.openxmlformats.org/officeDocument/2006/relationships" id="267" r:id="Raae743e52d6347a0"/>
    <p:sldId xmlns:r="http://schemas.openxmlformats.org/officeDocument/2006/relationships" id="268" r:id="R3eacda54ae804907"/>
    <p:sldId xmlns:r="http://schemas.openxmlformats.org/officeDocument/2006/relationships" id="269" r:id="Rde5605960ea84685"/>
    <p:sldId xmlns:r="http://schemas.openxmlformats.org/officeDocument/2006/relationships" id="270" r:id="Rc8c42de2de7c456d"/>
    <p:sldId xmlns:r="http://schemas.openxmlformats.org/officeDocument/2006/relationships" id="271" r:id="R1f50475533bc496b"/>
    <p:sldId xmlns:r="http://schemas.openxmlformats.org/officeDocument/2006/relationships" id="272" r:id="R5b34e90a0e6747e8"/>
    <p:sldId xmlns:r="http://schemas.openxmlformats.org/officeDocument/2006/relationships" id="273" r:id="R1d7d3484316047de"/>
    <p:sldId xmlns:r="http://schemas.openxmlformats.org/officeDocument/2006/relationships" id="274" r:id="R94d9cd127f0e467c"/>
    <p:sldId xmlns:r="http://schemas.openxmlformats.org/officeDocument/2006/relationships" id="275" r:id="R84a8139fbac244cc"/>
    <p:sldId xmlns:r="http://schemas.openxmlformats.org/officeDocument/2006/relationships" id="276" r:id="R4b33338bd9e243de"/>
    <p:sldId xmlns:r="http://schemas.openxmlformats.org/officeDocument/2006/relationships" id="277" r:id="Rd6c00914cdf44bf7"/>
    <p:sldId xmlns:r="http://schemas.openxmlformats.org/officeDocument/2006/relationships" id="278" r:id="R417a348cc9c24a39"/>
    <p:sldId xmlns:r="http://schemas.openxmlformats.org/officeDocument/2006/relationships" id="279" r:id="Rca0ae5ff35d74a70"/>
    <p:sldId xmlns:r="http://schemas.openxmlformats.org/officeDocument/2006/relationships" id="280" r:id="R3a0db65eb2224172"/>
    <p:sldId xmlns:r="http://schemas.openxmlformats.org/officeDocument/2006/relationships" id="281" r:id="Rc750e03a04a94561"/>
    <p:sldId xmlns:r="http://schemas.openxmlformats.org/officeDocument/2006/relationships" id="282" r:id="R1c2bbe28dc5c4cbb"/>
    <p:sldId xmlns:r="http://schemas.openxmlformats.org/officeDocument/2006/relationships" id="283" r:id="R76f984dca3744e24"/>
    <p:sldId xmlns:r="http://schemas.openxmlformats.org/officeDocument/2006/relationships" id="284" r:id="R87695e14ac8c4048"/>
    <p:sldId xmlns:r="http://schemas.openxmlformats.org/officeDocument/2006/relationships" id="285" r:id="R4f112dd496294ac3"/>
    <p:sldId xmlns:r="http://schemas.openxmlformats.org/officeDocument/2006/relationships" id="286" r:id="R7a793404363b4da9"/>
    <p:sldId xmlns:r="http://schemas.openxmlformats.org/officeDocument/2006/relationships" id="287" r:id="R9e4318863461409a"/>
    <p:sldId xmlns:r="http://schemas.openxmlformats.org/officeDocument/2006/relationships" id="288" r:id="Rbfc33ffa78764cbd"/>
    <p:sldId xmlns:r="http://schemas.openxmlformats.org/officeDocument/2006/relationships" id="289" r:id="R6ec9dcf7ddf64b86"/>
    <p:sldId xmlns:r="http://schemas.openxmlformats.org/officeDocument/2006/relationships" id="290" r:id="R2515978a1d0845a7"/>
    <p:sldId xmlns:r="http://schemas.openxmlformats.org/officeDocument/2006/relationships" id="291" r:id="R6446c21f836c4715"/>
    <p:sldId xmlns:r="http://schemas.openxmlformats.org/officeDocument/2006/relationships" id="292" r:id="R8d689e34af0c48da"/>
    <p:sldId xmlns:r="http://schemas.openxmlformats.org/officeDocument/2006/relationships" id="293" r:id="Rc0e2b000249749c2"/>
    <p:sldId xmlns:r="http://schemas.openxmlformats.org/officeDocument/2006/relationships" id="294" r:id="Rddb3c101c7674a53"/>
    <p:sldId xmlns:r="http://schemas.openxmlformats.org/officeDocument/2006/relationships" id="295" r:id="Rabca4b97ba194204"/>
    <p:sldId xmlns:r="http://schemas.openxmlformats.org/officeDocument/2006/relationships" id="296" r:id="Rb2b3b5091c4648f7"/>
    <p:sldId xmlns:r="http://schemas.openxmlformats.org/officeDocument/2006/relationships" id="297" r:id="Re9927d65119f4ab1"/>
    <p:sldId xmlns:r="http://schemas.openxmlformats.org/officeDocument/2006/relationships" id="298" r:id="R4ab2ee6842504e49"/>
    <p:sldId xmlns:r="http://schemas.openxmlformats.org/officeDocument/2006/relationships" id="299" r:id="R406d94f8b39e40a2"/>
    <p:sldId xmlns:r="http://schemas.openxmlformats.org/officeDocument/2006/relationships" id="300" r:id="Rb34e4cbef79c4673"/>
    <p:sldId xmlns:r="http://schemas.openxmlformats.org/officeDocument/2006/relationships" id="301" r:id="R30dcd1465f8949cd"/>
    <p:sldId xmlns:r="http://schemas.openxmlformats.org/officeDocument/2006/relationships" id="302" r:id="R73c111d772004522"/>
    <p:sldId xmlns:r="http://schemas.openxmlformats.org/officeDocument/2006/relationships" id="303" r:id="R51863b8a3d254062"/>
    <p:sldId xmlns:r="http://schemas.openxmlformats.org/officeDocument/2006/relationships" id="304" r:id="R3ec8e3ca076943bc"/>
    <p:sldId xmlns:r="http://schemas.openxmlformats.org/officeDocument/2006/relationships" id="305" r:id="Rf7f1633e2ee84626"/>
    <p:sldId xmlns:r="http://schemas.openxmlformats.org/officeDocument/2006/relationships" id="306" r:id="Rf2e7955749024458"/>
    <p:sldId xmlns:r="http://schemas.openxmlformats.org/officeDocument/2006/relationships" id="307" r:id="R719165b4948d4fd5"/>
    <p:sldId xmlns:r="http://schemas.openxmlformats.org/officeDocument/2006/relationships" id="308" r:id="Ra69b3ade216d44a3"/>
    <p:sldId xmlns:r="http://schemas.openxmlformats.org/officeDocument/2006/relationships" id="309" r:id="R8edec00ce2e44c6d"/>
    <p:sldId xmlns:r="http://schemas.openxmlformats.org/officeDocument/2006/relationships" id="310" r:id="R6827f14acaf34d71"/>
    <p:sldId xmlns:r="http://schemas.openxmlformats.org/officeDocument/2006/relationships" id="311" r:id="R7916db67a03f44a5"/>
    <p:sldId xmlns:r="http://schemas.openxmlformats.org/officeDocument/2006/relationships" id="312" r:id="R0944e79bacc54340"/>
    <p:sldId xmlns:r="http://schemas.openxmlformats.org/officeDocument/2006/relationships" id="313" r:id="Re4133343d46d432f"/>
    <p:sldId xmlns:r="http://schemas.openxmlformats.org/officeDocument/2006/relationships" id="314" r:id="Rf3a638b01da24dbd"/>
    <p:sldId xmlns:r="http://schemas.openxmlformats.org/officeDocument/2006/relationships" id="315" r:id="R870b2525ed9e4659"/>
    <p:sldId xmlns:r="http://schemas.openxmlformats.org/officeDocument/2006/relationships" id="316" r:id="R9684d1bdbb434fca"/>
    <p:sldId xmlns:r="http://schemas.openxmlformats.org/officeDocument/2006/relationships" id="317" r:id="R5e2f98a925a24214"/>
    <p:sldId xmlns:r="http://schemas.openxmlformats.org/officeDocument/2006/relationships" id="318" r:id="R5471d1973954459e"/>
    <p:sldId xmlns:r="http://schemas.openxmlformats.org/officeDocument/2006/relationships" id="319" r:id="R31a3f07d67d64d95"/>
    <p:sldId xmlns:r="http://schemas.openxmlformats.org/officeDocument/2006/relationships" id="320" r:id="R6ffc58183375477f"/>
    <p:sldId xmlns:r="http://schemas.openxmlformats.org/officeDocument/2006/relationships" id="321" r:id="Ra819952377cf4300"/>
    <p:sldId xmlns:r="http://schemas.openxmlformats.org/officeDocument/2006/relationships" id="322" r:id="R04813002bba844c1"/>
    <p:sldId xmlns:r="http://schemas.openxmlformats.org/officeDocument/2006/relationships" id="323" r:id="R3e0d6c88f9a04f5d"/>
    <p:sldId xmlns:r="http://schemas.openxmlformats.org/officeDocument/2006/relationships" id="324" r:id="Ra8276da741be48ff"/>
    <p:sldId xmlns:r="http://schemas.openxmlformats.org/officeDocument/2006/relationships" id="325" r:id="Rdd72ab3adb784522"/>
    <p:sldId xmlns:r="http://schemas.openxmlformats.org/officeDocument/2006/relationships" id="326" r:id="R89b715985e8c4a1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041aafd456455d" /><Relationship Type="http://schemas.openxmlformats.org/officeDocument/2006/relationships/slideMaster" Target="/ppt/slideMasters/slideMaster1.xml" Id="R9716a9aa6e2144e4" /><Relationship Type="http://schemas.openxmlformats.org/officeDocument/2006/relationships/notesMaster" Target="/ppt/notesMasters/notesMaster1.xml" Id="R765fb755e0464f3c" /><Relationship Type="http://schemas.openxmlformats.org/officeDocument/2006/relationships/presProps" Target="/ppt/presProps.xml" Id="R24d94699bf3d4e26" /><Relationship Type="http://schemas.openxmlformats.org/officeDocument/2006/relationships/tableStyles" Target="/ppt/tableStyles.xml" Id="Re4aa9cfed68645d3" /><Relationship Type="http://schemas.openxmlformats.org/officeDocument/2006/relationships/slide" Target="/ppt/slides/slide1.xml" Id="R3ac22faeaca44f4b" /><Relationship Type="http://schemas.openxmlformats.org/officeDocument/2006/relationships/slide" Target="/ppt/slides/slide2.xml" Id="Raa3f9724fa5b4b3c" /><Relationship Type="http://schemas.openxmlformats.org/officeDocument/2006/relationships/slide" Target="/ppt/slides/slide3.xml" Id="R32c9622bb5fa4c0e" /><Relationship Type="http://schemas.openxmlformats.org/officeDocument/2006/relationships/slide" Target="/ppt/slides/slide4.xml" Id="R6717dd8554fb4bf0" /><Relationship Type="http://schemas.openxmlformats.org/officeDocument/2006/relationships/slide" Target="/ppt/slides/slide5.xml" Id="Rc6c2f43387c54374" /><Relationship Type="http://schemas.openxmlformats.org/officeDocument/2006/relationships/slide" Target="/ppt/slides/slide6.xml" Id="Rfd1880426e5b4355" /><Relationship Type="http://schemas.openxmlformats.org/officeDocument/2006/relationships/slide" Target="/ppt/slides/slide7.xml" Id="R8d675cbe34ac4b4f" /><Relationship Type="http://schemas.openxmlformats.org/officeDocument/2006/relationships/slide" Target="/ppt/slides/slide8.xml" Id="R2ba58955b8e345bd" /><Relationship Type="http://schemas.openxmlformats.org/officeDocument/2006/relationships/slide" Target="/ppt/slides/slide9.xml" Id="R75182233a5d44263" /><Relationship Type="http://schemas.openxmlformats.org/officeDocument/2006/relationships/slide" Target="/ppt/slides/slide10.xml" Id="Rc64af7203ecf4205" /><Relationship Type="http://schemas.openxmlformats.org/officeDocument/2006/relationships/slide" Target="/ppt/slides/slide11.xml" Id="R6bcd99deca0f4851" /><Relationship Type="http://schemas.openxmlformats.org/officeDocument/2006/relationships/slide" Target="/ppt/slides/slide12.xml" Id="Raae743e52d6347a0" /><Relationship Type="http://schemas.openxmlformats.org/officeDocument/2006/relationships/slide" Target="/ppt/slides/slide13.xml" Id="R3eacda54ae804907" /><Relationship Type="http://schemas.openxmlformats.org/officeDocument/2006/relationships/slide" Target="/ppt/slides/slide14.xml" Id="Rde5605960ea84685" /><Relationship Type="http://schemas.openxmlformats.org/officeDocument/2006/relationships/slide" Target="/ppt/slides/slide15.xml" Id="Rc8c42de2de7c456d" /><Relationship Type="http://schemas.openxmlformats.org/officeDocument/2006/relationships/slide" Target="/ppt/slides/slide16.xml" Id="R1f50475533bc496b" /><Relationship Type="http://schemas.openxmlformats.org/officeDocument/2006/relationships/slide" Target="/ppt/slides/slide17.xml" Id="R5b34e90a0e6747e8" /><Relationship Type="http://schemas.openxmlformats.org/officeDocument/2006/relationships/slide" Target="/ppt/slides/slide18.xml" Id="R1d7d3484316047de" /><Relationship Type="http://schemas.openxmlformats.org/officeDocument/2006/relationships/slide" Target="/ppt/slides/slide19.xml" Id="R94d9cd127f0e467c" /><Relationship Type="http://schemas.openxmlformats.org/officeDocument/2006/relationships/slide" Target="/ppt/slides/slide20.xml" Id="R84a8139fbac244cc" /><Relationship Type="http://schemas.openxmlformats.org/officeDocument/2006/relationships/slide" Target="/ppt/slides/slide21.xml" Id="R4b33338bd9e243de" /><Relationship Type="http://schemas.openxmlformats.org/officeDocument/2006/relationships/slide" Target="/ppt/slides/slide22.xml" Id="Rd6c00914cdf44bf7" /><Relationship Type="http://schemas.openxmlformats.org/officeDocument/2006/relationships/slide" Target="/ppt/slides/slide23.xml" Id="R417a348cc9c24a39" /><Relationship Type="http://schemas.openxmlformats.org/officeDocument/2006/relationships/slide" Target="/ppt/slides/slide24.xml" Id="Rca0ae5ff35d74a70" /><Relationship Type="http://schemas.openxmlformats.org/officeDocument/2006/relationships/slide" Target="/ppt/slides/slide25.xml" Id="R3a0db65eb2224172" /><Relationship Type="http://schemas.openxmlformats.org/officeDocument/2006/relationships/slide" Target="/ppt/slides/slide26.xml" Id="Rc750e03a04a94561" /><Relationship Type="http://schemas.openxmlformats.org/officeDocument/2006/relationships/slide" Target="/ppt/slides/slide27.xml" Id="R1c2bbe28dc5c4cbb" /><Relationship Type="http://schemas.openxmlformats.org/officeDocument/2006/relationships/slide" Target="/ppt/slides/slide28.xml" Id="R76f984dca3744e24" /><Relationship Type="http://schemas.openxmlformats.org/officeDocument/2006/relationships/slide" Target="/ppt/slides/slide29.xml" Id="R87695e14ac8c4048" /><Relationship Type="http://schemas.openxmlformats.org/officeDocument/2006/relationships/slide" Target="/ppt/slides/slide30.xml" Id="R4f112dd496294ac3" /><Relationship Type="http://schemas.openxmlformats.org/officeDocument/2006/relationships/slide" Target="/ppt/slides/slide31.xml" Id="R7a793404363b4da9" /><Relationship Type="http://schemas.openxmlformats.org/officeDocument/2006/relationships/slide" Target="/ppt/slides/slide32.xml" Id="R9e4318863461409a" /><Relationship Type="http://schemas.openxmlformats.org/officeDocument/2006/relationships/slide" Target="/ppt/slides/slide33.xml" Id="Rbfc33ffa78764cbd" /><Relationship Type="http://schemas.openxmlformats.org/officeDocument/2006/relationships/slide" Target="/ppt/slides/slide34.xml" Id="R6ec9dcf7ddf64b86" /><Relationship Type="http://schemas.openxmlformats.org/officeDocument/2006/relationships/slide" Target="/ppt/slides/slide35.xml" Id="R2515978a1d0845a7" /><Relationship Type="http://schemas.openxmlformats.org/officeDocument/2006/relationships/slide" Target="/ppt/slides/slide36.xml" Id="R6446c21f836c4715" /><Relationship Type="http://schemas.openxmlformats.org/officeDocument/2006/relationships/slide" Target="/ppt/slides/slide37.xml" Id="R8d689e34af0c48da" /><Relationship Type="http://schemas.openxmlformats.org/officeDocument/2006/relationships/slide" Target="/ppt/slides/slide38.xml" Id="Rc0e2b000249749c2" /><Relationship Type="http://schemas.openxmlformats.org/officeDocument/2006/relationships/slide" Target="/ppt/slides/slide39.xml" Id="Rddb3c101c7674a53" /><Relationship Type="http://schemas.openxmlformats.org/officeDocument/2006/relationships/slide" Target="/ppt/slides/slide40.xml" Id="Rabca4b97ba194204" /><Relationship Type="http://schemas.openxmlformats.org/officeDocument/2006/relationships/slide" Target="/ppt/slides/slide41.xml" Id="Rb2b3b5091c4648f7" /><Relationship Type="http://schemas.openxmlformats.org/officeDocument/2006/relationships/slide" Target="/ppt/slides/slide42.xml" Id="Re9927d65119f4ab1" /><Relationship Type="http://schemas.openxmlformats.org/officeDocument/2006/relationships/slide" Target="/ppt/slides/slide43.xml" Id="R4ab2ee6842504e49" /><Relationship Type="http://schemas.openxmlformats.org/officeDocument/2006/relationships/slide" Target="/ppt/slides/slide44.xml" Id="R406d94f8b39e40a2" /><Relationship Type="http://schemas.openxmlformats.org/officeDocument/2006/relationships/slide" Target="/ppt/slides/slide45.xml" Id="Rb34e4cbef79c4673" /><Relationship Type="http://schemas.openxmlformats.org/officeDocument/2006/relationships/slide" Target="/ppt/slides/slide46.xml" Id="R30dcd1465f8949cd" /><Relationship Type="http://schemas.openxmlformats.org/officeDocument/2006/relationships/slide" Target="/ppt/slides/slide47.xml" Id="R73c111d772004522" /><Relationship Type="http://schemas.openxmlformats.org/officeDocument/2006/relationships/slide" Target="/ppt/slides/slide48.xml" Id="R51863b8a3d254062" /><Relationship Type="http://schemas.openxmlformats.org/officeDocument/2006/relationships/slide" Target="/ppt/slides/slide49.xml" Id="R3ec8e3ca076943bc" /><Relationship Type="http://schemas.openxmlformats.org/officeDocument/2006/relationships/slide" Target="/ppt/slides/slide50.xml" Id="Rf7f1633e2ee84626" /><Relationship Type="http://schemas.openxmlformats.org/officeDocument/2006/relationships/slide" Target="/ppt/slides/slide51.xml" Id="Rf2e7955749024458" /><Relationship Type="http://schemas.openxmlformats.org/officeDocument/2006/relationships/slide" Target="/ppt/slides/slide52.xml" Id="R719165b4948d4fd5" /><Relationship Type="http://schemas.openxmlformats.org/officeDocument/2006/relationships/slide" Target="/ppt/slides/slide53.xml" Id="Ra69b3ade216d44a3" /><Relationship Type="http://schemas.openxmlformats.org/officeDocument/2006/relationships/slide" Target="/ppt/slides/slide54.xml" Id="R8edec00ce2e44c6d" /><Relationship Type="http://schemas.openxmlformats.org/officeDocument/2006/relationships/slide" Target="/ppt/slides/slide55.xml" Id="R6827f14acaf34d71" /><Relationship Type="http://schemas.openxmlformats.org/officeDocument/2006/relationships/slide" Target="/ppt/slides/slide56.xml" Id="R7916db67a03f44a5" /><Relationship Type="http://schemas.openxmlformats.org/officeDocument/2006/relationships/slide" Target="/ppt/slides/slide57.xml" Id="R0944e79bacc54340" /><Relationship Type="http://schemas.openxmlformats.org/officeDocument/2006/relationships/slide" Target="/ppt/slides/slide58.xml" Id="Re4133343d46d432f" /><Relationship Type="http://schemas.openxmlformats.org/officeDocument/2006/relationships/slide" Target="/ppt/slides/slide59.xml" Id="Rf3a638b01da24dbd" /><Relationship Type="http://schemas.openxmlformats.org/officeDocument/2006/relationships/slide" Target="/ppt/slides/slide60.xml" Id="R870b2525ed9e4659" /><Relationship Type="http://schemas.openxmlformats.org/officeDocument/2006/relationships/slide" Target="/ppt/slides/slide61.xml" Id="R9684d1bdbb434fca" /><Relationship Type="http://schemas.openxmlformats.org/officeDocument/2006/relationships/slide" Target="/ppt/slides/slide62.xml" Id="R5e2f98a925a24214" /><Relationship Type="http://schemas.openxmlformats.org/officeDocument/2006/relationships/slide" Target="/ppt/slides/slide63.xml" Id="R5471d1973954459e" /><Relationship Type="http://schemas.openxmlformats.org/officeDocument/2006/relationships/slide" Target="/ppt/slides/slide64.xml" Id="R31a3f07d67d64d95" /><Relationship Type="http://schemas.openxmlformats.org/officeDocument/2006/relationships/slide" Target="/ppt/slides/slide65.xml" Id="R6ffc58183375477f" /><Relationship Type="http://schemas.openxmlformats.org/officeDocument/2006/relationships/slide" Target="/ppt/slides/slide66.xml" Id="Ra819952377cf4300" /><Relationship Type="http://schemas.openxmlformats.org/officeDocument/2006/relationships/slide" Target="/ppt/slides/slide67.xml" Id="R04813002bba844c1" /><Relationship Type="http://schemas.openxmlformats.org/officeDocument/2006/relationships/slide" Target="/ppt/slides/slide68.xml" Id="R3e0d6c88f9a04f5d" /><Relationship Type="http://schemas.openxmlformats.org/officeDocument/2006/relationships/slide" Target="/ppt/slides/slide69.xml" Id="Ra8276da741be48ff" /><Relationship Type="http://schemas.openxmlformats.org/officeDocument/2006/relationships/slide" Target="/ppt/slides/slide70.xml" Id="Rdd72ab3adb784522" /><Relationship Type="http://schemas.openxmlformats.org/officeDocument/2006/relationships/slide" Target="/ppt/slides/slide71.xml" Id="R89b715985e8c4a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2ad912d3c943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ba9acaf6fd45c3" /><Relationship Type="http://schemas.openxmlformats.org/officeDocument/2006/relationships/notesMaster" Target="/ppt/notesMasters/notesMaster1.xml" Id="R28fe033098fb4d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be546c5b1f47e2" /><Relationship Type="http://schemas.openxmlformats.org/officeDocument/2006/relationships/notesMaster" Target="/ppt/notesMasters/notesMaster1.xml" Id="Re3c77d3c825448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a304924e2f48c5" /><Relationship Type="http://schemas.openxmlformats.org/officeDocument/2006/relationships/notesMaster" Target="/ppt/notesMasters/notesMaster1.xml" Id="Rddb05e00eb2146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27b65b229e42eb" /><Relationship Type="http://schemas.openxmlformats.org/officeDocument/2006/relationships/notesMaster" Target="/ppt/notesMasters/notesMaster1.xml" Id="R459ebf5897574a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2fff880511498f" /><Relationship Type="http://schemas.openxmlformats.org/officeDocument/2006/relationships/notesMaster" Target="/ppt/notesMasters/notesMaster1.xml" Id="Rfdedff185a4847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599b8e1f534fdb" /><Relationship Type="http://schemas.openxmlformats.org/officeDocument/2006/relationships/notesMaster" Target="/ppt/notesMasters/notesMaster1.xml" Id="Re32b4ab2dc674b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a217dad35d47e6" /><Relationship Type="http://schemas.openxmlformats.org/officeDocument/2006/relationships/notesMaster" Target="/ppt/notesMasters/notesMaster1.xml" Id="R9de027f0e53848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5d5a14df2244dd" /><Relationship Type="http://schemas.openxmlformats.org/officeDocument/2006/relationships/notesMaster" Target="/ppt/notesMasters/notesMaster1.xml" Id="R658de9e9958a44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64f80ac9c24594" /><Relationship Type="http://schemas.openxmlformats.org/officeDocument/2006/relationships/notesMaster" Target="/ppt/notesMasters/notesMaster1.xml" Id="R10012bca58a54c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164ec50fe8470f" /><Relationship Type="http://schemas.openxmlformats.org/officeDocument/2006/relationships/notesMaster" Target="/ppt/notesMasters/notesMaster1.xml" Id="Rc4e85744bf4842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40fa0bd80e4880" /><Relationship Type="http://schemas.openxmlformats.org/officeDocument/2006/relationships/notesMaster" Target="/ppt/notesMasters/notesMaster1.xml" Id="R82ab6baab3e545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ad024282c641f5" /><Relationship Type="http://schemas.openxmlformats.org/officeDocument/2006/relationships/notesMaster" Target="/ppt/notesMasters/notesMaster1.xml" Id="R72f7fcf2def24a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80f28fb1344ad0" /><Relationship Type="http://schemas.openxmlformats.org/officeDocument/2006/relationships/notesMaster" Target="/ppt/notesMasters/notesMaster1.xml" Id="Ra03226ad9edc44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278a41e320431d" /><Relationship Type="http://schemas.openxmlformats.org/officeDocument/2006/relationships/notesMaster" Target="/ppt/notesMasters/notesMaster1.xml" Id="R5563c3c1c37644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4d3027beaa49b8" /><Relationship Type="http://schemas.openxmlformats.org/officeDocument/2006/relationships/notesMaster" Target="/ppt/notesMasters/notesMaster1.xml" Id="R12c490d4f65447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b36758611a4400" /><Relationship Type="http://schemas.openxmlformats.org/officeDocument/2006/relationships/notesMaster" Target="/ppt/notesMasters/notesMaster1.xml" Id="R28a584eb90f049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5f464adaf5420b" /><Relationship Type="http://schemas.openxmlformats.org/officeDocument/2006/relationships/notesMaster" Target="/ppt/notesMasters/notesMaster1.xml" Id="Rcaada9b59d7b43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8b7a3057fa462c" /><Relationship Type="http://schemas.openxmlformats.org/officeDocument/2006/relationships/notesMaster" Target="/ppt/notesMasters/notesMaster1.xml" Id="R6077d7a70aeb40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b4747d4daa44a1" /><Relationship Type="http://schemas.openxmlformats.org/officeDocument/2006/relationships/notesMaster" Target="/ppt/notesMasters/notesMaster1.xml" Id="Re9a5d8815d874f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53825eaa6d41a2" /><Relationship Type="http://schemas.openxmlformats.org/officeDocument/2006/relationships/notesMaster" Target="/ppt/notesMasters/notesMaster1.xml" Id="Re349d95bc495404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9f8fc359ee4e7c" /><Relationship Type="http://schemas.openxmlformats.org/officeDocument/2006/relationships/notesMaster" Target="/ppt/notesMasters/notesMaster1.xml" Id="Rde43899d3d2245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059fa208364e58" /><Relationship Type="http://schemas.openxmlformats.org/officeDocument/2006/relationships/notesMaster" Target="/ppt/notesMasters/notesMaster1.xml" Id="R3823f7af09f946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297d5d56c6486f" /><Relationship Type="http://schemas.openxmlformats.org/officeDocument/2006/relationships/notesMaster" Target="/ppt/notesMasters/notesMaster1.xml" Id="R0b148f19791843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2c641817ff4ca0" /><Relationship Type="http://schemas.openxmlformats.org/officeDocument/2006/relationships/notesMaster" Target="/ppt/notesMasters/notesMaster1.xml" Id="R6f1b9a0f5e7149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cee031b5e34990" /><Relationship Type="http://schemas.openxmlformats.org/officeDocument/2006/relationships/notesMaster" Target="/ppt/notesMasters/notesMaster1.xml" Id="R3f5fcc93f943490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7ad8c4c81f4f1f" /><Relationship Type="http://schemas.openxmlformats.org/officeDocument/2006/relationships/notesMaster" Target="/ppt/notesMasters/notesMaster1.xml" Id="R4d3b79eea3104f9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26d373a1a145b0" /><Relationship Type="http://schemas.openxmlformats.org/officeDocument/2006/relationships/notesMaster" Target="/ppt/notesMasters/notesMaster1.xml" Id="Rc5302e6122c047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c8f18794f04261" /><Relationship Type="http://schemas.openxmlformats.org/officeDocument/2006/relationships/notesMaster" Target="/ppt/notesMasters/notesMaster1.xml" Id="Rbf7dbc26d82740a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5aea6f0fdc24191" /><Relationship Type="http://schemas.openxmlformats.org/officeDocument/2006/relationships/notesMaster" Target="/ppt/notesMasters/notesMaster1.xml" Id="R18b3fb0a33e446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bb717c4255748a0" /><Relationship Type="http://schemas.openxmlformats.org/officeDocument/2006/relationships/notesMaster" Target="/ppt/notesMasters/notesMaster1.xml" Id="R21c483cfe13742e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c3de53e57943c3" /><Relationship Type="http://schemas.openxmlformats.org/officeDocument/2006/relationships/notesMaster" Target="/ppt/notesMasters/notesMaster1.xml" Id="R2e8537f751a14a8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855a238c22b4bad" /><Relationship Type="http://schemas.openxmlformats.org/officeDocument/2006/relationships/notesMaster" Target="/ppt/notesMasters/notesMaster1.xml" Id="Rd066ffc0bae94d5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c42b8f84e584a08" /><Relationship Type="http://schemas.openxmlformats.org/officeDocument/2006/relationships/notesMaster" Target="/ppt/notesMasters/notesMaster1.xml" Id="Rf93f5472c72045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472d6f31404b24" /><Relationship Type="http://schemas.openxmlformats.org/officeDocument/2006/relationships/notesMaster" Target="/ppt/notesMasters/notesMaster1.xml" Id="R3fe86e2cd65f472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551258d7bb8466e" /><Relationship Type="http://schemas.openxmlformats.org/officeDocument/2006/relationships/notesMaster" Target="/ppt/notesMasters/notesMaster1.xml" Id="Rec01fcb12cda42a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6ae0a6ccb0b431a" /><Relationship Type="http://schemas.openxmlformats.org/officeDocument/2006/relationships/notesMaster" Target="/ppt/notesMasters/notesMaster1.xml" Id="R879c50b4e1d3440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d2890608c644d0" /><Relationship Type="http://schemas.openxmlformats.org/officeDocument/2006/relationships/notesMaster" Target="/ppt/notesMasters/notesMaster1.xml" Id="R534a06be166a44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39e26c1fa8b41d1" /><Relationship Type="http://schemas.openxmlformats.org/officeDocument/2006/relationships/notesMaster" Target="/ppt/notesMasters/notesMaster1.xml" Id="R6b3780580a80490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6b06e17ddb34263" /><Relationship Type="http://schemas.openxmlformats.org/officeDocument/2006/relationships/notesMaster" Target="/ppt/notesMasters/notesMaster1.xml" Id="R958a9df39a83487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2424e104d6e4802" /><Relationship Type="http://schemas.openxmlformats.org/officeDocument/2006/relationships/notesMaster" Target="/ppt/notesMasters/notesMaster1.xml" Id="R454f2793212f44a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fbc9b97acdd4fae" /><Relationship Type="http://schemas.openxmlformats.org/officeDocument/2006/relationships/notesMaster" Target="/ppt/notesMasters/notesMaster1.xml" Id="Rb3898171981d4f6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018b47540654acc" /><Relationship Type="http://schemas.openxmlformats.org/officeDocument/2006/relationships/notesMaster" Target="/ppt/notesMasters/notesMaster1.xml" Id="R1569c19441384a2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c5121a4ff48442b" /><Relationship Type="http://schemas.openxmlformats.org/officeDocument/2006/relationships/notesMaster" Target="/ppt/notesMasters/notesMaster1.xml" Id="Rfd624748937c47e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ce3d17a3b714e13" /><Relationship Type="http://schemas.openxmlformats.org/officeDocument/2006/relationships/notesMaster" Target="/ppt/notesMasters/notesMaster1.xml" Id="R01384be992a34a6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c680bbe09934d9e" /><Relationship Type="http://schemas.openxmlformats.org/officeDocument/2006/relationships/notesMaster" Target="/ppt/notesMasters/notesMaster1.xml" Id="Ra76143fab5db457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14b371eeb504639" /><Relationship Type="http://schemas.openxmlformats.org/officeDocument/2006/relationships/notesMaster" Target="/ppt/notesMasters/notesMaster1.xml" Id="R611d10fbf837456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ebbaa72e3d24166" /><Relationship Type="http://schemas.openxmlformats.org/officeDocument/2006/relationships/notesMaster" Target="/ppt/notesMasters/notesMaster1.xml" Id="R9a531e009f1b4a7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0f962c0f09f4074" /><Relationship Type="http://schemas.openxmlformats.org/officeDocument/2006/relationships/notesMaster" Target="/ppt/notesMasters/notesMaster1.xml" Id="Rf084a9a9cfb4432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987d9032f9741dc" /><Relationship Type="http://schemas.openxmlformats.org/officeDocument/2006/relationships/notesMaster" Target="/ppt/notesMasters/notesMaster1.xml" Id="Rc708ecf62168425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abf432e6c364f49" /><Relationship Type="http://schemas.openxmlformats.org/officeDocument/2006/relationships/notesMaster" Target="/ppt/notesMasters/notesMaster1.xml" Id="Rf798c50fba7f42b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147f3520c954e06" /><Relationship Type="http://schemas.openxmlformats.org/officeDocument/2006/relationships/notesMaster" Target="/ppt/notesMasters/notesMaster1.xml" Id="R61f981b42dd944f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b71822bc06d4213" /><Relationship Type="http://schemas.openxmlformats.org/officeDocument/2006/relationships/notesMaster" Target="/ppt/notesMasters/notesMaster1.xml" Id="Rfbb8f1c4dff24c2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0ee5c1bea0b4340" /><Relationship Type="http://schemas.openxmlformats.org/officeDocument/2006/relationships/notesMaster" Target="/ppt/notesMasters/notesMaster1.xml" Id="R8e6f7f0a4b374d5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3026b1074234436" /><Relationship Type="http://schemas.openxmlformats.org/officeDocument/2006/relationships/notesMaster" Target="/ppt/notesMasters/notesMaster1.xml" Id="Rdb0bdc04caef45f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420d4427edd42f1" /><Relationship Type="http://schemas.openxmlformats.org/officeDocument/2006/relationships/notesMaster" Target="/ppt/notesMasters/notesMaster1.xml" Id="R630259b70a734a0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3893def9181469b" /><Relationship Type="http://schemas.openxmlformats.org/officeDocument/2006/relationships/notesMaster" Target="/ppt/notesMasters/notesMaster1.xml" Id="R060807956598497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ffb20f379214f7e" /><Relationship Type="http://schemas.openxmlformats.org/officeDocument/2006/relationships/notesMaster" Target="/ppt/notesMasters/notesMaster1.xml" Id="R6baf35b761f3407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41524e31d4a49ad" /><Relationship Type="http://schemas.openxmlformats.org/officeDocument/2006/relationships/notesMaster" Target="/ppt/notesMasters/notesMaster1.xml" Id="R2cf03bbff346462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e41b45013dd499e" /><Relationship Type="http://schemas.openxmlformats.org/officeDocument/2006/relationships/notesMaster" Target="/ppt/notesMasters/notesMaster1.xml" Id="Rb4a6eed8245845e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45eda4869324791" /><Relationship Type="http://schemas.openxmlformats.org/officeDocument/2006/relationships/notesMaster" Target="/ppt/notesMasters/notesMaster1.xml" Id="Rc23edc14e0954b7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c255a0eff7947df" /><Relationship Type="http://schemas.openxmlformats.org/officeDocument/2006/relationships/notesMaster" Target="/ppt/notesMasters/notesMaster1.xml" Id="R5a20fc0711dd4d2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5aca4428a7b46b9" /><Relationship Type="http://schemas.openxmlformats.org/officeDocument/2006/relationships/notesMaster" Target="/ppt/notesMasters/notesMaster1.xml" Id="Rb5931d79a4f541d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56db77a8e2044ac" /><Relationship Type="http://schemas.openxmlformats.org/officeDocument/2006/relationships/notesMaster" Target="/ppt/notesMasters/notesMaster1.xml" Id="R80ab53c1c705428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bb50d6ad8744f34" /><Relationship Type="http://schemas.openxmlformats.org/officeDocument/2006/relationships/notesMaster" Target="/ppt/notesMasters/notesMaster1.xml" Id="R0c198c7eb51b4f76"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d8c21a697bb4f61" /><Relationship Type="http://schemas.openxmlformats.org/officeDocument/2006/relationships/notesMaster" Target="/ppt/notesMasters/notesMaster1.xml" Id="R8f64ae0cb848410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e838862d235402d" /><Relationship Type="http://schemas.openxmlformats.org/officeDocument/2006/relationships/notesMaster" Target="/ppt/notesMasters/notesMaster1.xml" Id="R8f78d70c3aad456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2f48e18132d4878" /><Relationship Type="http://schemas.openxmlformats.org/officeDocument/2006/relationships/notesMaster" Target="/ppt/notesMasters/notesMaster1.xml" Id="R3b23e371150d438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9574abe4cf24e5f" /><Relationship Type="http://schemas.openxmlformats.org/officeDocument/2006/relationships/notesMaster" Target="/ppt/notesMasters/notesMaster1.xml" Id="R2d20bdc87dd3432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7d523456c6e4160" /><Relationship Type="http://schemas.openxmlformats.org/officeDocument/2006/relationships/notesMaster" Target="/ppt/notesMasters/notesMaster1.xml" Id="R6ef422a0630e4cf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5ba99f7de1a47fb" /><Relationship Type="http://schemas.openxmlformats.org/officeDocument/2006/relationships/notesMaster" Target="/ppt/notesMasters/notesMaster1.xml" Id="Rd4bfb61b0f974a5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2a410e2f01541d5" /><Relationship Type="http://schemas.openxmlformats.org/officeDocument/2006/relationships/notesMaster" Target="/ppt/notesMasters/notesMaster1.xml" Id="Rc50389ba4a6644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Lists loops and reading a table</a:t>
            </a:r>
          </a:p>
          <a:p xmlns:a="http://schemas.openxmlformats.org/drawingml/2006/main">
            <a:r>
              <a:t>CML3113, Week 4, slide 1</a:t>
            </a:r>
          </a:p>
          <a:p xmlns:a="http://schemas.openxmlformats.org/drawingml/2006/main">
            <a:r>
              <a:t/>
            </a:r>
          </a:p>
          <a:p xmlns:a="http://schemas.openxmlformats.org/drawingml/2006/main">
            <a:r>
              <a:t>Explanation to give</a:t>
            </a:r>
          </a:p>
          <a:p xmlns:a="http://schemas.openxmlformats.org/drawingml/2006/main">
            <a:r>
              <a:t>Move from one calculation to many records. Lists supply ordered values, loops visit them, dictionaries label fields and CSV files store the observations.</a:t>
            </a:r>
          </a:p>
          <a:p xmlns:a="http://schemas.openxmlformats.org/drawingml/2006/main">
            <a:r>
              <a:t/>
            </a:r>
          </a:p>
          <a:p xmlns:a="http://schemas.openxmlformats.org/drawingml/2006/main">
            <a:r>
              <a:t>Worked illustration / lecturer answer</a:t>
            </a:r>
          </a:p>
          <a:p xmlns:a="http://schemas.openxmlformats.org/drawingml/2006/main">
            <a:r>
              <a:t>For readings 2, 4 and 6, the running total is 2, then 6, then 12. Count 3 gives mean 4.0. A group needs its own total and count.</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Mining and Petroleum Engineering</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CML3113, Week 4, slide 2</a:t>
            </a:r>
          </a:p>
          <a:p xmlns:a="http://schemas.openxmlformats.org/drawingml/2006/main">
            <a:r>
              <a:t/>
            </a:r>
          </a:p>
          <a:p xmlns:a="http://schemas.openxmlformats.org/drawingml/2006/main">
            <a:r>
              <a:t>Explanation to give</a:t>
            </a:r>
          </a:p>
          <a:p xmlns:a="http://schemas.openxmlformats.org/drawingml/2006/main">
            <a:r>
              <a:t>Move from one calculation to many records. Lists supply ordered values, loops visit them, dictionaries label fields and CSV files store the observations.</a:t>
            </a:r>
          </a:p>
          <a:p xmlns:a="http://schemas.openxmlformats.org/drawingml/2006/main">
            <a:r>
              <a:t/>
            </a:r>
          </a:p>
          <a:p xmlns:a="http://schemas.openxmlformats.org/drawingml/2006/main">
            <a:r>
              <a:t>Worked illustration / lecturer answer</a:t>
            </a:r>
          </a:p>
          <a:p xmlns:a="http://schemas.openxmlformats.org/drawingml/2006/main">
            <a:r>
              <a:t>For readings 2, 4 and 6, the running total is 2, then 6, then 12. Count 3 gives mean 4.0. A group needs its own total and count.</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Read lists and dictionary fields.</a:t>
            </a:r>
          </a:p>
          <a:p xmlns:a="http://schemas.openxmlformats.org/drawingml/2006/main">
            <a:r>
              <a:t/>
            </a:r>
          </a:p>
          <a:p xmlns:a="http://schemas.openxmlformats.org/drawingml/2006/main">
            <a:r>
              <a:t>Trace a loop, read CSV rows and calculate summaries.</a:t>
            </a:r>
          </a:p>
          <a:p xmlns:a="http://schemas.openxmlformats.org/drawingml/2006/main">
            <a:r>
              <a:t/>
            </a:r>
          </a:p>
          <a:p xmlns:a="http://schemas.openxmlformats.org/drawingml/2006/main">
            <a:r>
              <a:t>Continue to</a:t>
            </a:r>
          </a:p>
          <a:p xmlns:a="http://schemas.openxmlformats.org/drawingml/2006/main">
            <a:r>
              <a:t>Connection to the previous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Connection to the previous lesson</a:t>
            </a:r>
          </a:p>
          <a:p xmlns:a="http://schemas.openxmlformats.org/drawingml/2006/main">
            <a:r>
              <a:t>CML3113, Week 4, slide 3</a:t>
            </a:r>
          </a:p>
          <a:p xmlns:a="http://schemas.openxmlformats.org/drawingml/2006/main">
            <a:r>
              <a:t/>
            </a:r>
          </a:p>
          <a:p xmlns:a="http://schemas.openxmlformats.org/drawingml/2006/main">
            <a:r>
              <a:t>Explanation to give</a:t>
            </a:r>
          </a:p>
          <a:p xmlns:a="http://schemas.openxmlformats.org/drawingml/2006/main">
            <a:r>
              <a:t>Move from one calculation to many records. Lists supply ordered values, loops visit them, dictionaries label fields and CSV files store the observations.</a:t>
            </a:r>
          </a:p>
          <a:p xmlns:a="http://schemas.openxmlformats.org/drawingml/2006/main">
            <a:r>
              <a:t/>
            </a:r>
          </a:p>
          <a:p xmlns:a="http://schemas.openxmlformats.org/drawingml/2006/main">
            <a:r>
              <a:t>Worked illustration / lecturer answer</a:t>
            </a:r>
          </a:p>
          <a:p xmlns:a="http://schemas.openxmlformats.org/drawingml/2006/main">
            <a:r>
              <a:t>For readings 2, 4 and 6, the running total is 2, then 6, then 12. Count 3 gives mean 4.0. A group needs its own total and count.</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Week 3 introduced values, function inputs and results, conditions and list positions. Now we repeat a calculation across records, then organise those records by keys.</a:t>
            </a:r>
          </a:p>
          <a:p xmlns:a="http://schemas.openxmlformats.org/drawingml/2006/main">
            <a:r>
              <a:t/>
            </a:r>
          </a:p>
          <a:p xmlns:a="http://schemas.openxmlformats.org/drawingml/2006/main">
            <a:r>
              <a:t>Continue to</a:t>
            </a:r>
          </a:p>
          <a:p xmlns:a="http://schemas.openxmlformats.org/drawingml/2006/main">
            <a:r>
              <a:t>Why this week’s tools are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week’s tools are needed</a:t>
            </a:r>
          </a:p>
          <a:p xmlns:a="http://schemas.openxmlformats.org/drawingml/2006/main">
            <a:r>
              <a:t>CML3113, Week 4, slide 4</a:t>
            </a:r>
          </a:p>
          <a:p xmlns:a="http://schemas.openxmlformats.org/drawingml/2006/main">
            <a:r>
              <a:t/>
            </a:r>
          </a:p>
          <a:p xmlns:a="http://schemas.openxmlformats.org/drawingml/2006/main">
            <a:r>
              <a:t>Explanation to give</a:t>
            </a:r>
          </a:p>
          <a:p xmlns:a="http://schemas.openxmlformats.org/drawingml/2006/main">
            <a:r>
              <a:t>Move from one calculation to many records. Lists supply ordered values, loops visit them, dictionaries label fields and CSV files store the observations.</a:t>
            </a:r>
          </a:p>
          <a:p xmlns:a="http://schemas.openxmlformats.org/drawingml/2006/main">
            <a:r>
              <a:t/>
            </a:r>
          </a:p>
          <a:p xmlns:a="http://schemas.openxmlformats.org/drawingml/2006/main">
            <a:r>
              <a:t>Worked illustration / lecturer answer</a:t>
            </a:r>
          </a:p>
          <a:p xmlns:a="http://schemas.openxmlformats.org/drawingml/2006/main">
            <a:r>
              <a:t>For readings 2, 4 and 6, the running total is 2, then 6, then 12. Count 3 gives mean 4.0. A group needs its own total and count.</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Sensor readings arrive as records in a CSV file. We first learn the Python collections and loops needed to read those records and summarise them.</a:t>
            </a:r>
          </a:p>
          <a:p xmlns:a="http://schemas.openxmlformats.org/drawingml/2006/main">
            <a:r>
              <a:t/>
            </a:r>
          </a:p>
          <a:p xmlns:a="http://schemas.openxmlformats.org/drawingml/2006/main">
            <a:r>
              <a:t>Continue to</a:t>
            </a:r>
          </a:p>
          <a:p xmlns:a="http://schemas.openxmlformats.org/drawingml/2006/main">
            <a:r>
              <a:t>List and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 and index</a:t>
            </a:r>
          </a:p>
          <a:p xmlns:a="http://schemas.openxmlformats.org/drawingml/2006/main">
            <a:r>
              <a:t>CML3113, Week 4, slide 5</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List and index: A list holds values in order: [2, 4, 6]. Square brackets select a position. readings[0] selects the first item, 2.</a:t>
            </a:r>
          </a:p>
          <a:p xmlns:a="http://schemas.openxmlformats.org/drawingml/2006/main">
            <a:r>
              <a:t/>
            </a:r>
          </a:p>
          <a:p xmlns:a="http://schemas.openxmlformats.org/drawingml/2006/main">
            <a:r>
              <a:t>Continue to</a:t>
            </a:r>
          </a:p>
          <a:p xmlns:a="http://schemas.openxmlformats.org/drawingml/2006/main">
            <a:r>
              <a:t>A list position starts at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list position starts at zero</a:t>
            </a:r>
          </a:p>
          <a:p xmlns:a="http://schemas.openxmlformats.org/drawingml/2006/main">
            <a:r>
              <a:t>CML3113, Week 4, slide 6</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In [2, 4, 6], position 0 holds 2.</a:t>
            </a:r>
          </a:p>
          <a:p xmlns:a="http://schemas.openxmlformats.org/drawingml/2006/main">
            <a:r>
              <a:t/>
            </a:r>
          </a:p>
          <a:p xmlns:a="http://schemas.openxmlformats.org/drawingml/2006/main">
            <a:r>
              <a:t>Position 1 holds 4. Position 2 holds 6.</a:t>
            </a:r>
          </a:p>
          <a:p xmlns:a="http://schemas.openxmlformats.org/drawingml/2006/main">
            <a:r>
              <a:t/>
            </a:r>
          </a:p>
          <a:p xmlns:a="http://schemas.openxmlformats.org/drawingml/2006/main">
            <a:r>
              <a:t>There is no position 3 in this three-item list.</a:t>
            </a:r>
          </a:p>
          <a:p xmlns:a="http://schemas.openxmlformats.org/drawingml/2006/main">
            <a:r>
              <a:t/>
            </a:r>
          </a:p>
          <a:p xmlns:a="http://schemas.openxmlformats.org/drawingml/2006/main">
            <a:r>
              <a:t>Continue to</a:t>
            </a:r>
          </a:p>
          <a:p xmlns:a="http://schemas.openxmlformats.org/drawingml/2006/main">
            <a:r>
              <a:t>Read list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list operations</a:t>
            </a:r>
          </a:p>
          <a:p xmlns:a="http://schemas.openxmlformats.org/drawingml/2006/main">
            <a:r>
              <a:t>CML3113, Week 4, slide 7</a:t>
            </a:r>
          </a:p>
          <a:p xmlns:a="http://schemas.openxmlformats.org/drawingml/2006/main">
            <a:r>
              <a:t/>
            </a:r>
          </a:p>
          <a:p xmlns:a="http://schemas.openxmlformats.org/drawingml/2006/main">
            <a:r>
              <a:t>Explanation to give</a:t>
            </a:r>
          </a:p>
          <a:p xmlns:a="http://schemas.openxmlformats.org/drawingml/2006/main">
            <a:r>
              <a:t>Walk through append, replacement and selection separately. append adds a new last item; values[1] = 9 replaces the item at position 1; values[1] retrieves it.</a:t>
            </a:r>
          </a:p>
          <a:p xmlns:a="http://schemas.openxmlformats.org/drawingml/2006/main">
            <a:r>
              <a:t/>
            </a:r>
          </a:p>
          <a:p xmlns:a="http://schemas.openxmlformats.org/drawingml/2006/main">
            <a:r>
              <a:t>Worked illustration / lecturer answer</a:t>
            </a:r>
          </a:p>
          <a:p xmlns:a="http://schemas.openxmlformats.org/drawingml/2006/main">
            <a:r>
              <a:t>Starting with [2, 4], append(6) gives [2, 4, 6]. Assigning values[1] = 9 then gives [2, 9, 6], still three items.</a:t>
            </a:r>
          </a:p>
          <a:p xmlns:a="http://schemas.openxmlformats.org/drawingml/2006/main">
            <a:r>
              <a:t/>
            </a:r>
          </a:p>
          <a:p xmlns:a="http://schemas.openxmlformats.org/drawingml/2006/main">
            <a:r>
              <a:t>Misconception to address</a:t>
            </a:r>
          </a:p>
          <a:p xmlns:a="http://schemas.openxmlformats.org/drawingml/2006/main">
            <a:r>
              <a:t>append changes the list and returns None. Do not write values = values.append(6), which would replace the list name with None.</a:t>
            </a:r>
          </a:p>
          <a:p xmlns:a="http://schemas.openxmlformats.org/drawingml/2006/main">
            <a:r>
              <a:t/>
            </a:r>
          </a:p>
          <a:p xmlns:a="http://schemas.openxmlformats.org/drawingml/2006/main">
            <a:r>
              <a:t>On this slide</a:t>
            </a:r>
          </a:p>
          <a:p xmlns:a="http://schemas.openxmlformats.org/drawingml/2006/main">
            <a:r>
              <a:t>append and len: readings.append(8) adds 8 to the end of the list. len(readings) counts its items. The dot selects an operation belonging to that object; parentheses call it.</a:t>
            </a:r>
          </a:p>
          <a:p xmlns:a="http://schemas.openxmlformats.org/drawingml/2006/main">
            <a:r>
              <a:t>Slice: readings[1:3] selects positions 1 and 2. The stop position 3 is excluded. A slice produces a new list; it does not remove items from the original.</a:t>
            </a:r>
          </a:p>
          <a:p xmlns:a="http://schemas.openxmlformats.org/drawingml/2006/main">
            <a:r>
              <a:t/>
            </a:r>
          </a:p>
          <a:p xmlns:a="http://schemas.openxmlformats.org/drawingml/2006/main">
            <a:r>
              <a:t>Continue to</a:t>
            </a:r>
          </a:p>
          <a:p xmlns:a="http://schemas.openxmlformats.org/drawingml/2006/main">
            <a:r>
              <a:t>A list stores items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list stores items in order</a:t>
            </a:r>
          </a:p>
          <a:p xmlns:a="http://schemas.openxmlformats.org/drawingml/2006/main">
            <a:r>
              <a:t>CML3113, Week 4, slide 8</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Read the displayed code line by line</a:t>
            </a:r>
          </a:p>
          <a:p xmlns:a="http://schemas.openxmlformats.org/drawingml/2006/main">
            <a:r>
              <a:t>readings = [2, 4, 6]</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readings.append(8)</a:t>
            </a:r>
          </a:p>
          <a:p xmlns:a="http://schemas.openxmlformats.org/drawingml/2006/main">
            <a:r>
              <a:t>Evaluate the argument and add it as one new item at the end of this list.</a:t>
            </a:r>
          </a:p>
          <a:p xmlns:a="http://schemas.openxmlformats.org/drawingml/2006/main">
            <a:r>
              <a:t/>
            </a:r>
          </a:p>
          <a:p xmlns:a="http://schemas.openxmlformats.org/drawingml/2006/main">
            <a:r>
              <a:t>print(len(readings))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print(readings[1:3])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 builds a list. Positions start at zero. The slice stops before position 3.</a:t>
            </a:r>
          </a:p>
          <a:p xmlns:a="http://schemas.openxmlformats.org/drawingml/2006/main">
            <a:r>
              <a:t/>
            </a:r>
          </a:p>
          <a:p xmlns:a="http://schemas.openxmlformats.org/drawingml/2006/main">
            <a:r>
              <a:t>Continue to</a:t>
            </a:r>
          </a:p>
          <a:p xmlns:a="http://schemas.openxmlformats.org/drawingml/2006/main">
            <a:r>
              <a:t>Trace the list changes</a:t>
            </a:r>
          </a:p>
          <a:p xmlns:a="http://schemas.openxmlformats.org/drawingml/2006/main">
            <a:r>
              <a:t/>
            </a:r>
          </a:p>
          <a:p xmlns:a="http://schemas.openxmlformats.org/drawingml/2006/main">
            <a:r>
              <a:t>Output from the supplied CSV (this cohort):</a:t>
            </a:r>
          </a:p>
          <a:p xmlns:a="http://schemas.openxmlformats.org/drawingml/2006/main">
            <a:r>
              <a:t>2</a:t>
            </a:r>
          </a:p>
          <a:p xmlns:a="http://schemas.openxmlformats.org/drawingml/2006/main">
            <a:r>
              <a:t>4</a:t>
            </a:r>
          </a:p>
          <a:p xmlns:a="http://schemas.openxmlformats.org/drawingml/2006/main">
            <a:r>
              <a:t>[4, 6]</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2</a:t>
            </a:r>
          </a:p>
          <a:p xmlns:a="http://schemas.openxmlformats.org/drawingml/2006/main">
            <a:r>
              <a:t>4</a:t>
            </a:r>
          </a:p>
          <a:p xmlns:a="http://schemas.openxmlformats.org/drawingml/2006/main">
            <a:r>
              <a:t>[4,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list changes</a:t>
            </a:r>
          </a:p>
          <a:p xmlns:a="http://schemas.openxmlformats.org/drawingml/2006/main">
            <a:r>
              <a:t>CML3113, Week 4, slide 9</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Instruction | List afterwards | Displayed output</a:t>
            </a:r>
          </a:p>
          <a:p xmlns:a="http://schemas.openxmlformats.org/drawingml/2006/main">
            <a:r>
              <a:t>readings = [2, 4, 6] | [2, 4, 6] | Nothing yet</a:t>
            </a:r>
          </a:p>
          <a:p xmlns:a="http://schemas.openxmlformats.org/drawingml/2006/main">
            <a:r>
              <a:t>print(readings[0]) | [2, 4, 6] | 2</a:t>
            </a:r>
          </a:p>
          <a:p xmlns:a="http://schemas.openxmlformats.org/drawingml/2006/main">
            <a:r>
              <a:t>readings.append(8) | [2, 4, 6, 8] | Nothing yet</a:t>
            </a:r>
          </a:p>
          <a:p xmlns:a="http://schemas.openxmlformats.org/drawingml/2006/main">
            <a:r>
              <a:t>print(readings[1:3]) | [2, 4, 6, 8] | [4, 6]</a:t>
            </a:r>
          </a:p>
          <a:p xmlns:a="http://schemas.openxmlformats.org/drawingml/2006/main">
            <a:r>
              <a:t>len reports 4 after append. A slice excludes its stop position and leaves the original list intact.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loop repeats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loop repeats instructions</a:t>
            </a:r>
          </a:p>
          <a:p xmlns:a="http://schemas.openxmlformats.org/drawingml/2006/main">
            <a:r>
              <a:t>CML3113, Week 4, slide 10</a:t>
            </a:r>
          </a:p>
          <a:p xmlns:a="http://schemas.openxmlformats.org/drawingml/2006/main">
            <a:r>
              <a:t/>
            </a:r>
          </a:p>
          <a:p xmlns:a="http://schemas.openxmlformats.org/drawingml/2006/main">
            <a:r>
              <a:t>Explanation to give</a:t>
            </a:r>
          </a:p>
          <a:p xmlns:a="http://schemas.openxmlformats.org/drawingml/2006/main">
            <a:r>
              <a:t>Read for item in values as “take one value, call it item, execute the indented body, then take the next value”. The loop name temporarily refers to the current item.</a:t>
            </a:r>
          </a:p>
          <a:p xmlns:a="http://schemas.openxmlformats.org/drawingml/2006/main">
            <a:r>
              <a:t/>
            </a:r>
          </a:p>
          <a:p xmlns:a="http://schemas.openxmlformats.org/drawingml/2006/main">
            <a:r>
              <a:t>Worked illustration / lecturer answer</a:t>
            </a:r>
          </a:p>
          <a:p xmlns:a="http://schemas.openxmlformats.org/drawingml/2006/main">
            <a:r>
              <a:t>For values [2, 4, 6], print(item) produces 2, then 4, then 6. With count initially zero and one increment per visit, the final count is 3.</a:t>
            </a:r>
          </a:p>
          <a:p xmlns:a="http://schemas.openxmlformats.org/drawingml/2006/main">
            <a:r>
              <a:t/>
            </a:r>
          </a:p>
          <a:p xmlns:a="http://schemas.openxmlformats.org/drawingml/2006/main">
            <a:r>
              <a:t>Misconception to address</a:t>
            </a:r>
          </a:p>
          <a:p xmlns:a="http://schemas.openxmlformats.org/drawingml/2006/main">
            <a:r>
              <a:t>The loop variable does not refer to the whole list. A statement after the indentation ends runs after the loop, not once per item.</a:t>
            </a:r>
          </a:p>
          <a:p xmlns:a="http://schemas.openxmlformats.org/drawingml/2006/main">
            <a:r>
              <a:t/>
            </a:r>
          </a:p>
          <a:p xmlns:a="http://schemas.openxmlformats.org/drawingml/2006/main">
            <a:r>
              <a:t>On this slide</a:t>
            </a:r>
          </a:p>
          <a:p xmlns:a="http://schemas.openxmlformats.org/drawingml/2006/main">
            <a:r>
              <a:t>A loop runs a block more than once. One execution of the block is called an iteration.</a:t>
            </a:r>
          </a:p>
          <a:p xmlns:a="http://schemas.openxmlformats.org/drawingml/2006/main">
            <a:r>
              <a:t/>
            </a:r>
          </a:p>
          <a:p xmlns:a="http://schemas.openxmlformats.org/drawingml/2006/main">
            <a:r>
              <a:t>for takes one item at a time from a collection. Use it when each item needs the same action.</a:t>
            </a:r>
          </a:p>
          <a:p xmlns:a="http://schemas.openxmlformats.org/drawingml/2006/main">
            <a:r>
              <a:t/>
            </a:r>
          </a:p>
          <a:p xmlns:a="http://schemas.openxmlformats.org/drawingml/2006/main">
            <a:r>
              <a:t>while repeats while a condition stays True. Use it when a condition controls repetition.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Read every part of a for header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every part of a for header</a:t>
            </a:r>
          </a:p>
          <a:p xmlns:a="http://schemas.openxmlformats.org/drawingml/2006/main">
            <a:r>
              <a:t>CML3113, Week 4, slide 11</a:t>
            </a:r>
          </a:p>
          <a:p xmlns:a="http://schemas.openxmlformats.org/drawingml/2006/main">
            <a:r>
              <a:t/>
            </a:r>
          </a:p>
          <a:p xmlns:a="http://schemas.openxmlformats.org/drawingml/2006/main">
            <a:r>
              <a:t>Explanation to give</a:t>
            </a:r>
          </a:p>
          <a:p xmlns:a="http://schemas.openxmlformats.org/drawingml/2006/main">
            <a:r>
              <a:t>Read for item in values as “take one value, call it item, execute the indented body, then take the next value”. The loop name temporarily refers to the current item.</a:t>
            </a:r>
          </a:p>
          <a:p xmlns:a="http://schemas.openxmlformats.org/drawingml/2006/main">
            <a:r>
              <a:t/>
            </a:r>
          </a:p>
          <a:p xmlns:a="http://schemas.openxmlformats.org/drawingml/2006/main">
            <a:r>
              <a:t>Worked illustration / lecturer answer</a:t>
            </a:r>
          </a:p>
          <a:p xmlns:a="http://schemas.openxmlformats.org/drawingml/2006/main">
            <a:r>
              <a:t>For values [2, 4, 6], print(item) produces 2, then 4, then 6. With count initially zero and one increment per visit, the final count is 3.</a:t>
            </a:r>
          </a:p>
          <a:p xmlns:a="http://schemas.openxmlformats.org/drawingml/2006/main">
            <a:r>
              <a:t/>
            </a:r>
          </a:p>
          <a:p xmlns:a="http://schemas.openxmlformats.org/drawingml/2006/main">
            <a:r>
              <a:t>Misconception to address</a:t>
            </a:r>
          </a:p>
          <a:p xmlns:a="http://schemas.openxmlformats.org/drawingml/2006/main">
            <a:r>
              <a:t>The loop variable does not refer to the whole list. A statement after the indentation ends runs after the loop, not once per item.</a:t>
            </a:r>
          </a:p>
          <a:p xmlns:a="http://schemas.openxmlformats.org/drawingml/2006/main">
            <a:r>
              <a:t/>
            </a:r>
          </a:p>
          <a:p xmlns:a="http://schemas.openxmlformats.org/drawingml/2006/main">
            <a:r>
              <a:t>On this slide</a:t>
            </a:r>
          </a:p>
          <a:p xmlns:a="http://schemas.openxmlformats.org/drawingml/2006/main">
            <a:r>
              <a:t>In for reading in readings:, for introduces repetition, reading names the current item, and readings is the collection to visit.</a:t>
            </a:r>
          </a:p>
          <a:p xmlns:a="http://schemas.openxmlformats.org/drawingml/2006/main">
            <a:r>
              <a:t/>
            </a:r>
          </a:p>
          <a:p xmlns:a="http://schemas.openxmlformats.org/drawingml/2006/main">
            <a:r>
              <a:t>in connects the current-item name to that collection. The colon begins the loop body. Four spaces mark each instruction that repeats.</a:t>
            </a:r>
          </a:p>
          <a:p xmlns:a="http://schemas.openxmlformats.org/drawingml/2006/main">
            <a:r>
              <a:t/>
            </a:r>
          </a:p>
          <a:p xmlns:a="http://schemas.openxmlformats.org/drawingml/2006/main">
            <a:r>
              <a:t>reading is a name we choose; it is assigned the next item automatically. It is not the same name as readings. After the last item, execution leaves the loop.</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Visit each item without calculating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Visit each item without calculating</a:t>
            </a:r>
          </a:p>
          <a:p xmlns:a="http://schemas.openxmlformats.org/drawingml/2006/main">
            <a:r>
              <a:t>CML3113, Week 4, slide 12</a:t>
            </a:r>
          </a:p>
          <a:p xmlns:a="http://schemas.openxmlformats.org/drawingml/2006/main">
            <a:r>
              <a:t/>
            </a:r>
          </a:p>
          <a:p xmlns:a="http://schemas.openxmlformats.org/drawingml/2006/main">
            <a:r>
              <a:t>Explanation to give</a:t>
            </a:r>
          </a:p>
          <a:p xmlns:a="http://schemas.openxmlformats.org/drawingml/2006/main">
            <a:r>
              <a:t>Read for item in values as “take one value, call it item, execute the indented body, then take the next value”. The loop name temporarily refers to the current item.</a:t>
            </a:r>
          </a:p>
          <a:p xmlns:a="http://schemas.openxmlformats.org/drawingml/2006/main">
            <a:r>
              <a:t/>
            </a:r>
          </a:p>
          <a:p xmlns:a="http://schemas.openxmlformats.org/drawingml/2006/main">
            <a:r>
              <a:t>Worked illustration / lecturer answer</a:t>
            </a:r>
          </a:p>
          <a:p xmlns:a="http://schemas.openxmlformats.org/drawingml/2006/main">
            <a:r>
              <a:t>For values [2, 4, 6], print(item) produces 2, then 4, then 6. With count initially zero and one increment per visit, the final count is 3.</a:t>
            </a:r>
          </a:p>
          <a:p xmlns:a="http://schemas.openxmlformats.org/drawingml/2006/main">
            <a:r>
              <a:t/>
            </a:r>
          </a:p>
          <a:p xmlns:a="http://schemas.openxmlformats.org/drawingml/2006/main">
            <a:r>
              <a:t>Misconception to address</a:t>
            </a:r>
          </a:p>
          <a:p xmlns:a="http://schemas.openxmlformats.org/drawingml/2006/main">
            <a:r>
              <a:t>The loop variable does not refer to the whole list. A statement after the indentation ends runs after the loop, not once per item.</a:t>
            </a:r>
          </a:p>
          <a:p xmlns:a="http://schemas.openxmlformats.org/drawingml/2006/main">
            <a:r>
              <a:t/>
            </a:r>
          </a:p>
          <a:p xmlns:a="http://schemas.openxmlformats.org/drawingml/2006/main">
            <a:r>
              <a:t>Read the displayed code line by line</a:t>
            </a:r>
          </a:p>
          <a:p xmlns:a="http://schemas.openxmlformats.org/drawingml/2006/main">
            <a:r>
              <a:t>readings = [2, 4, 6]</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for reading in readings:</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print(reading)</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print("finished")</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2; 4; 6; finished</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the for loop item by item</a:t>
            </a:r>
          </a:p>
          <a:p xmlns:a="http://schemas.openxmlformats.org/drawingml/2006/main">
            <a:r>
              <a:t/>
            </a:r>
          </a:p>
          <a:p xmlns:a="http://schemas.openxmlformats.org/drawingml/2006/main">
            <a:r>
              <a:t>Output from the supplied CSV (this cohort):</a:t>
            </a:r>
          </a:p>
          <a:p xmlns:a="http://schemas.openxmlformats.org/drawingml/2006/main">
            <a:r>
              <a:t>2</a:t>
            </a:r>
          </a:p>
          <a:p xmlns:a="http://schemas.openxmlformats.org/drawingml/2006/main">
            <a:r>
              <a:t>4</a:t>
            </a:r>
          </a:p>
          <a:p xmlns:a="http://schemas.openxmlformats.org/drawingml/2006/main">
            <a:r>
              <a:t>6</a:t>
            </a:r>
          </a:p>
          <a:p xmlns:a="http://schemas.openxmlformats.org/drawingml/2006/main">
            <a:r>
              <a:t>finished</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2</a:t>
            </a:r>
          </a:p>
          <a:p xmlns:a="http://schemas.openxmlformats.org/drawingml/2006/main">
            <a:r>
              <a:t>4</a:t>
            </a:r>
          </a:p>
          <a:p xmlns:a="http://schemas.openxmlformats.org/drawingml/2006/main">
            <a:r>
              <a:t>6</a:t>
            </a:r>
          </a:p>
          <a:p xmlns:a="http://schemas.openxmlformats.org/drawingml/2006/main">
            <a:r>
              <a:t>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for loop item by item</a:t>
            </a:r>
          </a:p>
          <a:p xmlns:a="http://schemas.openxmlformats.org/drawingml/2006/main">
            <a:r>
              <a:t>CML3113, Week 4, slide 13</a:t>
            </a:r>
          </a:p>
          <a:p xmlns:a="http://schemas.openxmlformats.org/drawingml/2006/main">
            <a:r>
              <a:t/>
            </a:r>
          </a:p>
          <a:p xmlns:a="http://schemas.openxmlformats.org/drawingml/2006/main">
            <a:r>
              <a:t>Explanation to give</a:t>
            </a:r>
          </a:p>
          <a:p xmlns:a="http://schemas.openxmlformats.org/drawingml/2006/main">
            <a:r>
              <a:t>Read for item in values as “take one value, call it item, execute the indented body, then take the next value”. The loop name temporarily refers to the current item.</a:t>
            </a:r>
          </a:p>
          <a:p xmlns:a="http://schemas.openxmlformats.org/drawingml/2006/main">
            <a:r>
              <a:t/>
            </a:r>
          </a:p>
          <a:p xmlns:a="http://schemas.openxmlformats.org/drawingml/2006/main">
            <a:r>
              <a:t>Worked illustration / lecturer answer</a:t>
            </a:r>
          </a:p>
          <a:p xmlns:a="http://schemas.openxmlformats.org/drawingml/2006/main">
            <a:r>
              <a:t>For values [2, 4, 6], print(item) produces 2, then 4, then 6. With count initially zero and one increment per visit, the final count is 3.</a:t>
            </a:r>
          </a:p>
          <a:p xmlns:a="http://schemas.openxmlformats.org/drawingml/2006/main">
            <a:r>
              <a:t/>
            </a:r>
          </a:p>
          <a:p xmlns:a="http://schemas.openxmlformats.org/drawingml/2006/main">
            <a:r>
              <a:t>Misconception to address</a:t>
            </a:r>
          </a:p>
          <a:p xmlns:a="http://schemas.openxmlformats.org/drawingml/2006/main">
            <a:r>
              <a:t>The loop variable does not refer to the whole list. A statement after the indentation ends runs after the loop, not once per item.</a:t>
            </a:r>
          </a:p>
          <a:p xmlns:a="http://schemas.openxmlformats.org/drawingml/2006/main">
            <a:r>
              <a:t/>
            </a:r>
          </a:p>
          <a:p xmlns:a="http://schemas.openxmlformats.org/drawingml/2006/main">
            <a:r>
              <a:t>On this slide</a:t>
            </a:r>
          </a:p>
          <a:p xmlns:a="http://schemas.openxmlformats.org/drawingml/2006/main">
            <a:r>
              <a:t>Step | Current reading | Action</a:t>
            </a:r>
          </a:p>
          <a:p xmlns:a="http://schemas.openxmlformats.org/drawingml/2006/main">
            <a:r>
              <a:t>First item | 2 | Print 2</a:t>
            </a:r>
          </a:p>
          <a:p xmlns:a="http://schemas.openxmlformats.org/drawingml/2006/main">
            <a:r>
              <a:t>Second item | 4 | Print 4</a:t>
            </a:r>
          </a:p>
          <a:p xmlns:a="http://schemas.openxmlformats.org/drawingml/2006/main">
            <a:r>
              <a:t>Third item | 6 | Print 6</a:t>
            </a:r>
          </a:p>
          <a:p xmlns:a="http://schemas.openxmlformats.org/drawingml/2006/main">
            <a:r>
              <a:t>No items left | No new item | Leave loop; print finished</a:t>
            </a:r>
          </a:p>
          <a:p xmlns:a="http://schemas.openxmlformats.org/drawingml/2006/main">
            <a:r>
              <a:t>An empty list runs the body zero times. It still reaches the outside line.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Updating a counter inside a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Updating a counter inside a loop</a:t>
            </a:r>
          </a:p>
          <a:p xmlns:a="http://schemas.openxmlformats.org/drawingml/2006/main">
            <a:r>
              <a:t>CML3113, Week 4, slide 14</a:t>
            </a:r>
          </a:p>
          <a:p xmlns:a="http://schemas.openxmlformats.org/drawingml/2006/main">
            <a:r>
              <a:t/>
            </a:r>
          </a:p>
          <a:p xmlns:a="http://schemas.openxmlformats.org/drawingml/2006/main">
            <a:r>
              <a:t>Explanation to give</a:t>
            </a:r>
          </a:p>
          <a:p xmlns:a="http://schemas.openxmlformats.org/drawingml/2006/main">
            <a:r>
              <a:t>Read the right-hand occurrence of the name as its old value. Calculate the new value, then replace the old association. This is why an update works in programming even though count = count + 1 is not an algebraic equality.</a:t>
            </a:r>
          </a:p>
          <a:p xmlns:a="http://schemas.openxmlformats.org/drawingml/2006/main">
            <a:r>
              <a:t/>
            </a:r>
          </a:p>
          <a:p xmlns:a="http://schemas.openxmlformats.org/drawingml/2006/main">
            <a:r>
              <a:t>Worked illustration / lecturer answer</a:t>
            </a:r>
          </a:p>
          <a:p xmlns:a="http://schemas.openxmlformats.org/drawingml/2006/main">
            <a:r>
              <a:t>Start at count = 2. The update computes 2 + 1 and count becomes 3. Another execution of the update gives 4. Re-executing the initialisation first returns the sequence to 2, then 3.</a:t>
            </a:r>
          </a:p>
          <a:p xmlns:a="http://schemas.openxmlformats.org/drawingml/2006/main">
            <a:r>
              <a:t/>
            </a:r>
          </a:p>
          <a:p xmlns:a="http://schemas.openxmlformats.org/drawingml/2006/main">
            <a:r>
              <a:t>Misconception to address</a:t>
            </a:r>
          </a:p>
          <a:p xmlns:a="http://schemas.openxmlformats.org/drawingml/2006/main">
            <a:r>
              <a:t>Initialise a running counter before the loop. Resetting it inside the loop throws away earlier progress.</a:t>
            </a:r>
          </a:p>
          <a:p xmlns:a="http://schemas.openxmlformats.org/drawingml/2006/main">
            <a:r>
              <a:t/>
            </a:r>
          </a:p>
          <a:p xmlns:a="http://schemas.openxmlformats.org/drawingml/2006/main">
            <a:r>
              <a:t>On this slide</a:t>
            </a:r>
          </a:p>
          <a:p xmlns:a="http://schemas.openxmlformats.org/drawingml/2006/main">
            <a:r>
              <a:t>A counter records how many times an event happens. Set count = 0 before the loop, then count = count + 1 inside it.</a:t>
            </a:r>
          </a:p>
          <a:p xmlns:a="http://schemas.openxmlformats.org/drawingml/2006/main">
            <a:r>
              <a:t/>
            </a:r>
          </a:p>
          <a:p xmlns:a="http://schemas.openxmlformats.org/drawingml/2006/main">
            <a:r>
              <a:t>count += 1 is a shorter spelling for that numeric update. Similarly, total += reading means total = total + reading.</a:t>
            </a:r>
          </a:p>
          <a:p xmlns:a="http://schemas.openxmlformats.org/drawingml/2006/main">
            <a:r>
              <a:t/>
            </a:r>
          </a:p>
          <a:p xmlns:a="http://schemas.openxmlformats.org/drawingml/2006/main">
            <a:r>
              <a:t>The initial value belongs outside the loop. Resetting count to zero inside every iteration loses the earlier count.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Count the visited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the visited items</a:t>
            </a:r>
          </a:p>
          <a:p xmlns:a="http://schemas.openxmlformats.org/drawingml/2006/main">
            <a:r>
              <a:t>CML3113, Week 4, slide 15</a:t>
            </a:r>
          </a:p>
          <a:p xmlns:a="http://schemas.openxmlformats.org/drawingml/2006/main">
            <a:r>
              <a:t/>
            </a:r>
          </a:p>
          <a:p xmlns:a="http://schemas.openxmlformats.org/drawingml/2006/main">
            <a:r>
              <a:t>Explanation to give</a:t>
            </a:r>
          </a:p>
          <a:p xmlns:a="http://schemas.openxmlformats.org/drawingml/2006/main">
            <a:r>
              <a:t>Read for item in values as “take one value, call it item, execute the indented body, then take the next value”. The loop name temporarily refers to the current item.</a:t>
            </a:r>
          </a:p>
          <a:p xmlns:a="http://schemas.openxmlformats.org/drawingml/2006/main">
            <a:r>
              <a:t/>
            </a:r>
          </a:p>
          <a:p xmlns:a="http://schemas.openxmlformats.org/drawingml/2006/main">
            <a:r>
              <a:t>Worked illustration / lecturer answer</a:t>
            </a:r>
          </a:p>
          <a:p xmlns:a="http://schemas.openxmlformats.org/drawingml/2006/main">
            <a:r>
              <a:t>For values [2, 4, 6], print(item) produces 2, then 4, then 6. With count initially zero and one increment per visit, the final count is 3.</a:t>
            </a:r>
          </a:p>
          <a:p xmlns:a="http://schemas.openxmlformats.org/drawingml/2006/main">
            <a:r>
              <a:t/>
            </a:r>
          </a:p>
          <a:p xmlns:a="http://schemas.openxmlformats.org/drawingml/2006/main">
            <a:r>
              <a:t>Misconception to address</a:t>
            </a:r>
          </a:p>
          <a:p xmlns:a="http://schemas.openxmlformats.org/drawingml/2006/main">
            <a:r>
              <a:t>The loop variable does not refer to the whole list. A statement after the indentation ends runs after the loop, not once per item.</a:t>
            </a:r>
          </a:p>
          <a:p xmlns:a="http://schemas.openxmlformats.org/drawingml/2006/main">
            <a:r>
              <a:t/>
            </a:r>
          </a:p>
          <a:p xmlns:a="http://schemas.openxmlformats.org/drawingml/2006/main">
            <a:r>
              <a:t>Read the displayed code line by line</a:t>
            </a:r>
          </a:p>
          <a:p xmlns:a="http://schemas.openxmlformats.org/drawingml/2006/main">
            <a:r>
              <a:t>count = 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for reading in [2, 4, 6]:</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count += 1</a:t>
            </a:r>
          </a:p>
          <a:p xmlns:a="http://schemas.openxmlformats.org/drawingml/2006/main">
            <a:r>
              <a:t>Add the right-hand amount to the current stored value, then keep the updated value.</a:t>
            </a:r>
          </a:p>
          <a:p xmlns:a="http://schemas.openxmlformats.org/drawingml/2006/main">
            <a:r>
              <a:t/>
            </a:r>
          </a:p>
          <a:p xmlns:a="http://schemas.openxmlformats.org/drawingml/2006/main">
            <a:r>
              <a:t>print(count)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3</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Accumulator</a:t>
            </a:r>
          </a:p>
          <a:p xmlns:a="http://schemas.openxmlformats.org/drawingml/2006/main">
            <a:r>
              <a:t/>
            </a:r>
          </a:p>
          <a:p xmlns:a="http://schemas.openxmlformats.org/drawingml/2006/main">
            <a:r>
              <a:t>Output from the supplied CSV (this cohort):</a:t>
            </a:r>
          </a:p>
          <a:p xmlns:a="http://schemas.openxmlformats.org/drawingml/2006/main">
            <a:r>
              <a:t>3</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Accumulator</a:t>
            </a:r>
          </a:p>
          <a:p xmlns:a="http://schemas.openxmlformats.org/drawingml/2006/main">
            <a:r>
              <a:t>CML3113, Week 4, slide 16</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On this slide</a:t>
            </a:r>
          </a:p>
          <a:p xmlns:a="http://schemas.openxmlformats.org/drawingml/2006/main">
            <a:r>
              <a:t>Accumulator: A running total. Set it to zero before the loop, add inside the loop, and read the final total afterward.</a:t>
            </a:r>
          </a:p>
          <a:p xmlns:a="http://schemas.openxmlformats.org/drawingml/2006/main">
            <a:r>
              <a:t/>
            </a:r>
          </a:p>
          <a:p xmlns:a="http://schemas.openxmlformats.org/drawingml/2006/main">
            <a:r>
              <a:t>Continue to</a:t>
            </a:r>
          </a:p>
          <a:p xmlns:a="http://schemas.openxmlformats.org/drawingml/2006/main">
            <a:r>
              <a:t>A loop repeats an indented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loop repeats an indented block</a:t>
            </a:r>
          </a:p>
          <a:p xmlns:a="http://schemas.openxmlformats.org/drawingml/2006/main">
            <a:r>
              <a:t>CML3113, Week 4, slide 17</a:t>
            </a:r>
          </a:p>
          <a:p xmlns:a="http://schemas.openxmlformats.org/drawingml/2006/main">
            <a:r>
              <a:t/>
            </a:r>
          </a:p>
          <a:p xmlns:a="http://schemas.openxmlformats.org/drawingml/2006/main">
            <a:r>
              <a:t>Explanation to give</a:t>
            </a:r>
          </a:p>
          <a:p xmlns:a="http://schemas.openxmlformats.org/drawingml/2006/main">
            <a:r>
              <a:t>Read for item in values as “take one value, call it item, execute the indented body, then take the next value”. The loop name temporarily refers to the current item.</a:t>
            </a:r>
          </a:p>
          <a:p xmlns:a="http://schemas.openxmlformats.org/drawingml/2006/main">
            <a:r>
              <a:t/>
            </a:r>
          </a:p>
          <a:p xmlns:a="http://schemas.openxmlformats.org/drawingml/2006/main">
            <a:r>
              <a:t>Worked illustration / lecturer answer</a:t>
            </a:r>
          </a:p>
          <a:p xmlns:a="http://schemas.openxmlformats.org/drawingml/2006/main">
            <a:r>
              <a:t>For values [2, 4, 6], print(item) produces 2, then 4, then 6. With count initially zero and one increment per visit, the final count is 3.</a:t>
            </a:r>
          </a:p>
          <a:p xmlns:a="http://schemas.openxmlformats.org/drawingml/2006/main">
            <a:r>
              <a:t/>
            </a:r>
          </a:p>
          <a:p xmlns:a="http://schemas.openxmlformats.org/drawingml/2006/main">
            <a:r>
              <a:t>Misconception to address</a:t>
            </a:r>
          </a:p>
          <a:p xmlns:a="http://schemas.openxmlformats.org/drawingml/2006/main">
            <a:r>
              <a:t>The loop variable does not refer to the whole list. A statement after the indentation ends runs after the loop, not once per item.</a:t>
            </a:r>
          </a:p>
          <a:p xmlns:a="http://schemas.openxmlformats.org/drawingml/2006/main">
            <a:r>
              <a:t/>
            </a:r>
          </a:p>
          <a:p xmlns:a="http://schemas.openxmlformats.org/drawingml/2006/main">
            <a:r>
              <a:t>On this slide</a:t>
            </a:r>
          </a:p>
          <a:p xmlns:a="http://schemas.openxmlformats.org/drawingml/2006/main">
            <a:r>
              <a:t>for reading in readings: takes one item at a time.</a:t>
            </a:r>
          </a:p>
          <a:p xmlns:a="http://schemas.openxmlformats.org/drawingml/2006/main">
            <a:r>
              <a:t/>
            </a:r>
          </a:p>
          <a:p xmlns:a="http://schemas.openxmlformats.org/drawingml/2006/main">
            <a:r>
              <a:t>The colon starts the block. Four spaces show which lines repeat.</a:t>
            </a:r>
          </a:p>
          <a:p xmlns:a="http://schemas.openxmlformats.org/drawingml/2006/main">
            <a:r>
              <a:t/>
            </a:r>
          </a:p>
          <a:p xmlns:a="http://schemas.openxmlformats.org/drawingml/2006/main">
            <a:r>
              <a:t>A running total must start at zero before the loop.</a:t>
            </a:r>
          </a:p>
          <a:p xmlns:a="http://schemas.openxmlformats.org/drawingml/2006/main">
            <a:r>
              <a:t/>
            </a:r>
          </a:p>
          <a:p xmlns:a="http://schemas.openxmlformats.org/drawingml/2006/main">
            <a:r>
              <a:t>Continue to</a:t>
            </a:r>
          </a:p>
          <a:p xmlns:a="http://schemas.openxmlformats.org/drawingml/2006/main">
            <a:r>
              <a:t>A mean uses a total and a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mean uses a total and a count</a:t>
            </a:r>
          </a:p>
          <a:p xmlns:a="http://schemas.openxmlformats.org/drawingml/2006/main">
            <a:r>
              <a:t>CML3113, Week 4, slide 18</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On this slide</a:t>
            </a:r>
          </a:p>
          <a:p xmlns:a="http://schemas.openxmlformats.org/drawingml/2006/main">
            <a:r>
              <a:t>Start the total at 0. Add 2, then 4, then 6.</a:t>
            </a:r>
          </a:p>
          <a:p xmlns:a="http://schemas.openxmlformats.org/drawingml/2006/main">
            <a:r>
              <a:t/>
            </a:r>
          </a:p>
          <a:p xmlns:a="http://schemas.openxmlformats.org/drawingml/2006/main">
            <a:r>
              <a:t>The final total is 12. The count is 3.</a:t>
            </a:r>
          </a:p>
          <a:p xmlns:a="http://schemas.openxmlformats.org/drawingml/2006/main">
            <a:r>
              <a:t/>
            </a:r>
          </a:p>
          <a:p xmlns:a="http://schemas.openxmlformats.org/drawingml/2006/main">
            <a:r>
              <a:t>12 / 3 gives the mean 4. An empty list needs a separate rule.</a:t>
            </a:r>
          </a:p>
          <a:p xmlns:a="http://schemas.openxmlformats.org/drawingml/2006/main">
            <a:r>
              <a:t/>
            </a:r>
          </a:p>
          <a:p xmlns:a="http://schemas.openxmlformats.org/drawingml/2006/main">
            <a:r>
              <a:t>Continue to</a:t>
            </a:r>
          </a:p>
          <a:p xmlns:a="http://schemas.openxmlformats.org/drawingml/2006/main">
            <a:r>
              <a:t>A loop changes the running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loop changes the running total</a:t>
            </a:r>
          </a:p>
          <a:p xmlns:a="http://schemas.openxmlformats.org/drawingml/2006/main">
            <a:r>
              <a:t>CML3113, Week 4, slide 19</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On this slide</a:t>
            </a:r>
          </a:p>
          <a:p xmlns:a="http://schemas.openxmlformats.org/drawingml/2006/main">
            <a:r>
              <a:t>This illustration uses six separate readings. Next we trace the smaller list [2, 4, 6] using the same running-total rule.</a:t>
            </a:r>
          </a:p>
          <a:p xmlns:a="http://schemas.openxmlformats.org/drawingml/2006/main">
            <a:r>
              <a:t/>
            </a:r>
          </a:p>
          <a:p xmlns:a="http://schemas.openxmlformats.org/drawingml/2006/main">
            <a:r>
              <a:t>Continue to</a:t>
            </a:r>
          </a:p>
          <a:p xmlns:a="http://schemas.openxmlformats.org/drawingml/2006/main">
            <a:r>
              <a:t>Tracing the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Tracing the loop</a:t>
            </a:r>
          </a:p>
          <a:p xmlns:a="http://schemas.openxmlformats.org/drawingml/2006/main">
            <a:r>
              <a:t>CML3113, Week 4, slide 20</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On this slide</a:t>
            </a:r>
          </a:p>
          <a:p xmlns:a="http://schemas.openxmlformats.org/drawingml/2006/main">
            <a:r>
              <a:t>Step | reading | total after addition</a:t>
            </a:r>
          </a:p>
          <a:p xmlns:a="http://schemas.openxmlformats.org/drawingml/2006/main">
            <a:r>
              <a:t>Before loop | — | 0</a:t>
            </a:r>
          </a:p>
          <a:p xmlns:a="http://schemas.openxmlformats.org/drawingml/2006/main">
            <a:r>
              <a:t>First | 2 | 2</a:t>
            </a:r>
          </a:p>
          <a:p xmlns:a="http://schemas.openxmlformats.org/drawingml/2006/main">
            <a:r>
              <a:t>Second | 4 | 6</a:t>
            </a:r>
          </a:p>
          <a:p xmlns:a="http://schemas.openxmlformats.org/drawingml/2006/main">
            <a:r>
              <a:t>Third | 6 | 12</a:t>
            </a:r>
          </a:p>
          <a:p xmlns:a="http://schemas.openxmlformats.org/drawingml/2006/main">
            <a:r>
              <a:t>There are three readings.</a:t>
            </a:r>
          </a:p>
          <a:p xmlns:a="http://schemas.openxmlformats.org/drawingml/2006/main">
            <a:r>
              <a:t/>
            </a:r>
          </a:p>
          <a:p xmlns:a="http://schemas.openxmlformats.org/drawingml/2006/main">
            <a:r>
              <a:t>Continue to</a:t>
            </a:r>
          </a:p>
          <a:p xmlns:a="http://schemas.openxmlformats.org/drawingml/2006/main">
            <a:r>
              <a:t>Lists loops and records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Lists loops and records in Python</a:t>
            </a:r>
          </a:p>
          <a:p xmlns:a="http://schemas.openxmlformats.org/drawingml/2006/main">
            <a:r>
              <a:t>CML3113, Week 4, slide 21</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Read the displayed code line by line</a:t>
            </a:r>
          </a:p>
          <a:p xmlns:a="http://schemas.openxmlformats.org/drawingml/2006/main">
            <a:r>
              <a:t>readings = [2, 4, 6]</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total = 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for reading in readings:</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total = total + reading</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mean = total / len(readings)</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print(mean)</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Lists loops and records results</a:t>
            </a:r>
          </a:p>
          <a:p xmlns:a="http://schemas.openxmlformats.org/drawingml/2006/main">
            <a:r>
              <a:t/>
            </a:r>
          </a:p>
          <a:p xmlns:a="http://schemas.openxmlformats.org/drawingml/2006/main">
            <a:r>
              <a:t>Output from the supplied CSV (this cohort):</a:t>
            </a:r>
          </a:p>
          <a:p xmlns:a="http://schemas.openxmlformats.org/drawingml/2006/main">
            <a:r>
              <a:t>4.0</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Lists loops and records results</a:t>
            </a:r>
          </a:p>
          <a:p xmlns:a="http://schemas.openxmlformats.org/drawingml/2006/main">
            <a:r>
              <a:t>CML3113, Week 4, slide 22</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On this slide</a:t>
            </a:r>
          </a:p>
          <a:p xmlns:a="http://schemas.openxmlformats.org/drawingml/2006/main">
            <a:r>
              <a:t>4.0</a:t>
            </a:r>
          </a:p>
          <a:p xmlns:a="http://schemas.openxmlformats.org/drawingml/2006/main">
            <a:r>
              <a:t/>
            </a:r>
          </a:p>
          <a:p xmlns:a="http://schemas.openxmlformats.org/drawingml/2006/main">
            <a:r>
              <a:t>Continue to</a:t>
            </a:r>
          </a:p>
          <a:p xmlns:a="http://schemas.openxmlformats.org/drawingml/2006/main">
            <a:r>
              <a:t>The built-in summary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built-in summary functions</a:t>
            </a:r>
          </a:p>
          <a:p xmlns:a="http://schemas.openxmlformats.org/drawingml/2006/main">
            <a:r>
              <a:t>CML3113, Week 4, slide 23</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On this slide</a:t>
            </a:r>
          </a:p>
          <a:p xmlns:a="http://schemas.openxmlformats.org/drawingml/2006/main">
            <a:r>
              <a:t>Function | Question it answers | For [2, 4, 6]</a:t>
            </a:r>
          </a:p>
          <a:p xmlns:a="http://schemas.openxmlformats.org/drawingml/2006/main">
            <a:r>
              <a:t>len | How many items? | 3</a:t>
            </a:r>
          </a:p>
          <a:p xmlns:a="http://schemas.openxmlformats.org/drawingml/2006/main">
            <a:r>
              <a:t>sum | What is their total? | 12</a:t>
            </a:r>
          </a:p>
          <a:p xmlns:a="http://schemas.openxmlformats.org/drawingml/2006/main">
            <a:r>
              <a:t>min | Which is smallest? | 2</a:t>
            </a:r>
          </a:p>
          <a:p xmlns:a="http://schemas.openxmlformats.org/drawingml/2006/main">
            <a:r>
              <a:t>max | Which is largest? | 6</a:t>
            </a:r>
          </a:p>
          <a:p xmlns:a="http://schemas.openxmlformats.org/drawingml/2006/main">
            <a:r>
              <a:t>These functions already exist in Python. min and max need at least one item unless an explicit default is supplied.</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Built-in summaries of a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Built-in summaries of a list</a:t>
            </a:r>
          </a:p>
          <a:p xmlns:a="http://schemas.openxmlformats.org/drawingml/2006/main">
            <a:r>
              <a:t>CML3113, Week 4, slide 24</a:t>
            </a:r>
          </a:p>
          <a:p xmlns:a="http://schemas.openxmlformats.org/drawingml/2006/main">
            <a:r>
              <a:t/>
            </a:r>
          </a:p>
          <a:p xmlns:a="http://schemas.openxmlformats.org/drawingml/2006/main">
            <a:r>
              <a:t>Explanation to give</a:t>
            </a:r>
          </a:p>
          <a:p xmlns:a="http://schemas.openxmlformats.org/drawingml/2006/main">
            <a:r>
              <a:t>An accumulator keeps the result built so far. Initialise total before the loop, add the current reading during each visit, and calculate the mean only after all readings have been counted.</a:t>
            </a:r>
          </a:p>
          <a:p xmlns:a="http://schemas.openxmlformats.org/drawingml/2006/main">
            <a:r>
              <a:t/>
            </a:r>
          </a:p>
          <a:p xmlns:a="http://schemas.openxmlformats.org/drawingml/2006/main">
            <a:r>
              <a:t>Worked illustration / lecturer answer</a:t>
            </a:r>
          </a:p>
          <a:p xmlns:a="http://schemas.openxmlformats.org/drawingml/2006/main">
            <a:r>
              <a:t>For [2, 4, 6], total changes 0 to 2 to 6 to 12. The count is 3, so the mean is 12 / 3 = 4.0. sum, len, min and max report 12, 3, 2 and 6.</a:t>
            </a:r>
          </a:p>
          <a:p xmlns:a="http://schemas.openxmlformats.org/drawingml/2006/main">
            <a:r>
              <a:t/>
            </a:r>
          </a:p>
          <a:p xmlns:a="http://schemas.openxmlformats.org/drawingml/2006/main">
            <a:r>
              <a:t>Misconception to address</a:t>
            </a:r>
          </a:p>
          <a:p xmlns:a="http://schemas.openxmlformats.org/drawingml/2006/main">
            <a:r>
              <a:t>An empty list has count zero, so dividing by its count fails. The issued task must define the empty-data behaviour; do not silently invent a reading.</a:t>
            </a:r>
          </a:p>
          <a:p xmlns:a="http://schemas.openxmlformats.org/drawingml/2006/main">
            <a:r>
              <a:t/>
            </a:r>
          </a:p>
          <a:p xmlns:a="http://schemas.openxmlformats.org/drawingml/2006/main">
            <a:r>
              <a:t>Read the displayed code line by line</a:t>
            </a:r>
          </a:p>
          <a:p xmlns:a="http://schemas.openxmlformats.org/drawingml/2006/main">
            <a:r>
              <a:t>readings = [2, 4, 6]</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print(sum(readings))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print(len(readings))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print(min(readings))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print(max(readings))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12, 3, 2, 6. sum totals; len counts; min and max select the smallest and largest.</a:t>
            </a:r>
          </a:p>
          <a:p xmlns:a="http://schemas.openxmlformats.org/drawingml/2006/main">
            <a:r>
              <a:t/>
            </a:r>
          </a:p>
          <a:p xmlns:a="http://schemas.openxmlformats.org/drawingml/2006/main">
            <a:r>
              <a:t>Continue to</a:t>
            </a:r>
          </a:p>
          <a:p xmlns:a="http://schemas.openxmlformats.org/drawingml/2006/main">
            <a:r>
              <a:t>A while loop checks before each repetition</a:t>
            </a:r>
          </a:p>
          <a:p xmlns:a="http://schemas.openxmlformats.org/drawingml/2006/main">
            <a:r>
              <a:t/>
            </a:r>
          </a:p>
          <a:p xmlns:a="http://schemas.openxmlformats.org/drawingml/2006/main">
            <a:r>
              <a:t>Output from the supplied CSV (this cohort):</a:t>
            </a:r>
          </a:p>
          <a:p xmlns:a="http://schemas.openxmlformats.org/drawingml/2006/main">
            <a:r>
              <a:t>12</a:t>
            </a:r>
          </a:p>
          <a:p xmlns:a="http://schemas.openxmlformats.org/drawingml/2006/main">
            <a:r>
              <a:t>3</a:t>
            </a:r>
          </a:p>
          <a:p xmlns:a="http://schemas.openxmlformats.org/drawingml/2006/main">
            <a:r>
              <a:t>2</a:t>
            </a:r>
          </a:p>
          <a:p xmlns:a="http://schemas.openxmlformats.org/drawingml/2006/main">
            <a:r>
              <a:t>6</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12</a:t>
            </a:r>
          </a:p>
          <a:p xmlns:a="http://schemas.openxmlformats.org/drawingml/2006/main">
            <a:r>
              <a:t>3</a:t>
            </a:r>
          </a:p>
          <a:p xmlns:a="http://schemas.openxmlformats.org/drawingml/2006/main">
            <a:r>
              <a:t>2</a:t>
            </a:r>
          </a:p>
          <a:p xmlns:a="http://schemas.openxmlformats.org/drawingml/2006/main">
            <a:r>
              <a:t>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while loop checks before each repetition</a:t>
            </a:r>
          </a:p>
          <a:p xmlns:a="http://schemas.openxmlformats.org/drawingml/2006/main">
            <a:r>
              <a:t>CML3113, Week 4, slide 25</a:t>
            </a:r>
          </a:p>
          <a:p xmlns:a="http://schemas.openxmlformats.org/drawingml/2006/main">
            <a:r>
              <a:t/>
            </a:r>
          </a:p>
          <a:p xmlns:a="http://schemas.openxmlformats.org/drawingml/2006/main">
            <a:r>
              <a:t>Explanation to give</a:t>
            </a:r>
          </a:p>
          <a:p xmlns:a="http://schemas.openxmlformats.org/drawingml/2006/main">
            <a:r>
              <a:t>while tests a condition before each iteration. Unlike for over a fixed list, it needs a route that eventually makes the condition False. Trace both the test and the state update.</a:t>
            </a:r>
          </a:p>
          <a:p xmlns:a="http://schemas.openxmlformats.org/drawingml/2006/main">
            <a:r>
              <a:t/>
            </a:r>
          </a:p>
          <a:p xmlns:a="http://schemas.openxmlformats.org/drawingml/2006/main">
            <a:r>
              <a:t>Worked illustration / lecturer answer</a:t>
            </a:r>
          </a:p>
          <a:p xmlns:a="http://schemas.openxmlformats.org/drawingml/2006/main">
            <a:r>
              <a:t>With count = 0 and while count &lt; 3, print then increment yields 0, 1 and 2. The next test sees count 3 and stops before printing it.</a:t>
            </a:r>
          </a:p>
          <a:p xmlns:a="http://schemas.openxmlformats.org/drawingml/2006/main">
            <a:r>
              <a:t/>
            </a:r>
          </a:p>
          <a:p xmlns:a="http://schemas.openxmlformats.org/drawingml/2006/main">
            <a:r>
              <a:t>Misconception to address</a:t>
            </a:r>
          </a:p>
          <a:p xmlns:a="http://schemas.openxmlformats.org/drawingml/2006/main">
            <a:r>
              <a:t>If count is never updated, the condition stays True. Interrupt a stuck runtime rather than waiting indefinitely, then identify the missing update.</a:t>
            </a:r>
          </a:p>
          <a:p xmlns:a="http://schemas.openxmlformats.org/drawingml/2006/main">
            <a:r>
              <a:t/>
            </a:r>
          </a:p>
          <a:p xmlns:a="http://schemas.openxmlformats.org/drawingml/2006/main">
            <a:r>
              <a:t>On this slide</a:t>
            </a:r>
          </a:p>
          <a:p xmlns:a="http://schemas.openxmlformats.org/drawingml/2006/main">
            <a:r>
              <a:t>while count &lt; 3: tests the condition before entering its indented block. True enters the block; False skips it and continues after the loop.</a:t>
            </a:r>
          </a:p>
          <a:p xmlns:a="http://schemas.openxmlformats.org/drawingml/2006/main">
            <a:r>
              <a:t/>
            </a:r>
          </a:p>
          <a:p xmlns:a="http://schemas.openxmlformats.org/drawingml/2006/main">
            <a:r>
              <a:t>At the end of the body, return to the condition and test again. Unlike for, while does not automatically move to the next list item.</a:t>
            </a:r>
          </a:p>
          <a:p xmlns:a="http://schemas.openxmlformats.org/drawingml/2006/main">
            <a:r>
              <a:t/>
            </a:r>
          </a:p>
          <a:p xmlns:a="http://schemas.openxmlformats.org/drawingml/2006/main">
            <a:r>
              <a:t>Something must make the condition become False, or the loop may continue indefinitely. In our example, count increases on every iteration.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while loop with a stopping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while loop with a stopping condition</a:t>
            </a:r>
          </a:p>
          <a:p xmlns:a="http://schemas.openxmlformats.org/drawingml/2006/main">
            <a:r>
              <a:t>CML3113, Week 4, slide 26</a:t>
            </a:r>
          </a:p>
          <a:p xmlns:a="http://schemas.openxmlformats.org/drawingml/2006/main">
            <a:r>
              <a:t/>
            </a:r>
          </a:p>
          <a:p xmlns:a="http://schemas.openxmlformats.org/drawingml/2006/main">
            <a:r>
              <a:t>Explanation to give</a:t>
            </a:r>
          </a:p>
          <a:p xmlns:a="http://schemas.openxmlformats.org/drawingml/2006/main">
            <a:r>
              <a:t>while tests a condition before each iteration. Unlike for over a fixed list, it needs a route that eventually makes the condition False. Trace both the test and the state update.</a:t>
            </a:r>
          </a:p>
          <a:p xmlns:a="http://schemas.openxmlformats.org/drawingml/2006/main">
            <a:r>
              <a:t/>
            </a:r>
          </a:p>
          <a:p xmlns:a="http://schemas.openxmlformats.org/drawingml/2006/main">
            <a:r>
              <a:t>Worked illustration / lecturer answer</a:t>
            </a:r>
          </a:p>
          <a:p xmlns:a="http://schemas.openxmlformats.org/drawingml/2006/main">
            <a:r>
              <a:t>With count = 0 and while count &lt; 3, print then increment yields 0, 1 and 2. The next test sees count 3 and stops before printing it.</a:t>
            </a:r>
          </a:p>
          <a:p xmlns:a="http://schemas.openxmlformats.org/drawingml/2006/main">
            <a:r>
              <a:t/>
            </a:r>
          </a:p>
          <a:p xmlns:a="http://schemas.openxmlformats.org/drawingml/2006/main">
            <a:r>
              <a:t>Misconception to address</a:t>
            </a:r>
          </a:p>
          <a:p xmlns:a="http://schemas.openxmlformats.org/drawingml/2006/main">
            <a:r>
              <a:t>If count is never updated, the condition stays True. Interrupt a stuck runtime rather than waiting indefinitely, then identify the missing update.</a:t>
            </a:r>
          </a:p>
          <a:p xmlns:a="http://schemas.openxmlformats.org/drawingml/2006/main">
            <a:r>
              <a:t/>
            </a:r>
          </a:p>
          <a:p xmlns:a="http://schemas.openxmlformats.org/drawingml/2006/main">
            <a:r>
              <a:t>Read the displayed code line by line</a:t>
            </a:r>
          </a:p>
          <a:p xmlns:a="http://schemas.openxmlformats.org/drawingml/2006/main">
            <a:r>
              <a:t>count = 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while count &lt; 3:</a:t>
            </a:r>
          </a:p>
          <a:p xmlns:a="http://schemas.openxmlformats.org/drawingml/2006/main">
            <a:r>
              <a:t>Test this condition before each repetition. Stop when it becomes False.</a:t>
            </a:r>
          </a:p>
          <a:p xmlns:a="http://schemas.openxmlformats.org/drawingml/2006/main">
            <a:r>
              <a:t/>
            </a:r>
          </a:p>
          <a:p xmlns:a="http://schemas.openxmlformats.org/drawingml/2006/main">
            <a:r>
              <a:t>print(count)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count = count + 1</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print("finished")</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0; 1; 2; finished</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the while condition and update</a:t>
            </a:r>
          </a:p>
          <a:p xmlns:a="http://schemas.openxmlformats.org/drawingml/2006/main">
            <a:r>
              <a:t/>
            </a:r>
          </a:p>
          <a:p xmlns:a="http://schemas.openxmlformats.org/drawingml/2006/main">
            <a:r>
              <a:t>Output from the supplied CSV (this cohort):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finished</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0</a:t>
            </a:r>
          </a:p>
          <a:p xmlns:a="http://schemas.openxmlformats.org/drawingml/2006/main">
            <a:r>
              <a:t>1</a:t>
            </a:r>
          </a:p>
          <a:p xmlns:a="http://schemas.openxmlformats.org/drawingml/2006/main">
            <a:r>
              <a:t>2</a:t>
            </a:r>
          </a:p>
          <a:p xmlns:a="http://schemas.openxmlformats.org/drawingml/2006/main">
            <a:r>
              <a:t>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while condition and update</a:t>
            </a:r>
          </a:p>
          <a:p xmlns:a="http://schemas.openxmlformats.org/drawingml/2006/main">
            <a:r>
              <a:t>CML3113, Week 4, slide 27</a:t>
            </a:r>
          </a:p>
          <a:p xmlns:a="http://schemas.openxmlformats.org/drawingml/2006/main">
            <a:r>
              <a:t/>
            </a:r>
          </a:p>
          <a:p xmlns:a="http://schemas.openxmlformats.org/drawingml/2006/main">
            <a:r>
              <a:t>Explanation to give</a:t>
            </a:r>
          </a:p>
          <a:p xmlns:a="http://schemas.openxmlformats.org/drawingml/2006/main">
            <a:r>
              <a:t>while tests a condition before each iteration. Unlike for over a fixed list, it needs a route that eventually makes the condition False. Trace both the test and the state update.</a:t>
            </a:r>
          </a:p>
          <a:p xmlns:a="http://schemas.openxmlformats.org/drawingml/2006/main">
            <a:r>
              <a:t/>
            </a:r>
          </a:p>
          <a:p xmlns:a="http://schemas.openxmlformats.org/drawingml/2006/main">
            <a:r>
              <a:t>Worked illustration / lecturer answer</a:t>
            </a:r>
          </a:p>
          <a:p xmlns:a="http://schemas.openxmlformats.org/drawingml/2006/main">
            <a:r>
              <a:t>With count = 0 and while count &lt; 3, print then increment yields 0, 1 and 2. The next test sees count 3 and stops before printing it.</a:t>
            </a:r>
          </a:p>
          <a:p xmlns:a="http://schemas.openxmlformats.org/drawingml/2006/main">
            <a:r>
              <a:t/>
            </a:r>
          </a:p>
          <a:p xmlns:a="http://schemas.openxmlformats.org/drawingml/2006/main">
            <a:r>
              <a:t>Misconception to address</a:t>
            </a:r>
          </a:p>
          <a:p xmlns:a="http://schemas.openxmlformats.org/drawingml/2006/main">
            <a:r>
              <a:t>If count is never updated, the condition stays True. Interrupt a stuck runtime rather than waiting indefinitely, then identify the missing update.</a:t>
            </a:r>
          </a:p>
          <a:p xmlns:a="http://schemas.openxmlformats.org/drawingml/2006/main">
            <a:r>
              <a:t/>
            </a:r>
          </a:p>
          <a:p xmlns:a="http://schemas.openxmlformats.org/drawingml/2006/main">
            <a:r>
              <a:t>On this slide</a:t>
            </a:r>
          </a:p>
          <a:p xmlns:a="http://schemas.openxmlformats.org/drawingml/2006/main">
            <a:r>
              <a:t>count before test | count &lt; 3 | Body and next count</a:t>
            </a:r>
          </a:p>
          <a:p xmlns:a="http://schemas.openxmlformats.org/drawingml/2006/main">
            <a:r>
              <a:t>0 | True | Print 0; update to 1</a:t>
            </a:r>
          </a:p>
          <a:p xmlns:a="http://schemas.openxmlformats.org/drawingml/2006/main">
            <a:r>
              <a:t>1 | True | Print 1; update to 2</a:t>
            </a:r>
          </a:p>
          <a:p xmlns:a="http://schemas.openxmlformats.org/drawingml/2006/main">
            <a:r>
              <a:t>2 | True | Print 2; update to 3</a:t>
            </a:r>
          </a:p>
          <a:p xmlns:a="http://schemas.openxmlformats.org/drawingml/2006/main">
            <a:r>
              <a:t>3 | False | Skip body; print finished</a:t>
            </a:r>
          </a:p>
          <a:p xmlns:a="http://schemas.openxmlformats.org/drawingml/2006/main">
            <a:r>
              <a:t>If count starts at 3, the body runs zero times. The condition is tested first.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Preventing an endless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Preventing an endless loop</a:t>
            </a:r>
          </a:p>
          <a:p xmlns:a="http://schemas.openxmlformats.org/drawingml/2006/main">
            <a:r>
              <a:t>CML3113, Week 4, slide 28</a:t>
            </a:r>
          </a:p>
          <a:p xmlns:a="http://schemas.openxmlformats.org/drawingml/2006/main">
            <a:r>
              <a:t/>
            </a:r>
          </a:p>
          <a:p xmlns:a="http://schemas.openxmlformats.org/drawingml/2006/main">
            <a:r>
              <a:t>Explanation to give</a:t>
            </a:r>
          </a:p>
          <a:p xmlns:a="http://schemas.openxmlformats.org/drawingml/2006/main">
            <a:r>
              <a:t>while tests a condition before each iteration. Unlike for over a fixed list, it needs a route that eventually makes the condition False. Trace both the test and the state update.</a:t>
            </a:r>
          </a:p>
          <a:p xmlns:a="http://schemas.openxmlformats.org/drawingml/2006/main">
            <a:r>
              <a:t/>
            </a:r>
          </a:p>
          <a:p xmlns:a="http://schemas.openxmlformats.org/drawingml/2006/main">
            <a:r>
              <a:t>Worked illustration / lecturer answer</a:t>
            </a:r>
          </a:p>
          <a:p xmlns:a="http://schemas.openxmlformats.org/drawingml/2006/main">
            <a:r>
              <a:t>With count = 0 and while count &lt; 3, print then increment yields 0, 1 and 2. The next test sees count 3 and stops before printing it.</a:t>
            </a:r>
          </a:p>
          <a:p xmlns:a="http://schemas.openxmlformats.org/drawingml/2006/main">
            <a:r>
              <a:t/>
            </a:r>
          </a:p>
          <a:p xmlns:a="http://schemas.openxmlformats.org/drawingml/2006/main">
            <a:r>
              <a:t>Misconception to address</a:t>
            </a:r>
          </a:p>
          <a:p xmlns:a="http://schemas.openxmlformats.org/drawingml/2006/main">
            <a:r>
              <a:t>If count is never updated, the condition stays True. Interrupt a stuck runtime rather than waiting indefinitely, then identify the missing update.</a:t>
            </a:r>
          </a:p>
          <a:p xmlns:a="http://schemas.openxmlformats.org/drawingml/2006/main">
            <a:r>
              <a:t/>
            </a:r>
          </a:p>
          <a:p xmlns:a="http://schemas.openxmlformats.org/drawingml/2006/main">
            <a:r>
              <a:t>On this slide</a:t>
            </a:r>
          </a:p>
          <a:p xmlns:a="http://schemas.openxmlformats.org/drawingml/2006/main">
            <a:r>
              <a:t>If the update is missing, count remains 0. The question 0 &lt; 3 stays True, so the body keeps running.</a:t>
            </a:r>
          </a:p>
          <a:p xmlns:a="http://schemas.openxmlformats.org/drawingml/2006/main">
            <a:r>
              <a:t/>
            </a:r>
          </a:p>
          <a:p xmlns:a="http://schemas.openxmlformats.org/drawingml/2006/main">
            <a:r>
              <a:t>In Colab, click the running cell’s stop button or use Runtime → Interrupt execution. Fix the condition or update before running again.</a:t>
            </a:r>
          </a:p>
          <a:p xmlns:a="http://schemas.openxmlformats.org/drawingml/2006/main">
            <a:r>
              <a:t/>
            </a:r>
          </a:p>
          <a:p xmlns:a="http://schemas.openxmlformats.org/drawingml/2006/main">
            <a:r>
              <a:t>Do not run an intentionally endless example. Trace the unchanged value on the slide to see why it would fail.</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Choosing if for or while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Choosing if for or while</a:t>
            </a:r>
          </a:p>
          <a:p xmlns:a="http://schemas.openxmlformats.org/drawingml/2006/main">
            <a:r>
              <a:t>CML3113, Week 4, slide 29</a:t>
            </a:r>
          </a:p>
          <a:p xmlns:a="http://schemas.openxmlformats.org/drawingml/2006/main">
            <a:r>
              <a:t/>
            </a:r>
          </a:p>
          <a:p xmlns:a="http://schemas.openxmlformats.org/drawingml/2006/main">
            <a:r>
              <a:t>Explanation to give</a:t>
            </a:r>
          </a:p>
          <a:p xmlns:a="http://schemas.openxmlformats.org/drawingml/2006/main">
            <a:r>
              <a:t>if makes a decision once, for visits members of a collection, and while repeats while a condition remains True. Choose the construct by the job before writing syntax.</a:t>
            </a:r>
          </a:p>
          <a:p xmlns:a="http://schemas.openxmlformats.org/drawingml/2006/main">
            <a:r>
              <a:t/>
            </a:r>
          </a:p>
          <a:p xmlns:a="http://schemas.openxmlformats.org/drawingml/2006/main">
            <a:r>
              <a:t>Worked illustration / lecturer answer</a:t>
            </a:r>
          </a:p>
          <a:p xmlns:a="http://schemas.openxmlformats.org/drawingml/2006/main">
            <a:r>
              <a:t>For three recorded temperatures, for visits all three. Inside it, if reading &gt; 30 decides whether to count that observation. while is appropriate when repetition depends on a changing condition.</a:t>
            </a:r>
          </a:p>
          <a:p xmlns:a="http://schemas.openxmlformats.org/drawingml/2006/main">
            <a:r>
              <a:t/>
            </a:r>
          </a:p>
          <a:p xmlns:a="http://schemas.openxmlformats.org/drawingml/2006/main">
            <a:r>
              <a:t>Misconception to address</a:t>
            </a:r>
          </a:p>
          <a:p xmlns:a="http://schemas.openxmlformats.org/drawingml/2006/main">
            <a:r>
              <a:t>A loop and a condition can appear together. They answer different questions: how often to repeat, and whether this item qualifies.</a:t>
            </a:r>
          </a:p>
          <a:p xmlns:a="http://schemas.openxmlformats.org/drawingml/2006/main">
            <a:r>
              <a:t/>
            </a:r>
          </a:p>
          <a:p xmlns:a="http://schemas.openxmlformats.org/drawingml/2006/main">
            <a:r>
              <a:t>On this slide</a:t>
            </a:r>
          </a:p>
          <a:p xmlns:a="http://schemas.openxmlformats.org/drawingml/2006/main">
            <a:r>
              <a:t>Construct | Purpose | When it finishes</a:t>
            </a:r>
          </a:p>
          <a:p xmlns:a="http://schemas.openxmlformats.org/drawingml/2006/main">
            <a:r>
              <a:t>if / else | Choose a path once | After the chosen block</a:t>
            </a:r>
          </a:p>
          <a:p xmlns:a="http://schemas.openxmlformats.org/drawingml/2006/main">
            <a:r>
              <a:t>for | Visit supplied items | When items are exhausted</a:t>
            </a:r>
          </a:p>
          <a:p xmlns:a="http://schemas.openxmlformats.org/drawingml/2006/main">
            <a:r>
              <a:t>while | Repeat while True | When condition becomes False</a:t>
            </a:r>
          </a:p>
          <a:p xmlns:a="http://schemas.openxmlformats.org/drawingml/2006/main">
            <a:r>
              <a:t>A condition alone does not imply repetition: if tests once; while tests again after its body.</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range supplies a sequence of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range supplies a sequence of integers</a:t>
            </a:r>
          </a:p>
          <a:p xmlns:a="http://schemas.openxmlformats.org/drawingml/2006/main">
            <a:r>
              <a:t>CML3113, Week 4, slide 30</a:t>
            </a:r>
          </a:p>
          <a:p xmlns:a="http://schemas.openxmlformats.org/drawingml/2006/main">
            <a:r>
              <a:t/>
            </a:r>
          </a:p>
          <a:p xmlns:a="http://schemas.openxmlformats.org/drawingml/2006/main">
            <a:r>
              <a:t>Explanation to give</a:t>
            </a:r>
          </a:p>
          <a:p xmlns:a="http://schemas.openxmlformats.org/drawingml/2006/main">
            <a:r>
              <a:t>range supplies integers in order. Its stop value is excluded. Say the sequence out loud before executing the loop so the boundary is visible.</a:t>
            </a:r>
          </a:p>
          <a:p xmlns:a="http://schemas.openxmlformats.org/drawingml/2006/main">
            <a:r>
              <a:t/>
            </a:r>
          </a:p>
          <a:p xmlns:a="http://schemas.openxmlformats.org/drawingml/2006/main">
            <a:r>
              <a:t>Worked illustration / lecturer answer</a:t>
            </a:r>
          </a:p>
          <a:p xmlns:a="http://schemas.openxmlformats.org/drawingml/2006/main">
            <a:r>
              <a:t>range(3) supplies 0, 1, 2. range(1, 4) supplies 1, 2, 3. Both provide three integers but different starting points.</a:t>
            </a:r>
          </a:p>
          <a:p xmlns:a="http://schemas.openxmlformats.org/drawingml/2006/main">
            <a:r>
              <a:t/>
            </a:r>
          </a:p>
          <a:p xmlns:a="http://schemas.openxmlformats.org/drawingml/2006/main">
            <a:r>
              <a:t>Misconception to address</a:t>
            </a:r>
          </a:p>
          <a:p xmlns:a="http://schemas.openxmlformats.org/drawingml/2006/main">
            <a:r>
              <a:t>The stop value itself is not visited. range counts steps and does not automatically retrieve values from a separate list.</a:t>
            </a:r>
          </a:p>
          <a:p xmlns:a="http://schemas.openxmlformats.org/drawingml/2006/main">
            <a:r>
              <a:t/>
            </a:r>
          </a:p>
          <a:p xmlns:a="http://schemas.openxmlformats.org/drawingml/2006/main">
            <a:r>
              <a:t>On this slide</a:t>
            </a:r>
          </a:p>
          <a:p xmlns:a="http://schemas.openxmlformats.org/drawingml/2006/main">
            <a:r>
              <a:t>range(3) supplies 0, 1 and 2. The stop value 3 is excluded. range(1, 4) supplies 1, 2 and 3.</a:t>
            </a:r>
          </a:p>
          <a:p xmlns:a="http://schemas.openxmlformats.org/drawingml/2006/main">
            <a:r>
              <a:t/>
            </a:r>
          </a:p>
          <a:p xmlns:a="http://schemas.openxmlformats.org/drawingml/2006/main">
            <a:r>
              <a:t>Use range with for when a numbered repetition is useful. The loop still works by taking the next supplied item.</a:t>
            </a:r>
          </a:p>
          <a:p xmlns:a="http://schemas.openxmlformats.org/drawingml/2006/main">
            <a:r>
              <a:t/>
            </a:r>
          </a:p>
          <a:p xmlns:a="http://schemas.openxmlformats.org/drawingml/2006/main">
            <a:r>
              <a:t>range(0, 6, 2) uses a step of 2 and supplies 0, 2, 4. A step is the change between successive numbers; it cannot be zero.</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Repeat with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 with range</a:t>
            </a:r>
          </a:p>
          <a:p xmlns:a="http://schemas.openxmlformats.org/drawingml/2006/main">
            <a:r>
              <a:t>CML3113, Week 4, slide 31</a:t>
            </a:r>
          </a:p>
          <a:p xmlns:a="http://schemas.openxmlformats.org/drawingml/2006/main">
            <a:r>
              <a:t/>
            </a:r>
          </a:p>
          <a:p xmlns:a="http://schemas.openxmlformats.org/drawingml/2006/main">
            <a:r>
              <a:t>Explanation to give</a:t>
            </a:r>
          </a:p>
          <a:p xmlns:a="http://schemas.openxmlformats.org/drawingml/2006/main">
            <a:r>
              <a:t>range supplies integers in order. Its stop value is excluded. Say the sequence out loud before executing the loop so the boundary is visible.</a:t>
            </a:r>
          </a:p>
          <a:p xmlns:a="http://schemas.openxmlformats.org/drawingml/2006/main">
            <a:r>
              <a:t/>
            </a:r>
          </a:p>
          <a:p xmlns:a="http://schemas.openxmlformats.org/drawingml/2006/main">
            <a:r>
              <a:t>Worked illustration / lecturer answer</a:t>
            </a:r>
          </a:p>
          <a:p xmlns:a="http://schemas.openxmlformats.org/drawingml/2006/main">
            <a:r>
              <a:t>range(3) supplies 0, 1, 2. range(1, 4) supplies 1, 2, 3. Both provide three integers but different starting points.</a:t>
            </a:r>
          </a:p>
          <a:p xmlns:a="http://schemas.openxmlformats.org/drawingml/2006/main">
            <a:r>
              <a:t/>
            </a:r>
          </a:p>
          <a:p xmlns:a="http://schemas.openxmlformats.org/drawingml/2006/main">
            <a:r>
              <a:t>Misconception to address</a:t>
            </a:r>
          </a:p>
          <a:p xmlns:a="http://schemas.openxmlformats.org/drawingml/2006/main">
            <a:r>
              <a:t>The stop value itself is not visited. range counts steps and does not automatically retrieve values from a separate list.</a:t>
            </a:r>
          </a:p>
          <a:p xmlns:a="http://schemas.openxmlformats.org/drawingml/2006/main">
            <a:r>
              <a:t/>
            </a:r>
          </a:p>
          <a:p xmlns:a="http://schemas.openxmlformats.org/drawingml/2006/main">
            <a:r>
              <a:t>Read the displayed code line by line</a:t>
            </a:r>
          </a:p>
          <a:p xmlns:a="http://schemas.openxmlformats.org/drawingml/2006/main">
            <a:r>
              <a:t>for attempt in range(1, 4):</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print(attempt)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1; 2; 3</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continue and break change a loop’s path</a:t>
            </a:r>
          </a:p>
          <a:p xmlns:a="http://schemas.openxmlformats.org/drawingml/2006/main">
            <a:r>
              <a:t/>
            </a:r>
          </a:p>
          <a:p xmlns:a="http://schemas.openxmlformats.org/drawingml/2006/main">
            <a:r>
              <a:t>Output from the supplied CSV (this cohort):</a:t>
            </a:r>
          </a:p>
          <a:p xmlns:a="http://schemas.openxmlformats.org/drawingml/2006/main">
            <a:r>
              <a:t>1</a:t>
            </a:r>
          </a:p>
          <a:p xmlns:a="http://schemas.openxmlformats.org/drawingml/2006/main">
            <a:r>
              <a:t>2</a:t>
            </a:r>
          </a:p>
          <a:p xmlns:a="http://schemas.openxmlformats.org/drawingml/2006/main">
            <a:r>
              <a:t>3</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1</a:t>
            </a:r>
          </a:p>
          <a:p xmlns:a="http://schemas.openxmlformats.org/drawingml/2006/main">
            <a:r>
              <a:t>2</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and break change a loop’s path</a:t>
            </a:r>
          </a:p>
          <a:p xmlns:a="http://schemas.openxmlformats.org/drawingml/2006/main">
            <a:r>
              <a:t>CML3113, Week 4, slide 32</a:t>
            </a:r>
          </a:p>
          <a:p xmlns:a="http://schemas.openxmlformats.org/drawingml/2006/main">
            <a:r>
              <a:t/>
            </a:r>
          </a:p>
          <a:p xmlns:a="http://schemas.openxmlformats.org/drawingml/2006/main">
            <a:r>
              <a:t>Explanation to give</a:t>
            </a:r>
          </a:p>
          <a:p xmlns:a="http://schemas.openxmlformats.org/drawingml/2006/main">
            <a:r>
              <a:t>continue ends the current iteration and proceeds to the next item. break ends the nearest enclosing loop completely. Trace the same data twice to show the distinction.</a:t>
            </a:r>
          </a:p>
          <a:p xmlns:a="http://schemas.openxmlformats.org/drawingml/2006/main">
            <a:r>
              <a:t/>
            </a:r>
          </a:p>
          <a:p xmlns:a="http://schemas.openxmlformats.org/drawingml/2006/main">
            <a:r>
              <a:t>Worked illustration / lecturer answer</a:t>
            </a:r>
          </a:p>
          <a:p xmlns:a="http://schemas.openxmlformats.org/drawingml/2006/main">
            <a:r>
              <a:t>Over [1, 2, 3], skipping 2 with continue still allows 3 to be processed. Breaking when 2 is reached prevents both 2's remaining work and the later visit to 3.</a:t>
            </a:r>
          </a:p>
          <a:p xmlns:a="http://schemas.openxmlformats.org/drawingml/2006/main">
            <a:r>
              <a:t/>
            </a:r>
          </a:p>
          <a:p xmlns:a="http://schemas.openxmlformats.org/drawingml/2006/main">
            <a:r>
              <a:t>Misconception to address</a:t>
            </a:r>
          </a:p>
          <a:p xmlns:a="http://schemas.openxmlformats.org/drawingml/2006/main">
            <a:r>
              <a:t>Statements below continue or break in that iteration are skipped. Neither word means “restart the whole notebook”.</a:t>
            </a:r>
          </a:p>
          <a:p xmlns:a="http://schemas.openxmlformats.org/drawingml/2006/main">
            <a:r>
              <a:t/>
            </a:r>
          </a:p>
          <a:p xmlns:a="http://schemas.openxmlformats.org/drawingml/2006/main">
            <a:r>
              <a:t>On this slide</a:t>
            </a:r>
          </a:p>
          <a:p xmlns:a="http://schemas.openxmlformats.org/drawingml/2006/main">
            <a:r>
              <a:t>continue skips the rest of the current iteration, then starts the next iteration. It does not end the whole loop.</a:t>
            </a:r>
          </a:p>
          <a:p xmlns:a="http://schemas.openxmlformats.org/drawingml/2006/main">
            <a:r>
              <a:t/>
            </a:r>
          </a:p>
          <a:p xmlns:a="http://schemas.openxmlformats.org/drawingml/2006/main">
            <a:r>
              <a:t>break exits the nearest enclosing loop immediately. Execution resumes after that loop.</a:t>
            </a:r>
          </a:p>
          <a:p xmlns:a="http://schemas.openxmlformats.org/drawingml/2006/main">
            <a:r>
              <a:t/>
            </a:r>
          </a:p>
          <a:p xmlns:a="http://schemas.openxmlformats.org/drawingml/2006/main">
            <a:r>
              <a:t>Put the condition inside the loop with four spaces. Its action is inside that condition with eight spaces: an indented block inside another block.</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Skip one item using continue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Skip one item using continue</a:t>
            </a:r>
          </a:p>
          <a:p xmlns:a="http://schemas.openxmlformats.org/drawingml/2006/main">
            <a:r>
              <a:t>CML3113, Week 4, slide 33</a:t>
            </a:r>
          </a:p>
          <a:p xmlns:a="http://schemas.openxmlformats.org/drawingml/2006/main">
            <a:r>
              <a:t/>
            </a:r>
          </a:p>
          <a:p xmlns:a="http://schemas.openxmlformats.org/drawingml/2006/main">
            <a:r>
              <a:t>Explanation to give</a:t>
            </a:r>
          </a:p>
          <a:p xmlns:a="http://schemas.openxmlformats.org/drawingml/2006/main">
            <a:r>
              <a:t>continue ends the current iteration and proceeds to the next item. break ends the nearest enclosing loop completely. Trace the same data twice to show the distinction.</a:t>
            </a:r>
          </a:p>
          <a:p xmlns:a="http://schemas.openxmlformats.org/drawingml/2006/main">
            <a:r>
              <a:t/>
            </a:r>
          </a:p>
          <a:p xmlns:a="http://schemas.openxmlformats.org/drawingml/2006/main">
            <a:r>
              <a:t>Worked illustration / lecturer answer</a:t>
            </a:r>
          </a:p>
          <a:p xmlns:a="http://schemas.openxmlformats.org/drawingml/2006/main">
            <a:r>
              <a:t>Over [1, 2, 3], skipping 2 with continue still allows 3 to be processed. Breaking when 2 is reached prevents both 2's remaining work and the later visit to 3.</a:t>
            </a:r>
          </a:p>
          <a:p xmlns:a="http://schemas.openxmlformats.org/drawingml/2006/main">
            <a:r>
              <a:t/>
            </a:r>
          </a:p>
          <a:p xmlns:a="http://schemas.openxmlformats.org/drawingml/2006/main">
            <a:r>
              <a:t>Misconception to address</a:t>
            </a:r>
          </a:p>
          <a:p xmlns:a="http://schemas.openxmlformats.org/drawingml/2006/main">
            <a:r>
              <a:t>Statements below continue or break in that iteration are skipped. Neither word means “restart the whole notebook”.</a:t>
            </a:r>
          </a:p>
          <a:p xmlns:a="http://schemas.openxmlformats.org/drawingml/2006/main">
            <a:r>
              <a:t/>
            </a:r>
          </a:p>
          <a:p xmlns:a="http://schemas.openxmlformats.org/drawingml/2006/main">
            <a:r>
              <a:t>Read the displayed code line by line</a:t>
            </a:r>
          </a:p>
          <a:p xmlns:a="http://schemas.openxmlformats.org/drawingml/2006/main">
            <a:r>
              <a:t>for reading in [2, -1, 6]:</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if reading &lt; 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continue</a:t>
            </a:r>
          </a:p>
          <a:p xmlns:a="http://schemas.openxmlformats.org/drawingml/2006/main">
            <a:r>
              <a:t>Skip the rest of this iteration and proceed to the next item.</a:t>
            </a:r>
          </a:p>
          <a:p xmlns:a="http://schemas.openxmlformats.org/drawingml/2006/main">
            <a:r>
              <a:t/>
            </a:r>
          </a:p>
          <a:p xmlns:a="http://schemas.openxmlformats.org/drawingml/2006/main">
            <a:r>
              <a:t>print(reading)</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2; 6</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Stop at one item using break</a:t>
            </a:r>
          </a:p>
          <a:p xmlns:a="http://schemas.openxmlformats.org/drawingml/2006/main">
            <a:r>
              <a:t/>
            </a:r>
          </a:p>
          <a:p xmlns:a="http://schemas.openxmlformats.org/drawingml/2006/main">
            <a:r>
              <a:t>Output from the supplied CSV (this cohort):</a:t>
            </a:r>
          </a:p>
          <a:p xmlns:a="http://schemas.openxmlformats.org/drawingml/2006/main">
            <a:r>
              <a:t>2</a:t>
            </a:r>
          </a:p>
          <a:p xmlns:a="http://schemas.openxmlformats.org/drawingml/2006/main">
            <a:r>
              <a:t>6</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2</a:t>
            </a:r>
          </a:p>
          <a:p xmlns:a="http://schemas.openxmlformats.org/drawingml/2006/main">
            <a:r>
              <a:t>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Stop at one item using break</a:t>
            </a:r>
          </a:p>
          <a:p xmlns:a="http://schemas.openxmlformats.org/drawingml/2006/main">
            <a:r>
              <a:t>CML3113, Week 4, slide 34</a:t>
            </a:r>
          </a:p>
          <a:p xmlns:a="http://schemas.openxmlformats.org/drawingml/2006/main">
            <a:r>
              <a:t/>
            </a:r>
          </a:p>
          <a:p xmlns:a="http://schemas.openxmlformats.org/drawingml/2006/main">
            <a:r>
              <a:t>Explanation to give</a:t>
            </a:r>
          </a:p>
          <a:p xmlns:a="http://schemas.openxmlformats.org/drawingml/2006/main">
            <a:r>
              <a:t>continue ends the current iteration and proceeds to the next item. break ends the nearest enclosing loop completely. Trace the same data twice to show the distinction.</a:t>
            </a:r>
          </a:p>
          <a:p xmlns:a="http://schemas.openxmlformats.org/drawingml/2006/main">
            <a:r>
              <a:t/>
            </a:r>
          </a:p>
          <a:p xmlns:a="http://schemas.openxmlformats.org/drawingml/2006/main">
            <a:r>
              <a:t>Worked illustration / lecturer answer</a:t>
            </a:r>
          </a:p>
          <a:p xmlns:a="http://schemas.openxmlformats.org/drawingml/2006/main">
            <a:r>
              <a:t>Over [1, 2, 3], skipping 2 with continue still allows 3 to be processed. Breaking when 2 is reached prevents both 2's remaining work and the later visit to 3.</a:t>
            </a:r>
          </a:p>
          <a:p xmlns:a="http://schemas.openxmlformats.org/drawingml/2006/main">
            <a:r>
              <a:t/>
            </a:r>
          </a:p>
          <a:p xmlns:a="http://schemas.openxmlformats.org/drawingml/2006/main">
            <a:r>
              <a:t>Misconception to address</a:t>
            </a:r>
          </a:p>
          <a:p xmlns:a="http://schemas.openxmlformats.org/drawingml/2006/main">
            <a:r>
              <a:t>Statements below continue or break in that iteration are skipped. Neither word means “restart the whole notebook”.</a:t>
            </a:r>
          </a:p>
          <a:p xmlns:a="http://schemas.openxmlformats.org/drawingml/2006/main">
            <a:r>
              <a:t/>
            </a:r>
          </a:p>
          <a:p xmlns:a="http://schemas.openxmlformats.org/drawingml/2006/main">
            <a:r>
              <a:t>Read the displayed code line by line</a:t>
            </a:r>
          </a:p>
          <a:p xmlns:a="http://schemas.openxmlformats.org/drawingml/2006/main">
            <a:r>
              <a:t>for reading in [2, -1, 6]:</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if reading &lt; 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break</a:t>
            </a:r>
          </a:p>
          <a:p xmlns:a="http://schemas.openxmlformats.org/drawingml/2006/main">
            <a:r>
              <a:t>Exit this loop immediately; later items will not be visited.</a:t>
            </a:r>
          </a:p>
          <a:p xmlns:a="http://schemas.openxmlformats.org/drawingml/2006/main">
            <a:r>
              <a:t/>
            </a:r>
          </a:p>
          <a:p xmlns:a="http://schemas.openxmlformats.org/drawingml/2006/main">
            <a:r>
              <a:t>print(reading)</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2</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the two loop controls</a:t>
            </a:r>
          </a:p>
          <a:p xmlns:a="http://schemas.openxmlformats.org/drawingml/2006/main">
            <a:r>
              <a:t/>
            </a:r>
          </a:p>
          <a:p xmlns:a="http://schemas.openxmlformats.org/drawingml/2006/main">
            <a:r>
              <a:t>Output from the supplied CSV (this cohort):</a:t>
            </a:r>
          </a:p>
          <a:p xmlns:a="http://schemas.openxmlformats.org/drawingml/2006/main">
            <a:r>
              <a:t>2</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two loop controls</a:t>
            </a:r>
          </a:p>
          <a:p xmlns:a="http://schemas.openxmlformats.org/drawingml/2006/main">
            <a:r>
              <a:t>CML3113, Week 4, slide 35</a:t>
            </a:r>
          </a:p>
          <a:p xmlns:a="http://schemas.openxmlformats.org/drawingml/2006/main">
            <a:r>
              <a:t/>
            </a:r>
          </a:p>
          <a:p xmlns:a="http://schemas.openxmlformats.org/drawingml/2006/main">
            <a:r>
              <a:t>Explanation to give</a:t>
            </a:r>
          </a:p>
          <a:p xmlns:a="http://schemas.openxmlformats.org/drawingml/2006/main">
            <a:r>
              <a:t>continue ends the current iteration and proceeds to the next item. break ends the nearest enclosing loop completely. Trace the same data twice to show the distinction.</a:t>
            </a:r>
          </a:p>
          <a:p xmlns:a="http://schemas.openxmlformats.org/drawingml/2006/main">
            <a:r>
              <a:t/>
            </a:r>
          </a:p>
          <a:p xmlns:a="http://schemas.openxmlformats.org/drawingml/2006/main">
            <a:r>
              <a:t>Worked illustration / lecturer answer</a:t>
            </a:r>
          </a:p>
          <a:p xmlns:a="http://schemas.openxmlformats.org/drawingml/2006/main">
            <a:r>
              <a:t>Over [1, 2, 3], skipping 2 with continue still allows 3 to be processed. Breaking when 2 is reached prevents both 2's remaining work and the later visit to 3.</a:t>
            </a:r>
          </a:p>
          <a:p xmlns:a="http://schemas.openxmlformats.org/drawingml/2006/main">
            <a:r>
              <a:t/>
            </a:r>
          </a:p>
          <a:p xmlns:a="http://schemas.openxmlformats.org/drawingml/2006/main">
            <a:r>
              <a:t>Misconception to address</a:t>
            </a:r>
          </a:p>
          <a:p xmlns:a="http://schemas.openxmlformats.org/drawingml/2006/main">
            <a:r>
              <a:t>Statements below continue or break in that iteration are skipped. Neither word means “restart the whole notebook”.</a:t>
            </a:r>
          </a:p>
          <a:p xmlns:a="http://schemas.openxmlformats.org/drawingml/2006/main">
            <a:r>
              <a:t/>
            </a:r>
          </a:p>
          <a:p xmlns:a="http://schemas.openxmlformats.org/drawingml/2006/main">
            <a:r>
              <a:t>On this slide</a:t>
            </a:r>
          </a:p>
          <a:p xmlns:a="http://schemas.openxmlformats.org/drawingml/2006/main">
            <a:r>
              <a:t>Input | continue version | break version</a:t>
            </a:r>
          </a:p>
          <a:p xmlns:a="http://schemas.openxmlformats.org/drawingml/2006/main">
            <a:r>
              <a:t>2 | Print 2 | Print 2</a:t>
            </a:r>
          </a:p>
          <a:p xmlns:a="http://schemas.openxmlformats.org/drawingml/2006/main">
            <a:r>
              <a:t>-1 | Skip its print | Exit loop</a:t>
            </a:r>
          </a:p>
          <a:p xmlns:a="http://schemas.openxmlformats.org/drawingml/2006/main">
            <a:r>
              <a:t>6 | Print 6 | Never visited</a:t>
            </a:r>
          </a:p>
          <a:p xmlns:a="http://schemas.openxmlformats.org/drawingml/2006/main">
            <a:r>
              <a:t>Use continue only when skipping is justified by the stated data rule; do not silently discard evidence.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dictionary is a record with named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dictionary is a record with named fields</a:t>
            </a:r>
          </a:p>
          <a:p xmlns:a="http://schemas.openxmlformats.org/drawingml/2006/main">
            <a:r>
              <a:t>CML3113, Week 4, slide 36</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On this slide</a:t>
            </a:r>
          </a:p>
          <a:p xmlns:a="http://schemas.openxmlformats.org/drawingml/2006/main">
            <a:r>
              <a:t>record = {"unit": "A", "reading": 4} stores two key–value pairs. Keys name fields; values hold the information.</a:t>
            </a:r>
          </a:p>
          <a:p xmlns:a="http://schemas.openxmlformats.org/drawingml/2006/main">
            <a:r>
              <a:t/>
            </a:r>
          </a:p>
          <a:p xmlns:a="http://schemas.openxmlformats.org/drawingml/2006/main">
            <a:r>
              <a:t>Braces enclose the dictionary. A colon separates each key from its value and a comma separates pairs. Each key is unique.</a:t>
            </a:r>
          </a:p>
          <a:p xmlns:a="http://schemas.openxmlformats.org/drawingml/2006/main">
            <a:r>
              <a:t/>
            </a:r>
          </a:p>
          <a:p xmlns:a="http://schemas.openxmlformats.org/drawingml/2006/main">
            <a:r>
              <a:t>record["reading"] returns 4. Unlike a list position, "reading" names the field we want.</a:t>
            </a:r>
          </a:p>
          <a:p xmlns:a="http://schemas.openxmlformats.org/drawingml/2006/main">
            <a:r>
              <a:t/>
            </a:r>
          </a:p>
          <a:p xmlns:a="http://schemas.openxmlformats.org/drawingml/2006/main">
            <a:r>
              <a:t>Continue to</a:t>
            </a:r>
          </a:p>
          <a:p xmlns:a="http://schemas.openxmlformats.org/drawingml/2006/main">
            <a:r>
              <a:t>A missing dictionary key and 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missing dictionary key and get</a:t>
            </a:r>
          </a:p>
          <a:p xmlns:a="http://schemas.openxmlformats.org/drawingml/2006/main">
            <a:r>
              <a:t>CML3113, Week 4, slide 37</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On this slide</a:t>
            </a:r>
          </a:p>
          <a:p xmlns:a="http://schemas.openxmlformats.org/drawingml/2006/main">
            <a:r>
              <a:t>record["reading"] requests a known field. If that key does not exist, square-bracket lookup raises KeyError.</a:t>
            </a:r>
          </a:p>
          <a:p xmlns:a="http://schemas.openxmlformats.org/drawingml/2006/main">
            <a:r>
              <a:t/>
            </a:r>
          </a:p>
          <a:p xmlns:a="http://schemas.openxmlformats.org/drawingml/2006/main">
            <a:r>
              <a:t>record.get("missing", 0) asks for that key with a fallback: return 0 if it is absent. This does not add a new key.</a:t>
            </a:r>
          </a:p>
          <a:p xmlns:a="http://schemas.openxmlformats.org/drawingml/2006/main">
            <a:r>
              <a:t/>
            </a:r>
          </a:p>
          <a:p xmlns:a="http://schemas.openxmlformats.org/drawingml/2006/main">
            <a:r>
              <a:t>The second input is the fallback value. Use a fallback only when the task defines what missing information should mean.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Reading and updating a dictionary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and updating a dictionary</a:t>
            </a:r>
          </a:p>
          <a:p xmlns:a="http://schemas.openxmlformats.org/drawingml/2006/main">
            <a:r>
              <a:t>CML3113, Week 4, slide 38</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Read the displayed code line by line</a:t>
            </a:r>
          </a:p>
          <a:p xmlns:a="http://schemas.openxmlformats.org/drawingml/2006/main">
            <a:r>
              <a:t>record = {"unit": "A", "reading": 4}</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print(record["reading"])</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record["reading"] = 6</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print(record["reading"])</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print(record.get("missing", 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4, then 6, then 0. get uses the fallback only when that key is absent.</a:t>
            </a:r>
          </a:p>
          <a:p xmlns:a="http://schemas.openxmlformats.org/drawingml/2006/main">
            <a:r>
              <a:t/>
            </a:r>
          </a:p>
          <a:p xmlns:a="http://schemas.openxmlformats.org/drawingml/2006/main">
            <a:r>
              <a:t>Continue to</a:t>
            </a:r>
          </a:p>
          <a:p xmlns:a="http://schemas.openxmlformats.org/drawingml/2006/main">
            <a:r>
              <a:t>Tuples and unpacking</a:t>
            </a:r>
          </a:p>
          <a:p xmlns:a="http://schemas.openxmlformats.org/drawingml/2006/main">
            <a:r>
              <a:t/>
            </a:r>
          </a:p>
          <a:p xmlns:a="http://schemas.openxmlformats.org/drawingml/2006/main">
            <a:r>
              <a:t>Output from the supplied CSV (this cohort):</a:t>
            </a:r>
          </a:p>
          <a:p xmlns:a="http://schemas.openxmlformats.org/drawingml/2006/main">
            <a:r>
              <a:t>4</a:t>
            </a:r>
          </a:p>
          <a:p xmlns:a="http://schemas.openxmlformats.org/drawingml/2006/main">
            <a:r>
              <a:t>6</a:t>
            </a:r>
          </a:p>
          <a:p xmlns:a="http://schemas.openxmlformats.org/drawingml/2006/main">
            <a:r>
              <a:t>0</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4</a:t>
            </a:r>
          </a:p>
          <a:p xmlns:a="http://schemas.openxmlformats.org/drawingml/2006/main">
            <a:r>
              <a:t>6</a:t>
            </a:r>
          </a:p>
          <a:p xmlns:a="http://schemas.openxmlformats.org/drawingml/2006/main">
            <a:r>
              <a:t>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Tuples and unpacking</a:t>
            </a:r>
          </a:p>
          <a:p xmlns:a="http://schemas.openxmlformats.org/drawingml/2006/main">
            <a:r>
              <a:t>CML3113, Week 4, slide 39</a:t>
            </a:r>
          </a:p>
          <a:p xmlns:a="http://schemas.openxmlformats.org/drawingml/2006/main">
            <a:r>
              <a:t/>
            </a:r>
          </a:p>
          <a:p xmlns:a="http://schemas.openxmlformats.org/drawingml/2006/main">
            <a:r>
              <a:t>Explanation to give</a:t>
            </a:r>
          </a:p>
          <a:p xmlns:a="http://schemas.openxmlformats.org/drawingml/2006/main">
            <a:r>
              <a:t>A tuple keeps positions that cannot be reassigned. Unpacking assigns the items to several names in the same order. Show the number of items and names before running it.</a:t>
            </a:r>
          </a:p>
          <a:p xmlns:a="http://schemas.openxmlformats.org/drawingml/2006/main">
            <a:r>
              <a:t/>
            </a:r>
          </a:p>
          <a:p xmlns:a="http://schemas.openxmlformats.org/drawingml/2006/main">
            <a:r>
              <a:t>Worked illustration / lecturer answer</a:t>
            </a:r>
          </a:p>
          <a:p xmlns:a="http://schemas.openxmlformats.org/drawingml/2006/main">
            <a:r>
              <a:t>point = (2, 3), then x, y = point gives x = 2 and y = 3. The original tuple still exists. record.items() similarly supplies key/value pairs to two loop names.</a:t>
            </a:r>
          </a:p>
          <a:p xmlns:a="http://schemas.openxmlformats.org/drawingml/2006/main">
            <a:r>
              <a:t/>
            </a:r>
          </a:p>
          <a:p xmlns:a="http://schemas.openxmlformats.org/drawingml/2006/main">
            <a:r>
              <a:t>Misconception to address</a:t>
            </a:r>
          </a:p>
          <a:p xmlns:a="http://schemas.openxmlformats.org/drawingml/2006/main">
            <a:r>
              <a:t>Two names need two items. A tuple containing a mutable object does not freeze that object's contents.</a:t>
            </a:r>
          </a:p>
          <a:p xmlns:a="http://schemas.openxmlformats.org/drawingml/2006/main">
            <a:r>
              <a:t/>
            </a:r>
          </a:p>
          <a:p xmlns:a="http://schemas.openxmlformats.org/drawingml/2006/main">
            <a:r>
              <a:t>On this slide</a:t>
            </a:r>
          </a:p>
          <a:p xmlns:a="http://schemas.openxmlformats.org/drawingml/2006/main">
            <a:r>
              <a:t>A tuple stores items in order. point = (2, 3) stores two coordinates; point[0] is 2. You cannot reassign point[0].</a:t>
            </a:r>
          </a:p>
          <a:p xmlns:a="http://schemas.openxmlformats.org/drawingml/2006/main">
            <a:r>
              <a:t/>
            </a:r>
          </a:p>
          <a:p xmlns:a="http://schemas.openxmlformats.org/drawingml/2006/main">
            <a:r>
              <a:t>x, y = point gives the first item to x and the second to y. This is unpacking; the number of names must match the number of items.</a:t>
            </a:r>
          </a:p>
          <a:p xmlns:a="http://schemas.openxmlformats.org/drawingml/2006/main">
            <a:r>
              <a:t/>
            </a:r>
          </a:p>
          <a:p xmlns:a="http://schemas.openxmlformats.org/drawingml/2006/main">
            <a:r>
              <a:t>A tuple prevents replacing its positions. It does not freeze the contents of a mutable object stored inside it.</a:t>
            </a:r>
          </a:p>
          <a:p xmlns:a="http://schemas.openxmlformats.org/drawingml/2006/main">
            <a:r>
              <a:t/>
            </a:r>
          </a:p>
          <a:p xmlns:a="http://schemas.openxmlformats.org/drawingml/2006/main">
            <a:r>
              <a:t>Continue to</a:t>
            </a:r>
          </a:p>
          <a:p xmlns:a="http://schemas.openxmlformats.org/drawingml/2006/main">
            <a:r>
              <a:t>Unpacking a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Unpacking a pair</a:t>
            </a:r>
          </a:p>
          <a:p xmlns:a="http://schemas.openxmlformats.org/drawingml/2006/main">
            <a:r>
              <a:t>CML3113, Week 4, slide 40</a:t>
            </a:r>
          </a:p>
          <a:p xmlns:a="http://schemas.openxmlformats.org/drawingml/2006/main">
            <a:r>
              <a:t/>
            </a:r>
          </a:p>
          <a:p xmlns:a="http://schemas.openxmlformats.org/drawingml/2006/main">
            <a:r>
              <a:t>Explanation to give</a:t>
            </a:r>
          </a:p>
          <a:p xmlns:a="http://schemas.openxmlformats.org/drawingml/2006/main">
            <a:r>
              <a:t>A tuple keeps positions that cannot be reassigned. Unpacking assigns the items to several names in the same order. Show the number of items and names before running it.</a:t>
            </a:r>
          </a:p>
          <a:p xmlns:a="http://schemas.openxmlformats.org/drawingml/2006/main">
            <a:r>
              <a:t/>
            </a:r>
          </a:p>
          <a:p xmlns:a="http://schemas.openxmlformats.org/drawingml/2006/main">
            <a:r>
              <a:t>Worked illustration / lecturer answer</a:t>
            </a:r>
          </a:p>
          <a:p xmlns:a="http://schemas.openxmlformats.org/drawingml/2006/main">
            <a:r>
              <a:t>point = (2, 3), then x, y = point gives x = 2 and y = 3. The original tuple still exists. record.items() similarly supplies key/value pairs to two loop names.</a:t>
            </a:r>
          </a:p>
          <a:p xmlns:a="http://schemas.openxmlformats.org/drawingml/2006/main">
            <a:r>
              <a:t/>
            </a:r>
          </a:p>
          <a:p xmlns:a="http://schemas.openxmlformats.org/drawingml/2006/main">
            <a:r>
              <a:t>Misconception to address</a:t>
            </a:r>
          </a:p>
          <a:p xmlns:a="http://schemas.openxmlformats.org/drawingml/2006/main">
            <a:r>
              <a:t>Two names need two items. A tuple containing a mutable object does not freeze that object's contents.</a:t>
            </a:r>
          </a:p>
          <a:p xmlns:a="http://schemas.openxmlformats.org/drawingml/2006/main">
            <a:r>
              <a:t/>
            </a:r>
          </a:p>
          <a:p xmlns:a="http://schemas.openxmlformats.org/drawingml/2006/main">
            <a:r>
              <a:t>Read the displayed code line by line</a:t>
            </a:r>
          </a:p>
          <a:p xmlns:a="http://schemas.openxmlformats.org/drawingml/2006/main">
            <a:r>
              <a:t>point = (2, 3)</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x, y = point</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print(x)</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print(y)</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2, then 3.</a:t>
            </a:r>
          </a:p>
          <a:p xmlns:a="http://schemas.openxmlformats.org/drawingml/2006/main">
            <a:r>
              <a:t/>
            </a:r>
          </a:p>
          <a:p xmlns:a="http://schemas.openxmlformats.org/drawingml/2006/main">
            <a:r>
              <a:t>Continue to</a:t>
            </a:r>
          </a:p>
          <a:p xmlns:a="http://schemas.openxmlformats.org/drawingml/2006/main">
            <a:r>
              <a:t>A set remembers distinct items</a:t>
            </a:r>
          </a:p>
          <a:p xmlns:a="http://schemas.openxmlformats.org/drawingml/2006/main">
            <a:r>
              <a:t/>
            </a:r>
          </a:p>
          <a:p xmlns:a="http://schemas.openxmlformats.org/drawingml/2006/main">
            <a:r>
              <a:t>Output from the supplied CSV (this cohort):</a:t>
            </a:r>
          </a:p>
          <a:p xmlns:a="http://schemas.openxmlformats.org/drawingml/2006/main">
            <a:r>
              <a:t>2</a:t>
            </a:r>
          </a:p>
          <a:p xmlns:a="http://schemas.openxmlformats.org/drawingml/2006/main">
            <a:r>
              <a:t>3</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2</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set remembers distinct items</a:t>
            </a:r>
          </a:p>
          <a:p xmlns:a="http://schemas.openxmlformats.org/drawingml/2006/main">
            <a:r>
              <a:t>CML3113, Week 4, slide 41</a:t>
            </a:r>
          </a:p>
          <a:p xmlns:a="http://schemas.openxmlformats.org/drawingml/2006/main">
            <a:r>
              <a:t/>
            </a:r>
          </a:p>
          <a:p xmlns:a="http://schemas.openxmlformats.org/drawingml/2006/main">
            <a:r>
              <a:t>Explanation to give</a:t>
            </a:r>
          </a:p>
          <a:p xmlns:a="http://schemas.openxmlformats.org/drawingml/2006/main">
            <a:r>
              <a:t>A set answers whether an item is present and stores each distinct item once. It has no numeric positions. Use it to remember IDs already encountered.</a:t>
            </a:r>
          </a:p>
          <a:p xmlns:a="http://schemas.openxmlformats.org/drawingml/2006/main">
            <a:r>
              <a:t/>
            </a:r>
          </a:p>
          <a:p xmlns:a="http://schemas.openxmlformats.org/drawingml/2006/main">
            <a:r>
              <a:t>Worked illustration / lecturer answer</a:t>
            </a:r>
          </a:p>
          <a:p xmlns:a="http://schemas.openxmlformats.org/drawingml/2006/main">
            <a:r>
              <a:t>Add "A" twice to an empty set: len is still 1. "A" in seen is True and "B" in seen is False. Adding "B" makes the count 2.</a:t>
            </a:r>
          </a:p>
          <a:p xmlns:a="http://schemas.openxmlformats.org/drawingml/2006/main">
            <a:r>
              <a:t/>
            </a:r>
          </a:p>
          <a:p xmlns:a="http://schemas.openxmlformats.org/drawingml/2006/main">
            <a:r>
              <a:t>Misconception to address</a:t>
            </a:r>
          </a:p>
          <a:p xmlns:a="http://schemas.openxmlformats.org/drawingml/2006/main">
            <a:r>
              <a:t>{} creates an empty dictionary. Use set() for an empty set. Sets are unsuitable when duplicate measurements or a particular order must be retained.</a:t>
            </a:r>
          </a:p>
          <a:p xmlns:a="http://schemas.openxmlformats.org/drawingml/2006/main">
            <a:r>
              <a:t/>
            </a:r>
          </a:p>
          <a:p xmlns:a="http://schemas.openxmlformats.org/drawingml/2006/main">
            <a:r>
              <a:t>On this slide</a:t>
            </a:r>
          </a:p>
          <a:p xmlns:a="http://schemas.openxmlformats.org/drawingml/2006/main">
            <a:r>
              <a:t>A set is useful when the question is “Have we seen this ID?” It keeps one instance of each distinct item.</a:t>
            </a:r>
          </a:p>
          <a:p xmlns:a="http://schemas.openxmlformats.org/drawingml/2006/main">
            <a:r>
              <a:t/>
            </a:r>
          </a:p>
          <a:p xmlns:a="http://schemas.openxmlformats.org/drawingml/2006/main">
            <a:r>
              <a:t>seen = set() creates an empty set. seen.add("A") adds an item. "A" in seen asks whether it is present.</a:t>
            </a:r>
          </a:p>
          <a:p xmlns:a="http://schemas.openxmlformats.org/drawingml/2006/main">
            <a:r>
              <a:t/>
            </a:r>
          </a:p>
          <a:p xmlns:a="http://schemas.openxmlformats.org/drawingml/2006/main">
            <a:r>
              <a:t>Do not use a set when position or repeated readings matter. Sets cannot be indexed. {} creates an empty dictionary, not an empty set.</a:t>
            </a:r>
          </a:p>
          <a:p xmlns:a="http://schemas.openxmlformats.org/drawingml/2006/main">
            <a:r>
              <a:t/>
            </a:r>
          </a:p>
          <a:p xmlns:a="http://schemas.openxmlformats.org/drawingml/2006/main">
            <a:r>
              <a:t>Continue to</a:t>
            </a:r>
          </a:p>
          <a:p xmlns:a="http://schemas.openxmlformats.org/drawingml/2006/main">
            <a:r>
              <a:t>Set membership and repeated 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membership and repeated IDs</a:t>
            </a:r>
          </a:p>
          <a:p xmlns:a="http://schemas.openxmlformats.org/drawingml/2006/main">
            <a:r>
              <a:t>CML3113, Week 4, slide 42</a:t>
            </a:r>
          </a:p>
          <a:p xmlns:a="http://schemas.openxmlformats.org/drawingml/2006/main">
            <a:r>
              <a:t/>
            </a:r>
          </a:p>
          <a:p xmlns:a="http://schemas.openxmlformats.org/drawingml/2006/main">
            <a:r>
              <a:t>Explanation to give</a:t>
            </a:r>
          </a:p>
          <a:p xmlns:a="http://schemas.openxmlformats.org/drawingml/2006/main">
            <a:r>
              <a:t>A set answers whether an item is present and stores each distinct item once. It has no numeric positions. Use it to remember IDs already encountered.</a:t>
            </a:r>
          </a:p>
          <a:p xmlns:a="http://schemas.openxmlformats.org/drawingml/2006/main">
            <a:r>
              <a:t/>
            </a:r>
          </a:p>
          <a:p xmlns:a="http://schemas.openxmlformats.org/drawingml/2006/main">
            <a:r>
              <a:t>Worked illustration / lecturer answer</a:t>
            </a:r>
          </a:p>
          <a:p xmlns:a="http://schemas.openxmlformats.org/drawingml/2006/main">
            <a:r>
              <a:t>Add "A" twice to an empty set: len is still 1. "A" in seen is True and "B" in seen is False. Adding "B" makes the count 2.</a:t>
            </a:r>
          </a:p>
          <a:p xmlns:a="http://schemas.openxmlformats.org/drawingml/2006/main">
            <a:r>
              <a:t/>
            </a:r>
          </a:p>
          <a:p xmlns:a="http://schemas.openxmlformats.org/drawingml/2006/main">
            <a:r>
              <a:t>Misconception to address</a:t>
            </a:r>
          </a:p>
          <a:p xmlns:a="http://schemas.openxmlformats.org/drawingml/2006/main">
            <a:r>
              <a:t>{} creates an empty dictionary. Use set() for an empty set. Sets are unsuitable when duplicate measurements or a particular order must be retained.</a:t>
            </a:r>
          </a:p>
          <a:p xmlns:a="http://schemas.openxmlformats.org/drawingml/2006/main">
            <a:r>
              <a:t/>
            </a:r>
          </a:p>
          <a:p xmlns:a="http://schemas.openxmlformats.org/drawingml/2006/main">
            <a:r>
              <a:t>Read the displayed code line by line</a:t>
            </a:r>
          </a:p>
          <a:p xmlns:a="http://schemas.openxmlformats.org/drawingml/2006/main">
            <a:r>
              <a:t>seen = set()</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seen.add("A")</a:t>
            </a:r>
          </a:p>
          <a:p xmlns:a="http://schemas.openxmlformats.org/drawingml/2006/main">
            <a:r>
              <a:t>Remember this item in the set. Adding the same item again does not create a duplicate.</a:t>
            </a:r>
          </a:p>
          <a:p xmlns:a="http://schemas.openxmlformats.org/drawingml/2006/main">
            <a:r>
              <a:t/>
            </a:r>
          </a:p>
          <a:p xmlns:a="http://schemas.openxmlformats.org/drawingml/2006/main">
            <a:r>
              <a:t>seen.add("A")</a:t>
            </a:r>
          </a:p>
          <a:p xmlns:a="http://schemas.openxmlformats.org/drawingml/2006/main">
            <a:r>
              <a:t>Remember this item in the set. Adding the same item again does not create a duplicate.</a:t>
            </a:r>
          </a:p>
          <a:p xmlns:a="http://schemas.openxmlformats.org/drawingml/2006/main">
            <a:r>
              <a:t/>
            </a:r>
          </a:p>
          <a:p xmlns:a="http://schemas.openxmlformats.org/drawingml/2006/main">
            <a:r>
              <a:t>print(len(seen))</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print("A" in seen)</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print("B" in seen)</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1, True, False. Adding the same ID twice keeps one distinct ID.</a:t>
            </a:r>
          </a:p>
          <a:p xmlns:a="http://schemas.openxmlformats.org/drawingml/2006/main">
            <a:r>
              <a:t/>
            </a:r>
          </a:p>
          <a:p xmlns:a="http://schemas.openxmlformats.org/drawingml/2006/main">
            <a:r>
              <a:t>Continue to</a:t>
            </a:r>
          </a:p>
          <a:p xmlns:a="http://schemas.openxmlformats.org/drawingml/2006/main">
            <a:r>
              <a:t>How the four collections differ</a:t>
            </a:r>
          </a:p>
          <a:p xmlns:a="http://schemas.openxmlformats.org/drawingml/2006/main">
            <a:r>
              <a:t/>
            </a:r>
          </a:p>
          <a:p xmlns:a="http://schemas.openxmlformats.org/drawingml/2006/main">
            <a:r>
              <a:t>Output from the supplied CSV (this cohort):</a:t>
            </a:r>
          </a:p>
          <a:p xmlns:a="http://schemas.openxmlformats.org/drawingml/2006/main">
            <a:r>
              <a:t>1</a:t>
            </a:r>
          </a:p>
          <a:p xmlns:a="http://schemas.openxmlformats.org/drawingml/2006/main">
            <a:r>
              <a:t>True</a:t>
            </a:r>
          </a:p>
          <a:p xmlns:a="http://schemas.openxmlformats.org/drawingml/2006/main">
            <a:r>
              <a:t>False</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1</a:t>
            </a:r>
          </a:p>
          <a:p xmlns:a="http://schemas.openxmlformats.org/drawingml/2006/main">
            <a:r>
              <a:t>True</a:t>
            </a:r>
          </a:p>
          <a:p xmlns:a="http://schemas.openxmlformats.org/drawingml/2006/main">
            <a:r>
              <a:t>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the four collections differ</a:t>
            </a:r>
          </a:p>
          <a:p xmlns:a="http://schemas.openxmlformats.org/drawingml/2006/main">
            <a:r>
              <a:t>CML3113, Week 4, slide 43</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Collection | Find an item by | Repeats / changes</a:t>
            </a:r>
          </a:p>
          <a:p xmlns:a="http://schemas.openxmlformats.org/drawingml/2006/main">
            <a:r>
              <a:t>list | Position: values[0] | Repeats allowed; items change</a:t>
            </a:r>
          </a:p>
          <a:p xmlns:a="http://schemas.openxmlformats.org/drawingml/2006/main">
            <a:r>
              <a:t>dict | Key: record["reading"] | Keys unique; values change</a:t>
            </a:r>
          </a:p>
          <a:p xmlns:a="http://schemas.openxmlformats.org/drawingml/2006/main">
            <a:r>
              <a:t>tuple | Position: point[0] | Repeats allowed; positions fixed</a:t>
            </a:r>
          </a:p>
          <a:p xmlns:a="http://schemas.openxmlformats.org/drawingml/2006/main">
            <a:r>
              <a:t>set | Membership: "A" in seen | Distinct items; add or remove</a:t>
            </a:r>
          </a:p>
          <a:p xmlns:a="http://schemas.openxmlformats.org/drawingml/2006/main">
            <a:r>
              <a:t>Choose by the question: ordered readings, named fields, fixed positions, or distinct IDs.</a:t>
            </a:r>
          </a:p>
          <a:p xmlns:a="http://schemas.openxmlformats.org/drawingml/2006/main">
            <a:r>
              <a:t/>
            </a:r>
          </a:p>
          <a:p xmlns:a="http://schemas.openxmlformats.org/drawingml/2006/main">
            <a:r>
              <a:t>Continue to</a:t>
            </a:r>
          </a:p>
          <a:p xmlns:a="http://schemas.openxmlformats.org/drawingml/2006/main">
            <a:r>
              <a:t>Dictionary items and two loop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Dictionary items and two loop names</a:t>
            </a:r>
          </a:p>
          <a:p xmlns:a="http://schemas.openxmlformats.org/drawingml/2006/main">
            <a:r>
              <a:t>CML3113, Week 4, slide 44</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On this slide</a:t>
            </a:r>
          </a:p>
          <a:p xmlns:a="http://schemas.openxmlformats.org/drawingml/2006/main">
            <a:r>
              <a:t>record.items() provides each key with its value as a pair. The loop unpacks each pair into the names key and value.</a:t>
            </a:r>
          </a:p>
          <a:p xmlns:a="http://schemas.openxmlformats.org/drawingml/2006/main">
            <a:r>
              <a:t/>
            </a:r>
          </a:p>
          <a:p xmlns:a="http://schemas.openxmlformats.org/drawingml/2006/main">
            <a:r>
              <a:t>for key, value in record.items(): repeats the indented body for each field. Use .items() when both the label and its value are needed.</a:t>
            </a:r>
          </a:p>
          <a:p xmlns:a="http://schemas.openxmlformats.org/drawingml/2006/main">
            <a:r>
              <a:t/>
            </a:r>
          </a:p>
          <a:p xmlns:a="http://schemas.openxmlformats.org/drawingml/2006/main">
            <a:r>
              <a:t>Continue to</a:t>
            </a:r>
          </a:p>
          <a:p xmlns:a="http://schemas.openxmlformats.org/drawingml/2006/main">
            <a:r>
              <a:t>Looping through named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Looping through named fields</a:t>
            </a:r>
          </a:p>
          <a:p xmlns:a="http://schemas.openxmlformats.org/drawingml/2006/main">
            <a:r>
              <a:t>CML3113, Week 4, slide 45</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Read the displayed code line by line</a:t>
            </a:r>
          </a:p>
          <a:p xmlns:a="http://schemas.openxmlformats.org/drawingml/2006/main">
            <a:r>
              <a:t>record = {"unit": "A", "reading": 6}</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for key, value in record.items():</a:t>
            </a:r>
          </a:p>
          <a:p xmlns:a="http://schemas.openxmlformats.org/drawingml/2006/main">
            <a:r>
              <a:t>Take each item or pair in turn, assign the loop name(s), and repeat the indented body.</a:t>
            </a:r>
          </a:p>
          <a:p xmlns:a="http://schemas.openxmlformats.org/drawingml/2006/main">
            <a:r>
              <a:t/>
            </a:r>
          </a:p>
          <a:p xmlns:a="http://schemas.openxmlformats.org/drawingml/2006/main">
            <a:r>
              <a:t>print(key, value)</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unit A, then reading 6. The dictionary preserves insertion order.</a:t>
            </a:r>
          </a:p>
          <a:p xmlns:a="http://schemas.openxmlformats.org/drawingml/2006/main">
            <a:r>
              <a:t/>
            </a:r>
          </a:p>
          <a:p xmlns:a="http://schemas.openxmlformats.org/drawingml/2006/main">
            <a:r>
              <a:t>Continue to</a:t>
            </a:r>
          </a:p>
          <a:p xmlns:a="http://schemas.openxmlformats.org/drawingml/2006/main">
            <a:r>
              <a:t>A position and a key find different things</a:t>
            </a:r>
          </a:p>
          <a:p xmlns:a="http://schemas.openxmlformats.org/drawingml/2006/main">
            <a:r>
              <a:t/>
            </a:r>
          </a:p>
          <a:p xmlns:a="http://schemas.openxmlformats.org/drawingml/2006/main">
            <a:r>
              <a:t>Output from the supplied CSV (this cohort):</a:t>
            </a:r>
          </a:p>
          <a:p xmlns:a="http://schemas.openxmlformats.org/drawingml/2006/main">
            <a:r>
              <a:t>unit A</a:t>
            </a:r>
          </a:p>
          <a:p xmlns:a="http://schemas.openxmlformats.org/drawingml/2006/main">
            <a:r>
              <a:t>reading 6</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unit A</a:t>
            </a:r>
          </a:p>
          <a:p xmlns:a="http://schemas.openxmlformats.org/drawingml/2006/main">
            <a:r>
              <a:t>reading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position and a key find different things</a:t>
            </a:r>
          </a:p>
          <a:p xmlns:a="http://schemas.openxmlformats.org/drawingml/2006/main">
            <a:r>
              <a:t>CML3113, Week 4, slide 46</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On this slide</a:t>
            </a:r>
          </a:p>
          <a:p xmlns:a="http://schemas.openxmlformats.org/drawingml/2006/main">
            <a:r>
              <a:t>Both examples return 4. Explain how each lookup finds it.</a:t>
            </a:r>
          </a:p>
          <a:p xmlns:a="http://schemas.openxmlformats.org/drawingml/2006/main">
            <a:r>
              <a:t/>
            </a:r>
          </a:p>
          <a:p xmlns:a="http://schemas.openxmlformats.org/drawingml/2006/main">
            <a:r>
              <a:t>Continue to</a:t>
            </a:r>
          </a:p>
          <a:p xmlns:a="http://schemas.openxmlformats.org/drawingml/2006/main">
            <a:r>
              <a:t>CSV and header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CSV and header</a:t>
            </a:r>
          </a:p>
          <a:p xmlns:a="http://schemas.openxmlformats.org/drawingml/2006/main">
            <a:r>
              <a:t>CML3113, Week 4, slide 47</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On this slide</a:t>
            </a:r>
          </a:p>
          <a:p xmlns:a="http://schemas.openxmlformats.org/drawingml/2006/main">
            <a:r>
              <a:t>CSV and header: CSV means comma-separated values. One line usually represents one record; a header names the columns. CSV numbers arrive as text and may need float conversion.</a:t>
            </a:r>
          </a:p>
          <a:p xmlns:a="http://schemas.openxmlformats.org/drawingml/2006/main">
            <a:r>
              <a:t/>
            </a:r>
          </a:p>
          <a:p xmlns:a="http://schemas.openxmlformats.org/drawingml/2006/main">
            <a:r>
              <a:t>Continue to</a:t>
            </a:r>
          </a:p>
          <a:p xmlns:a="http://schemas.openxmlformats.org/drawingml/2006/main">
            <a:r>
              <a:t>One record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record at a time</a:t>
            </a:r>
          </a:p>
          <a:p xmlns:a="http://schemas.openxmlformats.org/drawingml/2006/main">
            <a:r>
              <a:t>CML3113, Week 4, slide 48</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On this slide</a:t>
            </a:r>
          </a:p>
          <a:p xmlns:a="http://schemas.openxmlformats.org/drawingml/2006/main">
            <a:r>
              <a:t>A CSV is a text table with a header row.</a:t>
            </a:r>
          </a:p>
          <a:p xmlns:a="http://schemas.openxmlformats.org/drawingml/2006/main">
            <a:r>
              <a:t/>
            </a:r>
          </a:p>
          <a:p xmlns:a="http://schemas.openxmlformats.org/drawingml/2006/main">
            <a:r>
              <a:t>DictReader uses that header for dictionary keys.</a:t>
            </a:r>
          </a:p>
          <a:p xmlns:a="http://schemas.openxmlformats.org/drawingml/2006/main">
            <a:r>
              <a:t/>
            </a:r>
          </a:p>
          <a:p xmlns:a="http://schemas.openxmlformats.org/drawingml/2006/main">
            <a:r>
              <a:t>CSV cells begin as text, even when they look numeric.</a:t>
            </a:r>
          </a:p>
          <a:p xmlns:a="http://schemas.openxmlformats.org/drawingml/2006/main">
            <a:r>
              <a:t/>
            </a:r>
          </a:p>
          <a:p xmlns:a="http://schemas.openxmlformats.org/drawingml/2006/main">
            <a:r>
              <a:t>float("2.5") converts text into the number 2.5.</a:t>
            </a:r>
          </a:p>
          <a:p xmlns:a="http://schemas.openxmlformats.org/drawingml/2006/main">
            <a:r>
              <a:t/>
            </a:r>
          </a:p>
          <a:p xmlns:a="http://schemas.openxmlformats.org/drawingml/2006/main">
            <a:r>
              <a:t>Continue to</a:t>
            </a:r>
          </a:p>
          <a:p xmlns:a="http://schemas.openxmlformats.org/drawingml/2006/main">
            <a:r>
              <a:t>A CSV file has a header and text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CSV file has a header and text values</a:t>
            </a:r>
          </a:p>
          <a:p xmlns:a="http://schemas.openxmlformats.org/drawingml/2006/main">
            <a:r>
              <a:t>CML3113, Week 4, slide 49</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On this slide</a:t>
            </a:r>
          </a:p>
          <a:p xmlns:a="http://schemas.openxmlformats.org/drawingml/2006/main">
            <a:r>
              <a:t>CSV line | Dictionary meaning</a:t>
            </a:r>
          </a:p>
          <a:p xmlns:a="http://schemas.openxmlformats.org/drawingml/2006/main">
            <a:r>
              <a:t>unit,reading | Two field names</a:t>
            </a:r>
          </a:p>
          <a:p xmlns:a="http://schemas.openxmlformats.org/drawingml/2006/main">
            <a:r>
              <a:t>A,2.5 | {"unit": "A", "reading": "2.5"}</a:t>
            </a:r>
          </a:p>
          <a:p xmlns:a="http://schemas.openxmlformats.org/drawingml/2006/main">
            <a:r>
              <a:t>B, | {"unit": "B", "reading": ""}</a:t>
            </a:r>
          </a:p>
          <a:p xmlns:a="http://schemas.openxmlformats.org/drawingml/2006/main">
            <a:r>
              <a:t>An empty field is empty text. Check the task’s rule before converting it.</a:t>
            </a:r>
          </a:p>
          <a:p xmlns:a="http://schemas.openxmlformats.org/drawingml/2006/main">
            <a:r>
              <a:t/>
            </a:r>
          </a:p>
          <a:p xmlns:a="http://schemas.openxmlformats.org/drawingml/2006/main">
            <a:r>
              <a:t>Continue to</a:t>
            </a:r>
          </a:p>
          <a:p xmlns:a="http://schemas.openxmlformats.org/drawingml/2006/main">
            <a:r>
              <a:t>A CSV row becomes a dictionary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CSV row becomes a dictionary</a:t>
            </a:r>
          </a:p>
          <a:p xmlns:a="http://schemas.openxmlformats.org/drawingml/2006/main">
            <a:r>
              <a:t>CML3113, Week 4, slide 50</a:t>
            </a:r>
          </a:p>
          <a:p xmlns:a="http://schemas.openxmlformats.org/drawingml/2006/main">
            <a:r>
              <a:t/>
            </a:r>
          </a:p>
          <a:p xmlns:a="http://schemas.openxmlformats.org/drawingml/2006/main">
            <a:r>
              <a:t>Explanation to give</a:t>
            </a:r>
          </a:p>
          <a:p xmlns:a="http://schemas.openxmlformats.org/drawingml/2006/main">
            <a:r>
              <a:t>A dictionary labels fields with keys. A list organises records by position. Explain each lookup in a nested expression separately rather than saying it all at once.</a:t>
            </a:r>
          </a:p>
          <a:p xmlns:a="http://schemas.openxmlformats.org/drawingml/2006/main">
            <a:r>
              <a:t/>
            </a:r>
          </a:p>
          <a:p xmlns:a="http://schemas.openxmlformats.org/drawingml/2006/main">
            <a:r>
              <a:t>Worked illustration / lecturer answer</a:t>
            </a:r>
          </a:p>
          <a:p xmlns:a="http://schemas.openxmlformats.org/drawingml/2006/main">
            <a:r>
              <a:t>records[0]["reading"] first selects the first record, then finds its reading field. In {"unit": "A", "reading": 4}, the key reading retrieves 4 regardless of its visual position.</a:t>
            </a:r>
          </a:p>
          <a:p xmlns:a="http://schemas.openxmlformats.org/drawingml/2006/main">
            <a:r>
              <a:t/>
            </a:r>
          </a:p>
          <a:p xmlns:a="http://schemas.openxmlformats.org/drawingml/2006/main">
            <a:r>
              <a:t>Misconception to address</a:t>
            </a:r>
          </a:p>
          <a:p xmlns:a="http://schemas.openxmlformats.org/drawingml/2006/main">
            <a:r>
              <a:t>Using a missing key with square brackets raises KeyError. get("missing", 0) uses 0 only if the key is absent, not when its existing value is None.</a:t>
            </a:r>
          </a:p>
          <a:p xmlns:a="http://schemas.openxmlformats.org/drawingml/2006/main">
            <a:r>
              <a:t/>
            </a:r>
          </a:p>
          <a:p xmlns:a="http://schemas.openxmlformats.org/drawingml/2006/main">
            <a:r>
              <a:t>On this slide</a:t>
            </a:r>
          </a:p>
          <a:p xmlns:a="http://schemas.openxmlformats.org/drawingml/2006/main">
            <a:r>
              <a:t>The header gives field names, such as unit and reading.</a:t>
            </a:r>
          </a:p>
          <a:p xmlns:a="http://schemas.openxmlformats.org/drawingml/2006/main">
            <a:r>
              <a:t/>
            </a:r>
          </a:p>
          <a:p xmlns:a="http://schemas.openxmlformats.org/drawingml/2006/main">
            <a:r>
              <a:t>csv.DictReader returns one dictionary for each data row.</a:t>
            </a:r>
          </a:p>
          <a:p xmlns:a="http://schemas.openxmlformats.org/drawingml/2006/main">
            <a:r>
              <a:t/>
            </a:r>
          </a:p>
          <a:p xmlns:a="http://schemas.openxmlformats.org/drawingml/2006/main">
            <a:r>
              <a:t>The value "2.5" starts as text. float("2.5") makes the number 2.5.</a:t>
            </a:r>
          </a:p>
          <a:p xmlns:a="http://schemas.openxmlformats.org/drawingml/2006/main">
            <a:r>
              <a:t/>
            </a:r>
          </a:p>
          <a:p xmlns:a="http://schemas.openxmlformats.org/drawingml/2006/main">
            <a:r>
              <a:t>Continue to</a:t>
            </a:r>
          </a:p>
          <a:p xmlns:a="http://schemas.openxmlformats.org/drawingml/2006/main">
            <a:r>
              <a:t>with and 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and import</a:t>
            </a:r>
          </a:p>
          <a:p xmlns:a="http://schemas.openxmlformats.org/drawingml/2006/main">
            <a:r>
              <a:t>CML3113, Week 4, slide 51</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On this slide</a:t>
            </a:r>
          </a:p>
          <a:p xmlns:a="http://schemas.openxmlformats.org/drawingml/2006/main">
            <a:r>
              <a:t>with and import: import makes library tools available. with open(...) opens a file for a block and closes it afterward. A filename must match an existing file in the working folder.</a:t>
            </a:r>
          </a:p>
          <a:p xmlns:a="http://schemas.openxmlformats.org/drawingml/2006/main">
            <a:r>
              <a:t/>
            </a:r>
          </a:p>
          <a:p xmlns:a="http://schemas.openxmlformats.org/drawingml/2006/main">
            <a:r>
              <a:t>Continue to</a:t>
            </a:r>
          </a:p>
          <a:p xmlns:a="http://schemas.openxmlformats.org/drawingml/2006/main">
            <a:r>
              <a:t>Your cohort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cohort data</a:t>
            </a:r>
          </a:p>
          <a:p xmlns:a="http://schemas.openxmlformats.org/drawingml/2006/main">
            <a:r>
              <a:t>CML3113, Week 4, slide 52</a:t>
            </a:r>
          </a:p>
          <a:p xmlns:a="http://schemas.openxmlformats.org/drawingml/2006/main">
            <a:r>
              <a:t/>
            </a:r>
          </a:p>
          <a:p xmlns:a="http://schemas.openxmlformats.org/drawingml/2006/main">
            <a:r>
              <a:t>Explanation to give</a:t>
            </a:r>
          </a:p>
          <a:p xmlns:a="http://schemas.openxmlformats.org/drawingml/2006/main">
            <a:r>
              <a:t>Use fluid moving through a system as the physical reference. Volume in litres divided by elapsed seconds gives a flow rate in L/s. Density and depth belong to a later pressure calculation.</a:t>
            </a:r>
          </a:p>
          <a:p xmlns:a="http://schemas.openxmlformats.org/drawingml/2006/main">
            <a:r>
              <a:t/>
            </a:r>
          </a:p>
          <a:p xmlns:a="http://schemas.openxmlformats.org/drawingml/2006/main">
            <a:r>
              <a:t>Worked illustration / lecturer answer</a:t>
            </a:r>
          </a:p>
          <a:p xmlns:a="http://schemas.openxmlformats.org/drawingml/2006/main">
            <a:r>
              <a:t>Show drill_shift_log.csv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Flow rate and pressure are different physical quantities. Keep litres/seconds separate from the SI units specified for mud_pressure.</a:t>
            </a:r>
          </a:p>
          <a:p xmlns:a="http://schemas.openxmlformats.org/drawingml/2006/main">
            <a:r>
              <a:t/>
            </a:r>
          </a:p>
          <a:p xmlns:a="http://schemas.openxmlformats.org/drawingml/2006/main">
            <a:r>
              <a:t>On this slide</a:t>
            </a:r>
          </a:p>
          <a:p xmlns:a="http://schemas.openxmlformats.org/drawingml/2006/main">
            <a:r>
              <a:t>drill_shift_log.csv</a:t>
            </a:r>
          </a:p>
          <a:p xmlns:a="http://schemas.openxmlformats.org/drawingml/2006/main">
            <a:r>
              <a:t/>
            </a:r>
          </a:p>
          <a:p xmlns:a="http://schemas.openxmlformats.org/drawingml/2006/main">
            <a:r>
              <a:t>Summarise rate_of_penetration (m/hour); group by bit_type.</a:t>
            </a:r>
          </a:p>
          <a:p xmlns:a="http://schemas.openxmlformats.org/drawingml/2006/main">
            <a:r>
              <a:t/>
            </a:r>
          </a:p>
          <a:p xmlns:a="http://schemas.openxmlformats.org/drawingml/2006/main">
            <a:r>
              <a:t>Read the issued task’s blank-value and threshold rules before calculating.</a:t>
            </a:r>
          </a:p>
          <a:p xmlns:a="http://schemas.openxmlformats.org/drawingml/2006/main">
            <a:r>
              <a:t/>
            </a:r>
          </a:p>
          <a:p xmlns:a="http://schemas.openxmlformats.org/drawingml/2006/main">
            <a:r>
              <a:t>Continue to</a:t>
            </a:r>
          </a:p>
          <a:p xmlns:a="http://schemas.openxmlformats.org/drawingml/2006/main">
            <a:r>
              <a:t>Read the supplied CSV in four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supplied CSV in four steps</a:t>
            </a:r>
          </a:p>
          <a:p xmlns:a="http://schemas.openxmlformats.org/drawingml/2006/main">
            <a:r>
              <a:t>CML3113, Week 4, slide 53</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On this slide</a:t>
            </a:r>
          </a:p>
          <a:p xmlns:a="http://schemas.openxmlformats.org/drawingml/2006/main">
            <a:r>
              <a:t>Place drill_shift_log.csv beside the notebook, or upload it in Colab’s Files panel.</a:t>
            </a:r>
          </a:p>
          <a:p xmlns:a="http://schemas.openxmlformats.org/drawingml/2006/main">
            <a:r>
              <a:t/>
            </a:r>
          </a:p>
          <a:p xmlns:a="http://schemas.openxmlformats.org/drawingml/2006/main">
            <a:r>
              <a:t>import csv loads the CSV tools. newline="" lets the reader handle line endings. DictReader uses the header as dictionary keys.</a:t>
            </a:r>
          </a:p>
          <a:p xmlns:a="http://schemas.openxmlformats.org/drawingml/2006/main">
            <a:r>
              <a:t/>
            </a:r>
          </a:p>
          <a:p xmlns:a="http://schemas.openxmlformats.org/drawingml/2006/main">
            <a:r>
              <a:t>list(...) collects the rows while the file is open. We inspect the first row and the count; the later assignment calculations are your work.</a:t>
            </a:r>
          </a:p>
          <a:p xmlns:a="http://schemas.openxmlformats.org/drawingml/2006/main">
            <a:r>
              <a:t/>
            </a:r>
          </a:p>
          <a:p xmlns:a="http://schemas.openxmlformats.org/drawingml/2006/main">
            <a:r>
              <a:t>Continue to</a:t>
            </a:r>
          </a:p>
          <a:p xmlns:a="http://schemas.openxmlformats.org/drawingml/2006/main">
            <a:r>
              <a:t>What with open as source does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with open as source does</a:t>
            </a:r>
          </a:p>
          <a:p xmlns:a="http://schemas.openxmlformats.org/drawingml/2006/main">
            <a:r>
              <a:t>CML3113, Week 4, slide 54</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On this slide</a:t>
            </a:r>
          </a:p>
          <a:p xmlns:a="http://schemas.openxmlformats.org/drawingml/2006/main">
            <a:r>
              <a:t>open("file.csv", newline="") opens a text file for reading. Use the actual supplied filename, including its .csv extension.</a:t>
            </a:r>
          </a:p>
          <a:p xmlns:a="http://schemas.openxmlformats.org/drawingml/2006/main">
            <a:r>
              <a:t/>
            </a:r>
          </a:p>
          <a:p xmlns:a="http://schemas.openxmlformats.org/drawingml/2006/main">
            <a:r>
              <a:t>with manages the open file. as source gives that file object a name. Indented lines use it while it is open; leaving the block closes it.</a:t>
            </a:r>
          </a:p>
          <a:p xmlns:a="http://schemas.openxmlformats.org/drawingml/2006/main">
            <a:r>
              <a:t/>
            </a:r>
          </a:p>
          <a:p xmlns:a="http://schemas.openxmlformats.org/drawingml/2006/main">
            <a:r>
              <a:t>csv.DictReader(source) reads rows using the header names as keys. list(...) collects those rows into memory before the file closes.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Open a real CSV and inspect its first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 real CSV and inspect its first row</a:t>
            </a:r>
          </a:p>
          <a:p xmlns:a="http://schemas.openxmlformats.org/drawingml/2006/main">
            <a:r>
              <a:t>CML3113, Week 4, slide 55</a:t>
            </a:r>
          </a:p>
          <a:p xmlns:a="http://schemas.openxmlformats.org/drawingml/2006/main">
            <a:r>
              <a:t/>
            </a:r>
          </a:p>
          <a:p xmlns:a="http://schemas.openxmlformats.org/drawingml/2006/main">
            <a:r>
              <a:t>Explanation to give</a:t>
            </a:r>
          </a:p>
          <a:p xmlns:a="http://schemas.openxmlformats.org/drawingml/2006/main">
            <a:r>
              <a:t>A CSV file stores rows as text separated into fields. Its header provides column names. csv.DictReader turns each data row into a dictionary using those names; numeric-looking cells initially remain strings.</a:t>
            </a:r>
          </a:p>
          <a:p xmlns:a="http://schemas.openxmlformats.org/drawingml/2006/main">
            <a:r>
              <a:t/>
            </a:r>
          </a:p>
          <a:p xmlns:a="http://schemas.openxmlformats.org/drawingml/2006/main">
            <a:r>
              <a:t>Worked illustration / lecturer answer</a:t>
            </a:r>
          </a:p>
          <a:p xmlns:a="http://schemas.openxmlformats.org/drawingml/2006/main">
            <a:r>
              <a:t>A CSV row with reading 2.5 yields the text "2.5". float converts that field to the number 2.5. with open(...) keeps the file available inside the indented block and closes it afterwards.</a:t>
            </a:r>
          </a:p>
          <a:p xmlns:a="http://schemas.openxmlformats.org/drawingml/2006/main">
            <a:r>
              <a:t/>
            </a:r>
          </a:p>
          <a:p xmlns:a="http://schemas.openxmlformats.org/drawingml/2006/main">
            <a:r>
              <a:t>Misconception to address</a:t>
            </a:r>
          </a:p>
          <a:p xmlns:a="http://schemas.openxmlformats.org/drawingml/2006/main">
            <a:r>
              <a:t>Use the exact file from the current week's package and its exact header. A correct formula cannot repair a wrong file, misspelled column or wrong unit.</a:t>
            </a:r>
          </a:p>
          <a:p xmlns:a="http://schemas.openxmlformats.org/drawingml/2006/main">
            <a:r>
              <a:t/>
            </a:r>
          </a:p>
          <a:p xmlns:a="http://schemas.openxmlformats.org/drawingml/2006/main">
            <a:r>
              <a:t>Read the displayed code line by line</a:t>
            </a:r>
          </a:p>
          <a:p xmlns:a="http://schemas.openxmlformats.org/drawingml/2006/main">
            <a:r>
              <a:t>import csv</a:t>
            </a:r>
          </a:p>
          <a:p xmlns:a="http://schemas.openxmlformats.org/drawingml/2006/main">
            <a:r>
              <a:t>Load this library. An alias after as is the shorter name used below.</a:t>
            </a:r>
          </a:p>
          <a:p xmlns:a="http://schemas.openxmlformats.org/drawingml/2006/main">
            <a:r>
              <a:t/>
            </a:r>
          </a:p>
          <a:p xmlns:a="http://schemas.openxmlformats.org/drawingml/2006/main">
            <a:r>
              <a:t>with open("drill_shift_log.csv", newline="") as source:</a:t>
            </a:r>
          </a:p>
          <a:p xmlns:a="http://schemas.openxmlformats.org/drawingml/2006/main">
            <a:r>
              <a:t>Open the named resource for the indented block and close it when leaving the block.</a:t>
            </a:r>
          </a:p>
          <a:p xmlns:a="http://schemas.openxmlformats.org/drawingml/2006/main">
            <a:r>
              <a:t/>
            </a:r>
          </a:p>
          <a:p xmlns:a="http://schemas.openxmlformats.org/drawingml/2006/main">
            <a:r>
              <a:t>rows = list(csv.DictReader(source))</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print(rows[0])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print(len(rows))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the actual keys and text values. Check the uploaded filename if Python reports FileNotFoundError.</a:t>
            </a:r>
          </a:p>
          <a:p xmlns:a="http://schemas.openxmlformats.org/drawingml/2006/main">
            <a:r>
              <a:t/>
            </a:r>
          </a:p>
          <a:p xmlns:a="http://schemas.openxmlformats.org/drawingml/2006/main">
            <a:r>
              <a:t>Continue to</a:t>
            </a:r>
          </a:p>
          <a:p xmlns:a="http://schemas.openxmlformats.org/drawingml/2006/main">
            <a:r>
              <a:t>A list of dictionaries</a:t>
            </a:r>
          </a:p>
          <a:p xmlns:a="http://schemas.openxmlformats.org/drawingml/2006/main">
            <a:r>
              <a:t/>
            </a:r>
          </a:p>
          <a:p xmlns:a="http://schemas.openxmlformats.org/drawingml/2006/main">
            <a:r>
              <a:t>Output from the supplied CSV (this cohort):</a:t>
            </a:r>
          </a:p>
          <a:p xmlns:a="http://schemas.openxmlformats.org/drawingml/2006/main">
            <a:r>
              <a:t>{'hole_id': 'H1', 'depth_m': '80', 'rate_of_penetration': '10.17', 'bit_type': 'B1', 'operator_id': 'O1', 'downtime_min': '0', 'downtime_reason': 'service', 'shift': 'day'}</a:t>
            </a:r>
          </a:p>
          <a:p xmlns:a="http://schemas.openxmlformats.org/drawingml/2006/main">
            <a:r>
              <a:t>300</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{'hole_id': 'H1', 'depth_m': '80', 'rate_of_penetration': '10.17', 'bit_type': 'B1', 'operator_id': 'O1', 'downtime_min': '0', 'downtime_reason': 'service', 'shift': 'day'}</a:t>
            </a:r>
          </a:p>
          <a:p xmlns:a="http://schemas.openxmlformats.org/drawingml/2006/main">
            <a:r>
              <a:t>300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real header shown in the previous example. The list rows already contains the supplied file records.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retained number comes directly from a CSV row. [:5] previews up to five entries.</a:t>
            </a:r>
          </a:p>
          <a:p xmlns:a="http://schemas.openxmlformats.org/drawingml/2006/main">
            <a:r>
              <a:t/>
            </a:r>
          </a:p>
          <a:p xmlns:a="http://schemas.openxmlformats.org/drawingml/2006/main">
            <a:r>
              <a:t>Complete worked example:</a:t>
            </a:r>
          </a:p>
          <a:p xmlns:a="http://schemas.openxmlformats.org/drawingml/2006/main">
            <a:r>
              <a:t>values = []</a:t>
            </a:r>
          </a:p>
          <a:p xmlns:a="http://schemas.openxmlformats.org/drawingml/2006/main">
            <a:r>
              <a:t>for row in rows:</a:t>
            </a:r>
          </a:p>
          <a:p xmlns:a="http://schemas.openxmlformats.org/drawingml/2006/main">
            <a:r>
              <a:t>    text = row["rate_of_penetration"]</a:t>
            </a:r>
          </a:p>
          <a:p xmlns:a="http://schemas.openxmlformats.org/drawingml/2006/main">
            <a:r>
              <a:t>    if text != "":</a:t>
            </a:r>
          </a:p>
          <a:p xmlns:a="http://schemas.openxmlformats.org/drawingml/2006/main">
            <a:r>
              <a:t>        values.append(float(text))</a:t>
            </a:r>
          </a:p>
          <a:p xmlns:a="http://schemas.openxmlformats.org/drawingml/2006/main">
            <a:r>
              <a:t>print(len(values))</a:t>
            </a:r>
          </a:p>
          <a:p xmlns:a="http://schemas.openxmlformats.org/drawingml/2006/main">
            <a:r>
              <a:t>print(values[:5])</a:t>
            </a:r>
          </a:p>
          <a:p xmlns:a="http://schemas.openxmlformats.org/drawingml/2006/main">
            <a:r>
              <a:t/>
            </a:r>
          </a:p>
          <a:p xmlns:a="http://schemas.openxmlformats.org/drawingml/2006/main">
            <a:r>
              <a:t>Output from the supplied CSV (this cohort):</a:t>
            </a:r>
          </a:p>
          <a:p xmlns:a="http://schemas.openxmlformats.org/drawingml/2006/main">
            <a:r>
              <a:t>297</a:t>
            </a:r>
          </a:p>
          <a:p xmlns:a="http://schemas.openxmlformats.org/drawingml/2006/main">
            <a:r>
              <a:t>[10.17, 10.81, 10.01, 10.19, 11.19]</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297</a:t>
            </a:r>
          </a:p>
          <a:p xmlns:a="http://schemas.openxmlformats.org/drawingml/2006/main">
            <a:r>
              <a:t>[10.17, 10.81, 10.01, 10.19, 11.19]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retained row contributes once. Use the actual group and measurement names in this cohort’s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get(group, 0) returns the existing value or zero for a new group. The measurement and grouping labels match the supplied CSV.</a:t>
            </a:r>
          </a:p>
          <a:p xmlns:a="http://schemas.openxmlformats.org/drawingml/2006/main">
            <a:r>
              <a:t/>
            </a:r>
          </a:p>
          <a:p xmlns:a="http://schemas.openxmlformats.org/drawingml/2006/main">
            <a:r>
              <a:t>Complete worked example:</a:t>
            </a:r>
          </a:p>
          <a:p xmlns:a="http://schemas.openxmlformats.org/drawingml/2006/main">
            <a:r>
              <a:t>totals = {}</a:t>
            </a:r>
          </a:p>
          <a:p xmlns:a="http://schemas.openxmlformats.org/drawingml/2006/main">
            <a:r>
              <a:t>counts = {}</a:t>
            </a:r>
          </a:p>
          <a:p xmlns:a="http://schemas.openxmlformats.org/drawingml/2006/main">
            <a:r>
              <a:t>for row in rows:</a:t>
            </a:r>
          </a:p>
          <a:p xmlns:a="http://schemas.openxmlformats.org/drawingml/2006/main">
            <a:r>
              <a:t>    group = row["bit_type"]</a:t>
            </a:r>
          </a:p>
          <a:p xmlns:a="http://schemas.openxmlformats.org/drawingml/2006/main">
            <a:r>
              <a:t>    if row["rate_of_penetration"] != "":</a:t>
            </a:r>
          </a:p>
          <a:p xmlns:a="http://schemas.openxmlformats.org/drawingml/2006/main">
            <a:r>
              <a:t>        value = float(row["rate_of_penetration"])</a:t>
            </a:r>
          </a:p>
          <a:p xmlns:a="http://schemas.openxmlformats.org/drawingml/2006/main">
            <a:r>
              <a:t>        totals[group] = totals.get(group, 0) + value</a:t>
            </a:r>
          </a:p>
          <a:p xmlns:a="http://schemas.openxmlformats.org/drawingml/2006/main">
            <a:r>
              <a:t>        counts[group] = counts.get(group, 0) + 1</a:t>
            </a:r>
          </a:p>
          <a:p xmlns:a="http://schemas.openxmlformats.org/drawingml/2006/main">
            <a:r>
              <a:t>means = {}</a:t>
            </a:r>
          </a:p>
          <a:p xmlns:a="http://schemas.openxmlformats.org/drawingml/2006/main">
            <a:r>
              <a:t>for group in totals:</a:t>
            </a:r>
          </a:p>
          <a:p xmlns:a="http://schemas.openxmlformats.org/drawingml/2006/main">
            <a:r>
              <a:t>    means[group] = totals[group] / counts[group]</a:t>
            </a:r>
          </a:p>
          <a:p xmlns:a="http://schemas.openxmlformats.org/drawingml/2006/main">
            <a:r>
              <a:t>print(means)</a:t>
            </a:r>
          </a:p>
          <a:p xmlns:a="http://schemas.openxmlformats.org/drawingml/2006/main">
            <a:r>
              <a:t/>
            </a:r>
          </a:p>
          <a:p xmlns:a="http://schemas.openxmlformats.org/drawingml/2006/main">
            <a:r>
              <a:t>Output from the supplied CSV (this cohort):</a:t>
            </a:r>
          </a:p>
          <a:p xmlns:a="http://schemas.openxmlformats.org/drawingml/2006/main">
            <a:r>
              <a:t>{'B1': 10.975400000000002, 'B2': 11.014444444444447, 'B3': 9.043265306122452}</a:t>
            </a:r>
          </a:p>
          <a:p xmlns:a="http://schemas.openxmlformats.org/drawingml/2006/main">
            <a:r>
              <a:t/>
            </a:r>
          </a:p>
          <a:p xmlns:a="http://schemas.openxmlformats.org/drawingml/2006/main">
            <a:r>
              <a:t/>
            </a:r>
          </a:p>
          <a:p xmlns:a="http://schemas.openxmlformats.org/drawingml/2006/main">
            <a:r>
              <a:t>Result from the supplied example</a:t>
            </a:r>
          </a:p>
          <a:p xmlns:a="http://schemas.openxmlformats.org/drawingml/2006/main">
            <a:r>
              <a:t>{'B1': 10.975400000000002, 'B2': 11.014444444444447, 'B3': 9.043265306122452}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get(group, 0) returns the existing value or zero for a new group. The measurement and grouping labels match the supplied CSV.</a:t>
            </a:r>
          </a:p>
          <a:p xmlns:a="http://schemas.openxmlformats.org/drawingml/2006/main">
            <a:r>
              <a:t/>
            </a:r>
          </a:p>
          <a:p xmlns:a="http://schemas.openxmlformats.org/drawingml/2006/main">
            <a:r>
              <a:t>Complete worked example:</a:t>
            </a:r>
          </a:p>
          <a:p xmlns:a="http://schemas.openxmlformats.org/drawingml/2006/main">
            <a:r>
              <a:t>totals = {}</a:t>
            </a:r>
          </a:p>
          <a:p xmlns:a="http://schemas.openxmlformats.org/drawingml/2006/main">
            <a:r>
              <a:t>counts = {}</a:t>
            </a:r>
          </a:p>
          <a:p xmlns:a="http://schemas.openxmlformats.org/drawingml/2006/main">
            <a:r>
              <a:t>for row in rows:</a:t>
            </a:r>
          </a:p>
          <a:p xmlns:a="http://schemas.openxmlformats.org/drawingml/2006/main">
            <a:r>
              <a:t>    group = row["bit_type"]</a:t>
            </a:r>
          </a:p>
          <a:p xmlns:a="http://schemas.openxmlformats.org/drawingml/2006/main">
            <a:r>
              <a:t>    if row["rate_of_penetration"] != "":</a:t>
            </a:r>
          </a:p>
          <a:p xmlns:a="http://schemas.openxmlformats.org/drawingml/2006/main">
            <a:r>
              <a:t>        value = float(row["rate_of_penetration"])</a:t>
            </a:r>
          </a:p>
          <a:p xmlns:a="http://schemas.openxmlformats.org/drawingml/2006/main">
            <a:r>
              <a:t>        totals[group] = totals.get(group, 0) + value</a:t>
            </a:r>
          </a:p>
          <a:p xmlns:a="http://schemas.openxmlformats.org/drawingml/2006/main">
            <a:r>
              <a:t>        counts[group] = counts.get(group, 0) + 1</a:t>
            </a:r>
          </a:p>
          <a:p xmlns:a="http://schemas.openxmlformats.org/drawingml/2006/main">
            <a:r>
              <a:t>means = {}</a:t>
            </a:r>
          </a:p>
          <a:p xmlns:a="http://schemas.openxmlformats.org/drawingml/2006/main">
            <a:r>
              <a:t>for group in totals:</a:t>
            </a:r>
          </a:p>
          <a:p xmlns:a="http://schemas.openxmlformats.org/drawingml/2006/main">
            <a:r>
              <a:t>    means[group] = totals[group] / counts[group]</a:t>
            </a:r>
          </a:p>
          <a:p xmlns:a="http://schemas.openxmlformats.org/drawingml/2006/main">
            <a:r>
              <a:t>print(means)</a:t>
            </a:r>
          </a:p>
          <a:p xmlns:a="http://schemas.openxmlformats.org/drawingml/2006/main">
            <a:r>
              <a:t/>
            </a:r>
          </a:p>
          <a:p xmlns:a="http://schemas.openxmlformats.org/drawingml/2006/main">
            <a:r>
              <a:t>Result from the supplied example</a:t>
            </a:r>
          </a:p>
          <a:p xmlns:a="http://schemas.openxmlformats.org/drawingml/2006/main">
            <a:r>
              <a:t>{'B1': 10.975400000000002, 'B2': 11.014444444444447, 'B3': 9.043265306122452}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assignment</a:t>
            </a:r>
          </a:p>
          <a:p xmlns:a="http://schemas.openxmlformats.org/drawingml/2006/main">
            <a:r>
              <a:t>CML3113, Week 4, slide 75</a:t>
            </a:r>
          </a:p>
          <a:p xmlns:a="http://schemas.openxmlformats.org/drawingml/2006/main">
            <a:r>
              <a:t/>
            </a:r>
          </a:p>
          <a:p xmlns:a="http://schemas.openxmlformats.org/drawingml/2006/main">
            <a:r>
              <a:t>Explanation to give</a:t>
            </a:r>
          </a:p>
          <a:p xmlns:a="http://schemas.openxmlformats.org/drawingml/2006/main">
            <a:r>
              <a:t>A4 uses the Week 4 300-row cohort CSV. The required outputs are valid_count, mean_reading, above_limit and group_means. Work only with the rows admitted by the published blank-reading rules.</a:t>
            </a:r>
          </a:p>
          <a:p xmlns:a="http://schemas.openxmlformats.org/drawingml/2006/main">
            <a:r>
              <a:t/>
            </a:r>
          </a:p>
          <a:p xmlns:a="http://schemas.openxmlformats.org/drawingml/2006/main">
            <a:r>
              <a:t>Worked illustration / lecturer answer</a:t>
            </a:r>
          </a:p>
          <a:p xmlns:a="http://schemas.openxmlformats.org/drawingml/2006/main">
            <a:r>
              <a:t>Trace a smaller unrelated dataset first: A readings 2 and 4 yield A mean 3; B reading 9 yields B mean 9. Each group needs its own denominator.</a:t>
            </a:r>
          </a:p>
          <a:p xmlns:a="http://schemas.openxmlformats.org/drawingml/2006/main">
            <a:r>
              <a:t/>
            </a:r>
          </a:p>
          <a:p xmlns:a="http://schemas.openxmlformats.org/drawingml/2006/main">
            <a:r>
              <a:t>Misconception to address</a:t>
            </a:r>
          </a:p>
          <a:p xmlns:a="http://schemas.openxmlformats.org/drawingml/2006/main">
            <a:r>
              <a:t>Despite “Reading report” in the title, A4 is one completed Python notebook, not a separate Word report. Do not use Week 2’s four-row CSV.</a:t>
            </a:r>
          </a:p>
          <a:p xmlns:a="http://schemas.openxmlformats.org/drawingml/2006/main">
            <a:r>
              <a:t/>
            </a:r>
          </a:p>
          <a:p xmlns:a="http://schemas.openxmlformats.org/drawingml/2006/main">
            <a:r>
              <a:t>On this slide</a:t>
            </a:r>
          </a:p>
          <a:p xmlns:a="http://schemas.openxmlformats.org/drawingml/2006/main">
            <a:r>
              <a:t>Open W04_student.ipynb.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Restart and run all cells, then save the completed notebook.</a:t>
            </a:r>
          </a:p>
          <a:p xmlns:a="http://schemas.openxmlformats.org/drawingml/2006/main">
            <a:r>
              <a:t/>
            </a:r>
          </a:p>
          <a:p xmlns:a="http://schemas.openxmlformats.org/drawingml/2006/main">
            <a:r>
              <a:t>Continue to</a:t>
            </a:r>
          </a:p>
          <a:p xmlns:a="http://schemas.openxmlformats.org/drawingml/2006/main">
            <a:r>
              <a:t>valid_count (5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valid_count (5 marks)</a:t>
            </a:r>
          </a:p>
          <a:p xmlns:a="http://schemas.openxmlformats.org/drawingml/2006/main">
            <a:r>
              <a:t>CML3113, Week 4, slide 76</a:t>
            </a:r>
          </a:p>
          <a:p xmlns:a="http://schemas.openxmlformats.org/drawingml/2006/main">
            <a:r>
              <a:t/>
            </a:r>
          </a:p>
          <a:p xmlns:a="http://schemas.openxmlformats.org/drawingml/2006/main">
            <a:r>
              <a:t>Explanation to give</a:t>
            </a:r>
          </a:p>
          <a:p xmlns:a="http://schemas.openxmlformats.org/drawingml/2006/main">
            <a:r>
              <a:t>Count records with a nonblank reading after applying the published rules. A blank is not a measured zero.</a:t>
            </a:r>
          </a:p>
          <a:p xmlns:a="http://schemas.openxmlformats.org/drawingml/2006/main">
            <a:r>
              <a:t/>
            </a:r>
          </a:p>
          <a:p xmlns:a="http://schemas.openxmlformats.org/drawingml/2006/main">
            <a:r>
              <a:t>Worked illustration / lecturer answer</a:t>
            </a:r>
          </a:p>
          <a:p xmlns:a="http://schemas.openxmlformats.org/drawingml/2006/main">
            <a:r>
              <a:t>For numeric text "2", blank, "4", there are two recorded numbers. The assignment uses the current Week 4 300-row CSV.</a:t>
            </a:r>
          </a:p>
          <a:p xmlns:a="http://schemas.openxmlformats.org/drawingml/2006/main">
            <a:r>
              <a:t/>
            </a:r>
          </a:p>
          <a:p xmlns:a="http://schemas.openxmlformats.org/drawingml/2006/main">
            <a:r>
              <a:t>Misconception to address</a:t>
            </a:r>
          </a:p>
          <a:p xmlns:a="http://schemas.openxmlformats.org/drawingml/2006/main">
            <a:r>
              <a:t>Keep the exact output names and required types. Use the task text for the learner’s own assessed answer; the alternate example explains the method without replacing their work.</a:t>
            </a:r>
          </a:p>
          <a:p xmlns:a="http://schemas.openxmlformats.org/drawingml/2006/main">
            <a:r>
              <a:t/>
            </a:r>
          </a:p>
          <a:p xmlns:a="http://schemas.openxmlformats.org/drawingml/2006/main">
            <a:r>
              <a:t>On this slide</a:t>
            </a:r>
          </a:p>
          <a:p xmlns:a="http://schemas.openxmlformats.org/drawingml/2006/main">
            <a:r>
              <a:t>Store an integer count of rows whose rate_of_penetration field is nonblank.</a:t>
            </a:r>
          </a:p>
          <a:p xmlns:a="http://schemas.openxmlformats.org/drawingml/2006/main">
            <a:r>
              <a:t/>
            </a:r>
          </a:p>
          <a:p xmlns:a="http://schemas.openxmlformats.org/drawingml/2006/main">
            <a:r>
              <a:t>Skip blank readings before numeric conversion.</a:t>
            </a:r>
          </a:p>
          <a:p xmlns:a="http://schemas.openxmlformats.org/drawingml/2006/main">
            <a:r>
              <a:t/>
            </a:r>
          </a:p>
          <a:p xmlns:a="http://schemas.openxmlformats.org/drawingml/2006/main">
            <a:r>
              <a:t>Continue to</a:t>
            </a:r>
          </a:p>
          <a:p xmlns:a="http://schemas.openxmlformats.org/drawingml/2006/main">
            <a:r>
              <a:t>mean_reading (5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mean_reading (5 marks)</a:t>
            </a:r>
          </a:p>
          <a:p xmlns:a="http://schemas.openxmlformats.org/drawingml/2006/main">
            <a:r>
              <a:t>CML3113, Week 4, slide 77</a:t>
            </a:r>
          </a:p>
          <a:p xmlns:a="http://schemas.openxmlformats.org/drawingml/2006/main">
            <a:r>
              <a:t/>
            </a:r>
          </a:p>
          <a:p xmlns:a="http://schemas.openxmlformats.org/drawingml/2006/main">
            <a:r>
              <a:t>Explanation to give</a:t>
            </a:r>
          </a:p>
          <a:p xmlns:a="http://schemas.openxmlformats.org/drawingml/2006/main">
            <a:r>
              <a:t>Add only the readings admitted by the stated validity rule, then divide by their count. Keep the requested numeric return or variable.</a:t>
            </a:r>
          </a:p>
          <a:p xmlns:a="http://schemas.openxmlformats.org/drawingml/2006/main">
            <a:r>
              <a:t/>
            </a:r>
          </a:p>
          <a:p xmlns:a="http://schemas.openxmlformats.org/drawingml/2006/main">
            <a:r>
              <a:t>Worked illustration / lecturer answer</a:t>
            </a:r>
          </a:p>
          <a:p xmlns:a="http://schemas.openxmlformats.org/drawingml/2006/main">
            <a:r>
              <a:t>For recorded readings 2 and 4, mean is 3. The skipped blank does not belong in the denominator.</a:t>
            </a:r>
          </a:p>
          <a:p xmlns:a="http://schemas.openxmlformats.org/drawingml/2006/main">
            <a:r>
              <a:t/>
            </a:r>
          </a:p>
          <a:p xmlns:a="http://schemas.openxmlformats.org/drawingml/2006/main">
            <a:r>
              <a:t>Misconception to address</a:t>
            </a:r>
          </a:p>
          <a:p xmlns:a="http://schemas.openxmlformats.org/drawingml/2006/main">
            <a:r>
              <a:t>Keep the exact output names and required types. Use the task text for the learner’s own assessed answer; the alternate example explains the method without replacing their work.</a:t>
            </a:r>
          </a:p>
          <a:p xmlns:a="http://schemas.openxmlformats.org/drawingml/2006/main">
            <a:r>
              <a:t/>
            </a:r>
          </a:p>
          <a:p xmlns:a="http://schemas.openxmlformats.org/drawingml/2006/main">
            <a:r>
              <a:t>On this slide</a:t>
            </a:r>
          </a:p>
          <a:p xmlns:a="http://schemas.openxmlformats.org/drawingml/2006/main">
            <a:r>
              <a:t>Store the arithmetic mean of the nonblank rate_of_penetration values as a number.</a:t>
            </a:r>
          </a:p>
          <a:p xmlns:a="http://schemas.openxmlformats.org/drawingml/2006/main">
            <a:r>
              <a:t/>
            </a:r>
          </a:p>
          <a:p xmlns:a="http://schemas.openxmlformats.org/drawingml/2006/main">
            <a:r>
              <a:t>Add the valid readings and divide by their count.</a:t>
            </a:r>
          </a:p>
          <a:p xmlns:a="http://schemas.openxmlformats.org/drawingml/2006/main">
            <a:r>
              <a:t/>
            </a:r>
          </a:p>
          <a:p xmlns:a="http://schemas.openxmlformats.org/drawingml/2006/main">
            <a:r>
              <a:t>Keep full precision.</a:t>
            </a:r>
          </a:p>
          <a:p xmlns:a="http://schemas.openxmlformats.org/drawingml/2006/main">
            <a:r>
              <a:t/>
            </a:r>
          </a:p>
          <a:p xmlns:a="http://schemas.openxmlformats.org/drawingml/2006/main">
            <a:r>
              <a:t>Continue to</a:t>
            </a:r>
          </a:p>
          <a:p xmlns:a="http://schemas.openxmlformats.org/drawingml/2006/main">
            <a:r>
              <a:t>above_limit (5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above_limit (5 marks)</a:t>
            </a:r>
          </a:p>
          <a:p xmlns:a="http://schemas.openxmlformats.org/drawingml/2006/main">
            <a:r>
              <a:t>CML3113, Week 4, slide 78</a:t>
            </a:r>
          </a:p>
          <a:p xmlns:a="http://schemas.openxmlformats.org/drawingml/2006/main">
            <a:r>
              <a:t/>
            </a:r>
          </a:p>
          <a:p xmlns:a="http://schemas.openxmlformats.org/drawingml/2006/main">
            <a:r>
              <a:t>Explanation to give</a:t>
            </a:r>
          </a:p>
          <a:p xmlns:a="http://schemas.openxmlformats.org/drawingml/2006/main">
            <a:r>
              <a:t>Compare each valid numeric reading against the specified threshold using the exact strict or inclusive relation in the task.</a:t>
            </a:r>
          </a:p>
          <a:p xmlns:a="http://schemas.openxmlformats.org/drawingml/2006/main">
            <a:r>
              <a:t/>
            </a:r>
          </a:p>
          <a:p xmlns:a="http://schemas.openxmlformats.org/drawingml/2006/main">
            <a:r>
              <a:t>Worked illustration / lecturer answer</a:t>
            </a:r>
          </a:p>
          <a:p xmlns:a="http://schemas.openxmlformats.org/drawingml/2006/main">
            <a:r>
              <a:t>For readings 9,10,11 and a strictly-greater-than 10 limit, the count is 1. Using &gt;= would incorrectly count 2.</a:t>
            </a:r>
          </a:p>
          <a:p xmlns:a="http://schemas.openxmlformats.org/drawingml/2006/main">
            <a:r>
              <a:t/>
            </a:r>
          </a:p>
          <a:p xmlns:a="http://schemas.openxmlformats.org/drawingml/2006/main">
            <a:r>
              <a:t>Misconception to address</a:t>
            </a:r>
          </a:p>
          <a:p xmlns:a="http://schemas.openxmlformats.org/drawingml/2006/main">
            <a:r>
              <a:t>Keep the exact output names and required types. Use the task text for the learner’s own assessed answer; the alternate example explains the method without replacing their work.</a:t>
            </a:r>
          </a:p>
          <a:p xmlns:a="http://schemas.openxmlformats.org/drawingml/2006/main">
            <a:r>
              <a:t/>
            </a:r>
          </a:p>
          <a:p xmlns:a="http://schemas.openxmlformats.org/drawingml/2006/main">
            <a:r>
              <a:t>On this slide</a:t>
            </a:r>
          </a:p>
          <a:p xmlns:a="http://schemas.openxmlformats.org/drawingml/2006/main">
            <a:r>
              <a:t>Store an integer count of valid rate_of_penetration readings strictly greater than 8.0.</a:t>
            </a:r>
          </a:p>
          <a:p xmlns:a="http://schemas.openxmlformats.org/drawingml/2006/main">
            <a:r>
              <a:t/>
            </a:r>
          </a:p>
          <a:p xmlns:a="http://schemas.openxmlformats.org/drawingml/2006/main">
            <a:r>
              <a:t>A reading equal to the threshold is not counted.</a:t>
            </a:r>
          </a:p>
          <a:p xmlns:a="http://schemas.openxmlformats.org/drawingml/2006/main">
            <a:r>
              <a:t/>
            </a:r>
          </a:p>
          <a:p xmlns:a="http://schemas.openxmlformats.org/drawingml/2006/main">
            <a:r>
              <a:t>Continue to</a:t>
            </a:r>
          </a:p>
          <a:p xmlns:a="http://schemas.openxmlformats.org/drawingml/2006/main">
            <a:r>
              <a:t>group_means (5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group_means (5 marks)</a:t>
            </a:r>
          </a:p>
          <a:p xmlns:a="http://schemas.openxmlformats.org/drawingml/2006/main">
            <a:r>
              <a:t>CML3113, Week 4, slide 79</a:t>
            </a:r>
          </a:p>
          <a:p xmlns:a="http://schemas.openxmlformats.org/drawingml/2006/main">
            <a:r>
              <a:t/>
            </a:r>
          </a:p>
          <a:p xmlns:a="http://schemas.openxmlformats.org/drawingml/2006/main">
            <a:r>
              <a:t>Explanation to give</a:t>
            </a:r>
          </a:p>
          <a:p xmlns:a="http://schemas.openxmlformats.org/drawingml/2006/main">
            <a:r>
              <a:t>Produce a dictionary from each group label to its own mean, using each group’s valid count.</a:t>
            </a:r>
          </a:p>
          <a:p xmlns:a="http://schemas.openxmlformats.org/drawingml/2006/main">
            <a:r>
              <a:t/>
            </a:r>
          </a:p>
          <a:p xmlns:a="http://schemas.openxmlformats.org/drawingml/2006/main">
            <a:r>
              <a:t>Worked illustration / lecturer answer</a:t>
            </a:r>
          </a:p>
          <a:p xmlns:a="http://schemas.openxmlformats.org/drawingml/2006/main">
            <a:r>
              <a:t>Group A with readings 2 and 4 has mean 3. Group B with a single 9 has mean 9. Dividing both by the overall count would be wrong.</a:t>
            </a:r>
          </a:p>
          <a:p xmlns:a="http://schemas.openxmlformats.org/drawingml/2006/main">
            <a:r>
              <a:t/>
            </a:r>
          </a:p>
          <a:p xmlns:a="http://schemas.openxmlformats.org/drawingml/2006/main">
            <a:r>
              <a:t>Misconception to address</a:t>
            </a:r>
          </a:p>
          <a:p xmlns:a="http://schemas.openxmlformats.org/drawingml/2006/main">
            <a:r>
              <a:t>Keep the exact output names and required types. Use the task text for the learner’s own assessed answer; the alternate example explains the method without replacing their work.</a:t>
            </a:r>
          </a:p>
          <a:p xmlns:a="http://schemas.openxmlformats.org/drawingml/2006/main">
            <a:r>
              <a:t/>
            </a:r>
          </a:p>
          <a:p xmlns:a="http://schemas.openxmlformats.org/drawingml/2006/main">
            <a:r>
              <a:t>On this slide</a:t>
            </a:r>
          </a:p>
          <a:p xmlns:a="http://schemas.openxmlformats.org/drawingml/2006/main">
            <a:r>
              <a:t>Store a dictionary whose keys are the bit_type labels and whose values are the mean valid rate_of_penetration readings within each group.</a:t>
            </a:r>
          </a:p>
          <a:p xmlns:a="http://schemas.openxmlformats.org/drawingml/2006/main">
            <a:r>
              <a:t/>
            </a:r>
          </a:p>
          <a:p xmlns:a="http://schemas.openxmlformats.org/drawingml/2006/main">
            <a:r>
              <a:t>Divide each group total by its own valid count.</a:t>
            </a:r>
          </a:p>
          <a:p xmlns:a="http://schemas.openxmlformats.org/drawingml/2006/main">
            <a:r>
              <a:t/>
            </a:r>
          </a:p>
          <a:p xmlns:a="http://schemas.openxmlformats.org/drawingml/2006/main">
            <a:r>
              <a:t>Keep full precision.</a:t>
            </a:r>
          </a:p>
          <a:p xmlns:a="http://schemas.openxmlformats.org/drawingml/2006/main">
            <a:r>
              <a:t/>
            </a:r>
          </a:p>
          <a:p xmlns:a="http://schemas.openxmlformats.org/drawingml/2006/main">
            <a:r>
              <a:t>Continue to</a:t>
            </a:r>
          </a:p>
          <a:p xmlns:a="http://schemas.openxmlformats.org/drawingml/2006/main">
            <a:r>
              <a:t>Week 4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rules</a:t>
            </a:r>
          </a:p>
          <a:p xmlns:a="http://schemas.openxmlformats.org/drawingml/2006/main">
            <a:r>
              <a:t>CML3113, Week 4, slide 80</a:t>
            </a:r>
          </a:p>
          <a:p xmlns:a="http://schemas.openxmlformats.org/drawingml/2006/main">
            <a:r>
              <a:t/>
            </a:r>
          </a:p>
          <a:p xmlns:a="http://schemas.openxmlformats.org/drawingml/2006/main">
            <a:r>
              <a:t>Explanation to give</a:t>
            </a:r>
          </a:p>
          <a:p xmlns:a="http://schemas.openxmlformats.org/drawingml/2006/main">
            <a:r>
              <a:t>A4 uses the Week 4 300-row cohort CSV. The required outputs are valid_count, mean_reading, above_limit and group_means. Work only with the rows admitted by the published blank-reading rules.</a:t>
            </a:r>
          </a:p>
          <a:p xmlns:a="http://schemas.openxmlformats.org/drawingml/2006/main">
            <a:r>
              <a:t/>
            </a:r>
          </a:p>
          <a:p xmlns:a="http://schemas.openxmlformats.org/drawingml/2006/main">
            <a:r>
              <a:t>Worked illustration / lecturer answer</a:t>
            </a:r>
          </a:p>
          <a:p xmlns:a="http://schemas.openxmlformats.org/drawingml/2006/main">
            <a:r>
              <a:t>Trace a smaller unrelated dataset first: A readings 2 and 4 yield A mean 3; B reading 9 yields B mean 9. Each group needs its own denominator.</a:t>
            </a:r>
          </a:p>
          <a:p xmlns:a="http://schemas.openxmlformats.org/drawingml/2006/main">
            <a:r>
              <a:t/>
            </a:r>
          </a:p>
          <a:p xmlns:a="http://schemas.openxmlformats.org/drawingml/2006/main">
            <a:r>
              <a:t>Misconception to address</a:t>
            </a:r>
          </a:p>
          <a:p xmlns:a="http://schemas.openxmlformats.org/drawingml/2006/main">
            <a:r>
              <a:t>Despite “Reading report” in the title, A4 is one completed Python notebook, not a separate Word report. Do not use Week 2’s four-row CSV.</a:t>
            </a:r>
          </a:p>
          <a:p xmlns:a="http://schemas.openxmlformats.org/drawingml/2006/main">
            <a:r>
              <a:t/>
            </a:r>
          </a:p>
          <a:p xmlns:a="http://schemas.openxmlformats.org/drawingml/2006/main">
            <a:r>
              <a:t>On this slide</a:t>
            </a:r>
          </a:p>
          <a:p xmlns:a="http://schemas.openxmlformats.org/drawingml/2006/main">
            <a:r>
              <a:t>Fictional teaching data.</a:t>
            </a:r>
          </a:p>
          <a:p xmlns:a="http://schemas.openxmlformats.org/drawingml/2006/main">
            <a:r>
              <a:t/>
            </a:r>
          </a:p>
          <a:p xmlns:a="http://schemas.openxmlformats.org/drawingml/2006/main">
            <a:r>
              <a:t>300 records.</a:t>
            </a:r>
          </a:p>
          <a:p xmlns:a="http://schemas.openxmlformats.org/drawingml/2006/main">
            <a:r>
              <a:t/>
            </a:r>
          </a:p>
          <a:p xmlns:a="http://schemas.openxmlformats.org/drawingml/2006/main">
            <a:r>
              <a:t>Three blank rate_of_penetration values must be skipped in numerical summaries.</a:t>
            </a:r>
          </a:p>
          <a:p xmlns:a="http://schemas.openxmlformats.org/drawingml/2006/main">
            <a:r>
              <a:t/>
            </a:r>
          </a:p>
          <a:p xmlns:a="http://schemas.openxmlformats.org/drawingml/2006/main">
            <a:r>
              <a:t>Threshold 8.0 is a teaching assumption.</a:t>
            </a:r>
          </a:p>
          <a:p xmlns:a="http://schemas.openxmlformats.org/drawingml/2006/main">
            <a:r>
              <a:t/>
            </a:r>
          </a:p>
          <a:p xmlns:a="http://schemas.openxmlformats.org/drawingml/2006/main">
            <a:r>
              <a:t>Continue to</a:t>
            </a:r>
          </a:p>
          <a:p xmlns:a="http://schemas.openxmlformats.org/drawingml/2006/main">
            <a:r>
              <a:t>Week 4 rules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rules continued</a:t>
            </a:r>
          </a:p>
          <a:p xmlns:a="http://schemas.openxmlformats.org/drawingml/2006/main">
            <a:r>
              <a:t>CML3113, Week 4, slide 81</a:t>
            </a:r>
          </a:p>
          <a:p xmlns:a="http://schemas.openxmlformats.org/drawingml/2006/main">
            <a:r>
              <a:t/>
            </a:r>
          </a:p>
          <a:p xmlns:a="http://schemas.openxmlformats.org/drawingml/2006/main">
            <a:r>
              <a:t>Explanation to give</a:t>
            </a:r>
          </a:p>
          <a:p xmlns:a="http://schemas.openxmlformats.org/drawingml/2006/main">
            <a:r>
              <a:t>A4 uses the Week 4 300-row cohort CSV. The required outputs are valid_count, mean_reading, above_limit and group_means. Work only with the rows admitted by the published blank-reading rules.</a:t>
            </a:r>
          </a:p>
          <a:p xmlns:a="http://schemas.openxmlformats.org/drawingml/2006/main">
            <a:r>
              <a:t/>
            </a:r>
          </a:p>
          <a:p xmlns:a="http://schemas.openxmlformats.org/drawingml/2006/main">
            <a:r>
              <a:t>Worked illustration / lecturer answer</a:t>
            </a:r>
          </a:p>
          <a:p xmlns:a="http://schemas.openxmlformats.org/drawingml/2006/main">
            <a:r>
              <a:t>Trace a smaller unrelated dataset first: A readings 2 and 4 yield A mean 3; B reading 9 yields B mean 9. Each group needs its own denominator.</a:t>
            </a:r>
          </a:p>
          <a:p xmlns:a="http://schemas.openxmlformats.org/drawingml/2006/main">
            <a:r>
              <a:t/>
            </a:r>
          </a:p>
          <a:p xmlns:a="http://schemas.openxmlformats.org/drawingml/2006/main">
            <a:r>
              <a:t>Misconception to address</a:t>
            </a:r>
          </a:p>
          <a:p xmlns:a="http://schemas.openxmlformats.org/drawingml/2006/main">
            <a:r>
              <a:t>Despite “Reading report” in the title, A4 is one completed Python notebook, not a separate Word report. Do not use Week 2’s four-row CSV.</a:t>
            </a:r>
          </a:p>
          <a:p xmlns:a="http://schemas.openxmlformats.org/drawingml/2006/main">
            <a:r>
              <a:t/>
            </a:r>
          </a:p>
          <a:p xmlns:a="http://schemas.openxmlformats.org/drawingml/2006/main">
            <a:r>
              <a:t>On this slide</a:t>
            </a:r>
          </a:p>
          <a:p xmlns:a="http://schemas.openxmlformats.org/drawingml/2006/main">
            <a:r>
              <a:t>Compute valid_count, mean_reading, above_limit (strictly greater than 8.0) and group_means keyed by bit_type.</a:t>
            </a:r>
          </a:p>
          <a:p xmlns:a="http://schemas.openxmlformats.org/drawingml/2006/main">
            <a:r>
              <a:t/>
            </a:r>
          </a:p>
          <a:p xmlns:a="http://schemas.openxmlformats.org/drawingml/2006/main">
            <a:r>
              <a:t>Use standard-library csv and collections.</a:t>
            </a:r>
          </a:p>
          <a:p xmlns:a="http://schemas.openxmlformats.org/drawingml/2006/main">
            <a:r>
              <a:t/>
            </a:r>
          </a:p>
          <a:p xmlns:a="http://schemas.openxmlformats.org/drawingml/2006/main">
            <a:r>
              <a:t>Save a copy using your Student Registration Number with / replaced by _, followed by _W04.ipynb.</a:t>
            </a:r>
          </a:p>
          <a:p xmlns:a="http://schemas.openxmlformats.org/drawingml/2006/main">
            <a:r>
              <a:t/>
            </a:r>
          </a:p>
          <a:p xmlns:a="http://schemas.openxmlformats.org/drawingml/2006/main">
            <a:r>
              <a:t>STUDENT_ID in the starter code means Student Registration Number.</a:t>
            </a:r>
          </a:p>
          <a:p xmlns:a="http://schemas.openxmlformats.org/drawingml/2006/main">
            <a:r>
              <a:t/>
            </a:r>
          </a:p>
          <a:p xmlns:a="http://schemas.openxmlformats.org/drawingml/2006/main">
            <a:r>
              <a:t>Continue to</a:t>
            </a:r>
          </a:p>
          <a:p xmlns:a="http://schemas.openxmlformats.org/drawingml/2006/main">
            <a:r>
              <a:t>Week 4 rules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rules continued</a:t>
            </a:r>
          </a:p>
          <a:p xmlns:a="http://schemas.openxmlformats.org/drawingml/2006/main">
            <a:r>
              <a:t>CML3113, Week 4, slide 82</a:t>
            </a:r>
          </a:p>
          <a:p xmlns:a="http://schemas.openxmlformats.org/drawingml/2006/main">
            <a:r>
              <a:t/>
            </a:r>
          </a:p>
          <a:p xmlns:a="http://schemas.openxmlformats.org/drawingml/2006/main">
            <a:r>
              <a:t>Explanation to give</a:t>
            </a:r>
          </a:p>
          <a:p xmlns:a="http://schemas.openxmlformats.org/drawingml/2006/main">
            <a:r>
              <a:t>A4 uses the Week 4 300-row cohort CSV. The required outputs are valid_count, mean_reading, above_limit and group_means. Work only with the rows admitted by the published blank-reading rules.</a:t>
            </a:r>
          </a:p>
          <a:p xmlns:a="http://schemas.openxmlformats.org/drawingml/2006/main">
            <a:r>
              <a:t/>
            </a:r>
          </a:p>
          <a:p xmlns:a="http://schemas.openxmlformats.org/drawingml/2006/main">
            <a:r>
              <a:t>Worked illustration / lecturer answer</a:t>
            </a:r>
          </a:p>
          <a:p xmlns:a="http://schemas.openxmlformats.org/drawingml/2006/main">
            <a:r>
              <a:t>Trace a smaller unrelated dataset first: A readings 2 and 4 yield A mean 3; B reading 9 yields B mean 9. Each group needs its own denominator.</a:t>
            </a:r>
          </a:p>
          <a:p xmlns:a="http://schemas.openxmlformats.org/drawingml/2006/main">
            <a:r>
              <a:t/>
            </a:r>
          </a:p>
          <a:p xmlns:a="http://schemas.openxmlformats.org/drawingml/2006/main">
            <a:r>
              <a:t>Misconception to address</a:t>
            </a:r>
          </a:p>
          <a:p xmlns:a="http://schemas.openxmlformats.org/drawingml/2006/main">
            <a:r>
              <a:t>Despite “Reading report” in the title, A4 is one completed Python notebook, not a separate Word report. Do not use Week 2’s four-row CSV.</a:t>
            </a:r>
          </a:p>
          <a:p xmlns:a="http://schemas.openxmlformats.org/drawingml/2006/main">
            <a:r>
              <a:t/>
            </a:r>
          </a:p>
          <a:p xmlns:a="http://schemas.openxmlformats.org/drawingml/2006/main">
            <a:r>
              <a:t>On this slide</a:t>
            </a:r>
          </a:p>
          <a:p xmlns:a="http://schemas.openxmlformats.org/drawingml/2006/main">
            <a:r>
              <a:t>Four checks carry five marks each.</a:t>
            </a:r>
          </a:p>
          <a:p xmlns:a="http://schemas.openxmlformats.org/drawingml/2006/main">
            <a:r>
              <a:t/>
            </a:r>
          </a:p>
          <a:p xmlns:a="http://schemas.openxmlformats.org/drawingml/2006/main">
            <a:r>
              <a:t>Explain the interesting pattern separately as formative practice.</a:t>
            </a:r>
          </a:p>
          <a:p xmlns:a="http://schemas.openxmlformats.org/drawingml/2006/main">
            <a:r>
              <a:t/>
            </a:r>
          </a:p>
          <a:p xmlns:a="http://schemas.openxmlformats.org/drawingml/2006/main">
            <a:r>
              <a:t>For beginner step-by-step help, open ASSIGNMENT_INSTRUCTIONS.txt and STUDENT_HOW_TO.md in this folder.</a:t>
            </a:r>
          </a:p>
          <a:p xmlns:a="http://schemas.openxmlformats.org/drawingml/2006/main">
            <a:r>
              <a:t/>
            </a:r>
          </a:p>
          <a:p xmlns:a="http://schemas.openxmlformats.org/drawingml/2006/main">
            <a:r>
              <a:t>The first names your required files and hand-in checklist; the second explains accounts, Colab, saving and uploads.</a:t>
            </a:r>
          </a:p>
          <a:p xmlns:a="http://schemas.openxmlformats.org/drawingml/2006/main">
            <a:r>
              <a:t/>
            </a:r>
          </a:p>
          <a:p xmlns:a="http://schemas.openxmlformats.org/drawingml/2006/main">
            <a:r>
              <a:t>Continue to</a:t>
            </a:r>
          </a:p>
          <a:p xmlns:a="http://schemas.openxmlformats.org/drawingml/2006/main">
            <a:r>
              <a:t>Reading report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report submission</a:t>
            </a:r>
          </a:p>
          <a:p xmlns:a="http://schemas.openxmlformats.org/drawingml/2006/main">
            <a:r>
              <a:t>CML3113, Week 4, slide 83</a:t>
            </a:r>
          </a:p>
          <a:p xmlns:a="http://schemas.openxmlformats.org/drawingml/2006/main">
            <a:r>
              <a:t/>
            </a:r>
          </a:p>
          <a:p xmlns:a="http://schemas.openxmlformats.org/drawingml/2006/main">
            <a:r>
              <a:t>Explanation to give</a:t>
            </a:r>
          </a:p>
          <a:p xmlns:a="http://schemas.openxmlformats.org/drawingml/2006/main">
            <a:r>
              <a:t>This slide hands over CML3113 W04.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2026-10-09T08:00:00+03:00.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02 Oct 2026, 08:00 Kampala</a:t>
            </a:r>
          </a:p>
          <a:p xmlns:a="http://schemas.openxmlformats.org/drawingml/2006/main">
            <a:r>
              <a:t/>
            </a:r>
          </a:p>
          <a:p xmlns:a="http://schemas.openxmlformats.org/drawingml/2006/main">
            <a:r>
              <a:t>Deadline: 09 Oct 2026, 08:00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Week 4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quiz</a:t>
            </a:r>
          </a:p>
          <a:p xmlns:a="http://schemas.openxmlformats.org/drawingml/2006/main">
            <a:r>
              <a:t>CML3113, Week 4, slide 84</a:t>
            </a:r>
          </a:p>
          <a:p xmlns:a="http://schemas.openxmlformats.org/drawingml/2006/main">
            <a:r>
              <a:t/>
            </a:r>
          </a:p>
          <a:p xmlns:a="http://schemas.openxmlformats.org/drawingml/2006/main">
            <a:r>
              <a:t>Explanation to give</a:t>
            </a:r>
          </a:p>
          <a:p xmlns:a="http://schemas.openxmlformats.org/drawingml/2006/main">
            <a:r>
              <a:t>This is the CML3113 Week 4 quiz. The student link opens the response form; it does not activate its window. In Quiz Controls use open_W4_CML3113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Revision and submission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CML3113, Week 4, slide 85</a:t>
            </a:r>
          </a:p>
          <a:p xmlns:a="http://schemas.openxmlformats.org/drawingml/2006/main">
            <a:r>
              <a:t/>
            </a:r>
          </a:p>
          <a:p xmlns:a="http://schemas.openxmlformats.org/drawingml/2006/main">
            <a:r>
              <a:t>Explanation to give</a:t>
            </a:r>
          </a:p>
          <a:p xmlns:a="http://schemas.openxmlformats.org/drawingml/2006/main">
            <a:r>
              <a:t>Move from one calculation to many records. Lists supply ordered values, loops visit them, dictionaries label fields and CSV files store the observations.</a:t>
            </a:r>
          </a:p>
          <a:p xmlns:a="http://schemas.openxmlformats.org/drawingml/2006/main">
            <a:r>
              <a:t/>
            </a:r>
          </a:p>
          <a:p xmlns:a="http://schemas.openxmlformats.org/drawingml/2006/main">
            <a:r>
              <a:t>Worked illustration / lecturer answer</a:t>
            </a:r>
          </a:p>
          <a:p xmlns:a="http://schemas.openxmlformats.org/drawingml/2006/main">
            <a:r>
              <a:t>For readings 2, 4 and 6, the running total is 2, then 6, then 12. Count 3 gives mean 4.0. A group needs its own total and count.</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show how the total and count change for each record.</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e3e04d852f42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02fe8962b348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d5360e150748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ff2063d8294e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23842d19884b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213e0247ed4d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ADFD8F-C3A0-45F8-8D8D-65CC96CC8E0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BBDECC8-A9ED-4C83-B4C6-0456D086556C}"/>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AD467C-A2CC-49FD-8A4F-91613745ECCF}"/>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063DFB-7609-4553-97B4-4AF0FD32C1D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ECEF1A9-2F8B-4012-A7AE-F2BD0FE9F9D8}"/>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845905-D891-4F9F-B967-B0F96A5BCBA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72FFF5-909D-4780-A640-58346983F090}"/>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A3D552-1BB1-4129-9B8D-5F1DC3D54A3D}"/>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C83A22-B232-4551-9005-044009C783E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71D997-6F59-4685-BE92-E3421FF8E7B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a4bfe3498542d4" /><Relationship Type="http://schemas.openxmlformats.org/officeDocument/2006/relationships/slideLayout" Target="/ppt/slideLayouts/slideLayout1.xml" Id="Re2bf1580297a48ce" /><Relationship Type="http://schemas.openxmlformats.org/officeDocument/2006/relationships/slideLayout" Target="/ppt/slideLayouts/slideLayout2.xml" Id="Rf0b34158c9964074" /><Relationship Type="http://schemas.openxmlformats.org/officeDocument/2006/relationships/slideLayout" Target="/ppt/slideLayouts/slideLayout3.xml" Id="Rbc27fd7d921d4e87" /><Relationship Type="http://schemas.openxmlformats.org/officeDocument/2006/relationships/slideLayout" Target="/ppt/slideLayouts/slideLayout4.xml" Id="Rb2f3c1c9ece04205" /><Relationship Type="http://schemas.openxmlformats.org/officeDocument/2006/relationships/slideLayout" Target="/ppt/slideLayouts/slideLayout5.xml" Id="Ref5b336ef76740f8" /><Relationship Type="http://schemas.openxmlformats.org/officeDocument/2006/relationships/slideLayout" Target="/ppt/slideLayouts/slideLayout6.xml" Id="R43b17187fe4540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bf1580297a48ce"/>
    <p:sldLayoutId xmlns:r="http://schemas.openxmlformats.org/officeDocument/2006/relationships" id="2147483650" r:id="Rf0b34158c9964074"/>
    <p:sldLayoutId xmlns:r="http://schemas.openxmlformats.org/officeDocument/2006/relationships" id="2147483651" r:id="Rbc27fd7d921d4e87"/>
    <p:sldLayoutId xmlns:r="http://schemas.openxmlformats.org/officeDocument/2006/relationships" id="2147483652" r:id="Rb2f3c1c9ece04205"/>
    <p:sldLayoutId xmlns:r="http://schemas.openxmlformats.org/officeDocument/2006/relationships" id="2147483653" r:id="Ref5b336ef76740f8"/>
    <p:sldLayoutId xmlns:r="http://schemas.openxmlformats.org/officeDocument/2006/relationships" id="2147483654" r:id="R43b17187fe4540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d152cbca3340f1" /><Relationship Type="http://schemas.openxmlformats.org/officeDocument/2006/relationships/image" Target="/ppt/media/image.png" Id="R9546d7adf58d4c7a" /><Relationship Type="http://schemas.openxmlformats.org/officeDocument/2006/relationships/notesSlide" Target="/ppt/notesSlides/notesSlide1.xml" Id="Rf134e0523b304b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2a827bb7394715" /><Relationship Type="http://schemas.openxmlformats.org/officeDocument/2006/relationships/notesSlide" Target="/ppt/notesSlides/notesSlide2.xml" Id="Rbdc5e97bec794e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71de96db3a4c8b" /><Relationship Type="http://schemas.openxmlformats.org/officeDocument/2006/relationships/notesSlide" Target="/ppt/notesSlides/notesSlide3.xml" Id="Re6638ca8acd14e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c0b6937b15418c" /><Relationship Type="http://schemas.openxmlformats.org/officeDocument/2006/relationships/notesSlide" Target="/ppt/notesSlides/notesSlide4.xml" Id="R05f4af3eee4145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95fb047571489c" /><Relationship Type="http://schemas.openxmlformats.org/officeDocument/2006/relationships/notesSlide" Target="/ppt/notesSlides/notesSlide5.xml" Id="Rab934d4ce25a4b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3df821fa394105" /><Relationship Type="http://schemas.openxmlformats.org/officeDocument/2006/relationships/notesSlide" Target="/ppt/notesSlides/notesSlide6.xml" Id="Ra25a647e5f734a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642d6387e84e7d" /><Relationship Type="http://schemas.openxmlformats.org/officeDocument/2006/relationships/notesSlide" Target="/ppt/notesSlides/notesSlide7.xml" Id="R64abb536ea0c4f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3919a9804f493e" /><Relationship Type="http://schemas.openxmlformats.org/officeDocument/2006/relationships/notesSlide" Target="/ppt/notesSlides/notesSlide8.xml" Id="Rf6a600cec75e40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6069e2d2734351" /><Relationship Type="http://schemas.openxmlformats.org/officeDocument/2006/relationships/notesSlide" Target="/ppt/notesSlides/notesSlide9.xml" Id="R7354f7304bf949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81ededd5b54cd4" /><Relationship Type="http://schemas.openxmlformats.org/officeDocument/2006/relationships/notesSlide" Target="/ppt/notesSlides/notesSlide10.xml" Id="R002f03a0d3744d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9464d1580e492e" /><Relationship Type="http://schemas.openxmlformats.org/officeDocument/2006/relationships/notesSlide" Target="/ppt/notesSlides/notesSlide11.xml" Id="Rdef599b7f34d4a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c3911adf6fd4338" /><Relationship Type="http://schemas.openxmlformats.org/officeDocument/2006/relationships/notesSlide" Target="/ppt/notesSlides/notesSlide12.xml" Id="R8baa5955fa3047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63c259697d4c8e" /><Relationship Type="http://schemas.openxmlformats.org/officeDocument/2006/relationships/notesSlide" Target="/ppt/notesSlides/notesSlide13.xml" Id="Rc87c70a3785047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00c1e3a203141a2" /><Relationship Type="http://schemas.openxmlformats.org/officeDocument/2006/relationships/notesSlide" Target="/ppt/notesSlides/notesSlide14.xml" Id="R56f473d575c942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d183abe22f64859" /><Relationship Type="http://schemas.openxmlformats.org/officeDocument/2006/relationships/notesSlide" Target="/ppt/notesSlides/notesSlide15.xml" Id="R07c8d96d3d5044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747baa64eed41fc" /><Relationship Type="http://schemas.openxmlformats.org/officeDocument/2006/relationships/notesSlide" Target="/ppt/notesSlides/notesSlide16.xml" Id="Rf54fdbbd7f9b4b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99f999594cc40d5" /><Relationship Type="http://schemas.openxmlformats.org/officeDocument/2006/relationships/notesSlide" Target="/ppt/notesSlides/notesSlide17.xml" Id="Rd64684a06cc347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3fdb1e0d114cc7" /><Relationship Type="http://schemas.openxmlformats.org/officeDocument/2006/relationships/notesSlide" Target="/ppt/notesSlides/notesSlide18.xml" Id="R9bbdcd745dd641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6d750ee2748420b" /><Relationship Type="http://schemas.openxmlformats.org/officeDocument/2006/relationships/image" Target="/ppt/media/image2.png" Id="Rc93838812b334c89" /><Relationship Type="http://schemas.openxmlformats.org/officeDocument/2006/relationships/notesSlide" Target="/ppt/notesSlides/notesSlide19.xml" Id="Rf6b350f751c846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0936c94412445b1" /><Relationship Type="http://schemas.openxmlformats.org/officeDocument/2006/relationships/notesSlide" Target="/ppt/notesSlides/notesSlide20.xml" Id="R6ac8fc1057434db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375394796d34a5d" /><Relationship Type="http://schemas.openxmlformats.org/officeDocument/2006/relationships/notesSlide" Target="/ppt/notesSlides/notesSlide21.xml" Id="R74b52cb5845941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b74fcebcdbf4e10" /><Relationship Type="http://schemas.openxmlformats.org/officeDocument/2006/relationships/notesSlide" Target="/ppt/notesSlides/notesSlide22.xml" Id="R0272687c285c41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7808bf906024fd8" /><Relationship Type="http://schemas.openxmlformats.org/officeDocument/2006/relationships/notesSlide" Target="/ppt/notesSlides/notesSlide23.xml" Id="R47c2f4cf784643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9835cd23eda4094" /><Relationship Type="http://schemas.openxmlformats.org/officeDocument/2006/relationships/notesSlide" Target="/ppt/notesSlides/notesSlide24.xml" Id="R1ff714dc0b924d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93439e40182434c" /><Relationship Type="http://schemas.openxmlformats.org/officeDocument/2006/relationships/notesSlide" Target="/ppt/notesSlides/notesSlide25.xml" Id="R15626e9586794d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bd2cc0bc06643dd" /><Relationship Type="http://schemas.openxmlformats.org/officeDocument/2006/relationships/notesSlide" Target="/ppt/notesSlides/notesSlide26.xml" Id="R2e8f1126ed74446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55a4c5da619441d" /><Relationship Type="http://schemas.openxmlformats.org/officeDocument/2006/relationships/notesSlide" Target="/ppt/notesSlides/notesSlide27.xml" Id="Rd4ef938c78b94b7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072d1af43894acd" /><Relationship Type="http://schemas.openxmlformats.org/officeDocument/2006/relationships/notesSlide" Target="/ppt/notesSlides/notesSlide28.xml" Id="Rec98697eee5043d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553082dc0ef4b6a" /><Relationship Type="http://schemas.openxmlformats.org/officeDocument/2006/relationships/notesSlide" Target="/ppt/notesSlides/notesSlide29.xml" Id="Rf984eb0565d344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aeb078aacef41bc" /><Relationship Type="http://schemas.openxmlformats.org/officeDocument/2006/relationships/notesSlide" Target="/ppt/notesSlides/notesSlide30.xml" Id="Re9f44a87ab334d0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8e2872283184d2d" /><Relationship Type="http://schemas.openxmlformats.org/officeDocument/2006/relationships/notesSlide" Target="/ppt/notesSlides/notesSlide31.xml" Id="Re12bfda1ecc0477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b44272e69514228" /><Relationship Type="http://schemas.openxmlformats.org/officeDocument/2006/relationships/notesSlide" Target="/ppt/notesSlides/notesSlide32.xml" Id="R11f5867f1e24445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684513d4e5948ce" /><Relationship Type="http://schemas.openxmlformats.org/officeDocument/2006/relationships/notesSlide" Target="/ppt/notesSlides/notesSlide33.xml" Id="R689af1d034f8473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910706d460d412c" /><Relationship Type="http://schemas.openxmlformats.org/officeDocument/2006/relationships/notesSlide" Target="/ppt/notesSlides/notesSlide34.xml" Id="R0cb625a02bac4b5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8a16887eb5043ee" /><Relationship Type="http://schemas.openxmlformats.org/officeDocument/2006/relationships/notesSlide" Target="/ppt/notesSlides/notesSlide35.xml" Id="Rd67b1a2ab6a7455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33d8a5bb34945ff" /><Relationship Type="http://schemas.openxmlformats.org/officeDocument/2006/relationships/notesSlide" Target="/ppt/notesSlides/notesSlide36.xml" Id="Rdd2d89ad645147e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6a206c8ed0d4ee8" /><Relationship Type="http://schemas.openxmlformats.org/officeDocument/2006/relationships/notesSlide" Target="/ppt/notesSlides/notesSlide37.xml" Id="R7a912b6ce094463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8b48f1328d14214" /><Relationship Type="http://schemas.openxmlformats.org/officeDocument/2006/relationships/notesSlide" Target="/ppt/notesSlides/notesSlide38.xml" Id="R9a2c5e441090491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6684be933eb4c84" /><Relationship Type="http://schemas.openxmlformats.org/officeDocument/2006/relationships/notesSlide" Target="/ppt/notesSlides/notesSlide39.xml" Id="R719d5781236c4d1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7bb43d26d43449e" /><Relationship Type="http://schemas.openxmlformats.org/officeDocument/2006/relationships/notesSlide" Target="/ppt/notesSlides/notesSlide40.xml" Id="R36e9306538ef400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7a52f2d87114552" /><Relationship Type="http://schemas.openxmlformats.org/officeDocument/2006/relationships/notesSlide" Target="/ppt/notesSlides/notesSlide41.xml" Id="Ra686fc4a2be2419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8d105ea00094b97" /><Relationship Type="http://schemas.openxmlformats.org/officeDocument/2006/relationships/notesSlide" Target="/ppt/notesSlides/notesSlide42.xml" Id="R04d10f001fdd43f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6ffc0fdcee847e3" /><Relationship Type="http://schemas.openxmlformats.org/officeDocument/2006/relationships/notesSlide" Target="/ppt/notesSlides/notesSlide43.xml" Id="R4aeccf69bb474d9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447f593e93248fb" /><Relationship Type="http://schemas.openxmlformats.org/officeDocument/2006/relationships/notesSlide" Target="/ppt/notesSlides/notesSlide44.xml" Id="R29b436f1ca51486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9036399a3a040b0" /><Relationship Type="http://schemas.openxmlformats.org/officeDocument/2006/relationships/notesSlide" Target="/ppt/notesSlides/notesSlide45.xml" Id="R185c234760de4d1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79964a8cd0c4dfe" /><Relationship Type="http://schemas.openxmlformats.org/officeDocument/2006/relationships/image" Target="/ppt/media/image3.png" Id="Rd203146e776341b8" /><Relationship Type="http://schemas.openxmlformats.org/officeDocument/2006/relationships/notesSlide" Target="/ppt/notesSlides/notesSlide46.xml" Id="Rd391ed13a8084f2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8adbfcd209f4f96" /><Relationship Type="http://schemas.openxmlformats.org/officeDocument/2006/relationships/notesSlide" Target="/ppt/notesSlides/notesSlide47.xml" Id="Rf1d930476a0b424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f6678c0d04bb4c46" /><Relationship Type="http://schemas.openxmlformats.org/officeDocument/2006/relationships/notesSlide" Target="/ppt/notesSlides/notesSlide48.xml" Id="R298f060cb4c5469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5509edab73547b6" /><Relationship Type="http://schemas.openxmlformats.org/officeDocument/2006/relationships/notesSlide" Target="/ppt/notesSlides/notesSlide49.xml" Id="Rb71c0fabd7c244e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16fa47777dd4ec6" /><Relationship Type="http://schemas.openxmlformats.org/officeDocument/2006/relationships/notesSlide" Target="/ppt/notesSlides/notesSlide50.xml" Id="R5cc415e578ef446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446d3d6c5091404e" /><Relationship Type="http://schemas.openxmlformats.org/officeDocument/2006/relationships/notesSlide" Target="/ppt/notesSlides/notesSlide51.xml" Id="Re62c7a72a51f49f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accfb3eae43143e8" /><Relationship Type="http://schemas.openxmlformats.org/officeDocument/2006/relationships/notesSlide" Target="/ppt/notesSlides/notesSlide52.xml" Id="R1648649f480e4c1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bc96b6b4b61d4172" /><Relationship Type="http://schemas.openxmlformats.org/officeDocument/2006/relationships/notesSlide" Target="/ppt/notesSlides/notesSlide53.xml" Id="R6d6b8372ceb94ea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317a4531e794d7d" /><Relationship Type="http://schemas.openxmlformats.org/officeDocument/2006/relationships/notesSlide" Target="/ppt/notesSlides/notesSlide54.xml" Id="R73759316920a473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6f63ace703c4c18" /><Relationship Type="http://schemas.openxmlformats.org/officeDocument/2006/relationships/notesSlide" Target="/ppt/notesSlides/notesSlide55.xml" Id="Rb468a902a455424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9203874ec5c419c" /><Relationship Type="http://schemas.openxmlformats.org/officeDocument/2006/relationships/notesSlide" Target="/ppt/notesSlides/notesSlide56.xml" Id="Rb454dce276dc4d6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c2c8d69466e44c3b" /><Relationship Type="http://schemas.openxmlformats.org/officeDocument/2006/relationships/notesSlide" Target="/ppt/notesSlides/notesSlide57.xml" Id="R1d733d5ec8254a4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7e0b5a6742949f1" /><Relationship Type="http://schemas.openxmlformats.org/officeDocument/2006/relationships/notesSlide" Target="/ppt/notesSlides/notesSlide58.xml" Id="R0b3a4e9389c64bf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ea3f9350fb84e49" /><Relationship Type="http://schemas.openxmlformats.org/officeDocument/2006/relationships/notesSlide" Target="/ppt/notesSlides/notesSlide59.xml" Id="R71799eecaf174cb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d622c3585d6444bb" /><Relationship Type="http://schemas.openxmlformats.org/officeDocument/2006/relationships/notesSlide" Target="/ppt/notesSlides/notesSlide60.xml" Id="Rc60de79b73324d7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3b9f1ab1c5fc47d7" /><Relationship Type="http://schemas.openxmlformats.org/officeDocument/2006/relationships/notesSlide" Target="/ppt/notesSlides/notesSlide61.xml" Id="Ra3e53352b6b442d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26d4a34bfee1486a" /><Relationship Type="http://schemas.openxmlformats.org/officeDocument/2006/relationships/notesSlide" Target="/ppt/notesSlides/notesSlide62.xml" Id="R53702dfa621d4e2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8310b273f1874f03" /><Relationship Type="http://schemas.openxmlformats.org/officeDocument/2006/relationships/notesSlide" Target="/ppt/notesSlides/notesSlide63.xml" Id="R4ebb79e1b79c446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1a0ab7dfbab4cac" /><Relationship Type="http://schemas.openxmlformats.org/officeDocument/2006/relationships/notesSlide" Target="/ppt/notesSlides/notesSlide64.xml" Id="R585e2efcd528481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15171f1523b9468f" /><Relationship Type="http://schemas.openxmlformats.org/officeDocument/2006/relationships/notesSlide" Target="/ppt/notesSlides/notesSlide65.xml" Id="R69f2c21b55fd4295"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1163050774f745fc" /><Relationship Type="http://schemas.openxmlformats.org/officeDocument/2006/relationships/notesSlide" Target="/ppt/notesSlides/notesSlide66.xml" Id="R7001669ce4d34e38"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0fdaed19ea124ee5" /><Relationship Type="http://schemas.openxmlformats.org/officeDocument/2006/relationships/notesSlide" Target="/ppt/notesSlides/notesSlide67.xml" Id="R8a96985f585f409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610aa327dc740c4" /><Relationship Type="http://schemas.openxmlformats.org/officeDocument/2006/relationships/notesSlide" Target="/ppt/notesSlides/notesSlide68.xml" Id="R76d6d96a3aa4403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33108cd67634745" /><Relationship Type="http://schemas.openxmlformats.org/officeDocument/2006/relationships/hyperlink" Target="https://docs.google.com/forms/d/e/1FAIpQLSenqAHKxNgzxWHIR41scC7h5WAxcs8D9wOyXYjIQ_ulbGpPCw/viewform" TargetMode="External" Id="Rb3f355aa13834998" /><Relationship Type="http://schemas.openxmlformats.org/officeDocument/2006/relationships/notesSlide" Target="/ppt/notesSlides/notesSlide69.xml" Id="R9bfddbdca9e5440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9031a1c1db2b4b5d" /><Relationship Type="http://schemas.openxmlformats.org/officeDocument/2006/relationships/image" Target="/ppt/media/image4.png" Id="Rded4a20c6c5e430d" /><Relationship Type="http://schemas.openxmlformats.org/officeDocument/2006/relationships/hyperlink" Target="https://forms.gle/YbPS4yzALy4tB1YM7" TargetMode="External" Id="R36721061e1984ddd" /><Relationship Type="http://schemas.openxmlformats.org/officeDocument/2006/relationships/notesSlide" Target="/ppt/notesSlides/notesSlide70.xml" Id="Rd1914349b075445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ab3fb52fdfe34bde" /><Relationship Type="http://schemas.openxmlformats.org/officeDocument/2006/relationships/notesSlide" Target="/ppt/notesSlides/notesSlide71.xml" Id="Rd4be862c368d40f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2EE7A83-F118-4B65-B373-C02D6C5EE3DE}"/>
              </a:ext>
            </a:extLst>
          </p:cNvPr>
          <p:cNvPicPr>
            <a:picLocks xmlns:a="http://schemas.openxmlformats.org/drawingml/2006/main" noChangeAspect="1"/>
          </p:cNvPicPr>
          <p:nvPr/>
        </p:nvPicPr>
        <p:blipFill>
          <a:blip xmlns:r="http://schemas.openxmlformats.org/officeDocument/2006/relationships" xmlns:a="http://schemas.openxmlformats.org/drawingml/2006/main" r:embed="R9546d7adf58d4c7a"/>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FAC8DA-8C0C-4184-851B-82D604EE1322}"/>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26C961-B0C6-45DC-9F79-C05B04F3C785}"/>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4</a:t>
            </a:r>
          </a:p>
        </p:txBody>
      </p:sp>
      <p:sp>
        <p:nvSpPr>
          <p:cNvPr id="4" name="">
            <a:extLst xmlns:a="http://schemas.openxmlformats.org/drawingml/2006/main">
              <a:ext uri="{FF2B5EF4-FFF2-40B4-BE49-F238E27FC236}">
                <a16:creationId xmlns:a16="http://schemas.microsoft.com/office/drawing/2014/main" id="{22FE5C49-FE89-48DA-A6EB-C5CDE130E6F4}"/>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Lists loops and reading a table</a:t>
            </a:r>
          </a:p>
        </p:txBody>
      </p:sp>
      <p:sp>
        <p:nvSpPr>
          <p:cNvPr id="5" name="">
            <a:extLst xmlns:a="http://schemas.openxmlformats.org/drawingml/2006/main">
              <a:ext uri="{FF2B5EF4-FFF2-40B4-BE49-F238E27FC236}">
                <a16:creationId xmlns:a16="http://schemas.microsoft.com/office/drawing/2014/main" id="{89598C1D-43AD-4BD7-B104-3CD75C746B7A}"/>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C77F4A1F-58FE-4CF2-9754-742187134C50}"/>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02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15796862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2BD21C-270C-402C-A40D-FCE38E4FB7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19F708-75F6-4309-B41B-BCE4C4BF3D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A84A6547-9AA9-4769-BFF9-66112C8DDA2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4A2F06B6-CD74-4987-839B-A2EE7C2421F3}"/>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19C0A4-EFA6-4109-8DCE-4C42AFBF07E8}"/>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A2337B9E-C1CB-4A1B-9031-DFA45E261BCA}"/>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lists and dictionary fields.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Trace a loop, read CSV rows and calculate summaries.</a:t>
            </a:r>
          </a:p>
        </p:txBody>
      </p:sp>
      <p:sp>
        <p:nvSpPr>
          <p:cNvPr id="7" name="">
            <a:extLst xmlns:a="http://schemas.openxmlformats.org/drawingml/2006/main">
              <a:ext uri="{FF2B5EF4-FFF2-40B4-BE49-F238E27FC236}">
                <a16:creationId xmlns:a16="http://schemas.microsoft.com/office/drawing/2014/main" id="{BF62E56C-2AAD-4E2F-8A0B-DDF9CF904C7F}"/>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92B481BA-4D57-4285-BCAE-A6B9EBBDB5EC}"/>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show how the total and count change for each record.</a:t>
            </a:r>
          </a:p>
        </p:txBody>
      </p:sp>
      <p:sp>
        <p:nvSpPr>
          <p:cNvPr id="9" name="">
            <a:extLst xmlns:a="http://schemas.openxmlformats.org/drawingml/2006/main">
              <a:ext uri="{FF2B5EF4-FFF2-40B4-BE49-F238E27FC236}">
                <a16:creationId xmlns:a16="http://schemas.microsoft.com/office/drawing/2014/main" id="{9248D85A-B408-49DB-A7B8-4EAB97542CB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a:t>
            </a:r>
          </a:p>
        </p:txBody>
      </p:sp>
    </p:spTree>
    <p:extLst>
      <p:ext uri="{BB962C8B-B14F-4D97-AF65-F5344CB8AC3E}">
        <p14:creationId xmlns:p14="http://schemas.microsoft.com/office/powerpoint/2010/main" val="8149181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FE3109-95BD-4E4A-9875-EDFF5A0E6D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2DB8D9-C200-4D63-8DF1-06F3FA1E6F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E1F2BE-F92C-4A62-8605-00EB6CEEF9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13BAFDF1-4CBA-4405-B2BF-1D68749391D3}"/>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B8A38D-E830-4A54-8FEB-B4631C56E5D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Week 3 introduced values, function inputs and results, conditions and list positions.</a:t>
            </a:r>
          </a:p>
        </p:txBody>
      </p:sp>
      <p:sp>
        <p:nvSpPr>
          <p:cNvPr id="6" name="">
            <a:extLst xmlns:a="http://schemas.openxmlformats.org/drawingml/2006/main">
              <a:ext uri="{FF2B5EF4-FFF2-40B4-BE49-F238E27FC236}">
                <a16:creationId xmlns:a16="http://schemas.microsoft.com/office/drawing/2014/main" id="{3509D8EB-8214-464B-B0F9-F839EC23958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repeat a calculation across records, then organise those records by keys.</a:t>
            </a:r>
          </a:p>
        </p:txBody>
      </p:sp>
      <p:sp>
        <p:nvSpPr>
          <p:cNvPr id="7" name="">
            <a:extLst xmlns:a="http://schemas.openxmlformats.org/drawingml/2006/main">
              <a:ext uri="{FF2B5EF4-FFF2-40B4-BE49-F238E27FC236}">
                <a16:creationId xmlns:a16="http://schemas.microsoft.com/office/drawing/2014/main" id="{607E3814-F5DE-4946-9B34-A503C22640D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a:t>
            </a:r>
          </a:p>
        </p:txBody>
      </p:sp>
    </p:spTree>
    <p:extLst>
      <p:ext uri="{BB962C8B-B14F-4D97-AF65-F5344CB8AC3E}">
        <p14:creationId xmlns:p14="http://schemas.microsoft.com/office/powerpoint/2010/main" val="15513588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29F0D6-3FAA-47B0-A05F-F87E5EFF574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F4B220-EDE4-48BF-ACEA-B1207AE494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DBB34E-6CB9-4077-83EA-096E0A48FE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C4394C97-E1C1-487B-AD1B-CEA5A344B78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30F225-6159-4ECB-8535-32A6398F582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Sensor readings arrive as records in a CSV file.</a:t>
            </a:r>
          </a:p>
        </p:txBody>
      </p:sp>
      <p:sp>
        <p:nvSpPr>
          <p:cNvPr id="6" name="">
            <a:extLst xmlns:a="http://schemas.openxmlformats.org/drawingml/2006/main">
              <a:ext uri="{FF2B5EF4-FFF2-40B4-BE49-F238E27FC236}">
                <a16:creationId xmlns:a16="http://schemas.microsoft.com/office/drawing/2014/main" id="{D131AA95-7A61-4618-A1BE-22965E2EED3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first learn the Python collections and loops needed to read those records and summarise them.</a:t>
            </a:r>
          </a:p>
        </p:txBody>
      </p:sp>
      <p:sp>
        <p:nvSpPr>
          <p:cNvPr id="7" name="">
            <a:extLst xmlns:a="http://schemas.openxmlformats.org/drawingml/2006/main">
              <a:ext uri="{FF2B5EF4-FFF2-40B4-BE49-F238E27FC236}">
                <a16:creationId xmlns:a16="http://schemas.microsoft.com/office/drawing/2014/main" id="{F53CB444-40FA-47E3-95FE-4E02C118B9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a:t>
            </a:r>
          </a:p>
        </p:txBody>
      </p:sp>
    </p:spTree>
    <p:extLst>
      <p:ext uri="{BB962C8B-B14F-4D97-AF65-F5344CB8AC3E}">
        <p14:creationId xmlns:p14="http://schemas.microsoft.com/office/powerpoint/2010/main" val="1127177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0433A1-09EA-481B-BB82-299F246EF5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3AF9F3-80F6-4C1C-9245-3AA7A9E3DE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88FB1CA7-9609-4FD7-A2AB-DFED278B50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 and index</a:t>
            </a:r>
          </a:p>
        </p:txBody>
      </p:sp>
      <p:sp>
        <p:nvSpPr>
          <p:cNvPr id="4" name="">
            <a:extLst xmlns:a="http://schemas.openxmlformats.org/drawingml/2006/main">
              <a:ext uri="{FF2B5EF4-FFF2-40B4-BE49-F238E27FC236}">
                <a16:creationId xmlns:a16="http://schemas.microsoft.com/office/drawing/2014/main" id="{983802CF-16EC-4365-9C58-0EEADAEF1017}"/>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D2205E-40E4-4A3E-9886-155F44EDFDB8}"/>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List and index</a:t>
            </a:r>
          </a:p>
        </p:txBody>
      </p:sp>
      <p:sp>
        <p:nvSpPr>
          <p:cNvPr id="6" name="">
            <a:extLst xmlns:a="http://schemas.openxmlformats.org/drawingml/2006/main">
              <a:ext uri="{FF2B5EF4-FFF2-40B4-BE49-F238E27FC236}">
                <a16:creationId xmlns:a16="http://schemas.microsoft.com/office/drawing/2014/main" id="{B763E97F-16D9-4150-850F-D3D84836A8E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list holds values in order: [2, 4, 6]. Square brackets select a position. readings[0] selects the first item, 2.</a:t>
            </a:r>
          </a:p>
        </p:txBody>
      </p:sp>
      <p:sp>
        <p:nvSpPr>
          <p:cNvPr id="7" name="">
            <a:extLst xmlns:a="http://schemas.openxmlformats.org/drawingml/2006/main">
              <a:ext uri="{FF2B5EF4-FFF2-40B4-BE49-F238E27FC236}">
                <a16:creationId xmlns:a16="http://schemas.microsoft.com/office/drawing/2014/main" id="{810DE622-3482-436E-A1D5-EBE0682CCD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a:t>
            </a:r>
          </a:p>
        </p:txBody>
      </p:sp>
    </p:spTree>
    <p:extLst>
      <p:ext uri="{BB962C8B-B14F-4D97-AF65-F5344CB8AC3E}">
        <p14:creationId xmlns:p14="http://schemas.microsoft.com/office/powerpoint/2010/main" val="18211326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FE6406-D811-40C5-AFAD-BFD2833222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F471CA-FCEC-4B5F-AD90-CCCBA2354C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070BF8A-1DDF-44A4-8DB7-6134F2DCBA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position starts at zero</a:t>
            </a:r>
          </a:p>
        </p:txBody>
      </p:sp>
      <p:sp>
        <p:nvSpPr>
          <p:cNvPr id="4" name="">
            <a:extLst xmlns:a="http://schemas.openxmlformats.org/drawingml/2006/main">
              <a:ext uri="{FF2B5EF4-FFF2-40B4-BE49-F238E27FC236}">
                <a16:creationId xmlns:a16="http://schemas.microsoft.com/office/drawing/2014/main" id="{B91C1DF3-FFEF-496B-BBFE-93FA89409FF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F5C1037-DDB7-4EEA-8583-637B8634E38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[2, 4, 6], position 0 holds 2.</a:t>
            </a:r>
          </a:p>
        </p:txBody>
      </p:sp>
      <p:sp>
        <p:nvSpPr>
          <p:cNvPr id="6" name="">
            <a:extLst xmlns:a="http://schemas.openxmlformats.org/drawingml/2006/main">
              <a:ext uri="{FF2B5EF4-FFF2-40B4-BE49-F238E27FC236}">
                <a16:creationId xmlns:a16="http://schemas.microsoft.com/office/drawing/2014/main" id="{7196BD17-2ABF-49BB-91C8-DE7D6556521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0F9C44D-7F2F-4185-A6B9-C02FEAC61D3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Position 1 holds 4. Position 2 holds 6.</a:t>
            </a:r>
          </a:p>
        </p:txBody>
      </p:sp>
      <p:sp>
        <p:nvSpPr>
          <p:cNvPr id="8" name="">
            <a:extLst xmlns:a="http://schemas.openxmlformats.org/drawingml/2006/main">
              <a:ext uri="{FF2B5EF4-FFF2-40B4-BE49-F238E27FC236}">
                <a16:creationId xmlns:a16="http://schemas.microsoft.com/office/drawing/2014/main" id="{9DFD4A4A-2C8E-42F4-BA42-2A24458EF5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9A9BA0F-76B1-49EB-8B91-58CD5FEB8C8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There is no position 3 in this three-item list.</a:t>
            </a:r>
          </a:p>
        </p:txBody>
      </p:sp>
      <p:sp>
        <p:nvSpPr>
          <p:cNvPr id="10" name="">
            <a:extLst xmlns:a="http://schemas.openxmlformats.org/drawingml/2006/main">
              <a:ext uri="{FF2B5EF4-FFF2-40B4-BE49-F238E27FC236}">
                <a16:creationId xmlns:a16="http://schemas.microsoft.com/office/drawing/2014/main" id="{86378F33-C208-49DC-9819-5C8706D2EF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a:t>
            </a:r>
          </a:p>
        </p:txBody>
      </p:sp>
    </p:spTree>
    <p:extLst>
      <p:ext uri="{BB962C8B-B14F-4D97-AF65-F5344CB8AC3E}">
        <p14:creationId xmlns:p14="http://schemas.microsoft.com/office/powerpoint/2010/main" val="5575589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6F541E-B67D-4AF1-8C8A-19908D76EB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6F9F38-E4FF-466B-89DA-5BADA81772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72BF32A-09CC-4A55-BFA6-43633AC8A9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list operations</a:t>
            </a:r>
          </a:p>
        </p:txBody>
      </p:sp>
      <p:sp>
        <p:nvSpPr>
          <p:cNvPr id="4" name="">
            <a:extLst xmlns:a="http://schemas.openxmlformats.org/drawingml/2006/main">
              <a:ext uri="{FF2B5EF4-FFF2-40B4-BE49-F238E27FC236}">
                <a16:creationId xmlns:a16="http://schemas.microsoft.com/office/drawing/2014/main" id="{B37B597B-D071-434B-85E9-E900B3F8529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BB0D81-0650-45B6-B671-15011137B997}"/>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append and len</a:t>
            </a:r>
          </a:p>
        </p:txBody>
      </p:sp>
      <p:sp>
        <p:nvSpPr>
          <p:cNvPr id="6" name="">
            <a:extLst xmlns:a="http://schemas.openxmlformats.org/drawingml/2006/main">
              <a:ext uri="{FF2B5EF4-FFF2-40B4-BE49-F238E27FC236}">
                <a16:creationId xmlns:a16="http://schemas.microsoft.com/office/drawing/2014/main" id="{D2A8F419-A1EE-4D23-85DC-26126587A71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readings.append(8) adds 8 to the end of the list. len(readings) counts its items. The dot selects an operation belonging to that object; parentheses call it.</a:t>
            </a:r>
          </a:p>
        </p:txBody>
      </p:sp>
      <p:sp>
        <p:nvSpPr>
          <p:cNvPr id="7" name="">
            <a:extLst xmlns:a="http://schemas.openxmlformats.org/drawingml/2006/main">
              <a:ext uri="{FF2B5EF4-FFF2-40B4-BE49-F238E27FC236}">
                <a16:creationId xmlns:a16="http://schemas.microsoft.com/office/drawing/2014/main" id="{244AF119-0381-41F8-AF95-61B7EC8F9FB5}"/>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EBE9B8-E760-42E9-8C73-D18C1999EEF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Slice</a:t>
            </a:r>
          </a:p>
        </p:txBody>
      </p:sp>
      <p:sp>
        <p:nvSpPr>
          <p:cNvPr id="9" name="">
            <a:extLst xmlns:a="http://schemas.openxmlformats.org/drawingml/2006/main">
              <a:ext uri="{FF2B5EF4-FFF2-40B4-BE49-F238E27FC236}">
                <a16:creationId xmlns:a16="http://schemas.microsoft.com/office/drawing/2014/main" id="{CC283355-5B01-405F-82AA-53149296A79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readings[1:3] selects positions 1 and 2. The stop position 3 is excluded. A slice produces a new list; it does not remove items from the original.</a:t>
            </a:r>
          </a:p>
        </p:txBody>
      </p:sp>
      <p:sp>
        <p:nvSpPr>
          <p:cNvPr id="10" name="">
            <a:extLst xmlns:a="http://schemas.openxmlformats.org/drawingml/2006/main">
              <a:ext uri="{FF2B5EF4-FFF2-40B4-BE49-F238E27FC236}">
                <a16:creationId xmlns:a16="http://schemas.microsoft.com/office/drawing/2014/main" id="{1DF12365-D756-4D24-ACDB-50611B86A1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7</a:t>
            </a:r>
          </a:p>
        </p:txBody>
      </p:sp>
    </p:spTree>
    <p:extLst>
      <p:ext uri="{BB962C8B-B14F-4D97-AF65-F5344CB8AC3E}">
        <p14:creationId xmlns:p14="http://schemas.microsoft.com/office/powerpoint/2010/main" val="20835608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E2DF1E-FC86-4112-A4FE-E1D7619AC6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EB1377-E5E3-4055-8206-57D021204D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03B481F-29A3-4657-A39B-46EFFEE4DF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items in order</a:t>
            </a:r>
          </a:p>
        </p:txBody>
      </p:sp>
      <p:sp>
        <p:nvSpPr>
          <p:cNvPr id="4" name="">
            <a:extLst xmlns:a="http://schemas.openxmlformats.org/drawingml/2006/main">
              <a:ext uri="{FF2B5EF4-FFF2-40B4-BE49-F238E27FC236}">
                <a16:creationId xmlns:a16="http://schemas.microsoft.com/office/drawing/2014/main" id="{B8020AE2-AF89-42A0-903D-20F0130F162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816C8F-7254-4776-A02F-65DDDE103C6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readings.append(8)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print(readings[1:3])</a:t>
            </a:r>
          </a:p>
        </p:txBody>
      </p:sp>
      <p:sp>
        <p:nvSpPr>
          <p:cNvPr id="6" name="">
            <a:extLst xmlns:a="http://schemas.openxmlformats.org/drawingml/2006/main">
              <a:ext uri="{FF2B5EF4-FFF2-40B4-BE49-F238E27FC236}">
                <a16:creationId xmlns:a16="http://schemas.microsoft.com/office/drawing/2014/main" id="{01FDBB4F-E924-4C26-B37A-3BB6D32EEAF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A3F984D-879C-4C89-BDC9-B911E33FCE7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817D1FC9-8C2E-4410-84B7-403647A09B8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append adds one item to the end of a list.</a:t>
            </a:r>
          </a:p>
        </p:txBody>
      </p:sp>
      <p:sp>
        <p:nvSpPr>
          <p:cNvPr id="9" name="">
            <a:extLst xmlns:a="http://schemas.openxmlformats.org/drawingml/2006/main">
              <a:ext uri="{FF2B5EF4-FFF2-40B4-BE49-F238E27FC236}">
                <a16:creationId xmlns:a16="http://schemas.microsoft.com/office/drawing/2014/main" id="{8714F401-8C31-4A6B-A180-7BEA6ED06878}"/>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722667FF-1D72-47A0-997D-C34EA20FC53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 builds a list. Positions start at zero. The slice stops before position 3.</a:t>
            </a:r>
          </a:p>
        </p:txBody>
      </p:sp>
      <p:sp>
        <p:nvSpPr>
          <p:cNvPr id="11" name="">
            <a:extLst xmlns:a="http://schemas.openxmlformats.org/drawingml/2006/main">
              <a:ext uri="{FF2B5EF4-FFF2-40B4-BE49-F238E27FC236}">
                <a16:creationId xmlns:a16="http://schemas.microsoft.com/office/drawing/2014/main" id="{12853CD5-4F52-4F06-AE0C-4FAC42E30E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8</a:t>
            </a:r>
          </a:p>
        </p:txBody>
      </p:sp>
    </p:spTree>
    <p:extLst>
      <p:ext uri="{BB962C8B-B14F-4D97-AF65-F5344CB8AC3E}">
        <p14:creationId xmlns:p14="http://schemas.microsoft.com/office/powerpoint/2010/main" val="7483636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2530B2-AB87-4B48-A133-C153F24389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688BF4-C1C6-4B7E-80C8-71A632E6FA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CE7857BC-260F-4581-96BE-06F25A4C2C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list changes</a:t>
            </a:r>
          </a:p>
        </p:txBody>
      </p:sp>
      <p:graphicFrame>
        <p:nvGraphicFramePr>
          <p:cNvPr id="4" name="">
            <a:extLst xmlns:a="http://schemas.openxmlformats.org/drawingml/2006/main">
              <a:ext uri="{FF2B5EF4-FFF2-40B4-BE49-F238E27FC236}">
                <a16:creationId xmlns:a16="http://schemas.microsoft.com/office/drawing/2014/main" id="{CC2654F9-D73A-4EAD-A7BF-EB4CFF7C124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Instruction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List afterwards</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output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readings = [2,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Nothing yet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print(readings[0])</a:t>
                      </a:r>
                    </a:p>
                  </a:txBody>
                  <a:tcPr marL="91440" marR="91440" marT="45720" marB="45720">
                    <a:solidFill>
                      <a:srgbClr val="FFFFFF"/>
                    </a:solidFill>
                  </a:tcPr>
                </a:tc>
                <a:tc>
                  <a:txBody>
                    <a:bodyPr/>
                    <a:lstStyle/>
                    <a:p>
                      <a:r>
                        <a:rPr sz="2025" b="0">
                          <a:solidFill>
                            <a:srgbClr val="1C3144"/>
                          </a:solidFill>
                          <a:latin typeface="Calibri"/>
                          <a:ea typeface="Calibri"/>
                          <a:cs typeface="Calibri"/>
                        </a:rPr>
                        <a:t>[2, 4, 6]</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readings.append(8)</a:t>
                      </a:r>
                    </a:p>
                  </a:txBody>
                  <a:tcPr marL="91440" marR="91440" marT="45720" marB="45720">
                    <a:solidFill>
                      <a:srgbClr val="EEF3F6"/>
                    </a:solidFill>
                  </a:tcPr>
                </a:tc>
                <a:tc>
                  <a:txBody>
                    <a:bodyPr/>
                    <a:lstStyle/>
                    <a:p>
                      <a:r>
                        <a:rPr sz="2025" b="0">
                          <a:solidFill>
                            <a:srgbClr val="1C3144"/>
                          </a:solidFill>
                          <a:latin typeface="Calibri"/>
                          <a:ea typeface="Calibri"/>
                          <a:cs typeface="Calibri"/>
                        </a:rPr>
                        <a:t>[2, 4, 6, 8]</a:t>
                      </a:r>
                    </a:p>
                  </a:txBody>
                  <a:tcPr marL="91440" marR="91440" marT="45720" marB="45720">
                    <a:solidFill>
                      <a:srgbClr val="EEF3F6"/>
                    </a:solidFill>
                  </a:tcPr>
                </a:tc>
                <a:tc>
                  <a:txBody>
                    <a:bodyPr/>
                    <a:lstStyle/>
                    <a:p>
                      <a:r>
                        <a:rPr sz="2025" b="0">
                          <a:solidFill>
                            <a:srgbClr val="1C3144"/>
                          </a:solidFill>
                          <a:latin typeface="Calibri"/>
                          <a:ea typeface="Calibri"/>
                          <a:cs typeface="Calibri"/>
                        </a:rPr>
                        <a:t>Nothing yet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print(readings[1:3])</a:t>
                      </a:r>
                    </a:p>
                  </a:txBody>
                  <a:tcPr marL="91440" marR="91440" marT="45720" marB="45720">
                    <a:solidFill>
                      <a:srgbClr val="FFFFFF"/>
                    </a:solidFill>
                  </a:tcPr>
                </a:tc>
                <a:tc>
                  <a:txBody>
                    <a:bodyPr/>
                    <a:lstStyle/>
                    <a:p>
                      <a:r>
                        <a:rPr sz="2025" b="0">
                          <a:solidFill>
                            <a:srgbClr val="1C3144"/>
                          </a:solidFill>
                          <a:latin typeface="Calibri"/>
                          <a:ea typeface="Calibri"/>
                          <a:cs typeface="Calibri"/>
                        </a:rPr>
                        <a:t>[2, 4, 6, 8]</a:t>
                      </a:r>
                    </a:p>
                  </a:txBody>
                  <a:tcPr marL="91440" marR="91440" marT="45720" marB="45720">
                    <a:solidFill>
                      <a:srgbClr val="FFFFFF"/>
                    </a:solidFill>
                  </a:tcPr>
                </a:tc>
                <a:tc>
                  <a:txBody>
                    <a:bodyPr/>
                    <a:lstStyle/>
                    <a:p>
                      <a:r>
                        <a:rPr sz="2025" b="0">
                          <a:solidFill>
                            <a:srgbClr val="1C3144"/>
                          </a:solidFill>
                          <a:latin typeface="Calibri"/>
                          <a:ea typeface="Calibri"/>
                          <a:cs typeface="Calibri"/>
                        </a:rPr>
                        <a:t>[4, 6]</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F917C7-4E8F-4331-9EE2-E4FE35DAC191}"/>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len reports 4 after append. A slice excludes its stop position and leaves the original list intact.</a:t>
            </a:r>
          </a:p>
        </p:txBody>
      </p:sp>
      <p:sp>
        <p:nvSpPr>
          <p:cNvPr id="6" name="">
            <a:extLst xmlns:a="http://schemas.openxmlformats.org/drawingml/2006/main">
              <a:ext uri="{FF2B5EF4-FFF2-40B4-BE49-F238E27FC236}">
                <a16:creationId xmlns:a16="http://schemas.microsoft.com/office/drawing/2014/main" id="{F0CF8069-4C7F-4EA5-8FBD-F9C06057A4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9</a:t>
            </a:r>
          </a:p>
        </p:txBody>
      </p:sp>
    </p:spTree>
    <p:extLst>
      <p:ext uri="{BB962C8B-B14F-4D97-AF65-F5344CB8AC3E}">
        <p14:creationId xmlns:p14="http://schemas.microsoft.com/office/powerpoint/2010/main" val="15736248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3509A4-45DE-42A2-B4C4-97610C3876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F5409D-5755-42B5-B816-B769E99DAA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20AB8A8-57FA-4B17-9E37-9A76A4542D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loop repeats instructions</a:t>
            </a:r>
          </a:p>
        </p:txBody>
      </p:sp>
      <p:sp>
        <p:nvSpPr>
          <p:cNvPr id="4" name="">
            <a:extLst xmlns:a="http://schemas.openxmlformats.org/drawingml/2006/main">
              <a:ext uri="{FF2B5EF4-FFF2-40B4-BE49-F238E27FC236}">
                <a16:creationId xmlns:a16="http://schemas.microsoft.com/office/drawing/2014/main" id="{AD81309F-4C16-4003-B2BE-22D6E650C12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0A2248-7DC5-41A0-BFB3-44C2C2D9337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loop runs a block more than once. One execution of the block is called an iteration.</a:t>
            </a:r>
          </a:p>
        </p:txBody>
      </p:sp>
      <p:sp>
        <p:nvSpPr>
          <p:cNvPr id="6" name="">
            <a:extLst xmlns:a="http://schemas.openxmlformats.org/drawingml/2006/main">
              <a:ext uri="{FF2B5EF4-FFF2-40B4-BE49-F238E27FC236}">
                <a16:creationId xmlns:a16="http://schemas.microsoft.com/office/drawing/2014/main" id="{74CCEA0D-CB24-45C6-B0B4-64401EE9996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9FB25C-A017-4213-9F6E-E783EF66363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takes one item at a time from a collection. Use it when each item needs the same action.</a:t>
            </a:r>
          </a:p>
        </p:txBody>
      </p:sp>
      <p:sp>
        <p:nvSpPr>
          <p:cNvPr id="8" name="">
            <a:extLst xmlns:a="http://schemas.openxmlformats.org/drawingml/2006/main">
              <a:ext uri="{FF2B5EF4-FFF2-40B4-BE49-F238E27FC236}">
                <a16:creationId xmlns:a16="http://schemas.microsoft.com/office/drawing/2014/main" id="{4E9EBE4C-6797-4F88-9224-ED2CBD30106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9AC81DF-F82B-4008-8D7A-98BA87B4624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while repeats while a condition stays True. Use it when a condition controls repetition.</a:t>
            </a:r>
          </a:p>
        </p:txBody>
      </p:sp>
      <p:sp>
        <p:nvSpPr>
          <p:cNvPr id="10" name="">
            <a:extLst xmlns:a="http://schemas.openxmlformats.org/drawingml/2006/main">
              <a:ext uri="{FF2B5EF4-FFF2-40B4-BE49-F238E27FC236}">
                <a16:creationId xmlns:a16="http://schemas.microsoft.com/office/drawing/2014/main" id="{E16B3FFB-85AD-4CD8-BF05-12B7BDDB631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10</a:t>
            </a:r>
          </a:p>
        </p:txBody>
      </p:sp>
    </p:spTree>
    <p:extLst>
      <p:ext uri="{BB962C8B-B14F-4D97-AF65-F5344CB8AC3E}">
        <p14:creationId xmlns:p14="http://schemas.microsoft.com/office/powerpoint/2010/main" val="21081902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0E628B-5689-4E97-82B3-5122E44B97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C4ECC5-9233-494B-B39B-B119102434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CFD4985-CAC8-4242-871F-161F4E8E11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every part of a for header</a:t>
            </a:r>
          </a:p>
        </p:txBody>
      </p:sp>
      <p:sp>
        <p:nvSpPr>
          <p:cNvPr id="4" name="">
            <a:extLst xmlns:a="http://schemas.openxmlformats.org/drawingml/2006/main">
              <a:ext uri="{FF2B5EF4-FFF2-40B4-BE49-F238E27FC236}">
                <a16:creationId xmlns:a16="http://schemas.microsoft.com/office/drawing/2014/main" id="{F2D51F04-1E49-4404-BC34-87D3FFC949F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40CD0B-FF7E-4F44-BDC5-66B0428E42F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for reading in readings:, for introduces repetition, reading names the current item, and readings is the collection to visit.</a:t>
            </a:r>
          </a:p>
        </p:txBody>
      </p:sp>
      <p:sp>
        <p:nvSpPr>
          <p:cNvPr id="6" name="">
            <a:extLst xmlns:a="http://schemas.openxmlformats.org/drawingml/2006/main">
              <a:ext uri="{FF2B5EF4-FFF2-40B4-BE49-F238E27FC236}">
                <a16:creationId xmlns:a16="http://schemas.microsoft.com/office/drawing/2014/main" id="{16DFD060-D38B-4D27-8A89-16C196BFA73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EE3FF4-146B-45BF-9848-23A9CB5D0B6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connects the current-item name to that collection. The colon begins the loop body. Four spaces mark each instruction that repeats.</a:t>
            </a:r>
          </a:p>
        </p:txBody>
      </p:sp>
      <p:sp>
        <p:nvSpPr>
          <p:cNvPr id="8" name="">
            <a:extLst xmlns:a="http://schemas.openxmlformats.org/drawingml/2006/main">
              <a:ext uri="{FF2B5EF4-FFF2-40B4-BE49-F238E27FC236}">
                <a16:creationId xmlns:a16="http://schemas.microsoft.com/office/drawing/2014/main" id="{71ABE93D-3347-4776-B70D-C5FD5F7E2C2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2FF54C3-D482-4C7D-A950-70C9B2D8FB6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is a name we choose; it is assigned the next item automatically. It is not the same name as readings. After the last item, execution leaves the loop.</a:t>
            </a:r>
          </a:p>
        </p:txBody>
      </p:sp>
      <p:sp>
        <p:nvSpPr>
          <p:cNvPr id="10" name="">
            <a:extLst xmlns:a="http://schemas.openxmlformats.org/drawingml/2006/main">
              <a:ext uri="{FF2B5EF4-FFF2-40B4-BE49-F238E27FC236}">
                <a16:creationId xmlns:a16="http://schemas.microsoft.com/office/drawing/2014/main" id="{C90FB9B6-316F-4A05-94FC-4D1EE434F7D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11</a:t>
            </a:r>
          </a:p>
        </p:txBody>
      </p:sp>
    </p:spTree>
    <p:extLst>
      <p:ext uri="{BB962C8B-B14F-4D97-AF65-F5344CB8AC3E}">
        <p14:creationId xmlns:p14="http://schemas.microsoft.com/office/powerpoint/2010/main" val="20632685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154AD2-B5CD-4380-9055-9447ED6D0FD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36332A-A1F7-4A7E-8750-95BEC47486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A283779-02E4-418D-B9F0-3B381CEED5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Visit each item without calculating</a:t>
            </a:r>
          </a:p>
        </p:txBody>
      </p:sp>
      <p:sp>
        <p:nvSpPr>
          <p:cNvPr id="4" name="">
            <a:extLst xmlns:a="http://schemas.openxmlformats.org/drawingml/2006/main">
              <a:ext uri="{FF2B5EF4-FFF2-40B4-BE49-F238E27FC236}">
                <a16:creationId xmlns:a16="http://schemas.microsoft.com/office/drawing/2014/main" id="{BF98D00A-A41C-409E-99FF-A06737E1CAB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AB1D8E-BAA5-4143-B88C-5D4F46CF6C5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print("finished")</a:t>
            </a:r>
          </a:p>
        </p:txBody>
      </p:sp>
      <p:sp>
        <p:nvSpPr>
          <p:cNvPr id="6" name="">
            <a:extLst xmlns:a="http://schemas.openxmlformats.org/drawingml/2006/main">
              <a:ext uri="{FF2B5EF4-FFF2-40B4-BE49-F238E27FC236}">
                <a16:creationId xmlns:a16="http://schemas.microsoft.com/office/drawing/2014/main" id="{8B39ECC5-97DE-4BC4-8ED1-FF0DF375142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3024D71-057F-44C7-AF2C-75A4053A542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body runs once for each item.</a:t>
            </a:r>
          </a:p>
        </p:txBody>
      </p:sp>
      <p:sp>
        <p:nvSpPr>
          <p:cNvPr id="8" name="">
            <a:extLst xmlns:a="http://schemas.openxmlformats.org/drawingml/2006/main">
              <a:ext uri="{FF2B5EF4-FFF2-40B4-BE49-F238E27FC236}">
                <a16:creationId xmlns:a16="http://schemas.microsoft.com/office/drawing/2014/main" id="{5B7BD31F-D2B7-46B1-ABDD-8EA89E21990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line is outside the loop, so it runs once.</a:t>
            </a:r>
          </a:p>
        </p:txBody>
      </p:sp>
      <p:sp>
        <p:nvSpPr>
          <p:cNvPr id="9" name="">
            <a:extLst xmlns:a="http://schemas.openxmlformats.org/drawingml/2006/main">
              <a:ext uri="{FF2B5EF4-FFF2-40B4-BE49-F238E27FC236}">
                <a16:creationId xmlns:a16="http://schemas.microsoft.com/office/drawing/2014/main" id="{7FCA5349-F416-4BAB-9EE9-6D109AF4EC4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4; 6; finished</a:t>
            </a:r>
          </a:p>
        </p:txBody>
      </p:sp>
      <p:sp>
        <p:nvSpPr>
          <p:cNvPr id="10" name="">
            <a:extLst xmlns:a="http://schemas.openxmlformats.org/drawingml/2006/main">
              <a:ext uri="{FF2B5EF4-FFF2-40B4-BE49-F238E27FC236}">
                <a16:creationId xmlns:a16="http://schemas.microsoft.com/office/drawing/2014/main" id="{FE36098A-2144-40F4-B0DB-EC09C8D1B8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12</a:t>
            </a:r>
          </a:p>
        </p:txBody>
      </p:sp>
    </p:spTree>
    <p:extLst>
      <p:ext uri="{BB962C8B-B14F-4D97-AF65-F5344CB8AC3E}">
        <p14:creationId xmlns:p14="http://schemas.microsoft.com/office/powerpoint/2010/main" val="21262509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EDBE28-B57A-4715-AD91-AE1FBED49A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BC0B7D-029E-452C-86FD-716D19CE55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149720C-18EE-4A3F-8E07-740D3159D2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for loop item by item</a:t>
            </a:r>
          </a:p>
        </p:txBody>
      </p:sp>
      <p:graphicFrame>
        <p:nvGraphicFramePr>
          <p:cNvPr id="4" name="">
            <a:extLst xmlns:a="http://schemas.openxmlformats.org/drawingml/2006/main">
              <a:ext uri="{FF2B5EF4-FFF2-40B4-BE49-F238E27FC236}">
                <a16:creationId xmlns:a16="http://schemas.microsoft.com/office/drawing/2014/main" id="{80D78CC1-05E9-44DD-83B0-4666F9CF20AB}"/>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Current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Action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First item</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Second item</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Print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Third item</a:t>
                      </a:r>
                    </a:p>
                  </a:txBody>
                  <a:tcPr marL="91440" marR="91440" marT="45720" marB="45720">
                    <a:solidFill>
                      <a:srgbClr val="EEF3F6"/>
                    </a:solidFill>
                  </a:tcPr>
                </a:tc>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No items left</a:t>
                      </a:r>
                    </a:p>
                  </a:txBody>
                  <a:tcPr marL="91440" marR="91440" marT="45720" marB="45720">
                    <a:solidFill>
                      <a:srgbClr val="FFFFFF"/>
                    </a:solidFill>
                  </a:tcPr>
                </a:tc>
                <a:tc>
                  <a:txBody>
                    <a:bodyPr/>
                    <a:lstStyle/>
                    <a:p>
                      <a:r>
                        <a:rPr sz="2025" b="0">
                          <a:solidFill>
                            <a:srgbClr val="1C3144"/>
                          </a:solidFill>
                          <a:latin typeface="Calibri"/>
                          <a:ea typeface="Calibri"/>
                          <a:cs typeface="Calibri"/>
                        </a:rPr>
                        <a:t>No new item</a:t>
                      </a:r>
                    </a:p>
                  </a:txBody>
                  <a:tcPr marL="91440" marR="91440" marT="45720" marB="45720">
                    <a:solidFill>
                      <a:srgbClr val="FFFFFF"/>
                    </a:solidFill>
                  </a:tcPr>
                </a:tc>
                <a:tc>
                  <a:txBody>
                    <a:bodyPr/>
                    <a:lstStyle/>
                    <a:p>
                      <a:r>
                        <a:rPr sz="2025" b="0">
                          <a:solidFill>
                            <a:srgbClr val="1C3144"/>
                          </a:solidFill>
                          <a:latin typeface="Calibri"/>
                          <a:ea typeface="Calibri"/>
                          <a:cs typeface="Calibri"/>
                        </a:rPr>
                        <a:t>Leave loop; print finished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0434A65-B89F-4670-9164-781759F1F8A7}"/>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list runs the body zero times. It still reaches the outside line.</a:t>
            </a:r>
          </a:p>
        </p:txBody>
      </p:sp>
      <p:sp>
        <p:nvSpPr>
          <p:cNvPr id="6" name="">
            <a:extLst xmlns:a="http://schemas.openxmlformats.org/drawingml/2006/main">
              <a:ext uri="{FF2B5EF4-FFF2-40B4-BE49-F238E27FC236}">
                <a16:creationId xmlns:a16="http://schemas.microsoft.com/office/drawing/2014/main" id="{1C026DAB-7B7B-4708-B512-7957ACEED3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13</a:t>
            </a:r>
          </a:p>
        </p:txBody>
      </p:sp>
    </p:spTree>
    <p:extLst>
      <p:ext uri="{BB962C8B-B14F-4D97-AF65-F5344CB8AC3E}">
        <p14:creationId xmlns:p14="http://schemas.microsoft.com/office/powerpoint/2010/main" val="20143088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E40FEF-0454-4640-A4ED-DFB453C98E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157DB5-2229-438E-AB65-BF3F42AA82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1D1C814-1826-44A0-AC4F-7867E1EABA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Updating a counter inside a loop</a:t>
            </a:r>
          </a:p>
        </p:txBody>
      </p:sp>
      <p:sp>
        <p:nvSpPr>
          <p:cNvPr id="4" name="">
            <a:extLst xmlns:a="http://schemas.openxmlformats.org/drawingml/2006/main">
              <a:ext uri="{FF2B5EF4-FFF2-40B4-BE49-F238E27FC236}">
                <a16:creationId xmlns:a16="http://schemas.microsoft.com/office/drawing/2014/main" id="{96CC5D52-56CF-4DCA-AE7B-309D1027941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1C2325B-8391-4A7E-B811-57B5AEA868E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counter records how many times an event happens. Set count = 0 before the loop, then count = count + 1 inside it.</a:t>
            </a:r>
          </a:p>
        </p:txBody>
      </p:sp>
      <p:sp>
        <p:nvSpPr>
          <p:cNvPr id="6" name="">
            <a:extLst xmlns:a="http://schemas.openxmlformats.org/drawingml/2006/main">
              <a:ext uri="{FF2B5EF4-FFF2-40B4-BE49-F238E27FC236}">
                <a16:creationId xmlns:a16="http://schemas.microsoft.com/office/drawing/2014/main" id="{1B267B13-1904-447F-9ED4-A9673622AE0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2DE86DE-A99F-48B6-BC1D-0CC7EF20154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1 is a shorter spelling for that numeric update. Similarly, total += reading means total = total + reading.</a:t>
            </a:r>
          </a:p>
        </p:txBody>
      </p:sp>
      <p:sp>
        <p:nvSpPr>
          <p:cNvPr id="8" name="">
            <a:extLst xmlns:a="http://schemas.openxmlformats.org/drawingml/2006/main">
              <a:ext uri="{FF2B5EF4-FFF2-40B4-BE49-F238E27FC236}">
                <a16:creationId xmlns:a16="http://schemas.microsoft.com/office/drawing/2014/main" id="{6F2339F4-5886-4D31-A67E-44052278FE3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FB886CA-AC5A-4D58-9910-106B2A201A3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initial value belongs outside the loop. Resetting count to zero inside every iteration loses the earlier count.</a:t>
            </a:r>
          </a:p>
        </p:txBody>
      </p:sp>
      <p:sp>
        <p:nvSpPr>
          <p:cNvPr id="10" name="">
            <a:extLst xmlns:a="http://schemas.openxmlformats.org/drawingml/2006/main">
              <a:ext uri="{FF2B5EF4-FFF2-40B4-BE49-F238E27FC236}">
                <a16:creationId xmlns:a16="http://schemas.microsoft.com/office/drawing/2014/main" id="{3E16B5BC-968E-496B-9CE0-C8DC60D0B8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14</a:t>
            </a:r>
          </a:p>
        </p:txBody>
      </p:sp>
    </p:spTree>
    <p:extLst>
      <p:ext uri="{BB962C8B-B14F-4D97-AF65-F5344CB8AC3E}">
        <p14:creationId xmlns:p14="http://schemas.microsoft.com/office/powerpoint/2010/main" val="491708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30BCB5-DC5F-49AC-8954-549BAF2428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5AECFE-6F57-4B76-A18D-999FA8D9A2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3A54701-31D5-4E37-8CAC-2390E48CD4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the visited items</a:t>
            </a:r>
          </a:p>
        </p:txBody>
      </p:sp>
      <p:sp>
        <p:nvSpPr>
          <p:cNvPr id="4" name="">
            <a:extLst xmlns:a="http://schemas.openxmlformats.org/drawingml/2006/main">
              <a:ext uri="{FF2B5EF4-FFF2-40B4-BE49-F238E27FC236}">
                <a16:creationId xmlns:a16="http://schemas.microsoft.com/office/drawing/2014/main" id="{DF1156A6-B0D8-4E4B-9732-7EF0B3E14AB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E74860-967F-4D3E-A878-1750C17AD91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7FB8022A-777C-4E55-8BE1-8FA54C41D21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9CFB141-D52F-4721-B632-7CEB109067C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Updates: 0 to 1, 1 to 2, then 2 to 3.</a:t>
            </a:r>
          </a:p>
        </p:txBody>
      </p:sp>
      <p:sp>
        <p:nvSpPr>
          <p:cNvPr id="8" name="">
            <a:extLst xmlns:a="http://schemas.openxmlformats.org/drawingml/2006/main">
              <a:ext uri="{FF2B5EF4-FFF2-40B4-BE49-F238E27FC236}">
                <a16:creationId xmlns:a16="http://schemas.microsoft.com/office/drawing/2014/main" id="{6C2B3E2E-E83E-48AB-893F-45FD5B39A5A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a:t>
            </a:r>
          </a:p>
        </p:txBody>
      </p:sp>
      <p:sp>
        <p:nvSpPr>
          <p:cNvPr id="9" name="">
            <a:extLst xmlns:a="http://schemas.openxmlformats.org/drawingml/2006/main">
              <a:ext uri="{FF2B5EF4-FFF2-40B4-BE49-F238E27FC236}">
                <a16:creationId xmlns:a16="http://schemas.microsoft.com/office/drawing/2014/main" id="{A6F327F5-5228-44AD-9A1E-2B6B543959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15</a:t>
            </a:r>
          </a:p>
        </p:txBody>
      </p:sp>
    </p:spTree>
    <p:extLst>
      <p:ext uri="{BB962C8B-B14F-4D97-AF65-F5344CB8AC3E}">
        <p14:creationId xmlns:p14="http://schemas.microsoft.com/office/powerpoint/2010/main" val="7096255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F92FCC-ABBC-40A9-A040-35A42A15A2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CE0097-1954-4ACF-8366-9BD8F0102E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ADA9DD7-8E5D-4058-9C6E-83DF5E38E2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Accumulator</a:t>
            </a:r>
          </a:p>
        </p:txBody>
      </p:sp>
      <p:sp>
        <p:nvSpPr>
          <p:cNvPr id="4" name="">
            <a:extLst xmlns:a="http://schemas.openxmlformats.org/drawingml/2006/main">
              <a:ext uri="{FF2B5EF4-FFF2-40B4-BE49-F238E27FC236}">
                <a16:creationId xmlns:a16="http://schemas.microsoft.com/office/drawing/2014/main" id="{640E985C-F3E5-40B3-95AB-8065AEFB9BD8}"/>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D3236F-36C5-4CD0-B67E-CA04A1E177BD}"/>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Accumulator</a:t>
            </a:r>
          </a:p>
        </p:txBody>
      </p:sp>
      <p:sp>
        <p:nvSpPr>
          <p:cNvPr id="6" name="">
            <a:extLst xmlns:a="http://schemas.openxmlformats.org/drawingml/2006/main">
              <a:ext uri="{FF2B5EF4-FFF2-40B4-BE49-F238E27FC236}">
                <a16:creationId xmlns:a16="http://schemas.microsoft.com/office/drawing/2014/main" id="{14134077-84A1-443E-A5A0-6CB5A1B3E142}"/>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running total. Set it to zero before the loop, add inside the loop, and read the final total afterward.</a:t>
            </a:r>
          </a:p>
        </p:txBody>
      </p:sp>
      <p:sp>
        <p:nvSpPr>
          <p:cNvPr id="7" name="">
            <a:extLst xmlns:a="http://schemas.openxmlformats.org/drawingml/2006/main">
              <a:ext uri="{FF2B5EF4-FFF2-40B4-BE49-F238E27FC236}">
                <a16:creationId xmlns:a16="http://schemas.microsoft.com/office/drawing/2014/main" id="{9192BB2C-AFE4-46A8-9088-E9874BFEBA0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16</a:t>
            </a:r>
          </a:p>
        </p:txBody>
      </p:sp>
    </p:spTree>
    <p:extLst>
      <p:ext uri="{BB962C8B-B14F-4D97-AF65-F5344CB8AC3E}">
        <p14:creationId xmlns:p14="http://schemas.microsoft.com/office/powerpoint/2010/main" val="12198545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F87210-5D1C-4342-AE85-18430C3E00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099882-5823-46BB-BB30-A0210E69529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E390BC9-E028-4F2E-A2F8-0DE0341D69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loop repeats an indented block</a:t>
            </a:r>
          </a:p>
        </p:txBody>
      </p:sp>
      <p:sp>
        <p:nvSpPr>
          <p:cNvPr id="4" name="">
            <a:extLst xmlns:a="http://schemas.openxmlformats.org/drawingml/2006/main">
              <a:ext uri="{FF2B5EF4-FFF2-40B4-BE49-F238E27FC236}">
                <a16:creationId xmlns:a16="http://schemas.microsoft.com/office/drawing/2014/main" id="{C1A2BF6C-A45C-42B5-9958-F1810233230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F5F6085-8F7B-4341-BCAA-7EDF9A601BD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reading in readings: takes one item at a time.</a:t>
            </a:r>
          </a:p>
        </p:txBody>
      </p:sp>
      <p:sp>
        <p:nvSpPr>
          <p:cNvPr id="6" name="">
            <a:extLst xmlns:a="http://schemas.openxmlformats.org/drawingml/2006/main">
              <a:ext uri="{FF2B5EF4-FFF2-40B4-BE49-F238E27FC236}">
                <a16:creationId xmlns:a16="http://schemas.microsoft.com/office/drawing/2014/main" id="{5D3C443F-8481-4E8B-85AE-0794CE3422D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D6AAF53-74B3-4ED3-A516-F70E3C91454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starts the block. Four spaces show which lines repeat.</a:t>
            </a:r>
          </a:p>
        </p:txBody>
      </p:sp>
      <p:sp>
        <p:nvSpPr>
          <p:cNvPr id="8" name="">
            <a:extLst xmlns:a="http://schemas.openxmlformats.org/drawingml/2006/main">
              <a:ext uri="{FF2B5EF4-FFF2-40B4-BE49-F238E27FC236}">
                <a16:creationId xmlns:a16="http://schemas.microsoft.com/office/drawing/2014/main" id="{4D79707B-567B-424A-B315-76C9EB39032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18EAD1F-F0BB-4B1C-95DD-2891161261F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running total must start at zero before the loop.</a:t>
            </a:r>
          </a:p>
        </p:txBody>
      </p:sp>
      <p:sp>
        <p:nvSpPr>
          <p:cNvPr id="10" name="">
            <a:extLst xmlns:a="http://schemas.openxmlformats.org/drawingml/2006/main">
              <a:ext uri="{FF2B5EF4-FFF2-40B4-BE49-F238E27FC236}">
                <a16:creationId xmlns:a16="http://schemas.microsoft.com/office/drawing/2014/main" id="{299E63FA-7585-4B58-9815-D624907F0C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17</a:t>
            </a:r>
          </a:p>
        </p:txBody>
      </p:sp>
    </p:spTree>
    <p:extLst>
      <p:ext uri="{BB962C8B-B14F-4D97-AF65-F5344CB8AC3E}">
        <p14:creationId xmlns:p14="http://schemas.microsoft.com/office/powerpoint/2010/main" val="2588110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BE69D3-215B-4E31-8860-16E5DBED78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F8A59C-652D-468D-9273-58706017C3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510A04A-1F20-4C26-A1A8-03C100A4C7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mean uses a total and a count</a:t>
            </a:r>
          </a:p>
        </p:txBody>
      </p:sp>
      <p:sp>
        <p:nvSpPr>
          <p:cNvPr id="4" name="">
            <a:extLst xmlns:a="http://schemas.openxmlformats.org/drawingml/2006/main">
              <a:ext uri="{FF2B5EF4-FFF2-40B4-BE49-F238E27FC236}">
                <a16:creationId xmlns:a16="http://schemas.microsoft.com/office/drawing/2014/main" id="{45EC5523-CA16-44E1-A9CE-E2AC1C38AAF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BA05665-D4E2-4E40-92F7-06B08807C19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Start the total at 0. Add 2, then 4, then 6.</a:t>
            </a:r>
          </a:p>
        </p:txBody>
      </p:sp>
      <p:sp>
        <p:nvSpPr>
          <p:cNvPr id="6" name="">
            <a:extLst xmlns:a="http://schemas.openxmlformats.org/drawingml/2006/main">
              <a:ext uri="{FF2B5EF4-FFF2-40B4-BE49-F238E27FC236}">
                <a16:creationId xmlns:a16="http://schemas.microsoft.com/office/drawing/2014/main" id="{9DF959B4-F872-41AA-BCD6-0CF3137CD4C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83C30A-FCCE-4001-B209-7268C88F887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final total is 12. The count is 3.</a:t>
            </a:r>
          </a:p>
        </p:txBody>
      </p:sp>
      <p:sp>
        <p:nvSpPr>
          <p:cNvPr id="8" name="">
            <a:extLst xmlns:a="http://schemas.openxmlformats.org/drawingml/2006/main">
              <a:ext uri="{FF2B5EF4-FFF2-40B4-BE49-F238E27FC236}">
                <a16:creationId xmlns:a16="http://schemas.microsoft.com/office/drawing/2014/main" id="{0C17503A-977A-48CA-AC8F-949AF5B83FF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80D3253-9A37-4020-94ED-02192DB8EB6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12 / 3 gives the mean 4. An empty list needs a separate rule.</a:t>
            </a:r>
          </a:p>
        </p:txBody>
      </p:sp>
      <p:sp>
        <p:nvSpPr>
          <p:cNvPr id="10" name="">
            <a:extLst xmlns:a="http://schemas.openxmlformats.org/drawingml/2006/main">
              <a:ext uri="{FF2B5EF4-FFF2-40B4-BE49-F238E27FC236}">
                <a16:creationId xmlns:a16="http://schemas.microsoft.com/office/drawing/2014/main" id="{F50DF305-5BED-468F-9D34-86ED34D819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18</a:t>
            </a:r>
          </a:p>
        </p:txBody>
      </p:sp>
    </p:spTree>
    <p:extLst>
      <p:ext uri="{BB962C8B-B14F-4D97-AF65-F5344CB8AC3E}">
        <p14:creationId xmlns:p14="http://schemas.microsoft.com/office/powerpoint/2010/main" val="2778477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1983AF-53AC-4749-A94C-75C4A87B81C2}"/>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C1931A-127F-4307-B9F8-A3845DFFBF29}"/>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loop changes the running total</a:t>
            </a:r>
          </a:p>
        </p:txBody>
      </p:sp>
      <p:pic>
        <p:nvPicPr>
          <p:cNvPr id="3" name="">
            <a:extLst xmlns:a="http://schemas.openxmlformats.org/drawingml/2006/main">
              <a:ext uri="{FF2B5EF4-FFF2-40B4-BE49-F238E27FC236}">
                <a16:creationId xmlns:a16="http://schemas.microsoft.com/office/drawing/2014/main" id="{4EF41D6E-0F0A-4B0C-92C9-DCCBA8E8C806}"/>
              </a:ext>
            </a:extLst>
          </p:cNvPr>
          <p:cNvPicPr>
            <a:picLocks xmlns:a="http://schemas.openxmlformats.org/drawingml/2006/main" noChangeAspect="1"/>
          </p:cNvPicPr>
          <p:nvPr/>
        </p:nvPicPr>
        <p:blipFill>
          <a:blip xmlns:r="http://schemas.openxmlformats.org/officeDocument/2006/relationships" xmlns:a="http://schemas.openxmlformats.org/drawingml/2006/main" r:embed="Rc93838812b334c89"/>
          <a:stretch xmlns:a="http://schemas.openxmlformats.org/drawingml/2006/main"/>
        </p:blipFill>
        <p:spPr>
          <a:xfrm xmlns:a="http://schemas.openxmlformats.org/drawingml/2006/main">
            <a:off x="413728" y="1057275"/>
            <a:ext cx="11364544"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6B697C-D3F3-4FE4-A911-B6EAB32ECC6E}"/>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832748-779B-4782-AD05-BE2399907E34}"/>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illustration uses six separate readings. Next we trace the smaller list [2, 4, 6] using the same running-total rule.</a:t>
            </a:r>
          </a:p>
        </p:txBody>
      </p:sp>
      <p:sp>
        <p:nvSpPr>
          <p:cNvPr id="6" name="">
            <a:extLst xmlns:a="http://schemas.openxmlformats.org/drawingml/2006/main">
              <a:ext uri="{FF2B5EF4-FFF2-40B4-BE49-F238E27FC236}">
                <a16:creationId xmlns:a16="http://schemas.microsoft.com/office/drawing/2014/main" id="{6BEA10D2-6090-48D6-BAE9-DF48B6FC11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19</a:t>
            </a:r>
          </a:p>
        </p:txBody>
      </p:sp>
    </p:spTree>
    <p:extLst>
      <p:ext uri="{BB962C8B-B14F-4D97-AF65-F5344CB8AC3E}">
        <p14:creationId xmlns:p14="http://schemas.microsoft.com/office/powerpoint/2010/main" val="19186352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E1C6AC-3D5A-4812-8632-812C47A795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72B69A-17A1-40D7-8107-38DA220D82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AC67814-F817-48D7-88EA-8BCDCE1C33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the loop</a:t>
            </a:r>
          </a:p>
        </p:txBody>
      </p:sp>
      <p:graphicFrame>
        <p:nvGraphicFramePr>
          <p:cNvPr id="4" name="">
            <a:extLst xmlns:a="http://schemas.openxmlformats.org/drawingml/2006/main">
              <a:ext uri="{FF2B5EF4-FFF2-40B4-BE49-F238E27FC236}">
                <a16:creationId xmlns:a16="http://schemas.microsoft.com/office/drawing/2014/main" id="{E7191A09-8D06-4524-9CE8-2CC24B81DDEC}"/>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total after addition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Before loop</a:t>
                      </a:r>
                    </a:p>
                  </a:txBody>
                  <a:tcPr marL="91440" marR="91440" marT="45720" marB="45720">
                    <a:solidFill>
                      <a:srgbClr val="EEF3F6"/>
                    </a:solidFill>
                  </a:tcPr>
                </a:tc>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First</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Second</a:t>
                      </a:r>
                    </a:p>
                  </a:txBody>
                  <a:tcPr marL="91440" marR="91440" marT="45720" marB="45720">
                    <a:solidFill>
                      <a:srgbClr val="EEF3F6"/>
                    </a:solidFill>
                  </a:tcPr>
                </a:tc>
                <a:tc>
                  <a:txBody>
                    <a:bodyPr/>
                    <a:lstStyle/>
                    <a:p>
                      <a:r>
                        <a:rPr sz="2025" b="0">
                          <a:solidFill>
                            <a:srgbClr val="1C3144"/>
                          </a:solidFill>
                          <a:latin typeface="Calibri"/>
                          <a:ea typeface="Calibri"/>
                          <a:cs typeface="Calibri"/>
                        </a:rPr>
                        <a:t>4</a:t>
                      </a:r>
                    </a:p>
                  </a:txBody>
                  <a:tcPr marL="91440" marR="91440" marT="45720" marB="45720">
                    <a:solidFill>
                      <a:srgbClr val="EEF3F6"/>
                    </a:solidFill>
                  </a:tcPr>
                </a:tc>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Third</a:t>
                      </a:r>
                    </a:p>
                  </a:txBody>
                  <a:tcPr marL="91440" marR="91440" marT="45720" marB="45720">
                    <a:solidFill>
                      <a:srgbClr val="FFFFFF"/>
                    </a:solidFill>
                  </a:tcPr>
                </a:tc>
                <a:tc>
                  <a:txBody>
                    <a:bodyPr/>
                    <a:lstStyle/>
                    <a:p>
                      <a:r>
                        <a:rPr sz="2025" b="0">
                          <a:solidFill>
                            <a:srgbClr val="1C3144"/>
                          </a:solidFill>
                          <a:latin typeface="Calibri"/>
                          <a:ea typeface="Calibri"/>
                          <a:cs typeface="Calibri"/>
                        </a:rPr>
                        <a:t>6</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92A2575-91BC-425D-B1F6-A386F4E72A19}"/>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There are three readings.</a:t>
            </a:r>
          </a:p>
        </p:txBody>
      </p:sp>
      <p:sp>
        <p:nvSpPr>
          <p:cNvPr id="6" name="">
            <a:extLst xmlns:a="http://schemas.openxmlformats.org/drawingml/2006/main">
              <a:ext uri="{FF2B5EF4-FFF2-40B4-BE49-F238E27FC236}">
                <a16:creationId xmlns:a16="http://schemas.microsoft.com/office/drawing/2014/main" id="{E6CC4D9C-6693-4BC6-90E9-00118F93FB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20</a:t>
            </a:r>
          </a:p>
        </p:txBody>
      </p:sp>
    </p:spTree>
    <p:extLst>
      <p:ext uri="{BB962C8B-B14F-4D97-AF65-F5344CB8AC3E}">
        <p14:creationId xmlns:p14="http://schemas.microsoft.com/office/powerpoint/2010/main" val="5861464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8E5D8A-C231-4DA9-8889-83CCE0E9308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E0A153-A15C-46C9-B876-EF18A154B28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E9D1395-864A-4DCC-894F-084DF5D0A7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loops and records in Python</a:t>
            </a:r>
          </a:p>
        </p:txBody>
      </p:sp>
      <p:sp>
        <p:nvSpPr>
          <p:cNvPr id="4" name="">
            <a:extLst xmlns:a="http://schemas.openxmlformats.org/drawingml/2006/main">
              <a:ext uri="{FF2B5EF4-FFF2-40B4-BE49-F238E27FC236}">
                <a16:creationId xmlns:a16="http://schemas.microsoft.com/office/drawing/2014/main" id="{0D627C8B-A594-4E12-BF2F-4ED40FA2BAE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EC84EA-C697-4A90-B268-6D1D7046FE8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 =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 = total + 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 = total / 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print(mean)</a:t>
            </a:r>
          </a:p>
        </p:txBody>
      </p:sp>
      <p:sp>
        <p:nvSpPr>
          <p:cNvPr id="6" name="">
            <a:extLst xmlns:a="http://schemas.openxmlformats.org/drawingml/2006/main">
              <a:ext uri="{FF2B5EF4-FFF2-40B4-BE49-F238E27FC236}">
                <a16:creationId xmlns:a16="http://schemas.microsoft.com/office/drawing/2014/main" id="{DE4E236F-0586-473F-8C34-2F9E9CC1230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8F38594-7BD7-48D4-B8FB-BD6F97453F0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C6FF2C38-6B5C-4DFF-9578-E1CE2F2EC1B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28C10F49-303A-49E4-9B83-5A79BEA007FA}"/>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93C90516-6949-40E8-9697-12D88353CB1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3C47D4C9-A732-4B21-B071-EE7877000F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21</a:t>
            </a:r>
          </a:p>
        </p:txBody>
      </p:sp>
    </p:spTree>
    <p:extLst>
      <p:ext uri="{BB962C8B-B14F-4D97-AF65-F5344CB8AC3E}">
        <p14:creationId xmlns:p14="http://schemas.microsoft.com/office/powerpoint/2010/main" val="15359181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9154F1-CB31-4C70-9FA5-68210E80AB7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4DCA12-7A27-4F14-A9B4-5D646044D1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4F55F6DC-76BB-48C5-830A-723E54AC17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loops and records results</a:t>
            </a:r>
          </a:p>
        </p:txBody>
      </p:sp>
      <p:sp>
        <p:nvSpPr>
          <p:cNvPr id="4" name="">
            <a:extLst xmlns:a="http://schemas.openxmlformats.org/drawingml/2006/main">
              <a:ext uri="{FF2B5EF4-FFF2-40B4-BE49-F238E27FC236}">
                <a16:creationId xmlns:a16="http://schemas.microsoft.com/office/drawing/2014/main" id="{0589EDC8-00F7-49EF-85C9-2A65C8C0044C}"/>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D11818-EE75-484A-B6F1-F963F9109E11}"/>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0">
                <a:solidFill>
                  <a:srgbClr val="2E7D6F"/>
                </a:solidFill>
                <a:latin typeface="Courier New"/>
                <a:ea typeface="Courier New"/>
                <a:cs typeface="Courier New"/>
              </a:defRPr>
            </a:defPPr>
            <a:lvl1pPr>
              <a:defRPr sz="3150" b="0">
                <a:solidFill>
                  <a:srgbClr val="2E7D6F"/>
                </a:solidFill>
                <a:latin typeface="Courier New"/>
                <a:ea typeface="Courier New"/>
                <a:cs typeface="Courier New"/>
              </a:defRPr>
            </a:lvl1pPr>
            <a:lvl2pPr>
              <a:defRPr sz="3150" b="0">
                <a:solidFill>
                  <a:srgbClr val="2E7D6F"/>
                </a:solidFill>
                <a:latin typeface="Courier New"/>
                <a:ea typeface="Courier New"/>
                <a:cs typeface="Courier New"/>
              </a:defRPr>
            </a:lvl2pPr>
            <a:lvl3pPr>
              <a:defRPr sz="3150" b="0">
                <a:solidFill>
                  <a:srgbClr val="2E7D6F"/>
                </a:solidFill>
                <a:latin typeface="Courier New"/>
                <a:ea typeface="Courier New"/>
                <a:cs typeface="Courier New"/>
              </a:defRPr>
            </a:lvl3pPr>
            <a:lvl4pPr>
              <a:defRPr sz="3150" b="0">
                <a:solidFill>
                  <a:srgbClr val="2E7D6F"/>
                </a:solidFill>
                <a:latin typeface="Courier New"/>
                <a:ea typeface="Courier New"/>
                <a:cs typeface="Courier New"/>
              </a:defRPr>
            </a:lvl4pPr>
            <a:lvl5pPr>
              <a:defRPr sz="3150" b="0">
                <a:solidFill>
                  <a:srgbClr val="2E7D6F"/>
                </a:solidFill>
                <a:latin typeface="Courier New"/>
                <a:ea typeface="Courier New"/>
                <a:cs typeface="Courier New"/>
              </a:defRPr>
            </a:lvl5pPr>
            <a:lvl6pPr>
              <a:defRPr sz="3150" b="0">
                <a:solidFill>
                  <a:srgbClr val="2E7D6F"/>
                </a:solidFill>
                <a:latin typeface="Courier New"/>
                <a:ea typeface="Courier New"/>
                <a:cs typeface="Courier New"/>
              </a:defRPr>
            </a:lvl6pPr>
            <a:lvl7pPr>
              <a:defRPr sz="3150" b="0">
                <a:solidFill>
                  <a:srgbClr val="2E7D6F"/>
                </a:solidFill>
                <a:latin typeface="Courier New"/>
                <a:ea typeface="Courier New"/>
                <a:cs typeface="Courier New"/>
              </a:defRPr>
            </a:lvl7pPr>
            <a:lvl8pPr>
              <a:defRPr sz="3150" b="0">
                <a:solidFill>
                  <a:srgbClr val="2E7D6F"/>
                </a:solidFill>
                <a:latin typeface="Courier New"/>
                <a:ea typeface="Courier New"/>
                <a:cs typeface="Courier New"/>
              </a:defRPr>
            </a:lvl8pPr>
            <a:lvl9pPr>
              <a:defRPr sz="3150" b="0">
                <a:solidFill>
                  <a:srgbClr val="2E7D6F"/>
                </a:solidFill>
                <a:latin typeface="Courier New"/>
                <a:ea typeface="Courier New"/>
                <a:cs typeface="Courier New"/>
              </a:defRPr>
            </a:lvl9pPr>
          </a:lstStyle>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4.0</a:t>
            </a:r>
          </a:p>
        </p:txBody>
      </p:sp>
      <p:sp>
        <p:nvSpPr>
          <p:cNvPr id="6" name="">
            <a:extLst xmlns:a="http://schemas.openxmlformats.org/drawingml/2006/main">
              <a:ext uri="{FF2B5EF4-FFF2-40B4-BE49-F238E27FC236}">
                <a16:creationId xmlns:a16="http://schemas.microsoft.com/office/drawing/2014/main" id="{A50026DA-51D8-418C-A164-6D3D0D21E7D5}"/>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90D0EAA8-D304-454D-A266-D370757540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22</a:t>
            </a:r>
          </a:p>
        </p:txBody>
      </p:sp>
    </p:spTree>
    <p:extLst>
      <p:ext uri="{BB962C8B-B14F-4D97-AF65-F5344CB8AC3E}">
        <p14:creationId xmlns:p14="http://schemas.microsoft.com/office/powerpoint/2010/main" val="19339619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2D6B15-E47D-421A-9BCA-752A93D939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8EDA1A-2513-4E7B-A28F-7C2E2FD979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0F7F072-89B2-4AE6-8812-5C6BDA2275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built-in summary functions</a:t>
            </a:r>
          </a:p>
        </p:txBody>
      </p:sp>
      <p:graphicFrame>
        <p:nvGraphicFramePr>
          <p:cNvPr id="4" name="">
            <a:extLst xmlns:a="http://schemas.openxmlformats.org/drawingml/2006/main">
              <a:ext uri="{FF2B5EF4-FFF2-40B4-BE49-F238E27FC236}">
                <a16:creationId xmlns:a16="http://schemas.microsoft.com/office/drawing/2014/main" id="{D1B88AA3-2CFB-400E-967D-5BCDA576A28E}"/>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Function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 it answers</a:t>
                      </a:r>
                    </a:p>
                  </a:txBody>
                  <a:tcPr marL="91440" marR="91440" marT="45720" marB="45720">
                    <a:solidFill>
                      <a:srgbClr val="2E7D6F"/>
                    </a:solidFill>
                  </a:tcPr>
                </a:tc>
                <a:tc>
                  <a:txBody>
                    <a:bodyPr/>
                    <a:lstStyle/>
                    <a:p>
                      <a:r>
                        <a:rPr sz="2025" b="1">
                          <a:solidFill>
                            <a:srgbClr val="FFFFFF"/>
                          </a:solidFill>
                          <a:latin typeface="Calibri"/>
                          <a:ea typeface="Calibri"/>
                          <a:cs typeface="Calibri"/>
                        </a:rPr>
                        <a:t>For [2, 4, 6]</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len</a:t>
                      </a:r>
                    </a:p>
                  </a:txBody>
                  <a:tcPr marL="91440" marR="91440" marT="45720" marB="45720">
                    <a:solidFill>
                      <a:srgbClr val="EEF3F6"/>
                    </a:solidFill>
                  </a:tcPr>
                </a:tc>
                <a:tc>
                  <a:txBody>
                    <a:bodyPr/>
                    <a:lstStyle/>
                    <a:p>
                      <a:r>
                        <a:rPr sz="2025" b="0">
                          <a:solidFill>
                            <a:srgbClr val="1C3144"/>
                          </a:solidFill>
                          <a:latin typeface="Calibri"/>
                          <a:ea typeface="Calibri"/>
                          <a:cs typeface="Calibri"/>
                        </a:rPr>
                        <a:t>How many items?</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sum</a:t>
                      </a:r>
                    </a:p>
                  </a:txBody>
                  <a:tcPr marL="91440" marR="91440" marT="45720" marB="45720">
                    <a:solidFill>
                      <a:srgbClr val="FFFFFF"/>
                    </a:solidFill>
                  </a:tcPr>
                </a:tc>
                <a:tc>
                  <a:txBody>
                    <a:bodyPr/>
                    <a:lstStyle/>
                    <a:p>
                      <a:r>
                        <a:rPr sz="2025" b="0">
                          <a:solidFill>
                            <a:srgbClr val="1C3144"/>
                          </a:solidFill>
                          <a:latin typeface="Calibri"/>
                          <a:ea typeface="Calibri"/>
                          <a:cs typeface="Calibri"/>
                        </a:rPr>
                        <a:t>What is their total?</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min</a:t>
                      </a:r>
                    </a:p>
                  </a:txBody>
                  <a:tcPr marL="91440" marR="91440" marT="45720" marB="45720">
                    <a:solidFill>
                      <a:srgbClr val="EEF3F6"/>
                    </a:solidFill>
                  </a:tcPr>
                </a:tc>
                <a:tc>
                  <a:txBody>
                    <a:bodyPr/>
                    <a:lstStyle/>
                    <a:p>
                      <a:r>
                        <a:rPr sz="2025" b="0">
                          <a:solidFill>
                            <a:srgbClr val="1C3144"/>
                          </a:solidFill>
                          <a:latin typeface="Calibri"/>
                          <a:ea typeface="Calibri"/>
                          <a:cs typeface="Calibri"/>
                        </a:rPr>
                        <a:t>Which is smallest?</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max</a:t>
                      </a:r>
                    </a:p>
                  </a:txBody>
                  <a:tcPr marL="91440" marR="91440" marT="45720" marB="45720">
                    <a:solidFill>
                      <a:srgbClr val="FFFFFF"/>
                    </a:solidFill>
                  </a:tcPr>
                </a:tc>
                <a:tc>
                  <a:txBody>
                    <a:bodyPr/>
                    <a:lstStyle/>
                    <a:p>
                      <a:r>
                        <a:rPr sz="2025" b="0">
                          <a:solidFill>
                            <a:srgbClr val="1C3144"/>
                          </a:solidFill>
                          <a:latin typeface="Calibri"/>
                          <a:ea typeface="Calibri"/>
                          <a:cs typeface="Calibri"/>
                        </a:rPr>
                        <a:t>Which is largest?</a:t>
                      </a:r>
                    </a:p>
                  </a:txBody>
                  <a:tcPr marL="91440" marR="91440" marT="45720" marB="45720">
                    <a:solidFill>
                      <a:srgbClr val="FFFFFF"/>
                    </a:solidFill>
                  </a:tcPr>
                </a:tc>
                <a:tc>
                  <a:txBody>
                    <a:bodyPr/>
                    <a:lstStyle/>
                    <a:p>
                      <a:r>
                        <a:rPr sz="2025" b="0">
                          <a:solidFill>
                            <a:srgbClr val="1C3144"/>
                          </a:solidFill>
                          <a:latin typeface="Calibri"/>
                          <a:ea typeface="Calibri"/>
                          <a:cs typeface="Calibri"/>
                        </a:rPr>
                        <a:t>6</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D3A441F-4A3E-4E77-AF82-2FC55A0B118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These functions already exist in Python. min and max need at least one item unless an explicit default is supplied.</a:t>
            </a:r>
          </a:p>
        </p:txBody>
      </p:sp>
      <p:sp>
        <p:nvSpPr>
          <p:cNvPr id="6" name="">
            <a:extLst xmlns:a="http://schemas.openxmlformats.org/drawingml/2006/main">
              <a:ext uri="{FF2B5EF4-FFF2-40B4-BE49-F238E27FC236}">
                <a16:creationId xmlns:a16="http://schemas.microsoft.com/office/drawing/2014/main" id="{9A2D51C8-27EF-47C9-A031-4AA2C47816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23</a:t>
            </a:r>
          </a:p>
        </p:txBody>
      </p:sp>
    </p:spTree>
    <p:extLst>
      <p:ext uri="{BB962C8B-B14F-4D97-AF65-F5344CB8AC3E}">
        <p14:creationId xmlns:p14="http://schemas.microsoft.com/office/powerpoint/2010/main" val="3340417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C74593-ACF8-4FE0-B8B1-635727B0DF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16CA8E-3989-40D1-B66D-A5D1425DFB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B30721E-973F-4C0C-990C-CEB72D50876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Built-in summaries of a list</a:t>
            </a:r>
          </a:p>
        </p:txBody>
      </p:sp>
      <p:sp>
        <p:nvSpPr>
          <p:cNvPr id="4" name="">
            <a:extLst xmlns:a="http://schemas.openxmlformats.org/drawingml/2006/main">
              <a:ext uri="{FF2B5EF4-FFF2-40B4-BE49-F238E27FC236}">
                <a16:creationId xmlns:a16="http://schemas.microsoft.com/office/drawing/2014/main" id="{BBB6060B-2AE8-4A58-AE3E-D0533F6CE06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330E1F-27E6-4D9E-B808-50CED472A50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print(min(readings))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print(max(readings))</a:t>
            </a:r>
          </a:p>
        </p:txBody>
      </p:sp>
      <p:sp>
        <p:nvSpPr>
          <p:cNvPr id="6" name="">
            <a:extLst xmlns:a="http://schemas.openxmlformats.org/drawingml/2006/main">
              <a:ext uri="{FF2B5EF4-FFF2-40B4-BE49-F238E27FC236}">
                <a16:creationId xmlns:a16="http://schemas.microsoft.com/office/drawing/2014/main" id="{071CF20C-8849-49C5-8316-6F723649E1A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C7C6D9D-A76D-47B2-8E2D-DEC0B26F5C3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These functions are built into Python.</a:t>
            </a:r>
          </a:p>
        </p:txBody>
      </p:sp>
      <p:sp>
        <p:nvSpPr>
          <p:cNvPr id="8" name="">
            <a:extLst xmlns:a="http://schemas.openxmlformats.org/drawingml/2006/main">
              <a:ext uri="{FF2B5EF4-FFF2-40B4-BE49-F238E27FC236}">
                <a16:creationId xmlns:a16="http://schemas.microsoft.com/office/drawing/2014/main" id="{A0F44E2B-B4D0-47D4-9B9E-14C07E69E3F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min and max require a nonempty list here.</a:t>
            </a:r>
          </a:p>
        </p:txBody>
      </p:sp>
      <p:sp>
        <p:nvSpPr>
          <p:cNvPr id="9" name="">
            <a:extLst xmlns:a="http://schemas.openxmlformats.org/drawingml/2006/main">
              <a:ext uri="{FF2B5EF4-FFF2-40B4-BE49-F238E27FC236}">
                <a16:creationId xmlns:a16="http://schemas.microsoft.com/office/drawing/2014/main" id="{4D0F2C64-DE1B-4394-9D00-00E519C55EA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12, 3, 2, 6. sum totals; len counts; min and max select the smallest and largest.</a:t>
            </a:r>
          </a:p>
        </p:txBody>
      </p:sp>
      <p:sp>
        <p:nvSpPr>
          <p:cNvPr id="10" name="">
            <a:extLst xmlns:a="http://schemas.openxmlformats.org/drawingml/2006/main">
              <a:ext uri="{FF2B5EF4-FFF2-40B4-BE49-F238E27FC236}">
                <a16:creationId xmlns:a16="http://schemas.microsoft.com/office/drawing/2014/main" id="{2FEF0038-0867-4D9A-886D-25291A277D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24</a:t>
            </a:r>
          </a:p>
        </p:txBody>
      </p:sp>
    </p:spTree>
    <p:extLst>
      <p:ext uri="{BB962C8B-B14F-4D97-AF65-F5344CB8AC3E}">
        <p14:creationId xmlns:p14="http://schemas.microsoft.com/office/powerpoint/2010/main" val="180829027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2BE320-4781-4BCF-A24C-75F9EE898A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4BA152-F4CF-4E88-8A50-272980F34F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13BDA71-C977-4F10-B09D-0AEE781A8F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while loop checks before each repetition</a:t>
            </a:r>
          </a:p>
        </p:txBody>
      </p:sp>
      <p:sp>
        <p:nvSpPr>
          <p:cNvPr id="4" name="">
            <a:extLst xmlns:a="http://schemas.openxmlformats.org/drawingml/2006/main">
              <a:ext uri="{FF2B5EF4-FFF2-40B4-BE49-F238E27FC236}">
                <a16:creationId xmlns:a16="http://schemas.microsoft.com/office/drawing/2014/main" id="{D821279E-2753-4603-A17C-C4B88BC7849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47625FD-E29B-403C-81FB-5033C752C1F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while count &lt; 3: tests the condition before entering its indented block. True enters the block; False skips it and continues after the loop.</a:t>
            </a:r>
          </a:p>
        </p:txBody>
      </p:sp>
      <p:sp>
        <p:nvSpPr>
          <p:cNvPr id="6" name="">
            <a:extLst xmlns:a="http://schemas.openxmlformats.org/drawingml/2006/main">
              <a:ext uri="{FF2B5EF4-FFF2-40B4-BE49-F238E27FC236}">
                <a16:creationId xmlns:a16="http://schemas.microsoft.com/office/drawing/2014/main" id="{1082C096-EF68-4297-AC1E-60DAF529C21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CDF5C40-010B-4A50-83AB-51C672B29B8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At the end of the body, return to the condition and test again. Unlike for, while does not automatically move to the next list item.</a:t>
            </a:r>
          </a:p>
        </p:txBody>
      </p:sp>
      <p:sp>
        <p:nvSpPr>
          <p:cNvPr id="8" name="">
            <a:extLst xmlns:a="http://schemas.openxmlformats.org/drawingml/2006/main">
              <a:ext uri="{FF2B5EF4-FFF2-40B4-BE49-F238E27FC236}">
                <a16:creationId xmlns:a16="http://schemas.microsoft.com/office/drawing/2014/main" id="{52D337A4-61BE-4D32-AFA1-8369153F26D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2667A47-6977-4C71-A925-3074C348E66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Something must make the condition become False, or the loop may continue indefinitely. In our example, count increases on every iteration.</a:t>
            </a:r>
          </a:p>
        </p:txBody>
      </p:sp>
      <p:sp>
        <p:nvSpPr>
          <p:cNvPr id="10" name="">
            <a:extLst xmlns:a="http://schemas.openxmlformats.org/drawingml/2006/main">
              <a:ext uri="{FF2B5EF4-FFF2-40B4-BE49-F238E27FC236}">
                <a16:creationId xmlns:a16="http://schemas.microsoft.com/office/drawing/2014/main" id="{E0816CBC-BCDE-4DDB-9A6F-F65A478F1F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25</a:t>
            </a:r>
          </a:p>
        </p:txBody>
      </p:sp>
    </p:spTree>
    <p:extLst>
      <p:ext uri="{BB962C8B-B14F-4D97-AF65-F5344CB8AC3E}">
        <p14:creationId xmlns:p14="http://schemas.microsoft.com/office/powerpoint/2010/main" val="176621827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B0031E-265C-4105-8100-1C322EB16C0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E83E14-06E5-41E7-A87E-72E507C51F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7B0B02D-B538-45D6-8B09-DB8F2680A9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while loop with a stopping condition</a:t>
            </a:r>
          </a:p>
        </p:txBody>
      </p:sp>
      <p:sp>
        <p:nvSpPr>
          <p:cNvPr id="4" name="">
            <a:extLst xmlns:a="http://schemas.openxmlformats.org/drawingml/2006/main">
              <a:ext uri="{FF2B5EF4-FFF2-40B4-BE49-F238E27FC236}">
                <a16:creationId xmlns:a16="http://schemas.microsoft.com/office/drawing/2014/main" id="{25C02D64-BF7C-431B-BBFE-EFBFA14D651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2B8161-90EA-40E4-85F9-FBE29FFB236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while count &lt;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print("finished")</a:t>
            </a:r>
          </a:p>
        </p:txBody>
      </p:sp>
      <p:sp>
        <p:nvSpPr>
          <p:cNvPr id="6" name="">
            <a:extLst xmlns:a="http://schemas.openxmlformats.org/drawingml/2006/main">
              <a:ext uri="{FF2B5EF4-FFF2-40B4-BE49-F238E27FC236}">
                <a16:creationId xmlns:a16="http://schemas.microsoft.com/office/drawing/2014/main" id="{6B922BD7-37D4-4A75-B68B-3E349645338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CBFFA6A-AD48-45B5-8050-AE7690BE341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Initialise, test, run the body, update, test again.</a:t>
            </a:r>
          </a:p>
        </p:txBody>
      </p:sp>
      <p:sp>
        <p:nvSpPr>
          <p:cNvPr id="8" name="">
            <a:extLst xmlns:a="http://schemas.openxmlformats.org/drawingml/2006/main">
              <a:ext uri="{FF2B5EF4-FFF2-40B4-BE49-F238E27FC236}">
                <a16:creationId xmlns:a16="http://schemas.microsoft.com/office/drawing/2014/main" id="{EDF230A3-E298-45DD-91B7-E3E3400806E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When count becomes 3, the condition is False.</a:t>
            </a:r>
          </a:p>
        </p:txBody>
      </p:sp>
      <p:sp>
        <p:nvSpPr>
          <p:cNvPr id="9" name="">
            <a:extLst xmlns:a="http://schemas.openxmlformats.org/drawingml/2006/main">
              <a:ext uri="{FF2B5EF4-FFF2-40B4-BE49-F238E27FC236}">
                <a16:creationId xmlns:a16="http://schemas.microsoft.com/office/drawing/2014/main" id="{517381A7-B479-4185-97D1-AD242C2666D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0; 1; 2; finished</a:t>
            </a:r>
          </a:p>
        </p:txBody>
      </p:sp>
      <p:sp>
        <p:nvSpPr>
          <p:cNvPr id="10" name="">
            <a:extLst xmlns:a="http://schemas.openxmlformats.org/drawingml/2006/main">
              <a:ext uri="{FF2B5EF4-FFF2-40B4-BE49-F238E27FC236}">
                <a16:creationId xmlns:a16="http://schemas.microsoft.com/office/drawing/2014/main" id="{115A0D0D-2DFA-4D99-AEB8-A3F9B14735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26</a:t>
            </a:r>
          </a:p>
        </p:txBody>
      </p:sp>
    </p:spTree>
    <p:extLst>
      <p:ext uri="{BB962C8B-B14F-4D97-AF65-F5344CB8AC3E}">
        <p14:creationId xmlns:p14="http://schemas.microsoft.com/office/powerpoint/2010/main" val="1567498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368C08-222E-48A6-8204-DCE70FCE0A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68C7FC-7A6C-4C25-81E0-7DF365A1D2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08FF9071-59F9-417C-B441-484A0BA662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while condition and update</a:t>
            </a:r>
          </a:p>
        </p:txBody>
      </p:sp>
      <p:graphicFrame>
        <p:nvGraphicFramePr>
          <p:cNvPr id="4" name="">
            <a:extLst xmlns:a="http://schemas.openxmlformats.org/drawingml/2006/main">
              <a:ext uri="{FF2B5EF4-FFF2-40B4-BE49-F238E27FC236}">
                <a16:creationId xmlns:a16="http://schemas.microsoft.com/office/drawing/2014/main" id="{A01C39D0-1EB0-4CDB-B421-ABE7A2A90D06}"/>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count before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count &lt; 3</a:t>
                      </a:r>
                    </a:p>
                  </a:txBody>
                  <a:tcPr marL="91440" marR="91440" marT="45720" marB="45720">
                    <a:solidFill>
                      <a:srgbClr val="2E7D6F"/>
                    </a:solidFill>
                  </a:tcPr>
                </a:tc>
                <a:tc>
                  <a:txBody>
                    <a:bodyPr/>
                    <a:lstStyle/>
                    <a:p>
                      <a:r>
                        <a:rPr sz="2025" b="1">
                          <a:solidFill>
                            <a:srgbClr val="FFFFFF"/>
                          </a:solidFill>
                          <a:latin typeface="Calibri"/>
                          <a:ea typeface="Calibri"/>
                          <a:cs typeface="Calibri"/>
                        </a:rPr>
                        <a:t>Body and next count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0; update to 1</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Print 1; update to 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 update to 3</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3</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Skip body; print finished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F675B71-6833-4802-86E6-BAD7BF59020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If count starts at 3, the body runs zero times. The condition is tested first.</a:t>
            </a:r>
          </a:p>
        </p:txBody>
      </p:sp>
      <p:sp>
        <p:nvSpPr>
          <p:cNvPr id="6" name="">
            <a:extLst xmlns:a="http://schemas.openxmlformats.org/drawingml/2006/main">
              <a:ext uri="{FF2B5EF4-FFF2-40B4-BE49-F238E27FC236}">
                <a16:creationId xmlns:a16="http://schemas.microsoft.com/office/drawing/2014/main" id="{7FBFB432-FD4B-424A-8768-20FF7D577D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27</a:t>
            </a:r>
          </a:p>
        </p:txBody>
      </p:sp>
    </p:spTree>
    <p:extLst>
      <p:ext uri="{BB962C8B-B14F-4D97-AF65-F5344CB8AC3E}">
        <p14:creationId xmlns:p14="http://schemas.microsoft.com/office/powerpoint/2010/main" val="166962381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824CB7-18EB-44B2-8AEA-13E05202F7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E2A286-5369-4F2B-87CC-86A95FD778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EAC2E8-D159-49E3-A5AB-FCDED3AC82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Preventing an endless loop</a:t>
            </a:r>
          </a:p>
        </p:txBody>
      </p:sp>
      <p:sp>
        <p:nvSpPr>
          <p:cNvPr id="4" name="">
            <a:extLst xmlns:a="http://schemas.openxmlformats.org/drawingml/2006/main">
              <a:ext uri="{FF2B5EF4-FFF2-40B4-BE49-F238E27FC236}">
                <a16:creationId xmlns:a16="http://schemas.microsoft.com/office/drawing/2014/main" id="{90FD405D-473C-4E62-B465-DB7C584467F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0AEAD28-6C2E-4B72-B814-EBB59E89BA3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update is missing, count remains 0. The question 0 &lt; 3 stays True, so the body keeps running.</a:t>
            </a:r>
          </a:p>
        </p:txBody>
      </p:sp>
      <p:sp>
        <p:nvSpPr>
          <p:cNvPr id="6" name="">
            <a:extLst xmlns:a="http://schemas.openxmlformats.org/drawingml/2006/main">
              <a:ext uri="{FF2B5EF4-FFF2-40B4-BE49-F238E27FC236}">
                <a16:creationId xmlns:a16="http://schemas.microsoft.com/office/drawing/2014/main" id="{D6314F5C-7C97-48E5-A310-DDC0C87CF56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D6973F8-DCDD-4291-B7B0-318FF5CC096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running cell’s stop button or use Runtime → Interrupt execution. Fix the condition or update before running again.</a:t>
            </a:r>
          </a:p>
        </p:txBody>
      </p:sp>
      <p:sp>
        <p:nvSpPr>
          <p:cNvPr id="8" name="">
            <a:extLst xmlns:a="http://schemas.openxmlformats.org/drawingml/2006/main">
              <a:ext uri="{FF2B5EF4-FFF2-40B4-BE49-F238E27FC236}">
                <a16:creationId xmlns:a16="http://schemas.microsoft.com/office/drawing/2014/main" id="{6232586C-D9B1-4752-9938-141A604352D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FF328D-E726-40BC-A8A4-479D1E3CD5B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run an intentionally endless example. Trace the unchanged value on the slide to see why it would fail.</a:t>
            </a:r>
          </a:p>
        </p:txBody>
      </p:sp>
      <p:sp>
        <p:nvSpPr>
          <p:cNvPr id="10" name="">
            <a:extLst xmlns:a="http://schemas.openxmlformats.org/drawingml/2006/main">
              <a:ext uri="{FF2B5EF4-FFF2-40B4-BE49-F238E27FC236}">
                <a16:creationId xmlns:a16="http://schemas.microsoft.com/office/drawing/2014/main" id="{189AC604-A1D8-4EE0-B3E0-855F79F974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28</a:t>
            </a:r>
          </a:p>
        </p:txBody>
      </p:sp>
    </p:spTree>
    <p:extLst>
      <p:ext uri="{BB962C8B-B14F-4D97-AF65-F5344CB8AC3E}">
        <p14:creationId xmlns:p14="http://schemas.microsoft.com/office/powerpoint/2010/main" val="93671928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2E37C-BB41-4AA2-850B-1DC590C921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D8FB05-8FDA-487D-9C32-18742E0E37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D1DC390-96AB-4B16-812E-1D85C845CD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if for or while</a:t>
            </a:r>
          </a:p>
        </p:txBody>
      </p:sp>
      <p:graphicFrame>
        <p:nvGraphicFramePr>
          <p:cNvPr id="4" name="">
            <a:extLst xmlns:a="http://schemas.openxmlformats.org/drawingml/2006/main">
              <a:ext uri="{FF2B5EF4-FFF2-40B4-BE49-F238E27FC236}">
                <a16:creationId xmlns:a16="http://schemas.microsoft.com/office/drawing/2014/main" id="{839553F1-2955-41AB-8D29-95D940D3D6B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Construct</a:t>
                      </a:r>
                    </a:p>
                  </a:txBody>
                  <a:tcPr marL="91440" marR="91440" marT="45720" marB="45720">
                    <a:solidFill>
                      <a:srgbClr val="2E7D6F"/>
                    </a:solidFill>
                  </a:tcPr>
                </a:tc>
                <a:tc>
                  <a:txBody>
                    <a:bodyPr/>
                    <a:lstStyle/>
                    <a:p>
                      <a:r>
                        <a:rPr sz="2025" b="1">
                          <a:solidFill>
                            <a:srgbClr val="FFFFFF"/>
                          </a:solidFill>
                          <a:latin typeface="Calibri"/>
                          <a:ea typeface="Calibri"/>
                          <a:cs typeface="Calibri"/>
                        </a:rPr>
                        <a:t>Purpose</a:t>
                      </a:r>
                    </a:p>
                  </a:txBody>
                  <a:tcPr marL="91440" marR="91440" marT="45720" marB="45720">
                    <a:solidFill>
                      <a:srgbClr val="2E7D6F"/>
                    </a:solidFill>
                  </a:tcPr>
                </a:tc>
                <a:tc>
                  <a:txBody>
                    <a:bodyPr/>
                    <a:lstStyle/>
                    <a:p>
                      <a:r>
                        <a:rPr sz="2025" b="1">
                          <a:solidFill>
                            <a:srgbClr val="FFFFFF"/>
                          </a:solidFill>
                          <a:latin typeface="Calibri"/>
                          <a:ea typeface="Calibri"/>
                          <a:cs typeface="Calibri"/>
                        </a:rPr>
                        <a:t>When it finishes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if / else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Choose a path once</a:t>
                      </a:r>
                    </a:p>
                  </a:txBody>
                  <a:tcPr marL="91440" marR="91440" marT="45720" marB="45720">
                    <a:solidFill>
                      <a:srgbClr val="EEF3F6"/>
                    </a:solidFill>
                  </a:tcPr>
                </a:tc>
                <a:tc>
                  <a:txBody>
                    <a:bodyPr/>
                    <a:lstStyle/>
                    <a:p>
                      <a:r>
                        <a:rPr sz="2025" b="0">
                          <a:solidFill>
                            <a:srgbClr val="1C3144"/>
                          </a:solidFill>
                          <a:latin typeface="Calibri"/>
                          <a:ea typeface="Calibri"/>
                          <a:cs typeface="Calibri"/>
                        </a:rPr>
                        <a:t>After the chosen block</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for</a:t>
                      </a:r>
                    </a:p>
                  </a:txBody>
                  <a:tcPr marL="91440" marR="91440" marT="45720" marB="45720">
                    <a:solidFill>
                      <a:srgbClr val="FFFFFF"/>
                    </a:solidFill>
                  </a:tcPr>
                </a:tc>
                <a:tc>
                  <a:txBody>
                    <a:bodyPr/>
                    <a:lstStyle/>
                    <a:p>
                      <a:r>
                        <a:rPr sz="2025" b="0">
                          <a:solidFill>
                            <a:srgbClr val="1C3144"/>
                          </a:solidFill>
                          <a:latin typeface="Calibri"/>
                          <a:ea typeface="Calibri"/>
                          <a:cs typeface="Calibri"/>
                        </a:rPr>
                        <a:t>Visit supplied items</a:t>
                      </a:r>
                    </a:p>
                  </a:txBody>
                  <a:tcPr marL="91440" marR="91440" marT="45720" marB="45720">
                    <a:solidFill>
                      <a:srgbClr val="FFFFFF"/>
                    </a:solidFill>
                  </a:tcPr>
                </a:tc>
                <a:tc>
                  <a:txBody>
                    <a:bodyPr/>
                    <a:lstStyle/>
                    <a:p>
                      <a:r>
                        <a:rPr sz="2025" b="0">
                          <a:solidFill>
                            <a:srgbClr val="1C3144"/>
                          </a:solidFill>
                          <a:latin typeface="Calibri"/>
                          <a:ea typeface="Calibri"/>
                          <a:cs typeface="Calibri"/>
                        </a:rPr>
                        <a:t>When items are exhausted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while</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 while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When condition becomes False</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6245E147-FFE3-4189-B02D-45B5A9348CA1}"/>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condition alone does not imply repetition: if tests once; while tests again after its body.</a:t>
            </a:r>
          </a:p>
        </p:txBody>
      </p:sp>
      <p:sp>
        <p:nvSpPr>
          <p:cNvPr id="6" name="">
            <a:extLst xmlns:a="http://schemas.openxmlformats.org/drawingml/2006/main">
              <a:ext uri="{FF2B5EF4-FFF2-40B4-BE49-F238E27FC236}">
                <a16:creationId xmlns:a16="http://schemas.microsoft.com/office/drawing/2014/main" id="{6C0EDA81-42E4-4D47-A675-843A01AA10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29</a:t>
            </a:r>
          </a:p>
        </p:txBody>
      </p:sp>
    </p:spTree>
    <p:extLst>
      <p:ext uri="{BB962C8B-B14F-4D97-AF65-F5344CB8AC3E}">
        <p14:creationId xmlns:p14="http://schemas.microsoft.com/office/powerpoint/2010/main" val="158708661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49EBDE-2307-4B70-936E-15999D2138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116F8F-A164-48D8-8F34-4EF9CDA16B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9A53D7C-7FDF-4919-B307-1E91D504B7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range supplies a sequence of integers</a:t>
            </a:r>
          </a:p>
        </p:txBody>
      </p:sp>
      <p:sp>
        <p:nvSpPr>
          <p:cNvPr id="4" name="">
            <a:extLst xmlns:a="http://schemas.openxmlformats.org/drawingml/2006/main">
              <a:ext uri="{FF2B5EF4-FFF2-40B4-BE49-F238E27FC236}">
                <a16:creationId xmlns:a16="http://schemas.microsoft.com/office/drawing/2014/main" id="{DA712630-478D-4888-9CA6-2C7FDEE384B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B78C1B3-D73C-4DAB-A5B3-2998D80882A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range(3) supplies 0, 1 and 2. The stop value 3 is excluded. range(1, 4) supplies 1, 2 and 3.</a:t>
            </a:r>
          </a:p>
        </p:txBody>
      </p:sp>
      <p:sp>
        <p:nvSpPr>
          <p:cNvPr id="6" name="">
            <a:extLst xmlns:a="http://schemas.openxmlformats.org/drawingml/2006/main">
              <a:ext uri="{FF2B5EF4-FFF2-40B4-BE49-F238E27FC236}">
                <a16:creationId xmlns:a16="http://schemas.microsoft.com/office/drawing/2014/main" id="{1875A144-4689-407B-9BD8-A27394B08EB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BDC0C36-3B42-45D3-AF05-CC409264784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range with for when a numbered repetition is useful. The loop still works by taking the next supplied item.</a:t>
            </a:r>
          </a:p>
        </p:txBody>
      </p:sp>
      <p:sp>
        <p:nvSpPr>
          <p:cNvPr id="8" name="">
            <a:extLst xmlns:a="http://schemas.openxmlformats.org/drawingml/2006/main">
              <a:ext uri="{FF2B5EF4-FFF2-40B4-BE49-F238E27FC236}">
                <a16:creationId xmlns:a16="http://schemas.microsoft.com/office/drawing/2014/main" id="{F067A9A7-83F5-4011-AEFF-3ABCA2AB85D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09493B4-7D93-464D-9DCC-690FB8D6D3C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range(0, 6, 2) uses a step of 2 and supplies 0, 2, 4. A step is the change between successive numbers; it cannot be zero.</a:t>
            </a:r>
          </a:p>
        </p:txBody>
      </p:sp>
      <p:sp>
        <p:nvSpPr>
          <p:cNvPr id="10" name="">
            <a:extLst xmlns:a="http://schemas.openxmlformats.org/drawingml/2006/main">
              <a:ext uri="{FF2B5EF4-FFF2-40B4-BE49-F238E27FC236}">
                <a16:creationId xmlns:a16="http://schemas.microsoft.com/office/drawing/2014/main" id="{4238FDBC-2F6E-436D-9584-F47B793A44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30</a:t>
            </a:r>
          </a:p>
        </p:txBody>
      </p:sp>
    </p:spTree>
    <p:extLst>
      <p:ext uri="{BB962C8B-B14F-4D97-AF65-F5344CB8AC3E}">
        <p14:creationId xmlns:p14="http://schemas.microsoft.com/office/powerpoint/2010/main" val="153456214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8CB39B-F97D-486F-9BA5-B35A26B51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97D62F-60AF-4A7C-AF52-ED6BF02118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2C27566-437D-400C-93FE-BA07E835D7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 with range</a:t>
            </a:r>
          </a:p>
        </p:txBody>
      </p:sp>
      <p:sp>
        <p:nvSpPr>
          <p:cNvPr id="4" name="">
            <a:extLst xmlns:a="http://schemas.openxmlformats.org/drawingml/2006/main">
              <a:ext uri="{FF2B5EF4-FFF2-40B4-BE49-F238E27FC236}">
                <a16:creationId xmlns:a16="http://schemas.microsoft.com/office/drawing/2014/main" id="{EC113029-3A73-4946-8DF7-0989ED09A64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301DD5-AD17-4128-B776-5619B6D6C8C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attempt in range(1,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print(attempt)</a:t>
            </a:r>
          </a:p>
        </p:txBody>
      </p:sp>
      <p:sp>
        <p:nvSpPr>
          <p:cNvPr id="6" name="">
            <a:extLst xmlns:a="http://schemas.openxmlformats.org/drawingml/2006/main">
              <a:ext uri="{FF2B5EF4-FFF2-40B4-BE49-F238E27FC236}">
                <a16:creationId xmlns:a16="http://schemas.microsoft.com/office/drawing/2014/main" id="{BD0C370F-932E-47EC-9F3A-06206AB6F83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5D46F71-52F6-43D0-B92B-DB32E49E4AF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Start at 1; stop before 4.</a:t>
            </a:r>
          </a:p>
        </p:txBody>
      </p:sp>
      <p:sp>
        <p:nvSpPr>
          <p:cNvPr id="8" name="">
            <a:extLst xmlns:a="http://schemas.openxmlformats.org/drawingml/2006/main">
              <a:ext uri="{FF2B5EF4-FFF2-40B4-BE49-F238E27FC236}">
                <a16:creationId xmlns:a16="http://schemas.microsoft.com/office/drawing/2014/main" id="{7CB9D29F-ECD6-4F11-A789-16FBE032DE7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 2; 3</a:t>
            </a:r>
          </a:p>
        </p:txBody>
      </p:sp>
      <p:sp>
        <p:nvSpPr>
          <p:cNvPr id="9" name="">
            <a:extLst xmlns:a="http://schemas.openxmlformats.org/drawingml/2006/main">
              <a:ext uri="{FF2B5EF4-FFF2-40B4-BE49-F238E27FC236}">
                <a16:creationId xmlns:a16="http://schemas.microsoft.com/office/drawing/2014/main" id="{11B71C56-0152-4749-90D1-9D3261FBB7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31</a:t>
            </a:r>
          </a:p>
        </p:txBody>
      </p:sp>
    </p:spTree>
    <p:extLst>
      <p:ext uri="{BB962C8B-B14F-4D97-AF65-F5344CB8AC3E}">
        <p14:creationId xmlns:p14="http://schemas.microsoft.com/office/powerpoint/2010/main" val="133424654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95A433-C8C5-4BC0-AA10-27644023CD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738A92-40DB-452F-A907-E51F0CF5E7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F6D6CF-8D52-4543-9E85-85E7414607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continue and break change a loop’s path</a:t>
            </a:r>
          </a:p>
        </p:txBody>
      </p:sp>
      <p:sp>
        <p:nvSpPr>
          <p:cNvPr id="4" name="">
            <a:extLst xmlns:a="http://schemas.openxmlformats.org/drawingml/2006/main">
              <a:ext uri="{FF2B5EF4-FFF2-40B4-BE49-F238E27FC236}">
                <a16:creationId xmlns:a16="http://schemas.microsoft.com/office/drawing/2014/main" id="{8AA9940B-4D45-479C-A73C-AC4192D0BCE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0353B9E-874A-4818-80B2-D78DBB4288A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continue skips the rest of the current iteration, then starts the next iteration. It does not end the whole loop.</a:t>
            </a:r>
          </a:p>
        </p:txBody>
      </p:sp>
      <p:sp>
        <p:nvSpPr>
          <p:cNvPr id="6" name="">
            <a:extLst xmlns:a="http://schemas.openxmlformats.org/drawingml/2006/main">
              <a:ext uri="{FF2B5EF4-FFF2-40B4-BE49-F238E27FC236}">
                <a16:creationId xmlns:a16="http://schemas.microsoft.com/office/drawing/2014/main" id="{A2F9F854-81B8-4641-A626-9F70F52FF96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F56B1FE-DE5D-4409-8D5E-43368A01C24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break exits the nearest enclosing loop immediately. Execution resumes after that loop.</a:t>
            </a:r>
          </a:p>
        </p:txBody>
      </p:sp>
      <p:sp>
        <p:nvSpPr>
          <p:cNvPr id="8" name="">
            <a:extLst xmlns:a="http://schemas.openxmlformats.org/drawingml/2006/main">
              <a:ext uri="{FF2B5EF4-FFF2-40B4-BE49-F238E27FC236}">
                <a16:creationId xmlns:a16="http://schemas.microsoft.com/office/drawing/2014/main" id="{7D9D9170-65EA-4858-A377-31325F7EDAA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60867C-EF64-4957-85B5-76469462D2B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Put the condition inside the loop with four spaces. Its action is inside that condition with eight spaces: an indented block inside another block.</a:t>
            </a:r>
          </a:p>
        </p:txBody>
      </p:sp>
      <p:sp>
        <p:nvSpPr>
          <p:cNvPr id="10" name="">
            <a:extLst xmlns:a="http://schemas.openxmlformats.org/drawingml/2006/main">
              <a:ext uri="{FF2B5EF4-FFF2-40B4-BE49-F238E27FC236}">
                <a16:creationId xmlns:a16="http://schemas.microsoft.com/office/drawing/2014/main" id="{E50F4DB0-C46F-4024-8D4E-6B43EE2D93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32</a:t>
            </a:r>
          </a:p>
        </p:txBody>
      </p:sp>
    </p:spTree>
    <p:extLst>
      <p:ext uri="{BB962C8B-B14F-4D97-AF65-F5344CB8AC3E}">
        <p14:creationId xmlns:p14="http://schemas.microsoft.com/office/powerpoint/2010/main" val="134850804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9B8278-11F7-488F-BF8B-4BDB1A69A6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1C2EB0-4F96-49E9-BBFE-6A21A3EB52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DC50760-C70D-4ED8-B61E-E90DF8B1E7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Skip one item using continue</a:t>
            </a:r>
          </a:p>
        </p:txBody>
      </p:sp>
      <p:sp>
        <p:nvSpPr>
          <p:cNvPr id="4" name="">
            <a:extLst xmlns:a="http://schemas.openxmlformats.org/drawingml/2006/main">
              <a:ext uri="{FF2B5EF4-FFF2-40B4-BE49-F238E27FC236}">
                <a16:creationId xmlns:a16="http://schemas.microsoft.com/office/drawing/2014/main" id="{B1CDBA9F-32AF-4709-82F1-D2F8BD0171B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B1CC7F-3205-4752-98AE-500503DC57E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-1,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&lt;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continue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p:txBody>
      </p:sp>
      <p:sp>
        <p:nvSpPr>
          <p:cNvPr id="6" name="">
            <a:extLst xmlns:a="http://schemas.openxmlformats.org/drawingml/2006/main">
              <a:ext uri="{FF2B5EF4-FFF2-40B4-BE49-F238E27FC236}">
                <a16:creationId xmlns:a16="http://schemas.microsoft.com/office/drawing/2014/main" id="{B47FE254-B74D-4F34-B369-1C7018A746F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C00E83F-4882-414F-A53D-E7D6DE9DE60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-1 takes continue, so its print is skipped.</a:t>
            </a:r>
          </a:p>
        </p:txBody>
      </p:sp>
      <p:sp>
        <p:nvSpPr>
          <p:cNvPr id="8" name="">
            <a:extLst xmlns:a="http://schemas.openxmlformats.org/drawingml/2006/main">
              <a:ext uri="{FF2B5EF4-FFF2-40B4-BE49-F238E27FC236}">
                <a16:creationId xmlns:a16="http://schemas.microsoft.com/office/drawing/2014/main" id="{BA04468B-A5B8-491D-8FDF-F15B8B96365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 and 6 reach print.</a:t>
            </a:r>
          </a:p>
        </p:txBody>
      </p:sp>
      <p:sp>
        <p:nvSpPr>
          <p:cNvPr id="9" name="">
            <a:extLst xmlns:a="http://schemas.openxmlformats.org/drawingml/2006/main">
              <a:ext uri="{FF2B5EF4-FFF2-40B4-BE49-F238E27FC236}">
                <a16:creationId xmlns:a16="http://schemas.microsoft.com/office/drawing/2014/main" id="{69D5CD36-9AD6-4524-8770-7B7994E53D9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6</a:t>
            </a:r>
          </a:p>
        </p:txBody>
      </p:sp>
      <p:sp>
        <p:nvSpPr>
          <p:cNvPr id="10" name="">
            <a:extLst xmlns:a="http://schemas.openxmlformats.org/drawingml/2006/main">
              <a:ext uri="{FF2B5EF4-FFF2-40B4-BE49-F238E27FC236}">
                <a16:creationId xmlns:a16="http://schemas.microsoft.com/office/drawing/2014/main" id="{FE167766-B45B-422B-91AA-72F5716D6B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33</a:t>
            </a:r>
          </a:p>
        </p:txBody>
      </p:sp>
    </p:spTree>
    <p:extLst>
      <p:ext uri="{BB962C8B-B14F-4D97-AF65-F5344CB8AC3E}">
        <p14:creationId xmlns:p14="http://schemas.microsoft.com/office/powerpoint/2010/main" val="72030295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D1454A-81F7-4CED-991C-69410E10D5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AC9BE1-31BE-498B-9B66-50FA58F71D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AB8981E-997C-4ECA-86C3-07804F43CE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Stop at one item using break</a:t>
            </a:r>
          </a:p>
        </p:txBody>
      </p:sp>
      <p:sp>
        <p:nvSpPr>
          <p:cNvPr id="4" name="">
            <a:extLst xmlns:a="http://schemas.openxmlformats.org/drawingml/2006/main">
              <a:ext uri="{FF2B5EF4-FFF2-40B4-BE49-F238E27FC236}">
                <a16:creationId xmlns:a16="http://schemas.microsoft.com/office/drawing/2014/main" id="{ED0BE33F-D8E6-4515-83AC-AD22F3C34B3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394895-AC83-47A8-BEC9-E6549125261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-1,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&lt;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break</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p:txBody>
      </p:sp>
      <p:sp>
        <p:nvSpPr>
          <p:cNvPr id="6" name="">
            <a:extLst xmlns:a="http://schemas.openxmlformats.org/drawingml/2006/main">
              <a:ext uri="{FF2B5EF4-FFF2-40B4-BE49-F238E27FC236}">
                <a16:creationId xmlns:a16="http://schemas.microsoft.com/office/drawing/2014/main" id="{C901D87C-F28B-4066-B662-EF62D7752D3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EEAAD57-8D5A-4342-AE0E-732FA499D28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-1 triggers break. The loop never visits 6.</a:t>
            </a:r>
          </a:p>
        </p:txBody>
      </p:sp>
      <p:sp>
        <p:nvSpPr>
          <p:cNvPr id="8" name="">
            <a:extLst xmlns:a="http://schemas.openxmlformats.org/drawingml/2006/main">
              <a:ext uri="{FF2B5EF4-FFF2-40B4-BE49-F238E27FC236}">
                <a16:creationId xmlns:a16="http://schemas.microsoft.com/office/drawing/2014/main" id="{3F477B74-585F-435D-8D34-A85F0F76BF2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a:t>
            </a:r>
          </a:p>
        </p:txBody>
      </p:sp>
      <p:sp>
        <p:nvSpPr>
          <p:cNvPr id="9" name="">
            <a:extLst xmlns:a="http://schemas.openxmlformats.org/drawingml/2006/main">
              <a:ext uri="{FF2B5EF4-FFF2-40B4-BE49-F238E27FC236}">
                <a16:creationId xmlns:a16="http://schemas.microsoft.com/office/drawing/2014/main" id="{6EF4E563-6D4C-4743-B8F6-9D2AF99CFB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34</a:t>
            </a:r>
          </a:p>
        </p:txBody>
      </p:sp>
    </p:spTree>
    <p:extLst>
      <p:ext uri="{BB962C8B-B14F-4D97-AF65-F5344CB8AC3E}">
        <p14:creationId xmlns:p14="http://schemas.microsoft.com/office/powerpoint/2010/main" val="23737853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7A4D9E-010C-47A9-9C59-CADA0D2D49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51767A-CC4F-4010-841B-605AF93C4E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C7EBB97E-CF09-4519-9ABA-68683CD115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two loop controls</a:t>
            </a:r>
          </a:p>
        </p:txBody>
      </p:sp>
      <p:graphicFrame>
        <p:nvGraphicFramePr>
          <p:cNvPr id="4" name="">
            <a:extLst xmlns:a="http://schemas.openxmlformats.org/drawingml/2006/main">
              <a:ext uri="{FF2B5EF4-FFF2-40B4-BE49-F238E27FC236}">
                <a16:creationId xmlns:a16="http://schemas.microsoft.com/office/drawing/2014/main" id="{9F3991EF-BFFB-49EA-A6EE-4DD7293D788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Input</a:t>
                      </a:r>
                    </a:p>
                  </a:txBody>
                  <a:tcPr marL="91440" marR="91440" marT="45720" marB="45720">
                    <a:solidFill>
                      <a:srgbClr val="2E7D6F"/>
                    </a:solidFill>
                  </a:tcPr>
                </a:tc>
                <a:tc>
                  <a:txBody>
                    <a:bodyPr/>
                    <a:lstStyle/>
                    <a:p>
                      <a:r>
                        <a:rPr sz="2025" b="1">
                          <a:solidFill>
                            <a:srgbClr val="FFFFFF"/>
                          </a:solidFill>
                          <a:latin typeface="Calibri"/>
                          <a:ea typeface="Calibri"/>
                          <a:cs typeface="Calibri"/>
                        </a:rPr>
                        <a:t>continue version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break version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Skip its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Exit loop</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6</a:t>
                      </a:r>
                    </a:p>
                  </a:txBody>
                  <a:tcPr marL="91440" marR="91440" marT="45720" marB="45720">
                    <a:solidFill>
                      <a:srgbClr val="EEF3F6"/>
                    </a:solidFill>
                  </a:tcPr>
                </a:tc>
                <a:tc>
                  <a:txBody>
                    <a:bodyPr/>
                    <a:lstStyle/>
                    <a:p>
                      <a:r>
                        <a:rPr sz="2025" b="0">
                          <a:solidFill>
                            <a:srgbClr val="1C3144"/>
                          </a:solidFill>
                          <a:latin typeface="Calibri"/>
                          <a:ea typeface="Calibri"/>
                          <a:cs typeface="Calibri"/>
                        </a:rPr>
                        <a:t>Never visited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BFBF74ED-0818-4890-AF7E-A1FBDCA0A85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Use continue only when skipping is justified by the stated data rule; do not silently discard evidence.</a:t>
            </a:r>
          </a:p>
        </p:txBody>
      </p:sp>
      <p:sp>
        <p:nvSpPr>
          <p:cNvPr id="6" name="">
            <a:extLst xmlns:a="http://schemas.openxmlformats.org/drawingml/2006/main">
              <a:ext uri="{FF2B5EF4-FFF2-40B4-BE49-F238E27FC236}">
                <a16:creationId xmlns:a16="http://schemas.microsoft.com/office/drawing/2014/main" id="{C52B3F9D-B488-471F-8456-B9D3C4E5A5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35</a:t>
            </a:r>
          </a:p>
        </p:txBody>
      </p:sp>
    </p:spTree>
    <p:extLst>
      <p:ext uri="{BB962C8B-B14F-4D97-AF65-F5344CB8AC3E}">
        <p14:creationId xmlns:p14="http://schemas.microsoft.com/office/powerpoint/2010/main" val="35560381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763B0D-80A4-4B4E-B44D-F67CE2F7CA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0F340F-1D71-49B5-8FB4-7E04C54501A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692CDCF-E865-41F0-9A31-AF6E4340B8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is a record with named fields</a:t>
            </a:r>
          </a:p>
        </p:txBody>
      </p:sp>
      <p:sp>
        <p:nvSpPr>
          <p:cNvPr id="4" name="">
            <a:extLst xmlns:a="http://schemas.openxmlformats.org/drawingml/2006/main">
              <a:ext uri="{FF2B5EF4-FFF2-40B4-BE49-F238E27FC236}">
                <a16:creationId xmlns:a16="http://schemas.microsoft.com/office/drawing/2014/main" id="{AF866692-35C9-4B79-ADAE-6D9FC58504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99C569-D474-446C-B27B-107A87A398B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 {"unit": "A", "reading": 4} stores two key–value pairs. Keys name fields; values hold the information.</a:t>
            </a:r>
          </a:p>
        </p:txBody>
      </p:sp>
      <p:sp>
        <p:nvSpPr>
          <p:cNvPr id="6" name="">
            <a:extLst xmlns:a="http://schemas.openxmlformats.org/drawingml/2006/main">
              <a:ext uri="{FF2B5EF4-FFF2-40B4-BE49-F238E27FC236}">
                <a16:creationId xmlns:a16="http://schemas.microsoft.com/office/drawing/2014/main" id="{A27353BF-F1FE-484A-B478-F0386B2B737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379171C-F90B-43F2-941D-AB4D4DD0C8B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Braces enclose the dictionary. A colon separates each key from its value and a comma separates pairs. Each key is unique.</a:t>
            </a:r>
          </a:p>
        </p:txBody>
      </p:sp>
      <p:sp>
        <p:nvSpPr>
          <p:cNvPr id="8" name="">
            <a:extLst xmlns:a="http://schemas.openxmlformats.org/drawingml/2006/main">
              <a:ext uri="{FF2B5EF4-FFF2-40B4-BE49-F238E27FC236}">
                <a16:creationId xmlns:a16="http://schemas.microsoft.com/office/drawing/2014/main" id="{B00FCAB2-DC4B-402D-ACAC-DA38A9FFF10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1B7F670-6B3E-4F3F-9B16-9E9ADB81500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record["reading"] returns 4. Unlike a list position, "reading" names the field we want.</a:t>
            </a:r>
          </a:p>
        </p:txBody>
      </p:sp>
      <p:sp>
        <p:nvSpPr>
          <p:cNvPr id="10" name="">
            <a:extLst xmlns:a="http://schemas.openxmlformats.org/drawingml/2006/main">
              <a:ext uri="{FF2B5EF4-FFF2-40B4-BE49-F238E27FC236}">
                <a16:creationId xmlns:a16="http://schemas.microsoft.com/office/drawing/2014/main" id="{DF96F651-FC08-4F68-A851-F12A1F4A75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36</a:t>
            </a:r>
          </a:p>
        </p:txBody>
      </p:sp>
    </p:spTree>
    <p:extLst>
      <p:ext uri="{BB962C8B-B14F-4D97-AF65-F5344CB8AC3E}">
        <p14:creationId xmlns:p14="http://schemas.microsoft.com/office/powerpoint/2010/main" val="31130497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21A78F-7054-4EC5-9E89-D9EBF19402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07D105-68CA-4EBA-B583-77FF68C9C6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F2CCD2-3DA5-4CF4-9A49-5ABBF75E39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missing dictionary key and get</a:t>
            </a:r>
          </a:p>
        </p:txBody>
      </p:sp>
      <p:sp>
        <p:nvSpPr>
          <p:cNvPr id="4" name="">
            <a:extLst xmlns:a="http://schemas.openxmlformats.org/drawingml/2006/main">
              <a:ext uri="{FF2B5EF4-FFF2-40B4-BE49-F238E27FC236}">
                <a16:creationId xmlns:a16="http://schemas.microsoft.com/office/drawing/2014/main" id="{2E8614C1-E26E-40D7-B389-6805D3477E0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7556E05-A7B6-4EE8-B397-0B0D92BBB66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record["reading"] requests a known field. If that key does not exist, square-bracket lookup raises KeyError.</a:t>
            </a:r>
          </a:p>
        </p:txBody>
      </p:sp>
      <p:sp>
        <p:nvSpPr>
          <p:cNvPr id="6" name="">
            <a:extLst xmlns:a="http://schemas.openxmlformats.org/drawingml/2006/main">
              <a:ext uri="{FF2B5EF4-FFF2-40B4-BE49-F238E27FC236}">
                <a16:creationId xmlns:a16="http://schemas.microsoft.com/office/drawing/2014/main" id="{B90CE202-9783-4273-97DC-5EBA0B516CB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AF38AC-CC2E-4360-96A9-96E48C6C984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record.get("missing", 0) asks for that key with a fallback: return 0 if it is absent. This does not add a new key.</a:t>
            </a:r>
          </a:p>
        </p:txBody>
      </p:sp>
      <p:sp>
        <p:nvSpPr>
          <p:cNvPr id="8" name="">
            <a:extLst xmlns:a="http://schemas.openxmlformats.org/drawingml/2006/main">
              <a:ext uri="{FF2B5EF4-FFF2-40B4-BE49-F238E27FC236}">
                <a16:creationId xmlns:a16="http://schemas.microsoft.com/office/drawing/2014/main" id="{63CE28A7-9B52-4A49-9110-EFADB154184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6D1B8AD-754E-44BC-A69D-8A4A5DEF984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second input is the fallback value. Use a fallback only when the task defines what missing information should mean.</a:t>
            </a:r>
          </a:p>
        </p:txBody>
      </p:sp>
      <p:sp>
        <p:nvSpPr>
          <p:cNvPr id="10" name="">
            <a:extLst xmlns:a="http://schemas.openxmlformats.org/drawingml/2006/main">
              <a:ext uri="{FF2B5EF4-FFF2-40B4-BE49-F238E27FC236}">
                <a16:creationId xmlns:a16="http://schemas.microsoft.com/office/drawing/2014/main" id="{6713BD43-8770-4176-8BEE-3B03AA73C2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37</a:t>
            </a:r>
          </a:p>
        </p:txBody>
      </p:sp>
    </p:spTree>
    <p:extLst>
      <p:ext uri="{BB962C8B-B14F-4D97-AF65-F5344CB8AC3E}">
        <p14:creationId xmlns:p14="http://schemas.microsoft.com/office/powerpoint/2010/main" val="168434605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329F72-188A-412B-92CC-7A723235B6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12B80E-FB61-45A4-82E6-4A4B9986D3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0841116-93E8-4EC5-8986-0B6895D7FB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and updating a dictionary</a:t>
            </a:r>
          </a:p>
        </p:txBody>
      </p:sp>
      <p:sp>
        <p:nvSpPr>
          <p:cNvPr id="4" name="">
            <a:extLst xmlns:a="http://schemas.openxmlformats.org/drawingml/2006/main">
              <a:ext uri="{FF2B5EF4-FFF2-40B4-BE49-F238E27FC236}">
                <a16:creationId xmlns:a16="http://schemas.microsoft.com/office/drawing/2014/main" id="{4F6D225B-D644-49BA-8477-0E4E3C83740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B68E34-85A0-4E23-99D4-1839D7B788A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 = {"unit": "A", "reading":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record["reading"] =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print(record.get("missing", 0))</a:t>
            </a:r>
          </a:p>
        </p:txBody>
      </p:sp>
      <p:sp>
        <p:nvSpPr>
          <p:cNvPr id="6" name="">
            <a:extLst xmlns:a="http://schemas.openxmlformats.org/drawingml/2006/main">
              <a:ext uri="{FF2B5EF4-FFF2-40B4-BE49-F238E27FC236}">
                <a16:creationId xmlns:a16="http://schemas.microsoft.com/office/drawing/2014/main" id="{F65A8A73-FD72-4A0F-92CC-D130FF72366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A741FCF-FF64-414C-9C5F-F508B095DDB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["reading"] selects a key, not a position.</a:t>
            </a:r>
          </a:p>
        </p:txBody>
      </p:sp>
      <p:sp>
        <p:nvSpPr>
          <p:cNvPr id="8" name="">
            <a:extLst xmlns:a="http://schemas.openxmlformats.org/drawingml/2006/main">
              <a:ext uri="{FF2B5EF4-FFF2-40B4-BE49-F238E27FC236}">
                <a16:creationId xmlns:a16="http://schemas.microsoft.com/office/drawing/2014/main" id="{059B5E04-B9C2-48CC-B4AC-68D6383BF4A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Assigning through the key updates its value.</a:t>
            </a:r>
          </a:p>
        </p:txBody>
      </p:sp>
      <p:sp>
        <p:nvSpPr>
          <p:cNvPr id="9" name="">
            <a:extLst xmlns:a="http://schemas.openxmlformats.org/drawingml/2006/main">
              <a:ext uri="{FF2B5EF4-FFF2-40B4-BE49-F238E27FC236}">
                <a16:creationId xmlns:a16="http://schemas.microsoft.com/office/drawing/2014/main" id="{4D34B3E7-4768-4A64-8D31-4098A415239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 then 6, then 0. get uses the fallback only when that key is absent.</a:t>
            </a:r>
          </a:p>
        </p:txBody>
      </p:sp>
      <p:sp>
        <p:nvSpPr>
          <p:cNvPr id="10" name="">
            <a:extLst xmlns:a="http://schemas.openxmlformats.org/drawingml/2006/main">
              <a:ext uri="{FF2B5EF4-FFF2-40B4-BE49-F238E27FC236}">
                <a16:creationId xmlns:a16="http://schemas.microsoft.com/office/drawing/2014/main" id="{EA456C02-538B-432C-822C-FCF85D23BD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38</a:t>
            </a:r>
          </a:p>
        </p:txBody>
      </p:sp>
    </p:spTree>
    <p:extLst>
      <p:ext uri="{BB962C8B-B14F-4D97-AF65-F5344CB8AC3E}">
        <p14:creationId xmlns:p14="http://schemas.microsoft.com/office/powerpoint/2010/main" val="147983599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E9E14B-5D23-4E47-BD1A-F4F13B9D4D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F07347-09E8-4FC6-959D-A25195A43D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22FF0FB-522A-4A97-BEDC-B212AE9FEE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Tuples and unpacking</a:t>
            </a:r>
          </a:p>
        </p:txBody>
      </p:sp>
      <p:sp>
        <p:nvSpPr>
          <p:cNvPr id="4" name="">
            <a:extLst xmlns:a="http://schemas.openxmlformats.org/drawingml/2006/main">
              <a:ext uri="{FF2B5EF4-FFF2-40B4-BE49-F238E27FC236}">
                <a16:creationId xmlns:a16="http://schemas.microsoft.com/office/drawing/2014/main" id="{6709D26C-CF6A-42B0-A567-96E25A9DD82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65AC81B-E1CE-417C-89B0-6F45408EB2C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stores items in order. point = (2, 3) stores two coordinates; point[0] is 2. You cannot reassign point[0].</a:t>
            </a:r>
          </a:p>
        </p:txBody>
      </p:sp>
      <p:sp>
        <p:nvSpPr>
          <p:cNvPr id="6" name="">
            <a:extLst xmlns:a="http://schemas.openxmlformats.org/drawingml/2006/main">
              <a:ext uri="{FF2B5EF4-FFF2-40B4-BE49-F238E27FC236}">
                <a16:creationId xmlns:a16="http://schemas.microsoft.com/office/drawing/2014/main" id="{EEEB50D6-4EDB-4A75-880C-BB0A485EB9C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599886-D8A6-42F5-A37E-337EE5CD382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 y = point gives the first item to x and the second to y. This is unpacking; the number of names must match the number of items.</a:t>
            </a:r>
          </a:p>
        </p:txBody>
      </p:sp>
      <p:sp>
        <p:nvSpPr>
          <p:cNvPr id="8" name="">
            <a:extLst xmlns:a="http://schemas.openxmlformats.org/drawingml/2006/main">
              <a:ext uri="{FF2B5EF4-FFF2-40B4-BE49-F238E27FC236}">
                <a16:creationId xmlns:a16="http://schemas.microsoft.com/office/drawing/2014/main" id="{901BAC34-3960-47B8-8FED-C91CF980F04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250BE13-14BE-42A1-AF1E-28ED1CA4BCE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prevents replacing its positions. It does not freeze the contents of a mutable object stored inside it.</a:t>
            </a:r>
          </a:p>
        </p:txBody>
      </p:sp>
      <p:sp>
        <p:nvSpPr>
          <p:cNvPr id="10" name="">
            <a:extLst xmlns:a="http://schemas.openxmlformats.org/drawingml/2006/main">
              <a:ext uri="{FF2B5EF4-FFF2-40B4-BE49-F238E27FC236}">
                <a16:creationId xmlns:a16="http://schemas.microsoft.com/office/drawing/2014/main" id="{61663825-A5FC-4E90-8E2D-6DAE30F65C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39</a:t>
            </a:r>
          </a:p>
        </p:txBody>
      </p:sp>
    </p:spTree>
    <p:extLst>
      <p:ext uri="{BB962C8B-B14F-4D97-AF65-F5344CB8AC3E}">
        <p14:creationId xmlns:p14="http://schemas.microsoft.com/office/powerpoint/2010/main" val="66136427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9FE599-5A2D-426C-9E01-C9EE6C9196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E24542-8F04-43EE-9CDE-69AB5E1C45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D37CF66-D60E-44D4-8599-9E016DB410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Unpacking a pair</a:t>
            </a:r>
          </a:p>
        </p:txBody>
      </p:sp>
      <p:sp>
        <p:nvSpPr>
          <p:cNvPr id="4" name="">
            <a:extLst xmlns:a="http://schemas.openxmlformats.org/drawingml/2006/main">
              <a:ext uri="{FF2B5EF4-FFF2-40B4-BE49-F238E27FC236}">
                <a16:creationId xmlns:a16="http://schemas.microsoft.com/office/drawing/2014/main" id="{B6111294-5A13-4C52-822D-60158CF8CF2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55A045-0333-4CBB-8090-0147D6F2337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point = (2,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x, y = point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print(y)</a:t>
            </a:r>
          </a:p>
        </p:txBody>
      </p:sp>
      <p:sp>
        <p:nvSpPr>
          <p:cNvPr id="6" name="">
            <a:extLst xmlns:a="http://schemas.openxmlformats.org/drawingml/2006/main">
              <a:ext uri="{FF2B5EF4-FFF2-40B4-BE49-F238E27FC236}">
                <a16:creationId xmlns:a16="http://schemas.microsoft.com/office/drawing/2014/main" id="{2AB9E4CC-61A3-4656-8433-B775DC6BC58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A0580FD-4F28-4006-A6D0-796CC04DCAE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Two names receive the two items in order.</a:t>
            </a:r>
          </a:p>
        </p:txBody>
      </p:sp>
      <p:sp>
        <p:nvSpPr>
          <p:cNvPr id="8" name="">
            <a:extLst xmlns:a="http://schemas.openxmlformats.org/drawingml/2006/main">
              <a:ext uri="{FF2B5EF4-FFF2-40B4-BE49-F238E27FC236}">
                <a16:creationId xmlns:a16="http://schemas.microsoft.com/office/drawing/2014/main" id="{A6108984-7323-48D7-AA85-F15216E5191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then 3.</a:t>
            </a:r>
          </a:p>
        </p:txBody>
      </p:sp>
      <p:sp>
        <p:nvSpPr>
          <p:cNvPr id="9" name="">
            <a:extLst xmlns:a="http://schemas.openxmlformats.org/drawingml/2006/main">
              <a:ext uri="{FF2B5EF4-FFF2-40B4-BE49-F238E27FC236}">
                <a16:creationId xmlns:a16="http://schemas.microsoft.com/office/drawing/2014/main" id="{D1ED05DA-3469-4A3E-88E7-AC52C791DF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40</a:t>
            </a:r>
          </a:p>
        </p:txBody>
      </p:sp>
    </p:spTree>
    <p:extLst>
      <p:ext uri="{BB962C8B-B14F-4D97-AF65-F5344CB8AC3E}">
        <p14:creationId xmlns:p14="http://schemas.microsoft.com/office/powerpoint/2010/main" val="190036994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5F8C71-7DD8-46E1-B658-9E9D8087AC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3211AD-19EE-4372-BE1D-CC0E65F447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4C1CCED-5830-4D81-8ADA-1D72F71E895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set remembers distinct items</a:t>
            </a:r>
          </a:p>
        </p:txBody>
      </p:sp>
      <p:sp>
        <p:nvSpPr>
          <p:cNvPr id="4" name="">
            <a:extLst xmlns:a="http://schemas.openxmlformats.org/drawingml/2006/main">
              <a:ext uri="{FF2B5EF4-FFF2-40B4-BE49-F238E27FC236}">
                <a16:creationId xmlns:a16="http://schemas.microsoft.com/office/drawing/2014/main" id="{B7534CA7-EF76-4266-B19B-0EED821798D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836989B-3D11-4A0D-8B2C-148966D6D62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set is useful when the question is “Have we seen this ID?” It keeps one instance of each distinct item.</a:t>
            </a:r>
          </a:p>
        </p:txBody>
      </p:sp>
      <p:sp>
        <p:nvSpPr>
          <p:cNvPr id="6" name="">
            <a:extLst xmlns:a="http://schemas.openxmlformats.org/drawingml/2006/main">
              <a:ext uri="{FF2B5EF4-FFF2-40B4-BE49-F238E27FC236}">
                <a16:creationId xmlns:a16="http://schemas.microsoft.com/office/drawing/2014/main" id="{F87BA57E-8A8B-4E17-9BB9-0088AE60083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BD14CD7-2E25-4B6E-A540-B3B43B83468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seen = set() creates an empty set. seen.add("A") adds an item. "A" in seen asks whether it is present.</a:t>
            </a:r>
          </a:p>
        </p:txBody>
      </p:sp>
      <p:sp>
        <p:nvSpPr>
          <p:cNvPr id="8" name="">
            <a:extLst xmlns:a="http://schemas.openxmlformats.org/drawingml/2006/main">
              <a:ext uri="{FF2B5EF4-FFF2-40B4-BE49-F238E27FC236}">
                <a16:creationId xmlns:a16="http://schemas.microsoft.com/office/drawing/2014/main" id="{E0B100AC-4DBC-43D7-ADA3-BB7BE261D70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33D7A0-60A4-43FE-90B2-8EE14B64EDE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use a set when position or repeated readings matter. Sets cannot be indexed. {} creates an empty dictionary, not an empty set.</a:t>
            </a:r>
          </a:p>
        </p:txBody>
      </p:sp>
      <p:sp>
        <p:nvSpPr>
          <p:cNvPr id="10" name="">
            <a:extLst xmlns:a="http://schemas.openxmlformats.org/drawingml/2006/main">
              <a:ext uri="{FF2B5EF4-FFF2-40B4-BE49-F238E27FC236}">
                <a16:creationId xmlns:a16="http://schemas.microsoft.com/office/drawing/2014/main" id="{15F5B82D-534D-4035-9489-ACE98A4F08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41</a:t>
            </a:r>
          </a:p>
        </p:txBody>
      </p:sp>
    </p:spTree>
    <p:extLst>
      <p:ext uri="{BB962C8B-B14F-4D97-AF65-F5344CB8AC3E}">
        <p14:creationId xmlns:p14="http://schemas.microsoft.com/office/powerpoint/2010/main" val="124569272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74B10B-82A2-4688-A7E9-B432BF6D2F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330B0E-3AEA-4A2F-A460-4824E3B0D4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2554BC3-53F6-423C-8768-E32EAAF77F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Set membership and repeated IDs</a:t>
            </a:r>
          </a:p>
        </p:txBody>
      </p:sp>
      <p:sp>
        <p:nvSpPr>
          <p:cNvPr id="4" name="">
            <a:extLst xmlns:a="http://schemas.openxmlformats.org/drawingml/2006/main">
              <a:ext uri="{FF2B5EF4-FFF2-40B4-BE49-F238E27FC236}">
                <a16:creationId xmlns:a16="http://schemas.microsoft.com/office/drawing/2014/main" id="{4E930E5A-533C-412E-A09E-38471D00ED9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2F914C-80BE-441D-90A8-C8DDA8B8DA1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 = set()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 in 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print("B" in seen)</a:t>
            </a:r>
          </a:p>
        </p:txBody>
      </p:sp>
      <p:sp>
        <p:nvSpPr>
          <p:cNvPr id="6" name="">
            <a:extLst xmlns:a="http://schemas.openxmlformats.org/drawingml/2006/main">
              <a:ext uri="{FF2B5EF4-FFF2-40B4-BE49-F238E27FC236}">
                <a16:creationId xmlns:a16="http://schemas.microsoft.com/office/drawing/2014/main" id="{1276BF90-FFB3-4BC8-A678-D951ADEF96D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16C07EC-16AD-4F7E-8F3E-CB690D121AD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in returns True or False.</a:t>
            </a:r>
          </a:p>
        </p:txBody>
      </p:sp>
      <p:sp>
        <p:nvSpPr>
          <p:cNvPr id="8" name="">
            <a:extLst xmlns:a="http://schemas.openxmlformats.org/drawingml/2006/main">
              <a:ext uri="{FF2B5EF4-FFF2-40B4-BE49-F238E27FC236}">
                <a16:creationId xmlns:a16="http://schemas.microsoft.com/office/drawing/2014/main" id="{BD543B25-2DFF-4EAE-AD30-453BEC75F6D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set answers membership questions.</a:t>
            </a:r>
          </a:p>
        </p:txBody>
      </p:sp>
      <p:sp>
        <p:nvSpPr>
          <p:cNvPr id="9" name="">
            <a:extLst xmlns:a="http://schemas.openxmlformats.org/drawingml/2006/main">
              <a:ext uri="{FF2B5EF4-FFF2-40B4-BE49-F238E27FC236}">
                <a16:creationId xmlns:a16="http://schemas.microsoft.com/office/drawing/2014/main" id="{93827CE9-2F27-46EE-8EF9-DEEBF0A888D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 True, False. Adding the same ID twice keeps one distinct ID.</a:t>
            </a:r>
          </a:p>
        </p:txBody>
      </p:sp>
      <p:sp>
        <p:nvSpPr>
          <p:cNvPr id="10" name="">
            <a:extLst xmlns:a="http://schemas.openxmlformats.org/drawingml/2006/main">
              <a:ext uri="{FF2B5EF4-FFF2-40B4-BE49-F238E27FC236}">
                <a16:creationId xmlns:a16="http://schemas.microsoft.com/office/drawing/2014/main" id="{E2D8E0CC-CE0C-40FA-BF40-1262AB0C62B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42</a:t>
            </a:r>
          </a:p>
        </p:txBody>
      </p:sp>
    </p:spTree>
    <p:extLst>
      <p:ext uri="{BB962C8B-B14F-4D97-AF65-F5344CB8AC3E}">
        <p14:creationId xmlns:p14="http://schemas.microsoft.com/office/powerpoint/2010/main" val="137879009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70541D-9AEE-43C8-B20A-9F7480FD8E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69B28C-1CAE-492C-9499-34A9779DC0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8FE9A2D4-FB38-44E6-B69F-8DB34B79A1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four collections differ</a:t>
            </a:r>
          </a:p>
        </p:txBody>
      </p:sp>
      <p:graphicFrame>
        <p:nvGraphicFramePr>
          <p:cNvPr id="4" name="">
            <a:extLst xmlns:a="http://schemas.openxmlformats.org/drawingml/2006/main">
              <a:ext uri="{FF2B5EF4-FFF2-40B4-BE49-F238E27FC236}">
                <a16:creationId xmlns:a16="http://schemas.microsoft.com/office/drawing/2014/main" id="{159EF692-F745-4CDB-BD53-CB5CEE5BFF1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Collection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Find an item by</a:t>
                      </a:r>
                    </a:p>
                  </a:txBody>
                  <a:tcPr marL="91440" marR="91440" marT="45720" marB="45720">
                    <a:solidFill>
                      <a:srgbClr val="2E7D6F"/>
                    </a:solidFill>
                  </a:tcPr>
                </a:tc>
                <a:tc>
                  <a:txBody>
                    <a:bodyPr/>
                    <a:lstStyle/>
                    <a:p>
                      <a:r>
                        <a:rPr sz="2025" b="1">
                          <a:solidFill>
                            <a:srgbClr val="FFFFFF"/>
                          </a:solidFill>
                          <a:latin typeface="Calibri"/>
                          <a:ea typeface="Calibri"/>
                          <a:cs typeface="Calibri"/>
                        </a:rPr>
                        <a:t>Repeats / changes</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 values[0]</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Repeats allowed; items change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Key: record["reading"]</a:t>
                      </a:r>
                    </a:p>
                  </a:txBody>
                  <a:tcPr marL="91440" marR="91440" marT="45720" marB="45720">
                    <a:solidFill>
                      <a:srgbClr val="FFFFFF"/>
                    </a:solidFill>
                  </a:tcPr>
                </a:tc>
                <a:tc>
                  <a:txBody>
                    <a:bodyPr/>
                    <a:lstStyle/>
                    <a:p>
                      <a:r>
                        <a:rPr sz="2025" b="0">
                          <a:solidFill>
                            <a:srgbClr val="1C3144"/>
                          </a:solidFill>
                          <a:latin typeface="Calibri"/>
                          <a:ea typeface="Calibri"/>
                          <a:cs typeface="Calibri"/>
                        </a:rPr>
                        <a:t>Keys unique; values change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 point[0]</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Repeats allowed; positions fixed</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Membership: "A" in seen</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add or remove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8209F2-5A4B-4949-89EC-0816373BDBE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Choose by the question: ordered readings, named fields, fixed positions, or distinct IDs.</a:t>
            </a:r>
          </a:p>
        </p:txBody>
      </p:sp>
      <p:sp>
        <p:nvSpPr>
          <p:cNvPr id="6" name="">
            <a:extLst xmlns:a="http://schemas.openxmlformats.org/drawingml/2006/main">
              <a:ext uri="{FF2B5EF4-FFF2-40B4-BE49-F238E27FC236}">
                <a16:creationId xmlns:a16="http://schemas.microsoft.com/office/drawing/2014/main" id="{70E8D7E8-47AA-4AC5-85F7-D47B138521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43</a:t>
            </a:r>
          </a:p>
        </p:txBody>
      </p:sp>
    </p:spTree>
    <p:extLst>
      <p:ext uri="{BB962C8B-B14F-4D97-AF65-F5344CB8AC3E}">
        <p14:creationId xmlns:p14="http://schemas.microsoft.com/office/powerpoint/2010/main" val="94079775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B1BFA4-7C98-4136-99D5-D08DC9DD7A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33E0EC-08CB-4310-BC1B-A9478FC5B4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431BB80-4CDE-471B-98D6-1E08F37D0AF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Dictionary items and two loop names</a:t>
            </a:r>
          </a:p>
        </p:txBody>
      </p:sp>
      <p:sp>
        <p:nvSpPr>
          <p:cNvPr id="4" name="">
            <a:extLst xmlns:a="http://schemas.openxmlformats.org/drawingml/2006/main">
              <a:ext uri="{FF2B5EF4-FFF2-40B4-BE49-F238E27FC236}">
                <a16:creationId xmlns:a16="http://schemas.microsoft.com/office/drawing/2014/main" id="{71C1BBA5-D5C9-4ABF-8FB0-6F744819083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222757-3664-4DBF-9B4D-BD106474D70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8ED0F7E-98FA-4684-91DB-810DFBDCF23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record.items() provides each key with its value as a pair. The loop unpacks each pair into the names key and value.</a:t>
            </a:r>
          </a:p>
        </p:txBody>
      </p:sp>
      <p:sp>
        <p:nvSpPr>
          <p:cNvPr id="7" name="">
            <a:extLst xmlns:a="http://schemas.openxmlformats.org/drawingml/2006/main">
              <a:ext uri="{FF2B5EF4-FFF2-40B4-BE49-F238E27FC236}">
                <a16:creationId xmlns:a16="http://schemas.microsoft.com/office/drawing/2014/main" id="{1636B16D-F1C0-4F71-A71D-8F306F6C6FC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key, value in record.items(): repeats the indented body for each field. Use .items() when both the label and its value are needed.</a:t>
            </a:r>
          </a:p>
        </p:txBody>
      </p:sp>
      <p:sp>
        <p:nvSpPr>
          <p:cNvPr id="8" name="">
            <a:extLst xmlns:a="http://schemas.openxmlformats.org/drawingml/2006/main">
              <a:ext uri="{FF2B5EF4-FFF2-40B4-BE49-F238E27FC236}">
                <a16:creationId xmlns:a16="http://schemas.microsoft.com/office/drawing/2014/main" id="{88DAC484-789A-49EE-8FE0-5CB21EFEC8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44</a:t>
            </a:r>
          </a:p>
        </p:txBody>
      </p:sp>
    </p:spTree>
    <p:extLst>
      <p:ext uri="{BB962C8B-B14F-4D97-AF65-F5344CB8AC3E}">
        <p14:creationId xmlns:p14="http://schemas.microsoft.com/office/powerpoint/2010/main" val="165974708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FFE85E-04B1-4BF9-A9F3-CF3510D4B5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D95AA3-6C0B-4935-B54A-EAC1910F82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29AD4DA-FC41-4BCF-8F3F-9DF743314DC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Looping through named fields</a:t>
            </a:r>
          </a:p>
        </p:txBody>
      </p:sp>
      <p:sp>
        <p:nvSpPr>
          <p:cNvPr id="4" name="">
            <a:extLst xmlns:a="http://schemas.openxmlformats.org/drawingml/2006/main">
              <a:ext uri="{FF2B5EF4-FFF2-40B4-BE49-F238E27FC236}">
                <a16:creationId xmlns:a16="http://schemas.microsoft.com/office/drawing/2014/main" id="{14CF6182-35C2-4811-93EE-141032B945D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39C742-05F8-458B-99E1-8D4E9C0CF73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 = {"unit": "A", "reading": 6}</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key, value in record.items():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print(key, value)</a:t>
            </a:r>
          </a:p>
        </p:txBody>
      </p:sp>
      <p:sp>
        <p:nvSpPr>
          <p:cNvPr id="6" name="">
            <a:extLst xmlns:a="http://schemas.openxmlformats.org/drawingml/2006/main">
              <a:ext uri="{FF2B5EF4-FFF2-40B4-BE49-F238E27FC236}">
                <a16:creationId xmlns:a16="http://schemas.microsoft.com/office/drawing/2014/main" id="{E492FB7F-92BC-46F1-8810-692B91E49DA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14284F4-0B59-42E0-BB05-783E7CF502A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.items() supplies pairs.</a:t>
            </a:r>
          </a:p>
        </p:txBody>
      </p:sp>
      <p:sp>
        <p:nvSpPr>
          <p:cNvPr id="8" name="">
            <a:extLst xmlns:a="http://schemas.openxmlformats.org/drawingml/2006/main">
              <a:ext uri="{FF2B5EF4-FFF2-40B4-BE49-F238E27FC236}">
                <a16:creationId xmlns:a16="http://schemas.microsoft.com/office/drawing/2014/main" id="{4DBDA894-477B-4E4F-8E55-0749F349EF9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key and value are names chosen for this loop.</a:t>
            </a:r>
          </a:p>
        </p:txBody>
      </p:sp>
      <p:sp>
        <p:nvSpPr>
          <p:cNvPr id="9" name="">
            <a:extLst xmlns:a="http://schemas.openxmlformats.org/drawingml/2006/main">
              <a:ext uri="{FF2B5EF4-FFF2-40B4-BE49-F238E27FC236}">
                <a16:creationId xmlns:a16="http://schemas.microsoft.com/office/drawing/2014/main" id="{347762B4-366E-4DB1-A6D5-4138EF7C014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unit A, then reading 6. The dictionary preserves insertion order.</a:t>
            </a:r>
          </a:p>
        </p:txBody>
      </p:sp>
      <p:sp>
        <p:nvSpPr>
          <p:cNvPr id="10" name="">
            <a:extLst xmlns:a="http://schemas.openxmlformats.org/drawingml/2006/main">
              <a:ext uri="{FF2B5EF4-FFF2-40B4-BE49-F238E27FC236}">
                <a16:creationId xmlns:a16="http://schemas.microsoft.com/office/drawing/2014/main" id="{ED9EF9E8-F127-43E1-B4D4-FF12B27FAA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45</a:t>
            </a:r>
          </a:p>
        </p:txBody>
      </p:sp>
    </p:spTree>
    <p:extLst>
      <p:ext uri="{BB962C8B-B14F-4D97-AF65-F5344CB8AC3E}">
        <p14:creationId xmlns:p14="http://schemas.microsoft.com/office/powerpoint/2010/main" val="7733337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DC8A84-F075-445B-BF86-389CE69F83B0}"/>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3A50F0-6D72-403F-8CAF-47BB718287B7}"/>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position and a key find different things</a:t>
            </a:r>
          </a:p>
        </p:txBody>
      </p:sp>
      <p:pic>
        <p:nvPicPr>
          <p:cNvPr id="3" name="">
            <a:extLst xmlns:a="http://schemas.openxmlformats.org/drawingml/2006/main">
              <a:ext uri="{FF2B5EF4-FFF2-40B4-BE49-F238E27FC236}">
                <a16:creationId xmlns:a16="http://schemas.microsoft.com/office/drawing/2014/main" id="{47454C91-9AF6-42B1-B0C8-1E9F0AAAC2B1}"/>
              </a:ext>
            </a:extLst>
          </p:cNvPr>
          <p:cNvPicPr>
            <a:picLocks xmlns:a="http://schemas.openxmlformats.org/drawingml/2006/main" noChangeAspect="1"/>
          </p:cNvPicPr>
          <p:nvPr/>
        </p:nvPicPr>
        <p:blipFill>
          <a:blip xmlns:r="http://schemas.openxmlformats.org/officeDocument/2006/relationships" xmlns:a="http://schemas.openxmlformats.org/drawingml/2006/main" r:embed="Rd203146e776341b8"/>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88EDAE-AB9A-4725-B630-7F8A760CB3D2}"/>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6EC864-937A-47FD-B2B1-C94C1583785F}"/>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Both examples return 4. Explain how each lookup finds it.</a:t>
            </a:r>
          </a:p>
        </p:txBody>
      </p:sp>
      <p:sp>
        <p:nvSpPr>
          <p:cNvPr id="6" name="">
            <a:extLst xmlns:a="http://schemas.openxmlformats.org/drawingml/2006/main">
              <a:ext uri="{FF2B5EF4-FFF2-40B4-BE49-F238E27FC236}">
                <a16:creationId xmlns:a16="http://schemas.microsoft.com/office/drawing/2014/main" id="{2AB7EF8B-2D4E-43BC-A7CC-7308CDF806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46</a:t>
            </a:r>
          </a:p>
        </p:txBody>
      </p:sp>
    </p:spTree>
    <p:extLst>
      <p:ext uri="{BB962C8B-B14F-4D97-AF65-F5344CB8AC3E}">
        <p14:creationId xmlns:p14="http://schemas.microsoft.com/office/powerpoint/2010/main" val="64184571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DBFA8D-6280-43A6-AC79-91A16E932F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063504-9DC4-43FE-9A0A-E04A5EC64D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7E3DF2B-54C6-477F-B0E3-6E22A0B941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CSV and header</a:t>
            </a:r>
          </a:p>
        </p:txBody>
      </p:sp>
      <p:sp>
        <p:nvSpPr>
          <p:cNvPr id="4" name="">
            <a:extLst xmlns:a="http://schemas.openxmlformats.org/drawingml/2006/main">
              <a:ext uri="{FF2B5EF4-FFF2-40B4-BE49-F238E27FC236}">
                <a16:creationId xmlns:a16="http://schemas.microsoft.com/office/drawing/2014/main" id="{28818477-2B29-4647-A6AF-B60AFAA7A6EF}"/>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F3F994-EB21-464B-8CEB-357423EB0F26}"/>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CSV and header</a:t>
            </a:r>
          </a:p>
        </p:txBody>
      </p:sp>
      <p:sp>
        <p:nvSpPr>
          <p:cNvPr id="6" name="">
            <a:extLst xmlns:a="http://schemas.openxmlformats.org/drawingml/2006/main">
              <a:ext uri="{FF2B5EF4-FFF2-40B4-BE49-F238E27FC236}">
                <a16:creationId xmlns:a16="http://schemas.microsoft.com/office/drawing/2014/main" id="{A450CD63-0DC7-4D8A-A4A9-58E65D02A98F}"/>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CSV means comma-separated values. One line usually represents one record; a header names the columns. CSV numbers arrive as text and may need float conversion.</a:t>
            </a:r>
          </a:p>
        </p:txBody>
      </p:sp>
      <p:sp>
        <p:nvSpPr>
          <p:cNvPr id="7" name="">
            <a:extLst xmlns:a="http://schemas.openxmlformats.org/drawingml/2006/main">
              <a:ext uri="{FF2B5EF4-FFF2-40B4-BE49-F238E27FC236}">
                <a16:creationId xmlns:a16="http://schemas.microsoft.com/office/drawing/2014/main" id="{7B35F59E-13D5-4F32-AFB6-2E8024A1CC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47</a:t>
            </a:r>
          </a:p>
        </p:txBody>
      </p:sp>
    </p:spTree>
    <p:extLst>
      <p:ext uri="{BB962C8B-B14F-4D97-AF65-F5344CB8AC3E}">
        <p14:creationId xmlns:p14="http://schemas.microsoft.com/office/powerpoint/2010/main" val="161506862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4E51FE-C553-4E03-AFDC-A74FB4220E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C3BA16-46B0-47DB-9A45-E21D4EB306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E9A960B-C949-42ED-A083-245C74F1AD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record at a time</a:t>
            </a:r>
          </a:p>
        </p:txBody>
      </p:sp>
      <p:sp>
        <p:nvSpPr>
          <p:cNvPr id="4" name="">
            <a:extLst xmlns:a="http://schemas.openxmlformats.org/drawingml/2006/main">
              <a:ext uri="{FF2B5EF4-FFF2-40B4-BE49-F238E27FC236}">
                <a16:creationId xmlns:a16="http://schemas.microsoft.com/office/drawing/2014/main" id="{8C143E87-0096-47CC-84EA-3EAF5D1366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E274939-D866-4E26-9222-5FA8B971CC59}"/>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CSV is a text table with a header row.</a:t>
            </a:r>
          </a:p>
        </p:txBody>
      </p:sp>
      <p:sp>
        <p:nvSpPr>
          <p:cNvPr id="6" name="">
            <a:extLst xmlns:a="http://schemas.openxmlformats.org/drawingml/2006/main">
              <a:ext uri="{FF2B5EF4-FFF2-40B4-BE49-F238E27FC236}">
                <a16:creationId xmlns:a16="http://schemas.microsoft.com/office/drawing/2014/main" id="{BBC1817A-2051-477F-9079-7619A94E04BB}"/>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136DBCC-6D32-4444-914C-E8013B2ABCDC}"/>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DictReader uses that header for dictionary keys.</a:t>
            </a:r>
          </a:p>
        </p:txBody>
      </p:sp>
      <p:sp>
        <p:nvSpPr>
          <p:cNvPr id="8" name="">
            <a:extLst xmlns:a="http://schemas.openxmlformats.org/drawingml/2006/main">
              <a:ext uri="{FF2B5EF4-FFF2-40B4-BE49-F238E27FC236}">
                <a16:creationId xmlns:a16="http://schemas.microsoft.com/office/drawing/2014/main" id="{CD057F79-7531-4F4B-A8C6-33D786D2B60A}"/>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421A07A-1791-48CD-8B97-5B8FD499B932}"/>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 cells begin as text, even when they look numeric.</a:t>
            </a:r>
          </a:p>
        </p:txBody>
      </p:sp>
      <p:sp>
        <p:nvSpPr>
          <p:cNvPr id="10" name="">
            <a:extLst xmlns:a="http://schemas.openxmlformats.org/drawingml/2006/main">
              <a:ext uri="{FF2B5EF4-FFF2-40B4-BE49-F238E27FC236}">
                <a16:creationId xmlns:a16="http://schemas.microsoft.com/office/drawing/2014/main" id="{EF2782E5-1C94-4447-AEC0-F2ED826BBAB0}"/>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FF2218B-66FD-4E96-8B00-84433443317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float("2.5") converts text into the number 2.5.</a:t>
            </a:r>
          </a:p>
        </p:txBody>
      </p:sp>
      <p:sp>
        <p:nvSpPr>
          <p:cNvPr id="12" name="">
            <a:extLst xmlns:a="http://schemas.openxmlformats.org/drawingml/2006/main">
              <a:ext uri="{FF2B5EF4-FFF2-40B4-BE49-F238E27FC236}">
                <a16:creationId xmlns:a16="http://schemas.microsoft.com/office/drawing/2014/main" id="{FE8B23B3-E06C-41DF-A138-3ADDC4FBA3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48</a:t>
            </a:r>
          </a:p>
        </p:txBody>
      </p:sp>
    </p:spTree>
    <p:extLst>
      <p:ext uri="{BB962C8B-B14F-4D97-AF65-F5344CB8AC3E}">
        <p14:creationId xmlns:p14="http://schemas.microsoft.com/office/powerpoint/2010/main" val="145966979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6BF430-E2E6-42F5-980C-CFA8ED0B12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8DE185-E22C-4ACB-B5C0-300F05B3A4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C7FEDBA-E764-4479-A458-A266CB32ED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CSV file has a header and text values</a:t>
            </a:r>
          </a:p>
        </p:txBody>
      </p:sp>
      <p:graphicFrame>
        <p:nvGraphicFramePr>
          <p:cNvPr id="4" name="">
            <a:extLst xmlns:a="http://schemas.openxmlformats.org/drawingml/2006/main">
              <a:ext uri="{FF2B5EF4-FFF2-40B4-BE49-F238E27FC236}">
                <a16:creationId xmlns:a16="http://schemas.microsoft.com/office/drawing/2014/main" id="{0D43500E-5010-45CC-AD19-5E16E05F3E39}"/>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833438">
                <a:tc>
                  <a:txBody>
                    <a:bodyPr/>
                    <a:lstStyle/>
                    <a:p>
                      <a:r>
                        <a:rPr sz="2025" b="1">
                          <a:solidFill>
                            <a:srgbClr val="FFFFFF"/>
                          </a:solidFill>
                          <a:latin typeface="Calibri"/>
                          <a:ea typeface="Calibri"/>
                          <a:cs typeface="Calibri"/>
                        </a:rPr>
                        <a:t>CSV line</a:t>
                      </a:r>
                    </a:p>
                  </a:txBody>
                  <a:tcPr marL="91440" marR="91440" marT="45720" marB="45720">
                    <a:solidFill>
                      <a:srgbClr val="2E7D6F"/>
                    </a:solidFill>
                  </a:tcPr>
                </a:tc>
                <a:tc>
                  <a:txBody>
                    <a:bodyPr/>
                    <a:lstStyle/>
                    <a:p>
                      <a:r>
                        <a:rPr sz="2025" b="1">
                          <a:solidFill>
                            <a:srgbClr val="FFFFFF"/>
                          </a:solidFill>
                          <a:latin typeface="Calibri"/>
                          <a:ea typeface="Calibri"/>
                          <a:cs typeface="Calibri"/>
                        </a:rPr>
                        <a:t>Dictionary meaning</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unit,reading</a:t>
                      </a:r>
                    </a:p>
                  </a:txBody>
                  <a:tcPr marL="91440" marR="91440" marT="45720" marB="45720">
                    <a:solidFill>
                      <a:srgbClr val="EEF3F6"/>
                    </a:solidFill>
                  </a:tcPr>
                </a:tc>
                <a:tc>
                  <a:txBody>
                    <a:bodyPr/>
                    <a:lstStyle/>
                    <a:p>
                      <a:r>
                        <a:rPr sz="2025" b="0">
                          <a:solidFill>
                            <a:srgbClr val="1C3144"/>
                          </a:solidFill>
                          <a:latin typeface="Calibri"/>
                          <a:ea typeface="Calibri"/>
                          <a:cs typeface="Calibri"/>
                        </a:rPr>
                        <a:t>Two field names</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A,2.5</a:t>
                      </a:r>
                    </a:p>
                  </a:txBody>
                  <a:tcPr marL="91440" marR="91440" marT="45720" marB="45720">
                    <a:solidFill>
                      <a:srgbClr val="FFFFFF"/>
                    </a:solidFill>
                  </a:tcPr>
                </a:tc>
                <a:tc>
                  <a:txBody>
                    <a:bodyPr/>
                    <a:lstStyle/>
                    <a:p>
                      <a:r>
                        <a:rPr sz="2025" b="0">
                          <a:solidFill>
                            <a:srgbClr val="1C3144"/>
                          </a:solidFill>
                          <a:latin typeface="Calibri"/>
                          <a:ea typeface="Calibri"/>
                          <a:cs typeface="Calibri"/>
                        </a:rPr>
                        <a:t>{"unit": "A", "reading": "2.5"}</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{"unit": "B", "reading": ""}</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508A325A-40C8-4217-BEC3-9E56E81D0E7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field is empty text. Check the task’s rule before converting it.</a:t>
            </a:r>
          </a:p>
        </p:txBody>
      </p:sp>
      <p:sp>
        <p:nvSpPr>
          <p:cNvPr id="6" name="">
            <a:extLst xmlns:a="http://schemas.openxmlformats.org/drawingml/2006/main">
              <a:ext uri="{FF2B5EF4-FFF2-40B4-BE49-F238E27FC236}">
                <a16:creationId xmlns:a16="http://schemas.microsoft.com/office/drawing/2014/main" id="{EB12E17B-D482-4801-8453-2BC446F71C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49</a:t>
            </a:r>
          </a:p>
        </p:txBody>
      </p:sp>
    </p:spTree>
    <p:extLst>
      <p:ext uri="{BB962C8B-B14F-4D97-AF65-F5344CB8AC3E}">
        <p14:creationId xmlns:p14="http://schemas.microsoft.com/office/powerpoint/2010/main" val="29223610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7EA5C2-CBD8-4F2E-8D26-7A405AC46C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E4070E-BB18-4851-962E-D32917C6FD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B3C3364-A072-4D56-9C33-6B6289C948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CSV row becomes a dictionary</a:t>
            </a:r>
          </a:p>
        </p:txBody>
      </p:sp>
      <p:sp>
        <p:nvSpPr>
          <p:cNvPr id="4" name="">
            <a:extLst xmlns:a="http://schemas.openxmlformats.org/drawingml/2006/main">
              <a:ext uri="{FF2B5EF4-FFF2-40B4-BE49-F238E27FC236}">
                <a16:creationId xmlns:a16="http://schemas.microsoft.com/office/drawing/2014/main" id="{A55B36DF-EB0B-4B4A-B0E8-7B11A461E88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670A650-1490-4901-879A-DAD50FE7B62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header gives field names, such as unit and reading.</a:t>
            </a:r>
          </a:p>
        </p:txBody>
      </p:sp>
      <p:sp>
        <p:nvSpPr>
          <p:cNvPr id="6" name="">
            <a:extLst xmlns:a="http://schemas.openxmlformats.org/drawingml/2006/main">
              <a:ext uri="{FF2B5EF4-FFF2-40B4-BE49-F238E27FC236}">
                <a16:creationId xmlns:a16="http://schemas.microsoft.com/office/drawing/2014/main" id="{17474CCA-58D6-48A0-BBE3-58839A8B132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1EECB0B-C4E4-4A05-A4DE-4B1DE806378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csv.DictReader returns one dictionary for each data row.</a:t>
            </a:r>
          </a:p>
        </p:txBody>
      </p:sp>
      <p:sp>
        <p:nvSpPr>
          <p:cNvPr id="8" name="">
            <a:extLst xmlns:a="http://schemas.openxmlformats.org/drawingml/2006/main">
              <a:ext uri="{FF2B5EF4-FFF2-40B4-BE49-F238E27FC236}">
                <a16:creationId xmlns:a16="http://schemas.microsoft.com/office/drawing/2014/main" id="{E9E975B4-9FB6-4D9A-856F-FA1752C8BB5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9131C9-0E25-4133-971E-72CD62AFC71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value "2.5" starts as text. float("2.5") makes the number 2.5.</a:t>
            </a:r>
          </a:p>
        </p:txBody>
      </p:sp>
      <p:sp>
        <p:nvSpPr>
          <p:cNvPr id="10" name="">
            <a:extLst xmlns:a="http://schemas.openxmlformats.org/drawingml/2006/main">
              <a:ext uri="{FF2B5EF4-FFF2-40B4-BE49-F238E27FC236}">
                <a16:creationId xmlns:a16="http://schemas.microsoft.com/office/drawing/2014/main" id="{953559DF-13E6-4E7E-B4D5-1FD229CCBB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50</a:t>
            </a:r>
          </a:p>
        </p:txBody>
      </p:sp>
    </p:spTree>
    <p:extLst>
      <p:ext uri="{BB962C8B-B14F-4D97-AF65-F5344CB8AC3E}">
        <p14:creationId xmlns:p14="http://schemas.microsoft.com/office/powerpoint/2010/main" val="98520575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8319F9-3B4C-44F7-96EE-E44F7611C9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B1F04D-0BD4-47EB-9711-071ACBF6F7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3D03359-2632-419D-8ADF-0BE187AEBB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with and import</a:t>
            </a:r>
          </a:p>
        </p:txBody>
      </p:sp>
      <p:sp>
        <p:nvSpPr>
          <p:cNvPr id="4" name="">
            <a:extLst xmlns:a="http://schemas.openxmlformats.org/drawingml/2006/main">
              <a:ext uri="{FF2B5EF4-FFF2-40B4-BE49-F238E27FC236}">
                <a16:creationId xmlns:a16="http://schemas.microsoft.com/office/drawing/2014/main" id="{CE4A72DA-96D7-42E2-B720-79D02101DA65}"/>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4376FB-0B6C-4D19-9099-C464CEEC9D24}"/>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with and import</a:t>
            </a:r>
          </a:p>
        </p:txBody>
      </p:sp>
      <p:sp>
        <p:nvSpPr>
          <p:cNvPr id="6" name="">
            <a:extLst xmlns:a="http://schemas.openxmlformats.org/drawingml/2006/main">
              <a:ext uri="{FF2B5EF4-FFF2-40B4-BE49-F238E27FC236}">
                <a16:creationId xmlns:a16="http://schemas.microsoft.com/office/drawing/2014/main" id="{77FF6C29-9860-4037-B5E0-40730441EEF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import makes library tools available. with open(...) opens a file for a block and closes it afterward. A filename must match an existing file in the working folder.</a:t>
            </a:r>
          </a:p>
        </p:txBody>
      </p:sp>
      <p:sp>
        <p:nvSpPr>
          <p:cNvPr id="7" name="">
            <a:extLst xmlns:a="http://schemas.openxmlformats.org/drawingml/2006/main">
              <a:ext uri="{FF2B5EF4-FFF2-40B4-BE49-F238E27FC236}">
                <a16:creationId xmlns:a16="http://schemas.microsoft.com/office/drawing/2014/main" id="{D5B3B54C-697C-4818-A9BB-7810F95E76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51</a:t>
            </a:r>
          </a:p>
        </p:txBody>
      </p:sp>
    </p:spTree>
    <p:extLst>
      <p:ext uri="{BB962C8B-B14F-4D97-AF65-F5344CB8AC3E}">
        <p14:creationId xmlns:p14="http://schemas.microsoft.com/office/powerpoint/2010/main" val="59507867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E4C096-425A-4FB3-A92A-1E1C74289F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DA20F4-C6ED-439D-9D37-282E4FAF38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176DA49-9017-4FC5-B840-46A2FA3509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cohort data</a:t>
            </a:r>
          </a:p>
        </p:txBody>
      </p:sp>
      <p:sp>
        <p:nvSpPr>
          <p:cNvPr id="4" name="">
            <a:extLst xmlns:a="http://schemas.openxmlformats.org/drawingml/2006/main">
              <a:ext uri="{FF2B5EF4-FFF2-40B4-BE49-F238E27FC236}">
                <a16:creationId xmlns:a16="http://schemas.microsoft.com/office/drawing/2014/main" id="{633F3A51-8654-4E98-A6D5-57326F2E207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2F47684-A589-4890-AAB9-1B998BB8950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drill_shift_log.csv</a:t>
            </a:r>
          </a:p>
        </p:txBody>
      </p:sp>
      <p:sp>
        <p:nvSpPr>
          <p:cNvPr id="6" name="">
            <a:extLst xmlns:a="http://schemas.openxmlformats.org/drawingml/2006/main">
              <a:ext uri="{FF2B5EF4-FFF2-40B4-BE49-F238E27FC236}">
                <a16:creationId xmlns:a16="http://schemas.microsoft.com/office/drawing/2014/main" id="{54F00139-366E-46EB-A540-0FB7E403382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844B400-09C3-49A7-B863-9FBF07D08C1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Summarise rate_of_penetration (m/hour); group by bit_type.</a:t>
            </a:r>
          </a:p>
        </p:txBody>
      </p:sp>
      <p:sp>
        <p:nvSpPr>
          <p:cNvPr id="8" name="">
            <a:extLst xmlns:a="http://schemas.openxmlformats.org/drawingml/2006/main">
              <a:ext uri="{FF2B5EF4-FFF2-40B4-BE49-F238E27FC236}">
                <a16:creationId xmlns:a16="http://schemas.microsoft.com/office/drawing/2014/main" id="{9321B5F4-D8E3-439D-B56A-C4C448B417C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27B2284-85FE-4C7A-B3B7-7BD35C81501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the issued task’s blank-value and threshold rules before calculating.</a:t>
            </a:r>
          </a:p>
        </p:txBody>
      </p:sp>
      <p:sp>
        <p:nvSpPr>
          <p:cNvPr id="10" name="">
            <a:extLst xmlns:a="http://schemas.openxmlformats.org/drawingml/2006/main">
              <a:ext uri="{FF2B5EF4-FFF2-40B4-BE49-F238E27FC236}">
                <a16:creationId xmlns:a16="http://schemas.microsoft.com/office/drawing/2014/main" id="{8EC2E4C5-8CE8-4F93-BA77-17B38A2A13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52</a:t>
            </a:r>
          </a:p>
        </p:txBody>
      </p:sp>
    </p:spTree>
    <p:extLst>
      <p:ext uri="{BB962C8B-B14F-4D97-AF65-F5344CB8AC3E}">
        <p14:creationId xmlns:p14="http://schemas.microsoft.com/office/powerpoint/2010/main" val="49096269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207DDC-D699-4A0E-AFBF-38DC772CD5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DC56AC-AFE6-48B1-BA0F-D40784F95F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77D725B-EEB4-4DB9-8F9D-8556D13982D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supplied CSV in four steps</a:t>
            </a:r>
          </a:p>
        </p:txBody>
      </p:sp>
      <p:sp>
        <p:nvSpPr>
          <p:cNvPr id="4" name="">
            <a:extLst xmlns:a="http://schemas.openxmlformats.org/drawingml/2006/main">
              <a:ext uri="{FF2B5EF4-FFF2-40B4-BE49-F238E27FC236}">
                <a16:creationId xmlns:a16="http://schemas.microsoft.com/office/drawing/2014/main" id="{A57BAB0D-074D-447E-BC37-74AC537DACB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39FB864-6B18-4000-BAEE-6AA12B256CA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Place drill_shift_log.csv beside the notebook, or upload it in Colab’s Files panel.</a:t>
            </a:r>
          </a:p>
        </p:txBody>
      </p:sp>
      <p:sp>
        <p:nvSpPr>
          <p:cNvPr id="6" name="">
            <a:extLst xmlns:a="http://schemas.openxmlformats.org/drawingml/2006/main">
              <a:ext uri="{FF2B5EF4-FFF2-40B4-BE49-F238E27FC236}">
                <a16:creationId xmlns:a16="http://schemas.microsoft.com/office/drawing/2014/main" id="{C81D4DC2-BBE3-4487-A368-67BBE14922E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96F0DFA-D996-49AD-895B-53DB54CD2F0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csv loads the CSV tools. newline="" lets the reader handle line endings. DictReader uses the header as dictionary keys.</a:t>
            </a:r>
          </a:p>
        </p:txBody>
      </p:sp>
      <p:sp>
        <p:nvSpPr>
          <p:cNvPr id="8" name="">
            <a:extLst xmlns:a="http://schemas.openxmlformats.org/drawingml/2006/main">
              <a:ext uri="{FF2B5EF4-FFF2-40B4-BE49-F238E27FC236}">
                <a16:creationId xmlns:a16="http://schemas.microsoft.com/office/drawing/2014/main" id="{F6703953-5A16-4E51-B2FB-C934BEF57F6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9529768-2328-41AF-9FFF-D18E2B26A20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collects the rows while the file is open. We inspect the first row and the count; the later assignment calculations are your work.</a:t>
            </a:r>
          </a:p>
        </p:txBody>
      </p:sp>
      <p:sp>
        <p:nvSpPr>
          <p:cNvPr id="10" name="">
            <a:extLst xmlns:a="http://schemas.openxmlformats.org/drawingml/2006/main">
              <a:ext uri="{FF2B5EF4-FFF2-40B4-BE49-F238E27FC236}">
                <a16:creationId xmlns:a16="http://schemas.microsoft.com/office/drawing/2014/main" id="{1F091B97-3AB1-4C5C-8BA1-117F60469D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53</a:t>
            </a:r>
          </a:p>
        </p:txBody>
      </p:sp>
    </p:spTree>
    <p:extLst>
      <p:ext uri="{BB962C8B-B14F-4D97-AF65-F5344CB8AC3E}">
        <p14:creationId xmlns:p14="http://schemas.microsoft.com/office/powerpoint/2010/main" val="104472883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0C079E-5CE1-4E65-85A7-F079558FA3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C16FA4-B3D9-44C4-BC3B-48FEE77FA5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00ED0A3-279F-493B-A95F-80B72AE109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with open as source does</a:t>
            </a:r>
          </a:p>
        </p:txBody>
      </p:sp>
      <p:sp>
        <p:nvSpPr>
          <p:cNvPr id="4" name="">
            <a:extLst xmlns:a="http://schemas.openxmlformats.org/drawingml/2006/main">
              <a:ext uri="{FF2B5EF4-FFF2-40B4-BE49-F238E27FC236}">
                <a16:creationId xmlns:a16="http://schemas.microsoft.com/office/drawing/2014/main" id="{B6D7407E-CEDE-4FBD-817C-87772677714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49E1CF2-E933-4DCB-8CB5-AC6F3BF6F9E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open("file.csv", newline="") opens a text file for reading. Use the actual supplied filename, including its .csv extension.</a:t>
            </a:r>
          </a:p>
        </p:txBody>
      </p:sp>
      <p:sp>
        <p:nvSpPr>
          <p:cNvPr id="6" name="">
            <a:extLst xmlns:a="http://schemas.openxmlformats.org/drawingml/2006/main">
              <a:ext uri="{FF2B5EF4-FFF2-40B4-BE49-F238E27FC236}">
                <a16:creationId xmlns:a16="http://schemas.microsoft.com/office/drawing/2014/main" id="{2931A781-0BBF-4D46-8316-74A7ACE006F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9814B6F-923E-435C-90B9-5242ABD9522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manages the open file. as source gives that file object a name. Indented lines use it while it is open; leaving the block closes it.</a:t>
            </a:r>
          </a:p>
        </p:txBody>
      </p:sp>
      <p:sp>
        <p:nvSpPr>
          <p:cNvPr id="8" name="">
            <a:extLst xmlns:a="http://schemas.openxmlformats.org/drawingml/2006/main">
              <a:ext uri="{FF2B5EF4-FFF2-40B4-BE49-F238E27FC236}">
                <a16:creationId xmlns:a16="http://schemas.microsoft.com/office/drawing/2014/main" id="{7E782EC7-2BE9-4FBD-AA90-E208C129976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691646C-DF90-47DF-B641-BBFC2D5C929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csv.DictReader(source) reads rows using the header names as keys. list(...) collects those rows into memory before the file closes.</a:t>
            </a:r>
          </a:p>
        </p:txBody>
      </p:sp>
      <p:sp>
        <p:nvSpPr>
          <p:cNvPr id="10" name="">
            <a:extLst xmlns:a="http://schemas.openxmlformats.org/drawingml/2006/main">
              <a:ext uri="{FF2B5EF4-FFF2-40B4-BE49-F238E27FC236}">
                <a16:creationId xmlns:a16="http://schemas.microsoft.com/office/drawing/2014/main" id="{137A5B29-26AF-42C2-B340-0D1B1A7661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54</a:t>
            </a:r>
          </a:p>
        </p:txBody>
      </p:sp>
    </p:spTree>
    <p:extLst>
      <p:ext uri="{BB962C8B-B14F-4D97-AF65-F5344CB8AC3E}">
        <p14:creationId xmlns:p14="http://schemas.microsoft.com/office/powerpoint/2010/main" val="18985736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51EDA-2158-4683-A07C-FFA43FC433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5E344F-A696-4737-B2F8-3419D349C7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A41D018-36FA-494F-81DB-E8BAC96FDE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 a real CSV and inspect its first row</a:t>
            </a:r>
          </a:p>
        </p:txBody>
      </p:sp>
      <p:sp>
        <p:nvSpPr>
          <p:cNvPr id="4" name="">
            <a:extLst xmlns:a="http://schemas.openxmlformats.org/drawingml/2006/main">
              <a:ext uri="{FF2B5EF4-FFF2-40B4-BE49-F238E27FC236}">
                <a16:creationId xmlns:a16="http://schemas.microsoft.com/office/drawing/2014/main" id="{CED34750-122A-4148-AD0A-959CF74C64F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C09FE4-B303-4718-B5C8-3AEFE49C073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with open("drill_sh</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t_log.csv", newline="") as source: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rows = list(csv.DictReader(source))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print(rows[0])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print(len(rows))</a:t>
            </a:r>
          </a:p>
        </p:txBody>
      </p:sp>
      <p:sp>
        <p:nvSpPr>
          <p:cNvPr id="6" name="">
            <a:extLst xmlns:a="http://schemas.openxmlformats.org/drawingml/2006/main">
              <a:ext uri="{FF2B5EF4-FFF2-40B4-BE49-F238E27FC236}">
                <a16:creationId xmlns:a16="http://schemas.microsoft.com/office/drawing/2014/main" id="{4772E164-F612-4DD3-B4FD-BE49CA23B80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3E2C9350-F200-4200-8F90-769B3EC57AD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actual keys and text values. Check the uploaded filename if Python reports FileNotFoundError.</a:t>
            </a:r>
          </a:p>
        </p:txBody>
      </p:sp>
      <p:sp>
        <p:nvSpPr>
          <p:cNvPr id="8" name="">
            <a:extLst xmlns:a="http://schemas.openxmlformats.org/drawingml/2006/main">
              <a:ext uri="{FF2B5EF4-FFF2-40B4-BE49-F238E27FC236}">
                <a16:creationId xmlns:a16="http://schemas.microsoft.com/office/drawing/2014/main" id="{CF7F5BB5-EFE0-436E-9839-6C2C6D2221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55</a:t>
            </a:r>
          </a:p>
        </p:txBody>
      </p:sp>
    </p:spTree>
    <p:extLst>
      <p:ext uri="{BB962C8B-B14F-4D97-AF65-F5344CB8AC3E}">
        <p14:creationId xmlns:p14="http://schemas.microsoft.com/office/powerpoint/2010/main" val="157374868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F3ED72-6FAA-4FFC-B892-754DA44FD2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C04A35-2907-466D-B223-E80D0B64B0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94785AF-0B25-47DA-A115-5161992A70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Numbers read from CSV</a:t>
            </a:r>
          </a:p>
        </p:txBody>
      </p:sp>
      <p:sp>
        <p:nvSpPr>
          <p:cNvPr id="4" name="">
            <a:extLst xmlns:a="http://schemas.openxmlformats.org/drawingml/2006/main">
              <a:ext uri="{FF2B5EF4-FFF2-40B4-BE49-F238E27FC236}">
                <a16:creationId xmlns:a16="http://schemas.microsoft.com/office/drawing/2014/main" id="{9E05529D-191F-43D9-9774-3A7E62F2C67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5FA8E1-9627-4AE1-B3E2-2895C4C6C4E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13BCD95-7915-4806-8EFC-5DAE43183C6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DictReader reads each row as a dictionary. CSV field values start as text. float converts a recorded numeric field to a number.</a:t>
            </a:r>
          </a:p>
        </p:txBody>
      </p:sp>
      <p:sp>
        <p:nvSpPr>
          <p:cNvPr id="7" name="">
            <a:extLst xmlns:a="http://schemas.openxmlformats.org/drawingml/2006/main">
              <a:ext uri="{FF2B5EF4-FFF2-40B4-BE49-F238E27FC236}">
                <a16:creationId xmlns:a16="http://schemas.microsoft.com/office/drawing/2014/main" id="{CE206B31-C597-4212-8FFB-C49E8BDD069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Check for an empty string before converting a blank cell.</a:t>
            </a:r>
          </a:p>
        </p:txBody>
      </p:sp>
      <p:sp>
        <p:nvSpPr>
          <p:cNvPr id="8" name="">
            <a:extLst xmlns:a="http://schemas.openxmlformats.org/drawingml/2006/main">
              <a:ext uri="{FF2B5EF4-FFF2-40B4-BE49-F238E27FC236}">
                <a16:creationId xmlns:a16="http://schemas.microsoft.com/office/drawing/2014/main" id="{CF053CED-67AF-4FBD-9589-C77C8E257B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56</a:t>
            </a:r>
          </a:p>
        </p:txBody>
      </p:sp>
    </p:spTree>
    <p:extLst>
      <p:ext uri="{BB962C8B-B14F-4D97-AF65-F5344CB8AC3E}">
        <p14:creationId xmlns:p14="http://schemas.microsoft.com/office/powerpoint/2010/main" val="104894279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F9B4AF-4CD2-4289-BB33-5AB530634A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792967-2B1E-45BA-974C-5678C67CE2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916E770-02FD-4BE6-8A25-67828327EC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Recorded values from the supplied rows</a:t>
            </a:r>
          </a:p>
        </p:txBody>
      </p:sp>
      <p:sp>
        <p:nvSpPr>
          <p:cNvPr id="4" name="">
            <a:extLst xmlns:a="http://schemas.openxmlformats.org/drawingml/2006/main">
              <a:ext uri="{FF2B5EF4-FFF2-40B4-BE49-F238E27FC236}">
                <a16:creationId xmlns:a16="http://schemas.microsoft.com/office/drawing/2014/main" id="{3DA3A21F-7D62-4202-A3D3-6A96ED212B3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9D8CB2-E541-426D-83D2-71F9DA7885B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values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text = row["rate_of_penetration"]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text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values.append(float(text))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print(values[:5])</a:t>
            </a:r>
          </a:p>
        </p:txBody>
      </p:sp>
      <p:sp>
        <p:nvSpPr>
          <p:cNvPr id="6" name="">
            <a:extLst xmlns:a="http://schemas.openxmlformats.org/drawingml/2006/main">
              <a:ext uri="{FF2B5EF4-FFF2-40B4-BE49-F238E27FC236}">
                <a16:creationId xmlns:a16="http://schemas.microsoft.com/office/drawing/2014/main" id="{B093D6F8-B52E-4F29-A90A-34FBE37F839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9545D97-A342-4289-88A9-494F829C013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retained number comes directly from a CSV row.</a:t>
            </a:r>
          </a:p>
        </p:txBody>
      </p:sp>
      <p:sp>
        <p:nvSpPr>
          <p:cNvPr id="8" name="">
            <a:extLst xmlns:a="http://schemas.openxmlformats.org/drawingml/2006/main">
              <a:ext uri="{FF2B5EF4-FFF2-40B4-BE49-F238E27FC236}">
                <a16:creationId xmlns:a16="http://schemas.microsoft.com/office/drawing/2014/main" id="{974F343A-FD7D-4C1D-B382-F5D9B102FB9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9" name="">
            <a:extLst xmlns:a="http://schemas.openxmlformats.org/drawingml/2006/main">
              <a:ext uri="{FF2B5EF4-FFF2-40B4-BE49-F238E27FC236}">
                <a16:creationId xmlns:a16="http://schemas.microsoft.com/office/drawing/2014/main" id="{55D4B7E6-2454-4D56-B750-CC10A6566C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57</a:t>
            </a:r>
          </a:p>
        </p:txBody>
      </p:sp>
    </p:spTree>
    <p:extLst>
      <p:ext uri="{BB962C8B-B14F-4D97-AF65-F5344CB8AC3E}">
        <p14:creationId xmlns:p14="http://schemas.microsoft.com/office/powerpoint/2010/main" val="192335312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7B0A83-1AAE-4A33-8317-9789ED7767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367ED9-7C77-4E41-A21F-F1EE5BA325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F9CAD88-7888-4A43-AD7E-83BBFAB60E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summary for each group</a:t>
            </a:r>
          </a:p>
        </p:txBody>
      </p:sp>
      <p:sp>
        <p:nvSpPr>
          <p:cNvPr id="4" name="">
            <a:extLst xmlns:a="http://schemas.openxmlformats.org/drawingml/2006/main">
              <a:ext uri="{FF2B5EF4-FFF2-40B4-BE49-F238E27FC236}">
                <a16:creationId xmlns:a16="http://schemas.microsoft.com/office/drawing/2014/main" id="{81765908-1F5F-43D6-B091-F175C4D1746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E0C81C-75D4-4939-BE82-F9E8BCFC207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177284-D54B-4CEC-90F3-08A90E8F06B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a totals dictionary and a counts dictionary. Initialise a new group before adding its first reading.</a:t>
            </a:r>
          </a:p>
        </p:txBody>
      </p:sp>
      <p:sp>
        <p:nvSpPr>
          <p:cNvPr id="7" name="">
            <a:extLst xmlns:a="http://schemas.openxmlformats.org/drawingml/2006/main">
              <a:ext uri="{FF2B5EF4-FFF2-40B4-BE49-F238E27FC236}">
                <a16:creationId xmlns:a16="http://schemas.microsoft.com/office/drawing/2014/main" id="{1A3BF131-7C1C-4373-B987-6FE5883E588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 the recorded value and increment its count. Divide each total by its count to obtain the group mean.</a:t>
            </a:r>
          </a:p>
        </p:txBody>
      </p:sp>
      <p:sp>
        <p:nvSpPr>
          <p:cNvPr id="8" name="">
            <a:extLst xmlns:a="http://schemas.openxmlformats.org/drawingml/2006/main">
              <a:ext uri="{FF2B5EF4-FFF2-40B4-BE49-F238E27FC236}">
                <a16:creationId xmlns:a16="http://schemas.microsoft.com/office/drawing/2014/main" id="{E2E695B2-EEB4-487E-9B62-104707A4E2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58</a:t>
            </a:r>
          </a:p>
        </p:txBody>
      </p:sp>
    </p:spTree>
    <p:extLst>
      <p:ext uri="{BB962C8B-B14F-4D97-AF65-F5344CB8AC3E}">
        <p14:creationId xmlns:p14="http://schemas.microsoft.com/office/powerpoint/2010/main" val="57104098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185124-55D5-46EA-A247-14834B0BC7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41A63A-8A0C-44F4-B7ED-CEEFA0C15F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3DAE2D7-6EB9-40DC-BED4-53D04E09F1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Grouped means from the supplied rows (1/2)</a:t>
            </a:r>
          </a:p>
        </p:txBody>
      </p:sp>
      <p:sp>
        <p:nvSpPr>
          <p:cNvPr id="4" name="">
            <a:extLst xmlns:a="http://schemas.openxmlformats.org/drawingml/2006/main">
              <a:ext uri="{FF2B5EF4-FFF2-40B4-BE49-F238E27FC236}">
                <a16:creationId xmlns:a16="http://schemas.microsoft.com/office/drawing/2014/main" id="{B627DFDD-213B-4BCC-BB0B-05551DDBE5B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E76FC2-22F0-4A53-8F19-0786B8073C9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totals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 row["bit_type"]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row["rate_of_penetration"]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value = float(row["rate_of_penetration"])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totals[group] = totals.get(group, 0) + 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counts[group] = counts.get(group, 0) + 1</a:t>
            </a:r>
          </a:p>
        </p:txBody>
      </p:sp>
      <p:sp>
        <p:nvSpPr>
          <p:cNvPr id="6" name="">
            <a:extLst xmlns:a="http://schemas.openxmlformats.org/drawingml/2006/main">
              <a:ext uri="{FF2B5EF4-FFF2-40B4-BE49-F238E27FC236}">
                <a16:creationId xmlns:a16="http://schemas.microsoft.com/office/drawing/2014/main" id="{6A219145-A27F-44D8-BBD9-482C038A6FD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get(group, 0) returns the existing value or zero for a new group.</a:t>
            </a:r>
          </a:p>
        </p:txBody>
      </p:sp>
      <p:sp>
        <p:nvSpPr>
          <p:cNvPr id="7" name="">
            <a:extLst xmlns:a="http://schemas.openxmlformats.org/drawingml/2006/main">
              <a:ext uri="{FF2B5EF4-FFF2-40B4-BE49-F238E27FC236}">
                <a16:creationId xmlns:a16="http://schemas.microsoft.com/office/drawing/2014/main" id="{E293F81D-21B5-48FC-AAFD-A1ADEFB6B60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8" name="">
            <a:extLst xmlns:a="http://schemas.openxmlformats.org/drawingml/2006/main">
              <a:ext uri="{FF2B5EF4-FFF2-40B4-BE49-F238E27FC236}">
                <a16:creationId xmlns:a16="http://schemas.microsoft.com/office/drawing/2014/main" id="{9A60D014-1F59-4FC9-9D51-9CAF1A859D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59</a:t>
            </a:r>
          </a:p>
        </p:txBody>
      </p:sp>
    </p:spTree>
    <p:extLst>
      <p:ext uri="{BB962C8B-B14F-4D97-AF65-F5344CB8AC3E}">
        <p14:creationId xmlns:p14="http://schemas.microsoft.com/office/powerpoint/2010/main" val="76666853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2192DF-A362-4188-A879-5344DE651F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8D23E0-F8F9-4625-9B02-702FA051E8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4407AD2-7CFD-4BED-B945-2DB0DC6D1C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Grouped means from the supplied rows (2/2)</a:t>
            </a:r>
          </a:p>
        </p:txBody>
      </p:sp>
      <p:sp>
        <p:nvSpPr>
          <p:cNvPr id="4" name="">
            <a:extLst xmlns:a="http://schemas.openxmlformats.org/drawingml/2006/main">
              <a:ext uri="{FF2B5EF4-FFF2-40B4-BE49-F238E27FC236}">
                <a16:creationId xmlns:a16="http://schemas.microsoft.com/office/drawing/2014/main" id="{63C9F6DD-A879-4808-BC72-A57B8BBEB20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6E2D48-D10D-445E-8109-BCD7D41DFCB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group in totals: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means[group] = totals[group] / counts[group]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print(means)</a:t>
            </a:r>
          </a:p>
        </p:txBody>
      </p:sp>
      <p:sp>
        <p:nvSpPr>
          <p:cNvPr id="6" name="">
            <a:extLst xmlns:a="http://schemas.openxmlformats.org/drawingml/2006/main">
              <a:ext uri="{FF2B5EF4-FFF2-40B4-BE49-F238E27FC236}">
                <a16:creationId xmlns:a16="http://schemas.microsoft.com/office/drawing/2014/main" id="{AA2BEE15-3B89-4094-BE10-499FC47671A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get(group, 0) returns the existing value or zero for a new group.</a:t>
            </a:r>
          </a:p>
        </p:txBody>
      </p:sp>
      <p:sp>
        <p:nvSpPr>
          <p:cNvPr id="7" name="">
            <a:extLst xmlns:a="http://schemas.openxmlformats.org/drawingml/2006/main">
              <a:ext uri="{FF2B5EF4-FFF2-40B4-BE49-F238E27FC236}">
                <a16:creationId xmlns:a16="http://schemas.microsoft.com/office/drawing/2014/main" id="{AD8E0CC9-E3B2-4412-A4F7-CA5A6FF89FB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with the indentation shown.</a:t>
            </a:r>
          </a:p>
        </p:txBody>
      </p:sp>
      <p:sp>
        <p:nvSpPr>
          <p:cNvPr id="8" name="">
            <a:extLst xmlns:a="http://schemas.openxmlformats.org/drawingml/2006/main">
              <a:ext uri="{FF2B5EF4-FFF2-40B4-BE49-F238E27FC236}">
                <a16:creationId xmlns:a16="http://schemas.microsoft.com/office/drawing/2014/main" id="{3B7752F7-9D9D-436D-99A0-856DE46CF2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60</a:t>
            </a:r>
          </a:p>
        </p:txBody>
      </p:sp>
    </p:spTree>
    <p:extLst>
      <p:ext uri="{BB962C8B-B14F-4D97-AF65-F5344CB8AC3E}">
        <p14:creationId xmlns:p14="http://schemas.microsoft.com/office/powerpoint/2010/main" val="88541707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F854E5-43A3-41CE-BD03-7DCA4737F6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D5FB41-99C7-419C-B68F-6E191D1CD0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8847ED8-40FA-4467-8E6B-DF9660F98E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1381E898-A62A-448D-978B-D10D07C6C5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134B3C7-D900-4461-894B-86C33CE1A18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W04_student.ipynb.</a:t>
            </a:r>
          </a:p>
        </p:txBody>
      </p:sp>
      <p:sp>
        <p:nvSpPr>
          <p:cNvPr id="6" name="">
            <a:extLst xmlns:a="http://schemas.openxmlformats.org/drawingml/2006/main">
              <a:ext uri="{FF2B5EF4-FFF2-40B4-BE49-F238E27FC236}">
                <a16:creationId xmlns:a16="http://schemas.microsoft.com/office/drawing/2014/main" id="{C9A9A84B-2079-4E5F-83A2-9E142CB778F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7DEE0DE-75B5-4A16-ACFB-1411B23346E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468049CF-A786-4073-985D-76F2CC41BD4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E49CECD-976F-425A-A998-9DFD2A1043C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2BEAFEFD-7E17-4A1F-A0A5-BB188D68685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D45A89B-74AB-40EF-B564-FEF28508893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xmlns:a="http://schemas.openxmlformats.org/drawingml/2006/main">
              <a:ext uri="{FF2B5EF4-FFF2-40B4-BE49-F238E27FC236}">
                <a16:creationId xmlns:a16="http://schemas.microsoft.com/office/drawing/2014/main" id="{DAAA8347-4769-4C48-8E3D-7C85BF7B5C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61</a:t>
            </a:r>
          </a:p>
        </p:txBody>
      </p:sp>
    </p:spTree>
    <p:extLst>
      <p:ext uri="{BB962C8B-B14F-4D97-AF65-F5344CB8AC3E}">
        <p14:creationId xmlns:p14="http://schemas.microsoft.com/office/powerpoint/2010/main" val="140642037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DBA121-D43F-45FF-AEDD-3E6BEB56E2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78341D-F9B3-4952-B863-8DD1B98EEA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CC70A38-713B-4AEC-A73E-D6A1A92697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valid_count (5 marks)</a:t>
            </a:r>
          </a:p>
        </p:txBody>
      </p:sp>
      <p:sp>
        <p:nvSpPr>
          <p:cNvPr id="4" name="">
            <a:extLst xmlns:a="http://schemas.openxmlformats.org/drawingml/2006/main">
              <a:ext uri="{FF2B5EF4-FFF2-40B4-BE49-F238E27FC236}">
                <a16:creationId xmlns:a16="http://schemas.microsoft.com/office/drawing/2014/main" id="{A8A5BFB6-ADF0-4F78-80BE-8B78B884118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54A4B6-A3D9-4F90-A18A-FD9CE68A648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FCDC06-FC07-4E59-8020-473D8BAE67B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an integer count of rows whose rate_of_penetration field is nonblank.</a:t>
            </a:r>
          </a:p>
        </p:txBody>
      </p:sp>
      <p:sp>
        <p:nvSpPr>
          <p:cNvPr id="7" name="">
            <a:extLst xmlns:a="http://schemas.openxmlformats.org/drawingml/2006/main">
              <a:ext uri="{FF2B5EF4-FFF2-40B4-BE49-F238E27FC236}">
                <a16:creationId xmlns:a16="http://schemas.microsoft.com/office/drawing/2014/main" id="{267C39FE-43E5-42D9-B746-6E803479F1F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Skip blank readings before numeric conversion.</a:t>
            </a:r>
          </a:p>
        </p:txBody>
      </p:sp>
      <p:sp>
        <p:nvSpPr>
          <p:cNvPr id="8" name="">
            <a:extLst xmlns:a="http://schemas.openxmlformats.org/drawingml/2006/main">
              <a:ext uri="{FF2B5EF4-FFF2-40B4-BE49-F238E27FC236}">
                <a16:creationId xmlns:a16="http://schemas.microsoft.com/office/drawing/2014/main" id="{98D5D535-DDF9-4555-9F64-1D4E8AC679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62</a:t>
            </a:r>
          </a:p>
        </p:txBody>
      </p:sp>
    </p:spTree>
    <p:extLst>
      <p:ext uri="{BB962C8B-B14F-4D97-AF65-F5344CB8AC3E}">
        <p14:creationId xmlns:p14="http://schemas.microsoft.com/office/powerpoint/2010/main" val="157381822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4B5E8C-4272-496E-8219-EB0D809117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703CDD-A696-4DF0-AAB2-B02AE20167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361F79F-9313-4800-BCF8-A57ADD00F2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mean_reading (5 marks)</a:t>
            </a:r>
          </a:p>
        </p:txBody>
      </p:sp>
      <p:sp>
        <p:nvSpPr>
          <p:cNvPr id="4" name="">
            <a:extLst xmlns:a="http://schemas.openxmlformats.org/drawingml/2006/main">
              <a:ext uri="{FF2B5EF4-FFF2-40B4-BE49-F238E27FC236}">
                <a16:creationId xmlns:a16="http://schemas.microsoft.com/office/drawing/2014/main" id="{8ED2C298-5724-41A1-90F1-B36D3945B00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3AF5E85-EEEC-47DC-A4D4-A742ED121E5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Store the arithmetic mean of the nonblank rate_of_penetration values as a number.</a:t>
            </a:r>
          </a:p>
        </p:txBody>
      </p:sp>
      <p:sp>
        <p:nvSpPr>
          <p:cNvPr id="6" name="">
            <a:extLst xmlns:a="http://schemas.openxmlformats.org/drawingml/2006/main">
              <a:ext uri="{FF2B5EF4-FFF2-40B4-BE49-F238E27FC236}">
                <a16:creationId xmlns:a16="http://schemas.microsoft.com/office/drawing/2014/main" id="{1DA42792-B240-4298-A239-8D2E374BD65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0A9F49B-2FAA-4963-8CE0-E91B7C99FAF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the valid readings and divide by their count.</a:t>
            </a:r>
          </a:p>
        </p:txBody>
      </p:sp>
      <p:sp>
        <p:nvSpPr>
          <p:cNvPr id="8" name="">
            <a:extLst xmlns:a="http://schemas.openxmlformats.org/drawingml/2006/main">
              <a:ext uri="{FF2B5EF4-FFF2-40B4-BE49-F238E27FC236}">
                <a16:creationId xmlns:a16="http://schemas.microsoft.com/office/drawing/2014/main" id="{C5B113D1-9450-4F79-8174-FEC031D31D7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FC7588-661A-464D-BEB6-7CF622BA1E4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full precision.</a:t>
            </a:r>
          </a:p>
        </p:txBody>
      </p:sp>
      <p:sp>
        <p:nvSpPr>
          <p:cNvPr id="10" name="">
            <a:extLst xmlns:a="http://schemas.openxmlformats.org/drawingml/2006/main">
              <a:ext uri="{FF2B5EF4-FFF2-40B4-BE49-F238E27FC236}">
                <a16:creationId xmlns:a16="http://schemas.microsoft.com/office/drawing/2014/main" id="{4A4B0FAC-ADED-4EA5-8D3C-C87DCE7F5B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63</a:t>
            </a:r>
          </a:p>
        </p:txBody>
      </p:sp>
    </p:spTree>
    <p:extLst>
      <p:ext uri="{BB962C8B-B14F-4D97-AF65-F5344CB8AC3E}">
        <p14:creationId xmlns:p14="http://schemas.microsoft.com/office/powerpoint/2010/main" val="18558055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5A785C-6A03-4DD1-A9EB-4731231C60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3A51B2-9787-4B7E-9B52-70D921495C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6D3D7DE-B675-4ACB-A191-25B8E94ED8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above_limit (5 marks)</a:t>
            </a:r>
          </a:p>
        </p:txBody>
      </p:sp>
      <p:sp>
        <p:nvSpPr>
          <p:cNvPr id="4" name="">
            <a:extLst xmlns:a="http://schemas.openxmlformats.org/drawingml/2006/main">
              <a:ext uri="{FF2B5EF4-FFF2-40B4-BE49-F238E27FC236}">
                <a16:creationId xmlns:a16="http://schemas.microsoft.com/office/drawing/2014/main" id="{51C44113-9F02-4101-9E69-8AC704A28D1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7A0CF1-F8F0-4721-8199-3DE34B276C1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721555-A2EC-4075-A9A1-0522B3CD25C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an integer count of valid rate_of_penetration readings strictly greater than 8.0.</a:t>
            </a:r>
          </a:p>
        </p:txBody>
      </p:sp>
      <p:sp>
        <p:nvSpPr>
          <p:cNvPr id="7" name="">
            <a:extLst xmlns:a="http://schemas.openxmlformats.org/drawingml/2006/main">
              <a:ext uri="{FF2B5EF4-FFF2-40B4-BE49-F238E27FC236}">
                <a16:creationId xmlns:a16="http://schemas.microsoft.com/office/drawing/2014/main" id="{8C4D7573-3FD5-4ADC-9B4E-C0936AF86CF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reading equal to the threshold is not counted.</a:t>
            </a:r>
          </a:p>
        </p:txBody>
      </p:sp>
      <p:sp>
        <p:nvSpPr>
          <p:cNvPr id="8" name="">
            <a:extLst xmlns:a="http://schemas.openxmlformats.org/drawingml/2006/main">
              <a:ext uri="{FF2B5EF4-FFF2-40B4-BE49-F238E27FC236}">
                <a16:creationId xmlns:a16="http://schemas.microsoft.com/office/drawing/2014/main" id="{89FE0BD3-421A-42D6-B4FF-EDF9BDEAB6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64</a:t>
            </a:r>
          </a:p>
        </p:txBody>
      </p:sp>
    </p:spTree>
    <p:extLst>
      <p:ext uri="{BB962C8B-B14F-4D97-AF65-F5344CB8AC3E}">
        <p14:creationId xmlns:p14="http://schemas.microsoft.com/office/powerpoint/2010/main" val="1586889743"/>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AAD15B-A262-4DDD-8FD4-3677B4A0C9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E12E35-F880-4251-8553-B22B331758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7E27837-571E-40D6-B9EA-FE38983F8A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group_means (5 marks)</a:t>
            </a:r>
          </a:p>
        </p:txBody>
      </p:sp>
      <p:sp>
        <p:nvSpPr>
          <p:cNvPr id="4" name="">
            <a:extLst xmlns:a="http://schemas.openxmlformats.org/drawingml/2006/main">
              <a:ext uri="{FF2B5EF4-FFF2-40B4-BE49-F238E27FC236}">
                <a16:creationId xmlns:a16="http://schemas.microsoft.com/office/drawing/2014/main" id="{3F05F635-A326-4AE8-9740-780414C803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426F02D-5CCB-4B90-8632-02C4D5CAEB7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Store a dictionary whose keys are the bit_type labels and whose values are the mean valid rate_of_penetration readings within each group.</a:t>
            </a:r>
          </a:p>
        </p:txBody>
      </p:sp>
      <p:sp>
        <p:nvSpPr>
          <p:cNvPr id="6" name="">
            <a:extLst xmlns:a="http://schemas.openxmlformats.org/drawingml/2006/main">
              <a:ext uri="{FF2B5EF4-FFF2-40B4-BE49-F238E27FC236}">
                <a16:creationId xmlns:a16="http://schemas.microsoft.com/office/drawing/2014/main" id="{75991B2C-937E-46F0-978C-B328EB43912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630CB20-CCE8-4DFA-B047-3AF65496E42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each group total by its own valid count.</a:t>
            </a:r>
          </a:p>
        </p:txBody>
      </p:sp>
      <p:sp>
        <p:nvSpPr>
          <p:cNvPr id="8" name="">
            <a:extLst xmlns:a="http://schemas.openxmlformats.org/drawingml/2006/main">
              <a:ext uri="{FF2B5EF4-FFF2-40B4-BE49-F238E27FC236}">
                <a16:creationId xmlns:a16="http://schemas.microsoft.com/office/drawing/2014/main" id="{39A34118-39E7-459E-B249-471D691A9C6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042420C-1A63-4928-81C5-EE98D3D816B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full precision.</a:t>
            </a:r>
          </a:p>
        </p:txBody>
      </p:sp>
      <p:sp>
        <p:nvSpPr>
          <p:cNvPr id="10" name="">
            <a:extLst xmlns:a="http://schemas.openxmlformats.org/drawingml/2006/main">
              <a:ext uri="{FF2B5EF4-FFF2-40B4-BE49-F238E27FC236}">
                <a16:creationId xmlns:a16="http://schemas.microsoft.com/office/drawing/2014/main" id="{2B35893C-17EA-4709-9DDF-82E247046D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65</a:t>
            </a:r>
          </a:p>
        </p:txBody>
      </p:sp>
    </p:spTree>
    <p:extLst>
      <p:ext uri="{BB962C8B-B14F-4D97-AF65-F5344CB8AC3E}">
        <p14:creationId xmlns:p14="http://schemas.microsoft.com/office/powerpoint/2010/main" val="93494880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CAC94C-4183-4B70-928A-DABA4934CA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434EF8-B82E-4963-8829-61E847F7C5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689F0F-2055-4038-844D-D331EFD4F1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a:t>
            </a:r>
          </a:p>
        </p:txBody>
      </p:sp>
      <p:sp>
        <p:nvSpPr>
          <p:cNvPr id="4" name="">
            <a:extLst xmlns:a="http://schemas.openxmlformats.org/drawingml/2006/main">
              <a:ext uri="{FF2B5EF4-FFF2-40B4-BE49-F238E27FC236}">
                <a16:creationId xmlns:a16="http://schemas.microsoft.com/office/drawing/2014/main" id="{9FC4B408-E868-44A4-9048-7897A243716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142A8C-4147-4022-8250-56E17CBE7FCB}"/>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Fictional teaching data.</a:t>
            </a:r>
          </a:p>
        </p:txBody>
      </p:sp>
      <p:sp>
        <p:nvSpPr>
          <p:cNvPr id="6" name="">
            <a:extLst xmlns:a="http://schemas.openxmlformats.org/drawingml/2006/main">
              <a:ext uri="{FF2B5EF4-FFF2-40B4-BE49-F238E27FC236}">
                <a16:creationId xmlns:a16="http://schemas.microsoft.com/office/drawing/2014/main" id="{634B7A99-E87C-49FF-803C-B945DBF06AB3}"/>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1692BBB-1BEC-4317-B042-51318B02F5B5}"/>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300 records.</a:t>
            </a:r>
          </a:p>
        </p:txBody>
      </p:sp>
      <p:sp>
        <p:nvSpPr>
          <p:cNvPr id="8" name="">
            <a:extLst xmlns:a="http://schemas.openxmlformats.org/drawingml/2006/main">
              <a:ext uri="{FF2B5EF4-FFF2-40B4-BE49-F238E27FC236}">
                <a16:creationId xmlns:a16="http://schemas.microsoft.com/office/drawing/2014/main" id="{C7767D2D-9D09-44D3-8120-71FCF4259E84}"/>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7C19AD-310D-4E42-9058-497949B4DDE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blank rate_of_penetration values must be skipped in numerical summaries.</a:t>
            </a:r>
          </a:p>
        </p:txBody>
      </p:sp>
      <p:sp>
        <p:nvSpPr>
          <p:cNvPr id="10" name="">
            <a:extLst xmlns:a="http://schemas.openxmlformats.org/drawingml/2006/main">
              <a:ext uri="{FF2B5EF4-FFF2-40B4-BE49-F238E27FC236}">
                <a16:creationId xmlns:a16="http://schemas.microsoft.com/office/drawing/2014/main" id="{42DF4A7E-85AC-4CF7-A4F6-3063F621EAE1}"/>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5E9597C-16B1-43A3-AA55-F5EF20589C6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Threshold 8.0 is a teaching assumption.</a:t>
            </a:r>
          </a:p>
        </p:txBody>
      </p:sp>
      <p:sp>
        <p:nvSpPr>
          <p:cNvPr id="12" name="">
            <a:extLst xmlns:a="http://schemas.openxmlformats.org/drawingml/2006/main">
              <a:ext uri="{FF2B5EF4-FFF2-40B4-BE49-F238E27FC236}">
                <a16:creationId xmlns:a16="http://schemas.microsoft.com/office/drawing/2014/main" id="{620A190A-876D-4EC2-A5EF-24C85039C0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66</a:t>
            </a:r>
          </a:p>
        </p:txBody>
      </p:sp>
    </p:spTree>
    <p:extLst>
      <p:ext uri="{BB962C8B-B14F-4D97-AF65-F5344CB8AC3E}">
        <p14:creationId xmlns:p14="http://schemas.microsoft.com/office/powerpoint/2010/main" val="1468999804"/>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558F20-CD1B-41DB-9BDE-83F97C34A8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2603C2-6A88-4901-B2C0-DC2656B0B0D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2504B89-AE9C-4BD0-966E-DADE938CDF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 continued</a:t>
            </a:r>
          </a:p>
        </p:txBody>
      </p:sp>
      <p:sp>
        <p:nvSpPr>
          <p:cNvPr id="4" name="">
            <a:extLst xmlns:a="http://schemas.openxmlformats.org/drawingml/2006/main">
              <a:ext uri="{FF2B5EF4-FFF2-40B4-BE49-F238E27FC236}">
                <a16:creationId xmlns:a16="http://schemas.microsoft.com/office/drawing/2014/main" id="{78BCD52C-08EC-4614-98AD-3458CA16B5D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A8ADBB-3FA1-4B13-AB0C-123473087D7F}"/>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valid_count, mean_reading, above_limit (strictly greater than 8.0) and group_means keyed by bit_type.</a:t>
            </a:r>
          </a:p>
        </p:txBody>
      </p:sp>
      <p:sp>
        <p:nvSpPr>
          <p:cNvPr id="6" name="">
            <a:extLst xmlns:a="http://schemas.openxmlformats.org/drawingml/2006/main">
              <a:ext uri="{FF2B5EF4-FFF2-40B4-BE49-F238E27FC236}">
                <a16:creationId xmlns:a16="http://schemas.microsoft.com/office/drawing/2014/main" id="{B9ED66B8-A9A9-49C5-BBF9-C3B9AB1EE14D}"/>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5B0A431-4654-4EBF-B13C-C3B4FE7FF6E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standard-library csv and collections.</a:t>
            </a:r>
          </a:p>
        </p:txBody>
      </p:sp>
      <p:sp>
        <p:nvSpPr>
          <p:cNvPr id="8" name="">
            <a:extLst xmlns:a="http://schemas.openxmlformats.org/drawingml/2006/main">
              <a:ext uri="{FF2B5EF4-FFF2-40B4-BE49-F238E27FC236}">
                <a16:creationId xmlns:a16="http://schemas.microsoft.com/office/drawing/2014/main" id="{A8457B57-09AE-4A18-AEA7-8BF2B3E993A0}"/>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B198DB-F1E1-4029-AAE5-7FDCF2732B9D}"/>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using your Student Registration Number with / replaced by _, followed by _W04.ipynb.</a:t>
            </a:r>
          </a:p>
        </p:txBody>
      </p:sp>
      <p:sp>
        <p:nvSpPr>
          <p:cNvPr id="10" name="">
            <a:extLst xmlns:a="http://schemas.openxmlformats.org/drawingml/2006/main">
              <a:ext uri="{FF2B5EF4-FFF2-40B4-BE49-F238E27FC236}">
                <a16:creationId xmlns:a16="http://schemas.microsoft.com/office/drawing/2014/main" id="{8068718A-B738-4E9E-9BB3-234E8CA17E76}"/>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4D9C2F8-1EA8-4EFA-9B6F-3209AD1EE7AA}"/>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STUDENT_ID in the starter code means Student Registration Number.</a:t>
            </a:r>
          </a:p>
        </p:txBody>
      </p:sp>
      <p:sp>
        <p:nvSpPr>
          <p:cNvPr id="12" name="">
            <a:extLst xmlns:a="http://schemas.openxmlformats.org/drawingml/2006/main">
              <a:ext uri="{FF2B5EF4-FFF2-40B4-BE49-F238E27FC236}">
                <a16:creationId xmlns:a16="http://schemas.microsoft.com/office/drawing/2014/main" id="{DE87DE98-9BDD-4E9D-A2F6-EE6F58F305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67</a:t>
            </a:r>
          </a:p>
        </p:txBody>
      </p:sp>
    </p:spTree>
    <p:extLst>
      <p:ext uri="{BB962C8B-B14F-4D97-AF65-F5344CB8AC3E}">
        <p14:creationId xmlns:p14="http://schemas.microsoft.com/office/powerpoint/2010/main" val="174573697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D6AE2C-3529-450E-A83E-DDB575957E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C57E1A-6F12-49A4-8C75-DC86A1D1F6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4DD4876-E0B6-461E-A1CF-D617527F51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 continued</a:t>
            </a:r>
          </a:p>
        </p:txBody>
      </p:sp>
      <p:sp>
        <p:nvSpPr>
          <p:cNvPr id="4" name="">
            <a:extLst xmlns:a="http://schemas.openxmlformats.org/drawingml/2006/main">
              <a:ext uri="{FF2B5EF4-FFF2-40B4-BE49-F238E27FC236}">
                <a16:creationId xmlns:a16="http://schemas.microsoft.com/office/drawing/2014/main" id="{7A36521E-7FBD-4655-A542-0B46F51E2BB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B1FE4A2-27A6-44D8-AB50-FF39C2FCD41A}"/>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Four checks carry five marks each.</a:t>
            </a:r>
          </a:p>
        </p:txBody>
      </p:sp>
      <p:sp>
        <p:nvSpPr>
          <p:cNvPr id="6" name="">
            <a:extLst xmlns:a="http://schemas.openxmlformats.org/drawingml/2006/main">
              <a:ext uri="{FF2B5EF4-FFF2-40B4-BE49-F238E27FC236}">
                <a16:creationId xmlns:a16="http://schemas.microsoft.com/office/drawing/2014/main" id="{A6E73706-6DE7-4E6B-A9B6-7D796A8349D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5365E7-0C62-4C38-B13A-D873F266252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interesting pattern separately as formative practice.</a:t>
            </a:r>
          </a:p>
        </p:txBody>
      </p:sp>
      <p:sp>
        <p:nvSpPr>
          <p:cNvPr id="8" name="">
            <a:extLst xmlns:a="http://schemas.openxmlformats.org/drawingml/2006/main">
              <a:ext uri="{FF2B5EF4-FFF2-40B4-BE49-F238E27FC236}">
                <a16:creationId xmlns:a16="http://schemas.microsoft.com/office/drawing/2014/main" id="{CABA9F09-A4C9-4A62-9B54-D46A0A97BF4E}"/>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003163C-EB50-4213-89B9-9F0FC229B80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beginner step-by-step help, open ASSIGNMENT_INSTRUCTIONS.txt and STUDENT_HOW_TO.md in this folder.</a:t>
            </a:r>
          </a:p>
        </p:txBody>
      </p:sp>
      <p:sp>
        <p:nvSpPr>
          <p:cNvPr id="10" name="">
            <a:extLst xmlns:a="http://schemas.openxmlformats.org/drawingml/2006/main">
              <a:ext uri="{FF2B5EF4-FFF2-40B4-BE49-F238E27FC236}">
                <a16:creationId xmlns:a16="http://schemas.microsoft.com/office/drawing/2014/main" id="{2AA1FDF7-6604-42C0-A352-9D4D472D9D6A}"/>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C41BB49-429C-43DB-8F9D-C7722A193281}"/>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first names your required files and hand-in checklist; the second explains accounts, Colab, saving and uploads.</a:t>
            </a:r>
          </a:p>
        </p:txBody>
      </p:sp>
      <p:sp>
        <p:nvSpPr>
          <p:cNvPr id="12" name="">
            <a:extLst xmlns:a="http://schemas.openxmlformats.org/drawingml/2006/main">
              <a:ext uri="{FF2B5EF4-FFF2-40B4-BE49-F238E27FC236}">
                <a16:creationId xmlns:a16="http://schemas.microsoft.com/office/drawing/2014/main" id="{2D13F0FA-922A-410C-A075-95F45F3F3F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68</a:t>
            </a:r>
          </a:p>
        </p:txBody>
      </p:sp>
    </p:spTree>
    <p:extLst>
      <p:ext uri="{BB962C8B-B14F-4D97-AF65-F5344CB8AC3E}">
        <p14:creationId xmlns:p14="http://schemas.microsoft.com/office/powerpoint/2010/main" val="92621211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717F90-16C5-466E-8A88-A2C8221C7A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EA1982-B364-4E0D-B00E-543B0DF4E5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DEF7515F-DCC2-4561-8088-4062A14C0D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report submission</a:t>
            </a:r>
          </a:p>
        </p:txBody>
      </p:sp>
      <p:sp>
        <p:nvSpPr>
          <p:cNvPr id="4" name="">
            <a:extLst xmlns:a="http://schemas.openxmlformats.org/drawingml/2006/main">
              <a:ext uri="{FF2B5EF4-FFF2-40B4-BE49-F238E27FC236}">
                <a16:creationId xmlns:a16="http://schemas.microsoft.com/office/drawing/2014/main" id="{BB80B0E4-415E-416A-AA90-319173BEA13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90F3C5D-F8EF-4CB6-A6ED-9B693EA8C9B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02 Oct 2026, 08:00 Kampala</a:t>
            </a:r>
          </a:p>
        </p:txBody>
      </p:sp>
      <p:sp>
        <p:nvSpPr>
          <p:cNvPr id="6" name="">
            <a:extLst xmlns:a="http://schemas.openxmlformats.org/drawingml/2006/main">
              <a:ext uri="{FF2B5EF4-FFF2-40B4-BE49-F238E27FC236}">
                <a16:creationId xmlns:a16="http://schemas.microsoft.com/office/drawing/2014/main" id="{659AFA9A-F2B3-4495-A198-644669D652F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1C6E397-227A-4676-BC41-F0871158A68C}"/>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09 Oct 2026, 08:00 Kampala</a:t>
            </a:r>
          </a:p>
        </p:txBody>
      </p:sp>
      <p:sp>
        <p:nvSpPr>
          <p:cNvPr id="8" name="">
            <a:extLst xmlns:a="http://schemas.openxmlformats.org/drawingml/2006/main">
              <a:ext uri="{FF2B5EF4-FFF2-40B4-BE49-F238E27FC236}">
                <a16:creationId xmlns:a16="http://schemas.microsoft.com/office/drawing/2014/main" id="{9A9096E8-2756-4CF4-AA35-A1420845685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D1F3928-C3F3-4CD7-A71D-7EDF7539626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B21E9DA1-07EB-47A1-94BC-33B8C12384A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FA47510-10C1-4A6C-8B96-96EBAE2C4EBE}"/>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3EEA7FA8-AD35-4241-822C-2C82910A9E4A}"/>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63E06B-7BFD-4194-A826-831D1103927A}"/>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3f355aa13834998"/>
              </a:rPr>
              <a:t>Open W04 assignment form</a:t>
            </a:r>
          </a:p>
        </p:txBody>
      </p:sp>
      <p:sp>
        <p:nvSpPr>
          <p:cNvPr id="14" name="">
            <a:extLst xmlns:a="http://schemas.openxmlformats.org/drawingml/2006/main">
              <a:ext uri="{FF2B5EF4-FFF2-40B4-BE49-F238E27FC236}">
                <a16:creationId xmlns:a16="http://schemas.microsoft.com/office/drawing/2014/main" id="{36580684-B431-421C-97F6-37DD8DD20FA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https://docs.google.com/forms/d/e/1FAIpQLSenqAHKxNgzxWHIR41scC7h5WAxcs8D9wOyXYjIQ_ulbGpPCw/viewform</a:t>
            </a:r>
          </a:p>
        </p:txBody>
      </p:sp>
      <p:sp>
        <p:nvSpPr>
          <p:cNvPr id="15" name="">
            <a:extLst xmlns:a="http://schemas.openxmlformats.org/drawingml/2006/main">
              <a:ext uri="{FF2B5EF4-FFF2-40B4-BE49-F238E27FC236}">
                <a16:creationId xmlns:a16="http://schemas.microsoft.com/office/drawing/2014/main" id="{9B74EDD5-6E4B-4ADF-B871-E0D4F77388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69</a:t>
            </a:r>
          </a:p>
        </p:txBody>
      </p:sp>
    </p:spTree>
    <p:extLst>
      <p:ext uri="{BB962C8B-B14F-4D97-AF65-F5344CB8AC3E}">
        <p14:creationId xmlns:p14="http://schemas.microsoft.com/office/powerpoint/2010/main" val="4891367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6F37C7B-E292-4C0F-8438-7F1110DFFE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7D95C4-764B-4E45-B785-2914948168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C6604AEF-B2A9-495B-ADD8-E351C9EB37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quiz</a:t>
            </a:r>
          </a:p>
        </p:txBody>
      </p:sp>
      <p:sp>
        <p:nvSpPr>
          <p:cNvPr id="4" name="">
            <a:extLst xmlns:a="http://schemas.openxmlformats.org/drawingml/2006/main">
              <a:ext uri="{FF2B5EF4-FFF2-40B4-BE49-F238E27FC236}">
                <a16:creationId xmlns:a16="http://schemas.microsoft.com/office/drawing/2014/main" id="{778BD547-B6EC-477D-8389-FE3951EDB332}"/>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9844CC-8F5C-433B-BDB8-EF7F6834AB5B}"/>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9AFC6E1F-0F5D-465E-8D39-D29C109B084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894D6AB-3B32-4DD8-A126-E37AE03D601A}"/>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C565E149-BBA3-4967-958A-755D66C2E743}"/>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99D4D00-2C45-4377-91A4-49855E718B06}"/>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6C78F8C6-2CAD-403A-A6F4-ED4710869B8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BB5B625-DFCD-49E9-AA30-B5DA6BB5FAD3}"/>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B1CE2D9F-F34D-42BF-92F8-092DB0B307AF}"/>
              </a:ext>
            </a:extLst>
          </p:cNvPr>
          <p:cNvPicPr>
            <a:picLocks xmlns:a="http://schemas.openxmlformats.org/drawingml/2006/main" noChangeAspect="1"/>
          </p:cNvPicPr>
          <p:nvPr/>
        </p:nvPicPr>
        <p:blipFill>
          <a:blip xmlns:r="http://schemas.openxmlformats.org/officeDocument/2006/relationships" xmlns:a="http://schemas.openxmlformats.org/drawingml/2006/main" r:embed="Rded4a20c6c5e430d"/>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EC76A8F-E0CF-4074-A49E-50B29754CA0F}"/>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2480A6D9-EBDF-44C0-BD65-F4D9D44BDCA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DCD66D-F54D-4280-894C-2B387D970D3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6721061e1984ddd"/>
              </a:rPr>
              <a:t>Open this week’s quiz</a:t>
            </a:r>
          </a:p>
        </p:txBody>
      </p:sp>
      <p:sp>
        <p:nvSpPr>
          <p:cNvPr id="16" name="">
            <a:extLst xmlns:a="http://schemas.openxmlformats.org/drawingml/2006/main">
              <a:ext uri="{FF2B5EF4-FFF2-40B4-BE49-F238E27FC236}">
                <a16:creationId xmlns:a16="http://schemas.microsoft.com/office/drawing/2014/main" id="{A36CA2CE-6228-43AA-997B-B96F4C9E0A2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https://forms.gle/YbPS4yzALy4tB1YM7</a:t>
            </a:r>
          </a:p>
        </p:txBody>
      </p:sp>
      <p:sp>
        <p:nvSpPr>
          <p:cNvPr id="17" name="">
            <a:extLst xmlns:a="http://schemas.openxmlformats.org/drawingml/2006/main">
              <a:ext uri="{FF2B5EF4-FFF2-40B4-BE49-F238E27FC236}">
                <a16:creationId xmlns:a16="http://schemas.microsoft.com/office/drawing/2014/main" id="{142BFE7D-550E-45F7-8382-ABAE6D991E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4   70</a:t>
            </a:r>
          </a:p>
        </p:txBody>
      </p:sp>
    </p:spTree>
    <p:extLst>
      <p:ext uri="{BB962C8B-B14F-4D97-AF65-F5344CB8AC3E}">
        <p14:creationId xmlns:p14="http://schemas.microsoft.com/office/powerpoint/2010/main" val="1615306643"/>
      </p:ext>
    </p:extLst>
  </p:cSld>
</p:sld>
</file>

<file path=ppt/slides/slide71.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415FA5-DF3D-4E56-91EB-A9DEC136EC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30E142ED-7C8B-4B17-B886-C13C26F031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14906817-5C32-496D-9212-EB31AB02FD02}"/>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4A00569F-CC4E-4037-9FE5-4F9C4E963884}"/>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show how the total and count change for each record.</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CBDF1EBD-8643-42D3-996A-8CDEA566FCC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D63B0EC0-6DE8-4E42-AD85-9A79ACCF8D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4   71</a:t>
            </a:r>
          </a:p>
        </p:txBody>
      </p:sp>
    </p:spTree>
    <p:extLst>
      <p:ext uri="{BB962C8B-B14F-4D97-AF65-F5344CB8AC3E}">
        <p14:creationId xmlns:p14="http://schemas.microsoft.com/office/powerpoint/2010/main" val="1162776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2026-10-20T18:00:41.9940000Z</dcterms:created>
  <dcterms:modified xsi:type="dcterms:W3CDTF">2026-10-20T18:00:41.9940000Z</dcterms:modified>
</coreProperties>
</file>