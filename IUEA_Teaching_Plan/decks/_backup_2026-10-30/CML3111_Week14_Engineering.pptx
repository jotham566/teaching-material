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2a77dbcd7c4a99" /><Relationship Type="http://schemas.openxmlformats.org/officeDocument/2006/relationships/extended-properties" Target="/docProps/app.xml" Id="R47043c70957e4014" /><Relationship Type="http://schemas.openxmlformats.org/officeDocument/2006/relationships/officeDocument" Target="/ppt/presentation.xml" Id="R3723cded4a474e79" /></Relationships>
</file>

<file path=ppt/presentation.xml><?xml version="1.0" encoding="utf-8"?>
<p:presentation xmlns:p="http://schemas.openxmlformats.org/presentationml/2006/main">
  <p:sldMasterIdLst>
    <p:sldMasterId xmlns:r="http://schemas.openxmlformats.org/officeDocument/2006/relationships" id="2147483648" r:id="R4e8bc088cba64fce"/>
  </p:sldMasterIdLst>
  <p:notesMasterIdLst>
    <p:notesMasterId xmlns:r="http://schemas.openxmlformats.org/officeDocument/2006/relationships" r:id="Rb69deada6de742bf"/>
  </p:notesMasterIdLst>
  <p:sldIdLst>
    <p:sldId xmlns:r="http://schemas.openxmlformats.org/officeDocument/2006/relationships" id="256" r:id="R0a9d6a83dbf548aa"/>
    <p:sldId xmlns:r="http://schemas.openxmlformats.org/officeDocument/2006/relationships" id="257" r:id="R76fda2c7992047e7"/>
    <p:sldId xmlns:r="http://schemas.openxmlformats.org/officeDocument/2006/relationships" id="258" r:id="R47f1c0790a33419f"/>
    <p:sldId xmlns:r="http://schemas.openxmlformats.org/officeDocument/2006/relationships" id="259" r:id="Reca2bb6902b64c8c"/>
    <p:sldId xmlns:r="http://schemas.openxmlformats.org/officeDocument/2006/relationships" id="260" r:id="Ree2e442d130b44ac"/>
    <p:sldId xmlns:r="http://schemas.openxmlformats.org/officeDocument/2006/relationships" id="261" r:id="R788a57e79e48475b"/>
    <p:sldId xmlns:r="http://schemas.openxmlformats.org/officeDocument/2006/relationships" id="262" r:id="R8b9a559b1f864f03"/>
    <p:sldId xmlns:r="http://schemas.openxmlformats.org/officeDocument/2006/relationships" id="263" r:id="R2eae723dccc9473b"/>
    <p:sldId xmlns:r="http://schemas.openxmlformats.org/officeDocument/2006/relationships" id="264" r:id="R0f85d1a219454c62"/>
    <p:sldId xmlns:r="http://schemas.openxmlformats.org/officeDocument/2006/relationships" id="265" r:id="Reed5a123b5324c9c"/>
    <p:sldId xmlns:r="http://schemas.openxmlformats.org/officeDocument/2006/relationships" id="266" r:id="R08df50b776d24cda"/>
    <p:sldId xmlns:r="http://schemas.openxmlformats.org/officeDocument/2006/relationships" id="267" r:id="Rc3a748c96d8a435f"/>
    <p:sldId xmlns:r="http://schemas.openxmlformats.org/officeDocument/2006/relationships" id="268" r:id="R48b3e961451743f4"/>
    <p:sldId xmlns:r="http://schemas.openxmlformats.org/officeDocument/2006/relationships" id="269" r:id="Ra2b3b81d2afb4ecc"/>
    <p:sldId xmlns:r="http://schemas.openxmlformats.org/officeDocument/2006/relationships" id="270" r:id="R3b47f450d7d444bc"/>
    <p:sldId xmlns:r="http://schemas.openxmlformats.org/officeDocument/2006/relationships" id="271" r:id="Rdb4a685c568342a7"/>
    <p:sldId xmlns:r="http://schemas.openxmlformats.org/officeDocument/2006/relationships" id="272" r:id="Rcfbe279272df4e5f"/>
    <p:sldId xmlns:r="http://schemas.openxmlformats.org/officeDocument/2006/relationships" id="273" r:id="R923098d5bc93417b"/>
    <p:sldId xmlns:r="http://schemas.openxmlformats.org/officeDocument/2006/relationships" id="274" r:id="R00412e4beb9549c5"/>
    <p:sldId xmlns:r="http://schemas.openxmlformats.org/officeDocument/2006/relationships" id="275" r:id="Rcc2cf2a4567d4149"/>
    <p:sldId xmlns:r="http://schemas.openxmlformats.org/officeDocument/2006/relationships" id="276" r:id="R1825ecc9d42742c0"/>
    <p:sldId xmlns:r="http://schemas.openxmlformats.org/officeDocument/2006/relationships" id="277" r:id="Rc3600cf688564575"/>
    <p:sldId xmlns:r="http://schemas.openxmlformats.org/officeDocument/2006/relationships" id="278" r:id="R3ea4bef1634248be"/>
    <p:sldId xmlns:r="http://schemas.openxmlformats.org/officeDocument/2006/relationships" id="279" r:id="R357d172056e84153"/>
    <p:sldId xmlns:r="http://schemas.openxmlformats.org/officeDocument/2006/relationships" id="280" r:id="Rd07b256656fb4c50"/>
    <p:sldId xmlns:r="http://schemas.openxmlformats.org/officeDocument/2006/relationships" id="281" r:id="R7f7224c9444d4cab"/>
    <p:sldId xmlns:r="http://schemas.openxmlformats.org/officeDocument/2006/relationships" id="282" r:id="R777f61a26e344222"/>
    <p:sldId xmlns:r="http://schemas.openxmlformats.org/officeDocument/2006/relationships" id="283" r:id="R13c4f87a6b8849e1"/>
    <p:sldId xmlns:r="http://schemas.openxmlformats.org/officeDocument/2006/relationships" id="284" r:id="Rc42b63652e7c41fa"/>
    <p:sldId xmlns:r="http://schemas.openxmlformats.org/officeDocument/2006/relationships" id="285" r:id="R3b5f5a6c156849d0"/>
    <p:sldId xmlns:r="http://schemas.openxmlformats.org/officeDocument/2006/relationships" id="286" r:id="R1a6b8df1cd914eda"/>
    <p:sldId xmlns:r="http://schemas.openxmlformats.org/officeDocument/2006/relationships" id="287" r:id="Rf71e8d46c6f441e2"/>
    <p:sldId xmlns:r="http://schemas.openxmlformats.org/officeDocument/2006/relationships" id="288" r:id="R13e1a65b43b745b7"/>
    <p:sldId xmlns:r="http://schemas.openxmlformats.org/officeDocument/2006/relationships" id="289" r:id="Rc723f78ccf404e85"/>
    <p:sldId xmlns:r="http://schemas.openxmlformats.org/officeDocument/2006/relationships" id="290" r:id="R65279386ac284920"/>
    <p:sldId xmlns:r="http://schemas.openxmlformats.org/officeDocument/2006/relationships" id="291" r:id="Rc8eedbc06d3040c1"/>
    <p:sldId xmlns:r="http://schemas.openxmlformats.org/officeDocument/2006/relationships" id="292" r:id="R92818df7581045b0"/>
    <p:sldId xmlns:r="http://schemas.openxmlformats.org/officeDocument/2006/relationships" id="293" r:id="R02a3185d57314151"/>
    <p:sldId xmlns:r="http://schemas.openxmlformats.org/officeDocument/2006/relationships" id="294" r:id="R8686eb6c30ba403d"/>
    <p:sldId xmlns:r="http://schemas.openxmlformats.org/officeDocument/2006/relationships" id="295" r:id="R02e7b138f53642bb"/>
    <p:sldId xmlns:r="http://schemas.openxmlformats.org/officeDocument/2006/relationships" id="296" r:id="Rc55546b711d84b43"/>
    <p:sldId xmlns:r="http://schemas.openxmlformats.org/officeDocument/2006/relationships" id="297" r:id="Re59da292a38e42d1"/>
    <p:sldId xmlns:r="http://schemas.openxmlformats.org/officeDocument/2006/relationships" id="298" r:id="R16ae37d6243b40a1"/>
    <p:sldId xmlns:r="http://schemas.openxmlformats.org/officeDocument/2006/relationships" id="299" r:id="Rbbd78b97c98f4e0b"/>
    <p:sldId xmlns:r="http://schemas.openxmlformats.org/officeDocument/2006/relationships" id="300" r:id="R608b9fba8eaf4fdf"/>
    <p:sldId xmlns:r="http://schemas.openxmlformats.org/officeDocument/2006/relationships" id="301" r:id="Rf0f863a0ef114862"/>
    <p:sldId xmlns:r="http://schemas.openxmlformats.org/officeDocument/2006/relationships" id="302" r:id="R30089259582f4bfb"/>
    <p:sldId xmlns:r="http://schemas.openxmlformats.org/officeDocument/2006/relationships" id="303" r:id="Rabc997e94e834f99"/>
    <p:sldId xmlns:r="http://schemas.openxmlformats.org/officeDocument/2006/relationships" id="304" r:id="R17dceff7ac314e06"/>
    <p:sldId xmlns:r="http://schemas.openxmlformats.org/officeDocument/2006/relationships" id="305" r:id="R32c081bc95704ada"/>
    <p:sldId xmlns:r="http://schemas.openxmlformats.org/officeDocument/2006/relationships" id="306" r:id="R8984108e9eb4477d"/>
    <p:sldId xmlns:r="http://schemas.openxmlformats.org/officeDocument/2006/relationships" id="307" r:id="Rd250cef267f346e7"/>
    <p:sldId xmlns:r="http://schemas.openxmlformats.org/officeDocument/2006/relationships" id="308" r:id="Ra6a8c0d7ac64449b"/>
    <p:sldId xmlns:r="http://schemas.openxmlformats.org/officeDocument/2006/relationships" id="309" r:id="Rfd73787d20d24087"/>
    <p:sldId xmlns:r="http://schemas.openxmlformats.org/officeDocument/2006/relationships" id="310" r:id="Rfb04720e0fc844fe"/>
    <p:sldId xmlns:r="http://schemas.openxmlformats.org/officeDocument/2006/relationships" id="311" r:id="R00be04b3063447b3"/>
    <p:sldId xmlns:r="http://schemas.openxmlformats.org/officeDocument/2006/relationships" id="312" r:id="R8540cd17a7b24121"/>
    <p:sldId xmlns:r="http://schemas.openxmlformats.org/officeDocument/2006/relationships" id="313" r:id="Re82d931884a34489"/>
    <p:sldId xmlns:r="http://schemas.openxmlformats.org/officeDocument/2006/relationships" id="314" r:id="R7a01ad3ab1fd45c4"/>
    <p:sldId xmlns:r="http://schemas.openxmlformats.org/officeDocument/2006/relationships" id="315" r:id="Rb78dd675826e4cbe"/>
    <p:sldId xmlns:r="http://schemas.openxmlformats.org/officeDocument/2006/relationships" id="316" r:id="R0d9b4af6364a436a"/>
    <p:sldId xmlns:r="http://schemas.openxmlformats.org/officeDocument/2006/relationships" id="317" r:id="R4bd6ec7ff3d747a7"/>
    <p:sldId xmlns:r="http://schemas.openxmlformats.org/officeDocument/2006/relationships" id="318" r:id="Rf23c4ad3cc944761"/>
    <p:sldId xmlns:r="http://schemas.openxmlformats.org/officeDocument/2006/relationships" id="319" r:id="R19f358e8869c4bd3"/>
    <p:sldId xmlns:r="http://schemas.openxmlformats.org/officeDocument/2006/relationships" id="320" r:id="Rc3f322d866d04dc4"/>
    <p:sldId xmlns:r="http://schemas.openxmlformats.org/officeDocument/2006/relationships" id="321" r:id="Rd916f8ea739a4827"/>
    <p:sldId xmlns:r="http://schemas.openxmlformats.org/officeDocument/2006/relationships" id="322" r:id="R5e228f9495fd484e"/>
    <p:sldId xmlns:r="http://schemas.openxmlformats.org/officeDocument/2006/relationships" id="323" r:id="Rdb11c2c5ffd544ef"/>
    <p:sldId xmlns:r="http://schemas.openxmlformats.org/officeDocument/2006/relationships" id="324" r:id="R721ed03114b045b1"/>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a63214ed2743f5" /><Relationship Type="http://schemas.openxmlformats.org/officeDocument/2006/relationships/slideMaster" Target="/ppt/slideMasters/slideMaster1.xml" Id="R4e8bc088cba64fce" /><Relationship Type="http://schemas.openxmlformats.org/officeDocument/2006/relationships/notesMaster" Target="/ppt/notesMasters/notesMaster1.xml" Id="Rb69deada6de742bf" /><Relationship Type="http://schemas.openxmlformats.org/officeDocument/2006/relationships/presProps" Target="/ppt/presProps.xml" Id="R971d7d0d26574d71" /><Relationship Type="http://schemas.openxmlformats.org/officeDocument/2006/relationships/tableStyles" Target="/ppt/tableStyles.xml" Id="R215846511fdf4699" /><Relationship Type="http://schemas.openxmlformats.org/officeDocument/2006/relationships/slide" Target="/ppt/slides/slide1.xml" Id="R0a9d6a83dbf548aa" /><Relationship Type="http://schemas.openxmlformats.org/officeDocument/2006/relationships/slide" Target="/ppt/slides/slide2.xml" Id="R76fda2c7992047e7" /><Relationship Type="http://schemas.openxmlformats.org/officeDocument/2006/relationships/slide" Target="/ppt/slides/slide3.xml" Id="R47f1c0790a33419f" /><Relationship Type="http://schemas.openxmlformats.org/officeDocument/2006/relationships/slide" Target="/ppt/slides/slide4.xml" Id="Reca2bb6902b64c8c" /><Relationship Type="http://schemas.openxmlformats.org/officeDocument/2006/relationships/slide" Target="/ppt/slides/slide5.xml" Id="Ree2e442d130b44ac" /><Relationship Type="http://schemas.openxmlformats.org/officeDocument/2006/relationships/slide" Target="/ppt/slides/slide6.xml" Id="R788a57e79e48475b" /><Relationship Type="http://schemas.openxmlformats.org/officeDocument/2006/relationships/slide" Target="/ppt/slides/slide7.xml" Id="R8b9a559b1f864f03" /><Relationship Type="http://schemas.openxmlformats.org/officeDocument/2006/relationships/slide" Target="/ppt/slides/slide8.xml" Id="R2eae723dccc9473b" /><Relationship Type="http://schemas.openxmlformats.org/officeDocument/2006/relationships/slide" Target="/ppt/slides/slide9.xml" Id="R0f85d1a219454c62" /><Relationship Type="http://schemas.openxmlformats.org/officeDocument/2006/relationships/slide" Target="/ppt/slides/slide10.xml" Id="Reed5a123b5324c9c" /><Relationship Type="http://schemas.openxmlformats.org/officeDocument/2006/relationships/slide" Target="/ppt/slides/slide11.xml" Id="R08df50b776d24cda" /><Relationship Type="http://schemas.openxmlformats.org/officeDocument/2006/relationships/slide" Target="/ppt/slides/slide12.xml" Id="Rc3a748c96d8a435f" /><Relationship Type="http://schemas.openxmlformats.org/officeDocument/2006/relationships/slide" Target="/ppt/slides/slide13.xml" Id="R48b3e961451743f4" /><Relationship Type="http://schemas.openxmlformats.org/officeDocument/2006/relationships/slide" Target="/ppt/slides/slide14.xml" Id="Ra2b3b81d2afb4ecc" /><Relationship Type="http://schemas.openxmlformats.org/officeDocument/2006/relationships/slide" Target="/ppt/slides/slide15.xml" Id="R3b47f450d7d444bc" /><Relationship Type="http://schemas.openxmlformats.org/officeDocument/2006/relationships/slide" Target="/ppt/slides/slide16.xml" Id="Rdb4a685c568342a7" /><Relationship Type="http://schemas.openxmlformats.org/officeDocument/2006/relationships/slide" Target="/ppt/slides/slide17.xml" Id="Rcfbe279272df4e5f" /><Relationship Type="http://schemas.openxmlformats.org/officeDocument/2006/relationships/slide" Target="/ppt/slides/slide18.xml" Id="R923098d5bc93417b" /><Relationship Type="http://schemas.openxmlformats.org/officeDocument/2006/relationships/slide" Target="/ppt/slides/slide19.xml" Id="R00412e4beb9549c5" /><Relationship Type="http://schemas.openxmlformats.org/officeDocument/2006/relationships/slide" Target="/ppt/slides/slide20.xml" Id="Rcc2cf2a4567d4149" /><Relationship Type="http://schemas.openxmlformats.org/officeDocument/2006/relationships/slide" Target="/ppt/slides/slide21.xml" Id="R1825ecc9d42742c0" /><Relationship Type="http://schemas.openxmlformats.org/officeDocument/2006/relationships/slide" Target="/ppt/slides/slide22.xml" Id="Rc3600cf688564575" /><Relationship Type="http://schemas.openxmlformats.org/officeDocument/2006/relationships/slide" Target="/ppt/slides/slide23.xml" Id="R3ea4bef1634248be" /><Relationship Type="http://schemas.openxmlformats.org/officeDocument/2006/relationships/slide" Target="/ppt/slides/slide24.xml" Id="R357d172056e84153" /><Relationship Type="http://schemas.openxmlformats.org/officeDocument/2006/relationships/slide" Target="/ppt/slides/slide25.xml" Id="Rd07b256656fb4c50" /><Relationship Type="http://schemas.openxmlformats.org/officeDocument/2006/relationships/slide" Target="/ppt/slides/slide26.xml" Id="R7f7224c9444d4cab" /><Relationship Type="http://schemas.openxmlformats.org/officeDocument/2006/relationships/slide" Target="/ppt/slides/slide27.xml" Id="R777f61a26e344222" /><Relationship Type="http://schemas.openxmlformats.org/officeDocument/2006/relationships/slide" Target="/ppt/slides/slide28.xml" Id="R13c4f87a6b8849e1" /><Relationship Type="http://schemas.openxmlformats.org/officeDocument/2006/relationships/slide" Target="/ppt/slides/slide29.xml" Id="Rc42b63652e7c41fa" /><Relationship Type="http://schemas.openxmlformats.org/officeDocument/2006/relationships/slide" Target="/ppt/slides/slide30.xml" Id="R3b5f5a6c156849d0" /><Relationship Type="http://schemas.openxmlformats.org/officeDocument/2006/relationships/slide" Target="/ppt/slides/slide31.xml" Id="R1a6b8df1cd914eda" /><Relationship Type="http://schemas.openxmlformats.org/officeDocument/2006/relationships/slide" Target="/ppt/slides/slide32.xml" Id="Rf71e8d46c6f441e2" /><Relationship Type="http://schemas.openxmlformats.org/officeDocument/2006/relationships/slide" Target="/ppt/slides/slide33.xml" Id="R13e1a65b43b745b7" /><Relationship Type="http://schemas.openxmlformats.org/officeDocument/2006/relationships/slide" Target="/ppt/slides/slide34.xml" Id="Rc723f78ccf404e85" /><Relationship Type="http://schemas.openxmlformats.org/officeDocument/2006/relationships/slide" Target="/ppt/slides/slide35.xml" Id="R65279386ac284920" /><Relationship Type="http://schemas.openxmlformats.org/officeDocument/2006/relationships/slide" Target="/ppt/slides/slide36.xml" Id="Rc8eedbc06d3040c1" /><Relationship Type="http://schemas.openxmlformats.org/officeDocument/2006/relationships/slide" Target="/ppt/slides/slide37.xml" Id="R92818df7581045b0" /><Relationship Type="http://schemas.openxmlformats.org/officeDocument/2006/relationships/slide" Target="/ppt/slides/slide38.xml" Id="R02a3185d57314151" /><Relationship Type="http://schemas.openxmlformats.org/officeDocument/2006/relationships/slide" Target="/ppt/slides/slide39.xml" Id="R8686eb6c30ba403d" /><Relationship Type="http://schemas.openxmlformats.org/officeDocument/2006/relationships/slide" Target="/ppt/slides/slide40.xml" Id="R02e7b138f53642bb" /><Relationship Type="http://schemas.openxmlformats.org/officeDocument/2006/relationships/slide" Target="/ppt/slides/slide41.xml" Id="Rc55546b711d84b43" /><Relationship Type="http://schemas.openxmlformats.org/officeDocument/2006/relationships/slide" Target="/ppt/slides/slide42.xml" Id="Re59da292a38e42d1" /><Relationship Type="http://schemas.openxmlformats.org/officeDocument/2006/relationships/slide" Target="/ppt/slides/slide43.xml" Id="R16ae37d6243b40a1" /><Relationship Type="http://schemas.openxmlformats.org/officeDocument/2006/relationships/slide" Target="/ppt/slides/slide44.xml" Id="Rbbd78b97c98f4e0b" /><Relationship Type="http://schemas.openxmlformats.org/officeDocument/2006/relationships/slide" Target="/ppt/slides/slide45.xml" Id="R608b9fba8eaf4fdf" /><Relationship Type="http://schemas.openxmlformats.org/officeDocument/2006/relationships/slide" Target="/ppt/slides/slide46.xml" Id="Rf0f863a0ef114862" /><Relationship Type="http://schemas.openxmlformats.org/officeDocument/2006/relationships/slide" Target="/ppt/slides/slide47.xml" Id="R30089259582f4bfb" /><Relationship Type="http://schemas.openxmlformats.org/officeDocument/2006/relationships/slide" Target="/ppt/slides/slide48.xml" Id="Rabc997e94e834f99" /><Relationship Type="http://schemas.openxmlformats.org/officeDocument/2006/relationships/slide" Target="/ppt/slides/slide49.xml" Id="R17dceff7ac314e06" /><Relationship Type="http://schemas.openxmlformats.org/officeDocument/2006/relationships/slide" Target="/ppt/slides/slide50.xml" Id="R32c081bc95704ada" /><Relationship Type="http://schemas.openxmlformats.org/officeDocument/2006/relationships/slide" Target="/ppt/slides/slide51.xml" Id="R8984108e9eb4477d" /><Relationship Type="http://schemas.openxmlformats.org/officeDocument/2006/relationships/slide" Target="/ppt/slides/slide52.xml" Id="Rd250cef267f346e7" /><Relationship Type="http://schemas.openxmlformats.org/officeDocument/2006/relationships/slide" Target="/ppt/slides/slide53.xml" Id="Ra6a8c0d7ac64449b" /><Relationship Type="http://schemas.openxmlformats.org/officeDocument/2006/relationships/slide" Target="/ppt/slides/slide54.xml" Id="Rfd73787d20d24087" /><Relationship Type="http://schemas.openxmlformats.org/officeDocument/2006/relationships/slide" Target="/ppt/slides/slide55.xml" Id="Rfb04720e0fc844fe" /><Relationship Type="http://schemas.openxmlformats.org/officeDocument/2006/relationships/slide" Target="/ppt/slides/slide56.xml" Id="R00be04b3063447b3" /><Relationship Type="http://schemas.openxmlformats.org/officeDocument/2006/relationships/slide" Target="/ppt/slides/slide57.xml" Id="R8540cd17a7b24121" /><Relationship Type="http://schemas.openxmlformats.org/officeDocument/2006/relationships/slide" Target="/ppt/slides/slide58.xml" Id="Re82d931884a34489" /><Relationship Type="http://schemas.openxmlformats.org/officeDocument/2006/relationships/slide" Target="/ppt/slides/slide59.xml" Id="R7a01ad3ab1fd45c4" /><Relationship Type="http://schemas.openxmlformats.org/officeDocument/2006/relationships/slide" Target="/ppt/slides/slide60.xml" Id="Rb78dd675826e4cbe" /><Relationship Type="http://schemas.openxmlformats.org/officeDocument/2006/relationships/slide" Target="/ppt/slides/slide61.xml" Id="R0d9b4af6364a436a" /><Relationship Type="http://schemas.openxmlformats.org/officeDocument/2006/relationships/slide" Target="/ppt/slides/slide62.xml" Id="R4bd6ec7ff3d747a7" /><Relationship Type="http://schemas.openxmlformats.org/officeDocument/2006/relationships/slide" Target="/ppt/slides/slide63.xml" Id="Rf23c4ad3cc944761" /><Relationship Type="http://schemas.openxmlformats.org/officeDocument/2006/relationships/slide" Target="/ppt/slides/slide64.xml" Id="R19f358e8869c4bd3" /><Relationship Type="http://schemas.openxmlformats.org/officeDocument/2006/relationships/slide" Target="/ppt/slides/slide65.xml" Id="Rc3f322d866d04dc4" /><Relationship Type="http://schemas.openxmlformats.org/officeDocument/2006/relationships/slide" Target="/ppt/slides/slide66.xml" Id="Rd916f8ea739a4827" /><Relationship Type="http://schemas.openxmlformats.org/officeDocument/2006/relationships/slide" Target="/ppt/slides/slide67.xml" Id="R5e228f9495fd484e" /><Relationship Type="http://schemas.openxmlformats.org/officeDocument/2006/relationships/slide" Target="/ppt/slides/slide68.xml" Id="Rdb11c2c5ffd544ef" /><Relationship Type="http://schemas.openxmlformats.org/officeDocument/2006/relationships/slide" Target="/ppt/slides/slide69.xml" Id="R721ed03114b045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4e0336765c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5c156f913e425e" /><Relationship Type="http://schemas.openxmlformats.org/officeDocument/2006/relationships/notesMaster" Target="/ppt/notesMasters/notesMaster1.xml" Id="R1a78d4913b434e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2f1b48e9284d19" /><Relationship Type="http://schemas.openxmlformats.org/officeDocument/2006/relationships/notesMaster" Target="/ppt/notesMasters/notesMaster1.xml" Id="Re838c7febed746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646fd6377946f9" /><Relationship Type="http://schemas.openxmlformats.org/officeDocument/2006/relationships/notesMaster" Target="/ppt/notesMasters/notesMaster1.xml" Id="Raf5b2fbdefb74e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e3fab8d3e54058" /><Relationship Type="http://schemas.openxmlformats.org/officeDocument/2006/relationships/notesMaster" Target="/ppt/notesMasters/notesMaster1.xml" Id="Rcbaf9bb3c5484b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c59f8d45234664" /><Relationship Type="http://schemas.openxmlformats.org/officeDocument/2006/relationships/notesMaster" Target="/ppt/notesMasters/notesMaster1.xml" Id="R2ff91c6ef1874b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61c4964f4749ed" /><Relationship Type="http://schemas.openxmlformats.org/officeDocument/2006/relationships/notesMaster" Target="/ppt/notesMasters/notesMaster1.xml" Id="R58f9eb83892e4b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0589af2cf44d96" /><Relationship Type="http://schemas.openxmlformats.org/officeDocument/2006/relationships/notesMaster" Target="/ppt/notesMasters/notesMaster1.xml" Id="R335dba403725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9cd9f9f8334684" /><Relationship Type="http://schemas.openxmlformats.org/officeDocument/2006/relationships/notesMaster" Target="/ppt/notesMasters/notesMaster1.xml" Id="R0767e7795d5340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bd2ba8378c4f19" /><Relationship Type="http://schemas.openxmlformats.org/officeDocument/2006/relationships/notesMaster" Target="/ppt/notesMasters/notesMaster1.xml" Id="R7498e8f558a74d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c42850c1194a4e" /><Relationship Type="http://schemas.openxmlformats.org/officeDocument/2006/relationships/notesMaster" Target="/ppt/notesMasters/notesMaster1.xml" Id="R5a4c22467c5645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f92e7301cd4311" /><Relationship Type="http://schemas.openxmlformats.org/officeDocument/2006/relationships/notesMaster" Target="/ppt/notesMasters/notesMaster1.xml" Id="R00dd256ea24b40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73049a59e34c5e" /><Relationship Type="http://schemas.openxmlformats.org/officeDocument/2006/relationships/notesMaster" Target="/ppt/notesMasters/notesMaster1.xml" Id="Rbfcd49b48ecd41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8e838596114cb3" /><Relationship Type="http://schemas.openxmlformats.org/officeDocument/2006/relationships/notesMaster" Target="/ppt/notesMasters/notesMaster1.xml" Id="R88d9f271bb804a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0b1a66610f415e" /><Relationship Type="http://schemas.openxmlformats.org/officeDocument/2006/relationships/notesMaster" Target="/ppt/notesMasters/notesMaster1.xml" Id="R2097fef6665f4b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b8d928e73548b5" /><Relationship Type="http://schemas.openxmlformats.org/officeDocument/2006/relationships/notesMaster" Target="/ppt/notesMasters/notesMaster1.xml" Id="R54adafdc48d344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8547aabf8b4a1f" /><Relationship Type="http://schemas.openxmlformats.org/officeDocument/2006/relationships/notesMaster" Target="/ppt/notesMasters/notesMaster1.xml" Id="R56e1afa4ad3d40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0108c92d824816" /><Relationship Type="http://schemas.openxmlformats.org/officeDocument/2006/relationships/notesMaster" Target="/ppt/notesMasters/notesMaster1.xml" Id="R177fbc4ad47044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ee5f319bc44c15" /><Relationship Type="http://schemas.openxmlformats.org/officeDocument/2006/relationships/notesMaster" Target="/ppt/notesMasters/notesMaster1.xml" Id="Ra049dd0860404b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57d5f6421e4e66" /><Relationship Type="http://schemas.openxmlformats.org/officeDocument/2006/relationships/notesMaster" Target="/ppt/notesMasters/notesMaster1.xml" Id="R2868a3101e0647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2bfc16430e497f" /><Relationship Type="http://schemas.openxmlformats.org/officeDocument/2006/relationships/notesMaster" Target="/ppt/notesMasters/notesMaster1.xml" Id="R49754c436e4743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5725ac114643c6" /><Relationship Type="http://schemas.openxmlformats.org/officeDocument/2006/relationships/notesMaster" Target="/ppt/notesMasters/notesMaster1.xml" Id="R680c2f512c1b4d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bdd09e9a8c4853" /><Relationship Type="http://schemas.openxmlformats.org/officeDocument/2006/relationships/notesMaster" Target="/ppt/notesMasters/notesMaster1.xml" Id="R187e5a90c04141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efd7db72d14ffa" /><Relationship Type="http://schemas.openxmlformats.org/officeDocument/2006/relationships/notesMaster" Target="/ppt/notesMasters/notesMaster1.xml" Id="R0523b9b86c114b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b8bd512ac841ad" /><Relationship Type="http://schemas.openxmlformats.org/officeDocument/2006/relationships/notesMaster" Target="/ppt/notesMasters/notesMaster1.xml" Id="R649a83d42adb46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aec3b26b0941c4" /><Relationship Type="http://schemas.openxmlformats.org/officeDocument/2006/relationships/notesMaster" Target="/ppt/notesMasters/notesMaster1.xml" Id="R54c63e06a80649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9c09a7c80d40ba" /><Relationship Type="http://schemas.openxmlformats.org/officeDocument/2006/relationships/notesMaster" Target="/ppt/notesMasters/notesMaster1.xml" Id="Re2a845c799b24e3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3401dbe466d4509" /><Relationship Type="http://schemas.openxmlformats.org/officeDocument/2006/relationships/notesMaster" Target="/ppt/notesMasters/notesMaster1.xml" Id="Rcd2295deca0148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1c6e99825b44f18" /><Relationship Type="http://schemas.openxmlformats.org/officeDocument/2006/relationships/notesMaster" Target="/ppt/notesMasters/notesMaster1.xml" Id="Rfa080da299e342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5aa22e3a774178" /><Relationship Type="http://schemas.openxmlformats.org/officeDocument/2006/relationships/notesMaster" Target="/ppt/notesMasters/notesMaster1.xml" Id="R1bdb04640183435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577bde3c2f4b40" /><Relationship Type="http://schemas.openxmlformats.org/officeDocument/2006/relationships/notesMaster" Target="/ppt/notesMasters/notesMaster1.xml" Id="Ra2c97e59973c4f0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f9093373b54ac1" /><Relationship Type="http://schemas.openxmlformats.org/officeDocument/2006/relationships/notesMaster" Target="/ppt/notesMasters/notesMaster1.xml" Id="Rf1b43c338aed42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1d044e376244d13" /><Relationship Type="http://schemas.openxmlformats.org/officeDocument/2006/relationships/notesMaster" Target="/ppt/notesMasters/notesMaster1.xml" Id="Re8c4506efdea4e4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b88ff3e3bb0499d" /><Relationship Type="http://schemas.openxmlformats.org/officeDocument/2006/relationships/notesMaster" Target="/ppt/notesMasters/notesMaster1.xml" Id="Rf0e86fbc503b4a5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1d176d5e07c47c8" /><Relationship Type="http://schemas.openxmlformats.org/officeDocument/2006/relationships/notesMaster" Target="/ppt/notesMasters/notesMaster1.xml" Id="R8c4f11971f194e8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8a585e8dbad4741" /><Relationship Type="http://schemas.openxmlformats.org/officeDocument/2006/relationships/notesMaster" Target="/ppt/notesMasters/notesMaster1.xml" Id="R87d161a117834d4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db182a576a442ce" /><Relationship Type="http://schemas.openxmlformats.org/officeDocument/2006/relationships/notesMaster" Target="/ppt/notesMasters/notesMaster1.xml" Id="Rf1723dd5df924a5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1d3a01033a34ff6" /><Relationship Type="http://schemas.openxmlformats.org/officeDocument/2006/relationships/notesMaster" Target="/ppt/notesMasters/notesMaster1.xml" Id="Rc021889c49d94dc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a95575bb1274bc1" /><Relationship Type="http://schemas.openxmlformats.org/officeDocument/2006/relationships/notesMaster" Target="/ppt/notesMasters/notesMaster1.xml" Id="R4adcfdbf58d44db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6f9cd3405b41fa" /><Relationship Type="http://schemas.openxmlformats.org/officeDocument/2006/relationships/notesMaster" Target="/ppt/notesMasters/notesMaster1.xml" Id="R8b00c0b34e7c48a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7b9d1badc7542a2" /><Relationship Type="http://schemas.openxmlformats.org/officeDocument/2006/relationships/notesMaster" Target="/ppt/notesMasters/notesMaster1.xml" Id="R1443ff1223e5431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e57cb1158744ea2" /><Relationship Type="http://schemas.openxmlformats.org/officeDocument/2006/relationships/notesMaster" Target="/ppt/notesMasters/notesMaster1.xml" Id="Rfecb527dc40f4b1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b0ca0511dca49a0" /><Relationship Type="http://schemas.openxmlformats.org/officeDocument/2006/relationships/notesMaster" Target="/ppt/notesMasters/notesMaster1.xml" Id="R7d05aa64ee804d0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047bbe3bb0e4119" /><Relationship Type="http://schemas.openxmlformats.org/officeDocument/2006/relationships/notesMaster" Target="/ppt/notesMasters/notesMaster1.xml" Id="R5e6a788fc838493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ffcb1aba85495a" /><Relationship Type="http://schemas.openxmlformats.org/officeDocument/2006/relationships/notesMaster" Target="/ppt/notesMasters/notesMaster1.xml" Id="R06f56492ce82474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71d6cbd27dc4358" /><Relationship Type="http://schemas.openxmlformats.org/officeDocument/2006/relationships/notesMaster" Target="/ppt/notesMasters/notesMaster1.xml" Id="R97322edd61a043a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27bf06857de4997" /><Relationship Type="http://schemas.openxmlformats.org/officeDocument/2006/relationships/notesMaster" Target="/ppt/notesMasters/notesMaster1.xml" Id="R5aca100bc09f425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8d00bbd7e0c4fd3" /><Relationship Type="http://schemas.openxmlformats.org/officeDocument/2006/relationships/notesMaster" Target="/ppt/notesMasters/notesMaster1.xml" Id="R20f40918c3ae445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361d77a9f8d4b4b" /><Relationship Type="http://schemas.openxmlformats.org/officeDocument/2006/relationships/notesMaster" Target="/ppt/notesMasters/notesMaster1.xml" Id="R37a00740de7d467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b0f90de772143a5" /><Relationship Type="http://schemas.openxmlformats.org/officeDocument/2006/relationships/notesMaster" Target="/ppt/notesMasters/notesMaster1.xml" Id="R8461309a222049e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9de08bbc88544fb" /><Relationship Type="http://schemas.openxmlformats.org/officeDocument/2006/relationships/notesMaster" Target="/ppt/notesMasters/notesMaster1.xml" Id="Re528189a705c461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6a12547af1540ad" /><Relationship Type="http://schemas.openxmlformats.org/officeDocument/2006/relationships/notesMaster" Target="/ppt/notesMasters/notesMaster1.xml" Id="Rd4d70010815e48e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c178577b87a4763" /><Relationship Type="http://schemas.openxmlformats.org/officeDocument/2006/relationships/notesMaster" Target="/ppt/notesMasters/notesMaster1.xml" Id="R8ee0a05d4f544ad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dffe274aae54da5" /><Relationship Type="http://schemas.openxmlformats.org/officeDocument/2006/relationships/notesMaster" Target="/ppt/notesMasters/notesMaster1.xml" Id="R8bdaceecfb404ba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b653df219b549fd" /><Relationship Type="http://schemas.openxmlformats.org/officeDocument/2006/relationships/notesMaster" Target="/ppt/notesMasters/notesMaster1.xml" Id="R3e9d1d536309409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d1fbd13d216417a" /><Relationship Type="http://schemas.openxmlformats.org/officeDocument/2006/relationships/notesMaster" Target="/ppt/notesMasters/notesMaster1.xml" Id="Raba4b753a20242b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95939e3c7334e31" /><Relationship Type="http://schemas.openxmlformats.org/officeDocument/2006/relationships/notesMaster" Target="/ppt/notesMasters/notesMaster1.xml" Id="R28fc0221104d4fd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35b7042d60c4ba7" /><Relationship Type="http://schemas.openxmlformats.org/officeDocument/2006/relationships/notesMaster" Target="/ppt/notesMasters/notesMaster1.xml" Id="Rbf84a705c7cc4b1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33bc7c78c9e44c5" /><Relationship Type="http://schemas.openxmlformats.org/officeDocument/2006/relationships/notesMaster" Target="/ppt/notesMasters/notesMaster1.xml" Id="Rb5d085b97a48490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62492170ea74d45" /><Relationship Type="http://schemas.openxmlformats.org/officeDocument/2006/relationships/notesMaster" Target="/ppt/notesMasters/notesMaster1.xml" Id="R7fee4b6ddc24431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4bfb281256d43e6" /><Relationship Type="http://schemas.openxmlformats.org/officeDocument/2006/relationships/notesMaster" Target="/ppt/notesMasters/notesMaster1.xml" Id="Ra40baf81c2ba492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cfb7cebe2314ffe" /><Relationship Type="http://schemas.openxmlformats.org/officeDocument/2006/relationships/notesMaster" Target="/ppt/notesMasters/notesMaster1.xml" Id="Rc2b1055dc2354df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0d8471a0c8944c0" /><Relationship Type="http://schemas.openxmlformats.org/officeDocument/2006/relationships/notesMaster" Target="/ppt/notesMasters/notesMaster1.xml" Id="R0645a7bed81a46d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ada6212e1dc459c" /><Relationship Type="http://schemas.openxmlformats.org/officeDocument/2006/relationships/notesMaster" Target="/ppt/notesMasters/notesMaster1.xml" Id="Re50501c0c20b4d6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db7e957e08f4aa0" /><Relationship Type="http://schemas.openxmlformats.org/officeDocument/2006/relationships/notesMaster" Target="/ppt/notesMasters/notesMaster1.xml" Id="R8b484a503e1944a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a7a750c5a644b61" /><Relationship Type="http://schemas.openxmlformats.org/officeDocument/2006/relationships/notesMaster" Target="/ppt/notesMasters/notesMaster1.xml" Id="R369a677c3d3c47b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2c10c846c7e4d63" /><Relationship Type="http://schemas.openxmlformats.org/officeDocument/2006/relationships/notesMaster" Target="/ppt/notesMasters/notesMaster1.xml" Id="Rd17e3683c70c4ba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25c7279f5e9484b" /><Relationship Type="http://schemas.openxmlformats.org/officeDocument/2006/relationships/notesMaster" Target="/ppt/notesMasters/notesMaster1.xml" Id="Rc1a958a3be4145b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4d579d488084f96" /><Relationship Type="http://schemas.openxmlformats.org/officeDocument/2006/relationships/notesMaster" Target="/ppt/notesMasters/notesMaster1.xml" Id="R63a80447036c445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0e46f00b2f74eff" /><Relationship Type="http://schemas.openxmlformats.org/officeDocument/2006/relationships/notesMaster" Target="/ppt/notesMasters/notesMaster1.xml" Id="R51d39f2e356d4b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 this deck and CML3111_Test2_practice.csv together several days before Test 2. The CSV contains synthetic practice reading_values. All worked data examples use this file. Practice is ungraded. The later test-day section uses different files from the timed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the CSV as a separate attachment beside the PPTX. Students do not need an assessment packet or grader. The practice CSV is intentionally small so they can check every calculation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clearly named practice file avoids confusing it with engineering_data.csv. Portal timing applies to test downloads, not the practice attachment. The repository remains public by the lecturer’s decision, so portal timing is not a claim that public repository files are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holds code cells and output. Later cells use names created by earlier cells. Confirm the name and saved status. Students do not need a test notebook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panel uploads to the temporary session, not into the notebook itself. A FileNotFoundError usually means the file was not uploaded, its filename differs, or the session reset. Do not upload the PPTX into Colab. Avoid a duplicate download name ending in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teaching values, not measurements from an operating site. A row contains one measurement and its associated input conditions. target is a column name, not a unit. M1 and M2 are invented equipment identifiers. read_csv displays missing numeric values as 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DataFrame is a table with named columns. The equals sign assigns a result to a name. CSV means comma-separated values. Python is case-sensitive, including the practice_filename.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import pandas as pd loads pandas and gives it the short name pd. pd.read_csv refers to a function in that library.</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practice_filename = 'CML3111_Test2_practice.csv'</a:t>
            </a:r>
          </a:p>
          <a:p xmlns:a="http://schemas.openxmlformats.org/drawingml/2006/main">
            <a:r>
              <a:t>practice_filename stores the exact name of the accompanying revision CSV.</a:t>
            </a:r>
          </a:p>
          <a:p xmlns:a="http://schemas.openxmlformats.org/drawingml/2006/main">
            <a:r>
              <a:t/>
            </a:r>
          </a:p>
          <a:p xmlns:a="http://schemas.openxmlformats.org/drawingml/2006/main">
            <a:r>
              <a:t>practice_data = pd.read_csv(practice_filename)</a:t>
            </a:r>
          </a:p>
          <a:p xmlns:a="http://schemas.openxmlformats.org/drawingml/2006/main">
            <a:r>
              <a:t>practice_data stores the small practice table read from that CSV.</a:t>
            </a:r>
          </a:p>
          <a:p xmlns:a="http://schemas.openxmlformats.org/drawingml/2006/main">
            <a:r>
              <a:t/>
            </a:r>
          </a:p>
          <a:p xmlns:a="http://schemas.openxmlformats.org/drawingml/2006/main">
            <a:r>
              <a:t>print(practice_data)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print(len(practice_data))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reading machine  load  target  ambient</a:t>
            </a:r>
          </a:p>
          <a:p xmlns:a="http://schemas.openxmlformats.org/drawingml/2006/main">
            <a:r>
              <a:t>0        1      M1    20      10     20.0</a:t>
            </a:r>
          </a:p>
          <a:p xmlns:a="http://schemas.openxmlformats.org/drawingml/2006/main">
            <a:r>
              <a:t>1        2      M1    40      20      NaN</a:t>
            </a:r>
          </a:p>
          <a:p xmlns:a="http://schemas.openxmlformats.org/drawingml/2006/main">
            <a:r>
              <a:t>2        3      M2    60      30     30.0</a:t>
            </a:r>
          </a:p>
          <a:p xmlns:a="http://schemas.openxmlformats.org/drawingml/2006/main">
            <a:r>
              <a:t>3        4      M2    80      40     40.0</a:t>
            </a:r>
          </a:p>
          <a:p xmlns:a="http://schemas.openxmlformats.org/drawingml/2006/main">
            <a:r>
              <a:t>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table.copy() creates a working copy. Assigning columns on this copy preserves the source table, so you can compare before and after.</a:t>
            </a:r>
          </a:p>
          <a:p xmlns:a="http://schemas.openxmlformats.org/drawingml/2006/main">
            <a:r>
              <a:t/>
            </a:r>
          </a:p>
          <a:p xmlns:a="http://schemas.openxmlformats.org/drawingml/2006/main">
            <a:r>
              <a:t>series.tolist() or array.tolist() returns a Python list of values, without pandas row labels. Preserve their order when pairing actual values and predictions.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raw_data = practice_data.copy()</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 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small practice, only one feature is used. The assessed notebook specifies its own required feature_columns. Training, validation and final test are roles for data, not different versions of a student paper. A final test estimate becomes optimistic if repeatedly used to select a linear_model.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uses M1 for training and M2 for validation to keep the example short. It has no separate final test set. A real test task specifies additional equipment groups. A row-wise random split could place readings from the same machine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raw_data.loc[raw_data['machine'].isin(['M1'])].copy()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raw_data.loc[raw_data['machine'].isin(['M2'])].copy()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print(training_data['target'].tolist())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print(validation_data['target'].tolist())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targets are 10 and 20, so their mean is 15. The baseline predicts 15 for both validation rows even though their actual targets are 30 and 40. This is a benchmark rather than a model that responds to the input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training_target_mean = training_data['target'].mean()</a:t>
            </a:r>
          </a:p>
          <a:p xmlns:a="http://schemas.openxmlformats.org/drawingml/2006/main">
            <a:r>
              <a:t>training_target_mean stores mean target calculated from training rows only.</a:t>
            </a:r>
          </a:p>
          <a:p xmlns:a="http://schemas.openxmlformats.org/drawingml/2006/main">
            <a:r>
              <a:t/>
            </a:r>
          </a:p>
          <a:p xmlns:a="http://schemas.openxmlformats.org/drawingml/2006/main">
            <a:r>
              <a:t>baseline_predictions = [training_target_mean] * len(validation_data)</a:t>
            </a:r>
          </a:p>
          <a:p xmlns:a="http://schemas.openxmlformats.org/drawingml/2006/main">
            <a:r>
              <a:t>baseline_predictions stores the training mean repeated once per validation observation.</a:t>
            </a:r>
          </a:p>
          <a:p xmlns:a="http://schemas.openxmlformats.org/drawingml/2006/main">
            <a:r>
              <a:t/>
            </a:r>
          </a:p>
          <a:p xmlns:a="http://schemas.openxmlformats.org/drawingml/2006/main">
            <a:r>
              <a:t>print(baseline_predictions)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[np.float64(15.0), np.float64(15.0)]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actual [30, 40] and predicted [15, 15], errors are [15, 25]. MAE = (15 + 25)/2 = 20. Squared errors are [225, 625]. Their mean is 425, whose square root is about 20.62. Squaring penalises larger errors more strongly.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table retained original labels 2 and 3. The baseline list becomes a Series labelled 0 and 1. Resetting the actual labels lets corresponding values subtract correctly. Resetting labels cannot fix an incorrectly reordered prediction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error ** 2 squares each error. After averaging, ** 0.5 takes the square root. This gives root mean squared error, which penalises large errors more strongly than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series.reset_index(drop=True) replaces old row labels with 0, 1, 2, and so on. drop=True discards the old labels. Apply it when pairing with a new prediction Series that has those positional labels.</a:t>
            </a:r>
          </a:p>
          <a:p xmlns:a="http://schemas.openxmlformats.org/drawingml/2006/main">
            <a:r>
              <a:t/>
            </a:r>
          </a:p>
          <a:p xmlns:a="http://schemas.openxmlformats.org/drawingml/2006/main">
            <a:r>
              <a:t>pd.Series(values) creates a one-dimensional labelled sequence. With an array of fold errors, the default labels are 0, 1, 2 and so on.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series.abs() makes negative values positive while leaving nonnegative values unchanged. Averaging these magnitudes gives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actual_values = validation_data['target'].reset_index(drop=True)</a:t>
            </a:r>
          </a:p>
          <a:p xmlns:a="http://schemas.openxmlformats.org/drawingml/2006/main">
            <a:r>
              <a:t>actual_values stores observed targets or labels in the order used for comparison.</a:t>
            </a:r>
          </a:p>
          <a:p xmlns:a="http://schemas.openxmlformats.org/drawingml/2006/main">
            <a:r>
              <a:t/>
            </a:r>
          </a:p>
          <a:p xmlns:a="http://schemas.openxmlformats.org/drawingml/2006/main">
            <a:r>
              <a:t>predicted_values = pd.Series(baseline_predictions)</a:t>
            </a:r>
          </a:p>
          <a:p xmlns:a="http://schemas.openxmlformats.org/drawingml/2006/main">
            <a:r>
              <a:t>predicted_values stores predictions aligned with those actual values.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baseline_errors = actual_values - predicted_values</a:t>
            </a:r>
          </a:p>
          <a:p xmlns:a="http://schemas.openxmlformats.org/drawingml/2006/main">
            <a:r>
              <a:t>baseline_errors stores observed validation targets minus baseline predictions.</a:t>
            </a:r>
          </a:p>
          <a:p xmlns:a="http://schemas.openxmlformats.org/drawingml/2006/main">
            <a:r>
              <a:t/>
            </a:r>
          </a:p>
          <a:p xmlns:a="http://schemas.openxmlformats.org/drawingml/2006/main">
            <a:r>
              <a:t>mae = baseline_errors.abs().mean()</a:t>
            </a:r>
          </a:p>
          <a:p xmlns:a="http://schemas.openxmlformats.org/drawingml/2006/main">
            <a:r>
              <a:t>mae stores mean absolute error in the target unit.</a:t>
            </a:r>
          </a:p>
          <a:p xmlns:a="http://schemas.openxmlformats.org/drawingml/2006/main">
            <a:r>
              <a:t/>
            </a:r>
          </a:p>
          <a:p xmlns:a="http://schemas.openxmlformats.org/drawingml/2006/main">
            <a:r>
              <a:t>rmse = (baseline_errors ** 2).mean() ** 0.5</a:t>
            </a:r>
          </a:p>
          <a:p xmlns:a="http://schemas.openxmlformats.org/drawingml/2006/main">
            <a:r>
              <a:t>rmse stores root mean squared error in the target unit.</a:t>
            </a:r>
          </a:p>
          <a:p xmlns:a="http://schemas.openxmlformats.org/drawingml/2006/main">
            <a:r>
              <a:t/>
            </a:r>
          </a:p>
          <a:p xmlns:a="http://schemas.openxmlformats.org/drawingml/2006/main">
            <a:r>
              <a:t>print(round(mae, 2), round(rmse, 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20.0 20.62</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pair of brackets gives a Series. Double brackets provide a list of column names and keep a DataFrame, which scikit-learn expects for X. y is a one-dimensional target Series. The four practice targets follow target = load / 2 exactly, so the two validation predictions should be 30 and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training_data[['load']]</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validation_data[['load']]</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 the pipeline and decision-tree examples from the previous teaching weeks. Fit SimpleImputer on the training partition only, even though it does not use target values. A tree learns splits and can overfit. Compare errors on the same rows, and follow the supplied model settings. The first linear example uses only load, which has no missing values. The following pipeline adds ambient and learns its missing-value replacement from training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ambient values are 20 and missing, so the learned ambient median is 20. The full-data median would be 30, which includes validation information. That is why filling the entire source table before splitting is wrong for model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sklearn.tree import DecisionTreeRegressor</a:t>
            </a:r>
          </a:p>
          <a:p xmlns:a="http://schemas.openxmlformats.org/drawingml/2006/main">
            <a:r>
              <a:t>Load the named tools. Importing a model class does not train a model.</a:t>
            </a:r>
          </a:p>
          <a:p xmlns:a="http://schemas.openxmlformats.org/drawingml/2006/main">
            <a:r>
              <a:t/>
            </a:r>
          </a:p>
          <a:p xmlns:a="http://schemas.openxmlformats.org/drawingml/2006/main">
            <a:r>
              <a:t>feature_columns = ['load', 'ambient']</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linear_pipeline = make_pipeline(SimpleImputer(strategy='median'), LinearRegression())</a:t>
            </a:r>
          </a:p>
          <a:p xmlns:a="http://schemas.openxmlformats.org/drawingml/2006/main">
            <a:r>
              <a:t>linear_pipeline stores median imputer followed by linear regression.</a:t>
            </a:r>
          </a:p>
          <a:p xmlns:a="http://schemas.openxmlformats.org/drawingml/2006/main">
            <a:r>
              <a:t/>
            </a:r>
          </a:p>
          <a:p xmlns:a="http://schemas.openxmlformats.org/drawingml/2006/main">
            <a:r>
              <a:t>linear_pipeline.fit(X_train,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linear_predictions = linear_pipeline.predict(X_valid)</a:t>
            </a:r>
          </a:p>
          <a:p xmlns:a="http://schemas.openxmlformats.org/drawingml/2006/main">
            <a:r>
              <a:t>linear_predictions stores validation predictions from the linear pipeline.</a:t>
            </a:r>
          </a:p>
          <a:p xmlns:a="http://schemas.openxmlformats.org/drawingml/2006/main">
            <a:r>
              <a:t/>
            </a:r>
          </a:p>
          <a:p xmlns:a="http://schemas.openxmlformats.org/drawingml/2006/main">
            <a:r>
              <a:t>print(linear_predictions.round(2))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training loads are 20 and 40. A split near 30 separates their targets 10 and 20. Both validation loads, 60 and 80, follow the higher-load branch and receive 20. Trees do not extend a fitted straight line beyond the training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DecisionTreeRegressor splits inputs into regions with different predicted values. max_depth limits the number of split levels. random_state fixes random choices so the example can be repeated.</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tree_model = make_pipeline(SimpleImputer(strategy='median'), DecisionTreeRegressor(max_depth=2, random_state=7))</a:t>
            </a:r>
          </a:p>
          <a:p xmlns:a="http://schemas.openxmlformats.org/drawingml/2006/main">
            <a:r>
              <a:t>tree_model stores the tree regression pipeline being compared on the same validation rows.</a:t>
            </a:r>
          </a:p>
          <a:p xmlns:a="http://schemas.openxmlformats.org/drawingml/2006/main">
            <a:r>
              <a:t/>
            </a:r>
          </a:p>
          <a:p xmlns:a="http://schemas.openxmlformats.org/drawingml/2006/main">
            <a:r>
              <a:t>tree_model.fit(X_train,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tree_predictions = tree_model.predict(X_valid)</a:t>
            </a:r>
          </a:p>
          <a:p xmlns:a="http://schemas.openxmlformats.org/drawingml/2006/main">
            <a:r>
              <a:t>tree_predictions stores validation predictions from the tree pipeline.</a:t>
            </a:r>
          </a:p>
          <a:p xmlns:a="http://schemas.openxmlformats.org/drawingml/2006/main">
            <a:r>
              <a:t/>
            </a:r>
          </a:p>
          <a:p xmlns:a="http://schemas.openxmlformats.org/drawingml/2006/main">
            <a:r>
              <a:t>print(tree_predictions)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 20.]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worked predictions come from the attached CSV. M1 is training and M2 validation_data. The actual test specifies additional groups, a final held-out group, model settings and function return formats. The practice file is intentionally smaller.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grader calls functions with other equipment_records. A pasted fixed answer can match a displayed example and still fail for another input. print displays a value but does not replace return. The following practice function is unrelated to the assessed function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average_reading(values):</a:t>
            </a:r>
          </a:p>
          <a:p xmlns:a="http://schemas.openxmlformats.org/drawingml/2006/main">
            <a:r>
              <a:t>    reading_values = pd.Series(values)</a:t>
            </a:r>
          </a:p>
          <a:p xmlns:a="http://schemas.openxmlformats.org/drawingml/2006/main">
            <a:r>
              <a:t>    return float(reading_values.mean())</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print(average_reading(raw_data['target']))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print(average_reading(raw_data['load']))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25.0</a:t>
            </a:r>
          </a:p>
          <a:p xmlns:a="http://schemas.openxmlformats.org/drawingml/2006/main">
            <a:r>
              <a:t>50.0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is a Python dictionary in the notebook. Its keys identify questions and its string values hold selected option letters. Use the labels printed in that question. A choice label is unrelated to file allocation. No student should select a paper version or edit the internal allocation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DECISIONS = {'practice': 'B'}</a:t>
            </a:r>
          </a:p>
          <a:p xmlns:a="http://schemas.openxmlformats.org/drawingml/2006/main">
            <a:r>
              <a:t>DECISIONS stores the result of the displayed expression.</a:t>
            </a:r>
          </a:p>
          <a:p xmlns:a="http://schemas.openxmlformats.org/drawingml/2006/main">
            <a:r>
              <a:t/>
            </a:r>
          </a:p>
          <a:p xmlns:a="http://schemas.openxmlformats.org/drawingml/2006/main">
            <a:r>
              <a:t>print(DECISIONS['practice'])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B</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this boundary when reviewing in advance. The remaining slides are procedural instructions, not additional practice tasks. No practice file should be submitted to the test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 assigns files automatically. Students do not choose a version. Re-entering the same registration number and Google email retrieves the same allocation. The page can be opened in advance, but downloads are available only during the authorised test window. A phone scan is useful for opening the page, but students must download and use both files on their laptop. Students never choose a test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upload does not include its modelling_data. Show the folder icon, then Upload. Wait until engineering_data.csv appears. Do not upload a ZIP. The portal prefills the identity cell; students check it and run it before later cells. The final submission cell contains an internal allocation code and is collapsed for clarity. Keep it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The grader calls that function with different records, so it must calculate from its argument. DECISIONS is a dictionary pairing each question identifier with one option letter. Use a non-assessed demonstration such as {"practice": "B"}. No separate report or prose answer section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all marks come from the published checks. Correct code on unseen inputs earns coding marks. Each of the six interpretation choices earns 5 marks. Test 1 contributes 15 points and Test 2 contributes 20 points to the semester total. For example, 80/100 in Test 1 contributes 12 semester points. Partial marks are available for independently checked outputs; charts and cleaning each have a complete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1: duplicate removal keeps the first occurrence. Exclude a missing target or invalid load. Only then calculate the retained ambient median. Test 2: row filters are supplied, but missing ambient values remain. A pipeline learns the median from the training partition and reuses it for validation_data. Fitting a median on all rows leaks evaluation information. Do not reveal assessed option answers during the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Announce the actual start and close time displayed by the form. These periods total 180 minutes. Code execution is allowed during checking. Report internet or runtime problems immediately. Record incidents with the affected learner and time. Do not silently treat a failed upload as a submitted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session has no variables from earlier runs. This exposes cells that depend on stale values or an incorrect order. The supplied CSV example cell calls the implemented functions. The final submission cell creates a button. Clicking it prepares a separate snapshot of the current notebook in Drive; later edits to the working notebook do not change that snapshot. Students must open the generated form link and press Submit. The button alone is not a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final button using a rehearsal notebook. The button privately shares a saved snapshot with the lecturer and fills the form fields. Tick the form’s email confirmation box before pressing Submit. Do not type snapshot IDs manually. The form records the verified Google email; it must be the same account that owns the snapshot. A new attempt requires clicking the notebook button again and submitting its new form link. The latest on-time attempt is considered; technical or identity errors remain pending. Earlier attempts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are calculated in a batch on the lecturer’s Mac after the test_data. The Mac can be off during submission. Google Forms and Drive collect the snapshots. Before admitting students, rehearse the entry page, two downloads, notebook button and form confirmation. After the test, export the batch and run Grade_Tests.command with Docker running. A receipt is not a grade. A genuine zero is distinct from pending or infrastructure failure. The attendee register is built from submissions; without an enrolled roster it cannot identify absentees.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f7c2b65cd44e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faacc7345c43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f9285756814a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5f73c27ce24e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85ba00091c4e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777b38875046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9AC28-6CC1-437F-933F-EA7020B85E0D}"/>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AB8681-6754-4B2F-A729-CC0D02E9713E}"/>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D82DE3-BDAF-46EE-BF67-022CABFD72E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C65A7B-6193-4447-B602-8957EB536A3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ED7EB7-7718-4D70-867F-AFCECDAA4B4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2FA65B-B094-4AD9-8984-E6B481739C0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C48855-544B-4370-8DCF-AD25E08F473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C5EE42E-A646-4A4D-BE09-3B4EE64528AC}"/>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F641CF-732C-479F-8741-3BCCB9E0A48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97037C-369E-4B56-9207-20C5A9A6A4A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02278557b64385" /><Relationship Type="http://schemas.openxmlformats.org/officeDocument/2006/relationships/slideLayout" Target="/ppt/slideLayouts/slideLayout1.xml" Id="R915769ebaf4e437e" /><Relationship Type="http://schemas.openxmlformats.org/officeDocument/2006/relationships/slideLayout" Target="/ppt/slideLayouts/slideLayout2.xml" Id="Rb66f2afa772d48b4" /><Relationship Type="http://schemas.openxmlformats.org/officeDocument/2006/relationships/slideLayout" Target="/ppt/slideLayouts/slideLayout3.xml" Id="R454f1e407d9347a6" /><Relationship Type="http://schemas.openxmlformats.org/officeDocument/2006/relationships/slideLayout" Target="/ppt/slideLayouts/slideLayout4.xml" Id="R192f96d3c72c4793" /><Relationship Type="http://schemas.openxmlformats.org/officeDocument/2006/relationships/slideLayout" Target="/ppt/slideLayouts/slideLayout5.xml" Id="Rbf88c921c59e45d0" /><Relationship Type="http://schemas.openxmlformats.org/officeDocument/2006/relationships/slideLayout" Target="/ppt/slideLayouts/slideLayout6.xml" Id="R7a9f8d99af514c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5769ebaf4e437e"/>
    <p:sldLayoutId xmlns:r="http://schemas.openxmlformats.org/officeDocument/2006/relationships" id="2147483650" r:id="Rb66f2afa772d48b4"/>
    <p:sldLayoutId xmlns:r="http://schemas.openxmlformats.org/officeDocument/2006/relationships" id="2147483651" r:id="R454f1e407d9347a6"/>
    <p:sldLayoutId xmlns:r="http://schemas.openxmlformats.org/officeDocument/2006/relationships" id="2147483652" r:id="R192f96d3c72c4793"/>
    <p:sldLayoutId xmlns:r="http://schemas.openxmlformats.org/officeDocument/2006/relationships" id="2147483653" r:id="Rbf88c921c59e45d0"/>
    <p:sldLayoutId xmlns:r="http://schemas.openxmlformats.org/officeDocument/2006/relationships" id="2147483654" r:id="R7a9f8d99af514c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2d756448344dda" /><Relationship Type="http://schemas.openxmlformats.org/officeDocument/2006/relationships/image" Target="/ppt/media/image.png" Id="Re3d33c64e0bf4e6a" /><Relationship Type="http://schemas.openxmlformats.org/officeDocument/2006/relationships/notesSlide" Target="/ppt/notesSlides/notesSlide1.xml" Id="R4ec061555a63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7316bc0d9047b0" /><Relationship Type="http://schemas.openxmlformats.org/officeDocument/2006/relationships/notesSlide" Target="/ppt/notesSlides/notesSlide2.xml" Id="R359bbdf546d74c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eb561d6df941ed" /><Relationship Type="http://schemas.openxmlformats.org/officeDocument/2006/relationships/notesSlide" Target="/ppt/notesSlides/notesSlide3.xml" Id="R43c496d3879448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53805ddfed4fb9" /><Relationship Type="http://schemas.openxmlformats.org/officeDocument/2006/relationships/notesSlide" Target="/ppt/notesSlides/notesSlide4.xml" Id="R3fd67641793f4f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193bfe360f412c" /><Relationship Type="http://schemas.openxmlformats.org/officeDocument/2006/relationships/notesSlide" Target="/ppt/notesSlides/notesSlide5.xml" Id="R8ad4460117634a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cab23a035e4b6b" /><Relationship Type="http://schemas.openxmlformats.org/officeDocument/2006/relationships/notesSlide" Target="/ppt/notesSlides/notesSlide6.xml" Id="R3ce3a31cc0a142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d003a91e3c477d" /><Relationship Type="http://schemas.openxmlformats.org/officeDocument/2006/relationships/notesSlide" Target="/ppt/notesSlides/notesSlide7.xml" Id="Rfa9480b5586f4b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a7b3710e5b47d7" /><Relationship Type="http://schemas.openxmlformats.org/officeDocument/2006/relationships/notesSlide" Target="/ppt/notesSlides/notesSlide8.xml" Id="Rbf77e37f494246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f00523349649af" /><Relationship Type="http://schemas.openxmlformats.org/officeDocument/2006/relationships/notesSlide" Target="/ppt/notesSlides/notesSlide9.xml" Id="Rb9433c6d046a46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9a3eb432e348db" /><Relationship Type="http://schemas.openxmlformats.org/officeDocument/2006/relationships/notesSlide" Target="/ppt/notesSlides/notesSlide10.xml" Id="Rd201dcc44eb949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cd788fee254c61" /><Relationship Type="http://schemas.openxmlformats.org/officeDocument/2006/relationships/notesSlide" Target="/ppt/notesSlides/notesSlide11.xml" Id="Rb4cf71cd13f043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ea26e6009b4aed" /><Relationship Type="http://schemas.openxmlformats.org/officeDocument/2006/relationships/notesSlide" Target="/ppt/notesSlides/notesSlide12.xml" Id="R08d48d6d07a84f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2a92a293674d73" /><Relationship Type="http://schemas.openxmlformats.org/officeDocument/2006/relationships/notesSlide" Target="/ppt/notesSlides/notesSlide13.xml" Id="Rf06ab44359614e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95258e07f64c79" /><Relationship Type="http://schemas.openxmlformats.org/officeDocument/2006/relationships/notesSlide" Target="/ppt/notesSlides/notesSlide14.xml" Id="R5cf8ba781dd848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08bce19c5a9417e" /><Relationship Type="http://schemas.openxmlformats.org/officeDocument/2006/relationships/notesSlide" Target="/ppt/notesSlides/notesSlide15.xml" Id="Re3942a2efb1648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1195caf2d0403a" /><Relationship Type="http://schemas.openxmlformats.org/officeDocument/2006/relationships/notesSlide" Target="/ppt/notesSlides/notesSlide16.xml" Id="R8276c235dcfb4a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8a834f102c94d60" /><Relationship Type="http://schemas.openxmlformats.org/officeDocument/2006/relationships/notesSlide" Target="/ppt/notesSlides/notesSlide17.xml" Id="Rb9cef6227bbf4c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066542939e84122" /><Relationship Type="http://schemas.openxmlformats.org/officeDocument/2006/relationships/notesSlide" Target="/ppt/notesSlides/notesSlide18.xml" Id="R79f580f8004e43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eeaf61d05924c74" /><Relationship Type="http://schemas.openxmlformats.org/officeDocument/2006/relationships/notesSlide" Target="/ppt/notesSlides/notesSlide19.xml" Id="R9a25720ed3cb4c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cff83b9a634812" /><Relationship Type="http://schemas.openxmlformats.org/officeDocument/2006/relationships/notesSlide" Target="/ppt/notesSlides/notesSlide20.xml" Id="R0dcdac8a09d745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e431b59e8c14689" /><Relationship Type="http://schemas.openxmlformats.org/officeDocument/2006/relationships/notesSlide" Target="/ppt/notesSlides/notesSlide21.xml" Id="Rc9d2292b6dbe4f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6a8d2b1792149e0" /><Relationship Type="http://schemas.openxmlformats.org/officeDocument/2006/relationships/notesSlide" Target="/ppt/notesSlides/notesSlide22.xml" Id="Rf431d1dede1c48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687e19077c34a7f" /><Relationship Type="http://schemas.openxmlformats.org/officeDocument/2006/relationships/notesSlide" Target="/ppt/notesSlides/notesSlide23.xml" Id="R64bcad019bae4b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b5119a66f234fce" /><Relationship Type="http://schemas.openxmlformats.org/officeDocument/2006/relationships/notesSlide" Target="/ppt/notesSlides/notesSlide24.xml" Id="R0fb8110bea5e4c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7ba799e9024658" /><Relationship Type="http://schemas.openxmlformats.org/officeDocument/2006/relationships/notesSlide" Target="/ppt/notesSlides/notesSlide25.xml" Id="R3a793eff81244f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1d578848f144a7e" /><Relationship Type="http://schemas.openxmlformats.org/officeDocument/2006/relationships/notesSlide" Target="/ppt/notesSlides/notesSlide26.xml" Id="Rc2469d447d9f4c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c031ebaac8b4f06" /><Relationship Type="http://schemas.openxmlformats.org/officeDocument/2006/relationships/notesSlide" Target="/ppt/notesSlides/notesSlide27.xml" Id="R8edcf198fd6542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98c6ce069ac4058" /><Relationship Type="http://schemas.openxmlformats.org/officeDocument/2006/relationships/notesSlide" Target="/ppt/notesSlides/notesSlide28.xml" Id="R6c9d90a91d594f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a40fa62218342e2" /><Relationship Type="http://schemas.openxmlformats.org/officeDocument/2006/relationships/notesSlide" Target="/ppt/notesSlides/notesSlide29.xml" Id="R2bd25a4c83a14bb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9b4ecfc689844e8" /><Relationship Type="http://schemas.openxmlformats.org/officeDocument/2006/relationships/notesSlide" Target="/ppt/notesSlides/notesSlide30.xml" Id="Re1edb9df02c1452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35de78f2fae4d64" /><Relationship Type="http://schemas.openxmlformats.org/officeDocument/2006/relationships/notesSlide" Target="/ppt/notesSlides/notesSlide31.xml" Id="R76d848fd8d2c4bf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19e95755fd64e08" /><Relationship Type="http://schemas.openxmlformats.org/officeDocument/2006/relationships/notesSlide" Target="/ppt/notesSlides/notesSlide32.xml" Id="R0bf8f24dc1d74c4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90a54f27ba94a8b" /><Relationship Type="http://schemas.openxmlformats.org/officeDocument/2006/relationships/notesSlide" Target="/ppt/notesSlides/notesSlide33.xml" Id="Ra4a16d6ef71e408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0b880bcb9ff4804" /><Relationship Type="http://schemas.openxmlformats.org/officeDocument/2006/relationships/notesSlide" Target="/ppt/notesSlides/notesSlide34.xml" Id="Rd9c150bbdfcc41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8c73a05e2e8478d" /><Relationship Type="http://schemas.openxmlformats.org/officeDocument/2006/relationships/notesSlide" Target="/ppt/notesSlides/notesSlide35.xml" Id="R176ee50416b94e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3739e1a1a134abe" /><Relationship Type="http://schemas.openxmlformats.org/officeDocument/2006/relationships/notesSlide" Target="/ppt/notesSlides/notesSlide36.xml" Id="R98b0780124df41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7fd9dd55aa348c9" /><Relationship Type="http://schemas.openxmlformats.org/officeDocument/2006/relationships/notesSlide" Target="/ppt/notesSlides/notesSlide37.xml" Id="R91bf99f951234d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0535cfda3854f78" /><Relationship Type="http://schemas.openxmlformats.org/officeDocument/2006/relationships/notesSlide" Target="/ppt/notesSlides/notesSlide38.xml" Id="R9ef7e33e2aa6462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b5b3498fc87428d" /><Relationship Type="http://schemas.openxmlformats.org/officeDocument/2006/relationships/notesSlide" Target="/ppt/notesSlides/notesSlide39.xml" Id="Rafd592857af045b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1ac130fe5b14466" /><Relationship Type="http://schemas.openxmlformats.org/officeDocument/2006/relationships/notesSlide" Target="/ppt/notesSlides/notesSlide40.xml" Id="R0dce6e3e3c0242a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eb4d7d1b4874972" /><Relationship Type="http://schemas.openxmlformats.org/officeDocument/2006/relationships/notesSlide" Target="/ppt/notesSlides/notesSlide41.xml" Id="R95752478bf17434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4c22eb15a0a4da9" /><Relationship Type="http://schemas.openxmlformats.org/officeDocument/2006/relationships/notesSlide" Target="/ppt/notesSlides/notesSlide42.xml" Id="R0cd3b102063849e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94d37552f2144e2" /><Relationship Type="http://schemas.openxmlformats.org/officeDocument/2006/relationships/notesSlide" Target="/ppt/notesSlides/notesSlide43.xml" Id="R9c917f97c76b43f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23dbfedf6244bc0" /><Relationship Type="http://schemas.openxmlformats.org/officeDocument/2006/relationships/notesSlide" Target="/ppt/notesSlides/notesSlide44.xml" Id="R14a4f2097ba349b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9942e0a04f64cd4" /><Relationship Type="http://schemas.openxmlformats.org/officeDocument/2006/relationships/notesSlide" Target="/ppt/notesSlides/notesSlide45.xml" Id="Rd9928039927c42d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de8c7910baa43a3" /><Relationship Type="http://schemas.openxmlformats.org/officeDocument/2006/relationships/notesSlide" Target="/ppt/notesSlides/notesSlide46.xml" Id="R98466d8fd6c540e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f18ef1c039b421a" /><Relationship Type="http://schemas.openxmlformats.org/officeDocument/2006/relationships/notesSlide" Target="/ppt/notesSlides/notesSlide47.xml" Id="R6cf6817d9d18487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e390d1039364450" /><Relationship Type="http://schemas.openxmlformats.org/officeDocument/2006/relationships/notesSlide" Target="/ppt/notesSlides/notesSlide48.xml" Id="R89f6e80a1530481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513d9626aab465a" /><Relationship Type="http://schemas.openxmlformats.org/officeDocument/2006/relationships/notesSlide" Target="/ppt/notesSlides/notesSlide49.xml" Id="R4427d094534b4a0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3efcc9aeb524977" /><Relationship Type="http://schemas.openxmlformats.org/officeDocument/2006/relationships/notesSlide" Target="/ppt/notesSlides/notesSlide50.xml" Id="R90a17b285c8e4dd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3c08a8202344a4f" /><Relationship Type="http://schemas.openxmlformats.org/officeDocument/2006/relationships/notesSlide" Target="/ppt/notesSlides/notesSlide51.xml" Id="R262a96371bcb477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bbd8dfdf962479c" /><Relationship Type="http://schemas.openxmlformats.org/officeDocument/2006/relationships/notesSlide" Target="/ppt/notesSlides/notesSlide52.xml" Id="Rdcf0842f132542c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87939aaa881d45f7" /><Relationship Type="http://schemas.openxmlformats.org/officeDocument/2006/relationships/notesSlide" Target="/ppt/notesSlides/notesSlide53.xml" Id="R53f3d7412d704c6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4089e9ce40249a2" /><Relationship Type="http://schemas.openxmlformats.org/officeDocument/2006/relationships/notesSlide" Target="/ppt/notesSlides/notesSlide54.xml" Id="Rb3fa97ffb7044d0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fdfedb52dd54c48" /><Relationship Type="http://schemas.openxmlformats.org/officeDocument/2006/relationships/notesSlide" Target="/ppt/notesSlides/notesSlide55.xml" Id="R67d7e5331e68486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24f8a2957cc44ae" /><Relationship Type="http://schemas.openxmlformats.org/officeDocument/2006/relationships/notesSlide" Target="/ppt/notesSlides/notesSlide56.xml" Id="Rd0c7ecb9dad1428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b2cc73bfe9c4fb6" /><Relationship Type="http://schemas.openxmlformats.org/officeDocument/2006/relationships/notesSlide" Target="/ppt/notesSlides/notesSlide57.xml" Id="R10a539d46f6942f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415767f092bc4fe0" /><Relationship Type="http://schemas.openxmlformats.org/officeDocument/2006/relationships/notesSlide" Target="/ppt/notesSlides/notesSlide58.xml" Id="Ra5a7561f88ab4db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691fb3d26d34ab6" /><Relationship Type="http://schemas.openxmlformats.org/officeDocument/2006/relationships/notesSlide" Target="/ppt/notesSlides/notesSlide59.xml" Id="R515d8dc09f1d455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feabf6ed5a844a3f" /><Relationship Type="http://schemas.openxmlformats.org/officeDocument/2006/relationships/notesSlide" Target="/ppt/notesSlides/notesSlide60.xml" Id="R86947d45fc2e447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d3b3191a3e3944ac" /><Relationship Type="http://schemas.openxmlformats.org/officeDocument/2006/relationships/image" Target="/ppt/media/image2.png" Id="R84a6bee2abe34bcc" /><Relationship Type="http://schemas.openxmlformats.org/officeDocument/2006/relationships/hyperlink" Target="https://iuea-test-entry.jothammartin-wambi.workers.dev/?test=CML3111%7CTEST2" TargetMode="External" Id="Ra1a2d759a1df4cfb" /><Relationship Type="http://schemas.openxmlformats.org/officeDocument/2006/relationships/hyperlink" Target="https://iuea-test-entry.jothammartin-wambi.workers.dev/?test=CML3111%7CTEST2" TargetMode="External" Id="R126fc1b5414545d9" /><Relationship Type="http://schemas.openxmlformats.org/officeDocument/2006/relationships/notesSlide" Target="/ppt/notesSlides/notesSlide61.xml" Id="R8b5d33c84218493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335c5afebcd8463a" /><Relationship Type="http://schemas.openxmlformats.org/officeDocument/2006/relationships/notesSlide" Target="/ppt/notesSlides/notesSlide62.xml" Id="R419bc2027edf43e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7350406f7974ce5" /><Relationship Type="http://schemas.openxmlformats.org/officeDocument/2006/relationships/notesSlide" Target="/ppt/notesSlides/notesSlide63.xml" Id="R2ade8be0ca1b435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72416a26cee84065" /><Relationship Type="http://schemas.openxmlformats.org/officeDocument/2006/relationships/notesSlide" Target="/ppt/notesSlides/notesSlide64.xml" Id="R25ba47f7250f432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5a6f7e65fc3f4e32" /><Relationship Type="http://schemas.openxmlformats.org/officeDocument/2006/relationships/notesSlide" Target="/ppt/notesSlides/notesSlide65.xml" Id="R1f528dff754e435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8dc08bbc0a843e7" /><Relationship Type="http://schemas.openxmlformats.org/officeDocument/2006/relationships/notesSlide" Target="/ppt/notesSlides/notesSlide66.xml" Id="R1b9428c9a5224c3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a04f4b07f9a4c2b" /><Relationship Type="http://schemas.openxmlformats.org/officeDocument/2006/relationships/notesSlide" Target="/ppt/notesSlides/notesSlide67.xml" Id="R74465d52b5a940e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ee66b222bf6f4059" /><Relationship Type="http://schemas.openxmlformats.org/officeDocument/2006/relationships/notesSlide" Target="/ppt/notesSlides/notesSlide68.xml" Id="Rc962d43460ee496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a0f76a0abec4172" /><Relationship Type="http://schemas.openxmlformats.org/officeDocument/2006/relationships/notesSlide" Target="/ppt/notesSlides/notesSlide69.xml" Id="R4038a74ccc334d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A9E926E-8E06-4995-8313-295018066877}"/>
              </a:ext>
            </a:extLst>
          </p:cNvPr>
          <p:cNvPicPr>
            <a:picLocks xmlns:a="http://schemas.openxmlformats.org/drawingml/2006/main" noChangeAspect="1"/>
          </p:cNvPicPr>
          <p:nvPr/>
        </p:nvPicPr>
        <p:blipFill>
          <a:blip xmlns:r="http://schemas.openxmlformats.org/officeDocument/2006/relationships" xmlns:a="http://schemas.openxmlformats.org/drawingml/2006/main" r:embed="Re3d33c64e0bf4e6a"/>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FCEE77-90C9-4B9C-A4D0-CD5FE4CC3D7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F082AE-3257-4BC6-87C9-5A380DB1F321}"/>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14</a:t>
            </a:r>
          </a:p>
        </p:txBody>
      </p:sp>
      <p:sp>
        <p:nvSpPr>
          <p:cNvPr id="4" name="">
            <a:extLst xmlns:a="http://schemas.openxmlformats.org/drawingml/2006/main">
              <a:ext uri="{FF2B5EF4-FFF2-40B4-BE49-F238E27FC236}">
                <a16:creationId xmlns:a16="http://schemas.microsoft.com/office/drawing/2014/main" id="{39FFF706-EB80-4CA0-9D86-13F84C457025}"/>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2</a:t>
            </a:r>
          </a:p>
        </p:txBody>
      </p:sp>
      <p:sp>
        <p:nvSpPr>
          <p:cNvPr id="5" name="">
            <a:extLst xmlns:a="http://schemas.openxmlformats.org/drawingml/2006/main">
              <a:ext uri="{FF2B5EF4-FFF2-40B4-BE49-F238E27FC236}">
                <a16:creationId xmlns:a16="http://schemas.microsoft.com/office/drawing/2014/main" id="{BCB9122F-E7F4-4575-B4CE-9039BD604F18}"/>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2617D2E4-AB15-40B1-9210-E73BCBADBF7E}"/>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Advance revision and test-day guide</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4515995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934503-2D87-4795-9F5B-81AB56F067E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88C75D-AB8A-4429-A1A2-14FAD1240B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A934F33-FE65-49EF-84A8-E34EE94223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20368C92-5A7E-44A5-8EA9-CA931899F68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91A955C-91B1-4FAF-A3D2-B92C92D31FD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CML3111_Test2_practice.csv. Save both on your laptop.</a:t>
            </a:r>
          </a:p>
        </p:txBody>
      </p:sp>
      <p:sp>
        <p:nvSpPr>
          <p:cNvPr id="6" name="">
            <a:extLst xmlns:a="http://schemas.openxmlformats.org/drawingml/2006/main">
              <a:ext uri="{FF2B5EF4-FFF2-40B4-BE49-F238E27FC236}">
                <a16:creationId xmlns:a16="http://schemas.microsoft.com/office/drawing/2014/main" id="{2C652954-0C69-4891-A135-1EAFB78EBEB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9B19DFD-D313-491F-A2A3-A72218CFB13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E2ED072F-F39A-4202-8DD9-499D44BBE9A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D07DC0D-240C-42B3-AB4F-34BA0769C0A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BB32ED19-6F1F-4F38-95D9-2171B14A26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a:t>
            </a:r>
          </a:p>
        </p:txBody>
      </p:sp>
    </p:spTree>
    <p:extLst>
      <p:ext uri="{BB962C8B-B14F-4D97-AF65-F5344CB8AC3E}">
        <p14:creationId xmlns:p14="http://schemas.microsoft.com/office/powerpoint/2010/main" val="18404137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C535F5-512B-4036-B321-C1CED502A4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176BD7-AD12-4D12-9359-78C75209D0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C09F48B-415B-4EEF-B10F-E49C3C9354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5A8960F5-B25A-4B49-871D-44068D89A5D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BD87E7A-643A-4B51-9F08-625015726AB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CML3111_Test2_practice.csv with the worked examples in this section.</a:t>
            </a:r>
          </a:p>
        </p:txBody>
      </p:sp>
      <p:sp>
        <p:nvSpPr>
          <p:cNvPr id="6" name="">
            <a:extLst xmlns:a="http://schemas.openxmlformats.org/drawingml/2006/main">
              <a:ext uri="{FF2B5EF4-FFF2-40B4-BE49-F238E27FC236}">
                <a16:creationId xmlns:a16="http://schemas.microsoft.com/office/drawing/2014/main" id="{18189476-2F02-42CA-90C9-B1EDC7E199D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9E08D2-78C4-4376-BFE6-29B1599E944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A5DB1D9A-FF3F-42F0-8F35-A0874F177DE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F0F85AE-FEDD-47E3-8BA8-00999B4D657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B6FD6E76-783D-43AA-B31C-19198349AD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a:t>
            </a:r>
          </a:p>
        </p:txBody>
      </p:sp>
    </p:spTree>
    <p:extLst>
      <p:ext uri="{BB962C8B-B14F-4D97-AF65-F5344CB8AC3E}">
        <p14:creationId xmlns:p14="http://schemas.microsoft.com/office/powerpoint/2010/main" val="6935151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91EE19-5EA1-4A90-A2F8-2110EC58AD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A6D337-2AC2-4BBE-AF2E-991A66C7E1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B5EEA06-E6C1-4039-91EB-33C0168D59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12C6EE03-70E2-4826-BF36-31AD65BDDD5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FF127B-8D7C-40F1-8FA4-5E560CE4014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C19F64FF-0D6A-4244-BB82-7CAE52DAF81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71A061-0247-4809-9F90-2AC2A5D9221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983FAB94-666F-4B08-8353-6BD9CF1A532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AF2CE3-B924-47D9-8166-2DE88FAE2DE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686D25AF-C1AD-4AD7-AA0E-9B9B4FBEE5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a:t>
            </a:r>
          </a:p>
        </p:txBody>
      </p:sp>
    </p:spTree>
    <p:extLst>
      <p:ext uri="{BB962C8B-B14F-4D97-AF65-F5344CB8AC3E}">
        <p14:creationId xmlns:p14="http://schemas.microsoft.com/office/powerpoint/2010/main" val="17620928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23D0AC-2C6F-4AB8-ADBA-D713703C7A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2C54B6-6013-42A4-BCE9-30A904EF68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9B3892A-EF3C-440E-9572-3F873FDDC7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9D5386A9-8E08-4C4F-84EA-8BFFC478BA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BE7A71-695B-4C1B-A737-2C7904365D4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CML3111_Test2_practice.csv.</a:t>
            </a:r>
          </a:p>
        </p:txBody>
      </p:sp>
      <p:sp>
        <p:nvSpPr>
          <p:cNvPr id="6" name="">
            <a:extLst xmlns:a="http://schemas.openxmlformats.org/drawingml/2006/main">
              <a:ext uri="{FF2B5EF4-FFF2-40B4-BE49-F238E27FC236}">
                <a16:creationId xmlns:a16="http://schemas.microsoft.com/office/drawing/2014/main" id="{F3D87DA7-13D9-4A29-8CA8-6346B7D94B8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97D4C48-E4B9-4146-9209-ADBEA34511F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7CC403F7-35A0-41DA-B365-7EACC5C5990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D63021-19C5-4DA1-86A2-FE3B081540D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F566AF4A-C211-4385-91D6-D9D1731869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a:t>
            </a:r>
          </a:p>
        </p:txBody>
      </p:sp>
    </p:spTree>
    <p:extLst>
      <p:ext uri="{BB962C8B-B14F-4D97-AF65-F5344CB8AC3E}">
        <p14:creationId xmlns:p14="http://schemas.microsoft.com/office/powerpoint/2010/main" val="14842058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BD73D1-C524-4DB9-853C-7C69D748F03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4439EF-8A69-4E58-89CE-45FF628967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F82B0B2-8757-4719-B4C7-14934D814E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4E4A9CB4-D065-4F6F-A0B9-94288763088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A8F95F8-C926-4920-939A-49D68FA7355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233C607A-0231-42C9-AC2A-F9CC6C9D47A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7F3E0DB-7FFB-42F9-8441-E574B524340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motor temperature, measured in °C.</a:t>
            </a:r>
          </a:p>
        </p:txBody>
      </p:sp>
      <p:sp>
        <p:nvSpPr>
          <p:cNvPr id="8" name="">
            <a:extLst xmlns:a="http://schemas.openxmlformats.org/drawingml/2006/main">
              <a:ext uri="{FF2B5EF4-FFF2-40B4-BE49-F238E27FC236}">
                <a16:creationId xmlns:a16="http://schemas.microsoft.com/office/drawing/2014/main" id="{E8A390B2-A123-498E-B9E7-69FC012B3A4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598744-C7E9-4B9B-8B3E-D5584BF1569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F61D2F4C-3561-49AF-838F-FFC199F2BB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a:t>
            </a:r>
          </a:p>
        </p:txBody>
      </p:sp>
    </p:spTree>
    <p:extLst>
      <p:ext uri="{BB962C8B-B14F-4D97-AF65-F5344CB8AC3E}">
        <p14:creationId xmlns:p14="http://schemas.microsoft.com/office/powerpoint/2010/main" val="8094241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A8E289-A8EE-499B-AE8E-FBFE3A4FF1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F74C93-A9A3-45F3-9F87-680ECCA74B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EA6A576-64EE-48CE-92BF-0EC8B76653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1E8B76C9-A82C-4E82-8C96-08761D1395D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F9F83E0-B299-4331-804F-2D73E839523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AEF815DC-A149-4756-9E80-DBA63C3740A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7A439A0-A54B-4347-9FE4-A120A6764A5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equipment_data. The filename is text, so it needs quotation marks.</a:t>
            </a:r>
          </a:p>
        </p:txBody>
      </p:sp>
      <p:sp>
        <p:nvSpPr>
          <p:cNvPr id="8" name="">
            <a:extLst xmlns:a="http://schemas.openxmlformats.org/drawingml/2006/main">
              <a:ext uri="{FF2B5EF4-FFF2-40B4-BE49-F238E27FC236}">
                <a16:creationId xmlns:a16="http://schemas.microsoft.com/office/drawing/2014/main" id="{0F614984-C075-41BF-A5B4-3917EB83AAC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5CCEC3-BEF3-4FE2-A767-E28820FF5CF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A1C70920-4B53-4721-BBE1-B9CF269122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7</a:t>
            </a:r>
          </a:p>
        </p:txBody>
      </p:sp>
    </p:spTree>
    <p:extLst>
      <p:ext uri="{BB962C8B-B14F-4D97-AF65-F5344CB8AC3E}">
        <p14:creationId xmlns:p14="http://schemas.microsoft.com/office/powerpoint/2010/main" val="1247706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0223BC-7CAD-40FC-87CE-0542F4DC5E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BB3111-F2B4-4A75-BD0D-A2CE6FEF75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759AAB-32FC-43CB-9AAD-3B273A18B9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 / Import and short names</a:t>
            </a:r>
          </a:p>
        </p:txBody>
      </p:sp>
      <p:sp>
        <p:nvSpPr>
          <p:cNvPr id="4" name="">
            <a:extLst xmlns:a="http://schemas.openxmlformats.org/drawingml/2006/main">
              <a:ext uri="{FF2B5EF4-FFF2-40B4-BE49-F238E27FC236}">
                <a16:creationId xmlns:a16="http://schemas.microsoft.com/office/drawing/2014/main" id="{26A2CF69-11D3-4E9A-BE4F-650573B625F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CF8885-4CB6-490B-AF94-1224BE00448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082B7E-0B18-4427-A904-6462F8230C0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7" name="">
            <a:extLst xmlns:a="http://schemas.openxmlformats.org/drawingml/2006/main">
              <a:ext uri="{FF2B5EF4-FFF2-40B4-BE49-F238E27FC236}">
                <a16:creationId xmlns:a16="http://schemas.microsoft.com/office/drawing/2014/main" id="{AEE53C00-D218-40B6-AABB-9B74041C13D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import pandas as pd loads pandas and gives it the short name pd. pd.read_csv refers to a function in that library.</a:t>
            </a:r>
          </a:p>
        </p:txBody>
      </p:sp>
      <p:sp>
        <p:nvSpPr>
          <p:cNvPr id="8" name="">
            <a:extLst xmlns:a="http://schemas.openxmlformats.org/drawingml/2006/main">
              <a:ext uri="{FF2B5EF4-FFF2-40B4-BE49-F238E27FC236}">
                <a16:creationId xmlns:a16="http://schemas.microsoft.com/office/drawing/2014/main" id="{7D2931A1-1E63-45CC-B15F-4C775CA829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8</a:t>
            </a:r>
          </a:p>
        </p:txBody>
      </p:sp>
    </p:spTree>
    <p:extLst>
      <p:ext uri="{BB962C8B-B14F-4D97-AF65-F5344CB8AC3E}">
        <p14:creationId xmlns:p14="http://schemas.microsoft.com/office/powerpoint/2010/main" val="658381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0D2D6B-0CF8-46B2-B02E-06B23E6F01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D591F5-5E88-43BE-9EAD-78CD9A3C67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D218AB-6904-460D-9C0B-F0555864E6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a:t>
            </a:r>
          </a:p>
        </p:txBody>
      </p:sp>
      <p:sp>
        <p:nvSpPr>
          <p:cNvPr id="4" name="">
            <a:extLst xmlns:a="http://schemas.openxmlformats.org/drawingml/2006/main">
              <a:ext uri="{FF2B5EF4-FFF2-40B4-BE49-F238E27FC236}">
                <a16:creationId xmlns:a16="http://schemas.microsoft.com/office/drawing/2014/main" id="{F97F4820-D2E2-4FD0-AE60-332ABBA7A40C}"/>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29D6B9-DDC5-4128-89ED-4AE945030971}"/>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pd.read_csv("filename.csv") reads the named file into a DataFrame: a table with labelled columns and row labels. The file must exist in the working folder.</a:t>
            </a:r>
          </a:p>
        </p:txBody>
      </p:sp>
      <p:sp>
        <p:nvSpPr>
          <p:cNvPr id="6" name="">
            <a:extLst xmlns:a="http://schemas.openxmlformats.org/drawingml/2006/main">
              <a:ext uri="{FF2B5EF4-FFF2-40B4-BE49-F238E27FC236}">
                <a16:creationId xmlns:a16="http://schemas.microsoft.com/office/drawing/2014/main" id="{A9BF4F01-7CA7-4D44-9F88-CC9CBB81CA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9</a:t>
            </a:r>
          </a:p>
        </p:txBody>
      </p:sp>
    </p:spTree>
    <p:extLst>
      <p:ext uri="{BB962C8B-B14F-4D97-AF65-F5344CB8AC3E}">
        <p14:creationId xmlns:p14="http://schemas.microsoft.com/office/powerpoint/2010/main" val="7416298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A220E7-0E43-4E5A-BA76-787A60F49D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F9CFC-6176-4BA1-81F3-EB250D21D2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C518A92-FCAF-4C2D-BF10-E4C2F61AA6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1C94EE74-2815-4AE0-9C27-E9618993A9E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EC9729-8D57-4C93-8789-FF0AEA21E81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practice_filename = "CML3111_Test2_practice.csv"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practice_data = pd.read_csv(practice_filename)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print(practice_data)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print(len(practice_data))</a:t>
            </a:r>
          </a:p>
        </p:txBody>
      </p:sp>
      <p:sp>
        <p:nvSpPr>
          <p:cNvPr id="6" name="">
            <a:extLst xmlns:a="http://schemas.openxmlformats.org/drawingml/2006/main">
              <a:ext uri="{FF2B5EF4-FFF2-40B4-BE49-F238E27FC236}">
                <a16:creationId xmlns:a16="http://schemas.microsoft.com/office/drawing/2014/main" id="{877E71F2-B31D-4DD8-A257-BAE3783D020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practice_filename: the exact name of the accompanying revision CSV.</a:t>
            </a:r>
          </a:p>
        </p:txBody>
      </p:sp>
      <p:sp>
        <p:nvSpPr>
          <p:cNvPr id="7" name="">
            <a:extLst xmlns:a="http://schemas.openxmlformats.org/drawingml/2006/main">
              <a:ext uri="{FF2B5EF4-FFF2-40B4-BE49-F238E27FC236}">
                <a16:creationId xmlns:a16="http://schemas.microsoft.com/office/drawing/2014/main" id="{27BBBAAF-D7CC-4262-B9EA-A0969A07722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F1C3388-AD61-46ED-A2CC-E771490581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10</a:t>
            </a:r>
          </a:p>
        </p:txBody>
      </p:sp>
    </p:spTree>
    <p:extLst>
      <p:ext uri="{BB962C8B-B14F-4D97-AF65-F5344CB8AC3E}">
        <p14:creationId xmlns:p14="http://schemas.microsoft.com/office/powerpoint/2010/main" val="15084320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68CBF5-2360-44B5-A350-5AF3831CB1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113EE-7550-43E9-BA76-98B5316A8F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E2EAF5A-F6F8-458C-B447-67238D856B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separate working table / Returning plain values</a:t>
            </a:r>
          </a:p>
        </p:txBody>
      </p:sp>
      <p:sp>
        <p:nvSpPr>
          <p:cNvPr id="4" name="">
            <a:extLst xmlns:a="http://schemas.openxmlformats.org/drawingml/2006/main">
              <a:ext uri="{FF2B5EF4-FFF2-40B4-BE49-F238E27FC236}">
                <a16:creationId xmlns:a16="http://schemas.microsoft.com/office/drawing/2014/main" id="{E1A88915-4D18-458E-A0E4-6670DA4BFF0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95CE66-B794-4328-9697-8C05646B609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6F983C-6592-4A0E-B7EB-C3FDA2A590A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table.copy() creates a working copy. Assigning columns on this copy preserves the source table, so you can compare before and after.</a:t>
            </a:r>
          </a:p>
        </p:txBody>
      </p:sp>
      <p:sp>
        <p:nvSpPr>
          <p:cNvPr id="7" name="">
            <a:extLst xmlns:a="http://schemas.openxmlformats.org/drawingml/2006/main">
              <a:ext uri="{FF2B5EF4-FFF2-40B4-BE49-F238E27FC236}">
                <a16:creationId xmlns:a16="http://schemas.microsoft.com/office/drawing/2014/main" id="{B0A950C3-CC0F-4872-8C4E-6001C7EE886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series.tolist() or array.tolist() returns a Python list of values, without pandas row labels. Preserve their order when pairing actual values and predictions.</a:t>
            </a:r>
          </a:p>
        </p:txBody>
      </p:sp>
      <p:sp>
        <p:nvSpPr>
          <p:cNvPr id="8" name="">
            <a:extLst xmlns:a="http://schemas.openxmlformats.org/drawingml/2006/main">
              <a:ext uri="{FF2B5EF4-FFF2-40B4-BE49-F238E27FC236}">
                <a16:creationId xmlns:a16="http://schemas.microsoft.com/office/drawing/2014/main" id="{2409CC87-86E4-4FB3-B59D-80CA4285AFB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11</a:t>
            </a:r>
          </a:p>
        </p:txBody>
      </p:sp>
    </p:spTree>
    <p:extLst>
      <p:ext uri="{BB962C8B-B14F-4D97-AF65-F5344CB8AC3E}">
        <p14:creationId xmlns:p14="http://schemas.microsoft.com/office/powerpoint/2010/main" val="13230739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A56FBE-5C6B-41AE-A353-66C4C142EE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4284B8-999C-45B5-8966-E31B6ED5DE7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8524D2F-A389-431E-9B11-1DE9D098CA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columns</a:t>
            </a:r>
          </a:p>
        </p:txBody>
      </p:sp>
      <p:sp>
        <p:nvSpPr>
          <p:cNvPr id="4" name="">
            <a:extLst xmlns:a="http://schemas.openxmlformats.org/drawingml/2006/main">
              <a:ext uri="{FF2B5EF4-FFF2-40B4-BE49-F238E27FC236}">
                <a16:creationId xmlns:a16="http://schemas.microsoft.com/office/drawing/2014/main" id="{F31BA2D7-3DAD-46C9-84C3-7342A8E57F05}"/>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281685-2322-4864-ADF2-8DE9A7A60A8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table["column"] returns one labelled column, a Series. table[["a", "b"]] returns a DataFrame containing those named columns in that order.</a:t>
            </a:r>
          </a:p>
        </p:txBody>
      </p:sp>
      <p:sp>
        <p:nvSpPr>
          <p:cNvPr id="6" name="">
            <a:extLst xmlns:a="http://schemas.openxmlformats.org/drawingml/2006/main">
              <a:ext uri="{FF2B5EF4-FFF2-40B4-BE49-F238E27FC236}">
                <a16:creationId xmlns:a16="http://schemas.microsoft.com/office/drawing/2014/main" id="{420CD5A0-88C9-49DB-B999-43C70024D2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12</a:t>
            </a:r>
          </a:p>
        </p:txBody>
      </p:sp>
    </p:spTree>
    <p:extLst>
      <p:ext uri="{BB962C8B-B14F-4D97-AF65-F5344CB8AC3E}">
        <p14:creationId xmlns:p14="http://schemas.microsoft.com/office/powerpoint/2010/main" val="10742875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377770-9998-49E7-B7D7-A99E5B736C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C195C9-AF1F-4C75-AF07-249A5E703A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6388F16-87CE-4BCA-BFFF-B6B8421FAF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source table</a:t>
            </a:r>
          </a:p>
        </p:txBody>
      </p:sp>
      <p:sp>
        <p:nvSpPr>
          <p:cNvPr id="4" name="">
            <a:extLst xmlns:a="http://schemas.openxmlformats.org/drawingml/2006/main">
              <a:ext uri="{FF2B5EF4-FFF2-40B4-BE49-F238E27FC236}">
                <a16:creationId xmlns:a16="http://schemas.microsoft.com/office/drawing/2014/main" id="{4E80FC0C-0DFE-4094-B503-8E3ACBEFBFD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FB1A87-7C85-4D03-9680-380DC888AA4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practice_data.copy()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print(raw_data["target"].tolist())</a:t>
            </a:r>
          </a:p>
        </p:txBody>
      </p:sp>
      <p:sp>
        <p:nvSpPr>
          <p:cNvPr id="6" name="">
            <a:extLst xmlns:a="http://schemas.openxmlformats.org/drawingml/2006/main">
              <a:ext uri="{FF2B5EF4-FFF2-40B4-BE49-F238E27FC236}">
                <a16:creationId xmlns:a16="http://schemas.microsoft.com/office/drawing/2014/main" id="{4C78AECB-78A6-4C94-B292-6CAADDDA4F5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EE1BC6B-CA1F-45F0-9C41-5C8361D8599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raw_data: original CSV table; keep it unchanged so the analysis can be checked.</a:t>
            </a:r>
          </a:p>
        </p:txBody>
      </p:sp>
      <p:sp>
        <p:nvSpPr>
          <p:cNvPr id="8" name="">
            <a:extLst xmlns:a="http://schemas.openxmlformats.org/drawingml/2006/main">
              <a:ext uri="{FF2B5EF4-FFF2-40B4-BE49-F238E27FC236}">
                <a16:creationId xmlns:a16="http://schemas.microsoft.com/office/drawing/2014/main" id="{AC805B76-1577-42FA-9BEF-9DBFC9BCAC8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62D7343A-0DDF-4FB4-A8D1-D32D3B2CD0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13</a:t>
            </a:r>
          </a:p>
        </p:txBody>
      </p:sp>
    </p:spTree>
    <p:extLst>
      <p:ext uri="{BB962C8B-B14F-4D97-AF65-F5344CB8AC3E}">
        <p14:creationId xmlns:p14="http://schemas.microsoft.com/office/powerpoint/2010/main" val="1610572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B1F2EF-752A-465E-A0E4-76E7E6139E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A44F43-3457-4846-B9CF-25487DF75B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9FA77EF-A3E4-4A51-8214-72D08BFC77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Inputs, targets and held-out data</a:t>
            </a:r>
          </a:p>
        </p:txBody>
      </p:sp>
      <p:sp>
        <p:nvSpPr>
          <p:cNvPr id="4" name="">
            <a:extLst xmlns:a="http://schemas.openxmlformats.org/drawingml/2006/main">
              <a:ext uri="{FF2B5EF4-FFF2-40B4-BE49-F238E27FC236}">
                <a16:creationId xmlns:a16="http://schemas.microsoft.com/office/drawing/2014/main" id="{E25A2DB8-A3AD-420F-BE9C-8BBC8CEC8F6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180AAB5-2CE0-4E5A-B1A2-714FE5EA2EA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Features are the input columns used to predict. In this example, load is the feature and target is the measured result.</a:t>
            </a:r>
          </a:p>
        </p:txBody>
      </p:sp>
      <p:sp>
        <p:nvSpPr>
          <p:cNvPr id="6" name="">
            <a:extLst xmlns:a="http://schemas.openxmlformats.org/drawingml/2006/main">
              <a:ext uri="{FF2B5EF4-FFF2-40B4-BE49-F238E27FC236}">
                <a16:creationId xmlns:a16="http://schemas.microsoft.com/office/drawing/2014/main" id="{2259E397-F7DA-4C93-B386-38DB808AADB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E3CBB4-85F9-4BD4-8998-04FE77EC7EE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Training rows teach the linear_model. Validation rows help compare models.</a:t>
            </a:r>
          </a:p>
        </p:txBody>
      </p:sp>
      <p:sp>
        <p:nvSpPr>
          <p:cNvPr id="8" name="">
            <a:extLst xmlns:a="http://schemas.openxmlformats.org/drawingml/2006/main">
              <a:ext uri="{FF2B5EF4-FFF2-40B4-BE49-F238E27FC236}">
                <a16:creationId xmlns:a16="http://schemas.microsoft.com/office/drawing/2014/main" id="{F03A9E91-C694-4395-98AE-C7DFF125B1D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5A1F35B-D370-4E86-9981-C9E3B2AA480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final test rows untouched until the model choice is complete.</a:t>
            </a:r>
          </a:p>
        </p:txBody>
      </p:sp>
      <p:sp>
        <p:nvSpPr>
          <p:cNvPr id="10" name="">
            <a:extLst xmlns:a="http://schemas.openxmlformats.org/drawingml/2006/main">
              <a:ext uri="{FF2B5EF4-FFF2-40B4-BE49-F238E27FC236}">
                <a16:creationId xmlns:a16="http://schemas.microsoft.com/office/drawing/2014/main" id="{2CF3ADF3-BC02-4B86-8B7A-70F152EAB5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14</a:t>
            </a:r>
          </a:p>
        </p:txBody>
      </p:sp>
    </p:spTree>
    <p:extLst>
      <p:ext uri="{BB962C8B-B14F-4D97-AF65-F5344CB8AC3E}">
        <p14:creationId xmlns:p14="http://schemas.microsoft.com/office/powerpoint/2010/main" val="10630371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E7AED2-4F28-489E-9572-43C466BC6A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F3DBEE-E052-4402-B613-97FF7CDA1F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FFA11C2-9979-42D4-8BAD-76907F1B57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groups without mixing machines</a:t>
            </a:r>
          </a:p>
        </p:txBody>
      </p:sp>
      <p:sp>
        <p:nvSpPr>
          <p:cNvPr id="4" name="">
            <a:extLst xmlns:a="http://schemas.openxmlformats.org/drawingml/2006/main">
              <a:ext uri="{FF2B5EF4-FFF2-40B4-BE49-F238E27FC236}">
                <a16:creationId xmlns:a16="http://schemas.microsoft.com/office/drawing/2014/main" id="{E79DE1A3-2358-443B-AA61-BCC47E7A9EF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27E8A2C-8C65-4761-83FE-8D4603CB126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isin(["M1"]) marks rows belonging to the listed machine.</a:t>
            </a:r>
          </a:p>
        </p:txBody>
      </p:sp>
      <p:sp>
        <p:nvSpPr>
          <p:cNvPr id="6" name="">
            <a:extLst xmlns:a="http://schemas.openxmlformats.org/drawingml/2006/main">
              <a:ext uri="{FF2B5EF4-FFF2-40B4-BE49-F238E27FC236}">
                <a16:creationId xmlns:a16="http://schemas.microsoft.com/office/drawing/2014/main" id="{D1CB6EA6-7D42-4D49-91CD-2200B848FBF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4269AF1-04DC-4F29-BB78-E83228EEBA0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the rows marked True. .copy() creates a separate equipment_data.</a:t>
            </a:r>
          </a:p>
        </p:txBody>
      </p:sp>
      <p:sp>
        <p:nvSpPr>
          <p:cNvPr id="8" name="">
            <a:extLst xmlns:a="http://schemas.openxmlformats.org/drawingml/2006/main">
              <a:ext uri="{FF2B5EF4-FFF2-40B4-BE49-F238E27FC236}">
                <a16:creationId xmlns:a16="http://schemas.microsoft.com/office/drawing/2014/main" id="{3B58932F-7825-472F-8A98-5BB1AE74C65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DE9B7CB-6B84-4028-AD82-702AA7CE74F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machine must belong to one data partition. Otherwise its patterns may leak into evaluation.</a:t>
            </a:r>
          </a:p>
        </p:txBody>
      </p:sp>
      <p:sp>
        <p:nvSpPr>
          <p:cNvPr id="10" name="">
            <a:extLst xmlns:a="http://schemas.openxmlformats.org/drawingml/2006/main">
              <a:ext uri="{FF2B5EF4-FFF2-40B4-BE49-F238E27FC236}">
                <a16:creationId xmlns:a16="http://schemas.microsoft.com/office/drawing/2014/main" id="{674490A2-4582-4973-B7DF-2DF659F800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15</a:t>
            </a:r>
          </a:p>
        </p:txBody>
      </p:sp>
    </p:spTree>
    <p:extLst>
      <p:ext uri="{BB962C8B-B14F-4D97-AF65-F5344CB8AC3E}">
        <p14:creationId xmlns:p14="http://schemas.microsoft.com/office/powerpoint/2010/main" val="6031373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C21F7A-68AC-4069-BBBC-5795D351E9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08F9A-DE94-473E-BF5F-16AE5903DC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08C4439-3E6B-40F2-BB1F-093C53B31D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Selecting labelled rows / Membership in a group list</a:t>
            </a:r>
          </a:p>
        </p:txBody>
      </p:sp>
      <p:sp>
        <p:nvSpPr>
          <p:cNvPr id="4" name="">
            <a:extLst xmlns:a="http://schemas.openxmlformats.org/drawingml/2006/main">
              <a:ext uri="{FF2B5EF4-FFF2-40B4-BE49-F238E27FC236}">
                <a16:creationId xmlns:a16="http://schemas.microsoft.com/office/drawing/2014/main" id="{24A1DC8F-82FE-4BFB-A1BC-E23D15B581E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69D3BA-1B8A-4C89-AC48-511C55421E4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939B00-BE6F-4718-B284-EA773DD4D02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table.loc[row_mask] selects rows whose mask is True. With column labels, .loc selects named columns too. .copy() makes a separate working table after selection.</a:t>
            </a:r>
          </a:p>
        </p:txBody>
      </p:sp>
      <p:sp>
        <p:nvSpPr>
          <p:cNvPr id="7" name="">
            <a:extLst xmlns:a="http://schemas.openxmlformats.org/drawingml/2006/main">
              <a:ext uri="{FF2B5EF4-FFF2-40B4-BE49-F238E27FC236}">
                <a16:creationId xmlns:a16="http://schemas.microsoft.com/office/drawing/2014/main" id="{DA2728AF-CE6A-49F9-B0BB-BB5C8347213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series.isin(["E1", "E2"]) returns True for entries matching either listed label. table[that_mask] keeps all observations belonging to those groups.</a:t>
            </a:r>
          </a:p>
        </p:txBody>
      </p:sp>
      <p:sp>
        <p:nvSpPr>
          <p:cNvPr id="8" name="">
            <a:extLst xmlns:a="http://schemas.openxmlformats.org/drawingml/2006/main">
              <a:ext uri="{FF2B5EF4-FFF2-40B4-BE49-F238E27FC236}">
                <a16:creationId xmlns:a16="http://schemas.microsoft.com/office/drawing/2014/main" id="{65319F29-5DDB-4800-955E-B8B1D0B261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16</a:t>
            </a:r>
          </a:p>
        </p:txBody>
      </p:sp>
    </p:spTree>
    <p:extLst>
      <p:ext uri="{BB962C8B-B14F-4D97-AF65-F5344CB8AC3E}">
        <p14:creationId xmlns:p14="http://schemas.microsoft.com/office/powerpoint/2010/main" val="18441220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8A84B5-CCBF-4EB6-8C4F-B33AA70FF6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04FB89-EF7C-438F-9D5E-C3C2BF45D2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23AFC76-96BE-4121-9F66-825A571813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small group split</a:t>
            </a:r>
          </a:p>
        </p:txBody>
      </p:sp>
      <p:sp>
        <p:nvSpPr>
          <p:cNvPr id="4" name="">
            <a:extLst xmlns:a="http://schemas.openxmlformats.org/drawingml/2006/main">
              <a:ext uri="{FF2B5EF4-FFF2-40B4-BE49-F238E27FC236}">
                <a16:creationId xmlns:a16="http://schemas.microsoft.com/office/drawing/2014/main" id="{C9FA8063-FF36-49AD-A8EC-CF15D9BD9E0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69967E-A4F8-4120-B709-716F1CD7BFC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raw_data["machine"].isin(["M2"])</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print(training_data["target"].tolist())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print(validation_data["target"].tolist())</a:t>
            </a:r>
          </a:p>
        </p:txBody>
      </p:sp>
      <p:sp>
        <p:nvSpPr>
          <p:cNvPr id="6" name="">
            <a:extLst xmlns:a="http://schemas.openxmlformats.org/drawingml/2006/main">
              <a:ext uri="{FF2B5EF4-FFF2-40B4-BE49-F238E27FC236}">
                <a16:creationId xmlns:a16="http://schemas.microsoft.com/office/drawing/2014/main" id="{836D0129-4ADC-4464-AB86-EB7E34D05D5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36944AE-60C1-4668-A94D-6952FA4BAD8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training_data: rows used to learn model settings; only these rows may determine imputation values.</a:t>
            </a:r>
          </a:p>
        </p:txBody>
      </p:sp>
      <p:sp>
        <p:nvSpPr>
          <p:cNvPr id="8" name="">
            <a:extLst xmlns:a="http://schemas.openxmlformats.org/drawingml/2006/main">
              <a:ext uri="{FF2B5EF4-FFF2-40B4-BE49-F238E27FC236}">
                <a16:creationId xmlns:a16="http://schemas.microsoft.com/office/drawing/2014/main" id="{672ABB45-8D0D-4F63-8AB9-EF286B73A98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93563CC8-597D-42F7-81C0-5DA08F3C58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17</a:t>
            </a:r>
          </a:p>
        </p:txBody>
      </p:sp>
    </p:spTree>
    <p:extLst>
      <p:ext uri="{BB962C8B-B14F-4D97-AF65-F5344CB8AC3E}">
        <p14:creationId xmlns:p14="http://schemas.microsoft.com/office/powerpoint/2010/main" val="172900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5D7E81-31C4-444C-86EF-4DAAC35072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B7E284-17A9-4EE4-8230-F74A1B1895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FB0682F-C22F-4C3A-A1A3-57CC0EB719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baseline before a fitted model</a:t>
            </a:r>
          </a:p>
        </p:txBody>
      </p:sp>
      <p:sp>
        <p:nvSpPr>
          <p:cNvPr id="4" name="">
            <a:extLst xmlns:a="http://schemas.openxmlformats.org/drawingml/2006/main">
              <a:ext uri="{FF2B5EF4-FFF2-40B4-BE49-F238E27FC236}">
                <a16:creationId xmlns:a16="http://schemas.microsoft.com/office/drawing/2014/main" id="{A8B21C4E-D77A-4F9C-BC9F-0D0CB3172C4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03428FA-EE0C-44E2-A88C-536B9F0BB2A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baseline is a simple prediction used for comparison.</a:t>
            </a:r>
          </a:p>
        </p:txBody>
      </p:sp>
      <p:sp>
        <p:nvSpPr>
          <p:cNvPr id="6" name="">
            <a:extLst xmlns:a="http://schemas.openxmlformats.org/drawingml/2006/main">
              <a:ext uri="{FF2B5EF4-FFF2-40B4-BE49-F238E27FC236}">
                <a16:creationId xmlns:a16="http://schemas.microsoft.com/office/drawing/2014/main" id="{E0024B96-834B-4916-AE0C-6F3DFFEE54A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1757E3D-1CA6-4B66-B25B-DE66DEF7AAB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baseline predicts the training target mean for every new row.</a:t>
            </a:r>
          </a:p>
        </p:txBody>
      </p:sp>
      <p:sp>
        <p:nvSpPr>
          <p:cNvPr id="8" name="">
            <a:extLst xmlns:a="http://schemas.openxmlformats.org/drawingml/2006/main">
              <a:ext uri="{FF2B5EF4-FFF2-40B4-BE49-F238E27FC236}">
                <a16:creationId xmlns:a16="http://schemas.microsoft.com/office/drawing/2014/main" id="{E21F54FD-5544-4E12-9895-2E0207717A9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728AAD-964A-4E41-ABDC-7F9EC7A7B86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use validation targets to calculate the training mean.</a:t>
            </a:r>
          </a:p>
        </p:txBody>
      </p:sp>
      <p:sp>
        <p:nvSpPr>
          <p:cNvPr id="10" name="">
            <a:extLst xmlns:a="http://schemas.openxmlformats.org/drawingml/2006/main">
              <a:ext uri="{FF2B5EF4-FFF2-40B4-BE49-F238E27FC236}">
                <a16:creationId xmlns:a16="http://schemas.microsoft.com/office/drawing/2014/main" id="{36361639-3C12-4B63-9552-3D337C75B8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18</a:t>
            </a:r>
          </a:p>
        </p:txBody>
      </p:sp>
    </p:spTree>
    <p:extLst>
      <p:ext uri="{BB962C8B-B14F-4D97-AF65-F5344CB8AC3E}">
        <p14:creationId xmlns:p14="http://schemas.microsoft.com/office/powerpoint/2010/main" val="18907724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493D85-4D5C-46EA-9ADB-2D172CFB8D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97892C-6D6C-4659-AD10-CD1E751796A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C58397-F366-4E9B-BA15-92AB14F66F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Repeating a baseline value / Mean of recorded values</a:t>
            </a:r>
          </a:p>
        </p:txBody>
      </p:sp>
      <p:sp>
        <p:nvSpPr>
          <p:cNvPr id="4" name="">
            <a:extLst xmlns:a="http://schemas.openxmlformats.org/drawingml/2006/main">
              <a:ext uri="{FF2B5EF4-FFF2-40B4-BE49-F238E27FC236}">
                <a16:creationId xmlns:a16="http://schemas.microsoft.com/office/drawing/2014/main" id="{531890B6-9510-41CE-9E51-46E2C41F2B3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656DB4-20E5-4C1E-87B4-481CA4B2BB9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80EE91-4EDF-4DE6-A9E6-8B00FFFF1AC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[training_target_mean] is a one-item list. Multiplying that list by the number of validation rows repeats its value once per row. This is list repetition, not multiplication of the mean itself.</a:t>
            </a:r>
          </a:p>
        </p:txBody>
      </p:sp>
      <p:sp>
        <p:nvSpPr>
          <p:cNvPr id="7" name="">
            <a:extLst xmlns:a="http://schemas.openxmlformats.org/drawingml/2006/main">
              <a:ext uri="{FF2B5EF4-FFF2-40B4-BE49-F238E27FC236}">
                <a16:creationId xmlns:a16="http://schemas.microsoft.com/office/drawing/2014/main" id="{CD6980C8-4695-4423-9004-7B9368CD0BE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34DE79B6-5C18-4BE4-9ABA-98B50435AB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19</a:t>
            </a:r>
          </a:p>
        </p:txBody>
      </p:sp>
    </p:spTree>
    <p:extLst>
      <p:ext uri="{BB962C8B-B14F-4D97-AF65-F5344CB8AC3E}">
        <p14:creationId xmlns:p14="http://schemas.microsoft.com/office/powerpoint/2010/main" val="12408001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EE698F-AE13-48BF-B8D1-D5F8F9149F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F4423F-445A-4D4B-AEF9-C39F6C17F2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081EEFC-29C1-4F7D-9D50-C5F1B91A54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Training-mean baseline</a:t>
            </a:r>
          </a:p>
        </p:txBody>
      </p:sp>
      <p:sp>
        <p:nvSpPr>
          <p:cNvPr id="4" name="">
            <a:extLst xmlns:a="http://schemas.openxmlformats.org/drawingml/2006/main">
              <a:ext uri="{FF2B5EF4-FFF2-40B4-BE49-F238E27FC236}">
                <a16:creationId xmlns:a16="http://schemas.microsoft.com/office/drawing/2014/main" id="{7AA4F6AC-8154-4C56-9243-01026E517D8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CA6BB5-6A65-4CB4-AF48-265CC604261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training_target_mean = training_data["target"].mean()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baseline_predictions = [training_target_mean] * len(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print(baseline_predictions)</a:t>
            </a:r>
          </a:p>
        </p:txBody>
      </p:sp>
      <p:sp>
        <p:nvSpPr>
          <p:cNvPr id="6" name="">
            <a:extLst xmlns:a="http://schemas.openxmlformats.org/drawingml/2006/main">
              <a:ext uri="{FF2B5EF4-FFF2-40B4-BE49-F238E27FC236}">
                <a16:creationId xmlns:a16="http://schemas.microsoft.com/office/drawing/2014/main" id="{CBD72682-7B74-4A38-BE47-14250312475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training_target_mean: mean target calculated from training rows only.</a:t>
            </a:r>
          </a:p>
        </p:txBody>
      </p:sp>
      <p:sp>
        <p:nvSpPr>
          <p:cNvPr id="7" name="">
            <a:extLst xmlns:a="http://schemas.openxmlformats.org/drawingml/2006/main">
              <a:ext uri="{FF2B5EF4-FFF2-40B4-BE49-F238E27FC236}">
                <a16:creationId xmlns:a16="http://schemas.microsoft.com/office/drawing/2014/main" id="{89C08E78-CC6A-4021-B15E-36C1E9356AE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896039B-AEB9-4878-9211-1EF314B412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20</a:t>
            </a:r>
          </a:p>
        </p:txBody>
      </p:sp>
    </p:spTree>
    <p:extLst>
      <p:ext uri="{BB962C8B-B14F-4D97-AF65-F5344CB8AC3E}">
        <p14:creationId xmlns:p14="http://schemas.microsoft.com/office/powerpoint/2010/main" val="14398102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F7D2CA-AFE2-4AD0-9C1B-2E256571ED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E887F3-5C9F-4F14-BD98-200E74C16F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88E8B5B-91A1-415F-A24B-5A02E7BC28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absolute error and RMSE</a:t>
            </a:r>
          </a:p>
        </p:txBody>
      </p:sp>
      <p:sp>
        <p:nvSpPr>
          <p:cNvPr id="4" name="">
            <a:extLst xmlns:a="http://schemas.openxmlformats.org/drawingml/2006/main">
              <a:ext uri="{FF2B5EF4-FFF2-40B4-BE49-F238E27FC236}">
                <a16:creationId xmlns:a16="http://schemas.microsoft.com/office/drawing/2014/main" id="{CA263748-EC1B-4F96-ADD0-BEC2AD5C91C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1A339D-DD59-41A1-9361-418A527C7AE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 = actual value − predicted value. Absolute error removes the sign.</a:t>
            </a:r>
          </a:p>
        </p:txBody>
      </p:sp>
      <p:sp>
        <p:nvSpPr>
          <p:cNvPr id="6" name="">
            <a:extLst xmlns:a="http://schemas.openxmlformats.org/drawingml/2006/main">
              <a:ext uri="{FF2B5EF4-FFF2-40B4-BE49-F238E27FC236}">
                <a16:creationId xmlns:a16="http://schemas.microsoft.com/office/drawing/2014/main" id="{BB563218-6EC1-42A3-989B-A544A837B68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D0D1D40-9FCB-4815-9B7A-EF0DF285DE2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is the mean absolute error. RMSE is the square root of the mean squared error.</a:t>
            </a:r>
          </a:p>
        </p:txBody>
      </p:sp>
      <p:sp>
        <p:nvSpPr>
          <p:cNvPr id="8" name="">
            <a:extLst xmlns:a="http://schemas.openxmlformats.org/drawingml/2006/main">
              <a:ext uri="{FF2B5EF4-FFF2-40B4-BE49-F238E27FC236}">
                <a16:creationId xmlns:a16="http://schemas.microsoft.com/office/drawing/2014/main" id="{6B864729-A0F7-421D-AE57-972B25DFC20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4B70F6-87FC-404C-9854-536DF9014E9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Lower is better on the same held-out rows. Both use the target’s unit.</a:t>
            </a:r>
          </a:p>
        </p:txBody>
      </p:sp>
      <p:sp>
        <p:nvSpPr>
          <p:cNvPr id="10" name="">
            <a:extLst xmlns:a="http://schemas.openxmlformats.org/drawingml/2006/main">
              <a:ext uri="{FF2B5EF4-FFF2-40B4-BE49-F238E27FC236}">
                <a16:creationId xmlns:a16="http://schemas.microsoft.com/office/drawing/2014/main" id="{8C9C2F1A-6936-4D94-A9B8-CB1368C59A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21</a:t>
            </a:r>
          </a:p>
        </p:txBody>
      </p:sp>
    </p:spTree>
    <p:extLst>
      <p:ext uri="{BB962C8B-B14F-4D97-AF65-F5344CB8AC3E}">
        <p14:creationId xmlns:p14="http://schemas.microsoft.com/office/powerpoint/2010/main" val="13355380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87B23C-9BC3-467B-867D-22730E41C5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3CC80D-56C6-400A-8282-B836503EF9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897C08F-A59F-4EE7-8AF2-A69C557AE9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predictions to the correct rows</a:t>
            </a:r>
          </a:p>
        </p:txBody>
      </p:sp>
      <p:sp>
        <p:nvSpPr>
          <p:cNvPr id="4" name="">
            <a:extLst xmlns:a="http://schemas.openxmlformats.org/drawingml/2006/main">
              <a:ext uri="{FF2B5EF4-FFF2-40B4-BE49-F238E27FC236}">
                <a16:creationId xmlns:a16="http://schemas.microsoft.com/office/drawing/2014/main" id="{3C2A52D5-5B25-4CD2-B47F-1DCE09A6A8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A86FA86-6244-4AA0-9F22-232956297DD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Pandas subtracts Series by row label. A filtered table can keep old labels such as 2 and 3.</a:t>
            </a:r>
          </a:p>
        </p:txBody>
      </p:sp>
      <p:sp>
        <p:nvSpPr>
          <p:cNvPr id="6" name="">
            <a:extLst xmlns:a="http://schemas.openxmlformats.org/drawingml/2006/main">
              <a:ext uri="{FF2B5EF4-FFF2-40B4-BE49-F238E27FC236}">
                <a16:creationId xmlns:a16="http://schemas.microsoft.com/office/drawing/2014/main" id="{6D8B58F0-E9EE-4DDA-A299-E07372E158F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D98878-1693-4E86-AE47-0D768DE036B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reset_index(drop=True) replaces those labels with 0 and 1. pd.Series(a_list) also starts at 0.</a:t>
            </a:r>
          </a:p>
        </p:txBody>
      </p:sp>
      <p:sp>
        <p:nvSpPr>
          <p:cNvPr id="8" name="">
            <a:extLst xmlns:a="http://schemas.openxmlformats.org/drawingml/2006/main">
              <a:ext uri="{FF2B5EF4-FFF2-40B4-BE49-F238E27FC236}">
                <a16:creationId xmlns:a16="http://schemas.microsoft.com/office/drawing/2014/main" id="{5B324B6B-1563-4C7A-809B-BCB7F5D1BA7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5B3D4B6-C750-4D9C-B5EC-FDEEF6874B8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row order for actual values and validation_predictions.</a:t>
            </a:r>
          </a:p>
        </p:txBody>
      </p:sp>
      <p:sp>
        <p:nvSpPr>
          <p:cNvPr id="10" name="">
            <a:extLst xmlns:a="http://schemas.openxmlformats.org/drawingml/2006/main">
              <a:ext uri="{FF2B5EF4-FFF2-40B4-BE49-F238E27FC236}">
                <a16:creationId xmlns:a16="http://schemas.microsoft.com/office/drawing/2014/main" id="{82F937F3-C8C3-4378-A221-047402025E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22</a:t>
            </a:r>
          </a:p>
        </p:txBody>
      </p:sp>
    </p:spTree>
    <p:extLst>
      <p:ext uri="{BB962C8B-B14F-4D97-AF65-F5344CB8AC3E}">
        <p14:creationId xmlns:p14="http://schemas.microsoft.com/office/powerpoint/2010/main" val="145384156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6D16A3-0568-44A2-A8D4-2EC0218198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F0CE3D-98E9-4C9F-9F4E-82076F5B9D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103150B-4DA3-4924-ADC0-5C093774A1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Column arithmetic / Squared error and square root</a:t>
            </a:r>
          </a:p>
        </p:txBody>
      </p:sp>
      <p:sp>
        <p:nvSpPr>
          <p:cNvPr id="4" name="">
            <a:extLst xmlns:a="http://schemas.openxmlformats.org/drawingml/2006/main">
              <a:ext uri="{FF2B5EF4-FFF2-40B4-BE49-F238E27FC236}">
                <a16:creationId xmlns:a16="http://schemas.microsoft.com/office/drawing/2014/main" id="{86F9D70B-DB30-4E6C-B3EF-9DD34E505FE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428387-58C4-42F2-B3BF-22F582F143A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E8CB5D-8920-4277-88A2-FB3CCB89439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Arithmetic on columns calculates one result per row. Series align by row label. Divide only where the denominator is valid and keep actual and predicted observations paired.</a:t>
            </a:r>
          </a:p>
        </p:txBody>
      </p:sp>
      <p:sp>
        <p:nvSpPr>
          <p:cNvPr id="7" name="">
            <a:extLst xmlns:a="http://schemas.openxmlformats.org/drawingml/2006/main">
              <a:ext uri="{FF2B5EF4-FFF2-40B4-BE49-F238E27FC236}">
                <a16:creationId xmlns:a16="http://schemas.microsoft.com/office/drawing/2014/main" id="{D1D0014E-7636-4568-AF97-269311A2D72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8" name="">
            <a:extLst xmlns:a="http://schemas.openxmlformats.org/drawingml/2006/main">
              <a:ext uri="{FF2B5EF4-FFF2-40B4-BE49-F238E27FC236}">
                <a16:creationId xmlns:a16="http://schemas.microsoft.com/office/drawing/2014/main" id="{B6E306FD-446B-4F8D-83CF-C06953E230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23</a:t>
            </a:r>
          </a:p>
        </p:txBody>
      </p:sp>
    </p:spTree>
    <p:extLst>
      <p:ext uri="{BB962C8B-B14F-4D97-AF65-F5344CB8AC3E}">
        <p14:creationId xmlns:p14="http://schemas.microsoft.com/office/powerpoint/2010/main" val="137400001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C975F5-839D-43AA-9EC9-D2809728A5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3B0E87-EB52-401A-BCBB-B6FD4EC951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745EF12-9ED2-4420-8736-04F4F89C14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Aligning positions for subtraction / A labelled column</a:t>
            </a:r>
          </a:p>
        </p:txBody>
      </p:sp>
      <p:sp>
        <p:nvSpPr>
          <p:cNvPr id="4" name="">
            <a:extLst xmlns:a="http://schemas.openxmlformats.org/drawingml/2006/main">
              <a:ext uri="{FF2B5EF4-FFF2-40B4-BE49-F238E27FC236}">
                <a16:creationId xmlns:a16="http://schemas.microsoft.com/office/drawing/2014/main" id="{45A2832E-2E2D-4E67-A61A-DE906CB2136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CBC3C2-2662-4B57-A59A-AAEDE3E518E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117850A-09CC-4D15-8159-05BA0FEAD3F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series.reset_index(drop=True) replaces old row labels with 0, 1, 2, and so on. drop=True discards the old labels. Apply it when pairing with a new prediction Series that has those positional labels.</a:t>
            </a:r>
          </a:p>
        </p:txBody>
      </p:sp>
      <p:sp>
        <p:nvSpPr>
          <p:cNvPr id="7" name="">
            <a:extLst xmlns:a="http://schemas.openxmlformats.org/drawingml/2006/main">
              <a:ext uri="{FF2B5EF4-FFF2-40B4-BE49-F238E27FC236}">
                <a16:creationId xmlns:a16="http://schemas.microsoft.com/office/drawing/2014/main" id="{F0EAF7CC-1911-4D54-8482-7F52085EE66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pd.Series(values) creates a one-dimensional labelled sequence. With an array of fold errors, the default labels are 0, 1, 2 and so on.</a:t>
            </a:r>
          </a:p>
        </p:txBody>
      </p:sp>
      <p:sp>
        <p:nvSpPr>
          <p:cNvPr id="8" name="">
            <a:extLst xmlns:a="http://schemas.openxmlformats.org/drawingml/2006/main">
              <a:ext uri="{FF2B5EF4-FFF2-40B4-BE49-F238E27FC236}">
                <a16:creationId xmlns:a16="http://schemas.microsoft.com/office/drawing/2014/main" id="{5DB57CDF-82CD-4AA2-9761-B4F1832012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24</a:t>
            </a:r>
          </a:p>
        </p:txBody>
      </p:sp>
    </p:spTree>
    <p:extLst>
      <p:ext uri="{BB962C8B-B14F-4D97-AF65-F5344CB8AC3E}">
        <p14:creationId xmlns:p14="http://schemas.microsoft.com/office/powerpoint/2010/main" val="10212724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EB9D6A-F811-4419-A044-F67790B7FF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041BDB-D0F5-45A0-B17A-E6F6F3A32D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8206960-EF08-4C44-9E6B-B70119F155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Rounded display / Magnitude of each error</a:t>
            </a:r>
          </a:p>
        </p:txBody>
      </p:sp>
      <p:sp>
        <p:nvSpPr>
          <p:cNvPr id="4" name="">
            <a:extLst xmlns:a="http://schemas.openxmlformats.org/drawingml/2006/main">
              <a:ext uri="{FF2B5EF4-FFF2-40B4-BE49-F238E27FC236}">
                <a16:creationId xmlns:a16="http://schemas.microsoft.com/office/drawing/2014/main" id="{8851A10B-9B55-4BD5-8DAA-E7A8F4E8741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83F2F2-C467-4B2A-85F5-3D762958866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0D26E7A-BBB5-4D3E-BF0D-11CE1814922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series.round(3) returns values rounded to three decimal places. Python round(number, 3) rounds one number. Keep unrounded calculations for returned assessment answers.</a:t>
            </a:r>
          </a:p>
        </p:txBody>
      </p:sp>
      <p:sp>
        <p:nvSpPr>
          <p:cNvPr id="7" name="">
            <a:extLst xmlns:a="http://schemas.openxmlformats.org/drawingml/2006/main">
              <a:ext uri="{FF2B5EF4-FFF2-40B4-BE49-F238E27FC236}">
                <a16:creationId xmlns:a16="http://schemas.microsoft.com/office/drawing/2014/main" id="{90322193-D633-4C6B-A52A-D44934F1666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series.abs() makes negative values positive while leaving nonnegative values unchanged. Averaging these magnitudes gives mean absolute error.</a:t>
            </a:r>
          </a:p>
        </p:txBody>
      </p:sp>
      <p:sp>
        <p:nvSpPr>
          <p:cNvPr id="8" name="">
            <a:extLst xmlns:a="http://schemas.openxmlformats.org/drawingml/2006/main">
              <a:ext uri="{FF2B5EF4-FFF2-40B4-BE49-F238E27FC236}">
                <a16:creationId xmlns:a16="http://schemas.microsoft.com/office/drawing/2014/main" id="{6BFB553E-3B34-4D07-BB1C-934E93741B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25</a:t>
            </a:r>
          </a:p>
        </p:txBody>
      </p:sp>
    </p:spTree>
    <p:extLst>
      <p:ext uri="{BB962C8B-B14F-4D97-AF65-F5344CB8AC3E}">
        <p14:creationId xmlns:p14="http://schemas.microsoft.com/office/powerpoint/2010/main" val="7537731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66DA27-0728-4FD2-B118-8661203CE7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132B74-A5BC-4C74-972F-CDBCC360D7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B5EE55-4276-4F43-84EA-71FF978E67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353CD575-7796-4625-8037-06984DEC1DC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525FEF-33B7-4B09-A185-6B6A297B2E7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6790A7-ACF4-4841-A695-78ACD3BBB3D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A752FD01-871F-4018-9DDC-CD0D27AE9D2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predicted_values: predictions aligned with those actual values.</a:t>
            </a:r>
          </a:p>
        </p:txBody>
      </p:sp>
      <p:sp>
        <p:nvSpPr>
          <p:cNvPr id="8" name="">
            <a:extLst xmlns:a="http://schemas.openxmlformats.org/drawingml/2006/main">
              <a:ext uri="{FF2B5EF4-FFF2-40B4-BE49-F238E27FC236}">
                <a16:creationId xmlns:a16="http://schemas.microsoft.com/office/drawing/2014/main" id="{DD49CB7A-2F81-4232-AD42-080812327C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26</a:t>
            </a:r>
          </a:p>
        </p:txBody>
      </p:sp>
    </p:spTree>
    <p:extLst>
      <p:ext uri="{BB962C8B-B14F-4D97-AF65-F5344CB8AC3E}">
        <p14:creationId xmlns:p14="http://schemas.microsoft.com/office/powerpoint/2010/main" val="2025339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2ED4A8-CADC-49B8-90F7-14FA761B8B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E84C9F-6A00-4A70-AE27-21860F52E5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AE4E25-1E52-468B-A43A-CCBAA1E513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77134FF4-D752-4888-95ED-4B992181F56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D7FA5F-3F66-49DE-B8FD-8CBF54F76E2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actual_values = validation_data["target"].reset_index(drop=</a:t>
            </a:r>
            <a:r>
              <a:rPr sz="1875" b="0">
                <a:solidFill>
                  <a:srgbClr val="FFB080"/>
                </a:solidFill>
                <a:latin typeface="Courier New"/>
                <a:ea typeface="Courier New"/>
                <a:cs typeface="Courier New"/>
              </a:rPr>
              <a:t>True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predicted_values = pd.Series(baseline_predictions)</a:t>
            </a:r>
          </a:p>
        </p:txBody>
      </p:sp>
      <p:sp>
        <p:nvSpPr>
          <p:cNvPr id="6" name="">
            <a:extLst xmlns:a="http://schemas.openxmlformats.org/drawingml/2006/main">
              <a:ext uri="{FF2B5EF4-FFF2-40B4-BE49-F238E27FC236}">
                <a16:creationId xmlns:a16="http://schemas.microsoft.com/office/drawing/2014/main" id="{955B7CE9-F4C4-48AB-9C30-1DB18FBCD25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4CF80742-FB61-41F5-BBF9-68B50DDE999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15A0BEA3-6FE6-4EA6-B37A-9D46831FFF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27</a:t>
            </a:r>
          </a:p>
        </p:txBody>
      </p:sp>
    </p:spTree>
    <p:extLst>
      <p:ext uri="{BB962C8B-B14F-4D97-AF65-F5344CB8AC3E}">
        <p14:creationId xmlns:p14="http://schemas.microsoft.com/office/powerpoint/2010/main" val="194689732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A56228-7AB8-4226-9FFD-BACD97A20A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531D23-5AF9-43D6-BCF4-9DC2BBA7B3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3784F6-F9E1-4EBB-B3C0-313A7276E4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the baseline with observed targets</a:t>
            </a:r>
          </a:p>
        </p:txBody>
      </p:sp>
      <p:sp>
        <p:nvSpPr>
          <p:cNvPr id="4" name="">
            <a:extLst xmlns:a="http://schemas.openxmlformats.org/drawingml/2006/main">
              <a:ext uri="{FF2B5EF4-FFF2-40B4-BE49-F238E27FC236}">
                <a16:creationId xmlns:a16="http://schemas.microsoft.com/office/drawing/2014/main" id="{01765BB7-3258-4774-A7A4-6DCA7918418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FEB654-F67B-439A-82F3-8A5563ED91D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 each baseline prediction with its validation target. reset_index(drop=True) makes their row labels match by position before subtraction.</a:t>
            </a:r>
          </a:p>
        </p:txBody>
      </p:sp>
      <p:sp>
        <p:nvSpPr>
          <p:cNvPr id="6" name="">
            <a:extLst xmlns:a="http://schemas.openxmlformats.org/drawingml/2006/main">
              <a:ext uri="{FF2B5EF4-FFF2-40B4-BE49-F238E27FC236}">
                <a16:creationId xmlns:a16="http://schemas.microsoft.com/office/drawing/2014/main" id="{ACCBFABB-E0A6-4528-9974-307284078F8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training mean must come from training rows only.</a:t>
            </a:r>
          </a:p>
        </p:txBody>
      </p:sp>
      <p:sp>
        <p:nvSpPr>
          <p:cNvPr id="7" name="">
            <a:extLst xmlns:a="http://schemas.openxmlformats.org/drawingml/2006/main">
              <a:ext uri="{FF2B5EF4-FFF2-40B4-BE49-F238E27FC236}">
                <a16:creationId xmlns:a16="http://schemas.microsoft.com/office/drawing/2014/main" id="{00499F61-387C-4AE3-A1EC-25162218E7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28</a:t>
            </a:r>
          </a:p>
        </p:txBody>
      </p:sp>
    </p:spTree>
    <p:extLst>
      <p:ext uri="{BB962C8B-B14F-4D97-AF65-F5344CB8AC3E}">
        <p14:creationId xmlns:p14="http://schemas.microsoft.com/office/powerpoint/2010/main" val="158189165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D20CC4-5B70-423C-B510-CEF0B0C7CE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0F21F0-AFC2-4410-BAD0-898986413C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88C3EE0-10AB-4BE0-9463-168F631514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2</a:t>
            </a:r>
          </a:p>
        </p:txBody>
      </p:sp>
      <p:sp>
        <p:nvSpPr>
          <p:cNvPr id="4" name="">
            <a:extLst xmlns:a="http://schemas.openxmlformats.org/drawingml/2006/main">
              <a:ext uri="{FF2B5EF4-FFF2-40B4-BE49-F238E27FC236}">
                <a16:creationId xmlns:a16="http://schemas.microsoft.com/office/drawing/2014/main" id="{1E5E3C5C-5D8D-48C3-A657-E9531A284A0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58E552-F108-4E42-BE70-321765E93A6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baseline_errors = actual_values - predicted_values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baseline_errors.abs().mean()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(baseline_errors**2).mean()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print(round(mae, 2), round(rmse, 2))</a:t>
            </a:r>
          </a:p>
        </p:txBody>
      </p:sp>
      <p:sp>
        <p:nvSpPr>
          <p:cNvPr id="6" name="">
            <a:extLst xmlns:a="http://schemas.openxmlformats.org/drawingml/2006/main">
              <a:ext uri="{FF2B5EF4-FFF2-40B4-BE49-F238E27FC236}">
                <a16:creationId xmlns:a16="http://schemas.microsoft.com/office/drawing/2014/main" id="{DFD690F5-2F4B-42EA-AB84-A49899CA5AE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B79CC9C0-5969-42D1-98F6-8B7BD69B431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8283AE8D-F50F-4B82-8324-7F5209CAA7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29</a:t>
            </a:r>
          </a:p>
        </p:txBody>
      </p:sp>
    </p:spTree>
    <p:extLst>
      <p:ext uri="{BB962C8B-B14F-4D97-AF65-F5344CB8AC3E}">
        <p14:creationId xmlns:p14="http://schemas.microsoft.com/office/powerpoint/2010/main" val="16907685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437BE9-7B0F-4D6D-931B-F16F51BFCE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E69684-F30D-44C3-A2B9-A6128F85E8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FDB4D29-A290-4EE7-86F6-B827B021F9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two predictions</a:t>
            </a:r>
          </a:p>
        </p:txBody>
      </p:sp>
      <p:sp>
        <p:nvSpPr>
          <p:cNvPr id="4" name="">
            <a:extLst xmlns:a="http://schemas.openxmlformats.org/drawingml/2006/main">
              <a:ext uri="{FF2B5EF4-FFF2-40B4-BE49-F238E27FC236}">
                <a16:creationId xmlns:a16="http://schemas.microsoft.com/office/drawing/2014/main" id="{1D7AB1EA-C289-4446-A4EE-0D4AC29F6A3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8CB4E36-0BCB-491B-91C1-0B3E7F3CA1C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values are 30 and 40. New predictions are 28 and 44.</a:t>
            </a:r>
          </a:p>
        </p:txBody>
      </p:sp>
      <p:sp>
        <p:nvSpPr>
          <p:cNvPr id="6" name="">
            <a:extLst xmlns:a="http://schemas.openxmlformats.org/drawingml/2006/main">
              <a:ext uri="{FF2B5EF4-FFF2-40B4-BE49-F238E27FC236}">
                <a16:creationId xmlns:a16="http://schemas.microsoft.com/office/drawing/2014/main" id="{2CE220DE-3A2C-44AF-98AE-A04E9E45072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036760B-0E62-4F95-95D7-65702903C6B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two errors, MAE and RMSE by hand.</a:t>
            </a:r>
          </a:p>
        </p:txBody>
      </p:sp>
      <p:sp>
        <p:nvSpPr>
          <p:cNvPr id="8" name="">
            <a:extLst xmlns:a="http://schemas.openxmlformats.org/drawingml/2006/main">
              <a:ext uri="{FF2B5EF4-FFF2-40B4-BE49-F238E27FC236}">
                <a16:creationId xmlns:a16="http://schemas.microsoft.com/office/drawing/2014/main" id="{438B2FC7-375B-4CBF-88B6-5FD8E900679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E459BA5-5897-4908-A279-84A6775C381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Does this improve on the baseline MAE of 20?</a:t>
            </a:r>
          </a:p>
        </p:txBody>
      </p:sp>
      <p:sp>
        <p:nvSpPr>
          <p:cNvPr id="10" name="">
            <a:extLst xmlns:a="http://schemas.openxmlformats.org/drawingml/2006/main">
              <a:ext uri="{FF2B5EF4-FFF2-40B4-BE49-F238E27FC236}">
                <a16:creationId xmlns:a16="http://schemas.microsoft.com/office/drawing/2014/main" id="{CEC91E80-1713-43C4-AF99-06A344FDF9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30</a:t>
            </a:r>
          </a:p>
        </p:txBody>
      </p:sp>
    </p:spTree>
    <p:extLst>
      <p:ext uri="{BB962C8B-B14F-4D97-AF65-F5344CB8AC3E}">
        <p14:creationId xmlns:p14="http://schemas.microsoft.com/office/powerpoint/2010/main" val="17365232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6C7CBF-7C2C-4659-9D6E-97F4B67B91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35E61D-0361-428E-BA2A-669541BE79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FD2DD97-257D-4919-A095-5B1A8690B7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1B9CE28C-1CBD-4545-8FA8-826B3D29CB7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F0EF20C-0564-4311-931F-3327977F09F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Errors: 2 and −4. Absolute errors: 2 and 4.</a:t>
            </a:r>
          </a:p>
        </p:txBody>
      </p:sp>
      <p:sp>
        <p:nvSpPr>
          <p:cNvPr id="6" name="">
            <a:extLst xmlns:a="http://schemas.openxmlformats.org/drawingml/2006/main">
              <a:ext uri="{FF2B5EF4-FFF2-40B4-BE49-F238E27FC236}">
                <a16:creationId xmlns:a16="http://schemas.microsoft.com/office/drawing/2014/main" id="{42B60E23-FF70-4764-9FF2-4A9146E0752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78D1ED8-3A33-4644-9F3A-80FEA682C4B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 3 °C. RMSE = √10 ≈ 3.16 °C.</a:t>
            </a:r>
          </a:p>
        </p:txBody>
      </p:sp>
      <p:sp>
        <p:nvSpPr>
          <p:cNvPr id="8" name="">
            <a:extLst xmlns:a="http://schemas.openxmlformats.org/drawingml/2006/main">
              <a:ext uri="{FF2B5EF4-FFF2-40B4-BE49-F238E27FC236}">
                <a16:creationId xmlns:a16="http://schemas.microsoft.com/office/drawing/2014/main" id="{63702A7C-2F93-4E31-BE1B-E8C1C01BBC7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19DEB5-73F0-4A83-95D0-C94A2443EB0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errors are lower than the baseline on these same two rows.</a:t>
            </a:r>
          </a:p>
        </p:txBody>
      </p:sp>
      <p:sp>
        <p:nvSpPr>
          <p:cNvPr id="10" name="">
            <a:extLst xmlns:a="http://schemas.openxmlformats.org/drawingml/2006/main">
              <a:ext uri="{FF2B5EF4-FFF2-40B4-BE49-F238E27FC236}">
                <a16:creationId xmlns:a16="http://schemas.microsoft.com/office/drawing/2014/main" id="{4388681C-EA4D-45FB-B3BA-28931ACDF2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31</a:t>
            </a:r>
          </a:p>
        </p:txBody>
      </p:sp>
    </p:spTree>
    <p:extLst>
      <p:ext uri="{BB962C8B-B14F-4D97-AF65-F5344CB8AC3E}">
        <p14:creationId xmlns:p14="http://schemas.microsoft.com/office/powerpoint/2010/main" val="160252604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45CD2A-7065-407A-B7C9-8D7AAFECCF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7B0D5E-C309-4163-958B-E35A76F7E7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F410240-691F-443B-965F-5462C72B74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Fitting and predicting with scikit-learn</a:t>
            </a:r>
          </a:p>
        </p:txBody>
      </p:sp>
      <p:sp>
        <p:nvSpPr>
          <p:cNvPr id="4" name="">
            <a:extLst xmlns:a="http://schemas.openxmlformats.org/drawingml/2006/main">
              <a:ext uri="{FF2B5EF4-FFF2-40B4-BE49-F238E27FC236}">
                <a16:creationId xmlns:a16="http://schemas.microsoft.com/office/drawing/2014/main" id="{614A62CE-7782-4BC4-921B-ADE4B1FA670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DA9BCD0-E297-4E0B-A3B4-50B86D4EE64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LinearRegression learns a straight-line relationship. fit(X, y) learns from training features and targets.</a:t>
            </a:r>
          </a:p>
        </p:txBody>
      </p:sp>
      <p:sp>
        <p:nvSpPr>
          <p:cNvPr id="6" name="">
            <a:extLst xmlns:a="http://schemas.openxmlformats.org/drawingml/2006/main">
              <a:ext uri="{FF2B5EF4-FFF2-40B4-BE49-F238E27FC236}">
                <a16:creationId xmlns:a16="http://schemas.microsoft.com/office/drawing/2014/main" id="{6D48FC45-D8F4-4443-B4F1-42FE24B7D1B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619CAD-E23D-40AB-98FF-CA04A5B29D0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predict(X_new) uses the fitted relationship on new feature_columns. It does not receive their targets.</a:t>
            </a:r>
          </a:p>
        </p:txBody>
      </p:sp>
      <p:sp>
        <p:nvSpPr>
          <p:cNvPr id="8" name="">
            <a:extLst xmlns:a="http://schemas.openxmlformats.org/drawingml/2006/main">
              <a:ext uri="{FF2B5EF4-FFF2-40B4-BE49-F238E27FC236}">
                <a16:creationId xmlns:a16="http://schemas.microsoft.com/office/drawing/2014/main" id="{EC88303B-BB7C-4405-90A9-1473D5C0E40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77263D1-A8C4-4F71-9087-6A1A14CF765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Double brackets, [["load"]], retain a two-dimensional feature equipment_data.</a:t>
            </a:r>
          </a:p>
        </p:txBody>
      </p:sp>
      <p:sp>
        <p:nvSpPr>
          <p:cNvPr id="10" name="">
            <a:extLst xmlns:a="http://schemas.openxmlformats.org/drawingml/2006/main">
              <a:ext uri="{FF2B5EF4-FFF2-40B4-BE49-F238E27FC236}">
                <a16:creationId xmlns:a16="http://schemas.microsoft.com/office/drawing/2014/main" id="{4085F22C-D4DA-455A-8C84-57B311428E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32</a:t>
            </a:r>
          </a:p>
        </p:txBody>
      </p:sp>
    </p:spTree>
    <p:extLst>
      <p:ext uri="{BB962C8B-B14F-4D97-AF65-F5344CB8AC3E}">
        <p14:creationId xmlns:p14="http://schemas.microsoft.com/office/powerpoint/2010/main" val="161031477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93104F-1300-46F1-8B08-2F435D8A06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4E7DEE-5A5B-4FA7-BBC7-B8F064F8F0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CAA8E58-D10C-4534-99B0-45E4C61726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AAE4593E-F7F8-41D4-BDA9-19E0BCD70E8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2E2321-38A0-4579-B6DD-8E066C72ACA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D983E7-1A1D-49D6-AD0C-A262507D685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A9516C23-4EB5-4D39-BAED-88740AC15CA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DE30B34E-795E-415A-AF45-68B92BA14E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33</a:t>
            </a:r>
          </a:p>
        </p:txBody>
      </p:sp>
    </p:spTree>
    <p:extLst>
      <p:ext uri="{BB962C8B-B14F-4D97-AF65-F5344CB8AC3E}">
        <p14:creationId xmlns:p14="http://schemas.microsoft.com/office/powerpoint/2010/main" val="105369894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11615C-DD2F-4202-A4A3-AC739182B7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1497A6-35CD-43FC-A199-44FC9AE62B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7B64227-BC2A-4D0D-A5EC-7223C93DBB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a:t>
            </a:r>
          </a:p>
        </p:txBody>
      </p:sp>
      <p:sp>
        <p:nvSpPr>
          <p:cNvPr id="4" name="">
            <a:extLst xmlns:a="http://schemas.openxmlformats.org/drawingml/2006/main">
              <a:ext uri="{FF2B5EF4-FFF2-40B4-BE49-F238E27FC236}">
                <a16:creationId xmlns:a16="http://schemas.microsoft.com/office/drawing/2014/main" id="{1816BD7F-F537-4BF4-8FE0-22CF1A53867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03CABF-4FD6-4655-A751-DEF756FC2B0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6" name="">
            <a:extLst xmlns:a="http://schemas.openxmlformats.org/drawingml/2006/main">
              <a:ext uri="{FF2B5EF4-FFF2-40B4-BE49-F238E27FC236}">
                <a16:creationId xmlns:a16="http://schemas.microsoft.com/office/drawing/2014/main" id="{1F6634CD-0D96-4244-A63E-BB95A93FD5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34</a:t>
            </a:r>
          </a:p>
        </p:txBody>
      </p:sp>
    </p:spTree>
    <p:extLst>
      <p:ext uri="{BB962C8B-B14F-4D97-AF65-F5344CB8AC3E}">
        <p14:creationId xmlns:p14="http://schemas.microsoft.com/office/powerpoint/2010/main" val="126293128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D7D21C-57E7-480F-9ACB-3E7BF11F48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F1107D-0029-4D60-82D8-EA6EF508CE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202384E-7F25-4415-9DF0-14FAF22DBB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36573704-0C31-4CCF-B6E4-2C3898DC078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99E57C1-0BBE-481A-97F9-C01412C0940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B7749310-2647-446B-89BD-4507F8FE96C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5DA7C10-8F52-417B-8A7E-F87641DB8E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B55D9E4C-FA24-4D47-9719-602CD3C250D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2580E8B-6C4C-4EA0-A496-75F7BF5E91D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B5AB6B18-E474-429B-A288-95185C6E9A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35</a:t>
            </a:r>
          </a:p>
        </p:txBody>
      </p:sp>
    </p:spTree>
    <p:extLst>
      <p:ext uri="{BB962C8B-B14F-4D97-AF65-F5344CB8AC3E}">
        <p14:creationId xmlns:p14="http://schemas.microsoft.com/office/powerpoint/2010/main" val="211106100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6CBAF3-C853-44EE-A38A-84348882F0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FC0627-4A90-4D80-A525-1F3937A7C6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736C90-C288-49B7-BB14-002329CE9C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7D718D13-FF52-4666-A13F-8C4E7E1D78E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4FFE58-639E-46B1-98C1-405192A7AD5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8E2D27FF-5DD3-46B4-9C3F-4619DF97AE5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4A7A8595-398D-4710-A45D-DC8AD8B8B0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36</a:t>
            </a:r>
          </a:p>
        </p:txBody>
      </p:sp>
    </p:spTree>
    <p:extLst>
      <p:ext uri="{BB962C8B-B14F-4D97-AF65-F5344CB8AC3E}">
        <p14:creationId xmlns:p14="http://schemas.microsoft.com/office/powerpoint/2010/main" val="38175827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22CC86-E71B-47DA-8EAD-94CEC3FC76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422415-820D-4709-BC05-49982B7ACC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B0AF6AD-3A22-4688-AA92-330C5878F2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1</a:t>
            </a:r>
          </a:p>
        </p:txBody>
      </p:sp>
      <p:sp>
        <p:nvSpPr>
          <p:cNvPr id="4" name="">
            <a:extLst xmlns:a="http://schemas.openxmlformats.org/drawingml/2006/main">
              <a:ext uri="{FF2B5EF4-FFF2-40B4-BE49-F238E27FC236}">
                <a16:creationId xmlns:a16="http://schemas.microsoft.com/office/drawing/2014/main" id="{81A35AFD-C83E-4F5B-834C-45EE04B7A7F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B7B678-EFA9-4DF1-8E95-DF7ABF7CC1A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sklearn.linear_model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LinearRegression</a:t>
            </a:r>
          </a:p>
        </p:txBody>
      </p:sp>
      <p:sp>
        <p:nvSpPr>
          <p:cNvPr id="6" name="">
            <a:extLst xmlns:a="http://schemas.openxmlformats.org/drawingml/2006/main">
              <a:ext uri="{FF2B5EF4-FFF2-40B4-BE49-F238E27FC236}">
                <a16:creationId xmlns:a16="http://schemas.microsoft.com/office/drawing/2014/main" id="{A2BF7993-CEAD-4370-9810-DFF8AA4748E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16298548-3AFA-4686-AA4C-30370EC1A9B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25EAD002-6FCB-44DB-AF64-6A3B5A19CE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37</a:t>
            </a:r>
          </a:p>
        </p:txBody>
      </p:sp>
    </p:spTree>
    <p:extLst>
      <p:ext uri="{BB962C8B-B14F-4D97-AF65-F5344CB8AC3E}">
        <p14:creationId xmlns:p14="http://schemas.microsoft.com/office/powerpoint/2010/main" val="16474566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B2DEA7-C714-4085-BB35-8DFEB204FE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106C6-6B24-467A-A4AB-A9992C8D9E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2F2F57D-2031-44AD-AA00-04F5DF34C2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35F63A2B-5CA8-4E77-A2CF-BC33F8072B2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FF63ED-0515-4FCE-BA5A-290BEBC35D67}"/>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6EB954DD-7257-4B10-8C94-1B7605E9ECC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38</a:t>
            </a:r>
          </a:p>
        </p:txBody>
      </p:sp>
    </p:spTree>
    <p:extLst>
      <p:ext uri="{BB962C8B-B14F-4D97-AF65-F5344CB8AC3E}">
        <p14:creationId xmlns:p14="http://schemas.microsoft.com/office/powerpoint/2010/main" val="11563905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48E9AE-1818-448E-B6D1-FC524704C0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BF41A3-9D24-4064-B39C-76E99FF94C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AF28282-EA83-44B1-95F1-1DD4E32CA7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2</a:t>
            </a:r>
          </a:p>
        </p:txBody>
      </p:sp>
      <p:sp>
        <p:nvSpPr>
          <p:cNvPr id="4" name="">
            <a:extLst xmlns:a="http://schemas.openxmlformats.org/drawingml/2006/main">
              <a:ext uri="{FF2B5EF4-FFF2-40B4-BE49-F238E27FC236}">
                <a16:creationId xmlns:a16="http://schemas.microsoft.com/office/drawing/2014/main" id="{BF58D4FD-4936-4087-B05B-4500ABDE34B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FAF334-B40F-42D6-9C13-A3E47DE3797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print(validation_predictions.round(2))</a:t>
            </a:r>
          </a:p>
        </p:txBody>
      </p:sp>
      <p:sp>
        <p:nvSpPr>
          <p:cNvPr id="6" name="">
            <a:extLst xmlns:a="http://schemas.openxmlformats.org/drawingml/2006/main">
              <a:ext uri="{FF2B5EF4-FFF2-40B4-BE49-F238E27FC236}">
                <a16:creationId xmlns:a16="http://schemas.microsoft.com/office/drawing/2014/main" id="{0C99C1F7-0F46-49EE-A507-DCFFE484396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8DC447C2-B4F6-4F84-9389-5C4355BC86D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E3E1B63-5A20-47F3-A12A-322EAEE8ED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39</a:t>
            </a:r>
          </a:p>
        </p:txBody>
      </p:sp>
    </p:spTree>
    <p:extLst>
      <p:ext uri="{BB962C8B-B14F-4D97-AF65-F5344CB8AC3E}">
        <p14:creationId xmlns:p14="http://schemas.microsoft.com/office/powerpoint/2010/main" val="77767827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C96157-688D-4CB0-AACA-0E3632F0E0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3AF8C3-FA2D-4C07-AE99-32CCEA7261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F390149-8C72-4D5A-A1EA-5C8A68CEE6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and a fair model comparison</a:t>
            </a:r>
          </a:p>
        </p:txBody>
      </p:sp>
      <p:sp>
        <p:nvSpPr>
          <p:cNvPr id="4" name="">
            <a:extLst xmlns:a="http://schemas.openxmlformats.org/drawingml/2006/main">
              <a:ext uri="{FF2B5EF4-FFF2-40B4-BE49-F238E27FC236}">
                <a16:creationId xmlns:a16="http://schemas.microsoft.com/office/drawing/2014/main" id="{DAB90513-16B8-4E41-A224-3BC11150819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C570186-EA82-46C3-844F-BB8FDC22355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imputer learns replacement values, such as a median, from training features only.</a:t>
            </a:r>
          </a:p>
        </p:txBody>
      </p:sp>
      <p:sp>
        <p:nvSpPr>
          <p:cNvPr id="6" name="">
            <a:extLst xmlns:a="http://schemas.openxmlformats.org/drawingml/2006/main">
              <a:ext uri="{FF2B5EF4-FFF2-40B4-BE49-F238E27FC236}">
                <a16:creationId xmlns:a16="http://schemas.microsoft.com/office/drawing/2014/main" id="{0FC47C63-2628-4372-92F1-D0271433BD1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2051A8-CDEB-437A-96D5-6F3B1BEFCC6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pipeline applies the same learned replacement before fitting or predicting.</a:t>
            </a:r>
          </a:p>
        </p:txBody>
      </p:sp>
      <p:sp>
        <p:nvSpPr>
          <p:cNvPr id="8" name="">
            <a:extLst xmlns:a="http://schemas.openxmlformats.org/drawingml/2006/main">
              <a:ext uri="{FF2B5EF4-FFF2-40B4-BE49-F238E27FC236}">
                <a16:creationId xmlns:a16="http://schemas.microsoft.com/office/drawing/2014/main" id="{3963FC8E-F855-49F7-81DE-EA59CE1F261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7FA9EFB-4B3C-48DE-8C7B-F64C6DB2424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baseline, linear model and tree on the same validation rows. Keep final test rows separate.</a:t>
            </a:r>
          </a:p>
        </p:txBody>
      </p:sp>
      <p:sp>
        <p:nvSpPr>
          <p:cNvPr id="10" name="">
            <a:extLst xmlns:a="http://schemas.openxmlformats.org/drawingml/2006/main">
              <a:ext uri="{FF2B5EF4-FFF2-40B4-BE49-F238E27FC236}">
                <a16:creationId xmlns:a16="http://schemas.microsoft.com/office/drawing/2014/main" id="{80DE949F-F996-4B87-8ADE-FA77D85F6D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40</a:t>
            </a:r>
          </a:p>
        </p:txBody>
      </p:sp>
    </p:spTree>
    <p:extLst>
      <p:ext uri="{BB962C8B-B14F-4D97-AF65-F5344CB8AC3E}">
        <p14:creationId xmlns:p14="http://schemas.microsoft.com/office/powerpoint/2010/main" val="120201532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E687DD-585A-4381-8E00-22E9B29FF5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92C0A7-4B11-4A1A-AC59-887025563D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F528114-E0E5-4438-B6B3-DEC03512F4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pipeline with a median imputer</a:t>
            </a:r>
          </a:p>
        </p:txBody>
      </p:sp>
      <p:sp>
        <p:nvSpPr>
          <p:cNvPr id="4" name="">
            <a:extLst xmlns:a="http://schemas.openxmlformats.org/drawingml/2006/main">
              <a:ext uri="{FF2B5EF4-FFF2-40B4-BE49-F238E27FC236}">
                <a16:creationId xmlns:a16="http://schemas.microsoft.com/office/drawing/2014/main" id="{4867568C-C802-4F43-B5EA-767362C643A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81ABA8F-A649-4E44-8754-2C4AB6A8E7C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SimpleImputer(strategy="median") learns one median per training feature.</a:t>
            </a:r>
          </a:p>
        </p:txBody>
      </p:sp>
      <p:sp>
        <p:nvSpPr>
          <p:cNvPr id="6" name="">
            <a:extLst xmlns:a="http://schemas.openxmlformats.org/drawingml/2006/main">
              <a:ext uri="{FF2B5EF4-FFF2-40B4-BE49-F238E27FC236}">
                <a16:creationId xmlns:a16="http://schemas.microsoft.com/office/drawing/2014/main" id="{B69F727C-1EC4-4574-BD8C-2D0095EFAE7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C0031A-2547-4137-A092-DB820AB96E8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make_pipeline(imputer, model) applies the imputer before the linear_model.</a:t>
            </a:r>
          </a:p>
        </p:txBody>
      </p:sp>
      <p:sp>
        <p:nvSpPr>
          <p:cNvPr id="8" name="">
            <a:extLst xmlns:a="http://schemas.openxmlformats.org/drawingml/2006/main">
              <a:ext uri="{FF2B5EF4-FFF2-40B4-BE49-F238E27FC236}">
                <a16:creationId xmlns:a16="http://schemas.microsoft.com/office/drawing/2014/main" id="{513CDC0A-920B-4142-B953-25200485EDB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B8D5D66-4FF5-4183-9189-C9B1F6FDA9B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fit on the pipeline learns both stages using training rows only.</a:t>
            </a:r>
          </a:p>
        </p:txBody>
      </p:sp>
      <p:sp>
        <p:nvSpPr>
          <p:cNvPr id="10" name="">
            <a:extLst xmlns:a="http://schemas.openxmlformats.org/drawingml/2006/main">
              <a:ext uri="{FF2B5EF4-FFF2-40B4-BE49-F238E27FC236}">
                <a16:creationId xmlns:a16="http://schemas.microsoft.com/office/drawing/2014/main" id="{B840DEF4-ABF5-40A5-AEE0-8DF4A3BAD7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41</a:t>
            </a:r>
          </a:p>
        </p:txBody>
      </p:sp>
    </p:spTree>
    <p:extLst>
      <p:ext uri="{BB962C8B-B14F-4D97-AF65-F5344CB8AC3E}">
        <p14:creationId xmlns:p14="http://schemas.microsoft.com/office/powerpoint/2010/main" val="168067433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408D5D-0D52-4745-BAC7-E3F6B84F91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20FB19-9E5B-4426-8611-DF11525053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CE6ED3-97C2-4D84-92A9-092B116CCD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872DABA0-404C-440B-B2F4-0BD6B77BA30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DB45F6-1993-4FAC-908B-AD8F99DA253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feature_columns: the list of input column names supplied to the model.</a:t>
            </a:r>
          </a:p>
        </p:txBody>
      </p:sp>
      <p:sp>
        <p:nvSpPr>
          <p:cNvPr id="6" name="">
            <a:extLst xmlns:a="http://schemas.openxmlformats.org/drawingml/2006/main">
              <a:ext uri="{FF2B5EF4-FFF2-40B4-BE49-F238E27FC236}">
                <a16:creationId xmlns:a16="http://schemas.microsoft.com/office/drawing/2014/main" id="{EAC130D5-D66D-4CAF-A837-4E0798DF96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42</a:t>
            </a:r>
          </a:p>
        </p:txBody>
      </p:sp>
    </p:spTree>
    <p:extLst>
      <p:ext uri="{BB962C8B-B14F-4D97-AF65-F5344CB8AC3E}">
        <p14:creationId xmlns:p14="http://schemas.microsoft.com/office/powerpoint/2010/main" val="28851517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65EE18-9F31-4736-857D-53CB10B983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4430F1-A3C5-41DA-B15C-B8430340C2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989E8E4-29D9-4D60-ADCF-A8354CED26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B9EE8FF9-81DA-4857-B3EF-B7958CFDC65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81D9F2-7D98-4286-8519-9A438A7A23F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sklearn.tree import DecisionTreeRegressor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 "ambient"]</a:t>
            </a:r>
          </a:p>
        </p:txBody>
      </p:sp>
      <p:sp>
        <p:nvSpPr>
          <p:cNvPr id="6" name="">
            <a:extLst xmlns:a="http://schemas.openxmlformats.org/drawingml/2006/main">
              <a:ext uri="{FF2B5EF4-FFF2-40B4-BE49-F238E27FC236}">
                <a16:creationId xmlns:a16="http://schemas.microsoft.com/office/drawing/2014/main" id="{C307F907-3B09-41BA-9801-61428DC624C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feature_columns: the list of input column names supplied to the model.</a:t>
            </a:r>
          </a:p>
        </p:txBody>
      </p:sp>
      <p:sp>
        <p:nvSpPr>
          <p:cNvPr id="7" name="">
            <a:extLst xmlns:a="http://schemas.openxmlformats.org/drawingml/2006/main">
              <a:ext uri="{FF2B5EF4-FFF2-40B4-BE49-F238E27FC236}">
                <a16:creationId xmlns:a16="http://schemas.microsoft.com/office/drawing/2014/main" id="{5D90D156-2FEF-4218-9E86-A66C417545E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DE15975-A42C-4AA8-8E17-27AA894663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43</a:t>
            </a:r>
          </a:p>
        </p:txBody>
      </p:sp>
    </p:spTree>
    <p:extLst>
      <p:ext uri="{BB962C8B-B14F-4D97-AF65-F5344CB8AC3E}">
        <p14:creationId xmlns:p14="http://schemas.microsoft.com/office/powerpoint/2010/main" val="6580504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5B25E3-F957-4241-AD3E-1598F16280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7776AC-1F35-49E5-89D4-1181751053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B895C6-6F48-4EEE-98FE-5E4DB09BBA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4C1FA148-0D2D-4437-A9B6-845EB136356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A5B139-64A7-4E6E-AFED-120713F6842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70D0EB48-401C-4330-BAEC-421CB0BB372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F35A2FF6-85D9-4027-88D4-A7D48AE1D2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44</a:t>
            </a:r>
          </a:p>
        </p:txBody>
      </p:sp>
    </p:spTree>
    <p:extLst>
      <p:ext uri="{BB962C8B-B14F-4D97-AF65-F5344CB8AC3E}">
        <p14:creationId xmlns:p14="http://schemas.microsoft.com/office/powerpoint/2010/main" val="200075942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11AAF7-1A71-4B2A-A99F-DF6953C832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FF4659-2410-4C9D-A914-5B6D41C05B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4DA108-8B87-48DF-B5A6-05E97CB370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2</a:t>
            </a:r>
          </a:p>
        </p:txBody>
      </p:sp>
      <p:sp>
        <p:nvSpPr>
          <p:cNvPr id="4" name="">
            <a:extLst xmlns:a="http://schemas.openxmlformats.org/drawingml/2006/main">
              <a:ext uri="{FF2B5EF4-FFF2-40B4-BE49-F238E27FC236}">
                <a16:creationId xmlns:a16="http://schemas.microsoft.com/office/drawing/2014/main" id="{0C4E3D3C-C082-46EF-8F70-3E57114DD41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1E1A5C-791A-4988-8E1E-5A7F6893973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p:txBody>
      </p:sp>
      <p:sp>
        <p:nvSpPr>
          <p:cNvPr id="6" name="">
            <a:extLst xmlns:a="http://schemas.openxmlformats.org/drawingml/2006/main">
              <a:ext uri="{FF2B5EF4-FFF2-40B4-BE49-F238E27FC236}">
                <a16:creationId xmlns:a16="http://schemas.microsoft.com/office/drawing/2014/main" id="{AAB1FFD0-0E08-439A-AEDE-99626DF40FC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DB445A4-8DF0-4020-9507-90C5899D39D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feature_columns: the list of input column names supplied to the model.</a:t>
            </a:r>
          </a:p>
        </p:txBody>
      </p:sp>
      <p:sp>
        <p:nvSpPr>
          <p:cNvPr id="8" name="">
            <a:extLst xmlns:a="http://schemas.openxmlformats.org/drawingml/2006/main">
              <a:ext uri="{FF2B5EF4-FFF2-40B4-BE49-F238E27FC236}">
                <a16:creationId xmlns:a16="http://schemas.microsoft.com/office/drawing/2014/main" id="{3C5D5F54-2DAA-4236-9034-9F1EB5B1229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F0EA6471-4061-4BEA-9536-8B7C62187D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45</a:t>
            </a:r>
          </a:p>
        </p:txBody>
      </p:sp>
    </p:spTree>
    <p:extLst>
      <p:ext uri="{BB962C8B-B14F-4D97-AF65-F5344CB8AC3E}">
        <p14:creationId xmlns:p14="http://schemas.microsoft.com/office/powerpoint/2010/main" val="36067290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EF9774-7EC7-4B0D-AB13-88114032C0E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0A461-48E9-44D3-94D3-D80C865950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597123-E2BF-4EBA-9841-B6C1D3A53E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AD5B0674-AE66-492D-9DE7-FB20ECAE183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B52FAB-3144-45D7-BFF4-F3393127C7A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A782A3-8E07-4F98-98FD-1A5A0F0470B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88319005-E09F-4F45-B588-A7B1CFDC1EC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10556413-AED7-4718-B9A8-05C6247BF5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46</a:t>
            </a:r>
          </a:p>
        </p:txBody>
      </p:sp>
    </p:spTree>
    <p:extLst>
      <p:ext uri="{BB962C8B-B14F-4D97-AF65-F5344CB8AC3E}">
        <p14:creationId xmlns:p14="http://schemas.microsoft.com/office/powerpoint/2010/main" val="103022739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1DE269-69BC-48BB-88EC-27298F29AB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1A2A9F-66BE-4D67-8DED-10774E8925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7335011-3877-4117-A6CF-824E3E79B2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linear pipeline</a:t>
            </a:r>
          </a:p>
        </p:txBody>
      </p:sp>
      <p:sp>
        <p:nvSpPr>
          <p:cNvPr id="4" name="">
            <a:extLst xmlns:a="http://schemas.openxmlformats.org/drawingml/2006/main">
              <a:ext uri="{FF2B5EF4-FFF2-40B4-BE49-F238E27FC236}">
                <a16:creationId xmlns:a16="http://schemas.microsoft.com/office/drawing/2014/main" id="{F143BF06-3EA4-4C9D-86E1-A3113FE1904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1060E4-8EAC-467A-8164-508D7185687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linear_predictions = linear_pipeline.predict(X_valid)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print(linear_predictions.round(2))</a:t>
            </a:r>
          </a:p>
        </p:txBody>
      </p:sp>
      <p:sp>
        <p:nvSpPr>
          <p:cNvPr id="6" name="">
            <a:extLst xmlns:a="http://schemas.openxmlformats.org/drawingml/2006/main">
              <a:ext uri="{FF2B5EF4-FFF2-40B4-BE49-F238E27FC236}">
                <a16:creationId xmlns:a16="http://schemas.microsoft.com/office/drawing/2014/main" id="{6C5CA923-F144-495E-BA02-FE293F5620B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linear_pipeline: median imputer followed by linear regression.</a:t>
            </a:r>
          </a:p>
        </p:txBody>
      </p:sp>
      <p:sp>
        <p:nvSpPr>
          <p:cNvPr id="7" name="">
            <a:extLst xmlns:a="http://schemas.openxmlformats.org/drawingml/2006/main">
              <a:ext uri="{FF2B5EF4-FFF2-40B4-BE49-F238E27FC236}">
                <a16:creationId xmlns:a16="http://schemas.microsoft.com/office/drawing/2014/main" id="{ED7D90B8-EFE7-4BF9-82A1-D27344FC105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C952AD34-3AE7-496D-BCC0-62A1311048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47</a:t>
            </a:r>
          </a:p>
        </p:txBody>
      </p:sp>
    </p:spTree>
    <p:extLst>
      <p:ext uri="{BB962C8B-B14F-4D97-AF65-F5344CB8AC3E}">
        <p14:creationId xmlns:p14="http://schemas.microsoft.com/office/powerpoint/2010/main" val="193779371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FB04D6-1C69-47B0-BAF1-D037C0ABCF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6FEDFD-29E4-46C4-9F36-974160EAF3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19F6A52-B23C-4E73-B1D1-52EBDFCED7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shallow decision tree</a:t>
            </a:r>
          </a:p>
        </p:txBody>
      </p:sp>
      <p:sp>
        <p:nvSpPr>
          <p:cNvPr id="4" name="">
            <a:extLst xmlns:a="http://schemas.openxmlformats.org/drawingml/2006/main">
              <a:ext uri="{FF2B5EF4-FFF2-40B4-BE49-F238E27FC236}">
                <a16:creationId xmlns:a16="http://schemas.microsoft.com/office/drawing/2014/main" id="{BECB33CE-B758-4DDC-B2AE-C265026937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F146F53-CB22-4CF5-B0BB-DC064888046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regression tree divides training rows using feature thresholds and predicts a value within each resulting group.</a:t>
            </a:r>
          </a:p>
        </p:txBody>
      </p:sp>
      <p:sp>
        <p:nvSpPr>
          <p:cNvPr id="6" name="">
            <a:extLst xmlns:a="http://schemas.openxmlformats.org/drawingml/2006/main">
              <a:ext uri="{FF2B5EF4-FFF2-40B4-BE49-F238E27FC236}">
                <a16:creationId xmlns:a16="http://schemas.microsoft.com/office/drawing/2014/main" id="{8D6D34BE-8395-4AC6-AC93-455C1EC963F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A491F3A-C470-4068-A5F9-4EBA125F7E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max_depth limits the number of levels of splits. random_state fixes the random choices for repeatability.</a:t>
            </a:r>
          </a:p>
        </p:txBody>
      </p:sp>
      <p:sp>
        <p:nvSpPr>
          <p:cNvPr id="8" name="">
            <a:extLst xmlns:a="http://schemas.openxmlformats.org/drawingml/2006/main">
              <a:ext uri="{FF2B5EF4-FFF2-40B4-BE49-F238E27FC236}">
                <a16:creationId xmlns:a16="http://schemas.microsoft.com/office/drawing/2014/main" id="{C8666BE2-701E-4A52-86E4-23CB9B5529E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DAE0B1-7486-4B45-8AB8-52E0F237E88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these tiny training data, loads above the observed range receive the larger training target.</a:t>
            </a:r>
          </a:p>
        </p:txBody>
      </p:sp>
      <p:sp>
        <p:nvSpPr>
          <p:cNvPr id="10" name="">
            <a:extLst xmlns:a="http://schemas.openxmlformats.org/drawingml/2006/main">
              <a:ext uri="{FF2B5EF4-FFF2-40B4-BE49-F238E27FC236}">
                <a16:creationId xmlns:a16="http://schemas.microsoft.com/office/drawing/2014/main" id="{3073E30C-E782-4656-98D8-901DE33973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48</a:t>
            </a:r>
          </a:p>
        </p:txBody>
      </p:sp>
    </p:spTree>
    <p:extLst>
      <p:ext uri="{BB962C8B-B14F-4D97-AF65-F5344CB8AC3E}">
        <p14:creationId xmlns:p14="http://schemas.microsoft.com/office/powerpoint/2010/main" val="176113082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7C1168-FE65-4E94-B06B-0732F92F1E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66B85C-6B3B-4B60-9813-D5354AAB80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5A940C2-351D-4F91-8AE5-3124197F21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 regression tree</a:t>
            </a:r>
          </a:p>
        </p:txBody>
      </p:sp>
      <p:sp>
        <p:nvSpPr>
          <p:cNvPr id="4" name="">
            <a:extLst xmlns:a="http://schemas.openxmlformats.org/drawingml/2006/main">
              <a:ext uri="{FF2B5EF4-FFF2-40B4-BE49-F238E27FC236}">
                <a16:creationId xmlns:a16="http://schemas.microsoft.com/office/drawing/2014/main" id="{0F2F401F-553E-4148-A839-73D15109632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F43BFB-B0FE-4784-82FD-B742A4AE31DD}"/>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DecisionTreeRegressor splits inputs into regions with different predicted values. max_depth limits the number of split levels. random_state fixes random choices so the example can be repeated.</a:t>
            </a:r>
          </a:p>
        </p:txBody>
      </p:sp>
      <p:sp>
        <p:nvSpPr>
          <p:cNvPr id="6" name="">
            <a:extLst xmlns:a="http://schemas.openxmlformats.org/drawingml/2006/main">
              <a:ext uri="{FF2B5EF4-FFF2-40B4-BE49-F238E27FC236}">
                <a16:creationId xmlns:a16="http://schemas.microsoft.com/office/drawing/2014/main" id="{A51F2844-C9CC-44AB-9846-E9B40F3E4B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49</a:t>
            </a:r>
          </a:p>
        </p:txBody>
      </p:sp>
    </p:spTree>
    <p:extLst>
      <p:ext uri="{BB962C8B-B14F-4D97-AF65-F5344CB8AC3E}">
        <p14:creationId xmlns:p14="http://schemas.microsoft.com/office/powerpoint/2010/main" val="159880461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BF9821-1477-4B03-B3FC-E6A3097316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EE4E06-A847-4659-A35B-C7CB1584C3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DD9453C-BFCF-4567-8A6D-C492AD29AF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a second kind of model</a:t>
            </a:r>
          </a:p>
        </p:txBody>
      </p:sp>
      <p:sp>
        <p:nvSpPr>
          <p:cNvPr id="4" name="">
            <a:extLst xmlns:a="http://schemas.openxmlformats.org/drawingml/2006/main">
              <a:ext uri="{FF2B5EF4-FFF2-40B4-BE49-F238E27FC236}">
                <a16:creationId xmlns:a16="http://schemas.microsoft.com/office/drawing/2014/main" id="{DAA2CD98-0A11-4C3E-912E-1BDE21A11C8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479B2-B181-4180-932C-BB4A7E6486E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regression tree learns splits in the input columns. max_depth limits its split levels.</a:t>
            </a:r>
          </a:p>
        </p:txBody>
      </p:sp>
      <p:sp>
        <p:nvSpPr>
          <p:cNvPr id="6" name="">
            <a:extLst xmlns:a="http://schemas.openxmlformats.org/drawingml/2006/main">
              <a:ext uri="{FF2B5EF4-FFF2-40B4-BE49-F238E27FC236}">
                <a16:creationId xmlns:a16="http://schemas.microsoft.com/office/drawing/2014/main" id="{4B3A8857-C8F8-4B3C-B0AD-07BBC5A3697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imputer fills missing inputs using training medians; the tree then learns from those filled inputs.</a:t>
            </a:r>
          </a:p>
        </p:txBody>
      </p:sp>
      <p:sp>
        <p:nvSpPr>
          <p:cNvPr id="7" name="">
            <a:extLst xmlns:a="http://schemas.openxmlformats.org/drawingml/2006/main">
              <a:ext uri="{FF2B5EF4-FFF2-40B4-BE49-F238E27FC236}">
                <a16:creationId xmlns:a16="http://schemas.microsoft.com/office/drawing/2014/main" id="{67405A2F-385F-4BAC-B463-66373E44B1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50</a:t>
            </a:r>
          </a:p>
        </p:txBody>
      </p:sp>
    </p:spTree>
    <p:extLst>
      <p:ext uri="{BB962C8B-B14F-4D97-AF65-F5344CB8AC3E}">
        <p14:creationId xmlns:p14="http://schemas.microsoft.com/office/powerpoint/2010/main" val="59855389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E2E39C-109E-4409-B808-C5F42DDA68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79183D-BC67-479F-8AED-6E5F865F5C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C5B306B-02E5-4157-AA6B-1F052E5DD0A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tree pipeline</a:t>
            </a:r>
          </a:p>
        </p:txBody>
      </p:sp>
      <p:sp>
        <p:nvSpPr>
          <p:cNvPr id="4" name="">
            <a:extLst xmlns:a="http://schemas.openxmlformats.org/drawingml/2006/main">
              <a:ext uri="{FF2B5EF4-FFF2-40B4-BE49-F238E27FC236}">
                <a16:creationId xmlns:a16="http://schemas.microsoft.com/office/drawing/2014/main" id="{E45949A7-853A-422C-95E1-3DFA9B6F338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DC3C1F-ECC2-4AED-ACFF-ED70B8BF71D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DecisionTreeRegressor(max_depth=2, random_state=7),</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tree_predictions = tree_model.predict(X_valid)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print(tree_predictions)</a:t>
            </a:r>
          </a:p>
        </p:txBody>
      </p:sp>
      <p:sp>
        <p:nvSpPr>
          <p:cNvPr id="6" name="">
            <a:extLst xmlns:a="http://schemas.openxmlformats.org/drawingml/2006/main">
              <a:ext uri="{FF2B5EF4-FFF2-40B4-BE49-F238E27FC236}">
                <a16:creationId xmlns:a16="http://schemas.microsoft.com/office/drawing/2014/main" id="{61E25C94-2E6B-4C28-B7B3-75F733E0C56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tree_model: the tree regression pipeline being compared on the same validation rows.</a:t>
            </a:r>
          </a:p>
        </p:txBody>
      </p:sp>
      <p:sp>
        <p:nvSpPr>
          <p:cNvPr id="7" name="">
            <a:extLst xmlns:a="http://schemas.openxmlformats.org/drawingml/2006/main">
              <a:ext uri="{FF2B5EF4-FFF2-40B4-BE49-F238E27FC236}">
                <a16:creationId xmlns:a16="http://schemas.microsoft.com/office/drawing/2014/main" id="{4051D906-B4EE-4CCE-A988-0C265502CE3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5F5D78E-5BAA-4E97-9A78-DE64E7C9ED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51</a:t>
            </a:r>
          </a:p>
        </p:txBody>
      </p:sp>
    </p:spTree>
    <p:extLst>
      <p:ext uri="{BB962C8B-B14F-4D97-AF65-F5344CB8AC3E}">
        <p14:creationId xmlns:p14="http://schemas.microsoft.com/office/powerpoint/2010/main" val="113621619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A4CD9F-FE89-44C8-8FE3-F74E3A52F4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10C244-7588-4902-88D8-63F7CF4269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F49F60C-51A7-4F70-897A-75270ADED4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the three models</a:t>
            </a:r>
          </a:p>
        </p:txBody>
      </p:sp>
      <p:sp>
        <p:nvSpPr>
          <p:cNvPr id="4" name="">
            <a:extLst xmlns:a="http://schemas.openxmlformats.org/drawingml/2006/main">
              <a:ext uri="{FF2B5EF4-FFF2-40B4-BE49-F238E27FC236}">
                <a16:creationId xmlns:a16="http://schemas.microsoft.com/office/drawing/2014/main" id="{22A6DCB7-B045-4BCC-AB98-473347CB297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BD50536-3AAA-4533-B07D-296C02BD18F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targets: 30 and 40.</a:t>
            </a:r>
          </a:p>
        </p:txBody>
      </p:sp>
      <p:sp>
        <p:nvSpPr>
          <p:cNvPr id="6" name="">
            <a:extLst xmlns:a="http://schemas.openxmlformats.org/drawingml/2006/main">
              <a:ext uri="{FF2B5EF4-FFF2-40B4-BE49-F238E27FC236}">
                <a16:creationId xmlns:a16="http://schemas.microsoft.com/office/drawing/2014/main" id="{744F51E1-C47F-4861-91B1-D757D933AF8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1ABFB65-7868-45BF-B720-886DD7548DD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predictions: 15, 15. Linear: 30, 40. Tree: 20, 20.</a:t>
            </a:r>
          </a:p>
        </p:txBody>
      </p:sp>
      <p:sp>
        <p:nvSpPr>
          <p:cNvPr id="8" name="">
            <a:extLst xmlns:a="http://schemas.openxmlformats.org/drawingml/2006/main">
              <a:ext uri="{FF2B5EF4-FFF2-40B4-BE49-F238E27FC236}">
                <a16:creationId xmlns:a16="http://schemas.microsoft.com/office/drawing/2014/main" id="{E54C7079-8510-4F3E-9AF3-2F5BFAE23D7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A13464-C107-4C18-B6EB-55932C2974C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for each linear_model. Which performs best on these two rows?</a:t>
            </a:r>
          </a:p>
        </p:txBody>
      </p:sp>
      <p:sp>
        <p:nvSpPr>
          <p:cNvPr id="10" name="">
            <a:extLst xmlns:a="http://schemas.openxmlformats.org/drawingml/2006/main">
              <a:ext uri="{FF2B5EF4-FFF2-40B4-BE49-F238E27FC236}">
                <a16:creationId xmlns:a16="http://schemas.microsoft.com/office/drawing/2014/main" id="{E3B2D06A-22B0-4E62-8574-1CBFECB577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52</a:t>
            </a:r>
          </a:p>
        </p:txBody>
      </p:sp>
    </p:spTree>
    <p:extLst>
      <p:ext uri="{BB962C8B-B14F-4D97-AF65-F5344CB8AC3E}">
        <p14:creationId xmlns:p14="http://schemas.microsoft.com/office/powerpoint/2010/main" val="18509922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536AF4-B1C5-4B98-8EB4-A41B62C7DE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BB5A7A-3243-4B86-B018-FDF5D150FD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3E0B644-6257-427B-9CC9-5A63AD6FAB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38BFDBFF-A070-4BFB-A266-4115E208A25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7666950-33FC-47A7-A7BB-CAD988FF6FD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MAE 20, RMSE 20.62 °C.</a:t>
            </a:r>
          </a:p>
        </p:txBody>
      </p:sp>
      <p:sp>
        <p:nvSpPr>
          <p:cNvPr id="6" name="">
            <a:extLst xmlns:a="http://schemas.openxmlformats.org/drawingml/2006/main">
              <a:ext uri="{FF2B5EF4-FFF2-40B4-BE49-F238E27FC236}">
                <a16:creationId xmlns:a16="http://schemas.microsoft.com/office/drawing/2014/main" id="{79118E34-0C30-4BD5-8418-D600D192AF8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CB32E4-52B0-4938-88BD-1EF7729EB56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MAE 0, RMSE 0 °C. Tree: MAE 15, RMSE 15.81 °C.</a:t>
            </a:r>
          </a:p>
        </p:txBody>
      </p:sp>
      <p:sp>
        <p:nvSpPr>
          <p:cNvPr id="8" name="">
            <a:extLst xmlns:a="http://schemas.openxmlformats.org/drawingml/2006/main">
              <a:ext uri="{FF2B5EF4-FFF2-40B4-BE49-F238E27FC236}">
                <a16:creationId xmlns:a16="http://schemas.microsoft.com/office/drawing/2014/main" id="{0BD7A926-6D4F-4FC8-8973-F9D4A486E07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A3CFB89-4F33-4471-B5CE-0E9BEF2E9C1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performs best here. Two synthetic rows do not prove performance on new equipment.</a:t>
            </a:r>
          </a:p>
        </p:txBody>
      </p:sp>
      <p:sp>
        <p:nvSpPr>
          <p:cNvPr id="10" name="">
            <a:extLst xmlns:a="http://schemas.openxmlformats.org/drawingml/2006/main">
              <a:ext uri="{FF2B5EF4-FFF2-40B4-BE49-F238E27FC236}">
                <a16:creationId xmlns:a16="http://schemas.microsoft.com/office/drawing/2014/main" id="{CEFE4B6D-DCDE-46B6-A42E-15349F4E45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53</a:t>
            </a:r>
          </a:p>
        </p:txBody>
      </p:sp>
    </p:spTree>
    <p:extLst>
      <p:ext uri="{BB962C8B-B14F-4D97-AF65-F5344CB8AC3E}">
        <p14:creationId xmlns:p14="http://schemas.microsoft.com/office/powerpoint/2010/main" val="126514791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13BC83-C6FD-4190-894D-BD127C52DC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EF558B-2CDB-4132-9350-3658CEFE99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7447F7C-EB3C-43C4-92ED-4B5FBEEB66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2 revision checklist</a:t>
            </a:r>
          </a:p>
        </p:txBody>
      </p:sp>
      <p:sp>
        <p:nvSpPr>
          <p:cNvPr id="4" name="">
            <a:extLst xmlns:a="http://schemas.openxmlformats.org/drawingml/2006/main">
              <a:ext uri="{FF2B5EF4-FFF2-40B4-BE49-F238E27FC236}">
                <a16:creationId xmlns:a16="http://schemas.microsoft.com/office/drawing/2014/main" id="{318DA5A8-7C4E-41FF-908A-9C48B0B14F1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F9A710-C765-4FEE-B3CF-8DC39618996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machine split and why the ambient median must come from training rows.</a:t>
            </a:r>
          </a:p>
        </p:txBody>
      </p:sp>
      <p:sp>
        <p:nvSpPr>
          <p:cNvPr id="6" name="">
            <a:extLst xmlns:a="http://schemas.openxmlformats.org/drawingml/2006/main">
              <a:ext uri="{FF2B5EF4-FFF2-40B4-BE49-F238E27FC236}">
                <a16:creationId xmlns:a16="http://schemas.microsoft.com/office/drawing/2014/main" id="{730C1F3E-D7C6-490C-A2D3-411E91EFDA8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F878D1B-B3B8-4DA5-BE22-BD0B620B9A2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Rerun both pipelines. Compare their predictions with the baseline on the same validation rows.</a:t>
            </a:r>
          </a:p>
        </p:txBody>
      </p:sp>
      <p:sp>
        <p:nvSpPr>
          <p:cNvPr id="8" name="">
            <a:extLst xmlns:a="http://schemas.openxmlformats.org/drawingml/2006/main">
              <a:ext uri="{FF2B5EF4-FFF2-40B4-BE49-F238E27FC236}">
                <a16:creationId xmlns:a16="http://schemas.microsoft.com/office/drawing/2014/main" id="{DB74BA9E-7160-44FB-8161-F8A02776B55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DBB5FFF-5C70-4D47-82C0-9F0A9C38C29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and explain why a perfect result on this tiny file is not proof of generalisation.</a:t>
            </a:r>
          </a:p>
        </p:txBody>
      </p:sp>
      <p:sp>
        <p:nvSpPr>
          <p:cNvPr id="10" name="">
            <a:extLst xmlns:a="http://schemas.openxmlformats.org/drawingml/2006/main">
              <a:ext uri="{FF2B5EF4-FFF2-40B4-BE49-F238E27FC236}">
                <a16:creationId xmlns:a16="http://schemas.microsoft.com/office/drawing/2014/main" id="{6DEA8AEB-4CB0-4CFE-91D0-0BE28488D6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54</a:t>
            </a:r>
          </a:p>
        </p:txBody>
      </p:sp>
    </p:spTree>
    <p:extLst>
      <p:ext uri="{BB962C8B-B14F-4D97-AF65-F5344CB8AC3E}">
        <p14:creationId xmlns:p14="http://schemas.microsoft.com/office/powerpoint/2010/main" val="177947707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9CC78C-8A7E-43F5-B656-378618CEA5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1AF126-A7D9-4511-AFAF-7F058161A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D8CEF96-0470-40E9-98B7-04D3D99DDD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544674F6-9DE1-4355-A52B-6FD3E4FCF3F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7BE435C-AF29-45DF-95F9-8E36B207808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C26317B1-D802-44FC-84E3-4AE840F54B0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934568D-D469-414E-89F4-8D654A11EE4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EEF06211-C605-424F-AF5A-F967B9633CE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A843FCB-9B59-4B96-88DC-ADEE4C8ED78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15F0AE8A-1933-4AFE-BBFC-244E5EAE0C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55</a:t>
            </a:r>
          </a:p>
        </p:txBody>
      </p:sp>
    </p:spTree>
    <p:extLst>
      <p:ext uri="{BB962C8B-B14F-4D97-AF65-F5344CB8AC3E}">
        <p14:creationId xmlns:p14="http://schemas.microsoft.com/office/powerpoint/2010/main" val="182557609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78BB93-EEAC-4A0B-91F2-90D4D4DC23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146361-535A-40DA-A030-C366BF415D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3F14FAA-F1B3-4061-A965-8340589753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84991B1B-CE21-4AF8-B205-E6E36445150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CE1A73-F7CE-4F8E-9246-CE73A82B07ED}"/>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76030956-FFA0-4ECB-AE10-D70B2D15F1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56</a:t>
            </a:r>
          </a:p>
        </p:txBody>
      </p:sp>
    </p:spTree>
    <p:extLst>
      <p:ext uri="{BB962C8B-B14F-4D97-AF65-F5344CB8AC3E}">
        <p14:creationId xmlns:p14="http://schemas.microsoft.com/office/powerpoint/2010/main" val="179463522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F2829D-E293-411A-93C9-EB6C700370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8FDF99-0397-4FF0-879D-254A966E5F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82396A5-8934-40EA-87F4-1DACCC4B0E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26AD5F24-FA66-46C0-A60B-077226F84C7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A445A6-8D83-4DB3-8361-5F7A630EE20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average_reading(values):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reading_values = pd.Series(values)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float(reading_values.mean())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print(average_reading(raw_data["load"]))</a:t>
            </a:r>
          </a:p>
        </p:txBody>
      </p:sp>
      <p:sp>
        <p:nvSpPr>
          <p:cNvPr id="6" name="">
            <a:extLst xmlns:a="http://schemas.openxmlformats.org/drawingml/2006/main">
              <a:ext uri="{FF2B5EF4-FFF2-40B4-BE49-F238E27FC236}">
                <a16:creationId xmlns:a16="http://schemas.microsoft.com/office/drawing/2014/main" id="{0C9F5604-7719-4E19-B67A-DD52C645DDB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6DD6470-6CEF-4C4B-A90C-77745DF8AC5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DAFB5D6F-2B85-4F5A-9322-08B0B658E45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A926EA76-DAFE-4F63-A08F-0A002C63E4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57</a:t>
            </a:r>
          </a:p>
        </p:txBody>
      </p:sp>
    </p:spTree>
    <p:extLst>
      <p:ext uri="{BB962C8B-B14F-4D97-AF65-F5344CB8AC3E}">
        <p14:creationId xmlns:p14="http://schemas.microsoft.com/office/powerpoint/2010/main" val="83555339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34DB07-7229-4306-9138-FBC8F2AE0C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17A225-1757-4E08-AA31-7884819219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E7F18C2-ACDA-4F7D-8263-3A2B7680C7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A1A5987E-3654-4119-AFF0-CBDEE85DF0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EDA504F-B9EC-449F-BD0C-A9AD120A72D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2617DBF3-0B86-4F8F-BE80-1DFFAE0C466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D6586E7-4394-4D7F-84B7-D43C244B5E1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7EC2DDCA-4DCF-49D9-9EA1-7AF80FE8278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F1E8DC-4945-4205-84A3-212AAFF7755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16970B05-8108-4822-BFEB-20282702F7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58</a:t>
            </a:r>
          </a:p>
        </p:txBody>
      </p:sp>
    </p:spTree>
    <p:extLst>
      <p:ext uri="{BB962C8B-B14F-4D97-AF65-F5344CB8AC3E}">
        <p14:creationId xmlns:p14="http://schemas.microsoft.com/office/powerpoint/2010/main" val="907545305"/>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C4D472-CB59-4286-990B-D53D8B4EB3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AF3AD9-6267-4B5D-8D40-B45E802447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B2242D-B3AB-44F6-A3BB-09B28B2014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2EEF73AC-0CC7-42E0-B689-1BE1D4957B1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760E95-B0A6-454B-A742-16D327049E3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DECISIONS = {"practice": "B"}</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CC774051-8DE4-43C2-AEC1-FCDB311F18B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BD1D91A-C854-4227-B337-2601D444424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6885FB00-AF67-48DF-97F3-6D56C4824E4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CE2DBB9F-9545-46CC-A2E8-5D84E08ABB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59</a:t>
            </a:r>
          </a:p>
        </p:txBody>
      </p:sp>
    </p:spTree>
    <p:extLst>
      <p:ext uri="{BB962C8B-B14F-4D97-AF65-F5344CB8AC3E}">
        <p14:creationId xmlns:p14="http://schemas.microsoft.com/office/powerpoint/2010/main" val="89354352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C4F67D-D601-44CF-92AA-5B6F6F8ED2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496CEA-509A-40A9-B937-80E9606DFD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CC2C350-AC37-4EDD-8721-2D89C6AE9C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14935766-8744-4B74-8286-D952D30F179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9724355-FC22-4244-A297-238A471AC43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F29AD591-DB7B-447B-ADA2-8AAC905D762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780BBAD-4B88-47B0-89A7-98587AC1440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8744301C-5956-4153-ACF2-0701E29A9F5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123416-5023-46BC-B701-E3DED51736C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test_data.</a:t>
            </a:r>
          </a:p>
        </p:txBody>
      </p:sp>
      <p:sp>
        <p:nvSpPr>
          <p:cNvPr id="10" name="">
            <a:extLst xmlns:a="http://schemas.openxmlformats.org/drawingml/2006/main">
              <a:ext uri="{FF2B5EF4-FFF2-40B4-BE49-F238E27FC236}">
                <a16:creationId xmlns:a16="http://schemas.microsoft.com/office/drawing/2014/main" id="{C620DEE4-F496-43D8-8C89-4E7A49F281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60</a:t>
            </a:r>
          </a:p>
        </p:txBody>
      </p:sp>
    </p:spTree>
    <p:extLst>
      <p:ext uri="{BB962C8B-B14F-4D97-AF65-F5344CB8AC3E}">
        <p14:creationId xmlns:p14="http://schemas.microsoft.com/office/powerpoint/2010/main" val="132001679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685975D-C344-4ADE-87FB-B0FF118FC0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8BF96A-C2DE-4401-8EB2-19F3639B0C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D26DD328-4219-4EA9-AB3B-DEC880F4A3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4C06EE8E-908C-47EE-89F4-15D3DF3A8E8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8E1B91E-131B-436D-98B4-740DEF90B5D8}"/>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17BA6456-037A-42FE-B865-61629ECA474A}"/>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0C92706-4156-4503-A795-8B46FFE8F9BF}"/>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165A317B-2639-4CDA-8CAA-A95F62753E26}"/>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8175236-8DEA-4CDC-ABBC-805C50685FED}"/>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78E4F5E1-B241-4380-9A91-8E2AA717471D}"/>
              </a:ext>
            </a:extLst>
          </p:cNvPr>
          <p:cNvPicPr>
            <a:picLocks xmlns:a="http://schemas.openxmlformats.org/drawingml/2006/main" noChangeAspect="1"/>
          </p:cNvPicPr>
          <p:nvPr/>
        </p:nvPicPr>
        <p:blipFill>
          <a:blip xmlns:r="http://schemas.openxmlformats.org/officeDocument/2006/relationships" xmlns:a="http://schemas.openxmlformats.org/drawingml/2006/main" r:embed="R84a6bee2abe34bcc"/>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EF3DDDB-13FA-4DBC-BB43-62B17E063442}"/>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9C84ED87-9469-4A11-ADDD-31C4C75D7E9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8133CF-5872-4409-9975-0C55C71B1A1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1a2d759a1df4cfb"/>
              </a:rPr>
              <a:t>Open your test files</a:t>
            </a:r>
          </a:p>
        </p:txBody>
      </p:sp>
      <p:sp>
        <p:nvSpPr>
          <p:cNvPr id="14" name="">
            <a:extLst xmlns:a="http://schemas.openxmlformats.org/drawingml/2006/main">
              <a:ext uri="{FF2B5EF4-FFF2-40B4-BE49-F238E27FC236}">
                <a16:creationId xmlns:a16="http://schemas.microsoft.com/office/drawing/2014/main" id="{64D4137A-BBFA-4F06-9296-4AE0CC9865D3}"/>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EA820EAF-3B1E-4397-818C-C1F660B39351}"/>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126fc1b5414545d9"/>
              </a:rPr>
              <a:t>https://iuea-test-entry.jothammartin-wambi.workers.dev/?test=CML3111%7CTEST2</a:t>
            </a:r>
          </a:p>
        </p:txBody>
      </p:sp>
      <p:sp>
        <p:nvSpPr>
          <p:cNvPr id="16" name="">
            <a:extLst xmlns:a="http://schemas.openxmlformats.org/drawingml/2006/main">
              <a:ext uri="{FF2B5EF4-FFF2-40B4-BE49-F238E27FC236}">
                <a16:creationId xmlns:a16="http://schemas.microsoft.com/office/drawing/2014/main" id="{20F12EFB-D9A4-4E4D-83EB-CF0408F40D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61</a:t>
            </a:r>
          </a:p>
        </p:txBody>
      </p:sp>
    </p:spTree>
    <p:extLst>
      <p:ext uri="{BB962C8B-B14F-4D97-AF65-F5344CB8AC3E}">
        <p14:creationId xmlns:p14="http://schemas.microsoft.com/office/powerpoint/2010/main" val="113783972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11030D-BD6F-4081-A949-B761ADB584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30092C-9AEE-4808-8136-BE2C9E8168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C106E50-5FEE-44FF-A571-E4683EFAC3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21616A04-766B-49CD-92DC-22075805884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21EDB89-297C-4D8F-95C4-705CCF7E09D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699BE8E7-6D83-420D-901F-77C329BEEA5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2C4C76F-BE9A-45A5-9DDC-849F3C33784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7A0B02CC-1824-4F26-B8DC-B35DE75E720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7AEE55B-890F-4271-9456-EBFF44C288D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84276851-3635-4CED-AA57-A117070F5A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62</a:t>
            </a:r>
          </a:p>
        </p:txBody>
      </p:sp>
    </p:spTree>
    <p:extLst>
      <p:ext uri="{BB962C8B-B14F-4D97-AF65-F5344CB8AC3E}">
        <p14:creationId xmlns:p14="http://schemas.microsoft.com/office/powerpoint/2010/main" val="77278291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06ED76-884C-4EE9-82E9-A21481714E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501DA8-E7BC-4DC3-BD31-0A119CD79F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0723F1D-EEF3-421E-8F22-3077DCF402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711C5D97-D311-40C3-B216-E404E9BF28E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EBCB61A-6DC1-4685-94FF-DCC7D0651E3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F1DFB32A-3E21-480A-9A15-CFF5A95F114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0FE2181-E388-4991-A031-1D35D09BDA8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78E0F70C-F72D-4ECC-B472-9D62B77FCD3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A7AABB-03CB-4889-945D-3BCC98E92F8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29180FF9-0F6A-4064-A312-3D8F46FDAC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63</a:t>
            </a:r>
          </a:p>
        </p:txBody>
      </p:sp>
    </p:spTree>
    <p:extLst>
      <p:ext uri="{BB962C8B-B14F-4D97-AF65-F5344CB8AC3E}">
        <p14:creationId xmlns:p14="http://schemas.microsoft.com/office/powerpoint/2010/main" val="213454954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E9862F-03E7-4583-8846-0BDFD64E00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CC6A4C-AB6F-48EB-BFAE-0345FFF4AC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E6EB929-B3FD-4F72-83BE-CAC3504ABA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808BB4B5-B352-411E-991F-4D737705672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F87D20E-001A-4D9D-8B56-E9E1865AAE1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Equipment-group split 20.</a:t>
            </a:r>
          </a:p>
        </p:txBody>
      </p:sp>
      <p:sp>
        <p:nvSpPr>
          <p:cNvPr id="6" name="">
            <a:extLst xmlns:a="http://schemas.openxmlformats.org/drawingml/2006/main">
              <a:ext uri="{FF2B5EF4-FFF2-40B4-BE49-F238E27FC236}">
                <a16:creationId xmlns:a16="http://schemas.microsoft.com/office/drawing/2014/main" id="{5120E56B-590C-40A2-ADF3-99454380737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122F21-323A-434F-9253-9DBF4E0ED67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linear and tree predictions 30.</a:t>
            </a:r>
          </a:p>
        </p:txBody>
      </p:sp>
      <p:sp>
        <p:nvSpPr>
          <p:cNvPr id="8" name="">
            <a:extLst xmlns:a="http://schemas.openxmlformats.org/drawingml/2006/main">
              <a:ext uri="{FF2B5EF4-FFF2-40B4-BE49-F238E27FC236}">
                <a16:creationId xmlns:a16="http://schemas.microsoft.com/office/drawing/2014/main" id="{2168B224-DAEF-415E-98B7-E5EF14E2AA8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C146CB3-0243-45A1-8354-A16392CF5BC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and RMSE 20. Structured interpretation 30.</a:t>
            </a:r>
          </a:p>
        </p:txBody>
      </p:sp>
      <p:sp>
        <p:nvSpPr>
          <p:cNvPr id="10" name="">
            <a:extLst xmlns:a="http://schemas.openxmlformats.org/drawingml/2006/main">
              <a:ext uri="{FF2B5EF4-FFF2-40B4-BE49-F238E27FC236}">
                <a16:creationId xmlns:a16="http://schemas.microsoft.com/office/drawing/2014/main" id="{26D84B78-2CF7-4C39-AE88-F56FEB7DD3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64</a:t>
            </a:r>
          </a:p>
        </p:txBody>
      </p:sp>
    </p:spTree>
    <p:extLst>
      <p:ext uri="{BB962C8B-B14F-4D97-AF65-F5344CB8AC3E}">
        <p14:creationId xmlns:p14="http://schemas.microsoft.com/office/powerpoint/2010/main" val="142734669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29D8D1-82E7-4DF0-B5E4-54A57D20AE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EFDEA2-69A0-4531-8459-1BCEEC372F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349990A-8FCB-4CE5-A9E8-3614D0AA9CE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7E052FE7-2777-4CE6-833B-86144E54668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1C0D7EF-79F6-476C-B057-00398579CCE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row filters, then split by equipment ID.</a:t>
            </a:r>
          </a:p>
        </p:txBody>
      </p:sp>
      <p:sp>
        <p:nvSpPr>
          <p:cNvPr id="6" name="">
            <a:extLst xmlns:a="http://schemas.openxmlformats.org/drawingml/2006/main">
              <a:ext uri="{FF2B5EF4-FFF2-40B4-BE49-F238E27FC236}">
                <a16:creationId xmlns:a16="http://schemas.microsoft.com/office/drawing/2014/main" id="{276FDB6B-98ED-45FB-8C8C-FE90AADF169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88084A-7145-427B-8138-C83E871371D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the imputer and models on training records only.</a:t>
            </a:r>
          </a:p>
        </p:txBody>
      </p:sp>
      <p:sp>
        <p:nvSpPr>
          <p:cNvPr id="8" name="">
            <a:extLst xmlns:a="http://schemas.openxmlformats.org/drawingml/2006/main">
              <a:ext uri="{FF2B5EF4-FFF2-40B4-BE49-F238E27FC236}">
                <a16:creationId xmlns:a16="http://schemas.microsoft.com/office/drawing/2014/main" id="{AA43F773-B903-47A7-9DCA-C979EB383CB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16DBED-2DB2-4A89-AD28-D47B29ED341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validation baseline_errors. Keep the specified final-test group untouched.</a:t>
            </a:r>
          </a:p>
        </p:txBody>
      </p:sp>
      <p:sp>
        <p:nvSpPr>
          <p:cNvPr id="10" name="">
            <a:extLst xmlns:a="http://schemas.openxmlformats.org/drawingml/2006/main">
              <a:ext uri="{FF2B5EF4-FFF2-40B4-BE49-F238E27FC236}">
                <a16:creationId xmlns:a16="http://schemas.microsoft.com/office/drawing/2014/main" id="{E6EECF45-B824-4C44-A899-2CD1579525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65</a:t>
            </a:r>
          </a:p>
        </p:txBody>
      </p:sp>
    </p:spTree>
    <p:extLst>
      <p:ext uri="{BB962C8B-B14F-4D97-AF65-F5344CB8AC3E}">
        <p14:creationId xmlns:p14="http://schemas.microsoft.com/office/powerpoint/2010/main" val="17810535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86C17B-C8AD-4003-AF7C-8FCA1B3C29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C8D345-B18B-4BDD-9EA0-139D7E205D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784353A-43DB-43AD-84EA-43ED7E797B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FA65041E-F046-4E11-AE00-AC0CFA9970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D377D15-70A3-4922-B22A-3B2711B060B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2598E4A5-6A7B-4B19-BC91-6FC007D39B1F}"/>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4E9D814-7B3C-46F8-98A2-C08C9E2DD13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13CC5A2A-4516-4F35-B441-96F36258AD0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26AEC21-9E6F-4166-AC1D-555EB9BC945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2DA98928-28BD-4416-827B-F867798F396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A44593E-92FF-4ED4-A5C3-389F27666AA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19FD6249-FADE-4A66-B222-E4FED1C00E8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66</a:t>
            </a:r>
          </a:p>
        </p:txBody>
      </p:sp>
    </p:spTree>
    <p:extLst>
      <p:ext uri="{BB962C8B-B14F-4D97-AF65-F5344CB8AC3E}">
        <p14:creationId xmlns:p14="http://schemas.microsoft.com/office/powerpoint/2010/main" val="204781786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A80800-C039-4DFF-9C0A-289F10145B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CA3042-41A0-4EDD-8DB1-8412F84519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12D3D42-CE09-4E8D-87C3-8FAF45AF29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5E70A39A-984E-4F6C-9224-994D63EAABA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B16DA1-FA7C-430E-9D70-74F17D9944B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947367D8-0B6C-4EA2-923B-0F140BAFCDB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0BF2C9B-D31A-4504-B58D-AF84CD0F64F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65E05B84-A22F-494A-B0AB-DCF92D83170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3F1BEA2-315A-48A9-BD84-FA6AA266F5D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4C1772D1-90CF-47A0-A335-586D8B0CB9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67</a:t>
            </a:r>
          </a:p>
        </p:txBody>
      </p:sp>
    </p:spTree>
    <p:extLst>
      <p:ext uri="{BB962C8B-B14F-4D97-AF65-F5344CB8AC3E}">
        <p14:creationId xmlns:p14="http://schemas.microsoft.com/office/powerpoint/2010/main" val="178222513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D887B3-7A33-48E2-8A0B-17C13655F2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AF4E83-E626-445A-9134-F576440C30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A0708AC-5CF4-47A2-B161-86F0AC3A76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448E6F04-8065-4B7F-B838-EE4C59EAB3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7EDF21-98C8-440B-AEDE-754C0AFF2DB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55B028FC-5EA8-437F-8F18-4212A66B76B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02A69A0-66B4-4BA9-BC35-F42CAF1189D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03318C31-D403-448C-9673-D62E29793EA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FF28F48-50BB-45A0-BB5E-9DA8B4B824A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782F9CBC-2105-4BC9-A8C6-4355C28A24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68</a:t>
            </a:r>
          </a:p>
        </p:txBody>
      </p:sp>
    </p:spTree>
    <p:extLst>
      <p:ext uri="{BB962C8B-B14F-4D97-AF65-F5344CB8AC3E}">
        <p14:creationId xmlns:p14="http://schemas.microsoft.com/office/powerpoint/2010/main" val="151769870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D9300C-9A5A-4E1B-AECA-5D616B22DD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5307DB-6E64-4AF4-9E4F-B03A846318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7A3DBDD-7250-4425-AB7E-D82C8B08CF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99366F65-8972-4AA7-B044-BF1FE1D41E6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F3881DD-B076-42AD-8425-B3D7DAF39A7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9BEA9C33-A1AB-4BB2-9078-3F9E312B961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313A997-568D-4DEC-9F3F-B958103C9A8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3D6A90E6-AD3C-4166-9420-BFEE7A1D5CC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03EA537-1095-49AC-8E5C-D87C0E87259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8C7BE0A8-5B44-43F2-BCF3-DD237CF0F6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14   69</a:t>
            </a:r>
          </a:p>
        </p:txBody>
      </p:sp>
    </p:spTree>
    <p:extLst>
      <p:ext uri="{BB962C8B-B14F-4D97-AF65-F5344CB8AC3E}">
        <p14:creationId xmlns:p14="http://schemas.microsoft.com/office/powerpoint/2010/main" val="1912785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2026-10-20T18:02:32.7510000Z</dcterms:created>
  <dcterms:modified xsi:type="dcterms:W3CDTF">2026-10-20T18:02:32.7510000Z</dcterms:modified>
</coreProperties>
</file>