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f4ab090ed34e56" /><Relationship Type="http://schemas.openxmlformats.org/officeDocument/2006/relationships/extended-properties" Target="/docProps/app.xml" Id="R79d5fd01ebc04202" /><Relationship Type="http://schemas.openxmlformats.org/officeDocument/2006/relationships/officeDocument" Target="/ppt/presentation.xml" Id="R9365c6fbd2ea4223" /></Relationships>
</file>

<file path=ppt/presentation.xml><?xml version="1.0" encoding="utf-8"?>
<p:presentation xmlns:p="http://schemas.openxmlformats.org/presentationml/2006/main">
  <p:sldMasterIdLst>
    <p:sldMasterId xmlns:r="http://schemas.openxmlformats.org/officeDocument/2006/relationships" id="2147483648" r:id="R4de0e202e6ea4185"/>
  </p:sldMasterIdLst>
  <p:notesMasterIdLst>
    <p:notesMasterId xmlns:r="http://schemas.openxmlformats.org/officeDocument/2006/relationships" r:id="R1e75514a2c5647f4"/>
  </p:notesMasterIdLst>
  <p:sldIdLst>
    <p:sldId xmlns:r="http://schemas.openxmlformats.org/officeDocument/2006/relationships" id="256" r:id="Rda39d04695ab4ed0"/>
    <p:sldId xmlns:r="http://schemas.openxmlformats.org/officeDocument/2006/relationships" id="257" r:id="Rde4beed2dc114c82"/>
    <p:sldId xmlns:r="http://schemas.openxmlformats.org/officeDocument/2006/relationships" id="258" r:id="Rabbcaa082fdf40bf"/>
    <p:sldId xmlns:r="http://schemas.openxmlformats.org/officeDocument/2006/relationships" id="259" r:id="R9bd585f3ebb847e5"/>
    <p:sldId xmlns:r="http://schemas.openxmlformats.org/officeDocument/2006/relationships" id="260" r:id="R5fb53f5491aa4eb0"/>
    <p:sldId xmlns:r="http://schemas.openxmlformats.org/officeDocument/2006/relationships" id="261" r:id="Rbcb72ae05b404f03"/>
    <p:sldId xmlns:r="http://schemas.openxmlformats.org/officeDocument/2006/relationships" id="262" r:id="Ra1b51aab399c40c2"/>
    <p:sldId xmlns:r="http://schemas.openxmlformats.org/officeDocument/2006/relationships" id="263" r:id="R1db63b8dc42c4d18"/>
    <p:sldId xmlns:r="http://schemas.openxmlformats.org/officeDocument/2006/relationships" id="264" r:id="R3d8df89ad2c2410a"/>
    <p:sldId xmlns:r="http://schemas.openxmlformats.org/officeDocument/2006/relationships" id="265" r:id="R3d388629055f4359"/>
    <p:sldId xmlns:r="http://schemas.openxmlformats.org/officeDocument/2006/relationships" id="266" r:id="R076c27940e0c4327"/>
    <p:sldId xmlns:r="http://schemas.openxmlformats.org/officeDocument/2006/relationships" id="267" r:id="R63553fc99e4846fa"/>
    <p:sldId xmlns:r="http://schemas.openxmlformats.org/officeDocument/2006/relationships" id="268" r:id="Rd7c3af724bec4c09"/>
    <p:sldId xmlns:r="http://schemas.openxmlformats.org/officeDocument/2006/relationships" id="269" r:id="R08b2242b1ab5490c"/>
    <p:sldId xmlns:r="http://schemas.openxmlformats.org/officeDocument/2006/relationships" id="270" r:id="R32ac8dd507f74ae2"/>
    <p:sldId xmlns:r="http://schemas.openxmlformats.org/officeDocument/2006/relationships" id="271" r:id="Rffff1e8ee0ce4e13"/>
    <p:sldId xmlns:r="http://schemas.openxmlformats.org/officeDocument/2006/relationships" id="272" r:id="R88c68602a9304eb3"/>
    <p:sldId xmlns:r="http://schemas.openxmlformats.org/officeDocument/2006/relationships" id="273" r:id="R4205c45fbd2045d6"/>
    <p:sldId xmlns:r="http://schemas.openxmlformats.org/officeDocument/2006/relationships" id="274" r:id="R9a177e1048224c4f"/>
    <p:sldId xmlns:r="http://schemas.openxmlformats.org/officeDocument/2006/relationships" id="275" r:id="R2f8461eafd6a4ac5"/>
    <p:sldId xmlns:r="http://schemas.openxmlformats.org/officeDocument/2006/relationships" id="276" r:id="R857a6b9624b646fd"/>
    <p:sldId xmlns:r="http://schemas.openxmlformats.org/officeDocument/2006/relationships" id="277" r:id="R3a912b6fdae34ab4"/>
    <p:sldId xmlns:r="http://schemas.openxmlformats.org/officeDocument/2006/relationships" id="278" r:id="R095a8363f2dd4232"/>
    <p:sldId xmlns:r="http://schemas.openxmlformats.org/officeDocument/2006/relationships" id="279" r:id="R5f3d7729773e4709"/>
    <p:sldId xmlns:r="http://schemas.openxmlformats.org/officeDocument/2006/relationships" id="280" r:id="R21e15addab0e4020"/>
    <p:sldId xmlns:r="http://schemas.openxmlformats.org/officeDocument/2006/relationships" id="281" r:id="R816bc2e9f24c4e54"/>
    <p:sldId xmlns:r="http://schemas.openxmlformats.org/officeDocument/2006/relationships" id="282" r:id="R0cef637a70704404"/>
    <p:sldId xmlns:r="http://schemas.openxmlformats.org/officeDocument/2006/relationships" id="283" r:id="R5dffacd5b42243ea"/>
    <p:sldId xmlns:r="http://schemas.openxmlformats.org/officeDocument/2006/relationships" id="284" r:id="R944b8393d82b41e8"/>
    <p:sldId xmlns:r="http://schemas.openxmlformats.org/officeDocument/2006/relationships" id="285" r:id="Rcbebfc63ac0643ab"/>
    <p:sldId xmlns:r="http://schemas.openxmlformats.org/officeDocument/2006/relationships" id="286" r:id="R210dc5bbc2c64b3b"/>
    <p:sldId xmlns:r="http://schemas.openxmlformats.org/officeDocument/2006/relationships" id="287" r:id="Rf0a56258ca014142"/>
    <p:sldId xmlns:r="http://schemas.openxmlformats.org/officeDocument/2006/relationships" id="288" r:id="Raa546de8226a40e2"/>
    <p:sldId xmlns:r="http://schemas.openxmlformats.org/officeDocument/2006/relationships" id="289" r:id="R950bd2f7b1624c4f"/>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a094fe573a4d2d" /><Relationship Type="http://schemas.openxmlformats.org/officeDocument/2006/relationships/slideMaster" Target="/ppt/slideMasters/slideMaster1.xml" Id="R4de0e202e6ea4185" /><Relationship Type="http://schemas.openxmlformats.org/officeDocument/2006/relationships/notesMaster" Target="/ppt/notesMasters/notesMaster1.xml" Id="R1e75514a2c5647f4" /><Relationship Type="http://schemas.openxmlformats.org/officeDocument/2006/relationships/presProps" Target="/ppt/presProps.xml" Id="Rb22bdd716c6947ef" /><Relationship Type="http://schemas.openxmlformats.org/officeDocument/2006/relationships/tableStyles" Target="/ppt/tableStyles.xml" Id="Ra04832fac17a434b" /><Relationship Type="http://schemas.openxmlformats.org/officeDocument/2006/relationships/slide" Target="/ppt/slides/slide1.xml" Id="Rda39d04695ab4ed0" /><Relationship Type="http://schemas.openxmlformats.org/officeDocument/2006/relationships/slide" Target="/ppt/slides/slide2.xml" Id="Rde4beed2dc114c82" /><Relationship Type="http://schemas.openxmlformats.org/officeDocument/2006/relationships/slide" Target="/ppt/slides/slide3.xml" Id="Rabbcaa082fdf40bf" /><Relationship Type="http://schemas.openxmlformats.org/officeDocument/2006/relationships/slide" Target="/ppt/slides/slide4.xml" Id="R9bd585f3ebb847e5" /><Relationship Type="http://schemas.openxmlformats.org/officeDocument/2006/relationships/slide" Target="/ppt/slides/slide5.xml" Id="R5fb53f5491aa4eb0" /><Relationship Type="http://schemas.openxmlformats.org/officeDocument/2006/relationships/slide" Target="/ppt/slides/slide6.xml" Id="Rbcb72ae05b404f03" /><Relationship Type="http://schemas.openxmlformats.org/officeDocument/2006/relationships/slide" Target="/ppt/slides/slide7.xml" Id="Ra1b51aab399c40c2" /><Relationship Type="http://schemas.openxmlformats.org/officeDocument/2006/relationships/slide" Target="/ppt/slides/slide8.xml" Id="R1db63b8dc42c4d18" /><Relationship Type="http://schemas.openxmlformats.org/officeDocument/2006/relationships/slide" Target="/ppt/slides/slide9.xml" Id="R3d8df89ad2c2410a" /><Relationship Type="http://schemas.openxmlformats.org/officeDocument/2006/relationships/slide" Target="/ppt/slides/slide10.xml" Id="R3d388629055f4359" /><Relationship Type="http://schemas.openxmlformats.org/officeDocument/2006/relationships/slide" Target="/ppt/slides/slide11.xml" Id="R076c27940e0c4327" /><Relationship Type="http://schemas.openxmlformats.org/officeDocument/2006/relationships/slide" Target="/ppt/slides/slide12.xml" Id="R63553fc99e4846fa" /><Relationship Type="http://schemas.openxmlformats.org/officeDocument/2006/relationships/slide" Target="/ppt/slides/slide13.xml" Id="Rd7c3af724bec4c09" /><Relationship Type="http://schemas.openxmlformats.org/officeDocument/2006/relationships/slide" Target="/ppt/slides/slide14.xml" Id="R08b2242b1ab5490c" /><Relationship Type="http://schemas.openxmlformats.org/officeDocument/2006/relationships/slide" Target="/ppt/slides/slide15.xml" Id="R32ac8dd507f74ae2" /><Relationship Type="http://schemas.openxmlformats.org/officeDocument/2006/relationships/slide" Target="/ppt/slides/slide16.xml" Id="Rffff1e8ee0ce4e13" /><Relationship Type="http://schemas.openxmlformats.org/officeDocument/2006/relationships/slide" Target="/ppt/slides/slide17.xml" Id="R88c68602a9304eb3" /><Relationship Type="http://schemas.openxmlformats.org/officeDocument/2006/relationships/slide" Target="/ppt/slides/slide18.xml" Id="R4205c45fbd2045d6" /><Relationship Type="http://schemas.openxmlformats.org/officeDocument/2006/relationships/slide" Target="/ppt/slides/slide19.xml" Id="R9a177e1048224c4f" /><Relationship Type="http://schemas.openxmlformats.org/officeDocument/2006/relationships/slide" Target="/ppt/slides/slide20.xml" Id="R2f8461eafd6a4ac5" /><Relationship Type="http://schemas.openxmlformats.org/officeDocument/2006/relationships/slide" Target="/ppt/slides/slide21.xml" Id="R857a6b9624b646fd" /><Relationship Type="http://schemas.openxmlformats.org/officeDocument/2006/relationships/slide" Target="/ppt/slides/slide22.xml" Id="R3a912b6fdae34ab4" /><Relationship Type="http://schemas.openxmlformats.org/officeDocument/2006/relationships/slide" Target="/ppt/slides/slide23.xml" Id="R095a8363f2dd4232" /><Relationship Type="http://schemas.openxmlformats.org/officeDocument/2006/relationships/slide" Target="/ppt/slides/slide24.xml" Id="R5f3d7729773e4709" /><Relationship Type="http://schemas.openxmlformats.org/officeDocument/2006/relationships/slide" Target="/ppt/slides/slide25.xml" Id="R21e15addab0e4020" /><Relationship Type="http://schemas.openxmlformats.org/officeDocument/2006/relationships/slide" Target="/ppt/slides/slide26.xml" Id="R816bc2e9f24c4e54" /><Relationship Type="http://schemas.openxmlformats.org/officeDocument/2006/relationships/slide" Target="/ppt/slides/slide27.xml" Id="R0cef637a70704404" /><Relationship Type="http://schemas.openxmlformats.org/officeDocument/2006/relationships/slide" Target="/ppt/slides/slide28.xml" Id="R5dffacd5b42243ea" /><Relationship Type="http://schemas.openxmlformats.org/officeDocument/2006/relationships/slide" Target="/ppt/slides/slide29.xml" Id="R944b8393d82b41e8" /><Relationship Type="http://schemas.openxmlformats.org/officeDocument/2006/relationships/slide" Target="/ppt/slides/slide30.xml" Id="Rcbebfc63ac0643ab" /><Relationship Type="http://schemas.openxmlformats.org/officeDocument/2006/relationships/slide" Target="/ppt/slides/slide31.xml" Id="R210dc5bbc2c64b3b" /><Relationship Type="http://schemas.openxmlformats.org/officeDocument/2006/relationships/slide" Target="/ppt/slides/slide32.xml" Id="Rf0a56258ca014142" /><Relationship Type="http://schemas.openxmlformats.org/officeDocument/2006/relationships/slide" Target="/ppt/slides/slide33.xml" Id="Raa546de8226a40e2" /><Relationship Type="http://schemas.openxmlformats.org/officeDocument/2006/relationships/slide" Target="/ppt/slides/slide34.xml" Id="R950bd2f7b1624c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7e3cb60e974b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e1b3f6358b49e7" /><Relationship Type="http://schemas.openxmlformats.org/officeDocument/2006/relationships/notesMaster" Target="/ppt/notesMasters/notesMaster1.xml" Id="R0389c6075f574b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4f472a8eae41ee" /><Relationship Type="http://schemas.openxmlformats.org/officeDocument/2006/relationships/notesMaster" Target="/ppt/notesMasters/notesMaster1.xml" Id="R11ae3649e11b40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d599bbf91347df" /><Relationship Type="http://schemas.openxmlformats.org/officeDocument/2006/relationships/notesMaster" Target="/ppt/notesMasters/notesMaster1.xml" Id="R4ae26a84ca754a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bc134e8e784a43" /><Relationship Type="http://schemas.openxmlformats.org/officeDocument/2006/relationships/notesMaster" Target="/ppt/notesMasters/notesMaster1.xml" Id="R34922f1cd0ae40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87dc9d85d64484" /><Relationship Type="http://schemas.openxmlformats.org/officeDocument/2006/relationships/notesMaster" Target="/ppt/notesMasters/notesMaster1.xml" Id="R167112c3e9c940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542ce074524d77" /><Relationship Type="http://schemas.openxmlformats.org/officeDocument/2006/relationships/notesMaster" Target="/ppt/notesMasters/notesMaster1.xml" Id="R430ab5dece5c46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271c83bbaa4fee" /><Relationship Type="http://schemas.openxmlformats.org/officeDocument/2006/relationships/notesMaster" Target="/ppt/notesMasters/notesMaster1.xml" Id="R018145c9b29d44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448f99cf504d19" /><Relationship Type="http://schemas.openxmlformats.org/officeDocument/2006/relationships/notesMaster" Target="/ppt/notesMasters/notesMaster1.xml" Id="R89d72ff98f8c4d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fc3e9d754b4f2a" /><Relationship Type="http://schemas.openxmlformats.org/officeDocument/2006/relationships/notesMaster" Target="/ppt/notesMasters/notesMaster1.xml" Id="R9f1f395d198548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ce70d088a74695" /><Relationship Type="http://schemas.openxmlformats.org/officeDocument/2006/relationships/notesMaster" Target="/ppt/notesMasters/notesMaster1.xml" Id="R0c723231cc5446d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bfa55874db448e" /><Relationship Type="http://schemas.openxmlformats.org/officeDocument/2006/relationships/notesMaster" Target="/ppt/notesMasters/notesMaster1.xml" Id="R8436a473e1744c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31f26cd0314e04" /><Relationship Type="http://schemas.openxmlformats.org/officeDocument/2006/relationships/notesMaster" Target="/ppt/notesMasters/notesMaster1.xml" Id="R6f6519d4c8f34a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af247471d414bd0" /><Relationship Type="http://schemas.openxmlformats.org/officeDocument/2006/relationships/notesMaster" Target="/ppt/notesMasters/notesMaster1.xml" Id="R67b25be27d0b4db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33758db2ea40e4" /><Relationship Type="http://schemas.openxmlformats.org/officeDocument/2006/relationships/notesMaster" Target="/ppt/notesMasters/notesMaster1.xml" Id="R4d76c34b32ac40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0c0a3ba8d54fff" /><Relationship Type="http://schemas.openxmlformats.org/officeDocument/2006/relationships/notesMaster" Target="/ppt/notesMasters/notesMaster1.xml" Id="Rd72a2602ccfa487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41210e828b46b4" /><Relationship Type="http://schemas.openxmlformats.org/officeDocument/2006/relationships/notesMaster" Target="/ppt/notesMasters/notesMaster1.xml" Id="R3c37e1b25ed941d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aa837fdedc44df" /><Relationship Type="http://schemas.openxmlformats.org/officeDocument/2006/relationships/notesMaster" Target="/ppt/notesMasters/notesMaster1.xml" Id="Rec546663b9e9459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d2c6da8c701415e" /><Relationship Type="http://schemas.openxmlformats.org/officeDocument/2006/relationships/notesMaster" Target="/ppt/notesMasters/notesMaster1.xml" Id="R3bbefae49d9543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c4bce45f8f49d7" /><Relationship Type="http://schemas.openxmlformats.org/officeDocument/2006/relationships/notesMaster" Target="/ppt/notesMasters/notesMaster1.xml" Id="R293a705199954f0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3087d30325a4bcd" /><Relationship Type="http://schemas.openxmlformats.org/officeDocument/2006/relationships/notesMaster" Target="/ppt/notesMasters/notesMaster1.xml" Id="R5eadd142b25948d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9b1b5035e564c77" /><Relationship Type="http://schemas.openxmlformats.org/officeDocument/2006/relationships/notesMaster" Target="/ppt/notesMasters/notesMaster1.xml" Id="R6df1b0278be643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29f2b48fad4b9a" /><Relationship Type="http://schemas.openxmlformats.org/officeDocument/2006/relationships/notesMaster" Target="/ppt/notesMasters/notesMaster1.xml" Id="Rcf2af6f9122f4e4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b0d117b920544aa" /><Relationship Type="http://schemas.openxmlformats.org/officeDocument/2006/relationships/notesMaster" Target="/ppt/notesMasters/notesMaster1.xml" Id="Rdfee58d1e848431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84388a55f5f40a3" /><Relationship Type="http://schemas.openxmlformats.org/officeDocument/2006/relationships/notesMaster" Target="/ppt/notesMasters/notesMaster1.xml" Id="R28d8fffbe8a64b1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bbca3c6cc7f4a34" /><Relationship Type="http://schemas.openxmlformats.org/officeDocument/2006/relationships/notesMaster" Target="/ppt/notesMasters/notesMaster1.xml" Id="R83a6b2d32bad47d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1c867f812c84824" /><Relationship Type="http://schemas.openxmlformats.org/officeDocument/2006/relationships/notesMaster" Target="/ppt/notesMasters/notesMaster1.xml" Id="R1c1b1b4b06384f6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735e6fdd4840bd" /><Relationship Type="http://schemas.openxmlformats.org/officeDocument/2006/relationships/notesMaster" Target="/ppt/notesMasters/notesMaster1.xml" Id="Reb5fb9f6010746c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4a34bbf4f524b49" /><Relationship Type="http://schemas.openxmlformats.org/officeDocument/2006/relationships/notesMaster" Target="/ppt/notesMasters/notesMaster1.xml" Id="R4ec6e5765be54bc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d34e07a4b594337" /><Relationship Type="http://schemas.openxmlformats.org/officeDocument/2006/relationships/notesMaster" Target="/ppt/notesMasters/notesMaster1.xml" Id="R5ca84b73633049b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1e9db3bef7f401f" /><Relationship Type="http://schemas.openxmlformats.org/officeDocument/2006/relationships/notesMaster" Target="/ppt/notesMasters/notesMaster1.xml" Id="R0a93d42ebe49455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829c9cbfb634092" /><Relationship Type="http://schemas.openxmlformats.org/officeDocument/2006/relationships/notesMaster" Target="/ppt/notesMasters/notesMaster1.xml" Id="R32e294ca72ce458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fff153176cd421a" /><Relationship Type="http://schemas.openxmlformats.org/officeDocument/2006/relationships/notesMaster" Target="/ppt/notesMasters/notesMaster1.xml" Id="R044972efdabd460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e1b6e4e98b9462f" /><Relationship Type="http://schemas.openxmlformats.org/officeDocument/2006/relationships/notesMaster" Target="/ppt/notesMasters/notesMaster1.xml" Id="R57f9db494b37476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20f4ba6b6774949" /><Relationship Type="http://schemas.openxmlformats.org/officeDocument/2006/relationships/notesMaster" Target="/ppt/notesMasters/notesMaster1.xml" Id="Re5ce61d6bc3046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Using pandas to answer table questions</a:t>
            </a:r>
          </a:p>
          <a:p xmlns:a="http://schemas.openxmlformats.org/drawingml/2006/main">
            <a:r>
              <a:t>CML3113, Week 5, slide 1</a:t>
            </a:r>
          </a:p>
          <a:p xmlns:a="http://schemas.openxmlformats.org/drawingml/2006/main">
            <a:r>
              <a:t/>
            </a:r>
          </a:p>
          <a:p xmlns:a="http://schemas.openxmlformats.org/drawingml/2006/main">
            <a:r>
              <a:t>Explanation to give</a:t>
            </a:r>
          </a:p>
          <a:p xmlns:a="http://schemas.openxmlformats.org/drawingml/2006/main">
            <a:r>
              <a:t>pandas performs table operations that build on the lists, records and loops already taught. Explain the row, column and unit before using an operation.</a:t>
            </a:r>
          </a:p>
          <a:p xmlns:a="http://schemas.openxmlformats.org/drawingml/2006/main">
            <a:r>
              <a:t/>
            </a:r>
          </a:p>
          <a:p xmlns:a="http://schemas.openxmlformats.org/drawingml/2006/main">
            <a:r>
              <a:t>Worked illustration / lecturer answer</a:t>
            </a:r>
          </a:p>
          <a:p xmlns:a="http://schemas.openxmlformats.org/drawingml/2006/main">
            <a:r>
              <a:t>A filter retains matching rows. groupby gathers matching labels. For A:2, A:3, B:4, the totals are A:5 and B:4.</a:t>
            </a:r>
          </a:p>
          <a:p xmlns:a="http://schemas.openxmlformats.org/drawingml/2006/main">
            <a:r>
              <a:t/>
            </a:r>
          </a:p>
          <a:p xmlns:a="http://schemas.openxmlformats.org/drawingml/2006/main">
            <a:r>
              <a:t>Misconception to address</a:t>
            </a:r>
          </a:p>
          <a:p xmlns:a="http://schemas.openxmlformats.org/drawingml/2006/main">
            <a:r>
              <a:t>Use this as an orientation to the lesson. Terms and syntax will be unpacked on their own slides; students do not need to know them in advance.</a:t>
            </a:r>
          </a:p>
          <a:p xmlns:a="http://schemas.openxmlformats.org/drawingml/2006/main">
            <a:r>
              <a:t/>
            </a:r>
          </a:p>
          <a:p xmlns:a="http://schemas.openxmlformats.org/drawingml/2006/main">
            <a:r>
              <a:t>On this slide</a:t>
            </a:r>
          </a:p>
          <a:p xmlns:a="http://schemas.openxmlformats.org/drawingml/2006/main">
            <a:r>
              <a:t>Mining and Petroleum Engineering</a:t>
            </a:r>
          </a:p>
          <a:p xmlns:a="http://schemas.openxmlformats.org/drawingml/2006/main">
            <a:r>
              <a:t/>
            </a:r>
          </a:p>
          <a:p xmlns:a="http://schemas.openxmlformats.org/drawingml/2006/main">
            <a:r>
              <a:t>Continue to</a:t>
            </a:r>
          </a:p>
          <a:p xmlns:a="http://schemas.openxmlformats.org/drawingml/2006/main">
            <a:r>
              <a:t>Today’s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learning</a:t>
            </a:r>
          </a:p>
          <a:p xmlns:a="http://schemas.openxmlformats.org/drawingml/2006/main">
            <a:r>
              <a:t>CML3113, Week 5, slide 2</a:t>
            </a:r>
          </a:p>
          <a:p xmlns:a="http://schemas.openxmlformats.org/drawingml/2006/main">
            <a:r>
              <a:t/>
            </a:r>
          </a:p>
          <a:p xmlns:a="http://schemas.openxmlformats.org/drawingml/2006/main">
            <a:r>
              <a:t>Explanation to give</a:t>
            </a:r>
          </a:p>
          <a:p xmlns:a="http://schemas.openxmlformats.org/drawingml/2006/main">
            <a:r>
              <a:t>pandas performs table operations that build on the lists, records and loops already taught. Explain the row, column and unit before using an operation.</a:t>
            </a:r>
          </a:p>
          <a:p xmlns:a="http://schemas.openxmlformats.org/drawingml/2006/main">
            <a:r>
              <a:t/>
            </a:r>
          </a:p>
          <a:p xmlns:a="http://schemas.openxmlformats.org/drawingml/2006/main">
            <a:r>
              <a:t>Worked illustration / lecturer answer</a:t>
            </a:r>
          </a:p>
          <a:p xmlns:a="http://schemas.openxmlformats.org/drawingml/2006/main">
            <a:r>
              <a:t>A filter retains matching rows. groupby gathers matching labels. For A:2, A:3, B:4, the totals are A:5 and B:4.</a:t>
            </a:r>
          </a:p>
          <a:p xmlns:a="http://schemas.openxmlformats.org/drawingml/2006/main">
            <a:r>
              <a:t/>
            </a:r>
          </a:p>
          <a:p xmlns:a="http://schemas.openxmlformats.org/drawingml/2006/main">
            <a:r>
              <a:t>Misconception to address</a:t>
            </a:r>
          </a:p>
          <a:p xmlns:a="http://schemas.openxmlformats.org/drawingml/2006/main">
            <a:r>
              <a:t>At the end, check the specific outcome shown here using a small previously demonstrated example. A completed file without an explanation is not evidence of understanding.</a:t>
            </a:r>
          </a:p>
          <a:p xmlns:a="http://schemas.openxmlformats.org/drawingml/2006/main">
            <a:r>
              <a:t/>
            </a:r>
          </a:p>
          <a:p xmlns:a="http://schemas.openxmlformats.org/drawingml/2006/main">
            <a:r>
              <a:t>On this slide</a:t>
            </a:r>
          </a:p>
          <a:p xmlns:a="http://schemas.openxmlformats.org/drawingml/2006/main">
            <a:r>
              <a:t>Read a labelled table and select rows.</a:t>
            </a:r>
          </a:p>
          <a:p xmlns:a="http://schemas.openxmlformats.org/drawingml/2006/main">
            <a:r>
              <a:t/>
            </a:r>
          </a:p>
          <a:p xmlns:a="http://schemas.openxmlformats.org/drawingml/2006/main">
            <a:r>
              <a:t>Calculate column summaries and grouped totals.</a:t>
            </a:r>
          </a:p>
          <a:p xmlns:a="http://schemas.openxmlformats.org/drawingml/2006/main">
            <a:r>
              <a:t/>
            </a:r>
          </a:p>
          <a:p xmlns:a="http://schemas.openxmlformats.org/drawingml/2006/main">
            <a:r>
              <a:t>Continue to</a:t>
            </a:r>
          </a:p>
          <a:p xmlns:a="http://schemas.openxmlformats.org/drawingml/2006/main">
            <a:r>
              <a:t>Connection to the previous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field before indexing. This file provides the observations for every calculation in the lesson.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Uploading a notebook does not upload its data. Check the exact filename and column headings. Each cohort has its own data, so numerical results can differ.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 and short names</a:t>
            </a:r>
          </a:p>
          <a:p xmlns:a="http://schemas.openxmlformats.org/drawingml/2006/main">
            <a:r>
              <a:t>import pandas as pd loads pandas and gives it the short name pd. pd.read_csv refers to a function in that library.</a:t>
            </a:r>
          </a:p>
          <a:p xmlns:a="http://schemas.openxmlformats.org/drawingml/2006/main">
            <a:r>
              <a:t/>
            </a:r>
          </a:p>
          <a:p xmlns:a="http://schemas.openxmlformats.org/drawingml/2006/main">
            <a:r>
              <a:t>Reading a CSV</a:t>
            </a:r>
          </a:p>
          <a:p xmlns:a="http://schemas.openxmlformats.org/drawingml/2006/main">
            <a:r>
              <a:t>pd.read_csv("filename.csv") reads the named file into a DataFrame: a table with labelled columns and row labels. The file must exist in the working folder.</a:t>
            </a:r>
          </a:p>
          <a:p xmlns:a="http://schemas.openxmlformats.org/drawingml/2006/main">
            <a:r>
              <a:t/>
            </a:r>
          </a:p>
          <a:p xmlns:a="http://schemas.openxmlformats.org/drawingml/2006/main">
            <a:r>
              <a:t>Counting dimensions</a:t>
            </a:r>
          </a:p>
          <a:p xmlns:a="http://schemas.openxmlformats.org/drawingml/2006/main">
            <a:r>
              <a:t>table.shape gives (number of rows, number of columns). shape is a property, so it has no parentheses.</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Column data types</a:t>
            </a:r>
          </a:p>
          <a:p xmlns:a="http://schemas.openxmlformats.org/drawingml/2006/main">
            <a:r>
              <a:t>table.dtypes reports each column’s stored type. int64 means integers, float64 means decimal numbers, and object often contains text. Numeric blanks commonly appear as NaN.</a:t>
            </a:r>
          </a:p>
          <a:p xmlns:a="http://schemas.openxmlformats.org/drawingml/2006/main">
            <a:r>
              <a:t/>
            </a:r>
          </a:p>
          <a:p xmlns:a="http://schemas.openxmlformats.org/drawingml/2006/main">
            <a:r>
              <a:t>A preview of rows</a:t>
            </a:r>
          </a:p>
          <a:p xmlns:a="http://schemas.openxmlformats.org/drawingml/2006/main">
            <a:r>
              <a:t>table.head() returns the first five rows. It leaves the table unchanged. A preview is not the entire dataset.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a:t>
            </a:r>
          </a:p>
          <a:p xmlns:a="http://schemas.openxmlformats.org/drawingml/2006/main">
            <a:r>
              <a:t>Line 1: import pandas as pd</a:t>
            </a:r>
          </a:p>
          <a:p xmlns:a="http://schemas.openxmlformats.org/drawingml/2006/main">
            <a:r>
              <a:t>Load pandas. An import makes these names available; it does not run the analysis.</a:t>
            </a:r>
          </a:p>
          <a:p xmlns:a="http://schemas.openxmlformats.org/drawingml/2006/main">
            <a:r>
              <a:t/>
            </a:r>
          </a:p>
          <a:p xmlns:a="http://schemas.openxmlformats.org/drawingml/2006/main">
            <a:r>
              <a:t>Line 2: raw = pd.read_csv("campus_energy.csv")</a:t>
            </a:r>
          </a:p>
          <a:p xmlns:a="http://schemas.openxmlformats.org/drawingml/2006/main">
            <a:r>
              <a:t>Read the supplied file into raw. Its rows remain the untouched source for this lesson.</a:t>
            </a:r>
          </a:p>
          <a:p xmlns:a="http://schemas.openxmlformats.org/drawingml/2006/main">
            <a:r>
              <a:t/>
            </a:r>
          </a:p>
          <a:p xmlns:a="http://schemas.openxmlformats.org/drawingml/2006/main">
            <a:r>
              <a:t>Line 3: print(raw.head())</a:t>
            </a:r>
          </a:p>
          <a:p xmlns:a="http://schemas.openxmlformats.org/drawingml/2006/main">
            <a:r>
              <a:t>Display raw.head(). The first five observations and their column headings. Read one whole row aloud before discussing a column.</a:t>
            </a:r>
          </a:p>
          <a:p xmlns:a="http://schemas.openxmlformats.org/drawingml/2006/main">
            <a:r>
              <a:t/>
            </a:r>
          </a:p>
          <a:p xmlns:a="http://schemas.openxmlformats.org/drawingml/2006/main">
            <a:r>
              <a:t>Line 4: print(raw.shape)</a:t>
            </a:r>
          </a:p>
          <a:p xmlns:a="http://schemas.openxmlformats.org/drawingml/2006/main">
            <a:r>
              <a:t>Display raw.shape. The pair is row count followed by column count.</a:t>
            </a:r>
          </a:p>
          <a:p xmlns:a="http://schemas.openxmlformats.org/drawingml/2006/main">
            <a:r>
              <a:t/>
            </a:r>
          </a:p>
          <a:p xmlns:a="http://schemas.openxmlformats.org/drawingml/2006/main">
            <a:r>
              <a:t>Line 5: print(raw.dtypes)</a:t>
            </a:r>
          </a:p>
          <a:p xmlns:a="http://schemas.openxmlformats.org/drawingml/2006/main">
            <a:r>
              <a:t>Display raw.dtypes. Read each heading beside its stored type. float64 can include missing numerical entries.</a:t>
            </a:r>
          </a:p>
          <a:p xmlns:a="http://schemas.openxmlformats.org/drawingml/2006/main">
            <a:r>
              <a:t/>
            </a:r>
          </a:p>
          <a:p xmlns:a="http://schemas.openxmlformats.org/drawingml/2006/main">
            <a:r>
              <a:t>Reading the result</a:t>
            </a:r>
          </a:p>
          <a:p xmlns:a="http://schemas.openxmlformats.org/drawingml/2006/main">
            <a:r>
              <a:t>The preview establishes the file schema. The row/column pair describes the full file, while head shows only five rows. Explain that NaN means a missing entry, not a measured zero.</a:t>
            </a:r>
          </a:p>
          <a:p xmlns:a="http://schemas.openxmlformats.org/drawingml/2006/main">
            <a:r>
              <a:t/>
            </a:r>
          </a:p>
          <a:p xmlns:a="http://schemas.openxmlformats.org/drawingml/2006/main">
            <a:r>
              <a:t>Output from the supplied CSV (this cohort):</a:t>
            </a:r>
          </a:p>
          <a:p xmlns:a="http://schemas.openxmlformats.org/drawingml/2006/main">
            <a:r>
              <a:t>  meter_id     building        block    month   kwh  cost_ugx</a:t>
            </a:r>
          </a:p>
          <a:p xmlns:a="http://schemas.openxmlformats.org/drawingml/2006/main">
            <a:r>
              <a:t>0    M-001  Kabojja Lab  Engineering  2026-01  4820   3374000</a:t>
            </a:r>
          </a:p>
          <a:p xmlns:a="http://schemas.openxmlformats.org/drawingml/2006/main">
            <a:r>
              <a:t>1    M-001  Kabojja Lab  Engineering  2026-02  5310   3717000</a:t>
            </a:r>
          </a:p>
          <a:p xmlns:a="http://schemas.openxmlformats.org/drawingml/2006/main">
            <a:r>
              <a:t>2    M-001  Kabojja Lab  Engineering  2026-03  6140   4298000</a:t>
            </a:r>
          </a:p>
          <a:p xmlns:a="http://schemas.openxmlformats.org/drawingml/2006/main">
            <a:r>
              <a:t>3    M-002   Workshop A  Engineering  2026-01  7420   5194000</a:t>
            </a:r>
          </a:p>
          <a:p xmlns:a="http://schemas.openxmlformats.org/drawingml/2006/main">
            <a:r>
              <a:t>4    M-002   Workshop A  Engineering  2026-02  7980   5586000</a:t>
            </a:r>
          </a:p>
          <a:p xmlns:a="http://schemas.openxmlformats.org/drawingml/2006/main">
            <a:r>
              <a:t>(24, 6)</a:t>
            </a:r>
          </a:p>
          <a:p xmlns:a="http://schemas.openxmlformats.org/drawingml/2006/main">
            <a:r>
              <a:t>meter_id    object</a:t>
            </a:r>
          </a:p>
          <a:p xmlns:a="http://schemas.openxmlformats.org/drawingml/2006/main">
            <a:r>
              <a:t>building    object</a:t>
            </a:r>
          </a:p>
          <a:p xmlns:a="http://schemas.openxmlformats.org/drawingml/2006/main">
            <a:r>
              <a:t>block       object</a:t>
            </a:r>
          </a:p>
          <a:p xmlns:a="http://schemas.openxmlformats.org/drawingml/2006/main">
            <a:r>
              <a:t>month       object</a:t>
            </a:r>
          </a:p>
          <a:p xmlns:a="http://schemas.openxmlformats.org/drawingml/2006/main">
            <a:r>
              <a:t>kwh          int64</a:t>
            </a:r>
          </a:p>
          <a:p xmlns:a="http://schemas.openxmlformats.org/drawingml/2006/main">
            <a:r>
              <a:t>cost_ugx     int64</a:t>
            </a:r>
          </a:p>
          <a:p xmlns:a="http://schemas.openxmlformats.org/drawingml/2006/main">
            <a:r>
              <a:t>dtype: object</a:t>
            </a:r>
          </a:p>
          <a:p xmlns:a="http://schemas.openxmlformats.org/drawingml/2006/main">
            <a:r>
              <a:t/>
            </a:r>
          </a:p>
          <a:p xmlns:a="http://schemas.openxmlformats.org/drawingml/2006/main">
            <a:r>
              <a:t/>
            </a:r>
          </a:p>
          <a:p xmlns:a="http://schemas.openxmlformats.org/drawingml/2006/main">
            <a:r>
              <a:t>Further explanation</a:t>
            </a:r>
          </a:p>
          <a:p xmlns:a="http://schemas.openxmlformats.org/drawingml/2006/main">
            <a:r>
              <a:t>read_csv creates a DataFrame. head shows the first five rows. shape gives row and column counts. dtypes describes each column. raw remains unchanged throughout the lesson.</a:t>
            </a:r>
          </a:p>
          <a:p xmlns:a="http://schemas.openxmlformats.org/drawingml/2006/main">
            <a:r>
              <a:t/>
            </a:r>
          </a:p>
          <a:p xmlns:a="http://schemas.openxmlformats.org/drawingml/2006/main">
            <a:r>
              <a:t>Complete worked example:</a:t>
            </a:r>
          </a:p>
          <a:p xmlns:a="http://schemas.openxmlformats.org/drawingml/2006/main">
            <a:r>
              <a:t>import pandas as pd</a:t>
            </a:r>
          </a:p>
          <a:p xmlns:a="http://schemas.openxmlformats.org/drawingml/2006/main">
            <a:r>
              <a:t>raw = pd.read_csv("campus_energy.csv")</a:t>
            </a:r>
          </a:p>
          <a:p xmlns:a="http://schemas.openxmlformats.org/drawingml/2006/main">
            <a:r>
              <a:t>print(raw.head())</a:t>
            </a:r>
          </a:p>
          <a:p xmlns:a="http://schemas.openxmlformats.org/drawingml/2006/main">
            <a:r>
              <a:t>print(raw.shape)</a:t>
            </a:r>
          </a:p>
          <a:p xmlns:a="http://schemas.openxmlformats.org/drawingml/2006/main">
            <a:r>
              <a:t>print(raw.dtypes)</a:t>
            </a:r>
          </a:p>
          <a:p xmlns:a="http://schemas.openxmlformats.org/drawingml/2006/main">
            <a:r>
              <a:t/>
            </a:r>
          </a:p>
          <a:p xmlns:a="http://schemas.openxmlformats.org/drawingml/2006/main">
            <a:r>
              <a:t>Result from the supplied example</a:t>
            </a:r>
          </a:p>
          <a:p xmlns:a="http://schemas.openxmlformats.org/drawingml/2006/main">
            <a:r>
              <a:t>meter_id     building        block    month   kwh  cost_ugx</a:t>
            </a:r>
          </a:p>
          <a:p xmlns:a="http://schemas.openxmlformats.org/drawingml/2006/main">
            <a:r>
              <a:t>0    M-001  Kabojja Lab  Engineering  2026-01  4820   3374000</a:t>
            </a:r>
          </a:p>
          <a:p xmlns:a="http://schemas.openxmlformats.org/drawingml/2006/main">
            <a:r>
              <a:t>1    M-001  Kabojja Lab  Engineering  2026-02  5310   3717000</a:t>
            </a:r>
          </a:p>
          <a:p xmlns:a="http://schemas.openxmlformats.org/drawingml/2006/main">
            <a:r>
              <a:t>2    M-001  Kabojja Lab  Engineering  2026-03  6140   4298000</a:t>
            </a:r>
          </a:p>
          <a:p xmlns:a="http://schemas.openxmlformats.org/drawingml/2006/main">
            <a:r>
              <a:t>3    M-002   Workshop A  Engineering  2026-01  7420   5194000</a:t>
            </a:r>
          </a:p>
          <a:p xmlns:a="http://schemas.openxmlformats.org/drawingml/2006/main">
            <a:r>
              <a:t>4    M-002   Workshop A  Engineering  2026-02  7980   5586000</a:t>
            </a:r>
          </a:p>
          <a:p xmlns:a="http://schemas.openxmlformats.org/drawingml/2006/main">
            <a:r>
              <a:t>(24, 6)</a:t>
            </a:r>
          </a:p>
          <a:p xmlns:a="http://schemas.openxmlformats.org/drawingml/2006/main">
            <a:r>
              <a:t>meter_id    object</a:t>
            </a:r>
          </a:p>
          <a:p xmlns:a="http://schemas.openxmlformats.org/drawingml/2006/main">
            <a:r>
              <a:t>building    object</a:t>
            </a:r>
          </a:p>
          <a:p xmlns:a="http://schemas.openxmlformats.org/drawingml/2006/main">
            <a:r>
              <a:t>block       object</a:t>
            </a:r>
          </a:p>
          <a:p xmlns:a="http://schemas.openxmlformats.org/drawingml/2006/main">
            <a:r>
              <a:t>month       object</a:t>
            </a:r>
          </a:p>
          <a:p xmlns:a="http://schemas.openxmlformats.org/drawingml/2006/main">
            <a:r>
              <a:t>kwh          int64</a:t>
            </a:r>
          </a:p>
          <a:p xmlns:a="http://schemas.openxmlformats.org/drawingml/2006/main">
            <a:r>
              <a:t>cost_ugx     int64</a:t>
            </a:r>
          </a:p>
          <a:p xmlns:a="http://schemas.openxmlformats.org/drawingml/2006/main">
            <a:r>
              <a:t>dtype: object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mean describes readings in this supplied file, not a general expected monthly use.</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Reading chained operations</a:t>
            </a:r>
          </a:p>
          <a:p xmlns:a="http://schemas.openxmlformats.org/drawingml/2006/main">
            <a:r>
              <a:t>Read a chain from left to right. In table["target"].mean(), select the target Series first, then calculate its mean. Each step uses the previous step’s result.</a:t>
            </a:r>
          </a:p>
          <a:p xmlns:a="http://schemas.openxmlformats.org/drawingml/2006/main">
            <a:r>
              <a:t/>
            </a:r>
          </a:p>
          <a:p xmlns:a="http://schemas.openxmlformats.org/drawingml/2006/main">
            <a:r>
              <a:t>Rounded display</a:t>
            </a:r>
          </a:p>
          <a:p xmlns:a="http://schemas.openxmlformats.org/drawingml/2006/main">
            <a:r>
              <a:t>series.round(3) returns values rounded to three decimal places. Python round(number, 3) rounds one number. Keep unrounded calculations for returned assessment answers.</a:t>
            </a:r>
          </a:p>
          <a:p xmlns:a="http://schemas.openxmlformats.org/drawingml/2006/main">
            <a:r>
              <a:t/>
            </a:r>
          </a:p>
          <a:p xmlns:a="http://schemas.openxmlformats.org/drawingml/2006/main">
            <a:r>
              <a:t>Selecting columns</a:t>
            </a:r>
          </a:p>
          <a:p xmlns:a="http://schemas.openxmlformats.org/drawingml/2006/main">
            <a:r>
              <a:t>table["column"] returns one labelled column, a Series. table[["a", "b"]] returns a DataFrame containing those named columns in that order.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of recorded values</a:t>
            </a:r>
          </a:p>
          <a:p xmlns:a="http://schemas.openxmlformats.org/drawingml/2006/main">
            <a:r>
              <a:t>series.mean() adds known values and divides by their count. pandas skips missing values by default. The result has the same unit as the original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a:t>
            </a:r>
          </a:p>
          <a:p xmlns:a="http://schemas.openxmlformats.org/drawingml/2006/main">
            <a:r>
              <a:t>Line 1: print(raw["kwh"].head())</a:t>
            </a:r>
          </a:p>
          <a:p xmlns:a="http://schemas.openxmlformats.org/drawingml/2006/main">
            <a:r>
              <a:t>Display raw['kwh'].head(). Read these values alongside their source column labels. The display does not change the calculation or source data.</a:t>
            </a:r>
          </a:p>
          <a:p xmlns:a="http://schemas.openxmlformats.org/drawingml/2006/main">
            <a:r>
              <a:t/>
            </a:r>
          </a:p>
          <a:p xmlns:a="http://schemas.openxmlformats.org/drawingml/2006/main">
            <a:r>
              <a:t>Line 2: print(round(float(raw["kwh"].mean()), 3))</a:t>
            </a:r>
          </a:p>
          <a:p xmlns:a="http://schemas.openxmlformats.org/drawingml/2006/main">
            <a:r>
              <a:t>Display round(float(raw['kwh'].mean()), 3). Read these values alongside their source column labels. The display does not change the calculation or source data.</a:t>
            </a:r>
          </a:p>
          <a:p xmlns:a="http://schemas.openxmlformats.org/drawingml/2006/main">
            <a:r>
              <a:t/>
            </a:r>
          </a:p>
          <a:p xmlns:a="http://schemas.openxmlformats.org/drawingml/2006/main">
            <a:r>
              <a:t>Reading the result</a:t>
            </a:r>
          </a:p>
          <a:p xmlns:a="http://schemas.openxmlformats.org/drawingml/2006/main">
            <a:r>
              <a:t>The displayed mean covers the entire kwh column, not just the five previewed readings. Its unit is kWh per recorded meter-month.</a:t>
            </a:r>
          </a:p>
          <a:p xmlns:a="http://schemas.openxmlformats.org/drawingml/2006/main">
            <a:r>
              <a:t/>
            </a:r>
          </a:p>
          <a:p xmlns:a="http://schemas.openxmlformats.org/drawingml/2006/main">
            <a:r>
              <a:t>Output from the supplied CSV (this cohort):</a:t>
            </a:r>
          </a:p>
          <a:p xmlns:a="http://schemas.openxmlformats.org/drawingml/2006/main">
            <a:r>
              <a:t>0    4820</a:t>
            </a:r>
          </a:p>
          <a:p xmlns:a="http://schemas.openxmlformats.org/drawingml/2006/main">
            <a:r>
              <a:t>1    5310</a:t>
            </a:r>
          </a:p>
          <a:p xmlns:a="http://schemas.openxmlformats.org/drawingml/2006/main">
            <a:r>
              <a:t>2    6140</a:t>
            </a:r>
          </a:p>
          <a:p xmlns:a="http://schemas.openxmlformats.org/drawingml/2006/main">
            <a:r>
              <a:t>3    7420</a:t>
            </a:r>
          </a:p>
          <a:p xmlns:a="http://schemas.openxmlformats.org/drawingml/2006/main">
            <a:r>
              <a:t>4    7980</a:t>
            </a:r>
          </a:p>
          <a:p xmlns:a="http://schemas.openxmlformats.org/drawingml/2006/main">
            <a:r>
              <a:t>Name: kwh, dtype: int64</a:t>
            </a:r>
          </a:p>
          <a:p xmlns:a="http://schemas.openxmlformats.org/drawingml/2006/main">
            <a:r>
              <a:t>5666.042</a:t>
            </a:r>
          </a:p>
          <a:p xmlns:a="http://schemas.openxmlformats.org/drawingml/2006/main">
            <a:r>
              <a:t/>
            </a:r>
          </a:p>
          <a:p xmlns:a="http://schemas.openxmlformats.org/drawingml/2006/main">
            <a:r>
              <a:t/>
            </a:r>
          </a:p>
          <a:p xmlns:a="http://schemas.openxmlformats.org/drawingml/2006/main">
            <a:r>
              <a:t>Further explanation</a:t>
            </a:r>
          </a:p>
          <a:p xmlns:a="http://schemas.openxmlformats.org/drawingml/2006/main">
            <a:r>
              <a:t>head shows the first five readings. The mean uses the entire column.</a:t>
            </a:r>
          </a:p>
          <a:p xmlns:a="http://schemas.openxmlformats.org/drawingml/2006/main">
            <a:r>
              <a:t/>
            </a:r>
          </a:p>
          <a:p xmlns:a="http://schemas.openxmlformats.org/drawingml/2006/main">
            <a:r>
              <a:t>Complete worked example:</a:t>
            </a:r>
          </a:p>
          <a:p xmlns:a="http://schemas.openxmlformats.org/drawingml/2006/main">
            <a:r>
              <a:t>print(raw["kwh"].head())</a:t>
            </a:r>
          </a:p>
          <a:p xmlns:a="http://schemas.openxmlformats.org/drawingml/2006/main">
            <a:r>
              <a:t>print(round(float(raw["kwh"].mean()), 3))</a:t>
            </a:r>
          </a:p>
          <a:p xmlns:a="http://schemas.openxmlformats.org/drawingml/2006/main">
            <a:r>
              <a:t/>
            </a:r>
          </a:p>
          <a:p xmlns:a="http://schemas.openxmlformats.org/drawingml/2006/main">
            <a:r>
              <a:t>Result from the supplied example</a:t>
            </a:r>
          </a:p>
          <a:p xmlns:a="http://schemas.openxmlformats.org/drawingml/2006/main">
            <a:r>
              <a:t>0    4820</a:t>
            </a:r>
          </a:p>
          <a:p xmlns:a="http://schemas.openxmlformats.org/drawingml/2006/main">
            <a:r>
              <a:t>1    5310</a:t>
            </a:r>
          </a:p>
          <a:p xmlns:a="http://schemas.openxmlformats.org/drawingml/2006/main">
            <a:r>
              <a:t>2    6140</a:t>
            </a:r>
          </a:p>
          <a:p xmlns:a="http://schemas.openxmlformats.org/drawingml/2006/main">
            <a:r>
              <a:t>3    7420</a:t>
            </a:r>
          </a:p>
          <a:p xmlns:a="http://schemas.openxmlformats.org/drawingml/2006/main">
            <a:r>
              <a:t>4    7980</a:t>
            </a:r>
          </a:p>
          <a:p xmlns:a="http://schemas.openxmlformats.org/drawingml/2006/main">
            <a:r>
              <a:t>Name: kwh, dtype: int64</a:t>
            </a:r>
          </a:p>
          <a:p xmlns:a="http://schemas.openxmlformats.org/drawingml/2006/main">
            <a:r>
              <a:t>5666.042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practice question, not an engineering safety limit. Separate calculating the answers from selecting the rows. True and False are Boolean values, not the strings "True" and "False".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Selecting rows with a mask</a:t>
            </a:r>
          </a:p>
          <a:p xmlns:a="http://schemas.openxmlformats.org/drawingml/2006/main">
            <a:r>
              <a:t>A column comparison produces one True or False per row. table[mask] keeps the True rows. &amp; combines masks: both conditions must hold. Parenthesise each comparison.</a:t>
            </a:r>
          </a:p>
          <a:p xmlns:a="http://schemas.openxmlformats.org/drawingml/2006/main">
            <a:r>
              <a:t/>
            </a:r>
          </a:p>
          <a:p xmlns:a="http://schemas.openxmlformats.org/drawingml/2006/main">
            <a:r>
              <a:t>Adding values and counting True</a:t>
            </a:r>
          </a:p>
          <a:p xmlns:a="http://schemas.openxmlformats.org/drawingml/2006/main">
            <a:r>
              <a:t>series.sum() adds its values. For a Boolean mask, True counts as 1 and False as 0. table.isna().sum() therefore counts missing cells separately for each column.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 the row labels in the two outputs. The comparison answers the question for every row and leaves raw unchanged.</a:t>
            </a:r>
          </a:p>
          <a:p xmlns:a="http://schemas.openxmlformats.org/drawingml/2006/main">
            <a:r>
              <a:t/>
            </a:r>
          </a:p>
          <a:p xmlns:a="http://schemas.openxmlformats.org/drawingml/2006/main">
            <a:r>
              <a:t>Result from the supplied example</a:t>
            </a:r>
          </a:p>
          <a:p xmlns:a="http://schemas.openxmlformats.org/drawingml/2006/main">
            <a:r>
              <a:t>0    4820</a:t>
            </a:r>
          </a:p>
          <a:p xmlns:a="http://schemas.openxmlformats.org/drawingml/2006/main">
            <a:r>
              <a:t>1    5310</a:t>
            </a:r>
          </a:p>
          <a:p xmlns:a="http://schemas.openxmlformats.org/drawingml/2006/main">
            <a:r>
              <a:t>2    6140</a:t>
            </a:r>
          </a:p>
          <a:p xmlns:a="http://schemas.openxmlformats.org/drawingml/2006/main">
            <a:r>
              <a:t>3    7420</a:t>
            </a:r>
          </a:p>
          <a:p xmlns:a="http://schemas.openxmlformats.org/drawingml/2006/main">
            <a:r>
              <a:t>4    7980</a:t>
            </a:r>
          </a:p>
          <a:p xmlns:a="http://schemas.openxmlformats.org/drawingml/2006/main">
            <a:r>
              <a:t>Name: kwh, dtype: int64</a:t>
            </a:r>
          </a:p>
          <a:p xmlns:a="http://schemas.openxmlformats.org/drawingml/2006/main">
            <a:r>
              <a:t>0    False</a:t>
            </a:r>
          </a:p>
          <a:p xmlns:a="http://schemas.openxmlformats.org/drawingml/2006/main">
            <a:r>
              <a:t>1     True</a:t>
            </a:r>
          </a:p>
          <a:p xmlns:a="http://schemas.openxmlformats.org/drawingml/2006/main">
            <a:r>
              <a:t>2     True</a:t>
            </a:r>
          </a:p>
          <a:p xmlns:a="http://schemas.openxmlformats.org/drawingml/2006/main">
            <a:r>
              <a:t>3     True</a:t>
            </a:r>
          </a:p>
          <a:p xmlns:a="http://schemas.openxmlformats.org/drawingml/2006/main">
            <a:r>
              <a:t>4     True</a:t>
            </a:r>
          </a:p>
          <a:p xmlns:a="http://schemas.openxmlformats.org/drawingml/2006/main">
            <a:r>
              <a:t>Name: kwh, dtype: bool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Quoted names inside brackets select a named column; a True/False Series inside brackets selects rows. The question and the table must refer to matching row labels.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result table contains the selected rows. We only inspect it here; the original raw table remains unchanged. The count should equal the number of retained rows. The supplied threshold is strictly greater than 5000, so exactly 5000 is excluded.</a:t>
            </a:r>
          </a:p>
          <a:p xmlns:a="http://schemas.openxmlformats.org/drawingml/2006/main">
            <a:r>
              <a:t/>
            </a:r>
          </a:p>
          <a:p xmlns:a="http://schemas.openxmlformats.org/drawingml/2006/main">
            <a:r>
              <a:t>Result from the supplied example</a:t>
            </a:r>
          </a:p>
          <a:p xmlns:a="http://schemas.openxmlformats.org/drawingml/2006/main">
            <a:r>
              <a:t>meter_id     building        block    month   kwh  cost_ugx</a:t>
            </a:r>
          </a:p>
          <a:p xmlns:a="http://schemas.openxmlformats.org/drawingml/2006/main">
            <a:r>
              <a:t>1    M-001  Kabojja Lab  Engineering  2026-02  5310   3717000</a:t>
            </a:r>
          </a:p>
          <a:p xmlns:a="http://schemas.openxmlformats.org/drawingml/2006/main">
            <a:r>
              <a:t>2    M-001  Kabojja Lab  Engineering  2026-03  6140   4298000</a:t>
            </a:r>
          </a:p>
          <a:p xmlns:a="http://schemas.openxmlformats.org/drawingml/2006/main">
            <a:r>
              <a:t>3    M-002   Workshop A  Engineering  2026-01  7420   5194000</a:t>
            </a:r>
          </a:p>
          <a:p xmlns:a="http://schemas.openxmlformats.org/drawingml/2006/main">
            <a:r>
              <a:t>4    M-002   Workshop A  Engineering  2026-02  7980   5586000</a:t>
            </a:r>
          </a:p>
          <a:p xmlns:a="http://schemas.openxmlformats.org/drawingml/2006/main">
            <a:r>
              <a:t>5    M-002   Workshop A  Engineering  2026-03  8115   5680500</a:t>
            </a:r>
          </a:p>
          <a:p xmlns:a="http://schemas.openxmlformats.org/drawingml/2006/main">
            <a:r>
              <a:t>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maximum is a building label, not a row number. Group totals cover the months present in the CSV.</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Counting distinct labels</a:t>
            </a:r>
          </a:p>
          <a:p xmlns:a="http://schemas.openxmlformats.org/drawingml/2006/main">
            <a:r>
              <a:t>series.nunique() counts different recorded values, ignoring missing values by default. It counts categories rather than rows.</a:t>
            </a:r>
          </a:p>
          <a:p xmlns:a="http://schemas.openxmlformats.org/drawingml/2006/main">
            <a:r>
              <a:t/>
            </a:r>
          </a:p>
          <a:p xmlns:a="http://schemas.openxmlformats.org/drawingml/2006/main">
            <a:r>
              <a:t>Label of the largest value</a:t>
            </a:r>
          </a:p>
          <a:p xmlns:a="http://schemas.openxmlformats.org/drawingml/2006/main">
            <a:r>
              <a:t>series.idxmax() returns the label attached to the largest value. It does not return that value. If several entries tie, it returns the first such label.</a:t>
            </a:r>
          </a:p>
          <a:p xmlns:a="http://schemas.openxmlformats.org/drawingml/2006/main">
            <a:r>
              <a:t/>
            </a:r>
          </a:p>
          <a:p xmlns:a="http://schemas.openxmlformats.org/drawingml/2006/main">
            <a:r>
              <a:t>Grouping rows</a:t>
            </a:r>
          </a:p>
          <a:p xmlns:a="http://schemas.openxmlformats.org/drawingml/2006/main">
            <a:r>
              <a:t>table.groupby("label")["value"] groups the value column by matching labels. Apply mean() or sum() to calculate one result per group. Missing group labels are excluded by default.</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a:t>
            </a:r>
          </a:p>
          <a:p xmlns:a="http://schemas.openxmlformats.org/drawingml/2006/main">
            <a:r>
              <a:t>Line 1: totals = raw.groupby("building")["kwh"].sum()</a:t>
            </a:r>
          </a:p>
          <a:p xmlns:a="http://schemas.openxmlformats.org/drawingml/2006/main">
            <a:r>
              <a:t>Group all source rows by building and add each group’s recorded energy.</a:t>
            </a:r>
          </a:p>
          <a:p xmlns:a="http://schemas.openxmlformats.org/drawingml/2006/main">
            <a:r>
              <a:t/>
            </a:r>
          </a:p>
          <a:p xmlns:a="http://schemas.openxmlformats.org/drawingml/2006/main">
            <a:r>
              <a:t>Line 2: print(totals)</a:t>
            </a:r>
          </a:p>
          <a:p xmlns:a="http://schemas.openxmlformats.org/drawingml/2006/main">
            <a:r>
              <a:t>Display totals. Read these values alongside their source column labels. The display does not change the calculation or source data.</a:t>
            </a:r>
          </a:p>
          <a:p xmlns:a="http://schemas.openxmlformats.org/drawingml/2006/main">
            <a:r>
              <a:t/>
            </a:r>
          </a:p>
          <a:p xmlns:a="http://schemas.openxmlformats.org/drawingml/2006/main">
            <a:r>
              <a:t>Line 3: print(raw["building"].nunique())</a:t>
            </a:r>
          </a:p>
          <a:p xmlns:a="http://schemas.openxmlformats.org/drawingml/2006/main">
            <a:r>
              <a:t>Display raw['building'].nunique(). Read these values alongside their source column labels. The display does not change the calculation or source data.</a:t>
            </a:r>
          </a:p>
          <a:p xmlns:a="http://schemas.openxmlformats.org/drawingml/2006/main">
            <a:r>
              <a:t/>
            </a:r>
          </a:p>
          <a:p xmlns:a="http://schemas.openxmlformats.org/drawingml/2006/main">
            <a:r>
              <a:t>Line 4: print(totals.idxmax())</a:t>
            </a:r>
          </a:p>
          <a:p xmlns:a="http://schemas.openxmlformats.org/drawingml/2006/main">
            <a:r>
              <a:t>Display totals.idxmax(). Read these values alongside their source column labels. The display does not change the calculation or source data.</a:t>
            </a:r>
          </a:p>
          <a:p xmlns:a="http://schemas.openxmlformats.org/drawingml/2006/main">
            <a:r>
              <a:t/>
            </a:r>
          </a:p>
          <a:p xmlns:a="http://schemas.openxmlformats.org/drawingml/2006/main">
            <a:r>
              <a:t>Reading the result</a:t>
            </a:r>
          </a:p>
          <a:p xmlns:a="http://schemas.openxmlformats.org/drawingml/2006/main">
            <a:r>
              <a:t>The labelled totals add energy over the recorded months. The distinct-label count is the number of buildings, and the final name identifies the largest total.</a:t>
            </a:r>
          </a:p>
          <a:p xmlns:a="http://schemas.openxmlformats.org/drawingml/2006/main">
            <a:r>
              <a:t/>
            </a:r>
          </a:p>
          <a:p xmlns:a="http://schemas.openxmlformats.org/drawingml/2006/main">
            <a:r>
              <a:t>Output from the supplied CSV (this cohort):</a:t>
            </a:r>
          </a:p>
          <a:p xmlns:a="http://schemas.openxmlformats.org/drawingml/2006/main">
            <a:r>
              <a:t>building</a:t>
            </a:r>
          </a:p>
          <a:p xmlns:a="http://schemas.openxmlformats.org/drawingml/2006/main">
            <a:r>
              <a:t>Admin Tower        7385</a:t>
            </a:r>
          </a:p>
          <a:p xmlns:a="http://schemas.openxmlformats.org/drawingml/2006/main">
            <a:r>
              <a:t>Hostel Block C    29530</a:t>
            </a:r>
          </a:p>
          <a:p xmlns:a="http://schemas.openxmlformats.org/drawingml/2006/main">
            <a:r>
              <a:t>Hostel Block D    26745</a:t>
            </a:r>
          </a:p>
          <a:p xmlns:a="http://schemas.openxmlformats.org/drawingml/2006/main">
            <a:r>
              <a:t>Kabojja Lab       16270</a:t>
            </a:r>
          </a:p>
          <a:p xmlns:a="http://schemas.openxmlformats.org/drawingml/2006/main">
            <a:r>
              <a:t>Lecture Hall 2     5685</a:t>
            </a:r>
          </a:p>
          <a:p xmlns:a="http://schemas.openxmlformats.org/drawingml/2006/main">
            <a:r>
              <a:t>Library            9650</a:t>
            </a:r>
          </a:p>
          <a:p xmlns:a="http://schemas.openxmlformats.org/drawingml/2006/main">
            <a:r>
              <a:t>Server Room       17205</a:t>
            </a:r>
          </a:p>
          <a:p xmlns:a="http://schemas.openxmlformats.org/drawingml/2006/main">
            <a:r>
              <a:t>Workshop A        23515</a:t>
            </a:r>
          </a:p>
          <a:p xmlns:a="http://schemas.openxmlformats.org/drawingml/2006/main">
            <a:r>
              <a:t>Name: kwh, dtype: int64</a:t>
            </a:r>
          </a:p>
          <a:p xmlns:a="http://schemas.openxmlformats.org/drawingml/2006/main">
            <a:r>
              <a:t>8</a:t>
            </a:r>
          </a:p>
          <a:p xmlns:a="http://schemas.openxmlformats.org/drawingml/2006/main">
            <a:r>
              <a:t>Hostel Block C</a:t>
            </a:r>
          </a:p>
          <a:p xmlns:a="http://schemas.openxmlformats.org/drawingml/2006/main">
            <a:r>
              <a:t/>
            </a:r>
          </a:p>
          <a:p xmlns:a="http://schemas.openxmlformats.org/drawingml/2006/main">
            <a:r>
              <a:t/>
            </a:r>
          </a:p>
          <a:p xmlns:a="http://schemas.openxmlformats.org/drawingml/2006/main">
            <a:r>
              <a:t>Further explanation</a:t>
            </a:r>
          </a:p>
          <a:p xmlns:a="http://schemas.openxmlformats.org/drawingml/2006/main">
            <a:r>
              <a:t>Trace one building back to its source rows. pandas performs the grouping and addition.</a:t>
            </a:r>
          </a:p>
          <a:p xmlns:a="http://schemas.openxmlformats.org/drawingml/2006/main">
            <a:r>
              <a:t/>
            </a:r>
          </a:p>
          <a:p xmlns:a="http://schemas.openxmlformats.org/drawingml/2006/main">
            <a:r>
              <a:t>Complete worked example:</a:t>
            </a:r>
          </a:p>
          <a:p xmlns:a="http://schemas.openxmlformats.org/drawingml/2006/main">
            <a:r>
              <a:t>totals = raw.groupby("building")["kwh"].sum()</a:t>
            </a:r>
          </a:p>
          <a:p xmlns:a="http://schemas.openxmlformats.org/drawingml/2006/main">
            <a:r>
              <a:t>print(totals)</a:t>
            </a:r>
          </a:p>
          <a:p xmlns:a="http://schemas.openxmlformats.org/drawingml/2006/main">
            <a:r>
              <a:t>print(raw["building"].nunique())</a:t>
            </a:r>
          </a:p>
          <a:p xmlns:a="http://schemas.openxmlformats.org/drawingml/2006/main">
            <a:r>
              <a:t>print(totals.idxmax())</a:t>
            </a:r>
          </a:p>
          <a:p xmlns:a="http://schemas.openxmlformats.org/drawingml/2006/main">
            <a:r>
              <a:t/>
            </a:r>
          </a:p>
          <a:p xmlns:a="http://schemas.openxmlformats.org/drawingml/2006/main">
            <a:r>
              <a:t>Result from the supplied example</a:t>
            </a:r>
          </a:p>
          <a:p xmlns:a="http://schemas.openxmlformats.org/drawingml/2006/main">
            <a:r>
              <a:t>building</a:t>
            </a:r>
          </a:p>
          <a:p xmlns:a="http://schemas.openxmlformats.org/drawingml/2006/main">
            <a:r>
              <a:t>Admin Tower        7385</a:t>
            </a:r>
          </a:p>
          <a:p xmlns:a="http://schemas.openxmlformats.org/drawingml/2006/main">
            <a:r>
              <a:t>Hostel Block C    29530</a:t>
            </a:r>
          </a:p>
          <a:p xmlns:a="http://schemas.openxmlformats.org/drawingml/2006/main">
            <a:r>
              <a:t>Hostel Block D    26745</a:t>
            </a:r>
          </a:p>
          <a:p xmlns:a="http://schemas.openxmlformats.org/drawingml/2006/main">
            <a:r>
              <a:t>Kabojja Lab       16270</a:t>
            </a:r>
          </a:p>
          <a:p xmlns:a="http://schemas.openxmlformats.org/drawingml/2006/main">
            <a:r>
              <a:t>Lecture Hall 2     5685</a:t>
            </a:r>
          </a:p>
          <a:p xmlns:a="http://schemas.openxmlformats.org/drawingml/2006/main">
            <a:r>
              <a:t>Library            9650</a:t>
            </a:r>
          </a:p>
          <a:p xmlns:a="http://schemas.openxmlformats.org/drawingml/2006/main">
            <a:r>
              <a:t>Server Room       17205</a:t>
            </a:r>
          </a:p>
          <a:p xmlns:a="http://schemas.openxmlformats.org/drawingml/2006/main">
            <a:r>
              <a:t>Workshop A        23515</a:t>
            </a:r>
          </a:p>
          <a:p xmlns:a="http://schemas.openxmlformats.org/drawingml/2006/main">
            <a:r>
              <a:t>Name: kwh, dtype: int64</a:t>
            </a:r>
          </a:p>
          <a:p xmlns:a="http://schemas.openxmlformats.org/drawingml/2006/main">
            <a:r>
              <a:t>8</a:t>
            </a:r>
          </a:p>
          <a:p xmlns:a="http://schemas.openxmlformats.org/drawingml/2006/main">
            <a:r>
              <a:t>Hostel Block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zero denominator cannot define a unit rate. Filtering here is for this rate demonstration, not an instruction to delete the original observation.</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or replacing a column</a:t>
            </a:r>
          </a:p>
          <a:p xmlns:a="http://schemas.openxmlformats.org/drawingml/2006/main">
            <a:r>
              <a:t>table["name"] = values assigns that column. An array follows row order. A Series aligns by row label, so keep labels paired with the intended observations.</a:t>
            </a:r>
          </a:p>
          <a:p xmlns:a="http://schemas.openxmlformats.org/drawingml/2006/main">
            <a:r>
              <a:t/>
            </a:r>
          </a:p>
          <a:p xmlns:a="http://schemas.openxmlformats.org/drawingml/2006/main">
            <a:r>
              <a:t>Column arithmetic</a:t>
            </a:r>
          </a:p>
          <a:p xmlns:a="http://schemas.openxmlformats.org/drawingml/2006/main">
            <a:r>
              <a:t>Arithmetic on columns calculates one result per row. Series align by row label. Divide only where the denominator is valid and keep actual and predicted observations paired.</a:t>
            </a:r>
          </a:p>
          <a:p xmlns:a="http://schemas.openxmlformats.org/drawingml/2006/main">
            <a:r>
              <a:t/>
            </a:r>
          </a:p>
          <a:p xmlns:a="http://schemas.openxmlformats.org/drawingml/2006/main">
            <a:r>
              <a:t>A separate working table</a:t>
            </a:r>
          </a:p>
          <a:p xmlns:a="http://schemas.openxmlformats.org/drawingml/2006/main">
            <a:r>
              <a:t>table.copy() creates a working copy. Assigning columns on this copy preserves the source table, so you can compare before and after.</a:t>
            </a:r>
          </a:p>
          <a:p xmlns:a="http://schemas.openxmlformats.org/drawingml/2006/main">
            <a:r>
              <a:t/>
            </a:r>
          </a:p>
          <a:p xmlns:a="http://schemas.openxmlformats.org/drawingml/2006/main">
            <a:r>
              <a:t>Reference: https://pandas.pydata.org/docs/getting_started/intro_tutorials/index.html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walkthrough</a:t>
            </a:r>
          </a:p>
          <a:p xmlns:a="http://schemas.openxmlformats.org/drawingml/2006/main">
            <a:r>
              <a:t>Line 1: priced = raw[raw["kwh"] &gt; 0].copy()</a:t>
            </a:r>
          </a:p>
          <a:p xmlns:a="http://schemas.openxmlformats.org/drawingml/2006/main">
            <a:r>
              <a:t>Select positive energy readings and copy them before calculating a unit rate.</a:t>
            </a:r>
          </a:p>
          <a:p xmlns:a="http://schemas.openxmlformats.org/drawingml/2006/main">
            <a:r>
              <a:t/>
            </a:r>
          </a:p>
          <a:p xmlns:a="http://schemas.openxmlformats.org/drawingml/2006/main">
            <a:r>
              <a:t>Line 2: priced["rate_ugx_per_kwh"] = priced["cost_ugx"] / priced["kwh"]</a:t>
            </a:r>
          </a:p>
          <a:p xmlns:a="http://schemas.openxmlformats.org/drawingml/2006/main">
            <a:r>
              <a:t>Divide each recorded cost by its paired positive energy reading. The new column has units UGX/kWh.</a:t>
            </a:r>
          </a:p>
          <a:p xmlns:a="http://schemas.openxmlformats.org/drawingml/2006/main">
            <a:r>
              <a:t/>
            </a:r>
          </a:p>
          <a:p xmlns:a="http://schemas.openxmlformats.org/drawingml/2006/main">
            <a:r>
              <a:t>Line 3: print(priced[["building", "kwh", "cost_ugx", "rate_ugx_per_kwh"]].head())</a:t>
            </a:r>
          </a:p>
          <a:p xmlns:a="http://schemas.openxmlformats.org/drawingml/2006/main">
            <a:r>
              <a:t>Display priced[['building', 'kwh', 'cost_ugx', 'rate_ugx_per_kwh']].head(). Read these values alongside their source column labels. The display does not change the calculation or source data.</a:t>
            </a:r>
          </a:p>
          <a:p xmlns:a="http://schemas.openxmlformats.org/drawingml/2006/main">
            <a:r>
              <a:t/>
            </a:r>
          </a:p>
          <a:p xmlns:a="http://schemas.openxmlformats.org/drawingml/2006/main">
            <a:r>
              <a:t>Reading the result</a:t>
            </a:r>
          </a:p>
          <a:p xmlns:a="http://schemas.openxmlformats.org/drawingml/2006/main">
            <a:r>
              <a:t>For any displayed row, divide cost_ugx by kwh to reproduce the rate. Compare rates only where energy is positive.</a:t>
            </a:r>
          </a:p>
          <a:p xmlns:a="http://schemas.openxmlformats.org/drawingml/2006/main">
            <a:r>
              <a:t/>
            </a:r>
          </a:p>
          <a:p xmlns:a="http://schemas.openxmlformats.org/drawingml/2006/main">
            <a:r>
              <a:t>Output from the supplied CSV (this cohort):</a:t>
            </a:r>
          </a:p>
          <a:p xmlns:a="http://schemas.openxmlformats.org/drawingml/2006/main">
            <a:r>
              <a:t>      building   kwh  cost_ugx  rate_ugx_per_kwh</a:t>
            </a:r>
          </a:p>
          <a:p xmlns:a="http://schemas.openxmlformats.org/drawingml/2006/main">
            <a:r>
              <a:t>0  Kabojja Lab  4820   3374000             700.0</a:t>
            </a:r>
          </a:p>
          <a:p xmlns:a="http://schemas.openxmlformats.org/drawingml/2006/main">
            <a:r>
              <a:t>1  Kabojja Lab  5310   3717000             700.0</a:t>
            </a:r>
          </a:p>
          <a:p xmlns:a="http://schemas.openxmlformats.org/drawingml/2006/main">
            <a:r>
              <a:t>2  Kabojja Lab  6140   4298000             700.0</a:t>
            </a:r>
          </a:p>
          <a:p xmlns:a="http://schemas.openxmlformats.org/drawingml/2006/main">
            <a:r>
              <a:t>3   Workshop A  7420   5194000             700.0</a:t>
            </a:r>
          </a:p>
          <a:p xmlns:a="http://schemas.openxmlformats.org/drawingml/2006/main">
            <a:r>
              <a:t>4   Workshop A  7980   5586000             700.0</a:t>
            </a:r>
          </a:p>
          <a:p xmlns:a="http://schemas.openxmlformats.org/drawingml/2006/main">
            <a:r>
              <a:t/>
            </a:r>
          </a:p>
          <a:p xmlns:a="http://schemas.openxmlformats.org/drawingml/2006/main">
            <a:r>
              <a:t/>
            </a:r>
          </a:p>
          <a:p xmlns:a="http://schemas.openxmlformats.org/drawingml/2006/main">
            <a:r>
              <a:t>Further explanation</a:t>
            </a:r>
          </a:p>
          <a:p xmlns:a="http://schemas.openxmlformats.org/drawingml/2006/main">
            <a:r>
              <a:t>The two columns come from the same source row. Double brackets select a list of columns in the requested display order.</a:t>
            </a:r>
          </a:p>
          <a:p xmlns:a="http://schemas.openxmlformats.org/drawingml/2006/main">
            <a:r>
              <a:t/>
            </a:r>
          </a:p>
          <a:p xmlns:a="http://schemas.openxmlformats.org/drawingml/2006/main">
            <a:r>
              <a:t>Complete worked example:</a:t>
            </a:r>
          </a:p>
          <a:p xmlns:a="http://schemas.openxmlformats.org/drawingml/2006/main">
            <a:r>
              <a:t>priced = raw[raw["kwh"] &gt; 0].copy()</a:t>
            </a:r>
          </a:p>
          <a:p xmlns:a="http://schemas.openxmlformats.org/drawingml/2006/main">
            <a:r>
              <a:t>priced["rate_ugx_per_kwh"] = priced["cost_ugx"] / priced["kwh"]</a:t>
            </a:r>
          </a:p>
          <a:p xmlns:a="http://schemas.openxmlformats.org/drawingml/2006/main">
            <a:r>
              <a:t>print(priced[["building", "kwh", "cost_ugx", "rate_ugx_per_kwh"]].head())</a:t>
            </a:r>
          </a:p>
          <a:p xmlns:a="http://schemas.openxmlformats.org/drawingml/2006/main">
            <a:r>
              <a:t/>
            </a:r>
          </a:p>
          <a:p xmlns:a="http://schemas.openxmlformats.org/drawingml/2006/main">
            <a:r>
              <a:t>Result from the supplied example</a:t>
            </a:r>
          </a:p>
          <a:p xmlns:a="http://schemas.openxmlformats.org/drawingml/2006/main">
            <a:r>
              <a:t>building   kwh  cost_ugx  rate_ugx_per_kwh</a:t>
            </a:r>
          </a:p>
          <a:p xmlns:a="http://schemas.openxmlformats.org/drawingml/2006/main">
            <a:r>
              <a:t>0  Kabojja Lab  4820   3374000             700.0</a:t>
            </a:r>
          </a:p>
          <a:p xmlns:a="http://schemas.openxmlformats.org/drawingml/2006/main">
            <a:r>
              <a:t>1  Kabojja Lab  5310   3717000             700.0</a:t>
            </a:r>
          </a:p>
          <a:p xmlns:a="http://schemas.openxmlformats.org/drawingml/2006/main">
            <a:r>
              <a:t>2  Kabojja Lab  6140   4298000             700.0</a:t>
            </a:r>
          </a:p>
          <a:p xmlns:a="http://schemas.openxmlformats.org/drawingml/2006/main">
            <a:r>
              <a:t>3   Workshop A  7420   5194000             700.0</a:t>
            </a:r>
          </a:p>
          <a:p xmlns:a="http://schemas.openxmlformats.org/drawingml/2006/main">
            <a:r>
              <a:t>4   Workshop A  7980   5586000             700.0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issued assignment</a:t>
            </a:r>
          </a:p>
          <a:p xmlns:a="http://schemas.openxmlformats.org/drawingml/2006/main">
            <a:r>
              <a:t>CML3113, Week 5, slide 34</a:t>
            </a:r>
          </a:p>
          <a:p xmlns:a="http://schemas.openxmlformats.org/drawingml/2006/main">
            <a:r>
              <a:t/>
            </a:r>
          </a:p>
          <a:p xmlns:a="http://schemas.openxmlformats.org/drawingml/2006/main">
            <a:r>
              <a:t>Explanation to give</a:t>
            </a:r>
          </a:p>
          <a:p xmlns:a="http://schemas.openxmlformats.org/drawingml/2006/main">
            <a:r>
              <a:t>A5 uses the supplied campus_energy.csv and six named pandas outputs. Start with the loaded table, then create the rate column before taking the filtered subset.</a:t>
            </a:r>
          </a:p>
          <a:p xmlns:a="http://schemas.openxmlformats.org/drawingml/2006/main">
            <a:r>
              <a:t/>
            </a:r>
          </a:p>
          <a:p xmlns:a="http://schemas.openxmlformats.org/drawingml/2006/main">
            <a:r>
              <a:t>Worked illustration / lecturer answer</a:t>
            </a:r>
          </a:p>
          <a:p xmlns:a="http://schemas.openxmlformats.org/drawingml/2006/main">
            <a:r>
              <a:t>Distinguish distinct meter count, a mean rate and the building with greatest total energy. These are three different questions about the same table.</a:t>
            </a:r>
          </a:p>
          <a:p xmlns:a="http://schemas.openxmlformats.org/drawingml/2006/main">
            <a:r>
              <a:t/>
            </a:r>
          </a:p>
          <a:p xmlns:a="http://schemas.openxmlformats.org/drawingml/2006/main">
            <a:r>
              <a:t>Misconception to address</a:t>
            </a:r>
          </a:p>
          <a:p xmlns:a="http://schemas.openxmlformats.org/drawingml/2006/main">
            <a:r>
              <a:t>Return the exact requested values in one completed notebook. The learner does not upload data, ZIPs, helper scripts or a separate report for A5.</a:t>
            </a:r>
          </a:p>
          <a:p xmlns:a="http://schemas.openxmlformats.org/drawingml/2006/main">
            <a:r>
              <a:t/>
            </a:r>
          </a:p>
          <a:p xmlns:a="http://schemas.openxmlformats.org/drawingml/2006/main">
            <a:r>
              <a:t>On this slide</a:t>
            </a:r>
          </a:p>
          <a:p xmlns:a="http://schemas.openxmlformats.org/drawingml/2006/main">
            <a:r>
              <a:t>Open W05_student.ipynb.</a:t>
            </a:r>
          </a:p>
          <a:p xmlns:a="http://schemas.openxmlformats.org/drawingml/2006/main">
            <a:r>
              <a:t/>
            </a:r>
          </a:p>
          <a:p xmlns:a="http://schemas.openxmlformats.org/drawingml/2006/main">
            <a:r>
              <a:t>Read every task and its input units before coding.</a:t>
            </a:r>
          </a:p>
          <a:p xmlns:a="http://schemas.openxmlformats.org/drawingml/2006/main">
            <a:r>
              <a:t/>
            </a:r>
          </a:p>
          <a:p xmlns:a="http://schemas.openxmlformats.org/drawingml/2006/main">
            <a:r>
              <a:t>Keep the required function names and returned outputs.</a:t>
            </a:r>
          </a:p>
          <a:p xmlns:a="http://schemas.openxmlformats.org/drawingml/2006/main">
            <a:r>
              <a:t/>
            </a:r>
          </a:p>
          <a:p xmlns:a="http://schemas.openxmlformats.org/drawingml/2006/main">
            <a:r>
              <a:t>Restart and run all cells, then save the completed notebook.</a:t>
            </a:r>
          </a:p>
          <a:p xmlns:a="http://schemas.openxmlformats.org/drawingml/2006/main">
            <a:r>
              <a:t/>
            </a:r>
          </a:p>
          <a:p xmlns:a="http://schemas.openxmlformats.org/drawingml/2006/main">
            <a:r>
              <a:t>Current notebook workflow</a:t>
            </a:r>
          </a:p>
          <a:p xmlns:a="http://schemas.openxmlformats.org/drawingml/2006/main">
            <a:r>
              <a:t>The latest student package contains no grader scripts or g.check cells. Restart and run the completed notebook, then submit it. Existing older submissions remain valid.</a:t>
            </a:r>
          </a:p>
          <a:p xmlns:a="http://schemas.openxmlformats.org/drawingml/2006/main">
            <a:r>
              <a:t/>
            </a:r>
          </a:p>
          <a:p xmlns:a="http://schemas.openxmlformats.org/drawingml/2006/main">
            <a:r>
              <a:t>Continue to</a:t>
            </a:r>
          </a:p>
          <a:p xmlns:a="http://schemas.openxmlformats.org/drawingml/2006/main">
            <a:r>
              <a:t>q1: 3 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q1: 3 marks</a:t>
            </a:r>
          </a:p>
          <a:p xmlns:a="http://schemas.openxmlformats.org/drawingml/2006/main">
            <a:r>
              <a:t/>
            </a:r>
          </a:p>
          <a:p xmlns:a="http://schemas.openxmlformats.org/drawingml/2006/main">
            <a:r>
              <a:t>Load campus_energy.csv into a DataFrame called df.</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q2: 3 marks</a:t>
            </a:r>
          </a:p>
          <a:p xmlns:a="http://schemas.openxmlformats.org/drawingml/2006/main">
            <a:r>
              <a:t/>
            </a:r>
          </a:p>
          <a:p xmlns:a="http://schemas.openxmlformats.org/drawingml/2006/main">
            <a:r>
              <a:t>Set n_meters to the number of distinct meters in the file.</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q3: 4 marks</a:t>
            </a:r>
          </a:p>
          <a:p xmlns:a="http://schemas.openxmlformats.org/drawingml/2006/main">
            <a:r>
              <a:t/>
            </a:r>
          </a:p>
          <a:p xmlns:a="http://schemas.openxmlformats.org/drawingml/2006/main">
            <a:r>
              <a:t>Add a column cost_per_kwh to df, equal to cost_ugx / kwh.</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q4: 4 marks</a:t>
            </a:r>
          </a:p>
          <a:p xmlns:a="http://schemas.openxmlformats.org/drawingml/2006/main">
            <a:r>
              <a:t/>
            </a:r>
          </a:p>
          <a:p xmlns:a="http://schemas.openxmlformats.org/drawingml/2006/main">
            <a:r>
              <a:t>Set high_use to the rows of df where kwh is greater than 5000.</a:t>
            </a:r>
          </a:p>
          <a:p xmlns:a="http://schemas.openxmlformats.org/drawingml/2006/main">
            <a:r>
              <a:t/>
            </a:r>
          </a:p>
          <a:p xmlns:a="http://schemas.openxmlformats.org/drawingml/2006/main">
            <a:r>
              <a:t>Do this after q3 so the derived column comes along.</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q5: 3 marks</a:t>
            </a:r>
          </a:p>
          <a:p xmlns:a="http://schemas.openxmlformats.org/drawingml/2006/main">
            <a:r>
              <a:t/>
            </a:r>
          </a:p>
          <a:p xmlns:a="http://schemas.openxmlformats.org/drawingml/2006/main">
            <a:r>
              <a:t>Set mean_cost_per_kwh to the mean of the cost_per_kwh column.</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interface: q6: 3 marks</a:t>
            </a:r>
          </a:p>
          <a:p xmlns:a="http://schemas.openxmlformats.org/drawingml/2006/main">
            <a:r>
              <a:t/>
            </a:r>
          </a:p>
          <a:p xmlns:a="http://schemas.openxmlformats.org/drawingml/2006/main">
            <a:r>
              <a:t>Set peak_building to the name of the building with the highest total kwh.</a:t>
            </a:r>
          </a:p>
          <a:p xmlns:a="http://schemas.openxmlformats.org/drawingml/2006/main">
            <a:r>
              <a:t/>
            </a:r>
          </a:p>
          <a:p xmlns:a="http://schemas.openxmlformats.org/drawingml/2006/main">
            <a:r>
              <a:t>Keep these exact output keys and the function name. You may use descriptive local variable names, such as true_positive_count, but the returned dictionary must use the published key, such as tp. The grader checks keys and values; changing a key changes the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Pandas investigation submission</a:t>
            </a:r>
          </a:p>
          <a:p xmlns:a="http://schemas.openxmlformats.org/drawingml/2006/main">
            <a:r>
              <a:t>CML3113, Week 5, slide 41</a:t>
            </a:r>
          </a:p>
          <a:p xmlns:a="http://schemas.openxmlformats.org/drawingml/2006/main">
            <a:r>
              <a:t/>
            </a:r>
          </a:p>
          <a:p xmlns:a="http://schemas.openxmlformats.org/drawingml/2006/main">
            <a:r>
              <a:t>Explanation to give</a:t>
            </a:r>
          </a:p>
          <a:p xmlns:a="http://schemas.openxmlformats.org/drawingml/2006/main">
            <a:r>
              <a:t>This slide hands over CML3113 W05. Show the exact form title before uploading. The required packet is one completed .ipynb notebook.</a:t>
            </a:r>
          </a:p>
          <a:p xmlns:a="http://schemas.openxmlformats.org/drawingml/2006/main">
            <a:r>
              <a:t/>
            </a:r>
          </a:p>
          <a:p xmlns:a="http://schemas.openxmlformats.org/drawingml/2006/main">
            <a:r>
              <a:t>Worked illustration / lecturer answer</a:t>
            </a:r>
          </a:p>
          <a:p xmlns:a="http://schemas.openxmlformats.org/drawingml/2006/main">
            <a:r>
              <a:t>The recorded cutoff for this form is 2026-10-16T08:00:00+03:00. Check the live form for later changes. A replacement must contain the complete required file set, not just the changed file.</a:t>
            </a:r>
          </a:p>
          <a:p xmlns:a="http://schemas.openxmlformats.org/drawingml/2006/main">
            <a:r>
              <a:t/>
            </a:r>
          </a:p>
          <a:p xmlns:a="http://schemas.openxmlformats.org/drawingml/2006/main">
            <a:r>
              <a:t>Misconception to address</a:t>
            </a:r>
          </a:p>
          <a:p xmlns:a="http://schemas.openxmlformats.org/drawingml/2006/main">
            <a:r>
              <a:t>Students enter their own Student Registration Number as required freeform text. They wait for filenames to appear, press Submit and keep the confirmation. A file saved in Drive or GitHub is not itself a form submission.</a:t>
            </a:r>
          </a:p>
          <a:p xmlns:a="http://schemas.openxmlformats.org/drawingml/2006/main">
            <a:r>
              <a:t/>
            </a:r>
          </a:p>
          <a:p xmlns:a="http://schemas.openxmlformats.org/drawingml/2006/main">
            <a:r>
              <a:t>On this slide</a:t>
            </a:r>
          </a:p>
          <a:p xmlns:a="http://schemas.openxmlformats.org/drawingml/2006/main">
            <a:r>
              <a:t>Opens: 07 Oct 2026, 08:00 Kampala</a:t>
            </a:r>
          </a:p>
          <a:p xmlns:a="http://schemas.openxmlformats.org/drawingml/2006/main">
            <a:r>
              <a:t/>
            </a:r>
          </a:p>
          <a:p xmlns:a="http://schemas.openxmlformats.org/drawingml/2006/main">
            <a:r>
              <a:t>Deadline: 16 Oct 2026, 08:00 Kampala</a:t>
            </a:r>
          </a:p>
          <a:p xmlns:a="http://schemas.openxmlformats.org/drawingml/2006/main">
            <a:r>
              <a:t/>
            </a:r>
          </a:p>
          <a:p xmlns:a="http://schemas.openxmlformats.org/drawingml/2006/main">
            <a:r>
              <a:t>Use your full Student Registration Number in the form.</a:t>
            </a:r>
          </a:p>
          <a:p xmlns:a="http://schemas.openxmlformats.org/drawingml/2006/main">
            <a:r>
              <a:t/>
            </a:r>
          </a:p>
          <a:p xmlns:a="http://schemas.openxmlformats.org/drawingml/2006/main">
            <a:r>
              <a:t>Keep the submitted files and confirmation.</a:t>
            </a:r>
          </a:p>
          <a:p xmlns:a="http://schemas.openxmlformats.org/drawingml/2006/main">
            <a:r>
              <a:t/>
            </a:r>
          </a:p>
          <a:p xmlns:a="http://schemas.openxmlformats.org/drawingml/2006/main">
            <a:r>
              <a:t>Continue to</a:t>
            </a:r>
          </a:p>
          <a:p xmlns:a="http://schemas.openxmlformats.org/drawingml/2006/main">
            <a:r>
              <a:t>Project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preparation</a:t>
            </a:r>
          </a:p>
          <a:p xmlns:a="http://schemas.openxmlformats.org/drawingml/2006/main">
            <a:r>
              <a:t>CML3113, Week 5, slide 42</a:t>
            </a:r>
          </a:p>
          <a:p xmlns:a="http://schemas.openxmlformats.org/drawingml/2006/main">
            <a:r>
              <a:t/>
            </a:r>
          </a:p>
          <a:p xmlns:a="http://schemas.openxmlformats.org/drawingml/2006/main">
            <a:r>
              <a:t>Explanation to give</a:t>
            </a:r>
          </a:p>
          <a:p xmlns:a="http://schemas.openxmlformats.org/drawingml/2006/main">
            <a:r>
              <a:t>Make contribution evidence specific enough to check. A seed records the starting state of random choices; a contribution log records who produced and explained which work.</a:t>
            </a:r>
          </a:p>
          <a:p xmlns:a="http://schemas.openxmlformats.org/drawingml/2006/main">
            <a:r>
              <a:t/>
            </a:r>
          </a:p>
          <a:p xmlns:a="http://schemas.openxmlformats.org/drawingml/2006/main">
            <a:r>
              <a:t>Worked illustration / lecturer answer</a:t>
            </a:r>
          </a:p>
          <a:p xmlns:a="http://schemas.openxmlformats.org/drawingml/2006/main">
            <a:r>
              <a:t>Name a file, function or chart and the decision behind it. Match that entry to meaningful repository history. Disclose AI assistance according to the assessment policy.</a:t>
            </a:r>
          </a:p>
          <a:p xmlns:a="http://schemas.openxmlformats.org/drawingml/2006/main">
            <a:r>
              <a:t/>
            </a:r>
          </a:p>
          <a:p xmlns:a="http://schemas.openxmlformats.org/drawingml/2006/main">
            <a:r>
              <a:t>Misconception to address</a:t>
            </a:r>
          </a:p>
          <a:p xmlns:a="http://schemas.openxmlformats.org/drawingml/2006/main">
            <a:r>
              <a:t>Many commits do not necessarily mean substantial work, and a seed does not establish accuracy. Both are supporting evidence, not replacements for the analysis.</a:t>
            </a:r>
          </a:p>
          <a:p xmlns:a="http://schemas.openxmlformats.org/drawingml/2006/main">
            <a:r>
              <a:t/>
            </a:r>
          </a:p>
          <a:p xmlns:a="http://schemas.openxmlformats.org/drawingml/2006/main">
            <a:r>
              <a:t>On this slide</a:t>
            </a:r>
          </a:p>
          <a:p xmlns:a="http://schemas.openxmlformats.org/drawingml/2006/main">
            <a:r>
              <a:t>Use the published data analysis project brief.</a:t>
            </a:r>
          </a:p>
          <a:p xmlns:a="http://schemas.openxmlformats.org/drawingml/2006/main">
            <a:r>
              <a:t/>
            </a:r>
          </a:p>
          <a:p xmlns:a="http://schemas.openxmlformats.org/drawingml/2006/main">
            <a:r>
              <a:t>Build the evidence gradually in your project notebook.</a:t>
            </a:r>
          </a:p>
          <a:p xmlns:a="http://schemas.openxmlformats.org/drawingml/2006/main">
            <a:r>
              <a:t/>
            </a:r>
          </a:p>
          <a:p xmlns:a="http://schemas.openxmlformats.org/drawingml/2006/main">
            <a:r>
              <a:t>Keep raw data, labelled charts, run instructions and individual contributions.</a:t>
            </a:r>
          </a:p>
          <a:p xmlns:a="http://schemas.openxmlformats.org/drawingml/2006/main">
            <a:r>
              <a:t/>
            </a:r>
          </a:p>
          <a:p xmlns:a="http://schemas.openxmlformats.org/drawingml/2006/main">
            <a:r>
              <a:t>Published deadline: 30 Oct 2026, 08:00 Kampala</a:t>
            </a:r>
          </a:p>
          <a:p xmlns:a="http://schemas.openxmlformats.org/drawingml/2006/main">
            <a:r>
              <a:t/>
            </a:r>
          </a:p>
          <a:p xmlns:a="http://schemas.openxmlformats.org/drawingml/2006/main">
            <a:r>
              <a:t>Continue to</a:t>
            </a:r>
          </a:p>
          <a:p xmlns:a="http://schemas.openxmlformats.org/drawingml/2006/main">
            <a:r>
              <a:t>Week 5 quiz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5 quiz</a:t>
            </a:r>
          </a:p>
          <a:p xmlns:a="http://schemas.openxmlformats.org/drawingml/2006/main">
            <a:r>
              <a:t>CML3113, Week 5, slide 43</a:t>
            </a:r>
          </a:p>
          <a:p xmlns:a="http://schemas.openxmlformats.org/drawingml/2006/main">
            <a:r>
              <a:t/>
            </a:r>
          </a:p>
          <a:p xmlns:a="http://schemas.openxmlformats.org/drawingml/2006/main">
            <a:r>
              <a:t>Explanation to give</a:t>
            </a:r>
          </a:p>
          <a:p xmlns:a="http://schemas.openxmlformats.org/drawingml/2006/main">
            <a:r>
              <a:t>This is the CML3113 Week 5 quiz. The student link opens the response form; it does not activate its window. In Quiz Controls use open_W5_CML3113 when ready and read the logged closing time.</a:t>
            </a:r>
          </a:p>
          <a:p xmlns:a="http://schemas.openxmlformats.org/drawingml/2006/main">
            <a:r>
              <a:t/>
            </a:r>
          </a:p>
          <a:p xmlns:a="http://schemas.openxmlformats.org/drawingml/2006/main">
            <a:r>
              <a:t>Worked illustration / lecturer answer</a:t>
            </a:r>
          </a:p>
          <a:p xmlns:a="http://schemas.openxmlformats.org/drawingml/2006/main">
            <a:r>
              <a:t>Explain the distinction between the expected answering time and availability: five minutes of questions can still be available for 24 hours after activation. Enter the learner’s own Student Registration Number and use the registered Google account.</a:t>
            </a:r>
          </a:p>
          <a:p xmlns:a="http://schemas.openxmlformats.org/drawingml/2006/main">
            <a:r>
              <a:t/>
            </a:r>
          </a:p>
          <a:p xmlns:a="http://schemas.openxmlformats.org/drawingml/2006/main">
            <a:r>
              <a:t>Misconception to address</a:t>
            </a:r>
          </a:p>
          <a:p xmlns:a="http://schemas.openxmlformats.org/drawingml/2006/main">
            <a:r>
              <a:t>Read the exact live cutoff before announcing it. Do not promise a new attempt to somebody who already submitted. Quiz catch-up and assignment uploads are separate forms.</a:t>
            </a:r>
          </a:p>
          <a:p xmlns:a="http://schemas.openxmlformats.org/drawingml/2006/main">
            <a:r>
              <a:t/>
            </a:r>
          </a:p>
          <a:p xmlns:a="http://schemas.openxmlformats.org/drawingml/2006/main">
            <a:r>
              <a:t>On this slide</a:t>
            </a:r>
          </a:p>
          <a:p xmlns:a="http://schemas.openxmlformats.org/drawingml/2006/main">
            <a:r>
              <a:t>Answer individually after the lecturer activates the quiz.</a:t>
            </a:r>
          </a:p>
          <a:p xmlns:a="http://schemas.openxmlformats.org/drawingml/2006/main">
            <a:r>
              <a:t/>
            </a:r>
          </a:p>
          <a:p xmlns:a="http://schemas.openxmlformats.org/drawingml/2006/main">
            <a:r>
              <a:t>Available for 24 hours from activation.</a:t>
            </a:r>
          </a:p>
          <a:p xmlns:a="http://schemas.openxmlformats.org/drawingml/2006/main">
            <a:r>
              <a:t/>
            </a:r>
          </a:p>
          <a:p xmlns:a="http://schemas.openxmlformats.org/drawingml/2006/main">
            <a:r>
              <a:t>Use your Student Registration Number and registered account.</a:t>
            </a:r>
          </a:p>
          <a:p xmlns:a="http://schemas.openxmlformats.org/drawingml/2006/main">
            <a:r>
              <a:t/>
            </a:r>
          </a:p>
          <a:p xmlns:a="http://schemas.openxmlformats.org/drawingml/2006/main">
            <a:r>
              <a:t>Check the announced quiz closing time.</a:t>
            </a:r>
          </a:p>
          <a:p xmlns:a="http://schemas.openxmlformats.org/drawingml/2006/main">
            <a:r>
              <a:t/>
            </a:r>
          </a:p>
          <a:p xmlns:a="http://schemas.openxmlformats.org/drawingml/2006/main">
            <a:r>
              <a:t>Continue to</a:t>
            </a:r>
          </a:p>
          <a:p xmlns:a="http://schemas.openxmlformats.org/drawingml/2006/main">
            <a:r>
              <a:t>Week 5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5 support</a:t>
            </a:r>
          </a:p>
          <a:p xmlns:a="http://schemas.openxmlformats.org/drawingml/2006/main">
            <a:r>
              <a:t>CML3113, Week 5, slide 44</a:t>
            </a:r>
          </a:p>
          <a:p xmlns:a="http://schemas.openxmlformats.org/drawingml/2006/main">
            <a:r>
              <a:t/>
            </a:r>
          </a:p>
          <a:p xmlns:a="http://schemas.openxmlformats.org/drawingml/2006/main">
            <a:r>
              <a:t>Explanation to give</a:t>
            </a:r>
          </a:p>
          <a:p xmlns:a="http://schemas.openxmlformats.org/drawingml/2006/main">
            <a:r>
              <a:t>This is a scheduling notice for the Friday cohorts. Confirm the faculty-approved replacement teaching arrangement before announcing details.</a:t>
            </a:r>
          </a:p>
          <a:p xmlns:a="http://schemas.openxmlformats.org/drawingml/2006/main">
            <a:r>
              <a:t/>
            </a:r>
          </a:p>
          <a:p xmlns:a="http://schemas.openxmlformats.org/drawingml/2006/main">
            <a:r>
              <a:t>Worked illustration / lecturer answer</a:t>
            </a:r>
          </a:p>
          <a:p xmlns:a="http://schemas.openxmlformats.org/drawingml/2006/main">
            <a:r>
              <a:t>Provide a supported explanation of the pandas examples and an opportunity to ask questions. Begin the following session by revisiting column selection, masks and group summaries.</a:t>
            </a:r>
          </a:p>
          <a:p xmlns:a="http://schemas.openxmlformats.org/drawingml/2006/main">
            <a:r>
              <a:t/>
            </a:r>
          </a:p>
          <a:p xmlns:a="http://schemas.openxmlformats.org/drawingml/2006/main">
            <a:r>
              <a:t>Misconception to address</a:t>
            </a:r>
          </a:p>
          <a:p xmlns:a="http://schemas.openxmlformats.org/drawingml/2006/main">
            <a:r>
              <a:t>A published upload deadline is separate from a replacement teaching session. Do not invent a session time or treat video-only homework as sufficient replacement support.</a:t>
            </a:r>
          </a:p>
          <a:p xmlns:a="http://schemas.openxmlformats.org/drawingml/2006/main">
            <a:r>
              <a:t/>
            </a:r>
          </a:p>
          <a:p xmlns:a="http://schemas.openxmlformats.org/drawingml/2006/main">
            <a:r>
              <a:t>On this slide</a:t>
            </a:r>
          </a:p>
          <a:p xmlns:a="http://schemas.openxmlformats.org/drawingml/2006/main">
            <a:r>
              <a:t>Friday 9 October has no normal class.</a:t>
            </a:r>
          </a:p>
          <a:p xmlns:a="http://schemas.openxmlformats.org/drawingml/2006/main">
            <a:r>
              <a:t/>
            </a:r>
          </a:p>
          <a:p xmlns:a="http://schemas.openxmlformats.org/drawingml/2006/main">
            <a:r>
              <a:t>The lecturer will announce a supported replacement session or recording with a clinic.</a:t>
            </a:r>
          </a:p>
          <a:p xmlns:a="http://schemas.openxmlformats.org/drawingml/2006/main">
            <a:r>
              <a:t/>
            </a:r>
          </a:p>
          <a:p xmlns:a="http://schemas.openxmlformats.org/drawingml/2006/main">
            <a:r>
              <a:t>Week 6 starts with 30 minutes of consolidation.</a:t>
            </a:r>
          </a:p>
          <a:p xmlns:a="http://schemas.openxmlformats.org/drawingml/2006/main">
            <a:r>
              <a:t/>
            </a:r>
          </a:p>
          <a:p xmlns:a="http://schemas.openxmlformats.org/drawingml/2006/main">
            <a:r>
              <a:t>Continue to</a:t>
            </a:r>
          </a:p>
          <a:p xmlns:a="http://schemas.openxmlformats.org/drawingml/2006/main">
            <a:r>
              <a:t>Revision and submission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and submission checklist</a:t>
            </a:r>
          </a:p>
          <a:p xmlns:a="http://schemas.openxmlformats.org/drawingml/2006/main">
            <a:r>
              <a:t>CML3113, Week 5, slide 45</a:t>
            </a:r>
          </a:p>
          <a:p xmlns:a="http://schemas.openxmlformats.org/drawingml/2006/main">
            <a:r>
              <a:t/>
            </a:r>
          </a:p>
          <a:p xmlns:a="http://schemas.openxmlformats.org/drawingml/2006/main">
            <a:r>
              <a:t>Explanation to give</a:t>
            </a:r>
          </a:p>
          <a:p xmlns:a="http://schemas.openxmlformats.org/drawingml/2006/main">
            <a:r>
              <a:t>pandas performs table operations that build on the lists, records and loops already taught. Explain the row, column and unit before using an operation.</a:t>
            </a:r>
          </a:p>
          <a:p xmlns:a="http://schemas.openxmlformats.org/drawingml/2006/main">
            <a:r>
              <a:t/>
            </a:r>
          </a:p>
          <a:p xmlns:a="http://schemas.openxmlformats.org/drawingml/2006/main">
            <a:r>
              <a:t>Worked illustration / lecturer answer</a:t>
            </a:r>
          </a:p>
          <a:p xmlns:a="http://schemas.openxmlformats.org/drawingml/2006/main">
            <a:r>
              <a:t>A filter retains matching rows. groupby gathers matching labels. For A:2, A:3, B:4, the totals are A:5 and B:4.</a:t>
            </a:r>
          </a:p>
          <a:p xmlns:a="http://schemas.openxmlformats.org/drawingml/2006/main">
            <a:r>
              <a:t/>
            </a:r>
          </a:p>
          <a:p xmlns:a="http://schemas.openxmlformats.org/drawingml/2006/main">
            <a:r>
              <a:t>Misconception to address</a:t>
            </a:r>
          </a:p>
          <a:p xmlns:a="http://schemas.openxmlformats.org/drawingml/2006/main">
            <a:r>
              <a:t>Close by identifying the actual saved file and its correct submission route. Read the live deadline. For current weekly notebook tasks, students upload their own work, not the practice notebook, ZIP or grading files.</a:t>
            </a:r>
          </a:p>
          <a:p xmlns:a="http://schemas.openxmlformats.org/drawingml/2006/main">
            <a:r>
              <a:t/>
            </a:r>
          </a:p>
          <a:p xmlns:a="http://schemas.openxmlformats.org/drawingml/2006/main">
            <a:r>
              <a:t>On this slide</a:t>
            </a:r>
          </a:p>
          <a:p xmlns:a="http://schemas.openxmlformats.org/drawingml/2006/main">
            <a:r>
              <a:t>You can explain which observations a filter keeps and what a grouped total means.</a:t>
            </a:r>
          </a:p>
          <a:p xmlns:a="http://schemas.openxmlformats.org/drawingml/2006/main">
            <a:r>
              <a:t/>
            </a:r>
          </a:p>
          <a:p xmlns:a="http://schemas.openxmlformats.org/drawingml/2006/main">
            <a:r>
              <a:t>Save your work and check the required submission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9fa8c0a7ab47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af96767f7f94f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1da617da8804c7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f2704edef749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94f20d78aab4b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c781696a15d4d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6AAE48-F6C9-421C-8A49-1AAFC994CA00}"/>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ADBF24C-4C44-438E-ABD7-3B4FAD33705C}"/>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A5F7807-8C73-4080-AB07-0584AB903702}"/>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2C7D7F-CD2A-427D-8CA2-1DAD41FF1929}"/>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0C9EF94-42C6-480B-8DBC-0BAC891FE232}"/>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BC48E1-658D-4A41-9641-65C719E1BED3}"/>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47C30D-31AE-46B9-BF7D-DFCCA3D958FE}"/>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E30B770-D2BC-4592-AE8B-997ED67128E4}"/>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CD5314-8EF3-4B67-98A3-BED7BEBEA316}"/>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E089CA-C1C9-480F-8FF6-23046459A966}"/>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d3b00ab1cf4e22" /><Relationship Type="http://schemas.openxmlformats.org/officeDocument/2006/relationships/slideLayout" Target="/ppt/slideLayouts/slideLayout1.xml" Id="R8ceb19bba2104521" /><Relationship Type="http://schemas.openxmlformats.org/officeDocument/2006/relationships/slideLayout" Target="/ppt/slideLayouts/slideLayout2.xml" Id="R595da887f0554737" /><Relationship Type="http://schemas.openxmlformats.org/officeDocument/2006/relationships/slideLayout" Target="/ppt/slideLayouts/slideLayout3.xml" Id="R2344e38e6cab4c35" /><Relationship Type="http://schemas.openxmlformats.org/officeDocument/2006/relationships/slideLayout" Target="/ppt/slideLayouts/slideLayout4.xml" Id="R93bcc985022a4f36" /><Relationship Type="http://schemas.openxmlformats.org/officeDocument/2006/relationships/slideLayout" Target="/ppt/slideLayouts/slideLayout5.xml" Id="R86c22afc494448f2" /><Relationship Type="http://schemas.openxmlformats.org/officeDocument/2006/relationships/slideLayout" Target="/ppt/slideLayouts/slideLayout6.xml" Id="R90bde566041742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eb19bba2104521"/>
    <p:sldLayoutId xmlns:r="http://schemas.openxmlformats.org/officeDocument/2006/relationships" id="2147483650" r:id="R595da887f0554737"/>
    <p:sldLayoutId xmlns:r="http://schemas.openxmlformats.org/officeDocument/2006/relationships" id="2147483651" r:id="R2344e38e6cab4c35"/>
    <p:sldLayoutId xmlns:r="http://schemas.openxmlformats.org/officeDocument/2006/relationships" id="2147483652" r:id="R93bcc985022a4f36"/>
    <p:sldLayoutId xmlns:r="http://schemas.openxmlformats.org/officeDocument/2006/relationships" id="2147483653" r:id="R86c22afc494448f2"/>
    <p:sldLayoutId xmlns:r="http://schemas.openxmlformats.org/officeDocument/2006/relationships" id="2147483654" r:id="R90bde566041742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9375d3e9fab4918" /><Relationship Type="http://schemas.openxmlformats.org/officeDocument/2006/relationships/image" Target="/ppt/media/image.png" Id="Rcd5526bf34a64381" /><Relationship Type="http://schemas.openxmlformats.org/officeDocument/2006/relationships/notesSlide" Target="/ppt/notesSlides/notesSlide1.xml" Id="Re45fd77d60a14d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0b70c9da154362" /><Relationship Type="http://schemas.openxmlformats.org/officeDocument/2006/relationships/notesSlide" Target="/ppt/notesSlides/notesSlide2.xml" Id="Rbe08340b554b45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24024e0a04451d" /><Relationship Type="http://schemas.openxmlformats.org/officeDocument/2006/relationships/notesSlide" Target="/ppt/notesSlides/notesSlide3.xml" Id="R24a21b638fb640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953688f92f427c" /><Relationship Type="http://schemas.openxmlformats.org/officeDocument/2006/relationships/notesSlide" Target="/ppt/notesSlides/notesSlide4.xml" Id="R96d4d6901f6b46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9e948a7c60d44c0" /><Relationship Type="http://schemas.openxmlformats.org/officeDocument/2006/relationships/notesSlide" Target="/ppt/notesSlides/notesSlide5.xml" Id="R2249647febd84da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a7a05bb8c5b44b9" /><Relationship Type="http://schemas.openxmlformats.org/officeDocument/2006/relationships/notesSlide" Target="/ppt/notesSlides/notesSlide6.xml" Id="Rb9b47ca24c3c46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16661f844942bd" /><Relationship Type="http://schemas.openxmlformats.org/officeDocument/2006/relationships/notesSlide" Target="/ppt/notesSlides/notesSlide7.xml" Id="R94619df998cc42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bd6a2e0d36347ed" /><Relationship Type="http://schemas.openxmlformats.org/officeDocument/2006/relationships/notesSlide" Target="/ppt/notesSlides/notesSlide8.xml" Id="R70757056fc5c42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57c43a7f1b4972" /><Relationship Type="http://schemas.openxmlformats.org/officeDocument/2006/relationships/notesSlide" Target="/ppt/notesSlides/notesSlide9.xml" Id="Rab92de7e93004a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2a8d8842b1c43c0" /><Relationship Type="http://schemas.openxmlformats.org/officeDocument/2006/relationships/notesSlide" Target="/ppt/notesSlides/notesSlide10.xml" Id="R8b532de940774c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5cb017272414943" /><Relationship Type="http://schemas.openxmlformats.org/officeDocument/2006/relationships/notesSlide" Target="/ppt/notesSlides/notesSlide11.xml" Id="R0b076681d7f34b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60e83be959d4874" /><Relationship Type="http://schemas.openxmlformats.org/officeDocument/2006/relationships/notesSlide" Target="/ppt/notesSlides/notesSlide12.xml" Id="R4f0f8666cd9b42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26b2991e1404e22" /><Relationship Type="http://schemas.openxmlformats.org/officeDocument/2006/relationships/notesSlide" Target="/ppt/notesSlides/notesSlide13.xml" Id="R57b477a9309242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476b2c152e34fcb" /><Relationship Type="http://schemas.openxmlformats.org/officeDocument/2006/relationships/notesSlide" Target="/ppt/notesSlides/notesSlide14.xml" Id="R00e94a3266a6464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4f7eca79c14fca" /><Relationship Type="http://schemas.openxmlformats.org/officeDocument/2006/relationships/notesSlide" Target="/ppt/notesSlides/notesSlide15.xml" Id="R0fb96fa01a8e412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bb12a18679845cd" /><Relationship Type="http://schemas.openxmlformats.org/officeDocument/2006/relationships/notesSlide" Target="/ppt/notesSlides/notesSlide16.xml" Id="R11ab8f3b7f994b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8a0f00fc593483c" /><Relationship Type="http://schemas.openxmlformats.org/officeDocument/2006/relationships/notesSlide" Target="/ppt/notesSlides/notesSlide17.xml" Id="Rad81c76e18704ec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585ef1fe9ef4fe0" /><Relationship Type="http://schemas.openxmlformats.org/officeDocument/2006/relationships/notesSlide" Target="/ppt/notesSlides/notesSlide18.xml" Id="Rf72a0684fcdc45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944335dd6d34a97" /><Relationship Type="http://schemas.openxmlformats.org/officeDocument/2006/relationships/notesSlide" Target="/ppt/notesSlides/notesSlide19.xml" Id="R6377b599756a4c7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6007a7ce19a4213" /><Relationship Type="http://schemas.openxmlformats.org/officeDocument/2006/relationships/notesSlide" Target="/ppt/notesSlides/notesSlide20.xml" Id="Ra759485631f2405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1e26dc2322d459b" /><Relationship Type="http://schemas.openxmlformats.org/officeDocument/2006/relationships/notesSlide" Target="/ppt/notesSlides/notesSlide21.xml" Id="R414424c4ad32462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49cc36d53ec447a" /><Relationship Type="http://schemas.openxmlformats.org/officeDocument/2006/relationships/notesSlide" Target="/ppt/notesSlides/notesSlide22.xml" Id="Rcf5fe6a325594d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7ab525caad4460c" /><Relationship Type="http://schemas.openxmlformats.org/officeDocument/2006/relationships/notesSlide" Target="/ppt/notesSlides/notesSlide23.xml" Id="R718e8629d5e047f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2f9f568260143d0" /><Relationship Type="http://schemas.openxmlformats.org/officeDocument/2006/relationships/notesSlide" Target="/ppt/notesSlides/notesSlide24.xml" Id="Rb8995e4e8f084f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2a4f68ab38b43ec" /><Relationship Type="http://schemas.openxmlformats.org/officeDocument/2006/relationships/notesSlide" Target="/ppt/notesSlides/notesSlide25.xml" Id="Rcfc6d290c320491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85a050956a04d7b" /><Relationship Type="http://schemas.openxmlformats.org/officeDocument/2006/relationships/notesSlide" Target="/ppt/notesSlides/notesSlide26.xml" Id="R75c1759de9df423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6175fbdf95e4bc2" /><Relationship Type="http://schemas.openxmlformats.org/officeDocument/2006/relationships/notesSlide" Target="/ppt/notesSlides/notesSlide27.xml" Id="R5653f81826a640a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d0e73b6718d4cef" /><Relationship Type="http://schemas.openxmlformats.org/officeDocument/2006/relationships/notesSlide" Target="/ppt/notesSlides/notesSlide28.xml" Id="Rb5b4dc930c1a47d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ce050486e42496f" /><Relationship Type="http://schemas.openxmlformats.org/officeDocument/2006/relationships/notesSlide" Target="/ppt/notesSlides/notesSlide29.xml" Id="Rf094c233fc43489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82eae288f054d2e" /><Relationship Type="http://schemas.openxmlformats.org/officeDocument/2006/relationships/hyperlink" Target="https://docs.google.com/forms/d/e/1FAIpQLSehGqFG7PZ1wfoBRTaooiO6bw5XPXrKkDJ6kWCXi-YmEx69Eg/viewform" TargetMode="External" Id="R544e756340524458" /><Relationship Type="http://schemas.openxmlformats.org/officeDocument/2006/relationships/notesSlide" Target="/ppt/notesSlides/notesSlide30.xml" Id="R30774ab6cee74cc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5e241008a7c4b72" /><Relationship Type="http://schemas.openxmlformats.org/officeDocument/2006/relationships/notesSlide" Target="/ppt/notesSlides/notesSlide31.xml" Id="Rd3a50495fa6148d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730b144b61849ed" /><Relationship Type="http://schemas.openxmlformats.org/officeDocument/2006/relationships/image" Target="/ppt/media/image2.png" Id="R081de118fb004f9b" /><Relationship Type="http://schemas.openxmlformats.org/officeDocument/2006/relationships/hyperlink" Target="https://forms.gle/2bRrHnq3mUEN84k19" TargetMode="External" Id="Ra8e351c9e54946bb" /><Relationship Type="http://schemas.openxmlformats.org/officeDocument/2006/relationships/notesSlide" Target="/ppt/notesSlides/notesSlide32.xml" Id="R1f23ee0616a1470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a8d04b76d0149d1" /><Relationship Type="http://schemas.openxmlformats.org/officeDocument/2006/relationships/notesSlide" Target="/ppt/notesSlides/notesSlide33.xml" Id="Red0099e8dabb491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56c417993f34934" /><Relationship Type="http://schemas.openxmlformats.org/officeDocument/2006/relationships/notesSlide" Target="/ppt/notesSlides/notesSlide34.xml" Id="R12b750ac6f02410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35596DB-71ED-4AE8-840F-C5C99DD921F1}"/>
              </a:ext>
            </a:extLst>
          </p:cNvPr>
          <p:cNvPicPr>
            <a:picLocks xmlns:a="http://schemas.openxmlformats.org/drawingml/2006/main" noChangeAspect="1"/>
          </p:cNvPicPr>
          <p:nvPr/>
        </p:nvPicPr>
        <p:blipFill>
          <a:blip xmlns:r="http://schemas.openxmlformats.org/officeDocument/2006/relationships" xmlns:a="http://schemas.openxmlformats.org/drawingml/2006/main" r:embed="Rcd5526bf34a64381"/>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0DC839B-1ABC-48DA-B850-BFC4E2AABF8C}"/>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DA7B391-35D0-4789-8644-E4781AAB8507}"/>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5</a:t>
            </a:r>
          </a:p>
        </p:txBody>
      </p:sp>
      <p:sp>
        <p:nvSpPr>
          <p:cNvPr id="4" name="">
            <a:extLst xmlns:a="http://schemas.openxmlformats.org/drawingml/2006/main">
              <a:ext uri="{FF2B5EF4-FFF2-40B4-BE49-F238E27FC236}">
                <a16:creationId xmlns:a16="http://schemas.microsoft.com/office/drawing/2014/main" id="{00E32650-1B06-4C98-B642-DABB3CE2A9A4}"/>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Using pandas to answer table questions</a:t>
            </a:r>
          </a:p>
        </p:txBody>
      </p:sp>
      <p:sp>
        <p:nvSpPr>
          <p:cNvPr id="5" name="">
            <a:extLst xmlns:a="http://schemas.openxmlformats.org/drawingml/2006/main">
              <a:ext uri="{FF2B5EF4-FFF2-40B4-BE49-F238E27FC236}">
                <a16:creationId xmlns:a16="http://schemas.microsoft.com/office/drawing/2014/main" id="{57FDA299-EEDB-42A3-9056-C9786A1587ED}"/>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39D0EEB4-41CE-424A-8D3E-853CC9D95170}"/>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09 October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Friday 08:00–11:00, Room 105</a:t>
            </a:r>
          </a:p>
        </p:txBody>
      </p:sp>
    </p:spTree>
    <p:extLst>
      <p:ext uri="{BB962C8B-B14F-4D97-AF65-F5344CB8AC3E}">
        <p14:creationId xmlns:p14="http://schemas.microsoft.com/office/powerpoint/2010/main" val="7452791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0F458AF-68B0-456F-955E-012ED10A99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7BF3F3-5BB2-4B0C-B7B4-2555ECD4E4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TODAY’S DESTINATION</a:t>
            </a:r>
          </a:p>
        </p:txBody>
      </p:sp>
      <p:sp>
        <p:nvSpPr>
          <p:cNvPr id="3" name="">
            <a:extLst xmlns:a="http://schemas.openxmlformats.org/drawingml/2006/main">
              <a:ext uri="{FF2B5EF4-FFF2-40B4-BE49-F238E27FC236}">
                <a16:creationId xmlns:a16="http://schemas.microsoft.com/office/drawing/2014/main" id="{7E3A99C9-7D91-4871-9F5C-9D0D1F938E5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2438076B-61EE-4A1B-B13C-F6A75A186782}"/>
              </a:ext>
            </a:extLst>
          </p:cNvPr>
          <p:cNvSpPr>
            <a:spLocks xmlns:a="http://schemas.openxmlformats.org/drawingml/2006/main" noGrp="1"/>
          </p:cNvSpPr>
          <p:nvPr/>
        </p:nvSpPr>
        <p:spPr>
          <a:xfrm xmlns:a="http://schemas.openxmlformats.org/drawingml/2006/main">
            <a:off x="590550" y="1733550"/>
            <a:ext cx="5238750" cy="419100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B819E06-3ED7-4D78-B6EC-32DB1CBF35B5}"/>
              </a:ext>
            </a:extLst>
          </p:cNvPr>
          <p:cNvSpPr>
            <a:spLocks xmlns:a="http://schemas.openxmlformats.org/drawingml/2006/main" noGrp="1"/>
          </p:cNvSpPr>
          <p:nvPr/>
        </p:nvSpPr>
        <p:spPr>
          <a:xfrm xmlns:a="http://schemas.openxmlformats.org/drawingml/2006/main">
            <a:off x="828675" y="200025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E4572E"/>
                </a:solidFill>
                <a:latin typeface="Calibri"/>
                <a:ea typeface="Calibri"/>
                <a:cs typeface="Calibri"/>
              </a:defRPr>
            </a:defPPr>
            <a:lvl1pPr>
              <a:defRPr sz="1650" b="1">
                <a:solidFill>
                  <a:srgbClr val="E4572E"/>
                </a:solidFill>
                <a:latin typeface="Calibri"/>
                <a:ea typeface="Calibri"/>
                <a:cs typeface="Calibri"/>
              </a:defRPr>
            </a:lvl1pPr>
            <a:lvl2pPr>
              <a:defRPr sz="1650" b="1">
                <a:solidFill>
                  <a:srgbClr val="E4572E"/>
                </a:solidFill>
                <a:latin typeface="Calibri"/>
                <a:ea typeface="Calibri"/>
                <a:cs typeface="Calibri"/>
              </a:defRPr>
            </a:lvl2pPr>
            <a:lvl3pPr>
              <a:defRPr sz="1650" b="1">
                <a:solidFill>
                  <a:srgbClr val="E4572E"/>
                </a:solidFill>
                <a:latin typeface="Calibri"/>
                <a:ea typeface="Calibri"/>
                <a:cs typeface="Calibri"/>
              </a:defRPr>
            </a:lvl3pPr>
            <a:lvl4pPr>
              <a:defRPr sz="1650" b="1">
                <a:solidFill>
                  <a:srgbClr val="E4572E"/>
                </a:solidFill>
                <a:latin typeface="Calibri"/>
                <a:ea typeface="Calibri"/>
                <a:cs typeface="Calibri"/>
              </a:defRPr>
            </a:lvl4pPr>
            <a:lvl5pPr>
              <a:defRPr sz="1650" b="1">
                <a:solidFill>
                  <a:srgbClr val="E4572E"/>
                </a:solidFill>
                <a:latin typeface="Calibri"/>
                <a:ea typeface="Calibri"/>
                <a:cs typeface="Calibri"/>
              </a:defRPr>
            </a:lvl5pPr>
            <a:lvl6pPr>
              <a:defRPr sz="1650" b="1">
                <a:solidFill>
                  <a:srgbClr val="E4572E"/>
                </a:solidFill>
                <a:latin typeface="Calibri"/>
                <a:ea typeface="Calibri"/>
                <a:cs typeface="Calibri"/>
              </a:defRPr>
            </a:lvl6pPr>
            <a:lvl7pPr>
              <a:defRPr sz="1650" b="1">
                <a:solidFill>
                  <a:srgbClr val="E4572E"/>
                </a:solidFill>
                <a:latin typeface="Calibri"/>
                <a:ea typeface="Calibri"/>
                <a:cs typeface="Calibri"/>
              </a:defRPr>
            </a:lvl7pPr>
            <a:lvl8pPr>
              <a:defRPr sz="1650" b="1">
                <a:solidFill>
                  <a:srgbClr val="E4572E"/>
                </a:solidFill>
                <a:latin typeface="Calibri"/>
                <a:ea typeface="Calibri"/>
                <a:cs typeface="Calibri"/>
              </a:defRPr>
            </a:lvl8pPr>
            <a:lvl9pPr>
              <a:defRPr sz="1650" b="1">
                <a:solidFill>
                  <a:srgbClr val="E4572E"/>
                </a:solidFill>
                <a:latin typeface="Calibri"/>
                <a:ea typeface="Calibri"/>
                <a:cs typeface="Calibri"/>
              </a:defRPr>
            </a:lvl9pPr>
          </a:lstStyle>
          <a:p xmlns:a="http://schemas.openxmlformats.org/drawingml/2006/main">
            <a:pPr>
              <a:defRPr sz="1650" b="1">
                <a:solidFill>
                  <a:srgbClr val="E4572E"/>
                </a:solidFill>
                <a:latin typeface="Calibri"/>
                <a:ea typeface="Calibri"/>
                <a:cs typeface="Calibri"/>
              </a:defRPr>
            </a:pPr>
            <a:r>
              <a:rPr sz="1650" b="1">
                <a:solidFill>
                  <a:srgbClr val="E4572E"/>
                </a:solidFill>
                <a:latin typeface="Calibri"/>
                <a:ea typeface="Calibri"/>
                <a:cs typeface="Calibri"/>
              </a:rPr>
              <a:t>WHAT WE WILL DO</a:t>
            </a:r>
          </a:p>
        </p:txBody>
      </p:sp>
      <p:sp>
        <p:nvSpPr>
          <p:cNvPr id="6" name="">
            <a:extLst xmlns:a="http://schemas.openxmlformats.org/drawingml/2006/main">
              <a:ext uri="{FF2B5EF4-FFF2-40B4-BE49-F238E27FC236}">
                <a16:creationId xmlns:a16="http://schemas.microsoft.com/office/drawing/2014/main" id="{33422ED2-B947-4821-A7D1-1ABD9903F787}"/>
              </a:ext>
            </a:extLst>
          </p:cNvPr>
          <p:cNvSpPr>
            <a:spLocks xmlns:a="http://schemas.openxmlformats.org/drawingml/2006/main" noGrp="1"/>
          </p:cNvSpPr>
          <p:nvPr/>
        </p:nvSpPr>
        <p:spPr>
          <a:xfrm xmlns:a="http://schemas.openxmlformats.org/drawingml/2006/main">
            <a:off x="828675" y="2590800"/>
            <a:ext cx="47434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a labelled table and select rows.</a:t>
            </a:r>
          </a:p>
          <a:p xmlns:a="http://schemas.openxmlformats.org/drawingml/2006/main">
            <a: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Calculate column summaries and grouped totals.</a:t>
            </a:r>
          </a:p>
        </p:txBody>
      </p:sp>
      <p:sp>
        <p:nvSpPr>
          <p:cNvPr id="7" name="">
            <a:extLst xmlns:a="http://schemas.openxmlformats.org/drawingml/2006/main">
              <a:ext uri="{FF2B5EF4-FFF2-40B4-BE49-F238E27FC236}">
                <a16:creationId xmlns:a16="http://schemas.microsoft.com/office/drawing/2014/main" id="{844BF45B-B1EA-48DE-B8EB-8BE1FE70A655}"/>
              </a:ext>
            </a:extLst>
          </p:cNvPr>
          <p:cNvSpPr>
            <a:spLocks xmlns:a="http://schemas.openxmlformats.org/drawingml/2006/main" noGrp="1"/>
          </p:cNvSpPr>
          <p:nvPr/>
        </p:nvSpPr>
        <p:spPr>
          <a:xfrm xmlns:a="http://schemas.openxmlformats.org/drawingml/2006/main">
            <a:off x="6210300" y="2000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1">
                <a:solidFill>
                  <a:srgbClr val="2E7D6F"/>
                </a:solidFill>
                <a:latin typeface="Calibri"/>
                <a:ea typeface="Calibri"/>
                <a:cs typeface="Calibri"/>
              </a:defRPr>
            </a:defPPr>
            <a:lvl1pPr>
              <a:defRPr sz="1650" b="1">
                <a:solidFill>
                  <a:srgbClr val="2E7D6F"/>
                </a:solidFill>
                <a:latin typeface="Calibri"/>
                <a:ea typeface="Calibri"/>
                <a:cs typeface="Calibri"/>
              </a:defRPr>
            </a:lvl1pPr>
            <a:lvl2pPr>
              <a:defRPr sz="1650" b="1">
                <a:solidFill>
                  <a:srgbClr val="2E7D6F"/>
                </a:solidFill>
                <a:latin typeface="Calibri"/>
                <a:ea typeface="Calibri"/>
                <a:cs typeface="Calibri"/>
              </a:defRPr>
            </a:lvl2pPr>
            <a:lvl3pPr>
              <a:defRPr sz="1650" b="1">
                <a:solidFill>
                  <a:srgbClr val="2E7D6F"/>
                </a:solidFill>
                <a:latin typeface="Calibri"/>
                <a:ea typeface="Calibri"/>
                <a:cs typeface="Calibri"/>
              </a:defRPr>
            </a:lvl3pPr>
            <a:lvl4pPr>
              <a:defRPr sz="1650" b="1">
                <a:solidFill>
                  <a:srgbClr val="2E7D6F"/>
                </a:solidFill>
                <a:latin typeface="Calibri"/>
                <a:ea typeface="Calibri"/>
                <a:cs typeface="Calibri"/>
              </a:defRPr>
            </a:lvl4pPr>
            <a:lvl5pPr>
              <a:defRPr sz="1650" b="1">
                <a:solidFill>
                  <a:srgbClr val="2E7D6F"/>
                </a:solidFill>
                <a:latin typeface="Calibri"/>
                <a:ea typeface="Calibri"/>
                <a:cs typeface="Calibri"/>
              </a:defRPr>
            </a:lvl5pPr>
            <a:lvl6pPr>
              <a:defRPr sz="1650" b="1">
                <a:solidFill>
                  <a:srgbClr val="2E7D6F"/>
                </a:solidFill>
                <a:latin typeface="Calibri"/>
                <a:ea typeface="Calibri"/>
                <a:cs typeface="Calibri"/>
              </a:defRPr>
            </a:lvl6pPr>
            <a:lvl7pPr>
              <a:defRPr sz="1650" b="1">
                <a:solidFill>
                  <a:srgbClr val="2E7D6F"/>
                </a:solidFill>
                <a:latin typeface="Calibri"/>
                <a:ea typeface="Calibri"/>
                <a:cs typeface="Calibri"/>
              </a:defRPr>
            </a:lvl7pPr>
            <a:lvl8pPr>
              <a:defRPr sz="1650" b="1">
                <a:solidFill>
                  <a:srgbClr val="2E7D6F"/>
                </a:solidFill>
                <a:latin typeface="Calibri"/>
                <a:ea typeface="Calibri"/>
                <a:cs typeface="Calibri"/>
              </a:defRPr>
            </a:lvl8pPr>
            <a:lvl9pPr>
              <a:defRPr sz="1650" b="1">
                <a:solidFill>
                  <a:srgbClr val="2E7D6F"/>
                </a:solidFill>
                <a:latin typeface="Calibri"/>
                <a:ea typeface="Calibri"/>
                <a:cs typeface="Calibri"/>
              </a:defRPr>
            </a:lvl9pPr>
          </a:lstStyle>
          <a:p xmlns:a="http://schemas.openxmlformats.org/drawingml/2006/main">
            <a:pPr>
              <a:defRPr sz="1650" b="1">
                <a:solidFill>
                  <a:srgbClr val="2E7D6F"/>
                </a:solidFill>
                <a:latin typeface="Calibri"/>
                <a:ea typeface="Calibri"/>
                <a:cs typeface="Calibri"/>
              </a:defRPr>
            </a:pPr>
            <a:r>
              <a:rPr sz="1650" b="1">
                <a:solidFill>
                  <a:srgbClr val="2E7D6F"/>
                </a:solidFill>
                <a:latin typeface="Calibri"/>
                <a:ea typeface="Calibri"/>
                <a:cs typeface="Calibri"/>
              </a:rPr>
              <a:t>HOW YOU WILL SHOW IT</a:t>
            </a:r>
          </a:p>
        </p:txBody>
      </p:sp>
      <p:sp>
        <p:nvSpPr>
          <p:cNvPr id="8" name="">
            <a:extLst xmlns:a="http://schemas.openxmlformats.org/drawingml/2006/main">
              <a:ext uri="{FF2B5EF4-FFF2-40B4-BE49-F238E27FC236}">
                <a16:creationId xmlns:a16="http://schemas.microsoft.com/office/drawing/2014/main" id="{D5A855CA-C471-4666-862F-561CAE57D197}"/>
              </a:ext>
            </a:extLst>
          </p:cNvPr>
          <p:cNvSpPr>
            <a:spLocks xmlns:a="http://schemas.openxmlformats.org/drawingml/2006/main" noGrp="1"/>
          </p:cNvSpPr>
          <p:nvPr/>
        </p:nvSpPr>
        <p:spPr>
          <a:xfrm xmlns:a="http://schemas.openxmlformats.org/drawingml/2006/main">
            <a:off x="6210300" y="2590800"/>
            <a:ext cx="509587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can explain which observations a filter keeps and what a grouped total means.</a:t>
            </a:r>
          </a:p>
        </p:txBody>
      </p:sp>
      <p:sp>
        <p:nvSpPr>
          <p:cNvPr id="9" name="">
            <a:extLst xmlns:a="http://schemas.openxmlformats.org/drawingml/2006/main">
              <a:ext uri="{FF2B5EF4-FFF2-40B4-BE49-F238E27FC236}">
                <a16:creationId xmlns:a16="http://schemas.microsoft.com/office/drawing/2014/main" id="{38C8FD37-9A8E-46A6-BEF8-25964E2986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a:t>
            </a:r>
          </a:p>
        </p:txBody>
      </p:sp>
    </p:spTree>
    <p:extLst>
      <p:ext uri="{BB962C8B-B14F-4D97-AF65-F5344CB8AC3E}">
        <p14:creationId xmlns:p14="http://schemas.microsoft.com/office/powerpoint/2010/main" val="3407485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D9F392E-E6B3-4DDA-A418-A43D4DCD30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73F715-36DE-4C8B-AF73-7207EF978E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A8CEB2D-9B54-4458-B4A4-6880164653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DataFrame and column names</a:t>
            </a:r>
          </a:p>
        </p:txBody>
      </p:sp>
      <p:sp>
        <p:nvSpPr>
          <p:cNvPr id="4" name="">
            <a:extLst xmlns:a="http://schemas.openxmlformats.org/drawingml/2006/main">
              <a:ext uri="{FF2B5EF4-FFF2-40B4-BE49-F238E27FC236}">
                <a16:creationId xmlns:a16="http://schemas.microsoft.com/office/drawing/2014/main" id="{2517E217-A47A-4733-85BA-1B194EF4951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226047-A25C-4E0C-B828-7140905BCF7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740577F-2B38-4F88-B455-229AA0B0507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DataFrame is a table with named columns. campus_energy.csv contains meter_id, building, block, month, kwh and cost_ugx.</a:t>
            </a:r>
          </a:p>
        </p:txBody>
      </p:sp>
      <p:sp>
        <p:nvSpPr>
          <p:cNvPr id="7" name="">
            <a:extLst xmlns:a="http://schemas.openxmlformats.org/drawingml/2006/main">
              <a:ext uri="{FF2B5EF4-FFF2-40B4-BE49-F238E27FC236}">
                <a16:creationId xmlns:a16="http://schemas.microsoft.com/office/drawing/2014/main" id="{466EAAB0-6AA7-4D7E-8CE0-B05D42A3034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One row records a meter reading for a month. kwh measures energy and cost_ugx gives the cost in Uganda shillings.</a:t>
            </a:r>
          </a:p>
        </p:txBody>
      </p:sp>
      <p:sp>
        <p:nvSpPr>
          <p:cNvPr id="8" name="">
            <a:extLst xmlns:a="http://schemas.openxmlformats.org/drawingml/2006/main">
              <a:ext uri="{FF2B5EF4-FFF2-40B4-BE49-F238E27FC236}">
                <a16:creationId xmlns:a16="http://schemas.microsoft.com/office/drawing/2014/main" id="{CE574957-9A5D-42A3-9D99-71B0C050E51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a:t>
            </a:r>
          </a:p>
        </p:txBody>
      </p:sp>
    </p:spTree>
    <p:extLst>
      <p:ext uri="{BB962C8B-B14F-4D97-AF65-F5344CB8AC3E}">
        <p14:creationId xmlns:p14="http://schemas.microsoft.com/office/powerpoint/2010/main" val="21301820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3793C47-DB12-4663-B26E-DC07F87B79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F12D4E-A9DF-4174-A824-67596384895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8F556C3-04E4-445A-827C-161B30DA5C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5B25A974-240B-4E12-BED0-1696ACC833D8}"/>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2A7DC68-A186-429E-9146-2C22E67E449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BE174B7-3E92-4B5B-A02C-5F2C1171E8F3}"/>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campus_energy.csv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A308B848-EC8B-4CF7-BE93-BC46AB60E5B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D20619AA-7C40-4A89-BBC2-9311157CD0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4</a:t>
            </a:r>
          </a:p>
        </p:txBody>
      </p:sp>
    </p:spTree>
    <p:extLst>
      <p:ext uri="{BB962C8B-B14F-4D97-AF65-F5344CB8AC3E}">
        <p14:creationId xmlns:p14="http://schemas.microsoft.com/office/powerpoint/2010/main" val="167541761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C9B47F1-EEC1-4D0A-985F-E12798AC6FA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0216CF-FC07-42F3-9656-AB21118EE65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1389DB0-EE54-43FB-969C-501FBEAF970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6672446-A477-426A-BAA8-BEFE91A7843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F33CE370-1870-442B-A058-DBF363BF0A8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6ACFB024-2D88-43C6-928A-16BCD596FC89}"/>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84A88F6-622E-4A9D-B40B-6B2F979F28DD}"/>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DE6D27A0-A9BD-4E9C-A341-831ACC722D1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E2F1A3C-375A-4F8C-95EB-BDA8F6220DA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table.shape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EF488567-834C-4775-8947-C3E26D0435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5</a:t>
            </a:r>
          </a:p>
        </p:txBody>
      </p:sp>
    </p:spTree>
    <p:extLst>
      <p:ext uri="{BB962C8B-B14F-4D97-AF65-F5344CB8AC3E}">
        <p14:creationId xmlns:p14="http://schemas.microsoft.com/office/powerpoint/2010/main" val="69177584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776A12C-9A3C-4D0B-9ECB-6CE3B04951E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BF98CF-8805-4066-BAD6-7CBDD10D2F7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FA99A9D-802D-4D3F-BD5A-5E9CF37D69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1240DB2A-91E1-4AF9-BB46-345F7F40DE8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E364CD-E768-4A50-9434-7BAD92AE04CA}"/>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2C8F037-6273-4F90-A124-3B90AAE0E12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table.dtypes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ADFC0D85-16B2-471B-9A51-F691089C8D9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table.head()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D7A40C5E-0CB0-4263-817F-FE94FBAE3E7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6</a:t>
            </a:r>
          </a:p>
        </p:txBody>
      </p:sp>
    </p:spTree>
    <p:extLst>
      <p:ext uri="{BB962C8B-B14F-4D97-AF65-F5344CB8AC3E}">
        <p14:creationId xmlns:p14="http://schemas.microsoft.com/office/powerpoint/2010/main" val="3216577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574046-16DE-4D94-B986-F749238CF1B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A8C0B5-E3CC-486C-9284-8F78D218F8D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7E39D99-ED5C-49E3-A9AA-3A7409FFD62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B78E5FC5-BC95-4F2A-A5AE-E024FC2C14C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1A672B-5FFA-465E-83D3-FFAF26D94D6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FB080"/>
                </a:solidFill>
                <a:latin typeface="Courier New"/>
                <a:ea typeface="Courier New"/>
                <a:cs typeface="Courier New"/>
              </a:rPr>
              <a:t>import</a:t>
            </a:r>
            <a:r>
              <a:rPr sz="2175" b="0">
                <a:solidFill>
                  <a:srgbClr val="F4F7FA"/>
                </a:solidFill>
                <a:latin typeface="Courier New"/>
                <a:ea typeface="Courier New"/>
                <a:cs typeface="Courier New"/>
              </a:rPr>
              <a:t> pandas as pd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raw = pd.read_csv("campus_energy.csv")</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print(raw.head())</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print(raw.shape)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print(raw.dtypes)</a:t>
            </a:r>
          </a:p>
        </p:txBody>
      </p:sp>
      <p:sp>
        <p:nvSpPr>
          <p:cNvPr id="6" name="">
            <a:extLst xmlns:a="http://schemas.openxmlformats.org/drawingml/2006/main">
              <a:ext uri="{FF2B5EF4-FFF2-40B4-BE49-F238E27FC236}">
                <a16:creationId xmlns:a16="http://schemas.microsoft.com/office/drawing/2014/main" id="{362F58A6-CE61-47EE-AF92-A5E598024495}"/>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49D0F70D-2194-401F-8F99-EC9D5DF47D83}"/>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read_csv creates a DataFrame.</a:t>
            </a:r>
          </a:p>
        </p:txBody>
      </p:sp>
      <p:sp>
        <p:nvSpPr>
          <p:cNvPr id="8" name="">
            <a:extLst xmlns:a="http://schemas.openxmlformats.org/drawingml/2006/main">
              <a:ext uri="{FF2B5EF4-FFF2-40B4-BE49-F238E27FC236}">
                <a16:creationId xmlns:a16="http://schemas.microsoft.com/office/drawing/2014/main" id="{0ECEE567-B17B-4A02-981F-4641AAB2D51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9" name="">
            <a:extLst xmlns:a="http://schemas.openxmlformats.org/drawingml/2006/main">
              <a:ext uri="{FF2B5EF4-FFF2-40B4-BE49-F238E27FC236}">
                <a16:creationId xmlns:a16="http://schemas.microsoft.com/office/drawing/2014/main" id="{6D0A27BB-526A-4FC6-A3C8-492FA7FA5EC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7</a:t>
            </a:r>
          </a:p>
        </p:txBody>
      </p:sp>
    </p:spTree>
    <p:extLst>
      <p:ext uri="{BB962C8B-B14F-4D97-AF65-F5344CB8AC3E}">
        <p14:creationId xmlns:p14="http://schemas.microsoft.com/office/powerpoint/2010/main" val="4577992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E098F9-1821-48FA-BCD3-28E1D787B42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E6216C-05AB-4B93-87C1-00D7B17F102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09BEB02-3B24-4FF3-BDE3-1CB1B0D2E5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Selecting and summarising a column</a:t>
            </a:r>
          </a:p>
        </p:txBody>
      </p:sp>
      <p:sp>
        <p:nvSpPr>
          <p:cNvPr id="4" name="">
            <a:extLst xmlns:a="http://schemas.openxmlformats.org/drawingml/2006/main">
              <a:ext uri="{FF2B5EF4-FFF2-40B4-BE49-F238E27FC236}">
                <a16:creationId xmlns:a16="http://schemas.microsoft.com/office/drawing/2014/main" id="{BC82A21A-5CE6-4EB4-82A7-0A862E904D5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A2AD6D-B55C-443A-977F-F81906F391A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84EBABE-44AB-4016-B2AE-02E5C5D050A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raw["kwh"] selects the energy column as a Series. mean() averages its known values.</a:t>
            </a:r>
          </a:p>
        </p:txBody>
      </p:sp>
      <p:sp>
        <p:nvSpPr>
          <p:cNvPr id="7" name="">
            <a:extLst xmlns:a="http://schemas.openxmlformats.org/drawingml/2006/main">
              <a:ext uri="{FF2B5EF4-FFF2-40B4-BE49-F238E27FC236}">
                <a16:creationId xmlns:a16="http://schemas.microsoft.com/office/drawing/2014/main" id="{E690DF55-4898-4D36-ABDC-BC1292B5BB2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Square brackets select a named column. Parentheses call a method such as mean().</a:t>
            </a:r>
          </a:p>
        </p:txBody>
      </p:sp>
      <p:sp>
        <p:nvSpPr>
          <p:cNvPr id="8" name="">
            <a:extLst xmlns:a="http://schemas.openxmlformats.org/drawingml/2006/main">
              <a:ext uri="{FF2B5EF4-FFF2-40B4-BE49-F238E27FC236}">
                <a16:creationId xmlns:a16="http://schemas.microsoft.com/office/drawing/2014/main" id="{71CF8444-DA5E-41F6-81A5-16C2765625D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8</a:t>
            </a:r>
          </a:p>
        </p:txBody>
      </p:sp>
    </p:spTree>
    <p:extLst>
      <p:ext uri="{BB962C8B-B14F-4D97-AF65-F5344CB8AC3E}">
        <p14:creationId xmlns:p14="http://schemas.microsoft.com/office/powerpoint/2010/main" val="87429132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966DF6A-43F4-4185-A917-5346CEB35FE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3A8F38-A1D5-456E-AFA3-0E8BCBB4A3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C1D93AE-02AE-4946-826F-7A8270E5C31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4258929-4E28-42CD-A312-C6C0E93A006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179FA410-3AE7-46A6-8AEA-D3D719A62A3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chained operations: Read a chain from left to right. In table["target"].mean(), select the target Series first, then calculate its mean. Each step uses the previous step’s result.</a:t>
            </a:r>
          </a:p>
        </p:txBody>
      </p:sp>
      <p:sp>
        <p:nvSpPr>
          <p:cNvPr id="6" name="">
            <a:extLst xmlns:a="http://schemas.openxmlformats.org/drawingml/2006/main">
              <a:ext uri="{FF2B5EF4-FFF2-40B4-BE49-F238E27FC236}">
                <a16:creationId xmlns:a16="http://schemas.microsoft.com/office/drawing/2014/main" id="{23EF4B1D-BCE3-429E-8D9E-0DBAFB75E02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122E3A6-30F5-4663-AD1D-03EA9280AF0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Rounded display: series.round(3) returns values rounded to three decimal places. Python round(number, 3) rounds one number. Keep unrounded calculations for returned assessment answers.</a:t>
            </a:r>
          </a:p>
        </p:txBody>
      </p:sp>
      <p:sp>
        <p:nvSpPr>
          <p:cNvPr id="8" name="">
            <a:extLst xmlns:a="http://schemas.openxmlformats.org/drawingml/2006/main">
              <a:ext uri="{FF2B5EF4-FFF2-40B4-BE49-F238E27FC236}">
                <a16:creationId xmlns:a16="http://schemas.microsoft.com/office/drawing/2014/main" id="{5043E662-40CD-484E-83C6-81B2F1DAB4A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88759F9-9E24-4A98-9A2C-6F0AEBB886F5}"/>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columns: table["column"] returns one labelled column, a Series. table[["a", "b"]] returns a DataFrame containing those named columns in that order.</a:t>
            </a:r>
          </a:p>
        </p:txBody>
      </p:sp>
      <p:sp>
        <p:nvSpPr>
          <p:cNvPr id="10" name="">
            <a:extLst xmlns:a="http://schemas.openxmlformats.org/drawingml/2006/main">
              <a:ext uri="{FF2B5EF4-FFF2-40B4-BE49-F238E27FC236}">
                <a16:creationId xmlns:a16="http://schemas.microsoft.com/office/drawing/2014/main" id="{972C852E-FF65-4F5B-8B4B-FF03C08F6C2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9</a:t>
            </a:r>
          </a:p>
        </p:txBody>
      </p:sp>
    </p:spTree>
    <p:extLst>
      <p:ext uri="{BB962C8B-B14F-4D97-AF65-F5344CB8AC3E}">
        <p14:creationId xmlns:p14="http://schemas.microsoft.com/office/powerpoint/2010/main" val="11892579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84F55D-843A-40BF-A1AA-9A16FC5E341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C16281-96B4-430F-9FB0-7DFA7B3FEA6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A5003F3-A0AF-40DC-AC4D-22F204F38AF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54E7DE56-F7DF-4B2D-8E6B-83A99FF7C8A4}"/>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EC8EEA-C61E-4A02-BF4F-BEC67E1A0956}"/>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6" name="">
            <a:extLst xmlns:a="http://schemas.openxmlformats.org/drawingml/2006/main">
              <a:ext uri="{FF2B5EF4-FFF2-40B4-BE49-F238E27FC236}">
                <a16:creationId xmlns:a16="http://schemas.microsoft.com/office/drawing/2014/main" id="{8A1948F3-EBE5-46AE-BB3B-029525A3E29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10</a:t>
            </a:r>
          </a:p>
        </p:txBody>
      </p:sp>
    </p:spTree>
    <p:extLst>
      <p:ext uri="{BB962C8B-B14F-4D97-AF65-F5344CB8AC3E}">
        <p14:creationId xmlns:p14="http://schemas.microsoft.com/office/powerpoint/2010/main" val="16763914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82F716-25F0-42BC-93B5-86E5C59B154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9BA981-4978-4BDE-A143-2E52D9ACBE9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D7DA95E-F128-49C0-A9AF-1676B3DD65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Energy values and their mean</a:t>
            </a:r>
          </a:p>
        </p:txBody>
      </p:sp>
      <p:sp>
        <p:nvSpPr>
          <p:cNvPr id="4" name="">
            <a:extLst xmlns:a="http://schemas.openxmlformats.org/drawingml/2006/main">
              <a:ext uri="{FF2B5EF4-FFF2-40B4-BE49-F238E27FC236}">
                <a16:creationId xmlns:a16="http://schemas.microsoft.com/office/drawing/2014/main" id="{38C1B5AE-6E50-412D-B3F6-F62F1A851941}"/>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293775-3B6E-41A9-AEAC-7A82CBBF135C}"/>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39" b="0">
                <a:solidFill>
                  <a:srgbClr val="F4F7FA"/>
                </a:solidFill>
                <a:latin typeface="Courier New"/>
                <a:ea typeface="Courier New"/>
                <a:cs typeface="Courier New"/>
              </a:defRPr>
            </a:defPPr>
            <a:lvl1pPr>
              <a:defRPr sz="2039" b="0">
                <a:solidFill>
                  <a:srgbClr val="F4F7FA"/>
                </a:solidFill>
                <a:latin typeface="Courier New"/>
                <a:ea typeface="Courier New"/>
                <a:cs typeface="Courier New"/>
              </a:defRPr>
            </a:lvl1pPr>
            <a:lvl2pPr>
              <a:defRPr sz="2039" b="0">
                <a:solidFill>
                  <a:srgbClr val="F4F7FA"/>
                </a:solidFill>
                <a:latin typeface="Courier New"/>
                <a:ea typeface="Courier New"/>
                <a:cs typeface="Courier New"/>
              </a:defRPr>
            </a:lvl2pPr>
            <a:lvl3pPr>
              <a:defRPr sz="2039" b="0">
                <a:solidFill>
                  <a:srgbClr val="F4F7FA"/>
                </a:solidFill>
                <a:latin typeface="Courier New"/>
                <a:ea typeface="Courier New"/>
                <a:cs typeface="Courier New"/>
              </a:defRPr>
            </a:lvl3pPr>
            <a:lvl4pPr>
              <a:defRPr sz="2039" b="0">
                <a:solidFill>
                  <a:srgbClr val="F4F7FA"/>
                </a:solidFill>
                <a:latin typeface="Courier New"/>
                <a:ea typeface="Courier New"/>
                <a:cs typeface="Courier New"/>
              </a:defRPr>
            </a:lvl4pPr>
            <a:lvl5pPr>
              <a:defRPr sz="2039" b="0">
                <a:solidFill>
                  <a:srgbClr val="F4F7FA"/>
                </a:solidFill>
                <a:latin typeface="Courier New"/>
                <a:ea typeface="Courier New"/>
                <a:cs typeface="Courier New"/>
              </a:defRPr>
            </a:lvl5pPr>
            <a:lvl6pPr>
              <a:defRPr sz="2039" b="0">
                <a:solidFill>
                  <a:srgbClr val="F4F7FA"/>
                </a:solidFill>
                <a:latin typeface="Courier New"/>
                <a:ea typeface="Courier New"/>
                <a:cs typeface="Courier New"/>
              </a:defRPr>
            </a:lvl6pPr>
            <a:lvl7pPr>
              <a:defRPr sz="2039" b="0">
                <a:solidFill>
                  <a:srgbClr val="F4F7FA"/>
                </a:solidFill>
                <a:latin typeface="Courier New"/>
                <a:ea typeface="Courier New"/>
                <a:cs typeface="Courier New"/>
              </a:defRPr>
            </a:lvl7pPr>
            <a:lvl8pPr>
              <a:defRPr sz="2039" b="0">
                <a:solidFill>
                  <a:srgbClr val="F4F7FA"/>
                </a:solidFill>
                <a:latin typeface="Courier New"/>
                <a:ea typeface="Courier New"/>
                <a:cs typeface="Courier New"/>
              </a:defRPr>
            </a:lvl8pPr>
            <a:lvl9pPr>
              <a:defRPr sz="2039" b="0">
                <a:solidFill>
                  <a:srgbClr val="F4F7FA"/>
                </a:solidFill>
                <a:latin typeface="Courier New"/>
                <a:ea typeface="Courier New"/>
                <a:cs typeface="Courier New"/>
              </a:defRPr>
            </a:lvl9pPr>
          </a:lstStyle>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print(raw["kwh"].head())</a:t>
            </a:r>
          </a:p>
          <a:p xmlns:a="http://schemas.openxmlformats.org/drawingml/2006/main">
            <a:pPr>
              <a:defRPr sz="2039" b="0">
                <a:solidFill>
                  <a:srgbClr val="F4F7FA"/>
                </a:solidFill>
                <a:latin typeface="Courier New"/>
                <a:ea typeface="Courier New"/>
                <a:cs typeface="Courier New"/>
              </a:defRPr>
            </a:pPr>
            <a:r>
              <a:rPr sz="2039" b="0">
                <a:solidFill>
                  <a:srgbClr val="F4F7FA"/>
                </a:solidFill>
                <a:latin typeface="Courier New"/>
                <a:ea typeface="Courier New"/>
                <a:cs typeface="Courier New"/>
              </a:rPr>
              <a:t>print(round(float(raw["kwh"].mean()), 3))</a:t>
            </a:r>
          </a:p>
        </p:txBody>
      </p:sp>
      <p:sp>
        <p:nvSpPr>
          <p:cNvPr id="6" name="">
            <a:extLst xmlns:a="http://schemas.openxmlformats.org/drawingml/2006/main">
              <a:ext uri="{FF2B5EF4-FFF2-40B4-BE49-F238E27FC236}">
                <a16:creationId xmlns:a16="http://schemas.microsoft.com/office/drawing/2014/main" id="{39692FC6-23AB-433C-960A-41BEF7C744D7}"/>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0C75E66-3BA4-427A-B6DF-E2260553263B}"/>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head shows the first five readings.</a:t>
            </a:r>
          </a:p>
        </p:txBody>
      </p:sp>
      <p:sp>
        <p:nvSpPr>
          <p:cNvPr id="8" name="">
            <a:extLst xmlns:a="http://schemas.openxmlformats.org/drawingml/2006/main">
              <a:ext uri="{FF2B5EF4-FFF2-40B4-BE49-F238E27FC236}">
                <a16:creationId xmlns:a16="http://schemas.microsoft.com/office/drawing/2014/main" id="{6655C332-3D7A-48DB-B532-E53310A46868}"/>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9" name="">
            <a:extLst xmlns:a="http://schemas.openxmlformats.org/drawingml/2006/main">
              <a:ext uri="{FF2B5EF4-FFF2-40B4-BE49-F238E27FC236}">
                <a16:creationId xmlns:a16="http://schemas.microsoft.com/office/drawing/2014/main" id="{E78BB8E7-21D4-4520-A372-73C1623897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11</a:t>
            </a:r>
          </a:p>
        </p:txBody>
      </p:sp>
    </p:spTree>
    <p:extLst>
      <p:ext uri="{BB962C8B-B14F-4D97-AF65-F5344CB8AC3E}">
        <p14:creationId xmlns:p14="http://schemas.microsoft.com/office/powerpoint/2010/main" val="5871628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C10591F-627F-4A44-92D9-81AB1D24805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DE0A4A-1947-46C6-9812-08173ECCAB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C92E5A9-CE8F-498F-8FCB-96E4A829E87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Ask a question about each energy reading</a:t>
            </a:r>
          </a:p>
        </p:txBody>
      </p:sp>
      <p:sp>
        <p:nvSpPr>
          <p:cNvPr id="4" name="">
            <a:extLst xmlns:a="http://schemas.openxmlformats.org/drawingml/2006/main">
              <a:ext uri="{FF2B5EF4-FFF2-40B4-BE49-F238E27FC236}">
                <a16:creationId xmlns:a16="http://schemas.microsoft.com/office/drawing/2014/main" id="{422ED8D8-690F-4B98-AB7E-0CEDFC1FDF7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07CB057-60D9-41E9-9AEA-1D0F8541FBD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CD6A7FA-384A-4F0C-89BD-7475F2CF7E9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raw["kwh"] selects the energy column. Comparing it with 5000 returns one True or False per row.</a:t>
            </a:r>
          </a:p>
        </p:txBody>
      </p:sp>
      <p:sp>
        <p:nvSpPr>
          <p:cNvPr id="7" name="">
            <a:extLst xmlns:a="http://schemas.openxmlformats.org/drawingml/2006/main">
              <a:ext uri="{FF2B5EF4-FFF2-40B4-BE49-F238E27FC236}">
                <a16:creationId xmlns:a16="http://schemas.microsoft.com/office/drawing/2014/main" id="{EF6E2CA0-26F7-4C6C-9B58-013583681A1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True means the reading is greater than 5,000 kWh; False means it is not. Equality does not pass this strict threshold.</a:t>
            </a:r>
          </a:p>
        </p:txBody>
      </p:sp>
      <p:sp>
        <p:nvSpPr>
          <p:cNvPr id="8" name="">
            <a:extLst xmlns:a="http://schemas.openxmlformats.org/drawingml/2006/main">
              <a:ext uri="{FF2B5EF4-FFF2-40B4-BE49-F238E27FC236}">
                <a16:creationId xmlns:a16="http://schemas.microsoft.com/office/drawing/2014/main" id="{1B9DE347-7FC3-4271-9460-DF9ECB3374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12</a:t>
            </a:r>
          </a:p>
        </p:txBody>
      </p:sp>
    </p:spTree>
    <p:extLst>
      <p:ext uri="{BB962C8B-B14F-4D97-AF65-F5344CB8AC3E}">
        <p14:creationId xmlns:p14="http://schemas.microsoft.com/office/powerpoint/2010/main" val="16872469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EF8505-A374-442D-94B0-2CAE4F9AA76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07E0D0-6E53-4F75-B3A1-3F285FBCE83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B8FCE21-C33C-4D97-893E-239E5411B53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BADD18CA-3B7F-4A2D-9DD4-E3C3F8373A5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6D2E9C0-F0BF-4BB4-B136-E64A955AE8F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FF777B6-EC2E-4AF9-BF43-CD1A236E85A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Selecting rows with a mask: A column comparison produces one True or False per row. table[mask] keeps the True rows. &amp; combines masks: both conditions must hold. Parenthesise each comparison.</a:t>
            </a:r>
          </a:p>
        </p:txBody>
      </p:sp>
      <p:sp>
        <p:nvSpPr>
          <p:cNvPr id="7" name="">
            <a:extLst xmlns:a="http://schemas.openxmlformats.org/drawingml/2006/main">
              <a:ext uri="{FF2B5EF4-FFF2-40B4-BE49-F238E27FC236}">
                <a16:creationId xmlns:a16="http://schemas.microsoft.com/office/drawing/2014/main" id="{97D27B85-7553-4C8C-9E78-47621EAC300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Adding values and counting True: series.sum() adds its values. For a Boolean mask, True counts as 1 and False as 0. table.isna().sum() therefore counts missing cells separately for each column.</a:t>
            </a:r>
          </a:p>
        </p:txBody>
      </p:sp>
      <p:sp>
        <p:nvSpPr>
          <p:cNvPr id="8" name="">
            <a:extLst xmlns:a="http://schemas.openxmlformats.org/drawingml/2006/main">
              <a:ext uri="{FF2B5EF4-FFF2-40B4-BE49-F238E27FC236}">
                <a16:creationId xmlns:a16="http://schemas.microsoft.com/office/drawing/2014/main" id="{1EEE17EF-2B84-4E1B-97F1-4D40E177A3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13</a:t>
            </a:r>
          </a:p>
        </p:txBody>
      </p:sp>
    </p:spTree>
    <p:extLst>
      <p:ext uri="{BB962C8B-B14F-4D97-AF65-F5344CB8AC3E}">
        <p14:creationId xmlns:p14="http://schemas.microsoft.com/office/powerpoint/2010/main" val="18336745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D4547A-F720-4E79-B5EA-9D34A464BC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46A667-2FCF-4485-B327-9CD92E3507F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B257371-D835-44A7-9254-9FCAA8B33DF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the answers before selecting rows</a:t>
            </a:r>
          </a:p>
        </p:txBody>
      </p:sp>
      <p:sp>
        <p:nvSpPr>
          <p:cNvPr id="4" name="">
            <a:extLst xmlns:a="http://schemas.openxmlformats.org/drawingml/2006/main">
              <a:ext uri="{FF2B5EF4-FFF2-40B4-BE49-F238E27FC236}">
                <a16:creationId xmlns:a16="http://schemas.microsoft.com/office/drawing/2014/main" id="{DC79D38A-7399-4E70-818A-A34040CA433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F386D1-F91E-403F-9503-BBFC61122CBB}"/>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energy_is_high = raw["kwh"] &gt; 5000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print(raw["kwh"].head())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print(energy_is_high.head())</a:t>
            </a:r>
          </a:p>
        </p:txBody>
      </p:sp>
      <p:sp>
        <p:nvSpPr>
          <p:cNvPr id="6" name="">
            <a:extLst xmlns:a="http://schemas.openxmlformats.org/drawingml/2006/main">
              <a:ext uri="{FF2B5EF4-FFF2-40B4-BE49-F238E27FC236}">
                <a16:creationId xmlns:a16="http://schemas.microsoft.com/office/drawing/2014/main" id="{35F7C9EC-C999-4C1E-87E3-71DB4727EF1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BE7DBD7-09DC-4611-BD09-218806AB486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using this week’s supplied CSV.</a:t>
            </a:r>
          </a:p>
        </p:txBody>
      </p:sp>
      <p:sp>
        <p:nvSpPr>
          <p:cNvPr id="8" name="">
            <a:extLst xmlns:a="http://schemas.openxmlformats.org/drawingml/2006/main">
              <a:ext uri="{FF2B5EF4-FFF2-40B4-BE49-F238E27FC236}">
                <a16:creationId xmlns:a16="http://schemas.microsoft.com/office/drawing/2014/main" id="{6B7E2E4F-64EE-4CAA-81FF-22E4FF13DC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14</a:t>
            </a:r>
          </a:p>
        </p:txBody>
      </p:sp>
    </p:spTree>
    <p:extLst>
      <p:ext uri="{BB962C8B-B14F-4D97-AF65-F5344CB8AC3E}">
        <p14:creationId xmlns:p14="http://schemas.microsoft.com/office/powerpoint/2010/main" val="1452536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492121-4EAB-4E1C-A2C5-AFF6C55F7A0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AFDFFA-638E-4655-86E5-D065556A46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04479E9-BCF0-4C93-B71A-45D00B27576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 the True answers to select rows</a:t>
            </a:r>
          </a:p>
        </p:txBody>
      </p:sp>
      <p:sp>
        <p:nvSpPr>
          <p:cNvPr id="4" name="">
            <a:extLst xmlns:a="http://schemas.openxmlformats.org/drawingml/2006/main">
              <a:ext uri="{FF2B5EF4-FFF2-40B4-BE49-F238E27FC236}">
                <a16:creationId xmlns:a16="http://schemas.microsoft.com/office/drawing/2014/main" id="{319E288A-B16A-40FE-B53B-1CDA860FF8A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AC7EBC-0125-4837-AD58-0D6ED2730A8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87B5009-F3A8-4B24-A7EA-D0A83D594DB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raw[energy_is_high] returns the rows whose answer is True. This selection is often called a Boolean mask.</a:t>
            </a:r>
          </a:p>
        </p:txBody>
      </p:sp>
      <p:sp>
        <p:nvSpPr>
          <p:cNvPr id="7" name="">
            <a:extLst xmlns:a="http://schemas.openxmlformats.org/drawingml/2006/main">
              <a:ext uri="{FF2B5EF4-FFF2-40B4-BE49-F238E27FC236}">
                <a16:creationId xmlns:a16="http://schemas.microsoft.com/office/drawing/2014/main" id="{AFD2E4A5-DAAF-47FC-A670-7A44BE990948}"/>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.sum() counts True answers because True counts as 1 and False as 0.</a:t>
            </a:r>
          </a:p>
        </p:txBody>
      </p:sp>
      <p:sp>
        <p:nvSpPr>
          <p:cNvPr id="8" name="">
            <a:extLst xmlns:a="http://schemas.openxmlformats.org/drawingml/2006/main">
              <a:ext uri="{FF2B5EF4-FFF2-40B4-BE49-F238E27FC236}">
                <a16:creationId xmlns:a16="http://schemas.microsoft.com/office/drawing/2014/main" id="{CB033B1F-F8EC-418D-9918-A57B66D4F83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15</a:t>
            </a:r>
          </a:p>
        </p:txBody>
      </p:sp>
    </p:spTree>
    <p:extLst>
      <p:ext uri="{BB962C8B-B14F-4D97-AF65-F5344CB8AC3E}">
        <p14:creationId xmlns:p14="http://schemas.microsoft.com/office/powerpoint/2010/main" val="166866586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74474F-C160-445F-B9BD-86737575F0B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205643-C4D9-464B-8041-ADFEDA0BDF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988ECF6-8F6B-490D-BDFE-BEDFB49C453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and count the high-energy readings</a:t>
            </a:r>
          </a:p>
        </p:txBody>
      </p:sp>
      <p:sp>
        <p:nvSpPr>
          <p:cNvPr id="4" name="">
            <a:extLst xmlns:a="http://schemas.openxmlformats.org/drawingml/2006/main">
              <a:ext uri="{FF2B5EF4-FFF2-40B4-BE49-F238E27FC236}">
                <a16:creationId xmlns:a16="http://schemas.microsoft.com/office/drawing/2014/main" id="{3FC521D4-0FAC-4AD2-A719-6B0DE93FB403}"/>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6C73FEE-4E3D-4DF1-8FE2-B2D3990B741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high_energy_readings = raw[energy_is_high]</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print(high_energy_readings.head())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print(int(energy_is_high.sum()))</a:t>
            </a:r>
          </a:p>
        </p:txBody>
      </p:sp>
      <p:sp>
        <p:nvSpPr>
          <p:cNvPr id="6" name="">
            <a:extLst xmlns:a="http://schemas.openxmlformats.org/drawingml/2006/main">
              <a:ext uri="{FF2B5EF4-FFF2-40B4-BE49-F238E27FC236}">
                <a16:creationId xmlns:a16="http://schemas.microsoft.com/office/drawing/2014/main" id="{E0156BD8-D404-4777-B6E4-DD4932B76478}"/>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05C4AC8C-8B21-493D-B3FB-4453E4FA1A8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using this week’s supplied CSV.</a:t>
            </a:r>
          </a:p>
        </p:txBody>
      </p:sp>
      <p:sp>
        <p:nvSpPr>
          <p:cNvPr id="8" name="">
            <a:extLst xmlns:a="http://schemas.openxmlformats.org/drawingml/2006/main">
              <a:ext uri="{FF2B5EF4-FFF2-40B4-BE49-F238E27FC236}">
                <a16:creationId xmlns:a16="http://schemas.microsoft.com/office/drawing/2014/main" id="{C2436525-272D-497F-BB6D-D3771341DE6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16</a:t>
            </a:r>
          </a:p>
        </p:txBody>
      </p:sp>
    </p:spTree>
    <p:extLst>
      <p:ext uri="{BB962C8B-B14F-4D97-AF65-F5344CB8AC3E}">
        <p14:creationId xmlns:p14="http://schemas.microsoft.com/office/powerpoint/2010/main" val="7491324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A49194-A378-4A26-BB23-CB6479C6A25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A99176-F991-46AC-BF77-9AC89F11F0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13D042F-3FF3-453C-9186-6327F830938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Groups and labels</a:t>
            </a:r>
          </a:p>
        </p:txBody>
      </p:sp>
      <p:sp>
        <p:nvSpPr>
          <p:cNvPr id="4" name="">
            <a:extLst xmlns:a="http://schemas.openxmlformats.org/drawingml/2006/main">
              <a:ext uri="{FF2B5EF4-FFF2-40B4-BE49-F238E27FC236}">
                <a16:creationId xmlns:a16="http://schemas.microsoft.com/office/drawing/2014/main" id="{EC9407BE-05BA-4502-BC65-B5259006D8D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40334BE-B706-4965-A529-B4A76BF4056F}"/>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693AE29-16DC-45F2-BDF8-9290E440A80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groupby("building") gathers rows with the same building label. Selecting kwh and calling sum adds their energy.</a:t>
            </a:r>
          </a:p>
        </p:txBody>
      </p:sp>
      <p:sp>
        <p:nvSpPr>
          <p:cNvPr id="7" name="">
            <a:extLst xmlns:a="http://schemas.openxmlformats.org/drawingml/2006/main">
              <a:ext uri="{FF2B5EF4-FFF2-40B4-BE49-F238E27FC236}">
                <a16:creationId xmlns:a16="http://schemas.microsoft.com/office/drawing/2014/main" id="{EC674B0D-EC4D-417C-9B6A-911B83F21F8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nunique counts distinct building labels. idxmax returns the label whose total is largest.</a:t>
            </a:r>
          </a:p>
        </p:txBody>
      </p:sp>
      <p:sp>
        <p:nvSpPr>
          <p:cNvPr id="8" name="">
            <a:extLst xmlns:a="http://schemas.openxmlformats.org/drawingml/2006/main">
              <a:ext uri="{FF2B5EF4-FFF2-40B4-BE49-F238E27FC236}">
                <a16:creationId xmlns:a16="http://schemas.microsoft.com/office/drawing/2014/main" id="{43F4ADDC-FBF6-4E54-BDE8-59602C895BB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17</a:t>
            </a:r>
          </a:p>
        </p:txBody>
      </p:sp>
    </p:spTree>
    <p:extLst>
      <p:ext uri="{BB962C8B-B14F-4D97-AF65-F5344CB8AC3E}">
        <p14:creationId xmlns:p14="http://schemas.microsoft.com/office/powerpoint/2010/main" val="36343570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79EA94F-D88D-4BB9-B96E-6463587102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71D1F9-71AF-4406-9D47-F119D229DD9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3F83426-6AB6-43A6-99B8-3CBB6772895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3D4F2C0-7F53-44B3-A204-BEF9A8A78BB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E9DD0E30-9A1C-40DD-A265-4C8E2A32E5C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distinct labels: series.nunique() counts different recorded values, ignoring missing values by default. It counts categories rather than rows.</a:t>
            </a:r>
          </a:p>
        </p:txBody>
      </p:sp>
      <p:sp>
        <p:nvSpPr>
          <p:cNvPr id="6" name="">
            <a:extLst xmlns:a="http://schemas.openxmlformats.org/drawingml/2006/main">
              <a:ext uri="{FF2B5EF4-FFF2-40B4-BE49-F238E27FC236}">
                <a16:creationId xmlns:a16="http://schemas.microsoft.com/office/drawing/2014/main" id="{8FF4C002-EC24-4D77-8FC6-4B5BF7A5D53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3115D0E-AB8E-46C5-A0B2-95C8DB81ABE2}"/>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Label of the largest value: series.idxmax() returns the label attached to the largest value. It does not return that value. If several entries tie, it returns the first such label.</a:t>
            </a:r>
          </a:p>
        </p:txBody>
      </p:sp>
      <p:sp>
        <p:nvSpPr>
          <p:cNvPr id="8" name="">
            <a:extLst xmlns:a="http://schemas.openxmlformats.org/drawingml/2006/main">
              <a:ext uri="{FF2B5EF4-FFF2-40B4-BE49-F238E27FC236}">
                <a16:creationId xmlns:a16="http://schemas.microsoft.com/office/drawing/2014/main" id="{737F0B77-706F-4003-9E07-3657AAA5EEBA}"/>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9AAB9E98-5FD9-485D-8B4A-48744D15DE93}"/>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Grouping rows: table.groupby("label")["value"]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BBF37FE0-E062-4ECC-9875-55F6864ACB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18</a:t>
            </a:r>
          </a:p>
        </p:txBody>
      </p:sp>
    </p:spTree>
    <p:extLst>
      <p:ext uri="{BB962C8B-B14F-4D97-AF65-F5344CB8AC3E}">
        <p14:creationId xmlns:p14="http://schemas.microsoft.com/office/powerpoint/2010/main" val="11958062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5442D8-16E7-4516-BC51-92781B2E949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B5720A-31CA-4621-AE3F-77A2184E6A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D483669-DA54-414F-B5A7-D0658040ACD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Building totals from campus_energy.csv</a:t>
            </a:r>
          </a:p>
        </p:txBody>
      </p:sp>
      <p:sp>
        <p:nvSpPr>
          <p:cNvPr id="4" name="">
            <a:extLst xmlns:a="http://schemas.openxmlformats.org/drawingml/2006/main">
              <a:ext uri="{FF2B5EF4-FFF2-40B4-BE49-F238E27FC236}">
                <a16:creationId xmlns:a16="http://schemas.microsoft.com/office/drawing/2014/main" id="{FCA314C3-3437-4957-9D23-675F5B8CCD3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B22E3E-5A39-455E-8545-68CA4023D69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F4F7FA"/>
                </a:solidFill>
                <a:latin typeface="Courier New"/>
                <a:ea typeface="Courier New"/>
                <a:cs typeface="Courier New"/>
              </a:defRPr>
            </a:defPPr>
            <a:lvl1pPr>
              <a:defRPr sz="2175" b="0">
                <a:solidFill>
                  <a:srgbClr val="F4F7FA"/>
                </a:solidFill>
                <a:latin typeface="Courier New"/>
                <a:ea typeface="Courier New"/>
                <a:cs typeface="Courier New"/>
              </a:defRPr>
            </a:lvl1pPr>
            <a:lvl2pPr>
              <a:defRPr sz="2175" b="0">
                <a:solidFill>
                  <a:srgbClr val="F4F7FA"/>
                </a:solidFill>
                <a:latin typeface="Courier New"/>
                <a:ea typeface="Courier New"/>
                <a:cs typeface="Courier New"/>
              </a:defRPr>
            </a:lvl2pPr>
            <a:lvl3pPr>
              <a:defRPr sz="2175" b="0">
                <a:solidFill>
                  <a:srgbClr val="F4F7FA"/>
                </a:solidFill>
                <a:latin typeface="Courier New"/>
                <a:ea typeface="Courier New"/>
                <a:cs typeface="Courier New"/>
              </a:defRPr>
            </a:lvl3pPr>
            <a:lvl4pPr>
              <a:defRPr sz="2175" b="0">
                <a:solidFill>
                  <a:srgbClr val="F4F7FA"/>
                </a:solidFill>
                <a:latin typeface="Courier New"/>
                <a:ea typeface="Courier New"/>
                <a:cs typeface="Courier New"/>
              </a:defRPr>
            </a:lvl4pPr>
            <a:lvl5pPr>
              <a:defRPr sz="2175" b="0">
                <a:solidFill>
                  <a:srgbClr val="F4F7FA"/>
                </a:solidFill>
                <a:latin typeface="Courier New"/>
                <a:ea typeface="Courier New"/>
                <a:cs typeface="Courier New"/>
              </a:defRPr>
            </a:lvl5pPr>
            <a:lvl6pPr>
              <a:defRPr sz="2175" b="0">
                <a:solidFill>
                  <a:srgbClr val="F4F7FA"/>
                </a:solidFill>
                <a:latin typeface="Courier New"/>
                <a:ea typeface="Courier New"/>
                <a:cs typeface="Courier New"/>
              </a:defRPr>
            </a:lvl6pPr>
            <a:lvl7pPr>
              <a:defRPr sz="2175" b="0">
                <a:solidFill>
                  <a:srgbClr val="F4F7FA"/>
                </a:solidFill>
                <a:latin typeface="Courier New"/>
                <a:ea typeface="Courier New"/>
                <a:cs typeface="Courier New"/>
              </a:defRPr>
            </a:lvl7pPr>
            <a:lvl8pPr>
              <a:defRPr sz="2175" b="0">
                <a:solidFill>
                  <a:srgbClr val="F4F7FA"/>
                </a:solidFill>
                <a:latin typeface="Courier New"/>
                <a:ea typeface="Courier New"/>
                <a:cs typeface="Courier New"/>
              </a:defRPr>
            </a:lvl8pPr>
            <a:lvl9pPr>
              <a:defRPr sz="2175" b="0">
                <a:solidFill>
                  <a:srgbClr val="F4F7FA"/>
                </a:solidFill>
                <a:latin typeface="Courier New"/>
                <a:ea typeface="Courier New"/>
                <a:cs typeface="Courier New"/>
              </a:defRPr>
            </a:lvl9pPr>
          </a:lstStyle>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totals = raw.groupby("building")["kwh"].sum()</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print(totals)</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print(raw["building"].nunique())</a:t>
            </a:r>
          </a:p>
          <a:p xmlns:a="http://schemas.openxmlformats.org/drawingml/2006/main">
            <a:pPr>
              <a:defRPr sz="2175" b="0">
                <a:solidFill>
                  <a:srgbClr val="F4F7FA"/>
                </a:solidFill>
                <a:latin typeface="Courier New"/>
                <a:ea typeface="Courier New"/>
                <a:cs typeface="Courier New"/>
              </a:defRPr>
            </a:pPr>
            <a:r>
              <a:rPr sz="2175" b="0">
                <a:solidFill>
                  <a:srgbClr val="F4F7FA"/>
                </a:solidFill>
                <a:latin typeface="Courier New"/>
                <a:ea typeface="Courier New"/>
                <a:cs typeface="Courier New"/>
              </a:rPr>
              <a:t>print(totals.idxmax())</a:t>
            </a:r>
          </a:p>
        </p:txBody>
      </p:sp>
      <p:sp>
        <p:nvSpPr>
          <p:cNvPr id="6" name="">
            <a:extLst xmlns:a="http://schemas.openxmlformats.org/drawingml/2006/main">
              <a:ext uri="{FF2B5EF4-FFF2-40B4-BE49-F238E27FC236}">
                <a16:creationId xmlns:a16="http://schemas.microsoft.com/office/drawing/2014/main" id="{9C52F537-887F-407E-B580-C35D22119FB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Trace one building back to its source rows.</a:t>
            </a:r>
          </a:p>
        </p:txBody>
      </p:sp>
      <p:sp>
        <p:nvSpPr>
          <p:cNvPr id="7" name="">
            <a:extLst xmlns:a="http://schemas.openxmlformats.org/drawingml/2006/main">
              <a:ext uri="{FF2B5EF4-FFF2-40B4-BE49-F238E27FC236}">
                <a16:creationId xmlns:a16="http://schemas.microsoft.com/office/drawing/2014/main" id="{AC4C8DF4-1711-4A2C-B9FB-509BB672A442}"/>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8" name="">
            <a:extLst xmlns:a="http://schemas.openxmlformats.org/drawingml/2006/main">
              <a:ext uri="{FF2B5EF4-FFF2-40B4-BE49-F238E27FC236}">
                <a16:creationId xmlns:a16="http://schemas.microsoft.com/office/drawing/2014/main" id="{E42C23D9-D804-4EBA-9D73-ECCA112830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19</a:t>
            </a:r>
          </a:p>
        </p:txBody>
      </p:sp>
    </p:spTree>
    <p:extLst>
      <p:ext uri="{BB962C8B-B14F-4D97-AF65-F5344CB8AC3E}">
        <p14:creationId xmlns:p14="http://schemas.microsoft.com/office/powerpoint/2010/main" val="38793537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2F08932-D3F2-4748-9FA8-BF00C8C7F11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8D0231-351A-4D1C-8B0A-3ACD43A37AD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3CD2C7B-2CF7-4A2A-9B4D-43E546B885C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calculated energy rate</a:t>
            </a:r>
          </a:p>
        </p:txBody>
      </p:sp>
      <p:sp>
        <p:nvSpPr>
          <p:cNvPr id="4" name="">
            <a:extLst xmlns:a="http://schemas.openxmlformats.org/drawingml/2006/main">
              <a:ext uri="{FF2B5EF4-FFF2-40B4-BE49-F238E27FC236}">
                <a16:creationId xmlns:a16="http://schemas.microsoft.com/office/drawing/2014/main" id="{67E6857A-DDB3-481E-B409-1DA43A9B5E53}"/>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5012E5C-9476-4EBD-BDE1-E23F4F7A6CBD}"/>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9F62141-6A7A-4EED-8627-31A3B8FE346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Cost divided by energy gives UGX per kWh. First check that the denominator is positive.</a:t>
            </a:r>
          </a:p>
        </p:txBody>
      </p:sp>
      <p:sp>
        <p:nvSpPr>
          <p:cNvPr id="7" name="">
            <a:extLst xmlns:a="http://schemas.openxmlformats.org/drawingml/2006/main">
              <a:ext uri="{FF2B5EF4-FFF2-40B4-BE49-F238E27FC236}">
                <a16:creationId xmlns:a16="http://schemas.microsoft.com/office/drawing/2014/main" id="{D22CDA2A-BFCE-41EA-A630-FA9E76B95FC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copy preserves raw. Assigning table["new_name"] adds a calculated column.</a:t>
            </a:r>
          </a:p>
        </p:txBody>
      </p:sp>
      <p:sp>
        <p:nvSpPr>
          <p:cNvPr id="8" name="">
            <a:extLst xmlns:a="http://schemas.openxmlformats.org/drawingml/2006/main">
              <a:ext uri="{FF2B5EF4-FFF2-40B4-BE49-F238E27FC236}">
                <a16:creationId xmlns:a16="http://schemas.microsoft.com/office/drawing/2014/main" id="{89FA94D1-9DC8-414B-B501-8D6A917285E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20</a:t>
            </a:r>
          </a:p>
        </p:txBody>
      </p:sp>
    </p:spTree>
    <p:extLst>
      <p:ext uri="{BB962C8B-B14F-4D97-AF65-F5344CB8AC3E}">
        <p14:creationId xmlns:p14="http://schemas.microsoft.com/office/powerpoint/2010/main" val="21914028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F80D315-0616-45A5-8387-3D39477A887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658A5A-562F-4873-9D83-5F4DA447AA9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3221B32-3FB5-451E-85E8-04AB30662C7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F8049991-0371-4CF4-85AA-D5DF6AB16C0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FEFF49B-3495-4D1A-8A50-B56316D31ED0}"/>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Adding or replacing a column: table["name"] = values assigns that column. An array follows row order. A Series aligns by row label, so keep labels paired with the intended observations.</a:t>
            </a:r>
          </a:p>
        </p:txBody>
      </p:sp>
      <p:sp>
        <p:nvSpPr>
          <p:cNvPr id="6" name="">
            <a:extLst xmlns:a="http://schemas.openxmlformats.org/drawingml/2006/main">
              <a:ext uri="{FF2B5EF4-FFF2-40B4-BE49-F238E27FC236}">
                <a16:creationId xmlns:a16="http://schemas.microsoft.com/office/drawing/2014/main" id="{9530A325-FBCA-446D-AA7B-78BC80834647}"/>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007D181-F8C7-443F-B951-5B1A52DAFFD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Column arithmetic: Arithmetic on columns calculates one result per row. Series align by row label. Divide only where the denominator is valid and keep actual and predicted observations paired.</a:t>
            </a:r>
          </a:p>
        </p:txBody>
      </p:sp>
      <p:sp>
        <p:nvSpPr>
          <p:cNvPr id="8" name="">
            <a:extLst xmlns:a="http://schemas.openxmlformats.org/drawingml/2006/main">
              <a:ext uri="{FF2B5EF4-FFF2-40B4-BE49-F238E27FC236}">
                <a16:creationId xmlns:a16="http://schemas.microsoft.com/office/drawing/2014/main" id="{97E887DC-FA8F-4618-9D02-C56A6FE4CCC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0AFC81BE-2075-4F1B-B383-4E5940DD557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 separate working table: table.copy() creates a working copy. Assigning columns on this copy preserves the source table, so you can compare before and after.</a:t>
            </a:r>
          </a:p>
        </p:txBody>
      </p:sp>
      <p:sp>
        <p:nvSpPr>
          <p:cNvPr id="10" name="">
            <a:extLst xmlns:a="http://schemas.openxmlformats.org/drawingml/2006/main">
              <a:ext uri="{FF2B5EF4-FFF2-40B4-BE49-F238E27FC236}">
                <a16:creationId xmlns:a16="http://schemas.microsoft.com/office/drawing/2014/main" id="{97D4B625-A0D1-48B8-ACF9-36BC680E8A3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21</a:t>
            </a:r>
          </a:p>
        </p:txBody>
      </p:sp>
    </p:spTree>
    <p:extLst>
      <p:ext uri="{BB962C8B-B14F-4D97-AF65-F5344CB8AC3E}">
        <p14:creationId xmlns:p14="http://schemas.microsoft.com/office/powerpoint/2010/main" val="17272757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1446DB-0802-465A-B39E-6F3722CF980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4E5BFD-1B11-41D3-AC92-5B69DBC75C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C3AE86A-3413-4C75-9BEF-61F46B35D76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Rates from recorded cost and energy</a:t>
            </a:r>
          </a:p>
        </p:txBody>
      </p:sp>
      <p:sp>
        <p:nvSpPr>
          <p:cNvPr id="4" name="">
            <a:extLst xmlns:a="http://schemas.openxmlformats.org/drawingml/2006/main">
              <a:ext uri="{FF2B5EF4-FFF2-40B4-BE49-F238E27FC236}">
                <a16:creationId xmlns:a16="http://schemas.microsoft.com/office/drawing/2014/main" id="{C7422B16-5A38-4B0B-A9AB-F1D44BAAFD8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CFC3A93-0910-4DE0-9C35-4B3E2B9168F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57" b="0">
                <a:solidFill>
                  <a:srgbClr val="F4F7FA"/>
                </a:solidFill>
                <a:latin typeface="Courier New"/>
                <a:ea typeface="Courier New"/>
                <a:cs typeface="Courier New"/>
              </a:defRPr>
            </a:defPPr>
            <a:lvl1pPr>
              <a:defRPr sz="1757" b="0">
                <a:solidFill>
                  <a:srgbClr val="F4F7FA"/>
                </a:solidFill>
                <a:latin typeface="Courier New"/>
                <a:ea typeface="Courier New"/>
                <a:cs typeface="Courier New"/>
              </a:defRPr>
            </a:lvl1pPr>
            <a:lvl2pPr>
              <a:defRPr sz="1757" b="0">
                <a:solidFill>
                  <a:srgbClr val="F4F7FA"/>
                </a:solidFill>
                <a:latin typeface="Courier New"/>
                <a:ea typeface="Courier New"/>
                <a:cs typeface="Courier New"/>
              </a:defRPr>
            </a:lvl2pPr>
            <a:lvl3pPr>
              <a:defRPr sz="1757" b="0">
                <a:solidFill>
                  <a:srgbClr val="F4F7FA"/>
                </a:solidFill>
                <a:latin typeface="Courier New"/>
                <a:ea typeface="Courier New"/>
                <a:cs typeface="Courier New"/>
              </a:defRPr>
            </a:lvl3pPr>
            <a:lvl4pPr>
              <a:defRPr sz="1757" b="0">
                <a:solidFill>
                  <a:srgbClr val="F4F7FA"/>
                </a:solidFill>
                <a:latin typeface="Courier New"/>
                <a:ea typeface="Courier New"/>
                <a:cs typeface="Courier New"/>
              </a:defRPr>
            </a:lvl4pPr>
            <a:lvl5pPr>
              <a:defRPr sz="1757" b="0">
                <a:solidFill>
                  <a:srgbClr val="F4F7FA"/>
                </a:solidFill>
                <a:latin typeface="Courier New"/>
                <a:ea typeface="Courier New"/>
                <a:cs typeface="Courier New"/>
              </a:defRPr>
            </a:lvl5pPr>
            <a:lvl6pPr>
              <a:defRPr sz="1757" b="0">
                <a:solidFill>
                  <a:srgbClr val="F4F7FA"/>
                </a:solidFill>
                <a:latin typeface="Courier New"/>
                <a:ea typeface="Courier New"/>
                <a:cs typeface="Courier New"/>
              </a:defRPr>
            </a:lvl6pPr>
            <a:lvl7pPr>
              <a:defRPr sz="1757" b="0">
                <a:solidFill>
                  <a:srgbClr val="F4F7FA"/>
                </a:solidFill>
                <a:latin typeface="Courier New"/>
                <a:ea typeface="Courier New"/>
                <a:cs typeface="Courier New"/>
              </a:defRPr>
            </a:lvl7pPr>
            <a:lvl8pPr>
              <a:defRPr sz="1757" b="0">
                <a:solidFill>
                  <a:srgbClr val="F4F7FA"/>
                </a:solidFill>
                <a:latin typeface="Courier New"/>
                <a:ea typeface="Courier New"/>
                <a:cs typeface="Courier New"/>
              </a:defRPr>
            </a:lvl8pPr>
            <a:lvl9pPr>
              <a:defRPr sz="1757" b="0">
                <a:solidFill>
                  <a:srgbClr val="F4F7FA"/>
                </a:solidFill>
                <a:latin typeface="Courier New"/>
                <a:ea typeface="Courier New"/>
                <a:cs typeface="Courier New"/>
              </a:defRPr>
            </a:lvl9pPr>
          </a:lstStyle>
          <a:p xmlns:a="http://schemas.openxmlformats.org/drawingml/2006/main">
            <a:pPr>
              <a:defRPr sz="1757" b="0">
                <a:solidFill>
                  <a:srgbClr val="F4F7FA"/>
                </a:solidFill>
                <a:latin typeface="Courier New"/>
                <a:ea typeface="Courier New"/>
                <a:cs typeface="Courier New"/>
              </a:defRPr>
            </a:pPr>
            <a:r>
              <a:rPr sz="1757" b="0">
                <a:solidFill>
                  <a:srgbClr val="F4F7FA"/>
                </a:solidFill>
                <a:latin typeface="Courier New"/>
                <a:ea typeface="Courier New"/>
                <a:cs typeface="Courier New"/>
              </a:rPr>
              <a:t>priced = raw[raw["kwh"] &gt; 0].copy()</a:t>
            </a:r>
          </a:p>
          <a:p xmlns:a="http://schemas.openxmlformats.org/drawingml/2006/main">
            <a:pPr>
              <a:defRPr sz="1757" b="0">
                <a:solidFill>
                  <a:srgbClr val="F4F7FA"/>
                </a:solidFill>
                <a:latin typeface="Courier New"/>
                <a:ea typeface="Courier New"/>
                <a:cs typeface="Courier New"/>
              </a:defRPr>
            </a:pPr>
            <a:r>
              <a:rPr sz="1757" b="0">
                <a:solidFill>
                  <a:srgbClr val="F4F7FA"/>
                </a:solidFill>
                <a:latin typeface="Courier New"/>
                <a:ea typeface="Courier New"/>
                <a:cs typeface="Courier New"/>
              </a:rPr>
              <a:t>priced["rate_ugx_per_kwh"] = priced["cost_ugx"] / priced["kwh"]</a:t>
            </a:r>
          </a:p>
          <a:p xmlns:a="http://schemas.openxmlformats.org/drawingml/2006/main">
            <a:pPr>
              <a:defRPr sz="1757" b="0">
                <a:solidFill>
                  <a:srgbClr val="F4F7FA"/>
                </a:solidFill>
                <a:latin typeface="Courier New"/>
                <a:ea typeface="Courier New"/>
                <a:cs typeface="Courier New"/>
              </a:defRPr>
            </a:pPr>
            <a:r>
              <a:rPr sz="1757" b="0">
                <a:solidFill>
                  <a:srgbClr val="F4F7FA"/>
                </a:solidFill>
                <a:latin typeface="Courier New"/>
                <a:ea typeface="Courier New"/>
                <a:cs typeface="Courier New"/>
              </a:rPr>
              <a:t>print(priced[["building", "kwh", "cost_ugx", "rate_ugx_per_kwh"]].head())</a:t>
            </a:r>
          </a:p>
        </p:txBody>
      </p:sp>
      <p:sp>
        <p:nvSpPr>
          <p:cNvPr id="6" name="">
            <a:extLst xmlns:a="http://schemas.openxmlformats.org/drawingml/2006/main">
              <a:ext uri="{FF2B5EF4-FFF2-40B4-BE49-F238E27FC236}">
                <a16:creationId xmlns:a16="http://schemas.microsoft.com/office/drawing/2014/main" id="{EF0DCB27-0E9D-46A9-A7D7-17D67B81F08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two columns come from the same source row.</a:t>
            </a:r>
          </a:p>
        </p:txBody>
      </p:sp>
      <p:sp>
        <p:nvSpPr>
          <p:cNvPr id="7" name="">
            <a:extLst xmlns:a="http://schemas.openxmlformats.org/drawingml/2006/main">
              <a:ext uri="{FF2B5EF4-FFF2-40B4-BE49-F238E27FC236}">
                <a16:creationId xmlns:a16="http://schemas.microsoft.com/office/drawing/2014/main" id="{EDFDA8FD-04C4-4D7E-B54F-4C5E8372D89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cell on the supplied CSV. Read the output below the cell.</a:t>
            </a:r>
          </a:p>
        </p:txBody>
      </p:sp>
      <p:sp>
        <p:nvSpPr>
          <p:cNvPr id="8" name="">
            <a:extLst xmlns:a="http://schemas.openxmlformats.org/drawingml/2006/main">
              <a:ext uri="{FF2B5EF4-FFF2-40B4-BE49-F238E27FC236}">
                <a16:creationId xmlns:a16="http://schemas.microsoft.com/office/drawing/2014/main" id="{6D0B3848-412B-4BFB-9F39-45DD4FB041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22</a:t>
            </a:r>
          </a:p>
        </p:txBody>
      </p:sp>
    </p:spTree>
    <p:extLst>
      <p:ext uri="{BB962C8B-B14F-4D97-AF65-F5344CB8AC3E}">
        <p14:creationId xmlns:p14="http://schemas.microsoft.com/office/powerpoint/2010/main" val="166422120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C98DB2-CD4C-400E-9CA6-E31CB307506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4FFED71-771B-42A6-833F-C1199BCD2DC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97296F20-F7F0-417C-AD4D-E8179AD7BE9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assignment</a:t>
            </a:r>
          </a:p>
        </p:txBody>
      </p:sp>
      <p:sp>
        <p:nvSpPr>
          <p:cNvPr id="4" name="">
            <a:extLst xmlns:a="http://schemas.openxmlformats.org/drawingml/2006/main">
              <a:ext uri="{FF2B5EF4-FFF2-40B4-BE49-F238E27FC236}">
                <a16:creationId xmlns:a16="http://schemas.microsoft.com/office/drawing/2014/main" id="{3D48A6BD-AC61-48E5-A106-F20D4DDD1AF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D3C4A53-5887-406D-89A0-04514FECDDF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W05_student.ipynb.</a:t>
            </a:r>
          </a:p>
        </p:txBody>
      </p:sp>
      <p:sp>
        <p:nvSpPr>
          <p:cNvPr id="6" name="">
            <a:extLst xmlns:a="http://schemas.openxmlformats.org/drawingml/2006/main">
              <a:ext uri="{FF2B5EF4-FFF2-40B4-BE49-F238E27FC236}">
                <a16:creationId xmlns:a16="http://schemas.microsoft.com/office/drawing/2014/main" id="{A08305B8-CF97-4085-8E55-F46B0BF78DD1}"/>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E6D85D4-3663-42BA-87CA-3BEB3921445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every task and its input units before coding.</a:t>
            </a:r>
          </a:p>
        </p:txBody>
      </p:sp>
      <p:sp>
        <p:nvSpPr>
          <p:cNvPr id="8" name="">
            <a:extLst xmlns:a="http://schemas.openxmlformats.org/drawingml/2006/main">
              <a:ext uri="{FF2B5EF4-FFF2-40B4-BE49-F238E27FC236}">
                <a16:creationId xmlns:a16="http://schemas.microsoft.com/office/drawing/2014/main" id="{8B7AE6EB-AD93-4883-897C-B5F080A56079}"/>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04E8A03-9963-4B4B-886A-FDEB7F5ED462}"/>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required function names and returned outputs.</a:t>
            </a:r>
          </a:p>
        </p:txBody>
      </p:sp>
      <p:sp>
        <p:nvSpPr>
          <p:cNvPr id="10" name="">
            <a:extLst xmlns:a="http://schemas.openxmlformats.org/drawingml/2006/main">
              <a:ext uri="{FF2B5EF4-FFF2-40B4-BE49-F238E27FC236}">
                <a16:creationId xmlns:a16="http://schemas.microsoft.com/office/drawing/2014/main" id="{5542CC29-410E-4866-A1E9-A50FBF100937}"/>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6174F21-D0D4-4030-866A-F982283AB1D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and run all cells, then save the completed notebook.</a:t>
            </a:r>
          </a:p>
        </p:txBody>
      </p:sp>
      <p:sp>
        <p:nvSpPr>
          <p:cNvPr id="12" name="">
            <a:extLst xmlns:a="http://schemas.openxmlformats.org/drawingml/2006/main">
              <a:ext uri="{FF2B5EF4-FFF2-40B4-BE49-F238E27FC236}">
                <a16:creationId xmlns:a16="http://schemas.microsoft.com/office/drawing/2014/main" id="{80098388-060F-47A3-A39E-DDCF31535A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23</a:t>
            </a:r>
          </a:p>
        </p:txBody>
      </p:sp>
    </p:spTree>
    <p:extLst>
      <p:ext uri="{BB962C8B-B14F-4D97-AF65-F5344CB8AC3E}">
        <p14:creationId xmlns:p14="http://schemas.microsoft.com/office/powerpoint/2010/main" val="119560205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D0DE334-6A82-4EF7-A297-01B6D0263D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D9A366-A0B7-4CCF-A6FA-819A6070389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474901E7-4E18-43FF-9D2B-A20B2EBFB47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q1: 3 marks</a:t>
            </a:r>
          </a:p>
        </p:txBody>
      </p:sp>
      <p:sp>
        <p:nvSpPr>
          <p:cNvPr id="4" name="">
            <a:extLst xmlns:a="http://schemas.openxmlformats.org/drawingml/2006/main">
              <a:ext uri="{FF2B5EF4-FFF2-40B4-BE49-F238E27FC236}">
                <a16:creationId xmlns:a16="http://schemas.microsoft.com/office/drawing/2014/main" id="{86C54787-2E9B-4CBF-AC3D-23F981B1E4AA}"/>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3A6E8E-D627-438F-B7D0-3655DBDC5166}"/>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Load campus_energy.csv into a DataFrame called df.</a:t>
            </a:r>
          </a:p>
        </p:txBody>
      </p:sp>
      <p:sp>
        <p:nvSpPr>
          <p:cNvPr id="6" name="">
            <a:extLst xmlns:a="http://schemas.openxmlformats.org/drawingml/2006/main">
              <a:ext uri="{FF2B5EF4-FFF2-40B4-BE49-F238E27FC236}">
                <a16:creationId xmlns:a16="http://schemas.microsoft.com/office/drawing/2014/main" id="{1BD6F162-506B-4530-89CA-6D5CA8692BF9}"/>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73D6DC-6D1C-4D9F-BBB2-5E1E21E63FF5}"/>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BFB46DE5-943F-49EB-8871-AC129A942DA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24</a:t>
            </a:r>
          </a:p>
        </p:txBody>
      </p:sp>
    </p:spTree>
    <p:extLst>
      <p:ext uri="{BB962C8B-B14F-4D97-AF65-F5344CB8AC3E}">
        <p14:creationId xmlns:p14="http://schemas.microsoft.com/office/powerpoint/2010/main" val="157459787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4BA8603-C4B4-49CE-B8F2-E02FF6E11DD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0772DA-CD86-4074-92D9-AAF12AFA92D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9A2168D6-251D-427F-8BED-E78997E18CE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q2: 3 marks</a:t>
            </a:r>
          </a:p>
        </p:txBody>
      </p:sp>
      <p:sp>
        <p:nvSpPr>
          <p:cNvPr id="4" name="">
            <a:extLst xmlns:a="http://schemas.openxmlformats.org/drawingml/2006/main">
              <a:ext uri="{FF2B5EF4-FFF2-40B4-BE49-F238E27FC236}">
                <a16:creationId xmlns:a16="http://schemas.microsoft.com/office/drawing/2014/main" id="{74B79BD4-F09F-40A7-A1FD-E1252316EC14}"/>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688054E-5D1E-41E3-AA16-520CABDA13CC}"/>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n_meters to the number of distinct meters in the file.</a:t>
            </a:r>
          </a:p>
        </p:txBody>
      </p:sp>
      <p:sp>
        <p:nvSpPr>
          <p:cNvPr id="6" name="">
            <a:extLst xmlns:a="http://schemas.openxmlformats.org/drawingml/2006/main">
              <a:ext uri="{FF2B5EF4-FFF2-40B4-BE49-F238E27FC236}">
                <a16:creationId xmlns:a16="http://schemas.microsoft.com/office/drawing/2014/main" id="{6BE75465-8E71-4C46-A54E-AF7D3EDCD242}"/>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B06C30-3F84-4D90-9DAF-D4036D12C0C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1301F463-1F7E-4822-8360-BD5E8447392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25</a:t>
            </a:r>
          </a:p>
        </p:txBody>
      </p:sp>
    </p:spTree>
    <p:extLst>
      <p:ext uri="{BB962C8B-B14F-4D97-AF65-F5344CB8AC3E}">
        <p14:creationId xmlns:p14="http://schemas.microsoft.com/office/powerpoint/2010/main" val="44845721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B4815E-63AD-44A8-84F0-91B712B0A7C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B49E1B-7206-4EF9-8E13-2D89E0B957A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B1C91C82-78AC-4241-9D84-9E7DE236F46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q3: 4 marks</a:t>
            </a:r>
          </a:p>
        </p:txBody>
      </p:sp>
      <p:sp>
        <p:nvSpPr>
          <p:cNvPr id="4" name="">
            <a:extLst xmlns:a="http://schemas.openxmlformats.org/drawingml/2006/main">
              <a:ext uri="{FF2B5EF4-FFF2-40B4-BE49-F238E27FC236}">
                <a16:creationId xmlns:a16="http://schemas.microsoft.com/office/drawing/2014/main" id="{5B25827B-07AB-43FF-8591-A4D5598F7DB0}"/>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225796-C689-47A4-BB31-97AE96EB68E2}"/>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Add a column cost_per_kwh to df, equal to cost_ugx / kwh.</a:t>
            </a:r>
          </a:p>
        </p:txBody>
      </p:sp>
      <p:sp>
        <p:nvSpPr>
          <p:cNvPr id="6" name="">
            <a:extLst xmlns:a="http://schemas.openxmlformats.org/drawingml/2006/main">
              <a:ext uri="{FF2B5EF4-FFF2-40B4-BE49-F238E27FC236}">
                <a16:creationId xmlns:a16="http://schemas.microsoft.com/office/drawing/2014/main" id="{2DBE4CB6-ACEA-4541-9CA2-450E354E19BC}"/>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83DB5C9-97EF-4B8F-91CE-48554B599710}"/>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BB7EEEAC-1D9F-4207-9C87-C7C361FBE2A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26</a:t>
            </a:r>
          </a:p>
        </p:txBody>
      </p:sp>
    </p:spTree>
    <p:extLst>
      <p:ext uri="{BB962C8B-B14F-4D97-AF65-F5344CB8AC3E}">
        <p14:creationId xmlns:p14="http://schemas.microsoft.com/office/powerpoint/2010/main" val="120858319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10590AF-F8F0-4D5F-9BAD-A3BEC8C34AD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17555B-4E86-4CFF-A9C0-38DBF80A3DF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6FD8386F-12A6-459E-B61C-D46DA5740DA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q4: 4 marks</a:t>
            </a:r>
          </a:p>
        </p:txBody>
      </p:sp>
      <p:sp>
        <p:nvSpPr>
          <p:cNvPr id="4" name="">
            <a:extLst xmlns:a="http://schemas.openxmlformats.org/drawingml/2006/main">
              <a:ext uri="{FF2B5EF4-FFF2-40B4-BE49-F238E27FC236}">
                <a16:creationId xmlns:a16="http://schemas.microsoft.com/office/drawing/2014/main" id="{3889D699-866E-4153-B203-DFF8F1D48E72}"/>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6FA209C-D8CA-4C61-8AB0-75A7503AFB06}"/>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high_use to the rows of df where kwh is greater than 5000.</a:t>
            </a:r>
          </a:p>
          <a:p xmlns:a="http://schemas.openxmlformats.org/drawingml/2006/main">
            <a: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Do this after q3 so the derived column comes along.</a:t>
            </a:r>
          </a:p>
        </p:txBody>
      </p:sp>
      <p:sp>
        <p:nvSpPr>
          <p:cNvPr id="6" name="">
            <a:extLst xmlns:a="http://schemas.openxmlformats.org/drawingml/2006/main">
              <a:ext uri="{FF2B5EF4-FFF2-40B4-BE49-F238E27FC236}">
                <a16:creationId xmlns:a16="http://schemas.microsoft.com/office/drawing/2014/main" id="{8A61FCA9-1E84-431B-A362-0E2FAEB04DA6}"/>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C5BC21E-9898-46BA-AB2A-9A7840F62522}"/>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412800F0-29CE-4561-9236-4083FBCA3A0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27</a:t>
            </a:r>
          </a:p>
        </p:txBody>
      </p:sp>
    </p:spTree>
    <p:extLst>
      <p:ext uri="{BB962C8B-B14F-4D97-AF65-F5344CB8AC3E}">
        <p14:creationId xmlns:p14="http://schemas.microsoft.com/office/powerpoint/2010/main" val="60652567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CC63AF-F432-405B-9FF8-D10DF76A1A9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9F1A91-A7D8-40C9-8C5B-C2D4CC1ED16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E79CC7AC-1C18-4E3A-B7D2-0E30CD69E08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q5: 3 marks</a:t>
            </a:r>
          </a:p>
        </p:txBody>
      </p:sp>
      <p:sp>
        <p:nvSpPr>
          <p:cNvPr id="4" name="">
            <a:extLst xmlns:a="http://schemas.openxmlformats.org/drawingml/2006/main">
              <a:ext uri="{FF2B5EF4-FFF2-40B4-BE49-F238E27FC236}">
                <a16:creationId xmlns:a16="http://schemas.microsoft.com/office/drawing/2014/main" id="{C6BB0774-6C52-49A3-A3F0-5A86D4481A91}"/>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3BF94A5-3183-47D2-B7B4-E650F0ACE962}"/>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mean_cost_per_kwh to the mean of the cost_per_kwh column.</a:t>
            </a:r>
          </a:p>
        </p:txBody>
      </p:sp>
      <p:sp>
        <p:nvSpPr>
          <p:cNvPr id="6" name="">
            <a:extLst xmlns:a="http://schemas.openxmlformats.org/drawingml/2006/main">
              <a:ext uri="{FF2B5EF4-FFF2-40B4-BE49-F238E27FC236}">
                <a16:creationId xmlns:a16="http://schemas.microsoft.com/office/drawing/2014/main" id="{9D6DB435-D1E5-4B7A-9DC6-AFC28563630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9A9529-F7A7-43A6-8DCD-20C5C618D628}"/>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0576FFEA-F128-4761-8A69-96A9F934A7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28</a:t>
            </a:r>
          </a:p>
        </p:txBody>
      </p:sp>
    </p:spTree>
    <p:extLst>
      <p:ext uri="{BB962C8B-B14F-4D97-AF65-F5344CB8AC3E}">
        <p14:creationId xmlns:p14="http://schemas.microsoft.com/office/powerpoint/2010/main" val="129976224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B0D0B0-BC97-4FCE-BCE1-57A05984F45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4D7CF1-725E-41E1-AFDD-8327420BEDC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YOUR REQUIRED TASK</a:t>
            </a:r>
          </a:p>
        </p:txBody>
      </p:sp>
      <p:sp>
        <p:nvSpPr>
          <p:cNvPr id="3" name="">
            <a:extLst xmlns:a="http://schemas.openxmlformats.org/drawingml/2006/main">
              <a:ext uri="{FF2B5EF4-FFF2-40B4-BE49-F238E27FC236}">
                <a16:creationId xmlns:a16="http://schemas.microsoft.com/office/drawing/2014/main" id="{64B07682-FBDA-4BC8-8A24-F3EB79D449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q6: 3 marks</a:t>
            </a:r>
          </a:p>
        </p:txBody>
      </p:sp>
      <p:sp>
        <p:nvSpPr>
          <p:cNvPr id="4" name="">
            <a:extLst xmlns:a="http://schemas.openxmlformats.org/drawingml/2006/main">
              <a:ext uri="{FF2B5EF4-FFF2-40B4-BE49-F238E27FC236}">
                <a16:creationId xmlns:a16="http://schemas.microsoft.com/office/drawing/2014/main" id="{85A90D8A-3E9D-4557-936C-9538B9841834}"/>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C6AAE6-C4F4-4EE1-A1AC-3131CB59AB3F}"/>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Set peak_building to the name of the building with the highest total kwh.</a:t>
            </a:r>
          </a:p>
        </p:txBody>
      </p:sp>
      <p:sp>
        <p:nvSpPr>
          <p:cNvPr id="6" name="">
            <a:extLst xmlns:a="http://schemas.openxmlformats.org/drawingml/2006/main">
              <a:ext uri="{FF2B5EF4-FFF2-40B4-BE49-F238E27FC236}">
                <a16:creationId xmlns:a16="http://schemas.microsoft.com/office/drawing/2014/main" id="{A08DF9B4-2FD0-49F6-81E6-CFBCB61089DD}"/>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359B2B1-FCEF-403B-BE52-4533276DC39E}"/>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61CB8D23-C101-4459-B651-1D8AC119BFA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29</a:t>
            </a:r>
          </a:p>
        </p:txBody>
      </p:sp>
    </p:spTree>
    <p:extLst>
      <p:ext uri="{BB962C8B-B14F-4D97-AF65-F5344CB8AC3E}">
        <p14:creationId xmlns:p14="http://schemas.microsoft.com/office/powerpoint/2010/main" val="144507814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E8D1AA-5534-4830-89D0-8B12D35C00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7EA8EA-620E-479A-B828-B3967A1B35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ASSIGNMENT SUBMISSION</a:t>
            </a:r>
          </a:p>
        </p:txBody>
      </p:sp>
      <p:sp>
        <p:nvSpPr>
          <p:cNvPr id="3" name="">
            <a:extLst xmlns:a="http://schemas.openxmlformats.org/drawingml/2006/main">
              <a:ext uri="{FF2B5EF4-FFF2-40B4-BE49-F238E27FC236}">
                <a16:creationId xmlns:a16="http://schemas.microsoft.com/office/drawing/2014/main" id="{919F1D07-62F6-479C-B974-44B455DE59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Pandas investigation submission</a:t>
            </a:r>
          </a:p>
        </p:txBody>
      </p:sp>
      <p:sp>
        <p:nvSpPr>
          <p:cNvPr id="4" name="">
            <a:extLst xmlns:a="http://schemas.openxmlformats.org/drawingml/2006/main">
              <a:ext uri="{FF2B5EF4-FFF2-40B4-BE49-F238E27FC236}">
                <a16:creationId xmlns:a16="http://schemas.microsoft.com/office/drawing/2014/main" id="{7B7A590F-6566-472B-9AAB-89FCEB9AB1F2}"/>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0A8FCFE-F128-42EA-AF01-3476CCFEE4E6}"/>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Opens: 07 Oct 2026, 08:00 Kampala</a:t>
            </a:r>
          </a:p>
        </p:txBody>
      </p:sp>
      <p:sp>
        <p:nvSpPr>
          <p:cNvPr id="6" name="">
            <a:extLst xmlns:a="http://schemas.openxmlformats.org/drawingml/2006/main">
              <a:ext uri="{FF2B5EF4-FFF2-40B4-BE49-F238E27FC236}">
                <a16:creationId xmlns:a16="http://schemas.microsoft.com/office/drawing/2014/main" id="{7FB6AF22-FE36-4D00-A018-F0974C5F5084}"/>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0D18BA76-98DF-4FF8-82CE-D5B418935FF4}"/>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Deadline: 16 Oct 2026, 08:00 Kampala</a:t>
            </a:r>
          </a:p>
        </p:txBody>
      </p:sp>
      <p:sp>
        <p:nvSpPr>
          <p:cNvPr id="8" name="">
            <a:extLst xmlns:a="http://schemas.openxmlformats.org/drawingml/2006/main">
              <a:ext uri="{FF2B5EF4-FFF2-40B4-BE49-F238E27FC236}">
                <a16:creationId xmlns:a16="http://schemas.microsoft.com/office/drawing/2014/main" id="{DA07BB7A-9FCD-4D3A-9B04-98C504C87AF4}"/>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1BC643D-854E-4F7D-8FAA-A947E8F4EAC3}"/>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full Student Registration Number in the form.</a:t>
            </a:r>
          </a:p>
        </p:txBody>
      </p:sp>
      <p:sp>
        <p:nvSpPr>
          <p:cNvPr id="10" name="">
            <a:extLst xmlns:a="http://schemas.openxmlformats.org/drawingml/2006/main">
              <a:ext uri="{FF2B5EF4-FFF2-40B4-BE49-F238E27FC236}">
                <a16:creationId xmlns:a16="http://schemas.microsoft.com/office/drawing/2014/main" id="{4385061E-D1E7-4552-A2AF-99ADEDFF068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2E29C282-9694-4637-A8F6-A54A167F51CA}"/>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the submitted files and confirmation.</a:t>
            </a:r>
          </a:p>
        </p:txBody>
      </p:sp>
      <p:sp>
        <p:nvSpPr>
          <p:cNvPr id="12" name="">
            <a:extLst xmlns:a="http://schemas.openxmlformats.org/drawingml/2006/main">
              <a:ext uri="{FF2B5EF4-FFF2-40B4-BE49-F238E27FC236}">
                <a16:creationId xmlns:a16="http://schemas.microsoft.com/office/drawing/2014/main" id="{07037208-1603-4955-9BD1-8B2E93B3EB23}"/>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D946865-7004-438E-A5F3-971815281974}"/>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544e756340524458"/>
              </a:rPr>
              <a:t>Open W05 assignment form</a:t>
            </a:r>
          </a:p>
        </p:txBody>
      </p:sp>
      <p:sp>
        <p:nvSpPr>
          <p:cNvPr id="14" name="">
            <a:extLst xmlns:a="http://schemas.openxmlformats.org/drawingml/2006/main">
              <a:ext uri="{FF2B5EF4-FFF2-40B4-BE49-F238E27FC236}">
                <a16:creationId xmlns:a16="http://schemas.microsoft.com/office/drawing/2014/main" id="{3409A7B8-3311-43B0-8C14-C29A0084CF2D}"/>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https://docs.google.com/forms/d/e/1FAIpQLSehGqFG7PZ1wfoBRTaooiO6bw5XPXrKkDJ6kWCXi-YmEx69Eg/viewform</a:t>
            </a:r>
          </a:p>
        </p:txBody>
      </p:sp>
      <p:sp>
        <p:nvSpPr>
          <p:cNvPr id="15" name="">
            <a:extLst xmlns:a="http://schemas.openxmlformats.org/drawingml/2006/main">
              <a:ext uri="{FF2B5EF4-FFF2-40B4-BE49-F238E27FC236}">
                <a16:creationId xmlns:a16="http://schemas.microsoft.com/office/drawing/2014/main" id="{E591BA89-195B-4789-A7BC-B64FFA2D93C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30</a:t>
            </a:r>
          </a:p>
        </p:txBody>
      </p:sp>
    </p:spTree>
    <p:extLst>
      <p:ext uri="{BB962C8B-B14F-4D97-AF65-F5344CB8AC3E}">
        <p14:creationId xmlns:p14="http://schemas.microsoft.com/office/powerpoint/2010/main" val="178142486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8B3E1CE-ACE2-426D-9BD4-7310989B23C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62ABDF-28D4-4E28-AD64-404913AEF31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7A5765C-559E-4DDB-9CD6-A6425C5DCBB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19B10D0B-343E-44A3-B9DD-528220AA467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D982EA7-28A2-4440-80DA-03A1FF829174}"/>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data analysis project brief.</a:t>
            </a:r>
          </a:p>
        </p:txBody>
      </p:sp>
      <p:sp>
        <p:nvSpPr>
          <p:cNvPr id="6" name="">
            <a:extLst xmlns:a="http://schemas.openxmlformats.org/drawingml/2006/main">
              <a:ext uri="{FF2B5EF4-FFF2-40B4-BE49-F238E27FC236}">
                <a16:creationId xmlns:a16="http://schemas.microsoft.com/office/drawing/2014/main" id="{41D14C90-607B-4F1F-8082-87F317BEAC8F}"/>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EF51C960-18EF-4265-AB0C-FA24063C7A0B}"/>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5005F094-573B-4CFF-B889-901260ABD9A8}"/>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2AAAB18C-4007-427F-A5D8-D89D64E3C30F}"/>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3308F51F-547F-4DDF-AA26-3ECA24817B4A}"/>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0EAB5544-4E96-43BD-B558-752D43BB83D6}"/>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30 Oct 2026, 08:00 Kampala</a:t>
            </a:r>
          </a:p>
        </p:txBody>
      </p:sp>
      <p:sp>
        <p:nvSpPr>
          <p:cNvPr id="12" name="">
            <a:extLst xmlns:a="http://schemas.openxmlformats.org/drawingml/2006/main">
              <a:ext uri="{FF2B5EF4-FFF2-40B4-BE49-F238E27FC236}">
                <a16:creationId xmlns:a16="http://schemas.microsoft.com/office/drawing/2014/main" id="{40A68901-C196-4847-AE67-0D0730855BC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31</a:t>
            </a:r>
          </a:p>
        </p:txBody>
      </p:sp>
    </p:spTree>
    <p:extLst>
      <p:ext uri="{BB962C8B-B14F-4D97-AF65-F5344CB8AC3E}">
        <p14:creationId xmlns:p14="http://schemas.microsoft.com/office/powerpoint/2010/main" val="109217996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AE5B25B-73B7-441A-B3AC-349CF074CED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47CC27-885A-4C1B-9C81-2D8299F2F62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QUIZ ACCESS</a:t>
            </a:r>
          </a:p>
        </p:txBody>
      </p:sp>
      <p:sp>
        <p:nvSpPr>
          <p:cNvPr id="3" name="">
            <a:extLst xmlns:a="http://schemas.openxmlformats.org/drawingml/2006/main">
              <a:ext uri="{FF2B5EF4-FFF2-40B4-BE49-F238E27FC236}">
                <a16:creationId xmlns:a16="http://schemas.microsoft.com/office/drawing/2014/main" id="{74B37E52-6833-43B7-A743-DE43B6FCB38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quiz</a:t>
            </a:r>
          </a:p>
        </p:txBody>
      </p:sp>
      <p:sp>
        <p:nvSpPr>
          <p:cNvPr id="4" name="">
            <a:extLst xmlns:a="http://schemas.openxmlformats.org/drawingml/2006/main">
              <a:ext uri="{FF2B5EF4-FFF2-40B4-BE49-F238E27FC236}">
                <a16:creationId xmlns:a16="http://schemas.microsoft.com/office/drawing/2014/main" id="{7DBDCC4D-3D22-4BA7-B877-A119E810408D}"/>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6BAF9DA2-225A-472D-90CB-DD133A687A77}"/>
              </a:ext>
            </a:extLst>
          </p:cNvPr>
          <p:cNvSpPr>
            <a:spLocks xmlns:a="http://schemas.openxmlformats.org/drawingml/2006/main" noGrp="1"/>
          </p:cNvSpPr>
          <p:nvPr/>
        </p:nvSpPr>
        <p:spPr>
          <a:xfrm xmlns:a="http://schemas.openxmlformats.org/drawingml/2006/main">
            <a:off x="1381125" y="1724025"/>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Answer individually after the lecturer activates the quiz.</a:t>
            </a:r>
          </a:p>
        </p:txBody>
      </p:sp>
      <p:sp>
        <p:nvSpPr>
          <p:cNvPr id="6" name="">
            <a:extLst xmlns:a="http://schemas.openxmlformats.org/drawingml/2006/main">
              <a:ext uri="{FF2B5EF4-FFF2-40B4-BE49-F238E27FC236}">
                <a16:creationId xmlns:a16="http://schemas.microsoft.com/office/drawing/2014/main" id="{FBE7518E-445D-4CF8-A00A-0C6EDD77CE37}"/>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B89EF457-0693-4D43-91CD-97A99A7290A6}"/>
              </a:ext>
            </a:extLst>
          </p:cNvPr>
          <p:cNvSpPr>
            <a:spLocks xmlns:a="http://schemas.openxmlformats.org/drawingml/2006/main" noGrp="1"/>
          </p:cNvSpPr>
          <p:nvPr/>
        </p:nvSpPr>
        <p:spPr>
          <a:xfrm xmlns:a="http://schemas.openxmlformats.org/drawingml/2006/main">
            <a:off x="1381125" y="2521744"/>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Available for 24 hours from activation.</a:t>
            </a:r>
          </a:p>
        </p:txBody>
      </p:sp>
      <p:sp>
        <p:nvSpPr>
          <p:cNvPr id="8" name="">
            <a:extLst xmlns:a="http://schemas.openxmlformats.org/drawingml/2006/main">
              <a:ext uri="{FF2B5EF4-FFF2-40B4-BE49-F238E27FC236}">
                <a16:creationId xmlns:a16="http://schemas.microsoft.com/office/drawing/2014/main" id="{F7E9CEF9-E295-4E10-B1D4-ED9A2A208273}"/>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E48A879-00D8-4A96-84E7-EBBF2B85C11C}"/>
              </a:ext>
            </a:extLst>
          </p:cNvPr>
          <p:cNvSpPr>
            <a:spLocks xmlns:a="http://schemas.openxmlformats.org/drawingml/2006/main" noGrp="1"/>
          </p:cNvSpPr>
          <p:nvPr/>
        </p:nvSpPr>
        <p:spPr>
          <a:xfrm xmlns:a="http://schemas.openxmlformats.org/drawingml/2006/main">
            <a:off x="1381125" y="3319463"/>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your Student Registration Number and registered account.</a:t>
            </a:r>
          </a:p>
        </p:txBody>
      </p:sp>
      <p:sp>
        <p:nvSpPr>
          <p:cNvPr id="10" name="">
            <a:extLst xmlns:a="http://schemas.openxmlformats.org/drawingml/2006/main">
              <a:ext uri="{FF2B5EF4-FFF2-40B4-BE49-F238E27FC236}">
                <a16:creationId xmlns:a16="http://schemas.microsoft.com/office/drawing/2014/main" id="{11D9B5E3-C014-4688-BB00-58E2331C5A1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CE8745F3-C68A-4B91-BCD4-A35C4AD64117}"/>
              </a:ext>
            </a:extLst>
          </p:cNvPr>
          <p:cNvSpPr>
            <a:spLocks xmlns:a="http://schemas.openxmlformats.org/drawingml/2006/main" noGrp="1"/>
          </p:cNvSpPr>
          <p:nvPr/>
        </p:nvSpPr>
        <p:spPr>
          <a:xfrm xmlns:a="http://schemas.openxmlformats.org/drawingml/2006/main">
            <a:off x="1381125" y="4117181"/>
            <a:ext cx="714375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announced quiz closing time.</a:t>
            </a:r>
          </a:p>
        </p:txBody>
      </p:sp>
      <p:pic>
        <p:nvPicPr>
          <p:cNvPr id="12" name="">
            <a:extLst xmlns:a="http://schemas.openxmlformats.org/drawingml/2006/main">
              <a:ext uri="{FF2B5EF4-FFF2-40B4-BE49-F238E27FC236}">
                <a16:creationId xmlns:a16="http://schemas.microsoft.com/office/drawing/2014/main" id="{663248C3-F942-4788-B046-4694D2B785B2}"/>
              </a:ext>
            </a:extLst>
          </p:cNvPr>
          <p:cNvPicPr>
            <a:picLocks xmlns:a="http://schemas.openxmlformats.org/drawingml/2006/main" noChangeAspect="1"/>
          </p:cNvPicPr>
          <p:nvPr/>
        </p:nvPicPr>
        <p:blipFill>
          <a:blip xmlns:r="http://schemas.openxmlformats.org/officeDocument/2006/relationships" xmlns:a="http://schemas.openxmlformats.org/drawingml/2006/main" r:embed="R081de118fb004f9b"/>
          <a:stretch xmlns:a="http://schemas.openxmlformats.org/drawingml/2006/main"/>
        </p:blipFill>
        <p:spPr>
          <a:xfrm xmlns:a="http://schemas.openxmlformats.org/drawingml/2006/main">
            <a:off x="9134475" y="2095500"/>
            <a:ext cx="2190750" cy="21907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AC9A75F-6ED5-4013-BE42-62A1CA1ABAE5}"/>
              </a:ext>
            </a:extLst>
          </p:cNvPr>
          <p:cNvSpPr>
            <a:spLocks xmlns:a="http://schemas.openxmlformats.org/drawingml/2006/main" noGrp="1"/>
          </p:cNvSpPr>
          <p:nvPr/>
        </p:nvSpPr>
        <p:spPr>
          <a:xfrm xmlns:a="http://schemas.openxmlformats.org/drawingml/2006/main">
            <a:off x="9239250" y="44005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E4572E"/>
                </a:solidFill>
                <a:latin typeface="Calibri"/>
                <a:ea typeface="Calibri"/>
                <a:cs typeface="Calibri"/>
              </a:defRPr>
            </a:defPPr>
            <a:lvl1pPr>
              <a:defRPr sz="2100" b="1">
                <a:solidFill>
                  <a:srgbClr val="E4572E"/>
                </a:solidFill>
                <a:latin typeface="Calibri"/>
                <a:ea typeface="Calibri"/>
                <a:cs typeface="Calibri"/>
              </a:defRPr>
            </a:lvl1pPr>
            <a:lvl2pPr>
              <a:defRPr sz="2100" b="1">
                <a:solidFill>
                  <a:srgbClr val="E4572E"/>
                </a:solidFill>
                <a:latin typeface="Calibri"/>
                <a:ea typeface="Calibri"/>
                <a:cs typeface="Calibri"/>
              </a:defRPr>
            </a:lvl2pPr>
            <a:lvl3pPr>
              <a:defRPr sz="2100" b="1">
                <a:solidFill>
                  <a:srgbClr val="E4572E"/>
                </a:solidFill>
                <a:latin typeface="Calibri"/>
                <a:ea typeface="Calibri"/>
                <a:cs typeface="Calibri"/>
              </a:defRPr>
            </a:lvl3pPr>
            <a:lvl4pPr>
              <a:defRPr sz="2100" b="1">
                <a:solidFill>
                  <a:srgbClr val="E4572E"/>
                </a:solidFill>
                <a:latin typeface="Calibri"/>
                <a:ea typeface="Calibri"/>
                <a:cs typeface="Calibri"/>
              </a:defRPr>
            </a:lvl4pPr>
            <a:lvl5pPr>
              <a:defRPr sz="2100" b="1">
                <a:solidFill>
                  <a:srgbClr val="E4572E"/>
                </a:solidFill>
                <a:latin typeface="Calibri"/>
                <a:ea typeface="Calibri"/>
                <a:cs typeface="Calibri"/>
              </a:defRPr>
            </a:lvl5pPr>
            <a:lvl6pPr>
              <a:defRPr sz="2100" b="1">
                <a:solidFill>
                  <a:srgbClr val="E4572E"/>
                </a:solidFill>
                <a:latin typeface="Calibri"/>
                <a:ea typeface="Calibri"/>
                <a:cs typeface="Calibri"/>
              </a:defRPr>
            </a:lvl6pPr>
            <a:lvl7pPr>
              <a:defRPr sz="2100" b="1">
                <a:solidFill>
                  <a:srgbClr val="E4572E"/>
                </a:solidFill>
                <a:latin typeface="Calibri"/>
                <a:ea typeface="Calibri"/>
                <a:cs typeface="Calibri"/>
              </a:defRPr>
            </a:lvl7pPr>
            <a:lvl8pPr>
              <a:defRPr sz="2100" b="1">
                <a:solidFill>
                  <a:srgbClr val="E4572E"/>
                </a:solidFill>
                <a:latin typeface="Calibri"/>
                <a:ea typeface="Calibri"/>
                <a:cs typeface="Calibri"/>
              </a:defRPr>
            </a:lvl8pPr>
            <a:lvl9pPr>
              <a:defRPr sz="2100" b="1">
                <a:solidFill>
                  <a:srgbClr val="E4572E"/>
                </a:solidFill>
                <a:latin typeface="Calibri"/>
                <a:ea typeface="Calibri"/>
                <a:cs typeface="Calibri"/>
              </a:defRPr>
            </a:lvl9pPr>
          </a:lstStyle>
          <a:p xmlns:a="http://schemas.openxmlformats.org/drawingml/2006/main">
            <a:pPr>
              <a:defRPr sz="2100" b="1">
                <a:solidFill>
                  <a:srgbClr val="E4572E"/>
                </a:solidFill>
                <a:latin typeface="Calibri"/>
                <a:ea typeface="Calibri"/>
                <a:cs typeface="Calibri"/>
              </a:defRPr>
            </a:pPr>
            <a:r>
              <a:rPr sz="2100" b="1">
                <a:solidFill>
                  <a:srgbClr val="E4572E"/>
                </a:solidFill>
                <a:latin typeface="Calibri"/>
                <a:ea typeface="Calibri"/>
                <a:cs typeface="Calibri"/>
              </a:rPr>
              <a:t>24 HOURS</a:t>
            </a:r>
          </a:p>
        </p:txBody>
      </p:sp>
      <p:sp>
        <p:nvSpPr>
          <p:cNvPr id="14" name="">
            <a:extLst xmlns:a="http://schemas.openxmlformats.org/drawingml/2006/main">
              <a:ext uri="{FF2B5EF4-FFF2-40B4-BE49-F238E27FC236}">
                <a16:creationId xmlns:a16="http://schemas.microsoft.com/office/drawing/2014/main" id="{7784B73E-95D0-4281-A7EA-598F15D9BBF6}"/>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143D9C3-63F0-44BB-B40F-316244DA01F5}"/>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r="http://schemas.openxmlformats.org/officeDocument/2006/relationships" r:id="Ra8e351c9e54946bb"/>
              </a:rPr>
              <a:t>Open this week’s quiz</a:t>
            </a:r>
          </a:p>
        </p:txBody>
      </p:sp>
      <p:sp>
        <p:nvSpPr>
          <p:cNvPr id="16" name="">
            <a:extLst xmlns:a="http://schemas.openxmlformats.org/drawingml/2006/main">
              <a:ext uri="{FF2B5EF4-FFF2-40B4-BE49-F238E27FC236}">
                <a16:creationId xmlns:a16="http://schemas.microsoft.com/office/drawing/2014/main" id="{DD3D3748-820A-4E8C-9F39-5362A87991B8}"/>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https://forms.gle/2bRrHnq3mUEN84k19</a:t>
            </a:r>
          </a:p>
        </p:txBody>
      </p:sp>
      <p:sp>
        <p:nvSpPr>
          <p:cNvPr id="17" name="">
            <a:extLst xmlns:a="http://schemas.openxmlformats.org/drawingml/2006/main">
              <a:ext uri="{FF2B5EF4-FFF2-40B4-BE49-F238E27FC236}">
                <a16:creationId xmlns:a16="http://schemas.microsoft.com/office/drawing/2014/main" id="{1B85FE51-1F14-4A96-B1BD-CA8649F2E33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32</a:t>
            </a:r>
          </a:p>
        </p:txBody>
      </p:sp>
    </p:spTree>
    <p:extLst>
      <p:ext uri="{BB962C8B-B14F-4D97-AF65-F5344CB8AC3E}">
        <p14:creationId xmlns:p14="http://schemas.microsoft.com/office/powerpoint/2010/main" val="190964702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ECA27D3-646E-4467-8907-1D8A2C3E2BD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CEA01A-143D-4B37-A7CF-69B8FB3005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10847AB-421F-426F-B58C-54CE5824B9D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Week 5 support</a:t>
            </a:r>
          </a:p>
        </p:txBody>
      </p:sp>
      <p:sp>
        <p:nvSpPr>
          <p:cNvPr id="4" name="">
            <a:extLst xmlns:a="http://schemas.openxmlformats.org/drawingml/2006/main">
              <a:ext uri="{FF2B5EF4-FFF2-40B4-BE49-F238E27FC236}">
                <a16:creationId xmlns:a16="http://schemas.microsoft.com/office/drawing/2014/main" id="{2DCCBE01-A4E1-4819-B780-6CBF7E0F5BA7}"/>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39D4B43-9023-4F02-9881-803823EE8672}"/>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Friday 9 October has no normal class.</a:t>
            </a:r>
          </a:p>
        </p:txBody>
      </p:sp>
      <p:sp>
        <p:nvSpPr>
          <p:cNvPr id="6" name="">
            <a:extLst xmlns:a="http://schemas.openxmlformats.org/drawingml/2006/main">
              <a:ext uri="{FF2B5EF4-FFF2-40B4-BE49-F238E27FC236}">
                <a16:creationId xmlns:a16="http://schemas.microsoft.com/office/drawing/2014/main" id="{BC97B1AE-E757-4C42-A3EC-54A579EF41EA}"/>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E2DD91C-3AA1-4BF9-9244-EF55415FA20F}"/>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lecturer will announce a supported replacement session or recording with a clinic.</a:t>
            </a:r>
          </a:p>
        </p:txBody>
      </p:sp>
      <p:sp>
        <p:nvSpPr>
          <p:cNvPr id="8" name="">
            <a:extLst xmlns:a="http://schemas.openxmlformats.org/drawingml/2006/main">
              <a:ext uri="{FF2B5EF4-FFF2-40B4-BE49-F238E27FC236}">
                <a16:creationId xmlns:a16="http://schemas.microsoft.com/office/drawing/2014/main" id="{C4CE522F-8DBF-4E73-922A-F240C5FBA9D3}"/>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AF43F14-9F65-4902-A9C1-E134486B2059}"/>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Week 6 starts with 30 minutes of consolidation.</a:t>
            </a:r>
          </a:p>
        </p:txBody>
      </p:sp>
      <p:sp>
        <p:nvSpPr>
          <p:cNvPr id="10" name="">
            <a:extLst xmlns:a="http://schemas.openxmlformats.org/drawingml/2006/main">
              <a:ext uri="{FF2B5EF4-FFF2-40B4-BE49-F238E27FC236}">
                <a16:creationId xmlns:a16="http://schemas.microsoft.com/office/drawing/2014/main" id="{7C70995B-8C66-41E9-842E-0C7C0C2412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5   33</a:t>
            </a:r>
          </a:p>
        </p:txBody>
      </p:sp>
    </p:spTree>
    <p:extLst>
      <p:ext uri="{BB962C8B-B14F-4D97-AF65-F5344CB8AC3E}">
        <p14:creationId xmlns:p14="http://schemas.microsoft.com/office/powerpoint/2010/main" val="648081708"/>
      </p:ext>
    </p:extLst>
  </p:cSld>
</p:sld>
</file>

<file path=ppt/slides/slide3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A0E108-7B75-4C3C-AF06-3F401506E6D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F07CE932-8B7C-4A7F-B3AF-3CE997D495B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68C6D9C9-CE59-4D90-8339-E1E34BC4A232}"/>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4814F811-5C9A-48A9-8370-A90E62E5ABCD}"/>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You can explain which observations a filter keeps and what a grouped total means.</a:t>
            </a:r>
          </a:p>
          <a:p xmlns:a="http://schemas.openxmlformats.org/drawingml/2006/main">
            <a: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Save your work and check the required submission files.</a:t>
            </a:r>
          </a:p>
        </p:txBody>
      </p:sp>
      <p:sp>
        <p:nvSpPr>
          <p:cNvPr id="5" name="">
            <a:extLst xmlns:a="http://schemas.openxmlformats.org/drawingml/2006/main">
              <a:ext uri="{FF2B5EF4-FFF2-40B4-BE49-F238E27FC236}">
                <a16:creationId xmlns:a16="http://schemas.microsoft.com/office/drawing/2014/main" id="{C0D75D70-3D6D-4848-9592-CAF745CFFC9F}"/>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71CDEC75-80ED-42AF-A502-4A5A9D04226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CML3113   Week 5   34</a:t>
            </a:r>
          </a:p>
        </p:txBody>
      </p:sp>
    </p:spTree>
    <p:extLst>
      <p:ext uri="{BB962C8B-B14F-4D97-AF65-F5344CB8AC3E}">
        <p14:creationId xmlns:p14="http://schemas.microsoft.com/office/powerpoint/2010/main" val="2049742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2026-10-20T18:04:26.2290000Z</dcterms:created>
  <dcterms:modified xsi:type="dcterms:W3CDTF">2026-10-20T18:04:26.2290000Z</dcterms:modified>
</coreProperties>
</file>