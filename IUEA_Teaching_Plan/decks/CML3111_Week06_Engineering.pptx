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097d72bb4e44946" /><Relationship Type="http://schemas.openxmlformats.org/officeDocument/2006/relationships/extended-properties" Target="/docProps/app.xml" Id="Rbacbca7dff814e7e" /><Relationship Type="http://schemas.openxmlformats.org/officeDocument/2006/relationships/officeDocument" Target="/ppt/presentation.xml" Id="Rc79fbafb54234826" /></Relationships>
</file>

<file path=ppt/presentation.xml><?xml version="1.0" encoding="utf-8"?>
<p:presentation xmlns:p="http://schemas.openxmlformats.org/presentationml/2006/main">
  <p:sldMasterIdLst>
    <p:sldMasterId xmlns:r="http://schemas.openxmlformats.org/officeDocument/2006/relationships" id="2147483648" r:id="R283f6a64faf04288"/>
  </p:sldMasterIdLst>
  <p:notesMasterIdLst>
    <p:notesMasterId xmlns:r="http://schemas.openxmlformats.org/officeDocument/2006/relationships" r:id="Rbcec5f4e73184673"/>
  </p:notesMasterIdLst>
  <p:sldIdLst>
    <p:sldId xmlns:r="http://schemas.openxmlformats.org/officeDocument/2006/relationships" id="256" r:id="R515e7dc352cc47d7"/>
    <p:sldId xmlns:r="http://schemas.openxmlformats.org/officeDocument/2006/relationships" id="257" r:id="R7ce080b7723845e9"/>
    <p:sldId xmlns:r="http://schemas.openxmlformats.org/officeDocument/2006/relationships" id="258" r:id="Rd41ae6c115924f8d"/>
    <p:sldId xmlns:r="http://schemas.openxmlformats.org/officeDocument/2006/relationships" id="259" r:id="R57fb80c5e8ee4b5c"/>
    <p:sldId xmlns:r="http://schemas.openxmlformats.org/officeDocument/2006/relationships" id="260" r:id="R46490bfe95d44f80"/>
    <p:sldId xmlns:r="http://schemas.openxmlformats.org/officeDocument/2006/relationships" id="261" r:id="Ra35ba5c9f8b748d9"/>
    <p:sldId xmlns:r="http://schemas.openxmlformats.org/officeDocument/2006/relationships" id="262" r:id="Rcc0197697d044959"/>
    <p:sldId xmlns:r="http://schemas.openxmlformats.org/officeDocument/2006/relationships" id="263" r:id="R97e8584d681b4978"/>
    <p:sldId xmlns:r="http://schemas.openxmlformats.org/officeDocument/2006/relationships" id="264" r:id="Rc2c62affa69c4ef1"/>
    <p:sldId xmlns:r="http://schemas.openxmlformats.org/officeDocument/2006/relationships" id="265" r:id="Rf64f84a1db0349c6"/>
    <p:sldId xmlns:r="http://schemas.openxmlformats.org/officeDocument/2006/relationships" id="266" r:id="R850d5669833b4104"/>
    <p:sldId xmlns:r="http://schemas.openxmlformats.org/officeDocument/2006/relationships" id="267" r:id="R47985c7db3744627"/>
    <p:sldId xmlns:r="http://schemas.openxmlformats.org/officeDocument/2006/relationships" id="268" r:id="R98c817467abf4577"/>
    <p:sldId xmlns:r="http://schemas.openxmlformats.org/officeDocument/2006/relationships" id="269" r:id="Rf88a432007de4985"/>
    <p:sldId xmlns:r="http://schemas.openxmlformats.org/officeDocument/2006/relationships" id="270" r:id="Rc2ecc9bf636447e1"/>
    <p:sldId xmlns:r="http://schemas.openxmlformats.org/officeDocument/2006/relationships" id="271" r:id="R49b8db5ae99f494c"/>
    <p:sldId xmlns:r="http://schemas.openxmlformats.org/officeDocument/2006/relationships" id="272" r:id="R1558f1f5e3254d39"/>
    <p:sldId xmlns:r="http://schemas.openxmlformats.org/officeDocument/2006/relationships" id="273" r:id="Rf5c7d527546440cb"/>
    <p:sldId xmlns:r="http://schemas.openxmlformats.org/officeDocument/2006/relationships" id="274" r:id="Radff3900175d4a58"/>
    <p:sldId xmlns:r="http://schemas.openxmlformats.org/officeDocument/2006/relationships" id="275" r:id="R458dc04d122d4838"/>
    <p:sldId xmlns:r="http://schemas.openxmlformats.org/officeDocument/2006/relationships" id="276" r:id="R703cabe9457f4fd2"/>
    <p:sldId xmlns:r="http://schemas.openxmlformats.org/officeDocument/2006/relationships" id="277" r:id="R00caee97bf694a73"/>
    <p:sldId xmlns:r="http://schemas.openxmlformats.org/officeDocument/2006/relationships" id="278" r:id="R802333f7552c427e"/>
    <p:sldId xmlns:r="http://schemas.openxmlformats.org/officeDocument/2006/relationships" id="279" r:id="R1af664fc90d14be0"/>
    <p:sldId xmlns:r="http://schemas.openxmlformats.org/officeDocument/2006/relationships" id="280" r:id="R601af693e0c541ce"/>
    <p:sldId xmlns:r="http://schemas.openxmlformats.org/officeDocument/2006/relationships" id="281" r:id="R0b4349876ddf4334"/>
    <p:sldId xmlns:r="http://schemas.openxmlformats.org/officeDocument/2006/relationships" id="282" r:id="Re86ed72b34214358"/>
    <p:sldId xmlns:r="http://schemas.openxmlformats.org/officeDocument/2006/relationships" id="283" r:id="R8dae199a31314def"/>
    <p:sldId xmlns:r="http://schemas.openxmlformats.org/officeDocument/2006/relationships" id="284" r:id="R78d0934ebbbf4a1c"/>
    <p:sldId xmlns:r="http://schemas.openxmlformats.org/officeDocument/2006/relationships" id="285" r:id="R4c87e9bdc5d842c2"/>
    <p:sldId xmlns:r="http://schemas.openxmlformats.org/officeDocument/2006/relationships" id="286" r:id="Rfa740d792ac34f81"/>
    <p:sldId xmlns:r="http://schemas.openxmlformats.org/officeDocument/2006/relationships" id="287" r:id="R7a86ae98e5264fd1"/>
    <p:sldId xmlns:r="http://schemas.openxmlformats.org/officeDocument/2006/relationships" id="288" r:id="Rc29fdb36e5c94614"/>
    <p:sldId xmlns:r="http://schemas.openxmlformats.org/officeDocument/2006/relationships" id="289" r:id="Rc67e2c065b244f0e"/>
    <p:sldId xmlns:r="http://schemas.openxmlformats.org/officeDocument/2006/relationships" id="290" r:id="R11b039240b38430c"/>
    <p:sldId xmlns:r="http://schemas.openxmlformats.org/officeDocument/2006/relationships" id="291" r:id="R231dabba14e84f82"/>
    <p:sldId xmlns:r="http://schemas.openxmlformats.org/officeDocument/2006/relationships" id="292" r:id="R66be058a2c274608"/>
    <p:sldId xmlns:r="http://schemas.openxmlformats.org/officeDocument/2006/relationships" id="293" r:id="R6f66b8cea0c5410d"/>
    <p:sldId xmlns:r="http://schemas.openxmlformats.org/officeDocument/2006/relationships" id="294" r:id="R2220cfc9d6bb4f93"/>
    <p:sldId xmlns:r="http://schemas.openxmlformats.org/officeDocument/2006/relationships" id="295" r:id="R54197533e22943ee"/>
    <p:sldId xmlns:r="http://schemas.openxmlformats.org/officeDocument/2006/relationships" id="296" r:id="R11df0200317746e3"/>
    <p:sldId xmlns:r="http://schemas.openxmlformats.org/officeDocument/2006/relationships" id="297" r:id="R9b0e16945f554c16"/>
    <p:sldId xmlns:r="http://schemas.openxmlformats.org/officeDocument/2006/relationships" id="298" r:id="R5ecc32b97f184199"/>
    <p:sldId xmlns:r="http://schemas.openxmlformats.org/officeDocument/2006/relationships" id="299" r:id="Rf51102046f89489c"/>
    <p:sldId xmlns:r="http://schemas.openxmlformats.org/officeDocument/2006/relationships" id="300" r:id="R9fa590d23fab413a"/>
    <p:sldId xmlns:r="http://schemas.openxmlformats.org/officeDocument/2006/relationships" id="301" r:id="R5d55afb0eb04466a"/>
    <p:sldId xmlns:r="http://schemas.openxmlformats.org/officeDocument/2006/relationships" id="302" r:id="Rf937c31431da4a8e"/>
    <p:sldId xmlns:r="http://schemas.openxmlformats.org/officeDocument/2006/relationships" id="303" r:id="R6b27a60a966949a8"/>
    <p:sldId xmlns:r="http://schemas.openxmlformats.org/officeDocument/2006/relationships" id="304" r:id="R111b2adc37ee498d"/>
    <p:sldId xmlns:r="http://schemas.openxmlformats.org/officeDocument/2006/relationships" id="305" r:id="Rdd3fbc6848f54315"/>
    <p:sldId xmlns:r="http://schemas.openxmlformats.org/officeDocument/2006/relationships" id="306" r:id="R37a13eabf62343b6"/>
    <p:sldId xmlns:r="http://schemas.openxmlformats.org/officeDocument/2006/relationships" id="307" r:id="R388776f9d1fc49ae"/>
    <p:sldId xmlns:r="http://schemas.openxmlformats.org/officeDocument/2006/relationships" id="308" r:id="R08acdab44f6f47d5"/>
    <p:sldId xmlns:r="http://schemas.openxmlformats.org/officeDocument/2006/relationships" id="309" r:id="R15d0c718d7ae45d9"/>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365b58f5b9e4c9b" /><Relationship Type="http://schemas.openxmlformats.org/officeDocument/2006/relationships/slideMaster" Target="/ppt/slideMasters/slideMaster1.xml" Id="R283f6a64faf04288" /><Relationship Type="http://schemas.openxmlformats.org/officeDocument/2006/relationships/notesMaster" Target="/ppt/notesMasters/notesMaster1.xml" Id="Rbcec5f4e73184673" /><Relationship Type="http://schemas.openxmlformats.org/officeDocument/2006/relationships/presProps" Target="/ppt/presProps.xml" Id="R7e40f6f335ba4834" /><Relationship Type="http://schemas.openxmlformats.org/officeDocument/2006/relationships/tableStyles" Target="/ppt/tableStyles.xml" Id="R7b588b05806a486b" /><Relationship Type="http://schemas.openxmlformats.org/officeDocument/2006/relationships/slide" Target="/ppt/slides/slide1.xml" Id="R515e7dc352cc47d7" /><Relationship Type="http://schemas.openxmlformats.org/officeDocument/2006/relationships/slide" Target="/ppt/slides/slide2.xml" Id="R7ce080b7723845e9" /><Relationship Type="http://schemas.openxmlformats.org/officeDocument/2006/relationships/slide" Target="/ppt/slides/slide3.xml" Id="Rd41ae6c115924f8d" /><Relationship Type="http://schemas.openxmlformats.org/officeDocument/2006/relationships/slide" Target="/ppt/slides/slide4.xml" Id="R57fb80c5e8ee4b5c" /><Relationship Type="http://schemas.openxmlformats.org/officeDocument/2006/relationships/slide" Target="/ppt/slides/slide5.xml" Id="R46490bfe95d44f80" /><Relationship Type="http://schemas.openxmlformats.org/officeDocument/2006/relationships/slide" Target="/ppt/slides/slide6.xml" Id="Ra35ba5c9f8b748d9" /><Relationship Type="http://schemas.openxmlformats.org/officeDocument/2006/relationships/slide" Target="/ppt/slides/slide7.xml" Id="Rcc0197697d044959" /><Relationship Type="http://schemas.openxmlformats.org/officeDocument/2006/relationships/slide" Target="/ppt/slides/slide8.xml" Id="R97e8584d681b4978" /><Relationship Type="http://schemas.openxmlformats.org/officeDocument/2006/relationships/slide" Target="/ppt/slides/slide9.xml" Id="Rc2c62affa69c4ef1" /><Relationship Type="http://schemas.openxmlformats.org/officeDocument/2006/relationships/slide" Target="/ppt/slides/slide10.xml" Id="Rf64f84a1db0349c6" /><Relationship Type="http://schemas.openxmlformats.org/officeDocument/2006/relationships/slide" Target="/ppt/slides/slide11.xml" Id="R850d5669833b4104" /><Relationship Type="http://schemas.openxmlformats.org/officeDocument/2006/relationships/slide" Target="/ppt/slides/slide12.xml" Id="R47985c7db3744627" /><Relationship Type="http://schemas.openxmlformats.org/officeDocument/2006/relationships/slide" Target="/ppt/slides/slide13.xml" Id="R98c817467abf4577" /><Relationship Type="http://schemas.openxmlformats.org/officeDocument/2006/relationships/slide" Target="/ppt/slides/slide14.xml" Id="Rf88a432007de4985" /><Relationship Type="http://schemas.openxmlformats.org/officeDocument/2006/relationships/slide" Target="/ppt/slides/slide15.xml" Id="Rc2ecc9bf636447e1" /><Relationship Type="http://schemas.openxmlformats.org/officeDocument/2006/relationships/slide" Target="/ppt/slides/slide16.xml" Id="R49b8db5ae99f494c" /><Relationship Type="http://schemas.openxmlformats.org/officeDocument/2006/relationships/slide" Target="/ppt/slides/slide17.xml" Id="R1558f1f5e3254d39" /><Relationship Type="http://schemas.openxmlformats.org/officeDocument/2006/relationships/slide" Target="/ppt/slides/slide18.xml" Id="Rf5c7d527546440cb" /><Relationship Type="http://schemas.openxmlformats.org/officeDocument/2006/relationships/slide" Target="/ppt/slides/slide19.xml" Id="Radff3900175d4a58" /><Relationship Type="http://schemas.openxmlformats.org/officeDocument/2006/relationships/slide" Target="/ppt/slides/slide20.xml" Id="R458dc04d122d4838" /><Relationship Type="http://schemas.openxmlformats.org/officeDocument/2006/relationships/slide" Target="/ppt/slides/slide21.xml" Id="R703cabe9457f4fd2" /><Relationship Type="http://schemas.openxmlformats.org/officeDocument/2006/relationships/slide" Target="/ppt/slides/slide22.xml" Id="R00caee97bf694a73" /><Relationship Type="http://schemas.openxmlformats.org/officeDocument/2006/relationships/slide" Target="/ppt/slides/slide23.xml" Id="R802333f7552c427e" /><Relationship Type="http://schemas.openxmlformats.org/officeDocument/2006/relationships/slide" Target="/ppt/slides/slide24.xml" Id="R1af664fc90d14be0" /><Relationship Type="http://schemas.openxmlformats.org/officeDocument/2006/relationships/slide" Target="/ppt/slides/slide25.xml" Id="R601af693e0c541ce" /><Relationship Type="http://schemas.openxmlformats.org/officeDocument/2006/relationships/slide" Target="/ppt/slides/slide26.xml" Id="R0b4349876ddf4334" /><Relationship Type="http://schemas.openxmlformats.org/officeDocument/2006/relationships/slide" Target="/ppt/slides/slide27.xml" Id="Re86ed72b34214358" /><Relationship Type="http://schemas.openxmlformats.org/officeDocument/2006/relationships/slide" Target="/ppt/slides/slide28.xml" Id="R8dae199a31314def" /><Relationship Type="http://schemas.openxmlformats.org/officeDocument/2006/relationships/slide" Target="/ppt/slides/slide29.xml" Id="R78d0934ebbbf4a1c" /><Relationship Type="http://schemas.openxmlformats.org/officeDocument/2006/relationships/slide" Target="/ppt/slides/slide30.xml" Id="R4c87e9bdc5d842c2" /><Relationship Type="http://schemas.openxmlformats.org/officeDocument/2006/relationships/slide" Target="/ppt/slides/slide31.xml" Id="Rfa740d792ac34f81" /><Relationship Type="http://schemas.openxmlformats.org/officeDocument/2006/relationships/slide" Target="/ppt/slides/slide32.xml" Id="R7a86ae98e5264fd1" /><Relationship Type="http://schemas.openxmlformats.org/officeDocument/2006/relationships/slide" Target="/ppt/slides/slide33.xml" Id="Rc29fdb36e5c94614" /><Relationship Type="http://schemas.openxmlformats.org/officeDocument/2006/relationships/slide" Target="/ppt/slides/slide34.xml" Id="Rc67e2c065b244f0e" /><Relationship Type="http://schemas.openxmlformats.org/officeDocument/2006/relationships/slide" Target="/ppt/slides/slide35.xml" Id="R11b039240b38430c" /><Relationship Type="http://schemas.openxmlformats.org/officeDocument/2006/relationships/slide" Target="/ppt/slides/slide36.xml" Id="R231dabba14e84f82" /><Relationship Type="http://schemas.openxmlformats.org/officeDocument/2006/relationships/slide" Target="/ppt/slides/slide37.xml" Id="R66be058a2c274608" /><Relationship Type="http://schemas.openxmlformats.org/officeDocument/2006/relationships/slide" Target="/ppt/slides/slide38.xml" Id="R6f66b8cea0c5410d" /><Relationship Type="http://schemas.openxmlformats.org/officeDocument/2006/relationships/slide" Target="/ppt/slides/slide39.xml" Id="R2220cfc9d6bb4f93" /><Relationship Type="http://schemas.openxmlformats.org/officeDocument/2006/relationships/slide" Target="/ppt/slides/slide40.xml" Id="R54197533e22943ee" /><Relationship Type="http://schemas.openxmlformats.org/officeDocument/2006/relationships/slide" Target="/ppt/slides/slide41.xml" Id="R11df0200317746e3" /><Relationship Type="http://schemas.openxmlformats.org/officeDocument/2006/relationships/slide" Target="/ppt/slides/slide42.xml" Id="R9b0e16945f554c16" /><Relationship Type="http://schemas.openxmlformats.org/officeDocument/2006/relationships/slide" Target="/ppt/slides/slide43.xml" Id="R5ecc32b97f184199" /><Relationship Type="http://schemas.openxmlformats.org/officeDocument/2006/relationships/slide" Target="/ppt/slides/slide44.xml" Id="Rf51102046f89489c" /><Relationship Type="http://schemas.openxmlformats.org/officeDocument/2006/relationships/slide" Target="/ppt/slides/slide45.xml" Id="R9fa590d23fab413a" /><Relationship Type="http://schemas.openxmlformats.org/officeDocument/2006/relationships/slide" Target="/ppt/slides/slide46.xml" Id="R5d55afb0eb04466a" /><Relationship Type="http://schemas.openxmlformats.org/officeDocument/2006/relationships/slide" Target="/ppt/slides/slide47.xml" Id="Rf937c31431da4a8e" /><Relationship Type="http://schemas.openxmlformats.org/officeDocument/2006/relationships/slide" Target="/ppt/slides/slide48.xml" Id="R6b27a60a966949a8" /><Relationship Type="http://schemas.openxmlformats.org/officeDocument/2006/relationships/slide" Target="/ppt/slides/slide49.xml" Id="R111b2adc37ee498d" /><Relationship Type="http://schemas.openxmlformats.org/officeDocument/2006/relationships/slide" Target="/ppt/slides/slide50.xml" Id="Rdd3fbc6848f54315" /><Relationship Type="http://schemas.openxmlformats.org/officeDocument/2006/relationships/slide" Target="/ppt/slides/slide51.xml" Id="R37a13eabf62343b6" /><Relationship Type="http://schemas.openxmlformats.org/officeDocument/2006/relationships/slide" Target="/ppt/slides/slide52.xml" Id="R388776f9d1fc49ae" /><Relationship Type="http://schemas.openxmlformats.org/officeDocument/2006/relationships/slide" Target="/ppt/slides/slide53.xml" Id="R08acdab44f6f47d5" /><Relationship Type="http://schemas.openxmlformats.org/officeDocument/2006/relationships/slide" Target="/ppt/slides/slide54.xml" Id="R15d0c718d7ae45d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6f93a384992457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57d372486c34edf" /><Relationship Type="http://schemas.openxmlformats.org/officeDocument/2006/relationships/notesMaster" Target="/ppt/notesMasters/notesMaster1.xml" Id="Rbe65d344661d4d6a" /></Relationships>
</file>

<file path=ppt/notesSlides/_rels/notesSlide2.xml.rels>&#65279;<?xml version="1.0" encoding="utf-8"?><Relationships xmlns="http://schemas.openxmlformats.org/package/2006/relationships"><Relationship Type="http://schemas.openxmlformats.org/officeDocument/2006/relationships/slide" Target="/ppt/slides/slide2.xml" Id="Ra5cb02d4caa046ee" /><Relationship Type="http://schemas.openxmlformats.org/officeDocument/2006/relationships/notesMaster" Target="/ppt/notesMasters/notesMaster1.xml" Id="Rf2d0490b36cc405b" /></Relationships>
</file>

<file path=ppt/notesSlides/_rels/notesSlide3.xml.rels>&#65279;<?xml version="1.0" encoding="utf-8"?><Relationships xmlns="http://schemas.openxmlformats.org/package/2006/relationships"><Relationship Type="http://schemas.openxmlformats.org/officeDocument/2006/relationships/slide" Target="/ppt/slides/slide3.xml" Id="R40dec169f38f4cc9" /><Relationship Type="http://schemas.openxmlformats.org/officeDocument/2006/relationships/notesMaster" Target="/ppt/notesMasters/notesMaster1.xml" Id="R48f056c15ac1437c" /></Relationships>
</file>

<file path=ppt/notesSlides/_rels/notesSlide4.xml.rels>&#65279;<?xml version="1.0" encoding="utf-8"?><Relationships xmlns="http://schemas.openxmlformats.org/package/2006/relationships"><Relationship Type="http://schemas.openxmlformats.org/officeDocument/2006/relationships/slide" Target="/ppt/slides/slide4.xml" Id="R2e4e671c14544ec0" /><Relationship Type="http://schemas.openxmlformats.org/officeDocument/2006/relationships/notesMaster" Target="/ppt/notesMasters/notesMaster1.xml" Id="R0bf627df7da54dbc" /></Relationships>
</file>

<file path=ppt/notesSlides/_rels/notesSlide5.xml.rels>&#65279;<?xml version="1.0" encoding="utf-8"?><Relationships xmlns="http://schemas.openxmlformats.org/package/2006/relationships"><Relationship Type="http://schemas.openxmlformats.org/officeDocument/2006/relationships/slide" Target="/ppt/slides/slide5.xml" Id="Rf978ab32d91e471d" /><Relationship Type="http://schemas.openxmlformats.org/officeDocument/2006/relationships/notesMaster" Target="/ppt/notesMasters/notesMaster1.xml" Id="R53171c0f3d724d2a" /></Relationships>
</file>

<file path=ppt/notesSlides/_rels/notesSlide6.xml.rels>&#65279;<?xml version="1.0" encoding="utf-8"?><Relationships xmlns="http://schemas.openxmlformats.org/package/2006/relationships"><Relationship Type="http://schemas.openxmlformats.org/officeDocument/2006/relationships/slide" Target="/ppt/slides/slide6.xml" Id="Re22cc798c7264306" /><Relationship Type="http://schemas.openxmlformats.org/officeDocument/2006/relationships/notesMaster" Target="/ppt/notesMasters/notesMaster1.xml" Id="R196d803f59c944a1" /></Relationships>
</file>

<file path=ppt/notesSlides/_rels/notesSlide7.xml.rels>&#65279;<?xml version="1.0" encoding="utf-8"?><Relationships xmlns="http://schemas.openxmlformats.org/package/2006/relationships"><Relationship Type="http://schemas.openxmlformats.org/officeDocument/2006/relationships/slide" Target="/ppt/slides/slide7.xml" Id="Rf0a67227ea1649b4" /><Relationship Type="http://schemas.openxmlformats.org/officeDocument/2006/relationships/notesMaster" Target="/ppt/notesMasters/notesMaster1.xml" Id="Re6b96cb360c54b63" /></Relationships>
</file>

<file path=ppt/notesSlides/_rels/notesSlide8.xml.rels>&#65279;<?xml version="1.0" encoding="utf-8"?><Relationships xmlns="http://schemas.openxmlformats.org/package/2006/relationships"><Relationship Type="http://schemas.openxmlformats.org/officeDocument/2006/relationships/slide" Target="/ppt/slides/slide8.xml" Id="R550b20f7c0af4bac" /><Relationship Type="http://schemas.openxmlformats.org/officeDocument/2006/relationships/notesMaster" Target="/ppt/notesMasters/notesMaster1.xml" Id="R52407f4e216d4d9e" /></Relationships>
</file>

<file path=ppt/notesSlides/_rels/notesSlide9.xml.rels>&#65279;<?xml version="1.0" encoding="utf-8"?><Relationships xmlns="http://schemas.openxmlformats.org/package/2006/relationships"><Relationship Type="http://schemas.openxmlformats.org/officeDocument/2006/relationships/slide" Target="/ppt/slides/slide9.xml" Id="R0de8462613254588" /><Relationship Type="http://schemas.openxmlformats.org/officeDocument/2006/relationships/notesMaster" Target="/ppt/notesMasters/notesMaster1.xml" Id="Rdc80098c778945a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02589fd2d2a4a45" /><Relationship Type="http://schemas.openxmlformats.org/officeDocument/2006/relationships/notesMaster" Target="/ppt/notesMasters/notesMaster1.xml" Id="R6451000330434b5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e756db86b024bf7" /><Relationship Type="http://schemas.openxmlformats.org/officeDocument/2006/relationships/notesMaster" Target="/ppt/notesMasters/notesMaster1.xml" Id="R4ed99ae7f0c2450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fdd645d4abc44d0" /><Relationship Type="http://schemas.openxmlformats.org/officeDocument/2006/relationships/notesMaster" Target="/ppt/notesMasters/notesMaster1.xml" Id="R00074def72664b6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d8d17f2d45b4711" /><Relationship Type="http://schemas.openxmlformats.org/officeDocument/2006/relationships/notesMaster" Target="/ppt/notesMasters/notesMaster1.xml" Id="R47e362609133466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ca26eb84bfe431c" /><Relationship Type="http://schemas.openxmlformats.org/officeDocument/2006/relationships/notesMaster" Target="/ppt/notesMasters/notesMaster1.xml" Id="R50e551d753304472"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c009df30a3e24987" /><Relationship Type="http://schemas.openxmlformats.org/officeDocument/2006/relationships/notesMaster" Target="/ppt/notesMasters/notesMaster1.xml" Id="R2143695357404fa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3611f926acb44270" /><Relationship Type="http://schemas.openxmlformats.org/officeDocument/2006/relationships/notesMaster" Target="/ppt/notesMasters/notesMaster1.xml" Id="R01e7274b07354fcf"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0d9380a549c74bf6" /><Relationship Type="http://schemas.openxmlformats.org/officeDocument/2006/relationships/notesMaster" Target="/ppt/notesMasters/notesMaster1.xml" Id="R2639575beb57480c"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43a2a9b897524e4b" /><Relationship Type="http://schemas.openxmlformats.org/officeDocument/2006/relationships/notesMaster" Target="/ppt/notesMasters/notesMaster1.xml" Id="R457eece945e84e0e"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22d09bd82a49428a" /><Relationship Type="http://schemas.openxmlformats.org/officeDocument/2006/relationships/notesMaster" Target="/ppt/notesMasters/notesMaster1.xml" Id="R41c320ce8d70447c"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d7345d865816460b" /><Relationship Type="http://schemas.openxmlformats.org/officeDocument/2006/relationships/notesMaster" Target="/ppt/notesMasters/notesMaster1.xml" Id="R51abedcb4b9245e3"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b5bd50cb04aa4d1a" /><Relationship Type="http://schemas.openxmlformats.org/officeDocument/2006/relationships/notesMaster" Target="/ppt/notesMasters/notesMaster1.xml" Id="R86ff3165532841fb"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afe90ac2b31e4ca9" /><Relationship Type="http://schemas.openxmlformats.org/officeDocument/2006/relationships/notesMaster" Target="/ppt/notesMasters/notesMaster1.xml" Id="Rcf0eababc9354715"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efe8a7003e174900" /><Relationship Type="http://schemas.openxmlformats.org/officeDocument/2006/relationships/notesMaster" Target="/ppt/notesMasters/notesMaster1.xml" Id="Red334a0d7b2349de"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8228cbfb23b343a0" /><Relationship Type="http://schemas.openxmlformats.org/officeDocument/2006/relationships/notesMaster" Target="/ppt/notesMasters/notesMaster1.xml" Id="R83b4b33f005641e9"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8f85233b59f24290" /><Relationship Type="http://schemas.openxmlformats.org/officeDocument/2006/relationships/notesMaster" Target="/ppt/notesMasters/notesMaster1.xml" Id="Rdb8e7aec42f441d7"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3b0ff3cc73744cca" /><Relationship Type="http://schemas.openxmlformats.org/officeDocument/2006/relationships/notesMaster" Target="/ppt/notesMasters/notesMaster1.xml" Id="R0710ccc6b69c4f51"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0f5aa05b10004984" /><Relationship Type="http://schemas.openxmlformats.org/officeDocument/2006/relationships/notesMaster" Target="/ppt/notesMasters/notesMaster1.xml" Id="Rd7dced1e49a44034"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0a64802703994fb7" /><Relationship Type="http://schemas.openxmlformats.org/officeDocument/2006/relationships/notesMaster" Target="/ppt/notesMasters/notesMaster1.xml" Id="R64ecabfbaf4a42bf"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c39174c2af514257" /><Relationship Type="http://schemas.openxmlformats.org/officeDocument/2006/relationships/notesMaster" Target="/ppt/notesMasters/notesMaster1.xml" Id="R3cd52f80cb374dc7"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e97e4f4f82334344" /><Relationship Type="http://schemas.openxmlformats.org/officeDocument/2006/relationships/notesMaster" Target="/ppt/notesMasters/notesMaster1.xml" Id="Rad22c091581d41a4"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862ce5c3cfa0499e" /><Relationship Type="http://schemas.openxmlformats.org/officeDocument/2006/relationships/notesMaster" Target="/ppt/notesMasters/notesMaster1.xml" Id="R014806e105044522"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593a3e8bec744310" /><Relationship Type="http://schemas.openxmlformats.org/officeDocument/2006/relationships/notesMaster" Target="/ppt/notesMasters/notesMaster1.xml" Id="R03b21464a92f44dd"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3a4c1a79da6842df" /><Relationship Type="http://schemas.openxmlformats.org/officeDocument/2006/relationships/notesMaster" Target="/ppt/notesMasters/notesMaster1.xml" Id="R794be5e41e254e2f"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b2add02c95fb4b10" /><Relationship Type="http://schemas.openxmlformats.org/officeDocument/2006/relationships/notesMaster" Target="/ppt/notesMasters/notesMaster1.xml" Id="R21e7b62a25fb41fd"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80e0ffc688e04941" /><Relationship Type="http://schemas.openxmlformats.org/officeDocument/2006/relationships/notesMaster" Target="/ppt/notesMasters/notesMaster1.xml" Id="R8780808ce452403d"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a2b1bc1c39254d00" /><Relationship Type="http://schemas.openxmlformats.org/officeDocument/2006/relationships/notesMaster" Target="/ppt/notesMasters/notesMaster1.xml" Id="Rc104af1f5c9b428d"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52e7cef0fb0640ed" /><Relationship Type="http://schemas.openxmlformats.org/officeDocument/2006/relationships/notesMaster" Target="/ppt/notesMasters/notesMaster1.xml" Id="R3804dd57e3f0431a"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93ebae6be2b14b48" /><Relationship Type="http://schemas.openxmlformats.org/officeDocument/2006/relationships/notesMaster" Target="/ppt/notesMasters/notesMaster1.xml" Id="R787c01348a584d76"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e42d48bb7bad4f0a" /><Relationship Type="http://schemas.openxmlformats.org/officeDocument/2006/relationships/notesMaster" Target="/ppt/notesMasters/notesMaster1.xml" Id="R1ff6334af9a440aa"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b28c7a2c67974d18" /><Relationship Type="http://schemas.openxmlformats.org/officeDocument/2006/relationships/notesMaster" Target="/ppt/notesMasters/notesMaster1.xml" Id="R0696d8f7da3643f8"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6a1335558f0b4bb6" /><Relationship Type="http://schemas.openxmlformats.org/officeDocument/2006/relationships/notesMaster" Target="/ppt/notesMasters/notesMaster1.xml" Id="Re65cdb59e91c4131"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e561ff00d09a4a5a" /><Relationship Type="http://schemas.openxmlformats.org/officeDocument/2006/relationships/notesMaster" Target="/ppt/notesMasters/notesMaster1.xml" Id="R0dcb4c068e3e44d4"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b9ec2bca815c4e24" /><Relationship Type="http://schemas.openxmlformats.org/officeDocument/2006/relationships/notesMaster" Target="/ppt/notesMasters/notesMaster1.xml" Id="Rf9400b73f67c469a"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4cd9f474934c42c3" /><Relationship Type="http://schemas.openxmlformats.org/officeDocument/2006/relationships/notesMaster" Target="/ppt/notesMasters/notesMaster1.xml" Id="R676cec4e9d4b47ce"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3f7a6dbf46c44975" /><Relationship Type="http://schemas.openxmlformats.org/officeDocument/2006/relationships/notesMaster" Target="/ppt/notesMasters/notesMaster1.xml" Id="R598782eaa52440b6"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f6790734764846a7" /><Relationship Type="http://schemas.openxmlformats.org/officeDocument/2006/relationships/notesMaster" Target="/ppt/notesMasters/notesMaster1.xml" Id="Rf03745596d6b4fec"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ba70f4fab2384755" /><Relationship Type="http://schemas.openxmlformats.org/officeDocument/2006/relationships/notesMaster" Target="/ppt/notesMasters/notesMaster1.xml" Id="R69f77f493eaf4436"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3d18a085f5984927" /><Relationship Type="http://schemas.openxmlformats.org/officeDocument/2006/relationships/notesMaster" Target="/ppt/notesMasters/notesMaster1.xml" Id="R80e9edd90cce46c9"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29f19dde3bb844c8" /><Relationship Type="http://schemas.openxmlformats.org/officeDocument/2006/relationships/notesMaster" Target="/ppt/notesMasters/notesMaster1.xml" Id="Rc4a6b060d0dd4345"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1af27f84fa34426c" /><Relationship Type="http://schemas.openxmlformats.org/officeDocument/2006/relationships/notesMaster" Target="/ppt/notesMasters/notesMaster1.xml" Id="Rd25a5ef840b24faa"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9fc8c0e3eaf9489a" /><Relationship Type="http://schemas.openxmlformats.org/officeDocument/2006/relationships/notesMaster" Target="/ppt/notesMasters/notesMaster1.xml" Id="Rc94eeab186cb4fdd"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e7f8e3bbadd248d5" /><Relationship Type="http://schemas.openxmlformats.org/officeDocument/2006/relationships/notesMaster" Target="/ppt/notesMasters/notesMaster1.xml" Id="R5a743dc87dde498b"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45a833bb67984cdc" /><Relationship Type="http://schemas.openxmlformats.org/officeDocument/2006/relationships/notesMaster" Target="/ppt/notesMasters/notesMaster1.xml" Id="R89864db24c0e4df3"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1353d7e0aa2e47d0" /><Relationship Type="http://schemas.openxmlformats.org/officeDocument/2006/relationships/notesMaster" Target="/ppt/notesMasters/notesMaster1.xml" Id="R35c47d7d5ff84df0"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Cleaning data and explaining changes</a:t>
            </a:r>
          </a:p>
          <a:p>
            <a:r>
              <a:t/>
            </a:r>
          </a:p>
          <a:p>
            <a:r>
              <a:t>LECTURER CUE</a:t>
            </a:r>
          </a:p>
          <a:p>
            <a:r>
              <a:t>Use PowerPoint Presenter View for these notes. Teach one example, pause for every learner to predict, then work an analogous example together. The practice notebook is a learning aid, not an extra graded upload.</a:t>
            </a:r>
          </a:p>
          <a:p>
            <a:r>
              <a:t/>
            </a:r>
          </a:p>
          <a:p>
            <a:r>
              <a:t>EXPLAIN IN ORDINARY WORDS</a:t>
            </a:r>
          </a:p>
          <a:p>
            <a:r>
              <a:t>A cleaning decision needs evidence, a stated rule and a before/after check. Similar rows may be genuine repeated events. Reconciliation compares totals built under the same definitions.</a:t>
            </a:r>
          </a:p>
          <a:p>
            <a:r>
              <a:t/>
            </a:r>
          </a:p>
          <a:p>
            <a:r>
              <a:t>CHECK AND EXPECTED ANSWER</a:t>
            </a:r>
          </a:p>
          <a:p>
            <a:r>
              <a:t>May we delete every repeated amount? No. Check the row identifier and the table grain first.</a:t>
            </a:r>
          </a:p>
          <a:p>
            <a:r>
              <a:t/>
            </a:r>
          </a:p>
          <a:p>
            <a:r>
              <a:t>IF LEARNERS ARE STUCK</a:t>
            </a:r>
          </a:p>
          <a:p>
            <a:r>
              <a:t>Keep raw data, record counts before and after each action, then explain any remaining difference instead of forcing totals to agree.</a:t>
            </a:r>
          </a:p>
          <a:p>
            <a:r>
              <a:t/>
            </a:r>
          </a:p>
          <a:p>
            <a:r>
              <a:t>NEXT</a:t>
            </a:r>
          </a:p>
          <a:p>
            <a:r>
              <a:t>Today’s learning.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Today’s learning</a:t>
            </a:r>
          </a:p>
          <a:p>
            <a:r>
              <a:t/>
            </a:r>
          </a:p>
          <a:p>
            <a:r>
              <a:t>CONNECT</a:t>
            </a:r>
          </a:p>
          <a:p>
            <a:r>
              <a:t>Build on the preceding slide: Cleaning data and explaining changes.</a:t>
            </a:r>
          </a:p>
          <a:p>
            <a:r>
              <a:t/>
            </a:r>
          </a:p>
          <a:p>
            <a:r>
              <a:t>LECTURER CUE</a:t>
            </a:r>
          </a:p>
          <a:p>
            <a:r>
              <a:t>Ask learners to explain this goal in ordinary language. The first successful attempt matters more than covering optional extensions. Defer: MCAR/MAR/MNAR names, five chart families and six unaided defect hunts are reference. Teach missingness causes in everyday language first.</a:t>
            </a:r>
          </a:p>
          <a:p>
            <a:r>
              <a:t/>
            </a:r>
          </a:p>
          <a:p>
            <a:r>
              <a:t>EXPLAIN IN ORDINARY WORDS</a:t>
            </a:r>
          </a:p>
          <a:p>
            <a:r>
              <a:t>Missing means not recorded, not automatically zero. Decide why it is missing and document the rule. Fitted fill values must come from training data when evaluating a model.</a:t>
            </a:r>
          </a:p>
          <a:p>
            <a:r>
              <a:t/>
            </a:r>
          </a:p>
          <a:p>
            <a:r>
              <a:t>CHECK AND EXPECTED ANSWER</a:t>
            </a:r>
          </a:p>
          <a:p>
            <a:r>
              <a:t>Is an unrecorded energy reading evidence of zero consumption? No.</a:t>
            </a:r>
          </a:p>
          <a:p>
            <a:r>
              <a:t/>
            </a:r>
          </a:p>
          <a:p>
            <a:r>
              <a:t>IF LEARNERS ARE STUCK</a:t>
            </a:r>
          </a:p>
          <a:p>
            <a:r>
              <a:t>Use three rows: a recorded zero, a recorded positive value and a blank. Explain their different meanings before cleaning.</a:t>
            </a:r>
          </a:p>
          <a:p>
            <a:r>
              <a:t/>
            </a:r>
          </a:p>
          <a:p>
            <a:r>
              <a:t>NEXT</a:t>
            </a:r>
          </a:p>
          <a:p>
            <a:r>
              <a:t>Recall and a first attempt.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Recall and a first attempt</a:t>
            </a:r>
          </a:p>
          <a:p>
            <a:r>
              <a:t/>
            </a:r>
          </a:p>
          <a:p>
            <a:r>
              <a:t>CONNECT</a:t>
            </a:r>
          </a:p>
          <a:p>
            <a:r>
              <a:t>Build on the preceding slide: Today’s learning.</a:t>
            </a:r>
          </a:p>
          <a:p>
            <a:r>
              <a:t/>
            </a:r>
          </a:p>
          <a:p>
            <a:r>
              <a:t>LECTURER CUE</a:t>
            </a:r>
          </a:p>
          <a:p>
            <a:r>
              <a:t>Allow two minutes for everyone to try. Ask pairs to compare. If many cannot begin, show the first step and repeat with changed values. Checkpoint for today: Students distinguish repeated equipment from duplicate records and explain why an outlier is not automatically deleted.</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NEXT</a:t>
            </a:r>
          </a:p>
          <a:p>
            <a:r>
              <a:t>The engineering context.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The engineering context</a:t>
            </a:r>
          </a:p>
          <a:p>
            <a:r>
              <a:t/>
            </a:r>
          </a:p>
          <a:p>
            <a:r>
              <a:t>CONNECT</a:t>
            </a:r>
          </a:p>
          <a:p>
            <a:r>
              <a:t>Build on the preceding slide: Recall and a first attempt.</a:t>
            </a:r>
          </a:p>
          <a:p>
            <a:r>
              <a:t/>
            </a:r>
          </a:p>
          <a:p>
            <a:r>
              <a:t>LECTURER CUE</a:t>
            </a:r>
          </a:p>
          <a:p>
            <a:r>
              <a:t>A team records device temperature to investigate cooling. Use a communications cabinet, an electrical enclosure or a robot controller as the physical example. No specialist hardware knowledge is assumed.</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NEXT</a:t>
            </a:r>
          </a:p>
          <a:p>
            <a:r>
              <a:t>Words we will use.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Words we will use</a:t>
            </a:r>
          </a:p>
          <a:p>
            <a:r>
              <a:t/>
            </a:r>
          </a:p>
          <a:p>
            <a:r>
              <a:t>CONNECT</a:t>
            </a:r>
          </a:p>
          <a:p>
            <a:r>
              <a:t>Build on the preceding slide: The engineering context.</a:t>
            </a:r>
          </a:p>
          <a:p>
            <a:r>
              <a:t/>
            </a:r>
          </a:p>
          <a:p>
            <a:r>
              <a:t>EXPLAIN IN ORDINARY WORDS</a:t>
            </a:r>
          </a:p>
          <a:p>
            <a:r>
              <a:t>Missing means not recorded, not automatically zero. Decide why it is missing and document the rule. Fitted fill values must come from training data when evaluating a model.</a:t>
            </a:r>
          </a:p>
          <a:p>
            <a:r>
              <a:t/>
            </a:r>
          </a:p>
          <a:p>
            <a:r>
              <a:t>CHECK AND EXPECTED ANSWER</a:t>
            </a:r>
          </a:p>
          <a:p>
            <a:r>
              <a:t>Is an unrecorded energy reading evidence of zero consumption? No.</a:t>
            </a:r>
          </a:p>
          <a:p>
            <a:r>
              <a:t/>
            </a:r>
          </a:p>
          <a:p>
            <a:r>
              <a:t>IF LEARNERS ARE STUCK</a:t>
            </a:r>
          </a:p>
          <a:p>
            <a:r>
              <a:t>Use three rows: a recorded zero, a recorded positive value and a blank. Explain their different meanings before cleaning.</a:t>
            </a:r>
          </a:p>
          <a:p>
            <a:r>
              <a:t/>
            </a:r>
          </a:p>
          <a:p>
            <a:r>
              <a:t>POINT TO THE DEFINITION</a:t>
            </a:r>
          </a:p>
          <a:p>
            <a:r>
              <a:t>Raw data: The original supplied records. Keep these unchanged so another person can check your decisions.</a:t>
            </a:r>
          </a:p>
          <a:p>
            <a:r>
              <a:t>Missing value: A value that was not recorded, represented here by None in Python records. Missing does not automatically mean zero.</a:t>
            </a:r>
          </a:p>
          <a:p>
            <a:r>
              <a:t/>
            </a:r>
          </a:p>
          <a:p>
            <a:r>
              <a:t>NEXT</a:t>
            </a:r>
          </a:p>
          <a:p>
            <a:r>
              <a:t>Words we will use.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Words we will use</a:t>
            </a:r>
          </a:p>
          <a:p>
            <a:r>
              <a:t/>
            </a:r>
          </a:p>
          <a:p>
            <a:r>
              <a:t>CONNECT</a:t>
            </a:r>
          </a:p>
          <a:p>
            <a:r>
              <a:t>Build on the preceding slide: Words we will use.</a:t>
            </a:r>
          </a:p>
          <a:p>
            <a:r>
              <a:t/>
            </a:r>
          </a:p>
          <a:p>
            <a:r>
              <a:t>EXPLAIN IN ORDINARY WORDS</a:t>
            </a:r>
          </a:p>
          <a:p>
            <a:r>
              <a:t>Missing means not recorded, not automatically zero. Decide why it is missing and document the rule. Fitted fill values must come from training data when evaluating a model.</a:t>
            </a:r>
          </a:p>
          <a:p>
            <a:r>
              <a:t/>
            </a:r>
          </a:p>
          <a:p>
            <a:r>
              <a:t>CHECK AND EXPECTED ANSWER</a:t>
            </a:r>
          </a:p>
          <a:p>
            <a:r>
              <a:t>Is an unrecorded energy reading evidence of zero consumption? No.</a:t>
            </a:r>
          </a:p>
          <a:p>
            <a:r>
              <a:t/>
            </a:r>
          </a:p>
          <a:p>
            <a:r>
              <a:t>IF LEARNERS ARE STUCK</a:t>
            </a:r>
          </a:p>
          <a:p>
            <a:r>
              <a:t>Use three rows: a recorded zero, a recorded positive value and a blank. Explain their different meanings before cleaning.</a:t>
            </a:r>
          </a:p>
          <a:p>
            <a:r>
              <a:t/>
            </a:r>
          </a:p>
          <a:p>
            <a:r>
              <a:t>POINT TO THE DEFINITION</a:t>
            </a:r>
          </a:p>
          <a:p>
            <a:r>
              <a:t>Record and equipment ID: A record ID identifies an observation. An equipment ID identifies the source and may repeat legitimately. Remove repeated observations only under the stated rule.</a:t>
            </a:r>
          </a:p>
          <a:p>
            <a:r>
              <a:t>Median and imputation: The median is the middle sorted value, or the mean of the two middle values. Imputation fills a missing value using an explicit rule and introduces uncertainty.</a:t>
            </a:r>
          </a:p>
          <a:p>
            <a:r>
              <a:t/>
            </a:r>
          </a:p>
          <a:p>
            <a:r>
              <a:t>NEXT</a:t>
            </a:r>
          </a:p>
          <a:p>
            <a:r>
              <a:t>An unusual value needs a reason.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An unusual value needs a reason</a:t>
            </a:r>
          </a:p>
          <a:p>
            <a:r>
              <a:t/>
            </a:r>
          </a:p>
          <a:p>
            <a:r>
              <a:t>CONNECT</a:t>
            </a:r>
          </a:p>
          <a:p>
            <a:r>
              <a:t>Build on the preceding slide: Words we will use.</a:t>
            </a:r>
          </a:p>
          <a:p>
            <a:r>
              <a:t/>
            </a:r>
          </a:p>
          <a:p>
            <a:r>
              <a:t>EXPLAIN IN ORDINARY WORDS</a:t>
            </a:r>
          </a:p>
          <a:p>
            <a:r>
              <a:t>Missing means not recorded, not automatically zero. Decide why it is missing and document the rule. Fitted fill values must come from training data when evaluating a model.</a:t>
            </a:r>
          </a:p>
          <a:p>
            <a:r>
              <a:t/>
            </a:r>
          </a:p>
          <a:p>
            <a:r>
              <a:t>CHECK AND EXPECTED ANSWER</a:t>
            </a:r>
          </a:p>
          <a:p>
            <a:r>
              <a:t>Is an unrecorded energy reading evidence of zero consumption? No.</a:t>
            </a:r>
          </a:p>
          <a:p>
            <a:r>
              <a:t/>
            </a:r>
          </a:p>
          <a:p>
            <a:r>
              <a:t>IF LEARNERS ARE STUCK</a:t>
            </a:r>
          </a:p>
          <a:p>
            <a:r>
              <a:t>Use three rows: a recorded zero, a recorded positive value and a blank. Explain their different meanings before cleaning.</a:t>
            </a:r>
          </a:p>
          <a:p>
            <a:r>
              <a:t/>
            </a:r>
          </a:p>
          <a:p>
            <a:r>
              <a:t>NEXT</a:t>
            </a:r>
          </a:p>
          <a:p>
            <a:r>
              <a:t>Mean, median and unusual readings.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Mean, median and unusual readings</a:t>
            </a:r>
          </a:p>
          <a:p>
            <a:r>
              <a:t/>
            </a:r>
          </a:p>
          <a:p>
            <a:r>
              <a:t>CONNECT</a:t>
            </a:r>
          </a:p>
          <a:p>
            <a:r>
              <a:t>Build on the preceding slide: An unusual value needs a reason.</a:t>
            </a:r>
          </a:p>
          <a:p>
            <a:r>
              <a:t/>
            </a:r>
          </a:p>
          <a:p>
            <a:r>
              <a:t>LECTURER CUE</a:t>
            </a:r>
          </a:p>
          <a:p>
            <a:r>
              <a:t>The mean uses every value. The median is the middle sorted value. A large value needs context.</a:t>
            </a:r>
          </a:p>
          <a:p>
            <a:r>
              <a:t/>
            </a:r>
          </a:p>
          <a:p>
            <a:r>
              <a:t>EXPLAIN IN ORDINARY WORDS</a:t>
            </a:r>
          </a:p>
          <a:p>
            <a:r>
              <a:t>Mean is total divided by count. Median is the middle of sorted values. A percentile locates a position in that ordered distribution; interpolation conventions can differ. Match the summary to the question.</a:t>
            </a:r>
          </a:p>
          <a:p>
            <a:r>
              <a:t/>
            </a:r>
          </a:p>
          <a:p>
            <a:r>
              <a:t>CHECK AND EXPECTED ANSWER</a:t>
            </a:r>
          </a:p>
          <a:p>
            <a:r>
              <a:t>For [2,3,4,5,100], median=4 and mean=22.8. The large value pulls the mean up.</a:t>
            </a:r>
          </a:p>
          <a:p>
            <a:r>
              <a:t/>
            </a:r>
          </a:p>
          <a:p>
            <a:r>
              <a:t>IF LEARNERS ARE STUCK</a:t>
            </a:r>
          </a:p>
          <a:p>
            <a:r>
              <a:t>Sort five values by hand. A skewed distribution does not make the mean wrong if the question concerns totals or expected cost.</a:t>
            </a:r>
          </a:p>
          <a:p>
            <a:r>
              <a:t/>
            </a:r>
          </a:p>
          <a:p>
            <a:r>
              <a:t>READ THE VISUAL</a:t>
            </a:r>
          </a:p>
          <a:p>
            <a:r>
              <a:t>Start with the title and labels. Read one row or mark aloud, including its unit. Let a learner read a second one before discussing the pattern. Do not infer a numerical value from an unlabelled drawing.</a:t>
            </a:r>
          </a:p>
          <a:p>
            <a:r>
              <a:t/>
            </a:r>
          </a:p>
          <a:p>
            <a:r>
              <a:t>NEXT</a:t>
            </a:r>
          </a:p>
          <a:p>
            <a:r>
              <a:t>Filling a gap adds an estimate.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Filling a gap adds an estimate</a:t>
            </a:r>
          </a:p>
          <a:p>
            <a:r>
              <a:t/>
            </a:r>
          </a:p>
          <a:p>
            <a:r>
              <a:t>CONNECT</a:t>
            </a:r>
          </a:p>
          <a:p>
            <a:r>
              <a:t>Build on the preceding slide: Mean, median and unusual readings.</a:t>
            </a:r>
          </a:p>
          <a:p>
            <a:r>
              <a:t/>
            </a:r>
          </a:p>
          <a:p>
            <a:r>
              <a:t>LECTURER CUE</a:t>
            </a:r>
          </a:p>
          <a:p>
            <a:r>
              <a:t>Use the example below to sort four valid readings. The median is (22 + 24) / 2 = 23. Filling a blank with 23 is a stated teaching rule, not a recovered measurement.</a:t>
            </a:r>
          </a:p>
          <a:p>
            <a:r>
              <a:t/>
            </a:r>
          </a:p>
          <a:p>
            <a:r>
              <a:t>EXPLAIN IN ORDINARY WORDS</a:t>
            </a:r>
          </a:p>
          <a:p>
            <a:r>
              <a:t>Missing means not recorded, not automatically zero. Decide why it is missing and document the rule. Fitted fill values must come from training data when evaluating a model.</a:t>
            </a:r>
          </a:p>
          <a:p>
            <a:r>
              <a:t/>
            </a:r>
          </a:p>
          <a:p>
            <a:r>
              <a:t>CHECK AND EXPECTED ANSWER</a:t>
            </a:r>
          </a:p>
          <a:p>
            <a:r>
              <a:t>Is an unrecorded energy reading evidence of zero consumption? No.</a:t>
            </a:r>
          </a:p>
          <a:p>
            <a:r>
              <a:t/>
            </a:r>
          </a:p>
          <a:p>
            <a:r>
              <a:t>IF LEARNERS ARE STUCK</a:t>
            </a:r>
          </a:p>
          <a:p>
            <a:r>
              <a:t>Use three rows: a recorded zero, a recorded positive value and a blank. Explain their different meanings before cleaning.</a:t>
            </a:r>
          </a:p>
          <a:p>
            <a:r>
              <a:t/>
            </a:r>
          </a:p>
          <a:p>
            <a:r>
              <a:t>NEXT</a:t>
            </a:r>
          </a:p>
          <a:p>
            <a:r>
              <a:t>Worked example (1/2).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Worked example (1/2)</a:t>
            </a:r>
          </a:p>
          <a:p>
            <a:r>
              <a:t/>
            </a:r>
          </a:p>
          <a:p>
            <a:r>
              <a:t>CONNECT</a:t>
            </a:r>
          </a:p>
          <a:p>
            <a:r>
              <a:t>Build on the preceding slide: Filling a gap adds an estimate.</a:t>
            </a:r>
          </a:p>
          <a:p>
            <a:r>
              <a:t/>
            </a:r>
          </a:p>
          <a:p>
            <a:r>
              <a:t>LECTURER CUE</a:t>
            </a:r>
          </a:p>
          <a:p>
            <a:r>
              <a:t>Use the example below to sort four valid readings. The median is (22 + 24) / 2 = 23. Filling a blank with 23 is a stated teaching rule, not a recovered measurement. Model a defect register: observation, evidence, decision, affected count, limitation. Work one repeated record and one missing value together. Draw a scatter plot from four pairs on the board. A pattern can motivate investigation without proving that one variable causes the other.</a:t>
            </a:r>
          </a:p>
          <a:p>
            <a:r>
              <a:t/>
            </a:r>
          </a:p>
          <a:p>
            <a:r>
              <a:t>Complete practice code:</a:t>
            </a:r>
          </a:p>
          <a:p>
            <a:r>
              <a:t>from statistics import median</a:t>
            </a:r>
          </a:p>
          <a:p>
            <a:r>
              <a:t>raw = [20, None, 22, 24, 80]</a:t>
            </a:r>
          </a:p>
          <a:p>
            <a:r>
              <a:t>known = []</a:t>
            </a:r>
          </a:p>
          <a:p>
            <a:r>
              <a:t>for value in raw:</a:t>
            </a:r>
          </a:p>
          <a:p>
            <a:r>
              <a:t>    if value is not None:</a:t>
            </a:r>
          </a:p>
          <a:p>
            <a:r>
              <a:t>        known.append(value)</a:t>
            </a:r>
          </a:p>
          <a:p>
            <a:r>
              <a:t>fill = median(known)</a:t>
            </a:r>
          </a:p>
          <a:p>
            <a:r>
              <a:t>cleaned = []</a:t>
            </a:r>
          </a:p>
          <a:p>
            <a:r>
              <a:t>for value in raw:</a:t>
            </a:r>
          </a:p>
          <a:p>
            <a:r>
              <a:t>    if value is None:</a:t>
            </a:r>
          </a:p>
          <a:p>
            <a:r>
              <a:t>        cleaned.append(fill)</a:t>
            </a:r>
          </a:p>
          <a:p>
            <a:r>
              <a:t>    else:</a:t>
            </a:r>
          </a:p>
          <a:p>
            <a:r>
              <a:t>        cleaned.append(value)</a:t>
            </a:r>
          </a:p>
          <a:p>
            <a:r>
              <a:t>print(fill)</a:t>
            </a:r>
          </a:p>
          <a:p>
            <a:r>
              <a:t>print(raw)</a:t>
            </a:r>
          </a:p>
          <a:p>
            <a:r>
              <a:t>print(cleaned)</a:t>
            </a:r>
          </a:p>
          <a:p>
            <a:r>
              <a:t/>
            </a:r>
          </a:p>
          <a:p>
            <a:r>
              <a:t>EXPLAIN IN ORDINARY WORDS</a:t>
            </a:r>
          </a:p>
          <a:p>
            <a:r>
              <a:t>A condition is a True/False question. Python executes the matching indented branch. = assigns; == compares. &gt;= includes the boundary, while &gt; excludes it.</a:t>
            </a:r>
          </a:p>
          <a:p>
            <a:r>
              <a:t/>
            </a:r>
          </a:p>
          <a:p>
            <a:r>
              <a:t>CHECK AND EXPECTED ANSWER</a:t>
            </a:r>
          </a:p>
          <a:p>
            <a:r>
              <a:t>With value 30, is value &gt;= 30 true? Yes. Is value &gt; 30 true? No.</a:t>
            </a:r>
          </a:p>
          <a:p>
            <a:r>
              <a:t/>
            </a:r>
          </a:p>
          <a:p>
            <a:r>
              <a:t>IF LEARNERS ARE STUCK</a:t>
            </a:r>
          </a:p>
          <a:p>
            <a:r>
              <a:t>Try one value below, at and above the boundary before running the code.</a:t>
            </a:r>
          </a:p>
          <a:p>
            <a:r>
              <a:t/>
            </a:r>
          </a:p>
          <a:p>
            <a:r>
              <a:t>WALK THROUGH THIS CODE</a:t>
            </a:r>
          </a:p>
          <a:p>
            <a:r>
              <a:t>import loads a library. from selects a tool from it.</a:t>
            </a:r>
          </a:p>
          <a:p>
            <a:r>
              <a:t>for takes the next item. The indented block repeats.</a:t>
            </a:r>
          </a:p>
          <a:p>
            <a:r>
              <a:t>if tests a condition. The chosen indented block runs.</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Worked example (2/2).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Worked example (2/2)</a:t>
            </a:r>
          </a:p>
          <a:p>
            <a:r>
              <a:t/>
            </a:r>
          </a:p>
          <a:p>
            <a:r>
              <a:t>CONNECT</a:t>
            </a:r>
          </a:p>
          <a:p>
            <a:r>
              <a:t>Build on the preceding slide: Worked example (1/2).</a:t>
            </a:r>
          </a:p>
          <a:p>
            <a:r>
              <a:t/>
            </a:r>
          </a:p>
          <a:p>
            <a:r>
              <a:t>LECTURER CUE</a:t>
            </a:r>
          </a:p>
          <a:p>
            <a:r>
              <a:t>Use the example below to sort four valid readings. The median is (22 + 24) / 2 = 23. Filling a blank with 23 is a stated teaching rule, not a recovered measurement. Model a defect register: observation, evidence, decision, affected count, limitation. Work one repeated record and one missing value together. Draw a scatter plot from four pairs on the board. A pattern can motivate investigation without proving that one variable causes the other.</a:t>
            </a:r>
          </a:p>
          <a:p>
            <a:r>
              <a:t/>
            </a:r>
          </a:p>
          <a:p>
            <a:r>
              <a:t>Complete practice code:</a:t>
            </a:r>
          </a:p>
          <a:p>
            <a:r>
              <a:t>from statistics import median</a:t>
            </a:r>
          </a:p>
          <a:p>
            <a:r>
              <a:t>raw = [20, None, 22, 24, 80]</a:t>
            </a:r>
          </a:p>
          <a:p>
            <a:r>
              <a:t>known = []</a:t>
            </a:r>
          </a:p>
          <a:p>
            <a:r>
              <a:t>for value in raw:</a:t>
            </a:r>
          </a:p>
          <a:p>
            <a:r>
              <a:t>    if value is not None:</a:t>
            </a:r>
          </a:p>
          <a:p>
            <a:r>
              <a:t>        known.append(value)</a:t>
            </a:r>
          </a:p>
          <a:p>
            <a:r>
              <a:t>fill = median(known)</a:t>
            </a:r>
          </a:p>
          <a:p>
            <a:r>
              <a:t>cleaned = []</a:t>
            </a:r>
          </a:p>
          <a:p>
            <a:r>
              <a:t>for value in raw:</a:t>
            </a:r>
          </a:p>
          <a:p>
            <a:r>
              <a:t>    if value is None:</a:t>
            </a:r>
          </a:p>
          <a:p>
            <a:r>
              <a:t>        cleaned.append(fill)</a:t>
            </a:r>
          </a:p>
          <a:p>
            <a:r>
              <a:t>    else:</a:t>
            </a:r>
          </a:p>
          <a:p>
            <a:r>
              <a:t>        cleaned.append(value)</a:t>
            </a:r>
          </a:p>
          <a:p>
            <a:r>
              <a:t>print(fill)</a:t>
            </a:r>
          </a:p>
          <a:p>
            <a:r>
              <a:t>print(raw)</a:t>
            </a:r>
          </a:p>
          <a:p>
            <a:r>
              <a:t>print(cleaned)</a:t>
            </a:r>
          </a:p>
          <a:p>
            <a:r>
              <a:t/>
            </a:r>
          </a:p>
          <a:p>
            <a:r>
              <a:t>EXPLAIN IN ORDINARY WORDS</a:t>
            </a:r>
          </a:p>
          <a:p>
            <a:r>
              <a:t>A condition is a True/False question. Python executes the matching indented branch. = assigns; == compares. &gt;= includes the boundary, while &gt; excludes it.</a:t>
            </a:r>
          </a:p>
          <a:p>
            <a:r>
              <a:t/>
            </a:r>
          </a:p>
          <a:p>
            <a:r>
              <a:t>CHECK AND EXPECTED ANSWER</a:t>
            </a:r>
          </a:p>
          <a:p>
            <a:r>
              <a:t>With value 30, is value &gt;= 30 true? Yes. Is value &gt; 30 true? No.</a:t>
            </a:r>
          </a:p>
          <a:p>
            <a:r>
              <a:t/>
            </a:r>
          </a:p>
          <a:p>
            <a:r>
              <a:t>IF LEARNERS ARE STUCK</a:t>
            </a:r>
          </a:p>
          <a:p>
            <a:r>
              <a:t>Try one value below, at and above the boundary before running the code.</a:t>
            </a:r>
          </a:p>
          <a:p>
            <a:r>
              <a:t/>
            </a:r>
          </a:p>
          <a:p>
            <a:r>
              <a:t>WALK THROUGH THIS CODE</a:t>
            </a:r>
          </a:p>
          <a:p>
            <a:r>
              <a:t>for takes the next item. The indented block repeats.</a:t>
            </a:r>
          </a:p>
          <a:p>
            <a:r>
              <a:t>if tests a condition. The chosen indented block runs.</a:t>
            </a:r>
          </a:p>
          <a:p>
            <a:r>
              <a:t>print displays a value below the cell.</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Expected output.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Expected output</a:t>
            </a:r>
          </a:p>
          <a:p>
            <a:r>
              <a:t/>
            </a:r>
          </a:p>
          <a:p>
            <a:r>
              <a:t>CONNECT</a:t>
            </a:r>
          </a:p>
          <a:p>
            <a:r>
              <a:t>Build on the preceding slide: Worked example (2/2).</a:t>
            </a:r>
          </a:p>
          <a:p>
            <a:r>
              <a:t/>
            </a:r>
          </a:p>
          <a:p>
            <a:r>
              <a:t>LECTURER CUE</a:t>
            </a:r>
          </a:p>
          <a:p>
            <a:r>
              <a:t>Compare the actual output character by character with this practice result. If it differs, read the first error and check the input, units, names and execution order. Do not copy this practice output into a graded answer.</a:t>
            </a:r>
          </a:p>
          <a:p>
            <a:r>
              <a:t/>
            </a:r>
          </a:p>
          <a:p>
            <a:r>
              <a:t>NEXT</a:t>
            </a:r>
          </a:p>
          <a:p>
            <a:r>
              <a:t>Copy a record and remember an ID.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Copy a record and remember an ID</a:t>
            </a:r>
          </a:p>
          <a:p>
            <a:r>
              <a:t/>
            </a:r>
          </a:p>
          <a:p>
            <a:r>
              <a:t>CONNECT</a:t>
            </a:r>
          </a:p>
          <a:p>
            <a:r>
              <a:t>Build on the preceding slide: Expected output.</a:t>
            </a:r>
          </a:p>
          <a:p>
            <a:r>
              <a:t/>
            </a:r>
          </a:p>
          <a:p>
            <a:r>
              <a:t>EXPLAIN IN ORDINARY WORDS</a:t>
            </a:r>
          </a:p>
          <a:p>
            <a:r>
              <a:t>A dictionary pairs a key with a value. For {"unit":"A", "reading":4}, record["reading"] looks up the key and gives 4. The key is not a list position.</a:t>
            </a:r>
          </a:p>
          <a:p>
            <a:r>
              <a:t/>
            </a:r>
          </a:p>
          <a:p>
            <a:r>
              <a:t>CHECK AND EXPECTED ANSWER</a:t>
            </a:r>
          </a:p>
          <a:p>
            <a:r>
              <a:t>What happens if the key is spelled "Reading" instead? It is a different key; direct lookup can raise KeyError.</a:t>
            </a:r>
          </a:p>
          <a:p>
            <a:r>
              <a:t/>
            </a:r>
          </a:p>
          <a:p>
            <a:r>
              <a:t>IF LEARNERS ARE STUCK</a:t>
            </a:r>
          </a:p>
          <a:p>
            <a:r>
              <a:t>Point to each key and its value. Read the colon as associates-with, then do one exact lookup.</a:t>
            </a:r>
          </a:p>
          <a:p>
            <a:r>
              <a:t/>
            </a:r>
          </a:p>
          <a:p>
            <a:r>
              <a:t>POINT TO THE DEFINITION</a:t>
            </a:r>
          </a:p>
          <a:p>
            <a:r>
              <a:t>dict(row): For our flat records, dict(row) makes a separate dictionary with the same fields. Changing a number in the copy leaves the original record unchanged.</a:t>
            </a:r>
          </a:p>
          <a:p>
            <a:r>
              <a:t>set, in, add and continue: set() starts an empty collection of unique items. in checks membership; add remembers an item. continue skips the rest of the current loop pass.</a:t>
            </a:r>
          </a:p>
          <a:p>
            <a:r>
              <a:t/>
            </a:r>
          </a:p>
          <a:p>
            <a:r>
              <a:t>NEXT</a:t>
            </a:r>
          </a:p>
          <a:p>
            <a:r>
              <a:t>A working copy preserves the original.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working copy preserves the original</a:t>
            </a:r>
          </a:p>
          <a:p>
            <a:r>
              <a:t/>
            </a:r>
          </a:p>
          <a:p>
            <a:r>
              <a:t>CONNECT</a:t>
            </a:r>
          </a:p>
          <a:p>
            <a:r>
              <a:t>Build on the preceding slide: Copy a record and remember an ID.</a:t>
            </a:r>
          </a:p>
          <a:p>
            <a:r>
              <a:t/>
            </a:r>
          </a:p>
          <a:p>
            <a:r>
              <a:t>LECTURER CUE</a:t>
            </a:r>
          </a:p>
          <a:p>
            <a:r>
              <a:t>Ask students to describe what they see before introducing terminology. Generated conceptual teaching illustration. The working-copy rule is a toy activity, not the exact assessed cleaning policy. Source: figs/experiential/ASSET_SOURCES.md.</a:t>
            </a:r>
          </a:p>
          <a:p>
            <a:r>
              <a:t/>
            </a:r>
          </a:p>
          <a:p>
            <a:r>
              <a:t>NEXT</a:t>
            </a:r>
          </a:p>
          <a:p>
            <a:r>
              <a:t>Copies and duplicate checks.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Copies and duplicate checks</a:t>
            </a:r>
          </a:p>
          <a:p>
            <a:r>
              <a:t/>
            </a:r>
          </a:p>
          <a:p>
            <a:r>
              <a:t>CONNECT</a:t>
            </a:r>
          </a:p>
          <a:p>
            <a:r>
              <a:t>Build on the preceding slide: A working copy preserves the original.</a:t>
            </a:r>
          </a:p>
          <a:p>
            <a:r>
              <a:t/>
            </a:r>
          </a:p>
          <a:p>
            <a:r>
              <a:t>LECTURER CUE</a:t>
            </a:r>
          </a:p>
          <a:p>
            <a:r>
              <a:t>Read each symbol before running. Ask everyone to predict. Expected output: 4 then True. The example has only scalar fields. A shallow copy does not independently copy nested lists.</a:t>
            </a:r>
          </a:p>
          <a:p>
            <a:r>
              <a:t/>
            </a:r>
          </a:p>
          <a:p>
            <a:r>
              <a:t>EXPLAIN IN ORDINARY WORDS</a:t>
            </a:r>
          </a:p>
          <a:p>
            <a:r>
              <a:t>A cleaning decision needs evidence, a stated rule and a before/after check. Similar rows may be genuine repeated events. Reconciliation compares totals built under the same definitions.</a:t>
            </a:r>
          </a:p>
          <a:p>
            <a:r>
              <a:t/>
            </a:r>
          </a:p>
          <a:p>
            <a:r>
              <a:t>CHECK AND EXPECTED ANSWER</a:t>
            </a:r>
          </a:p>
          <a:p>
            <a:r>
              <a:t>May we delete every repeated amount? No. Check the row identifier and the table grain first.</a:t>
            </a:r>
          </a:p>
          <a:p>
            <a:r>
              <a:t/>
            </a:r>
          </a:p>
          <a:p>
            <a:r>
              <a:t>IF LEARNERS ARE STUCK</a:t>
            </a:r>
          </a:p>
          <a:p>
            <a:r>
              <a:t>Keep raw data, record counts before and after each action, then explain any remaining difference instead of forcing totals to agree.</a:t>
            </a:r>
          </a:p>
          <a:p>
            <a:r>
              <a:t/>
            </a:r>
          </a:p>
          <a:p>
            <a:r>
              <a:t>WALK THROUGH THIS CODE</a:t>
            </a:r>
          </a:p>
          <a:p>
            <a:r>
              <a:t>print displays a value below the cell.</a:t>
            </a:r>
          </a:p>
          <a:p>
            <a:r>
              <a:t>Square brackets create a list or select an item.</a:t>
            </a:r>
          </a:p>
          <a:p>
            <a:r>
              <a:t>Braces hold dictionary key: value pairs here.</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Copying records and recognising repeats.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Copying records and recognising repeats</a:t>
            </a:r>
          </a:p>
          <a:p>
            <a:r>
              <a:t/>
            </a:r>
          </a:p>
          <a:p>
            <a:r>
              <a:t>CONNECT</a:t>
            </a:r>
          </a:p>
          <a:p>
            <a:r>
              <a:t>Build on the preceding slide: Copies and duplicate checks.</a:t>
            </a:r>
          </a:p>
          <a:p>
            <a:r>
              <a:t/>
            </a:r>
          </a:p>
          <a:p>
            <a:r>
              <a:t>LECTURER CUE</a:t>
            </a:r>
          </a:p>
          <a:p>
            <a:r>
              <a:t>set() creates a collection of already-seen identifiers. in checks membership. continue skips the rest of that iteration. dict(row) copies a record so later edits do not change the original. Different record IDs from the same equipment remain legitimate observations.</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NEXT</a:t>
            </a:r>
          </a:p>
          <a:p>
            <a:r>
              <a:t>Following a cleaning loop.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Following a cleaning loop</a:t>
            </a:r>
          </a:p>
          <a:p>
            <a:r>
              <a:t/>
            </a:r>
          </a:p>
          <a:p>
            <a:r>
              <a:t>CONNECT</a:t>
            </a:r>
          </a:p>
          <a:p>
            <a:r>
              <a:t>Build on the preceding slide: Copying records and recognising repeats.</a:t>
            </a:r>
          </a:p>
          <a:p>
            <a:r>
              <a:t/>
            </a:r>
          </a:p>
          <a:p>
            <a:r>
              <a:t>LECTURER CUE</a:t>
            </a:r>
          </a:p>
          <a:p>
            <a:r>
              <a:t>Read one row at a time and use a changed value. This is a syntax reference for the worked examples.</a:t>
            </a:r>
          </a:p>
          <a:p>
            <a:r>
              <a:t/>
            </a:r>
          </a:p>
          <a:p>
            <a:r>
              <a:t>EXPLAIN IN ORDINARY WORDS</a:t>
            </a:r>
          </a:p>
          <a:p>
            <a:r>
              <a:t>A cleaning decision needs evidence, a stated rule and a before/after check. Similar rows may be genuine repeated events. Reconciliation compares totals built under the same definitions.</a:t>
            </a:r>
          </a:p>
          <a:p>
            <a:r>
              <a:t/>
            </a:r>
          </a:p>
          <a:p>
            <a:r>
              <a:t>CHECK AND EXPECTED ANSWER</a:t>
            </a:r>
          </a:p>
          <a:p>
            <a:r>
              <a:t>May we delete every repeated amount? No. Check the row identifier and the table grain first.</a:t>
            </a:r>
          </a:p>
          <a:p>
            <a:r>
              <a:t/>
            </a:r>
          </a:p>
          <a:p>
            <a:r>
              <a:t>IF LEARNERS ARE STUCK</a:t>
            </a:r>
          </a:p>
          <a:p>
            <a:r>
              <a:t>Keep raw data, record counts before and after each action, then explain any remaining difference instead of forcing totals to agree.</a:t>
            </a:r>
          </a:p>
          <a:p>
            <a:r>
              <a:t/>
            </a:r>
          </a:p>
          <a:p>
            <a:r>
              <a:t>READ THE VISUAL</a:t>
            </a:r>
          </a:p>
          <a:p>
            <a:r>
              <a:t>Start with the title and labels. Read one row or mark aloud, including its unit. Let a learner read a second one before discussing the pattern. Do not infer a numerical value from an unlabelled drawing.</a:t>
            </a:r>
          </a:p>
          <a:p>
            <a:r>
              <a:t/>
            </a:r>
          </a:p>
          <a:p>
            <a:r>
              <a:t>NEXT</a:t>
            </a:r>
          </a:p>
          <a:p>
            <a:r>
              <a:t>Copying records and recognising repeats in Python (1/2).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Copying records and recognising repeats in Python (1/2)</a:t>
            </a:r>
          </a:p>
          <a:p>
            <a:r>
              <a:t/>
            </a:r>
          </a:p>
          <a:p>
            <a:r>
              <a:t>CONNECT</a:t>
            </a:r>
          </a:p>
          <a:p>
            <a:r>
              <a:t>Build on the preceding slide: Following a cleaning loop.</a:t>
            </a:r>
          </a:p>
          <a:p>
            <a:r>
              <a:t/>
            </a:r>
          </a:p>
          <a:p>
            <a:r>
              <a:t>LECTURER CUE</a:t>
            </a:r>
          </a:p>
          <a:p>
            <a:r>
              <a:t>set() creates a collection of already-seen identifiers. in checks membership. continue skips the rest of that iteration. dict(row) copies a record so later edits do not change the original. Different record IDs from the same equipment remain legitimate observations.</a:t>
            </a:r>
          </a:p>
          <a:p>
            <a:r>
              <a:t/>
            </a:r>
          </a:p>
          <a:p>
            <a:r>
              <a:t>Complete practice code:</a:t>
            </a:r>
          </a:p>
          <a:p>
            <a:r>
              <a:t>raw_records = [{"id": 1, "equipment": "A", "value": 10},</a:t>
            </a:r>
          </a:p>
          <a:p>
            <a:r>
              <a:t>               {"id": 1, "equipment": "A", "value": 10},</a:t>
            </a:r>
          </a:p>
          <a:p>
            <a:r>
              <a:t>               {"id": 2, "equipment": "A", "value": 12}]</a:t>
            </a:r>
          </a:p>
          <a:p>
            <a:r>
              <a:t>seen = set()</a:t>
            </a:r>
          </a:p>
          <a:p>
            <a:r>
              <a:t>kept = []</a:t>
            </a:r>
          </a:p>
          <a:p>
            <a:r>
              <a:t>for row in raw_records:</a:t>
            </a:r>
          </a:p>
          <a:p>
            <a:r>
              <a:t>    if row["id"] in seen:</a:t>
            </a:r>
          </a:p>
          <a:p>
            <a:r>
              <a:t>        continue</a:t>
            </a:r>
          </a:p>
          <a:p>
            <a:r>
              <a:t>    seen.add(row["id"])</a:t>
            </a:r>
          </a:p>
          <a:p>
            <a:r>
              <a:t>    kept.append(dict(row))</a:t>
            </a:r>
          </a:p>
          <a:p>
            <a:r>
              <a:t>print(len(raw_records), len(kept))</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WALK THROUGH THIS CODE</a:t>
            </a:r>
          </a:p>
          <a:p>
            <a:r>
              <a:t>Square brackets create a list or select an item.</a:t>
            </a:r>
          </a:p>
          <a:p>
            <a:r>
              <a:t>Braces hold dictionary key: value pairs here.</a:t>
            </a:r>
          </a:p>
          <a:p>
            <a:r>
              <a:t>= assigns the value on the right to the name on the left.</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Copying records and recognising repeats in Python (2/2).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Copying records and recognising repeats in Python (2/2)</a:t>
            </a:r>
          </a:p>
          <a:p>
            <a:r>
              <a:t/>
            </a:r>
          </a:p>
          <a:p>
            <a:r>
              <a:t>CONNECT</a:t>
            </a:r>
          </a:p>
          <a:p>
            <a:r>
              <a:t>Build on the preceding slide: Copying records and recognising repeats in Python (1/2).</a:t>
            </a:r>
          </a:p>
          <a:p>
            <a:r>
              <a:t/>
            </a:r>
          </a:p>
          <a:p>
            <a:r>
              <a:t>LECTURER CUE</a:t>
            </a:r>
          </a:p>
          <a:p>
            <a:r>
              <a:t>set() creates a collection of already-seen identifiers. in checks membership. continue skips the rest of that iteration. dict(row) copies a record so later edits do not change the original. Different record IDs from the same equipment remain legitimate observations.</a:t>
            </a:r>
          </a:p>
          <a:p>
            <a:r>
              <a:t/>
            </a:r>
          </a:p>
          <a:p>
            <a:r>
              <a:t>Complete practice code:</a:t>
            </a:r>
          </a:p>
          <a:p>
            <a:r>
              <a:t>raw_records = [{"id": 1, "equipment": "A", "value": 10},</a:t>
            </a:r>
          </a:p>
          <a:p>
            <a:r>
              <a:t>               {"id": 1, "equipment": "A", "value": 10},</a:t>
            </a:r>
          </a:p>
          <a:p>
            <a:r>
              <a:t>               {"id": 2, "equipment": "A", "value": 12}]</a:t>
            </a:r>
          </a:p>
          <a:p>
            <a:r>
              <a:t>seen = set()</a:t>
            </a:r>
          </a:p>
          <a:p>
            <a:r>
              <a:t>kept = []</a:t>
            </a:r>
          </a:p>
          <a:p>
            <a:r>
              <a:t>for row in raw_records:</a:t>
            </a:r>
          </a:p>
          <a:p>
            <a:r>
              <a:t>    if row["id"] in seen:</a:t>
            </a:r>
          </a:p>
          <a:p>
            <a:r>
              <a:t>        continue</a:t>
            </a:r>
          </a:p>
          <a:p>
            <a:r>
              <a:t>    seen.add(row["id"])</a:t>
            </a:r>
          </a:p>
          <a:p>
            <a:r>
              <a:t>    kept.append(dict(row))</a:t>
            </a:r>
          </a:p>
          <a:p>
            <a:r>
              <a:t>print(len(raw_records), len(kept))</a:t>
            </a:r>
          </a:p>
          <a:p>
            <a:r>
              <a:t/>
            </a:r>
          </a:p>
          <a:p>
            <a:r>
              <a:t>EXPLAIN IN ORDINARY WORDS</a:t>
            </a:r>
          </a:p>
          <a:p>
            <a:r>
              <a:t>A condition is a True/False question. Python executes the matching indented branch. = assigns; == compares. &gt;= includes the boundary, while &gt; excludes it.</a:t>
            </a:r>
          </a:p>
          <a:p>
            <a:r>
              <a:t/>
            </a:r>
          </a:p>
          <a:p>
            <a:r>
              <a:t>CHECK AND EXPECTED ANSWER</a:t>
            </a:r>
          </a:p>
          <a:p>
            <a:r>
              <a:t>With value 30, is value &gt;= 30 true? Yes. Is value &gt; 30 true? No.</a:t>
            </a:r>
          </a:p>
          <a:p>
            <a:r>
              <a:t/>
            </a:r>
          </a:p>
          <a:p>
            <a:r>
              <a:t>IF LEARNERS ARE STUCK</a:t>
            </a:r>
          </a:p>
          <a:p>
            <a:r>
              <a:t>Try one value below, at and above the boundary before running the code.</a:t>
            </a:r>
          </a:p>
          <a:p>
            <a:r>
              <a:t/>
            </a:r>
          </a:p>
          <a:p>
            <a:r>
              <a:t>WALK THROUGH THIS CODE</a:t>
            </a:r>
          </a:p>
          <a:p>
            <a:r>
              <a:t>for takes the next item. The indented block repeats.</a:t>
            </a:r>
          </a:p>
          <a:p>
            <a:r>
              <a:t>if tests a condition. The chosen indented block runs.</a:t>
            </a:r>
          </a:p>
          <a:p>
            <a:r>
              <a:t>print displays a value below the cell.</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Summaries returned as a dictionary.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Summaries returned as a dictionary</a:t>
            </a:r>
          </a:p>
          <a:p>
            <a:r>
              <a:t/>
            </a:r>
          </a:p>
          <a:p>
            <a:r>
              <a:t>CONNECT</a:t>
            </a:r>
          </a:p>
          <a:p>
            <a:r>
              <a:t>Build on the preceding slide: Copying records and recognising repeats in Python (2/2).</a:t>
            </a:r>
          </a:p>
          <a:p>
            <a:r>
              <a:t/>
            </a:r>
          </a:p>
          <a:p>
            <a:r>
              <a:t>LECTURER CUE</a:t>
            </a:r>
          </a:p>
          <a:p>
            <a:r>
              <a:t>This example expects a nonempty list. It calculates a count and mean, then returns a dictionary with named outputs. Use the exact keys specified by the issued task when adapting this pattern.</a:t>
            </a:r>
          </a:p>
          <a:p>
            <a:r>
              <a:t/>
            </a:r>
          </a:p>
          <a:p>
            <a:r>
              <a:t>EXPLAIN IN ORDINARY WORDS</a:t>
            </a:r>
          </a:p>
          <a:p>
            <a:r>
              <a:t>A dictionary pairs a key with a value. For {"unit":"A", "reading":4}, record["reading"] looks up the key and gives 4. The key is not a list position.</a:t>
            </a:r>
          </a:p>
          <a:p>
            <a:r>
              <a:t/>
            </a:r>
          </a:p>
          <a:p>
            <a:r>
              <a:t>CHECK AND EXPECTED ANSWER</a:t>
            </a:r>
          </a:p>
          <a:p>
            <a:r>
              <a:t>What happens if the key is spelled "Reading" instead? It is a different key; direct lookup can raise KeyError.</a:t>
            </a:r>
          </a:p>
          <a:p>
            <a:r>
              <a:t/>
            </a:r>
          </a:p>
          <a:p>
            <a:r>
              <a:t>IF LEARNERS ARE STUCK</a:t>
            </a:r>
          </a:p>
          <a:p>
            <a:r>
              <a:t>Point to each key and its value. Read the colon as associates-with, then do one exact lookup.</a:t>
            </a:r>
          </a:p>
          <a:p>
            <a:r>
              <a:t/>
            </a:r>
          </a:p>
          <a:p>
            <a:r>
              <a:t>NEXT</a:t>
            </a:r>
          </a:p>
          <a:p>
            <a:r>
              <a:t>Summaries returned as a dictionary in Python.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Summaries returned as a dictionary in Python</a:t>
            </a:r>
          </a:p>
          <a:p>
            <a:r>
              <a:t/>
            </a:r>
          </a:p>
          <a:p>
            <a:r>
              <a:t>CONNECT</a:t>
            </a:r>
          </a:p>
          <a:p>
            <a:r>
              <a:t>Build on the preceding slide: Summaries returned as a dictionary.</a:t>
            </a:r>
          </a:p>
          <a:p>
            <a:r>
              <a:t/>
            </a:r>
          </a:p>
          <a:p>
            <a:r>
              <a:t>LECTURER CUE</a:t>
            </a:r>
          </a:p>
          <a:p>
            <a:r>
              <a:t>This example expects a nonempty list. It calculates a count and mean, then returns a dictionary with named outputs. Use the exact keys specified by the issued task when adapting this pattern.</a:t>
            </a:r>
          </a:p>
          <a:p>
            <a:r>
              <a:t/>
            </a:r>
          </a:p>
          <a:p>
            <a:r>
              <a:t>Complete practice code:</a:t>
            </a:r>
          </a:p>
          <a:p>
            <a:r>
              <a:t>def describe(values):</a:t>
            </a:r>
          </a:p>
          <a:p>
            <a:r>
              <a:t>    count = len(values)</a:t>
            </a:r>
          </a:p>
          <a:p>
            <a:r>
              <a:t>    mean = sum(values) / count</a:t>
            </a:r>
          </a:p>
          <a:p>
            <a:r>
              <a:t>    return {"count": count, "mean": mean}</a:t>
            </a:r>
          </a:p>
          <a:p>
            <a:r>
              <a:t/>
            </a:r>
          </a:p>
          <a:p>
            <a:r>
              <a:t>print(describe([10, 12]))</a:t>
            </a:r>
          </a:p>
          <a:p>
            <a:r>
              <a:t/>
            </a:r>
          </a:p>
          <a:p>
            <a:r>
              <a:t>EXPLAIN IN ORDINARY WORDS</a:t>
            </a:r>
          </a:p>
          <a:p>
            <a:r>
              <a:t>A dictionary pairs a key with a value. For {"unit":"A", "reading":4}, record["reading"] looks up the key and gives 4. The key is not a list position.</a:t>
            </a:r>
          </a:p>
          <a:p>
            <a:r>
              <a:t/>
            </a:r>
          </a:p>
          <a:p>
            <a:r>
              <a:t>CHECK AND EXPECTED ANSWER</a:t>
            </a:r>
          </a:p>
          <a:p>
            <a:r>
              <a:t>What happens if the key is spelled "Reading" instead? It is a different key; direct lookup can raise KeyError.</a:t>
            </a:r>
          </a:p>
          <a:p>
            <a:r>
              <a:t/>
            </a:r>
          </a:p>
          <a:p>
            <a:r>
              <a:t>IF LEARNERS ARE STUCK</a:t>
            </a:r>
          </a:p>
          <a:p>
            <a:r>
              <a:t>Point to each key and its value. Read the colon as associates-with, then do one exact lookup.</a:t>
            </a:r>
          </a:p>
          <a:p>
            <a:r>
              <a:t/>
            </a:r>
          </a:p>
          <a:p>
            <a:r>
              <a:t>WALK THROUGH THIS CODE</a:t>
            </a:r>
          </a:p>
          <a:p>
            <a:r>
              <a:t>def names the function. Inputs go inside parentheses.</a:t>
            </a:r>
          </a:p>
          <a:p>
            <a:r>
              <a:t>return sends the result back to the caller.</a:t>
            </a:r>
          </a:p>
          <a:p>
            <a:r>
              <a:t>print displays a value below the cell.</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Reading a blank field.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Reading a blank field</a:t>
            </a:r>
          </a:p>
          <a:p>
            <a:r>
              <a:t/>
            </a:r>
          </a:p>
          <a:p>
            <a:r>
              <a:t>CONNECT</a:t>
            </a:r>
          </a:p>
          <a:p>
            <a:r>
              <a:t>Build on the preceding slide: Summaries returned as a dictionary in Python.</a:t>
            </a:r>
          </a:p>
          <a:p>
            <a:r>
              <a:t/>
            </a:r>
          </a:p>
          <a:p>
            <a:r>
              <a:t>LECTURER CUE</a:t>
            </a:r>
          </a:p>
          <a:p>
            <a:r>
              <a:t>CSV values start as text. The if/else below stores None for a blank. Otherwise float converts the text into a number.</a:t>
            </a:r>
          </a:p>
          <a:p>
            <a:r>
              <a:t/>
            </a:r>
          </a:p>
          <a:p>
            <a:r>
              <a:t>EXPLAIN IN ORDINARY WORDS</a:t>
            </a:r>
          </a:p>
          <a:p>
            <a:r>
              <a:t>Missing means not recorded, not automatically zero. Decide why it is missing and document the rule. Fitted fill values must come from training data when evaluating a model.</a:t>
            </a:r>
          </a:p>
          <a:p>
            <a:r>
              <a:t/>
            </a:r>
          </a:p>
          <a:p>
            <a:r>
              <a:t>CHECK AND EXPECTED ANSWER</a:t>
            </a:r>
          </a:p>
          <a:p>
            <a:r>
              <a:t>Is an unrecorded energy reading evidence of zero consumption? No.</a:t>
            </a:r>
          </a:p>
          <a:p>
            <a:r>
              <a:t/>
            </a:r>
          </a:p>
          <a:p>
            <a:r>
              <a:t>IF LEARNERS ARE STUCK</a:t>
            </a:r>
          </a:p>
          <a:p>
            <a:r>
              <a:t>Use three rows: a recorded zero, a recorded positive value and a blank. Explain their different meanings before cleaning.</a:t>
            </a:r>
          </a:p>
          <a:p>
            <a:r>
              <a:t/>
            </a:r>
          </a:p>
          <a:p>
            <a:r>
              <a:t>NEXT</a:t>
            </a:r>
          </a:p>
          <a:p>
            <a:r>
              <a:t>Reading a blank field in Python.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Reading a blank field in Python</a:t>
            </a:r>
          </a:p>
          <a:p>
            <a:r>
              <a:t/>
            </a:r>
          </a:p>
          <a:p>
            <a:r>
              <a:t>CONNECT</a:t>
            </a:r>
          </a:p>
          <a:p>
            <a:r>
              <a:t>Build on the preceding slide: Reading a blank field.</a:t>
            </a:r>
          </a:p>
          <a:p>
            <a:r>
              <a:t/>
            </a:r>
          </a:p>
          <a:p>
            <a:r>
              <a:t>LECTURER CUE</a:t>
            </a:r>
          </a:p>
          <a:p>
            <a:r>
              <a:t>CSV values start as text. The if/else below stores None for a blank. Otherwise float converts the text into a number.</a:t>
            </a:r>
          </a:p>
          <a:p>
            <a:r>
              <a:t/>
            </a:r>
          </a:p>
          <a:p>
            <a:r>
              <a:t>Complete practice code:</a:t>
            </a:r>
          </a:p>
          <a:p>
            <a:r>
              <a:t>text_values = ["20", "", "24"]</a:t>
            </a:r>
          </a:p>
          <a:p>
            <a:r>
              <a:t>parsed = []</a:t>
            </a:r>
          </a:p>
          <a:p>
            <a:r>
              <a:t>for text in text_values:</a:t>
            </a:r>
          </a:p>
          <a:p>
            <a:r>
              <a:t>    if text == "":</a:t>
            </a:r>
          </a:p>
          <a:p>
            <a:r>
              <a:t>        parsed.append(None)</a:t>
            </a:r>
          </a:p>
          <a:p>
            <a:r>
              <a:t>    else:</a:t>
            </a:r>
          </a:p>
          <a:p>
            <a:r>
              <a:t>        parsed.append(float(text))</a:t>
            </a:r>
          </a:p>
          <a:p>
            <a:r>
              <a:t>print(parsed)</a:t>
            </a:r>
          </a:p>
          <a:p>
            <a:r>
              <a:t/>
            </a:r>
          </a:p>
          <a:p>
            <a:r>
              <a:t>EXPLAIN IN ORDINARY WORDS</a:t>
            </a:r>
          </a:p>
          <a:p>
            <a:r>
              <a:t>Missing means not recorded, not automatically zero. Decide why it is missing and document the rule. Fitted fill values must come from training data when evaluating a model.</a:t>
            </a:r>
          </a:p>
          <a:p>
            <a:r>
              <a:t/>
            </a:r>
          </a:p>
          <a:p>
            <a:r>
              <a:t>CHECK AND EXPECTED ANSWER</a:t>
            </a:r>
          </a:p>
          <a:p>
            <a:r>
              <a:t>Is an unrecorded energy reading evidence of zero consumption? No.</a:t>
            </a:r>
          </a:p>
          <a:p>
            <a:r>
              <a:t/>
            </a:r>
          </a:p>
          <a:p>
            <a:r>
              <a:t>IF LEARNERS ARE STUCK</a:t>
            </a:r>
          </a:p>
          <a:p>
            <a:r>
              <a:t>Use three rows: a recorded zero, a recorded positive value and a blank. Explain their different meanings before cleaning.</a:t>
            </a:r>
          </a:p>
          <a:p>
            <a:r>
              <a:t/>
            </a:r>
          </a:p>
          <a:p>
            <a:r>
              <a:t>WALK THROUGH THIS CODE</a:t>
            </a:r>
          </a:p>
          <a:p>
            <a:r>
              <a:t>for takes the next item. The indented block repeats.</a:t>
            </a:r>
          </a:p>
          <a:p>
            <a:r>
              <a:t>if tests a condition. The chosen indented block runs.</a:t>
            </a:r>
          </a:p>
          <a:p>
            <a:r>
              <a:t>float converts numeric text into a decimal number.</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Audit.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Audit</a:t>
            </a:r>
          </a:p>
          <a:p>
            <a:r>
              <a:t/>
            </a:r>
          </a:p>
          <a:p>
            <a:r>
              <a:t>CONNECT</a:t>
            </a:r>
          </a:p>
          <a:p>
            <a:r>
              <a:t>Build on the preceding slide: Reading a blank field in Python.</a:t>
            </a:r>
          </a:p>
          <a:p>
            <a:r>
              <a:t/>
            </a:r>
          </a:p>
          <a:p>
            <a:r>
              <a:t>POINT TO THE DEFINITION</a:t>
            </a:r>
          </a:p>
          <a:p>
            <a:r>
              <a:t>Audit: A count and explanation of what changed, why it changed and how many records remain.</a:t>
            </a:r>
          </a:p>
          <a:p>
            <a:r>
              <a:t/>
            </a:r>
          </a:p>
          <a:p>
            <a:r>
              <a:t>NEXT</a:t>
            </a:r>
          </a:p>
          <a:p>
            <a:r>
              <a:t>Every cleaning change needs a record.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Every cleaning change needs a record</a:t>
            </a:r>
          </a:p>
          <a:p>
            <a:r>
              <a:t/>
            </a:r>
          </a:p>
          <a:p>
            <a:r>
              <a:t>CONNECT</a:t>
            </a:r>
          </a:p>
          <a:p>
            <a:r>
              <a:t>Build on the preceding slide: Audit.</a:t>
            </a:r>
          </a:p>
          <a:p>
            <a:r>
              <a:t/>
            </a:r>
          </a:p>
          <a:p>
            <a:r>
              <a:t>LECTURER CUE</a:t>
            </a:r>
          </a:p>
          <a:p>
            <a:r>
              <a:t>Model a defect register: observation, evidence, decision, affected count, limitation. Work one repeated record and one missing value together.</a:t>
            </a:r>
          </a:p>
          <a:p>
            <a:r>
              <a:t/>
            </a:r>
          </a:p>
          <a:p>
            <a:r>
              <a:t>EXPLAIN IN ORDINARY WORDS</a:t>
            </a:r>
          </a:p>
          <a:p>
            <a:r>
              <a:t>A cleaning decision needs evidence, a stated rule and a before/after check. Similar rows may be genuine repeated events. Reconciliation compares totals built under the same definitions.</a:t>
            </a:r>
          </a:p>
          <a:p>
            <a:r>
              <a:t/>
            </a:r>
          </a:p>
          <a:p>
            <a:r>
              <a:t>CHECK AND EXPECTED ANSWER</a:t>
            </a:r>
          </a:p>
          <a:p>
            <a:r>
              <a:t>May we delete every repeated amount? No. Check the row identifier and the table grain first.</a:t>
            </a:r>
          </a:p>
          <a:p>
            <a:r>
              <a:t/>
            </a:r>
          </a:p>
          <a:p>
            <a:r>
              <a:t>IF LEARNERS ARE STUCK</a:t>
            </a:r>
          </a:p>
          <a:p>
            <a:r>
              <a:t>Keep raw data, record counts before and after each action, then explain any remaining difference instead of forcing totals to agree.</a:t>
            </a:r>
          </a:p>
          <a:p>
            <a:r>
              <a:t/>
            </a:r>
          </a:p>
          <a:p>
            <a:r>
              <a:t>NEXT</a:t>
            </a:r>
          </a:p>
          <a:p>
            <a:r>
              <a:t>You are the cleaning audit.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 are the cleaning audit</a:t>
            </a:r>
          </a:p>
          <a:p>
            <a:r>
              <a:t/>
            </a:r>
          </a:p>
          <a:p>
            <a:r>
              <a:t>CONNECT</a:t>
            </a:r>
          </a:p>
          <a:p>
            <a:r>
              <a:t>Build on the preceding slide: Every cleaning change needs a record.</a:t>
            </a:r>
          </a:p>
          <a:p>
            <a:r>
              <a:t/>
            </a:r>
          </a:p>
          <a:p>
            <a:r>
              <a:t>LECTURER CUE</a:t>
            </a:r>
          </a:p>
          <a:p>
            <a:r>
              <a:t>Do this before revealing the discussion slide. One learner moves or writes the items, the other checks. Swap roles. Every student explains one step. Expected: The working records are A:20, B:22, C:24. One duplicate was removed and one blank was filled. 22 is an estimate, not a recovered measurement.</a:t>
            </a:r>
          </a:p>
          <a:p>
            <a:r>
              <a:t>Wait for an individual prediction before inviting pair discussion. Give a first-step hint if needed.</a:t>
            </a:r>
          </a:p>
          <a:p>
            <a:r>
              <a:t/>
            </a:r>
          </a:p>
          <a:p>
            <a:r>
              <a:t>EXPLAIN IN ORDINARY WORDS</a:t>
            </a:r>
          </a:p>
          <a:p>
            <a:r>
              <a:t>A cleaning decision needs evidence, a stated rule and a before/after check. Similar rows may be genuine repeated events. Reconciliation compares totals built under the same definitions.</a:t>
            </a:r>
          </a:p>
          <a:p>
            <a:r>
              <a:t/>
            </a:r>
          </a:p>
          <a:p>
            <a:r>
              <a:t>CHECK AND EXPECTED ANSWER</a:t>
            </a:r>
          </a:p>
          <a:p>
            <a:r>
              <a:t>May we delete every repeated amount? No. Check the row identifier and the table grain first.</a:t>
            </a:r>
          </a:p>
          <a:p>
            <a:r>
              <a:t/>
            </a:r>
          </a:p>
          <a:p>
            <a:r>
              <a:t>IF LEARNERS ARE STUCK</a:t>
            </a:r>
          </a:p>
          <a:p>
            <a:r>
              <a:t>Keep raw data, record counts before and after each action, then explain any remaining difference instead of forcing totals to agree.</a:t>
            </a:r>
          </a:p>
          <a:p>
            <a:r>
              <a:t/>
            </a:r>
          </a:p>
          <a:p>
            <a:r>
              <a:t>NEXT</a:t>
            </a:r>
          </a:p>
          <a:p>
            <a:r>
              <a:t>What the activity shows.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What the activity shows</a:t>
            </a:r>
          </a:p>
          <a:p>
            <a:r>
              <a:t/>
            </a:r>
          </a:p>
          <a:p>
            <a:r>
              <a:t>CONNECT</a:t>
            </a:r>
          </a:p>
          <a:p>
            <a:r>
              <a:t>Build on the preceding slide: You are the cleaning audit.</a:t>
            </a:r>
          </a:p>
          <a:p>
            <a:r>
              <a:t/>
            </a:r>
          </a:p>
          <a:p>
            <a:r>
              <a:t>LECTURER CUE</a:t>
            </a:r>
          </a:p>
          <a:p>
            <a:r>
              <a:t>Ask which step produced this answer. Return to the concrete action if a learner cannot explain it. This is practice feedback, never a quiz key.</a:t>
            </a:r>
          </a:p>
          <a:p>
            <a:r>
              <a:t/>
            </a:r>
          </a:p>
          <a:p>
            <a:r>
              <a:t>EXPLAIN IN ORDINARY WORDS</a:t>
            </a:r>
          </a:p>
          <a:p>
            <a:r>
              <a:t>Missing means not recorded, not automatically zero. Decide why it is missing and document the rule. Fitted fill values must come from training data when evaluating a model.</a:t>
            </a:r>
          </a:p>
          <a:p>
            <a:r>
              <a:t/>
            </a:r>
          </a:p>
          <a:p>
            <a:r>
              <a:t>CHECK AND EXPECTED ANSWER</a:t>
            </a:r>
          </a:p>
          <a:p>
            <a:r>
              <a:t>Is an unrecorded energy reading evidence of zero consumption? No.</a:t>
            </a:r>
          </a:p>
          <a:p>
            <a:r>
              <a:t/>
            </a:r>
          </a:p>
          <a:p>
            <a:r>
              <a:t>IF LEARNERS ARE STUCK</a:t>
            </a:r>
          </a:p>
          <a:p>
            <a:r>
              <a:t>Use three rows: a recorded zero, a recorded positive value and a blank. Explain their different meanings before cleaning.</a:t>
            </a:r>
          </a:p>
          <a:p>
            <a:r>
              <a:t/>
            </a:r>
          </a:p>
          <a:p>
            <a:r>
              <a:t>NEXT</a:t>
            </a:r>
          </a:p>
          <a:p>
            <a:r>
              <a:t>Chart axes.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Chart axes</a:t>
            </a:r>
          </a:p>
          <a:p>
            <a:r>
              <a:t/>
            </a:r>
          </a:p>
          <a:p>
            <a:r>
              <a:t>CONNECT</a:t>
            </a:r>
          </a:p>
          <a:p>
            <a:r>
              <a:t>Build on the preceding slide: What the activity shows.</a:t>
            </a:r>
          </a:p>
          <a:p>
            <a:r>
              <a:t/>
            </a:r>
          </a:p>
          <a:p>
            <a:r>
              <a:t>EXPLAIN IN ORDINARY WORDS</a:t>
            </a:r>
          </a:p>
          <a:p>
            <a:r>
              <a:t>Begin with the question and intended comparison. Identify what an axis, bar, point or colour represents, including its unit. A chart summarises data and may hide variation.</a:t>
            </a:r>
          </a:p>
          <a:p>
            <a:r>
              <a:t/>
            </a:r>
          </a:p>
          <a:p>
            <a:r>
              <a:t>CHECK AND EXPECTED ANSWER</a:t>
            </a:r>
          </a:p>
          <a:p>
            <a:r>
              <a:t>For a bar chart comparing amounts, why normally start the value axis at zero? Bar length encodes magnitude; truncation can exaggerate differences.</a:t>
            </a:r>
          </a:p>
          <a:p>
            <a:r>
              <a:t/>
            </a:r>
          </a:p>
          <a:p>
            <a:r>
              <a:t>IF LEARNERS ARE STUCK</a:t>
            </a:r>
          </a:p>
          <a:p>
            <a:r>
              <a:t>Read one mark aloud as a sentence. Check the population, period, filters and units before stating the finding.</a:t>
            </a:r>
          </a:p>
          <a:p>
            <a:r>
              <a:t/>
            </a:r>
          </a:p>
          <a:p>
            <a:r>
              <a:t>POINT TO THE DEFINITION</a:t>
            </a:r>
          </a:p>
          <a:p>
            <a:r>
              <a:t>Chart axes: A chart maps values to positions. Read the horizontal variable, vertical variable and their units before interpreting a pattern.</a:t>
            </a:r>
          </a:p>
          <a:p>
            <a:r>
              <a:t/>
            </a:r>
          </a:p>
          <a:p>
            <a:r>
              <a:t>NEXT</a:t>
            </a:r>
          </a:p>
          <a:p>
            <a:r>
              <a:t>A scatter plot pairs two measurements.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scatter plot pairs two measurements</a:t>
            </a:r>
          </a:p>
          <a:p>
            <a:r>
              <a:t/>
            </a:r>
          </a:p>
          <a:p>
            <a:r>
              <a:t>CONNECT</a:t>
            </a:r>
          </a:p>
          <a:p>
            <a:r>
              <a:t>Build on the preceding slide: Chart axes.</a:t>
            </a:r>
          </a:p>
          <a:p>
            <a:r>
              <a:t/>
            </a:r>
          </a:p>
          <a:p>
            <a:r>
              <a:t>LECTURER CUE</a:t>
            </a:r>
          </a:p>
          <a:p>
            <a:r>
              <a:t>Draw a scatter plot from four pairs on the board. A pattern can motivate investigation without proving that one variable causes the other.</a:t>
            </a:r>
          </a:p>
          <a:p>
            <a:r>
              <a:t/>
            </a:r>
          </a:p>
          <a:p>
            <a:r>
              <a:t>EXPLAIN IN ORDINARY WORDS</a:t>
            </a:r>
          </a:p>
          <a:p>
            <a:r>
              <a:t>Begin with the question and intended comparison. Identify what an axis, bar, point or colour represents, including its unit. A chart summarises data and may hide variation.</a:t>
            </a:r>
          </a:p>
          <a:p>
            <a:r>
              <a:t/>
            </a:r>
          </a:p>
          <a:p>
            <a:r>
              <a:t>CHECK AND EXPECTED ANSWER</a:t>
            </a:r>
          </a:p>
          <a:p>
            <a:r>
              <a:t>For a bar chart comparing amounts, why normally start the value axis at zero? Bar length encodes magnitude; truncation can exaggerate differences.</a:t>
            </a:r>
          </a:p>
          <a:p>
            <a:r>
              <a:t/>
            </a:r>
          </a:p>
          <a:p>
            <a:r>
              <a:t>IF LEARNERS ARE STUCK</a:t>
            </a:r>
          </a:p>
          <a:p>
            <a:r>
              <a:t>Read one mark aloud as a sentence. Check the population, period, filters and units before stating the finding.</a:t>
            </a:r>
          </a:p>
          <a:p>
            <a:r>
              <a:t/>
            </a:r>
          </a:p>
          <a:p>
            <a:r>
              <a:t>NEXT</a:t>
            </a:r>
          </a:p>
          <a:p>
            <a:r>
              <a:t>Choose a chart after naming the question.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Choose a chart after naming the question</a:t>
            </a:r>
          </a:p>
          <a:p>
            <a:r>
              <a:t/>
            </a:r>
          </a:p>
          <a:p>
            <a:r>
              <a:t>CONNECT</a:t>
            </a:r>
          </a:p>
          <a:p>
            <a:r>
              <a:t>Build on the preceding slide: A scatter plot pairs two measurements.</a:t>
            </a:r>
          </a:p>
          <a:p>
            <a:r>
              <a:t/>
            </a:r>
          </a:p>
          <a:p>
            <a:r>
              <a:t>EXPLAIN IN ORDINARY WORDS</a:t>
            </a:r>
          </a:p>
          <a:p>
            <a:r>
              <a:t>Begin with the question and intended comparison. Identify what an axis, bar, point or colour represents, including its unit. A chart summarises data and may hide variation.</a:t>
            </a:r>
          </a:p>
          <a:p>
            <a:r>
              <a:t/>
            </a:r>
          </a:p>
          <a:p>
            <a:r>
              <a:t>CHECK AND EXPECTED ANSWER</a:t>
            </a:r>
          </a:p>
          <a:p>
            <a:r>
              <a:t>For a bar chart comparing amounts, why normally start the value axis at zero? Bar length encodes magnitude; truncation can exaggerate differences.</a:t>
            </a:r>
          </a:p>
          <a:p>
            <a:r>
              <a:t/>
            </a:r>
          </a:p>
          <a:p>
            <a:r>
              <a:t>IF LEARNERS ARE STUCK</a:t>
            </a:r>
          </a:p>
          <a:p>
            <a:r>
              <a:t>Read one mark aloud as a sentence. Check the population, period, filters and units before stating the finding.</a:t>
            </a:r>
          </a:p>
          <a:p>
            <a:r>
              <a:t/>
            </a:r>
          </a:p>
          <a:p>
            <a:r>
              <a:t>POINT TO THE DEFINITION</a:t>
            </a:r>
          </a:p>
          <a:p>
            <a:r>
              <a:t>Scatter and bar: A scatter plot places one point for each paired measurement. A bar chart compares values across named groups. Label both axes and their units.</a:t>
            </a:r>
          </a:p>
          <a:p>
            <a:r>
              <a:t>Histogram and bins: A histogram counts observations in numerical intervals called bins. The horizontal axis is the measurement; the vertical axis is a count. Bin edges affect its appearance.</a:t>
            </a:r>
          </a:p>
          <a:p>
            <a:r>
              <a:t/>
            </a:r>
          </a:p>
          <a:p>
            <a:r>
              <a:t>NEXT</a:t>
            </a:r>
          </a:p>
          <a:p>
            <a:r>
              <a:t>Choosing a chart for the question.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Choosing a chart for the question</a:t>
            </a:r>
          </a:p>
          <a:p>
            <a:r>
              <a:t/>
            </a:r>
          </a:p>
          <a:p>
            <a:r>
              <a:t>CONNECT</a:t>
            </a:r>
          </a:p>
          <a:p>
            <a:r>
              <a:t>Build on the preceding slide: Choose a chart after naming the question.</a:t>
            </a:r>
          </a:p>
          <a:p>
            <a:r>
              <a:t/>
            </a:r>
          </a:p>
          <a:p>
            <a:r>
              <a:t>LECTURER CUE</a:t>
            </a:r>
          </a:p>
          <a:p>
            <a:r>
              <a:t>Name the question answered by each chart. Correlation does not establish causation. A bar chart usually needs a zero baseline.</a:t>
            </a:r>
          </a:p>
          <a:p>
            <a:r>
              <a:t>Source: existing course illustration figs/chart_chooser.png. These are illustrative examples, not this cohort’s assessed results.</a:t>
            </a:r>
          </a:p>
          <a:p>
            <a:r>
              <a:t/>
            </a:r>
          </a:p>
          <a:p>
            <a:r>
              <a:t>EXPLAIN IN ORDINARY WORDS</a:t>
            </a:r>
          </a:p>
          <a:p>
            <a:r>
              <a:t>Begin with the question and intended comparison. Identify what an axis, bar, point or colour represents, including its unit. A chart summarises data and may hide variation.</a:t>
            </a:r>
          </a:p>
          <a:p>
            <a:r>
              <a:t/>
            </a:r>
          </a:p>
          <a:p>
            <a:r>
              <a:t>CHECK AND EXPECTED ANSWER</a:t>
            </a:r>
          </a:p>
          <a:p>
            <a:r>
              <a:t>For a bar chart comparing amounts, why normally start the value axis at zero? Bar length encodes magnitude; truncation can exaggerate differences.</a:t>
            </a:r>
          </a:p>
          <a:p>
            <a:r>
              <a:t/>
            </a:r>
          </a:p>
          <a:p>
            <a:r>
              <a:t>IF LEARNERS ARE STUCK</a:t>
            </a:r>
          </a:p>
          <a:p>
            <a:r>
              <a:t>Read one mark aloud as a sentence. Check the population, period, filters and units before stating the finding.</a:t>
            </a:r>
          </a:p>
          <a:p>
            <a:r>
              <a:t/>
            </a:r>
          </a:p>
          <a:p>
            <a:r>
              <a:t>NEXT</a:t>
            </a:r>
          </a:p>
          <a:p>
            <a:r>
              <a:t>A chart with labelled axes.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chart with labelled axes</a:t>
            </a:r>
          </a:p>
          <a:p>
            <a:r>
              <a:t/>
            </a:r>
          </a:p>
          <a:p>
            <a:r>
              <a:t>CONNECT</a:t>
            </a:r>
          </a:p>
          <a:p>
            <a:r>
              <a:t>Build on the preceding slide: Choosing a chart for the question.</a:t>
            </a:r>
          </a:p>
          <a:p>
            <a:r>
              <a:t/>
            </a:r>
          </a:p>
          <a:p>
            <a:r>
              <a:t>LECTURER CUE</a:t>
            </a:r>
          </a:p>
          <a:p>
            <a:r>
              <a:t>matplotlib draws charts. subplots creates a Figure, the whole page, and Axes, the plotting area. scatter pairs each input with its corresponding reading. The horizontal axis is the input and the vertical axis is the reading. A pattern alone does not prove causation. In the test, return Figure objects as the brief specifies.</a:t>
            </a:r>
          </a:p>
          <a:p>
            <a:r>
              <a:t/>
            </a:r>
          </a:p>
          <a:p>
            <a:r>
              <a:t>EXPLAIN IN ORDINARY WORDS</a:t>
            </a:r>
          </a:p>
          <a:p>
            <a:r>
              <a:t>Begin with the question and intended comparison. Identify what an axis, bar, point or colour represents, including its unit. A chart summarises data and may hide variation.</a:t>
            </a:r>
          </a:p>
          <a:p>
            <a:r>
              <a:t/>
            </a:r>
          </a:p>
          <a:p>
            <a:r>
              <a:t>CHECK AND EXPECTED ANSWER</a:t>
            </a:r>
          </a:p>
          <a:p>
            <a:r>
              <a:t>For a bar chart comparing amounts, why normally start the value axis at zero? Bar length encodes magnitude; truncation can exaggerate differences.</a:t>
            </a:r>
          </a:p>
          <a:p>
            <a:r>
              <a:t/>
            </a:r>
          </a:p>
          <a:p>
            <a:r>
              <a:t>IF LEARNERS ARE STUCK</a:t>
            </a:r>
          </a:p>
          <a:p>
            <a:r>
              <a:t>Read one mark aloud as a sentence. Check the population, period, filters and units before stating the finding.</a:t>
            </a:r>
          </a:p>
          <a:p>
            <a:r>
              <a:t/>
            </a:r>
          </a:p>
          <a:p>
            <a:r>
              <a:t>NEXT</a:t>
            </a:r>
          </a:p>
          <a:p>
            <a:r>
              <a:t>A chart with labelled axes in Python.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chart with labelled axes in Python</a:t>
            </a:r>
          </a:p>
          <a:p>
            <a:r>
              <a:t/>
            </a:r>
          </a:p>
          <a:p>
            <a:r>
              <a:t>CONNECT</a:t>
            </a:r>
          </a:p>
          <a:p>
            <a:r>
              <a:t>Build on the preceding slide: A chart with labelled axes.</a:t>
            </a:r>
          </a:p>
          <a:p>
            <a:r>
              <a:t/>
            </a:r>
          </a:p>
          <a:p>
            <a:r>
              <a:t>LECTURER CUE</a:t>
            </a:r>
          </a:p>
          <a:p>
            <a:r>
              <a:t>matplotlib draws charts. subplots creates a Figure, the whole page, and Axes, the plotting area. scatter pairs each input with its corresponding reading. The horizontal axis is the input and the vertical axis is the reading. A pattern alone does not prove causation. In the test, return Figure objects as the brief specifies.</a:t>
            </a:r>
          </a:p>
          <a:p>
            <a:r>
              <a:t/>
            </a:r>
          </a:p>
          <a:p>
            <a:r>
              <a:t>Complete practice code:</a:t>
            </a:r>
          </a:p>
          <a:p>
            <a:r>
              <a:t>import matplotlib.pyplot as plt</a:t>
            </a:r>
          </a:p>
          <a:p>
            <a:r>
              <a:t>inputs = [1, 2, 3, 4]</a:t>
            </a:r>
          </a:p>
          <a:p>
            <a:r>
              <a:t>readings = [12, 14, 13, 18]</a:t>
            </a:r>
          </a:p>
          <a:p>
            <a:r>
              <a:t>fig, ax = plt.subplots()</a:t>
            </a:r>
          </a:p>
          <a:p>
            <a:r>
              <a:t>ax.scatter(inputs, readings)</a:t>
            </a:r>
          </a:p>
          <a:p>
            <a:r>
              <a:t>ax.set_xlabel("Input (teaching units)")</a:t>
            </a:r>
          </a:p>
          <a:p>
            <a:r>
              <a:t>ax.set_ylabel("Reading (teaching units)")</a:t>
            </a:r>
          </a:p>
          <a:p>
            <a:r>
              <a:t>ax.set_title("Four invented observations")</a:t>
            </a:r>
          </a:p>
          <a:p>
            <a:r>
              <a:t>plt.show()</a:t>
            </a:r>
          </a:p>
          <a:p>
            <a:r>
              <a:t/>
            </a:r>
          </a:p>
          <a:p>
            <a:r>
              <a:t>EXPLAIN IN ORDINARY WORDS</a:t>
            </a:r>
          </a:p>
          <a:p>
            <a:r>
              <a:t>Begin with the question and intended comparison. Identify what an axis, bar, point or colour represents, including its unit. A chart summarises data and may hide variation.</a:t>
            </a:r>
          </a:p>
          <a:p>
            <a:r>
              <a:t/>
            </a:r>
          </a:p>
          <a:p>
            <a:r>
              <a:t>CHECK AND EXPECTED ANSWER</a:t>
            </a:r>
          </a:p>
          <a:p>
            <a:r>
              <a:t>For a bar chart comparing amounts, why normally start the value axis at zero? Bar length encodes magnitude; truncation can exaggerate differences.</a:t>
            </a:r>
          </a:p>
          <a:p>
            <a:r>
              <a:t/>
            </a:r>
          </a:p>
          <a:p>
            <a:r>
              <a:t>IF LEARNERS ARE STUCK</a:t>
            </a:r>
          </a:p>
          <a:p>
            <a:r>
              <a:t>Read one mark aloud as a sentence. Check the population, period, filters and units before stating the finding.</a:t>
            </a:r>
          </a:p>
          <a:p>
            <a:r>
              <a:t/>
            </a:r>
          </a:p>
          <a:p>
            <a:r>
              <a:t>WALK THROUGH THIS CODE</a:t>
            </a:r>
          </a:p>
          <a:p>
            <a:r>
              <a:t>import loads a library. from selects a tool from it.</a:t>
            </a:r>
          </a:p>
          <a:p>
            <a:r>
              <a:t>Square brackets create a list or select an item.</a:t>
            </a:r>
          </a:p>
          <a:p>
            <a:r>
              <a:t>= assigns the value on the right to the name on the left.</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Comparing groups and a distribution.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Comparing groups and a distribution</a:t>
            </a:r>
          </a:p>
          <a:p>
            <a:r>
              <a:t/>
            </a:r>
          </a:p>
          <a:p>
            <a:r>
              <a:t>CONNECT</a:t>
            </a:r>
          </a:p>
          <a:p>
            <a:r>
              <a:t>Build on the preceding slide: A chart with labelled axes in Python.</a:t>
            </a:r>
          </a:p>
          <a:p>
            <a:r>
              <a:t/>
            </a:r>
          </a:p>
          <a:p>
            <a:r>
              <a:t>LECTURER CUE</a:t>
            </a:r>
          </a:p>
          <a:p>
            <a:r>
              <a:t>bar compares one value for each named group. hist counts observations in value intervals called bins. Read the bar labels and both axes. This practice uses two bins; follow the exact bin rule in the test brief. Save and keep the Figure objects when a task asks for them.</a:t>
            </a:r>
          </a:p>
          <a:p>
            <a:r>
              <a:t/>
            </a:r>
          </a:p>
          <a:p>
            <a:r>
              <a:t>EXPLAIN IN ORDINARY WORDS</a:t>
            </a:r>
          </a:p>
          <a:p>
            <a:r>
              <a:t>Mean is total divided by count. Median is the middle of sorted values. A percentile locates a position in that ordered distribution; interpolation conventions can differ. Match the summary to the question.</a:t>
            </a:r>
          </a:p>
          <a:p>
            <a:r>
              <a:t/>
            </a:r>
          </a:p>
          <a:p>
            <a:r>
              <a:t>CHECK AND EXPECTED ANSWER</a:t>
            </a:r>
          </a:p>
          <a:p>
            <a:r>
              <a:t>For [2,3,4,5,100], median=4 and mean=22.8. The large value pulls the mean up.</a:t>
            </a:r>
          </a:p>
          <a:p>
            <a:r>
              <a:t/>
            </a:r>
          </a:p>
          <a:p>
            <a:r>
              <a:t>IF LEARNERS ARE STUCK</a:t>
            </a:r>
          </a:p>
          <a:p>
            <a:r>
              <a:t>Sort five values by hand. A skewed distribution does not make the mean wrong if the question concerns totals or expected cost.</a:t>
            </a:r>
          </a:p>
          <a:p>
            <a:r>
              <a:t/>
            </a:r>
          </a:p>
          <a:p>
            <a:r>
              <a:t>NEXT</a:t>
            </a:r>
          </a:p>
          <a:p>
            <a:r>
              <a:t>Comparing groups and a distribution in Python (1/2).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Comparing groups and a distribution in Python (1/2)</a:t>
            </a:r>
          </a:p>
          <a:p>
            <a:r>
              <a:t/>
            </a:r>
          </a:p>
          <a:p>
            <a:r>
              <a:t>CONNECT</a:t>
            </a:r>
          </a:p>
          <a:p>
            <a:r>
              <a:t>Build on the preceding slide: Comparing groups and a distribution.</a:t>
            </a:r>
          </a:p>
          <a:p>
            <a:r>
              <a:t/>
            </a:r>
          </a:p>
          <a:p>
            <a:r>
              <a:t>LECTURER CUE</a:t>
            </a:r>
          </a:p>
          <a:p>
            <a:r>
              <a:t>bar compares one value for each named group. hist counts observations in value intervals called bins. Read the bar labels and both axes. This practice uses two bins; follow the exact bin rule in the test brief. Save and keep the Figure objects when a task asks for them.</a:t>
            </a:r>
          </a:p>
          <a:p>
            <a:r>
              <a:t/>
            </a:r>
          </a:p>
          <a:p>
            <a:r>
              <a:t>Complete practice code:</a:t>
            </a:r>
          </a:p>
          <a:p>
            <a:r>
              <a:t>bar_fig, bar_ax = plt.subplots()</a:t>
            </a:r>
          </a:p>
          <a:p>
            <a:r>
              <a:t>bar_ax.bar(["A", "B"], [13, 16])</a:t>
            </a:r>
          </a:p>
          <a:p>
            <a:r>
              <a:t>bar_ax.set_xlabel("Group")</a:t>
            </a:r>
          </a:p>
          <a:p>
            <a:r>
              <a:t>bar_ax.set_ylabel("Mean reading (teaching units)")</a:t>
            </a:r>
          </a:p>
          <a:p>
            <a:r>
              <a:t>bar_ax.set_title("Two invented group means")</a:t>
            </a:r>
          </a:p>
          <a:p>
            <a:r>
              <a:t>hist_fig, hist_ax = plt.subplots()</a:t>
            </a:r>
          </a:p>
          <a:p>
            <a:r>
              <a:t>hist_ax.hist(readings, bins=2)</a:t>
            </a:r>
          </a:p>
          <a:p>
            <a:r>
              <a:t>hist_ax.set_xlabel("Reading (teaching units)")</a:t>
            </a:r>
          </a:p>
          <a:p>
            <a:r>
              <a:t>hist_ax.set_ylabel("Count of observations")</a:t>
            </a:r>
          </a:p>
          <a:p>
            <a:r>
              <a:t>hist_ax.set_title("Distribution of four observations")</a:t>
            </a:r>
          </a:p>
          <a:p>
            <a:r>
              <a:t>plt.show()</a:t>
            </a:r>
          </a:p>
          <a:p>
            <a:r>
              <a:t/>
            </a:r>
          </a:p>
          <a:p>
            <a:r>
              <a:t>EXPLAIN IN ORDINARY WORDS</a:t>
            </a:r>
          </a:p>
          <a:p>
            <a:r>
              <a:t>Mean is total divided by count. Median is the middle of sorted values. A percentile locates a position in that ordered distribution; interpolation conventions can differ. Match the summary to the question.</a:t>
            </a:r>
          </a:p>
          <a:p>
            <a:r>
              <a:t/>
            </a:r>
          </a:p>
          <a:p>
            <a:r>
              <a:t>CHECK AND EXPECTED ANSWER</a:t>
            </a:r>
          </a:p>
          <a:p>
            <a:r>
              <a:t>For [2,3,4,5,100], median=4 and mean=22.8. The large value pulls the mean up.</a:t>
            </a:r>
          </a:p>
          <a:p>
            <a:r>
              <a:t/>
            </a:r>
          </a:p>
          <a:p>
            <a:r>
              <a:t>IF LEARNERS ARE STUCK</a:t>
            </a:r>
          </a:p>
          <a:p>
            <a:r>
              <a:t>Sort five values by hand. A skewed distribution does not make the mean wrong if the question concerns totals or expected cost.</a:t>
            </a:r>
          </a:p>
          <a:p>
            <a:r>
              <a:t/>
            </a:r>
          </a:p>
          <a:p>
            <a:r>
              <a:t>WALK THROUGH THIS CODE</a:t>
            </a:r>
          </a:p>
          <a:p>
            <a:r>
              <a:t>Square brackets create a list or select an item.</a:t>
            </a:r>
          </a:p>
          <a:p>
            <a:r>
              <a:t>= assigns the value on the right to the name on the left.</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Comparing groups and a distribution in Python (2/2).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Comparing groups and a distribution in Python (2/2)</a:t>
            </a:r>
          </a:p>
          <a:p>
            <a:r>
              <a:t/>
            </a:r>
          </a:p>
          <a:p>
            <a:r>
              <a:t>CONNECT</a:t>
            </a:r>
          </a:p>
          <a:p>
            <a:r>
              <a:t>Build on the preceding slide: Comparing groups and a distribution in Python (1/2).</a:t>
            </a:r>
          </a:p>
          <a:p>
            <a:r>
              <a:t/>
            </a:r>
          </a:p>
          <a:p>
            <a:r>
              <a:t>LECTURER CUE</a:t>
            </a:r>
          </a:p>
          <a:p>
            <a:r>
              <a:t>bar compares one value for each named group. hist counts observations in value intervals called bins. Read the bar labels and both axes. This practice uses two bins; follow the exact bin rule in the test brief. Save and keep the Figure objects when a task asks for them.</a:t>
            </a:r>
          </a:p>
          <a:p>
            <a:r>
              <a:t/>
            </a:r>
          </a:p>
          <a:p>
            <a:r>
              <a:t>Complete practice code:</a:t>
            </a:r>
          </a:p>
          <a:p>
            <a:r>
              <a:t>bar_fig, bar_ax = plt.subplots()</a:t>
            </a:r>
          </a:p>
          <a:p>
            <a:r>
              <a:t>bar_ax.bar(["A", "B"], [13, 16])</a:t>
            </a:r>
          </a:p>
          <a:p>
            <a:r>
              <a:t>bar_ax.set_xlabel("Group")</a:t>
            </a:r>
          </a:p>
          <a:p>
            <a:r>
              <a:t>bar_ax.set_ylabel("Mean reading (teaching units)")</a:t>
            </a:r>
          </a:p>
          <a:p>
            <a:r>
              <a:t>bar_ax.set_title("Two invented group means")</a:t>
            </a:r>
          </a:p>
          <a:p>
            <a:r>
              <a:t>hist_fig, hist_ax = plt.subplots()</a:t>
            </a:r>
          </a:p>
          <a:p>
            <a:r>
              <a:t>hist_ax.hist(readings, bins=2)</a:t>
            </a:r>
          </a:p>
          <a:p>
            <a:r>
              <a:t>hist_ax.set_xlabel("Reading (teaching units)")</a:t>
            </a:r>
          </a:p>
          <a:p>
            <a:r>
              <a:t>hist_ax.set_ylabel("Count of observations")</a:t>
            </a:r>
          </a:p>
          <a:p>
            <a:r>
              <a:t>hist_ax.set_title("Distribution of four observations")</a:t>
            </a:r>
          </a:p>
          <a:p>
            <a:r>
              <a:t>plt.show()</a:t>
            </a:r>
          </a:p>
          <a:p>
            <a:r>
              <a:t/>
            </a:r>
          </a:p>
          <a:p>
            <a:r>
              <a:t>EXPLAIN IN ORDINARY WORDS</a:t>
            </a:r>
          </a:p>
          <a:p>
            <a:r>
              <a:t>Mean is total divided by count. Median is the middle of sorted values. A percentile locates a position in that ordered distribution; interpolation conventions can differ. Match the summary to the question.</a:t>
            </a:r>
          </a:p>
          <a:p>
            <a:r>
              <a:t/>
            </a:r>
          </a:p>
          <a:p>
            <a:r>
              <a:t>CHECK AND EXPECTED ANSWER</a:t>
            </a:r>
          </a:p>
          <a:p>
            <a:r>
              <a:t>For [2,3,4,5,100], median=4 and mean=22.8. The large value pulls the mean up.</a:t>
            </a:r>
          </a:p>
          <a:p>
            <a:r>
              <a:t/>
            </a:r>
          </a:p>
          <a:p>
            <a:r>
              <a:t>IF LEARNERS ARE STUCK</a:t>
            </a:r>
          </a:p>
          <a:p>
            <a:r>
              <a:t>Sort five values by hand. A skewed distribution does not make the mean wrong if the question concerns totals or expected cost.</a:t>
            </a:r>
          </a:p>
          <a:p>
            <a:r>
              <a:t/>
            </a:r>
          </a:p>
          <a:p>
            <a:r>
              <a:t>WALK THROUGH THIS CODE</a:t>
            </a:r>
          </a:p>
          <a:p>
            <a:r>
              <a:t>Read the inputs and identify the operation.</a:t>
            </a:r>
          </a:p>
          <a:p>
            <a:r>
              <a:t>Predict the result before running this cell.</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Your turn.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Your turn</a:t>
            </a:r>
          </a:p>
          <a:p>
            <a:r>
              <a:t/>
            </a:r>
          </a:p>
          <a:p>
            <a:r>
              <a:t>CONNECT</a:t>
            </a:r>
          </a:p>
          <a:p>
            <a:r>
              <a:t>Build on the preceding slide: Comparing groups and a distribution in Python (2/2).</a:t>
            </a:r>
          </a:p>
          <a:p>
            <a:r>
              <a:t/>
            </a:r>
          </a:p>
          <a:p>
            <a:r>
              <a:t>LECTURER CUE</a:t>
            </a:r>
          </a:p>
          <a:p>
            <a:r>
              <a:t>Give silent thinking time, then let pairs discuss. Rotate who types. This is practice, not a graded quiz. Expected response: An unusual value alone does not prove an error. The task did not authorize deleting 80. With 26 replacing 24, the middle known values are 22 and 26, so the new fill is 24. The raw list still contains None.</a:t>
            </a:r>
          </a:p>
          <a:p>
            <a:r>
              <a:t/>
            </a:r>
          </a:p>
          <a:p>
            <a:r>
              <a:t>EXPLAIN IN ORDINARY WORDS</a:t>
            </a:r>
          </a:p>
          <a:p>
            <a:r>
              <a:t>A cleaning decision needs evidence, a stated rule and a before/after check. Similar rows may be genuine repeated events. Reconciliation compares totals built under the same definitions.</a:t>
            </a:r>
          </a:p>
          <a:p>
            <a:r>
              <a:t/>
            </a:r>
          </a:p>
          <a:p>
            <a:r>
              <a:t>CHECK AND EXPECTED ANSWER</a:t>
            </a:r>
          </a:p>
          <a:p>
            <a:r>
              <a:t>May we delete every repeated amount? No. Check the row identifier and the table grain first.</a:t>
            </a:r>
          </a:p>
          <a:p>
            <a:r>
              <a:t/>
            </a:r>
          </a:p>
          <a:p>
            <a:r>
              <a:t>IF LEARNERS ARE STUCK</a:t>
            </a:r>
          </a:p>
          <a:p>
            <a:r>
              <a:t>Keep raw data, record counts before and after each action, then explain any remaining difference instead of forcing totals to agree.</a:t>
            </a:r>
          </a:p>
          <a:p>
            <a:r>
              <a:t/>
            </a:r>
          </a:p>
          <a:p>
            <a:r>
              <a:t>DISCUSSION KEY FOR THIS SLIDE</a:t>
            </a:r>
          </a:p>
          <a:p>
            <a:r>
              <a:t>DISCUSS THE REASONING</a:t>
            </a:r>
          </a:p>
          <a:p>
            <a:r>
              <a:t>Practice discussion</a:t>
            </a:r>
          </a:p>
          <a:p>
            <a:r>
              <a:t>An unusual value alone does not prove an error. The task did not authorize deleting 80. With 26 replacing 24, the middle known values are 22 and 26, so the new fill is 24. The raw list still contains None.</a:t>
            </a:r>
          </a:p>
          <a:p>
            <a:r>
              <a:t>Which step produced this result? What changes if one input changes?</a:t>
            </a:r>
          </a:p>
          <a:p>
            <a:r>
              <a:t>CML3111   Week 6   38</a:t>
            </a:r>
          </a:p>
          <a:p>
            <a:r>
              <a:t>Let learners attempt first; use this to explain the reasoning, not just reveal the answer.</a:t>
            </a:r>
          </a:p>
          <a:p>
            <a:r>
              <a:t/>
            </a:r>
          </a:p>
          <a:p>
            <a:r>
              <a:t>NEXT</a:t>
            </a:r>
          </a:p>
          <a:p>
            <a:r>
              <a:t>Practice discussion.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Practice discussion</a:t>
            </a:r>
          </a:p>
          <a:p>
            <a:r>
              <a:t/>
            </a:r>
          </a:p>
          <a:p>
            <a:r>
              <a:t>CONNECT</a:t>
            </a:r>
          </a:p>
          <a:p>
            <a:r>
              <a:t>Build on the preceding slide: Your turn.</a:t>
            </a:r>
          </a:p>
          <a:p>
            <a:r>
              <a:t/>
            </a:r>
          </a:p>
          <a:p>
            <a:r>
              <a:t>LECTURER CUE</a:t>
            </a:r>
          </a:p>
          <a:p>
            <a:r>
              <a:t>Ask how the result was obtained. Reteach the smallest missing step instead of giving a longer lecture.</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NEXT</a:t>
            </a:r>
          </a:p>
          <a:p>
            <a:r>
              <a:t>A compact loop is optional.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compact loop is optional</a:t>
            </a:r>
          </a:p>
          <a:p>
            <a:r>
              <a:t/>
            </a:r>
          </a:p>
          <a:p>
            <a:r>
              <a:t>CONNECT</a:t>
            </a:r>
          </a:p>
          <a:p>
            <a:r>
              <a:t>Build on the preceding slide: Practice discussion.</a:t>
            </a:r>
          </a:p>
          <a:p>
            <a:r>
              <a:t/>
            </a:r>
          </a:p>
          <a:p>
            <a:r>
              <a:t>LECTURER CUE</a:t>
            </a:r>
          </a:p>
          <a:p>
            <a:r>
              <a:t>Read each symbol before running. Ask everyone to predict. Expected output: [4, 8, 12] twice</a:t>
            </a:r>
          </a:p>
          <a:p>
            <a:r>
              <a:t/>
            </a:r>
          </a:p>
          <a:p>
            <a:r>
              <a:t>EXPLAIN IN ORDINARY WORDS</a:t>
            </a:r>
          </a:p>
          <a:p>
            <a:r>
              <a:t>A loop repeats its indented instructions for each item. A running total must be initialised before the loop and updated inside it.</a:t>
            </a:r>
          </a:p>
          <a:p>
            <a:r>
              <a:t/>
            </a:r>
          </a:p>
          <a:p>
            <a:r>
              <a:t>CHECK AND EXPECTED ANSWER</a:t>
            </a:r>
          </a:p>
          <a:p>
            <a:r>
              <a:t>For values 2,4,6 and total initially 0, what are the successive totals? 2,6,12.</a:t>
            </a:r>
          </a:p>
          <a:p>
            <a:r>
              <a:t/>
            </a:r>
          </a:p>
          <a:p>
            <a:r>
              <a:t>IF LEARNERS ARE STUCK</a:t>
            </a:r>
          </a:p>
          <a:p>
            <a:r>
              <a:t>Use a trace table with current item and total. Resetting total inside the loop loses earlier additions.</a:t>
            </a:r>
          </a:p>
          <a:p>
            <a:r>
              <a:t/>
            </a:r>
          </a:p>
          <a:p>
            <a:r>
              <a:t>WALK THROUGH THIS CODE</a:t>
            </a:r>
          </a:p>
          <a:p>
            <a:r>
              <a:t>for takes the next item. The indented block repeats.</a:t>
            </a:r>
          </a:p>
          <a:p>
            <a:r>
              <a:t>print displays a value below the cell.</a:t>
            </a:r>
          </a:p>
          <a:p>
            <a:r>
              <a:t>append adds one item to the end of a list.</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Short explainer and discussion.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Short explainer and discussion</a:t>
            </a:r>
          </a:p>
          <a:p>
            <a:r>
              <a:t/>
            </a:r>
          </a:p>
          <a:p>
            <a:r>
              <a:t>CONNECT</a:t>
            </a:r>
          </a:p>
          <a:p>
            <a:r>
              <a:t>Build on the preceding slide: A compact loop is optional.</a:t>
            </a:r>
          </a:p>
          <a:p>
            <a:r>
              <a:t/>
            </a:r>
          </a:p>
          <a:p>
            <a:r>
              <a:t>LECTURER CUE</a:t>
            </a:r>
          </a:p>
          <a:p>
            <a:r>
              <a:t>Linked by the official StatQuest video index. Full audiovisual preview and excerpt timing still required; do not make viewing compulsory.</a:t>
            </a:r>
          </a:p>
          <a:p>
            <a:r>
              <a:t>After viewing: Explain why an unusual temperature needs investigation before deletion.</a:t>
            </a:r>
          </a:p>
          <a:p>
            <a:r>
              <a:t>Preview before class and stop after the selected short excerpt. If playback fails, teach the worked example. Video is optional. Source: https://www.youtube.com/watch?v=fHLhBnmwUM0</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VIDEO ROUTINE</a:t>
            </a:r>
          </a:p>
          <a:p>
            <a:r>
              <a:t>Preview the exact link and stated excerpt before class. State the viewing question first, pause after the example, and ask a learner to explain it. If access fails, use the adjacent worked example and discussion rather than spend class time troubleshooting streaming.</a:t>
            </a:r>
          </a:p>
          <a:p>
            <a:r>
              <a:t/>
            </a:r>
          </a:p>
          <a:p>
            <a:r>
              <a:t>NEXT</a:t>
            </a:r>
          </a:p>
          <a:p>
            <a:r>
              <a:t>After the video.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After the video</a:t>
            </a:r>
          </a:p>
          <a:p>
            <a:r>
              <a:t/>
            </a:r>
          </a:p>
          <a:p>
            <a:r>
              <a:t>CONNECT</a:t>
            </a:r>
          </a:p>
          <a:p>
            <a:r>
              <a:t>Build on the preceding slide: Short explainer and discussion.</a:t>
            </a:r>
          </a:p>
          <a:p>
            <a:r>
              <a:t/>
            </a:r>
          </a:p>
          <a:p>
            <a:r>
              <a:t>DELIVER THIS SLIDE</a:t>
            </a:r>
          </a:p>
          <a:p>
            <a:r>
              <a:t>Read the stated purpose, then point to the named example or action on the slide. Ask learners to describe what they will do before moving on. For a break slide, announce the return time; for a section divider, name the next concrete task.</a:t>
            </a:r>
          </a:p>
          <a:p>
            <a:r>
              <a:t/>
            </a:r>
          </a:p>
          <a:p>
            <a:r>
              <a:t>NEXT</a:t>
            </a:r>
          </a:p>
          <a:p>
            <a:r>
              <a:t>Preparing for the assignment.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Preparing for the assignment</a:t>
            </a:r>
          </a:p>
          <a:p>
            <a:r>
              <a:t/>
            </a:r>
          </a:p>
          <a:p>
            <a:r>
              <a:t>CONNECT</a:t>
            </a:r>
          </a:p>
          <a:p>
            <a:r>
              <a:t>Build on the preceding slide: After the video.</a:t>
            </a:r>
          </a:p>
          <a:p>
            <a:r>
              <a:t/>
            </a:r>
          </a:p>
          <a:p>
            <a:r>
              <a:t>LECTURER CUE</a:t>
            </a:r>
          </a:p>
          <a:p>
            <a:r>
              <a:t>W06 uses a list of record dictionaries. Show one record and one field lookup before the function interfaces. Parse CSV blank numeric cells as None. Model copying with dict(row) and list.append. Walk through the published cleaning order before students write clean_records, summarize_records and audit_cleaning. Teach set membership for duplicate IDs and grouped accumulation. Explain that written evidence belongs in My written evidence, not in code comments.</a:t>
            </a:r>
          </a:p>
          <a:p>
            <a:r>
              <a:t/>
            </a:r>
          </a:p>
          <a:p>
            <a:r>
              <a:t>EXPLAIN IN ORDINARY WORDS</a:t>
            </a:r>
          </a:p>
          <a:p>
            <a:r>
              <a:t>Missing means not recorded, not automatically zero. Decide why it is missing and document the rule. Fitted fill values must come from training data when evaluating a model.</a:t>
            </a:r>
          </a:p>
          <a:p>
            <a:r>
              <a:t/>
            </a:r>
          </a:p>
          <a:p>
            <a:r>
              <a:t>CHECK AND EXPECTED ANSWER</a:t>
            </a:r>
          </a:p>
          <a:p>
            <a:r>
              <a:t>Is an unrecorded energy reading evidence of zero consumption? No.</a:t>
            </a:r>
          </a:p>
          <a:p>
            <a:r>
              <a:t/>
            </a:r>
          </a:p>
          <a:p>
            <a:r>
              <a:t>IF LEARNERS ARE STUCK</a:t>
            </a:r>
          </a:p>
          <a:p>
            <a:r>
              <a:t>Use three rows: a recorded zero, a recorded positive value and a blank. Explain their different meanings before cleaning.</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Preparing for the assignment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Preparing for the assignment continued</a:t>
            </a:r>
          </a:p>
          <a:p>
            <a:r>
              <a:t/>
            </a:r>
          </a:p>
          <a:p>
            <a:r>
              <a:t>CONNECT</a:t>
            </a:r>
          </a:p>
          <a:p>
            <a:r>
              <a:t>Build on the preceding slide: Preparing for the assignment.</a:t>
            </a:r>
          </a:p>
          <a:p>
            <a:r>
              <a:t/>
            </a:r>
          </a:p>
          <a:p>
            <a:r>
              <a:t>LECTURER CUE</a:t>
            </a:r>
          </a:p>
          <a:p>
            <a:r>
              <a:t>W06 uses a list of record dictionaries. Show one record and one field lookup before the function interfaces. Parse CSV blank numeric cells as None. Model copying with dict(row) and list.append. Walk through the published cleaning order before students write clean_records, summarize_records and audit_cleaning. Teach set membership for duplicate IDs and grouped accumulation. Explain that written evidence belongs in My written evidence, not in code comments.</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Cleaning choices and charts.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Cleaning choices and charts</a:t>
            </a:r>
          </a:p>
          <a:p>
            <a:r>
              <a:t/>
            </a:r>
          </a:p>
          <a:p>
            <a:r>
              <a:t>CONNECT</a:t>
            </a:r>
          </a:p>
          <a:p>
            <a:r>
              <a:t>Build on the preceding slide: Preparing for the assignment continued.</a:t>
            </a:r>
          </a:p>
          <a:p>
            <a:r>
              <a:t/>
            </a:r>
          </a:p>
          <a:p>
            <a:r>
              <a:t>LECTURER CUE</a:t>
            </a:r>
          </a:p>
          <a:p>
            <a:r>
              <a:t>Teach these concepts before the weekly quiz. Use changed numbers for practice. This slide supplies concepts, not the quiz key.</a:t>
            </a:r>
          </a:p>
          <a:p>
            <a:r>
              <a:t/>
            </a:r>
          </a:p>
          <a:p>
            <a:r>
              <a:t>EXPLAIN IN ORDINARY WORDS</a:t>
            </a:r>
          </a:p>
          <a:p>
            <a:r>
              <a:t>A cleaning decision needs evidence, a stated rule and a before/after check. Similar rows may be genuine repeated events. Reconciliation compares totals built under the same definitions.</a:t>
            </a:r>
          </a:p>
          <a:p>
            <a:r>
              <a:t/>
            </a:r>
          </a:p>
          <a:p>
            <a:r>
              <a:t>CHECK AND EXPECTED ANSWER</a:t>
            </a:r>
          </a:p>
          <a:p>
            <a:r>
              <a:t>May we delete every repeated amount? No. Check the row identifier and the table grain first.</a:t>
            </a:r>
          </a:p>
          <a:p>
            <a:r>
              <a:t/>
            </a:r>
          </a:p>
          <a:p>
            <a:r>
              <a:t>IF LEARNERS ARE STUCK</a:t>
            </a:r>
          </a:p>
          <a:p>
            <a:r>
              <a:t>Keep raw data, record counts before and after each action, then explain any remaining difference instead of forcing totals to agree.</a:t>
            </a:r>
          </a:p>
          <a:p>
            <a:r>
              <a:t/>
            </a:r>
          </a:p>
          <a:p>
            <a:r>
              <a:t>NEXT</a:t>
            </a:r>
          </a:p>
          <a:p>
            <a:r>
              <a:t>Cleaning choices and charts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Cleaning choices and charts continued</a:t>
            </a:r>
          </a:p>
          <a:p>
            <a:r>
              <a:t/>
            </a:r>
          </a:p>
          <a:p>
            <a:r>
              <a:t>CONNECT</a:t>
            </a:r>
          </a:p>
          <a:p>
            <a:r>
              <a:t>Build on the preceding slide: Cleaning choices and charts.</a:t>
            </a:r>
          </a:p>
          <a:p>
            <a:r>
              <a:t/>
            </a:r>
          </a:p>
          <a:p>
            <a:r>
              <a:t>LECTURER CUE</a:t>
            </a:r>
          </a:p>
          <a:p>
            <a:r>
              <a:t>Teach these concepts before the weekly quiz. Use changed numbers for practice. This slide supplies concepts, not the quiz key.</a:t>
            </a:r>
          </a:p>
          <a:p>
            <a:r>
              <a:t/>
            </a:r>
          </a:p>
          <a:p>
            <a:r>
              <a:t>EXPLAIN IN ORDINARY WORDS</a:t>
            </a:r>
          </a:p>
          <a:p>
            <a:r>
              <a:t>A cleaning decision needs evidence, a stated rule and a before/after check. Similar rows may be genuine repeated events. Reconciliation compares totals built under the same definitions.</a:t>
            </a:r>
          </a:p>
          <a:p>
            <a:r>
              <a:t/>
            </a:r>
          </a:p>
          <a:p>
            <a:r>
              <a:t>CHECK AND EXPECTED ANSWER</a:t>
            </a:r>
          </a:p>
          <a:p>
            <a:r>
              <a:t>May we delete every repeated amount? No. Check the row identifier and the table grain first.</a:t>
            </a:r>
          </a:p>
          <a:p>
            <a:r>
              <a:t/>
            </a:r>
          </a:p>
          <a:p>
            <a:r>
              <a:t>IF LEARNERS ARE STUCK</a:t>
            </a:r>
          </a:p>
          <a:p>
            <a:r>
              <a:t>Keep raw data, record counts before and after each action, then explain any remaining difference instead of forcing totals to agree.</a:t>
            </a:r>
          </a:p>
          <a:p>
            <a:r>
              <a:t/>
            </a:r>
          </a:p>
          <a:p>
            <a:r>
              <a:t>NEXT</a:t>
            </a:r>
          </a:p>
          <a:p>
            <a:r>
              <a:t>Your issued task.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Your issued task</a:t>
            </a:r>
          </a:p>
          <a:p>
            <a:r>
              <a:t/>
            </a:r>
          </a:p>
          <a:p>
            <a:r>
              <a:t>CONNECT</a:t>
            </a:r>
          </a:p>
          <a:p>
            <a:r>
              <a:t>Build on the preceding slide: Cleaning choices and charts continued.</a:t>
            </a:r>
          </a:p>
          <a:p>
            <a:r>
              <a:t/>
            </a:r>
          </a:p>
          <a:p>
            <a:r>
              <a:t>LECTURER CUE</a:t>
            </a:r>
          </a:p>
          <a:p>
            <a:r>
              <a:t>Investigate motor winding temperature. Target units: deg C. These are synthetic teaching records, not measurements suitable for deployment. Each record is one operating observation; equipment_id repeats across observations.</a:t>
            </a:r>
          </a:p>
          <a:p>
            <a:r>
              <a:t/>
            </a:r>
          </a:p>
          <a:p>
            <a:r>
              <a:t>EXPLAIN IN ORDINARY WORDS</a:t>
            </a:r>
          </a:p>
          <a:p>
            <a:r>
              <a:t>Read each quantity and unit before using a formula. Python calculates numbers but does not enforce physical units. Parentheses specify which operation happens first.</a:t>
            </a:r>
          </a:p>
          <a:p>
            <a:r>
              <a:t/>
            </a:r>
          </a:p>
          <a:p>
            <a:r>
              <a:t>CHECK AND EXPECTED ANSWER</a:t>
            </a:r>
          </a:p>
          <a:p>
            <a:r>
              <a:t>What is 5 m times 3 m? 15 square metres. What is 7/2 in Python? 3.5; 7//2 is 3.</a:t>
            </a:r>
          </a:p>
          <a:p>
            <a:r>
              <a:t/>
            </a:r>
          </a:p>
          <a:p>
            <a:r>
              <a:t>IF LEARNERS ARE STUCK</a:t>
            </a:r>
          </a:p>
          <a:p>
            <a:r>
              <a:t>Write the formula and units on paper, substitute small values, then translate it to Python. Check zero denominators and the issued sign convention.</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clean_records(records).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clean_records(records)</a:t>
            </a:r>
          </a:p>
          <a:p>
            <a:r>
              <a:t/>
            </a:r>
          </a:p>
          <a:p>
            <a:r>
              <a:t>CONNECT</a:t>
            </a:r>
          </a:p>
          <a:p>
            <a:r>
              <a:t>Build on the preceding slide: Your issued task.</a:t>
            </a:r>
          </a:p>
          <a:p>
            <a:r>
              <a:t/>
            </a:r>
          </a:p>
          <a:p>
            <a:r>
              <a:t>LECTURER CUE</a:t>
            </a:r>
          </a:p>
          <a:p>
            <a:r>
              <a:t>Public task contract. Explain input and output types before independent work. Source: IUEA_Teaching_Plan/assessment_banks/W06/CML3111/A/TASKS.md</a:t>
            </a:r>
          </a:p>
          <a:p>
            <a:r>
              <a:t/>
            </a:r>
          </a:p>
          <a:p>
            <a:r>
              <a:t>EXPLAIN IN ORDINARY WORDS</a:t>
            </a:r>
          </a:p>
          <a:p>
            <a:r>
              <a:t>Missing means not recorded, not automatically zero. Decide why it is missing and document the rule. Fitted fill values must come from training data when evaluating a model.</a:t>
            </a:r>
          </a:p>
          <a:p>
            <a:r>
              <a:t/>
            </a:r>
          </a:p>
          <a:p>
            <a:r>
              <a:t>CHECK AND EXPECTED ANSWER</a:t>
            </a:r>
          </a:p>
          <a:p>
            <a:r>
              <a:t>Is an unrecorded energy reading evidence of zero consumption? No.</a:t>
            </a:r>
          </a:p>
          <a:p>
            <a:r>
              <a:t/>
            </a:r>
          </a:p>
          <a:p>
            <a:r>
              <a:t>IF LEARNERS ARE STUCK</a:t>
            </a:r>
          </a:p>
          <a:p>
            <a:r>
              <a:t>Use three rows: a recorded zero, a recorded positive value and a blank. Explain their different meanings before cleaning.</a:t>
            </a:r>
          </a:p>
          <a:p>
            <a:r>
              <a:t/>
            </a:r>
          </a:p>
          <a:p>
            <a:r>
              <a:t>NEXT</a:t>
            </a:r>
          </a:p>
          <a:p>
            <a:r>
              <a:t>summarize_records(clean_records).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summarize_records(clean_records)</a:t>
            </a:r>
          </a:p>
          <a:p>
            <a:r>
              <a:t/>
            </a:r>
          </a:p>
          <a:p>
            <a:r>
              <a:t>CONNECT</a:t>
            </a:r>
          </a:p>
          <a:p>
            <a:r>
              <a:t>Build on the preceding slide: clean_records(records).</a:t>
            </a:r>
          </a:p>
          <a:p>
            <a:r>
              <a:t/>
            </a:r>
          </a:p>
          <a:p>
            <a:r>
              <a:t>LECTURER CUE</a:t>
            </a:r>
          </a:p>
          <a:p>
            <a:r>
              <a:t>Public task contract. Explain input and output types before independent work. Source: IUEA_Teaching_Plan/assessment_banks/W06/CML3111/A/TASKS.md</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NEXT</a:t>
            </a:r>
          </a:p>
          <a:p>
            <a:r>
              <a:t>audit_cleaning(raw_records, cleaned_records).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audit_cleaning(raw_records, cleaned_records)</a:t>
            </a:r>
          </a:p>
          <a:p>
            <a:r>
              <a:t/>
            </a:r>
          </a:p>
          <a:p>
            <a:r>
              <a:t>CONNECT</a:t>
            </a:r>
          </a:p>
          <a:p>
            <a:r>
              <a:t>Build on the preceding slide: summarize_records(clean_records).</a:t>
            </a:r>
          </a:p>
          <a:p>
            <a:r>
              <a:t/>
            </a:r>
          </a:p>
          <a:p>
            <a:r>
              <a:t>LECTURER CUE</a:t>
            </a:r>
          </a:p>
          <a:p>
            <a:r>
              <a:t>Public task contract. Explain input and output types before independent work. Source: IUEA_Teaching_Plan/assessment_banks/W06/CML3111/A/TASKS.md</a:t>
            </a:r>
          </a:p>
          <a:p>
            <a:r>
              <a:t/>
            </a:r>
          </a:p>
          <a:p>
            <a:r>
              <a:t>EXPLAIN IN ORDINARY WORDS</a:t>
            </a:r>
          </a:p>
          <a:p>
            <a:r>
              <a:t>A cleaning decision needs evidence, a stated rule and a before/after check. Similar rows may be genuine repeated events. Reconciliation compares totals built under the same definitions.</a:t>
            </a:r>
          </a:p>
          <a:p>
            <a:r>
              <a:t/>
            </a:r>
          </a:p>
          <a:p>
            <a:r>
              <a:t>CHECK AND EXPECTED ANSWER</a:t>
            </a:r>
          </a:p>
          <a:p>
            <a:r>
              <a:t>May we delete every repeated amount? No. Check the row identifier and the table grain first.</a:t>
            </a:r>
          </a:p>
          <a:p>
            <a:r>
              <a:t/>
            </a:r>
          </a:p>
          <a:p>
            <a:r>
              <a:t>IF LEARNERS ARE STUCK</a:t>
            </a:r>
          </a:p>
          <a:p>
            <a:r>
              <a:t>Keep raw data, record counts before and after each action, then explain any remaining difference instead of forcing totals to agree.</a:t>
            </a:r>
          </a:p>
          <a:p>
            <a:r>
              <a:t/>
            </a:r>
          </a:p>
          <a:p>
            <a:r>
              <a:t>NEXT</a:t>
            </a:r>
          </a:p>
          <a:p>
            <a:r>
              <a:t>Written evidence.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Written evidence</a:t>
            </a:r>
          </a:p>
          <a:p>
            <a:r>
              <a:t/>
            </a:r>
          </a:p>
          <a:p>
            <a:r>
              <a:t>CONNECT</a:t>
            </a:r>
          </a:p>
          <a:p>
            <a:r>
              <a:t>Build on the preceding slide: audit_cleaning(raw_records, cleaned_records).</a:t>
            </a:r>
          </a:p>
          <a:p>
            <a:r>
              <a:t/>
            </a:r>
          </a:p>
          <a:p>
            <a:r>
              <a:t>LECTURER CUE</a:t>
            </a:r>
          </a:p>
          <a:p>
            <a:r>
              <a:t>Published criterion weights and exact requirements remain in TASKS.md. Broader project exercises are formative and do not add weekly marks. Local automated reasoning assessment remains subject to its release checks.</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Cleaning and quality submission.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Cleaning and quality submission</a:t>
            </a:r>
          </a:p>
          <a:p>
            <a:r>
              <a:t/>
            </a:r>
          </a:p>
          <a:p>
            <a:r>
              <a:t>CONNECT</a:t>
            </a:r>
          </a:p>
          <a:p>
            <a:r>
              <a:t>Build on the preceding slide: Written evidence.</a:t>
            </a:r>
          </a:p>
          <a:p>
            <a:r>
              <a:t/>
            </a:r>
          </a:p>
          <a:p>
            <a:r>
              <a:t>LECTURER CUE</a:t>
            </a:r>
          </a:p>
          <a:p>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a:r>
              <a:t/>
            </a:r>
          </a:p>
          <a:p>
            <a:r>
              <a:t>EXPLAIN IN ORDINARY WORDS</a:t>
            </a:r>
          </a:p>
          <a:p>
            <a:r>
              <a:t>A cleaning decision needs evidence, a stated rule and a before/after check. Similar rows may be genuine repeated events. Reconciliation compares totals built under the same definitions.</a:t>
            </a:r>
          </a:p>
          <a:p>
            <a:r>
              <a:t/>
            </a:r>
          </a:p>
          <a:p>
            <a:r>
              <a:t>CHECK AND EXPECTED ANSWER</a:t>
            </a:r>
          </a:p>
          <a:p>
            <a:r>
              <a:t>May we delete every repeated amount? No. Check the row identifier and the table grain first.</a:t>
            </a:r>
          </a:p>
          <a:p>
            <a:r>
              <a:t/>
            </a:r>
          </a:p>
          <a:p>
            <a:r>
              <a:t>IF LEARNERS ARE STUCK</a:t>
            </a:r>
          </a:p>
          <a:p>
            <a:r>
              <a:t>Keep raw data, record counts before and after each action, then explain any remaining difference instead of forcing totals to agree.</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Project preparation.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Project preparation</a:t>
            </a:r>
          </a:p>
          <a:p>
            <a:r>
              <a:t/>
            </a:r>
          </a:p>
          <a:p>
            <a:r>
              <a:t>CONNECT</a:t>
            </a:r>
          </a:p>
          <a:p>
            <a:r>
              <a:t>Build on the preceding slide: Cleaning and quality submission.</a:t>
            </a:r>
          </a:p>
          <a:p>
            <a:r>
              <a:t/>
            </a:r>
          </a:p>
          <a:p>
            <a:r>
              <a:t>LECTURER CUE</a:t>
            </a:r>
          </a:p>
          <a:p>
            <a:r>
              <a:t>Explain the released brief now. Confirm its grading-release checks before assigning it. Avoid treating weekly practice as a substitute for the project evidence. The project brief remains authoritative.</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Week 6 quiz.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Week 6 quiz</a:t>
            </a:r>
          </a:p>
          <a:p>
            <a:r>
              <a:t/>
            </a:r>
          </a:p>
          <a:p>
            <a:r>
              <a:t>CONNECT</a:t>
            </a:r>
          </a:p>
          <a:p>
            <a:r>
              <a:t>Build on the preceding slide: Project preparation.</a:t>
            </a:r>
          </a:p>
          <a:p>
            <a:r>
              <a:t/>
            </a:r>
          </a:p>
          <a:p>
            <a:r>
              <a:t>LECTURER CUE</a:t>
            </a:r>
          </a:p>
          <a:p>
            <a:r>
              <a:t>Activate the matching open_W6_CML3111 function in Quiz Controls, then confirm the 24-hour close time. Opening this slide or clicking its link does not activate the form. The 24 hours is the availability window. Keep existing quiz scoring and form rules. Do not show private answer keys.</a:t>
            </a:r>
          </a:p>
          <a:p>
            <a:r>
              <a:t/>
            </a:r>
          </a:p>
          <a:p>
            <a:r>
              <a:t>QUIZ OPERATION</a:t>
            </a:r>
          </a:p>
          <a:p>
            <a:r>
              <a:t>Opening the student link does not activate the quiz. In Quiz Controls run the matching open_W&lt;week&gt;_&lt;cohort&gt; function once when ready. Announce the logged closing time: 24 hours after activation. Five minutes describes expected answering time, not the availability window. Quiz 1 and Quiz 2 require separate activation when collecting catch-up work.</a:t>
            </a:r>
          </a:p>
          <a:p>
            <a:r>
              <a:t/>
            </a:r>
          </a:p>
          <a:p>
            <a:r>
              <a:t>NEXT</a:t>
            </a:r>
          </a:p>
          <a:p>
            <a:r>
              <a:t>Before you leave.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Before you leave</a:t>
            </a:r>
          </a:p>
          <a:p>
            <a:r>
              <a:t/>
            </a:r>
          </a:p>
          <a:p>
            <a:r>
              <a:t>CONNECT</a:t>
            </a:r>
          </a:p>
          <a:p>
            <a:r>
              <a:t>Build on the preceding slide: Week 6 quiz.</a:t>
            </a:r>
          </a:p>
          <a:p>
            <a:r>
              <a:t/>
            </a:r>
          </a:p>
          <a:p>
            <a:r>
              <a:t>LECTURER CUE</a:t>
            </a:r>
          </a:p>
          <a:p>
            <a:r>
              <a:t>Ask every learner for an individual response. Record one misconception to revisit at the start of the next class. If a deadline changed, announce the exact Kampala date and update the source registry before rebuilding slides.</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3c517563d884a2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5229ed60cdf4b3c" /><Relationship Type="http://schemas.openxmlformats.org/officeDocument/2006/relationships/slideLayout" Target="/ppt/slideLayouts/slideLayout1.xml" Id="R3d06b0285cd74e1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d06b0285cd74e1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6438a7e680424dc4" /><Relationship Type="http://schemas.openxmlformats.org/officeDocument/2006/relationships/image" Target="/ppt/media/image.png" Id="R605274d9760c454a" /><Relationship Type="http://schemas.openxmlformats.org/officeDocument/2006/relationships/notesSlide" Target="/ppt/notesSlides/notesSlide1.xml" Id="R0a7f4c00db174da4"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6ff453637a804e30" /><Relationship Type="http://schemas.openxmlformats.org/officeDocument/2006/relationships/notesSlide" Target="/ppt/notesSlides/notesSlide2.xml" Id="R7d7ef6fc7920476b"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f4b2d5dcb28e41db" /><Relationship Type="http://schemas.openxmlformats.org/officeDocument/2006/relationships/notesSlide" Target="/ppt/notesSlides/notesSlide3.xml" Id="Rca0b7f256f55454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6d31d79d1a4e4817" /><Relationship Type="http://schemas.openxmlformats.org/officeDocument/2006/relationships/notesSlide" Target="/ppt/notesSlides/notesSlide4.xml" Id="Rae4bfc97b9ae4a9c"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840b967f3ded4b9c" /><Relationship Type="http://schemas.openxmlformats.org/officeDocument/2006/relationships/notesSlide" Target="/ppt/notesSlides/notesSlide5.xml" Id="Rbb0f5e271dfa4c5c"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b23439183d2c4c03" /><Relationship Type="http://schemas.openxmlformats.org/officeDocument/2006/relationships/notesSlide" Target="/ppt/notesSlides/notesSlide6.xml" Id="R60e8484ccc7f4fce"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a3b2ed2426324e79" /><Relationship Type="http://schemas.openxmlformats.org/officeDocument/2006/relationships/notesSlide" Target="/ppt/notesSlides/notesSlide7.xml" Id="R81331d20be4243a2"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1247e33dfca2402d" /><Relationship Type="http://schemas.openxmlformats.org/officeDocument/2006/relationships/notesSlide" Target="/ppt/notesSlides/notesSlide8.xml" Id="Raa8ef559bfa84609"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5cf24398eb1944bd" /><Relationship Type="http://schemas.openxmlformats.org/officeDocument/2006/relationships/notesSlide" Target="/ppt/notesSlides/notesSlide9.xml" Id="R22d265291ec244b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d2e12719b824463" /><Relationship Type="http://schemas.openxmlformats.org/officeDocument/2006/relationships/notesSlide" Target="/ppt/notesSlides/notesSlide10.xml" Id="R041de475872849c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355b0b88bc874636" /><Relationship Type="http://schemas.openxmlformats.org/officeDocument/2006/relationships/notesSlide" Target="/ppt/notesSlides/notesSlide11.xml" Id="R07b9176a431a417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bfd3b80591f34962" /><Relationship Type="http://schemas.openxmlformats.org/officeDocument/2006/relationships/notesSlide" Target="/ppt/notesSlides/notesSlide12.xml" Id="Rb32f4b93848e4ee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7ec3dbb87cbf4403" /><Relationship Type="http://schemas.openxmlformats.org/officeDocument/2006/relationships/notesSlide" Target="/ppt/notesSlides/notesSlide13.xml" Id="Rbf02d2050ba74fd4"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0ab8bafea03d4799" /><Relationship Type="http://schemas.openxmlformats.org/officeDocument/2006/relationships/image" Target="/ppt/media/image2.png" Id="Rd736e600cf104c76" /><Relationship Type="http://schemas.openxmlformats.org/officeDocument/2006/relationships/notesSlide" Target="/ppt/notesSlides/notesSlide14.xml" Id="R3561dc9a2cc1418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deafc0c7a8204437" /><Relationship Type="http://schemas.openxmlformats.org/officeDocument/2006/relationships/notesSlide" Target="/ppt/notesSlides/notesSlide15.xml" Id="R54b2b2073a414c23"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4ad3a5cb8a034481" /><Relationship Type="http://schemas.openxmlformats.org/officeDocument/2006/relationships/notesSlide" Target="/ppt/notesSlides/notesSlide16.xml" Id="Ra8f585a3772f4992"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9af3318bef114acf" /><Relationship Type="http://schemas.openxmlformats.org/officeDocument/2006/relationships/notesSlide" Target="/ppt/notesSlides/notesSlide17.xml" Id="R039b354dd4a941cb"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5498de245904476d" /><Relationship Type="http://schemas.openxmlformats.org/officeDocument/2006/relationships/notesSlide" Target="/ppt/notesSlides/notesSlide18.xml" Id="R0483f7eeaa254111"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5d0a7953f0a34999" /><Relationship Type="http://schemas.openxmlformats.org/officeDocument/2006/relationships/notesSlide" Target="/ppt/notesSlides/notesSlide19.xml" Id="Rfbde00f6fef349a1"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cc16371879b84e68" /><Relationship Type="http://schemas.openxmlformats.org/officeDocument/2006/relationships/notesSlide" Target="/ppt/notesSlides/notesSlide20.xml" Id="R42058a68696c4a88"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a746155a62094764" /><Relationship Type="http://schemas.openxmlformats.org/officeDocument/2006/relationships/notesSlide" Target="/ppt/notesSlides/notesSlide21.xml" Id="R636adbdefd3e4b95"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3bb925064f8f434e" /><Relationship Type="http://schemas.openxmlformats.org/officeDocument/2006/relationships/notesSlide" Target="/ppt/notesSlides/notesSlide22.xml" Id="R81dbb6d0e23743ef"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0cf19d59b9ca414f" /><Relationship Type="http://schemas.openxmlformats.org/officeDocument/2006/relationships/notesSlide" Target="/ppt/notesSlides/notesSlide23.xml" Id="R9130c6281f5145ab"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9989e52e64554a95" /><Relationship Type="http://schemas.openxmlformats.org/officeDocument/2006/relationships/notesSlide" Target="/ppt/notesSlides/notesSlide24.xml" Id="R7ab4db3a1cc4447f"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42095c1b7de44bf9" /><Relationship Type="http://schemas.openxmlformats.org/officeDocument/2006/relationships/notesSlide" Target="/ppt/notesSlides/notesSlide25.xml" Id="Rb63eaa957b554722"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120e971ff3864ee3" /><Relationship Type="http://schemas.openxmlformats.org/officeDocument/2006/relationships/notesSlide" Target="/ppt/notesSlides/notesSlide26.xml" Id="R504ee42288f7486c"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3c8a254c640e4d64" /><Relationship Type="http://schemas.openxmlformats.org/officeDocument/2006/relationships/notesSlide" Target="/ppt/notesSlides/notesSlide27.xml" Id="R56d2ef95d1d74285"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a0eebc3fcac74da8" /><Relationship Type="http://schemas.openxmlformats.org/officeDocument/2006/relationships/notesSlide" Target="/ppt/notesSlides/notesSlide28.xml" Id="R339c08fc341f4aad"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0dff055ddf4d4dcc" /><Relationship Type="http://schemas.openxmlformats.org/officeDocument/2006/relationships/notesSlide" Target="/ppt/notesSlides/notesSlide29.xml" Id="R2595ce9744d04833"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9450540c35d740b4" /><Relationship Type="http://schemas.openxmlformats.org/officeDocument/2006/relationships/notesSlide" Target="/ppt/notesSlides/notesSlide30.xml" Id="R3123cf443a484fac"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7c043d5a93c44ce6" /><Relationship Type="http://schemas.openxmlformats.org/officeDocument/2006/relationships/image" Target="/ppt/media/image3.png" Id="R57a9365edd0e4536" /><Relationship Type="http://schemas.openxmlformats.org/officeDocument/2006/relationships/notesSlide" Target="/ppt/notesSlides/notesSlide31.xml" Id="Rb0afbc43298b41b2"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f3cebcbb034946b7" /><Relationship Type="http://schemas.openxmlformats.org/officeDocument/2006/relationships/notesSlide" Target="/ppt/notesSlides/notesSlide32.xml" Id="R1000a1c6b12d4b3e"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3147e45ca06d454a" /><Relationship Type="http://schemas.openxmlformats.org/officeDocument/2006/relationships/notesSlide" Target="/ppt/notesSlides/notesSlide33.xml" Id="Rb55e31951779488d"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180ec63a9c9841b8" /><Relationship Type="http://schemas.openxmlformats.org/officeDocument/2006/relationships/notesSlide" Target="/ppt/notesSlides/notesSlide34.xml" Id="Rbf619a11a6b84f67"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f55b00ca95324578" /><Relationship Type="http://schemas.openxmlformats.org/officeDocument/2006/relationships/notesSlide" Target="/ppt/notesSlides/notesSlide35.xml" Id="R627717eee07b4c7b"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49c3575751ba4c3f" /><Relationship Type="http://schemas.openxmlformats.org/officeDocument/2006/relationships/notesSlide" Target="/ppt/notesSlides/notesSlide36.xml" Id="Rd0f87e25da98440b"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9e6edce9205742a4" /><Relationship Type="http://schemas.openxmlformats.org/officeDocument/2006/relationships/notesSlide" Target="/ppt/notesSlides/notesSlide37.xml" Id="R7825b64a732d4a66"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4257a3513ca84c52" /><Relationship Type="http://schemas.openxmlformats.org/officeDocument/2006/relationships/notesSlide" Target="/ppt/notesSlides/notesSlide38.xml" Id="R01504ffb15714f58"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a13f03db53174c6e" /><Relationship Type="http://schemas.openxmlformats.org/officeDocument/2006/relationships/notesSlide" Target="/ppt/notesSlides/notesSlide39.xml" Id="R81ff782503764641"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16cc9d35fcff4720" /><Relationship Type="http://schemas.openxmlformats.org/officeDocument/2006/relationships/hyperlink" Target="https://www.youtube.com/watch?v=fHLhBnmwUM0" TargetMode="External" Id="R6c2054962e354a25" /><Relationship Type="http://schemas.openxmlformats.org/officeDocument/2006/relationships/notesSlide" Target="/ppt/notesSlides/notesSlide40.xml" Id="R7cdf7869a2864965"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e6e25ab50aff4b12" /><Relationship Type="http://schemas.openxmlformats.org/officeDocument/2006/relationships/notesSlide" Target="/ppt/notesSlides/notesSlide41.xml" Id="R150cc771e59c4098"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a424f35a096d4720" /><Relationship Type="http://schemas.openxmlformats.org/officeDocument/2006/relationships/notesSlide" Target="/ppt/notesSlides/notesSlide42.xml" Id="Rc749b8befd9140f1"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ff36be10d356433f" /><Relationship Type="http://schemas.openxmlformats.org/officeDocument/2006/relationships/notesSlide" Target="/ppt/notesSlides/notesSlide43.xml" Id="Rf3c9b762675940f1"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ba1d2a5a86ea4fe0" /><Relationship Type="http://schemas.openxmlformats.org/officeDocument/2006/relationships/notesSlide" Target="/ppt/notesSlides/notesSlide44.xml" Id="Rbae092c48e1e4fa8"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6e3fc86a3594487c" /><Relationship Type="http://schemas.openxmlformats.org/officeDocument/2006/relationships/notesSlide" Target="/ppt/notesSlides/notesSlide45.xml" Id="R35f76aff17e344b0"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187309ed09dc4db4" /><Relationship Type="http://schemas.openxmlformats.org/officeDocument/2006/relationships/notesSlide" Target="/ppt/notesSlides/notesSlide46.xml" Id="R067c68e3ce9447fb"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5649768a2f814e19" /><Relationship Type="http://schemas.openxmlformats.org/officeDocument/2006/relationships/notesSlide" Target="/ppt/notesSlides/notesSlide47.xml" Id="Ra9027b7b39644686"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f8b18de3007143fd" /><Relationship Type="http://schemas.openxmlformats.org/officeDocument/2006/relationships/notesSlide" Target="/ppt/notesSlides/notesSlide48.xml" Id="R98705be69abf43cc"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b7893b91038745ee" /><Relationship Type="http://schemas.openxmlformats.org/officeDocument/2006/relationships/notesSlide" Target="/ppt/notesSlides/notesSlide49.xml" Id="R92970180d6a740b3"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4681efc87dce4d71" /><Relationship Type="http://schemas.openxmlformats.org/officeDocument/2006/relationships/notesSlide" Target="/ppt/notesSlides/notesSlide50.xml" Id="Re565092a1b1d4f3c"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ff54f5a184834431" /><Relationship Type="http://schemas.openxmlformats.org/officeDocument/2006/relationships/hyperlink" Target="https://docs.google.com/forms/d/e/1FAIpQLSfcvyIDBXQG0fnr8EYsAHCsFatx8MDwAjzct3kPMz2JgAPxZQ/viewform" TargetMode="External" Id="R707f2d8dcce44ffc" /><Relationship Type="http://schemas.openxmlformats.org/officeDocument/2006/relationships/notesSlide" Target="/ppt/notesSlides/notesSlide51.xml" Id="Re37b7ad85a4241ac"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3a9c44143a3c442f" /><Relationship Type="http://schemas.openxmlformats.org/officeDocument/2006/relationships/notesSlide" Target="/ppt/notesSlides/notesSlide52.xml" Id="R6efac38cc63b4e95"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2bffb31f0b5345df" /><Relationship Type="http://schemas.openxmlformats.org/officeDocument/2006/relationships/image" Target="/ppt/media/image4.png" Id="Rfeac1a130d074cd2" /><Relationship Type="http://schemas.openxmlformats.org/officeDocument/2006/relationships/hyperlink" Target="https://forms.gle/BwRZGzPvSzTwDqaH6" TargetMode="External" Id="Rfd13789ab33245e4" /><Relationship Type="http://schemas.openxmlformats.org/officeDocument/2006/relationships/notesSlide" Target="/ppt/notesSlides/notesSlide53.xml" Id="R329265aeb6ca4987"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e4b4ef57d5694d51" /><Relationship Type="http://schemas.openxmlformats.org/officeDocument/2006/relationships/notesSlide" Target="/ppt/notesSlides/notesSlide54.xml" Id="Rd0f0f7dbbd2c48ab"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605274d9760c454a"/>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656D386-DB2B-4472-8664-9EA1E738F871}"/>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1E509BEC-99D4-4838-9701-09C0FB99BBA3}"/>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CML3111   WEEK 6</a:t>
            </a:r>
          </a:p>
        </p:txBody>
      </p:sp>
      <p:sp>
        <p:nvSpPr>
          <p:cNvPr id="4" name="">
            <a:extLst xmlns:a="http://schemas.openxmlformats.org/drawingml/2006/main">
              <a:ext uri="{FF2B5EF4-FFF2-40B4-BE49-F238E27FC236}">
                <a16:creationId xmlns:a16="http://schemas.microsoft.com/office/drawing/2014/main" id="{D9AE8C47-28D4-4936-A9D4-675E9743DF82}"/>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Cleaning data and explaining changes</a:t>
            </a:r>
          </a:p>
        </p:txBody>
      </p:sp>
      <p:sp>
        <p:nvSpPr>
          <p:cNvPr id="5" name="">
            <a:extLst xmlns:a="http://schemas.openxmlformats.org/drawingml/2006/main">
              <a:ext uri="{FF2B5EF4-FFF2-40B4-BE49-F238E27FC236}">
                <a16:creationId xmlns:a16="http://schemas.microsoft.com/office/drawing/2014/main" id="{60D976AF-82D9-4A5C-9B59-257C7E3A0239}"/>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Communications, Electrical, Mechatronics and Robotics Engineering</a:t>
            </a:r>
          </a:p>
        </p:txBody>
      </p:sp>
      <p:sp>
        <p:nvSpPr>
          <p:cNvPr id="6" name="">
            <a:extLst xmlns:a="http://schemas.openxmlformats.org/drawingml/2006/main">
              <a:ext uri="{FF2B5EF4-FFF2-40B4-BE49-F238E27FC236}">
                <a16:creationId xmlns:a16="http://schemas.microsoft.com/office/drawing/2014/main" id="{2EB3A7D2-245F-4E4C-8315-0F14F6E89C00}"/>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16 October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11:00–14:00, Room 115</a:t>
            </a:r>
          </a:p>
        </p:txBody>
      </p:sp>
    </p:spTree>
    <p:extLst>
      <p:ext uri="{BB962C8B-B14F-4D97-AF65-F5344CB8AC3E}">
        <p14:creationId xmlns:p14="http://schemas.microsoft.com/office/powerpoint/2010/main" val="121106447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C823531-5EAD-443B-8A1A-3C4D95B7A0E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7471C8B-766B-408F-89E0-D3EB8AAD77B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24DF5990-6302-4B52-A55E-9DC02998D74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658000C5-9104-4C70-9D31-A44DF8D50FF0}"/>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C2B8CC4-7A87-476E-8582-6BB30EBE7757}"/>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43D070DB-C0B2-4C46-B548-2EA42FAB394A}"/>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Recognise missing values and repeated records.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Make a working copy and record each cleaning action.</a:t>
            </a:r>
          </a:p>
        </p:txBody>
      </p:sp>
      <p:sp>
        <p:nvSpPr>
          <p:cNvPr id="7" name="">
            <a:extLst xmlns:a="http://schemas.openxmlformats.org/drawingml/2006/main">
              <a:ext uri="{FF2B5EF4-FFF2-40B4-BE49-F238E27FC236}">
                <a16:creationId xmlns:a16="http://schemas.microsoft.com/office/drawing/2014/main" id="{4C02485F-1C4F-43DF-9021-FC13E282AEE9}"/>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2858FCAF-42C2-46C0-81BF-B38BA403E2B1}"/>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justify a change, show its effect and identify an estimated value.</a:t>
            </a:r>
          </a:p>
        </p:txBody>
      </p:sp>
      <p:sp>
        <p:nvSpPr>
          <p:cNvPr id="9" name="">
            <a:extLst xmlns:a="http://schemas.openxmlformats.org/drawingml/2006/main">
              <a:ext uri="{FF2B5EF4-FFF2-40B4-BE49-F238E27FC236}">
                <a16:creationId xmlns:a16="http://schemas.microsoft.com/office/drawing/2014/main" id="{21DC0543-1E9E-452B-9790-9DC56FAAD81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2</a:t>
            </a:r>
          </a:p>
        </p:txBody>
      </p:sp>
    </p:spTree>
    <p:extLst>
      <p:ext uri="{BB962C8B-B14F-4D97-AF65-F5344CB8AC3E}">
        <p14:creationId xmlns:p14="http://schemas.microsoft.com/office/powerpoint/2010/main" val="268944683"/>
      </p:ext>
    </p:extLst>
  </p:cSld>
</p:sld>
</file>

<file path=ppt/slides/slide3.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3DCD7BE-CC9C-420C-B050-9C8281466F5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00A64FFD-7F7C-4541-A9CD-798CA27ACF2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Recall and a first attempt</a:t>
            </a:r>
          </a:p>
        </p:txBody>
      </p:sp>
      <p:sp>
        <p:nvSpPr>
          <p:cNvPr id="3" name="">
            <a:extLst xmlns:a="http://schemas.openxmlformats.org/drawingml/2006/main">
              <a:ext uri="{FF2B5EF4-FFF2-40B4-BE49-F238E27FC236}">
                <a16:creationId xmlns:a16="http://schemas.microsoft.com/office/drawing/2014/main" id="{B697D014-1791-460C-9765-ADDF77606F01}"/>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BD01E43C-42B4-47AA-B6FF-9109AA409687}"/>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Select a column and filter rows. Explain why a sum and a mean answer different questions.</a:t>
            </a:r>
          </a:p>
        </p:txBody>
      </p:sp>
      <p:sp>
        <p:nvSpPr>
          <p:cNvPr id="5" name="">
            <a:extLst xmlns:a="http://schemas.openxmlformats.org/drawingml/2006/main">
              <a:ext uri="{FF2B5EF4-FFF2-40B4-BE49-F238E27FC236}">
                <a16:creationId xmlns:a16="http://schemas.microsoft.com/office/drawing/2014/main" id="{D2061295-8EEF-42C1-9028-C7B567095BB7}"/>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Think alone first. Then compare your reasoning with a partner.</a:t>
            </a:r>
          </a:p>
        </p:txBody>
      </p:sp>
      <p:sp>
        <p:nvSpPr>
          <p:cNvPr id="6" name="">
            <a:extLst xmlns:a="http://schemas.openxmlformats.org/drawingml/2006/main">
              <a:ext uri="{FF2B5EF4-FFF2-40B4-BE49-F238E27FC236}">
                <a16:creationId xmlns:a16="http://schemas.microsoft.com/office/drawing/2014/main" id="{FAA85940-A859-4ADA-8B40-DD1D63BC164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6   3</a:t>
            </a:r>
          </a:p>
        </p:txBody>
      </p:sp>
    </p:spTree>
    <p:extLst>
      <p:ext uri="{BB962C8B-B14F-4D97-AF65-F5344CB8AC3E}">
        <p14:creationId xmlns:p14="http://schemas.microsoft.com/office/powerpoint/2010/main" val="690734817"/>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1E3EF9C-C51B-4650-ADCF-D27C888130A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76E20E1-9341-4756-A5C6-E2A0C63C61F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THE ENGINEERING QUESTION</a:t>
            </a:r>
          </a:p>
        </p:txBody>
      </p:sp>
      <p:sp>
        <p:nvSpPr>
          <p:cNvPr id="3" name="">
            <a:extLst xmlns:a="http://schemas.openxmlformats.org/drawingml/2006/main">
              <a:ext uri="{FF2B5EF4-FFF2-40B4-BE49-F238E27FC236}">
                <a16:creationId xmlns:a16="http://schemas.microsoft.com/office/drawing/2014/main" id="{56EB5AA3-D743-42E9-BF66-1C2C4C448DC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engineering context</a:t>
            </a:r>
          </a:p>
        </p:txBody>
      </p:sp>
      <p:sp>
        <p:nvSpPr>
          <p:cNvPr id="4" name="">
            <a:extLst xmlns:a="http://schemas.openxmlformats.org/drawingml/2006/main">
              <a:ext uri="{FF2B5EF4-FFF2-40B4-BE49-F238E27FC236}">
                <a16:creationId xmlns:a16="http://schemas.microsoft.com/office/drawing/2014/main" id="{C062FAD3-4C6A-4E56-A43F-BC28CD4165A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3F0C729-E711-468C-9DC9-E8D97310C563}"/>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team records device temperature to investigate cooling.</a:t>
            </a:r>
          </a:p>
        </p:txBody>
      </p:sp>
      <p:sp>
        <p:nvSpPr>
          <p:cNvPr id="6" name="">
            <a:extLst xmlns:a="http://schemas.openxmlformats.org/drawingml/2006/main">
              <a:ext uri="{FF2B5EF4-FFF2-40B4-BE49-F238E27FC236}">
                <a16:creationId xmlns:a16="http://schemas.microsoft.com/office/drawing/2014/main" id="{9ADDF713-8E1E-4380-8C9D-70D80F38E83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11006B7-0FFD-4831-996C-99756FAB86BE}"/>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a communications cabinet, an electrical enclosure or a robot controller as the physical example.</a:t>
            </a:r>
          </a:p>
        </p:txBody>
      </p:sp>
      <p:sp>
        <p:nvSpPr>
          <p:cNvPr id="8" name="">
            <a:extLst xmlns:a="http://schemas.openxmlformats.org/drawingml/2006/main">
              <a:ext uri="{FF2B5EF4-FFF2-40B4-BE49-F238E27FC236}">
                <a16:creationId xmlns:a16="http://schemas.microsoft.com/office/drawing/2014/main" id="{3830536F-74B0-43ED-B4AD-3B7FE61CED8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2DCBEB0-F234-4F32-9B74-40FE739DEF0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specialist hardware knowledge is assumed.</a:t>
            </a:r>
          </a:p>
        </p:txBody>
      </p:sp>
      <p:sp>
        <p:nvSpPr>
          <p:cNvPr id="10" name="">
            <a:extLst xmlns:a="http://schemas.openxmlformats.org/drawingml/2006/main">
              <a:ext uri="{FF2B5EF4-FFF2-40B4-BE49-F238E27FC236}">
                <a16:creationId xmlns:a16="http://schemas.microsoft.com/office/drawing/2014/main" id="{5495F46D-0548-407F-A82C-0F45E67210D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4</a:t>
            </a:r>
          </a:p>
        </p:txBody>
      </p:sp>
    </p:spTree>
    <p:extLst>
      <p:ext uri="{BB962C8B-B14F-4D97-AF65-F5344CB8AC3E}">
        <p14:creationId xmlns:p14="http://schemas.microsoft.com/office/powerpoint/2010/main" val="184494173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0E1CE9B-5FA1-4FC3-BF5B-7BDCB161397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91C47E8-9FD2-4610-9E9B-D4AA3CE6861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B85FAFA7-23B0-48DE-BCA8-E08E2336E7D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Words we will use</a:t>
            </a:r>
          </a:p>
        </p:txBody>
      </p:sp>
      <p:sp>
        <p:nvSpPr>
          <p:cNvPr id="4" name="">
            <a:extLst xmlns:a="http://schemas.openxmlformats.org/drawingml/2006/main">
              <a:ext uri="{FF2B5EF4-FFF2-40B4-BE49-F238E27FC236}">
                <a16:creationId xmlns:a16="http://schemas.microsoft.com/office/drawing/2014/main" id="{F9756D8E-7EE5-4A74-A5D8-B223A16AB48A}"/>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79A344A-905C-4507-B688-6A8909471F3D}"/>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Raw data</a:t>
            </a:r>
          </a:p>
        </p:txBody>
      </p:sp>
      <p:sp>
        <p:nvSpPr>
          <p:cNvPr id="6" name="">
            <a:extLst xmlns:a="http://schemas.openxmlformats.org/drawingml/2006/main">
              <a:ext uri="{FF2B5EF4-FFF2-40B4-BE49-F238E27FC236}">
                <a16:creationId xmlns:a16="http://schemas.microsoft.com/office/drawing/2014/main" id="{372A888C-83F2-4773-A9BE-D85487DB7DE1}"/>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The original supplied records. Keep these unchanged so another person can check your decisions.</a:t>
            </a:r>
          </a:p>
        </p:txBody>
      </p:sp>
      <p:sp>
        <p:nvSpPr>
          <p:cNvPr id="7" name="">
            <a:extLst xmlns:a="http://schemas.openxmlformats.org/drawingml/2006/main">
              <a:ext uri="{FF2B5EF4-FFF2-40B4-BE49-F238E27FC236}">
                <a16:creationId xmlns:a16="http://schemas.microsoft.com/office/drawing/2014/main" id="{31762119-ABE8-4B40-9C30-09E5EF3F608B}"/>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92BD468-83DF-4237-BE0D-D2E2AD073D3F}"/>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Missing value</a:t>
            </a:r>
          </a:p>
        </p:txBody>
      </p:sp>
      <p:sp>
        <p:nvSpPr>
          <p:cNvPr id="9" name="">
            <a:extLst xmlns:a="http://schemas.openxmlformats.org/drawingml/2006/main">
              <a:ext uri="{FF2B5EF4-FFF2-40B4-BE49-F238E27FC236}">
                <a16:creationId xmlns:a16="http://schemas.microsoft.com/office/drawing/2014/main" id="{F5C5B384-C2EE-4240-A140-B82679F7F763}"/>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value that was not recorded, represented here by None in Python records. Missing does not automatically mean zero.</a:t>
            </a:r>
          </a:p>
        </p:txBody>
      </p:sp>
      <p:sp>
        <p:nvSpPr>
          <p:cNvPr id="10" name="">
            <a:extLst xmlns:a="http://schemas.openxmlformats.org/drawingml/2006/main">
              <a:ext uri="{FF2B5EF4-FFF2-40B4-BE49-F238E27FC236}">
                <a16:creationId xmlns:a16="http://schemas.microsoft.com/office/drawing/2014/main" id="{5F570082-1899-4D0D-8540-1363BFDE3E3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5</a:t>
            </a:r>
          </a:p>
        </p:txBody>
      </p:sp>
    </p:spTree>
    <p:extLst>
      <p:ext uri="{BB962C8B-B14F-4D97-AF65-F5344CB8AC3E}">
        <p14:creationId xmlns:p14="http://schemas.microsoft.com/office/powerpoint/2010/main" val="209753944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BEAFF01-A9C1-47E8-8B8C-80C1CE62FCD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4056C9D-915B-40BA-A201-709DD140F16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F998E38E-44CF-4570-B031-1EAD358F961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Words we will use</a:t>
            </a:r>
          </a:p>
        </p:txBody>
      </p:sp>
      <p:sp>
        <p:nvSpPr>
          <p:cNvPr id="4" name="">
            <a:extLst xmlns:a="http://schemas.openxmlformats.org/drawingml/2006/main">
              <a:ext uri="{FF2B5EF4-FFF2-40B4-BE49-F238E27FC236}">
                <a16:creationId xmlns:a16="http://schemas.microsoft.com/office/drawing/2014/main" id="{5657F00C-B508-44F2-9FAA-FA3D2BF3A89F}"/>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932375F-F388-488D-8CAC-2D1F520E52B2}"/>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Record and equipment ID</a:t>
            </a:r>
          </a:p>
        </p:txBody>
      </p:sp>
      <p:sp>
        <p:nvSpPr>
          <p:cNvPr id="6" name="">
            <a:extLst xmlns:a="http://schemas.openxmlformats.org/drawingml/2006/main">
              <a:ext uri="{FF2B5EF4-FFF2-40B4-BE49-F238E27FC236}">
                <a16:creationId xmlns:a16="http://schemas.microsoft.com/office/drawing/2014/main" id="{C1225B44-B218-4973-A22B-104B49FADA45}"/>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record ID identifies an observation. An equipment ID identifies the source and may repeat legitimately. Remove repeated observations only under the stated rule.</a:t>
            </a:r>
          </a:p>
        </p:txBody>
      </p:sp>
      <p:sp>
        <p:nvSpPr>
          <p:cNvPr id="7" name="">
            <a:extLst xmlns:a="http://schemas.openxmlformats.org/drawingml/2006/main">
              <a:ext uri="{FF2B5EF4-FFF2-40B4-BE49-F238E27FC236}">
                <a16:creationId xmlns:a16="http://schemas.microsoft.com/office/drawing/2014/main" id="{ADE2F66B-2795-4BAA-BD5E-71D906BD0BD1}"/>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39CECBB-877F-48AB-BFAB-EA64C9BFC0A2}"/>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Median and imputation</a:t>
            </a:r>
          </a:p>
        </p:txBody>
      </p:sp>
      <p:sp>
        <p:nvSpPr>
          <p:cNvPr id="9" name="">
            <a:extLst xmlns:a="http://schemas.openxmlformats.org/drawingml/2006/main">
              <a:ext uri="{FF2B5EF4-FFF2-40B4-BE49-F238E27FC236}">
                <a16:creationId xmlns:a16="http://schemas.microsoft.com/office/drawing/2014/main" id="{60068B1F-03BE-4B63-BB75-742AAEB86083}"/>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The median is the middle sorted value, or the mean of the two middle values. Imputation fills a missing value using an explicit rule and introduces uncertainty.</a:t>
            </a:r>
          </a:p>
        </p:txBody>
      </p:sp>
      <p:sp>
        <p:nvSpPr>
          <p:cNvPr id="10" name="">
            <a:extLst xmlns:a="http://schemas.openxmlformats.org/drawingml/2006/main">
              <a:ext uri="{FF2B5EF4-FFF2-40B4-BE49-F238E27FC236}">
                <a16:creationId xmlns:a16="http://schemas.microsoft.com/office/drawing/2014/main" id="{E8411862-6094-46B4-A09B-8A62EA7F3DB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6</a:t>
            </a:r>
          </a:p>
        </p:txBody>
      </p:sp>
    </p:spTree>
    <p:extLst>
      <p:ext uri="{BB962C8B-B14F-4D97-AF65-F5344CB8AC3E}">
        <p14:creationId xmlns:p14="http://schemas.microsoft.com/office/powerpoint/2010/main" val="250786363"/>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B24F5FD-23E5-4C0A-ACD4-0E2AD01E4CD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37A8B4E-9403-4D0A-808B-4D9FA01CABE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2196B11-EDF0-4E81-91E4-D6885D532CC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 unusual value needs a reason</a:t>
            </a:r>
          </a:p>
        </p:txBody>
      </p:sp>
      <p:sp>
        <p:nvSpPr>
          <p:cNvPr id="4" name="">
            <a:extLst xmlns:a="http://schemas.openxmlformats.org/drawingml/2006/main">
              <a:ext uri="{FF2B5EF4-FFF2-40B4-BE49-F238E27FC236}">
                <a16:creationId xmlns:a16="http://schemas.microsoft.com/office/drawing/2014/main" id="{464E83B2-F3DA-40DD-AF1C-636EBCDAC5C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27BAB6E-350D-4F96-A4C5-96B3B41C7E49}"/>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missing reading has no recorded value.</a:t>
            </a:r>
          </a:p>
        </p:txBody>
      </p:sp>
      <p:sp>
        <p:nvSpPr>
          <p:cNvPr id="6" name="">
            <a:extLst xmlns:a="http://schemas.openxmlformats.org/drawingml/2006/main">
              <a:ext uri="{FF2B5EF4-FFF2-40B4-BE49-F238E27FC236}">
                <a16:creationId xmlns:a16="http://schemas.microsoft.com/office/drawing/2014/main" id="{91D8C3BF-F731-4444-BE78-43E6C3F3D02C}"/>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676385E-8158-4F5E-BE7E-674696418CEB}"/>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Zero is a recorded value and may be physically meaningful.</a:t>
            </a:r>
          </a:p>
        </p:txBody>
      </p:sp>
      <p:sp>
        <p:nvSpPr>
          <p:cNvPr id="8" name="">
            <a:extLst xmlns:a="http://schemas.openxmlformats.org/drawingml/2006/main">
              <a:ext uri="{FF2B5EF4-FFF2-40B4-BE49-F238E27FC236}">
                <a16:creationId xmlns:a16="http://schemas.microsoft.com/office/drawing/2014/main" id="{9B66C63D-96D5-45C3-B0F9-43680F231EAF}"/>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A0A2267-B782-446A-A7F4-6148DB48E96E}"/>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large or negative value needs instrument and unit context.</a:t>
            </a:r>
          </a:p>
        </p:txBody>
      </p:sp>
      <p:sp>
        <p:nvSpPr>
          <p:cNvPr id="10" name="">
            <a:extLst xmlns:a="http://schemas.openxmlformats.org/drawingml/2006/main">
              <a:ext uri="{FF2B5EF4-FFF2-40B4-BE49-F238E27FC236}">
                <a16:creationId xmlns:a16="http://schemas.microsoft.com/office/drawing/2014/main" id="{9391A213-17A3-4C03-9162-F6049904A34C}"/>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09BE18A-756D-4460-8215-B06CEF2E290E}"/>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Preserve the raw data and record every cleaning decision.</a:t>
            </a:r>
          </a:p>
        </p:txBody>
      </p:sp>
      <p:sp>
        <p:nvSpPr>
          <p:cNvPr id="12" name="">
            <a:extLst xmlns:a="http://schemas.openxmlformats.org/drawingml/2006/main">
              <a:ext uri="{FF2B5EF4-FFF2-40B4-BE49-F238E27FC236}">
                <a16:creationId xmlns:a16="http://schemas.microsoft.com/office/drawing/2014/main" id="{92D0F4AA-300D-43B5-B530-49EBF1BB7EA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7</a:t>
            </a:r>
          </a:p>
        </p:txBody>
      </p:sp>
    </p:spTree>
    <p:extLst>
      <p:ext uri="{BB962C8B-B14F-4D97-AF65-F5344CB8AC3E}">
        <p14:creationId xmlns:p14="http://schemas.microsoft.com/office/powerpoint/2010/main" val="446506962"/>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B28FB7D-CD4B-46B0-BE94-A31DB1394C6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6901E56-59BE-4B21-B810-0FEDAD44210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B77AE2DD-C3CA-4356-9FDB-EEE98B1F702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Mean, median and unusual readings</a:t>
            </a:r>
          </a:p>
        </p:txBody>
      </p:sp>
      <p:graphicFrame>
        <p:nvGraphicFramePr>
          <p:cNvPr id="10" name=""/>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Readings</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a:t>
                      </a:r>
                    </a:p>
                  </a:txBody>
                  <a:tcPr marL="91440" marR="91440" marT="45720" marB="45720">
                    <a:solidFill>
                      <a:srgbClr val="2E7D6F"/>
                    </a:solidFill>
                  </a:tcPr>
                </a:tc>
                <a:tc>
                  <a:txBody>
                    <a:bodyPr/>
                    <a:lstStyle/>
                    <a:p>
                      <a:r>
                        <a:rPr sz="2025" b="1">
                          <a:solidFill>
                            <a:srgbClr val="FFFFFF"/>
                          </a:solidFill>
                          <a:latin typeface="Calibri"/>
                          <a:ea typeface="Calibri"/>
                          <a:cs typeface="Calibri"/>
                        </a:rPr>
                        <a:t>Median</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2, 4, 6</a:t>
                      </a:r>
                    </a:p>
                  </a:txBody>
                  <a:tcPr marL="91440" marR="91440" marT="45720" marB="45720">
                    <a:solidFill>
                      <a:srgbClr val="EEF3F6"/>
                    </a:solidFill>
                  </a:tcPr>
                </a:tc>
                <a:tc>
                  <a:txBody>
                    <a:bodyPr/>
                    <a:lstStyle/>
                    <a:p>
                      <a:r>
                        <a:rPr sz="2025" b="0">
                          <a:solidFill>
                            <a:srgbClr val="1C3144"/>
                          </a:solidFill>
                          <a:latin typeface="Calibri"/>
                          <a:ea typeface="Calibri"/>
                          <a:cs typeface="Calibri"/>
                        </a:rPr>
                        <a:t>4</a:t>
                      </a:r>
                    </a:p>
                  </a:txBody>
                  <a:tcPr marL="91440" marR="91440" marT="45720" marB="45720">
                    <a:solidFill>
                      <a:srgbClr val="EEF3F6"/>
                    </a:solidFill>
                  </a:tcPr>
                </a:tc>
                <a:tc>
                  <a:txBody>
                    <a:bodyPr/>
                    <a:lstStyle/>
                    <a:p>
                      <a:r>
                        <a:rPr sz="2025" b="0">
                          <a:solidFill>
                            <a:srgbClr val="1C3144"/>
                          </a:solidFill>
                          <a:latin typeface="Calibri"/>
                          <a:ea typeface="Calibri"/>
                          <a:cs typeface="Calibri"/>
                        </a:rPr>
                        <a:t>4</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2, 4, 30</a:t>
                      </a:r>
                    </a:p>
                  </a:txBody>
                  <a:tcPr marL="91440" marR="91440" marT="45720" marB="45720">
                    <a:solidFill>
                      <a:srgbClr val="FFFFFF"/>
                    </a:solidFill>
                  </a:tcPr>
                </a:tc>
                <a:tc>
                  <a:txBody>
                    <a:bodyPr/>
                    <a:lstStyle/>
                    <a:p>
                      <a:r>
                        <a:rPr sz="2025" b="0">
                          <a:solidFill>
                            <a:srgbClr val="1C3144"/>
                          </a:solidFill>
                          <a:latin typeface="Calibri"/>
                          <a:ea typeface="Calibri"/>
                          <a:cs typeface="Calibri"/>
                        </a:rPr>
                        <a:t>12</a:t>
                      </a:r>
                    </a:p>
                  </a:txBody>
                  <a:tcPr marL="91440" marR="91440" marT="45720" marB="45720">
                    <a:solidFill>
                      <a:srgbClr val="FFFFFF"/>
                    </a:solidFill>
                  </a:tcPr>
                </a:tc>
                <a:tc>
                  <a:txBody>
                    <a:bodyPr/>
                    <a:lstStyle/>
                    <a:p>
                      <a:r>
                        <a:rPr sz="2025" b="0">
                          <a:solidFill>
                            <a:srgbClr val="1C3144"/>
                          </a:solidFill>
                          <a:latin typeface="Calibri"/>
                          <a:ea typeface="Calibri"/>
                          <a:cs typeface="Calibri"/>
                        </a:rPr>
                        <a:t>4</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098BB68B-A12F-4C1C-BC4C-9B274291873E}"/>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The mean uses every value. The median is the middle sorted value. A large value needs context.</a:t>
            </a:r>
          </a:p>
        </p:txBody>
      </p:sp>
      <p:sp>
        <p:nvSpPr>
          <p:cNvPr id="6" name="">
            <a:extLst xmlns:a="http://schemas.openxmlformats.org/drawingml/2006/main">
              <a:ext uri="{FF2B5EF4-FFF2-40B4-BE49-F238E27FC236}">
                <a16:creationId xmlns:a16="http://schemas.microsoft.com/office/drawing/2014/main" id="{B1B828F0-1A35-48E2-B13C-6D0E6CAF358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8</a:t>
            </a:r>
          </a:p>
        </p:txBody>
      </p:sp>
    </p:spTree>
    <p:extLst>
      <p:ext uri="{BB962C8B-B14F-4D97-AF65-F5344CB8AC3E}">
        <p14:creationId xmlns:p14="http://schemas.microsoft.com/office/powerpoint/2010/main" val="6098359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AF122ED-6D8C-4179-8B6C-C4EDD40EB23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166D20B-00A9-4E94-B7FF-C03C67D8356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DD6560D-9C5C-422F-9830-95F86692705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Filling a gap adds an estimate</a:t>
            </a:r>
          </a:p>
        </p:txBody>
      </p:sp>
      <p:sp>
        <p:nvSpPr>
          <p:cNvPr id="4" name="">
            <a:extLst xmlns:a="http://schemas.openxmlformats.org/drawingml/2006/main">
              <a:ext uri="{FF2B5EF4-FFF2-40B4-BE49-F238E27FC236}">
                <a16:creationId xmlns:a16="http://schemas.microsoft.com/office/drawing/2014/main" id="{D5252B85-2BA9-4A0F-BEE9-6BC1853EF03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7B87706-BA92-4B17-8DF0-169A7AF75112}"/>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valid readings, sorted, are 20, 22, 24 and 80.</a:t>
            </a:r>
          </a:p>
        </p:txBody>
      </p:sp>
      <p:sp>
        <p:nvSpPr>
          <p:cNvPr id="6" name="">
            <a:extLst xmlns:a="http://schemas.openxmlformats.org/drawingml/2006/main">
              <a:ext uri="{FF2B5EF4-FFF2-40B4-BE49-F238E27FC236}">
                <a16:creationId xmlns:a16="http://schemas.microsoft.com/office/drawing/2014/main" id="{0FFA65E7-514E-4D7E-9B9C-C566D4C77455}"/>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B825F44-48F9-4639-B433-2051711B3820}"/>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two middle values are 22 and 24. Their mean is 23.</a:t>
            </a:r>
          </a:p>
        </p:txBody>
      </p:sp>
      <p:sp>
        <p:nvSpPr>
          <p:cNvPr id="8" name="">
            <a:extLst xmlns:a="http://schemas.openxmlformats.org/drawingml/2006/main">
              <a:ext uri="{FF2B5EF4-FFF2-40B4-BE49-F238E27FC236}">
                <a16:creationId xmlns:a16="http://schemas.microsoft.com/office/drawing/2014/main" id="{FD0861A2-6D2D-4DB0-8ACE-4F385DC8020D}"/>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AFB3AD0-A3AA-4F0A-A723-2962B7530614}"/>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Using 23 for a blank is a declared cleaning rule. It does not recover the lost measurement.</a:t>
            </a:r>
          </a:p>
        </p:txBody>
      </p:sp>
      <p:sp>
        <p:nvSpPr>
          <p:cNvPr id="10" name="">
            <a:extLst xmlns:a="http://schemas.openxmlformats.org/drawingml/2006/main">
              <a:ext uri="{FF2B5EF4-FFF2-40B4-BE49-F238E27FC236}">
                <a16:creationId xmlns:a16="http://schemas.microsoft.com/office/drawing/2014/main" id="{3B1989DD-B01B-4958-8E34-3EAE64FB565F}"/>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40B73C3-E6D8-4095-89A8-2BC558E7C071}"/>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Python, value is None tests for a missing marker. is not None tests that it is not that marker.</a:t>
            </a:r>
          </a:p>
        </p:txBody>
      </p:sp>
      <p:sp>
        <p:nvSpPr>
          <p:cNvPr id="12" name="">
            <a:extLst xmlns:a="http://schemas.openxmlformats.org/drawingml/2006/main">
              <a:ext uri="{FF2B5EF4-FFF2-40B4-BE49-F238E27FC236}">
                <a16:creationId xmlns:a16="http://schemas.microsoft.com/office/drawing/2014/main" id="{E84A5252-2791-432B-9303-C8EF3D2A48D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9</a:t>
            </a:r>
          </a:p>
        </p:txBody>
      </p:sp>
    </p:spTree>
    <p:extLst>
      <p:ext uri="{BB962C8B-B14F-4D97-AF65-F5344CB8AC3E}">
        <p14:creationId xmlns:p14="http://schemas.microsoft.com/office/powerpoint/2010/main" val="1052588110"/>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C9F33B8F-D31E-4242-9F46-5A27D9AFA82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6588181-2272-41AE-8D5E-ED131A51CC3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AE54459-D4DA-4430-AE2E-2C014B4BDF4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Worked example (1/2)</a:t>
            </a:r>
          </a:p>
        </p:txBody>
      </p:sp>
      <p:sp>
        <p:nvSpPr>
          <p:cNvPr id="4" name="">
            <a:extLst xmlns:a="http://schemas.openxmlformats.org/drawingml/2006/main">
              <a:ext uri="{FF2B5EF4-FFF2-40B4-BE49-F238E27FC236}">
                <a16:creationId xmlns:a16="http://schemas.microsoft.com/office/drawing/2014/main" id="{600BD3B5-49AC-437C-9ECB-29A59A32CAD2}"/>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2A274BA-7AC7-4BBB-AD16-31F31F8960D9}"/>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from</a:t>
            </a:r>
            <a:r>
              <a:rPr sz="2175" b="0">
                <a:solidFill>
                  <a:srgbClr val="F4F7FA"/>
                </a:solidFill>
                <a:latin typeface="Courier New"/>
                <a:ea typeface="Courier New"/>
                <a:cs typeface="Courier New"/>
              </a:rPr>
              <a:t> statistics </a:t>
            </a: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median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raw = [20, </a:t>
            </a:r>
            <a:r>
              <a:rPr sz="2175" b="0">
                <a:solidFill>
                  <a:srgbClr val="FFB080"/>
                </a:solidFill>
                <a:latin typeface="Courier New"/>
                <a:ea typeface="Courier New"/>
                <a:cs typeface="Courier New"/>
              </a:rPr>
              <a:t>None</a:t>
            </a:r>
            <a:r>
              <a:rPr sz="2175" b="0">
                <a:solidFill>
                  <a:srgbClr val="F4F7FA"/>
                </a:solidFill>
                <a:latin typeface="Courier New"/>
                <a:ea typeface="Courier New"/>
                <a:cs typeface="Courier New"/>
              </a:rPr>
              <a:t>, 22, 24, 80]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known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value in raw:</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value is not None: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known.append(value)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fill = median(known)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cleaned = []</a:t>
            </a:r>
          </a:p>
        </p:txBody>
      </p:sp>
      <p:sp>
        <p:nvSpPr>
          <p:cNvPr id="6" name="">
            <a:extLst xmlns:a="http://schemas.openxmlformats.org/drawingml/2006/main">
              <a:ext uri="{FF2B5EF4-FFF2-40B4-BE49-F238E27FC236}">
                <a16:creationId xmlns:a16="http://schemas.microsoft.com/office/drawing/2014/main" id="{688F1975-DF5F-44F6-A61B-A20C23DA3FB8}"/>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E1370C28-4F3C-4239-818B-7DF6BDD719D9}"/>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import loads a library. from selects a tool from it.</a:t>
            </a:r>
          </a:p>
        </p:txBody>
      </p:sp>
      <p:sp>
        <p:nvSpPr>
          <p:cNvPr id="8" name="">
            <a:extLst xmlns:a="http://schemas.openxmlformats.org/drawingml/2006/main">
              <a:ext uri="{FF2B5EF4-FFF2-40B4-BE49-F238E27FC236}">
                <a16:creationId xmlns:a16="http://schemas.microsoft.com/office/drawing/2014/main" id="{352B6A6C-502E-4835-88EE-002B8A5FC2AA}"/>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9" name="">
            <a:extLst xmlns:a="http://schemas.openxmlformats.org/drawingml/2006/main">
              <a:ext uri="{FF2B5EF4-FFF2-40B4-BE49-F238E27FC236}">
                <a16:creationId xmlns:a16="http://schemas.microsoft.com/office/drawing/2014/main" id="{8B988EDC-B6BF-4C60-95DE-21D9F7D5EEBB}"/>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10" name="">
            <a:extLst xmlns:a="http://schemas.openxmlformats.org/drawingml/2006/main">
              <a:ext uri="{FF2B5EF4-FFF2-40B4-BE49-F238E27FC236}">
                <a16:creationId xmlns:a16="http://schemas.microsoft.com/office/drawing/2014/main" id="{C587CE87-D119-472D-8D3B-5BA7ECA7410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11" name="">
            <a:extLst xmlns:a="http://schemas.openxmlformats.org/drawingml/2006/main">
              <a:ext uri="{FF2B5EF4-FFF2-40B4-BE49-F238E27FC236}">
                <a16:creationId xmlns:a16="http://schemas.microsoft.com/office/drawing/2014/main" id="{CC0EF0A3-2962-4566-B0BE-4A38EBD630B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10</a:t>
            </a:r>
          </a:p>
        </p:txBody>
      </p:sp>
    </p:spTree>
    <p:extLst>
      <p:ext uri="{BB962C8B-B14F-4D97-AF65-F5344CB8AC3E}">
        <p14:creationId xmlns:p14="http://schemas.microsoft.com/office/powerpoint/2010/main" val="1002576909"/>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71644BEA-4A87-4613-B816-E96C3FFA015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9F07DF0-243C-4C4C-A515-44681C470A2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91A7FF5-F885-496A-8DEA-560D58E1708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Worked example (2/2)</a:t>
            </a:r>
          </a:p>
        </p:txBody>
      </p:sp>
      <p:sp>
        <p:nvSpPr>
          <p:cNvPr id="4" name="">
            <a:extLst xmlns:a="http://schemas.openxmlformats.org/drawingml/2006/main">
              <a:ext uri="{FF2B5EF4-FFF2-40B4-BE49-F238E27FC236}">
                <a16:creationId xmlns:a16="http://schemas.microsoft.com/office/drawing/2014/main" id="{3F08E497-9602-4B67-A7D3-6C4C8BAED7EB}"/>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87FD4F2-A59B-4F9D-836C-11AB2BE5E251}"/>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value in raw:</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value is </a:t>
            </a:r>
            <a:r>
              <a:rPr sz="2175" b="0">
                <a:solidFill>
                  <a:srgbClr val="FFB080"/>
                </a:solidFill>
                <a:latin typeface="Courier New"/>
                <a:ea typeface="Courier New"/>
                <a:cs typeface="Courier New"/>
              </a:rPr>
              <a:t>None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cleaned.append(fill)</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cleaned.append(value)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print(fill)</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print(raw)</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print(cleaned)</a:t>
            </a:r>
          </a:p>
        </p:txBody>
      </p:sp>
      <p:sp>
        <p:nvSpPr>
          <p:cNvPr id="6" name="">
            <a:extLst xmlns:a="http://schemas.openxmlformats.org/drawingml/2006/main">
              <a:ext uri="{FF2B5EF4-FFF2-40B4-BE49-F238E27FC236}">
                <a16:creationId xmlns:a16="http://schemas.microsoft.com/office/drawing/2014/main" id="{57911256-4F25-4F2F-B722-06870295D69D}"/>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B444E06E-9AEB-4ADA-BEAC-E370AD94FA3E}"/>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870B3268-12AC-4500-814A-22D2CB752286}"/>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18C55FF9-B46B-47E3-BE20-1C02D2DD4015}"/>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F2786ABB-C9E0-41CF-8445-888ADCBC165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11" name="">
            <a:extLst xmlns:a="http://schemas.openxmlformats.org/drawingml/2006/main">
              <a:ext uri="{FF2B5EF4-FFF2-40B4-BE49-F238E27FC236}">
                <a16:creationId xmlns:a16="http://schemas.microsoft.com/office/drawing/2014/main" id="{E449C69B-4199-433B-868D-BB66DFC8BD0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11</a:t>
            </a:r>
          </a:p>
        </p:txBody>
      </p:sp>
    </p:spTree>
    <p:extLst>
      <p:ext uri="{BB962C8B-B14F-4D97-AF65-F5344CB8AC3E}">
        <p14:creationId xmlns:p14="http://schemas.microsoft.com/office/powerpoint/2010/main" val="669552708"/>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59FC728-CBEC-4A37-BB49-52098B90B25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C662109-D6FF-4E37-B618-154BB81361C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8C03ABC5-A8B5-445A-88B5-45A6B34A972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Expected output</a:t>
            </a:r>
          </a:p>
        </p:txBody>
      </p:sp>
      <p:sp>
        <p:nvSpPr>
          <p:cNvPr id="4" name="">
            <a:extLst xmlns:a="http://schemas.openxmlformats.org/drawingml/2006/main">
              <a:ext uri="{FF2B5EF4-FFF2-40B4-BE49-F238E27FC236}">
                <a16:creationId xmlns:a16="http://schemas.microsoft.com/office/drawing/2014/main" id="{AF059C87-4259-412C-8811-C84C3F6D65F9}"/>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DC22EB3-9738-469F-81F2-5DEBC3B62124}"/>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23.0</a:t>
            </a:r>
          </a:p>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[20, None, 22, 24, 80]</a:t>
            </a:r>
          </a:p>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[20, 23.0, 22, 24, 80]</a:t>
            </a:r>
          </a:p>
        </p:txBody>
      </p:sp>
      <p:sp>
        <p:nvSpPr>
          <p:cNvPr id="6" name="">
            <a:extLst xmlns:a="http://schemas.openxmlformats.org/drawingml/2006/main">
              <a:ext uri="{FF2B5EF4-FFF2-40B4-BE49-F238E27FC236}">
                <a16:creationId xmlns:a16="http://schemas.microsoft.com/office/drawing/2014/main" id="{245E094D-DA82-4155-844E-1D00C70BD35B}"/>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6EEF1F61-8273-40FB-89B0-AD0CE9C3E95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12</a:t>
            </a:r>
          </a:p>
        </p:txBody>
      </p:sp>
    </p:spTree>
    <p:extLst>
      <p:ext uri="{BB962C8B-B14F-4D97-AF65-F5344CB8AC3E}">
        <p14:creationId xmlns:p14="http://schemas.microsoft.com/office/powerpoint/2010/main" val="441999372"/>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9159AAA-F487-47A9-88AF-D04A972D70C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8AF0013-2504-4320-88A2-0744AD1522C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BA901CBF-613F-43FA-B606-B330CA35807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Copy a record and remember an ID</a:t>
            </a:r>
          </a:p>
        </p:txBody>
      </p:sp>
      <p:sp>
        <p:nvSpPr>
          <p:cNvPr id="4" name="">
            <a:extLst xmlns:a="http://schemas.openxmlformats.org/drawingml/2006/main">
              <a:ext uri="{FF2B5EF4-FFF2-40B4-BE49-F238E27FC236}">
                <a16:creationId xmlns:a16="http://schemas.microsoft.com/office/drawing/2014/main" id="{6D75B296-9912-42E1-9E5C-0F57CCFA76E5}"/>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EAC1B79-2095-4366-9596-F4F23372C695}"/>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dict(row)</a:t>
            </a:r>
          </a:p>
        </p:txBody>
      </p:sp>
      <p:sp>
        <p:nvSpPr>
          <p:cNvPr id="6" name="">
            <a:extLst xmlns:a="http://schemas.openxmlformats.org/drawingml/2006/main">
              <a:ext uri="{FF2B5EF4-FFF2-40B4-BE49-F238E27FC236}">
                <a16:creationId xmlns:a16="http://schemas.microsoft.com/office/drawing/2014/main" id="{30657894-B506-465C-994F-303042DDE84F}"/>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For our flat records, dict(row) makes a separate dictionary with the same fields. Changing a number in the copy leaves the original record unchanged.</a:t>
            </a:r>
          </a:p>
        </p:txBody>
      </p:sp>
      <p:sp>
        <p:nvSpPr>
          <p:cNvPr id="7" name="">
            <a:extLst xmlns:a="http://schemas.openxmlformats.org/drawingml/2006/main">
              <a:ext uri="{FF2B5EF4-FFF2-40B4-BE49-F238E27FC236}">
                <a16:creationId xmlns:a16="http://schemas.microsoft.com/office/drawing/2014/main" id="{0970BAB6-EA3E-43FC-9C8C-D8DC1091F004}"/>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226FA975-204B-4125-A52A-D25755250F34}"/>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set, in, add and continue</a:t>
            </a:r>
          </a:p>
        </p:txBody>
      </p:sp>
      <p:sp>
        <p:nvSpPr>
          <p:cNvPr id="9" name="">
            <a:extLst xmlns:a="http://schemas.openxmlformats.org/drawingml/2006/main">
              <a:ext uri="{FF2B5EF4-FFF2-40B4-BE49-F238E27FC236}">
                <a16:creationId xmlns:a16="http://schemas.microsoft.com/office/drawing/2014/main" id="{4A8FE954-528E-492A-BBCA-516888566C73}"/>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set() starts an empty collection of unique items. in checks membership; add remembers an item. continue skips the rest of the current loop pass.</a:t>
            </a:r>
          </a:p>
        </p:txBody>
      </p:sp>
      <p:sp>
        <p:nvSpPr>
          <p:cNvPr id="10" name="">
            <a:extLst xmlns:a="http://schemas.openxmlformats.org/drawingml/2006/main">
              <a:ext uri="{FF2B5EF4-FFF2-40B4-BE49-F238E27FC236}">
                <a16:creationId xmlns:a16="http://schemas.microsoft.com/office/drawing/2014/main" id="{3F798BE4-0441-4759-9C02-3B0CB555C26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13</a:t>
            </a:r>
          </a:p>
        </p:txBody>
      </p:sp>
    </p:spTree>
    <p:extLst>
      <p:ext uri="{BB962C8B-B14F-4D97-AF65-F5344CB8AC3E}">
        <p14:creationId xmlns:p14="http://schemas.microsoft.com/office/powerpoint/2010/main" val="1686639537"/>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A514D3B-9D26-4DA7-82EF-78F1E85E8CEC}"/>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20204A0-D842-4D1C-B82D-C21A4CF6804B}"/>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working copy preserves the original</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d736e600cf104c76"/>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A746D927-126A-4E9F-9207-F8AD2523FC6A}"/>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8160336-A7FD-4BCF-AA4D-4537F15DEB0F}"/>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Point to the estimated value and the removed repeat.</a:t>
            </a:r>
          </a:p>
        </p:txBody>
      </p:sp>
      <p:sp>
        <p:nvSpPr>
          <p:cNvPr id="6" name="">
            <a:extLst xmlns:a="http://schemas.openxmlformats.org/drawingml/2006/main">
              <a:ext uri="{FF2B5EF4-FFF2-40B4-BE49-F238E27FC236}">
                <a16:creationId xmlns:a16="http://schemas.microsoft.com/office/drawing/2014/main" id="{9BA0E206-D983-4468-A67B-3DD82E4A71C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14</a:t>
            </a:r>
          </a:p>
        </p:txBody>
      </p:sp>
    </p:spTree>
    <p:extLst>
      <p:ext uri="{BB962C8B-B14F-4D97-AF65-F5344CB8AC3E}">
        <p14:creationId xmlns:p14="http://schemas.microsoft.com/office/powerpoint/2010/main" val="1862050335"/>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B8C44911-753D-46C8-851D-2587BEFA5E9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A5C0715-B652-4CC2-A0CA-BC065B8E102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D51F7D5-042A-4968-908C-6C6A5C55CB7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Copies and duplicate checks</a:t>
            </a:r>
          </a:p>
        </p:txBody>
      </p:sp>
      <p:sp>
        <p:nvSpPr>
          <p:cNvPr id="4" name="">
            <a:extLst xmlns:a="http://schemas.openxmlformats.org/drawingml/2006/main">
              <a:ext uri="{FF2B5EF4-FFF2-40B4-BE49-F238E27FC236}">
                <a16:creationId xmlns:a16="http://schemas.microsoft.com/office/drawing/2014/main" id="{1C97EE38-78BE-47FA-B0A1-7F004714830A}"/>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F73FC88-BD33-42B2-855A-78C950992D00}"/>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row = {"id": "A", "reading":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copy = dict(row)</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copy["reading"] = 5</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seen = set()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seen.add(row["id"])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print(row["reading"])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print("A" in seen)</a:t>
            </a:r>
          </a:p>
        </p:txBody>
      </p:sp>
      <p:sp>
        <p:nvSpPr>
          <p:cNvPr id="6" name="">
            <a:extLst xmlns:a="http://schemas.openxmlformats.org/drawingml/2006/main">
              <a:ext uri="{FF2B5EF4-FFF2-40B4-BE49-F238E27FC236}">
                <a16:creationId xmlns:a16="http://schemas.microsoft.com/office/drawing/2014/main" id="{DEC2EC8F-C19F-4DBA-A8F9-DD7188BCA7DA}"/>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C8CC9C84-1667-4C26-B62E-69CD7D81A003}"/>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CCFE0222-1BAA-41FD-ADFE-1942CED65014}"/>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9" name="">
            <a:extLst xmlns:a="http://schemas.openxmlformats.org/drawingml/2006/main">
              <a:ext uri="{FF2B5EF4-FFF2-40B4-BE49-F238E27FC236}">
                <a16:creationId xmlns:a16="http://schemas.microsoft.com/office/drawing/2014/main" id="{122A12C0-A374-4360-AB28-0C802726B3E2}"/>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Braces hold dictionary key: value pairs here.</a:t>
            </a:r>
          </a:p>
        </p:txBody>
      </p:sp>
      <p:sp>
        <p:nvSpPr>
          <p:cNvPr id="10" name="">
            <a:extLst xmlns:a="http://schemas.openxmlformats.org/drawingml/2006/main">
              <a:ext uri="{FF2B5EF4-FFF2-40B4-BE49-F238E27FC236}">
                <a16:creationId xmlns:a16="http://schemas.microsoft.com/office/drawing/2014/main" id="{351761A4-3C49-4ECF-9EE9-6BCF816DEF9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dict(row) makes a shallow copy. A set keeps unique IDs.</a:t>
            </a:r>
          </a:p>
        </p:txBody>
      </p:sp>
      <p:sp>
        <p:nvSpPr>
          <p:cNvPr id="11" name="">
            <a:extLst xmlns:a="http://schemas.openxmlformats.org/drawingml/2006/main">
              <a:ext uri="{FF2B5EF4-FFF2-40B4-BE49-F238E27FC236}">
                <a16:creationId xmlns:a16="http://schemas.microsoft.com/office/drawing/2014/main" id="{5B0AD03A-EB77-4EF9-9B25-DC4CF44332A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15</a:t>
            </a:r>
          </a:p>
        </p:txBody>
      </p:sp>
    </p:spTree>
    <p:extLst>
      <p:ext uri="{BB962C8B-B14F-4D97-AF65-F5344CB8AC3E}">
        <p14:creationId xmlns:p14="http://schemas.microsoft.com/office/powerpoint/2010/main" val="1836359629"/>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3C1AD7E-CEE8-4A9E-9106-664A89CA1AE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07CA6D7-A8A7-4FC6-BCF6-95150B2465F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0D9A5B1-A987-4A51-B9CA-F880BD2FB4C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Copying records and recognising repeats</a:t>
            </a:r>
          </a:p>
        </p:txBody>
      </p:sp>
      <p:sp>
        <p:nvSpPr>
          <p:cNvPr id="4" name="">
            <a:extLst xmlns:a="http://schemas.openxmlformats.org/drawingml/2006/main">
              <a:ext uri="{FF2B5EF4-FFF2-40B4-BE49-F238E27FC236}">
                <a16:creationId xmlns:a16="http://schemas.microsoft.com/office/drawing/2014/main" id="{094B9E01-9D7D-4950-AB86-32FF8497C0CF}"/>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5D601BC-86EB-4263-A516-3F3584F65818}"/>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39C0F71-CEE9-4161-A9F9-137D7A930859}"/>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set() creates a collection of already-seen identifiers. in checks membership. continue skips the rest of that iteration. dict(row) copies a record so later edits do not change the original.</a:t>
            </a:r>
          </a:p>
        </p:txBody>
      </p:sp>
      <p:sp>
        <p:nvSpPr>
          <p:cNvPr id="7" name="">
            <a:extLst xmlns:a="http://schemas.openxmlformats.org/drawingml/2006/main">
              <a:ext uri="{FF2B5EF4-FFF2-40B4-BE49-F238E27FC236}">
                <a16:creationId xmlns:a16="http://schemas.microsoft.com/office/drawing/2014/main" id="{9CB42B62-0CB9-4CB2-8AB5-E8EFF043461D}"/>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Different record IDs from the same equipment remain legitimate observations.</a:t>
            </a:r>
          </a:p>
        </p:txBody>
      </p:sp>
      <p:sp>
        <p:nvSpPr>
          <p:cNvPr id="8" name="">
            <a:extLst xmlns:a="http://schemas.openxmlformats.org/drawingml/2006/main">
              <a:ext uri="{FF2B5EF4-FFF2-40B4-BE49-F238E27FC236}">
                <a16:creationId xmlns:a16="http://schemas.microsoft.com/office/drawing/2014/main" id="{4ABA9CDD-BBB8-4CCD-81E9-79481788DDD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16</a:t>
            </a:r>
          </a:p>
        </p:txBody>
      </p:sp>
    </p:spTree>
    <p:extLst>
      <p:ext uri="{BB962C8B-B14F-4D97-AF65-F5344CB8AC3E}">
        <p14:creationId xmlns:p14="http://schemas.microsoft.com/office/powerpoint/2010/main" val="229746204"/>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94B8A16-B328-4F13-B723-EA4152BC8CB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51C6ABF-1972-4C2E-8B34-F8961D36D70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831205E7-296C-48F5-BCDD-1A62EB95A87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Following a cleaning loop</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666750">
                <a:tc>
                  <a:txBody>
                    <a:bodyPr/>
                    <a:lstStyle/>
                    <a:p>
                      <a:r>
                        <a:rPr sz="2025" b="1">
                          <a:solidFill>
                            <a:srgbClr val="FFFFFF"/>
                          </a:solidFill>
                          <a:latin typeface="Calibri"/>
                          <a:ea typeface="Calibri"/>
                          <a:cs typeface="Calibri"/>
                        </a:rPr>
                        <a:t>Expression</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Meaning</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seen = set()</a:t>
                      </a:r>
                    </a:p>
                  </a:txBody>
                  <a:tcPr marL="91440" marR="91440" marT="45720" marB="45720">
                    <a:solidFill>
                      <a:srgbClr val="EEF3F6"/>
                    </a:solidFill>
                  </a:tcPr>
                </a:tc>
                <a:tc>
                  <a:txBody>
                    <a:bodyPr/>
                    <a:lstStyle/>
                    <a:p>
                      <a:r>
                        <a:rPr sz="2025" b="0">
                          <a:solidFill>
                            <a:srgbClr val="1C3144"/>
                          </a:solidFill>
                          <a:latin typeface="Calibri"/>
                          <a:ea typeface="Calibri"/>
                          <a:cs typeface="Calibri"/>
                        </a:rPr>
                        <a:t>Start an empty collection of IDs</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record_id in seen</a:t>
                      </a:r>
                    </a:p>
                  </a:txBody>
                  <a:tcPr marL="91440" marR="91440" marT="45720" marB="45720">
                    <a:solidFill>
                      <a:srgbClr val="FFFFFF"/>
                    </a:solidFill>
                  </a:tcPr>
                </a:tc>
                <a:tc>
                  <a:txBody>
                    <a:bodyPr/>
                    <a:lstStyle/>
                    <a:p>
                      <a:r>
                        <a:rPr sz="2025" b="0">
                          <a:solidFill>
                            <a:srgbClr val="1C3144"/>
                          </a:solidFill>
                          <a:latin typeface="Calibri"/>
                          <a:ea typeface="Calibri"/>
                          <a:cs typeface="Calibri"/>
                        </a:rPr>
                        <a:t>Has this ID already been recorded?</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continue</a:t>
                      </a:r>
                    </a:p>
                  </a:txBody>
                  <a:tcPr marL="91440" marR="91440" marT="45720" marB="45720">
                    <a:solidFill>
                      <a:srgbClr val="EEF3F6"/>
                    </a:solidFill>
                  </a:tcPr>
                </a:tc>
                <a:tc>
                  <a:txBody>
                    <a:bodyPr/>
                    <a:lstStyle/>
                    <a:p>
                      <a:r>
                        <a:rPr sz="2025" b="0">
                          <a:solidFill>
                            <a:srgbClr val="1C3144"/>
                          </a:solidFill>
                          <a:latin typeface="Calibri"/>
                          <a:ea typeface="Calibri"/>
                          <a:cs typeface="Calibri"/>
                        </a:rPr>
                        <a:t>Skip the remaining lines for this item</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value is None</a:t>
                      </a:r>
                    </a:p>
                  </a:txBody>
                  <a:tcPr marL="91440" marR="91440" marT="45720" marB="45720">
                    <a:solidFill>
                      <a:srgbClr val="FFFFFF"/>
                    </a:solidFill>
                  </a:tcPr>
                </a:tc>
                <a:tc>
                  <a:txBody>
                    <a:bodyPr/>
                    <a:lstStyle/>
                    <a:p>
                      <a:r>
                        <a:rPr sz="2025" b="0">
                          <a:solidFill>
                            <a:srgbClr val="1C3144"/>
                          </a:solidFill>
                          <a:latin typeface="Calibri"/>
                          <a:ea typeface="Calibri"/>
                          <a:cs typeface="Calibri"/>
                        </a:rPr>
                        <a:t>Check for Python’s no-value marker</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F16CB2D5-BEB6-494E-8193-219F042BCE41}"/>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An empty string "" and None are different values. Parse CSV fields according to the issued rule.</a:t>
            </a:r>
          </a:p>
        </p:txBody>
      </p:sp>
      <p:sp>
        <p:nvSpPr>
          <p:cNvPr id="6" name="">
            <a:extLst xmlns:a="http://schemas.openxmlformats.org/drawingml/2006/main">
              <a:ext uri="{FF2B5EF4-FFF2-40B4-BE49-F238E27FC236}">
                <a16:creationId xmlns:a16="http://schemas.microsoft.com/office/drawing/2014/main" id="{38BC221F-617A-49E6-8DAF-62EBB6965C3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17</a:t>
            </a:r>
          </a:p>
        </p:txBody>
      </p:sp>
    </p:spTree>
    <p:extLst>
      <p:ext uri="{BB962C8B-B14F-4D97-AF65-F5344CB8AC3E}">
        <p14:creationId xmlns:p14="http://schemas.microsoft.com/office/powerpoint/2010/main" val="65519814"/>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B6410CF-672B-4DF7-9FCB-89842FCFDE1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C4C1BDE-7352-4393-9873-52E7B8A6BCA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46B3988-7DFF-4E3D-A6DC-4BED732C337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Copying records and recognising repeats in Python (1/2)</a:t>
            </a:r>
          </a:p>
        </p:txBody>
      </p:sp>
      <p:sp>
        <p:nvSpPr>
          <p:cNvPr id="4" name="">
            <a:extLst xmlns:a="http://schemas.openxmlformats.org/drawingml/2006/main">
              <a:ext uri="{FF2B5EF4-FFF2-40B4-BE49-F238E27FC236}">
                <a16:creationId xmlns:a16="http://schemas.microsoft.com/office/drawing/2014/main" id="{A82E633C-1C45-495F-AB3A-370B5020C9FA}"/>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F957EA8-0D15-4099-A46E-98830F363CAF}"/>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raw_records = [{"id": 1, "equipment": "A", "value": 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{"id": 1, "equipment": "A", "value": 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{"id": 2, "equipment": "A", "value": 12}]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seen = set()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kept = []</a:t>
            </a:r>
          </a:p>
        </p:txBody>
      </p:sp>
      <p:sp>
        <p:nvSpPr>
          <p:cNvPr id="6" name="">
            <a:extLst xmlns:a="http://schemas.openxmlformats.org/drawingml/2006/main">
              <a:ext uri="{FF2B5EF4-FFF2-40B4-BE49-F238E27FC236}">
                <a16:creationId xmlns:a16="http://schemas.microsoft.com/office/drawing/2014/main" id="{A3C4282D-F081-4A39-BED3-2EED8FA18AFB}"/>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Square brackets create a list or select an item.</a:t>
            </a:r>
          </a:p>
        </p:txBody>
      </p:sp>
      <p:sp>
        <p:nvSpPr>
          <p:cNvPr id="7" name="">
            <a:extLst xmlns:a="http://schemas.openxmlformats.org/drawingml/2006/main">
              <a:ext uri="{FF2B5EF4-FFF2-40B4-BE49-F238E27FC236}">
                <a16:creationId xmlns:a16="http://schemas.microsoft.com/office/drawing/2014/main" id="{2280DB11-6471-447B-9BFD-A67C46A37AD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8" name="">
            <a:extLst xmlns:a="http://schemas.openxmlformats.org/drawingml/2006/main">
              <a:ext uri="{FF2B5EF4-FFF2-40B4-BE49-F238E27FC236}">
                <a16:creationId xmlns:a16="http://schemas.microsoft.com/office/drawing/2014/main" id="{2A77EDDB-6EC4-4B0F-8AEB-0E777496A5C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18</a:t>
            </a:r>
          </a:p>
        </p:txBody>
      </p:sp>
    </p:spTree>
    <p:extLst>
      <p:ext uri="{BB962C8B-B14F-4D97-AF65-F5344CB8AC3E}">
        <p14:creationId xmlns:p14="http://schemas.microsoft.com/office/powerpoint/2010/main" val="1768150733"/>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E9F44FC3-847D-4193-BC9C-4208CFD3E7E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2176AC0-8717-4D0B-92F1-31BC80710B7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3CD81F2-9568-4A1A-B3CE-F94164DC5E1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Copying records and recognising repeats in Python (2/2)</a:t>
            </a:r>
          </a:p>
        </p:txBody>
      </p:sp>
      <p:sp>
        <p:nvSpPr>
          <p:cNvPr id="4" name="">
            <a:extLst xmlns:a="http://schemas.openxmlformats.org/drawingml/2006/main">
              <a:ext uri="{FF2B5EF4-FFF2-40B4-BE49-F238E27FC236}">
                <a16:creationId xmlns:a16="http://schemas.microsoft.com/office/drawing/2014/main" id="{B9DD5D8D-FD28-4C44-927B-F463A3B4989E}"/>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F35B8E9-874F-458E-8DEB-6F00969053DD}"/>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row in raw_records: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row["id"] in seen: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continue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seen.add(row["id"])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kept.append(dict(row))</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print(len(raw_records), len(kept))</a:t>
            </a:r>
          </a:p>
        </p:txBody>
      </p:sp>
      <p:sp>
        <p:nvSpPr>
          <p:cNvPr id="6" name="">
            <a:extLst xmlns:a="http://schemas.openxmlformats.org/drawingml/2006/main">
              <a:ext uri="{FF2B5EF4-FFF2-40B4-BE49-F238E27FC236}">
                <a16:creationId xmlns:a16="http://schemas.microsoft.com/office/drawing/2014/main" id="{BDE4E1A1-BC22-4557-BBE5-C1220E7FB020}"/>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8CBF7B09-0AFF-47AA-96A0-206360FCF544}"/>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48AC38A9-9EA2-4B13-85ED-8E934A2912EA}"/>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2595C958-5101-4B0C-8CB9-23C2785663BB}"/>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228D7E33-5128-4BA9-8630-2455B65A327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11" name="">
            <a:extLst xmlns:a="http://schemas.openxmlformats.org/drawingml/2006/main">
              <a:ext uri="{FF2B5EF4-FFF2-40B4-BE49-F238E27FC236}">
                <a16:creationId xmlns:a16="http://schemas.microsoft.com/office/drawing/2014/main" id="{B38AD563-9831-4395-8F94-62FCEA6BB71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19</a:t>
            </a:r>
          </a:p>
        </p:txBody>
      </p:sp>
    </p:spTree>
    <p:extLst>
      <p:ext uri="{BB962C8B-B14F-4D97-AF65-F5344CB8AC3E}">
        <p14:creationId xmlns:p14="http://schemas.microsoft.com/office/powerpoint/2010/main" val="125842393"/>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47269E3-1E83-4747-B7F3-E4A2AF1A269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D94C38E-94F6-4826-93FA-10B4C884CD6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8E44D88-75A7-4F7B-A5A3-4FB31390BC2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Summaries returned as a dictionary</a:t>
            </a:r>
          </a:p>
        </p:txBody>
      </p:sp>
      <p:sp>
        <p:nvSpPr>
          <p:cNvPr id="4" name="">
            <a:extLst xmlns:a="http://schemas.openxmlformats.org/drawingml/2006/main">
              <a:ext uri="{FF2B5EF4-FFF2-40B4-BE49-F238E27FC236}">
                <a16:creationId xmlns:a16="http://schemas.microsoft.com/office/drawing/2014/main" id="{74EA0D92-1994-4862-B8F9-0CEF6A3ED64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92ECE2E-49D4-4586-8ABF-3DC3C19FF5E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example expects a nonempty list.</a:t>
            </a:r>
          </a:p>
        </p:txBody>
      </p:sp>
      <p:sp>
        <p:nvSpPr>
          <p:cNvPr id="6" name="">
            <a:extLst xmlns:a="http://schemas.openxmlformats.org/drawingml/2006/main">
              <a:ext uri="{FF2B5EF4-FFF2-40B4-BE49-F238E27FC236}">
                <a16:creationId xmlns:a16="http://schemas.microsoft.com/office/drawing/2014/main" id="{07D5E04F-76CB-40C9-9584-53335F44E057}"/>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B5D83A5-D0A6-45FB-857A-470EAA1971A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It calculates a count and mean, then returns a dictionary with named outputs.</a:t>
            </a:r>
          </a:p>
        </p:txBody>
      </p:sp>
      <p:sp>
        <p:nvSpPr>
          <p:cNvPr id="8" name="">
            <a:extLst xmlns:a="http://schemas.openxmlformats.org/drawingml/2006/main">
              <a:ext uri="{FF2B5EF4-FFF2-40B4-BE49-F238E27FC236}">
                <a16:creationId xmlns:a16="http://schemas.microsoft.com/office/drawing/2014/main" id="{9845CF8B-AD94-40D4-B6E6-DFBDF8BAA16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223B8BE-BB9C-4D80-997C-C2CAFB5842A0}"/>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exact keys specified by the issued task when adapting this pattern.</a:t>
            </a:r>
          </a:p>
        </p:txBody>
      </p:sp>
      <p:sp>
        <p:nvSpPr>
          <p:cNvPr id="10" name="">
            <a:extLst xmlns:a="http://schemas.openxmlformats.org/drawingml/2006/main">
              <a:ext uri="{FF2B5EF4-FFF2-40B4-BE49-F238E27FC236}">
                <a16:creationId xmlns:a16="http://schemas.microsoft.com/office/drawing/2014/main" id="{D57DAEF4-E1C0-4DF5-974F-7F057287DFA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20</a:t>
            </a:r>
          </a:p>
        </p:txBody>
      </p:sp>
    </p:spTree>
    <p:extLst>
      <p:ext uri="{BB962C8B-B14F-4D97-AF65-F5344CB8AC3E}">
        <p14:creationId xmlns:p14="http://schemas.microsoft.com/office/powerpoint/2010/main" val="918940335"/>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E1E255B1-BEC2-4238-8E03-3DB406C6CAE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5359566-242E-4D80-A645-63021D2E8C9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FC6A6EA-36E9-4508-8D1E-34C0EFFF04C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Summaries returned as a dictionary in Python</a:t>
            </a:r>
          </a:p>
        </p:txBody>
      </p:sp>
      <p:sp>
        <p:nvSpPr>
          <p:cNvPr id="4" name="">
            <a:extLst xmlns:a="http://schemas.openxmlformats.org/drawingml/2006/main">
              <a:ext uri="{FF2B5EF4-FFF2-40B4-BE49-F238E27FC236}">
                <a16:creationId xmlns:a16="http://schemas.microsoft.com/office/drawing/2014/main" id="{DA328312-2046-45BF-95AA-4886A4AFB1DB}"/>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DFBECEE-0609-448F-8891-75C417208187}"/>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39" b="0">
                <a:solidFill>
                  <a:srgbClr val="F4F7FA"/>
                </a:solidFill>
                <a:latin typeface="Courier New"/>
                <a:ea typeface="Courier New"/>
                <a:cs typeface="Courier New"/>
              </a:defRPr>
            </a:pPr>
            <a:r>
              <a:rPr sz="2039" b="0">
                <a:solidFill>
                  <a:srgbClr val="FFB080"/>
                </a:solidFill>
                <a:latin typeface="Courier New"/>
                <a:ea typeface="Courier New"/>
                <a:cs typeface="Courier New"/>
              </a:rPr>
              <a:t>def</a:t>
            </a:r>
            <a:r>
              <a:rPr sz="2039" b="0">
                <a:solidFill>
                  <a:srgbClr val="F4F7FA"/>
                </a:solidFill>
                <a:latin typeface="Courier New"/>
                <a:ea typeface="Courier New"/>
                <a:cs typeface="Courier New"/>
              </a:rPr>
              <a:t> describe(values):</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    count = len(values)</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    mean = sum(values) / count</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    </a:t>
            </a:r>
            <a:r>
              <a:rPr sz="2039" b="0">
                <a:solidFill>
                  <a:srgbClr val="FFB080"/>
                </a:solidFill>
                <a:latin typeface="Courier New"/>
                <a:ea typeface="Courier New"/>
                <a:cs typeface="Courier New"/>
              </a:rPr>
              <a:t>return</a:t>
            </a:r>
            <a:r>
              <a:rPr sz="2039" b="0">
                <a:solidFill>
                  <a:srgbClr val="F4F7FA"/>
                </a:solidFill>
                <a:latin typeface="Courier New"/>
                <a:ea typeface="Courier New"/>
                <a:cs typeface="Courier New"/>
              </a:rPr>
              <a:t> {"count": count, "mean": mean}</a:t>
            </a:r>
          </a:p>
          <a:p xmlns:a="http://schemas.openxmlformats.org/drawingml/2006/main">
            <a:r>
              <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print(describe([10, 12]))</a:t>
            </a:r>
          </a:p>
        </p:txBody>
      </p:sp>
      <p:sp>
        <p:nvSpPr>
          <p:cNvPr id="6" name="">
            <a:extLst xmlns:a="http://schemas.openxmlformats.org/drawingml/2006/main">
              <a:ext uri="{FF2B5EF4-FFF2-40B4-BE49-F238E27FC236}">
                <a16:creationId xmlns:a16="http://schemas.microsoft.com/office/drawing/2014/main" id="{43E7E54D-0EDB-4144-BB1A-AC5D9DBE3898}"/>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D85763CC-164B-4C6F-B008-C3B226271E9F}"/>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def names the function. Inputs go inside parentheses.</a:t>
            </a:r>
          </a:p>
        </p:txBody>
      </p:sp>
      <p:sp>
        <p:nvSpPr>
          <p:cNvPr id="8" name="">
            <a:extLst xmlns:a="http://schemas.openxmlformats.org/drawingml/2006/main">
              <a:ext uri="{FF2B5EF4-FFF2-40B4-BE49-F238E27FC236}">
                <a16:creationId xmlns:a16="http://schemas.microsoft.com/office/drawing/2014/main" id="{62B485EE-A5AB-40FE-ADAB-A974136FD69B}"/>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return sends the result back to the caller.</a:t>
            </a:r>
          </a:p>
        </p:txBody>
      </p:sp>
      <p:sp>
        <p:nvSpPr>
          <p:cNvPr id="9" name="">
            <a:extLst xmlns:a="http://schemas.openxmlformats.org/drawingml/2006/main">
              <a:ext uri="{FF2B5EF4-FFF2-40B4-BE49-F238E27FC236}">
                <a16:creationId xmlns:a16="http://schemas.microsoft.com/office/drawing/2014/main" id="{99E7FDC5-92E9-4125-BD03-940931269157}"/>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DA7134D8-8FF0-4CD4-9C64-F10DE5AD95C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11" name="">
            <a:extLst xmlns:a="http://schemas.openxmlformats.org/drawingml/2006/main">
              <a:ext uri="{FF2B5EF4-FFF2-40B4-BE49-F238E27FC236}">
                <a16:creationId xmlns:a16="http://schemas.microsoft.com/office/drawing/2014/main" id="{5EAACB11-32DC-4137-8E6C-EFE3CD861A6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21</a:t>
            </a:r>
          </a:p>
        </p:txBody>
      </p:sp>
    </p:spTree>
    <p:extLst>
      <p:ext uri="{BB962C8B-B14F-4D97-AF65-F5344CB8AC3E}">
        <p14:creationId xmlns:p14="http://schemas.microsoft.com/office/powerpoint/2010/main" val="1968579975"/>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D463AC0-36AB-4D3A-BF6D-EEB7DDF7305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8F774B5-0A94-49A9-AF64-D91B107B9A6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D576238-8823-4173-8CFB-709FE315E41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 blank field</a:t>
            </a:r>
          </a:p>
        </p:txBody>
      </p:sp>
      <p:sp>
        <p:nvSpPr>
          <p:cNvPr id="4" name="">
            <a:extLst xmlns:a="http://schemas.openxmlformats.org/drawingml/2006/main">
              <a:ext uri="{FF2B5EF4-FFF2-40B4-BE49-F238E27FC236}">
                <a16:creationId xmlns:a16="http://schemas.microsoft.com/office/drawing/2014/main" id="{A92667D3-7709-4AB0-98C0-C768AA6FEC4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88CD0B8-F506-4925-879B-AF50FD7B9AE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CSV values start as text.</a:t>
            </a:r>
          </a:p>
        </p:txBody>
      </p:sp>
      <p:sp>
        <p:nvSpPr>
          <p:cNvPr id="6" name="">
            <a:extLst xmlns:a="http://schemas.openxmlformats.org/drawingml/2006/main">
              <a:ext uri="{FF2B5EF4-FFF2-40B4-BE49-F238E27FC236}">
                <a16:creationId xmlns:a16="http://schemas.microsoft.com/office/drawing/2014/main" id="{41457F3B-A21F-40C7-9A10-2221262228F7}"/>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6C6A52E-8729-4092-8162-58B8331686CB}"/>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if/else below stores None for a blank.</a:t>
            </a:r>
          </a:p>
        </p:txBody>
      </p:sp>
      <p:sp>
        <p:nvSpPr>
          <p:cNvPr id="8" name="">
            <a:extLst xmlns:a="http://schemas.openxmlformats.org/drawingml/2006/main">
              <a:ext uri="{FF2B5EF4-FFF2-40B4-BE49-F238E27FC236}">
                <a16:creationId xmlns:a16="http://schemas.microsoft.com/office/drawing/2014/main" id="{576D3555-01C5-4E64-8ACD-770C6553D06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543A18D-99A4-468E-81B5-42030BF73CD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Otherwise float converts the text into a number.</a:t>
            </a:r>
          </a:p>
        </p:txBody>
      </p:sp>
      <p:sp>
        <p:nvSpPr>
          <p:cNvPr id="10" name="">
            <a:extLst xmlns:a="http://schemas.openxmlformats.org/drawingml/2006/main">
              <a:ext uri="{FF2B5EF4-FFF2-40B4-BE49-F238E27FC236}">
                <a16:creationId xmlns:a16="http://schemas.microsoft.com/office/drawing/2014/main" id="{A3C81963-C44B-4262-A9E0-9DD070AE1A1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22</a:t>
            </a:r>
          </a:p>
        </p:txBody>
      </p:sp>
    </p:spTree>
    <p:extLst>
      <p:ext uri="{BB962C8B-B14F-4D97-AF65-F5344CB8AC3E}">
        <p14:creationId xmlns:p14="http://schemas.microsoft.com/office/powerpoint/2010/main" val="953675254"/>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A7B64E53-9BA9-4B3A-B256-7F8613C9C25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389E297-5431-41F7-A7E3-39DE9A3E7B6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FC857AC-A9E0-4E2E-87C0-D517C7659CB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 blank field in Python</a:t>
            </a:r>
          </a:p>
        </p:txBody>
      </p:sp>
      <p:sp>
        <p:nvSpPr>
          <p:cNvPr id="4" name="">
            <a:extLst xmlns:a="http://schemas.openxmlformats.org/drawingml/2006/main">
              <a:ext uri="{FF2B5EF4-FFF2-40B4-BE49-F238E27FC236}">
                <a16:creationId xmlns:a16="http://schemas.microsoft.com/office/drawing/2014/main" id="{BEF6CDBB-9113-4D16-A772-E64DEA93E885}"/>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A51FF42-4C75-4729-8078-55906AA46AE7}"/>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text_values = ["20", "", "24"]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parsed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text in text_values: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text ==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parsed.append(</a:t>
            </a:r>
            <a:r>
              <a:rPr sz="2175" b="0">
                <a:solidFill>
                  <a:srgbClr val="FFB080"/>
                </a:solidFill>
                <a:latin typeface="Courier New"/>
                <a:ea typeface="Courier New"/>
                <a:cs typeface="Courier New"/>
              </a:rPr>
              <a:t>None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parsed.append(float(text))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print(parsed)</a:t>
            </a:r>
          </a:p>
        </p:txBody>
      </p:sp>
      <p:sp>
        <p:nvSpPr>
          <p:cNvPr id="6" name="">
            <a:extLst xmlns:a="http://schemas.openxmlformats.org/drawingml/2006/main">
              <a:ext uri="{FF2B5EF4-FFF2-40B4-BE49-F238E27FC236}">
                <a16:creationId xmlns:a16="http://schemas.microsoft.com/office/drawing/2014/main" id="{ABB5CBCE-1D26-4BAD-91A6-58DBF593E630}"/>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F41EA368-0D43-491C-87DF-560609EF41D8}"/>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E7911813-8253-4464-82B1-C673239DD76C}"/>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0EEE2D8B-145C-4549-A144-A3D18F0D00CF}"/>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float converts numeric text into a decimal number.</a:t>
            </a:r>
          </a:p>
        </p:txBody>
      </p:sp>
      <p:sp>
        <p:nvSpPr>
          <p:cNvPr id="10" name="">
            <a:extLst xmlns:a="http://schemas.openxmlformats.org/drawingml/2006/main">
              <a:ext uri="{FF2B5EF4-FFF2-40B4-BE49-F238E27FC236}">
                <a16:creationId xmlns:a16="http://schemas.microsoft.com/office/drawing/2014/main" id="{B8C8C6FC-5189-432E-81FC-C64CF003734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11" name="">
            <a:extLst xmlns:a="http://schemas.openxmlformats.org/drawingml/2006/main">
              <a:ext uri="{FF2B5EF4-FFF2-40B4-BE49-F238E27FC236}">
                <a16:creationId xmlns:a16="http://schemas.microsoft.com/office/drawing/2014/main" id="{AE32328D-8869-49D8-8589-9A9093EAE6E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23</a:t>
            </a:r>
          </a:p>
        </p:txBody>
      </p:sp>
    </p:spTree>
    <p:extLst>
      <p:ext uri="{BB962C8B-B14F-4D97-AF65-F5344CB8AC3E}">
        <p14:creationId xmlns:p14="http://schemas.microsoft.com/office/powerpoint/2010/main" val="1825298497"/>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6A269C3-93D5-4423-87C8-E7A38DE588F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3630B93-4470-4E78-AD70-FEB2A9397CC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54B76F35-2CFF-4783-A904-CE52EB76204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Audit</a:t>
            </a:r>
          </a:p>
        </p:txBody>
      </p:sp>
      <p:sp>
        <p:nvSpPr>
          <p:cNvPr id="4" name="">
            <a:extLst xmlns:a="http://schemas.openxmlformats.org/drawingml/2006/main">
              <a:ext uri="{FF2B5EF4-FFF2-40B4-BE49-F238E27FC236}">
                <a16:creationId xmlns:a16="http://schemas.microsoft.com/office/drawing/2014/main" id="{99E1D02F-873B-419A-BC23-731910EFB4AA}"/>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04721D4-4261-4541-A007-B9B0687486D4}"/>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Audit</a:t>
            </a:r>
          </a:p>
        </p:txBody>
      </p:sp>
      <p:sp>
        <p:nvSpPr>
          <p:cNvPr id="6" name="">
            <a:extLst xmlns:a="http://schemas.openxmlformats.org/drawingml/2006/main">
              <a:ext uri="{FF2B5EF4-FFF2-40B4-BE49-F238E27FC236}">
                <a16:creationId xmlns:a16="http://schemas.microsoft.com/office/drawing/2014/main" id="{2066FE9A-55D6-48A8-A17E-BFD5C3621F48}"/>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count and explanation of what changed, why it changed and how many records remain.</a:t>
            </a:r>
          </a:p>
        </p:txBody>
      </p:sp>
      <p:sp>
        <p:nvSpPr>
          <p:cNvPr id="7" name="">
            <a:extLst xmlns:a="http://schemas.openxmlformats.org/drawingml/2006/main">
              <a:ext uri="{FF2B5EF4-FFF2-40B4-BE49-F238E27FC236}">
                <a16:creationId xmlns:a16="http://schemas.microsoft.com/office/drawing/2014/main" id="{290B12EE-5E29-43F1-B31F-EA98C64DCC5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24</a:t>
            </a:r>
          </a:p>
        </p:txBody>
      </p:sp>
    </p:spTree>
    <p:extLst>
      <p:ext uri="{BB962C8B-B14F-4D97-AF65-F5344CB8AC3E}">
        <p14:creationId xmlns:p14="http://schemas.microsoft.com/office/powerpoint/2010/main" val="1355839752"/>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41E99EF-45EF-4FE1-AAAF-B15A67F61DB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B4B9298-AE7B-4863-B5A0-A06A639D38C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D4870CB-B985-4D19-B561-C25522645E8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Every cleaning change needs a record</a:t>
            </a:r>
          </a:p>
        </p:txBody>
      </p:sp>
      <p:sp>
        <p:nvSpPr>
          <p:cNvPr id="4" name="">
            <a:extLst xmlns:a="http://schemas.openxmlformats.org/drawingml/2006/main">
              <a:ext uri="{FF2B5EF4-FFF2-40B4-BE49-F238E27FC236}">
                <a16:creationId xmlns:a16="http://schemas.microsoft.com/office/drawing/2014/main" id="{386F8E18-34BB-41E4-9248-2CF2C39DF8F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142BE04-05C8-47A9-AA45-A2A8EF98D8B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duplicate record ID suggests a repeated observation.</a:t>
            </a:r>
          </a:p>
        </p:txBody>
      </p:sp>
      <p:sp>
        <p:nvSpPr>
          <p:cNvPr id="6" name="">
            <a:extLst xmlns:a="http://schemas.openxmlformats.org/drawingml/2006/main">
              <a:ext uri="{FF2B5EF4-FFF2-40B4-BE49-F238E27FC236}">
                <a16:creationId xmlns:a16="http://schemas.microsoft.com/office/drawing/2014/main" id="{74C92019-67CC-48B0-9874-FA46C2D7CA2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708D670-6C8F-41E8-884D-71CA20CC653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Two different observations from the same equipment can both be valid.</a:t>
            </a:r>
          </a:p>
        </p:txBody>
      </p:sp>
      <p:sp>
        <p:nvSpPr>
          <p:cNvPr id="8" name="">
            <a:extLst xmlns:a="http://schemas.openxmlformats.org/drawingml/2006/main">
              <a:ext uri="{FF2B5EF4-FFF2-40B4-BE49-F238E27FC236}">
                <a16:creationId xmlns:a16="http://schemas.microsoft.com/office/drawing/2014/main" id="{3C06B0AD-985D-4941-A64D-5299BA716FC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DEB68AE-9DCF-4AF7-8136-1403BD853EB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 the evidence, action, number of affected rows and limitation.</a:t>
            </a:r>
          </a:p>
        </p:txBody>
      </p:sp>
      <p:sp>
        <p:nvSpPr>
          <p:cNvPr id="10" name="">
            <a:extLst xmlns:a="http://schemas.openxmlformats.org/drawingml/2006/main">
              <a:ext uri="{FF2B5EF4-FFF2-40B4-BE49-F238E27FC236}">
                <a16:creationId xmlns:a16="http://schemas.microsoft.com/office/drawing/2014/main" id="{C1228817-6345-4875-968B-BAB7E225B6C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25</a:t>
            </a:r>
          </a:p>
        </p:txBody>
      </p:sp>
    </p:spTree>
    <p:extLst>
      <p:ext uri="{BB962C8B-B14F-4D97-AF65-F5344CB8AC3E}">
        <p14:creationId xmlns:p14="http://schemas.microsoft.com/office/powerpoint/2010/main" val="1949504655"/>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53E0643-5010-47BF-96FC-E0091D909E4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77B63A2-F7CE-4214-BA6A-7910AD31099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TRY IT TOGETHER   5 MINUTES</a:t>
            </a:r>
          </a:p>
        </p:txBody>
      </p:sp>
      <p:sp>
        <p:nvSpPr>
          <p:cNvPr id="3" name="">
            <a:extLst xmlns:a="http://schemas.openxmlformats.org/drawingml/2006/main">
              <a:ext uri="{FF2B5EF4-FFF2-40B4-BE49-F238E27FC236}">
                <a16:creationId xmlns:a16="http://schemas.microsoft.com/office/drawing/2014/main" id="{BE875709-33F9-4395-9F25-4002FE15560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 are the cleaning audit</a:t>
            </a:r>
          </a:p>
        </p:txBody>
      </p:sp>
      <p:sp>
        <p:nvSpPr>
          <p:cNvPr id="4" name="">
            <a:extLst xmlns:a="http://schemas.openxmlformats.org/drawingml/2006/main">
              <a:ext uri="{FF2B5EF4-FFF2-40B4-BE49-F238E27FC236}">
                <a16:creationId xmlns:a16="http://schemas.microsoft.com/office/drawing/2014/main" id="{C279D9DB-66F7-4AD2-82FB-9871922E94B2}"/>
              </a:ext>
            </a:extLst>
          </p:cNvPr>
          <p:cNvSpPr>
            <a:spLocks xmlns:a="http://schemas.openxmlformats.org/drawingml/2006/main" noGrp="1"/>
          </p:cNvSpPr>
          <p:nvPr/>
        </p:nvSpPr>
        <p:spPr>
          <a:xfrm xmlns:a="http://schemas.openxmlformats.org/drawingml/2006/main">
            <a:off x="619125" y="1809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2A4B3F4-4E7A-49EF-AFE6-4F97603B1906}"/>
              </a:ext>
            </a:extLst>
          </p:cNvPr>
          <p:cNvSpPr>
            <a:spLocks xmlns:a="http://schemas.openxmlformats.org/drawingml/2006/main" noGrp="1"/>
          </p:cNvSpPr>
          <p:nvPr/>
        </p:nvSpPr>
        <p:spPr>
          <a:xfrm xmlns:a="http://schemas.openxmlformats.org/drawingml/2006/main">
            <a:off x="1409700" y="18097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Copy four records: A:20, B:blank, C:24, C:24.</a:t>
            </a:r>
          </a:p>
        </p:txBody>
      </p:sp>
      <p:sp>
        <p:nvSpPr>
          <p:cNvPr id="6" name="">
            <a:extLst xmlns:a="http://schemas.openxmlformats.org/drawingml/2006/main">
              <a:ext uri="{FF2B5EF4-FFF2-40B4-BE49-F238E27FC236}">
                <a16:creationId xmlns:a16="http://schemas.microsoft.com/office/drawing/2014/main" id="{D6A134FF-74AF-47C2-B7A0-D24C8C86382F}"/>
              </a:ext>
            </a:extLst>
          </p:cNvPr>
          <p:cNvSpPr>
            <a:spLocks xmlns:a="http://schemas.openxmlformats.org/drawingml/2006/main" noGrp="1"/>
          </p:cNvSpPr>
          <p:nvPr/>
        </p:nvSpPr>
        <p:spPr>
          <a:xfrm xmlns:a="http://schemas.openxmlformats.org/drawingml/2006/main">
            <a:off x="619125" y="31432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CE1EDDD-F6F4-49E9-A323-2CC8AC734AD5}"/>
              </a:ext>
            </a:extLst>
          </p:cNvPr>
          <p:cNvSpPr>
            <a:spLocks xmlns:a="http://schemas.openxmlformats.org/drawingml/2006/main" noGrp="1"/>
          </p:cNvSpPr>
          <p:nvPr/>
        </p:nvSpPr>
        <p:spPr>
          <a:xfrm xmlns:a="http://schemas.openxmlformats.org/drawingml/2006/main">
            <a:off x="1409700" y="31432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original. In the copy, retain one C and fill the blank with the median of 20 and 24.</a:t>
            </a:r>
          </a:p>
        </p:txBody>
      </p:sp>
      <p:sp>
        <p:nvSpPr>
          <p:cNvPr id="8" name="">
            <a:extLst xmlns:a="http://schemas.openxmlformats.org/drawingml/2006/main">
              <a:ext uri="{FF2B5EF4-FFF2-40B4-BE49-F238E27FC236}">
                <a16:creationId xmlns:a16="http://schemas.microsoft.com/office/drawing/2014/main" id="{C25111E0-18B3-4E5B-A710-4E08C8BCF1B1}"/>
              </a:ext>
            </a:extLst>
          </p:cNvPr>
          <p:cNvSpPr>
            <a:spLocks xmlns:a="http://schemas.openxmlformats.org/drawingml/2006/main" noGrp="1"/>
          </p:cNvSpPr>
          <p:nvPr/>
        </p:nvSpPr>
        <p:spPr>
          <a:xfrm xmlns:a="http://schemas.openxmlformats.org/drawingml/2006/main">
            <a:off x="619125" y="447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E1C072C-B452-45E0-9336-26693AFE2849}"/>
              </a:ext>
            </a:extLst>
          </p:cNvPr>
          <p:cNvSpPr>
            <a:spLocks xmlns:a="http://schemas.openxmlformats.org/drawingml/2006/main" noGrp="1"/>
          </p:cNvSpPr>
          <p:nvPr/>
        </p:nvSpPr>
        <p:spPr>
          <a:xfrm xmlns:a="http://schemas.openxmlformats.org/drawingml/2006/main">
            <a:off x="1409700" y="44767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what changed and which value was estimated.</a:t>
            </a:r>
          </a:p>
        </p:txBody>
      </p:sp>
      <p:sp>
        <p:nvSpPr>
          <p:cNvPr id="10" name="">
            <a:extLst xmlns:a="http://schemas.openxmlformats.org/drawingml/2006/main">
              <a:ext uri="{FF2B5EF4-FFF2-40B4-BE49-F238E27FC236}">
                <a16:creationId xmlns:a16="http://schemas.microsoft.com/office/drawing/2014/main" id="{048FC65E-05B2-4E95-9782-EFC08AB246E7}"/>
              </a:ext>
            </a:extLst>
          </p:cNvPr>
          <p:cNvSpPr>
            <a:spLocks xmlns:a="http://schemas.openxmlformats.org/drawingml/2006/main" noGrp="1"/>
          </p:cNvSpPr>
          <p:nvPr/>
        </p:nvSpPr>
        <p:spPr>
          <a:xfrm xmlns:a="http://schemas.openxmlformats.org/drawingml/2006/main">
            <a:off x="0" y="5915025"/>
            <a:ext cx="12191695" cy="4667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4C4803D-9460-48F3-B0B9-F20D4FD114FD}"/>
              </a:ext>
            </a:extLst>
          </p:cNvPr>
          <p:cNvSpPr>
            <a:spLocks xmlns:a="http://schemas.openxmlformats.org/drawingml/2006/main" noGrp="1"/>
          </p:cNvSpPr>
          <p:nvPr/>
        </p:nvSpPr>
        <p:spPr>
          <a:xfrm xmlns:a="http://schemas.openxmlformats.org/drawingml/2006/main">
            <a:off x="619125" y="5981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One partner acts. One partner checks. Then swap roles.</a:t>
            </a:r>
          </a:p>
        </p:txBody>
      </p:sp>
      <p:sp>
        <p:nvSpPr>
          <p:cNvPr id="12" name="">
            <a:extLst xmlns:a="http://schemas.openxmlformats.org/drawingml/2006/main">
              <a:ext uri="{FF2B5EF4-FFF2-40B4-BE49-F238E27FC236}">
                <a16:creationId xmlns:a16="http://schemas.microsoft.com/office/drawing/2014/main" id="{5534F5C3-42FD-4A92-8DFD-E8E2959A1A3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26</a:t>
            </a:r>
          </a:p>
        </p:txBody>
      </p:sp>
    </p:spTree>
    <p:extLst>
      <p:ext uri="{BB962C8B-B14F-4D97-AF65-F5344CB8AC3E}">
        <p14:creationId xmlns:p14="http://schemas.microsoft.com/office/powerpoint/2010/main" val="218656083"/>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BE23434-78BA-4F3A-8501-3C320C2969B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DE8CF98-BA6D-4FBE-9F55-548626A4030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DISCUSS THE REASONING</a:t>
            </a:r>
          </a:p>
        </p:txBody>
      </p:sp>
      <p:sp>
        <p:nvSpPr>
          <p:cNvPr id="3" name="">
            <a:extLst xmlns:a="http://schemas.openxmlformats.org/drawingml/2006/main">
              <a:ext uri="{FF2B5EF4-FFF2-40B4-BE49-F238E27FC236}">
                <a16:creationId xmlns:a16="http://schemas.microsoft.com/office/drawing/2014/main" id="{4B5984D3-D13B-4A0E-9F53-FF39DBA59D6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the activity shows</a:t>
            </a:r>
          </a:p>
        </p:txBody>
      </p:sp>
      <p:sp>
        <p:nvSpPr>
          <p:cNvPr id="4" name="">
            <a:extLst xmlns:a="http://schemas.openxmlformats.org/drawingml/2006/main">
              <a:ext uri="{FF2B5EF4-FFF2-40B4-BE49-F238E27FC236}">
                <a16:creationId xmlns:a16="http://schemas.microsoft.com/office/drawing/2014/main" id="{AEC843C2-2619-4E38-ABBC-195D5D26FD3F}"/>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CEC922E-58D9-449D-BFA8-E33F7F35F58F}"/>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2E7D6F"/>
                </a:solidFill>
                <a:latin typeface="Calibri"/>
                <a:ea typeface="Calibri"/>
                <a:cs typeface="Calibri"/>
              </a:defRPr>
            </a:pPr>
            <a:r>
              <a:rPr sz="2400" b="1">
                <a:solidFill>
                  <a:srgbClr val="2E7D6F"/>
                </a:solidFill>
                <a:latin typeface="Calibri"/>
                <a:ea typeface="Calibri"/>
                <a:cs typeface="Calibri"/>
              </a:rPr>
              <a:t>The working records are A:20, B:22, C:24. One duplicate was removed and one blank was filled. 22 is an estimate, not a recovered measurement.</a:t>
            </a:r>
          </a:p>
        </p:txBody>
      </p:sp>
      <p:sp>
        <p:nvSpPr>
          <p:cNvPr id="6" name="">
            <a:extLst xmlns:a="http://schemas.openxmlformats.org/drawingml/2006/main">
              <a:ext uri="{FF2B5EF4-FFF2-40B4-BE49-F238E27FC236}">
                <a16:creationId xmlns:a16="http://schemas.microsoft.com/office/drawing/2014/main" id="{EEC1D446-3C8D-41E7-8B2C-84B403B521BE}"/>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0A0F295B-A00D-4C48-BF47-BBF9A7C02C9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27</a:t>
            </a:r>
          </a:p>
        </p:txBody>
      </p:sp>
    </p:spTree>
    <p:extLst>
      <p:ext uri="{BB962C8B-B14F-4D97-AF65-F5344CB8AC3E}">
        <p14:creationId xmlns:p14="http://schemas.microsoft.com/office/powerpoint/2010/main" val="473974474"/>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E115E16-ADFA-486A-A345-E81CA5A8F77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0A901B5-2AD7-4C5E-BF2D-75FE8DDC7F0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F7D3DB25-6B27-43EB-944E-A406D58F561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Chart axes</a:t>
            </a:r>
          </a:p>
        </p:txBody>
      </p:sp>
      <p:sp>
        <p:nvSpPr>
          <p:cNvPr id="4" name="">
            <a:extLst xmlns:a="http://schemas.openxmlformats.org/drawingml/2006/main">
              <a:ext uri="{FF2B5EF4-FFF2-40B4-BE49-F238E27FC236}">
                <a16:creationId xmlns:a16="http://schemas.microsoft.com/office/drawing/2014/main" id="{62423026-9E42-4338-AFB8-1EB3DDA3B4CC}"/>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FE47A31-F680-4CF3-8157-764F9A0210ED}"/>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Chart axes</a:t>
            </a:r>
          </a:p>
        </p:txBody>
      </p:sp>
      <p:sp>
        <p:nvSpPr>
          <p:cNvPr id="6" name="">
            <a:extLst xmlns:a="http://schemas.openxmlformats.org/drawingml/2006/main">
              <a:ext uri="{FF2B5EF4-FFF2-40B4-BE49-F238E27FC236}">
                <a16:creationId xmlns:a16="http://schemas.microsoft.com/office/drawing/2014/main" id="{3849EC5D-5481-4FB5-8A1A-D23F8F0C8820}"/>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chart maps values to positions. Read the horizontal variable, vertical variable and their units before interpreting a pattern.</a:t>
            </a:r>
          </a:p>
        </p:txBody>
      </p:sp>
      <p:sp>
        <p:nvSpPr>
          <p:cNvPr id="7" name="">
            <a:extLst xmlns:a="http://schemas.openxmlformats.org/drawingml/2006/main">
              <a:ext uri="{FF2B5EF4-FFF2-40B4-BE49-F238E27FC236}">
                <a16:creationId xmlns:a16="http://schemas.microsoft.com/office/drawing/2014/main" id="{15E6F07A-6B52-4946-8B61-5ADBC959EB3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28</a:t>
            </a:r>
          </a:p>
        </p:txBody>
      </p:sp>
    </p:spTree>
    <p:extLst>
      <p:ext uri="{BB962C8B-B14F-4D97-AF65-F5344CB8AC3E}">
        <p14:creationId xmlns:p14="http://schemas.microsoft.com/office/powerpoint/2010/main" val="1012724825"/>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EC4C8E6-D351-4452-9D1B-7702BC02C2A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10C843E-8A35-44D1-936E-0C59F530EFF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D7EA114-E6D8-4EB2-AFD7-B62C439AC50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scatter plot pairs two measurements</a:t>
            </a:r>
          </a:p>
        </p:txBody>
      </p:sp>
      <p:sp>
        <p:nvSpPr>
          <p:cNvPr id="4" name="">
            <a:extLst xmlns:a="http://schemas.openxmlformats.org/drawingml/2006/main">
              <a:ext uri="{FF2B5EF4-FFF2-40B4-BE49-F238E27FC236}">
                <a16:creationId xmlns:a16="http://schemas.microsoft.com/office/drawing/2014/main" id="{F3CAD1C5-F92F-4412-A311-A4AB38A3BA1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B86B3B5-F68F-4225-A28F-E2B148DE3A8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horizontal axis gives the input value.</a:t>
            </a:r>
          </a:p>
        </p:txBody>
      </p:sp>
      <p:sp>
        <p:nvSpPr>
          <p:cNvPr id="6" name="">
            <a:extLst xmlns:a="http://schemas.openxmlformats.org/drawingml/2006/main">
              <a:ext uri="{FF2B5EF4-FFF2-40B4-BE49-F238E27FC236}">
                <a16:creationId xmlns:a16="http://schemas.microsoft.com/office/drawing/2014/main" id="{298515CC-877C-47ED-AAC4-47652D0D8AD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8787F89-FE08-42D2-9FE4-F8A2942E2EF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vertical axis gives the corresponding reading.</a:t>
            </a:r>
          </a:p>
        </p:txBody>
      </p:sp>
      <p:sp>
        <p:nvSpPr>
          <p:cNvPr id="8" name="">
            <a:extLst xmlns:a="http://schemas.openxmlformats.org/drawingml/2006/main">
              <a:ext uri="{FF2B5EF4-FFF2-40B4-BE49-F238E27FC236}">
                <a16:creationId xmlns:a16="http://schemas.microsoft.com/office/drawing/2014/main" id="{8DC0A2D4-5A18-44A7-93A6-CDACC7A2145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B02D334-C611-40B0-86B5-D1619DEF68C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One point represents one observation. A pattern alone does not prove causation.</a:t>
            </a:r>
          </a:p>
        </p:txBody>
      </p:sp>
      <p:sp>
        <p:nvSpPr>
          <p:cNvPr id="10" name="">
            <a:extLst xmlns:a="http://schemas.openxmlformats.org/drawingml/2006/main">
              <a:ext uri="{FF2B5EF4-FFF2-40B4-BE49-F238E27FC236}">
                <a16:creationId xmlns:a16="http://schemas.microsoft.com/office/drawing/2014/main" id="{09EE0BCD-3204-4065-9933-EE6F8872453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29</a:t>
            </a:r>
          </a:p>
        </p:txBody>
      </p:sp>
    </p:spTree>
    <p:extLst>
      <p:ext uri="{BB962C8B-B14F-4D97-AF65-F5344CB8AC3E}">
        <p14:creationId xmlns:p14="http://schemas.microsoft.com/office/powerpoint/2010/main" val="1703259274"/>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4B9B689-1AC7-4E57-A64B-F7F906BC16B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FB3BB89-E668-42C3-A0F6-9B9986D5F61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C961B622-CF15-4FBF-8892-4B6C2861449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Choose a chart after naming the question</a:t>
            </a:r>
          </a:p>
        </p:txBody>
      </p:sp>
      <p:sp>
        <p:nvSpPr>
          <p:cNvPr id="4" name="">
            <a:extLst xmlns:a="http://schemas.openxmlformats.org/drawingml/2006/main">
              <a:ext uri="{FF2B5EF4-FFF2-40B4-BE49-F238E27FC236}">
                <a16:creationId xmlns:a16="http://schemas.microsoft.com/office/drawing/2014/main" id="{4678F73B-F8AA-4F2E-AE88-E0213893FAC8}"/>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C7A9A34-0FE0-42B3-B35D-0FF3D10EFB56}"/>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Scatter and bar</a:t>
            </a:r>
          </a:p>
        </p:txBody>
      </p:sp>
      <p:sp>
        <p:nvSpPr>
          <p:cNvPr id="6" name="">
            <a:extLst xmlns:a="http://schemas.openxmlformats.org/drawingml/2006/main">
              <a:ext uri="{FF2B5EF4-FFF2-40B4-BE49-F238E27FC236}">
                <a16:creationId xmlns:a16="http://schemas.microsoft.com/office/drawing/2014/main" id="{02E761C0-E635-43A0-BE37-31099911752C}"/>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scatter plot places one point for each paired measurement. A bar chart compares values across named groups. Label both axes and their units.</a:t>
            </a:r>
          </a:p>
        </p:txBody>
      </p:sp>
      <p:sp>
        <p:nvSpPr>
          <p:cNvPr id="7" name="">
            <a:extLst xmlns:a="http://schemas.openxmlformats.org/drawingml/2006/main">
              <a:ext uri="{FF2B5EF4-FFF2-40B4-BE49-F238E27FC236}">
                <a16:creationId xmlns:a16="http://schemas.microsoft.com/office/drawing/2014/main" id="{2B2C042E-6552-41C5-96E2-4DD10D336C16}"/>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FBF70C49-F152-4B70-9B06-83894783A4C2}"/>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Histogram and bins</a:t>
            </a:r>
          </a:p>
        </p:txBody>
      </p:sp>
      <p:sp>
        <p:nvSpPr>
          <p:cNvPr id="9" name="">
            <a:extLst xmlns:a="http://schemas.openxmlformats.org/drawingml/2006/main">
              <a:ext uri="{FF2B5EF4-FFF2-40B4-BE49-F238E27FC236}">
                <a16:creationId xmlns:a16="http://schemas.microsoft.com/office/drawing/2014/main" id="{4322A8B6-76DE-41CF-9447-9519C1BD9A4E}"/>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histogram counts observations in numerical intervals called bins. The horizontal axis is the measurement; the vertical axis is a count. Bin edges affect its appearance.</a:t>
            </a:r>
          </a:p>
        </p:txBody>
      </p:sp>
      <p:sp>
        <p:nvSpPr>
          <p:cNvPr id="10" name="">
            <a:extLst xmlns:a="http://schemas.openxmlformats.org/drawingml/2006/main">
              <a:ext uri="{FF2B5EF4-FFF2-40B4-BE49-F238E27FC236}">
                <a16:creationId xmlns:a16="http://schemas.microsoft.com/office/drawing/2014/main" id="{094488B8-6507-49D6-AA87-B52694D0FFD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30</a:t>
            </a:r>
          </a:p>
        </p:txBody>
      </p:sp>
    </p:spTree>
    <p:extLst>
      <p:ext uri="{BB962C8B-B14F-4D97-AF65-F5344CB8AC3E}">
        <p14:creationId xmlns:p14="http://schemas.microsoft.com/office/powerpoint/2010/main" val="641905150"/>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482A6AF-9321-4F7D-A9ED-0D61BCD87EC8}"/>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8366873-8E5E-495D-A898-4D790FE6E01D}"/>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Choosing a chart for the question</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57a9365edd0e4536"/>
          <a:stretch xmlns:a="http://schemas.openxmlformats.org/drawingml/2006/main"/>
        </p:blipFill>
        <p:spPr>
          <a:xfrm xmlns:a="http://schemas.openxmlformats.org/drawingml/2006/main">
            <a:off x="1125175" y="1057275"/>
            <a:ext cx="9941649"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F60567C5-C7E8-4A97-A37A-0263EC3C4BF1}"/>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9D3AF60-7D2C-44BE-A8FE-EAD5D88A760B}"/>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Read axis names and units before interpreting a pattern.</a:t>
            </a:r>
          </a:p>
        </p:txBody>
      </p:sp>
      <p:sp>
        <p:nvSpPr>
          <p:cNvPr id="6" name="">
            <a:extLst xmlns:a="http://schemas.openxmlformats.org/drawingml/2006/main">
              <a:ext uri="{FF2B5EF4-FFF2-40B4-BE49-F238E27FC236}">
                <a16:creationId xmlns:a16="http://schemas.microsoft.com/office/drawing/2014/main" id="{B7959EFB-EBAA-4FD8-97B0-DE9D2C7EA90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31</a:t>
            </a:r>
          </a:p>
        </p:txBody>
      </p:sp>
    </p:spTree>
    <p:extLst>
      <p:ext uri="{BB962C8B-B14F-4D97-AF65-F5344CB8AC3E}">
        <p14:creationId xmlns:p14="http://schemas.microsoft.com/office/powerpoint/2010/main" val="854664930"/>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A119A37-0055-4688-ACEE-2D20B40EB85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60CF94F-D60E-4CB8-B2EA-761099F11FB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1997184-3920-4619-B05B-5EE49BCF6F6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chart with labelled axes</a:t>
            </a:r>
          </a:p>
        </p:txBody>
      </p:sp>
      <p:sp>
        <p:nvSpPr>
          <p:cNvPr id="4" name="">
            <a:extLst xmlns:a="http://schemas.openxmlformats.org/drawingml/2006/main">
              <a:ext uri="{FF2B5EF4-FFF2-40B4-BE49-F238E27FC236}">
                <a16:creationId xmlns:a16="http://schemas.microsoft.com/office/drawing/2014/main" id="{3DEA9E4A-728D-4CE3-8499-F6E0126EF9A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5398905-CA72-46E4-B1DA-23419AB7613F}"/>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matplotlib draws charts. subplots creates a Figure, the whole page, and Axes, the plotting area. scatter pairs each input with its corresponding reading.</a:t>
            </a:r>
          </a:p>
        </p:txBody>
      </p:sp>
      <p:sp>
        <p:nvSpPr>
          <p:cNvPr id="6" name="">
            <a:extLst xmlns:a="http://schemas.openxmlformats.org/drawingml/2006/main">
              <a:ext uri="{FF2B5EF4-FFF2-40B4-BE49-F238E27FC236}">
                <a16:creationId xmlns:a16="http://schemas.microsoft.com/office/drawing/2014/main" id="{2D45A753-01E3-409E-877E-7171DF043EF3}"/>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47D12E2-B773-4AF6-95DC-C0F68A2C4351}"/>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horizontal axis is the input and the vertical axis is the reading.</a:t>
            </a:r>
          </a:p>
        </p:txBody>
      </p:sp>
      <p:sp>
        <p:nvSpPr>
          <p:cNvPr id="8" name="">
            <a:extLst xmlns:a="http://schemas.openxmlformats.org/drawingml/2006/main">
              <a:ext uri="{FF2B5EF4-FFF2-40B4-BE49-F238E27FC236}">
                <a16:creationId xmlns:a16="http://schemas.microsoft.com/office/drawing/2014/main" id="{8A886195-D2B9-4E60-BB21-36C8CC1CEBF8}"/>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12D6F1E-4155-41D5-97DA-1B7D67849E96}"/>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pattern alone does not prove causation.</a:t>
            </a:r>
          </a:p>
        </p:txBody>
      </p:sp>
      <p:sp>
        <p:nvSpPr>
          <p:cNvPr id="10" name="">
            <a:extLst xmlns:a="http://schemas.openxmlformats.org/drawingml/2006/main">
              <a:ext uri="{FF2B5EF4-FFF2-40B4-BE49-F238E27FC236}">
                <a16:creationId xmlns:a16="http://schemas.microsoft.com/office/drawing/2014/main" id="{CD1423ED-D556-48C1-B8BA-04FE8FE2857A}"/>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CA5498D-682E-4B40-9C10-FDBD65CEA8C4}"/>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the test, return Figure objects as the brief specifies.</a:t>
            </a:r>
          </a:p>
        </p:txBody>
      </p:sp>
      <p:sp>
        <p:nvSpPr>
          <p:cNvPr id="12" name="">
            <a:extLst xmlns:a="http://schemas.openxmlformats.org/drawingml/2006/main">
              <a:ext uri="{FF2B5EF4-FFF2-40B4-BE49-F238E27FC236}">
                <a16:creationId xmlns:a16="http://schemas.microsoft.com/office/drawing/2014/main" id="{F6E9B31C-FEE1-49D1-AA47-5134CBF6CC1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32</a:t>
            </a:r>
          </a:p>
        </p:txBody>
      </p:sp>
    </p:spTree>
    <p:extLst>
      <p:ext uri="{BB962C8B-B14F-4D97-AF65-F5344CB8AC3E}">
        <p14:creationId xmlns:p14="http://schemas.microsoft.com/office/powerpoint/2010/main" val="140751929"/>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CEE67937-73E5-4A80-9AA4-563ACF45104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D155F0F-2598-47C3-ABA5-D162665EAC6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BD1C4AB-B36E-4832-A0C3-A18475BC261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chart with labelled axes in Python</a:t>
            </a:r>
          </a:p>
        </p:txBody>
      </p:sp>
      <p:sp>
        <p:nvSpPr>
          <p:cNvPr id="4" name="">
            <a:extLst xmlns:a="http://schemas.openxmlformats.org/drawingml/2006/main">
              <a:ext uri="{FF2B5EF4-FFF2-40B4-BE49-F238E27FC236}">
                <a16:creationId xmlns:a16="http://schemas.microsoft.com/office/drawing/2014/main" id="{BC155862-3C03-423C-ADB3-E2CB0155311D}"/>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DAFA703-D877-4055-96B4-FB77C955C32C}"/>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90" b="0">
                <a:solidFill>
                  <a:srgbClr val="F4F7FA"/>
                </a:solidFill>
                <a:latin typeface="Courier New"/>
                <a:ea typeface="Courier New"/>
                <a:cs typeface="Courier New"/>
              </a:defRPr>
            </a:pPr>
            <a:r>
              <a:rPr sz="1990" b="0">
                <a:solidFill>
                  <a:srgbClr val="FFB080"/>
                </a:solidFill>
                <a:latin typeface="Courier New"/>
                <a:ea typeface="Courier New"/>
                <a:cs typeface="Courier New"/>
              </a:rPr>
              <a:t>import</a:t>
            </a:r>
            <a:r>
              <a:rPr sz="1990" b="0">
                <a:solidFill>
                  <a:srgbClr val="F4F7FA"/>
                </a:solidFill>
                <a:latin typeface="Courier New"/>
                <a:ea typeface="Courier New"/>
                <a:cs typeface="Courier New"/>
              </a:rPr>
              <a:t> matplotlib.pyplot as plt</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inputs = [1, 2, 3, 4]</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readings = [12, 14, 13, 18]</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fig, ax = plt.subplots()</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ax.scatter(inputs, readings)</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ax.set_xlabel("Input (teaching units)")</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ax.set_ylabel("Reading (teaching units)")</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ax.set_title("Four invented observations")</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plt.show()</a:t>
            </a:r>
          </a:p>
        </p:txBody>
      </p:sp>
      <p:sp>
        <p:nvSpPr>
          <p:cNvPr id="6" name="">
            <a:extLst xmlns:a="http://schemas.openxmlformats.org/drawingml/2006/main">
              <a:ext uri="{FF2B5EF4-FFF2-40B4-BE49-F238E27FC236}">
                <a16:creationId xmlns:a16="http://schemas.microsoft.com/office/drawing/2014/main" id="{9C98DD08-14C6-4FAA-B82D-6D1795D94182}"/>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216252D1-9349-4CCF-A0F0-6D424A463D2F}"/>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import loads a library. from selects a tool from it.</a:t>
            </a:r>
          </a:p>
        </p:txBody>
      </p:sp>
      <p:sp>
        <p:nvSpPr>
          <p:cNvPr id="8" name="">
            <a:extLst xmlns:a="http://schemas.openxmlformats.org/drawingml/2006/main">
              <a:ext uri="{FF2B5EF4-FFF2-40B4-BE49-F238E27FC236}">
                <a16:creationId xmlns:a16="http://schemas.microsoft.com/office/drawing/2014/main" id="{86712128-954E-482D-9F1B-1EA7C89A7D4E}"/>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9" name="">
            <a:extLst xmlns:a="http://schemas.openxmlformats.org/drawingml/2006/main">
              <a:ext uri="{FF2B5EF4-FFF2-40B4-BE49-F238E27FC236}">
                <a16:creationId xmlns:a16="http://schemas.microsoft.com/office/drawing/2014/main" id="{CD5A4E3D-5A1F-420D-825F-5798310B2CB9}"/>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C73DA525-CA71-4880-95C2-BFE168EAADE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11" name="">
            <a:extLst xmlns:a="http://schemas.openxmlformats.org/drawingml/2006/main">
              <a:ext uri="{FF2B5EF4-FFF2-40B4-BE49-F238E27FC236}">
                <a16:creationId xmlns:a16="http://schemas.microsoft.com/office/drawing/2014/main" id="{4AC3C509-47B3-4C80-8F7B-A6F50A49463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33</a:t>
            </a:r>
          </a:p>
        </p:txBody>
      </p:sp>
    </p:spTree>
    <p:extLst>
      <p:ext uri="{BB962C8B-B14F-4D97-AF65-F5344CB8AC3E}">
        <p14:creationId xmlns:p14="http://schemas.microsoft.com/office/powerpoint/2010/main" val="635334206"/>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DD128B3-B282-4E35-B5F8-EC07A68B999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E04A924-FA72-4BF4-AC2E-659E1648834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92D3378-AAB2-4ED7-B14A-1D201EA23C3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Comparing groups and a distribution</a:t>
            </a:r>
          </a:p>
        </p:txBody>
      </p:sp>
      <p:sp>
        <p:nvSpPr>
          <p:cNvPr id="4" name="">
            <a:extLst xmlns:a="http://schemas.openxmlformats.org/drawingml/2006/main">
              <a:ext uri="{FF2B5EF4-FFF2-40B4-BE49-F238E27FC236}">
                <a16:creationId xmlns:a16="http://schemas.microsoft.com/office/drawing/2014/main" id="{2A38F6B5-359C-4D81-AB3C-694407FAE2E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B4DFA09-E9A5-4E8C-9A75-02A2A5368AAE}"/>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bar compares one value for each named group. hist counts observations in value intervals called bins.</a:t>
            </a:r>
          </a:p>
        </p:txBody>
      </p:sp>
      <p:sp>
        <p:nvSpPr>
          <p:cNvPr id="6" name="">
            <a:extLst xmlns:a="http://schemas.openxmlformats.org/drawingml/2006/main">
              <a:ext uri="{FF2B5EF4-FFF2-40B4-BE49-F238E27FC236}">
                <a16:creationId xmlns:a16="http://schemas.microsoft.com/office/drawing/2014/main" id="{F8EFA6D8-F19E-47C9-8D4B-11293800E585}"/>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F4215AE-1763-4363-A12A-F1C9A72ADDFA}"/>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the bar labels and both axes.</a:t>
            </a:r>
          </a:p>
        </p:txBody>
      </p:sp>
      <p:sp>
        <p:nvSpPr>
          <p:cNvPr id="8" name="">
            <a:extLst xmlns:a="http://schemas.openxmlformats.org/drawingml/2006/main">
              <a:ext uri="{FF2B5EF4-FFF2-40B4-BE49-F238E27FC236}">
                <a16:creationId xmlns:a16="http://schemas.microsoft.com/office/drawing/2014/main" id="{08DF1997-8FBF-472E-BCFF-81F2CA21D5FA}"/>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C830DA0-AE84-4698-9D43-543877297536}"/>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practice uses two bins; follow the exact bin rule in the test brief.</a:t>
            </a:r>
          </a:p>
        </p:txBody>
      </p:sp>
      <p:sp>
        <p:nvSpPr>
          <p:cNvPr id="10" name="">
            <a:extLst xmlns:a="http://schemas.openxmlformats.org/drawingml/2006/main">
              <a:ext uri="{FF2B5EF4-FFF2-40B4-BE49-F238E27FC236}">
                <a16:creationId xmlns:a16="http://schemas.microsoft.com/office/drawing/2014/main" id="{6CB55F1A-8FD3-4620-A4FD-0DACD2B66523}"/>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0727E77-B8B3-491F-BD99-075130D73CEF}"/>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Save and keep the Figure objects when a task asks for them.</a:t>
            </a:r>
          </a:p>
        </p:txBody>
      </p:sp>
      <p:sp>
        <p:nvSpPr>
          <p:cNvPr id="12" name="">
            <a:extLst xmlns:a="http://schemas.openxmlformats.org/drawingml/2006/main">
              <a:ext uri="{FF2B5EF4-FFF2-40B4-BE49-F238E27FC236}">
                <a16:creationId xmlns:a16="http://schemas.microsoft.com/office/drawing/2014/main" id="{05C51928-06AA-4742-B404-A66A7F45682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34</a:t>
            </a:r>
          </a:p>
        </p:txBody>
      </p:sp>
    </p:spTree>
    <p:extLst>
      <p:ext uri="{BB962C8B-B14F-4D97-AF65-F5344CB8AC3E}">
        <p14:creationId xmlns:p14="http://schemas.microsoft.com/office/powerpoint/2010/main" val="1557003746"/>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B9F2A42-F3C1-40A4-9E82-6A4D01BEEFB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B4876D4-4678-4B92-89D0-1AD58AC4054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4EDFD99-FB9F-497A-A02A-1ED51E156C2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Comparing groups and a distribution in Python (1/2)</a:t>
            </a:r>
          </a:p>
        </p:txBody>
      </p:sp>
      <p:sp>
        <p:nvSpPr>
          <p:cNvPr id="4" name="">
            <a:extLst xmlns:a="http://schemas.openxmlformats.org/drawingml/2006/main">
              <a:ext uri="{FF2B5EF4-FFF2-40B4-BE49-F238E27FC236}">
                <a16:creationId xmlns:a16="http://schemas.microsoft.com/office/drawing/2014/main" id="{87BD8E07-9493-4EDA-9691-2EF909132238}"/>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EBD04B8-52DB-45B8-898A-CF6B8DEC7AC9}"/>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bar_fig, bar_ax = plt.subplots()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bar_ax.bar(["A", "B"], [13, 16])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bar_ax.set_xlabel("Group")</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bar_ax.set_ylabel("Mean reading (teaching units)")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bar_ax.set_title("Two invented group means")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hist_fig, hist_ax = plt.subplots()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hist_ax.hist(readings, bins=2)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hist_ax.set_xlabel("Reading (teaching units)")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hist_ax.set_ylabel("Count of observations")</a:t>
            </a:r>
          </a:p>
        </p:txBody>
      </p:sp>
      <p:sp>
        <p:nvSpPr>
          <p:cNvPr id="6" name="">
            <a:extLst xmlns:a="http://schemas.openxmlformats.org/drawingml/2006/main">
              <a:ext uri="{FF2B5EF4-FFF2-40B4-BE49-F238E27FC236}">
                <a16:creationId xmlns:a16="http://schemas.microsoft.com/office/drawing/2014/main" id="{E103514B-67B7-417A-AA05-1318D398DDEA}"/>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Square brackets create a list or select an item.</a:t>
            </a:r>
          </a:p>
        </p:txBody>
      </p:sp>
      <p:sp>
        <p:nvSpPr>
          <p:cNvPr id="7" name="">
            <a:extLst xmlns:a="http://schemas.openxmlformats.org/drawingml/2006/main">
              <a:ext uri="{FF2B5EF4-FFF2-40B4-BE49-F238E27FC236}">
                <a16:creationId xmlns:a16="http://schemas.microsoft.com/office/drawing/2014/main" id="{7D8AA431-B094-4261-8395-7F63D3FC920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8" name="">
            <a:extLst xmlns:a="http://schemas.openxmlformats.org/drawingml/2006/main">
              <a:ext uri="{FF2B5EF4-FFF2-40B4-BE49-F238E27FC236}">
                <a16:creationId xmlns:a16="http://schemas.microsoft.com/office/drawing/2014/main" id="{21F1C28D-D67C-4060-9DB4-7BE850C965C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35</a:t>
            </a:r>
          </a:p>
        </p:txBody>
      </p:sp>
    </p:spTree>
    <p:extLst>
      <p:ext uri="{BB962C8B-B14F-4D97-AF65-F5344CB8AC3E}">
        <p14:creationId xmlns:p14="http://schemas.microsoft.com/office/powerpoint/2010/main" val="469610693"/>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6D3B095-1DF5-44FB-8BAC-0C004D73B79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A5C9AE5-BE72-4047-980C-AEB07CFA0E8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A76A98E-D675-418A-A5F9-BBB79D680B3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Comparing groups and a distribution in Python (2/2)</a:t>
            </a:r>
          </a:p>
        </p:txBody>
      </p:sp>
      <p:sp>
        <p:nvSpPr>
          <p:cNvPr id="4" name="">
            <a:extLst xmlns:a="http://schemas.openxmlformats.org/drawingml/2006/main">
              <a:ext uri="{FF2B5EF4-FFF2-40B4-BE49-F238E27FC236}">
                <a16:creationId xmlns:a16="http://schemas.microsoft.com/office/drawing/2014/main" id="{7A0F9A79-0877-4280-A19C-FECC74DB9A97}"/>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00FEB2C-954E-4A2C-AA8A-0DAC10FB3152}"/>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hist_ax.set_title("Distribution of four observations")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plt.show()</a:t>
            </a:r>
          </a:p>
        </p:txBody>
      </p:sp>
      <p:sp>
        <p:nvSpPr>
          <p:cNvPr id="6" name="">
            <a:extLst xmlns:a="http://schemas.openxmlformats.org/drawingml/2006/main">
              <a:ext uri="{FF2B5EF4-FFF2-40B4-BE49-F238E27FC236}">
                <a16:creationId xmlns:a16="http://schemas.microsoft.com/office/drawing/2014/main" id="{1F1B3661-A4CC-40A1-A335-695C565056CF}"/>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Read the inputs and identify the operation.</a:t>
            </a:r>
          </a:p>
        </p:txBody>
      </p:sp>
      <p:sp>
        <p:nvSpPr>
          <p:cNvPr id="7" name="">
            <a:extLst xmlns:a="http://schemas.openxmlformats.org/drawingml/2006/main">
              <a:ext uri="{FF2B5EF4-FFF2-40B4-BE49-F238E27FC236}">
                <a16:creationId xmlns:a16="http://schemas.microsoft.com/office/drawing/2014/main" id="{9E8F39C8-12AE-42C4-B8DA-2C8ED1E2AF7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8" name="">
            <a:extLst xmlns:a="http://schemas.openxmlformats.org/drawingml/2006/main">
              <a:ext uri="{FF2B5EF4-FFF2-40B4-BE49-F238E27FC236}">
                <a16:creationId xmlns:a16="http://schemas.microsoft.com/office/drawing/2014/main" id="{70861AF1-52D2-440A-B46C-51AC5FA875F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36</a:t>
            </a:r>
          </a:p>
        </p:txBody>
      </p:sp>
    </p:spTree>
    <p:extLst>
      <p:ext uri="{BB962C8B-B14F-4D97-AF65-F5344CB8AC3E}">
        <p14:creationId xmlns:p14="http://schemas.microsoft.com/office/powerpoint/2010/main" val="1939773544"/>
      </p:ext>
    </p:extLst>
  </p:cSld>
</p:sld>
</file>

<file path=ppt/slides/slide37.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6FBC498-1D6B-4475-B122-0C7F754DFA9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2FE8B40D-5A32-4243-B831-94BE2C416D6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turn</a:t>
            </a:r>
          </a:p>
        </p:txBody>
      </p:sp>
      <p:sp>
        <p:nvSpPr>
          <p:cNvPr id="3" name="">
            <a:extLst xmlns:a="http://schemas.openxmlformats.org/drawingml/2006/main">
              <a:ext uri="{FF2B5EF4-FFF2-40B4-BE49-F238E27FC236}">
                <a16:creationId xmlns:a16="http://schemas.microsoft.com/office/drawing/2014/main" id="{66E62CED-397F-40C5-9E07-E0E7EDBC0976}"/>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9261D74C-D54B-47CA-8915-143CCAC9D764}"/>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Explain why 80 was retained. Replace 24 with 26, predict the new fill value, and check that cleaning still leaves raw unchanged.</a:t>
            </a:r>
          </a:p>
        </p:txBody>
      </p:sp>
      <p:sp>
        <p:nvSpPr>
          <p:cNvPr id="5" name="">
            <a:extLst xmlns:a="http://schemas.openxmlformats.org/drawingml/2006/main">
              <a:ext uri="{FF2B5EF4-FFF2-40B4-BE49-F238E27FC236}">
                <a16:creationId xmlns:a16="http://schemas.microsoft.com/office/drawing/2014/main" id="{5364689E-511C-40CA-A5B3-7A4D73EF72E0}"/>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Think alone first. Then compare your reasoning with a partner.</a:t>
            </a:r>
          </a:p>
        </p:txBody>
      </p:sp>
      <p:sp>
        <p:nvSpPr>
          <p:cNvPr id="6" name="">
            <a:extLst xmlns:a="http://schemas.openxmlformats.org/drawingml/2006/main">
              <a:ext uri="{FF2B5EF4-FFF2-40B4-BE49-F238E27FC236}">
                <a16:creationId xmlns:a16="http://schemas.microsoft.com/office/drawing/2014/main" id="{C54E4629-B860-4AF8-A4D8-8D25DF124D1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6   37</a:t>
            </a:r>
          </a:p>
        </p:txBody>
      </p:sp>
    </p:spTree>
    <p:extLst>
      <p:ext uri="{BB962C8B-B14F-4D97-AF65-F5344CB8AC3E}">
        <p14:creationId xmlns:p14="http://schemas.microsoft.com/office/powerpoint/2010/main" val="955262624"/>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2C883DE-9EEC-4E38-9C12-CE43766906E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71FEABF-CD3C-4058-978F-D050DD38BE0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DISCUSS THE REASONING</a:t>
            </a:r>
          </a:p>
        </p:txBody>
      </p:sp>
      <p:sp>
        <p:nvSpPr>
          <p:cNvPr id="3" name="">
            <a:extLst xmlns:a="http://schemas.openxmlformats.org/drawingml/2006/main">
              <a:ext uri="{FF2B5EF4-FFF2-40B4-BE49-F238E27FC236}">
                <a16:creationId xmlns:a16="http://schemas.microsoft.com/office/drawing/2014/main" id="{2E7340BE-6C60-4AA9-8BF5-82540B01DD3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discussion</a:t>
            </a:r>
          </a:p>
        </p:txBody>
      </p:sp>
      <p:sp>
        <p:nvSpPr>
          <p:cNvPr id="4" name="">
            <a:extLst xmlns:a="http://schemas.openxmlformats.org/drawingml/2006/main">
              <a:ext uri="{FF2B5EF4-FFF2-40B4-BE49-F238E27FC236}">
                <a16:creationId xmlns:a16="http://schemas.microsoft.com/office/drawing/2014/main" id="{07208661-5262-4E0F-AADD-FDD7BE8EC315}"/>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6579988-FFB1-4C72-805B-029B424169C5}"/>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2E7D6F"/>
                </a:solidFill>
                <a:latin typeface="Calibri"/>
                <a:ea typeface="Calibri"/>
                <a:cs typeface="Calibri"/>
              </a:defRPr>
            </a:pPr>
            <a:r>
              <a:rPr sz="2400" b="1">
                <a:solidFill>
                  <a:srgbClr val="2E7D6F"/>
                </a:solidFill>
                <a:latin typeface="Calibri"/>
                <a:ea typeface="Calibri"/>
                <a:cs typeface="Calibri"/>
              </a:rPr>
              <a:t>An unusual value alone does not prove an error. The task did not authorize deleting 80. With 26 replacing 24, the middle known values are 22 and 26, so the new fill is 24. The raw list still contains None.</a:t>
            </a:r>
          </a:p>
        </p:txBody>
      </p:sp>
      <p:sp>
        <p:nvSpPr>
          <p:cNvPr id="6" name="">
            <a:extLst xmlns:a="http://schemas.openxmlformats.org/drawingml/2006/main">
              <a:ext uri="{FF2B5EF4-FFF2-40B4-BE49-F238E27FC236}">
                <a16:creationId xmlns:a16="http://schemas.microsoft.com/office/drawing/2014/main" id="{C7CDDA7B-2DB6-438D-A2AB-33D8FBA5A679}"/>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28864449-E0D5-42EC-A1A4-9AFE17292EE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38</a:t>
            </a:r>
          </a:p>
        </p:txBody>
      </p:sp>
    </p:spTree>
    <p:extLst>
      <p:ext uri="{BB962C8B-B14F-4D97-AF65-F5344CB8AC3E}">
        <p14:creationId xmlns:p14="http://schemas.microsoft.com/office/powerpoint/2010/main" val="1083117335"/>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7360D355-67B0-4DC5-A88D-4A19D950A1E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352C022-7DD0-474D-B55B-90031A6D31C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1B96E58-5122-44DE-87A1-C0D5C01E54F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compact loop is optional</a:t>
            </a:r>
          </a:p>
        </p:txBody>
      </p:sp>
      <p:sp>
        <p:nvSpPr>
          <p:cNvPr id="4" name="">
            <a:extLst xmlns:a="http://schemas.openxmlformats.org/drawingml/2006/main">
              <a:ext uri="{FF2B5EF4-FFF2-40B4-BE49-F238E27FC236}">
                <a16:creationId xmlns:a16="http://schemas.microsoft.com/office/drawing/2014/main" id="{BE34D280-1F88-4A96-A363-E210FCD11998}"/>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B160F92-C547-423A-BDF5-5F0956F8E113}"/>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readings = [2, 4, 6]</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doubled = []</a:t>
            </a:r>
          </a:p>
          <a:p xmlns:a="http://schemas.openxmlformats.org/drawingml/2006/main">
            <a:pPr>
              <a:defRPr sz="2090" b="0">
                <a:solidFill>
                  <a:srgbClr val="F4F7FA"/>
                </a:solidFill>
                <a:latin typeface="Courier New"/>
                <a:ea typeface="Courier New"/>
                <a:cs typeface="Courier New"/>
              </a:defRPr>
            </a:pPr>
            <a:r>
              <a:rPr sz="2090" b="0">
                <a:solidFill>
                  <a:srgbClr val="FFB080"/>
                </a:solidFill>
                <a:latin typeface="Courier New"/>
                <a:ea typeface="Courier New"/>
                <a:cs typeface="Courier New"/>
              </a:rPr>
              <a:t>for</a:t>
            </a:r>
            <a:r>
              <a:rPr sz="2090" b="0">
                <a:solidFill>
                  <a:srgbClr val="F4F7FA"/>
                </a:solidFill>
                <a:latin typeface="Courier New"/>
                <a:ea typeface="Courier New"/>
                <a:cs typeface="Courier New"/>
              </a:rPr>
              <a:t> value in readings:</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    doubled.append(value * 2)</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print(doubled)</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 Same operation in compact form:</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print([value * 2 for value in readings])</a:t>
            </a:r>
          </a:p>
        </p:txBody>
      </p:sp>
      <p:sp>
        <p:nvSpPr>
          <p:cNvPr id="6" name="">
            <a:extLst xmlns:a="http://schemas.openxmlformats.org/drawingml/2006/main">
              <a:ext uri="{FF2B5EF4-FFF2-40B4-BE49-F238E27FC236}">
                <a16:creationId xmlns:a16="http://schemas.microsoft.com/office/drawing/2014/main" id="{1176B9DD-65C6-4F47-BCD0-CB57D05EAE49}"/>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48C6D477-9E96-4501-A054-AD2F9E97E8EA}"/>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67CF8684-8CAA-4C24-A273-EAE260AE0EB6}"/>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84B040B0-0FCA-41C1-89F9-B159C20AA2B8}"/>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append adds one item to the end of a list.</a:t>
            </a:r>
          </a:p>
        </p:txBody>
      </p:sp>
      <p:sp>
        <p:nvSpPr>
          <p:cNvPr id="10" name="">
            <a:extLst xmlns:a="http://schemas.openxmlformats.org/drawingml/2006/main">
              <a:ext uri="{FF2B5EF4-FFF2-40B4-BE49-F238E27FC236}">
                <a16:creationId xmlns:a16="http://schemas.microsoft.com/office/drawing/2014/main" id="{90B779CA-97EC-476E-8F24-DFFF62FD99C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A list comprehension makes the same list. Learn the ordinary loop first.</a:t>
            </a:r>
          </a:p>
        </p:txBody>
      </p:sp>
      <p:sp>
        <p:nvSpPr>
          <p:cNvPr id="11" name="">
            <a:extLst xmlns:a="http://schemas.openxmlformats.org/drawingml/2006/main">
              <a:ext uri="{FF2B5EF4-FFF2-40B4-BE49-F238E27FC236}">
                <a16:creationId xmlns:a16="http://schemas.microsoft.com/office/drawing/2014/main" id="{CE4ADA72-4C5E-47D0-8F74-7B208A2D146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39</a:t>
            </a:r>
          </a:p>
        </p:txBody>
      </p:sp>
    </p:spTree>
    <p:extLst>
      <p:ext uri="{BB962C8B-B14F-4D97-AF65-F5344CB8AC3E}">
        <p14:creationId xmlns:p14="http://schemas.microsoft.com/office/powerpoint/2010/main" val="1328340078"/>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01A01185-D654-4380-BA0B-36D34D48ED4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6480BCB-1B17-42CC-A934-B3272F0AD09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7AF15EEC-6A5C-494F-8399-FE5571C7067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Short explainer and discussion</a:t>
            </a:r>
          </a:p>
        </p:txBody>
      </p:sp>
      <p:sp>
        <p:nvSpPr>
          <p:cNvPr id="4" name="">
            <a:extLst xmlns:a="http://schemas.openxmlformats.org/drawingml/2006/main">
              <a:ext uri="{FF2B5EF4-FFF2-40B4-BE49-F238E27FC236}">
                <a16:creationId xmlns:a16="http://schemas.microsoft.com/office/drawing/2014/main" id="{9348A6CB-8C99-4C44-9289-9E66D199E98C}"/>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69D7D1C-A109-41DF-B901-F1EF6C808C50}"/>
              </a:ext>
            </a:extLst>
          </p:cNvPr>
          <p:cNvSpPr>
            <a:spLocks xmlns:a="http://schemas.openxmlformats.org/drawingml/2006/main" noGrp="1"/>
          </p:cNvSpPr>
          <p:nvPr/>
        </p:nvSpPr>
        <p:spPr>
          <a:xfrm xmlns:a="http://schemas.openxmlformats.org/drawingml/2006/main">
            <a:off x="1381125" y="1724025"/>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Boxplots are Awesome!!!</a:t>
            </a:r>
          </a:p>
        </p:txBody>
      </p:sp>
      <p:sp>
        <p:nvSpPr>
          <p:cNvPr id="6" name="">
            <a:extLst xmlns:a="http://schemas.openxmlformats.org/drawingml/2006/main">
              <a:ext uri="{FF2B5EF4-FFF2-40B4-BE49-F238E27FC236}">
                <a16:creationId xmlns:a16="http://schemas.microsoft.com/office/drawing/2014/main" id="{F9583CD4-018B-4E7F-9358-F539132D75E8}"/>
              </a:ext>
            </a:extLst>
          </p:cNvPr>
          <p:cNvSpPr>
            <a:spLocks xmlns:a="http://schemas.openxmlformats.org/drawingml/2006/main" noGrp="1"/>
          </p:cNvSpPr>
          <p:nvPr/>
        </p:nvSpPr>
        <p:spPr>
          <a:xfrm xmlns:a="http://schemas.openxmlformats.org/drawingml/2006/main">
            <a:off x="590550" y="27876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9F39E58-C123-4EED-B4AD-87FECE7A296D}"/>
              </a:ext>
            </a:extLst>
          </p:cNvPr>
          <p:cNvSpPr>
            <a:spLocks xmlns:a="http://schemas.openxmlformats.org/drawingml/2006/main" noGrp="1"/>
          </p:cNvSpPr>
          <p:nvPr/>
        </p:nvSpPr>
        <p:spPr>
          <a:xfrm xmlns:a="http://schemas.openxmlformats.org/drawingml/2006/main">
            <a:off x="1381125" y="2787650"/>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8" name="">
            <a:extLst xmlns:a="http://schemas.openxmlformats.org/drawingml/2006/main">
              <a:ext uri="{FF2B5EF4-FFF2-40B4-BE49-F238E27FC236}">
                <a16:creationId xmlns:a16="http://schemas.microsoft.com/office/drawing/2014/main" id="{CFF135CF-821E-4DF2-9411-6DD7084C2C86}"/>
              </a:ext>
            </a:extLst>
          </p:cNvPr>
          <p:cNvSpPr>
            <a:spLocks xmlns:a="http://schemas.openxmlformats.org/drawingml/2006/main" noGrp="1"/>
          </p:cNvSpPr>
          <p:nvPr/>
        </p:nvSpPr>
        <p:spPr>
          <a:xfrm xmlns:a="http://schemas.openxmlformats.org/drawingml/2006/main">
            <a:off x="590550" y="38512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D32A95A-8F98-4A96-9575-D4A849F0D643}"/>
              </a:ext>
            </a:extLst>
          </p:cNvPr>
          <p:cNvSpPr>
            <a:spLocks xmlns:a="http://schemas.openxmlformats.org/drawingml/2006/main" noGrp="1"/>
          </p:cNvSpPr>
          <p:nvPr/>
        </p:nvSpPr>
        <p:spPr>
          <a:xfrm xmlns:a="http://schemas.openxmlformats.org/drawingml/2006/main">
            <a:off x="1381125" y="3851275"/>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What does the box show, and does a point outside it prove an error?</a:t>
            </a:r>
          </a:p>
        </p:txBody>
      </p:sp>
      <p:sp>
        <p:nvSpPr>
          <p:cNvPr id="10" name="">
            <a:extLst xmlns:a="http://schemas.openxmlformats.org/drawingml/2006/main">
              <a:ext uri="{FF2B5EF4-FFF2-40B4-BE49-F238E27FC236}">
                <a16:creationId xmlns:a16="http://schemas.microsoft.com/office/drawing/2014/main" id="{29CBB261-78ED-47CA-BEE8-19BD928AD0BA}"/>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43EB4D1-696F-455C-9287-E035A255E2AD}"/>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6c2054962e354a25"/>
              </a:rPr>
              <a:t>Open explainer video</a:t>
            </a:r>
          </a:p>
        </p:txBody>
      </p:sp>
      <p:sp>
        <p:nvSpPr>
          <p:cNvPr id="12" name="">
            <a:extLst xmlns:a="http://schemas.openxmlformats.org/drawingml/2006/main">
              <a:ext uri="{FF2B5EF4-FFF2-40B4-BE49-F238E27FC236}">
                <a16:creationId xmlns:a16="http://schemas.microsoft.com/office/drawing/2014/main" id="{E4A91A4E-A7DC-4430-AA17-ACE912F64BBF}"/>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https://www.youtube.com/watch?v=fHLhBnmwUM0</a:t>
            </a:r>
          </a:p>
        </p:txBody>
      </p:sp>
      <p:sp>
        <p:nvSpPr>
          <p:cNvPr id="13" name="">
            <a:extLst xmlns:a="http://schemas.openxmlformats.org/drawingml/2006/main">
              <a:ext uri="{FF2B5EF4-FFF2-40B4-BE49-F238E27FC236}">
                <a16:creationId xmlns:a16="http://schemas.microsoft.com/office/drawing/2014/main" id="{27431E45-4431-465C-863D-8CA2DA19581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40</a:t>
            </a:r>
          </a:p>
        </p:txBody>
      </p:sp>
    </p:spTree>
    <p:extLst>
      <p:ext uri="{BB962C8B-B14F-4D97-AF65-F5344CB8AC3E}">
        <p14:creationId xmlns:p14="http://schemas.microsoft.com/office/powerpoint/2010/main" val="885005430"/>
      </p:ext>
    </p:extLst>
  </p:cSld>
</p:sld>
</file>

<file path=ppt/slides/slide41.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5164EEA-660A-47ED-9DD4-2ECA4357ED9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A0D9BF6D-3D2B-4F39-8986-7595E7C02DE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After the video</a:t>
            </a:r>
          </a:p>
        </p:txBody>
      </p:sp>
      <p:sp>
        <p:nvSpPr>
          <p:cNvPr id="3" name="">
            <a:extLst xmlns:a="http://schemas.openxmlformats.org/drawingml/2006/main">
              <a:ext uri="{FF2B5EF4-FFF2-40B4-BE49-F238E27FC236}">
                <a16:creationId xmlns:a16="http://schemas.microsoft.com/office/drawing/2014/main" id="{3716BCA4-5F19-4A5C-AAE2-49155C4AFE8E}"/>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1CEF5B92-A0C8-4FE5-B579-83A230E250D4}"/>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Explain why an unusual temperature needs investigation before deletion.</a:t>
            </a:r>
          </a:p>
        </p:txBody>
      </p:sp>
      <p:sp>
        <p:nvSpPr>
          <p:cNvPr id="5" name="">
            <a:extLst xmlns:a="http://schemas.openxmlformats.org/drawingml/2006/main">
              <a:ext uri="{FF2B5EF4-FFF2-40B4-BE49-F238E27FC236}">
                <a16:creationId xmlns:a16="http://schemas.microsoft.com/office/drawing/2014/main" id="{7171E5AE-1887-4F63-8E2C-E144F90126E3}"/>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Think alone first. Then compare your reasoning with a partner.</a:t>
            </a:r>
          </a:p>
        </p:txBody>
      </p:sp>
      <p:sp>
        <p:nvSpPr>
          <p:cNvPr id="6" name="">
            <a:extLst xmlns:a="http://schemas.openxmlformats.org/drawingml/2006/main">
              <a:ext uri="{FF2B5EF4-FFF2-40B4-BE49-F238E27FC236}">
                <a16:creationId xmlns:a16="http://schemas.microsoft.com/office/drawing/2014/main" id="{682FF8DE-A43F-461C-9776-375B0865DC2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6   41</a:t>
            </a:r>
          </a:p>
        </p:txBody>
      </p:sp>
    </p:spTree>
    <p:extLst>
      <p:ext uri="{BB962C8B-B14F-4D97-AF65-F5344CB8AC3E}">
        <p14:creationId xmlns:p14="http://schemas.microsoft.com/office/powerpoint/2010/main" val="905815963"/>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AEE4CB5-14FD-4DD4-93E1-321B4761C26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6464BC4-38EF-451E-9B9B-2C970F0C232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E785E8E-4341-4F00-9F8C-A900C3BE898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3B08086D-C5E2-4419-AA28-6224FBDD60D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17E6DAB-C6DF-418D-BD7C-8EE8BE9F87ED}"/>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W06 uses a list of record dictionaries.</a:t>
            </a:r>
          </a:p>
        </p:txBody>
      </p:sp>
      <p:sp>
        <p:nvSpPr>
          <p:cNvPr id="6" name="">
            <a:extLst xmlns:a="http://schemas.openxmlformats.org/drawingml/2006/main">
              <a:ext uri="{FF2B5EF4-FFF2-40B4-BE49-F238E27FC236}">
                <a16:creationId xmlns:a16="http://schemas.microsoft.com/office/drawing/2014/main" id="{0888718A-43FD-4145-9E85-20FB9912F73C}"/>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22265F8-AAF3-4634-9A58-ED36B0346418}"/>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Show one record and one field lookup before the function interfaces.</a:t>
            </a:r>
          </a:p>
        </p:txBody>
      </p:sp>
      <p:sp>
        <p:nvSpPr>
          <p:cNvPr id="8" name="">
            <a:extLst xmlns:a="http://schemas.openxmlformats.org/drawingml/2006/main">
              <a:ext uri="{FF2B5EF4-FFF2-40B4-BE49-F238E27FC236}">
                <a16:creationId xmlns:a16="http://schemas.microsoft.com/office/drawing/2014/main" id="{BE184B67-0B35-4ED5-ABAE-6BAF73C35F06}"/>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1188BCE-D916-4A6A-BA25-373161DDAF19}"/>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Parse CSV blank numeric cells as None. dict(row) copies a record. append adds an item to a list.</a:t>
            </a:r>
          </a:p>
        </p:txBody>
      </p:sp>
      <p:sp>
        <p:nvSpPr>
          <p:cNvPr id="10" name="">
            <a:extLst xmlns:a="http://schemas.openxmlformats.org/drawingml/2006/main">
              <a:ext uri="{FF2B5EF4-FFF2-40B4-BE49-F238E27FC236}">
                <a16:creationId xmlns:a16="http://schemas.microsoft.com/office/drawing/2014/main" id="{2F6D1BF2-C10C-447C-9DCF-3DEE322E518B}"/>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814FFF6-0223-4775-B073-035CE68908F3}"/>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task brief specifies the cleaning order and returned outputs.</a:t>
            </a:r>
          </a:p>
        </p:txBody>
      </p:sp>
      <p:sp>
        <p:nvSpPr>
          <p:cNvPr id="12" name="">
            <a:extLst xmlns:a="http://schemas.openxmlformats.org/drawingml/2006/main">
              <a:ext uri="{FF2B5EF4-FFF2-40B4-BE49-F238E27FC236}">
                <a16:creationId xmlns:a16="http://schemas.microsoft.com/office/drawing/2014/main" id="{CC5BB722-EBEF-48ED-B1EF-FCCF808FB45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42</a:t>
            </a:r>
          </a:p>
        </p:txBody>
      </p:sp>
    </p:spTree>
    <p:extLst>
      <p:ext uri="{BB962C8B-B14F-4D97-AF65-F5344CB8AC3E}">
        <p14:creationId xmlns:p14="http://schemas.microsoft.com/office/powerpoint/2010/main" val="904225641"/>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8C2F115-5AC0-4612-9B63-107D6079F30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1FA13B8-0338-4EB2-A12A-8F45EF5E957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812BA5EA-C65D-47FE-9E31-40D4DCED887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 continued</a:t>
            </a:r>
          </a:p>
        </p:txBody>
      </p:sp>
      <p:sp>
        <p:nvSpPr>
          <p:cNvPr id="4" name="">
            <a:extLst xmlns:a="http://schemas.openxmlformats.org/drawingml/2006/main">
              <a:ext uri="{FF2B5EF4-FFF2-40B4-BE49-F238E27FC236}">
                <a16:creationId xmlns:a16="http://schemas.microsoft.com/office/drawing/2014/main" id="{FE63CC92-FF41-41E9-8115-6C3DE6F562F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34DDA65-0419-4402-AE20-FCA288C0243C}"/>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set records IDs already seen.</a:t>
            </a:r>
          </a:p>
        </p:txBody>
      </p:sp>
      <p:sp>
        <p:nvSpPr>
          <p:cNvPr id="6" name="">
            <a:extLst xmlns:a="http://schemas.openxmlformats.org/drawingml/2006/main">
              <a:ext uri="{FF2B5EF4-FFF2-40B4-BE49-F238E27FC236}">
                <a16:creationId xmlns:a16="http://schemas.microsoft.com/office/drawing/2014/main" id="{6B3E96DB-FDBB-461C-923A-018C34965FB3}"/>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7EF8173-19D0-42E5-B0EB-BE2F197D1F5E}"/>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Group summaries collect readings with the same equipment ID.</a:t>
            </a:r>
          </a:p>
        </p:txBody>
      </p:sp>
      <p:sp>
        <p:nvSpPr>
          <p:cNvPr id="8" name="">
            <a:extLst xmlns:a="http://schemas.openxmlformats.org/drawingml/2006/main">
              <a:ext uri="{FF2B5EF4-FFF2-40B4-BE49-F238E27FC236}">
                <a16:creationId xmlns:a16="http://schemas.microsoft.com/office/drawing/2014/main" id="{C08AF413-0719-4B89-810D-D1BB6A413E22}"/>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38F5812-C252-45F3-AEF0-F4F98D6651EC}"/>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that written evidence belongs in My written evidence, not in code comments.</a:t>
            </a:r>
          </a:p>
        </p:txBody>
      </p:sp>
      <p:sp>
        <p:nvSpPr>
          <p:cNvPr id="10" name="">
            <a:extLst xmlns:a="http://schemas.openxmlformats.org/drawingml/2006/main">
              <a:ext uri="{FF2B5EF4-FFF2-40B4-BE49-F238E27FC236}">
                <a16:creationId xmlns:a16="http://schemas.microsoft.com/office/drawing/2014/main" id="{D6BFD8A7-6822-46FC-A164-B2D0E1E7FFF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43</a:t>
            </a:r>
          </a:p>
        </p:txBody>
      </p:sp>
    </p:spTree>
    <p:extLst>
      <p:ext uri="{BB962C8B-B14F-4D97-AF65-F5344CB8AC3E}">
        <p14:creationId xmlns:p14="http://schemas.microsoft.com/office/powerpoint/2010/main" val="1782454227"/>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44B790E-27F1-4AC9-8C00-0DB8C162C02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37CFC67-2AC5-46E1-AF0E-94517BF8E2A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93F5282-C31A-4347-97BA-2ACB4163760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Cleaning choices and charts</a:t>
            </a:r>
          </a:p>
        </p:txBody>
      </p:sp>
      <p:sp>
        <p:nvSpPr>
          <p:cNvPr id="4" name="">
            <a:extLst xmlns:a="http://schemas.openxmlformats.org/drawingml/2006/main">
              <a:ext uri="{FF2B5EF4-FFF2-40B4-BE49-F238E27FC236}">
                <a16:creationId xmlns:a16="http://schemas.microsoft.com/office/drawing/2014/main" id="{0E73624B-BDBA-4FCE-BB6D-1C60F17C0BF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88EC542-177A-4132-908E-727258C155E1}"/>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Filling blanks with zero changes the mean and may be unjustified.</a:t>
            </a:r>
          </a:p>
        </p:txBody>
      </p:sp>
      <p:sp>
        <p:nvSpPr>
          <p:cNvPr id="6" name="">
            <a:extLst xmlns:a="http://schemas.openxmlformats.org/drawingml/2006/main">
              <a:ext uri="{FF2B5EF4-FFF2-40B4-BE49-F238E27FC236}">
                <a16:creationId xmlns:a16="http://schemas.microsoft.com/office/drawing/2014/main" id="{055269D5-CD14-40BB-B6C1-018469646926}"/>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804FEAA-ED4C-42CE-98AE-B0D96A900317}"/>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Dropping every row with any blank can remove valid observations.</a:t>
            </a:r>
          </a:p>
        </p:txBody>
      </p:sp>
      <p:sp>
        <p:nvSpPr>
          <p:cNvPr id="8" name="">
            <a:extLst xmlns:a="http://schemas.openxmlformats.org/drawingml/2006/main">
              <a:ext uri="{FF2B5EF4-FFF2-40B4-BE49-F238E27FC236}">
                <a16:creationId xmlns:a16="http://schemas.microsoft.com/office/drawing/2014/main" id="{E8EE7E99-DB50-4CFD-B3E4-7C8C53DB9B42}"/>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953378D-E772-4077-A416-9002038564A3}"/>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failed numeric conversion identifies a problematic value to inspect rather than hide.</a:t>
            </a:r>
          </a:p>
        </p:txBody>
      </p:sp>
      <p:sp>
        <p:nvSpPr>
          <p:cNvPr id="10" name="">
            <a:extLst xmlns:a="http://schemas.openxmlformats.org/drawingml/2006/main">
              <a:ext uri="{FF2B5EF4-FFF2-40B4-BE49-F238E27FC236}">
                <a16:creationId xmlns:a16="http://schemas.microsoft.com/office/drawing/2014/main" id="{1EC7057D-F27B-437F-890D-E5EC2C526BF8}"/>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CE604F6-AC68-4EA2-8729-D926DE1029DB}"/>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histogram describes one distribution; a scatter plot shows paired values; a grouped chart compares groups.</a:t>
            </a:r>
          </a:p>
        </p:txBody>
      </p:sp>
      <p:sp>
        <p:nvSpPr>
          <p:cNvPr id="12" name="">
            <a:extLst xmlns:a="http://schemas.openxmlformats.org/drawingml/2006/main">
              <a:ext uri="{FF2B5EF4-FFF2-40B4-BE49-F238E27FC236}">
                <a16:creationId xmlns:a16="http://schemas.microsoft.com/office/drawing/2014/main" id="{7FAE4EC5-2B3B-4F76-B172-8484B88D107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44</a:t>
            </a:r>
          </a:p>
        </p:txBody>
      </p:sp>
    </p:spTree>
    <p:extLst>
      <p:ext uri="{BB962C8B-B14F-4D97-AF65-F5344CB8AC3E}">
        <p14:creationId xmlns:p14="http://schemas.microsoft.com/office/powerpoint/2010/main" val="1143971895"/>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072E907-122B-4BFA-84A3-D3EB2A7CC76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CDE3653-975A-4C7A-AA21-F4C54DF7C74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9114498-5F21-4C9A-90B4-5CDE2327150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Cleaning choices and charts continued</a:t>
            </a:r>
          </a:p>
        </p:txBody>
      </p:sp>
      <p:sp>
        <p:nvSpPr>
          <p:cNvPr id="4" name="">
            <a:extLst xmlns:a="http://schemas.openxmlformats.org/drawingml/2006/main">
              <a:ext uri="{FF2B5EF4-FFF2-40B4-BE49-F238E27FC236}">
                <a16:creationId xmlns:a16="http://schemas.microsoft.com/office/drawing/2014/main" id="{70F557CC-4B45-4C7D-981E-862C79AF5D59}"/>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8C9A827-D5B4-4BB1-A301-207220699598}"/>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310F4FF-D2CA-469C-B1E8-273F058D7C2A}"/>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Read both axes and units.</a:t>
            </a:r>
          </a:p>
        </p:txBody>
      </p:sp>
      <p:sp>
        <p:nvSpPr>
          <p:cNvPr id="7" name="">
            <a:extLst xmlns:a="http://schemas.openxmlformats.org/drawingml/2006/main">
              <a:ext uri="{FF2B5EF4-FFF2-40B4-BE49-F238E27FC236}">
                <a16:creationId xmlns:a16="http://schemas.microsoft.com/office/drawing/2014/main" id="{4BA1C90E-3B0C-48FB-B11B-22700681CD5E}"/>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plausible extreme needs investigation before deletion.</a:t>
            </a:r>
          </a:p>
        </p:txBody>
      </p:sp>
      <p:sp>
        <p:nvSpPr>
          <p:cNvPr id="8" name="">
            <a:extLst xmlns:a="http://schemas.openxmlformats.org/drawingml/2006/main">
              <a:ext uri="{FF2B5EF4-FFF2-40B4-BE49-F238E27FC236}">
                <a16:creationId xmlns:a16="http://schemas.microsoft.com/office/drawing/2014/main" id="{C5092A4B-5B98-4002-967B-798D99646EF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45</a:t>
            </a:r>
          </a:p>
        </p:txBody>
      </p:sp>
    </p:spTree>
    <p:extLst>
      <p:ext uri="{BB962C8B-B14F-4D97-AF65-F5344CB8AC3E}">
        <p14:creationId xmlns:p14="http://schemas.microsoft.com/office/powerpoint/2010/main" val="827408958"/>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2C69909-9D58-4176-B3E4-F78965BEAF9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43DB45D-3FD6-4F61-9B07-7F6BB691624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1CA6D90-0DD6-4423-AD37-5D873C07C3B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A224580E-949C-448B-928E-860EA23F3D3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A0FC653-F929-4CDB-999A-A7668DD0A07A}"/>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motor winding temperature.</a:t>
            </a:r>
          </a:p>
        </p:txBody>
      </p:sp>
      <p:sp>
        <p:nvSpPr>
          <p:cNvPr id="6" name="">
            <a:extLst xmlns:a="http://schemas.openxmlformats.org/drawingml/2006/main">
              <a:ext uri="{FF2B5EF4-FFF2-40B4-BE49-F238E27FC236}">
                <a16:creationId xmlns:a16="http://schemas.microsoft.com/office/drawing/2014/main" id="{8F586C55-06A3-4851-A77D-23FDC0C2F67E}"/>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F784E77-9729-4CCA-A39B-0B1EE602C493}"/>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deg C.</a:t>
            </a:r>
          </a:p>
        </p:txBody>
      </p:sp>
      <p:sp>
        <p:nvSpPr>
          <p:cNvPr id="8" name="">
            <a:extLst xmlns:a="http://schemas.openxmlformats.org/drawingml/2006/main">
              <a:ext uri="{FF2B5EF4-FFF2-40B4-BE49-F238E27FC236}">
                <a16:creationId xmlns:a16="http://schemas.microsoft.com/office/drawing/2014/main" id="{9C41AA66-FEAA-4B7A-9EC7-0DAB92A310D5}"/>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2194040-A507-4055-AFB5-EC39DBC30385}"/>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not measurements suitable for deployment.</a:t>
            </a:r>
          </a:p>
        </p:txBody>
      </p:sp>
      <p:sp>
        <p:nvSpPr>
          <p:cNvPr id="10" name="">
            <a:extLst xmlns:a="http://schemas.openxmlformats.org/drawingml/2006/main">
              <a:ext uri="{FF2B5EF4-FFF2-40B4-BE49-F238E27FC236}">
                <a16:creationId xmlns:a16="http://schemas.microsoft.com/office/drawing/2014/main" id="{B0B45B41-DF61-431F-BCE8-19C0F29A6797}"/>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50A7B44-8A82-40C7-B3D0-7BF8D1F2CA3D}"/>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02B9F605-C0BB-4E26-A031-39B721AE862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46</a:t>
            </a:r>
          </a:p>
        </p:txBody>
      </p:sp>
    </p:spTree>
    <p:extLst>
      <p:ext uri="{BB962C8B-B14F-4D97-AF65-F5344CB8AC3E}">
        <p14:creationId xmlns:p14="http://schemas.microsoft.com/office/powerpoint/2010/main" val="492693456"/>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B7F0FFD-E4CC-4288-ABE1-4CACB640642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66D3144-435C-435E-A948-30EDEC8F647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A943A44E-CE7D-4B92-A286-242394638F6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clean_records(records)</a:t>
            </a:r>
          </a:p>
        </p:txBody>
      </p:sp>
      <p:sp>
        <p:nvSpPr>
          <p:cNvPr id="4" name="">
            <a:extLst xmlns:a="http://schemas.openxmlformats.org/drawingml/2006/main">
              <a:ext uri="{FF2B5EF4-FFF2-40B4-BE49-F238E27FC236}">
                <a16:creationId xmlns:a16="http://schemas.microsoft.com/office/drawing/2014/main" id="{4709C156-77E2-42D0-9FE5-93BAE5EBB258}"/>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8F6D379-78E3-453B-9E6A-F205074C7F27}"/>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copied records in original order: remove repeated record_id after its first occurrence, drop rows with missing target or load_pct outside 0–100 inclusive, then fill missing ambient_c with the median of retained non-missing ambient_c values.</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Preserve raw input.</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No other changes.</a:t>
            </a:r>
          </a:p>
        </p:txBody>
      </p:sp>
      <p:sp>
        <p:nvSpPr>
          <p:cNvPr id="6" name="">
            <a:extLst xmlns:a="http://schemas.openxmlformats.org/drawingml/2006/main">
              <a:ext uri="{FF2B5EF4-FFF2-40B4-BE49-F238E27FC236}">
                <a16:creationId xmlns:a16="http://schemas.microsoft.com/office/drawing/2014/main" id="{73B66B74-F074-4B69-B096-2C53D553C5E3}"/>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6764B654-8AA4-4808-9B0F-9FAFA3552490}"/>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CED9118E-8EDC-44CE-AC74-ED96227F7B3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47</a:t>
            </a:r>
          </a:p>
        </p:txBody>
      </p:sp>
    </p:spTree>
    <p:extLst>
      <p:ext uri="{BB962C8B-B14F-4D97-AF65-F5344CB8AC3E}">
        <p14:creationId xmlns:p14="http://schemas.microsoft.com/office/powerpoint/2010/main" val="146721097"/>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9706FE2-5B68-452E-934D-61AC16FB4CE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078836F-94A6-485A-ADF4-7B667543A50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EB95C207-B3EC-4702-80CB-80392A1B9E1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summarize_records(clean_records)</a:t>
            </a:r>
          </a:p>
        </p:txBody>
      </p:sp>
      <p:sp>
        <p:nvSpPr>
          <p:cNvPr id="4" name="">
            <a:extLst xmlns:a="http://schemas.openxmlformats.org/drawingml/2006/main">
              <a:ext uri="{FF2B5EF4-FFF2-40B4-BE49-F238E27FC236}">
                <a16:creationId xmlns:a16="http://schemas.microsoft.com/office/drawing/2014/main" id="{A15B27D5-7F74-46A9-802B-27334F074161}"/>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929EA14-3B4A-4D35-9A4D-56E9DDBF72F9}"/>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count, mean, minimum, maximum of target and group_means by equipment_id.</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Retain full precision.</a:t>
            </a:r>
          </a:p>
        </p:txBody>
      </p:sp>
      <p:sp>
        <p:nvSpPr>
          <p:cNvPr id="6" name="">
            <a:extLst xmlns:a="http://schemas.openxmlformats.org/drawingml/2006/main">
              <a:ext uri="{FF2B5EF4-FFF2-40B4-BE49-F238E27FC236}">
                <a16:creationId xmlns:a16="http://schemas.microsoft.com/office/drawing/2014/main" id="{0AD979B0-3CFC-4573-B295-7C452AFD0E17}"/>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3477E6C-B010-4DE2-A54D-AB9697E6829B}"/>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9B2C0C5C-C10E-4FE3-BF60-03C0CC69020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48</a:t>
            </a:r>
          </a:p>
        </p:txBody>
      </p:sp>
    </p:spTree>
    <p:extLst>
      <p:ext uri="{BB962C8B-B14F-4D97-AF65-F5344CB8AC3E}">
        <p14:creationId xmlns:p14="http://schemas.microsoft.com/office/powerpoint/2010/main" val="25600552"/>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C711CB0-87E7-4FB0-89FE-7DEE14EA703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3E17F4C-F216-40B9-8C2B-CE6568A5F5F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83259947-989D-4A78-886E-E70C8CC42AB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audit_cleaning(raw_records, cleaned_records)</a:t>
            </a:r>
          </a:p>
        </p:txBody>
      </p:sp>
      <p:sp>
        <p:nvSpPr>
          <p:cNvPr id="4" name="">
            <a:extLst xmlns:a="http://schemas.openxmlformats.org/drawingml/2006/main">
              <a:ext uri="{FF2B5EF4-FFF2-40B4-BE49-F238E27FC236}">
                <a16:creationId xmlns:a16="http://schemas.microsoft.com/office/drawing/2014/main" id="{0324CA03-7C37-47BD-AD75-DE70B5FE305C}"/>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6E82BF3-80A0-49A0-89F2-2B73A709DF4A}"/>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Return raw_count and cleaned_count; duplicate_ids is the number of cleaned records beyond the first occurrence of each record_id; missing_targets counts None targets; invalid_loads counts cleaned load_pct outside 0–100 inclusive.</a:t>
            </a:r>
          </a:p>
          <a:p xmlns:a="http://schemas.openxmlformats.org/drawingml/2006/main">
            <a: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Report the actual supplied data, which may still contain defects.</a:t>
            </a:r>
          </a:p>
          <a:p xmlns:a="http://schemas.openxmlformats.org/drawingml/2006/main">
            <a: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Do not change either input.</a:t>
            </a:r>
          </a:p>
          <a:p xmlns:a="http://schemas.openxmlformats.org/drawingml/2006/main">
            <a: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All five values are integer counts.</a:t>
            </a:r>
          </a:p>
        </p:txBody>
      </p:sp>
      <p:sp>
        <p:nvSpPr>
          <p:cNvPr id="6" name="">
            <a:extLst xmlns:a="http://schemas.openxmlformats.org/drawingml/2006/main">
              <a:ext uri="{FF2B5EF4-FFF2-40B4-BE49-F238E27FC236}">
                <a16:creationId xmlns:a16="http://schemas.microsoft.com/office/drawing/2014/main" id="{70E02168-F8E1-4499-879C-8C7FF77FBD80}"/>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AE41CFC-DA9D-4A71-9F3F-3B4F2A9458C5}"/>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9B39C2E0-DE40-4D3D-A51B-319F8126F03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49</a:t>
            </a:r>
          </a:p>
        </p:txBody>
      </p:sp>
    </p:spTree>
    <p:extLst>
      <p:ext uri="{BB962C8B-B14F-4D97-AF65-F5344CB8AC3E}">
        <p14:creationId xmlns:p14="http://schemas.microsoft.com/office/powerpoint/2010/main" val="402724898"/>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8E9A468-AC6F-43C0-A31D-B5ED302DF89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C4A2DAF-0BD6-4114-916C-DF8E83FCD93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F8DBC33-65B8-4186-9703-DB434F84182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ACB65DAC-51C2-455D-AB53-18D39EC04AB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DCED70C-CB30-4E55-9177-E4F117B62774}"/>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3578F1A5-6B07-4055-A217-A42089BEB373}"/>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5355C11-E91B-4C57-BCD0-B00FB702701B}"/>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D31D1093-B075-414C-B544-9FEAB562C458}"/>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05311F6-DD99-465C-9913-3C95FD9DB3A3}"/>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5977D953-8A6E-4C2F-8C02-CF301F0C841F}"/>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F5AC966-2FD2-4640-8EDF-4C121AD76313}"/>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90668693-1F2F-4E80-8AA1-21228B70A4F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50</a:t>
            </a:r>
          </a:p>
        </p:txBody>
      </p:sp>
    </p:spTree>
    <p:extLst>
      <p:ext uri="{BB962C8B-B14F-4D97-AF65-F5344CB8AC3E}">
        <p14:creationId xmlns:p14="http://schemas.microsoft.com/office/powerpoint/2010/main" val="1587943309"/>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D9B428E1-ED4B-4476-BD44-6493388E499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EA198AB-518B-467A-9941-D22AD1C448C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601543ED-1609-4F4F-BE4D-DF3613A57E2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Cleaning and quality submission</a:t>
            </a:r>
          </a:p>
        </p:txBody>
      </p:sp>
      <p:sp>
        <p:nvSpPr>
          <p:cNvPr id="4" name="">
            <a:extLst xmlns:a="http://schemas.openxmlformats.org/drawingml/2006/main">
              <a:ext uri="{FF2B5EF4-FFF2-40B4-BE49-F238E27FC236}">
                <a16:creationId xmlns:a16="http://schemas.microsoft.com/office/drawing/2014/main" id="{F45F6D3B-F656-4D1A-806A-9BCC9370E8AD}"/>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1076B0E-9945-4DF6-8381-FD905896D473}"/>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16 Oct 2026, 11:00 Kampala</a:t>
            </a:r>
          </a:p>
        </p:txBody>
      </p:sp>
      <p:sp>
        <p:nvSpPr>
          <p:cNvPr id="6" name="">
            <a:extLst xmlns:a="http://schemas.openxmlformats.org/drawingml/2006/main">
              <a:ext uri="{FF2B5EF4-FFF2-40B4-BE49-F238E27FC236}">
                <a16:creationId xmlns:a16="http://schemas.microsoft.com/office/drawing/2014/main" id="{6545FEDB-6652-48F6-B1AE-27438260E846}"/>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15431B9-F966-4C10-8515-65834B3EF091}"/>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23 Oct 2026, 11:00 Kampala</a:t>
            </a:r>
          </a:p>
        </p:txBody>
      </p:sp>
      <p:sp>
        <p:nvSpPr>
          <p:cNvPr id="8" name="">
            <a:extLst xmlns:a="http://schemas.openxmlformats.org/drawingml/2006/main">
              <a:ext uri="{FF2B5EF4-FFF2-40B4-BE49-F238E27FC236}">
                <a16:creationId xmlns:a16="http://schemas.microsoft.com/office/drawing/2014/main" id="{4C26D570-34F3-4888-94DB-8F5BDDC71AFF}"/>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C7D406D-40F3-46F9-9C22-7846442014B9}"/>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95FEF69B-A2F4-47F6-B2D4-F31F82BEB62C}"/>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6E27B28-8D93-48F9-9549-9D6649836FDE}"/>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C724F89E-C593-467F-BEE4-8C8BD0A611D5}"/>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36166060-C349-4974-87B6-E5F9967B9AD4}"/>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707f2d8dcce44ffc"/>
              </a:rPr>
              <a:t>Open W06 assignment form</a:t>
            </a:r>
          </a:p>
        </p:txBody>
      </p:sp>
      <p:sp>
        <p:nvSpPr>
          <p:cNvPr id="14" name="">
            <a:extLst xmlns:a="http://schemas.openxmlformats.org/drawingml/2006/main">
              <a:ext uri="{FF2B5EF4-FFF2-40B4-BE49-F238E27FC236}">
                <a16:creationId xmlns:a16="http://schemas.microsoft.com/office/drawing/2014/main" id="{B9ECD587-389E-4E8D-AE6A-96E5B609A66C}"/>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https://docs.google.com/forms/d/e/1FAIpQLSfcvyIDBXQG0fnr8EYsAHCsFatx8MDwAjzct3kPMz2JgAPxZQ/viewform</a:t>
            </a:r>
          </a:p>
        </p:txBody>
      </p:sp>
      <p:sp>
        <p:nvSpPr>
          <p:cNvPr id="15" name="">
            <a:extLst xmlns:a="http://schemas.openxmlformats.org/drawingml/2006/main">
              <a:ext uri="{FF2B5EF4-FFF2-40B4-BE49-F238E27FC236}">
                <a16:creationId xmlns:a16="http://schemas.microsoft.com/office/drawing/2014/main" id="{44B92DAA-41EB-4660-A101-8648C25D2F7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51</a:t>
            </a:r>
          </a:p>
        </p:txBody>
      </p:sp>
    </p:spTree>
    <p:extLst>
      <p:ext uri="{BB962C8B-B14F-4D97-AF65-F5344CB8AC3E}">
        <p14:creationId xmlns:p14="http://schemas.microsoft.com/office/powerpoint/2010/main" val="81445508"/>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41B6BB0-6242-4EEF-B499-38C5D9061C3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D33CCB2-47E9-477A-800B-1DED7AEBA35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487AD495-B27E-4CB5-BF40-7507D93404B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preparation</a:t>
            </a:r>
          </a:p>
        </p:txBody>
      </p:sp>
      <p:sp>
        <p:nvSpPr>
          <p:cNvPr id="4" name="">
            <a:extLst xmlns:a="http://schemas.openxmlformats.org/drawingml/2006/main">
              <a:ext uri="{FF2B5EF4-FFF2-40B4-BE49-F238E27FC236}">
                <a16:creationId xmlns:a16="http://schemas.microsoft.com/office/drawing/2014/main" id="{B8847C3C-650D-4099-99DC-428E8F34238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75FE2F9-ACFB-4155-85B0-0FC7D3F04456}"/>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data analysis project brief.</a:t>
            </a:r>
          </a:p>
        </p:txBody>
      </p:sp>
      <p:sp>
        <p:nvSpPr>
          <p:cNvPr id="6" name="">
            <a:extLst xmlns:a="http://schemas.openxmlformats.org/drawingml/2006/main">
              <a:ext uri="{FF2B5EF4-FFF2-40B4-BE49-F238E27FC236}">
                <a16:creationId xmlns:a16="http://schemas.microsoft.com/office/drawing/2014/main" id="{13762AB8-E5B6-4411-BCF4-5F088B1F9BFB}"/>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0862071-CFCD-4001-951F-6B723AB1A8FE}"/>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the evidence gradually in your project notebook.</a:t>
            </a:r>
          </a:p>
        </p:txBody>
      </p:sp>
      <p:sp>
        <p:nvSpPr>
          <p:cNvPr id="8" name="">
            <a:extLst xmlns:a="http://schemas.openxmlformats.org/drawingml/2006/main">
              <a:ext uri="{FF2B5EF4-FFF2-40B4-BE49-F238E27FC236}">
                <a16:creationId xmlns:a16="http://schemas.microsoft.com/office/drawing/2014/main" id="{EAE68B5B-12DF-47E0-9A88-5BC0953A4473}"/>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E821AB3-FA06-4E6B-BE62-71D74A2D7297}"/>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 labelled charts, run instructions and individual contributions.</a:t>
            </a:r>
          </a:p>
        </p:txBody>
      </p:sp>
      <p:sp>
        <p:nvSpPr>
          <p:cNvPr id="10" name="">
            <a:extLst xmlns:a="http://schemas.openxmlformats.org/drawingml/2006/main">
              <a:ext uri="{FF2B5EF4-FFF2-40B4-BE49-F238E27FC236}">
                <a16:creationId xmlns:a16="http://schemas.microsoft.com/office/drawing/2014/main" id="{752630EA-E5BC-4897-8AC5-75F4DE00BA03}"/>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99D9C90-7462-4609-B7F7-E7F8662539B7}"/>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Published deadline: 30 Oct 2026, 11:00 Kampala</a:t>
            </a:r>
          </a:p>
        </p:txBody>
      </p:sp>
      <p:sp>
        <p:nvSpPr>
          <p:cNvPr id="12" name="">
            <a:extLst xmlns:a="http://schemas.openxmlformats.org/drawingml/2006/main">
              <a:ext uri="{FF2B5EF4-FFF2-40B4-BE49-F238E27FC236}">
                <a16:creationId xmlns:a16="http://schemas.microsoft.com/office/drawing/2014/main" id="{B8AC2F80-F63A-4D7F-868F-295EFA41A26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52</a:t>
            </a:r>
          </a:p>
        </p:txBody>
      </p:sp>
    </p:spTree>
    <p:extLst>
      <p:ext uri="{BB962C8B-B14F-4D97-AF65-F5344CB8AC3E}">
        <p14:creationId xmlns:p14="http://schemas.microsoft.com/office/powerpoint/2010/main" val="1080476211"/>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BDBDC812-D679-4CDF-8F55-F4E9C26B5A2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AF819D4-C8E2-48A0-B342-30779AC6F97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21C3B3F0-5A1B-44D9-A86F-905414D86A2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6 quiz</a:t>
            </a:r>
          </a:p>
        </p:txBody>
      </p:sp>
      <p:sp>
        <p:nvSpPr>
          <p:cNvPr id="4" name="">
            <a:extLst xmlns:a="http://schemas.openxmlformats.org/drawingml/2006/main">
              <a:ext uri="{FF2B5EF4-FFF2-40B4-BE49-F238E27FC236}">
                <a16:creationId xmlns:a16="http://schemas.microsoft.com/office/drawing/2014/main" id="{5C0EDD60-B5ED-4B6A-A27B-937963507F78}"/>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B8C4028-4595-4ACE-9595-66A7FB390CCB}"/>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DEEC663A-B0E1-4610-88D3-522B2F92C16D}"/>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8A8D775-EA6B-499E-8FA4-CF2899CA7086}"/>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BBF07136-6D1F-4142-92BB-F4DA9B6519EC}"/>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E4472E4-B560-471E-91F0-890AC3E78892}"/>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EEF006C4-F9DF-4ADA-BCBD-F87E911D9980}"/>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11772D4-4393-4A0F-AF93-7C54E1C951CC}"/>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confirm the exact closing time.</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feac1a130d074cd2"/>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DA4E18A3-262B-402F-AE81-5D04135442DA}"/>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1616D178-5F25-4B01-AE21-DFBE1AC0116B}"/>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EF7D245C-8905-4046-8A7B-1EC9481318A6}"/>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fd13789ab33245e4"/>
              </a:rPr>
              <a:t>Open this week’s quiz</a:t>
            </a:r>
          </a:p>
        </p:txBody>
      </p:sp>
      <p:sp>
        <p:nvSpPr>
          <p:cNvPr id="16" name="">
            <a:extLst xmlns:a="http://schemas.openxmlformats.org/drawingml/2006/main">
              <a:ext uri="{FF2B5EF4-FFF2-40B4-BE49-F238E27FC236}">
                <a16:creationId xmlns:a16="http://schemas.microsoft.com/office/drawing/2014/main" id="{EB9465BA-2DD4-4D1E-834C-BDC6B3F41F2E}"/>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https://forms.gle/BwRZGzPvSzTwDqaH6</a:t>
            </a:r>
          </a:p>
        </p:txBody>
      </p:sp>
      <p:sp>
        <p:nvSpPr>
          <p:cNvPr id="17" name="">
            <a:extLst xmlns:a="http://schemas.openxmlformats.org/drawingml/2006/main">
              <a:ext uri="{FF2B5EF4-FFF2-40B4-BE49-F238E27FC236}">
                <a16:creationId xmlns:a16="http://schemas.microsoft.com/office/drawing/2014/main" id="{57B062B6-47D3-48FC-95AC-9F289450175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53</a:t>
            </a:r>
          </a:p>
        </p:txBody>
      </p:sp>
    </p:spTree>
    <p:extLst>
      <p:ext uri="{BB962C8B-B14F-4D97-AF65-F5344CB8AC3E}">
        <p14:creationId xmlns:p14="http://schemas.microsoft.com/office/powerpoint/2010/main" val="1995034979"/>
      </p:ext>
    </p:extLst>
  </p:cSld>
</p:sld>
</file>

<file path=ppt/slides/slide54.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F3EB840-5A51-4B20-9870-80DEB87FA0C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C0AAF400-04D2-455A-87D7-0152D2C2495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Before you leave</a:t>
            </a:r>
          </a:p>
        </p:txBody>
      </p:sp>
      <p:sp>
        <p:nvSpPr>
          <p:cNvPr id="3" name="">
            <a:extLst xmlns:a="http://schemas.openxmlformats.org/drawingml/2006/main">
              <a:ext uri="{FF2B5EF4-FFF2-40B4-BE49-F238E27FC236}">
                <a16:creationId xmlns:a16="http://schemas.microsoft.com/office/drawing/2014/main" id="{56D951AF-1CC0-4704-B985-9C368A8A164F}"/>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82A62E19-325C-4E0F-A56E-0559F5A5894C}"/>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justify a change, show its effect and identify an estimated value.</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8B5270E3-C1E2-4B28-8120-8096E6122D4B}"/>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1F74D009-C064-41C2-8C08-07859EFDF2D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6   54</a:t>
            </a:r>
          </a:p>
        </p:txBody>
      </p:sp>
    </p:spTree>
    <p:extLst>
      <p:ext uri="{BB962C8B-B14F-4D97-AF65-F5344CB8AC3E}">
        <p14:creationId xmlns:p14="http://schemas.microsoft.com/office/powerpoint/2010/main" val="101479042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2026-09-16T11:10:30.0750000Z</dcterms:created>
  <dcterms:modified xsi:type="dcterms:W3CDTF">2026-09-16T11:10:30.0750000Z</dcterms:modified>
</coreProperties>
</file>