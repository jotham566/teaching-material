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b654be5b6974d48" /><Relationship Type="http://schemas.openxmlformats.org/officeDocument/2006/relationships/extended-properties" Target="/docProps/app.xml" Id="Rbb2fba64196d4c59" /><Relationship Type="http://schemas.openxmlformats.org/officeDocument/2006/relationships/officeDocument" Target="/ppt/presentation.xml" Id="Ref17d15ed7194833" /></Relationships>
</file>

<file path=ppt/presentation.xml><?xml version="1.0" encoding="utf-8"?>
<p:presentation xmlns:p="http://schemas.openxmlformats.org/presentationml/2006/main">
  <p:sldMasterIdLst>
    <p:sldMasterId xmlns:r="http://schemas.openxmlformats.org/officeDocument/2006/relationships" id="2147483648" r:id="Re2c4eb5e919b4b2a"/>
  </p:sldMasterIdLst>
  <p:notesMasterIdLst>
    <p:notesMasterId xmlns:r="http://schemas.openxmlformats.org/officeDocument/2006/relationships" r:id="Rf2fd0f692d4e4ee1"/>
  </p:notesMasterIdLst>
  <p:sldIdLst>
    <p:sldId xmlns:r="http://schemas.openxmlformats.org/officeDocument/2006/relationships" id="256" r:id="R51c95b38e2314f77"/>
    <p:sldId xmlns:r="http://schemas.openxmlformats.org/officeDocument/2006/relationships" id="257" r:id="Rfa0ca0ff5e79429a"/>
    <p:sldId xmlns:r="http://schemas.openxmlformats.org/officeDocument/2006/relationships" id="258" r:id="Re692ffdfe52140fb"/>
    <p:sldId xmlns:r="http://schemas.openxmlformats.org/officeDocument/2006/relationships" id="259" r:id="R655945b9540045e9"/>
    <p:sldId xmlns:r="http://schemas.openxmlformats.org/officeDocument/2006/relationships" id="260" r:id="Rcf42aaf2ca974e85"/>
    <p:sldId xmlns:r="http://schemas.openxmlformats.org/officeDocument/2006/relationships" id="261" r:id="R779c3b6e9c2b49ff"/>
    <p:sldId xmlns:r="http://schemas.openxmlformats.org/officeDocument/2006/relationships" id="262" r:id="Ra8c0a47b88f041b3"/>
    <p:sldId xmlns:r="http://schemas.openxmlformats.org/officeDocument/2006/relationships" id="263" r:id="R9bbfacf6f348410e"/>
    <p:sldId xmlns:r="http://schemas.openxmlformats.org/officeDocument/2006/relationships" id="264" r:id="R3f07af57c1b64d6c"/>
    <p:sldId xmlns:r="http://schemas.openxmlformats.org/officeDocument/2006/relationships" id="265" r:id="R8daf4101d13a47c3"/>
    <p:sldId xmlns:r="http://schemas.openxmlformats.org/officeDocument/2006/relationships" id="266" r:id="R607d8a05a89f49f0"/>
    <p:sldId xmlns:r="http://schemas.openxmlformats.org/officeDocument/2006/relationships" id="267" r:id="R0de7377497bf42b9"/>
    <p:sldId xmlns:r="http://schemas.openxmlformats.org/officeDocument/2006/relationships" id="268" r:id="Rf22ead83eb684ea2"/>
    <p:sldId xmlns:r="http://schemas.openxmlformats.org/officeDocument/2006/relationships" id="269" r:id="R8bb633dad593447a"/>
    <p:sldId xmlns:r="http://schemas.openxmlformats.org/officeDocument/2006/relationships" id="270" r:id="R8093a1c58b83452d"/>
    <p:sldId xmlns:r="http://schemas.openxmlformats.org/officeDocument/2006/relationships" id="271" r:id="R7747129250894033"/>
    <p:sldId xmlns:r="http://schemas.openxmlformats.org/officeDocument/2006/relationships" id="272" r:id="Re699fb2c1fba46d2"/>
    <p:sldId xmlns:r="http://schemas.openxmlformats.org/officeDocument/2006/relationships" id="273" r:id="Rea17e2dfe8574ed9"/>
    <p:sldId xmlns:r="http://schemas.openxmlformats.org/officeDocument/2006/relationships" id="274" r:id="R70c8e7dec8fe4ced"/>
    <p:sldId xmlns:r="http://schemas.openxmlformats.org/officeDocument/2006/relationships" id="275" r:id="R3170dca768844c94"/>
    <p:sldId xmlns:r="http://schemas.openxmlformats.org/officeDocument/2006/relationships" id="276" r:id="Rec266aa8623a4e2c"/>
    <p:sldId xmlns:r="http://schemas.openxmlformats.org/officeDocument/2006/relationships" id="277" r:id="R0a1821f0c3e94eea"/>
    <p:sldId xmlns:r="http://schemas.openxmlformats.org/officeDocument/2006/relationships" id="278" r:id="Rc5d6ae56d3d84035"/>
    <p:sldId xmlns:r="http://schemas.openxmlformats.org/officeDocument/2006/relationships" id="279" r:id="R2747c45c6bb04820"/>
    <p:sldId xmlns:r="http://schemas.openxmlformats.org/officeDocument/2006/relationships" id="280" r:id="Rcb6bc12565d64ada"/>
    <p:sldId xmlns:r="http://schemas.openxmlformats.org/officeDocument/2006/relationships" id="281" r:id="Rf74099fee04e4900"/>
    <p:sldId xmlns:r="http://schemas.openxmlformats.org/officeDocument/2006/relationships" id="282" r:id="R73304d63c72b442e"/>
    <p:sldId xmlns:r="http://schemas.openxmlformats.org/officeDocument/2006/relationships" id="283" r:id="R062918a79d20451f"/>
    <p:sldId xmlns:r="http://schemas.openxmlformats.org/officeDocument/2006/relationships" id="284" r:id="R95f69b74c7174cef"/>
    <p:sldId xmlns:r="http://schemas.openxmlformats.org/officeDocument/2006/relationships" id="285" r:id="R4405eee32515415e"/>
    <p:sldId xmlns:r="http://schemas.openxmlformats.org/officeDocument/2006/relationships" id="286" r:id="Ra2d8249125d2405d"/>
    <p:sldId xmlns:r="http://schemas.openxmlformats.org/officeDocument/2006/relationships" id="287" r:id="R6b48448363be4951"/>
    <p:sldId xmlns:r="http://schemas.openxmlformats.org/officeDocument/2006/relationships" id="288" r:id="R60816b253c8e49dd"/>
    <p:sldId xmlns:r="http://schemas.openxmlformats.org/officeDocument/2006/relationships" id="289" r:id="Reefe5a67f5f945e7"/>
    <p:sldId xmlns:r="http://schemas.openxmlformats.org/officeDocument/2006/relationships" id="290" r:id="R8cf74fe3cfd443b2"/>
    <p:sldId xmlns:r="http://schemas.openxmlformats.org/officeDocument/2006/relationships" id="291" r:id="R0eb80742ef2e43bf"/>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dd86c97324f4d4a" /><Relationship Type="http://schemas.openxmlformats.org/officeDocument/2006/relationships/slideMaster" Target="/ppt/slideMasters/slideMaster1.xml" Id="Re2c4eb5e919b4b2a" /><Relationship Type="http://schemas.openxmlformats.org/officeDocument/2006/relationships/notesMaster" Target="/ppt/notesMasters/notesMaster1.xml" Id="Rf2fd0f692d4e4ee1" /><Relationship Type="http://schemas.openxmlformats.org/officeDocument/2006/relationships/presProps" Target="/ppt/presProps.xml" Id="R5ff002e336684532" /><Relationship Type="http://schemas.openxmlformats.org/officeDocument/2006/relationships/tableStyles" Target="/ppt/tableStyles.xml" Id="R9dd8ccf076d64e4a" /><Relationship Type="http://schemas.openxmlformats.org/officeDocument/2006/relationships/slide" Target="/ppt/slides/slide1.xml" Id="R51c95b38e2314f77" /><Relationship Type="http://schemas.openxmlformats.org/officeDocument/2006/relationships/slide" Target="/ppt/slides/slide2.xml" Id="Rfa0ca0ff5e79429a" /><Relationship Type="http://schemas.openxmlformats.org/officeDocument/2006/relationships/slide" Target="/ppt/slides/slide3.xml" Id="Re692ffdfe52140fb" /><Relationship Type="http://schemas.openxmlformats.org/officeDocument/2006/relationships/slide" Target="/ppt/slides/slide4.xml" Id="R655945b9540045e9" /><Relationship Type="http://schemas.openxmlformats.org/officeDocument/2006/relationships/slide" Target="/ppt/slides/slide5.xml" Id="Rcf42aaf2ca974e85" /><Relationship Type="http://schemas.openxmlformats.org/officeDocument/2006/relationships/slide" Target="/ppt/slides/slide6.xml" Id="R779c3b6e9c2b49ff" /><Relationship Type="http://schemas.openxmlformats.org/officeDocument/2006/relationships/slide" Target="/ppt/slides/slide7.xml" Id="Ra8c0a47b88f041b3" /><Relationship Type="http://schemas.openxmlformats.org/officeDocument/2006/relationships/slide" Target="/ppt/slides/slide8.xml" Id="R9bbfacf6f348410e" /><Relationship Type="http://schemas.openxmlformats.org/officeDocument/2006/relationships/slide" Target="/ppt/slides/slide9.xml" Id="R3f07af57c1b64d6c" /><Relationship Type="http://schemas.openxmlformats.org/officeDocument/2006/relationships/slide" Target="/ppt/slides/slide10.xml" Id="R8daf4101d13a47c3" /><Relationship Type="http://schemas.openxmlformats.org/officeDocument/2006/relationships/slide" Target="/ppt/slides/slide11.xml" Id="R607d8a05a89f49f0" /><Relationship Type="http://schemas.openxmlformats.org/officeDocument/2006/relationships/slide" Target="/ppt/slides/slide12.xml" Id="R0de7377497bf42b9" /><Relationship Type="http://schemas.openxmlformats.org/officeDocument/2006/relationships/slide" Target="/ppt/slides/slide13.xml" Id="Rf22ead83eb684ea2" /><Relationship Type="http://schemas.openxmlformats.org/officeDocument/2006/relationships/slide" Target="/ppt/slides/slide14.xml" Id="R8bb633dad593447a" /><Relationship Type="http://schemas.openxmlformats.org/officeDocument/2006/relationships/slide" Target="/ppt/slides/slide15.xml" Id="R8093a1c58b83452d" /><Relationship Type="http://schemas.openxmlformats.org/officeDocument/2006/relationships/slide" Target="/ppt/slides/slide16.xml" Id="R7747129250894033" /><Relationship Type="http://schemas.openxmlformats.org/officeDocument/2006/relationships/slide" Target="/ppt/slides/slide17.xml" Id="Re699fb2c1fba46d2" /><Relationship Type="http://schemas.openxmlformats.org/officeDocument/2006/relationships/slide" Target="/ppt/slides/slide18.xml" Id="Rea17e2dfe8574ed9" /><Relationship Type="http://schemas.openxmlformats.org/officeDocument/2006/relationships/slide" Target="/ppt/slides/slide19.xml" Id="R70c8e7dec8fe4ced" /><Relationship Type="http://schemas.openxmlformats.org/officeDocument/2006/relationships/slide" Target="/ppt/slides/slide20.xml" Id="R3170dca768844c94" /><Relationship Type="http://schemas.openxmlformats.org/officeDocument/2006/relationships/slide" Target="/ppt/slides/slide21.xml" Id="Rec266aa8623a4e2c" /><Relationship Type="http://schemas.openxmlformats.org/officeDocument/2006/relationships/slide" Target="/ppt/slides/slide22.xml" Id="R0a1821f0c3e94eea" /><Relationship Type="http://schemas.openxmlformats.org/officeDocument/2006/relationships/slide" Target="/ppt/slides/slide23.xml" Id="Rc5d6ae56d3d84035" /><Relationship Type="http://schemas.openxmlformats.org/officeDocument/2006/relationships/slide" Target="/ppt/slides/slide24.xml" Id="R2747c45c6bb04820" /><Relationship Type="http://schemas.openxmlformats.org/officeDocument/2006/relationships/slide" Target="/ppt/slides/slide25.xml" Id="Rcb6bc12565d64ada" /><Relationship Type="http://schemas.openxmlformats.org/officeDocument/2006/relationships/slide" Target="/ppt/slides/slide26.xml" Id="Rf74099fee04e4900" /><Relationship Type="http://schemas.openxmlformats.org/officeDocument/2006/relationships/slide" Target="/ppt/slides/slide27.xml" Id="R73304d63c72b442e" /><Relationship Type="http://schemas.openxmlformats.org/officeDocument/2006/relationships/slide" Target="/ppt/slides/slide28.xml" Id="R062918a79d20451f" /><Relationship Type="http://schemas.openxmlformats.org/officeDocument/2006/relationships/slide" Target="/ppt/slides/slide29.xml" Id="R95f69b74c7174cef" /><Relationship Type="http://schemas.openxmlformats.org/officeDocument/2006/relationships/slide" Target="/ppt/slides/slide30.xml" Id="R4405eee32515415e" /><Relationship Type="http://schemas.openxmlformats.org/officeDocument/2006/relationships/slide" Target="/ppt/slides/slide31.xml" Id="Ra2d8249125d2405d" /><Relationship Type="http://schemas.openxmlformats.org/officeDocument/2006/relationships/slide" Target="/ppt/slides/slide32.xml" Id="R6b48448363be4951" /><Relationship Type="http://schemas.openxmlformats.org/officeDocument/2006/relationships/slide" Target="/ppt/slides/slide33.xml" Id="R60816b253c8e49dd" /><Relationship Type="http://schemas.openxmlformats.org/officeDocument/2006/relationships/slide" Target="/ppt/slides/slide34.xml" Id="Reefe5a67f5f945e7" /><Relationship Type="http://schemas.openxmlformats.org/officeDocument/2006/relationships/slide" Target="/ppt/slides/slide35.xml" Id="R8cf74fe3cfd443b2" /><Relationship Type="http://schemas.openxmlformats.org/officeDocument/2006/relationships/slide" Target="/ppt/slides/slide36.xml" Id="R0eb80742ef2e43b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2ed24b0928e4e4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0194b2e919e4455" /><Relationship Type="http://schemas.openxmlformats.org/officeDocument/2006/relationships/notesMaster" Target="/ppt/notesMasters/notesMaster1.xml" Id="R526f3d4bc87f4f6e" /></Relationships>
</file>

<file path=ppt/notesSlides/_rels/notesSlide2.xml.rels>&#65279;<?xml version="1.0" encoding="utf-8"?><Relationships xmlns="http://schemas.openxmlformats.org/package/2006/relationships"><Relationship Type="http://schemas.openxmlformats.org/officeDocument/2006/relationships/slide" Target="/ppt/slides/slide2.xml" Id="R0c1d8f4595654752" /><Relationship Type="http://schemas.openxmlformats.org/officeDocument/2006/relationships/notesMaster" Target="/ppt/notesMasters/notesMaster1.xml" Id="R36774102386a4f94" /></Relationships>
</file>

<file path=ppt/notesSlides/_rels/notesSlide3.xml.rels>&#65279;<?xml version="1.0" encoding="utf-8"?><Relationships xmlns="http://schemas.openxmlformats.org/package/2006/relationships"><Relationship Type="http://schemas.openxmlformats.org/officeDocument/2006/relationships/slide" Target="/ppt/slides/slide3.xml" Id="R10e9f7bef44244b5" /><Relationship Type="http://schemas.openxmlformats.org/officeDocument/2006/relationships/notesMaster" Target="/ppt/notesMasters/notesMaster1.xml" Id="R26a89e9b26374c5b" /></Relationships>
</file>

<file path=ppt/notesSlides/_rels/notesSlide4.xml.rels>&#65279;<?xml version="1.0" encoding="utf-8"?><Relationships xmlns="http://schemas.openxmlformats.org/package/2006/relationships"><Relationship Type="http://schemas.openxmlformats.org/officeDocument/2006/relationships/slide" Target="/ppt/slides/slide4.xml" Id="Rbec1739461634130" /><Relationship Type="http://schemas.openxmlformats.org/officeDocument/2006/relationships/notesMaster" Target="/ppt/notesMasters/notesMaster1.xml" Id="Rfd29213fcb6e4c4a" /></Relationships>
</file>

<file path=ppt/notesSlides/_rels/notesSlide5.xml.rels>&#65279;<?xml version="1.0" encoding="utf-8"?><Relationships xmlns="http://schemas.openxmlformats.org/package/2006/relationships"><Relationship Type="http://schemas.openxmlformats.org/officeDocument/2006/relationships/slide" Target="/ppt/slides/slide5.xml" Id="Re10430b55a9b419f" /><Relationship Type="http://schemas.openxmlformats.org/officeDocument/2006/relationships/notesMaster" Target="/ppt/notesMasters/notesMaster1.xml" Id="R846aa24525c240d8" /></Relationships>
</file>

<file path=ppt/notesSlides/_rels/notesSlide6.xml.rels>&#65279;<?xml version="1.0" encoding="utf-8"?><Relationships xmlns="http://schemas.openxmlformats.org/package/2006/relationships"><Relationship Type="http://schemas.openxmlformats.org/officeDocument/2006/relationships/slide" Target="/ppt/slides/slide6.xml" Id="R45479f67b71b4fd0" /><Relationship Type="http://schemas.openxmlformats.org/officeDocument/2006/relationships/notesMaster" Target="/ppt/notesMasters/notesMaster1.xml" Id="Ra112306807184caa" /></Relationships>
</file>

<file path=ppt/notesSlides/_rels/notesSlide7.xml.rels>&#65279;<?xml version="1.0" encoding="utf-8"?><Relationships xmlns="http://schemas.openxmlformats.org/package/2006/relationships"><Relationship Type="http://schemas.openxmlformats.org/officeDocument/2006/relationships/slide" Target="/ppt/slides/slide7.xml" Id="Re64c4c8d93a140f7" /><Relationship Type="http://schemas.openxmlformats.org/officeDocument/2006/relationships/notesMaster" Target="/ppt/notesMasters/notesMaster1.xml" Id="Reb8fb20c91c343e8" /></Relationships>
</file>

<file path=ppt/notesSlides/_rels/notesSlide8.xml.rels>&#65279;<?xml version="1.0" encoding="utf-8"?><Relationships xmlns="http://schemas.openxmlformats.org/package/2006/relationships"><Relationship Type="http://schemas.openxmlformats.org/officeDocument/2006/relationships/slide" Target="/ppt/slides/slide8.xml" Id="Rfcf6349b5c3e4fe2" /><Relationship Type="http://schemas.openxmlformats.org/officeDocument/2006/relationships/notesMaster" Target="/ppt/notesMasters/notesMaster1.xml" Id="Rdc43d3ef4f044c9e" /></Relationships>
</file>

<file path=ppt/notesSlides/_rels/notesSlide9.xml.rels>&#65279;<?xml version="1.0" encoding="utf-8"?><Relationships xmlns="http://schemas.openxmlformats.org/package/2006/relationships"><Relationship Type="http://schemas.openxmlformats.org/officeDocument/2006/relationships/slide" Target="/ppt/slides/slide9.xml" Id="R62f608d8438e40f4" /><Relationship Type="http://schemas.openxmlformats.org/officeDocument/2006/relationships/notesMaster" Target="/ppt/notesMasters/notesMaster1.xml" Id="R9d47a668f8d0438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34933fe81994511" /><Relationship Type="http://schemas.openxmlformats.org/officeDocument/2006/relationships/notesMaster" Target="/ppt/notesMasters/notesMaster1.xml" Id="Rd69b7e61ebbe4a7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b3a1c8519844641" /><Relationship Type="http://schemas.openxmlformats.org/officeDocument/2006/relationships/notesMaster" Target="/ppt/notesMasters/notesMaster1.xml" Id="R6de8a6bb2c6d46bc"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bc7531f3e0f4513" /><Relationship Type="http://schemas.openxmlformats.org/officeDocument/2006/relationships/notesMaster" Target="/ppt/notesMasters/notesMaster1.xml" Id="Rd11a091b4d6d4809"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9908350a66db4c05" /><Relationship Type="http://schemas.openxmlformats.org/officeDocument/2006/relationships/notesMaster" Target="/ppt/notesMasters/notesMaster1.xml" Id="R7036a640e20840f4"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66656f2ba5904f4f" /><Relationship Type="http://schemas.openxmlformats.org/officeDocument/2006/relationships/notesMaster" Target="/ppt/notesMasters/notesMaster1.xml" Id="R579b69e9b4a04cf2"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b4261defef104377" /><Relationship Type="http://schemas.openxmlformats.org/officeDocument/2006/relationships/notesMaster" Target="/ppt/notesMasters/notesMaster1.xml" Id="R2f6579a25a854f2a"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c31ff34f4e094cb8" /><Relationship Type="http://schemas.openxmlformats.org/officeDocument/2006/relationships/notesMaster" Target="/ppt/notesMasters/notesMaster1.xml" Id="Rb4647eb189114209"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cc5e6c6954864798" /><Relationship Type="http://schemas.openxmlformats.org/officeDocument/2006/relationships/notesMaster" Target="/ppt/notesMasters/notesMaster1.xml" Id="R52a8c08f792b4cea"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97f4015e943b4b5a" /><Relationship Type="http://schemas.openxmlformats.org/officeDocument/2006/relationships/notesMaster" Target="/ppt/notesMasters/notesMaster1.xml" Id="Re64ca763ceb24403"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0320f7ddf5d44986" /><Relationship Type="http://schemas.openxmlformats.org/officeDocument/2006/relationships/notesMaster" Target="/ppt/notesMasters/notesMaster1.xml" Id="Ree4f40ac17444d07"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4a5a26fbb43d4cf0" /><Relationship Type="http://schemas.openxmlformats.org/officeDocument/2006/relationships/notesMaster" Target="/ppt/notesMasters/notesMaster1.xml" Id="R0a58f67e0bba4a27"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f5def7cf56014a06" /><Relationship Type="http://schemas.openxmlformats.org/officeDocument/2006/relationships/notesMaster" Target="/ppt/notesMasters/notesMaster1.xml" Id="R43abb18f6cbc4654"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22b87c99cc454976" /><Relationship Type="http://schemas.openxmlformats.org/officeDocument/2006/relationships/notesMaster" Target="/ppt/notesMasters/notesMaster1.xml" Id="R441641fd3ec4410a"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0d77887b825a43ef" /><Relationship Type="http://schemas.openxmlformats.org/officeDocument/2006/relationships/notesMaster" Target="/ppt/notesMasters/notesMaster1.xml" Id="Raaf1de2ca7d94d64"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04982eb0f6f846a0" /><Relationship Type="http://schemas.openxmlformats.org/officeDocument/2006/relationships/notesMaster" Target="/ppt/notesMasters/notesMaster1.xml" Id="R85ee592b76724649"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6abd6d8ccf03497e" /><Relationship Type="http://schemas.openxmlformats.org/officeDocument/2006/relationships/notesMaster" Target="/ppt/notesMasters/notesMaster1.xml" Id="R40eb4048e1474cce"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3d932859e2a04a59" /><Relationship Type="http://schemas.openxmlformats.org/officeDocument/2006/relationships/notesMaster" Target="/ppt/notesMasters/notesMaster1.xml" Id="R13a57d5e025d44d1"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e849b5bbe01e48ae" /><Relationship Type="http://schemas.openxmlformats.org/officeDocument/2006/relationships/notesMaster" Target="/ppt/notesMasters/notesMaster1.xml" Id="Rcdfb56f9353b44d7"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e3671e35c0a443a4" /><Relationship Type="http://schemas.openxmlformats.org/officeDocument/2006/relationships/notesMaster" Target="/ppt/notesMasters/notesMaster1.xml" Id="R48f68c4badab45a1"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4986f8ca486845ac" /><Relationship Type="http://schemas.openxmlformats.org/officeDocument/2006/relationships/notesMaster" Target="/ppt/notesMasters/notesMaster1.xml" Id="R82248a0275e34366"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7c6d272b4f624ab8" /><Relationship Type="http://schemas.openxmlformats.org/officeDocument/2006/relationships/notesMaster" Target="/ppt/notesMasters/notesMaster1.xml" Id="R9299e75abd2d4f45"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a04002677b754e11" /><Relationship Type="http://schemas.openxmlformats.org/officeDocument/2006/relationships/notesMaster" Target="/ppt/notesMasters/notesMaster1.xml" Id="R49f7bbe4e9784256"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e2f37d72ac234849" /><Relationship Type="http://schemas.openxmlformats.org/officeDocument/2006/relationships/notesMaster" Target="/ppt/notesMasters/notesMaster1.xml" Id="Ra0d5b4b71f9c4722"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d0efb823cd264df4" /><Relationship Type="http://schemas.openxmlformats.org/officeDocument/2006/relationships/notesMaster" Target="/ppt/notesMasters/notesMaster1.xml" Id="Rf2be324262014668"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288a5b2af2094dea" /><Relationship Type="http://schemas.openxmlformats.org/officeDocument/2006/relationships/notesMaster" Target="/ppt/notesMasters/notesMaster1.xml" Id="Rea59afe27d424642"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4e29613338e44e13" /><Relationship Type="http://schemas.openxmlformats.org/officeDocument/2006/relationships/notesMaster" Target="/ppt/notesMasters/notesMaster1.xml" Id="R2bd65061ef2c4c70"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f6fd310b5ebf40c4" /><Relationship Type="http://schemas.openxmlformats.org/officeDocument/2006/relationships/notesMaster" Target="/ppt/notesMasters/notesMaster1.xml" Id="R40c1e0bd693544ab"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Honest validation and leakage</a:t>
            </a:r>
          </a:p>
          <a:p>
            <a:r>
              <a:t>CML3113, Week 10, slide 1</a:t>
            </a:r>
          </a:p>
          <a:p>
            <a:r>
              <a:t/>
            </a:r>
          </a:p>
          <a:p>
            <a:r>
              <a:t>Explanation to give</a:t>
            </a:r>
          </a:p>
          <a:p>
            <a:r>
              <a:t>Connect evaluation to intended use. Decide how to hold out observations before fitting either preprocessing or the model.</a:t>
            </a:r>
          </a:p>
          <a:p>
            <a:r>
              <a:t/>
            </a:r>
          </a:p>
          <a:p>
            <a:r>
              <a:t>Worked illustration / lecturer answer</a:t>
            </a:r>
          </a:p>
          <a:p>
            <a:r>
              <a:t>When testing new equipment, all observations from equipment A stay in one partition. Training must not learn its missing-value replacements from held-out equipment.</a:t>
            </a:r>
          </a:p>
          <a:p>
            <a:r>
              <a:t/>
            </a:r>
          </a:p>
          <a:p>
            <a:r>
              <a:t>Misconception to address</a:t>
            </a:r>
          </a:p>
          <a:p>
            <a:r>
              <a:t>Use this as an orientation to the lesson. Terms and syntax will be unpacked on their own slides; students do not need to know them in advance.</a:t>
            </a:r>
          </a:p>
          <a:p>
            <a:r>
              <a:t/>
            </a:r>
          </a:p>
          <a:p>
            <a:r>
              <a:t>On this slide</a:t>
            </a:r>
          </a:p>
          <a:p>
            <a:r>
              <a:t>Mining and Petroleum Engineering</a:t>
            </a:r>
          </a:p>
          <a:p>
            <a:r>
              <a:t/>
            </a:r>
          </a:p>
          <a:p>
            <a:r>
              <a:t>Continue to</a:t>
            </a:r>
          </a:p>
          <a:p>
            <a:r>
              <a:t>Today’s learning</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Today’s learning</a:t>
            </a:r>
          </a:p>
          <a:p>
            <a:r>
              <a:t>CML3113, Week 10, slide 2</a:t>
            </a:r>
          </a:p>
          <a:p>
            <a:r>
              <a:t/>
            </a:r>
          </a:p>
          <a:p>
            <a:r>
              <a:t>Explanation to give</a:t>
            </a:r>
          </a:p>
          <a:p>
            <a:r>
              <a:t>Connect evaluation to intended use. Decide how to hold out observations before fitting either preprocessing or the model.</a:t>
            </a:r>
          </a:p>
          <a:p>
            <a:r>
              <a:t/>
            </a:r>
          </a:p>
          <a:p>
            <a:r>
              <a:t>Worked illustration / lecturer answer</a:t>
            </a:r>
          </a:p>
          <a:p>
            <a:r>
              <a:t>When testing new equipment, all observations from equipment A stay in one partition. Training must not learn its missing-value replacements from held-out equipment.</a:t>
            </a:r>
          </a:p>
          <a:p>
            <a:r>
              <a:t/>
            </a:r>
          </a:p>
          <a:p>
            <a:r>
              <a:t>Misconception to address</a:t>
            </a:r>
          </a:p>
          <a:p>
            <a:r>
              <a:t>At the end, check the specific outcome shown here using a small previously demonstrated example. A completed file without an explanation is not evidence of understanding.</a:t>
            </a:r>
          </a:p>
          <a:p>
            <a:r>
              <a:t/>
            </a:r>
          </a:p>
          <a:p>
            <a:r>
              <a:t>On this slide</a:t>
            </a:r>
          </a:p>
          <a:p>
            <a:r>
              <a:t>Keep related equipment records together.</a:t>
            </a:r>
          </a:p>
          <a:p>
            <a:r>
              <a:t/>
            </a:r>
          </a:p>
          <a:p>
            <a:r>
              <a:t>Separate training, validation and final testing.</a:t>
            </a:r>
          </a:p>
          <a:p>
            <a:r>
              <a:t/>
            </a:r>
          </a:p>
          <a:p>
            <a:r>
              <a:t>Continue to</a:t>
            </a:r>
          </a:p>
          <a:p>
            <a:r>
              <a:t>Connection to the previous lesson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Connection to the previous lesson</a:t>
            </a:r>
          </a:p>
          <a:p>
            <a:r>
              <a:t>CML3113, Week 10, slide 3</a:t>
            </a:r>
          </a:p>
          <a:p>
            <a:r>
              <a:t/>
            </a:r>
          </a:p>
          <a:p>
            <a:r>
              <a:t>Explanation to give</a:t>
            </a:r>
          </a:p>
          <a:p>
            <a:r>
              <a:t>Connect evaluation to intended use. Decide how to hold out observations before fitting either preprocessing or the model.</a:t>
            </a:r>
          </a:p>
          <a:p>
            <a:r>
              <a:t/>
            </a:r>
          </a:p>
          <a:p>
            <a:r>
              <a:t>Worked illustration / lecturer answer</a:t>
            </a:r>
          </a:p>
          <a:p>
            <a:r>
              <a:t>When testing new equipment, all observations from equipment A stay in one partition. Training must not learn its missing-value replacements from held-out equipment.</a:t>
            </a:r>
          </a:p>
          <a:p>
            <a:r>
              <a:t/>
            </a:r>
          </a:p>
          <a:p>
            <a:r>
              <a:t>Misconception to address</a:t>
            </a:r>
          </a:p>
          <a:p>
            <a:r>
              <a:t>Connect this to the previous result named on this slide. Demonstrate the first step again if necessary; there is no requirement for partner work before the explanation.</a:t>
            </a:r>
          </a:p>
          <a:p>
            <a:r>
              <a:t/>
            </a:r>
          </a:p>
          <a:p>
            <a:r>
              <a:t>On this slide</a:t>
            </a:r>
          </a:p>
          <a:p>
            <a:r>
              <a:t>We have compared predictions with known answers. Now we control which observations may influence training, choices and the final evaluation.</a:t>
            </a:r>
          </a:p>
          <a:p>
            <a:r>
              <a:t/>
            </a:r>
          </a:p>
          <a:p>
            <a:r>
              <a:t>Continue to</a:t>
            </a:r>
          </a:p>
          <a:p>
            <a:r>
              <a:t>Why this week’s tools are needed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Why this week’s tools are needed</a:t>
            </a:r>
          </a:p>
          <a:p>
            <a:r>
              <a:t>CML3113, Week 10, slide 4</a:t>
            </a:r>
          </a:p>
          <a:p>
            <a:r>
              <a:t/>
            </a:r>
          </a:p>
          <a:p>
            <a:r>
              <a:t>Explanation to give</a:t>
            </a:r>
          </a:p>
          <a:p>
            <a:r>
              <a:t>Connect evaluation to intended use. Decide how to hold out observations before fitting either preprocessing or the model.</a:t>
            </a:r>
          </a:p>
          <a:p>
            <a:r>
              <a:t/>
            </a:r>
          </a:p>
          <a:p>
            <a:r>
              <a:t>Worked illustration / lecturer answer</a:t>
            </a:r>
          </a:p>
          <a:p>
            <a:r>
              <a:t>When testing new equipment, all observations from equipment A stay in one partition. Training must not learn its missing-value replacements from held-out equipment.</a:t>
            </a:r>
          </a:p>
          <a:p>
            <a:r>
              <a:t/>
            </a:r>
          </a:p>
          <a:p>
            <a:r>
              <a:t>Misconception to address</a:t>
            </a:r>
          </a:p>
          <a:p>
            <a:r>
              <a:t>Connect this to the previous result named on this slide. Demonstrate the first step again if necessary; there is no requirement for partner work before the explanation.</a:t>
            </a:r>
          </a:p>
          <a:p>
            <a:r>
              <a:t/>
            </a:r>
          </a:p>
          <a:p>
            <a:r>
              <a:t>On this slide</a:t>
            </a:r>
          </a:p>
          <a:p>
            <a:r>
              <a:t>We want evidence about new equipment or future observations. The way we separate data must match that use before any model or preprocessing learns from it.</a:t>
            </a:r>
          </a:p>
          <a:p>
            <a:r>
              <a:t/>
            </a:r>
          </a:p>
          <a:p>
            <a:r>
              <a:t>Continue to</a:t>
            </a:r>
          </a:p>
          <a:p>
            <a:r>
              <a:t>Training validation and final test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Training validation and final test</a:t>
            </a:r>
          </a:p>
          <a:p>
            <a:r>
              <a:t>CML3113, Week 10, slide 5</a:t>
            </a:r>
          </a:p>
          <a:p>
            <a:r>
              <a:t/>
            </a:r>
          </a:p>
          <a:p>
            <a:r>
              <a:t>Explanation to give</a:t>
            </a:r>
          </a:p>
          <a:p>
            <a:r>
              <a:t>Training observations teach the model. Validation observations help choose among models and settings. The final test is reserved for evaluating the chosen method after those choices are fixed.</a:t>
            </a:r>
          </a:p>
          <a:p>
            <a:r>
              <a:t/>
            </a:r>
          </a:p>
          <a:p>
            <a:r>
              <a:t>Worked illustration / lecturer answer</a:t>
            </a:r>
          </a:p>
          <a:p>
            <a:r>
              <a:t>Compare two models using the same validation observations, choose a method, then evaluate it once on the held-out test. Imagine the test as a sealed examination paper.</a:t>
            </a:r>
          </a:p>
          <a:p>
            <a:r>
              <a:t/>
            </a:r>
          </a:p>
          <a:p>
            <a:r>
              <a:t>Misconception to address</a:t>
            </a:r>
          </a:p>
          <a:p>
            <a:r>
              <a:t>Repeatedly checking the test while selecting features or settings makes it part of the selection process, so it no longer gives an independent final check.</a:t>
            </a:r>
          </a:p>
          <a:p>
            <a:r>
              <a:t/>
            </a:r>
          </a:p>
          <a:p>
            <a:r>
              <a:t>On this slide</a:t>
            </a:r>
          </a:p>
          <a:p>
            <a:r>
              <a:t>Training data fit the model and preprocessing.</a:t>
            </a:r>
          </a:p>
          <a:p>
            <a:r>
              <a:t/>
            </a:r>
          </a:p>
          <a:p>
            <a:r>
              <a:t>Validation data guide feature and model choices.</a:t>
            </a:r>
          </a:p>
          <a:p>
            <a:r>
              <a:t/>
            </a:r>
          </a:p>
          <a:p>
            <a:r>
              <a:t>The final test evaluates choices after they are fixed.</a:t>
            </a:r>
          </a:p>
          <a:p>
            <a:r>
              <a:t/>
            </a:r>
          </a:p>
          <a:p>
            <a:r>
              <a:t>A fresh test is needed if its answers influenced further choices.</a:t>
            </a:r>
          </a:p>
          <a:p>
            <a:r>
              <a:t/>
            </a:r>
          </a:p>
          <a:p>
            <a:r>
              <a:t>Continue to</a:t>
            </a:r>
          </a:p>
          <a:p>
            <a:r>
              <a:t>Three sets have different jobs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Three sets have different jobs</a:t>
            </a:r>
          </a:p>
          <a:p>
            <a:r>
              <a:t>CML3113, Week 10, slide 6</a:t>
            </a:r>
          </a:p>
          <a:p>
            <a:r>
              <a:t/>
            </a:r>
          </a:p>
          <a:p>
            <a:r>
              <a:t>Explanation to give</a:t>
            </a:r>
          </a:p>
          <a:p>
            <a:r>
              <a:t>Training observations teach the model. Validation observations help choose among models and settings. The final test is reserved for evaluating the chosen method after those choices are fixed.</a:t>
            </a:r>
          </a:p>
          <a:p>
            <a:r>
              <a:t/>
            </a:r>
          </a:p>
          <a:p>
            <a:r>
              <a:t>Worked illustration / lecturer answer</a:t>
            </a:r>
          </a:p>
          <a:p>
            <a:r>
              <a:t>Compare two models using the same validation observations, choose a method, then evaluate it once on the held-out test. Imagine the test as a sealed examination paper.</a:t>
            </a:r>
          </a:p>
          <a:p>
            <a:r>
              <a:t/>
            </a:r>
          </a:p>
          <a:p>
            <a:r>
              <a:t>Misconception to address</a:t>
            </a:r>
          </a:p>
          <a:p>
            <a:r>
              <a:t>Repeatedly checking the test while selecting features or settings makes it part of the selection process, so it no longer gives an independent final check.</a:t>
            </a:r>
          </a:p>
          <a:p>
            <a:r>
              <a:t/>
            </a:r>
          </a:p>
          <a:p>
            <a:r>
              <a:t>On this slide</a:t>
            </a:r>
          </a:p>
          <a:p>
            <a:r>
              <a:t>Which set must stay sealed until choices are fixed?</a:t>
            </a:r>
          </a:p>
          <a:p>
            <a:r>
              <a:t/>
            </a:r>
          </a:p>
          <a:p>
            <a:r>
              <a:t>Continue to</a:t>
            </a:r>
          </a:p>
          <a:p>
            <a:r>
              <a:t>Generalisation and Overfitting and underfitting</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Generalisation and Overfitting and underfitting</a:t>
            </a:r>
          </a:p>
          <a:p>
            <a:r>
              <a:t>CML3113, Week 10, slide 7</a:t>
            </a:r>
          </a:p>
          <a:p>
            <a:r>
              <a:t/>
            </a:r>
          </a:p>
          <a:p>
            <a:r>
              <a:t>Explanation to give</a:t>
            </a:r>
          </a:p>
          <a:p>
            <a:r>
              <a:t>Generalisation means working on relevant observations not used to learn the model. Overfitting captures training-specific detail; underfitting misses useful structure even in training.</a:t>
            </a:r>
          </a:p>
          <a:p>
            <a:r>
              <a:t/>
            </a:r>
          </a:p>
          <a:p>
            <a:r>
              <a:t>Worked illustration / lecturer answer</a:t>
            </a:r>
          </a:p>
          <a:p>
            <a:r>
              <a:t>A very deep tree may memorise noisy training readings. A constant baseline may miss a clear trend. Compare training and validation errors to diagnose these possibilities.</a:t>
            </a:r>
          </a:p>
          <a:p>
            <a:r>
              <a:t/>
            </a:r>
          </a:p>
          <a:p>
            <a:r>
              <a:t>Misconception to address</a:t>
            </a:r>
          </a:p>
          <a:p>
            <a:r>
              <a:t>A gap between errors is evidence to investigate, not proof of one cause. Check whether the evaluation data actually represents future use.</a:t>
            </a:r>
          </a:p>
          <a:p>
            <a:r>
              <a:t/>
            </a:r>
          </a:p>
          <a:p>
            <a:r>
              <a:t>On this slide</a:t>
            </a:r>
          </a:p>
          <a:p>
            <a:r>
              <a:t>Generalisation: Performance on new cases from the intended setting, not merely on records already used.</a:t>
            </a:r>
          </a:p>
          <a:p>
            <a:r>
              <a:t>Overfitting and underfitting: Overfitting captures training-specific detail that fails to transfer. Underfitting misses useful patterns. Score gaps are clues, not a complete diagnosis.</a:t>
            </a:r>
          </a:p>
          <a:p>
            <a:r>
              <a:t/>
            </a:r>
          </a:p>
          <a:p>
            <a:r>
              <a:t>Continue to</a:t>
            </a:r>
          </a:p>
          <a:p>
            <a:r>
              <a:t>Leakage and Group split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Leakage and Group split</a:t>
            </a:r>
          </a:p>
          <a:p>
            <a:r>
              <a:t>CML3113, Week 10, slide 8</a:t>
            </a:r>
          </a:p>
          <a:p>
            <a:r>
              <a:t/>
            </a:r>
          </a:p>
          <a:p>
            <a:r>
              <a:t>Explanation to give</a:t>
            </a:r>
          </a:p>
          <a:p>
            <a:r>
              <a:t>If the intended use is new equipment, keep all observations from each equipment ID together in one partition. Otherwise near-related records can make evaluation look easier than deployment.</a:t>
            </a:r>
          </a:p>
          <a:p>
            <a:r>
              <a:t/>
            </a:r>
          </a:p>
          <a:p>
            <a:r>
              <a:t>Worked illustration / lecturer answer</a:t>
            </a:r>
          </a:p>
          <a:p>
            <a:r>
              <a:t>Equipment A recorded on Monday and Tuesday belongs in one partition under a group split. Splitting those two rows across train and validation lets the model see the same equipment on both sides.</a:t>
            </a:r>
          </a:p>
          <a:p>
            <a:r>
              <a:t/>
            </a:r>
          </a:p>
          <a:p>
            <a:r>
              <a:t>Misconception to address</a:t>
            </a:r>
          </a:p>
          <a:p>
            <a:r>
              <a:t>Different record IDs do not guarantee independent equipment. For forecasting, chronology may be the key constraint instead; choose the split to match the stated use.</a:t>
            </a:r>
          </a:p>
          <a:p>
            <a:r>
              <a:t/>
            </a:r>
          </a:p>
          <a:p>
            <a:r>
              <a:t>On this slide</a:t>
            </a:r>
          </a:p>
          <a:p>
            <a:r>
              <a:t>Leakage: Information enters model development that would not legitimately be available, such as the answer or information from evaluation rows.</a:t>
            </a:r>
          </a:p>
          <a:p>
            <a:r>
              <a:t>Group split: Keep all observations from the same equipment in one partition when the goal is prediction for unseen equipment.</a:t>
            </a:r>
          </a:p>
          <a:p>
            <a:r>
              <a:t/>
            </a:r>
          </a:p>
          <a:p>
            <a:r>
              <a:t>Continue to</a:t>
            </a:r>
          </a:p>
          <a:p>
            <a:r>
              <a:t>Repeated equipment needs group separation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Repeated equipment needs group separation</a:t>
            </a:r>
          </a:p>
          <a:p>
            <a:r>
              <a:t>CML3113, Week 10, slide 9</a:t>
            </a:r>
          </a:p>
          <a:p>
            <a:r>
              <a:t/>
            </a:r>
          </a:p>
          <a:p>
            <a:r>
              <a:t>Explanation to give</a:t>
            </a:r>
          </a:p>
          <a:p>
            <a:r>
              <a:t>If the intended use is new equipment, keep all observations from each equipment ID together in one partition. Otherwise near-related records can make evaluation look easier than deployment.</a:t>
            </a:r>
          </a:p>
          <a:p>
            <a:r>
              <a:t/>
            </a:r>
          </a:p>
          <a:p>
            <a:r>
              <a:t>Worked illustration / lecturer answer</a:t>
            </a:r>
          </a:p>
          <a:p>
            <a:r>
              <a:t>Equipment A recorded on Monday and Tuesday belongs in one partition under a group split. Splitting those two rows across train and validation lets the model see the same equipment on both sides.</a:t>
            </a:r>
          </a:p>
          <a:p>
            <a:r>
              <a:t/>
            </a:r>
          </a:p>
          <a:p>
            <a:r>
              <a:t>Misconception to address</a:t>
            </a:r>
          </a:p>
          <a:p>
            <a:r>
              <a:t>Different record IDs do not guarantee independent equipment. For forecasting, chronology may be the key constraint instead; choose the split to match the stated use.</a:t>
            </a:r>
          </a:p>
          <a:p>
            <a:r>
              <a:t/>
            </a:r>
          </a:p>
          <a:p>
            <a:r>
              <a:t>On this slide</a:t>
            </a:r>
          </a:p>
          <a:p>
            <a:r>
              <a:t>Readings from the same equipment can share patterns.</a:t>
            </a:r>
          </a:p>
          <a:p>
            <a:r>
              <a:t/>
            </a:r>
          </a:p>
          <a:p>
            <a:r>
              <a:t>Putting that equipment in both training and validation can make evaluation too easy.</a:t>
            </a:r>
          </a:p>
          <a:p>
            <a:r>
              <a:t/>
            </a:r>
          </a:p>
          <a:p>
            <a:r>
              <a:t>For a new-equipment question, keep every row for an equipment ID in one partition.</a:t>
            </a:r>
          </a:p>
          <a:p>
            <a:r>
              <a:t/>
            </a:r>
          </a:p>
          <a:p>
            <a:r>
              <a:t>Continue to</a:t>
            </a:r>
          </a:p>
          <a:p>
            <a:r>
              <a:t>Keeping equipment groups together</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Keeping equipment groups together</a:t>
            </a:r>
          </a:p>
          <a:p>
            <a:r>
              <a:t>CML3113, Week 10, slide 10</a:t>
            </a:r>
          </a:p>
          <a:p>
            <a:r>
              <a:t/>
            </a:r>
          </a:p>
          <a:p>
            <a:r>
              <a:t>Explanation to give</a:t>
            </a:r>
          </a:p>
          <a:p>
            <a:r>
              <a:t>If the intended use is new equipment, keep all observations from each equipment ID together in one partition. Otherwise near-related records can make evaluation look easier than deployment.</a:t>
            </a:r>
          </a:p>
          <a:p>
            <a:r>
              <a:t/>
            </a:r>
          </a:p>
          <a:p>
            <a:r>
              <a:t>Worked illustration / lecturer answer</a:t>
            </a:r>
          </a:p>
          <a:p>
            <a:r>
              <a:t>Equipment A recorded on Monday and Tuesday belongs in one partition under a group split. Splitting those two rows across train and validation lets the model see the same equipment on both sides.</a:t>
            </a:r>
          </a:p>
          <a:p>
            <a:r>
              <a:t/>
            </a:r>
          </a:p>
          <a:p>
            <a:r>
              <a:t>Misconception to address</a:t>
            </a:r>
          </a:p>
          <a:p>
            <a:r>
              <a:t>Different record IDs do not guarantee independent equipment. For forecasting, chronology may be the key constraint instead; choose the split to match the stated use.</a:t>
            </a:r>
          </a:p>
          <a:p>
            <a:r>
              <a:t/>
            </a:r>
          </a:p>
          <a:p>
            <a:r>
              <a:t>On this slide</a:t>
            </a:r>
          </a:p>
          <a:p>
            <a:r>
              <a:t>Observation | Equipment | Partition</a:t>
            </a:r>
          </a:p>
          <a:p>
            <a:r>
              <a:t>1 | A | Training</a:t>
            </a:r>
          </a:p>
          <a:p>
            <a:r>
              <a:t>2 | A | Training</a:t>
            </a:r>
          </a:p>
          <a:p>
            <a:r>
              <a:t>3 | B | Validation</a:t>
            </a:r>
          </a:p>
          <a:p>
            <a:r>
              <a:t>This small example separates equipment groups.</a:t>
            </a:r>
          </a:p>
          <a:p>
            <a:r>
              <a:t/>
            </a:r>
          </a:p>
          <a:p>
            <a:r>
              <a:t>Continue to</a:t>
            </a:r>
          </a:p>
          <a:p>
            <a:r>
              <a:t>Validation and leakage in Python (1/2)</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Validation and leakage in Python (1/2)</a:t>
            </a:r>
          </a:p>
          <a:p>
            <a:r>
              <a:t>CML3113, Week 10, slide 11</a:t>
            </a:r>
          </a:p>
          <a:p>
            <a:r>
              <a:t/>
            </a:r>
          </a:p>
          <a:p>
            <a:r>
              <a:t>Explanation to give</a:t>
            </a:r>
          </a:p>
          <a:p>
            <a:r>
              <a:t>If the intended use is new equipment, keep all observations from each equipment ID together in one partition. Otherwise near-related records can make evaluation look easier than deployment.</a:t>
            </a:r>
          </a:p>
          <a:p>
            <a:r>
              <a:t/>
            </a:r>
          </a:p>
          <a:p>
            <a:r>
              <a:t>Worked illustration / lecturer answer</a:t>
            </a:r>
          </a:p>
          <a:p>
            <a:r>
              <a:t>Equipment A recorded on Monday and Tuesday belongs in one partition under a group split. Splitting those two rows across train and validation lets the model see the same equipment on both sides.</a:t>
            </a:r>
          </a:p>
          <a:p>
            <a:r>
              <a:t/>
            </a:r>
          </a:p>
          <a:p>
            <a:r>
              <a:t>Misconception to address</a:t>
            </a:r>
          </a:p>
          <a:p>
            <a:r>
              <a:t>Different record IDs do not guarantee independent equipment. For forecasting, chronology may be the key constraint instead; choose the split to match the stated use.</a:t>
            </a:r>
          </a:p>
          <a:p>
            <a:r>
              <a:t/>
            </a:r>
          </a:p>
          <a:p>
            <a:r>
              <a:t>Read the displayed code line by line</a:t>
            </a:r>
          </a:p>
          <a:p>
            <a:r>
              <a:t>records = [{"id": 1, "equipment": "A"},</a:t>
            </a:r>
          </a:p>
          <a:p>
            <a:r>
              <a:t>Evaluate the complete right-hand expression first, then assign its result to the name or selected field on the left.</a:t>
            </a:r>
          </a:p>
          <a:p>
            <a:r>
              <a:t/>
            </a:r>
          </a:p>
          <a:p>
            <a:r>
              <a:t>{"id": 2, "equipment": "A"},</a:t>
            </a:r>
          </a:p>
          <a:p>
            <a:r>
              <a:t>This line continues the surrounding expression or block; read it together with the preceding line rather than running it alone.</a:t>
            </a:r>
          </a:p>
          <a:p>
            <a:r>
              <a:t/>
            </a:r>
          </a:p>
          <a:p>
            <a:r>
              <a:t>{"id": 3, "equipment": "B"}]</a:t>
            </a:r>
          </a:p>
          <a:p>
            <a:r>
              <a:t>This line continues the surrounding expression or block; read it together with the preceding line rather than running it alone.</a:t>
            </a:r>
          </a:p>
          <a:p>
            <a:r>
              <a:t/>
            </a:r>
          </a:p>
          <a:p>
            <a:r>
              <a:t>train = []</a:t>
            </a:r>
          </a:p>
          <a:p>
            <a:r>
              <a:t>Evaluate the complete right-hand expression first, then assign its result to the name or selected field on the left.</a:t>
            </a:r>
          </a:p>
          <a:p>
            <a:r>
              <a:t/>
            </a:r>
          </a:p>
          <a:p>
            <a:r>
              <a:t>validation = []</a:t>
            </a:r>
          </a:p>
          <a:p>
            <a:r>
              <a:t>Evaluate the complete right-hand expression first, then assign its result to the name or selected field on the left.</a:t>
            </a:r>
          </a:p>
          <a:p>
            <a:r>
              <a:t/>
            </a:r>
          </a:p>
          <a:p>
            <a:r>
              <a:t>Result / continuity</a:t>
            </a:r>
          </a:p>
          <a:p>
            <a:r>
              <a:t>Read top to bottom. Run the complete example in the matching practice notebook.</a:t>
            </a:r>
          </a:p>
          <a:p>
            <a:r>
              <a:t/>
            </a:r>
          </a:p>
          <a:p>
            <a:r>
              <a:t>Continue to</a:t>
            </a:r>
          </a:p>
          <a:p>
            <a:r>
              <a:t>Validation and leakage in Python (2/2)</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Validation and leakage in Python (2/2)</a:t>
            </a:r>
          </a:p>
          <a:p>
            <a:r>
              <a:t>CML3113, Week 10, slide 12</a:t>
            </a:r>
          </a:p>
          <a:p>
            <a:r>
              <a:t/>
            </a:r>
          </a:p>
          <a:p>
            <a:r>
              <a:t>Explanation to give</a:t>
            </a:r>
          </a:p>
          <a:p>
            <a:r>
              <a:t>If the intended use is new equipment, keep all observations from each equipment ID together in one partition. Otherwise near-related records can make evaluation look easier than deployment.</a:t>
            </a:r>
          </a:p>
          <a:p>
            <a:r>
              <a:t/>
            </a:r>
          </a:p>
          <a:p>
            <a:r>
              <a:t>Worked illustration / lecturer answer</a:t>
            </a:r>
          </a:p>
          <a:p>
            <a:r>
              <a:t>Equipment A recorded on Monday and Tuesday belongs in one partition under a group split. Splitting those two rows across train and validation lets the model see the same equipment on both sides.</a:t>
            </a:r>
          </a:p>
          <a:p>
            <a:r>
              <a:t/>
            </a:r>
          </a:p>
          <a:p>
            <a:r>
              <a:t>Misconception to address</a:t>
            </a:r>
          </a:p>
          <a:p>
            <a:r>
              <a:t>Different record IDs do not guarantee independent equipment. For forecasting, chronology may be the key constraint instead; choose the split to match the stated use.</a:t>
            </a:r>
          </a:p>
          <a:p>
            <a:r>
              <a:t/>
            </a:r>
          </a:p>
          <a:p>
            <a:r>
              <a:t>Read the displayed code line by line</a:t>
            </a:r>
          </a:p>
          <a:p>
            <a:r>
              <a:t>for row in records:</a:t>
            </a:r>
          </a:p>
          <a:p>
            <a:r>
              <a:t>Take each item or pair in turn, assign the loop name(s), and repeat the indented body.</a:t>
            </a:r>
          </a:p>
          <a:p>
            <a:r>
              <a:t/>
            </a:r>
          </a:p>
          <a:p>
            <a:r>
              <a:t>if row["equipment"] == "A":</a:t>
            </a:r>
          </a:p>
          <a:p>
            <a:r>
              <a:t>Evaluate this yes/no condition. Execute its indented body only on the matching path.</a:t>
            </a:r>
          </a:p>
          <a:p>
            <a:r>
              <a:t/>
            </a:r>
          </a:p>
          <a:p>
            <a:r>
              <a:t>train.append(row["id"])</a:t>
            </a:r>
          </a:p>
          <a:p>
            <a:r>
              <a:t>Evaluate the argument and add it as one new item at the end of this list.</a:t>
            </a:r>
          </a:p>
          <a:p>
            <a:r>
              <a:t/>
            </a:r>
          </a:p>
          <a:p>
            <a:r>
              <a:t>else:</a:t>
            </a:r>
          </a:p>
          <a:p>
            <a:r>
              <a:t>Use this remaining path when the matching earlier condition did not succeed.</a:t>
            </a:r>
          </a:p>
          <a:p>
            <a:r>
              <a:t/>
            </a:r>
          </a:p>
          <a:p>
            <a:r>
              <a:t>validation.append(row["id"])</a:t>
            </a:r>
          </a:p>
          <a:p>
            <a:r>
              <a:t>Evaluate the argument and add it as one new item at the end of this list.</a:t>
            </a:r>
          </a:p>
          <a:p>
            <a:r>
              <a:t/>
            </a:r>
          </a:p>
          <a:p>
            <a:r>
              <a:t>print(train, validation)</a:t>
            </a:r>
          </a:p>
          <a:p>
            <a:r>
              <a:t>Evaluate the expression inside the parentheses and display it. Displaying is separate from returning a function result.</a:t>
            </a:r>
          </a:p>
          <a:p>
            <a:r>
              <a:t/>
            </a:r>
          </a:p>
          <a:p>
            <a:r>
              <a:t>Result / continuity</a:t>
            </a:r>
          </a:p>
          <a:p>
            <a:r>
              <a:t>Continue the SAME cell; keep indentation. Run after all parts are entered.</a:t>
            </a:r>
          </a:p>
          <a:p>
            <a:r>
              <a:t/>
            </a:r>
          </a:p>
          <a:p>
            <a:r>
              <a:t>Continue to</a:t>
            </a:r>
          </a:p>
          <a:p>
            <a:r>
              <a:t>Validation and leakage results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Validation and leakage results</a:t>
            </a:r>
          </a:p>
          <a:p>
            <a:r>
              <a:t>CML3113, Week 10, slide 13</a:t>
            </a:r>
          </a:p>
          <a:p>
            <a:r>
              <a:t/>
            </a:r>
          </a:p>
          <a:p>
            <a:r>
              <a:t>Explanation to give</a:t>
            </a:r>
          </a:p>
          <a:p>
            <a:r>
              <a:t>If the intended use is new equipment, keep all observations from each equipment ID together in one partition. Otherwise near-related records can make evaluation look easier than deployment.</a:t>
            </a:r>
          </a:p>
          <a:p>
            <a:r>
              <a:t/>
            </a:r>
          </a:p>
          <a:p>
            <a:r>
              <a:t>Worked illustration / lecturer answer</a:t>
            </a:r>
          </a:p>
          <a:p>
            <a:r>
              <a:t>Equipment A recorded on Monday and Tuesday belongs in one partition under a group split. Splitting those two rows across train and validation lets the model see the same equipment on both sides.</a:t>
            </a:r>
          </a:p>
          <a:p>
            <a:r>
              <a:t/>
            </a:r>
          </a:p>
          <a:p>
            <a:r>
              <a:t>Misconception to address</a:t>
            </a:r>
          </a:p>
          <a:p>
            <a:r>
              <a:t>Different record IDs do not guarantee independent equipment. For forecasting, chronology may be the key constraint instead; choose the split to match the stated use.</a:t>
            </a:r>
          </a:p>
          <a:p>
            <a:r>
              <a:t/>
            </a:r>
          </a:p>
          <a:p>
            <a:r>
              <a:t>On this slide</a:t>
            </a:r>
          </a:p>
          <a:p>
            <a:r>
              <a:t>[1, 2] [3]</a:t>
            </a:r>
          </a:p>
          <a:p>
            <a:r>
              <a:t/>
            </a:r>
          </a:p>
          <a:p>
            <a:r>
              <a:t>Continue to</a:t>
            </a:r>
          </a:p>
          <a:p>
            <a:r>
              <a:t>Preprocessing and pipeline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Preprocessing and pipeline</a:t>
            </a:r>
          </a:p>
          <a:p>
            <a:r>
              <a:t>CML3113, Week 10, slide 14</a:t>
            </a:r>
          </a:p>
          <a:p>
            <a:r>
              <a:t/>
            </a:r>
          </a:p>
          <a:p>
            <a:r>
              <a:t>Explanation to give</a:t>
            </a:r>
          </a:p>
          <a:p>
            <a:r>
              <a:t>A pipeline keeps preparation and prediction in one ordered procedure. Fit learns preparation values from training data and then fits the model. Prediction reuses those saved values.</a:t>
            </a:r>
          </a:p>
          <a:p>
            <a:r>
              <a:t/>
            </a:r>
          </a:p>
          <a:p>
            <a:r>
              <a:t>Worked illustration / lecturer answer</a:t>
            </a:r>
          </a:p>
          <a:p>
            <a:r>
              <a:t>For training feature values 20, 22, missing and 24, the learned median is 22. A missing value in a new observation also receives 22, without recalculating from the new observations.</a:t>
            </a:r>
          </a:p>
          <a:p>
            <a:r>
              <a:t/>
            </a:r>
          </a:p>
          <a:p>
            <a:r>
              <a:t>Misconception to address</a:t>
            </a:r>
          </a:p>
          <a:p>
            <a:r>
              <a:t>Filling all records before splitting leaks information. A pipeline avoids that only when its fit receives the correct training subset.</a:t>
            </a:r>
          </a:p>
          <a:p>
            <a:r>
              <a:t/>
            </a:r>
          </a:p>
          <a:p>
            <a:r>
              <a:t>On this slide</a:t>
            </a:r>
          </a:p>
          <a:p>
            <a:r>
              <a:t>Preprocessing and pipeline: Preprocessing changes inputs, for example filling missing values. A pipeline fits these steps on training data and applies the same fitted changes to new inputs.</a:t>
            </a:r>
          </a:p>
          <a:p>
            <a:r>
              <a:t/>
            </a:r>
          </a:p>
          <a:p>
            <a:r>
              <a:t>Continue to</a:t>
            </a:r>
          </a:p>
          <a:p>
            <a:r>
              <a:t>A learned cleaning value comes from training</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learned cleaning value comes from training</a:t>
            </a:r>
          </a:p>
          <a:p>
            <a:r>
              <a:t>CML3113, Week 10, slide 15</a:t>
            </a:r>
          </a:p>
          <a:p>
            <a:r>
              <a:t/>
            </a:r>
          </a:p>
          <a:p>
            <a:r>
              <a:t>Explanation to give</a:t>
            </a:r>
          </a:p>
          <a:p>
            <a:r>
              <a:t>A pipeline keeps preparation and prediction in one ordered procedure. Fit learns preparation values from training data and then fits the model. Prediction reuses those saved values.</a:t>
            </a:r>
          </a:p>
          <a:p>
            <a:r>
              <a:t/>
            </a:r>
          </a:p>
          <a:p>
            <a:r>
              <a:t>Worked illustration / lecturer answer</a:t>
            </a:r>
          </a:p>
          <a:p>
            <a:r>
              <a:t>For training feature values 20, 22, missing and 24, the learned median is 22. A missing value in a new observation also receives 22, without recalculating from the new observations.</a:t>
            </a:r>
          </a:p>
          <a:p>
            <a:r>
              <a:t/>
            </a:r>
          </a:p>
          <a:p>
            <a:r>
              <a:t>Misconception to address</a:t>
            </a:r>
          </a:p>
          <a:p>
            <a:r>
              <a:t>Filling all records before splitting leaks information. A pipeline avoids that only when its fit receives the correct training subset.</a:t>
            </a:r>
          </a:p>
          <a:p>
            <a:r>
              <a:t/>
            </a:r>
          </a:p>
          <a:p>
            <a:r>
              <a:t>On this slide</a:t>
            </a:r>
          </a:p>
          <a:p>
            <a:r>
              <a:t>The training readings are 20, 22 and 24. Their median is 22.</a:t>
            </a:r>
          </a:p>
          <a:p>
            <a:r>
              <a:t/>
            </a:r>
          </a:p>
          <a:p>
            <a:r>
              <a:t>A missing validation value receives the already learned 22.</a:t>
            </a:r>
          </a:p>
          <a:p>
            <a:r>
              <a:t/>
            </a:r>
          </a:p>
          <a:p>
            <a:r>
              <a:t>A new validation reading of 40 must not change the fitted median.</a:t>
            </a:r>
          </a:p>
          <a:p>
            <a:r>
              <a:t/>
            </a:r>
          </a:p>
          <a:p>
            <a:r>
              <a:t>Continue to</a:t>
            </a:r>
          </a:p>
          <a:p>
            <a:r>
              <a:t>A training-only fill value in Python (1/2)</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training-only fill value in Python (1/2)</a:t>
            </a:r>
          </a:p>
          <a:p>
            <a:r>
              <a:t>CML3113, Week 10, slide 16</a:t>
            </a:r>
          </a:p>
          <a:p>
            <a:r>
              <a:t/>
            </a:r>
          </a:p>
          <a:p>
            <a:r>
              <a:t>Explanation to give</a:t>
            </a:r>
          </a:p>
          <a:p>
            <a:r>
              <a:t>A pipeline keeps preparation and prediction in one ordered procedure. Fit learns preparation values from training data and then fits the model. Prediction reuses those saved values.</a:t>
            </a:r>
          </a:p>
          <a:p>
            <a:r>
              <a:t/>
            </a:r>
          </a:p>
          <a:p>
            <a:r>
              <a:t>Worked illustration / lecturer answer</a:t>
            </a:r>
          </a:p>
          <a:p>
            <a:r>
              <a:t>For training feature values 20, 22, missing and 24, the learned median is 22. A missing value in a new observation also receives 22, without recalculating from the new observations.</a:t>
            </a:r>
          </a:p>
          <a:p>
            <a:r>
              <a:t/>
            </a:r>
          </a:p>
          <a:p>
            <a:r>
              <a:t>Misconception to address</a:t>
            </a:r>
          </a:p>
          <a:p>
            <a:r>
              <a:t>Filling all records before splitting leaks information. A pipeline avoids that only when its fit receives the correct training subset.</a:t>
            </a:r>
          </a:p>
          <a:p>
            <a:r>
              <a:t/>
            </a:r>
          </a:p>
          <a:p>
            <a:r>
              <a:t>Read the displayed code line by line</a:t>
            </a:r>
          </a:p>
          <a:p>
            <a:r>
              <a:t>from statistics import median</a:t>
            </a:r>
          </a:p>
          <a:p>
            <a:r>
              <a:t>Bring the named tool from this library into the current Python session.</a:t>
            </a:r>
          </a:p>
          <a:p>
            <a:r>
              <a:t/>
            </a:r>
          </a:p>
          <a:p>
            <a:r>
              <a:t>training_values = [20, 22, 24]</a:t>
            </a:r>
          </a:p>
          <a:p>
            <a:r>
              <a:t>Evaluate the complete right-hand expression first, then assign its result to the name or selected field on the left.</a:t>
            </a:r>
          </a:p>
          <a:p>
            <a:r>
              <a:t/>
            </a:r>
          </a:p>
          <a:p>
            <a:r>
              <a:t>validation_values = [None, 40]</a:t>
            </a:r>
          </a:p>
          <a:p>
            <a:r>
              <a:t>Evaluate the complete right-hand expression first, then assign its result to the name or selected field on the left.</a:t>
            </a:r>
          </a:p>
          <a:p>
            <a:r>
              <a:t/>
            </a:r>
          </a:p>
          <a:p>
            <a:r>
              <a:t>training_median = median(training_values)</a:t>
            </a:r>
          </a:p>
          <a:p>
            <a:r>
              <a:t>Evaluate the complete right-hand expression first, then assign its result to the name or selected field on the left.</a:t>
            </a:r>
          </a:p>
          <a:p>
            <a:r>
              <a:t/>
            </a:r>
          </a:p>
          <a:p>
            <a:r>
              <a:t>filled_validation = []</a:t>
            </a:r>
          </a:p>
          <a:p>
            <a:r>
              <a:t>Evaluate the complete right-hand expression first, then assign its result to the name or selected field on the left.</a:t>
            </a:r>
          </a:p>
          <a:p>
            <a:r>
              <a:t/>
            </a:r>
          </a:p>
          <a:p>
            <a:r>
              <a:t>Result / continuity</a:t>
            </a:r>
          </a:p>
          <a:p>
            <a:r>
              <a:t>Read top to bottom. Run the complete example in the matching practice notebook.</a:t>
            </a:r>
          </a:p>
          <a:p>
            <a:r>
              <a:t/>
            </a:r>
          </a:p>
          <a:p>
            <a:r>
              <a:t>Continue to</a:t>
            </a:r>
          </a:p>
          <a:p>
            <a:r>
              <a:t>A training-only fill value in Python (2/2)</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training-only fill value in Python (2/2)</a:t>
            </a:r>
          </a:p>
          <a:p>
            <a:r>
              <a:t>CML3113, Week 10, slide 17</a:t>
            </a:r>
          </a:p>
          <a:p>
            <a:r>
              <a:t/>
            </a:r>
          </a:p>
          <a:p>
            <a:r>
              <a:t>Explanation to give</a:t>
            </a:r>
          </a:p>
          <a:p>
            <a:r>
              <a:t>A pipeline keeps preparation and prediction in one ordered procedure. Fit learns preparation values from training data and then fits the model. Prediction reuses those saved values.</a:t>
            </a:r>
          </a:p>
          <a:p>
            <a:r>
              <a:t/>
            </a:r>
          </a:p>
          <a:p>
            <a:r>
              <a:t>Worked illustration / lecturer answer</a:t>
            </a:r>
          </a:p>
          <a:p>
            <a:r>
              <a:t>For training feature values 20, 22, missing and 24, the learned median is 22. A missing value in a new observation also receives 22, without recalculating from the new observations.</a:t>
            </a:r>
          </a:p>
          <a:p>
            <a:r>
              <a:t/>
            </a:r>
          </a:p>
          <a:p>
            <a:r>
              <a:t>Misconception to address</a:t>
            </a:r>
          </a:p>
          <a:p>
            <a:r>
              <a:t>Filling all records before splitting leaks information. A pipeline avoids that only when its fit receives the correct training subset.</a:t>
            </a:r>
          </a:p>
          <a:p>
            <a:r>
              <a:t/>
            </a:r>
          </a:p>
          <a:p>
            <a:r>
              <a:t>Read the displayed code line by line</a:t>
            </a:r>
          </a:p>
          <a:p>
            <a:r>
              <a:t>for value in validation_values:</a:t>
            </a:r>
          </a:p>
          <a:p>
            <a:r>
              <a:t>Take each item or pair in turn, assign the loop name(s), and repeat the indented body.</a:t>
            </a:r>
          </a:p>
          <a:p>
            <a:r>
              <a:t/>
            </a:r>
          </a:p>
          <a:p>
            <a:r>
              <a:t>if value is None:</a:t>
            </a:r>
          </a:p>
          <a:p>
            <a:r>
              <a:t>Evaluate this yes/no condition. Execute its indented body only on the matching path.</a:t>
            </a:r>
          </a:p>
          <a:p>
            <a:r>
              <a:t/>
            </a:r>
          </a:p>
          <a:p>
            <a:r>
              <a:t>filled_validation.append(training_median)</a:t>
            </a:r>
          </a:p>
          <a:p>
            <a:r>
              <a:t>Evaluate the argument and add it as one new item at the end of this list.</a:t>
            </a:r>
          </a:p>
          <a:p>
            <a:r>
              <a:t/>
            </a:r>
          </a:p>
          <a:p>
            <a:r>
              <a:t>else:</a:t>
            </a:r>
          </a:p>
          <a:p>
            <a:r>
              <a:t>Use this remaining path when the matching earlier condition did not succeed.</a:t>
            </a:r>
          </a:p>
          <a:p>
            <a:r>
              <a:t/>
            </a:r>
          </a:p>
          <a:p>
            <a:r>
              <a:t>filled_validation.append(value)</a:t>
            </a:r>
          </a:p>
          <a:p>
            <a:r>
              <a:t>Evaluate the argument and add it as one new item at the end of this list.</a:t>
            </a:r>
          </a:p>
          <a:p>
            <a:r>
              <a:t/>
            </a:r>
          </a:p>
          <a:p>
            <a:r>
              <a:t>print(training_median, filled_validation)</a:t>
            </a:r>
          </a:p>
          <a:p>
            <a:r>
              <a:t>Evaluate the expression inside the parentheses and display it. Displaying is separate from returning a function result.</a:t>
            </a:r>
          </a:p>
          <a:p>
            <a:r>
              <a:t/>
            </a:r>
          </a:p>
          <a:p>
            <a:r>
              <a:t>Result / continuity</a:t>
            </a:r>
          </a:p>
          <a:p>
            <a:r>
              <a:t>Continue the SAME cell; keep indentation. Run after all parts are entered.</a:t>
            </a:r>
          </a:p>
          <a:p>
            <a:r>
              <a:t/>
            </a:r>
          </a:p>
          <a:p>
            <a:r>
              <a:t>Continue to</a:t>
            </a:r>
          </a:p>
          <a:p>
            <a:r>
              <a:t>Leakage gives away information from the future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Leakage gives away information from the future</a:t>
            </a:r>
          </a:p>
          <a:p>
            <a:r>
              <a:t>CML3113, Week 10, slide 18</a:t>
            </a:r>
          </a:p>
          <a:p>
            <a:r>
              <a:t/>
            </a:r>
          </a:p>
          <a:p>
            <a:r>
              <a:t>Explanation to give</a:t>
            </a:r>
          </a:p>
          <a:p>
            <a:r>
              <a:t>If the intended use is new equipment, keep all observations from each equipment ID together in one partition. Otherwise near-related records can make evaluation look easier than deployment.</a:t>
            </a:r>
          </a:p>
          <a:p>
            <a:r>
              <a:t/>
            </a:r>
          </a:p>
          <a:p>
            <a:r>
              <a:t>Worked illustration / lecturer answer</a:t>
            </a:r>
          </a:p>
          <a:p>
            <a:r>
              <a:t>Equipment A recorded on Monday and Tuesday belongs in one partition under a group split. Splitting those two rows across train and validation lets the model see the same equipment on both sides.</a:t>
            </a:r>
          </a:p>
          <a:p>
            <a:r>
              <a:t/>
            </a:r>
          </a:p>
          <a:p>
            <a:r>
              <a:t>Misconception to address</a:t>
            </a:r>
          </a:p>
          <a:p>
            <a:r>
              <a:t>Different record IDs do not guarantee independent equipment. For forecasting, chronology may be the key constraint instead; choose the split to match the stated use.</a:t>
            </a:r>
          </a:p>
          <a:p>
            <a:r>
              <a:t/>
            </a:r>
          </a:p>
          <a:p>
            <a:r>
              <a:t>On this slide</a:t>
            </a:r>
          </a:p>
          <a:p>
            <a:r>
              <a:t>Suppose we predict a fault before an inspection.</a:t>
            </a:r>
          </a:p>
          <a:p>
            <a:r>
              <a:t/>
            </a:r>
          </a:p>
          <a:p>
            <a:r>
              <a:t>final_inspection_result exists only after the inspection.</a:t>
            </a:r>
          </a:p>
          <a:p>
            <a:r>
              <a:t/>
            </a:r>
          </a:p>
          <a:p>
            <a:r>
              <a:t>Using it as an input would answer a different, easier question than the one we intended.</a:t>
            </a:r>
          </a:p>
          <a:p>
            <a:r>
              <a:t/>
            </a:r>
          </a:p>
          <a:p>
            <a:r>
              <a:t>Continue to</a:t>
            </a:r>
          </a:p>
          <a:p>
            <a:r>
              <a:t>Parameters hyperparameters and a fold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Parameters hyperparameters and a fold</a:t>
            </a:r>
          </a:p>
          <a:p>
            <a:r>
              <a:t>CML3113, Week 10, slide 19</a:t>
            </a:r>
          </a:p>
          <a:p>
            <a:r>
              <a:t/>
            </a:r>
          </a:p>
          <a:p>
            <a:r>
              <a:t>Explanation to give</a:t>
            </a:r>
          </a:p>
          <a:p>
            <a:r>
              <a:t>A parameter is learned during fit. A hyperparameter is chosen as a setting. Cross-validation repeats fitting with different held-out portions of the development data to assess choices more steadily.</a:t>
            </a:r>
          </a:p>
          <a:p>
            <a:r>
              <a:t/>
            </a:r>
          </a:p>
          <a:p>
            <a:r>
              <a:t>Worked illustration / lecturer answer</a:t>
            </a:r>
          </a:p>
          <a:p>
            <a:r>
              <a:t>If validation errors are 2, 3 and 4, the mean is 3. Their spread indicates sensitivity to the held-out portion. A standard deviation describes that spread; it is not automatically a confidence interval.</a:t>
            </a:r>
          </a:p>
          <a:p>
            <a:r>
              <a:t/>
            </a:r>
          </a:p>
          <a:p>
            <a:r>
              <a:t>Misconception to address</a:t>
            </a:r>
          </a:p>
          <a:p>
            <a:r>
              <a:t>Fit preprocessing separately within each training fold. Keep groups or time order intact where required. The final test remains separate from tuning.</a:t>
            </a:r>
          </a:p>
          <a:p>
            <a:r>
              <a:t/>
            </a:r>
          </a:p>
          <a:p>
            <a:r>
              <a:t>On this slide</a:t>
            </a:r>
          </a:p>
          <a:p>
            <a:r>
              <a:t>A parameter is learned during fitting, such as a line’s slope. A hyperparameter is a setting chosen around fitting, such as a tree’s max_depth.</a:t>
            </a:r>
          </a:p>
          <a:p>
            <a:r>
              <a:t/>
            </a:r>
          </a:p>
          <a:p>
            <a:r>
              <a:t>A fold is one part of the development data used for a validation turn. Refit the entire preprocessing and model on the other parts for that turn.</a:t>
            </a:r>
          </a:p>
          <a:p>
            <a:r>
              <a:t/>
            </a:r>
          </a:p>
          <a:p>
            <a:r>
              <a:t>Compare candidate settings using validation evidence. Keep the final test outside that selection process.</a:t>
            </a:r>
          </a:p>
          <a:p>
            <a:r>
              <a:t/>
            </a:r>
          </a:p>
          <a:p>
            <a:r>
              <a:t>Continue to</a:t>
            </a:r>
          </a:p>
          <a:p>
            <a:r>
              <a:t>Cross-validation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Cross-validation</a:t>
            </a:r>
          </a:p>
          <a:p>
            <a:r>
              <a:t>CML3113, Week 10, slide 20</a:t>
            </a:r>
          </a:p>
          <a:p>
            <a:r>
              <a:t/>
            </a:r>
          </a:p>
          <a:p>
            <a:r>
              <a:t>Explanation to give</a:t>
            </a:r>
          </a:p>
          <a:p>
            <a:r>
              <a:t>A parameter is learned during fit. A hyperparameter is chosen as a setting. Cross-validation repeats fitting with different held-out portions of the development data to assess choices more steadily.</a:t>
            </a:r>
          </a:p>
          <a:p>
            <a:r>
              <a:t/>
            </a:r>
          </a:p>
          <a:p>
            <a:r>
              <a:t>Worked illustration / lecturer answer</a:t>
            </a:r>
          </a:p>
          <a:p>
            <a:r>
              <a:t>If validation errors are 2, 3 and 4, the mean is 3. Their spread indicates sensitivity to the held-out portion. A standard deviation describes that spread; it is not automatically a confidence interval.</a:t>
            </a:r>
          </a:p>
          <a:p>
            <a:r>
              <a:t/>
            </a:r>
          </a:p>
          <a:p>
            <a:r>
              <a:t>Misconception to address</a:t>
            </a:r>
          </a:p>
          <a:p>
            <a:r>
              <a:t>Fit preprocessing separately within each training fold. Keep groups or time order intact where required. The final test remains separate from tuning.</a:t>
            </a:r>
          </a:p>
          <a:p>
            <a:r>
              <a:t/>
            </a:r>
          </a:p>
          <a:p>
            <a:r>
              <a:t>On this slide</a:t>
            </a:r>
          </a:p>
          <a:p>
            <a:r>
              <a:t>Cross-validation: Repeat fitting and validation on several partitions of the training/development data. Respect groups or time order. Keep the final test outside tuning.</a:t>
            </a:r>
          </a:p>
          <a:p>
            <a:r>
              <a:t/>
            </a:r>
          </a:p>
          <a:p>
            <a:r>
              <a:t>Continue to</a:t>
            </a:r>
          </a:p>
          <a:p>
            <a:r>
              <a:t>What standard deviation tells us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What standard deviation tells us</a:t>
            </a:r>
          </a:p>
          <a:p>
            <a:r>
              <a:t>CML3113, Week 10, slide 21</a:t>
            </a:r>
          </a:p>
          <a:p>
            <a:r>
              <a:t/>
            </a:r>
          </a:p>
          <a:p>
            <a:r>
              <a:t>Explanation to give</a:t>
            </a:r>
          </a:p>
          <a:p>
            <a:r>
              <a:t>A parameter is learned during fit. A hyperparameter is chosen as a setting. Cross-validation repeats fitting with different held-out portions of the development data to assess choices more steadily.</a:t>
            </a:r>
          </a:p>
          <a:p>
            <a:r>
              <a:t/>
            </a:r>
          </a:p>
          <a:p>
            <a:r>
              <a:t>Worked illustration / lecturer answer</a:t>
            </a:r>
          </a:p>
          <a:p>
            <a:r>
              <a:t>If validation errors are 2, 3 and 4, the mean is 3. Their spread indicates sensitivity to the held-out portion. A standard deviation describes that spread; it is not automatically a confidence interval.</a:t>
            </a:r>
          </a:p>
          <a:p>
            <a:r>
              <a:t/>
            </a:r>
          </a:p>
          <a:p>
            <a:r>
              <a:t>Misconception to address</a:t>
            </a:r>
          </a:p>
          <a:p>
            <a:r>
              <a:t>Fit preprocessing separately within each training fold. Keep groups or time order intact where required. The final test remains separate from tuning.</a:t>
            </a:r>
          </a:p>
          <a:p>
            <a:r>
              <a:t/>
            </a:r>
          </a:p>
          <a:p>
            <a:r>
              <a:t>On this slide</a:t>
            </a:r>
          </a:p>
          <a:p>
            <a:r>
              <a:t>Scores 3, 4 and 5 have mean 4. Their deviations are -1, 0 and 1.</a:t>
            </a:r>
          </a:p>
          <a:p>
            <a:r>
              <a:t/>
            </a:r>
          </a:p>
          <a:p>
            <a:r>
              <a:t>For these three fold scores, population SD = sqrt((1 + 0 + 1) / 3), about 0.82.</a:t>
            </a:r>
          </a:p>
          <a:p>
            <a:r>
              <a:t/>
            </a:r>
          </a:p>
          <a:p>
            <a:r>
              <a:t>SD describes spread around the mean in the score’s units. The next illustration uses this same population convention; it is not a confidence interval.</a:t>
            </a:r>
          </a:p>
          <a:p>
            <a:r>
              <a:t/>
            </a:r>
          </a:p>
          <a:p>
            <a:r>
              <a:t>Continue to</a:t>
            </a:r>
          </a:p>
          <a:p>
            <a:r>
              <a:t>Trace three validation turns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Trace three validation turns</a:t>
            </a:r>
          </a:p>
          <a:p>
            <a:r>
              <a:t>CML3113, Week 10, slide 22</a:t>
            </a:r>
          </a:p>
          <a:p>
            <a:r>
              <a:t/>
            </a:r>
          </a:p>
          <a:p>
            <a:r>
              <a:t>Explanation to give</a:t>
            </a:r>
          </a:p>
          <a:p>
            <a:r>
              <a:t>A parameter is learned during fit. A hyperparameter is chosen as a setting. Cross-validation repeats fitting with different held-out portions of the development data to assess choices more steadily.</a:t>
            </a:r>
          </a:p>
          <a:p>
            <a:r>
              <a:t/>
            </a:r>
          </a:p>
          <a:p>
            <a:r>
              <a:t>Worked illustration / lecturer answer</a:t>
            </a:r>
          </a:p>
          <a:p>
            <a:r>
              <a:t>If validation errors are 2, 3 and 4, the mean is 3. Their spread indicates sensitivity to the held-out portion. A standard deviation describes that spread; it is not automatically a confidence interval.</a:t>
            </a:r>
          </a:p>
          <a:p>
            <a:r>
              <a:t/>
            </a:r>
          </a:p>
          <a:p>
            <a:r>
              <a:t>Misconception to address</a:t>
            </a:r>
          </a:p>
          <a:p>
            <a:r>
              <a:t>Fit preprocessing separately within each training fold. Keep groups or time order intact where required. The final test remains separate from tuning.</a:t>
            </a:r>
          </a:p>
          <a:p>
            <a:r>
              <a:t/>
            </a:r>
          </a:p>
          <a:p>
            <a:r>
              <a:t>On this slide</a:t>
            </a:r>
          </a:p>
          <a:p>
            <a:r>
              <a:t>Turn | Fit using | Validate using</a:t>
            </a:r>
          </a:p>
          <a:p>
            <a:r>
              <a:t>1 | Parts B and C | Part A</a:t>
            </a:r>
          </a:p>
          <a:p>
            <a:r>
              <a:t>2 | Parts A and C | Part B</a:t>
            </a:r>
          </a:p>
          <a:p>
            <a:r>
              <a:t>3 | Parts A and B | Part C</a:t>
            </a:r>
          </a:p>
          <a:p>
            <a:r>
              <a:t>Refit preprocessing in every turn. The separate final test is not A, B or C.</a:t>
            </a:r>
          </a:p>
          <a:p>
            <a:r>
              <a:t/>
            </a:r>
          </a:p>
          <a:p>
            <a:r>
              <a:t>Reference / existing resource</a:t>
            </a:r>
          </a:p>
          <a:p>
            <a:r>
              <a:t>https://docs.python.org/3/tutorial/introduction.html</a:t>
            </a:r>
          </a:p>
          <a:p>
            <a:r>
              <a:t>https://docs.python.org/3/tutorial/controlflow.html;</a:t>
            </a:r>
          </a:p>
          <a:p>
            <a:r>
              <a:t/>
            </a:r>
          </a:p>
          <a:p>
            <a:r>
              <a:t>Continue to</a:t>
            </a:r>
          </a:p>
          <a:p>
            <a:r>
              <a:t>Each fold takes a turn at validation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Each fold takes a turn at validation</a:t>
            </a:r>
          </a:p>
          <a:p>
            <a:r>
              <a:t>CML3113, Week 10, slide 23</a:t>
            </a:r>
          </a:p>
          <a:p>
            <a:r>
              <a:t/>
            </a:r>
          </a:p>
          <a:p>
            <a:r>
              <a:t>Explanation to give</a:t>
            </a:r>
          </a:p>
          <a:p>
            <a:r>
              <a:t>A parameter is learned during fit. A hyperparameter is chosen as a setting. Cross-validation repeats fitting with different held-out portions of the development data to assess choices more steadily.</a:t>
            </a:r>
          </a:p>
          <a:p>
            <a:r>
              <a:t/>
            </a:r>
          </a:p>
          <a:p>
            <a:r>
              <a:t>Worked illustration / lecturer answer</a:t>
            </a:r>
          </a:p>
          <a:p>
            <a:r>
              <a:t>If validation errors are 2, 3 and 4, the mean is 3. Their spread indicates sensitivity to the held-out portion. A standard deviation describes that spread; it is not automatically a confidence interval.</a:t>
            </a:r>
          </a:p>
          <a:p>
            <a:r>
              <a:t/>
            </a:r>
          </a:p>
          <a:p>
            <a:r>
              <a:t>Misconception to address</a:t>
            </a:r>
          </a:p>
          <a:p>
            <a:r>
              <a:t>Fit preprocessing separately within each training fold. Keep groups or time order intact where required. The final test remains separate from tuning.</a:t>
            </a:r>
          </a:p>
          <a:p>
            <a:r>
              <a:t/>
            </a:r>
          </a:p>
          <a:p>
            <a:r>
              <a:t>On this slide</a:t>
            </a:r>
          </a:p>
          <a:p>
            <a:r>
              <a:t>Illustrated spread: population SD 0.39 MPa, not a confidence interval.</a:t>
            </a:r>
          </a:p>
          <a:p>
            <a:r>
              <a:t/>
            </a:r>
          </a:p>
          <a:p>
            <a:r>
              <a:t>Continue to</a:t>
            </a:r>
          </a:p>
          <a:p>
            <a:r>
              <a:t>Choose a split that matches future use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Choose a split that matches future use</a:t>
            </a:r>
          </a:p>
          <a:p>
            <a:r>
              <a:t>CML3113, Week 10, slide 24</a:t>
            </a:r>
          </a:p>
          <a:p>
            <a:r>
              <a:t/>
            </a:r>
          </a:p>
          <a:p>
            <a:r>
              <a:t>Explanation to give</a:t>
            </a:r>
          </a:p>
          <a:p>
            <a:r>
              <a:t>A parameter is learned during fit. A hyperparameter is chosen as a setting. Cross-validation repeats fitting with different held-out portions of the development data to assess choices more steadily.</a:t>
            </a:r>
          </a:p>
          <a:p>
            <a:r>
              <a:t/>
            </a:r>
          </a:p>
          <a:p>
            <a:r>
              <a:t>Worked illustration / lecturer answer</a:t>
            </a:r>
          </a:p>
          <a:p>
            <a:r>
              <a:t>If validation errors are 2, 3 and 4, the mean is 3. Their spread indicates sensitivity to the held-out portion. A standard deviation describes that spread; it is not automatically a confidence interval.</a:t>
            </a:r>
          </a:p>
          <a:p>
            <a:r>
              <a:t/>
            </a:r>
          </a:p>
          <a:p>
            <a:r>
              <a:t>Misconception to address</a:t>
            </a:r>
          </a:p>
          <a:p>
            <a:r>
              <a:t>Fit preprocessing separately within each training fold. Keep groups or time order intact where required. The final test remains separate from tuning.</a:t>
            </a:r>
          </a:p>
          <a:p>
            <a:r>
              <a:t/>
            </a:r>
          </a:p>
          <a:p>
            <a:r>
              <a:t>On this slide</a:t>
            </a:r>
          </a:p>
          <a:p>
            <a:r>
              <a:t>Equipment or time: For unseen equipment, keep each equipment ID together. For future-time prediction, train on earlier observations and evaluate on later ones.</a:t>
            </a:r>
          </a:p>
          <a:p>
            <a:r>
              <a:t>Scaler and split tool: A scaler learns how to rescale features; fit it on training data. GroupShuffleSplit is a library tool for group separation. Our assignment instead uses its fixed published equipment lists.</a:t>
            </a:r>
          </a:p>
          <a:p>
            <a:r>
              <a:t/>
            </a:r>
          </a:p>
          <a:p>
            <a:r>
              <a:t>Continue to</a:t>
            </a:r>
          </a:p>
          <a:p>
            <a:r>
              <a:t>Revision example and answer</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Revision example and answer</a:t>
            </a:r>
          </a:p>
          <a:p>
            <a:r>
              <a:t>CML3113, Week 10, slide 25</a:t>
            </a:r>
          </a:p>
          <a:p>
            <a:r>
              <a:t/>
            </a:r>
          </a:p>
          <a:p>
            <a:r>
              <a:t>Explanation to give</a:t>
            </a:r>
          </a:p>
          <a:p>
            <a:r>
              <a:t>Use the displayed example as a short individual revision question, then explain the reasoning behind its answer.</a:t>
            </a:r>
          </a:p>
          <a:p>
            <a:r>
              <a:t/>
            </a:r>
          </a:p>
          <a:p>
            <a:r>
              <a:t>Worked illustration / lecturer answer</a:t>
            </a:r>
          </a:p>
          <a:p>
            <a:r>
              <a:t>Example: A second observation from B arrives. Where does it go? Why not put it into training just to balance row counts?</a:t>
            </a:r>
          </a:p>
          <a:p>
            <a:r>
              <a:t/>
            </a:r>
          </a:p>
          <a:p>
            <a:r>
              <a:t>Answer: It stays with B in validation. Mixing a source across partitions can give an overly optimistic estimate for unseen equipment.</a:t>
            </a:r>
          </a:p>
          <a:p>
            <a:r>
              <a:t/>
            </a:r>
          </a:p>
          <a:p>
            <a:r>
              <a:t>Misconception to address</a:t>
            </a:r>
          </a:p>
          <a:p>
            <a:r>
              <a:t>Trace the operation that changes the value rather than accepting a memorised output. For notebook-state examples, specify which cell is repeated and whether the initialisation ran again.</a:t>
            </a:r>
          </a:p>
          <a:p>
            <a:r>
              <a:t/>
            </a:r>
          </a:p>
          <a:p>
            <a:r>
              <a:t>Continue to</a:t>
            </a:r>
          </a:p>
          <a:p>
            <a:r>
              <a:t>Preparing for the assignment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Preparing for the assignment</a:t>
            </a:r>
          </a:p>
          <a:p>
            <a:r>
              <a:t>CML3113, Week 10, slide 26</a:t>
            </a:r>
          </a:p>
          <a:p>
            <a:r>
              <a:t/>
            </a:r>
          </a:p>
          <a:p>
            <a:r>
              <a:t>Explanation to give</a:t>
            </a:r>
          </a:p>
          <a:p>
            <a:r>
              <a:t>Explain the order: partition data using the stated protocol, fit preparation on training data, fit models, compare on validation data and leave final test data untouched until choices are fixed.</a:t>
            </a:r>
          </a:p>
          <a:p>
            <a:r>
              <a:t/>
            </a:r>
          </a:p>
          <a:p>
            <a:r>
              <a:t>Worked illustration / lecturer answer</a:t>
            </a:r>
          </a:p>
          <a:p>
            <a:r>
              <a:t>Compare models on identical held-out observations with the same metric and preprocessing rules. Each cross-validation training fold learns its own preparation values.</a:t>
            </a:r>
          </a:p>
          <a:p>
            <a:r>
              <a:t/>
            </a:r>
          </a:p>
          <a:p>
            <a:r>
              <a:t>Misconception to address</a:t>
            </a:r>
          </a:p>
          <a:p>
            <a:r>
              <a:t>A written claim of no leakage must agree with the executable split and fitting code. Follow the published execution requirement for any criterion linked to the split check.</a:t>
            </a:r>
          </a:p>
          <a:p>
            <a:r>
              <a:t/>
            </a:r>
          </a:p>
          <a:p>
            <a:r>
              <a:t>On this slide</a:t>
            </a:r>
          </a:p>
          <a:p>
            <a:r>
              <a:t>W10 specifies E1–E4 train, E5 validation, E6 test and preserves input order.</a:t>
            </a:r>
          </a:p>
          <a:p>
            <a:r>
              <a:t/>
            </a:r>
          </a:p>
          <a:p>
            <a:r>
              <a:t>Use the assigned equipment_id field and record_id outputs.</a:t>
            </a:r>
          </a:p>
          <a:p>
            <a:r>
              <a:t/>
            </a:r>
          </a:p>
          <a:p>
            <a:r>
              <a:t>Reuse the W08 fitting pattern.</a:t>
            </a:r>
          </a:p>
          <a:p>
            <a:r>
              <a:t/>
            </a:r>
          </a:p>
          <a:p>
            <a:r>
              <a:t>GroupShuffleSplit separates equipment groups. A time-based split separates earlier and later records. Follow the split required by your task.</a:t>
            </a:r>
          </a:p>
          <a:p>
            <a:r>
              <a:t/>
            </a:r>
          </a:p>
          <a:p>
            <a:r>
              <a:t>Continue to</a:t>
            </a:r>
          </a:p>
          <a:p>
            <a:r>
              <a:t>Interpreting validation results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Interpreting validation results</a:t>
            </a:r>
          </a:p>
          <a:p>
            <a:r>
              <a:t>CML3113, Week 10, slide 27</a:t>
            </a:r>
          </a:p>
          <a:p>
            <a:r>
              <a:t/>
            </a:r>
          </a:p>
          <a:p>
            <a:r>
              <a:t>Explanation to give</a:t>
            </a:r>
          </a:p>
          <a:p>
            <a:r>
              <a:t>Explain what population the validation result represents. A model evaluated on unseen equipment supports a different claim from one evaluated on new readings from already-seen equipment.</a:t>
            </a:r>
          </a:p>
          <a:p>
            <a:r>
              <a:t/>
            </a:r>
          </a:p>
          <a:p>
            <a:r>
              <a:t>Worked illustration / lecturer answer</a:t>
            </a:r>
          </a:p>
          <a:p>
            <a:r>
              <a:t>If group splitting increases error compared with a row shuffle, the earlier score may have benefited from seeing related equipment. Report both the protocol and the error rather than concealing the harder result.</a:t>
            </a:r>
          </a:p>
          <a:p>
            <a:r>
              <a:t/>
            </a:r>
          </a:p>
          <a:p>
            <a:r>
              <a:t>Misconception to address</a:t>
            </a:r>
          </a:p>
          <a:p>
            <a:r>
              <a:t>A fixed random seed makes the split repeatable, not necessarily representative. Examine group coverage and future operating conditions.</a:t>
            </a:r>
          </a:p>
          <a:p>
            <a:r>
              <a:t/>
            </a:r>
          </a:p>
          <a:p>
            <a:r>
              <a:t>On this slide</a:t>
            </a:r>
          </a:p>
          <a:p>
            <a:r>
              <a:t>Fit an imputer or scaler only on training data; putting it in a Pipeline helps enforce that during cross-validation.</a:t>
            </a:r>
          </a:p>
          <a:p>
            <a:r>
              <a:t/>
            </a:r>
          </a:p>
          <a:p>
            <a:r>
              <a:t>A low training error and high validation error suggest overfitting, but data shift or leakage can also matter.</a:t>
            </a:r>
          </a:p>
          <a:p>
            <a:r>
              <a:t/>
            </a:r>
          </a:p>
          <a:p>
            <a:r>
              <a:t>Missing predictor values need a stated treatment.</a:t>
            </a:r>
          </a:p>
          <a:p>
            <a:r>
              <a:t/>
            </a:r>
          </a:p>
          <a:p>
            <a:r>
              <a:t>Report fold scores and their variation, not just the best fold.</a:t>
            </a:r>
          </a:p>
          <a:p>
            <a:r>
              <a:t/>
            </a:r>
          </a:p>
          <a:p>
            <a:r>
              <a:t>Continue to</a:t>
            </a:r>
          </a:p>
          <a:p>
            <a:r>
              <a:t>Interpreting validation results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Interpreting validation results continued</a:t>
            </a:r>
          </a:p>
          <a:p>
            <a:r>
              <a:t>CML3113, Week 10, slide 28</a:t>
            </a:r>
          </a:p>
          <a:p>
            <a:r>
              <a:t/>
            </a:r>
          </a:p>
          <a:p>
            <a:r>
              <a:t>Explanation to give</a:t>
            </a:r>
          </a:p>
          <a:p>
            <a:r>
              <a:t>Explain what population the validation result represents. A model evaluated on unseen equipment supports a different claim from one evaluated on new readings from already-seen equipment.</a:t>
            </a:r>
          </a:p>
          <a:p>
            <a:r>
              <a:t/>
            </a:r>
          </a:p>
          <a:p>
            <a:r>
              <a:t>Worked illustration / lecturer answer</a:t>
            </a:r>
          </a:p>
          <a:p>
            <a:r>
              <a:t>If group splitting increases error compared with a row shuffle, the earlier score may have benefited from seeing related equipment. Report both the protocol and the error rather than concealing the harder result.</a:t>
            </a:r>
          </a:p>
          <a:p>
            <a:r>
              <a:t/>
            </a:r>
          </a:p>
          <a:p>
            <a:r>
              <a:t>Misconception to address</a:t>
            </a:r>
          </a:p>
          <a:p>
            <a:r>
              <a:t>A fixed random seed makes the split repeatable, not necessarily representative. Examine group coverage and future operating conditions.</a:t>
            </a:r>
          </a:p>
          <a:p>
            <a:r>
              <a:t/>
            </a:r>
          </a:p>
          <a:p>
            <a:r>
              <a:t>On this slide</a:t>
            </a:r>
          </a:p>
          <a:p>
            <a:r>
              <a:t>Group related observations together when the deployment goal is new equipment.</a:t>
            </a:r>
          </a:p>
          <a:p>
            <a:r>
              <a:t/>
            </a:r>
          </a:p>
          <a:p>
            <a:r>
              <a:t>Continue to</a:t>
            </a:r>
          </a:p>
          <a:p>
            <a:r>
              <a:t>Your issued task</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Your issued task</a:t>
            </a:r>
          </a:p>
          <a:p>
            <a:r>
              <a:t>CML3113, Week 10, slide 29</a:t>
            </a:r>
          </a:p>
          <a:p>
            <a:r>
              <a:t/>
            </a:r>
          </a:p>
          <a:p>
            <a:r>
              <a:t>Explanation to give</a:t>
            </a:r>
          </a:p>
          <a:p>
            <a:r>
              <a:t>Name this cohort’s target and its unit exactly as displayed. Each row is one operating observation, while equipment_id can repeat across several observations.</a:t>
            </a:r>
          </a:p>
          <a:p>
            <a:r>
              <a:t/>
            </a:r>
          </a:p>
          <a:p>
            <a:r>
              <a:t>Worked illustration / lecturer answer</a:t>
            </a:r>
          </a:p>
          <a:p>
            <a:r>
              <a:t>Explain record_id as the identifier of an observation, load_pct as load expressed in percent and ambient_c as temperature in degrees Celsius. The target records the known answer in training data.</a:t>
            </a:r>
          </a:p>
          <a:p>
            <a:r>
              <a:t/>
            </a:r>
          </a:p>
          <a:p>
            <a:r>
              <a:t>Misconception to address</a:t>
            </a:r>
          </a:p>
          <a:p>
            <a:r>
              <a:t>These are synthetic examples for learning. They do not establish a calibrated physical relationship or justify operation of real equipment.</a:t>
            </a:r>
          </a:p>
          <a:p>
            <a:r>
              <a:t/>
            </a:r>
          </a:p>
          <a:p>
            <a:r>
              <a:t>On this slide</a:t>
            </a:r>
          </a:p>
          <a:p>
            <a:r>
              <a:t>Investigate crusher energy demand.</a:t>
            </a:r>
          </a:p>
          <a:p>
            <a:r>
              <a:t/>
            </a:r>
          </a:p>
          <a:p>
            <a:r>
              <a:t>Target units: kWh/t.</a:t>
            </a:r>
          </a:p>
          <a:p>
            <a:r>
              <a:t/>
            </a:r>
          </a:p>
          <a:p>
            <a:r>
              <a:t>These are synthetic teaching records, not measurements suitable for deployment.</a:t>
            </a:r>
          </a:p>
          <a:p>
            <a:r>
              <a:t/>
            </a:r>
          </a:p>
          <a:p>
            <a:r>
              <a:t>Each record is one operating observation; equipment_id repeats across observations.</a:t>
            </a:r>
          </a:p>
          <a:p>
            <a:r>
              <a:t/>
            </a:r>
          </a:p>
          <a:p>
            <a:r>
              <a:t>Continue to</a:t>
            </a:r>
          </a:p>
          <a:p>
            <a:r>
              <a:t>group_split(records)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group_split(records)</a:t>
            </a:r>
          </a:p>
          <a:p>
            <a:r>
              <a:t>CML3113, Week 10, slide 30</a:t>
            </a:r>
          </a:p>
          <a:p>
            <a:r>
              <a:t/>
            </a:r>
          </a:p>
          <a:p>
            <a:r>
              <a:t>Explanation to give</a:t>
            </a:r>
          </a:p>
          <a:p>
            <a:r>
              <a:t>Choose groups using the task’s deterministic rule, then return record IDs in the required train, validation and test lists.</a:t>
            </a:r>
          </a:p>
          <a:p>
            <a:r>
              <a:t/>
            </a:r>
          </a:p>
          <a:p>
            <a:r>
              <a:t>Worked illustration / lecturer answer</a:t>
            </a:r>
          </a:p>
          <a:p>
            <a:r>
              <a:t>Check that each equipment ID appears in only one partition and that every record is accounted for. A random row split does not satisfy this interface.</a:t>
            </a:r>
          </a:p>
          <a:p>
            <a:r>
              <a:t/>
            </a:r>
          </a:p>
          <a:p>
            <a:r>
              <a:t>Misconception to address</a:t>
            </a:r>
          </a:p>
          <a:p>
            <a:r>
              <a:t>Keep the exact output names and required types. Use the task text for the learner’s own assessed answer; the alternate example explains the method without replacing their work.</a:t>
            </a:r>
          </a:p>
          <a:p>
            <a:r>
              <a:t/>
            </a:r>
          </a:p>
          <a:p>
            <a:r>
              <a:t>On this slide</a:t>
            </a:r>
          </a:p>
          <a:p>
            <a:r>
              <a:t>Assign whole equipment groups: E1–E4 to train, E5 to validation, E6 to test.</a:t>
            </a:r>
          </a:p>
          <a:p>
            <a:r>
              <a:t/>
            </a:r>
          </a:p>
          <a:p>
            <a:r>
              <a:t>Return train, validation and test lists of record_id in input order.</a:t>
            </a:r>
          </a:p>
          <a:p>
            <a:r>
              <a:t/>
            </a:r>
          </a:p>
          <a:p>
            <a:r>
              <a:t>Do not use target values to choose membership.</a:t>
            </a:r>
          </a:p>
          <a:p>
            <a:r>
              <a:t/>
            </a:r>
          </a:p>
          <a:p>
            <a:r>
              <a:t>Continue to</a:t>
            </a:r>
          </a:p>
          <a:p>
            <a:r>
              <a:t>predict_regression(training_records, feature_records)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predict_regression(training_records, feature_records)</a:t>
            </a:r>
          </a:p>
          <a:p>
            <a:r>
              <a:t>CML3113, Week 10, slide 31</a:t>
            </a:r>
          </a:p>
          <a:p>
            <a:r>
              <a:t/>
            </a:r>
          </a:p>
          <a:p>
            <a:r>
              <a:t>Explanation to give</a:t>
            </a:r>
          </a:p>
          <a:p>
            <a:r>
              <a:t>Build feature rows using only the specified input fields and preserve their order. Fit preprocessing and the three requested models using training records only.</a:t>
            </a:r>
          </a:p>
          <a:p>
            <a:r>
              <a:t/>
            </a:r>
          </a:p>
          <a:p>
            <a:r>
              <a:t>Worked illustration / lecturer answer</a:t>
            </a:r>
          </a:p>
          <a:p>
            <a:r>
              <a:t>The returned dictionary contains baseline, linear and tree, each with one prediction per feature record. A feature record deliberately contains no target answer.</a:t>
            </a:r>
          </a:p>
          <a:p>
            <a:r>
              <a:t/>
            </a:r>
          </a:p>
          <a:p>
            <a:r>
              <a:t>Misconception to address</a:t>
            </a:r>
          </a:p>
          <a:p>
            <a:r>
              <a:t>Keep the exact output names and required types. Use the task text for the learner’s own assessed answer; the alternate example explains the method without replacing their work.</a:t>
            </a:r>
          </a:p>
          <a:p>
            <a:r>
              <a:t/>
            </a:r>
          </a:p>
          <a:p>
            <a:r>
              <a:t>On this slide</a:t>
            </a:r>
          </a:p>
          <a:p>
            <a:r>
              <a:t>Fit a training-mean baseline, linear regression and a decision tree (max_depth=4, random_state=17) using load_pct and ambient_c only.</a:t>
            </a:r>
          </a:p>
          <a:p>
            <a:r>
              <a:t/>
            </a:r>
          </a:p>
          <a:p>
            <a:r>
              <a:t>Return three prediction lists under baseline, linear and tree.</a:t>
            </a:r>
          </a:p>
          <a:p>
            <a:r>
              <a:t/>
            </a:r>
          </a:p>
          <a:p>
            <a:r>
              <a:t>Feature records have no target.</a:t>
            </a:r>
          </a:p>
          <a:p>
            <a:r>
              <a:t/>
            </a:r>
          </a:p>
          <a:p>
            <a:r>
              <a:t>Fit preprocessing only on training data.</a:t>
            </a:r>
          </a:p>
          <a:p>
            <a:r>
              <a:t/>
            </a:r>
          </a:p>
          <a:p>
            <a:r>
              <a:t>Continue to</a:t>
            </a:r>
          </a:p>
          <a:p>
            <a:r>
              <a:t>Written evidence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Written evidence</a:t>
            </a:r>
          </a:p>
          <a:p>
            <a:r>
              <a:t>CML3113, Week 10, slide 32</a:t>
            </a:r>
          </a:p>
          <a:p>
            <a:r>
              <a:t/>
            </a:r>
          </a:p>
          <a:p>
            <a:r>
              <a:t>Explanation to give</a:t>
            </a:r>
          </a:p>
          <a:p>
            <a:r>
              <a:t>Show the actual markdown answer cell headed My written evidence. This is where the learner explains the choices and the supplied scenario in their own words.</a:t>
            </a:r>
          </a:p>
          <a:p>
            <a:r>
              <a:t/>
            </a:r>
          </a:p>
          <a:p>
            <a:r>
              <a:t>Worked illustration / lecturer answer</a:t>
            </a:r>
          </a:p>
          <a:p>
            <a:r>
              <a:t>A useful explanation connects a decision to a named result and its limitation: for example, why a training-only median avoids using evaluation information. Describe supplied scenario figures as supplied, not as measurements the learner produced.</a:t>
            </a:r>
          </a:p>
          <a:p>
            <a:r>
              <a:t/>
            </a:r>
          </a:p>
          <a:p>
            <a:r>
              <a:t>Misconception to address</a:t>
            </a:r>
          </a:p>
          <a:p>
            <a:r>
              <a:t>Prompts and copied code comments do not substitute for the learner’s reasoning. Weekly work and tests use the notebook; projects also require their separate readable report.</a:t>
            </a:r>
          </a:p>
          <a:p>
            <a:r>
              <a:t/>
            </a:r>
          </a:p>
          <a:p>
            <a:r>
              <a:t>On this slide</a:t>
            </a:r>
          </a:p>
          <a:p>
            <a:r>
              <a:t>Use the cell headed “My written evidence”.</a:t>
            </a:r>
          </a:p>
          <a:p>
            <a:r>
              <a:t/>
            </a:r>
          </a:p>
          <a:p>
            <a:r>
              <a:t>Explain the supplied scenario in your own words.</a:t>
            </a:r>
          </a:p>
          <a:p>
            <a:r>
              <a:t/>
            </a:r>
          </a:p>
          <a:p>
            <a:r>
              <a:t>State target units, reasons and limitations.</a:t>
            </a:r>
          </a:p>
          <a:p>
            <a:r>
              <a:t/>
            </a:r>
          </a:p>
          <a:p>
            <a:r>
              <a:t>Submit one complete notebook containing code and written evidence.</a:t>
            </a:r>
          </a:p>
          <a:p>
            <a:r>
              <a:t/>
            </a:r>
          </a:p>
          <a:p>
            <a:r>
              <a:t>Continue to</a:t>
            </a:r>
          </a:p>
          <a:p>
            <a:r>
              <a:t>Validation and trust submission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Validation and trust submission</a:t>
            </a:r>
          </a:p>
          <a:p>
            <a:r>
              <a:t>CML3113, Week 10, slide 33</a:t>
            </a:r>
          </a:p>
          <a:p>
            <a:r>
              <a:t/>
            </a:r>
          </a:p>
          <a:p>
            <a:r>
              <a:t>Explanation to give</a:t>
            </a:r>
          </a:p>
          <a:p>
            <a:r>
              <a:t>This slide hands over CML3113 W10. Show the exact form title before uploading. The required packet is one completed .ipynb notebook.</a:t>
            </a:r>
          </a:p>
          <a:p>
            <a:r>
              <a:t/>
            </a:r>
          </a:p>
          <a:p>
            <a:r>
              <a:t>Worked illustration / lecturer answer</a:t>
            </a:r>
          </a:p>
          <a:p>
            <a:r>
              <a:t>The recorded cutoff for this form is 2026-11-20T08:00:00+03:00. Check the live form for later changes. A replacement must contain the complete required file set, not just the changed file.</a:t>
            </a:r>
          </a:p>
          <a:p>
            <a:r>
              <a:t/>
            </a:r>
          </a:p>
          <a:p>
            <a:r>
              <a:t>Misconception to address</a:t>
            </a:r>
          </a:p>
          <a:p>
            <a:r>
              <a:t>Students enter their own Student Registration Number as required freeform text. They wait for filenames to appear, press Submit and keep the confirmation. A file saved in Drive or GitHub is not itself a form submission.</a:t>
            </a:r>
          </a:p>
          <a:p>
            <a:r>
              <a:t/>
            </a:r>
          </a:p>
          <a:p>
            <a:r>
              <a:t>On this slide</a:t>
            </a:r>
          </a:p>
          <a:p>
            <a:r>
              <a:t>Opens: 13 Nov 2026, 08:00 Kampala</a:t>
            </a:r>
          </a:p>
          <a:p>
            <a:r>
              <a:t/>
            </a:r>
          </a:p>
          <a:p>
            <a:r>
              <a:t>Deadline: 20 Nov 2026, 08:00 Kampala</a:t>
            </a:r>
          </a:p>
          <a:p>
            <a:r>
              <a:t/>
            </a:r>
          </a:p>
          <a:p>
            <a:r>
              <a:t>Use your full Student Registration Number in the form.</a:t>
            </a:r>
          </a:p>
          <a:p>
            <a:r>
              <a:t/>
            </a:r>
          </a:p>
          <a:p>
            <a:r>
              <a:t>Keep the submitted files and confirmation.</a:t>
            </a:r>
          </a:p>
          <a:p>
            <a:r>
              <a:t/>
            </a:r>
          </a:p>
          <a:p>
            <a:r>
              <a:t>Continue to</a:t>
            </a:r>
          </a:p>
          <a:p>
            <a:r>
              <a:t>Week 10 quiz</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Week 10 quiz</a:t>
            </a:r>
          </a:p>
          <a:p>
            <a:r>
              <a:t>CML3113, Week 10, slide 34</a:t>
            </a:r>
          </a:p>
          <a:p>
            <a:r>
              <a:t/>
            </a:r>
          </a:p>
          <a:p>
            <a:r>
              <a:t>Explanation to give</a:t>
            </a:r>
          </a:p>
          <a:p>
            <a:r>
              <a:t>This is the CML3113 Week 1 quiz. The student link opens the response form; it does not activate its window. In Quiz Controls use open_W1_CML3113 when ready and read the logged closing time.</a:t>
            </a:r>
          </a:p>
          <a:p>
            <a:r>
              <a:t/>
            </a:r>
          </a:p>
          <a:p>
            <a:r>
              <a:t>Worked illustration / lecturer answer</a:t>
            </a:r>
          </a:p>
          <a:p>
            <a:r>
              <a:t>Explain the distinction between the expected answering time and availability: five minutes of questions can still be available for 24 hours after activation. Enter the learner’s own Student Registration Number and use the registered Google account.</a:t>
            </a:r>
          </a:p>
          <a:p>
            <a:r>
              <a:t/>
            </a:r>
          </a:p>
          <a:p>
            <a:r>
              <a:t>Misconception to address</a:t>
            </a:r>
          </a:p>
          <a:p>
            <a:r>
              <a:t>Read the exact live cutoff before announcing it. Do not promise a new attempt to somebody who already submitted. Quiz catch-up and assignment uploads are separate forms.</a:t>
            </a:r>
          </a:p>
          <a:p>
            <a:r>
              <a:t/>
            </a:r>
          </a:p>
          <a:p>
            <a:r>
              <a:t>On this slide</a:t>
            </a:r>
          </a:p>
          <a:p>
            <a:r>
              <a:t>Answer individually after the lecturer activates the quiz.</a:t>
            </a:r>
          </a:p>
          <a:p>
            <a:r>
              <a:t/>
            </a:r>
          </a:p>
          <a:p>
            <a:r>
              <a:t>Available for 24 hours from activation.</a:t>
            </a:r>
          </a:p>
          <a:p>
            <a:r>
              <a:t/>
            </a:r>
          </a:p>
          <a:p>
            <a:r>
              <a:t>Use your Student Registration Number and registered account.</a:t>
            </a:r>
          </a:p>
          <a:p>
            <a:r>
              <a:t/>
            </a:r>
          </a:p>
          <a:p>
            <a:r>
              <a:t>Check the announced quiz closing time.</a:t>
            </a:r>
          </a:p>
          <a:p>
            <a:r>
              <a:t/>
            </a:r>
          </a:p>
          <a:p>
            <a:r>
              <a:t>Continue to</a:t>
            </a:r>
          </a:p>
          <a:p>
            <a:r>
              <a:t>Revision and submission checklist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Revision and submission checklist</a:t>
            </a:r>
          </a:p>
          <a:p>
            <a:r>
              <a:t>CML3113, Week 10, slide 35</a:t>
            </a:r>
          </a:p>
          <a:p>
            <a:r>
              <a:t/>
            </a:r>
          </a:p>
          <a:p>
            <a:r>
              <a:t>Explanation to give</a:t>
            </a:r>
          </a:p>
          <a:p>
            <a:r>
              <a:t>Connect evaluation to intended use. Decide how to hold out observations before fitting either preprocessing or the model.</a:t>
            </a:r>
          </a:p>
          <a:p>
            <a:r>
              <a:t/>
            </a:r>
          </a:p>
          <a:p>
            <a:r>
              <a:t>Worked illustration / lecturer answer</a:t>
            </a:r>
          </a:p>
          <a:p>
            <a:r>
              <a:t>When testing new equipment, all observations from equipment A stay in one partition. Training must not learn its missing-value replacements from held-out equipment.</a:t>
            </a:r>
          </a:p>
          <a:p>
            <a:r>
              <a:t/>
            </a:r>
          </a:p>
          <a:p>
            <a:r>
              <a:t>Misconception to address</a:t>
            </a:r>
          </a:p>
          <a:p>
            <a:r>
              <a:t>Close by identifying the actual saved file and its correct submission route. Read the live deadline. For current weekly notebook tasks, students upload their own work, not the practice notebook, ZIP or grading files.</a:t>
            </a:r>
          </a:p>
          <a:p>
            <a:r>
              <a:t/>
            </a:r>
          </a:p>
          <a:p>
            <a:r>
              <a:t>On this slide</a:t>
            </a:r>
          </a:p>
          <a:p>
            <a:r>
              <a:t>You can identify which records may influence preprocessing and model selection.</a:t>
            </a:r>
          </a:p>
          <a:p>
            <a:r>
              <a:t/>
            </a:r>
          </a:p>
          <a:p>
            <a:r>
              <a:t>Save your work and check the required submission files.</a:t>
            </a:r>
          </a:p>
          <a:p>
            <a:r>
              <a:t/>
            </a:r>
          </a:p>
          <a:p>
            <a:r>
              <a:t>Continue to</a:t>
            </a:r>
          </a:p>
          <a:p>
            <a:r>
              <a:t>Optional revision video</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Optional revision video</a:t>
            </a:r>
          </a:p>
          <a:p>
            <a:r>
              <a:t>CML3113, Week 10, slide 36</a:t>
            </a:r>
          </a:p>
          <a:p>
            <a:r>
              <a:t/>
            </a:r>
          </a:p>
          <a:p>
            <a:r>
              <a:t>Explanation to give</a:t>
            </a:r>
          </a:p>
          <a:p>
            <a:r>
              <a:t>Give the viewing question before playing the excerpt: Why evaluate using observations not used to fit that particular model?</a:t>
            </a:r>
          </a:p>
          <a:p>
            <a:r>
              <a:t/>
            </a:r>
          </a:p>
          <a:p>
            <a:r>
              <a:t>Worked illustration / lecturer answer</a:t>
            </a:r>
          </a:p>
          <a:p>
            <a:r>
              <a:t>Use the adjacent worked example as the explanation if the video cannot load. Pause after the relevant example and connect its terms to the names and units already used in this lesson. Preview the displayed link and excerpt before class.</a:t>
            </a:r>
          </a:p>
          <a:p>
            <a:r>
              <a:t/>
            </a:r>
          </a:p>
          <a:p>
            <a:r>
              <a:t>Misconception to address</a:t>
            </a:r>
          </a:p>
          <a:p>
            <a:r>
              <a:t>The video is supporting revision, not a replacement for defining the symbols or a requirement to watch a full tutorial during limited class time.</a:t>
            </a:r>
          </a:p>
          <a:p>
            <a:r>
              <a:t/>
            </a:r>
          </a:p>
          <a:p>
            <a:r>
              <a:t>On this slide</a:t>
            </a:r>
          </a:p>
          <a:p>
            <a:r>
              <a:t>For revision after class.</a:t>
            </a:r>
          </a:p>
          <a:p>
            <a:r>
              <a:t/>
            </a:r>
          </a:p>
          <a:p>
            <a:r>
              <a:t>StatQuest with Josh Starmer</a:t>
            </a:r>
          </a:p>
          <a:p>
            <a:r>
              <a:t>Machine Learning Fundamentals Cross Validation</a:t>
            </a:r>
          </a:p>
          <a:p>
            <a:r>
              <a:t/>
            </a:r>
          </a:p>
          <a:p>
            <a:r>
              <a:t>Opening up to 04:00, optional preview-selected excerpt</a:t>
            </a:r>
          </a:p>
          <a:p>
            <a:r>
              <a:t/>
            </a:r>
          </a:p>
          <a:p>
            <a:r>
              <a:t>Listening question: Why evaluate using observations not used to fit that particular model?</a:t>
            </a:r>
          </a:p>
          <a:p>
            <a:r>
              <a:t/>
            </a:r>
          </a:p>
          <a:p>
            <a:r>
              <a:t>Reference / existing resource</a:t>
            </a:r>
          </a:p>
          <a:p>
            <a:r>
              <a:t>https://www.youtube.com/watch?v=fSytzGwwBVw</a:t>
            </a:r>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f71a04b64d04cf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d86ed2a5a86c4dea"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98d4ef2fb3bb4af6"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745cd697098b443b"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9083a9a37f364b45"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9d660816414f4cc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DA4177BA-18D4-4651-AAB9-CFE72F466E2F}"/>
              </a:ext>
            </a:extLst>
          </p:cNvPr>
          <p:cNvSpPr>
            <a:spLocks xmlns:a="http://schemas.openxmlformats.org/drawingml/2006/main" noGrp="1"/>
          </p:cNvSpPr>
          <p:nvPr/>
        </p:nvSpPr>
        <p:spPr>
          <a:xfrm xmlns:a="http://schemas.openxmlformats.org/drawingml/2006/main">
            <a:off x="5791055" y="22098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553615C5-3B2B-4CB0-8939-5DE3A774871C}"/>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AEA19B29-E094-49B6-8B40-274435D26413}"/>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9BC2B768-D2D6-4340-A964-E0EC734CCD5F}"/>
              </a:ext>
            </a:extLst>
          </p:cNvPr>
          <p:cNvSpPr>
            <a:spLocks xmlns:a="http://schemas.openxmlformats.org/drawingml/2006/main" noGrp="1"/>
          </p:cNvSpPr>
          <p:nvPr/>
        </p:nvSpPr>
        <p:spPr>
          <a:xfrm xmlns:a="http://schemas.openxmlformats.org/drawingml/2006/main">
            <a:off x="5791055" y="24765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B320AF0F-FE72-4E73-AC3B-5D43B795024B}"/>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8FCBE5B7-3CAA-4189-A7D1-286BC5835BFD}"/>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B421C242-2343-4F5F-A87D-96E6EFF773FB}"/>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202A0FAC-2CF7-45B5-B0E9-483DDA019A17}"/>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5CB19F48-EE5F-4D08-8A4A-8F9CEB9704E2}"/>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5AE34691-CF48-46B5-8BEE-6366AB48C96A}"/>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2B0B99E4-F525-4860-920C-FF56E8F19512}"/>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17E5D9CB-71EA-4EE6-AEC9-9348CDE467EE}"/>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D8BC5ACC-2457-4E53-AA29-5464E2AB2F18}"/>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7997A998-846A-4827-87FE-5439CEFBA3DF}"/>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690249DC-9F94-4B36-8A9F-29D3560DC777}"/>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711b648b8714aab" /><Relationship Type="http://schemas.openxmlformats.org/officeDocument/2006/relationships/slideLayout" Target="/ppt/slideLayouts/slideLayout1.xml" Id="R4dc45d4b455041ac" /><Relationship Type="http://schemas.openxmlformats.org/officeDocument/2006/relationships/slideLayout" Target="/ppt/slideLayouts/slideLayout2.xml" Id="Rdd38017c0bc14e4b" /><Relationship Type="http://schemas.openxmlformats.org/officeDocument/2006/relationships/slideLayout" Target="/ppt/slideLayouts/slideLayout3.xml" Id="R8d59ba4a7714401e" /><Relationship Type="http://schemas.openxmlformats.org/officeDocument/2006/relationships/slideLayout" Target="/ppt/slideLayouts/slideLayout4.xml" Id="R635e6ee106ab4d05" /><Relationship Type="http://schemas.openxmlformats.org/officeDocument/2006/relationships/slideLayout" Target="/ppt/slideLayouts/slideLayout5.xml" Id="Ra1a00fa7bfc5425c" /><Relationship Type="http://schemas.openxmlformats.org/officeDocument/2006/relationships/slideLayout" Target="/ppt/slideLayouts/slideLayout6.xml" Id="R91a3705cff91415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dc45d4b455041ac"/>
    <p:sldLayoutId xmlns:r="http://schemas.openxmlformats.org/officeDocument/2006/relationships" id="2147483650" r:id="Rdd38017c0bc14e4b"/>
    <p:sldLayoutId xmlns:r="http://schemas.openxmlformats.org/officeDocument/2006/relationships" id="2147483651" r:id="R8d59ba4a7714401e"/>
    <p:sldLayoutId xmlns:r="http://schemas.openxmlformats.org/officeDocument/2006/relationships" id="2147483652" r:id="R635e6ee106ab4d05"/>
    <p:sldLayoutId xmlns:r="http://schemas.openxmlformats.org/officeDocument/2006/relationships" id="2147483653" r:id="Ra1a00fa7bfc5425c"/>
    <p:sldLayoutId xmlns:r="http://schemas.openxmlformats.org/officeDocument/2006/relationships" id="2147483654" r:id="R91a3705cff91415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2b4c3041cf1c43cc" /><Relationship Type="http://schemas.openxmlformats.org/officeDocument/2006/relationships/image" Target="/ppt/media/image.png" Id="R850db7b732a54ff8" /><Relationship Type="http://schemas.openxmlformats.org/officeDocument/2006/relationships/notesSlide" Target="/ppt/notesSlides/notesSlide1.xml" Id="Rb7fc121e77e849c1"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bf01e3fe7ebd4302" /><Relationship Type="http://schemas.openxmlformats.org/officeDocument/2006/relationships/notesSlide" Target="/ppt/notesSlides/notesSlide2.xml" Id="R4d2d270126624dff"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89ed032941934ec4" /><Relationship Type="http://schemas.openxmlformats.org/officeDocument/2006/relationships/notesSlide" Target="/ppt/notesSlides/notesSlide3.xml" Id="R8964ec4c7f1f472c"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2fccc12bfc664e1c" /><Relationship Type="http://schemas.openxmlformats.org/officeDocument/2006/relationships/notesSlide" Target="/ppt/notesSlides/notesSlide4.xml" Id="Rca2cfb695ea14f4b"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72b24b2343624961" /><Relationship Type="http://schemas.openxmlformats.org/officeDocument/2006/relationships/notesSlide" Target="/ppt/notesSlides/notesSlide5.xml" Id="Rdcc4aa5316a34ac3"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4c26eaffdb8a4385" /><Relationship Type="http://schemas.openxmlformats.org/officeDocument/2006/relationships/image" Target="/ppt/media/image2.png" Id="R8e5a77044bee456a" /><Relationship Type="http://schemas.openxmlformats.org/officeDocument/2006/relationships/notesSlide" Target="/ppt/notesSlides/notesSlide6.xml" Id="Rb3b25e29c99b425e"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e1d39d3610bf4c70" /><Relationship Type="http://schemas.openxmlformats.org/officeDocument/2006/relationships/notesSlide" Target="/ppt/notesSlides/notesSlide7.xml" Id="Rb9e257e965c74eff"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d956fb26c18a489f" /><Relationship Type="http://schemas.openxmlformats.org/officeDocument/2006/relationships/notesSlide" Target="/ppt/notesSlides/notesSlide8.xml" Id="R3b665cc481cf4201"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62de70246b3848ee" /><Relationship Type="http://schemas.openxmlformats.org/officeDocument/2006/relationships/notesSlide" Target="/ppt/notesSlides/notesSlide9.xml" Id="R4890ea19bfd3404f"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c77acc42c203493c" /><Relationship Type="http://schemas.openxmlformats.org/officeDocument/2006/relationships/notesSlide" Target="/ppt/notesSlides/notesSlide10.xml" Id="R6c9212025ad34b9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6037a49360444ec0" /><Relationship Type="http://schemas.openxmlformats.org/officeDocument/2006/relationships/notesSlide" Target="/ppt/notesSlides/notesSlide11.xml" Id="R927f943b37674646"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2167e6993d1946f5" /><Relationship Type="http://schemas.openxmlformats.org/officeDocument/2006/relationships/notesSlide" Target="/ppt/notesSlides/notesSlide12.xml" Id="R064380c3cfa54513"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205ea553521f40a8" /><Relationship Type="http://schemas.openxmlformats.org/officeDocument/2006/relationships/notesSlide" Target="/ppt/notesSlides/notesSlide13.xml" Id="R9dcd44fb58034ceb"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5fa0a1a554b840fd" /><Relationship Type="http://schemas.openxmlformats.org/officeDocument/2006/relationships/notesSlide" Target="/ppt/notesSlides/notesSlide14.xml" Id="Rebaa4681f0914b64"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c98e8900f6e34aeb" /><Relationship Type="http://schemas.openxmlformats.org/officeDocument/2006/relationships/notesSlide" Target="/ppt/notesSlides/notesSlide15.xml" Id="Re26cccc67f814004"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8c887a7ebd144f80" /><Relationship Type="http://schemas.openxmlformats.org/officeDocument/2006/relationships/notesSlide" Target="/ppt/notesSlides/notesSlide16.xml" Id="R0429ddb0ecd5496d"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f0a71d52a1e54dbd" /><Relationship Type="http://schemas.openxmlformats.org/officeDocument/2006/relationships/notesSlide" Target="/ppt/notesSlides/notesSlide17.xml" Id="R437c68d0f006478c"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f697fac1daca4f2c" /><Relationship Type="http://schemas.openxmlformats.org/officeDocument/2006/relationships/notesSlide" Target="/ppt/notesSlides/notesSlide18.xml" Id="R08aed39ae8ad4d18"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eea4bdf325a94ed5" /><Relationship Type="http://schemas.openxmlformats.org/officeDocument/2006/relationships/notesSlide" Target="/ppt/notesSlides/notesSlide19.xml" Id="R6e2d6b7b1292441e"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20a177530b9443c9" /><Relationship Type="http://schemas.openxmlformats.org/officeDocument/2006/relationships/notesSlide" Target="/ppt/notesSlides/notesSlide20.xml" Id="R047834df75b04087"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87a9cc4aa1f04d2e" /><Relationship Type="http://schemas.openxmlformats.org/officeDocument/2006/relationships/notesSlide" Target="/ppt/notesSlides/notesSlide21.xml" Id="R1c44bdb27dc64df8"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f0bd5eafdd0a44d0" /><Relationship Type="http://schemas.openxmlformats.org/officeDocument/2006/relationships/notesSlide" Target="/ppt/notesSlides/notesSlide22.xml" Id="Rf55ad64f868545f5"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c632f5a7c9b542fc" /><Relationship Type="http://schemas.openxmlformats.org/officeDocument/2006/relationships/image" Target="/ppt/media/image3.png" Id="R88fb233140464d45" /><Relationship Type="http://schemas.openxmlformats.org/officeDocument/2006/relationships/notesSlide" Target="/ppt/notesSlides/notesSlide23.xml" Id="R1442695297cb4502"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d69369a79e024483" /><Relationship Type="http://schemas.openxmlformats.org/officeDocument/2006/relationships/notesSlide" Target="/ppt/notesSlides/notesSlide24.xml" Id="R5e5063dac55142cd"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b08e336d88a74359" /><Relationship Type="http://schemas.openxmlformats.org/officeDocument/2006/relationships/notesSlide" Target="/ppt/notesSlides/notesSlide25.xml" Id="R06df22c15d764650"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24f45182895a49c3" /><Relationship Type="http://schemas.openxmlformats.org/officeDocument/2006/relationships/notesSlide" Target="/ppt/notesSlides/notesSlide26.xml" Id="Rfd612c1e5f25468e"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2a83f3ebc9db43d9" /><Relationship Type="http://schemas.openxmlformats.org/officeDocument/2006/relationships/notesSlide" Target="/ppt/notesSlides/notesSlide27.xml" Id="Re52294b48de3497d"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33622f606224420b" /><Relationship Type="http://schemas.openxmlformats.org/officeDocument/2006/relationships/notesSlide" Target="/ppt/notesSlides/notesSlide28.xml" Id="R2a654cf1673d42ae"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dd1cdf5cc7bd4745" /><Relationship Type="http://schemas.openxmlformats.org/officeDocument/2006/relationships/notesSlide" Target="/ppt/notesSlides/notesSlide29.xml" Id="R5b1e105f56c4410c"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2abcfeb41a8a4aa6" /><Relationship Type="http://schemas.openxmlformats.org/officeDocument/2006/relationships/notesSlide" Target="/ppt/notesSlides/notesSlide30.xml" Id="R3525b02e74bb484b"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e8cfcb69e367499a" /><Relationship Type="http://schemas.openxmlformats.org/officeDocument/2006/relationships/notesSlide" Target="/ppt/notesSlides/notesSlide31.xml" Id="R01dbfa2993ea4be3"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3ec696dc2ecb4f46" /><Relationship Type="http://schemas.openxmlformats.org/officeDocument/2006/relationships/notesSlide" Target="/ppt/notesSlides/notesSlide32.xml" Id="R904cf03caa6e4ed7"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187f58b9615a409e" /><Relationship Type="http://schemas.openxmlformats.org/officeDocument/2006/relationships/hyperlink" Target="https://docs.google.com/forms/d/e/1FAIpQLSd0PIGgcund5zKvqtctB1dz7pekt8hubl0ZUrFL-BJc9bKGlQ/viewform" TargetMode="External" Id="R9ceb773d46104202" /><Relationship Type="http://schemas.openxmlformats.org/officeDocument/2006/relationships/notesSlide" Target="/ppt/notesSlides/notesSlide33.xml" Id="Rdedc37e2eae44e7a"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8abd6351a6ed4d36" /><Relationship Type="http://schemas.openxmlformats.org/officeDocument/2006/relationships/image" Target="/ppt/media/image4.png" Id="R0aa9be3756d24813" /><Relationship Type="http://schemas.openxmlformats.org/officeDocument/2006/relationships/hyperlink" Target="https://forms.gle/LQPALyRC3uRvZqDJ8" TargetMode="External" Id="Rda292dcdc4ac4eb6" /><Relationship Type="http://schemas.openxmlformats.org/officeDocument/2006/relationships/notesSlide" Target="/ppt/notesSlides/notesSlide34.xml" Id="R653e43cede62400f"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0ca4fffc29824278" /><Relationship Type="http://schemas.openxmlformats.org/officeDocument/2006/relationships/notesSlide" Target="/ppt/notesSlides/notesSlide35.xml" Id="R38a3797d7cf044fb"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24fa5047198f4f78" /><Relationship Type="http://schemas.openxmlformats.org/officeDocument/2006/relationships/hyperlink" Target="https://www.youtube.com/watch?v=fSytzGwwBVw" TargetMode="External" Id="R7b2d921759a64559" /><Relationship Type="http://schemas.openxmlformats.org/officeDocument/2006/relationships/notesSlide" Target="/ppt/notesSlides/notesSlide36.xml" Id="R2b8a907923d04612"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850db7b732a54ff8"/>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BE39F9B3-35E0-4739-8600-4C5776A4AE6E}"/>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2927E8A8-A54C-4D62-8642-0D9006C22872}"/>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CML3113   WEEK 10</a:t>
            </a:r>
          </a:p>
        </p:txBody>
      </p:sp>
      <p:sp>
        <p:nvSpPr>
          <p:cNvPr id="4" name="">
            <a:extLst xmlns:a="http://schemas.openxmlformats.org/drawingml/2006/main">
              <a:ext uri="{FF2B5EF4-FFF2-40B4-BE49-F238E27FC236}">
                <a16:creationId xmlns:a16="http://schemas.microsoft.com/office/drawing/2014/main" id="{DBCF4C72-C443-434D-ABF5-FD0471D39283}"/>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Honest validation and leakage</a:t>
            </a:r>
          </a:p>
        </p:txBody>
      </p:sp>
      <p:sp>
        <p:nvSpPr>
          <p:cNvPr id="5" name="">
            <a:extLst xmlns:a="http://schemas.openxmlformats.org/drawingml/2006/main">
              <a:ext uri="{FF2B5EF4-FFF2-40B4-BE49-F238E27FC236}">
                <a16:creationId xmlns:a16="http://schemas.microsoft.com/office/drawing/2014/main" id="{77021DDE-EF21-484F-91DF-96A266BB118E}"/>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Mining and Petroleum Engineering</a:t>
            </a:r>
          </a:p>
        </p:txBody>
      </p:sp>
      <p:sp>
        <p:nvSpPr>
          <p:cNvPr id="6" name="">
            <a:extLst xmlns:a="http://schemas.openxmlformats.org/drawingml/2006/main">
              <a:ext uri="{FF2B5EF4-FFF2-40B4-BE49-F238E27FC236}">
                <a16:creationId xmlns:a16="http://schemas.microsoft.com/office/drawing/2014/main" id="{90C3585A-B062-440A-BE00-FC73773C3105}"/>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13 November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08:00–11:00, Room 105</a:t>
            </a:r>
          </a:p>
        </p:txBody>
      </p:sp>
    </p:spTree>
    <p:extLst>
      <p:ext uri="{BB962C8B-B14F-4D97-AF65-F5344CB8AC3E}">
        <p14:creationId xmlns:p14="http://schemas.microsoft.com/office/powerpoint/2010/main" val="107200382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783C0292-1E31-4688-8D54-510F4527D63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BC1D1B6-A93C-49FF-AFCE-ECDF223B44D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2B9AA8F3-D5FF-46E2-806D-12F2E686B9E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A15D4698-66DD-4A78-9AB1-3A5EAE7500A4}"/>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98EAA25-2C5B-4D91-A9FA-60E45606EE68}"/>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56FAABD6-2876-4E91-99BE-A7E49681A52B}"/>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related equipment records together.</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Separate training, validation and final testing.</a:t>
            </a:r>
          </a:p>
        </p:txBody>
      </p:sp>
      <p:sp>
        <p:nvSpPr>
          <p:cNvPr id="7" name="">
            <a:extLst xmlns:a="http://schemas.openxmlformats.org/drawingml/2006/main">
              <a:ext uri="{FF2B5EF4-FFF2-40B4-BE49-F238E27FC236}">
                <a16:creationId xmlns:a16="http://schemas.microsoft.com/office/drawing/2014/main" id="{9105C604-CFD9-469B-9EAF-26B2C4158445}"/>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3684F27A-599B-41C6-8AFB-086AA13167D3}"/>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identify which records may influence preprocessing and model selection.</a:t>
            </a:r>
          </a:p>
        </p:txBody>
      </p:sp>
      <p:sp>
        <p:nvSpPr>
          <p:cNvPr id="9" name="">
            <a:extLst xmlns:a="http://schemas.openxmlformats.org/drawingml/2006/main">
              <a:ext uri="{FF2B5EF4-FFF2-40B4-BE49-F238E27FC236}">
                <a16:creationId xmlns:a16="http://schemas.microsoft.com/office/drawing/2014/main" id="{B3A1F1C5-FC67-4C5E-8322-7DEFB2E5925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2</a:t>
            </a:r>
          </a:p>
        </p:txBody>
      </p:sp>
    </p:spTree>
    <p:extLst>
      <p:ext uri="{BB962C8B-B14F-4D97-AF65-F5344CB8AC3E}">
        <p14:creationId xmlns:p14="http://schemas.microsoft.com/office/powerpoint/2010/main" val="675481078"/>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9F86BD9-FA1D-4A9C-914F-8252286CB56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F18B105-3559-4E96-A15C-7AACB2ABFA8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0CA82C8-CA01-4A85-9231-69D296C7C8D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09615B11-0871-48D4-852B-705734A939B8}"/>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BCFB336-1A66-4ACD-968D-D977C633120C}"/>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We have compared predictions with known answers.</a:t>
            </a:r>
          </a:p>
        </p:txBody>
      </p:sp>
      <p:sp>
        <p:nvSpPr>
          <p:cNvPr id="6" name="">
            <a:extLst xmlns:a="http://schemas.openxmlformats.org/drawingml/2006/main">
              <a:ext uri="{FF2B5EF4-FFF2-40B4-BE49-F238E27FC236}">
                <a16:creationId xmlns:a16="http://schemas.microsoft.com/office/drawing/2014/main" id="{5D24E7EF-9DDB-4894-BB2A-E63AFA0D39EB}"/>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Now we control which observations may influence training, choices and the final evaluation.</a:t>
            </a:r>
          </a:p>
        </p:txBody>
      </p:sp>
      <p:sp>
        <p:nvSpPr>
          <p:cNvPr id="7" name="">
            <a:extLst xmlns:a="http://schemas.openxmlformats.org/drawingml/2006/main">
              <a:ext uri="{FF2B5EF4-FFF2-40B4-BE49-F238E27FC236}">
                <a16:creationId xmlns:a16="http://schemas.microsoft.com/office/drawing/2014/main" id="{32B67F3F-BE30-4ECD-9297-B88BA1CD227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3</a:t>
            </a:r>
          </a:p>
        </p:txBody>
      </p:sp>
    </p:spTree>
    <p:extLst>
      <p:ext uri="{BB962C8B-B14F-4D97-AF65-F5344CB8AC3E}">
        <p14:creationId xmlns:p14="http://schemas.microsoft.com/office/powerpoint/2010/main" val="319366665"/>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86E3492-6FCA-40E0-98E9-EE99355749C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DE6A192-89AF-4F67-BC69-954AC874D64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7D1BF99-B109-4BF2-AF30-76D84209EC0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Why this week’s tools are needed</a:t>
            </a:r>
          </a:p>
        </p:txBody>
      </p:sp>
      <p:sp>
        <p:nvSpPr>
          <p:cNvPr id="4" name="">
            <a:extLst xmlns:a="http://schemas.openxmlformats.org/drawingml/2006/main">
              <a:ext uri="{FF2B5EF4-FFF2-40B4-BE49-F238E27FC236}">
                <a16:creationId xmlns:a16="http://schemas.microsoft.com/office/drawing/2014/main" id="{8C072798-B80E-423B-82F6-EBFF7C4EA108}"/>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749B8F8-C1E1-4111-B886-264CD16AD8D2}"/>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We want evidence about new equipment or future observations.</a:t>
            </a:r>
          </a:p>
        </p:txBody>
      </p:sp>
      <p:sp>
        <p:nvSpPr>
          <p:cNvPr id="6" name="">
            <a:extLst xmlns:a="http://schemas.openxmlformats.org/drawingml/2006/main">
              <a:ext uri="{FF2B5EF4-FFF2-40B4-BE49-F238E27FC236}">
                <a16:creationId xmlns:a16="http://schemas.microsoft.com/office/drawing/2014/main" id="{910E9C74-9240-49E5-8F98-16676EAF4796}"/>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way we separate data must match that use before any model or preprocessing learns from it.</a:t>
            </a:r>
          </a:p>
        </p:txBody>
      </p:sp>
      <p:sp>
        <p:nvSpPr>
          <p:cNvPr id="7" name="">
            <a:extLst xmlns:a="http://schemas.openxmlformats.org/drawingml/2006/main">
              <a:ext uri="{FF2B5EF4-FFF2-40B4-BE49-F238E27FC236}">
                <a16:creationId xmlns:a16="http://schemas.microsoft.com/office/drawing/2014/main" id="{B1356FAF-298D-4FC6-B5E0-D0EA18641F4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4</a:t>
            </a:r>
          </a:p>
        </p:txBody>
      </p:sp>
    </p:spTree>
    <p:extLst>
      <p:ext uri="{BB962C8B-B14F-4D97-AF65-F5344CB8AC3E}">
        <p14:creationId xmlns:p14="http://schemas.microsoft.com/office/powerpoint/2010/main" val="491053131"/>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7C15E49-2B34-40E5-BF74-3343F2FE7CA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22555B2-E5D5-409C-BE1C-7AD41BA0FA5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8FC506C-5FB1-474B-A21A-3A75ED9295C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Training validation and final test</a:t>
            </a:r>
          </a:p>
        </p:txBody>
      </p:sp>
      <p:sp>
        <p:nvSpPr>
          <p:cNvPr id="4" name="">
            <a:extLst xmlns:a="http://schemas.openxmlformats.org/drawingml/2006/main">
              <a:ext uri="{FF2B5EF4-FFF2-40B4-BE49-F238E27FC236}">
                <a16:creationId xmlns:a16="http://schemas.microsoft.com/office/drawing/2014/main" id="{D4135B5C-B759-4E23-923D-EAD6E55BFE8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0D5FC40-37B3-4BB5-AB97-C99E7789ABDC}"/>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Training data fit the model and preprocessing.</a:t>
            </a:r>
          </a:p>
        </p:txBody>
      </p:sp>
      <p:sp>
        <p:nvSpPr>
          <p:cNvPr id="6" name="">
            <a:extLst xmlns:a="http://schemas.openxmlformats.org/drawingml/2006/main">
              <a:ext uri="{FF2B5EF4-FFF2-40B4-BE49-F238E27FC236}">
                <a16:creationId xmlns:a16="http://schemas.microsoft.com/office/drawing/2014/main" id="{4C9396DA-2508-4BF9-8BAC-66A8ACF70BEB}"/>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E36AE0C-302F-4AA4-8066-33647D033E59}"/>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Validation data guide feature and model choices.</a:t>
            </a:r>
          </a:p>
        </p:txBody>
      </p:sp>
      <p:sp>
        <p:nvSpPr>
          <p:cNvPr id="8" name="">
            <a:extLst xmlns:a="http://schemas.openxmlformats.org/drawingml/2006/main">
              <a:ext uri="{FF2B5EF4-FFF2-40B4-BE49-F238E27FC236}">
                <a16:creationId xmlns:a16="http://schemas.microsoft.com/office/drawing/2014/main" id="{B50DA85D-2247-4DB7-9E7B-25D477B61C0D}"/>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F76050E-D899-4DE6-AE0A-A83A6AAC97FD}"/>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final test evaluates choices after they are fixed.</a:t>
            </a:r>
          </a:p>
        </p:txBody>
      </p:sp>
      <p:sp>
        <p:nvSpPr>
          <p:cNvPr id="10" name="">
            <a:extLst xmlns:a="http://schemas.openxmlformats.org/drawingml/2006/main">
              <a:ext uri="{FF2B5EF4-FFF2-40B4-BE49-F238E27FC236}">
                <a16:creationId xmlns:a16="http://schemas.microsoft.com/office/drawing/2014/main" id="{23C09658-8C0D-4A51-B17D-89887B878132}"/>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D4A71056-43A7-4B4E-A305-D3BE6DD60592}"/>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fresh test is needed if its answers influenced further choices.</a:t>
            </a:r>
          </a:p>
        </p:txBody>
      </p:sp>
      <p:sp>
        <p:nvSpPr>
          <p:cNvPr id="12" name="">
            <a:extLst xmlns:a="http://schemas.openxmlformats.org/drawingml/2006/main">
              <a:ext uri="{FF2B5EF4-FFF2-40B4-BE49-F238E27FC236}">
                <a16:creationId xmlns:a16="http://schemas.microsoft.com/office/drawing/2014/main" id="{873E407B-BAF9-4FD9-A599-E3D9E9C1851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5</a:t>
            </a:r>
          </a:p>
        </p:txBody>
      </p:sp>
    </p:spTree>
    <p:extLst>
      <p:ext uri="{BB962C8B-B14F-4D97-AF65-F5344CB8AC3E}">
        <p14:creationId xmlns:p14="http://schemas.microsoft.com/office/powerpoint/2010/main" val="1268230283"/>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0ED80B6-990D-4BB0-82F2-D900DC3BB128}"/>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6FD9300-4D56-47F6-BBC5-BB1B5A197897}"/>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Three sets have different jobs</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8e5a77044bee456a"/>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E4EB7C86-FFA2-4D39-8110-368C9C6C5733}"/>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1956D3D-7989-4504-B107-202A2906A0A5}"/>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Which set must stay sealed until choices are fixed?</a:t>
            </a:r>
          </a:p>
        </p:txBody>
      </p:sp>
      <p:sp>
        <p:nvSpPr>
          <p:cNvPr id="6" name="">
            <a:extLst xmlns:a="http://schemas.openxmlformats.org/drawingml/2006/main">
              <a:ext uri="{FF2B5EF4-FFF2-40B4-BE49-F238E27FC236}">
                <a16:creationId xmlns:a16="http://schemas.microsoft.com/office/drawing/2014/main" id="{633360E8-1127-4651-A0D9-940503B13B3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6</a:t>
            </a:r>
          </a:p>
        </p:txBody>
      </p:sp>
    </p:spTree>
    <p:extLst>
      <p:ext uri="{BB962C8B-B14F-4D97-AF65-F5344CB8AC3E}">
        <p14:creationId xmlns:p14="http://schemas.microsoft.com/office/powerpoint/2010/main" val="1627786862"/>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05C52C9-A4BC-4088-B38A-AB8ED49F51B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E6674A7-1264-41A0-B7FA-3DDF2DF79DD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70AEEFA0-5400-49DF-953C-0BEF5ADC074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Generalisation and Overfitting and underfitting</a:t>
            </a:r>
          </a:p>
        </p:txBody>
      </p:sp>
      <p:sp>
        <p:nvSpPr>
          <p:cNvPr id="4" name="">
            <a:extLst xmlns:a="http://schemas.openxmlformats.org/drawingml/2006/main">
              <a:ext uri="{FF2B5EF4-FFF2-40B4-BE49-F238E27FC236}">
                <a16:creationId xmlns:a16="http://schemas.microsoft.com/office/drawing/2014/main" id="{A57EA945-8045-4E39-B3EC-06BFAF689E5D}"/>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1E939BD-CCC3-4AA1-BF3F-C76EC581B5CD}"/>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Generalisation</a:t>
            </a:r>
          </a:p>
        </p:txBody>
      </p:sp>
      <p:sp>
        <p:nvSpPr>
          <p:cNvPr id="6" name="">
            <a:extLst xmlns:a="http://schemas.openxmlformats.org/drawingml/2006/main">
              <a:ext uri="{FF2B5EF4-FFF2-40B4-BE49-F238E27FC236}">
                <a16:creationId xmlns:a16="http://schemas.microsoft.com/office/drawing/2014/main" id="{5293BD15-9048-4D4E-A883-778B60EAE9E7}"/>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Performance on new cases from the intended setting, not merely on records already used.</a:t>
            </a:r>
          </a:p>
        </p:txBody>
      </p:sp>
      <p:sp>
        <p:nvSpPr>
          <p:cNvPr id="7" name="">
            <a:extLst xmlns:a="http://schemas.openxmlformats.org/drawingml/2006/main">
              <a:ext uri="{FF2B5EF4-FFF2-40B4-BE49-F238E27FC236}">
                <a16:creationId xmlns:a16="http://schemas.microsoft.com/office/drawing/2014/main" id="{9CFD73A5-1E11-4455-B71B-3E6A78646ADF}"/>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4B02A7A9-820A-4F9B-8A98-C5F65E5B7FDA}"/>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Overfitting and underfitting</a:t>
            </a:r>
          </a:p>
        </p:txBody>
      </p:sp>
      <p:sp>
        <p:nvSpPr>
          <p:cNvPr id="9" name="">
            <a:extLst xmlns:a="http://schemas.openxmlformats.org/drawingml/2006/main">
              <a:ext uri="{FF2B5EF4-FFF2-40B4-BE49-F238E27FC236}">
                <a16:creationId xmlns:a16="http://schemas.microsoft.com/office/drawing/2014/main" id="{7D00A40C-A57C-4506-8CDC-7A3A2311FBB9}"/>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Overfitting captures training-specific detail that fails to transfer. Underfitting misses useful patterns. Score gaps are clues, not a complete diagnosis.</a:t>
            </a:r>
          </a:p>
        </p:txBody>
      </p:sp>
      <p:sp>
        <p:nvSpPr>
          <p:cNvPr id="10" name="">
            <a:extLst xmlns:a="http://schemas.openxmlformats.org/drawingml/2006/main">
              <a:ext uri="{FF2B5EF4-FFF2-40B4-BE49-F238E27FC236}">
                <a16:creationId xmlns:a16="http://schemas.microsoft.com/office/drawing/2014/main" id="{D6A1419D-AF2F-425B-A0AD-DEB2B0AFAEF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7</a:t>
            </a:r>
          </a:p>
        </p:txBody>
      </p:sp>
    </p:spTree>
    <p:extLst>
      <p:ext uri="{BB962C8B-B14F-4D97-AF65-F5344CB8AC3E}">
        <p14:creationId xmlns:p14="http://schemas.microsoft.com/office/powerpoint/2010/main" val="1729074835"/>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FD79C28-F501-43B2-B795-35D635F09C9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AF0C88E-1BA8-4771-92CF-9951AB9C46E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1CF4F8F6-904C-4468-858C-CA0C8656042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Leakage and Group split</a:t>
            </a:r>
          </a:p>
        </p:txBody>
      </p:sp>
      <p:sp>
        <p:nvSpPr>
          <p:cNvPr id="4" name="">
            <a:extLst xmlns:a="http://schemas.openxmlformats.org/drawingml/2006/main">
              <a:ext uri="{FF2B5EF4-FFF2-40B4-BE49-F238E27FC236}">
                <a16:creationId xmlns:a16="http://schemas.microsoft.com/office/drawing/2014/main" id="{75CFD84F-96F5-48A3-B775-D7488338E16F}"/>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27652B3-0B92-4E85-80D5-00FB20B04A6A}"/>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Leakage</a:t>
            </a:r>
          </a:p>
        </p:txBody>
      </p:sp>
      <p:sp>
        <p:nvSpPr>
          <p:cNvPr id="6" name="">
            <a:extLst xmlns:a="http://schemas.openxmlformats.org/drawingml/2006/main">
              <a:ext uri="{FF2B5EF4-FFF2-40B4-BE49-F238E27FC236}">
                <a16:creationId xmlns:a16="http://schemas.microsoft.com/office/drawing/2014/main" id="{13DBEFE4-FAB1-4FEB-A294-6476402EE4B2}"/>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Information enters model development that would not legitimately be available, such as the answer or information from evaluation rows.</a:t>
            </a:r>
          </a:p>
        </p:txBody>
      </p:sp>
      <p:sp>
        <p:nvSpPr>
          <p:cNvPr id="7" name="">
            <a:extLst xmlns:a="http://schemas.openxmlformats.org/drawingml/2006/main">
              <a:ext uri="{FF2B5EF4-FFF2-40B4-BE49-F238E27FC236}">
                <a16:creationId xmlns:a16="http://schemas.microsoft.com/office/drawing/2014/main" id="{68B6BECA-4256-4326-9625-21BA3736BD23}"/>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88030023-9D4F-4E05-89B3-C5775FFCF558}"/>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Group split</a:t>
            </a:r>
          </a:p>
        </p:txBody>
      </p:sp>
      <p:sp>
        <p:nvSpPr>
          <p:cNvPr id="9" name="">
            <a:extLst xmlns:a="http://schemas.openxmlformats.org/drawingml/2006/main">
              <a:ext uri="{FF2B5EF4-FFF2-40B4-BE49-F238E27FC236}">
                <a16:creationId xmlns:a16="http://schemas.microsoft.com/office/drawing/2014/main" id="{5A686B86-09BB-47A7-A148-08364503290A}"/>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Keep all observations from the same equipment in one partition when the goal is prediction for unseen equipment.</a:t>
            </a:r>
          </a:p>
        </p:txBody>
      </p:sp>
      <p:sp>
        <p:nvSpPr>
          <p:cNvPr id="10" name="">
            <a:extLst xmlns:a="http://schemas.openxmlformats.org/drawingml/2006/main">
              <a:ext uri="{FF2B5EF4-FFF2-40B4-BE49-F238E27FC236}">
                <a16:creationId xmlns:a16="http://schemas.microsoft.com/office/drawing/2014/main" id="{B260F77B-C190-4543-A578-F06E5D66186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8</a:t>
            </a:r>
          </a:p>
        </p:txBody>
      </p:sp>
    </p:spTree>
    <p:extLst>
      <p:ext uri="{BB962C8B-B14F-4D97-AF65-F5344CB8AC3E}">
        <p14:creationId xmlns:p14="http://schemas.microsoft.com/office/powerpoint/2010/main" val="2019688758"/>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972C6A5-6908-4EEF-B753-8E28A8C6AD9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3463529-E951-4DD2-A00E-6DC9ED4FB32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E4F26B5-5C2D-4217-88E8-C88F912EC29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Repeated equipment needs group separation</a:t>
            </a:r>
          </a:p>
        </p:txBody>
      </p:sp>
      <p:sp>
        <p:nvSpPr>
          <p:cNvPr id="4" name="">
            <a:extLst xmlns:a="http://schemas.openxmlformats.org/drawingml/2006/main">
              <a:ext uri="{FF2B5EF4-FFF2-40B4-BE49-F238E27FC236}">
                <a16:creationId xmlns:a16="http://schemas.microsoft.com/office/drawing/2014/main" id="{7E059CD3-33C5-4C64-A101-61F281FDC7D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618A840-76B7-4EA2-BFA8-205887CCBA0E}"/>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Readings from the same equipment can share patterns.</a:t>
            </a:r>
          </a:p>
        </p:txBody>
      </p:sp>
      <p:sp>
        <p:nvSpPr>
          <p:cNvPr id="6" name="">
            <a:extLst xmlns:a="http://schemas.openxmlformats.org/drawingml/2006/main">
              <a:ext uri="{FF2B5EF4-FFF2-40B4-BE49-F238E27FC236}">
                <a16:creationId xmlns:a16="http://schemas.microsoft.com/office/drawing/2014/main" id="{F0708F83-17C6-46FC-85EA-9EC8882E3A72}"/>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59EF687-FEF8-48E5-B830-8EC47C03658A}"/>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Putting that equipment in both training and validation can make evaluation too easy.</a:t>
            </a:r>
          </a:p>
        </p:txBody>
      </p:sp>
      <p:sp>
        <p:nvSpPr>
          <p:cNvPr id="8" name="">
            <a:extLst xmlns:a="http://schemas.openxmlformats.org/drawingml/2006/main">
              <a:ext uri="{FF2B5EF4-FFF2-40B4-BE49-F238E27FC236}">
                <a16:creationId xmlns:a16="http://schemas.microsoft.com/office/drawing/2014/main" id="{9AB2E861-5CF5-42B2-9C4C-3250F2D5B361}"/>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B16F59A-B643-4761-8D24-29383E582975}"/>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a new-equipment question, keep every row for an equipment ID in one partition.</a:t>
            </a:r>
          </a:p>
        </p:txBody>
      </p:sp>
      <p:sp>
        <p:nvSpPr>
          <p:cNvPr id="10" name="">
            <a:extLst xmlns:a="http://schemas.openxmlformats.org/drawingml/2006/main">
              <a:ext uri="{FF2B5EF4-FFF2-40B4-BE49-F238E27FC236}">
                <a16:creationId xmlns:a16="http://schemas.microsoft.com/office/drawing/2014/main" id="{49C5D697-BDA6-4C03-B50A-243BBFBFEC1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9</a:t>
            </a:r>
          </a:p>
        </p:txBody>
      </p:sp>
    </p:spTree>
    <p:extLst>
      <p:ext uri="{BB962C8B-B14F-4D97-AF65-F5344CB8AC3E}">
        <p14:creationId xmlns:p14="http://schemas.microsoft.com/office/powerpoint/2010/main" val="922675026"/>
      </p:ext>
    </p:extLst>
  </p:cSld>
</p:sld>
</file>

<file path=ppt/slides/slide10.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7" name="">
            <a:extLst>
              <a:ext uri="{FF2B5EF4-FFF2-40B4-BE49-F238E27FC236}">
                <ns2:creationId id="{DE5466F9-2693-499B-AA80-A63761CA2FE5}"/>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6ACCA6C8-3689-4E6D-813B-EE81DFA59831}"/>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a:ext uri="{FF2B5EF4-FFF2-40B4-BE49-F238E27FC236}">
                <ns2:creationId id="{9680D370-7E05-4154-8010-C3F4477DF479}"/>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Keeping equipment groups together</a:t>
            </a:r>
          </a:p>
        </p:txBody>
      </p:sp>
      <p:graphicFrame>
        <p:nvGraphicFramePr>
          <p:cNvPr id="10" name=""/>
          <p:cNvGraphicFramePr/>
          <p:nvPr/>
        </p:nvGraphicFramePr>
        <p:xfrm>
          <a:off x="590550" y="1733550"/>
          <a:ext cx="11010900" cy="3333750"/>
        </p:xfrm>
        <a:graphic>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Observation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Equipment</a:t>
                      </a:r>
                    </a:p>
                  </a:txBody>
                  <a:tcPr marL="91440" marR="91440" marT="45720" marB="45720">
                    <a:solidFill>
                      <a:srgbClr val="2E7D6F"/>
                    </a:solidFill>
                  </a:tcPr>
                </a:tc>
                <a:tc>
                  <a:txBody>
                    <a:bodyPr/>
                    <a:lstStyle/>
                    <a:p>
                      <a:r>
                        <a:rPr sz="2025" b="1">
                          <a:solidFill>
                            <a:srgbClr val="FFFFFF"/>
                          </a:solidFill>
                          <a:latin typeface="Calibri"/>
                          <a:ea typeface="Calibri"/>
                          <a:cs typeface="Calibri"/>
                        </a:rPr>
                        <a:t>Partition</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1</a:t>
                      </a:r>
                    </a:p>
                  </a:txBody>
                  <a:tcPr marL="91440" marR="91440" marT="45720" marB="45720">
                    <a:solidFill>
                      <a:srgbClr val="EEF3F6"/>
                    </a:solidFill>
                  </a:tcPr>
                </a:tc>
                <a:tc>
                  <a:txBody>
                    <a:bodyPr/>
                    <a:lstStyle/>
                    <a:p>
                      <a:r>
                        <a:rPr sz="2025" b="0">
                          <a:solidFill>
                            <a:srgbClr val="1C3144"/>
                          </a:solidFill>
                          <a:latin typeface="Calibri"/>
                          <a:ea typeface="Calibri"/>
                          <a:cs typeface="Calibri"/>
                        </a:rPr>
                        <a:t>A</a:t>
                      </a:r>
                    </a:p>
                  </a:txBody>
                  <a:tcPr marL="91440" marR="91440" marT="45720" marB="45720">
                    <a:solidFill>
                      <a:srgbClr val="EEF3F6"/>
                    </a:solidFill>
                  </a:tcPr>
                </a:tc>
                <a:tc>
                  <a:txBody>
                    <a:bodyPr/>
                    <a:lstStyle/>
                    <a:p>
                      <a:r>
                        <a:rPr sz="2025" b="0">
                          <a:solidFill>
                            <a:srgbClr val="1C3144"/>
                          </a:solidFill>
                          <a:latin typeface="Calibri"/>
                          <a:ea typeface="Calibri"/>
                          <a:cs typeface="Calibri"/>
                        </a:rPr>
                        <a:t>Training</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2</a:t>
                      </a:r>
                    </a:p>
                  </a:txBody>
                  <a:tcPr marL="91440" marR="91440" marT="45720" marB="45720">
                    <a:solidFill>
                      <a:srgbClr val="FFFFFF"/>
                    </a:solidFill>
                  </a:tcPr>
                </a:tc>
                <a:tc>
                  <a:txBody>
                    <a:bodyPr/>
                    <a:lstStyle/>
                    <a:p>
                      <a:r>
                        <a:rPr sz="2025" b="0">
                          <a:solidFill>
                            <a:srgbClr val="1C3144"/>
                          </a:solidFill>
                          <a:latin typeface="Calibri"/>
                          <a:ea typeface="Calibri"/>
                          <a:cs typeface="Calibri"/>
                        </a:rPr>
                        <a:t>A</a:t>
                      </a:r>
                    </a:p>
                  </a:txBody>
                  <a:tcPr marL="91440" marR="91440" marT="45720" marB="45720">
                    <a:solidFill>
                      <a:srgbClr val="FFFFFF"/>
                    </a:solidFill>
                  </a:tcPr>
                </a:tc>
                <a:tc>
                  <a:txBody>
                    <a:bodyPr/>
                    <a:lstStyle/>
                    <a:p>
                      <a:r>
                        <a:rPr sz="2025" b="0">
                          <a:solidFill>
                            <a:srgbClr val="1C3144"/>
                          </a:solidFill>
                          <a:latin typeface="Calibri"/>
                          <a:ea typeface="Calibri"/>
                          <a:cs typeface="Calibri"/>
                        </a:rPr>
                        <a:t>Training</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3</a:t>
                      </a:r>
                    </a:p>
                  </a:txBody>
                  <a:tcPr marL="91440" marR="91440" marT="45720" marB="45720">
                    <a:solidFill>
                      <a:srgbClr val="EEF3F6"/>
                    </a:solidFill>
                  </a:tcPr>
                </a:tc>
                <a:tc>
                  <a:txBody>
                    <a:bodyPr/>
                    <a:lstStyle/>
                    <a:p>
                      <a:r>
                        <a:rPr sz="2025" b="0">
                          <a:solidFill>
                            <a:srgbClr val="1C3144"/>
                          </a:solidFill>
                          <a:latin typeface="Calibri"/>
                          <a:ea typeface="Calibri"/>
                          <a:cs typeface="Calibri"/>
                        </a:rPr>
                        <a:t>B</a:t>
                      </a:r>
                    </a:p>
                  </a:txBody>
                  <a:tcPr marL="91440" marR="91440" marT="45720" marB="45720">
                    <a:solidFill>
                      <a:srgbClr val="EEF3F6"/>
                    </a:solidFill>
                  </a:tcPr>
                </a:tc>
                <a:tc>
                  <a:txBody>
                    <a:bodyPr/>
                    <a:lstStyle/>
                    <a:p>
                      <a:r>
                        <a:rPr sz="2025" b="0">
                          <a:solidFill>
                            <a:srgbClr val="1C3144"/>
                          </a:solidFill>
                          <a:latin typeface="Calibri"/>
                          <a:ea typeface="Calibri"/>
                          <a:cs typeface="Calibri"/>
                        </a:rPr>
                        <a:t>Validation</a:t>
                      </a:r>
                    </a:p>
                  </a:txBody>
                  <a:tcPr marL="91440" marR="91440" marT="45720" marB="45720">
                    <a:solidFill>
                      <a:srgbClr val="EEF3F6"/>
                    </a:solidFill>
                  </a:tcPr>
                </a:tc>
              </a:tr>
            </a:tbl>
          </a:graphicData>
        </a:graphic>
      </p:graphicFrame>
      <p:sp>
        <p:nvSpPr>
          <p:cNvPr id="5" name="">
            <a:extLst>
              <a:ext uri="{FF2B5EF4-FFF2-40B4-BE49-F238E27FC236}">
                <ns2:creationId id="{C54B3776-7F67-477D-91C2-94ACB43AB5C6}"/>
              </a:ext>
            </a:extLst>
          </p:cNvPr>
          <p:cNvSpPr>
            <a:spLocks noGrp="1"/>
          </p:cNvSpPr>
          <p:nvPr/>
        </p:nvSpPr>
        <p:spPr>
          <a:xfrm>
            <a:off x="685800" y="5381625"/>
            <a:ext cx="10668000" cy="1123950"/>
          </a:xfrm>
          <a:prstGeom prst="rect">
            <a:avLst/>
          </a:prstGeom>
          <a:noFill/>
          <a:ln w="0">
            <a:noFill/>
          </a:ln>
        </p:spPr>
        <p:txBody>
          <a:bodyPr>
            <a:noAutofit/>
          </a:bodyPr>
          <a:lstStyle/>
          <a:p>
            <a:pPr>
              <a:defRPr sz="2025" b="0">
                <a:solidFill>
                  <a:srgbClr val="1C3144"/>
                </a:solidFill>
                <a:latin typeface="Calibri"/>
                <a:ea typeface="Calibri"/>
                <a:cs typeface="Calibri"/>
              </a:defRPr>
            </a:pPr>
            <a:r>
              <a:rPr sz="2025" b="0">
                <a:solidFill>
                  <a:srgbClr val="1C3144"/>
                </a:solidFill>
                <a:latin typeface="Calibri"/>
                <a:ea typeface="Calibri"/>
                <a:cs typeface="Calibri"/>
              </a:rPr>
              <a:t>This small example separates equipment groups.</a:t>
            </a:r>
          </a:p>
        </p:txBody>
      </p:sp>
      <p:sp>
        <p:nvSpPr>
          <p:cNvPr id="6" name="">
            <a:extLst>
              <a:ext uri="{FF2B5EF4-FFF2-40B4-BE49-F238E27FC236}">
                <ns2:creationId id="{3A8A7906-6663-4276-A4D1-61A6A0DA0B8D}"/>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10</a:t>
            </a:r>
          </a:p>
        </p:txBody>
      </p:sp>
    </p:spTree>
    <p:extLst>
      <p:ext uri="{BB962C8B-B14F-4D97-AF65-F5344CB8AC3E}">
        <ns3:creationId val="216376964"/>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F2165A67-633D-478C-80E5-64DAF49B917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D35B429-682C-4379-9E92-F0C58E27AB1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7D06E20-B741-4A05-AEAE-0E46BB31F05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Validation and leakage in Python (1/2)</a:t>
            </a:r>
          </a:p>
        </p:txBody>
      </p:sp>
      <p:sp>
        <p:nvSpPr>
          <p:cNvPr id="4" name="">
            <a:extLst xmlns:a="http://schemas.openxmlformats.org/drawingml/2006/main">
              <a:ext uri="{FF2B5EF4-FFF2-40B4-BE49-F238E27FC236}">
                <a16:creationId xmlns:a16="http://schemas.microsoft.com/office/drawing/2014/main" id="{F6CAAC27-64E9-4CCE-A141-C5B78BA0236C}"/>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E7D2239-36A6-476A-A696-03DB00749CDB}"/>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records = [{"id": 1, "equipment": "A"},</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           {"id": 2, "equipment": "A"},</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           {"id": 3, "equipment": "B"}]</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train = []</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validation = []</a:t>
            </a:r>
          </a:p>
        </p:txBody>
      </p:sp>
      <p:sp>
        <p:nvSpPr>
          <p:cNvPr id="6" name="">
            <a:extLst xmlns:a="http://schemas.openxmlformats.org/drawingml/2006/main">
              <a:ext uri="{FF2B5EF4-FFF2-40B4-BE49-F238E27FC236}">
                <a16:creationId xmlns:a16="http://schemas.microsoft.com/office/drawing/2014/main" id="{B056707E-80E1-473D-9C2A-2E72DF764D07}"/>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C7AF60E1-C089-46E2-8E73-6B4F2C92DBC0}"/>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8" name="">
            <a:extLst xmlns:a="http://schemas.openxmlformats.org/drawingml/2006/main">
              <a:ext uri="{FF2B5EF4-FFF2-40B4-BE49-F238E27FC236}">
                <a16:creationId xmlns:a16="http://schemas.microsoft.com/office/drawing/2014/main" id="{A2B7B6FD-48F3-4FBA-BCC0-8D8D19083F2B}"/>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Braces hold dictionary key: value pairs here.</a:t>
            </a:r>
          </a:p>
        </p:txBody>
      </p:sp>
      <p:sp>
        <p:nvSpPr>
          <p:cNvPr id="9" name="">
            <a:extLst xmlns:a="http://schemas.openxmlformats.org/drawingml/2006/main">
              <a:ext uri="{FF2B5EF4-FFF2-40B4-BE49-F238E27FC236}">
                <a16:creationId xmlns:a16="http://schemas.microsoft.com/office/drawing/2014/main" id="{AAFAACE0-ED71-4F18-8A27-92285328EBD3}"/>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10" name="">
            <a:extLst xmlns:a="http://schemas.openxmlformats.org/drawingml/2006/main">
              <a:ext uri="{FF2B5EF4-FFF2-40B4-BE49-F238E27FC236}">
                <a16:creationId xmlns:a16="http://schemas.microsoft.com/office/drawing/2014/main" id="{9FA40814-C6F3-4349-A57F-B9786095AF2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03BE7439-CC93-445B-B720-8AFEA262AEC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11</a:t>
            </a:r>
          </a:p>
        </p:txBody>
      </p:sp>
    </p:spTree>
    <p:extLst>
      <p:ext uri="{BB962C8B-B14F-4D97-AF65-F5344CB8AC3E}">
        <p14:creationId xmlns:p14="http://schemas.microsoft.com/office/powerpoint/2010/main" val="1754711716"/>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9CA25DD1-DDF4-4D4D-A315-597CB2C3BAE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BF8D0AC-3D12-40D8-A7F6-C9D3A7FCE54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AA03F92-BA35-408B-B173-1FBD5F2C328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Validation and leakage in Python (2/2)</a:t>
            </a:r>
          </a:p>
        </p:txBody>
      </p:sp>
      <p:sp>
        <p:nvSpPr>
          <p:cNvPr id="4" name="">
            <a:extLst xmlns:a="http://schemas.openxmlformats.org/drawingml/2006/main">
              <a:ext uri="{FF2B5EF4-FFF2-40B4-BE49-F238E27FC236}">
                <a16:creationId xmlns:a16="http://schemas.microsoft.com/office/drawing/2014/main" id="{67798AFD-00F7-4448-BA4A-D8A6BB7D55A8}"/>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3A2F674-5AD4-4C56-B1CB-B43F7CB59643}"/>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row in records: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row["equipment"] == "A":</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train.append(row["id"])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else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validation.append(row["id"])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print(train, validation)</a:t>
            </a:r>
          </a:p>
        </p:txBody>
      </p:sp>
      <p:sp>
        <p:nvSpPr>
          <p:cNvPr id="6" name="">
            <a:extLst xmlns:a="http://schemas.openxmlformats.org/drawingml/2006/main">
              <a:ext uri="{FF2B5EF4-FFF2-40B4-BE49-F238E27FC236}">
                <a16:creationId xmlns:a16="http://schemas.microsoft.com/office/drawing/2014/main" id="{37029460-D665-4AB6-8E5B-FF57009C75FB}"/>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A471284D-48FC-42D7-A64D-1FB3839FD558}"/>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6C1DD37E-A06A-454C-8BF5-1DDCD1BD5502}"/>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9" name="">
            <a:extLst xmlns:a="http://schemas.openxmlformats.org/drawingml/2006/main">
              <a:ext uri="{FF2B5EF4-FFF2-40B4-BE49-F238E27FC236}">
                <a16:creationId xmlns:a16="http://schemas.microsoft.com/office/drawing/2014/main" id="{37A8FA13-37BF-40D1-9DAB-2CFF94A95522}"/>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10" name="">
            <a:extLst xmlns:a="http://schemas.openxmlformats.org/drawingml/2006/main">
              <a:ext uri="{FF2B5EF4-FFF2-40B4-BE49-F238E27FC236}">
                <a16:creationId xmlns:a16="http://schemas.microsoft.com/office/drawing/2014/main" id="{827A635C-5C1F-4BEC-B55D-CF2D38D3D9E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11" name="">
            <a:extLst xmlns:a="http://schemas.openxmlformats.org/drawingml/2006/main">
              <a:ext uri="{FF2B5EF4-FFF2-40B4-BE49-F238E27FC236}">
                <a16:creationId xmlns:a16="http://schemas.microsoft.com/office/drawing/2014/main" id="{CECF7DC9-552F-4340-A176-E9D3F4CF987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12</a:t>
            </a:r>
          </a:p>
        </p:txBody>
      </p:sp>
    </p:spTree>
    <p:extLst>
      <p:ext uri="{BB962C8B-B14F-4D97-AF65-F5344CB8AC3E}">
        <p14:creationId xmlns:p14="http://schemas.microsoft.com/office/powerpoint/2010/main" val="741767056"/>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C6995FD-34A9-4ADE-A972-84E0C21410E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15738E5-F577-42A0-857B-BFE196A3E22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0DFBA6B6-CED6-446B-A513-21525E50B78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Validation and leakage results</a:t>
            </a:r>
          </a:p>
        </p:txBody>
      </p:sp>
      <p:sp>
        <p:nvSpPr>
          <p:cNvPr id="4" name="">
            <a:extLst xmlns:a="http://schemas.openxmlformats.org/drawingml/2006/main">
              <a:ext uri="{FF2B5EF4-FFF2-40B4-BE49-F238E27FC236}">
                <a16:creationId xmlns:a16="http://schemas.microsoft.com/office/drawing/2014/main" id="{839FA5BA-12B0-47ED-9DE1-7B0FA99D628A}"/>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7C2FAE9-696B-461F-BE37-270DA002C52A}"/>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[1, 2] [3]</a:t>
            </a:r>
          </a:p>
        </p:txBody>
      </p:sp>
      <p:sp>
        <p:nvSpPr>
          <p:cNvPr id="6" name="">
            <a:extLst xmlns:a="http://schemas.openxmlformats.org/drawingml/2006/main">
              <a:ext uri="{FF2B5EF4-FFF2-40B4-BE49-F238E27FC236}">
                <a16:creationId xmlns:a16="http://schemas.microsoft.com/office/drawing/2014/main" id="{97F6C13D-E52F-4C62-AE52-58579A0D7702}"/>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2BD1951A-4B14-4348-9A58-D0DFCDEE6DE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13</a:t>
            </a:r>
          </a:p>
        </p:txBody>
      </p:sp>
    </p:spTree>
    <p:extLst>
      <p:ext uri="{BB962C8B-B14F-4D97-AF65-F5344CB8AC3E}">
        <p14:creationId xmlns:p14="http://schemas.microsoft.com/office/powerpoint/2010/main" val="657701318"/>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7B5E7F1-3AA8-42FB-B27F-9301CA1F170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150BA78-838A-44F7-94BE-3BEBA60AD28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3D50626C-2585-43B5-B35B-1A693D8D21B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Preprocessing and pipeline</a:t>
            </a:r>
          </a:p>
        </p:txBody>
      </p:sp>
      <p:sp>
        <p:nvSpPr>
          <p:cNvPr id="4" name="">
            <a:extLst xmlns:a="http://schemas.openxmlformats.org/drawingml/2006/main">
              <a:ext uri="{FF2B5EF4-FFF2-40B4-BE49-F238E27FC236}">
                <a16:creationId xmlns:a16="http://schemas.microsoft.com/office/drawing/2014/main" id="{18E5BEAB-5133-4404-9CC7-8D822E59BA01}"/>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F035775-4950-4C6B-8E3C-B78730CF3B28}"/>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Preprocessing and pipeline</a:t>
            </a:r>
          </a:p>
        </p:txBody>
      </p:sp>
      <p:sp>
        <p:nvSpPr>
          <p:cNvPr id="6" name="">
            <a:extLst xmlns:a="http://schemas.openxmlformats.org/drawingml/2006/main">
              <a:ext uri="{FF2B5EF4-FFF2-40B4-BE49-F238E27FC236}">
                <a16:creationId xmlns:a16="http://schemas.microsoft.com/office/drawing/2014/main" id="{FBBAF8EC-352B-4E35-AFE8-FA6E1FE362C5}"/>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Preprocessing changes inputs, for example filling missing values. A pipeline fits these steps on training data and applies the same fitted changes to new inputs.</a:t>
            </a:r>
          </a:p>
        </p:txBody>
      </p:sp>
      <p:sp>
        <p:nvSpPr>
          <p:cNvPr id="7" name="">
            <a:extLst xmlns:a="http://schemas.openxmlformats.org/drawingml/2006/main">
              <a:ext uri="{FF2B5EF4-FFF2-40B4-BE49-F238E27FC236}">
                <a16:creationId xmlns:a16="http://schemas.microsoft.com/office/drawing/2014/main" id="{FE5CE68E-7034-4073-BE82-EC3CC171F9D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14</a:t>
            </a:r>
          </a:p>
        </p:txBody>
      </p:sp>
    </p:spTree>
    <p:extLst>
      <p:ext uri="{BB962C8B-B14F-4D97-AF65-F5344CB8AC3E}">
        <p14:creationId xmlns:p14="http://schemas.microsoft.com/office/powerpoint/2010/main" val="1947788541"/>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1D790CA-7E2C-4F59-B1CB-14C7E05D300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EC47E1D-5F4A-40EC-87A4-7A9076F24E8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74822BB-C04C-4FF8-A567-B9A8967329D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learned cleaning value comes from training</a:t>
            </a:r>
          </a:p>
        </p:txBody>
      </p:sp>
      <p:sp>
        <p:nvSpPr>
          <p:cNvPr id="4" name="">
            <a:extLst xmlns:a="http://schemas.openxmlformats.org/drawingml/2006/main">
              <a:ext uri="{FF2B5EF4-FFF2-40B4-BE49-F238E27FC236}">
                <a16:creationId xmlns:a16="http://schemas.microsoft.com/office/drawing/2014/main" id="{CE6A258E-AA16-4E76-A825-73C63369C10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5719A28-CAA7-4E99-99F7-9AF6B3B27A68}"/>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training readings are 20, 22 and 24. Their median is 22.</a:t>
            </a:r>
          </a:p>
        </p:txBody>
      </p:sp>
      <p:sp>
        <p:nvSpPr>
          <p:cNvPr id="6" name="">
            <a:extLst xmlns:a="http://schemas.openxmlformats.org/drawingml/2006/main">
              <a:ext uri="{FF2B5EF4-FFF2-40B4-BE49-F238E27FC236}">
                <a16:creationId xmlns:a16="http://schemas.microsoft.com/office/drawing/2014/main" id="{87E1AC44-EE34-489B-BE69-383235548704}"/>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6D55ECB-998D-4B12-A6A7-14B4A5F193D9}"/>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missing validation value receives the already learned 22.</a:t>
            </a:r>
          </a:p>
        </p:txBody>
      </p:sp>
      <p:sp>
        <p:nvSpPr>
          <p:cNvPr id="8" name="">
            <a:extLst xmlns:a="http://schemas.openxmlformats.org/drawingml/2006/main">
              <a:ext uri="{FF2B5EF4-FFF2-40B4-BE49-F238E27FC236}">
                <a16:creationId xmlns:a16="http://schemas.microsoft.com/office/drawing/2014/main" id="{0A0DC72F-57BD-47A9-829E-9443FF833782}"/>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CFCE402-5E44-493A-A7AB-733971FD3CFC}"/>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new validation reading of 40 must not change the fitted median.</a:t>
            </a:r>
          </a:p>
        </p:txBody>
      </p:sp>
      <p:sp>
        <p:nvSpPr>
          <p:cNvPr id="10" name="">
            <a:extLst xmlns:a="http://schemas.openxmlformats.org/drawingml/2006/main">
              <a:ext uri="{FF2B5EF4-FFF2-40B4-BE49-F238E27FC236}">
                <a16:creationId xmlns:a16="http://schemas.microsoft.com/office/drawing/2014/main" id="{38AB4738-EA99-45D5-828E-0381543DEB0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15</a:t>
            </a:r>
          </a:p>
        </p:txBody>
      </p:sp>
    </p:spTree>
    <p:extLst>
      <p:ext uri="{BB962C8B-B14F-4D97-AF65-F5344CB8AC3E}">
        <p14:creationId xmlns:p14="http://schemas.microsoft.com/office/powerpoint/2010/main" val="900956620"/>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D69785FA-4778-4977-A7A9-0202B9B807D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EAA08C0-9D5F-43D2-8B27-06F6CC30E33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9C0373A-568B-441B-B1D1-A88F9FA6295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training-only fill value in Python (1/2)</a:t>
            </a:r>
          </a:p>
        </p:txBody>
      </p:sp>
      <p:sp>
        <p:nvSpPr>
          <p:cNvPr id="4" name="">
            <a:extLst xmlns:a="http://schemas.openxmlformats.org/drawingml/2006/main">
              <a:ext uri="{FF2B5EF4-FFF2-40B4-BE49-F238E27FC236}">
                <a16:creationId xmlns:a16="http://schemas.microsoft.com/office/drawing/2014/main" id="{B9661709-9CA9-4EC4-A52C-AD1C11E7E557}"/>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D6B5C8A-0A4F-44ED-82A6-3D4198D7F0E1}"/>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39" b="0">
                <a:solidFill>
                  <a:srgbClr val="F4F7FA"/>
                </a:solidFill>
                <a:latin typeface="Courier New"/>
                <a:ea typeface="Courier New"/>
                <a:cs typeface="Courier New"/>
              </a:defRPr>
            </a:pPr>
            <a:r>
              <a:rPr sz="2039" b="0">
                <a:solidFill>
                  <a:srgbClr val="FFB080"/>
                </a:solidFill>
                <a:latin typeface="Courier New"/>
                <a:ea typeface="Courier New"/>
                <a:cs typeface="Courier New"/>
              </a:rPr>
              <a:t>from</a:t>
            </a:r>
            <a:r>
              <a:rPr sz="2039" b="0">
                <a:solidFill>
                  <a:srgbClr val="F4F7FA"/>
                </a:solidFill>
                <a:latin typeface="Courier New"/>
                <a:ea typeface="Courier New"/>
                <a:cs typeface="Courier New"/>
              </a:rPr>
              <a:t> statistics </a:t>
            </a:r>
            <a:r>
              <a:rPr sz="2039" b="0">
                <a:solidFill>
                  <a:srgbClr val="FFB080"/>
                </a:solidFill>
                <a:latin typeface="Courier New"/>
                <a:ea typeface="Courier New"/>
                <a:cs typeface="Courier New"/>
              </a:rPr>
              <a:t>import</a:t>
            </a:r>
            <a:r>
              <a:rPr sz="2039" b="0">
                <a:solidFill>
                  <a:srgbClr val="F4F7FA"/>
                </a:solidFill>
                <a:latin typeface="Courier New"/>
                <a:ea typeface="Courier New"/>
                <a:cs typeface="Courier New"/>
              </a:rPr>
              <a:t> median</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training_values = [20, 22, 24]</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validation_values = [</a:t>
            </a:r>
            <a:r>
              <a:rPr sz="2039" b="0">
                <a:solidFill>
                  <a:srgbClr val="FFB080"/>
                </a:solidFill>
                <a:latin typeface="Courier New"/>
                <a:ea typeface="Courier New"/>
                <a:cs typeface="Courier New"/>
              </a:rPr>
              <a:t>None</a:t>
            </a:r>
            <a:r>
              <a:rPr sz="2039" b="0">
                <a:solidFill>
                  <a:srgbClr val="F4F7FA"/>
                </a:solidFill>
                <a:latin typeface="Courier New"/>
                <a:ea typeface="Courier New"/>
                <a:cs typeface="Courier New"/>
              </a:rPr>
              <a:t>, 40]</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training_median = median(training_values)</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filled_validation = []</a:t>
            </a:r>
          </a:p>
        </p:txBody>
      </p:sp>
      <p:sp>
        <p:nvSpPr>
          <p:cNvPr id="6" name="">
            <a:extLst xmlns:a="http://schemas.openxmlformats.org/drawingml/2006/main">
              <a:ext uri="{FF2B5EF4-FFF2-40B4-BE49-F238E27FC236}">
                <a16:creationId xmlns:a16="http://schemas.microsoft.com/office/drawing/2014/main" id="{7C905562-AA82-4A25-89EF-E3574DAF158A}"/>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BD92F4AA-3A2C-4E8D-AC25-B1A146DBBBE5}"/>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import loads a library. from selects a tool from it.</a:t>
            </a:r>
          </a:p>
        </p:txBody>
      </p:sp>
      <p:sp>
        <p:nvSpPr>
          <p:cNvPr id="8" name="">
            <a:extLst xmlns:a="http://schemas.openxmlformats.org/drawingml/2006/main">
              <a:ext uri="{FF2B5EF4-FFF2-40B4-BE49-F238E27FC236}">
                <a16:creationId xmlns:a16="http://schemas.microsoft.com/office/drawing/2014/main" id="{9D72BB7E-CC98-4AEE-9052-9AB4CEF20B57}"/>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9" name="">
            <a:extLst xmlns:a="http://schemas.openxmlformats.org/drawingml/2006/main">
              <a:ext uri="{FF2B5EF4-FFF2-40B4-BE49-F238E27FC236}">
                <a16:creationId xmlns:a16="http://schemas.microsoft.com/office/drawing/2014/main" id="{937E7216-9B4B-49D4-B98F-3F24F8C37731}"/>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10" name="">
            <a:extLst xmlns:a="http://schemas.openxmlformats.org/drawingml/2006/main">
              <a:ext uri="{FF2B5EF4-FFF2-40B4-BE49-F238E27FC236}">
                <a16:creationId xmlns:a16="http://schemas.microsoft.com/office/drawing/2014/main" id="{8B9F3A4C-F28B-494E-B303-88D6B27195B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6001EF2A-F341-4B9B-B11A-3F657B71165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16</a:t>
            </a:r>
          </a:p>
        </p:txBody>
      </p:sp>
    </p:spTree>
    <p:extLst>
      <p:ext uri="{BB962C8B-B14F-4D97-AF65-F5344CB8AC3E}">
        <p14:creationId xmlns:p14="http://schemas.microsoft.com/office/powerpoint/2010/main" val="2134496636"/>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59BDD04-5F94-4597-AB9B-3E1B9386E14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D9E879B-B0DF-49B9-A6EA-076580C145D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A952E39-28CC-4EF5-8576-CDA0FFC3461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training-only fill value in Python (2/2)</a:t>
            </a:r>
          </a:p>
        </p:txBody>
      </p:sp>
      <p:sp>
        <p:nvSpPr>
          <p:cNvPr id="4" name="">
            <a:extLst xmlns:a="http://schemas.openxmlformats.org/drawingml/2006/main">
              <a:ext uri="{FF2B5EF4-FFF2-40B4-BE49-F238E27FC236}">
                <a16:creationId xmlns:a16="http://schemas.microsoft.com/office/drawing/2014/main" id="{1E574359-9E8E-4DF0-9468-C9C1D475FE1A}"/>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3DC0E90-09FD-4CE4-9A75-312656EDD96F}"/>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value in validation_values: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value is </a:t>
            </a:r>
            <a:r>
              <a:rPr sz="2175" b="0">
                <a:solidFill>
                  <a:srgbClr val="FFB080"/>
                </a:solidFill>
                <a:latin typeface="Courier New"/>
                <a:ea typeface="Courier New"/>
                <a:cs typeface="Courier New"/>
              </a:rPr>
              <a:t>None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filled_validation.append(training_median)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else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filled_validation.append(value)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print(training_median, filled_validation)</a:t>
            </a:r>
          </a:p>
        </p:txBody>
      </p:sp>
      <p:sp>
        <p:nvSpPr>
          <p:cNvPr id="6" name="">
            <a:extLst xmlns:a="http://schemas.openxmlformats.org/drawingml/2006/main">
              <a:ext uri="{FF2B5EF4-FFF2-40B4-BE49-F238E27FC236}">
                <a16:creationId xmlns:a16="http://schemas.microsoft.com/office/drawing/2014/main" id="{80635C35-0C70-4047-964E-398ED5A1C197}"/>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for takes the next item. The indented block repeats.</a:t>
            </a:r>
          </a:p>
        </p:txBody>
      </p:sp>
      <p:sp>
        <p:nvSpPr>
          <p:cNvPr id="7" name="">
            <a:extLst xmlns:a="http://schemas.openxmlformats.org/drawingml/2006/main">
              <a:ext uri="{FF2B5EF4-FFF2-40B4-BE49-F238E27FC236}">
                <a16:creationId xmlns:a16="http://schemas.microsoft.com/office/drawing/2014/main" id="{2E1DDD8D-27FA-486C-9111-709B0F6619C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8" name="">
            <a:extLst xmlns:a="http://schemas.openxmlformats.org/drawingml/2006/main">
              <a:ext uri="{FF2B5EF4-FFF2-40B4-BE49-F238E27FC236}">
                <a16:creationId xmlns:a16="http://schemas.microsoft.com/office/drawing/2014/main" id="{96EACC46-7A88-4A69-B3A7-33B986E8740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17</a:t>
            </a:r>
          </a:p>
        </p:txBody>
      </p:sp>
    </p:spTree>
    <p:extLst>
      <p:ext uri="{BB962C8B-B14F-4D97-AF65-F5344CB8AC3E}">
        <p14:creationId xmlns:p14="http://schemas.microsoft.com/office/powerpoint/2010/main" val="1096348695"/>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8A66C44-CDD5-4C1E-BC52-B80B6DB1C86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8510C37-CFDF-4A95-93BC-E14FF89A0A1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4903371-C3EF-47D8-B555-DEA9A4E1CCE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Leakage gives away information from the future</a:t>
            </a:r>
          </a:p>
        </p:txBody>
      </p:sp>
      <p:sp>
        <p:nvSpPr>
          <p:cNvPr id="4" name="">
            <a:extLst xmlns:a="http://schemas.openxmlformats.org/drawingml/2006/main">
              <a:ext uri="{FF2B5EF4-FFF2-40B4-BE49-F238E27FC236}">
                <a16:creationId xmlns:a16="http://schemas.microsoft.com/office/drawing/2014/main" id="{136212DE-D676-4B1F-B4AC-5A672598AAA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9261787-C826-4CD4-BB38-1809814E3697}"/>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Suppose we predict a fault before an inspection.</a:t>
            </a:r>
          </a:p>
        </p:txBody>
      </p:sp>
      <p:sp>
        <p:nvSpPr>
          <p:cNvPr id="6" name="">
            <a:extLst xmlns:a="http://schemas.openxmlformats.org/drawingml/2006/main">
              <a:ext uri="{FF2B5EF4-FFF2-40B4-BE49-F238E27FC236}">
                <a16:creationId xmlns:a16="http://schemas.microsoft.com/office/drawing/2014/main" id="{B420281D-153F-42FD-BA04-AC1A46199B75}"/>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9A287ED-D359-4B03-88BB-F68B8F03BC47}"/>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final_inspection_result exists only after the inspection.</a:t>
            </a:r>
          </a:p>
        </p:txBody>
      </p:sp>
      <p:sp>
        <p:nvSpPr>
          <p:cNvPr id="8" name="">
            <a:extLst xmlns:a="http://schemas.openxmlformats.org/drawingml/2006/main">
              <a:ext uri="{FF2B5EF4-FFF2-40B4-BE49-F238E27FC236}">
                <a16:creationId xmlns:a16="http://schemas.microsoft.com/office/drawing/2014/main" id="{F178B6D7-1ECA-44CD-9787-921E83D3F58F}"/>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2101B18-B8FB-4B9B-90C1-4BED58D43EE4}"/>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Using it as an input would answer a different, easier question than the one we intended.</a:t>
            </a:r>
          </a:p>
        </p:txBody>
      </p:sp>
      <p:sp>
        <p:nvSpPr>
          <p:cNvPr id="10" name="">
            <a:extLst xmlns:a="http://schemas.openxmlformats.org/drawingml/2006/main">
              <a:ext uri="{FF2B5EF4-FFF2-40B4-BE49-F238E27FC236}">
                <a16:creationId xmlns:a16="http://schemas.microsoft.com/office/drawing/2014/main" id="{CC4C86AD-A968-42CD-86CC-6C9B4F3E59B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18</a:t>
            </a:r>
          </a:p>
        </p:txBody>
      </p:sp>
    </p:spTree>
    <p:extLst>
      <p:ext uri="{BB962C8B-B14F-4D97-AF65-F5344CB8AC3E}">
        <p14:creationId xmlns:p14="http://schemas.microsoft.com/office/powerpoint/2010/main" val="650790705"/>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D5A9CD9-BFB0-441C-8EED-56A70252A6B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61ABA5E-C366-44EA-B9ED-A433EBB52E8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3E3D591-B2AC-4548-97A5-061CDF69F41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Parameters hyperparameters and a fold</a:t>
            </a:r>
          </a:p>
        </p:txBody>
      </p:sp>
      <p:sp>
        <p:nvSpPr>
          <p:cNvPr id="4" name="">
            <a:extLst xmlns:a="http://schemas.openxmlformats.org/drawingml/2006/main">
              <a:ext uri="{FF2B5EF4-FFF2-40B4-BE49-F238E27FC236}">
                <a16:creationId xmlns:a16="http://schemas.microsoft.com/office/drawing/2014/main" id="{78625FB1-37EA-435C-B41B-BC06762B866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BF63F51-5BB4-4A26-961E-ED222656B010}"/>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parameter is learned during fitting, such as a line’s slope. A hyperparameter is a setting chosen around fitting, such as a tree’s max_depth.</a:t>
            </a:r>
          </a:p>
        </p:txBody>
      </p:sp>
      <p:sp>
        <p:nvSpPr>
          <p:cNvPr id="6" name="">
            <a:extLst xmlns:a="http://schemas.openxmlformats.org/drawingml/2006/main">
              <a:ext uri="{FF2B5EF4-FFF2-40B4-BE49-F238E27FC236}">
                <a16:creationId xmlns:a16="http://schemas.microsoft.com/office/drawing/2014/main" id="{066F8591-FBFA-4733-8885-DD2B16B29A69}"/>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120EE10-4B2F-4932-A608-9BEC17F2AE2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fold is one part of the development data used for a validation turn. Refit the entire preprocessing and model on the other parts for that turn.</a:t>
            </a:r>
          </a:p>
        </p:txBody>
      </p:sp>
      <p:sp>
        <p:nvSpPr>
          <p:cNvPr id="8" name="">
            <a:extLst xmlns:a="http://schemas.openxmlformats.org/drawingml/2006/main">
              <a:ext uri="{FF2B5EF4-FFF2-40B4-BE49-F238E27FC236}">
                <a16:creationId xmlns:a16="http://schemas.microsoft.com/office/drawing/2014/main" id="{484360DE-1880-47F1-AF9C-08B0876FF3B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D27B6C4-4402-488C-93F6-55F14A03DE83}"/>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Compare candidate settings using validation evidence. Keep the final test outside that selection process.</a:t>
            </a:r>
          </a:p>
        </p:txBody>
      </p:sp>
      <p:sp>
        <p:nvSpPr>
          <p:cNvPr id="10" name="">
            <a:extLst xmlns:a="http://schemas.openxmlformats.org/drawingml/2006/main">
              <a:ext uri="{FF2B5EF4-FFF2-40B4-BE49-F238E27FC236}">
                <a16:creationId xmlns:a16="http://schemas.microsoft.com/office/drawing/2014/main" id="{950D0A15-316A-4B2E-B2C8-74667229E87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19</a:t>
            </a:r>
          </a:p>
        </p:txBody>
      </p:sp>
    </p:spTree>
    <p:extLst>
      <p:ext uri="{BB962C8B-B14F-4D97-AF65-F5344CB8AC3E}">
        <p14:creationId xmlns:p14="http://schemas.microsoft.com/office/powerpoint/2010/main" val="1686654213"/>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835FC20-6B05-4435-B373-E5BE3B5474D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547929A-9E1C-4B54-A078-6ECAE111A88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81861EEA-3BDB-46A4-9F1F-14404DC26A5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Cross-validation</a:t>
            </a:r>
          </a:p>
        </p:txBody>
      </p:sp>
      <p:sp>
        <p:nvSpPr>
          <p:cNvPr id="4" name="">
            <a:extLst xmlns:a="http://schemas.openxmlformats.org/drawingml/2006/main">
              <a:ext uri="{FF2B5EF4-FFF2-40B4-BE49-F238E27FC236}">
                <a16:creationId xmlns:a16="http://schemas.microsoft.com/office/drawing/2014/main" id="{9275744D-DF4E-4CE0-8531-7AD090DEAB65}"/>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DC72DC6-AE87-44ED-965A-D627A39CC594}"/>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Cross-validation</a:t>
            </a:r>
          </a:p>
        </p:txBody>
      </p:sp>
      <p:sp>
        <p:nvSpPr>
          <p:cNvPr id="6" name="">
            <a:extLst xmlns:a="http://schemas.openxmlformats.org/drawingml/2006/main">
              <a:ext uri="{FF2B5EF4-FFF2-40B4-BE49-F238E27FC236}">
                <a16:creationId xmlns:a16="http://schemas.microsoft.com/office/drawing/2014/main" id="{EF9B6B6D-7D81-46B4-BB2B-AF68B56EF7F3}"/>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Repeat fitting and validation on several partitions of the training/development data. Respect groups or time order. Keep the final test outside tuning.</a:t>
            </a:r>
          </a:p>
        </p:txBody>
      </p:sp>
      <p:sp>
        <p:nvSpPr>
          <p:cNvPr id="7" name="">
            <a:extLst xmlns:a="http://schemas.openxmlformats.org/drawingml/2006/main">
              <a:ext uri="{FF2B5EF4-FFF2-40B4-BE49-F238E27FC236}">
                <a16:creationId xmlns:a16="http://schemas.microsoft.com/office/drawing/2014/main" id="{048E768D-DA56-4675-8C64-5A650A7DCB2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20</a:t>
            </a:r>
          </a:p>
        </p:txBody>
      </p:sp>
    </p:spTree>
    <p:extLst>
      <p:ext uri="{BB962C8B-B14F-4D97-AF65-F5344CB8AC3E}">
        <p14:creationId xmlns:p14="http://schemas.microsoft.com/office/powerpoint/2010/main" val="847320545"/>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1E77660-C624-4DB4-B167-6F3149E1AD1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E0BA729-C1FB-457F-A0A0-C2D524F0180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3E1B69A-47FD-4365-9496-08982FCBDCA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What standard deviation tells us</a:t>
            </a:r>
          </a:p>
        </p:txBody>
      </p:sp>
      <p:sp>
        <p:nvSpPr>
          <p:cNvPr id="4" name="">
            <a:extLst xmlns:a="http://schemas.openxmlformats.org/drawingml/2006/main">
              <a:ext uri="{FF2B5EF4-FFF2-40B4-BE49-F238E27FC236}">
                <a16:creationId xmlns:a16="http://schemas.microsoft.com/office/drawing/2014/main" id="{B100EE65-CF5C-4A88-9982-04EDB0D8081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D8EDBD0-9B4C-420B-8D3C-A2699648C6F7}"/>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Scores 3, 4 and 5 have mean 4. Their deviations are -1, 0 and 1.</a:t>
            </a:r>
          </a:p>
        </p:txBody>
      </p:sp>
      <p:sp>
        <p:nvSpPr>
          <p:cNvPr id="6" name="">
            <a:extLst xmlns:a="http://schemas.openxmlformats.org/drawingml/2006/main">
              <a:ext uri="{FF2B5EF4-FFF2-40B4-BE49-F238E27FC236}">
                <a16:creationId xmlns:a16="http://schemas.microsoft.com/office/drawing/2014/main" id="{3E0022C0-379A-468C-AA57-C63A215173BA}"/>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41114EC-96B4-4C40-883A-E875FF34FC8C}"/>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these three fold scores, population SD = sqrt((1 + 0 + 1) / 3), about 0.82.</a:t>
            </a:r>
          </a:p>
        </p:txBody>
      </p:sp>
      <p:sp>
        <p:nvSpPr>
          <p:cNvPr id="8" name="">
            <a:extLst xmlns:a="http://schemas.openxmlformats.org/drawingml/2006/main">
              <a:ext uri="{FF2B5EF4-FFF2-40B4-BE49-F238E27FC236}">
                <a16:creationId xmlns:a16="http://schemas.microsoft.com/office/drawing/2014/main" id="{67C75F64-1329-4506-A06B-FF629C78398E}"/>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A122929-493D-440C-BD6D-1E6F47D8964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SD describes spread around the mean in the score’s units. The next illustration uses this same population convention; it is not a confidence interval.</a:t>
            </a:r>
          </a:p>
        </p:txBody>
      </p:sp>
      <p:sp>
        <p:nvSpPr>
          <p:cNvPr id="10" name="">
            <a:extLst xmlns:a="http://schemas.openxmlformats.org/drawingml/2006/main">
              <a:ext uri="{FF2B5EF4-FFF2-40B4-BE49-F238E27FC236}">
                <a16:creationId xmlns:a16="http://schemas.microsoft.com/office/drawing/2014/main" id="{79BBC5F5-83A9-4581-9AFC-B044594FA36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21</a:t>
            </a:r>
          </a:p>
        </p:txBody>
      </p:sp>
    </p:spTree>
    <p:extLst>
      <p:ext uri="{BB962C8B-B14F-4D97-AF65-F5344CB8AC3E}">
        <p14:creationId xmlns:p14="http://schemas.microsoft.com/office/powerpoint/2010/main" val="234731959"/>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6BAAC3A-18CA-4A84-909E-97FC2BEA683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D23749C-E5D4-4FFE-B304-942CDA59003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D09610DA-ACEF-4AAE-923E-E8CE6AAF0B5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three validation turns</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Turn</a:t>
                      </a:r>
                    </a:p>
                  </a:txBody>
                  <a:tcPr marL="91440" marR="91440" marT="45720" marB="45720">
                    <a:solidFill>
                      <a:srgbClr val="2E7D6F"/>
                    </a:solidFill>
                  </a:tcPr>
                </a:tc>
                <a:tc>
                  <a:txBody>
                    <a:bodyPr/>
                    <a:lstStyle/>
                    <a:p>
                      <a:r>
                        <a:rPr sz="2025" b="1">
                          <a:solidFill>
                            <a:srgbClr val="FFFFFF"/>
                          </a:solidFill>
                          <a:latin typeface="Calibri"/>
                          <a:ea typeface="Calibri"/>
                          <a:cs typeface="Calibri"/>
                        </a:rPr>
                        <a:t>Fit using</a:t>
                      </a:r>
                    </a:p>
                  </a:txBody>
                  <a:tcPr marL="91440" marR="91440" marT="45720" marB="45720">
                    <a:solidFill>
                      <a:srgbClr val="2E7D6F"/>
                    </a:solidFill>
                  </a:tcPr>
                </a:tc>
                <a:tc>
                  <a:txBody>
                    <a:bodyPr/>
                    <a:lstStyle/>
                    <a:p>
                      <a:r>
                        <a:rPr sz="2025" b="1">
                          <a:solidFill>
                            <a:srgbClr val="FFFFFF"/>
                          </a:solidFill>
                          <a:latin typeface="Calibri"/>
                          <a:ea typeface="Calibri"/>
                          <a:cs typeface="Calibri"/>
                        </a:rPr>
                        <a:t>Validate using</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1</a:t>
                      </a:r>
                    </a:p>
                  </a:txBody>
                  <a:tcPr marL="91440" marR="91440" marT="45720" marB="45720">
                    <a:solidFill>
                      <a:srgbClr val="EEF3F6"/>
                    </a:solidFill>
                  </a:tcPr>
                </a:tc>
                <a:tc>
                  <a:txBody>
                    <a:bodyPr/>
                    <a:lstStyle/>
                    <a:p>
                      <a:r>
                        <a:rPr sz="2025" b="0">
                          <a:solidFill>
                            <a:srgbClr val="1C3144"/>
                          </a:solidFill>
                          <a:latin typeface="Calibri"/>
                          <a:ea typeface="Calibri"/>
                          <a:cs typeface="Calibri"/>
                        </a:rPr>
                        <a:t>Parts B and C</a:t>
                      </a:r>
                    </a:p>
                  </a:txBody>
                  <a:tcPr marL="91440" marR="91440" marT="45720" marB="45720">
                    <a:solidFill>
                      <a:srgbClr val="EEF3F6"/>
                    </a:solidFill>
                  </a:tcPr>
                </a:tc>
                <a:tc>
                  <a:txBody>
                    <a:bodyPr/>
                    <a:lstStyle/>
                    <a:p>
                      <a:r>
                        <a:rPr sz="2025" b="0">
                          <a:solidFill>
                            <a:srgbClr val="1C3144"/>
                          </a:solidFill>
                          <a:latin typeface="Calibri"/>
                          <a:ea typeface="Calibri"/>
                          <a:cs typeface="Calibri"/>
                        </a:rPr>
                        <a:t>Part A</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2</a:t>
                      </a:r>
                    </a:p>
                  </a:txBody>
                  <a:tcPr marL="91440" marR="91440" marT="45720" marB="45720">
                    <a:solidFill>
                      <a:srgbClr val="FFFFFF"/>
                    </a:solidFill>
                  </a:tcPr>
                </a:tc>
                <a:tc>
                  <a:txBody>
                    <a:bodyPr/>
                    <a:lstStyle/>
                    <a:p>
                      <a:r>
                        <a:rPr sz="2025" b="0">
                          <a:solidFill>
                            <a:srgbClr val="1C3144"/>
                          </a:solidFill>
                          <a:latin typeface="Calibri"/>
                          <a:ea typeface="Calibri"/>
                          <a:cs typeface="Calibri"/>
                        </a:rPr>
                        <a:t>Parts A and C</a:t>
                      </a:r>
                    </a:p>
                  </a:txBody>
                  <a:tcPr marL="91440" marR="91440" marT="45720" marB="45720">
                    <a:solidFill>
                      <a:srgbClr val="FFFFFF"/>
                    </a:solidFill>
                  </a:tcPr>
                </a:tc>
                <a:tc>
                  <a:txBody>
                    <a:bodyPr/>
                    <a:lstStyle/>
                    <a:p>
                      <a:r>
                        <a:rPr sz="2025" b="0">
                          <a:solidFill>
                            <a:srgbClr val="1C3144"/>
                          </a:solidFill>
                          <a:latin typeface="Calibri"/>
                          <a:ea typeface="Calibri"/>
                          <a:cs typeface="Calibri"/>
                        </a:rPr>
                        <a:t>Part B</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3</a:t>
                      </a:r>
                    </a:p>
                  </a:txBody>
                  <a:tcPr marL="91440" marR="91440" marT="45720" marB="45720">
                    <a:solidFill>
                      <a:srgbClr val="EEF3F6"/>
                    </a:solidFill>
                  </a:tcPr>
                </a:tc>
                <a:tc>
                  <a:txBody>
                    <a:bodyPr/>
                    <a:lstStyle/>
                    <a:p>
                      <a:r>
                        <a:rPr sz="2025" b="0">
                          <a:solidFill>
                            <a:srgbClr val="1C3144"/>
                          </a:solidFill>
                          <a:latin typeface="Calibri"/>
                          <a:ea typeface="Calibri"/>
                          <a:cs typeface="Calibri"/>
                        </a:rPr>
                        <a:t>Parts A and B</a:t>
                      </a:r>
                    </a:p>
                  </a:txBody>
                  <a:tcPr marL="91440" marR="91440" marT="45720" marB="45720">
                    <a:solidFill>
                      <a:srgbClr val="EEF3F6"/>
                    </a:solidFill>
                  </a:tcPr>
                </a:tc>
                <a:tc>
                  <a:txBody>
                    <a:bodyPr/>
                    <a:lstStyle/>
                    <a:p>
                      <a:r>
                        <a:rPr sz="2025" b="0">
                          <a:solidFill>
                            <a:srgbClr val="1C3144"/>
                          </a:solidFill>
                          <a:latin typeface="Calibri"/>
                          <a:ea typeface="Calibri"/>
                          <a:cs typeface="Calibri"/>
                        </a:rPr>
                        <a:t>Part C</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5D2D25F2-9874-4DC9-A12E-EB5E66CD3908}"/>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Refit preprocessing in every turn. The separate final test is not A, B or C.</a:t>
            </a:r>
          </a:p>
        </p:txBody>
      </p:sp>
      <p:sp>
        <p:nvSpPr>
          <p:cNvPr id="6" name="">
            <a:extLst xmlns:a="http://schemas.openxmlformats.org/drawingml/2006/main">
              <a:ext uri="{FF2B5EF4-FFF2-40B4-BE49-F238E27FC236}">
                <a16:creationId xmlns:a16="http://schemas.microsoft.com/office/drawing/2014/main" id="{9432D289-E79C-471E-AD53-DC11110E547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22</a:t>
            </a:r>
          </a:p>
        </p:txBody>
      </p:sp>
    </p:spTree>
    <p:extLst>
      <p:ext uri="{BB962C8B-B14F-4D97-AF65-F5344CB8AC3E}">
        <p14:creationId xmlns:p14="http://schemas.microsoft.com/office/powerpoint/2010/main" val="1673554616"/>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F54C883-FE07-45ED-95EC-1B9CEAA5F02C}"/>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FE7A3CE-94E8-403D-B44F-27C4F85C456E}"/>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Each fold takes a turn at validation</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88fb233140464d45"/>
          <a:stretch xmlns:a="http://schemas.openxmlformats.org/drawingml/2006/main"/>
        </p:blipFill>
        <p:spPr>
          <a:xfrm xmlns:a="http://schemas.openxmlformats.org/drawingml/2006/main">
            <a:off x="984088" y="1057275"/>
            <a:ext cx="10223825"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75B78DEB-5A71-40C5-8534-5CF0D0ABE18B}"/>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45D524E-0009-49DB-B61B-57D172301694}"/>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Illustrated spread: population SD 0.39 MPa, not a confidence interval.</a:t>
            </a:r>
          </a:p>
        </p:txBody>
      </p:sp>
      <p:sp>
        <p:nvSpPr>
          <p:cNvPr id="6" name="">
            <a:extLst xmlns:a="http://schemas.openxmlformats.org/drawingml/2006/main">
              <a:ext uri="{FF2B5EF4-FFF2-40B4-BE49-F238E27FC236}">
                <a16:creationId xmlns:a16="http://schemas.microsoft.com/office/drawing/2014/main" id="{8662BDD7-93C0-4342-855B-33558BFBE9C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23</a:t>
            </a:r>
          </a:p>
        </p:txBody>
      </p:sp>
    </p:spTree>
    <p:extLst>
      <p:ext uri="{BB962C8B-B14F-4D97-AF65-F5344CB8AC3E}">
        <p14:creationId xmlns:p14="http://schemas.microsoft.com/office/powerpoint/2010/main" val="1453193328"/>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59284BB-99C4-4B64-8814-44D5766FF97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D913618-1436-4F70-BB00-43D079C5D14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C6BF9C6C-CE78-435D-86AB-271D8E71B4A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Choose a split that matches future use</a:t>
            </a:r>
          </a:p>
        </p:txBody>
      </p:sp>
      <p:sp>
        <p:nvSpPr>
          <p:cNvPr id="4" name="">
            <a:extLst xmlns:a="http://schemas.openxmlformats.org/drawingml/2006/main">
              <a:ext uri="{FF2B5EF4-FFF2-40B4-BE49-F238E27FC236}">
                <a16:creationId xmlns:a16="http://schemas.microsoft.com/office/drawing/2014/main" id="{2CB0EBDB-29F4-43AC-8D60-FD6E576FC016}"/>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70FD664-C31E-4760-909B-BAB941273699}"/>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Equipment or time</a:t>
            </a:r>
          </a:p>
        </p:txBody>
      </p:sp>
      <p:sp>
        <p:nvSpPr>
          <p:cNvPr id="6" name="">
            <a:extLst xmlns:a="http://schemas.openxmlformats.org/drawingml/2006/main">
              <a:ext uri="{FF2B5EF4-FFF2-40B4-BE49-F238E27FC236}">
                <a16:creationId xmlns:a16="http://schemas.microsoft.com/office/drawing/2014/main" id="{80271926-006E-48CC-A112-1D02E02706EC}"/>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For unseen equipment, keep each equipment ID together. For future-time prediction, train on earlier observations and evaluate on later ones.</a:t>
            </a:r>
          </a:p>
        </p:txBody>
      </p:sp>
      <p:sp>
        <p:nvSpPr>
          <p:cNvPr id="7" name="">
            <a:extLst xmlns:a="http://schemas.openxmlformats.org/drawingml/2006/main">
              <a:ext uri="{FF2B5EF4-FFF2-40B4-BE49-F238E27FC236}">
                <a16:creationId xmlns:a16="http://schemas.microsoft.com/office/drawing/2014/main" id="{7E4A6EEC-A383-44B9-817A-7EDCF4ED075C}"/>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D1189F9B-DAF8-45BE-B6B5-2648B5FDE980}"/>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Scaler and split tool</a:t>
            </a:r>
          </a:p>
        </p:txBody>
      </p:sp>
      <p:sp>
        <p:nvSpPr>
          <p:cNvPr id="9" name="">
            <a:extLst xmlns:a="http://schemas.openxmlformats.org/drawingml/2006/main">
              <a:ext uri="{FF2B5EF4-FFF2-40B4-BE49-F238E27FC236}">
                <a16:creationId xmlns:a16="http://schemas.microsoft.com/office/drawing/2014/main" id="{D103854A-CC30-4400-AF52-9BA2F99B61B3}"/>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scaler learns how to rescale features; fit it on training data. GroupShuffleSplit is a library tool for group separation. Our assignment instead uses its fixed published equipment lists.</a:t>
            </a:r>
          </a:p>
        </p:txBody>
      </p:sp>
      <p:sp>
        <p:nvSpPr>
          <p:cNvPr id="10" name="">
            <a:extLst xmlns:a="http://schemas.openxmlformats.org/drawingml/2006/main">
              <a:ext uri="{FF2B5EF4-FFF2-40B4-BE49-F238E27FC236}">
                <a16:creationId xmlns:a16="http://schemas.microsoft.com/office/drawing/2014/main" id="{2071CB68-63E1-4AB2-8CE2-2CAEB912618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24</a:t>
            </a:r>
          </a:p>
        </p:txBody>
      </p:sp>
    </p:spTree>
    <p:extLst>
      <p:ext uri="{BB962C8B-B14F-4D97-AF65-F5344CB8AC3E}">
        <p14:creationId xmlns:p14="http://schemas.microsoft.com/office/powerpoint/2010/main" val="1967926911"/>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254556C-127A-453B-88F0-8801EC70EB6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532344E-D87B-40FC-A887-1DCCAADA189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A586096-20EF-402E-9423-D712667CAC6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example and answer</a:t>
            </a:r>
          </a:p>
        </p:txBody>
      </p:sp>
      <p:sp>
        <p:nvSpPr>
          <p:cNvPr id="4" name="">
            <a:extLst xmlns:a="http://schemas.openxmlformats.org/drawingml/2006/main">
              <a:ext uri="{FF2B5EF4-FFF2-40B4-BE49-F238E27FC236}">
                <a16:creationId xmlns:a16="http://schemas.microsoft.com/office/drawing/2014/main" id="{BB297A64-BFD6-46CF-94E9-4585192F1308}"/>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17C67A7-D97E-48F2-AA62-E3A19E2163AE}"/>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6609AEA-BBBC-498A-8A05-F05C1F114E26}"/>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Example: A second observation from B arrives. Where does it go? Why not put it into training just to balance row counts?</a:t>
            </a:r>
          </a:p>
        </p:txBody>
      </p:sp>
      <p:sp>
        <p:nvSpPr>
          <p:cNvPr id="7" name="">
            <a:extLst xmlns:a="http://schemas.openxmlformats.org/drawingml/2006/main">
              <a:ext uri="{FF2B5EF4-FFF2-40B4-BE49-F238E27FC236}">
                <a16:creationId xmlns:a16="http://schemas.microsoft.com/office/drawing/2014/main" id="{1349662E-28BC-4CDC-8548-2C1F1FE754A5}"/>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Answer: It stays with B in validation. Mixing a source across partitions can give an overly optimistic estimate for unseen equipment.</a:t>
            </a:r>
          </a:p>
        </p:txBody>
      </p:sp>
      <p:sp>
        <p:nvSpPr>
          <p:cNvPr id="8" name="">
            <a:extLst xmlns:a="http://schemas.openxmlformats.org/drawingml/2006/main">
              <a:ext uri="{FF2B5EF4-FFF2-40B4-BE49-F238E27FC236}">
                <a16:creationId xmlns:a16="http://schemas.microsoft.com/office/drawing/2014/main" id="{144CEAE5-BAE4-43CC-9F05-61755531D4C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25</a:t>
            </a:r>
          </a:p>
        </p:txBody>
      </p:sp>
    </p:spTree>
    <p:extLst>
      <p:ext uri="{BB962C8B-B14F-4D97-AF65-F5344CB8AC3E}">
        <p14:creationId xmlns:p14="http://schemas.microsoft.com/office/powerpoint/2010/main" val="378558826"/>
      </p:ext>
    </p:extLst>
  </p:cSld>
</p:sld>
</file>

<file path=ppt/slides/slide26.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D536D66F-3F39-4E6C-BA91-259A7ACA54D9}"/>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CC15F369-A086-4978-8978-83E3906447F8}"/>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a:ext uri="{FF2B5EF4-FFF2-40B4-BE49-F238E27FC236}">
                <ns2:creationId id="{145BF9F9-074B-4A2E-AC6F-902ED61071FE}"/>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a:ext uri="{FF2B5EF4-FFF2-40B4-BE49-F238E27FC236}">
                <ns2:creationId id="{3E6B3630-456D-4AE1-A503-107E906440FC}"/>
              </a:ext>
            </a:extLst>
          </p:cNvPr>
          <p:cNvSpPr>
            <a:spLocks noGrp="1"/>
          </p:cNvSpPr>
          <p:nvPr/>
        </p:nvSpPr>
        <p:spPr>
          <a:xfrm>
            <a:off x="590550" y="178117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a:ext uri="{FF2B5EF4-FFF2-40B4-BE49-F238E27FC236}">
                <ns2:creationId id="{3A0AD578-3850-41AD-A314-60506B3E8E24}"/>
              </a:ext>
            </a:extLst>
          </p:cNvPr>
          <p:cNvSpPr>
            <a:spLocks noGrp="1"/>
          </p:cNvSpPr>
          <p:nvPr/>
        </p:nvSpPr>
        <p:spPr>
          <a:xfrm>
            <a:off x="1381125" y="1781175"/>
            <a:ext cx="10096500" cy="992981"/>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W10 specifies E1–E4 train, E5 validation, E6 test and preserves input order.</a:t>
            </a:r>
          </a:p>
        </p:txBody>
      </p:sp>
      <p:sp>
        <p:nvSpPr>
          <p:cNvPr id="6" name="">
            <a:extLst>
              <a:ext uri="{FF2B5EF4-FFF2-40B4-BE49-F238E27FC236}">
                <ns2:creationId id="{7BD9BAD4-FC72-4A4A-BE8E-2928F7A38B2A}"/>
              </a:ext>
            </a:extLst>
          </p:cNvPr>
          <p:cNvSpPr>
            <a:spLocks noGrp="1"/>
          </p:cNvSpPr>
          <p:nvPr/>
        </p:nvSpPr>
        <p:spPr>
          <a:xfrm>
            <a:off x="590550" y="2850356"/>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a:ext uri="{FF2B5EF4-FFF2-40B4-BE49-F238E27FC236}">
                <ns2:creationId id="{179C9092-ABF5-4E52-BF5F-9CBD79043565}"/>
              </a:ext>
            </a:extLst>
          </p:cNvPr>
          <p:cNvSpPr>
            <a:spLocks noGrp="1"/>
          </p:cNvSpPr>
          <p:nvPr/>
        </p:nvSpPr>
        <p:spPr>
          <a:xfrm>
            <a:off x="1381125" y="2850356"/>
            <a:ext cx="10096500" cy="992981"/>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Use the assigned equipment_id field and record_id outputs.</a:t>
            </a:r>
          </a:p>
        </p:txBody>
      </p:sp>
      <p:sp>
        <p:nvSpPr>
          <p:cNvPr id="8" name="">
            <a:extLst>
              <a:ext uri="{FF2B5EF4-FFF2-40B4-BE49-F238E27FC236}">
                <ns2:creationId id="{A69A02B1-190E-4C15-BF04-BA72F4F4DB75}"/>
              </a:ext>
            </a:extLst>
          </p:cNvPr>
          <p:cNvSpPr>
            <a:spLocks noGrp="1"/>
          </p:cNvSpPr>
          <p:nvPr/>
        </p:nvSpPr>
        <p:spPr>
          <a:xfrm>
            <a:off x="590550" y="3919538"/>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a:ext uri="{FF2B5EF4-FFF2-40B4-BE49-F238E27FC236}">
                <ns2:creationId id="{97292B03-53D2-42E5-99EB-7E5E2CC1B459}"/>
              </a:ext>
            </a:extLst>
          </p:cNvPr>
          <p:cNvSpPr>
            <a:spLocks noGrp="1"/>
          </p:cNvSpPr>
          <p:nvPr/>
        </p:nvSpPr>
        <p:spPr>
          <a:xfrm>
            <a:off x="1381125" y="3919538"/>
            <a:ext cx="10096500" cy="992981"/>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Reuse the W08 fitting pattern.</a:t>
            </a:r>
          </a:p>
        </p:txBody>
      </p:sp>
      <p:sp>
        <p:nvSpPr>
          <p:cNvPr id="10" name="">
            <a:extLst>
              <a:ext uri="{FF2B5EF4-FFF2-40B4-BE49-F238E27FC236}">
                <ns2:creationId id="{0143D734-9100-4786-8FE0-62152CC4BD5D}"/>
              </a:ext>
            </a:extLst>
          </p:cNvPr>
          <p:cNvSpPr>
            <a:spLocks noGrp="1"/>
          </p:cNvSpPr>
          <p:nvPr/>
        </p:nvSpPr>
        <p:spPr>
          <a:xfrm>
            <a:off x="590550" y="4988719"/>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a:ext uri="{FF2B5EF4-FFF2-40B4-BE49-F238E27FC236}">
                <ns2:creationId id="{8889B849-5663-4975-B1DF-6B0ED5C31253}"/>
              </a:ext>
            </a:extLst>
          </p:cNvPr>
          <p:cNvSpPr>
            <a:spLocks noGrp="1"/>
          </p:cNvSpPr>
          <p:nvPr/>
        </p:nvSpPr>
        <p:spPr>
          <a:xfrm>
            <a:off x="1381125" y="4988719"/>
            <a:ext cx="10096500" cy="992981"/>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GroupShuffleSplit separates equipment groups. A time-based split separates earlier and later records. Follow the split required by your task.</a:t>
            </a:r>
          </a:p>
        </p:txBody>
      </p:sp>
      <p:sp>
        <p:nvSpPr>
          <p:cNvPr id="12" name="">
            <a:extLst>
              <a:ext uri="{FF2B5EF4-FFF2-40B4-BE49-F238E27FC236}">
                <ns2:creationId id="{BC6658C8-5F45-4953-A6D7-5A98E5C9BC6B}"/>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26</a:t>
            </a:r>
          </a:p>
        </p:txBody>
      </p:sp>
    </p:spTree>
    <p:extLst>
      <p:ext uri="{BB962C8B-B14F-4D97-AF65-F5344CB8AC3E}">
        <ns3:creationId val="530552312"/>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8675E90-1C9B-4A00-812A-A35EE47934C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7CF3385-AC74-4079-88E5-3D0F57496C1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36E1E63-5569-416A-A003-85217EE805F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Interpreting validation results</a:t>
            </a:r>
          </a:p>
        </p:txBody>
      </p:sp>
      <p:sp>
        <p:nvSpPr>
          <p:cNvPr id="4" name="">
            <a:extLst xmlns:a="http://schemas.openxmlformats.org/drawingml/2006/main">
              <a:ext uri="{FF2B5EF4-FFF2-40B4-BE49-F238E27FC236}">
                <a16:creationId xmlns:a16="http://schemas.microsoft.com/office/drawing/2014/main" id="{CA8383F2-0411-46C7-A5F1-E3D15ED679B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AADBCA5-2F4E-4B53-A05A-962F20FB2658}"/>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Fit an imputer or scaler only on training data; putting it in a Pipeline helps enforce that during cross-validation.</a:t>
            </a:r>
          </a:p>
        </p:txBody>
      </p:sp>
      <p:sp>
        <p:nvSpPr>
          <p:cNvPr id="6" name="">
            <a:extLst xmlns:a="http://schemas.openxmlformats.org/drawingml/2006/main">
              <a:ext uri="{FF2B5EF4-FFF2-40B4-BE49-F238E27FC236}">
                <a16:creationId xmlns:a16="http://schemas.microsoft.com/office/drawing/2014/main" id="{BB79B5FE-599A-4D9E-9DEA-496BFA713922}"/>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C84F8E8-BE2D-40C5-8D3C-A11C86B7BE5A}"/>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low training error and high validation error suggest overfitting, but data shift or leakage can also matter.</a:t>
            </a:r>
          </a:p>
        </p:txBody>
      </p:sp>
      <p:sp>
        <p:nvSpPr>
          <p:cNvPr id="8" name="">
            <a:extLst xmlns:a="http://schemas.openxmlformats.org/drawingml/2006/main">
              <a:ext uri="{FF2B5EF4-FFF2-40B4-BE49-F238E27FC236}">
                <a16:creationId xmlns:a16="http://schemas.microsoft.com/office/drawing/2014/main" id="{10C3CF67-915C-46F7-8834-C7494C634F69}"/>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2C6CD00-4A23-4ABF-8B57-87C1C90B947C}"/>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Missing predictor values need a stated treatment.</a:t>
            </a:r>
          </a:p>
        </p:txBody>
      </p:sp>
      <p:sp>
        <p:nvSpPr>
          <p:cNvPr id="10" name="">
            <a:extLst xmlns:a="http://schemas.openxmlformats.org/drawingml/2006/main">
              <a:ext uri="{FF2B5EF4-FFF2-40B4-BE49-F238E27FC236}">
                <a16:creationId xmlns:a16="http://schemas.microsoft.com/office/drawing/2014/main" id="{A5713F49-578D-4A12-A568-7A374A8C8639}"/>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4463AF75-F651-4FB0-8473-CCE580748F1D}"/>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Report fold scores and their variation, not just the best fold.</a:t>
            </a:r>
          </a:p>
        </p:txBody>
      </p:sp>
      <p:sp>
        <p:nvSpPr>
          <p:cNvPr id="12" name="">
            <a:extLst xmlns:a="http://schemas.openxmlformats.org/drawingml/2006/main">
              <a:ext uri="{FF2B5EF4-FFF2-40B4-BE49-F238E27FC236}">
                <a16:creationId xmlns:a16="http://schemas.microsoft.com/office/drawing/2014/main" id="{A312403B-17A6-4EB5-8A2B-FC9F4EEAD4D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27</a:t>
            </a:r>
          </a:p>
        </p:txBody>
      </p:sp>
    </p:spTree>
    <p:extLst>
      <p:ext uri="{BB962C8B-B14F-4D97-AF65-F5344CB8AC3E}">
        <p14:creationId xmlns:p14="http://schemas.microsoft.com/office/powerpoint/2010/main" val="1418916794"/>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7CF8F81-9CF1-4F92-A972-C3688D878C7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CFD13BE-0FE4-43AD-8642-51C25553A38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B1EF35F-7F78-4511-8894-96CEC6E1B78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Interpreting validation results continued</a:t>
            </a:r>
          </a:p>
        </p:txBody>
      </p:sp>
      <p:sp>
        <p:nvSpPr>
          <p:cNvPr id="4" name="">
            <a:extLst xmlns:a="http://schemas.openxmlformats.org/drawingml/2006/main">
              <a:ext uri="{FF2B5EF4-FFF2-40B4-BE49-F238E27FC236}">
                <a16:creationId xmlns:a16="http://schemas.microsoft.com/office/drawing/2014/main" id="{C3290D64-9BA2-4B9A-A788-14B79E57782A}"/>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FB6CDE7-83C9-4895-9071-E96F8962025D}"/>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Group related observations together when the deployment goal is new equipment.</a:t>
            </a:r>
          </a:p>
        </p:txBody>
      </p:sp>
      <p:sp>
        <p:nvSpPr>
          <p:cNvPr id="6" name="">
            <a:extLst xmlns:a="http://schemas.openxmlformats.org/drawingml/2006/main">
              <a:ext uri="{FF2B5EF4-FFF2-40B4-BE49-F238E27FC236}">
                <a16:creationId xmlns:a16="http://schemas.microsoft.com/office/drawing/2014/main" id="{7594287A-EC45-4CDD-8E08-DF8744F6055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28</a:t>
            </a:r>
          </a:p>
        </p:txBody>
      </p:sp>
    </p:spTree>
    <p:extLst>
      <p:ext uri="{BB962C8B-B14F-4D97-AF65-F5344CB8AC3E}">
        <p14:creationId xmlns:p14="http://schemas.microsoft.com/office/powerpoint/2010/main" val="939311609"/>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099A220-5220-4A68-94A1-CFDFA2E5F80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1C4662D-48C6-40BF-BFB6-A3E0B5A7112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550398E4-B290-4CE2-8BEE-960DE85BE1B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02AD523F-D399-411E-B81D-2B42AA46E76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B98877D-5F4C-42EA-A3AC-87DEBBE708CF}"/>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Investigate crusher energy demand.</a:t>
            </a:r>
          </a:p>
        </p:txBody>
      </p:sp>
      <p:sp>
        <p:nvSpPr>
          <p:cNvPr id="6" name="">
            <a:extLst xmlns:a="http://schemas.openxmlformats.org/drawingml/2006/main">
              <a:ext uri="{FF2B5EF4-FFF2-40B4-BE49-F238E27FC236}">
                <a16:creationId xmlns:a16="http://schemas.microsoft.com/office/drawing/2014/main" id="{3164B776-2CCF-48CF-A4F7-0AC801B16B2C}"/>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76C3A72-DEF3-429C-9EB8-78A5BEE58CA5}"/>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Target units: kWh/t.</a:t>
            </a:r>
          </a:p>
        </p:txBody>
      </p:sp>
      <p:sp>
        <p:nvSpPr>
          <p:cNvPr id="8" name="">
            <a:extLst xmlns:a="http://schemas.openxmlformats.org/drawingml/2006/main">
              <a:ext uri="{FF2B5EF4-FFF2-40B4-BE49-F238E27FC236}">
                <a16:creationId xmlns:a16="http://schemas.microsoft.com/office/drawing/2014/main" id="{83110650-8198-450B-BC9C-845C366522BF}"/>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5929E4C-32B0-4CD5-866F-F0582C60AEE3}"/>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synthetic teaching records, not measurements suitable for deployment.</a:t>
            </a:r>
          </a:p>
        </p:txBody>
      </p:sp>
      <p:sp>
        <p:nvSpPr>
          <p:cNvPr id="10" name="">
            <a:extLst xmlns:a="http://schemas.openxmlformats.org/drawingml/2006/main">
              <a:ext uri="{FF2B5EF4-FFF2-40B4-BE49-F238E27FC236}">
                <a16:creationId xmlns:a16="http://schemas.microsoft.com/office/drawing/2014/main" id="{72A9F9B9-1164-4354-BBCC-369814438FC9}"/>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7EA8BAD5-A3CC-48EC-B0AC-F433F22017B8}"/>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record is one operating observation; equipment_id repeats across observations.</a:t>
            </a:r>
          </a:p>
        </p:txBody>
      </p:sp>
      <p:sp>
        <p:nvSpPr>
          <p:cNvPr id="12" name="">
            <a:extLst xmlns:a="http://schemas.openxmlformats.org/drawingml/2006/main">
              <a:ext uri="{FF2B5EF4-FFF2-40B4-BE49-F238E27FC236}">
                <a16:creationId xmlns:a16="http://schemas.microsoft.com/office/drawing/2014/main" id="{7A23AC45-BFC3-4847-A2F3-1A94E053078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29</a:t>
            </a:r>
          </a:p>
        </p:txBody>
      </p:sp>
    </p:spTree>
    <p:extLst>
      <p:ext uri="{BB962C8B-B14F-4D97-AF65-F5344CB8AC3E}">
        <p14:creationId xmlns:p14="http://schemas.microsoft.com/office/powerpoint/2010/main" val="1147624525"/>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3B7D3D4-4770-43DC-8761-1C26F507BAA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5085E99-A519-4783-A478-DB5FE5437A1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34765A83-5A77-47DA-9269-9EDDA6C68FD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group_split(records)</a:t>
            </a:r>
          </a:p>
        </p:txBody>
      </p:sp>
      <p:sp>
        <p:nvSpPr>
          <p:cNvPr id="4" name="">
            <a:extLst xmlns:a="http://schemas.openxmlformats.org/drawingml/2006/main">
              <a:ext uri="{FF2B5EF4-FFF2-40B4-BE49-F238E27FC236}">
                <a16:creationId xmlns:a16="http://schemas.microsoft.com/office/drawing/2014/main" id="{C1EAD9C0-CC49-4C3D-BA7B-EDCCC63A5A2A}"/>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4B2C8DF-FC8B-4FF2-AC14-BDAB3310AFBB}"/>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Assign whole equipment groups: E1–E4 to train, E5 to validation, E6 to test.</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train, validation and test lists of record_id in input order.</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Do not use target values to choose membership.</a:t>
            </a:r>
          </a:p>
        </p:txBody>
      </p:sp>
      <p:sp>
        <p:nvSpPr>
          <p:cNvPr id="6" name="">
            <a:extLst xmlns:a="http://schemas.openxmlformats.org/drawingml/2006/main">
              <a:ext uri="{FF2B5EF4-FFF2-40B4-BE49-F238E27FC236}">
                <a16:creationId xmlns:a16="http://schemas.microsoft.com/office/drawing/2014/main" id="{EBBD1BD3-EC67-4EC2-9997-2E24B9CCAE04}"/>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556143F2-517E-4A05-BAD0-E028FE3C370A}"/>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12C28A62-6FEE-4A63-98CB-5178F1E954A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30</a:t>
            </a:r>
          </a:p>
        </p:txBody>
      </p:sp>
    </p:spTree>
    <p:extLst>
      <p:ext uri="{BB962C8B-B14F-4D97-AF65-F5344CB8AC3E}">
        <p14:creationId xmlns:p14="http://schemas.microsoft.com/office/powerpoint/2010/main" val="710658227"/>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136B97D-2DA9-482F-A063-34A10780B2A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F719D3C-9ADF-4077-A223-ACB240C8DAA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072B2FF3-B453-4A9B-B2B7-2EA889B2D0F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predict_regression(training_records, feature_records)</a:t>
            </a:r>
          </a:p>
        </p:txBody>
      </p:sp>
      <p:sp>
        <p:nvSpPr>
          <p:cNvPr id="4" name="">
            <a:extLst xmlns:a="http://schemas.openxmlformats.org/drawingml/2006/main">
              <a:ext uri="{FF2B5EF4-FFF2-40B4-BE49-F238E27FC236}">
                <a16:creationId xmlns:a16="http://schemas.microsoft.com/office/drawing/2014/main" id="{9B9A453E-13BA-418E-885F-565AEE66E885}"/>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F99DE95-656A-44CB-A8A9-601B9A6F8EE2}"/>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Fit a training-mean baseline, linear regression and a decision tree (max_depth=4, random_state=17) using load_pct and ambient_c only.</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three prediction lists under baseline, linear and tree.</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Feature records have no target.</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Fit preprocessing only on training data.</a:t>
            </a:r>
          </a:p>
        </p:txBody>
      </p:sp>
      <p:sp>
        <p:nvSpPr>
          <p:cNvPr id="6" name="">
            <a:extLst xmlns:a="http://schemas.openxmlformats.org/drawingml/2006/main">
              <a:ext uri="{FF2B5EF4-FFF2-40B4-BE49-F238E27FC236}">
                <a16:creationId xmlns:a16="http://schemas.microsoft.com/office/drawing/2014/main" id="{FB43FF8B-8BF9-470D-A184-BB70BA5C71FB}"/>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22F1125A-BD19-499A-A17C-C058E13EB5B8}"/>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3AB03F42-65D7-4FD4-AE2B-5A23C002658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31</a:t>
            </a:r>
          </a:p>
        </p:txBody>
      </p:sp>
    </p:spTree>
    <p:extLst>
      <p:ext uri="{BB962C8B-B14F-4D97-AF65-F5344CB8AC3E}">
        <p14:creationId xmlns:p14="http://schemas.microsoft.com/office/powerpoint/2010/main" val="205902788"/>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C21C909-7338-4CFD-8C91-C06C2134C8B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2E403F9-9C92-4F40-8885-2AB41471B07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109E3121-C8BC-48D8-97FD-644D4E20DC8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431AF21E-86C8-4783-A16A-37280942219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B52DF85-E4A3-4C28-B7B4-C1D841B4AF38}"/>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57E11A20-95BC-4825-A18E-337741BED8EF}"/>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0943913-69F8-473C-B1CF-36FF552DDF99}"/>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39B3EDBA-4456-46B5-BE1E-0230A4736B7E}"/>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782960F-BE2D-431C-BB59-ED1A23B0FE6B}"/>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ED187757-3C8A-490A-BC8D-F547F4B3272F}"/>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D3C6E588-077D-4A61-9761-D5239FFAAA38}"/>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C87C3E6A-7835-4A15-B6E5-F6C218D55BE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32</a:t>
            </a:r>
          </a:p>
        </p:txBody>
      </p:sp>
    </p:spTree>
    <p:extLst>
      <p:ext uri="{BB962C8B-B14F-4D97-AF65-F5344CB8AC3E}">
        <p14:creationId xmlns:p14="http://schemas.microsoft.com/office/powerpoint/2010/main" val="830607406"/>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6F7318A9-CDE7-4C6A-BFCC-7321CA277E4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1B8A02A-8858-4DA1-BC00-379D5132D10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2B538226-DE21-45C4-A596-EC3E0CBBD8E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Validation and trust submission</a:t>
            </a:r>
          </a:p>
        </p:txBody>
      </p:sp>
      <p:sp>
        <p:nvSpPr>
          <p:cNvPr id="4" name="">
            <a:extLst xmlns:a="http://schemas.openxmlformats.org/drawingml/2006/main">
              <a:ext uri="{FF2B5EF4-FFF2-40B4-BE49-F238E27FC236}">
                <a16:creationId xmlns:a16="http://schemas.microsoft.com/office/drawing/2014/main" id="{46AE8D12-960B-492B-A0F5-7BD97B8A32EB}"/>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A644D33-F8B5-4DF9-A743-387B98E3ED2B}"/>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13 Nov 2026, 08:00 Kampala</a:t>
            </a:r>
          </a:p>
        </p:txBody>
      </p:sp>
      <p:sp>
        <p:nvSpPr>
          <p:cNvPr id="6" name="">
            <a:extLst xmlns:a="http://schemas.openxmlformats.org/drawingml/2006/main">
              <a:ext uri="{FF2B5EF4-FFF2-40B4-BE49-F238E27FC236}">
                <a16:creationId xmlns:a16="http://schemas.microsoft.com/office/drawing/2014/main" id="{BD59EE01-2796-4D4E-A1F2-732BE8E7FD39}"/>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6C33714-B50B-42F5-97F8-265C098C530E}"/>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20 Nov 2026, 08:00 Kampala</a:t>
            </a:r>
          </a:p>
        </p:txBody>
      </p:sp>
      <p:sp>
        <p:nvSpPr>
          <p:cNvPr id="8" name="">
            <a:extLst xmlns:a="http://schemas.openxmlformats.org/drawingml/2006/main">
              <a:ext uri="{FF2B5EF4-FFF2-40B4-BE49-F238E27FC236}">
                <a16:creationId xmlns:a16="http://schemas.microsoft.com/office/drawing/2014/main" id="{C12D51B3-1A04-4B6E-9EC7-13424A9357B5}"/>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4143222-76E2-420A-AE74-4F46FDE930A8}"/>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49A8BF01-1546-48EC-BFC7-51C9EFDF7732}"/>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CD1E351-B03B-45D6-9887-54B13BE1C7D0}"/>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CDF99EF0-EB8F-4A45-981E-1212D49E32A9}"/>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F0663AA6-2BB1-4226-B731-6BB480ABB5C7}"/>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9ceb773d46104202"/>
              </a:rPr>
              <a:t>Open W10 assignment form</a:t>
            </a:r>
          </a:p>
        </p:txBody>
      </p:sp>
      <p:sp>
        <p:nvSpPr>
          <p:cNvPr id="14" name="">
            <a:extLst xmlns:a="http://schemas.openxmlformats.org/drawingml/2006/main">
              <a:ext uri="{FF2B5EF4-FFF2-40B4-BE49-F238E27FC236}">
                <a16:creationId xmlns:a16="http://schemas.microsoft.com/office/drawing/2014/main" id="{C6D67EE4-DBD9-4623-98A4-2E389322F5F4}"/>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https://docs.google.com/forms/d/e/1FAIpQLSd0PIGgcund5zKvqtctB1dz7pekt8hubl0ZUrFL-BJc9bKGlQ/viewform</a:t>
            </a:r>
          </a:p>
        </p:txBody>
      </p:sp>
      <p:sp>
        <p:nvSpPr>
          <p:cNvPr id="15" name="">
            <a:extLst xmlns:a="http://schemas.openxmlformats.org/drawingml/2006/main">
              <a:ext uri="{FF2B5EF4-FFF2-40B4-BE49-F238E27FC236}">
                <a16:creationId xmlns:a16="http://schemas.microsoft.com/office/drawing/2014/main" id="{EB793D8F-89EA-435A-8EA6-9D04C27DFBF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33</a:t>
            </a:r>
          </a:p>
        </p:txBody>
      </p:sp>
    </p:spTree>
    <p:extLst>
      <p:ext uri="{BB962C8B-B14F-4D97-AF65-F5344CB8AC3E}">
        <p14:creationId xmlns:p14="http://schemas.microsoft.com/office/powerpoint/2010/main" val="158373481"/>
      </p:ext>
    </p:extLst>
  </p:cSld>
</p:sld>
</file>

<file path=ppt/slides/slide34.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8" name="">
            <a:extLst>
              <a:ext uri="{FF2B5EF4-FFF2-40B4-BE49-F238E27FC236}">
                <ns2:creationId id="{76DA30DB-D8D6-4929-AA57-BF60BEAA2203}"/>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7CBBE345-FAD5-4080-9949-25A61DE0D7C4}"/>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a:ext uri="{FF2B5EF4-FFF2-40B4-BE49-F238E27FC236}">
                <ns2:creationId id="{109054F9-CE7A-4822-BC1B-F980188849EB}"/>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Week 10 quiz</a:t>
            </a:r>
          </a:p>
        </p:txBody>
      </p:sp>
      <p:sp>
        <p:nvSpPr>
          <p:cNvPr id="4" name="">
            <a:extLst>
              <a:ext uri="{FF2B5EF4-FFF2-40B4-BE49-F238E27FC236}">
                <ns2:creationId id="{ABAA1747-9E89-4835-A76B-43895C0C8002}"/>
              </a:ext>
            </a:extLst>
          </p:cNvPr>
          <p:cNvSpPr>
            <a:spLocks noGrp="1"/>
          </p:cNvSpPr>
          <p:nvPr/>
        </p:nvSpPr>
        <p:spPr>
          <a:xfrm>
            <a:off x="590550" y="172402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a:ext uri="{FF2B5EF4-FFF2-40B4-BE49-F238E27FC236}">
                <ns2:creationId id="{B1B5AA15-6C31-466E-BAA2-6FCECC2803E4}"/>
              </a:ext>
            </a:extLst>
          </p:cNvPr>
          <p:cNvSpPr>
            <a:spLocks noGrp="1"/>
          </p:cNvSpPr>
          <p:nvPr/>
        </p:nvSpPr>
        <p:spPr>
          <a:xfrm>
            <a:off x="1381125" y="1724025"/>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a:ext uri="{FF2B5EF4-FFF2-40B4-BE49-F238E27FC236}">
                <ns2:creationId id="{81BB9CB0-30AF-4E80-94A2-DCF78307E5E3}"/>
              </a:ext>
            </a:extLst>
          </p:cNvPr>
          <p:cNvSpPr>
            <a:spLocks noGrp="1"/>
          </p:cNvSpPr>
          <p:nvPr/>
        </p:nvSpPr>
        <p:spPr>
          <a:xfrm>
            <a:off x="590550" y="2521744"/>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a:ext uri="{FF2B5EF4-FFF2-40B4-BE49-F238E27FC236}">
                <ns2:creationId id="{7F04ACBC-BBD3-426F-82C9-C4AE46ED906D}"/>
              </a:ext>
            </a:extLst>
          </p:cNvPr>
          <p:cNvSpPr>
            <a:spLocks noGrp="1"/>
          </p:cNvSpPr>
          <p:nvPr/>
        </p:nvSpPr>
        <p:spPr>
          <a:xfrm>
            <a:off x="1381125" y="2521744"/>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a:ext uri="{FF2B5EF4-FFF2-40B4-BE49-F238E27FC236}">
                <ns2:creationId id="{26AFB68C-3452-4835-B56B-07CB9D054007}"/>
              </a:ext>
            </a:extLst>
          </p:cNvPr>
          <p:cNvSpPr>
            <a:spLocks noGrp="1"/>
          </p:cNvSpPr>
          <p:nvPr/>
        </p:nvSpPr>
        <p:spPr>
          <a:xfrm>
            <a:off x="590550" y="3319463"/>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a:ext uri="{FF2B5EF4-FFF2-40B4-BE49-F238E27FC236}">
                <ns2:creationId id="{2AB57597-1FB5-42DC-8A3D-E3761D1FF106}"/>
              </a:ext>
            </a:extLst>
          </p:cNvPr>
          <p:cNvSpPr>
            <a:spLocks noGrp="1"/>
          </p:cNvSpPr>
          <p:nvPr/>
        </p:nvSpPr>
        <p:spPr>
          <a:xfrm>
            <a:off x="1381125" y="3319463"/>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a:ext uri="{FF2B5EF4-FFF2-40B4-BE49-F238E27FC236}">
                <ns2:creationId id="{B0AEE7E5-84C0-45B4-BFC6-02B4DD0700E0}"/>
              </a:ext>
            </a:extLst>
          </p:cNvPr>
          <p:cNvSpPr>
            <a:spLocks noGrp="1"/>
          </p:cNvSpPr>
          <p:nvPr/>
        </p:nvSpPr>
        <p:spPr>
          <a:xfrm>
            <a:off x="590550" y="4117181"/>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a:ext uri="{FF2B5EF4-FFF2-40B4-BE49-F238E27FC236}">
                <ns2:creationId id="{D498628F-896E-4694-898C-941797812396}"/>
              </a:ext>
            </a:extLst>
          </p:cNvPr>
          <p:cNvSpPr>
            <a:spLocks noGrp="1"/>
          </p:cNvSpPr>
          <p:nvPr/>
        </p:nvSpPr>
        <p:spPr>
          <a:xfrm>
            <a:off x="1381125" y="4117181"/>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announced quiz closing time.</a:t>
            </a:r>
          </a:p>
        </p:txBody>
      </p:sp>
      <p:pic>
        <p:nvPicPr>
          <p:cNvPr id="29" name=""/>
          <p:cNvPicPr>
            <a:picLocks noChangeAspect="1"/>
          </p:cNvPicPr>
          <p:nvPr/>
        </p:nvPicPr>
        <p:blipFill>
          <a:blip r:embed="R0aa9be3756d24813"/>
          <a:stretch/>
        </p:blipFill>
        <p:spPr>
          <a:xfrm>
            <a:off x="9134475" y="2095500"/>
            <a:ext cx="2190750" cy="2190750"/>
          </a:xfrm>
          <a:prstGeom prst="rect">
            <a:avLst/>
          </a:prstGeom>
        </p:spPr>
      </p:pic>
      <p:sp>
        <p:nvSpPr>
          <p:cNvPr id="13" name="">
            <a:extLst>
              <a:ext uri="{FF2B5EF4-FFF2-40B4-BE49-F238E27FC236}">
                <ns2:creationId id="{731F2B78-B5BC-4EB5-84B7-AF46BFB88B1E}"/>
              </a:ext>
            </a:extLst>
          </p:cNvPr>
          <p:cNvSpPr>
            <a:spLocks noGrp="1"/>
          </p:cNvSpPr>
          <p:nvPr/>
        </p:nvSpPr>
        <p:spPr>
          <a:xfrm>
            <a:off x="9239250" y="4400550"/>
            <a:ext cx="2190750" cy="381000"/>
          </a:xfrm>
          <a:prstGeom prst="rect">
            <a:avLst/>
          </a:prstGeom>
          <a:noFill/>
          <a:ln w="0">
            <a:noFill/>
          </a:ln>
        </p:spPr>
        <p:txBody>
          <a:bodyPr>
            <a:noAutofit/>
          </a:bodyPr>
          <a:lstStyle/>
          <a:p>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a:ext uri="{FF2B5EF4-FFF2-40B4-BE49-F238E27FC236}">
                <ns2:creationId id="{B4FFCD94-F255-4D3F-930F-9AF029587E4E}"/>
              </a:ext>
            </a:extLst>
          </p:cNvPr>
          <p:cNvSpPr>
            <a:spLocks noGrp="1"/>
          </p:cNvSpPr>
          <p:nvPr/>
        </p:nvSpPr>
        <p:spPr>
          <a:xfrm>
            <a:off x="590550" y="5143500"/>
            <a:ext cx="11010900" cy="657225"/>
          </a:xfrm>
          <a:prstGeom prst="rect">
            <a:avLst/>
          </a:prstGeom>
          <a:solidFill>
            <a:srgbClr val="E5F1EE"/>
          </a:solidFill>
          <a:ln w="0">
            <a:noFill/>
          </a:ln>
        </p:spPr>
      </p:sp>
      <p:sp>
        <p:nvSpPr>
          <p:cNvPr id="15" name="">
            <a:extLst>
              <a:ext uri="{FF2B5EF4-FFF2-40B4-BE49-F238E27FC236}">
                <ns2:creationId id="{B6DEDAF5-4687-4548-BFD9-C3FEBD583D12}"/>
              </a:ext>
            </a:extLst>
          </p:cNvPr>
          <p:cNvSpPr>
            <a:spLocks noGrp="1"/>
          </p:cNvSpPr>
          <p:nvPr/>
        </p:nvSpPr>
        <p:spPr>
          <a:xfrm>
            <a:off x="800100" y="5267325"/>
            <a:ext cx="10572750" cy="457200"/>
          </a:xfrm>
          <a:prstGeom prst="rect">
            <a:avLst/>
          </a:prstGeom>
          <a:noFill/>
          <a:ln w="0">
            <a:noFill/>
          </a:ln>
        </p:spPr>
        <p:txBody>
          <a:bodyPr>
            <a:noAutofit/>
          </a:bodyPr>
          <a:lstStyle/>
          <a:p>
            <a:pPr>
              <a:defRPr sz="2250" b="1">
                <a:solidFill>
                  <a:srgbClr val="2E7D6F"/>
                </a:solidFill>
                <a:latin typeface="Calibri"/>
                <a:ea typeface="Calibri"/>
                <a:cs typeface="Calibri"/>
              </a:defRPr>
            </a:pPr>
            <a:r>
              <a:rPr sz="2250" b="1">
                <a:solidFill>
                  <a:srgbClr val="2E7D6F"/>
                </a:solidFill>
                <a:latin typeface="Calibri"/>
                <a:ea typeface="Calibri"/>
                <a:cs typeface="Calibri"/>
                <a:hlinkClick r:id="Rda292dcdc4ac4eb6"/>
              </a:rPr>
              <a:t>Open this week’s quiz</a:t>
            </a:r>
          </a:p>
        </p:txBody>
      </p:sp>
      <p:sp>
        <p:nvSpPr>
          <p:cNvPr id="16" name="">
            <a:extLst>
              <a:ext uri="{FF2B5EF4-FFF2-40B4-BE49-F238E27FC236}">
                <ns2:creationId id="{59B4DAF0-127E-4F2A-94CC-E4BCA9C6B7CB}"/>
              </a:ext>
            </a:extLst>
          </p:cNvPr>
          <p:cNvSpPr>
            <a:spLocks noGrp="1"/>
          </p:cNvSpPr>
          <p:nvPr/>
        </p:nvSpPr>
        <p:spPr>
          <a:xfrm>
            <a:off x="685800" y="5972175"/>
            <a:ext cx="10668000" cy="304800"/>
          </a:xfrm>
          <a:prstGeom prst="rect">
            <a:avLst/>
          </a:prstGeom>
          <a:noFill/>
          <a:ln w="0">
            <a:noFill/>
          </a:ln>
        </p:spPr>
        <p:txBody>
          <a:bodyPr>
            <a:noAutofit/>
          </a:bodyPr>
          <a:lstStyle/>
          <a:p>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https://forms.gle/LQPALyRC3uRvZqDJ8</a:t>
            </a:r>
          </a:p>
        </p:txBody>
      </p:sp>
      <p:sp>
        <p:nvSpPr>
          <p:cNvPr id="17" name="">
            <a:extLst>
              <a:ext uri="{FF2B5EF4-FFF2-40B4-BE49-F238E27FC236}">
                <ns2:creationId id="{878FE447-822F-40E0-B4A9-42748740A186}"/>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34</a:t>
            </a:r>
          </a:p>
        </p:txBody>
      </p:sp>
    </p:spTree>
    <p:extLst>
      <p:ext uri="{BB962C8B-B14F-4D97-AF65-F5344CB8AC3E}">
        <ns4:creationId val="1955501208"/>
      </p:ext>
    </p:extLst>
  </p:cSld>
</p:sld>
</file>

<file path=ppt/slides/slide35.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1C3144"/>
        </a:solidFill>
      </p:bgPr>
    </p:bg>
    <p:spTree>
      <p:nvGrpSpPr>
        <p:cNvPr id="1" name=""/>
        <p:cNvGrpSpPr/>
        <p:nvPr/>
      </p:nvGrpSpPr>
      <p:grpSpPr>
        <a:xfrm/>
      </p:grpSpPr>
      <p:sp>
        <p:nvSpPr>
          <p:cNvPr id="7" name="">
            <a:extLst>
              <a:ext uri="{FF2B5EF4-FFF2-40B4-BE49-F238E27FC236}">
                <ns2:creationId id="{852756D4-A965-4AF6-A7C9-B021A0E175B8}"/>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a:ext uri="{FF2B5EF4-FFF2-40B4-BE49-F238E27FC236}">
                <ns2:creationId id="{3E0AFFB4-0F50-4E61-89C2-2F615442BD66}"/>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a:ext uri="{FF2B5EF4-FFF2-40B4-BE49-F238E27FC236}">
                <ns2:creationId id="{3EDF549C-2D09-4FFF-8B96-667DB9433FDD}"/>
              </a:ext>
            </a:extLst>
          </p:cNvPr>
          <p:cNvSpPr>
            <a:spLocks noGrp="1"/>
          </p:cNvSpPr>
          <p:nvPr/>
        </p:nvSpPr>
        <p:spPr>
          <a:xfrm>
            <a:off x="619125" y="1619250"/>
            <a:ext cx="2857500" cy="495300"/>
          </a:xfrm>
          <a:prstGeom prst="rect">
            <a:avLst/>
          </a:prstGeom>
          <a:noFill/>
          <a:ln w="0">
            <a:noFill/>
          </a:ln>
        </p:spPr>
        <p:txBody>
          <a:bodyPr>
            <a:noAutofit/>
          </a:bodyPr>
          <a:lstStyle/>
          <a:p>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a:ext uri="{FF2B5EF4-FFF2-40B4-BE49-F238E27FC236}">
                <ns2:creationId id="{4E4D4ECE-1F27-491C-A3BF-AF9DB1B4ADD8}"/>
              </a:ext>
            </a:extLst>
          </p:cNvPr>
          <p:cNvSpPr>
            <a:spLocks noGrp="1"/>
          </p:cNvSpPr>
          <p:nvPr/>
        </p:nvSpPr>
        <p:spPr>
          <a:xfrm>
            <a:off x="619125" y="2295525"/>
            <a:ext cx="10810875" cy="3095625"/>
          </a:xfrm>
          <a:prstGeom prst="rect">
            <a:avLst/>
          </a:prstGeom>
          <a:noFill/>
          <a:ln w="0">
            <a:noFill/>
          </a:ln>
        </p:spPr>
        <p:txBody>
          <a:bodyPr>
            <a:noAutofit/>
          </a:bodyPr>
          <a:lstStyle/>
          <a:p>
            <a:pPr>
              <a:defRPr sz="2850" b="0">
                <a:solidFill>
                  <a:srgbClr val="FFFFFF"/>
                </a:solidFill>
                <a:latin typeface="Calibri"/>
                <a:ea typeface="Calibri"/>
                <a:cs typeface="Calibri"/>
              </a:defRPr>
            </a:pPr>
            <a:r>
              <a:rPr sz="2850" b="0">
                <a:solidFill>
                  <a:srgbClr val="FFFFFF"/>
                </a:solidFill>
                <a:latin typeface="Calibri"/>
                <a:ea typeface="Calibri"/>
                <a:cs typeface="Calibri"/>
              </a:rPr>
              <a:t>You can identify which records may influence preprocessing and model selection.</a:t>
            </a:r>
          </a:p>
          <a:p>
            <a:r>
              <a:t/>
            </a:r>
          </a:p>
          <a:p>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a:ext uri="{FF2B5EF4-FFF2-40B4-BE49-F238E27FC236}">
                <ns2:creationId id="{D63D3FEC-6137-4EB6-AAF2-1B10B031E6CB}"/>
              </a:ext>
            </a:extLst>
          </p:cNvPr>
          <p:cNvSpPr>
            <a:spLocks noGrp="1"/>
          </p:cNvSpPr>
          <p:nvPr/>
        </p:nvSpPr>
        <p:spPr>
          <a:xfrm>
            <a:off x="619125" y="5791200"/>
            <a:ext cx="10810875" cy="542925"/>
          </a:xfrm>
          <a:prstGeom prst="rect">
            <a:avLst/>
          </a:prstGeom>
          <a:noFill/>
          <a:ln w="0">
            <a:noFill/>
          </a:ln>
        </p:spPr>
        <p:txBody>
          <a:bodyPr>
            <a:noAutofit/>
          </a:bodyPr>
          <a:lstStyle/>
          <a:p>
            <a:pPr>
              <a:defRPr sz="1800" b="0">
                <a:solidFill>
                  <a:srgbClr val="BBCDD9"/>
                </a:solidFill>
                <a:latin typeface="Calibri"/>
                <a:ea typeface="Calibri"/>
                <a:cs typeface="Calibri"/>
              </a:defRPr>
            </a:pPr>
            <a:r>
              <a:rPr sz="1800" b="0">
                <a:solidFill>
                  <a:srgbClr val="BBCDD9"/>
                </a:solidFill>
                <a:latin typeface="Calibri"/>
                <a:ea typeface="Calibri"/>
                <a:cs typeface="Calibri"/>
              </a:rPr>
              <a:t>Check your answers against the example, then save your work.</a:t>
            </a:r>
          </a:p>
        </p:txBody>
      </p:sp>
      <p:sp>
        <p:nvSpPr>
          <p:cNvPr id="6" name="">
            <a:extLst>
              <a:ext uri="{FF2B5EF4-FFF2-40B4-BE49-F238E27FC236}">
                <ns2:creationId id="{5D3A0C45-E7FB-4577-B8B7-ECBCA48F9BFA}"/>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10   35</a:t>
            </a:r>
          </a:p>
        </p:txBody>
      </p:sp>
    </p:spTree>
    <p:extLst>
      <p:ext uri="{BB962C8B-B14F-4D97-AF65-F5344CB8AC3E}">
        <ns3:creationId val="747253666"/>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51AA34F5-9CAC-4808-B99B-2A1A22F4189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A4321E2-5BF5-43B2-8A67-9D7AF303544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0E5F6FD8-EE7C-404C-BB0A-E82075AD936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F0B4313E-EEF5-49DB-BEC4-21759D5719D6}"/>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1C4D301-3266-485B-A9AC-855D792691AD}"/>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0733ECEB-9643-4E7D-9C6D-D169EE6A4E49}"/>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9A9C3C3-1700-4D52-89AC-435F0665725D}"/>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StatQuest with Josh Starmer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Machine Learning Fundamentals Cross Validation</a:t>
            </a:r>
          </a:p>
        </p:txBody>
      </p:sp>
      <p:sp>
        <p:nvSpPr>
          <p:cNvPr id="8" name="">
            <a:extLst xmlns:a="http://schemas.openxmlformats.org/drawingml/2006/main">
              <a:ext uri="{FF2B5EF4-FFF2-40B4-BE49-F238E27FC236}">
                <a16:creationId xmlns:a16="http://schemas.microsoft.com/office/drawing/2014/main" id="{ECACE0D0-46E3-4E34-8501-9B846B85131E}"/>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3FC031C-4F01-411D-8EA2-EDF8766458BA}"/>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up to 04:00, optional preview-selected excerpt</a:t>
            </a:r>
          </a:p>
        </p:txBody>
      </p:sp>
      <p:sp>
        <p:nvSpPr>
          <p:cNvPr id="10" name="">
            <a:extLst xmlns:a="http://schemas.openxmlformats.org/drawingml/2006/main">
              <a:ext uri="{FF2B5EF4-FFF2-40B4-BE49-F238E27FC236}">
                <a16:creationId xmlns:a16="http://schemas.microsoft.com/office/drawing/2014/main" id="{C89806D2-567F-4F8C-9E40-39D87EBB24FA}"/>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4B613F1A-72CA-4C87-AC07-8135139F94A9}"/>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Why evaluate using observations not used to fit that particular model?</a:t>
            </a:r>
          </a:p>
        </p:txBody>
      </p:sp>
      <p:sp>
        <p:nvSpPr>
          <p:cNvPr id="12" name="">
            <a:extLst xmlns:a="http://schemas.openxmlformats.org/drawingml/2006/main">
              <a:ext uri="{FF2B5EF4-FFF2-40B4-BE49-F238E27FC236}">
                <a16:creationId xmlns:a16="http://schemas.microsoft.com/office/drawing/2014/main" id="{EB09E027-996B-4422-8248-F8272E291B98}"/>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E9B2D3AE-BF3C-4ACF-98F4-A9C92752E3FB}"/>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7b2d921759a64559"/>
              </a:rPr>
              <a:t>Open explainer video</a:t>
            </a:r>
          </a:p>
        </p:txBody>
      </p:sp>
      <p:sp>
        <p:nvSpPr>
          <p:cNvPr id="14" name="">
            <a:extLst xmlns:a="http://schemas.openxmlformats.org/drawingml/2006/main">
              <a:ext uri="{FF2B5EF4-FFF2-40B4-BE49-F238E27FC236}">
                <a16:creationId xmlns:a16="http://schemas.microsoft.com/office/drawing/2014/main" id="{B6AF90C4-0BD5-4AC9-9CC3-4D9CA64A13CC}"/>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https://www.youtube.com/watch?v=fSytzGwwBVw</a:t>
            </a:r>
          </a:p>
        </p:txBody>
      </p:sp>
      <p:sp>
        <p:nvSpPr>
          <p:cNvPr id="15" name="">
            <a:extLst xmlns:a="http://schemas.openxmlformats.org/drawingml/2006/main">
              <a:ext uri="{FF2B5EF4-FFF2-40B4-BE49-F238E27FC236}">
                <a16:creationId xmlns:a16="http://schemas.microsoft.com/office/drawing/2014/main" id="{9E62C07E-673A-48C9-89A9-AD2550FB90F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36</a:t>
            </a:r>
          </a:p>
        </p:txBody>
      </p:sp>
    </p:spTree>
    <p:extLst>
      <p:ext uri="{BB962C8B-B14F-4D97-AF65-F5344CB8AC3E}">
        <p14:creationId xmlns:p14="http://schemas.microsoft.com/office/powerpoint/2010/main" val="159054311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2026-09-28T21:44:07.7130000Z</dcterms:created>
  <dcterms:modified xsi:type="dcterms:W3CDTF">2026-09-28T21:44:07.7130000Z</dcterms:modified>
</coreProperties>
</file>