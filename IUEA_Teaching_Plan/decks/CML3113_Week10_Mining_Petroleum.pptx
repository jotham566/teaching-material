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adda38e74748a9" /><Relationship Type="http://schemas.openxmlformats.org/officeDocument/2006/relationships/extended-properties" Target="/docProps/app.xml" Id="R3ff51762148b4c4b" /><Relationship Type="http://schemas.openxmlformats.org/officeDocument/2006/relationships/officeDocument" Target="/ppt/presentation.xml" Id="Rfb2e88560ce44215" /></Relationships>
</file>

<file path=ppt/presentation.xml><?xml version="1.0" encoding="utf-8"?>
<p:presentation xmlns:p="http://schemas.openxmlformats.org/presentationml/2006/main">
  <p:sldMasterIdLst>
    <p:sldMasterId xmlns:r="http://schemas.openxmlformats.org/officeDocument/2006/relationships" id="2147483648" r:id="R81f7789d1e5d44d1"/>
  </p:sldMasterIdLst>
  <p:notesMasterIdLst>
    <p:notesMasterId xmlns:r="http://schemas.openxmlformats.org/officeDocument/2006/relationships" r:id="R9333b1e26668408a"/>
  </p:notesMasterIdLst>
  <p:sldIdLst>
    <p:sldId xmlns:r="http://schemas.openxmlformats.org/officeDocument/2006/relationships" id="256" r:id="R351542fb4cac4f8c"/>
    <p:sldId xmlns:r="http://schemas.openxmlformats.org/officeDocument/2006/relationships" id="257" r:id="Rf6509a8ecd354ba1"/>
    <p:sldId xmlns:r="http://schemas.openxmlformats.org/officeDocument/2006/relationships" id="258" r:id="R48de4e866d214bc5"/>
    <p:sldId xmlns:r="http://schemas.openxmlformats.org/officeDocument/2006/relationships" id="259" r:id="Raf77d0f8986f425f"/>
    <p:sldId xmlns:r="http://schemas.openxmlformats.org/officeDocument/2006/relationships" id="260" r:id="Rdbd00447369443cd"/>
    <p:sldId xmlns:r="http://schemas.openxmlformats.org/officeDocument/2006/relationships" id="261" r:id="Ra4aaefa9f06042d8"/>
    <p:sldId xmlns:r="http://schemas.openxmlformats.org/officeDocument/2006/relationships" id="262" r:id="R5c7bb80a62da4bbe"/>
    <p:sldId xmlns:r="http://schemas.openxmlformats.org/officeDocument/2006/relationships" id="263" r:id="R035460d8ec4b4a9f"/>
    <p:sldId xmlns:r="http://schemas.openxmlformats.org/officeDocument/2006/relationships" id="264" r:id="Ra1fbedbbbade4583"/>
    <p:sldId xmlns:r="http://schemas.openxmlformats.org/officeDocument/2006/relationships" id="265" r:id="R9904e8cc353940b8"/>
    <p:sldId xmlns:r="http://schemas.openxmlformats.org/officeDocument/2006/relationships" id="266" r:id="R58717766287b4891"/>
    <p:sldId xmlns:r="http://schemas.openxmlformats.org/officeDocument/2006/relationships" id="267" r:id="R53c25e5186754dc8"/>
    <p:sldId xmlns:r="http://schemas.openxmlformats.org/officeDocument/2006/relationships" id="268" r:id="Rc888c08e2e2b4c22"/>
    <p:sldId xmlns:r="http://schemas.openxmlformats.org/officeDocument/2006/relationships" id="269" r:id="R6fbe1bf3eda94529"/>
    <p:sldId xmlns:r="http://schemas.openxmlformats.org/officeDocument/2006/relationships" id="270" r:id="Rbfde49a860ca48e5"/>
    <p:sldId xmlns:r="http://schemas.openxmlformats.org/officeDocument/2006/relationships" id="271" r:id="R70e4b9c88e2e41fa"/>
    <p:sldId xmlns:r="http://schemas.openxmlformats.org/officeDocument/2006/relationships" id="272" r:id="R3f6617b72c504ece"/>
    <p:sldId xmlns:r="http://schemas.openxmlformats.org/officeDocument/2006/relationships" id="273" r:id="R371d96c128824ed0"/>
    <p:sldId xmlns:r="http://schemas.openxmlformats.org/officeDocument/2006/relationships" id="274" r:id="R97ac080e840a41a1"/>
    <p:sldId xmlns:r="http://schemas.openxmlformats.org/officeDocument/2006/relationships" id="275" r:id="Rb7ab9ea54c084631"/>
    <p:sldId xmlns:r="http://schemas.openxmlformats.org/officeDocument/2006/relationships" id="276" r:id="R16ed312b001a4f79"/>
    <p:sldId xmlns:r="http://schemas.openxmlformats.org/officeDocument/2006/relationships" id="277" r:id="R98df49a6595541e2"/>
    <p:sldId xmlns:r="http://schemas.openxmlformats.org/officeDocument/2006/relationships" id="278" r:id="R5fa8d7af72444075"/>
    <p:sldId xmlns:r="http://schemas.openxmlformats.org/officeDocument/2006/relationships" id="279" r:id="R5e845e1634ec4f29"/>
    <p:sldId xmlns:r="http://schemas.openxmlformats.org/officeDocument/2006/relationships" id="280" r:id="R522c699af4aa4148"/>
    <p:sldId xmlns:r="http://schemas.openxmlformats.org/officeDocument/2006/relationships" id="281" r:id="R2ad5b3f2f1184cc7"/>
    <p:sldId xmlns:r="http://schemas.openxmlformats.org/officeDocument/2006/relationships" id="282" r:id="R2721d702d5264ddf"/>
    <p:sldId xmlns:r="http://schemas.openxmlformats.org/officeDocument/2006/relationships" id="283" r:id="R41fcead7571e41fb"/>
    <p:sldId xmlns:r="http://schemas.openxmlformats.org/officeDocument/2006/relationships" id="284" r:id="Ra7ddff46adc942a9"/>
    <p:sldId xmlns:r="http://schemas.openxmlformats.org/officeDocument/2006/relationships" id="285" r:id="Rccf4561f43ba477f"/>
    <p:sldId xmlns:r="http://schemas.openxmlformats.org/officeDocument/2006/relationships" id="286" r:id="R6f0846b92ecc47ec"/>
    <p:sldId xmlns:r="http://schemas.openxmlformats.org/officeDocument/2006/relationships" id="287" r:id="Rf8a3dcc6f4824757"/>
    <p:sldId xmlns:r="http://schemas.openxmlformats.org/officeDocument/2006/relationships" id="288" r:id="R27421950ffef44d6"/>
    <p:sldId xmlns:r="http://schemas.openxmlformats.org/officeDocument/2006/relationships" id="289" r:id="R4d53a5de0cde4ef5"/>
    <p:sldId xmlns:r="http://schemas.openxmlformats.org/officeDocument/2006/relationships" id="290" r:id="Re8f6b55414904ed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a10c124b694822" /><Relationship Type="http://schemas.openxmlformats.org/officeDocument/2006/relationships/slideMaster" Target="/ppt/slideMasters/slideMaster1.xml" Id="R81f7789d1e5d44d1" /><Relationship Type="http://schemas.openxmlformats.org/officeDocument/2006/relationships/notesMaster" Target="/ppt/notesMasters/notesMaster1.xml" Id="R9333b1e26668408a" /><Relationship Type="http://schemas.openxmlformats.org/officeDocument/2006/relationships/presProps" Target="/ppt/presProps.xml" Id="R4a42dd2803b64207" /><Relationship Type="http://schemas.openxmlformats.org/officeDocument/2006/relationships/tableStyles" Target="/ppt/tableStyles.xml" Id="Re2284409d0824aef" /><Relationship Type="http://schemas.openxmlformats.org/officeDocument/2006/relationships/slide" Target="/ppt/slides/slide1.xml" Id="R351542fb4cac4f8c" /><Relationship Type="http://schemas.openxmlformats.org/officeDocument/2006/relationships/slide" Target="/ppt/slides/slide2.xml" Id="Rf6509a8ecd354ba1" /><Relationship Type="http://schemas.openxmlformats.org/officeDocument/2006/relationships/slide" Target="/ppt/slides/slide3.xml" Id="R48de4e866d214bc5" /><Relationship Type="http://schemas.openxmlformats.org/officeDocument/2006/relationships/slide" Target="/ppt/slides/slide4.xml" Id="Raf77d0f8986f425f" /><Relationship Type="http://schemas.openxmlformats.org/officeDocument/2006/relationships/slide" Target="/ppt/slides/slide5.xml" Id="Rdbd00447369443cd" /><Relationship Type="http://schemas.openxmlformats.org/officeDocument/2006/relationships/slide" Target="/ppt/slides/slide6.xml" Id="Ra4aaefa9f06042d8" /><Relationship Type="http://schemas.openxmlformats.org/officeDocument/2006/relationships/slide" Target="/ppt/slides/slide7.xml" Id="R5c7bb80a62da4bbe" /><Relationship Type="http://schemas.openxmlformats.org/officeDocument/2006/relationships/slide" Target="/ppt/slides/slide8.xml" Id="R035460d8ec4b4a9f" /><Relationship Type="http://schemas.openxmlformats.org/officeDocument/2006/relationships/slide" Target="/ppt/slides/slide9.xml" Id="Ra1fbedbbbade4583" /><Relationship Type="http://schemas.openxmlformats.org/officeDocument/2006/relationships/slide" Target="/ppt/slides/slide10.xml" Id="R9904e8cc353940b8" /><Relationship Type="http://schemas.openxmlformats.org/officeDocument/2006/relationships/slide" Target="/ppt/slides/slide11.xml" Id="R58717766287b4891" /><Relationship Type="http://schemas.openxmlformats.org/officeDocument/2006/relationships/slide" Target="/ppt/slides/slide12.xml" Id="R53c25e5186754dc8" /><Relationship Type="http://schemas.openxmlformats.org/officeDocument/2006/relationships/slide" Target="/ppt/slides/slide13.xml" Id="Rc888c08e2e2b4c22" /><Relationship Type="http://schemas.openxmlformats.org/officeDocument/2006/relationships/slide" Target="/ppt/slides/slide14.xml" Id="R6fbe1bf3eda94529" /><Relationship Type="http://schemas.openxmlformats.org/officeDocument/2006/relationships/slide" Target="/ppt/slides/slide15.xml" Id="Rbfde49a860ca48e5" /><Relationship Type="http://schemas.openxmlformats.org/officeDocument/2006/relationships/slide" Target="/ppt/slides/slide16.xml" Id="R70e4b9c88e2e41fa" /><Relationship Type="http://schemas.openxmlformats.org/officeDocument/2006/relationships/slide" Target="/ppt/slides/slide17.xml" Id="R3f6617b72c504ece" /><Relationship Type="http://schemas.openxmlformats.org/officeDocument/2006/relationships/slide" Target="/ppt/slides/slide18.xml" Id="R371d96c128824ed0" /><Relationship Type="http://schemas.openxmlformats.org/officeDocument/2006/relationships/slide" Target="/ppt/slides/slide19.xml" Id="R97ac080e840a41a1" /><Relationship Type="http://schemas.openxmlformats.org/officeDocument/2006/relationships/slide" Target="/ppt/slides/slide20.xml" Id="Rb7ab9ea54c084631" /><Relationship Type="http://schemas.openxmlformats.org/officeDocument/2006/relationships/slide" Target="/ppt/slides/slide21.xml" Id="R16ed312b001a4f79" /><Relationship Type="http://schemas.openxmlformats.org/officeDocument/2006/relationships/slide" Target="/ppt/slides/slide22.xml" Id="R98df49a6595541e2" /><Relationship Type="http://schemas.openxmlformats.org/officeDocument/2006/relationships/slide" Target="/ppt/slides/slide23.xml" Id="R5fa8d7af72444075" /><Relationship Type="http://schemas.openxmlformats.org/officeDocument/2006/relationships/slide" Target="/ppt/slides/slide24.xml" Id="R5e845e1634ec4f29" /><Relationship Type="http://schemas.openxmlformats.org/officeDocument/2006/relationships/slide" Target="/ppt/slides/slide25.xml" Id="R522c699af4aa4148" /><Relationship Type="http://schemas.openxmlformats.org/officeDocument/2006/relationships/slide" Target="/ppt/slides/slide26.xml" Id="R2ad5b3f2f1184cc7" /><Relationship Type="http://schemas.openxmlformats.org/officeDocument/2006/relationships/slide" Target="/ppt/slides/slide27.xml" Id="R2721d702d5264ddf" /><Relationship Type="http://schemas.openxmlformats.org/officeDocument/2006/relationships/slide" Target="/ppt/slides/slide28.xml" Id="R41fcead7571e41fb" /><Relationship Type="http://schemas.openxmlformats.org/officeDocument/2006/relationships/slide" Target="/ppt/slides/slide29.xml" Id="Ra7ddff46adc942a9" /><Relationship Type="http://schemas.openxmlformats.org/officeDocument/2006/relationships/slide" Target="/ppt/slides/slide30.xml" Id="Rccf4561f43ba477f" /><Relationship Type="http://schemas.openxmlformats.org/officeDocument/2006/relationships/slide" Target="/ppt/slides/slide31.xml" Id="R6f0846b92ecc47ec" /><Relationship Type="http://schemas.openxmlformats.org/officeDocument/2006/relationships/slide" Target="/ppt/slides/slide32.xml" Id="Rf8a3dcc6f4824757" /><Relationship Type="http://schemas.openxmlformats.org/officeDocument/2006/relationships/slide" Target="/ppt/slides/slide33.xml" Id="R27421950ffef44d6" /><Relationship Type="http://schemas.openxmlformats.org/officeDocument/2006/relationships/slide" Target="/ppt/slides/slide34.xml" Id="R4d53a5de0cde4ef5" /><Relationship Type="http://schemas.openxmlformats.org/officeDocument/2006/relationships/slide" Target="/ppt/slides/slide35.xml" Id="Re8f6b55414904ed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abd9ad82af4c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12d4e79cbb84050" /><Relationship Type="http://schemas.openxmlformats.org/officeDocument/2006/relationships/notesMaster" Target="/ppt/notesMasters/notesMaster1.xml" Id="R1a1f62426b6248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91e2c6e8532493f" /><Relationship Type="http://schemas.openxmlformats.org/officeDocument/2006/relationships/notesMaster" Target="/ppt/notesMasters/notesMaster1.xml" Id="Rfd713752cf674a6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33a47ba50d446a5" /><Relationship Type="http://schemas.openxmlformats.org/officeDocument/2006/relationships/notesMaster" Target="/ppt/notesMasters/notesMaster1.xml" Id="R27e75208923e47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269dcf9a1e44ab" /><Relationship Type="http://schemas.openxmlformats.org/officeDocument/2006/relationships/notesMaster" Target="/ppt/notesMasters/notesMaster1.xml" Id="Rd93d75437cfd4a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288d246d074abd" /><Relationship Type="http://schemas.openxmlformats.org/officeDocument/2006/relationships/notesMaster" Target="/ppt/notesMasters/notesMaster1.xml" Id="R7b1eb581d5704b0e"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ba854550984ea1" /><Relationship Type="http://schemas.openxmlformats.org/officeDocument/2006/relationships/notesMaster" Target="/ppt/notesMasters/notesMaster1.xml" Id="Ref9a97a3189c463b" /></Relationships>
</file>

<file path=ppt/notesSlides/_rels/notesSlide7.xml.rels>&#65279;<?xml version="1.0" encoding="utf-8"?><Relationships xmlns="http://schemas.openxmlformats.org/package/2006/relationships"><Relationship Type="http://schemas.openxmlformats.org/officeDocument/2006/relationships/slide" Target="/ppt/slides/slide7.xml" Id="R6c73faf679184d07" /><Relationship Type="http://schemas.openxmlformats.org/officeDocument/2006/relationships/notesMaster" Target="/ppt/notesMasters/notesMaster1.xml" Id="R9fba8e18639f47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3acbaf0dfc4443" /><Relationship Type="http://schemas.openxmlformats.org/officeDocument/2006/relationships/notesMaster" Target="/ppt/notesMasters/notesMaster1.xml" Id="R0e1e6dfe8e634b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5eb86c54be13450d" /><Relationship Type="http://schemas.openxmlformats.org/officeDocument/2006/relationships/notesMaster" Target="/ppt/notesMasters/notesMaster1.xml" Id="Rf1790dd89b7a4d8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0117a21bfa4384" /><Relationship Type="http://schemas.openxmlformats.org/officeDocument/2006/relationships/notesMaster" Target="/ppt/notesMasters/notesMaster1.xml" Id="R37437d8d2f8b49b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1724209cba74eb5" /><Relationship Type="http://schemas.openxmlformats.org/officeDocument/2006/relationships/notesMaster" Target="/ppt/notesMasters/notesMaster1.xml" Id="R3db83671c82b4ea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3a67731c12142cc" /><Relationship Type="http://schemas.openxmlformats.org/officeDocument/2006/relationships/notesMaster" Target="/ppt/notesMasters/notesMaster1.xml" Id="R87d4e5496f7e44b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f9113f5d6f24c22" /><Relationship Type="http://schemas.openxmlformats.org/officeDocument/2006/relationships/notesMaster" Target="/ppt/notesMasters/notesMaster1.xml" Id="R1dc08856ad234e9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5b11ac03c884fba" /><Relationship Type="http://schemas.openxmlformats.org/officeDocument/2006/relationships/notesMaster" Target="/ppt/notesMasters/notesMaster1.xml" Id="R4e1089931f8c41e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92995d5e1c48df" /><Relationship Type="http://schemas.openxmlformats.org/officeDocument/2006/relationships/notesMaster" Target="/ppt/notesMasters/notesMaster1.xml" Id="Rad9ee34cf4d74e4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02b500aefef4ec9" /><Relationship Type="http://schemas.openxmlformats.org/officeDocument/2006/relationships/notesMaster" Target="/ppt/notesMasters/notesMaster1.xml" Id="R6628f0c71f9f421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b625ae8d8f5401c" /><Relationship Type="http://schemas.openxmlformats.org/officeDocument/2006/relationships/notesMaster" Target="/ppt/notesMasters/notesMaster1.xml" Id="R18ea9939a1b1498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0acb1d857054e7a" /><Relationship Type="http://schemas.openxmlformats.org/officeDocument/2006/relationships/notesMaster" Target="/ppt/notesMasters/notesMaster1.xml" Id="R732a4b793b084fc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010e680cca4b67" /><Relationship Type="http://schemas.openxmlformats.org/officeDocument/2006/relationships/notesMaster" Target="/ppt/notesMasters/notesMaster1.xml" Id="Rd4dd8d4d07e2422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fc2c83b2a6e49d7" /><Relationship Type="http://schemas.openxmlformats.org/officeDocument/2006/relationships/notesMaster" Target="/ppt/notesMasters/notesMaster1.xml" Id="R99cd0af1ab9a49f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51f7fb8ffde4be8" /><Relationship Type="http://schemas.openxmlformats.org/officeDocument/2006/relationships/notesMaster" Target="/ppt/notesMasters/notesMaster1.xml" Id="R4daa1fe9f3d34e9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ddfb55495e345d3" /><Relationship Type="http://schemas.openxmlformats.org/officeDocument/2006/relationships/notesMaster" Target="/ppt/notesMasters/notesMaster1.xml" Id="R84cf6ba436a143a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eab1f2cc0c44fd0" /><Relationship Type="http://schemas.openxmlformats.org/officeDocument/2006/relationships/notesMaster" Target="/ppt/notesMasters/notesMaster1.xml" Id="Rc0fbb3d56578408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23db9c68f68430a" /><Relationship Type="http://schemas.openxmlformats.org/officeDocument/2006/relationships/notesMaster" Target="/ppt/notesMasters/notesMaster1.xml" Id="Rf1812db68e28468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f93a145bd504c8f" /><Relationship Type="http://schemas.openxmlformats.org/officeDocument/2006/relationships/notesMaster" Target="/ppt/notesMasters/notesMaster1.xml" Id="Re2ce25e1a6b9437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41c6b09161645b0" /><Relationship Type="http://schemas.openxmlformats.org/officeDocument/2006/relationships/notesMaster" Target="/ppt/notesMasters/notesMaster1.xml" Id="Rea9918b24f8f4d8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ec2b270b5114bb6" /><Relationship Type="http://schemas.openxmlformats.org/officeDocument/2006/relationships/notesMaster" Target="/ppt/notesMasters/notesMaster1.xml" Id="R2bc7db4bba6c46c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59d5db17dd94dbc" /><Relationship Type="http://schemas.openxmlformats.org/officeDocument/2006/relationships/notesMaster" Target="/ppt/notesMasters/notesMaster1.xml" Id="Raa93d1896fcf4cc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cded2691beb4505" /><Relationship Type="http://schemas.openxmlformats.org/officeDocument/2006/relationships/notesMaster" Target="/ppt/notesMasters/notesMaster1.xml" Id="R980add160c324c0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7fee17b1d4b404d" /><Relationship Type="http://schemas.openxmlformats.org/officeDocument/2006/relationships/notesMaster" Target="/ppt/notesMasters/notesMaster1.xml" Id="R699814223b524d7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9c4125d63bd400e" /><Relationship Type="http://schemas.openxmlformats.org/officeDocument/2006/relationships/notesMaster" Target="/ppt/notesMasters/notesMaster1.xml" Id="Rf8616c94a01d45b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abfce2a744f4eb3" /><Relationship Type="http://schemas.openxmlformats.org/officeDocument/2006/relationships/notesMaster" Target="/ppt/notesMasters/notesMaster1.xml" Id="R6ce30edd8e414b7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0ec71da0ecb4cea" /><Relationship Type="http://schemas.openxmlformats.org/officeDocument/2006/relationships/notesMaster" Target="/ppt/notesMasters/notesMaster1.xml" Id="Rc65062b05b7e498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d1e0e8803f04b10" /><Relationship Type="http://schemas.openxmlformats.org/officeDocument/2006/relationships/notesMaster" Target="/ppt/notesMasters/notesMaster1.xml" Id="Re1da56411c6f45e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b6650ff9d6a45c5" /><Relationship Type="http://schemas.openxmlformats.org/officeDocument/2006/relationships/notesMaster" Target="/ppt/notesMasters/notesMaster1.xml" Id="R0b085da02a954b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Honest validation and leakage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Honest validation and leakage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Honest validation and leakage. Explain why this example is needed before running it.</a:t>
            </a:r>
          </a:p>
          <a:p xmlns:a="http://schemas.openxmlformats.org/drawingml/2006/main">
            <a:r>
              <a:t/>
            </a:r>
          </a:p>
          <a:p xmlns:a="http://schemas.openxmlformats.org/drawingml/2006/main">
            <a:r>
              <a:t>EXPLAIN</a:t>
            </a:r>
          </a:p>
          <a:p xmlns:a="http://schemas.openxmlformats.org/drawingml/2006/main">
            <a:r>
              <a:t>Keep related equipment records together.</a:t>
            </a:r>
          </a:p>
          <a:p xmlns:a="http://schemas.openxmlformats.org/drawingml/2006/main">
            <a:r>
              <a:t/>
            </a:r>
          </a:p>
          <a:p xmlns:a="http://schemas.openxmlformats.org/drawingml/2006/main">
            <a:r>
              <a:t>Separate training, validation and final testing.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Honest validation and leakage.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Multiple adversarial notebooks, elaborate validation curves and several cross-validation variants are extensions after the core split is understood.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 have compared predictions with known answers. Now we control which observations may influence training, choices and the final evaluation.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We want evidence about new equipment or future observations. The way we separate data must match that use before any model or preprocessing learns from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Training validation and final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Training validation and final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validation and final test</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Training data fit the model and preprocessing.</a:t>
            </a:r>
          </a:p>
          <a:p xmlns:a="http://schemas.openxmlformats.org/drawingml/2006/main">
            <a:r>
              <a:t/>
            </a:r>
          </a:p>
          <a:p xmlns:a="http://schemas.openxmlformats.org/drawingml/2006/main">
            <a:r>
              <a:t>Validation data guide feature and model choices.</a:t>
            </a:r>
          </a:p>
          <a:p xmlns:a="http://schemas.openxmlformats.org/drawingml/2006/main">
            <a:r>
              <a:t/>
            </a:r>
          </a:p>
          <a:p xmlns:a="http://schemas.openxmlformats.org/drawingml/2006/main">
            <a:r>
              <a:t>The final test evaluates choices after they are fixed.</a:t>
            </a:r>
          </a:p>
          <a:p xmlns:a="http://schemas.openxmlformats.org/drawingml/2006/main">
            <a:r>
              <a:t/>
            </a:r>
          </a:p>
          <a:p xmlns:a="http://schemas.openxmlformats.org/drawingml/2006/main">
            <a:r>
              <a:t>A fresh test is needed if its answers influenced further choices.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Training validation and final test</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Three sets have different jobs.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Three sets have different jobs.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Three sets have different jobs</a:t>
            </a:r>
          </a:p>
          <a:p xmlns:a="http://schemas.openxmlformats.org/drawingml/2006/main">
            <a:r>
              <a:t/>
            </a:r>
          </a:p>
          <a:p xmlns:a="http://schemas.openxmlformats.org/drawingml/2006/main">
            <a:r>
              <a:t>CONNECT</a:t>
            </a:r>
          </a:p>
          <a:p xmlns:a="http://schemas.openxmlformats.org/drawingml/2006/main">
            <a:r>
              <a:t>Build on Training validation and final test. Explain why this example is needed before running it.</a:t>
            </a:r>
          </a:p>
          <a:p xmlns:a="http://schemas.openxmlformats.org/drawingml/2006/main">
            <a:r>
              <a:t/>
            </a:r>
          </a:p>
          <a:p xmlns:a="http://schemas.openxmlformats.org/drawingml/2006/main">
            <a:r>
              <a:t>EXPLAIN</a:t>
            </a:r>
          </a:p>
          <a:p xmlns:a="http://schemas.openxmlformats.org/drawingml/2006/main">
            <a:r>
              <a:t>Which set must stay sealed until choices are fixed?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Three sets have different jobs</a:t>
            </a:r>
          </a:p>
          <a:p xmlns:a="http://schemas.openxmlformats.org/drawingml/2006/main">
            <a:r>
              <a:t/>
            </a:r>
          </a:p>
          <a:p xmlns:a="http://schemas.openxmlformats.org/drawingml/2006/main">
            <a:r>
              <a:t>CONNECT</a:t>
            </a:r>
          </a:p>
          <a:p xmlns:a="http://schemas.openxmlformats.org/drawingml/2006/main">
            <a:r>
              <a:t>Build on the preceding slide: Training validation and final test.</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Generalisation and Overfitting and underfitting.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Generalisation and Overfitting and underfitting</a:t>
            </a:r>
          </a:p>
          <a:p xmlns:a="http://schemas.openxmlformats.org/drawingml/2006/main">
            <a:r>
              <a:t/>
            </a:r>
          </a:p>
          <a:p xmlns:a="http://schemas.openxmlformats.org/drawingml/2006/main">
            <a:r>
              <a:t>CONNECT</a:t>
            </a:r>
          </a:p>
          <a:p xmlns:a="http://schemas.openxmlformats.org/drawingml/2006/main">
            <a:r>
              <a:t>Build on Three sets have different jobs. Explain why this example is needed before running it.</a:t>
            </a:r>
          </a:p>
          <a:p xmlns:a="http://schemas.openxmlformats.org/drawingml/2006/main">
            <a:r>
              <a:t/>
            </a:r>
          </a:p>
          <a:p xmlns:a="http://schemas.openxmlformats.org/drawingml/2006/main">
            <a:r>
              <a:t>EXPLAIN</a:t>
            </a:r>
          </a:p>
          <a:p xmlns:a="http://schemas.openxmlformats.org/drawingml/2006/main">
            <a:r>
              <a:t>Generalisation: Performance on new cases from the intended setting, not merely on records already used.</a:t>
            </a:r>
          </a:p>
          <a:p xmlns:a="http://schemas.openxmlformats.org/drawingml/2006/main">
            <a:r>
              <a:t>Overfitting and underfitting: Overfitting captures training-specific detail that fails to transfer. Underfitting misses useful patterns. Score gaps are clues, not a complete diagnosis.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Three sets have different jobs.</a:t>
            </a:r>
          </a:p>
          <a:p xmlns:a="http://schemas.openxmlformats.org/drawingml/2006/main">
            <a:r>
              <a:t/>
            </a:r>
          </a:p>
          <a:p xmlns:a="http://schemas.openxmlformats.org/drawingml/2006/main">
            <a:r>
              <a:t>POINT TO THE DEFINITION</a:t>
            </a:r>
          </a:p>
          <a:p xmlns:a="http://schemas.openxmlformats.org/drawingml/2006/main">
            <a:r>
              <a:t>Generalisation: Performance on new cases from the intended setting, not merely on records already used.</a:t>
            </a:r>
          </a:p>
          <a:p xmlns:a="http://schemas.openxmlformats.org/drawingml/2006/main">
            <a:r>
              <a:t>Overfitting and underfitting: Overfitting captures training-specific detail that fails to transfer. Underfitting misses useful patterns. Score gaps are clues, not a complete diagnosis.</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Leakage and Group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Leakage and Group split</a:t>
            </a:r>
          </a:p>
          <a:p xmlns:a="http://schemas.openxmlformats.org/drawingml/2006/main">
            <a:r>
              <a:t/>
            </a:r>
          </a:p>
          <a:p xmlns:a="http://schemas.openxmlformats.org/drawingml/2006/main">
            <a:r>
              <a:t>CONNECT</a:t>
            </a:r>
          </a:p>
          <a:p xmlns:a="http://schemas.openxmlformats.org/drawingml/2006/main">
            <a:r>
              <a:t>Build on Generalisation and Overfitting and underfitting. Explain why this example is needed before running it.</a:t>
            </a:r>
          </a:p>
          <a:p xmlns:a="http://schemas.openxmlformats.org/drawingml/2006/main">
            <a:r>
              <a:t/>
            </a:r>
          </a:p>
          <a:p xmlns:a="http://schemas.openxmlformats.org/drawingml/2006/main">
            <a:r>
              <a:t>EXPLAIN</a:t>
            </a:r>
          </a:p>
          <a:p xmlns:a="http://schemas.openxmlformats.org/drawingml/2006/main">
            <a:r>
              <a:t>Leakage: Information enters model development that would not legitimately be available, such as the answer or information from evaluation rows.</a:t>
            </a:r>
          </a:p>
          <a:p xmlns:a="http://schemas.openxmlformats.org/drawingml/2006/main">
            <a:r>
              <a:t>Group split: Keep all observations from the same equipment in one partition when the goal is prediction for unseen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POINT TO THE DEFINITION</a:t>
            </a:r>
          </a:p>
          <a:p xmlns:a="http://schemas.openxmlformats.org/drawingml/2006/main">
            <a:r>
              <a:t>Leakage: Information enters model development that would not legitimately be available, such as the answer or information from evaluation rows.</a:t>
            </a:r>
          </a:p>
          <a:p xmlns:a="http://schemas.openxmlformats.org/drawingml/2006/main">
            <a:r>
              <a:t>Group split: Keep all observations from the same equipment in one partition when the goal is prediction for unseen equipment.</a:t>
            </a:r>
          </a:p>
          <a:p xmlns:a="http://schemas.openxmlformats.org/drawingml/2006/main">
            <a:r>
              <a:t/>
            </a:r>
          </a:p>
          <a:p xmlns:a="http://schemas.openxmlformats.org/drawingml/2006/main">
            <a:r>
              <a:t>NEXT</a:t>
            </a:r>
          </a:p>
          <a:p xmlns:a="http://schemas.openxmlformats.org/drawingml/2006/main">
            <a:r>
              <a:t>Repeated equipment needs group separation.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Repeated equipment needs group separation.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Repeated equipment needs group separation</a:t>
            </a:r>
          </a:p>
          <a:p xmlns:a="http://schemas.openxmlformats.org/drawingml/2006/main">
            <a:r>
              <a:t/>
            </a:r>
          </a:p>
          <a:p xmlns:a="http://schemas.openxmlformats.org/drawingml/2006/main">
            <a:r>
              <a:t>CONNECT</a:t>
            </a:r>
          </a:p>
          <a:p xmlns:a="http://schemas.openxmlformats.org/drawingml/2006/main">
            <a:r>
              <a:t>Build on Leakage and Group split. Explain why this example is needed before running it.</a:t>
            </a:r>
          </a:p>
          <a:p xmlns:a="http://schemas.openxmlformats.org/drawingml/2006/main">
            <a:r>
              <a:t/>
            </a:r>
          </a:p>
          <a:p xmlns:a="http://schemas.openxmlformats.org/drawingml/2006/main">
            <a:r>
              <a:t>EXPLAIN</a:t>
            </a:r>
          </a:p>
          <a:p xmlns:a="http://schemas.openxmlformats.org/drawingml/2006/main">
            <a:r>
              <a:t>Readings from the same equipment can share patterns.</a:t>
            </a:r>
          </a:p>
          <a:p xmlns:a="http://schemas.openxmlformats.org/drawingml/2006/main">
            <a:r>
              <a:t/>
            </a:r>
          </a:p>
          <a:p xmlns:a="http://schemas.openxmlformats.org/drawingml/2006/main">
            <a:r>
              <a:t>Putting that equipment in both training and validation can make evaluation too easy.</a:t>
            </a:r>
          </a:p>
          <a:p xmlns:a="http://schemas.openxmlformats.org/drawingml/2006/main">
            <a:r>
              <a:t/>
            </a:r>
          </a:p>
          <a:p xmlns:a="http://schemas.openxmlformats.org/drawingml/2006/main">
            <a:r>
              <a:t>For a new-equipment question, keep every row for an equipment ID in one partition.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Repeated equipment needs group separation</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Keeping equipment groups together.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Keeping equipment groups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Keeping equipment groups together</a:t>
            </a:r>
          </a:p>
          <a:p xmlns:a="http://schemas.openxmlformats.org/drawingml/2006/main">
            <a:r>
              <a:t/>
            </a:r>
          </a:p>
          <a:p xmlns:a="http://schemas.openxmlformats.org/drawingml/2006/main">
            <a:r>
              <a:t>CONNECT</a:t>
            </a:r>
          </a:p>
          <a:p xmlns:a="http://schemas.openxmlformats.org/drawingml/2006/main">
            <a:r>
              <a:t>Build on Repeated equipment needs group separation. Explain why this example is needed before running it.</a:t>
            </a:r>
          </a:p>
          <a:p xmlns:a="http://schemas.openxmlformats.org/drawingml/2006/main">
            <a:r>
              <a:t/>
            </a:r>
          </a:p>
          <a:p xmlns:a="http://schemas.openxmlformats.org/drawingml/2006/main">
            <a:r>
              <a:t>EXPLAIN</a:t>
            </a:r>
          </a:p>
          <a:p xmlns:a="http://schemas.openxmlformats.org/drawingml/2006/main">
            <a:r>
              <a:t>This toy split explains group separation.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Keeping equipment groups together</a:t>
            </a:r>
          </a:p>
          <a:p xmlns:a="http://schemas.openxmlformats.org/drawingml/2006/main">
            <a:r>
              <a:t/>
            </a:r>
          </a:p>
          <a:p xmlns:a="http://schemas.openxmlformats.org/drawingml/2006/main">
            <a:r>
              <a:t>CONNECT</a:t>
            </a:r>
          </a:p>
          <a:p xmlns:a="http://schemas.openxmlformats.org/drawingml/2006/main">
            <a:r>
              <a:t>Build on the preceding slide: Repeated equipment needs group separation.</a:t>
            </a:r>
          </a:p>
          <a:p xmlns:a="http://schemas.openxmlformats.org/drawingml/2006/main">
            <a:r>
              <a:t/>
            </a:r>
          </a:p>
          <a:p xmlns:a="http://schemas.openxmlformats.org/drawingml/2006/main">
            <a:r>
              <a:t>LECTURER CUE</a:t>
            </a:r>
          </a:p>
          <a:p xmlns:a="http://schemas.openxmlformats.org/drawingml/2006/main">
            <a:r>
              <a:t>This toy split explains group separation. It does not establish a representative evaluation with only two pieces of equipment.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in Python (1/2)</a:t>
            </a:r>
          </a:p>
          <a:p xmlns:a="http://schemas.openxmlformats.org/drawingml/2006/main">
            <a:r>
              <a:t/>
            </a:r>
          </a:p>
          <a:p xmlns:a="http://schemas.openxmlformats.org/drawingml/2006/main">
            <a:r>
              <a:t>CONNECT</a:t>
            </a:r>
          </a:p>
          <a:p xmlns:a="http://schemas.openxmlformats.org/drawingml/2006/main">
            <a:r>
              <a:t>Build on Keeping equipment groups together.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(1/2)</a:t>
            </a:r>
          </a:p>
          <a:p xmlns:a="http://schemas.openxmlformats.org/drawingml/2006/main">
            <a:r>
              <a:t/>
            </a:r>
          </a:p>
          <a:p xmlns:a="http://schemas.openxmlformats.org/drawingml/2006/main">
            <a:r>
              <a:t>CONNECT</a:t>
            </a:r>
          </a:p>
          <a:p xmlns:a="http://schemas.openxmlformats.org/drawingml/2006/main">
            <a:r>
              <a:t>Build on the preceding slide: Keeping equipment groups together.</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Complete practice code:</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WALK THROUGH THIS CODE</a:t>
            </a:r>
          </a:p>
          <a:p xmlns:a="http://schemas.openxmlformats.org/drawingml/2006/main">
            <a:r>
              <a:t>Square brackets create a list or select an item.</a:t>
            </a:r>
          </a:p>
          <a:p xmlns:a="http://schemas.openxmlformats.org/drawingml/2006/main">
            <a:r>
              <a:t>Braces hold dictionary key: value pairs here.</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in Python (2/2)</a:t>
            </a:r>
          </a:p>
          <a:p xmlns:a="http://schemas.openxmlformats.org/drawingml/2006/main">
            <a:r>
              <a:t/>
            </a:r>
          </a:p>
          <a:p xmlns:a="http://schemas.openxmlformats.org/drawingml/2006/main">
            <a:r>
              <a:t>CONNECT</a:t>
            </a:r>
          </a:p>
          <a:p xmlns:a="http://schemas.openxmlformats.org/drawingml/2006/main">
            <a:r>
              <a:t>Build on Validation and leakage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(2/2)</a:t>
            </a:r>
          </a:p>
          <a:p xmlns:a="http://schemas.openxmlformats.org/drawingml/2006/main">
            <a:r>
              <a:t/>
            </a:r>
          </a:p>
          <a:p xmlns:a="http://schemas.openxmlformats.org/drawingml/2006/main">
            <a:r>
              <a:t>CONNECT</a:t>
            </a:r>
          </a:p>
          <a:p xmlns:a="http://schemas.openxmlformats.org/drawingml/2006/main">
            <a:r>
              <a:t>Build on the preceding slide: Worked example (1/2).</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Complete practice code:</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results</a:t>
            </a:r>
          </a:p>
          <a:p xmlns:a="http://schemas.openxmlformats.org/drawingml/2006/main">
            <a:r>
              <a:t/>
            </a:r>
          </a:p>
          <a:p xmlns:a="http://schemas.openxmlformats.org/drawingml/2006/main">
            <a:r>
              <a:t>CONNECT</a:t>
            </a:r>
          </a:p>
          <a:p xmlns:a="http://schemas.openxmlformats.org/drawingml/2006/main">
            <a:r>
              <a:t>Build on Validation and leakage in Python (2/2). Explain why this example is needed before running it.</a:t>
            </a:r>
          </a:p>
          <a:p xmlns:a="http://schemas.openxmlformats.org/drawingml/2006/main">
            <a:r>
              <a:t/>
            </a:r>
          </a:p>
          <a:p xmlns:a="http://schemas.openxmlformats.org/drawingml/2006/main">
            <a:r>
              <a:t>EXPLAIN</a:t>
            </a:r>
          </a:p>
          <a:p xmlns:a="http://schemas.openxmlformats.org/drawingml/2006/main">
            <a:r>
              <a:t>[1, 2] [3]</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(2/2).</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Preprocessing and pipeline.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and pipeline</a:t>
            </a:r>
          </a:p>
          <a:p xmlns:a="http://schemas.openxmlformats.org/drawingml/2006/main">
            <a:r>
              <a:t/>
            </a:r>
          </a:p>
          <a:p xmlns:a="http://schemas.openxmlformats.org/drawingml/2006/main">
            <a:r>
              <a:t>CONNECT</a:t>
            </a:r>
          </a:p>
          <a:p xmlns:a="http://schemas.openxmlformats.org/drawingml/2006/main">
            <a:r>
              <a:t>Build on Validation and leakage results. Explain why this example is needed before running it.</a:t>
            </a:r>
          </a:p>
          <a:p xmlns:a="http://schemas.openxmlformats.org/drawingml/2006/main">
            <a:r>
              <a:t/>
            </a:r>
          </a:p>
          <a:p xmlns:a="http://schemas.openxmlformats.org/drawingml/2006/main">
            <a:r>
              <a:t>EXPLAIN</a:t>
            </a:r>
          </a:p>
          <a:p xmlns:a="http://schemas.openxmlformats.org/drawingml/2006/main">
            <a:r>
              <a:t>Preprocessing and pipeline: Preprocessing changes inputs, for example filling missing values. A pipeline fits these steps on training data and applies the same fitted changes to new inputs.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and pipeline</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Preprocessing and pipeline: Preprocessing changes inputs, for example filling missing values. A pipeline fits these steps on training data and applies the same fitted changes to new inputs.</a:t>
            </a:r>
          </a:p>
          <a:p xmlns:a="http://schemas.openxmlformats.org/drawingml/2006/main">
            <a:r>
              <a:t/>
            </a:r>
          </a:p>
          <a:p xmlns:a="http://schemas.openxmlformats.org/drawingml/2006/main">
            <a:r>
              <a:t>NEXT</a:t>
            </a:r>
          </a:p>
          <a:p xmlns:a="http://schemas.openxmlformats.org/drawingml/2006/main">
            <a:r>
              <a:t>A learned cleaning value comes from training.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learned cleaning value comes from training.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learned cleaning value comes from training</a:t>
            </a:r>
          </a:p>
          <a:p xmlns:a="http://schemas.openxmlformats.org/drawingml/2006/main">
            <a:r>
              <a:t/>
            </a:r>
          </a:p>
          <a:p xmlns:a="http://schemas.openxmlformats.org/drawingml/2006/main">
            <a:r>
              <a:t>CONNECT</a:t>
            </a:r>
          </a:p>
          <a:p xmlns:a="http://schemas.openxmlformats.org/drawingml/2006/main">
            <a:r>
              <a:t>Build on Preprocessing and pipeline. Explain why this example is needed before running it.</a:t>
            </a:r>
          </a:p>
          <a:p xmlns:a="http://schemas.openxmlformats.org/drawingml/2006/main">
            <a:r>
              <a:t/>
            </a:r>
          </a:p>
          <a:p xmlns:a="http://schemas.openxmlformats.org/drawingml/2006/main">
            <a:r>
              <a:t>EXPLAIN</a:t>
            </a:r>
          </a:p>
          <a:p xmlns:a="http://schemas.openxmlformats.org/drawingml/2006/main">
            <a:r>
              <a:t>The training readings are 20, 22 and 24. Their median is 22.</a:t>
            </a:r>
          </a:p>
          <a:p xmlns:a="http://schemas.openxmlformats.org/drawingml/2006/main">
            <a:r>
              <a:t/>
            </a:r>
          </a:p>
          <a:p xmlns:a="http://schemas.openxmlformats.org/drawingml/2006/main">
            <a:r>
              <a:t>A missing validation value receives the already learned 22.</a:t>
            </a:r>
          </a:p>
          <a:p xmlns:a="http://schemas.openxmlformats.org/drawingml/2006/main">
            <a:r>
              <a:t/>
            </a:r>
          </a:p>
          <a:p xmlns:a="http://schemas.openxmlformats.org/drawingml/2006/main">
            <a:r>
              <a:t>A new validation reading of 40 must not change the fitted median.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learned cleaning value comes from training</a:t>
            </a:r>
          </a:p>
          <a:p xmlns:a="http://schemas.openxmlformats.org/drawingml/2006/main">
            <a:r>
              <a:t/>
            </a:r>
          </a:p>
          <a:p xmlns:a="http://schemas.openxmlformats.org/drawingml/2006/main">
            <a:r>
              <a:t>CONNECT</a:t>
            </a:r>
          </a:p>
          <a:p xmlns:a="http://schemas.openxmlformats.org/drawingml/2006/main">
            <a:r>
              <a:t>Build on the preceding slide: Preprocessing and pipeline.</a:t>
            </a:r>
          </a:p>
          <a:p xmlns:a="http://schemas.openxmlformats.org/drawingml/2006/main">
            <a:r>
              <a:t/>
            </a:r>
          </a:p>
          <a:p xmlns:a="http://schemas.openxmlformats.org/drawingml/2006/main">
            <a:r>
              <a:t>LECTURER CUE</a:t>
            </a:r>
          </a:p>
          <a:p xmlns:a="http://schemas.openxmlformats.org/drawingml/2006/main">
            <a:r>
              <a:t>Fit a missing-value replacement on training values [20, 22, 24]: the median is 22. A new hotter observation must not change that fitted median.</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A training-only fill value.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training-only fill value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training-only fill value in Python (1/2)</a:t>
            </a:r>
          </a:p>
          <a:p xmlns:a="http://schemas.openxmlformats.org/drawingml/2006/main">
            <a:r>
              <a:t/>
            </a:r>
          </a:p>
          <a:p xmlns:a="http://schemas.openxmlformats.org/drawingml/2006/main">
            <a:r>
              <a:t>CONNECT</a:t>
            </a:r>
          </a:p>
          <a:p xmlns:a="http://schemas.openxmlformats.org/drawingml/2006/main">
            <a:r>
              <a:t>Build on A learned cleaning value comes from training.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training-only fill value in Python (1/2)</a:t>
            </a:r>
          </a:p>
          <a:p xmlns:a="http://schemas.openxmlformats.org/drawingml/2006/main">
            <a:r>
              <a:t/>
            </a:r>
          </a:p>
          <a:p xmlns:a="http://schemas.openxmlformats.org/drawingml/2006/main">
            <a:r>
              <a:t>CONNECT</a:t>
            </a:r>
          </a:p>
          <a:p xmlns:a="http://schemas.openxmlformats.org/drawingml/2006/main">
            <a:r>
              <a:t>Build on the preceding slide: A training-only fill value.</a:t>
            </a:r>
          </a:p>
          <a:p xmlns:a="http://schemas.openxmlformats.org/drawingml/2006/main">
            <a:r>
              <a:t/>
            </a:r>
          </a:p>
          <a:p xmlns:a="http://schemas.openxmlformats.org/drawingml/2006/main">
            <a:r>
              <a:t>LECTURER CUE</a:t>
            </a:r>
          </a:p>
          <a:p xmlns:a="http://schemas.openxmlformats.org/drawingml/2006/main">
            <a:r>
              <a:t>The median is learned from training observations. Adding a new validation observation must not change it. A real modelling pipeline follows this same rule for each learned step.</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training-only fill value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training-only fill value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training-only fill value in Python (2/2)</a:t>
            </a:r>
          </a:p>
          <a:p xmlns:a="http://schemas.openxmlformats.org/drawingml/2006/main">
            <a:r>
              <a:t/>
            </a:r>
          </a:p>
          <a:p xmlns:a="http://schemas.openxmlformats.org/drawingml/2006/main">
            <a:r>
              <a:t>CONNECT</a:t>
            </a:r>
          </a:p>
          <a:p xmlns:a="http://schemas.openxmlformats.org/drawingml/2006/main">
            <a:r>
              <a:t>Build on A training-only fill value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training-only fill value in Python (2/2)</a:t>
            </a:r>
          </a:p>
          <a:p xmlns:a="http://schemas.openxmlformats.org/drawingml/2006/main">
            <a:r>
              <a:t/>
            </a:r>
          </a:p>
          <a:p xmlns:a="http://schemas.openxmlformats.org/drawingml/2006/main">
            <a:r>
              <a:t>CONNECT</a:t>
            </a:r>
          </a:p>
          <a:p xmlns:a="http://schemas.openxmlformats.org/drawingml/2006/main">
            <a:r>
              <a:t>Build on the preceding slide: A training-only fill value in Python (1/2).</a:t>
            </a:r>
          </a:p>
          <a:p xmlns:a="http://schemas.openxmlformats.org/drawingml/2006/main">
            <a:r>
              <a:t/>
            </a:r>
          </a:p>
          <a:p xmlns:a="http://schemas.openxmlformats.org/drawingml/2006/main">
            <a:r>
              <a:t>LECTURER CUE</a:t>
            </a:r>
          </a:p>
          <a:p xmlns:a="http://schemas.openxmlformats.org/drawingml/2006/main">
            <a:r>
              <a:t>The median is learned from training observations. Adding a new validation observation must not change it. A real modelling pipeline follows this same rule for each learned step.</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Leakage gives away information from the future.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Leakage gives away information from the future.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Leakage gives away information from the future</a:t>
            </a:r>
          </a:p>
          <a:p xmlns:a="http://schemas.openxmlformats.org/drawingml/2006/main">
            <a:r>
              <a:t/>
            </a:r>
          </a:p>
          <a:p xmlns:a="http://schemas.openxmlformats.org/drawingml/2006/main">
            <a:r>
              <a:t>CONNECT</a:t>
            </a:r>
          </a:p>
          <a:p xmlns:a="http://schemas.openxmlformats.org/drawingml/2006/main">
            <a:r>
              <a:t>Build on A training-only fill value in Python (2/2). Explain why this example is needed before running it.</a:t>
            </a:r>
          </a:p>
          <a:p xmlns:a="http://schemas.openxmlformats.org/drawingml/2006/main">
            <a:r>
              <a:t/>
            </a:r>
          </a:p>
          <a:p xmlns:a="http://schemas.openxmlformats.org/drawingml/2006/main">
            <a:r>
              <a:t>EXPLAIN</a:t>
            </a:r>
          </a:p>
          <a:p xmlns:a="http://schemas.openxmlformats.org/drawingml/2006/main">
            <a:r>
              <a:t>Suppose we predict a fault before an inspection.</a:t>
            </a:r>
          </a:p>
          <a:p xmlns:a="http://schemas.openxmlformats.org/drawingml/2006/main">
            <a:r>
              <a:t/>
            </a:r>
          </a:p>
          <a:p xmlns:a="http://schemas.openxmlformats.org/drawingml/2006/main">
            <a:r>
              <a:t>final_inspection_result exists only after the inspection.</a:t>
            </a:r>
          </a:p>
          <a:p xmlns:a="http://schemas.openxmlformats.org/drawingml/2006/main">
            <a:r>
              <a:t/>
            </a:r>
          </a:p>
          <a:p xmlns:a="http://schemas.openxmlformats.org/drawingml/2006/main">
            <a:r>
              <a:t>Using it as an input would answer a different, easier question than the one we intended.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Leakage gives away information from the future</a:t>
            </a:r>
          </a:p>
          <a:p xmlns:a="http://schemas.openxmlformats.org/drawingml/2006/main">
            <a:r>
              <a:t/>
            </a:r>
          </a:p>
          <a:p xmlns:a="http://schemas.openxmlformats.org/drawingml/2006/main">
            <a:r>
              <a:t>CONNECT</a:t>
            </a:r>
          </a:p>
          <a:p xmlns:a="http://schemas.openxmlformats.org/drawingml/2006/main">
            <a:r>
              <a:t>Build on the preceding slide: A training-only fill value in Python (2/2).</a:t>
            </a:r>
          </a:p>
          <a:p xmlns:a="http://schemas.openxmlformats.org/drawingml/2006/main">
            <a:r>
              <a:t/>
            </a:r>
          </a:p>
          <a:p xmlns:a="http://schemas.openxmlformats.org/drawingml/2006/main">
            <a:r>
              <a:t>LECTURER CUE</a:t>
            </a:r>
          </a:p>
          <a:p xmlns:a="http://schemas.openxmlformats.org/drawingml/2006/main">
            <a:r>
              <a:t>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Cross-validation.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Parameters hyperparameters and a fold.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Parameters hyperparameters and a fold</a:t>
            </a:r>
          </a:p>
          <a:p xmlns:a="http://schemas.openxmlformats.org/drawingml/2006/main">
            <a:r>
              <a:t/>
            </a:r>
          </a:p>
          <a:p xmlns:a="http://schemas.openxmlformats.org/drawingml/2006/main">
            <a:r>
              <a:t>CONNECT</a:t>
            </a:r>
          </a:p>
          <a:p xmlns:a="http://schemas.openxmlformats.org/drawingml/2006/main">
            <a:r>
              <a:t>Build on Leakage gives away information from the future. Explain why this example is needed before running it.</a:t>
            </a:r>
          </a:p>
          <a:p xmlns:a="http://schemas.openxmlformats.org/drawingml/2006/main">
            <a:r>
              <a:t/>
            </a:r>
          </a:p>
          <a:p xmlns:a="http://schemas.openxmlformats.org/drawingml/2006/main">
            <a:r>
              <a:t>EXPLAIN</a:t>
            </a:r>
          </a:p>
          <a:p xmlns:a="http://schemas.openxmlformats.org/drawingml/2006/main">
            <a:r>
              <a:t>A parameter is learned during fitting, such as a line’s slope. A hyperparameter is a setting chosen around fitting, such as a tree’s max_depth.</a:t>
            </a:r>
          </a:p>
          <a:p xmlns:a="http://schemas.openxmlformats.org/drawingml/2006/main">
            <a:r>
              <a:t/>
            </a:r>
          </a:p>
          <a:p xmlns:a="http://schemas.openxmlformats.org/drawingml/2006/main">
            <a:r>
              <a:t>A fold is one part of the development data used for a validation turn. Refit the entire preprocessing and model on the other parts for that turn.</a:t>
            </a:r>
          </a:p>
          <a:p xmlns:a="http://schemas.openxmlformats.org/drawingml/2006/main">
            <a:r>
              <a:t/>
            </a:r>
          </a:p>
          <a:p xmlns:a="http://schemas.openxmlformats.org/drawingml/2006/main">
            <a:r>
              <a:t>Compare candidate settings using validation evidence. Keep the final test outside that selection process.</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Cross-validation.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Cross-validation</a:t>
            </a:r>
          </a:p>
          <a:p xmlns:a="http://schemas.openxmlformats.org/drawingml/2006/main">
            <a:r>
              <a:t/>
            </a:r>
          </a:p>
          <a:p xmlns:a="http://schemas.openxmlformats.org/drawingml/2006/main">
            <a:r>
              <a:t>CONNECT</a:t>
            </a:r>
          </a:p>
          <a:p xmlns:a="http://schemas.openxmlformats.org/drawingml/2006/main">
            <a:r>
              <a:t>Build on Parameters hyperparameters and a fold. Explain why this example is needed before running it.</a:t>
            </a:r>
          </a:p>
          <a:p xmlns:a="http://schemas.openxmlformats.org/drawingml/2006/main">
            <a:r>
              <a:t/>
            </a:r>
          </a:p>
          <a:p xmlns:a="http://schemas.openxmlformats.org/drawingml/2006/main">
            <a:r>
              <a:t>EXPLAIN</a:t>
            </a:r>
          </a:p>
          <a:p xmlns:a="http://schemas.openxmlformats.org/drawingml/2006/main">
            <a:r>
              <a:t>Cross-validation: Repeat fitting and validation on several partitions of the training/development data. Respect groups or time order. Keep the final test outside tuning.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Cross-validation</a:t>
            </a:r>
          </a:p>
          <a:p xmlns:a="http://schemas.openxmlformats.org/drawingml/2006/main">
            <a:r>
              <a:t/>
            </a:r>
          </a:p>
          <a:p xmlns:a="http://schemas.openxmlformats.org/drawingml/2006/main">
            <a:r>
              <a:t>CONNECT</a:t>
            </a:r>
          </a:p>
          <a:p xmlns:a="http://schemas.openxmlformats.org/drawingml/2006/main">
            <a:r>
              <a:t>Build on the preceding slide: Leakage gives away information from the future.</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POINT TO THE DEFINITION</a:t>
            </a:r>
          </a:p>
          <a:p xmlns:a="http://schemas.openxmlformats.org/drawingml/2006/main">
            <a:r>
              <a:t>Cross-validation: Repeat fitting and validation on several partitions of the training/development data. Respect groups or time order. Keep the final test outside tuning.</a:t>
            </a:r>
          </a:p>
          <a:p xmlns:a="http://schemas.openxmlformats.org/drawingml/2006/main">
            <a:r>
              <a:t/>
            </a:r>
          </a:p>
          <a:p xmlns:a="http://schemas.openxmlformats.org/drawingml/2006/main">
            <a:r>
              <a:t>NEXT</a:t>
            </a:r>
          </a:p>
          <a:p xmlns:a="http://schemas.openxmlformats.org/drawingml/2006/main">
            <a:r>
              <a:t>What standard deviation tells us.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What standard deviation tells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standard deviation tells us</a:t>
            </a:r>
          </a:p>
          <a:p xmlns:a="http://schemas.openxmlformats.org/drawingml/2006/main">
            <a:r>
              <a:t/>
            </a:r>
          </a:p>
          <a:p xmlns:a="http://schemas.openxmlformats.org/drawingml/2006/main">
            <a:r>
              <a:t>CONNECT</a:t>
            </a:r>
          </a:p>
          <a:p xmlns:a="http://schemas.openxmlformats.org/drawingml/2006/main">
            <a:r>
              <a:t>Build on Cross-validation. Explain why this example is needed before running it.</a:t>
            </a:r>
          </a:p>
          <a:p xmlns:a="http://schemas.openxmlformats.org/drawingml/2006/main">
            <a:r>
              <a:t/>
            </a:r>
          </a:p>
          <a:p xmlns:a="http://schemas.openxmlformats.org/drawingml/2006/main">
            <a:r>
              <a:t>EXPLAIN</a:t>
            </a:r>
          </a:p>
          <a:p xmlns:a="http://schemas.openxmlformats.org/drawingml/2006/main">
            <a:r>
              <a:t>Scores 3, 4 and 5 have mean 4. Their deviations are -1, 0 and 1.</a:t>
            </a:r>
          </a:p>
          <a:p xmlns:a="http://schemas.openxmlformats.org/drawingml/2006/main">
            <a:r>
              <a:t/>
            </a:r>
          </a:p>
          <a:p xmlns:a="http://schemas.openxmlformats.org/drawingml/2006/main">
            <a:r>
              <a:t>For these three fold scores, population SD = sqrt((1 + 0 + 1) / 3), about 0.82.</a:t>
            </a:r>
          </a:p>
          <a:p xmlns:a="http://schemas.openxmlformats.org/drawingml/2006/main">
            <a:r>
              <a:t/>
            </a:r>
          </a:p>
          <a:p xmlns:a="http://schemas.openxmlformats.org/drawingml/2006/main">
            <a:r>
              <a:t>SD describes spread around the mean in the score’s units. The next illustration uses this same population convention; it is not a confidence interval.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What standard deviation tells us</a:t>
            </a:r>
          </a:p>
          <a:p xmlns:a="http://schemas.openxmlformats.org/drawingml/2006/main">
            <a:r>
              <a:t/>
            </a:r>
          </a:p>
          <a:p xmlns:a="http://schemas.openxmlformats.org/drawingml/2006/main">
            <a:r>
              <a:t>CONNECT</a:t>
            </a:r>
          </a:p>
          <a:p xmlns:a="http://schemas.openxmlformats.org/drawingml/2006/main">
            <a:r>
              <a:t>Build on the preceding slide: Cross-validation.</a:t>
            </a:r>
          </a:p>
          <a:p xmlns:a="http://schemas.openxmlformats.org/drawingml/2006/main">
            <a:r>
              <a:t/>
            </a:r>
          </a:p>
          <a:p xmlns:a="http://schemas.openxmlformats.org/drawingml/2006/main">
            <a:r>
              <a:t>LECTURER CUE</a:t>
            </a:r>
          </a:p>
          <a:p xmlns:a="http://schemas.openxmlformats.org/drawingml/2006/main">
            <a:r>
              <a:t>Square each deviation, average all three, then take the square root. Here we describe the full displayed set. A sample SD would instead divide by n - 1; do not mix conventions.</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NEXT</a:t>
            </a:r>
          </a:p>
          <a:p xmlns:a="http://schemas.openxmlformats.org/drawingml/2006/main">
            <a:r>
              <a:t>Each fold takes a turn at validation.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Each fold takes a turn at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Each fold takes a turn at validation</a:t>
            </a:r>
          </a:p>
          <a:p xmlns:a="http://schemas.openxmlformats.org/drawingml/2006/main">
            <a:r>
              <a:t/>
            </a:r>
          </a:p>
          <a:p xmlns:a="http://schemas.openxmlformats.org/drawingml/2006/main">
            <a:r>
              <a:t>CONNECT</a:t>
            </a:r>
          </a:p>
          <a:p xmlns:a="http://schemas.openxmlformats.org/drawingml/2006/main">
            <a:r>
              <a:t>Build on What standard deviation tells us. Explain why this example is needed before running it.</a:t>
            </a:r>
          </a:p>
          <a:p xmlns:a="http://schemas.openxmlformats.org/drawingml/2006/main">
            <a:r>
              <a:t/>
            </a:r>
          </a:p>
          <a:p xmlns:a="http://schemas.openxmlformats.org/drawingml/2006/main">
            <a:r>
              <a:t>EXPLAIN</a:t>
            </a:r>
          </a:p>
          <a:p xmlns:a="http://schemas.openxmlformats.org/drawingml/2006/main">
            <a:r>
              <a:t>Illustrated spread: population SD 0.39 MPa, not a confidence interval.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Each fold takes a turn at validation</a:t>
            </a:r>
          </a:p>
          <a:p xmlns:a="http://schemas.openxmlformats.org/drawingml/2006/main">
            <a:r>
              <a:t/>
            </a:r>
          </a:p>
          <a:p xmlns:a="http://schemas.openxmlformats.org/drawingml/2006/main">
            <a:r>
              <a:t>CONNECT</a:t>
            </a:r>
          </a:p>
          <a:p xmlns:a="http://schemas.openxmlformats.org/drawingml/2006/main">
            <a:r>
              <a:t>Build on the preceding slide: What standard deviation tells us.</a:t>
            </a:r>
          </a:p>
          <a:p xmlns:a="http://schemas.openxmlformats.org/drawingml/2006/main">
            <a:r>
              <a:t/>
            </a:r>
          </a:p>
          <a:p xmlns:a="http://schemas.openxmlformats.org/drawingml/2006/main">
            <a:r>
              <a:t>LECTURER CUE</a:t>
            </a:r>
          </a:p>
          <a:p xmlns:a="http://schemas.openxmlformats.org/drawingml/2006/main">
            <a:r>
              <a:t>The illustrated mean is about 4.30 MPa and population standard deviation about 0.39 MPa. This is fold variation, not a confidence interval. Keep equipment groups together. Keep a separate final test outside model selection.</a:t>
            </a:r>
          </a:p>
          <a:p xmlns:a="http://schemas.openxmlformats.org/drawingml/2006/main">
            <a:r>
              <a:t>Source: existing course illustration figs/kfold.png. These are illustrative examples, not this cohort’s assessed results.</a:t>
            </a:r>
          </a:p>
          <a:p xmlns:a="http://schemas.openxmlformats.org/drawingml/2006/main">
            <a:r>
              <a:t/>
            </a:r>
          </a:p>
          <a:p xmlns:a="http://schemas.openxmlformats.org/drawingml/2006/main">
            <a:r>
              <a:t>NEXT</a:t>
            </a:r>
          </a:p>
          <a:p xmlns:a="http://schemas.openxmlformats.org/drawingml/2006/main">
            <a:r>
              <a:t>Choose a split that matches future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Choose a split that matches future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Choose a split that matches future use</a:t>
            </a:r>
          </a:p>
          <a:p xmlns:a="http://schemas.openxmlformats.org/drawingml/2006/main">
            <a:r>
              <a:t/>
            </a:r>
          </a:p>
          <a:p xmlns:a="http://schemas.openxmlformats.org/drawingml/2006/main">
            <a:r>
              <a:t>CONNECT</a:t>
            </a:r>
          </a:p>
          <a:p xmlns:a="http://schemas.openxmlformats.org/drawingml/2006/main">
            <a:r>
              <a:t>Build on Each fold takes a turn at validation. Explain why this example is needed before running it.</a:t>
            </a:r>
          </a:p>
          <a:p xmlns:a="http://schemas.openxmlformats.org/drawingml/2006/main">
            <a:r>
              <a:t/>
            </a:r>
          </a:p>
          <a:p xmlns:a="http://schemas.openxmlformats.org/drawingml/2006/main">
            <a:r>
              <a:t>EXPLAIN</a:t>
            </a:r>
          </a:p>
          <a:p xmlns:a="http://schemas.openxmlformats.org/drawingml/2006/main">
            <a:r>
              <a:t>Equipment or time: For unseen equipment, keep each equipment ID together. For future-time prediction, train on earlier observations and evaluate on later ones.</a:t>
            </a:r>
          </a:p>
          <a:p xmlns:a="http://schemas.openxmlformats.org/drawingml/2006/main">
            <a:r>
              <a:t>Scaler and split tool: A scaler learns how to rescale features; fit it on training data. GroupShuffleSplit is a library tool for group separation. Our assignment instead uses its fixed published equipment lists.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Choose a split that matches future use</a:t>
            </a:r>
          </a:p>
          <a:p xmlns:a="http://schemas.openxmlformats.org/drawingml/2006/main">
            <a:r>
              <a:t/>
            </a:r>
          </a:p>
          <a:p xmlns:a="http://schemas.openxmlformats.org/drawingml/2006/main">
            <a:r>
              <a:t>CONNECT</a:t>
            </a:r>
          </a:p>
          <a:p xmlns:a="http://schemas.openxmlformats.org/drawingml/2006/main">
            <a:r>
              <a:t>Build on the preceding slide: Each fold takes a turn at validation.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Equipment or time: For unseen equipment, keep each equipment ID together. For future-time prediction, train on earlier observations and evaluate on later ones.</a:t>
            </a:r>
          </a:p>
          <a:p xmlns:a="http://schemas.openxmlformats.org/drawingml/2006/main">
            <a:r>
              <a:t>Scaler and split tool: A scaler learns how to rescale features; fit it on training data. GroupShuffleSplit is a library tool for group separation. Our assignment instead uses its fixed published equipment lists.</a:t>
            </a:r>
          </a:p>
          <a:p xmlns:a="http://schemas.openxmlformats.org/drawingml/2006/main">
            <a:r>
              <a:t/>
            </a:r>
          </a:p>
          <a:p xmlns:a="http://schemas.openxmlformats.org/drawingml/2006/main">
            <a:r>
              <a:t>NEXT</a:t>
            </a:r>
          </a:p>
          <a:p xmlns:a="http://schemas.openxmlformats.org/drawingml/2006/main">
            <a:r>
              <a:t>You are the data splitter.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Choose a split that matches future use. Explain why this example is needed before running it.</a:t>
            </a:r>
          </a:p>
          <a:p xmlns:a="http://schemas.openxmlformats.org/drawingml/2006/main">
            <a:r>
              <a:t/>
            </a:r>
          </a:p>
          <a:p xmlns:a="http://schemas.openxmlformats.org/drawingml/2006/main">
            <a:r>
              <a:t>EXPLAIN</a:t>
            </a:r>
          </a:p>
          <a:p xmlns:a="http://schemas.openxmlformats.org/drawingml/2006/main">
            <a:r>
              <a:t>Example: A second observation from B arrives. Where does it go? Why not put it into training just to balance row counts?</a:t>
            </a:r>
          </a:p>
          <a:p xmlns:a="http://schemas.openxmlformats.org/drawingml/2006/main">
            <a:r>
              <a:t/>
            </a:r>
          </a:p>
          <a:p xmlns:a="http://schemas.openxmlformats.org/drawingml/2006/main">
            <a:r>
              <a:t>Answer: It stays with B in validation. Mixing a source across partitions can give an overly optimistic estimate for unseen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It stays with B in validation. Mixing a source across partitions can give an overly optimistic estimate for unseen equipment.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It stays with B in validation. Mixing a source across partitions can give an overly optimistic estimate for unseen equipment.</a:t>
            </a:r>
          </a:p>
          <a:p xmlns:a="http://schemas.openxmlformats.org/drawingml/2006/main">
            <a:r>
              <a:t>Which step produced this result? What changes if one input changes?</a:t>
            </a:r>
          </a:p>
          <a:p xmlns:a="http://schemas.openxmlformats.org/drawingml/2006/main">
            <a:r>
              <a:t>CML3113   Week 10   27</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W10 specifies E1–E4 train, E5 validation, E6 test and preserves input order.</a:t>
            </a:r>
          </a:p>
          <a:p xmlns:a="http://schemas.openxmlformats.org/drawingml/2006/main">
            <a:r>
              <a:t/>
            </a:r>
          </a:p>
          <a:p xmlns:a="http://schemas.openxmlformats.org/drawingml/2006/main">
            <a:r>
              <a:t>Use the assigned equipment_id field and record_id outputs.</a:t>
            </a:r>
          </a:p>
          <a:p xmlns:a="http://schemas.openxmlformats.org/drawingml/2006/main">
            <a:r>
              <a:t/>
            </a:r>
          </a:p>
          <a:p xmlns:a="http://schemas.openxmlformats.org/drawingml/2006/main">
            <a:r>
              <a:t>Reuse the W08 fitting pattern.</a:t>
            </a:r>
          </a:p>
          <a:p xmlns:a="http://schemas.openxmlformats.org/drawingml/2006/main">
            <a:r>
              <a:t/>
            </a:r>
          </a:p>
          <a:p xmlns:a="http://schemas.openxmlformats.org/drawingml/2006/main">
            <a:r>
              <a:t>Explain that GroupShuffleSplit and time-based splitting solve different deployment questions; use the rule in the issued task.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W10 specifies E1–E4 train, E5 validation, E6 test and preserves input order. Use the assigned equipment_id field and record_id outputs. Reuse the W08 fitting pattern. Explain that GroupShuffleSplit and time-based splitting solve different deployment questions; use the rule in the issued task.</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Interpreting validation results.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Interpreting validation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Interpreting validation results</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Fit an imputer or scaler only on training data; putting it in a Pipeline helps enforce that during cross-validation.</a:t>
            </a:r>
          </a:p>
          <a:p xmlns:a="http://schemas.openxmlformats.org/drawingml/2006/main">
            <a:r>
              <a:t/>
            </a:r>
          </a:p>
          <a:p xmlns:a="http://schemas.openxmlformats.org/drawingml/2006/main">
            <a:r>
              <a:t>A low training error and high validation error suggest overfitting, but data shift or leakage can also matter.</a:t>
            </a:r>
          </a:p>
          <a:p xmlns:a="http://schemas.openxmlformats.org/drawingml/2006/main">
            <a:r>
              <a:t/>
            </a:r>
          </a:p>
          <a:p xmlns:a="http://schemas.openxmlformats.org/drawingml/2006/main">
            <a:r>
              <a:t>Missing predictor values need a stated treatment.</a:t>
            </a:r>
          </a:p>
          <a:p xmlns:a="http://schemas.openxmlformats.org/drawingml/2006/main">
            <a:r>
              <a:t/>
            </a:r>
          </a:p>
          <a:p xmlns:a="http://schemas.openxmlformats.org/drawingml/2006/main">
            <a:r>
              <a:t>Report fold scores and their variation, not just the best fold.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Interpreting validation results</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NEXT</a:t>
            </a:r>
          </a:p>
          <a:p xmlns:a="http://schemas.openxmlformats.org/drawingml/2006/main">
            <a:r>
              <a:t>Interpreting validation results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Interpreting validation results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Interpreting validation results continued</a:t>
            </a:r>
          </a:p>
          <a:p xmlns:a="http://schemas.openxmlformats.org/drawingml/2006/main">
            <a:r>
              <a:t/>
            </a:r>
          </a:p>
          <a:p xmlns:a="http://schemas.openxmlformats.org/drawingml/2006/main">
            <a:r>
              <a:t>CONNECT</a:t>
            </a:r>
          </a:p>
          <a:p xmlns:a="http://schemas.openxmlformats.org/drawingml/2006/main">
            <a:r>
              <a:t>Build on Interpreting validation results. Explain why this example is needed before running it.</a:t>
            </a:r>
          </a:p>
          <a:p xmlns:a="http://schemas.openxmlformats.org/drawingml/2006/main">
            <a:r>
              <a:t/>
            </a:r>
          </a:p>
          <a:p xmlns:a="http://schemas.openxmlformats.org/drawingml/2006/main">
            <a:r>
              <a:t>EXPLAIN</a:t>
            </a:r>
          </a:p>
          <a:p xmlns:a="http://schemas.openxmlformats.org/drawingml/2006/main">
            <a:r>
              <a:t>Group related observations together when the deployment goal is new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Interpreting validation results continued</a:t>
            </a:r>
          </a:p>
          <a:p xmlns:a="http://schemas.openxmlformats.org/drawingml/2006/main">
            <a:r>
              <a:t/>
            </a:r>
          </a:p>
          <a:p xmlns:a="http://schemas.openxmlformats.org/drawingml/2006/main">
            <a:r>
              <a:t>CONNECT</a:t>
            </a:r>
          </a:p>
          <a:p xmlns:a="http://schemas.openxmlformats.org/drawingml/2006/main">
            <a:r>
              <a:t>Build on the preceding slide: Interpreting validation results.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Interpreting validation results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Interpreting validation results continued.</a:t>
            </a:r>
          </a:p>
          <a:p xmlns:a="http://schemas.openxmlformats.org/drawingml/2006/main">
            <a:r>
              <a:t/>
            </a:r>
          </a:p>
          <a:p xmlns:a="http://schemas.openxmlformats.org/drawingml/2006/main">
            <a:r>
              <a:t>LECTURER CUE</a:t>
            </a:r>
          </a:p>
          <a:p xmlns:a="http://schemas.openxmlformats.org/drawingml/2006/main">
            <a:r>
              <a:t>Investigate crusher energy demand. Target units: kWh/t.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group_split(records).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group_split(records).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group_split(records)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Assign whole equipment groups: E1–E4 to train, E5 to validation, E6 to test.</a:t>
            </a:r>
          </a:p>
          <a:p xmlns:a="http://schemas.openxmlformats.org/drawingml/2006/main">
            <a:r>
              <a:t/>
            </a:r>
          </a:p>
          <a:p xmlns:a="http://schemas.openxmlformats.org/drawingml/2006/main">
            <a:r>
              <a:t>Return train, validation and test lists of record_id in input order.</a:t>
            </a:r>
          </a:p>
          <a:p xmlns:a="http://schemas.openxmlformats.org/drawingml/2006/main">
            <a:r>
              <a:t/>
            </a:r>
          </a:p>
          <a:p xmlns:a="http://schemas.openxmlformats.org/drawingml/2006/main">
            <a:r>
              <a:t>Do not use target values to choose membership.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group_split(records)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IUEA_Teaching_Plan/assessment_banks/W10/CML3113/A/TASKS.md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predict_regression(training_records, feature_records).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predict_regression(training_records, feature_records).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group_split(records). Explain why this example is needed before running it.</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the preceding slide: group_split(records).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IUEA_Teaching_Plan/assessment_banks/W10/CML3113/A/TASKS.md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predict_regression(training_records, feature_records).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predict_regression(training_records, feature_records).</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Validation and trust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Validation and trust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trust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13 Nov 2026, 08:00 Kampala</a:t>
            </a:r>
          </a:p>
          <a:p xmlns:a="http://schemas.openxmlformats.org/drawingml/2006/main">
            <a:r>
              <a:t/>
            </a:r>
          </a:p>
          <a:p xmlns:a="http://schemas.openxmlformats.org/drawingml/2006/main">
            <a:r>
              <a:t>Deadline: 20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Validation and trust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10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10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10 quiz</a:t>
            </a:r>
          </a:p>
          <a:p xmlns:a="http://schemas.openxmlformats.org/drawingml/2006/main">
            <a:r>
              <a:t/>
            </a:r>
          </a:p>
          <a:p xmlns:a="http://schemas.openxmlformats.org/drawingml/2006/main">
            <a:r>
              <a:t>CONNECT</a:t>
            </a:r>
          </a:p>
          <a:p xmlns:a="http://schemas.openxmlformats.org/drawingml/2006/main">
            <a:r>
              <a:t>Build on Validation and trust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10 quiz</a:t>
            </a:r>
          </a:p>
          <a:p xmlns:a="http://schemas.openxmlformats.org/drawingml/2006/main">
            <a:r>
              <a:t/>
            </a:r>
          </a:p>
          <a:p xmlns:a="http://schemas.openxmlformats.org/drawingml/2006/main">
            <a:r>
              <a:t>CONNECT</a:t>
            </a:r>
          </a:p>
          <a:p xmlns:a="http://schemas.openxmlformats.org/drawingml/2006/main">
            <a:r>
              <a:t>Build on the preceding slide: Validation and trust submission.</a:t>
            </a:r>
          </a:p>
          <a:p xmlns:a="http://schemas.openxmlformats.org/drawingml/2006/main">
            <a:r>
              <a:t/>
            </a:r>
          </a:p>
          <a:p xmlns:a="http://schemas.openxmlformats.org/drawingml/2006/main">
            <a:r>
              <a:t>LECTURER CUE</a:t>
            </a:r>
          </a:p>
          <a:p xmlns:a="http://schemas.openxmlformats.org/drawingml/2006/main">
            <a:r>
              <a:t>Activate the matching open_W10_CML3113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10 quiz. Explain why this example is needed before running it.</a:t>
            </a:r>
          </a:p>
          <a:p xmlns:a="http://schemas.openxmlformats.org/drawingml/2006/main">
            <a:r>
              <a:t/>
            </a:r>
          </a:p>
          <a:p xmlns:a="http://schemas.openxmlformats.org/drawingml/2006/main">
            <a:r>
              <a:t>EXPLAIN</a:t>
            </a:r>
          </a:p>
          <a:p xmlns:a="http://schemas.openxmlformats.org/drawingml/2006/main">
            <a:r>
              <a:t>You can identify which records may influence preprocessing and model selection.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10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Explain why our repeated equipment IDs require grouped partitions rather than ordinary random folds.</a:t>
            </a:r>
          </a:p>
          <a:p xmlns:a="http://schemas.openxmlformats.org/drawingml/2006/main">
            <a:r>
              <a:t>Preview before class and stop after the selected short excerpt. If playback fails, teach the worked example. Video is optional. Source: https://www.youtube.com/watch?v=fSytzGwwBVw</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040ac8990b4f4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11d77e1444d4a4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30b6a7ccac84c2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07fcab308584f3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b351c39f4e04d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876744fabdd47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D23C78D-606A-454E-A5CD-BE8BC161C3EC}"/>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C1DBBD9-DE92-4BA9-B09C-CEDAEF3302BD}"/>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1BBF9803-13FC-4179-9282-00E10A285E5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42DFBE1C-24A2-4EAB-884B-383906A89846}"/>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000065C-4573-4EC1-AD9C-6DB5F685082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56524EB-9C13-41B4-AA52-E8B4783121B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7623D1F-566A-4C84-8C29-5DE6C70E8F5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0BC377EB-61DC-4ADC-8FF2-F5728F9F49DA}"/>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C338A4B-C22B-4E7D-A6FB-F88DB72FDC1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E31A356-F132-4D34-977A-EE000704942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6FF1714-38E8-490B-A494-C47FD50FCC7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52CBAE43-EE43-48A3-B085-0C5D6404160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5C12950-4BE4-4AEE-81E4-CAFC16A6CA9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5A747EB-B788-4D8B-B29B-193CEE643FC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54A71E8-566C-4D03-A8CE-024C1EE9990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0a03eabd0348fc" /><Relationship Type="http://schemas.openxmlformats.org/officeDocument/2006/relationships/slideLayout" Target="/ppt/slideLayouts/slideLayout1.xml" Id="R3415d8cdc2794eca" /><Relationship Type="http://schemas.openxmlformats.org/officeDocument/2006/relationships/slideLayout" Target="/ppt/slideLayouts/slideLayout2.xml" Id="R78d9f02189464db8" /><Relationship Type="http://schemas.openxmlformats.org/officeDocument/2006/relationships/slideLayout" Target="/ppt/slideLayouts/slideLayout3.xml" Id="Rdcac3b0211d441cd" /><Relationship Type="http://schemas.openxmlformats.org/officeDocument/2006/relationships/slideLayout" Target="/ppt/slideLayouts/slideLayout4.xml" Id="R015f01e043344d06" /><Relationship Type="http://schemas.openxmlformats.org/officeDocument/2006/relationships/slideLayout" Target="/ppt/slideLayouts/slideLayout5.xml" Id="R33b6470e32c948cf" /><Relationship Type="http://schemas.openxmlformats.org/officeDocument/2006/relationships/slideLayout" Target="/ppt/slideLayouts/slideLayout6.xml" Id="R5c0a554becd5471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15d8cdc2794eca"/>
    <p:sldLayoutId xmlns:r="http://schemas.openxmlformats.org/officeDocument/2006/relationships" id="2147483650" r:id="R78d9f02189464db8"/>
    <p:sldLayoutId xmlns:r="http://schemas.openxmlformats.org/officeDocument/2006/relationships" id="2147483651" r:id="Rdcac3b0211d441cd"/>
    <p:sldLayoutId xmlns:r="http://schemas.openxmlformats.org/officeDocument/2006/relationships" id="2147483652" r:id="R015f01e043344d06"/>
    <p:sldLayoutId xmlns:r="http://schemas.openxmlformats.org/officeDocument/2006/relationships" id="2147483653" r:id="R33b6470e32c948cf"/>
    <p:sldLayoutId xmlns:r="http://schemas.openxmlformats.org/officeDocument/2006/relationships" id="2147483654" r:id="R5c0a554becd5471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0d914fdc529443a" /><Relationship Type="http://schemas.openxmlformats.org/officeDocument/2006/relationships/image" Target="/ppt/media/image.png" Id="R21924ce6c81c4516" /><Relationship Type="http://schemas.openxmlformats.org/officeDocument/2006/relationships/notesSlide" Target="/ppt/notesSlides/notesSlide1.xml" Id="R2018ade2bf76487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2e14e51ac3e4862" /><Relationship Type="http://schemas.openxmlformats.org/officeDocument/2006/relationships/notesSlide" Target="/ppt/notesSlides/notesSlide2.xml" Id="Rf397a87622204fd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e0a1089c3d4476a" /><Relationship Type="http://schemas.openxmlformats.org/officeDocument/2006/relationships/notesSlide" Target="/ppt/notesSlides/notesSlide3.xml" Id="Ra7fb31381b3c46f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795b493b79d4424" /><Relationship Type="http://schemas.openxmlformats.org/officeDocument/2006/relationships/notesSlide" Target="/ppt/notesSlides/notesSlide4.xml" Id="R571182f8db4d4b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5576a23af4a4b2f" /><Relationship Type="http://schemas.openxmlformats.org/officeDocument/2006/relationships/notesSlide" Target="/ppt/notesSlides/notesSlide5.xml" Id="Rf6e4567129db43b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9250bd23c874b05" /><Relationship Type="http://schemas.openxmlformats.org/officeDocument/2006/relationships/image" Target="/ppt/media/image2.png" Id="R15db026815734eb2" /><Relationship Type="http://schemas.openxmlformats.org/officeDocument/2006/relationships/notesSlide" Target="/ppt/notesSlides/notesSlide6.xml" Id="R534eab96888447d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fb7aea074a6456a" /><Relationship Type="http://schemas.openxmlformats.org/officeDocument/2006/relationships/notesSlide" Target="/ppt/notesSlides/notesSlide7.xml" Id="R2489e1e6952c4e2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92974c3ba5d4b53" /><Relationship Type="http://schemas.openxmlformats.org/officeDocument/2006/relationships/notesSlide" Target="/ppt/notesSlides/notesSlide8.xml" Id="R495e57c0502440a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883f74a7aa84f78" /><Relationship Type="http://schemas.openxmlformats.org/officeDocument/2006/relationships/notesSlide" Target="/ppt/notesSlides/notesSlide9.xml" Id="Ra40362bfc1d94e9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11688c2627a484e" /><Relationship Type="http://schemas.openxmlformats.org/officeDocument/2006/relationships/notesSlide" Target="/ppt/notesSlides/notesSlide10.xml" Id="Rbfcfc86c4b5f49e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89b1ef24e59404a" /><Relationship Type="http://schemas.openxmlformats.org/officeDocument/2006/relationships/notesSlide" Target="/ppt/notesSlides/notesSlide11.xml" Id="Rf150b286ab43448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5e422efcb6347db" /><Relationship Type="http://schemas.openxmlformats.org/officeDocument/2006/relationships/notesSlide" Target="/ppt/notesSlides/notesSlide12.xml" Id="Rb79395df6ff84d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e16bab487794962" /><Relationship Type="http://schemas.openxmlformats.org/officeDocument/2006/relationships/notesSlide" Target="/ppt/notesSlides/notesSlide13.xml" Id="Rbe0ee306f7fc478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8c5a7d7ac674827" /><Relationship Type="http://schemas.openxmlformats.org/officeDocument/2006/relationships/notesSlide" Target="/ppt/notesSlides/notesSlide14.xml" Id="R6ffc13da21b243a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7791aea727c44ee" /><Relationship Type="http://schemas.openxmlformats.org/officeDocument/2006/relationships/notesSlide" Target="/ppt/notesSlides/notesSlide15.xml" Id="R7821424173f048f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1d0b600885e4355" /><Relationship Type="http://schemas.openxmlformats.org/officeDocument/2006/relationships/notesSlide" Target="/ppt/notesSlides/notesSlide16.xml" Id="Rdea19c6e1db245e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5ab6f6c88d2483c" /><Relationship Type="http://schemas.openxmlformats.org/officeDocument/2006/relationships/notesSlide" Target="/ppt/notesSlides/notesSlide17.xml" Id="Rd7022865a5d8476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be83bb5fdce4baa" /><Relationship Type="http://schemas.openxmlformats.org/officeDocument/2006/relationships/notesSlide" Target="/ppt/notesSlides/notesSlide18.xml" Id="R5212a0c936654f7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1f1a840cf7f4cfe" /><Relationship Type="http://schemas.openxmlformats.org/officeDocument/2006/relationships/notesSlide" Target="/ppt/notesSlides/notesSlide19.xml" Id="Rafbaab05f684426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9bdefba0c2e4b7d" /><Relationship Type="http://schemas.openxmlformats.org/officeDocument/2006/relationships/notesSlide" Target="/ppt/notesSlides/notesSlide20.xml" Id="R013f0fb3a97149f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9877f9da7fe4a01" /><Relationship Type="http://schemas.openxmlformats.org/officeDocument/2006/relationships/notesSlide" Target="/ppt/notesSlides/notesSlide21.xml" Id="R12db4181f131414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e9d2867a2b14a1b" /><Relationship Type="http://schemas.openxmlformats.org/officeDocument/2006/relationships/image" Target="/ppt/media/image3.png" Id="Re0d9b7e85cb04f79" /><Relationship Type="http://schemas.openxmlformats.org/officeDocument/2006/relationships/notesSlide" Target="/ppt/notesSlides/notesSlide22.xml" Id="R03b870d9308241a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c0c9b90e5b345bc" /><Relationship Type="http://schemas.openxmlformats.org/officeDocument/2006/relationships/notesSlide" Target="/ppt/notesSlides/notesSlide23.xml" Id="R0e9912f0d2014b3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295e58828fd4d07" /><Relationship Type="http://schemas.openxmlformats.org/officeDocument/2006/relationships/notesSlide" Target="/ppt/notesSlides/notesSlide24.xml" Id="R6da05ae0c2a0429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c72c331a3384495" /><Relationship Type="http://schemas.openxmlformats.org/officeDocument/2006/relationships/notesSlide" Target="/ppt/notesSlides/notesSlide25.xml" Id="Ra13cd85f51b6415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ad0bd693d4143d4" /><Relationship Type="http://schemas.openxmlformats.org/officeDocument/2006/relationships/notesSlide" Target="/ppt/notesSlides/notesSlide26.xml" Id="Rcfcdab2b346b47d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7f074fa6dda47b1" /><Relationship Type="http://schemas.openxmlformats.org/officeDocument/2006/relationships/notesSlide" Target="/ppt/notesSlides/notesSlide27.xml" Id="R44c7916d269544a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9f286df14774cd2" /><Relationship Type="http://schemas.openxmlformats.org/officeDocument/2006/relationships/notesSlide" Target="/ppt/notesSlides/notesSlide28.xml" Id="R90a28294ed73474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3d81bc98d5041fc" /><Relationship Type="http://schemas.openxmlformats.org/officeDocument/2006/relationships/notesSlide" Target="/ppt/notesSlides/notesSlide29.xml" Id="R8f566fa07a8c4d4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cc95133ae36479a" /><Relationship Type="http://schemas.openxmlformats.org/officeDocument/2006/relationships/notesSlide" Target="/ppt/notesSlides/notesSlide30.xml" Id="Red680d28650842c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9a98f831cb7479a" /><Relationship Type="http://schemas.openxmlformats.org/officeDocument/2006/relationships/notesSlide" Target="/ppt/notesSlides/notesSlide31.xml" Id="R1815438060e7474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fc77ba0189c4051" /><Relationship Type="http://schemas.openxmlformats.org/officeDocument/2006/relationships/hyperlink" Target="https://docs.google.com/forms/d/e/1FAIpQLSd0PIGgcund5zKvqtctB1dz7pekt8hubl0ZUrFL-BJc9bKGlQ/viewform" TargetMode="External" Id="Rcd97cff777a2419c" /><Relationship Type="http://schemas.openxmlformats.org/officeDocument/2006/relationships/notesSlide" Target="/ppt/notesSlides/notesSlide32.xml" Id="R78b235bca83e4c2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fee470025324e11" /><Relationship Type="http://schemas.openxmlformats.org/officeDocument/2006/relationships/image" Target="/ppt/media/image4.png" Id="R0940270bf3a547a1" /><Relationship Type="http://schemas.openxmlformats.org/officeDocument/2006/relationships/hyperlink" Target="https://forms.gle/LQPALyRC3uRvZqDJ8" TargetMode="External" Id="Rc3a3f0086873466c" /><Relationship Type="http://schemas.openxmlformats.org/officeDocument/2006/relationships/notesSlide" Target="/ppt/notesSlides/notesSlide33.xml" Id="R8d07c4366b1b481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5f8a14ca1394d97" /><Relationship Type="http://schemas.openxmlformats.org/officeDocument/2006/relationships/notesSlide" Target="/ppt/notesSlides/notesSlide34.xml" Id="R3e17a440a15340e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4998ce8fce84dff" /><Relationship Type="http://schemas.openxmlformats.org/officeDocument/2006/relationships/hyperlink" Target="https://www.youtube.com/watch?v=fSytzGwwBVw" TargetMode="External" Id="R877e8f99a7604fb4" /><Relationship Type="http://schemas.openxmlformats.org/officeDocument/2006/relationships/notesSlide" Target="/ppt/notesSlides/notesSlide35.xml" Id="R37a8c5f20bd646e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1924ce6c81c451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911932F-82C9-406B-87CB-1DED16B1972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6DCC9BD-903A-4C02-B472-D1241051B1F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10</a:t>
            </a:r>
          </a:p>
        </p:txBody>
      </p:sp>
      <p:sp>
        <p:nvSpPr>
          <p:cNvPr id="4" name="">
            <a:extLst xmlns:a="http://schemas.openxmlformats.org/drawingml/2006/main">
              <a:ext uri="{FF2B5EF4-FFF2-40B4-BE49-F238E27FC236}">
                <a16:creationId xmlns:a16="http://schemas.microsoft.com/office/drawing/2014/main" id="{45BD6CE4-EAFD-4D5D-8A50-6A875435249E}"/>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477F0D52-C6C3-43E3-AA0F-ACA6519DC04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D5BBBAD-A871-48A7-88D3-268321CD18D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84545799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C0E4556-5C7A-4996-ADC6-CC510E5326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669E51-DC25-4041-98CC-A1FD34AF8E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0413AC8E-B55B-4442-ACAA-2650542399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05F26D2-4F7F-408F-A625-A10E5A145E44}"/>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33D917-BEFF-4B26-9A41-945A205B530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919EECCB-957F-4CB6-9BF2-E7F5B8DE57D0}"/>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6584A727-CF99-4B8B-8B4C-63A151E00EB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CD593D6F-1D3A-47D8-BA12-ADC2DD3A826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C1C82826-AB9E-47C2-9668-181E9B3380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a:t>
            </a:r>
          </a:p>
        </p:txBody>
      </p:sp>
    </p:spTree>
    <p:extLst>
      <p:ext uri="{BB962C8B-B14F-4D97-AF65-F5344CB8AC3E}">
        <p14:creationId xmlns:p14="http://schemas.microsoft.com/office/powerpoint/2010/main" val="71886242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DDF6B2-0F74-4E26-AE19-07745D498B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7D798C-F7AA-4FE6-8771-9DC494AEB5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19FB16-EB9C-49B7-890B-8FF8E955BB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C6874CB1-6DB1-4B66-A03B-3BE95FF83FC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FE36CF-314D-4BF4-8532-F0DEA294F11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have compared predictions with known answers.</a:t>
            </a:r>
          </a:p>
        </p:txBody>
      </p:sp>
      <p:sp>
        <p:nvSpPr>
          <p:cNvPr id="6" name="">
            <a:extLst xmlns:a="http://schemas.openxmlformats.org/drawingml/2006/main">
              <a:ext uri="{FF2B5EF4-FFF2-40B4-BE49-F238E27FC236}">
                <a16:creationId xmlns:a16="http://schemas.microsoft.com/office/drawing/2014/main" id="{28311BEC-F7A7-4664-A654-676B528DDAA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control which observations may influence training, choices and the final evaluation.</a:t>
            </a:r>
          </a:p>
        </p:txBody>
      </p:sp>
      <p:sp>
        <p:nvSpPr>
          <p:cNvPr id="7" name="">
            <a:extLst xmlns:a="http://schemas.openxmlformats.org/drawingml/2006/main">
              <a:ext uri="{FF2B5EF4-FFF2-40B4-BE49-F238E27FC236}">
                <a16:creationId xmlns:a16="http://schemas.microsoft.com/office/drawing/2014/main" id="{3DD0C2A3-A353-4F83-94A3-5ACDD455B2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a:t>
            </a:r>
          </a:p>
        </p:txBody>
      </p:sp>
    </p:spTree>
    <p:extLst>
      <p:ext uri="{BB962C8B-B14F-4D97-AF65-F5344CB8AC3E}">
        <p14:creationId xmlns:p14="http://schemas.microsoft.com/office/powerpoint/2010/main" val="17736058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8C0FBA-02DA-4B39-8A38-E0D7EE3567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820005-7D3C-47E7-A083-0024BDD76B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A4262C-AA2F-4E1C-85EE-14DDDBE9F9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6684081B-BC3F-42B5-A539-FB605C22FC5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1541B71-B896-47CE-B8FA-7E494078BBA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want evidence about new equipment or future observations.</a:t>
            </a:r>
          </a:p>
        </p:txBody>
      </p:sp>
      <p:sp>
        <p:nvSpPr>
          <p:cNvPr id="6" name="">
            <a:extLst xmlns:a="http://schemas.openxmlformats.org/drawingml/2006/main">
              <a:ext uri="{FF2B5EF4-FFF2-40B4-BE49-F238E27FC236}">
                <a16:creationId xmlns:a16="http://schemas.microsoft.com/office/drawing/2014/main" id="{14DE010A-E7B1-45C7-9658-7DD1BFFAEA5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way we separate data must match that use before any model or preprocessing learns from it.</a:t>
            </a:r>
          </a:p>
        </p:txBody>
      </p:sp>
      <p:sp>
        <p:nvSpPr>
          <p:cNvPr id="7" name="">
            <a:extLst xmlns:a="http://schemas.openxmlformats.org/drawingml/2006/main">
              <a:ext uri="{FF2B5EF4-FFF2-40B4-BE49-F238E27FC236}">
                <a16:creationId xmlns:a16="http://schemas.microsoft.com/office/drawing/2014/main" id="{FE59845F-D49E-4FE3-ADD2-8C3038F445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a:t>
            </a:r>
          </a:p>
        </p:txBody>
      </p:sp>
    </p:spTree>
    <p:extLst>
      <p:ext uri="{BB962C8B-B14F-4D97-AF65-F5344CB8AC3E}">
        <p14:creationId xmlns:p14="http://schemas.microsoft.com/office/powerpoint/2010/main" val="16526411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EA2D87-761E-4F55-BFB1-DB02E2813E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E08A83-26B7-45F6-8620-7259C0FB2D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13787B-AFC0-44DE-B0B0-765901CB2D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C73D1419-9466-412D-A42F-7A1269A48A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B7C29EE-D437-4E5E-ADA8-D8157E97869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99214717-E362-4FC1-9417-3106B8601D5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DD28C8-EB6C-48E8-87A2-B3E1E88AD3E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3E4883CA-72E4-4227-86D6-3761969FE67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683B5D-BFFB-43D9-989D-6E2CCE63125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D1E33B4F-1ADB-42B6-ACB0-6E0EE7AD74C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ED5C12A-0705-46FF-8447-DD8FC92C16B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D7A913EA-9CD6-4FD1-B7C3-F5E21289E1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a:t>
            </a:r>
          </a:p>
        </p:txBody>
      </p:sp>
    </p:spTree>
    <p:extLst>
      <p:ext uri="{BB962C8B-B14F-4D97-AF65-F5344CB8AC3E}">
        <p14:creationId xmlns:p14="http://schemas.microsoft.com/office/powerpoint/2010/main" val="15765856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336CE5-617C-4088-BA23-54931B00DB4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38318E-DC33-4EF5-A94F-6B94258AC63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5db026815734eb2"/>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85DFD9B-217C-42AE-B6FE-2421B9CE011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02EB66-C70C-41BE-B793-859B661AB56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854AF9BE-91CC-45C1-B8FE-FF9DB44A91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6</a:t>
            </a:r>
          </a:p>
        </p:txBody>
      </p:sp>
    </p:spTree>
    <p:extLst>
      <p:ext uri="{BB962C8B-B14F-4D97-AF65-F5344CB8AC3E}">
        <p14:creationId xmlns:p14="http://schemas.microsoft.com/office/powerpoint/2010/main" val="14217043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1C3773-6908-4250-A375-69F3F6E831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5E0751-3107-4AF3-A4D8-C05E2234AA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B9D37B3-52D1-4E79-BC38-9848B54889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Generalisation and Overfitting and underfitting</a:t>
            </a:r>
          </a:p>
        </p:txBody>
      </p:sp>
      <p:sp>
        <p:nvSpPr>
          <p:cNvPr id="4" name="">
            <a:extLst xmlns:a="http://schemas.openxmlformats.org/drawingml/2006/main">
              <a:ext uri="{FF2B5EF4-FFF2-40B4-BE49-F238E27FC236}">
                <a16:creationId xmlns:a16="http://schemas.microsoft.com/office/drawing/2014/main" id="{170420B5-2853-4AB5-8653-87CF575C436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615559-F20D-416B-AD26-7705B45C214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B5C7349C-D6A6-402D-8A7D-C642896A179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67F4560F-77D7-4FE5-933E-05660C21482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3AD0ED7-41CD-4062-B7C5-7A2A05F51B3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9FD92A28-E196-4538-8315-66D44EEFA4D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996B2F2F-8B78-4519-80ED-065356515F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7</a:t>
            </a:r>
          </a:p>
        </p:txBody>
      </p:sp>
    </p:spTree>
    <p:extLst>
      <p:ext uri="{BB962C8B-B14F-4D97-AF65-F5344CB8AC3E}">
        <p14:creationId xmlns:p14="http://schemas.microsoft.com/office/powerpoint/2010/main" val="80595017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9D9550-061F-46D3-AC8F-A18389D980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6CF326-0ACB-4A9F-8779-B88B2A7B58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2E9A428-8F2A-4ECD-B34D-1E9D43BA5E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and Group split</a:t>
            </a:r>
          </a:p>
        </p:txBody>
      </p:sp>
      <p:sp>
        <p:nvSpPr>
          <p:cNvPr id="4" name="">
            <a:extLst xmlns:a="http://schemas.openxmlformats.org/drawingml/2006/main">
              <a:ext uri="{FF2B5EF4-FFF2-40B4-BE49-F238E27FC236}">
                <a16:creationId xmlns:a16="http://schemas.microsoft.com/office/drawing/2014/main" id="{F936DE35-9E59-4A74-B43A-6CEE93F7E58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6BA739-0C43-4DB7-B2F4-711825793C9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12DB40C0-5885-4A2A-805E-43D08054F64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A6FCD73E-BBE9-473C-A084-23F88F96B6D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6497469-7D59-4A0F-85B1-FC89F2280C3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BBCC707D-5EC7-430D-8B0D-6F645749FF4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C2B15BE7-B80D-4349-885E-F69CCED694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8</a:t>
            </a:r>
          </a:p>
        </p:txBody>
      </p:sp>
    </p:spTree>
    <p:extLst>
      <p:ext uri="{BB962C8B-B14F-4D97-AF65-F5344CB8AC3E}">
        <p14:creationId xmlns:p14="http://schemas.microsoft.com/office/powerpoint/2010/main" val="189031991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BB0940-8243-4856-9DEE-A8CD57B2DB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7A8232-D2A9-4F78-9854-0875966456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E97096-8449-41DE-B82A-39666BF22A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91C8111E-A4D4-48F5-A8BE-60C398AF0D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FB8DC2-837F-4795-ADC9-EE35C663DC2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AE392759-406E-460B-B156-9C02FFCC177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0A02A1-F8BE-4FBC-8694-F23153A0D59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0BC80600-85C8-40AD-A856-CC7766C059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D4A1FD-4005-4E8E-AED9-E9DF74FDFEF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9318AB50-AA32-430A-8428-81BDFA295C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9</a:t>
            </a:r>
          </a:p>
        </p:txBody>
      </p:sp>
    </p:spTree>
    <p:extLst>
      <p:ext uri="{BB962C8B-B14F-4D97-AF65-F5344CB8AC3E}">
        <p14:creationId xmlns:p14="http://schemas.microsoft.com/office/powerpoint/2010/main" val="16106792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759235-8398-4CD2-879D-411B4E567F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8827A5-B602-4878-8945-E9346E9524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B18392F-EB6E-4303-92B1-A1E11939EF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AD70DEF1-28B8-4ECA-AA50-23E7A576773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toy split explains group separation.</a:t>
            </a:r>
          </a:p>
        </p:txBody>
      </p:sp>
      <p:sp>
        <p:nvSpPr>
          <p:cNvPr id="6" name="">
            <a:extLst xmlns:a="http://schemas.openxmlformats.org/drawingml/2006/main">
              <a:ext uri="{FF2B5EF4-FFF2-40B4-BE49-F238E27FC236}">
                <a16:creationId xmlns:a16="http://schemas.microsoft.com/office/drawing/2014/main" id="{B8C30D86-1AF7-45F6-872E-B3A1842AAB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10</a:t>
            </a:r>
          </a:p>
        </p:txBody>
      </p:sp>
    </p:spTree>
    <p:extLst>
      <p:ext uri="{BB962C8B-B14F-4D97-AF65-F5344CB8AC3E}">
        <p14:creationId xmlns:p14="http://schemas.microsoft.com/office/powerpoint/2010/main" val="16174768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A093919-F94A-4DD3-B958-F428248544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3E28C4-2BED-4384-94E6-AAD91D6BD2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E8FCA51-63EE-4E68-8039-CEF92B2D5D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(1/2)</a:t>
            </a:r>
          </a:p>
        </p:txBody>
      </p:sp>
      <p:sp>
        <p:nvSpPr>
          <p:cNvPr id="4" name="">
            <a:extLst xmlns:a="http://schemas.openxmlformats.org/drawingml/2006/main">
              <a:ext uri="{FF2B5EF4-FFF2-40B4-BE49-F238E27FC236}">
                <a16:creationId xmlns:a16="http://schemas.microsoft.com/office/drawing/2014/main" id="{42136F1B-64FB-4C37-BC15-DC4103435AF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94C393-E9FB-48DC-920A-6F7B8CD7B6A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9EB3B7B5-247F-4443-A4EB-226117D6442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C283B52-42C8-41F6-AEBE-9088F695DF5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DFF99287-D4FD-4867-A0EE-8857C9D2C56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722AAE14-C2A8-47E1-834B-B464BBAC9A9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F28D9498-394D-448F-B898-D8F77F2FBF5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3233BDDD-302C-4EFE-948D-C7E6D01056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11</a:t>
            </a:r>
          </a:p>
        </p:txBody>
      </p:sp>
    </p:spTree>
    <p:extLst>
      <p:ext uri="{BB962C8B-B14F-4D97-AF65-F5344CB8AC3E}">
        <p14:creationId xmlns:p14="http://schemas.microsoft.com/office/powerpoint/2010/main" val="33353015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74B86D5-0944-4A36-BC18-0D7FC7B862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B51992-A51F-49A6-BD26-B72FC861EE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50C5EE-1A9B-4253-8711-A680D008AB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(2/2)</a:t>
            </a:r>
          </a:p>
        </p:txBody>
      </p:sp>
      <p:sp>
        <p:nvSpPr>
          <p:cNvPr id="4" name="">
            <a:extLst xmlns:a="http://schemas.openxmlformats.org/drawingml/2006/main">
              <a:ext uri="{FF2B5EF4-FFF2-40B4-BE49-F238E27FC236}">
                <a16:creationId xmlns:a16="http://schemas.microsoft.com/office/drawing/2014/main" id="{953580FE-ABE4-4EF8-A0F4-DDF4C9B4AC7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5D7112-82C8-47D0-9562-0CDEBADA6F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F6482710-8471-4CB9-852A-E24F83D2F29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597453C-32D9-4386-866D-58CAAFE71D2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7B3C5AAD-C06E-41BC-8EF4-E3089375D8C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1494EA6B-464C-47B0-90CB-07B6B5E2AA8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13B4CCEA-1F1F-4390-A9D0-C3B83A4C64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B105CA2E-C642-498E-BC2B-8721C027D0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12</a:t>
            </a:r>
          </a:p>
        </p:txBody>
      </p:sp>
    </p:spTree>
    <p:extLst>
      <p:ext uri="{BB962C8B-B14F-4D97-AF65-F5344CB8AC3E}">
        <p14:creationId xmlns:p14="http://schemas.microsoft.com/office/powerpoint/2010/main" val="195422972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E28464-5D5D-435C-8329-26E4CDD13E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244697-1CE6-444A-AAB5-56FC4FC518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D0350716-5CE8-4E25-86F4-700CD858FD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results</a:t>
            </a:r>
          </a:p>
        </p:txBody>
      </p:sp>
      <p:sp>
        <p:nvSpPr>
          <p:cNvPr id="4" name="">
            <a:extLst xmlns:a="http://schemas.openxmlformats.org/drawingml/2006/main">
              <a:ext uri="{FF2B5EF4-FFF2-40B4-BE49-F238E27FC236}">
                <a16:creationId xmlns:a16="http://schemas.microsoft.com/office/drawing/2014/main" id="{CAC91B27-366F-43A1-9085-E7BBA202BDF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26D86A-0441-4725-906D-4303250849A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3911F056-9C1C-4CA9-A718-9317567DB39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E44A677-93C1-428E-AC35-094C7D477E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13</a:t>
            </a:r>
          </a:p>
        </p:txBody>
      </p:sp>
    </p:spTree>
    <p:extLst>
      <p:ext uri="{BB962C8B-B14F-4D97-AF65-F5344CB8AC3E}">
        <p14:creationId xmlns:p14="http://schemas.microsoft.com/office/powerpoint/2010/main" val="17958272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FDA3FC-8265-45AE-8DDE-4CE9CDF2D0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DF0B4F-07A9-4702-A3B2-C60E00C4A4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297A51A-3ECE-4ED1-B300-846DA29DF5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3B88ADDC-79B7-47AA-8535-A76AF84EDE0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C4A9BE-78E0-4CFE-956B-4C2869E02B9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C9BAC499-A5B5-42AC-8A9E-FBE90D1ADEF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5E5BA26F-62B5-41A3-840D-01DCA4BAB7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14</a:t>
            </a:r>
          </a:p>
        </p:txBody>
      </p:sp>
    </p:spTree>
    <p:extLst>
      <p:ext uri="{BB962C8B-B14F-4D97-AF65-F5344CB8AC3E}">
        <p14:creationId xmlns:p14="http://schemas.microsoft.com/office/powerpoint/2010/main" val="70134666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C3A2F8-D9E4-4A49-BB86-998744207A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87D511-85DF-41D1-9C10-5D8289AB3E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A07D7E-A4E3-4B6F-A445-4168008D8B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5540C4AA-8BAF-4A7B-943B-72FA21FA7F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3BA77D6-CB89-4E5D-8403-EA0463723CE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98323EB8-0C5C-458D-A484-AC89CD3255F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B760A8-107A-4047-973F-654222FD89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C028E443-1272-40B2-9B2B-3BEEDFE9ABB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4D839A-E208-4BCB-A198-19BA2C5B044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37F15B35-A0F6-4B8D-A97D-226D4C74E3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15</a:t>
            </a:r>
          </a:p>
        </p:txBody>
      </p:sp>
    </p:spTree>
    <p:extLst>
      <p:ext uri="{BB962C8B-B14F-4D97-AF65-F5344CB8AC3E}">
        <p14:creationId xmlns:p14="http://schemas.microsoft.com/office/powerpoint/2010/main" val="148787563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EE0CEE6-1029-401F-AE07-B82C86D88E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005E9D-A643-43F9-8BE9-E29B3F1CF5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063914C-C913-4483-80A8-63DE39ECFF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9E375E19-3469-4482-8841-EA66D62D081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8C7C98-46DC-4073-9065-CBBDDBDE3E3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40F719A6-E135-4F98-BBE7-47EF56E641B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A3F9F5B-01AD-40B5-9698-0E269B99C7C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C0734B12-552F-465B-8FAC-21380A53142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C8436756-C176-4502-BDE4-E83A43E6FEE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A09654A7-9BB0-43CB-A7C2-EC162201686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994F2065-9E1B-414A-B134-FA57185F96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16</a:t>
            </a:r>
          </a:p>
        </p:txBody>
      </p:sp>
    </p:spTree>
    <p:extLst>
      <p:ext uri="{BB962C8B-B14F-4D97-AF65-F5344CB8AC3E}">
        <p14:creationId xmlns:p14="http://schemas.microsoft.com/office/powerpoint/2010/main" val="65069534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5220C0-7B15-483F-94A1-2526D70694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522C2E-F4DC-47EB-898D-07D7257989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FD363C6-3E1F-42EE-A74C-FAB91AD9D2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38B921E7-2C70-4047-8DAC-E6C6A48F5EC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19E764-7386-465D-8571-D42C0829B55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D858096A-33E7-4E85-957C-8F24A6B69AD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4EE74E90-342B-4087-A9FD-18E9F67DC27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3CE8C0A1-D579-4C48-8428-F75D29465B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17</a:t>
            </a:r>
          </a:p>
        </p:txBody>
      </p:sp>
    </p:spTree>
    <p:extLst>
      <p:ext uri="{BB962C8B-B14F-4D97-AF65-F5344CB8AC3E}">
        <p14:creationId xmlns:p14="http://schemas.microsoft.com/office/powerpoint/2010/main" val="4905292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B9C523-4F6B-40A7-A817-A52717E974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C26F2A-55F1-4618-8137-F561CB462B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24B3F0-612C-4F91-8231-FAEC4E9133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885EDE4D-5444-43D7-A4F9-9458EEA64E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59C8B8-C157-4947-B2BF-FD3E06D4DB3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3C27C7DE-9005-49BB-8AF3-9774A7B48EC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55F52C-4272-4DF0-A37E-509D433FEF5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861EBD31-6EA5-42F5-A56D-698474B284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18325B-C433-4E29-AD05-F355492C010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61F8FD11-88EF-460E-B2BC-D55AD1EE88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18</a:t>
            </a:r>
          </a:p>
        </p:txBody>
      </p:sp>
    </p:spTree>
    <p:extLst>
      <p:ext uri="{BB962C8B-B14F-4D97-AF65-F5344CB8AC3E}">
        <p14:creationId xmlns:p14="http://schemas.microsoft.com/office/powerpoint/2010/main" val="150269413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51BED8-5928-4D4B-BABC-7CEE5AF284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7F2F38-BD64-4AB7-A975-976A7D1C39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9D2E7AD-70F7-467A-933F-A47FD1E9CC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Parameters hyperparameters and a fold</a:t>
            </a:r>
          </a:p>
        </p:txBody>
      </p:sp>
      <p:sp>
        <p:nvSpPr>
          <p:cNvPr id="4" name="">
            <a:extLst xmlns:a="http://schemas.openxmlformats.org/drawingml/2006/main">
              <a:ext uri="{FF2B5EF4-FFF2-40B4-BE49-F238E27FC236}">
                <a16:creationId xmlns:a16="http://schemas.microsoft.com/office/drawing/2014/main" id="{C35158A2-9898-4C03-9A8C-F6DCD433654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2711FE-4BA2-4C13-BA5E-437FAC9E664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parameter is learned during fitting, such as a line’s slope. A hyperparameter is a setting chosen around fitting, such as a tree’s max_depth.</a:t>
            </a:r>
          </a:p>
        </p:txBody>
      </p:sp>
      <p:sp>
        <p:nvSpPr>
          <p:cNvPr id="6" name="">
            <a:extLst xmlns:a="http://schemas.openxmlformats.org/drawingml/2006/main">
              <a:ext uri="{FF2B5EF4-FFF2-40B4-BE49-F238E27FC236}">
                <a16:creationId xmlns:a16="http://schemas.microsoft.com/office/drawing/2014/main" id="{43DF1916-A511-4623-B93F-3CFD57B3146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86E0BB-7602-477F-84FE-1CDF6780369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fold is one part of the development data used for a validation turn. Refit the entire preprocessing and model on the other parts for that turn.</a:t>
            </a:r>
          </a:p>
        </p:txBody>
      </p:sp>
      <p:sp>
        <p:nvSpPr>
          <p:cNvPr id="8" name="">
            <a:extLst xmlns:a="http://schemas.openxmlformats.org/drawingml/2006/main">
              <a:ext uri="{FF2B5EF4-FFF2-40B4-BE49-F238E27FC236}">
                <a16:creationId xmlns:a16="http://schemas.microsoft.com/office/drawing/2014/main" id="{3242C7E4-E7AB-4002-A3DC-EA1D7C004F4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27CF2A-4CC2-42DB-8944-311DE8A0582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candidate settings using validation evidence. Keep the final test outside that selection process.</a:t>
            </a:r>
          </a:p>
        </p:txBody>
      </p:sp>
      <p:sp>
        <p:nvSpPr>
          <p:cNvPr id="10" name="">
            <a:extLst xmlns:a="http://schemas.openxmlformats.org/drawingml/2006/main">
              <a:ext uri="{FF2B5EF4-FFF2-40B4-BE49-F238E27FC236}">
                <a16:creationId xmlns:a16="http://schemas.microsoft.com/office/drawing/2014/main" id="{02871881-0DFC-4163-9FA2-2F6FD603C8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19</a:t>
            </a:r>
          </a:p>
        </p:txBody>
      </p:sp>
    </p:spTree>
    <p:extLst>
      <p:ext uri="{BB962C8B-B14F-4D97-AF65-F5344CB8AC3E}">
        <p14:creationId xmlns:p14="http://schemas.microsoft.com/office/powerpoint/2010/main" val="1085893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8FFB92A-0CEF-4684-A9BE-96A2DBF1BB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2D4753-D02A-458F-88C2-AB44BF9515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E408911-5770-41E4-BFBF-E1602E0170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F0BC89E8-57F2-4278-9C7C-80C76D34982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9B652A-4D70-4FE5-B31F-786BE3DBCAB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2DD841F9-A66C-46CA-B9E9-9B5A5301D69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7E3A47C0-1DE4-4B27-B6E2-C04B3CAD0A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20</a:t>
            </a:r>
          </a:p>
        </p:txBody>
      </p:sp>
    </p:spTree>
    <p:extLst>
      <p:ext uri="{BB962C8B-B14F-4D97-AF65-F5344CB8AC3E}">
        <p14:creationId xmlns:p14="http://schemas.microsoft.com/office/powerpoint/2010/main" val="72879536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60E218-38DB-499B-B6CA-0E36E0F8C3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7F46ED-DEE9-4001-A0F6-5C2C6EDD1E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261A7B-56B5-4AAF-B175-99341FF3B4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E3978010-7E1B-4553-97CF-C245C3EB84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807B46-A317-46BC-A5CB-335790B9796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105B1E8B-A471-4EE4-8CE3-0956833329F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A48D1D-C495-4D2E-8B9E-B402D0DD351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EF1AC73B-0818-492F-9359-988FEB42ECE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F46313-819F-49AC-BF20-466A6359F6B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F93D5536-5EB8-4039-BB28-9785224CE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21</a:t>
            </a:r>
          </a:p>
        </p:txBody>
      </p:sp>
    </p:spTree>
    <p:extLst>
      <p:ext uri="{BB962C8B-B14F-4D97-AF65-F5344CB8AC3E}">
        <p14:creationId xmlns:p14="http://schemas.microsoft.com/office/powerpoint/2010/main" val="9726473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BF4DD6-D800-4119-B7EB-7C112475CFD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1E8A63-F49D-4C12-950E-F2004BC2222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0d9b7e85cb04f79"/>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FCA853D-BFA4-40BC-BFC1-89499E5AACB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7A5D30-438C-4A58-9452-6AAA18D8EE4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CD51FB4E-2E56-4487-8F1C-85BC28B2CB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22</a:t>
            </a:r>
          </a:p>
        </p:txBody>
      </p:sp>
    </p:spTree>
    <p:extLst>
      <p:ext uri="{BB962C8B-B14F-4D97-AF65-F5344CB8AC3E}">
        <p14:creationId xmlns:p14="http://schemas.microsoft.com/office/powerpoint/2010/main" val="770420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76FC5B-9E20-4A26-8096-A9267BFA81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FFDFF6-54D6-4E86-8A9C-02D71D509D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B0BB38D-8024-4C41-903F-190B117686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47DC7C6C-F208-4374-93DB-A2663CF0B9E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588110-831F-4D78-B9EA-FC67A3F5B10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0CDBA780-4704-4627-A92E-AEB0785A17E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973EC011-EFBA-4841-B50F-669B9DCB1F9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DF1389E-FE89-41B9-A424-0EBC9DD30ED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016290D7-82D4-455D-86BA-ADB83890767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B426F89B-DCAB-49CF-AAB7-2C336E83CA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23</a:t>
            </a:r>
          </a:p>
        </p:txBody>
      </p:sp>
    </p:spTree>
    <p:extLst>
      <p:ext uri="{BB962C8B-B14F-4D97-AF65-F5344CB8AC3E}">
        <p14:creationId xmlns:p14="http://schemas.microsoft.com/office/powerpoint/2010/main" val="207178469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528AE2-17E3-4B58-9E6A-D755F30A81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8E947B-EA05-428D-A957-7F3F613C56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97EA8C-02AF-463B-802D-9BCFC7D4A6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AEEF2F62-248C-40B4-AE5C-31C8AF7D679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CA6921-29B3-4AEE-9019-DADBEE6E7C0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3AA5478-82D5-4BF0-8E05-FA714D456B3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second observation from B arrives. Where does it go? Why not put it into training just to balance row counts?</a:t>
            </a:r>
          </a:p>
        </p:txBody>
      </p:sp>
      <p:sp>
        <p:nvSpPr>
          <p:cNvPr id="7" name="">
            <a:extLst xmlns:a="http://schemas.openxmlformats.org/drawingml/2006/main">
              <a:ext uri="{FF2B5EF4-FFF2-40B4-BE49-F238E27FC236}">
                <a16:creationId xmlns:a16="http://schemas.microsoft.com/office/drawing/2014/main" id="{FA5B849F-C9E5-47DD-B255-4AF59D0D713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It stays with B in validation. Mixing a source across partitions can give an overly optimistic estimate for unseen equipment.</a:t>
            </a:r>
          </a:p>
        </p:txBody>
      </p:sp>
      <p:sp>
        <p:nvSpPr>
          <p:cNvPr id="8" name="">
            <a:extLst xmlns:a="http://schemas.openxmlformats.org/drawingml/2006/main">
              <a:ext uri="{FF2B5EF4-FFF2-40B4-BE49-F238E27FC236}">
                <a16:creationId xmlns:a16="http://schemas.microsoft.com/office/drawing/2014/main" id="{C61BEEE0-B9B0-41CB-98A0-8C0EF1AB80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24</a:t>
            </a:r>
          </a:p>
        </p:txBody>
      </p:sp>
    </p:spTree>
    <p:extLst>
      <p:ext uri="{BB962C8B-B14F-4D97-AF65-F5344CB8AC3E}">
        <p14:creationId xmlns:p14="http://schemas.microsoft.com/office/powerpoint/2010/main" val="13894423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9EAB1F-E231-4A83-AF3A-B48FAAC2C0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64C79E-A7EF-495E-AB94-63002BD793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978D8AD-7EAB-4925-9554-D6A0C65064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3F3EF1AB-CB76-4F49-B68D-4B8D31C900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08EBA0-4A12-4830-B69D-C65E5FF2F03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xmlns:a="http://schemas.openxmlformats.org/drawingml/2006/main">
              <a:ext uri="{FF2B5EF4-FFF2-40B4-BE49-F238E27FC236}">
                <a16:creationId xmlns:a16="http://schemas.microsoft.com/office/drawing/2014/main" id="{74BE0F8D-B504-4518-BBE0-00260A59E5F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D0D73D9-FB24-406C-9DBD-19AE325A89C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xmlns:a="http://schemas.openxmlformats.org/drawingml/2006/main">
              <a:ext uri="{FF2B5EF4-FFF2-40B4-BE49-F238E27FC236}">
                <a16:creationId xmlns:a16="http://schemas.microsoft.com/office/drawing/2014/main" id="{69C9965B-06F5-4A24-98F8-A55563349EA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D59EC3-0492-4DE5-BB91-BF6DC0AB469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xmlns:a="http://schemas.openxmlformats.org/drawingml/2006/main">
              <a:ext uri="{FF2B5EF4-FFF2-40B4-BE49-F238E27FC236}">
                <a16:creationId xmlns:a16="http://schemas.microsoft.com/office/drawing/2014/main" id="{FBD1771D-1031-4DAE-AE64-113DAFE3E3E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0B0D295-6B86-4D20-BF6E-4B41C8655D2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GroupShuffleSplit and time-based splitting solve different deployment questions; use the rule in the issued task.</a:t>
            </a:r>
          </a:p>
        </p:txBody>
      </p:sp>
      <p:sp>
        <p:nvSpPr>
          <p:cNvPr id="12" name="">
            <a:extLst xmlns:a="http://schemas.openxmlformats.org/drawingml/2006/main">
              <a:ext uri="{FF2B5EF4-FFF2-40B4-BE49-F238E27FC236}">
                <a16:creationId xmlns:a16="http://schemas.microsoft.com/office/drawing/2014/main" id="{75FC000A-FADF-4C67-886E-6278ED2549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25</a:t>
            </a:r>
          </a:p>
        </p:txBody>
      </p:sp>
    </p:spTree>
    <p:extLst>
      <p:ext uri="{BB962C8B-B14F-4D97-AF65-F5344CB8AC3E}">
        <p14:creationId xmlns:p14="http://schemas.microsoft.com/office/powerpoint/2010/main" val="12412634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E0258D-88D2-437C-BFAD-C52811800D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7BB0D5-2E52-4C8B-921E-EEEB053DA3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1E15D9-EA11-4E78-9883-00076CB903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5AF72901-77A6-4508-802C-E748C8BEF7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6DD3A1-67B3-4D1E-87E5-0F4B0950997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85E3489C-42B1-4BB3-978A-9F1E7BC1AB9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7854006-6B05-4111-921D-B2A164B433D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30AA7747-BAAD-4BA8-92DC-BF43410A3D1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DFC7F6-2094-46F0-8F4E-0B8BA4673C3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D8A51E4B-F593-456F-8B52-0EF5B9F6D4A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31CCBDA-9229-4864-AC69-4DEB6729757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B7FC3BEF-1C8C-4C12-AE68-BC85A19793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26</a:t>
            </a:r>
          </a:p>
        </p:txBody>
      </p:sp>
    </p:spTree>
    <p:extLst>
      <p:ext uri="{BB962C8B-B14F-4D97-AF65-F5344CB8AC3E}">
        <p14:creationId xmlns:p14="http://schemas.microsoft.com/office/powerpoint/2010/main" val="112198247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8547C1-A811-408F-9CF8-BD83E9DB10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48F7F7-1A95-44B5-B9CC-A99D7A46D0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1028C8-0D07-4CB1-99EE-4DBEC9FAB0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31CABA8C-E065-42C8-B770-F5D784A3111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EBE42F-84D8-4CD7-822E-B5A7B496A61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45505A8A-9015-41D5-8438-2BDAAE41D1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27</a:t>
            </a:r>
          </a:p>
        </p:txBody>
      </p:sp>
    </p:spTree>
    <p:extLst>
      <p:ext uri="{BB962C8B-B14F-4D97-AF65-F5344CB8AC3E}">
        <p14:creationId xmlns:p14="http://schemas.microsoft.com/office/powerpoint/2010/main" val="53666743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B473F9-585D-4B51-92FD-A38ABB177E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029F2C-B227-4C7F-BA59-5519C0F4AE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1E796F8-7727-4CF4-8A20-94FC0E67DC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A5E045E-C158-4A99-B765-1D40096DF03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3A7E3CC-2D21-44D5-8886-28818C84304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CBA6B098-4C52-4020-972C-E028AD0D0BD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65A552-4988-4E8E-86FE-08BDBF9D8F4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E4DE2EEE-E4D9-4059-A8AC-7039D119A2D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C2BFF9-068F-4E78-966C-ED4424A7D47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E47BEED3-D08D-409B-B147-ADB53956E03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346EC96-A5B9-4EBE-B8CA-5A2FB8D8398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2A0C38BD-BB71-4AA6-A84B-5DE593773D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28</a:t>
            </a:r>
          </a:p>
        </p:txBody>
      </p:sp>
    </p:spTree>
    <p:extLst>
      <p:ext uri="{BB962C8B-B14F-4D97-AF65-F5344CB8AC3E}">
        <p14:creationId xmlns:p14="http://schemas.microsoft.com/office/powerpoint/2010/main" val="126231965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D54712-B5AA-4917-8952-81E3B6773F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06768A-13F3-48B8-B590-AA960DE75D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0A2EFA6-D084-44C9-A26B-ABA9F499DE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4AC1E438-CA69-4825-A6A2-38858CBAF47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9CA735-564A-42E5-836B-88D994A5FE7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A8CDE2BF-2122-4823-8CD3-BBB9892F2F2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3A2D21-E7EE-4811-9D95-19DEF848FE7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42C6876-A80A-4AD9-9B9D-D1C72CC24F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29</a:t>
            </a:r>
          </a:p>
        </p:txBody>
      </p:sp>
    </p:spTree>
    <p:extLst>
      <p:ext uri="{BB962C8B-B14F-4D97-AF65-F5344CB8AC3E}">
        <p14:creationId xmlns:p14="http://schemas.microsoft.com/office/powerpoint/2010/main" val="94789525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0287E2-B4F1-4926-9F9E-9144C43DD9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C522FE-A81E-4D24-B629-C183459C7E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ECF0A73-F4C5-4797-AD62-3B22978970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53BBA150-2D48-488A-BD9D-B0FBB4FDA62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ECEF43-4E31-4B5E-B195-129C55A0CB9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24AB67EA-2720-4751-AD39-0F1BBD95BD2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F6A32F5-125F-4724-82A1-9EE4EF75A51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AE059D4-3FE4-499F-8BC0-941F61735C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30</a:t>
            </a:r>
          </a:p>
        </p:txBody>
      </p:sp>
    </p:spTree>
    <p:extLst>
      <p:ext uri="{BB962C8B-B14F-4D97-AF65-F5344CB8AC3E}">
        <p14:creationId xmlns:p14="http://schemas.microsoft.com/office/powerpoint/2010/main" val="9794592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3D543BE-635F-4598-844C-09F8A96100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B701D1-2BDB-4A1C-9ABA-BFFABED0D2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FB04CD5-07FC-4BF5-8C9C-5EFDE8FEBE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8EDB3949-9E00-4F61-9716-86191895C1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5A5039-288F-4008-8A3B-918489D739D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30BB7FA-4433-499F-A374-993D33AB87D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CADA8B-01F4-4887-840B-34A04B55A22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DD2D733-2569-42C0-B2C7-B24555D2A1E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096758-C265-4F7C-935C-B96E26BE1F5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9740D30B-D217-4596-A249-72564035C6E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4A86A34-7391-4EEB-AC0E-5A65381FDA9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A94760EF-051B-49AF-A386-9BFF1A1C7F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31</a:t>
            </a:r>
          </a:p>
        </p:txBody>
      </p:sp>
    </p:spTree>
    <p:extLst>
      <p:ext uri="{BB962C8B-B14F-4D97-AF65-F5344CB8AC3E}">
        <p14:creationId xmlns:p14="http://schemas.microsoft.com/office/powerpoint/2010/main" val="12046874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83C0961-C920-41AC-B8C6-A7FADB79C1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6BFC7D-F7E1-468E-A531-8981A4B990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A3FF480C-ECDB-4DA7-B8D3-779E14C1D2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FE223C48-6802-4412-94D5-F11BE37B731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878D53-1169-44FB-9A57-F1246D1563F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08:00 Kampala</a:t>
            </a:r>
          </a:p>
        </p:txBody>
      </p:sp>
      <p:sp>
        <p:nvSpPr>
          <p:cNvPr id="6" name="">
            <a:extLst xmlns:a="http://schemas.openxmlformats.org/drawingml/2006/main">
              <a:ext uri="{FF2B5EF4-FFF2-40B4-BE49-F238E27FC236}">
                <a16:creationId xmlns:a16="http://schemas.microsoft.com/office/drawing/2014/main" id="{F832787B-A960-4EE4-89D0-FDBBC4C0D43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311F91-C39F-499D-BEEA-1738D7B7B0D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08:00 Kampala</a:t>
            </a:r>
          </a:p>
        </p:txBody>
      </p:sp>
      <p:sp>
        <p:nvSpPr>
          <p:cNvPr id="8" name="">
            <a:extLst xmlns:a="http://schemas.openxmlformats.org/drawingml/2006/main">
              <a:ext uri="{FF2B5EF4-FFF2-40B4-BE49-F238E27FC236}">
                <a16:creationId xmlns:a16="http://schemas.microsoft.com/office/drawing/2014/main" id="{E828E75F-DACD-40AE-8959-C8554A4997B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FACB2B-105C-4EF3-A7CE-C6F433DE612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B559264-BDD1-4178-956A-AC942765400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6E069DA-117C-4DFB-9EEF-7155ED3BE69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33FC1BC2-6D81-43A2-B492-B8F3A4C2331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D1FB689-18B4-4F38-B860-0CCA31846FE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d97cff777a2419c"/>
              </a:rPr>
              <a:t>Open W10 assignment form</a:t>
            </a:r>
          </a:p>
        </p:txBody>
      </p:sp>
      <p:sp>
        <p:nvSpPr>
          <p:cNvPr id="14" name="">
            <a:extLst xmlns:a="http://schemas.openxmlformats.org/drawingml/2006/main">
              <a:ext uri="{FF2B5EF4-FFF2-40B4-BE49-F238E27FC236}">
                <a16:creationId xmlns:a16="http://schemas.microsoft.com/office/drawing/2014/main" id="{3D3573D1-6EC3-4584-A624-E06E297E498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https://docs.google.com/forms/d/e/1FAIpQLSd0PIGgcund5zKvqtctB1dz7pekt8hubl0ZUrFL-BJc9bKGlQ/viewform</a:t>
            </a:r>
          </a:p>
        </p:txBody>
      </p:sp>
      <p:sp>
        <p:nvSpPr>
          <p:cNvPr id="15" name="">
            <a:extLst xmlns:a="http://schemas.openxmlformats.org/drawingml/2006/main">
              <a:ext uri="{FF2B5EF4-FFF2-40B4-BE49-F238E27FC236}">
                <a16:creationId xmlns:a16="http://schemas.microsoft.com/office/drawing/2014/main" id="{6D7984C6-7191-41D4-B731-961D95DC62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32</a:t>
            </a:r>
          </a:p>
        </p:txBody>
      </p:sp>
    </p:spTree>
    <p:extLst>
      <p:ext uri="{BB962C8B-B14F-4D97-AF65-F5344CB8AC3E}">
        <p14:creationId xmlns:p14="http://schemas.microsoft.com/office/powerpoint/2010/main" val="208512908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B26EA50-8078-4FDC-B363-C8917279F4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DF499B-0463-46BE-BF69-BEA176DD3B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09D29BD-1D00-4945-A574-639E004C7B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3D25CD6A-C983-44B5-9892-6775A512533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9D3A75-3049-4D5B-B8AD-2AF8FA324B2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36E727EA-11F9-4740-AFE0-E9E95750235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F94838-3355-4DDF-97BE-8346EFFD4FB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8EB5EBD4-D052-447B-AE7D-6A3881AC267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F13BFA-1E2D-440B-9325-DAEFC012EF69}"/>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DEA87D9-3426-43D0-8219-12AA0A00A53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3C5AB52-FDAF-4BBE-B465-EDEC26FA4FC1}"/>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940270bf3a547a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E0BE60D-F2BC-4ADC-A54E-45F77C2F6DDD}"/>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FD965166-043E-4D4E-A6FC-73DB8BAFB72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C50894F-1525-4A2C-92C6-9BDB184A13F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3a3f0086873466c"/>
              </a:rPr>
              <a:t>Open this week’s quiz</a:t>
            </a:r>
          </a:p>
        </p:txBody>
      </p:sp>
      <p:sp>
        <p:nvSpPr>
          <p:cNvPr id="16" name="">
            <a:extLst xmlns:a="http://schemas.openxmlformats.org/drawingml/2006/main">
              <a:ext uri="{FF2B5EF4-FFF2-40B4-BE49-F238E27FC236}">
                <a16:creationId xmlns:a16="http://schemas.microsoft.com/office/drawing/2014/main" id="{B6175BEF-DD33-4A40-BAF4-CACF38F39D5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https://forms.gle/LQPALyRC3uRvZqDJ8</a:t>
            </a:r>
          </a:p>
        </p:txBody>
      </p:sp>
      <p:sp>
        <p:nvSpPr>
          <p:cNvPr id="17" name="">
            <a:extLst xmlns:a="http://schemas.openxmlformats.org/drawingml/2006/main">
              <a:ext uri="{FF2B5EF4-FFF2-40B4-BE49-F238E27FC236}">
                <a16:creationId xmlns:a16="http://schemas.microsoft.com/office/drawing/2014/main" id="{63F0304D-80F5-40C6-BCFF-9EDD4DB5BE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33</a:t>
            </a:r>
          </a:p>
        </p:txBody>
      </p:sp>
    </p:spTree>
    <p:extLst>
      <p:ext uri="{BB962C8B-B14F-4D97-AF65-F5344CB8AC3E}">
        <p14:creationId xmlns:p14="http://schemas.microsoft.com/office/powerpoint/2010/main" val="680604839"/>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97EB6F5-6AB6-4CB4-8B2F-3ABB44C29E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288D5114-C60E-4A03-A3D6-DED0177D9C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B27E787F-506F-4387-8CD9-36F69CD0952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91BD0BE3-FB08-40FC-B4A9-CF56141AF82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E137D84-2702-4B7D-B780-F00CF2889C6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C1D477A0-C6F3-4895-8F33-6C8171B936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10   34</a:t>
            </a:r>
          </a:p>
        </p:txBody>
      </p:sp>
    </p:spTree>
    <p:extLst>
      <p:ext uri="{BB962C8B-B14F-4D97-AF65-F5344CB8AC3E}">
        <p14:creationId xmlns:p14="http://schemas.microsoft.com/office/powerpoint/2010/main" val="109332279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FA0F8D9-A7AF-4CF0-B88A-40E58BE8AF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D16431-604C-42B7-A559-C0B7089482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21DD431C-CC64-4ED6-9E9F-A03724CE50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5BEFAD2-4BDE-4857-B44C-3FCD4295BF8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6A363F-FC44-4D68-A4FD-4CCC1520F6E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2A672A0A-3E26-4BEB-AE38-488DB9BEB89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F3EF39-20D4-4806-AB69-B83CFDE86ED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1B896AD3-4546-4F31-868A-22190C45A7A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21635E-110A-4969-8BBF-0BEDFFF08F3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DA4832C8-ECDD-44C7-A1E4-8C23F8A0F7E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4DDEFC8-94AC-4CE1-9000-01BE9A46D28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78CA671C-33B7-4233-815C-88DFE742654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521E66C-FA6E-4BA9-835F-A908E3A93F8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77e8f99a7604fb4"/>
              </a:rPr>
              <a:t>Open explainer video</a:t>
            </a:r>
          </a:p>
        </p:txBody>
      </p:sp>
      <p:sp>
        <p:nvSpPr>
          <p:cNvPr id="14" name="">
            <a:extLst xmlns:a="http://schemas.openxmlformats.org/drawingml/2006/main">
              <a:ext uri="{FF2B5EF4-FFF2-40B4-BE49-F238E27FC236}">
                <a16:creationId xmlns:a16="http://schemas.microsoft.com/office/drawing/2014/main" id="{5FFD2DFA-21AC-4B03-9FA6-1D09CBEFFA8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6D91FF8B-6FBB-4A62-BEC9-D2AABF1AA2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35</a:t>
            </a:r>
          </a:p>
        </p:txBody>
      </p:sp>
    </p:spTree>
    <p:extLst>
      <p:ext uri="{BB962C8B-B14F-4D97-AF65-F5344CB8AC3E}">
        <p14:creationId xmlns:p14="http://schemas.microsoft.com/office/powerpoint/2010/main" val="1785066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2026-09-28T21:15:17.8080000Z</dcterms:created>
  <dcterms:modified xsi:type="dcterms:W3CDTF">2026-09-28T21:15:17.8080000Z</dcterms:modified>
</coreProperties>
</file>