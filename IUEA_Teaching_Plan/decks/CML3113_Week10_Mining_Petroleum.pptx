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654be5b6974d48" /><Relationship Type="http://schemas.openxmlformats.org/officeDocument/2006/relationships/extended-properties" Target="/docProps/app.xml" Id="Rbb2fba64196d4c59" /><Relationship Type="http://schemas.openxmlformats.org/officeDocument/2006/relationships/officeDocument" Target="/ppt/presentation.xml" Id="Ref17d15ed7194833" /></Relationships>
</file>

<file path=ppt/presentation.xml><?xml version="1.0" encoding="utf-8"?>
<p:presentation xmlns:p="http://schemas.openxmlformats.org/presentationml/2006/main">
  <p:sldMasterIdLst>
    <p:sldMasterId xmlns:r="http://schemas.openxmlformats.org/officeDocument/2006/relationships" id="2147483648" r:id="Re2c4eb5e919b4b2a"/>
  </p:sldMasterIdLst>
  <p:notesMasterIdLst>
    <p:notesMasterId xmlns:r="http://schemas.openxmlformats.org/officeDocument/2006/relationships" r:id="Rf2fd0f692d4e4ee1"/>
  </p:notesMasterIdLst>
  <p:sldIdLst>
    <p:sldId xmlns:r="http://schemas.openxmlformats.org/officeDocument/2006/relationships" id="256" r:id="R51c95b38e2314f77"/>
    <p:sldId xmlns:r="http://schemas.openxmlformats.org/officeDocument/2006/relationships" id="257" r:id="Rfa0ca0ff5e79429a"/>
    <p:sldId xmlns:r="http://schemas.openxmlformats.org/officeDocument/2006/relationships" id="258" r:id="Re692ffdfe52140fb"/>
    <p:sldId xmlns:r="http://schemas.openxmlformats.org/officeDocument/2006/relationships" id="259" r:id="R655945b9540045e9"/>
    <p:sldId xmlns:r="http://schemas.openxmlformats.org/officeDocument/2006/relationships" id="260" r:id="Rcf42aaf2ca974e85"/>
    <p:sldId xmlns:r="http://schemas.openxmlformats.org/officeDocument/2006/relationships" id="261" r:id="R779c3b6e9c2b49ff"/>
    <p:sldId xmlns:r="http://schemas.openxmlformats.org/officeDocument/2006/relationships" id="262" r:id="Ra8c0a47b88f041b3"/>
    <p:sldId xmlns:r="http://schemas.openxmlformats.org/officeDocument/2006/relationships" id="263" r:id="R9bbfacf6f348410e"/>
    <p:sldId xmlns:r="http://schemas.openxmlformats.org/officeDocument/2006/relationships" id="264" r:id="R3f07af57c1b64d6c"/>
    <p:sldId xmlns:r="http://schemas.openxmlformats.org/officeDocument/2006/relationships" id="265" r:id="R8daf4101d13a47c3"/>
    <p:sldId xmlns:r="http://schemas.openxmlformats.org/officeDocument/2006/relationships" id="266" r:id="R607d8a05a89f49f0"/>
    <p:sldId xmlns:r="http://schemas.openxmlformats.org/officeDocument/2006/relationships" id="267" r:id="R0de7377497bf42b9"/>
    <p:sldId xmlns:r="http://schemas.openxmlformats.org/officeDocument/2006/relationships" id="268" r:id="Rf22ead83eb684ea2"/>
    <p:sldId xmlns:r="http://schemas.openxmlformats.org/officeDocument/2006/relationships" id="269" r:id="R8bb633dad593447a"/>
    <p:sldId xmlns:r="http://schemas.openxmlformats.org/officeDocument/2006/relationships" id="270" r:id="R8093a1c58b83452d"/>
    <p:sldId xmlns:r="http://schemas.openxmlformats.org/officeDocument/2006/relationships" id="271" r:id="R7747129250894033"/>
    <p:sldId xmlns:r="http://schemas.openxmlformats.org/officeDocument/2006/relationships" id="272" r:id="Re699fb2c1fba46d2"/>
    <p:sldId xmlns:r="http://schemas.openxmlformats.org/officeDocument/2006/relationships" id="273" r:id="Rea17e2dfe8574ed9"/>
    <p:sldId xmlns:r="http://schemas.openxmlformats.org/officeDocument/2006/relationships" id="274" r:id="R70c8e7dec8fe4ced"/>
    <p:sldId xmlns:r="http://schemas.openxmlformats.org/officeDocument/2006/relationships" id="275" r:id="R3170dca768844c94"/>
    <p:sldId xmlns:r="http://schemas.openxmlformats.org/officeDocument/2006/relationships" id="276" r:id="Rec266aa8623a4e2c"/>
    <p:sldId xmlns:r="http://schemas.openxmlformats.org/officeDocument/2006/relationships" id="277" r:id="R0a1821f0c3e94eea"/>
    <p:sldId xmlns:r="http://schemas.openxmlformats.org/officeDocument/2006/relationships" id="278" r:id="Rc5d6ae56d3d84035"/>
    <p:sldId xmlns:r="http://schemas.openxmlformats.org/officeDocument/2006/relationships" id="279" r:id="R2747c45c6bb04820"/>
    <p:sldId xmlns:r="http://schemas.openxmlformats.org/officeDocument/2006/relationships" id="280" r:id="Rcb6bc12565d64ada"/>
    <p:sldId xmlns:r="http://schemas.openxmlformats.org/officeDocument/2006/relationships" id="281" r:id="Rf74099fee04e4900"/>
    <p:sldId xmlns:r="http://schemas.openxmlformats.org/officeDocument/2006/relationships" id="282" r:id="R73304d63c72b442e"/>
    <p:sldId xmlns:r="http://schemas.openxmlformats.org/officeDocument/2006/relationships" id="283" r:id="R062918a79d20451f"/>
    <p:sldId xmlns:r="http://schemas.openxmlformats.org/officeDocument/2006/relationships" id="284" r:id="R95f69b74c7174cef"/>
    <p:sldId xmlns:r="http://schemas.openxmlformats.org/officeDocument/2006/relationships" id="285" r:id="R4405eee32515415e"/>
    <p:sldId xmlns:r="http://schemas.openxmlformats.org/officeDocument/2006/relationships" id="286" r:id="Ra2d8249125d2405d"/>
    <p:sldId xmlns:r="http://schemas.openxmlformats.org/officeDocument/2006/relationships" id="287" r:id="R6b48448363be4951"/>
    <p:sldId xmlns:r="http://schemas.openxmlformats.org/officeDocument/2006/relationships" id="288" r:id="R60816b253c8e49dd"/>
    <p:sldId xmlns:r="http://schemas.openxmlformats.org/officeDocument/2006/relationships" id="289" r:id="Reefe5a67f5f945e7"/>
    <p:sldId xmlns:r="http://schemas.openxmlformats.org/officeDocument/2006/relationships" id="290" r:id="R8cf74fe3cfd443b2"/>
    <p:sldId xmlns:r="http://schemas.openxmlformats.org/officeDocument/2006/relationships" id="291" r:id="R0eb80742ef2e43b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d86c97324f4d4a" /><Relationship Type="http://schemas.openxmlformats.org/officeDocument/2006/relationships/slideMaster" Target="/ppt/slideMasters/slideMaster1.xml" Id="Re2c4eb5e919b4b2a" /><Relationship Type="http://schemas.openxmlformats.org/officeDocument/2006/relationships/notesMaster" Target="/ppt/notesMasters/notesMaster1.xml" Id="Rf2fd0f692d4e4ee1" /><Relationship Type="http://schemas.openxmlformats.org/officeDocument/2006/relationships/presProps" Target="/ppt/presProps.xml" Id="R5ff002e336684532" /><Relationship Type="http://schemas.openxmlformats.org/officeDocument/2006/relationships/tableStyles" Target="/ppt/tableStyles.xml" Id="R9dd8ccf076d64e4a" /><Relationship Type="http://schemas.openxmlformats.org/officeDocument/2006/relationships/slide" Target="/ppt/slides/slide1.xml" Id="R51c95b38e2314f77" /><Relationship Type="http://schemas.openxmlformats.org/officeDocument/2006/relationships/slide" Target="/ppt/slides/slide2.xml" Id="Rfa0ca0ff5e79429a" /><Relationship Type="http://schemas.openxmlformats.org/officeDocument/2006/relationships/slide" Target="/ppt/slides/slide3.xml" Id="Re692ffdfe52140fb" /><Relationship Type="http://schemas.openxmlformats.org/officeDocument/2006/relationships/slide" Target="/ppt/slides/slide4.xml" Id="R655945b9540045e9" /><Relationship Type="http://schemas.openxmlformats.org/officeDocument/2006/relationships/slide" Target="/ppt/slides/slide5.xml" Id="Rcf42aaf2ca974e85" /><Relationship Type="http://schemas.openxmlformats.org/officeDocument/2006/relationships/slide" Target="/ppt/slides/slide6.xml" Id="R779c3b6e9c2b49ff" /><Relationship Type="http://schemas.openxmlformats.org/officeDocument/2006/relationships/slide" Target="/ppt/slides/slide7.xml" Id="Ra8c0a47b88f041b3" /><Relationship Type="http://schemas.openxmlformats.org/officeDocument/2006/relationships/slide" Target="/ppt/slides/slide8.xml" Id="R9bbfacf6f348410e" /><Relationship Type="http://schemas.openxmlformats.org/officeDocument/2006/relationships/slide" Target="/ppt/slides/slide9.xml" Id="R3f07af57c1b64d6c" /><Relationship Type="http://schemas.openxmlformats.org/officeDocument/2006/relationships/slide" Target="/ppt/slides/slide10.xml" Id="R8daf4101d13a47c3" /><Relationship Type="http://schemas.openxmlformats.org/officeDocument/2006/relationships/slide" Target="/ppt/slides/slide11.xml" Id="R607d8a05a89f49f0" /><Relationship Type="http://schemas.openxmlformats.org/officeDocument/2006/relationships/slide" Target="/ppt/slides/slide12.xml" Id="R0de7377497bf42b9" /><Relationship Type="http://schemas.openxmlformats.org/officeDocument/2006/relationships/slide" Target="/ppt/slides/slide13.xml" Id="Rf22ead83eb684ea2" /><Relationship Type="http://schemas.openxmlformats.org/officeDocument/2006/relationships/slide" Target="/ppt/slides/slide14.xml" Id="R8bb633dad593447a" /><Relationship Type="http://schemas.openxmlformats.org/officeDocument/2006/relationships/slide" Target="/ppt/slides/slide15.xml" Id="R8093a1c58b83452d" /><Relationship Type="http://schemas.openxmlformats.org/officeDocument/2006/relationships/slide" Target="/ppt/slides/slide16.xml" Id="R7747129250894033" /><Relationship Type="http://schemas.openxmlformats.org/officeDocument/2006/relationships/slide" Target="/ppt/slides/slide17.xml" Id="Re699fb2c1fba46d2" /><Relationship Type="http://schemas.openxmlformats.org/officeDocument/2006/relationships/slide" Target="/ppt/slides/slide18.xml" Id="Rea17e2dfe8574ed9" /><Relationship Type="http://schemas.openxmlformats.org/officeDocument/2006/relationships/slide" Target="/ppt/slides/slide19.xml" Id="R70c8e7dec8fe4ced" /><Relationship Type="http://schemas.openxmlformats.org/officeDocument/2006/relationships/slide" Target="/ppt/slides/slide20.xml" Id="R3170dca768844c94" /><Relationship Type="http://schemas.openxmlformats.org/officeDocument/2006/relationships/slide" Target="/ppt/slides/slide21.xml" Id="Rec266aa8623a4e2c" /><Relationship Type="http://schemas.openxmlformats.org/officeDocument/2006/relationships/slide" Target="/ppt/slides/slide22.xml" Id="R0a1821f0c3e94eea" /><Relationship Type="http://schemas.openxmlformats.org/officeDocument/2006/relationships/slide" Target="/ppt/slides/slide23.xml" Id="Rc5d6ae56d3d84035" /><Relationship Type="http://schemas.openxmlformats.org/officeDocument/2006/relationships/slide" Target="/ppt/slides/slide24.xml" Id="R2747c45c6bb04820" /><Relationship Type="http://schemas.openxmlformats.org/officeDocument/2006/relationships/slide" Target="/ppt/slides/slide25.xml" Id="Rcb6bc12565d64ada" /><Relationship Type="http://schemas.openxmlformats.org/officeDocument/2006/relationships/slide" Target="/ppt/slides/slide26.xml" Id="Rf74099fee04e4900" /><Relationship Type="http://schemas.openxmlformats.org/officeDocument/2006/relationships/slide" Target="/ppt/slides/slide27.xml" Id="R73304d63c72b442e" /><Relationship Type="http://schemas.openxmlformats.org/officeDocument/2006/relationships/slide" Target="/ppt/slides/slide28.xml" Id="R062918a79d20451f" /><Relationship Type="http://schemas.openxmlformats.org/officeDocument/2006/relationships/slide" Target="/ppt/slides/slide29.xml" Id="R95f69b74c7174cef" /><Relationship Type="http://schemas.openxmlformats.org/officeDocument/2006/relationships/slide" Target="/ppt/slides/slide30.xml" Id="R4405eee32515415e" /><Relationship Type="http://schemas.openxmlformats.org/officeDocument/2006/relationships/slide" Target="/ppt/slides/slide31.xml" Id="Ra2d8249125d2405d" /><Relationship Type="http://schemas.openxmlformats.org/officeDocument/2006/relationships/slide" Target="/ppt/slides/slide32.xml" Id="R6b48448363be4951" /><Relationship Type="http://schemas.openxmlformats.org/officeDocument/2006/relationships/slide" Target="/ppt/slides/slide33.xml" Id="R60816b253c8e49dd" /><Relationship Type="http://schemas.openxmlformats.org/officeDocument/2006/relationships/slide" Target="/ppt/slides/slide34.xml" Id="Reefe5a67f5f945e7" /><Relationship Type="http://schemas.openxmlformats.org/officeDocument/2006/relationships/slide" Target="/ppt/slides/slide35.xml" Id="R8cf74fe3cfd443b2" /><Relationship Type="http://schemas.openxmlformats.org/officeDocument/2006/relationships/slide" Target="/ppt/slides/slide36.xml" Id="R0eb80742ef2e43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2ed24b0928e4e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0194b2e919e4455" /><Relationship Type="http://schemas.openxmlformats.org/officeDocument/2006/relationships/notesMaster" Target="/ppt/notesMasters/notesMaster1.xml" Id="R526f3d4bc87f4f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1d8f4595654752" /><Relationship Type="http://schemas.openxmlformats.org/officeDocument/2006/relationships/notesMaster" Target="/ppt/notesMasters/notesMaster1.xml" Id="R36774102386a4f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e9f7bef44244b5" /><Relationship Type="http://schemas.openxmlformats.org/officeDocument/2006/relationships/notesMaster" Target="/ppt/notesMasters/notesMaster1.xml" Id="R26a89e9b26374c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c1739461634130" /><Relationship Type="http://schemas.openxmlformats.org/officeDocument/2006/relationships/notesMaster" Target="/ppt/notesMasters/notesMaster1.xml" Id="Rfd29213fcb6e4c4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0430b55a9b419f" /><Relationship Type="http://schemas.openxmlformats.org/officeDocument/2006/relationships/notesMaster" Target="/ppt/notesMasters/notesMaster1.xml" Id="R846aa24525c240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5479f67b71b4fd0" /><Relationship Type="http://schemas.openxmlformats.org/officeDocument/2006/relationships/notesMaster" Target="/ppt/notesMasters/notesMaster1.xml" Id="Ra112306807184c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e64c4c8d93a140f7" /><Relationship Type="http://schemas.openxmlformats.org/officeDocument/2006/relationships/notesMaster" Target="/ppt/notesMasters/notesMaster1.xml" Id="Reb8fb20c91c343e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f6349b5c3e4fe2" /><Relationship Type="http://schemas.openxmlformats.org/officeDocument/2006/relationships/notesMaster" Target="/ppt/notesMasters/notesMaster1.xml" Id="Rdc43d3ef4f044c9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2f608d8438e40f4" /><Relationship Type="http://schemas.openxmlformats.org/officeDocument/2006/relationships/notesMaster" Target="/ppt/notesMasters/notesMaster1.xml" Id="R9d47a668f8d0438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34933fe81994511" /><Relationship Type="http://schemas.openxmlformats.org/officeDocument/2006/relationships/notesMaster" Target="/ppt/notesMasters/notesMaster1.xml" Id="Rd69b7e61ebbe4a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b3a1c8519844641" /><Relationship Type="http://schemas.openxmlformats.org/officeDocument/2006/relationships/notesMaster" Target="/ppt/notesMasters/notesMaster1.xml" Id="R6de8a6bb2c6d46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c7531f3e0f4513" /><Relationship Type="http://schemas.openxmlformats.org/officeDocument/2006/relationships/notesMaster" Target="/ppt/notesMasters/notesMaster1.xml" Id="Rd11a091b4d6d480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908350a66db4c05" /><Relationship Type="http://schemas.openxmlformats.org/officeDocument/2006/relationships/notesMaster" Target="/ppt/notesMasters/notesMaster1.xml" Id="R7036a640e20840f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6656f2ba5904f4f" /><Relationship Type="http://schemas.openxmlformats.org/officeDocument/2006/relationships/notesMaster" Target="/ppt/notesMasters/notesMaster1.xml" Id="R579b69e9b4a04cf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4261defef104377" /><Relationship Type="http://schemas.openxmlformats.org/officeDocument/2006/relationships/notesMaster" Target="/ppt/notesMasters/notesMaster1.xml" Id="R2f6579a25a854f2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1ff34f4e094cb8" /><Relationship Type="http://schemas.openxmlformats.org/officeDocument/2006/relationships/notesMaster" Target="/ppt/notesMasters/notesMaster1.xml" Id="Rb4647eb18911420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c5e6c6954864798" /><Relationship Type="http://schemas.openxmlformats.org/officeDocument/2006/relationships/notesMaster" Target="/ppt/notesMasters/notesMaster1.xml" Id="R52a8c08f792b4c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7f4015e943b4b5a" /><Relationship Type="http://schemas.openxmlformats.org/officeDocument/2006/relationships/notesMaster" Target="/ppt/notesMasters/notesMaster1.xml" Id="Re64ca763ceb2440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320f7ddf5d44986" /><Relationship Type="http://schemas.openxmlformats.org/officeDocument/2006/relationships/notesMaster" Target="/ppt/notesMasters/notesMaster1.xml" Id="Ree4f40ac17444d0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a5a26fbb43d4cf0" /><Relationship Type="http://schemas.openxmlformats.org/officeDocument/2006/relationships/notesMaster" Target="/ppt/notesMasters/notesMaster1.xml" Id="R0a58f67e0bba4a2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5def7cf56014a06" /><Relationship Type="http://schemas.openxmlformats.org/officeDocument/2006/relationships/notesMaster" Target="/ppt/notesMasters/notesMaster1.xml" Id="R43abb18f6cbc465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2b87c99cc454976" /><Relationship Type="http://schemas.openxmlformats.org/officeDocument/2006/relationships/notesMaster" Target="/ppt/notesMasters/notesMaster1.xml" Id="R441641fd3ec4410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d77887b825a43ef" /><Relationship Type="http://schemas.openxmlformats.org/officeDocument/2006/relationships/notesMaster" Target="/ppt/notesMasters/notesMaster1.xml" Id="Raaf1de2ca7d94d6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4982eb0f6f846a0" /><Relationship Type="http://schemas.openxmlformats.org/officeDocument/2006/relationships/notesMaster" Target="/ppt/notesMasters/notesMaster1.xml" Id="R85ee592b7672464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abd6d8ccf03497e" /><Relationship Type="http://schemas.openxmlformats.org/officeDocument/2006/relationships/notesMaster" Target="/ppt/notesMasters/notesMaster1.xml" Id="R40eb4048e1474cc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d932859e2a04a59" /><Relationship Type="http://schemas.openxmlformats.org/officeDocument/2006/relationships/notesMaster" Target="/ppt/notesMasters/notesMaster1.xml" Id="R13a57d5e025d44d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849b5bbe01e48ae" /><Relationship Type="http://schemas.openxmlformats.org/officeDocument/2006/relationships/notesMaster" Target="/ppt/notesMasters/notesMaster1.xml" Id="Rcdfb56f9353b44d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3671e35c0a443a4" /><Relationship Type="http://schemas.openxmlformats.org/officeDocument/2006/relationships/notesMaster" Target="/ppt/notesMasters/notesMaster1.xml" Id="R48f68c4badab45a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4986f8ca486845ac" /><Relationship Type="http://schemas.openxmlformats.org/officeDocument/2006/relationships/notesMaster" Target="/ppt/notesMasters/notesMaster1.xml" Id="R82248a0275e3436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c6d272b4f624ab8" /><Relationship Type="http://schemas.openxmlformats.org/officeDocument/2006/relationships/notesMaster" Target="/ppt/notesMasters/notesMaster1.xml" Id="R9299e75abd2d4f4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04002677b754e11" /><Relationship Type="http://schemas.openxmlformats.org/officeDocument/2006/relationships/notesMaster" Target="/ppt/notesMasters/notesMaster1.xml" Id="R49f7bbe4e978425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2f37d72ac234849" /><Relationship Type="http://schemas.openxmlformats.org/officeDocument/2006/relationships/notesMaster" Target="/ppt/notesMasters/notesMaster1.xml" Id="Ra0d5b4b71f9c472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0efb823cd264df4" /><Relationship Type="http://schemas.openxmlformats.org/officeDocument/2006/relationships/notesMaster" Target="/ppt/notesMasters/notesMaster1.xml" Id="Rf2be32426201466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88a5b2af2094dea" /><Relationship Type="http://schemas.openxmlformats.org/officeDocument/2006/relationships/notesMaster" Target="/ppt/notesMasters/notesMaster1.xml" Id="Rea59afe27d42464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e29613338e44e13" /><Relationship Type="http://schemas.openxmlformats.org/officeDocument/2006/relationships/notesMaster" Target="/ppt/notesMasters/notesMaster1.xml" Id="R2bd65061ef2c4c70"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6fd310b5ebf40c4" /><Relationship Type="http://schemas.openxmlformats.org/officeDocument/2006/relationships/notesMaster" Target="/ppt/notesMasters/notesMaster1.xml" Id="R40c1e0bd693544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Honest validation and leakage</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Mining and Petroleum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Honest validation and leakage.</a:t>
            </a:r>
          </a:p>
          <a:p xmlns:a="http://schemas.openxmlformats.org/drawingml/2006/main">
            <a:r>
              <a:t/>
            </a:r>
          </a:p>
          <a:p xmlns:a="http://schemas.openxmlformats.org/drawingml/2006/main">
            <a:r>
              <a:t>EXPLAIN</a:t>
            </a:r>
          </a:p>
          <a:p xmlns:a="http://schemas.openxmlformats.org/drawingml/2006/main">
            <a:r>
              <a:t>Keep related equipment records together.</a:t>
            </a:r>
          </a:p>
          <a:p xmlns:a="http://schemas.openxmlformats.org/drawingml/2006/main">
            <a:r>
              <a:t/>
            </a:r>
          </a:p>
          <a:p xmlns:a="http://schemas.openxmlformats.org/drawingml/2006/main">
            <a:r>
              <a:t>Separate training, validation and final testing.</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Multiple adversarial notebooks, elaborate validation curves and several cross-validation variants are extensions after the core split is understood.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 have compared predictions with known answers. Now we control which observations may influence training, choices and the final evaluation.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We want evidence about new equipment or future observations. The way we separate data must match that use before any model or preprocessing learns from it.</a:t>
            </a:r>
          </a:p>
          <a:p xmlns:a="http://schemas.openxmlformats.org/drawingml/2006/main">
            <a:r>
              <a:t/>
            </a:r>
          </a:p>
          <a:p xmlns:a="http://schemas.openxmlformats.org/drawingml/2006/main">
            <a:r>
              <a:t>LECTURER CUE</a:t>
            </a:r>
          </a:p>
          <a:p xmlns:a="http://schemas.openxmlformats.org/drawingml/2006/main">
            <a:r>
              <a:t>A pump team records temperature to investigate operation. Mining students can relate this to a dewatering pump; petroleum students to a transfer pump. These are teaching examples, not operating limits.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Training validation and final test.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validation and final test</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Training data fit the model and preprocessing.</a:t>
            </a:r>
          </a:p>
          <a:p xmlns:a="http://schemas.openxmlformats.org/drawingml/2006/main">
            <a:r>
              <a:t/>
            </a:r>
          </a:p>
          <a:p xmlns:a="http://schemas.openxmlformats.org/drawingml/2006/main">
            <a:r>
              <a:t>Validation data guide feature and model choices.</a:t>
            </a:r>
          </a:p>
          <a:p xmlns:a="http://schemas.openxmlformats.org/drawingml/2006/main">
            <a:r>
              <a:t/>
            </a:r>
          </a:p>
          <a:p xmlns:a="http://schemas.openxmlformats.org/drawingml/2006/main">
            <a:r>
              <a:t>The final test evaluates choices after they are fixed.</a:t>
            </a:r>
          </a:p>
          <a:p xmlns:a="http://schemas.openxmlformats.org/drawingml/2006/main">
            <a:r>
              <a:t/>
            </a:r>
          </a:p>
          <a:p xmlns:a="http://schemas.openxmlformats.org/drawingml/2006/main">
            <a:r>
              <a:t>A fresh test is needed if its answers influenced further choices.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Three sets have different jobs.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Three sets have different jobs</a:t>
            </a:r>
          </a:p>
          <a:p xmlns:a="http://schemas.openxmlformats.org/drawingml/2006/main">
            <a:r>
              <a:t/>
            </a:r>
          </a:p>
          <a:p xmlns:a="http://schemas.openxmlformats.org/drawingml/2006/main">
            <a:r>
              <a:t>CONNECT</a:t>
            </a:r>
          </a:p>
          <a:p xmlns:a="http://schemas.openxmlformats.org/drawingml/2006/main">
            <a:r>
              <a:t>Previous slide: Training validation and final test.</a:t>
            </a:r>
          </a:p>
          <a:p xmlns:a="http://schemas.openxmlformats.org/drawingml/2006/main">
            <a:r>
              <a:t/>
            </a:r>
          </a:p>
          <a:p xmlns:a="http://schemas.openxmlformats.org/drawingml/2006/main">
            <a:r>
              <a:t>EXPLAIN</a:t>
            </a:r>
          </a:p>
          <a:p xmlns:a="http://schemas.openxmlformats.org/drawingml/2006/main">
            <a:r>
              <a:t>Which set must stay sealed until choices are fixed?</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Generalisation and Overfitting and underfitting.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Generalisation and Overfitting and underfitting</a:t>
            </a:r>
          </a:p>
          <a:p xmlns:a="http://schemas.openxmlformats.org/drawingml/2006/main">
            <a:r>
              <a:t/>
            </a:r>
          </a:p>
          <a:p xmlns:a="http://schemas.openxmlformats.org/drawingml/2006/main">
            <a:r>
              <a:t>CONNECT</a:t>
            </a:r>
          </a:p>
          <a:p xmlns:a="http://schemas.openxmlformats.org/drawingml/2006/main">
            <a:r>
              <a:t>Previous slide: Three sets have different jobs.</a:t>
            </a:r>
          </a:p>
          <a:p xmlns:a="http://schemas.openxmlformats.org/drawingml/2006/main">
            <a:r>
              <a:t/>
            </a:r>
          </a:p>
          <a:p xmlns:a="http://schemas.openxmlformats.org/drawingml/2006/main">
            <a:r>
              <a:t>EXPLAIN</a:t>
            </a:r>
          </a:p>
          <a:p xmlns:a="http://schemas.openxmlformats.org/drawingml/2006/main">
            <a:r>
              <a:t>Generalisation: Performance on new cases from the intended setting, not merely on records already used.</a:t>
            </a:r>
          </a:p>
          <a:p xmlns:a="http://schemas.openxmlformats.org/drawingml/2006/main">
            <a:r>
              <a:t/>
            </a:r>
          </a:p>
          <a:p xmlns:a="http://schemas.openxmlformats.org/drawingml/2006/main">
            <a:r>
              <a:t>Overfitting and underfitting: Overfitting captures training-specific detail that fails to transfer. Underfitting misses useful patterns. Score gaps are clues, not a complete diagnosis.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Leakage and Group split.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and Group split</a:t>
            </a:r>
          </a:p>
          <a:p xmlns:a="http://schemas.openxmlformats.org/drawingml/2006/main">
            <a:r>
              <a:t/>
            </a:r>
          </a:p>
          <a:p xmlns:a="http://schemas.openxmlformats.org/drawingml/2006/main">
            <a:r>
              <a:t>CONNECT</a:t>
            </a:r>
          </a:p>
          <a:p xmlns:a="http://schemas.openxmlformats.org/drawingml/2006/main">
            <a:r>
              <a:t>Previous slide: Generalisation and Overfitting and underfitting.</a:t>
            </a:r>
          </a:p>
          <a:p xmlns:a="http://schemas.openxmlformats.org/drawingml/2006/main">
            <a:r>
              <a:t/>
            </a:r>
          </a:p>
          <a:p xmlns:a="http://schemas.openxmlformats.org/drawingml/2006/main">
            <a:r>
              <a:t>EXPLAIN</a:t>
            </a:r>
          </a:p>
          <a:p xmlns:a="http://schemas.openxmlformats.org/drawingml/2006/main">
            <a:r>
              <a:t>Leakage: Information enters model development that would not legitimately be available, such as the answer or information from evaluation rows.</a:t>
            </a:r>
          </a:p>
          <a:p xmlns:a="http://schemas.openxmlformats.org/drawingml/2006/main">
            <a:r>
              <a:t/>
            </a:r>
          </a:p>
          <a:p xmlns:a="http://schemas.openxmlformats.org/drawingml/2006/main">
            <a:r>
              <a:t>Group split: Keep all observations from the same equipment in one partition when the goal is prediction for unseen equipment.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Repeated equipment needs group separation.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Repeated equipment needs group separation</a:t>
            </a:r>
          </a:p>
          <a:p xmlns:a="http://schemas.openxmlformats.org/drawingml/2006/main">
            <a:r>
              <a:t/>
            </a:r>
          </a:p>
          <a:p xmlns:a="http://schemas.openxmlformats.org/drawingml/2006/main">
            <a:r>
              <a:t>CONNECT</a:t>
            </a:r>
          </a:p>
          <a:p xmlns:a="http://schemas.openxmlformats.org/drawingml/2006/main">
            <a:r>
              <a:t>Previous slide: Leakage and Group split.</a:t>
            </a:r>
          </a:p>
          <a:p xmlns:a="http://schemas.openxmlformats.org/drawingml/2006/main">
            <a:r>
              <a:t/>
            </a:r>
          </a:p>
          <a:p xmlns:a="http://schemas.openxmlformats.org/drawingml/2006/main">
            <a:r>
              <a:t>EXPLAIN</a:t>
            </a:r>
          </a:p>
          <a:p xmlns:a="http://schemas.openxmlformats.org/drawingml/2006/main">
            <a:r>
              <a:t>Readings from the same equipment can share patterns.</a:t>
            </a:r>
          </a:p>
          <a:p xmlns:a="http://schemas.openxmlformats.org/drawingml/2006/main">
            <a:r>
              <a:t/>
            </a:r>
          </a:p>
          <a:p xmlns:a="http://schemas.openxmlformats.org/drawingml/2006/main">
            <a:r>
              <a:t>Putting that equipment in both training and validation can make evaluation too easy.</a:t>
            </a:r>
          </a:p>
          <a:p xmlns:a="http://schemas.openxmlformats.org/drawingml/2006/main">
            <a:r>
              <a:t/>
            </a:r>
          </a:p>
          <a:p xmlns:a="http://schemas.openxmlformats.org/drawingml/2006/main">
            <a:r>
              <a:t>For a new-equipment question, keep every row for an equipment ID in one partition.</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Keeping equipment groups together.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Keeping equipment groups together</a:t>
            </a:r>
          </a:p>
          <a:p xmlns:a="http://schemas.openxmlformats.org/drawingml/2006/main">
            <a:r>
              <a:t/>
            </a:r>
          </a:p>
          <a:p xmlns:a="http://schemas.openxmlformats.org/drawingml/2006/main">
            <a:r>
              <a:t>CONNECT</a:t>
            </a:r>
          </a:p>
          <a:p xmlns:a="http://schemas.openxmlformats.org/drawingml/2006/main">
            <a:r>
              <a:t>Previous slide: Repeated equipment needs group separation.</a:t>
            </a:r>
          </a:p>
          <a:p xmlns:a="http://schemas.openxmlformats.org/drawingml/2006/main">
            <a:r>
              <a:t/>
            </a:r>
          </a:p>
          <a:p xmlns:a="http://schemas.openxmlformats.org/drawingml/2006/main">
            <a:r>
              <a:t>EXPLAIN</a:t>
            </a:r>
          </a:p>
          <a:p xmlns:a="http://schemas.openxmlformats.org/drawingml/2006/main">
            <a:r>
              <a:t>Observation | Equipment | Partition</a:t>
            </a:r>
          </a:p>
          <a:p xmlns:a="http://schemas.openxmlformats.org/drawingml/2006/main">
            <a:r>
              <a:t/>
            </a:r>
          </a:p>
          <a:p xmlns:a="http://schemas.openxmlformats.org/drawingml/2006/main">
            <a:r>
              <a:t>1 | A | Training</a:t>
            </a:r>
          </a:p>
          <a:p xmlns:a="http://schemas.openxmlformats.org/drawingml/2006/main">
            <a:r>
              <a:t/>
            </a:r>
          </a:p>
          <a:p xmlns:a="http://schemas.openxmlformats.org/drawingml/2006/main">
            <a:r>
              <a:t>2 | A | Training</a:t>
            </a:r>
          </a:p>
          <a:p xmlns:a="http://schemas.openxmlformats.org/drawingml/2006/main">
            <a:r>
              <a:t/>
            </a:r>
          </a:p>
          <a:p xmlns:a="http://schemas.openxmlformats.org/drawingml/2006/main">
            <a:r>
              <a:t>3 | B | Validation</a:t>
            </a:r>
          </a:p>
          <a:p xmlns:a="http://schemas.openxmlformats.org/drawingml/2006/main">
            <a:r>
              <a:t/>
            </a:r>
          </a:p>
          <a:p xmlns:a="http://schemas.openxmlformats.org/drawingml/2006/main">
            <a:r>
              <a:t>This toy split explains group separation.</a:t>
            </a:r>
          </a:p>
          <a:p xmlns:a="http://schemas.openxmlformats.org/drawingml/2006/main">
            <a:r>
              <a:t/>
            </a:r>
          </a:p>
          <a:p xmlns:a="http://schemas.openxmlformats.org/drawingml/2006/main">
            <a:r>
              <a:t>LECTURER CUE</a:t>
            </a:r>
          </a:p>
          <a:p xmlns:a="http://schemas.openxmlformats.org/drawingml/2006/main">
            <a:r>
              <a:t>This toy split explains group separation. It does not establish a representative evaluation with only two pieces of equipment.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(1/2)</a:t>
            </a:r>
          </a:p>
          <a:p xmlns:a="http://schemas.openxmlformats.org/drawingml/2006/main">
            <a:r>
              <a:t/>
            </a:r>
          </a:p>
          <a:p xmlns:a="http://schemas.openxmlformats.org/drawingml/2006/main">
            <a:r>
              <a:t>CONNECT</a:t>
            </a:r>
          </a:p>
          <a:p xmlns:a="http://schemas.openxmlformats.org/drawingml/2006/main">
            <a:r>
              <a:t>Previous slide: Keeping equipment groups together.</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Braces hold dictionary key: value pairs here.</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Worked example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(2/2)</a:t>
            </a:r>
          </a:p>
          <a:p xmlns:a="http://schemas.openxmlformats.org/drawingml/2006/main">
            <a:r>
              <a:t/>
            </a:r>
          </a:p>
          <a:p xmlns:a="http://schemas.openxmlformats.org/drawingml/2006/main">
            <a:r>
              <a:t>CONNECT</a:t>
            </a:r>
          </a:p>
          <a:p xmlns:a="http://schemas.openxmlformats.org/drawingml/2006/main">
            <a:r>
              <a:t>Previous slide: Validation and leakage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results</a:t>
            </a:r>
          </a:p>
          <a:p xmlns:a="http://schemas.openxmlformats.org/drawingml/2006/main">
            <a:r>
              <a:t/>
            </a:r>
          </a:p>
          <a:p xmlns:a="http://schemas.openxmlformats.org/drawingml/2006/main">
            <a:r>
              <a:t>CONNECT</a:t>
            </a:r>
          </a:p>
          <a:p xmlns:a="http://schemas.openxmlformats.org/drawingml/2006/main">
            <a:r>
              <a:t>Previous slide: Validation and leakage in Python (2/2).</a:t>
            </a:r>
          </a:p>
          <a:p xmlns:a="http://schemas.openxmlformats.org/drawingml/2006/main">
            <a:r>
              <a:t/>
            </a:r>
          </a:p>
          <a:p xmlns:a="http://schemas.openxmlformats.org/drawingml/2006/main">
            <a:r>
              <a:t>EXPLAIN</a:t>
            </a:r>
          </a:p>
          <a:p xmlns:a="http://schemas.openxmlformats.org/drawingml/2006/main">
            <a:r>
              <a:t>[1, 2] [3]</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Preprocessing and pipeline.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and pipeline</a:t>
            </a:r>
          </a:p>
          <a:p xmlns:a="http://schemas.openxmlformats.org/drawingml/2006/main">
            <a:r>
              <a:t/>
            </a:r>
          </a:p>
          <a:p xmlns:a="http://schemas.openxmlformats.org/drawingml/2006/main">
            <a:r>
              <a:t>CONNECT</a:t>
            </a:r>
          </a:p>
          <a:p xmlns:a="http://schemas.openxmlformats.org/drawingml/2006/main">
            <a:r>
              <a:t>Previous slide: Validation and leakage results.</a:t>
            </a:r>
          </a:p>
          <a:p xmlns:a="http://schemas.openxmlformats.org/drawingml/2006/main">
            <a:r>
              <a:t/>
            </a:r>
          </a:p>
          <a:p xmlns:a="http://schemas.openxmlformats.org/drawingml/2006/main">
            <a:r>
              <a:t>EXPLAIN</a:t>
            </a:r>
          </a:p>
          <a:p xmlns:a="http://schemas.openxmlformats.org/drawingml/2006/main">
            <a:r>
              <a:t>Preprocessing and pipeline: Preprocessing changes inputs, for example filling missing values. A pipeline fits these steps on training data and applies the same fitted changes to new inputs.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learned cleaning value comes from training.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learned cleaning value comes from training</a:t>
            </a:r>
          </a:p>
          <a:p xmlns:a="http://schemas.openxmlformats.org/drawingml/2006/main">
            <a:r>
              <a:t/>
            </a:r>
          </a:p>
          <a:p xmlns:a="http://schemas.openxmlformats.org/drawingml/2006/main">
            <a:r>
              <a:t>CONNECT</a:t>
            </a:r>
          </a:p>
          <a:p xmlns:a="http://schemas.openxmlformats.org/drawingml/2006/main">
            <a:r>
              <a:t>Previous slide: Preprocessing and pipeline.</a:t>
            </a:r>
          </a:p>
          <a:p xmlns:a="http://schemas.openxmlformats.org/drawingml/2006/main">
            <a:r>
              <a:t/>
            </a:r>
          </a:p>
          <a:p xmlns:a="http://schemas.openxmlformats.org/drawingml/2006/main">
            <a:r>
              <a:t>EXPLAIN</a:t>
            </a:r>
          </a:p>
          <a:p xmlns:a="http://schemas.openxmlformats.org/drawingml/2006/main">
            <a:r>
              <a:t>The training readings are 20, 22 and 24. Their median is 22.</a:t>
            </a:r>
          </a:p>
          <a:p xmlns:a="http://schemas.openxmlformats.org/drawingml/2006/main">
            <a:r>
              <a:t/>
            </a:r>
          </a:p>
          <a:p xmlns:a="http://schemas.openxmlformats.org/drawingml/2006/main">
            <a:r>
              <a:t>A missing validation value receives the already learned 22.</a:t>
            </a:r>
          </a:p>
          <a:p xmlns:a="http://schemas.openxmlformats.org/drawingml/2006/main">
            <a:r>
              <a:t/>
            </a:r>
          </a:p>
          <a:p xmlns:a="http://schemas.openxmlformats.org/drawingml/2006/main">
            <a:r>
              <a:t>A new validation reading of 40 must not change the fitted median.</a:t>
            </a:r>
          </a:p>
          <a:p xmlns:a="http://schemas.openxmlformats.org/drawingml/2006/main">
            <a:r>
              <a:t/>
            </a:r>
          </a:p>
          <a:p xmlns:a="http://schemas.openxmlformats.org/drawingml/2006/main">
            <a:r>
              <a:t>LECTURER CUE</a:t>
            </a:r>
          </a:p>
          <a:p xmlns:a="http://schemas.openxmlformats.org/drawingml/2006/main">
            <a:r>
              <a:t>Fit a missing-value replacement on training values [20, 22, 24]: the median is 22. A new hotter observation must not change that fitted median.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training-only fill value in Python (1/2).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(1/2)</a:t>
            </a:r>
          </a:p>
          <a:p xmlns:a="http://schemas.openxmlformats.org/drawingml/2006/main">
            <a:r>
              <a:t/>
            </a:r>
          </a:p>
          <a:p xmlns:a="http://schemas.openxmlformats.org/drawingml/2006/main">
            <a:r>
              <a:t>CONNECT</a:t>
            </a:r>
          </a:p>
          <a:p xmlns:a="http://schemas.openxmlformats.org/drawingml/2006/main">
            <a:r>
              <a:t>Previous slide: A learned cleaning value comes from training.</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training-only fill value in Python (2/2).</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(2/2)</a:t>
            </a:r>
          </a:p>
          <a:p xmlns:a="http://schemas.openxmlformats.org/drawingml/2006/main">
            <a:r>
              <a:t/>
            </a:r>
          </a:p>
          <a:p xmlns:a="http://schemas.openxmlformats.org/drawingml/2006/main">
            <a:r>
              <a:t>CONNECT</a:t>
            </a:r>
          </a:p>
          <a:p xmlns:a="http://schemas.openxmlformats.org/drawingml/2006/main">
            <a:r>
              <a:t>Previous slide: A training-only fill value in Python (1/2).</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for takes the next item. The indented block repeats.</a:t>
            </a:r>
          </a:p>
          <a:p xmlns:a="http://schemas.openxmlformats.org/drawingml/2006/main">
            <a:r>
              <a:t/>
            </a:r>
          </a:p>
          <a:p xmlns:a="http://schemas.openxmlformats.org/drawingml/2006/main">
            <a:r>
              <a:t>if tests a condition. The chosen indented block runs.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Leakage gives away information from the future.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gives away information from the future</a:t>
            </a:r>
          </a:p>
          <a:p xmlns:a="http://schemas.openxmlformats.org/drawingml/2006/main">
            <a:r>
              <a:t/>
            </a:r>
          </a:p>
          <a:p xmlns:a="http://schemas.openxmlformats.org/drawingml/2006/main">
            <a:r>
              <a:t>CONNECT</a:t>
            </a:r>
          </a:p>
          <a:p xmlns:a="http://schemas.openxmlformats.org/drawingml/2006/main">
            <a:r>
              <a:t>Previous slide: A training-only fill value in Python (2/2).</a:t>
            </a:r>
          </a:p>
          <a:p xmlns:a="http://schemas.openxmlformats.org/drawingml/2006/main">
            <a:r>
              <a:t/>
            </a:r>
          </a:p>
          <a:p xmlns:a="http://schemas.openxmlformats.org/drawingml/2006/main">
            <a:r>
              <a:t>EXPLAIN</a:t>
            </a:r>
          </a:p>
          <a:p xmlns:a="http://schemas.openxmlformats.org/drawingml/2006/main">
            <a:r>
              <a:t>Suppose we predict a fault before an inspection.</a:t>
            </a:r>
          </a:p>
          <a:p xmlns:a="http://schemas.openxmlformats.org/drawingml/2006/main">
            <a:r>
              <a:t/>
            </a:r>
          </a:p>
          <a:p xmlns:a="http://schemas.openxmlformats.org/drawingml/2006/main">
            <a:r>
              <a:t>final_inspection_result exists only after the inspection.</a:t>
            </a:r>
          </a:p>
          <a:p xmlns:a="http://schemas.openxmlformats.org/drawingml/2006/main">
            <a:r>
              <a:t/>
            </a:r>
          </a:p>
          <a:p xmlns:a="http://schemas.openxmlformats.org/drawingml/2006/main">
            <a:r>
              <a:t>Using it as an input would answer a different, easier question than the one we intended.</a:t>
            </a:r>
          </a:p>
          <a:p xmlns:a="http://schemas.openxmlformats.org/drawingml/2006/main">
            <a:r>
              <a:t/>
            </a:r>
          </a:p>
          <a:p xmlns:a="http://schemas.openxmlformats.org/drawingml/2006/main">
            <a:r>
              <a:t>LECTURER CUE</a:t>
            </a:r>
          </a:p>
          <a:p xmlns:a="http://schemas.openxmlformats.org/drawingml/2006/main">
            <a:r>
              <a:t>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Parameters hyperparameters and a fold.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Parameters hyperparameters and a fold</a:t>
            </a:r>
          </a:p>
          <a:p xmlns:a="http://schemas.openxmlformats.org/drawingml/2006/main">
            <a:r>
              <a:t/>
            </a:r>
          </a:p>
          <a:p xmlns:a="http://schemas.openxmlformats.org/drawingml/2006/main">
            <a:r>
              <a:t>CONNECT</a:t>
            </a:r>
          </a:p>
          <a:p xmlns:a="http://schemas.openxmlformats.org/drawingml/2006/main">
            <a:r>
              <a:t>Previous slide: Leakage gives away information from the future.</a:t>
            </a:r>
          </a:p>
          <a:p xmlns:a="http://schemas.openxmlformats.org/drawingml/2006/main">
            <a:r>
              <a:t/>
            </a:r>
          </a:p>
          <a:p xmlns:a="http://schemas.openxmlformats.org/drawingml/2006/main">
            <a:r>
              <a:t>EXPLAIN</a:t>
            </a:r>
          </a:p>
          <a:p xmlns:a="http://schemas.openxmlformats.org/drawingml/2006/main">
            <a:r>
              <a:t>A parameter is learned during fitting, such as a line’s slope. A hyperparameter is a setting chosen around fitting, such as a tree’s max_depth.</a:t>
            </a:r>
          </a:p>
          <a:p xmlns:a="http://schemas.openxmlformats.org/drawingml/2006/main">
            <a:r>
              <a:t/>
            </a:r>
          </a:p>
          <a:p xmlns:a="http://schemas.openxmlformats.org/drawingml/2006/main">
            <a:r>
              <a:t>A fold is one part of the development data used for a validation turn. Refit the entire preprocessing and model on the other parts for that turn.</a:t>
            </a:r>
          </a:p>
          <a:p xmlns:a="http://schemas.openxmlformats.org/drawingml/2006/main">
            <a:r>
              <a:t/>
            </a:r>
          </a:p>
          <a:p xmlns:a="http://schemas.openxmlformats.org/drawingml/2006/main">
            <a:r>
              <a:t>Compare candidate settings using validation evidence. Keep the final test outside that selection process.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Cross-validation.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Cross-validation</a:t>
            </a:r>
          </a:p>
          <a:p xmlns:a="http://schemas.openxmlformats.org/drawingml/2006/main">
            <a:r>
              <a:t/>
            </a:r>
          </a:p>
          <a:p xmlns:a="http://schemas.openxmlformats.org/drawingml/2006/main">
            <a:r>
              <a:t>CONNECT</a:t>
            </a:r>
          </a:p>
          <a:p xmlns:a="http://schemas.openxmlformats.org/drawingml/2006/main">
            <a:r>
              <a:t>Previous slide: Parameters hyperparameters and a fold.</a:t>
            </a:r>
          </a:p>
          <a:p xmlns:a="http://schemas.openxmlformats.org/drawingml/2006/main">
            <a:r>
              <a:t/>
            </a:r>
          </a:p>
          <a:p xmlns:a="http://schemas.openxmlformats.org/drawingml/2006/main">
            <a:r>
              <a:t>EXPLAIN</a:t>
            </a:r>
          </a:p>
          <a:p xmlns:a="http://schemas.openxmlformats.org/drawingml/2006/main">
            <a:r>
              <a:t>Cross-validation: Repeat fitting and validation on several partitions of the training/development data. Respect groups or time order. Keep the final test outside tuning.</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What standard deviation tells us.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standard deviation tells us</a:t>
            </a:r>
          </a:p>
          <a:p xmlns:a="http://schemas.openxmlformats.org/drawingml/2006/main">
            <a:r>
              <a:t/>
            </a:r>
          </a:p>
          <a:p xmlns:a="http://schemas.openxmlformats.org/drawingml/2006/main">
            <a:r>
              <a:t>CONNECT</a:t>
            </a:r>
          </a:p>
          <a:p xmlns:a="http://schemas.openxmlformats.org/drawingml/2006/main">
            <a:r>
              <a:t>Previous slide: Cross-validation.</a:t>
            </a:r>
          </a:p>
          <a:p xmlns:a="http://schemas.openxmlformats.org/drawingml/2006/main">
            <a:r>
              <a:t/>
            </a:r>
          </a:p>
          <a:p xmlns:a="http://schemas.openxmlformats.org/drawingml/2006/main">
            <a:r>
              <a:t>EXPLAIN</a:t>
            </a:r>
          </a:p>
          <a:p xmlns:a="http://schemas.openxmlformats.org/drawingml/2006/main">
            <a:r>
              <a:t>Scores 3, 4 and 5 have mean 4. Their deviations are -1, 0 and 1.</a:t>
            </a:r>
          </a:p>
          <a:p xmlns:a="http://schemas.openxmlformats.org/drawingml/2006/main">
            <a:r>
              <a:t/>
            </a:r>
          </a:p>
          <a:p xmlns:a="http://schemas.openxmlformats.org/drawingml/2006/main">
            <a:r>
              <a:t>For these three fold scores, population SD = sqrt((1 + 0 + 1) / 3), about 0.82.</a:t>
            </a:r>
          </a:p>
          <a:p xmlns:a="http://schemas.openxmlformats.org/drawingml/2006/main">
            <a:r>
              <a:t/>
            </a:r>
          </a:p>
          <a:p xmlns:a="http://schemas.openxmlformats.org/drawingml/2006/main">
            <a:r>
              <a:t>SD describes spread around the mean in the score’s units. The next illustration uses this same population convention; it is not a confidence interval.</a:t>
            </a:r>
          </a:p>
          <a:p xmlns:a="http://schemas.openxmlformats.org/drawingml/2006/main">
            <a:r>
              <a:t/>
            </a:r>
          </a:p>
          <a:p xmlns:a="http://schemas.openxmlformats.org/drawingml/2006/main">
            <a:r>
              <a:t>LECTURER CUE</a:t>
            </a:r>
          </a:p>
          <a:p xmlns:a="http://schemas.openxmlformats.org/drawingml/2006/main">
            <a:r>
              <a:t>Square each deviation, average all three, then take the square root. Here we describe the full displayed set. A sample SD would instead divide by n - 1; do not mix conventions.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three validation turns.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three validation turns</a:t>
            </a:r>
          </a:p>
          <a:p xmlns:a="http://schemas.openxmlformats.org/drawingml/2006/main">
            <a:r>
              <a:t/>
            </a:r>
          </a:p>
          <a:p xmlns:a="http://schemas.openxmlformats.org/drawingml/2006/main">
            <a:r>
              <a:t>CONNECT</a:t>
            </a:r>
          </a:p>
          <a:p xmlns:a="http://schemas.openxmlformats.org/drawingml/2006/main">
            <a:r>
              <a:t>Previous slide: What standard deviation tells us.</a:t>
            </a:r>
          </a:p>
          <a:p xmlns:a="http://schemas.openxmlformats.org/drawingml/2006/main">
            <a:r>
              <a:t/>
            </a:r>
          </a:p>
          <a:p xmlns:a="http://schemas.openxmlformats.org/drawingml/2006/main">
            <a:r>
              <a:t>EXPLAIN</a:t>
            </a:r>
          </a:p>
          <a:p xmlns:a="http://schemas.openxmlformats.org/drawingml/2006/main">
            <a:r>
              <a:t>Turn | Fit using | Validate using</a:t>
            </a:r>
          </a:p>
          <a:p xmlns:a="http://schemas.openxmlformats.org/drawingml/2006/main">
            <a:r>
              <a:t/>
            </a:r>
          </a:p>
          <a:p xmlns:a="http://schemas.openxmlformats.org/drawingml/2006/main">
            <a:r>
              <a:t>1 | Parts B and C | Part A</a:t>
            </a:r>
          </a:p>
          <a:p xmlns:a="http://schemas.openxmlformats.org/drawingml/2006/main">
            <a:r>
              <a:t/>
            </a:r>
          </a:p>
          <a:p xmlns:a="http://schemas.openxmlformats.org/drawingml/2006/main">
            <a:r>
              <a:t>2 | Parts A and C | Part B</a:t>
            </a:r>
          </a:p>
          <a:p xmlns:a="http://schemas.openxmlformats.org/drawingml/2006/main">
            <a:r>
              <a:t/>
            </a:r>
          </a:p>
          <a:p xmlns:a="http://schemas.openxmlformats.org/drawingml/2006/main">
            <a:r>
              <a:t>3 | Parts A and B | Part C</a:t>
            </a:r>
          </a:p>
          <a:p xmlns:a="http://schemas.openxmlformats.org/drawingml/2006/main">
            <a:r>
              <a:t/>
            </a:r>
          </a:p>
          <a:p xmlns:a="http://schemas.openxmlformats.org/drawingml/2006/main">
            <a:r>
              <a:t>Refit preprocessing in every turn. The separate final test is not A, B or C.</a:t>
            </a:r>
          </a:p>
          <a:p xmlns:a="http://schemas.openxmlformats.org/drawingml/2006/main">
            <a:r>
              <a:t/>
            </a:r>
          </a:p>
          <a:p xmlns:a="http://schemas.openxmlformats.org/drawingml/2006/main">
            <a:r>
              <a:t>Read the rows in order. Refit preprocessing in every turn. The separate final test is not A, B or C.</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Each fold takes a turn at validation.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Each fold takes a turn at validation</a:t>
            </a:r>
          </a:p>
          <a:p xmlns:a="http://schemas.openxmlformats.org/drawingml/2006/main">
            <a:r>
              <a:t/>
            </a:r>
          </a:p>
          <a:p xmlns:a="http://schemas.openxmlformats.org/drawingml/2006/main">
            <a:r>
              <a:t>CONNECT</a:t>
            </a:r>
          </a:p>
          <a:p xmlns:a="http://schemas.openxmlformats.org/drawingml/2006/main">
            <a:r>
              <a:t>Previous slide: Trace three validation turns.</a:t>
            </a:r>
          </a:p>
          <a:p xmlns:a="http://schemas.openxmlformats.org/drawingml/2006/main">
            <a:r>
              <a:t/>
            </a:r>
          </a:p>
          <a:p xmlns:a="http://schemas.openxmlformats.org/drawingml/2006/main">
            <a:r>
              <a:t>EXPLAIN</a:t>
            </a:r>
          </a:p>
          <a:p xmlns:a="http://schemas.openxmlformats.org/drawingml/2006/main">
            <a:r>
              <a:t>Illustrated spread: population SD 0.39 MPa, not a confidence interval.</a:t>
            </a:r>
          </a:p>
          <a:p xmlns:a="http://schemas.openxmlformats.org/drawingml/2006/main">
            <a:r>
              <a:t/>
            </a:r>
          </a:p>
          <a:p xmlns:a="http://schemas.openxmlformats.org/drawingml/2006/main">
            <a:r>
              <a:t>LECTURER CUE</a:t>
            </a:r>
          </a:p>
          <a:p xmlns:a="http://schemas.openxmlformats.org/drawingml/2006/main">
            <a:r>
              <a:t>The illustrated mean is about 4.30 MPa and population standard deviation about 0.39 MPa. This is fold variation, not a confidence interval. Keep equipment groups together. Keep a separate final test outside model selection.</a:t>
            </a:r>
          </a:p>
          <a:p xmlns:a="http://schemas.openxmlformats.org/drawingml/2006/main">
            <a:r>
              <a:t>Source: existing course illustration figs/kfold.png.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Choose a split that matches future use.</a:t>
            </a:r>
          </a:p>
          <a:p xmlns:a="http://schemas.openxmlformats.org/drawingml/2006/main">
            <a:r>
              <a:t/>
            </a:r>
          </a:p>
          <a:p xmlns:a="http://schemas.openxmlformats.org/drawingml/2006/main">
            <a:r>
              <a:t>REFERENCES</a:t>
            </a:r>
          </a:p>
          <a:p xmlns:a="http://schemas.openxmlformats.org/drawingml/2006/main">
            <a:r>
              <a:t>Source: existing course illustration figs/kfold.png.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split that matches future use</a:t>
            </a:r>
          </a:p>
          <a:p xmlns:a="http://schemas.openxmlformats.org/drawingml/2006/main">
            <a:r>
              <a:t/>
            </a:r>
          </a:p>
          <a:p xmlns:a="http://schemas.openxmlformats.org/drawingml/2006/main">
            <a:r>
              <a:t>CONNECT</a:t>
            </a:r>
          </a:p>
          <a:p xmlns:a="http://schemas.openxmlformats.org/drawingml/2006/main">
            <a:r>
              <a:t>Previous slide: Each fold takes a turn at validation.</a:t>
            </a:r>
          </a:p>
          <a:p xmlns:a="http://schemas.openxmlformats.org/drawingml/2006/main">
            <a:r>
              <a:t/>
            </a:r>
          </a:p>
          <a:p xmlns:a="http://schemas.openxmlformats.org/drawingml/2006/main">
            <a:r>
              <a:t>EXPLAIN</a:t>
            </a:r>
          </a:p>
          <a:p xmlns:a="http://schemas.openxmlformats.org/drawingml/2006/main">
            <a:r>
              <a:t>Equipment or time: For unseen equipment, keep each equipment ID together. For future-time prediction, train on earlier observations and evaluate on later ones.</a:t>
            </a:r>
          </a:p>
          <a:p xmlns:a="http://schemas.openxmlformats.org/drawingml/2006/main">
            <a:r>
              <a:t/>
            </a:r>
          </a:p>
          <a:p xmlns:a="http://schemas.openxmlformats.org/drawingml/2006/main">
            <a:r>
              <a:t>Scaler and split tool: A scaler learns how to rescale features; fit it on training data. GroupShuffleSplit is a library tool for group separation. Our assignment instead uses its fixed published equipment lists.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Choose a split that matches future use.</a:t>
            </a:r>
          </a:p>
          <a:p xmlns:a="http://schemas.openxmlformats.org/drawingml/2006/main">
            <a:r>
              <a:t/>
            </a:r>
          </a:p>
          <a:p xmlns:a="http://schemas.openxmlformats.org/drawingml/2006/main">
            <a:r>
              <a:t>EXPLAIN</a:t>
            </a:r>
          </a:p>
          <a:p xmlns:a="http://schemas.openxmlformats.org/drawingml/2006/main">
            <a:r>
              <a:t>Example: A second observation from B arrives. Where does it go? Why not put it into training just to balance row counts?</a:t>
            </a:r>
          </a:p>
          <a:p xmlns:a="http://schemas.openxmlformats.org/drawingml/2006/main">
            <a:r>
              <a:t/>
            </a:r>
          </a:p>
          <a:p xmlns:a="http://schemas.openxmlformats.org/drawingml/2006/main">
            <a:r>
              <a:t>Answer: It stays with B in validation. Mixing a source across partitions can give an overly optimistic estimate for unseen equipment.</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It stays with B in validation. Mixing a source across partitions can give an overly optimistic estimate for unseen equipment.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W10 specifies E1–E4 train, E5 validation, E6 test and preserves input order.</a:t>
            </a:r>
          </a:p>
          <a:p xmlns:a="http://schemas.openxmlformats.org/drawingml/2006/main">
            <a:r>
              <a:t/>
            </a:r>
          </a:p>
          <a:p xmlns:a="http://schemas.openxmlformats.org/drawingml/2006/main">
            <a:r>
              <a:t>Use the assigned equipment_id field and record_id outputs.</a:t>
            </a:r>
          </a:p>
          <a:p xmlns:a="http://schemas.openxmlformats.org/drawingml/2006/main">
            <a:r>
              <a:t/>
            </a:r>
          </a:p>
          <a:p xmlns:a="http://schemas.openxmlformats.org/drawingml/2006/main">
            <a:r>
              <a:t>Reuse the W08 fitting pattern.</a:t>
            </a:r>
          </a:p>
          <a:p xmlns:a="http://schemas.openxmlformats.org/drawingml/2006/main">
            <a:r>
              <a:t/>
            </a:r>
          </a:p>
          <a:p xmlns:a="http://schemas.openxmlformats.org/drawingml/2006/main">
            <a:r>
              <a:t>Explain that GroupShuffleSplit and time-based splitting solve different deployment questions; use the rule in the issued task.</a:t>
            </a:r>
          </a:p>
          <a:p xmlns:a="http://schemas.openxmlformats.org/drawingml/2006/main">
            <a:r>
              <a:t/>
            </a:r>
          </a:p>
          <a:p xmlns:a="http://schemas.openxmlformats.org/drawingml/2006/main">
            <a:r>
              <a:t>LECTURER CUE</a:t>
            </a:r>
          </a:p>
          <a:p xmlns:a="http://schemas.openxmlformats.org/drawingml/2006/main">
            <a:r>
              <a:t>W10 specifies E1–E4 train, E5 validation, E6 test and preserves input order. Use the assigned equipment_id field and record_id outputs. Reuse the W08 fitting pattern. Explain that GroupShuffleSplit and time-based splitting solve different deployment questions; use the rule in the issued task.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Interpreting validation results.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Fit an imputer or scaler only on training data; putting it in a Pipeline helps enforce that during cross-validation.</a:t>
            </a:r>
          </a:p>
          <a:p xmlns:a="http://schemas.openxmlformats.org/drawingml/2006/main">
            <a:r>
              <a:t/>
            </a:r>
          </a:p>
          <a:p xmlns:a="http://schemas.openxmlformats.org/drawingml/2006/main">
            <a:r>
              <a:t>A low training error and high validation error suggest overfitting, but data shift or leakage can also matter.</a:t>
            </a:r>
          </a:p>
          <a:p xmlns:a="http://schemas.openxmlformats.org/drawingml/2006/main">
            <a:r>
              <a:t/>
            </a:r>
          </a:p>
          <a:p xmlns:a="http://schemas.openxmlformats.org/drawingml/2006/main">
            <a:r>
              <a:t>Missing predictor values need a stated treatment.</a:t>
            </a:r>
          </a:p>
          <a:p xmlns:a="http://schemas.openxmlformats.org/drawingml/2006/main">
            <a:r>
              <a:t/>
            </a:r>
          </a:p>
          <a:p xmlns:a="http://schemas.openxmlformats.org/drawingml/2006/main">
            <a:r>
              <a:t>Report fold scores and their variation, not just the best fold.</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Interpreting validation results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 continued</a:t>
            </a:r>
          </a:p>
          <a:p xmlns:a="http://schemas.openxmlformats.org/drawingml/2006/main">
            <a:r>
              <a:t/>
            </a:r>
          </a:p>
          <a:p xmlns:a="http://schemas.openxmlformats.org/drawingml/2006/main">
            <a:r>
              <a:t>CONNECT</a:t>
            </a:r>
          </a:p>
          <a:p xmlns:a="http://schemas.openxmlformats.org/drawingml/2006/main">
            <a:r>
              <a:t>Previous slide: Interpreting validation results.</a:t>
            </a:r>
          </a:p>
          <a:p xmlns:a="http://schemas.openxmlformats.org/drawingml/2006/main">
            <a:r>
              <a:t/>
            </a:r>
          </a:p>
          <a:p xmlns:a="http://schemas.openxmlformats.org/drawingml/2006/main">
            <a:r>
              <a:t>EXPLAIN</a:t>
            </a:r>
          </a:p>
          <a:p xmlns:a="http://schemas.openxmlformats.org/drawingml/2006/main">
            <a:r>
              <a:t>Group related observations together when the deployment goal is new equipment.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Previous slide: Interpreting validation results continued.</a:t>
            </a:r>
          </a:p>
          <a:p xmlns:a="http://schemas.openxmlformats.org/drawingml/2006/main">
            <a:r>
              <a:t/>
            </a:r>
          </a:p>
          <a:p xmlns:a="http://schemas.openxmlformats.org/drawingml/2006/main">
            <a:r>
              <a:t>EXPLAIN</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CUE</a:t>
            </a:r>
          </a:p>
          <a:p xmlns:a="http://schemas.openxmlformats.org/drawingml/2006/main">
            <a:r>
              <a:t>Investigate crusher energy demand. Target units: kWh/t.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group_split(records).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group_split(records)</a:t>
            </a:r>
          </a:p>
          <a:p xmlns:a="http://schemas.openxmlformats.org/drawingml/2006/main">
            <a:r>
              <a:t/>
            </a:r>
          </a:p>
          <a:p xmlns:a="http://schemas.openxmlformats.org/drawingml/2006/main">
            <a:r>
              <a:t>CONNECT</a:t>
            </a:r>
          </a:p>
          <a:p xmlns:a="http://schemas.openxmlformats.org/drawingml/2006/main">
            <a:r>
              <a:t>Previous slide: Your issued task.</a:t>
            </a:r>
          </a:p>
          <a:p xmlns:a="http://schemas.openxmlformats.org/drawingml/2006/main">
            <a:r>
              <a:t/>
            </a:r>
          </a:p>
          <a:p xmlns:a="http://schemas.openxmlformats.org/drawingml/2006/main">
            <a:r>
              <a:t>EXPLAIN</a:t>
            </a:r>
          </a:p>
          <a:p xmlns:a="http://schemas.openxmlformats.org/drawingml/2006/main">
            <a:r>
              <a:t>Assign whole equipment groups: E1–E4 to train, E5 to validation, E6 to test.</a:t>
            </a:r>
          </a:p>
          <a:p xmlns:a="http://schemas.openxmlformats.org/drawingml/2006/main">
            <a:r>
              <a:t/>
            </a:r>
          </a:p>
          <a:p xmlns:a="http://schemas.openxmlformats.org/drawingml/2006/main">
            <a:r>
              <a:t>Return train, validation and test lists of record_id in input order.</a:t>
            </a:r>
          </a:p>
          <a:p xmlns:a="http://schemas.openxmlformats.org/drawingml/2006/main">
            <a:r>
              <a:t/>
            </a:r>
          </a:p>
          <a:p xmlns:a="http://schemas.openxmlformats.org/drawingml/2006/main">
            <a:r>
              <a:t>Do not use target values to choose membership.</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predict_regression(training_records, feature_records).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Previous slide: group_split(records).</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IUEA_Teaching_Plan/assessment_banks/W10/CML3113/A/TASKS.md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Written evidence.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Previous slide: predict_regression(training_records, feature_records).</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Validation and trust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trust submission</a:t>
            </a:r>
          </a:p>
          <a:p xmlns:a="http://schemas.openxmlformats.org/drawingml/2006/main">
            <a:r>
              <a:t/>
            </a:r>
          </a:p>
          <a:p xmlns:a="http://schemas.openxmlformats.org/drawingml/2006/main">
            <a:r>
              <a:t>CONNECT</a:t>
            </a:r>
          </a:p>
          <a:p xmlns:a="http://schemas.openxmlformats.org/drawingml/2006/main">
            <a:r>
              <a:t>Previous slide: Written evidence.</a:t>
            </a:r>
          </a:p>
          <a:p xmlns:a="http://schemas.openxmlformats.org/drawingml/2006/main">
            <a:r>
              <a:t/>
            </a:r>
          </a:p>
          <a:p xmlns:a="http://schemas.openxmlformats.org/drawingml/2006/main">
            <a:r>
              <a:t>EXPLAIN</a:t>
            </a:r>
          </a:p>
          <a:p xmlns:a="http://schemas.openxmlformats.org/drawingml/2006/main">
            <a:r>
              <a:t>Opens: 13 Nov 2026, 08:00 Kampala</a:t>
            </a:r>
          </a:p>
          <a:p xmlns:a="http://schemas.openxmlformats.org/drawingml/2006/main">
            <a:r>
              <a:t/>
            </a:r>
          </a:p>
          <a:p xmlns:a="http://schemas.openxmlformats.org/drawingml/2006/main">
            <a:r>
              <a:t>Deadline: 20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10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10 quiz</a:t>
            </a:r>
          </a:p>
          <a:p xmlns:a="http://schemas.openxmlformats.org/drawingml/2006/main">
            <a:r>
              <a:t/>
            </a:r>
          </a:p>
          <a:p xmlns:a="http://schemas.openxmlformats.org/drawingml/2006/main">
            <a:r>
              <a:t>CONNECT</a:t>
            </a:r>
          </a:p>
          <a:p xmlns:a="http://schemas.openxmlformats.org/drawingml/2006/main">
            <a:r>
              <a:t>Previous slide: Validation and trust submission.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open_W10_CML3113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10 quiz.</a:t>
            </a:r>
          </a:p>
          <a:p xmlns:a="http://schemas.openxmlformats.org/drawingml/2006/main">
            <a:r>
              <a:t/>
            </a:r>
          </a:p>
          <a:p xmlns:a="http://schemas.openxmlformats.org/drawingml/2006/main">
            <a:r>
              <a:t>EXPLAIN</a:t>
            </a:r>
          </a:p>
          <a:p xmlns:a="http://schemas.openxmlformats.org/drawingml/2006/main">
            <a:r>
              <a:t>You can identify which records may influence preprocessing and model selection.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Optional revision video.</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Previous slide: Revision and submission checklist.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71a04b64d04cf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86ed2a5a86c4d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8d4ef2fb3bb4af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45cd697098b443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83a9a37f364b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660816414f4cc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A4177BA-18D4-4651-AAB9-CFE72F466E2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53615C5-3B2B-4CB0-8939-5DE3A774871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AEA19B29-E094-49B6-8B40-274435D2641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9BC2B768-D2D6-4340-A964-E0EC734CCD5F}"/>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B320AF0F-FE72-4E73-AC3B-5D43B795024B}"/>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8FCBE5B7-3CAA-4189-A7D1-286BC5835BF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421C242-2343-4F5F-A87D-96E6EFF773F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2A0FAC-2CF7-45B5-B0E9-483DDA019A17}"/>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CB19F48-EE5F-4D08-8A4A-8F9CEB9704E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AE34691-CF48-46B5-8BEE-6366AB48C96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B0B99E4-F525-4860-920C-FF56E8F1951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5D9CB-71EA-4EE6-AEC9-9348CDE467E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8BC5ACC-2457-4E53-AA29-5464E2AB2F18}"/>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997A998-846A-4827-87FE-5439CEFBA3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690249DC-9F94-4B36-8A9F-29D3560DC77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11b648b8714aab" /><Relationship Type="http://schemas.openxmlformats.org/officeDocument/2006/relationships/slideLayout" Target="/ppt/slideLayouts/slideLayout1.xml" Id="R4dc45d4b455041ac" /><Relationship Type="http://schemas.openxmlformats.org/officeDocument/2006/relationships/slideLayout" Target="/ppt/slideLayouts/slideLayout2.xml" Id="Rdd38017c0bc14e4b" /><Relationship Type="http://schemas.openxmlformats.org/officeDocument/2006/relationships/slideLayout" Target="/ppt/slideLayouts/slideLayout3.xml" Id="R8d59ba4a7714401e" /><Relationship Type="http://schemas.openxmlformats.org/officeDocument/2006/relationships/slideLayout" Target="/ppt/slideLayouts/slideLayout4.xml" Id="R635e6ee106ab4d05" /><Relationship Type="http://schemas.openxmlformats.org/officeDocument/2006/relationships/slideLayout" Target="/ppt/slideLayouts/slideLayout5.xml" Id="Ra1a00fa7bfc5425c" /><Relationship Type="http://schemas.openxmlformats.org/officeDocument/2006/relationships/slideLayout" Target="/ppt/slideLayouts/slideLayout6.xml" Id="R91a3705cff91415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dc45d4b455041ac"/>
    <p:sldLayoutId xmlns:r="http://schemas.openxmlformats.org/officeDocument/2006/relationships" id="2147483650" r:id="Rdd38017c0bc14e4b"/>
    <p:sldLayoutId xmlns:r="http://schemas.openxmlformats.org/officeDocument/2006/relationships" id="2147483651" r:id="R8d59ba4a7714401e"/>
    <p:sldLayoutId xmlns:r="http://schemas.openxmlformats.org/officeDocument/2006/relationships" id="2147483652" r:id="R635e6ee106ab4d05"/>
    <p:sldLayoutId xmlns:r="http://schemas.openxmlformats.org/officeDocument/2006/relationships" id="2147483653" r:id="Ra1a00fa7bfc5425c"/>
    <p:sldLayoutId xmlns:r="http://schemas.openxmlformats.org/officeDocument/2006/relationships" id="2147483654" r:id="R91a3705cff91415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4c3041cf1c43cc" /><Relationship Type="http://schemas.openxmlformats.org/officeDocument/2006/relationships/image" Target="/ppt/media/image.png" Id="R850db7b732a54ff8" /><Relationship Type="http://schemas.openxmlformats.org/officeDocument/2006/relationships/notesSlide" Target="/ppt/notesSlides/notesSlide1.xml" Id="Rb7fc121e77e849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f01e3fe7ebd4302" /><Relationship Type="http://schemas.openxmlformats.org/officeDocument/2006/relationships/notesSlide" Target="/ppt/notesSlides/notesSlide2.xml" Id="R4d2d270126624d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ed032941934ec4" /><Relationship Type="http://schemas.openxmlformats.org/officeDocument/2006/relationships/notesSlide" Target="/ppt/notesSlides/notesSlide3.xml" Id="R8964ec4c7f1f47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fccc12bfc664e1c" /><Relationship Type="http://schemas.openxmlformats.org/officeDocument/2006/relationships/notesSlide" Target="/ppt/notesSlides/notesSlide4.xml" Id="Rca2cfb695ea14f4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2b24b2343624961" /><Relationship Type="http://schemas.openxmlformats.org/officeDocument/2006/relationships/notesSlide" Target="/ppt/notesSlides/notesSlide5.xml" Id="Rdcc4aa5316a34ac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c26eaffdb8a4385" /><Relationship Type="http://schemas.openxmlformats.org/officeDocument/2006/relationships/image" Target="/ppt/media/image2.png" Id="R8e5a77044bee456a" /><Relationship Type="http://schemas.openxmlformats.org/officeDocument/2006/relationships/notesSlide" Target="/ppt/notesSlides/notesSlide6.xml" Id="Rb3b25e29c99b42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1d39d3610bf4c70" /><Relationship Type="http://schemas.openxmlformats.org/officeDocument/2006/relationships/notesSlide" Target="/ppt/notesSlides/notesSlide7.xml" Id="Rb9e257e965c74ef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956fb26c18a489f" /><Relationship Type="http://schemas.openxmlformats.org/officeDocument/2006/relationships/notesSlide" Target="/ppt/notesSlides/notesSlide8.xml" Id="R3b665cc481cf42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2de70246b3848ee" /><Relationship Type="http://schemas.openxmlformats.org/officeDocument/2006/relationships/notesSlide" Target="/ppt/notesSlides/notesSlide9.xml" Id="R4890ea19bfd3404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77acc42c203493c" /><Relationship Type="http://schemas.openxmlformats.org/officeDocument/2006/relationships/notesSlide" Target="/ppt/notesSlides/notesSlide10.xml" Id="R6c9212025ad34b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037a49360444ec0" /><Relationship Type="http://schemas.openxmlformats.org/officeDocument/2006/relationships/notesSlide" Target="/ppt/notesSlides/notesSlide11.xml" Id="R927f943b3767464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167e6993d1946f5" /><Relationship Type="http://schemas.openxmlformats.org/officeDocument/2006/relationships/notesSlide" Target="/ppt/notesSlides/notesSlide12.xml" Id="R064380c3cfa5451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05ea553521f40a8" /><Relationship Type="http://schemas.openxmlformats.org/officeDocument/2006/relationships/notesSlide" Target="/ppt/notesSlides/notesSlide13.xml" Id="R9dcd44fb58034ce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fa0a1a554b840fd" /><Relationship Type="http://schemas.openxmlformats.org/officeDocument/2006/relationships/notesSlide" Target="/ppt/notesSlides/notesSlide14.xml" Id="Rebaa4681f0914b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98e8900f6e34aeb" /><Relationship Type="http://schemas.openxmlformats.org/officeDocument/2006/relationships/notesSlide" Target="/ppt/notesSlides/notesSlide15.xml" Id="Re26cccc67f81400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c887a7ebd144f80" /><Relationship Type="http://schemas.openxmlformats.org/officeDocument/2006/relationships/notesSlide" Target="/ppt/notesSlides/notesSlide16.xml" Id="R0429ddb0ecd549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0a71d52a1e54dbd" /><Relationship Type="http://schemas.openxmlformats.org/officeDocument/2006/relationships/notesSlide" Target="/ppt/notesSlides/notesSlide17.xml" Id="R437c68d0f006478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697fac1daca4f2c" /><Relationship Type="http://schemas.openxmlformats.org/officeDocument/2006/relationships/notesSlide" Target="/ppt/notesSlides/notesSlide18.xml" Id="R08aed39ae8ad4d1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eea4bdf325a94ed5" /><Relationship Type="http://schemas.openxmlformats.org/officeDocument/2006/relationships/notesSlide" Target="/ppt/notesSlides/notesSlide19.xml" Id="R6e2d6b7b129244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0a177530b9443c9" /><Relationship Type="http://schemas.openxmlformats.org/officeDocument/2006/relationships/notesSlide" Target="/ppt/notesSlides/notesSlide20.xml" Id="R047834df75b0408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7a9cc4aa1f04d2e" /><Relationship Type="http://schemas.openxmlformats.org/officeDocument/2006/relationships/notesSlide" Target="/ppt/notesSlides/notesSlide21.xml" Id="R1c44bdb27dc64df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0bd5eafdd0a44d0" /><Relationship Type="http://schemas.openxmlformats.org/officeDocument/2006/relationships/notesSlide" Target="/ppt/notesSlides/notesSlide22.xml" Id="Rf55ad64f868545f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632f5a7c9b542fc" /><Relationship Type="http://schemas.openxmlformats.org/officeDocument/2006/relationships/image" Target="/ppt/media/image3.png" Id="R88fb233140464d45" /><Relationship Type="http://schemas.openxmlformats.org/officeDocument/2006/relationships/notesSlide" Target="/ppt/notesSlides/notesSlide23.xml" Id="R1442695297cb450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69369a79e024483" /><Relationship Type="http://schemas.openxmlformats.org/officeDocument/2006/relationships/notesSlide" Target="/ppt/notesSlides/notesSlide24.xml" Id="R5e5063dac55142c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08e336d88a74359" /><Relationship Type="http://schemas.openxmlformats.org/officeDocument/2006/relationships/notesSlide" Target="/ppt/notesSlides/notesSlide25.xml" Id="R06df22c15d76465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4f45182895a49c3" /><Relationship Type="http://schemas.openxmlformats.org/officeDocument/2006/relationships/notesSlide" Target="/ppt/notesSlides/notesSlide26.xml" Id="Rfd612c1e5f25468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a83f3ebc9db43d9" /><Relationship Type="http://schemas.openxmlformats.org/officeDocument/2006/relationships/notesSlide" Target="/ppt/notesSlides/notesSlide27.xml" Id="Re52294b48de3497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3622f606224420b" /><Relationship Type="http://schemas.openxmlformats.org/officeDocument/2006/relationships/notesSlide" Target="/ppt/notesSlides/notesSlide28.xml" Id="R2a654cf1673d42a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d1cdf5cc7bd4745" /><Relationship Type="http://schemas.openxmlformats.org/officeDocument/2006/relationships/notesSlide" Target="/ppt/notesSlides/notesSlide29.xml" Id="R5b1e105f56c4410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abcfeb41a8a4aa6" /><Relationship Type="http://schemas.openxmlformats.org/officeDocument/2006/relationships/notesSlide" Target="/ppt/notesSlides/notesSlide30.xml" Id="R3525b02e74bb484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8cfcb69e367499a" /><Relationship Type="http://schemas.openxmlformats.org/officeDocument/2006/relationships/notesSlide" Target="/ppt/notesSlides/notesSlide31.xml" Id="R01dbfa2993ea4be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ec696dc2ecb4f46" /><Relationship Type="http://schemas.openxmlformats.org/officeDocument/2006/relationships/notesSlide" Target="/ppt/notesSlides/notesSlide32.xml" Id="R904cf03caa6e4ed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87f58b9615a409e" /><Relationship Type="http://schemas.openxmlformats.org/officeDocument/2006/relationships/hyperlink" Target="https://docs.google.com/forms/d/e/1FAIpQLSd0PIGgcund5zKvqtctB1dz7pekt8hubl0ZUrFL-BJc9bKGlQ/viewform" TargetMode="External" Id="R9ceb773d46104202" /><Relationship Type="http://schemas.openxmlformats.org/officeDocument/2006/relationships/notesSlide" Target="/ppt/notesSlides/notesSlide33.xml" Id="Rdedc37e2eae44e7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abd6351a6ed4d36" /><Relationship Type="http://schemas.openxmlformats.org/officeDocument/2006/relationships/image" Target="/ppt/media/image4.png" Id="R0aa9be3756d24813" /><Relationship Type="http://schemas.openxmlformats.org/officeDocument/2006/relationships/hyperlink" Target="https://forms.gle/LQPALyRC3uRvZqDJ8" TargetMode="External" Id="Rda292dcdc4ac4eb6" /><Relationship Type="http://schemas.openxmlformats.org/officeDocument/2006/relationships/notesSlide" Target="/ppt/notesSlides/notesSlide34.xml" Id="R653e43cede62400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0ca4fffc29824278" /><Relationship Type="http://schemas.openxmlformats.org/officeDocument/2006/relationships/notesSlide" Target="/ppt/notesSlides/notesSlide35.xml" Id="R38a3797d7cf044f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4fa5047198f4f78" /><Relationship Type="http://schemas.openxmlformats.org/officeDocument/2006/relationships/hyperlink" Target="https://www.youtube.com/watch?v=fSytzGwwBVw" TargetMode="External" Id="R7b2d921759a64559" /><Relationship Type="http://schemas.openxmlformats.org/officeDocument/2006/relationships/notesSlide" Target="/ppt/notesSlides/notesSlide36.xml" Id="R2b8a907923d0461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50db7b732a54ff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E39F9B3-35E0-4739-8600-4C5776A4AE6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927E8A8-A54C-4D62-8642-0D9006C2287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10</a:t>
            </a:r>
          </a:p>
        </p:txBody>
      </p:sp>
      <p:sp>
        <p:nvSpPr>
          <p:cNvPr id="4" name="">
            <a:extLst xmlns:a="http://schemas.openxmlformats.org/drawingml/2006/main">
              <a:ext uri="{FF2B5EF4-FFF2-40B4-BE49-F238E27FC236}">
                <a16:creationId xmlns:a16="http://schemas.microsoft.com/office/drawing/2014/main" id="{DBCF4C72-C443-434D-ABF5-FD0471D3928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77021DDE-EF21-484F-91DF-96A266BB118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0C3585A-B062-440A-BE00-FC73773C3105}"/>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07200382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83C0292-1E31-4688-8D54-510F4527D6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C1D1B6-A93C-49FF-AFCE-ECDF223B44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B9AA8F3-D5FF-46E2-806D-12F2E686B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A15D4698-66DD-4A78-9AB1-3A5EAE7500A4}"/>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8EAA25-2C5B-4D91-A9FA-60E45606EE68}"/>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6FAABD6-2876-4E91-99BE-A7E49681A52B}"/>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9105C604-CFD9-469B-9EAF-26B2C415844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684F27A-599B-41C6-8AFB-086AA13167D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B3A1F1C5-FC67-4C5E-8322-7DEFB2E592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a:t>
            </a:r>
          </a:p>
        </p:txBody>
      </p:sp>
    </p:spTree>
    <p:extLst>
      <p:ext uri="{BB962C8B-B14F-4D97-AF65-F5344CB8AC3E}">
        <p14:creationId xmlns:p14="http://schemas.microsoft.com/office/powerpoint/2010/main" val="67548107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F86BD9-FA1D-4A9C-914F-8252286CB5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18B105-3559-4E96-A15C-7AACB2ABFA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CA82C8-CA01-4A85-9231-69D296C7C8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9615B11-0871-48D4-852B-705734A939B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CFB336-1A66-4ACD-968D-D977C633120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have compared predictions with known answers.</a:t>
            </a:r>
          </a:p>
        </p:txBody>
      </p:sp>
      <p:sp>
        <p:nvSpPr>
          <p:cNvPr id="6" name="">
            <a:extLst xmlns:a="http://schemas.openxmlformats.org/drawingml/2006/main">
              <a:ext uri="{FF2B5EF4-FFF2-40B4-BE49-F238E27FC236}">
                <a16:creationId xmlns:a16="http://schemas.microsoft.com/office/drawing/2014/main" id="{5D24E7EF-9DDB-4894-BB2A-E63AFA0D39E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control which observations may influence training, choices and the final evaluation.</a:t>
            </a:r>
          </a:p>
        </p:txBody>
      </p:sp>
      <p:sp>
        <p:nvSpPr>
          <p:cNvPr id="7" name="">
            <a:extLst xmlns:a="http://schemas.openxmlformats.org/drawingml/2006/main">
              <a:ext uri="{FF2B5EF4-FFF2-40B4-BE49-F238E27FC236}">
                <a16:creationId xmlns:a16="http://schemas.microsoft.com/office/drawing/2014/main" id="{32B67F3F-BE30-4ECD-9297-B88BA1CD22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a:t>
            </a:r>
          </a:p>
        </p:txBody>
      </p:sp>
    </p:spTree>
    <p:extLst>
      <p:ext uri="{BB962C8B-B14F-4D97-AF65-F5344CB8AC3E}">
        <p14:creationId xmlns:p14="http://schemas.microsoft.com/office/powerpoint/2010/main" val="31936666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86E3492-6FCA-40E0-98E9-EE99355749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E6A192-89AF-4F67-BC69-954AC874D6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D1BF99-B109-4BF2-AF30-76D84209EC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8C072798-B80E-423B-82F6-EBFF7C4EA10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49B8F8-C1E1-4111-B886-264CD16AD8D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want evidence about new equipment or future observations.</a:t>
            </a:r>
          </a:p>
        </p:txBody>
      </p:sp>
      <p:sp>
        <p:nvSpPr>
          <p:cNvPr id="6" name="">
            <a:extLst xmlns:a="http://schemas.openxmlformats.org/drawingml/2006/main">
              <a:ext uri="{FF2B5EF4-FFF2-40B4-BE49-F238E27FC236}">
                <a16:creationId xmlns:a16="http://schemas.microsoft.com/office/drawing/2014/main" id="{910E9C74-9240-49E5-8F98-16676EAF479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way we separate data must match that use before any model or preprocessing learns from it.</a:t>
            </a:r>
          </a:p>
        </p:txBody>
      </p:sp>
      <p:sp>
        <p:nvSpPr>
          <p:cNvPr id="7" name="">
            <a:extLst xmlns:a="http://schemas.openxmlformats.org/drawingml/2006/main">
              <a:ext uri="{FF2B5EF4-FFF2-40B4-BE49-F238E27FC236}">
                <a16:creationId xmlns:a16="http://schemas.microsoft.com/office/drawing/2014/main" id="{B1356FAF-298D-4FC6-B5E0-D0EA18641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a:t>
            </a:r>
          </a:p>
        </p:txBody>
      </p:sp>
    </p:spTree>
    <p:extLst>
      <p:ext uri="{BB962C8B-B14F-4D97-AF65-F5344CB8AC3E}">
        <p14:creationId xmlns:p14="http://schemas.microsoft.com/office/powerpoint/2010/main" val="49105313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C15E49-2B34-40E5-BF74-3343F2FE7C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2555B2-E5D5-409C-BE1C-7AD41BA0FA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8FC506C-5FB1-474B-A21A-3A75ED9295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D4135B5C-B759-4E23-923D-EAD6E55BFE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D5FC40-37B3-4BB5-AB97-C99E7789ABD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4C9396DA-2508-4BF9-8BAC-66A8ACF70BE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36AE0C-302F-4AA4-8066-33647D033E5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B50DA85D-2247-4DB7-9E7B-25D477B61C0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F76050E-D899-4DE6-AE0A-A83A6AAC97FD}"/>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23C09658-8C0D-4A51-B17D-89887B87813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4A71056-43A7-4B4E-A305-D3BE6DD6059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873E407B-BAF9-4FD9-A599-E3D9E9C185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a:t>
            </a:r>
          </a:p>
        </p:txBody>
      </p:sp>
    </p:spTree>
    <p:extLst>
      <p:ext uri="{BB962C8B-B14F-4D97-AF65-F5344CB8AC3E}">
        <p14:creationId xmlns:p14="http://schemas.microsoft.com/office/powerpoint/2010/main" val="126823028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0ED80B6-990D-4BB0-82F2-D900DC3BB12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FD9300-4D56-47F6-BBC5-BB1B5A19789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e5a77044bee456a"/>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4EB7C86-FFA2-4D39-8110-368C9C6C5733}"/>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1956D3D-7989-4504-B107-202A2906A0A5}"/>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633360E8-1127-4651-A0D9-940503B13B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6</a:t>
            </a:r>
          </a:p>
        </p:txBody>
      </p:sp>
    </p:spTree>
    <p:extLst>
      <p:ext uri="{BB962C8B-B14F-4D97-AF65-F5344CB8AC3E}">
        <p14:creationId xmlns:p14="http://schemas.microsoft.com/office/powerpoint/2010/main" val="162778686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5C52C9-A4BC-4088-B38A-AB8ED49F51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6674A7-1264-41A0-B7FA-3DDF2DF79D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AEEFA0-5400-49DF-953C-0BEF5ADC07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Generalisation and Overfitting and underfitting</a:t>
            </a:r>
          </a:p>
        </p:txBody>
      </p:sp>
      <p:sp>
        <p:nvSpPr>
          <p:cNvPr id="4" name="">
            <a:extLst xmlns:a="http://schemas.openxmlformats.org/drawingml/2006/main">
              <a:ext uri="{FF2B5EF4-FFF2-40B4-BE49-F238E27FC236}">
                <a16:creationId xmlns:a16="http://schemas.microsoft.com/office/drawing/2014/main" id="{A57EA945-8045-4E39-B3EC-06BFAF689E5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E939BD-CCC3-4AA1-BF3F-C76EC581B5CD}"/>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5293BD15-9048-4D4E-A883-778B60EAE9E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9CFD73A5-1E11-4455-B71B-3E6A78646AD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B02A7A9-820A-4F9B-8A98-C5F65E5B7FD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7D00A40C-A57C-4506-8CDC-7A3A2311FBB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D6A1419D-AF2F-425B-A0AD-DEB2B0AFAEF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7</a:t>
            </a:r>
          </a:p>
        </p:txBody>
      </p:sp>
    </p:spTree>
    <p:extLst>
      <p:ext uri="{BB962C8B-B14F-4D97-AF65-F5344CB8AC3E}">
        <p14:creationId xmlns:p14="http://schemas.microsoft.com/office/powerpoint/2010/main" val="17290748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D79C28-F501-43B2-B795-35D635F09C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F0C88E-1BA8-4771-92CF-9951AB9C46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CF4F8F6-904C-4468-858C-CA0C865604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and Group split</a:t>
            </a:r>
          </a:p>
        </p:txBody>
      </p:sp>
      <p:sp>
        <p:nvSpPr>
          <p:cNvPr id="4" name="">
            <a:extLst xmlns:a="http://schemas.openxmlformats.org/drawingml/2006/main">
              <a:ext uri="{FF2B5EF4-FFF2-40B4-BE49-F238E27FC236}">
                <a16:creationId xmlns:a16="http://schemas.microsoft.com/office/drawing/2014/main" id="{75CFD84F-96F5-48A3-B775-D7488338E16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7652B3-0B92-4E85-80D5-00FB20B04A6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13DBEFE4-FAB1-4FEB-A294-6476402EE4B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68B6BECA-4256-4326-9625-21BA3736BD2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8030023-9D4F-4E05-89B3-C5775FFCF55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5A686B86-09BB-47A7-A148-08364503290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B260F77B-C190-4543-A578-F06E5D6618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8</a:t>
            </a:r>
          </a:p>
        </p:txBody>
      </p:sp>
    </p:spTree>
    <p:extLst>
      <p:ext uri="{BB962C8B-B14F-4D97-AF65-F5344CB8AC3E}">
        <p14:creationId xmlns:p14="http://schemas.microsoft.com/office/powerpoint/2010/main" val="201968875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972C6A5-6908-4EEF-B753-8E28A8C6AD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463529-E951-4DD2-A00E-6DC9ED4FB3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4F26B5-5C2D-4217-88E8-C88F912EC2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7E059CD3-33C5-4C64-A101-61F281FDC7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618A840-76B7-4EA2-BFA8-205887CCBA0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F0708F83-17C6-46FC-85EA-9EC8882E3A7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9EF687-FEF8-48E5-B830-8EC47C0365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9AB2E861-5CF5-42B2-9C4C-3250F2D5B36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16F59A-B643-4761-8D24-29383E5829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49C5D697-BDA6-4C03-B50A-243BBFBFEC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9</a:t>
            </a:r>
          </a:p>
        </p:txBody>
      </p:sp>
    </p:spTree>
    <p:extLst>
      <p:ext uri="{BB962C8B-B14F-4D97-AF65-F5344CB8AC3E}">
        <p14:creationId xmlns:p14="http://schemas.microsoft.com/office/powerpoint/2010/main" val="9226750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5466F9-2693-499B-AA80-A63761CA2F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CCA6C8-3689-4E6D-813B-EE81DFA598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9680D370-7E05-4154-8010-C3F4477DF4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54B3776-7F67-477D-91C2-94ACB43AB5C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toy split explains group separation.</a:t>
            </a:r>
          </a:p>
        </p:txBody>
      </p:sp>
      <p:sp>
        <p:nvSpPr>
          <p:cNvPr id="6" name="">
            <a:extLst xmlns:a="http://schemas.openxmlformats.org/drawingml/2006/main">
              <a:ext uri="{FF2B5EF4-FFF2-40B4-BE49-F238E27FC236}">
                <a16:creationId xmlns:a16="http://schemas.microsoft.com/office/drawing/2014/main" id="{3A8A7906-6663-4276-A4D1-61A6A0DA0B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10</a:t>
            </a:r>
          </a:p>
        </p:txBody>
      </p:sp>
    </p:spTree>
    <p:extLst>
      <p:ext uri="{BB962C8B-B14F-4D97-AF65-F5344CB8AC3E}">
        <p14:creationId xmlns:p14="http://schemas.microsoft.com/office/powerpoint/2010/main" val="21637696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2165A67-633D-478C-80E5-64DAF49B91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35B429-682C-4379-9E92-F0C58E27AB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D06E20-B741-4A05-AEAE-0E46BB31F0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(1/2)</a:t>
            </a:r>
          </a:p>
        </p:txBody>
      </p:sp>
      <p:sp>
        <p:nvSpPr>
          <p:cNvPr id="4" name="">
            <a:extLst xmlns:a="http://schemas.openxmlformats.org/drawingml/2006/main">
              <a:ext uri="{FF2B5EF4-FFF2-40B4-BE49-F238E27FC236}">
                <a16:creationId xmlns:a16="http://schemas.microsoft.com/office/drawing/2014/main" id="{F6CAAC27-64E9-4CCE-A141-C5B78BA0236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E7D2239-36A6-476A-A696-03DB00749CD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B056707E-80E1-473D-9C2A-2E72DF764D0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7AF60E1-C089-46E2-8E73-6B4F2C92DBC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A2B7B6FD-48F3-4FBA-BCC0-8D8D19083F2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AAFAACE0-ED71-4F18-8A27-92285328EBD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9FA40814-C6F3-4349-A57F-B9786095AF2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3BE7439-CC93-445B-B720-8AFEA262AE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11</a:t>
            </a:r>
          </a:p>
        </p:txBody>
      </p:sp>
    </p:spTree>
    <p:extLst>
      <p:ext uri="{BB962C8B-B14F-4D97-AF65-F5344CB8AC3E}">
        <p14:creationId xmlns:p14="http://schemas.microsoft.com/office/powerpoint/2010/main" val="175471171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CA25DD1-DDF4-4D4D-A315-597CB2C3B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F8D0AC-3D12-40D8-A7F6-C9D3A7FCE5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AA03F92-BA35-408B-B173-1FBD5F2C32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(2/2)</a:t>
            </a:r>
          </a:p>
        </p:txBody>
      </p:sp>
      <p:sp>
        <p:nvSpPr>
          <p:cNvPr id="4" name="">
            <a:extLst xmlns:a="http://schemas.openxmlformats.org/drawingml/2006/main">
              <a:ext uri="{FF2B5EF4-FFF2-40B4-BE49-F238E27FC236}">
                <a16:creationId xmlns:a16="http://schemas.microsoft.com/office/drawing/2014/main" id="{67798AFD-00F7-4448-BA4A-D8A6BB7D55A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A2F674-5AD4-4C56-B1CB-B43F7CB5964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37029460-D665-4AB6-8E5B-FF57009C75F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471284D-48FC-42D7-A64D-1FB3839FD55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6C1DD37E-A06A-454C-8BF5-1DDCD1BD550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37A8FA13-37BF-40D1-9DAB-2CFF94A9552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827A635C-5C1F-4BEC-B55D-CF2D38D3D9E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CECF7DC9-552F-4340-A176-E9D3F4CF98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12</a:t>
            </a:r>
          </a:p>
        </p:txBody>
      </p:sp>
    </p:spTree>
    <p:extLst>
      <p:ext uri="{BB962C8B-B14F-4D97-AF65-F5344CB8AC3E}">
        <p14:creationId xmlns:p14="http://schemas.microsoft.com/office/powerpoint/2010/main" val="74176705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6995FD-34A9-4ADE-A972-84E0C21410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5738E5-F577-42A0-857B-BFE196A3E2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0DFBA6B6-CED6-446B-A513-21525E50B7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results</a:t>
            </a:r>
          </a:p>
        </p:txBody>
      </p:sp>
      <p:sp>
        <p:nvSpPr>
          <p:cNvPr id="4" name="">
            <a:extLst xmlns:a="http://schemas.openxmlformats.org/drawingml/2006/main">
              <a:ext uri="{FF2B5EF4-FFF2-40B4-BE49-F238E27FC236}">
                <a16:creationId xmlns:a16="http://schemas.microsoft.com/office/drawing/2014/main" id="{839FA5BA-12B0-47ED-9DE1-7B0FA99D628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C2FAE9-696B-461F-BE37-270DA002C52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97F6C13D-E52F-4C62-AE52-58579A0D7702}"/>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2BD1951A-4B14-4348-9A58-D0DFCDEE6D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13</a:t>
            </a:r>
          </a:p>
        </p:txBody>
      </p:sp>
    </p:spTree>
    <p:extLst>
      <p:ext uri="{BB962C8B-B14F-4D97-AF65-F5344CB8AC3E}">
        <p14:creationId xmlns:p14="http://schemas.microsoft.com/office/powerpoint/2010/main" val="65770131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7B5E7F1-3AA8-42FB-B27F-9301CA1F17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50BA78-838A-44F7-94BE-3BEBA60AD2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D50626C-2585-43B5-B35B-1A693D8D21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18E5BEAB-5133-4404-9CC7-8D822E59BA0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035775-4950-4C6B-8E3C-B78730CF3B2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FBBAF8EC-352B-4E35-AFE8-FA6E1FE362C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FE5CE68E-7034-4073-BE82-EC3CC171F9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14</a:t>
            </a:r>
          </a:p>
        </p:txBody>
      </p:sp>
    </p:spTree>
    <p:extLst>
      <p:ext uri="{BB962C8B-B14F-4D97-AF65-F5344CB8AC3E}">
        <p14:creationId xmlns:p14="http://schemas.microsoft.com/office/powerpoint/2010/main" val="194778854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D790CA-7E2C-4F59-B1CB-14C7E05D30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C47E1D-5F4A-40EC-87A4-7A9076F24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4822BB-C04C-4FF8-A567-B9A8967329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CE6A258E-AA16-4E76-A825-73C63369C1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719A28-CAA7-4E99-99F7-9AF6B3B27A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87E1AC44-EE34-489B-BE69-3832355487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6D55ECB-998D-4B12-A6A7-14B4A5F193D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0A0DC72F-57BD-47A9-829E-9443FF83378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FCE402-5E44-493A-A7AB-733971FD3CF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38AB4738-EA99-45D5-828E-0381543DEB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15</a:t>
            </a:r>
          </a:p>
        </p:txBody>
      </p:sp>
    </p:spTree>
    <p:extLst>
      <p:ext uri="{BB962C8B-B14F-4D97-AF65-F5344CB8AC3E}">
        <p14:creationId xmlns:p14="http://schemas.microsoft.com/office/powerpoint/2010/main" val="90095662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9785FA-4778-4977-A7A9-0202B9B807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AA08C0-9D5F-43D2-8B27-06F6CC30E3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9C0373A-568B-441B-B1D1-A88F9FA62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B9661709-9CA9-4EC4-A52C-AD1C11E7E55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6B5C8A-0A4F-44ED-82A6-3D4198D7F0E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7C905562-AA82-4A25-89EF-E3574DAF158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D92F4AA-3A2C-4E8D-AC25-B1A146DBBBE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9D72BB7E-CC98-4AEE-9052-9AB4CEF20B5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937E7216-9B4B-49D4-B98F-3F24F8C3773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8B9F3A4C-F28B-494E-B303-88D6B27195B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6001EF2A-F341-4B9B-B11A-3F657B7116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16</a:t>
            </a:r>
          </a:p>
        </p:txBody>
      </p:sp>
    </p:spTree>
    <p:extLst>
      <p:ext uri="{BB962C8B-B14F-4D97-AF65-F5344CB8AC3E}">
        <p14:creationId xmlns:p14="http://schemas.microsoft.com/office/powerpoint/2010/main" val="213449663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9BDD04-5F94-4597-AB9B-3E1B9386E1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9E879B-B0DF-49B9-A6EA-076580C145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A952E39-28CC-4EF5-8576-CDA0FFC346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1E574359-9E8E-4DF0-9468-C9C1D475FE1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DC0E90-09FD-4CE4-9A75-312656EDD96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80635C35-0C70-4047-964E-398ED5A1C19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2E1DDD8D-27FA-486C-9111-709B0F6619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6EACC46-7A88-4A69-B3A7-33B986E874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17</a:t>
            </a:r>
          </a:p>
        </p:txBody>
      </p:sp>
    </p:spTree>
    <p:extLst>
      <p:ext uri="{BB962C8B-B14F-4D97-AF65-F5344CB8AC3E}">
        <p14:creationId xmlns:p14="http://schemas.microsoft.com/office/powerpoint/2010/main" val="109634869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8A66C44-CDD5-4C1E-BC52-B80B6DB1C8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510C37-CFDF-4A95-93BC-E14FF89A0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903371-C3EF-47D8-B555-DEA9A4E1CC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136212DE-D676-4B1F-B4AC-5A672598AA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261787-C826-4CD4-BB38-1809814E36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B420281D-153F-42FD-BA04-AC1A46199B7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A287ED-D359-4B03-88BB-F68B8F03BC4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F178B6D7-1ECA-44CD-9787-921E83D3F58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101B18-B8FB-4B9B-90C1-4BED58D43EE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CC4C86AD-A968-42CD-86CC-6C9B4F3E59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18</a:t>
            </a:r>
          </a:p>
        </p:txBody>
      </p:sp>
    </p:spTree>
    <p:extLst>
      <p:ext uri="{BB962C8B-B14F-4D97-AF65-F5344CB8AC3E}">
        <p14:creationId xmlns:p14="http://schemas.microsoft.com/office/powerpoint/2010/main" val="6507907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5A9CD9-BFB0-441C-8EED-56A70252A6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1ABA5E-C366-44EA-B9ED-A433EBB52E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E3D591-B2AC-4548-97A5-061CDF69F4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Parameters hyperparameters and a fold</a:t>
            </a:r>
          </a:p>
        </p:txBody>
      </p:sp>
      <p:sp>
        <p:nvSpPr>
          <p:cNvPr id="4" name="">
            <a:extLst xmlns:a="http://schemas.openxmlformats.org/drawingml/2006/main">
              <a:ext uri="{FF2B5EF4-FFF2-40B4-BE49-F238E27FC236}">
                <a16:creationId xmlns:a16="http://schemas.microsoft.com/office/drawing/2014/main" id="{78625FB1-37EA-435C-B41B-BC06762B866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F63F51-5BB4-4A26-961E-ED222656B01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parameter is learned during fitting, such as a line’s slope. A hyperparameter is a setting chosen around fitting, such as a tree’s max_depth.</a:t>
            </a:r>
          </a:p>
        </p:txBody>
      </p:sp>
      <p:sp>
        <p:nvSpPr>
          <p:cNvPr id="6" name="">
            <a:extLst xmlns:a="http://schemas.openxmlformats.org/drawingml/2006/main">
              <a:ext uri="{FF2B5EF4-FFF2-40B4-BE49-F238E27FC236}">
                <a16:creationId xmlns:a16="http://schemas.microsoft.com/office/drawing/2014/main" id="{066F8591-FBFA-4733-8885-DD2B16B29A6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20EE10-4B2F-4932-A608-9BEC17F2AE2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fold is one part of the development data used for a validation turn. Refit the entire preprocessing and model on the other parts for that turn.</a:t>
            </a:r>
          </a:p>
        </p:txBody>
      </p:sp>
      <p:sp>
        <p:nvSpPr>
          <p:cNvPr id="8" name="">
            <a:extLst xmlns:a="http://schemas.openxmlformats.org/drawingml/2006/main">
              <a:ext uri="{FF2B5EF4-FFF2-40B4-BE49-F238E27FC236}">
                <a16:creationId xmlns:a16="http://schemas.microsoft.com/office/drawing/2014/main" id="{484360DE-1880-47F1-AF9C-08B0876FF3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D27B6C4-4402-488C-93F6-55F14A03DE8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candidate settings using validation evidence. Keep the final test outside that selection process.</a:t>
            </a:r>
          </a:p>
        </p:txBody>
      </p:sp>
      <p:sp>
        <p:nvSpPr>
          <p:cNvPr id="10" name="">
            <a:extLst xmlns:a="http://schemas.openxmlformats.org/drawingml/2006/main">
              <a:ext uri="{FF2B5EF4-FFF2-40B4-BE49-F238E27FC236}">
                <a16:creationId xmlns:a16="http://schemas.microsoft.com/office/drawing/2014/main" id="{950D0A15-316A-4B2E-B2C8-74667229E8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19</a:t>
            </a:r>
          </a:p>
        </p:txBody>
      </p:sp>
    </p:spTree>
    <p:extLst>
      <p:ext uri="{BB962C8B-B14F-4D97-AF65-F5344CB8AC3E}">
        <p14:creationId xmlns:p14="http://schemas.microsoft.com/office/powerpoint/2010/main" val="168665421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835FC20-6B05-4435-B373-E5BE3B5474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547929A-9E1C-4B54-A078-6ECAE111A8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1861EEA-3BDB-46A4-9F1F-14404DC26A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9275744D-DF4E-4CE0-8531-7AD090DEAB6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C72DC6-AE87-44ED-965A-D627A39CC594}"/>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EF9B6B6D-7D81-46B4-BB2B-AF68B56EF7F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048E768D-DA56-4675-8C64-5A650A7DCB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20</a:t>
            </a:r>
          </a:p>
        </p:txBody>
      </p:sp>
    </p:spTree>
    <p:extLst>
      <p:ext uri="{BB962C8B-B14F-4D97-AF65-F5344CB8AC3E}">
        <p14:creationId xmlns:p14="http://schemas.microsoft.com/office/powerpoint/2010/main" val="8473205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E77660-C624-4DB4-B167-6F3149E1AD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0BA729-C1FB-457F-A0A0-C2D524F018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E1B69A-47FD-4365-9496-08982FCBDC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B100EE65-CF5C-4A88-9982-04EDB0D808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8EDBD0-9B4C-420B-8D3C-A2699648C6F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3E0022C0-379A-468C-AA57-C63A215173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1114EC-96B4-4C40-883A-E875FF34FC8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67C75F64-1329-4506-A06B-FF629C78398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122929-493D-440C-BD6D-1E6F47D8964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79BBC5F5-83A9-4581-9AFC-B044594FA3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21</a:t>
            </a:r>
          </a:p>
        </p:txBody>
      </p:sp>
    </p:spTree>
    <p:extLst>
      <p:ext uri="{BB962C8B-B14F-4D97-AF65-F5344CB8AC3E}">
        <p14:creationId xmlns:p14="http://schemas.microsoft.com/office/powerpoint/2010/main" val="23473195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BAAC3A-18CA-4A84-909E-97FC2BEA68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23749C-E5D4-4FFE-B304-942CDA5900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09610DA-ACEF-4AAE-923E-E8CE6AAF0B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three validation turns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Turn</a:t>
                      </a:r>
                    </a:p>
                  </a:txBody>
                  <a:tcPr marL="91440" marR="91440" marT="45720" marB="45720">
                    <a:solidFill>
                      <a:srgbClr val="2E7D6F"/>
                    </a:solidFill>
                  </a:tcPr>
                </a:tc>
                <a:tc>
                  <a:txBody>
                    <a:bodyPr/>
                    <a:lstStyle/>
                    <a:p>
                      <a:r>
                        <a:rPr sz="2025" b="1">
                          <a:solidFill>
                            <a:srgbClr val="FFFFFF"/>
                          </a:solidFill>
                          <a:latin typeface="Calibri"/>
                          <a:ea typeface="Calibri"/>
                          <a:cs typeface="Calibri"/>
                        </a:rPr>
                        <a:t>Fit using</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Validate using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B and C</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A</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Parts A and C</a:t>
                      </a:r>
                    </a:p>
                  </a:txBody>
                  <a:tcPr marL="91440" marR="91440" marT="45720" marB="45720">
                    <a:solidFill>
                      <a:srgbClr val="FFFFFF"/>
                    </a:solidFill>
                  </a:tcPr>
                </a:tc>
                <a:tc>
                  <a:txBody>
                    <a:bodyPr/>
                    <a:lstStyle/>
                    <a:p>
                      <a:r>
                        <a:rPr sz="2025" b="0">
                          <a:solidFill>
                            <a:srgbClr val="1C3144"/>
                          </a:solidFill>
                          <a:latin typeface="Calibri"/>
                          <a:ea typeface="Calibri"/>
                          <a:cs typeface="Calibri"/>
                        </a:rPr>
                        <a:t>Part B</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Parts A and B</a:t>
                      </a:r>
                    </a:p>
                  </a:txBody>
                  <a:tcPr marL="91440" marR="91440" marT="45720" marB="45720">
                    <a:solidFill>
                      <a:srgbClr val="EEF3F6"/>
                    </a:solidFill>
                  </a:tcPr>
                </a:tc>
                <a:tc>
                  <a:txBody>
                    <a:bodyPr/>
                    <a:lstStyle/>
                    <a:p>
                      <a:r>
                        <a:rPr sz="2025" b="0">
                          <a:solidFill>
                            <a:srgbClr val="1C3144"/>
                          </a:solidFill>
                          <a:latin typeface="Calibri"/>
                          <a:ea typeface="Calibri"/>
                          <a:cs typeface="Calibri"/>
                        </a:rPr>
                        <a:t>Part C</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5D2D25F2-9874-4DC9-A12E-EB5E66CD390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Refit preprocessing in every turn. The separate final test is not A, B or C.</a:t>
            </a:r>
          </a:p>
        </p:txBody>
      </p:sp>
      <p:sp>
        <p:nvSpPr>
          <p:cNvPr id="6" name="">
            <a:extLst xmlns:a="http://schemas.openxmlformats.org/drawingml/2006/main">
              <a:ext uri="{FF2B5EF4-FFF2-40B4-BE49-F238E27FC236}">
                <a16:creationId xmlns:a16="http://schemas.microsoft.com/office/drawing/2014/main" id="{9432D289-E79C-471E-AD53-DC11110E54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22</a:t>
            </a:r>
          </a:p>
        </p:txBody>
      </p:sp>
    </p:spTree>
    <p:extLst>
      <p:ext uri="{BB962C8B-B14F-4D97-AF65-F5344CB8AC3E}">
        <p14:creationId xmlns:p14="http://schemas.microsoft.com/office/powerpoint/2010/main" val="167355461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54C883-FE07-45ED-95EC-1B9CEAA5F02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E7A3CE-94E8-403D-B44F-27C4F85C456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8fb233140464d45"/>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5B78DEB-5A71-40C5-8534-5CF0D0ABE18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5D524E-0009-49DB-B61B-57D17230169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8662BDD7-93C0-4342-855B-33558BFBE9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23</a:t>
            </a:r>
          </a:p>
        </p:txBody>
      </p:sp>
    </p:spTree>
    <p:extLst>
      <p:ext uri="{BB962C8B-B14F-4D97-AF65-F5344CB8AC3E}">
        <p14:creationId xmlns:p14="http://schemas.microsoft.com/office/powerpoint/2010/main" val="145319332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59284BB-99C4-4B64-8814-44D5766FF9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D913618-1436-4F70-BB00-43D079C5D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6BF9C6C-CE78-435D-86AB-271D8E71B4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2CB0EBDB-29F4-43AC-8D60-FD6E576FC01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0FD664-C31E-4760-909B-BAB94127369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80271926-006E-48CC-A112-1D02E02706E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7E4A6EEC-A383-44B9-817A-7EDCF4ED075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1189F9B-DAF8-45BE-B6B5-2648B5FDE98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D103854A-CC30-4400-AF52-9BA2F99B61B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2071CB68-63E1-4AB2-8CE2-2CAEB91261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24</a:t>
            </a:r>
          </a:p>
        </p:txBody>
      </p:sp>
    </p:spTree>
    <p:extLst>
      <p:ext uri="{BB962C8B-B14F-4D97-AF65-F5344CB8AC3E}">
        <p14:creationId xmlns:p14="http://schemas.microsoft.com/office/powerpoint/2010/main" val="196792691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54556C-127A-453B-88F0-8801EC70EB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32344E-D87B-40FC-A887-1DCCAADA1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586096-20EF-402E-9423-D712667CAC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B297A64-BFD6-46CF-94E9-4585192F130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7C67A7-D97E-48F2-AA62-E3A19E2163A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6609AEA-BBBC-498A-8A05-F05C1F114E2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second observation from B arrives. Where does it go? Why not put it into training just to balance row counts?</a:t>
            </a:r>
          </a:p>
        </p:txBody>
      </p:sp>
      <p:sp>
        <p:nvSpPr>
          <p:cNvPr id="7" name="">
            <a:extLst xmlns:a="http://schemas.openxmlformats.org/drawingml/2006/main">
              <a:ext uri="{FF2B5EF4-FFF2-40B4-BE49-F238E27FC236}">
                <a16:creationId xmlns:a16="http://schemas.microsoft.com/office/drawing/2014/main" id="{1349662E-28BC-4CDC-8548-2C1F1FE754A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It stays with B in validation. Mixing a source across partitions can give an overly optimistic estimate for unseen equipment.</a:t>
            </a:r>
          </a:p>
        </p:txBody>
      </p:sp>
      <p:sp>
        <p:nvSpPr>
          <p:cNvPr id="8" name="">
            <a:extLst xmlns:a="http://schemas.openxmlformats.org/drawingml/2006/main">
              <a:ext uri="{FF2B5EF4-FFF2-40B4-BE49-F238E27FC236}">
                <a16:creationId xmlns:a16="http://schemas.microsoft.com/office/drawing/2014/main" id="{144CEAE5-BAE4-43CC-9F05-61755531D4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25</a:t>
            </a:r>
          </a:p>
        </p:txBody>
      </p:sp>
    </p:spTree>
    <p:extLst>
      <p:ext uri="{BB962C8B-B14F-4D97-AF65-F5344CB8AC3E}">
        <p14:creationId xmlns:p14="http://schemas.microsoft.com/office/powerpoint/2010/main" val="37855882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36D66F-3F39-4E6C-BA91-259A7ACA54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15F369-A086-4978-8978-83E3906447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45BF9F9-074B-4A2E-AC6F-902ED61071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3E6B3630-456D-4AE1-A503-107E906440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0AD578-3850-41AD-A314-60506B3E8E2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xmlns:a="http://schemas.openxmlformats.org/drawingml/2006/main">
              <a:ext uri="{FF2B5EF4-FFF2-40B4-BE49-F238E27FC236}">
                <a16:creationId xmlns:a16="http://schemas.microsoft.com/office/drawing/2014/main" id="{7BD9BAD4-FC72-4A4A-BE8E-2928F7A38B2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79C9092-ABF5-4E52-BF5F-9CBD7904356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xmlns:a="http://schemas.openxmlformats.org/drawingml/2006/main">
              <a:ext uri="{FF2B5EF4-FFF2-40B4-BE49-F238E27FC236}">
                <a16:creationId xmlns:a16="http://schemas.microsoft.com/office/drawing/2014/main" id="{A69A02B1-190E-4C15-BF04-BA72F4F4DB7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292B03-53D2-42E5-99EB-7E5E2CC1B45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xmlns:a="http://schemas.openxmlformats.org/drawingml/2006/main">
              <a:ext uri="{FF2B5EF4-FFF2-40B4-BE49-F238E27FC236}">
                <a16:creationId xmlns:a16="http://schemas.microsoft.com/office/drawing/2014/main" id="{0143D734-9100-4786-8FE0-62152CC4BD5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889B849-5663-4975-B1DF-6B0ED5C3125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GroupShuffleSplit and time-based splitting solve different deployment questions; use the rule in the issued task.</a:t>
            </a:r>
          </a:p>
        </p:txBody>
      </p:sp>
      <p:sp>
        <p:nvSpPr>
          <p:cNvPr id="12" name="">
            <a:extLst xmlns:a="http://schemas.openxmlformats.org/drawingml/2006/main">
              <a:ext uri="{FF2B5EF4-FFF2-40B4-BE49-F238E27FC236}">
                <a16:creationId xmlns:a16="http://schemas.microsoft.com/office/drawing/2014/main" id="{BC6658C8-5F45-4953-A6D7-5A98E5C9BC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26</a:t>
            </a:r>
          </a:p>
        </p:txBody>
      </p:sp>
    </p:spTree>
    <p:extLst>
      <p:ext uri="{BB962C8B-B14F-4D97-AF65-F5344CB8AC3E}">
        <p14:creationId xmlns:p14="http://schemas.microsoft.com/office/powerpoint/2010/main" val="53055231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675E90-1C9B-4A00-812A-A35EE47934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CF3385-AC74-4079-88E5-3D0F57496C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6E1E63-5569-416A-A003-85217EE805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CA8383F2-0411-46C7-A5F1-E3D15ED679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ADBCA5-2F4E-4B53-A05A-962F20FB265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BB79B5FE-599A-4D9E-9DEA-496BFA71392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84F8E8-BE2D-40C5-8D3C-A11C86B7BE5A}"/>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10C3CF67-915C-46F7-8834-C7494C634F6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C6CD00-4A23-4ABF-8B57-87C1C90B947C}"/>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A5713F49-578D-4A12-A568-7A374A8C863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463AF75-F651-4FB0-8473-CCE580748F1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A312403B-17A6-4EB5-8A2B-FC9F4EEAD4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27</a:t>
            </a:r>
          </a:p>
        </p:txBody>
      </p:sp>
    </p:spTree>
    <p:extLst>
      <p:ext uri="{BB962C8B-B14F-4D97-AF65-F5344CB8AC3E}">
        <p14:creationId xmlns:p14="http://schemas.microsoft.com/office/powerpoint/2010/main" val="141891679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CF8F81-9CF1-4F92-A972-C3688D878C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FD13BE-0FE4-43AD-8642-51C25553A3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1EF35F-7F78-4511-8894-96CEC6E1B7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C3290D64-9BA2-4B9A-A788-14B79E57782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B6CDE7-83C9-4895-9071-E96F8962025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7594287A-EC45-4CDD-8E08-DF8744F605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28</a:t>
            </a:r>
          </a:p>
        </p:txBody>
      </p:sp>
    </p:spTree>
    <p:extLst>
      <p:ext uri="{BB962C8B-B14F-4D97-AF65-F5344CB8AC3E}">
        <p14:creationId xmlns:p14="http://schemas.microsoft.com/office/powerpoint/2010/main" val="93931160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99A220-5220-4A68-94A1-CFDFA2E5F8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C4662D-48C6-40BF-BFB6-A3E0B5A711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50398E4-B290-4CE2-8BEE-960DE85BE1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02AD523F-D399-411E-B81D-2B42AA46E7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B98877D-5F4C-42EA-A3AC-87DEBBE708C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3164B776-2CCF-48CF-A4F7-0AC801B16B2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6C3A72-DEF3-429C-9EB8-78A5BEE58CA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83110650-8198-450B-BC9C-845C366522B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929E4C-32B0-4CD5-866F-F0582C60AEE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72A9F9B9-1164-4354-BBCC-369814438FC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A8BAD5-A3CC-48EC-B0AC-F433F22017B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7A23AC45-BFC3-4847-A2F3-1A94E05307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29</a:t>
            </a:r>
          </a:p>
        </p:txBody>
      </p:sp>
    </p:spTree>
    <p:extLst>
      <p:ext uri="{BB962C8B-B14F-4D97-AF65-F5344CB8AC3E}">
        <p14:creationId xmlns:p14="http://schemas.microsoft.com/office/powerpoint/2010/main" val="114762452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B7D3D4-4770-43DC-8761-1C26F507BA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085E99-A519-4783-A478-DB5FE5437A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4765A83-5A77-47DA-9269-9EDDA6C68F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C1EAD9C0-CC49-4C3D-BA7B-EDCCC63A5A2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B2C8DF-FC8B-4FF2-AC14-BDAB3310AFB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EBBD1BD3-EC67-4EC2-9997-2E24B9CCAE04}"/>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56143F2-517E-4A05-BAD0-E028FE3C370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2C28A62-6FEE-4A63-98CB-5178F1E954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30</a:t>
            </a:r>
          </a:p>
        </p:txBody>
      </p:sp>
    </p:spTree>
    <p:extLst>
      <p:ext uri="{BB962C8B-B14F-4D97-AF65-F5344CB8AC3E}">
        <p14:creationId xmlns:p14="http://schemas.microsoft.com/office/powerpoint/2010/main" val="71065822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136B97D-2DA9-482F-A063-34A10780B2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719D3C-9ADF-4077-A223-ACB240C8DA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72B2FF3-B453-4A9B-B2B7-2EA889B2D0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9B9A453E-13BA-418E-885F-565AEE66E88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99DE95-656A-44CB-A8A9-601B9A6F8EE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FB43FF8B-8BF9-470D-A184-BB70BA5C71F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2F1125A-BD19-499A-A17C-C058E13EB5B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AB03F42-65D7-4FD4-AE2B-5A23C00265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31</a:t>
            </a:r>
          </a:p>
        </p:txBody>
      </p:sp>
    </p:spTree>
    <p:extLst>
      <p:ext uri="{BB962C8B-B14F-4D97-AF65-F5344CB8AC3E}">
        <p14:creationId xmlns:p14="http://schemas.microsoft.com/office/powerpoint/2010/main" val="205902788"/>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21C909-7338-4CFD-8C91-C06C2134C8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E403F9-9C92-4F40-8885-2AB41471B0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09E3121-C8BC-48D8-97FD-644D4E20DC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431AF21E-86C8-4783-A16A-37280942219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B52DF85-E4A3-4C28-B7B4-C1D841B4AF3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7E11A20-95BC-4825-A18E-337741BED8E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943913-69F8-473C-B1CF-36FF552DDF9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39B3EDBA-4456-46B5-BE1E-0230A4736B7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82960F-BE2D-431C-BB59-ED1A23B0FE6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ED187757-3C8A-490A-BC8D-F547F4B3272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C6E588-077D-4A61-9761-D5239FFAAA3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C87C3E6A-7835-4A15-B6E5-F6C218D55B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32</a:t>
            </a:r>
          </a:p>
        </p:txBody>
      </p:sp>
    </p:spTree>
    <p:extLst>
      <p:ext uri="{BB962C8B-B14F-4D97-AF65-F5344CB8AC3E}">
        <p14:creationId xmlns:p14="http://schemas.microsoft.com/office/powerpoint/2010/main" val="83060740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F7318A9-CDE7-4C6A-BFCC-7321CA277E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B8A02A-8858-4DA1-BC00-379D5132D1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2B538226-DE21-45C4-A596-EC3E0CBBD8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46AE8D12-960B-492B-A0F5-7BD97B8A32E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644D33-F8B5-4DF9-A743-387B98E3ED2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08:00 Kampala</a:t>
            </a:r>
          </a:p>
        </p:txBody>
      </p:sp>
      <p:sp>
        <p:nvSpPr>
          <p:cNvPr id="6" name="">
            <a:extLst xmlns:a="http://schemas.openxmlformats.org/drawingml/2006/main">
              <a:ext uri="{FF2B5EF4-FFF2-40B4-BE49-F238E27FC236}">
                <a16:creationId xmlns:a16="http://schemas.microsoft.com/office/drawing/2014/main" id="{BD59EE01-2796-4D4E-A1F2-732BE8E7FD3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C33714-B50B-42F5-97F8-265C098C530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08:00 Kampala</a:t>
            </a:r>
          </a:p>
        </p:txBody>
      </p:sp>
      <p:sp>
        <p:nvSpPr>
          <p:cNvPr id="8" name="">
            <a:extLst xmlns:a="http://schemas.openxmlformats.org/drawingml/2006/main">
              <a:ext uri="{FF2B5EF4-FFF2-40B4-BE49-F238E27FC236}">
                <a16:creationId xmlns:a16="http://schemas.microsoft.com/office/drawing/2014/main" id="{C12D51B3-1A04-4B6E-9EC7-13424A9357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143222-76E2-420A-AE74-4F46FDE930A8}"/>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9A8BF01-1546-48EC-BFC7-51C9EFDF773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CD1E351-B03B-45D6-9887-54B13BE1C7D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DF99EF0-EB8F-4A45-981E-1212D49E32A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663AA6-2BB1-4226-B731-6BB480ABB5C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ceb773d46104202"/>
              </a:rPr>
              <a:t>Open W10 assignment form</a:t>
            </a:r>
          </a:p>
        </p:txBody>
      </p:sp>
      <p:sp>
        <p:nvSpPr>
          <p:cNvPr id="14" name="">
            <a:extLst xmlns:a="http://schemas.openxmlformats.org/drawingml/2006/main">
              <a:ext uri="{FF2B5EF4-FFF2-40B4-BE49-F238E27FC236}">
                <a16:creationId xmlns:a16="http://schemas.microsoft.com/office/drawing/2014/main" id="{C6D67EE4-DBD9-4623-98A4-2E389322F5F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https://docs.google.com/forms/d/e/1FAIpQLSd0PIGgcund5zKvqtctB1dz7pekt8hubl0ZUrFL-BJc9bKGlQ/viewform</a:t>
            </a:r>
          </a:p>
        </p:txBody>
      </p:sp>
      <p:sp>
        <p:nvSpPr>
          <p:cNvPr id="15" name="">
            <a:extLst xmlns:a="http://schemas.openxmlformats.org/drawingml/2006/main">
              <a:ext uri="{FF2B5EF4-FFF2-40B4-BE49-F238E27FC236}">
                <a16:creationId xmlns:a16="http://schemas.microsoft.com/office/drawing/2014/main" id="{EB793D8F-89EA-435A-8EA6-9D04C27DFB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33</a:t>
            </a:r>
          </a:p>
        </p:txBody>
      </p:sp>
    </p:spTree>
    <p:extLst>
      <p:ext uri="{BB962C8B-B14F-4D97-AF65-F5344CB8AC3E}">
        <p14:creationId xmlns:p14="http://schemas.microsoft.com/office/powerpoint/2010/main" val="15837348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6DA30DB-D8D6-4929-AA57-BF60BEAA22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BBE345-FAD5-4080-9949-25A61DE0D7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09054F9-CE7A-4822-BC1B-F980188849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ABAA1747-9E89-4835-A76B-43895C0C800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B5AA15-6C31-466E-BAA2-6FCECC2803E4}"/>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81BB9CB0-30AF-4E80-94A2-DCF78307E5E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04ACBC-BBD3-426F-82C9-C4AE46ED906D}"/>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26AFB68C-3452-4835-B56B-07CB9D05400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AB57597-1FB5-42DC-8A3D-E3761D1FF106}"/>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B0AEE7E5-84C0-45B4-BFC6-02B4DD0700E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498628F-896E-4694-898C-94179781239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0aa9be3756d2481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31F2B78-B5BC-4EB5-84B7-AF46BFB88B1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B4FFCD94-F255-4D3F-930F-9AF029587E4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6DEDAF5-4687-4548-BFD9-C3FEBD583D1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a292dcdc4ac4eb6"/>
              </a:rPr>
              <a:t>Open this week’s quiz</a:t>
            </a:r>
          </a:p>
        </p:txBody>
      </p:sp>
      <p:sp>
        <p:nvSpPr>
          <p:cNvPr id="16" name="">
            <a:extLst xmlns:a="http://schemas.openxmlformats.org/drawingml/2006/main">
              <a:ext uri="{FF2B5EF4-FFF2-40B4-BE49-F238E27FC236}">
                <a16:creationId xmlns:a16="http://schemas.microsoft.com/office/drawing/2014/main" id="{59B4DAF0-127E-4F2A-94CC-E4BCA9C6B7C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https://forms.gle/LQPALyRC3uRvZqDJ8</a:t>
            </a:r>
          </a:p>
        </p:txBody>
      </p:sp>
      <p:sp>
        <p:nvSpPr>
          <p:cNvPr id="17" name="">
            <a:extLst xmlns:a="http://schemas.openxmlformats.org/drawingml/2006/main">
              <a:ext uri="{FF2B5EF4-FFF2-40B4-BE49-F238E27FC236}">
                <a16:creationId xmlns:a16="http://schemas.microsoft.com/office/drawing/2014/main" id="{878FE447-822F-40E0-B4A9-42748740A1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34</a:t>
            </a:r>
          </a:p>
        </p:txBody>
      </p:sp>
    </p:spTree>
    <p:extLst>
      <p:ext uri="{BB962C8B-B14F-4D97-AF65-F5344CB8AC3E}">
        <p14:creationId xmlns:p14="http://schemas.microsoft.com/office/powerpoint/2010/main" val="1955501208"/>
      </p:ext>
    </p:extLst>
  </p:cSld>
</p:sld>
</file>

<file path=ppt/slides/slide3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2756D4-A965-4AF6-A7C9-B021A0E175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3E0AFFB4-0F50-4E61-89C2-2F615442BD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3EDF549C-2D09-4FFF-8B96-667DB9433FD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E4D4ECE-1F27-491C-A3BF-AF9DB1B4ADD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D63D3FEC-6137-4EB6-AAF2-1B10B031E6C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D3A0C45-E7FB-4577-B8B7-ECBCA48F9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35</a:t>
            </a:r>
          </a:p>
        </p:txBody>
      </p:sp>
    </p:spTree>
    <p:extLst>
      <p:ext uri="{BB962C8B-B14F-4D97-AF65-F5344CB8AC3E}">
        <p14:creationId xmlns:p14="http://schemas.microsoft.com/office/powerpoint/2010/main" val="74725366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1AA34F5-9CAC-4808-B99B-2A1A22F418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4321E2-5BF5-43B2-8A67-9D7AF30354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0E5F6FD8-EE7C-404C-BB0A-E82075AD93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F0B4313E-EEF5-49DB-BEC4-21759D5719D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C4D301-3266-485B-A9AC-855D792691A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0733ECEB-9643-4E7D-9C6D-D169EE6A4E4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A9C3C3-1700-4D52-89AC-435F0665725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ECACE0D0-46E3-4E34-8501-9B846B85131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FC031C-4F01-411D-8EA2-EDF8766458BA}"/>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C89806D2-567F-4F8C-9E40-39D87EBB24F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B613F1A-72CA-4C87-AC07-8135139F94A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EB09E027-996B-4422-8248-F8272E291B9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9B2D3AE-BF3C-4ACF-98F4-A9C92752E3F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b2d921759a64559"/>
              </a:rPr>
              <a:t>Open explainer video</a:t>
            </a:r>
          </a:p>
        </p:txBody>
      </p:sp>
      <p:sp>
        <p:nvSpPr>
          <p:cNvPr id="14" name="">
            <a:extLst xmlns:a="http://schemas.openxmlformats.org/drawingml/2006/main">
              <a:ext uri="{FF2B5EF4-FFF2-40B4-BE49-F238E27FC236}">
                <a16:creationId xmlns:a16="http://schemas.microsoft.com/office/drawing/2014/main" id="{B6AF90C4-0BD5-4AC9-9CC3-4D9CA64A13C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9E62C07E-673A-48C9-89A9-AD2550FB90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36</a:t>
            </a:r>
          </a:p>
        </p:txBody>
      </p:sp>
    </p:spTree>
    <p:extLst>
      <p:ext uri="{BB962C8B-B14F-4D97-AF65-F5344CB8AC3E}">
        <p14:creationId xmlns:p14="http://schemas.microsoft.com/office/powerpoint/2010/main" val="15905431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2026-09-28T21:44:07.7130000Z</dcterms:created>
  <dcterms:modified xsi:type="dcterms:W3CDTF">2026-09-28T21:44:07.7130000Z</dcterms:modified>
</coreProperties>
</file>