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14b97b9d92a4cb6" /><Relationship Type="http://schemas.openxmlformats.org/officeDocument/2006/relationships/extended-properties" Target="/docProps/app.xml" Id="R4799f92866ce4e7f" /><Relationship Type="http://schemas.openxmlformats.org/officeDocument/2006/relationships/officeDocument" Target="/ppt/presentation.xml" Id="Rf2c7e7a6a7fc4efe" /></Relationships>
</file>

<file path=ppt/presentation.xml><?xml version="1.0" encoding="utf-8"?>
<p:presentation xmlns:p="http://schemas.openxmlformats.org/presentationml/2006/main">
  <p:sldMasterIdLst>
    <p:sldMasterId xmlns:r="http://schemas.openxmlformats.org/officeDocument/2006/relationships" id="2147483648" r:id="R5e8c69c7ed0d48b6"/>
  </p:sldMasterIdLst>
  <p:notesMasterIdLst>
    <p:notesMasterId xmlns:r="http://schemas.openxmlformats.org/officeDocument/2006/relationships" r:id="Rf3a49197a0b64b66"/>
  </p:notesMasterIdLst>
  <p:sldIdLst>
    <p:sldId xmlns:r="http://schemas.openxmlformats.org/officeDocument/2006/relationships" id="256" r:id="R7ac64fdbd4354b4f"/>
    <p:sldId xmlns:r="http://schemas.openxmlformats.org/officeDocument/2006/relationships" id="257" r:id="R3638abbfc0594c06"/>
    <p:sldId xmlns:r="http://schemas.openxmlformats.org/officeDocument/2006/relationships" id="258" r:id="Rbb486e0737e04693"/>
    <p:sldId xmlns:r="http://schemas.openxmlformats.org/officeDocument/2006/relationships" id="259" r:id="R6f360f53e866413f"/>
    <p:sldId xmlns:r="http://schemas.openxmlformats.org/officeDocument/2006/relationships" id="260" r:id="Rdd9044afa2a94c7d"/>
    <p:sldId xmlns:r="http://schemas.openxmlformats.org/officeDocument/2006/relationships" id="261" r:id="Rd242ed06328e45d2"/>
    <p:sldId xmlns:r="http://schemas.openxmlformats.org/officeDocument/2006/relationships" id="262" r:id="R67796f4ee8314c9f"/>
    <p:sldId xmlns:r="http://schemas.openxmlformats.org/officeDocument/2006/relationships" id="263" r:id="Rd21206d6769c441c"/>
    <p:sldId xmlns:r="http://schemas.openxmlformats.org/officeDocument/2006/relationships" id="264" r:id="R5d0f45cf482246bd"/>
    <p:sldId xmlns:r="http://schemas.openxmlformats.org/officeDocument/2006/relationships" id="265" r:id="R71bee8aefb704ae1"/>
    <p:sldId xmlns:r="http://schemas.openxmlformats.org/officeDocument/2006/relationships" id="266" r:id="R6877c002237d44da"/>
    <p:sldId xmlns:r="http://schemas.openxmlformats.org/officeDocument/2006/relationships" id="267" r:id="R8c41be3f526d4c7e"/>
    <p:sldId xmlns:r="http://schemas.openxmlformats.org/officeDocument/2006/relationships" id="268" r:id="R625dc083bfcf4c17"/>
    <p:sldId xmlns:r="http://schemas.openxmlformats.org/officeDocument/2006/relationships" id="269" r:id="R78150dfd559743e2"/>
    <p:sldId xmlns:r="http://schemas.openxmlformats.org/officeDocument/2006/relationships" id="270" r:id="Ra969a0ea03b343f8"/>
    <p:sldId xmlns:r="http://schemas.openxmlformats.org/officeDocument/2006/relationships" id="271" r:id="R48ef1e70c2aa478c"/>
    <p:sldId xmlns:r="http://schemas.openxmlformats.org/officeDocument/2006/relationships" id="272" r:id="R6ff4b1c2e1d84396"/>
    <p:sldId xmlns:r="http://schemas.openxmlformats.org/officeDocument/2006/relationships" id="273" r:id="R851fd9e3d2f5493e"/>
    <p:sldId xmlns:r="http://schemas.openxmlformats.org/officeDocument/2006/relationships" id="274" r:id="R5c10c829bd5e47e9"/>
    <p:sldId xmlns:r="http://schemas.openxmlformats.org/officeDocument/2006/relationships" id="275" r:id="Rd77600b0344c4050"/>
    <p:sldId xmlns:r="http://schemas.openxmlformats.org/officeDocument/2006/relationships" id="276" r:id="R72e713f31bbe4422"/>
    <p:sldId xmlns:r="http://schemas.openxmlformats.org/officeDocument/2006/relationships" id="277" r:id="R72d17b9b37b84f6f"/>
    <p:sldId xmlns:r="http://schemas.openxmlformats.org/officeDocument/2006/relationships" id="278" r:id="R8c67d6c1cfa34715"/>
    <p:sldId xmlns:r="http://schemas.openxmlformats.org/officeDocument/2006/relationships" id="279" r:id="R135c223d895e4f4b"/>
    <p:sldId xmlns:r="http://schemas.openxmlformats.org/officeDocument/2006/relationships" id="280" r:id="R8a0ee55a19744ee5"/>
    <p:sldId xmlns:r="http://schemas.openxmlformats.org/officeDocument/2006/relationships" id="281" r:id="R6abddc0d59534b36"/>
    <p:sldId xmlns:r="http://schemas.openxmlformats.org/officeDocument/2006/relationships" id="282" r:id="R09b555629cd74464"/>
    <p:sldId xmlns:r="http://schemas.openxmlformats.org/officeDocument/2006/relationships" id="283" r:id="Rfcf725acfabc409d"/>
    <p:sldId xmlns:r="http://schemas.openxmlformats.org/officeDocument/2006/relationships" id="284" r:id="Rb3c41b621037414a"/>
    <p:sldId xmlns:r="http://schemas.openxmlformats.org/officeDocument/2006/relationships" id="285" r:id="R9195d870e25b4579"/>
    <p:sldId xmlns:r="http://schemas.openxmlformats.org/officeDocument/2006/relationships" id="286" r:id="R0d20d319547b467c"/>
    <p:sldId xmlns:r="http://schemas.openxmlformats.org/officeDocument/2006/relationships" id="287" r:id="R10f45dcc841d4881"/>
    <p:sldId xmlns:r="http://schemas.openxmlformats.org/officeDocument/2006/relationships" id="288" r:id="R265767d180fa4c6a"/>
    <p:sldId xmlns:r="http://schemas.openxmlformats.org/officeDocument/2006/relationships" id="289" r:id="R100a49c9b11f4cd1"/>
    <p:sldId xmlns:r="http://schemas.openxmlformats.org/officeDocument/2006/relationships" id="290" r:id="R5c6e07cb6ddb4413"/>
    <p:sldId xmlns:r="http://schemas.openxmlformats.org/officeDocument/2006/relationships" id="291" r:id="R91ad9a78a9964ef6"/>
    <p:sldId xmlns:r="http://schemas.openxmlformats.org/officeDocument/2006/relationships" id="292" r:id="R150d217b9d11417b"/>
    <p:sldId xmlns:r="http://schemas.openxmlformats.org/officeDocument/2006/relationships" id="293" r:id="Rac50eac750b2436e"/>
    <p:sldId xmlns:r="http://schemas.openxmlformats.org/officeDocument/2006/relationships" id="294" r:id="Rdf72d01c004c40c7"/>
    <p:sldId xmlns:r="http://schemas.openxmlformats.org/officeDocument/2006/relationships" id="295" r:id="R6bf5c09b983044b7"/>
    <p:sldId xmlns:r="http://schemas.openxmlformats.org/officeDocument/2006/relationships" id="296" r:id="R8f0cd7ef82e649f6"/>
    <p:sldId xmlns:r="http://schemas.openxmlformats.org/officeDocument/2006/relationships" id="297" r:id="Rd6f8b0c9ed684801"/>
    <p:sldId xmlns:r="http://schemas.openxmlformats.org/officeDocument/2006/relationships" id="298" r:id="R7620f1c8c48641dd"/>
    <p:sldId xmlns:r="http://schemas.openxmlformats.org/officeDocument/2006/relationships" id="299" r:id="R20c09c21f7ab41ef"/>
    <p:sldId xmlns:r="http://schemas.openxmlformats.org/officeDocument/2006/relationships" id="300" r:id="R4f29216565494d81"/>
    <p:sldId xmlns:r="http://schemas.openxmlformats.org/officeDocument/2006/relationships" id="301" r:id="Rbaa9c4204dfc4c0f"/>
    <p:sldId xmlns:r="http://schemas.openxmlformats.org/officeDocument/2006/relationships" id="302" r:id="Rc85569f93a2b44a9"/>
    <p:sldId xmlns:r="http://schemas.openxmlformats.org/officeDocument/2006/relationships" id="303" r:id="R2b2637de4acd4b00"/>
    <p:sldId xmlns:r="http://schemas.openxmlformats.org/officeDocument/2006/relationships" id="304" r:id="R2f1c6a5ad5fe459a"/>
    <p:sldId xmlns:r="http://schemas.openxmlformats.org/officeDocument/2006/relationships" id="305" r:id="R3b2578a71b804c6e"/>
    <p:sldId xmlns:r="http://schemas.openxmlformats.org/officeDocument/2006/relationships" id="306" r:id="R81b371df05984024"/>
    <p:sldId xmlns:r="http://schemas.openxmlformats.org/officeDocument/2006/relationships" id="307" r:id="R3f1207deca694b97"/>
    <p:sldId xmlns:r="http://schemas.openxmlformats.org/officeDocument/2006/relationships" id="308" r:id="Ra7ee2f3c596c4922"/>
    <p:sldId xmlns:r="http://schemas.openxmlformats.org/officeDocument/2006/relationships" id="309" r:id="Rcd0fd37265784115"/>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22be5f8edf34bb9" /><Relationship Type="http://schemas.openxmlformats.org/officeDocument/2006/relationships/slideMaster" Target="/ppt/slideMasters/slideMaster1.xml" Id="R5e8c69c7ed0d48b6" /><Relationship Type="http://schemas.openxmlformats.org/officeDocument/2006/relationships/notesMaster" Target="/ppt/notesMasters/notesMaster1.xml" Id="Rf3a49197a0b64b66" /><Relationship Type="http://schemas.openxmlformats.org/officeDocument/2006/relationships/presProps" Target="/ppt/presProps.xml" Id="Rf25e198c2f9b4fde" /><Relationship Type="http://schemas.openxmlformats.org/officeDocument/2006/relationships/tableStyles" Target="/ppt/tableStyles.xml" Id="R284e16fb29c64db6" /><Relationship Type="http://schemas.openxmlformats.org/officeDocument/2006/relationships/slide" Target="/ppt/slides/slide1.xml" Id="R7ac64fdbd4354b4f" /><Relationship Type="http://schemas.openxmlformats.org/officeDocument/2006/relationships/slide" Target="/ppt/slides/slide2.xml" Id="R3638abbfc0594c06" /><Relationship Type="http://schemas.openxmlformats.org/officeDocument/2006/relationships/slide" Target="/ppt/slides/slide3.xml" Id="Rbb486e0737e04693" /><Relationship Type="http://schemas.openxmlformats.org/officeDocument/2006/relationships/slide" Target="/ppt/slides/slide4.xml" Id="R6f360f53e866413f" /><Relationship Type="http://schemas.openxmlformats.org/officeDocument/2006/relationships/slide" Target="/ppt/slides/slide5.xml" Id="Rdd9044afa2a94c7d" /><Relationship Type="http://schemas.openxmlformats.org/officeDocument/2006/relationships/slide" Target="/ppt/slides/slide6.xml" Id="Rd242ed06328e45d2" /><Relationship Type="http://schemas.openxmlformats.org/officeDocument/2006/relationships/slide" Target="/ppt/slides/slide7.xml" Id="R67796f4ee8314c9f" /><Relationship Type="http://schemas.openxmlformats.org/officeDocument/2006/relationships/slide" Target="/ppt/slides/slide8.xml" Id="Rd21206d6769c441c" /><Relationship Type="http://schemas.openxmlformats.org/officeDocument/2006/relationships/slide" Target="/ppt/slides/slide9.xml" Id="R5d0f45cf482246bd" /><Relationship Type="http://schemas.openxmlformats.org/officeDocument/2006/relationships/slide" Target="/ppt/slides/slide10.xml" Id="R71bee8aefb704ae1" /><Relationship Type="http://schemas.openxmlformats.org/officeDocument/2006/relationships/slide" Target="/ppt/slides/slide11.xml" Id="R6877c002237d44da" /><Relationship Type="http://schemas.openxmlformats.org/officeDocument/2006/relationships/slide" Target="/ppt/slides/slide12.xml" Id="R8c41be3f526d4c7e" /><Relationship Type="http://schemas.openxmlformats.org/officeDocument/2006/relationships/slide" Target="/ppt/slides/slide13.xml" Id="R625dc083bfcf4c17" /><Relationship Type="http://schemas.openxmlformats.org/officeDocument/2006/relationships/slide" Target="/ppt/slides/slide14.xml" Id="R78150dfd559743e2" /><Relationship Type="http://schemas.openxmlformats.org/officeDocument/2006/relationships/slide" Target="/ppt/slides/slide15.xml" Id="Ra969a0ea03b343f8" /><Relationship Type="http://schemas.openxmlformats.org/officeDocument/2006/relationships/slide" Target="/ppt/slides/slide16.xml" Id="R48ef1e70c2aa478c" /><Relationship Type="http://schemas.openxmlformats.org/officeDocument/2006/relationships/slide" Target="/ppt/slides/slide17.xml" Id="R6ff4b1c2e1d84396" /><Relationship Type="http://schemas.openxmlformats.org/officeDocument/2006/relationships/slide" Target="/ppt/slides/slide18.xml" Id="R851fd9e3d2f5493e" /><Relationship Type="http://schemas.openxmlformats.org/officeDocument/2006/relationships/slide" Target="/ppt/slides/slide19.xml" Id="R5c10c829bd5e47e9" /><Relationship Type="http://schemas.openxmlformats.org/officeDocument/2006/relationships/slide" Target="/ppt/slides/slide20.xml" Id="Rd77600b0344c4050" /><Relationship Type="http://schemas.openxmlformats.org/officeDocument/2006/relationships/slide" Target="/ppt/slides/slide21.xml" Id="R72e713f31bbe4422" /><Relationship Type="http://schemas.openxmlformats.org/officeDocument/2006/relationships/slide" Target="/ppt/slides/slide22.xml" Id="R72d17b9b37b84f6f" /><Relationship Type="http://schemas.openxmlformats.org/officeDocument/2006/relationships/slide" Target="/ppt/slides/slide23.xml" Id="R8c67d6c1cfa34715" /><Relationship Type="http://schemas.openxmlformats.org/officeDocument/2006/relationships/slide" Target="/ppt/slides/slide24.xml" Id="R135c223d895e4f4b" /><Relationship Type="http://schemas.openxmlformats.org/officeDocument/2006/relationships/slide" Target="/ppt/slides/slide25.xml" Id="R8a0ee55a19744ee5" /><Relationship Type="http://schemas.openxmlformats.org/officeDocument/2006/relationships/slide" Target="/ppt/slides/slide26.xml" Id="R6abddc0d59534b36" /><Relationship Type="http://schemas.openxmlformats.org/officeDocument/2006/relationships/slide" Target="/ppt/slides/slide27.xml" Id="R09b555629cd74464" /><Relationship Type="http://schemas.openxmlformats.org/officeDocument/2006/relationships/slide" Target="/ppt/slides/slide28.xml" Id="Rfcf725acfabc409d" /><Relationship Type="http://schemas.openxmlformats.org/officeDocument/2006/relationships/slide" Target="/ppt/slides/slide29.xml" Id="Rb3c41b621037414a" /><Relationship Type="http://schemas.openxmlformats.org/officeDocument/2006/relationships/slide" Target="/ppt/slides/slide30.xml" Id="R9195d870e25b4579" /><Relationship Type="http://schemas.openxmlformats.org/officeDocument/2006/relationships/slide" Target="/ppt/slides/slide31.xml" Id="R0d20d319547b467c" /><Relationship Type="http://schemas.openxmlformats.org/officeDocument/2006/relationships/slide" Target="/ppt/slides/slide32.xml" Id="R10f45dcc841d4881" /><Relationship Type="http://schemas.openxmlformats.org/officeDocument/2006/relationships/slide" Target="/ppt/slides/slide33.xml" Id="R265767d180fa4c6a" /><Relationship Type="http://schemas.openxmlformats.org/officeDocument/2006/relationships/slide" Target="/ppt/slides/slide34.xml" Id="R100a49c9b11f4cd1" /><Relationship Type="http://schemas.openxmlformats.org/officeDocument/2006/relationships/slide" Target="/ppt/slides/slide35.xml" Id="R5c6e07cb6ddb4413" /><Relationship Type="http://schemas.openxmlformats.org/officeDocument/2006/relationships/slide" Target="/ppt/slides/slide36.xml" Id="R91ad9a78a9964ef6" /><Relationship Type="http://schemas.openxmlformats.org/officeDocument/2006/relationships/slide" Target="/ppt/slides/slide37.xml" Id="R150d217b9d11417b" /><Relationship Type="http://schemas.openxmlformats.org/officeDocument/2006/relationships/slide" Target="/ppt/slides/slide38.xml" Id="Rac50eac750b2436e" /><Relationship Type="http://schemas.openxmlformats.org/officeDocument/2006/relationships/slide" Target="/ppt/slides/slide39.xml" Id="Rdf72d01c004c40c7" /><Relationship Type="http://schemas.openxmlformats.org/officeDocument/2006/relationships/slide" Target="/ppt/slides/slide40.xml" Id="R6bf5c09b983044b7" /><Relationship Type="http://schemas.openxmlformats.org/officeDocument/2006/relationships/slide" Target="/ppt/slides/slide41.xml" Id="R8f0cd7ef82e649f6" /><Relationship Type="http://schemas.openxmlformats.org/officeDocument/2006/relationships/slide" Target="/ppt/slides/slide42.xml" Id="Rd6f8b0c9ed684801" /><Relationship Type="http://schemas.openxmlformats.org/officeDocument/2006/relationships/slide" Target="/ppt/slides/slide43.xml" Id="R7620f1c8c48641dd" /><Relationship Type="http://schemas.openxmlformats.org/officeDocument/2006/relationships/slide" Target="/ppt/slides/slide44.xml" Id="R20c09c21f7ab41ef" /><Relationship Type="http://schemas.openxmlformats.org/officeDocument/2006/relationships/slide" Target="/ppt/slides/slide45.xml" Id="R4f29216565494d81" /><Relationship Type="http://schemas.openxmlformats.org/officeDocument/2006/relationships/slide" Target="/ppt/slides/slide46.xml" Id="Rbaa9c4204dfc4c0f" /><Relationship Type="http://schemas.openxmlformats.org/officeDocument/2006/relationships/slide" Target="/ppt/slides/slide47.xml" Id="Rc85569f93a2b44a9" /><Relationship Type="http://schemas.openxmlformats.org/officeDocument/2006/relationships/slide" Target="/ppt/slides/slide48.xml" Id="R2b2637de4acd4b00" /><Relationship Type="http://schemas.openxmlformats.org/officeDocument/2006/relationships/slide" Target="/ppt/slides/slide49.xml" Id="R2f1c6a5ad5fe459a" /><Relationship Type="http://schemas.openxmlformats.org/officeDocument/2006/relationships/slide" Target="/ppt/slides/slide50.xml" Id="R3b2578a71b804c6e" /><Relationship Type="http://schemas.openxmlformats.org/officeDocument/2006/relationships/slide" Target="/ppt/slides/slide51.xml" Id="R81b371df05984024" /><Relationship Type="http://schemas.openxmlformats.org/officeDocument/2006/relationships/slide" Target="/ppt/slides/slide52.xml" Id="R3f1207deca694b97" /><Relationship Type="http://schemas.openxmlformats.org/officeDocument/2006/relationships/slide" Target="/ppt/slides/slide53.xml" Id="Ra7ee2f3c596c4922" /><Relationship Type="http://schemas.openxmlformats.org/officeDocument/2006/relationships/slide" Target="/ppt/slides/slide54.xml" Id="Rcd0fd3726578411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28c923faf76492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b021460829f435f" /><Relationship Type="http://schemas.openxmlformats.org/officeDocument/2006/relationships/notesMaster" Target="/ppt/notesMasters/notesMaster1.xml" Id="Re60016e566b74d94" /></Relationships>
</file>

<file path=ppt/notesSlides/_rels/notesSlide2.xml.rels>&#65279;<?xml version="1.0" encoding="utf-8"?><Relationships xmlns="http://schemas.openxmlformats.org/package/2006/relationships"><Relationship Type="http://schemas.openxmlformats.org/officeDocument/2006/relationships/slide" Target="/ppt/slides/slide2.xml" Id="R7e0d1a66f0834a5c" /><Relationship Type="http://schemas.openxmlformats.org/officeDocument/2006/relationships/notesMaster" Target="/ppt/notesMasters/notesMaster1.xml" Id="Rb63922e755914e70" /></Relationships>
</file>

<file path=ppt/notesSlides/_rels/notesSlide3.xml.rels>&#65279;<?xml version="1.0" encoding="utf-8"?><Relationships xmlns="http://schemas.openxmlformats.org/package/2006/relationships"><Relationship Type="http://schemas.openxmlformats.org/officeDocument/2006/relationships/slide" Target="/ppt/slides/slide3.xml" Id="R932c7fab0f554495" /><Relationship Type="http://schemas.openxmlformats.org/officeDocument/2006/relationships/notesMaster" Target="/ppt/notesMasters/notesMaster1.xml" Id="Rd01931a352234566" /></Relationships>
</file>

<file path=ppt/notesSlides/_rels/notesSlide4.xml.rels>&#65279;<?xml version="1.0" encoding="utf-8"?><Relationships xmlns="http://schemas.openxmlformats.org/package/2006/relationships"><Relationship Type="http://schemas.openxmlformats.org/officeDocument/2006/relationships/slide" Target="/ppt/slides/slide4.xml" Id="R434075ce1a3d4215" /><Relationship Type="http://schemas.openxmlformats.org/officeDocument/2006/relationships/notesMaster" Target="/ppt/notesMasters/notesMaster1.xml" Id="Rc97cabcae9dc4941" /></Relationships>
</file>

<file path=ppt/notesSlides/_rels/notesSlide5.xml.rels>&#65279;<?xml version="1.0" encoding="utf-8"?><Relationships xmlns="http://schemas.openxmlformats.org/package/2006/relationships"><Relationship Type="http://schemas.openxmlformats.org/officeDocument/2006/relationships/slide" Target="/ppt/slides/slide5.xml" Id="Ra7a12d88ce5f4966" /><Relationship Type="http://schemas.openxmlformats.org/officeDocument/2006/relationships/notesMaster" Target="/ppt/notesMasters/notesMaster1.xml" Id="Rbfdfc080f8f14362" /></Relationships>
</file>

<file path=ppt/notesSlides/_rels/notesSlide6.xml.rels>&#65279;<?xml version="1.0" encoding="utf-8"?><Relationships xmlns="http://schemas.openxmlformats.org/package/2006/relationships"><Relationship Type="http://schemas.openxmlformats.org/officeDocument/2006/relationships/slide" Target="/ppt/slides/slide6.xml" Id="R83ecf13f55ab42ed" /><Relationship Type="http://schemas.openxmlformats.org/officeDocument/2006/relationships/notesMaster" Target="/ppt/notesMasters/notesMaster1.xml" Id="R507a392fb0ce4a02" /></Relationships>
</file>

<file path=ppt/notesSlides/_rels/notesSlide7.xml.rels>&#65279;<?xml version="1.0" encoding="utf-8"?><Relationships xmlns="http://schemas.openxmlformats.org/package/2006/relationships"><Relationship Type="http://schemas.openxmlformats.org/officeDocument/2006/relationships/slide" Target="/ppt/slides/slide7.xml" Id="R32b27672291c41b2" /><Relationship Type="http://schemas.openxmlformats.org/officeDocument/2006/relationships/notesMaster" Target="/ppt/notesMasters/notesMaster1.xml" Id="Raa300f3ea9264f5c" /></Relationships>
</file>

<file path=ppt/notesSlides/_rels/notesSlide8.xml.rels>&#65279;<?xml version="1.0" encoding="utf-8"?><Relationships xmlns="http://schemas.openxmlformats.org/package/2006/relationships"><Relationship Type="http://schemas.openxmlformats.org/officeDocument/2006/relationships/slide" Target="/ppt/slides/slide8.xml" Id="Rc51d6bb08c924b8c" /><Relationship Type="http://schemas.openxmlformats.org/officeDocument/2006/relationships/notesMaster" Target="/ppt/notesMasters/notesMaster1.xml" Id="Rc730aa97feea45fb" /></Relationships>
</file>

<file path=ppt/notesSlides/_rels/notesSlide9.xml.rels>&#65279;<?xml version="1.0" encoding="utf-8"?><Relationships xmlns="http://schemas.openxmlformats.org/package/2006/relationships"><Relationship Type="http://schemas.openxmlformats.org/officeDocument/2006/relationships/slide" Target="/ppt/slides/slide9.xml" Id="R04058c73e32c4bf9" /><Relationship Type="http://schemas.openxmlformats.org/officeDocument/2006/relationships/notesMaster" Target="/ppt/notesMasters/notesMaster1.xml" Id="R7c0866671e58429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6afff06a02e4093" /><Relationship Type="http://schemas.openxmlformats.org/officeDocument/2006/relationships/notesMaster" Target="/ppt/notesMasters/notesMaster1.xml" Id="R910f003f211b4f8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24625f900b544e2" /><Relationship Type="http://schemas.openxmlformats.org/officeDocument/2006/relationships/notesMaster" Target="/ppt/notesMasters/notesMaster1.xml" Id="R94fdda7823314ff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0e06206aa944b1e" /><Relationship Type="http://schemas.openxmlformats.org/officeDocument/2006/relationships/notesMaster" Target="/ppt/notesMasters/notesMaster1.xml" Id="R4c778b3d479e4a9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0fb404428f84729" /><Relationship Type="http://schemas.openxmlformats.org/officeDocument/2006/relationships/notesMaster" Target="/ppt/notesMasters/notesMaster1.xml" Id="R59b648f74d174aa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4d37a2aaa0c468a" /><Relationship Type="http://schemas.openxmlformats.org/officeDocument/2006/relationships/notesMaster" Target="/ppt/notesMasters/notesMaster1.xml" Id="R8bf5e5621ac84de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3e5ea34893946af" /><Relationship Type="http://schemas.openxmlformats.org/officeDocument/2006/relationships/notesMaster" Target="/ppt/notesMasters/notesMaster1.xml" Id="R6864635a9e2443e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579f8d71c794f36" /><Relationship Type="http://schemas.openxmlformats.org/officeDocument/2006/relationships/notesMaster" Target="/ppt/notesMasters/notesMaster1.xml" Id="Ra86f8b911d56408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81c7bc1321d45e9" /><Relationship Type="http://schemas.openxmlformats.org/officeDocument/2006/relationships/notesMaster" Target="/ppt/notesMasters/notesMaster1.xml" Id="Ra00a4fc2f13547e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45b607d434b4abc" /><Relationship Type="http://schemas.openxmlformats.org/officeDocument/2006/relationships/notesMaster" Target="/ppt/notesMasters/notesMaster1.xml" Id="Rb8836b3d3dc1487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abb66ff9d6f4733" /><Relationship Type="http://schemas.openxmlformats.org/officeDocument/2006/relationships/notesMaster" Target="/ppt/notesMasters/notesMaster1.xml" Id="Rea60ac0923ba43a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1bc645405e84a06" /><Relationship Type="http://schemas.openxmlformats.org/officeDocument/2006/relationships/notesMaster" Target="/ppt/notesMasters/notesMaster1.xml" Id="R597ba2aadeb1404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353bc12c3af4d18" /><Relationship Type="http://schemas.openxmlformats.org/officeDocument/2006/relationships/notesMaster" Target="/ppt/notesMasters/notesMaster1.xml" Id="Re0a258dad3c1467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2bafc2b8d1747c2" /><Relationship Type="http://schemas.openxmlformats.org/officeDocument/2006/relationships/notesMaster" Target="/ppt/notesMasters/notesMaster1.xml" Id="Re89117a3619344f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5df00c74e724958" /><Relationship Type="http://schemas.openxmlformats.org/officeDocument/2006/relationships/notesMaster" Target="/ppt/notesMasters/notesMaster1.xml" Id="R2290e64b5d0447f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926770bb8c6402e" /><Relationship Type="http://schemas.openxmlformats.org/officeDocument/2006/relationships/notesMaster" Target="/ppt/notesMasters/notesMaster1.xml" Id="Rac91fa1a7168485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ab50e50f1bd4c0e" /><Relationship Type="http://schemas.openxmlformats.org/officeDocument/2006/relationships/notesMaster" Target="/ppt/notesMasters/notesMaster1.xml" Id="R0af05f9ba5b545c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0f28248709e4541" /><Relationship Type="http://schemas.openxmlformats.org/officeDocument/2006/relationships/notesMaster" Target="/ppt/notesMasters/notesMaster1.xml" Id="R6de2eb7be3b44a4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f8c678ddbf2448c" /><Relationship Type="http://schemas.openxmlformats.org/officeDocument/2006/relationships/notesMaster" Target="/ppt/notesMasters/notesMaster1.xml" Id="Ra79f8ea91fd3416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7c0e11df6677459b" /><Relationship Type="http://schemas.openxmlformats.org/officeDocument/2006/relationships/notesMaster" Target="/ppt/notesMasters/notesMaster1.xml" Id="R9a7b257e92894c5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be6a23fcb514d32" /><Relationship Type="http://schemas.openxmlformats.org/officeDocument/2006/relationships/notesMaster" Target="/ppt/notesMasters/notesMaster1.xml" Id="R996371018edd4002"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4b082bed00234d92" /><Relationship Type="http://schemas.openxmlformats.org/officeDocument/2006/relationships/notesMaster" Target="/ppt/notesMasters/notesMaster1.xml" Id="R2b71f99ad5974e0a"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b2ab402a97b84fd5" /><Relationship Type="http://schemas.openxmlformats.org/officeDocument/2006/relationships/notesMaster" Target="/ppt/notesMasters/notesMaster1.xml" Id="R0e0a6eb065274c77"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b496af6b70504965" /><Relationship Type="http://schemas.openxmlformats.org/officeDocument/2006/relationships/notesMaster" Target="/ppt/notesMasters/notesMaster1.xml" Id="R1c07469f402f42fa"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f79cb74b7e5c4790" /><Relationship Type="http://schemas.openxmlformats.org/officeDocument/2006/relationships/notesMaster" Target="/ppt/notesMasters/notesMaster1.xml" Id="Rbc7ccd96e89444ee"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e1de17139aa74a68" /><Relationship Type="http://schemas.openxmlformats.org/officeDocument/2006/relationships/notesMaster" Target="/ppt/notesMasters/notesMaster1.xml" Id="Rcd0efef28da04e7b"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71e4676d78504b6d" /><Relationship Type="http://schemas.openxmlformats.org/officeDocument/2006/relationships/notesMaster" Target="/ppt/notesMasters/notesMaster1.xml" Id="R686a155c49834239"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f1d6dcfb3a1441b0" /><Relationship Type="http://schemas.openxmlformats.org/officeDocument/2006/relationships/notesMaster" Target="/ppt/notesMasters/notesMaster1.xml" Id="Ra66c2806dc6a4462"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3221b6406f30458b" /><Relationship Type="http://schemas.openxmlformats.org/officeDocument/2006/relationships/notesMaster" Target="/ppt/notesMasters/notesMaster1.xml" Id="R001c81c116f84409"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923177bafeca43f4" /><Relationship Type="http://schemas.openxmlformats.org/officeDocument/2006/relationships/notesMaster" Target="/ppt/notesMasters/notesMaster1.xml" Id="Rd72a224686d34cf0"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57e02168e5bb4e1e" /><Relationship Type="http://schemas.openxmlformats.org/officeDocument/2006/relationships/notesMaster" Target="/ppt/notesMasters/notesMaster1.xml" Id="R0215870841e74b81"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c59232dd2ade46b4" /><Relationship Type="http://schemas.openxmlformats.org/officeDocument/2006/relationships/notesMaster" Target="/ppt/notesMasters/notesMaster1.xml" Id="Re047e50927cd4add"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910ba05e0faa4ded" /><Relationship Type="http://schemas.openxmlformats.org/officeDocument/2006/relationships/notesMaster" Target="/ppt/notesMasters/notesMaster1.xml" Id="R849e83f1d0184245"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9f60e64d1ebd4845" /><Relationship Type="http://schemas.openxmlformats.org/officeDocument/2006/relationships/notesMaster" Target="/ppt/notesMasters/notesMaster1.xml" Id="Ra7a15cd49e0d4326"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d28114ecdac64d0a" /><Relationship Type="http://schemas.openxmlformats.org/officeDocument/2006/relationships/notesMaster" Target="/ppt/notesMasters/notesMaster1.xml" Id="R229d4074ad4e498d"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f3dc9aa01b3d4620" /><Relationship Type="http://schemas.openxmlformats.org/officeDocument/2006/relationships/notesMaster" Target="/ppt/notesMasters/notesMaster1.xml" Id="Rbc336d4cd2484703"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2d0ce71322374bc9" /><Relationship Type="http://schemas.openxmlformats.org/officeDocument/2006/relationships/notesMaster" Target="/ppt/notesMasters/notesMaster1.xml" Id="R0c3f645ac51247ed"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6ae405cf5fb1424d" /><Relationship Type="http://schemas.openxmlformats.org/officeDocument/2006/relationships/notesMaster" Target="/ppt/notesMasters/notesMaster1.xml" Id="Rbef1335ee5c44280"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776d3c73a3be47a5" /><Relationship Type="http://schemas.openxmlformats.org/officeDocument/2006/relationships/notesMaster" Target="/ppt/notesMasters/notesMaster1.xml" Id="R8c63322955324328"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5e15eac896884d81" /><Relationship Type="http://schemas.openxmlformats.org/officeDocument/2006/relationships/notesMaster" Target="/ppt/notesMasters/notesMaster1.xml" Id="R5ab51bb1857141aa"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c37a3bac48a74305" /><Relationship Type="http://schemas.openxmlformats.org/officeDocument/2006/relationships/notesMaster" Target="/ppt/notesMasters/notesMaster1.xml" Id="R50a772087c25400b"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a27275cab70f423d" /><Relationship Type="http://schemas.openxmlformats.org/officeDocument/2006/relationships/notesMaster" Target="/ppt/notesMasters/notesMaster1.xml" Id="R6f129b0d9ad54ee9"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474b137cc5ee4fd9" /><Relationship Type="http://schemas.openxmlformats.org/officeDocument/2006/relationships/notesMaster" Target="/ppt/notesMasters/notesMaster1.xml" Id="Racb446677ab34f5b"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f16a244e55a84b35" /><Relationship Type="http://schemas.openxmlformats.org/officeDocument/2006/relationships/notesMaster" Target="/ppt/notesMasters/notesMaster1.xml" Id="R288ae75e72f94d34"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635f7783666e44cc" /><Relationship Type="http://schemas.openxmlformats.org/officeDocument/2006/relationships/notesMaster" Target="/ppt/notesMasters/notesMaster1.xml" Id="R49f5c78300b743f4"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0ee8ce1c5ea84b31" /><Relationship Type="http://schemas.openxmlformats.org/officeDocument/2006/relationships/notesMaster" Target="/ppt/notesMasters/notesMaster1.xml" Id="R9363b2236cb0431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Honest validation and leakage</a:t>
            </a:r>
          </a:p>
          <a:p xmlns:a="http://schemas.openxmlformats.org/drawingml/2006/main">
            <a:r>
              <a:t>Explanation to give</a:t>
            </a:r>
          </a:p>
          <a:p xmlns:a="http://schemas.openxmlformats.org/drawingml/2006/main">
            <a:r>
              <a:t>Connect evaluation to intended use. Decide how to hold out observations before fitting either preprocessing or the linear_model.</a:t>
            </a:r>
          </a:p>
          <a:p xmlns:a="http://schemas.openxmlformats.org/drawingml/2006/main">
            <a:r>
              <a:t/>
            </a:r>
          </a:p>
          <a:p xmlns:a="http://schemas.openxmlformats.org/drawingml/2006/main">
            <a:r>
              <a:t>Worked illustration / lecturer answer</a:t>
            </a:r>
          </a:p>
          <a:p xmlns:a="http://schemas.openxmlformats.org/drawingml/2006/main">
            <a:r>
              <a:t>When testing new equipment, all observations from equipment A stay in one partition. Training must not learn its missing-value replacements from held-out equipment.</a:t>
            </a:r>
          </a:p>
          <a:p xmlns:a="http://schemas.openxmlformats.org/drawingml/2006/main">
            <a:r>
              <a:t/>
            </a:r>
          </a:p>
          <a:p xmlns:a="http://schemas.openxmlformats.org/drawingml/2006/main">
            <a:r>
              <a:t>Misconception to address</a:t>
            </a:r>
          </a:p>
          <a:p xmlns:a="http://schemas.openxmlformats.org/drawingml/2006/main">
            <a:r>
              <a:t>Use this as an orientation to the lesson. Terms and syntax will be unpacked on their own slides; students do not need to know them in advance.</a:t>
            </a:r>
          </a:p>
          <a:p xmlns:a="http://schemas.openxmlformats.org/drawingml/2006/main">
            <a:r>
              <a:t/>
            </a:r>
          </a:p>
          <a:p xmlns:a="http://schemas.openxmlformats.org/drawingml/2006/main">
            <a:r>
              <a:t>On this slide</a:t>
            </a:r>
          </a:p>
          <a:p xmlns:a="http://schemas.openxmlformats.org/drawingml/2006/main">
            <a:r>
              <a:t>Mining and Petroleum Engineering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Core practice precedes the assessment brief. Give the class one consistent data-handling approach: pandas for tables, scikit-learn for models, matplotlib for figures.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Uploading a notebook does not upload its modelling_data. Check the exact filename and column headings. Each cohort has its own data, so numerical results can differ.</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Import and short names</a:t>
            </a:r>
          </a:p>
          <a:p xmlns:a="http://schemas.openxmlformats.org/drawingml/2006/main">
            <a:r>
              <a:t>import pandas as pd loads pandas and gives it the short name pd. pd.read_csv refers to a function in that library.</a:t>
            </a:r>
          </a:p>
          <a:p xmlns:a="http://schemas.openxmlformats.org/drawingml/2006/main">
            <a:r>
              <a:t/>
            </a:r>
          </a:p>
          <a:p xmlns:a="http://schemas.openxmlformats.org/drawingml/2006/main">
            <a:r>
              <a:t>Reading a CSV</a:t>
            </a:r>
          </a:p>
          <a:p xmlns:a="http://schemas.openxmlformats.org/drawingml/2006/main">
            <a:r>
              <a:t>pd.read_csv("practice_filename.csv") reads the named file into a DataFrame: a table with labelled columns and row labels. The file must exist in the working folder.</a:t>
            </a:r>
          </a:p>
          <a:p xmlns:a="http://schemas.openxmlformats.org/drawingml/2006/main">
            <a:r>
              <a:t/>
            </a:r>
          </a:p>
          <a:p xmlns:a="http://schemas.openxmlformats.org/drawingml/2006/main">
            <a:r>
              <a:t>Counting dimensions</a:t>
            </a:r>
          </a:p>
          <a:p xmlns:a="http://schemas.openxmlformats.org/drawingml/2006/main">
            <a:r>
              <a:t>equipment_data.shape gives (number of rows, number of columns). shape is a property, so it has no parentheses.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Column data types</a:t>
            </a:r>
          </a:p>
          <a:p xmlns:a="http://schemas.openxmlformats.org/drawingml/2006/main">
            <a:r>
              <a:t>equipment_data.dtypes reports each column’s stored type. int64 means integers, float64 means decimal numbers, and object often contains text. Numeric blanks commonly appear as NaN.</a:t>
            </a:r>
          </a:p>
          <a:p xmlns:a="http://schemas.openxmlformats.org/drawingml/2006/main">
            <a:r>
              <a:t/>
            </a:r>
          </a:p>
          <a:p xmlns:a="http://schemas.openxmlformats.org/drawingml/2006/main">
            <a:r>
              <a:t>A preview of rows</a:t>
            </a:r>
          </a:p>
          <a:p xmlns:a="http://schemas.openxmlformats.org/drawingml/2006/main">
            <a:r>
              <a:t>equipment_data.head() returns the first five rows. It leaves the table unchanged. A preview is not the entire dataset.</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assigns a value to a name; == compares values. Parentheses pass inputs or continue an expression across lines. print displays a value; len counts entries. int and float convert to integer and decimal numeric values.</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assigns a value to a name; == compares values. Parentheses pass inputs or continue an expression across lines. print displays a value; len counts entries. int and float convert to integer and decimal numeric values.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import pandas as pd</a:t>
            </a:r>
          </a:p>
          <a:p xmlns:a="http://schemas.openxmlformats.org/drawingml/2006/main">
            <a:r>
              <a:t>Load the named tools. Importing a model class does not train a model.</a:t>
            </a:r>
          </a:p>
          <a:p xmlns:a="http://schemas.openxmlformats.org/drawingml/2006/main">
            <a:r>
              <a:t/>
            </a:r>
          </a:p>
          <a:p xmlns:a="http://schemas.openxmlformats.org/drawingml/2006/main">
            <a:r>
              <a:t>raw_data = pd.read_csv('engineering_data.csv')</a:t>
            </a:r>
          </a:p>
          <a:p xmlns:a="http://schemas.openxmlformats.org/drawingml/2006/main">
            <a:r>
              <a:t>raw_data stores original CSV table; keep it unchanged so the analysis can be checked.</a:t>
            </a:r>
          </a:p>
          <a:p xmlns:a="http://schemas.openxmlformats.org/drawingml/2006/main">
            <a:r>
              <a:t/>
            </a:r>
          </a:p>
          <a:p xmlns:a="http://schemas.openxmlformats.org/drawingml/2006/main">
            <a:r>
              <a:t>print(raw_data.head())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print(raw_data.shape)</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print(raw_data.dtypes)</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record_id equipment_id  load_pct  ambient_c  target</a:t>
            </a:r>
          </a:p>
          <a:p xmlns:a="http://schemas.openxmlformats.org/drawingml/2006/main">
            <a:r>
              <a:t>0          1           E1     59.15      31.71  14.001</a:t>
            </a:r>
          </a:p>
          <a:p xmlns:a="http://schemas.openxmlformats.org/drawingml/2006/main">
            <a:r>
              <a:t>1          2           E2     77.46      29.97  15.147</a:t>
            </a:r>
          </a:p>
          <a:p xmlns:a="http://schemas.openxmlformats.org/drawingml/2006/main">
            <a:r>
              <a:t>2          3           E3     69.60      19.87  13.005</a:t>
            </a:r>
          </a:p>
          <a:p xmlns:a="http://schemas.openxmlformats.org/drawingml/2006/main">
            <a:r>
              <a:t>3          4           E4     75.98      22.29     NaN</a:t>
            </a:r>
          </a:p>
          <a:p xmlns:a="http://schemas.openxmlformats.org/drawingml/2006/main">
            <a:r>
              <a:t>4          5           E5     57.62      23.40  12.554</a:t>
            </a:r>
          </a:p>
          <a:p xmlns:a="http://schemas.openxmlformats.org/drawingml/2006/main">
            <a:r>
              <a:t>(91, 5)</a:t>
            </a:r>
          </a:p>
          <a:p xmlns:a="http://schemas.openxmlformats.org/drawingml/2006/main">
            <a:r>
              <a:t>record_id         int64</a:t>
            </a:r>
          </a:p>
          <a:p xmlns:a="http://schemas.openxmlformats.org/drawingml/2006/main">
            <a:r>
              <a:t>equipment_id     object</a:t>
            </a:r>
          </a:p>
          <a:p xmlns:a="http://schemas.openxmlformats.org/drawingml/2006/main">
            <a:r>
              <a:t>load_pct        float64</a:t>
            </a:r>
          </a:p>
          <a:p xmlns:a="http://schemas.openxmlformats.org/drawingml/2006/main">
            <a:r>
              <a:t>ambient_c       float64</a:t>
            </a:r>
          </a:p>
          <a:p xmlns:a="http://schemas.openxmlformats.org/drawingml/2006/main">
            <a:r>
              <a:t>target          float64</a:t>
            </a:r>
          </a:p>
          <a:p xmlns:a="http://schemas.openxmlformats.org/drawingml/2006/main">
            <a:r>
              <a:t>dtype: object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sets have different jobs</a:t>
            </a:r>
          </a:p>
          <a:p xmlns:a="http://schemas.openxmlformats.org/drawingml/2006/main">
            <a:r>
              <a:t>Explanation to give</a:t>
            </a:r>
          </a:p>
          <a:p xmlns:a="http://schemas.openxmlformats.org/drawingml/2006/main">
            <a:r>
              <a:t>Training observations teach the linear_model. Validation observations help choose among models and settings. The final test is reserved for evaluating the chosen method after those choices are fixed.</a:t>
            </a:r>
          </a:p>
          <a:p xmlns:a="http://schemas.openxmlformats.org/drawingml/2006/main">
            <a:r>
              <a:t/>
            </a:r>
          </a:p>
          <a:p xmlns:a="http://schemas.openxmlformats.org/drawingml/2006/main">
            <a:r>
              <a:t>Worked illustration / lecturer answer</a:t>
            </a:r>
          </a:p>
          <a:p xmlns:a="http://schemas.openxmlformats.org/drawingml/2006/main">
            <a:r>
              <a:t>Compare two models using the same validation observations, choose a method, then evaluate it once on the held-out test_data. Imagine the test as a sealed examination paper.</a:t>
            </a:r>
          </a:p>
          <a:p xmlns:a="http://schemas.openxmlformats.org/drawingml/2006/main">
            <a:r>
              <a:t/>
            </a:r>
          </a:p>
          <a:p xmlns:a="http://schemas.openxmlformats.org/drawingml/2006/main">
            <a:r>
              <a:t>Misconception to address</a:t>
            </a:r>
          </a:p>
          <a:p xmlns:a="http://schemas.openxmlformats.org/drawingml/2006/main">
            <a:r>
              <a:t>Repeatedly checking the test while selecting features or settings makes it part of the selection process, so it no longer gives an independent final check.</a:t>
            </a:r>
          </a:p>
          <a:p xmlns:a="http://schemas.openxmlformats.org/drawingml/2006/main">
            <a:r>
              <a:t/>
            </a:r>
          </a:p>
          <a:p xmlns:a="http://schemas.openxmlformats.org/drawingml/2006/main">
            <a:r>
              <a:t>On this slide</a:t>
            </a:r>
          </a:p>
          <a:p xmlns:a="http://schemas.openxmlformats.org/drawingml/2006/main">
            <a:r>
              <a:t>Which set must stay sealed until choices are fixed?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follows the issued data rules. Filtering observed targets is different from estimating missing targets. Deduplicate before filtering, so an invalid first occurrence is not replaced by its later duplicate.</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chained operations</a:t>
            </a:r>
          </a:p>
          <a:p xmlns:a="http://schemas.openxmlformats.org/drawingml/2006/main">
            <a:r>
              <a:t>Read a chain from left to right. In equipment_data["target"].mean(), select the target Series first, then calculate its mean. Each step uses the previous step’s result.</a:t>
            </a:r>
          </a:p>
          <a:p xmlns:a="http://schemas.openxmlformats.org/drawingml/2006/main">
            <a:r>
              <a:t/>
            </a:r>
          </a:p>
          <a:p xmlns:a="http://schemas.openxmlformats.org/drawingml/2006/main">
            <a:r>
              <a:t>A separate working table</a:t>
            </a:r>
          </a:p>
          <a:p xmlns:a="http://schemas.openxmlformats.org/drawingml/2006/main">
            <a:r>
              <a:t>equipment_data.copy() creates a working copy. Assigning columns on this copy preserves the source table, so you can compare before and after.</a:t>
            </a:r>
          </a:p>
          <a:p xmlns:a="http://schemas.openxmlformats.org/drawingml/2006/main">
            <a:r>
              <a:t/>
            </a:r>
          </a:p>
          <a:p xmlns:a="http://schemas.openxmlformats.org/drawingml/2006/main">
            <a:r>
              <a:t>Finding recorded cells</a:t>
            </a:r>
          </a:p>
          <a:p xmlns:a="http://schemas.openxmlformats.org/drawingml/2006/main">
            <a:r>
              <a:t>notna() returns True where a value is present. Use it to retain observations with a recorded target before modelling.</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inclusive range</a:t>
            </a:r>
          </a:p>
          <a:p xmlns:a="http://schemas.openxmlformats.org/drawingml/2006/main">
            <a:r>
              <a:t>series.between(0, 100) is True for values from 0 through 100, including both limits. The resulting mask helps select valid rows.</a:t>
            </a:r>
          </a:p>
          <a:p xmlns:a="http://schemas.openxmlformats.org/drawingml/2006/main">
            <a:r>
              <a:t/>
            </a:r>
          </a:p>
          <a:p xmlns:a="http://schemas.openxmlformats.org/drawingml/2006/main">
            <a:r>
              <a:t>Selecting columns</a:t>
            </a:r>
          </a:p>
          <a:p xmlns:a="http://schemas.openxmlformats.org/drawingml/2006/main">
            <a:r>
              <a:t>equipment_data["column"] returns one labelled column, a Series. equipment_data[["a", "b"]] returns a DataFrame containing those named columns in that order.</a:t>
            </a:r>
          </a:p>
          <a:p xmlns:a="http://schemas.openxmlformats.org/drawingml/2006/main">
            <a:r>
              <a:t/>
            </a:r>
          </a:p>
          <a:p xmlns:a="http://schemas.openxmlformats.org/drawingml/2006/main">
            <a:r>
              <a:t>Selecting rows with a mask</a:t>
            </a:r>
          </a:p>
          <a:p xmlns:a="http://schemas.openxmlformats.org/drawingml/2006/main">
            <a:r>
              <a:t>A column comparison produces one True or False per row. equipment_data[mask] keeps the True rows. &amp; combines masks: both conditions must hold. Parenthesise each comparison.</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Keeping the first observation</a:t>
            </a:r>
          </a:p>
          <a:p xmlns:a="http://schemas.openxmlformats.org/drawingml/2006/main">
            <a:r>
              <a:t>equipment_data.drop_duplicates("record_id") returns rows with the first occurrence of each ID, preserving their order. It does not overwrite the source unless you assign the result.</a:t>
            </a:r>
          </a:p>
          <a:p xmlns:a="http://schemas.openxmlformats.org/drawingml/2006/main">
            <a:r>
              <a:t/>
            </a:r>
          </a:p>
          <a:p xmlns:a="http://schemas.openxmlformats.org/drawingml/2006/main">
            <a:r>
              <a:t>Membership in a group list</a:t>
            </a:r>
          </a:p>
          <a:p xmlns:a="http://schemas.openxmlformats.org/drawingml/2006/main">
            <a:r>
              <a:t>series.isin(["E1", "E2"]) returns True for entries matching either listed label. equipment_data[that_mask] keeps all observations belonging to those groups.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keep the first record ID. Then ask two questions for each remaining row: is the target recorded, and is load between 0 and 100? Only a row passing both checks stays. Missing inputs are handled later using training data 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keep the first record ID. Then ask two questions for each remaining row: is the target recorded, and is load between 0 and 100? Only a row passing both checks stays. Missing inputs are handled later using training data only.</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modelling_data = raw_data.drop_duplicates('record_id').copy()</a:t>
            </a:r>
          </a:p>
          <a:p xmlns:a="http://schemas.openxmlformats.org/drawingml/2006/main">
            <a:r>
              <a:t>modelling_data stores copied observations after duplicate and validity checks.</a:t>
            </a:r>
          </a:p>
          <a:p xmlns:a="http://schemas.openxmlformats.org/drawingml/2006/main">
            <a:r>
              <a:t/>
            </a:r>
          </a:p>
          <a:p xmlns:a="http://schemas.openxmlformats.org/drawingml/2006/main">
            <a:r>
              <a:t>target_is_recorded = modelling_data['target'].notna()</a:t>
            </a:r>
          </a:p>
          <a:p xmlns:a="http://schemas.openxmlformats.org/drawingml/2006/main">
            <a:r>
              <a:t>target_is_recorded stores the result of the displayed expression.</a:t>
            </a:r>
          </a:p>
          <a:p xmlns:a="http://schemas.openxmlformats.org/drawingml/2006/main">
            <a:r>
              <a:t/>
            </a:r>
          </a:p>
          <a:p xmlns:a="http://schemas.openxmlformats.org/drawingml/2006/main">
            <a:r>
              <a:t>load_is_valid = modelling_data['load_pct'].between(0, 100)</a:t>
            </a:r>
          </a:p>
          <a:p xmlns:a="http://schemas.openxmlformats.org/drawingml/2006/main">
            <a:r>
              <a:t>load_is_valid stores the result of the displayed expression.</a:t>
            </a:r>
          </a:p>
          <a:p xmlns:a="http://schemas.openxmlformats.org/drawingml/2006/main">
            <a:r>
              <a:t/>
            </a:r>
          </a:p>
          <a:p xmlns:a="http://schemas.openxmlformats.org/drawingml/2006/main">
            <a:r>
              <a:t>rows_to_keep = target_is_recorded &amp; load_is_valid</a:t>
            </a:r>
          </a:p>
          <a:p xmlns:a="http://schemas.openxmlformats.org/drawingml/2006/main">
            <a:r>
              <a:t>rows_to_keep stores the result of the displayed expression.</a:t>
            </a:r>
          </a:p>
          <a:p xmlns:a="http://schemas.openxmlformats.org/drawingml/2006/main">
            <a:r>
              <a:t/>
            </a:r>
          </a:p>
          <a:p xmlns:a="http://schemas.openxmlformats.org/drawingml/2006/main">
            <a:r>
              <a:t>print(target_is_recorded.head())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print(load_is_valid.head())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modelling_data = modelling_data[rows_to_keep].copy()</a:t>
            </a:r>
          </a:p>
          <a:p xmlns:a="http://schemas.openxmlformats.org/drawingml/2006/main">
            <a:r>
              <a:t>modelling_data stores copied observations after duplicate and validity checks.</a:t>
            </a:r>
          </a:p>
          <a:p xmlns:a="http://schemas.openxmlformats.org/drawingml/2006/main">
            <a:r>
              <a:t/>
            </a:r>
          </a:p>
          <a:p xmlns:a="http://schemas.openxmlformats.org/drawingml/2006/main">
            <a:r>
              <a:t>print(len(raw_data), len(modelling_data))</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0     True</a:t>
            </a:r>
          </a:p>
          <a:p xmlns:a="http://schemas.openxmlformats.org/drawingml/2006/main">
            <a:r>
              <a:t>1     True</a:t>
            </a:r>
          </a:p>
          <a:p xmlns:a="http://schemas.openxmlformats.org/drawingml/2006/main">
            <a:r>
              <a:t>2     True</a:t>
            </a:r>
          </a:p>
          <a:p xmlns:a="http://schemas.openxmlformats.org/drawingml/2006/main">
            <a:r>
              <a:t>3    False</a:t>
            </a:r>
          </a:p>
          <a:p xmlns:a="http://schemas.openxmlformats.org/drawingml/2006/main">
            <a:r>
              <a:t>4     True</a:t>
            </a:r>
          </a:p>
          <a:p xmlns:a="http://schemas.openxmlformats.org/drawingml/2006/main">
            <a:r>
              <a:t>Name: target, dtype: bool</a:t>
            </a:r>
          </a:p>
          <a:p xmlns:a="http://schemas.openxmlformats.org/drawingml/2006/main">
            <a:r>
              <a:t>0    True</a:t>
            </a:r>
          </a:p>
          <a:p xmlns:a="http://schemas.openxmlformats.org/drawingml/2006/main">
            <a:r>
              <a:t>1    True</a:t>
            </a:r>
          </a:p>
          <a:p xmlns:a="http://schemas.openxmlformats.org/drawingml/2006/main">
            <a:r>
              <a:t>2    True</a:t>
            </a:r>
          </a:p>
          <a:p xmlns:a="http://schemas.openxmlformats.org/drawingml/2006/main">
            <a:r>
              <a:t>3    True</a:t>
            </a:r>
          </a:p>
          <a:p xmlns:a="http://schemas.openxmlformats.org/drawingml/2006/main">
            <a:r>
              <a:t>4    True</a:t>
            </a:r>
          </a:p>
          <a:p xmlns:a="http://schemas.openxmlformats.org/drawingml/2006/main">
            <a:r>
              <a:t>Name: load_pct, dtype: bool</a:t>
            </a:r>
          </a:p>
          <a:p xmlns:a="http://schemas.openxmlformats.org/drawingml/2006/main">
            <a:r>
              <a:t>91 88</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isin(list_of_labels) answers True when a row’s equipment ID appears in the list. Here E1–E4 supply training rows, E5 validation rows and E6 test rows. The groups stay separate so one equipment group cannot appear on both sides.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isin(list_of_labels) answers True when a row’s equipment ID appears in the list. Here E1–E4 supply training rows, E5 validation rows and E6 test rows. The groups stay separate so one equipment group cannot appear on both sides.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is_training_equipment = modelling_data['equipment_id'].isin(['E1', 'E2', 'E3', 'E4'])</a:t>
            </a:r>
          </a:p>
          <a:p xmlns:a="http://schemas.openxmlformats.org/drawingml/2006/main">
            <a:r>
              <a:t>is_training_equipment stores the result of the displayed expression.</a:t>
            </a:r>
          </a:p>
          <a:p xmlns:a="http://schemas.openxmlformats.org/drawingml/2006/main">
            <a:r>
              <a:t/>
            </a:r>
          </a:p>
          <a:p xmlns:a="http://schemas.openxmlformats.org/drawingml/2006/main">
            <a:r>
              <a:t>is_validation_equipment = modelling_data['equipment_id'].isin(['E5'])</a:t>
            </a:r>
          </a:p>
          <a:p xmlns:a="http://schemas.openxmlformats.org/drawingml/2006/main">
            <a:r>
              <a:t>is_validation_equipment stores the result of the displayed expression.</a:t>
            </a:r>
          </a:p>
          <a:p xmlns:a="http://schemas.openxmlformats.org/drawingml/2006/main">
            <a:r>
              <a:t/>
            </a:r>
          </a:p>
          <a:p xmlns:a="http://schemas.openxmlformats.org/drawingml/2006/main">
            <a:r>
              <a:t>is_test_equipment = modelling_data['equipment_id'].isin(['E6'])</a:t>
            </a:r>
          </a:p>
          <a:p xmlns:a="http://schemas.openxmlformats.org/drawingml/2006/main">
            <a:r>
              <a:t>is_test_equipment stores the result of the displayed expression.</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training_data: rows used to learn model settings; only these rows may determine imputation values.</a:t>
            </a:r>
          </a:p>
          <a:p xmlns:a="http://schemas.openxmlformats.org/drawingml/2006/main">
            <a:r>
              <a:t/>
            </a:r>
          </a:p>
          <a:p xmlns:a="http://schemas.openxmlformats.org/drawingml/2006/main">
            <a:r>
              <a:t>validation_data: separate rows used to compare models without fitting on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training_data: rows used to learn model settings; only these rows may determine imputation values.</a:t>
            </a:r>
          </a:p>
          <a:p xmlns:a="http://schemas.openxmlformats.org/drawingml/2006/main">
            <a:r>
              <a:t/>
            </a:r>
          </a:p>
          <a:p xmlns:a="http://schemas.openxmlformats.org/drawingml/2006/main">
            <a:r>
              <a:t>validation_data: separate rows used to compare models without fitting on them.</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training_data = modelling_data[is_training_equipment].copy()</a:t>
            </a:r>
          </a:p>
          <a:p xmlns:a="http://schemas.openxmlformats.org/drawingml/2006/main">
            <a:r>
              <a:t>training_data stores rows used to learn model settings; only these rows may determine imputation values.</a:t>
            </a:r>
          </a:p>
          <a:p xmlns:a="http://schemas.openxmlformats.org/drawingml/2006/main">
            <a:r>
              <a:t/>
            </a:r>
          </a:p>
          <a:p xmlns:a="http://schemas.openxmlformats.org/drawingml/2006/main">
            <a:r>
              <a:t>validation_data = modelling_data[is_validation_equipment].copy()</a:t>
            </a:r>
          </a:p>
          <a:p xmlns:a="http://schemas.openxmlformats.org/drawingml/2006/main">
            <a:r>
              <a:t>validation_data stores separate rows used to compare models without fitting on them.</a:t>
            </a:r>
          </a:p>
          <a:p xmlns:a="http://schemas.openxmlformats.org/drawingml/2006/main">
            <a:r>
              <a:t/>
            </a:r>
          </a:p>
          <a:p xmlns:a="http://schemas.openxmlformats.org/drawingml/2006/main">
            <a:r>
              <a:t>test_data = modelling_data[is_test_equipment].copy()</a:t>
            </a:r>
          </a:p>
          <a:p xmlns:a="http://schemas.openxmlformats.org/drawingml/2006/main">
            <a:r>
              <a:t>test_data stores held-out rows kept aside until the final evaluation.</a:t>
            </a:r>
          </a:p>
          <a:p xmlns:a="http://schemas.openxmlformats.org/drawingml/2006/main">
            <a:r>
              <a:t/>
            </a:r>
          </a:p>
          <a:p xmlns:a="http://schemas.openxmlformats.org/drawingml/2006/main">
            <a:r>
              <a:t>feature_columns = ['load_pct', 'ambient_c']</a:t>
            </a:r>
          </a:p>
          <a:p xmlns:a="http://schemas.openxmlformats.org/drawingml/2006/main">
            <a:r>
              <a:t>feature_columns stores the list of input column names supplied to the model.</a:t>
            </a:r>
          </a:p>
          <a:p xmlns:a="http://schemas.openxmlformats.org/drawingml/2006/main">
            <a:r>
              <a:t/>
            </a:r>
          </a:p>
          <a:p xmlns:a="http://schemas.openxmlformats.org/drawingml/2006/main">
            <a:r>
              <a:t>print(len(training_data), len(validation_data), len(test_data))</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58 15 15</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Even preprocessing without target labels can leak information about evaluation distributions.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Middle recorded value</a:t>
            </a:r>
          </a:p>
          <a:p xmlns:a="http://schemas.openxmlformats.org/drawingml/2006/main">
            <a:r>
              <a:t>series.median() sorts known values conceptually and returns the middle one. With an even count, it averages the two middle values. Missing entries do not enter the calculation.</a:t>
            </a:r>
          </a:p>
          <a:p xmlns:a="http://schemas.openxmlformats.org/drawingml/2006/main">
            <a:r>
              <a:t/>
            </a:r>
          </a:p>
          <a:p xmlns:a="http://schemas.openxmlformats.org/drawingml/2006/main">
            <a:r>
              <a:t>Replacing missing entries</a:t>
            </a:r>
          </a:p>
          <a:p xmlns:a="http://schemas.openxmlformats.org/drawingml/2006/main">
            <a:r>
              <a:t>series.fillna(value) returns a column whose missing entries contain value. Recorded values stay unchanged. Assign the returned column to retain the fill.</a:t>
            </a:r>
          </a:p>
          <a:p xmlns:a="http://schemas.openxmlformats.org/drawingml/2006/main">
            <a:r>
              <a:t/>
            </a:r>
          </a:p>
          <a:p xmlns:a="http://schemas.openxmlformats.org/drawingml/2006/main">
            <a:r>
              <a:t>Rounded display</a:t>
            </a:r>
          </a:p>
          <a:p xmlns:a="http://schemas.openxmlformats.org/drawingml/2006/main">
            <a:r>
              <a:t>series.round(3) returns values rounded to three decimal places. Python round(number, 3) rounds one number. Keep unrounded calculations for returned assessment answers.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Adding values and counting True</a:t>
            </a:r>
          </a:p>
          <a:p xmlns:a="http://schemas.openxmlformats.org/drawingml/2006/main">
            <a:r>
              <a:t>series.sum() adds its values. For a Boolean mask, True counts as 1 and False as 0. equipment_data.isna().sum() therefore counts missing cells separately for each column.</a:t>
            </a:r>
          </a:p>
          <a:p xmlns:a="http://schemas.openxmlformats.org/drawingml/2006/main">
            <a:r>
              <a:t/>
            </a:r>
          </a:p>
          <a:p xmlns:a="http://schemas.openxmlformats.org/drawingml/2006/main">
            <a:r>
              <a:t>Finding missing cells</a:t>
            </a:r>
          </a:p>
          <a:p xmlns:a="http://schemas.openxmlformats.org/drawingml/2006/main">
            <a:r>
              <a:t>isna() returns True for missing entries such as NaN and None. It returns False for a recorded zero. A DataFrame gives a mask for every cell; a Series gives one mask value per row.</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Adding values and counting True: series.sum() adds its values. For a Boolean mask, True counts as 1 and False as 0. equipment_data.isna().sum() therefore counts missing cells separately for each column.</a:t>
            </a:r>
          </a:p>
          <a:p xmlns:a="http://schemas.openxmlformats.org/drawingml/2006/main">
            <a:r>
              <a:t/>
            </a:r>
          </a:p>
          <a:p xmlns:a="http://schemas.openxmlformats.org/drawingml/2006/main">
            <a:r>
              <a:t>Finding missing cells: isna() returns True for missing entries such as NaN and None. It returns False for a recorded zero. A DataFrame gives a mask for every cell; a Series gives one mask value per row.</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training_ambient_median = training_data['ambient_c'].median()</a:t>
            </a:r>
          </a:p>
          <a:p xmlns:a="http://schemas.openxmlformats.org/drawingml/2006/main">
            <a:r>
              <a:t>training_ambient_median stores median ambient temperature calculated only from training rows.</a:t>
            </a:r>
          </a:p>
          <a:p xmlns:a="http://schemas.openxmlformats.org/drawingml/2006/main">
            <a:r>
              <a:t/>
            </a:r>
          </a:p>
          <a:p xmlns:a="http://schemas.openxmlformats.org/drawingml/2006/main">
            <a:r>
              <a:t>filled_validation_ambient = validation_data['ambient_c'].fillna(training_ambient_median)</a:t>
            </a:r>
          </a:p>
          <a:p xmlns:a="http://schemas.openxmlformats.org/drawingml/2006/main">
            <a:r>
              <a:t>filled_validation_ambient stores validation ambient column with gaps filled using the training median.</a:t>
            </a:r>
          </a:p>
          <a:p xmlns:a="http://schemas.openxmlformats.org/drawingml/2006/main">
            <a:r>
              <a:t/>
            </a:r>
          </a:p>
          <a:p xmlns:a="http://schemas.openxmlformats.org/drawingml/2006/main">
            <a:r>
              <a:t>print(round(float(training_ambient_median), 3))</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print(validation_data['ambient_c'].isna().sum())</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print(filled_validation_ambient.head())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26.07</a:t>
            </a:r>
          </a:p>
          <a:p xmlns:a="http://schemas.openxmlformats.org/drawingml/2006/main">
            <a:r>
              <a:t>0</a:t>
            </a:r>
          </a:p>
          <a:p xmlns:a="http://schemas.openxmlformats.org/drawingml/2006/main">
            <a:r>
              <a:t>4     23.40</a:t>
            </a:r>
          </a:p>
          <a:p xmlns:a="http://schemas.openxmlformats.org/drawingml/2006/main">
            <a:r>
              <a:t>10    33.98</a:t>
            </a:r>
          </a:p>
          <a:p xmlns:a="http://schemas.openxmlformats.org/drawingml/2006/main">
            <a:r>
              <a:t>16    34.28</a:t>
            </a:r>
          </a:p>
          <a:p xmlns:a="http://schemas.openxmlformats.org/drawingml/2006/main">
            <a:r>
              <a:t>22    30.81</a:t>
            </a:r>
          </a:p>
          <a:p xmlns:a="http://schemas.openxmlformats.org/drawingml/2006/main">
            <a:r>
              <a:t>28    21.33</a:t>
            </a:r>
          </a:p>
          <a:p xmlns:a="http://schemas.openxmlformats.org/drawingml/2006/main">
            <a:r>
              <a:t>Name: ambient_c, dtype: float64</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model object exists before training. X is two-dimensional and y is one-dimensional. Select inputs in the same order during prediction. A validation target must never enter fit.</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Returning plain values</a:t>
            </a:r>
          </a:p>
          <a:p xmlns:a="http://schemas.openxmlformats.org/drawingml/2006/main">
            <a:r>
              <a:t>series.tolist() or array.tolist() returns a Python list of values, without pandas row labels. Preserve their order when pairing actual values and validation_predictions.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make_pipeline(imputer, estimator) links preprocessing and prediction. fit learns the imputer and estimator on training rows. predict applies the learned steps to new rows in the same order.</a:t>
            </a:r>
          </a:p>
          <a:p xmlns:a="http://schemas.openxmlformats.org/drawingml/2006/main">
            <a:r>
              <a:t/>
            </a:r>
          </a:p>
          <a:p xmlns:a="http://schemas.openxmlformats.org/drawingml/2006/main">
            <a:r>
              <a:t>SimpleImputer(strategy="median") learns a median for each input column during fit. It uses those training medians to fill gaps later. Never learn replacement values from validation or test rows.</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LinearRegression() creates an unfitted model. It will learn coefficients and an intercept from training examples. Creating it alone does not train it or make predictions.</a:t>
            </a:r>
          </a:p>
          <a:p xmlns:a="http://schemas.openxmlformats.org/drawingml/2006/main">
            <a:r>
              <a:t/>
            </a:r>
          </a:p>
          <a:p xmlns:a="http://schemas.openxmlformats.org/drawingml/2006/main">
            <a:r>
              <a:t>model.fit(input_table, observed_targets) learns model settings from paired rows. The two inputs must describe the same observations in the same order. Call fit before predict.</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model.predict(input_table) returns one prediction per input row. Use the same feature columns and order as during training. Prediction uses learned settings; it does not refit the model.</a:t>
            </a:r>
          </a:p>
          <a:p xmlns:a="http://schemas.openxmlformats.org/drawingml/2006/main">
            <a:r>
              <a:t/>
            </a:r>
          </a:p>
          <a:p xmlns:a="http://schemas.openxmlformats.org/drawingml/2006/main">
            <a:r>
              <a:t>values[:5] selects positions 0 through 4, or fewer if the sequence is shorter. The stop position is excluded. This preview does not change the full array stored in the variable.</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common machine-learning conventions. Some tutorials write train_x and train_y instead. The names are chosen by the programmer, not special Python keywords. Keep training_data as the full table; selecting X_train must exclude target. Rows in X and y must stay paired. fit uses training pairs; predict receives only X_valid. Compare predictions with y_valid afterwards.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X_train contains the input columns; y_train contains their observed targets. X_valid contains the same input columns for validation; y_valid holds the answers for checking predictions. Never include target among the inputs.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X_train contains the input columns; y_train contains their observed targets. X_valid contains the same input columns for validation; y_valid holds the answers for checking predictions. Never include target among the inputs.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X_train = training_data[feature_columns]</a:t>
            </a:r>
          </a:p>
          <a:p xmlns:a="http://schemas.openxmlformats.org/drawingml/2006/main">
            <a:r>
              <a:t>X_train stores training input columns, excluding the target.</a:t>
            </a:r>
          </a:p>
          <a:p xmlns:a="http://schemas.openxmlformats.org/drawingml/2006/main">
            <a:r>
              <a:t/>
            </a:r>
          </a:p>
          <a:p xmlns:a="http://schemas.openxmlformats.org/drawingml/2006/main">
            <a:r>
              <a:t>y_train = training_data['target']</a:t>
            </a:r>
          </a:p>
          <a:p xmlns:a="http://schemas.openxmlformats.org/drawingml/2006/main">
            <a:r>
              <a:t>y_train stores observed training targets in matching row order.</a:t>
            </a:r>
          </a:p>
          <a:p xmlns:a="http://schemas.openxmlformats.org/drawingml/2006/main">
            <a:r>
              <a:t/>
            </a:r>
          </a:p>
          <a:p xmlns:a="http://schemas.openxmlformats.org/drawingml/2006/main">
            <a:r>
              <a:t>X_valid = validation_data[feature_columns]</a:t>
            </a:r>
          </a:p>
          <a:p xmlns:a="http://schemas.openxmlformats.org/drawingml/2006/main">
            <a:r>
              <a:t>X_valid stores validation input columns in training-column order.</a:t>
            </a:r>
          </a:p>
          <a:p xmlns:a="http://schemas.openxmlformats.org/drawingml/2006/main">
            <a:r>
              <a:t/>
            </a:r>
          </a:p>
          <a:p xmlns:a="http://schemas.openxmlformats.org/drawingml/2006/main">
            <a:r>
              <a:t>y_valid = validation_data['target']</a:t>
            </a:r>
          </a:p>
          <a:p xmlns:a="http://schemas.openxmlformats.org/drawingml/2006/main">
            <a:r>
              <a:t>y_valid stores observed validation targets, used only for evaluation.</a:t>
            </a:r>
          </a:p>
          <a:p xmlns:a="http://schemas.openxmlformats.org/drawingml/2006/main">
            <a:r>
              <a:t/>
            </a:r>
          </a:p>
          <a:p xmlns:a="http://schemas.openxmlformats.org/drawingml/2006/main">
            <a:r>
              <a:t>from sklearn.impute import SimpleImputer</a:t>
            </a:r>
          </a:p>
          <a:p xmlns:a="http://schemas.openxmlformats.org/drawingml/2006/main">
            <a:r>
              <a:t>Load the named tools. Importing a model class does not train a model.</a:t>
            </a:r>
          </a:p>
          <a:p xmlns:a="http://schemas.openxmlformats.org/drawingml/2006/main">
            <a:r>
              <a:t/>
            </a:r>
          </a:p>
          <a:p xmlns:a="http://schemas.openxmlformats.org/drawingml/2006/main">
            <a:r>
              <a:t>from sklearn.pipeline import make_pipeline</a:t>
            </a:r>
          </a:p>
          <a:p xmlns:a="http://schemas.openxmlformats.org/drawingml/2006/main">
            <a:r>
              <a:t>Load the named tools. Importing a model class does not train a model.</a:t>
            </a:r>
          </a:p>
          <a:p xmlns:a="http://schemas.openxmlformats.org/drawingml/2006/main">
            <a:r>
              <a:t/>
            </a:r>
          </a:p>
          <a:p xmlns:a="http://schemas.openxmlformats.org/drawingml/2006/main">
            <a:r>
              <a:t>from sklearn.linear_model import LinearRegression</a:t>
            </a:r>
          </a:p>
          <a:p xmlns:a="http://schemas.openxmlformats.org/drawingml/2006/main">
            <a:r>
              <a:t>Load the named tools. Importing a model class does not train a model.</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Creating an estimator sets up an empty model. fit learns settings from training inputs and their targets. predict uses those learned settings on new inputs; it does not learn from the validation targets.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Creating an estimator sets up an empty model. fit learns settings from training inputs and their targets. predict uses those learned settings on new inputs; it does not learn from the validation targets.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linear_model = make_pipeline(SimpleImputer(strategy='median'), LinearRegression())</a:t>
            </a:r>
          </a:p>
          <a:p xmlns:a="http://schemas.openxmlformats.org/drawingml/2006/main">
            <a:r>
              <a:t>linear_model stores the linear regression estimator or imputation-and-regression pipeline.</a:t>
            </a:r>
          </a:p>
          <a:p xmlns:a="http://schemas.openxmlformats.org/drawingml/2006/main">
            <a:r>
              <a:t/>
            </a:r>
          </a:p>
          <a:p xmlns:a="http://schemas.openxmlformats.org/drawingml/2006/main">
            <a:r>
              <a:t>linear_model.fit(X_train, y_train)</a:t>
            </a:r>
          </a:p>
          <a:p xmlns:a="http://schemas.openxmlformats.org/drawingml/2006/main">
            <a:r>
              <a:t>model.fit(input_table, observed_targets) learns model settings from paired rows. The two inputs must describe the same observations in the same order. Call fit before predict.</a:t>
            </a:r>
          </a:p>
          <a:p xmlns:a="http://schemas.openxmlformats.org/drawingml/2006/main">
            <a:r>
              <a:t/>
            </a:r>
          </a:p>
          <a:p xmlns:a="http://schemas.openxmlformats.org/drawingml/2006/main">
            <a:r>
              <a:t>validation_predictions = linear_model.predict(X_valid)</a:t>
            </a:r>
          </a:p>
          <a:p xmlns:a="http://schemas.openxmlformats.org/drawingml/2006/main">
            <a:r>
              <a:t>validation_predictions stores one predicted target for each validation row, in the same order.</a:t>
            </a:r>
          </a:p>
          <a:p xmlns:a="http://schemas.openxmlformats.org/drawingml/2006/main">
            <a:r>
              <a:t/>
            </a:r>
          </a:p>
          <a:p xmlns:a="http://schemas.openxmlformats.org/drawingml/2006/main">
            <a:r>
              <a:t>print(validation_predictions[:5].round(3).tolist())</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[11.79, 9.69, 14.015, 8.537, 10.471]</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fold takes a turn at validation</a:t>
            </a:r>
          </a:p>
          <a:p xmlns:a="http://schemas.openxmlformats.org/drawingml/2006/main">
            <a:r>
              <a:t>Explanation to give</a:t>
            </a:r>
          </a:p>
          <a:p xmlns:a="http://schemas.openxmlformats.org/drawingml/2006/main">
            <a:r>
              <a:t>A parameter is learned during fit. A hyperparameter is chosen as a setting. Cross-validation repeats fitting with different held-out portions of the development data to assess choices more steadily.</a:t>
            </a:r>
          </a:p>
          <a:p xmlns:a="http://schemas.openxmlformats.org/drawingml/2006/main">
            <a:r>
              <a:t/>
            </a:r>
          </a:p>
          <a:p xmlns:a="http://schemas.openxmlformats.org/drawingml/2006/main">
            <a:r>
              <a:t>Worked illustration / lecturer answer</a:t>
            </a:r>
          </a:p>
          <a:p xmlns:a="http://schemas.openxmlformats.org/drawingml/2006/main">
            <a:r>
              <a:t>If validation errors are 2, 3 and 4, the mean is 3. Their spread indicates sensitivity to the held-out portion. A standard deviation describes that spread; it is not automatically a confidence interval.</a:t>
            </a:r>
          </a:p>
          <a:p xmlns:a="http://schemas.openxmlformats.org/drawingml/2006/main">
            <a:r>
              <a:t/>
            </a:r>
          </a:p>
          <a:p xmlns:a="http://schemas.openxmlformats.org/drawingml/2006/main">
            <a:r>
              <a:t>Misconception to address</a:t>
            </a:r>
          </a:p>
          <a:p xmlns:a="http://schemas.openxmlformats.org/drawingml/2006/main">
            <a:r>
              <a:t>Fit preprocessing separately within each training fold. Keep groups or time order intact where required. The final test remains separate from tuning.</a:t>
            </a:r>
          </a:p>
          <a:p xmlns:a="http://schemas.openxmlformats.org/drawingml/2006/main">
            <a:r>
              <a:t/>
            </a:r>
          </a:p>
          <a:p xmlns:a="http://schemas.openxmlformats.org/drawingml/2006/main">
            <a:r>
              <a:t>On this slide</a:t>
            </a:r>
          </a:p>
          <a:p xmlns:a="http://schemas.openxmlformats.org/drawingml/2006/main">
            <a:r>
              <a:t>Illustrated spread: population SD 0.39 MPa, not a confidence interval.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only the E1–E4 training partition here. E5 remains the separate validation partition and E6 the final test_data. The imputer is refitted within each training fold.</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labelled column</a:t>
            </a:r>
          </a:p>
          <a:p xmlns:a="http://schemas.openxmlformats.org/drawingml/2006/main">
            <a:r>
              <a:t>pd.Series(values) creates a one-dimensional labelled sequence. With an array of fold errors, the default labels are 0, 1, 2 and so on.</a:t>
            </a:r>
          </a:p>
          <a:p xmlns:a="http://schemas.openxmlformats.org/drawingml/2006/main">
            <a:r>
              <a:t/>
            </a:r>
          </a:p>
          <a:p xmlns:a="http://schemas.openxmlformats.org/drawingml/2006/main">
            <a:r>
              <a:t>Mean of recorded values</a:t>
            </a:r>
          </a:p>
          <a:p xmlns:a="http://schemas.openxmlformats.org/drawingml/2006/main">
            <a:r>
              <a:t>series.mean() adds known values and divides by their count. pandas skips missing values by default. The result has the same unit as the original column.</a:t>
            </a:r>
          </a:p>
          <a:p xmlns:a="http://schemas.openxmlformats.org/drawingml/2006/main">
            <a:r>
              <a:t/>
            </a:r>
          </a:p>
          <a:p xmlns:a="http://schemas.openxmlformats.org/drawingml/2006/main">
            <a:r>
              <a:t>Spread of fold errors</a:t>
            </a:r>
          </a:p>
          <a:p xmlns:a="http://schemas.openxmlformats.org/drawingml/2006/main">
            <a:r>
              <a:t>series.std(ddof=0) measures how far values spread around their mean. ddof=0 divides squared deviations by the number of values. This describes these folds, not a confidence interval.</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GroupKFold(n_splits=4) creates four train/validation splits. All rows of an equipment group stay on one side of each split. Four splits require at least four distinct training groups.</a:t>
            </a:r>
          </a:p>
          <a:p xmlns:a="http://schemas.openxmlformats.org/drawingml/2006/main">
            <a:r>
              <a:t/>
            </a:r>
          </a:p>
          <a:p xmlns:a="http://schemas.openxmlformats.org/drawingml/2006/main">
            <a:r>
              <a:t>cross_val_score fits a fresh model for each split and scores its held-out rows. groups identifies the equipment groups and cv supplies the split rule. neg_mean_absolute_error returns negative MAE; negate it to report positive errors.</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folds means four held-out group turns. In each turn, learn a fresh pipeline on the other training groups and score the held-out group. This uses training_data only; validation and test tables stay outside this calculation.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folds means four held-out group turns. In each turn, learn a fresh pipeline on the other training groups and score the held-out group. This uses training_data only; validation and test tables stay outside this calculation.</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from sklearn.model_selection import GroupKFold, cross_val_score</a:t>
            </a:r>
          </a:p>
          <a:p xmlns:a="http://schemas.openxmlformats.org/drawingml/2006/main">
            <a:r>
              <a:t>Load the named tools. Importing a model class does not train a model.</a:t>
            </a:r>
          </a:p>
          <a:p xmlns:a="http://schemas.openxmlformats.org/drawingml/2006/main">
            <a:r>
              <a:t/>
            </a:r>
          </a:p>
          <a:p xmlns:a="http://schemas.openxmlformats.org/drawingml/2006/main">
            <a:r>
              <a:t>grouped_folds = GroupKFold(n_splits=4)</a:t>
            </a:r>
          </a:p>
          <a:p xmlns:a="http://schemas.openxmlformats.org/drawingml/2006/main">
            <a:r>
              <a:t>grouped_folds stores the split rule that keeps observations from one equipment group together.</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scikit-learn uses larger scores as better. neg_mean_absolute_error therefore returns negative errors. Negate the returned scores to recover ordinary positive MAE; lower MAE is better.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scikit-learn uses larger scores as better. neg_mean_absolute_error therefore returns negative errors. Negate the returned scores to recover ordinary positive MAE; lower MAE is better.</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negative_error_scores = cross_val_score(linear_model, X_train, y_train, groups=training_data['equipment_id'], cv=grouped_folds, scoring='neg_mean_absolute_error')</a:t>
            </a:r>
          </a:p>
          <a:p xmlns:a="http://schemas.openxmlformats.org/drawingml/2006/main">
            <a:r>
              <a:t>negative_error_scores stores negative mean absolute errors returned by scikit-learn’s scoring convention.</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value is the MAE of one held-out fold. mean gives average error. std(ddof=0) describes spread across these four errors; it is not a confidence interval. A large spread suggests performance depends on the held-out equipment.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value is the MAE of one held-out fold. mean gives average error. std(ddof=0) describes spread across these four errors; it is not a confidence interval. A large spread suggests performance depends on the held-out equipment.</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fold_absolute_errors = pd.Series(-negative_error_scores)</a:t>
            </a:r>
          </a:p>
          <a:p xmlns:a="http://schemas.openxmlformats.org/drawingml/2006/main">
            <a:r>
              <a:t>fold_absolute_errors stores positive mean absolute error for each validation fold.</a:t>
            </a:r>
          </a:p>
          <a:p xmlns:a="http://schemas.openxmlformats.org/drawingml/2006/main">
            <a:r>
              <a:t/>
            </a:r>
          </a:p>
          <a:p xmlns:a="http://schemas.openxmlformats.org/drawingml/2006/main">
            <a:r>
              <a:t>print(fold_absolute_errors.round(4).tolist())</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print(round(float(fold_absolute_errors.mean()), 4))</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print(round(float(fold_absolute_errors.std(ddof=0)), 4))</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[0.5657, 0.7333, 0.7221, 0.7835]</a:t>
            </a:r>
          </a:p>
          <a:p xmlns:a="http://schemas.openxmlformats.org/drawingml/2006/main">
            <a:r>
              <a:t>0.7012</a:t>
            </a:r>
          </a:p>
          <a:p xmlns:a="http://schemas.openxmlformats.org/drawingml/2006/main">
            <a:r>
              <a:t>0.0815</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original function names and return types. Do not read a fixed CSV inside the assessed function: hidden tests supply different equipment_records. The separate calling cell reads the CSV.</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Returning a dictionary</a:t>
            </a:r>
          </a:p>
          <a:p xmlns:a="http://schemas.openxmlformats.org/drawingml/2006/main">
            <a:r>
              <a:t>series.to_dict() maps Series labels to values. equipment_data.to_dict("records") instead returns a list of row dictionaries. Choose the form required by the assignment.</a:t>
            </a:r>
          </a:p>
          <a:p xmlns:a="http://schemas.openxmlformats.org/drawingml/2006/main">
            <a:r>
              <a:t/>
            </a:r>
          </a:p>
          <a:p xmlns:a="http://schemas.openxmlformats.org/drawingml/2006/main">
            <a:r>
              <a:t>A table from Python values</a:t>
            </a:r>
          </a:p>
          <a:p xmlns:a="http://schemas.openxmlformats.org/drawingml/2006/main">
            <a:r>
              <a:t>pd.DataFrame(records) builds a table from row dictionaries. With a dictionary of column lists, keys become column names and each list supplies that column’s values.</a:t>
            </a:r>
          </a:p>
          <a:p xmlns:a="http://schemas.openxmlformats.org/drawingml/2006/main">
            <a:r>
              <a:t/>
            </a:r>
          </a:p>
          <a:p xmlns:a="http://schemas.openxmlformats.org/drawingml/2006/main">
            <a:r>
              <a:t>Grouping rows</a:t>
            </a:r>
          </a:p>
          <a:p xmlns:a="http://schemas.openxmlformats.org/drawingml/2006/main">
            <a:r>
              <a:t>equipment_data.groupby("label")["value"] groups the value column by matching labels. Apply mean() or sum() to calculate one result per group. Missing group labels are excluded by default.</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 gives a reusable block a name and input parameters. The indented statements run when it is called. return sends a result back to the caller; print displays a result but does not return it.</a:t>
            </a:r>
          </a:p>
          <a:p xmlns:a="http://schemas.openxmlformats.org/drawingml/2006/main">
            <a:r>
              <a:t>Explain these operations before running the following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 gives a reusable block a name and input parameters. The indented statements run when it is called. return sends a result back to the caller; print displays a result but does not return it.</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def mean_load_by_equipment(equipment_records):</a:t>
            </a:r>
          </a:p>
          <a:p xmlns:a="http://schemas.openxmlformats.org/drawingml/2006/main">
            <a:r>
              <a:t>    equipment_data = pd.DataFrame(equipment_records)</a:t>
            </a:r>
          </a:p>
          <a:p xmlns:a="http://schemas.openxmlformats.org/drawingml/2006/main">
            <a:r>
              <a:t>    mean_load_by_equipment_group = equipment_data.groupby('equipment_id')['load_pct'].mean()</a:t>
            </a:r>
          </a:p>
          <a:p xmlns:a="http://schemas.openxmlformats.org/drawingml/2006/main">
            <a:r>
              <a:t>    return mean_load_by_equipment_group.to_dict()</a:t>
            </a:r>
          </a:p>
          <a:p xmlns:a="http://schemas.openxmlformats.org/drawingml/2006/main">
            <a:r>
              <a:t>Define the function. Explain each input before the call. Its body runs only when called; return supplies the computed value.</a:t>
            </a:r>
          </a:p>
          <a:p xmlns:a="http://schemas.openxmlformats.org/drawingml/2006/main">
            <a:r>
              <a:t/>
            </a:r>
          </a:p>
          <a:p xmlns:a="http://schemas.openxmlformats.org/drawingml/2006/main">
            <a:r>
              <a:t>equipment_records = raw_data.to_dict('records')</a:t>
            </a:r>
          </a:p>
          <a:p xmlns:a="http://schemas.openxmlformats.org/drawingml/2006/main">
            <a:r>
              <a:t>equipment_records stores the input list of row dictionaries supplied to the function.</a:t>
            </a:r>
          </a:p>
          <a:p xmlns:a="http://schemas.openxmlformats.org/drawingml/2006/main">
            <a:r>
              <a:t/>
            </a:r>
          </a:p>
          <a:p xmlns:a="http://schemas.openxmlformats.org/drawingml/2006/main">
            <a:r>
              <a:t>print(mean_load_by_equipment(equipment_records))</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{'E1': 54.9475, 'E2': 61.326, 'E3': 53.46933333333333, 'E4': 66.854, 'E5': 48.10133333333333, 'E6': 51.54}</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issued task</a:t>
            </a:r>
          </a:p>
          <a:p xmlns:a="http://schemas.openxmlformats.org/drawingml/2006/main">
            <a:r>
              <a:t>Explanation to give</a:t>
            </a:r>
          </a:p>
          <a:p xmlns:a="http://schemas.openxmlformats.org/drawingml/2006/main">
            <a:r>
              <a:t>Name this cohort’s target and its unit exactly as displayed. Each row is one operating observation, while equipment_id can repeat across several observations.</a:t>
            </a:r>
          </a:p>
          <a:p xmlns:a="http://schemas.openxmlformats.org/drawingml/2006/main">
            <a:r>
              <a:t/>
            </a:r>
          </a:p>
          <a:p xmlns:a="http://schemas.openxmlformats.org/drawingml/2006/main">
            <a:r>
              <a:t>Worked illustration / lecturer answer</a:t>
            </a:r>
          </a:p>
          <a:p xmlns:a="http://schemas.openxmlformats.org/drawingml/2006/main">
            <a:r>
              <a:t>Explain record_id as the identifier of an observation, load_pct as load expressed in percent and ambient_c as temperature in degrees Celsius. The target records the known answer in training data.</a:t>
            </a:r>
          </a:p>
          <a:p xmlns:a="http://schemas.openxmlformats.org/drawingml/2006/main">
            <a:r>
              <a:t/>
            </a:r>
          </a:p>
          <a:p xmlns:a="http://schemas.openxmlformats.org/drawingml/2006/main">
            <a:r>
              <a:t>Misconception to address</a:t>
            </a:r>
          </a:p>
          <a:p xmlns:a="http://schemas.openxmlformats.org/drawingml/2006/main">
            <a:r>
              <a:t>These are synthetic examples for learning. They do not establish a calibrated physical relationship or justify operation of real equipment.</a:t>
            </a:r>
          </a:p>
          <a:p xmlns:a="http://schemas.openxmlformats.org/drawingml/2006/main">
            <a:r>
              <a:t/>
            </a:r>
          </a:p>
          <a:p xmlns:a="http://schemas.openxmlformats.org/drawingml/2006/main">
            <a:r>
              <a:t>On this slide</a:t>
            </a:r>
          </a:p>
          <a:p xmlns:a="http://schemas.openxmlformats.org/drawingml/2006/main">
            <a:r>
              <a:t>Investigate crusher energy demand.</a:t>
            </a:r>
          </a:p>
          <a:p xmlns:a="http://schemas.openxmlformats.org/drawingml/2006/main">
            <a:r>
              <a:t/>
            </a:r>
          </a:p>
          <a:p xmlns:a="http://schemas.openxmlformats.org/drawingml/2006/main">
            <a:r>
              <a:t>Target units: kWh/t.</a:t>
            </a:r>
          </a:p>
          <a:p xmlns:a="http://schemas.openxmlformats.org/drawingml/2006/main">
            <a:r>
              <a:t/>
            </a:r>
          </a:p>
          <a:p xmlns:a="http://schemas.openxmlformats.org/drawingml/2006/main">
            <a:r>
              <a:t>These are synthetic teaching records, not measurements suitable for deployment.</a:t>
            </a:r>
          </a:p>
          <a:p xmlns:a="http://schemas.openxmlformats.org/drawingml/2006/main">
            <a:r>
              <a:t/>
            </a:r>
          </a:p>
          <a:p xmlns:a="http://schemas.openxmlformats.org/drawingml/2006/main">
            <a:r>
              <a:t>Each record is one operating observation; equipment_id repeats across observations.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Required interface: group_split(records)</a:t>
            </a:r>
          </a:p>
          <a:p xmlns:a="http://schemas.openxmlformats.org/drawingml/2006/main">
            <a:r>
              <a:t/>
            </a:r>
          </a:p>
          <a:p xmlns:a="http://schemas.openxmlformats.org/drawingml/2006/main">
            <a:r>
              <a:t>Assign whole equipment groups: E1–E4 to train, E5 to validation, E6 to test.</a:t>
            </a:r>
          </a:p>
          <a:p xmlns:a="http://schemas.openxmlformats.org/drawingml/2006/main">
            <a:r>
              <a:t/>
            </a:r>
          </a:p>
          <a:p xmlns:a="http://schemas.openxmlformats.org/drawingml/2006/main">
            <a:r>
              <a:t>Return train, validation and test lists of record_id in input order.</a:t>
            </a:r>
          </a:p>
          <a:p xmlns:a="http://schemas.openxmlformats.org/drawingml/2006/main">
            <a:r>
              <a:t/>
            </a:r>
          </a:p>
          <a:p xmlns:a="http://schemas.openxmlformats.org/drawingml/2006/main">
            <a:r>
              <a:t>Do not use target values to choose membership.</a:t>
            </a:r>
          </a:p>
          <a:p xmlns:a="http://schemas.openxmlformats.org/drawingml/2006/main">
            <a:r>
              <a:t/>
            </a:r>
          </a:p>
          <a:p xmlns:a="http://schemas.openxmlformats.org/drawingml/2006/main">
            <a:r>
              <a:t>Keep these exact output keys and the function name. You may use descriptive local variable names, such as true_positive_count, but the returned dictionary must use the published key, such as tp. The grader checks keys and values; changing a key changes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Required interface: predict_regression(training_records, feature_records)</a:t>
            </a:r>
          </a:p>
          <a:p xmlns:a="http://schemas.openxmlformats.org/drawingml/2006/main">
            <a:r>
              <a:t/>
            </a:r>
          </a:p>
          <a:p xmlns:a="http://schemas.openxmlformats.org/drawingml/2006/main">
            <a:r>
              <a:t>Fit a training-mean baseline, linear regression and a decision tree (max_depth=4, random_state=17) using load_pct and ambient_c only.</a:t>
            </a:r>
          </a:p>
          <a:p xmlns:a="http://schemas.openxmlformats.org/drawingml/2006/main">
            <a:r>
              <a:t/>
            </a:r>
          </a:p>
          <a:p xmlns:a="http://schemas.openxmlformats.org/drawingml/2006/main">
            <a:r>
              <a:t>Return three prediction lists under baseline, linear and tree.</a:t>
            </a:r>
          </a:p>
          <a:p xmlns:a="http://schemas.openxmlformats.org/drawingml/2006/main">
            <a:r>
              <a:t/>
            </a:r>
          </a:p>
          <a:p xmlns:a="http://schemas.openxmlformats.org/drawingml/2006/main">
            <a:r>
              <a:t>Feature records have no target.</a:t>
            </a:r>
          </a:p>
          <a:p xmlns:a="http://schemas.openxmlformats.org/drawingml/2006/main">
            <a:r>
              <a:t/>
            </a:r>
          </a:p>
          <a:p xmlns:a="http://schemas.openxmlformats.org/drawingml/2006/main">
            <a:r>
              <a:t>Fit preprocessing only on training data.</a:t>
            </a:r>
          </a:p>
          <a:p xmlns:a="http://schemas.openxmlformats.org/drawingml/2006/main">
            <a:r>
              <a:t/>
            </a:r>
          </a:p>
          <a:p xmlns:a="http://schemas.openxmlformats.org/drawingml/2006/main">
            <a:r>
              <a:t>Keep these exact output keys and the function name. You may use descriptive local variable names, such as true_positive_count, but the returned dictionary must use the published key, such as tp. The grader checks keys and values; changing a key changes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Written evidence</a:t>
            </a:r>
          </a:p>
          <a:p xmlns:a="http://schemas.openxmlformats.org/drawingml/2006/main">
            <a:r>
              <a:t>Explanation to give</a:t>
            </a:r>
          </a:p>
          <a:p xmlns:a="http://schemas.openxmlformats.org/drawingml/2006/main">
            <a:r>
              <a:t>Show the actual markdown answer cell headed My written evidence. This is where the learner explains the choices and the supplied scenario in their own words.</a:t>
            </a:r>
          </a:p>
          <a:p xmlns:a="http://schemas.openxmlformats.org/drawingml/2006/main">
            <a:r>
              <a:t/>
            </a:r>
          </a:p>
          <a:p xmlns:a="http://schemas.openxmlformats.org/drawingml/2006/main">
            <a:r>
              <a:t>Worked illustration / lecturer answer</a:t>
            </a:r>
          </a:p>
          <a:p xmlns:a="http://schemas.openxmlformats.org/drawingml/2006/main">
            <a:r>
              <a:t>A useful explanation connects a decision to a named result and its limitation: for example, why a training-only median avoids using evaluation information. Describe supplied scenario figures as supplied, not as measurements the learner produced.</a:t>
            </a:r>
          </a:p>
          <a:p xmlns:a="http://schemas.openxmlformats.org/drawingml/2006/main">
            <a:r>
              <a:t/>
            </a:r>
          </a:p>
          <a:p xmlns:a="http://schemas.openxmlformats.org/drawingml/2006/main">
            <a:r>
              <a:t>Misconception to address</a:t>
            </a:r>
          </a:p>
          <a:p xmlns:a="http://schemas.openxmlformats.org/drawingml/2006/main">
            <a:r>
              <a:t>Prompts and copied code comments do not substitute for the learner’s reasoning. Weekly work and tests use the notebook; projects also require their separate readable report.</a:t>
            </a:r>
          </a:p>
          <a:p xmlns:a="http://schemas.openxmlformats.org/drawingml/2006/main">
            <a:r>
              <a:t/>
            </a:r>
          </a:p>
          <a:p xmlns:a="http://schemas.openxmlformats.org/drawingml/2006/main">
            <a:r>
              <a:t>On this slide</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Validation and trust submission</a:t>
            </a:r>
          </a:p>
          <a:p xmlns:a="http://schemas.openxmlformats.org/drawingml/2006/main">
            <a:r>
              <a:t>Explanation to give</a:t>
            </a:r>
          </a:p>
          <a:p xmlns:a="http://schemas.openxmlformats.org/drawingml/2006/main">
            <a:r>
              <a:t>This slide hands over CML3113 W10. Show the exact form title before uploading. The required packet is one completed .ipynb notebook.</a:t>
            </a:r>
          </a:p>
          <a:p xmlns:a="http://schemas.openxmlformats.org/drawingml/2006/main">
            <a:r>
              <a:t/>
            </a:r>
          </a:p>
          <a:p xmlns:a="http://schemas.openxmlformats.org/drawingml/2006/main">
            <a:r>
              <a:t>Worked illustration / lecturer answer</a:t>
            </a:r>
          </a:p>
          <a:p xmlns:a="http://schemas.openxmlformats.org/drawingml/2006/main">
            <a:r>
              <a:t>The recorded cutoff for this form is 2026-11-20T08:00:00+03:00. Check the live form for later changes. A replacement must contain the complete required file set, not just the changed file.</a:t>
            </a:r>
          </a:p>
          <a:p xmlns:a="http://schemas.openxmlformats.org/drawingml/2006/main">
            <a:r>
              <a:t/>
            </a:r>
          </a:p>
          <a:p xmlns:a="http://schemas.openxmlformats.org/drawingml/2006/main">
            <a:r>
              <a:t>Misconception to address</a:t>
            </a:r>
          </a:p>
          <a:p xmlns:a="http://schemas.openxmlformats.org/drawingml/2006/main">
            <a:r>
              <a:t>Students enter their own Student Registration Number as required freeform text. They wait for filenames to appear, press Submit and keep the confirmation. A file saved in Drive or GitHub is not itself a form submission.</a:t>
            </a:r>
          </a:p>
          <a:p xmlns:a="http://schemas.openxmlformats.org/drawingml/2006/main">
            <a:r>
              <a:t/>
            </a:r>
          </a:p>
          <a:p xmlns:a="http://schemas.openxmlformats.org/drawingml/2006/main">
            <a:r>
              <a:t>On this slide</a:t>
            </a:r>
          </a:p>
          <a:p xmlns:a="http://schemas.openxmlformats.org/drawingml/2006/main">
            <a:r>
              <a:t>Opens: 13 Nov 2026, 08:00 Kampala</a:t>
            </a:r>
          </a:p>
          <a:p xmlns:a="http://schemas.openxmlformats.org/drawingml/2006/main">
            <a:r>
              <a:t/>
            </a:r>
          </a:p>
          <a:p xmlns:a="http://schemas.openxmlformats.org/drawingml/2006/main">
            <a:r>
              <a:t>Deadline: 20 Nov 2026, 08:00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10 quiz</a:t>
            </a:r>
          </a:p>
          <a:p xmlns:a="http://schemas.openxmlformats.org/drawingml/2006/main">
            <a:r>
              <a:t>Explanation to give</a:t>
            </a:r>
          </a:p>
          <a:p xmlns:a="http://schemas.openxmlformats.org/drawingml/2006/main">
            <a:r>
              <a:t>This is the CML3113 Week 1 quiz. The student link opens the response form; it does not activate its window. In Quiz Controls use open_W1_CML3113 when ready and read the logged closing time.</a:t>
            </a:r>
          </a:p>
          <a:p xmlns:a="http://schemas.openxmlformats.org/drawingml/2006/main">
            <a:r>
              <a:t/>
            </a:r>
          </a:p>
          <a:p xmlns:a="http://schemas.openxmlformats.org/drawingml/2006/main">
            <a:r>
              <a:t>Worked illustration / lecturer answer</a:t>
            </a:r>
          </a:p>
          <a:p xmlns:a="http://schemas.openxmlformats.org/drawingml/2006/main">
            <a:r>
              <a:t>Explain the distinction between the expected answering time and availability: five minutes of questions can still be available for 24 hours after activation. Enter the learner’s own Student Registration Number and use the registered Google account.</a:t>
            </a:r>
          </a:p>
          <a:p xmlns:a="http://schemas.openxmlformats.org/drawingml/2006/main">
            <a:r>
              <a:t/>
            </a:r>
          </a:p>
          <a:p xmlns:a="http://schemas.openxmlformats.org/drawingml/2006/main">
            <a:r>
              <a:t>Misconception to address</a:t>
            </a:r>
          </a:p>
          <a:p xmlns:a="http://schemas.openxmlformats.org/drawingml/2006/main">
            <a:r>
              <a:t>Read the exact live cutoff before announcing it. Do not promise a new attempt to somebody who already submitted. Quiz catch-up and assignment uploads are separate forms.</a:t>
            </a:r>
          </a:p>
          <a:p xmlns:a="http://schemas.openxmlformats.org/drawingml/2006/main">
            <a:r>
              <a:t/>
            </a:r>
          </a:p>
          <a:p xmlns:a="http://schemas.openxmlformats.org/drawingml/2006/main">
            <a:r>
              <a:t>On this slide</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Check the announced quiz closing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Revision and submission checklist</a:t>
            </a:r>
          </a:p>
          <a:p xmlns:a="http://schemas.openxmlformats.org/drawingml/2006/main">
            <a:r>
              <a:t>Explanation to give</a:t>
            </a:r>
          </a:p>
          <a:p xmlns:a="http://schemas.openxmlformats.org/drawingml/2006/main">
            <a:r>
              <a:t>Connect evaluation to intended use. Decide how to hold out observations before fitting either preprocessing or the linear_model.</a:t>
            </a:r>
          </a:p>
          <a:p xmlns:a="http://schemas.openxmlformats.org/drawingml/2006/main">
            <a:r>
              <a:t/>
            </a:r>
          </a:p>
          <a:p xmlns:a="http://schemas.openxmlformats.org/drawingml/2006/main">
            <a:r>
              <a:t>Worked illustration / lecturer answer</a:t>
            </a:r>
          </a:p>
          <a:p xmlns:a="http://schemas.openxmlformats.org/drawingml/2006/main">
            <a:r>
              <a:t>When testing new equipment, all observations from equipment A stay in one partition. Training must not learn its missing-value replacements from held-out equipment.</a:t>
            </a:r>
          </a:p>
          <a:p xmlns:a="http://schemas.openxmlformats.org/drawingml/2006/main">
            <a:r>
              <a:t/>
            </a:r>
          </a:p>
          <a:p xmlns:a="http://schemas.openxmlformats.org/drawingml/2006/main">
            <a:r>
              <a:t>Misconception to address</a:t>
            </a:r>
          </a:p>
          <a:p xmlns:a="http://schemas.openxmlformats.org/drawingml/2006/main">
            <a:r>
              <a:t>Close by identifying the actual saved file and its correct submission route. Read the live deadline. For current weekly notebook tasks, students upload their own work, not the practice notebook, ZIP or grading files.</a:t>
            </a:r>
          </a:p>
          <a:p xmlns:a="http://schemas.openxmlformats.org/drawingml/2006/main">
            <a:r>
              <a:t/>
            </a:r>
          </a:p>
          <a:p xmlns:a="http://schemas.openxmlformats.org/drawingml/2006/main">
            <a:r>
              <a:t>On this slide</a:t>
            </a:r>
          </a:p>
          <a:p xmlns:a="http://schemas.openxmlformats.org/drawingml/2006/main">
            <a:r>
              <a:t>You can identify which records may influence preprocessing and model selection.</a:t>
            </a:r>
          </a:p>
          <a:p xmlns:a="http://schemas.openxmlformats.org/drawingml/2006/main">
            <a:r>
              <a:t/>
            </a:r>
          </a:p>
          <a:p xmlns:a="http://schemas.openxmlformats.org/drawingml/2006/main">
            <a:r>
              <a:t>Save your work and check the required submission 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revision video</a:t>
            </a:r>
          </a:p>
          <a:p xmlns:a="http://schemas.openxmlformats.org/drawingml/2006/main">
            <a:r>
              <a:t>Explanation to give</a:t>
            </a:r>
          </a:p>
          <a:p xmlns:a="http://schemas.openxmlformats.org/drawingml/2006/main">
            <a:r>
              <a:t>Give the viewing question before playing the excerpt: Why evaluate using observations not used to fit that particular model?</a:t>
            </a:r>
          </a:p>
          <a:p xmlns:a="http://schemas.openxmlformats.org/drawingml/2006/main">
            <a:r>
              <a:t/>
            </a:r>
          </a:p>
          <a:p xmlns:a="http://schemas.openxmlformats.org/drawingml/2006/main">
            <a:r>
              <a:t>Worked illustration / lecturer answer</a:t>
            </a:r>
          </a:p>
          <a:p xmlns:a="http://schemas.openxmlformats.org/drawingml/2006/main">
            <a:r>
              <a:t>Use the adjacent worked example as the explanation if the video cannot load. Pause after the relevant example and connect its terms to the names and units already used in this lesson. Preview the displayed link and excerpt before class.</a:t>
            </a:r>
          </a:p>
          <a:p xmlns:a="http://schemas.openxmlformats.org/drawingml/2006/main">
            <a:r>
              <a:t/>
            </a:r>
          </a:p>
          <a:p xmlns:a="http://schemas.openxmlformats.org/drawingml/2006/main">
            <a:r>
              <a:t>Misconception to address</a:t>
            </a:r>
          </a:p>
          <a:p xmlns:a="http://schemas.openxmlformats.org/drawingml/2006/main">
            <a:r>
              <a:t>The video is supporting revision, not a replacement for defining the symbols or a requirement to watch a full tutorial during limited class time.</a:t>
            </a:r>
          </a:p>
          <a:p xmlns:a="http://schemas.openxmlformats.org/drawingml/2006/main">
            <a:r>
              <a:t/>
            </a:r>
          </a:p>
          <a:p xmlns:a="http://schemas.openxmlformats.org/drawingml/2006/main">
            <a:r>
              <a:t>On this slide</a:t>
            </a:r>
          </a:p>
          <a:p xmlns:a="http://schemas.openxmlformats.org/drawingml/2006/main">
            <a:r>
              <a:t>For revision after class.</a:t>
            </a:r>
          </a:p>
          <a:p xmlns:a="http://schemas.openxmlformats.org/drawingml/2006/main">
            <a:r>
              <a:t/>
            </a:r>
          </a:p>
          <a:p xmlns:a="http://schemas.openxmlformats.org/drawingml/2006/main">
            <a:r>
              <a:t>StatQuest with Josh Starmer</a:t>
            </a:r>
          </a:p>
          <a:p xmlns:a="http://schemas.openxmlformats.org/drawingml/2006/main">
            <a:r>
              <a:t>Machine Learning Fundamentals Cross Validation</a:t>
            </a:r>
          </a:p>
          <a:p xmlns:a="http://schemas.openxmlformats.org/drawingml/2006/main">
            <a:r>
              <a:t/>
            </a:r>
          </a:p>
          <a:p xmlns:a="http://schemas.openxmlformats.org/drawingml/2006/main">
            <a:r>
              <a:t>Opening up to 04:00, optional preview-selected excerpt</a:t>
            </a:r>
          </a:p>
          <a:p xmlns:a="http://schemas.openxmlformats.org/drawingml/2006/main">
            <a:r>
              <a:t/>
            </a:r>
          </a:p>
          <a:p xmlns:a="http://schemas.openxmlformats.org/drawingml/2006/main">
            <a:r>
              <a:t>Listening question: Why evaluate using observations not used to fit that particular model?</a:t>
            </a:r>
          </a:p>
          <a:p xmlns:a="http://schemas.openxmlformats.org/drawingml/2006/main">
            <a:r>
              <a:t/>
            </a:r>
          </a:p>
          <a:p xmlns:a="http://schemas.openxmlformats.org/drawingml/2006/main">
            <a:r>
              <a:t>Reference / existing resource</a:t>
            </a:r>
          </a:p>
          <a:p xmlns:a="http://schemas.openxmlformats.org/drawingml/2006/main">
            <a:r>
              <a:t>https://www.youtube.com/watch?v=fSytzGwwBVw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ab2b17f92954f5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07cbe6a7f124e1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242f3a55988476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eb8c82e98f34bb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04d2e27d82b4ae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b691fdf16f8402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29D217D-45A2-4736-BFB9-9136F4DEB998}"/>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3430244-ED7F-4672-BA42-FCD71968C638}"/>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19F711E-A9F5-47A0-ADB1-A3F1503EB3E5}"/>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AF52449-703B-4A4D-9D97-C1BC908225F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2083AB6-57E2-4BE5-88FC-E9F7F0820C6A}"/>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E180237-50D9-4B53-ABCE-A3BD6A607BE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32EDA39-EB8D-488C-A282-D6B177B4866A}"/>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E698A9A-CAF3-4044-B03B-EC2729895E92}"/>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1AEC8C5-7ECA-47A5-B09B-7109DCEAF02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F589901-EC6A-46E7-BD63-CB0A64FC82A4}"/>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9afa71fe0204a5e" /><Relationship Type="http://schemas.openxmlformats.org/officeDocument/2006/relationships/slideLayout" Target="/ppt/slideLayouts/slideLayout1.xml" Id="R447c4c67475a428f" /><Relationship Type="http://schemas.openxmlformats.org/officeDocument/2006/relationships/slideLayout" Target="/ppt/slideLayouts/slideLayout2.xml" Id="R6ef78a9c93764a15" /><Relationship Type="http://schemas.openxmlformats.org/officeDocument/2006/relationships/slideLayout" Target="/ppt/slideLayouts/slideLayout3.xml" Id="R22aeacbe88e646f5" /><Relationship Type="http://schemas.openxmlformats.org/officeDocument/2006/relationships/slideLayout" Target="/ppt/slideLayouts/slideLayout4.xml" Id="R2d8e665992734ede" /><Relationship Type="http://schemas.openxmlformats.org/officeDocument/2006/relationships/slideLayout" Target="/ppt/slideLayouts/slideLayout5.xml" Id="R50cd63b0bf94466e" /><Relationship Type="http://schemas.openxmlformats.org/officeDocument/2006/relationships/slideLayout" Target="/ppt/slideLayouts/slideLayout6.xml" Id="Re0ffbaa0b7f9476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47c4c67475a428f"/>
    <p:sldLayoutId xmlns:r="http://schemas.openxmlformats.org/officeDocument/2006/relationships" id="2147483650" r:id="R6ef78a9c93764a15"/>
    <p:sldLayoutId xmlns:r="http://schemas.openxmlformats.org/officeDocument/2006/relationships" id="2147483651" r:id="R22aeacbe88e646f5"/>
    <p:sldLayoutId xmlns:r="http://schemas.openxmlformats.org/officeDocument/2006/relationships" id="2147483652" r:id="R2d8e665992734ede"/>
    <p:sldLayoutId xmlns:r="http://schemas.openxmlformats.org/officeDocument/2006/relationships" id="2147483653" r:id="R50cd63b0bf94466e"/>
    <p:sldLayoutId xmlns:r="http://schemas.openxmlformats.org/officeDocument/2006/relationships" id="2147483654" r:id="Re0ffbaa0b7f9476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c905a27c79240d3" /><Relationship Type="http://schemas.openxmlformats.org/officeDocument/2006/relationships/image" Target="/ppt/media/image.png" Id="R2feac38910ab492e" /><Relationship Type="http://schemas.openxmlformats.org/officeDocument/2006/relationships/notesSlide" Target="/ppt/notesSlides/notesSlide1.xml" Id="R92c01a66133c48c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56b2f7234d743da" /><Relationship Type="http://schemas.openxmlformats.org/officeDocument/2006/relationships/notesSlide" Target="/ppt/notesSlides/notesSlide2.xml" Id="R9f4364bdebdb458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2d30e10ebf4417b" /><Relationship Type="http://schemas.openxmlformats.org/officeDocument/2006/relationships/notesSlide" Target="/ppt/notesSlides/notesSlide3.xml" Id="Rf54625bd1aec428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4b1013065de4e9d" /><Relationship Type="http://schemas.openxmlformats.org/officeDocument/2006/relationships/notesSlide" Target="/ppt/notesSlides/notesSlide4.xml" Id="R1f717fd0f0e04f4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99e3c14edf949f3" /><Relationship Type="http://schemas.openxmlformats.org/officeDocument/2006/relationships/notesSlide" Target="/ppt/notesSlides/notesSlide5.xml" Id="R41c22d5bb9da4de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cfefc2cbefd46f4" /><Relationship Type="http://schemas.openxmlformats.org/officeDocument/2006/relationships/notesSlide" Target="/ppt/notesSlides/notesSlide6.xml" Id="Rae98d3be0fb94f5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48db21c00734bce" /><Relationship Type="http://schemas.openxmlformats.org/officeDocument/2006/relationships/notesSlide" Target="/ppt/notesSlides/notesSlide7.xml" Id="Rb6f5ca74687f426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c5771c01771476e" /><Relationship Type="http://schemas.openxmlformats.org/officeDocument/2006/relationships/image" Target="/ppt/media/image2.png" Id="R507418b82835410c" /><Relationship Type="http://schemas.openxmlformats.org/officeDocument/2006/relationships/notesSlide" Target="/ppt/notesSlides/notesSlide8.xml" Id="R24acd0a13499404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ad1e9943047479f" /><Relationship Type="http://schemas.openxmlformats.org/officeDocument/2006/relationships/notesSlide" Target="/ppt/notesSlides/notesSlide9.xml" Id="Rb1c8d5b16c37441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6d2391af4fe4136" /><Relationship Type="http://schemas.openxmlformats.org/officeDocument/2006/relationships/notesSlide" Target="/ppt/notesSlides/notesSlide10.xml" Id="Rccd0ce3b6d004f5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eb31c352b2a4a59" /><Relationship Type="http://schemas.openxmlformats.org/officeDocument/2006/relationships/notesSlide" Target="/ppt/notesSlides/notesSlide11.xml" Id="R0952b003e4734fa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6b8a0d6690e4400" /><Relationship Type="http://schemas.openxmlformats.org/officeDocument/2006/relationships/notesSlide" Target="/ppt/notesSlides/notesSlide12.xml" Id="R6402dfb6e2554e1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f014c4460bb457c" /><Relationship Type="http://schemas.openxmlformats.org/officeDocument/2006/relationships/notesSlide" Target="/ppt/notesSlides/notesSlide13.xml" Id="Rd98b0348ca98420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d76c9c46c154d59" /><Relationship Type="http://schemas.openxmlformats.org/officeDocument/2006/relationships/notesSlide" Target="/ppt/notesSlides/notesSlide14.xml" Id="R8517ae380d01445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bc3b1d49b924a38" /><Relationship Type="http://schemas.openxmlformats.org/officeDocument/2006/relationships/notesSlide" Target="/ppt/notesSlides/notesSlide15.xml" Id="Rac4acad4b0e1434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1d11305393d143e8" /><Relationship Type="http://schemas.openxmlformats.org/officeDocument/2006/relationships/notesSlide" Target="/ppt/notesSlides/notesSlide16.xml" Id="R9f917c0dfd424ea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ed16a5d523d24bba" /><Relationship Type="http://schemas.openxmlformats.org/officeDocument/2006/relationships/notesSlide" Target="/ppt/notesSlides/notesSlide17.xml" Id="R5320075ec6344c5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eba56fd17ea249ca" /><Relationship Type="http://schemas.openxmlformats.org/officeDocument/2006/relationships/notesSlide" Target="/ppt/notesSlides/notesSlide18.xml" Id="R515ebb87174a46a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9200bc7a14bd4424" /><Relationship Type="http://schemas.openxmlformats.org/officeDocument/2006/relationships/notesSlide" Target="/ppt/notesSlides/notesSlide19.xml" Id="Raa3439fa45c345c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1daa2ad6fca34a09" /><Relationship Type="http://schemas.openxmlformats.org/officeDocument/2006/relationships/notesSlide" Target="/ppt/notesSlides/notesSlide20.xml" Id="R979c81ccf24d401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df032e9e2dbd43b3" /><Relationship Type="http://schemas.openxmlformats.org/officeDocument/2006/relationships/notesSlide" Target="/ppt/notesSlides/notesSlide21.xml" Id="R887ea0cce51a453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bb09b9f0bc5f4c74" /><Relationship Type="http://schemas.openxmlformats.org/officeDocument/2006/relationships/notesSlide" Target="/ppt/notesSlides/notesSlide22.xml" Id="R3db669c6ba7e4ad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684edc01362b47f0" /><Relationship Type="http://schemas.openxmlformats.org/officeDocument/2006/relationships/notesSlide" Target="/ppt/notesSlides/notesSlide23.xml" Id="R2eb1c7250a5b4c5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61411dbb37e143f5" /><Relationship Type="http://schemas.openxmlformats.org/officeDocument/2006/relationships/notesSlide" Target="/ppt/notesSlides/notesSlide24.xml" Id="R7996081375234c7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05e374a20c924611" /><Relationship Type="http://schemas.openxmlformats.org/officeDocument/2006/relationships/notesSlide" Target="/ppt/notesSlides/notesSlide25.xml" Id="Rad42b940ff5a4d4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e7067e6dd56b4dd1" /><Relationship Type="http://schemas.openxmlformats.org/officeDocument/2006/relationships/notesSlide" Target="/ppt/notesSlides/notesSlide26.xml" Id="Re15f2007efc646b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236db62928664bcb" /><Relationship Type="http://schemas.openxmlformats.org/officeDocument/2006/relationships/notesSlide" Target="/ppt/notesSlides/notesSlide27.xml" Id="Rf9afbea4a68b40b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3e1cb6c75ad44119" /><Relationship Type="http://schemas.openxmlformats.org/officeDocument/2006/relationships/notesSlide" Target="/ppt/notesSlides/notesSlide28.xml" Id="Rd55b6bdf4df343ea"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704094bad91a413f" /><Relationship Type="http://schemas.openxmlformats.org/officeDocument/2006/relationships/notesSlide" Target="/ppt/notesSlides/notesSlide29.xml" Id="Re9c815f5677e4148"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f1331096b4154986" /><Relationship Type="http://schemas.openxmlformats.org/officeDocument/2006/relationships/notesSlide" Target="/ppt/notesSlides/notesSlide30.xml" Id="Rc69acb16c9944d25"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ef0f3760c91d481f" /><Relationship Type="http://schemas.openxmlformats.org/officeDocument/2006/relationships/notesSlide" Target="/ppt/notesSlides/notesSlide31.xml" Id="Rbda4662e32624f54"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198951459da64b9a" /><Relationship Type="http://schemas.openxmlformats.org/officeDocument/2006/relationships/notesSlide" Target="/ppt/notesSlides/notesSlide32.xml" Id="R8ddeabddbaa54b08"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bb35b366b1ed46be" /><Relationship Type="http://schemas.openxmlformats.org/officeDocument/2006/relationships/image" Target="/ppt/media/image3.png" Id="R98916cb23f724233" /><Relationship Type="http://schemas.openxmlformats.org/officeDocument/2006/relationships/notesSlide" Target="/ppt/notesSlides/notesSlide33.xml" Id="R9c4e504ff9c24696"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9f121b46491c4f65" /><Relationship Type="http://schemas.openxmlformats.org/officeDocument/2006/relationships/notesSlide" Target="/ppt/notesSlides/notesSlide34.xml" Id="Rdb97cc500415420b"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907052ae5b114d64" /><Relationship Type="http://schemas.openxmlformats.org/officeDocument/2006/relationships/notesSlide" Target="/ppt/notesSlides/notesSlide35.xml" Id="R3f42f4cb6ff3424f"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a70b0be99a4e459f" /><Relationship Type="http://schemas.openxmlformats.org/officeDocument/2006/relationships/notesSlide" Target="/ppt/notesSlides/notesSlide36.xml" Id="R0b24321f60754bb5"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dbe46e3bc39f42fa" /><Relationship Type="http://schemas.openxmlformats.org/officeDocument/2006/relationships/notesSlide" Target="/ppt/notesSlides/notesSlide37.xml" Id="R9e446b71b87e4a4f"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76decd84b4b446d8" /><Relationship Type="http://schemas.openxmlformats.org/officeDocument/2006/relationships/notesSlide" Target="/ppt/notesSlides/notesSlide38.xml" Id="R597653624afc4c95"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5da18f3ea0d4430d" /><Relationship Type="http://schemas.openxmlformats.org/officeDocument/2006/relationships/notesSlide" Target="/ppt/notesSlides/notesSlide39.xml" Id="R7ced3328307f4cc5"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a751516d8fdb415b" /><Relationship Type="http://schemas.openxmlformats.org/officeDocument/2006/relationships/notesSlide" Target="/ppt/notesSlides/notesSlide40.xml" Id="R1cb4f2ea8ff148b3"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07d676e759ac4640" /><Relationship Type="http://schemas.openxmlformats.org/officeDocument/2006/relationships/notesSlide" Target="/ppt/notesSlides/notesSlide41.xml" Id="R1ce1334fd6184089"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9f2db2a6f96a4185" /><Relationship Type="http://schemas.openxmlformats.org/officeDocument/2006/relationships/notesSlide" Target="/ppt/notesSlides/notesSlide42.xml" Id="R542430264a424b5f"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7f4b1f78b8db4a58" /><Relationship Type="http://schemas.openxmlformats.org/officeDocument/2006/relationships/notesSlide" Target="/ppt/notesSlides/notesSlide43.xml" Id="Rbd22d23d19f14970"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087d8e7860864f9d" /><Relationship Type="http://schemas.openxmlformats.org/officeDocument/2006/relationships/notesSlide" Target="/ppt/notesSlides/notesSlide44.xml" Id="Rf35815b0a6e34313"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69d974f4976d46f2" /><Relationship Type="http://schemas.openxmlformats.org/officeDocument/2006/relationships/notesSlide" Target="/ppt/notesSlides/notesSlide45.xml" Id="R9e9fab9a96c94c68"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4af65e991eb341e7" /><Relationship Type="http://schemas.openxmlformats.org/officeDocument/2006/relationships/notesSlide" Target="/ppt/notesSlides/notesSlide46.xml" Id="Ra1aae81fe0174b87"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a00bb04107544888" /><Relationship Type="http://schemas.openxmlformats.org/officeDocument/2006/relationships/notesSlide" Target="/ppt/notesSlides/notesSlide47.xml" Id="R42963fbbddb440d1"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43854f4ed302404b" /><Relationship Type="http://schemas.openxmlformats.org/officeDocument/2006/relationships/notesSlide" Target="/ppt/notesSlides/notesSlide48.xml" Id="R21cbbeb074af48d6"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6a836405531d43fd" /><Relationship Type="http://schemas.openxmlformats.org/officeDocument/2006/relationships/notesSlide" Target="/ppt/notesSlides/notesSlide49.xml" Id="R09fc36ee755148e7"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c3fcb0d7a6e74e49" /><Relationship Type="http://schemas.openxmlformats.org/officeDocument/2006/relationships/notesSlide" Target="/ppt/notesSlides/notesSlide50.xml" Id="Rf40fad50e0c44268"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81b0290fa170456c" /><Relationship Type="http://schemas.openxmlformats.org/officeDocument/2006/relationships/hyperlink" Target="https://docs.google.com/forms/d/e/1FAIpQLSd0PIGgcund5zKvqtctB1dz7pekt8hubl0ZUrFL-BJc9bKGlQ/viewform" TargetMode="External" Id="Rffe97cb13fe44a37" /><Relationship Type="http://schemas.openxmlformats.org/officeDocument/2006/relationships/notesSlide" Target="/ppt/notesSlides/notesSlide51.xml" Id="Ra19c097ff9984a01"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24d3a6dd7b28439d" /><Relationship Type="http://schemas.openxmlformats.org/officeDocument/2006/relationships/image" Target="/ppt/media/image4.png" Id="R58bbc0077aea467a" /><Relationship Type="http://schemas.openxmlformats.org/officeDocument/2006/relationships/hyperlink" Target="https://forms.gle/LQPALyRC3uRvZqDJ8" TargetMode="External" Id="Rb1b72910253346d1" /><Relationship Type="http://schemas.openxmlformats.org/officeDocument/2006/relationships/notesSlide" Target="/ppt/notesSlides/notesSlide52.xml" Id="R71734c1997474831"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79690d93b7ad41f1" /><Relationship Type="http://schemas.openxmlformats.org/officeDocument/2006/relationships/notesSlide" Target="/ppt/notesSlides/notesSlide53.xml" Id="R7679b6f3a7fc4160"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59c81b1a77404583" /><Relationship Type="http://schemas.openxmlformats.org/officeDocument/2006/relationships/hyperlink" Target="https://www.youtube.com/watch?v=fSytzGwwBVw" TargetMode="External" Id="R9d98430053344d2a" /><Relationship Type="http://schemas.openxmlformats.org/officeDocument/2006/relationships/notesSlide" Target="/ppt/notesSlides/notesSlide54.xml" Id="Rb3298ae519cc421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6A800393-E84E-44DA-9634-755C2373261D}"/>
              </a:ext>
            </a:extLst>
          </p:cNvPr>
          <p:cNvPicPr>
            <a:picLocks xmlns:a="http://schemas.openxmlformats.org/drawingml/2006/main" noChangeAspect="1"/>
          </p:cNvPicPr>
          <p:nvPr/>
        </p:nvPicPr>
        <p:blipFill>
          <a:blip xmlns:r="http://schemas.openxmlformats.org/officeDocument/2006/relationships" xmlns:a="http://schemas.openxmlformats.org/drawingml/2006/main" r:embed="R2feac38910ab492e"/>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5983A5F-BF74-4571-ADA6-386012254545}"/>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92279BE-EF6E-4BFB-98E3-57F1EF14A4D0}"/>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10</a:t>
            </a:r>
          </a:p>
        </p:txBody>
      </p:sp>
      <p:sp>
        <p:nvSpPr>
          <p:cNvPr id="4" name="">
            <a:extLst xmlns:a="http://schemas.openxmlformats.org/drawingml/2006/main">
              <a:ext uri="{FF2B5EF4-FFF2-40B4-BE49-F238E27FC236}">
                <a16:creationId xmlns:a16="http://schemas.microsoft.com/office/drawing/2014/main" id="{46E187A8-D388-484B-AEDF-BD24DB148433}"/>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Honest validation and leakage</a:t>
            </a:r>
          </a:p>
        </p:txBody>
      </p:sp>
      <p:sp>
        <p:nvSpPr>
          <p:cNvPr id="5" name="">
            <a:extLst xmlns:a="http://schemas.openxmlformats.org/drawingml/2006/main">
              <a:ext uri="{FF2B5EF4-FFF2-40B4-BE49-F238E27FC236}">
                <a16:creationId xmlns:a16="http://schemas.microsoft.com/office/drawing/2014/main" id="{3C15EADB-993C-4BBE-A0B8-E17909F2D100}"/>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7E914F02-4261-4832-AE1E-E799E92FF6AD}"/>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13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210363722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813EEC4-B03A-4EFC-BB00-FE290B0E4E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BA96AA3-F38C-4263-BFAB-B634FBA2C6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BB84174-6B4B-44D1-B991-A651274E05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31D89466-D41C-4DF0-AC27-8C60B4EA931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C4B2DA0-C888-4F08-A3AA-8B4FF89514E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A5B803A-BD7F-4003-BE64-971188D9D47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pandas tables for this week’s data work. Explain the decisions and check the outputs.</a:t>
            </a:r>
          </a:p>
        </p:txBody>
      </p:sp>
      <p:sp>
        <p:nvSpPr>
          <p:cNvPr id="7" name="">
            <a:extLst xmlns:a="http://schemas.openxmlformats.org/drawingml/2006/main">
              <a:ext uri="{FF2B5EF4-FFF2-40B4-BE49-F238E27FC236}">
                <a16:creationId xmlns:a16="http://schemas.microsoft.com/office/drawing/2014/main" id="{1CA0F302-A218-4068-A28E-6164A27C2DD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Complete the issued function interfaces and written evidence using the demonstrated workflow.</a:t>
            </a:r>
          </a:p>
        </p:txBody>
      </p:sp>
      <p:sp>
        <p:nvSpPr>
          <p:cNvPr id="8" name="">
            <a:extLst xmlns:a="http://schemas.openxmlformats.org/drawingml/2006/main">
              <a:ext uri="{FF2B5EF4-FFF2-40B4-BE49-F238E27FC236}">
                <a16:creationId xmlns:a16="http://schemas.microsoft.com/office/drawing/2014/main" id="{41CC43B3-9A37-42A0-9050-C9C4BE4462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a:t>
            </a:r>
          </a:p>
        </p:txBody>
      </p:sp>
    </p:spTree>
    <p:extLst>
      <p:ext uri="{BB962C8B-B14F-4D97-AF65-F5344CB8AC3E}">
        <p14:creationId xmlns:p14="http://schemas.microsoft.com/office/powerpoint/2010/main" val="184400522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5C6AC4C-2E71-4C0F-8D54-09EAB2F0062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4077A44-B3BD-4244-B78B-51DE10E2EF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9575084-9A65-4DF9-AD56-A9E9F04F33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9F0D584F-EFA3-4D5B-8DB2-2AA676CC094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C92A254-B666-4488-91FF-FAD2FBE0165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0BB73DC-E458-4A54-9DEE-EEE32A0BFAF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it beside the notebook locally.</a:t>
            </a:r>
          </a:p>
        </p:txBody>
      </p:sp>
      <p:sp>
        <p:nvSpPr>
          <p:cNvPr id="7" name="">
            <a:extLst xmlns:a="http://schemas.openxmlformats.org/drawingml/2006/main">
              <a:ext uri="{FF2B5EF4-FFF2-40B4-BE49-F238E27FC236}">
                <a16:creationId xmlns:a16="http://schemas.microsoft.com/office/drawing/2014/main" id="{E1A25B1E-20CB-49A8-B910-4E4D1332523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06A69DF8-8F4D-4EE3-8852-1849C7F3BD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a:t>
            </a:r>
          </a:p>
        </p:txBody>
      </p:sp>
    </p:spTree>
    <p:extLst>
      <p:ext uri="{BB962C8B-B14F-4D97-AF65-F5344CB8AC3E}">
        <p14:creationId xmlns:p14="http://schemas.microsoft.com/office/powerpoint/2010/main" val="204903598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1DE5BD1-ACC7-41C3-B3F7-29CBA6A801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BC8F9AC-09D3-472A-A259-5DE4DB37C9D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592A1C1-22BC-42BA-BF9A-4F8C2E6AB9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DF2550B9-6354-4822-B6EE-927E509774A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036CAE9-7866-4D57-BEFF-26002A63AB3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and short names: import pandas as pd loads pandas and gives it the short name pd. pd.read_csv refers to a function in that library.</a:t>
            </a:r>
          </a:p>
        </p:txBody>
      </p:sp>
      <p:sp>
        <p:nvSpPr>
          <p:cNvPr id="6" name="">
            <a:extLst xmlns:a="http://schemas.openxmlformats.org/drawingml/2006/main">
              <a:ext uri="{FF2B5EF4-FFF2-40B4-BE49-F238E27FC236}">
                <a16:creationId xmlns:a16="http://schemas.microsoft.com/office/drawing/2014/main" id="{08A2D87D-81FB-4253-A6AF-4B27E1EABA9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0B85CDC-94BE-4275-8903-0CB2E3EEC55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 CSV: pd.read_csv("practice_filename.csv") reads the named file into a DataFrame: a table with labelled columns and row labels. The file must exist in the working folder.</a:t>
            </a:r>
          </a:p>
        </p:txBody>
      </p:sp>
      <p:sp>
        <p:nvSpPr>
          <p:cNvPr id="8" name="">
            <a:extLst xmlns:a="http://schemas.openxmlformats.org/drawingml/2006/main">
              <a:ext uri="{FF2B5EF4-FFF2-40B4-BE49-F238E27FC236}">
                <a16:creationId xmlns:a16="http://schemas.microsoft.com/office/drawing/2014/main" id="{E078EC87-D52D-4C2C-B6CE-888C1245A34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D0354B-7599-4025-BE81-D54DAB716F4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dimensions: equipment_data.shape gives (number of rows, number of columns). shape is a property, so it has no parentheses.</a:t>
            </a:r>
          </a:p>
        </p:txBody>
      </p:sp>
      <p:sp>
        <p:nvSpPr>
          <p:cNvPr id="10" name="">
            <a:extLst xmlns:a="http://schemas.openxmlformats.org/drawingml/2006/main">
              <a:ext uri="{FF2B5EF4-FFF2-40B4-BE49-F238E27FC236}">
                <a16:creationId xmlns:a16="http://schemas.microsoft.com/office/drawing/2014/main" id="{2BC28BCA-B7FC-4084-8BA4-6C0A4088C45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4</a:t>
            </a:r>
          </a:p>
        </p:txBody>
      </p:sp>
    </p:spTree>
    <p:extLst>
      <p:ext uri="{BB962C8B-B14F-4D97-AF65-F5344CB8AC3E}">
        <p14:creationId xmlns:p14="http://schemas.microsoft.com/office/powerpoint/2010/main" val="166571568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F3A9D91-4B2E-439F-9D28-9C9BAD48594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2132DAD-D3B3-492D-A2D1-76089469A8C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D5477AE-9996-4B25-90D1-338843C717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DB4C0F6E-15F9-40E0-AAAD-7C4B064C4FD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E861A10-C5F6-45F2-95D1-E0DBBC2D2EC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E3ED910-D170-4AF0-81EE-C6B507075BC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data types: equipment_data.dtypes reports each column’s stored type. int64 means integers, float64 means decimal numbers, and object often contains text. Numeric blanks commonly appear as NaN.</a:t>
            </a:r>
          </a:p>
        </p:txBody>
      </p:sp>
      <p:sp>
        <p:nvSpPr>
          <p:cNvPr id="7" name="">
            <a:extLst xmlns:a="http://schemas.openxmlformats.org/drawingml/2006/main">
              <a:ext uri="{FF2B5EF4-FFF2-40B4-BE49-F238E27FC236}">
                <a16:creationId xmlns:a16="http://schemas.microsoft.com/office/drawing/2014/main" id="{105833A3-AFAB-475F-A362-B98FCFAF5C2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preview of rows: equipment_data.head() returns the first five rows. It leaves the table unchanged. A preview is not the entire dataset.</a:t>
            </a:r>
          </a:p>
        </p:txBody>
      </p:sp>
      <p:sp>
        <p:nvSpPr>
          <p:cNvPr id="8" name="">
            <a:extLst xmlns:a="http://schemas.openxmlformats.org/drawingml/2006/main">
              <a:ext uri="{FF2B5EF4-FFF2-40B4-BE49-F238E27FC236}">
                <a16:creationId xmlns:a16="http://schemas.microsoft.com/office/drawing/2014/main" id="{EEDAD4E9-2582-431A-A911-A0B51D0E26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5</a:t>
            </a:r>
          </a:p>
        </p:txBody>
      </p:sp>
    </p:spTree>
    <p:extLst>
      <p:ext uri="{BB962C8B-B14F-4D97-AF65-F5344CB8AC3E}">
        <p14:creationId xmlns:p14="http://schemas.microsoft.com/office/powerpoint/2010/main" val="153588749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D2553E6-2C13-44B9-B0AD-CAA00A8ED1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A9005AB-D2AF-4642-8FCC-3FB9DD59DE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00A0052-55DC-459A-9A1E-A73A7409F3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the code syntax</a:t>
            </a:r>
          </a:p>
        </p:txBody>
      </p:sp>
      <p:sp>
        <p:nvSpPr>
          <p:cNvPr id="4" name="">
            <a:extLst xmlns:a="http://schemas.openxmlformats.org/drawingml/2006/main">
              <a:ext uri="{FF2B5EF4-FFF2-40B4-BE49-F238E27FC236}">
                <a16:creationId xmlns:a16="http://schemas.microsoft.com/office/drawing/2014/main" id="{0ADC9C85-0656-45F9-A871-B7D87284B933}"/>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94D64AC-D512-4CC4-B312-464BD1E8E8A2}"/>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 assigns a value to a name; == compares values. Parentheses pass inputs or continue an expression across lines. print displays a value; len counts entries. int and float convert to integer and decimal numeric values.</a:t>
            </a:r>
          </a:p>
        </p:txBody>
      </p:sp>
      <p:sp>
        <p:nvSpPr>
          <p:cNvPr id="6" name="">
            <a:extLst xmlns:a="http://schemas.openxmlformats.org/drawingml/2006/main">
              <a:ext uri="{FF2B5EF4-FFF2-40B4-BE49-F238E27FC236}">
                <a16:creationId xmlns:a16="http://schemas.microsoft.com/office/drawing/2014/main" id="{3E74B903-8091-4179-9722-17BBEC8A316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6</a:t>
            </a:r>
          </a:p>
        </p:txBody>
      </p:sp>
    </p:spTree>
    <p:extLst>
      <p:ext uri="{BB962C8B-B14F-4D97-AF65-F5344CB8AC3E}">
        <p14:creationId xmlns:p14="http://schemas.microsoft.com/office/powerpoint/2010/main" val="39800841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CB73D48-AAD6-4F2F-810D-F0D142D7C39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F803C67-9889-4B1E-8879-19856A860A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4B51CA8-52EC-440B-B89F-B8432BD5AE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EF77091A-5F47-48FA-B9A4-7A1153D2158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20375CB-D4AF-4B7C-BBC9-1CF47AB9BB9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41D27EF4-4881-4685-B78B-AF089CDEBC1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1AD4846B-DF7C-4D9B-9705-99CD24BF537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EAEBFEE4-B22E-4802-AAB6-6ED0AC54E0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7</a:t>
            </a:r>
          </a:p>
        </p:txBody>
      </p:sp>
    </p:spTree>
    <p:extLst>
      <p:ext uri="{BB962C8B-B14F-4D97-AF65-F5344CB8AC3E}">
        <p14:creationId xmlns:p14="http://schemas.microsoft.com/office/powerpoint/2010/main" val="196860452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352D145-E949-418C-8739-1B294A20AFE5}"/>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94ED4BD-6F4F-4CA6-9794-D4071A95B39A}"/>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Three sets have different jobs</a:t>
            </a:r>
          </a:p>
        </p:txBody>
      </p:sp>
      <p:pic>
        <p:nvPicPr>
          <p:cNvPr id="3" name="">
            <a:extLst xmlns:a="http://schemas.openxmlformats.org/drawingml/2006/main">
              <a:ext uri="{FF2B5EF4-FFF2-40B4-BE49-F238E27FC236}">
                <a16:creationId xmlns:a16="http://schemas.microsoft.com/office/drawing/2014/main" id="{0B078E8D-F7D7-4A69-964D-2A52477457BE}"/>
              </a:ext>
            </a:extLst>
          </p:cNvPr>
          <p:cNvPicPr>
            <a:picLocks xmlns:a="http://schemas.openxmlformats.org/drawingml/2006/main" noChangeAspect="1"/>
          </p:cNvPicPr>
          <p:nvPr/>
        </p:nvPicPr>
        <p:blipFill>
          <a:blip xmlns:r="http://schemas.openxmlformats.org/officeDocument/2006/relationships" xmlns:a="http://schemas.openxmlformats.org/drawingml/2006/main" r:embed="R507418b82835410c"/>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3096731-87E6-4F15-957F-B78F92DA542D}"/>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43524E-BA12-4853-8A8A-9EE215785129}"/>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set must stay sealed until choices are fixed?</a:t>
            </a:r>
          </a:p>
        </p:txBody>
      </p:sp>
      <p:sp>
        <p:nvSpPr>
          <p:cNvPr id="6" name="">
            <a:extLst xmlns:a="http://schemas.openxmlformats.org/drawingml/2006/main">
              <a:ext uri="{FF2B5EF4-FFF2-40B4-BE49-F238E27FC236}">
                <a16:creationId xmlns:a16="http://schemas.microsoft.com/office/drawing/2014/main" id="{424E9409-E0DD-4163-BDF1-A25A4A5E3B8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8</a:t>
            </a:r>
          </a:p>
        </p:txBody>
      </p:sp>
    </p:spTree>
    <p:extLst>
      <p:ext uri="{BB962C8B-B14F-4D97-AF65-F5344CB8AC3E}">
        <p14:creationId xmlns:p14="http://schemas.microsoft.com/office/powerpoint/2010/main" val="98840772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75F35E0-8BFB-4F5C-80CF-9CB4DED6EF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5EB0FD0-38A2-43A8-9BC8-7719E9DD6D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9DED537-13E9-485F-8E6A-ADAE7F6F2D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used for modelling</a:t>
            </a:r>
          </a:p>
        </p:txBody>
      </p:sp>
      <p:sp>
        <p:nvSpPr>
          <p:cNvPr id="4" name="">
            <a:extLst xmlns:a="http://schemas.openxmlformats.org/drawingml/2006/main">
              <a:ext uri="{FF2B5EF4-FFF2-40B4-BE49-F238E27FC236}">
                <a16:creationId xmlns:a16="http://schemas.microsoft.com/office/drawing/2014/main" id="{9B56B158-4C37-46D5-A079-2B4BA531B31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3E8F4D1-768D-41EE-9B9F-818E371602D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E0387CA-BC47-45AC-9E92-32EF30DF804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 the first occurrence of each record_id. Retain recorded targets and load_pct within 0–100. Then separate E1–E4 for training, E5 for validation and E6 for the final test_data.</a:t>
            </a:r>
          </a:p>
        </p:txBody>
      </p:sp>
      <p:sp>
        <p:nvSpPr>
          <p:cNvPr id="7" name="">
            <a:extLst xmlns:a="http://schemas.openxmlformats.org/drawingml/2006/main">
              <a:ext uri="{FF2B5EF4-FFF2-40B4-BE49-F238E27FC236}">
                <a16:creationId xmlns:a16="http://schemas.microsoft.com/office/drawing/2014/main" id="{E901809A-B9A1-4CC1-8ABF-D64F56CE2EB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Fill missing input values using training data only. Keep final-test targets out of model selection.</a:t>
            </a:r>
          </a:p>
        </p:txBody>
      </p:sp>
      <p:sp>
        <p:nvSpPr>
          <p:cNvPr id="8" name="">
            <a:extLst xmlns:a="http://schemas.openxmlformats.org/drawingml/2006/main">
              <a:ext uri="{FF2B5EF4-FFF2-40B4-BE49-F238E27FC236}">
                <a16:creationId xmlns:a16="http://schemas.microsoft.com/office/drawing/2014/main" id="{EB444966-D18E-4836-AC0C-F17CE9101A6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9</a:t>
            </a:r>
          </a:p>
        </p:txBody>
      </p:sp>
    </p:spTree>
    <p:extLst>
      <p:ext uri="{BB962C8B-B14F-4D97-AF65-F5344CB8AC3E}">
        <p14:creationId xmlns:p14="http://schemas.microsoft.com/office/powerpoint/2010/main" val="173107745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9FDB2F8-4EEB-4D8F-A717-4A911EB291E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0BFF23B-1F0A-4C1C-AEF0-B761B0DDACE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5111A2A-293A-4385-A34B-3E470289B7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AD096F93-4859-4D17-A94B-4168868F5CD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E34C8B3-96D2-4988-942F-DFD20E944D2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chained operations: Read a chain from left to right. In equipment_data["target"].mean(), select the target Series first, then calculate its mean. Each step uses the previous step’s result.</a:t>
            </a:r>
          </a:p>
        </p:txBody>
      </p:sp>
      <p:sp>
        <p:nvSpPr>
          <p:cNvPr id="6" name="">
            <a:extLst xmlns:a="http://schemas.openxmlformats.org/drawingml/2006/main">
              <a:ext uri="{FF2B5EF4-FFF2-40B4-BE49-F238E27FC236}">
                <a16:creationId xmlns:a16="http://schemas.microsoft.com/office/drawing/2014/main" id="{D52E4572-6413-4447-8FF0-AD8642B581F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8A4420B-CE7E-4351-AA79-1C3D85DEB35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separate working table: equipment_data.copy() creates a working copy. Assigning columns on this copy preserves the source table, so you can compare before and after.</a:t>
            </a:r>
          </a:p>
        </p:txBody>
      </p:sp>
      <p:sp>
        <p:nvSpPr>
          <p:cNvPr id="8" name="">
            <a:extLst xmlns:a="http://schemas.openxmlformats.org/drawingml/2006/main">
              <a:ext uri="{FF2B5EF4-FFF2-40B4-BE49-F238E27FC236}">
                <a16:creationId xmlns:a16="http://schemas.microsoft.com/office/drawing/2014/main" id="{9747027E-5080-446F-A682-7FFD6E2AB52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6E9F157-A86B-4320-915B-7E7EF6B36F6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 recorded cells: notna() returns True where a value is present. Use it to retain observations with a recorded target before modelling.</a:t>
            </a:r>
          </a:p>
        </p:txBody>
      </p:sp>
      <p:sp>
        <p:nvSpPr>
          <p:cNvPr id="10" name="">
            <a:extLst xmlns:a="http://schemas.openxmlformats.org/drawingml/2006/main">
              <a:ext uri="{FF2B5EF4-FFF2-40B4-BE49-F238E27FC236}">
                <a16:creationId xmlns:a16="http://schemas.microsoft.com/office/drawing/2014/main" id="{7730AA11-9638-4FEE-8F6B-0D277F802B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10</a:t>
            </a:r>
          </a:p>
        </p:txBody>
      </p:sp>
    </p:spTree>
    <p:extLst>
      <p:ext uri="{BB962C8B-B14F-4D97-AF65-F5344CB8AC3E}">
        <p14:creationId xmlns:p14="http://schemas.microsoft.com/office/powerpoint/2010/main" val="102345056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15F4DF2-E376-4A58-B285-4CBEC8AB64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EF7041E-3259-4CFF-9BD4-43D7A52FA8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F676B9A-E6F5-4AD7-8A85-B3CFB2AF954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C993C13F-7F92-41FD-8573-9FA0454E97C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3BA6C7B-FD3D-44EF-9061-8AA6A6949BC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inclusive range: series.between(0, 100) is True for values from 0 through 100, including both limits. The resulting mask helps select valid rows.</a:t>
            </a:r>
          </a:p>
        </p:txBody>
      </p:sp>
      <p:sp>
        <p:nvSpPr>
          <p:cNvPr id="6" name="">
            <a:extLst xmlns:a="http://schemas.openxmlformats.org/drawingml/2006/main">
              <a:ext uri="{FF2B5EF4-FFF2-40B4-BE49-F238E27FC236}">
                <a16:creationId xmlns:a16="http://schemas.microsoft.com/office/drawing/2014/main" id="{C2355032-E664-4F9D-B343-AF69FF29E1E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AA38FE6-26A5-4685-95F5-7F7A5955D18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columns: equipment_data["column"] returns one labelled column, a Series. equipment_data[["a", "b"]] returns a DataFrame containing those named columns in that order.</a:t>
            </a:r>
          </a:p>
        </p:txBody>
      </p:sp>
      <p:sp>
        <p:nvSpPr>
          <p:cNvPr id="8" name="">
            <a:extLst xmlns:a="http://schemas.openxmlformats.org/drawingml/2006/main">
              <a:ext uri="{FF2B5EF4-FFF2-40B4-BE49-F238E27FC236}">
                <a16:creationId xmlns:a16="http://schemas.microsoft.com/office/drawing/2014/main" id="{35960360-7499-49CC-A181-036BF30006F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19D27B3-13D8-4647-B29F-463E00754D0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rows with a mask: A column comparison produces one True or False per row. equipment_data[mask] keeps the True rows. &amp; combines masks: both conditions must hold. Parenthesise each comparison.</a:t>
            </a:r>
          </a:p>
        </p:txBody>
      </p:sp>
      <p:sp>
        <p:nvSpPr>
          <p:cNvPr id="10" name="">
            <a:extLst xmlns:a="http://schemas.openxmlformats.org/drawingml/2006/main">
              <a:ext uri="{FF2B5EF4-FFF2-40B4-BE49-F238E27FC236}">
                <a16:creationId xmlns:a16="http://schemas.microsoft.com/office/drawing/2014/main" id="{74F04289-15CC-4445-B4B6-344B53C17C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11</a:t>
            </a:r>
          </a:p>
        </p:txBody>
      </p:sp>
    </p:spTree>
    <p:extLst>
      <p:ext uri="{BB962C8B-B14F-4D97-AF65-F5344CB8AC3E}">
        <p14:creationId xmlns:p14="http://schemas.microsoft.com/office/powerpoint/2010/main" val="44542092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4D9D1B7-7F8C-4C79-AC9B-BC9429BDC07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2556310-8447-44BE-AA49-DE24167BF19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0E6CDEC-08A3-481D-B73E-8CD1D7877BA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E3A0F41C-3582-4466-9008-29B08FD9BA4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1E2FE9E-249B-4BA2-9118-19A39B4A45C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4594F2A-F6C6-4E66-9853-5620A5D27B3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Keeping the first observation: equipment_data.drop_duplicates("record_id") returns rows with the first occurrence of each ID, preserving their order. It does not overwrite the source unless you assign the result.</a:t>
            </a:r>
          </a:p>
        </p:txBody>
      </p:sp>
      <p:sp>
        <p:nvSpPr>
          <p:cNvPr id="7" name="">
            <a:extLst xmlns:a="http://schemas.openxmlformats.org/drawingml/2006/main">
              <a:ext uri="{FF2B5EF4-FFF2-40B4-BE49-F238E27FC236}">
                <a16:creationId xmlns:a16="http://schemas.microsoft.com/office/drawing/2014/main" id="{45F5BD27-19EB-4CB7-A57A-A4404B6E6C0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Membership in a group list: series.isin(["E1", "E2"]) returns True for entries matching either listed label. equipment_data[that_mask] keeps all observations belonging to those groups.</a:t>
            </a:r>
          </a:p>
        </p:txBody>
      </p:sp>
      <p:sp>
        <p:nvSpPr>
          <p:cNvPr id="8" name="">
            <a:extLst xmlns:a="http://schemas.openxmlformats.org/drawingml/2006/main">
              <a:ext uri="{FF2B5EF4-FFF2-40B4-BE49-F238E27FC236}">
                <a16:creationId xmlns:a16="http://schemas.microsoft.com/office/drawing/2014/main" id="{AE467CE2-FF5C-42A2-8D93-9CD281E1D8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12</a:t>
            </a:r>
          </a:p>
        </p:txBody>
      </p:sp>
    </p:spTree>
    <p:extLst>
      <p:ext uri="{BB962C8B-B14F-4D97-AF65-F5344CB8AC3E}">
        <p14:creationId xmlns:p14="http://schemas.microsoft.com/office/powerpoint/2010/main" val="151973708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30DA6E7-2CD2-45CD-BF54-7078665E5C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64DA90F-8498-4F7D-B8F9-8AD0930009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7AF9DAD-ECD5-4492-A958-009ECF24D94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Prepare valid observations</a:t>
            </a:r>
          </a:p>
        </p:txBody>
      </p:sp>
      <p:sp>
        <p:nvSpPr>
          <p:cNvPr id="4" name="">
            <a:extLst xmlns:a="http://schemas.openxmlformats.org/drawingml/2006/main">
              <a:ext uri="{FF2B5EF4-FFF2-40B4-BE49-F238E27FC236}">
                <a16:creationId xmlns:a16="http://schemas.microsoft.com/office/drawing/2014/main" id="{A64B4802-0BD1-4110-9FE0-11E3736923E1}"/>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B2088CD-F632-408B-ABF5-40B7C40C0785}"/>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First keep the first record ID.</a:t>
            </a:r>
          </a:p>
        </p:txBody>
      </p:sp>
      <p:sp>
        <p:nvSpPr>
          <p:cNvPr id="6" name="">
            <a:extLst xmlns:a="http://schemas.openxmlformats.org/drawingml/2006/main">
              <a:ext uri="{FF2B5EF4-FFF2-40B4-BE49-F238E27FC236}">
                <a16:creationId xmlns:a16="http://schemas.microsoft.com/office/drawing/2014/main" id="{6E40CD43-9CD9-4E80-876B-00D2637E5E5F}"/>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Then ask two questions for each remaining row: is the target recorded, and is load between 0 and 100?</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a row passing both checks stays.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Missing inputs are handled later using training data only.</a:t>
            </a:r>
          </a:p>
        </p:txBody>
      </p:sp>
      <p:sp>
        <p:nvSpPr>
          <p:cNvPr id="7" name="">
            <a:extLst xmlns:a="http://schemas.openxmlformats.org/drawingml/2006/main">
              <a:ext uri="{FF2B5EF4-FFF2-40B4-BE49-F238E27FC236}">
                <a16:creationId xmlns:a16="http://schemas.microsoft.com/office/drawing/2014/main" id="{C6679937-BE2F-41E8-9B22-166D7E42F3B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13</a:t>
            </a:r>
          </a:p>
        </p:txBody>
      </p:sp>
    </p:spTree>
    <p:extLst>
      <p:ext uri="{BB962C8B-B14F-4D97-AF65-F5344CB8AC3E}">
        <p14:creationId xmlns:p14="http://schemas.microsoft.com/office/powerpoint/2010/main" val="165035142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3290513-A007-421A-8693-E1B3226C68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3F68FEE-0674-4F4A-8AD3-98AF2ADA19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767F9E7-7764-4C71-9134-338A2A3466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 step 1</a:t>
            </a:r>
          </a:p>
        </p:txBody>
      </p:sp>
      <p:sp>
        <p:nvSpPr>
          <p:cNvPr id="4" name="">
            <a:extLst xmlns:a="http://schemas.openxmlformats.org/drawingml/2006/main">
              <a:ext uri="{FF2B5EF4-FFF2-40B4-BE49-F238E27FC236}">
                <a16:creationId xmlns:a16="http://schemas.microsoft.com/office/drawing/2014/main" id="{405BB1F3-8EB5-4FFB-BA44-FF5A8738BD8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4DC0684-0DA8-4F99-A986-66D22D0A0A3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modelling_data["target"].notna()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modelling_data["load_pct"].between(0,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modelling_data[rows_to_keep].copy()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 len(modelling_data))</a:t>
            </a:r>
          </a:p>
        </p:txBody>
      </p:sp>
      <p:sp>
        <p:nvSpPr>
          <p:cNvPr id="6" name="">
            <a:extLst xmlns:a="http://schemas.openxmlformats.org/drawingml/2006/main">
              <a:ext uri="{FF2B5EF4-FFF2-40B4-BE49-F238E27FC236}">
                <a16:creationId xmlns:a16="http://schemas.microsoft.com/office/drawing/2014/main" id="{D956136A-92CB-4F4F-BF5A-9242A84FDFF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35935932-E477-44A0-B8E0-AC59FC22485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EA4BB01A-1B0B-4EC2-B407-D77872BD49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14</a:t>
            </a:r>
          </a:p>
        </p:txBody>
      </p:sp>
    </p:spTree>
    <p:extLst>
      <p:ext uri="{BB962C8B-B14F-4D97-AF65-F5344CB8AC3E}">
        <p14:creationId xmlns:p14="http://schemas.microsoft.com/office/powerpoint/2010/main" val="145102895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E0DFCED-03AB-4591-831A-7B033EC140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8976837-C1B6-437E-B3E6-643C673AA5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D736E6E-074E-4BBC-8272-40F5F4042A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groups before choosing rows</a:t>
            </a:r>
          </a:p>
        </p:txBody>
      </p:sp>
      <p:sp>
        <p:nvSpPr>
          <p:cNvPr id="4" name="">
            <a:extLst xmlns:a="http://schemas.openxmlformats.org/drawingml/2006/main">
              <a:ext uri="{FF2B5EF4-FFF2-40B4-BE49-F238E27FC236}">
                <a16:creationId xmlns:a16="http://schemas.microsoft.com/office/drawing/2014/main" id="{BC76E416-E352-48D2-B339-E065C6ECEA60}"/>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F2DB1CF-3F42-41B1-AA9E-DDF32D862E3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isin(list_of_labels) answers True when a row’s equipment ID appears in the list.</a:t>
            </a:r>
          </a:p>
        </p:txBody>
      </p:sp>
      <p:sp>
        <p:nvSpPr>
          <p:cNvPr id="6" name="">
            <a:extLst xmlns:a="http://schemas.openxmlformats.org/drawingml/2006/main">
              <a:ext uri="{FF2B5EF4-FFF2-40B4-BE49-F238E27FC236}">
                <a16:creationId xmlns:a16="http://schemas.microsoft.com/office/drawing/2014/main" id="{822BEAA5-DD8C-498A-B3CA-F02378E1B46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E1–E4 supply training rows, E5 validation rows and E6 test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groups stay separate so one equipment group cannot appear on both sides.</a:t>
            </a:r>
          </a:p>
        </p:txBody>
      </p:sp>
      <p:sp>
        <p:nvSpPr>
          <p:cNvPr id="7" name="">
            <a:extLst xmlns:a="http://schemas.openxmlformats.org/drawingml/2006/main">
              <a:ext uri="{FF2B5EF4-FFF2-40B4-BE49-F238E27FC236}">
                <a16:creationId xmlns:a16="http://schemas.microsoft.com/office/drawing/2014/main" id="{9E1C84EA-84AB-4F68-995E-9C551F9261A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15</a:t>
            </a:r>
          </a:p>
        </p:txBody>
      </p:sp>
    </p:spTree>
    <p:extLst>
      <p:ext uri="{BB962C8B-B14F-4D97-AF65-F5344CB8AC3E}">
        <p14:creationId xmlns:p14="http://schemas.microsoft.com/office/powerpoint/2010/main" val="158229090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1D5E154-5C5C-431C-9F78-59292B9A6D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F5F5A6A-53A3-41CE-8D8F-AF1B1DB5E2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0BDDECB-2FE2-439E-8810-D858446548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 step 2</a:t>
            </a:r>
          </a:p>
        </p:txBody>
      </p:sp>
      <p:sp>
        <p:nvSpPr>
          <p:cNvPr id="4" name="">
            <a:extLst xmlns:a="http://schemas.openxmlformats.org/drawingml/2006/main">
              <a:ext uri="{FF2B5EF4-FFF2-40B4-BE49-F238E27FC236}">
                <a16:creationId xmlns:a16="http://schemas.microsoft.com/office/drawing/2014/main" id="{8280BC7F-4076-4B71-9F0A-CFD7C6D33C2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91C4917-E2DD-4766-9CD0-3B3AA0EA386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is_training_equipment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["E1", "E2", "E3", "E4"]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is_validation_equipment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is_test_equipment = modelling_data["equipment_id"].isin(["E6"])</a:t>
            </a:r>
          </a:p>
        </p:txBody>
      </p:sp>
      <p:sp>
        <p:nvSpPr>
          <p:cNvPr id="6" name="">
            <a:extLst xmlns:a="http://schemas.openxmlformats.org/drawingml/2006/main">
              <a:ext uri="{FF2B5EF4-FFF2-40B4-BE49-F238E27FC236}">
                <a16:creationId xmlns:a16="http://schemas.microsoft.com/office/drawing/2014/main" id="{D625D654-19AC-45BB-B026-D4D4B6B9C60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9CF5DFD2-8160-44C5-8D1C-C022DC7A6D2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0E6E5AF3-9FDD-479A-804E-D04FCA7CED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16</a:t>
            </a:r>
          </a:p>
        </p:txBody>
      </p:sp>
    </p:spTree>
    <p:extLst>
      <p:ext uri="{BB962C8B-B14F-4D97-AF65-F5344CB8AC3E}">
        <p14:creationId xmlns:p14="http://schemas.microsoft.com/office/powerpoint/2010/main" val="73415482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9C9FE9C-337F-4E87-BC0B-90BDE0C6E70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7B31C17-2F66-4D96-92D2-96EAEB6C38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D3037BF-E322-4C5D-B583-7BE43268E4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 step 3</a:t>
            </a:r>
          </a:p>
        </p:txBody>
      </p:sp>
      <p:sp>
        <p:nvSpPr>
          <p:cNvPr id="4" name="">
            <a:extLst xmlns:a="http://schemas.openxmlformats.org/drawingml/2006/main">
              <a:ext uri="{FF2B5EF4-FFF2-40B4-BE49-F238E27FC236}">
                <a16:creationId xmlns:a16="http://schemas.microsoft.com/office/drawing/2014/main" id="{70B7B564-7E30-4AB2-BC46-950F2990C72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4995E4C-DB37-47D2-BE34-DB74C2D1372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85F994A-383B-42C7-9695-2942CE2D236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 rows used to learn model settings; only these rows may determine imputation values.</a:t>
            </a:r>
          </a:p>
        </p:txBody>
      </p:sp>
      <p:sp>
        <p:nvSpPr>
          <p:cNvPr id="7" name="">
            <a:extLst xmlns:a="http://schemas.openxmlformats.org/drawingml/2006/main">
              <a:ext uri="{FF2B5EF4-FFF2-40B4-BE49-F238E27FC236}">
                <a16:creationId xmlns:a16="http://schemas.microsoft.com/office/drawing/2014/main" id="{575C6397-4575-45B5-BAAF-269FA56B874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validation_data: separate rows used to compare models without fitting on them.</a:t>
            </a:r>
          </a:p>
        </p:txBody>
      </p:sp>
      <p:sp>
        <p:nvSpPr>
          <p:cNvPr id="8" name="">
            <a:extLst xmlns:a="http://schemas.openxmlformats.org/drawingml/2006/main">
              <a:ext uri="{FF2B5EF4-FFF2-40B4-BE49-F238E27FC236}">
                <a16:creationId xmlns:a16="http://schemas.microsoft.com/office/drawing/2014/main" id="{C701A7C0-BFDC-4F0A-B095-0D1D8916A9A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17</a:t>
            </a:r>
          </a:p>
        </p:txBody>
      </p:sp>
    </p:spTree>
    <p:extLst>
      <p:ext uri="{BB962C8B-B14F-4D97-AF65-F5344CB8AC3E}">
        <p14:creationId xmlns:p14="http://schemas.microsoft.com/office/powerpoint/2010/main" val="94677903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C1702F4-6682-46FF-895E-7F86CA4BA9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4AAC875-A36A-449D-B620-9822116A53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20CAC9D-A578-41EB-9616-777114CD90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 step 3</a:t>
            </a:r>
          </a:p>
        </p:txBody>
      </p:sp>
      <p:sp>
        <p:nvSpPr>
          <p:cNvPr id="4" name="">
            <a:extLst xmlns:a="http://schemas.openxmlformats.org/drawingml/2006/main">
              <a:ext uri="{FF2B5EF4-FFF2-40B4-BE49-F238E27FC236}">
                <a16:creationId xmlns:a16="http://schemas.microsoft.com/office/drawing/2014/main" id="{FA7D6A99-F141-4F1A-90F0-B6C5820411D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242FC02-A2E5-4478-ACCF-13DAFFC75B1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modelling_data[is_training_equipment].copy()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modelling_data[is_validation_equipment].copy()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test_data = modelling_data[is_test_equipment].copy()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print(len(training_data), len(validation_data), len(test_data))</a:t>
            </a:r>
          </a:p>
        </p:txBody>
      </p:sp>
      <p:sp>
        <p:nvSpPr>
          <p:cNvPr id="6" name="">
            <a:extLst xmlns:a="http://schemas.openxmlformats.org/drawingml/2006/main">
              <a:ext uri="{FF2B5EF4-FFF2-40B4-BE49-F238E27FC236}">
                <a16:creationId xmlns:a16="http://schemas.microsoft.com/office/drawing/2014/main" id="{A6FEF8EE-BD58-436B-ADD0-A030A56DCCA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27B6B621-CDC3-4091-9793-4A3D29414BF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752717F6-C5B7-4D2A-A4AD-BF6184A7AE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18</a:t>
            </a:r>
          </a:p>
        </p:txBody>
      </p:sp>
    </p:spTree>
    <p:extLst>
      <p:ext uri="{BB962C8B-B14F-4D97-AF65-F5344CB8AC3E}">
        <p14:creationId xmlns:p14="http://schemas.microsoft.com/office/powerpoint/2010/main" val="166499171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0A7D155-2297-4EC5-A502-E62E8D841C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51F1998-C1B9-40F3-8E5B-017EFE8BDD4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8295416-78F2-4CF6-B393-D4B83B78416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Training-only filling</a:t>
            </a:r>
          </a:p>
        </p:txBody>
      </p:sp>
      <p:sp>
        <p:nvSpPr>
          <p:cNvPr id="4" name="">
            <a:extLst xmlns:a="http://schemas.openxmlformats.org/drawingml/2006/main">
              <a:ext uri="{FF2B5EF4-FFF2-40B4-BE49-F238E27FC236}">
                <a16:creationId xmlns:a16="http://schemas.microsoft.com/office/drawing/2014/main" id="{E8302628-D026-4DB6-AA7A-4DE9D144ABB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69CC08-8805-4D61-85EF-970F689495D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2B91761-E791-436C-AFA6-66890BCFADE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median ignores missing values. Calculate it from training input values and reuse it for validation gaps.</a:t>
            </a:r>
          </a:p>
        </p:txBody>
      </p:sp>
      <p:sp>
        <p:nvSpPr>
          <p:cNvPr id="7" name="">
            <a:extLst xmlns:a="http://schemas.openxmlformats.org/drawingml/2006/main">
              <a:ext uri="{FF2B5EF4-FFF2-40B4-BE49-F238E27FC236}">
                <a16:creationId xmlns:a16="http://schemas.microsoft.com/office/drawing/2014/main" id="{4BCEFDAB-BDF1-4555-B2BA-0B9F918F544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Do not calculate a new median from validation or test observations. A pipeline keeps this rule with the linear_model.</a:t>
            </a:r>
          </a:p>
        </p:txBody>
      </p:sp>
      <p:sp>
        <p:nvSpPr>
          <p:cNvPr id="8" name="">
            <a:extLst xmlns:a="http://schemas.openxmlformats.org/drawingml/2006/main">
              <a:ext uri="{FF2B5EF4-FFF2-40B4-BE49-F238E27FC236}">
                <a16:creationId xmlns:a16="http://schemas.microsoft.com/office/drawing/2014/main" id="{9C7029AC-4233-42C6-AE51-D00A37AF7D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19</a:t>
            </a:r>
          </a:p>
        </p:txBody>
      </p:sp>
    </p:spTree>
    <p:extLst>
      <p:ext uri="{BB962C8B-B14F-4D97-AF65-F5344CB8AC3E}">
        <p14:creationId xmlns:p14="http://schemas.microsoft.com/office/powerpoint/2010/main" val="108664837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B8963A1-58B9-4521-B87F-66E1EE48D9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9DAD082-3E90-4AE9-B66C-32A088753D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AE43AFD-E5B3-46E2-B246-4FD68B336C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7DAEDDC2-8E45-4334-AD64-B05D33C86DB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8FE207B-8936-4979-B350-0746513118D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Middle recorded value: series.median() sorts known values conceptually and returns the middle one. With an even count, it averages the two middle values. Missing entries do not enter the calculation.</a:t>
            </a:r>
          </a:p>
        </p:txBody>
      </p:sp>
      <p:sp>
        <p:nvSpPr>
          <p:cNvPr id="6" name="">
            <a:extLst xmlns:a="http://schemas.openxmlformats.org/drawingml/2006/main">
              <a:ext uri="{FF2B5EF4-FFF2-40B4-BE49-F238E27FC236}">
                <a16:creationId xmlns:a16="http://schemas.microsoft.com/office/drawing/2014/main" id="{06124DF1-C92B-43CB-8B7B-D603E45AAE4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AA23CB6-A7D1-4589-A782-9337734927F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Replacing missing entries: series.fillna(value) returns a column whose missing entries contain value. Recorded values stay unchanged. Assign the returned column to retain the fill.</a:t>
            </a:r>
          </a:p>
        </p:txBody>
      </p:sp>
      <p:sp>
        <p:nvSpPr>
          <p:cNvPr id="8" name="">
            <a:extLst xmlns:a="http://schemas.openxmlformats.org/drawingml/2006/main">
              <a:ext uri="{FF2B5EF4-FFF2-40B4-BE49-F238E27FC236}">
                <a16:creationId xmlns:a16="http://schemas.microsoft.com/office/drawing/2014/main" id="{C1652352-2014-4B32-9EC2-0AFCD7353F7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735669D-3229-4088-B0EA-2C690910B2C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10" name="">
            <a:extLst xmlns:a="http://schemas.openxmlformats.org/drawingml/2006/main">
              <a:ext uri="{FF2B5EF4-FFF2-40B4-BE49-F238E27FC236}">
                <a16:creationId xmlns:a16="http://schemas.microsoft.com/office/drawing/2014/main" id="{FB7CF84D-3363-41C9-AB27-E175419F3A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20</a:t>
            </a:r>
          </a:p>
        </p:txBody>
      </p:sp>
    </p:spTree>
    <p:extLst>
      <p:ext uri="{BB962C8B-B14F-4D97-AF65-F5344CB8AC3E}">
        <p14:creationId xmlns:p14="http://schemas.microsoft.com/office/powerpoint/2010/main" val="168985921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CF4F611-C140-465F-B7B0-B59ABEB5FE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79A282C-971E-4C74-ABB9-3A151C7507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65B8D26-01D2-4F47-AC66-4CA9667FDD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0F6784BB-8B2D-497D-A4A9-7BDFFF11AF8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F44CFC9-A878-457A-8BF7-B9BDAC8F8D1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2ADF15F-F0FF-4DDF-ACA3-C34461B4887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Adding values and counting True: series.sum() adds its values. For a Boolean mask, True counts as 1 and False as 0. equipment_data.isna().sum() therefore counts missing cells separately for each column.</a:t>
            </a:r>
          </a:p>
        </p:txBody>
      </p:sp>
      <p:sp>
        <p:nvSpPr>
          <p:cNvPr id="7" name="">
            <a:extLst xmlns:a="http://schemas.openxmlformats.org/drawingml/2006/main">
              <a:ext uri="{FF2B5EF4-FFF2-40B4-BE49-F238E27FC236}">
                <a16:creationId xmlns:a16="http://schemas.microsoft.com/office/drawing/2014/main" id="{F9B00256-87A5-43A2-A7A6-633DB7D2704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Finding missing cells: isna() returns True for missing entries such as NaN and None. It returns False for a recorded zero. A DataFrame gives a mask for every cell; a Series gives one mask value per row.</a:t>
            </a:r>
          </a:p>
        </p:txBody>
      </p:sp>
      <p:sp>
        <p:nvSpPr>
          <p:cNvPr id="8" name="">
            <a:extLst xmlns:a="http://schemas.openxmlformats.org/drawingml/2006/main">
              <a:ext uri="{FF2B5EF4-FFF2-40B4-BE49-F238E27FC236}">
                <a16:creationId xmlns:a16="http://schemas.microsoft.com/office/drawing/2014/main" id="{42791E56-5FF7-4ED5-ACD3-BAB18C5CFC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21</a:t>
            </a:r>
          </a:p>
        </p:txBody>
      </p:sp>
    </p:spTree>
    <p:extLst>
      <p:ext uri="{BB962C8B-B14F-4D97-AF65-F5344CB8AC3E}">
        <p14:creationId xmlns:p14="http://schemas.microsoft.com/office/powerpoint/2010/main" val="1252895965"/>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DA3B8CB-CB5E-4ED7-B623-3528585B06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EA0902D-4D48-4291-A06D-18FA9947C5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42C8BED-E0E8-4255-BDC7-F3762F867CF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median from the actual ambient readings</a:t>
            </a:r>
          </a:p>
        </p:txBody>
      </p:sp>
      <p:sp>
        <p:nvSpPr>
          <p:cNvPr id="4" name="">
            <a:extLst xmlns:a="http://schemas.openxmlformats.org/drawingml/2006/main">
              <a:ext uri="{FF2B5EF4-FFF2-40B4-BE49-F238E27FC236}">
                <a16:creationId xmlns:a16="http://schemas.microsoft.com/office/drawing/2014/main" id="{2AA3EDD6-77BF-4158-8F69-2775B8D5058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07A8116-E287-440E-A544-6DB5C8FC1E8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training_ambient_median = training_data["ambient_c"].median()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filled_validation_ambient = validation_data["ambient_c"].fillna(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training_ambient_median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print(round(float(training_ambient_median), 3))</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print(validation_data["ambient_c"].isna().sum())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print(filled_validation_ambient.head())</a:t>
            </a:r>
          </a:p>
        </p:txBody>
      </p:sp>
      <p:sp>
        <p:nvSpPr>
          <p:cNvPr id="6" name="">
            <a:extLst xmlns:a="http://schemas.openxmlformats.org/drawingml/2006/main">
              <a:ext uri="{FF2B5EF4-FFF2-40B4-BE49-F238E27FC236}">
                <a16:creationId xmlns:a16="http://schemas.microsoft.com/office/drawing/2014/main" id="{6AB388FC-2473-4C4F-ADAF-43D2A2EBBE1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training_ambient_median: median ambient temperature calculated only from training rows.</a:t>
            </a:r>
          </a:p>
        </p:txBody>
      </p:sp>
      <p:sp>
        <p:nvSpPr>
          <p:cNvPr id="7" name="">
            <a:extLst xmlns:a="http://schemas.openxmlformats.org/drawingml/2006/main">
              <a:ext uri="{FF2B5EF4-FFF2-40B4-BE49-F238E27FC236}">
                <a16:creationId xmlns:a16="http://schemas.microsoft.com/office/drawing/2014/main" id="{5BAF2D2C-684D-4F87-9D48-77AE8923EA8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B66502A8-E6D4-420A-926E-50C33D3FDC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22</a:t>
            </a:r>
          </a:p>
        </p:txBody>
      </p:sp>
    </p:spTree>
    <p:extLst>
      <p:ext uri="{BB962C8B-B14F-4D97-AF65-F5344CB8AC3E}">
        <p14:creationId xmlns:p14="http://schemas.microsoft.com/office/powerpoint/2010/main" val="114672610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C6BF042-728B-45AD-80CF-8BF7567215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DA9FD68-B4C8-4145-B167-D10E0F52AB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47F5A6E-2D2F-4625-8565-910590D54E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a model with missing inputs</a:t>
            </a:r>
          </a:p>
        </p:txBody>
      </p:sp>
      <p:sp>
        <p:nvSpPr>
          <p:cNvPr id="4" name="">
            <a:extLst xmlns:a="http://schemas.openxmlformats.org/drawingml/2006/main">
              <a:ext uri="{FF2B5EF4-FFF2-40B4-BE49-F238E27FC236}">
                <a16:creationId xmlns:a16="http://schemas.microsoft.com/office/drawing/2014/main" id="{3215CD8A-CB4B-4412-BED3-AB9E51D5865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E274E73-9555-433E-A276-DE1150445FE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C20E8F5-659C-4E30-8026-CD0724C9466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training_data[features] selects the two input columns as a equipment_data. training_data["target"] selects the observed target as a Series.</a:t>
            </a:r>
          </a:p>
        </p:txBody>
      </p:sp>
      <p:sp>
        <p:nvSpPr>
          <p:cNvPr id="7" name="">
            <a:extLst xmlns:a="http://schemas.openxmlformats.org/drawingml/2006/main">
              <a:ext uri="{FF2B5EF4-FFF2-40B4-BE49-F238E27FC236}">
                <a16:creationId xmlns:a16="http://schemas.microsoft.com/office/drawing/2014/main" id="{85C44906-80AB-4054-9175-319BDAA3B42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SimpleImputer(strategy="median") learns input fill values from training rows. make_pipeline links that operation to LinearRegression. fit learns the steps and predict reuses them.</a:t>
            </a:r>
          </a:p>
        </p:txBody>
      </p:sp>
      <p:sp>
        <p:nvSpPr>
          <p:cNvPr id="8" name="">
            <a:extLst xmlns:a="http://schemas.openxmlformats.org/drawingml/2006/main">
              <a:ext uri="{FF2B5EF4-FFF2-40B4-BE49-F238E27FC236}">
                <a16:creationId xmlns:a16="http://schemas.microsoft.com/office/drawing/2014/main" id="{B14EF0CB-8A53-4681-B0C1-A22C2EF8995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23</a:t>
            </a:r>
          </a:p>
        </p:txBody>
      </p:sp>
    </p:spTree>
    <p:extLst>
      <p:ext uri="{BB962C8B-B14F-4D97-AF65-F5344CB8AC3E}">
        <p14:creationId xmlns:p14="http://schemas.microsoft.com/office/powerpoint/2010/main" val="204112356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29E6741-F83F-4A03-AD35-9FB1841E64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8F998AF-8C17-409C-9745-512E09D7D6F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61B5B10-DE95-49A7-AD66-15E43F9B6B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2709BF74-45D6-405E-BD8B-D41120EF0A1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A96EA2A-0A9C-4E62-9312-7602EEF73E99}"/>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Returning plain values: series.tolist() or array.tolist() returns a Python list of values, without pandas row labels. Preserve their order when pairing actual values and validation_predictions.</a:t>
            </a:r>
          </a:p>
        </p:txBody>
      </p:sp>
      <p:sp>
        <p:nvSpPr>
          <p:cNvPr id="6" name="">
            <a:extLst xmlns:a="http://schemas.openxmlformats.org/drawingml/2006/main">
              <a:ext uri="{FF2B5EF4-FFF2-40B4-BE49-F238E27FC236}">
                <a16:creationId xmlns:a16="http://schemas.microsoft.com/office/drawing/2014/main" id="{9A615FD2-4E4D-4A65-B0A4-27D7B3D612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24</a:t>
            </a:r>
          </a:p>
        </p:txBody>
      </p:sp>
    </p:spTree>
    <p:extLst>
      <p:ext uri="{BB962C8B-B14F-4D97-AF65-F5344CB8AC3E}">
        <p14:creationId xmlns:p14="http://schemas.microsoft.com/office/powerpoint/2010/main" val="1998547348"/>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CFF34C4-FF66-4FE7-8749-0A72B3EEF9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EFCD6A4-9204-4B5D-B5D7-E332E04939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2D970FC-BAAA-4963-9B9D-89FFC910EA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sequence of model steps / Filling model inputs</a:t>
            </a:r>
          </a:p>
        </p:txBody>
      </p:sp>
      <p:sp>
        <p:nvSpPr>
          <p:cNvPr id="4" name="">
            <a:extLst xmlns:a="http://schemas.openxmlformats.org/drawingml/2006/main">
              <a:ext uri="{FF2B5EF4-FFF2-40B4-BE49-F238E27FC236}">
                <a16:creationId xmlns:a16="http://schemas.microsoft.com/office/drawing/2014/main" id="{19CFD444-D428-4BDF-836E-2A67C1CD8DB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B0365E2-F866-4CC8-82E3-B73C5CB5838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77EBD10-0286-4B3B-B80E-BE68B205B01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make_pipeline(imputer, estimator) links preprocessing and prediction. fit learns the imputer and estimator on training rows. predict applies the learned steps to new rows in the same order.</a:t>
            </a:r>
          </a:p>
        </p:txBody>
      </p:sp>
      <p:sp>
        <p:nvSpPr>
          <p:cNvPr id="7" name="">
            <a:extLst xmlns:a="http://schemas.openxmlformats.org/drawingml/2006/main">
              <a:ext uri="{FF2B5EF4-FFF2-40B4-BE49-F238E27FC236}">
                <a16:creationId xmlns:a16="http://schemas.microsoft.com/office/drawing/2014/main" id="{85FFFC39-4307-4D32-9B5D-AA4FD838A48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SimpleImputer(strategy="median") learns a median for each input column during fit. It uses those training medians to fill gaps later. Never learn replacement values from validation or test rows.</a:t>
            </a:r>
          </a:p>
        </p:txBody>
      </p:sp>
      <p:sp>
        <p:nvSpPr>
          <p:cNvPr id="8" name="">
            <a:extLst xmlns:a="http://schemas.openxmlformats.org/drawingml/2006/main">
              <a:ext uri="{FF2B5EF4-FFF2-40B4-BE49-F238E27FC236}">
                <a16:creationId xmlns:a16="http://schemas.microsoft.com/office/drawing/2014/main" id="{AC26FF32-A81A-4B96-A0B7-D823DAEAD1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25</a:t>
            </a:r>
          </a:p>
        </p:txBody>
      </p:sp>
    </p:spTree>
    <p:extLst>
      <p:ext uri="{BB962C8B-B14F-4D97-AF65-F5344CB8AC3E}">
        <p14:creationId xmlns:p14="http://schemas.microsoft.com/office/powerpoint/2010/main" val="147654314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F190CF4-5DFC-45BB-985E-C5D5864A3B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65DE54-64BA-4CBE-B2B3-B6A6920221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8AA05BA-9FD6-4B92-9329-B52E9A8E36A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Creating linear regression / Learning from training examples</a:t>
            </a:r>
          </a:p>
        </p:txBody>
      </p:sp>
      <p:sp>
        <p:nvSpPr>
          <p:cNvPr id="4" name="">
            <a:extLst xmlns:a="http://schemas.openxmlformats.org/drawingml/2006/main">
              <a:ext uri="{FF2B5EF4-FFF2-40B4-BE49-F238E27FC236}">
                <a16:creationId xmlns:a16="http://schemas.microsoft.com/office/drawing/2014/main" id="{91ED77A9-CD42-448E-8486-52F616B4BCD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97DEB82-0D59-45F4-BE71-B5C123E1588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A58AB52-7672-4996-935F-FE69378E6BA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LinearRegression() creates an unfitted model. It will learn coefficients and an intercept from training examples. Creating it alone does not train it or make predictions.</a:t>
            </a:r>
          </a:p>
        </p:txBody>
      </p:sp>
      <p:sp>
        <p:nvSpPr>
          <p:cNvPr id="7" name="">
            <a:extLst xmlns:a="http://schemas.openxmlformats.org/drawingml/2006/main">
              <a:ext uri="{FF2B5EF4-FFF2-40B4-BE49-F238E27FC236}">
                <a16:creationId xmlns:a16="http://schemas.microsoft.com/office/drawing/2014/main" id="{CF018D51-8BDD-4235-A80A-05637EE064C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model.fit(input_table, observed_targets) learns model settings from paired rows. The two inputs must describe the same observations in the same order. Call fit before predict.</a:t>
            </a:r>
          </a:p>
        </p:txBody>
      </p:sp>
      <p:sp>
        <p:nvSpPr>
          <p:cNvPr id="8" name="">
            <a:extLst xmlns:a="http://schemas.openxmlformats.org/drawingml/2006/main">
              <a:ext uri="{FF2B5EF4-FFF2-40B4-BE49-F238E27FC236}">
                <a16:creationId xmlns:a16="http://schemas.microsoft.com/office/drawing/2014/main" id="{C760A2DE-5729-4383-9252-4AC63725EF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26</a:t>
            </a:r>
          </a:p>
        </p:txBody>
      </p:sp>
    </p:spTree>
    <p:extLst>
      <p:ext uri="{BB962C8B-B14F-4D97-AF65-F5344CB8AC3E}">
        <p14:creationId xmlns:p14="http://schemas.microsoft.com/office/powerpoint/2010/main" val="101306397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47397F7-E153-4635-B648-42B98D7EEEA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020A5B6-D610-4F16-9B90-31BB40A3ED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01B93D7-933E-4812-871F-C072135A78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Predicting new targets / Selecting a short preview</a:t>
            </a:r>
          </a:p>
        </p:txBody>
      </p:sp>
      <p:sp>
        <p:nvSpPr>
          <p:cNvPr id="4" name="">
            <a:extLst xmlns:a="http://schemas.openxmlformats.org/drawingml/2006/main">
              <a:ext uri="{FF2B5EF4-FFF2-40B4-BE49-F238E27FC236}">
                <a16:creationId xmlns:a16="http://schemas.microsoft.com/office/drawing/2014/main" id="{D2AEFA04-E352-405D-9CCF-A2771FD1DC5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4AD3DD6-2D96-4F1E-871A-810C1132738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9C64F9E-2C85-41F5-80EC-22FF1A9D18A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model.predict(input_table) returns one prediction per input row. Use the same feature columns and order as during training. Prediction uses learned settings; it does not refit the model.</a:t>
            </a:r>
          </a:p>
        </p:txBody>
      </p:sp>
      <p:sp>
        <p:nvSpPr>
          <p:cNvPr id="7" name="">
            <a:extLst xmlns:a="http://schemas.openxmlformats.org/drawingml/2006/main">
              <a:ext uri="{FF2B5EF4-FFF2-40B4-BE49-F238E27FC236}">
                <a16:creationId xmlns:a16="http://schemas.microsoft.com/office/drawing/2014/main" id="{0C403B0F-0E19-4C88-B4EC-D0ED6D3C739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values[:5] selects positions 0 through 4, or fewer if the sequence is shorter. The stop position is excluded. This preview does not change the full array stored in the variable.</a:t>
            </a:r>
          </a:p>
        </p:txBody>
      </p:sp>
      <p:sp>
        <p:nvSpPr>
          <p:cNvPr id="8" name="">
            <a:extLst xmlns:a="http://schemas.openxmlformats.org/drawingml/2006/main">
              <a:ext uri="{FF2B5EF4-FFF2-40B4-BE49-F238E27FC236}">
                <a16:creationId xmlns:a16="http://schemas.microsoft.com/office/drawing/2014/main" id="{BF415AB9-8022-4771-B9B1-EC4E89B73F8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27</a:t>
            </a:r>
          </a:p>
        </p:txBody>
      </p:sp>
    </p:spTree>
    <p:extLst>
      <p:ext uri="{BB962C8B-B14F-4D97-AF65-F5344CB8AC3E}">
        <p14:creationId xmlns:p14="http://schemas.microsoft.com/office/powerpoint/2010/main" val="865057711"/>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FDD8595-AF71-4A24-B505-A4C1605EF2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7715D78-B874-4F71-845A-ED5CF2158C5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576E14B-E5A3-4BE5-A25A-FABA779691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Standard names for model inputs</a:t>
            </a:r>
          </a:p>
        </p:txBody>
      </p:sp>
      <p:sp>
        <p:nvSpPr>
          <p:cNvPr id="4" name="">
            <a:extLst xmlns:a="http://schemas.openxmlformats.org/drawingml/2006/main">
              <a:ext uri="{FF2B5EF4-FFF2-40B4-BE49-F238E27FC236}">
                <a16:creationId xmlns:a16="http://schemas.microsoft.com/office/drawing/2014/main" id="{694E23D3-97F2-4F7A-A78E-462FD6B5D59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194DB2E-5C76-4F96-944F-308FB6A6EDC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X_train: training input columns. y_train: the matching observed targets.</a:t>
            </a:r>
          </a:p>
        </p:txBody>
      </p:sp>
      <p:sp>
        <p:nvSpPr>
          <p:cNvPr id="6" name="">
            <a:extLst xmlns:a="http://schemas.openxmlformats.org/drawingml/2006/main">
              <a:ext uri="{FF2B5EF4-FFF2-40B4-BE49-F238E27FC236}">
                <a16:creationId xmlns:a16="http://schemas.microsoft.com/office/drawing/2014/main" id="{8F158E93-A7A4-4ABE-AAB7-3BFE794EB5E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C0062FA-3D65-4489-853F-2919486D098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validation input columns. y_valid: their observed targets, kept for evaluation.</a:t>
            </a:r>
          </a:p>
        </p:txBody>
      </p:sp>
      <p:sp>
        <p:nvSpPr>
          <p:cNvPr id="8" name="">
            <a:extLst xmlns:a="http://schemas.openxmlformats.org/drawingml/2006/main">
              <a:ext uri="{FF2B5EF4-FFF2-40B4-BE49-F238E27FC236}">
                <a16:creationId xmlns:a16="http://schemas.microsoft.com/office/drawing/2014/main" id="{2CE627F0-9738-4058-BEDB-FA0E1433C53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C7D1B0C-345B-4A2D-81F3-073B9D27335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Capital X usually means a two-dimensional table; lowercase y usually means one target per row.</a:t>
            </a:r>
          </a:p>
        </p:txBody>
      </p:sp>
      <p:sp>
        <p:nvSpPr>
          <p:cNvPr id="10" name="">
            <a:extLst xmlns:a="http://schemas.openxmlformats.org/drawingml/2006/main">
              <a:ext uri="{FF2B5EF4-FFF2-40B4-BE49-F238E27FC236}">
                <a16:creationId xmlns:a16="http://schemas.microsoft.com/office/drawing/2014/main" id="{8F16C115-847E-4850-B16D-3639E58B27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28</a:t>
            </a:r>
          </a:p>
        </p:txBody>
      </p:sp>
    </p:spTree>
    <p:extLst>
      <p:ext uri="{BB962C8B-B14F-4D97-AF65-F5344CB8AC3E}">
        <p14:creationId xmlns:p14="http://schemas.microsoft.com/office/powerpoint/2010/main" val="601243992"/>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3AA523D-9D8B-42D7-89EB-240497EA8D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88767BD-F430-4129-8236-06DF7BA5E2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B16DA6E-8688-4310-87C7-763C50AE7E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Separate inputs from answers</a:t>
            </a:r>
          </a:p>
        </p:txBody>
      </p:sp>
      <p:sp>
        <p:nvSpPr>
          <p:cNvPr id="4" name="">
            <a:extLst xmlns:a="http://schemas.openxmlformats.org/drawingml/2006/main">
              <a:ext uri="{FF2B5EF4-FFF2-40B4-BE49-F238E27FC236}">
                <a16:creationId xmlns:a16="http://schemas.microsoft.com/office/drawing/2014/main" id="{46263AB2-F5C9-44BD-92E0-EC4ECBC24525}"/>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D84D5C8-2B12-4A10-8893-5A07715959B3}"/>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X_train contains the input columns; y_train contains their observed targets.</a:t>
            </a:r>
          </a:p>
        </p:txBody>
      </p:sp>
      <p:sp>
        <p:nvSpPr>
          <p:cNvPr id="6" name="">
            <a:extLst xmlns:a="http://schemas.openxmlformats.org/drawingml/2006/main">
              <a:ext uri="{FF2B5EF4-FFF2-40B4-BE49-F238E27FC236}">
                <a16:creationId xmlns:a16="http://schemas.microsoft.com/office/drawing/2014/main" id="{8E04E0E7-DC35-4EA2-8D58-70DC095879E0}"/>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contains the same input columns for validation; y_valid holds the answers for checking predictions.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Never include target among the inputs.</a:t>
            </a:r>
          </a:p>
        </p:txBody>
      </p:sp>
      <p:sp>
        <p:nvSpPr>
          <p:cNvPr id="7" name="">
            <a:extLst xmlns:a="http://schemas.openxmlformats.org/drawingml/2006/main">
              <a:ext uri="{FF2B5EF4-FFF2-40B4-BE49-F238E27FC236}">
                <a16:creationId xmlns:a16="http://schemas.microsoft.com/office/drawing/2014/main" id="{000E49B6-24B2-4393-B3B1-527F5D89C9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29</a:t>
            </a:r>
          </a:p>
        </p:txBody>
      </p:sp>
    </p:spTree>
    <p:extLst>
      <p:ext uri="{BB962C8B-B14F-4D97-AF65-F5344CB8AC3E}">
        <p14:creationId xmlns:p14="http://schemas.microsoft.com/office/powerpoint/2010/main" val="1042640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E51FF9D-A55F-41AA-AE86-67C650B775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7E96048-DC0B-4BB7-A2F8-838A48610B7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04D1D38-1188-4F2F-BA3F-2E5B47C0D4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Training and predicting on the supplied data — step 1</a:t>
            </a:r>
          </a:p>
        </p:txBody>
      </p:sp>
      <p:sp>
        <p:nvSpPr>
          <p:cNvPr id="4" name="">
            <a:extLst xmlns:a="http://schemas.openxmlformats.org/drawingml/2006/main">
              <a:ext uri="{FF2B5EF4-FFF2-40B4-BE49-F238E27FC236}">
                <a16:creationId xmlns:a16="http://schemas.microsoft.com/office/drawing/2014/main" id="{24349282-0DE3-493A-88E4-03780DAD124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9DD181A-E473-4A56-9227-35EE09A4427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X_train = training_data[feature_columns]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y_train = training_data["target"]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X_valid = validation_data[feature_columns]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y_valid = validation_data["target"]</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sklearn.impute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SimpleImputer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sklearn.pipeline import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sklearn.linear_model import LinearRegression</a:t>
            </a:r>
          </a:p>
        </p:txBody>
      </p:sp>
      <p:sp>
        <p:nvSpPr>
          <p:cNvPr id="6" name="">
            <a:extLst xmlns:a="http://schemas.openxmlformats.org/drawingml/2006/main">
              <a:ext uri="{FF2B5EF4-FFF2-40B4-BE49-F238E27FC236}">
                <a16:creationId xmlns:a16="http://schemas.microsoft.com/office/drawing/2014/main" id="{03B0E1F4-0580-471C-A9A4-3D3459CB0EB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6876585D-3D78-4684-B3AA-A8ACA57C09D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A0A30182-F0EF-4063-A709-DE2B299FC2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30</a:t>
            </a:r>
          </a:p>
        </p:txBody>
      </p:sp>
    </p:spTree>
    <p:extLst>
      <p:ext uri="{BB962C8B-B14F-4D97-AF65-F5344CB8AC3E}">
        <p14:creationId xmlns:p14="http://schemas.microsoft.com/office/powerpoint/2010/main" val="20951305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C79EB02-45F8-43A8-B96F-775D44D2B1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D4F4506-C426-4CA0-8BA7-7A514B5600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9D451D7-0B78-4E12-9112-4C704B9648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then train, then predict</a:t>
            </a:r>
          </a:p>
        </p:txBody>
      </p:sp>
      <p:sp>
        <p:nvSpPr>
          <p:cNvPr id="4" name="">
            <a:extLst xmlns:a="http://schemas.openxmlformats.org/drawingml/2006/main">
              <a:ext uri="{FF2B5EF4-FFF2-40B4-BE49-F238E27FC236}">
                <a16:creationId xmlns:a16="http://schemas.microsoft.com/office/drawing/2014/main" id="{6A958AD0-BA93-4659-A02F-8FC16DAA6BD8}"/>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4D3F888-AE5D-47FC-94E5-C1972F3E47BA}"/>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Creating an estimator sets up an empty model. fit learns settings from training inputs and their targets. predict uses those learned settings on new inputs; it does not learn from the validation targets.</a:t>
            </a:r>
          </a:p>
        </p:txBody>
      </p:sp>
      <p:sp>
        <p:nvSpPr>
          <p:cNvPr id="6" name="">
            <a:extLst xmlns:a="http://schemas.openxmlformats.org/drawingml/2006/main">
              <a:ext uri="{FF2B5EF4-FFF2-40B4-BE49-F238E27FC236}">
                <a16:creationId xmlns:a16="http://schemas.microsoft.com/office/drawing/2014/main" id="{5AB10AF3-0932-4D60-A93D-220C19B3F5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31</a:t>
            </a:r>
          </a:p>
        </p:txBody>
      </p:sp>
    </p:spTree>
    <p:extLst>
      <p:ext uri="{BB962C8B-B14F-4D97-AF65-F5344CB8AC3E}">
        <p14:creationId xmlns:p14="http://schemas.microsoft.com/office/powerpoint/2010/main" val="92988274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B8767C4-3BA1-4CBD-A4EA-20DD6F2EB7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BCC9758-E944-4FAA-A035-15F9BB408A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0D80917-FFFA-4DC2-8899-481C1FF52B6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Training and predicting on the supplied data — step 2</a:t>
            </a:r>
          </a:p>
        </p:txBody>
      </p:sp>
      <p:sp>
        <p:nvSpPr>
          <p:cNvPr id="4" name="">
            <a:extLst xmlns:a="http://schemas.openxmlformats.org/drawingml/2006/main">
              <a:ext uri="{FF2B5EF4-FFF2-40B4-BE49-F238E27FC236}">
                <a16:creationId xmlns:a16="http://schemas.microsoft.com/office/drawing/2014/main" id="{DD3EB235-211D-4FE6-933E-756BE0F480D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4EE82C5-E207-414D-9D02-FDCA3A38C59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validation_predictions = linear_model.predict(X_valid)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print(validation_predictions[:5].round(3).tolist())</a:t>
            </a:r>
          </a:p>
        </p:txBody>
      </p:sp>
      <p:sp>
        <p:nvSpPr>
          <p:cNvPr id="6" name="">
            <a:extLst xmlns:a="http://schemas.openxmlformats.org/drawingml/2006/main">
              <a:ext uri="{FF2B5EF4-FFF2-40B4-BE49-F238E27FC236}">
                <a16:creationId xmlns:a16="http://schemas.microsoft.com/office/drawing/2014/main" id="{EF6B7547-DCB9-445A-8E9D-B351B7ED303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3D9D4B2E-9F76-4963-A7C6-0CB7479EC46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984DAF90-DF24-44BD-B5B3-A9026BF69D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32</a:t>
            </a:r>
          </a:p>
        </p:txBody>
      </p:sp>
    </p:spTree>
    <p:extLst>
      <p:ext uri="{BB962C8B-B14F-4D97-AF65-F5344CB8AC3E}">
        <p14:creationId xmlns:p14="http://schemas.microsoft.com/office/powerpoint/2010/main" val="572839474"/>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CBD6F30-C515-47C9-8CD6-E20281B75A70}"/>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F4C26FC-D914-43F3-8A55-0AFA597BA627}"/>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Each fold takes a turn at validation</a:t>
            </a:r>
          </a:p>
        </p:txBody>
      </p:sp>
      <p:pic>
        <p:nvPicPr>
          <p:cNvPr id="3" name="">
            <a:extLst xmlns:a="http://schemas.openxmlformats.org/drawingml/2006/main">
              <a:ext uri="{FF2B5EF4-FFF2-40B4-BE49-F238E27FC236}">
                <a16:creationId xmlns:a16="http://schemas.microsoft.com/office/drawing/2014/main" id="{020F7693-1AE3-4C8B-9ED4-8EECC8EF91C5}"/>
              </a:ext>
            </a:extLst>
          </p:cNvPr>
          <p:cNvPicPr>
            <a:picLocks xmlns:a="http://schemas.openxmlformats.org/drawingml/2006/main" noChangeAspect="1"/>
          </p:cNvPicPr>
          <p:nvPr/>
        </p:nvPicPr>
        <p:blipFill>
          <a:blip xmlns:r="http://schemas.openxmlformats.org/officeDocument/2006/relationships" xmlns:a="http://schemas.openxmlformats.org/drawingml/2006/main" r:embed="R98916cb23f724233"/>
          <a:stretch xmlns:a="http://schemas.openxmlformats.org/drawingml/2006/main"/>
        </p:blipFill>
        <p:spPr>
          <a:xfrm xmlns:a="http://schemas.openxmlformats.org/drawingml/2006/main">
            <a:off x="984088" y="1057275"/>
            <a:ext cx="10223825"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D6D09E4-B638-40DE-9A0A-8A77419AEA28}"/>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63B34DA-ED29-4DA3-9906-EC2D624D0229}"/>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Illustrated spread: population SD 0.39 MPa, not a confidence interval.</a:t>
            </a:r>
          </a:p>
        </p:txBody>
      </p:sp>
      <p:sp>
        <p:nvSpPr>
          <p:cNvPr id="6" name="">
            <a:extLst xmlns:a="http://schemas.openxmlformats.org/drawingml/2006/main">
              <a:ext uri="{FF2B5EF4-FFF2-40B4-BE49-F238E27FC236}">
                <a16:creationId xmlns:a16="http://schemas.microsoft.com/office/drawing/2014/main" id="{48E24BB1-FEBE-476F-84D7-9507D0D454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33</a:t>
            </a:r>
          </a:p>
        </p:txBody>
      </p:sp>
    </p:spTree>
    <p:extLst>
      <p:ext uri="{BB962C8B-B14F-4D97-AF65-F5344CB8AC3E}">
        <p14:creationId xmlns:p14="http://schemas.microsoft.com/office/powerpoint/2010/main" val="1288391602"/>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E38532C-1F4E-4359-8C91-45BF276D13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2E3B566-DC01-4008-BFDF-DF6BC9AFD6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C11A43C-1E52-4577-9727-C10B594B0E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Cross-validation within training data</a:t>
            </a:r>
          </a:p>
        </p:txBody>
      </p:sp>
      <p:sp>
        <p:nvSpPr>
          <p:cNvPr id="4" name="">
            <a:extLst xmlns:a="http://schemas.openxmlformats.org/drawingml/2006/main">
              <a:ext uri="{FF2B5EF4-FFF2-40B4-BE49-F238E27FC236}">
                <a16:creationId xmlns:a16="http://schemas.microsoft.com/office/drawing/2014/main" id="{0EEDA7B8-C2ED-4DAF-8A78-098311BF192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A0FC05B-FE87-427F-A5F6-DBD81A7B0FB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9F4DC1B-2B9F-472F-87F9-6B12F448676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GroupKFold keeps each equipment group within one fold. Each fold takes a turn as validation while the remaining folds train the pipeline.</a:t>
            </a:r>
          </a:p>
        </p:txBody>
      </p:sp>
      <p:sp>
        <p:nvSpPr>
          <p:cNvPr id="7" name="">
            <a:extLst xmlns:a="http://schemas.openxmlformats.org/drawingml/2006/main">
              <a:ext uri="{FF2B5EF4-FFF2-40B4-BE49-F238E27FC236}">
                <a16:creationId xmlns:a16="http://schemas.microsoft.com/office/drawing/2014/main" id="{ED803EE9-CB7A-4750-8445-D8D4BD5E20A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cross_val_score reports one score per fold. neg_mean_absolute_error returns negative MAE, so negate the scores before reporting baseline_errors.</a:t>
            </a:r>
          </a:p>
        </p:txBody>
      </p:sp>
      <p:sp>
        <p:nvSpPr>
          <p:cNvPr id="8" name="">
            <a:extLst xmlns:a="http://schemas.openxmlformats.org/drawingml/2006/main">
              <a:ext uri="{FF2B5EF4-FFF2-40B4-BE49-F238E27FC236}">
                <a16:creationId xmlns:a16="http://schemas.microsoft.com/office/drawing/2014/main" id="{4308AA54-A566-4098-B40C-465E720953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34</a:t>
            </a:r>
          </a:p>
        </p:txBody>
      </p:sp>
    </p:spTree>
    <p:extLst>
      <p:ext uri="{BB962C8B-B14F-4D97-AF65-F5344CB8AC3E}">
        <p14:creationId xmlns:p14="http://schemas.microsoft.com/office/powerpoint/2010/main" val="1947667509"/>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E287C3F-7AE7-4A4D-B373-A507EAD5AC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D154A0C-4641-4C22-A890-2C7005C9D7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8632FA2-241F-4814-BD0A-C67BFB60AA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E3FB4D82-0E00-4EF0-89E1-868EBEBEF3A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B82CDE4-2BF9-4BA4-B894-D111AEA3F62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labelled column: pd.Series(values) creates a one-dimensional labelled sequence. With an array of fold errors, the default labels are 0, 1, 2 and so on.</a:t>
            </a:r>
          </a:p>
        </p:txBody>
      </p:sp>
      <p:sp>
        <p:nvSpPr>
          <p:cNvPr id="6" name="">
            <a:extLst xmlns:a="http://schemas.openxmlformats.org/drawingml/2006/main">
              <a:ext uri="{FF2B5EF4-FFF2-40B4-BE49-F238E27FC236}">
                <a16:creationId xmlns:a16="http://schemas.microsoft.com/office/drawing/2014/main" id="{BBB9BDDA-AFEF-49C6-AC73-EE3A948C16F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FF46E8D-C8A3-4B50-9442-C2C4A50D7E6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of recorded values: series.mean() adds known values and divides by their count. pandas skips missing values by default. The result has the same unit as the original column.</a:t>
            </a:r>
          </a:p>
        </p:txBody>
      </p:sp>
      <p:sp>
        <p:nvSpPr>
          <p:cNvPr id="8" name="">
            <a:extLst xmlns:a="http://schemas.openxmlformats.org/drawingml/2006/main">
              <a:ext uri="{FF2B5EF4-FFF2-40B4-BE49-F238E27FC236}">
                <a16:creationId xmlns:a16="http://schemas.microsoft.com/office/drawing/2014/main" id="{449EC294-1A94-4388-9CC3-15FDFBD8239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6C67E3A-D98D-49BA-B691-191B15A5AA6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Spread of fold errors: series.std(ddof=0) measures how far values spread around their mean. ddof=0 divides squared deviations by the number of values. This describes these folds, not a confidence interval.</a:t>
            </a:r>
          </a:p>
        </p:txBody>
      </p:sp>
      <p:sp>
        <p:nvSpPr>
          <p:cNvPr id="10" name="">
            <a:extLst xmlns:a="http://schemas.openxmlformats.org/drawingml/2006/main">
              <a:ext uri="{FF2B5EF4-FFF2-40B4-BE49-F238E27FC236}">
                <a16:creationId xmlns:a16="http://schemas.microsoft.com/office/drawing/2014/main" id="{F4D6B2EC-206E-4ABF-8424-F94E8FF53D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35</a:t>
            </a:r>
          </a:p>
        </p:txBody>
      </p:sp>
    </p:spTree>
    <p:extLst>
      <p:ext uri="{BB962C8B-B14F-4D97-AF65-F5344CB8AC3E}">
        <p14:creationId xmlns:p14="http://schemas.microsoft.com/office/powerpoint/2010/main" val="2144343181"/>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6E9F4CF-183F-4329-BD42-67D4A05A24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38DE8B4-0E4C-4A64-B001-B83D92926E2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2770EF8-AD61-42BF-872D-D4AA895AE7D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Keeping groups together / Scoring repeated splits</a:t>
            </a:r>
          </a:p>
        </p:txBody>
      </p:sp>
      <p:sp>
        <p:nvSpPr>
          <p:cNvPr id="4" name="">
            <a:extLst xmlns:a="http://schemas.openxmlformats.org/drawingml/2006/main">
              <a:ext uri="{FF2B5EF4-FFF2-40B4-BE49-F238E27FC236}">
                <a16:creationId xmlns:a16="http://schemas.microsoft.com/office/drawing/2014/main" id="{5284D0BE-4BD5-4679-9D9C-2B43F01ED5F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D836AC7-58AB-4334-A52D-C9FE6BCE0BD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EB309F5-37E5-41E6-B566-9F0CFA55108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GroupKFold(n_splits=4) creates four train/validation splits. All rows of an equipment group stay on one side of each split. Four splits require at least four distinct training groups.</a:t>
            </a:r>
          </a:p>
        </p:txBody>
      </p:sp>
      <p:sp>
        <p:nvSpPr>
          <p:cNvPr id="7" name="">
            <a:extLst xmlns:a="http://schemas.openxmlformats.org/drawingml/2006/main">
              <a:ext uri="{FF2B5EF4-FFF2-40B4-BE49-F238E27FC236}">
                <a16:creationId xmlns:a16="http://schemas.microsoft.com/office/drawing/2014/main" id="{EACC52D0-0847-4806-AE83-799819C043E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cross_val_score fits a fresh model for each split and scores its held-out rows. groups identifies the equipment groups and cv supplies the split rule. neg_mean_absolute_error returns negative MAE; negate it to report positive errors.</a:t>
            </a:r>
          </a:p>
        </p:txBody>
      </p:sp>
      <p:sp>
        <p:nvSpPr>
          <p:cNvPr id="8" name="">
            <a:extLst xmlns:a="http://schemas.openxmlformats.org/drawingml/2006/main">
              <a:ext uri="{FF2B5EF4-FFF2-40B4-BE49-F238E27FC236}">
                <a16:creationId xmlns:a16="http://schemas.microsoft.com/office/drawing/2014/main" id="{6BA5E50B-DD22-4B62-B687-930CCD31E8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36</a:t>
            </a:r>
          </a:p>
        </p:txBody>
      </p:sp>
    </p:spTree>
    <p:extLst>
      <p:ext uri="{BB962C8B-B14F-4D97-AF65-F5344CB8AC3E}">
        <p14:creationId xmlns:p14="http://schemas.microsoft.com/office/powerpoint/2010/main" val="1197393816"/>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E2FB15B-213A-49DD-BD74-AE92AE37F1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2013705-1126-4F0E-AA37-EA2ADE6246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88E1A2C-A46D-4B00-9613-CD94A1139E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Repeat evaluation without mixing groups</a:t>
            </a:r>
          </a:p>
        </p:txBody>
      </p:sp>
      <p:sp>
        <p:nvSpPr>
          <p:cNvPr id="4" name="">
            <a:extLst xmlns:a="http://schemas.openxmlformats.org/drawingml/2006/main">
              <a:ext uri="{FF2B5EF4-FFF2-40B4-BE49-F238E27FC236}">
                <a16:creationId xmlns:a16="http://schemas.microsoft.com/office/drawing/2014/main" id="{E685C25D-B6B6-4DB2-B34F-A7A51ED311EA}"/>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AECA67F-D492-4192-939B-430FF8206FD1}"/>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Four folds means four held-out group turns.</a:t>
            </a:r>
          </a:p>
        </p:txBody>
      </p:sp>
      <p:sp>
        <p:nvSpPr>
          <p:cNvPr id="6" name="">
            <a:extLst xmlns:a="http://schemas.openxmlformats.org/drawingml/2006/main">
              <a:ext uri="{FF2B5EF4-FFF2-40B4-BE49-F238E27FC236}">
                <a16:creationId xmlns:a16="http://schemas.microsoft.com/office/drawing/2014/main" id="{5E4330DA-DCBA-439F-8ED0-D64AE7880003}"/>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each turn, learn a fresh pipeline on the other training groups and score the held-out group.</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uses training_data only; validation and test tables stay outside this calculation.</a:t>
            </a:r>
          </a:p>
        </p:txBody>
      </p:sp>
      <p:sp>
        <p:nvSpPr>
          <p:cNvPr id="7" name="">
            <a:extLst xmlns:a="http://schemas.openxmlformats.org/drawingml/2006/main">
              <a:ext uri="{FF2B5EF4-FFF2-40B4-BE49-F238E27FC236}">
                <a16:creationId xmlns:a16="http://schemas.microsoft.com/office/drawing/2014/main" id="{460BB3B8-14CD-4DB3-AB44-BD03136F6B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37</a:t>
            </a:r>
          </a:p>
        </p:txBody>
      </p:sp>
    </p:spTree>
    <p:extLst>
      <p:ext uri="{BB962C8B-B14F-4D97-AF65-F5344CB8AC3E}">
        <p14:creationId xmlns:p14="http://schemas.microsoft.com/office/powerpoint/2010/main" val="316017"/>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A41BD7C-1EBB-4CD1-951E-AE5083510B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247EFC-DAA5-4006-B460-CC6DD2FFD3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06CBD23-22E0-4413-A97A-B6B7B93537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Fold errors calculated from the supplied training rows — step 1</a:t>
            </a:r>
          </a:p>
        </p:txBody>
      </p:sp>
      <p:sp>
        <p:nvSpPr>
          <p:cNvPr id="4" name="">
            <a:extLst xmlns:a="http://schemas.openxmlformats.org/drawingml/2006/main">
              <a:ext uri="{FF2B5EF4-FFF2-40B4-BE49-F238E27FC236}">
                <a16:creationId xmlns:a16="http://schemas.microsoft.com/office/drawing/2014/main" id="{D5E0624D-382F-41AC-9EBC-AFB0EDBCDB7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74B85B9-8C82-4CF9-A3F0-311FA62D0F2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sklearn.model_selection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GroupKFold, cross_val_score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grouped_folds = GroupKFold(n_splits=4)</a:t>
            </a:r>
          </a:p>
        </p:txBody>
      </p:sp>
      <p:sp>
        <p:nvSpPr>
          <p:cNvPr id="6" name="">
            <a:extLst xmlns:a="http://schemas.openxmlformats.org/drawingml/2006/main">
              <a:ext uri="{FF2B5EF4-FFF2-40B4-BE49-F238E27FC236}">
                <a16:creationId xmlns:a16="http://schemas.microsoft.com/office/drawing/2014/main" id="{B553A518-5735-46F4-A79C-6E7374B8BBD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grouped_folds: the split rule that keeps observations from one equipment group together.</a:t>
            </a:r>
          </a:p>
        </p:txBody>
      </p:sp>
      <p:sp>
        <p:nvSpPr>
          <p:cNvPr id="7" name="">
            <a:extLst xmlns:a="http://schemas.openxmlformats.org/drawingml/2006/main">
              <a:ext uri="{FF2B5EF4-FFF2-40B4-BE49-F238E27FC236}">
                <a16:creationId xmlns:a16="http://schemas.microsoft.com/office/drawing/2014/main" id="{E85B7C43-ADFD-4823-B6C1-02A4F2EBA3E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9CA0BE8C-F10A-4318-A04A-4AD5AACEB6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38</a:t>
            </a:r>
          </a:p>
        </p:txBody>
      </p:sp>
    </p:spTree>
    <p:extLst>
      <p:ext uri="{BB962C8B-B14F-4D97-AF65-F5344CB8AC3E}">
        <p14:creationId xmlns:p14="http://schemas.microsoft.com/office/powerpoint/2010/main" val="309426858"/>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77EE53B-D4EA-4006-9A46-59E2B6E45F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0525B68-C1C4-4B0D-9E3C-0FB8370625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6EE2557-D931-4B6F-A4FC-0183C35257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scoring convention</a:t>
            </a:r>
          </a:p>
        </p:txBody>
      </p:sp>
      <p:sp>
        <p:nvSpPr>
          <p:cNvPr id="4" name="">
            <a:extLst xmlns:a="http://schemas.openxmlformats.org/drawingml/2006/main">
              <a:ext uri="{FF2B5EF4-FFF2-40B4-BE49-F238E27FC236}">
                <a16:creationId xmlns:a16="http://schemas.microsoft.com/office/drawing/2014/main" id="{99D22A08-493F-46B1-8C83-A3B3A0C019C0}"/>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4B22AC4-3E95-425C-97D1-8076D0CC6266}"/>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scikit-learn uses larger scores as better. neg_mean_absolute_error therefore returns negative errors.</a:t>
            </a:r>
          </a:p>
        </p:txBody>
      </p:sp>
      <p:sp>
        <p:nvSpPr>
          <p:cNvPr id="6" name="">
            <a:extLst xmlns:a="http://schemas.openxmlformats.org/drawingml/2006/main">
              <a:ext uri="{FF2B5EF4-FFF2-40B4-BE49-F238E27FC236}">
                <a16:creationId xmlns:a16="http://schemas.microsoft.com/office/drawing/2014/main" id="{2EFE684E-5961-4B63-B0F1-DB4A1DD5A39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Negate the returned scores to recover ordinary positive MAE; lower MAE is better.</a:t>
            </a:r>
          </a:p>
        </p:txBody>
      </p:sp>
      <p:sp>
        <p:nvSpPr>
          <p:cNvPr id="7" name="">
            <a:extLst xmlns:a="http://schemas.openxmlformats.org/drawingml/2006/main">
              <a:ext uri="{FF2B5EF4-FFF2-40B4-BE49-F238E27FC236}">
                <a16:creationId xmlns:a16="http://schemas.microsoft.com/office/drawing/2014/main" id="{B03C06CF-BED4-4477-B5CD-ED39BBD272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39</a:t>
            </a:r>
          </a:p>
        </p:txBody>
      </p:sp>
    </p:spTree>
    <p:extLst>
      <p:ext uri="{BB962C8B-B14F-4D97-AF65-F5344CB8AC3E}">
        <p14:creationId xmlns:p14="http://schemas.microsoft.com/office/powerpoint/2010/main" val="7367223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54D31C7-65F4-46F7-A54B-8B6DA2E40AD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75F54A-F973-4D63-86A7-A1BFB9BF0B2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651918A-77D2-45E0-A2BD-0D336509BB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Fold errors calculated from the supplied training rows — step 2</a:t>
            </a:r>
          </a:p>
        </p:txBody>
      </p:sp>
      <p:sp>
        <p:nvSpPr>
          <p:cNvPr id="4" name="">
            <a:extLst xmlns:a="http://schemas.openxmlformats.org/drawingml/2006/main">
              <a:ext uri="{FF2B5EF4-FFF2-40B4-BE49-F238E27FC236}">
                <a16:creationId xmlns:a16="http://schemas.microsoft.com/office/drawing/2014/main" id="{3D75976B-25EC-41C3-912C-B738C264A34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164ABD7-FBC0-4FD9-B0E1-9D7922705FA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negative_error_scores = cross_val_score(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linear_model,</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X_train,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groups=training_data["equipment_id"],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cv=grouped_folds,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scoring="neg_mean_absolute_error",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0AC9E09A-6667-4797-9837-ADD00BAC3CB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2E50CD7-89E3-46EE-A73E-972E81E8298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grouped_folds: the split rule that keeps observations from one equipment group together.</a:t>
            </a:r>
          </a:p>
        </p:txBody>
      </p:sp>
      <p:sp>
        <p:nvSpPr>
          <p:cNvPr id="8" name="">
            <a:extLst xmlns:a="http://schemas.openxmlformats.org/drawingml/2006/main">
              <a:ext uri="{FF2B5EF4-FFF2-40B4-BE49-F238E27FC236}">
                <a16:creationId xmlns:a16="http://schemas.microsoft.com/office/drawing/2014/main" id="{3C3E7318-3606-4EF9-AC6B-BD256E38823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CCF52145-CECC-4282-88F4-70F0177A07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40</a:t>
            </a:r>
          </a:p>
        </p:txBody>
      </p:sp>
    </p:spTree>
    <p:extLst>
      <p:ext uri="{BB962C8B-B14F-4D97-AF65-F5344CB8AC3E}">
        <p14:creationId xmlns:p14="http://schemas.microsoft.com/office/powerpoint/2010/main" val="436009759"/>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1E3CEE3-B023-42D6-A5A6-689C4CFDEA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60908B1-AC94-4EA0-BF49-57FF250E1F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E2AAFE8-BBE1-4145-BF36-C6FBA86F98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Report typical error and variation</a:t>
            </a:r>
          </a:p>
        </p:txBody>
      </p:sp>
      <p:sp>
        <p:nvSpPr>
          <p:cNvPr id="4" name="">
            <a:extLst xmlns:a="http://schemas.openxmlformats.org/drawingml/2006/main">
              <a:ext uri="{FF2B5EF4-FFF2-40B4-BE49-F238E27FC236}">
                <a16:creationId xmlns:a16="http://schemas.microsoft.com/office/drawing/2014/main" id="{57071C6E-7835-4986-8082-3E7749F019C5}"/>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8B29C60-4D76-43B9-8805-009B9D053368}"/>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Each value is the MAE of one held-out fold. mean gives average error. std(ddof=0) describes spread across these four errors; it is not a confidence interval.</a:t>
            </a:r>
          </a:p>
        </p:txBody>
      </p:sp>
      <p:sp>
        <p:nvSpPr>
          <p:cNvPr id="6" name="">
            <a:extLst xmlns:a="http://schemas.openxmlformats.org/drawingml/2006/main">
              <a:ext uri="{FF2B5EF4-FFF2-40B4-BE49-F238E27FC236}">
                <a16:creationId xmlns:a16="http://schemas.microsoft.com/office/drawing/2014/main" id="{6F4C478E-6E8D-4A76-8CBC-8CA849FCF22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large spread suggests performance depends on the held-out equipment.</a:t>
            </a:r>
          </a:p>
        </p:txBody>
      </p:sp>
      <p:sp>
        <p:nvSpPr>
          <p:cNvPr id="7" name="">
            <a:extLst xmlns:a="http://schemas.openxmlformats.org/drawingml/2006/main">
              <a:ext uri="{FF2B5EF4-FFF2-40B4-BE49-F238E27FC236}">
                <a16:creationId xmlns:a16="http://schemas.microsoft.com/office/drawing/2014/main" id="{2EBCAACE-747F-47C4-8030-614B999C3A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41</a:t>
            </a:r>
          </a:p>
        </p:txBody>
      </p:sp>
    </p:spTree>
    <p:extLst>
      <p:ext uri="{BB962C8B-B14F-4D97-AF65-F5344CB8AC3E}">
        <p14:creationId xmlns:p14="http://schemas.microsoft.com/office/powerpoint/2010/main" val="1104722359"/>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F479711-38AD-4163-BD76-3DEAE478137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35FFD1F-AAC0-4353-8087-5B6227A2AFD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5891AB5-3A0F-40F0-81ED-7FC51FA407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Fold errors calculated from the supplied training rows — step 3</a:t>
            </a:r>
          </a:p>
        </p:txBody>
      </p:sp>
      <p:sp>
        <p:nvSpPr>
          <p:cNvPr id="4" name="">
            <a:extLst xmlns:a="http://schemas.openxmlformats.org/drawingml/2006/main">
              <a:ext uri="{FF2B5EF4-FFF2-40B4-BE49-F238E27FC236}">
                <a16:creationId xmlns:a16="http://schemas.microsoft.com/office/drawing/2014/main" id="{90C71E95-9AA9-4AF8-B451-5E91587B180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A958958-B3F0-400B-BA3D-7F5924267C2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fold_absolute_errors = pd.Series(-negative_error_scores)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print(fold_absolute_errors.round(4).tolist())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print(round(float(fold_absolute_errors.mean()), 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print(round(float(fold_absolute_errors.std(ddof=0)), 4))</a:t>
            </a:r>
          </a:p>
        </p:txBody>
      </p:sp>
      <p:sp>
        <p:nvSpPr>
          <p:cNvPr id="6" name="">
            <a:extLst xmlns:a="http://schemas.openxmlformats.org/drawingml/2006/main">
              <a:ext uri="{FF2B5EF4-FFF2-40B4-BE49-F238E27FC236}">
                <a16:creationId xmlns:a16="http://schemas.microsoft.com/office/drawing/2014/main" id="{C4ABC94C-9776-4268-8C9D-5D2C564933F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grouped_folds: the split rule that keeps observations from one equipment group together.</a:t>
            </a:r>
          </a:p>
        </p:txBody>
      </p:sp>
      <p:sp>
        <p:nvSpPr>
          <p:cNvPr id="7" name="">
            <a:extLst xmlns:a="http://schemas.openxmlformats.org/drawingml/2006/main">
              <a:ext uri="{FF2B5EF4-FFF2-40B4-BE49-F238E27FC236}">
                <a16:creationId xmlns:a16="http://schemas.microsoft.com/office/drawing/2014/main" id="{0BB098DF-6B0B-46EE-845D-8BC5F1A2D9A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6AD7868C-0CD2-4D7D-B5AF-29E9F4C1C1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42</a:t>
            </a:r>
          </a:p>
        </p:txBody>
      </p:sp>
    </p:spTree>
    <p:extLst>
      <p:ext uri="{BB962C8B-B14F-4D97-AF65-F5344CB8AC3E}">
        <p14:creationId xmlns:p14="http://schemas.microsoft.com/office/powerpoint/2010/main" val="1522669061"/>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46C832F-8F97-442F-BDF0-0CD8E1619C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71333A0-7739-4868-9E01-36AC16E474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01628E0-E995-4418-8C2F-4C6685AA7C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inside the required function</a:t>
            </a:r>
          </a:p>
        </p:txBody>
      </p:sp>
      <p:sp>
        <p:nvSpPr>
          <p:cNvPr id="4" name="">
            <a:extLst xmlns:a="http://schemas.openxmlformats.org/drawingml/2006/main">
              <a:ext uri="{FF2B5EF4-FFF2-40B4-BE49-F238E27FC236}">
                <a16:creationId xmlns:a16="http://schemas.microsoft.com/office/drawing/2014/main" id="{2E9181DF-263F-40D1-A5E1-758C4768D1D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C2CBDBC-C1DF-4FBC-86B7-0F824C05488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CFC2644-044E-4230-A2E4-E4BBAB6AE46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assignment caller supplies equipment_records. pd.DataFrame(records) gives those records named columns. Calculate with pandas, then return the published Python type.</a:t>
            </a:r>
          </a:p>
        </p:txBody>
      </p:sp>
      <p:sp>
        <p:nvSpPr>
          <p:cNvPr id="7" name="">
            <a:extLst xmlns:a="http://schemas.openxmlformats.org/drawingml/2006/main">
              <a:ext uri="{FF2B5EF4-FFF2-40B4-BE49-F238E27FC236}">
                <a16:creationId xmlns:a16="http://schemas.microsoft.com/office/drawing/2014/main" id="{0999482E-434C-448F-9689-C7123D32B77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to_dict("records") makes a list of row dictionaries. Series.tolist() makes a list of values. A grouped Series.to_dict() maps group labels to validation_results.</a:t>
            </a:r>
          </a:p>
        </p:txBody>
      </p:sp>
      <p:sp>
        <p:nvSpPr>
          <p:cNvPr id="8" name="">
            <a:extLst xmlns:a="http://schemas.openxmlformats.org/drawingml/2006/main">
              <a:ext uri="{FF2B5EF4-FFF2-40B4-BE49-F238E27FC236}">
                <a16:creationId xmlns:a16="http://schemas.microsoft.com/office/drawing/2014/main" id="{7EC4EA28-61B4-40EC-9D72-978DADC4A2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43</a:t>
            </a:r>
          </a:p>
        </p:txBody>
      </p:sp>
    </p:spTree>
    <p:extLst>
      <p:ext uri="{BB962C8B-B14F-4D97-AF65-F5344CB8AC3E}">
        <p14:creationId xmlns:p14="http://schemas.microsoft.com/office/powerpoint/2010/main" val="1299905452"/>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66D6E91-77E6-4972-BC29-555172A523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5752B38-8E79-40FE-9C51-0C59C06DCB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C117282-0AA4-4FCF-8680-5F131FB1DF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922D5364-67D1-4023-8227-33F11467426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9F13F97-B942-4DFC-9000-BE65024A74A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Returning a dictionary: series.to_dict() maps Series labels to values. equipment_data.to_dict("records") instead returns a list of row dictionaries. Choose the form required by the assignment.</a:t>
            </a:r>
          </a:p>
        </p:txBody>
      </p:sp>
      <p:sp>
        <p:nvSpPr>
          <p:cNvPr id="6" name="">
            <a:extLst xmlns:a="http://schemas.openxmlformats.org/drawingml/2006/main">
              <a:ext uri="{FF2B5EF4-FFF2-40B4-BE49-F238E27FC236}">
                <a16:creationId xmlns:a16="http://schemas.microsoft.com/office/drawing/2014/main" id="{CD2D07DA-6A48-4C04-B79C-CC3E3B2F9F5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F63F796-CD5E-4B5E-BC5E-2E9CCA03624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table from Python values: pd.DataFrame(records) builds a table from row dictionaries. With a dictionary of column lists, keys become column names and each list supplies that column’s values.</a:t>
            </a:r>
          </a:p>
        </p:txBody>
      </p:sp>
      <p:sp>
        <p:nvSpPr>
          <p:cNvPr id="8" name="">
            <a:extLst xmlns:a="http://schemas.openxmlformats.org/drawingml/2006/main">
              <a:ext uri="{FF2B5EF4-FFF2-40B4-BE49-F238E27FC236}">
                <a16:creationId xmlns:a16="http://schemas.microsoft.com/office/drawing/2014/main" id="{502738C7-D5BE-42FD-BCCE-D0F7F4B4329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E392141-4760-44CE-8D41-C2ED6C996C3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Grouping rows: equipment_data.groupby("label")["value"] groups the value column by matching labels. Apply mean() or sum() to calculate one result per group. Missing group labels are excluded by default.</a:t>
            </a:r>
          </a:p>
        </p:txBody>
      </p:sp>
      <p:sp>
        <p:nvSpPr>
          <p:cNvPr id="10" name="">
            <a:extLst xmlns:a="http://schemas.openxmlformats.org/drawingml/2006/main">
              <a:ext uri="{FF2B5EF4-FFF2-40B4-BE49-F238E27FC236}">
                <a16:creationId xmlns:a16="http://schemas.microsoft.com/office/drawing/2014/main" id="{9C360C3E-9AD9-4FF5-A666-AB4D0EE25A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44</a:t>
            </a:r>
          </a:p>
        </p:txBody>
      </p:sp>
    </p:spTree>
    <p:extLst>
      <p:ext uri="{BB962C8B-B14F-4D97-AF65-F5344CB8AC3E}">
        <p14:creationId xmlns:p14="http://schemas.microsoft.com/office/powerpoint/2010/main" val="1325687216"/>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A359FD7-EAC2-422A-96B9-A0F35169E6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857B049-08B4-4C2D-A9C8-F4A384561F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A42F016-F79F-47E1-9B67-F7AD551A154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a function</a:t>
            </a:r>
          </a:p>
        </p:txBody>
      </p:sp>
      <p:sp>
        <p:nvSpPr>
          <p:cNvPr id="4" name="">
            <a:extLst xmlns:a="http://schemas.openxmlformats.org/drawingml/2006/main">
              <a:ext uri="{FF2B5EF4-FFF2-40B4-BE49-F238E27FC236}">
                <a16:creationId xmlns:a16="http://schemas.microsoft.com/office/drawing/2014/main" id="{700DA658-D395-46EF-B848-477D5110CF9A}"/>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4EF9C1A-6165-4FAA-974F-DD1739ADB30F}"/>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def gives a reusable block a name and input parameters. The indented statements run when it is called. return sends a result back to the caller; print displays a result but does not return it.</a:t>
            </a:r>
          </a:p>
        </p:txBody>
      </p:sp>
      <p:sp>
        <p:nvSpPr>
          <p:cNvPr id="6" name="">
            <a:extLst xmlns:a="http://schemas.openxmlformats.org/drawingml/2006/main">
              <a:ext uri="{FF2B5EF4-FFF2-40B4-BE49-F238E27FC236}">
                <a16:creationId xmlns:a16="http://schemas.microsoft.com/office/drawing/2014/main" id="{208E912E-037C-4027-8D6F-48BD6D97AF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45</a:t>
            </a:r>
          </a:p>
        </p:txBody>
      </p:sp>
    </p:spTree>
    <p:extLst>
      <p:ext uri="{BB962C8B-B14F-4D97-AF65-F5344CB8AC3E}">
        <p14:creationId xmlns:p14="http://schemas.microsoft.com/office/powerpoint/2010/main" val="164554007"/>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64C0EFD-3764-4CC1-9EBF-5AD9998A499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FB9ABDE-0267-4698-8B07-09E20A67B2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F079DF8-2A22-4128-9033-45758FD1C5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called with the supplied records</a:t>
            </a:r>
          </a:p>
        </p:txBody>
      </p:sp>
      <p:sp>
        <p:nvSpPr>
          <p:cNvPr id="4" name="">
            <a:extLst xmlns:a="http://schemas.openxmlformats.org/drawingml/2006/main">
              <a:ext uri="{FF2B5EF4-FFF2-40B4-BE49-F238E27FC236}">
                <a16:creationId xmlns:a16="http://schemas.microsoft.com/office/drawing/2014/main" id="{4CDB11AE-3B52-45BB-BC5D-AFC8806E90D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DD8FBDA-E19B-4761-8F24-A283D5D24DA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mean_load_by_equipment(equipment_records):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equipment_data = pd.DataFrame(equipment_records)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mean_load_by_equipment_group = equipment_data.groupby(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)["load_pct"].mean()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mean_load_by_equipment_group.to_dict()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equipment_records = raw_data.to_dict("records")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print(mean_load_by_equipment(equipment_records))</a:t>
            </a:r>
          </a:p>
        </p:txBody>
      </p:sp>
      <p:sp>
        <p:nvSpPr>
          <p:cNvPr id="6" name="">
            <a:extLst xmlns:a="http://schemas.openxmlformats.org/drawingml/2006/main">
              <a:ext uri="{FF2B5EF4-FFF2-40B4-BE49-F238E27FC236}">
                <a16:creationId xmlns:a16="http://schemas.microsoft.com/office/drawing/2014/main" id="{CF073FBD-60F1-444A-A1D0-6DDAF3D6CB7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equipment_records: the input list of row dictionaries supplied to the function.</a:t>
            </a:r>
          </a:p>
        </p:txBody>
      </p:sp>
      <p:sp>
        <p:nvSpPr>
          <p:cNvPr id="7" name="">
            <a:extLst xmlns:a="http://schemas.openxmlformats.org/drawingml/2006/main">
              <a:ext uri="{FF2B5EF4-FFF2-40B4-BE49-F238E27FC236}">
                <a16:creationId xmlns:a16="http://schemas.microsoft.com/office/drawing/2014/main" id="{2C271E11-1046-46BE-A276-0E78C2A68CD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2BF94328-9DF2-4648-B237-42E65804CA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46</a:t>
            </a:r>
          </a:p>
        </p:txBody>
      </p:sp>
    </p:spTree>
    <p:extLst>
      <p:ext uri="{BB962C8B-B14F-4D97-AF65-F5344CB8AC3E}">
        <p14:creationId xmlns:p14="http://schemas.microsoft.com/office/powerpoint/2010/main" val="680768220"/>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5BA8137-B717-4122-AD42-FD518C0EAA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527B73-EF97-4D98-9929-FFC392D749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1CEF2E2-417F-4545-8E83-5A36978C8A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FAC9DE6F-E0E1-40D5-A528-02E2EC9696F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446A70A-F9F8-44B0-BD37-E8E7433C91E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crusher energy demand.</a:t>
            </a:r>
          </a:p>
        </p:txBody>
      </p:sp>
      <p:sp>
        <p:nvSpPr>
          <p:cNvPr id="6" name="">
            <a:extLst xmlns:a="http://schemas.openxmlformats.org/drawingml/2006/main">
              <a:ext uri="{FF2B5EF4-FFF2-40B4-BE49-F238E27FC236}">
                <a16:creationId xmlns:a16="http://schemas.microsoft.com/office/drawing/2014/main" id="{23E0E9E8-AF2B-4DE8-AD4C-1B9BF7D238D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A4CD523-7E42-4262-BF86-D0242D7DB96E}"/>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kWh/t.</a:t>
            </a:r>
          </a:p>
        </p:txBody>
      </p:sp>
      <p:sp>
        <p:nvSpPr>
          <p:cNvPr id="8" name="">
            <a:extLst xmlns:a="http://schemas.openxmlformats.org/drawingml/2006/main">
              <a:ext uri="{FF2B5EF4-FFF2-40B4-BE49-F238E27FC236}">
                <a16:creationId xmlns:a16="http://schemas.microsoft.com/office/drawing/2014/main" id="{EBDF4E38-6DD2-4996-AFD9-BBE92E2FE79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6F828E6-2EC4-44D2-B22C-DD136E12537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A8FD7CD7-B927-436E-9043-3774FD34F98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2FC8656-3C90-4DFB-9FB8-96B5001CE54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454B7C4A-D5C4-4AE5-8913-72157B45FC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47</a:t>
            </a:r>
          </a:p>
        </p:txBody>
      </p:sp>
    </p:spTree>
    <p:extLst>
      <p:ext uri="{BB962C8B-B14F-4D97-AF65-F5344CB8AC3E}">
        <p14:creationId xmlns:p14="http://schemas.microsoft.com/office/powerpoint/2010/main" val="1281499609"/>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FC8A436-36CA-4C10-9A81-7AD030F4DD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36EA903-4612-4823-ACA1-C507D2E3DB5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D0CEC65E-CDBA-4CFD-A6AC-75946BB70A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group_split(records)</a:t>
            </a:r>
          </a:p>
        </p:txBody>
      </p:sp>
      <p:sp>
        <p:nvSpPr>
          <p:cNvPr id="4" name="">
            <a:extLst xmlns:a="http://schemas.openxmlformats.org/drawingml/2006/main">
              <a:ext uri="{FF2B5EF4-FFF2-40B4-BE49-F238E27FC236}">
                <a16:creationId xmlns:a16="http://schemas.microsoft.com/office/drawing/2014/main" id="{2A9CEA0E-1846-4716-8038-969136611E33}"/>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5137E08-2906-4EEF-B8DD-A808146F0D00}"/>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Assign whole equipment groups: E1–E4 to train, E5 to validation, E6 to test.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train, validation and test lists of record_id in input order.</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not use target values to choose membership.</a:t>
            </a:r>
          </a:p>
        </p:txBody>
      </p:sp>
      <p:sp>
        <p:nvSpPr>
          <p:cNvPr id="6" name="">
            <a:extLst xmlns:a="http://schemas.openxmlformats.org/drawingml/2006/main">
              <a:ext uri="{FF2B5EF4-FFF2-40B4-BE49-F238E27FC236}">
                <a16:creationId xmlns:a16="http://schemas.microsoft.com/office/drawing/2014/main" id="{8E04577E-1DF6-4758-A484-49596293583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86385B6-A000-47F0-9E0B-F75E478AA040}"/>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B5B098FF-2AA3-4BA7-9909-C1967CB204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48</a:t>
            </a:r>
          </a:p>
        </p:txBody>
      </p:sp>
    </p:spTree>
    <p:extLst>
      <p:ext uri="{BB962C8B-B14F-4D97-AF65-F5344CB8AC3E}">
        <p14:creationId xmlns:p14="http://schemas.microsoft.com/office/powerpoint/2010/main" val="991915455"/>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F5020FF-0CDE-41C0-89E4-FD11C52179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A08E8C3-D551-4927-8962-6C2A918E365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3551D0A8-D214-4439-802A-B367821E3C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66E93057-E4F4-49FD-9B88-4E86CE63ACA9}"/>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00E5C82-D569-4272-930E-B1A86282D433}"/>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E4D1C6F2-8F70-480C-8ABB-2487BFFD6DAC}"/>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3CD6F85-D88A-409F-B013-1B0F31B38067}"/>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A3C7C2EE-93DD-4ECA-A479-3714F994B1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49</a:t>
            </a:r>
          </a:p>
        </p:txBody>
      </p:sp>
    </p:spTree>
    <p:extLst>
      <p:ext uri="{BB962C8B-B14F-4D97-AF65-F5344CB8AC3E}">
        <p14:creationId xmlns:p14="http://schemas.microsoft.com/office/powerpoint/2010/main" val="1316660593"/>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5D10A1F-2EC4-4F2B-AE9E-2CF68BAB35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AB29DDC-BB37-4060-AC27-216039AF7E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39D4161-36A5-426E-AC30-4F662C51EA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70502C9D-FF6F-4343-A58D-1B24B1F4716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AC78BF3-34AA-4B38-B66D-13C0E1AEEBB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46DC095E-640C-42A5-8DD5-2E3C4B6E61B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E9119DE-692D-49E3-BCB5-F12F4DEE606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A8C8D584-CED8-4D18-82D5-FE40A9BF4BC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2B66017-8CD5-4CD2-991E-44FCD1C39BE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183A92E1-0DC6-4EC0-BDD5-ADB6A22D2DA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1D8820D-C648-4924-875C-AD3F047ACFC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5559977B-DA1C-4115-9FF6-EB1F82F3CDE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50</a:t>
            </a:r>
          </a:p>
        </p:txBody>
      </p:sp>
    </p:spTree>
    <p:extLst>
      <p:ext uri="{BB962C8B-B14F-4D97-AF65-F5344CB8AC3E}">
        <p14:creationId xmlns:p14="http://schemas.microsoft.com/office/powerpoint/2010/main" val="942629786"/>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F091B38-D167-4E08-9782-C5A1C38035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BD072EF-7192-4D3F-B506-174CA2FFDA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ECC59984-95CF-4B24-AA0E-AB125156593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trust submission</a:t>
            </a:r>
          </a:p>
        </p:txBody>
      </p:sp>
      <p:sp>
        <p:nvSpPr>
          <p:cNvPr id="4" name="">
            <a:extLst xmlns:a="http://schemas.openxmlformats.org/drawingml/2006/main">
              <a:ext uri="{FF2B5EF4-FFF2-40B4-BE49-F238E27FC236}">
                <a16:creationId xmlns:a16="http://schemas.microsoft.com/office/drawing/2014/main" id="{106008E1-19DE-457C-9CDF-22B6194E3246}"/>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2F65E06-457B-4F7D-B35A-0EB4A2C0AEA8}"/>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13 Nov 2026, 08:00 Kampala</a:t>
            </a:r>
          </a:p>
        </p:txBody>
      </p:sp>
      <p:sp>
        <p:nvSpPr>
          <p:cNvPr id="6" name="">
            <a:extLst xmlns:a="http://schemas.openxmlformats.org/drawingml/2006/main">
              <a:ext uri="{FF2B5EF4-FFF2-40B4-BE49-F238E27FC236}">
                <a16:creationId xmlns:a16="http://schemas.microsoft.com/office/drawing/2014/main" id="{6E44188C-E7ED-4E60-83A6-D799FF5E3D23}"/>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6F88F77-BA3B-4894-BA88-F5C973585EE8}"/>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20 Nov 2026, 08:00 Kampala</a:t>
            </a:r>
          </a:p>
        </p:txBody>
      </p:sp>
      <p:sp>
        <p:nvSpPr>
          <p:cNvPr id="8" name="">
            <a:extLst xmlns:a="http://schemas.openxmlformats.org/drawingml/2006/main">
              <a:ext uri="{FF2B5EF4-FFF2-40B4-BE49-F238E27FC236}">
                <a16:creationId xmlns:a16="http://schemas.microsoft.com/office/drawing/2014/main" id="{2BD20FFE-5338-4D13-9AC3-F1571423D72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1A335E3-CFCB-47E6-9D3E-9B7C80150846}"/>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E3E9AF32-1A8F-4811-951D-31FD282FEB7A}"/>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6439C57-8E03-4E7A-A0AE-E95C42C0DA20}"/>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8693C9EC-5EE1-4F3E-A5D9-AAB78CB1873F}"/>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85EDE92-5C65-4F34-B686-E71607822067}"/>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ffe97cb13fe44a37"/>
              </a:rPr>
              <a:t>Open W10 assignment form</a:t>
            </a:r>
          </a:p>
        </p:txBody>
      </p:sp>
      <p:sp>
        <p:nvSpPr>
          <p:cNvPr id="14" name="">
            <a:extLst xmlns:a="http://schemas.openxmlformats.org/drawingml/2006/main">
              <a:ext uri="{FF2B5EF4-FFF2-40B4-BE49-F238E27FC236}">
                <a16:creationId xmlns:a16="http://schemas.microsoft.com/office/drawing/2014/main" id="{59BB2695-D23F-4E98-B81B-09B907B51A22}"/>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https://docs.google.com/forms/d/e/1FAIpQLSd0PIGgcund5zKvqtctB1dz7pekt8hubl0ZUrFL-BJc9bKGlQ/viewform</a:t>
            </a:r>
          </a:p>
        </p:txBody>
      </p:sp>
      <p:sp>
        <p:nvSpPr>
          <p:cNvPr id="15" name="">
            <a:extLst xmlns:a="http://schemas.openxmlformats.org/drawingml/2006/main">
              <a:ext uri="{FF2B5EF4-FFF2-40B4-BE49-F238E27FC236}">
                <a16:creationId xmlns:a16="http://schemas.microsoft.com/office/drawing/2014/main" id="{8B8EBFA6-2047-4C60-8D19-D23AB3F1BD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51</a:t>
            </a:r>
          </a:p>
        </p:txBody>
      </p:sp>
    </p:spTree>
    <p:extLst>
      <p:ext uri="{BB962C8B-B14F-4D97-AF65-F5344CB8AC3E}">
        <p14:creationId xmlns:p14="http://schemas.microsoft.com/office/powerpoint/2010/main" val="214188533"/>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B5CBDF4-3A94-4F9E-B0F4-3FCE2C3977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26FFF0F-BF00-4BBC-ACD0-AF8F9A48F4A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783244BE-FB5D-44E0-91C9-E67C07F1C3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10 quiz</a:t>
            </a:r>
          </a:p>
        </p:txBody>
      </p:sp>
      <p:sp>
        <p:nvSpPr>
          <p:cNvPr id="4" name="">
            <a:extLst xmlns:a="http://schemas.openxmlformats.org/drawingml/2006/main">
              <a:ext uri="{FF2B5EF4-FFF2-40B4-BE49-F238E27FC236}">
                <a16:creationId xmlns:a16="http://schemas.microsoft.com/office/drawing/2014/main" id="{2D8F76DC-409C-4CC8-9629-298BC588046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7829ED3-9B0B-4D63-998F-C3CA974A5568}"/>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A540BE36-6490-4ED3-A993-FD48D0C0F6EA}"/>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64AC169-2FB0-4B41-B8F6-CD449C3C0732}"/>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1BF55359-CB51-4FC9-BF90-8470B381542E}"/>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E375FA5-609F-41AA-AB3F-FD6593F95688}"/>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2893FEBF-B8B5-4B12-95D6-78D5D675F0D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691A15F-014F-44FC-ADE5-F42AF14F7489}"/>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5E3ED9AF-EF73-42CD-9483-E89CCB12D5A4}"/>
              </a:ext>
            </a:extLst>
          </p:cNvPr>
          <p:cNvPicPr>
            <a:picLocks xmlns:a="http://schemas.openxmlformats.org/drawingml/2006/main" noChangeAspect="1"/>
          </p:cNvPicPr>
          <p:nvPr/>
        </p:nvPicPr>
        <p:blipFill>
          <a:blip xmlns:r="http://schemas.openxmlformats.org/officeDocument/2006/relationships" xmlns:a="http://schemas.openxmlformats.org/drawingml/2006/main" r:embed="R58bbc0077aea467a"/>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4BB652AB-41FF-49FB-9D4A-D7CA496CB2B4}"/>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02194F83-6C6E-4359-AB71-D9950E8A65E1}"/>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425D672-E9C1-4DB4-8447-5132113BBB9A}"/>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1b72910253346d1"/>
              </a:rPr>
              <a:t>Open this week’s quiz</a:t>
            </a:r>
          </a:p>
        </p:txBody>
      </p:sp>
      <p:sp>
        <p:nvSpPr>
          <p:cNvPr id="16" name="">
            <a:extLst xmlns:a="http://schemas.openxmlformats.org/drawingml/2006/main">
              <a:ext uri="{FF2B5EF4-FFF2-40B4-BE49-F238E27FC236}">
                <a16:creationId xmlns:a16="http://schemas.microsoft.com/office/drawing/2014/main" id="{0649199B-5257-4A73-A8EE-3710BB259467}"/>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https://forms.gle/LQPALyRC3uRvZqDJ8</a:t>
            </a:r>
          </a:p>
        </p:txBody>
      </p:sp>
      <p:sp>
        <p:nvSpPr>
          <p:cNvPr id="17" name="">
            <a:extLst xmlns:a="http://schemas.openxmlformats.org/drawingml/2006/main">
              <a:ext uri="{FF2B5EF4-FFF2-40B4-BE49-F238E27FC236}">
                <a16:creationId xmlns:a16="http://schemas.microsoft.com/office/drawing/2014/main" id="{487BF421-1FEE-494E-B12E-57ABFB4571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52</a:t>
            </a:r>
          </a:p>
        </p:txBody>
      </p:sp>
    </p:spTree>
    <p:extLst>
      <p:ext uri="{BB962C8B-B14F-4D97-AF65-F5344CB8AC3E}">
        <p14:creationId xmlns:p14="http://schemas.microsoft.com/office/powerpoint/2010/main" val="1676311469"/>
      </p:ext>
    </p:extLst>
  </p:cSld>
</p:sld>
</file>

<file path=ppt/slides/slide5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3B6A9BF-081F-430A-BBED-7EB57AFE444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DE3EF0DB-1D85-47E3-843B-23BBB29D41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495C2A68-B6FB-4CD2-83D7-506A2BC4AC63}"/>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D111DBFC-9F57-43EA-A505-6DD34327BC9A}"/>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each cleaning or modelling decision using your pandas table and its outputs.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submitting the required assignment notebook.</a:t>
            </a:r>
          </a:p>
        </p:txBody>
      </p:sp>
      <p:sp>
        <p:nvSpPr>
          <p:cNvPr id="5" name="">
            <a:extLst xmlns:a="http://schemas.openxmlformats.org/drawingml/2006/main">
              <a:ext uri="{FF2B5EF4-FFF2-40B4-BE49-F238E27FC236}">
                <a16:creationId xmlns:a16="http://schemas.microsoft.com/office/drawing/2014/main" id="{74A1B546-5415-4C90-8DC5-83049BF3A919}"/>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7059A60C-0138-437C-9086-D895D78C1F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10   53</a:t>
            </a:r>
          </a:p>
        </p:txBody>
      </p:sp>
    </p:spTree>
    <p:extLst>
      <p:ext uri="{BB962C8B-B14F-4D97-AF65-F5344CB8AC3E}">
        <p14:creationId xmlns:p14="http://schemas.microsoft.com/office/powerpoint/2010/main" val="1664813079"/>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71DCE3B-B49F-43C2-B2FC-9C8FAC21512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5DCB09E-6A35-41FB-B46C-BA9509988A1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93265714-67E8-42C8-BE38-BA87485872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9AFBB785-9E26-4282-BD04-007BE1C0CF0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8929F2C-2C06-4F9D-9E4C-E5BB1123EC9D}"/>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66745A98-9213-4EF2-A5DA-82C7FBC34BC6}"/>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EEC0A2E-0896-4E8F-8022-F3A2F1EB92E1}"/>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8" name="">
            <a:extLst xmlns:a="http://schemas.openxmlformats.org/drawingml/2006/main">
              <a:ext uri="{FF2B5EF4-FFF2-40B4-BE49-F238E27FC236}">
                <a16:creationId xmlns:a16="http://schemas.microsoft.com/office/drawing/2014/main" id="{4ACBC53D-6786-411B-8644-21C0DD5915E3}"/>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D0AA5FB-AA66-4224-AE5C-590AE34D4409}"/>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0C4462E1-4933-4BC7-B833-FC29D2DBE2E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B3A1C51-24F5-4CAA-83CD-6AEB01E1E6AD}"/>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2" name="">
            <a:extLst xmlns:a="http://schemas.openxmlformats.org/drawingml/2006/main">
              <a:ext uri="{FF2B5EF4-FFF2-40B4-BE49-F238E27FC236}">
                <a16:creationId xmlns:a16="http://schemas.microsoft.com/office/drawing/2014/main" id="{A2BEB015-364C-47DD-ACA0-03AFB176FFB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52E0CAC-B396-4F90-8FB5-B739A401560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9d98430053344d2a"/>
              </a:rPr>
              <a:t>Open explainer video</a:t>
            </a:r>
          </a:p>
        </p:txBody>
      </p:sp>
      <p:sp>
        <p:nvSpPr>
          <p:cNvPr id="14" name="">
            <a:extLst xmlns:a="http://schemas.openxmlformats.org/drawingml/2006/main">
              <a:ext uri="{FF2B5EF4-FFF2-40B4-BE49-F238E27FC236}">
                <a16:creationId xmlns:a16="http://schemas.microsoft.com/office/drawing/2014/main" id="{0990AA6B-FEE9-493A-8C43-7B7CD2E8253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5" name="">
            <a:extLst xmlns:a="http://schemas.openxmlformats.org/drawingml/2006/main">
              <a:ext uri="{FF2B5EF4-FFF2-40B4-BE49-F238E27FC236}">
                <a16:creationId xmlns:a16="http://schemas.microsoft.com/office/drawing/2014/main" id="{F3F16889-DB7A-42C6-9DF5-613C53C991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54</a:t>
            </a:r>
          </a:p>
        </p:txBody>
      </p:sp>
    </p:spTree>
    <p:extLst>
      <p:ext uri="{BB962C8B-B14F-4D97-AF65-F5344CB8AC3E}">
        <p14:creationId xmlns:p14="http://schemas.microsoft.com/office/powerpoint/2010/main" val="34383594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2026-10-20T18:01:10.1460000Z</dcterms:created>
  <dcterms:modified xsi:type="dcterms:W3CDTF">2026-10-20T18:01:10.1460000Z</dcterms:modified>
</coreProperties>
</file>