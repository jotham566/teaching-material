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06514fbef14b2f" /><Relationship Type="http://schemas.openxmlformats.org/officeDocument/2006/relationships/extended-properties" Target="/docProps/app.xml" Id="R175f1402bdfb4ef6" /><Relationship Type="http://schemas.openxmlformats.org/officeDocument/2006/relationships/officeDocument" Target="/ppt/presentation.xml" Id="Rfe39b9d5b4b24649" /></Relationships>
</file>

<file path=ppt/presentation.xml><?xml version="1.0" encoding="utf-8"?>
<p:presentation xmlns:p="http://schemas.openxmlformats.org/presentationml/2006/main">
  <p:sldMasterIdLst>
    <p:sldMasterId xmlns:r="http://schemas.openxmlformats.org/officeDocument/2006/relationships" id="2147483648" r:id="R2cb98815eee24922"/>
  </p:sldMasterIdLst>
  <p:notesMasterIdLst>
    <p:notesMasterId xmlns:r="http://schemas.openxmlformats.org/officeDocument/2006/relationships" r:id="R21ccbba8e0ec4c37"/>
  </p:notesMasterIdLst>
  <p:sldIdLst>
    <p:sldId xmlns:r="http://schemas.openxmlformats.org/officeDocument/2006/relationships" id="256" r:id="Re15377f2861b4fa1"/>
    <p:sldId xmlns:r="http://schemas.openxmlformats.org/officeDocument/2006/relationships" id="257" r:id="Rb86c7bd3488646f0"/>
    <p:sldId xmlns:r="http://schemas.openxmlformats.org/officeDocument/2006/relationships" id="258" r:id="Rb50246db11db4795"/>
    <p:sldId xmlns:r="http://schemas.openxmlformats.org/officeDocument/2006/relationships" id="259" r:id="Rea8d136e54df4e19"/>
    <p:sldId xmlns:r="http://schemas.openxmlformats.org/officeDocument/2006/relationships" id="260" r:id="Re59d6fcea5ae4a7b"/>
    <p:sldId xmlns:r="http://schemas.openxmlformats.org/officeDocument/2006/relationships" id="261" r:id="R07b7505fea6f443f"/>
    <p:sldId xmlns:r="http://schemas.openxmlformats.org/officeDocument/2006/relationships" id="262" r:id="R051ef5abf6f7482f"/>
    <p:sldId xmlns:r="http://schemas.openxmlformats.org/officeDocument/2006/relationships" id="263" r:id="R7f635e0abf62471c"/>
    <p:sldId xmlns:r="http://schemas.openxmlformats.org/officeDocument/2006/relationships" id="264" r:id="R87e75cb867fa479a"/>
    <p:sldId xmlns:r="http://schemas.openxmlformats.org/officeDocument/2006/relationships" id="265" r:id="Rce1db830d63b447b"/>
    <p:sldId xmlns:r="http://schemas.openxmlformats.org/officeDocument/2006/relationships" id="266" r:id="R8b01cf6b238446e1"/>
    <p:sldId xmlns:r="http://schemas.openxmlformats.org/officeDocument/2006/relationships" id="267" r:id="R029bb059909c4cd7"/>
    <p:sldId xmlns:r="http://schemas.openxmlformats.org/officeDocument/2006/relationships" id="268" r:id="Re76e79c0ff204750"/>
    <p:sldId xmlns:r="http://schemas.openxmlformats.org/officeDocument/2006/relationships" id="269" r:id="Rb51ef52e851f4a9f"/>
    <p:sldId xmlns:r="http://schemas.openxmlformats.org/officeDocument/2006/relationships" id="270" r:id="Ra71686b142be4ce4"/>
    <p:sldId xmlns:r="http://schemas.openxmlformats.org/officeDocument/2006/relationships" id="271" r:id="R81d6baed12bb4272"/>
    <p:sldId xmlns:r="http://schemas.openxmlformats.org/officeDocument/2006/relationships" id="272" r:id="Red90baab78cc4c47"/>
    <p:sldId xmlns:r="http://schemas.openxmlformats.org/officeDocument/2006/relationships" id="273" r:id="R682741a55da74b5c"/>
    <p:sldId xmlns:r="http://schemas.openxmlformats.org/officeDocument/2006/relationships" id="274" r:id="Ra39ca1ac5e444641"/>
    <p:sldId xmlns:r="http://schemas.openxmlformats.org/officeDocument/2006/relationships" id="275" r:id="R47ae6d70c5cf4524"/>
    <p:sldId xmlns:r="http://schemas.openxmlformats.org/officeDocument/2006/relationships" id="276" r:id="R4aab51fdb7fa4545"/>
    <p:sldId xmlns:r="http://schemas.openxmlformats.org/officeDocument/2006/relationships" id="277" r:id="Rde7bb432e07b46fb"/>
    <p:sldId xmlns:r="http://schemas.openxmlformats.org/officeDocument/2006/relationships" id="278" r:id="R2615c59b4a5348e8"/>
    <p:sldId xmlns:r="http://schemas.openxmlformats.org/officeDocument/2006/relationships" id="279" r:id="Rdbf0ede1525d4b81"/>
    <p:sldId xmlns:r="http://schemas.openxmlformats.org/officeDocument/2006/relationships" id="280" r:id="R555115301fe14c5d"/>
    <p:sldId xmlns:r="http://schemas.openxmlformats.org/officeDocument/2006/relationships" id="281" r:id="R37b27c08474a4b57"/>
    <p:sldId xmlns:r="http://schemas.openxmlformats.org/officeDocument/2006/relationships" id="282" r:id="Rc24d7176c30549c3"/>
    <p:sldId xmlns:r="http://schemas.openxmlformats.org/officeDocument/2006/relationships" id="283" r:id="R51891a8f9b634eb4"/>
    <p:sldId xmlns:r="http://schemas.openxmlformats.org/officeDocument/2006/relationships" id="284" r:id="Ra1b92ef051594f80"/>
    <p:sldId xmlns:r="http://schemas.openxmlformats.org/officeDocument/2006/relationships" id="285" r:id="Rcc6091cd77e44a2e"/>
    <p:sldId xmlns:r="http://schemas.openxmlformats.org/officeDocument/2006/relationships" id="286" r:id="Rb03d331562aa48e9"/>
    <p:sldId xmlns:r="http://schemas.openxmlformats.org/officeDocument/2006/relationships" id="287" r:id="Rf076c9367b5a4fcb"/>
    <p:sldId xmlns:r="http://schemas.openxmlformats.org/officeDocument/2006/relationships" id="288" r:id="R289e83b353ee454e"/>
    <p:sldId xmlns:r="http://schemas.openxmlformats.org/officeDocument/2006/relationships" id="289" r:id="R8f16f18a334144fb"/>
    <p:sldId xmlns:r="http://schemas.openxmlformats.org/officeDocument/2006/relationships" id="290" r:id="R7a79b59733f14db8"/>
    <p:sldId xmlns:r="http://schemas.openxmlformats.org/officeDocument/2006/relationships" id="291" r:id="R61986d3211b9460a"/>
    <p:sldId xmlns:r="http://schemas.openxmlformats.org/officeDocument/2006/relationships" id="292" r:id="R872be1eec42e4660"/>
    <p:sldId xmlns:r="http://schemas.openxmlformats.org/officeDocument/2006/relationships" id="293" r:id="R15b550105101468d"/>
    <p:sldId xmlns:r="http://schemas.openxmlformats.org/officeDocument/2006/relationships" id="294" r:id="Rd850ac136f05475b"/>
    <p:sldId xmlns:r="http://schemas.openxmlformats.org/officeDocument/2006/relationships" id="295" r:id="Rb5033fa9fbb64f51"/>
    <p:sldId xmlns:r="http://schemas.openxmlformats.org/officeDocument/2006/relationships" id="296" r:id="Rff64a411effb4cfd"/>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9bf515a1834639" /><Relationship Type="http://schemas.openxmlformats.org/officeDocument/2006/relationships/slideMaster" Target="/ppt/slideMasters/slideMaster1.xml" Id="R2cb98815eee24922" /><Relationship Type="http://schemas.openxmlformats.org/officeDocument/2006/relationships/notesMaster" Target="/ppt/notesMasters/notesMaster1.xml" Id="R21ccbba8e0ec4c37" /><Relationship Type="http://schemas.openxmlformats.org/officeDocument/2006/relationships/presProps" Target="/ppt/presProps.xml" Id="R57876f666e5747d4" /><Relationship Type="http://schemas.openxmlformats.org/officeDocument/2006/relationships/tableStyles" Target="/ppt/tableStyles.xml" Id="R80bb6494edf24a6b" /><Relationship Type="http://schemas.openxmlformats.org/officeDocument/2006/relationships/slide" Target="/ppt/slides/slide1.xml" Id="Re15377f2861b4fa1" /><Relationship Type="http://schemas.openxmlformats.org/officeDocument/2006/relationships/slide" Target="/ppt/slides/slide2.xml" Id="Rb86c7bd3488646f0" /><Relationship Type="http://schemas.openxmlformats.org/officeDocument/2006/relationships/slide" Target="/ppt/slides/slide3.xml" Id="Rb50246db11db4795" /><Relationship Type="http://schemas.openxmlformats.org/officeDocument/2006/relationships/slide" Target="/ppt/slides/slide4.xml" Id="Rea8d136e54df4e19" /><Relationship Type="http://schemas.openxmlformats.org/officeDocument/2006/relationships/slide" Target="/ppt/slides/slide5.xml" Id="Re59d6fcea5ae4a7b" /><Relationship Type="http://schemas.openxmlformats.org/officeDocument/2006/relationships/slide" Target="/ppt/slides/slide6.xml" Id="R07b7505fea6f443f" /><Relationship Type="http://schemas.openxmlformats.org/officeDocument/2006/relationships/slide" Target="/ppt/slides/slide7.xml" Id="R051ef5abf6f7482f" /><Relationship Type="http://schemas.openxmlformats.org/officeDocument/2006/relationships/slide" Target="/ppt/slides/slide8.xml" Id="R7f635e0abf62471c" /><Relationship Type="http://schemas.openxmlformats.org/officeDocument/2006/relationships/slide" Target="/ppt/slides/slide9.xml" Id="R87e75cb867fa479a" /><Relationship Type="http://schemas.openxmlformats.org/officeDocument/2006/relationships/slide" Target="/ppt/slides/slide10.xml" Id="Rce1db830d63b447b" /><Relationship Type="http://schemas.openxmlformats.org/officeDocument/2006/relationships/slide" Target="/ppt/slides/slide11.xml" Id="R8b01cf6b238446e1" /><Relationship Type="http://schemas.openxmlformats.org/officeDocument/2006/relationships/slide" Target="/ppt/slides/slide12.xml" Id="R029bb059909c4cd7" /><Relationship Type="http://schemas.openxmlformats.org/officeDocument/2006/relationships/slide" Target="/ppt/slides/slide13.xml" Id="Re76e79c0ff204750" /><Relationship Type="http://schemas.openxmlformats.org/officeDocument/2006/relationships/slide" Target="/ppt/slides/slide14.xml" Id="Rb51ef52e851f4a9f" /><Relationship Type="http://schemas.openxmlformats.org/officeDocument/2006/relationships/slide" Target="/ppt/slides/slide15.xml" Id="Ra71686b142be4ce4" /><Relationship Type="http://schemas.openxmlformats.org/officeDocument/2006/relationships/slide" Target="/ppt/slides/slide16.xml" Id="R81d6baed12bb4272" /><Relationship Type="http://schemas.openxmlformats.org/officeDocument/2006/relationships/slide" Target="/ppt/slides/slide17.xml" Id="Red90baab78cc4c47" /><Relationship Type="http://schemas.openxmlformats.org/officeDocument/2006/relationships/slide" Target="/ppt/slides/slide18.xml" Id="R682741a55da74b5c" /><Relationship Type="http://schemas.openxmlformats.org/officeDocument/2006/relationships/slide" Target="/ppt/slides/slide19.xml" Id="Ra39ca1ac5e444641" /><Relationship Type="http://schemas.openxmlformats.org/officeDocument/2006/relationships/slide" Target="/ppt/slides/slide20.xml" Id="R47ae6d70c5cf4524" /><Relationship Type="http://schemas.openxmlformats.org/officeDocument/2006/relationships/slide" Target="/ppt/slides/slide21.xml" Id="R4aab51fdb7fa4545" /><Relationship Type="http://schemas.openxmlformats.org/officeDocument/2006/relationships/slide" Target="/ppt/slides/slide22.xml" Id="Rde7bb432e07b46fb" /><Relationship Type="http://schemas.openxmlformats.org/officeDocument/2006/relationships/slide" Target="/ppt/slides/slide23.xml" Id="R2615c59b4a5348e8" /><Relationship Type="http://schemas.openxmlformats.org/officeDocument/2006/relationships/slide" Target="/ppt/slides/slide24.xml" Id="Rdbf0ede1525d4b81" /><Relationship Type="http://schemas.openxmlformats.org/officeDocument/2006/relationships/slide" Target="/ppt/slides/slide25.xml" Id="R555115301fe14c5d" /><Relationship Type="http://schemas.openxmlformats.org/officeDocument/2006/relationships/slide" Target="/ppt/slides/slide26.xml" Id="R37b27c08474a4b57" /><Relationship Type="http://schemas.openxmlformats.org/officeDocument/2006/relationships/slide" Target="/ppt/slides/slide27.xml" Id="Rc24d7176c30549c3" /><Relationship Type="http://schemas.openxmlformats.org/officeDocument/2006/relationships/slide" Target="/ppt/slides/slide28.xml" Id="R51891a8f9b634eb4" /><Relationship Type="http://schemas.openxmlformats.org/officeDocument/2006/relationships/slide" Target="/ppt/slides/slide29.xml" Id="Ra1b92ef051594f80" /><Relationship Type="http://schemas.openxmlformats.org/officeDocument/2006/relationships/slide" Target="/ppt/slides/slide30.xml" Id="Rcc6091cd77e44a2e" /><Relationship Type="http://schemas.openxmlformats.org/officeDocument/2006/relationships/slide" Target="/ppt/slides/slide31.xml" Id="Rb03d331562aa48e9" /><Relationship Type="http://schemas.openxmlformats.org/officeDocument/2006/relationships/slide" Target="/ppt/slides/slide32.xml" Id="Rf076c9367b5a4fcb" /><Relationship Type="http://schemas.openxmlformats.org/officeDocument/2006/relationships/slide" Target="/ppt/slides/slide33.xml" Id="R289e83b353ee454e" /><Relationship Type="http://schemas.openxmlformats.org/officeDocument/2006/relationships/slide" Target="/ppt/slides/slide34.xml" Id="R8f16f18a334144fb" /><Relationship Type="http://schemas.openxmlformats.org/officeDocument/2006/relationships/slide" Target="/ppt/slides/slide35.xml" Id="R7a79b59733f14db8" /><Relationship Type="http://schemas.openxmlformats.org/officeDocument/2006/relationships/slide" Target="/ppt/slides/slide36.xml" Id="R61986d3211b9460a" /><Relationship Type="http://schemas.openxmlformats.org/officeDocument/2006/relationships/slide" Target="/ppt/slides/slide37.xml" Id="R872be1eec42e4660" /><Relationship Type="http://schemas.openxmlformats.org/officeDocument/2006/relationships/slide" Target="/ppt/slides/slide38.xml" Id="R15b550105101468d" /><Relationship Type="http://schemas.openxmlformats.org/officeDocument/2006/relationships/slide" Target="/ppt/slides/slide39.xml" Id="Rd850ac136f05475b" /><Relationship Type="http://schemas.openxmlformats.org/officeDocument/2006/relationships/slide" Target="/ppt/slides/slide40.xml" Id="Rb5033fa9fbb64f51" /><Relationship Type="http://schemas.openxmlformats.org/officeDocument/2006/relationships/slide" Target="/ppt/slides/slide41.xml" Id="Rff64a411effb4c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91d507f79346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ad00a66e2e4aaf" /><Relationship Type="http://schemas.openxmlformats.org/officeDocument/2006/relationships/notesMaster" Target="/ppt/notesMasters/notesMaster1.xml" Id="R1d48e263bd1c40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060e82b8764009" /><Relationship Type="http://schemas.openxmlformats.org/officeDocument/2006/relationships/notesMaster" Target="/ppt/notesMasters/notesMaster1.xml" Id="R931a5539e46a4a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ebd53802b549b7" /><Relationship Type="http://schemas.openxmlformats.org/officeDocument/2006/relationships/notesMaster" Target="/ppt/notesMasters/notesMaster1.xml" Id="R064ace78988346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6172de60f34901" /><Relationship Type="http://schemas.openxmlformats.org/officeDocument/2006/relationships/notesMaster" Target="/ppt/notesMasters/notesMaster1.xml" Id="Rdb0dfb6da08943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6faf79b3a94f04" /><Relationship Type="http://schemas.openxmlformats.org/officeDocument/2006/relationships/notesMaster" Target="/ppt/notesMasters/notesMaster1.xml" Id="Rf4ce1a84776a43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d8626744f94cff" /><Relationship Type="http://schemas.openxmlformats.org/officeDocument/2006/relationships/notesMaster" Target="/ppt/notesMasters/notesMaster1.xml" Id="Re12ebd84dee844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4a5d799079416c" /><Relationship Type="http://schemas.openxmlformats.org/officeDocument/2006/relationships/notesMaster" Target="/ppt/notesMasters/notesMaster1.xml" Id="R1a0af1a3ae6b4c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d8afbc7e514259" /><Relationship Type="http://schemas.openxmlformats.org/officeDocument/2006/relationships/notesMaster" Target="/ppt/notesMasters/notesMaster1.xml" Id="Rdd69876d025243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593aabb03c46d9" /><Relationship Type="http://schemas.openxmlformats.org/officeDocument/2006/relationships/notesMaster" Target="/ppt/notesMasters/notesMaster1.xml" Id="R1e77d20b546d4d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e40069054b42d9" /><Relationship Type="http://schemas.openxmlformats.org/officeDocument/2006/relationships/notesMaster" Target="/ppt/notesMasters/notesMaster1.xml" Id="R6191329ec5fc49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eb603fd56347a1" /><Relationship Type="http://schemas.openxmlformats.org/officeDocument/2006/relationships/notesMaster" Target="/ppt/notesMasters/notesMaster1.xml" Id="R35dfb434a6e047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aa64f673994c40" /><Relationship Type="http://schemas.openxmlformats.org/officeDocument/2006/relationships/notesMaster" Target="/ppt/notesMasters/notesMaster1.xml" Id="R9fca12a5339143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4b9c4c47ec49bb" /><Relationship Type="http://schemas.openxmlformats.org/officeDocument/2006/relationships/notesMaster" Target="/ppt/notesMasters/notesMaster1.xml" Id="Rd42f3ce2145e49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3285122f7d4f1c" /><Relationship Type="http://schemas.openxmlformats.org/officeDocument/2006/relationships/notesMaster" Target="/ppt/notesMasters/notesMaster1.xml" Id="Rd3748424842e47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216f80f78a4c98" /><Relationship Type="http://schemas.openxmlformats.org/officeDocument/2006/relationships/notesMaster" Target="/ppt/notesMasters/notesMaster1.xml" Id="Rf631d5575395462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8c48d3bfec4f81" /><Relationship Type="http://schemas.openxmlformats.org/officeDocument/2006/relationships/notesMaster" Target="/ppt/notesMasters/notesMaster1.xml" Id="R54c9a335972d4ee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064714adf084252" /><Relationship Type="http://schemas.openxmlformats.org/officeDocument/2006/relationships/notesMaster" Target="/ppt/notesMasters/notesMaster1.xml" Id="Rb0e410f610b84d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2d54d2247f64bb3" /><Relationship Type="http://schemas.openxmlformats.org/officeDocument/2006/relationships/notesMaster" Target="/ppt/notesMasters/notesMaster1.xml" Id="Rbb81407e81d0489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254e05a06b14a9c" /><Relationship Type="http://schemas.openxmlformats.org/officeDocument/2006/relationships/notesMaster" Target="/ppt/notesMasters/notesMaster1.xml" Id="Rcd25a8ed9c6f4e0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5daf1a0b5164f17" /><Relationship Type="http://schemas.openxmlformats.org/officeDocument/2006/relationships/notesMaster" Target="/ppt/notesMasters/notesMaster1.xml" Id="R5413c9e3fc38407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466efaf26e40b4" /><Relationship Type="http://schemas.openxmlformats.org/officeDocument/2006/relationships/notesMaster" Target="/ppt/notesMasters/notesMaster1.xml" Id="R65c80a4f58be492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afe0c2857f342ed" /><Relationship Type="http://schemas.openxmlformats.org/officeDocument/2006/relationships/notesMaster" Target="/ppt/notesMasters/notesMaster1.xml" Id="Rb621c723ac06442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c80bc5c41df4406" /><Relationship Type="http://schemas.openxmlformats.org/officeDocument/2006/relationships/notesMaster" Target="/ppt/notesMasters/notesMaster1.xml" Id="R4db9c1adccea413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4417ed9f2814fcd" /><Relationship Type="http://schemas.openxmlformats.org/officeDocument/2006/relationships/notesMaster" Target="/ppt/notesMasters/notesMaster1.xml" Id="Rcc7fbd57e291421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71dcfc87fbb4d43" /><Relationship Type="http://schemas.openxmlformats.org/officeDocument/2006/relationships/notesMaster" Target="/ppt/notesMasters/notesMaster1.xml" Id="Rc883d60b7f43486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30f49b0be5f4fac" /><Relationship Type="http://schemas.openxmlformats.org/officeDocument/2006/relationships/notesMaster" Target="/ppt/notesMasters/notesMaster1.xml" Id="Ra75ef4f0069344c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45a13d16dc048f4" /><Relationship Type="http://schemas.openxmlformats.org/officeDocument/2006/relationships/notesMaster" Target="/ppt/notesMasters/notesMaster1.xml" Id="R78f9b0347f7540b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f1ec1361af64bbe" /><Relationship Type="http://schemas.openxmlformats.org/officeDocument/2006/relationships/notesMaster" Target="/ppt/notesMasters/notesMaster1.xml" Id="R597b795ade634f7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cb4e8222ef4d2c" /><Relationship Type="http://schemas.openxmlformats.org/officeDocument/2006/relationships/notesMaster" Target="/ppt/notesMasters/notesMaster1.xml" Id="R53cdab24c42d411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9f06e6b5d84479f" /><Relationship Type="http://schemas.openxmlformats.org/officeDocument/2006/relationships/notesMaster" Target="/ppt/notesMasters/notesMaster1.xml" Id="R5bc34a92e1ef440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fc9e836a29d435d" /><Relationship Type="http://schemas.openxmlformats.org/officeDocument/2006/relationships/notesMaster" Target="/ppt/notesMasters/notesMaster1.xml" Id="R3deabc518fc9437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7cd2100e1ca42be" /><Relationship Type="http://schemas.openxmlformats.org/officeDocument/2006/relationships/notesMaster" Target="/ppt/notesMasters/notesMaster1.xml" Id="Rc5a0ee6d345e4ec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8e138638401455f" /><Relationship Type="http://schemas.openxmlformats.org/officeDocument/2006/relationships/notesMaster" Target="/ppt/notesMasters/notesMaster1.xml" Id="R09ab6e29a70b400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77612add1f4478e" /><Relationship Type="http://schemas.openxmlformats.org/officeDocument/2006/relationships/notesMaster" Target="/ppt/notesMasters/notesMaster1.xml" Id="R0a9aeee35365449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c67a57d0a7e49a4" /><Relationship Type="http://schemas.openxmlformats.org/officeDocument/2006/relationships/notesMaster" Target="/ppt/notesMasters/notesMaster1.xml" Id="R9b9b8cba77b04db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86a511a05824d33" /><Relationship Type="http://schemas.openxmlformats.org/officeDocument/2006/relationships/notesMaster" Target="/ppt/notesMasters/notesMaster1.xml" Id="R6b23508d7cec4b2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25ee4b5eb4a44fe" /><Relationship Type="http://schemas.openxmlformats.org/officeDocument/2006/relationships/notesMaster" Target="/ppt/notesMasters/notesMaster1.xml" Id="R090e4a236849493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4af37077dc94d9c" /><Relationship Type="http://schemas.openxmlformats.org/officeDocument/2006/relationships/notesMaster" Target="/ppt/notesMasters/notesMaster1.xml" Id="Readcd1cf975d4e1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fb5efa053e4411e" /><Relationship Type="http://schemas.openxmlformats.org/officeDocument/2006/relationships/notesMaster" Target="/ppt/notesMasters/notesMaster1.xml" Id="Rd30894a4e95b4f9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31e4852e537416d" /><Relationship Type="http://schemas.openxmlformats.org/officeDocument/2006/relationships/notesMaster" Target="/ppt/notesMasters/notesMaster1.xml" Id="Ra43a3f9004004a7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63fecb9a12d430b" /><Relationship Type="http://schemas.openxmlformats.org/officeDocument/2006/relationships/notesMaster" Target="/ppt/notesMasters/notesMaster1.xml" Id="Rda51e4b957b343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Classification and the cost of mistakes</a:t>
            </a:r>
          </a:p>
          <a:p xmlns:a="http://schemas.openxmlformats.org/drawingml/2006/main">
            <a:r>
              <a:t/>
            </a:r>
          </a:p>
          <a:p xmlns:a="http://schemas.openxmlformats.org/drawingml/2006/main">
            <a:r>
              <a:t>CONNECT</a:t>
            </a:r>
          </a:p>
          <a:p xmlns:a="http://schemas.openxmlformats.org/drawingml/2006/main">
            <a:r>
              <a:t>Previous slide: the preceding week.</a:t>
            </a:r>
          </a:p>
          <a:p xmlns:a="http://schemas.openxmlformats.org/drawingml/2006/main">
            <a:r>
              <a:t/>
            </a:r>
          </a:p>
          <a:p xmlns:a="http://schemas.openxmlformats.org/drawingml/2006/main">
            <a:r>
              <a:t>EXPLAIN</a:t>
            </a:r>
          </a:p>
          <a:p xmlns:a="http://schemas.openxmlformats.org/drawingml/2006/main">
            <a:r>
              <a:t>Communications, Electrical, Mechatronics and Robotics Engineering</a:t>
            </a:r>
          </a:p>
          <a:p xmlns:a="http://schemas.openxmlformats.org/drawingml/2006/main">
            <a:r>
              <a:t/>
            </a:r>
          </a:p>
          <a:p xmlns:a="http://schemas.openxmlformats.org/drawingml/2006/main">
            <a:r>
              <a:t>LECTURER CUE</a:t>
            </a:r>
          </a:p>
          <a:p xmlns:a="http://schemas.openxmlformats.org/drawingml/2006/main">
            <a:r>
              <a:t>Use PowerPoint Presenter View for these notes. Teach one example, pause for every learner to predict, then work an analogous example together. The practice notebook is a learning aid, not an extra graded upload.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Today’s learning.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Today’s learning</a:t>
            </a:r>
          </a:p>
          <a:p xmlns:a="http://schemas.openxmlformats.org/drawingml/2006/main">
            <a:r>
              <a:t/>
            </a:r>
          </a:p>
          <a:p xmlns:a="http://schemas.openxmlformats.org/drawingml/2006/main">
            <a:r>
              <a:t>CONNECT</a:t>
            </a:r>
          </a:p>
          <a:p xmlns:a="http://schemas.openxmlformats.org/drawingml/2006/main">
            <a:r>
              <a:t>Previous slide: Classification and the cost of mistakes.</a:t>
            </a:r>
          </a:p>
          <a:p xmlns:a="http://schemas.openxmlformats.org/drawingml/2006/main">
            <a:r>
              <a:t/>
            </a:r>
          </a:p>
          <a:p xmlns:a="http://schemas.openxmlformats.org/drawingml/2006/main">
            <a:r>
              <a:t>EXPLAIN</a:t>
            </a:r>
          </a:p>
          <a:p xmlns:a="http://schemas.openxmlformats.org/drawingml/2006/main">
            <a:r>
              <a:t>Distinguish an actual label from a predicted label.</a:t>
            </a:r>
          </a:p>
          <a:p xmlns:a="http://schemas.openxmlformats.org/drawingml/2006/main">
            <a:r>
              <a:t/>
            </a:r>
          </a:p>
          <a:p xmlns:a="http://schemas.openxmlformats.org/drawingml/2006/main">
            <a:r>
              <a:t>Count prediction outcomes and explain their costs.</a:t>
            </a:r>
          </a:p>
          <a:p xmlns:a="http://schemas.openxmlformats.org/drawingml/2006/main">
            <a:r>
              <a:t/>
            </a:r>
          </a:p>
          <a:p xmlns:a="http://schemas.openxmlformats.org/drawingml/2006/main">
            <a:r>
              <a:t>LECTURER CUE</a:t>
            </a:r>
          </a:p>
          <a:p xmlns:a="http://schemas.openxmlformats.org/drawingml/2006/main">
            <a:r>
              <a:t>Ask learners to explain this goal in ordinary language. The first successful attempt matters more than covering optional extensions. Defer: Three independently built classifiers, ROC/AUC and full threshold curves are extension after the basic matrix is secure.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Connection to the previous lesson.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Connection to the previous lesson</a:t>
            </a:r>
          </a:p>
          <a:p xmlns:a="http://schemas.openxmlformats.org/drawingml/2006/main">
            <a:r>
              <a:t/>
            </a:r>
          </a:p>
          <a:p xmlns:a="http://schemas.openxmlformats.org/drawingml/2006/main">
            <a:r>
              <a:t>CONNECT</a:t>
            </a:r>
          </a:p>
          <a:p xmlns:a="http://schemas.openxmlformats.org/drawingml/2006/main">
            <a:r>
              <a:t>Previous slide: Today’s learning.</a:t>
            </a:r>
          </a:p>
          <a:p xmlns:a="http://schemas.openxmlformats.org/drawingml/2006/main">
            <a:r>
              <a:t/>
            </a:r>
          </a:p>
          <a:p xmlns:a="http://schemas.openxmlformats.org/drawingml/2006/main">
            <a:r>
              <a:t>EXPLAIN</a:t>
            </a:r>
          </a:p>
          <a:p xmlns:a="http://schemas.openxmlformats.org/drawingml/2006/main">
            <a:r>
              <a:t>Week 8 predicted a number. This week predicts a category and counts the different kinds of correct and incorrect result.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Why this week’s tools are needed.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Why this week’s tools are needed</a:t>
            </a:r>
          </a:p>
          <a:p xmlns:a="http://schemas.openxmlformats.org/drawingml/2006/main">
            <a:r>
              <a:t/>
            </a:r>
          </a:p>
          <a:p xmlns:a="http://schemas.openxmlformats.org/drawingml/2006/main">
            <a:r>
              <a:t>CONNECT</a:t>
            </a:r>
          </a:p>
          <a:p xmlns:a="http://schemas.openxmlformats.org/drawingml/2006/main">
            <a:r>
              <a:t>Previous slide: Connection to the previous lesson.</a:t>
            </a:r>
          </a:p>
          <a:p xmlns:a="http://schemas.openxmlformats.org/drawingml/2006/main">
            <a:r>
              <a:t/>
            </a:r>
          </a:p>
          <a:p xmlns:a="http://schemas.openxmlformats.org/drawingml/2006/main">
            <a:r>
              <a:t>EXPLAIN</a:t>
            </a:r>
          </a:p>
          <a:p xmlns:a="http://schemas.openxmlformats.org/drawingml/2006/main">
            <a:r>
              <a:t>A warning system predicts a category. We compare each prediction with its recorded answer, then count false alarms and missed warnings using an explicit cost rule.</a:t>
            </a:r>
          </a:p>
          <a:p xmlns:a="http://schemas.openxmlformats.org/drawingml/2006/main">
            <a:r>
              <a:t/>
            </a:r>
          </a:p>
          <a:p xmlns:a="http://schemas.openxmlformats.org/drawingml/2006/main">
            <a:r>
              <a:t>LECTURER CUE</a:t>
            </a:r>
          </a:p>
          <a:p xmlns:a="http://schemas.openxmlformats.org/drawingml/2006/main">
            <a:r>
              <a:t>A team records device temperature to investigate cooling. Use a communications cabinet, an electrical enclosure or a robot controller as the physical example. No specialist hardware knowledge is assumed.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The positive class.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The positive class</a:t>
            </a:r>
          </a:p>
          <a:p xmlns:a="http://schemas.openxmlformats.org/drawingml/2006/main">
            <a:r>
              <a:t/>
            </a:r>
          </a:p>
          <a:p xmlns:a="http://schemas.openxmlformats.org/drawingml/2006/main">
            <a:r>
              <a:t>CONNECT</a:t>
            </a:r>
          </a:p>
          <a:p xmlns:a="http://schemas.openxmlformats.org/drawingml/2006/main">
            <a:r>
              <a:t>Previous slide: Why this week’s tools are needed.</a:t>
            </a:r>
          </a:p>
          <a:p xmlns:a="http://schemas.openxmlformats.org/drawingml/2006/main">
            <a:r>
              <a:t/>
            </a:r>
          </a:p>
          <a:p xmlns:a="http://schemas.openxmlformats.org/drawingml/2006/main">
            <a:r>
              <a:t>EXPLAIN</a:t>
            </a:r>
          </a:p>
          <a:p xmlns:a="http://schemas.openxmlformats.org/drawingml/2006/main">
            <a:r>
              <a:t>In this example, 1 means a warning is needed.</a:t>
            </a:r>
          </a:p>
          <a:p xmlns:a="http://schemas.openxmlformats.org/drawingml/2006/main">
            <a:r>
              <a:t/>
            </a:r>
          </a:p>
          <a:p xmlns:a="http://schemas.openxmlformats.org/drawingml/2006/main">
            <a:r>
              <a:t>0 means a warning is not needed.</a:t>
            </a:r>
          </a:p>
          <a:p xmlns:a="http://schemas.openxmlformats.org/drawingml/2006/main">
            <a:r>
              <a:t/>
            </a:r>
          </a:p>
          <a:p xmlns:a="http://schemas.openxmlformats.org/drawingml/2006/main">
            <a:r>
              <a:t>Actual is the reference label. Predicted is the model’s label.</a:t>
            </a:r>
          </a:p>
          <a:p xmlns:a="http://schemas.openxmlformats.org/drawingml/2006/main">
            <a:r>
              <a:t/>
            </a:r>
          </a:p>
          <a:p xmlns:a="http://schemas.openxmlformats.org/drawingml/2006/main">
            <a:r>
              <a:t>A false negative misses a real warning.</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Class and positive label / TP and TN.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Class and positive label / TP and TN</a:t>
            </a:r>
          </a:p>
          <a:p xmlns:a="http://schemas.openxmlformats.org/drawingml/2006/main">
            <a:r>
              <a:t/>
            </a:r>
          </a:p>
          <a:p xmlns:a="http://schemas.openxmlformats.org/drawingml/2006/main">
            <a:r>
              <a:t>CONNECT</a:t>
            </a:r>
          </a:p>
          <a:p xmlns:a="http://schemas.openxmlformats.org/drawingml/2006/main">
            <a:r>
              <a:t>Previous slide: The positive class.</a:t>
            </a:r>
          </a:p>
          <a:p xmlns:a="http://schemas.openxmlformats.org/drawingml/2006/main">
            <a:r>
              <a:t/>
            </a:r>
          </a:p>
          <a:p xmlns:a="http://schemas.openxmlformats.org/drawingml/2006/main">
            <a:r>
              <a:t>EXPLAIN</a:t>
            </a:r>
          </a:p>
          <a:p xmlns:a="http://schemas.openxmlformats.org/drawingml/2006/main">
            <a:r>
              <a:t>Class and positive label: A class is a category. Here 1 means warning and 0 means no warning. Positive means the named class, not good news.</a:t>
            </a:r>
          </a:p>
          <a:p xmlns:a="http://schemas.openxmlformats.org/drawingml/2006/main">
            <a:r>
              <a:t/>
            </a:r>
          </a:p>
          <a:p xmlns:a="http://schemas.openxmlformats.org/drawingml/2006/main">
            <a:r>
              <a:t>TP and TN: True positive is a correctly flagged warning. True negative is a correctly unflagged non-warning.</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FP and FN.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FP and FN</a:t>
            </a:r>
          </a:p>
          <a:p xmlns:a="http://schemas.openxmlformats.org/drawingml/2006/main">
            <a:r>
              <a:t/>
            </a:r>
          </a:p>
          <a:p xmlns:a="http://schemas.openxmlformats.org/drawingml/2006/main">
            <a:r>
              <a:t>CONNECT</a:t>
            </a:r>
          </a:p>
          <a:p xmlns:a="http://schemas.openxmlformats.org/drawingml/2006/main">
            <a:r>
              <a:t>Previous slide: Class and positive label / TP and TN.</a:t>
            </a:r>
          </a:p>
          <a:p xmlns:a="http://schemas.openxmlformats.org/drawingml/2006/main">
            <a:r>
              <a:t/>
            </a:r>
          </a:p>
          <a:p xmlns:a="http://schemas.openxmlformats.org/drawingml/2006/main">
            <a:r>
              <a:t>EXPLAIN</a:t>
            </a:r>
          </a:p>
          <a:p xmlns:a="http://schemas.openxmlformats.org/drawingml/2006/main">
            <a:r>
              <a:t>FP and FN: False positive is a false alarm. False negative is a missed warning.</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Actual and predicted describe different things.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Actual and predicted describe different things</a:t>
            </a:r>
          </a:p>
          <a:p xmlns:a="http://schemas.openxmlformats.org/drawingml/2006/main">
            <a:r>
              <a:t/>
            </a:r>
          </a:p>
          <a:p xmlns:a="http://schemas.openxmlformats.org/drawingml/2006/main">
            <a:r>
              <a:t>CONNECT</a:t>
            </a:r>
          </a:p>
          <a:p xmlns:a="http://schemas.openxmlformats.org/drawingml/2006/main">
            <a:r>
              <a:t>Previous slide: FP and FN.</a:t>
            </a:r>
          </a:p>
          <a:p xmlns:a="http://schemas.openxmlformats.org/drawingml/2006/main">
            <a:r>
              <a:t/>
            </a:r>
          </a:p>
          <a:p xmlns:a="http://schemas.openxmlformats.org/drawingml/2006/main">
            <a:r>
              <a:t>EXPLAIN</a:t>
            </a:r>
          </a:p>
          <a:p xmlns:a="http://schemas.openxmlformats.org/drawingml/2006/main">
            <a:r>
              <a:t>Actual is the recorded reference answer.</a:t>
            </a:r>
          </a:p>
          <a:p xmlns:a="http://schemas.openxmlformats.org/drawingml/2006/main">
            <a:r>
              <a:t/>
            </a:r>
          </a:p>
          <a:p xmlns:a="http://schemas.openxmlformats.org/drawingml/2006/main">
            <a:r>
              <a:t>Predicted is the answer produced by our model.</a:t>
            </a:r>
          </a:p>
          <a:p xmlns:a="http://schemas.openxmlformats.org/drawingml/2006/main">
            <a:r>
              <a:t/>
            </a:r>
          </a:p>
          <a:p xmlns:a="http://schemas.openxmlformats.org/drawingml/2006/main">
            <a:r>
              <a:t>A correct prediction matches the reference. Class 1 means warning in this example.</a:t>
            </a:r>
          </a:p>
          <a:p xmlns:a="http://schemas.openxmlformats.org/drawingml/2006/main">
            <a:r>
              <a:t/>
            </a:r>
          </a:p>
          <a:p xmlns:a="http://schemas.openxmlformats.org/drawingml/2006/main">
            <a:r>
              <a:t>LECTURER CUE</a:t>
            </a:r>
          </a:p>
          <a:p xmlns:a="http://schemas.openxmlformats.org/drawingml/2006/main">
            <a:r>
              <a:t>Place four paper observations in a table of actual label and predicted label. Classify each before showing the four-cell matrix. State which axis is actual and which is predicted.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Every paired result belongs in one cell.</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Every paired result belongs in one cell</a:t>
            </a:r>
          </a:p>
          <a:p xmlns:a="http://schemas.openxmlformats.org/drawingml/2006/main">
            <a:r>
              <a:t/>
            </a:r>
          </a:p>
          <a:p xmlns:a="http://schemas.openxmlformats.org/drawingml/2006/main">
            <a:r>
              <a:t>CONNECT</a:t>
            </a:r>
          </a:p>
          <a:p xmlns:a="http://schemas.openxmlformats.org/drawingml/2006/main">
            <a:r>
              <a:t>Previous slide: Actual and predicted describe different things.</a:t>
            </a:r>
          </a:p>
          <a:p xmlns:a="http://schemas.openxmlformats.org/drawingml/2006/main">
            <a:r>
              <a:t/>
            </a:r>
          </a:p>
          <a:p xmlns:a="http://schemas.openxmlformats.org/drawingml/2006/main">
            <a:r>
              <a:t>EXPLAIN</a:t>
            </a:r>
          </a:p>
          <a:p xmlns:a="http://schemas.openxmlformats.org/drawingml/2006/main">
            <a:r>
              <a:t>Read actual first, then predicted. Explain the missed warning.</a:t>
            </a:r>
          </a:p>
          <a:p xmlns:a="http://schemas.openxmlformats.org/drawingml/2006/main">
            <a:r>
              <a:t/>
            </a:r>
          </a:p>
          <a:p xmlns:a="http://schemas.openxmlformats.org/drawingml/2006/main">
            <a:r>
              <a:t>LECTURER CUE</a:t>
            </a:r>
          </a:p>
          <a:p xmlns:a="http://schemas.openxmlformats.org/drawingml/2006/main">
            <a:r>
              <a:t>Ask students to describe what they see before introducing terminology. Generated conceptual teaching illustration.  Source: figs/experiential/ASSET_SOURCES.md.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The four kinds of result.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The four kinds of result</a:t>
            </a:r>
          </a:p>
          <a:p xmlns:a="http://schemas.openxmlformats.org/drawingml/2006/main">
            <a:r>
              <a:t/>
            </a:r>
          </a:p>
          <a:p xmlns:a="http://schemas.openxmlformats.org/drawingml/2006/main">
            <a:r>
              <a:t>CONNECT</a:t>
            </a:r>
          </a:p>
          <a:p xmlns:a="http://schemas.openxmlformats.org/drawingml/2006/main">
            <a:r>
              <a:t>Previous slide: Every paired result belongs in one cell.</a:t>
            </a:r>
          </a:p>
          <a:p xmlns:a="http://schemas.openxmlformats.org/drawingml/2006/main">
            <a:r>
              <a:t/>
            </a:r>
          </a:p>
          <a:p xmlns:a="http://schemas.openxmlformats.org/drawingml/2006/main">
            <a:r>
              <a:t>EXPLAIN</a:t>
            </a:r>
          </a:p>
          <a:p xmlns:a="http://schemas.openxmlformats.org/drawingml/2006/main">
            <a:r>
              <a:t>Actual / Predicted | Warning 1 | No warning 0</a:t>
            </a:r>
          </a:p>
          <a:p xmlns:a="http://schemas.openxmlformats.org/drawingml/2006/main">
            <a:r>
              <a:t/>
            </a:r>
          </a:p>
          <a:p xmlns:a="http://schemas.openxmlformats.org/drawingml/2006/main">
            <a:r>
              <a:t>Warning 1 | TP = 1 | FN = 1</a:t>
            </a:r>
          </a:p>
          <a:p xmlns:a="http://schemas.openxmlformats.org/drawingml/2006/main">
            <a:r>
              <a:t/>
            </a:r>
          </a:p>
          <a:p xmlns:a="http://schemas.openxmlformats.org/drawingml/2006/main">
            <a:r>
              <a:t>No warning 0 | FP = 1 | TN = 1</a:t>
            </a:r>
          </a:p>
          <a:p xmlns:a="http://schemas.openxmlformats.org/drawingml/2006/main">
            <a:r>
              <a:t/>
            </a:r>
          </a:p>
          <a:p xmlns:a="http://schemas.openxmlformats.org/drawingml/2006/main">
            <a:r>
              <a:t>Rows are actual and columns are predicted.</a:t>
            </a:r>
          </a:p>
          <a:p xmlns:a="http://schemas.openxmlformats.org/drawingml/2006/main">
            <a:r>
              <a:t/>
            </a:r>
          </a:p>
          <a:p xmlns:a="http://schemas.openxmlformats.org/drawingml/2006/main">
            <a:r>
              <a:t>LECTURER CUE</a:t>
            </a:r>
          </a:p>
          <a:p xmlns:a="http://schemas.openxmlformats.org/drawingml/2006/main">
            <a:r>
              <a:t>Rows are actual and columns are predicted. Read each paired observation into exactly one cell. Precision = 1/2. Recall = 1/2. Cost = 5 × FN + FP = 6 under this invented cost rule.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Precision / Recall.</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Precision / Recall</a:t>
            </a:r>
          </a:p>
          <a:p xmlns:a="http://schemas.openxmlformats.org/drawingml/2006/main">
            <a:r>
              <a:t/>
            </a:r>
          </a:p>
          <a:p xmlns:a="http://schemas.openxmlformats.org/drawingml/2006/main">
            <a:r>
              <a:t>CONNECT</a:t>
            </a:r>
          </a:p>
          <a:p xmlns:a="http://schemas.openxmlformats.org/drawingml/2006/main">
            <a:r>
              <a:t>Previous slide: The four kinds of result.</a:t>
            </a:r>
          </a:p>
          <a:p xmlns:a="http://schemas.openxmlformats.org/drawingml/2006/main">
            <a:r>
              <a:t/>
            </a:r>
          </a:p>
          <a:p xmlns:a="http://schemas.openxmlformats.org/drawingml/2006/main">
            <a:r>
              <a:t>EXPLAIN</a:t>
            </a:r>
          </a:p>
          <a:p xmlns:a="http://schemas.openxmlformats.org/drawingml/2006/main">
            <a:r>
              <a:t>Precision: Of all predicted warnings, the fraction that were actual warnings: TP / (TP + FP).</a:t>
            </a:r>
          </a:p>
          <a:p xmlns:a="http://schemas.openxmlformats.org/drawingml/2006/main">
            <a:r>
              <a:t/>
            </a:r>
          </a:p>
          <a:p xmlns:a="http://schemas.openxmlformats.org/drawingml/2006/main">
            <a:r>
              <a:t>Recall: Of all actual warnings, the fraction detected: TP / (TP + FN).</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Precision and recall.</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Precision and recall</a:t>
            </a:r>
          </a:p>
          <a:p xmlns:a="http://schemas.openxmlformats.org/drawingml/2006/main">
            <a:r>
              <a:t/>
            </a:r>
          </a:p>
          <a:p xmlns:a="http://schemas.openxmlformats.org/drawingml/2006/main">
            <a:r>
              <a:t>CONNECT</a:t>
            </a:r>
          </a:p>
          <a:p xmlns:a="http://schemas.openxmlformats.org/drawingml/2006/main">
            <a:r>
              <a:t>Previous slide: Precision / Recall.</a:t>
            </a:r>
          </a:p>
          <a:p xmlns:a="http://schemas.openxmlformats.org/drawingml/2006/main">
            <a:r>
              <a:t/>
            </a:r>
          </a:p>
          <a:p xmlns:a="http://schemas.openxmlformats.org/drawingml/2006/main">
            <a:r>
              <a:t>EXPLAIN</a:t>
            </a:r>
          </a:p>
          <a:p xmlns:a="http://schemas.openxmlformats.org/drawingml/2006/main">
            <a:r>
              <a:t>Precision asks: of the warnings raised, how many were correct?</a:t>
            </a:r>
          </a:p>
          <a:p xmlns:a="http://schemas.openxmlformats.org/drawingml/2006/main">
            <a:r>
              <a:t/>
            </a:r>
          </a:p>
          <a:p xmlns:a="http://schemas.openxmlformats.org/drawingml/2006/main">
            <a:r>
              <a:t>Recall asks: of the real warnings, how many did we detect?</a:t>
            </a:r>
          </a:p>
          <a:p xmlns:a="http://schemas.openxmlformats.org/drawingml/2006/main">
            <a:r>
              <a:t/>
            </a:r>
          </a:p>
          <a:p xmlns:a="http://schemas.openxmlformats.org/drawingml/2006/main">
            <a:r>
              <a:t>A zero denominator needs an explicit rule.</a:t>
            </a:r>
          </a:p>
          <a:p xmlns:a="http://schemas.openxmlformats.org/drawingml/2006/main">
            <a:r>
              <a:t/>
            </a:r>
          </a:p>
          <a:p xmlns:a="http://schemas.openxmlformats.org/drawingml/2006/main">
            <a:r>
              <a:t>Use the rule in your task brief when implementing the function.</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Probability and a decision threshold.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Probability and a decision threshold</a:t>
            </a:r>
          </a:p>
          <a:p xmlns:a="http://schemas.openxmlformats.org/drawingml/2006/main">
            <a:r>
              <a:t/>
            </a:r>
          </a:p>
          <a:p xmlns:a="http://schemas.openxmlformats.org/drawingml/2006/main">
            <a:r>
              <a:t>CONNECT</a:t>
            </a:r>
          </a:p>
          <a:p xmlns:a="http://schemas.openxmlformats.org/drawingml/2006/main">
            <a:r>
              <a:t>Previous slide: Precision and recall.</a:t>
            </a:r>
          </a:p>
          <a:p xmlns:a="http://schemas.openxmlformats.org/drawingml/2006/main">
            <a:r>
              <a:t/>
            </a:r>
          </a:p>
          <a:p xmlns:a="http://schemas.openxmlformats.org/drawingml/2006/main">
            <a:r>
              <a:t>EXPLAIN</a:t>
            </a:r>
          </a:p>
          <a:p xmlns:a="http://schemas.openxmlformats.org/drawingml/2006/main">
            <a:r>
              <a:t>Probability: A probability is between 0 and 1. Multiply by 100 for percent: 0.7 is 70%. A model’s probability is an estimate that needs checking.</a:t>
            </a:r>
          </a:p>
          <a:p xmlns:a="http://schemas.openxmlformats.org/drawingml/2006/main">
            <a:r>
              <a:t/>
            </a:r>
          </a:p>
          <a:p xmlns:a="http://schemas.openxmlformats.org/drawingml/2006/main">
            <a:r>
              <a:t>Threshold: A threshold turns a score into a decision. For a rule score &gt;= 0.5, a score of 0.7 gives class 1. Use validation data to choose the threshold.</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Apply one stated decision threshold.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Apply one stated decision threshold</a:t>
            </a:r>
          </a:p>
          <a:p xmlns:a="http://schemas.openxmlformats.org/drawingml/2006/main">
            <a:r>
              <a:t/>
            </a:r>
          </a:p>
          <a:p xmlns:a="http://schemas.openxmlformats.org/drawingml/2006/main">
            <a:r>
              <a:t>CONNECT</a:t>
            </a:r>
          </a:p>
          <a:p xmlns:a="http://schemas.openxmlformats.org/drawingml/2006/main">
            <a:r>
              <a:t>Previous slide: Probability and a decision threshold.</a:t>
            </a:r>
          </a:p>
          <a:p xmlns:a="http://schemas.openxmlformats.org/drawingml/2006/main">
            <a:r>
              <a:t/>
            </a:r>
          </a:p>
          <a:p xmlns:a="http://schemas.openxmlformats.org/drawingml/2006/main">
            <a:r>
              <a:t>EXPLAIN</a:t>
            </a:r>
          </a:p>
          <a:p xmlns:a="http://schemas.openxmlformats.org/drawingml/2006/main">
            <a:r>
              <a:t>Estimated positive probability | At least 0.5? | Decision</a:t>
            </a:r>
          </a:p>
          <a:p xmlns:a="http://schemas.openxmlformats.org/drawingml/2006/main">
            <a:r>
              <a:t/>
            </a:r>
          </a:p>
          <a:p xmlns:a="http://schemas.openxmlformats.org/drawingml/2006/main">
            <a:r>
              <a:t>0.20 | No | Class 0</a:t>
            </a:r>
          </a:p>
          <a:p xmlns:a="http://schemas.openxmlformats.org/drawingml/2006/main">
            <a:r>
              <a:t/>
            </a:r>
          </a:p>
          <a:p xmlns:a="http://schemas.openxmlformats.org/drawingml/2006/main">
            <a:r>
              <a:t>0.50 | Yes | Class 1</a:t>
            </a:r>
          </a:p>
          <a:p xmlns:a="http://schemas.openxmlformats.org/drawingml/2006/main">
            <a:r>
              <a:t/>
            </a:r>
          </a:p>
          <a:p xmlns:a="http://schemas.openxmlformats.org/drawingml/2006/main">
            <a:r>
              <a:t>0.80 | Yes | Class 1</a:t>
            </a:r>
          </a:p>
          <a:p xmlns:a="http://schemas.openxmlformats.org/drawingml/2006/main">
            <a:r>
              <a:t/>
            </a:r>
          </a:p>
          <a:p xmlns:a="http://schemas.openxmlformats.org/drawingml/2006/main">
            <a:r>
              <a:t>0.5 means 50%. This rule includes equality. A probability is an estimate, not a promise that one case is correct.</a:t>
            </a:r>
          </a:p>
          <a:p xmlns:a="http://schemas.openxmlformats.org/drawingml/2006/main">
            <a:r>
              <a:t/>
            </a:r>
          </a:p>
          <a:p xmlns:a="http://schemas.openxmlformats.org/drawingml/2006/main">
            <a:r>
              <a:t>Read the rows in order. 0.5 means 50%. This rule includes equality. A probability is an estimate, not a promise that one case is correct.</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category decision can use a probability.</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category decision can use a probability</a:t>
            </a:r>
          </a:p>
          <a:p xmlns:a="http://schemas.openxmlformats.org/drawingml/2006/main">
            <a:r>
              <a:t/>
            </a:r>
          </a:p>
          <a:p xmlns:a="http://schemas.openxmlformats.org/drawingml/2006/main">
            <a:r>
              <a:t>CONNECT</a:t>
            </a:r>
          </a:p>
          <a:p xmlns:a="http://schemas.openxmlformats.org/drawingml/2006/main">
            <a:r>
              <a:t>Previous slide: Apply one stated decision threshold.</a:t>
            </a:r>
          </a:p>
          <a:p xmlns:a="http://schemas.openxmlformats.org/drawingml/2006/main">
            <a:r>
              <a:t/>
            </a:r>
          </a:p>
          <a:p xmlns:a="http://schemas.openxmlformats.org/drawingml/2006/main">
            <a:r>
              <a:t>EXPLAIN</a:t>
            </a:r>
          </a:p>
          <a:p xmlns:a="http://schemas.openxmlformats.org/drawingml/2006/main">
            <a:r>
              <a:t>A classifier may estimate the probability of class 1.</a:t>
            </a:r>
          </a:p>
          <a:p xmlns:a="http://schemas.openxmlformats.org/drawingml/2006/main">
            <a:r>
              <a:t/>
            </a:r>
          </a:p>
          <a:p xmlns:a="http://schemas.openxmlformats.org/drawingml/2006/main">
            <a:r>
              <a:t>A threshold converts that estimate into warning or no warning.</a:t>
            </a:r>
          </a:p>
          <a:p xmlns:a="http://schemas.openxmlformats.org/drawingml/2006/main">
            <a:r>
              <a:t/>
            </a:r>
          </a:p>
          <a:p xmlns:a="http://schemas.openxmlformats.org/drawingml/2006/main">
            <a:r>
              <a:t>Logistic regression is a classification model. Its probability estimates still need evaluation.</a:t>
            </a:r>
          </a:p>
          <a:p xmlns:a="http://schemas.openxmlformats.org/drawingml/2006/main">
            <a:r>
              <a:t/>
            </a:r>
          </a:p>
          <a:p xmlns:a="http://schemas.openxmlformats.org/drawingml/2006/main">
            <a:r>
              <a:t>LECTURER CUE</a:t>
            </a:r>
          </a:p>
          <a:p xmlns:a="http://schemas.openxmlformats.org/drawingml/2006/main">
            <a:r>
              <a:t>Only after the count exercise, show a classifier fit/predict demonstration. Logistic regression predicts a category despite its name. Probability estimates need not be well calibrated.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Threshold and cost.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Threshold and cost</a:t>
            </a:r>
          </a:p>
          <a:p xmlns:a="http://schemas.openxmlformats.org/drawingml/2006/main">
            <a:r>
              <a:t/>
            </a:r>
          </a:p>
          <a:p xmlns:a="http://schemas.openxmlformats.org/drawingml/2006/main">
            <a:r>
              <a:t>CONNECT</a:t>
            </a:r>
          </a:p>
          <a:p xmlns:a="http://schemas.openxmlformats.org/drawingml/2006/main">
            <a:r>
              <a:t>Previous slide: A category decision can use a probability.</a:t>
            </a:r>
          </a:p>
          <a:p xmlns:a="http://schemas.openxmlformats.org/drawingml/2006/main">
            <a:r>
              <a:t/>
            </a:r>
          </a:p>
          <a:p xmlns:a="http://schemas.openxmlformats.org/drawingml/2006/main">
            <a:r>
              <a:t>EXPLAIN</a:t>
            </a:r>
          </a:p>
          <a:p xmlns:a="http://schemas.openxmlformats.org/drawingml/2006/main">
            <a:r>
              <a:t>Threshold and cost: A threshold converts a score to a decision. A cost rule states how much each type of mistake matters. Lower thresholds usually increase recall; precision need not decrease at every step.</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State the cost rule before calculating.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State the cost rule before calculating</a:t>
            </a:r>
          </a:p>
          <a:p xmlns:a="http://schemas.openxmlformats.org/drawingml/2006/main">
            <a:r>
              <a:t/>
            </a:r>
          </a:p>
          <a:p xmlns:a="http://schemas.openxmlformats.org/drawingml/2006/main">
            <a:r>
              <a:t>CONNECT</a:t>
            </a:r>
          </a:p>
          <a:p xmlns:a="http://schemas.openxmlformats.org/drawingml/2006/main">
            <a:r>
              <a:t>Previous slide: Threshold and cost.</a:t>
            </a:r>
          </a:p>
          <a:p xmlns:a="http://schemas.openxmlformats.org/drawingml/2006/main">
            <a:r>
              <a:t/>
            </a:r>
          </a:p>
          <a:p xmlns:a="http://schemas.openxmlformats.org/drawingml/2006/main">
            <a:r>
              <a:t>EXPLAIN</a:t>
            </a:r>
          </a:p>
          <a:p xmlns:a="http://schemas.openxmlformats.org/drawingml/2006/main">
            <a:r>
              <a:t>A cost rule assigns a penalty to each kind of mistake. In this teaching example, a missed warning costs 5 units and a false alarm costs 1 unit.</a:t>
            </a:r>
          </a:p>
          <a:p xmlns:a="http://schemas.openxmlformats.org/drawingml/2006/main">
            <a:r>
              <a:t/>
            </a:r>
          </a:p>
          <a:p xmlns:a="http://schemas.openxmlformats.org/drawingml/2006/main">
            <a:r>
              <a:t>Total cost = 5 × FN + FP. One missed warning and one false alarm therefore cost 6 units.</a:t>
            </a:r>
          </a:p>
          <a:p xmlns:a="http://schemas.openxmlformats.org/drawingml/2006/main">
            <a:r>
              <a:t/>
            </a:r>
          </a:p>
          <a:p xmlns:a="http://schemas.openxmlformats.org/drawingml/2006/main">
            <a:r>
              <a:t>These are invented teaching penalties. Use the published assignment cost rule and explain whose consequences it represents.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syntax in the example.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syntax in the example</a:t>
            </a:r>
          </a:p>
          <a:p xmlns:a="http://schemas.openxmlformats.org/drawingml/2006/main">
            <a:r>
              <a:t/>
            </a:r>
          </a:p>
          <a:p xmlns:a="http://schemas.openxmlformats.org/drawingml/2006/main">
            <a:r>
              <a:t>CONNECT</a:t>
            </a:r>
          </a:p>
          <a:p xmlns:a="http://schemas.openxmlformats.org/drawingml/2006/main">
            <a:r>
              <a:t>Previous slide: State the cost rule before calculating.</a:t>
            </a:r>
          </a:p>
          <a:p xmlns:a="http://schemas.openxmlformats.org/drawingml/2006/main">
            <a:r>
              <a:t/>
            </a:r>
          </a:p>
          <a:p xmlns:a="http://schemas.openxmlformats.org/drawingml/2006/main">
            <a:r>
              <a:t>EXPLAIN</a:t>
            </a:r>
          </a:p>
          <a:p xmlns:a="http://schemas.openxmlformats.org/drawingml/2006/main">
            <a:r>
              <a:t>Code | Equivalent idea</a:t>
            </a:r>
          </a:p>
          <a:p xmlns:a="http://schemas.openxmlformats.org/drawingml/2006/main">
            <a:r>
              <a:t/>
            </a:r>
          </a:p>
          <a:p xmlns:a="http://schemas.openxmlformats.org/drawingml/2006/main">
            <a:r>
              <a:t>tp = tn = fp = fn = 0 | Set each of four counts to zero</a:t>
            </a:r>
          </a:p>
          <a:p xmlns:a="http://schemas.openxmlformats.org/drawingml/2006/main">
            <a:r>
              <a:t/>
            </a:r>
          </a:p>
          <a:p xmlns:a="http://schemas.openxmlformats.org/drawingml/2006/main">
            <a:r>
              <a:t>tp += 1 | tp = tp + 1</a:t>
            </a:r>
          </a:p>
          <a:p xmlns:a="http://schemas.openxmlformats.org/drawingml/2006/main">
            <a:r>
              <a:t/>
            </a:r>
          </a:p>
          <a:p xmlns:a="http://schemas.openxmlformats.org/drawingml/2006/main">
            <a:r>
              <a:t>zip(actual, predicted) | Pair items in the same positions</a:t>
            </a:r>
          </a:p>
          <a:p xmlns:a="http://schemas.openxmlformats.org/drawingml/2006/main">
            <a:r>
              <a:t/>
            </a:r>
          </a:p>
          <a:p xmlns:a="http://schemas.openxmlformats.org/drawingml/2006/main">
            <a:r>
              <a:t>elif condition: | Try this branch if earlier ones failed</a:t>
            </a:r>
          </a:p>
          <a:p xmlns:a="http://schemas.openxmlformats.org/drawingml/2006/main">
            <a:r>
              <a:t/>
            </a:r>
          </a:p>
          <a:p xmlns:a="http://schemas.openxmlformats.org/drawingml/2006/main">
            <a:r>
              <a:t>Our paired lists must have matching lengths. zip alone stops at the shorter list.</a:t>
            </a:r>
          </a:p>
          <a:p xmlns:a="http://schemas.openxmlformats.org/drawingml/2006/main">
            <a:r>
              <a:t/>
            </a:r>
          </a:p>
          <a:p xmlns:a="http://schemas.openxmlformats.org/drawingml/2006/main">
            <a:r>
              <a:t>LECTURER CUE</a:t>
            </a:r>
          </a:p>
          <a:p xmlns:a="http://schemas.openxmlformats.org/drawingml/2006/main">
            <a:r>
              <a:t>Read one row at a time and use a changed value. This is a syntax reference for the worked examples.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Worked example.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Classification outcomes in Python</a:t>
            </a:r>
          </a:p>
          <a:p xmlns:a="http://schemas.openxmlformats.org/drawingml/2006/main">
            <a:r>
              <a:t/>
            </a:r>
          </a:p>
          <a:p xmlns:a="http://schemas.openxmlformats.org/drawingml/2006/main">
            <a:r>
              <a:t>CONNECT</a:t>
            </a:r>
          </a:p>
          <a:p xmlns:a="http://schemas.openxmlformats.org/drawingml/2006/main">
            <a:r>
              <a:t>Previous slide: Counting syntax in the example.</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actual = [1, 1, 0, 0]</a:t>
            </a:r>
          </a:p>
          <a:p xmlns:a="http://schemas.openxmlformats.org/drawingml/2006/main">
            <a:r>
              <a:t>predicted = [1, 0, 1, 0]</a:t>
            </a:r>
          </a:p>
          <a:p xmlns:a="http://schemas.openxmlformats.org/drawingml/2006/main">
            <a:r>
              <a:t>for truth, guess in zip(actual, predicted):</a:t>
            </a:r>
          </a:p>
          <a:p xmlns:a="http://schemas.openxmlformats.org/drawingml/2006/main">
            <a:r>
              <a:t>    print(truth, guess)</a:t>
            </a:r>
          </a:p>
          <a:p xmlns:a="http://schemas.openxmlformats.org/drawingml/2006/main">
            <a:r>
              <a:t># Count the four categories on paper before calculating.</a:t>
            </a:r>
          </a:p>
          <a:p xmlns:a="http://schemas.openxmlformats.org/drawingml/2006/main">
            <a:r>
              <a:t>tp, fn, fp, tn = 1, 1, 1, 1</a:t>
            </a:r>
          </a:p>
          <a:p xmlns:a="http://schemas.openxmlformats.org/drawingml/2006/main">
            <a:r>
              <a:t>print(tp / (tp + fp))</a:t>
            </a:r>
          </a:p>
          <a:p xmlns:a="http://schemas.openxmlformats.org/drawingml/2006/main">
            <a:r>
              <a:t>print(tp / (tp + fn))</a:t>
            </a:r>
          </a:p>
          <a:p xmlns:a="http://schemas.openxmlformats.org/drawingml/2006/main">
            <a:r>
              <a:t>print(5 * fn + fp)</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zip pairs items at matching positions in these equal-length lists.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Place four paper observations in a table of actual label and predicted label. Classify each before showing the four-cell matrix. State which axis is actual and which is predicted. Use counts before fractions. The denominator of precision is predicted positives; the denominator of recall is actual positives. Explain what happens if either denominator is zero. Only after the count exercise, show a classifier fit/predict demonstration. Logistic regression predicts a category despite its name. Probability estimates need not be well calibrated.</a:t>
            </a:r>
          </a:p>
          <a:p xmlns:a="http://schemas.openxmlformats.org/drawingml/2006/main">
            <a:r>
              <a:t/>
            </a:r>
          </a:p>
          <a:p xmlns:a="http://schemas.openxmlformats.org/drawingml/2006/main">
            <a:r>
              <a:t>Complete practice code:</a:t>
            </a:r>
          </a:p>
          <a:p xmlns:a="http://schemas.openxmlformats.org/drawingml/2006/main">
            <a:r>
              <a:t>actual = [1, 1, 0, 0]</a:t>
            </a:r>
          </a:p>
          <a:p xmlns:a="http://schemas.openxmlformats.org/drawingml/2006/main">
            <a:r>
              <a:t>predicted = [1, 0, 1, 0]</a:t>
            </a:r>
          </a:p>
          <a:p xmlns:a="http://schemas.openxmlformats.org/drawingml/2006/main">
            <a:r>
              <a:t>for truth, guess in zip(actual, predicted):</a:t>
            </a:r>
          </a:p>
          <a:p xmlns:a="http://schemas.openxmlformats.org/drawingml/2006/main">
            <a:r>
              <a:t>    print(truth, guess)</a:t>
            </a:r>
          </a:p>
          <a:p xmlns:a="http://schemas.openxmlformats.org/drawingml/2006/main">
            <a:r>
              <a:t># Count the four categories on paper before calculating.</a:t>
            </a:r>
          </a:p>
          <a:p xmlns:a="http://schemas.openxmlformats.org/drawingml/2006/main">
            <a:r>
              <a:t>tp, fn, fp, tn = 1, 1, 1, 1</a:t>
            </a:r>
          </a:p>
          <a:p xmlns:a="http://schemas.openxmlformats.org/drawingml/2006/main">
            <a:r>
              <a:t>print(tp / (tp + fp))</a:t>
            </a:r>
          </a:p>
          <a:p xmlns:a="http://schemas.openxmlformats.org/drawingml/2006/main">
            <a:r>
              <a:t>print(tp / (tp + fn))</a:t>
            </a:r>
          </a:p>
          <a:p xmlns:a="http://schemas.openxmlformats.org/drawingml/2006/main">
            <a:r>
              <a:t>print(5 * fn + fp)</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Expected output.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Classification outcomes results</a:t>
            </a:r>
          </a:p>
          <a:p xmlns:a="http://schemas.openxmlformats.org/drawingml/2006/main">
            <a:r>
              <a:t/>
            </a:r>
          </a:p>
          <a:p xmlns:a="http://schemas.openxmlformats.org/drawingml/2006/main">
            <a:r>
              <a:t>CONNECT</a:t>
            </a:r>
          </a:p>
          <a:p xmlns:a="http://schemas.openxmlformats.org/drawingml/2006/main">
            <a:r>
              <a:t>Previous slide: Classification outcomes in Python.</a:t>
            </a:r>
          </a:p>
          <a:p xmlns:a="http://schemas.openxmlformats.org/drawingml/2006/main">
            <a:r>
              <a:t/>
            </a:r>
          </a:p>
          <a:p xmlns:a="http://schemas.openxmlformats.org/drawingml/2006/main">
            <a:r>
              <a:t>EXPLAIN</a:t>
            </a:r>
          </a:p>
          <a:p xmlns:a="http://schemas.openxmlformats.org/drawingml/2006/main">
            <a:r>
              <a:t>Four paired rows, then precision 0.5, recall 0.5 and teaching cost 6.</a:t>
            </a:r>
          </a:p>
          <a:p xmlns:a="http://schemas.openxmlformats.org/drawingml/2006/main">
            <a:r>
              <a:t/>
            </a:r>
          </a:p>
          <a:p xmlns:a="http://schemas.openxmlformats.org/drawingml/2006/main">
            <a:r>
              <a:t>LECTURER CUE</a:t>
            </a:r>
          </a:p>
          <a:p xmlns:a="http://schemas.openxmlformats.org/drawingml/2006/main">
            <a:r>
              <a:t>Compare the actual output character by character with this practice result. If it differs, read the first error and check the input, units, names and execution order. Do not copy this practice output into a graded answer.</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the four counters.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the four counters</a:t>
            </a:r>
          </a:p>
          <a:p xmlns:a="http://schemas.openxmlformats.org/drawingml/2006/main">
            <a:r>
              <a:t/>
            </a:r>
          </a:p>
          <a:p xmlns:a="http://schemas.openxmlformats.org/drawingml/2006/main">
            <a:r>
              <a:t>CONNECT</a:t>
            </a:r>
          </a:p>
          <a:p xmlns:a="http://schemas.openxmlformats.org/drawingml/2006/main">
            <a:r>
              <a:t>Previous slide: Classification outcomes results.</a:t>
            </a:r>
          </a:p>
          <a:p xmlns:a="http://schemas.openxmlformats.org/drawingml/2006/main">
            <a:r>
              <a:t/>
            </a:r>
          </a:p>
          <a:p xmlns:a="http://schemas.openxmlformats.org/drawingml/2006/main">
            <a:r>
              <a:t>EXPLAIN</a:t>
            </a:r>
          </a:p>
          <a:p xmlns:a="http://schemas.openxmlformats.org/drawingml/2006/main">
            <a:r>
              <a:t>Actual, predicted | Chosen counter | Counts: TP TN FP FN</a:t>
            </a:r>
          </a:p>
          <a:p xmlns:a="http://schemas.openxmlformats.org/drawingml/2006/main">
            <a:r>
              <a:t/>
            </a:r>
          </a:p>
          <a:p xmlns:a="http://schemas.openxmlformats.org/drawingml/2006/main">
            <a:r>
              <a:t>1, 1 | TP increases | 1 0 0 0</a:t>
            </a:r>
          </a:p>
          <a:p xmlns:a="http://schemas.openxmlformats.org/drawingml/2006/main">
            <a:r>
              <a:t/>
            </a:r>
          </a:p>
          <a:p xmlns:a="http://schemas.openxmlformats.org/drawingml/2006/main">
            <a:r>
              <a:t>1, 0 | FN increases | 1 0 0 1</a:t>
            </a:r>
          </a:p>
          <a:p xmlns:a="http://schemas.openxmlformats.org/drawingml/2006/main">
            <a:r>
              <a:t/>
            </a:r>
          </a:p>
          <a:p xmlns:a="http://schemas.openxmlformats.org/drawingml/2006/main">
            <a:r>
              <a:t>0, 1 | FP increases | 1 0 1 1</a:t>
            </a:r>
          </a:p>
          <a:p xmlns:a="http://schemas.openxmlformats.org/drawingml/2006/main">
            <a:r>
              <a:t/>
            </a:r>
          </a:p>
          <a:p xmlns:a="http://schemas.openxmlformats.org/drawingml/2006/main">
            <a:r>
              <a:t>0, 0 | TN increases | 1 1 1 1</a:t>
            </a:r>
          </a:p>
          <a:p xmlns:a="http://schemas.openxmlformats.org/drawingml/2006/main">
            <a:r>
              <a:t/>
            </a:r>
          </a:p>
          <a:p xmlns:a="http://schemas.openxmlformats.org/drawingml/2006/main">
            <a:r>
              <a:t>All counts start at zero. Each observation follows exactly one if/elif/else branch.</a:t>
            </a:r>
          </a:p>
          <a:p xmlns:a="http://schemas.openxmlformats.org/drawingml/2006/main">
            <a:r>
              <a:t/>
            </a:r>
          </a:p>
          <a:p xmlns:a="http://schemas.openxmlformats.org/drawingml/2006/main">
            <a:r>
              <a:t>Read the rows in order. All counts start at zero. Each observation follows exactly one if/elif/else branch.</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arbitrary paired observations.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arbitrary paired observations</a:t>
            </a:r>
          </a:p>
          <a:p xmlns:a="http://schemas.openxmlformats.org/drawingml/2006/main">
            <a:r>
              <a:t/>
            </a:r>
          </a:p>
          <a:p xmlns:a="http://schemas.openxmlformats.org/drawingml/2006/main">
            <a:r>
              <a:t>CONNECT</a:t>
            </a:r>
          </a:p>
          <a:p xmlns:a="http://schemas.openxmlformats.org/drawingml/2006/main">
            <a:r>
              <a:t>Previous slide: Trace the four counters.</a:t>
            </a:r>
          </a:p>
          <a:p xmlns:a="http://schemas.openxmlformats.org/drawingml/2006/main">
            <a:r>
              <a:t/>
            </a:r>
          </a:p>
          <a:p xmlns:a="http://schemas.openxmlformats.org/drawingml/2006/main">
            <a:r>
              <a:t>EXPLAIN</a:t>
            </a:r>
          </a:p>
          <a:p xmlns:a="http://schemas.openxmlformats.org/drawingml/2006/main">
            <a:r>
              <a:t>Start every counter at zero before the loop. == compares labels. and means both comparisons must be true. elif checks another condition only when earlier ones were false.</a:t>
            </a:r>
          </a:p>
          <a:p xmlns:a="http://schemas.openxmlformats.org/drawingml/2006/main">
            <a:r>
              <a:t/>
            </a:r>
          </a:p>
          <a:p xmlns:a="http://schemas.openxmlformats.org/drawingml/2006/main">
            <a:r>
              <a:t>tp = tn = fp = fn = 0 sets all four counters to zero. tp += 1 is shorthand for tp = tp + 1.</a:t>
            </a:r>
          </a:p>
          <a:p xmlns:a="http://schemas.openxmlformats.org/drawingml/2006/main">
            <a:r>
              <a:t/>
            </a:r>
          </a:p>
          <a:p xmlns:a="http://schemas.openxmlformats.org/drawingml/2006/main">
            <a:r>
              <a:t>LECTURER CUE</a:t>
            </a:r>
          </a:p>
          <a:p xmlns:a="http://schemas.openxmlformats.org/drawingml/2006/main">
            <a:r>
              <a:t>Start every counter at zero before the loop. == compares labels. and means both comparisons must be true. elif checks another condition only when earlier ones were false.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arbitrary paired observations in Python (1/3).</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arbitrary paired observations in Python (1/3)</a:t>
            </a:r>
          </a:p>
          <a:p xmlns:a="http://schemas.openxmlformats.org/drawingml/2006/main">
            <a:r>
              <a:t/>
            </a:r>
          </a:p>
          <a:p xmlns:a="http://schemas.openxmlformats.org/drawingml/2006/main">
            <a:r>
              <a:t>CONNECT</a:t>
            </a:r>
          </a:p>
          <a:p xmlns:a="http://schemas.openxmlformats.org/drawingml/2006/main">
            <a:r>
              <a:t>Previous slide: Counting arbitrary paired observations.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tp = tn = fp = fn = 0</a:t>
            </a:r>
          </a:p>
          <a:p xmlns:a="http://schemas.openxmlformats.org/drawingml/2006/main">
            <a:r>
              <a:t/>
            </a:r>
          </a:p>
          <a:p xmlns:a="http://schemas.openxmlformats.org/drawingml/2006/main">
            <a:r>
              <a:t>= assigns the value on the right to the name on the left.</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Start every counter at zero before the loop. == compares labels. and means both comparisons must be true. elif checks another condition only when earlier ones were false.</a:t>
            </a:r>
          </a:p>
          <a:p xmlns:a="http://schemas.openxmlformats.org/drawingml/2006/main">
            <a:r>
              <a:t/>
            </a:r>
          </a:p>
          <a:p xmlns:a="http://schemas.openxmlformats.org/drawingml/2006/main">
            <a:r>
              <a:t>Complete practice code:</a:t>
            </a:r>
          </a:p>
          <a:p xmlns:a="http://schemas.openxmlformats.org/drawingml/2006/main">
            <a:r>
              <a:t>tp = tn = fp = fn = 0</a:t>
            </a:r>
          </a:p>
          <a:p xmlns:a="http://schemas.openxmlformats.org/drawingml/2006/main">
            <a:r>
              <a:t>for truth, guess in zip(actual, predicted):</a:t>
            </a:r>
          </a:p>
          <a:p xmlns:a="http://schemas.openxmlformats.org/drawingml/2006/main">
            <a:r>
              <a:t>    if truth == 1 and guess == 1:</a:t>
            </a:r>
          </a:p>
          <a:p xmlns:a="http://schemas.openxmlformats.org/drawingml/2006/main">
            <a:r>
              <a:t>        tp += 1</a:t>
            </a:r>
          </a:p>
          <a:p xmlns:a="http://schemas.openxmlformats.org/drawingml/2006/main">
            <a:r>
              <a:t>    elif truth == 0 and guess == 0:</a:t>
            </a:r>
          </a:p>
          <a:p xmlns:a="http://schemas.openxmlformats.org/drawingml/2006/main">
            <a:r>
              <a:t>        tn += 1</a:t>
            </a:r>
          </a:p>
          <a:p xmlns:a="http://schemas.openxmlformats.org/drawingml/2006/main">
            <a:r>
              <a:t>    elif truth == 0 and guess == 1:</a:t>
            </a:r>
          </a:p>
          <a:p xmlns:a="http://schemas.openxmlformats.org/drawingml/2006/main">
            <a:r>
              <a:t>        fp += 1</a:t>
            </a:r>
          </a:p>
          <a:p xmlns:a="http://schemas.openxmlformats.org/drawingml/2006/main">
            <a:r>
              <a:t>    else:</a:t>
            </a:r>
          </a:p>
          <a:p xmlns:a="http://schemas.openxmlformats.org/drawingml/2006/main">
            <a:r>
              <a:t>        fn += 1</a:t>
            </a:r>
          </a:p>
          <a:p xmlns:a="http://schemas.openxmlformats.org/drawingml/2006/main">
            <a:r>
              <a:t>print(tp, tn, fp, fn)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arbitrary paired observations in Python (2/3).</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arbitrary paired observations in Python (2/3)</a:t>
            </a:r>
          </a:p>
          <a:p xmlns:a="http://schemas.openxmlformats.org/drawingml/2006/main">
            <a:r>
              <a:t/>
            </a:r>
          </a:p>
          <a:p xmlns:a="http://schemas.openxmlformats.org/drawingml/2006/main">
            <a:r>
              <a:t>CONNECT</a:t>
            </a:r>
          </a:p>
          <a:p xmlns:a="http://schemas.openxmlformats.org/drawingml/2006/main">
            <a:r>
              <a:t>Previous slide: Counting arbitrary paired observations in Python (1/3).</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for truth, guess in zip(actual, predicted):</a:t>
            </a:r>
          </a:p>
          <a:p xmlns:a="http://schemas.openxmlformats.org/drawingml/2006/main">
            <a:r>
              <a:t>    if truth == 1 and guess == 1:</a:t>
            </a:r>
          </a:p>
          <a:p xmlns:a="http://schemas.openxmlformats.org/drawingml/2006/main">
            <a:r>
              <a:t>        tp += 1</a:t>
            </a:r>
          </a:p>
          <a:p xmlns:a="http://schemas.openxmlformats.org/drawingml/2006/main">
            <a:r>
              <a:t>    elif truth == 0 and guess == 0:</a:t>
            </a:r>
          </a:p>
          <a:p xmlns:a="http://schemas.openxmlformats.org/drawingml/2006/main">
            <a:r>
              <a:t>        tn += 1</a:t>
            </a:r>
          </a:p>
          <a:p xmlns:a="http://schemas.openxmlformats.org/drawingml/2006/main">
            <a:r>
              <a:t>    elif truth == 0 and guess == 1:</a:t>
            </a:r>
          </a:p>
          <a:p xmlns:a="http://schemas.openxmlformats.org/drawingml/2006/main">
            <a:r>
              <a:t>        fp += 1</a:t>
            </a:r>
          </a:p>
          <a:p xmlns:a="http://schemas.openxmlformats.org/drawingml/2006/main">
            <a:r>
              <a:t>    else:</a:t>
            </a:r>
          </a:p>
          <a:p xmlns:a="http://schemas.openxmlformats.org/drawingml/2006/main">
            <a:r>
              <a:t>        fn += 1</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if tests a condition. The chosen indented block runs.</a:t>
            </a:r>
          </a:p>
          <a:p xmlns:a="http://schemas.openxmlformats.org/drawingml/2006/main">
            <a:r>
              <a:t/>
            </a:r>
          </a:p>
          <a:p xmlns:a="http://schemas.openxmlformats.org/drawingml/2006/main">
            <a:r>
              <a:t>zip pairs items at matching positions in these equal-length lists.</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Start every counter at zero before the loop. == compares labels. and means both comparisons must be true. elif checks another condition only when earlier ones were false.</a:t>
            </a:r>
          </a:p>
          <a:p xmlns:a="http://schemas.openxmlformats.org/drawingml/2006/main">
            <a:r>
              <a:t/>
            </a:r>
          </a:p>
          <a:p xmlns:a="http://schemas.openxmlformats.org/drawingml/2006/main">
            <a:r>
              <a:t>Complete practice code:</a:t>
            </a:r>
          </a:p>
          <a:p xmlns:a="http://schemas.openxmlformats.org/drawingml/2006/main">
            <a:r>
              <a:t>tp = tn = fp = fn = 0</a:t>
            </a:r>
          </a:p>
          <a:p xmlns:a="http://schemas.openxmlformats.org/drawingml/2006/main">
            <a:r>
              <a:t>for truth, guess in zip(actual, predicted):</a:t>
            </a:r>
          </a:p>
          <a:p xmlns:a="http://schemas.openxmlformats.org/drawingml/2006/main">
            <a:r>
              <a:t>    if truth == 1 and guess == 1:</a:t>
            </a:r>
          </a:p>
          <a:p xmlns:a="http://schemas.openxmlformats.org/drawingml/2006/main">
            <a:r>
              <a:t>        tp += 1</a:t>
            </a:r>
          </a:p>
          <a:p xmlns:a="http://schemas.openxmlformats.org/drawingml/2006/main">
            <a:r>
              <a:t>    elif truth == 0 and guess == 0:</a:t>
            </a:r>
          </a:p>
          <a:p xmlns:a="http://schemas.openxmlformats.org/drawingml/2006/main">
            <a:r>
              <a:t>        tn += 1</a:t>
            </a:r>
          </a:p>
          <a:p xmlns:a="http://schemas.openxmlformats.org/drawingml/2006/main">
            <a:r>
              <a:t>    elif truth == 0 and guess == 1:</a:t>
            </a:r>
          </a:p>
          <a:p xmlns:a="http://schemas.openxmlformats.org/drawingml/2006/main">
            <a:r>
              <a:t>        fp += 1</a:t>
            </a:r>
          </a:p>
          <a:p xmlns:a="http://schemas.openxmlformats.org/drawingml/2006/main">
            <a:r>
              <a:t>    else:</a:t>
            </a:r>
          </a:p>
          <a:p xmlns:a="http://schemas.openxmlformats.org/drawingml/2006/main">
            <a:r>
              <a:t>        fn += 1</a:t>
            </a:r>
          </a:p>
          <a:p xmlns:a="http://schemas.openxmlformats.org/drawingml/2006/main">
            <a:r>
              <a:t>print(tp, tn, fp, fn)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arbitrary paired observations in Python (3/3).</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arbitrary paired observations in Python (3/3)</a:t>
            </a:r>
          </a:p>
          <a:p xmlns:a="http://schemas.openxmlformats.org/drawingml/2006/main">
            <a:r>
              <a:t/>
            </a:r>
          </a:p>
          <a:p xmlns:a="http://schemas.openxmlformats.org/drawingml/2006/main">
            <a:r>
              <a:t>CONNECT</a:t>
            </a:r>
          </a:p>
          <a:p xmlns:a="http://schemas.openxmlformats.org/drawingml/2006/main">
            <a:r>
              <a:t>Previous slide: Counting arbitrary paired observations in Python (2/3).</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print(tp, tn, fp, fn)</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Start every counter at zero before the loop. == compares labels. and means both comparisons must be true. elif checks another condition only when earlier ones were false.</a:t>
            </a:r>
          </a:p>
          <a:p xmlns:a="http://schemas.openxmlformats.org/drawingml/2006/main">
            <a:r>
              <a:t/>
            </a:r>
          </a:p>
          <a:p xmlns:a="http://schemas.openxmlformats.org/drawingml/2006/main">
            <a:r>
              <a:t>Complete practice code:</a:t>
            </a:r>
          </a:p>
          <a:p xmlns:a="http://schemas.openxmlformats.org/drawingml/2006/main">
            <a:r>
              <a:t>tp = tn = fp = fn = 0</a:t>
            </a:r>
          </a:p>
          <a:p xmlns:a="http://schemas.openxmlformats.org/drawingml/2006/main">
            <a:r>
              <a:t>for truth, guess in zip(actual, predicted):</a:t>
            </a:r>
          </a:p>
          <a:p xmlns:a="http://schemas.openxmlformats.org/drawingml/2006/main">
            <a:r>
              <a:t>    if truth == 1 and guess == 1:</a:t>
            </a:r>
          </a:p>
          <a:p xmlns:a="http://schemas.openxmlformats.org/drawingml/2006/main">
            <a:r>
              <a:t>        tp += 1</a:t>
            </a:r>
          </a:p>
          <a:p xmlns:a="http://schemas.openxmlformats.org/drawingml/2006/main">
            <a:r>
              <a:t>    elif truth == 0 and guess == 0:</a:t>
            </a:r>
          </a:p>
          <a:p xmlns:a="http://schemas.openxmlformats.org/drawingml/2006/main">
            <a:r>
              <a:t>        tn += 1</a:t>
            </a:r>
          </a:p>
          <a:p xmlns:a="http://schemas.openxmlformats.org/drawingml/2006/main">
            <a:r>
              <a:t>    elif truth == 0 and guess == 1:</a:t>
            </a:r>
          </a:p>
          <a:p xmlns:a="http://schemas.openxmlformats.org/drawingml/2006/main">
            <a:r>
              <a:t>        fp += 1</a:t>
            </a:r>
          </a:p>
          <a:p xmlns:a="http://schemas.openxmlformats.org/drawingml/2006/main">
            <a:r>
              <a:t>    else:</a:t>
            </a:r>
          </a:p>
          <a:p xmlns:a="http://schemas.openxmlformats.org/drawingml/2006/main">
            <a:r>
              <a:t>        fn += 1</a:t>
            </a:r>
          </a:p>
          <a:p xmlns:a="http://schemas.openxmlformats.org/drawingml/2006/main">
            <a:r>
              <a:t>print(tp, tn, fp, fn)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Represent a category with indicators.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Represent a category with indicators</a:t>
            </a:r>
          </a:p>
          <a:p xmlns:a="http://schemas.openxmlformats.org/drawingml/2006/main">
            <a:r>
              <a:t/>
            </a:r>
          </a:p>
          <a:p xmlns:a="http://schemas.openxmlformats.org/drawingml/2006/main">
            <a:r>
              <a:t>CONNECT</a:t>
            </a:r>
          </a:p>
          <a:p xmlns:a="http://schemas.openxmlformats.org/drawingml/2006/main">
            <a:r>
              <a:t>Previous slide: Counting arbitrary paired observations in Python (3/3).</a:t>
            </a:r>
          </a:p>
          <a:p xmlns:a="http://schemas.openxmlformats.org/drawingml/2006/main">
            <a:r>
              <a:t/>
            </a:r>
          </a:p>
          <a:p xmlns:a="http://schemas.openxmlformats.org/drawingml/2006/main">
            <a:r>
              <a:t>EXPLAIN</a:t>
            </a:r>
          </a:p>
          <a:p xmlns:a="http://schemas.openxmlformats.org/drawingml/2006/main">
            <a:r>
              <a:t>Category: A category is a label such as steel or timber. Its name does not imply a numerical size or rank.</a:t>
            </a:r>
          </a:p>
          <a:p xmlns:a="http://schemas.openxmlformats.org/drawingml/2006/main">
            <a:r>
              <a:t/>
            </a:r>
          </a:p>
          <a:p xmlns:a="http://schemas.openxmlformats.org/drawingml/2006/main">
            <a:r>
              <a:t>One-hot indicator: Create a column for each category. Its entry is 1 when the row has that category and 0 otherwise. Learn the allowed categories from training data.</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category can become indicator columns.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category can become indicator columns</a:t>
            </a:r>
          </a:p>
          <a:p xmlns:a="http://schemas.openxmlformats.org/drawingml/2006/main">
            <a:r>
              <a:t/>
            </a:r>
          </a:p>
          <a:p xmlns:a="http://schemas.openxmlformats.org/drawingml/2006/main">
            <a:r>
              <a:t>CONNECT</a:t>
            </a:r>
          </a:p>
          <a:p xmlns:a="http://schemas.openxmlformats.org/drawingml/2006/main">
            <a:r>
              <a:t>Previous slide: Represent a category with indicators.</a:t>
            </a:r>
          </a:p>
          <a:p xmlns:a="http://schemas.openxmlformats.org/drawingml/2006/main">
            <a:r>
              <a:t/>
            </a:r>
          </a:p>
          <a:p xmlns:a="http://schemas.openxmlformats.org/drawingml/2006/main">
            <a:r>
              <a:t>EXPLAIN</a:t>
            </a:r>
          </a:p>
          <a:p xmlns:a="http://schemas.openxmlformats.org/drawingml/2006/main">
            <a:r>
              <a:t>Material | is_steel | is_timber</a:t>
            </a:r>
          </a:p>
          <a:p xmlns:a="http://schemas.openxmlformats.org/drawingml/2006/main">
            <a:r>
              <a:t/>
            </a:r>
          </a:p>
          <a:p xmlns:a="http://schemas.openxmlformats.org/drawingml/2006/main">
            <a:r>
              <a:t>steel | 1 | 0</a:t>
            </a:r>
          </a:p>
          <a:p xmlns:a="http://schemas.openxmlformats.org/drawingml/2006/main">
            <a:r>
              <a:t/>
            </a:r>
          </a:p>
          <a:p xmlns:a="http://schemas.openxmlformats.org/drawingml/2006/main">
            <a:r>
              <a:t>timber | 0 | 1</a:t>
            </a:r>
          </a:p>
          <a:p xmlns:a="http://schemas.openxmlformats.org/drawingml/2006/main">
            <a:r>
              <a:t/>
            </a:r>
          </a:p>
          <a:p xmlns:a="http://schemas.openxmlformats.org/drawingml/2006/main">
            <a:r>
              <a:t>An encoder converts category labels to numeric columns. Fit it on training data. Each indicator is 1 when that category applies, otherwise 0.</a:t>
            </a:r>
          </a:p>
          <a:p xmlns:a="http://schemas.openxmlformats.org/drawingml/2006/main">
            <a:r>
              <a:t/>
            </a:r>
          </a:p>
          <a:p xmlns:a="http://schemas.openxmlformats.org/drawingml/2006/main">
            <a:r>
              <a:t>LECTURER CUE</a:t>
            </a:r>
          </a:p>
          <a:p xmlns:a="http://schemas.openxmlformats.org/drawingml/2006/main">
            <a:r>
              <a:t>An indicator is 1 when its category applies and 0 otherwise. Fit the encoder on training data.</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Accuracy can hide missed warnings.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Accuracy can hide missed warnings</a:t>
            </a:r>
          </a:p>
          <a:p xmlns:a="http://schemas.openxmlformats.org/drawingml/2006/main">
            <a:r>
              <a:t/>
            </a:r>
          </a:p>
          <a:p xmlns:a="http://schemas.openxmlformats.org/drawingml/2006/main">
            <a:r>
              <a:t>CONNECT</a:t>
            </a:r>
          </a:p>
          <a:p xmlns:a="http://schemas.openxmlformats.org/drawingml/2006/main">
            <a:r>
              <a:t>Previous slide: A category can become indicator columns.</a:t>
            </a:r>
          </a:p>
          <a:p xmlns:a="http://schemas.openxmlformats.org/drawingml/2006/main">
            <a:r>
              <a:t/>
            </a:r>
          </a:p>
          <a:p xmlns:a="http://schemas.openxmlformats.org/drawingml/2006/main">
            <a:r>
              <a:t>EXPLAIN</a:t>
            </a:r>
          </a:p>
          <a:p xmlns:a="http://schemas.openxmlformats.org/drawingml/2006/main">
            <a:r>
              <a:t>Accuracy = number of correct labels / number of labels. It counts correct warnings and correct non-warnings together.</a:t>
            </a:r>
          </a:p>
          <a:p xmlns:a="http://schemas.openxmlformats.org/drawingml/2006/main">
            <a:r>
              <a:t/>
            </a:r>
          </a:p>
          <a:p xmlns:a="http://schemas.openxmlformats.org/drawingml/2006/main">
            <a:r>
              <a:t>If 90 of 100 cases need no warning, predicting no warning every time gives 90% accuracy. It detects none of the 10 real warnings: recall is 0.</a:t>
            </a:r>
          </a:p>
          <a:p xmlns:a="http://schemas.openxmlformats.org/drawingml/2006/main">
            <a:r>
              <a:t/>
            </a:r>
          </a:p>
          <a:p xmlns:a="http://schemas.openxmlformats.org/drawingml/2006/main">
            <a:r>
              <a:t>Always inspect the actual/predicted counts and relevant costs before calling a classifier useful.</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Revision example and answer.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example and answer</a:t>
            </a:r>
          </a:p>
          <a:p xmlns:a="http://schemas.openxmlformats.org/drawingml/2006/main">
            <a:r>
              <a:t/>
            </a:r>
          </a:p>
          <a:p xmlns:a="http://schemas.openxmlformats.org/drawingml/2006/main">
            <a:r>
              <a:t>CONNECT</a:t>
            </a:r>
          </a:p>
          <a:p xmlns:a="http://schemas.openxmlformats.org/drawingml/2006/main">
            <a:r>
              <a:t>Previous slide: Accuracy can hide missed warnings.</a:t>
            </a:r>
          </a:p>
          <a:p xmlns:a="http://schemas.openxmlformats.org/drawingml/2006/main">
            <a:r>
              <a:t/>
            </a:r>
          </a:p>
          <a:p xmlns:a="http://schemas.openxmlformats.org/drawingml/2006/main">
            <a:r>
              <a:t>EXPLAIN</a:t>
            </a:r>
          </a:p>
          <a:p xmlns:a="http://schemas.openxmlformats.org/drawingml/2006/main">
            <a:r>
              <a:t>Example: Change the second prediction to 1. Count again. Does this improve both recall and the assumed cost?</a:t>
            </a:r>
          </a:p>
          <a:p xmlns:a="http://schemas.openxmlformats.org/drawingml/2006/main">
            <a:r>
              <a:t/>
            </a:r>
          </a:p>
          <a:p xmlns:a="http://schemas.openxmlformats.org/drawingml/2006/main">
            <a:r>
              <a:t>Answer: TP=2, FN=0, FP=1, TN=1. Precision 2/3, recall 1, cost 1. This particular change improves recall and cost.</a:t>
            </a:r>
          </a:p>
          <a:p xmlns:a="http://schemas.openxmlformats.org/drawingml/2006/main">
            <a:r>
              <a:t/>
            </a:r>
          </a:p>
          <a:p xmlns:a="http://schemas.openxmlformats.org/drawingml/2006/main">
            <a:r>
              <a:t>LECTURER CUE</a:t>
            </a:r>
          </a:p>
          <a:p xmlns:a="http://schemas.openxmlformats.org/drawingml/2006/main">
            <a:r>
              <a:t>Give silent thinking time, then let pairs discuss. Rotate who types. This is practice, not a graded quiz. Expected response: TP=2, FN=0, FP=1, TN=1. Precision 2/3, recall 1, cost 1. This particular change improves recall and cost.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Preparing for the assignment.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a:t>
            </a:r>
          </a:p>
          <a:p xmlns:a="http://schemas.openxmlformats.org/drawingml/2006/main">
            <a:r>
              <a:t/>
            </a:r>
          </a:p>
          <a:p xmlns:a="http://schemas.openxmlformats.org/drawingml/2006/main">
            <a:r>
              <a:t>CONNECT</a:t>
            </a:r>
          </a:p>
          <a:p xmlns:a="http://schemas.openxmlformats.org/drawingml/2006/main">
            <a:r>
              <a:t>Previous slide: Revision example and answer.</a:t>
            </a:r>
          </a:p>
          <a:p xmlns:a="http://schemas.openxmlformats.org/drawingml/2006/main">
            <a:r>
              <a:t/>
            </a:r>
          </a:p>
          <a:p xmlns:a="http://schemas.openxmlformats.org/drawingml/2006/main">
            <a:r>
              <a:t>EXPLAIN</a:t>
            </a:r>
          </a:p>
          <a:p xmlns:a="http://schemas.openxmlformats.org/drawingml/2006/main">
            <a:r>
              <a:t>Implement classification_metrics on arbitrary paired binary labels, not only the example.</a:t>
            </a:r>
          </a:p>
          <a:p xmlns:a="http://schemas.openxmlformats.org/drawingml/2006/main">
            <a:r>
              <a:t/>
            </a:r>
          </a:p>
          <a:p xmlns:a="http://schemas.openxmlformats.org/drawingml/2006/main">
            <a:r>
              <a:t>Use the published zero-denominator convention.</a:t>
            </a:r>
          </a:p>
          <a:p xmlns:a="http://schemas.openxmlformats.org/drawingml/2006/main">
            <a:r>
              <a:t/>
            </a:r>
          </a:p>
          <a:p xmlns:a="http://schemas.openxmlformats.org/drawingml/2006/main">
            <a:r>
              <a:t>Read the supplied W09 comparison separately.</a:t>
            </a:r>
          </a:p>
          <a:p xmlns:a="http://schemas.openxmlformats.org/drawingml/2006/main">
            <a:r>
              <a:t/>
            </a:r>
          </a:p>
          <a:p xmlns:a="http://schemas.openxmlformats.org/drawingml/2006/main">
            <a:r>
              <a:t>Teacher-written cost assumptions are not approved operating limits.</a:t>
            </a:r>
          </a:p>
          <a:p xmlns:a="http://schemas.openxmlformats.org/drawingml/2006/main">
            <a:r>
              <a:t/>
            </a:r>
          </a:p>
          <a:p xmlns:a="http://schemas.openxmlformats.org/drawingml/2006/main">
            <a:r>
              <a:t>LECTURER CUE</a:t>
            </a:r>
          </a:p>
          <a:p xmlns:a="http://schemas.openxmlformats.org/drawingml/2006/main">
            <a:r>
              <a:t>Implement classification_metrics on arbitrary paired binary labels, not only the example. Use the published zero-denominator convention. Read the supplied W09 comparison separately. Teacher-written cost assumptions are not approved operating limits. All claimed benefits require real-world evaluation.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Preparing for the assignment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 continued</a:t>
            </a:r>
          </a:p>
          <a:p xmlns:a="http://schemas.openxmlformats.org/drawingml/2006/main">
            <a:r>
              <a:t/>
            </a:r>
          </a:p>
          <a:p xmlns:a="http://schemas.openxmlformats.org/drawingml/2006/main">
            <a:r>
              <a:t>CONNECT</a:t>
            </a:r>
          </a:p>
          <a:p xmlns:a="http://schemas.openxmlformats.org/drawingml/2006/main">
            <a:r>
              <a:t>Previous slide: Preparing for the assignment.</a:t>
            </a:r>
          </a:p>
          <a:p xmlns:a="http://schemas.openxmlformats.org/drawingml/2006/main">
            <a:r>
              <a:t/>
            </a:r>
          </a:p>
          <a:p xmlns:a="http://schemas.openxmlformats.org/drawingml/2006/main">
            <a:r>
              <a:t>EXPLAIN</a:t>
            </a:r>
          </a:p>
          <a:p xmlns:a="http://schemas.openxmlformats.org/drawingml/2006/main">
            <a:r>
              <a:t>All claimed benefits require real-world evaluation.</a:t>
            </a:r>
          </a:p>
          <a:p xmlns:a="http://schemas.openxmlformats.org/drawingml/2006/main">
            <a:r>
              <a:t/>
            </a:r>
          </a:p>
          <a:p xmlns:a="http://schemas.openxmlformats.org/drawingml/2006/main">
            <a:r>
              <a:t>LECTURER CUE</a:t>
            </a:r>
          </a:p>
          <a:p xmlns:a="http://schemas.openxmlformats.org/drawingml/2006/main">
            <a:r>
              <a:t>Implement classification_metrics on arbitrary paired binary labels, not only the example. Use the published zero-denominator convention. Read the supplied W09 comparison separately. Teacher-written cost assumptions are not approved operating limits. All claimed benefits require real-world evaluation.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Category predictions and operating thresholds.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Category predictions and operating thresholds</a:t>
            </a:r>
          </a:p>
          <a:p xmlns:a="http://schemas.openxmlformats.org/drawingml/2006/main">
            <a:r>
              <a:t/>
            </a:r>
          </a:p>
          <a:p xmlns:a="http://schemas.openxmlformats.org/drawingml/2006/main">
            <a:r>
              <a:t>CONNECT</a:t>
            </a:r>
          </a:p>
          <a:p xmlns:a="http://schemas.openxmlformats.org/drawingml/2006/main">
            <a:r>
              <a:t>Previous slide: Preparing for the assignment continued.</a:t>
            </a:r>
          </a:p>
          <a:p xmlns:a="http://schemas.openxmlformats.org/drawingml/2006/main">
            <a:r>
              <a:t/>
            </a:r>
          </a:p>
          <a:p xmlns:a="http://schemas.openxmlformats.org/drawingml/2006/main">
            <a:r>
              <a:t>EXPLAIN</a:t>
            </a:r>
          </a:p>
          <a:p xmlns:a="http://schemas.openxmlformats.org/drawingml/2006/main">
            <a:r>
              <a:t>A majority-only classifier can achieve high accuracy while missing the rare class.</a:t>
            </a:r>
          </a:p>
          <a:p xmlns:a="http://schemas.openxmlformats.org/drawingml/2006/main">
            <a:r>
              <a:t/>
            </a:r>
          </a:p>
          <a:p xmlns:a="http://schemas.openxmlformats.org/drawingml/2006/main">
            <a:r>
              <a:t>Name the positive class and both confusion-matrix axes.</a:t>
            </a:r>
          </a:p>
          <a:p xmlns:a="http://schemas.openxmlformats.org/drawingml/2006/main">
            <a:r>
              <a:t/>
            </a:r>
          </a:p>
          <a:p xmlns:a="http://schemas.openxmlformats.org/drawingml/2006/main">
            <a:r>
              <a:t>A model expecting numeric features cannot directly use raw category strings; use numeric indicator columns for categories.</a:t>
            </a:r>
          </a:p>
          <a:p xmlns:a="http://schemas.openxmlformats.org/drawingml/2006/main">
            <a:r>
              <a:t/>
            </a:r>
          </a:p>
          <a:p xmlns:a="http://schemas.openxmlformats.org/drawingml/2006/main">
            <a:r>
              <a:t>Compare threshold choices on validation data.</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Category predictions and operating thresholds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Category predictions and operating thresholds continued</a:t>
            </a:r>
          </a:p>
          <a:p xmlns:a="http://schemas.openxmlformats.org/drawingml/2006/main">
            <a:r>
              <a:t/>
            </a:r>
          </a:p>
          <a:p xmlns:a="http://schemas.openxmlformats.org/drawingml/2006/main">
            <a:r>
              <a:t>CONNECT</a:t>
            </a:r>
          </a:p>
          <a:p xmlns:a="http://schemas.openxmlformats.org/drawingml/2006/main">
            <a:r>
              <a:t>Previous slide: Category predictions and operating thresholds.</a:t>
            </a:r>
          </a:p>
          <a:p xmlns:a="http://schemas.openxmlformats.org/drawingml/2006/main">
            <a:r>
              <a:t/>
            </a:r>
          </a:p>
          <a:p xmlns:a="http://schemas.openxmlformats.org/drawingml/2006/main">
            <a:r>
              <a:t>EXPLAIN</a:t>
            </a:r>
          </a:p>
          <a:p xmlns:a="http://schemas.openxmlformats.org/drawingml/2006/main">
            <a:r>
              <a:t>Reducing the threshold adds flagged cases and cannot reduce recall on fixed scored observations, but precision can move either way.</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Your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issued task</a:t>
            </a:r>
          </a:p>
          <a:p xmlns:a="http://schemas.openxmlformats.org/drawingml/2006/main">
            <a:r>
              <a:t/>
            </a:r>
          </a:p>
          <a:p xmlns:a="http://schemas.openxmlformats.org/drawingml/2006/main">
            <a:r>
              <a:t>CONNECT</a:t>
            </a:r>
          </a:p>
          <a:p xmlns:a="http://schemas.openxmlformats.org/drawingml/2006/main">
            <a:r>
              <a:t>Previous slide: Category predictions and operating thresholds continued.</a:t>
            </a:r>
          </a:p>
          <a:p xmlns:a="http://schemas.openxmlformats.org/drawingml/2006/main">
            <a:r>
              <a:t/>
            </a:r>
          </a:p>
          <a:p xmlns:a="http://schemas.openxmlformats.org/drawingml/2006/main">
            <a:r>
              <a:t>EXPLAIN</a:t>
            </a:r>
          </a:p>
          <a:p xmlns:a="http://schemas.openxmlformats.org/drawingml/2006/main">
            <a:r>
              <a:t>Use classification_case.csv.</a:t>
            </a:r>
          </a:p>
          <a:p xmlns:a="http://schemas.openxmlformats.org/drawingml/2006/main">
            <a:r>
              <a:t/>
            </a:r>
          </a:p>
          <a:p xmlns:a="http://schemas.openxmlformats.org/drawingml/2006/main">
            <a:r>
              <a:t>Positive means a synthetic warning condition.</a:t>
            </a:r>
          </a:p>
          <a:p xmlns:a="http://schemas.openxmlformats.org/drawingml/2006/main">
            <a:r>
              <a:t/>
            </a:r>
          </a:p>
          <a:p xmlns:a="http://schemas.openxmlformats.org/drawingml/2006/main">
            <a:r>
              <a:t>Compute the confusion matrix, precision, recall and cost.</a:t>
            </a:r>
          </a:p>
          <a:p xmlns:a="http://schemas.openxmlformats.org/drawingml/2006/main">
            <a:r>
              <a:t/>
            </a:r>
          </a:p>
          <a:p xmlns:a="http://schemas.openxmlformats.org/drawingml/2006/main">
            <a:r>
              <a:t>Explain the 5:1 missed-warning/false-alarm cost assumption and why accuracy alone is insufficient.</a:t>
            </a:r>
          </a:p>
          <a:p xmlns:a="http://schemas.openxmlformats.org/drawingml/2006/main">
            <a:r>
              <a:t/>
            </a:r>
          </a:p>
          <a:p xmlns:a="http://schemas.openxmlformats.org/drawingml/2006/main">
            <a:r>
              <a:t>LECTURER CUE</a:t>
            </a:r>
          </a:p>
          <a:p xmlns:a="http://schemas.openxmlformats.org/drawingml/2006/main">
            <a:r>
              <a:t>Use classification_case.csv. Positive means a synthetic warning condition. Compute the confusion matrix, precision, recall and cost. Explain the 5:1 missed-warning/false-alarm cost assumption and why accuracy alone is insufficient. These costs are teaching assumptions, not approved operating limits.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Your issued task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issued task continued</a:t>
            </a:r>
          </a:p>
          <a:p xmlns:a="http://schemas.openxmlformats.org/drawingml/2006/main">
            <a:r>
              <a:t/>
            </a:r>
          </a:p>
          <a:p xmlns:a="http://schemas.openxmlformats.org/drawingml/2006/main">
            <a:r>
              <a:t>CONNECT</a:t>
            </a:r>
          </a:p>
          <a:p xmlns:a="http://schemas.openxmlformats.org/drawingml/2006/main">
            <a:r>
              <a:t>Previous slide: Your issued task.</a:t>
            </a:r>
          </a:p>
          <a:p xmlns:a="http://schemas.openxmlformats.org/drawingml/2006/main">
            <a:r>
              <a:t/>
            </a:r>
          </a:p>
          <a:p xmlns:a="http://schemas.openxmlformats.org/drawingml/2006/main">
            <a:r>
              <a:t>EXPLAIN</a:t>
            </a:r>
          </a:p>
          <a:p xmlns:a="http://schemas.openxmlformats.org/drawingml/2006/main">
            <a:r>
              <a:t>These costs are teaching assumptions, not approved operating limits.</a:t>
            </a:r>
          </a:p>
          <a:p xmlns:a="http://schemas.openxmlformats.org/drawingml/2006/main">
            <a:r>
              <a:t/>
            </a:r>
          </a:p>
          <a:p xmlns:a="http://schemas.openxmlformats.org/drawingml/2006/main">
            <a:r>
              <a:t>LECTURER CUE</a:t>
            </a:r>
          </a:p>
          <a:p xmlns:a="http://schemas.openxmlformats.org/drawingml/2006/main">
            <a:r>
              <a:t>Use classification_case.csv. Positive means a synthetic warning condition. Compute the confusion matrix, precision, recall and cost. Explain the 5:1 missed-warning/false-alarm cost assumption and why accuracy alone is insufficient. These costs are teaching assumptions, not approved operating limits.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classification_metrics(actual, predicted).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classification_metrics(actual, predicted)</a:t>
            </a:r>
          </a:p>
          <a:p xmlns:a="http://schemas.openxmlformats.org/drawingml/2006/main">
            <a:r>
              <a:t/>
            </a:r>
          </a:p>
          <a:p xmlns:a="http://schemas.openxmlformats.org/drawingml/2006/main">
            <a:r>
              <a:t>CONNECT</a:t>
            </a:r>
          </a:p>
          <a:p xmlns:a="http://schemas.openxmlformats.org/drawingml/2006/main">
            <a:r>
              <a:t>Previous slide: Your issued task continued.</a:t>
            </a:r>
          </a:p>
          <a:p xmlns:a="http://schemas.openxmlformats.org/drawingml/2006/main">
            <a:r>
              <a:t/>
            </a:r>
          </a:p>
          <a:p xmlns:a="http://schemas.openxmlformats.org/drawingml/2006/main">
            <a:r>
              <a:t>EXPLAIN</a:t>
            </a:r>
          </a:p>
          <a:p xmlns:a="http://schemas.openxmlformats.org/drawingml/2006/main">
            <a:r>
              <a:t>For binary labels return tp, tn, fp, fn, precision, recall and cost=5*fn+fp; use zero for an undefined precision/recall denominator.</a:t>
            </a:r>
          </a:p>
          <a:p xmlns:a="http://schemas.openxmlformats.org/drawingml/2006/main">
            <a:r>
              <a:t/>
            </a:r>
          </a:p>
          <a:p xmlns:a="http://schemas.openxmlformats.org/drawingml/2006/main">
            <a:r>
              <a:t>LECTURER CUE</a:t>
            </a:r>
          </a:p>
          <a:p xmlns:a="http://schemas.openxmlformats.org/drawingml/2006/main">
            <a:r>
              <a:t>Public task contract. Explain input and output types before independent work. Source: IUEA_Teaching_Plan/assessment_banks/W09/CML3111/A/TASKS.md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Written evidence.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Written evidence</a:t>
            </a:r>
          </a:p>
          <a:p xmlns:a="http://schemas.openxmlformats.org/drawingml/2006/main">
            <a:r>
              <a:t/>
            </a:r>
          </a:p>
          <a:p xmlns:a="http://schemas.openxmlformats.org/drawingml/2006/main">
            <a:r>
              <a:t>CONNECT</a:t>
            </a:r>
          </a:p>
          <a:p xmlns:a="http://schemas.openxmlformats.org/drawingml/2006/main">
            <a:r>
              <a:t>Previous slide: classification_metrics(actual, predicted).</a:t>
            </a:r>
          </a:p>
          <a:p xmlns:a="http://schemas.openxmlformats.org/drawingml/2006/main">
            <a:r>
              <a:t/>
            </a:r>
          </a:p>
          <a:p xmlns:a="http://schemas.openxmlformats.org/drawingml/2006/main">
            <a:r>
              <a:t>EXPLAIN</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a:p xmlns:a="http://schemas.openxmlformats.org/drawingml/2006/main">
            <a:r>
              <a:t/>
            </a:r>
          </a:p>
          <a:p xmlns:a="http://schemas.openxmlformats.org/drawingml/2006/main">
            <a:r>
              <a:t>LECTURER CUE</a:t>
            </a:r>
          </a:p>
          <a:p xmlns:a="http://schemas.openxmlformats.org/drawingml/2006/main">
            <a:r>
              <a:t>Published criterion weights and exact requirements remain in TASKS.md. Broader project exercises are formative and do not add weekly marks. Local automated reasoning assessment remains subject to its release checks.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Classification and cost submission.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Classification and cost submission</a:t>
            </a:r>
          </a:p>
          <a:p xmlns:a="http://schemas.openxmlformats.org/drawingml/2006/main">
            <a:r>
              <a:t/>
            </a:r>
          </a:p>
          <a:p xmlns:a="http://schemas.openxmlformats.org/drawingml/2006/main">
            <a:r>
              <a:t>CONNECT</a:t>
            </a:r>
          </a:p>
          <a:p xmlns:a="http://schemas.openxmlformats.org/drawingml/2006/main">
            <a:r>
              <a:t>Previous slide: Written evidence.</a:t>
            </a:r>
          </a:p>
          <a:p xmlns:a="http://schemas.openxmlformats.org/drawingml/2006/main">
            <a:r>
              <a:t/>
            </a:r>
          </a:p>
          <a:p xmlns:a="http://schemas.openxmlformats.org/drawingml/2006/main">
            <a:r>
              <a:t>EXPLAIN</a:t>
            </a:r>
          </a:p>
          <a:p xmlns:a="http://schemas.openxmlformats.org/drawingml/2006/main">
            <a:r>
              <a:t>Opens: 06 Nov 2026, 11:00 Kampala</a:t>
            </a:r>
          </a:p>
          <a:p xmlns:a="http://schemas.openxmlformats.org/drawingml/2006/main">
            <a:r>
              <a:t/>
            </a:r>
          </a:p>
          <a:p xmlns:a="http://schemas.openxmlformats.org/drawingml/2006/main">
            <a:r>
              <a:t>Deadline: 13 Nov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LECTURER CUE</a:t>
            </a:r>
          </a:p>
          <a:p xmlns:a="http://schemas.openxmlformats.org/drawingml/2006/main">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9 quiz.</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9 quiz</a:t>
            </a:r>
          </a:p>
          <a:p xmlns:a="http://schemas.openxmlformats.org/drawingml/2006/main">
            <a:r>
              <a:t/>
            </a:r>
          </a:p>
          <a:p xmlns:a="http://schemas.openxmlformats.org/drawingml/2006/main">
            <a:r>
              <a:t>CONNECT</a:t>
            </a:r>
          </a:p>
          <a:p xmlns:a="http://schemas.openxmlformats.org/drawingml/2006/main">
            <a:r>
              <a:t>Previous slide: Classification and cost submission.</a:t>
            </a:r>
          </a:p>
          <a:p xmlns:a="http://schemas.openxmlformats.org/drawingml/2006/main">
            <a:r>
              <a:t/>
            </a:r>
          </a:p>
          <a:p xmlns:a="http://schemas.openxmlformats.org/drawingml/2006/main">
            <a:r>
              <a:t>EXPLAIN</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The lecturer will confirm the exact closing time.</a:t>
            </a:r>
          </a:p>
          <a:p xmlns:a="http://schemas.openxmlformats.org/drawingml/2006/main">
            <a:r>
              <a:t/>
            </a:r>
          </a:p>
          <a:p xmlns:a="http://schemas.openxmlformats.org/drawingml/2006/main">
            <a:r>
              <a:t>LECTURER CUE</a:t>
            </a:r>
          </a:p>
          <a:p xmlns:a="http://schemas.openxmlformats.org/drawingml/2006/main">
            <a:r>
              <a:t>Activate the matching open_W9_CML3111 function in Quiz Controls, then confirm the 24-hour close time. Opening this slide or clicking its link does not activate the form. The 24 hours is the availability window. Keep existing quiz scoring and form rules. Do not show private answer keys.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Before you leave.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and submission checklist</a:t>
            </a:r>
          </a:p>
          <a:p xmlns:a="http://schemas.openxmlformats.org/drawingml/2006/main">
            <a:r>
              <a:t/>
            </a:r>
          </a:p>
          <a:p xmlns:a="http://schemas.openxmlformats.org/drawingml/2006/main">
            <a:r>
              <a:t>CONNECT</a:t>
            </a:r>
          </a:p>
          <a:p xmlns:a="http://schemas.openxmlformats.org/drawingml/2006/main">
            <a:r>
              <a:t>Previous slide: Week 9 quiz.</a:t>
            </a:r>
          </a:p>
          <a:p xmlns:a="http://schemas.openxmlformats.org/drawingml/2006/main">
            <a:r>
              <a:t/>
            </a:r>
          </a:p>
          <a:p xmlns:a="http://schemas.openxmlformats.org/drawingml/2006/main">
            <a:r>
              <a:t>EXPLAIN</a:t>
            </a:r>
          </a:p>
          <a:p xmlns:a="http://schemas.openxmlformats.org/drawingml/2006/main">
            <a:r>
              <a:t>You can identify a false negative and explain precision and recall with counts.</a:t>
            </a:r>
          </a:p>
          <a:p xmlns:a="http://schemas.openxmlformats.org/drawingml/2006/main">
            <a:r>
              <a:t/>
            </a:r>
          </a:p>
          <a:p xmlns:a="http://schemas.openxmlformats.org/drawingml/2006/main">
            <a:r>
              <a:t>Save your work and check the required submission files.</a:t>
            </a:r>
          </a:p>
          <a:p xmlns:a="http://schemas.openxmlformats.org/drawingml/2006/main">
            <a:r>
              <a:t/>
            </a:r>
          </a:p>
          <a:p xmlns:a="http://schemas.openxmlformats.org/drawingml/2006/main">
            <a:r>
              <a:t>LECTURER CUE</a:t>
            </a:r>
          </a:p>
          <a:p xmlns:a="http://schemas.openxmlformats.org/drawingml/2006/main">
            <a:r>
              <a:t>Ask every learner for an individual response. Record one misconception to revisit at the start of the next class. If a deadline changed, announce the exact Kampala date and update the source registry before rebuilding slides.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Optional revision video.</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Optional revision video</a:t>
            </a:r>
          </a:p>
          <a:p xmlns:a="http://schemas.openxmlformats.org/drawingml/2006/main">
            <a:r>
              <a:t/>
            </a:r>
          </a:p>
          <a:p xmlns:a="http://schemas.openxmlformats.org/drawingml/2006/main">
            <a:r>
              <a:t>CONNECT</a:t>
            </a:r>
          </a:p>
          <a:p xmlns:a="http://schemas.openxmlformats.org/drawingml/2006/main">
            <a:r>
              <a:t>Previous slide: Revision and submission checklist.</a:t>
            </a:r>
          </a:p>
          <a:p xmlns:a="http://schemas.openxmlformats.org/drawingml/2006/main">
            <a:r>
              <a:t/>
            </a:r>
          </a:p>
          <a:p xmlns:a="http://schemas.openxmlformats.org/drawingml/2006/main">
            <a:r>
              <a:t>EXPLAIN</a:t>
            </a:r>
          </a:p>
          <a:p xmlns:a="http://schemas.openxmlformats.org/drawingml/2006/main">
            <a:r>
              <a:t>For revision after class.</a:t>
            </a:r>
          </a:p>
          <a:p xmlns:a="http://schemas.openxmlformats.org/drawingml/2006/main">
            <a:r>
              <a:t/>
            </a:r>
          </a:p>
          <a:p xmlns:a="http://schemas.openxmlformats.org/drawingml/2006/main">
            <a:r>
              <a:t>StatQuest with Josh Starmer</a:t>
            </a:r>
          </a:p>
          <a:p xmlns:a="http://schemas.openxmlformats.org/drawingml/2006/main">
            <a:r>
              <a:t>Machine Learning Fundamentals The Confusion Matrix</a:t>
            </a:r>
          </a:p>
          <a:p xmlns:a="http://schemas.openxmlformats.org/drawingml/2006/main">
            <a:r>
              <a:t/>
            </a:r>
          </a:p>
          <a:p xmlns:a="http://schemas.openxmlformats.org/drawingml/2006/main">
            <a:r>
              <a:t>Opening up to 04:00, optional preview-selected excerpt</a:t>
            </a:r>
          </a:p>
          <a:p xmlns:a="http://schemas.openxmlformats.org/drawingml/2006/main">
            <a:r>
              <a:t/>
            </a:r>
          </a:p>
          <a:p xmlns:a="http://schemas.openxmlformats.org/drawingml/2006/main">
            <a:r>
              <a:t>Listening question: Which observations are correctly or incorrectly classified?</a:t>
            </a:r>
          </a:p>
          <a:p xmlns:a="http://schemas.openxmlformats.org/drawingml/2006/main">
            <a:r>
              <a:t/>
            </a:r>
          </a:p>
          <a:p xmlns:a="http://schemas.openxmlformats.org/drawingml/2006/main">
            <a:r>
              <a:t>LECTURER CUE</a:t>
            </a:r>
          </a:p>
          <a:p xmlns:a="http://schemas.openxmlformats.org/drawingml/2006/main">
            <a:r>
              <a:t>Linked by the official StatQuest video index. Full audiovisual preview and excerpt timing still required.</a:t>
            </a:r>
          </a:p>
          <a:p xmlns:a="http://schemas.openxmlformats.org/drawingml/2006/main">
            <a:r>
              <a:t>After viewing: Translate the medical example to warning/no-warning and label the axes.</a:t>
            </a:r>
          </a:p>
          <a:p xmlns:a="http://schemas.openxmlformats.org/drawingml/2006/main">
            <a:r>
              <a:t>Preview before class and stop after the selected short excerpt. If playback fails, teach the worked example. Video is optional. Source: https://www.youtube.com/watch?v=Kdsp6soqA7o</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independent revision and the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fdd5acee6b47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e0a6ce703841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2d7cd5437b49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f16e845aa543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cb9a3616744d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5322ed255a4b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DD0E1F8-34C7-4D29-8AC3-BD39B3ADDE2F}"/>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B164D6D-0FF1-4C5C-B887-A54732E9A623}"/>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F3D7D07A-DA4F-4809-AE50-8CDBD9129AFD}"/>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425C37D-9276-42CC-BB8B-8F3978A06175}"/>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0D7F61FC-36E2-4D92-B86D-0417427D4F3E}"/>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1916AF8-D209-487E-822C-E4C602F592F4}"/>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4598DBC-45FE-4369-906D-7031D4E47A71}"/>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5EAC8017-089C-44B7-9591-690D06B89D5D}"/>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7F7A48A8-6049-457C-9FF2-5E40B0F556E0}"/>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B39A9D1-6CC8-4C18-9BBF-FFE657FA1AA9}"/>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7EBA869-3ACA-44ED-AB9F-EE7F2628A9C4}"/>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69E323A-71C3-4767-A9E6-0E545B7E34AA}"/>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C522A61-1D17-4078-B43C-FF9A611FC219}"/>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6B4B455-79F0-4E7A-B85C-84BDE216B16B}"/>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6C3F06D-B63C-40F3-83E7-CC119684E8A5}"/>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25139802144832" /><Relationship Type="http://schemas.openxmlformats.org/officeDocument/2006/relationships/slideLayout" Target="/ppt/slideLayouts/slideLayout1.xml" Id="R39a30b01d7064ebb" /><Relationship Type="http://schemas.openxmlformats.org/officeDocument/2006/relationships/slideLayout" Target="/ppt/slideLayouts/slideLayout2.xml" Id="Rabfd05354def429e" /><Relationship Type="http://schemas.openxmlformats.org/officeDocument/2006/relationships/slideLayout" Target="/ppt/slideLayouts/slideLayout3.xml" Id="R1819be224a764a63" /><Relationship Type="http://schemas.openxmlformats.org/officeDocument/2006/relationships/slideLayout" Target="/ppt/slideLayouts/slideLayout4.xml" Id="R5be202e7c1994995" /><Relationship Type="http://schemas.openxmlformats.org/officeDocument/2006/relationships/slideLayout" Target="/ppt/slideLayouts/slideLayout5.xml" Id="R811bedbb62134c1c" /><Relationship Type="http://schemas.openxmlformats.org/officeDocument/2006/relationships/slideLayout" Target="/ppt/slideLayouts/slideLayout6.xml" Id="Rdec90070285a49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a30b01d7064ebb"/>
    <p:sldLayoutId xmlns:r="http://schemas.openxmlformats.org/officeDocument/2006/relationships" id="2147483650" r:id="Rabfd05354def429e"/>
    <p:sldLayoutId xmlns:r="http://schemas.openxmlformats.org/officeDocument/2006/relationships" id="2147483651" r:id="R1819be224a764a63"/>
    <p:sldLayoutId xmlns:r="http://schemas.openxmlformats.org/officeDocument/2006/relationships" id="2147483652" r:id="R5be202e7c1994995"/>
    <p:sldLayoutId xmlns:r="http://schemas.openxmlformats.org/officeDocument/2006/relationships" id="2147483653" r:id="R811bedbb62134c1c"/>
    <p:sldLayoutId xmlns:r="http://schemas.openxmlformats.org/officeDocument/2006/relationships" id="2147483654" r:id="Rdec90070285a49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28e29b998c4593" /><Relationship Type="http://schemas.openxmlformats.org/officeDocument/2006/relationships/image" Target="/ppt/media/image.png" Id="R5f2c833859a246db" /><Relationship Type="http://schemas.openxmlformats.org/officeDocument/2006/relationships/notesSlide" Target="/ppt/notesSlides/notesSlide1.xml" Id="Rdcefdf4d8b7041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295e3e9e1c544eb" /><Relationship Type="http://schemas.openxmlformats.org/officeDocument/2006/relationships/notesSlide" Target="/ppt/notesSlides/notesSlide2.xml" Id="R9420bd9e6f4c42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ca3aeef1ec4c7e" /><Relationship Type="http://schemas.openxmlformats.org/officeDocument/2006/relationships/notesSlide" Target="/ppt/notesSlides/notesSlide3.xml" Id="R7ed3766eef834c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ece2d943d1c4219" /><Relationship Type="http://schemas.openxmlformats.org/officeDocument/2006/relationships/notesSlide" Target="/ppt/notesSlides/notesSlide4.xml" Id="R08f3582a293c4d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b92cddadc448fb" /><Relationship Type="http://schemas.openxmlformats.org/officeDocument/2006/relationships/notesSlide" Target="/ppt/notesSlides/notesSlide5.xml" Id="R01aca1ce6c7248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78fa224c5334c50" /><Relationship Type="http://schemas.openxmlformats.org/officeDocument/2006/relationships/notesSlide" Target="/ppt/notesSlides/notesSlide6.xml" Id="Rf0e047db3f124f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6f2be9c5c34bfc" /><Relationship Type="http://schemas.openxmlformats.org/officeDocument/2006/relationships/notesSlide" Target="/ppt/notesSlides/notesSlide7.xml" Id="R08b072e172d749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85eb83ba9fe4aea" /><Relationship Type="http://schemas.openxmlformats.org/officeDocument/2006/relationships/notesSlide" Target="/ppt/notesSlides/notesSlide8.xml" Id="Re926f772570144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6ec47e93b6d4634" /><Relationship Type="http://schemas.openxmlformats.org/officeDocument/2006/relationships/image" Target="/ppt/media/image2.png" Id="Rdc03745774d6466c" /><Relationship Type="http://schemas.openxmlformats.org/officeDocument/2006/relationships/notesSlide" Target="/ppt/notesSlides/notesSlide9.xml" Id="Re97a244a293b46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98bb6033aaa4492" /><Relationship Type="http://schemas.openxmlformats.org/officeDocument/2006/relationships/notesSlide" Target="/ppt/notesSlides/notesSlide10.xml" Id="R813b73c568654f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bd165e08b864ad9" /><Relationship Type="http://schemas.openxmlformats.org/officeDocument/2006/relationships/notesSlide" Target="/ppt/notesSlides/notesSlide11.xml" Id="R079bd3a8bef040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b5a1021cd4547b6" /><Relationship Type="http://schemas.openxmlformats.org/officeDocument/2006/relationships/notesSlide" Target="/ppt/notesSlides/notesSlide12.xml" Id="R59a0a1cf52ca4e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245c597158e4086" /><Relationship Type="http://schemas.openxmlformats.org/officeDocument/2006/relationships/notesSlide" Target="/ppt/notesSlides/notesSlide13.xml" Id="R2a43a8a465aa46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233682ea9d24956" /><Relationship Type="http://schemas.openxmlformats.org/officeDocument/2006/relationships/notesSlide" Target="/ppt/notesSlides/notesSlide14.xml" Id="Rdb6b48879a5a42e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4731e068ffc4433" /><Relationship Type="http://schemas.openxmlformats.org/officeDocument/2006/relationships/notesSlide" Target="/ppt/notesSlides/notesSlide15.xml" Id="Re8a03151bd4e4d2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3a7b5ba4721439d" /><Relationship Type="http://schemas.openxmlformats.org/officeDocument/2006/relationships/notesSlide" Target="/ppt/notesSlides/notesSlide16.xml" Id="R1268715da3374fb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ae5012739b14d3f" /><Relationship Type="http://schemas.openxmlformats.org/officeDocument/2006/relationships/notesSlide" Target="/ppt/notesSlides/notesSlide17.xml" Id="Ra0645695b3eb48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65e1f9576194361" /><Relationship Type="http://schemas.openxmlformats.org/officeDocument/2006/relationships/notesSlide" Target="/ppt/notesSlides/notesSlide18.xml" Id="R605eb0488e044f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6a3bfd0ff294881" /><Relationship Type="http://schemas.openxmlformats.org/officeDocument/2006/relationships/notesSlide" Target="/ppt/notesSlides/notesSlide19.xml" Id="R555e201185b34e4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98c87bf2e144013" /><Relationship Type="http://schemas.openxmlformats.org/officeDocument/2006/relationships/notesSlide" Target="/ppt/notesSlides/notesSlide20.xml" Id="R85e6177a84394dd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870b42d8787437f" /><Relationship Type="http://schemas.openxmlformats.org/officeDocument/2006/relationships/notesSlide" Target="/ppt/notesSlides/notesSlide21.xml" Id="Rfb72265d80774de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0122736cf9848db" /><Relationship Type="http://schemas.openxmlformats.org/officeDocument/2006/relationships/notesSlide" Target="/ppt/notesSlides/notesSlide22.xml" Id="R87301f586afa4cc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b9c0a5747734d03" /><Relationship Type="http://schemas.openxmlformats.org/officeDocument/2006/relationships/notesSlide" Target="/ppt/notesSlides/notesSlide23.xml" Id="R7539173e66a74e2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c50809598b546e4" /><Relationship Type="http://schemas.openxmlformats.org/officeDocument/2006/relationships/notesSlide" Target="/ppt/notesSlides/notesSlide24.xml" Id="Rd454e18254cb476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3dacdebe64a41da" /><Relationship Type="http://schemas.openxmlformats.org/officeDocument/2006/relationships/notesSlide" Target="/ppt/notesSlides/notesSlide25.xml" Id="R1aab6ac2026d40d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424c11df2b5443f" /><Relationship Type="http://schemas.openxmlformats.org/officeDocument/2006/relationships/notesSlide" Target="/ppt/notesSlides/notesSlide26.xml" Id="R2df161b8ca58413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bcab5e927354dec" /><Relationship Type="http://schemas.openxmlformats.org/officeDocument/2006/relationships/notesSlide" Target="/ppt/notesSlides/notesSlide27.xml" Id="R640f58e1dafc45a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9d6c3b908684a9e" /><Relationship Type="http://schemas.openxmlformats.org/officeDocument/2006/relationships/notesSlide" Target="/ppt/notesSlides/notesSlide28.xml" Id="R900b4b47cc2c43b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028a83acbd3467b" /><Relationship Type="http://schemas.openxmlformats.org/officeDocument/2006/relationships/notesSlide" Target="/ppt/notesSlides/notesSlide29.xml" Id="R2f0fc6ceeeb7447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e237316c85b48ba" /><Relationship Type="http://schemas.openxmlformats.org/officeDocument/2006/relationships/notesSlide" Target="/ppt/notesSlides/notesSlide30.xml" Id="Rc47246a9fcbb4a8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ce96e857d77487a" /><Relationship Type="http://schemas.openxmlformats.org/officeDocument/2006/relationships/notesSlide" Target="/ppt/notesSlides/notesSlide31.xml" Id="R4f48bf3620684f0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2f3e8ba83044236" /><Relationship Type="http://schemas.openxmlformats.org/officeDocument/2006/relationships/notesSlide" Target="/ppt/notesSlides/notesSlide32.xml" Id="R8338ef8ccb3845d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fb8c8e516e74e0e" /><Relationship Type="http://schemas.openxmlformats.org/officeDocument/2006/relationships/notesSlide" Target="/ppt/notesSlides/notesSlide33.xml" Id="R354de95bdbeb44f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3368e593a7d45f7" /><Relationship Type="http://schemas.openxmlformats.org/officeDocument/2006/relationships/notesSlide" Target="/ppt/notesSlides/notesSlide34.xml" Id="Rc866eda99c5d472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0d8426f090e4d96" /><Relationship Type="http://schemas.openxmlformats.org/officeDocument/2006/relationships/notesSlide" Target="/ppt/notesSlides/notesSlide35.xml" Id="R7ff21990d46940c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def48c95ad74c9f" /><Relationship Type="http://schemas.openxmlformats.org/officeDocument/2006/relationships/notesSlide" Target="/ppt/notesSlides/notesSlide36.xml" Id="Rdc403400aa274c4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152a23bacfa4c08" /><Relationship Type="http://schemas.openxmlformats.org/officeDocument/2006/relationships/notesSlide" Target="/ppt/notesSlides/notesSlide37.xml" Id="R692037a508584f2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2fa718f7fee488a" /><Relationship Type="http://schemas.openxmlformats.org/officeDocument/2006/relationships/hyperlink" Target="https://docs.google.com/forms/d/e/1FAIpQLSfelPFlgqIQS1vM0QDthocg7aIU_WLXNjL4g1DdZAJyKcm9eA/viewform" TargetMode="External" Id="Rf5c4c70e27cf481f" /><Relationship Type="http://schemas.openxmlformats.org/officeDocument/2006/relationships/notesSlide" Target="/ppt/notesSlides/notesSlide38.xml" Id="Rdaaf5b6b2b904c6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183e5f5f7ec48b1" /><Relationship Type="http://schemas.openxmlformats.org/officeDocument/2006/relationships/image" Target="/ppt/media/image3.png" Id="R42e3af8b8b0645ae" /><Relationship Type="http://schemas.openxmlformats.org/officeDocument/2006/relationships/hyperlink" Target="https://forms.gle/U2h5A1itpmZZTogm6" TargetMode="External" Id="Rb90ba47dde2645cb" /><Relationship Type="http://schemas.openxmlformats.org/officeDocument/2006/relationships/notesSlide" Target="/ppt/notesSlides/notesSlide39.xml" Id="Rd602a312e359429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6417fd5b6f574004" /><Relationship Type="http://schemas.openxmlformats.org/officeDocument/2006/relationships/notesSlide" Target="/ppt/notesSlides/notesSlide40.xml" Id="Re5f0792df51140b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a0b8a079c5344eb" /><Relationship Type="http://schemas.openxmlformats.org/officeDocument/2006/relationships/hyperlink" Target="https://www.youtube.com/watch?v=Kdsp6soqA7o" TargetMode="External" Id="R43eb535c5d194097" /><Relationship Type="http://schemas.openxmlformats.org/officeDocument/2006/relationships/notesSlide" Target="/ppt/notesSlides/notesSlide41.xml" Id="R41e6edbd2b9a4d5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f2c833859a246db"/>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5A8ED9F-034C-401A-9ECB-A959471F1B90}"/>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6D4304-1A75-41E4-BB8F-F1EEA9F32F04}"/>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9</a:t>
            </a:r>
          </a:p>
        </p:txBody>
      </p:sp>
      <p:sp>
        <p:nvSpPr>
          <p:cNvPr id="4" name="">
            <a:extLst xmlns:a="http://schemas.openxmlformats.org/drawingml/2006/main">
              <a:ext uri="{FF2B5EF4-FFF2-40B4-BE49-F238E27FC236}">
                <a16:creationId xmlns:a16="http://schemas.microsoft.com/office/drawing/2014/main" id="{71651493-E28D-4ECE-85B0-D1C397441FAD}"/>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Classification and the cost of mistakes</a:t>
            </a:r>
          </a:p>
        </p:txBody>
      </p:sp>
      <p:sp>
        <p:nvSpPr>
          <p:cNvPr id="5" name="">
            <a:extLst xmlns:a="http://schemas.openxmlformats.org/drawingml/2006/main">
              <a:ext uri="{FF2B5EF4-FFF2-40B4-BE49-F238E27FC236}">
                <a16:creationId xmlns:a16="http://schemas.microsoft.com/office/drawing/2014/main" id="{6E2009DA-A37A-46EB-9568-DAEB6A8FC96D}"/>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11A32129-586E-482D-87E5-AE3C42FA6D1E}"/>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06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5493257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5856EF5-B165-4B55-8333-AFB23994864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21F5C7-AC2D-4FA8-8D98-77C3743D098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6DE962C7-184B-47E1-8875-2CDED00AD15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1EBD8DBF-088A-49F7-B401-22C425F40E0C}"/>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F0C069-11F3-4A57-A9C2-983F5CFF1386}"/>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E20AE8DF-CFC0-4E04-8979-5A63E9A7FA62}"/>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Distinguish an actual label from a predicted label.</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prediction outcomes and explain their costs.</a:t>
            </a:r>
          </a:p>
        </p:txBody>
      </p:sp>
      <p:sp>
        <p:nvSpPr>
          <p:cNvPr id="7" name="">
            <a:extLst xmlns:a="http://schemas.openxmlformats.org/drawingml/2006/main">
              <a:ext uri="{FF2B5EF4-FFF2-40B4-BE49-F238E27FC236}">
                <a16:creationId xmlns:a16="http://schemas.microsoft.com/office/drawing/2014/main" id="{E15CE93A-5AAE-4795-8A39-06364DEEE5B6}"/>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708E5D92-0435-48EC-889F-2A2870E735AB}"/>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identify a false negative and explain precision and recall with counts.</a:t>
            </a:r>
          </a:p>
        </p:txBody>
      </p:sp>
      <p:sp>
        <p:nvSpPr>
          <p:cNvPr id="9" name="">
            <a:extLst xmlns:a="http://schemas.openxmlformats.org/drawingml/2006/main">
              <a:ext uri="{FF2B5EF4-FFF2-40B4-BE49-F238E27FC236}">
                <a16:creationId xmlns:a16="http://schemas.microsoft.com/office/drawing/2014/main" id="{25D0A28F-C73D-4996-875C-754DF2F8A4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2</a:t>
            </a:r>
          </a:p>
        </p:txBody>
      </p:sp>
    </p:spTree>
    <p:extLst>
      <p:ext uri="{BB962C8B-B14F-4D97-AF65-F5344CB8AC3E}">
        <p14:creationId xmlns:p14="http://schemas.microsoft.com/office/powerpoint/2010/main" val="18286505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BE222E-65A8-4CF7-BA1A-2AB197811B9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57611C-EB46-41C6-85B6-D858A438BFC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8189269-2210-4CC5-8D7E-67FEC1A947B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9DE561A6-0B2E-450E-8161-616EAFF52313}"/>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3FDB2D-4B4D-41AA-AE1C-1E53D5C410E3}"/>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Week 8 predicted a number.</a:t>
            </a:r>
          </a:p>
        </p:txBody>
      </p:sp>
      <p:sp>
        <p:nvSpPr>
          <p:cNvPr id="6" name="">
            <a:extLst xmlns:a="http://schemas.openxmlformats.org/drawingml/2006/main">
              <a:ext uri="{FF2B5EF4-FFF2-40B4-BE49-F238E27FC236}">
                <a16:creationId xmlns:a16="http://schemas.microsoft.com/office/drawing/2014/main" id="{5095CBD5-0BFE-412F-8E37-B7B0310FEE03}"/>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week predicts a category and counts the different kinds of correct and incorrect result.</a:t>
            </a:r>
          </a:p>
        </p:txBody>
      </p:sp>
      <p:sp>
        <p:nvSpPr>
          <p:cNvPr id="7" name="">
            <a:extLst xmlns:a="http://schemas.openxmlformats.org/drawingml/2006/main">
              <a:ext uri="{FF2B5EF4-FFF2-40B4-BE49-F238E27FC236}">
                <a16:creationId xmlns:a16="http://schemas.microsoft.com/office/drawing/2014/main" id="{C1A071DC-5232-4E98-B446-F3D455CA7A0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3</a:t>
            </a:r>
          </a:p>
        </p:txBody>
      </p:sp>
    </p:spTree>
    <p:extLst>
      <p:ext uri="{BB962C8B-B14F-4D97-AF65-F5344CB8AC3E}">
        <p14:creationId xmlns:p14="http://schemas.microsoft.com/office/powerpoint/2010/main" val="8024506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ABC373-BB10-4625-A50D-C8DB0DE927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D0AF83-C81C-4026-AC17-171DC55052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FFF365E-DF1B-46D9-ADE7-F9DA4745168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83035E9B-2871-42D0-9FC7-CDF92631A005}"/>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9EF080-511A-400C-BBAC-F208337F83ED}"/>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warning system predicts a category.</a:t>
            </a:r>
          </a:p>
        </p:txBody>
      </p:sp>
      <p:sp>
        <p:nvSpPr>
          <p:cNvPr id="6" name="">
            <a:extLst xmlns:a="http://schemas.openxmlformats.org/drawingml/2006/main">
              <a:ext uri="{FF2B5EF4-FFF2-40B4-BE49-F238E27FC236}">
                <a16:creationId xmlns:a16="http://schemas.microsoft.com/office/drawing/2014/main" id="{7D0E5A38-EAE8-4561-8F42-438A74F508C8}"/>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compare each prediction with its recorded answer, then count false alarms and missed warnings using an explicit cost rule.</a:t>
            </a:r>
          </a:p>
        </p:txBody>
      </p:sp>
      <p:sp>
        <p:nvSpPr>
          <p:cNvPr id="7" name="">
            <a:extLst xmlns:a="http://schemas.openxmlformats.org/drawingml/2006/main">
              <a:ext uri="{FF2B5EF4-FFF2-40B4-BE49-F238E27FC236}">
                <a16:creationId xmlns:a16="http://schemas.microsoft.com/office/drawing/2014/main" id="{CC76CDAF-1D88-4B65-8568-134C04DD75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4</a:t>
            </a:r>
          </a:p>
        </p:txBody>
      </p:sp>
    </p:spTree>
    <p:extLst>
      <p:ext uri="{BB962C8B-B14F-4D97-AF65-F5344CB8AC3E}">
        <p14:creationId xmlns:p14="http://schemas.microsoft.com/office/powerpoint/2010/main" val="10933304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05037FC-4C08-4B71-906C-248006114D6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225A0C-357F-42AE-90D6-54EFFD9BF7E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8A8B117-F87C-4E2D-A8E8-AA03A3B486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positive class</a:t>
            </a:r>
          </a:p>
        </p:txBody>
      </p:sp>
      <p:sp>
        <p:nvSpPr>
          <p:cNvPr id="4" name="">
            <a:extLst xmlns:a="http://schemas.openxmlformats.org/drawingml/2006/main">
              <a:ext uri="{FF2B5EF4-FFF2-40B4-BE49-F238E27FC236}">
                <a16:creationId xmlns:a16="http://schemas.microsoft.com/office/drawing/2014/main" id="{0B8D1A75-4072-4527-9B0E-C3D693E883A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8AA3654-F328-4F22-AA2C-17FD1331406A}"/>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this example, 1 means a warning is needed.</a:t>
            </a:r>
          </a:p>
        </p:txBody>
      </p:sp>
      <p:sp>
        <p:nvSpPr>
          <p:cNvPr id="6" name="">
            <a:extLst xmlns:a="http://schemas.openxmlformats.org/drawingml/2006/main">
              <a:ext uri="{FF2B5EF4-FFF2-40B4-BE49-F238E27FC236}">
                <a16:creationId xmlns:a16="http://schemas.microsoft.com/office/drawing/2014/main" id="{21935CCC-4BEF-47AC-8446-1E4731858DFC}"/>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5F19999-A344-4B16-80E3-06447E13A15B}"/>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0 means a warning is not needed.</a:t>
            </a:r>
          </a:p>
        </p:txBody>
      </p:sp>
      <p:sp>
        <p:nvSpPr>
          <p:cNvPr id="8" name="">
            <a:extLst xmlns:a="http://schemas.openxmlformats.org/drawingml/2006/main">
              <a:ext uri="{FF2B5EF4-FFF2-40B4-BE49-F238E27FC236}">
                <a16:creationId xmlns:a16="http://schemas.microsoft.com/office/drawing/2014/main" id="{297340D5-7A05-4EAF-BB62-6CB16C0A6505}"/>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DF063AA-D85E-4BC4-9523-AAD2B213A077}"/>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Actual is the reference label. Predicted is the model’s label.</a:t>
            </a:r>
          </a:p>
        </p:txBody>
      </p:sp>
      <p:sp>
        <p:nvSpPr>
          <p:cNvPr id="10" name="">
            <a:extLst xmlns:a="http://schemas.openxmlformats.org/drawingml/2006/main">
              <a:ext uri="{FF2B5EF4-FFF2-40B4-BE49-F238E27FC236}">
                <a16:creationId xmlns:a16="http://schemas.microsoft.com/office/drawing/2014/main" id="{A4E3921D-0294-43A7-895C-1CF4BA06CC8C}"/>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445D3CB-F998-4B24-B403-197975E3A044}"/>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false negative misses a real warning.</a:t>
            </a:r>
          </a:p>
        </p:txBody>
      </p:sp>
      <p:sp>
        <p:nvSpPr>
          <p:cNvPr id="12" name="">
            <a:extLst xmlns:a="http://schemas.openxmlformats.org/drawingml/2006/main">
              <a:ext uri="{FF2B5EF4-FFF2-40B4-BE49-F238E27FC236}">
                <a16:creationId xmlns:a16="http://schemas.microsoft.com/office/drawing/2014/main" id="{1B94DFD3-D280-47FC-A18A-A5AFED4758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5</a:t>
            </a:r>
          </a:p>
        </p:txBody>
      </p:sp>
    </p:spTree>
    <p:extLst>
      <p:ext uri="{BB962C8B-B14F-4D97-AF65-F5344CB8AC3E}">
        <p14:creationId xmlns:p14="http://schemas.microsoft.com/office/powerpoint/2010/main" val="14259569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F422A76-63BB-4F96-8E30-82409D6E4B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274D60-4C63-4242-9086-6749B703F88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93787F09-C4FF-4A7E-9848-C6BDE5AF115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 and positive label / TP and TN</a:t>
            </a:r>
          </a:p>
        </p:txBody>
      </p:sp>
      <p:sp>
        <p:nvSpPr>
          <p:cNvPr id="4" name="">
            <a:extLst xmlns:a="http://schemas.openxmlformats.org/drawingml/2006/main">
              <a:ext uri="{FF2B5EF4-FFF2-40B4-BE49-F238E27FC236}">
                <a16:creationId xmlns:a16="http://schemas.microsoft.com/office/drawing/2014/main" id="{D277EF11-5B3E-4ED4-9067-5E535C85BB2C}"/>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1CADE41-45BC-4ECD-B9FE-66B83F5EB765}"/>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Class and positive label</a:t>
            </a:r>
          </a:p>
        </p:txBody>
      </p:sp>
      <p:sp>
        <p:nvSpPr>
          <p:cNvPr id="6" name="">
            <a:extLst xmlns:a="http://schemas.openxmlformats.org/drawingml/2006/main">
              <a:ext uri="{FF2B5EF4-FFF2-40B4-BE49-F238E27FC236}">
                <a16:creationId xmlns:a16="http://schemas.microsoft.com/office/drawing/2014/main" id="{AD5A36C6-1106-4E8F-A0E4-44FF67469F06}"/>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class is a category. Here 1 means warning and 0 means no warning. Positive means the named class, not good news.</a:t>
            </a:r>
          </a:p>
        </p:txBody>
      </p:sp>
      <p:sp>
        <p:nvSpPr>
          <p:cNvPr id="7" name="">
            <a:extLst xmlns:a="http://schemas.openxmlformats.org/drawingml/2006/main">
              <a:ext uri="{FF2B5EF4-FFF2-40B4-BE49-F238E27FC236}">
                <a16:creationId xmlns:a16="http://schemas.microsoft.com/office/drawing/2014/main" id="{65B87CB0-D5B2-4370-A122-3B79E750FF36}"/>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2AC0DEF-35CF-42FF-9111-0CDC6E3CFB65}"/>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TP and TN</a:t>
            </a:r>
          </a:p>
        </p:txBody>
      </p:sp>
      <p:sp>
        <p:nvSpPr>
          <p:cNvPr id="9" name="">
            <a:extLst xmlns:a="http://schemas.openxmlformats.org/drawingml/2006/main">
              <a:ext uri="{FF2B5EF4-FFF2-40B4-BE49-F238E27FC236}">
                <a16:creationId xmlns:a16="http://schemas.microsoft.com/office/drawing/2014/main" id="{8F802546-229F-450E-BFB6-F14B757A6201}"/>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True positive is a correctly flagged warning. True negative is a correctly unflagged non-warning.</a:t>
            </a:r>
          </a:p>
        </p:txBody>
      </p:sp>
      <p:sp>
        <p:nvSpPr>
          <p:cNvPr id="10" name="">
            <a:extLst xmlns:a="http://schemas.openxmlformats.org/drawingml/2006/main">
              <a:ext uri="{FF2B5EF4-FFF2-40B4-BE49-F238E27FC236}">
                <a16:creationId xmlns:a16="http://schemas.microsoft.com/office/drawing/2014/main" id="{09D45066-4917-4D9B-BA2A-2B437D06128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6</a:t>
            </a:r>
          </a:p>
        </p:txBody>
      </p:sp>
    </p:spTree>
    <p:extLst>
      <p:ext uri="{BB962C8B-B14F-4D97-AF65-F5344CB8AC3E}">
        <p14:creationId xmlns:p14="http://schemas.microsoft.com/office/powerpoint/2010/main" val="19817297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266CB3-1391-4801-BFD0-07FAB31B4BC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40F1D5-45BA-473A-9883-5B935EF21C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C93541D0-3B5D-4E86-8082-775CE3303F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FP and FN</a:t>
            </a:r>
          </a:p>
        </p:txBody>
      </p:sp>
      <p:sp>
        <p:nvSpPr>
          <p:cNvPr id="4" name="">
            <a:extLst xmlns:a="http://schemas.openxmlformats.org/drawingml/2006/main">
              <a:ext uri="{FF2B5EF4-FFF2-40B4-BE49-F238E27FC236}">
                <a16:creationId xmlns:a16="http://schemas.microsoft.com/office/drawing/2014/main" id="{27951DFA-61C9-42D7-84A3-CDBCBC1FAFD5}"/>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75723E6-C0C4-454B-99D5-7E526E3AF584}"/>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FP and FN</a:t>
            </a:r>
          </a:p>
        </p:txBody>
      </p:sp>
      <p:sp>
        <p:nvSpPr>
          <p:cNvPr id="6" name="">
            <a:extLst xmlns:a="http://schemas.openxmlformats.org/drawingml/2006/main">
              <a:ext uri="{FF2B5EF4-FFF2-40B4-BE49-F238E27FC236}">
                <a16:creationId xmlns:a16="http://schemas.microsoft.com/office/drawing/2014/main" id="{C6590C98-5865-4B61-8E86-A0B81A9FB2DF}"/>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False positive is a false alarm. False negative is a missed warning.</a:t>
            </a:r>
          </a:p>
        </p:txBody>
      </p:sp>
      <p:sp>
        <p:nvSpPr>
          <p:cNvPr id="7" name="">
            <a:extLst xmlns:a="http://schemas.openxmlformats.org/drawingml/2006/main">
              <a:ext uri="{FF2B5EF4-FFF2-40B4-BE49-F238E27FC236}">
                <a16:creationId xmlns:a16="http://schemas.microsoft.com/office/drawing/2014/main" id="{34D9CD31-4A86-4E2A-B64B-974F5EE0D3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7</a:t>
            </a:r>
          </a:p>
        </p:txBody>
      </p:sp>
    </p:spTree>
    <p:extLst>
      <p:ext uri="{BB962C8B-B14F-4D97-AF65-F5344CB8AC3E}">
        <p14:creationId xmlns:p14="http://schemas.microsoft.com/office/powerpoint/2010/main" val="18818781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FDD9002-4ED3-4880-9C2A-50EC51D8B7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9AECDD-D64D-408B-8AD4-239272F1A98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F631D82-66D2-4977-8104-9BFE8E77F4D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Actual and predicted describe different things</a:t>
            </a:r>
          </a:p>
        </p:txBody>
      </p:sp>
      <p:sp>
        <p:nvSpPr>
          <p:cNvPr id="4" name="">
            <a:extLst xmlns:a="http://schemas.openxmlformats.org/drawingml/2006/main">
              <a:ext uri="{FF2B5EF4-FFF2-40B4-BE49-F238E27FC236}">
                <a16:creationId xmlns:a16="http://schemas.microsoft.com/office/drawing/2014/main" id="{4A369BE4-EFB4-45EA-A177-8116FC58D8A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C38C132-F6E1-423D-B2C4-7B180F58241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Actual is the recorded reference answer.</a:t>
            </a:r>
          </a:p>
        </p:txBody>
      </p:sp>
      <p:sp>
        <p:nvSpPr>
          <p:cNvPr id="6" name="">
            <a:extLst xmlns:a="http://schemas.openxmlformats.org/drawingml/2006/main">
              <a:ext uri="{FF2B5EF4-FFF2-40B4-BE49-F238E27FC236}">
                <a16:creationId xmlns:a16="http://schemas.microsoft.com/office/drawing/2014/main" id="{DA1E5D2B-E3F4-452B-914D-072C09F6A0EF}"/>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78C0684-58F6-45C8-AB7F-C60E05DD3FE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Predicted is the answer produced by our model.</a:t>
            </a:r>
          </a:p>
        </p:txBody>
      </p:sp>
      <p:sp>
        <p:nvSpPr>
          <p:cNvPr id="8" name="">
            <a:extLst xmlns:a="http://schemas.openxmlformats.org/drawingml/2006/main">
              <a:ext uri="{FF2B5EF4-FFF2-40B4-BE49-F238E27FC236}">
                <a16:creationId xmlns:a16="http://schemas.microsoft.com/office/drawing/2014/main" id="{367DD07F-D3E9-43EE-B052-F9647A8ECA7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CBF4725-FB10-4E32-955A-2ECD23CFB1D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correct prediction matches the reference. Class 1 means warning in this example.</a:t>
            </a:r>
          </a:p>
        </p:txBody>
      </p:sp>
      <p:sp>
        <p:nvSpPr>
          <p:cNvPr id="10" name="">
            <a:extLst xmlns:a="http://schemas.openxmlformats.org/drawingml/2006/main">
              <a:ext uri="{FF2B5EF4-FFF2-40B4-BE49-F238E27FC236}">
                <a16:creationId xmlns:a16="http://schemas.microsoft.com/office/drawing/2014/main" id="{04314295-D3E3-46C9-BAFA-E7CCC12415A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8</a:t>
            </a:r>
          </a:p>
        </p:txBody>
      </p:sp>
    </p:spTree>
    <p:extLst>
      <p:ext uri="{BB962C8B-B14F-4D97-AF65-F5344CB8AC3E}">
        <p14:creationId xmlns:p14="http://schemas.microsoft.com/office/powerpoint/2010/main" val="14889804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C550AB-F367-4679-88CF-66F9641C5195}"/>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1198E8-83FA-4846-B7E0-2DBD3F3CC9B1}"/>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Every paired result belongs in one cell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c03745774d6466c"/>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D95B7DA-F0E2-4EEC-8C49-86C890A9AEFC}"/>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84EE36-8AAC-4AB0-B3CD-247A857FE12B}"/>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Read actual first, then predicted. Explain the missed warning.</a:t>
            </a:r>
          </a:p>
        </p:txBody>
      </p:sp>
      <p:sp>
        <p:nvSpPr>
          <p:cNvPr id="6" name="">
            <a:extLst xmlns:a="http://schemas.openxmlformats.org/drawingml/2006/main">
              <a:ext uri="{FF2B5EF4-FFF2-40B4-BE49-F238E27FC236}">
                <a16:creationId xmlns:a16="http://schemas.microsoft.com/office/drawing/2014/main" id="{85E55C6E-43B5-4066-A202-B1C95CAA9E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9</a:t>
            </a:r>
          </a:p>
        </p:txBody>
      </p:sp>
    </p:spTree>
    <p:extLst>
      <p:ext uri="{BB962C8B-B14F-4D97-AF65-F5344CB8AC3E}">
        <p14:creationId xmlns:p14="http://schemas.microsoft.com/office/powerpoint/2010/main" val="6219753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A772BB-2C7C-4157-A6FE-006AC9010AE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7EF55A-3440-4A62-9294-9EA77DC3C5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F861CD05-272B-4E42-AF44-65401E4113C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four kinds of result</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Actual / Predicted</a:t>
                      </a:r>
                    </a:p>
                  </a:txBody>
                  <a:tcPr marL="91440" marR="91440" marT="45720" marB="45720">
                    <a:solidFill>
                      <a:srgbClr val="2E7D6F"/>
                    </a:solidFill>
                  </a:tcPr>
                </a:tc>
                <a:tc>
                  <a:txBody>
                    <a:bodyPr/>
                    <a:lstStyle/>
                    <a:p>
                      <a:r>
                        <a:rPr sz="2025" b="1">
                          <a:solidFill>
                            <a:srgbClr val="FFFFFF"/>
                          </a:solidFill>
                          <a:latin typeface="Calibri"/>
                          <a:ea typeface="Calibri"/>
                          <a:cs typeface="Calibri"/>
                        </a:rPr>
                        <a:t>Warning 1</a:t>
                      </a:r>
                    </a:p>
                  </a:txBody>
                  <a:tcPr marL="91440" marR="91440" marT="45720" marB="45720">
                    <a:solidFill>
                      <a:srgbClr val="2E7D6F"/>
                    </a:solidFill>
                  </a:tcPr>
                </a:tc>
                <a:tc>
                  <a:txBody>
                    <a:bodyPr/>
                    <a:lstStyle/>
                    <a:p>
                      <a:r>
                        <a:rPr sz="2025" b="1">
                          <a:solidFill>
                            <a:srgbClr val="FFFFFF"/>
                          </a:solidFill>
                          <a:latin typeface="Calibri"/>
                          <a:ea typeface="Calibri"/>
                          <a:cs typeface="Calibri"/>
                        </a:rPr>
                        <a:t>No warning 0</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Warning 1</a:t>
                      </a:r>
                    </a:p>
                  </a:txBody>
                  <a:tcPr marL="91440" marR="91440" marT="45720" marB="45720">
                    <a:solidFill>
                      <a:srgbClr val="EEF3F6"/>
                    </a:solidFill>
                  </a:tcPr>
                </a:tc>
                <a:tc>
                  <a:txBody>
                    <a:bodyPr/>
                    <a:lstStyle/>
                    <a:p>
                      <a:r>
                        <a:rPr sz="2025" b="0">
                          <a:solidFill>
                            <a:srgbClr val="1C3144"/>
                          </a:solidFill>
                          <a:latin typeface="Calibri"/>
                          <a:ea typeface="Calibri"/>
                          <a:cs typeface="Calibri"/>
                        </a:rPr>
                        <a:t>TP = 1</a:t>
                      </a:r>
                    </a:p>
                  </a:txBody>
                  <a:tcPr marL="91440" marR="91440" marT="45720" marB="45720">
                    <a:solidFill>
                      <a:srgbClr val="EEF3F6"/>
                    </a:solidFill>
                  </a:tcPr>
                </a:tc>
                <a:tc>
                  <a:txBody>
                    <a:bodyPr/>
                    <a:lstStyle/>
                    <a:p>
                      <a:r>
                        <a:rPr sz="2025" b="0">
                          <a:solidFill>
                            <a:srgbClr val="1C3144"/>
                          </a:solidFill>
                          <a:latin typeface="Calibri"/>
                          <a:ea typeface="Calibri"/>
                          <a:cs typeface="Calibri"/>
                        </a:rPr>
                        <a:t>FN = 1</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No warning 0</a:t>
                      </a:r>
                    </a:p>
                  </a:txBody>
                  <a:tcPr marL="91440" marR="91440" marT="45720" marB="45720">
                    <a:solidFill>
                      <a:srgbClr val="FFFFFF"/>
                    </a:solidFill>
                  </a:tcPr>
                </a:tc>
                <a:tc>
                  <a:txBody>
                    <a:bodyPr/>
                    <a:lstStyle/>
                    <a:p>
                      <a:r>
                        <a:rPr sz="2025" b="0">
                          <a:solidFill>
                            <a:srgbClr val="1C3144"/>
                          </a:solidFill>
                          <a:latin typeface="Calibri"/>
                          <a:ea typeface="Calibri"/>
                          <a:cs typeface="Calibri"/>
                        </a:rPr>
                        <a:t>FP = 1</a:t>
                      </a:r>
                    </a:p>
                  </a:txBody>
                  <a:tcPr marL="91440" marR="91440" marT="45720" marB="45720">
                    <a:solidFill>
                      <a:srgbClr val="FFFFFF"/>
                    </a:solidFill>
                  </a:tcPr>
                </a:tc>
                <a:tc>
                  <a:txBody>
                    <a:bodyPr/>
                    <a:lstStyle/>
                    <a:p>
                      <a:r>
                        <a:rPr sz="2025" b="0">
                          <a:solidFill>
                            <a:srgbClr val="1C3144"/>
                          </a:solidFill>
                          <a:latin typeface="Calibri"/>
                          <a:ea typeface="Calibri"/>
                          <a:cs typeface="Calibri"/>
                        </a:rPr>
                        <a:t>TN = 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01ADE8C-F930-4B3F-AEFF-C5DDC61011A8}"/>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Rows are actual and columns are predicted.</a:t>
            </a:r>
          </a:p>
        </p:txBody>
      </p:sp>
      <p:sp>
        <p:nvSpPr>
          <p:cNvPr id="6" name="">
            <a:extLst xmlns:a="http://schemas.openxmlformats.org/drawingml/2006/main">
              <a:ext uri="{FF2B5EF4-FFF2-40B4-BE49-F238E27FC236}">
                <a16:creationId xmlns:a16="http://schemas.microsoft.com/office/drawing/2014/main" id="{B614931F-15BF-4476-B67A-2DF72E3406B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10</a:t>
            </a:r>
          </a:p>
        </p:txBody>
      </p:sp>
    </p:spTree>
    <p:extLst>
      <p:ext uri="{BB962C8B-B14F-4D97-AF65-F5344CB8AC3E}">
        <p14:creationId xmlns:p14="http://schemas.microsoft.com/office/powerpoint/2010/main" val="8463586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4238FC-7022-472A-BC1C-9DACC89AAD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43A99E-DC4A-46C6-B187-F522EF13C5F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E89C279B-2A0C-435E-9DE1-10CCA21573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Precision / Recall</a:t>
            </a:r>
          </a:p>
        </p:txBody>
      </p:sp>
      <p:sp>
        <p:nvSpPr>
          <p:cNvPr id="4" name="">
            <a:extLst xmlns:a="http://schemas.openxmlformats.org/drawingml/2006/main">
              <a:ext uri="{FF2B5EF4-FFF2-40B4-BE49-F238E27FC236}">
                <a16:creationId xmlns:a16="http://schemas.microsoft.com/office/drawing/2014/main" id="{3E0D83BD-DDD1-4469-ACC8-AAB22472A546}"/>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A8F1EA-204B-4BC3-827A-330E18DBE154}"/>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Precision</a:t>
            </a:r>
          </a:p>
        </p:txBody>
      </p:sp>
      <p:sp>
        <p:nvSpPr>
          <p:cNvPr id="6" name="">
            <a:extLst xmlns:a="http://schemas.openxmlformats.org/drawingml/2006/main">
              <a:ext uri="{FF2B5EF4-FFF2-40B4-BE49-F238E27FC236}">
                <a16:creationId xmlns:a16="http://schemas.microsoft.com/office/drawing/2014/main" id="{24B517DA-7DD5-4AF5-9B8E-37711F8D679C}"/>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Of all predicted warnings, the fraction that were actual warnings: TP / (TP + FP).</a:t>
            </a:r>
          </a:p>
        </p:txBody>
      </p:sp>
      <p:sp>
        <p:nvSpPr>
          <p:cNvPr id="7" name="">
            <a:extLst xmlns:a="http://schemas.openxmlformats.org/drawingml/2006/main">
              <a:ext uri="{FF2B5EF4-FFF2-40B4-BE49-F238E27FC236}">
                <a16:creationId xmlns:a16="http://schemas.microsoft.com/office/drawing/2014/main" id="{2FD0E270-BF81-44D5-BFD5-CC59B496CD47}"/>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6D7EAD2-2BB9-4C82-80FC-DAA4E4496DB7}"/>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Recall</a:t>
            </a:r>
          </a:p>
        </p:txBody>
      </p:sp>
      <p:sp>
        <p:nvSpPr>
          <p:cNvPr id="9" name="">
            <a:extLst xmlns:a="http://schemas.openxmlformats.org/drawingml/2006/main">
              <a:ext uri="{FF2B5EF4-FFF2-40B4-BE49-F238E27FC236}">
                <a16:creationId xmlns:a16="http://schemas.microsoft.com/office/drawing/2014/main" id="{1502309F-2518-4F5A-BEDE-70DB95FC35F9}"/>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Of all actual warnings, the fraction detected: TP / (TP + FN).</a:t>
            </a:r>
          </a:p>
        </p:txBody>
      </p:sp>
      <p:sp>
        <p:nvSpPr>
          <p:cNvPr id="10" name="">
            <a:extLst xmlns:a="http://schemas.openxmlformats.org/drawingml/2006/main">
              <a:ext uri="{FF2B5EF4-FFF2-40B4-BE49-F238E27FC236}">
                <a16:creationId xmlns:a16="http://schemas.microsoft.com/office/drawing/2014/main" id="{377E4CBE-6D38-45F7-A60A-6EEE6C2366A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11</a:t>
            </a:r>
          </a:p>
        </p:txBody>
      </p:sp>
    </p:spTree>
    <p:extLst>
      <p:ext uri="{BB962C8B-B14F-4D97-AF65-F5344CB8AC3E}">
        <p14:creationId xmlns:p14="http://schemas.microsoft.com/office/powerpoint/2010/main" val="14177391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52F5BD-D664-400C-B2DB-241113EAE2E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0C69F1-761F-400D-B30F-52E744E2D26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8BB410C-25D1-480A-AC96-31E445EE3E9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Precision and recall</a:t>
            </a:r>
          </a:p>
        </p:txBody>
      </p:sp>
      <p:sp>
        <p:nvSpPr>
          <p:cNvPr id="4" name="">
            <a:extLst xmlns:a="http://schemas.openxmlformats.org/drawingml/2006/main">
              <a:ext uri="{FF2B5EF4-FFF2-40B4-BE49-F238E27FC236}">
                <a16:creationId xmlns:a16="http://schemas.microsoft.com/office/drawing/2014/main" id="{6792B0E1-8C3B-4DBA-887C-5C401C72AD3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AD2EA8C-5532-4B12-A12C-C8A859A0C637}"/>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Precision asks: of the warnings raised, how many were correct?</a:t>
            </a:r>
          </a:p>
        </p:txBody>
      </p:sp>
      <p:sp>
        <p:nvSpPr>
          <p:cNvPr id="6" name="">
            <a:extLst xmlns:a="http://schemas.openxmlformats.org/drawingml/2006/main">
              <a:ext uri="{FF2B5EF4-FFF2-40B4-BE49-F238E27FC236}">
                <a16:creationId xmlns:a16="http://schemas.microsoft.com/office/drawing/2014/main" id="{F8CC7786-D71B-4BD0-981D-919B226D2849}"/>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231978B-EFB3-4342-B712-2F9C6FE0BFB2}"/>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Recall asks: of the real warnings, how many did we detect?</a:t>
            </a:r>
          </a:p>
        </p:txBody>
      </p:sp>
      <p:sp>
        <p:nvSpPr>
          <p:cNvPr id="8" name="">
            <a:extLst xmlns:a="http://schemas.openxmlformats.org/drawingml/2006/main">
              <a:ext uri="{FF2B5EF4-FFF2-40B4-BE49-F238E27FC236}">
                <a16:creationId xmlns:a16="http://schemas.microsoft.com/office/drawing/2014/main" id="{E795F281-8CDD-48B0-B896-D33155384788}"/>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4A94688-A9BA-4E18-A9B8-13746F50956A}"/>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zero denominator needs an explicit rule.</a:t>
            </a:r>
          </a:p>
        </p:txBody>
      </p:sp>
      <p:sp>
        <p:nvSpPr>
          <p:cNvPr id="10" name="">
            <a:extLst xmlns:a="http://schemas.openxmlformats.org/drawingml/2006/main">
              <a:ext uri="{FF2B5EF4-FFF2-40B4-BE49-F238E27FC236}">
                <a16:creationId xmlns:a16="http://schemas.microsoft.com/office/drawing/2014/main" id="{806F5AFC-185D-471C-8CD4-4A16A862CE4B}"/>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67DBAF3-6078-4F71-871E-00D8E689965D}"/>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rule in your task brief when implementing the function.</a:t>
            </a:r>
          </a:p>
        </p:txBody>
      </p:sp>
      <p:sp>
        <p:nvSpPr>
          <p:cNvPr id="12" name="">
            <a:extLst xmlns:a="http://schemas.openxmlformats.org/drawingml/2006/main">
              <a:ext uri="{FF2B5EF4-FFF2-40B4-BE49-F238E27FC236}">
                <a16:creationId xmlns:a16="http://schemas.microsoft.com/office/drawing/2014/main" id="{0BD1AB21-7531-4EC7-B1EF-A62D029E9D2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12</a:t>
            </a:r>
          </a:p>
        </p:txBody>
      </p:sp>
    </p:spTree>
    <p:extLst>
      <p:ext uri="{BB962C8B-B14F-4D97-AF65-F5344CB8AC3E}">
        <p14:creationId xmlns:p14="http://schemas.microsoft.com/office/powerpoint/2010/main" val="12359939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E357D85-39A8-4F11-9F6B-BE89745C44B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6D05AE-BDD3-4239-ACA8-CD2004B6DD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3BEADC46-B682-4CB7-B213-92DC4391FC0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Probability and a decision threshold</a:t>
            </a:r>
          </a:p>
        </p:txBody>
      </p:sp>
      <p:sp>
        <p:nvSpPr>
          <p:cNvPr id="4" name="">
            <a:extLst xmlns:a="http://schemas.openxmlformats.org/drawingml/2006/main">
              <a:ext uri="{FF2B5EF4-FFF2-40B4-BE49-F238E27FC236}">
                <a16:creationId xmlns:a16="http://schemas.microsoft.com/office/drawing/2014/main" id="{41490179-D458-4090-BEC5-87AF614EDB0A}"/>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4DFDB7-C409-4860-BCC8-8891AD528EEF}"/>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Probability</a:t>
            </a:r>
          </a:p>
        </p:txBody>
      </p:sp>
      <p:sp>
        <p:nvSpPr>
          <p:cNvPr id="6" name="">
            <a:extLst xmlns:a="http://schemas.openxmlformats.org/drawingml/2006/main">
              <a:ext uri="{FF2B5EF4-FFF2-40B4-BE49-F238E27FC236}">
                <a16:creationId xmlns:a16="http://schemas.microsoft.com/office/drawing/2014/main" id="{68BE86E3-00E1-4577-98B3-D3C9CD1C6119}"/>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probability is between 0 and 1. Multiply by 100 for percent: 0.7 is 70%. A model’s probability is an estimate that needs checking.</a:t>
            </a:r>
          </a:p>
        </p:txBody>
      </p:sp>
      <p:sp>
        <p:nvSpPr>
          <p:cNvPr id="7" name="">
            <a:extLst xmlns:a="http://schemas.openxmlformats.org/drawingml/2006/main">
              <a:ext uri="{FF2B5EF4-FFF2-40B4-BE49-F238E27FC236}">
                <a16:creationId xmlns:a16="http://schemas.microsoft.com/office/drawing/2014/main" id="{841DE7A3-3541-4E03-9BA5-BFBDE39080DE}"/>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E433FF4-8FB9-4051-A861-3257B4E238CE}"/>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Threshold</a:t>
            </a:r>
          </a:p>
        </p:txBody>
      </p:sp>
      <p:sp>
        <p:nvSpPr>
          <p:cNvPr id="9" name="">
            <a:extLst xmlns:a="http://schemas.openxmlformats.org/drawingml/2006/main">
              <a:ext uri="{FF2B5EF4-FFF2-40B4-BE49-F238E27FC236}">
                <a16:creationId xmlns:a16="http://schemas.microsoft.com/office/drawing/2014/main" id="{03211C7F-DDD2-4C4F-A935-EC66852B4110}"/>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threshold turns a score into a decision. For a rule score &gt;= 0.5, a score of 0.7 gives class 1. Use validation data to choose the threshold.</a:t>
            </a:r>
          </a:p>
        </p:txBody>
      </p:sp>
      <p:sp>
        <p:nvSpPr>
          <p:cNvPr id="10" name="">
            <a:extLst xmlns:a="http://schemas.openxmlformats.org/drawingml/2006/main">
              <a:ext uri="{FF2B5EF4-FFF2-40B4-BE49-F238E27FC236}">
                <a16:creationId xmlns:a16="http://schemas.microsoft.com/office/drawing/2014/main" id="{0AD7E9D0-B787-491B-A867-C1A274DCA9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13</a:t>
            </a:r>
          </a:p>
        </p:txBody>
      </p:sp>
    </p:spTree>
    <p:extLst>
      <p:ext uri="{BB962C8B-B14F-4D97-AF65-F5344CB8AC3E}">
        <p14:creationId xmlns:p14="http://schemas.microsoft.com/office/powerpoint/2010/main" val="21041617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D295A0-406B-4CFD-8B13-4D0EDBCE36E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DEFA4F-A002-48BC-9FC3-3F7DA09D77B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4D9CE6B5-FA8C-4F16-AE57-731A6B17F2E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Apply one stated decision threshold</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Estimated positive probability</a:t>
                      </a:r>
                    </a:p>
                  </a:txBody>
                  <a:tcPr marL="91440" marR="91440" marT="45720" marB="45720">
                    <a:solidFill>
                      <a:srgbClr val="2E7D6F"/>
                    </a:solidFill>
                  </a:tcPr>
                </a:tc>
                <a:tc>
                  <a:txBody>
                    <a:bodyPr/>
                    <a:lstStyle/>
                    <a:p>
                      <a:r>
                        <a:rPr sz="2025" b="1">
                          <a:solidFill>
                            <a:srgbClr val="FFFFFF"/>
                          </a:solidFill>
                          <a:latin typeface="Calibri"/>
                          <a:ea typeface="Calibri"/>
                          <a:cs typeface="Calibri"/>
                        </a:rPr>
                        <a:t>At least 0.5?</a:t>
                      </a:r>
                    </a:p>
                  </a:txBody>
                  <a:tcPr marL="91440" marR="91440" marT="45720" marB="45720">
                    <a:solidFill>
                      <a:srgbClr val="2E7D6F"/>
                    </a:solidFill>
                  </a:tcPr>
                </a:tc>
                <a:tc>
                  <a:txBody>
                    <a:bodyPr/>
                    <a:lstStyle/>
                    <a:p>
                      <a:r>
                        <a:rPr sz="2025" b="1">
                          <a:solidFill>
                            <a:srgbClr val="FFFFFF"/>
                          </a:solidFill>
                          <a:latin typeface="Calibri"/>
                          <a:ea typeface="Calibri"/>
                          <a:cs typeface="Calibri"/>
                        </a:rPr>
                        <a:t>Decision</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0.20</a:t>
                      </a:r>
                    </a:p>
                  </a:txBody>
                  <a:tcPr marL="91440" marR="91440" marT="45720" marB="45720">
                    <a:solidFill>
                      <a:srgbClr val="EEF3F6"/>
                    </a:solidFill>
                  </a:tcPr>
                </a:tc>
                <a:tc>
                  <a:txBody>
                    <a:bodyPr/>
                    <a:lstStyle/>
                    <a:p>
                      <a:r>
                        <a:rPr sz="2025" b="0">
                          <a:solidFill>
                            <a:srgbClr val="1C3144"/>
                          </a:solidFill>
                          <a:latin typeface="Calibri"/>
                          <a:ea typeface="Calibri"/>
                          <a:cs typeface="Calibri"/>
                        </a:rPr>
                        <a:t>No</a:t>
                      </a:r>
                    </a:p>
                  </a:txBody>
                  <a:tcPr marL="91440" marR="91440" marT="45720" marB="45720">
                    <a:solidFill>
                      <a:srgbClr val="EEF3F6"/>
                    </a:solidFill>
                  </a:tcPr>
                </a:tc>
                <a:tc>
                  <a:txBody>
                    <a:bodyPr/>
                    <a:lstStyle/>
                    <a:p>
                      <a:r>
                        <a:rPr sz="2025" b="0">
                          <a:solidFill>
                            <a:srgbClr val="1C3144"/>
                          </a:solidFill>
                          <a:latin typeface="Calibri"/>
                          <a:ea typeface="Calibri"/>
                          <a:cs typeface="Calibri"/>
                        </a:rPr>
                        <a:t>Class 0</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0.50</a:t>
                      </a:r>
                    </a:p>
                  </a:txBody>
                  <a:tcPr marL="91440" marR="91440" marT="45720" marB="45720">
                    <a:solidFill>
                      <a:srgbClr val="FFFFFF"/>
                    </a:solidFill>
                  </a:tcPr>
                </a:tc>
                <a:tc>
                  <a:txBody>
                    <a:bodyPr/>
                    <a:lstStyle/>
                    <a:p>
                      <a:r>
                        <a:rPr sz="2025" b="0">
                          <a:solidFill>
                            <a:srgbClr val="1C3144"/>
                          </a:solidFill>
                          <a:latin typeface="Calibri"/>
                          <a:ea typeface="Calibri"/>
                          <a:cs typeface="Calibri"/>
                        </a:rPr>
                        <a:t>Yes</a:t>
                      </a:r>
                    </a:p>
                  </a:txBody>
                  <a:tcPr marL="91440" marR="91440" marT="45720" marB="45720">
                    <a:solidFill>
                      <a:srgbClr val="FFFFFF"/>
                    </a:solidFill>
                  </a:tcPr>
                </a:tc>
                <a:tc>
                  <a:txBody>
                    <a:bodyPr/>
                    <a:lstStyle/>
                    <a:p>
                      <a:r>
                        <a:rPr sz="2025" b="0">
                          <a:solidFill>
                            <a:srgbClr val="1C3144"/>
                          </a:solidFill>
                          <a:latin typeface="Calibri"/>
                          <a:ea typeface="Calibri"/>
                          <a:cs typeface="Calibri"/>
                        </a:rPr>
                        <a:t>Class 1</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0.80</a:t>
                      </a:r>
                    </a:p>
                  </a:txBody>
                  <a:tcPr marL="91440" marR="91440" marT="45720" marB="45720">
                    <a:solidFill>
                      <a:srgbClr val="EEF3F6"/>
                    </a:solidFill>
                  </a:tcPr>
                </a:tc>
                <a:tc>
                  <a:txBody>
                    <a:bodyPr/>
                    <a:lstStyle/>
                    <a:p>
                      <a:r>
                        <a:rPr sz="2025" b="0">
                          <a:solidFill>
                            <a:srgbClr val="1C3144"/>
                          </a:solidFill>
                          <a:latin typeface="Calibri"/>
                          <a:ea typeface="Calibri"/>
                          <a:cs typeface="Calibri"/>
                        </a:rPr>
                        <a:t>Yes</a:t>
                      </a:r>
                    </a:p>
                  </a:txBody>
                  <a:tcPr marL="91440" marR="91440" marT="45720" marB="45720">
                    <a:solidFill>
                      <a:srgbClr val="EEF3F6"/>
                    </a:solidFill>
                  </a:tcPr>
                </a:tc>
                <a:tc>
                  <a:txBody>
                    <a:bodyPr/>
                    <a:lstStyle/>
                    <a:p>
                      <a:r>
                        <a:rPr sz="2025" b="0">
                          <a:solidFill>
                            <a:srgbClr val="1C3144"/>
                          </a:solidFill>
                          <a:latin typeface="Calibri"/>
                          <a:ea typeface="Calibri"/>
                          <a:cs typeface="Calibri"/>
                        </a:rPr>
                        <a:t>Class 1</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AEA3864F-3468-4F2D-91D3-AA0B976C7684}"/>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0.5 means 50%. This rule includes equality. A probability is an estimate, not a promise that one case is correct.</a:t>
            </a:r>
          </a:p>
        </p:txBody>
      </p:sp>
      <p:sp>
        <p:nvSpPr>
          <p:cNvPr id="6" name="">
            <a:extLst xmlns:a="http://schemas.openxmlformats.org/drawingml/2006/main">
              <a:ext uri="{FF2B5EF4-FFF2-40B4-BE49-F238E27FC236}">
                <a16:creationId xmlns:a16="http://schemas.microsoft.com/office/drawing/2014/main" id="{FFC5FD2A-2E7F-4696-BEFB-D0F3CFDC130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14</a:t>
            </a:r>
          </a:p>
        </p:txBody>
      </p:sp>
    </p:spTree>
    <p:extLst>
      <p:ext uri="{BB962C8B-B14F-4D97-AF65-F5344CB8AC3E}">
        <p14:creationId xmlns:p14="http://schemas.microsoft.com/office/powerpoint/2010/main" val="21102378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81D3073-A9B7-406A-8D2E-B7071E9C810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7E66B9-68D4-43B2-9A15-762D2762A3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D50E41A-F49D-4154-BD8C-71FBD2E74A5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category decision can use a probability</a:t>
            </a:r>
          </a:p>
        </p:txBody>
      </p:sp>
      <p:sp>
        <p:nvSpPr>
          <p:cNvPr id="4" name="">
            <a:extLst xmlns:a="http://schemas.openxmlformats.org/drawingml/2006/main">
              <a:ext uri="{FF2B5EF4-FFF2-40B4-BE49-F238E27FC236}">
                <a16:creationId xmlns:a16="http://schemas.microsoft.com/office/drawing/2014/main" id="{017CB32A-09A4-4F0E-92CA-75B3B689FB6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6D7771A-1037-4CFE-A9C4-98842AEE1C0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classifier may estimate the probability of class 1.</a:t>
            </a:r>
          </a:p>
        </p:txBody>
      </p:sp>
      <p:sp>
        <p:nvSpPr>
          <p:cNvPr id="6" name="">
            <a:extLst xmlns:a="http://schemas.openxmlformats.org/drawingml/2006/main">
              <a:ext uri="{FF2B5EF4-FFF2-40B4-BE49-F238E27FC236}">
                <a16:creationId xmlns:a16="http://schemas.microsoft.com/office/drawing/2014/main" id="{91F0E9A5-AC6C-47FD-8286-E8D5EB043F7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5852DFE-794F-45FC-A72A-BFCE73B8185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threshold converts that estimate into warning or no warning.</a:t>
            </a:r>
          </a:p>
        </p:txBody>
      </p:sp>
      <p:sp>
        <p:nvSpPr>
          <p:cNvPr id="8" name="">
            <a:extLst xmlns:a="http://schemas.openxmlformats.org/drawingml/2006/main">
              <a:ext uri="{FF2B5EF4-FFF2-40B4-BE49-F238E27FC236}">
                <a16:creationId xmlns:a16="http://schemas.microsoft.com/office/drawing/2014/main" id="{77EF90C2-406F-46D3-B5D2-02813770D77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5B78800-A6B5-46CA-A6F3-94B08019C52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Logistic regression is a classification model. Its probability estimates still need evaluation.</a:t>
            </a:r>
          </a:p>
        </p:txBody>
      </p:sp>
      <p:sp>
        <p:nvSpPr>
          <p:cNvPr id="10" name="">
            <a:extLst xmlns:a="http://schemas.openxmlformats.org/drawingml/2006/main">
              <a:ext uri="{FF2B5EF4-FFF2-40B4-BE49-F238E27FC236}">
                <a16:creationId xmlns:a16="http://schemas.microsoft.com/office/drawing/2014/main" id="{D8D29E1E-84BE-465A-BF61-D8F76D2386B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15</a:t>
            </a:r>
          </a:p>
        </p:txBody>
      </p:sp>
    </p:spTree>
    <p:extLst>
      <p:ext uri="{BB962C8B-B14F-4D97-AF65-F5344CB8AC3E}">
        <p14:creationId xmlns:p14="http://schemas.microsoft.com/office/powerpoint/2010/main" val="14868996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00D551-3780-419C-B7AF-C85C315CC7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532F33-97B8-4DE9-ACAB-09E4314C0ED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6C8D904-4786-4EA9-840E-514AC17C624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Threshold and cost</a:t>
            </a:r>
          </a:p>
        </p:txBody>
      </p:sp>
      <p:sp>
        <p:nvSpPr>
          <p:cNvPr id="4" name="">
            <a:extLst xmlns:a="http://schemas.openxmlformats.org/drawingml/2006/main">
              <a:ext uri="{FF2B5EF4-FFF2-40B4-BE49-F238E27FC236}">
                <a16:creationId xmlns:a16="http://schemas.microsoft.com/office/drawing/2014/main" id="{87F5BA26-8D55-449E-9504-BFA9C4E8DECE}"/>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26614AB-52E6-4C9E-BDF2-A86EF3A872AD}"/>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Threshold and cost</a:t>
            </a:r>
          </a:p>
        </p:txBody>
      </p:sp>
      <p:sp>
        <p:nvSpPr>
          <p:cNvPr id="6" name="">
            <a:extLst xmlns:a="http://schemas.openxmlformats.org/drawingml/2006/main">
              <a:ext uri="{FF2B5EF4-FFF2-40B4-BE49-F238E27FC236}">
                <a16:creationId xmlns:a16="http://schemas.microsoft.com/office/drawing/2014/main" id="{0C69AF25-48B9-4EEE-A06B-DD9ED3556833}"/>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threshold converts a score to a decision. A cost rule states how much each type of mistake matters. Lower thresholds usually increase recall; precision need not decrease at every step.</a:t>
            </a:r>
          </a:p>
        </p:txBody>
      </p:sp>
      <p:sp>
        <p:nvSpPr>
          <p:cNvPr id="7" name="">
            <a:extLst xmlns:a="http://schemas.openxmlformats.org/drawingml/2006/main">
              <a:ext uri="{FF2B5EF4-FFF2-40B4-BE49-F238E27FC236}">
                <a16:creationId xmlns:a16="http://schemas.microsoft.com/office/drawing/2014/main" id="{3EF403A9-DAF7-420E-B925-0B6858ABAD0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16</a:t>
            </a:r>
          </a:p>
        </p:txBody>
      </p:sp>
    </p:spTree>
    <p:extLst>
      <p:ext uri="{BB962C8B-B14F-4D97-AF65-F5344CB8AC3E}">
        <p14:creationId xmlns:p14="http://schemas.microsoft.com/office/powerpoint/2010/main" val="17662304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327EFE-55F7-4893-B843-EBC1B43D6B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7D1977-A36E-4C3E-A988-7D4E2CB9C52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77AC091-2AF4-4F95-8489-C8DC06CE4EF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State the cost rule before calculating</a:t>
            </a:r>
          </a:p>
        </p:txBody>
      </p:sp>
      <p:sp>
        <p:nvSpPr>
          <p:cNvPr id="4" name="">
            <a:extLst xmlns:a="http://schemas.openxmlformats.org/drawingml/2006/main">
              <a:ext uri="{FF2B5EF4-FFF2-40B4-BE49-F238E27FC236}">
                <a16:creationId xmlns:a16="http://schemas.microsoft.com/office/drawing/2014/main" id="{04DA7B7F-55D5-43D8-A5DC-61B2F0BFF66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A45D2F5-C7DA-4014-AA92-31F62603D0F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cost rule assigns a penalty to each kind of mistake. In this teaching example, a missed warning costs 5 units and a false alarm costs 1 unit.</a:t>
            </a:r>
          </a:p>
        </p:txBody>
      </p:sp>
      <p:sp>
        <p:nvSpPr>
          <p:cNvPr id="6" name="">
            <a:extLst xmlns:a="http://schemas.openxmlformats.org/drawingml/2006/main">
              <a:ext uri="{FF2B5EF4-FFF2-40B4-BE49-F238E27FC236}">
                <a16:creationId xmlns:a16="http://schemas.microsoft.com/office/drawing/2014/main" id="{733E8AA0-BD71-4338-97A1-D1E8A4831D0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C8723C5-BE97-4282-9E3C-4D24DDD0A83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Total cost = 5 × FN + FP. One missed warning and one false alarm therefore cost 6 units.</a:t>
            </a:r>
          </a:p>
        </p:txBody>
      </p:sp>
      <p:sp>
        <p:nvSpPr>
          <p:cNvPr id="8" name="">
            <a:extLst xmlns:a="http://schemas.openxmlformats.org/drawingml/2006/main">
              <a:ext uri="{FF2B5EF4-FFF2-40B4-BE49-F238E27FC236}">
                <a16:creationId xmlns:a16="http://schemas.microsoft.com/office/drawing/2014/main" id="{11C30EB8-B5BE-4AFE-8CC1-4750D4675A5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3A195D4-04DB-4E47-9C23-5C44FBCBA23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invented teaching penalties. Use the published assignment cost rule and explain whose consequences it represents.</a:t>
            </a:r>
          </a:p>
        </p:txBody>
      </p:sp>
      <p:sp>
        <p:nvSpPr>
          <p:cNvPr id="10" name="">
            <a:extLst xmlns:a="http://schemas.openxmlformats.org/drawingml/2006/main">
              <a:ext uri="{FF2B5EF4-FFF2-40B4-BE49-F238E27FC236}">
                <a16:creationId xmlns:a16="http://schemas.microsoft.com/office/drawing/2014/main" id="{38BC1364-9F93-43E6-A16F-53544691036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17</a:t>
            </a:r>
          </a:p>
        </p:txBody>
      </p:sp>
    </p:spTree>
    <p:extLst>
      <p:ext uri="{BB962C8B-B14F-4D97-AF65-F5344CB8AC3E}">
        <p14:creationId xmlns:p14="http://schemas.microsoft.com/office/powerpoint/2010/main" val="104152860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D808CD-AFD2-4776-BD68-317153AC30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9D7107-DB02-4CE8-9FF4-839416900E1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39297217-13EA-43EC-A283-AD1D637B51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Counting syntax in the example</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666750">
                <a:tc>
                  <a:txBody>
                    <a:bodyPr/>
                    <a:lstStyle/>
                    <a:p>
                      <a:r>
                        <a:rPr sz="2025" b="1">
                          <a:solidFill>
                            <a:srgbClr val="FFFFFF"/>
                          </a:solidFill>
                          <a:latin typeface="Calibri"/>
                          <a:ea typeface="Calibri"/>
                          <a:cs typeface="Calibri"/>
                        </a:rPr>
                        <a:t>Code</a:t>
                      </a:r>
                    </a:p>
                  </a:txBody>
                  <a:tcPr marL="91440" marR="91440" marT="45720" marB="45720">
                    <a:solidFill>
                      <a:srgbClr val="2E7D6F"/>
                    </a:solidFill>
                  </a:tcPr>
                </a:tc>
                <a:tc>
                  <a:txBody>
                    <a:bodyPr/>
                    <a:lstStyle/>
                    <a:p>
                      <a:r>
                        <a:rPr sz="2025" b="1">
                          <a:solidFill>
                            <a:srgbClr val="FFFFFF"/>
                          </a:solidFill>
                          <a:latin typeface="Calibri"/>
                          <a:ea typeface="Calibri"/>
                          <a:cs typeface="Calibri"/>
                        </a:rPr>
                        <a:t>Equivalent idea</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tp = tn = fp = fn = 0</a:t>
                      </a:r>
                    </a:p>
                  </a:txBody>
                  <a:tcPr marL="91440" marR="91440" marT="45720" marB="45720">
                    <a:solidFill>
                      <a:srgbClr val="EEF3F6"/>
                    </a:solidFill>
                  </a:tcPr>
                </a:tc>
                <a:tc>
                  <a:txBody>
                    <a:bodyPr/>
                    <a:lstStyle/>
                    <a:p>
                      <a:r>
                        <a:rPr sz="2025" b="0">
                          <a:solidFill>
                            <a:srgbClr val="1C3144"/>
                          </a:solidFill>
                          <a:latin typeface="Calibri"/>
                          <a:ea typeface="Calibri"/>
                          <a:cs typeface="Calibri"/>
                        </a:rPr>
                        <a:t>Set each of four counts to zero</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tp += 1</a:t>
                      </a:r>
                    </a:p>
                  </a:txBody>
                  <a:tcPr marL="91440" marR="91440" marT="45720" marB="45720">
                    <a:solidFill>
                      <a:srgbClr val="FFFFFF"/>
                    </a:solidFill>
                  </a:tcPr>
                </a:tc>
                <a:tc>
                  <a:txBody>
                    <a:bodyPr/>
                    <a:lstStyle/>
                    <a:p>
                      <a:r>
                        <a:rPr sz="2025" b="0">
                          <a:solidFill>
                            <a:srgbClr val="1C3144"/>
                          </a:solidFill>
                          <a:latin typeface="Calibri"/>
                          <a:ea typeface="Calibri"/>
                          <a:cs typeface="Calibri"/>
                        </a:rPr>
                        <a:t>tp = tp + 1</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zip(actual, predicted)</a:t>
                      </a:r>
                    </a:p>
                  </a:txBody>
                  <a:tcPr marL="91440" marR="91440" marT="45720" marB="45720">
                    <a:solidFill>
                      <a:srgbClr val="EEF3F6"/>
                    </a:solidFill>
                  </a:tcPr>
                </a:tc>
                <a:tc>
                  <a:txBody>
                    <a:bodyPr/>
                    <a:lstStyle/>
                    <a:p>
                      <a:r>
                        <a:rPr sz="2025" b="0">
                          <a:solidFill>
                            <a:srgbClr val="1C3144"/>
                          </a:solidFill>
                          <a:latin typeface="Calibri"/>
                          <a:ea typeface="Calibri"/>
                          <a:cs typeface="Calibri"/>
                        </a:rPr>
                        <a:t>Pair items in the same positions</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elif condition:</a:t>
                      </a:r>
                    </a:p>
                  </a:txBody>
                  <a:tcPr marL="91440" marR="91440" marT="45720" marB="45720">
                    <a:solidFill>
                      <a:srgbClr val="FFFFFF"/>
                    </a:solidFill>
                  </a:tcPr>
                </a:tc>
                <a:tc>
                  <a:txBody>
                    <a:bodyPr/>
                    <a:lstStyle/>
                    <a:p>
                      <a:r>
                        <a:rPr sz="2025" b="0">
                          <a:solidFill>
                            <a:srgbClr val="1C3144"/>
                          </a:solidFill>
                          <a:latin typeface="Calibri"/>
                          <a:ea typeface="Calibri"/>
                          <a:cs typeface="Calibri"/>
                        </a:rPr>
                        <a:t>Try this branch if earlier ones failed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BAD1C03-C71D-4465-880B-4572A40822E6}"/>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Our paired lists must have matching lengths. zip alone stops at the shorter list.</a:t>
            </a:r>
          </a:p>
        </p:txBody>
      </p:sp>
      <p:sp>
        <p:nvSpPr>
          <p:cNvPr id="6" name="">
            <a:extLst xmlns:a="http://schemas.openxmlformats.org/drawingml/2006/main">
              <a:ext uri="{FF2B5EF4-FFF2-40B4-BE49-F238E27FC236}">
                <a16:creationId xmlns:a16="http://schemas.microsoft.com/office/drawing/2014/main" id="{307E4A15-81DA-44F3-B6C4-D9C331DB491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18</a:t>
            </a:r>
          </a:p>
        </p:txBody>
      </p:sp>
    </p:spTree>
    <p:extLst>
      <p:ext uri="{BB962C8B-B14F-4D97-AF65-F5344CB8AC3E}">
        <p14:creationId xmlns:p14="http://schemas.microsoft.com/office/powerpoint/2010/main" val="214003771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D90F08-0573-4E2E-99CB-D484F9BC4D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AB747F-0648-4121-83B9-9C560004DC6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876ACC6-2B88-4793-AADF-10E0A8D601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Classification outcomes in Python</a:t>
            </a:r>
          </a:p>
        </p:txBody>
      </p:sp>
      <p:sp>
        <p:nvSpPr>
          <p:cNvPr id="4" name="">
            <a:extLst xmlns:a="http://schemas.openxmlformats.org/drawingml/2006/main">
              <a:ext uri="{FF2B5EF4-FFF2-40B4-BE49-F238E27FC236}">
                <a16:creationId xmlns:a16="http://schemas.microsoft.com/office/drawing/2014/main" id="{4B391F5B-525B-4078-8383-1C048F9F683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66BDCE-ADA0-4E54-942A-9383891DBD6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actual = [1, 1, 0,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predicted = [1, 0, 1, 0]</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truth, guess in zip(actual, predicted):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print(truth, guess)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Count the four categories on paper before calculating.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tp, fn, fp, tn = 1, 1, 1, 1</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print(tp / (tp + fp))</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print(tp / (tp + fn))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print(5 * fn + fp)</a:t>
            </a:r>
          </a:p>
        </p:txBody>
      </p:sp>
      <p:sp>
        <p:nvSpPr>
          <p:cNvPr id="6" name="">
            <a:extLst xmlns:a="http://schemas.openxmlformats.org/drawingml/2006/main">
              <a:ext uri="{FF2B5EF4-FFF2-40B4-BE49-F238E27FC236}">
                <a16:creationId xmlns:a16="http://schemas.microsoft.com/office/drawing/2014/main" id="{8A1FA361-5E9E-47CD-BE8E-A3D35FAF987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for takes the next item. The indented block repeats.</a:t>
            </a:r>
          </a:p>
        </p:txBody>
      </p:sp>
      <p:sp>
        <p:nvSpPr>
          <p:cNvPr id="7" name="">
            <a:extLst xmlns:a="http://schemas.openxmlformats.org/drawingml/2006/main">
              <a:ext uri="{FF2B5EF4-FFF2-40B4-BE49-F238E27FC236}">
                <a16:creationId xmlns:a16="http://schemas.microsoft.com/office/drawing/2014/main" id="{76859197-C435-4220-9CA4-C5F126FA403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F8B73A67-664C-47F3-B4E6-E8EB1BE53C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19</a:t>
            </a:r>
          </a:p>
        </p:txBody>
      </p:sp>
    </p:spTree>
    <p:extLst>
      <p:ext uri="{BB962C8B-B14F-4D97-AF65-F5344CB8AC3E}">
        <p14:creationId xmlns:p14="http://schemas.microsoft.com/office/powerpoint/2010/main" val="176628692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B3194B-3B26-42E9-A1F0-EEC28F66185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590402-BCBA-474D-8EA2-025839AAF5A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3CF47595-73FB-4BCB-B336-B9990EFDCE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Classification outcomes results</a:t>
            </a:r>
          </a:p>
        </p:txBody>
      </p:sp>
      <p:sp>
        <p:nvSpPr>
          <p:cNvPr id="4" name="">
            <a:extLst xmlns:a="http://schemas.openxmlformats.org/drawingml/2006/main">
              <a:ext uri="{FF2B5EF4-FFF2-40B4-BE49-F238E27FC236}">
                <a16:creationId xmlns:a16="http://schemas.microsoft.com/office/drawing/2014/main" id="{46E9A37D-75CE-432F-BF68-1624ECE63117}"/>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05C9174-B58C-4589-ACDB-D9A723FCBD91}"/>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Four paired rows, then precision 0.5, recall 0.5 and teaching cost 6.</a:t>
            </a:r>
          </a:p>
        </p:txBody>
      </p:sp>
      <p:sp>
        <p:nvSpPr>
          <p:cNvPr id="6" name="">
            <a:extLst xmlns:a="http://schemas.openxmlformats.org/drawingml/2006/main">
              <a:ext uri="{FF2B5EF4-FFF2-40B4-BE49-F238E27FC236}">
                <a16:creationId xmlns:a16="http://schemas.microsoft.com/office/drawing/2014/main" id="{0B9A3691-6881-4793-ACAE-C5576EC374EE}"/>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068E11CD-D140-4E47-A255-19F1753E5D9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20</a:t>
            </a:r>
          </a:p>
        </p:txBody>
      </p:sp>
    </p:spTree>
    <p:extLst>
      <p:ext uri="{BB962C8B-B14F-4D97-AF65-F5344CB8AC3E}">
        <p14:creationId xmlns:p14="http://schemas.microsoft.com/office/powerpoint/2010/main" val="122439903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6295AC-7CCC-4883-9978-EF2A7E88293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FC869F-90AC-46FC-BF00-F6133F97A70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1A92F72E-ABF0-46C7-83BD-CDDBC27DD7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four counters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Actual, predicted</a:t>
                      </a:r>
                    </a:p>
                  </a:txBody>
                  <a:tcPr marL="91440" marR="91440" marT="45720" marB="45720">
                    <a:solidFill>
                      <a:srgbClr val="2E7D6F"/>
                    </a:solidFill>
                  </a:tcPr>
                </a:tc>
                <a:tc>
                  <a:txBody>
                    <a:bodyPr/>
                    <a:lstStyle/>
                    <a:p>
                      <a:r>
                        <a:rPr sz="2025" b="1">
                          <a:solidFill>
                            <a:srgbClr val="FFFFFF"/>
                          </a:solidFill>
                          <a:latin typeface="Calibri"/>
                          <a:ea typeface="Calibri"/>
                          <a:cs typeface="Calibri"/>
                        </a:rPr>
                        <a:t>Chosen counter</a:t>
                      </a:r>
                    </a:p>
                  </a:txBody>
                  <a:tcPr marL="91440" marR="91440" marT="45720" marB="45720">
                    <a:solidFill>
                      <a:srgbClr val="2E7D6F"/>
                    </a:solidFill>
                  </a:tcPr>
                </a:tc>
                <a:tc>
                  <a:txBody>
                    <a:bodyPr/>
                    <a:lstStyle/>
                    <a:p>
                      <a:r>
                        <a:rPr sz="2025" b="1">
                          <a:solidFill>
                            <a:srgbClr val="FFFFFF"/>
                          </a:solidFill>
                          <a:latin typeface="Calibri"/>
                          <a:ea typeface="Calibri"/>
                          <a:cs typeface="Calibri"/>
                        </a:rPr>
                        <a:t>Counts: TP TN FP FN</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1, 1</a:t>
                      </a:r>
                    </a:p>
                  </a:txBody>
                  <a:tcPr marL="91440" marR="91440" marT="45720" marB="45720">
                    <a:solidFill>
                      <a:srgbClr val="EEF3F6"/>
                    </a:solidFill>
                  </a:tcPr>
                </a:tc>
                <a:tc>
                  <a:txBody>
                    <a:bodyPr/>
                    <a:lstStyle/>
                    <a:p>
                      <a:r>
                        <a:rPr sz="2025" b="0">
                          <a:solidFill>
                            <a:srgbClr val="1C3144"/>
                          </a:solidFill>
                          <a:latin typeface="Calibri"/>
                          <a:ea typeface="Calibri"/>
                          <a:cs typeface="Calibri"/>
                        </a:rPr>
                        <a:t>TP increases</a:t>
                      </a:r>
                    </a:p>
                  </a:txBody>
                  <a:tcPr marL="91440" marR="91440" marT="45720" marB="45720">
                    <a:solidFill>
                      <a:srgbClr val="EEF3F6"/>
                    </a:solidFill>
                  </a:tcPr>
                </a:tc>
                <a:tc>
                  <a:txBody>
                    <a:bodyPr/>
                    <a:lstStyle/>
                    <a:p>
                      <a:r>
                        <a:rPr sz="2025" b="0">
                          <a:solidFill>
                            <a:srgbClr val="1C3144"/>
                          </a:solidFill>
                          <a:latin typeface="Calibri"/>
                          <a:ea typeface="Calibri"/>
                          <a:cs typeface="Calibri"/>
                        </a:rPr>
                        <a:t>1 0 0 0</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1, 0</a:t>
                      </a:r>
                    </a:p>
                  </a:txBody>
                  <a:tcPr marL="91440" marR="91440" marT="45720" marB="45720">
                    <a:solidFill>
                      <a:srgbClr val="FFFFFF"/>
                    </a:solidFill>
                  </a:tcPr>
                </a:tc>
                <a:tc>
                  <a:txBody>
                    <a:bodyPr/>
                    <a:lstStyle/>
                    <a:p>
                      <a:r>
                        <a:rPr sz="2025" b="0">
                          <a:solidFill>
                            <a:srgbClr val="1C3144"/>
                          </a:solidFill>
                          <a:latin typeface="Calibri"/>
                          <a:ea typeface="Calibri"/>
                          <a:cs typeface="Calibri"/>
                        </a:rPr>
                        <a:t>FN increases</a:t>
                      </a:r>
                    </a:p>
                  </a:txBody>
                  <a:tcPr marL="91440" marR="91440" marT="45720" marB="45720">
                    <a:solidFill>
                      <a:srgbClr val="FFFFFF"/>
                    </a:solidFill>
                  </a:tcPr>
                </a:tc>
                <a:tc>
                  <a:txBody>
                    <a:bodyPr/>
                    <a:lstStyle/>
                    <a:p>
                      <a:r>
                        <a:rPr sz="2025" b="0">
                          <a:solidFill>
                            <a:srgbClr val="1C3144"/>
                          </a:solidFill>
                          <a:latin typeface="Calibri"/>
                          <a:ea typeface="Calibri"/>
                          <a:cs typeface="Calibri"/>
                        </a:rPr>
                        <a:t>1 0 0 1</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0, 1</a:t>
                      </a:r>
                    </a:p>
                  </a:txBody>
                  <a:tcPr marL="91440" marR="91440" marT="45720" marB="45720">
                    <a:solidFill>
                      <a:srgbClr val="EEF3F6"/>
                    </a:solidFill>
                  </a:tcPr>
                </a:tc>
                <a:tc>
                  <a:txBody>
                    <a:bodyPr/>
                    <a:lstStyle/>
                    <a:p>
                      <a:r>
                        <a:rPr sz="2025" b="0">
                          <a:solidFill>
                            <a:srgbClr val="1C3144"/>
                          </a:solidFill>
                          <a:latin typeface="Calibri"/>
                          <a:ea typeface="Calibri"/>
                          <a:cs typeface="Calibri"/>
                        </a:rPr>
                        <a:t>FP increases</a:t>
                      </a:r>
                    </a:p>
                  </a:txBody>
                  <a:tcPr marL="91440" marR="91440" marT="45720" marB="45720">
                    <a:solidFill>
                      <a:srgbClr val="EEF3F6"/>
                    </a:solidFill>
                  </a:tcPr>
                </a:tc>
                <a:tc>
                  <a:txBody>
                    <a:bodyPr/>
                    <a:lstStyle/>
                    <a:p>
                      <a:r>
                        <a:rPr sz="2025" b="0">
                          <a:solidFill>
                            <a:srgbClr val="1C3144"/>
                          </a:solidFill>
                          <a:latin typeface="Calibri"/>
                          <a:ea typeface="Calibri"/>
                          <a:cs typeface="Calibri"/>
                        </a:rPr>
                        <a:t>1 0 1 1</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0, 0</a:t>
                      </a:r>
                    </a:p>
                  </a:txBody>
                  <a:tcPr marL="91440" marR="91440" marT="45720" marB="45720">
                    <a:solidFill>
                      <a:srgbClr val="FFFFFF"/>
                    </a:solidFill>
                  </a:tcPr>
                </a:tc>
                <a:tc>
                  <a:txBody>
                    <a:bodyPr/>
                    <a:lstStyle/>
                    <a:p>
                      <a:r>
                        <a:rPr sz="2025" b="0">
                          <a:solidFill>
                            <a:srgbClr val="1C3144"/>
                          </a:solidFill>
                          <a:latin typeface="Calibri"/>
                          <a:ea typeface="Calibri"/>
                          <a:cs typeface="Calibri"/>
                        </a:rPr>
                        <a:t>TN increases</a:t>
                      </a:r>
                    </a:p>
                  </a:txBody>
                  <a:tcPr marL="91440" marR="91440" marT="45720" marB="45720">
                    <a:solidFill>
                      <a:srgbClr val="FFFFFF"/>
                    </a:solidFill>
                  </a:tcPr>
                </a:tc>
                <a:tc>
                  <a:txBody>
                    <a:bodyPr/>
                    <a:lstStyle/>
                    <a:p>
                      <a:r>
                        <a:rPr sz="2025" b="0">
                          <a:solidFill>
                            <a:srgbClr val="1C3144"/>
                          </a:solidFill>
                          <a:latin typeface="Calibri"/>
                          <a:ea typeface="Calibri"/>
                          <a:cs typeface="Calibri"/>
                        </a:rPr>
                        <a:t>1 1 1 1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9C93E2-18EA-4769-B1F3-A0E30D93A01C}"/>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All counts start at zero. Each observation follows exactly one if/elif/else branch.</a:t>
            </a:r>
          </a:p>
        </p:txBody>
      </p:sp>
      <p:sp>
        <p:nvSpPr>
          <p:cNvPr id="6" name="">
            <a:extLst xmlns:a="http://schemas.openxmlformats.org/drawingml/2006/main">
              <a:ext uri="{FF2B5EF4-FFF2-40B4-BE49-F238E27FC236}">
                <a16:creationId xmlns:a16="http://schemas.microsoft.com/office/drawing/2014/main" id="{BCC71389-E79F-4B68-98EF-EA8EBEC150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21</a:t>
            </a:r>
          </a:p>
        </p:txBody>
      </p:sp>
    </p:spTree>
    <p:extLst>
      <p:ext uri="{BB962C8B-B14F-4D97-AF65-F5344CB8AC3E}">
        <p14:creationId xmlns:p14="http://schemas.microsoft.com/office/powerpoint/2010/main" val="46364914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0B1310-25A8-4F41-8892-43D31D205C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4BC948-B305-4D06-B7B1-EE78863473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6D2A9A8-AFD6-4EB0-BEC6-299E6891449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Counting arbitrary paired observations</a:t>
            </a:r>
          </a:p>
        </p:txBody>
      </p:sp>
      <p:sp>
        <p:nvSpPr>
          <p:cNvPr id="4" name="">
            <a:extLst xmlns:a="http://schemas.openxmlformats.org/drawingml/2006/main">
              <a:ext uri="{FF2B5EF4-FFF2-40B4-BE49-F238E27FC236}">
                <a16:creationId xmlns:a16="http://schemas.microsoft.com/office/drawing/2014/main" id="{28A1B992-09CA-4D62-AD77-D629202A6AD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EE2B79-E077-429B-B5F1-E6262904DA4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F1840B-9A26-416A-B520-162D638B758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Start every counter at zero before the loop. == compares labels. and means both comparisons must be true. elif checks another condition only when earlier ones were false.</a:t>
            </a:r>
          </a:p>
        </p:txBody>
      </p:sp>
      <p:sp>
        <p:nvSpPr>
          <p:cNvPr id="7" name="">
            <a:extLst xmlns:a="http://schemas.openxmlformats.org/drawingml/2006/main">
              <a:ext uri="{FF2B5EF4-FFF2-40B4-BE49-F238E27FC236}">
                <a16:creationId xmlns:a16="http://schemas.microsoft.com/office/drawing/2014/main" id="{4F57EE5E-D140-4672-8816-DAE501DCC21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tp = tn = fp = fn = 0 sets all four counters to zero. tp += 1 is shorthand for tp = tp + 1.</a:t>
            </a:r>
          </a:p>
        </p:txBody>
      </p:sp>
      <p:sp>
        <p:nvSpPr>
          <p:cNvPr id="8" name="">
            <a:extLst xmlns:a="http://schemas.openxmlformats.org/drawingml/2006/main">
              <a:ext uri="{FF2B5EF4-FFF2-40B4-BE49-F238E27FC236}">
                <a16:creationId xmlns:a16="http://schemas.microsoft.com/office/drawing/2014/main" id="{E254725D-EF62-48B7-A8B3-9B460C907C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22</a:t>
            </a:r>
          </a:p>
        </p:txBody>
      </p:sp>
    </p:spTree>
    <p:extLst>
      <p:ext uri="{BB962C8B-B14F-4D97-AF65-F5344CB8AC3E}">
        <p14:creationId xmlns:p14="http://schemas.microsoft.com/office/powerpoint/2010/main" val="18149968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0FB6C3-CD4F-46A2-8323-FEB0DF468D1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3F9A34-0BF1-4ABB-BA6C-015E273A29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05D5C95-9C94-4154-AF34-7947FD8D2C8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Counting arbitrary paired observations in Python (1/3)</a:t>
            </a:r>
          </a:p>
        </p:txBody>
      </p:sp>
      <p:sp>
        <p:nvSpPr>
          <p:cNvPr id="4" name="">
            <a:extLst xmlns:a="http://schemas.openxmlformats.org/drawingml/2006/main">
              <a:ext uri="{FF2B5EF4-FFF2-40B4-BE49-F238E27FC236}">
                <a16:creationId xmlns:a16="http://schemas.microsoft.com/office/drawing/2014/main" id="{16EF7372-6CC0-4221-A2C2-02D9A8BFEB5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0E4655-BDA9-4ED7-9289-361E869E99E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tp = tn = fp = fn = 0</a:t>
            </a:r>
          </a:p>
        </p:txBody>
      </p:sp>
      <p:sp>
        <p:nvSpPr>
          <p:cNvPr id="6" name="">
            <a:extLst xmlns:a="http://schemas.openxmlformats.org/drawingml/2006/main">
              <a:ext uri="{FF2B5EF4-FFF2-40B4-BE49-F238E27FC236}">
                <a16:creationId xmlns:a16="http://schemas.microsoft.com/office/drawing/2014/main" id="{833B4456-19E1-42AD-9F67-A5577A1012C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58C60656-004E-4626-9E9C-D1E597D00CB0}"/>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8" name="">
            <a:extLst xmlns:a="http://schemas.openxmlformats.org/drawingml/2006/main">
              <a:ext uri="{FF2B5EF4-FFF2-40B4-BE49-F238E27FC236}">
                <a16:creationId xmlns:a16="http://schemas.microsoft.com/office/drawing/2014/main" id="{5EC18897-1434-4797-AC19-6C1FAD1E66E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9" name="">
            <a:extLst xmlns:a="http://schemas.openxmlformats.org/drawingml/2006/main">
              <a:ext uri="{FF2B5EF4-FFF2-40B4-BE49-F238E27FC236}">
                <a16:creationId xmlns:a16="http://schemas.microsoft.com/office/drawing/2014/main" id="{E1B28453-8F06-41D8-AB7C-AB179A12E77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23</a:t>
            </a:r>
          </a:p>
        </p:txBody>
      </p:sp>
    </p:spTree>
    <p:extLst>
      <p:ext uri="{BB962C8B-B14F-4D97-AF65-F5344CB8AC3E}">
        <p14:creationId xmlns:p14="http://schemas.microsoft.com/office/powerpoint/2010/main" val="91284185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E56344-9D92-4306-B907-469BFB6099E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52ED73-B88B-460D-ABC3-618433E1403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BCAAD21-0A91-455C-BCE2-14D2D2372F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Counting arbitrary paired observations in Python (2/3)</a:t>
            </a:r>
          </a:p>
        </p:txBody>
      </p:sp>
      <p:sp>
        <p:nvSpPr>
          <p:cNvPr id="4" name="">
            <a:extLst xmlns:a="http://schemas.openxmlformats.org/drawingml/2006/main">
              <a:ext uri="{FF2B5EF4-FFF2-40B4-BE49-F238E27FC236}">
                <a16:creationId xmlns:a16="http://schemas.microsoft.com/office/drawing/2014/main" id="{6E82EDCD-53DE-4E7A-BB05-3E56390AF01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A2BB36-C12F-4A01-B3B2-7DC0F641C3D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44" b="0">
                <a:solidFill>
                  <a:srgbClr val="F4F7FA"/>
                </a:solidFill>
                <a:latin typeface="Courier New"/>
                <a:ea typeface="Courier New"/>
                <a:cs typeface="Courier New"/>
              </a:defRPr>
            </a:pPr>
            <a:r>
              <a:rPr sz="1944" b="0">
                <a:solidFill>
                  <a:srgbClr val="FFB080"/>
                </a:solidFill>
                <a:latin typeface="Courier New"/>
                <a:ea typeface="Courier New"/>
                <a:cs typeface="Courier New"/>
              </a:rPr>
              <a:t>for</a:t>
            </a:r>
            <a:r>
              <a:rPr sz="1944" b="0">
                <a:solidFill>
                  <a:srgbClr val="F4F7FA"/>
                </a:solidFill>
                <a:latin typeface="Courier New"/>
                <a:ea typeface="Courier New"/>
                <a:cs typeface="Courier New"/>
              </a:rPr>
              <a:t> truth, guess in zip(actual, predicted):</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a:t>
            </a:r>
            <a:r>
              <a:rPr sz="1944" b="0">
                <a:solidFill>
                  <a:srgbClr val="FFB080"/>
                </a:solidFill>
                <a:latin typeface="Courier New"/>
                <a:ea typeface="Courier New"/>
                <a:cs typeface="Courier New"/>
              </a:rPr>
              <a:t>if</a:t>
            </a:r>
            <a:r>
              <a:rPr sz="1944" b="0">
                <a:solidFill>
                  <a:srgbClr val="F4F7FA"/>
                </a:solidFill>
                <a:latin typeface="Courier New"/>
                <a:ea typeface="Courier New"/>
                <a:cs typeface="Courier New"/>
              </a:rPr>
              <a:t> truth == 1 and guess == 1:</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tp += 1</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a:t>
            </a:r>
            <a:r>
              <a:rPr sz="1944" b="0">
                <a:solidFill>
                  <a:srgbClr val="FFB080"/>
                </a:solidFill>
                <a:latin typeface="Courier New"/>
                <a:ea typeface="Courier New"/>
                <a:cs typeface="Courier New"/>
              </a:rPr>
              <a:t>elif</a:t>
            </a:r>
            <a:r>
              <a:rPr sz="1944" b="0">
                <a:solidFill>
                  <a:srgbClr val="F4F7FA"/>
                </a:solidFill>
                <a:latin typeface="Courier New"/>
                <a:ea typeface="Courier New"/>
                <a:cs typeface="Courier New"/>
              </a:rPr>
              <a:t> truth == 0 and guess == 0:</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tn += 1</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elif truth == 0 and guess == 1:</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fp += 1</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a:t>
            </a:r>
            <a:r>
              <a:rPr sz="1944" b="0">
                <a:solidFill>
                  <a:srgbClr val="FFB080"/>
                </a:solidFill>
                <a:latin typeface="Courier New"/>
                <a:ea typeface="Courier New"/>
                <a:cs typeface="Courier New"/>
              </a:rPr>
              <a:t>else</a:t>
            </a:r>
            <a:r>
              <a:rPr sz="1944" b="0">
                <a:solidFill>
                  <a:srgbClr val="F4F7FA"/>
                </a:solidFill>
                <a:latin typeface="Courier New"/>
                <a:ea typeface="Courier New"/>
                <a:cs typeface="Courier New"/>
              </a:rPr>
              <a:t>:</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fn += 1</a:t>
            </a:r>
          </a:p>
        </p:txBody>
      </p:sp>
      <p:sp>
        <p:nvSpPr>
          <p:cNvPr id="6" name="">
            <a:extLst xmlns:a="http://schemas.openxmlformats.org/drawingml/2006/main">
              <a:ext uri="{FF2B5EF4-FFF2-40B4-BE49-F238E27FC236}">
                <a16:creationId xmlns:a16="http://schemas.microsoft.com/office/drawing/2014/main" id="{2C27C0EF-7C62-499E-A20C-32555836BAC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D1BF0A2-AF77-4911-BECF-5897300F4A0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25B8210D-9E0A-4855-A2F6-E456E96FAC0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C7D82BA4-6A84-4212-A96B-F1E9DBBCFCD5}"/>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zip pairs items at matching positions in these equal-length lists.</a:t>
            </a:r>
          </a:p>
        </p:txBody>
      </p:sp>
      <p:sp>
        <p:nvSpPr>
          <p:cNvPr id="10" name="">
            <a:extLst xmlns:a="http://schemas.openxmlformats.org/drawingml/2006/main">
              <a:ext uri="{FF2B5EF4-FFF2-40B4-BE49-F238E27FC236}">
                <a16:creationId xmlns:a16="http://schemas.microsoft.com/office/drawing/2014/main" id="{D59B5F2F-EE95-4C9B-BCF4-C6788C486C0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11" name="">
            <a:extLst xmlns:a="http://schemas.openxmlformats.org/drawingml/2006/main">
              <a:ext uri="{FF2B5EF4-FFF2-40B4-BE49-F238E27FC236}">
                <a16:creationId xmlns:a16="http://schemas.microsoft.com/office/drawing/2014/main" id="{39918669-2760-478F-B0B2-3D03E0241AB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24</a:t>
            </a:r>
          </a:p>
        </p:txBody>
      </p:sp>
    </p:spTree>
    <p:extLst>
      <p:ext uri="{BB962C8B-B14F-4D97-AF65-F5344CB8AC3E}">
        <p14:creationId xmlns:p14="http://schemas.microsoft.com/office/powerpoint/2010/main" val="75732990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2545C7-5992-4514-8FEE-8F7F66D9DE0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C2D384-7E7E-4057-A132-489A2A918E6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80C7F10-9B06-4AFB-BD60-75615DBF34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Counting arbitrary paired observations in Python (3/3)</a:t>
            </a:r>
          </a:p>
        </p:txBody>
      </p:sp>
      <p:sp>
        <p:nvSpPr>
          <p:cNvPr id="4" name="">
            <a:extLst xmlns:a="http://schemas.openxmlformats.org/drawingml/2006/main">
              <a:ext uri="{FF2B5EF4-FFF2-40B4-BE49-F238E27FC236}">
                <a16:creationId xmlns:a16="http://schemas.microsoft.com/office/drawing/2014/main" id="{25BE9DBE-2B84-4414-8CBF-7EC492BC56D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A17069-BCC0-4FDF-9D1F-926D6432EAF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print(tp, tn, fp, fn)</a:t>
            </a:r>
          </a:p>
        </p:txBody>
      </p:sp>
      <p:sp>
        <p:nvSpPr>
          <p:cNvPr id="6" name="">
            <a:extLst xmlns:a="http://schemas.openxmlformats.org/drawingml/2006/main">
              <a:ext uri="{FF2B5EF4-FFF2-40B4-BE49-F238E27FC236}">
                <a16:creationId xmlns:a16="http://schemas.microsoft.com/office/drawing/2014/main" id="{4BF6D83F-DFB2-456D-BEAB-A7AC3388B1F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615FCEA-15D7-491C-9046-8B54A96B8CA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718AB7D4-0C6E-4900-81B7-0ABE74BF0DF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9" name="">
            <a:extLst xmlns:a="http://schemas.openxmlformats.org/drawingml/2006/main">
              <a:ext uri="{FF2B5EF4-FFF2-40B4-BE49-F238E27FC236}">
                <a16:creationId xmlns:a16="http://schemas.microsoft.com/office/drawing/2014/main" id="{119DEC59-D6B0-4C4F-8674-08B27130F2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25</a:t>
            </a:r>
          </a:p>
        </p:txBody>
      </p:sp>
    </p:spTree>
    <p:extLst>
      <p:ext uri="{BB962C8B-B14F-4D97-AF65-F5344CB8AC3E}">
        <p14:creationId xmlns:p14="http://schemas.microsoft.com/office/powerpoint/2010/main" val="124577065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DA7EC6-CBA4-454A-B9F3-201906518CD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6D3780-252D-4474-BEF9-8BF6387508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B1548E0-369D-48CB-B8AF-1010B8FC8A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Represent a category with indicators</a:t>
            </a:r>
          </a:p>
        </p:txBody>
      </p:sp>
      <p:sp>
        <p:nvSpPr>
          <p:cNvPr id="4" name="">
            <a:extLst xmlns:a="http://schemas.openxmlformats.org/drawingml/2006/main">
              <a:ext uri="{FF2B5EF4-FFF2-40B4-BE49-F238E27FC236}">
                <a16:creationId xmlns:a16="http://schemas.microsoft.com/office/drawing/2014/main" id="{289F5BA5-66B3-4542-9C2D-5C478A606287}"/>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D4D4F1-89A9-43C4-BE9C-74E7F56A78E9}"/>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Category</a:t>
            </a:r>
          </a:p>
        </p:txBody>
      </p:sp>
      <p:sp>
        <p:nvSpPr>
          <p:cNvPr id="6" name="">
            <a:extLst xmlns:a="http://schemas.openxmlformats.org/drawingml/2006/main">
              <a:ext uri="{FF2B5EF4-FFF2-40B4-BE49-F238E27FC236}">
                <a16:creationId xmlns:a16="http://schemas.microsoft.com/office/drawing/2014/main" id="{3C898B9D-5084-444D-8A7C-F8DA5F767450}"/>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category is a label such as steel or timber. Its name does not imply a numerical size or rank.</a:t>
            </a:r>
          </a:p>
        </p:txBody>
      </p:sp>
      <p:sp>
        <p:nvSpPr>
          <p:cNvPr id="7" name="">
            <a:extLst xmlns:a="http://schemas.openxmlformats.org/drawingml/2006/main">
              <a:ext uri="{FF2B5EF4-FFF2-40B4-BE49-F238E27FC236}">
                <a16:creationId xmlns:a16="http://schemas.microsoft.com/office/drawing/2014/main" id="{676360E0-C9D6-41CC-B826-416756205116}"/>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69A34D2-924C-43D0-84E3-E3A2E0623F62}"/>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One-hot indicator</a:t>
            </a:r>
          </a:p>
        </p:txBody>
      </p:sp>
      <p:sp>
        <p:nvSpPr>
          <p:cNvPr id="9" name="">
            <a:extLst xmlns:a="http://schemas.openxmlformats.org/drawingml/2006/main">
              <a:ext uri="{FF2B5EF4-FFF2-40B4-BE49-F238E27FC236}">
                <a16:creationId xmlns:a16="http://schemas.microsoft.com/office/drawing/2014/main" id="{A47532CD-A24F-4A20-9E59-0BB56739F1FA}"/>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Create a column for each category. Its entry is 1 when the row has that category and 0 otherwise. Learn the allowed categories from training data.</a:t>
            </a:r>
          </a:p>
        </p:txBody>
      </p:sp>
      <p:sp>
        <p:nvSpPr>
          <p:cNvPr id="10" name="">
            <a:extLst xmlns:a="http://schemas.openxmlformats.org/drawingml/2006/main">
              <a:ext uri="{FF2B5EF4-FFF2-40B4-BE49-F238E27FC236}">
                <a16:creationId xmlns:a16="http://schemas.microsoft.com/office/drawing/2014/main" id="{E2760E66-244C-42F5-819F-796344E9C4E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26</a:t>
            </a:r>
          </a:p>
        </p:txBody>
      </p:sp>
    </p:spTree>
    <p:extLst>
      <p:ext uri="{BB962C8B-B14F-4D97-AF65-F5344CB8AC3E}">
        <p14:creationId xmlns:p14="http://schemas.microsoft.com/office/powerpoint/2010/main" val="21394877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8BA629-AA06-4785-9410-A67D4075CEE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5A45F9-B7CA-4090-8708-F45A367E51D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E2D69B48-4B5F-4B19-BD17-2510A58EC59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category can become indicator columns</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Material</a:t>
                      </a:r>
                    </a:p>
                  </a:txBody>
                  <a:tcPr marL="91440" marR="91440" marT="45720" marB="45720">
                    <a:solidFill>
                      <a:srgbClr val="2E7D6F"/>
                    </a:solidFill>
                  </a:tcPr>
                </a:tc>
                <a:tc>
                  <a:txBody>
                    <a:bodyPr/>
                    <a:lstStyle/>
                    <a:p>
                      <a:r>
                        <a:rPr sz="2025" b="1">
                          <a:solidFill>
                            <a:srgbClr val="FFFFFF"/>
                          </a:solidFill>
                          <a:latin typeface="Calibri"/>
                          <a:ea typeface="Calibri"/>
                          <a:cs typeface="Calibri"/>
                        </a:rPr>
                        <a:t>is_steel</a:t>
                      </a:r>
                    </a:p>
                  </a:txBody>
                  <a:tcPr marL="91440" marR="91440" marT="45720" marB="45720">
                    <a:solidFill>
                      <a:srgbClr val="2E7D6F"/>
                    </a:solidFill>
                  </a:tcPr>
                </a:tc>
                <a:tc>
                  <a:txBody>
                    <a:bodyPr/>
                    <a:lstStyle/>
                    <a:p>
                      <a:r>
                        <a:rPr sz="2025" b="1">
                          <a:solidFill>
                            <a:srgbClr val="FFFFFF"/>
                          </a:solidFill>
                          <a:latin typeface="Calibri"/>
                          <a:ea typeface="Calibri"/>
                          <a:cs typeface="Calibri"/>
                        </a:rPr>
                        <a:t>is_timber</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steel</a:t>
                      </a:r>
                    </a:p>
                  </a:txBody>
                  <a:tcPr marL="91440" marR="91440" marT="45720" marB="45720">
                    <a:solidFill>
                      <a:srgbClr val="EEF3F6"/>
                    </a:solidFill>
                  </a:tcPr>
                </a:tc>
                <a:tc>
                  <a:txBody>
                    <a:bodyPr/>
                    <a:lstStyle/>
                    <a:p>
                      <a:r>
                        <a:rPr sz="2025" b="0">
                          <a:solidFill>
                            <a:srgbClr val="1C3144"/>
                          </a:solidFill>
                          <a:latin typeface="Calibri"/>
                          <a:ea typeface="Calibri"/>
                          <a:cs typeface="Calibri"/>
                        </a:rPr>
                        <a:t>1</a:t>
                      </a:r>
                    </a:p>
                  </a:txBody>
                  <a:tcPr marL="91440" marR="91440" marT="45720" marB="45720">
                    <a:solidFill>
                      <a:srgbClr val="EEF3F6"/>
                    </a:solidFill>
                  </a:tcPr>
                </a:tc>
                <a:tc>
                  <a:txBody>
                    <a:bodyPr/>
                    <a:lstStyle/>
                    <a:p>
                      <a:r>
                        <a:rPr sz="2025" b="0">
                          <a:solidFill>
                            <a:srgbClr val="1C3144"/>
                          </a:solidFill>
                          <a:latin typeface="Calibri"/>
                          <a:ea typeface="Calibri"/>
                          <a:cs typeface="Calibri"/>
                        </a:rPr>
                        <a:t>0</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timber</a:t>
                      </a:r>
                    </a:p>
                  </a:txBody>
                  <a:tcPr marL="91440" marR="91440" marT="45720" marB="45720">
                    <a:solidFill>
                      <a:srgbClr val="FFFFFF"/>
                    </a:solidFill>
                  </a:tcPr>
                </a:tc>
                <a:tc>
                  <a:txBody>
                    <a:bodyPr/>
                    <a:lstStyle/>
                    <a:p>
                      <a:r>
                        <a:rPr sz="2025" b="0">
                          <a:solidFill>
                            <a:srgbClr val="1C3144"/>
                          </a:solidFill>
                          <a:latin typeface="Calibri"/>
                          <a:ea typeface="Calibri"/>
                          <a:cs typeface="Calibri"/>
                        </a:rPr>
                        <a:t>0</a:t>
                      </a:r>
                    </a:p>
                  </a:txBody>
                  <a:tcPr marL="91440" marR="91440" marT="45720" marB="45720">
                    <a:solidFill>
                      <a:srgbClr val="FFFFFF"/>
                    </a:solidFill>
                  </a:tcPr>
                </a:tc>
                <a:tc>
                  <a:txBody>
                    <a:bodyPr/>
                    <a:lstStyle/>
                    <a:p>
                      <a:r>
                        <a:rPr sz="2025" b="0">
                          <a:solidFill>
                            <a:srgbClr val="1C3144"/>
                          </a:solidFill>
                          <a:latin typeface="Calibri"/>
                          <a:ea typeface="Calibri"/>
                          <a:cs typeface="Calibri"/>
                        </a:rPr>
                        <a:t>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7F4CB58-ED77-4A77-8FCF-8C626F0A6537}"/>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An encoder converts category labels to numeric columns. Fit it on training data. Each indicator is 1 when that category applies, otherwise 0.</a:t>
            </a:r>
          </a:p>
        </p:txBody>
      </p:sp>
      <p:sp>
        <p:nvSpPr>
          <p:cNvPr id="6" name="">
            <a:extLst xmlns:a="http://schemas.openxmlformats.org/drawingml/2006/main">
              <a:ext uri="{FF2B5EF4-FFF2-40B4-BE49-F238E27FC236}">
                <a16:creationId xmlns:a16="http://schemas.microsoft.com/office/drawing/2014/main" id="{01B02137-4A21-4BA6-975F-1125924CAB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27</a:t>
            </a:r>
          </a:p>
        </p:txBody>
      </p:sp>
    </p:spTree>
    <p:extLst>
      <p:ext uri="{BB962C8B-B14F-4D97-AF65-F5344CB8AC3E}">
        <p14:creationId xmlns:p14="http://schemas.microsoft.com/office/powerpoint/2010/main" val="175253497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8156FF-09DA-470E-B8AE-74E041A4D5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CADE13-06DB-45F1-81DE-9EA2284FEC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18C4564-9393-4792-BE60-F9775D02D6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Accuracy can hide missed warnings</a:t>
            </a:r>
          </a:p>
        </p:txBody>
      </p:sp>
      <p:sp>
        <p:nvSpPr>
          <p:cNvPr id="4" name="">
            <a:extLst xmlns:a="http://schemas.openxmlformats.org/drawingml/2006/main">
              <a:ext uri="{FF2B5EF4-FFF2-40B4-BE49-F238E27FC236}">
                <a16:creationId xmlns:a16="http://schemas.microsoft.com/office/drawing/2014/main" id="{10A1C9CB-7E72-4A1D-AF25-6276612C5E4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7FD264C-7F52-4ED7-93AD-19800E9EA81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Accuracy = number of correct labels / number of labels. It counts correct warnings and correct non-warnings together.</a:t>
            </a:r>
          </a:p>
        </p:txBody>
      </p:sp>
      <p:sp>
        <p:nvSpPr>
          <p:cNvPr id="6" name="">
            <a:extLst xmlns:a="http://schemas.openxmlformats.org/drawingml/2006/main">
              <a:ext uri="{FF2B5EF4-FFF2-40B4-BE49-F238E27FC236}">
                <a16:creationId xmlns:a16="http://schemas.microsoft.com/office/drawing/2014/main" id="{DD76C58E-252C-4D2E-B445-18CB86F34DA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F4E1EDB-F10F-46F1-A495-7E99FDC0D3C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90 of 100 cases need no warning, predicting no warning every time gives 90% accuracy. It detects none of the 10 real warnings: recall is 0.</a:t>
            </a:r>
          </a:p>
        </p:txBody>
      </p:sp>
      <p:sp>
        <p:nvSpPr>
          <p:cNvPr id="8" name="">
            <a:extLst xmlns:a="http://schemas.openxmlformats.org/drawingml/2006/main">
              <a:ext uri="{FF2B5EF4-FFF2-40B4-BE49-F238E27FC236}">
                <a16:creationId xmlns:a16="http://schemas.microsoft.com/office/drawing/2014/main" id="{801D1BEC-80E6-4C19-BFF0-7521354178A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7C4F7E7-CBB0-4203-82CF-8B4B4331664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Always inspect the actual/predicted counts and relevant costs before calling a classifier useful.</a:t>
            </a:r>
          </a:p>
        </p:txBody>
      </p:sp>
      <p:sp>
        <p:nvSpPr>
          <p:cNvPr id="10" name="">
            <a:extLst xmlns:a="http://schemas.openxmlformats.org/drawingml/2006/main">
              <a:ext uri="{FF2B5EF4-FFF2-40B4-BE49-F238E27FC236}">
                <a16:creationId xmlns:a16="http://schemas.microsoft.com/office/drawing/2014/main" id="{426C5A30-AAA7-43C2-8A78-8EE7A79E86D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28</a:t>
            </a:r>
          </a:p>
        </p:txBody>
      </p:sp>
    </p:spTree>
    <p:extLst>
      <p:ext uri="{BB962C8B-B14F-4D97-AF65-F5344CB8AC3E}">
        <p14:creationId xmlns:p14="http://schemas.microsoft.com/office/powerpoint/2010/main" val="128313567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4DE2ED-A44D-4C81-B594-458579494BE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32A3B3-772D-42D7-8A1C-13BF8E9AC9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99ACDE6-BCB4-4A3F-AE02-FB597B48568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42EBA1D6-071C-4BBF-964C-CD4766BA99C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2D0BBF-A586-4C70-B5DB-CECE5E60038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654F6DF-8AF9-4FB5-8330-98B782D861F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Change the second prediction to 1. Count again. Does this improve both recall and the assumed cost?</a:t>
            </a:r>
          </a:p>
        </p:txBody>
      </p:sp>
      <p:sp>
        <p:nvSpPr>
          <p:cNvPr id="7" name="">
            <a:extLst xmlns:a="http://schemas.openxmlformats.org/drawingml/2006/main">
              <a:ext uri="{FF2B5EF4-FFF2-40B4-BE49-F238E27FC236}">
                <a16:creationId xmlns:a16="http://schemas.microsoft.com/office/drawing/2014/main" id="{D031D0B3-BECD-4BDB-89F9-41A71BECBB8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TP=2, FN=0, FP=1, TN=1. Precision 2/3, recall 1, cost 1. This particular change improves recall and cost.</a:t>
            </a:r>
          </a:p>
        </p:txBody>
      </p:sp>
      <p:sp>
        <p:nvSpPr>
          <p:cNvPr id="8" name="">
            <a:extLst xmlns:a="http://schemas.openxmlformats.org/drawingml/2006/main">
              <a:ext uri="{FF2B5EF4-FFF2-40B4-BE49-F238E27FC236}">
                <a16:creationId xmlns:a16="http://schemas.microsoft.com/office/drawing/2014/main" id="{525A81A6-23CE-4F36-923B-7505574F71D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29</a:t>
            </a:r>
          </a:p>
        </p:txBody>
      </p:sp>
    </p:spTree>
    <p:extLst>
      <p:ext uri="{BB962C8B-B14F-4D97-AF65-F5344CB8AC3E}">
        <p14:creationId xmlns:p14="http://schemas.microsoft.com/office/powerpoint/2010/main" val="59087924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6F7865-A0F0-48C1-8EAA-BA71DBF30B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441821-7175-4DE5-8024-8AE417F17F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3B44D3E-5603-4775-B394-6BB944A5EC1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45547BBF-F1DB-4F9F-AB10-367E0A69D1B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2E2AF48-65EC-4BB9-891F-CB2E46AA798B}"/>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Implement classification_metrics on arbitrary paired binary labels, not only the example.</a:t>
            </a:r>
          </a:p>
        </p:txBody>
      </p:sp>
      <p:sp>
        <p:nvSpPr>
          <p:cNvPr id="6" name="">
            <a:extLst xmlns:a="http://schemas.openxmlformats.org/drawingml/2006/main">
              <a:ext uri="{FF2B5EF4-FFF2-40B4-BE49-F238E27FC236}">
                <a16:creationId xmlns:a16="http://schemas.microsoft.com/office/drawing/2014/main" id="{5DD7FF60-5A94-45B8-87CD-C09990EB2C36}"/>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10ABA77-6A81-4D97-B1D9-195086DB2DD7}"/>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zero-denominator convention.</a:t>
            </a:r>
          </a:p>
        </p:txBody>
      </p:sp>
      <p:sp>
        <p:nvSpPr>
          <p:cNvPr id="8" name="">
            <a:extLst xmlns:a="http://schemas.openxmlformats.org/drawingml/2006/main">
              <a:ext uri="{FF2B5EF4-FFF2-40B4-BE49-F238E27FC236}">
                <a16:creationId xmlns:a16="http://schemas.microsoft.com/office/drawing/2014/main" id="{0745B768-3B7A-481F-AA62-07840548875A}"/>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8DE9879-9F42-4E0C-A5C3-1ECB0A4B1E11}"/>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the supplied W09 comparison separately.</a:t>
            </a:r>
          </a:p>
        </p:txBody>
      </p:sp>
      <p:sp>
        <p:nvSpPr>
          <p:cNvPr id="10" name="">
            <a:extLst xmlns:a="http://schemas.openxmlformats.org/drawingml/2006/main">
              <a:ext uri="{FF2B5EF4-FFF2-40B4-BE49-F238E27FC236}">
                <a16:creationId xmlns:a16="http://schemas.microsoft.com/office/drawing/2014/main" id="{8B379FCC-9C05-4914-BDE2-F4E1830A118C}"/>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FB411D2-A226-48FA-82FF-56FC99E99861}"/>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Teacher-written cost assumptions are not approved operating limits.</a:t>
            </a:r>
          </a:p>
        </p:txBody>
      </p:sp>
      <p:sp>
        <p:nvSpPr>
          <p:cNvPr id="12" name="">
            <a:extLst xmlns:a="http://schemas.openxmlformats.org/drawingml/2006/main">
              <a:ext uri="{FF2B5EF4-FFF2-40B4-BE49-F238E27FC236}">
                <a16:creationId xmlns:a16="http://schemas.microsoft.com/office/drawing/2014/main" id="{DC8B6680-A5AE-4BBF-B860-AA76E423EEC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30</a:t>
            </a:r>
          </a:p>
        </p:txBody>
      </p:sp>
    </p:spTree>
    <p:extLst>
      <p:ext uri="{BB962C8B-B14F-4D97-AF65-F5344CB8AC3E}">
        <p14:creationId xmlns:p14="http://schemas.microsoft.com/office/powerpoint/2010/main" val="64924456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B0EA56-AD29-411B-AEF7-96B0FFD4B3B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DF1B14-D5DB-46A6-B017-6A5395B882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29CAD6C-B886-44E2-B0BF-0495D14258D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784B6DF4-502A-4AF7-80A4-C763496E544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B500EA0-6329-426A-9762-2DF2EBBBF94A}"/>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All claimed benefits require real-world evaluation.</a:t>
            </a:r>
          </a:p>
        </p:txBody>
      </p:sp>
      <p:sp>
        <p:nvSpPr>
          <p:cNvPr id="6" name="">
            <a:extLst xmlns:a="http://schemas.openxmlformats.org/drawingml/2006/main">
              <a:ext uri="{FF2B5EF4-FFF2-40B4-BE49-F238E27FC236}">
                <a16:creationId xmlns:a16="http://schemas.microsoft.com/office/drawing/2014/main" id="{027FD42C-F7DA-4582-B448-ACE66E007D8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31</a:t>
            </a:r>
          </a:p>
        </p:txBody>
      </p:sp>
    </p:spTree>
    <p:extLst>
      <p:ext uri="{BB962C8B-B14F-4D97-AF65-F5344CB8AC3E}">
        <p14:creationId xmlns:p14="http://schemas.microsoft.com/office/powerpoint/2010/main" val="83757962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8135D24-6D10-492B-857F-CABEE821806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40B6FD-26F1-46F1-869D-F1C76B2FCA8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2070DEB-CAB2-41A0-B486-D13A5B0E6F4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Category predictions and operating thresholds</a:t>
            </a:r>
          </a:p>
        </p:txBody>
      </p:sp>
      <p:sp>
        <p:nvSpPr>
          <p:cNvPr id="4" name="">
            <a:extLst xmlns:a="http://schemas.openxmlformats.org/drawingml/2006/main">
              <a:ext uri="{FF2B5EF4-FFF2-40B4-BE49-F238E27FC236}">
                <a16:creationId xmlns:a16="http://schemas.microsoft.com/office/drawing/2014/main" id="{98F2760C-FC72-4C64-BF79-2CE1BDCB509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27F3249-2D8B-4491-81E4-DC5E8D235834}"/>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majority-only classifier can achieve high accuracy while missing the rare class.</a:t>
            </a:r>
          </a:p>
        </p:txBody>
      </p:sp>
      <p:sp>
        <p:nvSpPr>
          <p:cNvPr id="6" name="">
            <a:extLst xmlns:a="http://schemas.openxmlformats.org/drawingml/2006/main">
              <a:ext uri="{FF2B5EF4-FFF2-40B4-BE49-F238E27FC236}">
                <a16:creationId xmlns:a16="http://schemas.microsoft.com/office/drawing/2014/main" id="{3737591D-483C-4B8C-8DF9-C4F5F7A62B9F}"/>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E91B93B-8286-4233-90AF-C2B9A6B883B9}"/>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Name the positive class and both confusion-matrix axes.</a:t>
            </a:r>
          </a:p>
        </p:txBody>
      </p:sp>
      <p:sp>
        <p:nvSpPr>
          <p:cNvPr id="8" name="">
            <a:extLst xmlns:a="http://schemas.openxmlformats.org/drawingml/2006/main">
              <a:ext uri="{FF2B5EF4-FFF2-40B4-BE49-F238E27FC236}">
                <a16:creationId xmlns:a16="http://schemas.microsoft.com/office/drawing/2014/main" id="{965AFF1F-79FD-4F5C-B86F-7F1C7DF2DEEC}"/>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B7EB306-BC64-4890-B70F-B5701C820B29}"/>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model expecting numeric features cannot directly use raw category strings; use numeric indicator columns for categories.</a:t>
            </a:r>
          </a:p>
        </p:txBody>
      </p:sp>
      <p:sp>
        <p:nvSpPr>
          <p:cNvPr id="10" name="">
            <a:extLst xmlns:a="http://schemas.openxmlformats.org/drawingml/2006/main">
              <a:ext uri="{FF2B5EF4-FFF2-40B4-BE49-F238E27FC236}">
                <a16:creationId xmlns:a16="http://schemas.microsoft.com/office/drawing/2014/main" id="{71C6B7A7-E4E0-4217-9B5C-F1E7B8757DF8}"/>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D5FF04E-2903-4FB3-ACF7-311D776A8304}"/>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threshold choices on validation data.</a:t>
            </a:r>
          </a:p>
        </p:txBody>
      </p:sp>
      <p:sp>
        <p:nvSpPr>
          <p:cNvPr id="12" name="">
            <a:extLst xmlns:a="http://schemas.openxmlformats.org/drawingml/2006/main">
              <a:ext uri="{FF2B5EF4-FFF2-40B4-BE49-F238E27FC236}">
                <a16:creationId xmlns:a16="http://schemas.microsoft.com/office/drawing/2014/main" id="{0151F257-92AB-429B-90BC-D03002B1667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32</a:t>
            </a:r>
          </a:p>
        </p:txBody>
      </p:sp>
    </p:spTree>
    <p:extLst>
      <p:ext uri="{BB962C8B-B14F-4D97-AF65-F5344CB8AC3E}">
        <p14:creationId xmlns:p14="http://schemas.microsoft.com/office/powerpoint/2010/main" val="146281715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57678E-8A86-41A0-A604-5F6B5B0267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E6192B-8427-446E-99E7-CA9D16F4266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C2420D6-59A2-4142-A3CA-8451EDC908E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Category predictions and operating thresholds continued</a:t>
            </a:r>
          </a:p>
        </p:txBody>
      </p:sp>
      <p:sp>
        <p:nvSpPr>
          <p:cNvPr id="4" name="">
            <a:extLst xmlns:a="http://schemas.openxmlformats.org/drawingml/2006/main">
              <a:ext uri="{FF2B5EF4-FFF2-40B4-BE49-F238E27FC236}">
                <a16:creationId xmlns:a16="http://schemas.microsoft.com/office/drawing/2014/main" id="{BE960350-78FF-4BFA-98FC-C72AB0015893}"/>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3EB072-4A95-414F-923E-C6090F78B89D}"/>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Reducing the threshold adds flagged cases and cannot reduce recall on fixed scored observations, but precision can move either way.</a:t>
            </a:r>
          </a:p>
        </p:txBody>
      </p:sp>
      <p:sp>
        <p:nvSpPr>
          <p:cNvPr id="6" name="">
            <a:extLst xmlns:a="http://schemas.openxmlformats.org/drawingml/2006/main">
              <a:ext uri="{FF2B5EF4-FFF2-40B4-BE49-F238E27FC236}">
                <a16:creationId xmlns:a16="http://schemas.microsoft.com/office/drawing/2014/main" id="{D80CAA29-4F19-4046-8FFD-65859ECAAA3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33</a:t>
            </a:r>
          </a:p>
        </p:txBody>
      </p:sp>
    </p:spTree>
    <p:extLst>
      <p:ext uri="{BB962C8B-B14F-4D97-AF65-F5344CB8AC3E}">
        <p14:creationId xmlns:p14="http://schemas.microsoft.com/office/powerpoint/2010/main" val="89126851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451EB13-BF52-4689-9568-B2AF06DBD8A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8375B1-1F00-4EF3-8457-35BB4152CD5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40FB0C6-4640-46BB-8E11-84E10831B41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3697DB9B-437E-49F9-A3CF-83AE1BAC0EE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C9562C3-F729-4DF7-B162-102DF1660CAB}"/>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classification_case.csv.</a:t>
            </a:r>
          </a:p>
        </p:txBody>
      </p:sp>
      <p:sp>
        <p:nvSpPr>
          <p:cNvPr id="6" name="">
            <a:extLst xmlns:a="http://schemas.openxmlformats.org/drawingml/2006/main">
              <a:ext uri="{FF2B5EF4-FFF2-40B4-BE49-F238E27FC236}">
                <a16:creationId xmlns:a16="http://schemas.microsoft.com/office/drawing/2014/main" id="{ADDE67F5-F0DD-4AAD-8180-176AAED03DE8}"/>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EA0F63B-0597-42A7-B187-C575F3D55224}"/>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Positive means a synthetic warning condition.</a:t>
            </a:r>
          </a:p>
        </p:txBody>
      </p:sp>
      <p:sp>
        <p:nvSpPr>
          <p:cNvPr id="8" name="">
            <a:extLst xmlns:a="http://schemas.openxmlformats.org/drawingml/2006/main">
              <a:ext uri="{FF2B5EF4-FFF2-40B4-BE49-F238E27FC236}">
                <a16:creationId xmlns:a16="http://schemas.microsoft.com/office/drawing/2014/main" id="{5452E2F3-6C2E-4431-B53F-0360374AEE44}"/>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086094D-803E-4007-AC2E-6E2E9BF96D5C}"/>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Compute the confusion matrix, precision, recall and cost.</a:t>
            </a:r>
          </a:p>
        </p:txBody>
      </p:sp>
      <p:sp>
        <p:nvSpPr>
          <p:cNvPr id="10" name="">
            <a:extLst xmlns:a="http://schemas.openxmlformats.org/drawingml/2006/main">
              <a:ext uri="{FF2B5EF4-FFF2-40B4-BE49-F238E27FC236}">
                <a16:creationId xmlns:a16="http://schemas.microsoft.com/office/drawing/2014/main" id="{410B920E-54AD-4602-AAE3-30E02C2CC2A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DF5DA16-AAE2-4551-A263-652A892999AE}"/>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5:1 missed-warning/false-alarm cost assumption and why accuracy alone is insufficient.</a:t>
            </a:r>
          </a:p>
        </p:txBody>
      </p:sp>
      <p:sp>
        <p:nvSpPr>
          <p:cNvPr id="12" name="">
            <a:extLst xmlns:a="http://schemas.openxmlformats.org/drawingml/2006/main">
              <a:ext uri="{FF2B5EF4-FFF2-40B4-BE49-F238E27FC236}">
                <a16:creationId xmlns:a16="http://schemas.microsoft.com/office/drawing/2014/main" id="{A1DB0D92-C6E0-4890-9300-8E3992085AE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34</a:t>
            </a:r>
          </a:p>
        </p:txBody>
      </p:sp>
    </p:spTree>
    <p:extLst>
      <p:ext uri="{BB962C8B-B14F-4D97-AF65-F5344CB8AC3E}">
        <p14:creationId xmlns:p14="http://schemas.microsoft.com/office/powerpoint/2010/main" val="173763303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E0D07B-034A-484C-A91B-6B08CD2664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D09112-CC2F-4235-ABA9-8EE0E4953AE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F692C63-61F7-45E9-8D1F-9DB203B000B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 continued</a:t>
            </a:r>
          </a:p>
        </p:txBody>
      </p:sp>
      <p:sp>
        <p:nvSpPr>
          <p:cNvPr id="4" name="">
            <a:extLst xmlns:a="http://schemas.openxmlformats.org/drawingml/2006/main">
              <a:ext uri="{FF2B5EF4-FFF2-40B4-BE49-F238E27FC236}">
                <a16:creationId xmlns:a16="http://schemas.microsoft.com/office/drawing/2014/main" id="{89871FB7-6FF2-4C24-9F92-94BEFE1987E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72F81EA-84F0-4064-AE23-8FB63232AFCE}"/>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costs are teaching assumptions, not approved operating limits.</a:t>
            </a:r>
          </a:p>
        </p:txBody>
      </p:sp>
      <p:sp>
        <p:nvSpPr>
          <p:cNvPr id="6" name="">
            <a:extLst xmlns:a="http://schemas.openxmlformats.org/drawingml/2006/main">
              <a:ext uri="{FF2B5EF4-FFF2-40B4-BE49-F238E27FC236}">
                <a16:creationId xmlns:a16="http://schemas.microsoft.com/office/drawing/2014/main" id="{60BB4043-5993-4DE6-BB14-E8292E6908F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35</a:t>
            </a:r>
          </a:p>
        </p:txBody>
      </p:sp>
    </p:spTree>
    <p:extLst>
      <p:ext uri="{BB962C8B-B14F-4D97-AF65-F5344CB8AC3E}">
        <p14:creationId xmlns:p14="http://schemas.microsoft.com/office/powerpoint/2010/main" val="5323485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18FBAB4-78BE-4B90-9F6B-E1B418FF3A1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5ABB78-1DF2-47A2-8CE6-D784BEC5AC4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0C3F5C6F-AF25-4615-89F0-03399914B9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classification_metrics(actual, predicted)</a:t>
            </a:r>
          </a:p>
        </p:txBody>
      </p:sp>
      <p:sp>
        <p:nvSpPr>
          <p:cNvPr id="4" name="">
            <a:extLst xmlns:a="http://schemas.openxmlformats.org/drawingml/2006/main">
              <a:ext uri="{FF2B5EF4-FFF2-40B4-BE49-F238E27FC236}">
                <a16:creationId xmlns:a16="http://schemas.microsoft.com/office/drawing/2014/main" id="{11CC3F2C-F4B1-4F44-8EE9-D8C86540DCBA}"/>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6E19CF-41A3-4492-835A-672403A30EC3}"/>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For binary labels return tp, tn, fp, fn, precision, recall and cost=5*fn+fp; use zero for an undefined precision/recall denominator.</a:t>
            </a:r>
          </a:p>
        </p:txBody>
      </p:sp>
      <p:sp>
        <p:nvSpPr>
          <p:cNvPr id="6" name="">
            <a:extLst xmlns:a="http://schemas.openxmlformats.org/drawingml/2006/main">
              <a:ext uri="{FF2B5EF4-FFF2-40B4-BE49-F238E27FC236}">
                <a16:creationId xmlns:a16="http://schemas.microsoft.com/office/drawing/2014/main" id="{34C62D74-ED13-4478-AF5C-7F6E686AC6E2}"/>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88F934A-C769-4F51-B167-0638F7B8557C}"/>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D8C936B4-EDB3-4D0F-B39D-14FB24DFF3F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36</a:t>
            </a:r>
          </a:p>
        </p:txBody>
      </p:sp>
    </p:spTree>
    <p:extLst>
      <p:ext uri="{BB962C8B-B14F-4D97-AF65-F5344CB8AC3E}">
        <p14:creationId xmlns:p14="http://schemas.microsoft.com/office/powerpoint/2010/main" val="49051313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B29F9B0-46D0-4217-9D50-8E397A3C053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2F7098-9DB7-4F2B-8A57-E2E9908CB4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56F4BA8-C715-444F-8089-D156F466E17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12531578-AD4D-4ADF-88DC-B731C3E6B0E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3C3F816-61CE-4915-9A86-52ECB77D6D8C}"/>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B8D2BA22-373E-41CA-80E1-66116CA2A34D}"/>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BA4ABBF-A017-46B1-B62E-AA0470AB8D64}"/>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145B2400-D1E3-4800-9E9A-15AF4BF2EA03}"/>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EC8C4FB-BDD5-4BE6-95E6-2A742AF7065A}"/>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503F4345-C1A3-4526-B2E9-201D8E5C320C}"/>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7A01BBF-5703-443B-B8BC-A87E7E28CCA4}"/>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4BD668C8-7B4A-4359-BF2B-3168473723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37</a:t>
            </a:r>
          </a:p>
        </p:txBody>
      </p:sp>
    </p:spTree>
    <p:extLst>
      <p:ext uri="{BB962C8B-B14F-4D97-AF65-F5344CB8AC3E}">
        <p14:creationId xmlns:p14="http://schemas.microsoft.com/office/powerpoint/2010/main" val="153518657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432FDE4-B466-49CC-AFD2-F8BD41A6845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15DB51-8519-4C08-914A-ADEF54EE093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E78899A5-1B2F-48DB-9A27-20ED3F623D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Classification and cost submission</a:t>
            </a:r>
          </a:p>
        </p:txBody>
      </p:sp>
      <p:sp>
        <p:nvSpPr>
          <p:cNvPr id="4" name="">
            <a:extLst xmlns:a="http://schemas.openxmlformats.org/drawingml/2006/main">
              <a:ext uri="{FF2B5EF4-FFF2-40B4-BE49-F238E27FC236}">
                <a16:creationId xmlns:a16="http://schemas.microsoft.com/office/drawing/2014/main" id="{404AA734-6D64-40E1-944B-579E2FCF04EF}"/>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8F60FBA-3FF5-4D1A-8BC9-E588B1252CE9}"/>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06 Nov 2026, 11:00 Kampala</a:t>
            </a:r>
          </a:p>
        </p:txBody>
      </p:sp>
      <p:sp>
        <p:nvSpPr>
          <p:cNvPr id="6" name="">
            <a:extLst xmlns:a="http://schemas.openxmlformats.org/drawingml/2006/main">
              <a:ext uri="{FF2B5EF4-FFF2-40B4-BE49-F238E27FC236}">
                <a16:creationId xmlns:a16="http://schemas.microsoft.com/office/drawing/2014/main" id="{3AA65172-11DE-4D48-94CF-907989471723}"/>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1C702D7-51F6-416C-A03C-69E907F545FD}"/>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13 Nov 2026, 11:00 Kampala</a:t>
            </a:r>
          </a:p>
        </p:txBody>
      </p:sp>
      <p:sp>
        <p:nvSpPr>
          <p:cNvPr id="8" name="">
            <a:extLst xmlns:a="http://schemas.openxmlformats.org/drawingml/2006/main">
              <a:ext uri="{FF2B5EF4-FFF2-40B4-BE49-F238E27FC236}">
                <a16:creationId xmlns:a16="http://schemas.microsoft.com/office/drawing/2014/main" id="{C15A5688-CCAD-4AF6-A042-A730FAAF07A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D70E224-2FC3-428D-8C73-966AFD381CAE}"/>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B39E3712-1DEE-4234-9999-52893AB96A13}"/>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CF1CF5D-FB16-4AD8-9402-560373648F5D}"/>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A8E70695-BB94-47BC-9E3F-FB04801CD1A4}"/>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FC24C61-BFE5-4B37-AA57-297742FFEF55}"/>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5c4c70e27cf481f"/>
              </a:rPr>
              <a:t>Open W09 assignment form</a:t>
            </a:r>
          </a:p>
        </p:txBody>
      </p:sp>
      <p:sp>
        <p:nvSpPr>
          <p:cNvPr id="14" name="">
            <a:extLst xmlns:a="http://schemas.openxmlformats.org/drawingml/2006/main">
              <a:ext uri="{FF2B5EF4-FFF2-40B4-BE49-F238E27FC236}">
                <a16:creationId xmlns:a16="http://schemas.microsoft.com/office/drawing/2014/main" id="{050E0C70-69CC-47D7-8FE6-7158612E1AE0}"/>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https://docs.google.com/forms/d/e/1FAIpQLSfelPFlgqIQS1vM0QDthocg7aIU_WLXNjL4g1DdZAJyKcm9eA/viewform</a:t>
            </a:r>
          </a:p>
        </p:txBody>
      </p:sp>
      <p:sp>
        <p:nvSpPr>
          <p:cNvPr id="15" name="">
            <a:extLst xmlns:a="http://schemas.openxmlformats.org/drawingml/2006/main">
              <a:ext uri="{FF2B5EF4-FFF2-40B4-BE49-F238E27FC236}">
                <a16:creationId xmlns:a16="http://schemas.microsoft.com/office/drawing/2014/main" id="{A18B4F9D-E0A1-4702-81C3-18E64EEAFBB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38</a:t>
            </a:r>
          </a:p>
        </p:txBody>
      </p:sp>
    </p:spTree>
    <p:extLst>
      <p:ext uri="{BB962C8B-B14F-4D97-AF65-F5344CB8AC3E}">
        <p14:creationId xmlns:p14="http://schemas.microsoft.com/office/powerpoint/2010/main" val="160966225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4A36CE9-80EF-49F7-8DD3-EB3049E9C4C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9FBFD7-9BCD-4F67-A5A5-1D78B243F5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D91D4EAF-238E-4EC3-93A0-972306E10C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9 quiz</a:t>
            </a:r>
          </a:p>
        </p:txBody>
      </p:sp>
      <p:sp>
        <p:nvSpPr>
          <p:cNvPr id="4" name="">
            <a:extLst xmlns:a="http://schemas.openxmlformats.org/drawingml/2006/main">
              <a:ext uri="{FF2B5EF4-FFF2-40B4-BE49-F238E27FC236}">
                <a16:creationId xmlns:a16="http://schemas.microsoft.com/office/drawing/2014/main" id="{38B04802-BC5D-4501-B632-A9EA9953CB50}"/>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46E4F25-18EE-43D7-B915-033AA232BC3D}"/>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CA0898A8-40A9-44EB-AD18-78F01F1605BD}"/>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CA4FF72-A5E7-471D-9B6E-96E6DE101326}"/>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890E12B3-017D-4782-A723-E1BEDF5D3036}"/>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1103791-7914-4200-AE73-E27715B39680}"/>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10A4301F-EE46-4DD9-B193-0C98F528502B}"/>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56F509D-504D-4961-BEA7-B96DB9E5F703}"/>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42e3af8b8b0645ae"/>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D6136F9-3E28-4B4A-AB6E-3C00321313A2}"/>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3106527E-CCCA-4AD7-91F7-B99CDAEDFAA3}"/>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49A4E61-8763-4DC7-BC93-0A4F92C2C6A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b90ba47dde2645cb"/>
              </a:rPr>
              <a:t>Open this week’s quiz</a:t>
            </a:r>
          </a:p>
        </p:txBody>
      </p:sp>
      <p:sp>
        <p:nvSpPr>
          <p:cNvPr id="16" name="">
            <a:extLst xmlns:a="http://schemas.openxmlformats.org/drawingml/2006/main">
              <a:ext uri="{FF2B5EF4-FFF2-40B4-BE49-F238E27FC236}">
                <a16:creationId xmlns:a16="http://schemas.microsoft.com/office/drawing/2014/main" id="{337FBFEC-22AF-4F47-A513-7DF44AB78948}"/>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https://forms.gle/U2h5A1itpmZZTogm6</a:t>
            </a:r>
          </a:p>
        </p:txBody>
      </p:sp>
      <p:sp>
        <p:nvSpPr>
          <p:cNvPr id="17" name="">
            <a:extLst xmlns:a="http://schemas.openxmlformats.org/drawingml/2006/main">
              <a:ext uri="{FF2B5EF4-FFF2-40B4-BE49-F238E27FC236}">
                <a16:creationId xmlns:a16="http://schemas.microsoft.com/office/drawing/2014/main" id="{9536F398-BB18-49A9-9920-3E190A2754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39</a:t>
            </a:r>
          </a:p>
        </p:txBody>
      </p:sp>
    </p:spTree>
    <p:extLst>
      <p:ext uri="{BB962C8B-B14F-4D97-AF65-F5344CB8AC3E}">
        <p14:creationId xmlns:p14="http://schemas.microsoft.com/office/powerpoint/2010/main" val="426933817"/>
      </p:ext>
    </p:extLst>
  </p:cSld>
</p:sld>
</file>

<file path=ppt/slides/slide40.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001540-FC0D-4B47-9FDB-A34AD180B5D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BCB18188-9233-4FE6-A100-958B3FA8FB1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A565937A-BBD2-4582-BAA1-9D80FDE98308}"/>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09F7AEAF-66A0-447A-B30A-6458DAE4BBA0}"/>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identify a false negative and explain precision and recall with counts.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F2579DC6-12ED-49CF-958B-155A4B0C83D5}"/>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E796B85F-2BC6-482E-B400-08CE99FC79D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9   40</a:t>
            </a:r>
          </a:p>
        </p:txBody>
      </p:sp>
    </p:spTree>
    <p:extLst>
      <p:ext uri="{BB962C8B-B14F-4D97-AF65-F5344CB8AC3E}">
        <p14:creationId xmlns:p14="http://schemas.microsoft.com/office/powerpoint/2010/main" val="107288267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D148BF7-BBF8-4129-A796-B345F4571B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EE76C4-F3F7-4D14-94D0-F9C5DB4A22F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70CFFEF3-86B5-4B76-B5C9-5866874DAC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756AD192-40F2-4DD5-82D1-7D06D34BFA9C}"/>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5157E40-0B84-433D-A7F3-CEFB6E7AB50C}"/>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6A255A85-C689-4453-8117-9DFE754EF244}"/>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31901B2-64A9-427F-A80E-2CA90104ACB7}"/>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Machine Learning Fundamentals The Confusion Matrix</a:t>
            </a:r>
          </a:p>
        </p:txBody>
      </p:sp>
      <p:sp>
        <p:nvSpPr>
          <p:cNvPr id="8" name="">
            <a:extLst xmlns:a="http://schemas.openxmlformats.org/drawingml/2006/main">
              <a:ext uri="{FF2B5EF4-FFF2-40B4-BE49-F238E27FC236}">
                <a16:creationId xmlns:a16="http://schemas.microsoft.com/office/drawing/2014/main" id="{A0322FBA-F3E8-419D-AE37-0A0E29AA62D0}"/>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817E86C-45F1-445A-92A6-BEEA53C895E7}"/>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965FEF3C-2073-4A70-964D-D568FF288E68}"/>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E263ED8-4A8D-41BE-B494-476A53AB8E7D}"/>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Which observations are correctly or incorrectly classified?</a:t>
            </a:r>
          </a:p>
        </p:txBody>
      </p:sp>
      <p:sp>
        <p:nvSpPr>
          <p:cNvPr id="12" name="">
            <a:extLst xmlns:a="http://schemas.openxmlformats.org/drawingml/2006/main">
              <a:ext uri="{FF2B5EF4-FFF2-40B4-BE49-F238E27FC236}">
                <a16:creationId xmlns:a16="http://schemas.microsoft.com/office/drawing/2014/main" id="{56A44EB4-4E7A-4DF8-8FF7-CC5757B85349}"/>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D9748E3-011E-4A9B-B88A-51A1D9570845}"/>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43eb535c5d194097"/>
              </a:rPr>
              <a:t>Open explainer video</a:t>
            </a:r>
          </a:p>
        </p:txBody>
      </p:sp>
      <p:sp>
        <p:nvSpPr>
          <p:cNvPr id="14" name="">
            <a:extLst xmlns:a="http://schemas.openxmlformats.org/drawingml/2006/main">
              <a:ext uri="{FF2B5EF4-FFF2-40B4-BE49-F238E27FC236}">
                <a16:creationId xmlns:a16="http://schemas.microsoft.com/office/drawing/2014/main" id="{20E7D0FB-C370-410F-BD21-8F3CADB890AD}"/>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https://www.youtube.com/watch?v=Kdsp6soqA7o</a:t>
            </a:r>
          </a:p>
        </p:txBody>
      </p:sp>
      <p:sp>
        <p:nvSpPr>
          <p:cNvPr id="15" name="">
            <a:extLst xmlns:a="http://schemas.openxmlformats.org/drawingml/2006/main">
              <a:ext uri="{FF2B5EF4-FFF2-40B4-BE49-F238E27FC236}">
                <a16:creationId xmlns:a16="http://schemas.microsoft.com/office/drawing/2014/main" id="{5C877F10-133D-4CF1-81A5-00350061B2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9   41</a:t>
            </a:r>
          </a:p>
        </p:txBody>
      </p:sp>
    </p:spTree>
    <p:extLst>
      <p:ext uri="{BB962C8B-B14F-4D97-AF65-F5344CB8AC3E}">
        <p14:creationId xmlns:p14="http://schemas.microsoft.com/office/powerpoint/2010/main" val="9631680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2026-09-28T21:46:41.4650000Z</dcterms:created>
  <dcterms:modified xsi:type="dcterms:W3CDTF">2026-09-28T21:46:41.4650000Z</dcterms:modified>
</coreProperties>
</file>