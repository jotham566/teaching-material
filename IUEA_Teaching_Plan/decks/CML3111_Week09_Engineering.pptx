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2bdac8c28064dad" /><Relationship Type="http://schemas.openxmlformats.org/officeDocument/2006/relationships/extended-properties" Target="/docProps/app.xml" Id="R211e1c151b534248" /><Relationship Type="http://schemas.openxmlformats.org/officeDocument/2006/relationships/officeDocument" Target="/ppt/presentation.xml" Id="Re82dc0816b814c9c" /></Relationships>
</file>

<file path=ppt/presentation.xml><?xml version="1.0" encoding="utf-8"?>
<p:presentation xmlns:p="http://schemas.openxmlformats.org/presentationml/2006/main">
  <p:sldMasterIdLst>
    <p:sldMasterId xmlns:r="http://schemas.openxmlformats.org/officeDocument/2006/relationships" id="2147483648" r:id="R71efceec4083409a"/>
  </p:sldMasterIdLst>
  <p:notesMasterIdLst>
    <p:notesMasterId xmlns:r="http://schemas.openxmlformats.org/officeDocument/2006/relationships" r:id="R1276af4212e84382"/>
  </p:notesMasterIdLst>
  <p:sldIdLst>
    <p:sldId xmlns:r="http://schemas.openxmlformats.org/officeDocument/2006/relationships" id="256" r:id="R3ffdd6ffcd5a4fec"/>
    <p:sldId xmlns:r="http://schemas.openxmlformats.org/officeDocument/2006/relationships" id="257" r:id="Ra45340b503374a0e"/>
    <p:sldId xmlns:r="http://schemas.openxmlformats.org/officeDocument/2006/relationships" id="258" r:id="R4c87ea22516a4002"/>
    <p:sldId xmlns:r="http://schemas.openxmlformats.org/officeDocument/2006/relationships" id="259" r:id="R0a7f6a3918da4343"/>
    <p:sldId xmlns:r="http://schemas.openxmlformats.org/officeDocument/2006/relationships" id="260" r:id="Ra7b7082fd2a34730"/>
    <p:sldId xmlns:r="http://schemas.openxmlformats.org/officeDocument/2006/relationships" id="261" r:id="Rfe7d5d10e0944f62"/>
    <p:sldId xmlns:r="http://schemas.openxmlformats.org/officeDocument/2006/relationships" id="262" r:id="R524abcd6451a4aa6"/>
    <p:sldId xmlns:r="http://schemas.openxmlformats.org/officeDocument/2006/relationships" id="263" r:id="R840d063f1a1a4089"/>
    <p:sldId xmlns:r="http://schemas.openxmlformats.org/officeDocument/2006/relationships" id="264" r:id="R9edf297bc3ec4fb8"/>
    <p:sldId xmlns:r="http://schemas.openxmlformats.org/officeDocument/2006/relationships" id="265" r:id="R3ac7ab53ead7446b"/>
    <p:sldId xmlns:r="http://schemas.openxmlformats.org/officeDocument/2006/relationships" id="266" r:id="R056d53327d70494a"/>
    <p:sldId xmlns:r="http://schemas.openxmlformats.org/officeDocument/2006/relationships" id="267" r:id="R78be50aa36f64ff2"/>
    <p:sldId xmlns:r="http://schemas.openxmlformats.org/officeDocument/2006/relationships" id="268" r:id="Ra260353ef1e04c6c"/>
    <p:sldId xmlns:r="http://schemas.openxmlformats.org/officeDocument/2006/relationships" id="269" r:id="R87f8ff88b9e2400a"/>
    <p:sldId xmlns:r="http://schemas.openxmlformats.org/officeDocument/2006/relationships" id="270" r:id="Rb02d35b5b1dd40c0"/>
    <p:sldId xmlns:r="http://schemas.openxmlformats.org/officeDocument/2006/relationships" id="271" r:id="R6837e096b7524e1d"/>
    <p:sldId xmlns:r="http://schemas.openxmlformats.org/officeDocument/2006/relationships" id="272" r:id="Rde83047187244ce1"/>
    <p:sldId xmlns:r="http://schemas.openxmlformats.org/officeDocument/2006/relationships" id="273" r:id="Re239af40ea7b426c"/>
    <p:sldId xmlns:r="http://schemas.openxmlformats.org/officeDocument/2006/relationships" id="274" r:id="Ra01abdaaa1a14832"/>
    <p:sldId xmlns:r="http://schemas.openxmlformats.org/officeDocument/2006/relationships" id="275" r:id="Rbde79bff213a4b8b"/>
    <p:sldId xmlns:r="http://schemas.openxmlformats.org/officeDocument/2006/relationships" id="276" r:id="Rf427f467a3bf4f99"/>
    <p:sldId xmlns:r="http://schemas.openxmlformats.org/officeDocument/2006/relationships" id="277" r:id="R9daf6030196248e5"/>
    <p:sldId xmlns:r="http://schemas.openxmlformats.org/officeDocument/2006/relationships" id="278" r:id="R834562c573904292"/>
    <p:sldId xmlns:r="http://schemas.openxmlformats.org/officeDocument/2006/relationships" id="279" r:id="Rafd7b813adbc41bd"/>
    <p:sldId xmlns:r="http://schemas.openxmlformats.org/officeDocument/2006/relationships" id="280" r:id="Rb554a9e61675450e"/>
    <p:sldId xmlns:r="http://schemas.openxmlformats.org/officeDocument/2006/relationships" id="281" r:id="R968efa11fb3d487a"/>
    <p:sldId xmlns:r="http://schemas.openxmlformats.org/officeDocument/2006/relationships" id="282" r:id="R7883c4c6a8ff4b32"/>
    <p:sldId xmlns:r="http://schemas.openxmlformats.org/officeDocument/2006/relationships" id="283" r:id="R2b604582697d4889"/>
    <p:sldId xmlns:r="http://schemas.openxmlformats.org/officeDocument/2006/relationships" id="284" r:id="R98e498e9121b406e"/>
    <p:sldId xmlns:r="http://schemas.openxmlformats.org/officeDocument/2006/relationships" id="285" r:id="Rce40ad81a85b43f5"/>
    <p:sldId xmlns:r="http://schemas.openxmlformats.org/officeDocument/2006/relationships" id="286" r:id="R093c6809cd6f477c"/>
    <p:sldId xmlns:r="http://schemas.openxmlformats.org/officeDocument/2006/relationships" id="287" r:id="Rd831a8cd35b446ce"/>
    <p:sldId xmlns:r="http://schemas.openxmlformats.org/officeDocument/2006/relationships" id="288" r:id="R9940ba78a20a461c"/>
    <p:sldId xmlns:r="http://schemas.openxmlformats.org/officeDocument/2006/relationships" id="289" r:id="R71fad7e05419494a"/>
    <p:sldId xmlns:r="http://schemas.openxmlformats.org/officeDocument/2006/relationships" id="290" r:id="Raf74cbe7f6f44b2c"/>
    <p:sldId xmlns:r="http://schemas.openxmlformats.org/officeDocument/2006/relationships" id="291" r:id="R6eab90a213ad4229"/>
    <p:sldId xmlns:r="http://schemas.openxmlformats.org/officeDocument/2006/relationships" id="292" r:id="R4c82488157364eba"/>
    <p:sldId xmlns:r="http://schemas.openxmlformats.org/officeDocument/2006/relationships" id="293" r:id="R1f4cd71ef1df47f4"/>
    <p:sldId xmlns:r="http://schemas.openxmlformats.org/officeDocument/2006/relationships" id="294" r:id="R620412783d1040a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18f74b9540c4fea" /><Relationship Type="http://schemas.openxmlformats.org/officeDocument/2006/relationships/slideMaster" Target="/ppt/slideMasters/slideMaster1.xml" Id="R71efceec4083409a" /><Relationship Type="http://schemas.openxmlformats.org/officeDocument/2006/relationships/notesMaster" Target="/ppt/notesMasters/notesMaster1.xml" Id="R1276af4212e84382" /><Relationship Type="http://schemas.openxmlformats.org/officeDocument/2006/relationships/presProps" Target="/ppt/presProps.xml" Id="Rd60f32ca476943b9" /><Relationship Type="http://schemas.openxmlformats.org/officeDocument/2006/relationships/tableStyles" Target="/ppt/tableStyles.xml" Id="Rdf6a999c57764f60" /><Relationship Type="http://schemas.openxmlformats.org/officeDocument/2006/relationships/slide" Target="/ppt/slides/slide1.xml" Id="R3ffdd6ffcd5a4fec" /><Relationship Type="http://schemas.openxmlformats.org/officeDocument/2006/relationships/slide" Target="/ppt/slides/slide2.xml" Id="Ra45340b503374a0e" /><Relationship Type="http://schemas.openxmlformats.org/officeDocument/2006/relationships/slide" Target="/ppt/slides/slide3.xml" Id="R4c87ea22516a4002" /><Relationship Type="http://schemas.openxmlformats.org/officeDocument/2006/relationships/slide" Target="/ppt/slides/slide4.xml" Id="R0a7f6a3918da4343" /><Relationship Type="http://schemas.openxmlformats.org/officeDocument/2006/relationships/slide" Target="/ppt/slides/slide5.xml" Id="Ra7b7082fd2a34730" /><Relationship Type="http://schemas.openxmlformats.org/officeDocument/2006/relationships/slide" Target="/ppt/slides/slide6.xml" Id="Rfe7d5d10e0944f62" /><Relationship Type="http://schemas.openxmlformats.org/officeDocument/2006/relationships/slide" Target="/ppt/slides/slide7.xml" Id="R524abcd6451a4aa6" /><Relationship Type="http://schemas.openxmlformats.org/officeDocument/2006/relationships/slide" Target="/ppt/slides/slide8.xml" Id="R840d063f1a1a4089" /><Relationship Type="http://schemas.openxmlformats.org/officeDocument/2006/relationships/slide" Target="/ppt/slides/slide9.xml" Id="R9edf297bc3ec4fb8" /><Relationship Type="http://schemas.openxmlformats.org/officeDocument/2006/relationships/slide" Target="/ppt/slides/slide10.xml" Id="R3ac7ab53ead7446b" /><Relationship Type="http://schemas.openxmlformats.org/officeDocument/2006/relationships/slide" Target="/ppt/slides/slide11.xml" Id="R056d53327d70494a" /><Relationship Type="http://schemas.openxmlformats.org/officeDocument/2006/relationships/slide" Target="/ppt/slides/slide12.xml" Id="R78be50aa36f64ff2" /><Relationship Type="http://schemas.openxmlformats.org/officeDocument/2006/relationships/slide" Target="/ppt/slides/slide13.xml" Id="Ra260353ef1e04c6c" /><Relationship Type="http://schemas.openxmlformats.org/officeDocument/2006/relationships/slide" Target="/ppt/slides/slide14.xml" Id="R87f8ff88b9e2400a" /><Relationship Type="http://schemas.openxmlformats.org/officeDocument/2006/relationships/slide" Target="/ppt/slides/slide15.xml" Id="Rb02d35b5b1dd40c0" /><Relationship Type="http://schemas.openxmlformats.org/officeDocument/2006/relationships/slide" Target="/ppt/slides/slide16.xml" Id="R6837e096b7524e1d" /><Relationship Type="http://schemas.openxmlformats.org/officeDocument/2006/relationships/slide" Target="/ppt/slides/slide17.xml" Id="Rde83047187244ce1" /><Relationship Type="http://schemas.openxmlformats.org/officeDocument/2006/relationships/slide" Target="/ppt/slides/slide18.xml" Id="Re239af40ea7b426c" /><Relationship Type="http://schemas.openxmlformats.org/officeDocument/2006/relationships/slide" Target="/ppt/slides/slide19.xml" Id="Ra01abdaaa1a14832" /><Relationship Type="http://schemas.openxmlformats.org/officeDocument/2006/relationships/slide" Target="/ppt/slides/slide20.xml" Id="Rbde79bff213a4b8b" /><Relationship Type="http://schemas.openxmlformats.org/officeDocument/2006/relationships/slide" Target="/ppt/slides/slide21.xml" Id="Rf427f467a3bf4f99" /><Relationship Type="http://schemas.openxmlformats.org/officeDocument/2006/relationships/slide" Target="/ppt/slides/slide22.xml" Id="R9daf6030196248e5" /><Relationship Type="http://schemas.openxmlformats.org/officeDocument/2006/relationships/slide" Target="/ppt/slides/slide23.xml" Id="R834562c573904292" /><Relationship Type="http://schemas.openxmlformats.org/officeDocument/2006/relationships/slide" Target="/ppt/slides/slide24.xml" Id="Rafd7b813adbc41bd" /><Relationship Type="http://schemas.openxmlformats.org/officeDocument/2006/relationships/slide" Target="/ppt/slides/slide25.xml" Id="Rb554a9e61675450e" /><Relationship Type="http://schemas.openxmlformats.org/officeDocument/2006/relationships/slide" Target="/ppt/slides/slide26.xml" Id="R968efa11fb3d487a" /><Relationship Type="http://schemas.openxmlformats.org/officeDocument/2006/relationships/slide" Target="/ppt/slides/slide27.xml" Id="R7883c4c6a8ff4b32" /><Relationship Type="http://schemas.openxmlformats.org/officeDocument/2006/relationships/slide" Target="/ppt/slides/slide28.xml" Id="R2b604582697d4889" /><Relationship Type="http://schemas.openxmlformats.org/officeDocument/2006/relationships/slide" Target="/ppt/slides/slide29.xml" Id="R98e498e9121b406e" /><Relationship Type="http://schemas.openxmlformats.org/officeDocument/2006/relationships/slide" Target="/ppt/slides/slide30.xml" Id="Rce40ad81a85b43f5" /><Relationship Type="http://schemas.openxmlformats.org/officeDocument/2006/relationships/slide" Target="/ppt/slides/slide31.xml" Id="R093c6809cd6f477c" /><Relationship Type="http://schemas.openxmlformats.org/officeDocument/2006/relationships/slide" Target="/ppt/slides/slide32.xml" Id="Rd831a8cd35b446ce" /><Relationship Type="http://schemas.openxmlformats.org/officeDocument/2006/relationships/slide" Target="/ppt/slides/slide33.xml" Id="R9940ba78a20a461c" /><Relationship Type="http://schemas.openxmlformats.org/officeDocument/2006/relationships/slide" Target="/ppt/slides/slide34.xml" Id="R71fad7e05419494a" /><Relationship Type="http://schemas.openxmlformats.org/officeDocument/2006/relationships/slide" Target="/ppt/slides/slide35.xml" Id="Raf74cbe7f6f44b2c" /><Relationship Type="http://schemas.openxmlformats.org/officeDocument/2006/relationships/slide" Target="/ppt/slides/slide36.xml" Id="R6eab90a213ad4229" /><Relationship Type="http://schemas.openxmlformats.org/officeDocument/2006/relationships/slide" Target="/ppt/slides/slide37.xml" Id="R4c82488157364eba" /><Relationship Type="http://schemas.openxmlformats.org/officeDocument/2006/relationships/slide" Target="/ppt/slides/slide38.xml" Id="R1f4cd71ef1df47f4" /><Relationship Type="http://schemas.openxmlformats.org/officeDocument/2006/relationships/slide" Target="/ppt/slides/slide39.xml" Id="R620412783d1040a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4cd81f204d347f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0fd901d0084f89" /><Relationship Type="http://schemas.openxmlformats.org/officeDocument/2006/relationships/notesMaster" Target="/ppt/notesMasters/notesMaster1.xml" Id="R9904934abbff442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9a75dd54a347a7" /><Relationship Type="http://schemas.openxmlformats.org/officeDocument/2006/relationships/notesMaster" Target="/ppt/notesMasters/notesMaster1.xml" Id="R1c1d71df8a114823"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d01044bd9147ba" /><Relationship Type="http://schemas.openxmlformats.org/officeDocument/2006/relationships/notesMaster" Target="/ppt/notesMasters/notesMaster1.xml" Id="R5692bafc756d4b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193c32ecb84973" /><Relationship Type="http://schemas.openxmlformats.org/officeDocument/2006/relationships/notesMaster" Target="/ppt/notesMasters/notesMaster1.xml" Id="Rb3e384a037474a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9fd07f9886a48fb" /><Relationship Type="http://schemas.openxmlformats.org/officeDocument/2006/relationships/notesMaster" Target="/ppt/notesMasters/notesMaster1.xml" Id="Rd7b2a1d00f3c4643" /></Relationships>
</file>

<file path=ppt/notesSlides/_rels/notesSlide6.xml.rels>&#65279;<?xml version="1.0" encoding="utf-8"?><Relationships xmlns="http://schemas.openxmlformats.org/package/2006/relationships"><Relationship Type="http://schemas.openxmlformats.org/officeDocument/2006/relationships/slide" Target="/ppt/slides/slide6.xml" Id="Reb7acc6999984a7d" /><Relationship Type="http://schemas.openxmlformats.org/officeDocument/2006/relationships/notesMaster" Target="/ppt/notesMasters/notesMaster1.xml" Id="Rcbac442cf4964c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84bb66eed4f24bc6" /><Relationship Type="http://schemas.openxmlformats.org/officeDocument/2006/relationships/notesMaster" Target="/ppt/notesMasters/notesMaster1.xml" Id="Rc309d11537c24f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9a0b8ce66d294d13" /><Relationship Type="http://schemas.openxmlformats.org/officeDocument/2006/relationships/notesMaster" Target="/ppt/notesMasters/notesMaster1.xml" Id="R0221bc1fced246d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75fdc3a77fd4a3a" /><Relationship Type="http://schemas.openxmlformats.org/officeDocument/2006/relationships/notesMaster" Target="/ppt/notesMasters/notesMaster1.xml" Id="R0aa7afa0a29c4e7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0c4ab08a27b4178" /><Relationship Type="http://schemas.openxmlformats.org/officeDocument/2006/relationships/notesMaster" Target="/ppt/notesMasters/notesMaster1.xml" Id="Rf031ae93cbf5498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f62a57b6c0e44a8" /><Relationship Type="http://schemas.openxmlformats.org/officeDocument/2006/relationships/notesMaster" Target="/ppt/notesMasters/notesMaster1.xml" Id="R47e2d9a622d8403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9c4d20499864e3c" /><Relationship Type="http://schemas.openxmlformats.org/officeDocument/2006/relationships/notesMaster" Target="/ppt/notesMasters/notesMaster1.xml" Id="R1ab24260a397444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268e812a3a34e8e" /><Relationship Type="http://schemas.openxmlformats.org/officeDocument/2006/relationships/notesMaster" Target="/ppt/notesMasters/notesMaster1.xml" Id="R1fc581539546440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b474a752a664075" /><Relationship Type="http://schemas.openxmlformats.org/officeDocument/2006/relationships/notesMaster" Target="/ppt/notesMasters/notesMaster1.xml" Id="Rccd732eee8c349f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8a77f6f96d94b36" /><Relationship Type="http://schemas.openxmlformats.org/officeDocument/2006/relationships/notesMaster" Target="/ppt/notesMasters/notesMaster1.xml" Id="R237a62ba1aba48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cacf95a5619483f" /><Relationship Type="http://schemas.openxmlformats.org/officeDocument/2006/relationships/notesMaster" Target="/ppt/notesMasters/notesMaster1.xml" Id="R80d0debf6c6b497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e9aa629f1f64d8d" /><Relationship Type="http://schemas.openxmlformats.org/officeDocument/2006/relationships/notesMaster" Target="/ppt/notesMasters/notesMaster1.xml" Id="Rd5066f3cb4b6451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58757a79c0c4d79" /><Relationship Type="http://schemas.openxmlformats.org/officeDocument/2006/relationships/notesMaster" Target="/ppt/notesMasters/notesMaster1.xml" Id="R01117f0d991e433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a274bbffc56464a" /><Relationship Type="http://schemas.openxmlformats.org/officeDocument/2006/relationships/notesMaster" Target="/ppt/notesMasters/notesMaster1.xml" Id="R0d15c8931f184b7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2e7ab1fe5d54855" /><Relationship Type="http://schemas.openxmlformats.org/officeDocument/2006/relationships/notesMaster" Target="/ppt/notesMasters/notesMaster1.xml" Id="R3e7b2e4c4551468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3d0d8eaacb844d3" /><Relationship Type="http://schemas.openxmlformats.org/officeDocument/2006/relationships/notesMaster" Target="/ppt/notesMasters/notesMaster1.xml" Id="R34907da79038474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381e68070344b66" /><Relationship Type="http://schemas.openxmlformats.org/officeDocument/2006/relationships/notesMaster" Target="/ppt/notesMasters/notesMaster1.xml" Id="R4ca945f10dc4444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1dab6d7774f4c79" /><Relationship Type="http://schemas.openxmlformats.org/officeDocument/2006/relationships/notesMaster" Target="/ppt/notesMasters/notesMaster1.xml" Id="R011673efdf41498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2125f6964e244ad" /><Relationship Type="http://schemas.openxmlformats.org/officeDocument/2006/relationships/notesMaster" Target="/ppt/notesMasters/notesMaster1.xml" Id="R843f7da337754fe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c076b6ce5f84ae2" /><Relationship Type="http://schemas.openxmlformats.org/officeDocument/2006/relationships/notesMaster" Target="/ppt/notesMasters/notesMaster1.xml" Id="Rcaeb384cb66345d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f7f199b336a4283" /><Relationship Type="http://schemas.openxmlformats.org/officeDocument/2006/relationships/notesMaster" Target="/ppt/notesMasters/notesMaster1.xml" Id="R2ae00cd5b4d04b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2621973cab742c4" /><Relationship Type="http://schemas.openxmlformats.org/officeDocument/2006/relationships/notesMaster" Target="/ppt/notesMasters/notesMaster1.xml" Id="R3f73eab95fba47b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47ba88d315249dd" /><Relationship Type="http://schemas.openxmlformats.org/officeDocument/2006/relationships/notesMaster" Target="/ppt/notesMasters/notesMaster1.xml" Id="R202563fecf1d42e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fc6097d320a49a1" /><Relationship Type="http://schemas.openxmlformats.org/officeDocument/2006/relationships/notesMaster" Target="/ppt/notesMasters/notesMaster1.xml" Id="Rdaaf5da7732c411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f6ce7bdf2f94e1b" /><Relationship Type="http://schemas.openxmlformats.org/officeDocument/2006/relationships/notesMaster" Target="/ppt/notesMasters/notesMaster1.xml" Id="Rdc7d044bceb2431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8d591fc12f64598" /><Relationship Type="http://schemas.openxmlformats.org/officeDocument/2006/relationships/notesMaster" Target="/ppt/notesMasters/notesMaster1.xml" Id="R8821734f573b4cf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2ad235407d44403" /><Relationship Type="http://schemas.openxmlformats.org/officeDocument/2006/relationships/notesMaster" Target="/ppt/notesMasters/notesMaster1.xml" Id="Rfe63a1902df44b3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7f743770e5b424b" /><Relationship Type="http://schemas.openxmlformats.org/officeDocument/2006/relationships/notesMaster" Target="/ppt/notesMasters/notesMaster1.xml" Id="R99e78e210f87404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59ba031cbb74d37" /><Relationship Type="http://schemas.openxmlformats.org/officeDocument/2006/relationships/notesMaster" Target="/ppt/notesMasters/notesMaster1.xml" Id="Rd791ed3cd5bc4ce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c867b4cff8d4416" /><Relationship Type="http://schemas.openxmlformats.org/officeDocument/2006/relationships/notesMaster" Target="/ppt/notesMasters/notesMaster1.xml" Id="R07ca3f7c9d1942f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e6e1f3ae5f1417a" /><Relationship Type="http://schemas.openxmlformats.org/officeDocument/2006/relationships/notesMaster" Target="/ppt/notesMasters/notesMaster1.xml" Id="R376d367aabd24e6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3ebae8b60484d88" /><Relationship Type="http://schemas.openxmlformats.org/officeDocument/2006/relationships/notesMaster" Target="/ppt/notesMasters/notesMaster1.xml" Id="Rf789baa287da4e3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faf1c36fd18445c" /><Relationship Type="http://schemas.openxmlformats.org/officeDocument/2006/relationships/notesMaster" Target="/ppt/notesMasters/notesMaster1.xml" Id="Rec3185c4b6424dc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0a0fc73a6ed42e8" /><Relationship Type="http://schemas.openxmlformats.org/officeDocument/2006/relationships/notesMaster" Target="/ppt/notesMasters/notesMaster1.xml" Id="Ref1d485c4b5241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and the cost of mistakes</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Classification and the cost of mistakes</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Classification and the cost of mistakes. Explain why this example is needed before running it.</a:t>
            </a:r>
          </a:p>
          <a:p xmlns:a="http://schemas.openxmlformats.org/drawingml/2006/main">
            <a:r>
              <a:t/>
            </a:r>
          </a:p>
          <a:p xmlns:a="http://schemas.openxmlformats.org/drawingml/2006/main">
            <a:r>
              <a:t>EXPLAIN</a:t>
            </a:r>
          </a:p>
          <a:p xmlns:a="http://schemas.openxmlformats.org/drawingml/2006/main">
            <a:r>
              <a:t>Distinguish an actual label from a predicted label.</a:t>
            </a:r>
          </a:p>
          <a:p xmlns:a="http://schemas.openxmlformats.org/drawingml/2006/main">
            <a:r>
              <a:t/>
            </a:r>
          </a:p>
          <a:p xmlns:a="http://schemas.openxmlformats.org/drawingml/2006/main">
            <a:r>
              <a:t>Count prediction outcomes and explain their costs.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Classification and the cost of mistakes.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Three independently built classifiers, ROC/AUC and full threshold curves are extension after the basic matrix is secure.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Week 8 predicted a number. This week predicts a category and counts the different kinds of correct and incorrect result.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A warning system predicts a category. We compare each prediction with its recorded answer, then count false alarms and missed warnings using an explicit cost rule.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NEXT</a:t>
            </a:r>
          </a:p>
          <a:p xmlns:a="http://schemas.openxmlformats.org/drawingml/2006/main">
            <a:r>
              <a:t>The positive class.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positive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positive class</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In this example, 1 means a warning is needed.</a:t>
            </a:r>
          </a:p>
          <a:p xmlns:a="http://schemas.openxmlformats.org/drawingml/2006/main">
            <a:r>
              <a:t/>
            </a:r>
          </a:p>
          <a:p xmlns:a="http://schemas.openxmlformats.org/drawingml/2006/main">
            <a:r>
              <a:t>0 means a warning is not needed.</a:t>
            </a:r>
          </a:p>
          <a:p xmlns:a="http://schemas.openxmlformats.org/drawingml/2006/main">
            <a:r>
              <a:t/>
            </a:r>
          </a:p>
          <a:p xmlns:a="http://schemas.openxmlformats.org/drawingml/2006/main">
            <a:r>
              <a:t>Actual is the reference label. Predicted is the model’s label.</a:t>
            </a:r>
          </a:p>
          <a:p xmlns:a="http://schemas.openxmlformats.org/drawingml/2006/main">
            <a:r>
              <a:t/>
            </a:r>
          </a:p>
          <a:p xmlns:a="http://schemas.openxmlformats.org/drawingml/2006/main">
            <a:r>
              <a:t>A false negative misses a real 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positive class</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Class and positive label / TP and TN.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Class and positive label / TP and TN.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 and positive label / TP and TN</a:t>
            </a:r>
          </a:p>
          <a:p xmlns:a="http://schemas.openxmlformats.org/drawingml/2006/main">
            <a:r>
              <a:t/>
            </a:r>
          </a:p>
          <a:p xmlns:a="http://schemas.openxmlformats.org/drawingml/2006/main">
            <a:r>
              <a:t>CONNECT</a:t>
            </a:r>
          </a:p>
          <a:p xmlns:a="http://schemas.openxmlformats.org/drawingml/2006/main">
            <a:r>
              <a:t>Build on The positive class. Explain why this example is needed before running it.</a:t>
            </a:r>
          </a:p>
          <a:p xmlns:a="http://schemas.openxmlformats.org/drawingml/2006/main">
            <a:r>
              <a:t/>
            </a:r>
          </a:p>
          <a:p xmlns:a="http://schemas.openxmlformats.org/drawingml/2006/main">
            <a:r>
              <a:t>EXPLAIN</a:t>
            </a:r>
          </a:p>
          <a:p xmlns:a="http://schemas.openxmlformats.org/drawingml/2006/main">
            <a:r>
              <a:t>Class and positive label: A class is a category. Here 1 means warning and 0 means no warning. Positive means the named class, not good news.</a:t>
            </a:r>
          </a:p>
          <a:p xmlns:a="http://schemas.openxmlformats.org/drawingml/2006/main">
            <a:r>
              <a:t>TP and TN: True positive is a correctly flagged warning. True negative is a correctly unflagged non-warning.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 and positive label / TP and TN</a:t>
            </a:r>
          </a:p>
          <a:p xmlns:a="http://schemas.openxmlformats.org/drawingml/2006/main">
            <a:r>
              <a:t/>
            </a:r>
          </a:p>
          <a:p xmlns:a="http://schemas.openxmlformats.org/drawingml/2006/main">
            <a:r>
              <a:t>CONNECT</a:t>
            </a:r>
          </a:p>
          <a:p xmlns:a="http://schemas.openxmlformats.org/drawingml/2006/main">
            <a:r>
              <a:t>Build on the preceding slide: The positive class.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POINT TO THE DEFINITION</a:t>
            </a:r>
          </a:p>
          <a:p xmlns:a="http://schemas.openxmlformats.org/drawingml/2006/main">
            <a:r>
              <a:t>Class and positive label: A class is a category. Here 1 means warning and 0 means no warning. Positive means the named class, not good news.</a:t>
            </a:r>
          </a:p>
          <a:p xmlns:a="http://schemas.openxmlformats.org/drawingml/2006/main">
            <a:r>
              <a:t>TP and TN: True positive is a correctly flagged warning. True negative is a correctly unflagged non-warning.</a:t>
            </a:r>
          </a:p>
          <a:p xmlns:a="http://schemas.openxmlformats.org/drawingml/2006/main">
            <a:r>
              <a:t/>
            </a:r>
          </a:p>
          <a:p xmlns:a="http://schemas.openxmlformats.org/drawingml/2006/main">
            <a:r>
              <a:t>NEXT</a:t>
            </a:r>
          </a:p>
          <a:p xmlns:a="http://schemas.openxmlformats.org/drawingml/2006/main">
            <a:r>
              <a:t>FP and FN.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FP and FN.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FP and FN</a:t>
            </a:r>
          </a:p>
          <a:p xmlns:a="http://schemas.openxmlformats.org/drawingml/2006/main">
            <a:r>
              <a:t/>
            </a:r>
          </a:p>
          <a:p xmlns:a="http://schemas.openxmlformats.org/drawingml/2006/main">
            <a:r>
              <a:t>CONNECT</a:t>
            </a:r>
          </a:p>
          <a:p xmlns:a="http://schemas.openxmlformats.org/drawingml/2006/main">
            <a:r>
              <a:t>Build on Class and positive label / TP and TN. Explain why this example is needed before running it.</a:t>
            </a:r>
          </a:p>
          <a:p xmlns:a="http://schemas.openxmlformats.org/drawingml/2006/main">
            <a:r>
              <a:t/>
            </a:r>
          </a:p>
          <a:p xmlns:a="http://schemas.openxmlformats.org/drawingml/2006/main">
            <a:r>
              <a:t>EXPLAIN</a:t>
            </a:r>
          </a:p>
          <a:p xmlns:a="http://schemas.openxmlformats.org/drawingml/2006/main">
            <a:r>
              <a:t>FP and FN: False positive is a false alarm. False negative is a missed 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FP and FN</a:t>
            </a:r>
          </a:p>
          <a:p xmlns:a="http://schemas.openxmlformats.org/drawingml/2006/main">
            <a:r>
              <a:t/>
            </a:r>
          </a:p>
          <a:p xmlns:a="http://schemas.openxmlformats.org/drawingml/2006/main">
            <a:r>
              <a:t>CONNECT</a:t>
            </a:r>
          </a:p>
          <a:p xmlns:a="http://schemas.openxmlformats.org/drawingml/2006/main">
            <a:r>
              <a:t>Build on the preceding slide: Class and positive label / TP and TN.</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POINT TO THE DEFINITION</a:t>
            </a:r>
          </a:p>
          <a:p xmlns:a="http://schemas.openxmlformats.org/drawingml/2006/main">
            <a:r>
              <a:t>FP and FN: False positive is a false alarm. False negative is a missed warning.</a:t>
            </a:r>
          </a:p>
          <a:p xmlns:a="http://schemas.openxmlformats.org/drawingml/2006/main">
            <a:r>
              <a:t/>
            </a:r>
          </a:p>
          <a:p xmlns:a="http://schemas.openxmlformats.org/drawingml/2006/main">
            <a:r>
              <a:t>NEXT</a:t>
            </a:r>
          </a:p>
          <a:p xmlns:a="http://schemas.openxmlformats.org/drawingml/2006/main">
            <a:r>
              <a:t>Actual and predicted describe different things.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Actual and predicted describe different things.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Actual and predicted describe different things</a:t>
            </a:r>
          </a:p>
          <a:p xmlns:a="http://schemas.openxmlformats.org/drawingml/2006/main">
            <a:r>
              <a:t/>
            </a:r>
          </a:p>
          <a:p xmlns:a="http://schemas.openxmlformats.org/drawingml/2006/main">
            <a:r>
              <a:t>CONNECT</a:t>
            </a:r>
          </a:p>
          <a:p xmlns:a="http://schemas.openxmlformats.org/drawingml/2006/main">
            <a:r>
              <a:t>Build on FP and FN. Explain why this example is needed before running it.</a:t>
            </a:r>
          </a:p>
          <a:p xmlns:a="http://schemas.openxmlformats.org/drawingml/2006/main">
            <a:r>
              <a:t/>
            </a:r>
          </a:p>
          <a:p xmlns:a="http://schemas.openxmlformats.org/drawingml/2006/main">
            <a:r>
              <a:t>EXPLAIN</a:t>
            </a:r>
          </a:p>
          <a:p xmlns:a="http://schemas.openxmlformats.org/drawingml/2006/main">
            <a:r>
              <a:t>Actual is the recorded reference answer.</a:t>
            </a:r>
          </a:p>
          <a:p xmlns:a="http://schemas.openxmlformats.org/drawingml/2006/main">
            <a:r>
              <a:t/>
            </a:r>
          </a:p>
          <a:p xmlns:a="http://schemas.openxmlformats.org/drawingml/2006/main">
            <a:r>
              <a:t>Predicted is the answer produced by our model.</a:t>
            </a:r>
          </a:p>
          <a:p xmlns:a="http://schemas.openxmlformats.org/drawingml/2006/main">
            <a:r>
              <a:t/>
            </a:r>
          </a:p>
          <a:p xmlns:a="http://schemas.openxmlformats.org/drawingml/2006/main">
            <a:r>
              <a:t>A correct prediction matches the reference. Class 1 means warning in this example.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Actual and predicted describe different things</a:t>
            </a:r>
          </a:p>
          <a:p xmlns:a="http://schemas.openxmlformats.org/drawingml/2006/main">
            <a:r>
              <a:t/>
            </a:r>
          </a:p>
          <a:p xmlns:a="http://schemas.openxmlformats.org/drawingml/2006/main">
            <a:r>
              <a:t>CONNECT</a:t>
            </a:r>
          </a:p>
          <a:p xmlns:a="http://schemas.openxmlformats.org/drawingml/2006/main">
            <a:r>
              <a:t>Build on the preceding slide: FP and FN.</a:t>
            </a:r>
          </a:p>
          <a:p xmlns:a="http://schemas.openxmlformats.org/drawingml/2006/main">
            <a:r>
              <a:t/>
            </a:r>
          </a:p>
          <a:p xmlns:a="http://schemas.openxmlformats.org/drawingml/2006/main">
            <a:r>
              <a:t>LECTURER CUE</a:t>
            </a:r>
          </a:p>
          <a:p xmlns:a="http://schemas.openxmlformats.org/drawingml/2006/main">
            <a:r>
              <a:t>Place four paper observations in a table of actual label and predicted label. Classify each before showing the four-cell matrix. State which axis is actual and which is predicted.</a:t>
            </a:r>
          </a:p>
          <a:p xmlns:a="http://schemas.openxmlformats.org/drawingml/2006/main">
            <a:r>
              <a:t/>
            </a:r>
          </a:p>
          <a:p xmlns:a="http://schemas.openxmlformats.org/drawingml/2006/main">
            <a:r>
              <a:t>NEXT</a:t>
            </a:r>
          </a:p>
          <a:p xmlns:a="http://schemas.openxmlformats.org/drawingml/2006/main">
            <a:r>
              <a:t>Every paired result belongs in one cell.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Every paired result belongs in one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Every paired result belongs in one cell</a:t>
            </a:r>
          </a:p>
          <a:p xmlns:a="http://schemas.openxmlformats.org/drawingml/2006/main">
            <a:r>
              <a:t/>
            </a:r>
          </a:p>
          <a:p xmlns:a="http://schemas.openxmlformats.org/drawingml/2006/main">
            <a:r>
              <a:t>CONNECT</a:t>
            </a:r>
          </a:p>
          <a:p xmlns:a="http://schemas.openxmlformats.org/drawingml/2006/main">
            <a:r>
              <a:t>Build on Actual and predicted describe different things. Explain why this example is needed before running it.</a:t>
            </a:r>
          </a:p>
          <a:p xmlns:a="http://schemas.openxmlformats.org/drawingml/2006/main">
            <a:r>
              <a:t/>
            </a:r>
          </a:p>
          <a:p xmlns:a="http://schemas.openxmlformats.org/drawingml/2006/main">
            <a:r>
              <a:t>EXPLAIN</a:t>
            </a:r>
          </a:p>
          <a:p xmlns:a="http://schemas.openxmlformats.org/drawingml/2006/main">
            <a:r>
              <a:t>Read actual first, then predicted. Explain the missed warning.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Every paired result belongs in one cell</a:t>
            </a:r>
          </a:p>
          <a:p xmlns:a="http://schemas.openxmlformats.org/drawingml/2006/main">
            <a:r>
              <a:t/>
            </a:r>
          </a:p>
          <a:p xmlns:a="http://schemas.openxmlformats.org/drawingml/2006/main">
            <a:r>
              <a:t>CONNECT</a:t>
            </a:r>
          </a:p>
          <a:p xmlns:a="http://schemas.openxmlformats.org/drawingml/2006/main">
            <a:r>
              <a:t>Build on the preceding slide: Actual and predicted describe different things.</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A notebook contains code cells and explanatory text cells. The runtime remembers values from cells that actually ran, which may differ from their visual order.</a:t>
            </a:r>
          </a:p>
          <a:p xmlns:a="http://schemas.openxmlformats.org/drawingml/2006/main">
            <a:r>
              <a:t/>
            </a:r>
          </a:p>
          <a:p xmlns:a="http://schemas.openxmlformats.org/drawingml/2006/main">
            <a:r>
              <a:t>CHECK AND EXPECTED ANSWER</a:t>
            </a:r>
          </a:p>
          <a:p xmlns:a="http://schemas.openxmlformats.org/drawingml/2006/main">
            <a:r>
              <a:t>Does editing a cell update a value already stored in memory? No; the cell must run.</a:t>
            </a:r>
          </a:p>
          <a:p xmlns:a="http://schemas.openxmlformats.org/drawingml/2006/main">
            <a:r>
              <a:t/>
            </a:r>
          </a:p>
          <a:p xmlns:a="http://schemas.openxmlformats.org/drawingml/2006/main">
            <a:r>
              <a:t>IF LEARNERS ARE STUCK</a:t>
            </a:r>
          </a:p>
          <a:p xmlns:a="http://schemas.openxmlformats.org/drawingml/2006/main">
            <a:r>
              <a:t>Outside an assessment restriction, restart and run from the top after loading data. Fix the first error before later cells; save the successful notebook.</a:t>
            </a:r>
          </a:p>
          <a:p xmlns:a="http://schemas.openxmlformats.org/drawingml/2006/main">
            <a:r>
              <a:t/>
            </a:r>
          </a:p>
          <a:p xmlns:a="http://schemas.openxmlformats.org/drawingml/2006/main">
            <a:r>
              <a:t>NEXT</a:t>
            </a:r>
          </a:p>
          <a:p xmlns:a="http://schemas.openxmlformats.org/drawingml/2006/main">
            <a:r>
              <a:t>The four kinds of result.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The four kinds of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The four kinds of result</a:t>
            </a:r>
          </a:p>
          <a:p xmlns:a="http://schemas.openxmlformats.org/drawingml/2006/main">
            <a:r>
              <a:t/>
            </a:r>
          </a:p>
          <a:p xmlns:a="http://schemas.openxmlformats.org/drawingml/2006/main">
            <a:r>
              <a:t>CONNECT</a:t>
            </a:r>
          </a:p>
          <a:p xmlns:a="http://schemas.openxmlformats.org/drawingml/2006/main">
            <a:r>
              <a:t>Build on Every paired result belongs in one cell. Explain why this example is needed before running it.</a:t>
            </a:r>
          </a:p>
          <a:p xmlns:a="http://schemas.openxmlformats.org/drawingml/2006/main">
            <a:r>
              <a:t/>
            </a:r>
          </a:p>
          <a:p xmlns:a="http://schemas.openxmlformats.org/drawingml/2006/main">
            <a:r>
              <a:t>EXPLAIN</a:t>
            </a:r>
          </a:p>
          <a:p xmlns:a="http://schemas.openxmlformats.org/drawingml/2006/main">
            <a:r>
              <a:t>Rows are actual and columns are predicted.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four kinds of result</a:t>
            </a:r>
          </a:p>
          <a:p xmlns:a="http://schemas.openxmlformats.org/drawingml/2006/main">
            <a:r>
              <a:t/>
            </a:r>
          </a:p>
          <a:p xmlns:a="http://schemas.openxmlformats.org/drawingml/2006/main">
            <a:r>
              <a:t>CONNECT</a:t>
            </a:r>
          </a:p>
          <a:p xmlns:a="http://schemas.openxmlformats.org/drawingml/2006/main">
            <a:r>
              <a:t>Build on the preceding slide: Every paired result belongs in one cell.</a:t>
            </a:r>
          </a:p>
          <a:p xmlns:a="http://schemas.openxmlformats.org/drawingml/2006/main">
            <a:r>
              <a:t/>
            </a:r>
          </a:p>
          <a:p xmlns:a="http://schemas.openxmlformats.org/drawingml/2006/main">
            <a:r>
              <a:t>LECTURER CUE</a:t>
            </a:r>
          </a:p>
          <a:p xmlns:a="http://schemas.openxmlformats.org/drawingml/2006/main">
            <a:r>
              <a:t>Rows are actual and columns are predicted. Read each paired observation into exactly one cell. Precision = 1/2. Recall = 1/2. Cost = 5 × FN + FP = 6 under this invented cost rule.</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Precision / Recall.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Precision / Recall.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Precision / Recall</a:t>
            </a:r>
          </a:p>
          <a:p xmlns:a="http://schemas.openxmlformats.org/drawingml/2006/main">
            <a:r>
              <a:t/>
            </a:r>
          </a:p>
          <a:p xmlns:a="http://schemas.openxmlformats.org/drawingml/2006/main">
            <a:r>
              <a:t>CONNECT</a:t>
            </a:r>
          </a:p>
          <a:p xmlns:a="http://schemas.openxmlformats.org/drawingml/2006/main">
            <a:r>
              <a:t>Build on The four kinds of result. Explain why this example is needed before running it.</a:t>
            </a:r>
          </a:p>
          <a:p xmlns:a="http://schemas.openxmlformats.org/drawingml/2006/main">
            <a:r>
              <a:t/>
            </a:r>
          </a:p>
          <a:p xmlns:a="http://schemas.openxmlformats.org/drawingml/2006/main">
            <a:r>
              <a:t>EXPLAIN</a:t>
            </a:r>
          </a:p>
          <a:p xmlns:a="http://schemas.openxmlformats.org/drawingml/2006/main">
            <a:r>
              <a:t>Precision: Of all predicted warnings, the fraction that were actual warnings: TP / (TP + FP).</a:t>
            </a:r>
          </a:p>
          <a:p xmlns:a="http://schemas.openxmlformats.org/drawingml/2006/main">
            <a:r>
              <a:t>Recall: Of all actual warnings, the fraction detected: TP / (TP + FN).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Precision / Recall</a:t>
            </a:r>
          </a:p>
          <a:p xmlns:a="http://schemas.openxmlformats.org/drawingml/2006/main">
            <a:r>
              <a:t/>
            </a:r>
          </a:p>
          <a:p xmlns:a="http://schemas.openxmlformats.org/drawingml/2006/main">
            <a:r>
              <a:t>CONNECT</a:t>
            </a:r>
          </a:p>
          <a:p xmlns:a="http://schemas.openxmlformats.org/drawingml/2006/main">
            <a:r>
              <a:t>Build on the preceding slide: The four kinds of result.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POINT TO THE DEFINITION</a:t>
            </a:r>
          </a:p>
          <a:p xmlns:a="http://schemas.openxmlformats.org/drawingml/2006/main">
            <a:r>
              <a:t>Precision: Of all predicted warnings, the fraction that were actual warnings: TP / (TP + FP).</a:t>
            </a:r>
          </a:p>
          <a:p xmlns:a="http://schemas.openxmlformats.org/drawingml/2006/main">
            <a:r>
              <a:t>Recall: Of all actual warnings, the fraction detected: TP / (TP + FN).</a:t>
            </a:r>
          </a:p>
          <a:p xmlns:a="http://schemas.openxmlformats.org/drawingml/2006/main">
            <a:r>
              <a:t/>
            </a:r>
          </a:p>
          <a:p xmlns:a="http://schemas.openxmlformats.org/drawingml/2006/main">
            <a:r>
              <a:t>NEXT</a:t>
            </a:r>
          </a:p>
          <a:p xmlns:a="http://schemas.openxmlformats.org/drawingml/2006/main">
            <a:r>
              <a:t>Precision and recall.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Precision and recall.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Precision and recall</a:t>
            </a:r>
          </a:p>
          <a:p xmlns:a="http://schemas.openxmlformats.org/drawingml/2006/main">
            <a:r>
              <a:t/>
            </a:r>
          </a:p>
          <a:p xmlns:a="http://schemas.openxmlformats.org/drawingml/2006/main">
            <a:r>
              <a:t>CONNECT</a:t>
            </a:r>
          </a:p>
          <a:p xmlns:a="http://schemas.openxmlformats.org/drawingml/2006/main">
            <a:r>
              <a:t>Build on Precision / Recall. Explain why this example is needed before running it.</a:t>
            </a:r>
          </a:p>
          <a:p xmlns:a="http://schemas.openxmlformats.org/drawingml/2006/main">
            <a:r>
              <a:t/>
            </a:r>
          </a:p>
          <a:p xmlns:a="http://schemas.openxmlformats.org/drawingml/2006/main">
            <a:r>
              <a:t>EXPLAIN</a:t>
            </a:r>
          </a:p>
          <a:p xmlns:a="http://schemas.openxmlformats.org/drawingml/2006/main">
            <a:r>
              <a:t>Precision asks: of the warnings raised, how many were correct?</a:t>
            </a:r>
          </a:p>
          <a:p xmlns:a="http://schemas.openxmlformats.org/drawingml/2006/main">
            <a:r>
              <a:t/>
            </a:r>
          </a:p>
          <a:p xmlns:a="http://schemas.openxmlformats.org/drawingml/2006/main">
            <a:r>
              <a:t>Recall asks: of the real warnings, how many did we detect?</a:t>
            </a:r>
          </a:p>
          <a:p xmlns:a="http://schemas.openxmlformats.org/drawingml/2006/main">
            <a:r>
              <a:t/>
            </a:r>
          </a:p>
          <a:p xmlns:a="http://schemas.openxmlformats.org/drawingml/2006/main">
            <a:r>
              <a:t>A zero denominator needs an explicit rule.</a:t>
            </a:r>
          </a:p>
          <a:p xmlns:a="http://schemas.openxmlformats.org/drawingml/2006/main">
            <a:r>
              <a:t/>
            </a:r>
          </a:p>
          <a:p xmlns:a="http://schemas.openxmlformats.org/drawingml/2006/main">
            <a:r>
              <a:t>Use the rule in your task brief when implementing the function.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Precision and recall</a:t>
            </a:r>
          </a:p>
          <a:p xmlns:a="http://schemas.openxmlformats.org/drawingml/2006/main">
            <a:r>
              <a:t/>
            </a:r>
          </a:p>
          <a:p xmlns:a="http://schemas.openxmlformats.org/drawingml/2006/main">
            <a:r>
              <a:t>CONNECT</a:t>
            </a:r>
          </a:p>
          <a:p xmlns:a="http://schemas.openxmlformats.org/drawingml/2006/main">
            <a:r>
              <a:t>Build on the preceding slide: Precision / Recall.</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Two fractions ask different questions.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Probability and a decision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Probability and a decision threshold</a:t>
            </a:r>
          </a:p>
          <a:p xmlns:a="http://schemas.openxmlformats.org/drawingml/2006/main">
            <a:r>
              <a:t/>
            </a:r>
          </a:p>
          <a:p xmlns:a="http://schemas.openxmlformats.org/drawingml/2006/main">
            <a:r>
              <a:t>CONNECT</a:t>
            </a:r>
          </a:p>
          <a:p xmlns:a="http://schemas.openxmlformats.org/drawingml/2006/main">
            <a:r>
              <a:t>Build on Precision and recall. Explain why this example is needed before running it.</a:t>
            </a:r>
          </a:p>
          <a:p xmlns:a="http://schemas.openxmlformats.org/drawingml/2006/main">
            <a:r>
              <a:t/>
            </a:r>
          </a:p>
          <a:p xmlns:a="http://schemas.openxmlformats.org/drawingml/2006/main">
            <a:r>
              <a:t>EXPLAIN</a:t>
            </a:r>
          </a:p>
          <a:p xmlns:a="http://schemas.openxmlformats.org/drawingml/2006/main">
            <a:r>
              <a:t>Probability: A probability is between 0 and 1. Multiply by 100 for percent: 0.7 is 70%. A model’s probability is an estimate that needs checking.</a:t>
            </a:r>
          </a:p>
          <a:p xmlns:a="http://schemas.openxmlformats.org/drawingml/2006/main">
            <a:r>
              <a:t>Threshold: A threshold turns a score into a decision. For a rule score &gt;= 0.5, a score of 0.7 gives class 1. Use validation data to choose the threshold.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Probability and a decision threshold</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POINT TO THE DEFINITION</a:t>
            </a:r>
          </a:p>
          <a:p xmlns:a="http://schemas.openxmlformats.org/drawingml/2006/main">
            <a:r>
              <a:t>Probability: A probability is between 0 and 1. Multiply by 100 for percent: 0.7 is 70%. A model’s probability is an estimate that needs checking.</a:t>
            </a:r>
          </a:p>
          <a:p xmlns:a="http://schemas.openxmlformats.org/drawingml/2006/main">
            <a:r>
              <a:t>Threshold: A threshold turns a score into a decision. For a rule score &gt;= 0.5, a score of 0.7 gives class 1. Use validation data to choose the threshold.</a:t>
            </a:r>
          </a:p>
          <a:p xmlns:a="http://schemas.openxmlformats.org/drawingml/2006/main">
            <a:r>
              <a:t/>
            </a:r>
          </a:p>
          <a:p xmlns:a="http://schemas.openxmlformats.org/drawingml/2006/main">
            <a:r>
              <a:t>NEXT</a:t>
            </a:r>
          </a:p>
          <a:p xmlns:a="http://schemas.openxmlformats.org/drawingml/2006/main">
            <a:r>
              <a:t>A category decision can use a probability.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category decision can use a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category decision can use a probability</a:t>
            </a:r>
          </a:p>
          <a:p xmlns:a="http://schemas.openxmlformats.org/drawingml/2006/main">
            <a:r>
              <a:t/>
            </a:r>
          </a:p>
          <a:p xmlns:a="http://schemas.openxmlformats.org/drawingml/2006/main">
            <a:r>
              <a:t>CONNECT</a:t>
            </a:r>
          </a:p>
          <a:p xmlns:a="http://schemas.openxmlformats.org/drawingml/2006/main">
            <a:r>
              <a:t>Build on Probability and a decision threshold. Explain why this example is needed before running it.</a:t>
            </a:r>
          </a:p>
          <a:p xmlns:a="http://schemas.openxmlformats.org/drawingml/2006/main">
            <a:r>
              <a:t/>
            </a:r>
          </a:p>
          <a:p xmlns:a="http://schemas.openxmlformats.org/drawingml/2006/main">
            <a:r>
              <a:t>EXPLAIN</a:t>
            </a:r>
          </a:p>
          <a:p xmlns:a="http://schemas.openxmlformats.org/drawingml/2006/main">
            <a:r>
              <a:t>A classifier may estimate the probability of class 1.</a:t>
            </a:r>
          </a:p>
          <a:p xmlns:a="http://schemas.openxmlformats.org/drawingml/2006/main">
            <a:r>
              <a:t/>
            </a:r>
          </a:p>
          <a:p xmlns:a="http://schemas.openxmlformats.org/drawingml/2006/main">
            <a:r>
              <a:t>A threshold converts that estimate into warning or no warning.</a:t>
            </a:r>
          </a:p>
          <a:p xmlns:a="http://schemas.openxmlformats.org/drawingml/2006/main">
            <a:r>
              <a:t/>
            </a:r>
          </a:p>
          <a:p xmlns:a="http://schemas.openxmlformats.org/drawingml/2006/main">
            <a:r>
              <a:t>Logistic regression is a classification model. Its probability estimates still need evaluation.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category decision can use a probability</a:t>
            </a:r>
          </a:p>
          <a:p xmlns:a="http://schemas.openxmlformats.org/drawingml/2006/main">
            <a:r>
              <a:t/>
            </a:r>
          </a:p>
          <a:p xmlns:a="http://schemas.openxmlformats.org/drawingml/2006/main">
            <a:r>
              <a:t>CONNECT</a:t>
            </a:r>
          </a:p>
          <a:p xmlns:a="http://schemas.openxmlformats.org/drawingml/2006/main">
            <a:r>
              <a:t>Build on the preceding slide: Probability and a decision threshold.</a:t>
            </a:r>
          </a:p>
          <a:p xmlns:a="http://schemas.openxmlformats.org/drawingml/2006/main">
            <a:r>
              <a:t/>
            </a:r>
          </a:p>
          <a:p xmlns:a="http://schemas.openxmlformats.org/drawingml/2006/main">
            <a:r>
              <a:t>LECTURER CUE</a:t>
            </a:r>
          </a:p>
          <a:p xmlns:a="http://schemas.openxmlformats.org/drawingml/2006/main">
            <a:r>
              <a:t>Only after the count exercise, show a classifier fit/predict demonstration. Logistic regression predicts a category despite its name. Probability estimates need not be well calibrated.</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Probability and a warning decision.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Threshold and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Threshold and cost</a:t>
            </a:r>
          </a:p>
          <a:p xmlns:a="http://schemas.openxmlformats.org/drawingml/2006/main">
            <a:r>
              <a:t/>
            </a:r>
          </a:p>
          <a:p xmlns:a="http://schemas.openxmlformats.org/drawingml/2006/main">
            <a:r>
              <a:t>CONNECT</a:t>
            </a:r>
          </a:p>
          <a:p xmlns:a="http://schemas.openxmlformats.org/drawingml/2006/main">
            <a:r>
              <a:t>Build on A category decision can use a probability. Explain why this example is needed before running it.</a:t>
            </a:r>
          </a:p>
          <a:p xmlns:a="http://schemas.openxmlformats.org/drawingml/2006/main">
            <a:r>
              <a:t/>
            </a:r>
          </a:p>
          <a:p xmlns:a="http://schemas.openxmlformats.org/drawingml/2006/main">
            <a:r>
              <a:t>EXPLAIN</a:t>
            </a:r>
          </a:p>
          <a:p xmlns:a="http://schemas.openxmlformats.org/drawingml/2006/main">
            <a:r>
              <a:t>Threshold and cost: A threshold converts a score to a decision. A cost rule states how much each type of mistake matters. Lower thresholds usually increase recall; precision need not decrease at every step.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Threshold and cost</a:t>
            </a:r>
          </a:p>
          <a:p xmlns:a="http://schemas.openxmlformats.org/drawingml/2006/main">
            <a:r>
              <a:t/>
            </a:r>
          </a:p>
          <a:p xmlns:a="http://schemas.openxmlformats.org/drawingml/2006/main">
            <a:r>
              <a:t>CONNECT</a:t>
            </a:r>
          </a:p>
          <a:p xmlns:a="http://schemas.openxmlformats.org/drawingml/2006/main">
            <a:r>
              <a:t>Build on the preceding slide: Two fractions ask different questions.</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POINT TO THE DEFINITION</a:t>
            </a:r>
          </a:p>
          <a:p xmlns:a="http://schemas.openxmlformats.org/drawingml/2006/main">
            <a:r>
              <a:t>Threshold and cost: A threshold converts a score to a decision. A cost rule states how much each type of mistake matters. Lower thresholds usually increase recall; precision need not decrease at every step.</a:t>
            </a:r>
          </a:p>
          <a:p xmlns:a="http://schemas.openxmlformats.org/drawingml/2006/main">
            <a:r>
              <a:t/>
            </a:r>
          </a:p>
          <a:p xmlns:a="http://schemas.openxmlformats.org/drawingml/2006/main">
            <a:r>
              <a:t>NEXT</a:t>
            </a:r>
          </a:p>
          <a:p xmlns:a="http://schemas.openxmlformats.org/drawingml/2006/main">
            <a:r>
              <a:t>State the cost rule before calculating.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State the cost rule before calculating.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State the cost rule before calculating</a:t>
            </a:r>
          </a:p>
          <a:p xmlns:a="http://schemas.openxmlformats.org/drawingml/2006/main">
            <a:r>
              <a:t/>
            </a:r>
          </a:p>
          <a:p xmlns:a="http://schemas.openxmlformats.org/drawingml/2006/main">
            <a:r>
              <a:t>CONNECT</a:t>
            </a:r>
          </a:p>
          <a:p xmlns:a="http://schemas.openxmlformats.org/drawingml/2006/main">
            <a:r>
              <a:t>Build on Threshold and cost. Explain why this example is needed before running it.</a:t>
            </a:r>
          </a:p>
          <a:p xmlns:a="http://schemas.openxmlformats.org/drawingml/2006/main">
            <a:r>
              <a:t/>
            </a:r>
          </a:p>
          <a:p xmlns:a="http://schemas.openxmlformats.org/drawingml/2006/main">
            <a:r>
              <a:t>EXPLAIN</a:t>
            </a:r>
          </a:p>
          <a:p xmlns:a="http://schemas.openxmlformats.org/drawingml/2006/main">
            <a:r>
              <a:t>A cost rule assigns a penalty to each kind of mistake. In this teaching example, a missed warning costs 5 units and a false alarm costs 1 unit.</a:t>
            </a:r>
          </a:p>
          <a:p xmlns:a="http://schemas.openxmlformats.org/drawingml/2006/main">
            <a:r>
              <a:t/>
            </a:r>
          </a:p>
          <a:p xmlns:a="http://schemas.openxmlformats.org/drawingml/2006/main">
            <a:r>
              <a:t>Total cost = 5 × FN + FP. One missed warning and one false alarm therefore cost 6 units.</a:t>
            </a:r>
          </a:p>
          <a:p xmlns:a="http://schemas.openxmlformats.org/drawingml/2006/main">
            <a:r>
              <a:t/>
            </a:r>
          </a:p>
          <a:p xmlns:a="http://schemas.openxmlformats.org/drawingml/2006/main">
            <a:r>
              <a:t>These are invented teaching penalties. Use the published assignment cost rule and explain whose consequences it represents.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State the cost rule before calculating</a:t>
            </a:r>
          </a:p>
          <a:p xmlns:a="http://schemas.openxmlformats.org/drawingml/2006/main">
            <a:r>
              <a:t/>
            </a:r>
          </a:p>
          <a:p xmlns:a="http://schemas.openxmlformats.org/drawingml/2006/main">
            <a:r>
              <a:t>CONNECT</a:t>
            </a:r>
          </a:p>
          <a:p xmlns:a="http://schemas.openxmlformats.org/drawingml/2006/main">
            <a:r>
              <a:t>Build on the preceding slide: Threshold and cost.</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NEXT</a:t>
            </a:r>
          </a:p>
          <a:p xmlns:a="http://schemas.openxmlformats.org/drawingml/2006/main">
            <a:r>
              <a:t>Counting syntax in the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syntax in the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syntax in the example</a:t>
            </a:r>
          </a:p>
          <a:p xmlns:a="http://schemas.openxmlformats.org/drawingml/2006/main">
            <a:r>
              <a:t/>
            </a:r>
          </a:p>
          <a:p xmlns:a="http://schemas.openxmlformats.org/drawingml/2006/main">
            <a:r>
              <a:t>CONNECT</a:t>
            </a:r>
          </a:p>
          <a:p xmlns:a="http://schemas.openxmlformats.org/drawingml/2006/main">
            <a:r>
              <a:t>Build on State the cost rule before calculating. Explain why this example is needed before running it.</a:t>
            </a:r>
          </a:p>
          <a:p xmlns:a="http://schemas.openxmlformats.org/drawingml/2006/main">
            <a:r>
              <a:t/>
            </a:r>
          </a:p>
          <a:p xmlns:a="http://schemas.openxmlformats.org/drawingml/2006/main">
            <a:r>
              <a:t>EXPLAIN</a:t>
            </a:r>
          </a:p>
          <a:p xmlns:a="http://schemas.openxmlformats.org/drawingml/2006/main">
            <a:r>
              <a:t>Our paired lists must have matching lengths. zip alone stops at the shorter list.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syntax in the example</a:t>
            </a:r>
          </a:p>
          <a:p xmlns:a="http://schemas.openxmlformats.org/drawingml/2006/main">
            <a:r>
              <a:t/>
            </a:r>
          </a:p>
          <a:p xmlns:a="http://schemas.openxmlformats.org/drawingml/2006/main">
            <a:r>
              <a:t>CONNECT</a:t>
            </a:r>
          </a:p>
          <a:p xmlns:a="http://schemas.openxmlformats.org/drawingml/2006/main">
            <a:r>
              <a:t>Build on the preceding slide: State the cost rule before calculating.</a:t>
            </a:r>
          </a:p>
          <a:p xmlns:a="http://schemas.openxmlformats.org/drawingml/2006/main">
            <a:r>
              <a:t/>
            </a:r>
          </a:p>
          <a:p xmlns:a="http://schemas.openxmlformats.org/drawingml/2006/main">
            <a:r>
              <a:t>LECTURER CUE</a:t>
            </a:r>
          </a:p>
          <a:p xmlns:a="http://schemas.openxmlformats.org/drawingml/2006/main">
            <a:r>
              <a:t>Read one row at a time and use a changed value. This is a syntax reference for the worked examples.</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outcomes in Python</a:t>
            </a:r>
          </a:p>
          <a:p xmlns:a="http://schemas.openxmlformats.org/drawingml/2006/main">
            <a:r>
              <a:t/>
            </a:r>
          </a:p>
          <a:p xmlns:a="http://schemas.openxmlformats.org/drawingml/2006/main">
            <a:r>
              <a:t>CONNECT</a:t>
            </a:r>
          </a:p>
          <a:p xmlns:a="http://schemas.openxmlformats.org/drawingml/2006/main">
            <a:r>
              <a:t>Build on Counting syntax in the example.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a:t>
            </a:r>
          </a:p>
          <a:p xmlns:a="http://schemas.openxmlformats.org/drawingml/2006/main">
            <a:r>
              <a:t/>
            </a:r>
          </a:p>
          <a:p xmlns:a="http://schemas.openxmlformats.org/drawingml/2006/main">
            <a:r>
              <a:t>CONNECT</a:t>
            </a:r>
          </a:p>
          <a:p xmlns:a="http://schemas.openxmlformats.org/drawingml/2006/main">
            <a:r>
              <a:t>Build on the preceding slide: Counting syntax in the example.</a:t>
            </a:r>
          </a:p>
          <a:p xmlns:a="http://schemas.openxmlformats.org/drawingml/2006/main">
            <a:r>
              <a:t/>
            </a:r>
          </a:p>
          <a:p xmlns:a="http://schemas.openxmlformats.org/drawingml/2006/main">
            <a:r>
              <a:t>LECTURER CUE</a:t>
            </a:r>
          </a:p>
          <a:p xmlns:a="http://schemas.openxmlformats.org/drawingml/2006/main">
            <a:r>
              <a:t>Place four paper observations in a table of actual label and predicted label. Classify each before showing the four-cell matrix. State which axis is actual and which is predicted. Use counts before fractions. The denominator of precision is predicted positives; the denominator of recall is actual positives. Explain what happens if either denominator is zero. Only after the count exercise, show a classifier fit/predict demonstration. Logistic regression predicts a category despite its name. Probability estimates need not be well calibrated.</a:t>
            </a:r>
          </a:p>
          <a:p xmlns:a="http://schemas.openxmlformats.org/drawingml/2006/main">
            <a:r>
              <a:t/>
            </a:r>
          </a:p>
          <a:p xmlns:a="http://schemas.openxmlformats.org/drawingml/2006/main">
            <a:r>
              <a:t>Complete practice code:</a:t>
            </a:r>
          </a:p>
          <a:p xmlns:a="http://schemas.openxmlformats.org/drawingml/2006/main">
            <a:r>
              <a:t>actual = [1, 1, 0, 0]</a:t>
            </a:r>
          </a:p>
          <a:p xmlns:a="http://schemas.openxmlformats.org/drawingml/2006/main">
            <a:r>
              <a:t>predicted = [1, 0, 1, 0]</a:t>
            </a:r>
          </a:p>
          <a:p xmlns:a="http://schemas.openxmlformats.org/drawingml/2006/main">
            <a:r>
              <a:t>for truth, guess in zip(actual, predicted):</a:t>
            </a:r>
          </a:p>
          <a:p xmlns:a="http://schemas.openxmlformats.org/drawingml/2006/main">
            <a:r>
              <a:t>    print(truth, guess)</a:t>
            </a:r>
          </a:p>
          <a:p xmlns:a="http://schemas.openxmlformats.org/drawingml/2006/main">
            <a:r>
              <a:t># Count the four categories on paper before calculating.</a:t>
            </a:r>
          </a:p>
          <a:p xmlns:a="http://schemas.openxmlformats.org/drawingml/2006/main">
            <a:r>
              <a:t>tp, fn, fp, tn = 1, 1, 1, 1</a:t>
            </a:r>
          </a:p>
          <a:p xmlns:a="http://schemas.openxmlformats.org/drawingml/2006/main">
            <a:r>
              <a:t>print(tp / (tp + fp))</a:t>
            </a:r>
          </a:p>
          <a:p xmlns:a="http://schemas.openxmlformats.org/drawingml/2006/main">
            <a:r>
              <a:t>print(tp / (tp + fn))</a:t>
            </a:r>
          </a:p>
          <a:p xmlns:a="http://schemas.openxmlformats.org/drawingml/2006/main">
            <a:r>
              <a:t>print(5 * fn + fp)</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zip pairs items at matching positions in these equal-length lists.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outcomes results</a:t>
            </a:r>
          </a:p>
          <a:p xmlns:a="http://schemas.openxmlformats.org/drawingml/2006/main">
            <a:r>
              <a:t/>
            </a:r>
          </a:p>
          <a:p xmlns:a="http://schemas.openxmlformats.org/drawingml/2006/main">
            <a:r>
              <a:t>CONNECT</a:t>
            </a:r>
          </a:p>
          <a:p xmlns:a="http://schemas.openxmlformats.org/drawingml/2006/main">
            <a:r>
              <a:t>Build on Classification outcomes in Python. Explain why this example is needed before running it.</a:t>
            </a:r>
          </a:p>
          <a:p xmlns:a="http://schemas.openxmlformats.org/drawingml/2006/main">
            <a:r>
              <a:t/>
            </a:r>
          </a:p>
          <a:p xmlns:a="http://schemas.openxmlformats.org/drawingml/2006/main">
            <a:r>
              <a:t>EXPLAIN</a:t>
            </a:r>
          </a:p>
          <a:p xmlns:a="http://schemas.openxmlformats.org/drawingml/2006/main">
            <a:r>
              <a:t>Four paired rows, then precision 0.5, recall 0.5 and teaching cost 6.</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Counting arbitrary paired observations.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a:t>
            </a:r>
          </a:p>
          <a:p xmlns:a="http://schemas.openxmlformats.org/drawingml/2006/main">
            <a:r>
              <a:t/>
            </a:r>
          </a:p>
          <a:p xmlns:a="http://schemas.openxmlformats.org/drawingml/2006/main">
            <a:r>
              <a:t>CONNECT</a:t>
            </a:r>
          </a:p>
          <a:p xmlns:a="http://schemas.openxmlformats.org/drawingml/2006/main">
            <a:r>
              <a:t>Build on Classification outcomes results. Explain why this example is needed before running it.</a:t>
            </a:r>
          </a:p>
          <a:p xmlns:a="http://schemas.openxmlformats.org/drawingml/2006/main">
            <a:r>
              <a:t/>
            </a:r>
          </a:p>
          <a:p xmlns:a="http://schemas.openxmlformats.org/drawingml/2006/main">
            <a:r>
              <a:t>EXPLAIN</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tp = tn = fp = fn = 0 sets all four counters to zero. tp += 1 is shorthand for tp = tp + 1.</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Counting arbitrary paired observations in Python (1/3).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 in Python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(1/3)</a:t>
            </a:r>
          </a:p>
          <a:p xmlns:a="http://schemas.openxmlformats.org/drawingml/2006/main">
            <a:r>
              <a:t/>
            </a:r>
          </a:p>
          <a:p xmlns:a="http://schemas.openxmlformats.org/drawingml/2006/main">
            <a:r>
              <a:t>CONNECT</a:t>
            </a:r>
          </a:p>
          <a:p xmlns:a="http://schemas.openxmlformats.org/drawingml/2006/main">
            <a:r>
              <a:t>Build on Counting arbitrary paired observations.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 in Python (1/3)</a:t>
            </a:r>
          </a:p>
          <a:p xmlns:a="http://schemas.openxmlformats.org/drawingml/2006/main">
            <a:r>
              <a:t/>
            </a:r>
          </a:p>
          <a:p xmlns:a="http://schemas.openxmlformats.org/drawingml/2006/main">
            <a:r>
              <a:t>CONNECT</a:t>
            </a:r>
          </a:p>
          <a:p xmlns:a="http://schemas.openxmlformats.org/drawingml/2006/main">
            <a:r>
              <a:t>Build on the preceding slide: Counting arbitrary paired observations.</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Counting arbitrary paired observations in Python (2/3).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 in Python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(2/3)</a:t>
            </a:r>
          </a:p>
          <a:p xmlns:a="http://schemas.openxmlformats.org/drawingml/2006/main">
            <a:r>
              <a:t/>
            </a:r>
          </a:p>
          <a:p xmlns:a="http://schemas.openxmlformats.org/drawingml/2006/main">
            <a:r>
              <a:t>CONNECT</a:t>
            </a:r>
          </a:p>
          <a:p xmlns:a="http://schemas.openxmlformats.org/drawingml/2006/main">
            <a:r>
              <a:t>Build on Counting arbitrary paired observations in Python (1/3).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 in Python (2/3)</a:t>
            </a:r>
          </a:p>
          <a:p xmlns:a="http://schemas.openxmlformats.org/drawingml/2006/main">
            <a:r>
              <a:t/>
            </a:r>
          </a:p>
          <a:p xmlns:a="http://schemas.openxmlformats.org/drawingml/2006/main">
            <a:r>
              <a:t>CONNECT</a:t>
            </a:r>
          </a:p>
          <a:p xmlns:a="http://schemas.openxmlformats.org/drawingml/2006/main">
            <a:r>
              <a:t>Build on the preceding slide: Counting arbitrary paired observations in Python (1/3).</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zip pairs items at matching positions in these equal-length lists.</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Counting arbitrary paired observations in Python (3/3).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Counting arbitrary paired observations in Python (3/3).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Counting arbitrary paired observations in Python (3/3)</a:t>
            </a:r>
          </a:p>
          <a:p xmlns:a="http://schemas.openxmlformats.org/drawingml/2006/main">
            <a:r>
              <a:t/>
            </a:r>
          </a:p>
          <a:p xmlns:a="http://schemas.openxmlformats.org/drawingml/2006/main">
            <a:r>
              <a:t>CONNECT</a:t>
            </a:r>
          </a:p>
          <a:p xmlns:a="http://schemas.openxmlformats.org/drawingml/2006/main">
            <a:r>
              <a:t>Build on Counting arbitrary paired observations in Python (2/3).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Counting arbitrary paired observations in Python (3/3)</a:t>
            </a:r>
          </a:p>
          <a:p xmlns:a="http://schemas.openxmlformats.org/drawingml/2006/main">
            <a:r>
              <a:t/>
            </a:r>
          </a:p>
          <a:p xmlns:a="http://schemas.openxmlformats.org/drawingml/2006/main">
            <a:r>
              <a:t>CONNECT</a:t>
            </a:r>
          </a:p>
          <a:p xmlns:a="http://schemas.openxmlformats.org/drawingml/2006/main">
            <a:r>
              <a:t>Build on the preceding slide: Counting arbitrary paired observations in Python (2/3).</a:t>
            </a:r>
          </a:p>
          <a:p xmlns:a="http://schemas.openxmlformats.org/drawingml/2006/main">
            <a:r>
              <a:t/>
            </a:r>
          </a:p>
          <a:p xmlns:a="http://schemas.openxmlformats.org/drawingml/2006/main">
            <a:r>
              <a:t>LECTURER CUE</a:t>
            </a:r>
          </a:p>
          <a:p xmlns:a="http://schemas.openxmlformats.org/drawingml/2006/main">
            <a:r>
              <a:t>Start every counter at zero before the loop. == compares labels. and means both comparisons must be true. elif checks another condition only when earlier ones were false.</a:t>
            </a:r>
          </a:p>
          <a:p xmlns:a="http://schemas.openxmlformats.org/drawingml/2006/main">
            <a:r>
              <a:t/>
            </a:r>
          </a:p>
          <a:p xmlns:a="http://schemas.openxmlformats.org/drawingml/2006/main">
            <a:r>
              <a:t>Complete practice code:</a:t>
            </a:r>
          </a:p>
          <a:p xmlns:a="http://schemas.openxmlformats.org/drawingml/2006/main">
            <a:r>
              <a:t>tp = tn = fp = fn = 0</a:t>
            </a:r>
          </a:p>
          <a:p xmlns:a="http://schemas.openxmlformats.org/drawingml/2006/main">
            <a:r>
              <a:t>for truth, guess in zip(actual, predicted):</a:t>
            </a:r>
          </a:p>
          <a:p xmlns:a="http://schemas.openxmlformats.org/drawingml/2006/main">
            <a:r>
              <a:t>    if truth == 1 and guess == 1:</a:t>
            </a:r>
          </a:p>
          <a:p xmlns:a="http://schemas.openxmlformats.org/drawingml/2006/main">
            <a:r>
              <a:t>        tp += 1</a:t>
            </a:r>
          </a:p>
          <a:p xmlns:a="http://schemas.openxmlformats.org/drawingml/2006/main">
            <a:r>
              <a:t>    elif truth == 0 and guess == 0:</a:t>
            </a:r>
          </a:p>
          <a:p xmlns:a="http://schemas.openxmlformats.org/drawingml/2006/main">
            <a:r>
              <a:t>        tn += 1</a:t>
            </a:r>
          </a:p>
          <a:p xmlns:a="http://schemas.openxmlformats.org/drawingml/2006/main">
            <a:r>
              <a:t>    elif truth == 0 and guess == 1:</a:t>
            </a:r>
          </a:p>
          <a:p xmlns:a="http://schemas.openxmlformats.org/drawingml/2006/main">
            <a:r>
              <a:t>        fp += 1</a:t>
            </a:r>
          </a:p>
          <a:p xmlns:a="http://schemas.openxmlformats.org/drawingml/2006/main">
            <a:r>
              <a:t>    else:</a:t>
            </a:r>
          </a:p>
          <a:p xmlns:a="http://schemas.openxmlformats.org/drawingml/2006/main">
            <a:r>
              <a:t>        fn += 1</a:t>
            </a:r>
          </a:p>
          <a:p xmlns:a="http://schemas.openxmlformats.org/drawingml/2006/main">
            <a:r>
              <a:t>print(tp, tn, fp, fn)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WALK THROUGH THIS CODE</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You are the confusion matrix.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Represent a category with indicators.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Represent a category with indicators</a:t>
            </a:r>
          </a:p>
          <a:p xmlns:a="http://schemas.openxmlformats.org/drawingml/2006/main">
            <a:r>
              <a:t/>
            </a:r>
          </a:p>
          <a:p xmlns:a="http://schemas.openxmlformats.org/drawingml/2006/main">
            <a:r>
              <a:t>CONNECT</a:t>
            </a:r>
          </a:p>
          <a:p xmlns:a="http://schemas.openxmlformats.org/drawingml/2006/main">
            <a:r>
              <a:t>Build on Counting arbitrary paired observations in Python (3/3). Explain why this example is needed before running it.</a:t>
            </a:r>
          </a:p>
          <a:p xmlns:a="http://schemas.openxmlformats.org/drawingml/2006/main">
            <a:r>
              <a:t/>
            </a:r>
          </a:p>
          <a:p xmlns:a="http://schemas.openxmlformats.org/drawingml/2006/main">
            <a:r>
              <a:t>EXPLAIN</a:t>
            </a:r>
          </a:p>
          <a:p xmlns:a="http://schemas.openxmlformats.org/drawingml/2006/main">
            <a:r>
              <a:t>Category: A category is a label such as steel or timber. Its name does not imply a numerical size or rank.</a:t>
            </a:r>
          </a:p>
          <a:p xmlns:a="http://schemas.openxmlformats.org/drawingml/2006/main">
            <a:r>
              <a:t>One-hot indicator: Create a column for each category. Its entry is 1 when the row has that category and 0 otherwise. Learn the allowed categories from training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Represent a category with indicators</a:t>
            </a:r>
          </a:p>
          <a:p xmlns:a="http://schemas.openxmlformats.org/drawingml/2006/main">
            <a:r>
              <a:t/>
            </a:r>
          </a:p>
          <a:p xmlns:a="http://schemas.openxmlformats.org/drawingml/2006/main">
            <a:r>
              <a:t>CONNECT</a:t>
            </a:r>
          </a:p>
          <a:p xmlns:a="http://schemas.openxmlformats.org/drawingml/2006/main">
            <a:r>
              <a:t>Build on the preceding slide: Probability and a warning decision.</a:t>
            </a:r>
          </a:p>
          <a:p xmlns:a="http://schemas.openxmlformats.org/drawingml/2006/main">
            <a:r>
              <a:t/>
            </a:r>
          </a:p>
          <a:p xmlns:a="http://schemas.openxmlformats.org/drawingml/2006/main">
            <a:r>
              <a:t>EXPLAIN IN ORDINARY WORDS</a:t>
            </a:r>
          </a:p>
          <a:p xmlns:a="http://schemas.openxmlformats.org/drawingml/2006/main">
            <a:r>
              <a:t>A category is a label, not an amount. Indicator columns record whether a row belongs to each category, usually with 0 or 1. Fit the encoding on training data and reuse it.</a:t>
            </a:r>
          </a:p>
          <a:p xmlns:a="http://schemas.openxmlformats.org/drawingml/2006/main">
            <a:r>
              <a:t/>
            </a:r>
          </a:p>
          <a:p xmlns:a="http://schemas.openxmlformats.org/drawingml/2006/main">
            <a:r>
              <a:t>CHECK AND EXPECTED ANSWER</a:t>
            </a:r>
          </a:p>
          <a:p xmlns:a="http://schemas.openxmlformats.org/drawingml/2006/main">
            <a:r>
              <a:t>Does assigning red=1 and blue=2 mean blue is twice red? No, those are labels.</a:t>
            </a:r>
          </a:p>
          <a:p xmlns:a="http://schemas.openxmlformats.org/drawingml/2006/main">
            <a:r>
              <a:t/>
            </a:r>
          </a:p>
          <a:p xmlns:a="http://schemas.openxmlformats.org/drawingml/2006/main">
            <a:r>
              <a:t>IF LEARNERS ARE STUCK</a:t>
            </a:r>
          </a:p>
          <a:p xmlns:a="http://schemas.openxmlformats.org/drawingml/2006/main">
            <a:r>
              <a:t>Make two rows and two category columns by hand before showing the encoder.</a:t>
            </a:r>
          </a:p>
          <a:p xmlns:a="http://schemas.openxmlformats.org/drawingml/2006/main">
            <a:r>
              <a:t/>
            </a:r>
          </a:p>
          <a:p xmlns:a="http://schemas.openxmlformats.org/drawingml/2006/main">
            <a:r>
              <a:t>POINT TO THE DEFINITION</a:t>
            </a:r>
          </a:p>
          <a:p xmlns:a="http://schemas.openxmlformats.org/drawingml/2006/main">
            <a:r>
              <a:t>Category: A category is a label such as steel or timber. Its name does not imply a numerical size or rank.</a:t>
            </a:r>
          </a:p>
          <a:p xmlns:a="http://schemas.openxmlformats.org/drawingml/2006/main">
            <a:r>
              <a:t>One-hot indicator: Create a column for each category. Its entry is 1 when the row has that category and 0 otherwise. Learn the allowed categories from training data.</a:t>
            </a:r>
          </a:p>
          <a:p xmlns:a="http://schemas.openxmlformats.org/drawingml/2006/main">
            <a:r>
              <a:t/>
            </a:r>
          </a:p>
          <a:p xmlns:a="http://schemas.openxmlformats.org/drawingml/2006/main">
            <a:r>
              <a:t>NEXT</a:t>
            </a:r>
          </a:p>
          <a:p xmlns:a="http://schemas.openxmlformats.org/drawingml/2006/main">
            <a:r>
              <a:t>A category can become indicator columns.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category can become indicator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category can become indicator columns</a:t>
            </a:r>
          </a:p>
          <a:p xmlns:a="http://schemas.openxmlformats.org/drawingml/2006/main">
            <a:r>
              <a:t/>
            </a:r>
          </a:p>
          <a:p xmlns:a="http://schemas.openxmlformats.org/drawingml/2006/main">
            <a:r>
              <a:t>CONNECT</a:t>
            </a:r>
          </a:p>
          <a:p xmlns:a="http://schemas.openxmlformats.org/drawingml/2006/main">
            <a:r>
              <a:t>Build on Represent a category with indicators. Explain why this example is needed before running it.</a:t>
            </a:r>
          </a:p>
          <a:p xmlns:a="http://schemas.openxmlformats.org/drawingml/2006/main">
            <a:r>
              <a:t/>
            </a:r>
          </a:p>
          <a:p xmlns:a="http://schemas.openxmlformats.org/drawingml/2006/main">
            <a:r>
              <a:t>EXPLAIN</a:t>
            </a:r>
          </a:p>
          <a:p xmlns:a="http://schemas.openxmlformats.org/drawingml/2006/main">
            <a:r>
              <a:t>An encoder converts category labels to numeric columns. Fit it on training data. Each indicator is 1 when that category applies, otherwise 0.</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category can become indicator columns</a:t>
            </a:r>
          </a:p>
          <a:p xmlns:a="http://schemas.openxmlformats.org/drawingml/2006/main">
            <a:r>
              <a:t/>
            </a:r>
          </a:p>
          <a:p xmlns:a="http://schemas.openxmlformats.org/drawingml/2006/main">
            <a:r>
              <a:t>CONNECT</a:t>
            </a:r>
          </a:p>
          <a:p xmlns:a="http://schemas.openxmlformats.org/drawingml/2006/main">
            <a:r>
              <a:t>Build on the preceding slide: Represent a category with indicators.</a:t>
            </a:r>
          </a:p>
          <a:p xmlns:a="http://schemas.openxmlformats.org/drawingml/2006/main">
            <a:r>
              <a:t/>
            </a:r>
          </a:p>
          <a:p xmlns:a="http://schemas.openxmlformats.org/drawingml/2006/main">
            <a:r>
              <a:t>LECTURER CUE</a:t>
            </a:r>
          </a:p>
          <a:p xmlns:a="http://schemas.openxmlformats.org/drawingml/2006/main">
            <a:r>
              <a:t>An indicator is 1 when its category applies and 0 otherwise. Fit the encoder on training data.</a:t>
            </a:r>
          </a:p>
          <a:p xmlns:a="http://schemas.openxmlformats.org/drawingml/2006/main">
            <a:r>
              <a:t/>
            </a:r>
          </a:p>
          <a:p xmlns:a="http://schemas.openxmlformats.org/drawingml/2006/main">
            <a:r>
              <a:t>EXPLAIN IN ORDINARY WORDS</a:t>
            </a:r>
          </a:p>
          <a:p xmlns:a="http://schemas.openxmlformats.org/drawingml/2006/main">
            <a:r>
              <a:t>A category is a label, not an amount. Indicator columns record whether a row belongs to each category, usually with 0 or 1. Fit the encoding on training data and reuse it.</a:t>
            </a:r>
          </a:p>
          <a:p xmlns:a="http://schemas.openxmlformats.org/drawingml/2006/main">
            <a:r>
              <a:t/>
            </a:r>
          </a:p>
          <a:p xmlns:a="http://schemas.openxmlformats.org/drawingml/2006/main">
            <a:r>
              <a:t>CHECK AND EXPECTED ANSWER</a:t>
            </a:r>
          </a:p>
          <a:p xmlns:a="http://schemas.openxmlformats.org/drawingml/2006/main">
            <a:r>
              <a:t>Does assigning red=1 and blue=2 mean blue is twice red? No, those are labels.</a:t>
            </a:r>
          </a:p>
          <a:p xmlns:a="http://schemas.openxmlformats.org/drawingml/2006/main">
            <a:r>
              <a:t/>
            </a:r>
          </a:p>
          <a:p xmlns:a="http://schemas.openxmlformats.org/drawingml/2006/main">
            <a:r>
              <a:t>IF LEARNERS ARE STUCK</a:t>
            </a:r>
          </a:p>
          <a:p xmlns:a="http://schemas.openxmlformats.org/drawingml/2006/main">
            <a:r>
              <a:t>Make two rows and two category columns by hand before showing the encoder.</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Accuracy can hide missed warnings.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Accuracy can hide missed warnings.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Accuracy can hide missed warnings</a:t>
            </a:r>
          </a:p>
          <a:p xmlns:a="http://schemas.openxmlformats.org/drawingml/2006/main">
            <a:r>
              <a:t/>
            </a:r>
          </a:p>
          <a:p xmlns:a="http://schemas.openxmlformats.org/drawingml/2006/main">
            <a:r>
              <a:t>CONNECT</a:t>
            </a:r>
          </a:p>
          <a:p xmlns:a="http://schemas.openxmlformats.org/drawingml/2006/main">
            <a:r>
              <a:t>Build on A category can become indicator columns. Explain why this example is needed before running it.</a:t>
            </a:r>
          </a:p>
          <a:p xmlns:a="http://schemas.openxmlformats.org/drawingml/2006/main">
            <a:r>
              <a:t/>
            </a:r>
          </a:p>
          <a:p xmlns:a="http://schemas.openxmlformats.org/drawingml/2006/main">
            <a:r>
              <a:t>EXPLAIN</a:t>
            </a:r>
          </a:p>
          <a:p xmlns:a="http://schemas.openxmlformats.org/drawingml/2006/main">
            <a:r>
              <a:t>Accuracy = number of correct labels / number of labels. It counts correct warnings and correct non-warnings together.</a:t>
            </a:r>
          </a:p>
          <a:p xmlns:a="http://schemas.openxmlformats.org/drawingml/2006/main">
            <a:r>
              <a:t/>
            </a:r>
          </a:p>
          <a:p xmlns:a="http://schemas.openxmlformats.org/drawingml/2006/main">
            <a:r>
              <a:t>If 90 of 100 cases need no warning, predicting no warning every time gives 90% accuracy. It detects none of the 10 real warnings: recall is 0.</a:t>
            </a:r>
          </a:p>
          <a:p xmlns:a="http://schemas.openxmlformats.org/drawingml/2006/main">
            <a:r>
              <a:t/>
            </a:r>
          </a:p>
          <a:p xmlns:a="http://schemas.openxmlformats.org/drawingml/2006/main">
            <a:r>
              <a:t>Always inspect the actual/predicted counts and relevant costs before calling a classifier useful.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Accuracy can hide missed warnings</a:t>
            </a:r>
          </a:p>
          <a:p xmlns:a="http://schemas.openxmlformats.org/drawingml/2006/main">
            <a:r>
              <a:t/>
            </a:r>
          </a:p>
          <a:p xmlns:a="http://schemas.openxmlformats.org/drawingml/2006/main">
            <a:r>
              <a:t>CONNECT</a:t>
            </a:r>
          </a:p>
          <a:p xmlns:a="http://schemas.openxmlformats.org/drawingml/2006/main">
            <a:r>
              <a:t>Build on the preceding slide: A category can become indicator columns.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Your turn.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Accuracy can hide missed warnings. Explain why this example is needed before running it.</a:t>
            </a:r>
          </a:p>
          <a:p xmlns:a="http://schemas.openxmlformats.org/drawingml/2006/main">
            <a:r>
              <a:t/>
            </a:r>
          </a:p>
          <a:p xmlns:a="http://schemas.openxmlformats.org/drawingml/2006/main">
            <a:r>
              <a:t>EXPLAIN</a:t>
            </a:r>
          </a:p>
          <a:p xmlns:a="http://schemas.openxmlformats.org/drawingml/2006/main">
            <a:r>
              <a:t>Example: Change the second prediction to 1. Count again. Does this improve both recall and the assumed cost?</a:t>
            </a:r>
          </a:p>
          <a:p xmlns:a="http://schemas.openxmlformats.org/drawingml/2006/main">
            <a:r>
              <a:t/>
            </a:r>
          </a:p>
          <a:p xmlns:a="http://schemas.openxmlformats.org/drawingml/2006/main">
            <a:r>
              <a:t>Answer: TP=2, FN=0, FP=1, TN=1. Precision 2/3, recall 1, cost 1. This particular change improves recall and cost.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Accuracy can hide missed warnings.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TP=2, FN=0, FP=1, TN=1. Precision 2/3, recall 1, cost 1. This particular change improves recall and cost.</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TP=2, FN=0, FP=1, TN=1. Precision 2/3, recall 1, cost 1. This particular change improves recall and cost.</a:t>
            </a:r>
          </a:p>
          <a:p xmlns:a="http://schemas.openxmlformats.org/drawingml/2006/main">
            <a:r>
              <a:t>Which step produced this result? What changes if one input changes?</a:t>
            </a:r>
          </a:p>
          <a:p xmlns:a="http://schemas.openxmlformats.org/drawingml/2006/main">
            <a:r>
              <a:t>CML3111   Week 9   32</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Implement classification_metrics on arbitrary paired binary labels, not only the example.</a:t>
            </a:r>
          </a:p>
          <a:p xmlns:a="http://schemas.openxmlformats.org/drawingml/2006/main">
            <a:r>
              <a:t/>
            </a:r>
          </a:p>
          <a:p xmlns:a="http://schemas.openxmlformats.org/drawingml/2006/main">
            <a:r>
              <a:t>Use the published zero-denominator convention.</a:t>
            </a:r>
          </a:p>
          <a:p xmlns:a="http://schemas.openxmlformats.org/drawingml/2006/main">
            <a:r>
              <a:t/>
            </a:r>
          </a:p>
          <a:p xmlns:a="http://schemas.openxmlformats.org/drawingml/2006/main">
            <a:r>
              <a:t>Read the supplied W09 comparison separately.</a:t>
            </a:r>
          </a:p>
          <a:p xmlns:a="http://schemas.openxmlformats.org/drawingml/2006/main">
            <a:r>
              <a:t/>
            </a:r>
          </a:p>
          <a:p xmlns:a="http://schemas.openxmlformats.org/drawingml/2006/main">
            <a:r>
              <a:t>Teacher-written cost assumptions are not approved operating limits.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Preparing for the assignment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All claimed benefits require real-world evaluation.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 continued</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Implement classification_metrics on arbitrary paired binary labels, not only the example. Use the published zero-denominator convention. Read the supplied W09 comparison separately. Teacher-written cost assumptions are not approved operating limits. All claimed benefits require real-world evaluation.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Category predictions and operating thresholds.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Category predictions and operating thresholds.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Category predictions and operating thresholds</a:t>
            </a:r>
          </a:p>
          <a:p xmlns:a="http://schemas.openxmlformats.org/drawingml/2006/main">
            <a:r>
              <a:t/>
            </a:r>
          </a:p>
          <a:p xmlns:a="http://schemas.openxmlformats.org/drawingml/2006/main">
            <a:r>
              <a:t>CONNECT</a:t>
            </a:r>
          </a:p>
          <a:p xmlns:a="http://schemas.openxmlformats.org/drawingml/2006/main">
            <a:r>
              <a:t>Build on Preparing for the assignment continued. Explain why this example is needed before running it.</a:t>
            </a:r>
          </a:p>
          <a:p xmlns:a="http://schemas.openxmlformats.org/drawingml/2006/main">
            <a:r>
              <a:t/>
            </a:r>
          </a:p>
          <a:p xmlns:a="http://schemas.openxmlformats.org/drawingml/2006/main">
            <a:r>
              <a:t>EXPLAIN</a:t>
            </a:r>
          </a:p>
          <a:p xmlns:a="http://schemas.openxmlformats.org/drawingml/2006/main">
            <a:r>
              <a:t>A majority-only classifier can achieve high accuracy while missing the rare class.</a:t>
            </a:r>
          </a:p>
          <a:p xmlns:a="http://schemas.openxmlformats.org/drawingml/2006/main">
            <a:r>
              <a:t/>
            </a:r>
          </a:p>
          <a:p xmlns:a="http://schemas.openxmlformats.org/drawingml/2006/main">
            <a:r>
              <a:t>Name the positive class and both confusion-matrix axes.</a:t>
            </a:r>
          </a:p>
          <a:p xmlns:a="http://schemas.openxmlformats.org/drawingml/2006/main">
            <a:r>
              <a:t/>
            </a:r>
          </a:p>
          <a:p xmlns:a="http://schemas.openxmlformats.org/drawingml/2006/main">
            <a:r>
              <a:t>A model expecting numeric features cannot directly use raw category strings; use numeric indicator columns for categories.</a:t>
            </a:r>
          </a:p>
          <a:p xmlns:a="http://schemas.openxmlformats.org/drawingml/2006/main">
            <a:r>
              <a:t/>
            </a:r>
          </a:p>
          <a:p xmlns:a="http://schemas.openxmlformats.org/drawingml/2006/main">
            <a:r>
              <a:t>Compare threshold choices on validation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Category predictions and operating thresholds</a:t>
            </a:r>
          </a:p>
          <a:p xmlns:a="http://schemas.openxmlformats.org/drawingml/2006/main">
            <a:r>
              <a:t/>
            </a:r>
          </a:p>
          <a:p xmlns:a="http://schemas.openxmlformats.org/drawingml/2006/main">
            <a:r>
              <a:t>CONNECT</a:t>
            </a:r>
          </a:p>
          <a:p xmlns:a="http://schemas.openxmlformats.org/drawingml/2006/main">
            <a:r>
              <a:t>Build on the preceding slide: Preparing for the assignment continued.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Category predictions and operating thresholds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Category predictions and operating thresholds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Category predictions and operating thresholds continued</a:t>
            </a:r>
          </a:p>
          <a:p xmlns:a="http://schemas.openxmlformats.org/drawingml/2006/main">
            <a:r>
              <a:t/>
            </a:r>
          </a:p>
          <a:p xmlns:a="http://schemas.openxmlformats.org/drawingml/2006/main">
            <a:r>
              <a:t>CONNECT</a:t>
            </a:r>
          </a:p>
          <a:p xmlns:a="http://schemas.openxmlformats.org/drawingml/2006/main">
            <a:r>
              <a:t>Build on Category predictions and operating thresholds. Explain why this example is needed before running it.</a:t>
            </a:r>
          </a:p>
          <a:p xmlns:a="http://schemas.openxmlformats.org/drawingml/2006/main">
            <a:r>
              <a:t/>
            </a:r>
          </a:p>
          <a:p xmlns:a="http://schemas.openxmlformats.org/drawingml/2006/main">
            <a:r>
              <a:t>EXPLAIN</a:t>
            </a:r>
          </a:p>
          <a:p xmlns:a="http://schemas.openxmlformats.org/drawingml/2006/main">
            <a:r>
              <a:t>Reducing the threshold adds flagged cases and cannot reduce recall on fixed scored observations, but precision can move either way.</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Category predictions and operating thresholds continued</a:t>
            </a:r>
          </a:p>
          <a:p xmlns:a="http://schemas.openxmlformats.org/drawingml/2006/main">
            <a:r>
              <a:t/>
            </a:r>
          </a:p>
          <a:p xmlns:a="http://schemas.openxmlformats.org/drawingml/2006/main">
            <a:r>
              <a:t>CONNECT</a:t>
            </a:r>
          </a:p>
          <a:p xmlns:a="http://schemas.openxmlformats.org/drawingml/2006/main">
            <a:r>
              <a:t>Build on the preceding slide: Category predictions and operating thresholds.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 probability-like score and a class decision are different outputs. A threshold turns a score into an action. Lowering a warning threshold usually raises both detections and false alarms.</a:t>
            </a:r>
          </a:p>
          <a:p xmlns:a="http://schemas.openxmlformats.org/drawingml/2006/main">
            <a:r>
              <a:t/>
            </a:r>
          </a:p>
          <a:p xmlns:a="http://schemas.openxmlformats.org/drawingml/2006/main">
            <a:r>
              <a:t>CHECK AND EXPECTED ANSWER</a:t>
            </a:r>
          </a:p>
          <a:p xmlns:a="http://schemas.openxmlformats.org/drawingml/2006/main">
            <a:r>
              <a:t>At a rule of score &gt;= 0.5, what happens at 0.5? It is positive. With &gt; 0.5 it would not be.</a:t>
            </a:r>
          </a:p>
          <a:p xmlns:a="http://schemas.openxmlformats.org/drawingml/2006/main">
            <a:r>
              <a:t/>
            </a:r>
          </a:p>
          <a:p xmlns:a="http://schemas.openxmlformats.org/drawingml/2006/main">
            <a:r>
              <a:t>IF LEARNERS ARE STUCK</a:t>
            </a:r>
          </a:p>
          <a:p xmlns:a="http://schemas.openxmlformats.org/drawingml/2006/main">
            <a:r>
              <a:t>Mark three scores below, at and above the boundary. Do not promise the score is well calibrated without checking.</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Category predictions and operating thresholds continued. Explain why this example is needed before running it.</a:t>
            </a:r>
          </a:p>
          <a:p xmlns:a="http://schemas.openxmlformats.org/drawingml/2006/main">
            <a:r>
              <a:t/>
            </a:r>
          </a:p>
          <a:p xmlns:a="http://schemas.openxmlformats.org/drawingml/2006/main">
            <a:r>
              <a:t>EXPLAIN</a:t>
            </a:r>
          </a:p>
          <a:p xmlns:a="http://schemas.openxmlformats.org/drawingml/2006/main">
            <a:r>
              <a:t>Use classification_case.csv.</a:t>
            </a:r>
          </a:p>
          <a:p xmlns:a="http://schemas.openxmlformats.org/drawingml/2006/main">
            <a:r>
              <a:t/>
            </a:r>
          </a:p>
          <a:p xmlns:a="http://schemas.openxmlformats.org/drawingml/2006/main">
            <a:r>
              <a:t>Positive means a synthetic warning condition.</a:t>
            </a:r>
          </a:p>
          <a:p xmlns:a="http://schemas.openxmlformats.org/drawingml/2006/main">
            <a:r>
              <a:t/>
            </a:r>
          </a:p>
          <a:p xmlns:a="http://schemas.openxmlformats.org/drawingml/2006/main">
            <a:r>
              <a:t>Compute the confusion matrix, precision, recall and cost.</a:t>
            </a:r>
          </a:p>
          <a:p xmlns:a="http://schemas.openxmlformats.org/drawingml/2006/main">
            <a:r>
              <a:t/>
            </a:r>
          </a:p>
          <a:p xmlns:a="http://schemas.openxmlformats.org/drawingml/2006/main">
            <a:r>
              <a:t>Explain the 5:1 missed-warning/false-alarm cost assumption and why accuracy alone is insufficient.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Category predictions and operating thresholds continued.</a:t>
            </a:r>
          </a:p>
          <a:p xmlns:a="http://schemas.openxmlformats.org/drawingml/2006/main">
            <a:r>
              <a:t/>
            </a:r>
          </a:p>
          <a:p xmlns:a="http://schemas.openxmlformats.org/drawingml/2006/main">
            <a:r>
              <a:t>LECTURER CUE</a:t>
            </a:r>
          </a:p>
          <a:p xmlns:a="http://schemas.openxmlformats.org/drawingml/2006/main">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Your issued task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 continued</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These costs are teaching assumptions, not approved operating limits.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 continued</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Use classification_case.csv. Positive means a synthetic warning condition. Compute the confusion matrix, precision, recall and cost. Explain the 5:1 missed-warning/false-alarm cost assumption and why accuracy alone is insufficient. These costs are teaching assumptions, not approved operating limits.</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classification_metrics(actual, predicted).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classification_metrics(actual, predicted).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classification_metrics(actual, predicted)</a:t>
            </a:r>
          </a:p>
          <a:p xmlns:a="http://schemas.openxmlformats.org/drawingml/2006/main">
            <a:r>
              <a:t/>
            </a:r>
          </a:p>
          <a:p xmlns:a="http://schemas.openxmlformats.org/drawingml/2006/main">
            <a:r>
              <a:t>CONNECT</a:t>
            </a:r>
          </a:p>
          <a:p xmlns:a="http://schemas.openxmlformats.org/drawingml/2006/main">
            <a:r>
              <a:t>Build on Your issued task continued. Explain why this example is needed before running it.</a:t>
            </a:r>
          </a:p>
          <a:p xmlns:a="http://schemas.openxmlformats.org/drawingml/2006/main">
            <a:r>
              <a:t/>
            </a:r>
          </a:p>
          <a:p xmlns:a="http://schemas.openxmlformats.org/drawingml/2006/main">
            <a:r>
              <a:t>EXPLAIN</a:t>
            </a:r>
          </a:p>
          <a:p xmlns:a="http://schemas.openxmlformats.org/drawingml/2006/main">
            <a:r>
              <a:t>For binary labels return tp, tn, fp, fn, precision, recall and cost=5*fn+fp; use zero for an undefined precision/recall denominator.</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classification_metrics(actual, predicted)</a:t>
            </a:r>
          </a:p>
          <a:p xmlns:a="http://schemas.openxmlformats.org/drawingml/2006/main">
            <a:r>
              <a:t/>
            </a:r>
          </a:p>
          <a:p xmlns:a="http://schemas.openxmlformats.org/drawingml/2006/main">
            <a:r>
              <a:t>CONNECT</a:t>
            </a:r>
          </a:p>
          <a:p xmlns:a="http://schemas.openxmlformats.org/drawingml/2006/main">
            <a:r>
              <a:t>Build on the preceding slide: Your issued task continued.</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IUEA_Teaching_Plan/assessment_banks/W09/CML3111/A/TASKS.md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classification_metrics(actual, predicted).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classification_metrics(actual, predicted).</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Classification and cost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Classification and cost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Classification and cost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06 Nov 2026, 11:00 Kampala</a:t>
            </a:r>
          </a:p>
          <a:p xmlns:a="http://schemas.openxmlformats.org/drawingml/2006/main">
            <a:r>
              <a:t/>
            </a:r>
          </a:p>
          <a:p xmlns:a="http://schemas.openxmlformats.org/drawingml/2006/main">
            <a:r>
              <a:t>Deadline: 13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Classification and cost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9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9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9 quiz</a:t>
            </a:r>
          </a:p>
          <a:p xmlns:a="http://schemas.openxmlformats.org/drawingml/2006/main">
            <a:r>
              <a:t/>
            </a:r>
          </a:p>
          <a:p xmlns:a="http://schemas.openxmlformats.org/drawingml/2006/main">
            <a:r>
              <a:t>CONNECT</a:t>
            </a:r>
          </a:p>
          <a:p xmlns:a="http://schemas.openxmlformats.org/drawingml/2006/main">
            <a:r>
              <a:t>Build on Classification and cost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9 quiz</a:t>
            </a:r>
          </a:p>
          <a:p xmlns:a="http://schemas.openxmlformats.org/drawingml/2006/main">
            <a:r>
              <a:t/>
            </a:r>
          </a:p>
          <a:p xmlns:a="http://schemas.openxmlformats.org/drawingml/2006/main">
            <a:r>
              <a:t>CONNECT</a:t>
            </a:r>
          </a:p>
          <a:p xmlns:a="http://schemas.openxmlformats.org/drawingml/2006/main">
            <a:r>
              <a:t>Build on the preceding slide: Classification and cost submission.</a:t>
            </a:r>
          </a:p>
          <a:p xmlns:a="http://schemas.openxmlformats.org/drawingml/2006/main">
            <a:r>
              <a:t/>
            </a:r>
          </a:p>
          <a:p xmlns:a="http://schemas.openxmlformats.org/drawingml/2006/main">
            <a:r>
              <a:t>LECTURER CUE</a:t>
            </a:r>
          </a:p>
          <a:p xmlns:a="http://schemas.openxmlformats.org/drawingml/2006/main">
            <a:r>
              <a:t>Activate the matching open_W9_CML3111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9 quiz. Explain why this example is needed before running it.</a:t>
            </a:r>
          </a:p>
          <a:p xmlns:a="http://schemas.openxmlformats.org/drawingml/2006/main">
            <a:r>
              <a:t/>
            </a:r>
          </a:p>
          <a:p xmlns:a="http://schemas.openxmlformats.org/drawingml/2006/main">
            <a:r>
              <a:t>EXPLAIN</a:t>
            </a:r>
          </a:p>
          <a:p xmlns:a="http://schemas.openxmlformats.org/drawingml/2006/main">
            <a:r>
              <a:t>You can identify a false negative and explain precision and recall with counts.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9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The Confusion Matrix</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Which observations are correctly or incorrectly classified?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Translate the medical example to warning/no-warning and label the axes.</a:t>
            </a:r>
          </a:p>
          <a:p xmlns:a="http://schemas.openxmlformats.org/drawingml/2006/main">
            <a:r>
              <a:t>Preview before class and stop after the selected short excerpt. If playback fails, teach the worked example. Video is optional. Source: https://www.youtube.com/watch?v=Kdsp6soqA7o</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8fc3f02c524a6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f09e118428e4c4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120884bd968488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7d75ca14a634cf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4d85e20e32743e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b02b8bdedff422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1F29E5C-F227-4C1D-A2FF-41B81AED6636}"/>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EF88D0C-BD56-49A2-A9EE-42448A85EE5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0635302-E8A7-43DC-8F51-74E740747052}"/>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95D61727-2D60-481D-BF20-D63C04A92CAB}"/>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0DD64730-0A91-4861-96A5-C4F98C49CDB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6CA51F3-2F01-4471-BD39-6B7B2A6F9A5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765E017-ED2F-411A-B56B-AA6736654B5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13750465-063F-4530-8DAE-11669F7B328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29B1FEB3-3E29-464B-8887-064E39B6CAE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4A82220-0E07-49F4-B52F-FDDA92BEB28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A9D2471-14EA-48AE-A146-83189236F9F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6B594FC-380C-43EE-A2E5-E483C424188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6F90798-F47C-4859-8F83-ABF616ED30F7}"/>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41B07A1-6CD5-46E0-A70C-253907E6673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4E8C03E-AB6A-4A29-BF52-9145751B0AE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96c8d2622c546de" /><Relationship Type="http://schemas.openxmlformats.org/officeDocument/2006/relationships/slideLayout" Target="/ppt/slideLayouts/slideLayout1.xml" Id="Re96ba89aa7274c1f" /><Relationship Type="http://schemas.openxmlformats.org/officeDocument/2006/relationships/slideLayout" Target="/ppt/slideLayouts/slideLayout2.xml" Id="Rc360bc2cade74822" /><Relationship Type="http://schemas.openxmlformats.org/officeDocument/2006/relationships/slideLayout" Target="/ppt/slideLayouts/slideLayout3.xml" Id="R4bccfc0d9dec4437" /><Relationship Type="http://schemas.openxmlformats.org/officeDocument/2006/relationships/slideLayout" Target="/ppt/slideLayouts/slideLayout4.xml" Id="R5a4ce8c0981248d4" /><Relationship Type="http://schemas.openxmlformats.org/officeDocument/2006/relationships/slideLayout" Target="/ppt/slideLayouts/slideLayout5.xml" Id="Ra4e14d03d89e496e" /><Relationship Type="http://schemas.openxmlformats.org/officeDocument/2006/relationships/slideLayout" Target="/ppt/slideLayouts/slideLayout6.xml" Id="R58303e674f1247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6ba89aa7274c1f"/>
    <p:sldLayoutId xmlns:r="http://schemas.openxmlformats.org/officeDocument/2006/relationships" id="2147483650" r:id="Rc360bc2cade74822"/>
    <p:sldLayoutId xmlns:r="http://schemas.openxmlformats.org/officeDocument/2006/relationships" id="2147483651" r:id="R4bccfc0d9dec4437"/>
    <p:sldLayoutId xmlns:r="http://schemas.openxmlformats.org/officeDocument/2006/relationships" id="2147483652" r:id="R5a4ce8c0981248d4"/>
    <p:sldLayoutId xmlns:r="http://schemas.openxmlformats.org/officeDocument/2006/relationships" id="2147483653" r:id="Ra4e14d03d89e496e"/>
    <p:sldLayoutId xmlns:r="http://schemas.openxmlformats.org/officeDocument/2006/relationships" id="2147483654" r:id="R58303e674f1247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9aed3d57611491e" /><Relationship Type="http://schemas.openxmlformats.org/officeDocument/2006/relationships/image" Target="/ppt/media/image.png" Id="R195593399baa4115" /><Relationship Type="http://schemas.openxmlformats.org/officeDocument/2006/relationships/notesSlide" Target="/ppt/notesSlides/notesSlide1.xml" Id="Ra8db1090ce5e485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42f72369fdf4ac6" /><Relationship Type="http://schemas.openxmlformats.org/officeDocument/2006/relationships/notesSlide" Target="/ppt/notesSlides/notesSlide2.xml" Id="R2eed9c0f25b54b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42f9dcdb6344e58" /><Relationship Type="http://schemas.openxmlformats.org/officeDocument/2006/relationships/notesSlide" Target="/ppt/notesSlides/notesSlide3.xml" Id="Rd7f177da1d1d4d6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654cd6ae1a14704" /><Relationship Type="http://schemas.openxmlformats.org/officeDocument/2006/relationships/notesSlide" Target="/ppt/notesSlides/notesSlide4.xml" Id="R5c02790c0a04428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acb1c1453c2407d" /><Relationship Type="http://schemas.openxmlformats.org/officeDocument/2006/relationships/notesSlide" Target="/ppt/notesSlides/notesSlide5.xml" Id="Rdea38bc913574ca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b6ebbbc27894928" /><Relationship Type="http://schemas.openxmlformats.org/officeDocument/2006/relationships/notesSlide" Target="/ppt/notesSlides/notesSlide6.xml" Id="Raece9887f65c4ce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45c2e5f74f74824" /><Relationship Type="http://schemas.openxmlformats.org/officeDocument/2006/relationships/notesSlide" Target="/ppt/notesSlides/notesSlide7.xml" Id="R8a7020d7e877467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db071ee2df24905" /><Relationship Type="http://schemas.openxmlformats.org/officeDocument/2006/relationships/notesSlide" Target="/ppt/notesSlides/notesSlide8.xml" Id="Re6f4450281b540e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00e1988a08444eb" /><Relationship Type="http://schemas.openxmlformats.org/officeDocument/2006/relationships/image" Target="/ppt/media/image2.png" Id="Rd18c692c2de84376" /><Relationship Type="http://schemas.openxmlformats.org/officeDocument/2006/relationships/notesSlide" Target="/ppt/notesSlides/notesSlide9.xml" Id="Rbbb82990f9f84dc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367b632b1c14fb7" /><Relationship Type="http://schemas.openxmlformats.org/officeDocument/2006/relationships/notesSlide" Target="/ppt/notesSlides/notesSlide10.xml" Id="R68443af783834f0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3de344c719f4df6" /><Relationship Type="http://schemas.openxmlformats.org/officeDocument/2006/relationships/notesSlide" Target="/ppt/notesSlides/notesSlide11.xml" Id="R34a0af17924b44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5335954dda349e1" /><Relationship Type="http://schemas.openxmlformats.org/officeDocument/2006/relationships/notesSlide" Target="/ppt/notesSlides/notesSlide12.xml" Id="R6c8173b8d9c446f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bc453c6e9c346e2" /><Relationship Type="http://schemas.openxmlformats.org/officeDocument/2006/relationships/notesSlide" Target="/ppt/notesSlides/notesSlide13.xml" Id="R6793bfa61122443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667561e8c7c4772" /><Relationship Type="http://schemas.openxmlformats.org/officeDocument/2006/relationships/notesSlide" Target="/ppt/notesSlides/notesSlide14.xml" Id="Rac43b3653128428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bf63a46657248e3" /><Relationship Type="http://schemas.openxmlformats.org/officeDocument/2006/relationships/notesSlide" Target="/ppt/notesSlides/notesSlide15.xml" Id="R74092912db6a4b3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abda6b8b7c84ed9" /><Relationship Type="http://schemas.openxmlformats.org/officeDocument/2006/relationships/notesSlide" Target="/ppt/notesSlides/notesSlide16.xml" Id="R6b9c0fe7d0d34ac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78c18d4d659460b" /><Relationship Type="http://schemas.openxmlformats.org/officeDocument/2006/relationships/notesSlide" Target="/ppt/notesSlides/notesSlide17.xml" Id="Rd5af3f7170b0491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3ef644786e441d7" /><Relationship Type="http://schemas.openxmlformats.org/officeDocument/2006/relationships/notesSlide" Target="/ppt/notesSlides/notesSlide18.xml" Id="R50b9237afe3246d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83b81175b4d47d4" /><Relationship Type="http://schemas.openxmlformats.org/officeDocument/2006/relationships/notesSlide" Target="/ppt/notesSlides/notesSlide19.xml" Id="Rfff62f6cadb34e0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11985d473514401" /><Relationship Type="http://schemas.openxmlformats.org/officeDocument/2006/relationships/notesSlide" Target="/ppt/notesSlides/notesSlide20.xml" Id="R3d7ce084f26e43c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b2f966f0fef49b9" /><Relationship Type="http://schemas.openxmlformats.org/officeDocument/2006/relationships/notesSlide" Target="/ppt/notesSlides/notesSlide21.xml" Id="R9c1cfdff7a21451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c5e561592f8475f" /><Relationship Type="http://schemas.openxmlformats.org/officeDocument/2006/relationships/notesSlide" Target="/ppt/notesSlides/notesSlide22.xml" Id="R2bde1f8c5eff406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f7e652fd2cd497c" /><Relationship Type="http://schemas.openxmlformats.org/officeDocument/2006/relationships/notesSlide" Target="/ppt/notesSlides/notesSlide23.xml" Id="R4207cf634e64417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e5652d0df6f439b" /><Relationship Type="http://schemas.openxmlformats.org/officeDocument/2006/relationships/notesSlide" Target="/ppt/notesSlides/notesSlide24.xml" Id="R6b071deda408491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431a34a9ea14734" /><Relationship Type="http://schemas.openxmlformats.org/officeDocument/2006/relationships/notesSlide" Target="/ppt/notesSlides/notesSlide25.xml" Id="Re5e18de0629f4ea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77720431216346b9" /><Relationship Type="http://schemas.openxmlformats.org/officeDocument/2006/relationships/notesSlide" Target="/ppt/notesSlides/notesSlide26.xml" Id="Re95cfdd97807446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f82cb1989ab347fa" /><Relationship Type="http://schemas.openxmlformats.org/officeDocument/2006/relationships/notesSlide" Target="/ppt/notesSlides/notesSlide27.xml" Id="Raf47fa145ec0489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3fadc08b25a4722" /><Relationship Type="http://schemas.openxmlformats.org/officeDocument/2006/relationships/notesSlide" Target="/ppt/notesSlides/notesSlide28.xml" Id="R5de8a7517049430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d66e2eb483a4e78" /><Relationship Type="http://schemas.openxmlformats.org/officeDocument/2006/relationships/notesSlide" Target="/ppt/notesSlides/notesSlide29.xml" Id="R08a8e432ab49456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ed03440e8524be1" /><Relationship Type="http://schemas.openxmlformats.org/officeDocument/2006/relationships/notesSlide" Target="/ppt/notesSlides/notesSlide30.xml" Id="R8477e0652dd3492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9c7db537852429c" /><Relationship Type="http://schemas.openxmlformats.org/officeDocument/2006/relationships/notesSlide" Target="/ppt/notesSlides/notesSlide31.xml" Id="Ra47f1ac2fa744a4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49b723ccf5b46ee" /><Relationship Type="http://schemas.openxmlformats.org/officeDocument/2006/relationships/notesSlide" Target="/ppt/notesSlides/notesSlide32.xml" Id="R9e662435de1247b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e3262d83ccb44e4" /><Relationship Type="http://schemas.openxmlformats.org/officeDocument/2006/relationships/notesSlide" Target="/ppt/notesSlides/notesSlide33.xml" Id="R8a0a0598860a408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78c22e964c940e6" /><Relationship Type="http://schemas.openxmlformats.org/officeDocument/2006/relationships/notesSlide" Target="/ppt/notesSlides/notesSlide34.xml" Id="R588350b5be734dc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498b11db697f497f" /><Relationship Type="http://schemas.openxmlformats.org/officeDocument/2006/relationships/notesSlide" Target="/ppt/notesSlides/notesSlide35.xml" Id="R04d63e5a52714ea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541adf8d8db746f9" /><Relationship Type="http://schemas.openxmlformats.org/officeDocument/2006/relationships/hyperlink" Target="https://docs.google.com/forms/d/e/1FAIpQLSfelPFlgqIQS1vM0QDthocg7aIU_WLXNjL4g1DdZAJyKcm9eA/viewform" TargetMode="External" Id="R9db007dc122c404f" /><Relationship Type="http://schemas.openxmlformats.org/officeDocument/2006/relationships/notesSlide" Target="/ppt/notesSlides/notesSlide36.xml" Id="Rfb8b2cf1f8944ad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08573beb1f84c16" /><Relationship Type="http://schemas.openxmlformats.org/officeDocument/2006/relationships/image" Target="/ppt/media/image3.png" Id="Rab8050b6fc59432d" /><Relationship Type="http://schemas.openxmlformats.org/officeDocument/2006/relationships/hyperlink" Target="https://forms.gle/U2h5A1itpmZZTogm6" TargetMode="External" Id="R64e28b02148e4138" /><Relationship Type="http://schemas.openxmlformats.org/officeDocument/2006/relationships/notesSlide" Target="/ppt/notesSlides/notesSlide37.xml" Id="Re72588696fde4c7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2a24703de3574367" /><Relationship Type="http://schemas.openxmlformats.org/officeDocument/2006/relationships/notesSlide" Target="/ppt/notesSlides/notesSlide38.xml" Id="R7887ed74f8134c7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b329cae989544892" /><Relationship Type="http://schemas.openxmlformats.org/officeDocument/2006/relationships/hyperlink" Target="https://www.youtube.com/watch?v=Kdsp6soqA7o" TargetMode="External" Id="Rc52ef577871444a6" /><Relationship Type="http://schemas.openxmlformats.org/officeDocument/2006/relationships/notesSlide" Target="/ppt/notesSlides/notesSlide39.xml" Id="Rad1f2d003af148e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195593399baa411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868C1D-485E-42BA-BA7E-21DD12CB011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CFC8268-DF04-4CD9-B235-698CA852520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9</a:t>
            </a:r>
          </a:p>
        </p:txBody>
      </p:sp>
      <p:sp>
        <p:nvSpPr>
          <p:cNvPr id="4" name="">
            <a:extLst xmlns:a="http://schemas.openxmlformats.org/drawingml/2006/main">
              <a:ext uri="{FF2B5EF4-FFF2-40B4-BE49-F238E27FC236}">
                <a16:creationId xmlns:a16="http://schemas.microsoft.com/office/drawing/2014/main" id="{80764AB1-751C-436A-AC32-69C7FC12E70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Classification and the cost of mistakes</a:t>
            </a:r>
          </a:p>
        </p:txBody>
      </p:sp>
      <p:sp>
        <p:nvSpPr>
          <p:cNvPr id="5" name="">
            <a:extLst xmlns:a="http://schemas.openxmlformats.org/drawingml/2006/main">
              <a:ext uri="{FF2B5EF4-FFF2-40B4-BE49-F238E27FC236}">
                <a16:creationId xmlns:a16="http://schemas.microsoft.com/office/drawing/2014/main" id="{2E02CABA-9C96-4D3E-A931-5BA8DBE5E3A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EE686C1E-8EB8-4DB7-B99E-4AB3F84A14D9}"/>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06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14109408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9C22625-C0BA-4E05-9F79-4CE61CA884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D1DF30-B8E4-422E-B34D-F8338DAF3E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77484D72-97FF-4CDB-8477-15852DCBD7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39926A0-C485-4EDF-9C7C-4FE5388A804E}"/>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141197-7965-4203-A9B0-CBD78060EBF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BE88082-8854-426D-8482-0CF291BD5671}"/>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an actual label from a predicted label.</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prediction outcomes and explain their costs.</a:t>
            </a:r>
          </a:p>
        </p:txBody>
      </p:sp>
      <p:sp>
        <p:nvSpPr>
          <p:cNvPr id="7" name="">
            <a:extLst xmlns:a="http://schemas.openxmlformats.org/drawingml/2006/main">
              <a:ext uri="{FF2B5EF4-FFF2-40B4-BE49-F238E27FC236}">
                <a16:creationId xmlns:a16="http://schemas.microsoft.com/office/drawing/2014/main" id="{6AD9411C-0DF3-4189-BAE0-9FA29A998832}"/>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824EF64-961C-491C-B49F-5B5D28AAC63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a false negative and explain precision and recall with counts.</a:t>
            </a:r>
          </a:p>
        </p:txBody>
      </p:sp>
      <p:sp>
        <p:nvSpPr>
          <p:cNvPr id="9" name="">
            <a:extLst xmlns:a="http://schemas.openxmlformats.org/drawingml/2006/main">
              <a:ext uri="{FF2B5EF4-FFF2-40B4-BE49-F238E27FC236}">
                <a16:creationId xmlns:a16="http://schemas.microsoft.com/office/drawing/2014/main" id="{6C8C3FC3-6E34-4F5D-9E6A-6B54AFB426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a:t>
            </a:r>
          </a:p>
        </p:txBody>
      </p:sp>
    </p:spTree>
    <p:extLst>
      <p:ext uri="{BB962C8B-B14F-4D97-AF65-F5344CB8AC3E}">
        <p14:creationId xmlns:p14="http://schemas.microsoft.com/office/powerpoint/2010/main" val="12110875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35DF7A-D960-4D6B-AF34-2E2F9D2C68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39A46C-6991-4993-A9FD-0C1D54C06F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4A996A-1760-47DD-BA32-BBBAB641F7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3789CBF0-1C07-4D69-A46F-75B14FAC410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330034-34FE-4FD3-8C8F-2C03159B9A0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 8 predicted a number.</a:t>
            </a:r>
          </a:p>
        </p:txBody>
      </p:sp>
      <p:sp>
        <p:nvSpPr>
          <p:cNvPr id="6" name="">
            <a:extLst xmlns:a="http://schemas.openxmlformats.org/drawingml/2006/main">
              <a:ext uri="{FF2B5EF4-FFF2-40B4-BE49-F238E27FC236}">
                <a16:creationId xmlns:a16="http://schemas.microsoft.com/office/drawing/2014/main" id="{0BAC9838-EBFA-46E9-86C8-332CBFE7254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week predicts a category and counts the different kinds of correct and incorrect result.</a:t>
            </a:r>
          </a:p>
        </p:txBody>
      </p:sp>
      <p:sp>
        <p:nvSpPr>
          <p:cNvPr id="7" name="">
            <a:extLst xmlns:a="http://schemas.openxmlformats.org/drawingml/2006/main">
              <a:ext uri="{FF2B5EF4-FFF2-40B4-BE49-F238E27FC236}">
                <a16:creationId xmlns:a16="http://schemas.microsoft.com/office/drawing/2014/main" id="{CC2E365E-680A-45F1-AF64-FCC54F5F7E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a:t>
            </a:r>
          </a:p>
        </p:txBody>
      </p:sp>
    </p:spTree>
    <p:extLst>
      <p:ext uri="{BB962C8B-B14F-4D97-AF65-F5344CB8AC3E}">
        <p14:creationId xmlns:p14="http://schemas.microsoft.com/office/powerpoint/2010/main" val="138116730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EA99B1-DBCD-4C44-BD44-CA886155F1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1B404D-97BE-4F7E-9838-06D3FC6149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9C7B11-3782-4E97-98BA-F5113CBD7B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F0B01319-D7DD-4E7F-A464-01A5BA26187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8346CB-1A63-4C5E-8901-49601D7E732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warning system predicts a category.</a:t>
            </a:r>
          </a:p>
        </p:txBody>
      </p:sp>
      <p:sp>
        <p:nvSpPr>
          <p:cNvPr id="6" name="">
            <a:extLst xmlns:a="http://schemas.openxmlformats.org/drawingml/2006/main">
              <a:ext uri="{FF2B5EF4-FFF2-40B4-BE49-F238E27FC236}">
                <a16:creationId xmlns:a16="http://schemas.microsoft.com/office/drawing/2014/main" id="{E6AB4F9E-3392-425C-9DB2-75BF3050433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each prediction with its recorded answer, then count false alarms and missed warnings using an explicit cost rule.</a:t>
            </a:r>
          </a:p>
        </p:txBody>
      </p:sp>
      <p:sp>
        <p:nvSpPr>
          <p:cNvPr id="7" name="">
            <a:extLst xmlns:a="http://schemas.openxmlformats.org/drawingml/2006/main">
              <a:ext uri="{FF2B5EF4-FFF2-40B4-BE49-F238E27FC236}">
                <a16:creationId xmlns:a16="http://schemas.microsoft.com/office/drawing/2014/main" id="{A665503B-80F4-460A-9F68-115B6FD480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4</a:t>
            </a:r>
          </a:p>
        </p:txBody>
      </p:sp>
    </p:spTree>
    <p:extLst>
      <p:ext uri="{BB962C8B-B14F-4D97-AF65-F5344CB8AC3E}">
        <p14:creationId xmlns:p14="http://schemas.microsoft.com/office/powerpoint/2010/main" val="15167758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775CDB1-DD75-4365-87D8-1A74C060A2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A9EC9F-0F8E-4DB2-B90E-DA516EC3CB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E87FB1-D963-46C1-92F2-D04E22CB09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positive class</a:t>
            </a:r>
          </a:p>
        </p:txBody>
      </p:sp>
      <p:sp>
        <p:nvSpPr>
          <p:cNvPr id="4" name="">
            <a:extLst xmlns:a="http://schemas.openxmlformats.org/drawingml/2006/main">
              <a:ext uri="{FF2B5EF4-FFF2-40B4-BE49-F238E27FC236}">
                <a16:creationId xmlns:a16="http://schemas.microsoft.com/office/drawing/2014/main" id="{A8492806-6E5A-4C88-A0AD-05579B149C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24C080-A39A-4046-8B03-066E6AB4442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this example, 1 means a warning is needed.</a:t>
            </a:r>
          </a:p>
        </p:txBody>
      </p:sp>
      <p:sp>
        <p:nvSpPr>
          <p:cNvPr id="6" name="">
            <a:extLst xmlns:a="http://schemas.openxmlformats.org/drawingml/2006/main">
              <a:ext uri="{FF2B5EF4-FFF2-40B4-BE49-F238E27FC236}">
                <a16:creationId xmlns:a16="http://schemas.microsoft.com/office/drawing/2014/main" id="{65C4134C-15E1-4358-88A3-8434AB1AA73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FC2694-459F-4287-89B5-7B9071A9903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 means a warning is not needed.</a:t>
            </a:r>
          </a:p>
        </p:txBody>
      </p:sp>
      <p:sp>
        <p:nvSpPr>
          <p:cNvPr id="8" name="">
            <a:extLst xmlns:a="http://schemas.openxmlformats.org/drawingml/2006/main">
              <a:ext uri="{FF2B5EF4-FFF2-40B4-BE49-F238E27FC236}">
                <a16:creationId xmlns:a16="http://schemas.microsoft.com/office/drawing/2014/main" id="{5BFC34AE-A733-427C-8133-FDD18F3C893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D50806-5BBC-4FE3-8A9B-80F531310D6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reference label. Predicted is the model’s label.</a:t>
            </a:r>
          </a:p>
        </p:txBody>
      </p:sp>
      <p:sp>
        <p:nvSpPr>
          <p:cNvPr id="10" name="">
            <a:extLst xmlns:a="http://schemas.openxmlformats.org/drawingml/2006/main">
              <a:ext uri="{FF2B5EF4-FFF2-40B4-BE49-F238E27FC236}">
                <a16:creationId xmlns:a16="http://schemas.microsoft.com/office/drawing/2014/main" id="{D4F587FB-B05C-4689-83FD-4E59CB8D477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58D85CA-D0EF-4441-9A5E-B0A7A8B4EFD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false negative misses a real warning.</a:t>
            </a:r>
          </a:p>
        </p:txBody>
      </p:sp>
      <p:sp>
        <p:nvSpPr>
          <p:cNvPr id="12" name="">
            <a:extLst xmlns:a="http://schemas.openxmlformats.org/drawingml/2006/main">
              <a:ext uri="{FF2B5EF4-FFF2-40B4-BE49-F238E27FC236}">
                <a16:creationId xmlns:a16="http://schemas.microsoft.com/office/drawing/2014/main" id="{6955B6E6-DBCE-41DC-8A52-83EA291DDC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5</a:t>
            </a:r>
          </a:p>
        </p:txBody>
      </p:sp>
    </p:spTree>
    <p:extLst>
      <p:ext uri="{BB962C8B-B14F-4D97-AF65-F5344CB8AC3E}">
        <p14:creationId xmlns:p14="http://schemas.microsoft.com/office/powerpoint/2010/main" val="166937186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FD50B0-2241-4521-AAAC-E45D338E52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19409E-E24B-48DD-9161-39765AC578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5B09A93-6E5F-4460-9499-F71D623303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 and positive label / TP and TN</a:t>
            </a:r>
          </a:p>
        </p:txBody>
      </p:sp>
      <p:sp>
        <p:nvSpPr>
          <p:cNvPr id="4" name="">
            <a:extLst xmlns:a="http://schemas.openxmlformats.org/drawingml/2006/main">
              <a:ext uri="{FF2B5EF4-FFF2-40B4-BE49-F238E27FC236}">
                <a16:creationId xmlns:a16="http://schemas.microsoft.com/office/drawing/2014/main" id="{6AC16D1C-F57C-4606-816E-C16B75C85A3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891CA3-A68E-41A5-93E9-6B99CD3C0AA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Class and positive label</a:t>
            </a:r>
          </a:p>
        </p:txBody>
      </p:sp>
      <p:sp>
        <p:nvSpPr>
          <p:cNvPr id="6" name="">
            <a:extLst xmlns:a="http://schemas.openxmlformats.org/drawingml/2006/main">
              <a:ext uri="{FF2B5EF4-FFF2-40B4-BE49-F238E27FC236}">
                <a16:creationId xmlns:a16="http://schemas.microsoft.com/office/drawing/2014/main" id="{9B92526E-24B6-43C7-94BF-DF8882776E5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class is a category. Here 1 means warning and 0 means no warning. Positive means the named class, not good news.</a:t>
            </a:r>
          </a:p>
        </p:txBody>
      </p:sp>
      <p:sp>
        <p:nvSpPr>
          <p:cNvPr id="7" name="">
            <a:extLst xmlns:a="http://schemas.openxmlformats.org/drawingml/2006/main">
              <a:ext uri="{FF2B5EF4-FFF2-40B4-BE49-F238E27FC236}">
                <a16:creationId xmlns:a16="http://schemas.microsoft.com/office/drawing/2014/main" id="{11C26C10-B609-4B89-AE66-822513BAE0E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5E3C314-44BA-47FE-8DED-0D517A77943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TP and TN</a:t>
            </a:r>
          </a:p>
        </p:txBody>
      </p:sp>
      <p:sp>
        <p:nvSpPr>
          <p:cNvPr id="9" name="">
            <a:extLst xmlns:a="http://schemas.openxmlformats.org/drawingml/2006/main">
              <a:ext uri="{FF2B5EF4-FFF2-40B4-BE49-F238E27FC236}">
                <a16:creationId xmlns:a16="http://schemas.microsoft.com/office/drawing/2014/main" id="{321454AB-E359-43F0-AEB5-7B668FE1FC3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True positive is a correctly flagged warning. True negative is a correctly unflagged non-warning.</a:t>
            </a:r>
          </a:p>
        </p:txBody>
      </p:sp>
      <p:sp>
        <p:nvSpPr>
          <p:cNvPr id="10" name="">
            <a:extLst xmlns:a="http://schemas.openxmlformats.org/drawingml/2006/main">
              <a:ext uri="{FF2B5EF4-FFF2-40B4-BE49-F238E27FC236}">
                <a16:creationId xmlns:a16="http://schemas.microsoft.com/office/drawing/2014/main" id="{CC843CF7-E791-41B7-AE09-D08442234C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6</a:t>
            </a:r>
          </a:p>
        </p:txBody>
      </p:sp>
    </p:spTree>
    <p:extLst>
      <p:ext uri="{BB962C8B-B14F-4D97-AF65-F5344CB8AC3E}">
        <p14:creationId xmlns:p14="http://schemas.microsoft.com/office/powerpoint/2010/main" val="138295573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465A4EF-E27B-4954-8842-5BC0DAAA28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461793-0307-4F3E-BDC3-C6D11AB669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7AE2F52-513D-462F-97E2-8999B0C1BF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FP and FN</a:t>
            </a:r>
          </a:p>
        </p:txBody>
      </p:sp>
      <p:sp>
        <p:nvSpPr>
          <p:cNvPr id="4" name="">
            <a:extLst xmlns:a="http://schemas.openxmlformats.org/drawingml/2006/main">
              <a:ext uri="{FF2B5EF4-FFF2-40B4-BE49-F238E27FC236}">
                <a16:creationId xmlns:a16="http://schemas.microsoft.com/office/drawing/2014/main" id="{56753920-872C-4F46-8A3D-E9B71A222A88}"/>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F8FEDB-39E9-4078-BB5E-2344586BF72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FP and FN</a:t>
            </a:r>
          </a:p>
        </p:txBody>
      </p:sp>
      <p:sp>
        <p:nvSpPr>
          <p:cNvPr id="6" name="">
            <a:extLst xmlns:a="http://schemas.openxmlformats.org/drawingml/2006/main">
              <a:ext uri="{FF2B5EF4-FFF2-40B4-BE49-F238E27FC236}">
                <a16:creationId xmlns:a16="http://schemas.microsoft.com/office/drawing/2014/main" id="{4F19B5C6-912D-4174-B3CB-494BA8EEEE9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False positive is a false alarm. False negative is a missed warning.</a:t>
            </a:r>
          </a:p>
        </p:txBody>
      </p:sp>
      <p:sp>
        <p:nvSpPr>
          <p:cNvPr id="7" name="">
            <a:extLst xmlns:a="http://schemas.openxmlformats.org/drawingml/2006/main">
              <a:ext uri="{FF2B5EF4-FFF2-40B4-BE49-F238E27FC236}">
                <a16:creationId xmlns:a16="http://schemas.microsoft.com/office/drawing/2014/main" id="{61AD11CD-8556-419F-BDF8-134735FF2F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7</a:t>
            </a:r>
          </a:p>
        </p:txBody>
      </p:sp>
    </p:spTree>
    <p:extLst>
      <p:ext uri="{BB962C8B-B14F-4D97-AF65-F5344CB8AC3E}">
        <p14:creationId xmlns:p14="http://schemas.microsoft.com/office/powerpoint/2010/main" val="17384715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E04832-A9A7-4CEE-AF30-6787D3127C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AE7545-9639-4FCC-A0D9-5BAB74CA0A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C945336-0360-446C-9AE0-D056EA950C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Actual and predicted describe different things</a:t>
            </a:r>
          </a:p>
        </p:txBody>
      </p:sp>
      <p:sp>
        <p:nvSpPr>
          <p:cNvPr id="4" name="">
            <a:extLst xmlns:a="http://schemas.openxmlformats.org/drawingml/2006/main">
              <a:ext uri="{FF2B5EF4-FFF2-40B4-BE49-F238E27FC236}">
                <a16:creationId xmlns:a16="http://schemas.microsoft.com/office/drawing/2014/main" id="{970AFD87-55B0-4202-808F-392C0AFB7C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DB28E2-A747-4F53-B2BC-F9660625AB2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is the recorded reference answer.</a:t>
            </a:r>
          </a:p>
        </p:txBody>
      </p:sp>
      <p:sp>
        <p:nvSpPr>
          <p:cNvPr id="6" name="">
            <a:extLst xmlns:a="http://schemas.openxmlformats.org/drawingml/2006/main">
              <a:ext uri="{FF2B5EF4-FFF2-40B4-BE49-F238E27FC236}">
                <a16:creationId xmlns:a16="http://schemas.microsoft.com/office/drawing/2014/main" id="{29E8C06B-3E5D-44F8-966C-3A9F234FD26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2F36AE-B05B-4881-984F-55041470547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Predicted is the answer produced by our model.</a:t>
            </a:r>
          </a:p>
        </p:txBody>
      </p:sp>
      <p:sp>
        <p:nvSpPr>
          <p:cNvPr id="8" name="">
            <a:extLst xmlns:a="http://schemas.openxmlformats.org/drawingml/2006/main">
              <a:ext uri="{FF2B5EF4-FFF2-40B4-BE49-F238E27FC236}">
                <a16:creationId xmlns:a16="http://schemas.microsoft.com/office/drawing/2014/main" id="{1612525F-9BAB-4D65-968A-8086C18A3B8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9D8E65E-B2D2-4E13-9B96-EC0C0C2BE09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correct prediction matches the reference. Class 1 means warning in this example.</a:t>
            </a:r>
          </a:p>
        </p:txBody>
      </p:sp>
      <p:sp>
        <p:nvSpPr>
          <p:cNvPr id="10" name="">
            <a:extLst xmlns:a="http://schemas.openxmlformats.org/drawingml/2006/main">
              <a:ext uri="{FF2B5EF4-FFF2-40B4-BE49-F238E27FC236}">
                <a16:creationId xmlns:a16="http://schemas.microsoft.com/office/drawing/2014/main" id="{0AD8F1B2-1CDB-4693-A1CA-C0E9FC66F3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8</a:t>
            </a:r>
          </a:p>
        </p:txBody>
      </p:sp>
    </p:spTree>
    <p:extLst>
      <p:ext uri="{BB962C8B-B14F-4D97-AF65-F5344CB8AC3E}">
        <p14:creationId xmlns:p14="http://schemas.microsoft.com/office/powerpoint/2010/main" val="79036114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639C29-294A-4DC9-9628-EE8E4E40CB8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A392FB-6790-40C4-A563-AC304F5294C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Every paired result belongs in one cell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18c692c2de84376"/>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BD29222-5699-49F6-A3F5-CCB96E09851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6D6617-3973-4062-AB8D-B4BA3C5BF5C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Read actual first, then predicted. Explain the missed warning.</a:t>
            </a:r>
          </a:p>
        </p:txBody>
      </p:sp>
      <p:sp>
        <p:nvSpPr>
          <p:cNvPr id="6" name="">
            <a:extLst xmlns:a="http://schemas.openxmlformats.org/drawingml/2006/main">
              <a:ext uri="{FF2B5EF4-FFF2-40B4-BE49-F238E27FC236}">
                <a16:creationId xmlns:a16="http://schemas.microsoft.com/office/drawing/2014/main" id="{C9E869C7-DE6D-45A5-A532-A39CD16073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9</a:t>
            </a:r>
          </a:p>
        </p:txBody>
      </p:sp>
    </p:spTree>
    <p:extLst>
      <p:ext uri="{BB962C8B-B14F-4D97-AF65-F5344CB8AC3E}">
        <p14:creationId xmlns:p14="http://schemas.microsoft.com/office/powerpoint/2010/main" val="5214381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FC635B-C4FD-4C22-ADCA-EB90CF5201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899152-1FE8-4804-ACB4-526496D8D9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6E341DD-C00D-4929-8C6C-C5517D1E39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kinds of result</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 /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Warning 1</a:t>
                      </a:r>
                    </a:p>
                  </a:txBody>
                  <a:tcPr marL="91440" marR="91440" marT="45720" marB="45720">
                    <a:solidFill>
                      <a:srgbClr val="2E7D6F"/>
                    </a:solidFill>
                  </a:tcPr>
                </a:tc>
                <a:tc>
                  <a:txBody>
                    <a:bodyPr/>
                    <a:lstStyle/>
                    <a:p>
                      <a:r>
                        <a:rPr sz="2025" b="1">
                          <a:solidFill>
                            <a:srgbClr val="FFFFFF"/>
                          </a:solidFill>
                          <a:latin typeface="Calibri"/>
                          <a:ea typeface="Calibri"/>
                          <a:cs typeface="Calibri"/>
                        </a:rPr>
                        <a:t>No warning 0</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Warning 1</a:t>
                      </a:r>
                    </a:p>
                  </a:txBody>
                  <a:tcPr marL="91440" marR="91440" marT="45720" marB="45720">
                    <a:solidFill>
                      <a:srgbClr val="EEF3F6"/>
                    </a:solidFill>
                  </a:tcPr>
                </a:tc>
                <a:tc>
                  <a:txBody>
                    <a:bodyPr/>
                    <a:lstStyle/>
                    <a:p>
                      <a:r>
                        <a:rPr sz="2025" b="0">
                          <a:solidFill>
                            <a:srgbClr val="1C3144"/>
                          </a:solidFill>
                          <a:latin typeface="Calibri"/>
                          <a:ea typeface="Calibri"/>
                          <a:cs typeface="Calibri"/>
                        </a:rPr>
                        <a:t>TP = 1</a:t>
                      </a:r>
                    </a:p>
                  </a:txBody>
                  <a:tcPr marL="91440" marR="91440" marT="45720" marB="45720">
                    <a:solidFill>
                      <a:srgbClr val="EEF3F6"/>
                    </a:solidFill>
                  </a:tcPr>
                </a:tc>
                <a:tc>
                  <a:txBody>
                    <a:bodyPr/>
                    <a:lstStyle/>
                    <a:p>
                      <a:r>
                        <a:rPr sz="2025" b="0">
                          <a:solidFill>
                            <a:srgbClr val="1C3144"/>
                          </a:solidFill>
                          <a:latin typeface="Calibri"/>
                          <a:ea typeface="Calibri"/>
                          <a:cs typeface="Calibri"/>
                        </a:rPr>
                        <a:t>FN = 1</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No warning 0</a:t>
                      </a:r>
                    </a:p>
                  </a:txBody>
                  <a:tcPr marL="91440" marR="91440" marT="45720" marB="45720">
                    <a:solidFill>
                      <a:srgbClr val="FFFFFF"/>
                    </a:solidFill>
                  </a:tcPr>
                </a:tc>
                <a:tc>
                  <a:txBody>
                    <a:bodyPr/>
                    <a:lstStyle/>
                    <a:p>
                      <a:r>
                        <a:rPr sz="2025" b="0">
                          <a:solidFill>
                            <a:srgbClr val="1C3144"/>
                          </a:solidFill>
                          <a:latin typeface="Calibri"/>
                          <a:ea typeface="Calibri"/>
                          <a:cs typeface="Calibri"/>
                        </a:rPr>
                        <a:t>FP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TN =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72BB035-A310-49E3-B6CB-D3FF0FC03C90}"/>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Rows are actual and columns are predicted.</a:t>
            </a:r>
          </a:p>
        </p:txBody>
      </p:sp>
      <p:sp>
        <p:nvSpPr>
          <p:cNvPr id="6" name="">
            <a:extLst xmlns:a="http://schemas.openxmlformats.org/drawingml/2006/main">
              <a:ext uri="{FF2B5EF4-FFF2-40B4-BE49-F238E27FC236}">
                <a16:creationId xmlns:a16="http://schemas.microsoft.com/office/drawing/2014/main" id="{5DE0B6D5-EFE5-42C3-947F-009697C2D4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10</a:t>
            </a:r>
          </a:p>
        </p:txBody>
      </p:sp>
    </p:spTree>
    <p:extLst>
      <p:ext uri="{BB962C8B-B14F-4D97-AF65-F5344CB8AC3E}">
        <p14:creationId xmlns:p14="http://schemas.microsoft.com/office/powerpoint/2010/main" val="21344743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EE27AC-12A0-4787-BDF4-82115995D1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58DA09-F6FF-4E5A-A666-826537378C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D763830-E92F-43BF-A847-EB716AC8C4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 Recall</a:t>
            </a:r>
          </a:p>
        </p:txBody>
      </p:sp>
      <p:sp>
        <p:nvSpPr>
          <p:cNvPr id="4" name="">
            <a:extLst xmlns:a="http://schemas.openxmlformats.org/drawingml/2006/main">
              <a:ext uri="{FF2B5EF4-FFF2-40B4-BE49-F238E27FC236}">
                <a16:creationId xmlns:a16="http://schemas.microsoft.com/office/drawing/2014/main" id="{DF11AB11-326A-4685-93EE-3793B2EF2BB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C90274-0305-4970-99CB-A3A5A88D5C5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Precision</a:t>
            </a:r>
          </a:p>
        </p:txBody>
      </p:sp>
      <p:sp>
        <p:nvSpPr>
          <p:cNvPr id="6" name="">
            <a:extLst xmlns:a="http://schemas.openxmlformats.org/drawingml/2006/main">
              <a:ext uri="{FF2B5EF4-FFF2-40B4-BE49-F238E27FC236}">
                <a16:creationId xmlns:a16="http://schemas.microsoft.com/office/drawing/2014/main" id="{32908A5C-FC1A-47E6-8A77-42AF2AF24A6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predicted warnings, the fraction that were actual warnings: TP / (TP + FP).</a:t>
            </a:r>
          </a:p>
        </p:txBody>
      </p:sp>
      <p:sp>
        <p:nvSpPr>
          <p:cNvPr id="7" name="">
            <a:extLst xmlns:a="http://schemas.openxmlformats.org/drawingml/2006/main">
              <a:ext uri="{FF2B5EF4-FFF2-40B4-BE49-F238E27FC236}">
                <a16:creationId xmlns:a16="http://schemas.microsoft.com/office/drawing/2014/main" id="{C09C0A2E-166D-460A-A882-65E96C9B150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CD8FCEB-5A14-4769-BBC3-96B17543119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Recall</a:t>
            </a:r>
          </a:p>
        </p:txBody>
      </p:sp>
      <p:sp>
        <p:nvSpPr>
          <p:cNvPr id="9" name="">
            <a:extLst xmlns:a="http://schemas.openxmlformats.org/drawingml/2006/main">
              <a:ext uri="{FF2B5EF4-FFF2-40B4-BE49-F238E27FC236}">
                <a16:creationId xmlns:a16="http://schemas.microsoft.com/office/drawing/2014/main" id="{F413A34B-4C9D-46AA-BE3E-52DB51DD8D6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Of all actual warnings, the fraction detected: TP / (TP + FN).</a:t>
            </a:r>
          </a:p>
        </p:txBody>
      </p:sp>
      <p:sp>
        <p:nvSpPr>
          <p:cNvPr id="10" name="">
            <a:extLst xmlns:a="http://schemas.openxmlformats.org/drawingml/2006/main">
              <a:ext uri="{FF2B5EF4-FFF2-40B4-BE49-F238E27FC236}">
                <a16:creationId xmlns:a16="http://schemas.microsoft.com/office/drawing/2014/main" id="{C64B924B-D111-4DEC-85E1-9D8982CB06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11</a:t>
            </a:r>
          </a:p>
        </p:txBody>
      </p:sp>
    </p:spTree>
    <p:extLst>
      <p:ext uri="{BB962C8B-B14F-4D97-AF65-F5344CB8AC3E}">
        <p14:creationId xmlns:p14="http://schemas.microsoft.com/office/powerpoint/2010/main" val="61815770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E8C7AA-5B24-44DD-9707-3137D5A76A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D28CB3-6125-4E97-B6BE-5AA19809CD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AE95B9A-BC58-4D8E-8384-8D2B691476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Precision and recall</a:t>
            </a:r>
          </a:p>
        </p:txBody>
      </p:sp>
      <p:sp>
        <p:nvSpPr>
          <p:cNvPr id="4" name="">
            <a:extLst xmlns:a="http://schemas.openxmlformats.org/drawingml/2006/main">
              <a:ext uri="{FF2B5EF4-FFF2-40B4-BE49-F238E27FC236}">
                <a16:creationId xmlns:a16="http://schemas.microsoft.com/office/drawing/2014/main" id="{E76B2B94-ABE6-4FA9-97B1-777515A4CF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B337E70-CF45-46FB-8C19-76ACC7D38B1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Precision asks: of the warnings raised, how many were correct?</a:t>
            </a:r>
          </a:p>
        </p:txBody>
      </p:sp>
      <p:sp>
        <p:nvSpPr>
          <p:cNvPr id="6" name="">
            <a:extLst xmlns:a="http://schemas.openxmlformats.org/drawingml/2006/main">
              <a:ext uri="{FF2B5EF4-FFF2-40B4-BE49-F238E27FC236}">
                <a16:creationId xmlns:a16="http://schemas.microsoft.com/office/drawing/2014/main" id="{4C965B2C-2A69-4D60-9818-A1B41E67EAE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9B46F1-4FD7-4488-B9F3-D53494BD2D9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Recall asks: of the real warnings, how many did we detect?</a:t>
            </a:r>
          </a:p>
        </p:txBody>
      </p:sp>
      <p:sp>
        <p:nvSpPr>
          <p:cNvPr id="8" name="">
            <a:extLst xmlns:a="http://schemas.openxmlformats.org/drawingml/2006/main">
              <a:ext uri="{FF2B5EF4-FFF2-40B4-BE49-F238E27FC236}">
                <a16:creationId xmlns:a16="http://schemas.microsoft.com/office/drawing/2014/main" id="{96088B26-9F4B-4A2E-8CD8-94B49089AAE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ED0B36A-5D0C-4A43-AE9A-9D5AF16B727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zero denominator needs an explicit rule.</a:t>
            </a:r>
          </a:p>
        </p:txBody>
      </p:sp>
      <p:sp>
        <p:nvSpPr>
          <p:cNvPr id="10" name="">
            <a:extLst xmlns:a="http://schemas.openxmlformats.org/drawingml/2006/main">
              <a:ext uri="{FF2B5EF4-FFF2-40B4-BE49-F238E27FC236}">
                <a16:creationId xmlns:a16="http://schemas.microsoft.com/office/drawing/2014/main" id="{442AFA27-F224-41E7-A5EF-F976D25744D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BD9919F-58A5-47A9-9521-EA2383659A3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rule in your task brief when implementing the function.</a:t>
            </a:r>
          </a:p>
        </p:txBody>
      </p:sp>
      <p:sp>
        <p:nvSpPr>
          <p:cNvPr id="12" name="">
            <a:extLst xmlns:a="http://schemas.openxmlformats.org/drawingml/2006/main">
              <a:ext uri="{FF2B5EF4-FFF2-40B4-BE49-F238E27FC236}">
                <a16:creationId xmlns:a16="http://schemas.microsoft.com/office/drawing/2014/main" id="{EE484E7C-163E-4BA0-A139-1C917C4A7C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12</a:t>
            </a:r>
          </a:p>
        </p:txBody>
      </p:sp>
    </p:spTree>
    <p:extLst>
      <p:ext uri="{BB962C8B-B14F-4D97-AF65-F5344CB8AC3E}">
        <p14:creationId xmlns:p14="http://schemas.microsoft.com/office/powerpoint/2010/main" val="148760934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FD40A2-6DDA-4E02-9FFA-CAFF18F660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06C3EE-D555-4D2B-A25E-D955F973E4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03F2C03-8E74-4023-B2F8-AC1949ED48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Probability and a decision threshold</a:t>
            </a:r>
          </a:p>
        </p:txBody>
      </p:sp>
      <p:sp>
        <p:nvSpPr>
          <p:cNvPr id="4" name="">
            <a:extLst xmlns:a="http://schemas.openxmlformats.org/drawingml/2006/main">
              <a:ext uri="{FF2B5EF4-FFF2-40B4-BE49-F238E27FC236}">
                <a16:creationId xmlns:a16="http://schemas.microsoft.com/office/drawing/2014/main" id="{359F7BE1-B7F6-453A-8DB3-BF563412BCC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7F1B85-FC99-4AC8-944F-7834D0894F3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Probability</a:t>
            </a:r>
          </a:p>
        </p:txBody>
      </p:sp>
      <p:sp>
        <p:nvSpPr>
          <p:cNvPr id="6" name="">
            <a:extLst xmlns:a="http://schemas.openxmlformats.org/drawingml/2006/main">
              <a:ext uri="{FF2B5EF4-FFF2-40B4-BE49-F238E27FC236}">
                <a16:creationId xmlns:a16="http://schemas.microsoft.com/office/drawing/2014/main" id="{FCEBFEE0-C6CA-4C47-A3C3-F7BDE27210C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probability is between 0 and 1. Multiply by 100 for percent: 0.7 is 70%. A model’s probability is an estimate that needs checking.</a:t>
            </a:r>
          </a:p>
        </p:txBody>
      </p:sp>
      <p:sp>
        <p:nvSpPr>
          <p:cNvPr id="7" name="">
            <a:extLst xmlns:a="http://schemas.openxmlformats.org/drawingml/2006/main">
              <a:ext uri="{FF2B5EF4-FFF2-40B4-BE49-F238E27FC236}">
                <a16:creationId xmlns:a16="http://schemas.microsoft.com/office/drawing/2014/main" id="{B2CF1D6F-89E4-4C36-A101-E5E6DD2D340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F055A7E-EB4E-4EB4-9F19-4C415710575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Threshold</a:t>
            </a:r>
          </a:p>
        </p:txBody>
      </p:sp>
      <p:sp>
        <p:nvSpPr>
          <p:cNvPr id="9" name="">
            <a:extLst xmlns:a="http://schemas.openxmlformats.org/drawingml/2006/main">
              <a:ext uri="{FF2B5EF4-FFF2-40B4-BE49-F238E27FC236}">
                <a16:creationId xmlns:a16="http://schemas.microsoft.com/office/drawing/2014/main" id="{47B4D3B5-0633-4D13-8B29-EECC00775CD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threshold turns a score into a decision. For a rule score &gt;= 0.5, a score of 0.7 gives class 1. Use validation data to choose the threshold.</a:t>
            </a:r>
          </a:p>
        </p:txBody>
      </p:sp>
      <p:sp>
        <p:nvSpPr>
          <p:cNvPr id="10" name="">
            <a:extLst xmlns:a="http://schemas.openxmlformats.org/drawingml/2006/main">
              <a:ext uri="{FF2B5EF4-FFF2-40B4-BE49-F238E27FC236}">
                <a16:creationId xmlns:a16="http://schemas.microsoft.com/office/drawing/2014/main" id="{A91A037E-A213-4FE3-9C26-AE5193EFC0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13</a:t>
            </a:r>
          </a:p>
        </p:txBody>
      </p:sp>
    </p:spTree>
    <p:extLst>
      <p:ext uri="{BB962C8B-B14F-4D97-AF65-F5344CB8AC3E}">
        <p14:creationId xmlns:p14="http://schemas.microsoft.com/office/powerpoint/2010/main" val="209992012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C0017F-C90D-456E-95C8-29F760C61B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92A046-B35C-4E4A-A576-DD1D4FAEA7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5E3988-F9DA-491F-B508-C6035B9E5B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decision can use a probability</a:t>
            </a:r>
          </a:p>
        </p:txBody>
      </p:sp>
      <p:sp>
        <p:nvSpPr>
          <p:cNvPr id="4" name="">
            <a:extLst xmlns:a="http://schemas.openxmlformats.org/drawingml/2006/main">
              <a:ext uri="{FF2B5EF4-FFF2-40B4-BE49-F238E27FC236}">
                <a16:creationId xmlns:a16="http://schemas.microsoft.com/office/drawing/2014/main" id="{B244A878-4ABA-47A4-A33F-C1F0BAD522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249E41-59A3-4541-BD31-F8E2F95AC93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classifier may estimate the probability of class 1.</a:t>
            </a:r>
          </a:p>
        </p:txBody>
      </p:sp>
      <p:sp>
        <p:nvSpPr>
          <p:cNvPr id="6" name="">
            <a:extLst xmlns:a="http://schemas.openxmlformats.org/drawingml/2006/main">
              <a:ext uri="{FF2B5EF4-FFF2-40B4-BE49-F238E27FC236}">
                <a16:creationId xmlns:a16="http://schemas.microsoft.com/office/drawing/2014/main" id="{B6E8FDD5-D065-4E67-AD64-8D263C03259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CE751D1-97D4-4CEB-8926-6F6499AAC21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threshold converts that estimate into warning or no warning.</a:t>
            </a:r>
          </a:p>
        </p:txBody>
      </p:sp>
      <p:sp>
        <p:nvSpPr>
          <p:cNvPr id="8" name="">
            <a:extLst xmlns:a="http://schemas.openxmlformats.org/drawingml/2006/main">
              <a:ext uri="{FF2B5EF4-FFF2-40B4-BE49-F238E27FC236}">
                <a16:creationId xmlns:a16="http://schemas.microsoft.com/office/drawing/2014/main" id="{DBD29A1B-2579-4CD0-81AE-2C38FD027C4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237B308-9C30-4246-9A64-FD4FD8141BD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Logistic regression is a classification model. Its probability estimates still need evaluation.</a:t>
            </a:r>
          </a:p>
        </p:txBody>
      </p:sp>
      <p:sp>
        <p:nvSpPr>
          <p:cNvPr id="10" name="">
            <a:extLst xmlns:a="http://schemas.openxmlformats.org/drawingml/2006/main">
              <a:ext uri="{FF2B5EF4-FFF2-40B4-BE49-F238E27FC236}">
                <a16:creationId xmlns:a16="http://schemas.microsoft.com/office/drawing/2014/main" id="{C5DC27E4-3395-4B1C-B4C9-DA9671E242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14</a:t>
            </a:r>
          </a:p>
        </p:txBody>
      </p:sp>
    </p:spTree>
    <p:extLst>
      <p:ext uri="{BB962C8B-B14F-4D97-AF65-F5344CB8AC3E}">
        <p14:creationId xmlns:p14="http://schemas.microsoft.com/office/powerpoint/2010/main" val="113598893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F57D35B-CDCF-4161-9900-45734AEF4C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BCDDE5-8A37-4769-8E1E-1B9278EB11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60CA963-455A-4514-9607-1BCBC4943D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Threshold and cost</a:t>
            </a:r>
          </a:p>
        </p:txBody>
      </p:sp>
      <p:sp>
        <p:nvSpPr>
          <p:cNvPr id="4" name="">
            <a:extLst xmlns:a="http://schemas.openxmlformats.org/drawingml/2006/main">
              <a:ext uri="{FF2B5EF4-FFF2-40B4-BE49-F238E27FC236}">
                <a16:creationId xmlns:a16="http://schemas.microsoft.com/office/drawing/2014/main" id="{DF494E6B-C308-442E-B217-A9101570A62F}"/>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2B719A-1EF7-447A-9C2A-308233EEE38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Threshold and cost</a:t>
            </a:r>
          </a:p>
        </p:txBody>
      </p:sp>
      <p:sp>
        <p:nvSpPr>
          <p:cNvPr id="6" name="">
            <a:extLst xmlns:a="http://schemas.openxmlformats.org/drawingml/2006/main">
              <a:ext uri="{FF2B5EF4-FFF2-40B4-BE49-F238E27FC236}">
                <a16:creationId xmlns:a16="http://schemas.microsoft.com/office/drawing/2014/main" id="{7CAECFE8-EA91-47D3-8449-F9FDC3CB9CF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threshold converts a score to a decision. A cost rule states how much each type of mistake matters. Lower thresholds usually increase recall; precision need not decrease at every step.</a:t>
            </a:r>
          </a:p>
        </p:txBody>
      </p:sp>
      <p:sp>
        <p:nvSpPr>
          <p:cNvPr id="7" name="">
            <a:extLst xmlns:a="http://schemas.openxmlformats.org/drawingml/2006/main">
              <a:ext uri="{FF2B5EF4-FFF2-40B4-BE49-F238E27FC236}">
                <a16:creationId xmlns:a16="http://schemas.microsoft.com/office/drawing/2014/main" id="{981BD897-3DD4-49F3-A657-272CED04D3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15</a:t>
            </a:r>
          </a:p>
        </p:txBody>
      </p:sp>
    </p:spTree>
    <p:extLst>
      <p:ext uri="{BB962C8B-B14F-4D97-AF65-F5344CB8AC3E}">
        <p14:creationId xmlns:p14="http://schemas.microsoft.com/office/powerpoint/2010/main" val="4311875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F63515-5F4D-45F7-A482-BCE2243D0B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6A8FB-AFCE-4D44-A420-3D229F276D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4DD195-47C7-40F2-A7A6-ACC63366BA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State the cost rule before calculating</a:t>
            </a:r>
          </a:p>
        </p:txBody>
      </p:sp>
      <p:sp>
        <p:nvSpPr>
          <p:cNvPr id="4" name="">
            <a:extLst xmlns:a="http://schemas.openxmlformats.org/drawingml/2006/main">
              <a:ext uri="{FF2B5EF4-FFF2-40B4-BE49-F238E27FC236}">
                <a16:creationId xmlns:a16="http://schemas.microsoft.com/office/drawing/2014/main" id="{F8402E8F-A113-4B95-BA0C-7848B95218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E345C23-3B76-4746-BFB1-977FF7BF06C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cost rule assigns a penalty to each kind of mistake. In this teaching example, a missed warning costs 5 units and a false alarm costs 1 unit.</a:t>
            </a:r>
          </a:p>
        </p:txBody>
      </p:sp>
      <p:sp>
        <p:nvSpPr>
          <p:cNvPr id="6" name="">
            <a:extLst xmlns:a="http://schemas.openxmlformats.org/drawingml/2006/main">
              <a:ext uri="{FF2B5EF4-FFF2-40B4-BE49-F238E27FC236}">
                <a16:creationId xmlns:a16="http://schemas.microsoft.com/office/drawing/2014/main" id="{E391840B-580A-47B8-8085-142524F705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8EC160-9B19-4E78-B13C-103B145F1CE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 5 × FN + FP. One missed warning and one false alarm therefore cost 6 units.</a:t>
            </a:r>
          </a:p>
        </p:txBody>
      </p:sp>
      <p:sp>
        <p:nvSpPr>
          <p:cNvPr id="8" name="">
            <a:extLst xmlns:a="http://schemas.openxmlformats.org/drawingml/2006/main">
              <a:ext uri="{FF2B5EF4-FFF2-40B4-BE49-F238E27FC236}">
                <a16:creationId xmlns:a16="http://schemas.microsoft.com/office/drawing/2014/main" id="{CE72F4FF-8722-4AF9-893B-4FD32D51A17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461200-CB00-4D78-B727-CE1BDA20248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invented teaching penalties. Use the published assignment cost rule and explain whose consequences it represents.</a:t>
            </a:r>
          </a:p>
        </p:txBody>
      </p:sp>
      <p:sp>
        <p:nvSpPr>
          <p:cNvPr id="10" name="">
            <a:extLst xmlns:a="http://schemas.openxmlformats.org/drawingml/2006/main">
              <a:ext uri="{FF2B5EF4-FFF2-40B4-BE49-F238E27FC236}">
                <a16:creationId xmlns:a16="http://schemas.microsoft.com/office/drawing/2014/main" id="{C26B6A20-DB2D-4C4D-8A20-7E323F8A41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16</a:t>
            </a:r>
          </a:p>
        </p:txBody>
      </p:sp>
    </p:spTree>
    <p:extLst>
      <p:ext uri="{BB962C8B-B14F-4D97-AF65-F5344CB8AC3E}">
        <p14:creationId xmlns:p14="http://schemas.microsoft.com/office/powerpoint/2010/main" val="206886585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85F2DD-7652-48F3-879B-56B711CD27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59F4C9-5D94-401C-9FC4-64FF92C4A2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4D30D2D-1C32-4E8E-9518-62720D817F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syntax in the example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Code</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Equivalent idea</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tp = tn = fp = fn = 0</a:t>
                      </a:r>
                    </a:p>
                  </a:txBody>
                  <a:tcPr marL="91440" marR="91440" marT="45720" marB="45720">
                    <a:solidFill>
                      <a:srgbClr val="EEF3F6"/>
                    </a:solidFill>
                  </a:tcPr>
                </a:tc>
                <a:tc>
                  <a:txBody>
                    <a:bodyPr/>
                    <a:lstStyle/>
                    <a:p>
                      <a:r>
                        <a:rPr sz="2025" b="0">
                          <a:solidFill>
                            <a:srgbClr val="1C3144"/>
                          </a:solidFill>
                          <a:latin typeface="Calibri"/>
                          <a:ea typeface="Calibri"/>
                          <a:cs typeface="Calibri"/>
                        </a:rPr>
                        <a:t>Set each of four counts to zero</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tp += 1</a:t>
                      </a:r>
                    </a:p>
                  </a:txBody>
                  <a:tcPr marL="91440" marR="91440" marT="45720" marB="45720">
                    <a:solidFill>
                      <a:srgbClr val="FFFFFF"/>
                    </a:solidFill>
                  </a:tcPr>
                </a:tc>
                <a:tc>
                  <a:txBody>
                    <a:bodyPr/>
                    <a:lstStyle/>
                    <a:p>
                      <a:r>
                        <a:rPr sz="2025" b="0">
                          <a:solidFill>
                            <a:srgbClr val="1C3144"/>
                          </a:solidFill>
                          <a:latin typeface="Calibri"/>
                          <a:ea typeface="Calibri"/>
                          <a:cs typeface="Calibri"/>
                        </a:rPr>
                        <a:t>tp = tp + 1</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zip(actual, predicted)</a:t>
                      </a:r>
                    </a:p>
                  </a:txBody>
                  <a:tcPr marL="91440" marR="91440" marT="45720" marB="45720">
                    <a:solidFill>
                      <a:srgbClr val="EEF3F6"/>
                    </a:solidFill>
                  </a:tcPr>
                </a:tc>
                <a:tc>
                  <a:txBody>
                    <a:bodyPr/>
                    <a:lstStyle/>
                    <a:p>
                      <a:r>
                        <a:rPr sz="2025" b="0">
                          <a:solidFill>
                            <a:srgbClr val="1C3144"/>
                          </a:solidFill>
                          <a:latin typeface="Calibri"/>
                          <a:ea typeface="Calibri"/>
                          <a:cs typeface="Calibri"/>
                        </a:rPr>
                        <a:t>Pair items in the same positions</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elif condition:</a:t>
                      </a:r>
                    </a:p>
                  </a:txBody>
                  <a:tcPr marL="91440" marR="91440" marT="45720" marB="45720">
                    <a:solidFill>
                      <a:srgbClr val="FFFFFF"/>
                    </a:solidFill>
                  </a:tcPr>
                </a:tc>
                <a:tc>
                  <a:txBody>
                    <a:bodyPr/>
                    <a:lstStyle/>
                    <a:p>
                      <a:r>
                        <a:rPr sz="2025" b="0">
                          <a:solidFill>
                            <a:srgbClr val="1C3144"/>
                          </a:solidFill>
                          <a:latin typeface="Calibri"/>
                          <a:ea typeface="Calibri"/>
                          <a:cs typeface="Calibri"/>
                        </a:rPr>
                        <a:t>Try this branch if earlier ones failed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A4A9279-371B-4568-B655-38D67B6A5CF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Our paired lists must have matching lengths. zip alone stops at the shorter list.</a:t>
            </a:r>
          </a:p>
        </p:txBody>
      </p:sp>
      <p:sp>
        <p:nvSpPr>
          <p:cNvPr id="6" name="">
            <a:extLst xmlns:a="http://schemas.openxmlformats.org/drawingml/2006/main">
              <a:ext uri="{FF2B5EF4-FFF2-40B4-BE49-F238E27FC236}">
                <a16:creationId xmlns:a16="http://schemas.microsoft.com/office/drawing/2014/main" id="{DC7EC6C1-959D-4D88-BB76-BDD29A8EE9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17</a:t>
            </a:r>
          </a:p>
        </p:txBody>
      </p:sp>
    </p:spTree>
    <p:extLst>
      <p:ext uri="{BB962C8B-B14F-4D97-AF65-F5344CB8AC3E}">
        <p14:creationId xmlns:p14="http://schemas.microsoft.com/office/powerpoint/2010/main" val="49280127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C83A94-A714-45CB-953E-05C39B168C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102810-2EF5-4EC3-8C9E-DA3C20E7DF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D906B62-07D6-46E7-8D52-2200258C56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in Python</a:t>
            </a:r>
          </a:p>
        </p:txBody>
      </p:sp>
      <p:sp>
        <p:nvSpPr>
          <p:cNvPr id="4" name="">
            <a:extLst xmlns:a="http://schemas.openxmlformats.org/drawingml/2006/main">
              <a:ext uri="{FF2B5EF4-FFF2-40B4-BE49-F238E27FC236}">
                <a16:creationId xmlns:a16="http://schemas.microsoft.com/office/drawing/2014/main" id="{6E50D38C-59F9-4C96-A7FC-30EFDEE4E5E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A0ABB1-AA50-42FB-B022-65E4295619A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[1, 1, 0,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[1, 0, 1,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print(truth,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Count the four categories on paper before calculating.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fn, fp, tn = 1, 1, 1,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 (tp + fn))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print(5 * fn + fp)</a:t>
            </a:r>
          </a:p>
        </p:txBody>
      </p:sp>
      <p:sp>
        <p:nvSpPr>
          <p:cNvPr id="6" name="">
            <a:extLst xmlns:a="http://schemas.openxmlformats.org/drawingml/2006/main">
              <a:ext uri="{FF2B5EF4-FFF2-40B4-BE49-F238E27FC236}">
                <a16:creationId xmlns:a16="http://schemas.microsoft.com/office/drawing/2014/main" id="{32817B8C-D8DD-4686-B2B1-359D62A5F96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C15EFA1A-230E-48C2-8013-20744DFAB5F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128D39BD-1AAD-4991-84FF-8CE71C8C37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18</a:t>
            </a:r>
          </a:p>
        </p:txBody>
      </p:sp>
    </p:spTree>
    <p:extLst>
      <p:ext uri="{BB962C8B-B14F-4D97-AF65-F5344CB8AC3E}">
        <p14:creationId xmlns:p14="http://schemas.microsoft.com/office/powerpoint/2010/main" val="19853890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5C2DD69-D66C-41A6-9C80-E2C244D9EC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AF19C3-E9EA-45BD-B2B4-6C839E4D27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9F49FBD0-79B4-4D91-A904-446D15603B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outcomes results</a:t>
            </a:r>
          </a:p>
        </p:txBody>
      </p:sp>
      <p:sp>
        <p:nvSpPr>
          <p:cNvPr id="4" name="">
            <a:extLst xmlns:a="http://schemas.openxmlformats.org/drawingml/2006/main">
              <a:ext uri="{FF2B5EF4-FFF2-40B4-BE49-F238E27FC236}">
                <a16:creationId xmlns:a16="http://schemas.microsoft.com/office/drawing/2014/main" id="{09150CA0-4A98-4BC5-BD07-D33B5FA6AFB7}"/>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79FD45-E462-4E33-910A-EC4FAA380D6B}"/>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Four paired rows, then precision 0.5, recall 0.5 and teaching cost 6.</a:t>
            </a:r>
          </a:p>
        </p:txBody>
      </p:sp>
      <p:sp>
        <p:nvSpPr>
          <p:cNvPr id="6" name="">
            <a:extLst xmlns:a="http://schemas.openxmlformats.org/drawingml/2006/main">
              <a:ext uri="{FF2B5EF4-FFF2-40B4-BE49-F238E27FC236}">
                <a16:creationId xmlns:a16="http://schemas.microsoft.com/office/drawing/2014/main" id="{3719AD9C-0B92-4EA3-BF37-E29159A6B945}"/>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DA65065-92EC-47A9-BA64-384AD8EA6F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19</a:t>
            </a:r>
          </a:p>
        </p:txBody>
      </p:sp>
    </p:spTree>
    <p:extLst>
      <p:ext uri="{BB962C8B-B14F-4D97-AF65-F5344CB8AC3E}">
        <p14:creationId xmlns:p14="http://schemas.microsoft.com/office/powerpoint/2010/main" val="81508575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24F2B0-11FB-4029-B3BD-E5451248BD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BD35A1-E471-49DA-AA91-0CF64F0616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7CB7EA-F17B-42A4-B8D5-20820D07E0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arbitrary paired observations</a:t>
            </a:r>
          </a:p>
        </p:txBody>
      </p:sp>
      <p:sp>
        <p:nvSpPr>
          <p:cNvPr id="4" name="">
            <a:extLst xmlns:a="http://schemas.openxmlformats.org/drawingml/2006/main">
              <a:ext uri="{FF2B5EF4-FFF2-40B4-BE49-F238E27FC236}">
                <a16:creationId xmlns:a16="http://schemas.microsoft.com/office/drawing/2014/main" id="{95EB1636-7FF8-4C8F-9428-654B9098F54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86576F-C91E-4CAD-85CB-6BDE12B7F8E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43CA420-0B26-43A2-AA7E-1925EEAD91C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Start every counter at zero before the loop. == compares labels. and means both comparisons must be true. elif checks another condition only when earlier ones were false.</a:t>
            </a:r>
          </a:p>
        </p:txBody>
      </p:sp>
      <p:sp>
        <p:nvSpPr>
          <p:cNvPr id="7" name="">
            <a:extLst xmlns:a="http://schemas.openxmlformats.org/drawingml/2006/main">
              <a:ext uri="{FF2B5EF4-FFF2-40B4-BE49-F238E27FC236}">
                <a16:creationId xmlns:a16="http://schemas.microsoft.com/office/drawing/2014/main" id="{ADB7882A-A183-4353-BF9C-B7C4CDE4782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tp = tn = fp = fn = 0 sets all four counters to zero. tp += 1 is shorthand for tp = tp + 1.</a:t>
            </a:r>
          </a:p>
        </p:txBody>
      </p:sp>
      <p:sp>
        <p:nvSpPr>
          <p:cNvPr id="8" name="">
            <a:extLst xmlns:a="http://schemas.openxmlformats.org/drawingml/2006/main">
              <a:ext uri="{FF2B5EF4-FFF2-40B4-BE49-F238E27FC236}">
                <a16:creationId xmlns:a16="http://schemas.microsoft.com/office/drawing/2014/main" id="{EEB98338-4095-441A-A515-45C2D7B803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20</a:t>
            </a:r>
          </a:p>
        </p:txBody>
      </p:sp>
    </p:spTree>
    <p:extLst>
      <p:ext uri="{BB962C8B-B14F-4D97-AF65-F5344CB8AC3E}">
        <p14:creationId xmlns:p14="http://schemas.microsoft.com/office/powerpoint/2010/main" val="12238594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F0A4A94-49D6-472E-BE1C-66AEDE7BDA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FD3CA5-0282-47F8-B5F8-5126B35221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110F209-74E1-4680-8ECD-38565CCA8D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(1/3)</a:t>
            </a:r>
          </a:p>
        </p:txBody>
      </p:sp>
      <p:sp>
        <p:nvSpPr>
          <p:cNvPr id="4" name="">
            <a:extLst xmlns:a="http://schemas.openxmlformats.org/drawingml/2006/main">
              <a:ext uri="{FF2B5EF4-FFF2-40B4-BE49-F238E27FC236}">
                <a16:creationId xmlns:a16="http://schemas.microsoft.com/office/drawing/2014/main" id="{EAD75617-1DB1-4FEA-A517-7B02E23600F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178BF2-5549-4031-8B85-266CAE076B9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tp = tn = fp = fn = 0</a:t>
            </a:r>
          </a:p>
        </p:txBody>
      </p:sp>
      <p:sp>
        <p:nvSpPr>
          <p:cNvPr id="6" name="">
            <a:extLst xmlns:a="http://schemas.openxmlformats.org/drawingml/2006/main">
              <a:ext uri="{FF2B5EF4-FFF2-40B4-BE49-F238E27FC236}">
                <a16:creationId xmlns:a16="http://schemas.microsoft.com/office/drawing/2014/main" id="{865E4D4A-D4F0-44E6-A894-92E9002E70B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03D2D2A-88EA-4EF5-A74F-EABFDC89AEF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8" name="">
            <a:extLst xmlns:a="http://schemas.openxmlformats.org/drawingml/2006/main">
              <a:ext uri="{FF2B5EF4-FFF2-40B4-BE49-F238E27FC236}">
                <a16:creationId xmlns:a16="http://schemas.microsoft.com/office/drawing/2014/main" id="{D1682374-9B6E-47E4-B49C-10AA4CAF723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9" name="">
            <a:extLst xmlns:a="http://schemas.openxmlformats.org/drawingml/2006/main">
              <a:ext uri="{FF2B5EF4-FFF2-40B4-BE49-F238E27FC236}">
                <a16:creationId xmlns:a16="http://schemas.microsoft.com/office/drawing/2014/main" id="{949BB634-2BEA-40EB-B8A7-F874BA1EE9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21</a:t>
            </a:r>
          </a:p>
        </p:txBody>
      </p:sp>
    </p:spTree>
    <p:extLst>
      <p:ext uri="{BB962C8B-B14F-4D97-AF65-F5344CB8AC3E}">
        <p14:creationId xmlns:p14="http://schemas.microsoft.com/office/powerpoint/2010/main" val="84333761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F0B4B33-B0C2-46D6-94DC-6DF3BD1C61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E4B74A-8FC9-4B62-89C4-63AD8412EE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EF540A7-31FA-4552-87CD-9F54D9A785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(2/3)</a:t>
            </a:r>
          </a:p>
        </p:txBody>
      </p:sp>
      <p:sp>
        <p:nvSpPr>
          <p:cNvPr id="4" name="">
            <a:extLst xmlns:a="http://schemas.openxmlformats.org/drawingml/2006/main">
              <a:ext uri="{FF2B5EF4-FFF2-40B4-BE49-F238E27FC236}">
                <a16:creationId xmlns:a16="http://schemas.microsoft.com/office/drawing/2014/main" id="{5557DEBB-819E-4325-AFB3-B968C8B198A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2386DD-1349-4354-ABB2-3A8596787DD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if</a:t>
            </a:r>
            <a:r>
              <a:rPr sz="1944" b="0">
                <a:solidFill>
                  <a:srgbClr val="F4F7FA"/>
                </a:solidFill>
                <a:latin typeface="Courier New"/>
                <a:ea typeface="Courier New"/>
                <a:cs typeface="Courier New"/>
              </a:rPr>
              <a:t> truth == 1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elif</a:t>
            </a:r>
            <a:r>
              <a:rPr sz="1944" b="0">
                <a:solidFill>
                  <a:srgbClr val="F4F7FA"/>
                </a:solidFill>
                <a:latin typeface="Courier New"/>
                <a:ea typeface="Courier New"/>
                <a:cs typeface="Courier New"/>
              </a:rPr>
              <a:t> truth == 0 and guess == 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tn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elif truth == 0 and guess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fp += 1</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a:t>
            </a:r>
            <a:r>
              <a:rPr sz="1944" b="0">
                <a:solidFill>
                  <a:srgbClr val="FFB080"/>
                </a:solidFill>
                <a:latin typeface="Courier New"/>
                <a:ea typeface="Courier New"/>
                <a:cs typeface="Courier New"/>
              </a:rPr>
              <a:t>else</a:t>
            </a:r>
            <a:r>
              <a:rPr sz="1944" b="0">
                <a:solidFill>
                  <a:srgbClr val="F4F7FA"/>
                </a:solidFill>
                <a:latin typeface="Courier New"/>
                <a:ea typeface="Courier New"/>
                <a:cs typeface="Courier New"/>
              </a:rPr>
              <a:t>:</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fn += 1</a:t>
            </a:r>
          </a:p>
        </p:txBody>
      </p:sp>
      <p:sp>
        <p:nvSpPr>
          <p:cNvPr id="6" name="">
            <a:extLst xmlns:a="http://schemas.openxmlformats.org/drawingml/2006/main">
              <a:ext uri="{FF2B5EF4-FFF2-40B4-BE49-F238E27FC236}">
                <a16:creationId xmlns:a16="http://schemas.microsoft.com/office/drawing/2014/main" id="{ABAF0289-FAEE-455D-AF6F-F12FBE2471D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0FAC128-B1E3-4DB8-930F-4F243CE0807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E57A7A5F-8E5C-4CD6-B1E6-F793571B4A5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94D44833-5A35-4796-BBB4-4FA24F28D48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947078FC-E2C2-4619-91B2-1E85E1DA72E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F6A5FBA9-29E3-4FB2-9E65-81D7B73B5B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22</a:t>
            </a:r>
          </a:p>
        </p:txBody>
      </p:sp>
    </p:spTree>
    <p:extLst>
      <p:ext uri="{BB962C8B-B14F-4D97-AF65-F5344CB8AC3E}">
        <p14:creationId xmlns:p14="http://schemas.microsoft.com/office/powerpoint/2010/main" val="174577334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EB8862-3A5B-455F-B6E3-BBD0EE614C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060AB2-B53E-4277-BD46-DA490CC4CF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D2CCE6F-2145-4FA6-8714-130BA092B6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Counting arbitrary paired observations in Python (3/3)</a:t>
            </a:r>
          </a:p>
        </p:txBody>
      </p:sp>
      <p:sp>
        <p:nvSpPr>
          <p:cNvPr id="4" name="">
            <a:extLst xmlns:a="http://schemas.openxmlformats.org/drawingml/2006/main">
              <a:ext uri="{FF2B5EF4-FFF2-40B4-BE49-F238E27FC236}">
                <a16:creationId xmlns:a16="http://schemas.microsoft.com/office/drawing/2014/main" id="{BF66DA57-ECF3-4617-8236-CB20ADF307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89029B-96CD-4677-944B-4DEABE797FE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print(tp, tn, fp, fn)</a:t>
            </a:r>
          </a:p>
        </p:txBody>
      </p:sp>
      <p:sp>
        <p:nvSpPr>
          <p:cNvPr id="6" name="">
            <a:extLst xmlns:a="http://schemas.openxmlformats.org/drawingml/2006/main">
              <a:ext uri="{FF2B5EF4-FFF2-40B4-BE49-F238E27FC236}">
                <a16:creationId xmlns:a16="http://schemas.microsoft.com/office/drawing/2014/main" id="{27275909-4C43-456C-97C0-B6EA036C2C1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8B44446-55FE-43A2-99C9-261A7C3D86D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C91A96FE-ECF2-4293-935D-A8ADFBF4F9E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B53779A3-EBEC-4650-B10E-20D5403368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23</a:t>
            </a:r>
          </a:p>
        </p:txBody>
      </p:sp>
    </p:spTree>
    <p:extLst>
      <p:ext uri="{BB962C8B-B14F-4D97-AF65-F5344CB8AC3E}">
        <p14:creationId xmlns:p14="http://schemas.microsoft.com/office/powerpoint/2010/main" val="46277133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683A45-CAEC-4768-A569-534F0F4CFB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BE44BE-0E40-4F54-BDC8-664F6A683A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F511FD7-EF76-45A3-8EDF-D367031009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Represent a category with indicators</a:t>
            </a:r>
          </a:p>
        </p:txBody>
      </p:sp>
      <p:sp>
        <p:nvSpPr>
          <p:cNvPr id="4" name="">
            <a:extLst xmlns:a="http://schemas.openxmlformats.org/drawingml/2006/main">
              <a:ext uri="{FF2B5EF4-FFF2-40B4-BE49-F238E27FC236}">
                <a16:creationId xmlns:a16="http://schemas.microsoft.com/office/drawing/2014/main" id="{44FA6499-3C99-49B2-8193-0312E13FA13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3E8531-B13A-4739-AF97-1AB52A20EEF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Category</a:t>
            </a:r>
          </a:p>
        </p:txBody>
      </p:sp>
      <p:sp>
        <p:nvSpPr>
          <p:cNvPr id="6" name="">
            <a:extLst xmlns:a="http://schemas.openxmlformats.org/drawingml/2006/main">
              <a:ext uri="{FF2B5EF4-FFF2-40B4-BE49-F238E27FC236}">
                <a16:creationId xmlns:a16="http://schemas.microsoft.com/office/drawing/2014/main" id="{D837873C-331D-4F48-8233-7C405EE3574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category is a label such as steel or timber. Its name does not imply a numerical size or rank.</a:t>
            </a:r>
          </a:p>
        </p:txBody>
      </p:sp>
      <p:sp>
        <p:nvSpPr>
          <p:cNvPr id="7" name="">
            <a:extLst xmlns:a="http://schemas.openxmlformats.org/drawingml/2006/main">
              <a:ext uri="{FF2B5EF4-FFF2-40B4-BE49-F238E27FC236}">
                <a16:creationId xmlns:a16="http://schemas.microsoft.com/office/drawing/2014/main" id="{D0DA77F3-78B6-437E-A62F-FA4F0074DCB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95B4C4A-84A7-4AF8-9521-1E2784FDA73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One-hot indicator</a:t>
            </a:r>
          </a:p>
        </p:txBody>
      </p:sp>
      <p:sp>
        <p:nvSpPr>
          <p:cNvPr id="9" name="">
            <a:extLst xmlns:a="http://schemas.openxmlformats.org/drawingml/2006/main">
              <a:ext uri="{FF2B5EF4-FFF2-40B4-BE49-F238E27FC236}">
                <a16:creationId xmlns:a16="http://schemas.microsoft.com/office/drawing/2014/main" id="{05496E2C-4381-4CCA-883D-D8D8627EC8A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Create a column for each category. Its entry is 1 when the row has that category and 0 otherwise. Learn the allowed categories from training data.</a:t>
            </a:r>
          </a:p>
        </p:txBody>
      </p:sp>
      <p:sp>
        <p:nvSpPr>
          <p:cNvPr id="10" name="">
            <a:extLst xmlns:a="http://schemas.openxmlformats.org/drawingml/2006/main">
              <a:ext uri="{FF2B5EF4-FFF2-40B4-BE49-F238E27FC236}">
                <a16:creationId xmlns:a16="http://schemas.microsoft.com/office/drawing/2014/main" id="{F5D28667-311E-44DC-9A48-4277773E3B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24</a:t>
            </a:r>
          </a:p>
        </p:txBody>
      </p:sp>
    </p:spTree>
    <p:extLst>
      <p:ext uri="{BB962C8B-B14F-4D97-AF65-F5344CB8AC3E}">
        <p14:creationId xmlns:p14="http://schemas.microsoft.com/office/powerpoint/2010/main" val="11293589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DE14EE8-0FC8-45AD-ADCE-B3E343EC36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96DA1F-07AC-4F49-AB1C-35366C2D2F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2F2F3AB-C1DE-4F98-B177-1F8CEA9546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category can become indicator columns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Material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is_steel</a:t>
                      </a:r>
                    </a:p>
                  </a:txBody>
                  <a:tcPr marL="91440" marR="91440" marT="45720" marB="45720">
                    <a:solidFill>
                      <a:srgbClr val="2E7D6F"/>
                    </a:solidFill>
                  </a:tcPr>
                </a:tc>
                <a:tc>
                  <a:txBody>
                    <a:bodyPr/>
                    <a:lstStyle/>
                    <a:p>
                      <a:r>
                        <a:rPr sz="2025" b="1">
                          <a:solidFill>
                            <a:srgbClr val="FFFFFF"/>
                          </a:solidFill>
                          <a:latin typeface="Calibri"/>
                          <a:ea typeface="Calibri"/>
                          <a:cs typeface="Calibri"/>
                        </a:rPr>
                        <a:t>is_timber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steel</a:t>
                      </a:r>
                    </a:p>
                  </a:txBody>
                  <a:tcPr marL="91440" marR="91440" marT="45720" marB="45720">
                    <a:solidFill>
                      <a:srgbClr val="EEF3F6"/>
                    </a:solidFill>
                  </a:tcPr>
                </a:tc>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timber</a:t>
                      </a:r>
                    </a:p>
                  </a:txBody>
                  <a:tcPr marL="91440" marR="91440" marT="45720" marB="45720">
                    <a:solidFill>
                      <a:srgbClr val="FFFFFF"/>
                    </a:solidFill>
                  </a:tcPr>
                </a:tc>
                <a:tc>
                  <a:txBody>
                    <a:bodyPr/>
                    <a:lstStyle/>
                    <a:p>
                      <a:r>
                        <a:rPr sz="2025" b="0">
                          <a:solidFill>
                            <a:srgbClr val="1C3144"/>
                          </a:solidFill>
                          <a:latin typeface="Calibri"/>
                          <a:ea typeface="Calibri"/>
                          <a:cs typeface="Calibri"/>
                        </a:rPr>
                        <a:t>0</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9528492-F67D-4883-B391-ED278376E6CC}"/>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encoder converts category labels to numeric columns. Fit it on training data. Each indicator is 1 when that category applies, otherwise 0.</a:t>
            </a:r>
          </a:p>
        </p:txBody>
      </p:sp>
      <p:sp>
        <p:nvSpPr>
          <p:cNvPr id="6" name="">
            <a:extLst xmlns:a="http://schemas.openxmlformats.org/drawingml/2006/main">
              <a:ext uri="{FF2B5EF4-FFF2-40B4-BE49-F238E27FC236}">
                <a16:creationId xmlns:a16="http://schemas.microsoft.com/office/drawing/2014/main" id="{E3CFDCB1-9538-48D6-A48A-FD74AECA2E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25</a:t>
            </a:r>
          </a:p>
        </p:txBody>
      </p:sp>
    </p:spTree>
    <p:extLst>
      <p:ext uri="{BB962C8B-B14F-4D97-AF65-F5344CB8AC3E}">
        <p14:creationId xmlns:p14="http://schemas.microsoft.com/office/powerpoint/2010/main" val="195234696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7F6750-B19F-4755-BE1E-DAE7A85F13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EB6D0F-98E9-4998-8046-01FFA193B3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FA6B53-9472-4527-A091-0AAEDE2800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Accuracy can hide missed warnings</a:t>
            </a:r>
          </a:p>
        </p:txBody>
      </p:sp>
      <p:sp>
        <p:nvSpPr>
          <p:cNvPr id="4" name="">
            <a:extLst xmlns:a="http://schemas.openxmlformats.org/drawingml/2006/main">
              <a:ext uri="{FF2B5EF4-FFF2-40B4-BE49-F238E27FC236}">
                <a16:creationId xmlns:a16="http://schemas.microsoft.com/office/drawing/2014/main" id="{475A6775-88B7-43EE-A75F-E5D98EF274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17F674-D300-4399-A208-FFB0923B584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Accuracy = number of correct labels / number of labels. It counts correct warnings and correct non-warnings together.</a:t>
            </a:r>
          </a:p>
        </p:txBody>
      </p:sp>
      <p:sp>
        <p:nvSpPr>
          <p:cNvPr id="6" name="">
            <a:extLst xmlns:a="http://schemas.openxmlformats.org/drawingml/2006/main">
              <a:ext uri="{FF2B5EF4-FFF2-40B4-BE49-F238E27FC236}">
                <a16:creationId xmlns:a16="http://schemas.microsoft.com/office/drawing/2014/main" id="{1580F968-8F3D-4EC8-8786-1171DECFC32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E5724A-DFDF-4D2D-8DE9-526D6E06A21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90 of 100 cases need no warning, predicting no warning every time gives 90% accuracy. It detects none of the 10 real warnings: recall is 0.</a:t>
            </a:r>
          </a:p>
        </p:txBody>
      </p:sp>
      <p:sp>
        <p:nvSpPr>
          <p:cNvPr id="8" name="">
            <a:extLst xmlns:a="http://schemas.openxmlformats.org/drawingml/2006/main">
              <a:ext uri="{FF2B5EF4-FFF2-40B4-BE49-F238E27FC236}">
                <a16:creationId xmlns:a16="http://schemas.microsoft.com/office/drawing/2014/main" id="{B35CA390-7B6A-4E0A-A3F4-60416CB741B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B6B906-C237-4F3B-AF9F-DC4DAF9AD8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Always inspect the actual/predicted counts and relevant costs before calling a classifier useful.</a:t>
            </a:r>
          </a:p>
        </p:txBody>
      </p:sp>
      <p:sp>
        <p:nvSpPr>
          <p:cNvPr id="10" name="">
            <a:extLst xmlns:a="http://schemas.openxmlformats.org/drawingml/2006/main">
              <a:ext uri="{FF2B5EF4-FFF2-40B4-BE49-F238E27FC236}">
                <a16:creationId xmlns:a16="http://schemas.microsoft.com/office/drawing/2014/main" id="{EC930041-68F6-4167-9D62-C1B715AF5D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26</a:t>
            </a:r>
          </a:p>
        </p:txBody>
      </p:sp>
    </p:spTree>
    <p:extLst>
      <p:ext uri="{BB962C8B-B14F-4D97-AF65-F5344CB8AC3E}">
        <p14:creationId xmlns:p14="http://schemas.microsoft.com/office/powerpoint/2010/main" val="180162911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B61DAF-4942-41CD-A96E-9AE3E30A55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7F6A13-D98C-4D3A-BF04-16F0853F24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BA4A28-27EB-4296-9503-FF4B832E6E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35601DA6-23CF-43FC-8F93-052AA5E2D91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6DE01F-4788-4A1E-99FE-C061159A051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4EDD9C4-C3F9-44BA-B3E9-DE899E54952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Change the second prediction to 1. Count again. Does this improve both recall and the assumed cost?</a:t>
            </a:r>
          </a:p>
        </p:txBody>
      </p:sp>
      <p:sp>
        <p:nvSpPr>
          <p:cNvPr id="7" name="">
            <a:extLst xmlns:a="http://schemas.openxmlformats.org/drawingml/2006/main">
              <a:ext uri="{FF2B5EF4-FFF2-40B4-BE49-F238E27FC236}">
                <a16:creationId xmlns:a16="http://schemas.microsoft.com/office/drawing/2014/main" id="{61C73F4C-3BAF-4918-9553-783F7EC8F87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TP=2, FN=0, FP=1, TN=1. Precision 2/3, recall 1, cost 1. This particular change improves recall and cost.</a:t>
            </a:r>
          </a:p>
        </p:txBody>
      </p:sp>
      <p:sp>
        <p:nvSpPr>
          <p:cNvPr id="8" name="">
            <a:extLst xmlns:a="http://schemas.openxmlformats.org/drawingml/2006/main">
              <a:ext uri="{FF2B5EF4-FFF2-40B4-BE49-F238E27FC236}">
                <a16:creationId xmlns:a16="http://schemas.microsoft.com/office/drawing/2014/main" id="{594E3FD6-C5A0-49DC-9159-DD51BB36CB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27</a:t>
            </a:r>
          </a:p>
        </p:txBody>
      </p:sp>
    </p:spTree>
    <p:extLst>
      <p:ext uri="{BB962C8B-B14F-4D97-AF65-F5344CB8AC3E}">
        <p14:creationId xmlns:p14="http://schemas.microsoft.com/office/powerpoint/2010/main" val="88034184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FAED80-086B-46C0-A231-9747798266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BC4D93-F917-4451-B8C5-CAE5976E2F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A5C1EA-DAD4-4EB9-9D5E-8A6130E289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05F55BE7-A5F5-46B2-8A3C-B5AEBDEC40F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3DEDFEA-6BC9-441C-A9B2-DFF09A5918D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Implement classification_metrics on arbitrary paired binary labels, not only the example.</a:t>
            </a:r>
          </a:p>
        </p:txBody>
      </p:sp>
      <p:sp>
        <p:nvSpPr>
          <p:cNvPr id="6" name="">
            <a:extLst xmlns:a="http://schemas.openxmlformats.org/drawingml/2006/main">
              <a:ext uri="{FF2B5EF4-FFF2-40B4-BE49-F238E27FC236}">
                <a16:creationId xmlns:a16="http://schemas.microsoft.com/office/drawing/2014/main" id="{C2F0265F-ED76-4B4C-B852-B439FE0336C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FF6128-599C-4ECC-8C37-F169CB9743A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zero-denominator convention.</a:t>
            </a:r>
          </a:p>
        </p:txBody>
      </p:sp>
      <p:sp>
        <p:nvSpPr>
          <p:cNvPr id="8" name="">
            <a:extLst xmlns:a="http://schemas.openxmlformats.org/drawingml/2006/main">
              <a:ext uri="{FF2B5EF4-FFF2-40B4-BE49-F238E27FC236}">
                <a16:creationId xmlns:a16="http://schemas.microsoft.com/office/drawing/2014/main" id="{5B54927B-53E5-4FB8-8CEF-B1F34DDC79B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4EF239-5E45-43F6-8801-1A938D9D705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supplied W09 comparison separately.</a:t>
            </a:r>
          </a:p>
        </p:txBody>
      </p:sp>
      <p:sp>
        <p:nvSpPr>
          <p:cNvPr id="10" name="">
            <a:extLst xmlns:a="http://schemas.openxmlformats.org/drawingml/2006/main">
              <a:ext uri="{FF2B5EF4-FFF2-40B4-BE49-F238E27FC236}">
                <a16:creationId xmlns:a16="http://schemas.microsoft.com/office/drawing/2014/main" id="{23A4B8DD-F61E-4A58-BC08-35413DBCDE1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DDD519-2331-4089-9AF9-6C16DDE95FB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Teacher-written cost assumptions are not approved operating limits.</a:t>
            </a:r>
          </a:p>
        </p:txBody>
      </p:sp>
      <p:sp>
        <p:nvSpPr>
          <p:cNvPr id="12" name="">
            <a:extLst xmlns:a="http://schemas.openxmlformats.org/drawingml/2006/main">
              <a:ext uri="{FF2B5EF4-FFF2-40B4-BE49-F238E27FC236}">
                <a16:creationId xmlns:a16="http://schemas.microsoft.com/office/drawing/2014/main" id="{F6DB2533-9B4E-4491-9A8D-5B578CB803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28</a:t>
            </a:r>
          </a:p>
        </p:txBody>
      </p:sp>
    </p:spTree>
    <p:extLst>
      <p:ext uri="{BB962C8B-B14F-4D97-AF65-F5344CB8AC3E}">
        <p14:creationId xmlns:p14="http://schemas.microsoft.com/office/powerpoint/2010/main" val="12420446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E4F60BD-9010-4085-93F5-93283DD871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A641E6-115D-4560-B029-96E323B83E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FA27B9E-CF8C-498B-9518-505545369D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FF58A105-3EAB-48FD-9EC9-BBC0266C2A5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0080DE-D969-4272-B9D5-06632D8A73DC}"/>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claimed benefits require real-world evaluation.</a:t>
            </a:r>
          </a:p>
        </p:txBody>
      </p:sp>
      <p:sp>
        <p:nvSpPr>
          <p:cNvPr id="6" name="">
            <a:extLst xmlns:a="http://schemas.openxmlformats.org/drawingml/2006/main">
              <a:ext uri="{FF2B5EF4-FFF2-40B4-BE49-F238E27FC236}">
                <a16:creationId xmlns:a16="http://schemas.microsoft.com/office/drawing/2014/main" id="{774C4783-1806-4A35-985A-6741DE9FD2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29</a:t>
            </a:r>
          </a:p>
        </p:txBody>
      </p:sp>
    </p:spTree>
    <p:extLst>
      <p:ext uri="{BB962C8B-B14F-4D97-AF65-F5344CB8AC3E}">
        <p14:creationId xmlns:p14="http://schemas.microsoft.com/office/powerpoint/2010/main" val="57101648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BF73EAF-2FCD-434A-882E-A585396E95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478154-1B36-4531-8F58-570B33CADF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FBB0068-FBBA-4B00-8E66-71EFD27C59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Category predictions and operating thresholds</a:t>
            </a:r>
          </a:p>
        </p:txBody>
      </p:sp>
      <p:sp>
        <p:nvSpPr>
          <p:cNvPr id="4" name="">
            <a:extLst xmlns:a="http://schemas.openxmlformats.org/drawingml/2006/main">
              <a:ext uri="{FF2B5EF4-FFF2-40B4-BE49-F238E27FC236}">
                <a16:creationId xmlns:a16="http://schemas.microsoft.com/office/drawing/2014/main" id="{FB8F7EA9-2F48-4D30-B78E-216103C424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986D599-607E-4559-9A07-296806C904A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majority-only classifier can achieve high accuracy while missing the rare class.</a:t>
            </a:r>
          </a:p>
        </p:txBody>
      </p:sp>
      <p:sp>
        <p:nvSpPr>
          <p:cNvPr id="6" name="">
            <a:extLst xmlns:a="http://schemas.openxmlformats.org/drawingml/2006/main">
              <a:ext uri="{FF2B5EF4-FFF2-40B4-BE49-F238E27FC236}">
                <a16:creationId xmlns:a16="http://schemas.microsoft.com/office/drawing/2014/main" id="{D8F392B6-BA0E-4910-81B1-B7002AD7F68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34574C9-07C7-4963-84A2-123F8FF3B28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positive class and both confusion-matrix axes.</a:t>
            </a:r>
          </a:p>
        </p:txBody>
      </p:sp>
      <p:sp>
        <p:nvSpPr>
          <p:cNvPr id="8" name="">
            <a:extLst xmlns:a="http://schemas.openxmlformats.org/drawingml/2006/main">
              <a:ext uri="{FF2B5EF4-FFF2-40B4-BE49-F238E27FC236}">
                <a16:creationId xmlns:a16="http://schemas.microsoft.com/office/drawing/2014/main" id="{7C3E07F0-69D0-4F70-9804-5893A663C7B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E3EB70-EED5-420E-B34C-D592EB895E8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model expecting numeric features cannot directly use raw category strings; use numeric indicator columns for categories.</a:t>
            </a:r>
          </a:p>
        </p:txBody>
      </p:sp>
      <p:sp>
        <p:nvSpPr>
          <p:cNvPr id="10" name="">
            <a:extLst xmlns:a="http://schemas.openxmlformats.org/drawingml/2006/main">
              <a:ext uri="{FF2B5EF4-FFF2-40B4-BE49-F238E27FC236}">
                <a16:creationId xmlns:a16="http://schemas.microsoft.com/office/drawing/2014/main" id="{41A92238-8BB3-4033-8858-B8BE84E3530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4EEA9C-9805-47FF-9B83-E8D0200F287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threshold choices on validation data.</a:t>
            </a:r>
          </a:p>
        </p:txBody>
      </p:sp>
      <p:sp>
        <p:nvSpPr>
          <p:cNvPr id="12" name="">
            <a:extLst xmlns:a="http://schemas.openxmlformats.org/drawingml/2006/main">
              <a:ext uri="{FF2B5EF4-FFF2-40B4-BE49-F238E27FC236}">
                <a16:creationId xmlns:a16="http://schemas.microsoft.com/office/drawing/2014/main" id="{9C01BE7D-FD24-4547-8166-955AE0CCB7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30</a:t>
            </a:r>
          </a:p>
        </p:txBody>
      </p:sp>
    </p:spTree>
    <p:extLst>
      <p:ext uri="{BB962C8B-B14F-4D97-AF65-F5344CB8AC3E}">
        <p14:creationId xmlns:p14="http://schemas.microsoft.com/office/powerpoint/2010/main" val="5146810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3A882F-269D-4D86-9644-374576196B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2F88B1-1DB6-4321-B41A-7CC56E1129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DA7708-D7F4-44A5-A055-B618788517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Category predictions and operating thresholds continued</a:t>
            </a:r>
          </a:p>
        </p:txBody>
      </p:sp>
      <p:sp>
        <p:nvSpPr>
          <p:cNvPr id="4" name="">
            <a:extLst xmlns:a="http://schemas.openxmlformats.org/drawingml/2006/main">
              <a:ext uri="{FF2B5EF4-FFF2-40B4-BE49-F238E27FC236}">
                <a16:creationId xmlns:a16="http://schemas.microsoft.com/office/drawing/2014/main" id="{D63CCAF4-FC28-499D-BB8E-CC9C7749F4C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D55295-5B86-401A-90D3-AC3B9540DAD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Reducing the threshold adds flagged cases and cannot reduce recall on fixed scored observations, but precision can move either way.</a:t>
            </a:r>
          </a:p>
        </p:txBody>
      </p:sp>
      <p:sp>
        <p:nvSpPr>
          <p:cNvPr id="6" name="">
            <a:extLst xmlns:a="http://schemas.openxmlformats.org/drawingml/2006/main">
              <a:ext uri="{FF2B5EF4-FFF2-40B4-BE49-F238E27FC236}">
                <a16:creationId xmlns:a16="http://schemas.microsoft.com/office/drawing/2014/main" id="{A04DC81C-535C-490A-A9EB-27CB16DD8F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31</a:t>
            </a:r>
          </a:p>
        </p:txBody>
      </p:sp>
    </p:spTree>
    <p:extLst>
      <p:ext uri="{BB962C8B-B14F-4D97-AF65-F5344CB8AC3E}">
        <p14:creationId xmlns:p14="http://schemas.microsoft.com/office/powerpoint/2010/main" val="201183223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313287-A99D-4B83-B8EB-216C679D58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2BAB8E-0F81-417A-ABA7-CF94E6EEBC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A4BBED4-4913-4F6C-95E8-E1B07E76AA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717B5BD3-1905-4138-9A32-4B8B7D2A84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BF93FD5-ADD7-403F-B74C-0145952730C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classification_case.csv.</a:t>
            </a:r>
          </a:p>
        </p:txBody>
      </p:sp>
      <p:sp>
        <p:nvSpPr>
          <p:cNvPr id="6" name="">
            <a:extLst xmlns:a="http://schemas.openxmlformats.org/drawingml/2006/main">
              <a:ext uri="{FF2B5EF4-FFF2-40B4-BE49-F238E27FC236}">
                <a16:creationId xmlns:a16="http://schemas.microsoft.com/office/drawing/2014/main" id="{9E4DCADD-502D-414A-B70E-73B0D6B2FF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B0BD69-ED24-4AF2-ACF5-0D1B12ACD08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means a synthetic warning condition.</a:t>
            </a:r>
          </a:p>
        </p:txBody>
      </p:sp>
      <p:sp>
        <p:nvSpPr>
          <p:cNvPr id="8" name="">
            <a:extLst xmlns:a="http://schemas.openxmlformats.org/drawingml/2006/main">
              <a:ext uri="{FF2B5EF4-FFF2-40B4-BE49-F238E27FC236}">
                <a16:creationId xmlns:a16="http://schemas.microsoft.com/office/drawing/2014/main" id="{095C400F-B651-41AB-8916-4412955D92D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000F35-05BC-4477-A39F-1ABE83FEB0C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confusion matrix, precision, recall and cost.</a:t>
            </a:r>
          </a:p>
        </p:txBody>
      </p:sp>
      <p:sp>
        <p:nvSpPr>
          <p:cNvPr id="10" name="">
            <a:extLst xmlns:a="http://schemas.openxmlformats.org/drawingml/2006/main">
              <a:ext uri="{FF2B5EF4-FFF2-40B4-BE49-F238E27FC236}">
                <a16:creationId xmlns:a16="http://schemas.microsoft.com/office/drawing/2014/main" id="{AB14D99F-5D7D-4A02-983D-D536A3D373D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6DE4A21-2734-4103-B546-4700701931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5:1 missed-warning/false-alarm cost assumption and why accuracy alone is insufficient.</a:t>
            </a:r>
          </a:p>
        </p:txBody>
      </p:sp>
      <p:sp>
        <p:nvSpPr>
          <p:cNvPr id="12" name="">
            <a:extLst xmlns:a="http://schemas.openxmlformats.org/drawingml/2006/main">
              <a:ext uri="{FF2B5EF4-FFF2-40B4-BE49-F238E27FC236}">
                <a16:creationId xmlns:a16="http://schemas.microsoft.com/office/drawing/2014/main" id="{A19DAB4C-33B9-4EE8-A5F8-E071D23569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32</a:t>
            </a:r>
          </a:p>
        </p:txBody>
      </p:sp>
    </p:spTree>
    <p:extLst>
      <p:ext uri="{BB962C8B-B14F-4D97-AF65-F5344CB8AC3E}">
        <p14:creationId xmlns:p14="http://schemas.microsoft.com/office/powerpoint/2010/main" val="192198887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D22E41-FA90-4DE7-B3B2-E6D6EE363D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8F19A8-9D56-42B9-BBC4-346E661C56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0EAE092-02BE-4FE4-B1B7-BA2529EF45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 continued</a:t>
            </a:r>
          </a:p>
        </p:txBody>
      </p:sp>
      <p:sp>
        <p:nvSpPr>
          <p:cNvPr id="4" name="">
            <a:extLst xmlns:a="http://schemas.openxmlformats.org/drawingml/2006/main">
              <a:ext uri="{FF2B5EF4-FFF2-40B4-BE49-F238E27FC236}">
                <a16:creationId xmlns:a16="http://schemas.microsoft.com/office/drawing/2014/main" id="{FF0EA7CC-3986-4C84-B248-476792A092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3F4D79-2D73-4178-B369-33C3EA263B19}"/>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costs are teaching assumptions, not approved operating limits.</a:t>
            </a:r>
          </a:p>
        </p:txBody>
      </p:sp>
      <p:sp>
        <p:nvSpPr>
          <p:cNvPr id="6" name="">
            <a:extLst xmlns:a="http://schemas.openxmlformats.org/drawingml/2006/main">
              <a:ext uri="{FF2B5EF4-FFF2-40B4-BE49-F238E27FC236}">
                <a16:creationId xmlns:a16="http://schemas.microsoft.com/office/drawing/2014/main" id="{9BE0C9DF-BB32-421F-B890-184BA732D3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33</a:t>
            </a:r>
          </a:p>
        </p:txBody>
      </p:sp>
    </p:spTree>
    <p:extLst>
      <p:ext uri="{BB962C8B-B14F-4D97-AF65-F5344CB8AC3E}">
        <p14:creationId xmlns:p14="http://schemas.microsoft.com/office/powerpoint/2010/main" val="34761680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6B2213-6412-4EAE-ABB6-DEFCBF4E4B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D1C4B6-4D41-4AA5-B2CC-274829A61E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5B68636-A1EE-49B4-A55D-52E5A10C7B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classification_metrics(actual, predicted)</a:t>
            </a:r>
          </a:p>
        </p:txBody>
      </p:sp>
      <p:sp>
        <p:nvSpPr>
          <p:cNvPr id="4" name="">
            <a:extLst xmlns:a="http://schemas.openxmlformats.org/drawingml/2006/main">
              <a:ext uri="{FF2B5EF4-FFF2-40B4-BE49-F238E27FC236}">
                <a16:creationId xmlns:a16="http://schemas.microsoft.com/office/drawing/2014/main" id="{8A0C5C68-5AC8-42C0-99F1-48F0641729F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6F9855-85E4-45A6-911C-5B13FA68AEC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For binary labels return tp, tn, fp, fn, precision, recall and cost=5*fn+fp; use zero for an undefined precision/recall denominator.</a:t>
            </a:r>
          </a:p>
        </p:txBody>
      </p:sp>
      <p:sp>
        <p:nvSpPr>
          <p:cNvPr id="6" name="">
            <a:extLst xmlns:a="http://schemas.openxmlformats.org/drawingml/2006/main">
              <a:ext uri="{FF2B5EF4-FFF2-40B4-BE49-F238E27FC236}">
                <a16:creationId xmlns:a16="http://schemas.microsoft.com/office/drawing/2014/main" id="{55C52E18-7372-4314-A40D-F5B05AF08DE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66AB37C-29E9-46DC-A810-41FEF46D28B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EC1019E-338E-4CBF-8580-3251CFCBA2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34</a:t>
            </a:r>
          </a:p>
        </p:txBody>
      </p:sp>
    </p:spTree>
    <p:extLst>
      <p:ext uri="{BB962C8B-B14F-4D97-AF65-F5344CB8AC3E}">
        <p14:creationId xmlns:p14="http://schemas.microsoft.com/office/powerpoint/2010/main" val="188235345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A29C2C0-CFAF-4CE6-8E1C-14053B43E8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857078-2EFB-49DA-8FFA-9174ACE2E6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56CDF05-B025-4636-B5E4-FB7CD8B965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A9E94425-B93C-4404-B3B5-7B1C6A7FD7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F449D2-7E25-4DAA-9795-A96D64D99CB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008D1FEF-92ED-47CA-B414-18677D4E8B4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B4F603-C5CB-40C1-B2FB-D9758ADC434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7CEDB751-FEA3-462C-8AC7-76C13BB575F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821049-6C1B-47BC-985A-BAD41E89A58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F7033FA7-3DBB-4FE6-A207-93A3BE216C1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78BA59-7AF0-4F9A-AC3A-DA13BFEF4A2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7297E29B-0895-49E0-A664-ADBCECB29CB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35</a:t>
            </a:r>
          </a:p>
        </p:txBody>
      </p:sp>
    </p:spTree>
    <p:extLst>
      <p:ext uri="{BB962C8B-B14F-4D97-AF65-F5344CB8AC3E}">
        <p14:creationId xmlns:p14="http://schemas.microsoft.com/office/powerpoint/2010/main" val="195557430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F81464B-FF5B-4597-B6CF-606B15F45D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681736-2CE8-4559-836E-70F0FDEC51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024BFB6-AB71-4CF7-8F50-03FD9EEEA7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Classification and cost submission</a:t>
            </a:r>
          </a:p>
        </p:txBody>
      </p:sp>
      <p:sp>
        <p:nvSpPr>
          <p:cNvPr id="4" name="">
            <a:extLst xmlns:a="http://schemas.openxmlformats.org/drawingml/2006/main">
              <a:ext uri="{FF2B5EF4-FFF2-40B4-BE49-F238E27FC236}">
                <a16:creationId xmlns:a16="http://schemas.microsoft.com/office/drawing/2014/main" id="{1B5AE257-E445-4267-B8E3-D9041BC2688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20F07E-A333-4580-86D9-4B7691CAC2A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Nov 2026, 11:00 Kampala</a:t>
            </a:r>
          </a:p>
        </p:txBody>
      </p:sp>
      <p:sp>
        <p:nvSpPr>
          <p:cNvPr id="6" name="">
            <a:extLst xmlns:a="http://schemas.openxmlformats.org/drawingml/2006/main">
              <a:ext uri="{FF2B5EF4-FFF2-40B4-BE49-F238E27FC236}">
                <a16:creationId xmlns:a16="http://schemas.microsoft.com/office/drawing/2014/main" id="{664F2179-E90E-4478-B4F2-92B48D00EE3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F0A8A3-1F20-408D-83F1-6125F646011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Nov 2026, 11:00 Kampala</a:t>
            </a:r>
          </a:p>
        </p:txBody>
      </p:sp>
      <p:sp>
        <p:nvSpPr>
          <p:cNvPr id="8" name="">
            <a:extLst xmlns:a="http://schemas.openxmlformats.org/drawingml/2006/main">
              <a:ext uri="{FF2B5EF4-FFF2-40B4-BE49-F238E27FC236}">
                <a16:creationId xmlns:a16="http://schemas.microsoft.com/office/drawing/2014/main" id="{B90B3D4A-45AF-4727-B70A-89DF81E87C2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2302E0-EF2D-424F-8713-7E5AD55E259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AAD2DFDA-8E2E-44FD-B84B-1B65166AC89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3AC9DDF-F991-4DC8-89E3-6226CE33367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9C69AE6F-4C85-4F52-B6A6-069819FAEE5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4212FD0-BF14-4835-B9DE-7507A8A069A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db007dc122c404f"/>
              </a:rPr>
              <a:t>Open W09 assignment form</a:t>
            </a:r>
          </a:p>
        </p:txBody>
      </p:sp>
      <p:sp>
        <p:nvSpPr>
          <p:cNvPr id="14" name="">
            <a:extLst xmlns:a="http://schemas.openxmlformats.org/drawingml/2006/main">
              <a:ext uri="{FF2B5EF4-FFF2-40B4-BE49-F238E27FC236}">
                <a16:creationId xmlns:a16="http://schemas.microsoft.com/office/drawing/2014/main" id="{099A269F-206C-4C97-8B89-47271F994E9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https://docs.google.com/forms/d/e/1FAIpQLSfelPFlgqIQS1vM0QDthocg7aIU_WLXNjL4g1DdZAJyKcm9eA/viewform</a:t>
            </a:r>
          </a:p>
        </p:txBody>
      </p:sp>
      <p:sp>
        <p:nvSpPr>
          <p:cNvPr id="15" name="">
            <a:extLst xmlns:a="http://schemas.openxmlformats.org/drawingml/2006/main">
              <a:ext uri="{FF2B5EF4-FFF2-40B4-BE49-F238E27FC236}">
                <a16:creationId xmlns:a16="http://schemas.microsoft.com/office/drawing/2014/main" id="{968FF45E-C070-4FE8-A303-8EFA3DF843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36</a:t>
            </a:r>
          </a:p>
        </p:txBody>
      </p:sp>
    </p:spTree>
    <p:extLst>
      <p:ext uri="{BB962C8B-B14F-4D97-AF65-F5344CB8AC3E}">
        <p14:creationId xmlns:p14="http://schemas.microsoft.com/office/powerpoint/2010/main" val="129638005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E4DF5B6-2555-46C8-B736-4440B944BE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7F84E9-4AFE-4D35-ACC2-10A8779EE2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FCD7FC9C-10F6-43E1-A050-3D39BB3384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9 quiz</a:t>
            </a:r>
          </a:p>
        </p:txBody>
      </p:sp>
      <p:sp>
        <p:nvSpPr>
          <p:cNvPr id="4" name="">
            <a:extLst xmlns:a="http://schemas.openxmlformats.org/drawingml/2006/main">
              <a:ext uri="{FF2B5EF4-FFF2-40B4-BE49-F238E27FC236}">
                <a16:creationId xmlns:a16="http://schemas.microsoft.com/office/drawing/2014/main" id="{FA63D5EB-D1FB-4B49-B2B6-1243F354BB1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68C366-8011-45FC-9B4A-6C5401BEADD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5A77619F-6426-42EA-909F-21CE2CE8917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B95026-24CB-45F8-8FCC-D6EA2BAC5A00}"/>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76AF31E-F893-425F-B374-000F377B311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F33D095-EE60-48CC-A01A-58B18C190B3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B03C6A96-A4E8-4DB8-A6C5-D08378E45F1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9324318-311E-4643-A0BA-88A13D099FA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b8050b6fc59432d"/>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93F21DD5-D1DC-4EBA-984B-FCC6BD61CC6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DB3C3CF9-3263-4D6A-A6C3-4BE917A99B2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CB6E5FA-C0A9-4213-86C8-C73F2AAD25C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4e28b02148e4138"/>
              </a:rPr>
              <a:t>Open this week’s quiz</a:t>
            </a:r>
          </a:p>
        </p:txBody>
      </p:sp>
      <p:sp>
        <p:nvSpPr>
          <p:cNvPr id="16" name="">
            <a:extLst xmlns:a="http://schemas.openxmlformats.org/drawingml/2006/main">
              <a:ext uri="{FF2B5EF4-FFF2-40B4-BE49-F238E27FC236}">
                <a16:creationId xmlns:a16="http://schemas.microsoft.com/office/drawing/2014/main" id="{0EED8966-4CE5-429E-9116-8BF58CF07E1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https://forms.gle/U2h5A1itpmZZTogm6</a:t>
            </a:r>
          </a:p>
        </p:txBody>
      </p:sp>
      <p:sp>
        <p:nvSpPr>
          <p:cNvPr id="17" name="">
            <a:extLst xmlns:a="http://schemas.openxmlformats.org/drawingml/2006/main">
              <a:ext uri="{FF2B5EF4-FFF2-40B4-BE49-F238E27FC236}">
                <a16:creationId xmlns:a16="http://schemas.microsoft.com/office/drawing/2014/main" id="{E1B79829-E62E-4CB4-B415-1EDBD81AB4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37</a:t>
            </a:r>
          </a:p>
        </p:txBody>
      </p:sp>
    </p:spTree>
    <p:extLst>
      <p:ext uri="{BB962C8B-B14F-4D97-AF65-F5344CB8AC3E}">
        <p14:creationId xmlns:p14="http://schemas.microsoft.com/office/powerpoint/2010/main" val="2077802371"/>
      </p:ext>
    </p:extLst>
  </p:cSld>
</p:sld>
</file>

<file path=ppt/slides/slide3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A1B9B40-1ABD-41BF-8053-14BBC9F303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E4CA45D8-B4C5-4AE9-BD8F-085A9DB432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5D8371A6-E94A-4113-9A23-694983912D3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0A76A9B-4E4D-4D26-B96F-5A8F73F1EDB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a false negative and explain precision and recall with counts.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82D3E0B3-BF47-4C77-8E87-F2160FDA635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B5D80B60-4761-4D50-91BD-77E53D717D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9   38</a:t>
            </a:r>
          </a:p>
        </p:txBody>
      </p:sp>
    </p:spTree>
    <p:extLst>
      <p:ext uri="{BB962C8B-B14F-4D97-AF65-F5344CB8AC3E}">
        <p14:creationId xmlns:p14="http://schemas.microsoft.com/office/powerpoint/2010/main" val="51848712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0E6A74D-18FE-4002-B68E-519EF332AD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3F77E1-C4E4-482B-BB90-EE0E9D9F75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46973A3B-0B74-4BC1-9A26-0CCE0178E5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623601C-088F-447B-A7E4-6E8FFAEC2B5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A9322F-4F9A-4BA2-8474-04D46CD7435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8249C58C-137F-4E7C-9AF1-4122F046A86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0DEEEA3-4A4C-43B5-88DC-87C4F7C9964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The Confusion Matrix</a:t>
            </a:r>
          </a:p>
        </p:txBody>
      </p:sp>
      <p:sp>
        <p:nvSpPr>
          <p:cNvPr id="8" name="">
            <a:extLst xmlns:a="http://schemas.openxmlformats.org/drawingml/2006/main">
              <a:ext uri="{FF2B5EF4-FFF2-40B4-BE49-F238E27FC236}">
                <a16:creationId xmlns:a16="http://schemas.microsoft.com/office/drawing/2014/main" id="{226305FF-6C18-4CA2-9EA3-9EE1071CACF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565D3D-6572-410B-A5B8-C76D3459C61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3C9AE0E0-7DBA-4A65-9772-4CF5FFBC790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0AC9355-1937-47F3-9BB2-78A9A12D03B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Which observations are correctly or incorrectly classified?</a:t>
            </a:r>
          </a:p>
        </p:txBody>
      </p:sp>
      <p:sp>
        <p:nvSpPr>
          <p:cNvPr id="12" name="">
            <a:extLst xmlns:a="http://schemas.openxmlformats.org/drawingml/2006/main">
              <a:ext uri="{FF2B5EF4-FFF2-40B4-BE49-F238E27FC236}">
                <a16:creationId xmlns:a16="http://schemas.microsoft.com/office/drawing/2014/main" id="{2BE29BA8-64F5-4EC7-A8A8-04B272E2D2B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ABEBEE5-435C-4AD4-BDF1-385193DB867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52ef577871444a6"/>
              </a:rPr>
              <a:t>Open explainer video</a:t>
            </a:r>
          </a:p>
        </p:txBody>
      </p:sp>
      <p:sp>
        <p:nvSpPr>
          <p:cNvPr id="14" name="">
            <a:extLst xmlns:a="http://schemas.openxmlformats.org/drawingml/2006/main">
              <a:ext uri="{FF2B5EF4-FFF2-40B4-BE49-F238E27FC236}">
                <a16:creationId xmlns:a16="http://schemas.microsoft.com/office/drawing/2014/main" id="{88703185-9C9D-433D-9809-218B73B5B47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https://www.youtube.com/watch?v=Kdsp6soqA7o</a:t>
            </a:r>
          </a:p>
        </p:txBody>
      </p:sp>
      <p:sp>
        <p:nvSpPr>
          <p:cNvPr id="15" name="">
            <a:extLst xmlns:a="http://schemas.openxmlformats.org/drawingml/2006/main">
              <a:ext uri="{FF2B5EF4-FFF2-40B4-BE49-F238E27FC236}">
                <a16:creationId xmlns:a16="http://schemas.microsoft.com/office/drawing/2014/main" id="{16085128-E951-48BD-8C2E-F4A63A14A7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9   39</a:t>
            </a:r>
          </a:p>
        </p:txBody>
      </p:sp>
    </p:spTree>
    <p:extLst>
      <p:ext uri="{BB962C8B-B14F-4D97-AF65-F5344CB8AC3E}">
        <p14:creationId xmlns:p14="http://schemas.microsoft.com/office/powerpoint/2010/main" val="21314611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2026-09-28T21:15:12.1610000Z</dcterms:created>
  <dcterms:modified xsi:type="dcterms:W3CDTF">2026-09-28T21:15:12.1610000Z</dcterms:modified>
</coreProperties>
</file>