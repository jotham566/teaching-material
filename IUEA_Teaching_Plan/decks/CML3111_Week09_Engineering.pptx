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week the answer was a number. This week it is a decision, and a decision has two ways of being wrong that almost never cost the same.</a:t>
            </a:r>
          </a:p>
          <a:p/>
          <a:p>
            <a:r>
              <a:t>That asymmetry is the whole session. Everything about which model to choose, which metric to quote and where to put the threshold follows from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 5 is the one an engineer is uniquely placed to do well. Choosing a metric is not a statistical question; it is a question about what a mistake costs, and you know that better than any algorithm does.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segments. The first half introduces classification and three models that do it; the second half is about reading the four numbers that tell you whether a classifier is any use.</a:t>
            </a:r>
          </a:p>
          <a:p/>
          <a:p>
            <a:r>
              <a:t>The last twenty minutes carry the most weight. A classifier scoring 97 per cent accuracy can be worth nothing at all, and the challenge at the end is where that becomes obvious rather than something you have been told.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from last week carries over: the split, the fit / predict / score pattern, and the habit of asking whether the error is small enough to act on. Only the metrics change.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framing has to come first. A student who learns the metrics before the costs will reach for accuracy every time.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both costs down before you write any code. It sounds like an administrative step and it is the step that determines which model you end up recommending.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point is the one practitioners learn the hard way. A model with excellent recall and a poor false-alarm rate looks good on paper and gets switched off within a month. Recall you cannot sustain operationally is not recall.</a:t>
            </a:r>
          </a:p>
          <a:p/>
          <a:p>
            <a:r>
              <a:t>For this cohort: Recall, and by a long way. But watch the false-alarm rate: an alarm nobody believes is worse than no alarm.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probability output is the part that matters, because it is what lets you move the threshold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 regression does not output a class. It outputs a probability between 0 and 1, and something else has to turn that into a decision by comparing it with a threshold.</a:t>
            </a:r>
          </a:p>
          <a:p/>
          <a:p>
            <a:r>
              <a:t>The default threshold is 0.5, and there is nothing special about 0.5. It is a convention. Choosing it is an engineering decision, and the figure shows what changing it does.</a:t>
            </a:r>
          </a:p>
          <a:p/>
          <a:p>
            <a:r>
              <a:t>At a threshold of 0.5 this model gets 86 per cent right; at 0.2 it gets 81 per cent right but catches many more of the positive cases. Which is better depends entirely on the cost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Keeping the probability rather than only the class is what gives you a dial to turn. It is also far more useful in a report: 'a 78 per cent chance of fails' says more to a decision-maker than a bare label.</a:t>
            </a:r>
          </a:p>
          <a:p/>
          <a:p>
            <a:r>
              <a:t>The 'do not confuse with' point matters. A model that says 0.9 is not 90 per cent confident in the everyday sense; it is saying that among training cases that looked like this, about 90 per cent were positive.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readability of a shallow tree is a genuine engineering advantage rather than a teaching convenience.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only model in the course you can hand to a colleague as a written procedure, and that is worth a great deal in any setting where a decision has to be explained to a client or a regulator.</a:t>
            </a:r>
          </a:p>
          <a:p/>
          <a:p>
            <a:r>
              <a:t>Read the leaf counts, not just the labels. A leaf saying 'expect fine' with a 20 per cent failure rate behind it is doing something quite different from one with a 2 per cent rate, and the label alone hides that.</a:t>
            </a:r>
          </a:p>
          <a:p/>
          <a:p>
            <a:r>
              <a:t>Depth is the control. A deeper tree fits the training data better and generalises worse, which is exactly the subject of next week.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averaging helps: each tree makes its own mistakes, and the mistakes are not the same ones. Averaging cancels a good deal of that individual error.</a:t>
            </a:r>
          </a:p>
          <a:p/>
          <a:p>
            <a:r>
              <a:t>What you give up is readability. There is no rule to write down any more — the model is a hundred trees and a vote. In a setting where the decision must be explained, that cost is real and sometimes decisive.</a:t>
            </a:r>
          </a:p>
          <a:p/>
          <a:p>
            <a:r>
              <a:t>Do not take away the idea that a forest always beats the best single tree. On any one dataset the best tree may win; you simply have no way of knowing in advance which tree that would have been.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hands-on block after the break builds all three models.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minutes fitting three different classifiers to the same data. Logistic regression, a decision tree and a random forest are three genuinely different ideas about how to draw a boundary, and all three are used through exactly the same four steps you learned in Week 8: split, fit, predict, score.</a:t>
            </a:r>
          </a:p>
          <a:p/>
          <a:p>
            <a:r>
              <a:t>Only the line that creates the model changes. That is the return on having learned the pattern properly — swapping in a new algorithm is a one-line edit, so the hard part of your project is never going to be the modelling.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one loop, and the only thing that differs between them is the constructor. Everything you learned in Week 8 transfers unchanged.</a:t>
            </a:r>
          </a:p>
          <a:p/>
          <a:p>
            <a:r>
              <a:t>max_iter=1000 on logistic regression stops a convergence warning, which is housekeeping rather than a modelling choice. max_depth=3 on the tree is a modelling choice and a deliberate one — it keeps the tree readable.</a:t>
            </a:r>
          </a:p>
          <a:p/>
          <a:p>
            <a:r>
              <a:t>classification_report gives precision, recall and F1 for each class. Read the row for the class you care about, which is usually the rare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a student can read this table in their own domain's language, the metrics stop being arbitrary.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before any metric. Accuracy is the two correct cells divided by all four, which is why it can look excellent while one of the correct cells is empty.</a:t>
            </a:r>
          </a:p>
          <a:p/>
          <a:p>
            <a:r>
              <a:t>Precision answers: of the cases I flagged, how many really were fails? Recall answers: of the cases that really were fails, how many did I catch? They are different questions and improving one usually worsens the other.</a:t>
            </a:r>
          </a:p>
          <a:p/>
          <a:p>
            <a:r>
              <a:t>F1 combines them into one number. It is convenient for comparing models and it hides the trade-off, so quote the two separately when the costs differ.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routine is what the project rubric means by engineering reasoning. Two teams with identical models and different cost tables should reach different recommendations, and both can be right.</a:t>
            </a:r>
          </a:p>
          <a:p/>
          <a:p>
            <a:r>
              <a:t>Step 1 catches the failure in the last segment of today before it catches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threshold is the most useful and least used control a beginner has.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operating points are marked, and choosing between them is not a statistical decision. It is a decision about how many false alarms the people using this system will tolerate before they stop believing it.</a:t>
            </a:r>
          </a:p>
          <a:p/>
          <a:p>
            <a:r>
              <a:t>A practical way to set it: ask how many alarms per week are acceptable, find the threshold that produces that many, and report the recall you get at that threshold. That is a far more useful conversation than quoting an F1 score.</a:t>
            </a:r>
          </a:p>
          <a:p/>
          <a:p>
            <a:r>
              <a:t>For this cohort: Recall, and by a long way. But watch the false-alarm rate: an alarm nobody believes is worse than no alarm.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minutes on a notebook that reports an excellent accuracy score and is of no practical use whatsoever. Your job is to work out why, using the tools from the previous two segments.</a:t>
            </a:r>
          </a:p>
          <a:p/>
          <a:p>
            <a:r>
              <a:t>The answer is in the confusion matrix rather than in the accuracy figure, and the reason is in how often the thing being predicted actually happens. Work the four numbers before you form an opinion.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figure in Week 9. Accuracy is the wrong instrument whenever one class is rare, and rare classes are exactly the interesting ones in engineering — failures, defects, incidents.</a:t>
            </a:r>
          </a:p>
          <a:p/>
          <a:p>
            <a:r>
              <a:t>What to quote instead: recall on the rare class, or the confusion matrix itself. Both make the empty column impossible to hide.</a:t>
            </a:r>
          </a:p>
          <a:p/>
          <a:p>
            <a:r>
              <a:t>The practical lesson is a reflex. When somebody reports a high accuracy, ask what the class balance was. If they do not know, the number means nothing yet.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4 is the one that cracks it: computing the score of the do-nothing model shows that the 97 per cent contains no information at all.</a:t>
            </a:r>
          </a:p>
          <a:p/>
          <a:p>
            <a:r>
              <a:t>The deliverable is one sentence naming the problem and one naming the metric that should replace accuracy. Teams that get there in ten minutes should go on to find the threshold that gives a usable recall.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your problem statement, dataset and named target by Week 10. Before it is approved it has to survive the four limits from Week 1: is there data, is there signal, would physics do this better, and have the conditions changed.</a:t>
            </a:r>
          </a:p>
          <a:p/>
          <a:p>
            <a:r>
              <a:t>The rubric is published now and does not change. Note where the marks are: 55 of the 100 are for method, reasoning and validation, and only the communication and reproducibility marks are about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Statement 8 is a reflex worth acquiring. It will serve you in reading papers, vendor claims and your own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C is worth working through cell by cell. Being able to predict the direction each cell moves is what shows you understand the threshold.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matters for the project. Teams routinely present a feature-importance chart as though it were a physical finding. It is a property of the fitted model.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Precision and recall are the two to be able to state from memory, in the domain's own language, without hesitating.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line is the one that makes the rest work. A classifier reported without its cost table is a score without a decision attached to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week is the highest-value session of the semester. Everything you were told to trust this week gets tested properly, including the possibility that your own model has been cheating without your knowledge.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CML3111</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Classification:</a:t>
            </a:r>
          </a:p>
          <a:p>
            <a:pPr algn="l">
              <a:lnSpc>
                <a:spcPct val="105000"/>
              </a:lnSpc>
              <a:spcAft>
                <a:spcPts val="600"/>
              </a:spcAft>
            </a:pPr>
            <a:r>
              <a:rPr sz="4400" b="1" i="0">
                <a:solidFill>
                  <a:srgbClr val="FFFFFF"/>
                </a:solidFill>
                <a:latin typeface="Cambria"/>
              </a:rPr>
              <a:t>deciding, and the cost of</a:t>
            </a:r>
          </a:p>
          <a:p>
            <a:pPr algn="l">
              <a:lnSpc>
                <a:spcPct val="105000"/>
              </a:lnSpc>
              <a:spcAft>
                <a:spcPts val="600"/>
              </a:spcAft>
            </a:pPr>
            <a:r>
              <a:rPr sz="4400" b="1" i="0">
                <a:solidFill>
                  <a:srgbClr val="FFFFFF"/>
                </a:solidFill>
                <a:latin typeface="Cambria"/>
              </a:rPr>
              <a:t>being wrong</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Boundaries, trees, forests, and the two mistakes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9  ·  Fri 6 November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11:00–14:00 · Room 115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when a problem is classification, and when a continuous target should be banded.</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Fit and compare logistic regression, a decision tree and a random forest.</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confusion matrix and name each of the four cells in the language of sensors, signals, energy systems, fault detection and machine health.</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why accuracy is misleading when one class is rare, with a worked case.</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Choose between precision and recall by reasoning about the cost of each mistake.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Move the decision threshold and say what that does operationally.</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feature importance ranking with appropriate scepticism.</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9 · Classification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9.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Ten segments. The challenge at the end is the most important twenty minutes of the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predict a number and state its error. Today the answer becomes a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two mistakes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Before any model, the arithmetic of being wrong in each direction.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 STARTS WITH THE COSTS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"Predict whether a machine will fail within the next operating hour. What does each kind of mistake cost?"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There are exactly two ways to be wrong, and in engineering they are almost never equally expensive.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ASYMMETRY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ways to be wrong</a:t>
            </a:r>
          </a:p>
        </p:txBody>
      </p:sp>
      <p:sp>
        <p:nvSpPr>
          <p:cNvPr id="4" name="TextBox 3"/>
          <p:cNvSpPr txBox="1"/>
          <p:nvPr/>
        </p:nvSpPr>
        <p:spPr>
          <a:xfrm>
            <a:off x="685800" y="1911095"/>
            <a:ext cx="5158587" cy="749373"/>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false alarm — you predicted fails, it was runs normally</a:t>
            </a:r>
          </a:p>
        </p:txBody>
      </p:sp>
      <p:sp>
        <p:nvSpPr>
          <p:cNvPr id="5" name="TextBox 4"/>
          <p:cNvSpPr txBox="1"/>
          <p:nvPr/>
        </p:nvSpPr>
        <p:spPr>
          <a:xfrm>
            <a:off x="685800" y="2669613"/>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false alarm: you stop a healthy line, and the operator learns to distrust the alarm.</a:t>
            </a:r>
          </a:p>
        </p:txBody>
      </p:sp>
      <p:sp>
        <p:nvSpPr>
          <p:cNvPr id="6" name="TextBox 5"/>
          <p:cNvSpPr txBox="1"/>
          <p:nvPr/>
        </p:nvSpPr>
        <p:spPr>
          <a:xfrm>
            <a:off x="685800" y="354894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 miss — you predicted runs normally, it was fails</a:t>
            </a:r>
          </a:p>
        </p:txBody>
      </p:sp>
      <p:sp>
        <p:nvSpPr>
          <p:cNvPr id="7" name="TextBox 6"/>
          <p:cNvSpPr txBox="1"/>
          <p:nvPr/>
        </p:nvSpPr>
        <p:spPr>
          <a:xfrm>
            <a:off x="685800" y="3960207"/>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missed failure: the machine destroys itself, and possibly injures somebody.</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Why this decides everything that follows</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model can be tuned to make fewer of one at the price of more of the other. You cannot reduce both at once, so somebody has to decide which is worse. That somebody is the engineer.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The cost table you will fill in today</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cost of a false alarm and a stopped line · cost of a destroyed machine and lost production · cost of an unnecessary callout · safety consequence of an undetected fault</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the honest complication</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false alarm is not free even when nobody is hurt. An alarm that cries wolf gets disabled, and a disabled alarm catches nothing at all.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A boundary, and where to put it</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Logistic regression, and why its output is a probability rather than a verdict.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BOUNDARY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decision boundary</a:t>
            </a:r>
          </a:p>
        </p:txBody>
      </p:sp>
      <p:pic>
        <p:nvPicPr>
          <p:cNvPr id="4" name="Picture 3" descr="decision_boundary.png"/>
          <p:cNvPicPr>
            <a:picLocks noChangeAspect="1"/>
          </p:cNvPicPr>
          <p:nvPr/>
        </p:nvPicPr>
        <p:blipFill>
          <a:blip r:embed="rId2"/>
          <a:stretch>
            <a:fillRect/>
          </a:stretch>
        </p:blipFill>
        <p:spPr>
          <a:xfrm>
            <a:off x="1473250" y="1911095"/>
            <a:ext cx="924519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model learns a line separating the two classes, and its position depends on where you set the cut-off. Move the cut-off and the boundary moves with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Classification, probability and threshold</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CLASSIFICATION predicts which category a case belongs to. Most classifiers first produce a PROBABILITY, and a THRESHOLD turns that probability into a decision.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model.predict_proba(X)[:, 1] gives the probability of fails. Comparing it with 0.5 gives the same answer as model.predict(X). Comparing it with 0.2 gives a more cautious model that raises more alarms.</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probability being a statement of confidence. It is the model's estimate of how often cases like this one turn out positive, calibrated on the data it saw.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Trees and forests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you can read as an engineering rule, and what you give up by averaging many of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DECISION TREES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decision tree you can read</a:t>
            </a:r>
          </a:p>
        </p:txBody>
      </p:sp>
      <p:pic>
        <p:nvPicPr>
          <p:cNvPr id="4" name="Picture 3" descr="decision_tree.png"/>
          <p:cNvPicPr>
            <a:picLocks noChangeAspect="1"/>
          </p:cNvPicPr>
          <p:nvPr/>
        </p:nvPicPr>
        <p:blipFill>
          <a:blip r:embed="rId2"/>
          <a:stretch>
            <a:fillRect/>
          </a:stretch>
        </p:blipFill>
        <p:spPr>
          <a:xfrm>
            <a:off x="2084721" y="1911095"/>
            <a:ext cx="802225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Each split is a condition on one feature. Follow the branches and you arrive at a leaf with a class and a count. A tree this shallow is a rule a person could apply by hand.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RANDOM FORESTS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Many trees, voting</a:t>
            </a:r>
          </a:p>
        </p:txBody>
      </p:sp>
      <p:pic>
        <p:nvPicPr>
          <p:cNvPr id="4" name="Picture 3" descr="forest_vote.png"/>
          <p:cNvPicPr>
            <a:picLocks noChangeAspect="1"/>
          </p:cNvPicPr>
          <p:nvPr/>
        </p:nvPicPr>
        <p:blipFill>
          <a:blip r:embed="rId2"/>
          <a:stretch>
            <a:fillRect/>
          </a:stretch>
        </p:blipFill>
        <p:spPr>
          <a:xfrm>
            <a:off x="1680210" y="1911095"/>
            <a:ext cx="8831275"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random forest fits many trees on different samples of the data and lets them vote. The individual trees vary; the vote is steadier than any single one of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Three classifiers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same fit / predict / score pattern, three times, with one line changed.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models, one pattern</a:t>
            </a:r>
          </a:p>
        </p:txBody>
      </p:sp>
      <p:sp>
        <p:nvSpPr>
          <p:cNvPr id="4" name="Rounded Rectangle 3"/>
          <p:cNvSpPr/>
          <p:nvPr/>
        </p:nvSpPr>
        <p:spPr>
          <a:xfrm>
            <a:off x="7663952" y="512064"/>
            <a:ext cx="3841943"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TYPE THIS WITH ME</a:t>
            </a:r>
          </a:p>
        </p:txBody>
      </p:sp>
      <p:sp>
        <p:nvSpPr>
          <p:cNvPr id="5" name="Rectangle 4"/>
          <p:cNvSpPr/>
          <p:nvPr/>
        </p:nvSpPr>
        <p:spPr>
          <a:xfrm>
            <a:off x="685800" y="1911095"/>
            <a:ext cx="10820095" cy="3564785"/>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272177"/>
          </a:xfrm>
          <a:prstGeom prst="rect">
            <a:avLst/>
          </a:prstGeom>
          <a:noFill/>
        </p:spPr>
        <p:txBody>
          <a:bodyPr wrap="square" lIns="0" rIns="0" tIns="0" bIns="0" anchor="t">
            <a:spAutoFit/>
          </a:bodyPr>
          <a:lstStyle/>
          <a:p>
            <a:pPr algn="l">
              <a:lnSpc>
                <a:spcPts val="1795"/>
              </a:lnSpc>
              <a:spcAft>
                <a:spcPts val="0"/>
              </a:spcAft>
            </a:pPr>
            <a:r>
              <a:rPr sz="1320" b="0" i="0">
                <a:solidFill>
                  <a:srgbClr val="D8E3EC"/>
                </a:solidFill>
                <a:latin typeface="Courier New"/>
              </a:rPr>
              <a:t>from sklearn.linear_model import LogisticRegression</a:t>
            </a:r>
          </a:p>
          <a:p>
            <a:pPr algn="l">
              <a:lnSpc>
                <a:spcPts val="1795"/>
              </a:lnSpc>
              <a:spcAft>
                <a:spcPts val="0"/>
              </a:spcAft>
            </a:pPr>
            <a:r>
              <a:rPr sz="1320" b="0" i="0">
                <a:solidFill>
                  <a:srgbClr val="D8E3EC"/>
                </a:solidFill>
                <a:latin typeface="Courier New"/>
              </a:rPr>
              <a:t>from sklearn.tree import DecisionTreeClassifier</a:t>
            </a:r>
          </a:p>
          <a:p>
            <a:pPr algn="l">
              <a:lnSpc>
                <a:spcPts val="1795"/>
              </a:lnSpc>
              <a:spcAft>
                <a:spcPts val="0"/>
              </a:spcAft>
            </a:pPr>
            <a:r>
              <a:rPr sz="1320" b="0" i="0">
                <a:solidFill>
                  <a:srgbClr val="D8E3EC"/>
                </a:solidFill>
                <a:latin typeface="Courier New"/>
              </a:rPr>
              <a:t>from sklearn.ensemble import RandomForestClassifier</a:t>
            </a:r>
          </a:p>
          <a:p>
            <a:pPr algn="l">
              <a:lnSpc>
                <a:spcPts val="1795"/>
              </a:lnSpc>
              <a:spcAft>
                <a:spcPts val="0"/>
              </a:spcAft>
            </a:pPr>
            <a:r>
              <a:rPr sz="1320" b="0" i="0">
                <a:solidFill>
                  <a:srgbClr val="D8E3EC"/>
                </a:solidFill>
                <a:latin typeface="Courier New"/>
              </a:rPr>
              <a:t>from sklearn.metrics import confusion_matrix, classification_report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models = {</a:t>
            </a:r>
          </a:p>
          <a:p>
            <a:pPr algn="l">
              <a:lnSpc>
                <a:spcPts val="1795"/>
              </a:lnSpc>
              <a:spcAft>
                <a:spcPts val="0"/>
              </a:spcAft>
            </a:pPr>
            <a:r>
              <a:rPr sz="1320" b="0" i="0">
                <a:solidFill>
                  <a:srgbClr val="D8E3EC"/>
                </a:solidFill>
                <a:latin typeface="Courier New"/>
              </a:rPr>
              <a:t>    "logistic": LogisticRegression(max_iter=1000),</a:t>
            </a:r>
          </a:p>
          <a:p>
            <a:pPr algn="l">
              <a:lnSpc>
                <a:spcPts val="1795"/>
              </a:lnSpc>
              <a:spcAft>
                <a:spcPts val="0"/>
              </a:spcAft>
            </a:pPr>
            <a:r>
              <a:rPr sz="1320" b="0" i="0">
                <a:solidFill>
                  <a:srgbClr val="D8E3EC"/>
                </a:solidFill>
                <a:latin typeface="Courier New"/>
              </a:rPr>
              <a:t>    "tree":     DecisionTreeClassifier(max_depth=3, random_state=42),</a:t>
            </a:r>
          </a:p>
          <a:p>
            <a:pPr algn="l">
              <a:lnSpc>
                <a:spcPts val="1795"/>
              </a:lnSpc>
              <a:spcAft>
                <a:spcPts val="0"/>
              </a:spcAft>
            </a:pPr>
            <a:r>
              <a:rPr sz="1320" b="0" i="0">
                <a:solidFill>
                  <a:srgbClr val="D8E3EC"/>
                </a:solidFill>
                <a:latin typeface="Courier New"/>
              </a:rPr>
              <a:t>    "forest":   RandomForestClassifier(n_estimators=100, random_state=42),</a:t>
            </a:r>
          </a:p>
          <a:p>
            <a:pPr algn="l">
              <a:lnSpc>
                <a:spcPts val="1795"/>
              </a:lnSpc>
              <a:spcAft>
                <a:spcPts val="0"/>
              </a:spcAft>
            </a:pPr>
            <a:r>
              <a:rPr sz="1320" b="0" i="0">
                <a:solidFill>
                  <a:srgbClr val="D8E3EC"/>
                </a:solidFill>
                <a:latin typeface="Courier New"/>
              </a:rPr>
              <a:t>}</a:t>
            </a:r>
          </a:p>
          <a:p>
            <a:pPr algn="l">
              <a:lnSpc>
                <a:spcPts val="1795"/>
              </a:lnSpc>
              <a:spcAft>
                <a:spcPts val="0"/>
              </a:spcAft>
            </a:pPr>
            <a:r>
              <a:rPr sz="1320" b="0" i="0">
                <a:solidFill>
                  <a:srgbClr val="D8E3EC"/>
                </a:solidFill>
                <a:latin typeface="Courier New"/>
              </a:rPr>
              <a:t/>
            </a:r>
          </a:p>
          <a:p>
            <a:pPr algn="l">
              <a:lnSpc>
                <a:spcPts val="1795"/>
              </a:lnSpc>
              <a:spcAft>
                <a:spcPts val="0"/>
              </a:spcAft>
            </a:pPr>
            <a:r>
              <a:rPr sz="1320" b="0" i="0">
                <a:solidFill>
                  <a:srgbClr val="D8E3EC"/>
                </a:solidFill>
                <a:latin typeface="Courier New"/>
              </a:rPr>
              <a:t>for name, m in models.items():</a:t>
            </a:r>
          </a:p>
          <a:p>
            <a:pPr algn="l">
              <a:lnSpc>
                <a:spcPts val="1795"/>
              </a:lnSpc>
              <a:spcAft>
                <a:spcPts val="0"/>
              </a:spcAft>
            </a:pPr>
            <a:r>
              <a:rPr sz="1320" b="0" i="0">
                <a:solidFill>
                  <a:srgbClr val="D8E3EC"/>
                </a:solidFill>
                <a:latin typeface="Courier New"/>
              </a:rPr>
              <a:t>    m.fit(X_tr, y_tr)</a:t>
            </a:r>
          </a:p>
          <a:p>
            <a:pPr algn="l">
              <a:lnSpc>
                <a:spcPts val="1795"/>
              </a:lnSpc>
              <a:spcAft>
                <a:spcPts val="0"/>
              </a:spcAft>
            </a:pPr>
            <a:r>
              <a:rPr sz="1320" b="0" i="0">
                <a:solidFill>
                  <a:srgbClr val="D8E3EC"/>
                </a:solidFill>
                <a:latin typeface="Courier New"/>
              </a:rPr>
              <a:t>    pred = m.predict(X_te)</a:t>
            </a:r>
          </a:p>
          <a:p>
            <a:pPr algn="l">
              <a:lnSpc>
                <a:spcPts val="1795"/>
              </a:lnSpc>
              <a:spcAft>
                <a:spcPts val="0"/>
              </a:spcAft>
            </a:pPr>
            <a:r>
              <a:rPr sz="1320" b="0" i="0">
                <a:solidFill>
                  <a:srgbClr val="D8E3EC"/>
                </a:solidFill>
                <a:latin typeface="Courier New"/>
              </a:rPr>
              <a:t>    print(name)</a:t>
            </a:r>
          </a:p>
          <a:p>
            <a:pPr algn="l">
              <a:lnSpc>
                <a:spcPts val="1795"/>
              </a:lnSpc>
              <a:spcAft>
                <a:spcPts val="0"/>
              </a:spcAft>
            </a:pPr>
            <a:r>
              <a:rPr sz="1320" b="0" i="0">
                <a:solidFill>
                  <a:srgbClr val="D8E3EC"/>
                </a:solidFill>
                <a:latin typeface="Courier New"/>
              </a:rPr>
              <a:t>    print(confusion_matrix(y_te, pred))</a:t>
            </a:r>
          </a:p>
          <a:p>
            <a:pPr algn="l">
              <a:lnSpc>
                <a:spcPts val="1795"/>
              </a:lnSpc>
              <a:spcAft>
                <a:spcPts val="0"/>
              </a:spcAft>
            </a:pPr>
            <a:r>
              <a:rPr sz="1320" b="0" i="0">
                <a:solidFill>
                  <a:srgbClr val="D8E3EC"/>
                </a:solidFill>
                <a:latin typeface="Courier New"/>
              </a:rPr>
              <a:t>    print(classification_report(y_te, pred, digits=3))</a:t>
            </a:r>
          </a:p>
        </p:txBody>
      </p:sp>
      <p:sp>
        <p:nvSpPr>
          <p:cNvPr id="7" name="Rounded Rectangle 6"/>
          <p:cNvSpPr/>
          <p:nvPr/>
        </p:nvSpPr>
        <p:spPr>
          <a:xfrm>
            <a:off x="685800" y="5695337"/>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704481"/>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Drop max_depth from the tree and run it again. Its training score goes up and its test score goes down, because an unlimited tree can memorise every training row. That gap is the subject of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confusion matrix</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that say everything a single score hides.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CONFUSION MATRIX</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cells, in your own language</a:t>
            </a:r>
          </a:p>
        </p:txBody>
      </p:sp>
      <p:pic>
        <p:nvPicPr>
          <p:cNvPr id="4" name="Picture 3" descr="confusion_matrix_CML3111.png"/>
          <p:cNvPicPr>
            <a:picLocks noChangeAspect="1"/>
          </p:cNvPicPr>
          <p:nvPr/>
        </p:nvPicPr>
        <p:blipFill>
          <a:blip r:embed="rId2"/>
          <a:stretch>
            <a:fillRect/>
          </a:stretch>
        </p:blipFill>
        <p:spPr>
          <a:xfrm>
            <a:off x="685800" y="2203634"/>
            <a:ext cx="10820095" cy="3429138"/>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Every prediction lands in one of four cells. Two are correct and two are the mistakes you costed at the start of the session. Every metric in this course is arithmetic on these four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ROUTINE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Reading a confusion matrix in four steps</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routine to use every time, before you look at a single metric.</a:t>
            </a:r>
          </a:p>
        </p:txBody>
      </p:sp>
      <p:sp>
        <p:nvSpPr>
          <p:cNvPr id="5" name="Rounded Rectangle 4"/>
          <p:cNvSpPr/>
          <p:nvPr/>
        </p:nvSpPr>
        <p:spPr>
          <a:xfrm>
            <a:off x="685800" y="2376585"/>
            <a:ext cx="10820095" cy="65525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56381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Find the rare class and check it is not empty. A column of zeros means the model never predicts it, and no metric will tell you that as plainly as the table does.</a:t>
            </a:r>
          </a:p>
        </p:txBody>
      </p:sp>
      <p:sp>
        <p:nvSpPr>
          <p:cNvPr id="8" name="Rounded Rectangle 7"/>
          <p:cNvSpPr/>
          <p:nvPr/>
        </p:nvSpPr>
        <p:spPr>
          <a:xfrm>
            <a:off x="685800" y="30867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1415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1324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Name each of the four cells out loud in your own domain's language. If you cannot, you do not yet know what the model is doing.</a:t>
            </a:r>
          </a:p>
        </p:txBody>
      </p:sp>
      <p:sp>
        <p:nvSpPr>
          <p:cNvPr id="11" name="Rounded Rectangle 10"/>
          <p:cNvSpPr/>
          <p:nvPr/>
        </p:nvSpPr>
        <p:spPr>
          <a:xfrm>
            <a:off x="685800" y="35439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5987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5896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misses — the cases that were fails and were not caught. Multiply by what one costs.</a:t>
            </a:r>
          </a:p>
        </p:txBody>
      </p:sp>
      <p:sp>
        <p:nvSpPr>
          <p:cNvPr id="14" name="Rounded Rectangle 13"/>
          <p:cNvSpPr/>
          <p:nvPr/>
        </p:nvSpPr>
        <p:spPr>
          <a:xfrm>
            <a:off x="685800" y="40011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559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0468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Count the false alarms and multiply by what one of those costs.</a:t>
            </a:r>
          </a:p>
        </p:txBody>
      </p:sp>
      <p:sp>
        <p:nvSpPr>
          <p:cNvPr id="17" name="Rounded Rectangle 16"/>
          <p:cNvSpPr/>
          <p:nvPr/>
        </p:nvSpPr>
        <p:spPr>
          <a:xfrm>
            <a:off x="685800" y="44583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5131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5040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Compare the two totals. The larger one tells you which metric to optimise, and therefore which model to prefer.</a:t>
            </a:r>
          </a:p>
        </p:txBody>
      </p:sp>
      <p:sp>
        <p:nvSpPr>
          <p:cNvPr id="20" name="Rounded Rectangle 19"/>
          <p:cNvSpPr/>
          <p:nvPr/>
        </p:nvSpPr>
        <p:spPr>
          <a:xfrm>
            <a:off x="685800" y="4915506"/>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97037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4961226"/>
            <a:ext cx="9814255" cy="310896"/>
          </a:xfrm>
          <a:prstGeom prst="rect">
            <a:avLst/>
          </a:prstGeom>
          <a:noFill/>
        </p:spPr>
        <p:txBody>
          <a:bodyPr wrap="square" lIns="0" rIns="0" tIns="0" bIns="0" anchor="t">
            <a:spAutoFit/>
          </a:bodyPr>
          <a:lstStyle/>
          <a:p>
            <a:pPr algn="l">
              <a:lnSpc>
                <a:spcPct val="116000"/>
              </a:lnSpc>
              <a:spcAft>
                <a:spcPts val="600"/>
              </a:spcAft>
            </a:pPr>
            <a:r>
              <a:rPr sz="1386" b="0" i="0">
                <a:solidFill>
                  <a:srgbClr val="1C3144"/>
                </a:solidFill>
                <a:latin typeface="Calibri"/>
              </a:rPr>
              <a:t>Only now quote a number, and quote the one that matches the cost you just computed.</a:t>
            </a:r>
          </a:p>
        </p:txBody>
      </p:sp>
      <p:sp>
        <p:nvSpPr>
          <p:cNvPr id="23" name="Rounded Rectangle 22"/>
          <p:cNvSpPr/>
          <p:nvPr/>
        </p:nvSpPr>
        <p:spPr>
          <a:xfrm>
            <a:off x="685800" y="542757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56473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Steps 3 to 5 are arithmetic an engineer can do and an algorithm cannot, because the costs are not in the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Precision, recall and the threshold</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One dial, and what turning it does to each kind of mistake.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TRADE-OFF</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the dial</a:t>
            </a:r>
          </a:p>
        </p:txBody>
      </p:sp>
      <p:pic>
        <p:nvPicPr>
          <p:cNvPr id="4" name="Picture 3" descr="threshold_tradeoff.png"/>
          <p:cNvPicPr>
            <a:picLocks noChangeAspect="1"/>
          </p:cNvPicPr>
          <p:nvPr/>
        </p:nvPicPr>
        <p:blipFill>
          <a:blip r:embed="rId2"/>
          <a:stretch>
            <a:fillRect/>
          </a:stretch>
        </p:blipFill>
        <p:spPr>
          <a:xfrm>
            <a:off x="1320183" y="1911095"/>
            <a:ext cx="9551328"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As the threshold falls, the model flags more cases: recall rises and precision falls. As it rises, the model becomes more selective: precision rises and recall falls. There is no setting that improves both.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Challenge: the 97 per cent trap</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model with an excellent score and no value whatsoever.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CLASS IMBALANCE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most dangerous score in machine learning</a:t>
            </a:r>
          </a:p>
        </p:txBody>
      </p:sp>
      <p:pic>
        <p:nvPicPr>
          <p:cNvPr id="4" name="Picture 3" descr="imbalance_trap.png"/>
          <p:cNvPicPr>
            <a:picLocks noChangeAspect="1"/>
          </p:cNvPicPr>
          <p:nvPr/>
        </p:nvPicPr>
        <p:blipFill>
          <a:blip r:embed="rId2"/>
          <a:stretch>
            <a:fillRect/>
          </a:stretch>
        </p:blipFill>
        <p:spPr>
          <a:xfrm>
            <a:off x="1828482" y="1911095"/>
            <a:ext cx="853473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A model that predicts runs normally for every single case, on data where the positive class is about three in a hundred. It has no features and no parameters. It scores about 97 per cent accurate and it has never once predicted fails.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97 per cent trap</a:t>
            </a:r>
          </a:p>
        </p:txBody>
      </p:sp>
      <p:sp>
        <p:nvSpPr>
          <p:cNvPr id="4" name="Rounded Rectangle 3"/>
          <p:cNvSpPr/>
          <p:nvPr/>
        </p:nvSpPr>
        <p:spPr>
          <a:xfrm>
            <a:off x="685800" y="1911095"/>
            <a:ext cx="10820095" cy="179222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42646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You are given a notebook and a dataset from the AI4I 2020 set, where 3.4 in 100 machine-hours end in a failure. The notebook reports 97 per cent accuracy. The plant manager is unhappy with the system and cannot say why.</a:t>
            </a:r>
          </a:p>
          <a:p>
            <a:pPr algn="l">
              <a:lnSpc>
                <a:spcPct val="125000"/>
              </a:lnSpc>
              <a:spcAft>
                <a:spcPts val="600"/>
              </a:spcAft>
            </a:pPr>
            <a:r>
              <a:rPr sz="1923" b="0" i="0">
                <a:solidFill>
                  <a:srgbClr val="1C3144"/>
                </a:solidFill>
                <a:latin typeface="Calibri"/>
              </a:rPr>
              <a:t>In your team: work out what is wrong, prove it with evidence from the data, and propose what should be reported instead. Twenty minutes, no hints.</a:t>
            </a:r>
          </a:p>
        </p:txBody>
      </p:sp>
      <p:sp>
        <p:nvSpPr>
          <p:cNvPr id="6" name="TextBox 5"/>
          <p:cNvSpPr txBox="1"/>
          <p:nvPr/>
        </p:nvSpPr>
        <p:spPr>
          <a:xfrm>
            <a:off x="685800" y="401421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is the class balance in this file?</a:t>
            </a:r>
          </a:p>
        </p:txBody>
      </p:sp>
      <p:sp>
        <p:nvSpPr>
          <p:cNvPr id="8" name="TextBox 7"/>
          <p:cNvSpPr txBox="1"/>
          <p:nvPr/>
        </p:nvSpPr>
        <p:spPr>
          <a:xfrm>
            <a:off x="685800"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does the confusion matrix look like?</a:t>
            </a:r>
          </a:p>
        </p:txBody>
      </p:sp>
      <p:sp>
        <p:nvSpPr>
          <p:cNvPr id="9" name="TextBox 8"/>
          <p:cNvSpPr txBox="1"/>
          <p:nvPr/>
        </p:nvSpPr>
        <p:spPr>
          <a:xfrm>
            <a:off x="685800"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How many of the fails cases did it catch?</a:t>
            </a:r>
          </a:p>
        </p:txBody>
      </p:sp>
      <p:sp>
        <p:nvSpPr>
          <p:cNvPr id="10" name="TextBox 9"/>
          <p:cNvSpPr txBox="1"/>
          <p:nvPr/>
        </p:nvSpPr>
        <p:spPr>
          <a:xfrm>
            <a:off x="6278727" y="443484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would a model that always says runs normally score?</a:t>
            </a:r>
          </a:p>
        </p:txBody>
      </p:sp>
      <p:sp>
        <p:nvSpPr>
          <p:cNvPr id="11" name="TextBox 10"/>
          <p:cNvSpPr txBox="1"/>
          <p:nvPr/>
        </p:nvSpPr>
        <p:spPr>
          <a:xfrm>
            <a:off x="6278727" y="485546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Which metric would have exposed this immediately?</a:t>
            </a:r>
          </a:p>
        </p:txBody>
      </p:sp>
      <p:sp>
        <p:nvSpPr>
          <p:cNvPr id="12" name="TextBox 11"/>
          <p:cNvSpPr txBox="1"/>
          <p:nvPr/>
        </p:nvSpPr>
        <p:spPr>
          <a:xfrm>
            <a:off x="6278727" y="527608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should the report have said?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PROJECT LAUNCH</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Engineering ML Project — set today</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25 per cent, from now to Week 15</a:t>
            </a:r>
          </a:p>
        </p:txBody>
      </p:sp>
      <p:sp>
        <p:nvSpPr>
          <p:cNvPr id="5" name="TextBox 4"/>
          <p:cNvSpPr txBox="1"/>
          <p:nvPr/>
        </p:nvSpPr>
        <p:spPr>
          <a:xfrm>
            <a:off x="685800" y="2409332"/>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Your team chooses an engineering problem from your own discipline, finds or is given data, and builds something you can defend.</a:t>
            </a:r>
          </a:p>
        </p:txBody>
      </p:sp>
      <p:sp>
        <p:nvSpPr>
          <p:cNvPr id="6" name="TextBox 5"/>
          <p:cNvSpPr txBox="1"/>
          <p:nvPr/>
        </p:nvSpPr>
        <p:spPr>
          <a:xfrm>
            <a:off x="685800" y="3038752"/>
            <a:ext cx="5204307" cy="1482111"/>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Four graded milestones, each briefed in one session and due at the start of the next: PM1 in Week 10 (problem, data, baseline), PM2 at the start of Week 12 (cleaned data, feature dictionary, first evaluated model), PM3 at the start of Week 13 (model comparison table), PM4 in Week 13 (repository freeze and peer review).</a:t>
            </a:r>
          </a:p>
        </p:txBody>
      </p:sp>
      <p:sp>
        <p:nvSpPr>
          <p:cNvPr id="7" name="TextBox 6"/>
          <p:cNvSpPr txBox="1"/>
          <p:nvPr/>
        </p:nvSpPr>
        <p:spPr>
          <a:xfrm>
            <a:off x="685800" y="4530008"/>
            <a:ext cx="5204307" cy="907555"/>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Final submission in Week 15: repository, two-page engineering brief, poster, AI-use declaration and an individual contribution log.</a:t>
            </a:r>
          </a:p>
        </p:txBody>
      </p:sp>
      <p:sp>
        <p:nvSpPr>
          <p:cNvPr id="8" name="TextBox 7"/>
          <p:cNvSpPr txBox="1"/>
          <p:nvPr/>
        </p:nvSpPr>
        <p:spPr>
          <a:xfrm>
            <a:off x="685800" y="5446707"/>
            <a:ext cx="5204307" cy="620276"/>
          </a:xfrm>
          <a:prstGeom prst="rect">
            <a:avLst/>
          </a:prstGeom>
          <a:noFill/>
        </p:spPr>
        <p:txBody>
          <a:bodyPr wrap="square" lIns="0" rIns="0" tIns="0" bIns="0" anchor="t">
            <a:spAutoFit/>
          </a:bodyPr>
          <a:lstStyle/>
          <a:p>
            <a:pPr algn="l">
              <a:lnSpc>
                <a:spcPct val="125000"/>
              </a:lnSpc>
              <a:spcAft>
                <a:spcPts val="600"/>
              </a:spcAft>
            </a:pPr>
            <a:r>
              <a:rPr sz="1452" b="0" i="0">
                <a:solidFill>
                  <a:srgbClr val="3C4E5E"/>
                </a:solidFill>
                <a:latin typeface="Calibri"/>
              </a:rPr>
              <a:t>Example titles for this cohort: Motor Anomaly Detector · Machine Failure Risk Model · Power Output Forecaster.</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How it is marked</a:t>
            </a:r>
          </a:p>
        </p:txBody>
      </p:sp>
      <p:sp>
        <p:nvSpPr>
          <p:cNvPr id="11" name="TextBox 10"/>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Problem definition 15 Data understanding 15 Methodology 20 Engineering reasoning 20 Validation 15 Communication 10 Reproducibility 5 Method, reasoning and validation are 55 of the</a:t>
            </a:r>
          </a:p>
        </p:txBody>
      </p:sp>
      <p:sp>
        <p:nvSpPr>
          <p:cNvPr id="12" name="TextBox 11"/>
          <p:cNvSpPr txBox="1"/>
          <p:nvPr/>
        </p:nvSpPr>
        <p:spPr>
          <a:xfrm>
            <a:off x="6575907" y="3954303"/>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100. A mediocre score you understand and report honestly beats a better one you cannot account for.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Classification predicts a category. Most classifiers produce a probability first, and a threshold turns it into a decision.</a:t>
            </a:r>
          </a:p>
        </p:txBody>
      </p:sp>
      <p:sp>
        <p:nvSpPr>
          <p:cNvPr id="6" name="Oval 5"/>
          <p:cNvSpPr/>
          <p:nvPr/>
        </p:nvSpPr>
        <p:spPr>
          <a:xfrm>
            <a:off x="685800" y="23880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33187"/>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is nothing special about a threshold of 0.5. Choosing it is an engineering decision.</a:t>
            </a:r>
          </a:p>
        </p:txBody>
      </p:sp>
      <p:sp>
        <p:nvSpPr>
          <p:cNvPr id="8" name="Oval 7"/>
          <p:cNvSpPr/>
          <p:nvPr/>
        </p:nvSpPr>
        <p:spPr>
          <a:xfrm>
            <a:off x="685800" y="28101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755278"/>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There are two ways to be wrong and they almost never cost the same. Write both costs down before you build anything.</a:t>
            </a:r>
          </a:p>
        </p:txBody>
      </p:sp>
      <p:sp>
        <p:nvSpPr>
          <p:cNvPr id="10" name="Oval 9"/>
          <p:cNvSpPr/>
          <p:nvPr/>
        </p:nvSpPr>
        <p:spPr>
          <a:xfrm>
            <a:off x="685800" y="323223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17736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shallow decision tree is a rule a person can read and apply, which is a real advantage wherever a decision must be explained.</a:t>
            </a:r>
          </a:p>
        </p:txBody>
      </p:sp>
      <p:sp>
        <p:nvSpPr>
          <p:cNvPr id="12" name="Oval 11"/>
          <p:cNvSpPr/>
          <p:nvPr/>
        </p:nvSpPr>
        <p:spPr>
          <a:xfrm>
            <a:off x="685800" y="365432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3599460"/>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random forest averages many trees and is steadier than any one of them. You give up readability to get that.</a:t>
            </a:r>
          </a:p>
        </p:txBody>
      </p:sp>
      <p:sp>
        <p:nvSpPr>
          <p:cNvPr id="14" name="Oval 13"/>
          <p:cNvSpPr/>
          <p:nvPr/>
        </p:nvSpPr>
        <p:spPr>
          <a:xfrm>
            <a:off x="685800" y="40764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0215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Read the confusion matrix before any metric. Precision asks how many of your flags were right; recall asks how many of the real cases you caught.</a:t>
            </a:r>
          </a:p>
        </p:txBody>
      </p:sp>
      <p:sp>
        <p:nvSpPr>
          <p:cNvPr id="16" name="Oval 15"/>
          <p:cNvSpPr/>
          <p:nvPr/>
        </p:nvSpPr>
        <p:spPr>
          <a:xfrm>
            <a:off x="685800" y="4774294"/>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4719430"/>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Accuracy is the wrong instrument whenever one class is rare, and in engineering the rare class is usually the one you care about.</a:t>
            </a:r>
          </a:p>
        </p:txBody>
      </p:sp>
      <p:sp>
        <p:nvSpPr>
          <p:cNvPr id="18" name="Oval 17"/>
          <p:cNvSpPr/>
          <p:nvPr/>
        </p:nvSpPr>
        <p:spPr>
          <a:xfrm>
            <a:off x="685800" y="547217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5417309"/>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When somebody quotes a high accuracy, ask what the class balance was. If they do not know, the number means nothing.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model reports 97 per cent accuracy on the AI4I 2020 set, where 3.4 in 100 machine-hours end in a failure. What is the first thing you ask?</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model has precision 0.9 and recall 0.3. Describe in plain words what it is doing.</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lower the threshold from 0.5 to 0.25. What happens to each of the four confusion matrix cells?</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might you prefer a decision tree over a random forest that scores two points higher?</a:t>
            </a:r>
          </a:p>
        </p:txBody>
      </p:sp>
      <p:sp>
        <p:nvSpPr>
          <p:cNvPr id="12" name="Oval 11"/>
          <p:cNvSpPr/>
          <p:nvPr/>
        </p:nvSpPr>
        <p:spPr>
          <a:xfrm>
            <a:off x="685800" y="4457999"/>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421423"/>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Feature importance says rotational speed is the most important feature. What can you and can you not conclude?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97 per cent accuracy?</a:t>
            </a:r>
          </a:p>
        </p:txBody>
      </p:sp>
      <p:sp>
        <p:nvSpPr>
          <p:cNvPr id="6" name="TextBox 5"/>
          <p:cNvSpPr txBox="1"/>
          <p:nvPr/>
        </p:nvSpPr>
        <p:spPr>
          <a:xfrm>
            <a:off x="1216152" y="2203703"/>
            <a:ext cx="4614519" cy="131891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What is the class balance? On these records the rare class is roughly three in a hundred, so a model that never predicts it at all scores about 97 per cent while detecting nothing. Ask for the confusion matrix and the recall on the rare class before believing any accuracy figure.</a:t>
            </a:r>
          </a:p>
        </p:txBody>
      </p:sp>
      <p:sp>
        <p:nvSpPr>
          <p:cNvPr id="7" name="Oval 6"/>
          <p:cNvSpPr/>
          <p:nvPr/>
        </p:nvSpPr>
        <p:spPr>
          <a:xfrm>
            <a:off x="685800" y="359577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5591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Precision 0.9, recall 0.3?</a:t>
            </a:r>
          </a:p>
        </p:txBody>
      </p:sp>
      <p:sp>
        <p:nvSpPr>
          <p:cNvPr id="9" name="TextBox 8"/>
          <p:cNvSpPr txBox="1"/>
          <p:nvPr/>
        </p:nvSpPr>
        <p:spPr>
          <a:xfrm>
            <a:off x="1216152" y="38518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When it raises an alarm it is almost always right, and it misses about seven in ten of the real cases. A cautious model. Whether that is acceptable depends on whether a miss costs more than a false alarm.</a:t>
            </a:r>
          </a:p>
        </p:txBody>
      </p:sp>
      <p:sp>
        <p:nvSpPr>
          <p:cNvPr id="10" name="Oval 9"/>
          <p:cNvSpPr/>
          <p:nvPr/>
        </p:nvSpPr>
        <p:spPr>
          <a:xfrm>
            <a:off x="685800" y="50056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9691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Lowering the threshold to 0.25?</a:t>
            </a:r>
          </a:p>
        </p:txBody>
      </p:sp>
      <p:sp>
        <p:nvSpPr>
          <p:cNvPr id="12" name="TextBox 11"/>
          <p:cNvSpPr txBox="1"/>
          <p:nvPr/>
        </p:nvSpPr>
        <p:spPr>
          <a:xfrm>
            <a:off x="1216152" y="526172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The model flags more cases, so true positives rise and false negatives fall — recall improves. At the same time false positives rise and true negatives fall — precision worsens. You have traded misses for false alarms.</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A tree over a better forest?</a:t>
            </a:r>
          </a:p>
        </p:txBody>
      </p:sp>
      <p:sp>
        <p:nvSpPr>
          <p:cNvPr id="15" name="TextBox 14"/>
          <p:cNvSpPr txBox="1"/>
          <p:nvPr/>
        </p:nvSpPr>
        <p:spPr>
          <a:xfrm>
            <a:off x="6854799" y="2203703"/>
            <a:ext cx="4614519" cy="108073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Because you can write the tree down and hand it to somebody. Where a decision has to be explained to a client, a regulator or an operator, two points of accuracy is often a poor trade for losing the explanation. Week 12 treats this properly.</a:t>
            </a:r>
          </a:p>
        </p:txBody>
      </p:sp>
      <p:sp>
        <p:nvSpPr>
          <p:cNvPr id="16" name="Oval 15"/>
          <p:cNvSpPr/>
          <p:nvPr/>
        </p:nvSpPr>
        <p:spPr>
          <a:xfrm>
            <a:off x="6324447" y="335759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321015"/>
            <a:ext cx="4614519" cy="274320"/>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Feature importance?</a:t>
            </a:r>
          </a:p>
        </p:txBody>
      </p:sp>
      <p:sp>
        <p:nvSpPr>
          <p:cNvPr id="18" name="TextBox 17"/>
          <p:cNvSpPr txBox="1"/>
          <p:nvPr/>
        </p:nvSpPr>
        <p:spPr>
          <a:xfrm>
            <a:off x="6854799" y="3613623"/>
            <a:ext cx="4614519" cy="1557095"/>
          </a:xfrm>
          <a:prstGeom prst="rect">
            <a:avLst/>
          </a:prstGeom>
          <a:noFill/>
        </p:spPr>
        <p:txBody>
          <a:bodyPr wrap="square" lIns="0" rIns="0" tIns="0" bIns="0" anchor="t">
            <a:spAutoFit/>
          </a:bodyPr>
          <a:lstStyle/>
          <a:p>
            <a:pPr algn="l">
              <a:lnSpc>
                <a:spcPct val="120000"/>
              </a:lnSpc>
              <a:spcAft>
                <a:spcPts val="600"/>
              </a:spcAft>
            </a:pPr>
            <a:r>
              <a:rPr sz="1254" b="0" i="0">
                <a:solidFill>
                  <a:srgbClr val="2A3B4A"/>
                </a:solidFill>
                <a:latin typeface="Calibri"/>
              </a:rPr>
              <a:t>You can conclude that the model relied on it heavily for these data. You cannot conclude that it causes the outcome, nor that it would still rank first with a different set of features — importances shift when correlated features are added or removed. Treat the ranking as a hint about your fitted model, and look for physical evidence before you report it as a finding.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Classification</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Predicting which of a small set of categories a case belongs to.</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Binary classification</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Two categories, such as fails and runs normally.</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of the categories.</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Class imbalance</a:t>
            </a:r>
          </a:p>
        </p:txBody>
      </p:sp>
      <p:sp>
        <p:nvSpPr>
          <p:cNvPr id="11" name="TextBox 10"/>
          <p:cNvSpPr txBox="1"/>
          <p:nvPr/>
        </p:nvSpPr>
        <p:spPr>
          <a:xfrm>
            <a:off x="685800"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class much rarer than the other. Makes accuracy misleading.</a:t>
            </a:r>
          </a:p>
        </p:txBody>
      </p:sp>
      <p:sp>
        <p:nvSpPr>
          <p:cNvPr id="12" name="TextBox 11"/>
          <p:cNvSpPr txBox="1"/>
          <p:nvPr/>
        </p:nvSpPr>
        <p:spPr>
          <a:xfrm>
            <a:off x="685800"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Probability output</a:t>
            </a:r>
          </a:p>
        </p:txBody>
      </p:sp>
      <p:sp>
        <p:nvSpPr>
          <p:cNvPr id="13" name="TextBox 12"/>
          <p:cNvSpPr txBox="1"/>
          <p:nvPr/>
        </p:nvSpPr>
        <p:spPr>
          <a:xfrm>
            <a:off x="685800"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model's estimated chance that a case is positive. predict_proba.</a:t>
            </a:r>
          </a:p>
        </p:txBody>
      </p:sp>
      <p:sp>
        <p:nvSpPr>
          <p:cNvPr id="14" name="TextBox 13"/>
          <p:cNvSpPr txBox="1"/>
          <p:nvPr/>
        </p:nvSpPr>
        <p:spPr>
          <a:xfrm>
            <a:off x="685800"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Threshold</a:t>
            </a:r>
          </a:p>
        </p:txBody>
      </p:sp>
      <p:sp>
        <p:nvSpPr>
          <p:cNvPr id="15" name="TextBox 14"/>
          <p:cNvSpPr txBox="1"/>
          <p:nvPr/>
        </p:nvSpPr>
        <p:spPr>
          <a:xfrm>
            <a:off x="685800"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cut-off that turns a probability into a decision. 0.5 by convention only.</a:t>
            </a:r>
          </a:p>
        </p:txBody>
      </p:sp>
      <p:sp>
        <p:nvSpPr>
          <p:cNvPr id="16" name="TextBox 15"/>
          <p:cNvSpPr txBox="1"/>
          <p:nvPr/>
        </p:nvSpPr>
        <p:spPr>
          <a:xfrm>
            <a:off x="685800"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boundary</a:t>
            </a:r>
          </a:p>
        </p:txBody>
      </p:sp>
      <p:sp>
        <p:nvSpPr>
          <p:cNvPr id="17" name="TextBox 16"/>
          <p:cNvSpPr txBox="1"/>
          <p:nvPr/>
        </p:nvSpPr>
        <p:spPr>
          <a:xfrm>
            <a:off x="685800"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surface separating the classes, at the chosen threshold.</a:t>
            </a:r>
          </a:p>
        </p:txBody>
      </p:sp>
      <p:sp>
        <p:nvSpPr>
          <p:cNvPr id="18" name="TextBox 17"/>
          <p:cNvSpPr txBox="1"/>
          <p:nvPr/>
        </p:nvSpPr>
        <p:spPr>
          <a:xfrm>
            <a:off x="685800"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Logistic regression</a:t>
            </a:r>
          </a:p>
        </p:txBody>
      </p:sp>
      <p:sp>
        <p:nvSpPr>
          <p:cNvPr id="19" name="TextBox 18"/>
          <p:cNvSpPr txBox="1"/>
          <p:nvPr/>
        </p:nvSpPr>
        <p:spPr>
          <a:xfrm>
            <a:off x="685800"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linear model producing a probability. Fast and interpretable.</a:t>
            </a:r>
          </a:p>
        </p:txBody>
      </p:sp>
      <p:sp>
        <p:nvSpPr>
          <p:cNvPr id="20" name="TextBox 19"/>
          <p:cNvSpPr txBox="1"/>
          <p:nvPr/>
        </p:nvSpPr>
        <p:spPr>
          <a:xfrm>
            <a:off x="685800"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Decision tree</a:t>
            </a:r>
          </a:p>
        </p:txBody>
      </p:sp>
      <p:sp>
        <p:nvSpPr>
          <p:cNvPr id="21" name="TextBox 20"/>
          <p:cNvSpPr txBox="1"/>
          <p:nvPr/>
        </p:nvSpPr>
        <p:spPr>
          <a:xfrm>
            <a:off x="685800"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Nested if-conditions on features. Readable at shallow depth.</a:t>
            </a:r>
          </a:p>
        </p:txBody>
      </p:sp>
      <p:sp>
        <p:nvSpPr>
          <p:cNvPr id="22" name="TextBox 21"/>
          <p:cNvSpPr txBox="1"/>
          <p:nvPr/>
        </p:nvSpPr>
        <p:spPr>
          <a:xfrm>
            <a:off x="685800"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max_depth</a:t>
            </a:r>
          </a:p>
        </p:txBody>
      </p:sp>
      <p:sp>
        <p:nvSpPr>
          <p:cNvPr id="23" name="TextBox 22"/>
          <p:cNvSpPr txBox="1"/>
          <p:nvPr/>
        </p:nvSpPr>
        <p:spPr>
          <a:xfrm>
            <a:off x="685800"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deep a tree may grow. Deeper fits training data better and generalises worse.</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Random forest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Many trees fitted on different samples, combined by voting.</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Ensemble</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Any model built by combining several models.</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Confusion matrix</a:t>
            </a:r>
          </a:p>
        </p:txBody>
      </p:sp>
      <p:sp>
        <p:nvSpPr>
          <p:cNvPr id="29" name="TextBox 28"/>
          <p:cNvSpPr txBox="1"/>
          <p:nvPr/>
        </p:nvSpPr>
        <p:spPr>
          <a:xfrm>
            <a:off x="6324447"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four counts: true and false positives, true and false negatives.</a:t>
            </a:r>
          </a:p>
        </p:txBody>
      </p:sp>
      <p:sp>
        <p:nvSpPr>
          <p:cNvPr id="30" name="TextBox 29"/>
          <p:cNvSpPr txBox="1"/>
          <p:nvPr/>
        </p:nvSpPr>
        <p:spPr>
          <a:xfrm>
            <a:off x="6324447"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positive</a:t>
            </a:r>
          </a:p>
        </p:txBody>
      </p:sp>
      <p:sp>
        <p:nvSpPr>
          <p:cNvPr id="31" name="TextBox 30"/>
          <p:cNvSpPr txBox="1"/>
          <p:nvPr/>
        </p:nvSpPr>
        <p:spPr>
          <a:xfrm>
            <a:off x="6324447" y="33984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false alarm. A false alarm.</a:t>
            </a:r>
          </a:p>
        </p:txBody>
      </p:sp>
      <p:sp>
        <p:nvSpPr>
          <p:cNvPr id="32" name="TextBox 31"/>
          <p:cNvSpPr txBox="1"/>
          <p:nvPr/>
        </p:nvSpPr>
        <p:spPr>
          <a:xfrm>
            <a:off x="6324447" y="364845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False negative</a:t>
            </a:r>
          </a:p>
        </p:txBody>
      </p:sp>
      <p:sp>
        <p:nvSpPr>
          <p:cNvPr id="33" name="TextBox 32"/>
          <p:cNvSpPr txBox="1"/>
          <p:nvPr/>
        </p:nvSpPr>
        <p:spPr>
          <a:xfrm>
            <a:off x="6324447" y="38327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miss. A missed failure.</a:t>
            </a:r>
          </a:p>
        </p:txBody>
      </p:sp>
      <p:sp>
        <p:nvSpPr>
          <p:cNvPr id="34" name="TextBox 33"/>
          <p:cNvSpPr txBox="1"/>
          <p:nvPr/>
        </p:nvSpPr>
        <p:spPr>
          <a:xfrm>
            <a:off x="6324447" y="408279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Accuracy</a:t>
            </a:r>
          </a:p>
        </p:txBody>
      </p:sp>
      <p:sp>
        <p:nvSpPr>
          <p:cNvPr id="35" name="TextBox 34"/>
          <p:cNvSpPr txBox="1"/>
          <p:nvPr/>
        </p:nvSpPr>
        <p:spPr>
          <a:xfrm>
            <a:off x="6324447" y="42671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Correct predictions over all predictions. Misleading under imbalance.</a:t>
            </a:r>
          </a:p>
        </p:txBody>
      </p:sp>
      <p:sp>
        <p:nvSpPr>
          <p:cNvPr id="36" name="TextBox 35"/>
          <p:cNvSpPr txBox="1"/>
          <p:nvPr/>
        </p:nvSpPr>
        <p:spPr>
          <a:xfrm>
            <a:off x="6324447" y="45171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Precision</a:t>
            </a:r>
          </a:p>
        </p:txBody>
      </p:sp>
      <p:sp>
        <p:nvSpPr>
          <p:cNvPr id="37" name="TextBox 36"/>
          <p:cNvSpPr txBox="1"/>
          <p:nvPr/>
        </p:nvSpPr>
        <p:spPr>
          <a:xfrm>
            <a:off x="6324447" y="47014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you flagged, the share that really were positive.</a:t>
            </a:r>
          </a:p>
        </p:txBody>
      </p:sp>
      <p:sp>
        <p:nvSpPr>
          <p:cNvPr id="38" name="TextBox 37"/>
          <p:cNvSpPr txBox="1"/>
          <p:nvPr/>
        </p:nvSpPr>
        <p:spPr>
          <a:xfrm>
            <a:off x="6324447" y="495147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Recall (sensitivity)</a:t>
            </a:r>
          </a:p>
        </p:txBody>
      </p:sp>
      <p:sp>
        <p:nvSpPr>
          <p:cNvPr id="39" name="TextBox 38"/>
          <p:cNvSpPr txBox="1"/>
          <p:nvPr/>
        </p:nvSpPr>
        <p:spPr>
          <a:xfrm>
            <a:off x="6324447" y="51358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Of the cases that really were positive, the share you caught.</a:t>
            </a:r>
          </a:p>
        </p:txBody>
      </p:sp>
      <p:sp>
        <p:nvSpPr>
          <p:cNvPr id="40" name="TextBox 39"/>
          <p:cNvSpPr txBox="1"/>
          <p:nvPr/>
        </p:nvSpPr>
        <p:spPr>
          <a:xfrm>
            <a:off x="6324447" y="538581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F1</a:t>
            </a:r>
          </a:p>
        </p:txBody>
      </p:sp>
      <p:sp>
        <p:nvSpPr>
          <p:cNvPr id="41" name="TextBox 40"/>
          <p:cNvSpPr txBox="1"/>
          <p:nvPr/>
        </p:nvSpPr>
        <p:spPr>
          <a:xfrm>
            <a:off x="6324447" y="557015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One number combining precision and recall. Convenient, and it hides the trade-off.</a:t>
            </a:r>
          </a:p>
        </p:txBody>
      </p:sp>
      <p:sp>
        <p:nvSpPr>
          <p:cNvPr id="42" name="TextBox 41"/>
          <p:cNvSpPr txBox="1"/>
          <p:nvPr/>
        </p:nvSpPr>
        <p:spPr>
          <a:xfrm>
            <a:off x="6324447" y="582015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Feature importance</a:t>
            </a:r>
          </a:p>
        </p:txBody>
      </p:sp>
      <p:sp>
        <p:nvSpPr>
          <p:cNvPr id="43" name="TextBox 42"/>
          <p:cNvSpPr txBox="1"/>
          <p:nvPr/>
        </p:nvSpPr>
        <p:spPr>
          <a:xfrm>
            <a:off x="6324447" y="600449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How much the fitted model relied on each feature. Not a causal claim.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building and reporting a classifier</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Write the cost table first</a:t>
            </a:r>
          </a:p>
        </p:txBody>
      </p:sp>
      <p:sp>
        <p:nvSpPr>
          <p:cNvPr id="5" name="TextBox 4"/>
          <p:cNvSpPr txBox="1"/>
          <p:nvPr/>
        </p:nvSpPr>
        <p:spPr>
          <a:xfrm>
            <a:off x="685800"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What does a false alarm cost? What does a miss cost? Everything else follows from those two numbers.</a:t>
            </a:r>
          </a:p>
        </p:txBody>
      </p:sp>
      <p:sp>
        <p:nvSpPr>
          <p:cNvPr id="6" name="TextBox 5"/>
          <p:cNvSpPr txBox="1"/>
          <p:nvPr/>
        </p:nvSpPr>
        <p:spPr>
          <a:xfrm>
            <a:off x="685800"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Check the class balance before anything</a:t>
            </a:r>
          </a:p>
        </p:txBody>
      </p:sp>
      <p:sp>
        <p:nvSpPr>
          <p:cNvPr id="7" name="TextBox 6"/>
          <p:cNvSpPr txBox="1"/>
          <p:nvPr/>
        </p:nvSpPr>
        <p:spPr>
          <a:xfrm>
            <a:off x="685800"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df['target'].value_counts(). If one class is rare, accuracy is already useless to you.</a:t>
            </a:r>
          </a:p>
        </p:txBody>
      </p:sp>
      <p:sp>
        <p:nvSpPr>
          <p:cNvPr id="8" name="TextBox 7"/>
          <p:cNvSpPr txBox="1"/>
          <p:nvPr/>
        </p:nvSpPr>
        <p:spPr>
          <a:xfrm>
            <a:off x="685800"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Same pattern as Week 8</a:t>
            </a:r>
          </a:p>
        </p:txBody>
      </p:sp>
      <p:sp>
        <p:nvSpPr>
          <p:cNvPr id="9" name="TextBox 8"/>
          <p:cNvSpPr txBox="1"/>
          <p:nvPr/>
        </p:nvSpPr>
        <p:spPr>
          <a:xfrm>
            <a:off x="685800"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split · fit on train · predict on test · confusion matrix · then metrics.</a:t>
            </a:r>
          </a:p>
        </p:txBody>
      </p:sp>
      <p:sp>
        <p:nvSpPr>
          <p:cNvPr id="10" name="TextBox 9"/>
          <p:cNvSpPr txBox="1"/>
          <p:nvPr/>
        </p:nvSpPr>
        <p:spPr>
          <a:xfrm>
            <a:off x="685800"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Read the table before the metrics</a:t>
            </a:r>
          </a:p>
        </p:txBody>
      </p:sp>
      <p:sp>
        <p:nvSpPr>
          <p:cNvPr id="11" name="TextBox 10"/>
          <p:cNvSpPr txBox="1"/>
          <p:nvPr/>
        </p:nvSpPr>
        <p:spPr>
          <a:xfrm>
            <a:off x="685800"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Four cells, named in your own domain's language. An empty column is invisible in a score.</a:t>
            </a:r>
          </a:p>
        </p:txBody>
      </p:sp>
      <p:sp>
        <p:nvSpPr>
          <p:cNvPr id="12" name="TextBox 11"/>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Quote precision and recall separately</a:t>
            </a:r>
          </a:p>
        </p:txBody>
      </p:sp>
      <p:sp>
        <p:nvSpPr>
          <p:cNvPr id="13" name="TextBox 12"/>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F1 is convenient for ranking models and hides the trade-off you are being paid to make.</a:t>
            </a:r>
          </a:p>
        </p:txBody>
      </p:sp>
      <p:sp>
        <p:nvSpPr>
          <p:cNvPr id="14" name="TextBox 13"/>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The threshold is yours to set</a:t>
            </a:r>
          </a:p>
        </p:txBody>
      </p:sp>
      <p:sp>
        <p:nvSpPr>
          <p:cNvPr id="15" name="TextBox 14"/>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 how many false alarms are tolerable per week, set the threshold to deliver that, report the recall you achieved at it.</a:t>
            </a:r>
          </a:p>
        </p:txBody>
      </p:sp>
      <p:sp>
        <p:nvSpPr>
          <p:cNvPr id="16" name="TextBox 15"/>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Keep a tree if the decision must be explained</a:t>
            </a:r>
          </a:p>
        </p:txBody>
      </p:sp>
      <p:sp>
        <p:nvSpPr>
          <p:cNvPr id="17" name="TextBox 16"/>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Two points of accuracy is often a poor trade for losing the written rule.</a:t>
            </a:r>
          </a:p>
        </p:txBody>
      </p:sp>
      <p:sp>
        <p:nvSpPr>
          <p:cNvPr id="18" name="TextBox 17"/>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Treat feature importance as a hint</a:t>
            </a:r>
          </a:p>
        </p:txBody>
      </p:sp>
      <p:sp>
        <p:nvSpPr>
          <p:cNvPr id="19" name="TextBox 18"/>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It describes your fitted model. Confirm it against the physics before reporting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9</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confusion matrix read for what the model does badly, and an accuracy figure quoted without the class balance.</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1_W09.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A model with a 97 per cent score</a:t>
            </a:r>
          </a:p>
          <a:p>
            <a:pPr algn="l">
              <a:lnSpc>
                <a:spcPct val="110000"/>
              </a:lnSpc>
              <a:spcAft>
                <a:spcPts val="600"/>
              </a:spcAft>
            </a:pPr>
            <a:r>
              <a:rPr sz="3400" b="1" i="0">
                <a:solidFill>
                  <a:srgbClr val="FFFFFF"/>
                </a:solidFill>
                <a:latin typeface="Cambria"/>
              </a:rPr>
              <a:t>caught nothing at all.</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Four numbers in a confusion matrix told you that. The score on its own hid it. The cost of each mistake, and the confusion matrix, are what tell you whether a classifier is worth anything.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how a model can look excellent and be worthless, and how to catch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