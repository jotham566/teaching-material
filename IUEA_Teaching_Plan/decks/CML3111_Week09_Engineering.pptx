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efad881ee08462e" /><Relationship Type="http://schemas.openxmlformats.org/officeDocument/2006/relationships/extended-properties" Target="/docProps/app.xml" Id="Rd7c2c3342b79486b" /><Relationship Type="http://schemas.openxmlformats.org/officeDocument/2006/relationships/officeDocument" Target="/ppt/presentation.xml" Id="R75beb172e19a4781" /></Relationships>
</file>

<file path=ppt/presentation.xml><?xml version="1.0" encoding="utf-8"?>
<p:presentation xmlns:p="http://schemas.openxmlformats.org/presentationml/2006/main">
  <p:sldMasterIdLst>
    <p:sldMasterId xmlns:r="http://schemas.openxmlformats.org/officeDocument/2006/relationships" id="2147483648" r:id="R64bfbabaaf884773"/>
  </p:sldMasterIdLst>
  <p:notesMasterIdLst>
    <p:notesMasterId xmlns:r="http://schemas.openxmlformats.org/officeDocument/2006/relationships" r:id="Raa0bec36f03d4789"/>
  </p:notesMasterIdLst>
  <p:sldIdLst>
    <p:sldId xmlns:r="http://schemas.openxmlformats.org/officeDocument/2006/relationships" id="256" r:id="Ra6bd16aaeb7b4d25"/>
    <p:sldId xmlns:r="http://schemas.openxmlformats.org/officeDocument/2006/relationships" id="257" r:id="R7277a8b12e284933"/>
    <p:sldId xmlns:r="http://schemas.openxmlformats.org/officeDocument/2006/relationships" id="258" r:id="R4721bd82d6624fd2"/>
    <p:sldId xmlns:r="http://schemas.openxmlformats.org/officeDocument/2006/relationships" id="259" r:id="Rdcb932b95fc94b58"/>
    <p:sldId xmlns:r="http://schemas.openxmlformats.org/officeDocument/2006/relationships" id="260" r:id="Rb7391375c0344171"/>
    <p:sldId xmlns:r="http://schemas.openxmlformats.org/officeDocument/2006/relationships" id="261" r:id="R54182b644fc94e7b"/>
    <p:sldId xmlns:r="http://schemas.openxmlformats.org/officeDocument/2006/relationships" id="262" r:id="R1a9191381dee40fb"/>
    <p:sldId xmlns:r="http://schemas.openxmlformats.org/officeDocument/2006/relationships" id="263" r:id="R52d83434d6604cb3"/>
    <p:sldId xmlns:r="http://schemas.openxmlformats.org/officeDocument/2006/relationships" id="264" r:id="R6758ccc99ae0431b"/>
    <p:sldId xmlns:r="http://schemas.openxmlformats.org/officeDocument/2006/relationships" id="265" r:id="R278072ad76b04ce6"/>
    <p:sldId xmlns:r="http://schemas.openxmlformats.org/officeDocument/2006/relationships" id="266" r:id="Rb050e9e6a8324b4f"/>
    <p:sldId xmlns:r="http://schemas.openxmlformats.org/officeDocument/2006/relationships" id="267" r:id="R2f0389f3d7864af4"/>
    <p:sldId xmlns:r="http://schemas.openxmlformats.org/officeDocument/2006/relationships" id="268" r:id="Ra98ec9fdd0334e36"/>
    <p:sldId xmlns:r="http://schemas.openxmlformats.org/officeDocument/2006/relationships" id="269" r:id="Rf5b4cea723494839"/>
    <p:sldId xmlns:r="http://schemas.openxmlformats.org/officeDocument/2006/relationships" id="270" r:id="R6e836a589cf845aa"/>
    <p:sldId xmlns:r="http://schemas.openxmlformats.org/officeDocument/2006/relationships" id="271" r:id="Rdc57562c11c44bf8"/>
    <p:sldId xmlns:r="http://schemas.openxmlformats.org/officeDocument/2006/relationships" id="272" r:id="R42f3c99579aa45a0"/>
    <p:sldId xmlns:r="http://schemas.openxmlformats.org/officeDocument/2006/relationships" id="273" r:id="R4a43ae9afa314752"/>
    <p:sldId xmlns:r="http://schemas.openxmlformats.org/officeDocument/2006/relationships" id="274" r:id="R9731bf7434a14ebd"/>
    <p:sldId xmlns:r="http://schemas.openxmlformats.org/officeDocument/2006/relationships" id="275" r:id="Rf2d008d3ded94d0b"/>
    <p:sldId xmlns:r="http://schemas.openxmlformats.org/officeDocument/2006/relationships" id="276" r:id="R13d6cd8112f04496"/>
    <p:sldId xmlns:r="http://schemas.openxmlformats.org/officeDocument/2006/relationships" id="277" r:id="R9b5bddf5591e4440"/>
    <p:sldId xmlns:r="http://schemas.openxmlformats.org/officeDocument/2006/relationships" id="278" r:id="R00f931f07d8746c2"/>
    <p:sldId xmlns:r="http://schemas.openxmlformats.org/officeDocument/2006/relationships" id="279" r:id="R4cc782b91ab349dc"/>
    <p:sldId xmlns:r="http://schemas.openxmlformats.org/officeDocument/2006/relationships" id="280" r:id="Rc840369ec6c04fa2"/>
    <p:sldId xmlns:r="http://schemas.openxmlformats.org/officeDocument/2006/relationships" id="281" r:id="Rda6afb31fcdc4cfb"/>
    <p:sldId xmlns:r="http://schemas.openxmlformats.org/officeDocument/2006/relationships" id="282" r:id="R6db083cdb39748c7"/>
    <p:sldId xmlns:r="http://schemas.openxmlformats.org/officeDocument/2006/relationships" id="283" r:id="R8c1e31a95f0a46c1"/>
    <p:sldId xmlns:r="http://schemas.openxmlformats.org/officeDocument/2006/relationships" id="284" r:id="Rb161dbb001684a58"/>
    <p:sldId xmlns:r="http://schemas.openxmlformats.org/officeDocument/2006/relationships" id="285" r:id="R8ba0b1f5f3bb4883"/>
    <p:sldId xmlns:r="http://schemas.openxmlformats.org/officeDocument/2006/relationships" id="286" r:id="R96fc57a5f3b74c9d"/>
    <p:sldId xmlns:r="http://schemas.openxmlformats.org/officeDocument/2006/relationships" id="287" r:id="R854dcac78a2e48bd"/>
    <p:sldId xmlns:r="http://schemas.openxmlformats.org/officeDocument/2006/relationships" id="288" r:id="R535bb30495374754"/>
    <p:sldId xmlns:r="http://schemas.openxmlformats.org/officeDocument/2006/relationships" id="289" r:id="R12b2ca72287d4c4b"/>
    <p:sldId xmlns:r="http://schemas.openxmlformats.org/officeDocument/2006/relationships" id="290" r:id="R6fc1ad2e2a3a4704"/>
    <p:sldId xmlns:r="http://schemas.openxmlformats.org/officeDocument/2006/relationships" id="291" r:id="R9ecc268a9f794c71"/>
    <p:sldId xmlns:r="http://schemas.openxmlformats.org/officeDocument/2006/relationships" id="292" r:id="Rb0df8d76f11d475d"/>
    <p:sldId xmlns:r="http://schemas.openxmlformats.org/officeDocument/2006/relationships" id="293" r:id="Rab8fca69f3834e63"/>
    <p:sldId xmlns:r="http://schemas.openxmlformats.org/officeDocument/2006/relationships" id="294" r:id="Rd996f87c9ec94d03"/>
    <p:sldId xmlns:r="http://schemas.openxmlformats.org/officeDocument/2006/relationships" id="295" r:id="Rbcd8bc89362a4ce4"/>
    <p:sldId xmlns:r="http://schemas.openxmlformats.org/officeDocument/2006/relationships" id="296" r:id="R7b3db11925b84909"/>
    <p:sldId xmlns:r="http://schemas.openxmlformats.org/officeDocument/2006/relationships" id="297" r:id="Rdbf896adfe9a4c1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4cbdff366db40a0" /><Relationship Type="http://schemas.openxmlformats.org/officeDocument/2006/relationships/slideMaster" Target="/ppt/slideMasters/slideMaster1.xml" Id="R64bfbabaaf884773" /><Relationship Type="http://schemas.openxmlformats.org/officeDocument/2006/relationships/notesMaster" Target="/ppt/notesMasters/notesMaster1.xml" Id="Raa0bec36f03d4789" /><Relationship Type="http://schemas.openxmlformats.org/officeDocument/2006/relationships/presProps" Target="/ppt/presProps.xml" Id="Rad87898f0761421f" /><Relationship Type="http://schemas.openxmlformats.org/officeDocument/2006/relationships/tableStyles" Target="/ppt/tableStyles.xml" Id="R56082755cf544b51" /><Relationship Type="http://schemas.openxmlformats.org/officeDocument/2006/relationships/slide" Target="/ppt/slides/slide1.xml" Id="Ra6bd16aaeb7b4d25" /><Relationship Type="http://schemas.openxmlformats.org/officeDocument/2006/relationships/slide" Target="/ppt/slides/slide2.xml" Id="R7277a8b12e284933" /><Relationship Type="http://schemas.openxmlformats.org/officeDocument/2006/relationships/slide" Target="/ppt/slides/slide3.xml" Id="R4721bd82d6624fd2" /><Relationship Type="http://schemas.openxmlformats.org/officeDocument/2006/relationships/slide" Target="/ppt/slides/slide4.xml" Id="Rdcb932b95fc94b58" /><Relationship Type="http://schemas.openxmlformats.org/officeDocument/2006/relationships/slide" Target="/ppt/slides/slide5.xml" Id="Rb7391375c0344171" /><Relationship Type="http://schemas.openxmlformats.org/officeDocument/2006/relationships/slide" Target="/ppt/slides/slide6.xml" Id="R54182b644fc94e7b" /><Relationship Type="http://schemas.openxmlformats.org/officeDocument/2006/relationships/slide" Target="/ppt/slides/slide7.xml" Id="R1a9191381dee40fb" /><Relationship Type="http://schemas.openxmlformats.org/officeDocument/2006/relationships/slide" Target="/ppt/slides/slide8.xml" Id="R52d83434d6604cb3" /><Relationship Type="http://schemas.openxmlformats.org/officeDocument/2006/relationships/slide" Target="/ppt/slides/slide9.xml" Id="R6758ccc99ae0431b" /><Relationship Type="http://schemas.openxmlformats.org/officeDocument/2006/relationships/slide" Target="/ppt/slides/slide10.xml" Id="R278072ad76b04ce6" /><Relationship Type="http://schemas.openxmlformats.org/officeDocument/2006/relationships/slide" Target="/ppt/slides/slide11.xml" Id="Rb050e9e6a8324b4f" /><Relationship Type="http://schemas.openxmlformats.org/officeDocument/2006/relationships/slide" Target="/ppt/slides/slide12.xml" Id="R2f0389f3d7864af4" /><Relationship Type="http://schemas.openxmlformats.org/officeDocument/2006/relationships/slide" Target="/ppt/slides/slide13.xml" Id="Ra98ec9fdd0334e36" /><Relationship Type="http://schemas.openxmlformats.org/officeDocument/2006/relationships/slide" Target="/ppt/slides/slide14.xml" Id="Rf5b4cea723494839" /><Relationship Type="http://schemas.openxmlformats.org/officeDocument/2006/relationships/slide" Target="/ppt/slides/slide15.xml" Id="R6e836a589cf845aa" /><Relationship Type="http://schemas.openxmlformats.org/officeDocument/2006/relationships/slide" Target="/ppt/slides/slide16.xml" Id="Rdc57562c11c44bf8" /><Relationship Type="http://schemas.openxmlformats.org/officeDocument/2006/relationships/slide" Target="/ppt/slides/slide17.xml" Id="R42f3c99579aa45a0" /><Relationship Type="http://schemas.openxmlformats.org/officeDocument/2006/relationships/slide" Target="/ppt/slides/slide18.xml" Id="R4a43ae9afa314752" /><Relationship Type="http://schemas.openxmlformats.org/officeDocument/2006/relationships/slide" Target="/ppt/slides/slide19.xml" Id="R9731bf7434a14ebd" /><Relationship Type="http://schemas.openxmlformats.org/officeDocument/2006/relationships/slide" Target="/ppt/slides/slide20.xml" Id="Rf2d008d3ded94d0b" /><Relationship Type="http://schemas.openxmlformats.org/officeDocument/2006/relationships/slide" Target="/ppt/slides/slide21.xml" Id="R13d6cd8112f04496" /><Relationship Type="http://schemas.openxmlformats.org/officeDocument/2006/relationships/slide" Target="/ppt/slides/slide22.xml" Id="R9b5bddf5591e4440" /><Relationship Type="http://schemas.openxmlformats.org/officeDocument/2006/relationships/slide" Target="/ppt/slides/slide23.xml" Id="R00f931f07d8746c2" /><Relationship Type="http://schemas.openxmlformats.org/officeDocument/2006/relationships/slide" Target="/ppt/slides/slide24.xml" Id="R4cc782b91ab349dc" /><Relationship Type="http://schemas.openxmlformats.org/officeDocument/2006/relationships/slide" Target="/ppt/slides/slide25.xml" Id="Rc840369ec6c04fa2" /><Relationship Type="http://schemas.openxmlformats.org/officeDocument/2006/relationships/slide" Target="/ppt/slides/slide26.xml" Id="Rda6afb31fcdc4cfb" /><Relationship Type="http://schemas.openxmlformats.org/officeDocument/2006/relationships/slide" Target="/ppt/slides/slide27.xml" Id="R6db083cdb39748c7" /><Relationship Type="http://schemas.openxmlformats.org/officeDocument/2006/relationships/slide" Target="/ppt/slides/slide28.xml" Id="R8c1e31a95f0a46c1" /><Relationship Type="http://schemas.openxmlformats.org/officeDocument/2006/relationships/slide" Target="/ppt/slides/slide29.xml" Id="Rb161dbb001684a58" /><Relationship Type="http://schemas.openxmlformats.org/officeDocument/2006/relationships/slide" Target="/ppt/slides/slide30.xml" Id="R8ba0b1f5f3bb4883" /><Relationship Type="http://schemas.openxmlformats.org/officeDocument/2006/relationships/slide" Target="/ppt/slides/slide31.xml" Id="R96fc57a5f3b74c9d" /><Relationship Type="http://schemas.openxmlformats.org/officeDocument/2006/relationships/slide" Target="/ppt/slides/slide32.xml" Id="R854dcac78a2e48bd" /><Relationship Type="http://schemas.openxmlformats.org/officeDocument/2006/relationships/slide" Target="/ppt/slides/slide33.xml" Id="R535bb30495374754" /><Relationship Type="http://schemas.openxmlformats.org/officeDocument/2006/relationships/slide" Target="/ppt/slides/slide34.xml" Id="R12b2ca72287d4c4b" /><Relationship Type="http://schemas.openxmlformats.org/officeDocument/2006/relationships/slide" Target="/ppt/slides/slide35.xml" Id="R6fc1ad2e2a3a4704" /><Relationship Type="http://schemas.openxmlformats.org/officeDocument/2006/relationships/slide" Target="/ppt/slides/slide36.xml" Id="R9ecc268a9f794c71" /><Relationship Type="http://schemas.openxmlformats.org/officeDocument/2006/relationships/slide" Target="/ppt/slides/slide37.xml" Id="Rb0df8d76f11d475d" /><Relationship Type="http://schemas.openxmlformats.org/officeDocument/2006/relationships/slide" Target="/ppt/slides/slide38.xml" Id="Rab8fca69f3834e63" /><Relationship Type="http://schemas.openxmlformats.org/officeDocument/2006/relationships/slide" Target="/ppt/slides/slide39.xml" Id="Rd996f87c9ec94d03" /><Relationship Type="http://schemas.openxmlformats.org/officeDocument/2006/relationships/slide" Target="/ppt/slides/slide40.xml" Id="Rbcd8bc89362a4ce4" /><Relationship Type="http://schemas.openxmlformats.org/officeDocument/2006/relationships/slide" Target="/ppt/slides/slide41.xml" Id="R7b3db11925b84909" /><Relationship Type="http://schemas.openxmlformats.org/officeDocument/2006/relationships/slide" Target="/ppt/slides/slide42.xml" Id="Rdbf896adfe9a4c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b675f9d837840a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ac06d3f9a514dec" /><Relationship Type="http://schemas.openxmlformats.org/officeDocument/2006/relationships/notesMaster" Target="/ppt/notesMasters/notesMaster1.xml" Id="R54cb0f13905844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722feea988464c66" /><Relationship Type="http://schemas.openxmlformats.org/officeDocument/2006/relationships/notesMaster" Target="/ppt/notesMasters/notesMaster1.xml" Id="Rb3ab40dc0e4e4c3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026ddf862644923" /><Relationship Type="http://schemas.openxmlformats.org/officeDocument/2006/relationships/notesMaster" Target="/ppt/notesMasters/notesMaster1.xml" Id="Rb85e66762c6a40e8"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16d3d123f94663" /><Relationship Type="http://schemas.openxmlformats.org/officeDocument/2006/relationships/notesMaster" Target="/ppt/notesMasters/notesMaster1.xml" Id="R634a1db6f5b747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75bc69c69e4f65" /><Relationship Type="http://schemas.openxmlformats.org/officeDocument/2006/relationships/notesMaster" Target="/ppt/notesMasters/notesMaster1.xml" Id="R5252d192128b40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e09542a43843e8" /><Relationship Type="http://schemas.openxmlformats.org/officeDocument/2006/relationships/notesMaster" Target="/ppt/notesMasters/notesMaster1.xml" Id="Rcd86e45deeee4a6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a7e98203f0f47ab" /><Relationship Type="http://schemas.openxmlformats.org/officeDocument/2006/relationships/notesMaster" Target="/ppt/notesMasters/notesMaster1.xml" Id="R726c1796cd7c4e0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3c7b62ee924801" /><Relationship Type="http://schemas.openxmlformats.org/officeDocument/2006/relationships/notesMaster" Target="/ppt/notesMasters/notesMaster1.xml" Id="Rfcf1ccc45bdc466e" /></Relationships>
</file>

<file path=ppt/notesSlides/_rels/notesSlide9.xml.rels>&#65279;<?xml version="1.0" encoding="utf-8"?><Relationships xmlns="http://schemas.openxmlformats.org/package/2006/relationships"><Relationship Type="http://schemas.openxmlformats.org/officeDocument/2006/relationships/slide" Target="/ppt/slides/slide9.xml" Id="Rfd75248d07b64153" /><Relationship Type="http://schemas.openxmlformats.org/officeDocument/2006/relationships/notesMaster" Target="/ppt/notesMasters/notesMaster1.xml" Id="R0cfbcb79e68f4f7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4e1d7a5b7a249de" /><Relationship Type="http://schemas.openxmlformats.org/officeDocument/2006/relationships/notesMaster" Target="/ppt/notesMasters/notesMaster1.xml" Id="Re9b1ead526ba400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100d2ea82e84410" /><Relationship Type="http://schemas.openxmlformats.org/officeDocument/2006/relationships/notesMaster" Target="/ppt/notesMasters/notesMaster1.xml" Id="Rccb844a91e5d4ef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248b49b02ea4a2b" /><Relationship Type="http://schemas.openxmlformats.org/officeDocument/2006/relationships/notesMaster" Target="/ppt/notesMasters/notesMaster1.xml" Id="Ra46ea118e1984f0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aad973aab947ed" /><Relationship Type="http://schemas.openxmlformats.org/officeDocument/2006/relationships/notesMaster" Target="/ppt/notesMasters/notesMaster1.xml" Id="R6273570e979c48e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6826c9b8e94fd3" /><Relationship Type="http://schemas.openxmlformats.org/officeDocument/2006/relationships/notesMaster" Target="/ppt/notesMasters/notesMaster1.xml" Id="Rae46373c0e594ac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fb249cba1e748a4" /><Relationship Type="http://schemas.openxmlformats.org/officeDocument/2006/relationships/notesMaster" Target="/ppt/notesMasters/notesMaster1.xml" Id="R48d82907be42496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798b953511a4fa1" /><Relationship Type="http://schemas.openxmlformats.org/officeDocument/2006/relationships/notesMaster" Target="/ppt/notesMasters/notesMaster1.xml" Id="Rf7e096d69d58453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24bb4e1beda4020" /><Relationship Type="http://schemas.openxmlformats.org/officeDocument/2006/relationships/notesMaster" Target="/ppt/notesMasters/notesMaster1.xml" Id="R67b9f0d69d8c4c9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955dbad2994ee4" /><Relationship Type="http://schemas.openxmlformats.org/officeDocument/2006/relationships/notesMaster" Target="/ppt/notesMasters/notesMaster1.xml" Id="R0cce66fd673d476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1b7262639884032" /><Relationship Type="http://schemas.openxmlformats.org/officeDocument/2006/relationships/notesMaster" Target="/ppt/notesMasters/notesMaster1.xml" Id="R9825fec4a086415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b7bc6f0cff84b1f" /><Relationship Type="http://schemas.openxmlformats.org/officeDocument/2006/relationships/notesMaster" Target="/ppt/notesMasters/notesMaster1.xml" Id="R1c05ba0b84174c5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5020d5281e34cd0" /><Relationship Type="http://schemas.openxmlformats.org/officeDocument/2006/relationships/notesMaster" Target="/ppt/notesMasters/notesMaster1.xml" Id="R13c2512ecded459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bac5f11b9c4434d" /><Relationship Type="http://schemas.openxmlformats.org/officeDocument/2006/relationships/notesMaster" Target="/ppt/notesMasters/notesMaster1.xml" Id="Re4cb95c253b54c6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f4cf13dd8fa48b5" /><Relationship Type="http://schemas.openxmlformats.org/officeDocument/2006/relationships/notesMaster" Target="/ppt/notesMasters/notesMaster1.xml" Id="Rcb5b2dd7ee744e5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2e12271277b4d83" /><Relationship Type="http://schemas.openxmlformats.org/officeDocument/2006/relationships/notesMaster" Target="/ppt/notesMasters/notesMaster1.xml" Id="R10833af3e4eb401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b74fdf8465c4d9a" /><Relationship Type="http://schemas.openxmlformats.org/officeDocument/2006/relationships/notesMaster" Target="/ppt/notesMasters/notesMaster1.xml" Id="Rddea27efda6940e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57c65c323b74b1e" /><Relationship Type="http://schemas.openxmlformats.org/officeDocument/2006/relationships/notesMaster" Target="/ppt/notesMasters/notesMaster1.xml" Id="Re9ece9c4a5d544d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14becefce4b4395" /><Relationship Type="http://schemas.openxmlformats.org/officeDocument/2006/relationships/notesMaster" Target="/ppt/notesMasters/notesMaster1.xml" Id="R58ba7595d77f4b4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9d660882b2e4236" /><Relationship Type="http://schemas.openxmlformats.org/officeDocument/2006/relationships/notesMaster" Target="/ppt/notesMasters/notesMaster1.xml" Id="R334d6bff0e6f447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5523d0500404e1c" /><Relationship Type="http://schemas.openxmlformats.org/officeDocument/2006/relationships/notesMaster" Target="/ppt/notesMasters/notesMaster1.xml" Id="Re4b406a1637c4a3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0ce20fe92bb4083" /><Relationship Type="http://schemas.openxmlformats.org/officeDocument/2006/relationships/notesMaster" Target="/ppt/notesMasters/notesMaster1.xml" Id="R2d28eec56b6b407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2c02c0abf5744a9" /><Relationship Type="http://schemas.openxmlformats.org/officeDocument/2006/relationships/notesMaster" Target="/ppt/notesMasters/notesMaster1.xml" Id="Reff2a0d488ee49a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a1e09b2e6764141" /><Relationship Type="http://schemas.openxmlformats.org/officeDocument/2006/relationships/notesMaster" Target="/ppt/notesMasters/notesMaster1.xml" Id="Rf0a1dc52052c467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f0e3861506342af" /><Relationship Type="http://schemas.openxmlformats.org/officeDocument/2006/relationships/notesMaster" Target="/ppt/notesMasters/notesMaster1.xml" Id="Re60b7768b97a433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11f568116a64b72" /><Relationship Type="http://schemas.openxmlformats.org/officeDocument/2006/relationships/notesMaster" Target="/ppt/notesMasters/notesMaster1.xml" Id="R7e95efad164b4cf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778df50619745fd" /><Relationship Type="http://schemas.openxmlformats.org/officeDocument/2006/relationships/notesMaster" Target="/ppt/notesMasters/notesMaster1.xml" Id="Re38ddfa26273499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7bad2c26e404470" /><Relationship Type="http://schemas.openxmlformats.org/officeDocument/2006/relationships/notesMaster" Target="/ppt/notesMasters/notesMaster1.xml" Id="Rac72994a36b8410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8362dff67344520" /><Relationship Type="http://schemas.openxmlformats.org/officeDocument/2006/relationships/notesMaster" Target="/ppt/notesMasters/notesMaster1.xml" Id="R1022adf9b9bf4b1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5eba9400c274569" /><Relationship Type="http://schemas.openxmlformats.org/officeDocument/2006/relationships/notesMaster" Target="/ppt/notesMasters/notesMaster1.xml" Id="R93979995356d456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13d51e318544fac" /><Relationship Type="http://schemas.openxmlformats.org/officeDocument/2006/relationships/notesMaster" Target="/ppt/notesMasters/notesMaster1.xml" Id="R05f3ebf94b7940f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923b224a77f4311" /><Relationship Type="http://schemas.openxmlformats.org/officeDocument/2006/relationships/notesMaster" Target="/ppt/notesMasters/notesMaster1.xml" Id="R1902ceabe75d4b6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2cc275d10074ed7" /><Relationship Type="http://schemas.openxmlformats.org/officeDocument/2006/relationships/notesMaster" Target="/ppt/notesMasters/notesMaster1.xml" Id="R34e0ac5e2f71476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f11048e14dd49b9" /><Relationship Type="http://schemas.openxmlformats.org/officeDocument/2006/relationships/notesMaster" Target="/ppt/notesMasters/notesMaster1.xml" Id="R64c9476598fe4c7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Classification and the cost of mistakes</a:t>
            </a:r>
          </a:p>
          <a:p xmlns:a="http://schemas.openxmlformats.org/drawingml/2006/main">
            <a:r>
              <a:t>Explanation to give</a:t>
            </a:r>
          </a:p>
          <a:p xmlns:a="http://schemas.openxmlformats.org/drawingml/2006/main">
            <a:r>
              <a:t>Move from a numerical prediction to a category decision. Name the positive class before counting correct warnings, false alarms and missed warnings.</a:t>
            </a:r>
          </a:p>
          <a:p xmlns:a="http://schemas.openxmlformats.org/drawingml/2006/main">
            <a:r>
              <a:t/>
            </a:r>
          </a:p>
          <a:p xmlns:a="http://schemas.openxmlformats.org/drawingml/2006/main">
            <a:r>
              <a:t>Worked illustration / lecturer answer</a:t>
            </a:r>
          </a:p>
          <a:p xmlns:a="http://schemas.openxmlformats.org/drawingml/2006/main">
            <a:r>
              <a:t>Actual 1 with predicted 0 is a false negative. If 1 means warning, this is a missed warning, not merely a wrong number.</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Communications, Electrical, Mechatronics and Robotics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practice precedes the assessment brief. Give the class one consistent data-handling approach: pandas for tables, scikit-learn for models, matplotlib for figures.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modelling_data.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pd.read_csv("practice_filename.csv")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equipment_data.shape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equipment_data.dtypes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equipment_data.head()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pd.read_csv('classification_case.csv')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actual  predicted</a:t>
            </a:r>
          </a:p>
          <a:p xmlns:a="http://schemas.openxmlformats.org/drawingml/2006/main">
            <a:r>
              <a:t>0       1          1</a:t>
            </a:r>
          </a:p>
          <a:p xmlns:a="http://schemas.openxmlformats.org/drawingml/2006/main">
            <a:r>
              <a:t>1       0          0</a:t>
            </a:r>
          </a:p>
          <a:p xmlns:a="http://schemas.openxmlformats.org/drawingml/2006/main">
            <a:r>
              <a:t>2       1          0</a:t>
            </a:r>
          </a:p>
          <a:p xmlns:a="http://schemas.openxmlformats.org/drawingml/2006/main">
            <a:r>
              <a:t>3       1          1</a:t>
            </a:r>
          </a:p>
          <a:p xmlns:a="http://schemas.openxmlformats.org/drawingml/2006/main">
            <a:r>
              <a:t>4       0          1</a:t>
            </a:r>
          </a:p>
          <a:p xmlns:a="http://schemas.openxmlformats.org/drawingml/2006/main">
            <a:r>
              <a:t>(6, 2)</a:t>
            </a:r>
          </a:p>
          <a:p xmlns:a="http://schemas.openxmlformats.org/drawingml/2006/main">
            <a:r>
              <a:t>actual       int64</a:t>
            </a:r>
          </a:p>
          <a:p xmlns:a="http://schemas.openxmlformats.org/drawingml/2006/main">
            <a:r>
              <a:t>predicted    int64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paired result belongs in one cell</a:t>
            </a:r>
          </a:p>
          <a:p xmlns:a="http://schemas.openxmlformats.org/drawingml/2006/main">
            <a:r>
              <a:t>Explanation to give</a:t>
            </a:r>
          </a:p>
          <a:p xmlns:a="http://schemas.openxmlformats.org/drawingml/2006/main">
            <a:r>
              <a:t>First name what 1 means. Read the actual label before the prediction. True/false refers to whether the prediction is correct; positive/negative refers to the predicted class.</a:t>
            </a:r>
          </a:p>
          <a:p xmlns:a="http://schemas.openxmlformats.org/drawingml/2006/main">
            <a:r>
              <a:t/>
            </a:r>
          </a:p>
          <a:p xmlns:a="http://schemas.openxmlformats.org/drawingml/2006/main">
            <a:r>
              <a:t>Worked illustration / lecturer answer</a:t>
            </a:r>
          </a:p>
          <a:p xmlns:a="http://schemas.openxmlformats.org/drawingml/2006/main">
            <a:r>
              <a:t>With 1 meaning warning: actual 1, predicted 0 is a false negative, a missed warning. Actual 0, predicted 1 is a false positive, an unnecessary warning.</a:t>
            </a:r>
          </a:p>
          <a:p xmlns:a="http://schemas.openxmlformats.org/drawingml/2006/main">
            <a:r>
              <a:t/>
            </a:r>
          </a:p>
          <a:p xmlns:a="http://schemas.openxmlformats.org/drawingml/2006/main">
            <a:r>
              <a:t>Misconception to address</a:t>
            </a:r>
          </a:p>
          <a:p xmlns:a="http://schemas.openxmlformats.org/drawingml/2006/main">
            <a:r>
              <a:t>Positive does not mean good. A high count of correct normal cases can hide a dangerous number of missed warnings.</a:t>
            </a:r>
          </a:p>
          <a:p xmlns:a="http://schemas.openxmlformats.org/drawingml/2006/main">
            <a:r>
              <a:t/>
            </a:r>
          </a:p>
          <a:p xmlns:a="http://schemas.openxmlformats.org/drawingml/2006/main">
            <a:r>
              <a:t>On this slide</a:t>
            </a:r>
          </a:p>
          <a:p xmlns:a="http://schemas.openxmlformats.org/drawingml/2006/main">
            <a:r>
              <a:t>Read actual first, then predicted_values. Explain the missed warning.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True positive: actual 1 and predicted 1. False negative: actual 1 and predicted 0. False positive: actual 0 and predicted 1. True negative: both 0. Keep the two columns paired.</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Selecting columns</a:t>
            </a:r>
          </a:p>
          <a:p xmlns:a="http://schemas.openxmlformats.org/drawingml/2006/main">
            <a:r>
              <a:t>equipment_data["column"] returns one labelled column, a Series. equipment_data[["a", "b"]] returns a DataFrame containing those named columns in that order.</a:t>
            </a:r>
          </a:p>
          <a:p xmlns:a="http://schemas.openxmlformats.org/drawingml/2006/main">
            <a:r>
              <a:t/>
            </a:r>
          </a:p>
          <a:p xmlns:a="http://schemas.openxmlformats.org/drawingml/2006/main">
            <a:r>
              <a:t>Column arithmetic</a:t>
            </a:r>
          </a:p>
          <a:p xmlns:a="http://schemas.openxmlformats.org/drawingml/2006/main">
            <a:r>
              <a:t>Arithmetic on columns calculates one result per row. Series align by row label. Divide only where the denominator is valid and keep actual and predicted observations paired.</a:t>
            </a:r>
          </a:p>
          <a:p xmlns:a="http://schemas.openxmlformats.org/drawingml/2006/main">
            <a:r>
              <a:t/>
            </a:r>
          </a:p>
          <a:p xmlns:a="http://schemas.openxmlformats.org/drawingml/2006/main">
            <a:r>
              <a:t>Adding values and counting True</a:t>
            </a:r>
          </a:p>
          <a:p xmlns:a="http://schemas.openxmlformats.org/drawingml/2006/main">
            <a:r>
              <a:t>series.sum() adds its values. For a Boolean mask, True counts as 1 and False as 0. equipment_data.isna().sum() therefore counts missing cells separately for each column.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column comparison produces one True or False per row. table[mask] keeps the True rows. &amp; combines masks: both conditions must hold. Parenthesise each comparison.</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contains the recorded class; predicted contains the model’s decision for the same row. Here 1 means positive and 0 negative. These are already-issued decisions; this exercise does not train a classifier.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contains the recorded class; predicted contains the model’s decision for the same row. Here 1 means positive and 0 negative. These are already-issued decisions; this exercise does not train a classifier.</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actual_labels = raw_data['actual']</a:t>
            </a:r>
          </a:p>
          <a:p xmlns:a="http://schemas.openxmlformats.org/drawingml/2006/main">
            <a:r>
              <a:t>actual_labels stores the recorded class of each observation: 1 means positive and 0 means negative.</a:t>
            </a:r>
          </a:p>
          <a:p xmlns:a="http://schemas.openxmlformats.org/drawingml/2006/main">
            <a:r>
              <a:t/>
            </a:r>
          </a:p>
          <a:p xmlns:a="http://schemas.openxmlformats.org/drawingml/2006/main">
            <a:r>
              <a:t>predicted_labels = raw_data['predicted']</a:t>
            </a:r>
          </a:p>
          <a:p xmlns:a="http://schemas.openxmlformats.org/drawingml/2006/main">
            <a:r>
              <a:t>predicted_labels stores the model’s 0/1 class decisions in matching row order.</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 1 asks whether the real class is positive; predicted == 1 asks whether the model predicted positive. Each comparison returns one True/False answer per row. Equality uses ==; assignment uses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 1 asks whether the real class is positive; predicted == 1 asks whether the model predicted positive. Each comparison returns one True/False answer per row. Equality uses ==; assignment uses =.</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actual_is_positive = actual_labels == 1</a:t>
            </a:r>
          </a:p>
          <a:p xmlns:a="http://schemas.openxmlformats.org/drawingml/2006/main">
            <a:r>
              <a:t>actual_is_positive stores the result of the displayed expression.</a:t>
            </a:r>
          </a:p>
          <a:p xmlns:a="http://schemas.openxmlformats.org/drawingml/2006/main">
            <a:r>
              <a:t/>
            </a:r>
          </a:p>
          <a:p xmlns:a="http://schemas.openxmlformats.org/drawingml/2006/main">
            <a:r>
              <a:t>prediction_is_positive = predicted_labels == 1</a:t>
            </a:r>
          </a:p>
          <a:p xmlns:a="http://schemas.openxmlformats.org/drawingml/2006/main">
            <a:r>
              <a:t>prediction_is_positive stores the result of the displayed expression.</a:t>
            </a:r>
          </a:p>
          <a:p xmlns:a="http://schemas.openxmlformats.org/drawingml/2006/main">
            <a:r>
              <a:t/>
            </a:r>
          </a:p>
          <a:p xmlns:a="http://schemas.openxmlformats.org/drawingml/2006/main">
            <a:r>
              <a:t>actual_is_negative = actual_labels == 0</a:t>
            </a:r>
          </a:p>
          <a:p xmlns:a="http://schemas.openxmlformats.org/drawingml/2006/main">
            <a:r>
              <a:t>actual_is_negative stores the result of the displayed expression.</a:t>
            </a:r>
          </a:p>
          <a:p xmlns:a="http://schemas.openxmlformats.org/drawingml/2006/main">
            <a:r>
              <a:t/>
            </a:r>
          </a:p>
          <a:p xmlns:a="http://schemas.openxmlformats.org/drawingml/2006/main">
            <a:r>
              <a:t>prediction_is_negative = predicted_labels == 0</a:t>
            </a:r>
          </a:p>
          <a:p xmlns:a="http://schemas.openxmlformats.org/drawingml/2006/main">
            <a:r>
              <a:t>prediction_is_negative stores the result of the displayed expression.</a:t>
            </a:r>
          </a:p>
          <a:p xmlns:a="http://schemas.openxmlformats.org/drawingml/2006/main">
            <a:r>
              <a:t/>
            </a:r>
          </a:p>
          <a:p xmlns:a="http://schemas.openxmlformats.org/drawingml/2006/main">
            <a:r>
              <a:t>print(actual_is_positive.head())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print(prediction_is_positive.head())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True</a:t>
            </a:r>
          </a:p>
          <a:p xmlns:a="http://schemas.openxmlformats.org/drawingml/2006/main">
            <a:r>
              <a:t>1    False</a:t>
            </a:r>
          </a:p>
          <a:p xmlns:a="http://schemas.openxmlformats.org/drawingml/2006/main">
            <a:r>
              <a:t>2     True</a:t>
            </a:r>
          </a:p>
          <a:p xmlns:a="http://schemas.openxmlformats.org/drawingml/2006/main">
            <a:r>
              <a:t>3     True</a:t>
            </a:r>
          </a:p>
          <a:p xmlns:a="http://schemas.openxmlformats.org/drawingml/2006/main">
            <a:r>
              <a:t>4    False</a:t>
            </a:r>
          </a:p>
          <a:p xmlns:a="http://schemas.openxmlformats.org/drawingml/2006/main">
            <a:r>
              <a:t>Name: actual, dtype: bool</a:t>
            </a:r>
          </a:p>
          <a:p xmlns:a="http://schemas.openxmlformats.org/drawingml/2006/main">
            <a:r>
              <a:t>0     True</a:t>
            </a:r>
          </a:p>
          <a:p xmlns:a="http://schemas.openxmlformats.org/drawingml/2006/main">
            <a:r>
              <a:t>1    False</a:t>
            </a:r>
          </a:p>
          <a:p xmlns:a="http://schemas.openxmlformats.org/drawingml/2006/main">
            <a:r>
              <a:t>2    False</a:t>
            </a:r>
          </a:p>
          <a:p xmlns:a="http://schemas.openxmlformats.org/drawingml/2006/main">
            <a:r>
              <a:t>3     True</a:t>
            </a:r>
          </a:p>
          <a:p xmlns:a="http://schemas.openxmlformats.org/drawingml/2006/main">
            <a:r>
              <a:t>4     True</a:t>
            </a:r>
          </a:p>
          <a:p xmlns:a="http://schemas.openxmlformats.org/drawingml/2006/main">
            <a:r>
              <a:t>Name: predicted, dtype: bool</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true positive has actual 1 AND predicted 1. Combine the two answer columns with &amp;, then sum the True entries. The other three outcomes use their own pairs of actual and predicted labels.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true positive has actual 1 AND predicted 1. Combine the two answer columns with &amp;, then sum the True entries. The other three outcomes use their own pairs of actual and predicted labels.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is_true_positive = actual_is_positive &amp; prediction_is_positive</a:t>
            </a:r>
          </a:p>
          <a:p xmlns:a="http://schemas.openxmlformats.org/drawingml/2006/main">
            <a:r>
              <a:t>is_true_positive stores the result of the displayed expression.</a:t>
            </a:r>
          </a:p>
          <a:p xmlns:a="http://schemas.openxmlformats.org/drawingml/2006/main">
            <a:r>
              <a:t/>
            </a:r>
          </a:p>
          <a:p xmlns:a="http://schemas.openxmlformats.org/drawingml/2006/main">
            <a:r>
              <a:t>true_positive_count = int(is_true_positive.sum())</a:t>
            </a:r>
          </a:p>
          <a:p xmlns:a="http://schemas.openxmlformats.org/drawingml/2006/main">
            <a:r>
              <a:t>true_positive_count stores number of rows with actual 1 and predicted 1.</a:t>
            </a:r>
          </a:p>
          <a:p xmlns:a="http://schemas.openxmlformats.org/drawingml/2006/main">
            <a:r>
              <a:t/>
            </a:r>
          </a:p>
          <a:p xmlns:a="http://schemas.openxmlformats.org/drawingml/2006/main">
            <a:r>
              <a:t>print('True positives:', true_positive_count)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True positives: 3</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false_negative_count: number of missed positives: actual 1 but predicted 0.</a:t>
            </a:r>
          </a:p>
          <a:p xmlns:a="http://schemas.openxmlformats.org/drawingml/2006/main">
            <a:r>
              <a:t/>
            </a:r>
          </a:p>
          <a:p xmlns:a="http://schemas.openxmlformats.org/drawingml/2006/main">
            <a:r>
              <a:t>false_positive_count: number of false alarms: actual 0 but predicted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false_negative_count: number of missed positives: actual 1 but predicted 0.</a:t>
            </a:r>
          </a:p>
          <a:p xmlns:a="http://schemas.openxmlformats.org/drawingml/2006/main">
            <a:r>
              <a:t/>
            </a:r>
          </a:p>
          <a:p xmlns:a="http://schemas.openxmlformats.org/drawingml/2006/main">
            <a:r>
              <a:t>false_positive_count: number of false alarms: actual 0 but predicted 1.</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false_negative_count = int((actual_is_positive &amp; prediction_is_negative).sum())</a:t>
            </a:r>
          </a:p>
          <a:p xmlns:a="http://schemas.openxmlformats.org/drawingml/2006/main">
            <a:r>
              <a:t>false_negative_count stores number of missed positives: actual 1 but predicted 0.</a:t>
            </a:r>
          </a:p>
          <a:p xmlns:a="http://schemas.openxmlformats.org/drawingml/2006/main">
            <a:r>
              <a:t/>
            </a:r>
          </a:p>
          <a:p xmlns:a="http://schemas.openxmlformats.org/drawingml/2006/main">
            <a:r>
              <a:t>false_positive_count = int((actual_is_negative &amp; prediction_is_positive).sum())</a:t>
            </a:r>
          </a:p>
          <a:p xmlns:a="http://schemas.openxmlformats.org/drawingml/2006/main">
            <a:r>
              <a:t>false_positive_count stores number of false alarms: actual 0 but predicted 1.</a:t>
            </a:r>
          </a:p>
          <a:p xmlns:a="http://schemas.openxmlformats.org/drawingml/2006/main">
            <a:r>
              <a:t/>
            </a:r>
          </a:p>
          <a:p xmlns:a="http://schemas.openxmlformats.org/drawingml/2006/main">
            <a:r>
              <a:t>true_negative_count = int((actual_is_negative &amp; prediction_is_negative).sum())</a:t>
            </a:r>
          </a:p>
          <a:p xmlns:a="http://schemas.openxmlformats.org/drawingml/2006/main">
            <a:r>
              <a:t>true_negative_count stores number of rows with actual 0 and predicted 0.</a:t>
            </a:r>
          </a:p>
          <a:p xmlns:a="http://schemas.openxmlformats.org/drawingml/2006/main">
            <a:r>
              <a:t/>
            </a:r>
          </a:p>
          <a:p xmlns:a="http://schemas.openxmlformats.org/drawingml/2006/main">
            <a:r>
              <a:t>print(false_negative_count, false_positive_count, true_negative_count)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print(true_positive_count + false_negative_count + false_positive_count + true_negative_count, len(raw_data))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1 1 1</a:t>
            </a:r>
          </a:p>
          <a:p xmlns:a="http://schemas.openxmlformats.org/drawingml/2006/main">
            <a:r>
              <a:t>6 6</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false_negative_count: number of missed positives: actual 1 but predicted 0.</a:t>
            </a:r>
          </a:p>
          <a:p xmlns:a="http://schemas.openxmlformats.org/drawingml/2006/main">
            <a:r>
              <a:t/>
            </a:r>
          </a:p>
          <a:p xmlns:a="http://schemas.openxmlformats.org/drawingml/2006/main">
            <a:r>
              <a:t>false_positive_count: number of false alarms: actual 0 but predicted 1.</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false_negative_count = int((actual_is_positive &amp; prediction_is_negative).sum())</a:t>
            </a:r>
          </a:p>
          <a:p xmlns:a="http://schemas.openxmlformats.org/drawingml/2006/main">
            <a:r>
              <a:t>false_negative_count stores number of missed positives: actual 1 but predicted 0.</a:t>
            </a:r>
          </a:p>
          <a:p xmlns:a="http://schemas.openxmlformats.org/drawingml/2006/main">
            <a:r>
              <a:t/>
            </a:r>
          </a:p>
          <a:p xmlns:a="http://schemas.openxmlformats.org/drawingml/2006/main">
            <a:r>
              <a:t>false_positive_count = int((actual_is_negative &amp; prediction_is_positive).sum())</a:t>
            </a:r>
          </a:p>
          <a:p xmlns:a="http://schemas.openxmlformats.org/drawingml/2006/main">
            <a:r>
              <a:t>false_positive_count stores number of false alarms: actual 0 but predicted 1.</a:t>
            </a:r>
          </a:p>
          <a:p xmlns:a="http://schemas.openxmlformats.org/drawingml/2006/main">
            <a:r>
              <a:t/>
            </a:r>
          </a:p>
          <a:p xmlns:a="http://schemas.openxmlformats.org/drawingml/2006/main">
            <a:r>
              <a:t>true_negative_count = int((actual_is_negative &amp; prediction_is_negative).sum())</a:t>
            </a:r>
          </a:p>
          <a:p xmlns:a="http://schemas.openxmlformats.org/drawingml/2006/main">
            <a:r>
              <a:t>true_negative_count stores number of rows with actual 0 and predicted 0.</a:t>
            </a:r>
          </a:p>
          <a:p xmlns:a="http://schemas.openxmlformats.org/drawingml/2006/main">
            <a:r>
              <a:t/>
            </a:r>
          </a:p>
          <a:p xmlns:a="http://schemas.openxmlformats.org/drawingml/2006/main">
            <a:r>
              <a:t>print(false_negative_count, false_positive_count, true_negative_count)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print(true_positive_count + false_negative_count + false_positive_count + true_negative_count, len(raw_data))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1 1 1</a:t>
            </a:r>
          </a:p>
          <a:p xmlns:a="http://schemas.openxmlformats.org/drawingml/2006/main">
            <a:r>
              <a:t>6 6</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false_negative_count: number of missed positives: actual 1 but predicted 0.</a:t>
            </a:r>
          </a:p>
          <a:p xmlns:a="http://schemas.openxmlformats.org/drawingml/2006/main">
            <a:r>
              <a:t/>
            </a:r>
          </a:p>
          <a:p xmlns:a="http://schemas.openxmlformats.org/drawingml/2006/main">
            <a:r>
              <a:t>false_positive_count: number of false alarms: actual 0 but predicted 1.</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false_negative_count = int((actual_is_positive &amp; prediction_is_negative).sum())</a:t>
            </a:r>
          </a:p>
          <a:p xmlns:a="http://schemas.openxmlformats.org/drawingml/2006/main">
            <a:r>
              <a:t>false_negative_count stores number of missed positives: actual 1 but predicted 0.</a:t>
            </a:r>
          </a:p>
          <a:p xmlns:a="http://schemas.openxmlformats.org/drawingml/2006/main">
            <a:r>
              <a:t/>
            </a:r>
          </a:p>
          <a:p xmlns:a="http://schemas.openxmlformats.org/drawingml/2006/main">
            <a:r>
              <a:t>false_positive_count = int((actual_is_negative &amp; prediction_is_positive).sum())</a:t>
            </a:r>
          </a:p>
          <a:p xmlns:a="http://schemas.openxmlformats.org/drawingml/2006/main">
            <a:r>
              <a:t>false_positive_count stores number of false alarms: actual 0 but predicted 1.</a:t>
            </a:r>
          </a:p>
          <a:p xmlns:a="http://schemas.openxmlformats.org/drawingml/2006/main">
            <a:r>
              <a:t/>
            </a:r>
          </a:p>
          <a:p xmlns:a="http://schemas.openxmlformats.org/drawingml/2006/main">
            <a:r>
              <a:t>true_negative_count = int((actual_is_negative &amp; prediction_is_negative).sum())</a:t>
            </a:r>
          </a:p>
          <a:p xmlns:a="http://schemas.openxmlformats.org/drawingml/2006/main">
            <a:r>
              <a:t>true_negative_count stores number of rows with actual 0 and predicted 0.</a:t>
            </a:r>
          </a:p>
          <a:p xmlns:a="http://schemas.openxmlformats.org/drawingml/2006/main">
            <a:r>
              <a:t/>
            </a:r>
          </a:p>
          <a:p xmlns:a="http://schemas.openxmlformats.org/drawingml/2006/main">
            <a:r>
              <a:t>print(false_negative_count, false_positive_count, true_negative_count)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print(true_positive_count + false_negative_count + false_positive_count + true_negative_count, len(raw_data))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1 1 1</a:t>
            </a:r>
          </a:p>
          <a:p xmlns:a="http://schemas.openxmlformats.org/drawingml/2006/main">
            <a:r>
              <a:t>6 6</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 asks how many warnings were correct. Recall asks how many real warning cases were found. Neither alone shows all mistakes. The cost is not an approved safety limit.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Rounded display</a:t>
            </a:r>
          </a:p>
          <a:p xmlns:a="http://schemas.openxmlformats.org/drawingml/2006/main">
            <a:r>
              <a:t>series.round(3) returns values rounded to three decimal places. Python round(number, 3) rounds one number. Keep unrounded calculations for returned assessment answers.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condition: runs its indented statements only when the condition is True. else: handles the other case. Check for a nonzero denominator before division, and for a nonempty table before selecting its first row.</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denominator is all predicted positives: true positives plus false positives. Divide correct positive predictions by that total. Check the denominator before dividing; this teaching example uses 0 when it is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denominator is all predicted positives: true positives plus false positives. Divide correct positive predictions by that total. Check the denominator before dividing; this teaching example uses 0 when it is zero.</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precision = 0.0</a:t>
            </a:r>
          </a:p>
          <a:p xmlns:a="http://schemas.openxmlformats.org/drawingml/2006/main">
            <a:r>
              <a:t>precision stores fraction of positive predictions that are correct.</a:t>
            </a:r>
          </a:p>
          <a:p xmlns:a="http://schemas.openxmlformats.org/drawingml/2006/main">
            <a:r>
              <a:t/>
            </a:r>
          </a:p>
          <a:p xmlns:a="http://schemas.openxmlformats.org/drawingml/2006/main">
            <a:r>
              <a:t>if true_positive_count + false_positive_count &gt; 0:</a:t>
            </a:r>
          </a:p>
          <a:p xmlns:a="http://schemas.openxmlformats.org/drawingml/2006/main">
            <a:r>
              <a:t>    precision = true_positive_count / (true_positive_count + false_positive_count)</a:t>
            </a:r>
          </a:p>
          <a:p xmlns:a="http://schemas.openxmlformats.org/drawingml/2006/main">
            <a:r>
              <a:t>Check the condition first, then run only the matching branch. This avoids invalid division or selecting a row that does not exist.</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denominator is all actual positives: true positives plus false negatives. Divide detected positives by that total. Precision and recall answer different questions even when they happen to have the same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denominator is all actual positives: true positives plus false negatives. Divide detected positives by that total. Precision and recall answer different questions even when they happen to have the same value.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recall = 0.0</a:t>
            </a:r>
          </a:p>
          <a:p xmlns:a="http://schemas.openxmlformats.org/drawingml/2006/main">
            <a:r>
              <a:t>recall stores fraction of actual positives detected by the model.</a:t>
            </a:r>
          </a:p>
          <a:p xmlns:a="http://schemas.openxmlformats.org/drawingml/2006/main">
            <a:r>
              <a:t/>
            </a:r>
          </a:p>
          <a:p xmlns:a="http://schemas.openxmlformats.org/drawingml/2006/main">
            <a:r>
              <a:t>if true_positive_count + false_negative_count &gt; 0:</a:t>
            </a:r>
          </a:p>
          <a:p xmlns:a="http://schemas.openxmlformats.org/drawingml/2006/main">
            <a:r>
              <a:t>    recall = true_positive_count / (true_positive_count + false_negative_count)</a:t>
            </a:r>
          </a:p>
          <a:p xmlns:a="http://schemas.openxmlformats.org/drawingml/2006/main">
            <a:r>
              <a:t>Check the condition first, then run only the matching branch. This avoids invalid division or selecting a row that does not exist.</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total_error_cost: five penalty units per missed positive plus one per false alarm in this scenario.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total_error_cost: five penalty units per missed positive plus one per false alarm in this scenario.</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total_error_cost = 5 * false_negative_count + false_positive_count</a:t>
            </a:r>
          </a:p>
          <a:p xmlns:a="http://schemas.openxmlformats.org/drawingml/2006/main">
            <a:r>
              <a:t>total_error_cost stores five penalty units per missed positive plus one per false alarm in this scenario.</a:t>
            </a:r>
          </a:p>
          <a:p xmlns:a="http://schemas.openxmlformats.org/drawingml/2006/main">
            <a:r>
              <a:t/>
            </a:r>
          </a:p>
          <a:p xmlns:a="http://schemas.openxmlformats.org/drawingml/2006/main">
            <a:r>
              <a:t>print(round(precision, 4), round(recall, 4), total_error_cost)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0.75 0.75 6</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threshold at 0.5 labels probabilities at least 0.5 as positive. Do not treat existing 0/1 labels as original probability estimates. Threshold selection requires held-out probability validation_predictions.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representation demonstration. Do not use predicted labels as model input features to predict those same labels. A multiclass metric needs a stated policy for every class.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a:t>
            </a:r>
          </a:p>
          <a:p xmlns:a="http://schemas.openxmlformats.org/drawingml/2006/main">
            <a:r>
              <a:t>Read a chain from left to right. In equipment_data["target"].mean(), select the target Series first, then calculate its mean. Each step uses the previous step’s result.</a:t>
            </a:r>
          </a:p>
          <a:p xmlns:a="http://schemas.openxmlformats.org/drawingml/2006/main">
            <a:r>
              <a:t/>
            </a:r>
          </a:p>
          <a:p xmlns:a="http://schemas.openxmlformats.org/drawingml/2006/main">
            <a:r>
              <a:t>Category indicator columns</a:t>
            </a:r>
          </a:p>
          <a:p xmlns:a="http://schemas.openxmlformats.org/drawingml/2006/main">
            <a:r>
              <a:t>pd.get_dummies(column, prefix="class", dtype=int) creates a 0/1 column per category. prefix names the columns, such as class_0 and class_1. dtype=int displays integers.</a:t>
            </a:r>
          </a:p>
          <a:p xmlns:a="http://schemas.openxmlformats.org/drawingml/2006/main">
            <a:r>
              <a:t/>
            </a:r>
          </a:p>
          <a:p xmlns:a="http://schemas.openxmlformats.org/drawingml/2006/main">
            <a:r>
              <a:t>Returning plain values</a:t>
            </a:r>
          </a:p>
          <a:p xmlns:a="http://schemas.openxmlformats.org/drawingml/2006/main">
            <a:r>
              <a:t>series.tolist() or array.tolist() returns a Python list of values, without pandas row labels. Preserve their order when pairing actual values and validation_predictions.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 Read a chain from left to right. In equipment_data["target"].mean(), select the target Series first, then calculate its mean. Each step uses the previous step’s mean_load_by_equipment_group.</a:t>
            </a:r>
          </a:p>
          <a:p xmlns:a="http://schemas.openxmlformats.org/drawingml/2006/main">
            <a:r>
              <a:t/>
            </a:r>
          </a:p>
          <a:p xmlns:a="http://schemas.openxmlformats.org/drawingml/2006/main">
            <a:r>
              <a:t>Category indicator columns: pd.get_dummies(column, prefix="class", dtype=int) creates a 0/1 column per category. prefix names the columns, such as class_0 and class_1. dtype=int displays integers.</a:t>
            </a:r>
          </a:p>
          <a:p xmlns:a="http://schemas.openxmlformats.org/drawingml/2006/main">
            <a:r>
              <a:t/>
            </a:r>
          </a:p>
          <a:p xmlns:a="http://schemas.openxmlformats.org/drawingml/2006/main">
            <a:r>
              <a:t>Returning plain values: series.tolist() or array.tolist() returns a Python list of values, without pandas row labels. Preserve their order when pairing actual values and validation_predictions.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class_indicator_columns = pd.get_dummies(raw_data['predicted'], prefix='class', dtype=int)</a:t>
            </a:r>
          </a:p>
          <a:p xmlns:a="http://schemas.openxmlformats.org/drawingml/2006/main">
            <a:r>
              <a:t>class_indicator_columns stores one integer 0/1 column for each predicted class.</a:t>
            </a:r>
          </a:p>
          <a:p xmlns:a="http://schemas.openxmlformats.org/drawingml/2006/main">
            <a:r>
              <a:t/>
            </a:r>
          </a:p>
          <a:p xmlns:a="http://schemas.openxmlformats.org/drawingml/2006/main">
            <a:r>
              <a:t>print(class_indicator_columns.head())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actual_values = raw_data['actual'].tolist()</a:t>
            </a:r>
          </a:p>
          <a:p xmlns:a="http://schemas.openxmlformats.org/drawingml/2006/main">
            <a:r>
              <a:t>actual_values stores observed targets or labels in the order used for comparison.</a:t>
            </a:r>
          </a:p>
          <a:p xmlns:a="http://schemas.openxmlformats.org/drawingml/2006/main">
            <a:r>
              <a:t/>
            </a:r>
          </a:p>
          <a:p xmlns:a="http://schemas.openxmlformats.org/drawingml/2006/main">
            <a:r>
              <a:t>predicted_values = raw_data['predicted'].tolist()</a:t>
            </a:r>
          </a:p>
          <a:p xmlns:a="http://schemas.openxmlformats.org/drawingml/2006/main">
            <a:r>
              <a:t>predicted_values stores predictions aligned with those actual values.</a:t>
            </a:r>
          </a:p>
          <a:p xmlns:a="http://schemas.openxmlformats.org/drawingml/2006/main">
            <a:r>
              <a:t/>
            </a:r>
          </a:p>
          <a:p xmlns:a="http://schemas.openxmlformats.org/drawingml/2006/main">
            <a:r>
              <a:t>print(len(actual_values), len(predicted_values))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class_0  class_1</a:t>
            </a:r>
          </a:p>
          <a:p xmlns:a="http://schemas.openxmlformats.org/drawingml/2006/main">
            <a:r>
              <a:t>0        0        1</a:t>
            </a:r>
          </a:p>
          <a:p xmlns:a="http://schemas.openxmlformats.org/drawingml/2006/main">
            <a:r>
              <a:t>1        1        0</a:t>
            </a:r>
          </a:p>
          <a:p xmlns:a="http://schemas.openxmlformats.org/drawingml/2006/main">
            <a:r>
              <a:t>2        1        0</a:t>
            </a:r>
          </a:p>
          <a:p xmlns:a="http://schemas.openxmlformats.org/drawingml/2006/main">
            <a:r>
              <a:t>3        0        1</a:t>
            </a:r>
          </a:p>
          <a:p xmlns:a="http://schemas.openxmlformats.org/drawingml/2006/main">
            <a:r>
              <a:t>4        0        1</a:t>
            </a:r>
          </a:p>
          <a:p xmlns:a="http://schemas.openxmlformats.org/drawingml/2006/main">
            <a:r>
              <a:t>6 6</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a:t>
            </a:r>
          </a:p>
          <a:p xmlns:a="http://schemas.openxmlformats.org/drawingml/2006/main">
            <a:r>
              <a:t>Explanation to give</a:t>
            </a:r>
          </a:p>
          <a:p xmlns:a="http://schemas.openxmlformats.org/drawingml/2006/main">
            <a:r>
              <a:t>The warning labels and costs belong to this teaching scenario. Name what positive means before discussing benefit or harm.</a:t>
            </a:r>
          </a:p>
          <a:p xmlns:a="http://schemas.openxmlformats.org/drawingml/2006/main">
            <a:r>
              <a:t/>
            </a:r>
          </a:p>
          <a:p xmlns:a="http://schemas.openxmlformats.org/drawingml/2006/main">
            <a:r>
              <a:t>Worked illustration / lecturer answer</a:t>
            </a:r>
          </a:p>
          <a:p xmlns:a="http://schemas.openxmlformats.org/drawingml/2006/main">
            <a:r>
              <a:t>Compute the confusion counts from aligned actual/predicted labels, then apply the published cost weights. A false alarm and a missed warning can have different costs.</a:t>
            </a:r>
          </a:p>
          <a:p xmlns:a="http://schemas.openxmlformats.org/drawingml/2006/main">
            <a:r>
              <a:t/>
            </a:r>
          </a:p>
          <a:p xmlns:a="http://schemas.openxmlformats.org/drawingml/2006/main">
            <a:r>
              <a:t>Misconception to address</a:t>
            </a:r>
          </a:p>
          <a:p xmlns:a="http://schemas.openxmlformats.org/drawingml/2006/main">
            <a:r>
              <a:t>These illustrative costs are not approved operational thresholds. Claimed benefits need evaluation on relevant real observations before use in engineering decisions.</a:t>
            </a:r>
          </a:p>
          <a:p xmlns:a="http://schemas.openxmlformats.org/drawingml/2006/main">
            <a:r>
              <a:t/>
            </a:r>
          </a:p>
          <a:p xmlns:a="http://schemas.openxmlformats.org/drawingml/2006/main">
            <a:r>
              <a:t>On this slide</a:t>
            </a:r>
          </a:p>
          <a:p xmlns:a="http://schemas.openxmlformats.org/drawingml/2006/main">
            <a:r>
              <a:t>Use classification_case.csv.</a:t>
            </a:r>
          </a:p>
          <a:p xmlns:a="http://schemas.openxmlformats.org/drawingml/2006/main">
            <a:r>
              <a:t/>
            </a:r>
          </a:p>
          <a:p xmlns:a="http://schemas.openxmlformats.org/drawingml/2006/main">
            <a:r>
              <a:t>Positive means a synthetic warning condition.</a:t>
            </a:r>
          </a:p>
          <a:p xmlns:a="http://schemas.openxmlformats.org/drawingml/2006/main">
            <a:r>
              <a:t/>
            </a:r>
          </a:p>
          <a:p xmlns:a="http://schemas.openxmlformats.org/drawingml/2006/main">
            <a:r>
              <a:t>Compute the confusion matrix, precision, recall and total_error_cost.</a:t>
            </a:r>
          </a:p>
          <a:p xmlns:a="http://schemas.openxmlformats.org/drawingml/2006/main">
            <a:r>
              <a:t/>
            </a:r>
          </a:p>
          <a:p xmlns:a="http://schemas.openxmlformats.org/drawingml/2006/main">
            <a:r>
              <a:t>Explain the 5:1 missed-warning/false-alarm cost assumption and why accuracy alone is insufficient.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 continued</a:t>
            </a:r>
          </a:p>
          <a:p xmlns:a="http://schemas.openxmlformats.org/drawingml/2006/main">
            <a:r>
              <a:t>Explanation to give</a:t>
            </a:r>
          </a:p>
          <a:p xmlns:a="http://schemas.openxmlformats.org/drawingml/2006/main">
            <a:r>
              <a:t>The warning labels and costs belong to this teaching scenario. Name what positive means before discussing benefit or harm.</a:t>
            </a:r>
          </a:p>
          <a:p xmlns:a="http://schemas.openxmlformats.org/drawingml/2006/main">
            <a:r>
              <a:t/>
            </a:r>
          </a:p>
          <a:p xmlns:a="http://schemas.openxmlformats.org/drawingml/2006/main">
            <a:r>
              <a:t>Worked illustration / lecturer answer</a:t>
            </a:r>
          </a:p>
          <a:p xmlns:a="http://schemas.openxmlformats.org/drawingml/2006/main">
            <a:r>
              <a:t>Compute the confusion counts from aligned actual/predicted labels, then apply the published cost weights. A false alarm and a missed warning can have different costs.</a:t>
            </a:r>
          </a:p>
          <a:p xmlns:a="http://schemas.openxmlformats.org/drawingml/2006/main">
            <a:r>
              <a:t/>
            </a:r>
          </a:p>
          <a:p xmlns:a="http://schemas.openxmlformats.org/drawingml/2006/main">
            <a:r>
              <a:t>Misconception to address</a:t>
            </a:r>
          </a:p>
          <a:p xmlns:a="http://schemas.openxmlformats.org/drawingml/2006/main">
            <a:r>
              <a:t>These illustrative costs are not approved operational thresholds. Claimed benefits need evaluation on relevant real observations before use in engineering decisions.</a:t>
            </a:r>
          </a:p>
          <a:p xmlns:a="http://schemas.openxmlformats.org/drawingml/2006/main">
            <a:r>
              <a:t/>
            </a:r>
          </a:p>
          <a:p xmlns:a="http://schemas.openxmlformats.org/drawingml/2006/main">
            <a:r>
              <a:t>On this slide</a:t>
            </a:r>
          </a:p>
          <a:p xmlns:a="http://schemas.openxmlformats.org/drawingml/2006/main">
            <a:r>
              <a:t>These costs are teaching assumptions, not approved operating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classification_metrics(actual, predicted)</a:t>
            </a:r>
          </a:p>
          <a:p xmlns:a="http://schemas.openxmlformats.org/drawingml/2006/main">
            <a:r>
              <a:t/>
            </a:r>
          </a:p>
          <a:p xmlns:a="http://schemas.openxmlformats.org/drawingml/2006/main">
            <a:r>
              <a:t>Return dictionary keys tp, tn, fp, fn, precision, recall and cost.</a:t>
            </a:r>
          </a:p>
          <a:p xmlns:a="http://schemas.openxmlformats.org/drawingml/2006/main">
            <a:r>
              <a:t/>
            </a:r>
          </a:p>
          <a:p xmlns:a="http://schemas.openxmlformats.org/drawingml/2006/main">
            <a:r>
              <a:t>tp = true positives; tn = true negatives; fp = false positives; fn = false negatives.</a:t>
            </a:r>
          </a:p>
          <a:p xmlns:a="http://schemas.openxmlformats.org/drawingml/2006/main">
            <a:r>
              <a:t/>
            </a:r>
          </a:p>
          <a:p xmlns:a="http://schemas.openxmlformats.org/drawingml/2006/main">
            <a:r>
              <a:t>cost = 5 * fn + fp. Return zero when a precision or recall denominator is zero.</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Written evidence</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Classification and cost submission</a:t>
            </a:r>
          </a:p>
          <a:p xmlns:a="http://schemas.openxmlformats.org/drawingml/2006/main">
            <a:r>
              <a:t>Explanation to give</a:t>
            </a:r>
          </a:p>
          <a:p xmlns:a="http://schemas.openxmlformats.org/drawingml/2006/main">
            <a:r>
              <a:t>This slide hands over CML3111 W09.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2026-11-13T11:00:00+03:00.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06 Nov 2026, 11:00 Kampala</a:t>
            </a:r>
          </a:p>
          <a:p xmlns:a="http://schemas.openxmlformats.org/drawingml/2006/main">
            <a:r>
              <a:t/>
            </a:r>
          </a:p>
          <a:p xmlns:a="http://schemas.openxmlformats.org/drawingml/2006/main">
            <a:r>
              <a:t>Deadline: 13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9 quiz</a:t>
            </a:r>
          </a:p>
          <a:p xmlns:a="http://schemas.openxmlformats.org/drawingml/2006/main">
            <a:r>
              <a:t>Explanation to give</a:t>
            </a:r>
          </a:p>
          <a:p xmlns:a="http://schemas.openxmlformats.org/drawingml/2006/main">
            <a:r>
              <a:t>This is the CML3111 Week 9 quiz. The student link opens the response form; it does not activate its window. In Quiz Controls use open_W9_CML3111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Move from a numerical prediction to a category decision. Name the positive class before counting correct warnings, false alarms and missed warnings.</a:t>
            </a:r>
          </a:p>
          <a:p xmlns:a="http://schemas.openxmlformats.org/drawingml/2006/main">
            <a:r>
              <a:t/>
            </a:r>
          </a:p>
          <a:p xmlns:a="http://schemas.openxmlformats.org/drawingml/2006/main">
            <a:r>
              <a:t>Worked illustration / lecturer answer</a:t>
            </a:r>
          </a:p>
          <a:p xmlns:a="http://schemas.openxmlformats.org/drawingml/2006/main">
            <a:r>
              <a:t>Actual 1 with predicted 0 is a false negative. If 1 means warning, this is a missed warning, not merely a wrong number.</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identify a false negative and explain precision and recall with counts.</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Explanation to give</a:t>
            </a:r>
          </a:p>
          <a:p xmlns:a="http://schemas.openxmlformats.org/drawingml/2006/main">
            <a:r>
              <a:t>Give the viewing question before playing the excerpt: Which observations are correctly or incorrectly classified?</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The Confusion Matrix</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Which observations are correctly or incorrectly classified?</a:t>
            </a:r>
          </a:p>
          <a:p xmlns:a="http://schemas.openxmlformats.org/drawingml/2006/main">
            <a:r>
              <a:t/>
            </a:r>
          </a:p>
          <a:p xmlns:a="http://schemas.openxmlformats.org/drawingml/2006/main">
            <a:r>
              <a:t>Reference / existing resource</a:t>
            </a:r>
          </a:p>
          <a:p xmlns:a="http://schemas.openxmlformats.org/drawingml/2006/main">
            <a:r>
              <a:t>https://www.youtube.com/watch?v=Kdsp6soqA7o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5bf0455a71e46b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4a0db4af3b140b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d9925845a44cd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2846005ea944a6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602c38e73a7480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81b45708bd249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C999CE-9D21-4499-9D7B-C8B32EF87DD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8D29531-BD44-47F4-99DA-5AE86011E45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508A361-0330-4DE3-A646-A0DB4CF238A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AC91AC-E9EB-49B1-85ED-BF86123DECD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D1761A0-C302-4FBD-A990-4AEA3145A62A}"/>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7AE51DD-0DD8-4D1F-BA22-C42AD712D0B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74AB9B5-63FE-4948-A6AB-78AA48D53EC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56D8670-7473-4FE9-B7B0-7C4EBBB9C48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BEB1994-6265-4165-8DA1-947CE766ED2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2216C80-0496-45F4-B798-B5DB42831A4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9183c31e01d4d14" /><Relationship Type="http://schemas.openxmlformats.org/officeDocument/2006/relationships/slideLayout" Target="/ppt/slideLayouts/slideLayout1.xml" Id="R18e8dfc893fc41ae" /><Relationship Type="http://schemas.openxmlformats.org/officeDocument/2006/relationships/slideLayout" Target="/ppt/slideLayouts/slideLayout2.xml" Id="R18fd8c9d99e94fc1" /><Relationship Type="http://schemas.openxmlformats.org/officeDocument/2006/relationships/slideLayout" Target="/ppt/slideLayouts/slideLayout3.xml" Id="R9f77f51880b64d6c" /><Relationship Type="http://schemas.openxmlformats.org/officeDocument/2006/relationships/slideLayout" Target="/ppt/slideLayouts/slideLayout4.xml" Id="R44193cc0c09f4208" /><Relationship Type="http://schemas.openxmlformats.org/officeDocument/2006/relationships/slideLayout" Target="/ppt/slideLayouts/slideLayout5.xml" Id="R1abb45e09f784a9e" /><Relationship Type="http://schemas.openxmlformats.org/officeDocument/2006/relationships/slideLayout" Target="/ppt/slideLayouts/slideLayout6.xml" Id="Re0d9e369065043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8e8dfc893fc41ae"/>
    <p:sldLayoutId xmlns:r="http://schemas.openxmlformats.org/officeDocument/2006/relationships" id="2147483650" r:id="R18fd8c9d99e94fc1"/>
    <p:sldLayoutId xmlns:r="http://schemas.openxmlformats.org/officeDocument/2006/relationships" id="2147483651" r:id="R9f77f51880b64d6c"/>
    <p:sldLayoutId xmlns:r="http://schemas.openxmlformats.org/officeDocument/2006/relationships" id="2147483652" r:id="R44193cc0c09f4208"/>
    <p:sldLayoutId xmlns:r="http://schemas.openxmlformats.org/officeDocument/2006/relationships" id="2147483653" r:id="R1abb45e09f784a9e"/>
    <p:sldLayoutId xmlns:r="http://schemas.openxmlformats.org/officeDocument/2006/relationships" id="2147483654" r:id="Re0d9e369065043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03979ae5eb9422c" /><Relationship Type="http://schemas.openxmlformats.org/officeDocument/2006/relationships/image" Target="/ppt/media/image.png" Id="Rfa466194d3ba43dd" /><Relationship Type="http://schemas.openxmlformats.org/officeDocument/2006/relationships/notesSlide" Target="/ppt/notesSlides/notesSlide1.xml" Id="Rc4ecb4e73b7244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15f93f190be4576" /><Relationship Type="http://schemas.openxmlformats.org/officeDocument/2006/relationships/notesSlide" Target="/ppt/notesSlides/notesSlide2.xml" Id="R0d6732d8fe104b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38b9d35cb9448a6" /><Relationship Type="http://schemas.openxmlformats.org/officeDocument/2006/relationships/notesSlide" Target="/ppt/notesSlides/notesSlide3.xml" Id="R4b5c937aea67445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1697f67a3704745" /><Relationship Type="http://schemas.openxmlformats.org/officeDocument/2006/relationships/notesSlide" Target="/ppt/notesSlides/notesSlide4.xml" Id="Re83232f826bb44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a94e58233b3451b" /><Relationship Type="http://schemas.openxmlformats.org/officeDocument/2006/relationships/notesSlide" Target="/ppt/notesSlides/notesSlide5.xml" Id="R78ffcec8c5e24e1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7c2e424d6a247a7" /><Relationship Type="http://schemas.openxmlformats.org/officeDocument/2006/relationships/notesSlide" Target="/ppt/notesSlides/notesSlide6.xml" Id="Rcd11d026452048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4388039053e4a4e" /><Relationship Type="http://schemas.openxmlformats.org/officeDocument/2006/relationships/notesSlide" Target="/ppt/notesSlides/notesSlide7.xml" Id="Rdf2772b8c37c4f2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19e9f78e76c4910" /><Relationship Type="http://schemas.openxmlformats.org/officeDocument/2006/relationships/image" Target="/ppt/media/image2.png" Id="R620e3af5711344ac" /><Relationship Type="http://schemas.openxmlformats.org/officeDocument/2006/relationships/notesSlide" Target="/ppt/notesSlides/notesSlide8.xml" Id="R5dacd139ea3d43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e067c6f94cd4bab" /><Relationship Type="http://schemas.openxmlformats.org/officeDocument/2006/relationships/notesSlide" Target="/ppt/notesSlides/notesSlide9.xml" Id="R76605183dffc4e7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69734ca47d84c44" /><Relationship Type="http://schemas.openxmlformats.org/officeDocument/2006/relationships/notesSlide" Target="/ppt/notesSlides/notesSlide10.xml" Id="R33c7e840ff334c0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0f18a37a8364c89" /><Relationship Type="http://schemas.openxmlformats.org/officeDocument/2006/relationships/notesSlide" Target="/ppt/notesSlides/notesSlide11.xml" Id="Rfef6f5a3cdb84ec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7199a4e182c4022" /><Relationship Type="http://schemas.openxmlformats.org/officeDocument/2006/relationships/notesSlide" Target="/ppt/notesSlides/notesSlide12.xml" Id="R87b310496b93454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a64e48406c84914" /><Relationship Type="http://schemas.openxmlformats.org/officeDocument/2006/relationships/notesSlide" Target="/ppt/notesSlides/notesSlide13.xml" Id="Rf6345e7048014d7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1e82ae04a0a4ec8" /><Relationship Type="http://schemas.openxmlformats.org/officeDocument/2006/relationships/notesSlide" Target="/ppt/notesSlides/notesSlide14.xml" Id="R0dbbd6616eaa4fc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786e1a0c5e5467b" /><Relationship Type="http://schemas.openxmlformats.org/officeDocument/2006/relationships/notesSlide" Target="/ppt/notesSlides/notesSlide15.xml" Id="Re9a9586fa2ea488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58661851a79463e" /><Relationship Type="http://schemas.openxmlformats.org/officeDocument/2006/relationships/notesSlide" Target="/ppt/notesSlides/notesSlide16.xml" Id="R91ec0091c48f42d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70a5d472d244635" /><Relationship Type="http://schemas.openxmlformats.org/officeDocument/2006/relationships/notesSlide" Target="/ppt/notesSlides/notesSlide17.xml" Id="Rd50bb9f65b7e481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27aa8f80d9d4cc0" /><Relationship Type="http://schemas.openxmlformats.org/officeDocument/2006/relationships/notesSlide" Target="/ppt/notesSlides/notesSlide18.xml" Id="R51e0c7e60d644ac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34e8a6d85004c1f" /><Relationship Type="http://schemas.openxmlformats.org/officeDocument/2006/relationships/notesSlide" Target="/ppt/notesSlides/notesSlide19.xml" Id="R78aaec8923f649b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6f88f23c8c04dbe" /><Relationship Type="http://schemas.openxmlformats.org/officeDocument/2006/relationships/notesSlide" Target="/ppt/notesSlides/notesSlide20.xml" Id="R55f64bd0d2d4438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2a8a1ab2527460c" /><Relationship Type="http://schemas.openxmlformats.org/officeDocument/2006/relationships/notesSlide" Target="/ppt/notesSlides/notesSlide21.xml" Id="Rb61177c198ab43b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9eb276dcc7e436d" /><Relationship Type="http://schemas.openxmlformats.org/officeDocument/2006/relationships/notesSlide" Target="/ppt/notesSlides/notesSlide22.xml" Id="R50062d408a3043e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d5cf641d7f54e87" /><Relationship Type="http://schemas.openxmlformats.org/officeDocument/2006/relationships/notesSlide" Target="/ppt/notesSlides/notesSlide23.xml" Id="R8aec85e5609849f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094884a30e84ed8" /><Relationship Type="http://schemas.openxmlformats.org/officeDocument/2006/relationships/notesSlide" Target="/ppt/notesSlides/notesSlide24.xml" Id="R76d12fca2a694a7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ae0a691bafa4576" /><Relationship Type="http://schemas.openxmlformats.org/officeDocument/2006/relationships/notesSlide" Target="/ppt/notesSlides/notesSlide25.xml" Id="Ra66318a5d95a4ce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f4a3f682f534aee" /><Relationship Type="http://schemas.openxmlformats.org/officeDocument/2006/relationships/notesSlide" Target="/ppt/notesSlides/notesSlide26.xml" Id="Rc3a31b165fc7460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120036d3aff4dfd" /><Relationship Type="http://schemas.openxmlformats.org/officeDocument/2006/relationships/notesSlide" Target="/ppt/notesSlides/notesSlide27.xml" Id="R58ee02e724cc4e7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bcca42a7e714f95" /><Relationship Type="http://schemas.openxmlformats.org/officeDocument/2006/relationships/notesSlide" Target="/ppt/notesSlides/notesSlide28.xml" Id="Rcd249e6418ae4ee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97d811f22534608" /><Relationship Type="http://schemas.openxmlformats.org/officeDocument/2006/relationships/notesSlide" Target="/ppt/notesSlides/notesSlide29.xml" Id="R1068d23587af46f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563b879d4aa46db" /><Relationship Type="http://schemas.openxmlformats.org/officeDocument/2006/relationships/notesSlide" Target="/ppt/notesSlides/notesSlide30.xml" Id="R37889c4aef564f3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41b9665d824414e" /><Relationship Type="http://schemas.openxmlformats.org/officeDocument/2006/relationships/notesSlide" Target="/ppt/notesSlides/notesSlide31.xml" Id="Rdda8fb002e5e4d3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5fbb31fc969451a" /><Relationship Type="http://schemas.openxmlformats.org/officeDocument/2006/relationships/notesSlide" Target="/ppt/notesSlides/notesSlide32.xml" Id="Rb0474e0fa25b479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ec1a64b8cd0449f" /><Relationship Type="http://schemas.openxmlformats.org/officeDocument/2006/relationships/notesSlide" Target="/ppt/notesSlides/notesSlide33.xml" Id="R87e0af16391748d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cb5fd19820b47a2" /><Relationship Type="http://schemas.openxmlformats.org/officeDocument/2006/relationships/notesSlide" Target="/ppt/notesSlides/notesSlide34.xml" Id="R70a50b9ca1fc493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65fba42e0254c6b" /><Relationship Type="http://schemas.openxmlformats.org/officeDocument/2006/relationships/notesSlide" Target="/ppt/notesSlides/notesSlide35.xml" Id="R07e3a674b538455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6ecd11b7c654de7" /><Relationship Type="http://schemas.openxmlformats.org/officeDocument/2006/relationships/notesSlide" Target="/ppt/notesSlides/notesSlide36.xml" Id="Rc039a7fd484c476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914115b613944a3" /><Relationship Type="http://schemas.openxmlformats.org/officeDocument/2006/relationships/notesSlide" Target="/ppt/notesSlides/notesSlide37.xml" Id="R4b52636cb52a4a4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b59ae85a816406c" /><Relationship Type="http://schemas.openxmlformats.org/officeDocument/2006/relationships/notesSlide" Target="/ppt/notesSlides/notesSlide38.xml" Id="R9c1bfb330dec4db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9bccd92f05f43e1" /><Relationship Type="http://schemas.openxmlformats.org/officeDocument/2006/relationships/hyperlink" Target="https://docs.google.com/forms/d/e/1FAIpQLSfelPFlgqIQS1vM0QDthocg7aIU_WLXNjL4g1DdZAJyKcm9eA/viewform" TargetMode="External" Id="R544a12a5e2954519" /><Relationship Type="http://schemas.openxmlformats.org/officeDocument/2006/relationships/notesSlide" Target="/ppt/notesSlides/notesSlide39.xml" Id="R32080cb67575417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4843b941dd9f430b" /><Relationship Type="http://schemas.openxmlformats.org/officeDocument/2006/relationships/image" Target="/ppt/media/image3.png" Id="R42cc9d8254cf47d9" /><Relationship Type="http://schemas.openxmlformats.org/officeDocument/2006/relationships/hyperlink" Target="https://forms.gle/U2h5A1itpmZZTogm6" TargetMode="External" Id="Rd5412a23906a4539" /><Relationship Type="http://schemas.openxmlformats.org/officeDocument/2006/relationships/notesSlide" Target="/ppt/notesSlides/notesSlide40.xml" Id="Rfc0ecf9fc0e2488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6e273f621e8452c" /><Relationship Type="http://schemas.openxmlformats.org/officeDocument/2006/relationships/notesSlide" Target="/ppt/notesSlides/notesSlide41.xml" Id="R67e340c75e4a4b7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471fd1949e9441d2" /><Relationship Type="http://schemas.openxmlformats.org/officeDocument/2006/relationships/hyperlink" Target="https://www.youtube.com/watch?v=Kdsp6soqA7o" TargetMode="External" Id="R1e84c1b68e0a4f2e" /><Relationship Type="http://schemas.openxmlformats.org/officeDocument/2006/relationships/notesSlide" Target="/ppt/notesSlides/notesSlide42.xml" Id="R5c4a39d283174af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30EEAE2-2DAA-458A-96AB-4D07FBD919AF}"/>
              </a:ext>
            </a:extLst>
          </p:cNvPr>
          <p:cNvPicPr>
            <a:picLocks xmlns:a="http://schemas.openxmlformats.org/drawingml/2006/main" noChangeAspect="1"/>
          </p:cNvPicPr>
          <p:nvPr/>
        </p:nvPicPr>
        <p:blipFill>
          <a:blip xmlns:r="http://schemas.openxmlformats.org/officeDocument/2006/relationships" xmlns:a="http://schemas.openxmlformats.org/drawingml/2006/main" r:embed="Rfa466194d3ba43d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A885DA8-248B-4B27-AC9E-95D3F78D696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D802ABA-3379-495E-8437-A3FE52320BD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9</a:t>
            </a:r>
          </a:p>
        </p:txBody>
      </p:sp>
      <p:sp>
        <p:nvSpPr>
          <p:cNvPr id="4" name="">
            <a:extLst xmlns:a="http://schemas.openxmlformats.org/drawingml/2006/main">
              <a:ext uri="{FF2B5EF4-FFF2-40B4-BE49-F238E27FC236}">
                <a16:creationId xmlns:a16="http://schemas.microsoft.com/office/drawing/2014/main" id="{E77AC8E0-3B2F-46A9-B91A-E4C807CD6ED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977704D3-0C99-41EC-99E2-A6CA69E92FC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8146F9F8-37A0-4F71-82A9-ED7A1CDFC8F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9678677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CA9E25-AD27-4E94-AA49-3E0B26722A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164132-F3DE-48C7-B109-C287A72403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2EC58A-C21C-43C5-9E89-AD40EA5152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E3AA14A-3F73-4179-A4D0-E3B6EC48BE7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86D2C9-EECF-46AA-AE71-4F28FCAA292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B69872F-09BC-4A01-B01F-A76E5627F03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tables for this week’s data work. Explain the decisions and check the outputs.</a:t>
            </a:r>
          </a:p>
        </p:txBody>
      </p:sp>
      <p:sp>
        <p:nvSpPr>
          <p:cNvPr id="7" name="">
            <a:extLst xmlns:a="http://schemas.openxmlformats.org/drawingml/2006/main">
              <a:ext uri="{FF2B5EF4-FFF2-40B4-BE49-F238E27FC236}">
                <a16:creationId xmlns:a16="http://schemas.microsoft.com/office/drawing/2014/main" id="{8FF37007-B1E9-46A7-86F1-420844E533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Complete the issued function interfaces and written evidence using the demonstrated workflow.</a:t>
            </a:r>
          </a:p>
        </p:txBody>
      </p:sp>
      <p:sp>
        <p:nvSpPr>
          <p:cNvPr id="8" name="">
            <a:extLst xmlns:a="http://schemas.openxmlformats.org/drawingml/2006/main">
              <a:ext uri="{FF2B5EF4-FFF2-40B4-BE49-F238E27FC236}">
                <a16:creationId xmlns:a16="http://schemas.microsoft.com/office/drawing/2014/main" id="{498EF619-7D6B-4F09-938A-D95B6551E6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a:t>
            </a:r>
          </a:p>
        </p:txBody>
      </p:sp>
    </p:spTree>
    <p:extLst>
      <p:ext uri="{BB962C8B-B14F-4D97-AF65-F5344CB8AC3E}">
        <p14:creationId xmlns:p14="http://schemas.microsoft.com/office/powerpoint/2010/main" val="123880476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8B5570-5AEF-46C5-A314-D592460E86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22861D-19D1-4A75-915F-6BF987829E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D282D3-82D5-420E-AEBA-E0F3E833A3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7ABFE799-DB80-4B9B-AC71-B8B3F5F4668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FD5049-2D2A-40DD-BA0C-3907BFD34C4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13D85C-D7B2-4AB2-B361-387061D8756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classification_case.csv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352C3FB2-9F9B-4047-8395-69AC5A22CD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ECD58013-DE02-4C31-A294-5248513411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a:t>
            </a:r>
          </a:p>
        </p:txBody>
      </p:sp>
    </p:spTree>
    <p:extLst>
      <p:ext uri="{BB962C8B-B14F-4D97-AF65-F5344CB8AC3E}">
        <p14:creationId xmlns:p14="http://schemas.microsoft.com/office/powerpoint/2010/main" val="81971688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6E7A9F-A43A-408A-96A8-50D3DFE46A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68EE06-5177-444E-9E12-DB752B5303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1ADC8E-42CB-49E1-93FE-E4AF7AA48C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67F5EBC-AB42-40E4-9B12-3FA596F42B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6BD4AE-2D47-4F44-A6B5-BCB12C2DEFA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5B9BA8B1-6AE6-4BD8-8E0D-3829D35EE31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CF487C3-3F0F-4BCB-B374-EB420F1CC7E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34153727-4566-43F6-BC06-7AF59BF875A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73E212-4365-4FB7-B45C-55C6E43C85A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F51A3035-C80B-4E35-A159-A67BF71F30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a:t>
            </a:r>
          </a:p>
        </p:txBody>
      </p:sp>
    </p:spTree>
    <p:extLst>
      <p:ext uri="{BB962C8B-B14F-4D97-AF65-F5344CB8AC3E}">
        <p14:creationId xmlns:p14="http://schemas.microsoft.com/office/powerpoint/2010/main" val="6934056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A54693-9F50-4F5E-9651-80145CF5D3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2EDF16-091F-4F0E-A86A-C762CCE1ED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31EC08-F12E-4887-8213-C8E99A1C87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EB3D598-DE09-4433-AEB6-7DAC9270117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E79AA8-1FDC-4B91-8A6F-BC0F2628BE5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448FE0F-F4BF-47B3-8E14-9F39E52E379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57AA6B39-97D7-46FC-8933-1575CE00C06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EB187707-17AF-4261-A537-504E12134F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5</a:t>
            </a:r>
          </a:p>
        </p:txBody>
      </p:sp>
    </p:spTree>
    <p:extLst>
      <p:ext uri="{BB962C8B-B14F-4D97-AF65-F5344CB8AC3E}">
        <p14:creationId xmlns:p14="http://schemas.microsoft.com/office/powerpoint/2010/main" val="196948168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BC11B5-8E6D-45C4-BA05-10D057857A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362723-6B5C-420E-AEEC-E00F2919BD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775B42-C86D-4E6C-9A6C-41E3F33E28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9BE7E059-3489-4DF4-AEFE-08403705D86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B2982D-3F0B-4EB4-991F-8B7DC673B088}"/>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83A2600D-E858-4016-B77D-B0A8752886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6</a:t>
            </a:r>
          </a:p>
        </p:txBody>
      </p:sp>
    </p:spTree>
    <p:extLst>
      <p:ext uri="{BB962C8B-B14F-4D97-AF65-F5344CB8AC3E}">
        <p14:creationId xmlns:p14="http://schemas.microsoft.com/office/powerpoint/2010/main" val="8040335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6DA4BF-5182-466D-A1D9-6228D690E8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7198AC-6AFF-4262-BFB3-A61ADA6A82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8D2097-F021-4BDE-80EA-87B23858B1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8631D211-8698-4567-B43A-FC2AEE481B7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BC06EB-8183-4A85-9D22-333F3D13F87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pd.read_csv("class</a:t>
            </a: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ication_case.csv")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CAAD9D8A-638B-42EA-B946-AAC711A536E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FA69BD10-170D-4B42-B494-B39D86FD59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5F8500F-BEB0-4F7C-85BD-F0118BB5D7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7</a:t>
            </a:r>
          </a:p>
        </p:txBody>
      </p:sp>
    </p:spTree>
    <p:extLst>
      <p:ext uri="{BB962C8B-B14F-4D97-AF65-F5344CB8AC3E}">
        <p14:creationId xmlns:p14="http://schemas.microsoft.com/office/powerpoint/2010/main" val="144931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0104F3C-55D3-428B-8A0F-A8B680C28F0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D9DEAF-1E56-443D-923B-43E13D6D637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3" name="">
            <a:extLst xmlns:a="http://schemas.openxmlformats.org/drawingml/2006/main">
              <a:ext uri="{FF2B5EF4-FFF2-40B4-BE49-F238E27FC236}">
                <a16:creationId xmlns:a16="http://schemas.microsoft.com/office/drawing/2014/main" id="{BDC05966-566A-495F-82E4-9799B613B254}"/>
              </a:ext>
            </a:extLst>
          </p:cNvPr>
          <p:cNvPicPr>
            <a:picLocks xmlns:a="http://schemas.openxmlformats.org/drawingml/2006/main" noChangeAspect="1"/>
          </p:cNvPicPr>
          <p:nvPr/>
        </p:nvPicPr>
        <p:blipFill>
          <a:blip xmlns:r="http://schemas.openxmlformats.org/officeDocument/2006/relationships" xmlns:a="http://schemas.openxmlformats.org/drawingml/2006/main" r:embed="R620e3af5711344ac"/>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1986E07-9B8C-4F5C-A7B8-C19028B6D67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4F1672-6852-49FA-92DC-591D30D3132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predicted_values. Explain the missed warning.</a:t>
            </a:r>
          </a:p>
        </p:txBody>
      </p:sp>
      <p:sp>
        <p:nvSpPr>
          <p:cNvPr id="6" name="">
            <a:extLst xmlns:a="http://schemas.openxmlformats.org/drawingml/2006/main">
              <a:ext uri="{FF2B5EF4-FFF2-40B4-BE49-F238E27FC236}">
                <a16:creationId xmlns:a16="http://schemas.microsoft.com/office/drawing/2014/main" id="{1E7C7EB5-503F-406D-9195-E74D2BA9FB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8</a:t>
            </a:r>
          </a:p>
        </p:txBody>
      </p:sp>
    </p:spTree>
    <p:extLst>
      <p:ext uri="{BB962C8B-B14F-4D97-AF65-F5344CB8AC3E}">
        <p14:creationId xmlns:p14="http://schemas.microsoft.com/office/powerpoint/2010/main" val="107819593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E9CF5F5-1E9D-48CE-9640-3A991EF765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A9A682-96DE-4D83-ABB1-4545E61AFE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9762B1-259E-4F23-8500-04CA986DB8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the supplied paired labels</a:t>
            </a:r>
          </a:p>
        </p:txBody>
      </p:sp>
      <p:sp>
        <p:nvSpPr>
          <p:cNvPr id="4" name="">
            <a:extLst xmlns:a="http://schemas.openxmlformats.org/drawingml/2006/main">
              <a:ext uri="{FF2B5EF4-FFF2-40B4-BE49-F238E27FC236}">
                <a16:creationId xmlns:a16="http://schemas.microsoft.com/office/drawing/2014/main" id="{B5423C60-9813-4203-8EF1-6AFFD016798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C5CA33-9835-4657-8F81-B7C77140B9C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14A412F-403C-4973-A052-C6B57568A0E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 holds the reference label. predicted holds the model decision. In this file, 1 means warning and 0 means no warning.</a:t>
            </a:r>
          </a:p>
        </p:txBody>
      </p:sp>
      <p:sp>
        <p:nvSpPr>
          <p:cNvPr id="7" name="">
            <a:extLst xmlns:a="http://schemas.openxmlformats.org/drawingml/2006/main">
              <a:ext uri="{FF2B5EF4-FFF2-40B4-BE49-F238E27FC236}">
                <a16:creationId xmlns:a16="http://schemas.microsoft.com/office/drawing/2014/main" id="{3B82A458-BD02-484B-B2A8-45B75F98EB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compares values. &amp; requires both conditions for each row. Parenthesise each comparison. sum counts the True validation_results.</a:t>
            </a:r>
          </a:p>
        </p:txBody>
      </p:sp>
      <p:sp>
        <p:nvSpPr>
          <p:cNvPr id="8" name="">
            <a:extLst xmlns:a="http://schemas.openxmlformats.org/drawingml/2006/main">
              <a:ext uri="{FF2B5EF4-FFF2-40B4-BE49-F238E27FC236}">
                <a16:creationId xmlns:a16="http://schemas.microsoft.com/office/drawing/2014/main" id="{A42BE576-5A2A-4296-A604-2F7E4A3F04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9</a:t>
            </a:r>
          </a:p>
        </p:txBody>
      </p:sp>
    </p:spTree>
    <p:extLst>
      <p:ext uri="{BB962C8B-B14F-4D97-AF65-F5344CB8AC3E}">
        <p14:creationId xmlns:p14="http://schemas.microsoft.com/office/powerpoint/2010/main" val="206391999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D2B722-607A-4A9F-A08A-7634266239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9F2D67-A24B-4B35-B6E7-16BF527156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93056E3-DA2F-4D92-8626-16C73D8E6E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DD251FC-22F4-42B8-8E03-6700B24EE1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CA0D04-67F0-4104-B4AB-6467BD36D31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D129C347-F1FD-4038-87CA-7D0FFA42DC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19AF20-98D2-4254-94FE-7A0710AFE7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029A55C-D9EC-4496-8C02-D77E12D1749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966E899-A31C-416B-96A8-BE3FAFEBC6D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10" name="">
            <a:extLst xmlns:a="http://schemas.openxmlformats.org/drawingml/2006/main">
              <a:ext uri="{FF2B5EF4-FFF2-40B4-BE49-F238E27FC236}">
                <a16:creationId xmlns:a16="http://schemas.microsoft.com/office/drawing/2014/main" id="{F87B5286-478E-4FF6-9669-5A9A704B27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10</a:t>
            </a:r>
          </a:p>
        </p:txBody>
      </p:sp>
    </p:spTree>
    <p:extLst>
      <p:ext uri="{BB962C8B-B14F-4D97-AF65-F5344CB8AC3E}">
        <p14:creationId xmlns:p14="http://schemas.microsoft.com/office/powerpoint/2010/main" val="107059380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8A56A73-BAC1-4DA2-8958-314D538ECC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A0FCC5-5F7D-4F3F-8330-66F6222B2E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4D84F5-6311-40C1-802C-94802153C1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rows with a mask</a:t>
            </a:r>
          </a:p>
        </p:txBody>
      </p:sp>
      <p:sp>
        <p:nvSpPr>
          <p:cNvPr id="4" name="">
            <a:extLst xmlns:a="http://schemas.openxmlformats.org/drawingml/2006/main">
              <a:ext uri="{FF2B5EF4-FFF2-40B4-BE49-F238E27FC236}">
                <a16:creationId xmlns:a16="http://schemas.microsoft.com/office/drawing/2014/main" id="{F93EAB33-4397-4369-904F-23216103D80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7B0A06-0891-47FA-9578-8AC5353EFF7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column comparison produces one True or False per row. table[mask] keeps the True rows. &amp; combines masks: both conditions must hold. Parenthesise each comparison.</a:t>
            </a:r>
          </a:p>
        </p:txBody>
      </p:sp>
      <p:sp>
        <p:nvSpPr>
          <p:cNvPr id="6" name="">
            <a:extLst xmlns:a="http://schemas.openxmlformats.org/drawingml/2006/main">
              <a:ext uri="{FF2B5EF4-FFF2-40B4-BE49-F238E27FC236}">
                <a16:creationId xmlns:a16="http://schemas.microsoft.com/office/drawing/2014/main" id="{3CDA48B9-07A4-4B10-BF57-24328571D9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11</a:t>
            </a:r>
          </a:p>
        </p:txBody>
      </p:sp>
    </p:spTree>
    <p:extLst>
      <p:ext uri="{BB962C8B-B14F-4D97-AF65-F5344CB8AC3E}">
        <p14:creationId xmlns:p14="http://schemas.microsoft.com/office/powerpoint/2010/main" val="41242898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BA9D9FF-133C-4B9C-8EC0-683D3CFB1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254A05-6E57-4628-AED9-92C16BE35A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CFB0F8-2DFA-42C6-B1B9-316D501A28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observations and decisions paired</a:t>
            </a:r>
          </a:p>
        </p:txBody>
      </p:sp>
      <p:sp>
        <p:nvSpPr>
          <p:cNvPr id="4" name="">
            <a:extLst xmlns:a="http://schemas.openxmlformats.org/drawingml/2006/main">
              <a:ext uri="{FF2B5EF4-FFF2-40B4-BE49-F238E27FC236}">
                <a16:creationId xmlns:a16="http://schemas.microsoft.com/office/drawing/2014/main" id="{3BD99EFB-B88E-434B-823F-DE6C75A8C13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F80FCF-67C4-40EF-972C-F6394AD5DFB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contains the recorded class; predicted contains the model’s decision for the same row.</a:t>
            </a:r>
          </a:p>
        </p:txBody>
      </p:sp>
      <p:sp>
        <p:nvSpPr>
          <p:cNvPr id="6" name="">
            <a:extLst xmlns:a="http://schemas.openxmlformats.org/drawingml/2006/main">
              <a:ext uri="{FF2B5EF4-FFF2-40B4-BE49-F238E27FC236}">
                <a16:creationId xmlns:a16="http://schemas.microsoft.com/office/drawing/2014/main" id="{C7C21138-8220-4F48-9FDC-1679128A6AD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1 means positive and 0 negative.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already-issued decisions; this exercise does not train a classifier.</a:t>
            </a:r>
          </a:p>
        </p:txBody>
      </p:sp>
      <p:sp>
        <p:nvSpPr>
          <p:cNvPr id="7" name="">
            <a:extLst xmlns:a="http://schemas.openxmlformats.org/drawingml/2006/main">
              <a:ext uri="{FF2B5EF4-FFF2-40B4-BE49-F238E27FC236}">
                <a16:creationId xmlns:a16="http://schemas.microsoft.com/office/drawing/2014/main" id="{E37B1BA2-E562-4AAE-A3A0-6AA700D044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12</a:t>
            </a:r>
          </a:p>
        </p:txBody>
      </p:sp>
    </p:spTree>
    <p:extLst>
      <p:ext uri="{BB962C8B-B14F-4D97-AF65-F5344CB8AC3E}">
        <p14:creationId xmlns:p14="http://schemas.microsoft.com/office/powerpoint/2010/main" val="826035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B172CF2-1079-4834-B6C5-E07B09AA9D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3F7E77-53E0-4591-B755-E95B0575E9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96CC69-2E5A-452B-B33E-22382EABB2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1</a:t>
            </a:r>
          </a:p>
        </p:txBody>
      </p:sp>
      <p:sp>
        <p:nvSpPr>
          <p:cNvPr id="4" name="">
            <a:extLst xmlns:a="http://schemas.openxmlformats.org/drawingml/2006/main">
              <a:ext uri="{FF2B5EF4-FFF2-40B4-BE49-F238E27FC236}">
                <a16:creationId xmlns:a16="http://schemas.microsoft.com/office/drawing/2014/main" id="{C274843B-01C1-4898-AC87-CD1EE8F159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007AD0-BAE4-4F31-B8DE-4DCF2DFE5AA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actual_labels = raw_data["actual"]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predicted_labels = raw_data["predicted"]</a:t>
            </a:r>
          </a:p>
        </p:txBody>
      </p:sp>
      <p:sp>
        <p:nvSpPr>
          <p:cNvPr id="6" name="">
            <a:extLst xmlns:a="http://schemas.openxmlformats.org/drawingml/2006/main">
              <a:ext uri="{FF2B5EF4-FFF2-40B4-BE49-F238E27FC236}">
                <a16:creationId xmlns:a16="http://schemas.microsoft.com/office/drawing/2014/main" id="{33DFC74F-EA73-4013-85C6-E4808735FDB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5719656-C5A7-49C0-9D4D-647C3036F3C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37A4B478-1571-4A7A-A43C-4AA7085B716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6A0C0506-FDAB-402B-A3EB-FEA7CE9D60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13</a:t>
            </a:r>
          </a:p>
        </p:txBody>
      </p:sp>
    </p:spTree>
    <p:extLst>
      <p:ext uri="{BB962C8B-B14F-4D97-AF65-F5344CB8AC3E}">
        <p14:creationId xmlns:p14="http://schemas.microsoft.com/office/powerpoint/2010/main" val="67852784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0C8663-884D-4AB9-A2B0-2730CB62A6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1B8814-2C18-40F7-AC3D-2A9E52EB33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187443-2A0B-46CD-92FE-F21D80568B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Turn each class label into a question</a:t>
            </a:r>
          </a:p>
        </p:txBody>
      </p:sp>
      <p:sp>
        <p:nvSpPr>
          <p:cNvPr id="4" name="">
            <a:extLst xmlns:a="http://schemas.openxmlformats.org/drawingml/2006/main">
              <a:ext uri="{FF2B5EF4-FFF2-40B4-BE49-F238E27FC236}">
                <a16:creationId xmlns:a16="http://schemas.microsoft.com/office/drawing/2014/main" id="{88726510-59A2-4EA4-9378-906358F2C75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82C0F2-53A7-404B-A56C-C046CF4B8AD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actual == 1 asks whether the real class is positive; predicted == 1 asks whether the model predicted positive.</a:t>
            </a:r>
          </a:p>
        </p:txBody>
      </p:sp>
      <p:sp>
        <p:nvSpPr>
          <p:cNvPr id="6" name="">
            <a:extLst xmlns:a="http://schemas.openxmlformats.org/drawingml/2006/main">
              <a:ext uri="{FF2B5EF4-FFF2-40B4-BE49-F238E27FC236}">
                <a16:creationId xmlns:a16="http://schemas.microsoft.com/office/drawing/2014/main" id="{DF7BF2AD-4C21-4693-B0E7-C729213C332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comparison returns one True/False answer per row.</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Equality uses ==; assignment uses =.</a:t>
            </a:r>
          </a:p>
        </p:txBody>
      </p:sp>
      <p:sp>
        <p:nvSpPr>
          <p:cNvPr id="7" name="">
            <a:extLst xmlns:a="http://schemas.openxmlformats.org/drawingml/2006/main">
              <a:ext uri="{FF2B5EF4-FFF2-40B4-BE49-F238E27FC236}">
                <a16:creationId xmlns:a16="http://schemas.microsoft.com/office/drawing/2014/main" id="{0BBCE5F2-016E-4CE6-B2C8-D9B55A3702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14</a:t>
            </a:r>
          </a:p>
        </p:txBody>
      </p:sp>
    </p:spTree>
    <p:extLst>
      <p:ext uri="{BB962C8B-B14F-4D97-AF65-F5344CB8AC3E}">
        <p14:creationId xmlns:p14="http://schemas.microsoft.com/office/powerpoint/2010/main" val="66457397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403B49-59DD-49C2-BE59-CA1E522AC3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E6AEA8-8DDB-4D3F-91AA-13EFEBE0EB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47C02B9-5B97-42D1-B4E7-8398A403E8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2</a:t>
            </a:r>
          </a:p>
        </p:txBody>
      </p:sp>
      <p:sp>
        <p:nvSpPr>
          <p:cNvPr id="4" name="">
            <a:extLst xmlns:a="http://schemas.openxmlformats.org/drawingml/2006/main">
              <a:ext uri="{FF2B5EF4-FFF2-40B4-BE49-F238E27FC236}">
                <a16:creationId xmlns:a16="http://schemas.microsoft.com/office/drawing/2014/main" id="{CDDC3AFF-4987-4D48-A0F3-9A1368081CC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9BC2D6-E93F-437E-BC9F-27FF9C4247F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actual_is_positive = actual_labels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prediction_is_positive = predicted_labels == 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actual_is_negative = actual_labels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prediction_is_negative = predicted_labels ==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print(actual_is_positive.head())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print(prediction_is_positive.head())</a:t>
            </a:r>
          </a:p>
        </p:txBody>
      </p:sp>
      <p:sp>
        <p:nvSpPr>
          <p:cNvPr id="6" name="">
            <a:extLst xmlns:a="http://schemas.openxmlformats.org/drawingml/2006/main">
              <a:ext uri="{FF2B5EF4-FFF2-40B4-BE49-F238E27FC236}">
                <a16:creationId xmlns:a16="http://schemas.microsoft.com/office/drawing/2014/main" id="{5642FE17-BD63-41DD-AD80-295A4EF2FBE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806716CD-2DA9-467A-8535-C67A38063F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00C699CB-DD13-4D81-BCA9-C0CDEC432A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15</a:t>
            </a:r>
          </a:p>
        </p:txBody>
      </p:sp>
    </p:spTree>
    <p:extLst>
      <p:ext uri="{BB962C8B-B14F-4D97-AF65-F5344CB8AC3E}">
        <p14:creationId xmlns:p14="http://schemas.microsoft.com/office/powerpoint/2010/main" val="17766119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4C3370-D7D3-4453-BB21-E989E9922E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FF457A-B544-44BB-8679-1722EB1CAC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ADAA9B6-3164-4926-8D53-B109C25178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one outcome at a time</a:t>
            </a:r>
          </a:p>
        </p:txBody>
      </p:sp>
      <p:sp>
        <p:nvSpPr>
          <p:cNvPr id="4" name="">
            <a:extLst xmlns:a="http://schemas.openxmlformats.org/drawingml/2006/main">
              <a:ext uri="{FF2B5EF4-FFF2-40B4-BE49-F238E27FC236}">
                <a16:creationId xmlns:a16="http://schemas.microsoft.com/office/drawing/2014/main" id="{4E1BA5AD-83A3-4C20-9ECB-A7F8450FEBD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DFA500-0903-4BB0-B3AA-1285E8D407D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true positive has actual 1 AND predicted 1.</a:t>
            </a:r>
          </a:p>
        </p:txBody>
      </p:sp>
      <p:sp>
        <p:nvSpPr>
          <p:cNvPr id="6" name="">
            <a:extLst xmlns:a="http://schemas.openxmlformats.org/drawingml/2006/main">
              <a:ext uri="{FF2B5EF4-FFF2-40B4-BE49-F238E27FC236}">
                <a16:creationId xmlns:a16="http://schemas.microsoft.com/office/drawing/2014/main" id="{B04242B5-6A02-457B-94A6-372A72502C3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Combine the two answer columns with &amp;, then sum the True entries.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three outcomes use their own pairs of actual and predicted labels.</a:t>
            </a:r>
          </a:p>
        </p:txBody>
      </p:sp>
      <p:sp>
        <p:nvSpPr>
          <p:cNvPr id="7" name="">
            <a:extLst xmlns:a="http://schemas.openxmlformats.org/drawingml/2006/main">
              <a:ext uri="{FF2B5EF4-FFF2-40B4-BE49-F238E27FC236}">
                <a16:creationId xmlns:a16="http://schemas.microsoft.com/office/drawing/2014/main" id="{FB5E3C38-1F26-46D8-90E6-0AAFF7DCA8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16</a:t>
            </a:r>
          </a:p>
        </p:txBody>
      </p:sp>
    </p:spTree>
    <p:extLst>
      <p:ext uri="{BB962C8B-B14F-4D97-AF65-F5344CB8AC3E}">
        <p14:creationId xmlns:p14="http://schemas.microsoft.com/office/powerpoint/2010/main" val="66627458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B68CC1-3CAB-46D9-861C-D8717889BF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65B217-C33A-4141-B800-28067735FA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077C3E3-737B-4DE7-A0E0-F5A3A568CC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3</a:t>
            </a:r>
          </a:p>
        </p:txBody>
      </p:sp>
      <p:sp>
        <p:nvSpPr>
          <p:cNvPr id="4" name="">
            <a:extLst xmlns:a="http://schemas.openxmlformats.org/drawingml/2006/main">
              <a:ext uri="{FF2B5EF4-FFF2-40B4-BE49-F238E27FC236}">
                <a16:creationId xmlns:a16="http://schemas.microsoft.com/office/drawing/2014/main" id="{4B8CEF54-00D4-4408-B06C-F0022882416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D89B3F-31ED-4A78-A0C5-218D52777C9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is_true_positive = actual_is_positive &amp; prediction_is_positive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true_positive_count = int(is_true_positive.sum())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 positives:", true_positive_count)</a:t>
            </a:r>
          </a:p>
        </p:txBody>
      </p:sp>
      <p:sp>
        <p:nvSpPr>
          <p:cNvPr id="6" name="">
            <a:extLst xmlns:a="http://schemas.openxmlformats.org/drawingml/2006/main">
              <a:ext uri="{FF2B5EF4-FFF2-40B4-BE49-F238E27FC236}">
                <a16:creationId xmlns:a16="http://schemas.microsoft.com/office/drawing/2014/main" id="{A720FF54-D270-44A3-AC45-BA4369D2632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985C94E0-3E09-4A3C-8CAE-75D3CB571C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429617B-732A-4E9C-9DCF-B992CBE07A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17</a:t>
            </a:r>
          </a:p>
        </p:txBody>
      </p:sp>
    </p:spTree>
    <p:extLst>
      <p:ext uri="{BB962C8B-B14F-4D97-AF65-F5344CB8AC3E}">
        <p14:creationId xmlns:p14="http://schemas.microsoft.com/office/powerpoint/2010/main" val="37609919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D16E79-FB03-4803-8274-292C01C9C3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7F7335-42EB-4090-AB5F-BFD3788D20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15AB13-16D7-4EBC-9E88-8A2311B7FB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4</a:t>
            </a:r>
          </a:p>
        </p:txBody>
      </p:sp>
      <p:sp>
        <p:nvSpPr>
          <p:cNvPr id="4" name="">
            <a:extLst xmlns:a="http://schemas.openxmlformats.org/drawingml/2006/main">
              <a:ext uri="{FF2B5EF4-FFF2-40B4-BE49-F238E27FC236}">
                <a16:creationId xmlns:a16="http://schemas.microsoft.com/office/drawing/2014/main" id="{A15C6E4E-196C-4CF0-96E1-0E0377F0930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F904B6-C1DD-4895-BFD5-E2553263558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6C5A935-D9A4-4C2E-894E-5D17E2B81D1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false_negative_count: number of missed positives: actual 1 but predicted 0.</a:t>
            </a:r>
          </a:p>
        </p:txBody>
      </p:sp>
      <p:sp>
        <p:nvSpPr>
          <p:cNvPr id="7" name="">
            <a:extLst xmlns:a="http://schemas.openxmlformats.org/drawingml/2006/main">
              <a:ext uri="{FF2B5EF4-FFF2-40B4-BE49-F238E27FC236}">
                <a16:creationId xmlns:a16="http://schemas.microsoft.com/office/drawing/2014/main" id="{E4D59556-1117-413B-809F-1EE7C2937AC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false_positive_count: number of false alarms: actual 0 but predicted 1.</a:t>
            </a:r>
          </a:p>
        </p:txBody>
      </p:sp>
      <p:sp>
        <p:nvSpPr>
          <p:cNvPr id="8" name="">
            <a:extLst xmlns:a="http://schemas.openxmlformats.org/drawingml/2006/main">
              <a:ext uri="{FF2B5EF4-FFF2-40B4-BE49-F238E27FC236}">
                <a16:creationId xmlns:a16="http://schemas.microsoft.com/office/drawing/2014/main" id="{6C4F39FB-7B9F-4CF7-A25F-38D81C1900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18</a:t>
            </a:r>
          </a:p>
        </p:txBody>
      </p:sp>
    </p:spTree>
    <p:extLst>
      <p:ext uri="{BB962C8B-B14F-4D97-AF65-F5344CB8AC3E}">
        <p14:creationId xmlns:p14="http://schemas.microsoft.com/office/powerpoint/2010/main" val="14613186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3ACAD4-6AB0-4D0B-BBEB-8B6ACE0AB9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FBB0D5-2EA3-47BB-9A59-AB616D3C6B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87CBF53-77C5-4B8A-9567-D9084D8C8F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4 (1/3)</a:t>
            </a:r>
          </a:p>
        </p:txBody>
      </p:sp>
      <p:sp>
        <p:nvSpPr>
          <p:cNvPr id="4" name="">
            <a:extLst xmlns:a="http://schemas.openxmlformats.org/drawingml/2006/main">
              <a:ext uri="{FF2B5EF4-FFF2-40B4-BE49-F238E27FC236}">
                <a16:creationId xmlns:a16="http://schemas.microsoft.com/office/drawing/2014/main" id="{B822BB60-472E-4125-A7D4-DC8668D7DEE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4262E2-DC7F-4FA3-8819-0C64764DBDA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(actual_is_positive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false_positive_count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prediction_is_positive).sum()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8E3423D5-FC43-4BA7-8873-D72E7541895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2B8FAC54-999F-42BC-9A5D-D039F783170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47BDFFE9-35DA-4F92-8717-BEB7670E22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19</a:t>
            </a:r>
          </a:p>
        </p:txBody>
      </p:sp>
    </p:spTree>
    <p:extLst>
      <p:ext uri="{BB962C8B-B14F-4D97-AF65-F5344CB8AC3E}">
        <p14:creationId xmlns:p14="http://schemas.microsoft.com/office/powerpoint/2010/main" val="120196327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DE16E4-FF51-4118-B34E-20E5B2D3F3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EBF033-3CC4-4802-8976-EA03D46D81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442752-304D-44E6-A789-2B7E525409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4 (2/3)</a:t>
            </a:r>
          </a:p>
        </p:txBody>
      </p:sp>
      <p:sp>
        <p:nvSpPr>
          <p:cNvPr id="4" name="">
            <a:extLst xmlns:a="http://schemas.openxmlformats.org/drawingml/2006/main">
              <a:ext uri="{FF2B5EF4-FFF2-40B4-BE49-F238E27FC236}">
                <a16:creationId xmlns:a16="http://schemas.microsoft.com/office/drawing/2014/main" id="{B7DCBE24-FCB2-4E35-9803-623F9121308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F843DA-2B4A-4207-9B9A-42D0DA9C98C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true_negative_count = 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(actual_is_negative &amp; prediction_is_negative).sum()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C99C883-8657-483A-AD7F-07D1C06EFEB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actual_labels: the recorded class of each observation: 1 means positive and 0 means negative.</a:t>
            </a:r>
          </a:p>
        </p:txBody>
      </p:sp>
      <p:sp>
        <p:nvSpPr>
          <p:cNvPr id="7" name="">
            <a:extLst xmlns:a="http://schemas.openxmlformats.org/drawingml/2006/main">
              <a:ext uri="{FF2B5EF4-FFF2-40B4-BE49-F238E27FC236}">
                <a16:creationId xmlns:a16="http://schemas.microsoft.com/office/drawing/2014/main" id="{CF421394-4472-4F94-B63F-6488BE501D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E0B02D0A-6032-42E3-9D6A-6B00A025CA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20</a:t>
            </a:r>
          </a:p>
        </p:txBody>
      </p:sp>
    </p:spTree>
    <p:extLst>
      <p:ext uri="{BB962C8B-B14F-4D97-AF65-F5344CB8AC3E}">
        <p14:creationId xmlns:p14="http://schemas.microsoft.com/office/powerpoint/2010/main" val="10556906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2C3370-631B-4E74-B34B-7634187909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E3A41B-69A7-4365-957A-FF6AB2130F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2CF57FE-F4FE-4ECE-AF38-14B7E31A40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Confusion counts from classification_case.csv — step 4 (3/3)</a:t>
            </a:r>
          </a:p>
        </p:txBody>
      </p:sp>
      <p:sp>
        <p:nvSpPr>
          <p:cNvPr id="4" name="">
            <a:extLst xmlns:a="http://schemas.openxmlformats.org/drawingml/2006/main">
              <a:ext uri="{FF2B5EF4-FFF2-40B4-BE49-F238E27FC236}">
                <a16:creationId xmlns:a16="http://schemas.microsoft.com/office/drawing/2014/main" id="{CBCABFB7-8678-41A5-8DFE-09D5869FFFD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0CA119-72CC-4AB5-883E-58C5E5A8314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true_negative_count,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597D4753-01DA-4C44-9B0A-87BFE090BA9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DBB156-03F7-463B-93D4-79C9F55740F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actual_labels: the recorded class of each observation: 1 means positive and 0 means negative.</a:t>
            </a:r>
          </a:p>
        </p:txBody>
      </p:sp>
      <p:sp>
        <p:nvSpPr>
          <p:cNvPr id="8" name="">
            <a:extLst xmlns:a="http://schemas.openxmlformats.org/drawingml/2006/main">
              <a:ext uri="{FF2B5EF4-FFF2-40B4-BE49-F238E27FC236}">
                <a16:creationId xmlns:a16="http://schemas.microsoft.com/office/drawing/2014/main" id="{5548D0E5-355B-4F50-BC9A-AD9993D5E4D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400E37D2-BE36-4961-B074-795E53C2EC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21</a:t>
            </a:r>
          </a:p>
        </p:txBody>
      </p:sp>
    </p:spTree>
    <p:extLst>
      <p:ext uri="{BB962C8B-B14F-4D97-AF65-F5344CB8AC3E}">
        <p14:creationId xmlns:p14="http://schemas.microsoft.com/office/powerpoint/2010/main" val="42787396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11974D-8821-4E06-B956-62462C0D38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92ECD8-F300-4E3C-8178-95A76F1696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FA0AE7-F58C-4C43-ACA7-42B2587B4B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recall and cost</a:t>
            </a:r>
          </a:p>
        </p:txBody>
      </p:sp>
      <p:sp>
        <p:nvSpPr>
          <p:cNvPr id="4" name="">
            <a:extLst xmlns:a="http://schemas.openxmlformats.org/drawingml/2006/main">
              <a:ext uri="{FF2B5EF4-FFF2-40B4-BE49-F238E27FC236}">
                <a16:creationId xmlns:a16="http://schemas.microsoft.com/office/drawing/2014/main" id="{77BCC0EC-2B8E-473E-B197-481683990C8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1EC44B-67A6-4012-AEA0-02C4F1628C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7C3CFA6-EB27-4406-9724-F70074DBF4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Precision is TP divided by TP + FP. Recall is TP divided by TP + FN. The issued policy returns zero when a denominator is zero.</a:t>
            </a:r>
          </a:p>
        </p:txBody>
      </p:sp>
      <p:sp>
        <p:nvSpPr>
          <p:cNvPr id="7" name="">
            <a:extLst xmlns:a="http://schemas.openxmlformats.org/drawingml/2006/main">
              <a:ext uri="{FF2B5EF4-FFF2-40B4-BE49-F238E27FC236}">
                <a16:creationId xmlns:a16="http://schemas.microsoft.com/office/drawing/2014/main" id="{700DF760-1D86-41A0-8565-5AA24FBA1A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teaching cost is five units per missed warning plus one per false alarm. Explain the assumption when interpreting the result.</a:t>
            </a:r>
          </a:p>
        </p:txBody>
      </p:sp>
      <p:sp>
        <p:nvSpPr>
          <p:cNvPr id="8" name="">
            <a:extLst xmlns:a="http://schemas.openxmlformats.org/drawingml/2006/main">
              <a:ext uri="{FF2B5EF4-FFF2-40B4-BE49-F238E27FC236}">
                <a16:creationId xmlns:a16="http://schemas.microsoft.com/office/drawing/2014/main" id="{945A4B43-F7BE-4116-AB79-00F7CC482F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22</a:t>
            </a:r>
          </a:p>
        </p:txBody>
      </p:sp>
    </p:spTree>
    <p:extLst>
      <p:ext uri="{BB962C8B-B14F-4D97-AF65-F5344CB8AC3E}">
        <p14:creationId xmlns:p14="http://schemas.microsoft.com/office/powerpoint/2010/main" val="167527499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E2A1B9-328B-4D6D-B568-56CF8C5BD2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20CE7C-CE0B-4AD8-BF2A-8B1A37E871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3AE326-05F0-4921-92AC-456D87B664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6CB38D1-66D6-4661-8ABA-96469942002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751474-ACC3-4919-8912-8BE07603B65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6" name="">
            <a:extLst xmlns:a="http://schemas.openxmlformats.org/drawingml/2006/main">
              <a:ext uri="{FF2B5EF4-FFF2-40B4-BE49-F238E27FC236}">
                <a16:creationId xmlns:a16="http://schemas.microsoft.com/office/drawing/2014/main" id="{4122D121-48FF-42E0-99D7-21DD13324D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23</a:t>
            </a:r>
          </a:p>
        </p:txBody>
      </p:sp>
    </p:spTree>
    <p:extLst>
      <p:ext uri="{BB962C8B-B14F-4D97-AF65-F5344CB8AC3E}">
        <p14:creationId xmlns:p14="http://schemas.microsoft.com/office/powerpoint/2010/main" val="104324698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4625AE-D670-4F4C-B3CD-81408AF67F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2D6245-C492-4A73-9DEB-FD1B004F74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2E5AAE-A63E-43D0-ACD0-DEE1FAFAC8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114D076A-03C7-4970-A61D-1C30FD1A8DD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641489-AF82-4AE1-BEA0-F9D823C8854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E2CE7B73-9827-4036-BBBB-5A5498327B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24</a:t>
            </a:r>
          </a:p>
        </p:txBody>
      </p:sp>
    </p:spTree>
    <p:extLst>
      <p:ext uri="{BB962C8B-B14F-4D97-AF65-F5344CB8AC3E}">
        <p14:creationId xmlns:p14="http://schemas.microsoft.com/office/powerpoint/2010/main" val="196016366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51155E-9662-41D2-AE79-6B5516AA05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35BAEB-ABF1-4EE2-AE98-12074843C2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7EBC24-82D4-4452-AB8D-967875EA4F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Precision: how trustworthy are positive predictions?</a:t>
            </a:r>
          </a:p>
        </p:txBody>
      </p:sp>
      <p:sp>
        <p:nvSpPr>
          <p:cNvPr id="4" name="">
            <a:extLst xmlns:a="http://schemas.openxmlformats.org/drawingml/2006/main">
              <a:ext uri="{FF2B5EF4-FFF2-40B4-BE49-F238E27FC236}">
                <a16:creationId xmlns:a16="http://schemas.microsoft.com/office/drawing/2014/main" id="{0A4B7984-0205-4F3A-B60B-8878DAC2DAF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4B5B14-82F5-462D-9AAC-D60D1EB1C27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predicted positives: true positives plus false positives.</a:t>
            </a:r>
          </a:p>
        </p:txBody>
      </p:sp>
      <p:sp>
        <p:nvSpPr>
          <p:cNvPr id="6" name="">
            <a:extLst xmlns:a="http://schemas.openxmlformats.org/drawingml/2006/main">
              <a:ext uri="{FF2B5EF4-FFF2-40B4-BE49-F238E27FC236}">
                <a16:creationId xmlns:a16="http://schemas.microsoft.com/office/drawing/2014/main" id="{D75C6512-4D5A-4380-A460-6ADE5028B24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correct positive predictions by that total.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denominator before dividing; this teaching example uses 0 when it is zero.</a:t>
            </a:r>
          </a:p>
        </p:txBody>
      </p:sp>
      <p:sp>
        <p:nvSpPr>
          <p:cNvPr id="7" name="">
            <a:extLst xmlns:a="http://schemas.openxmlformats.org/drawingml/2006/main">
              <a:ext uri="{FF2B5EF4-FFF2-40B4-BE49-F238E27FC236}">
                <a16:creationId xmlns:a16="http://schemas.microsoft.com/office/drawing/2014/main" id="{062F70CB-369B-46FF-ACAD-2CB04150E0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25</a:t>
            </a:r>
          </a:p>
        </p:txBody>
      </p:sp>
    </p:spTree>
    <p:extLst>
      <p:ext uri="{BB962C8B-B14F-4D97-AF65-F5344CB8AC3E}">
        <p14:creationId xmlns:p14="http://schemas.microsoft.com/office/powerpoint/2010/main" val="140078853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21F134-B5B1-4F4B-B282-AB16AA75BA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F0A4E1-A08B-4DEE-B611-2CC616F11C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C40F4F8-BFBC-4CF7-9E6B-CB41507F06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 step 1</a:t>
            </a:r>
          </a:p>
        </p:txBody>
      </p:sp>
      <p:sp>
        <p:nvSpPr>
          <p:cNvPr id="4" name="">
            <a:extLst xmlns:a="http://schemas.openxmlformats.org/drawingml/2006/main">
              <a:ext uri="{FF2B5EF4-FFF2-40B4-BE49-F238E27FC236}">
                <a16:creationId xmlns:a16="http://schemas.microsoft.com/office/drawing/2014/main" id="{2EF5F1B9-9C07-44EA-9905-3C59EB8C24A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D7B501-C6BD-4A00-BA48-1CEFA4B2E40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precision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false_positive_count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precision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0FD3D7FA-9245-4E7C-A09E-BD7B9EB60D4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6070643C-0400-4B28-A2C0-4E29247CB1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E587DE2-646C-40D3-BB56-A3F7DFA789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26</a:t>
            </a:r>
          </a:p>
        </p:txBody>
      </p:sp>
    </p:spTree>
    <p:extLst>
      <p:ext uri="{BB962C8B-B14F-4D97-AF65-F5344CB8AC3E}">
        <p14:creationId xmlns:p14="http://schemas.microsoft.com/office/powerpoint/2010/main" val="91688374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C89E5A-3EE3-4D9D-B02B-058E45353E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8262F7-C763-40EC-8162-0BEFBBA29D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602E94-9115-48F8-85D8-F54F7CB58E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how many real positives were found?</a:t>
            </a:r>
          </a:p>
        </p:txBody>
      </p:sp>
      <p:sp>
        <p:nvSpPr>
          <p:cNvPr id="4" name="">
            <a:extLst xmlns:a="http://schemas.openxmlformats.org/drawingml/2006/main">
              <a:ext uri="{FF2B5EF4-FFF2-40B4-BE49-F238E27FC236}">
                <a16:creationId xmlns:a16="http://schemas.microsoft.com/office/drawing/2014/main" id="{0FF85F8D-BC03-40F9-9FC3-7F2D649132A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B63672-3D74-4812-83B3-DD7EA0FBD3F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denominator is all actual positives: true positives plus false negatives.</a:t>
            </a:r>
          </a:p>
        </p:txBody>
      </p:sp>
      <p:sp>
        <p:nvSpPr>
          <p:cNvPr id="6" name="">
            <a:extLst xmlns:a="http://schemas.openxmlformats.org/drawingml/2006/main">
              <a:ext uri="{FF2B5EF4-FFF2-40B4-BE49-F238E27FC236}">
                <a16:creationId xmlns:a16="http://schemas.microsoft.com/office/drawing/2014/main" id="{C9DF6EC4-035D-4AFB-9B2D-206E6C9DF83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detected positives by that total.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and recall answer different questions even when they happen to have the same value.</a:t>
            </a:r>
          </a:p>
        </p:txBody>
      </p:sp>
      <p:sp>
        <p:nvSpPr>
          <p:cNvPr id="7" name="">
            <a:extLst xmlns:a="http://schemas.openxmlformats.org/drawingml/2006/main">
              <a:ext uri="{FF2B5EF4-FFF2-40B4-BE49-F238E27FC236}">
                <a16:creationId xmlns:a16="http://schemas.microsoft.com/office/drawing/2014/main" id="{34617D19-03F3-4DB4-B6E5-889A31E82C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27</a:t>
            </a:r>
          </a:p>
        </p:txBody>
      </p:sp>
    </p:spTree>
    <p:extLst>
      <p:ext uri="{BB962C8B-B14F-4D97-AF65-F5344CB8AC3E}">
        <p14:creationId xmlns:p14="http://schemas.microsoft.com/office/powerpoint/2010/main" val="33230462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37B8C1-1CC7-48E4-BED4-A3FD7BA9B2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E422F9-8AA3-4B73-9D60-8C6F583A38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F96C05-F2EB-48CF-AFBC-FC0A8C3405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 step 2</a:t>
            </a:r>
          </a:p>
        </p:txBody>
      </p:sp>
      <p:sp>
        <p:nvSpPr>
          <p:cNvPr id="4" name="">
            <a:extLst xmlns:a="http://schemas.openxmlformats.org/drawingml/2006/main">
              <a:ext uri="{FF2B5EF4-FFF2-40B4-BE49-F238E27FC236}">
                <a16:creationId xmlns:a16="http://schemas.microsoft.com/office/drawing/2014/main" id="{2FF9C5B2-EDD7-4957-A879-3B3DACF385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23253D-2B88-4674-861C-C11706FB96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recall = 0.0</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true_positive_count + false_negative_count &gt; 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recall = true_positive_count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true_positive_count + false_negative_count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AAAC2DD5-5D3D-4F0C-B26F-1BE1AF3391C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7BEF0755-442A-4E23-BCF5-D59C2E0D8C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CC4DF2B-DA1D-4F3D-90FC-84F2790C32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28</a:t>
            </a:r>
          </a:p>
        </p:txBody>
      </p:sp>
    </p:spTree>
    <p:extLst>
      <p:ext uri="{BB962C8B-B14F-4D97-AF65-F5344CB8AC3E}">
        <p14:creationId xmlns:p14="http://schemas.microsoft.com/office/powerpoint/2010/main" val="5892871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71ED71-8EB6-4D37-8650-46309FB899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2CFF89-23CB-42EB-82E9-EF9CD4AE55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D4D6FD-04C3-48C9-919A-1F752727E2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 step 3</a:t>
            </a:r>
          </a:p>
        </p:txBody>
      </p:sp>
      <p:sp>
        <p:nvSpPr>
          <p:cNvPr id="4" name="">
            <a:extLst xmlns:a="http://schemas.openxmlformats.org/drawingml/2006/main">
              <a:ext uri="{FF2B5EF4-FFF2-40B4-BE49-F238E27FC236}">
                <a16:creationId xmlns:a16="http://schemas.microsoft.com/office/drawing/2014/main" id="{2C38D96E-B4F8-4549-86A9-CB8CFD23B1C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DEE78D-0F5E-4CBF-9E0C-405B9505946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total_error_cost: five penalty units per missed positive plus one per false alarm in this scenario.</a:t>
            </a:r>
          </a:p>
        </p:txBody>
      </p:sp>
      <p:sp>
        <p:nvSpPr>
          <p:cNvPr id="6" name="">
            <a:extLst xmlns:a="http://schemas.openxmlformats.org/drawingml/2006/main">
              <a:ext uri="{FF2B5EF4-FFF2-40B4-BE49-F238E27FC236}">
                <a16:creationId xmlns:a16="http://schemas.microsoft.com/office/drawing/2014/main" id="{BCF0C8FF-193C-4DAA-B5F4-81AF008C08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29</a:t>
            </a:r>
          </a:p>
        </p:txBody>
      </p:sp>
    </p:spTree>
    <p:extLst>
      <p:ext uri="{BB962C8B-B14F-4D97-AF65-F5344CB8AC3E}">
        <p14:creationId xmlns:p14="http://schemas.microsoft.com/office/powerpoint/2010/main" val="148777640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AD9BEE-A5BF-44E5-A94C-69DFF7B92F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F6E587-F4C5-4A51-BBA1-4BCDDBB50F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685053-18CD-47C1-92D0-86FB9C162C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Metrics from the supplied outcomes — step 3</a:t>
            </a:r>
          </a:p>
        </p:txBody>
      </p:sp>
      <p:sp>
        <p:nvSpPr>
          <p:cNvPr id="4" name="">
            <a:extLst xmlns:a="http://schemas.openxmlformats.org/drawingml/2006/main">
              <a:ext uri="{FF2B5EF4-FFF2-40B4-BE49-F238E27FC236}">
                <a16:creationId xmlns:a16="http://schemas.microsoft.com/office/drawing/2014/main" id="{529BA089-986B-4817-B152-AD541D6E1E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F618D1-2FC4-403F-9966-CC1A41E536D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total_error_cost = 5 * false_negative_count + false_positive_count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print(round(precision, 4), round(recall, 4), total_error_cost)</a:t>
            </a:r>
          </a:p>
        </p:txBody>
      </p:sp>
      <p:sp>
        <p:nvSpPr>
          <p:cNvPr id="6" name="">
            <a:extLst xmlns:a="http://schemas.openxmlformats.org/drawingml/2006/main">
              <a:ext uri="{FF2B5EF4-FFF2-40B4-BE49-F238E27FC236}">
                <a16:creationId xmlns:a16="http://schemas.microsoft.com/office/drawing/2014/main" id="{A64BAB5C-A5B0-4435-8F8B-7FDB308488E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precision: fraction of positive predictions that are correct.</a:t>
            </a:r>
          </a:p>
        </p:txBody>
      </p:sp>
      <p:sp>
        <p:nvSpPr>
          <p:cNvPr id="7" name="">
            <a:extLst xmlns:a="http://schemas.openxmlformats.org/drawingml/2006/main">
              <a:ext uri="{FF2B5EF4-FFF2-40B4-BE49-F238E27FC236}">
                <a16:creationId xmlns:a16="http://schemas.microsoft.com/office/drawing/2014/main" id="{8030E5F7-B5F7-4586-B009-27677DE290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5F282F9B-97EA-4459-B3D3-DABFA26C25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30</a:t>
            </a:r>
          </a:p>
        </p:txBody>
      </p:sp>
    </p:spTree>
    <p:extLst>
      <p:ext uri="{BB962C8B-B14F-4D97-AF65-F5344CB8AC3E}">
        <p14:creationId xmlns:p14="http://schemas.microsoft.com/office/powerpoint/2010/main" val="166481572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04ACBB-7F06-4F0B-AADD-9D4EB3AEC8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1D4BE8-F297-48CC-AD37-472EFA4BC1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362B04-9347-4BCA-8C79-26E8AAD718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Probabilities and thresholds</a:t>
            </a:r>
          </a:p>
        </p:txBody>
      </p:sp>
      <p:sp>
        <p:nvSpPr>
          <p:cNvPr id="4" name="">
            <a:extLst xmlns:a="http://schemas.openxmlformats.org/drawingml/2006/main">
              <a:ext uri="{FF2B5EF4-FFF2-40B4-BE49-F238E27FC236}">
                <a16:creationId xmlns:a16="http://schemas.microsoft.com/office/drawing/2014/main" id="{13F555B3-1102-4742-A16B-D373A975FB0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21BCED-8D56-4366-B200-48C91DE457C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452DDD-A9BF-41C1-B996-11EA188C6FA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probability is a model’s estimated chance of class 1. A threshold turns it into a class decision. Lowering the threshold generally raises more warnings.</a:t>
            </a:r>
          </a:p>
        </p:txBody>
      </p:sp>
      <p:sp>
        <p:nvSpPr>
          <p:cNvPr id="7" name="">
            <a:extLst xmlns:a="http://schemas.openxmlformats.org/drawingml/2006/main">
              <a:ext uri="{FF2B5EF4-FFF2-40B4-BE49-F238E27FC236}">
                <a16:creationId xmlns:a16="http://schemas.microsoft.com/office/drawing/2014/main" id="{183CA2E5-2711-45F9-90DA-2B8DB668793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classification_case.csv supplies decisions only. It has no probability column, so we cannot recompute threshold choices from this file.</a:t>
            </a:r>
          </a:p>
        </p:txBody>
      </p:sp>
      <p:sp>
        <p:nvSpPr>
          <p:cNvPr id="8" name="">
            <a:extLst xmlns:a="http://schemas.openxmlformats.org/drawingml/2006/main">
              <a:ext uri="{FF2B5EF4-FFF2-40B4-BE49-F238E27FC236}">
                <a16:creationId xmlns:a16="http://schemas.microsoft.com/office/drawing/2014/main" id="{1471DC82-7375-4291-BDCC-1BA1C73308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31</a:t>
            </a:r>
          </a:p>
        </p:txBody>
      </p:sp>
    </p:spTree>
    <p:extLst>
      <p:ext uri="{BB962C8B-B14F-4D97-AF65-F5344CB8AC3E}">
        <p14:creationId xmlns:p14="http://schemas.microsoft.com/office/powerpoint/2010/main" val="145831036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65845B-42C5-4A41-96B1-C90B3A1EA2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C21A89-D3D8-4A02-868F-FE0113DAD8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8535E7-1C22-442A-B675-EA5B92071A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indicators</a:t>
            </a:r>
          </a:p>
        </p:txBody>
      </p:sp>
      <p:sp>
        <p:nvSpPr>
          <p:cNvPr id="4" name="">
            <a:extLst xmlns:a="http://schemas.openxmlformats.org/drawingml/2006/main">
              <a:ext uri="{FF2B5EF4-FFF2-40B4-BE49-F238E27FC236}">
                <a16:creationId xmlns:a16="http://schemas.microsoft.com/office/drawing/2014/main" id="{3575DF58-AD6F-42C5-AF75-809813DB9EE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11909B-48AA-46E0-8AA3-A5A845FC59F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5238E1-E727-4950-BEE5-DCF0353DC59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get_dummies creates one indicator column per category. Each indicator is 1 for a matching row and 0 otherwise.</a:t>
            </a:r>
          </a:p>
        </p:txBody>
      </p:sp>
      <p:sp>
        <p:nvSpPr>
          <p:cNvPr id="7" name="">
            <a:extLst xmlns:a="http://schemas.openxmlformats.org/drawingml/2006/main">
              <a:ext uri="{FF2B5EF4-FFF2-40B4-BE49-F238E27FC236}">
                <a16:creationId xmlns:a16="http://schemas.microsoft.com/office/drawing/2014/main" id="{2C2FA7B2-D13B-4C9A-A432-3408A6A690C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we can demonstrate indicators using the predicted class labels already present in the CSV.</a:t>
            </a:r>
          </a:p>
        </p:txBody>
      </p:sp>
      <p:sp>
        <p:nvSpPr>
          <p:cNvPr id="8" name="">
            <a:extLst xmlns:a="http://schemas.openxmlformats.org/drawingml/2006/main">
              <a:ext uri="{FF2B5EF4-FFF2-40B4-BE49-F238E27FC236}">
                <a16:creationId xmlns:a16="http://schemas.microsoft.com/office/drawing/2014/main" id="{8CE8CE7A-4B14-4FAA-9893-67F19F98AA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32</a:t>
            </a:r>
          </a:p>
        </p:txBody>
      </p:sp>
    </p:spTree>
    <p:extLst>
      <p:ext uri="{BB962C8B-B14F-4D97-AF65-F5344CB8AC3E}">
        <p14:creationId xmlns:p14="http://schemas.microsoft.com/office/powerpoint/2010/main" val="73885342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003F6D-025E-4D71-9A13-180CB57F54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4E344A-6240-49CD-9B64-EA3853D982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758A0B-A7D0-48B1-98A4-CD447EBBFB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499CD0C-05B1-4820-B457-E6AAD775E1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EC934A-3AB7-48ED-A55B-5B600920A4D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E7A9D17B-6C7F-44F8-AEC3-F0F0E8DFAE6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9F2363-924B-43F8-ACF4-580F8A29AC3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Category indicator columns: pd.get_dummies(column, prefix="class", dtype=int) creates a 0/1 column per category. prefix names the columns, such as class_0 and class_1. dtype=int displays integers.</a:t>
            </a:r>
          </a:p>
        </p:txBody>
      </p:sp>
      <p:sp>
        <p:nvSpPr>
          <p:cNvPr id="8" name="">
            <a:extLst xmlns:a="http://schemas.openxmlformats.org/drawingml/2006/main">
              <a:ext uri="{FF2B5EF4-FFF2-40B4-BE49-F238E27FC236}">
                <a16:creationId xmlns:a16="http://schemas.microsoft.com/office/drawing/2014/main" id="{588CF3BB-F44A-47DA-B686-59E1F2366F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549C0B-685E-46DE-B3A4-7A62E6F5E17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10" name="">
            <a:extLst xmlns:a="http://schemas.openxmlformats.org/drawingml/2006/main">
              <a:ext uri="{FF2B5EF4-FFF2-40B4-BE49-F238E27FC236}">
                <a16:creationId xmlns:a16="http://schemas.microsoft.com/office/drawing/2014/main" id="{E784295F-3E95-4924-B5FB-8A7B05044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33</a:t>
            </a:r>
          </a:p>
        </p:txBody>
      </p:sp>
    </p:spTree>
    <p:extLst>
      <p:ext uri="{BB962C8B-B14F-4D97-AF65-F5344CB8AC3E}">
        <p14:creationId xmlns:p14="http://schemas.microsoft.com/office/powerpoint/2010/main" val="208213402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79D90D-FBD6-4070-B7EF-A53256DDE6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220F6A-AA54-4D69-8864-75AA5838D2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B54824A-C58E-4B55-BC3C-022C2440E2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Indicators from the supplied class labels</a:t>
            </a:r>
          </a:p>
        </p:txBody>
      </p:sp>
      <p:sp>
        <p:nvSpPr>
          <p:cNvPr id="4" name="">
            <a:extLst xmlns:a="http://schemas.openxmlformats.org/drawingml/2006/main">
              <a:ext uri="{FF2B5EF4-FFF2-40B4-BE49-F238E27FC236}">
                <a16:creationId xmlns:a16="http://schemas.microsoft.com/office/drawing/2014/main" id="{C3077A56-3930-4E6A-BA95-E1206D1A8B4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66C820-5701-427E-BF6E-23F2F340269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class_indicator_columns = pd.get_dummies(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raw_data["predicted"], prefix="class", dtype=int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print(class_indicator_columns.head())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actual_values = raw_data["actual"].tolist()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predicted_values = raw_data["predicted"].tolist()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print(len(actual_values), len(predicted_values))</a:t>
            </a:r>
          </a:p>
        </p:txBody>
      </p:sp>
      <p:sp>
        <p:nvSpPr>
          <p:cNvPr id="6" name="">
            <a:extLst xmlns:a="http://schemas.openxmlformats.org/drawingml/2006/main">
              <a:ext uri="{FF2B5EF4-FFF2-40B4-BE49-F238E27FC236}">
                <a16:creationId xmlns:a16="http://schemas.microsoft.com/office/drawing/2014/main" id="{A85C7A47-14AE-4BDB-B867-59FA03B77C2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class_indicator_columns: one integer 0/1 column for each predicted class.</a:t>
            </a:r>
          </a:p>
        </p:txBody>
      </p:sp>
      <p:sp>
        <p:nvSpPr>
          <p:cNvPr id="7" name="">
            <a:extLst xmlns:a="http://schemas.openxmlformats.org/drawingml/2006/main">
              <a:ext uri="{FF2B5EF4-FFF2-40B4-BE49-F238E27FC236}">
                <a16:creationId xmlns:a16="http://schemas.microsoft.com/office/drawing/2014/main" id="{FE58F0F4-D9C2-4529-980D-8F727FE280D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121ECEF9-C4A4-4655-B5F9-BB1E19B5FD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34</a:t>
            </a:r>
          </a:p>
        </p:txBody>
      </p:sp>
    </p:spTree>
    <p:extLst>
      <p:ext uri="{BB962C8B-B14F-4D97-AF65-F5344CB8AC3E}">
        <p14:creationId xmlns:p14="http://schemas.microsoft.com/office/powerpoint/2010/main" val="50581058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D8EACB-F6EB-43CE-A98F-924E17C129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C09D03-EBDB-49D7-9BF4-FB5CBB3831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36B18F5-22A0-4A6D-BD40-72D846C6A8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DF28AA5-BC3B-48B1-A06C-DE6FF64040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56FC94-B82E-4293-B13C-A6C5B825D85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583067B9-1C65-4DF0-A8E7-25693472D15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3D3C38-3C9B-409B-A17D-984BD817953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04B07A53-622A-471A-AA33-83B928769C9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A505B7-2BB6-4350-8039-1E276F17B16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total_error_cost.</a:t>
            </a:r>
          </a:p>
        </p:txBody>
      </p:sp>
      <p:sp>
        <p:nvSpPr>
          <p:cNvPr id="10" name="">
            <a:extLst xmlns:a="http://schemas.openxmlformats.org/drawingml/2006/main">
              <a:ext uri="{FF2B5EF4-FFF2-40B4-BE49-F238E27FC236}">
                <a16:creationId xmlns:a16="http://schemas.microsoft.com/office/drawing/2014/main" id="{0EFC5AA6-8095-4A7E-A355-1607D4AB631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9C28D1-1547-445D-8463-9203EDBB917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D9133430-7DB5-4BB4-9B36-3A06B15DFC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35</a:t>
            </a:r>
          </a:p>
        </p:txBody>
      </p:sp>
    </p:spTree>
    <p:extLst>
      <p:ext uri="{BB962C8B-B14F-4D97-AF65-F5344CB8AC3E}">
        <p14:creationId xmlns:p14="http://schemas.microsoft.com/office/powerpoint/2010/main" val="14594916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67204B-3A47-4EE3-B1B3-91CD11A58A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F33F41-B400-4FF1-82C3-3A04F58659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B7EB1AA-B6A9-4852-B80A-1D3F9C2D60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A7C6B1B1-354C-4608-B269-FD828D7654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942EED-BF70-493B-AB5C-F3F51A93519E}"/>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CA405983-BEA1-40AD-918F-A31F4D6270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36</a:t>
            </a:r>
          </a:p>
        </p:txBody>
      </p:sp>
    </p:spTree>
    <p:extLst>
      <p:ext uri="{BB962C8B-B14F-4D97-AF65-F5344CB8AC3E}">
        <p14:creationId xmlns:p14="http://schemas.microsoft.com/office/powerpoint/2010/main" val="45839581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CA65C5-2482-46EA-AD64-A79A4A3F9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05FBE3-9501-452B-BD81-893BB9B83A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7C4D9E4-B5D6-4CBB-A86B-60EAECF475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23B1500F-4C18-4131-B460-4E8EB33FCBF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08A886-4FCA-40E9-BD53-7AC743E7952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dictionary keys tp, tn, fp, fn, precision, recall and cost.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tp = true positives; tn = true negatives; fp = false positives; fn = false negatives.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cost = 5 * fn + fp. Return zero when a precision or recall denominator is zero.</a:t>
            </a:r>
          </a:p>
        </p:txBody>
      </p:sp>
      <p:sp>
        <p:nvSpPr>
          <p:cNvPr id="6" name="">
            <a:extLst xmlns:a="http://schemas.openxmlformats.org/drawingml/2006/main">
              <a:ext uri="{FF2B5EF4-FFF2-40B4-BE49-F238E27FC236}">
                <a16:creationId xmlns:a16="http://schemas.microsoft.com/office/drawing/2014/main" id="{A55E7C0A-E8F0-46FA-8CA0-B3AE06D5F79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A1411EE-0DA2-4D43-BFAC-0D923416BD0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CBF4E60-BFDD-4E46-87D2-517349627D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37</a:t>
            </a:r>
          </a:p>
        </p:txBody>
      </p:sp>
    </p:spTree>
    <p:extLst>
      <p:ext uri="{BB962C8B-B14F-4D97-AF65-F5344CB8AC3E}">
        <p14:creationId xmlns:p14="http://schemas.microsoft.com/office/powerpoint/2010/main" val="186845933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9270A9D-2D7A-462B-BC4B-A76E3BEF42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F8A939-A9CF-4318-8840-BAB0291C5F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818F631-C22C-4C9E-9F94-DD2F24F4A6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AC8ED26-28D5-4C2D-8DAF-185675AAF9E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CBC815-4C12-4170-AB0A-2CD2E4E7817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EF041610-2857-444C-91E7-9B8F2301195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8D3E64-6A7D-47BA-829F-58224FB3769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1A222BE4-16FC-405F-A2D1-F2E29B4E0D5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BDE74E-BF47-4E62-873F-27CBB15650A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4447707B-0B7F-4FAE-955E-D4CA48EF27A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CCDC93D-1DB4-4E51-B140-81095604F8E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9D4011F-4889-4C6C-9E88-D8E40CC275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38</a:t>
            </a:r>
          </a:p>
        </p:txBody>
      </p:sp>
    </p:spTree>
    <p:extLst>
      <p:ext uri="{BB962C8B-B14F-4D97-AF65-F5344CB8AC3E}">
        <p14:creationId xmlns:p14="http://schemas.microsoft.com/office/powerpoint/2010/main" val="25497317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757E842-AE66-49FE-890F-7FF45E104A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3DAED8-72CC-4D44-8662-9A2A7ECA61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6E76F03-A711-46F2-94F6-ECAB9810E9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D615702E-2A36-4D94-AFE5-7752FC9D27B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40A35F-45BC-478F-A1F5-98D5835E7F9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11:00 Kampala</a:t>
            </a:r>
          </a:p>
        </p:txBody>
      </p:sp>
      <p:sp>
        <p:nvSpPr>
          <p:cNvPr id="6" name="">
            <a:extLst xmlns:a="http://schemas.openxmlformats.org/drawingml/2006/main">
              <a:ext uri="{FF2B5EF4-FFF2-40B4-BE49-F238E27FC236}">
                <a16:creationId xmlns:a16="http://schemas.microsoft.com/office/drawing/2014/main" id="{E9288717-FC4E-4485-A4C3-EA8C924FF39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AC87B8-8692-42EF-9DF0-A5FF9896842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11:00 Kampala</a:t>
            </a:r>
          </a:p>
        </p:txBody>
      </p:sp>
      <p:sp>
        <p:nvSpPr>
          <p:cNvPr id="8" name="">
            <a:extLst xmlns:a="http://schemas.openxmlformats.org/drawingml/2006/main">
              <a:ext uri="{FF2B5EF4-FFF2-40B4-BE49-F238E27FC236}">
                <a16:creationId xmlns:a16="http://schemas.microsoft.com/office/drawing/2014/main" id="{C2C1AEBC-3ADB-40D0-8BEA-53247A50683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801EB1-F597-4440-A42C-D3EE4BC8A93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6DA90D2-4DFC-4981-BC3F-CDC217E04A0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AF4E2D4-D728-4041-9A5C-1F3629DACB6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1E70710-A573-4B41-9A54-DA9CBBF0CDE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E923A47-8E4D-4FA2-88E8-0AF80C26BA3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44a12a5e2954519"/>
              </a:rPr>
              <a:t>Open W09 assignment form</a:t>
            </a:r>
          </a:p>
        </p:txBody>
      </p:sp>
      <p:sp>
        <p:nvSpPr>
          <p:cNvPr id="14" name="">
            <a:extLst xmlns:a="http://schemas.openxmlformats.org/drawingml/2006/main">
              <a:ext uri="{FF2B5EF4-FFF2-40B4-BE49-F238E27FC236}">
                <a16:creationId xmlns:a16="http://schemas.microsoft.com/office/drawing/2014/main" id="{5DF92FB2-CF6F-4BA3-9615-D6C40EC02D3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https://docs.google.com/forms/d/e/1FAIpQLSfelPFlgqIQS1vM0QDthocg7aIU_WLXNjL4g1DdZAJyKcm9eA/viewform</a:t>
            </a:r>
          </a:p>
        </p:txBody>
      </p:sp>
      <p:sp>
        <p:nvSpPr>
          <p:cNvPr id="15" name="">
            <a:extLst xmlns:a="http://schemas.openxmlformats.org/drawingml/2006/main">
              <a:ext uri="{FF2B5EF4-FFF2-40B4-BE49-F238E27FC236}">
                <a16:creationId xmlns:a16="http://schemas.microsoft.com/office/drawing/2014/main" id="{8F405BBC-636C-4EF8-8950-44D8660213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39</a:t>
            </a:r>
          </a:p>
        </p:txBody>
      </p:sp>
    </p:spTree>
    <p:extLst>
      <p:ext uri="{BB962C8B-B14F-4D97-AF65-F5344CB8AC3E}">
        <p14:creationId xmlns:p14="http://schemas.microsoft.com/office/powerpoint/2010/main" val="5636960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C4E2C3F-EA76-421A-A5B0-A5385D92D8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5B371C-EBF3-4CDD-8D1A-BDC5052F0F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6FCA44A1-D428-441F-A096-E9FC79B536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75256CB4-2649-458C-B0CA-D90B7ACBDC1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943CE1-C4FA-4379-8B25-B3EB2E62BBFA}"/>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78A289B-47B1-4145-883E-B395804FAA4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B7282C-A7F0-4CDB-AB9E-D0C1D74977C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0B1246B6-004B-4ED2-84EE-EEE011A3276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49A425-3D9F-43A2-84C3-0F2581D28AA3}"/>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32BE3DB-4807-49B4-ADF2-AB27931C8AD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96893B-FC8C-44B7-BB9D-F9759FDF4A8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6EFF09FD-0A75-40C4-8AA6-34099E7088F9}"/>
              </a:ext>
            </a:extLst>
          </p:cNvPr>
          <p:cNvPicPr>
            <a:picLocks xmlns:a="http://schemas.openxmlformats.org/drawingml/2006/main" noChangeAspect="1"/>
          </p:cNvPicPr>
          <p:nvPr/>
        </p:nvPicPr>
        <p:blipFill>
          <a:blip xmlns:r="http://schemas.openxmlformats.org/officeDocument/2006/relationships" xmlns:a="http://schemas.openxmlformats.org/drawingml/2006/main" r:embed="R42cc9d8254cf47d9"/>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4685BF5-E80C-423C-965B-72A6313D391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198000F1-49D1-4248-A0D0-D795593328C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0F806C9-14A8-4AA1-897D-E3DB3461DDD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5412a23906a4539"/>
              </a:rPr>
              <a:t>Open this week’s quiz</a:t>
            </a:r>
          </a:p>
        </p:txBody>
      </p:sp>
      <p:sp>
        <p:nvSpPr>
          <p:cNvPr id="16" name="">
            <a:extLst xmlns:a="http://schemas.openxmlformats.org/drawingml/2006/main">
              <a:ext uri="{FF2B5EF4-FFF2-40B4-BE49-F238E27FC236}">
                <a16:creationId xmlns:a16="http://schemas.microsoft.com/office/drawing/2014/main" id="{B26310AE-104B-4512-9841-4F17C158A37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https://forms.gle/U2h5A1itpmZZTogm6</a:t>
            </a:r>
          </a:p>
        </p:txBody>
      </p:sp>
      <p:sp>
        <p:nvSpPr>
          <p:cNvPr id="17" name="">
            <a:extLst xmlns:a="http://schemas.openxmlformats.org/drawingml/2006/main">
              <a:ext uri="{FF2B5EF4-FFF2-40B4-BE49-F238E27FC236}">
                <a16:creationId xmlns:a16="http://schemas.microsoft.com/office/drawing/2014/main" id="{9E364642-6C15-433D-8EFA-601B912A3B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40</a:t>
            </a:r>
          </a:p>
        </p:txBody>
      </p:sp>
    </p:spTree>
    <p:extLst>
      <p:ext uri="{BB962C8B-B14F-4D97-AF65-F5344CB8AC3E}">
        <p14:creationId xmlns:p14="http://schemas.microsoft.com/office/powerpoint/2010/main" val="1158327698"/>
      </p:ext>
    </p:extLst>
  </p:cSld>
</p:sld>
</file>

<file path=ppt/slides/slide4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8C01FA-0D95-482E-841F-38CC4D3BB1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CA977C5-3B56-4B87-8830-79B80D660F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D1834C10-CBF7-4FF2-A9DF-17483EED56A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A867A15C-D0A2-4EDB-BEA1-D969F95EC4D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each cleaning or modelling decision using your pandas table and its outputs.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53F6FA4C-E93F-4DC1-BA53-30E5BF13180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E43467CD-D177-48AA-8768-955088738E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9   41</a:t>
            </a:r>
          </a:p>
        </p:txBody>
      </p:sp>
    </p:spTree>
    <p:extLst>
      <p:ext uri="{BB962C8B-B14F-4D97-AF65-F5344CB8AC3E}">
        <p14:creationId xmlns:p14="http://schemas.microsoft.com/office/powerpoint/2010/main" val="35650551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2F291D6-280E-4045-887D-24213CD8F1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2D1CEE-59E1-4CA1-8399-7DFFF0F13E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B8F1C671-B950-486E-A3F7-71C7F8D745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8F657C4B-69AA-4A39-96AF-2B6E7C8711F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5514A6-E600-4C8B-BE3B-B609B7AFFA0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AD2CC5FD-BD4D-49DB-97E5-EEE79057D89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A54B49A-C303-4500-8253-F341923FF6D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E95CA40B-FAD8-41F3-8B63-3CA22DD0C5B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16DE8E-29F7-4EE0-B2D4-9E65C0C7619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7135CBF-D251-492E-822E-C2969255F7A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A0BEBC4-983D-423B-A0A2-DF73AC8B7A7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9F34EC0F-10C8-493B-B9A7-A641961DFAA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D98463B-0349-44F0-B59D-CFEB789AFD9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e84c1b68e0a4f2e"/>
              </a:rPr>
              <a:t>Open explainer video</a:t>
            </a:r>
          </a:p>
        </p:txBody>
      </p:sp>
      <p:sp>
        <p:nvSpPr>
          <p:cNvPr id="14" name="">
            <a:extLst xmlns:a="http://schemas.openxmlformats.org/drawingml/2006/main">
              <a:ext uri="{FF2B5EF4-FFF2-40B4-BE49-F238E27FC236}">
                <a16:creationId xmlns:a16="http://schemas.microsoft.com/office/drawing/2014/main" id="{3422F33E-FF1B-4DC7-BD00-71209E9DC5E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4691D95B-1F4C-4A89-BD19-1D2BA20C96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42</a:t>
            </a:r>
          </a:p>
        </p:txBody>
      </p:sp>
    </p:spTree>
    <p:extLst>
      <p:ext uri="{BB962C8B-B14F-4D97-AF65-F5344CB8AC3E}">
        <p14:creationId xmlns:p14="http://schemas.microsoft.com/office/powerpoint/2010/main" val="18576190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2026-10-20T18:02:11.7100000Z</dcterms:created>
  <dcterms:modified xsi:type="dcterms:W3CDTF">2026-10-20T18:02:11.7100000Z</dcterms:modified>
</coreProperties>
</file>