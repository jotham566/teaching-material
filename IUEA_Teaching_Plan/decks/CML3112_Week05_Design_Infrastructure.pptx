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c5f1c277e3b64f36" /><Relationship Type="http://schemas.openxmlformats.org/officeDocument/2006/relationships/extended-properties" Target="/docProps/app.xml" Id="R7792f274c50a4895" /><Relationship Type="http://schemas.openxmlformats.org/officeDocument/2006/relationships/officeDocument" Target="/ppt/presentation.xml" Id="R4db7f04dca804690" /></Relationships>
</file>

<file path=ppt/presentation.xml><?xml version="1.0" encoding="utf-8"?>
<p:presentation xmlns:p="http://schemas.openxmlformats.org/presentationml/2006/main">
  <p:sldMasterIdLst>
    <p:sldMasterId xmlns:r="http://schemas.openxmlformats.org/officeDocument/2006/relationships" id="2147483648" r:id="R3bf76b999546408a"/>
  </p:sldMasterIdLst>
  <p:notesMasterIdLst>
    <p:notesMasterId xmlns:r="http://schemas.openxmlformats.org/officeDocument/2006/relationships" r:id="Rcd7a6068aec241da"/>
  </p:notesMasterIdLst>
  <p:sldIdLst>
    <p:sldId xmlns:r="http://schemas.openxmlformats.org/officeDocument/2006/relationships" id="256" r:id="R5b878bcf692948fa"/>
    <p:sldId xmlns:r="http://schemas.openxmlformats.org/officeDocument/2006/relationships" id="257" r:id="Raf16b230ac7c4af3"/>
    <p:sldId xmlns:r="http://schemas.openxmlformats.org/officeDocument/2006/relationships" id="258" r:id="R61ccf8c3981e4da8"/>
    <p:sldId xmlns:r="http://schemas.openxmlformats.org/officeDocument/2006/relationships" id="259" r:id="R68b009bdb4624d44"/>
    <p:sldId xmlns:r="http://schemas.openxmlformats.org/officeDocument/2006/relationships" id="260" r:id="R80638a2dac134fa9"/>
    <p:sldId xmlns:r="http://schemas.openxmlformats.org/officeDocument/2006/relationships" id="261" r:id="Rde7be80ee4014320"/>
    <p:sldId xmlns:r="http://schemas.openxmlformats.org/officeDocument/2006/relationships" id="262" r:id="R831cc9deb775406a"/>
    <p:sldId xmlns:r="http://schemas.openxmlformats.org/officeDocument/2006/relationships" id="263" r:id="R527c3b32ef634e78"/>
    <p:sldId xmlns:r="http://schemas.openxmlformats.org/officeDocument/2006/relationships" id="264" r:id="R09fb926bebaf4630"/>
    <p:sldId xmlns:r="http://schemas.openxmlformats.org/officeDocument/2006/relationships" id="265" r:id="R39d4a14b435b4953"/>
    <p:sldId xmlns:r="http://schemas.openxmlformats.org/officeDocument/2006/relationships" id="266" r:id="R296e9b3745f0432b"/>
    <p:sldId xmlns:r="http://schemas.openxmlformats.org/officeDocument/2006/relationships" id="267" r:id="R84009f8cff324929"/>
    <p:sldId xmlns:r="http://schemas.openxmlformats.org/officeDocument/2006/relationships" id="268" r:id="Recf61bfd4f9f4f8d"/>
    <p:sldId xmlns:r="http://schemas.openxmlformats.org/officeDocument/2006/relationships" id="269" r:id="Rdee0b88207824d5c"/>
    <p:sldId xmlns:r="http://schemas.openxmlformats.org/officeDocument/2006/relationships" id="270" r:id="Ree449cdc59b14fca"/>
    <p:sldId xmlns:r="http://schemas.openxmlformats.org/officeDocument/2006/relationships" id="271" r:id="R5084c0e013fb4771"/>
    <p:sldId xmlns:r="http://schemas.openxmlformats.org/officeDocument/2006/relationships" id="272" r:id="Rd53915030aeb4eee"/>
    <p:sldId xmlns:r="http://schemas.openxmlformats.org/officeDocument/2006/relationships" id="273" r:id="Rcbe6a5545a664475"/>
    <p:sldId xmlns:r="http://schemas.openxmlformats.org/officeDocument/2006/relationships" id="274" r:id="R377cba4fd1d74ff9"/>
    <p:sldId xmlns:r="http://schemas.openxmlformats.org/officeDocument/2006/relationships" id="275" r:id="R311f95864cb94435"/>
    <p:sldId xmlns:r="http://schemas.openxmlformats.org/officeDocument/2006/relationships" id="276" r:id="Rc04d5128aba2417c"/>
    <p:sldId xmlns:r="http://schemas.openxmlformats.org/officeDocument/2006/relationships" id="277" r:id="Rd9985a4091ca4332"/>
    <p:sldId xmlns:r="http://schemas.openxmlformats.org/officeDocument/2006/relationships" id="278" r:id="R277afa4bf4ed4932"/>
    <p:sldId xmlns:r="http://schemas.openxmlformats.org/officeDocument/2006/relationships" id="279" r:id="R08981686915b4f16"/>
    <p:sldId xmlns:r="http://schemas.openxmlformats.org/officeDocument/2006/relationships" id="280" r:id="R1e66453cd9e6495d"/>
    <p:sldId xmlns:r="http://schemas.openxmlformats.org/officeDocument/2006/relationships" id="281" r:id="R790d15cb3d864815"/>
    <p:sldId xmlns:r="http://schemas.openxmlformats.org/officeDocument/2006/relationships" id="282" r:id="R57754fa2be634b48"/>
    <p:sldId xmlns:r="http://schemas.openxmlformats.org/officeDocument/2006/relationships" id="283" r:id="Rea814dae09ec4f3b"/>
    <p:sldId xmlns:r="http://schemas.openxmlformats.org/officeDocument/2006/relationships" id="284" r:id="Rc676af32032641a2"/>
    <p:sldId xmlns:r="http://schemas.openxmlformats.org/officeDocument/2006/relationships" id="285" r:id="R7706a0fb8b934176"/>
    <p:sldId xmlns:r="http://schemas.openxmlformats.org/officeDocument/2006/relationships" id="286" r:id="R0e81fdaf756a4301"/>
    <p:sldId xmlns:r="http://schemas.openxmlformats.org/officeDocument/2006/relationships" id="287" r:id="R8b8126cfd58645a8"/>
    <p:sldId xmlns:r="http://schemas.openxmlformats.org/officeDocument/2006/relationships" id="288" r:id="R6b885be37df546a4"/>
    <p:sldId xmlns:r="http://schemas.openxmlformats.org/officeDocument/2006/relationships" id="289" r:id="R38905f84168a436a"/>
    <p:sldId xmlns:r="http://schemas.openxmlformats.org/officeDocument/2006/relationships" id="290" r:id="R37d19243d80e4787"/>
    <p:sldId xmlns:r="http://schemas.openxmlformats.org/officeDocument/2006/relationships" id="291" r:id="R0234b0d4e7384122"/>
    <p:sldId xmlns:r="http://schemas.openxmlformats.org/officeDocument/2006/relationships" id="292" r:id="R3bc032340eb940b8"/>
    <p:sldId xmlns:r="http://schemas.openxmlformats.org/officeDocument/2006/relationships" id="293" r:id="R3f5089bf5be54879"/>
    <p:sldId xmlns:r="http://schemas.openxmlformats.org/officeDocument/2006/relationships" id="294" r:id="Rb1e853295e9449ad"/>
    <p:sldId xmlns:r="http://schemas.openxmlformats.org/officeDocument/2006/relationships" id="295" r:id="R47777c43e2884cdd"/>
    <p:sldId xmlns:r="http://schemas.openxmlformats.org/officeDocument/2006/relationships" id="296" r:id="R6d77d8c6f60f48de"/>
    <p:sldId xmlns:r="http://schemas.openxmlformats.org/officeDocument/2006/relationships" id="297" r:id="Rc607b8427e694397"/>
    <p:sldId xmlns:r="http://schemas.openxmlformats.org/officeDocument/2006/relationships" id="298" r:id="Rc0306a12de7d47d3"/>
    <p:sldId xmlns:r="http://schemas.openxmlformats.org/officeDocument/2006/relationships" id="299" r:id="R4eda395b348841d6"/>
  </p:sldIdLst>
  <p:sldSz cx="12191695"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de3615aa09d6417b" /><Relationship Type="http://schemas.openxmlformats.org/officeDocument/2006/relationships/slideMaster" Target="/ppt/slideMasters/slideMaster1.xml" Id="R3bf76b999546408a" /><Relationship Type="http://schemas.openxmlformats.org/officeDocument/2006/relationships/notesMaster" Target="/ppt/notesMasters/notesMaster1.xml" Id="Rcd7a6068aec241da" /><Relationship Type="http://schemas.openxmlformats.org/officeDocument/2006/relationships/presProps" Target="/ppt/presProps.xml" Id="Rf24eed39ef9c484d" /><Relationship Type="http://schemas.openxmlformats.org/officeDocument/2006/relationships/tableStyles" Target="/ppt/tableStyles.xml" Id="R6779d66c3e4a40eb" /><Relationship Type="http://schemas.openxmlformats.org/officeDocument/2006/relationships/slide" Target="/ppt/slides/slide1.xml" Id="R5b878bcf692948fa" /><Relationship Type="http://schemas.openxmlformats.org/officeDocument/2006/relationships/slide" Target="/ppt/slides/slide2.xml" Id="Raf16b230ac7c4af3" /><Relationship Type="http://schemas.openxmlformats.org/officeDocument/2006/relationships/slide" Target="/ppt/slides/slide3.xml" Id="R61ccf8c3981e4da8" /><Relationship Type="http://schemas.openxmlformats.org/officeDocument/2006/relationships/slide" Target="/ppt/slides/slide4.xml" Id="R68b009bdb4624d44" /><Relationship Type="http://schemas.openxmlformats.org/officeDocument/2006/relationships/slide" Target="/ppt/slides/slide5.xml" Id="R80638a2dac134fa9" /><Relationship Type="http://schemas.openxmlformats.org/officeDocument/2006/relationships/slide" Target="/ppt/slides/slide6.xml" Id="Rde7be80ee4014320" /><Relationship Type="http://schemas.openxmlformats.org/officeDocument/2006/relationships/slide" Target="/ppt/slides/slide7.xml" Id="R831cc9deb775406a" /><Relationship Type="http://schemas.openxmlformats.org/officeDocument/2006/relationships/slide" Target="/ppt/slides/slide8.xml" Id="R527c3b32ef634e78" /><Relationship Type="http://schemas.openxmlformats.org/officeDocument/2006/relationships/slide" Target="/ppt/slides/slide9.xml" Id="R09fb926bebaf4630" /><Relationship Type="http://schemas.openxmlformats.org/officeDocument/2006/relationships/slide" Target="/ppt/slides/slide10.xml" Id="R39d4a14b435b4953" /><Relationship Type="http://schemas.openxmlformats.org/officeDocument/2006/relationships/slide" Target="/ppt/slides/slide11.xml" Id="R296e9b3745f0432b" /><Relationship Type="http://schemas.openxmlformats.org/officeDocument/2006/relationships/slide" Target="/ppt/slides/slide12.xml" Id="R84009f8cff324929" /><Relationship Type="http://schemas.openxmlformats.org/officeDocument/2006/relationships/slide" Target="/ppt/slides/slide13.xml" Id="Recf61bfd4f9f4f8d" /><Relationship Type="http://schemas.openxmlformats.org/officeDocument/2006/relationships/slide" Target="/ppt/slides/slide14.xml" Id="Rdee0b88207824d5c" /><Relationship Type="http://schemas.openxmlformats.org/officeDocument/2006/relationships/slide" Target="/ppt/slides/slide15.xml" Id="Ree449cdc59b14fca" /><Relationship Type="http://schemas.openxmlformats.org/officeDocument/2006/relationships/slide" Target="/ppt/slides/slide16.xml" Id="R5084c0e013fb4771" /><Relationship Type="http://schemas.openxmlformats.org/officeDocument/2006/relationships/slide" Target="/ppt/slides/slide17.xml" Id="Rd53915030aeb4eee" /><Relationship Type="http://schemas.openxmlformats.org/officeDocument/2006/relationships/slide" Target="/ppt/slides/slide18.xml" Id="Rcbe6a5545a664475" /><Relationship Type="http://schemas.openxmlformats.org/officeDocument/2006/relationships/slide" Target="/ppt/slides/slide19.xml" Id="R377cba4fd1d74ff9" /><Relationship Type="http://schemas.openxmlformats.org/officeDocument/2006/relationships/slide" Target="/ppt/slides/slide20.xml" Id="R311f95864cb94435" /><Relationship Type="http://schemas.openxmlformats.org/officeDocument/2006/relationships/slide" Target="/ppt/slides/slide21.xml" Id="Rc04d5128aba2417c" /><Relationship Type="http://schemas.openxmlformats.org/officeDocument/2006/relationships/slide" Target="/ppt/slides/slide22.xml" Id="Rd9985a4091ca4332" /><Relationship Type="http://schemas.openxmlformats.org/officeDocument/2006/relationships/slide" Target="/ppt/slides/slide23.xml" Id="R277afa4bf4ed4932" /><Relationship Type="http://schemas.openxmlformats.org/officeDocument/2006/relationships/slide" Target="/ppt/slides/slide24.xml" Id="R08981686915b4f16" /><Relationship Type="http://schemas.openxmlformats.org/officeDocument/2006/relationships/slide" Target="/ppt/slides/slide25.xml" Id="R1e66453cd9e6495d" /><Relationship Type="http://schemas.openxmlformats.org/officeDocument/2006/relationships/slide" Target="/ppt/slides/slide26.xml" Id="R790d15cb3d864815" /><Relationship Type="http://schemas.openxmlformats.org/officeDocument/2006/relationships/slide" Target="/ppt/slides/slide27.xml" Id="R57754fa2be634b48" /><Relationship Type="http://schemas.openxmlformats.org/officeDocument/2006/relationships/slide" Target="/ppt/slides/slide28.xml" Id="Rea814dae09ec4f3b" /><Relationship Type="http://schemas.openxmlformats.org/officeDocument/2006/relationships/slide" Target="/ppt/slides/slide29.xml" Id="Rc676af32032641a2" /><Relationship Type="http://schemas.openxmlformats.org/officeDocument/2006/relationships/slide" Target="/ppt/slides/slide30.xml" Id="R7706a0fb8b934176" /><Relationship Type="http://schemas.openxmlformats.org/officeDocument/2006/relationships/slide" Target="/ppt/slides/slide31.xml" Id="R0e81fdaf756a4301" /><Relationship Type="http://schemas.openxmlformats.org/officeDocument/2006/relationships/slide" Target="/ppt/slides/slide32.xml" Id="R8b8126cfd58645a8" /><Relationship Type="http://schemas.openxmlformats.org/officeDocument/2006/relationships/slide" Target="/ppt/slides/slide33.xml" Id="R6b885be37df546a4" /><Relationship Type="http://schemas.openxmlformats.org/officeDocument/2006/relationships/slide" Target="/ppt/slides/slide34.xml" Id="R38905f84168a436a" /><Relationship Type="http://schemas.openxmlformats.org/officeDocument/2006/relationships/slide" Target="/ppt/slides/slide35.xml" Id="R37d19243d80e4787" /><Relationship Type="http://schemas.openxmlformats.org/officeDocument/2006/relationships/slide" Target="/ppt/slides/slide36.xml" Id="R0234b0d4e7384122" /><Relationship Type="http://schemas.openxmlformats.org/officeDocument/2006/relationships/slide" Target="/ppt/slides/slide37.xml" Id="R3bc032340eb940b8" /><Relationship Type="http://schemas.openxmlformats.org/officeDocument/2006/relationships/slide" Target="/ppt/slides/slide38.xml" Id="R3f5089bf5be54879" /><Relationship Type="http://schemas.openxmlformats.org/officeDocument/2006/relationships/slide" Target="/ppt/slides/slide39.xml" Id="Rb1e853295e9449ad" /><Relationship Type="http://schemas.openxmlformats.org/officeDocument/2006/relationships/slide" Target="/ppt/slides/slide40.xml" Id="R47777c43e2884cdd" /><Relationship Type="http://schemas.openxmlformats.org/officeDocument/2006/relationships/slide" Target="/ppt/slides/slide41.xml" Id="R6d77d8c6f60f48de" /><Relationship Type="http://schemas.openxmlformats.org/officeDocument/2006/relationships/slide" Target="/ppt/slides/slide42.xml" Id="Rc607b8427e694397" /><Relationship Type="http://schemas.openxmlformats.org/officeDocument/2006/relationships/slide" Target="/ppt/slides/slide43.xml" Id="Rc0306a12de7d47d3" /><Relationship Type="http://schemas.openxmlformats.org/officeDocument/2006/relationships/slide" Target="/ppt/slides/slide44.xml" Id="R4eda395b348841d6"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2ac5442d19f847cf"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7a0c412a78e04634" /><Relationship Type="http://schemas.openxmlformats.org/officeDocument/2006/relationships/notesMaster" Target="/ppt/notesMasters/notesMaster1.xml" Id="R7b2c9c5f606d4f3b" /></Relationships>
</file>

<file path=ppt/notesSlides/_rels/notesSlide2.xml.rels>&#65279;<?xml version="1.0" encoding="utf-8"?><Relationships xmlns="http://schemas.openxmlformats.org/package/2006/relationships"><Relationship Type="http://schemas.openxmlformats.org/officeDocument/2006/relationships/slide" Target="/ppt/slides/slide2.xml" Id="Rbd7af735b5b74df4" /><Relationship Type="http://schemas.openxmlformats.org/officeDocument/2006/relationships/notesMaster" Target="/ppt/notesMasters/notesMaster1.xml" Id="R572fef4548f844ac" /></Relationships>
</file>

<file path=ppt/notesSlides/_rels/notesSlide3.xml.rels>&#65279;<?xml version="1.0" encoding="utf-8"?><Relationships xmlns="http://schemas.openxmlformats.org/package/2006/relationships"><Relationship Type="http://schemas.openxmlformats.org/officeDocument/2006/relationships/slide" Target="/ppt/slides/slide3.xml" Id="Rc197c6c7b8294342" /><Relationship Type="http://schemas.openxmlformats.org/officeDocument/2006/relationships/notesMaster" Target="/ppt/notesMasters/notesMaster1.xml" Id="R5e881c63b942452d" /></Relationships>
</file>

<file path=ppt/notesSlides/_rels/notesSlide4.xml.rels>&#65279;<?xml version="1.0" encoding="utf-8"?><Relationships xmlns="http://schemas.openxmlformats.org/package/2006/relationships"><Relationship Type="http://schemas.openxmlformats.org/officeDocument/2006/relationships/slide" Target="/ppt/slides/slide4.xml" Id="Re23cbd67926b4514" /><Relationship Type="http://schemas.openxmlformats.org/officeDocument/2006/relationships/notesMaster" Target="/ppt/notesMasters/notesMaster1.xml" Id="R9784369f4312439f" /></Relationships>
</file>

<file path=ppt/notesSlides/_rels/notesSlide5.xml.rels>&#65279;<?xml version="1.0" encoding="utf-8"?><Relationships xmlns="http://schemas.openxmlformats.org/package/2006/relationships"><Relationship Type="http://schemas.openxmlformats.org/officeDocument/2006/relationships/slide" Target="/ppt/slides/slide5.xml" Id="Rd389601b4faa41e2" /><Relationship Type="http://schemas.openxmlformats.org/officeDocument/2006/relationships/notesMaster" Target="/ppt/notesMasters/notesMaster1.xml" Id="R9d7514c7c4024254" /></Relationships>
</file>

<file path=ppt/notesSlides/_rels/notesSlide6.xml.rels>&#65279;<?xml version="1.0" encoding="utf-8"?><Relationships xmlns="http://schemas.openxmlformats.org/package/2006/relationships"><Relationship Type="http://schemas.openxmlformats.org/officeDocument/2006/relationships/slide" Target="/ppt/slides/slide6.xml" Id="Rd2d11db1ee6e4bc5" /><Relationship Type="http://schemas.openxmlformats.org/officeDocument/2006/relationships/notesMaster" Target="/ppt/notesMasters/notesMaster1.xml" Id="Ra26d8efcb30a4c01" /></Relationships>
</file>

<file path=ppt/notesSlides/_rels/notesSlide7.xml.rels>&#65279;<?xml version="1.0" encoding="utf-8"?><Relationships xmlns="http://schemas.openxmlformats.org/package/2006/relationships"><Relationship Type="http://schemas.openxmlformats.org/officeDocument/2006/relationships/slide" Target="/ppt/slides/slide7.xml" Id="R09131053bac54fca" /><Relationship Type="http://schemas.openxmlformats.org/officeDocument/2006/relationships/notesMaster" Target="/ppt/notesMasters/notesMaster1.xml" Id="Rad2ab20019bc4788" /></Relationships>
</file>

<file path=ppt/notesSlides/_rels/notesSlide8.xml.rels>&#65279;<?xml version="1.0" encoding="utf-8"?><Relationships xmlns="http://schemas.openxmlformats.org/package/2006/relationships"><Relationship Type="http://schemas.openxmlformats.org/officeDocument/2006/relationships/slide" Target="/ppt/slides/slide8.xml" Id="R05af7282618c45dd" /><Relationship Type="http://schemas.openxmlformats.org/officeDocument/2006/relationships/notesMaster" Target="/ppt/notesMasters/notesMaster1.xml" Id="Raf590f5841d54ff7" /></Relationships>
</file>

<file path=ppt/notesSlides/_rels/notesSlide9.xml.rels>&#65279;<?xml version="1.0" encoding="utf-8"?><Relationships xmlns="http://schemas.openxmlformats.org/package/2006/relationships"><Relationship Type="http://schemas.openxmlformats.org/officeDocument/2006/relationships/slide" Target="/ppt/slides/slide9.xml" Id="Rd7cb9e5a21f543a9" /><Relationship Type="http://schemas.openxmlformats.org/officeDocument/2006/relationships/notesMaster" Target="/ppt/notesMasters/notesMaster1.xml" Id="Rc1cfed4f2d0741fc"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3a7d43cdf2fa4258" /><Relationship Type="http://schemas.openxmlformats.org/officeDocument/2006/relationships/notesMaster" Target="/ppt/notesMasters/notesMaster1.xml" Id="Rf1e5972c324940c3"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19a315cfdfc54406" /><Relationship Type="http://schemas.openxmlformats.org/officeDocument/2006/relationships/notesMaster" Target="/ppt/notesMasters/notesMaster1.xml" Id="Rc44544e209c441ce"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014cab331f19461a" /><Relationship Type="http://schemas.openxmlformats.org/officeDocument/2006/relationships/notesMaster" Target="/ppt/notesMasters/notesMaster1.xml" Id="R93d09c99e5464cc1"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c291944770954c6e" /><Relationship Type="http://schemas.openxmlformats.org/officeDocument/2006/relationships/notesMaster" Target="/ppt/notesMasters/notesMaster1.xml" Id="R6c3ccfa58ec44734"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a16538b21edc4155" /><Relationship Type="http://schemas.openxmlformats.org/officeDocument/2006/relationships/notesMaster" Target="/ppt/notesMasters/notesMaster1.xml" Id="R5d9af247e18243ff"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8b0ecaed119342bf" /><Relationship Type="http://schemas.openxmlformats.org/officeDocument/2006/relationships/notesMaster" Target="/ppt/notesMasters/notesMaster1.xml" Id="R6098cf56fe78480f"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7a416bdf3cb6481c" /><Relationship Type="http://schemas.openxmlformats.org/officeDocument/2006/relationships/notesMaster" Target="/ppt/notesMasters/notesMaster1.xml" Id="Reca94357e5e044e0"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5b516661fd9b45ab" /><Relationship Type="http://schemas.openxmlformats.org/officeDocument/2006/relationships/notesMaster" Target="/ppt/notesMasters/notesMaster1.xml" Id="Re2818974f3c44e4e"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67383e1c9bf141e8" /><Relationship Type="http://schemas.openxmlformats.org/officeDocument/2006/relationships/notesMaster" Target="/ppt/notesMasters/notesMaster1.xml" Id="Rf4f6f714c8b249a6"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8c4c4d999cef4440" /><Relationship Type="http://schemas.openxmlformats.org/officeDocument/2006/relationships/notesMaster" Target="/ppt/notesMasters/notesMaster1.xml" Id="Ref335a68d3de4ec5"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5cb100a0e7f44903" /><Relationship Type="http://schemas.openxmlformats.org/officeDocument/2006/relationships/notesMaster" Target="/ppt/notesMasters/notesMaster1.xml" Id="R324d6b4947cc482e"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e71f79c5593740e8" /><Relationship Type="http://schemas.openxmlformats.org/officeDocument/2006/relationships/notesMaster" Target="/ppt/notesMasters/notesMaster1.xml" Id="Rf17cb94359634d50"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2392f697743645d5" /><Relationship Type="http://schemas.openxmlformats.org/officeDocument/2006/relationships/notesMaster" Target="/ppt/notesMasters/notesMaster1.xml" Id="R74bc355203204fe6"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8292d38e1fa84f01" /><Relationship Type="http://schemas.openxmlformats.org/officeDocument/2006/relationships/notesMaster" Target="/ppt/notesMasters/notesMaster1.xml" Id="R4fcfc65ee6f94283"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5b207f1491ea4805" /><Relationship Type="http://schemas.openxmlformats.org/officeDocument/2006/relationships/notesMaster" Target="/ppt/notesMasters/notesMaster1.xml" Id="R0dbf1f88ccf342c6"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c9137b8727b54f66" /><Relationship Type="http://schemas.openxmlformats.org/officeDocument/2006/relationships/notesMaster" Target="/ppt/notesMasters/notesMaster1.xml" Id="Re07d1cd404d84aae"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3bcfaa8fe1e54745" /><Relationship Type="http://schemas.openxmlformats.org/officeDocument/2006/relationships/notesMaster" Target="/ppt/notesMasters/notesMaster1.xml" Id="R722af8435e6a4c60"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2126e791ac1d443f" /><Relationship Type="http://schemas.openxmlformats.org/officeDocument/2006/relationships/notesMaster" Target="/ppt/notesMasters/notesMaster1.xml" Id="R4f37e7afeb8944ae"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955c17f99960456d" /><Relationship Type="http://schemas.openxmlformats.org/officeDocument/2006/relationships/notesMaster" Target="/ppt/notesMasters/notesMaster1.xml" Id="R0654871dfa6d4e78"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7a9021ed2e3e47ee" /><Relationship Type="http://schemas.openxmlformats.org/officeDocument/2006/relationships/notesMaster" Target="/ppt/notesMasters/notesMaster1.xml" Id="R9e30c94dd01449ba"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bb77591637ae4c6e" /><Relationship Type="http://schemas.openxmlformats.org/officeDocument/2006/relationships/notesMaster" Target="/ppt/notesMasters/notesMaster1.xml" Id="R99b002794ace4fab"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ff2d6fb1dc7b4667" /><Relationship Type="http://schemas.openxmlformats.org/officeDocument/2006/relationships/notesMaster" Target="/ppt/notesMasters/notesMaster1.xml" Id="R612e79bdf79648ba" /></Relationships>
</file>

<file path=ppt/notesSlides/_rels/notesSlide32.xml.rels>&#65279;<?xml version="1.0" encoding="utf-8"?><Relationships xmlns="http://schemas.openxmlformats.org/package/2006/relationships"><Relationship Type="http://schemas.openxmlformats.org/officeDocument/2006/relationships/slide" Target="/ppt/slides/slide32.xml" Id="R9a0e7444bb0b4a0f" /><Relationship Type="http://schemas.openxmlformats.org/officeDocument/2006/relationships/notesMaster" Target="/ppt/notesMasters/notesMaster1.xml" Id="R5a7a3859a3a4450a" /></Relationships>
</file>

<file path=ppt/notesSlides/_rels/notesSlide33.xml.rels>&#65279;<?xml version="1.0" encoding="utf-8"?><Relationships xmlns="http://schemas.openxmlformats.org/package/2006/relationships"><Relationship Type="http://schemas.openxmlformats.org/officeDocument/2006/relationships/slide" Target="/ppt/slides/slide33.xml" Id="R722cb385313e414c" /><Relationship Type="http://schemas.openxmlformats.org/officeDocument/2006/relationships/notesMaster" Target="/ppt/notesMasters/notesMaster1.xml" Id="Rb6aadc6a35984b03" /></Relationships>
</file>

<file path=ppt/notesSlides/_rels/notesSlide34.xml.rels>&#65279;<?xml version="1.0" encoding="utf-8"?><Relationships xmlns="http://schemas.openxmlformats.org/package/2006/relationships"><Relationship Type="http://schemas.openxmlformats.org/officeDocument/2006/relationships/slide" Target="/ppt/slides/slide34.xml" Id="R262dd9a45014495f" /><Relationship Type="http://schemas.openxmlformats.org/officeDocument/2006/relationships/notesMaster" Target="/ppt/notesMasters/notesMaster1.xml" Id="R3c06dad8698244e7" /></Relationships>
</file>

<file path=ppt/notesSlides/_rels/notesSlide35.xml.rels>&#65279;<?xml version="1.0" encoding="utf-8"?><Relationships xmlns="http://schemas.openxmlformats.org/package/2006/relationships"><Relationship Type="http://schemas.openxmlformats.org/officeDocument/2006/relationships/slide" Target="/ppt/slides/slide35.xml" Id="R083f4c5d122147a9" /><Relationship Type="http://schemas.openxmlformats.org/officeDocument/2006/relationships/notesMaster" Target="/ppt/notesMasters/notesMaster1.xml" Id="R7315d4ce3ef347fa" /></Relationships>
</file>

<file path=ppt/notesSlides/_rels/notesSlide36.xml.rels>&#65279;<?xml version="1.0" encoding="utf-8"?><Relationships xmlns="http://schemas.openxmlformats.org/package/2006/relationships"><Relationship Type="http://schemas.openxmlformats.org/officeDocument/2006/relationships/slide" Target="/ppt/slides/slide36.xml" Id="R3d38a21d74e54dee" /><Relationship Type="http://schemas.openxmlformats.org/officeDocument/2006/relationships/notesMaster" Target="/ppt/notesMasters/notesMaster1.xml" Id="R622831f4d35a43c2" /></Relationships>
</file>

<file path=ppt/notesSlides/_rels/notesSlide37.xml.rels>&#65279;<?xml version="1.0" encoding="utf-8"?><Relationships xmlns="http://schemas.openxmlformats.org/package/2006/relationships"><Relationship Type="http://schemas.openxmlformats.org/officeDocument/2006/relationships/slide" Target="/ppt/slides/slide37.xml" Id="Rcd2fb9c992ae483a" /><Relationship Type="http://schemas.openxmlformats.org/officeDocument/2006/relationships/notesMaster" Target="/ppt/notesMasters/notesMaster1.xml" Id="R8fdbb1fef23c4390" /></Relationships>
</file>

<file path=ppt/notesSlides/_rels/notesSlide38.xml.rels>&#65279;<?xml version="1.0" encoding="utf-8"?><Relationships xmlns="http://schemas.openxmlformats.org/package/2006/relationships"><Relationship Type="http://schemas.openxmlformats.org/officeDocument/2006/relationships/slide" Target="/ppt/slides/slide38.xml" Id="R585525caa0d24c34" /><Relationship Type="http://schemas.openxmlformats.org/officeDocument/2006/relationships/notesMaster" Target="/ppt/notesMasters/notesMaster1.xml" Id="R32dbd6bf5c054a61" /></Relationships>
</file>

<file path=ppt/notesSlides/_rels/notesSlide39.xml.rels>&#65279;<?xml version="1.0" encoding="utf-8"?><Relationships xmlns="http://schemas.openxmlformats.org/package/2006/relationships"><Relationship Type="http://schemas.openxmlformats.org/officeDocument/2006/relationships/slide" Target="/ppt/slides/slide39.xml" Id="R7b59466855984435" /><Relationship Type="http://schemas.openxmlformats.org/officeDocument/2006/relationships/notesMaster" Target="/ppt/notesMasters/notesMaster1.xml" Id="R4abae39c54224dc0" /></Relationships>
</file>

<file path=ppt/notesSlides/_rels/notesSlide40.xml.rels>&#65279;<?xml version="1.0" encoding="utf-8"?><Relationships xmlns="http://schemas.openxmlformats.org/package/2006/relationships"><Relationship Type="http://schemas.openxmlformats.org/officeDocument/2006/relationships/slide" Target="/ppt/slides/slide40.xml" Id="R1a98c2090b774123" /><Relationship Type="http://schemas.openxmlformats.org/officeDocument/2006/relationships/notesMaster" Target="/ppt/notesMasters/notesMaster1.xml" Id="Rde0811c6aad0457e" /></Relationships>
</file>

<file path=ppt/notesSlides/_rels/notesSlide41.xml.rels>&#65279;<?xml version="1.0" encoding="utf-8"?><Relationships xmlns="http://schemas.openxmlformats.org/package/2006/relationships"><Relationship Type="http://schemas.openxmlformats.org/officeDocument/2006/relationships/slide" Target="/ppt/slides/slide41.xml" Id="R205f072da5774b1e" /><Relationship Type="http://schemas.openxmlformats.org/officeDocument/2006/relationships/notesMaster" Target="/ppt/notesMasters/notesMaster1.xml" Id="R566c7de9ddfa499b" /></Relationships>
</file>

<file path=ppt/notesSlides/_rels/notesSlide42.xml.rels>&#65279;<?xml version="1.0" encoding="utf-8"?><Relationships xmlns="http://schemas.openxmlformats.org/package/2006/relationships"><Relationship Type="http://schemas.openxmlformats.org/officeDocument/2006/relationships/slide" Target="/ppt/slides/slide42.xml" Id="Rdcd26b68d6424d00" /><Relationship Type="http://schemas.openxmlformats.org/officeDocument/2006/relationships/notesMaster" Target="/ppt/notesMasters/notesMaster1.xml" Id="R2df1686e8ac4442e" /></Relationships>
</file>

<file path=ppt/notesSlides/_rels/notesSlide43.xml.rels>&#65279;<?xml version="1.0" encoding="utf-8"?><Relationships xmlns="http://schemas.openxmlformats.org/package/2006/relationships"><Relationship Type="http://schemas.openxmlformats.org/officeDocument/2006/relationships/slide" Target="/ppt/slides/slide43.xml" Id="R17870267e78242e2" /><Relationship Type="http://schemas.openxmlformats.org/officeDocument/2006/relationships/notesMaster" Target="/ppt/notesMasters/notesMaster1.xml" Id="R77b75aeacabf4e59" /></Relationships>
</file>

<file path=ppt/notesSlides/_rels/notesSlide44.xml.rels>&#65279;<?xml version="1.0" encoding="utf-8"?><Relationships xmlns="http://schemas.openxmlformats.org/package/2006/relationships"><Relationship Type="http://schemas.openxmlformats.org/officeDocument/2006/relationships/slide" Target="/ppt/slides/slide44.xml" Id="R1343092dceae4df4" /><Relationship Type="http://schemas.openxmlformats.org/officeDocument/2006/relationships/notesMaster" Target="/ppt/notesMasters/notesMaster1.xml" Id="R35dd370d24a742e8" /></Relationships>
</file>

<file path=ppt/notesSlides/notesSlide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Using pandas to answer table questions</a:t>
            </a:r>
          </a:p>
          <a:p>
            <a:r>
              <a:t>CML3112, Week 5, slide 1</a:t>
            </a:r>
          </a:p>
          <a:p>
            <a:r>
              <a:t/>
            </a:r>
          </a:p>
          <a:p>
            <a:r>
              <a:t>Explanation to give</a:t>
            </a:r>
          </a:p>
          <a:p>
            <a:r>
              <a:t>pandas performs table operations that build on the lists, records and loops already taught. Explain the row, column and unit before using an operation.</a:t>
            </a:r>
          </a:p>
          <a:p>
            <a:r>
              <a:t/>
            </a:r>
          </a:p>
          <a:p>
            <a:r>
              <a:t>Worked illustration / lecturer answer</a:t>
            </a:r>
          </a:p>
          <a:p>
            <a:r>
              <a:t>A filter retains matching rows. groupby gathers matching labels. For A:2, A:3, B:4, the totals are A:5 and B:4.</a:t>
            </a:r>
          </a:p>
          <a:p>
            <a:r>
              <a:t/>
            </a:r>
          </a:p>
          <a:p>
            <a:r>
              <a:t>Misconception to address</a:t>
            </a:r>
          </a:p>
          <a:p>
            <a:r>
              <a:t>Use this as an orientation to the lesson. Terms and syntax will be unpacked on their own slides; students do not need to know them in advance.</a:t>
            </a:r>
          </a:p>
          <a:p>
            <a:r>
              <a:t/>
            </a:r>
          </a:p>
          <a:p>
            <a:r>
              <a:t>On this slide</a:t>
            </a:r>
          </a:p>
          <a:p>
            <a:r>
              <a:t>Civil Engineering and Architecture</a:t>
            </a:r>
          </a:p>
          <a:p>
            <a:r>
              <a:t/>
            </a:r>
          </a:p>
          <a:p>
            <a:r>
              <a:t>Continue to</a:t>
            </a:r>
          </a:p>
          <a:p>
            <a:r>
              <a:t>Today’s learning</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Today’s learning</a:t>
            </a:r>
          </a:p>
          <a:p>
            <a:r>
              <a:t>CML3112, Week 5, slide 2</a:t>
            </a:r>
          </a:p>
          <a:p>
            <a:r>
              <a:t/>
            </a:r>
          </a:p>
          <a:p>
            <a:r>
              <a:t>Explanation to give</a:t>
            </a:r>
          </a:p>
          <a:p>
            <a:r>
              <a:t>pandas performs table operations that build on the lists, records and loops already taught. Explain the row, column and unit before using an operation.</a:t>
            </a:r>
          </a:p>
          <a:p>
            <a:r>
              <a:t/>
            </a:r>
          </a:p>
          <a:p>
            <a:r>
              <a:t>Worked illustration / lecturer answer</a:t>
            </a:r>
          </a:p>
          <a:p>
            <a:r>
              <a:t>A filter retains matching rows. groupby gathers matching labels. For A:2, A:3, B:4, the totals are A:5 and B:4.</a:t>
            </a:r>
          </a:p>
          <a:p>
            <a:r>
              <a:t/>
            </a:r>
          </a:p>
          <a:p>
            <a:r>
              <a:t>Misconception to address</a:t>
            </a:r>
          </a:p>
          <a:p>
            <a:r>
              <a:t>At the end, check the specific outcome shown here using a small previously demonstrated example. A completed file without an explanation is not evidence of understanding.</a:t>
            </a:r>
          </a:p>
          <a:p>
            <a:r>
              <a:t/>
            </a:r>
          </a:p>
          <a:p>
            <a:r>
              <a:t>On this slide</a:t>
            </a:r>
          </a:p>
          <a:p>
            <a:r>
              <a:t>Read a labelled table and select rows.</a:t>
            </a:r>
          </a:p>
          <a:p>
            <a:r>
              <a:t/>
            </a:r>
          </a:p>
          <a:p>
            <a:r>
              <a:t>Calculate column summaries and grouped totals.</a:t>
            </a:r>
          </a:p>
          <a:p>
            <a:r>
              <a:t/>
            </a:r>
          </a:p>
          <a:p>
            <a:r>
              <a:t>Continue to</a:t>
            </a:r>
          </a:p>
          <a:p>
            <a:r>
              <a:t>Connection to the previous lesson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Connection to the previous lesson</a:t>
            </a:r>
          </a:p>
          <a:p>
            <a:r>
              <a:t>CML3112, Week 5, slide 3</a:t>
            </a:r>
          </a:p>
          <a:p>
            <a:r>
              <a:t/>
            </a:r>
          </a:p>
          <a:p>
            <a:r>
              <a:t>Explanation to give</a:t>
            </a:r>
          </a:p>
          <a:p>
            <a:r>
              <a:t>pandas performs table operations that build on the lists, records and loops already taught. Explain the row, column and unit before using an operation.</a:t>
            </a:r>
          </a:p>
          <a:p>
            <a:r>
              <a:t/>
            </a:r>
          </a:p>
          <a:p>
            <a:r>
              <a:t>Worked illustration / lecturer answer</a:t>
            </a:r>
          </a:p>
          <a:p>
            <a:r>
              <a:t>A filter retains matching rows. groupby gathers matching labels. For A:2, A:3, B:4, the totals are A:5 and B:4.</a:t>
            </a:r>
          </a:p>
          <a:p>
            <a:r>
              <a:t/>
            </a:r>
          </a:p>
          <a:p>
            <a:r>
              <a:t>Misconception to address</a:t>
            </a:r>
          </a:p>
          <a:p>
            <a:r>
              <a:t>Connect this to the previous result named on this slide. Demonstrate the first step again if necessary; there is no requirement for partner work before the explanation.</a:t>
            </a:r>
          </a:p>
          <a:p>
            <a:r>
              <a:t/>
            </a:r>
          </a:p>
          <a:p>
            <a:r>
              <a:t>On this slide</a:t>
            </a:r>
          </a:p>
          <a:p>
            <a:r>
              <a:t>Week 4 used lists, dictionaries, loops and CSV rows. pandas keeps these same records in a labelled table and provides operations that work across its columns.</a:t>
            </a:r>
          </a:p>
          <a:p>
            <a:r>
              <a:t/>
            </a:r>
          </a:p>
          <a:p>
            <a:r>
              <a:t>Continue to</a:t>
            </a:r>
          </a:p>
          <a:p>
            <a:r>
              <a:t>Why this week’s tools are needed</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Why this week’s tools are needed</a:t>
            </a:r>
          </a:p>
          <a:p>
            <a:r>
              <a:t>CML3112, Week 5, slide 4</a:t>
            </a:r>
          </a:p>
          <a:p>
            <a:r>
              <a:t/>
            </a:r>
          </a:p>
          <a:p>
            <a:r>
              <a:t>Explanation to give</a:t>
            </a:r>
          </a:p>
          <a:p>
            <a:r>
              <a:t>pandas performs table operations that build on the lists, records and loops already taught. Explain the row, column and unit before using an operation.</a:t>
            </a:r>
          </a:p>
          <a:p>
            <a:r>
              <a:t/>
            </a:r>
          </a:p>
          <a:p>
            <a:r>
              <a:t>Worked illustration / lecturer answer</a:t>
            </a:r>
          </a:p>
          <a:p>
            <a:r>
              <a:t>A filter retains matching rows. groupby gathers matching labels. For A:2, A:3, B:4, the totals are A:5 and B:4.</a:t>
            </a:r>
          </a:p>
          <a:p>
            <a:r>
              <a:t/>
            </a:r>
          </a:p>
          <a:p>
            <a:r>
              <a:t>Misconception to address</a:t>
            </a:r>
          </a:p>
          <a:p>
            <a:r>
              <a:t>Connect this to the previous result named on this slide. Demonstrate the first step again if necessary; there is no requirement for partner work before the explanation.</a:t>
            </a:r>
          </a:p>
          <a:p>
            <a:r>
              <a:t/>
            </a:r>
          </a:p>
          <a:p>
            <a:r>
              <a:t>On this slide</a:t>
            </a:r>
          </a:p>
          <a:p>
            <a:r>
              <a:t>The supplied campus_energy.csv records campus electricity use. We practise pandas on four invented rows first, then inspect the supplied file and its units.</a:t>
            </a:r>
          </a:p>
          <a:p>
            <a:r>
              <a:t/>
            </a:r>
          </a:p>
          <a:p>
            <a:r>
              <a:t>Continue to</a:t>
            </a:r>
          </a:p>
          <a:p>
            <a:r>
              <a:t>Rows columns and units</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Rows columns and units</a:t>
            </a:r>
          </a:p>
          <a:p>
            <a:r>
              <a:t>CML3112, Week 5, slide 5</a:t>
            </a:r>
          </a:p>
          <a:p>
            <a:r>
              <a:t/>
            </a:r>
          </a:p>
          <a:p>
            <a:r>
              <a:t>Explanation to give</a:t>
            </a:r>
          </a:p>
          <a:p>
            <a:r>
              <a:t>A DataFrame is a labelled table. Each row describes one observation and each column holds one field across observations. pandas is the library; pd is the short name we choose when importing it.</a:t>
            </a:r>
          </a:p>
          <a:p>
            <a:r>
              <a:t/>
            </a:r>
          </a:p>
          <a:p>
            <a:r>
              <a:t>Worked illustration / lecturer answer</a:t>
            </a:r>
          </a:p>
          <a:p>
            <a:r>
              <a:t>A building label and its kWh belong on the same row. If building A has two rows, that is two observations of A, not necessarily two different buildings. pd.DataFrame(...) constructs the table from supplied data.</a:t>
            </a:r>
          </a:p>
          <a:p>
            <a:r>
              <a:t/>
            </a:r>
          </a:p>
          <a:p>
            <a:r>
              <a:t>Misconception to address</a:t>
            </a:r>
          </a:p>
          <a:p>
            <a:r>
              <a:t>Row count and distinct-building count answer different questions. kW measures power while kWh measures energy accumulated over time.</a:t>
            </a:r>
          </a:p>
          <a:p>
            <a:r>
              <a:t/>
            </a:r>
          </a:p>
          <a:p>
            <a:r>
              <a:t>On this slide</a:t>
            </a:r>
          </a:p>
          <a:p>
            <a:r>
              <a:t>A row describes one observation. A column describes one field.</a:t>
            </a:r>
          </a:p>
          <a:p>
            <a:r>
              <a:t/>
            </a:r>
          </a:p>
          <a:p>
            <a:r>
              <a:t>A DataFrame is pandas’ labelled table.</a:t>
            </a:r>
          </a:p>
          <a:p>
            <a:r>
              <a:t/>
            </a:r>
          </a:p>
          <a:p>
            <a:r>
              <a:t>A Series is one labelled column.</a:t>
            </a:r>
          </a:p>
          <a:p>
            <a:r>
              <a:t/>
            </a:r>
          </a:p>
          <a:p>
            <a:r>
              <a:t>kWh measures energy. kW measures power.</a:t>
            </a:r>
          </a:p>
          <a:p>
            <a:r>
              <a:t/>
            </a:r>
          </a:p>
          <a:p>
            <a:r>
              <a:t>A data type (dtype) describes the kind of values in a column, such as whole numbers, decimals or text.</a:t>
            </a:r>
          </a:p>
          <a:p>
            <a:r>
              <a:t/>
            </a:r>
          </a:p>
          <a:p>
            <a:r>
              <a:t>Continue to</a:t>
            </a:r>
          </a:p>
          <a:p>
            <a:r>
              <a:t>A table keeps related observations together</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A table keeps related observations together</a:t>
            </a:r>
          </a:p>
          <a:p>
            <a:r>
              <a:t>CML3112, Week 5, slide 6</a:t>
            </a:r>
          </a:p>
          <a:p>
            <a:r>
              <a:t/>
            </a:r>
          </a:p>
          <a:p>
            <a:r>
              <a:t>Explanation to give</a:t>
            </a:r>
          </a:p>
          <a:p>
            <a:r>
              <a:t>A DataFrame is a labelled table. Each row describes one observation and each column holds one field across observations. pandas is the library; pd is the short name we choose when importing it.</a:t>
            </a:r>
          </a:p>
          <a:p>
            <a:r>
              <a:t/>
            </a:r>
          </a:p>
          <a:p>
            <a:r>
              <a:t>Worked illustration / lecturer answer</a:t>
            </a:r>
          </a:p>
          <a:p>
            <a:r>
              <a:t>A building label and its kWh belong on the same row. If building A has two rows, that is two observations of A, not necessarily two different buildings. pd.DataFrame(...) constructs the table from supplied data.</a:t>
            </a:r>
          </a:p>
          <a:p>
            <a:r>
              <a:t/>
            </a:r>
          </a:p>
          <a:p>
            <a:r>
              <a:t>Misconception to address</a:t>
            </a:r>
          </a:p>
          <a:p>
            <a:r>
              <a:t>Row count and distinct-building count answer different questions. kW measures power while kWh measures energy accumulated over time.</a:t>
            </a:r>
          </a:p>
          <a:p>
            <a:r>
              <a:t/>
            </a:r>
          </a:p>
          <a:p>
            <a:r>
              <a:t>On this slide</a:t>
            </a:r>
          </a:p>
          <a:p>
            <a:r>
              <a:t>Our four rows record building A twice and building B twice.</a:t>
            </a:r>
          </a:p>
          <a:p>
            <a:r>
              <a:t/>
            </a:r>
          </a:p>
          <a:p>
            <a:r>
              <a:t>Each row contains the building label and an energy reading.</a:t>
            </a:r>
          </a:p>
          <a:p>
            <a:r>
              <a:t/>
            </a:r>
          </a:p>
          <a:p>
            <a:r>
              <a:t>kWh is energy. kW is power. The units describe different quantities.</a:t>
            </a:r>
          </a:p>
          <a:p>
            <a:r>
              <a:t/>
            </a:r>
          </a:p>
          <a:p>
            <a:r>
              <a:t>Continue to</a:t>
            </a:r>
          </a:p>
          <a:p>
            <a:r>
              <a:t>Our small energy table</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Our small energy table</a:t>
            </a:r>
          </a:p>
          <a:p>
            <a:r>
              <a:t>CML3112, Week 5, slide 7</a:t>
            </a:r>
          </a:p>
          <a:p>
            <a:r>
              <a:t/>
            </a:r>
          </a:p>
          <a:p>
            <a:r>
              <a:t>Explanation to give</a:t>
            </a:r>
          </a:p>
          <a:p>
            <a:r>
              <a:t>A DataFrame is a labelled table. Each row describes one observation and each column holds one field across observations. pandas is the library; pd is the short name we choose when importing it.</a:t>
            </a:r>
          </a:p>
          <a:p>
            <a:r>
              <a:t/>
            </a:r>
          </a:p>
          <a:p>
            <a:r>
              <a:t>Worked illustration / lecturer answer</a:t>
            </a:r>
          </a:p>
          <a:p>
            <a:r>
              <a:t>A building label and its kWh belong on the same row. If building A has two rows, that is two observations of A, not necessarily two different buildings. pd.DataFrame(...) constructs the table from supplied data.</a:t>
            </a:r>
          </a:p>
          <a:p>
            <a:r>
              <a:t/>
            </a:r>
          </a:p>
          <a:p>
            <a:r>
              <a:t>Misconception to address</a:t>
            </a:r>
          </a:p>
          <a:p>
            <a:r>
              <a:t>Row count and distinct-building count answer different questions. kW measures power while kWh measures energy accumulated over time.</a:t>
            </a:r>
          </a:p>
          <a:p>
            <a:r>
              <a:t/>
            </a:r>
          </a:p>
          <a:p>
            <a:r>
              <a:t>On this slide</a:t>
            </a:r>
          </a:p>
          <a:p>
            <a:r>
              <a:t>building | kwh</a:t>
            </a:r>
          </a:p>
          <a:p>
            <a:r>
              <a:t>A | 2</a:t>
            </a:r>
          </a:p>
          <a:p>
            <a:r>
              <a:t>A | 4</a:t>
            </a:r>
          </a:p>
          <a:p>
            <a:r>
              <a:t>B | 5</a:t>
            </a:r>
          </a:p>
          <a:p>
            <a:r>
              <a:t>B | 7</a:t>
            </a:r>
          </a:p>
          <a:p>
            <a:r>
              <a:t>The four observations total 18 kWh.</a:t>
            </a:r>
          </a:p>
          <a:p>
            <a:r>
              <a:t/>
            </a:r>
          </a:p>
          <a:p>
            <a:r>
              <a:t>Continue to</a:t>
            </a:r>
          </a:p>
          <a:p>
            <a:r>
              <a:t>Library and pandas and DataFrame</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Library and pandas and DataFrame</a:t>
            </a:r>
          </a:p>
          <a:p>
            <a:r>
              <a:t>CML3112, Week 5, slide 8</a:t>
            </a:r>
          </a:p>
          <a:p>
            <a:r>
              <a:t/>
            </a:r>
          </a:p>
          <a:p>
            <a:r>
              <a:t>Explanation to give</a:t>
            </a:r>
          </a:p>
          <a:p>
            <a:r>
              <a:t>A DataFrame is a labelled table. Each row describes one observation and each column holds one field across observations. pandas is the library; pd is the short name we choose when importing it.</a:t>
            </a:r>
          </a:p>
          <a:p>
            <a:r>
              <a:t/>
            </a:r>
          </a:p>
          <a:p>
            <a:r>
              <a:t>Worked illustration / lecturer answer</a:t>
            </a:r>
          </a:p>
          <a:p>
            <a:r>
              <a:t>A building label and its kWh belong on the same row. If building A has two rows, that is two observations of A, not necessarily two different buildings. pd.DataFrame(...) constructs the table from supplied data.</a:t>
            </a:r>
          </a:p>
          <a:p>
            <a:r>
              <a:t/>
            </a:r>
          </a:p>
          <a:p>
            <a:r>
              <a:t>Misconception to address</a:t>
            </a:r>
          </a:p>
          <a:p>
            <a:r>
              <a:t>Row count and distinct-building count answer different questions. kW measures power while kWh measures energy accumulated over time.</a:t>
            </a:r>
          </a:p>
          <a:p>
            <a:r>
              <a:t/>
            </a:r>
          </a:p>
          <a:p>
            <a:r>
              <a:t>On this slide</a:t>
            </a:r>
          </a:p>
          <a:p>
            <a:r>
              <a:t>Library and pandas: A library is reusable code. pandas provides tools for data tables. import pandas as pd makes pd a short name for that library.</a:t>
            </a:r>
          </a:p>
          <a:p>
            <a:r>
              <a:t>DataFrame: A table with named columns and indexed rows. df is just the variable name we choose for this table.</a:t>
            </a:r>
          </a:p>
          <a:p>
            <a:r>
              <a:t/>
            </a:r>
          </a:p>
          <a:p>
            <a:r>
              <a:t>Continue to</a:t>
            </a:r>
          </a:p>
          <a:p>
            <a:r>
              <a:t>A labelled table in Python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A labelled table in Python</a:t>
            </a:r>
          </a:p>
          <a:p>
            <a:r>
              <a:t>CML3112, Week 5, slide 9</a:t>
            </a:r>
          </a:p>
          <a:p>
            <a:r>
              <a:t/>
            </a:r>
          </a:p>
          <a:p>
            <a:r>
              <a:t>Explanation to give</a:t>
            </a:r>
          </a:p>
          <a:p>
            <a:r>
              <a:t>A DataFrame is a labelled table. Each row describes one observation and each column holds one field across observations. pandas is the library; pd is the short name we choose when importing it.</a:t>
            </a:r>
          </a:p>
          <a:p>
            <a:r>
              <a:t/>
            </a:r>
          </a:p>
          <a:p>
            <a:r>
              <a:t>Worked illustration / lecturer answer</a:t>
            </a:r>
          </a:p>
          <a:p>
            <a:r>
              <a:t>A building label and its kWh belong on the same row. If building A has two rows, that is two observations of A, not necessarily two different buildings. pd.DataFrame(...) constructs the table from supplied data.</a:t>
            </a:r>
          </a:p>
          <a:p>
            <a:r>
              <a:t/>
            </a:r>
          </a:p>
          <a:p>
            <a:r>
              <a:t>Misconception to address</a:t>
            </a:r>
          </a:p>
          <a:p>
            <a:r>
              <a:t>Row count and distinct-building count answer different questions. kW measures power while kWh measures energy accumulated over time.</a:t>
            </a:r>
          </a:p>
          <a:p>
            <a:r>
              <a:t/>
            </a:r>
          </a:p>
          <a:p>
            <a:r>
              <a:t>On this slide</a:t>
            </a:r>
          </a:p>
          <a:p>
            <a:r>
              <a:t>The illustration uses machinery records. The same row, column and index structure applies to our building-energy table.</a:t>
            </a:r>
          </a:p>
          <a:p>
            <a:r>
              <a:t/>
            </a:r>
          </a:p>
          <a:p>
            <a:r>
              <a:t>Continue to</a:t>
            </a:r>
          </a:p>
          <a:p>
            <a:r>
              <a:t>Series and Method and attribute</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Series and Method and attribute</a:t>
            </a:r>
          </a:p>
          <a:p>
            <a:r>
              <a:t>CML3112, Week 5, slide 10</a:t>
            </a:r>
          </a:p>
          <a:p>
            <a:r>
              <a:t/>
            </a:r>
          </a:p>
          <a:p>
            <a:r>
              <a:t>Explanation to give</a:t>
            </a:r>
          </a:p>
          <a:p>
            <a:r>
              <a:t>Selecting df["kwh"] gives one column as a Series, retaining its row labels. Calling .mean() then summarises that column. An attribute such as shape reports information without parentheses.</a:t>
            </a:r>
          </a:p>
          <a:p>
            <a:r>
              <a:t/>
            </a:r>
          </a:p>
          <a:p>
            <a:r>
              <a:t>Worked illustration / lecturer answer</a:t>
            </a:r>
          </a:p>
          <a:p>
            <a:r>
              <a:t>For kWh values 2, 4 and 9, the mean is 15 / 3 = 5. df.shape reports row and column counts; df.head() displays an initial sample of rows.</a:t>
            </a:r>
          </a:p>
          <a:p>
            <a:r>
              <a:t/>
            </a:r>
          </a:p>
          <a:p>
            <a:r>
              <a:t>Misconception to address</a:t>
            </a:r>
          </a:p>
          <a:p>
            <a:r>
              <a:t>df["kwh"] and df[["kwh"]] have different shapes: a Series versus a one-column DataFrame. Brackets select; parentheses call an operation.</a:t>
            </a:r>
          </a:p>
          <a:p>
            <a:r>
              <a:t/>
            </a:r>
          </a:p>
          <a:p>
            <a:r>
              <a:t>On this slide</a:t>
            </a:r>
          </a:p>
          <a:p>
            <a:r>
              <a:t>Series: One labelled column. df["kwh"] selects the column named kwh.</a:t>
            </a:r>
          </a:p>
          <a:p>
            <a:r>
              <a:t>Method and attribute: A method performs an operation, as in df.head(). An attribute provides a stored property, as in df.shape. Parentheses call an operation.</a:t>
            </a:r>
          </a:p>
          <a:p>
            <a:r>
              <a:t/>
            </a:r>
          </a:p>
          <a:p>
            <a:r>
              <a:t>Continue to</a:t>
            </a:r>
          </a:p>
          <a:p>
            <a:r>
              <a:t>Reading pandas syntax</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Reading pandas syntax</a:t>
            </a:r>
          </a:p>
          <a:p>
            <a:r>
              <a:t>CML3112, Week 5, slide 11</a:t>
            </a:r>
          </a:p>
          <a:p>
            <a:r>
              <a:t/>
            </a:r>
          </a:p>
          <a:p>
            <a:r>
              <a:t>Explanation to give</a:t>
            </a:r>
          </a:p>
          <a:p>
            <a:r>
              <a:t>Selecting df["kwh"] gives one column as a Series, retaining its row labels. Calling .mean() then summarises that column. An attribute such as shape reports information without parentheses.</a:t>
            </a:r>
          </a:p>
          <a:p>
            <a:r>
              <a:t/>
            </a:r>
          </a:p>
          <a:p>
            <a:r>
              <a:t>Worked illustration / lecturer answer</a:t>
            </a:r>
          </a:p>
          <a:p>
            <a:r>
              <a:t>For kWh values 2, 4 and 9, the mean is 15 / 3 = 5. df.shape reports row and column counts; df.head() displays an initial sample of rows.</a:t>
            </a:r>
          </a:p>
          <a:p>
            <a:r>
              <a:t/>
            </a:r>
          </a:p>
          <a:p>
            <a:r>
              <a:t>Misconception to address</a:t>
            </a:r>
          </a:p>
          <a:p>
            <a:r>
              <a:t>df["kwh"] and df[["kwh"]] have different shapes: a Series versus a one-column DataFrame. Brackets select; parentheses call an operation.</a:t>
            </a:r>
          </a:p>
          <a:p>
            <a:r>
              <a:t/>
            </a:r>
          </a:p>
          <a:p>
            <a:r>
              <a:t>On this slide</a:t>
            </a:r>
          </a:p>
          <a:p>
            <a:r>
              <a:t>import pandas as pd loads the library and gives it a short name.</a:t>
            </a:r>
          </a:p>
          <a:p>
            <a:r>
              <a:t/>
            </a:r>
          </a:p>
          <a:p>
            <a:r>
              <a:t>pd.read_csv("file.csv") calls a function. The quoted text is the file path.</a:t>
            </a:r>
          </a:p>
          <a:p>
            <a:r>
              <a:t/>
            </a:r>
          </a:p>
          <a:p>
            <a:r>
              <a:t>df["kwh"] selects a column. df["kwh"].mean() calls a method on that column.</a:t>
            </a:r>
          </a:p>
          <a:p>
            <a:r>
              <a:t/>
            </a:r>
          </a:p>
          <a:p>
            <a:r>
              <a:t>Continue to</a:t>
            </a:r>
          </a:p>
          <a:p>
            <a:r>
              <a:t>Read the table constructor in stages</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Read the table constructor in stages</a:t>
            </a:r>
          </a:p>
          <a:p>
            <a:r>
              <a:t>CML3112, Week 5, slide 12</a:t>
            </a:r>
          </a:p>
          <a:p>
            <a:r>
              <a:t/>
            </a:r>
          </a:p>
          <a:p>
            <a:r>
              <a:t>Explanation to give</a:t>
            </a:r>
          </a:p>
          <a:p>
            <a:r>
              <a:t>A DataFrame is a labelled table. Each row describes one observation and each column holds one field across observations. pandas is the library; pd is the short name we choose when importing it.</a:t>
            </a:r>
          </a:p>
          <a:p>
            <a:r>
              <a:t/>
            </a:r>
          </a:p>
          <a:p>
            <a:r>
              <a:t>Worked illustration / lecturer answer</a:t>
            </a:r>
          </a:p>
          <a:p>
            <a:r>
              <a:t>A building label and its kWh belong on the same row. If building A has two rows, that is two observations of A, not necessarily two different buildings. pd.DataFrame(...) constructs the table from supplied data.</a:t>
            </a:r>
          </a:p>
          <a:p>
            <a:r>
              <a:t/>
            </a:r>
          </a:p>
          <a:p>
            <a:r>
              <a:t>Misconception to address</a:t>
            </a:r>
          </a:p>
          <a:p>
            <a:r>
              <a:t>Row count and distinct-building count answer different questions. kW measures power while kWh measures energy accumulated over time.</a:t>
            </a:r>
          </a:p>
          <a:p>
            <a:r>
              <a:t/>
            </a:r>
          </a:p>
          <a:p>
            <a:r>
              <a:t>On this slide</a:t>
            </a:r>
          </a:p>
          <a:p>
            <a:r>
              <a:t>import pandas as pd loads pandas and gives it the shorter name pd. This is an alias; you could use another name consistently.</a:t>
            </a:r>
          </a:p>
          <a:p>
            <a:r>
              <a:t/>
            </a:r>
          </a:p>
          <a:p>
            <a:r>
              <a:t>Inside pd.DataFrame(...), the dictionary keys become column names. Each list supplies that column’s values in row order.</a:t>
            </a:r>
          </a:p>
          <a:p>
            <a:r>
              <a:t/>
            </a:r>
          </a:p>
          <a:p>
            <a:r>
              <a:t>All these column lists have the same length. At position 0, building is "A" and kwh is 2; together they form the first row.</a:t>
            </a:r>
          </a:p>
          <a:p>
            <a:r>
              <a:t/>
            </a:r>
          </a:p>
          <a:p>
            <a:r>
              <a:t>Reference / existing resource</a:t>
            </a:r>
          </a:p>
          <a:p>
            <a:r>
              <a:t>https://docs.python.org/3/tutorial/introduction.html</a:t>
            </a:r>
          </a:p>
          <a:p>
            <a:r>
              <a:t>https://docs.python.org/3/tutorial/controlflow.html;</a:t>
            </a:r>
          </a:p>
          <a:p>
            <a:r>
              <a:t/>
            </a:r>
          </a:p>
          <a:p>
            <a:r>
              <a:t>Continue to</a:t>
            </a:r>
          </a:p>
          <a:p>
            <a:r>
              <a:t>Build the table before asking questions</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Build the table before asking questions</a:t>
            </a:r>
          </a:p>
          <a:p>
            <a:r>
              <a:t>CML3112, Week 5, slide 13</a:t>
            </a:r>
          </a:p>
          <a:p>
            <a:r>
              <a:t/>
            </a:r>
          </a:p>
          <a:p>
            <a:r>
              <a:t>Explanation to give</a:t>
            </a:r>
          </a:p>
          <a:p>
            <a:r>
              <a:t>A DataFrame is a labelled table. Each row describes one observation and each column holds one field across observations. pandas is the library; pd is the short name we choose when importing it.</a:t>
            </a:r>
          </a:p>
          <a:p>
            <a:r>
              <a:t/>
            </a:r>
          </a:p>
          <a:p>
            <a:r>
              <a:t>Worked illustration / lecturer answer</a:t>
            </a:r>
          </a:p>
          <a:p>
            <a:r>
              <a:t>A building label and its kWh belong on the same row. If building A has two rows, that is two observations of A, not necessarily two different buildings. pd.DataFrame(...) constructs the table from supplied data.</a:t>
            </a:r>
          </a:p>
          <a:p>
            <a:r>
              <a:t/>
            </a:r>
          </a:p>
          <a:p>
            <a:r>
              <a:t>Misconception to address</a:t>
            </a:r>
          </a:p>
          <a:p>
            <a:r>
              <a:t>Row count and distinct-building count answer different questions. kW measures power while kWh measures energy accumulated over time.</a:t>
            </a:r>
          </a:p>
          <a:p>
            <a:r>
              <a:t/>
            </a:r>
          </a:p>
          <a:p>
            <a:r>
              <a:t>Read the displayed code line by line</a:t>
            </a:r>
          </a:p>
          <a:p>
            <a:r>
              <a:t>import pandas as pd</a:t>
            </a:r>
          </a:p>
          <a:p>
            <a:r>
              <a:t>Load this library. An alias after as is the shorter name used below.</a:t>
            </a:r>
          </a:p>
          <a:p>
            <a:r>
              <a:t/>
            </a:r>
          </a:p>
          <a:p>
            <a:r>
              <a:t>df = pd.DataFrame({"building": ["A", "A", "B", "B"],</a:t>
            </a:r>
          </a:p>
          <a:p>
            <a:r>
              <a:t>Evaluate the complete right-hand expression first, then assign its result to the name or selected field on the left.</a:t>
            </a:r>
          </a:p>
          <a:p>
            <a:r>
              <a:t/>
            </a:r>
          </a:p>
          <a:p>
            <a:r>
              <a:t>"kwh": [2, 4, 5, 7]})</a:t>
            </a:r>
          </a:p>
          <a:p>
            <a:r>
              <a:t>This line continues the surrounding expression or block; read it together with the preceding line rather than running it alone.</a:t>
            </a:r>
          </a:p>
          <a:p>
            <a:r>
              <a:t/>
            </a:r>
          </a:p>
          <a:p>
            <a:r>
              <a:t>print(df)</a:t>
            </a:r>
          </a:p>
          <a:p>
            <a:r>
              <a:t>Evaluate the expression inside the parentheses and display it. Displaying is separate from returning a function result.</a:t>
            </a:r>
          </a:p>
          <a:p>
            <a:r>
              <a:t/>
            </a:r>
          </a:p>
          <a:p>
            <a:r>
              <a:t>Result / continuity</a:t>
            </a:r>
          </a:p>
          <a:p>
            <a:r>
              <a:t>Each dictionary key becomes a column name. Equal-length lists supply its rows.</a:t>
            </a:r>
          </a:p>
          <a:p>
            <a:r>
              <a:t/>
            </a:r>
          </a:p>
          <a:p>
            <a:r>
              <a:t>Continue to</a:t>
            </a:r>
          </a:p>
          <a:p>
            <a:r>
              <a:t>Select first then summarise</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Select first then summarise</a:t>
            </a:r>
          </a:p>
          <a:p>
            <a:r>
              <a:t>CML3112, Week 5, slide 14</a:t>
            </a:r>
          </a:p>
          <a:p>
            <a:r>
              <a:t/>
            </a:r>
          </a:p>
          <a:p>
            <a:r>
              <a:t>Explanation to give</a:t>
            </a:r>
          </a:p>
          <a:p>
            <a:r>
              <a:t>Selecting df["kwh"] gives one column as a Series, retaining its row labels. Calling .mean() then summarises that column. An attribute such as shape reports information without parentheses.</a:t>
            </a:r>
          </a:p>
          <a:p>
            <a:r>
              <a:t/>
            </a:r>
          </a:p>
          <a:p>
            <a:r>
              <a:t>Worked illustration / lecturer answer</a:t>
            </a:r>
          </a:p>
          <a:p>
            <a:r>
              <a:t>For kWh values 2, 4 and 9, the mean is 15 / 3 = 5. df.shape reports row and column counts; df.head() displays an initial sample of rows.</a:t>
            </a:r>
          </a:p>
          <a:p>
            <a:r>
              <a:t/>
            </a:r>
          </a:p>
          <a:p>
            <a:r>
              <a:t>Misconception to address</a:t>
            </a:r>
          </a:p>
          <a:p>
            <a:r>
              <a:t>df["kwh"] and df[["kwh"]] have different shapes: a Series versus a one-column DataFrame. Brackets select; parentheses call an operation.</a:t>
            </a:r>
          </a:p>
          <a:p>
            <a:r>
              <a:t/>
            </a:r>
          </a:p>
          <a:p>
            <a:r>
              <a:t>On this slide</a:t>
            </a:r>
          </a:p>
          <a:p>
            <a:r>
              <a:t>df["kwh"] selects the energy column as a Series, which is a labelled sequence of values. Its entries are 2, 4, 5 and 7.</a:t>
            </a:r>
          </a:p>
          <a:p>
            <a:r>
              <a:t/>
            </a:r>
          </a:p>
          <a:p>
            <a:r>
              <a:t>Store it as energy = df["kwh"]. energy.mean() adds those four values and divides by four: 18 / 4 = 4.5.</a:t>
            </a:r>
          </a:p>
          <a:p>
            <a:r>
              <a:t/>
            </a:r>
          </a:p>
          <a:p>
            <a:r>
              <a:t>df["kwh"].mean() combines those same two steps. A dot chooses a method; parentheses call it.</a:t>
            </a:r>
          </a:p>
          <a:p>
            <a:r>
              <a:t/>
            </a:r>
          </a:p>
          <a:p>
            <a:r>
              <a:t>Reference / existing resource</a:t>
            </a:r>
          </a:p>
          <a:p>
            <a:r>
              <a:t>https://docs.python.org/3/tutorial/introduction.html</a:t>
            </a:r>
          </a:p>
          <a:p>
            <a:r>
              <a:t>https://docs.python.org/3/tutorial/controlflow.html;</a:t>
            </a:r>
          </a:p>
          <a:p>
            <a:r>
              <a:t/>
            </a:r>
          </a:p>
          <a:p>
            <a:r>
              <a:t>Continue to</a:t>
            </a:r>
          </a:p>
          <a:p>
            <a:r>
              <a:t>Select a column and calculate its mean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Select a column and calculate its mean</a:t>
            </a:r>
          </a:p>
          <a:p>
            <a:r>
              <a:t>CML3112, Week 5, slide 15</a:t>
            </a:r>
          </a:p>
          <a:p>
            <a:r>
              <a:t/>
            </a:r>
          </a:p>
          <a:p>
            <a:r>
              <a:t>Explanation to give</a:t>
            </a:r>
          </a:p>
          <a:p>
            <a:r>
              <a:t>Selecting df["kwh"] gives one column as a Series, retaining its row labels. Calling .mean() then summarises that column. An attribute such as shape reports information without parentheses.</a:t>
            </a:r>
          </a:p>
          <a:p>
            <a:r>
              <a:t/>
            </a:r>
          </a:p>
          <a:p>
            <a:r>
              <a:t>Worked illustration / lecturer answer</a:t>
            </a:r>
          </a:p>
          <a:p>
            <a:r>
              <a:t>For kWh values 2, 4 and 9, the mean is 15 / 3 = 5. df.shape reports row and column counts; df.head() displays an initial sample of rows.</a:t>
            </a:r>
          </a:p>
          <a:p>
            <a:r>
              <a:t/>
            </a:r>
          </a:p>
          <a:p>
            <a:r>
              <a:t>Misconception to address</a:t>
            </a:r>
          </a:p>
          <a:p>
            <a:r>
              <a:t>df["kwh"] and df[["kwh"]] have different shapes: a Series versus a one-column DataFrame. Brackets select; parentheses call an operation.</a:t>
            </a:r>
          </a:p>
          <a:p>
            <a:r>
              <a:t/>
            </a:r>
          </a:p>
          <a:p>
            <a:r>
              <a:t>Read the displayed code line by line</a:t>
            </a:r>
          </a:p>
          <a:p>
            <a:r>
              <a:t>print(df["kwh"])</a:t>
            </a:r>
          </a:p>
          <a:p>
            <a:r>
              <a:t>Evaluate the expression inside the parentheses and display it. Displaying is separate from returning a function result.</a:t>
            </a:r>
          </a:p>
          <a:p>
            <a:r>
              <a:t/>
            </a:r>
          </a:p>
          <a:p>
            <a:r>
              <a:t>print(df["kwh"].mean())</a:t>
            </a:r>
          </a:p>
          <a:p>
            <a:r>
              <a:t>Evaluate the expression inside the parentheses and display it. Displaying is separate from returning a function result.</a:t>
            </a:r>
          </a:p>
          <a:p>
            <a:r>
              <a:t/>
            </a:r>
          </a:p>
          <a:p>
            <a:r>
              <a:t>Result / continuity</a:t>
            </a:r>
          </a:p>
          <a:p>
            <a:r>
              <a:t>The four numbers are 2, 4, 5 and 7. Their mean is 18 / 4 = 4.5 kWh.</a:t>
            </a:r>
          </a:p>
          <a:p>
            <a:r>
              <a:t/>
            </a:r>
          </a:p>
          <a:p>
            <a:r>
              <a:t>Continue to</a:t>
            </a:r>
          </a:p>
          <a:p>
            <a:r>
              <a:t>Mask and filter</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Mask and filter</a:t>
            </a:r>
          </a:p>
          <a:p>
            <a:r>
              <a:t>CML3112, Week 5, slide 16</a:t>
            </a:r>
          </a:p>
          <a:p>
            <a:r>
              <a:t/>
            </a:r>
          </a:p>
          <a:p>
            <a:r>
              <a:t>Explanation to give</a:t>
            </a:r>
          </a:p>
          <a:p>
            <a:r>
              <a:t>A comparison against a column creates one True/False result per row. That Boolean mask selects rows. Explain the mask first and only then put it inside df[...].</a:t>
            </a:r>
          </a:p>
          <a:p>
            <a:r>
              <a:t/>
            </a:r>
          </a:p>
          <a:p>
            <a:r>
              <a:t>Worked illustration / lecturer answer</a:t>
            </a:r>
          </a:p>
          <a:p>
            <a:r>
              <a:t>With kWh [2, 5, 8], the mask kwh &gt; 5 is [False, False, True]. Applying it keeps only the row with 8. Using &gt;= 5 would keep two rows.</a:t>
            </a:r>
          </a:p>
          <a:p>
            <a:r>
              <a:t/>
            </a:r>
          </a:p>
          <a:p>
            <a:r>
              <a:t>Misconception to address</a:t>
            </a:r>
          </a:p>
          <a:p>
            <a:r>
              <a:t>A mask is not the filtered table. Also check the column contains numbers, since text comparisons follow different rules.</a:t>
            </a:r>
          </a:p>
          <a:p>
            <a:r>
              <a:t/>
            </a:r>
          </a:p>
          <a:p>
            <a:r>
              <a:t>On this slide</a:t>
            </a:r>
          </a:p>
          <a:p>
            <a:r>
              <a:t>Mask and filter: A comparison produces True/False for each row. df[mask] keeps the True rows.</a:t>
            </a:r>
          </a:p>
          <a:p>
            <a:r>
              <a:t/>
            </a:r>
          </a:p>
          <a:p>
            <a:r>
              <a:t>Continue to</a:t>
            </a:r>
          </a:p>
          <a:p>
            <a:r>
              <a:t>A comparison creates a Boolean mask</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A comparison creates a Boolean mask</a:t>
            </a:r>
          </a:p>
          <a:p>
            <a:r>
              <a:t>CML3112, Week 5, slide 17</a:t>
            </a:r>
          </a:p>
          <a:p>
            <a:r>
              <a:t/>
            </a:r>
          </a:p>
          <a:p>
            <a:r>
              <a:t>Explanation to give</a:t>
            </a:r>
          </a:p>
          <a:p>
            <a:r>
              <a:t>A comparison against a column creates one True/False result per row. That Boolean mask selects rows. Explain the mask first and only then put it inside df[...].</a:t>
            </a:r>
          </a:p>
          <a:p>
            <a:r>
              <a:t/>
            </a:r>
          </a:p>
          <a:p>
            <a:r>
              <a:t>Worked illustration / lecturer answer</a:t>
            </a:r>
          </a:p>
          <a:p>
            <a:r>
              <a:t>With kWh [2, 5, 8], the mask kwh &gt; 5 is [False, False, True]. Applying it keeps only the row with 8. Using &gt;= 5 would keep two rows.</a:t>
            </a:r>
          </a:p>
          <a:p>
            <a:r>
              <a:t/>
            </a:r>
          </a:p>
          <a:p>
            <a:r>
              <a:t>Misconception to address</a:t>
            </a:r>
          </a:p>
          <a:p>
            <a:r>
              <a:t>A mask is not the filtered table. Also check the column contains numbers, since text comparisons follow different rules.</a:t>
            </a:r>
          </a:p>
          <a:p>
            <a:r>
              <a:t/>
            </a:r>
          </a:p>
          <a:p>
            <a:r>
              <a:t>On this slide</a:t>
            </a:r>
          </a:p>
          <a:p>
            <a:r>
              <a:t>The illustration filters torque readings. Our next example applies the same True/False selection to kWh values.</a:t>
            </a:r>
          </a:p>
          <a:p>
            <a:r>
              <a:t/>
            </a:r>
          </a:p>
          <a:p>
            <a:r>
              <a:t>Continue to</a:t>
            </a:r>
          </a:p>
          <a:p>
            <a:r>
              <a:t>Keep rows where the comparison is true</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Keep rows where the comparison is true</a:t>
            </a:r>
          </a:p>
          <a:p>
            <a:r>
              <a:t>CML3112, Week 5, slide 18</a:t>
            </a:r>
          </a:p>
          <a:p>
            <a:r>
              <a:t/>
            </a:r>
          </a:p>
          <a:p>
            <a:r>
              <a:t>Explanation to give</a:t>
            </a:r>
          </a:p>
          <a:p>
            <a:r>
              <a:t>A comparison against a column creates one True/False result per row. That Boolean mask selects rows. Explain the mask first and only then put it inside df[...].</a:t>
            </a:r>
          </a:p>
          <a:p>
            <a:r>
              <a:t/>
            </a:r>
          </a:p>
          <a:p>
            <a:r>
              <a:t>Worked illustration / lecturer answer</a:t>
            </a:r>
          </a:p>
          <a:p>
            <a:r>
              <a:t>With kWh [2, 5, 8], the mask kwh &gt; 5 is [False, False, True]. Applying it keeps only the row with 8. Using &gt;= 5 would keep two rows.</a:t>
            </a:r>
          </a:p>
          <a:p>
            <a:r>
              <a:t/>
            </a:r>
          </a:p>
          <a:p>
            <a:r>
              <a:t>Misconception to address</a:t>
            </a:r>
          </a:p>
          <a:p>
            <a:r>
              <a:t>A mask is not the filtered table. Also check the column contains numbers, since text comparisons follow different rules.</a:t>
            </a:r>
          </a:p>
          <a:p>
            <a:r>
              <a:t/>
            </a:r>
          </a:p>
          <a:p>
            <a:r>
              <a:t>Read the displayed code line by line</a:t>
            </a:r>
          </a:p>
          <a:p>
            <a:r>
              <a:t>mask = df["kwh"] &gt; 4</a:t>
            </a:r>
          </a:p>
          <a:p>
            <a:r>
              <a:t>Evaluate the complete right-hand expression first, then assign its result to the name or selected field on the left.</a:t>
            </a:r>
          </a:p>
          <a:p>
            <a:r>
              <a:t/>
            </a:r>
          </a:p>
          <a:p>
            <a:r>
              <a:t>print(mask)</a:t>
            </a:r>
          </a:p>
          <a:p>
            <a:r>
              <a:t>Evaluate the expression inside the parentheses and display it. Displaying is separate from returning a function result.</a:t>
            </a:r>
          </a:p>
          <a:p>
            <a:r>
              <a:t/>
            </a:r>
          </a:p>
          <a:p>
            <a:r>
              <a:t>print(df[mask])</a:t>
            </a:r>
          </a:p>
          <a:p>
            <a:r>
              <a:t>Evaluate the expression inside the parentheses and display it. Displaying is separate from returning a function result.</a:t>
            </a:r>
          </a:p>
          <a:p>
            <a:r>
              <a:t/>
            </a:r>
          </a:p>
          <a:p>
            <a:r>
              <a:t>Result / continuity</a:t>
            </a:r>
          </a:p>
          <a:p>
            <a:r>
              <a:t>The mask is False, False, True, True. The selected rows contain 5 and 7 kWh.</a:t>
            </a:r>
          </a:p>
          <a:p>
            <a:r>
              <a:t/>
            </a:r>
          </a:p>
          <a:p>
            <a:r>
              <a:t>Continue to</a:t>
            </a:r>
          </a:p>
          <a:p>
            <a:r>
              <a:t>groupby and aggregation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groupby and aggregation</a:t>
            </a:r>
          </a:p>
          <a:p>
            <a:r>
              <a:t>CML3112, Week 5, slide 19</a:t>
            </a:r>
          </a:p>
          <a:p>
            <a:r>
              <a:t/>
            </a:r>
          </a:p>
          <a:p>
            <a:r>
              <a:t>Explanation to give</a:t>
            </a:r>
          </a:p>
          <a:p>
            <a:r>
              <a:t>Split rows into groups with the same label, select the quantity to summarise, then apply the aggregation. Read a chained expression as several small operations on the previous result.</a:t>
            </a:r>
          </a:p>
          <a:p>
            <a:r>
              <a:t/>
            </a:r>
          </a:p>
          <a:p>
            <a:r>
              <a:t>Worked illustration / lecturer answer</a:t>
            </a:r>
          </a:p>
          <a:p>
            <a:r>
              <a:t>For A values 2 and 3, and B value 4, grouped totals are A:5 and B:4. totals.max() returns 5, while totals.idxmax() returns the label A.</a:t>
            </a:r>
          </a:p>
          <a:p>
            <a:r>
              <a:t/>
            </a:r>
          </a:p>
          <a:p>
            <a:r>
              <a:t>Misconception to address</a:t>
            </a:r>
          </a:p>
          <a:p>
            <a:r>
              <a:t>nunique counts distinct labels, not records. idxmax returns an index label; it is the appropriate result only when the question asks which group is largest.</a:t>
            </a:r>
          </a:p>
          <a:p>
            <a:r>
              <a:t/>
            </a:r>
          </a:p>
          <a:p>
            <a:r>
              <a:t>On this slide</a:t>
            </a:r>
          </a:p>
          <a:p>
            <a:r>
              <a:t>groupby and aggregation: groupby collects rows with the same label. An aggregation such as sum or mean returns a summary for each group.</a:t>
            </a:r>
          </a:p>
          <a:p>
            <a:r>
              <a:t/>
            </a:r>
          </a:p>
          <a:p>
            <a:r>
              <a:t>Continue to</a:t>
            </a:r>
          </a:p>
          <a:p>
            <a:r>
              <a:t>Trace a group total before using groupby</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Trace a group total before using groupby</a:t>
            </a:r>
          </a:p>
          <a:p>
            <a:r>
              <a:t>CML3112, Week 5, slide 20</a:t>
            </a:r>
          </a:p>
          <a:p>
            <a:r>
              <a:t/>
            </a:r>
          </a:p>
          <a:p>
            <a:r>
              <a:t>Explanation to give</a:t>
            </a:r>
          </a:p>
          <a:p>
            <a:r>
              <a:t>Split rows into groups with the same label, select the quantity to summarise, then apply the aggregation. Read a chained expression as several small operations on the previous result.</a:t>
            </a:r>
          </a:p>
          <a:p>
            <a:r>
              <a:t/>
            </a:r>
          </a:p>
          <a:p>
            <a:r>
              <a:t>Worked illustration / lecturer answer</a:t>
            </a:r>
          </a:p>
          <a:p>
            <a:r>
              <a:t>For A values 2 and 3, and B value 4, grouped totals are A:5 and B:4. totals.max() returns 5, while totals.idxmax() returns the label A.</a:t>
            </a:r>
          </a:p>
          <a:p>
            <a:r>
              <a:t/>
            </a:r>
          </a:p>
          <a:p>
            <a:r>
              <a:t>Misconception to address</a:t>
            </a:r>
          </a:p>
          <a:p>
            <a:r>
              <a:t>nunique counts distinct labels, not records. idxmax returns an index label; it is the appropriate result only when the question asks which group is largest.</a:t>
            </a:r>
          </a:p>
          <a:p>
            <a:r>
              <a:t/>
            </a:r>
          </a:p>
          <a:p>
            <a:r>
              <a:t>On this slide</a:t>
            </a:r>
          </a:p>
          <a:p>
            <a:r>
              <a:t>Group | Values assigned to it | Total</a:t>
            </a:r>
          </a:p>
          <a:p>
            <a:r>
              <a:t>A | 2 and 4 | 6</a:t>
            </a:r>
          </a:p>
          <a:p>
            <a:r>
              <a:t>B | 5 and 7 | 12</a:t>
            </a:r>
          </a:p>
          <a:p>
            <a:r>
              <a:t>groupby separates rows by the building label. sum adds the kWh values inside each group.</a:t>
            </a:r>
          </a:p>
          <a:p>
            <a:r>
              <a:t/>
            </a:r>
          </a:p>
          <a:p>
            <a:r>
              <a:t>Reference / existing resource</a:t>
            </a:r>
          </a:p>
          <a:p>
            <a:r>
              <a:t>https://docs.python.org/3/tutorial/introduction.html</a:t>
            </a:r>
          </a:p>
          <a:p>
            <a:r>
              <a:t>https://docs.python.org/3/tutorial/controlflow.html;</a:t>
            </a:r>
          </a:p>
          <a:p>
            <a:r>
              <a:t/>
            </a:r>
          </a:p>
          <a:p>
            <a:r>
              <a:t>Continue to</a:t>
            </a:r>
          </a:p>
          <a:p>
            <a:r>
              <a:t>Read each step of a pandas chain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Read each step of a pandas chain</a:t>
            </a:r>
          </a:p>
          <a:p>
            <a:r>
              <a:t>CML3112, Week 5, slide 21</a:t>
            </a:r>
          </a:p>
          <a:p>
            <a:r>
              <a:t/>
            </a:r>
          </a:p>
          <a:p>
            <a:r>
              <a:t>Explanation to give</a:t>
            </a:r>
          </a:p>
          <a:p>
            <a:r>
              <a:t>Split rows into groups with the same label, select the quantity to summarise, then apply the aggregation. Read a chained expression as several small operations on the previous result.</a:t>
            </a:r>
          </a:p>
          <a:p>
            <a:r>
              <a:t/>
            </a:r>
          </a:p>
          <a:p>
            <a:r>
              <a:t>Worked illustration / lecturer answer</a:t>
            </a:r>
          </a:p>
          <a:p>
            <a:r>
              <a:t>For A values 2 and 3, and B value 4, grouped totals are A:5 and B:4. totals.max() returns 5, while totals.idxmax() returns the label A.</a:t>
            </a:r>
          </a:p>
          <a:p>
            <a:r>
              <a:t/>
            </a:r>
          </a:p>
          <a:p>
            <a:r>
              <a:t>Misconception to address</a:t>
            </a:r>
          </a:p>
          <a:p>
            <a:r>
              <a:t>nunique counts distinct labels, not records. idxmax returns an index label; it is the appropriate result only when the question asks which group is largest.</a:t>
            </a:r>
          </a:p>
          <a:p>
            <a:r>
              <a:t/>
            </a:r>
          </a:p>
          <a:p>
            <a:r>
              <a:t>On this slide</a:t>
            </a:r>
          </a:p>
          <a:p>
            <a:r>
              <a:t>groups = df.groupby("building") describes groups of rows with matching building labels.</a:t>
            </a:r>
          </a:p>
          <a:p>
            <a:r>
              <a:t/>
            </a:r>
          </a:p>
          <a:p>
            <a:r>
              <a:t>energy_groups = groups["kwh"] selects the energy values within those groups. totals = energy_groups.sum() calculates one total per group.</a:t>
            </a:r>
          </a:p>
          <a:p>
            <a:r>
              <a:t/>
            </a:r>
          </a:p>
          <a:p>
            <a:r>
              <a:t>df.groupby("building")["kwh"].sum() is the same sequence written on one line. Read it from left to right.</a:t>
            </a:r>
          </a:p>
          <a:p>
            <a:r>
              <a:t/>
            </a:r>
          </a:p>
          <a:p>
            <a:r>
              <a:t>Reference / existing resource</a:t>
            </a:r>
          </a:p>
          <a:p>
            <a:r>
              <a:t>https://docs.python.org/3/tutorial/introduction.html</a:t>
            </a:r>
          </a:p>
          <a:p>
            <a:r>
              <a:t>https://docs.python.org/3/tutorial/controlflow.html;</a:t>
            </a:r>
          </a:p>
          <a:p>
            <a:r>
              <a:t/>
            </a:r>
          </a:p>
          <a:p>
            <a:r>
              <a:t>Continue to</a:t>
            </a:r>
          </a:p>
          <a:p>
            <a:r>
              <a:t>Calculate one total for each building</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Calculate one total for each building</a:t>
            </a:r>
          </a:p>
          <a:p>
            <a:r>
              <a:t>CML3112, Week 5, slide 22</a:t>
            </a:r>
          </a:p>
          <a:p>
            <a:r>
              <a:t/>
            </a:r>
          </a:p>
          <a:p>
            <a:r>
              <a:t>Explanation to give</a:t>
            </a:r>
          </a:p>
          <a:p>
            <a:r>
              <a:t>Distinguish a group total from a group mean and from the number of observations. Work one named group's arithmetic by hand before reading the pandas result.</a:t>
            </a:r>
          </a:p>
          <a:p>
            <a:r>
              <a:t/>
            </a:r>
          </a:p>
          <a:p>
            <a:r>
              <a:t>Worked illustration / lecturer answer</a:t>
            </a:r>
          </a:p>
          <a:p>
            <a:r>
              <a:t>If A has readings 2 and 3, its sum is 5 and its mean is 2.5. The label A remains attached to the summary, so another reader knows which building it describes.</a:t>
            </a:r>
          </a:p>
          <a:p>
            <a:r>
              <a:t/>
            </a:r>
          </a:p>
          <a:p>
            <a:r>
              <a:t>Misconception to address</a:t>
            </a:r>
          </a:p>
          <a:p>
            <a:r>
              <a:t>A taller total can reflect more observations rather than greater typical use. Choose the aggregation that matches the question.</a:t>
            </a:r>
          </a:p>
          <a:p>
            <a:r>
              <a:t/>
            </a:r>
          </a:p>
          <a:p>
            <a:r>
              <a:t>Read the displayed code line by line</a:t>
            </a:r>
          </a:p>
          <a:p>
            <a:r>
              <a:t>print(df.groupby("building")["kwh"].sum())</a:t>
            </a:r>
          </a:p>
          <a:p>
            <a:r>
              <a:t>Evaluate the expression inside the parentheses and display it. Displaying is separate from returning a function result.</a:t>
            </a:r>
          </a:p>
          <a:p>
            <a:r>
              <a:t/>
            </a:r>
          </a:p>
          <a:p>
            <a:r>
              <a:t>Result / continuity</a:t>
            </a:r>
          </a:p>
          <a:p>
            <a:r>
              <a:t>Expected: A totals 6 kWh; B totals 12 kWh.</a:t>
            </a:r>
          </a:p>
          <a:p>
            <a:r>
              <a:t/>
            </a:r>
          </a:p>
          <a:p>
            <a:r>
              <a:t>Continue to</a:t>
            </a:r>
          </a:p>
          <a:p>
            <a:r>
              <a:t>pandas tables and summaries results</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pandas tables and summaries results</a:t>
            </a:r>
          </a:p>
          <a:p>
            <a:r>
              <a:t>CML3112, Week 5, slide 23</a:t>
            </a:r>
          </a:p>
          <a:p>
            <a:r>
              <a:t/>
            </a:r>
          </a:p>
          <a:p>
            <a:r>
              <a:t>Explanation to give</a:t>
            </a:r>
          </a:p>
          <a:p>
            <a:r>
              <a:t>Distinguish a group total from a group mean and from the number of observations. Work one named group's arithmetic by hand before reading the pandas result.</a:t>
            </a:r>
          </a:p>
          <a:p>
            <a:r>
              <a:t/>
            </a:r>
          </a:p>
          <a:p>
            <a:r>
              <a:t>Worked illustration / lecturer answer</a:t>
            </a:r>
          </a:p>
          <a:p>
            <a:r>
              <a:t>If A has readings 2 and 3, its sum is 5 and its mean is 2.5. The label A remains attached to the summary, so another reader knows which building it describes.</a:t>
            </a:r>
          </a:p>
          <a:p>
            <a:r>
              <a:t/>
            </a:r>
          </a:p>
          <a:p>
            <a:r>
              <a:t>Misconception to address</a:t>
            </a:r>
          </a:p>
          <a:p>
            <a:r>
              <a:t>A taller total can reflect more observations rather than greater typical use. Choose the aggregation that matches the question.</a:t>
            </a:r>
          </a:p>
          <a:p>
            <a:r>
              <a:t/>
            </a:r>
          </a:p>
          <a:p>
            <a:r>
              <a:t>On this slide</a:t>
            </a:r>
          </a:p>
          <a:p>
            <a:r>
              <a:t>Mean 4.5. The filter keeps B rows with 5 and 7. Group totals: A = 6, B = 12 kWh.</a:t>
            </a:r>
          </a:p>
          <a:p>
            <a:r>
              <a:t/>
            </a:r>
          </a:p>
          <a:p>
            <a:r>
              <a:t>Continue to</a:t>
            </a:r>
          </a:p>
          <a:p>
            <a:r>
              <a:t>Unique labels and the largest group</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Unique labels and the largest group</a:t>
            </a:r>
          </a:p>
          <a:p>
            <a:r>
              <a:t>CML3112, Week 5, slide 24</a:t>
            </a:r>
          </a:p>
          <a:p>
            <a:r>
              <a:t/>
            </a:r>
          </a:p>
          <a:p>
            <a:r>
              <a:t>Explanation to give</a:t>
            </a:r>
          </a:p>
          <a:p>
            <a:r>
              <a:t>Split rows into groups with the same label, select the quantity to summarise, then apply the aggregation. Read a chained expression as several small operations on the previous result.</a:t>
            </a:r>
          </a:p>
          <a:p>
            <a:r>
              <a:t/>
            </a:r>
          </a:p>
          <a:p>
            <a:r>
              <a:t>Worked illustration / lecturer answer</a:t>
            </a:r>
          </a:p>
          <a:p>
            <a:r>
              <a:t>For A values 2 and 3, and B value 4, grouped totals are A:5 and B:4. totals.max() returns 5, while totals.idxmax() returns the label A.</a:t>
            </a:r>
          </a:p>
          <a:p>
            <a:r>
              <a:t/>
            </a:r>
          </a:p>
          <a:p>
            <a:r>
              <a:t>Misconception to address</a:t>
            </a:r>
          </a:p>
          <a:p>
            <a:r>
              <a:t>nunique counts distinct labels, not records. idxmax returns an index label; it is the appropriate result only when the question asks which group is largest.</a:t>
            </a:r>
          </a:p>
          <a:p>
            <a:r>
              <a:t/>
            </a:r>
          </a:p>
          <a:p>
            <a:r>
              <a:t>On this slide</a:t>
            </a:r>
          </a:p>
          <a:p>
            <a:r>
              <a:t>nunique counts distinct labels, not rows. idxmax returns the label of the largest total.</a:t>
            </a:r>
          </a:p>
          <a:p>
            <a:r>
              <a:t/>
            </a:r>
          </a:p>
          <a:p>
            <a:r>
              <a:t>Here there is no tie.</a:t>
            </a:r>
          </a:p>
          <a:p>
            <a:r>
              <a:t/>
            </a:r>
          </a:p>
          <a:p>
            <a:r>
              <a:t>Continue to</a:t>
            </a:r>
          </a:p>
          <a:p>
            <a:r>
              <a:t>Unique labels and the largest group in Python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Unique labels and the largest group in Python</a:t>
            </a:r>
          </a:p>
          <a:p>
            <a:r>
              <a:t>CML3112, Week 5, slide 25</a:t>
            </a:r>
          </a:p>
          <a:p>
            <a:r>
              <a:t/>
            </a:r>
          </a:p>
          <a:p>
            <a:r>
              <a:t>Explanation to give</a:t>
            </a:r>
          </a:p>
          <a:p>
            <a:r>
              <a:t>Split rows into groups with the same label, select the quantity to summarise, then apply the aggregation. Read a chained expression as several small operations on the previous result.</a:t>
            </a:r>
          </a:p>
          <a:p>
            <a:r>
              <a:t/>
            </a:r>
          </a:p>
          <a:p>
            <a:r>
              <a:t>Worked illustration / lecturer answer</a:t>
            </a:r>
          </a:p>
          <a:p>
            <a:r>
              <a:t>For A values 2 and 3, and B value 4, grouped totals are A:5 and B:4. totals.max() returns 5, while totals.idxmax() returns the label A.</a:t>
            </a:r>
          </a:p>
          <a:p>
            <a:r>
              <a:t/>
            </a:r>
          </a:p>
          <a:p>
            <a:r>
              <a:t>Misconception to address</a:t>
            </a:r>
          </a:p>
          <a:p>
            <a:r>
              <a:t>nunique counts distinct labels, not records. idxmax returns an index label; it is the appropriate result only when the question asks which group is largest.</a:t>
            </a:r>
          </a:p>
          <a:p>
            <a:r>
              <a:t/>
            </a:r>
          </a:p>
          <a:p>
            <a:r>
              <a:t>Read the displayed code line by line</a:t>
            </a:r>
          </a:p>
          <a:p>
            <a:r>
              <a:t>print(df["building"].nunique())</a:t>
            </a:r>
          </a:p>
          <a:p>
            <a:r>
              <a:t>Evaluate the expression inside the parentheses and display it. Displaying is separate from returning a function result.</a:t>
            </a:r>
          </a:p>
          <a:p>
            <a:r>
              <a:t/>
            </a:r>
          </a:p>
          <a:p>
            <a:r>
              <a:t>totals = df.groupby("building")["kwh"].sum()</a:t>
            </a:r>
          </a:p>
          <a:p>
            <a:r>
              <a:t>Evaluate the complete right-hand expression first, then assign its result to the name or selected field on the left.</a:t>
            </a:r>
          </a:p>
          <a:p>
            <a:r>
              <a:t/>
            </a:r>
          </a:p>
          <a:p>
            <a:r>
              <a:t>print(totals.idxmax())</a:t>
            </a:r>
          </a:p>
          <a:p>
            <a:r>
              <a:t>Evaluate the expression inside the parentheses and display it. Displaying is separate from returning a function result.</a:t>
            </a:r>
          </a:p>
          <a:p>
            <a:r>
              <a:t/>
            </a:r>
          </a:p>
          <a:p>
            <a:r>
              <a:t>Result / continuity</a:t>
            </a:r>
          </a:p>
          <a:p>
            <a:r>
              <a:t>Read top to bottom. Run the complete example in the matching practice notebook.</a:t>
            </a:r>
          </a:p>
          <a:p>
            <a:r>
              <a:t/>
            </a:r>
          </a:p>
          <a:p>
            <a:r>
              <a:t>Continue to</a:t>
            </a:r>
          </a:p>
          <a:p>
            <a:r>
              <a:t>Create a column from two existing columns</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Create a column from two existing columns</a:t>
            </a:r>
          </a:p>
          <a:p>
            <a:r>
              <a:t>CML3112, Week 5, slide 26</a:t>
            </a:r>
          </a:p>
          <a:p>
            <a:r>
              <a:t/>
            </a:r>
          </a:p>
          <a:p>
            <a:r>
              <a:t>Explanation to give</a:t>
            </a:r>
          </a:p>
          <a:p>
            <a:r>
              <a:t>A derived column combines existing columns row by row. Track units through the division. Cost divided by energy gives a rate in currency per kWh.</a:t>
            </a:r>
          </a:p>
          <a:p>
            <a:r>
              <a:t/>
            </a:r>
          </a:p>
          <a:p>
            <a:r>
              <a:t>Worked illustration / lecturer answer</a:t>
            </a:r>
          </a:p>
          <a:p>
            <a:r>
              <a:t>A fictional bill of 6,000 UGX for 10 kWh gives 600 UGX/kWh. Create that rate before filtering if later work needs the column in the filtered table.</a:t>
            </a:r>
          </a:p>
          <a:p>
            <a:r>
              <a:t/>
            </a:r>
          </a:p>
          <a:p>
            <a:r>
              <a:t>Misconception to address</a:t>
            </a:r>
          </a:p>
          <a:p>
            <a:r>
              <a:t>The average of individual rates is generally different from total cost divided by total energy. Use the operation the question actually specifies and check zero-energy cases.</a:t>
            </a:r>
          </a:p>
          <a:p>
            <a:r>
              <a:t/>
            </a:r>
          </a:p>
          <a:p>
            <a:r>
              <a:t>On this slide</a:t>
            </a:r>
          </a:p>
          <a:p>
            <a:r>
              <a:t>A new column can store a calculation for every row. Division pairs the values in matching rows.</a:t>
            </a:r>
          </a:p>
          <a:p>
            <a:r>
              <a:t/>
            </a:r>
          </a:p>
          <a:p>
            <a:r>
              <a:t>For this invented table all energy values are positive. UGX is Uganda shillings. Cost divided by energy has units UGX/kWh.</a:t>
            </a:r>
          </a:p>
          <a:p>
            <a:r>
              <a:t/>
            </a:r>
          </a:p>
          <a:p>
            <a:r>
              <a:t>Continue to</a:t>
            </a:r>
          </a:p>
          <a:p>
            <a:r>
              <a:t>An energy rate is cost divided by energy</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An energy rate is cost divided by energy</a:t>
            </a:r>
          </a:p>
          <a:p>
            <a:r>
              <a:t>CML3112, Week 5, slide 27</a:t>
            </a:r>
          </a:p>
          <a:p>
            <a:r>
              <a:t/>
            </a:r>
          </a:p>
          <a:p>
            <a:r>
              <a:t>Explanation to give</a:t>
            </a:r>
          </a:p>
          <a:p>
            <a:r>
              <a:t>A derived column combines existing columns row by row. Track units through the division. Cost divided by energy gives a rate in currency per kWh.</a:t>
            </a:r>
          </a:p>
          <a:p>
            <a:r>
              <a:t/>
            </a:r>
          </a:p>
          <a:p>
            <a:r>
              <a:t>Worked illustration / lecturer answer</a:t>
            </a:r>
          </a:p>
          <a:p>
            <a:r>
              <a:t>A fictional bill of 6,000 UGX for 10 kWh gives 600 UGX/kWh. Create that rate before filtering if later work needs the column in the filtered table.</a:t>
            </a:r>
          </a:p>
          <a:p>
            <a:r>
              <a:t/>
            </a:r>
          </a:p>
          <a:p>
            <a:r>
              <a:t>Misconception to address</a:t>
            </a:r>
          </a:p>
          <a:p>
            <a:r>
              <a:t>The average of individual rates is generally different from total cost divided by total energy. Use the operation the question actually specifies and check zero-energy cases.</a:t>
            </a:r>
          </a:p>
          <a:p>
            <a:r>
              <a:t/>
            </a:r>
          </a:p>
          <a:p>
            <a:r>
              <a:t>Read the displayed code line by line</a:t>
            </a:r>
          </a:p>
          <a:p>
            <a:r>
              <a:t>df["cost_ugx"] = [1000, 2400, 3500, 5600]</a:t>
            </a:r>
          </a:p>
          <a:p>
            <a:r>
              <a:t>Evaluate the complete right-hand expression first, then assign its result to the name or selected field on the left.</a:t>
            </a:r>
          </a:p>
          <a:p>
            <a:r>
              <a:t/>
            </a:r>
          </a:p>
          <a:p>
            <a:r>
              <a:t>df["rate_ugx_per_kwh"] = df["cost_ugx"] / df["kwh"]</a:t>
            </a:r>
          </a:p>
          <a:p>
            <a:r>
              <a:t>Evaluate the complete right-hand expression first, then assign its result to the name or selected field on the left.</a:t>
            </a:r>
          </a:p>
          <a:p>
            <a:r>
              <a:t/>
            </a:r>
          </a:p>
          <a:p>
            <a:r>
              <a:t>print(df["rate_ugx_per_kwh"])</a:t>
            </a:r>
          </a:p>
          <a:p>
            <a:r>
              <a:t>Evaluate the expression inside the parentheses and display it. Displaying is separate from returning a function result.</a:t>
            </a:r>
          </a:p>
          <a:p>
            <a:r>
              <a:t/>
            </a:r>
          </a:p>
          <a:p>
            <a:r>
              <a:t>Result / continuity</a:t>
            </a:r>
          </a:p>
          <a:p>
            <a:r>
              <a:t>Expected rates: 500, 600, 700 and 800 UGX/kWh. Keep units in column names.</a:t>
            </a:r>
          </a:p>
          <a:p>
            <a:r>
              <a:t/>
            </a:r>
          </a:p>
          <a:p>
            <a:r>
              <a:t>Continue to</a:t>
            </a:r>
          </a:p>
          <a:p>
            <a:r>
              <a:t>Load the assignment table before analysing it</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Load the assignment table before analysing it</a:t>
            </a:r>
          </a:p>
          <a:p>
            <a:r>
              <a:t>CML3112, Week 5, slide 28</a:t>
            </a:r>
          </a:p>
          <a:p>
            <a:r>
              <a:t/>
            </a:r>
          </a:p>
          <a:p>
            <a:r>
              <a:t>Explanation to give</a:t>
            </a:r>
          </a:p>
          <a:p>
            <a:r>
              <a:t>Explain the difference between loading a table and understanding it. read_csv opens the supplied file; inspection checks that the expected rows, fields and units arrived before any analysis.</a:t>
            </a:r>
          </a:p>
          <a:p>
            <a:r>
              <a:t/>
            </a:r>
          </a:p>
          <a:p>
            <a:r>
              <a:t>Worked illustration / lecturer answer</a:t>
            </a:r>
          </a:p>
          <a:p>
            <a:r>
              <a:t>Show df.head(), df.shape and df.dtypes as three views of the same table. The Week 5 campus_energy.csv is a fictional 24-row teaching file with repeated meter observations.</a:t>
            </a:r>
          </a:p>
          <a:p>
            <a:r>
              <a:t/>
            </a:r>
          </a:p>
          <a:p>
            <a:r>
              <a:t>Misconception to address</a:t>
            </a:r>
          </a:p>
          <a:p>
            <a:r>
              <a:t>A successful read does not prove the right file was loaded. Check the filename, the header and the number of records before calculating.</a:t>
            </a:r>
          </a:p>
          <a:p>
            <a:r>
              <a:t/>
            </a:r>
          </a:p>
          <a:p>
            <a:r>
              <a:t>On this slide</a:t>
            </a:r>
          </a:p>
          <a:p>
            <a:r>
              <a:t>Upload campus_energy.csv to the current runtime first. read_csv reads it into a new DataFrame.</a:t>
            </a:r>
          </a:p>
          <a:p>
            <a:r>
              <a:t/>
            </a:r>
          </a:p>
          <a:p>
            <a:r>
              <a:t>head() displays the first five rows; shape gives row and column counts; dtypes shows column data types.</a:t>
            </a:r>
          </a:p>
          <a:p>
            <a:r>
              <a:t/>
            </a:r>
          </a:p>
          <a:p>
            <a:r>
              <a:t>We call this issued_table to keep it separate from the invented four-row df used above.</a:t>
            </a:r>
          </a:p>
          <a:p>
            <a:r>
              <a:t/>
            </a:r>
          </a:p>
          <a:p>
            <a:r>
              <a:t>Current notebook workflow</a:t>
            </a:r>
          </a:p>
          <a:p>
            <a:r>
              <a:t>The latest student package contains no grader scripts or g.check cells. Restart and run the completed notebook, then submit it. Existing older submissions remain valid.</a:t>
            </a:r>
          </a:p>
          <a:p>
            <a:r>
              <a:t/>
            </a:r>
          </a:p>
          <a:p>
            <a:r>
              <a:t>Continue to</a:t>
            </a:r>
          </a:p>
          <a:p>
            <a:r>
              <a:t>Inspect the supplied energy file</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Inspect the supplied energy file</a:t>
            </a:r>
          </a:p>
          <a:p>
            <a:r>
              <a:t>CML3112, Week 5, slide 29</a:t>
            </a:r>
          </a:p>
          <a:p>
            <a:r>
              <a:t/>
            </a:r>
          </a:p>
          <a:p>
            <a:r>
              <a:t>Explanation to give</a:t>
            </a:r>
          </a:p>
          <a:p>
            <a:r>
              <a:t>Explain the difference between loading a table and understanding it. read_csv opens the supplied file; inspection checks that the expected rows, fields and units arrived before any analysis.</a:t>
            </a:r>
          </a:p>
          <a:p>
            <a:r>
              <a:t/>
            </a:r>
          </a:p>
          <a:p>
            <a:r>
              <a:t>Worked illustration / lecturer answer</a:t>
            </a:r>
          </a:p>
          <a:p>
            <a:r>
              <a:t>Show df.head(), df.shape and df.dtypes as three views of the same table. The Week 5 campus_energy.csv is a fictional 24-row teaching file with repeated meter observations.</a:t>
            </a:r>
          </a:p>
          <a:p>
            <a:r>
              <a:t/>
            </a:r>
          </a:p>
          <a:p>
            <a:r>
              <a:t>Misconception to address</a:t>
            </a:r>
          </a:p>
          <a:p>
            <a:r>
              <a:t>A successful read does not prove the right file was loaded. Check the filename, the header and the number of records before calculating.</a:t>
            </a:r>
          </a:p>
          <a:p>
            <a:r>
              <a:t/>
            </a:r>
          </a:p>
          <a:p>
            <a:r>
              <a:t>Read the displayed code line by line</a:t>
            </a:r>
          </a:p>
          <a:p>
            <a:r>
              <a:t>issued_table = pd.read_csv("campus_energy.csv")</a:t>
            </a:r>
          </a:p>
          <a:p>
            <a:r>
              <a:t>Evaluate the complete right-hand expression first, then assign its result to the name or selected field on the left.</a:t>
            </a:r>
          </a:p>
          <a:p>
            <a:r>
              <a:t/>
            </a:r>
          </a:p>
          <a:p>
            <a:r>
              <a:t>print(issued_table.head())</a:t>
            </a:r>
          </a:p>
          <a:p>
            <a:r>
              <a:t>Evaluate the expression inside the parentheses and display it. Displaying is separate from returning a function result.</a:t>
            </a:r>
          </a:p>
          <a:p>
            <a:r>
              <a:t/>
            </a:r>
          </a:p>
          <a:p>
            <a:r>
              <a:t>print(issued_table.shape)</a:t>
            </a:r>
          </a:p>
          <a:p>
            <a:r>
              <a:t>Evaluate the expression inside the parentheses and display it. Displaying is separate from returning a function result.</a:t>
            </a:r>
          </a:p>
          <a:p>
            <a:r>
              <a:t/>
            </a:r>
          </a:p>
          <a:p>
            <a:r>
              <a:t>print(issued_table.dtypes)</a:t>
            </a:r>
          </a:p>
          <a:p>
            <a:r>
              <a:t>Evaluate the expression inside the parentheses and display it. Displaying is separate from returning a function result.</a:t>
            </a:r>
          </a:p>
          <a:p>
            <a:r>
              <a:t/>
            </a:r>
          </a:p>
          <a:p>
            <a:r>
              <a:t>Result / continuity</a:t>
            </a:r>
          </a:p>
          <a:p>
            <a:r>
              <a:t>Check column names, data types and units before attempting the six issued tasks.</a:t>
            </a:r>
          </a:p>
          <a:p>
            <a:r>
              <a:t/>
            </a:r>
          </a:p>
          <a:p>
            <a:r>
              <a:t>Continue to</a:t>
            </a:r>
          </a:p>
          <a:p>
            <a:r>
              <a:t>Revision example and answer</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Revision example and answer</a:t>
            </a:r>
          </a:p>
          <a:p>
            <a:r>
              <a:t>CML3112, Week 5, slide 30</a:t>
            </a:r>
          </a:p>
          <a:p>
            <a:r>
              <a:t/>
            </a:r>
          </a:p>
          <a:p>
            <a:r>
              <a:t>Explanation to give</a:t>
            </a:r>
          </a:p>
          <a:p>
            <a:r>
              <a:t>Use the displayed example as a short individual revision question, then explain the reasoning behind its answer.</a:t>
            </a:r>
          </a:p>
          <a:p>
            <a:r>
              <a:t/>
            </a:r>
          </a:p>
          <a:p>
            <a:r>
              <a:t>Worked illustration / lecturer answer</a:t>
            </a:r>
          </a:p>
          <a:p>
            <a:r>
              <a:t>Example: Use &gt; 5 instead. Predict the surviving rows. Which building has the largest total?</a:t>
            </a:r>
          </a:p>
          <a:p>
            <a:r>
              <a:t/>
            </a:r>
          </a:p>
          <a:p>
            <a:r>
              <a:t>Answer: Only the row with 7 survives. Building B has the larger total, 12 kWh.</a:t>
            </a:r>
          </a:p>
          <a:p>
            <a:r>
              <a:t/>
            </a:r>
          </a:p>
          <a:p>
            <a:r>
              <a:t>Misconception to address</a:t>
            </a:r>
          </a:p>
          <a:p>
            <a:r>
              <a:t>Trace the operation that changes the value rather than accepting a memorised output. For notebook-state examples, specify which cell is repeated and whether the initialisation ran again.</a:t>
            </a:r>
          </a:p>
          <a:p>
            <a:r>
              <a:t/>
            </a:r>
          </a:p>
          <a:p>
            <a:r>
              <a:t>Continue to</a:t>
            </a:r>
          </a:p>
          <a:p>
            <a:r>
              <a:t>Preparing for the assignment</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Preparing for the assignment</a:t>
            </a:r>
          </a:p>
          <a:p>
            <a:r>
              <a:t>CML3112, Week 5, slide 31</a:t>
            </a:r>
          </a:p>
          <a:p>
            <a:r>
              <a:t/>
            </a:r>
          </a:p>
          <a:p>
            <a:r>
              <a:t>Explanation to give</a:t>
            </a:r>
          </a:p>
          <a:p>
            <a:r>
              <a:t>A5 uses the supplied campus_energy.csv and six named pandas outputs. Start with the loaded table, then create the rate column before taking the filtered subset.</a:t>
            </a:r>
          </a:p>
          <a:p>
            <a:r>
              <a:t/>
            </a:r>
          </a:p>
          <a:p>
            <a:r>
              <a:t>Worked illustration / lecturer answer</a:t>
            </a:r>
          </a:p>
          <a:p>
            <a:r>
              <a:t>Distinguish distinct meter count, a mean rate and the building with greatest total energy. These are three different questions about the same table.</a:t>
            </a:r>
          </a:p>
          <a:p>
            <a:r>
              <a:t/>
            </a:r>
          </a:p>
          <a:p>
            <a:r>
              <a:t>Misconception to address</a:t>
            </a:r>
          </a:p>
          <a:p>
            <a:r>
              <a:t>Return the exact requested values in one completed notebook. The learner does not upload data, ZIPs, helper scripts or a separate report for A5.</a:t>
            </a:r>
          </a:p>
          <a:p>
            <a:r>
              <a:t/>
            </a:r>
          </a:p>
          <a:p>
            <a:r>
              <a:t>On this slide</a:t>
            </a:r>
          </a:p>
          <a:p>
            <a:r>
              <a:t>A5 uses the supplied fictional campus_energy.csv, not a live Kaggle download.</a:t>
            </a:r>
          </a:p>
          <a:p>
            <a:r>
              <a:t/>
            </a:r>
          </a:p>
          <a:p>
            <a:r>
              <a:t>The six tasks use read_csv, nunique, division of columns, a &gt; filter, mean and grouped totals. idxmax returns the label of the largest value.</a:t>
            </a:r>
          </a:p>
          <a:p>
            <a:r>
              <a:t/>
            </a:r>
          </a:p>
          <a:p>
            <a:r>
              <a:t>A mean of individual rates gives each observation equal weight.</a:t>
            </a:r>
          </a:p>
          <a:p>
            <a:r>
              <a:t/>
            </a:r>
          </a:p>
          <a:p>
            <a:r>
              <a:t>Total cost divided by total energy weights by energy.</a:t>
            </a:r>
          </a:p>
          <a:p>
            <a:r>
              <a:t/>
            </a:r>
          </a:p>
          <a:p>
            <a:r>
              <a:t>Current notebook workflow</a:t>
            </a:r>
          </a:p>
          <a:p>
            <a:r>
              <a:t>The latest student package contains no grader scripts or g.check cells. Restart and run the completed notebook, then submit it. Existing older submissions remain valid.</a:t>
            </a:r>
          </a:p>
          <a:p>
            <a:r>
              <a:t/>
            </a:r>
          </a:p>
          <a:p>
            <a:r>
              <a:t>Continue to</a:t>
            </a:r>
          </a:p>
          <a:p>
            <a:r>
              <a:t>Data types and filters</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Data types and filters</a:t>
            </a:r>
          </a:p>
          <a:p>
            <a:r>
              <a:t>CML3112, Week 5, slide 32</a:t>
            </a:r>
          </a:p>
          <a:p>
            <a:r>
              <a:t/>
            </a:r>
          </a:p>
          <a:p>
            <a:r>
              <a:t>Explanation to give</a:t>
            </a:r>
          </a:p>
          <a:p>
            <a:r>
              <a:t>A comparison against a column creates one True/False result per row. That Boolean mask selects rows. Explain the mask first and only then put it inside df[...].</a:t>
            </a:r>
          </a:p>
          <a:p>
            <a:r>
              <a:t/>
            </a:r>
          </a:p>
          <a:p>
            <a:r>
              <a:t>Worked illustration / lecturer answer</a:t>
            </a:r>
          </a:p>
          <a:p>
            <a:r>
              <a:t>With kWh [2, 5, 8], the mask kwh &gt; 5 is [False, False, True]. Applying it keeps only the row with 8. Using &gt;= 5 would keep two rows.</a:t>
            </a:r>
          </a:p>
          <a:p>
            <a:r>
              <a:t/>
            </a:r>
          </a:p>
          <a:p>
            <a:r>
              <a:t>Misconception to address</a:t>
            </a:r>
          </a:p>
          <a:p>
            <a:r>
              <a:t>A mask is not the filtered table. Also check the column contains numbers, since text comparisons follow different rules.</a:t>
            </a:r>
          </a:p>
          <a:p>
            <a:r>
              <a:t/>
            </a:r>
          </a:p>
          <a:p>
            <a:r>
              <a:t>On this slide</a:t>
            </a:r>
          </a:p>
          <a:p>
            <a:r>
              <a:t>A Boolean mask is a list-like column of True/False values. len(mask) counts all rows; mask.sum() counts True entries.</a:t>
            </a:r>
          </a:p>
          <a:p>
            <a:r>
              <a:t/>
            </a:r>
          </a:p>
          <a:p>
            <a:r>
              <a:t>Strings sort as text, so "9" can rank above "100".</a:t>
            </a:r>
          </a:p>
          <a:p>
            <a:r>
              <a:t/>
            </a:r>
          </a:p>
          <a:p>
            <a:r>
              <a:t>Inspect numeric types before taking maxima.</a:t>
            </a:r>
          </a:p>
          <a:p>
            <a:r>
              <a:t/>
            </a:r>
          </a:p>
          <a:p>
            <a:r>
              <a:t>KeyError often means the column name does not match; check spelling, case and spaces. shape is (rows, columns).</a:t>
            </a:r>
          </a:p>
          <a:p>
            <a:r>
              <a:t/>
            </a:r>
          </a:p>
          <a:p>
            <a:r>
              <a:t>Continue to</a:t>
            </a:r>
          </a:p>
          <a:p>
            <a:r>
              <a:t>Data types and filters continued</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Data types and filters continued</a:t>
            </a:r>
          </a:p>
          <a:p>
            <a:r>
              <a:t>CML3112, Week 5, slide 33</a:t>
            </a:r>
          </a:p>
          <a:p>
            <a:r>
              <a:t/>
            </a:r>
          </a:p>
          <a:p>
            <a:r>
              <a:t>Explanation to give</a:t>
            </a:r>
          </a:p>
          <a:p>
            <a:r>
              <a:t>A comparison against a column creates one True/False result per row. That Boolean mask selects rows. Explain the mask first and only then put it inside df[...].</a:t>
            </a:r>
          </a:p>
          <a:p>
            <a:r>
              <a:t/>
            </a:r>
          </a:p>
          <a:p>
            <a:r>
              <a:t>Worked illustration / lecturer answer</a:t>
            </a:r>
          </a:p>
          <a:p>
            <a:r>
              <a:t>With kWh [2, 5, 8], the mask kwh &gt; 5 is [False, False, True]. Applying it keeps only the row with 8. Using &gt;= 5 would keep two rows.</a:t>
            </a:r>
          </a:p>
          <a:p>
            <a:r>
              <a:t/>
            </a:r>
          </a:p>
          <a:p>
            <a:r>
              <a:t>Misconception to address</a:t>
            </a:r>
          </a:p>
          <a:p>
            <a:r>
              <a:t>A mask is not the filtered table. Also check the column contains numbers, since text comparisons follow different rules.</a:t>
            </a:r>
          </a:p>
          <a:p>
            <a:r>
              <a:t/>
            </a:r>
          </a:p>
          <a:p>
            <a:r>
              <a:t>On this slide</a:t>
            </a:r>
          </a:p>
          <a:p>
            <a:r>
              <a:t>Read provenance and units before trusting a dataset.</a:t>
            </a:r>
          </a:p>
          <a:p>
            <a:r>
              <a:t/>
            </a:r>
          </a:p>
          <a:p>
            <a:r>
              <a:t>Continue to</a:t>
            </a:r>
          </a:p>
          <a:p>
            <a:r>
              <a:t>Your issued assignment</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Your issued assignment</a:t>
            </a:r>
          </a:p>
          <a:p>
            <a:r>
              <a:t>CML3112, Week 5, slide 34</a:t>
            </a:r>
          </a:p>
          <a:p>
            <a:r>
              <a:t/>
            </a:r>
          </a:p>
          <a:p>
            <a:r>
              <a:t>Explanation to give</a:t>
            </a:r>
          </a:p>
          <a:p>
            <a:r>
              <a:t>A5 uses the supplied campus_energy.csv and six named pandas outputs. Start with the loaded table, then create the rate column before taking the filtered subset.</a:t>
            </a:r>
          </a:p>
          <a:p>
            <a:r>
              <a:t/>
            </a:r>
          </a:p>
          <a:p>
            <a:r>
              <a:t>Worked illustration / lecturer answer</a:t>
            </a:r>
          </a:p>
          <a:p>
            <a:r>
              <a:t>Distinguish distinct meter count, a mean rate and the building with greatest total energy. These are three different questions about the same table.</a:t>
            </a:r>
          </a:p>
          <a:p>
            <a:r>
              <a:t/>
            </a:r>
          </a:p>
          <a:p>
            <a:r>
              <a:t>Misconception to address</a:t>
            </a:r>
          </a:p>
          <a:p>
            <a:r>
              <a:t>Return the exact requested values in one completed notebook. The learner does not upload data, ZIPs, helper scripts or a separate report for A5.</a:t>
            </a:r>
          </a:p>
          <a:p>
            <a:r>
              <a:t/>
            </a:r>
          </a:p>
          <a:p>
            <a:r>
              <a:t>On this slide</a:t>
            </a:r>
          </a:p>
          <a:p>
            <a:r>
              <a:t>Open W05_student.ipynb.</a:t>
            </a:r>
          </a:p>
          <a:p>
            <a:r>
              <a:t/>
            </a:r>
          </a:p>
          <a:p>
            <a:r>
              <a:t>Read every task and its input units before coding.</a:t>
            </a:r>
          </a:p>
          <a:p>
            <a:r>
              <a:t/>
            </a:r>
          </a:p>
          <a:p>
            <a:r>
              <a:t>Keep the required function names and returned outputs.</a:t>
            </a:r>
          </a:p>
          <a:p>
            <a:r>
              <a:t/>
            </a:r>
          </a:p>
          <a:p>
            <a:r>
              <a:t>Restart and run all cells, then save the completed notebook.</a:t>
            </a:r>
          </a:p>
          <a:p>
            <a:r>
              <a:t/>
            </a:r>
          </a:p>
          <a:p>
            <a:r>
              <a:t>Current notebook workflow</a:t>
            </a:r>
          </a:p>
          <a:p>
            <a:r>
              <a:t>The latest student package contains no grader scripts or g.check cells. Restart and run the completed notebook, then submit it. Existing older submissions remain valid.</a:t>
            </a:r>
          </a:p>
          <a:p>
            <a:r>
              <a:t/>
            </a:r>
          </a:p>
          <a:p>
            <a:r>
              <a:t>Continue to</a:t>
            </a:r>
          </a:p>
          <a:p>
            <a:r>
              <a:t>q1: 3 marks</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q1: 3 marks</a:t>
            </a:r>
          </a:p>
          <a:p>
            <a:r>
              <a:t>CML3112, Week 5, slide 35</a:t>
            </a:r>
          </a:p>
          <a:p>
            <a:r>
              <a:t/>
            </a:r>
          </a:p>
          <a:p>
            <a:r>
              <a:t>Explanation to give</a:t>
            </a:r>
          </a:p>
          <a:p>
            <a:r>
              <a:t>Load the named CSV into df. Reading the file is different from constructing a new table with copied example values.</a:t>
            </a:r>
          </a:p>
          <a:p>
            <a:r>
              <a:t/>
            </a:r>
          </a:p>
          <a:p>
            <a:r>
              <a:t>Worked illustration / lecturer answer</a:t>
            </a:r>
          </a:p>
          <a:p>
            <a:r>
              <a:t>Inspect the header and 24-row file before analysis.</a:t>
            </a:r>
          </a:p>
          <a:p>
            <a:r>
              <a:t/>
            </a:r>
          </a:p>
          <a:p>
            <a:r>
              <a:t>Misconception to address</a:t>
            </a:r>
          </a:p>
          <a:p>
            <a:r>
              <a:t>The student submits the completed notebook only. Grading runs on the lecturer’s side; the current package needs no grading scripts.</a:t>
            </a:r>
          </a:p>
          <a:p>
            <a:r>
              <a:t/>
            </a:r>
          </a:p>
          <a:p>
            <a:r>
              <a:t>On this slide</a:t>
            </a:r>
          </a:p>
          <a:p>
            <a:r>
              <a:t>Load campus_energy.csv into a DataFrame called df.</a:t>
            </a:r>
          </a:p>
          <a:p>
            <a:r>
              <a:t/>
            </a:r>
          </a:p>
          <a:p>
            <a:r>
              <a:t>Current notebook workflow</a:t>
            </a:r>
          </a:p>
          <a:p>
            <a:r>
              <a:t>The latest student package contains no grader scripts or g.check cells. Restart and run the completed notebook, then submit it. Existing older submissions remain valid.</a:t>
            </a:r>
          </a:p>
          <a:p>
            <a:r>
              <a:t/>
            </a:r>
          </a:p>
          <a:p>
            <a:r>
              <a:t>Continue to</a:t>
            </a:r>
          </a:p>
          <a:p>
            <a:r>
              <a:t>q2: 3 marks</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q2: 3 marks</a:t>
            </a:r>
          </a:p>
          <a:p>
            <a:r>
              <a:t>CML3112, Week 5, slide 36</a:t>
            </a:r>
          </a:p>
          <a:p>
            <a:r>
              <a:t/>
            </a:r>
          </a:p>
          <a:p>
            <a:r>
              <a:t>Explanation to give</a:t>
            </a:r>
          </a:p>
          <a:p>
            <a:r>
              <a:t>Count distinct meter_id values, not rows. A meter can contribute several monthly observations.</a:t>
            </a:r>
          </a:p>
          <a:p>
            <a:r>
              <a:t/>
            </a:r>
          </a:p>
          <a:p>
            <a:r>
              <a:t>Worked illustration / lecturer answer</a:t>
            </a:r>
          </a:p>
          <a:p>
            <a:r>
              <a:t>Two readings from M-001 count as one distinct meter.</a:t>
            </a:r>
          </a:p>
          <a:p>
            <a:r>
              <a:t/>
            </a:r>
          </a:p>
          <a:p>
            <a:r>
              <a:t>Misconception to address</a:t>
            </a:r>
          </a:p>
          <a:p>
            <a:r>
              <a:t>The student submits the completed notebook only. Grading runs on the lecturer’s side; the current package needs no grading scripts.</a:t>
            </a:r>
          </a:p>
          <a:p>
            <a:r>
              <a:t/>
            </a:r>
          </a:p>
          <a:p>
            <a:r>
              <a:t>On this slide</a:t>
            </a:r>
          </a:p>
          <a:p>
            <a:r>
              <a:t>Set n_meters to the number of distinct meters in the file.</a:t>
            </a:r>
          </a:p>
          <a:p>
            <a:r>
              <a:t/>
            </a:r>
          </a:p>
          <a:p>
            <a:r>
              <a:t>Current notebook workflow</a:t>
            </a:r>
          </a:p>
          <a:p>
            <a:r>
              <a:t>The latest student package contains no grader scripts or g.check cells. Restart and run the completed notebook, then submit it. Existing older submissions remain valid.</a:t>
            </a:r>
          </a:p>
          <a:p>
            <a:r>
              <a:t/>
            </a:r>
          </a:p>
          <a:p>
            <a:r>
              <a:t>Continue to</a:t>
            </a:r>
          </a:p>
          <a:p>
            <a:r>
              <a:t>q3: 4 marks</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q3: 4 marks</a:t>
            </a:r>
          </a:p>
          <a:p>
            <a:r>
              <a:t>CML3112, Week 5, slide 37</a:t>
            </a:r>
          </a:p>
          <a:p>
            <a:r>
              <a:t/>
            </a:r>
          </a:p>
          <a:p>
            <a:r>
              <a:t>Explanation to give</a:t>
            </a:r>
          </a:p>
          <a:p>
            <a:r>
              <a:t>Create cost_per_kwh by dividing each row’s cost_ugx by its kwh.</a:t>
            </a:r>
          </a:p>
          <a:p>
            <a:r>
              <a:t/>
            </a:r>
          </a:p>
          <a:p>
            <a:r>
              <a:t>Worked illustration / lecturer answer</a:t>
            </a:r>
          </a:p>
          <a:p>
            <a:r>
              <a:t>For 6000 UGX and 10 kWh the rate is 600 UGX/kWh.</a:t>
            </a:r>
          </a:p>
          <a:p>
            <a:r>
              <a:t/>
            </a:r>
          </a:p>
          <a:p>
            <a:r>
              <a:t>Misconception to address</a:t>
            </a:r>
          </a:p>
          <a:p>
            <a:r>
              <a:t>The student submits the completed notebook only. Grading runs on the lecturer’s side; the current package needs no grading scripts.</a:t>
            </a:r>
          </a:p>
          <a:p>
            <a:r>
              <a:t/>
            </a:r>
          </a:p>
          <a:p>
            <a:r>
              <a:t>On this slide</a:t>
            </a:r>
          </a:p>
          <a:p>
            <a:r>
              <a:t>Add a column cost_per_kwh to df, equal to cost_ugx / kwh.</a:t>
            </a:r>
          </a:p>
          <a:p>
            <a:r>
              <a:t/>
            </a:r>
          </a:p>
          <a:p>
            <a:r>
              <a:t>Current notebook workflow</a:t>
            </a:r>
          </a:p>
          <a:p>
            <a:r>
              <a:t>The latest student package contains no grader scripts or g.check cells. Restart and run the completed notebook, then submit it. Existing older submissions remain valid.</a:t>
            </a:r>
          </a:p>
          <a:p>
            <a:r>
              <a:t/>
            </a:r>
          </a:p>
          <a:p>
            <a:r>
              <a:t>Continue to</a:t>
            </a:r>
          </a:p>
          <a:p>
            <a:r>
              <a:t>q4: 4 marks</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q4: 4 marks</a:t>
            </a:r>
          </a:p>
          <a:p>
            <a:r>
              <a:t>CML3112, Week 5, slide 38</a:t>
            </a:r>
          </a:p>
          <a:p>
            <a:r>
              <a:t/>
            </a:r>
          </a:p>
          <a:p>
            <a:r>
              <a:t>Explanation to give</a:t>
            </a:r>
          </a:p>
          <a:p>
            <a:r>
              <a:t>Filter whole rows using the strict kwh &gt; 5000 comparison, after creating the rate column.</a:t>
            </a:r>
          </a:p>
          <a:p>
            <a:r>
              <a:t/>
            </a:r>
          </a:p>
          <a:p>
            <a:r>
              <a:t>Worked illustration / lecturer answer</a:t>
            </a:r>
          </a:p>
          <a:p>
            <a:r>
              <a:t>A reading exactly 5000 does not pass this condition.</a:t>
            </a:r>
          </a:p>
          <a:p>
            <a:r>
              <a:t/>
            </a:r>
          </a:p>
          <a:p>
            <a:r>
              <a:t>Misconception to address</a:t>
            </a:r>
          </a:p>
          <a:p>
            <a:r>
              <a:t>The student submits the completed notebook only. Grading runs on the lecturer’s side; the current package needs no grading scripts.</a:t>
            </a:r>
          </a:p>
          <a:p>
            <a:r>
              <a:t/>
            </a:r>
          </a:p>
          <a:p>
            <a:r>
              <a:t>On this slide</a:t>
            </a:r>
          </a:p>
          <a:p>
            <a:r>
              <a:t>Set high_use to the rows of df where kwh is greater than 5000.</a:t>
            </a:r>
          </a:p>
          <a:p>
            <a:r>
              <a:t/>
            </a:r>
          </a:p>
          <a:p>
            <a:r>
              <a:t>Do this after q3 so the derived column comes along.</a:t>
            </a:r>
          </a:p>
          <a:p>
            <a:r>
              <a:t/>
            </a:r>
          </a:p>
          <a:p>
            <a:r>
              <a:t>Current notebook workflow</a:t>
            </a:r>
          </a:p>
          <a:p>
            <a:r>
              <a:t>The latest student package contains no grader scripts or g.check cells. Restart and run the completed notebook, then submit it. Existing older submissions remain valid.</a:t>
            </a:r>
          </a:p>
          <a:p>
            <a:r>
              <a:t/>
            </a:r>
          </a:p>
          <a:p>
            <a:r>
              <a:t>Continue to</a:t>
            </a:r>
          </a:p>
          <a:p>
            <a:r>
              <a:t>q5: 3 marks</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q5: 3 marks</a:t>
            </a:r>
          </a:p>
          <a:p>
            <a:r>
              <a:t>CML3112, Week 5, slide 39</a:t>
            </a:r>
          </a:p>
          <a:p>
            <a:r>
              <a:t/>
            </a:r>
          </a:p>
          <a:p>
            <a:r>
              <a:t>Explanation to give</a:t>
            </a:r>
          </a:p>
          <a:p>
            <a:r>
              <a:t>Find the mean of the created cost_per_kwh column, following the task’s stated table scope.</a:t>
            </a:r>
          </a:p>
          <a:p>
            <a:r>
              <a:t/>
            </a:r>
          </a:p>
          <a:p>
            <a:r>
              <a:t>Worked illustration / lecturer answer</a:t>
            </a:r>
          </a:p>
          <a:p>
            <a:r>
              <a:t>Mean of rates is not generally total cost divided by total energy.</a:t>
            </a:r>
          </a:p>
          <a:p>
            <a:r>
              <a:t/>
            </a:r>
          </a:p>
          <a:p>
            <a:r>
              <a:t>Misconception to address</a:t>
            </a:r>
          </a:p>
          <a:p>
            <a:r>
              <a:t>The student submits the completed notebook only. Grading runs on the lecturer’s side; the current package needs no grading scripts.</a:t>
            </a:r>
          </a:p>
          <a:p>
            <a:r>
              <a:t/>
            </a:r>
          </a:p>
          <a:p>
            <a:r>
              <a:t>On this slide</a:t>
            </a:r>
          </a:p>
          <a:p>
            <a:r>
              <a:t>Set mean_cost_per_kwh to the mean of the cost_per_kwh column.</a:t>
            </a:r>
          </a:p>
          <a:p>
            <a:r>
              <a:t/>
            </a:r>
          </a:p>
          <a:p>
            <a:r>
              <a:t>Current notebook workflow</a:t>
            </a:r>
          </a:p>
          <a:p>
            <a:r>
              <a:t>The latest student package contains no grader scripts or g.check cells. Restart and run the completed notebook, then submit it. Existing older submissions remain valid.</a:t>
            </a:r>
          </a:p>
          <a:p>
            <a:r>
              <a:t/>
            </a:r>
          </a:p>
          <a:p>
            <a:r>
              <a:t>Continue to</a:t>
            </a:r>
          </a:p>
          <a:p>
            <a:r>
              <a:t>q6: 3 marks</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4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q6: 3 marks</a:t>
            </a:r>
          </a:p>
          <a:p>
            <a:r>
              <a:t>CML3112, Week 5, slide 40</a:t>
            </a:r>
          </a:p>
          <a:p>
            <a:r>
              <a:t/>
            </a:r>
          </a:p>
          <a:p>
            <a:r>
              <a:t>Explanation to give</a:t>
            </a:r>
          </a:p>
          <a:p>
            <a:r>
              <a:t>Sum kwh by building and return the label with the greatest total.</a:t>
            </a:r>
          </a:p>
          <a:p>
            <a:r>
              <a:t/>
            </a:r>
          </a:p>
          <a:p>
            <a:r>
              <a:t>Worked illustration / lecturer answer</a:t>
            </a:r>
          </a:p>
          <a:p>
            <a:r>
              <a:t>max gives a total; idxmax gives the label attached to that total.</a:t>
            </a:r>
          </a:p>
          <a:p>
            <a:r>
              <a:t/>
            </a:r>
          </a:p>
          <a:p>
            <a:r>
              <a:t>Misconception to address</a:t>
            </a:r>
          </a:p>
          <a:p>
            <a:r>
              <a:t>The student submits the completed notebook only. Grading runs on the lecturer’s side; the current package needs no grading scripts.</a:t>
            </a:r>
          </a:p>
          <a:p>
            <a:r>
              <a:t/>
            </a:r>
          </a:p>
          <a:p>
            <a:r>
              <a:t>On this slide</a:t>
            </a:r>
          </a:p>
          <a:p>
            <a:r>
              <a:t>Set peak_building to the name of the building with the highest total kwh.</a:t>
            </a:r>
          </a:p>
          <a:p>
            <a:r>
              <a:t/>
            </a:r>
          </a:p>
          <a:p>
            <a:r>
              <a:t>Current notebook workflow</a:t>
            </a:r>
          </a:p>
          <a:p>
            <a:r>
              <a:t>The latest student package contains no grader scripts or g.check cells. Restart and run the completed notebook, then submit it. Existing older submissions remain valid.</a:t>
            </a:r>
          </a:p>
          <a:p>
            <a:r>
              <a:t/>
            </a:r>
          </a:p>
          <a:p>
            <a:r>
              <a:t>Continue to</a:t>
            </a:r>
          </a:p>
          <a:p>
            <a:r>
              <a:t>Pandas investigation submission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4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Pandas investigation submission</a:t>
            </a:r>
          </a:p>
          <a:p>
            <a:r>
              <a:t>CML3112, Week 5, slide 41</a:t>
            </a:r>
          </a:p>
          <a:p>
            <a:r>
              <a:t/>
            </a:r>
          </a:p>
          <a:p>
            <a:r>
              <a:t>Explanation to give</a:t>
            </a:r>
          </a:p>
          <a:p>
            <a:r>
              <a:t>This slide hands over CML3112 W05. Show the exact form title before uploading. The required packet is one completed .ipynb notebook.</a:t>
            </a:r>
          </a:p>
          <a:p>
            <a:r>
              <a:t/>
            </a:r>
          </a:p>
          <a:p>
            <a:r>
              <a:t>Worked illustration / lecturer answer</a:t>
            </a:r>
          </a:p>
          <a:p>
            <a:r>
              <a:t>The recorded cutoff for this form is 2026-10-13T11:00:00+03:00. Check the live form for later changes. A replacement must contain the complete required file set, not just the changed file.</a:t>
            </a:r>
          </a:p>
          <a:p>
            <a:r>
              <a:t/>
            </a:r>
          </a:p>
          <a:p>
            <a:r>
              <a:t>Misconception to address</a:t>
            </a:r>
          </a:p>
          <a:p>
            <a:r>
              <a:t>Students enter their own Student Registration Number as required freeform text. They wait for filenames to appear, press Submit and keep the confirmation. A file saved in Drive or GitHub is not itself a form submission.</a:t>
            </a:r>
          </a:p>
          <a:p>
            <a:r>
              <a:t/>
            </a:r>
          </a:p>
          <a:p>
            <a:r>
              <a:t>On this slide</a:t>
            </a:r>
          </a:p>
          <a:p>
            <a:r>
              <a:t>Opens: 06 Oct 2026, 11:00 Kampala</a:t>
            </a:r>
          </a:p>
          <a:p>
            <a:r>
              <a:t/>
            </a:r>
          </a:p>
          <a:p>
            <a:r>
              <a:t>Deadline: 13 Oct 2026, 11:00 Kampala</a:t>
            </a:r>
          </a:p>
          <a:p>
            <a:r>
              <a:t/>
            </a:r>
          </a:p>
          <a:p>
            <a:r>
              <a:t>Use your full Student Registration Number in the form.</a:t>
            </a:r>
          </a:p>
          <a:p>
            <a:r>
              <a:t/>
            </a:r>
          </a:p>
          <a:p>
            <a:r>
              <a:t>Keep the submitted files and confirmation.</a:t>
            </a:r>
          </a:p>
          <a:p>
            <a:r>
              <a:t/>
            </a:r>
          </a:p>
          <a:p>
            <a:r>
              <a:t>Continue to</a:t>
            </a:r>
          </a:p>
          <a:p>
            <a:r>
              <a:t>Project preparation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4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Project preparation</a:t>
            </a:r>
          </a:p>
          <a:p>
            <a:r>
              <a:t>CML3112, Week 5, slide 42</a:t>
            </a:r>
          </a:p>
          <a:p>
            <a:r>
              <a:t/>
            </a:r>
          </a:p>
          <a:p>
            <a:r>
              <a:t>Explanation to give</a:t>
            </a:r>
          </a:p>
          <a:p>
            <a:r>
              <a:t>Make contribution evidence specific enough to check. A seed records the starting state of random choices; a contribution log records who produced and explained which work.</a:t>
            </a:r>
          </a:p>
          <a:p>
            <a:r>
              <a:t/>
            </a:r>
          </a:p>
          <a:p>
            <a:r>
              <a:t>Worked illustration / lecturer answer</a:t>
            </a:r>
          </a:p>
          <a:p>
            <a:r>
              <a:t>Name a file, function or chart and the decision behind it. Match that entry to meaningful repository history. Disclose AI assistance according to the assessment policy.</a:t>
            </a:r>
          </a:p>
          <a:p>
            <a:r>
              <a:t/>
            </a:r>
          </a:p>
          <a:p>
            <a:r>
              <a:t>Misconception to address</a:t>
            </a:r>
          </a:p>
          <a:p>
            <a:r>
              <a:t>Many commits do not necessarily mean substantial work, and a seed does not establish accuracy. Both are supporting evidence, not replacements for the analysis.</a:t>
            </a:r>
          </a:p>
          <a:p>
            <a:r>
              <a:t/>
            </a:r>
          </a:p>
          <a:p>
            <a:r>
              <a:t>On this slide</a:t>
            </a:r>
          </a:p>
          <a:p>
            <a:r>
              <a:t>Use the published data analysis project brief.</a:t>
            </a:r>
          </a:p>
          <a:p>
            <a:r>
              <a:t/>
            </a:r>
          </a:p>
          <a:p>
            <a:r>
              <a:t>Build the evidence gradually in your project notebook.</a:t>
            </a:r>
          </a:p>
          <a:p>
            <a:r>
              <a:t/>
            </a:r>
          </a:p>
          <a:p>
            <a:r>
              <a:t>Keep raw data, labelled charts, run instructions and individual contributions.</a:t>
            </a:r>
          </a:p>
          <a:p>
            <a:r>
              <a:t/>
            </a:r>
          </a:p>
          <a:p>
            <a:r>
              <a:t>Published deadline: 27 Oct 2026, 11:00 Kampala</a:t>
            </a:r>
          </a:p>
          <a:p>
            <a:r>
              <a:t/>
            </a:r>
          </a:p>
          <a:p>
            <a:r>
              <a:t>Continue to</a:t>
            </a:r>
          </a:p>
          <a:p>
            <a:r>
              <a:t>Week 5 quiz</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4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Week 5 quiz</a:t>
            </a:r>
          </a:p>
          <a:p>
            <a:r>
              <a:t>CML3112, Week 5, slide 43</a:t>
            </a:r>
          </a:p>
          <a:p>
            <a:r>
              <a:t/>
            </a:r>
          </a:p>
          <a:p>
            <a:r>
              <a:t>Explanation to give</a:t>
            </a:r>
          </a:p>
          <a:p>
            <a:r>
              <a:t>This is the CML3112 Week 5 quiz. The student link opens the response form; it does not activate its window. In Quiz Controls use open_W5_CML3112 when ready and read the logged closing time.</a:t>
            </a:r>
          </a:p>
          <a:p>
            <a:r>
              <a:t/>
            </a:r>
          </a:p>
          <a:p>
            <a:r>
              <a:t>Worked illustration / lecturer answer</a:t>
            </a:r>
          </a:p>
          <a:p>
            <a:r>
              <a:t>Explain the distinction between the expected answering time and availability: five minutes of questions can still be available for 24 hours after activation. Enter the learner’s own Student Registration Number and use the registered Google account.</a:t>
            </a:r>
          </a:p>
          <a:p>
            <a:r>
              <a:t/>
            </a:r>
          </a:p>
          <a:p>
            <a:r>
              <a:t>Misconception to address</a:t>
            </a:r>
          </a:p>
          <a:p>
            <a:r>
              <a:t>Read the exact live cutoff before announcing it. Do not promise a new attempt to somebody who already submitted. Quiz catch-up and assignment uploads are separate forms.</a:t>
            </a:r>
          </a:p>
          <a:p>
            <a:r>
              <a:t/>
            </a:r>
          </a:p>
          <a:p>
            <a:r>
              <a:t>On this slide</a:t>
            </a:r>
          </a:p>
          <a:p>
            <a:r>
              <a:t>Answer individually after the lecturer activates the quiz.</a:t>
            </a:r>
          </a:p>
          <a:p>
            <a:r>
              <a:t/>
            </a:r>
          </a:p>
          <a:p>
            <a:r>
              <a:t>Available for 24 hours from activation.</a:t>
            </a:r>
          </a:p>
          <a:p>
            <a:r>
              <a:t/>
            </a:r>
          </a:p>
          <a:p>
            <a:r>
              <a:t>Use your Student Registration Number and registered account.</a:t>
            </a:r>
          </a:p>
          <a:p>
            <a:r>
              <a:t/>
            </a:r>
          </a:p>
          <a:p>
            <a:r>
              <a:t>Check the announced quiz closing time.</a:t>
            </a:r>
          </a:p>
          <a:p>
            <a:r>
              <a:t/>
            </a:r>
          </a:p>
          <a:p>
            <a:r>
              <a:t>Continue to</a:t>
            </a:r>
          </a:p>
          <a:p>
            <a:r>
              <a:t>Revision and submission checklist</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4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Revision and submission checklist</a:t>
            </a:r>
          </a:p>
          <a:p>
            <a:r>
              <a:t>CML3112, Week 5, slide 44</a:t>
            </a:r>
          </a:p>
          <a:p>
            <a:r>
              <a:t/>
            </a:r>
          </a:p>
          <a:p>
            <a:r>
              <a:t>Explanation to give</a:t>
            </a:r>
          </a:p>
          <a:p>
            <a:r>
              <a:t>pandas performs table operations that build on the lists, records and loops already taught. Explain the row, column and unit before using an operation.</a:t>
            </a:r>
          </a:p>
          <a:p>
            <a:r>
              <a:t/>
            </a:r>
          </a:p>
          <a:p>
            <a:r>
              <a:t>Worked illustration / lecturer answer</a:t>
            </a:r>
          </a:p>
          <a:p>
            <a:r>
              <a:t>A filter retains matching rows. groupby gathers matching labels. For A:2, A:3, B:4, the totals are A:5 and B:4.</a:t>
            </a:r>
          </a:p>
          <a:p>
            <a:r>
              <a:t/>
            </a:r>
          </a:p>
          <a:p>
            <a:r>
              <a:t>Misconception to address</a:t>
            </a:r>
          </a:p>
          <a:p>
            <a:r>
              <a:t>Close by identifying the actual saved file and its correct submission route. Read the live deadline. For current weekly notebook tasks, students upload their own work, not the practice notebook, ZIP or grading files.</a:t>
            </a:r>
          </a:p>
          <a:p>
            <a:r>
              <a:t/>
            </a:r>
          </a:p>
          <a:p>
            <a:r>
              <a:t>On this slide</a:t>
            </a:r>
          </a:p>
          <a:p>
            <a:r>
              <a:t>You can explain which observations a filter keeps and what a grouped total means.</a:t>
            </a:r>
          </a:p>
          <a:p>
            <a:r>
              <a:t/>
            </a:r>
          </a:p>
          <a:p>
            <a:r>
              <a:t>Save your work and check the required submission files.</a:t>
            </a:r>
          </a:p>
        </p:txBody>
      </p:sp>
      <p:sp>
        <p:nvSpPr>
          <p:cNvPr id="4" name="Slide Number Placeholder 3"/>
          <p:cNvSpPr>
            <a:spLocks noGrp="1"/>
          </p:cNvSpPr>
          <p:nvPr>
            <p:ph type="sldNum" idx="5"/>
          </p:nvPr>
        </p:nvSpPr>
        <p:spPr/>
        <p:txBody>
          <a:bodyPr/>
          <a:lstStyle/>
          <a:p/>
        </p:txBody>
      </p:sp>
    </p:spTree>
  </p:cSld>
  <p:clrMapOvr>
    <a:masterClrMapping/>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032a858d7a334f95"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421c11e21a2641fd"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864a059c72ba42ad"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2a654ec21e5643c4"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8f66a230d3294579"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5972ade4fcd1434e"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4" name="Accent rule">
            <a:extLst xmlns:a="http://schemas.openxmlformats.org/drawingml/2006/main">
              <a:ext uri="{FF2B5EF4-FFF2-40B4-BE49-F238E27FC236}">
                <a16:creationId xmlns:a16="http://schemas.microsoft.com/office/drawing/2014/main" id="{1E897F97-DB9A-4FB0-8C76-0F44CC705E87}"/>
              </a:ext>
            </a:extLst>
          </p:cNvPr>
          <p:cNvSpPr>
            <a:spLocks xmlns:a="http://schemas.openxmlformats.org/drawingml/2006/main" noGrp="1"/>
          </p:cNvSpPr>
          <p:nvPr/>
        </p:nvSpPr>
        <p:spPr>
          <a:xfrm xmlns:a="http://schemas.openxmlformats.org/drawingml/2006/main">
            <a:off x="5791055" y="22098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56823F81-A89A-44D7-B8D2-B9A5B0D76D30}"/>
              </a:ext>
            </a:extLst>
          </p:cNvPr>
          <p:cNvSpPr>
            <a:spLocks xmlns:a="http://schemas.openxmlformats.org/drawingml/2006/main" noGrp="1"/>
          </p:cNvSpPr>
          <p:nvPr>
            <p:ph type="title" idx="0"/>
          </p:nvPr>
        </p:nvSpPr>
        <p:spPr>
          <a:xfrm xmlns:a="http://schemas.openxmlformats.org/drawingml/2006/main">
            <a:off x="1219170" y="2590800"/>
            <a:ext cx="9753356"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Subtitle">
            <a:extLst xmlns:a="http://schemas.openxmlformats.org/drawingml/2006/main">
              <a:ext uri="{FF2B5EF4-FFF2-40B4-BE49-F238E27FC236}">
                <a16:creationId xmlns:a16="http://schemas.microsoft.com/office/drawing/2014/main" id="{BEADD6A2-E560-48AD-BC30-DF7837960875}"/>
              </a:ext>
            </a:extLst>
          </p:cNvPr>
          <p:cNvSpPr>
            <a:spLocks xmlns:a="http://schemas.openxmlformats.org/drawingml/2006/main" noGrp="1"/>
          </p:cNvSpPr>
          <p:nvPr>
            <p:ph type="subTitle" idx="1"/>
          </p:nvPr>
        </p:nvSpPr>
        <p:spPr>
          <a:xfrm xmlns:a="http://schemas.openxmlformats.org/drawingml/2006/main">
            <a:off x="1828754" y="3771900"/>
            <a:ext cx="8534187"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3" name="Accent rule">
            <a:extLst xmlns:a="http://schemas.openxmlformats.org/drawingml/2006/main">
              <a:ext uri="{FF2B5EF4-FFF2-40B4-BE49-F238E27FC236}">
                <a16:creationId xmlns:a16="http://schemas.microsoft.com/office/drawing/2014/main" id="{C2C4816B-90D1-4ED9-A8FC-AA14B83895A0}"/>
              </a:ext>
            </a:extLst>
          </p:cNvPr>
          <p:cNvSpPr>
            <a:spLocks xmlns:a="http://schemas.openxmlformats.org/drawingml/2006/main" noGrp="1"/>
          </p:cNvSpPr>
          <p:nvPr/>
        </p:nvSpPr>
        <p:spPr>
          <a:xfrm xmlns:a="http://schemas.openxmlformats.org/drawingml/2006/main">
            <a:off x="5791055" y="24765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Section title">
            <a:extLst xmlns:a="http://schemas.openxmlformats.org/drawingml/2006/main">
              <a:ext uri="{FF2B5EF4-FFF2-40B4-BE49-F238E27FC236}">
                <a16:creationId xmlns:a16="http://schemas.microsoft.com/office/drawing/2014/main" id="{E0BD61B5-7AC1-4B38-892F-36F8D6E7CC77}"/>
              </a:ext>
            </a:extLst>
          </p:cNvPr>
          <p:cNvSpPr>
            <a:spLocks xmlns:a="http://schemas.openxmlformats.org/drawingml/2006/main" noGrp="1"/>
          </p:cNvSpPr>
          <p:nvPr>
            <p:ph type="title" idx="0"/>
          </p:nvPr>
        </p:nvSpPr>
        <p:spPr>
          <a:xfrm xmlns:a="http://schemas.openxmlformats.org/drawingml/2006/main">
            <a:off x="1219170" y="2857500"/>
            <a:ext cx="9753356"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4" name="Accent rule">
            <a:extLst xmlns:a="http://schemas.openxmlformats.org/drawingml/2006/main">
              <a:ext uri="{FF2B5EF4-FFF2-40B4-BE49-F238E27FC236}">
                <a16:creationId xmlns:a16="http://schemas.microsoft.com/office/drawing/2014/main" id="{900E898A-1A4F-4616-BF9D-C65BB58B6161}"/>
              </a:ext>
            </a:extLst>
          </p:cNvPr>
          <p:cNvSpPr>
            <a:spLocks xmlns:a="http://schemas.openxmlformats.org/drawingml/2006/main" noGrp="1"/>
          </p:cNvSpPr>
          <p:nvPr/>
        </p:nvSpPr>
        <p:spPr>
          <a:xfrm xmlns:a="http://schemas.openxmlformats.org/drawingml/2006/main">
            <a:off x="685783" y="15240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198CCCD5-5C43-4022-B6EC-7B870761F6BF}"/>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Body">
            <a:extLst xmlns:a="http://schemas.openxmlformats.org/drawingml/2006/main">
              <a:ext uri="{FF2B5EF4-FFF2-40B4-BE49-F238E27FC236}">
                <a16:creationId xmlns:a16="http://schemas.microsoft.com/office/drawing/2014/main" id="{55CCF524-C555-4EEA-9090-D148B09EDA46}"/>
              </a:ext>
            </a:extLst>
          </p:cNvPr>
          <p:cNvSpPr>
            <a:spLocks xmlns:a="http://schemas.openxmlformats.org/drawingml/2006/main" noGrp="1"/>
          </p:cNvSpPr>
          <p:nvPr>
            <p:ph type="body" idx="1"/>
          </p:nvPr>
        </p:nvSpPr>
        <p:spPr>
          <a:xfrm xmlns:a="http://schemas.openxmlformats.org/drawingml/2006/main">
            <a:off x="685783" y="1905000"/>
            <a:ext cx="10820129"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594" indent="-228594">
              <a:lnSpc>
                <a:spcPct val="110000"/>
              </a:lnSpc>
              <a:spcBef>
                <a:spcPts val="0"/>
              </a:spcBef>
              <a:spcAft>
                <a:spcPts val="1200"/>
              </a:spcAft>
              <a:buChar char="•"/>
            </a:lvl1pPr>
            <a:lvl2pPr marL="533387" indent="-228594">
              <a:lnSpc>
                <a:spcPct val="110000"/>
              </a:lnSpc>
              <a:spcBef>
                <a:spcPts val="0"/>
              </a:spcBef>
              <a:spcAft>
                <a:spcPts val="1200"/>
              </a:spcAft>
              <a:buChar char="•"/>
            </a:lvl2pPr>
            <a:lvl3pPr marL="838179" indent="-228594">
              <a:lnSpc>
                <a:spcPct val="110000"/>
              </a:lnSpc>
              <a:spcBef>
                <a:spcPts val="0"/>
              </a:spcBef>
              <a:spcAft>
                <a:spcPts val="1200"/>
              </a:spcAft>
              <a:buChar char="•"/>
            </a:lvl3pPr>
            <a:lvl4pPr marL="1142971" indent="-228594">
              <a:lnSpc>
                <a:spcPct val="110000"/>
              </a:lnSpc>
              <a:spcBef>
                <a:spcPts val="0"/>
              </a:spcBef>
              <a:spcAft>
                <a:spcPts val="1200"/>
              </a:spcAft>
              <a:buChar char="•"/>
            </a:lvl4pPr>
            <a:lvl5pPr marL="1447764" indent="-228594">
              <a:lnSpc>
                <a:spcPct val="110000"/>
              </a:lnSpc>
              <a:spcBef>
                <a:spcPts val="0"/>
              </a:spcBef>
              <a:spcAft>
                <a:spcPts val="1200"/>
              </a:spcAft>
              <a:buChar char="•"/>
            </a:lvl5pPr>
            <a:lvl6pPr marL="1752556" indent="-228594">
              <a:lnSpc>
                <a:spcPct val="110000"/>
              </a:lnSpc>
              <a:spcBef>
                <a:spcPts val="0"/>
              </a:spcBef>
              <a:spcAft>
                <a:spcPts val="1200"/>
              </a:spcAft>
              <a:buChar char="•"/>
            </a:lvl6pPr>
            <a:lvl7pPr marL="2057349" indent="-228594">
              <a:lnSpc>
                <a:spcPct val="110000"/>
              </a:lnSpc>
              <a:spcBef>
                <a:spcPts val="0"/>
              </a:spcBef>
              <a:spcAft>
                <a:spcPts val="1200"/>
              </a:spcAft>
              <a:buChar char="•"/>
            </a:lvl7pPr>
            <a:lvl8pPr marL="2362141" indent="-228594">
              <a:lnSpc>
                <a:spcPct val="110000"/>
              </a:lnSpc>
              <a:spcBef>
                <a:spcPts val="0"/>
              </a:spcBef>
              <a:spcAft>
                <a:spcPts val="1200"/>
              </a:spcAft>
              <a:buChar char="•"/>
            </a:lvl8pPr>
            <a:lvl9pPr marL="2666933" indent="-228594">
              <a:lnSpc>
                <a:spcPct val="110000"/>
              </a:lnSpc>
              <a:spcBef>
                <a:spcPts val="0"/>
              </a:spcBef>
              <a:spcAft>
                <a:spcPts val="1200"/>
              </a:spcAft>
              <a:buChar cha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5" name="Accent rule">
            <a:extLst xmlns:a="http://schemas.openxmlformats.org/drawingml/2006/main">
              <a:ext uri="{FF2B5EF4-FFF2-40B4-BE49-F238E27FC236}">
                <a16:creationId xmlns:a16="http://schemas.microsoft.com/office/drawing/2014/main" id="{64363342-F0F7-4169-81CC-36C2449BFCC0}"/>
              </a:ext>
            </a:extLst>
          </p:cNvPr>
          <p:cNvSpPr>
            <a:spLocks xmlns:a="http://schemas.openxmlformats.org/drawingml/2006/main" noGrp="1"/>
          </p:cNvSpPr>
          <p:nvPr/>
        </p:nvSpPr>
        <p:spPr>
          <a:xfrm xmlns:a="http://schemas.openxmlformats.org/drawingml/2006/main">
            <a:off x="685783" y="15240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51BD0B37-54B3-4C49-975F-E05F75E77C58}"/>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Left column">
            <a:extLst xmlns:a="http://schemas.openxmlformats.org/drawingml/2006/main">
              <a:ext uri="{FF2B5EF4-FFF2-40B4-BE49-F238E27FC236}">
                <a16:creationId xmlns:a16="http://schemas.microsoft.com/office/drawing/2014/main" id="{693A7EFE-77FF-4D6E-BB6E-E19C5CECB7DD}"/>
              </a:ext>
            </a:extLst>
          </p:cNvPr>
          <p:cNvSpPr>
            <a:spLocks xmlns:a="http://schemas.openxmlformats.org/drawingml/2006/main" noGrp="1"/>
          </p:cNvSpPr>
          <p:nvPr>
            <p:ph type="body" idx="1"/>
          </p:nvPr>
        </p:nvSpPr>
        <p:spPr>
          <a:xfrm xmlns:a="http://schemas.openxmlformats.org/drawingml/2006/main">
            <a:off x="685783"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594" indent="-228594">
              <a:lnSpc>
                <a:spcPct val="110000"/>
              </a:lnSpc>
              <a:spcBef>
                <a:spcPts val="0"/>
              </a:spcBef>
              <a:spcAft>
                <a:spcPts val="1200"/>
              </a:spcAft>
              <a:buChar char="•"/>
            </a:lvl1pPr>
            <a:lvl2pPr marL="533387" indent="-228594">
              <a:lnSpc>
                <a:spcPct val="110000"/>
              </a:lnSpc>
              <a:spcBef>
                <a:spcPts val="0"/>
              </a:spcBef>
              <a:spcAft>
                <a:spcPts val="1200"/>
              </a:spcAft>
              <a:buChar char="•"/>
            </a:lvl2pPr>
            <a:lvl3pPr marL="838179" indent="-228594">
              <a:lnSpc>
                <a:spcPct val="110000"/>
              </a:lnSpc>
              <a:spcBef>
                <a:spcPts val="0"/>
              </a:spcBef>
              <a:spcAft>
                <a:spcPts val="1200"/>
              </a:spcAft>
              <a:buChar char="•"/>
            </a:lvl3pPr>
            <a:lvl4pPr marL="1142971" indent="-228594">
              <a:lnSpc>
                <a:spcPct val="110000"/>
              </a:lnSpc>
              <a:spcBef>
                <a:spcPts val="0"/>
              </a:spcBef>
              <a:spcAft>
                <a:spcPts val="1200"/>
              </a:spcAft>
              <a:buChar char="•"/>
            </a:lvl4pPr>
            <a:lvl5pPr marL="1447764" indent="-228594">
              <a:lnSpc>
                <a:spcPct val="110000"/>
              </a:lnSpc>
              <a:spcBef>
                <a:spcPts val="0"/>
              </a:spcBef>
              <a:spcAft>
                <a:spcPts val="1200"/>
              </a:spcAft>
              <a:buChar char="•"/>
            </a:lvl5pPr>
            <a:lvl6pPr marL="1752556" indent="-228594">
              <a:lnSpc>
                <a:spcPct val="110000"/>
              </a:lnSpc>
              <a:spcBef>
                <a:spcPts val="0"/>
              </a:spcBef>
              <a:spcAft>
                <a:spcPts val="1200"/>
              </a:spcAft>
              <a:buChar char="•"/>
            </a:lvl6pPr>
            <a:lvl7pPr marL="2057349" indent="-228594">
              <a:lnSpc>
                <a:spcPct val="110000"/>
              </a:lnSpc>
              <a:spcBef>
                <a:spcPts val="0"/>
              </a:spcBef>
              <a:spcAft>
                <a:spcPts val="1200"/>
              </a:spcAft>
              <a:buChar char="•"/>
            </a:lvl7pPr>
            <a:lvl8pPr marL="2362141" indent="-228594">
              <a:lnSpc>
                <a:spcPct val="110000"/>
              </a:lnSpc>
              <a:spcBef>
                <a:spcPts val="0"/>
              </a:spcBef>
              <a:spcAft>
                <a:spcPts val="1200"/>
              </a:spcAft>
              <a:buChar char="•"/>
            </a:lvl8pPr>
            <a:lvl9pPr marL="2666933" indent="-228594">
              <a:lnSpc>
                <a:spcPct val="110000"/>
              </a:lnSpc>
              <a:spcBef>
                <a:spcPts val="0"/>
              </a:spcBef>
              <a:spcAft>
                <a:spcPts val="1200"/>
              </a:spcAft>
              <a:buChar char="•"/>
            </a:lvl9pPr>
          </a:lstStyle>
          <a:p xmlns:a="http://schemas.openxmlformats.org/drawingml/2006/main"/>
        </p:txBody>
      </p:sp>
      <p:sp>
        <p:nvSpPr>
          <p:cNvPr id="4" name="Right column">
            <a:extLst xmlns:a="http://schemas.openxmlformats.org/drawingml/2006/main">
              <a:ext uri="{FF2B5EF4-FFF2-40B4-BE49-F238E27FC236}">
                <a16:creationId xmlns:a16="http://schemas.microsoft.com/office/drawing/2014/main" id="{BE7E039A-12D8-44D4-BC1C-9787C4B09D43}"/>
              </a:ext>
            </a:extLst>
          </p:cNvPr>
          <p:cNvSpPr>
            <a:spLocks xmlns:a="http://schemas.openxmlformats.org/drawingml/2006/main" noGrp="1"/>
          </p:cNvSpPr>
          <p:nvPr>
            <p:ph type="body" idx="2"/>
          </p:nvPr>
        </p:nvSpPr>
        <p:spPr>
          <a:xfrm xmlns:a="http://schemas.openxmlformats.org/drawingml/2006/main">
            <a:off x="6476838"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594" indent="-228594">
              <a:lnSpc>
                <a:spcPct val="110000"/>
              </a:lnSpc>
              <a:spcBef>
                <a:spcPts val="0"/>
              </a:spcBef>
              <a:spcAft>
                <a:spcPts val="1200"/>
              </a:spcAft>
              <a:buChar char="•"/>
            </a:lvl1pPr>
            <a:lvl2pPr marL="533387" indent="-228594">
              <a:lnSpc>
                <a:spcPct val="110000"/>
              </a:lnSpc>
              <a:spcBef>
                <a:spcPts val="0"/>
              </a:spcBef>
              <a:spcAft>
                <a:spcPts val="1200"/>
              </a:spcAft>
              <a:buChar char="•"/>
            </a:lvl2pPr>
            <a:lvl3pPr marL="838179" indent="-228594">
              <a:lnSpc>
                <a:spcPct val="110000"/>
              </a:lnSpc>
              <a:spcBef>
                <a:spcPts val="0"/>
              </a:spcBef>
              <a:spcAft>
                <a:spcPts val="1200"/>
              </a:spcAft>
              <a:buChar char="•"/>
            </a:lvl3pPr>
            <a:lvl4pPr marL="1142971" indent="-228594">
              <a:lnSpc>
                <a:spcPct val="110000"/>
              </a:lnSpc>
              <a:spcBef>
                <a:spcPts val="0"/>
              </a:spcBef>
              <a:spcAft>
                <a:spcPts val="1200"/>
              </a:spcAft>
              <a:buChar char="•"/>
            </a:lvl4pPr>
            <a:lvl5pPr marL="1447764" indent="-228594">
              <a:lnSpc>
                <a:spcPct val="110000"/>
              </a:lnSpc>
              <a:spcBef>
                <a:spcPts val="0"/>
              </a:spcBef>
              <a:spcAft>
                <a:spcPts val="1200"/>
              </a:spcAft>
              <a:buChar char="•"/>
            </a:lvl5pPr>
            <a:lvl6pPr marL="1752556" indent="-228594">
              <a:lnSpc>
                <a:spcPct val="110000"/>
              </a:lnSpc>
              <a:spcBef>
                <a:spcPts val="0"/>
              </a:spcBef>
              <a:spcAft>
                <a:spcPts val="1200"/>
              </a:spcAft>
              <a:buChar char="•"/>
            </a:lvl6pPr>
            <a:lvl7pPr marL="2057349" indent="-228594">
              <a:lnSpc>
                <a:spcPct val="110000"/>
              </a:lnSpc>
              <a:spcBef>
                <a:spcPts val="0"/>
              </a:spcBef>
              <a:spcAft>
                <a:spcPts val="1200"/>
              </a:spcAft>
              <a:buChar char="•"/>
            </a:lvl7pPr>
            <a:lvl8pPr marL="2362141" indent="-228594">
              <a:lnSpc>
                <a:spcPct val="110000"/>
              </a:lnSpc>
              <a:spcBef>
                <a:spcPts val="0"/>
              </a:spcBef>
              <a:spcAft>
                <a:spcPts val="1200"/>
              </a:spcAft>
              <a:buChar char="•"/>
            </a:lvl8pPr>
            <a:lvl9pPr marL="2666933" indent="-228594">
              <a:lnSpc>
                <a:spcPct val="110000"/>
              </a:lnSpc>
              <a:spcBef>
                <a:spcPts val="0"/>
              </a:spcBef>
              <a:spcAft>
                <a:spcPts val="1200"/>
              </a:spcAft>
              <a:buChar cha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4" name="Accent rule">
            <a:extLst xmlns:a="http://schemas.openxmlformats.org/drawingml/2006/main">
              <a:ext uri="{FF2B5EF4-FFF2-40B4-BE49-F238E27FC236}">
                <a16:creationId xmlns:a16="http://schemas.microsoft.com/office/drawing/2014/main" id="{645512D2-481B-4698-A1E5-EFA021D8D0FB}"/>
              </a:ext>
            </a:extLst>
          </p:cNvPr>
          <p:cNvSpPr>
            <a:spLocks xmlns:a="http://schemas.openxmlformats.org/drawingml/2006/main" noGrp="1"/>
          </p:cNvSpPr>
          <p:nvPr/>
        </p:nvSpPr>
        <p:spPr>
          <a:xfrm xmlns:a="http://schemas.openxmlformats.org/drawingml/2006/main">
            <a:off x="685783" y="15240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E40D3EB0-77FA-450B-A6C0-D314AD594CA5}"/>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Left column">
            <a:extLst xmlns:a="http://schemas.openxmlformats.org/drawingml/2006/main">
              <a:ext uri="{FF2B5EF4-FFF2-40B4-BE49-F238E27FC236}">
                <a16:creationId xmlns:a16="http://schemas.microsoft.com/office/drawing/2014/main" id="{F9FCD61D-9980-40CB-BF0B-D5B15D72E238}"/>
              </a:ext>
            </a:extLst>
          </p:cNvPr>
          <p:cNvSpPr>
            <a:spLocks xmlns:a="http://schemas.openxmlformats.org/drawingml/2006/main" noGrp="1"/>
          </p:cNvSpPr>
          <p:nvPr>
            <p:ph type="body" idx="1"/>
          </p:nvPr>
        </p:nvSpPr>
        <p:spPr>
          <a:xfrm xmlns:a="http://schemas.openxmlformats.org/drawingml/2006/main">
            <a:off x="685783"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594" indent="-228594">
              <a:lnSpc>
                <a:spcPct val="110000"/>
              </a:lnSpc>
              <a:spcBef>
                <a:spcPts val="0"/>
              </a:spcBef>
              <a:spcAft>
                <a:spcPts val="1200"/>
              </a:spcAft>
              <a:buChar char="•"/>
            </a:lvl1pPr>
            <a:lvl2pPr marL="533387" indent="-228594">
              <a:lnSpc>
                <a:spcPct val="110000"/>
              </a:lnSpc>
              <a:spcBef>
                <a:spcPts val="0"/>
              </a:spcBef>
              <a:spcAft>
                <a:spcPts val="1200"/>
              </a:spcAft>
              <a:buChar char="•"/>
            </a:lvl2pPr>
            <a:lvl3pPr marL="838179" indent="-228594">
              <a:lnSpc>
                <a:spcPct val="110000"/>
              </a:lnSpc>
              <a:spcBef>
                <a:spcPts val="0"/>
              </a:spcBef>
              <a:spcAft>
                <a:spcPts val="1200"/>
              </a:spcAft>
              <a:buChar char="•"/>
            </a:lvl3pPr>
            <a:lvl4pPr marL="1142971" indent="-228594">
              <a:lnSpc>
                <a:spcPct val="110000"/>
              </a:lnSpc>
              <a:spcBef>
                <a:spcPts val="0"/>
              </a:spcBef>
              <a:spcAft>
                <a:spcPts val="1200"/>
              </a:spcAft>
              <a:buChar char="•"/>
            </a:lvl4pPr>
            <a:lvl5pPr marL="1447764" indent="-228594">
              <a:lnSpc>
                <a:spcPct val="110000"/>
              </a:lnSpc>
              <a:spcBef>
                <a:spcPts val="0"/>
              </a:spcBef>
              <a:spcAft>
                <a:spcPts val="1200"/>
              </a:spcAft>
              <a:buChar char="•"/>
            </a:lvl5pPr>
            <a:lvl6pPr marL="1752556" indent="-228594">
              <a:lnSpc>
                <a:spcPct val="110000"/>
              </a:lnSpc>
              <a:spcBef>
                <a:spcPts val="0"/>
              </a:spcBef>
              <a:spcAft>
                <a:spcPts val="1200"/>
              </a:spcAft>
              <a:buChar char="•"/>
            </a:lvl6pPr>
            <a:lvl7pPr marL="2057349" indent="-228594">
              <a:lnSpc>
                <a:spcPct val="110000"/>
              </a:lnSpc>
              <a:spcBef>
                <a:spcPts val="0"/>
              </a:spcBef>
              <a:spcAft>
                <a:spcPts val="1200"/>
              </a:spcAft>
              <a:buChar char="•"/>
            </a:lvl7pPr>
            <a:lvl8pPr marL="2362141" indent="-228594">
              <a:lnSpc>
                <a:spcPct val="110000"/>
              </a:lnSpc>
              <a:spcBef>
                <a:spcPts val="0"/>
              </a:spcBef>
              <a:spcAft>
                <a:spcPts val="1200"/>
              </a:spcAft>
              <a:buChar char="•"/>
            </a:lvl8pPr>
            <a:lvl9pPr marL="2666933" indent="-228594">
              <a:lnSpc>
                <a:spcPct val="110000"/>
              </a:lnSpc>
              <a:spcBef>
                <a:spcPts val="0"/>
              </a:spcBef>
              <a:spcAft>
                <a:spcPts val="1200"/>
              </a:spcAft>
              <a:buChar cha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a243be821b6e474a" /><Relationship Type="http://schemas.openxmlformats.org/officeDocument/2006/relationships/slideLayout" Target="/ppt/slideLayouts/slideLayout1.xml" Id="Raf3e5686af584fe7" /><Relationship Type="http://schemas.openxmlformats.org/officeDocument/2006/relationships/slideLayout" Target="/ppt/slideLayouts/slideLayout2.xml" Id="Rd1cd2d346c3a4e33" /><Relationship Type="http://schemas.openxmlformats.org/officeDocument/2006/relationships/slideLayout" Target="/ppt/slideLayouts/slideLayout3.xml" Id="R4bee6adc9deb469d" /><Relationship Type="http://schemas.openxmlformats.org/officeDocument/2006/relationships/slideLayout" Target="/ppt/slideLayouts/slideLayout4.xml" Id="Rd2407881de684880" /><Relationship Type="http://schemas.openxmlformats.org/officeDocument/2006/relationships/slideLayout" Target="/ppt/slideLayouts/slideLayout5.xml" Id="Rf94ee863f2494e20" /><Relationship Type="http://schemas.openxmlformats.org/officeDocument/2006/relationships/slideLayout" Target="/ppt/slideLayouts/slideLayout6.xml" Id="Rd04a4860ae10463d"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af3e5686af584fe7"/>
    <p:sldLayoutId xmlns:r="http://schemas.openxmlformats.org/officeDocument/2006/relationships" id="2147483650" r:id="Rd1cd2d346c3a4e33"/>
    <p:sldLayoutId xmlns:r="http://schemas.openxmlformats.org/officeDocument/2006/relationships" id="2147483651" r:id="R4bee6adc9deb469d"/>
    <p:sldLayoutId xmlns:r="http://schemas.openxmlformats.org/officeDocument/2006/relationships" id="2147483652" r:id="Rd2407881de684880"/>
    <p:sldLayoutId xmlns:r="http://schemas.openxmlformats.org/officeDocument/2006/relationships" id="2147483653" r:id="Rf94ee863f2494e20"/>
    <p:sldLayoutId xmlns:r="http://schemas.openxmlformats.org/officeDocument/2006/relationships" id="2147483654" r:id="Rd04a4860ae10463d"/>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7763773f66b64233" /><Relationship Type="http://schemas.openxmlformats.org/officeDocument/2006/relationships/image" Target="/ppt/media/image.png" Id="Rd27c1f68db9c459d" /><Relationship Type="http://schemas.openxmlformats.org/officeDocument/2006/relationships/notesSlide" Target="/ppt/notesSlides/notesSlide1.xml" Id="R6b589876be3a4690"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05398d5083da438b" /><Relationship Type="http://schemas.openxmlformats.org/officeDocument/2006/relationships/notesSlide" Target="/ppt/notesSlides/notesSlide2.xml" Id="Rfd092790e2dd47c1"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b6b0908ed31946ad" /><Relationship Type="http://schemas.openxmlformats.org/officeDocument/2006/relationships/notesSlide" Target="/ppt/notesSlides/notesSlide3.xml" Id="R0cc6372bad7d446c"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bb53d9489bbe4d56" /><Relationship Type="http://schemas.openxmlformats.org/officeDocument/2006/relationships/notesSlide" Target="/ppt/notesSlides/notesSlide4.xml" Id="Rd941e800c2014263"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bee033324cb740a2" /><Relationship Type="http://schemas.openxmlformats.org/officeDocument/2006/relationships/notesSlide" Target="/ppt/notesSlides/notesSlide5.xml" Id="R2de336dd2efc48ca"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3e67031385574db0" /><Relationship Type="http://schemas.openxmlformats.org/officeDocument/2006/relationships/notesSlide" Target="/ppt/notesSlides/notesSlide6.xml" Id="R67c91b05f4dc45a7"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3a64004cfbbc4c82" /><Relationship Type="http://schemas.openxmlformats.org/officeDocument/2006/relationships/notesSlide" Target="/ppt/notesSlides/notesSlide7.xml" Id="R686f2fc6a45d45f7"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7f55b34a3be546d5" /><Relationship Type="http://schemas.openxmlformats.org/officeDocument/2006/relationships/notesSlide" Target="/ppt/notesSlides/notesSlide8.xml" Id="R6fed6f2ec0fa41f4"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ac65edaff1424ae7" /><Relationship Type="http://schemas.openxmlformats.org/officeDocument/2006/relationships/image" Target="/ppt/media/image2.png" Id="Ra8217965afba439f" /><Relationship Type="http://schemas.openxmlformats.org/officeDocument/2006/relationships/notesSlide" Target="/ppt/notesSlides/notesSlide9.xml" Id="R5721e2c2604e4714"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f01611127fcc4462" /><Relationship Type="http://schemas.openxmlformats.org/officeDocument/2006/relationships/notesSlide" Target="/ppt/notesSlides/notesSlide10.xml" Id="R21f574fe0fe742c5"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345b596cc8444931" /><Relationship Type="http://schemas.openxmlformats.org/officeDocument/2006/relationships/notesSlide" Target="/ppt/notesSlides/notesSlide11.xml" Id="R0155d66ce3724a72"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bdabcf0d49ea485a" /><Relationship Type="http://schemas.openxmlformats.org/officeDocument/2006/relationships/notesSlide" Target="/ppt/notesSlides/notesSlide12.xml" Id="R8d77b12513814501"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3f1ffb02713040d0" /><Relationship Type="http://schemas.openxmlformats.org/officeDocument/2006/relationships/notesSlide" Target="/ppt/notesSlides/notesSlide13.xml" Id="R205a2691f86d42e0"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9253c848a7134a9c" /><Relationship Type="http://schemas.openxmlformats.org/officeDocument/2006/relationships/notesSlide" Target="/ppt/notesSlides/notesSlide14.xml" Id="R41fed16006e94225"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5811fe2c7a294639" /><Relationship Type="http://schemas.openxmlformats.org/officeDocument/2006/relationships/notesSlide" Target="/ppt/notesSlides/notesSlide15.xml" Id="Rad5e808ab1764769"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7953d6d853614448" /><Relationship Type="http://schemas.openxmlformats.org/officeDocument/2006/relationships/notesSlide" Target="/ppt/notesSlides/notesSlide16.xml" Id="Rc6253a0303fc4a83"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f396563527a9417d" /><Relationship Type="http://schemas.openxmlformats.org/officeDocument/2006/relationships/image" Target="/ppt/media/image3.png" Id="R8fb49a0f817c487d" /><Relationship Type="http://schemas.openxmlformats.org/officeDocument/2006/relationships/notesSlide" Target="/ppt/notesSlides/notesSlide17.xml" Id="R6e8b7cc983994e8c"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bcefd538cc394bba" /><Relationship Type="http://schemas.openxmlformats.org/officeDocument/2006/relationships/notesSlide" Target="/ppt/notesSlides/notesSlide18.xml" Id="R4648d30cc9ae470c" /></Relationships>
</file>

<file path=ppt/slides/_rels/slide19.xml.rels>&#65279;<?xml version="1.0" encoding="utf-8"?><Relationships xmlns="http://schemas.openxmlformats.org/package/2006/relationships"><Relationship Type="http://schemas.openxmlformats.org/officeDocument/2006/relationships/slideLayout" Target="/ppt/slideLayouts/slideLayout6.xml" Id="R6d139f41816945c0" /><Relationship Type="http://schemas.openxmlformats.org/officeDocument/2006/relationships/notesSlide" Target="/ppt/notesSlides/notesSlide19.xml" Id="Rca29c55ce1a241cb" /></Relationships>
</file>

<file path=ppt/slides/_rels/slide20.xml.rels>&#65279;<?xml version="1.0" encoding="utf-8"?><Relationships xmlns="http://schemas.openxmlformats.org/package/2006/relationships"><Relationship Type="http://schemas.openxmlformats.org/officeDocument/2006/relationships/slideLayout" Target="/ppt/slideLayouts/slideLayout6.xml" Id="R81bd0249454f40a4" /><Relationship Type="http://schemas.openxmlformats.org/officeDocument/2006/relationships/notesSlide" Target="/ppt/notesSlides/notesSlide20.xml" Id="Re9e295185e794669" /></Relationships>
</file>

<file path=ppt/slides/_rels/slide21.xml.rels>&#65279;<?xml version="1.0" encoding="utf-8"?><Relationships xmlns="http://schemas.openxmlformats.org/package/2006/relationships"><Relationship Type="http://schemas.openxmlformats.org/officeDocument/2006/relationships/slideLayout" Target="/ppt/slideLayouts/slideLayout6.xml" Id="R441ec47de79f4857" /><Relationship Type="http://schemas.openxmlformats.org/officeDocument/2006/relationships/notesSlide" Target="/ppt/notesSlides/notesSlide21.xml" Id="Rd40acdecdc9242af" /></Relationships>
</file>

<file path=ppt/slides/_rels/slide22.xml.rels>&#65279;<?xml version="1.0" encoding="utf-8"?><Relationships xmlns="http://schemas.openxmlformats.org/package/2006/relationships"><Relationship Type="http://schemas.openxmlformats.org/officeDocument/2006/relationships/slideLayout" Target="/ppt/slideLayouts/slideLayout6.xml" Id="R1ec66a1a933a4c80" /><Relationship Type="http://schemas.openxmlformats.org/officeDocument/2006/relationships/notesSlide" Target="/ppt/notesSlides/notesSlide22.xml" Id="R99117bcb76704b47" /></Relationships>
</file>

<file path=ppt/slides/_rels/slide23.xml.rels>&#65279;<?xml version="1.0" encoding="utf-8"?><Relationships xmlns="http://schemas.openxmlformats.org/package/2006/relationships"><Relationship Type="http://schemas.openxmlformats.org/officeDocument/2006/relationships/slideLayout" Target="/ppt/slideLayouts/slideLayout6.xml" Id="R5c6d3f4fb08b4fb1" /><Relationship Type="http://schemas.openxmlformats.org/officeDocument/2006/relationships/notesSlide" Target="/ppt/notesSlides/notesSlide23.xml" Id="R42704032a1eb4e80" /></Relationships>
</file>

<file path=ppt/slides/_rels/slide24.xml.rels>&#65279;<?xml version="1.0" encoding="utf-8"?><Relationships xmlns="http://schemas.openxmlformats.org/package/2006/relationships"><Relationship Type="http://schemas.openxmlformats.org/officeDocument/2006/relationships/slideLayout" Target="/ppt/slideLayouts/slideLayout6.xml" Id="R07935b25d2444887" /><Relationship Type="http://schemas.openxmlformats.org/officeDocument/2006/relationships/notesSlide" Target="/ppt/notesSlides/notesSlide24.xml" Id="Rf370be9b2651457e" /></Relationships>
</file>

<file path=ppt/slides/_rels/slide25.xml.rels>&#65279;<?xml version="1.0" encoding="utf-8"?><Relationships xmlns="http://schemas.openxmlformats.org/package/2006/relationships"><Relationship Type="http://schemas.openxmlformats.org/officeDocument/2006/relationships/slideLayout" Target="/ppt/slideLayouts/slideLayout6.xml" Id="Rd0278dd9f03742d9" /><Relationship Type="http://schemas.openxmlformats.org/officeDocument/2006/relationships/notesSlide" Target="/ppt/notesSlides/notesSlide25.xml" Id="Rd87a6dada3514568" /></Relationships>
</file>

<file path=ppt/slides/_rels/slide26.xml.rels>&#65279;<?xml version="1.0" encoding="utf-8"?><Relationships xmlns="http://schemas.openxmlformats.org/package/2006/relationships"><Relationship Type="http://schemas.openxmlformats.org/officeDocument/2006/relationships/slideLayout" Target="/ppt/slideLayouts/slideLayout6.xml" Id="R7b83223aabcb4b41" /><Relationship Type="http://schemas.openxmlformats.org/officeDocument/2006/relationships/notesSlide" Target="/ppt/notesSlides/notesSlide26.xml" Id="Rdcaecee6eb554fd4" /></Relationships>
</file>

<file path=ppt/slides/_rels/slide27.xml.rels>&#65279;<?xml version="1.0" encoding="utf-8"?><Relationships xmlns="http://schemas.openxmlformats.org/package/2006/relationships"><Relationship Type="http://schemas.openxmlformats.org/officeDocument/2006/relationships/slideLayout" Target="/ppt/slideLayouts/slideLayout6.xml" Id="Re436378613544b9c" /><Relationship Type="http://schemas.openxmlformats.org/officeDocument/2006/relationships/notesSlide" Target="/ppt/notesSlides/notesSlide27.xml" Id="R6324dc55385249ec" /></Relationships>
</file>

<file path=ppt/slides/_rels/slide28.xml.rels>&#65279;<?xml version="1.0" encoding="utf-8"?><Relationships xmlns="http://schemas.openxmlformats.org/package/2006/relationships"><Relationship Type="http://schemas.openxmlformats.org/officeDocument/2006/relationships/slideLayout" Target="/ppt/slideLayouts/slideLayout6.xml" Id="Rf3ac8e966352409a" /><Relationship Type="http://schemas.openxmlformats.org/officeDocument/2006/relationships/notesSlide" Target="/ppt/notesSlides/notesSlide28.xml" Id="R1a54bc92816b4dc2" /></Relationships>
</file>

<file path=ppt/slides/_rels/slide29.xml.rels>&#65279;<?xml version="1.0" encoding="utf-8"?><Relationships xmlns="http://schemas.openxmlformats.org/package/2006/relationships"><Relationship Type="http://schemas.openxmlformats.org/officeDocument/2006/relationships/slideLayout" Target="/ppt/slideLayouts/slideLayout6.xml" Id="R9ef9bdf56bf54145" /><Relationship Type="http://schemas.openxmlformats.org/officeDocument/2006/relationships/notesSlide" Target="/ppt/notesSlides/notesSlide29.xml" Id="Rbbcaf2057b7e4d29" /></Relationships>
</file>

<file path=ppt/slides/_rels/slide30.xml.rels>&#65279;<?xml version="1.0" encoding="utf-8"?><Relationships xmlns="http://schemas.openxmlformats.org/package/2006/relationships"><Relationship Type="http://schemas.openxmlformats.org/officeDocument/2006/relationships/slideLayout" Target="/ppt/slideLayouts/slideLayout6.xml" Id="R57a8795a9edb4ed7" /><Relationship Type="http://schemas.openxmlformats.org/officeDocument/2006/relationships/notesSlide" Target="/ppt/notesSlides/notesSlide30.xml" Id="R35f290725b344b9b" /></Relationships>
</file>

<file path=ppt/slides/_rels/slide31.xml.rels>&#65279;<?xml version="1.0" encoding="utf-8"?><Relationships xmlns="http://schemas.openxmlformats.org/package/2006/relationships"><Relationship Type="http://schemas.openxmlformats.org/officeDocument/2006/relationships/slideLayout" Target="/ppt/slideLayouts/slideLayout6.xml" Id="Ra44f9579d2764e60" /><Relationship Type="http://schemas.openxmlformats.org/officeDocument/2006/relationships/notesSlide" Target="/ppt/notesSlides/notesSlide31.xml" Id="R88fa77e815274ebb" /></Relationships>
</file>

<file path=ppt/slides/_rels/slide32.xml.rels>&#65279;<?xml version="1.0" encoding="utf-8"?><Relationships xmlns="http://schemas.openxmlformats.org/package/2006/relationships"><Relationship Type="http://schemas.openxmlformats.org/officeDocument/2006/relationships/slideLayout" Target="/ppt/slideLayouts/slideLayout6.xml" Id="R7c81d581f8d9474e" /><Relationship Type="http://schemas.openxmlformats.org/officeDocument/2006/relationships/notesSlide" Target="/ppt/notesSlides/notesSlide32.xml" Id="R652c54a2b0b34bd0" /></Relationships>
</file>

<file path=ppt/slides/_rels/slide33.xml.rels>&#65279;<?xml version="1.0" encoding="utf-8"?><Relationships xmlns="http://schemas.openxmlformats.org/package/2006/relationships"><Relationship Type="http://schemas.openxmlformats.org/officeDocument/2006/relationships/slideLayout" Target="/ppt/slideLayouts/slideLayout6.xml" Id="Rf0024d572aa04323" /><Relationship Type="http://schemas.openxmlformats.org/officeDocument/2006/relationships/notesSlide" Target="/ppt/notesSlides/notesSlide33.xml" Id="R6caba165a9d84ac0" /></Relationships>
</file>

<file path=ppt/slides/_rels/slide34.xml.rels>&#65279;<?xml version="1.0" encoding="utf-8"?><Relationships xmlns="http://schemas.openxmlformats.org/package/2006/relationships"><Relationship Type="http://schemas.openxmlformats.org/officeDocument/2006/relationships/slideLayout" Target="/ppt/slideLayouts/slideLayout6.xml" Id="R94bed4cd7b3f4d2b" /><Relationship Type="http://schemas.openxmlformats.org/officeDocument/2006/relationships/notesSlide" Target="/ppt/notesSlides/notesSlide34.xml" Id="R9d32b76cb78340e4" /></Relationships>
</file>

<file path=ppt/slides/_rels/slide35.xml.rels>&#65279;<?xml version="1.0" encoding="utf-8"?><Relationships xmlns="http://schemas.openxmlformats.org/package/2006/relationships"><Relationship Type="http://schemas.openxmlformats.org/officeDocument/2006/relationships/slideLayout" Target="/ppt/slideLayouts/slideLayout6.xml" Id="R21be9ea5adab458b" /><Relationship Type="http://schemas.openxmlformats.org/officeDocument/2006/relationships/notesSlide" Target="/ppt/notesSlides/notesSlide35.xml" Id="R409f989de0e74373" /></Relationships>
</file>

<file path=ppt/slides/_rels/slide36.xml.rels>&#65279;<?xml version="1.0" encoding="utf-8"?><Relationships xmlns="http://schemas.openxmlformats.org/package/2006/relationships"><Relationship Type="http://schemas.openxmlformats.org/officeDocument/2006/relationships/slideLayout" Target="/ppt/slideLayouts/slideLayout6.xml" Id="R5f2b23ebc6614a4d" /><Relationship Type="http://schemas.openxmlformats.org/officeDocument/2006/relationships/notesSlide" Target="/ppt/notesSlides/notesSlide36.xml" Id="R8377f5d6b2334ec8" /></Relationships>
</file>

<file path=ppt/slides/_rels/slide37.xml.rels>&#65279;<?xml version="1.0" encoding="utf-8"?><Relationships xmlns="http://schemas.openxmlformats.org/package/2006/relationships"><Relationship Type="http://schemas.openxmlformats.org/officeDocument/2006/relationships/slideLayout" Target="/ppt/slideLayouts/slideLayout6.xml" Id="R56f720209ce44eb8" /><Relationship Type="http://schemas.openxmlformats.org/officeDocument/2006/relationships/notesSlide" Target="/ppt/notesSlides/notesSlide37.xml" Id="Ra4ab6d5087af4eb3" /></Relationships>
</file>

<file path=ppt/slides/_rels/slide38.xml.rels>&#65279;<?xml version="1.0" encoding="utf-8"?><Relationships xmlns="http://schemas.openxmlformats.org/package/2006/relationships"><Relationship Type="http://schemas.openxmlformats.org/officeDocument/2006/relationships/slideLayout" Target="/ppt/slideLayouts/slideLayout6.xml" Id="R36316548858c4e58" /><Relationship Type="http://schemas.openxmlformats.org/officeDocument/2006/relationships/notesSlide" Target="/ppt/notesSlides/notesSlide38.xml" Id="Re4f90c07894e494d" /></Relationships>
</file>

<file path=ppt/slides/_rels/slide39.xml.rels>&#65279;<?xml version="1.0" encoding="utf-8"?><Relationships xmlns="http://schemas.openxmlformats.org/package/2006/relationships"><Relationship Type="http://schemas.openxmlformats.org/officeDocument/2006/relationships/slideLayout" Target="/ppt/slideLayouts/slideLayout6.xml" Id="R2e8688cc7f4d4372" /><Relationship Type="http://schemas.openxmlformats.org/officeDocument/2006/relationships/notesSlide" Target="/ppt/notesSlides/notesSlide39.xml" Id="R689550540a4a4bd0" /></Relationships>
</file>

<file path=ppt/slides/_rels/slide40.xml.rels>&#65279;<?xml version="1.0" encoding="utf-8"?><Relationships xmlns="http://schemas.openxmlformats.org/package/2006/relationships"><Relationship Type="http://schemas.openxmlformats.org/officeDocument/2006/relationships/slideLayout" Target="/ppt/slideLayouts/slideLayout6.xml" Id="Re1a73df19da84a4f" /><Relationship Type="http://schemas.openxmlformats.org/officeDocument/2006/relationships/notesSlide" Target="/ppt/notesSlides/notesSlide40.xml" Id="Ra9bf4b2f3dcf470b" /></Relationships>
</file>

<file path=ppt/slides/_rels/slide41.xml.rels>&#65279;<?xml version="1.0" encoding="utf-8"?><Relationships xmlns="http://schemas.openxmlformats.org/package/2006/relationships"><Relationship Type="http://schemas.openxmlformats.org/officeDocument/2006/relationships/slideLayout" Target="/ppt/slideLayouts/slideLayout6.xml" Id="R780bae7d9bc14560" /><Relationship Type="http://schemas.openxmlformats.org/officeDocument/2006/relationships/hyperlink" Target="https://docs.google.com/forms/d/e/1FAIpQLSeP_Eykf3YDYN_6sbB5to0B3LX14fsujEVPhsp8UezRZXTNGw/viewform" TargetMode="External" Id="R079c9fe10a474562" /><Relationship Type="http://schemas.openxmlformats.org/officeDocument/2006/relationships/notesSlide" Target="/ppt/notesSlides/notesSlide41.xml" Id="R801ee97ecd00499c" /></Relationships>
</file>

<file path=ppt/slides/_rels/slide42.xml.rels>&#65279;<?xml version="1.0" encoding="utf-8"?><Relationships xmlns="http://schemas.openxmlformats.org/package/2006/relationships"><Relationship Type="http://schemas.openxmlformats.org/officeDocument/2006/relationships/slideLayout" Target="/ppt/slideLayouts/slideLayout6.xml" Id="Rbf8b33ac8b114603" /><Relationship Type="http://schemas.openxmlformats.org/officeDocument/2006/relationships/notesSlide" Target="/ppt/notesSlides/notesSlide42.xml" Id="R05a392b425584d6a" /></Relationships>
</file>

<file path=ppt/slides/_rels/slide43.xml.rels>&#65279;<?xml version="1.0" encoding="utf-8"?><Relationships xmlns="http://schemas.openxmlformats.org/package/2006/relationships"><Relationship Type="http://schemas.openxmlformats.org/officeDocument/2006/relationships/slideLayout" Target="/ppt/slideLayouts/slideLayout6.xml" Id="Rfd6c091d46d54c8e" /><Relationship Type="http://schemas.openxmlformats.org/officeDocument/2006/relationships/image" Target="/ppt/media/image4.png" Id="R7c0f3082c05c4e13" /><Relationship Type="http://schemas.openxmlformats.org/officeDocument/2006/relationships/hyperlink" Target="https://forms.gle/Ykncf1mmEbvghZgJ6" TargetMode="External" Id="R3b32fd13ac1e43bd" /><Relationship Type="http://schemas.openxmlformats.org/officeDocument/2006/relationships/notesSlide" Target="/ppt/notesSlides/notesSlide43.xml" Id="R3f0beedda04c45f5" /></Relationships>
</file>

<file path=ppt/slides/_rels/slide44.xml.rels>&#65279;<?xml version="1.0" encoding="utf-8"?><Relationships xmlns="http://schemas.openxmlformats.org/package/2006/relationships"><Relationship Type="http://schemas.openxmlformats.org/officeDocument/2006/relationships/slideLayout" Target="/ppt/slideLayouts/slideLayout6.xml" Id="Re270df90197b4c47" /><Relationship Type="http://schemas.openxmlformats.org/officeDocument/2006/relationships/notesSlide" Target="/ppt/notesSlides/notesSlide44.xml" Id="Rcba27433e3794f2c"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7" name=""/>
          <p:cNvPicPr>
            <a:picLocks xmlns:a="http://schemas.openxmlformats.org/drawingml/2006/main" noChangeAspect="1"/>
          </p:cNvPicPr>
          <p:nvPr/>
        </p:nvPicPr>
        <p:blipFill>
          <a:blip xmlns:r="http://schemas.openxmlformats.org/officeDocument/2006/relationships" xmlns:a="http://schemas.openxmlformats.org/drawingml/2006/main" r:embed="Rd27c1f68db9c459d"/>
          <a:stretch xmlns:a="http://schemas.openxmlformats.org/drawingml/2006/main"/>
        </p:blipFill>
        <p:spPr>
          <a:xfrm xmlns:a="http://schemas.openxmlformats.org/drawingml/2006/main">
            <a:off x="3087" y="0"/>
            <a:ext cx="12185522"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B7A05359-5AAA-44FC-BBC7-A0B86D216335}"/>
              </a:ext>
            </a:extLst>
          </p:cNvPr>
          <p:cNvSpPr>
            <a:spLocks xmlns:a="http://schemas.openxmlformats.org/drawingml/2006/main" noGrp="1"/>
          </p:cNvSpPr>
          <p:nvPr/>
        </p:nvSpPr>
        <p:spPr>
          <a:xfrm xmlns:a="http://schemas.openxmlformats.org/drawingml/2006/main">
            <a:off x="0" y="0"/>
            <a:ext cx="5381625" cy="685800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DD209064-EEFF-4151-BDDC-65AE0FE333B3}"/>
              </a:ext>
            </a:extLst>
          </p:cNvPr>
          <p:cNvSpPr>
            <a:spLocks xmlns:a="http://schemas.openxmlformats.org/drawingml/2006/main" noGrp="1"/>
          </p:cNvSpPr>
          <p:nvPr/>
        </p:nvSpPr>
        <p:spPr>
          <a:xfrm xmlns:a="http://schemas.openxmlformats.org/drawingml/2006/main">
            <a:off x="552450" y="685800"/>
            <a:ext cx="4762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CML3112   WEEK 5</a:t>
            </a:r>
          </a:p>
        </p:txBody>
      </p:sp>
      <p:sp>
        <p:nvSpPr>
          <p:cNvPr id="4" name="">
            <a:extLst xmlns:a="http://schemas.openxmlformats.org/drawingml/2006/main">
              <a:ext uri="{FF2B5EF4-FFF2-40B4-BE49-F238E27FC236}">
                <a16:creationId xmlns:a16="http://schemas.microsoft.com/office/drawing/2014/main" id="{A4E87C56-16DB-4277-AF33-838200A078BA}"/>
              </a:ext>
            </a:extLst>
          </p:cNvPr>
          <p:cNvSpPr>
            <a:spLocks xmlns:a="http://schemas.openxmlformats.org/drawingml/2006/main" noGrp="1"/>
          </p:cNvSpPr>
          <p:nvPr/>
        </p:nvSpPr>
        <p:spPr>
          <a:xfrm xmlns:a="http://schemas.openxmlformats.org/drawingml/2006/main">
            <a:off x="552450" y="1619250"/>
            <a:ext cx="4619625" cy="2333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825" b="1">
                <a:solidFill>
                  <a:srgbClr val="FFFFFF"/>
                </a:solidFill>
                <a:latin typeface="Calibri"/>
                <a:ea typeface="Calibri"/>
                <a:cs typeface="Calibri"/>
              </a:defRPr>
            </a:pPr>
            <a:r>
              <a:rPr sz="3825" b="1">
                <a:solidFill>
                  <a:srgbClr val="FFFFFF"/>
                </a:solidFill>
                <a:latin typeface="Calibri"/>
                <a:ea typeface="Calibri"/>
                <a:cs typeface="Calibri"/>
              </a:rPr>
              <a:t>Using pandas to answer table questions</a:t>
            </a:r>
          </a:p>
        </p:txBody>
      </p:sp>
      <p:sp>
        <p:nvSpPr>
          <p:cNvPr id="5" name="">
            <a:extLst xmlns:a="http://schemas.openxmlformats.org/drawingml/2006/main">
              <a:ext uri="{FF2B5EF4-FFF2-40B4-BE49-F238E27FC236}">
                <a16:creationId xmlns:a16="http://schemas.microsoft.com/office/drawing/2014/main" id="{E3429D97-75B3-4629-9B44-7704BC48A675}"/>
              </a:ext>
            </a:extLst>
          </p:cNvPr>
          <p:cNvSpPr>
            <a:spLocks xmlns:a="http://schemas.openxmlformats.org/drawingml/2006/main" noGrp="1"/>
          </p:cNvSpPr>
          <p:nvPr/>
        </p:nvSpPr>
        <p:spPr>
          <a:xfrm xmlns:a="http://schemas.openxmlformats.org/drawingml/2006/main">
            <a:off x="552450" y="4048125"/>
            <a:ext cx="4619625"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D8E3EC"/>
                </a:solidFill>
                <a:latin typeface="Calibri"/>
                <a:ea typeface="Calibri"/>
                <a:cs typeface="Calibri"/>
              </a:defRPr>
            </a:pPr>
            <a:r>
              <a:rPr sz="2100" b="0">
                <a:solidFill>
                  <a:srgbClr val="D8E3EC"/>
                </a:solidFill>
                <a:latin typeface="Calibri"/>
                <a:ea typeface="Calibri"/>
                <a:cs typeface="Calibri"/>
              </a:rPr>
              <a:t>Civil Engineering and Architecture</a:t>
            </a:r>
          </a:p>
        </p:txBody>
      </p:sp>
      <p:sp>
        <p:nvSpPr>
          <p:cNvPr id="6" name="">
            <a:extLst xmlns:a="http://schemas.openxmlformats.org/drawingml/2006/main">
              <a:ext uri="{FF2B5EF4-FFF2-40B4-BE49-F238E27FC236}">
                <a16:creationId xmlns:a16="http://schemas.microsoft.com/office/drawing/2014/main" id="{328C4E94-D949-4966-B479-6D77BC8045E9}"/>
              </a:ext>
            </a:extLst>
          </p:cNvPr>
          <p:cNvSpPr>
            <a:spLocks xmlns:a="http://schemas.openxmlformats.org/drawingml/2006/main" noGrp="1"/>
          </p:cNvSpPr>
          <p:nvPr/>
        </p:nvSpPr>
        <p:spPr>
          <a:xfrm xmlns:a="http://schemas.openxmlformats.org/drawingml/2006/main">
            <a:off x="552450" y="5467350"/>
            <a:ext cx="46672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Tuesday 06 October 2026</a:t>
            </a:r>
          </a:p>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Tuesday 11:00–14:00, Room 106</a:t>
            </a:r>
          </a:p>
        </p:txBody>
      </p:sp>
    </p:spTree>
    <p:extLst>
      <p:ext uri="{BB962C8B-B14F-4D97-AF65-F5344CB8AC3E}">
        <p14:creationId xmlns:p14="http://schemas.microsoft.com/office/powerpoint/2010/main" val="1393093159"/>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02C56D4D-D292-4540-A8F5-71F7E1DF217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514AE1A4-A012-4221-901E-B833FBCC4A3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TODAY’S DESTINATION</a:t>
            </a:r>
          </a:p>
        </p:txBody>
      </p:sp>
      <p:sp>
        <p:nvSpPr>
          <p:cNvPr id="3" name="">
            <a:extLst xmlns:a="http://schemas.openxmlformats.org/drawingml/2006/main">
              <a:ext uri="{FF2B5EF4-FFF2-40B4-BE49-F238E27FC236}">
                <a16:creationId xmlns:a16="http://schemas.microsoft.com/office/drawing/2014/main" id="{BEF67B5D-6394-49AD-A73F-F939234A818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Today’s learning</a:t>
            </a:r>
          </a:p>
        </p:txBody>
      </p:sp>
      <p:sp>
        <p:nvSpPr>
          <p:cNvPr id="4" name="">
            <a:extLst xmlns:a="http://schemas.openxmlformats.org/drawingml/2006/main">
              <a:ext uri="{FF2B5EF4-FFF2-40B4-BE49-F238E27FC236}">
                <a16:creationId xmlns:a16="http://schemas.microsoft.com/office/drawing/2014/main" id="{81AD2221-665E-4951-B01A-3788B5C92EC0}"/>
              </a:ext>
            </a:extLst>
          </p:cNvPr>
          <p:cNvSpPr>
            <a:spLocks xmlns:a="http://schemas.openxmlformats.org/drawingml/2006/main" noGrp="1"/>
          </p:cNvSpPr>
          <p:nvPr/>
        </p:nvSpPr>
        <p:spPr>
          <a:xfrm xmlns:a="http://schemas.openxmlformats.org/drawingml/2006/main">
            <a:off x="590550" y="1733550"/>
            <a:ext cx="523875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0A1B72D5-3D68-4311-AE3F-2771AA96C013}"/>
              </a:ext>
            </a:extLst>
          </p:cNvPr>
          <p:cNvSpPr>
            <a:spLocks xmlns:a="http://schemas.openxmlformats.org/drawingml/2006/main" noGrp="1"/>
          </p:cNvSpPr>
          <p:nvPr/>
        </p:nvSpPr>
        <p:spPr>
          <a:xfrm xmlns:a="http://schemas.openxmlformats.org/drawingml/2006/main">
            <a:off x="828675" y="2000250"/>
            <a:ext cx="4743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1">
                <a:solidFill>
                  <a:srgbClr val="E4572E"/>
                </a:solidFill>
                <a:latin typeface="Calibri"/>
                <a:ea typeface="Calibri"/>
                <a:cs typeface="Calibri"/>
              </a:defRPr>
            </a:pPr>
            <a:r>
              <a:rPr sz="1650" b="1">
                <a:solidFill>
                  <a:srgbClr val="E4572E"/>
                </a:solidFill>
                <a:latin typeface="Calibri"/>
                <a:ea typeface="Calibri"/>
                <a:cs typeface="Calibri"/>
              </a:rPr>
              <a:t>WHAT WE WILL DO</a:t>
            </a:r>
          </a:p>
        </p:txBody>
      </p:sp>
      <p:sp>
        <p:nvSpPr>
          <p:cNvPr id="6" name="">
            <a:extLst xmlns:a="http://schemas.openxmlformats.org/drawingml/2006/main">
              <a:ext uri="{FF2B5EF4-FFF2-40B4-BE49-F238E27FC236}">
                <a16:creationId xmlns:a16="http://schemas.microsoft.com/office/drawing/2014/main" id="{AAD7B3C9-8164-4205-9BBE-EA2F54861C02}"/>
              </a:ext>
            </a:extLst>
          </p:cNvPr>
          <p:cNvSpPr>
            <a:spLocks xmlns:a="http://schemas.openxmlformats.org/drawingml/2006/main" noGrp="1"/>
          </p:cNvSpPr>
          <p:nvPr/>
        </p:nvSpPr>
        <p:spPr>
          <a:xfrm xmlns:a="http://schemas.openxmlformats.org/drawingml/2006/main">
            <a:off x="828675" y="2590800"/>
            <a:ext cx="4743450" cy="2952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Read a labelled table and select rows.</a:t>
            </a:r>
          </a:p>
          <a:p xmlns:a="http://schemas.openxmlformats.org/drawingml/2006/main">
            <a:r>
              <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Calculate column summaries and grouped totals.</a:t>
            </a:r>
          </a:p>
        </p:txBody>
      </p:sp>
      <p:sp>
        <p:nvSpPr>
          <p:cNvPr id="7" name="">
            <a:extLst xmlns:a="http://schemas.openxmlformats.org/drawingml/2006/main">
              <a:ext uri="{FF2B5EF4-FFF2-40B4-BE49-F238E27FC236}">
                <a16:creationId xmlns:a16="http://schemas.microsoft.com/office/drawing/2014/main" id="{94BD5D5F-D6A6-4914-932F-C81D98887E9B}"/>
              </a:ext>
            </a:extLst>
          </p:cNvPr>
          <p:cNvSpPr>
            <a:spLocks xmlns:a="http://schemas.openxmlformats.org/drawingml/2006/main" noGrp="1"/>
          </p:cNvSpPr>
          <p:nvPr/>
        </p:nvSpPr>
        <p:spPr>
          <a:xfrm xmlns:a="http://schemas.openxmlformats.org/drawingml/2006/main">
            <a:off x="6210300" y="2000250"/>
            <a:ext cx="5143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1">
                <a:solidFill>
                  <a:srgbClr val="2E7D6F"/>
                </a:solidFill>
                <a:latin typeface="Calibri"/>
                <a:ea typeface="Calibri"/>
                <a:cs typeface="Calibri"/>
              </a:defRPr>
            </a:pPr>
            <a:r>
              <a:rPr sz="1650" b="1">
                <a:solidFill>
                  <a:srgbClr val="2E7D6F"/>
                </a:solidFill>
                <a:latin typeface="Calibri"/>
                <a:ea typeface="Calibri"/>
                <a:cs typeface="Calibri"/>
              </a:rPr>
              <a:t>HOW YOU WILL SHOW IT</a:t>
            </a:r>
          </a:p>
        </p:txBody>
      </p:sp>
      <p:sp>
        <p:nvSpPr>
          <p:cNvPr id="8" name="">
            <a:extLst xmlns:a="http://schemas.openxmlformats.org/drawingml/2006/main">
              <a:ext uri="{FF2B5EF4-FFF2-40B4-BE49-F238E27FC236}">
                <a16:creationId xmlns:a16="http://schemas.microsoft.com/office/drawing/2014/main" id="{C850817D-716F-4A5F-B240-78E19A31E8E6}"/>
              </a:ext>
            </a:extLst>
          </p:cNvPr>
          <p:cNvSpPr>
            <a:spLocks xmlns:a="http://schemas.openxmlformats.org/drawingml/2006/main" noGrp="1"/>
          </p:cNvSpPr>
          <p:nvPr/>
        </p:nvSpPr>
        <p:spPr>
          <a:xfrm xmlns:a="http://schemas.openxmlformats.org/drawingml/2006/main">
            <a:off x="6210300" y="2590800"/>
            <a:ext cx="5095875" cy="2952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You can explain which observations a filter keeps and what a grouped total means.</a:t>
            </a:r>
          </a:p>
        </p:txBody>
      </p:sp>
      <p:sp>
        <p:nvSpPr>
          <p:cNvPr id="9" name="">
            <a:extLst xmlns:a="http://schemas.openxmlformats.org/drawingml/2006/main">
              <a:ext uri="{FF2B5EF4-FFF2-40B4-BE49-F238E27FC236}">
                <a16:creationId xmlns:a16="http://schemas.microsoft.com/office/drawing/2014/main" id="{15F515E2-5265-4850-AF40-A6DA65FF5ED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5   2</a:t>
            </a:r>
          </a:p>
        </p:txBody>
      </p:sp>
    </p:spTree>
    <p:extLst>
      <p:ext uri="{BB962C8B-B14F-4D97-AF65-F5344CB8AC3E}">
        <p14:creationId xmlns:p14="http://schemas.microsoft.com/office/powerpoint/2010/main" val="1022443397"/>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D0298895-C30A-42E3-84A8-E68E59B62CB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E84C74DF-5F44-49CB-9EB0-86EC24DCF6F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3146AB7A-A6A9-485E-AC5A-56A1EFCB467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Connection to the previous lesson</a:t>
            </a:r>
          </a:p>
        </p:txBody>
      </p:sp>
      <p:sp>
        <p:nvSpPr>
          <p:cNvPr id="4" name="">
            <a:extLst xmlns:a="http://schemas.openxmlformats.org/drawingml/2006/main">
              <a:ext uri="{FF2B5EF4-FFF2-40B4-BE49-F238E27FC236}">
                <a16:creationId xmlns:a16="http://schemas.microsoft.com/office/drawing/2014/main" id="{AA6B4965-3909-4E49-A459-FCA66B468E2F}"/>
              </a:ext>
            </a:extLst>
          </p:cNvPr>
          <p:cNvSpPr>
            <a:spLocks xmlns:a="http://schemas.openxmlformats.org/drawingml/2006/main" noGrp="1"/>
          </p:cNvSpPr>
          <p:nvPr/>
        </p:nvSpPr>
        <p:spPr>
          <a:xfrm xmlns:a="http://schemas.openxmlformats.org/drawingml/2006/main">
            <a:off x="590550" y="1752600"/>
            <a:ext cx="11010900"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B802690E-993A-4C27-95C6-A57209F3C024}"/>
              </a:ext>
            </a:extLst>
          </p:cNvPr>
          <p:cNvSpPr>
            <a:spLocks xmlns:a="http://schemas.openxmlformats.org/drawingml/2006/main" noGrp="1"/>
          </p:cNvSpPr>
          <p:nvPr/>
        </p:nvSpPr>
        <p:spPr>
          <a:xfrm xmlns:a="http://schemas.openxmlformats.org/drawingml/2006/main">
            <a:off x="914400" y="2228850"/>
            <a:ext cx="1033462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1">
                <a:solidFill>
                  <a:srgbClr val="1C3144"/>
                </a:solidFill>
                <a:latin typeface="Calibri"/>
                <a:ea typeface="Calibri"/>
                <a:cs typeface="Calibri"/>
              </a:defRPr>
            </a:pPr>
            <a:r>
              <a:rPr sz="3000" b="1">
                <a:solidFill>
                  <a:srgbClr val="1C3144"/>
                </a:solidFill>
                <a:latin typeface="Calibri"/>
                <a:ea typeface="Calibri"/>
                <a:cs typeface="Calibri"/>
              </a:rPr>
              <a:t>Week 4 used lists, dictionaries, loops and CSV rows. pandas keeps these same records in a labelled table and provides operations that work across its columns.</a:t>
            </a:r>
          </a:p>
        </p:txBody>
      </p:sp>
      <p:sp>
        <p:nvSpPr>
          <p:cNvPr id="6" name="">
            <a:extLst xmlns:a="http://schemas.openxmlformats.org/drawingml/2006/main">
              <a:ext uri="{FF2B5EF4-FFF2-40B4-BE49-F238E27FC236}">
                <a16:creationId xmlns:a16="http://schemas.microsoft.com/office/drawing/2014/main" id="{8A2321D3-D7E9-4533-819E-04440973203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5   3</a:t>
            </a:r>
          </a:p>
        </p:txBody>
      </p:sp>
    </p:spTree>
    <p:extLst>
      <p:ext uri="{BB962C8B-B14F-4D97-AF65-F5344CB8AC3E}">
        <p14:creationId xmlns:p14="http://schemas.microsoft.com/office/powerpoint/2010/main" val="1895288893"/>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B2CD3647-435D-42D1-9F2D-14FA6CFFB80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DA827F4F-88E7-4937-A902-7228C8D0161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1768843D-4F61-474C-99F2-2133F22E0A8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Why this week’s tools are needed</a:t>
            </a:r>
          </a:p>
        </p:txBody>
      </p:sp>
      <p:sp>
        <p:nvSpPr>
          <p:cNvPr id="4" name="">
            <a:extLst xmlns:a="http://schemas.openxmlformats.org/drawingml/2006/main">
              <a:ext uri="{FF2B5EF4-FFF2-40B4-BE49-F238E27FC236}">
                <a16:creationId xmlns:a16="http://schemas.microsoft.com/office/drawing/2014/main" id="{2EF7C33D-B006-4272-AB86-0E9F09E037F1}"/>
              </a:ext>
            </a:extLst>
          </p:cNvPr>
          <p:cNvSpPr>
            <a:spLocks xmlns:a="http://schemas.openxmlformats.org/drawingml/2006/main" noGrp="1"/>
          </p:cNvSpPr>
          <p:nvPr/>
        </p:nvSpPr>
        <p:spPr>
          <a:xfrm xmlns:a="http://schemas.openxmlformats.org/drawingml/2006/main">
            <a:off x="590550" y="1752600"/>
            <a:ext cx="4476750" cy="4200525"/>
          </a:xfrm>
          <a:prstGeom xmlns:a="http://schemas.openxmlformats.org/drawingml/2006/main" prst="rect">
            <a:avLst/>
          </a:prstGeom>
          <a:solidFill xmlns:a="http://schemas.openxmlformats.org/drawingml/2006/main">
            <a:srgbClr val="2E7D6F"/>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5C9530A1-71BF-4894-8AFA-69B1860B2D18}"/>
              </a:ext>
            </a:extLst>
          </p:cNvPr>
          <p:cNvSpPr>
            <a:spLocks xmlns:a="http://schemas.openxmlformats.org/drawingml/2006/main" noGrp="1"/>
          </p:cNvSpPr>
          <p:nvPr/>
        </p:nvSpPr>
        <p:spPr>
          <a:xfrm xmlns:a="http://schemas.openxmlformats.org/drawingml/2006/main">
            <a:off x="866775" y="2124075"/>
            <a:ext cx="3905250" cy="3419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The supplied campus_energy.csv records campus electricity use.</a:t>
            </a:r>
          </a:p>
        </p:txBody>
      </p:sp>
      <p:sp>
        <p:nvSpPr>
          <p:cNvPr id="6" name="">
            <a:extLst xmlns:a="http://schemas.openxmlformats.org/drawingml/2006/main">
              <a:ext uri="{FF2B5EF4-FFF2-40B4-BE49-F238E27FC236}">
                <a16:creationId xmlns:a16="http://schemas.microsoft.com/office/drawing/2014/main" id="{714587CF-DC22-4EFE-B934-8AF2B9BAFEA0}"/>
              </a:ext>
            </a:extLst>
          </p:cNvPr>
          <p:cNvSpPr>
            <a:spLocks xmlns:a="http://schemas.openxmlformats.org/drawingml/2006/main" noGrp="1"/>
          </p:cNvSpPr>
          <p:nvPr/>
        </p:nvSpPr>
        <p:spPr>
          <a:xfrm xmlns:a="http://schemas.openxmlformats.org/drawingml/2006/main">
            <a:off x="5534025" y="2000250"/>
            <a:ext cx="5905500" cy="3876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We practise pandas on four invented rows first, then inspect the supplied file and its units.</a:t>
            </a:r>
          </a:p>
        </p:txBody>
      </p:sp>
      <p:sp>
        <p:nvSpPr>
          <p:cNvPr id="7" name="">
            <a:extLst xmlns:a="http://schemas.openxmlformats.org/drawingml/2006/main">
              <a:ext uri="{FF2B5EF4-FFF2-40B4-BE49-F238E27FC236}">
                <a16:creationId xmlns:a16="http://schemas.microsoft.com/office/drawing/2014/main" id="{D4DB2733-2B13-4F9B-870D-F30A9636B4C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5   4</a:t>
            </a:r>
          </a:p>
        </p:txBody>
      </p:sp>
    </p:spTree>
    <p:extLst>
      <p:ext uri="{BB962C8B-B14F-4D97-AF65-F5344CB8AC3E}">
        <p14:creationId xmlns:p14="http://schemas.microsoft.com/office/powerpoint/2010/main" val="909493235"/>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7A241699-FFB6-471A-ABB4-C35BAF57DF4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60D546B4-BCDB-47B4-88CE-8B4C7B54D2B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44BA76FE-F0A5-4E6B-ACEC-00E6626459E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Rows columns and units</a:t>
            </a:r>
          </a:p>
        </p:txBody>
      </p:sp>
      <p:sp>
        <p:nvSpPr>
          <p:cNvPr id="4" name="">
            <a:extLst xmlns:a="http://schemas.openxmlformats.org/drawingml/2006/main">
              <a:ext uri="{FF2B5EF4-FFF2-40B4-BE49-F238E27FC236}">
                <a16:creationId xmlns:a16="http://schemas.microsoft.com/office/drawing/2014/main" id="{9595AE6F-90BB-4AB4-A637-9748526374A3}"/>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D1ECEA21-F604-4290-9927-33994CB347CA}"/>
              </a:ext>
            </a:extLst>
          </p:cNvPr>
          <p:cNvSpPr>
            <a:spLocks xmlns:a="http://schemas.openxmlformats.org/drawingml/2006/main" noGrp="1"/>
          </p:cNvSpPr>
          <p:nvPr/>
        </p:nvSpPr>
        <p:spPr>
          <a:xfrm xmlns:a="http://schemas.openxmlformats.org/drawingml/2006/main">
            <a:off x="1381125" y="1781175"/>
            <a:ext cx="100965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row describes one observation. A column describes one field.</a:t>
            </a:r>
          </a:p>
        </p:txBody>
      </p:sp>
      <p:sp>
        <p:nvSpPr>
          <p:cNvPr id="6" name="">
            <a:extLst xmlns:a="http://schemas.openxmlformats.org/drawingml/2006/main">
              <a:ext uri="{FF2B5EF4-FFF2-40B4-BE49-F238E27FC236}">
                <a16:creationId xmlns:a16="http://schemas.microsoft.com/office/drawing/2014/main" id="{5A91E244-35AA-4F17-8032-5302013E7B2F}"/>
              </a:ext>
            </a:extLst>
          </p:cNvPr>
          <p:cNvSpPr>
            <a:spLocks xmlns:a="http://schemas.openxmlformats.org/drawingml/2006/main" noGrp="1"/>
          </p:cNvSpPr>
          <p:nvPr/>
        </p:nvSpPr>
        <p:spPr>
          <a:xfrm xmlns:a="http://schemas.openxmlformats.org/drawingml/2006/main">
            <a:off x="590550" y="26384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CAB0C5D4-523D-4FDD-AD62-6435E0FC4B03}"/>
              </a:ext>
            </a:extLst>
          </p:cNvPr>
          <p:cNvSpPr>
            <a:spLocks xmlns:a="http://schemas.openxmlformats.org/drawingml/2006/main" noGrp="1"/>
          </p:cNvSpPr>
          <p:nvPr/>
        </p:nvSpPr>
        <p:spPr>
          <a:xfrm xmlns:a="http://schemas.openxmlformats.org/drawingml/2006/main">
            <a:off x="1381125" y="2638425"/>
            <a:ext cx="100965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DataFrame is pandas’ labelled table.</a:t>
            </a:r>
          </a:p>
        </p:txBody>
      </p:sp>
      <p:sp>
        <p:nvSpPr>
          <p:cNvPr id="8" name="">
            <a:extLst xmlns:a="http://schemas.openxmlformats.org/drawingml/2006/main">
              <a:ext uri="{FF2B5EF4-FFF2-40B4-BE49-F238E27FC236}">
                <a16:creationId xmlns:a16="http://schemas.microsoft.com/office/drawing/2014/main" id="{F0C07229-8D7D-42DD-B192-B17C7427F65C}"/>
              </a:ext>
            </a:extLst>
          </p:cNvPr>
          <p:cNvSpPr>
            <a:spLocks xmlns:a="http://schemas.openxmlformats.org/drawingml/2006/main" noGrp="1"/>
          </p:cNvSpPr>
          <p:nvPr/>
        </p:nvSpPr>
        <p:spPr>
          <a:xfrm xmlns:a="http://schemas.openxmlformats.org/drawingml/2006/main">
            <a:off x="590550" y="3495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EE75A861-1152-4E78-B4D8-32C7E2044F68}"/>
              </a:ext>
            </a:extLst>
          </p:cNvPr>
          <p:cNvSpPr>
            <a:spLocks xmlns:a="http://schemas.openxmlformats.org/drawingml/2006/main" noGrp="1"/>
          </p:cNvSpPr>
          <p:nvPr/>
        </p:nvSpPr>
        <p:spPr>
          <a:xfrm xmlns:a="http://schemas.openxmlformats.org/drawingml/2006/main">
            <a:off x="1381125" y="3495675"/>
            <a:ext cx="100965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Series is one labelled column.</a:t>
            </a:r>
          </a:p>
        </p:txBody>
      </p:sp>
      <p:sp>
        <p:nvSpPr>
          <p:cNvPr id="10" name="">
            <a:extLst xmlns:a="http://schemas.openxmlformats.org/drawingml/2006/main">
              <a:ext uri="{FF2B5EF4-FFF2-40B4-BE49-F238E27FC236}">
                <a16:creationId xmlns:a16="http://schemas.microsoft.com/office/drawing/2014/main" id="{7855FC8C-F912-4C75-BD64-9EB6D8801BB7}"/>
              </a:ext>
            </a:extLst>
          </p:cNvPr>
          <p:cNvSpPr>
            <a:spLocks xmlns:a="http://schemas.openxmlformats.org/drawingml/2006/main" noGrp="1"/>
          </p:cNvSpPr>
          <p:nvPr/>
        </p:nvSpPr>
        <p:spPr>
          <a:xfrm xmlns:a="http://schemas.openxmlformats.org/drawingml/2006/main">
            <a:off x="590550" y="4352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90F86884-DE46-4EF0-A4CD-7E64F558EF09}"/>
              </a:ext>
            </a:extLst>
          </p:cNvPr>
          <p:cNvSpPr>
            <a:spLocks xmlns:a="http://schemas.openxmlformats.org/drawingml/2006/main" noGrp="1"/>
          </p:cNvSpPr>
          <p:nvPr/>
        </p:nvSpPr>
        <p:spPr>
          <a:xfrm xmlns:a="http://schemas.openxmlformats.org/drawingml/2006/main">
            <a:off x="1381125" y="4352925"/>
            <a:ext cx="100965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kWh measures energy. kW measures power.</a:t>
            </a:r>
          </a:p>
        </p:txBody>
      </p:sp>
      <p:sp>
        <p:nvSpPr>
          <p:cNvPr id="12" name="">
            <a:extLst xmlns:a="http://schemas.openxmlformats.org/drawingml/2006/main">
              <a:ext uri="{FF2B5EF4-FFF2-40B4-BE49-F238E27FC236}">
                <a16:creationId xmlns:a16="http://schemas.microsoft.com/office/drawing/2014/main" id="{0E422875-983C-4315-AD41-7C92D23AF265}"/>
              </a:ext>
            </a:extLst>
          </p:cNvPr>
          <p:cNvSpPr>
            <a:spLocks xmlns:a="http://schemas.openxmlformats.org/drawingml/2006/main" noGrp="1"/>
          </p:cNvSpPr>
          <p:nvPr/>
        </p:nvSpPr>
        <p:spPr>
          <a:xfrm xmlns:a="http://schemas.openxmlformats.org/drawingml/2006/main">
            <a:off x="590550" y="5210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05</a:t>
            </a:r>
          </a:p>
        </p:txBody>
      </p:sp>
      <p:sp>
        <p:nvSpPr>
          <p:cNvPr id="13" name="">
            <a:extLst xmlns:a="http://schemas.openxmlformats.org/drawingml/2006/main">
              <a:ext uri="{FF2B5EF4-FFF2-40B4-BE49-F238E27FC236}">
                <a16:creationId xmlns:a16="http://schemas.microsoft.com/office/drawing/2014/main" id="{18FB0F19-AF72-4051-B9DE-1798A86EFB5C}"/>
              </a:ext>
            </a:extLst>
          </p:cNvPr>
          <p:cNvSpPr>
            <a:spLocks xmlns:a="http://schemas.openxmlformats.org/drawingml/2006/main" noGrp="1"/>
          </p:cNvSpPr>
          <p:nvPr/>
        </p:nvSpPr>
        <p:spPr>
          <a:xfrm xmlns:a="http://schemas.openxmlformats.org/drawingml/2006/main">
            <a:off x="1381125" y="5210175"/>
            <a:ext cx="100965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data type (dtype) describes the kind of values in a column, such as whole numbers, decimals or text.</a:t>
            </a:r>
          </a:p>
        </p:txBody>
      </p:sp>
      <p:sp>
        <p:nvSpPr>
          <p:cNvPr id="14" name="">
            <a:extLst xmlns:a="http://schemas.openxmlformats.org/drawingml/2006/main">
              <a:ext uri="{FF2B5EF4-FFF2-40B4-BE49-F238E27FC236}">
                <a16:creationId xmlns:a16="http://schemas.microsoft.com/office/drawing/2014/main" id="{1E9C3B3E-DB05-4893-B1FE-EC021EE9660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5   5</a:t>
            </a:r>
          </a:p>
        </p:txBody>
      </p:sp>
    </p:spTree>
    <p:extLst>
      <p:ext uri="{BB962C8B-B14F-4D97-AF65-F5344CB8AC3E}">
        <p14:creationId xmlns:p14="http://schemas.microsoft.com/office/powerpoint/2010/main" val="1753389403"/>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20BD7A11-258B-44E1-BD40-70E0210F22F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CF62D35F-F7D4-4173-9572-7A51E93E940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A20914D1-D393-4DB9-88C5-4CA91FDA48A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table keeps related observations together</a:t>
            </a:r>
          </a:p>
        </p:txBody>
      </p:sp>
      <p:sp>
        <p:nvSpPr>
          <p:cNvPr id="4" name="">
            <a:extLst xmlns:a="http://schemas.openxmlformats.org/drawingml/2006/main">
              <a:ext uri="{FF2B5EF4-FFF2-40B4-BE49-F238E27FC236}">
                <a16:creationId xmlns:a16="http://schemas.microsoft.com/office/drawing/2014/main" id="{FF5E700A-6CB2-4CB2-9F24-2F1A8C8396A0}"/>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9E4B2CDD-AC27-4B33-A0D9-C64396B312F2}"/>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Our four rows record building A twice and building B twice.</a:t>
            </a:r>
          </a:p>
        </p:txBody>
      </p:sp>
      <p:sp>
        <p:nvSpPr>
          <p:cNvPr id="6" name="">
            <a:extLst xmlns:a="http://schemas.openxmlformats.org/drawingml/2006/main">
              <a:ext uri="{FF2B5EF4-FFF2-40B4-BE49-F238E27FC236}">
                <a16:creationId xmlns:a16="http://schemas.microsoft.com/office/drawing/2014/main" id="{3953ACCF-1C04-4316-AD6A-33A54541E5BB}"/>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151183EA-111F-4054-AB1D-9F08E37065C5}"/>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Each row contains the building label and an energy reading.</a:t>
            </a:r>
          </a:p>
        </p:txBody>
      </p:sp>
      <p:sp>
        <p:nvSpPr>
          <p:cNvPr id="8" name="">
            <a:extLst xmlns:a="http://schemas.openxmlformats.org/drawingml/2006/main">
              <a:ext uri="{FF2B5EF4-FFF2-40B4-BE49-F238E27FC236}">
                <a16:creationId xmlns:a16="http://schemas.microsoft.com/office/drawing/2014/main" id="{829CAF83-FA15-4F2B-AEAE-80630791A05D}"/>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4A8C62AE-04C4-4158-BA37-92B83F7882F9}"/>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kWh is energy. kW is power. The units describe different quantities.</a:t>
            </a:r>
          </a:p>
        </p:txBody>
      </p:sp>
      <p:sp>
        <p:nvSpPr>
          <p:cNvPr id="10" name="">
            <a:extLst xmlns:a="http://schemas.openxmlformats.org/drawingml/2006/main">
              <a:ext uri="{FF2B5EF4-FFF2-40B4-BE49-F238E27FC236}">
                <a16:creationId xmlns:a16="http://schemas.microsoft.com/office/drawing/2014/main" id="{F6809B86-5BA0-499F-9021-5BBDBA489C2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5   6</a:t>
            </a:r>
          </a:p>
        </p:txBody>
      </p:sp>
    </p:spTree>
    <p:extLst>
      <p:ext uri="{BB962C8B-B14F-4D97-AF65-F5344CB8AC3E}">
        <p14:creationId xmlns:p14="http://schemas.microsoft.com/office/powerpoint/2010/main" val="1154498356"/>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BBA2E04A-C5DF-4416-9BC9-4C2E6E0F41C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D49F47F2-D9B4-42B3-A63B-E4AF801A3F9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FEC54580-D2DD-410B-AEE1-976B97DA483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Our small energy table</a:t>
            </a:r>
          </a:p>
        </p:txBody>
      </p:sp>
      <p:graphicFrame>
        <p:nvGraphicFramePr>
          <p:cNvPr id="10" name=""/>
          <p:cNvGraphicFramePr/>
          <p:nvPr/>
        </p:nvGraphicFramePr>
        <p:xfrm>
          <a:off xmlns:a="http://schemas.openxmlformats.org/drawingml/2006/main" x="590550" y="1733550"/>
          <a:ext xmlns:a="http://schemas.openxmlformats.org/drawingml/2006/main" cx="11010900" cy="3333750"/>
        </p:xfrm>
        <a:graphic xmlns:a="http://schemas.openxmlformats.org/drawingml/2006/main">
          <a:graphicData uri="http://schemas.openxmlformats.org/drawingml/2006/table">
            <a:tbl>
              <a:tblPr/>
              <a:tblGrid>
                <a:gridCol w="5505450"/>
                <a:gridCol w="5505450"/>
              </a:tblGrid>
              <a:tr h="666750">
                <a:tc>
                  <a:txBody>
                    <a:bodyPr/>
                    <a:lstStyle/>
                    <a:p>
                      <a:r>
                        <a:rPr sz="2025" b="1">
                          <a:solidFill>
                            <a:srgbClr val="FFFFFF"/>
                          </a:solidFill>
                          <a:latin typeface="Calibri"/>
                          <a:ea typeface="Calibri"/>
                          <a:cs typeface="Calibri"/>
                        </a:rPr>
                        <a:t>building</a:t>
                      </a:r>
                    </a:p>
                  </a:txBody>
                  <a:tcPr marL="91440" marR="91440" marT="45720" marB="45720">
                    <a:solidFill>
                      <a:srgbClr val="2E7D6F"/>
                    </a:solidFill>
                  </a:tcPr>
                </a:tc>
                <a:tc>
                  <a:txBody>
                    <a:bodyPr/>
                    <a:lstStyle/>
                    <a:p>
                      <a:r>
                        <a:rPr sz="2025" b="1">
                          <a:solidFill>
                            <a:srgbClr val="FFFFFF"/>
                          </a:solidFill>
                          <a:latin typeface="Calibri"/>
                          <a:ea typeface="Calibri"/>
                          <a:cs typeface="Calibri"/>
                        </a:rPr>
                        <a:t>kwh</a:t>
                      </a:r>
                    </a:p>
                  </a:txBody>
                  <a:tcPr marL="91440" marR="91440" marT="45720" marB="45720">
                    <a:solidFill>
                      <a:srgbClr val="2E7D6F"/>
                    </a:solidFill>
                  </a:tcPr>
                </a:tc>
              </a:tr>
              <a:tr h="666750">
                <a:tc>
                  <a:txBody>
                    <a:bodyPr/>
                    <a:lstStyle/>
                    <a:p>
                      <a:r>
                        <a:rPr sz="2025" b="0">
                          <a:solidFill>
                            <a:srgbClr val="1C3144"/>
                          </a:solidFill>
                          <a:latin typeface="Calibri"/>
                          <a:ea typeface="Calibri"/>
                          <a:cs typeface="Calibri"/>
                        </a:rPr>
                        <a:t>A</a:t>
                      </a:r>
                    </a:p>
                  </a:txBody>
                  <a:tcPr marL="91440" marR="91440" marT="45720" marB="45720">
                    <a:solidFill>
                      <a:srgbClr val="EEF3F6"/>
                    </a:solidFill>
                  </a:tcPr>
                </a:tc>
                <a:tc>
                  <a:txBody>
                    <a:bodyPr/>
                    <a:lstStyle/>
                    <a:p>
                      <a:r>
                        <a:rPr sz="2025" b="0">
                          <a:solidFill>
                            <a:srgbClr val="1C3144"/>
                          </a:solidFill>
                          <a:latin typeface="Calibri"/>
                          <a:ea typeface="Calibri"/>
                          <a:cs typeface="Calibri"/>
                        </a:rPr>
                        <a:t>2</a:t>
                      </a:r>
                    </a:p>
                  </a:txBody>
                  <a:tcPr marL="91440" marR="91440" marT="45720" marB="45720">
                    <a:solidFill>
                      <a:srgbClr val="EEF3F6"/>
                    </a:solidFill>
                  </a:tcPr>
                </a:tc>
              </a:tr>
              <a:tr h="666750">
                <a:tc>
                  <a:txBody>
                    <a:bodyPr/>
                    <a:lstStyle/>
                    <a:p>
                      <a:r>
                        <a:rPr sz="2025" b="0">
                          <a:solidFill>
                            <a:srgbClr val="1C3144"/>
                          </a:solidFill>
                          <a:latin typeface="Calibri"/>
                          <a:ea typeface="Calibri"/>
                          <a:cs typeface="Calibri"/>
                        </a:rPr>
                        <a:t>A</a:t>
                      </a:r>
                    </a:p>
                  </a:txBody>
                  <a:tcPr marL="91440" marR="91440" marT="45720" marB="45720">
                    <a:solidFill>
                      <a:srgbClr val="FFFFFF"/>
                    </a:solidFill>
                  </a:tcPr>
                </a:tc>
                <a:tc>
                  <a:txBody>
                    <a:bodyPr/>
                    <a:lstStyle/>
                    <a:p>
                      <a:r>
                        <a:rPr sz="2025" b="0">
                          <a:solidFill>
                            <a:srgbClr val="1C3144"/>
                          </a:solidFill>
                          <a:latin typeface="Calibri"/>
                          <a:ea typeface="Calibri"/>
                          <a:cs typeface="Calibri"/>
                        </a:rPr>
                        <a:t>4</a:t>
                      </a:r>
                    </a:p>
                  </a:txBody>
                  <a:tcPr marL="91440" marR="91440" marT="45720" marB="45720">
                    <a:solidFill>
                      <a:srgbClr val="FFFFFF"/>
                    </a:solidFill>
                  </a:tcPr>
                </a:tc>
              </a:tr>
              <a:tr h="666750">
                <a:tc>
                  <a:txBody>
                    <a:bodyPr/>
                    <a:lstStyle/>
                    <a:p>
                      <a:r>
                        <a:rPr sz="2025" b="0">
                          <a:solidFill>
                            <a:srgbClr val="1C3144"/>
                          </a:solidFill>
                          <a:latin typeface="Calibri"/>
                          <a:ea typeface="Calibri"/>
                          <a:cs typeface="Calibri"/>
                        </a:rPr>
                        <a:t>B</a:t>
                      </a:r>
                    </a:p>
                  </a:txBody>
                  <a:tcPr marL="91440" marR="91440" marT="45720" marB="45720">
                    <a:solidFill>
                      <a:srgbClr val="EEF3F6"/>
                    </a:solidFill>
                  </a:tcPr>
                </a:tc>
                <a:tc>
                  <a:txBody>
                    <a:bodyPr/>
                    <a:lstStyle/>
                    <a:p>
                      <a:r>
                        <a:rPr sz="2025" b="0">
                          <a:solidFill>
                            <a:srgbClr val="1C3144"/>
                          </a:solidFill>
                          <a:latin typeface="Calibri"/>
                          <a:ea typeface="Calibri"/>
                          <a:cs typeface="Calibri"/>
                        </a:rPr>
                        <a:t>5</a:t>
                      </a:r>
                    </a:p>
                  </a:txBody>
                  <a:tcPr marL="91440" marR="91440" marT="45720" marB="45720">
                    <a:solidFill>
                      <a:srgbClr val="EEF3F6"/>
                    </a:solidFill>
                  </a:tcPr>
                </a:tc>
              </a:tr>
              <a:tr h="666750">
                <a:tc>
                  <a:txBody>
                    <a:bodyPr/>
                    <a:lstStyle/>
                    <a:p>
                      <a:r>
                        <a:rPr sz="2025" b="0">
                          <a:solidFill>
                            <a:srgbClr val="1C3144"/>
                          </a:solidFill>
                          <a:latin typeface="Calibri"/>
                          <a:ea typeface="Calibri"/>
                          <a:cs typeface="Calibri"/>
                        </a:rPr>
                        <a:t>B</a:t>
                      </a:r>
                    </a:p>
                  </a:txBody>
                  <a:tcPr marL="91440" marR="91440" marT="45720" marB="45720">
                    <a:solidFill>
                      <a:srgbClr val="FFFFFF"/>
                    </a:solidFill>
                  </a:tcPr>
                </a:tc>
                <a:tc>
                  <a:txBody>
                    <a:bodyPr/>
                    <a:lstStyle/>
                    <a:p>
                      <a:r>
                        <a:rPr sz="2025" b="0">
                          <a:solidFill>
                            <a:srgbClr val="1C3144"/>
                          </a:solidFill>
                          <a:latin typeface="Calibri"/>
                          <a:ea typeface="Calibri"/>
                          <a:cs typeface="Calibri"/>
                        </a:rPr>
                        <a:t>7</a:t>
                      </a:r>
                    </a:p>
                  </a:txBody>
                  <a:tcPr marL="91440" marR="91440" marT="45720" marB="45720">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608D1D78-5E91-4CD0-86FE-D1E94F2EF160}"/>
              </a:ext>
            </a:extLst>
          </p:cNvPr>
          <p:cNvSpPr>
            <a:spLocks xmlns:a="http://schemas.openxmlformats.org/drawingml/2006/main" noGrp="1"/>
          </p:cNvSpPr>
          <p:nvPr/>
        </p:nvSpPr>
        <p:spPr>
          <a:xfrm xmlns:a="http://schemas.openxmlformats.org/drawingml/2006/main">
            <a:off x="685800" y="538162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The four observations total 18 kWh.</a:t>
            </a:r>
          </a:p>
        </p:txBody>
      </p:sp>
      <p:sp>
        <p:nvSpPr>
          <p:cNvPr id="6" name="">
            <a:extLst xmlns:a="http://schemas.openxmlformats.org/drawingml/2006/main">
              <a:ext uri="{FF2B5EF4-FFF2-40B4-BE49-F238E27FC236}">
                <a16:creationId xmlns:a16="http://schemas.microsoft.com/office/drawing/2014/main" id="{09D2ABEA-75F1-4C1E-8F6E-E6FFF11F17B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5   7</a:t>
            </a:r>
          </a:p>
        </p:txBody>
      </p:sp>
    </p:spTree>
    <p:extLst>
      <p:ext uri="{BB962C8B-B14F-4D97-AF65-F5344CB8AC3E}">
        <p14:creationId xmlns:p14="http://schemas.microsoft.com/office/powerpoint/2010/main" val="1620918424"/>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6A463E2D-69C2-41C6-A6B2-D5D7E8E53DC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CB22FA47-7ED0-4900-9779-EB565105236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1484B971-853D-473E-B8A3-BD34C9BB937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Library and pandas and DataFrame</a:t>
            </a:r>
          </a:p>
        </p:txBody>
      </p:sp>
      <p:sp>
        <p:nvSpPr>
          <p:cNvPr id="4" name="">
            <a:extLst xmlns:a="http://schemas.openxmlformats.org/drawingml/2006/main">
              <a:ext uri="{FF2B5EF4-FFF2-40B4-BE49-F238E27FC236}">
                <a16:creationId xmlns:a16="http://schemas.microsoft.com/office/drawing/2014/main" id="{64E8F443-3309-4457-BDA8-2F2C41B2CFD7}"/>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96666103-2BB1-452D-AA58-55C34F6AC3D4}"/>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Library and pandas</a:t>
            </a:r>
          </a:p>
        </p:txBody>
      </p:sp>
      <p:sp>
        <p:nvSpPr>
          <p:cNvPr id="6" name="">
            <a:extLst xmlns:a="http://schemas.openxmlformats.org/drawingml/2006/main">
              <a:ext uri="{FF2B5EF4-FFF2-40B4-BE49-F238E27FC236}">
                <a16:creationId xmlns:a16="http://schemas.microsoft.com/office/drawing/2014/main" id="{ACBEFA15-26B8-46CA-A2BA-357242266494}"/>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A library is reusable code. pandas provides tools for data tables. import pandas as pd makes pd a short name for that library.</a:t>
            </a:r>
          </a:p>
        </p:txBody>
      </p:sp>
      <p:sp>
        <p:nvSpPr>
          <p:cNvPr id="7" name="">
            <a:extLst xmlns:a="http://schemas.openxmlformats.org/drawingml/2006/main">
              <a:ext uri="{FF2B5EF4-FFF2-40B4-BE49-F238E27FC236}">
                <a16:creationId xmlns:a16="http://schemas.microsoft.com/office/drawing/2014/main" id="{4536A94E-3B71-452D-9BDE-2150E441D9DA}"/>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37FF20B2-AB35-4B02-9893-2B8CCD9853DD}"/>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DataFrame</a:t>
            </a:r>
          </a:p>
        </p:txBody>
      </p:sp>
      <p:sp>
        <p:nvSpPr>
          <p:cNvPr id="9" name="">
            <a:extLst xmlns:a="http://schemas.openxmlformats.org/drawingml/2006/main">
              <a:ext uri="{FF2B5EF4-FFF2-40B4-BE49-F238E27FC236}">
                <a16:creationId xmlns:a16="http://schemas.microsoft.com/office/drawing/2014/main" id="{86696881-4876-4ED6-AF98-FE366F3559EA}"/>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A table with named columns and indexed rows. df is just the variable name we choose for this table.</a:t>
            </a:r>
          </a:p>
        </p:txBody>
      </p:sp>
      <p:sp>
        <p:nvSpPr>
          <p:cNvPr id="10" name="">
            <a:extLst xmlns:a="http://schemas.openxmlformats.org/drawingml/2006/main">
              <a:ext uri="{FF2B5EF4-FFF2-40B4-BE49-F238E27FC236}">
                <a16:creationId xmlns:a16="http://schemas.microsoft.com/office/drawing/2014/main" id="{136ED97F-6C64-4370-9A65-62C3922AC6B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5   8</a:t>
            </a:r>
          </a:p>
        </p:txBody>
      </p:sp>
    </p:spTree>
    <p:extLst>
      <p:ext uri="{BB962C8B-B14F-4D97-AF65-F5344CB8AC3E}">
        <p14:creationId xmlns:p14="http://schemas.microsoft.com/office/powerpoint/2010/main" val="372153188"/>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BD86AB21-04C8-4EDF-B8EE-B06BEDFFF9AE}"/>
              </a:ext>
            </a:extLst>
          </p:cNvPr>
          <p:cNvSpPr>
            <a:spLocks xmlns:a="http://schemas.openxmlformats.org/drawingml/2006/main" noGrp="1"/>
          </p:cNvSpPr>
          <p:nvPr/>
        </p:nvSpPr>
        <p:spPr>
          <a:xfrm xmlns:a="http://schemas.openxmlformats.org/drawingml/2006/main">
            <a:off x="0" y="0"/>
            <a:ext cx="12191695" cy="95250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C5B3D1F-BFD8-44FB-B2F0-C92C98843F26}"/>
              </a:ext>
            </a:extLst>
          </p:cNvPr>
          <p:cNvSpPr>
            <a:spLocks xmlns:a="http://schemas.openxmlformats.org/drawingml/2006/main" noGrp="1"/>
          </p:cNvSpPr>
          <p:nvPr/>
        </p:nvSpPr>
        <p:spPr>
          <a:xfrm xmlns:a="http://schemas.openxmlformats.org/drawingml/2006/main">
            <a:off x="476250" y="190500"/>
            <a:ext cx="11239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925" b="1">
                <a:solidFill>
                  <a:srgbClr val="FFFFFF"/>
                </a:solidFill>
                <a:latin typeface="Calibri"/>
                <a:ea typeface="Calibri"/>
                <a:cs typeface="Calibri"/>
              </a:defRPr>
            </a:pPr>
            <a:r>
              <a:rPr sz="2925" b="1">
                <a:solidFill>
                  <a:srgbClr val="FFFFFF"/>
                </a:solidFill>
                <a:latin typeface="Calibri"/>
                <a:ea typeface="Calibri"/>
                <a:cs typeface="Calibri"/>
              </a:rPr>
              <a:t>A labelled table in Python</a:t>
            </a:r>
          </a:p>
        </p:txBody>
      </p:sp>
      <p:pic>
        <p:nvPicPr>
          <p:cNvPr id="9" name=""/>
          <p:cNvPicPr>
            <a:picLocks xmlns:a="http://schemas.openxmlformats.org/drawingml/2006/main" noChangeAspect="1"/>
          </p:cNvPicPr>
          <p:nvPr/>
        </p:nvPicPr>
        <p:blipFill>
          <a:blip xmlns:r="http://schemas.openxmlformats.org/officeDocument/2006/relationships" xmlns:a="http://schemas.openxmlformats.org/drawingml/2006/main" r:embed="Ra8217965afba439f"/>
          <a:stretch xmlns:a="http://schemas.openxmlformats.org/drawingml/2006/main"/>
        </p:blipFill>
        <p:spPr>
          <a:xfrm xmlns:a="http://schemas.openxmlformats.org/drawingml/2006/main">
            <a:off x="509073" y="1057275"/>
            <a:ext cx="11173854" cy="4619625"/>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14DA2428-1F46-4F4A-A1EC-43A919C27FBB}"/>
              </a:ext>
            </a:extLst>
          </p:cNvPr>
          <p:cNvSpPr>
            <a:spLocks xmlns:a="http://schemas.openxmlformats.org/drawingml/2006/main" noGrp="1"/>
          </p:cNvSpPr>
          <p:nvPr/>
        </p:nvSpPr>
        <p:spPr>
          <a:xfrm xmlns:a="http://schemas.openxmlformats.org/drawingml/2006/main">
            <a:off x="0" y="5810250"/>
            <a:ext cx="12191695" cy="5905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5FAFDF15-D588-470E-A95F-10B0EABE4DC2}"/>
              </a:ext>
            </a:extLst>
          </p:cNvPr>
          <p:cNvSpPr>
            <a:spLocks xmlns:a="http://schemas.openxmlformats.org/drawingml/2006/main" noGrp="1"/>
          </p:cNvSpPr>
          <p:nvPr/>
        </p:nvSpPr>
        <p:spPr>
          <a:xfrm xmlns:a="http://schemas.openxmlformats.org/drawingml/2006/main">
            <a:off x="552450" y="5886450"/>
            <a:ext cx="11049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The illustration uses machinery records. The same row, column and index structure applies to our building-energy table.</a:t>
            </a:r>
          </a:p>
        </p:txBody>
      </p:sp>
      <p:sp>
        <p:nvSpPr>
          <p:cNvPr id="6" name="">
            <a:extLst xmlns:a="http://schemas.openxmlformats.org/drawingml/2006/main">
              <a:ext uri="{FF2B5EF4-FFF2-40B4-BE49-F238E27FC236}">
                <a16:creationId xmlns:a16="http://schemas.microsoft.com/office/drawing/2014/main" id="{1D957AFC-3865-4C76-A111-64CFA335BC7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5   9</a:t>
            </a:r>
          </a:p>
        </p:txBody>
      </p:sp>
    </p:spTree>
    <p:extLst>
      <p:ext uri="{BB962C8B-B14F-4D97-AF65-F5344CB8AC3E}">
        <p14:creationId xmlns:p14="http://schemas.microsoft.com/office/powerpoint/2010/main" val="726449595"/>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4B2FAC6C-527F-40A7-8FBD-60BEB235114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7979EBDB-7844-4DF0-BE00-4B6C5C98F40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6616A5B2-C907-4A38-A503-C87EB6D31E6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Series and Method and attribute</a:t>
            </a:r>
          </a:p>
        </p:txBody>
      </p:sp>
      <p:sp>
        <p:nvSpPr>
          <p:cNvPr id="4" name="">
            <a:extLst xmlns:a="http://schemas.openxmlformats.org/drawingml/2006/main">
              <a:ext uri="{FF2B5EF4-FFF2-40B4-BE49-F238E27FC236}">
                <a16:creationId xmlns:a16="http://schemas.microsoft.com/office/drawing/2014/main" id="{A11E7D33-4312-4679-9833-5A2B43ADDD4B}"/>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0010E947-5E47-43D5-842D-8C446CC6F002}"/>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Series</a:t>
            </a:r>
          </a:p>
        </p:txBody>
      </p:sp>
      <p:sp>
        <p:nvSpPr>
          <p:cNvPr id="6" name="">
            <a:extLst xmlns:a="http://schemas.openxmlformats.org/drawingml/2006/main">
              <a:ext uri="{FF2B5EF4-FFF2-40B4-BE49-F238E27FC236}">
                <a16:creationId xmlns:a16="http://schemas.microsoft.com/office/drawing/2014/main" id="{F1332BAD-5530-4858-9518-BB7EFC94C674}"/>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One labelled column. df["kwh"] selects the column named kwh.</a:t>
            </a:r>
          </a:p>
        </p:txBody>
      </p:sp>
      <p:sp>
        <p:nvSpPr>
          <p:cNvPr id="7" name="">
            <a:extLst xmlns:a="http://schemas.openxmlformats.org/drawingml/2006/main">
              <a:ext uri="{FF2B5EF4-FFF2-40B4-BE49-F238E27FC236}">
                <a16:creationId xmlns:a16="http://schemas.microsoft.com/office/drawing/2014/main" id="{ED7488F2-FFE7-4248-8F2C-D0960A309BD0}"/>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CE1E2926-E336-462D-A10A-3C1FB3BB2711}"/>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Method and attribute</a:t>
            </a:r>
          </a:p>
        </p:txBody>
      </p:sp>
      <p:sp>
        <p:nvSpPr>
          <p:cNvPr id="9" name="">
            <a:extLst xmlns:a="http://schemas.openxmlformats.org/drawingml/2006/main">
              <a:ext uri="{FF2B5EF4-FFF2-40B4-BE49-F238E27FC236}">
                <a16:creationId xmlns:a16="http://schemas.microsoft.com/office/drawing/2014/main" id="{03259AF9-1B43-4063-AD5A-FB194F483AED}"/>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A method performs an operation, as in df.head(). An attribute provides a stored property, as in df.shape. Parentheses call an operation.</a:t>
            </a:r>
          </a:p>
        </p:txBody>
      </p:sp>
      <p:sp>
        <p:nvSpPr>
          <p:cNvPr id="10" name="">
            <a:extLst xmlns:a="http://schemas.openxmlformats.org/drawingml/2006/main">
              <a:ext uri="{FF2B5EF4-FFF2-40B4-BE49-F238E27FC236}">
                <a16:creationId xmlns:a16="http://schemas.microsoft.com/office/drawing/2014/main" id="{E24CD91B-9242-4A22-9E65-CAE80AA8755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5   10</a:t>
            </a:r>
          </a:p>
        </p:txBody>
      </p:sp>
    </p:spTree>
    <p:extLst>
      <p:ext uri="{BB962C8B-B14F-4D97-AF65-F5344CB8AC3E}">
        <p14:creationId xmlns:p14="http://schemas.microsoft.com/office/powerpoint/2010/main" val="1015192835"/>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E8541B22-D887-40F4-B4D5-C6624821019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D1109EC1-3603-4DC8-8E85-5575FEE26C7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191125EF-3A9F-483D-A16C-292FA304531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Reading pandas syntax</a:t>
            </a:r>
          </a:p>
        </p:txBody>
      </p:sp>
      <p:sp>
        <p:nvSpPr>
          <p:cNvPr id="4" name="">
            <a:extLst xmlns:a="http://schemas.openxmlformats.org/drawingml/2006/main">
              <a:ext uri="{FF2B5EF4-FFF2-40B4-BE49-F238E27FC236}">
                <a16:creationId xmlns:a16="http://schemas.microsoft.com/office/drawing/2014/main" id="{6A298D69-8A27-4C37-84A4-41CE37ECD0EA}"/>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9B36E085-BB34-4AAB-95BB-A9169511E976}"/>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import pandas as pd loads the library and gives it a short name.</a:t>
            </a:r>
          </a:p>
        </p:txBody>
      </p:sp>
      <p:sp>
        <p:nvSpPr>
          <p:cNvPr id="6" name="">
            <a:extLst xmlns:a="http://schemas.openxmlformats.org/drawingml/2006/main">
              <a:ext uri="{FF2B5EF4-FFF2-40B4-BE49-F238E27FC236}">
                <a16:creationId xmlns:a16="http://schemas.microsoft.com/office/drawing/2014/main" id="{64F4CA60-70F0-49C6-9982-540603D78FA0}"/>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6709BFEC-29D0-47A1-9068-05E03D7E794F}"/>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pd.read_csv("file.csv") calls a function. The quoted text is the file path.</a:t>
            </a:r>
          </a:p>
        </p:txBody>
      </p:sp>
      <p:sp>
        <p:nvSpPr>
          <p:cNvPr id="8" name="">
            <a:extLst xmlns:a="http://schemas.openxmlformats.org/drawingml/2006/main">
              <a:ext uri="{FF2B5EF4-FFF2-40B4-BE49-F238E27FC236}">
                <a16:creationId xmlns:a16="http://schemas.microsoft.com/office/drawing/2014/main" id="{BCC49259-61C8-499D-B651-C6E551D56DC3}"/>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9F2353F9-021E-4CC8-917E-213014AF0C97}"/>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df["kwh"] selects a column. df["kwh"].mean() calls a method on that column.</a:t>
            </a:r>
          </a:p>
        </p:txBody>
      </p:sp>
      <p:sp>
        <p:nvSpPr>
          <p:cNvPr id="10" name="">
            <a:extLst xmlns:a="http://schemas.openxmlformats.org/drawingml/2006/main">
              <a:ext uri="{FF2B5EF4-FFF2-40B4-BE49-F238E27FC236}">
                <a16:creationId xmlns:a16="http://schemas.microsoft.com/office/drawing/2014/main" id="{CB935060-AF5A-43FA-B7FC-DFF7EA02FCD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5   11</a:t>
            </a:r>
          </a:p>
        </p:txBody>
      </p:sp>
    </p:spTree>
    <p:extLst>
      <p:ext uri="{BB962C8B-B14F-4D97-AF65-F5344CB8AC3E}">
        <p14:creationId xmlns:p14="http://schemas.microsoft.com/office/powerpoint/2010/main" val="1348310158"/>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45C262D4-8310-4729-817C-71D23B642E5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EF8A6B71-EA81-4711-8C0C-97D651A0EE6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FA460D99-FF0A-4093-9EFC-D3CF2F57A09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Read the table constructor in stages</a:t>
            </a:r>
          </a:p>
        </p:txBody>
      </p:sp>
      <p:sp>
        <p:nvSpPr>
          <p:cNvPr id="4" name="">
            <a:extLst xmlns:a="http://schemas.openxmlformats.org/drawingml/2006/main">
              <a:ext uri="{FF2B5EF4-FFF2-40B4-BE49-F238E27FC236}">
                <a16:creationId xmlns:a16="http://schemas.microsoft.com/office/drawing/2014/main" id="{AEDC6085-0F0E-4BF6-BA8F-3EBC5E94FC24}"/>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3AC1F3FF-A5B2-42BF-A8D4-B1870670BCCF}"/>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import pandas as pd loads pandas and gives it the shorter name pd. This is an alias; you could use another name consistently.</a:t>
            </a:r>
          </a:p>
        </p:txBody>
      </p:sp>
      <p:sp>
        <p:nvSpPr>
          <p:cNvPr id="6" name="">
            <a:extLst xmlns:a="http://schemas.openxmlformats.org/drawingml/2006/main">
              <a:ext uri="{FF2B5EF4-FFF2-40B4-BE49-F238E27FC236}">
                <a16:creationId xmlns:a16="http://schemas.microsoft.com/office/drawing/2014/main" id="{2B603AA4-4195-491F-9F24-F2CF2E9485BE}"/>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B43F3CEE-0A30-40D4-804F-9F458DA75CA6}"/>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Inside pd.DataFrame(...), the dictionary keys become column names. Each list supplies that column’s values in row order.</a:t>
            </a:r>
          </a:p>
        </p:txBody>
      </p:sp>
      <p:sp>
        <p:nvSpPr>
          <p:cNvPr id="8" name="">
            <a:extLst xmlns:a="http://schemas.openxmlformats.org/drawingml/2006/main">
              <a:ext uri="{FF2B5EF4-FFF2-40B4-BE49-F238E27FC236}">
                <a16:creationId xmlns:a16="http://schemas.microsoft.com/office/drawing/2014/main" id="{4305CE88-1723-4066-931B-6592C1D3AC70}"/>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8AA203BD-CD23-4042-9138-5CE1B024D5C7}"/>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All these column lists have the same length. At position 0, building is "A" and kwh is 2; together they form the first row.</a:t>
            </a:r>
          </a:p>
        </p:txBody>
      </p:sp>
      <p:sp>
        <p:nvSpPr>
          <p:cNvPr id="10" name="">
            <a:extLst xmlns:a="http://schemas.openxmlformats.org/drawingml/2006/main">
              <a:ext uri="{FF2B5EF4-FFF2-40B4-BE49-F238E27FC236}">
                <a16:creationId xmlns:a16="http://schemas.microsoft.com/office/drawing/2014/main" id="{76B5EF09-9E0C-4169-BF3A-C185181C639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5   12</a:t>
            </a:r>
          </a:p>
        </p:txBody>
      </p:sp>
    </p:spTree>
    <p:extLst>
      <p:ext uri="{BB962C8B-B14F-4D97-AF65-F5344CB8AC3E}">
        <p14:creationId xmlns:p14="http://schemas.microsoft.com/office/powerpoint/2010/main" val="1849829892"/>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A029ED15-3F14-4EFF-BC56-9210FFB3B3B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090CE1CE-617F-4602-82FD-7C8E4A3D571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DBD6CD13-FF9C-4C13-BD73-2CBB2B4F2CD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Build the table before asking questions</a:t>
            </a:r>
          </a:p>
        </p:txBody>
      </p:sp>
      <p:sp>
        <p:nvSpPr>
          <p:cNvPr id="4" name="">
            <a:extLst xmlns:a="http://schemas.openxmlformats.org/drawingml/2006/main">
              <a:ext uri="{FF2B5EF4-FFF2-40B4-BE49-F238E27FC236}">
                <a16:creationId xmlns:a16="http://schemas.microsoft.com/office/drawing/2014/main" id="{BCD22FA2-7B97-4DC0-9237-FD54A1CF623B}"/>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116FC347-E6FA-4740-BA76-35AA19E42947}"/>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import</a:t>
            </a:r>
            <a:r>
              <a:rPr sz="2175" b="0">
                <a:solidFill>
                  <a:srgbClr val="F4F7FA"/>
                </a:solidFill>
                <a:latin typeface="Courier New"/>
                <a:ea typeface="Courier New"/>
                <a:cs typeface="Courier New"/>
              </a:rPr>
              <a:t> pandas as pd</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df = pd.DataFrame({"building": ["A", "A", "B", "B"],</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"kwh": [2, 4, 5, 7]})</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print(df)</a:t>
            </a:r>
          </a:p>
        </p:txBody>
      </p:sp>
      <p:sp>
        <p:nvSpPr>
          <p:cNvPr id="6" name="">
            <a:extLst xmlns:a="http://schemas.openxmlformats.org/drawingml/2006/main">
              <a:ext uri="{FF2B5EF4-FFF2-40B4-BE49-F238E27FC236}">
                <a16:creationId xmlns:a16="http://schemas.microsoft.com/office/drawing/2014/main" id="{601C53CC-993D-4745-B2B3-DD509C4A6FC6}"/>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import loads a library. from selects a tool from it.</a:t>
            </a:r>
          </a:p>
        </p:txBody>
      </p:sp>
      <p:sp>
        <p:nvSpPr>
          <p:cNvPr id="7" name="">
            <a:extLst xmlns:a="http://schemas.openxmlformats.org/drawingml/2006/main">
              <a:ext uri="{FF2B5EF4-FFF2-40B4-BE49-F238E27FC236}">
                <a16:creationId xmlns:a16="http://schemas.microsoft.com/office/drawing/2014/main" id="{D30DCB8A-7C8D-4D30-816D-9CFF8C74ADAD}"/>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Each dictionary key becomes a column name. Equal-length lists supply its rows.</a:t>
            </a:r>
          </a:p>
        </p:txBody>
      </p:sp>
      <p:sp>
        <p:nvSpPr>
          <p:cNvPr id="8" name="">
            <a:extLst xmlns:a="http://schemas.openxmlformats.org/drawingml/2006/main">
              <a:ext uri="{FF2B5EF4-FFF2-40B4-BE49-F238E27FC236}">
                <a16:creationId xmlns:a16="http://schemas.microsoft.com/office/drawing/2014/main" id="{D33611FF-2BF6-40D6-A927-133E8BDA592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5   13</a:t>
            </a:r>
          </a:p>
        </p:txBody>
      </p:sp>
    </p:spTree>
    <p:extLst>
      <p:ext uri="{BB962C8B-B14F-4D97-AF65-F5344CB8AC3E}">
        <p14:creationId xmlns:p14="http://schemas.microsoft.com/office/powerpoint/2010/main" val="209463652"/>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E40DED13-F86B-4DD0-AABD-41600A88EA3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82C0ADC8-292F-41CF-9ACB-A2D2C0474FD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DBB96A4C-EDC2-4160-A90C-6BDFE923CF9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Select first then summarise</a:t>
            </a:r>
          </a:p>
        </p:txBody>
      </p:sp>
      <p:sp>
        <p:nvSpPr>
          <p:cNvPr id="4" name="">
            <a:extLst xmlns:a="http://schemas.openxmlformats.org/drawingml/2006/main">
              <a:ext uri="{FF2B5EF4-FFF2-40B4-BE49-F238E27FC236}">
                <a16:creationId xmlns:a16="http://schemas.microsoft.com/office/drawing/2014/main" id="{C1C91462-0E93-4913-9C75-A416EE533471}"/>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62E8731E-9418-43C3-9E84-61AAC05D18D3}"/>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df["kwh"] selects the energy column as a Series, which is a labelled sequence of values. Its entries are 2, 4, 5 and 7.</a:t>
            </a:r>
          </a:p>
        </p:txBody>
      </p:sp>
      <p:sp>
        <p:nvSpPr>
          <p:cNvPr id="6" name="">
            <a:extLst xmlns:a="http://schemas.openxmlformats.org/drawingml/2006/main">
              <a:ext uri="{FF2B5EF4-FFF2-40B4-BE49-F238E27FC236}">
                <a16:creationId xmlns:a16="http://schemas.microsoft.com/office/drawing/2014/main" id="{F4B76543-3FFD-4847-B514-715FEC145D15}"/>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1DDEE19F-1D20-46C1-9581-F46D3E9AACBE}"/>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Store it as energy = df["kwh"]. energy.mean() adds those four values and divides by four: 18 / 4 = 4.5.</a:t>
            </a:r>
          </a:p>
        </p:txBody>
      </p:sp>
      <p:sp>
        <p:nvSpPr>
          <p:cNvPr id="8" name="">
            <a:extLst xmlns:a="http://schemas.openxmlformats.org/drawingml/2006/main">
              <a:ext uri="{FF2B5EF4-FFF2-40B4-BE49-F238E27FC236}">
                <a16:creationId xmlns:a16="http://schemas.microsoft.com/office/drawing/2014/main" id="{325CC8E5-3D40-41A1-9F41-BBE4F6856149}"/>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8227FFD2-83BC-4A28-98E5-11395AF2B02B}"/>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df["kwh"].mean() combines those same two steps. A dot chooses a method; parentheses call it.</a:t>
            </a:r>
          </a:p>
        </p:txBody>
      </p:sp>
      <p:sp>
        <p:nvSpPr>
          <p:cNvPr id="10" name="">
            <a:extLst xmlns:a="http://schemas.openxmlformats.org/drawingml/2006/main">
              <a:ext uri="{FF2B5EF4-FFF2-40B4-BE49-F238E27FC236}">
                <a16:creationId xmlns:a16="http://schemas.microsoft.com/office/drawing/2014/main" id="{D5BF3DDD-2B8D-44A4-AED2-EEA61030D05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5   14</a:t>
            </a:r>
          </a:p>
        </p:txBody>
      </p:sp>
    </p:spTree>
    <p:extLst>
      <p:ext uri="{BB962C8B-B14F-4D97-AF65-F5344CB8AC3E}">
        <p14:creationId xmlns:p14="http://schemas.microsoft.com/office/powerpoint/2010/main" val="1904825638"/>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327128E6-1958-48BD-B033-D60CA5C3F3F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268ACFD4-2041-4A6A-A124-F10DA21444B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2D09F037-9D70-4BC0-8ABB-64D997C6902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Select a column and calculate its mean</a:t>
            </a:r>
          </a:p>
        </p:txBody>
      </p:sp>
      <p:sp>
        <p:nvSpPr>
          <p:cNvPr id="4" name="">
            <a:extLst xmlns:a="http://schemas.openxmlformats.org/drawingml/2006/main">
              <a:ext uri="{FF2B5EF4-FFF2-40B4-BE49-F238E27FC236}">
                <a16:creationId xmlns:a16="http://schemas.microsoft.com/office/drawing/2014/main" id="{349D9C67-8B5E-4E35-B025-485098A23577}"/>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CF9CC956-4FAD-487A-A8FE-7A059E2C9D26}"/>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print(df["kwh"])</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print(df["kwh"].mean())</a:t>
            </a:r>
          </a:p>
        </p:txBody>
      </p:sp>
      <p:sp>
        <p:nvSpPr>
          <p:cNvPr id="6" name="">
            <a:extLst xmlns:a="http://schemas.openxmlformats.org/drawingml/2006/main">
              <a:ext uri="{FF2B5EF4-FFF2-40B4-BE49-F238E27FC236}">
                <a16:creationId xmlns:a16="http://schemas.microsoft.com/office/drawing/2014/main" id="{9F829EE2-4F0E-4A88-A9DE-FB66B4B77E2F}"/>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EF4229F4-33A8-4EB3-A46D-AE64BBDFFBC6}"/>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print displays a value below the cell.</a:t>
            </a:r>
          </a:p>
        </p:txBody>
      </p:sp>
      <p:sp>
        <p:nvSpPr>
          <p:cNvPr id="8" name="">
            <a:extLst xmlns:a="http://schemas.openxmlformats.org/drawingml/2006/main">
              <a:ext uri="{FF2B5EF4-FFF2-40B4-BE49-F238E27FC236}">
                <a16:creationId xmlns:a16="http://schemas.microsoft.com/office/drawing/2014/main" id="{F2A6B900-4719-4F04-9090-C6B022B855D8}"/>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Square brackets create a list or select an item.</a:t>
            </a:r>
          </a:p>
        </p:txBody>
      </p:sp>
      <p:sp>
        <p:nvSpPr>
          <p:cNvPr id="9" name="">
            <a:extLst xmlns:a="http://schemas.openxmlformats.org/drawingml/2006/main">
              <a:ext uri="{FF2B5EF4-FFF2-40B4-BE49-F238E27FC236}">
                <a16:creationId xmlns:a16="http://schemas.microsoft.com/office/drawing/2014/main" id="{AB0C8B36-49C9-4259-A9CD-2E5AADA59F07}"/>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The four numbers are 2, 4, 5 and 7. Their mean is 18 / 4 = 4.5 kWh.</a:t>
            </a:r>
          </a:p>
        </p:txBody>
      </p:sp>
      <p:sp>
        <p:nvSpPr>
          <p:cNvPr id="10" name="">
            <a:extLst xmlns:a="http://schemas.openxmlformats.org/drawingml/2006/main">
              <a:ext uri="{FF2B5EF4-FFF2-40B4-BE49-F238E27FC236}">
                <a16:creationId xmlns:a16="http://schemas.microsoft.com/office/drawing/2014/main" id="{2FB5FA07-442C-48F1-B108-96769067F43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5   15</a:t>
            </a:r>
          </a:p>
        </p:txBody>
      </p:sp>
    </p:spTree>
    <p:extLst>
      <p:ext uri="{BB962C8B-B14F-4D97-AF65-F5344CB8AC3E}">
        <p14:creationId xmlns:p14="http://schemas.microsoft.com/office/powerpoint/2010/main" val="6958843"/>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01866D49-7BE6-43FB-9CDE-5EB69FEF82C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85ECBB33-45F3-46D8-85BC-1F7F834F77C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6CCABE0B-EAB7-4F33-84EF-A614146114E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Mask and filter</a:t>
            </a:r>
          </a:p>
        </p:txBody>
      </p:sp>
      <p:sp>
        <p:nvSpPr>
          <p:cNvPr id="4" name="">
            <a:extLst xmlns:a="http://schemas.openxmlformats.org/drawingml/2006/main">
              <a:ext uri="{FF2B5EF4-FFF2-40B4-BE49-F238E27FC236}">
                <a16:creationId xmlns:a16="http://schemas.microsoft.com/office/drawing/2014/main" id="{05F2D67D-CE45-43C1-A561-79D87A7BF686}"/>
              </a:ext>
            </a:extLst>
          </p:cNvPr>
          <p:cNvSpPr>
            <a:spLocks xmlns:a="http://schemas.openxmlformats.org/drawingml/2006/main" noGrp="1"/>
          </p:cNvSpPr>
          <p:nvPr/>
        </p:nvSpPr>
        <p:spPr>
          <a:xfrm xmlns:a="http://schemas.openxmlformats.org/drawingml/2006/main">
            <a:off x="590550" y="1714500"/>
            <a:ext cx="110109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C1F088B2-1B65-49B1-8B5B-A5CB43E4C11E}"/>
              </a:ext>
            </a:extLst>
          </p:cNvPr>
          <p:cNvSpPr>
            <a:spLocks xmlns:a="http://schemas.openxmlformats.org/drawingml/2006/main" noGrp="1"/>
          </p:cNvSpPr>
          <p:nvPr/>
        </p:nvSpPr>
        <p:spPr>
          <a:xfrm xmlns:a="http://schemas.openxmlformats.org/drawingml/2006/main">
            <a:off x="828675" y="1952625"/>
            <a:ext cx="104394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E4572E"/>
                </a:solidFill>
                <a:latin typeface="Calibri"/>
                <a:ea typeface="Calibri"/>
                <a:cs typeface="Calibri"/>
              </a:defRPr>
            </a:pPr>
            <a:r>
              <a:rPr sz="3150" b="1">
                <a:solidFill>
                  <a:srgbClr val="E4572E"/>
                </a:solidFill>
                <a:latin typeface="Calibri"/>
                <a:ea typeface="Calibri"/>
                <a:cs typeface="Calibri"/>
              </a:rPr>
              <a:t>Mask and filter</a:t>
            </a:r>
          </a:p>
        </p:txBody>
      </p:sp>
      <p:sp>
        <p:nvSpPr>
          <p:cNvPr id="6" name="">
            <a:extLst xmlns:a="http://schemas.openxmlformats.org/drawingml/2006/main">
              <a:ext uri="{FF2B5EF4-FFF2-40B4-BE49-F238E27FC236}">
                <a16:creationId xmlns:a16="http://schemas.microsoft.com/office/drawing/2014/main" id="{8A329F0A-40FF-40C7-98AF-9D9AC2C533DE}"/>
              </a:ext>
            </a:extLst>
          </p:cNvPr>
          <p:cNvSpPr>
            <a:spLocks xmlns:a="http://schemas.openxmlformats.org/drawingml/2006/main" noGrp="1"/>
          </p:cNvSpPr>
          <p:nvPr/>
        </p:nvSpPr>
        <p:spPr>
          <a:xfrm xmlns:a="http://schemas.openxmlformats.org/drawingml/2006/main">
            <a:off x="828675" y="3067050"/>
            <a:ext cx="10439400"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0">
                <a:solidFill>
                  <a:srgbClr val="1C3144"/>
                </a:solidFill>
                <a:latin typeface="Calibri"/>
                <a:ea typeface="Calibri"/>
                <a:cs typeface="Calibri"/>
              </a:defRPr>
            </a:pPr>
            <a:r>
              <a:rPr sz="2550" b="0">
                <a:solidFill>
                  <a:srgbClr val="1C3144"/>
                </a:solidFill>
                <a:latin typeface="Calibri"/>
                <a:ea typeface="Calibri"/>
                <a:cs typeface="Calibri"/>
              </a:rPr>
              <a:t>A comparison produces True/False for each row. df[mask] keeps the True rows.</a:t>
            </a:r>
          </a:p>
        </p:txBody>
      </p:sp>
      <p:sp>
        <p:nvSpPr>
          <p:cNvPr id="7" name="">
            <a:extLst xmlns:a="http://schemas.openxmlformats.org/drawingml/2006/main">
              <a:ext uri="{FF2B5EF4-FFF2-40B4-BE49-F238E27FC236}">
                <a16:creationId xmlns:a16="http://schemas.microsoft.com/office/drawing/2014/main" id="{BEA8342D-4DC8-49EB-B6B1-FF5E3EA00FE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5   16</a:t>
            </a:r>
          </a:p>
        </p:txBody>
      </p:sp>
    </p:spTree>
    <p:extLst>
      <p:ext uri="{BB962C8B-B14F-4D97-AF65-F5344CB8AC3E}">
        <p14:creationId xmlns:p14="http://schemas.microsoft.com/office/powerpoint/2010/main" val="933537420"/>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A1A0C266-9317-4E24-B100-5946FC23D2CA}"/>
              </a:ext>
            </a:extLst>
          </p:cNvPr>
          <p:cNvSpPr>
            <a:spLocks xmlns:a="http://schemas.openxmlformats.org/drawingml/2006/main" noGrp="1"/>
          </p:cNvSpPr>
          <p:nvPr/>
        </p:nvSpPr>
        <p:spPr>
          <a:xfrm xmlns:a="http://schemas.openxmlformats.org/drawingml/2006/main">
            <a:off x="0" y="0"/>
            <a:ext cx="12191695" cy="95250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5B390385-6204-46B4-A8FF-2CEEBB4140D2}"/>
              </a:ext>
            </a:extLst>
          </p:cNvPr>
          <p:cNvSpPr>
            <a:spLocks xmlns:a="http://schemas.openxmlformats.org/drawingml/2006/main" noGrp="1"/>
          </p:cNvSpPr>
          <p:nvPr/>
        </p:nvSpPr>
        <p:spPr>
          <a:xfrm xmlns:a="http://schemas.openxmlformats.org/drawingml/2006/main">
            <a:off x="476250" y="190500"/>
            <a:ext cx="11239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925" b="1">
                <a:solidFill>
                  <a:srgbClr val="FFFFFF"/>
                </a:solidFill>
                <a:latin typeface="Calibri"/>
                <a:ea typeface="Calibri"/>
                <a:cs typeface="Calibri"/>
              </a:defRPr>
            </a:pPr>
            <a:r>
              <a:rPr sz="2925" b="1">
                <a:solidFill>
                  <a:srgbClr val="FFFFFF"/>
                </a:solidFill>
                <a:latin typeface="Calibri"/>
                <a:ea typeface="Calibri"/>
                <a:cs typeface="Calibri"/>
              </a:rPr>
              <a:t>A comparison creates a Boolean mask</a:t>
            </a:r>
          </a:p>
        </p:txBody>
      </p:sp>
      <p:pic>
        <p:nvPicPr>
          <p:cNvPr id="9" name=""/>
          <p:cNvPicPr>
            <a:picLocks xmlns:a="http://schemas.openxmlformats.org/drawingml/2006/main" noChangeAspect="1"/>
          </p:cNvPicPr>
          <p:nvPr/>
        </p:nvPicPr>
        <p:blipFill>
          <a:blip xmlns:r="http://schemas.openxmlformats.org/officeDocument/2006/relationships" xmlns:a="http://schemas.openxmlformats.org/drawingml/2006/main" r:embed="R8fb49a0f817c487d"/>
          <a:stretch xmlns:a="http://schemas.openxmlformats.org/drawingml/2006/main"/>
        </p:blipFill>
        <p:spPr>
          <a:xfrm xmlns:a="http://schemas.openxmlformats.org/drawingml/2006/main">
            <a:off x="717043" y="1057275"/>
            <a:ext cx="10757915" cy="4619625"/>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D001D03E-28AE-4BE4-9058-F50F5299627C}"/>
              </a:ext>
            </a:extLst>
          </p:cNvPr>
          <p:cNvSpPr>
            <a:spLocks xmlns:a="http://schemas.openxmlformats.org/drawingml/2006/main" noGrp="1"/>
          </p:cNvSpPr>
          <p:nvPr/>
        </p:nvSpPr>
        <p:spPr>
          <a:xfrm xmlns:a="http://schemas.openxmlformats.org/drawingml/2006/main">
            <a:off x="0" y="5810250"/>
            <a:ext cx="12191695" cy="5905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B4518D1A-5410-432B-A5FB-AAB916E1EE9D}"/>
              </a:ext>
            </a:extLst>
          </p:cNvPr>
          <p:cNvSpPr>
            <a:spLocks xmlns:a="http://schemas.openxmlformats.org/drawingml/2006/main" noGrp="1"/>
          </p:cNvSpPr>
          <p:nvPr/>
        </p:nvSpPr>
        <p:spPr>
          <a:xfrm xmlns:a="http://schemas.openxmlformats.org/drawingml/2006/main">
            <a:off x="552450" y="5886450"/>
            <a:ext cx="11049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The illustration filters torque readings. Our next example applies the same True/False selection to kWh values.</a:t>
            </a:r>
          </a:p>
        </p:txBody>
      </p:sp>
      <p:sp>
        <p:nvSpPr>
          <p:cNvPr id="6" name="">
            <a:extLst xmlns:a="http://schemas.openxmlformats.org/drawingml/2006/main">
              <a:ext uri="{FF2B5EF4-FFF2-40B4-BE49-F238E27FC236}">
                <a16:creationId xmlns:a16="http://schemas.microsoft.com/office/drawing/2014/main" id="{53B9BF3F-EF93-4A76-9A8D-62680F29982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5   17</a:t>
            </a:r>
          </a:p>
        </p:txBody>
      </p:sp>
    </p:spTree>
    <p:extLst>
      <p:ext uri="{BB962C8B-B14F-4D97-AF65-F5344CB8AC3E}">
        <p14:creationId xmlns:p14="http://schemas.microsoft.com/office/powerpoint/2010/main" val="1277716983"/>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920E35E5-3872-4B52-82E6-49CF88C3024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C7CE0698-0C4D-4AC5-A086-416CE8D71A8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1C762D1A-050F-49FC-88BF-61B67CB6BCE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Keep rows where the comparison is true</a:t>
            </a:r>
          </a:p>
        </p:txBody>
      </p:sp>
      <p:sp>
        <p:nvSpPr>
          <p:cNvPr id="4" name="">
            <a:extLst xmlns:a="http://schemas.openxmlformats.org/drawingml/2006/main">
              <a:ext uri="{FF2B5EF4-FFF2-40B4-BE49-F238E27FC236}">
                <a16:creationId xmlns:a16="http://schemas.microsoft.com/office/drawing/2014/main" id="{8DD68F92-6462-45F0-8AA9-792201C378A4}"/>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21D0E8EA-9084-4F50-98B6-7CBC78694CD7}"/>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mask = df["kwh"] &gt; 4</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print(mask)</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print(df[mask])</a:t>
            </a:r>
          </a:p>
        </p:txBody>
      </p:sp>
      <p:sp>
        <p:nvSpPr>
          <p:cNvPr id="6" name="">
            <a:extLst xmlns:a="http://schemas.openxmlformats.org/drawingml/2006/main">
              <a:ext uri="{FF2B5EF4-FFF2-40B4-BE49-F238E27FC236}">
                <a16:creationId xmlns:a16="http://schemas.microsoft.com/office/drawing/2014/main" id="{BFB27B71-9FDC-462F-B157-0644AAADB5AC}"/>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60F85868-8A5C-4B18-BDD5-8B432A9A7DDA}"/>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print displays a value below the cell.</a:t>
            </a:r>
          </a:p>
        </p:txBody>
      </p:sp>
      <p:sp>
        <p:nvSpPr>
          <p:cNvPr id="8" name="">
            <a:extLst xmlns:a="http://schemas.openxmlformats.org/drawingml/2006/main">
              <a:ext uri="{FF2B5EF4-FFF2-40B4-BE49-F238E27FC236}">
                <a16:creationId xmlns:a16="http://schemas.microsoft.com/office/drawing/2014/main" id="{1A05D00D-2F3B-4FF3-A7E0-467504E95C80}"/>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Square brackets create a list or select an item.</a:t>
            </a:r>
          </a:p>
        </p:txBody>
      </p:sp>
      <p:sp>
        <p:nvSpPr>
          <p:cNvPr id="9" name="">
            <a:extLst xmlns:a="http://schemas.openxmlformats.org/drawingml/2006/main">
              <a:ext uri="{FF2B5EF4-FFF2-40B4-BE49-F238E27FC236}">
                <a16:creationId xmlns:a16="http://schemas.microsoft.com/office/drawing/2014/main" id="{21E17D8F-897B-489D-A113-8E16DC4DE86B}"/>
              </a:ext>
            </a:extLst>
          </p:cNvPr>
          <p:cNvSpPr>
            <a:spLocks xmlns:a="http://schemas.openxmlformats.org/drawingml/2006/main" noGrp="1"/>
          </p:cNvSpPr>
          <p:nvPr/>
        </p:nvSpPr>
        <p:spPr>
          <a:xfrm xmlns:a="http://schemas.openxmlformats.org/drawingml/2006/main">
            <a:off x="8096250" y="43434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 assigns the value on the right to the name on the left.</a:t>
            </a:r>
          </a:p>
        </p:txBody>
      </p:sp>
      <p:sp>
        <p:nvSpPr>
          <p:cNvPr id="10" name="">
            <a:extLst xmlns:a="http://schemas.openxmlformats.org/drawingml/2006/main">
              <a:ext uri="{FF2B5EF4-FFF2-40B4-BE49-F238E27FC236}">
                <a16:creationId xmlns:a16="http://schemas.microsoft.com/office/drawing/2014/main" id="{C5903C22-ABDC-4C20-98CD-090DA50F1F73}"/>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The mask is False, False, True, True. The selected rows contain 5 and 7 kWh.</a:t>
            </a:r>
          </a:p>
        </p:txBody>
      </p:sp>
      <p:sp>
        <p:nvSpPr>
          <p:cNvPr id="11" name="">
            <a:extLst xmlns:a="http://schemas.openxmlformats.org/drawingml/2006/main">
              <a:ext uri="{FF2B5EF4-FFF2-40B4-BE49-F238E27FC236}">
                <a16:creationId xmlns:a16="http://schemas.microsoft.com/office/drawing/2014/main" id="{81928F7E-F626-4996-AD6E-33E38339E62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5   18</a:t>
            </a:r>
          </a:p>
        </p:txBody>
      </p:sp>
    </p:spTree>
    <p:extLst>
      <p:ext uri="{BB962C8B-B14F-4D97-AF65-F5344CB8AC3E}">
        <p14:creationId xmlns:p14="http://schemas.microsoft.com/office/powerpoint/2010/main" val="270183383"/>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6866A04E-E310-4ECB-88EB-0177E0E9737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30BE8656-56A4-4FBB-B7A4-3A53900F71D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51F10D23-C000-4793-BC11-6D89244A884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groupby and aggregation</a:t>
            </a:r>
          </a:p>
        </p:txBody>
      </p:sp>
      <p:sp>
        <p:nvSpPr>
          <p:cNvPr id="4" name="">
            <a:extLst xmlns:a="http://schemas.openxmlformats.org/drawingml/2006/main">
              <a:ext uri="{FF2B5EF4-FFF2-40B4-BE49-F238E27FC236}">
                <a16:creationId xmlns:a16="http://schemas.microsoft.com/office/drawing/2014/main" id="{2D174D61-E377-407F-AB54-32ECA26BCCB9}"/>
              </a:ext>
            </a:extLst>
          </p:cNvPr>
          <p:cNvSpPr>
            <a:spLocks xmlns:a="http://schemas.openxmlformats.org/drawingml/2006/main" noGrp="1"/>
          </p:cNvSpPr>
          <p:nvPr/>
        </p:nvSpPr>
        <p:spPr>
          <a:xfrm xmlns:a="http://schemas.openxmlformats.org/drawingml/2006/main">
            <a:off x="590550" y="1714500"/>
            <a:ext cx="110109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7DC53754-2776-4558-B438-E3DC77551FAA}"/>
              </a:ext>
            </a:extLst>
          </p:cNvPr>
          <p:cNvSpPr>
            <a:spLocks xmlns:a="http://schemas.openxmlformats.org/drawingml/2006/main" noGrp="1"/>
          </p:cNvSpPr>
          <p:nvPr/>
        </p:nvSpPr>
        <p:spPr>
          <a:xfrm xmlns:a="http://schemas.openxmlformats.org/drawingml/2006/main">
            <a:off x="828675" y="1952625"/>
            <a:ext cx="104394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E4572E"/>
                </a:solidFill>
                <a:latin typeface="Calibri"/>
                <a:ea typeface="Calibri"/>
                <a:cs typeface="Calibri"/>
              </a:defRPr>
            </a:pPr>
            <a:r>
              <a:rPr sz="3150" b="1">
                <a:solidFill>
                  <a:srgbClr val="E4572E"/>
                </a:solidFill>
                <a:latin typeface="Calibri"/>
                <a:ea typeface="Calibri"/>
                <a:cs typeface="Calibri"/>
              </a:rPr>
              <a:t>groupby and aggregation</a:t>
            </a:r>
          </a:p>
        </p:txBody>
      </p:sp>
      <p:sp>
        <p:nvSpPr>
          <p:cNvPr id="6" name="">
            <a:extLst xmlns:a="http://schemas.openxmlformats.org/drawingml/2006/main">
              <a:ext uri="{FF2B5EF4-FFF2-40B4-BE49-F238E27FC236}">
                <a16:creationId xmlns:a16="http://schemas.microsoft.com/office/drawing/2014/main" id="{F4455FF0-CE3B-4FDA-BBB9-08047DC964D7}"/>
              </a:ext>
            </a:extLst>
          </p:cNvPr>
          <p:cNvSpPr>
            <a:spLocks xmlns:a="http://schemas.openxmlformats.org/drawingml/2006/main" noGrp="1"/>
          </p:cNvSpPr>
          <p:nvPr/>
        </p:nvSpPr>
        <p:spPr>
          <a:xfrm xmlns:a="http://schemas.openxmlformats.org/drawingml/2006/main">
            <a:off x="828675" y="3067050"/>
            <a:ext cx="10439400"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0">
                <a:solidFill>
                  <a:srgbClr val="1C3144"/>
                </a:solidFill>
                <a:latin typeface="Calibri"/>
                <a:ea typeface="Calibri"/>
                <a:cs typeface="Calibri"/>
              </a:defRPr>
            </a:pPr>
            <a:r>
              <a:rPr sz="2550" b="0">
                <a:solidFill>
                  <a:srgbClr val="1C3144"/>
                </a:solidFill>
                <a:latin typeface="Calibri"/>
                <a:ea typeface="Calibri"/>
                <a:cs typeface="Calibri"/>
              </a:rPr>
              <a:t>groupby collects rows with the same label. An aggregation such as sum or mean returns a summary for each group.</a:t>
            </a:r>
          </a:p>
        </p:txBody>
      </p:sp>
      <p:sp>
        <p:nvSpPr>
          <p:cNvPr id="7" name="">
            <a:extLst xmlns:a="http://schemas.openxmlformats.org/drawingml/2006/main">
              <a:ext uri="{FF2B5EF4-FFF2-40B4-BE49-F238E27FC236}">
                <a16:creationId xmlns:a16="http://schemas.microsoft.com/office/drawing/2014/main" id="{0E7FD8D3-2E67-46ED-8E38-342F21E7407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5   19</a:t>
            </a:r>
          </a:p>
        </p:txBody>
      </p:sp>
    </p:spTree>
    <p:extLst>
      <p:ext uri="{BB962C8B-B14F-4D97-AF65-F5344CB8AC3E}">
        <p14:creationId xmlns:p14="http://schemas.microsoft.com/office/powerpoint/2010/main" val="1146516784"/>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F9572AC6-D552-4D15-BC6E-9911A57CBD7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29D8BE80-D137-489C-941D-BA939CFBFA7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C49041C3-ED7B-48E7-B704-80B8DC5B631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Trace a group total before using groupby</a:t>
            </a:r>
          </a:p>
        </p:txBody>
      </p:sp>
      <p:graphicFrame>
        <p:nvGraphicFramePr>
          <p:cNvPr id="10" name=""/>
          <p:cNvGraphicFramePr/>
          <p:nvPr/>
        </p:nvGraphicFramePr>
        <p:xfrm>
          <a:off xmlns:a="http://schemas.openxmlformats.org/drawingml/2006/main" x="590550" y="1733550"/>
          <a:ext xmlns:a="http://schemas.openxmlformats.org/drawingml/2006/main" cx="11010900" cy="2286000"/>
        </p:xfrm>
        <a:graphic xmlns:a="http://schemas.openxmlformats.org/drawingml/2006/main">
          <a:graphicData uri="http://schemas.openxmlformats.org/drawingml/2006/table">
            <a:tbl>
              <a:tblPr/>
              <a:tblGrid>
                <a:gridCol w="3670300"/>
                <a:gridCol w="3670300"/>
                <a:gridCol w="3670300"/>
              </a:tblGrid>
              <a:tr h="762000">
                <a:tc>
                  <a:txBody>
                    <a:bodyPr/>
                    <a:lstStyle/>
                    <a:p>
                      <a:r>
                        <a:rPr sz="2025" b="1">
                          <a:solidFill>
                            <a:srgbClr val="FFFFFF"/>
                          </a:solidFill>
                          <a:latin typeface="Calibri"/>
                          <a:ea typeface="Calibri"/>
                          <a:cs typeface="Calibri"/>
                        </a:rPr>
                        <a:t>Group</a:t>
                      </a:r>
                    </a:p>
                  </a:txBody>
                  <a:tcPr marL="91440" marR="91440" marT="45720" marB="45720">
                    <a:solidFill>
                      <a:srgbClr val="2E7D6F"/>
                    </a:solidFill>
                  </a:tcPr>
                </a:tc>
                <a:tc>
                  <a:txBody>
                    <a:bodyPr/>
                    <a:lstStyle/>
                    <a:p>
                      <a:r>
                        <a:rPr sz="2025" b="1">
                          <a:solidFill>
                            <a:srgbClr val="FFFFFF"/>
                          </a:solidFill>
                          <a:latin typeface="Calibri"/>
                          <a:ea typeface="Calibri"/>
                          <a:cs typeface="Calibri"/>
                        </a:rPr>
                        <a:t>Values assigned to it</a:t>
                      </a:r>
                    </a:p>
                  </a:txBody>
                  <a:tcPr marL="91440" marR="91440" marT="45720" marB="45720">
                    <a:solidFill>
                      <a:srgbClr val="2E7D6F"/>
                    </a:solidFill>
                  </a:tcPr>
                </a:tc>
                <a:tc>
                  <a:txBody>
                    <a:bodyPr/>
                    <a:lstStyle/>
                    <a:p>
                      <a:r>
                        <a:rPr sz="2025" b="1">
                          <a:solidFill>
                            <a:srgbClr val="FFFFFF"/>
                          </a:solidFill>
                          <a:latin typeface="Calibri"/>
                          <a:ea typeface="Calibri"/>
                          <a:cs typeface="Calibri"/>
                        </a:rPr>
                        <a:t>Total</a:t>
                      </a:r>
                    </a:p>
                  </a:txBody>
                  <a:tcPr marL="91440" marR="91440" marT="45720" marB="45720">
                    <a:solidFill>
                      <a:srgbClr val="2E7D6F"/>
                    </a:solidFill>
                  </a:tcPr>
                </a:tc>
              </a:tr>
              <a:tr h="762000">
                <a:tc>
                  <a:txBody>
                    <a:bodyPr/>
                    <a:lstStyle/>
                    <a:p>
                      <a:r>
                        <a:rPr sz="2025" b="0">
                          <a:solidFill>
                            <a:srgbClr val="1C3144"/>
                          </a:solidFill>
                          <a:latin typeface="Calibri"/>
                          <a:ea typeface="Calibri"/>
                          <a:cs typeface="Calibri"/>
                        </a:rPr>
                        <a:t>A</a:t>
                      </a:r>
                    </a:p>
                  </a:txBody>
                  <a:tcPr marL="91440" marR="91440" marT="45720" marB="45720">
                    <a:solidFill>
                      <a:srgbClr val="EEF3F6"/>
                    </a:solidFill>
                  </a:tcPr>
                </a:tc>
                <a:tc>
                  <a:txBody>
                    <a:bodyPr/>
                    <a:lstStyle/>
                    <a:p>
                      <a:r>
                        <a:rPr sz="2025" b="0">
                          <a:solidFill>
                            <a:srgbClr val="1C3144"/>
                          </a:solidFill>
                          <a:latin typeface="Calibri"/>
                          <a:ea typeface="Calibri"/>
                          <a:cs typeface="Calibri"/>
                        </a:rPr>
                        <a:t>2 and 4</a:t>
                      </a:r>
                    </a:p>
                  </a:txBody>
                  <a:tcPr marL="91440" marR="91440" marT="45720" marB="45720">
                    <a:solidFill>
                      <a:srgbClr val="EEF3F6"/>
                    </a:solidFill>
                  </a:tcPr>
                </a:tc>
                <a:tc>
                  <a:txBody>
                    <a:bodyPr/>
                    <a:lstStyle/>
                    <a:p>
                      <a:r>
                        <a:rPr sz="2025" b="0">
                          <a:solidFill>
                            <a:srgbClr val="1C3144"/>
                          </a:solidFill>
                          <a:latin typeface="Calibri"/>
                          <a:ea typeface="Calibri"/>
                          <a:cs typeface="Calibri"/>
                        </a:rPr>
                        <a:t>6</a:t>
                      </a:r>
                    </a:p>
                  </a:txBody>
                  <a:tcPr marL="91440" marR="91440" marT="45720" marB="45720">
                    <a:solidFill>
                      <a:srgbClr val="EEF3F6"/>
                    </a:solidFill>
                  </a:tcPr>
                </a:tc>
              </a:tr>
              <a:tr h="762000">
                <a:tc>
                  <a:txBody>
                    <a:bodyPr/>
                    <a:lstStyle/>
                    <a:p>
                      <a:r>
                        <a:rPr sz="2025" b="0">
                          <a:solidFill>
                            <a:srgbClr val="1C3144"/>
                          </a:solidFill>
                          <a:latin typeface="Calibri"/>
                          <a:ea typeface="Calibri"/>
                          <a:cs typeface="Calibri"/>
                        </a:rPr>
                        <a:t>B</a:t>
                      </a:r>
                    </a:p>
                  </a:txBody>
                  <a:tcPr marL="91440" marR="91440" marT="45720" marB="45720">
                    <a:solidFill>
                      <a:srgbClr val="FFFFFF"/>
                    </a:solidFill>
                  </a:tcPr>
                </a:tc>
                <a:tc>
                  <a:txBody>
                    <a:bodyPr/>
                    <a:lstStyle/>
                    <a:p>
                      <a:r>
                        <a:rPr sz="2025" b="0">
                          <a:solidFill>
                            <a:srgbClr val="1C3144"/>
                          </a:solidFill>
                          <a:latin typeface="Calibri"/>
                          <a:ea typeface="Calibri"/>
                          <a:cs typeface="Calibri"/>
                        </a:rPr>
                        <a:t>5 and 7</a:t>
                      </a:r>
                    </a:p>
                  </a:txBody>
                  <a:tcPr marL="91440" marR="91440" marT="45720" marB="45720">
                    <a:solidFill>
                      <a:srgbClr val="FFFFFF"/>
                    </a:solidFill>
                  </a:tcPr>
                </a:tc>
                <a:tc>
                  <a:txBody>
                    <a:bodyPr/>
                    <a:lstStyle/>
                    <a:p>
                      <a:r>
                        <a:rPr sz="2025" b="0">
                          <a:solidFill>
                            <a:srgbClr val="1C3144"/>
                          </a:solidFill>
                          <a:latin typeface="Calibri"/>
                          <a:ea typeface="Calibri"/>
                          <a:cs typeface="Calibri"/>
                        </a:rPr>
                        <a:t>12</a:t>
                      </a:r>
                    </a:p>
                  </a:txBody>
                  <a:tcPr marL="91440" marR="91440" marT="45720" marB="45720">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F3A259D6-61E1-41AE-B0AB-28E0B15051E8}"/>
              </a:ext>
            </a:extLst>
          </p:cNvPr>
          <p:cNvSpPr>
            <a:spLocks xmlns:a="http://schemas.openxmlformats.org/drawingml/2006/main" noGrp="1"/>
          </p:cNvSpPr>
          <p:nvPr/>
        </p:nvSpPr>
        <p:spPr>
          <a:xfrm xmlns:a="http://schemas.openxmlformats.org/drawingml/2006/main">
            <a:off x="685800" y="433387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groupby separates rows by the building label. sum adds the kWh values inside each group.</a:t>
            </a:r>
          </a:p>
        </p:txBody>
      </p:sp>
      <p:sp>
        <p:nvSpPr>
          <p:cNvPr id="6" name="">
            <a:extLst xmlns:a="http://schemas.openxmlformats.org/drawingml/2006/main">
              <a:ext uri="{FF2B5EF4-FFF2-40B4-BE49-F238E27FC236}">
                <a16:creationId xmlns:a16="http://schemas.microsoft.com/office/drawing/2014/main" id="{3C70E0A0-7F44-4A17-BE0F-4F34C35C419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5   20</a:t>
            </a:r>
          </a:p>
        </p:txBody>
      </p:sp>
    </p:spTree>
    <p:extLst>
      <p:ext uri="{BB962C8B-B14F-4D97-AF65-F5344CB8AC3E}">
        <p14:creationId xmlns:p14="http://schemas.microsoft.com/office/powerpoint/2010/main" val="1147760159"/>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48AC11F5-2AD1-4095-8B21-9AFDFCE4909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99FF6B9C-397C-4AAB-8B9F-9D27027844C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F3A255C9-4CC4-4606-BF2B-F58BF3FC6C5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Read each step of a pandas chain</a:t>
            </a:r>
          </a:p>
        </p:txBody>
      </p:sp>
      <p:sp>
        <p:nvSpPr>
          <p:cNvPr id="4" name="">
            <a:extLst xmlns:a="http://schemas.openxmlformats.org/drawingml/2006/main">
              <a:ext uri="{FF2B5EF4-FFF2-40B4-BE49-F238E27FC236}">
                <a16:creationId xmlns:a16="http://schemas.microsoft.com/office/drawing/2014/main" id="{D233A130-B8F4-4467-B99A-6ADC17B5F552}"/>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302F8DDC-BD48-4FB9-867C-9003F4CDD9F8}"/>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groups = df.groupby("building") describes groups of rows with matching building labels.</a:t>
            </a:r>
          </a:p>
        </p:txBody>
      </p:sp>
      <p:sp>
        <p:nvSpPr>
          <p:cNvPr id="6" name="">
            <a:extLst xmlns:a="http://schemas.openxmlformats.org/drawingml/2006/main">
              <a:ext uri="{FF2B5EF4-FFF2-40B4-BE49-F238E27FC236}">
                <a16:creationId xmlns:a16="http://schemas.microsoft.com/office/drawing/2014/main" id="{A4E2FF99-5BAD-4CEB-B001-90B2B15D85BE}"/>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AC8C8A83-F204-47C2-9939-D48FF05342DF}"/>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energy_groups = groups["kwh"] selects the energy values within those groups. totals = energy_groups.sum() calculates one total per group.</a:t>
            </a:r>
          </a:p>
        </p:txBody>
      </p:sp>
      <p:sp>
        <p:nvSpPr>
          <p:cNvPr id="8" name="">
            <a:extLst xmlns:a="http://schemas.openxmlformats.org/drawingml/2006/main">
              <a:ext uri="{FF2B5EF4-FFF2-40B4-BE49-F238E27FC236}">
                <a16:creationId xmlns:a16="http://schemas.microsoft.com/office/drawing/2014/main" id="{988AB6C5-6B9F-4CF2-A6C3-52C0FC6B628E}"/>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76BAA765-B95B-4F2C-9534-48E3AE273586}"/>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df.groupby("building")["kwh"].sum() is the same sequence written on one line. Read it from left to right.</a:t>
            </a:r>
          </a:p>
        </p:txBody>
      </p:sp>
      <p:sp>
        <p:nvSpPr>
          <p:cNvPr id="10" name="">
            <a:extLst xmlns:a="http://schemas.openxmlformats.org/drawingml/2006/main">
              <a:ext uri="{FF2B5EF4-FFF2-40B4-BE49-F238E27FC236}">
                <a16:creationId xmlns:a16="http://schemas.microsoft.com/office/drawing/2014/main" id="{4ECD60A8-D1AD-4973-82AA-4421D5B8A87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5   21</a:t>
            </a:r>
          </a:p>
        </p:txBody>
      </p:sp>
    </p:spTree>
    <p:extLst>
      <p:ext uri="{BB962C8B-B14F-4D97-AF65-F5344CB8AC3E}">
        <p14:creationId xmlns:p14="http://schemas.microsoft.com/office/powerpoint/2010/main" val="1363669666"/>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E55982A6-2A76-49C0-9C9B-54D6A273828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3D634AD7-E343-4F9E-B98D-490CA9984CE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925FB069-BFFE-46B2-B662-F46B5DD0A52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Calculate one total for each building</a:t>
            </a:r>
          </a:p>
        </p:txBody>
      </p:sp>
      <p:sp>
        <p:nvSpPr>
          <p:cNvPr id="4" name="">
            <a:extLst xmlns:a="http://schemas.openxmlformats.org/drawingml/2006/main">
              <a:ext uri="{FF2B5EF4-FFF2-40B4-BE49-F238E27FC236}">
                <a16:creationId xmlns:a16="http://schemas.microsoft.com/office/drawing/2014/main" id="{F8B00CD5-CC6D-4453-AA3D-38BA3779FC60}"/>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320C0A5B-8C60-4E82-85CB-213156BB16E1}"/>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90" b="0">
                <a:solidFill>
                  <a:srgbClr val="F4F7FA"/>
                </a:solidFill>
                <a:latin typeface="Courier New"/>
                <a:ea typeface="Courier New"/>
                <a:cs typeface="Courier New"/>
              </a:defRPr>
            </a:pPr>
            <a:r>
              <a:rPr sz="1990" b="0">
                <a:solidFill>
                  <a:srgbClr val="F4F7FA"/>
                </a:solidFill>
                <a:latin typeface="Courier New"/>
                <a:ea typeface="Courier New"/>
                <a:cs typeface="Courier New"/>
              </a:rPr>
              <a:t>print(df.groupby("building")["kwh"].sum())</a:t>
            </a:r>
          </a:p>
        </p:txBody>
      </p:sp>
      <p:sp>
        <p:nvSpPr>
          <p:cNvPr id="6" name="">
            <a:extLst xmlns:a="http://schemas.openxmlformats.org/drawingml/2006/main">
              <a:ext uri="{FF2B5EF4-FFF2-40B4-BE49-F238E27FC236}">
                <a16:creationId xmlns:a16="http://schemas.microsoft.com/office/drawing/2014/main" id="{A5D8B9D9-1C73-4382-99BA-3F6D423163B8}"/>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4FAB220E-1E67-4922-90A3-A4E6138202C8}"/>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print displays a value below the cell.</a:t>
            </a:r>
          </a:p>
        </p:txBody>
      </p:sp>
      <p:sp>
        <p:nvSpPr>
          <p:cNvPr id="8" name="">
            <a:extLst xmlns:a="http://schemas.openxmlformats.org/drawingml/2006/main">
              <a:ext uri="{FF2B5EF4-FFF2-40B4-BE49-F238E27FC236}">
                <a16:creationId xmlns:a16="http://schemas.microsoft.com/office/drawing/2014/main" id="{2CD29C1C-F9BD-4D9B-A366-1F0732563E2B}"/>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Square brackets create a list or select an item.</a:t>
            </a:r>
          </a:p>
        </p:txBody>
      </p:sp>
      <p:sp>
        <p:nvSpPr>
          <p:cNvPr id="9" name="">
            <a:extLst xmlns:a="http://schemas.openxmlformats.org/drawingml/2006/main">
              <a:ext uri="{FF2B5EF4-FFF2-40B4-BE49-F238E27FC236}">
                <a16:creationId xmlns:a16="http://schemas.microsoft.com/office/drawing/2014/main" id="{7C3992D3-925C-4F8D-8C1D-82BD27096932}"/>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Expected: A totals 6 kWh; B totals 12 kWh.</a:t>
            </a:r>
          </a:p>
        </p:txBody>
      </p:sp>
      <p:sp>
        <p:nvSpPr>
          <p:cNvPr id="10" name="">
            <a:extLst xmlns:a="http://schemas.openxmlformats.org/drawingml/2006/main">
              <a:ext uri="{FF2B5EF4-FFF2-40B4-BE49-F238E27FC236}">
                <a16:creationId xmlns:a16="http://schemas.microsoft.com/office/drawing/2014/main" id="{B5806146-B39C-4907-A119-8E7434AA940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5   22</a:t>
            </a:r>
          </a:p>
        </p:txBody>
      </p:sp>
    </p:spTree>
    <p:extLst>
      <p:ext uri="{BB962C8B-B14F-4D97-AF65-F5344CB8AC3E}">
        <p14:creationId xmlns:p14="http://schemas.microsoft.com/office/powerpoint/2010/main" val="767589233"/>
      </p:ext>
    </p:extLst>
  </p:cSld>
</p:sld>
</file>

<file path=ppt/slides/slide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EE3DB5B3-D072-4ADA-9FCA-FE9D932CE7E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E80A5A4D-A18B-44B1-8EE0-1F2DD557F8E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CHECK THE OUTPUT</a:t>
            </a:r>
          </a:p>
        </p:txBody>
      </p:sp>
      <p:sp>
        <p:nvSpPr>
          <p:cNvPr id="3" name="">
            <a:extLst xmlns:a="http://schemas.openxmlformats.org/drawingml/2006/main">
              <a:ext uri="{FF2B5EF4-FFF2-40B4-BE49-F238E27FC236}">
                <a16:creationId xmlns:a16="http://schemas.microsoft.com/office/drawing/2014/main" id="{366B2792-BFEE-44CD-A0F0-BEE2ED16C72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pandas tables and summaries results</a:t>
            </a:r>
          </a:p>
        </p:txBody>
      </p:sp>
      <p:sp>
        <p:nvSpPr>
          <p:cNvPr id="4" name="">
            <a:extLst xmlns:a="http://schemas.openxmlformats.org/drawingml/2006/main">
              <a:ext uri="{FF2B5EF4-FFF2-40B4-BE49-F238E27FC236}">
                <a16:creationId xmlns:a16="http://schemas.microsoft.com/office/drawing/2014/main" id="{902A9132-45B2-4972-8CF7-E728D182BFCD}"/>
              </a:ext>
            </a:extLst>
          </p:cNvPr>
          <p:cNvSpPr>
            <a:spLocks xmlns:a="http://schemas.openxmlformats.org/drawingml/2006/main" noGrp="1"/>
          </p:cNvSpPr>
          <p:nvPr/>
        </p:nvSpPr>
        <p:spPr>
          <a:xfrm xmlns:a="http://schemas.openxmlformats.org/drawingml/2006/main">
            <a:off x="590550" y="1752600"/>
            <a:ext cx="11010900" cy="35242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415314EE-4887-4EFD-AF78-739D1BAC9C2B}"/>
              </a:ext>
            </a:extLst>
          </p:cNvPr>
          <p:cNvSpPr>
            <a:spLocks xmlns:a="http://schemas.openxmlformats.org/drawingml/2006/main" noGrp="1"/>
          </p:cNvSpPr>
          <p:nvPr/>
        </p:nvSpPr>
        <p:spPr>
          <a:xfrm xmlns:a="http://schemas.openxmlformats.org/drawingml/2006/main">
            <a:off x="904875" y="2028825"/>
            <a:ext cx="10334625" cy="3048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0">
                <a:solidFill>
                  <a:srgbClr val="2E7D6F"/>
                </a:solidFill>
                <a:latin typeface="Courier New"/>
                <a:ea typeface="Courier New"/>
                <a:cs typeface="Courier New"/>
              </a:defRPr>
            </a:pPr>
            <a:r>
              <a:rPr sz="3150" b="0">
                <a:solidFill>
                  <a:srgbClr val="2E7D6F"/>
                </a:solidFill>
                <a:latin typeface="Courier New"/>
                <a:ea typeface="Courier New"/>
                <a:cs typeface="Courier New"/>
              </a:rPr>
              <a:t>Mean 4.5. The filter keeps B rows with 5 and 7. Group totals: A = 6, B = 12 kWh.</a:t>
            </a:r>
          </a:p>
        </p:txBody>
      </p:sp>
      <p:sp>
        <p:nvSpPr>
          <p:cNvPr id="6" name="">
            <a:extLst xmlns:a="http://schemas.openxmlformats.org/drawingml/2006/main">
              <a:ext uri="{FF2B5EF4-FFF2-40B4-BE49-F238E27FC236}">
                <a16:creationId xmlns:a16="http://schemas.microsoft.com/office/drawing/2014/main" id="{03FEBFAC-5D2A-4D6D-BAB1-623FE0614834}"/>
              </a:ext>
            </a:extLst>
          </p:cNvPr>
          <p:cNvSpPr>
            <a:spLocks xmlns:a="http://schemas.openxmlformats.org/drawingml/2006/main" noGrp="1"/>
          </p:cNvSpPr>
          <p:nvPr/>
        </p:nvSpPr>
        <p:spPr>
          <a:xfrm xmlns:a="http://schemas.openxmlformats.org/drawingml/2006/main">
            <a:off x="685800" y="5581650"/>
            <a:ext cx="1066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Which step produced this result? What changes if one input changes?</a:t>
            </a:r>
          </a:p>
        </p:txBody>
      </p:sp>
      <p:sp>
        <p:nvSpPr>
          <p:cNvPr id="7" name="">
            <a:extLst xmlns:a="http://schemas.openxmlformats.org/drawingml/2006/main">
              <a:ext uri="{FF2B5EF4-FFF2-40B4-BE49-F238E27FC236}">
                <a16:creationId xmlns:a16="http://schemas.microsoft.com/office/drawing/2014/main" id="{D4B2C049-F20C-471E-A737-4B46A71AEAE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5   23</a:t>
            </a:r>
          </a:p>
        </p:txBody>
      </p:sp>
    </p:spTree>
    <p:extLst>
      <p:ext uri="{BB962C8B-B14F-4D97-AF65-F5344CB8AC3E}">
        <p14:creationId xmlns:p14="http://schemas.microsoft.com/office/powerpoint/2010/main" val="284048088"/>
      </p:ext>
    </p:extLst>
  </p:cSld>
</p:sld>
</file>

<file path=ppt/slides/slide2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0D5F5DF6-C4B1-4B7B-A664-91751B0C45E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2E659828-37DB-45F1-A0E6-9754B4546E2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9923F916-E8F3-4D1A-8C3A-A81D5FF99A9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Unique labels and the largest group</a:t>
            </a:r>
          </a:p>
        </p:txBody>
      </p:sp>
      <p:sp>
        <p:nvSpPr>
          <p:cNvPr id="4" name="">
            <a:extLst xmlns:a="http://schemas.openxmlformats.org/drawingml/2006/main">
              <a:ext uri="{FF2B5EF4-FFF2-40B4-BE49-F238E27FC236}">
                <a16:creationId xmlns:a16="http://schemas.microsoft.com/office/drawing/2014/main" id="{1A38BF0B-E84F-40B1-B68E-5AC3F3FB8128}"/>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71BD6701-CD01-4969-B658-B12ADE000F84}"/>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15DD3F3F-7E1E-4DE1-B04C-04DCDE556FEB}"/>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nunique counts distinct labels, not rows. idxmax returns the label of the largest total.</a:t>
            </a:r>
          </a:p>
        </p:txBody>
      </p:sp>
      <p:sp>
        <p:nvSpPr>
          <p:cNvPr id="7" name="">
            <a:extLst xmlns:a="http://schemas.openxmlformats.org/drawingml/2006/main">
              <a:ext uri="{FF2B5EF4-FFF2-40B4-BE49-F238E27FC236}">
                <a16:creationId xmlns:a16="http://schemas.microsoft.com/office/drawing/2014/main" id="{DF3C92CF-AB8B-4C30-97CF-F6AC1E35B7F1}"/>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Here there is no tie.</a:t>
            </a:r>
          </a:p>
        </p:txBody>
      </p:sp>
      <p:sp>
        <p:nvSpPr>
          <p:cNvPr id="8" name="">
            <a:extLst xmlns:a="http://schemas.openxmlformats.org/drawingml/2006/main">
              <a:ext uri="{FF2B5EF4-FFF2-40B4-BE49-F238E27FC236}">
                <a16:creationId xmlns:a16="http://schemas.microsoft.com/office/drawing/2014/main" id="{9A0FE613-57EB-40B2-85A3-9606FA79124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5   24</a:t>
            </a:r>
          </a:p>
        </p:txBody>
      </p:sp>
    </p:spTree>
    <p:extLst>
      <p:ext uri="{BB962C8B-B14F-4D97-AF65-F5344CB8AC3E}">
        <p14:creationId xmlns:p14="http://schemas.microsoft.com/office/powerpoint/2010/main" val="1465972435"/>
      </p:ext>
    </p:extLst>
  </p:cSld>
</p:sld>
</file>

<file path=ppt/slides/slide2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C72DE5B2-128D-480A-BF34-8000AF89D3E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F4171F25-130E-48F1-B9AF-5844D0DFFC5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28026D49-F3A3-45A4-88AA-64DB6263004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Unique labels and the largest group in Python</a:t>
            </a:r>
          </a:p>
        </p:txBody>
      </p:sp>
      <p:sp>
        <p:nvSpPr>
          <p:cNvPr id="4" name="">
            <a:extLst xmlns:a="http://schemas.openxmlformats.org/drawingml/2006/main">
              <a:ext uri="{FF2B5EF4-FFF2-40B4-BE49-F238E27FC236}">
                <a16:creationId xmlns:a16="http://schemas.microsoft.com/office/drawing/2014/main" id="{77504696-D52A-45B8-8F56-AF7AB2187CE5}"/>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5FB3917C-11CA-47D5-AC43-BE0E9BE174F3}"/>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00" b="0">
                <a:solidFill>
                  <a:srgbClr val="F4F7FA"/>
                </a:solidFill>
                <a:latin typeface="Courier New"/>
                <a:ea typeface="Courier New"/>
                <a:cs typeface="Courier New"/>
              </a:defRPr>
            </a:pPr>
            <a:r>
              <a:rPr sz="1900" b="0">
                <a:solidFill>
                  <a:srgbClr val="F4F7FA"/>
                </a:solidFill>
                <a:latin typeface="Courier New"/>
                <a:ea typeface="Courier New"/>
                <a:cs typeface="Courier New"/>
              </a:rPr>
              <a:t>print(df["building"].nunique())</a:t>
            </a:r>
          </a:p>
          <a:p xmlns:a="http://schemas.openxmlformats.org/drawingml/2006/main">
            <a:pPr>
              <a:defRPr sz="1900" b="0">
                <a:solidFill>
                  <a:srgbClr val="F4F7FA"/>
                </a:solidFill>
                <a:latin typeface="Courier New"/>
                <a:ea typeface="Courier New"/>
                <a:cs typeface="Courier New"/>
              </a:defRPr>
            </a:pPr>
            <a:r>
              <a:rPr sz="1900" b="0">
                <a:solidFill>
                  <a:srgbClr val="F4F7FA"/>
                </a:solidFill>
                <a:latin typeface="Courier New"/>
                <a:ea typeface="Courier New"/>
                <a:cs typeface="Courier New"/>
              </a:rPr>
              <a:t>totals = df.groupby("building")["kwh"].sum()</a:t>
            </a:r>
          </a:p>
          <a:p xmlns:a="http://schemas.openxmlformats.org/drawingml/2006/main">
            <a:pPr>
              <a:defRPr sz="1900" b="0">
                <a:solidFill>
                  <a:srgbClr val="F4F7FA"/>
                </a:solidFill>
                <a:latin typeface="Courier New"/>
                <a:ea typeface="Courier New"/>
                <a:cs typeface="Courier New"/>
              </a:defRPr>
            </a:pPr>
            <a:r>
              <a:rPr sz="1900" b="0">
                <a:solidFill>
                  <a:srgbClr val="F4F7FA"/>
                </a:solidFill>
                <a:latin typeface="Courier New"/>
                <a:ea typeface="Courier New"/>
                <a:cs typeface="Courier New"/>
              </a:rPr>
              <a:t>print(totals.idxmax())</a:t>
            </a:r>
          </a:p>
        </p:txBody>
      </p:sp>
      <p:sp>
        <p:nvSpPr>
          <p:cNvPr id="6" name="">
            <a:extLst xmlns:a="http://schemas.openxmlformats.org/drawingml/2006/main">
              <a:ext uri="{FF2B5EF4-FFF2-40B4-BE49-F238E27FC236}">
                <a16:creationId xmlns:a16="http://schemas.microsoft.com/office/drawing/2014/main" id="{AABC6121-FF7F-4ED9-8D49-6E486D7C675B}"/>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A21208E3-32AA-41B2-BD92-DED00B644E4A}"/>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print displays a value below the cell.</a:t>
            </a:r>
          </a:p>
        </p:txBody>
      </p:sp>
      <p:sp>
        <p:nvSpPr>
          <p:cNvPr id="8" name="">
            <a:extLst xmlns:a="http://schemas.openxmlformats.org/drawingml/2006/main">
              <a:ext uri="{FF2B5EF4-FFF2-40B4-BE49-F238E27FC236}">
                <a16:creationId xmlns:a16="http://schemas.microsoft.com/office/drawing/2014/main" id="{53BCF6BD-474E-43F1-9174-790B14539DA0}"/>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Square brackets create a list or select an item.</a:t>
            </a:r>
          </a:p>
        </p:txBody>
      </p:sp>
      <p:sp>
        <p:nvSpPr>
          <p:cNvPr id="9" name="">
            <a:extLst xmlns:a="http://schemas.openxmlformats.org/drawingml/2006/main">
              <a:ext uri="{FF2B5EF4-FFF2-40B4-BE49-F238E27FC236}">
                <a16:creationId xmlns:a16="http://schemas.microsoft.com/office/drawing/2014/main" id="{E7D5D704-212E-4F3E-86F3-1C82772CED48}"/>
              </a:ext>
            </a:extLst>
          </p:cNvPr>
          <p:cNvSpPr>
            <a:spLocks xmlns:a="http://schemas.openxmlformats.org/drawingml/2006/main" noGrp="1"/>
          </p:cNvSpPr>
          <p:nvPr/>
        </p:nvSpPr>
        <p:spPr>
          <a:xfrm xmlns:a="http://schemas.openxmlformats.org/drawingml/2006/main">
            <a:off x="8096250" y="43434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 assigns the value on the right to the name on the left.</a:t>
            </a:r>
          </a:p>
        </p:txBody>
      </p:sp>
      <p:sp>
        <p:nvSpPr>
          <p:cNvPr id="10" name="">
            <a:extLst xmlns:a="http://schemas.openxmlformats.org/drawingml/2006/main">
              <a:ext uri="{FF2B5EF4-FFF2-40B4-BE49-F238E27FC236}">
                <a16:creationId xmlns:a16="http://schemas.microsoft.com/office/drawing/2014/main" id="{6D16AB18-B00E-4EE4-9529-C0E514A8815D}"/>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Read top to bottom. Run the complete example in the matching practice notebook.</a:t>
            </a:r>
          </a:p>
        </p:txBody>
      </p:sp>
      <p:sp>
        <p:nvSpPr>
          <p:cNvPr id="11" name="">
            <a:extLst xmlns:a="http://schemas.openxmlformats.org/drawingml/2006/main">
              <a:ext uri="{FF2B5EF4-FFF2-40B4-BE49-F238E27FC236}">
                <a16:creationId xmlns:a16="http://schemas.microsoft.com/office/drawing/2014/main" id="{F7310210-BA4C-4498-9599-A339D02B484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5   25</a:t>
            </a:r>
          </a:p>
        </p:txBody>
      </p:sp>
    </p:spTree>
    <p:extLst>
      <p:ext uri="{BB962C8B-B14F-4D97-AF65-F5344CB8AC3E}">
        <p14:creationId xmlns:p14="http://schemas.microsoft.com/office/powerpoint/2010/main" val="1332552209"/>
      </p:ext>
    </p:extLst>
  </p:cSld>
</p:sld>
</file>

<file path=ppt/slides/slide2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8FFA0C6A-ED0F-4326-B379-5ADB87BAE93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1DF31D83-A85B-438A-8861-CDB1E3FFDCC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5E6999EA-5DEF-463B-9974-52A14294387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Create a column from two existing columns</a:t>
            </a:r>
          </a:p>
        </p:txBody>
      </p:sp>
      <p:sp>
        <p:nvSpPr>
          <p:cNvPr id="4" name="">
            <a:extLst xmlns:a="http://schemas.openxmlformats.org/drawingml/2006/main">
              <a:ext uri="{FF2B5EF4-FFF2-40B4-BE49-F238E27FC236}">
                <a16:creationId xmlns:a16="http://schemas.microsoft.com/office/drawing/2014/main" id="{C14C564D-7B7F-40B9-9C9A-9E210A2A698A}"/>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559CEEBD-6838-4C07-88CA-E190B009A53E}"/>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95AA6601-2962-4AEA-BBAD-9DEE6D1D509A}"/>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A new column can store a calculation for every row. Division pairs the values in matching rows.</a:t>
            </a:r>
          </a:p>
        </p:txBody>
      </p:sp>
      <p:sp>
        <p:nvSpPr>
          <p:cNvPr id="7" name="">
            <a:extLst xmlns:a="http://schemas.openxmlformats.org/drawingml/2006/main">
              <a:ext uri="{FF2B5EF4-FFF2-40B4-BE49-F238E27FC236}">
                <a16:creationId xmlns:a16="http://schemas.microsoft.com/office/drawing/2014/main" id="{E177785A-45D5-4833-920F-924DBCE3C2CC}"/>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For this invented table all energy values are positive. UGX is Uganda shillings. Cost divided by energy has units UGX/kWh.</a:t>
            </a:r>
          </a:p>
        </p:txBody>
      </p:sp>
      <p:sp>
        <p:nvSpPr>
          <p:cNvPr id="8" name="">
            <a:extLst xmlns:a="http://schemas.openxmlformats.org/drawingml/2006/main">
              <a:ext uri="{FF2B5EF4-FFF2-40B4-BE49-F238E27FC236}">
                <a16:creationId xmlns:a16="http://schemas.microsoft.com/office/drawing/2014/main" id="{E2868ECC-1163-41AA-872D-E57A6BD907D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5   26</a:t>
            </a:r>
          </a:p>
        </p:txBody>
      </p:sp>
    </p:spTree>
    <p:extLst>
      <p:ext uri="{BB962C8B-B14F-4D97-AF65-F5344CB8AC3E}">
        <p14:creationId xmlns:p14="http://schemas.microsoft.com/office/powerpoint/2010/main" val="1279954087"/>
      </p:ext>
    </p:extLst>
  </p:cSld>
</p:sld>
</file>

<file path=ppt/slides/slide2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8B3D04D9-5667-429A-B43A-3D0A3186861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2EF51E6B-0373-4831-AF3A-DF8DEDFAA64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EC51333B-3807-4D9A-B19B-6780F71FAC4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An energy rate is cost divided by energy</a:t>
            </a:r>
          </a:p>
        </p:txBody>
      </p:sp>
      <p:sp>
        <p:nvSpPr>
          <p:cNvPr id="4" name="">
            <a:extLst xmlns:a="http://schemas.openxmlformats.org/drawingml/2006/main">
              <a:ext uri="{FF2B5EF4-FFF2-40B4-BE49-F238E27FC236}">
                <a16:creationId xmlns:a16="http://schemas.microsoft.com/office/drawing/2014/main" id="{8966BACB-C015-44FF-8B7A-98D9D5428BC1}"/>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56A4425A-030A-48C5-A350-D7BFA123F87F}"/>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df["cost_ugx"] = [1000, 2400, 3500, 5600]</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df["rate_ugx_per_kwh"] = df["cost_ugx"] / df["kwh"]</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print(df["rate_ugx_per_kwh"])</a:t>
            </a:r>
          </a:p>
        </p:txBody>
      </p:sp>
      <p:sp>
        <p:nvSpPr>
          <p:cNvPr id="6" name="">
            <a:extLst xmlns:a="http://schemas.openxmlformats.org/drawingml/2006/main">
              <a:ext uri="{FF2B5EF4-FFF2-40B4-BE49-F238E27FC236}">
                <a16:creationId xmlns:a16="http://schemas.microsoft.com/office/drawing/2014/main" id="{EDAF2E4F-07D2-459D-9A06-B1606F353499}"/>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print displays a value below the cell.</a:t>
            </a:r>
          </a:p>
        </p:txBody>
      </p:sp>
      <p:sp>
        <p:nvSpPr>
          <p:cNvPr id="7" name="">
            <a:extLst xmlns:a="http://schemas.openxmlformats.org/drawingml/2006/main">
              <a:ext uri="{FF2B5EF4-FFF2-40B4-BE49-F238E27FC236}">
                <a16:creationId xmlns:a16="http://schemas.microsoft.com/office/drawing/2014/main" id="{A6580895-3C0B-4078-8037-4CECE4BEB2D1}"/>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Expected rates: 500, 600, 700 and 800 UGX/kWh. Keep units in column names.</a:t>
            </a:r>
          </a:p>
        </p:txBody>
      </p:sp>
      <p:sp>
        <p:nvSpPr>
          <p:cNvPr id="8" name="">
            <a:extLst xmlns:a="http://schemas.openxmlformats.org/drawingml/2006/main">
              <a:ext uri="{FF2B5EF4-FFF2-40B4-BE49-F238E27FC236}">
                <a16:creationId xmlns:a16="http://schemas.microsoft.com/office/drawing/2014/main" id="{CE1BCC42-0909-416D-BBA7-AA7B6AD6F83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5   27</a:t>
            </a:r>
          </a:p>
        </p:txBody>
      </p:sp>
    </p:spTree>
    <p:extLst>
      <p:ext uri="{BB962C8B-B14F-4D97-AF65-F5344CB8AC3E}">
        <p14:creationId xmlns:p14="http://schemas.microsoft.com/office/powerpoint/2010/main" val="1057646967"/>
      </p:ext>
    </p:extLst>
  </p:cSld>
</p:sld>
</file>

<file path=ppt/slides/slide2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78AB8834-6947-4D0B-AF96-6E9F9F53253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2804155B-BCBF-4C3E-94A9-A82B7004661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7EC69B3D-E489-4D3E-A6C2-9D716D93ECD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Load the assignment table before analysing it</a:t>
            </a:r>
          </a:p>
        </p:txBody>
      </p:sp>
      <p:sp>
        <p:nvSpPr>
          <p:cNvPr id="4" name="">
            <a:extLst xmlns:a="http://schemas.openxmlformats.org/drawingml/2006/main">
              <a:ext uri="{FF2B5EF4-FFF2-40B4-BE49-F238E27FC236}">
                <a16:creationId xmlns:a16="http://schemas.microsoft.com/office/drawing/2014/main" id="{DA894FA0-124C-4A40-BF19-B2074756BEF9}"/>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7C384F5D-94D7-422A-B829-0D3F24BD968E}"/>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Upload campus_energy.csv to the current runtime first. read_csv reads it into a new DataFrame.</a:t>
            </a:r>
          </a:p>
        </p:txBody>
      </p:sp>
      <p:sp>
        <p:nvSpPr>
          <p:cNvPr id="6" name="">
            <a:extLst xmlns:a="http://schemas.openxmlformats.org/drawingml/2006/main">
              <a:ext uri="{FF2B5EF4-FFF2-40B4-BE49-F238E27FC236}">
                <a16:creationId xmlns:a16="http://schemas.microsoft.com/office/drawing/2014/main" id="{2049105B-81B4-4002-969E-7B0380AD918B}"/>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5E960871-0CA6-4069-A7DB-034CD32EBB79}"/>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head() displays the first five rows; shape gives row and column counts; dtypes shows column data types.</a:t>
            </a:r>
          </a:p>
        </p:txBody>
      </p:sp>
      <p:sp>
        <p:nvSpPr>
          <p:cNvPr id="8" name="">
            <a:extLst xmlns:a="http://schemas.openxmlformats.org/drawingml/2006/main">
              <a:ext uri="{FF2B5EF4-FFF2-40B4-BE49-F238E27FC236}">
                <a16:creationId xmlns:a16="http://schemas.microsoft.com/office/drawing/2014/main" id="{B7DEE567-EE21-4CC3-BACB-64AD83F9D766}"/>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43E4483F-463D-4A58-92FD-FCA9FC48290E}"/>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We call this issued_table to keep it separate from the invented four-row df used above.</a:t>
            </a:r>
          </a:p>
        </p:txBody>
      </p:sp>
      <p:sp>
        <p:nvSpPr>
          <p:cNvPr id="10" name="">
            <a:extLst xmlns:a="http://schemas.openxmlformats.org/drawingml/2006/main">
              <a:ext uri="{FF2B5EF4-FFF2-40B4-BE49-F238E27FC236}">
                <a16:creationId xmlns:a16="http://schemas.microsoft.com/office/drawing/2014/main" id="{83F6C7F8-5D3F-4E4D-8D63-A0AAB96B0F7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5   28</a:t>
            </a:r>
          </a:p>
        </p:txBody>
      </p:sp>
    </p:spTree>
    <p:extLst>
      <p:ext uri="{BB962C8B-B14F-4D97-AF65-F5344CB8AC3E}">
        <p14:creationId xmlns:p14="http://schemas.microsoft.com/office/powerpoint/2010/main" val="684981430"/>
      </p:ext>
    </p:extLst>
  </p:cSld>
</p:sld>
</file>

<file path=ppt/slides/slide2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7534AAD6-0901-462F-A570-37F7F8E777B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85243130-8BE4-4E6A-9137-E5D80016D34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E9850931-B4B4-4C32-8C93-E2D5D329DD7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Inspect the supplied energy file</a:t>
            </a:r>
          </a:p>
        </p:txBody>
      </p:sp>
      <p:sp>
        <p:nvSpPr>
          <p:cNvPr id="4" name="">
            <a:extLst xmlns:a="http://schemas.openxmlformats.org/drawingml/2006/main">
              <a:ext uri="{FF2B5EF4-FFF2-40B4-BE49-F238E27FC236}">
                <a16:creationId xmlns:a16="http://schemas.microsoft.com/office/drawing/2014/main" id="{D2651956-1149-4B62-9D11-D8FDC6302BA0}"/>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280810D0-FF9F-4039-8324-A6A4C5D88998}"/>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issued_table = pd.read_csv("campus_energy.csv")</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print(issued_table.head())</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print(issued_table.shape)</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print(issued_table.dtypes)</a:t>
            </a:r>
          </a:p>
        </p:txBody>
      </p:sp>
      <p:sp>
        <p:nvSpPr>
          <p:cNvPr id="6" name="">
            <a:extLst xmlns:a="http://schemas.openxmlformats.org/drawingml/2006/main">
              <a:ext uri="{FF2B5EF4-FFF2-40B4-BE49-F238E27FC236}">
                <a16:creationId xmlns:a16="http://schemas.microsoft.com/office/drawing/2014/main" id="{4EFE8582-3624-4184-A69D-982548AACAD3}"/>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print displays a value below the cell.</a:t>
            </a:r>
          </a:p>
        </p:txBody>
      </p:sp>
      <p:sp>
        <p:nvSpPr>
          <p:cNvPr id="7" name="">
            <a:extLst xmlns:a="http://schemas.openxmlformats.org/drawingml/2006/main">
              <a:ext uri="{FF2B5EF4-FFF2-40B4-BE49-F238E27FC236}">
                <a16:creationId xmlns:a16="http://schemas.microsoft.com/office/drawing/2014/main" id="{1A149D26-1088-4F71-90A0-BB69CA40A435}"/>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Check column names, data types and units before attempting the six issued tasks.</a:t>
            </a:r>
          </a:p>
        </p:txBody>
      </p:sp>
      <p:sp>
        <p:nvSpPr>
          <p:cNvPr id="8" name="">
            <a:extLst xmlns:a="http://schemas.openxmlformats.org/drawingml/2006/main">
              <a:ext uri="{FF2B5EF4-FFF2-40B4-BE49-F238E27FC236}">
                <a16:creationId xmlns:a16="http://schemas.microsoft.com/office/drawing/2014/main" id="{733A7AAE-31EE-48C4-87B4-BAFC7D2C7AE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5   29</a:t>
            </a:r>
          </a:p>
        </p:txBody>
      </p:sp>
    </p:spTree>
    <p:extLst>
      <p:ext uri="{BB962C8B-B14F-4D97-AF65-F5344CB8AC3E}">
        <p14:creationId xmlns:p14="http://schemas.microsoft.com/office/powerpoint/2010/main" val="1013452118"/>
      </p:ext>
    </p:extLst>
  </p:cSld>
</p:sld>
</file>

<file path=ppt/slides/slide3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320FE4FE-8699-4C11-BEE1-4060F71F8A0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C3987E44-D528-4757-92FB-3344F4B8537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D2F9F3AF-DCDB-480B-8281-5DFEC8124EE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Revision example and answer</a:t>
            </a:r>
          </a:p>
        </p:txBody>
      </p:sp>
      <p:sp>
        <p:nvSpPr>
          <p:cNvPr id="4" name="">
            <a:extLst xmlns:a="http://schemas.openxmlformats.org/drawingml/2006/main">
              <a:ext uri="{FF2B5EF4-FFF2-40B4-BE49-F238E27FC236}">
                <a16:creationId xmlns:a16="http://schemas.microsoft.com/office/drawing/2014/main" id="{3692B521-B7D8-40CB-9F16-03C24D606461}"/>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B1727ED8-8128-47B6-A271-A69D6684D45C}"/>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D51334B7-249F-41B1-AD84-47919BB74162}"/>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Example: Use &gt; 5 instead. Predict the surviving rows. Which building has the largest total?</a:t>
            </a:r>
          </a:p>
        </p:txBody>
      </p:sp>
      <p:sp>
        <p:nvSpPr>
          <p:cNvPr id="7" name="">
            <a:extLst xmlns:a="http://schemas.openxmlformats.org/drawingml/2006/main">
              <a:ext uri="{FF2B5EF4-FFF2-40B4-BE49-F238E27FC236}">
                <a16:creationId xmlns:a16="http://schemas.microsoft.com/office/drawing/2014/main" id="{F333EC8B-35E3-4530-AFBD-6B172A9860D1}"/>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Answer: Only the row with 7 survives. Building B has the larger total, 12 kWh.</a:t>
            </a:r>
          </a:p>
        </p:txBody>
      </p:sp>
      <p:sp>
        <p:nvSpPr>
          <p:cNvPr id="8" name="">
            <a:extLst xmlns:a="http://schemas.openxmlformats.org/drawingml/2006/main">
              <a:ext uri="{FF2B5EF4-FFF2-40B4-BE49-F238E27FC236}">
                <a16:creationId xmlns:a16="http://schemas.microsoft.com/office/drawing/2014/main" id="{4250E11F-0293-4B53-ADA2-0D9A43A3B43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5   30</a:t>
            </a:r>
          </a:p>
        </p:txBody>
      </p:sp>
    </p:spTree>
    <p:extLst>
      <p:ext uri="{BB962C8B-B14F-4D97-AF65-F5344CB8AC3E}">
        <p14:creationId xmlns:p14="http://schemas.microsoft.com/office/powerpoint/2010/main" val="395724038"/>
      </p:ext>
    </p:extLst>
  </p:cSld>
</p:sld>
</file>

<file path=ppt/slides/slide3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1B360CF4-C77B-4268-BED6-C386B73FC99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03129378-0235-4C74-9273-02A50513D41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3F6AD406-EB31-4E83-9447-6A46ADCADA0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Preparing for the assignment</a:t>
            </a:r>
          </a:p>
        </p:txBody>
      </p:sp>
      <p:sp>
        <p:nvSpPr>
          <p:cNvPr id="4" name="">
            <a:extLst xmlns:a="http://schemas.openxmlformats.org/drawingml/2006/main">
              <a:ext uri="{FF2B5EF4-FFF2-40B4-BE49-F238E27FC236}">
                <a16:creationId xmlns:a16="http://schemas.microsoft.com/office/drawing/2014/main" id="{5FA767B3-70D0-4169-8349-D79B80050AAB}"/>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BDEFFD3E-F6BF-483E-8B48-104864AC0CC8}"/>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A5 uses the supplied fictional campus_energy.csv, not a live Kaggle download.</a:t>
            </a:r>
          </a:p>
        </p:txBody>
      </p:sp>
      <p:sp>
        <p:nvSpPr>
          <p:cNvPr id="6" name="">
            <a:extLst xmlns:a="http://schemas.openxmlformats.org/drawingml/2006/main">
              <a:ext uri="{FF2B5EF4-FFF2-40B4-BE49-F238E27FC236}">
                <a16:creationId xmlns:a16="http://schemas.microsoft.com/office/drawing/2014/main" id="{5ACFB8A5-B937-4CD2-8EBE-0290B0672EEC}"/>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632F9D73-492E-4604-A82F-C2DC50CCA389}"/>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six tasks use read_csv, nunique, division of columns, a &gt; filter, mean and grouped totals. idxmax returns the label of the largest value.</a:t>
            </a:r>
          </a:p>
        </p:txBody>
      </p:sp>
      <p:sp>
        <p:nvSpPr>
          <p:cNvPr id="8" name="">
            <a:extLst xmlns:a="http://schemas.openxmlformats.org/drawingml/2006/main">
              <a:ext uri="{FF2B5EF4-FFF2-40B4-BE49-F238E27FC236}">
                <a16:creationId xmlns:a16="http://schemas.microsoft.com/office/drawing/2014/main" id="{F05219C6-B743-4771-B758-267EC021B476}"/>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390172A5-E749-4661-99F0-0A6A73075CF4}"/>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mean of individual rates gives each observation equal weight.</a:t>
            </a:r>
          </a:p>
        </p:txBody>
      </p:sp>
      <p:sp>
        <p:nvSpPr>
          <p:cNvPr id="10" name="">
            <a:extLst xmlns:a="http://schemas.openxmlformats.org/drawingml/2006/main">
              <a:ext uri="{FF2B5EF4-FFF2-40B4-BE49-F238E27FC236}">
                <a16:creationId xmlns:a16="http://schemas.microsoft.com/office/drawing/2014/main" id="{36594E8A-8A50-40F7-AC92-EC2632CBB2E6}"/>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918622C0-63C3-440E-AD8D-A7FDC3B2CB64}"/>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Total cost divided by total energy weights by energy.</a:t>
            </a:r>
          </a:p>
        </p:txBody>
      </p:sp>
      <p:sp>
        <p:nvSpPr>
          <p:cNvPr id="12" name="">
            <a:extLst xmlns:a="http://schemas.openxmlformats.org/drawingml/2006/main">
              <a:ext uri="{FF2B5EF4-FFF2-40B4-BE49-F238E27FC236}">
                <a16:creationId xmlns:a16="http://schemas.microsoft.com/office/drawing/2014/main" id="{EAA1CEA8-6E65-48C3-93D4-8B03ACC2AF6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5   31</a:t>
            </a:r>
          </a:p>
        </p:txBody>
      </p:sp>
    </p:spTree>
    <p:extLst>
      <p:ext uri="{BB962C8B-B14F-4D97-AF65-F5344CB8AC3E}">
        <p14:creationId xmlns:p14="http://schemas.microsoft.com/office/powerpoint/2010/main" val="890237501"/>
      </p:ext>
    </p:extLst>
  </p:cSld>
</p:sld>
</file>

<file path=ppt/slides/slide3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70459B33-0E0B-4AF2-8C1C-0B7F2D10A26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E71A224C-F176-46CB-A4BB-F32C7C3C451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831F27F6-233A-4333-BDF9-4CA881077AD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Data types and filters</a:t>
            </a:r>
          </a:p>
        </p:txBody>
      </p:sp>
      <p:sp>
        <p:nvSpPr>
          <p:cNvPr id="4" name="">
            <a:extLst xmlns:a="http://schemas.openxmlformats.org/drawingml/2006/main">
              <a:ext uri="{FF2B5EF4-FFF2-40B4-BE49-F238E27FC236}">
                <a16:creationId xmlns:a16="http://schemas.microsoft.com/office/drawing/2014/main" id="{EEE37B2C-DF8E-44CB-A205-6220E5C7986B}"/>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695071F9-9C06-437D-85C8-20FDED2504D5}"/>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Boolean mask is a list-like column of True/False values. len(mask) counts all rows; mask.sum() counts True entries.</a:t>
            </a:r>
          </a:p>
        </p:txBody>
      </p:sp>
      <p:sp>
        <p:nvSpPr>
          <p:cNvPr id="6" name="">
            <a:extLst xmlns:a="http://schemas.openxmlformats.org/drawingml/2006/main">
              <a:ext uri="{FF2B5EF4-FFF2-40B4-BE49-F238E27FC236}">
                <a16:creationId xmlns:a16="http://schemas.microsoft.com/office/drawing/2014/main" id="{7A298D5A-DEFB-4FCF-84B7-F4BF4C5A5943}"/>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41D41DD5-29D8-4BDB-80CD-8B9A594A7E05}"/>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Strings sort as text, so "9" can rank above "100".</a:t>
            </a:r>
          </a:p>
        </p:txBody>
      </p:sp>
      <p:sp>
        <p:nvSpPr>
          <p:cNvPr id="8" name="">
            <a:extLst xmlns:a="http://schemas.openxmlformats.org/drawingml/2006/main">
              <a:ext uri="{FF2B5EF4-FFF2-40B4-BE49-F238E27FC236}">
                <a16:creationId xmlns:a16="http://schemas.microsoft.com/office/drawing/2014/main" id="{6C405B3C-FEDA-42A6-8F90-9903ACE5471A}"/>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ACE0D178-7254-4144-9813-2A1922EBD71F}"/>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Inspect numeric types before taking maxima.</a:t>
            </a:r>
          </a:p>
        </p:txBody>
      </p:sp>
      <p:sp>
        <p:nvSpPr>
          <p:cNvPr id="10" name="">
            <a:extLst xmlns:a="http://schemas.openxmlformats.org/drawingml/2006/main">
              <a:ext uri="{FF2B5EF4-FFF2-40B4-BE49-F238E27FC236}">
                <a16:creationId xmlns:a16="http://schemas.microsoft.com/office/drawing/2014/main" id="{7E4C3B98-F14C-4C3B-8C7B-38D357B3A89F}"/>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AC90E6A8-A1F9-4B64-AB55-5C136FC4603D}"/>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KeyError often means the column name does not match; check spelling, case and spaces. shape is (rows, columns).</a:t>
            </a:r>
          </a:p>
        </p:txBody>
      </p:sp>
      <p:sp>
        <p:nvSpPr>
          <p:cNvPr id="12" name="">
            <a:extLst xmlns:a="http://schemas.openxmlformats.org/drawingml/2006/main">
              <a:ext uri="{FF2B5EF4-FFF2-40B4-BE49-F238E27FC236}">
                <a16:creationId xmlns:a16="http://schemas.microsoft.com/office/drawing/2014/main" id="{4A14AB1C-59FC-48AE-971F-B140B4AE70C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5   32</a:t>
            </a:r>
          </a:p>
        </p:txBody>
      </p:sp>
    </p:spTree>
    <p:extLst>
      <p:ext uri="{BB962C8B-B14F-4D97-AF65-F5344CB8AC3E}">
        <p14:creationId xmlns:p14="http://schemas.microsoft.com/office/powerpoint/2010/main" val="1748719508"/>
      </p:ext>
    </p:extLst>
  </p:cSld>
</p:sld>
</file>

<file path=ppt/slides/slide3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610D6321-9F67-4C48-BC9F-9859A9531EF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FD06F88F-6DB9-4533-B295-D425B772848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4667E5C1-2049-41C9-A229-5ABC82172D9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Data types and filters continued</a:t>
            </a:r>
          </a:p>
        </p:txBody>
      </p:sp>
      <p:sp>
        <p:nvSpPr>
          <p:cNvPr id="4" name="">
            <a:extLst xmlns:a="http://schemas.openxmlformats.org/drawingml/2006/main">
              <a:ext uri="{FF2B5EF4-FFF2-40B4-BE49-F238E27FC236}">
                <a16:creationId xmlns:a16="http://schemas.microsoft.com/office/drawing/2014/main" id="{460409ED-4EF6-49A8-ADB0-C0CF301F3C8B}"/>
              </a:ext>
            </a:extLst>
          </p:cNvPr>
          <p:cNvSpPr>
            <a:spLocks xmlns:a="http://schemas.openxmlformats.org/drawingml/2006/main" noGrp="1"/>
          </p:cNvSpPr>
          <p:nvPr/>
        </p:nvSpPr>
        <p:spPr>
          <a:xfrm xmlns:a="http://schemas.openxmlformats.org/drawingml/2006/main">
            <a:off x="590550" y="1752600"/>
            <a:ext cx="11010900"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1EAFD432-8D6E-4350-B0FE-E30870856D36}"/>
              </a:ext>
            </a:extLst>
          </p:cNvPr>
          <p:cNvSpPr>
            <a:spLocks xmlns:a="http://schemas.openxmlformats.org/drawingml/2006/main" noGrp="1"/>
          </p:cNvSpPr>
          <p:nvPr/>
        </p:nvSpPr>
        <p:spPr>
          <a:xfrm xmlns:a="http://schemas.openxmlformats.org/drawingml/2006/main">
            <a:off x="914400" y="2228850"/>
            <a:ext cx="1033462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1">
                <a:solidFill>
                  <a:srgbClr val="1C3144"/>
                </a:solidFill>
                <a:latin typeface="Calibri"/>
                <a:ea typeface="Calibri"/>
                <a:cs typeface="Calibri"/>
              </a:defRPr>
            </a:pPr>
            <a:r>
              <a:rPr sz="3000" b="1">
                <a:solidFill>
                  <a:srgbClr val="1C3144"/>
                </a:solidFill>
                <a:latin typeface="Calibri"/>
                <a:ea typeface="Calibri"/>
                <a:cs typeface="Calibri"/>
              </a:rPr>
              <a:t>Read provenance and units before trusting a dataset.</a:t>
            </a:r>
          </a:p>
        </p:txBody>
      </p:sp>
      <p:sp>
        <p:nvSpPr>
          <p:cNvPr id="6" name="">
            <a:extLst xmlns:a="http://schemas.openxmlformats.org/drawingml/2006/main">
              <a:ext uri="{FF2B5EF4-FFF2-40B4-BE49-F238E27FC236}">
                <a16:creationId xmlns:a16="http://schemas.microsoft.com/office/drawing/2014/main" id="{881E0654-A1FD-454D-8AAA-25E7798DF8D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5   33</a:t>
            </a:r>
          </a:p>
        </p:txBody>
      </p:sp>
    </p:spTree>
    <p:extLst>
      <p:ext uri="{BB962C8B-B14F-4D97-AF65-F5344CB8AC3E}">
        <p14:creationId xmlns:p14="http://schemas.microsoft.com/office/powerpoint/2010/main" val="286733720"/>
      </p:ext>
    </p:extLst>
  </p:cSld>
</p:sld>
</file>

<file path=ppt/slides/slide34.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FFFFFF"/>
        </a:solidFill>
      </p:bgPr>
    </p:bg>
    <p:spTree>
      <p:nvGrpSpPr>
        <p:cNvPr id="1" name=""/>
        <p:cNvGrpSpPr/>
        <p:nvPr/>
      </p:nvGrpSpPr>
      <p:grpSpPr>
        <a:xfrm/>
      </p:grpSpPr>
      <p:sp>
        <p:nvSpPr>
          <p:cNvPr id="13" name="">
            <a:extLst>
              <a:ext uri="{FF2B5EF4-FFF2-40B4-BE49-F238E27FC236}">
                <ns2:creationId id="{8A588230-7F7F-4BC7-A7B4-5D98CB715F80}"/>
              </a:ext>
            </a:extLst>
          </p:cNvPr>
          <p:cNvSpPr>
            <a:spLocks noGrp="1"/>
          </p:cNvSpPr>
          <p:nvPr/>
        </p:nvSpPr>
        <p:spPr>
          <a:xfrm>
            <a:off x="0" y="0"/>
            <a:ext cx="12191695" cy="1390650"/>
          </a:xfrm>
          <a:prstGeom prst="rect">
            <a:avLst/>
          </a:prstGeom>
          <a:solidFill>
            <a:srgbClr val="1C3144"/>
          </a:solidFill>
          <a:ln w="0">
            <a:noFill/>
          </a:ln>
        </p:spPr>
      </p:sp>
      <p:sp>
        <p:nvSpPr>
          <p:cNvPr id="2" name="">
            <a:extLst>
              <a:ext uri="{FF2B5EF4-FFF2-40B4-BE49-F238E27FC236}">
                <ns2:creationId id="{A5504047-6848-4A41-8043-E7B0C17897B5}"/>
              </a:ext>
            </a:extLst>
          </p:cNvPr>
          <p:cNvSpPr>
            <a:spLocks noGrp="1"/>
          </p:cNvSpPr>
          <p:nvPr/>
        </p:nvSpPr>
        <p:spPr>
          <a:xfrm>
            <a:off x="590550" y="180975"/>
            <a:ext cx="11049000" cy="285750"/>
          </a:xfrm>
          <a:prstGeom prst="rect">
            <a:avLst/>
          </a:prstGeom>
          <a:noFill/>
          <a:ln w="0">
            <a:noFill/>
          </a:ln>
        </p:spPr>
        <p:txBody>
          <a:bodyPr>
            <a:noAutofit/>
          </a:bodyPr>
          <a:lstStyle/>
          <a:p>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a:ext uri="{FF2B5EF4-FFF2-40B4-BE49-F238E27FC236}">
                <ns2:creationId id="{787C04E1-7B84-4534-A8B2-7F52E82AC4C6}"/>
              </a:ext>
            </a:extLst>
          </p:cNvPr>
          <p:cNvSpPr>
            <a:spLocks noGrp="1"/>
          </p:cNvSpPr>
          <p:nvPr/>
        </p:nvSpPr>
        <p:spPr>
          <a:xfrm>
            <a:off x="590550" y="523875"/>
            <a:ext cx="11049000" cy="809625"/>
          </a:xfrm>
          <a:prstGeom prst="rect">
            <a:avLst/>
          </a:prstGeom>
          <a:noFill/>
          <a:ln w="0">
            <a:noFill/>
          </a:ln>
        </p:spPr>
        <p:txBody>
          <a:bodyPr>
            <a:noAutofit/>
          </a:bodyPr>
          <a:lstStyle/>
          <a:p>
            <a:pPr>
              <a:defRPr sz="3150" b="1">
                <a:solidFill>
                  <a:srgbClr val="FFFFFF"/>
                </a:solidFill>
                <a:latin typeface="Calibri"/>
                <a:ea typeface="Calibri"/>
                <a:cs typeface="Calibri"/>
              </a:defRPr>
            </a:pPr>
            <a:r>
              <a:rPr sz="3150" b="1">
                <a:solidFill>
                  <a:srgbClr val="FFFFFF"/>
                </a:solidFill>
                <a:latin typeface="Calibri"/>
                <a:ea typeface="Calibri"/>
                <a:cs typeface="Calibri"/>
              </a:rPr>
              <a:t>Your issued assignment</a:t>
            </a:r>
          </a:p>
        </p:txBody>
      </p:sp>
      <p:sp>
        <p:nvSpPr>
          <p:cNvPr id="4" name="">
            <a:extLst>
              <a:ext uri="{FF2B5EF4-FFF2-40B4-BE49-F238E27FC236}">
                <ns2:creationId id="{28447D47-2AB8-457A-9E8D-D8EC3C1D1726}"/>
              </a:ext>
            </a:extLst>
          </p:cNvPr>
          <p:cNvSpPr>
            <a:spLocks noGrp="1"/>
          </p:cNvSpPr>
          <p:nvPr/>
        </p:nvSpPr>
        <p:spPr>
          <a:xfrm>
            <a:off x="590550" y="1781175"/>
            <a:ext cx="619125" cy="571500"/>
          </a:xfrm>
          <a:prstGeom prst="rect">
            <a:avLst/>
          </a:prstGeom>
          <a:noFill/>
          <a:ln w="0">
            <a:noFill/>
          </a:ln>
        </p:spPr>
        <p:txBody>
          <a:bodyPr>
            <a:noAutofit/>
          </a:bodyPr>
          <a:lstStyle/>
          <a:p>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a:ext uri="{FF2B5EF4-FFF2-40B4-BE49-F238E27FC236}">
                <ns2:creationId id="{9E51FCFA-F389-43CE-B1BD-3512E4F36D1C}"/>
              </a:ext>
            </a:extLst>
          </p:cNvPr>
          <p:cNvSpPr>
            <a:spLocks noGrp="1"/>
          </p:cNvSpPr>
          <p:nvPr/>
        </p:nvSpPr>
        <p:spPr>
          <a:xfrm>
            <a:off x="1381125" y="1781175"/>
            <a:ext cx="10096500" cy="992981"/>
          </a:xfrm>
          <a:prstGeom prst="rect">
            <a:avLst/>
          </a:prstGeom>
          <a:noFill/>
          <a:ln w="0">
            <a:noFill/>
          </a:ln>
        </p:spPr>
        <p:txBody>
          <a:bodyPr>
            <a:noAutofit/>
          </a:bodyPr>
          <a:lstStyle/>
          <a:p>
            <a:pPr>
              <a:defRPr sz="2250" b="0">
                <a:solidFill>
                  <a:srgbClr val="1C3144"/>
                </a:solidFill>
                <a:latin typeface="Calibri"/>
                <a:ea typeface="Calibri"/>
                <a:cs typeface="Calibri"/>
              </a:defRPr>
            </a:pPr>
            <a:r>
              <a:rPr sz="2250" b="0">
                <a:solidFill>
                  <a:srgbClr val="1C3144"/>
                </a:solidFill>
                <a:latin typeface="Calibri"/>
                <a:ea typeface="Calibri"/>
                <a:cs typeface="Calibri"/>
              </a:rPr>
              <a:t>Open W05_student.ipynb.</a:t>
            </a:r>
          </a:p>
        </p:txBody>
      </p:sp>
      <p:sp>
        <p:nvSpPr>
          <p:cNvPr id="6" name="">
            <a:extLst>
              <a:ext uri="{FF2B5EF4-FFF2-40B4-BE49-F238E27FC236}">
                <ns2:creationId id="{CFCA125F-5C23-4124-8909-4932CA2A2B46}"/>
              </a:ext>
            </a:extLst>
          </p:cNvPr>
          <p:cNvSpPr>
            <a:spLocks noGrp="1"/>
          </p:cNvSpPr>
          <p:nvPr/>
        </p:nvSpPr>
        <p:spPr>
          <a:xfrm>
            <a:off x="590550" y="2850356"/>
            <a:ext cx="619125" cy="571500"/>
          </a:xfrm>
          <a:prstGeom prst="rect">
            <a:avLst/>
          </a:prstGeom>
          <a:noFill/>
          <a:ln w="0">
            <a:noFill/>
          </a:ln>
        </p:spPr>
        <p:txBody>
          <a:bodyPr>
            <a:noAutofit/>
          </a:bodyPr>
          <a:lstStyle/>
          <a:p>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a:ext uri="{FF2B5EF4-FFF2-40B4-BE49-F238E27FC236}">
                <ns2:creationId id="{A63EDE62-D33E-4EDF-AD86-C3C83BAAC986}"/>
              </a:ext>
            </a:extLst>
          </p:cNvPr>
          <p:cNvSpPr>
            <a:spLocks noGrp="1"/>
          </p:cNvSpPr>
          <p:nvPr/>
        </p:nvSpPr>
        <p:spPr>
          <a:xfrm>
            <a:off x="1381125" y="2850356"/>
            <a:ext cx="10096500" cy="992981"/>
          </a:xfrm>
          <a:prstGeom prst="rect">
            <a:avLst/>
          </a:prstGeom>
          <a:noFill/>
          <a:ln w="0">
            <a:noFill/>
          </a:ln>
        </p:spPr>
        <p:txBody>
          <a:bodyPr>
            <a:noAutofit/>
          </a:bodyPr>
          <a:lstStyle/>
          <a:p>
            <a:pPr>
              <a:defRPr sz="2250" b="0">
                <a:solidFill>
                  <a:srgbClr val="1C3144"/>
                </a:solidFill>
                <a:latin typeface="Calibri"/>
                <a:ea typeface="Calibri"/>
                <a:cs typeface="Calibri"/>
              </a:defRPr>
            </a:pPr>
            <a:r>
              <a:rPr sz="2250" b="0">
                <a:solidFill>
                  <a:srgbClr val="1C3144"/>
                </a:solidFill>
                <a:latin typeface="Calibri"/>
                <a:ea typeface="Calibri"/>
                <a:cs typeface="Calibri"/>
              </a:rPr>
              <a:t>Read every task and its input units before coding.</a:t>
            </a:r>
          </a:p>
        </p:txBody>
      </p:sp>
      <p:sp>
        <p:nvSpPr>
          <p:cNvPr id="8" name="">
            <a:extLst>
              <a:ext uri="{FF2B5EF4-FFF2-40B4-BE49-F238E27FC236}">
                <ns2:creationId id="{13645C1F-6DE1-4D8C-9E32-A21B60FF5475}"/>
              </a:ext>
            </a:extLst>
          </p:cNvPr>
          <p:cNvSpPr>
            <a:spLocks noGrp="1"/>
          </p:cNvSpPr>
          <p:nvPr/>
        </p:nvSpPr>
        <p:spPr>
          <a:xfrm>
            <a:off x="590550" y="3919538"/>
            <a:ext cx="619125" cy="571500"/>
          </a:xfrm>
          <a:prstGeom prst="rect">
            <a:avLst/>
          </a:prstGeom>
          <a:noFill/>
          <a:ln w="0">
            <a:noFill/>
          </a:ln>
        </p:spPr>
        <p:txBody>
          <a:bodyPr>
            <a:noAutofit/>
          </a:bodyPr>
          <a:lstStyle/>
          <a:p>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a:ext uri="{FF2B5EF4-FFF2-40B4-BE49-F238E27FC236}">
                <ns2:creationId id="{1BED7A7D-D9AC-411C-A226-15E719AEBFBA}"/>
              </a:ext>
            </a:extLst>
          </p:cNvPr>
          <p:cNvSpPr>
            <a:spLocks noGrp="1"/>
          </p:cNvSpPr>
          <p:nvPr/>
        </p:nvSpPr>
        <p:spPr>
          <a:xfrm>
            <a:off x="1381125" y="3919538"/>
            <a:ext cx="10096500" cy="992981"/>
          </a:xfrm>
          <a:prstGeom prst="rect">
            <a:avLst/>
          </a:prstGeom>
          <a:noFill/>
          <a:ln w="0">
            <a:noFill/>
          </a:ln>
        </p:spPr>
        <p:txBody>
          <a:bodyPr>
            <a:noAutofit/>
          </a:bodyPr>
          <a:lstStyle/>
          <a:p>
            <a:pPr>
              <a:defRPr sz="2250" b="0">
                <a:solidFill>
                  <a:srgbClr val="1C3144"/>
                </a:solidFill>
                <a:latin typeface="Calibri"/>
                <a:ea typeface="Calibri"/>
                <a:cs typeface="Calibri"/>
              </a:defRPr>
            </a:pPr>
            <a:r>
              <a:rPr sz="2250" b="0">
                <a:solidFill>
                  <a:srgbClr val="1C3144"/>
                </a:solidFill>
                <a:latin typeface="Calibri"/>
                <a:ea typeface="Calibri"/>
                <a:cs typeface="Calibri"/>
              </a:rPr>
              <a:t>Keep the required function names and returned outputs.</a:t>
            </a:r>
          </a:p>
        </p:txBody>
      </p:sp>
      <p:sp>
        <p:nvSpPr>
          <p:cNvPr id="10" name="">
            <a:extLst>
              <a:ext uri="{FF2B5EF4-FFF2-40B4-BE49-F238E27FC236}">
                <ns2:creationId id="{B5BC72C8-1F86-44CA-8025-588563C433F2}"/>
              </a:ext>
            </a:extLst>
          </p:cNvPr>
          <p:cNvSpPr>
            <a:spLocks noGrp="1"/>
          </p:cNvSpPr>
          <p:nvPr/>
        </p:nvSpPr>
        <p:spPr>
          <a:xfrm>
            <a:off x="590550" y="4988719"/>
            <a:ext cx="619125" cy="571500"/>
          </a:xfrm>
          <a:prstGeom prst="rect">
            <a:avLst/>
          </a:prstGeom>
          <a:noFill/>
          <a:ln w="0">
            <a:noFill/>
          </a:ln>
        </p:spPr>
        <p:txBody>
          <a:bodyPr>
            <a:noAutofit/>
          </a:bodyPr>
          <a:lstStyle/>
          <a:p>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a:ext uri="{FF2B5EF4-FFF2-40B4-BE49-F238E27FC236}">
                <ns2:creationId id="{D3A1F384-569B-4D04-9814-88F7064D0FCF}"/>
              </a:ext>
            </a:extLst>
          </p:cNvPr>
          <p:cNvSpPr>
            <a:spLocks noGrp="1"/>
          </p:cNvSpPr>
          <p:nvPr/>
        </p:nvSpPr>
        <p:spPr>
          <a:xfrm>
            <a:off x="1381125" y="4988719"/>
            <a:ext cx="10096500" cy="992981"/>
          </a:xfrm>
          <a:prstGeom prst="rect">
            <a:avLst/>
          </a:prstGeom>
          <a:noFill/>
          <a:ln w="0">
            <a:noFill/>
          </a:ln>
        </p:spPr>
        <p:txBody>
          <a:bodyPr>
            <a:noAutofit/>
          </a:bodyPr>
          <a:lstStyle/>
          <a:p>
            <a:pPr>
              <a:defRPr sz="2250" b="0">
                <a:solidFill>
                  <a:srgbClr val="1C3144"/>
                </a:solidFill>
                <a:latin typeface="Calibri"/>
                <a:ea typeface="Calibri"/>
                <a:cs typeface="Calibri"/>
              </a:defRPr>
            </a:pPr>
            <a:r>
              <a:rPr sz="2250" b="0">
                <a:solidFill>
                  <a:srgbClr val="1C3144"/>
                </a:solidFill>
                <a:latin typeface="Calibri"/>
                <a:ea typeface="Calibri"/>
                <a:cs typeface="Calibri"/>
              </a:rPr>
              <a:t>Restart and run all cells, then save the completed notebook.</a:t>
            </a:r>
          </a:p>
        </p:txBody>
      </p:sp>
      <p:sp>
        <p:nvSpPr>
          <p:cNvPr id="12" name="">
            <a:extLst>
              <a:ext uri="{FF2B5EF4-FFF2-40B4-BE49-F238E27FC236}">
                <ns2:creationId id="{9D235C56-F4B5-485D-A9C5-EAFFEC247331}"/>
              </a:ext>
            </a:extLst>
          </p:cNvPr>
          <p:cNvSpPr>
            <a:spLocks noGrp="1"/>
          </p:cNvSpPr>
          <p:nvPr/>
        </p:nvSpPr>
        <p:spPr>
          <a:xfrm>
            <a:off x="590550" y="6524625"/>
            <a:ext cx="10810875" cy="219075"/>
          </a:xfrm>
          <a:prstGeom prst="rect">
            <a:avLst/>
          </a:prstGeom>
          <a:noFill/>
          <a:ln w="0">
            <a:noFill/>
          </a:ln>
        </p:spPr>
        <p:txBody>
          <a:bodyPr>
            <a:noAutofit/>
          </a:bodyPr>
          <a:lstStyle/>
          <a:p>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5   34</a:t>
            </a:r>
          </a:p>
        </p:txBody>
      </p:sp>
    </p:spTree>
    <p:extLst>
      <p:ext uri="{BB962C8B-B14F-4D97-AF65-F5344CB8AC3E}">
        <ns3:creationId val="771518633"/>
      </p:ext>
    </p:extLst>
  </p:cSld>
</p:sld>
</file>

<file path=ppt/slides/slide3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8F829E83-2E7E-4DC2-AA6F-E4A546A6853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98AE567-B304-46B9-B7B1-544BD2324F1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YOUR REQUIRED TASK</a:t>
            </a:r>
          </a:p>
        </p:txBody>
      </p:sp>
      <p:sp>
        <p:nvSpPr>
          <p:cNvPr id="3" name="">
            <a:extLst xmlns:a="http://schemas.openxmlformats.org/drawingml/2006/main">
              <a:ext uri="{FF2B5EF4-FFF2-40B4-BE49-F238E27FC236}">
                <a16:creationId xmlns:a16="http://schemas.microsoft.com/office/drawing/2014/main" id="{3360FF2F-C141-47FC-A60A-E324414FA1E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q1: 3 marks</a:t>
            </a:r>
          </a:p>
        </p:txBody>
      </p:sp>
      <p:sp>
        <p:nvSpPr>
          <p:cNvPr id="4" name="">
            <a:extLst xmlns:a="http://schemas.openxmlformats.org/drawingml/2006/main">
              <a:ext uri="{FF2B5EF4-FFF2-40B4-BE49-F238E27FC236}">
                <a16:creationId xmlns:a16="http://schemas.microsoft.com/office/drawing/2014/main" id="{7A780723-5F26-45BE-82A3-873885CA0E19}"/>
              </a:ext>
            </a:extLst>
          </p:cNvPr>
          <p:cNvSpPr>
            <a:spLocks xmlns:a="http://schemas.openxmlformats.org/drawingml/2006/main" noGrp="1"/>
          </p:cNvSpPr>
          <p:nvPr/>
        </p:nvSpPr>
        <p:spPr>
          <a:xfrm xmlns:a="http://schemas.openxmlformats.org/drawingml/2006/main">
            <a:off x="590550" y="1752600"/>
            <a:ext cx="11010900" cy="38671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B2975E2C-C354-44E0-88C6-AF618581B721}"/>
              </a:ext>
            </a:extLst>
          </p:cNvPr>
          <p:cNvSpPr>
            <a:spLocks xmlns:a="http://schemas.openxmlformats.org/drawingml/2006/main" noGrp="1"/>
          </p:cNvSpPr>
          <p:nvPr/>
        </p:nvSpPr>
        <p:spPr>
          <a:xfrm xmlns:a="http://schemas.openxmlformats.org/drawingml/2006/main">
            <a:off x="838200" y="2019300"/>
            <a:ext cx="10477500" cy="3390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Load campus_energy.csv into a DataFrame called df.</a:t>
            </a:r>
          </a:p>
        </p:txBody>
      </p:sp>
      <p:sp>
        <p:nvSpPr>
          <p:cNvPr id="6" name="">
            <a:extLst xmlns:a="http://schemas.openxmlformats.org/drawingml/2006/main">
              <a:ext uri="{FF2B5EF4-FFF2-40B4-BE49-F238E27FC236}">
                <a16:creationId xmlns:a16="http://schemas.microsoft.com/office/drawing/2014/main" id="{C1A7D2A9-B480-4238-BBD4-770CFC56055F}"/>
              </a:ext>
            </a:extLst>
          </p:cNvPr>
          <p:cNvSpPr>
            <a:spLocks xmlns:a="http://schemas.openxmlformats.org/drawingml/2006/main" noGrp="1"/>
          </p:cNvSpPr>
          <p:nvPr/>
        </p:nvSpPr>
        <p:spPr>
          <a:xfrm xmlns:a="http://schemas.openxmlformats.org/drawingml/2006/main">
            <a:off x="590550" y="5829300"/>
            <a:ext cx="11010900" cy="5048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D91AF3D8-9FED-4918-8501-4CE1708F4831}"/>
              </a:ext>
            </a:extLst>
          </p:cNvPr>
          <p:cNvSpPr>
            <a:spLocks xmlns:a="http://schemas.openxmlformats.org/drawingml/2006/main" noGrp="1"/>
          </p:cNvSpPr>
          <p:nvPr/>
        </p:nvSpPr>
        <p:spPr>
          <a:xfrm xmlns:a="http://schemas.openxmlformats.org/drawingml/2006/main">
            <a:off x="742950" y="5905500"/>
            <a:ext cx="10706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Keep the exact names and outputs. Check types, units and the issued brief.</a:t>
            </a:r>
          </a:p>
        </p:txBody>
      </p:sp>
      <p:sp>
        <p:nvSpPr>
          <p:cNvPr id="8" name="">
            <a:extLst xmlns:a="http://schemas.openxmlformats.org/drawingml/2006/main">
              <a:ext uri="{FF2B5EF4-FFF2-40B4-BE49-F238E27FC236}">
                <a16:creationId xmlns:a16="http://schemas.microsoft.com/office/drawing/2014/main" id="{45947CB2-FAD2-4575-878E-6DD4C151E37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5   35</a:t>
            </a:r>
          </a:p>
        </p:txBody>
      </p:sp>
    </p:spTree>
    <p:extLst>
      <p:ext uri="{BB962C8B-B14F-4D97-AF65-F5344CB8AC3E}">
        <p14:creationId xmlns:p14="http://schemas.microsoft.com/office/powerpoint/2010/main" val="879343120"/>
      </p:ext>
    </p:extLst>
  </p:cSld>
</p:sld>
</file>

<file path=ppt/slides/slide3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9ABF057E-4F0C-4E02-86B4-874DB6879B1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7E40409D-3CBD-4217-9F7E-62E9CC83567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YOUR REQUIRED TASK</a:t>
            </a:r>
          </a:p>
        </p:txBody>
      </p:sp>
      <p:sp>
        <p:nvSpPr>
          <p:cNvPr id="3" name="">
            <a:extLst xmlns:a="http://schemas.openxmlformats.org/drawingml/2006/main">
              <a:ext uri="{FF2B5EF4-FFF2-40B4-BE49-F238E27FC236}">
                <a16:creationId xmlns:a16="http://schemas.microsoft.com/office/drawing/2014/main" id="{7CEE7C0D-598D-482A-9882-15153586E13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q2: 3 marks</a:t>
            </a:r>
          </a:p>
        </p:txBody>
      </p:sp>
      <p:sp>
        <p:nvSpPr>
          <p:cNvPr id="4" name="">
            <a:extLst xmlns:a="http://schemas.openxmlformats.org/drawingml/2006/main">
              <a:ext uri="{FF2B5EF4-FFF2-40B4-BE49-F238E27FC236}">
                <a16:creationId xmlns:a16="http://schemas.microsoft.com/office/drawing/2014/main" id="{7A770660-A9B1-4D13-A9DD-267CC6B8CF2F}"/>
              </a:ext>
            </a:extLst>
          </p:cNvPr>
          <p:cNvSpPr>
            <a:spLocks xmlns:a="http://schemas.openxmlformats.org/drawingml/2006/main" noGrp="1"/>
          </p:cNvSpPr>
          <p:nvPr/>
        </p:nvSpPr>
        <p:spPr>
          <a:xfrm xmlns:a="http://schemas.openxmlformats.org/drawingml/2006/main">
            <a:off x="590550" y="1752600"/>
            <a:ext cx="11010900" cy="38671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4A987156-2D02-437D-A09E-0C1D30C274EA}"/>
              </a:ext>
            </a:extLst>
          </p:cNvPr>
          <p:cNvSpPr>
            <a:spLocks xmlns:a="http://schemas.openxmlformats.org/drawingml/2006/main" noGrp="1"/>
          </p:cNvSpPr>
          <p:nvPr/>
        </p:nvSpPr>
        <p:spPr>
          <a:xfrm xmlns:a="http://schemas.openxmlformats.org/drawingml/2006/main">
            <a:off x="838200" y="2019300"/>
            <a:ext cx="10477500" cy="3390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Set n_meters to the number of distinct meters in the file.</a:t>
            </a:r>
          </a:p>
        </p:txBody>
      </p:sp>
      <p:sp>
        <p:nvSpPr>
          <p:cNvPr id="6" name="">
            <a:extLst xmlns:a="http://schemas.openxmlformats.org/drawingml/2006/main">
              <a:ext uri="{FF2B5EF4-FFF2-40B4-BE49-F238E27FC236}">
                <a16:creationId xmlns:a16="http://schemas.microsoft.com/office/drawing/2014/main" id="{B249A707-87F4-4258-9E6C-199CC28DBA19}"/>
              </a:ext>
            </a:extLst>
          </p:cNvPr>
          <p:cNvSpPr>
            <a:spLocks xmlns:a="http://schemas.openxmlformats.org/drawingml/2006/main" noGrp="1"/>
          </p:cNvSpPr>
          <p:nvPr/>
        </p:nvSpPr>
        <p:spPr>
          <a:xfrm xmlns:a="http://schemas.openxmlformats.org/drawingml/2006/main">
            <a:off x="590550" y="5829300"/>
            <a:ext cx="11010900" cy="5048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0F674D09-9BAD-4634-A1E0-B78C9DC5A2C1}"/>
              </a:ext>
            </a:extLst>
          </p:cNvPr>
          <p:cNvSpPr>
            <a:spLocks xmlns:a="http://schemas.openxmlformats.org/drawingml/2006/main" noGrp="1"/>
          </p:cNvSpPr>
          <p:nvPr/>
        </p:nvSpPr>
        <p:spPr>
          <a:xfrm xmlns:a="http://schemas.openxmlformats.org/drawingml/2006/main">
            <a:off x="742950" y="5905500"/>
            <a:ext cx="10706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Keep the exact names and outputs. Check types, units and the issued brief.</a:t>
            </a:r>
          </a:p>
        </p:txBody>
      </p:sp>
      <p:sp>
        <p:nvSpPr>
          <p:cNvPr id="8" name="">
            <a:extLst xmlns:a="http://schemas.openxmlformats.org/drawingml/2006/main">
              <a:ext uri="{FF2B5EF4-FFF2-40B4-BE49-F238E27FC236}">
                <a16:creationId xmlns:a16="http://schemas.microsoft.com/office/drawing/2014/main" id="{F86A158E-13F4-4861-B0E3-EEBE546720D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5   36</a:t>
            </a:r>
          </a:p>
        </p:txBody>
      </p:sp>
    </p:spTree>
    <p:extLst>
      <p:ext uri="{BB962C8B-B14F-4D97-AF65-F5344CB8AC3E}">
        <p14:creationId xmlns:p14="http://schemas.microsoft.com/office/powerpoint/2010/main" val="1615480538"/>
      </p:ext>
    </p:extLst>
  </p:cSld>
</p:sld>
</file>

<file path=ppt/slides/slide3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B3398C23-E055-4C20-9EE6-0CBB998616C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1BD44788-B7A7-4B7C-B17D-CC26071AB3B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YOUR REQUIRED TASK</a:t>
            </a:r>
          </a:p>
        </p:txBody>
      </p:sp>
      <p:sp>
        <p:nvSpPr>
          <p:cNvPr id="3" name="">
            <a:extLst xmlns:a="http://schemas.openxmlformats.org/drawingml/2006/main">
              <a:ext uri="{FF2B5EF4-FFF2-40B4-BE49-F238E27FC236}">
                <a16:creationId xmlns:a16="http://schemas.microsoft.com/office/drawing/2014/main" id="{54705997-4B0D-41E4-A0C7-9AD68499754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q3: 4 marks</a:t>
            </a:r>
          </a:p>
        </p:txBody>
      </p:sp>
      <p:sp>
        <p:nvSpPr>
          <p:cNvPr id="4" name="">
            <a:extLst xmlns:a="http://schemas.openxmlformats.org/drawingml/2006/main">
              <a:ext uri="{FF2B5EF4-FFF2-40B4-BE49-F238E27FC236}">
                <a16:creationId xmlns:a16="http://schemas.microsoft.com/office/drawing/2014/main" id="{531FE395-D302-4A9F-AB1D-A84DB17BA086}"/>
              </a:ext>
            </a:extLst>
          </p:cNvPr>
          <p:cNvSpPr>
            <a:spLocks xmlns:a="http://schemas.openxmlformats.org/drawingml/2006/main" noGrp="1"/>
          </p:cNvSpPr>
          <p:nvPr/>
        </p:nvSpPr>
        <p:spPr>
          <a:xfrm xmlns:a="http://schemas.openxmlformats.org/drawingml/2006/main">
            <a:off x="590550" y="1752600"/>
            <a:ext cx="11010900" cy="38671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594E360F-3B35-4A71-A8CE-3119475FC9B7}"/>
              </a:ext>
            </a:extLst>
          </p:cNvPr>
          <p:cNvSpPr>
            <a:spLocks xmlns:a="http://schemas.openxmlformats.org/drawingml/2006/main" noGrp="1"/>
          </p:cNvSpPr>
          <p:nvPr/>
        </p:nvSpPr>
        <p:spPr>
          <a:xfrm xmlns:a="http://schemas.openxmlformats.org/drawingml/2006/main">
            <a:off x="838200" y="2019300"/>
            <a:ext cx="10477500" cy="3390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Add a column cost_per_kwh to df, equal to cost_ugx / kwh.</a:t>
            </a:r>
          </a:p>
        </p:txBody>
      </p:sp>
      <p:sp>
        <p:nvSpPr>
          <p:cNvPr id="6" name="">
            <a:extLst xmlns:a="http://schemas.openxmlformats.org/drawingml/2006/main">
              <a:ext uri="{FF2B5EF4-FFF2-40B4-BE49-F238E27FC236}">
                <a16:creationId xmlns:a16="http://schemas.microsoft.com/office/drawing/2014/main" id="{641C8664-F83A-472D-816F-C0A770E6166A}"/>
              </a:ext>
            </a:extLst>
          </p:cNvPr>
          <p:cNvSpPr>
            <a:spLocks xmlns:a="http://schemas.openxmlformats.org/drawingml/2006/main" noGrp="1"/>
          </p:cNvSpPr>
          <p:nvPr/>
        </p:nvSpPr>
        <p:spPr>
          <a:xfrm xmlns:a="http://schemas.openxmlformats.org/drawingml/2006/main">
            <a:off x="590550" y="5829300"/>
            <a:ext cx="11010900" cy="5048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64ED6CFF-0369-4710-B158-4CE441484D48}"/>
              </a:ext>
            </a:extLst>
          </p:cNvPr>
          <p:cNvSpPr>
            <a:spLocks xmlns:a="http://schemas.openxmlformats.org/drawingml/2006/main" noGrp="1"/>
          </p:cNvSpPr>
          <p:nvPr/>
        </p:nvSpPr>
        <p:spPr>
          <a:xfrm xmlns:a="http://schemas.openxmlformats.org/drawingml/2006/main">
            <a:off x="742950" y="5905500"/>
            <a:ext cx="10706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Keep the exact names and outputs. Check types, units and the issued brief.</a:t>
            </a:r>
          </a:p>
        </p:txBody>
      </p:sp>
      <p:sp>
        <p:nvSpPr>
          <p:cNvPr id="8" name="">
            <a:extLst xmlns:a="http://schemas.openxmlformats.org/drawingml/2006/main">
              <a:ext uri="{FF2B5EF4-FFF2-40B4-BE49-F238E27FC236}">
                <a16:creationId xmlns:a16="http://schemas.microsoft.com/office/drawing/2014/main" id="{3AC53D22-58C7-43D2-88C2-01E9F8277B5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5   37</a:t>
            </a:r>
          </a:p>
        </p:txBody>
      </p:sp>
    </p:spTree>
    <p:extLst>
      <p:ext uri="{BB962C8B-B14F-4D97-AF65-F5344CB8AC3E}">
        <p14:creationId xmlns:p14="http://schemas.microsoft.com/office/powerpoint/2010/main" val="863889625"/>
      </p:ext>
    </p:extLst>
  </p:cSld>
</p:sld>
</file>

<file path=ppt/slides/slide3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460D430E-3429-4DEC-B1B8-0D0D41643AA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6C99EAEC-ED7D-4E36-A09A-57F10723711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YOUR REQUIRED TASK</a:t>
            </a:r>
          </a:p>
        </p:txBody>
      </p:sp>
      <p:sp>
        <p:nvSpPr>
          <p:cNvPr id="3" name="">
            <a:extLst xmlns:a="http://schemas.openxmlformats.org/drawingml/2006/main">
              <a:ext uri="{FF2B5EF4-FFF2-40B4-BE49-F238E27FC236}">
                <a16:creationId xmlns:a16="http://schemas.microsoft.com/office/drawing/2014/main" id="{9E330784-C2D1-4BAA-8F01-5E19B264159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q4: 4 marks</a:t>
            </a:r>
          </a:p>
        </p:txBody>
      </p:sp>
      <p:sp>
        <p:nvSpPr>
          <p:cNvPr id="4" name="">
            <a:extLst xmlns:a="http://schemas.openxmlformats.org/drawingml/2006/main">
              <a:ext uri="{FF2B5EF4-FFF2-40B4-BE49-F238E27FC236}">
                <a16:creationId xmlns:a16="http://schemas.microsoft.com/office/drawing/2014/main" id="{2D394C32-D0FB-4A5E-B482-78F754C4F9FA}"/>
              </a:ext>
            </a:extLst>
          </p:cNvPr>
          <p:cNvSpPr>
            <a:spLocks xmlns:a="http://schemas.openxmlformats.org/drawingml/2006/main" noGrp="1"/>
          </p:cNvSpPr>
          <p:nvPr/>
        </p:nvSpPr>
        <p:spPr>
          <a:xfrm xmlns:a="http://schemas.openxmlformats.org/drawingml/2006/main">
            <a:off x="590550" y="1752600"/>
            <a:ext cx="11010900" cy="38671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CEB5E536-85B6-415C-88C5-BD723B8BEFDA}"/>
              </a:ext>
            </a:extLst>
          </p:cNvPr>
          <p:cNvSpPr>
            <a:spLocks xmlns:a="http://schemas.openxmlformats.org/drawingml/2006/main" noGrp="1"/>
          </p:cNvSpPr>
          <p:nvPr/>
        </p:nvSpPr>
        <p:spPr>
          <a:xfrm xmlns:a="http://schemas.openxmlformats.org/drawingml/2006/main">
            <a:off x="838200" y="2019300"/>
            <a:ext cx="10477500" cy="3390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Set high_use to the rows of df where kwh is greater than 5000.</a:t>
            </a:r>
          </a:p>
          <a:p xmlns:a="http://schemas.openxmlformats.org/drawingml/2006/main">
            <a:r>
              <a:t/>
            </a:r>
          </a:p>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Do this after q3 so the derived column comes along.</a:t>
            </a:r>
          </a:p>
        </p:txBody>
      </p:sp>
      <p:sp>
        <p:nvSpPr>
          <p:cNvPr id="6" name="">
            <a:extLst xmlns:a="http://schemas.openxmlformats.org/drawingml/2006/main">
              <a:ext uri="{FF2B5EF4-FFF2-40B4-BE49-F238E27FC236}">
                <a16:creationId xmlns:a16="http://schemas.microsoft.com/office/drawing/2014/main" id="{39FEA75D-1F1F-4955-8F38-094C6884B1D3}"/>
              </a:ext>
            </a:extLst>
          </p:cNvPr>
          <p:cNvSpPr>
            <a:spLocks xmlns:a="http://schemas.openxmlformats.org/drawingml/2006/main" noGrp="1"/>
          </p:cNvSpPr>
          <p:nvPr/>
        </p:nvSpPr>
        <p:spPr>
          <a:xfrm xmlns:a="http://schemas.openxmlformats.org/drawingml/2006/main">
            <a:off x="590550" y="5829300"/>
            <a:ext cx="11010900" cy="5048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6B89477C-7646-4612-901E-5C86EEF52FA6}"/>
              </a:ext>
            </a:extLst>
          </p:cNvPr>
          <p:cNvSpPr>
            <a:spLocks xmlns:a="http://schemas.openxmlformats.org/drawingml/2006/main" noGrp="1"/>
          </p:cNvSpPr>
          <p:nvPr/>
        </p:nvSpPr>
        <p:spPr>
          <a:xfrm xmlns:a="http://schemas.openxmlformats.org/drawingml/2006/main">
            <a:off x="742950" y="5905500"/>
            <a:ext cx="10706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Keep the exact names and outputs. Check types, units and the issued brief.</a:t>
            </a:r>
          </a:p>
        </p:txBody>
      </p:sp>
      <p:sp>
        <p:nvSpPr>
          <p:cNvPr id="8" name="">
            <a:extLst xmlns:a="http://schemas.openxmlformats.org/drawingml/2006/main">
              <a:ext uri="{FF2B5EF4-FFF2-40B4-BE49-F238E27FC236}">
                <a16:creationId xmlns:a16="http://schemas.microsoft.com/office/drawing/2014/main" id="{64945FFA-0142-4401-A9E4-0A0DEDEE8ED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5   38</a:t>
            </a:r>
          </a:p>
        </p:txBody>
      </p:sp>
    </p:spTree>
    <p:extLst>
      <p:ext uri="{BB962C8B-B14F-4D97-AF65-F5344CB8AC3E}">
        <p14:creationId xmlns:p14="http://schemas.microsoft.com/office/powerpoint/2010/main" val="1821211518"/>
      </p:ext>
    </p:extLst>
  </p:cSld>
</p:sld>
</file>

<file path=ppt/slides/slide3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44D400AC-029F-4569-A841-06603F6D5F3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48003E70-C93F-4421-828F-6E6E2FC8D5E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YOUR REQUIRED TASK</a:t>
            </a:r>
          </a:p>
        </p:txBody>
      </p:sp>
      <p:sp>
        <p:nvSpPr>
          <p:cNvPr id="3" name="">
            <a:extLst xmlns:a="http://schemas.openxmlformats.org/drawingml/2006/main">
              <a:ext uri="{FF2B5EF4-FFF2-40B4-BE49-F238E27FC236}">
                <a16:creationId xmlns:a16="http://schemas.microsoft.com/office/drawing/2014/main" id="{F4D15928-2595-40B6-894E-C4EA298AC01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q5: 3 marks</a:t>
            </a:r>
          </a:p>
        </p:txBody>
      </p:sp>
      <p:sp>
        <p:nvSpPr>
          <p:cNvPr id="4" name="">
            <a:extLst xmlns:a="http://schemas.openxmlformats.org/drawingml/2006/main">
              <a:ext uri="{FF2B5EF4-FFF2-40B4-BE49-F238E27FC236}">
                <a16:creationId xmlns:a16="http://schemas.microsoft.com/office/drawing/2014/main" id="{F2D89620-D5C7-4596-911B-6723BB73FD9D}"/>
              </a:ext>
            </a:extLst>
          </p:cNvPr>
          <p:cNvSpPr>
            <a:spLocks xmlns:a="http://schemas.openxmlformats.org/drawingml/2006/main" noGrp="1"/>
          </p:cNvSpPr>
          <p:nvPr/>
        </p:nvSpPr>
        <p:spPr>
          <a:xfrm xmlns:a="http://schemas.openxmlformats.org/drawingml/2006/main">
            <a:off x="590550" y="1752600"/>
            <a:ext cx="11010900" cy="38671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69040B37-A472-48F2-8935-0DAD3B278239}"/>
              </a:ext>
            </a:extLst>
          </p:cNvPr>
          <p:cNvSpPr>
            <a:spLocks xmlns:a="http://schemas.openxmlformats.org/drawingml/2006/main" noGrp="1"/>
          </p:cNvSpPr>
          <p:nvPr/>
        </p:nvSpPr>
        <p:spPr>
          <a:xfrm xmlns:a="http://schemas.openxmlformats.org/drawingml/2006/main">
            <a:off x="838200" y="2019300"/>
            <a:ext cx="10477500" cy="3390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Set mean_cost_per_kwh to the mean of the cost_per_kwh column.</a:t>
            </a:r>
          </a:p>
        </p:txBody>
      </p:sp>
      <p:sp>
        <p:nvSpPr>
          <p:cNvPr id="6" name="">
            <a:extLst xmlns:a="http://schemas.openxmlformats.org/drawingml/2006/main">
              <a:ext uri="{FF2B5EF4-FFF2-40B4-BE49-F238E27FC236}">
                <a16:creationId xmlns:a16="http://schemas.microsoft.com/office/drawing/2014/main" id="{24FA233D-F6CA-4884-99EB-F978FA59DFF5}"/>
              </a:ext>
            </a:extLst>
          </p:cNvPr>
          <p:cNvSpPr>
            <a:spLocks xmlns:a="http://schemas.openxmlformats.org/drawingml/2006/main" noGrp="1"/>
          </p:cNvSpPr>
          <p:nvPr/>
        </p:nvSpPr>
        <p:spPr>
          <a:xfrm xmlns:a="http://schemas.openxmlformats.org/drawingml/2006/main">
            <a:off x="590550" y="5829300"/>
            <a:ext cx="11010900" cy="5048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BA45A108-8C00-42ED-8661-21693BA1E086}"/>
              </a:ext>
            </a:extLst>
          </p:cNvPr>
          <p:cNvSpPr>
            <a:spLocks xmlns:a="http://schemas.openxmlformats.org/drawingml/2006/main" noGrp="1"/>
          </p:cNvSpPr>
          <p:nvPr/>
        </p:nvSpPr>
        <p:spPr>
          <a:xfrm xmlns:a="http://schemas.openxmlformats.org/drawingml/2006/main">
            <a:off x="742950" y="5905500"/>
            <a:ext cx="10706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Keep the exact names and outputs. Check types, units and the issued brief.</a:t>
            </a:r>
          </a:p>
        </p:txBody>
      </p:sp>
      <p:sp>
        <p:nvSpPr>
          <p:cNvPr id="8" name="">
            <a:extLst xmlns:a="http://schemas.openxmlformats.org/drawingml/2006/main">
              <a:ext uri="{FF2B5EF4-FFF2-40B4-BE49-F238E27FC236}">
                <a16:creationId xmlns:a16="http://schemas.microsoft.com/office/drawing/2014/main" id="{D46ED2B8-27CD-47AC-A19E-CFAAD5924BA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5   39</a:t>
            </a:r>
          </a:p>
        </p:txBody>
      </p:sp>
    </p:spTree>
    <p:extLst>
      <p:ext uri="{BB962C8B-B14F-4D97-AF65-F5344CB8AC3E}">
        <p14:creationId xmlns:p14="http://schemas.microsoft.com/office/powerpoint/2010/main" val="102046643"/>
      </p:ext>
    </p:extLst>
  </p:cSld>
</p:sld>
</file>

<file path=ppt/slides/slide4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F6804297-3780-477C-B22F-DE80F1040BA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EC51F14C-82E4-44F4-91C6-9E8C5856342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YOUR REQUIRED TASK</a:t>
            </a:r>
          </a:p>
        </p:txBody>
      </p:sp>
      <p:sp>
        <p:nvSpPr>
          <p:cNvPr id="3" name="">
            <a:extLst xmlns:a="http://schemas.openxmlformats.org/drawingml/2006/main">
              <a:ext uri="{FF2B5EF4-FFF2-40B4-BE49-F238E27FC236}">
                <a16:creationId xmlns:a16="http://schemas.microsoft.com/office/drawing/2014/main" id="{65357CD4-3674-400A-969B-58B4CA14B3A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q6: 3 marks</a:t>
            </a:r>
          </a:p>
        </p:txBody>
      </p:sp>
      <p:sp>
        <p:nvSpPr>
          <p:cNvPr id="4" name="">
            <a:extLst xmlns:a="http://schemas.openxmlformats.org/drawingml/2006/main">
              <a:ext uri="{FF2B5EF4-FFF2-40B4-BE49-F238E27FC236}">
                <a16:creationId xmlns:a16="http://schemas.microsoft.com/office/drawing/2014/main" id="{142D5A79-4CCF-4FB8-BEB4-A173C9C505E4}"/>
              </a:ext>
            </a:extLst>
          </p:cNvPr>
          <p:cNvSpPr>
            <a:spLocks xmlns:a="http://schemas.openxmlformats.org/drawingml/2006/main" noGrp="1"/>
          </p:cNvSpPr>
          <p:nvPr/>
        </p:nvSpPr>
        <p:spPr>
          <a:xfrm xmlns:a="http://schemas.openxmlformats.org/drawingml/2006/main">
            <a:off x="590550" y="1752600"/>
            <a:ext cx="11010900" cy="38671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CE39FEA4-D567-4B7B-BB94-F8E860C1F3E1}"/>
              </a:ext>
            </a:extLst>
          </p:cNvPr>
          <p:cNvSpPr>
            <a:spLocks xmlns:a="http://schemas.openxmlformats.org/drawingml/2006/main" noGrp="1"/>
          </p:cNvSpPr>
          <p:nvPr/>
        </p:nvSpPr>
        <p:spPr>
          <a:xfrm xmlns:a="http://schemas.openxmlformats.org/drawingml/2006/main">
            <a:off x="838200" y="2019300"/>
            <a:ext cx="10477500" cy="3390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Set peak_building to the name of the building with the highest total kwh.</a:t>
            </a:r>
          </a:p>
        </p:txBody>
      </p:sp>
      <p:sp>
        <p:nvSpPr>
          <p:cNvPr id="6" name="">
            <a:extLst xmlns:a="http://schemas.openxmlformats.org/drawingml/2006/main">
              <a:ext uri="{FF2B5EF4-FFF2-40B4-BE49-F238E27FC236}">
                <a16:creationId xmlns:a16="http://schemas.microsoft.com/office/drawing/2014/main" id="{903927FA-DDF0-46A1-AC80-7137E7A55DA6}"/>
              </a:ext>
            </a:extLst>
          </p:cNvPr>
          <p:cNvSpPr>
            <a:spLocks xmlns:a="http://schemas.openxmlformats.org/drawingml/2006/main" noGrp="1"/>
          </p:cNvSpPr>
          <p:nvPr/>
        </p:nvSpPr>
        <p:spPr>
          <a:xfrm xmlns:a="http://schemas.openxmlformats.org/drawingml/2006/main">
            <a:off x="590550" y="5829300"/>
            <a:ext cx="11010900" cy="5048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84AF3929-1CE9-4CD2-A46B-F63CE33EC263}"/>
              </a:ext>
            </a:extLst>
          </p:cNvPr>
          <p:cNvSpPr>
            <a:spLocks xmlns:a="http://schemas.openxmlformats.org/drawingml/2006/main" noGrp="1"/>
          </p:cNvSpPr>
          <p:nvPr/>
        </p:nvSpPr>
        <p:spPr>
          <a:xfrm xmlns:a="http://schemas.openxmlformats.org/drawingml/2006/main">
            <a:off x="742950" y="5905500"/>
            <a:ext cx="10706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Keep the exact names and outputs. Check types, units and the issued brief.</a:t>
            </a:r>
          </a:p>
        </p:txBody>
      </p:sp>
      <p:sp>
        <p:nvSpPr>
          <p:cNvPr id="8" name="">
            <a:extLst xmlns:a="http://schemas.openxmlformats.org/drawingml/2006/main">
              <a:ext uri="{FF2B5EF4-FFF2-40B4-BE49-F238E27FC236}">
                <a16:creationId xmlns:a16="http://schemas.microsoft.com/office/drawing/2014/main" id="{4AB675F3-84EA-4A06-B0EE-6A4B194F719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5   40</a:t>
            </a:r>
          </a:p>
        </p:txBody>
      </p:sp>
    </p:spTree>
    <p:extLst>
      <p:ext uri="{BB962C8B-B14F-4D97-AF65-F5344CB8AC3E}">
        <p14:creationId xmlns:p14="http://schemas.microsoft.com/office/powerpoint/2010/main" val="1030835631"/>
      </p:ext>
    </p:extLst>
  </p:cSld>
</p:sld>
</file>

<file path=ppt/slides/slide4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54BA0690-1944-4E2A-A928-CAF419EE710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26CF6360-CD09-460E-B8DC-42208E9A4C2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ASSIGNMENT SUBMISSION</a:t>
            </a:r>
          </a:p>
        </p:txBody>
      </p:sp>
      <p:sp>
        <p:nvSpPr>
          <p:cNvPr id="3" name="">
            <a:extLst xmlns:a="http://schemas.openxmlformats.org/drawingml/2006/main">
              <a:ext uri="{FF2B5EF4-FFF2-40B4-BE49-F238E27FC236}">
                <a16:creationId xmlns:a16="http://schemas.microsoft.com/office/drawing/2014/main" id="{43C5D256-6F8D-4C8E-8053-D06ECBBAF6C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Pandas investigation submission</a:t>
            </a:r>
          </a:p>
        </p:txBody>
      </p:sp>
      <p:sp>
        <p:nvSpPr>
          <p:cNvPr id="4" name="">
            <a:extLst xmlns:a="http://schemas.openxmlformats.org/drawingml/2006/main">
              <a:ext uri="{FF2B5EF4-FFF2-40B4-BE49-F238E27FC236}">
                <a16:creationId xmlns:a16="http://schemas.microsoft.com/office/drawing/2014/main" id="{603FABB8-D2EC-4861-8F21-1F2CFA39E69A}"/>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1AC2B06F-7A40-4CAE-B88F-7509BAC8DD87}"/>
              </a:ext>
            </a:extLst>
          </p:cNvPr>
          <p:cNvSpPr>
            <a:spLocks xmlns:a="http://schemas.openxmlformats.org/drawingml/2006/main" noGrp="1"/>
          </p:cNvSpPr>
          <p:nvPr/>
        </p:nvSpPr>
        <p:spPr>
          <a:xfrm xmlns:a="http://schemas.openxmlformats.org/drawingml/2006/main">
            <a:off x="1381125" y="1724025"/>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Opens: 06 Oct 2026, 11:00 Kampala</a:t>
            </a:r>
          </a:p>
        </p:txBody>
      </p:sp>
      <p:sp>
        <p:nvSpPr>
          <p:cNvPr id="6" name="">
            <a:extLst xmlns:a="http://schemas.openxmlformats.org/drawingml/2006/main">
              <a:ext uri="{FF2B5EF4-FFF2-40B4-BE49-F238E27FC236}">
                <a16:creationId xmlns:a16="http://schemas.microsoft.com/office/drawing/2014/main" id="{4FB62764-740E-4254-B98A-9EEE33867F7B}"/>
              </a:ext>
            </a:extLst>
          </p:cNvPr>
          <p:cNvSpPr>
            <a:spLocks xmlns:a="http://schemas.openxmlformats.org/drawingml/2006/main" noGrp="1"/>
          </p:cNvSpPr>
          <p:nvPr/>
        </p:nvSpPr>
        <p:spPr>
          <a:xfrm xmlns:a="http://schemas.openxmlformats.org/drawingml/2006/main">
            <a:off x="590550" y="2521744"/>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B7C18BBC-E364-437A-8C2A-7CE3B3EEB91B}"/>
              </a:ext>
            </a:extLst>
          </p:cNvPr>
          <p:cNvSpPr>
            <a:spLocks xmlns:a="http://schemas.openxmlformats.org/drawingml/2006/main" noGrp="1"/>
          </p:cNvSpPr>
          <p:nvPr/>
        </p:nvSpPr>
        <p:spPr>
          <a:xfrm xmlns:a="http://schemas.openxmlformats.org/drawingml/2006/main">
            <a:off x="1381125" y="2521744"/>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Deadline: 13 Oct 2026, 11:00 Kampala</a:t>
            </a:r>
          </a:p>
        </p:txBody>
      </p:sp>
      <p:sp>
        <p:nvSpPr>
          <p:cNvPr id="8" name="">
            <a:extLst xmlns:a="http://schemas.openxmlformats.org/drawingml/2006/main">
              <a:ext uri="{FF2B5EF4-FFF2-40B4-BE49-F238E27FC236}">
                <a16:creationId xmlns:a16="http://schemas.microsoft.com/office/drawing/2014/main" id="{3CD815DE-80BE-4E1B-AC7D-1AAE9B602A0C}"/>
              </a:ext>
            </a:extLst>
          </p:cNvPr>
          <p:cNvSpPr>
            <a:spLocks xmlns:a="http://schemas.openxmlformats.org/drawingml/2006/main" noGrp="1"/>
          </p:cNvSpPr>
          <p:nvPr/>
        </p:nvSpPr>
        <p:spPr>
          <a:xfrm xmlns:a="http://schemas.openxmlformats.org/drawingml/2006/main">
            <a:off x="590550" y="33194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529B80D5-0D20-48AE-9555-6F39C89F9631}"/>
              </a:ext>
            </a:extLst>
          </p:cNvPr>
          <p:cNvSpPr>
            <a:spLocks xmlns:a="http://schemas.openxmlformats.org/drawingml/2006/main" noGrp="1"/>
          </p:cNvSpPr>
          <p:nvPr/>
        </p:nvSpPr>
        <p:spPr>
          <a:xfrm xmlns:a="http://schemas.openxmlformats.org/drawingml/2006/main">
            <a:off x="1381125" y="3319463"/>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your full Student Registration Number in the form.</a:t>
            </a:r>
          </a:p>
        </p:txBody>
      </p:sp>
      <p:sp>
        <p:nvSpPr>
          <p:cNvPr id="10" name="">
            <a:extLst xmlns:a="http://schemas.openxmlformats.org/drawingml/2006/main">
              <a:ext uri="{FF2B5EF4-FFF2-40B4-BE49-F238E27FC236}">
                <a16:creationId xmlns:a16="http://schemas.microsoft.com/office/drawing/2014/main" id="{EEBD24B9-E65C-4867-869A-5023F3F5DAB7}"/>
              </a:ext>
            </a:extLst>
          </p:cNvPr>
          <p:cNvSpPr>
            <a:spLocks xmlns:a="http://schemas.openxmlformats.org/drawingml/2006/main" noGrp="1"/>
          </p:cNvSpPr>
          <p:nvPr/>
        </p:nvSpPr>
        <p:spPr>
          <a:xfrm xmlns:a="http://schemas.openxmlformats.org/drawingml/2006/main">
            <a:off x="590550" y="4117181"/>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7E674375-6E55-4280-BF31-035A8B53FABF}"/>
              </a:ext>
            </a:extLst>
          </p:cNvPr>
          <p:cNvSpPr>
            <a:spLocks xmlns:a="http://schemas.openxmlformats.org/drawingml/2006/main" noGrp="1"/>
          </p:cNvSpPr>
          <p:nvPr/>
        </p:nvSpPr>
        <p:spPr>
          <a:xfrm xmlns:a="http://schemas.openxmlformats.org/drawingml/2006/main">
            <a:off x="1381125" y="4117181"/>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the submitted files and confirmation.</a:t>
            </a:r>
          </a:p>
        </p:txBody>
      </p:sp>
      <p:sp>
        <p:nvSpPr>
          <p:cNvPr id="12" name="">
            <a:extLst xmlns:a="http://schemas.openxmlformats.org/drawingml/2006/main">
              <a:ext uri="{FF2B5EF4-FFF2-40B4-BE49-F238E27FC236}">
                <a16:creationId xmlns:a16="http://schemas.microsoft.com/office/drawing/2014/main" id="{C17AC10F-9412-4D46-A9BB-38D31DB5FA68}"/>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CAEB06A1-A520-4724-96AA-F29D1BBE1B06}"/>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079c9fe10a474562"/>
              </a:rPr>
              <a:t>Open W05 assignment form</a:t>
            </a:r>
          </a:p>
        </p:txBody>
      </p:sp>
      <p:sp>
        <p:nvSpPr>
          <p:cNvPr id="14" name="">
            <a:extLst xmlns:a="http://schemas.openxmlformats.org/drawingml/2006/main">
              <a:ext uri="{FF2B5EF4-FFF2-40B4-BE49-F238E27FC236}">
                <a16:creationId xmlns:a16="http://schemas.microsoft.com/office/drawing/2014/main" id="{C84C7215-2D83-49E0-96F0-2E01D2AE165B}"/>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https://docs.google.com/forms/d/e/1FAIpQLSeP_Eykf3YDYN_6sbB5to0B3LX14fsujEVPhsp8UezRZXTNGw/viewform</a:t>
            </a:r>
          </a:p>
        </p:txBody>
      </p:sp>
      <p:sp>
        <p:nvSpPr>
          <p:cNvPr id="15" name="">
            <a:extLst xmlns:a="http://schemas.openxmlformats.org/drawingml/2006/main">
              <a:ext uri="{FF2B5EF4-FFF2-40B4-BE49-F238E27FC236}">
                <a16:creationId xmlns:a16="http://schemas.microsoft.com/office/drawing/2014/main" id="{B1E37845-4317-4843-A08D-8FE3B3EF8F9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5   41</a:t>
            </a:r>
          </a:p>
        </p:txBody>
      </p:sp>
    </p:spTree>
    <p:extLst>
      <p:ext uri="{BB962C8B-B14F-4D97-AF65-F5344CB8AC3E}">
        <p14:creationId xmlns:p14="http://schemas.microsoft.com/office/powerpoint/2010/main" val="1900598675"/>
      </p:ext>
    </p:extLst>
  </p:cSld>
</p:sld>
</file>

<file path=ppt/slides/slide4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F6E7C3DC-A6A3-4C03-A210-E253839DBB1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51B2CF66-18CC-46D0-9BC8-9734E42FEB9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6BFECD29-8F1C-4B63-B8A8-25A7A54B18B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Project preparation</a:t>
            </a:r>
          </a:p>
        </p:txBody>
      </p:sp>
      <p:sp>
        <p:nvSpPr>
          <p:cNvPr id="4" name="">
            <a:extLst xmlns:a="http://schemas.openxmlformats.org/drawingml/2006/main">
              <a:ext uri="{FF2B5EF4-FFF2-40B4-BE49-F238E27FC236}">
                <a16:creationId xmlns:a16="http://schemas.microsoft.com/office/drawing/2014/main" id="{B0510114-12CE-40DD-8477-2098DA5F1118}"/>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AA10527D-8DBA-445C-B141-60B5D89893A1}"/>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the published data analysis project brief.</a:t>
            </a:r>
          </a:p>
        </p:txBody>
      </p:sp>
      <p:sp>
        <p:nvSpPr>
          <p:cNvPr id="6" name="">
            <a:extLst xmlns:a="http://schemas.openxmlformats.org/drawingml/2006/main">
              <a:ext uri="{FF2B5EF4-FFF2-40B4-BE49-F238E27FC236}">
                <a16:creationId xmlns:a16="http://schemas.microsoft.com/office/drawing/2014/main" id="{43AC6BB6-E2D2-460D-A4B5-4B890A28F1C4}"/>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3F1E25FC-587E-4F67-8179-8083D9F07BFC}"/>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Build the evidence gradually in your project notebook.</a:t>
            </a:r>
          </a:p>
        </p:txBody>
      </p:sp>
      <p:sp>
        <p:nvSpPr>
          <p:cNvPr id="8" name="">
            <a:extLst xmlns:a="http://schemas.openxmlformats.org/drawingml/2006/main">
              <a:ext uri="{FF2B5EF4-FFF2-40B4-BE49-F238E27FC236}">
                <a16:creationId xmlns:a16="http://schemas.microsoft.com/office/drawing/2014/main" id="{8A21B299-EA30-4C5E-A5AC-837797D2A5D4}"/>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81032829-2C48-4138-AFD2-8C6E7B19D38F}"/>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raw data, labelled charts, run instructions and individual contributions.</a:t>
            </a:r>
          </a:p>
        </p:txBody>
      </p:sp>
      <p:sp>
        <p:nvSpPr>
          <p:cNvPr id="10" name="">
            <a:extLst xmlns:a="http://schemas.openxmlformats.org/drawingml/2006/main">
              <a:ext uri="{FF2B5EF4-FFF2-40B4-BE49-F238E27FC236}">
                <a16:creationId xmlns:a16="http://schemas.microsoft.com/office/drawing/2014/main" id="{08338CEC-084D-4BC2-8235-8E16F872C0BE}"/>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B106C0B1-A1A7-481C-AD76-6D2DBAC82855}"/>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Published deadline: 27 Oct 2026, 11:00 Kampala</a:t>
            </a:r>
          </a:p>
        </p:txBody>
      </p:sp>
      <p:sp>
        <p:nvSpPr>
          <p:cNvPr id="12" name="">
            <a:extLst xmlns:a="http://schemas.openxmlformats.org/drawingml/2006/main">
              <a:ext uri="{FF2B5EF4-FFF2-40B4-BE49-F238E27FC236}">
                <a16:creationId xmlns:a16="http://schemas.microsoft.com/office/drawing/2014/main" id="{C624B4F4-4838-4924-A12D-222E653BEE9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5   42</a:t>
            </a:r>
          </a:p>
        </p:txBody>
      </p:sp>
    </p:spTree>
    <p:extLst>
      <p:ext uri="{BB962C8B-B14F-4D97-AF65-F5344CB8AC3E}">
        <p14:creationId xmlns:p14="http://schemas.microsoft.com/office/powerpoint/2010/main" val="1707527251"/>
      </p:ext>
    </p:extLst>
  </p:cSld>
</p:sld>
</file>

<file path=ppt/slides/slide43.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8" name="">
            <a:extLst>
              <a:ext uri="{FF2B5EF4-FFF2-40B4-BE49-F238E27FC236}">
                <ns2:creationId id="{D5BAF810-A0F0-4C2B-AB18-DBFEAECE9C8C}"/>
              </a:ext>
            </a:extLst>
          </p:cNvPr>
          <p:cNvSpPr>
            <a:spLocks noGrp="1"/>
          </p:cNvSpPr>
          <p:nvPr/>
        </p:nvSpPr>
        <p:spPr>
          <a:xfrm>
            <a:off x="0" y="0"/>
            <a:ext cx="12191695" cy="1390650"/>
          </a:xfrm>
          <a:prstGeom prst="rect">
            <a:avLst/>
          </a:prstGeom>
          <a:solidFill>
            <a:srgbClr val="1C3144"/>
          </a:solidFill>
          <a:ln w="0">
            <a:noFill/>
          </a:ln>
        </p:spPr>
      </p:sp>
      <p:sp>
        <p:nvSpPr>
          <p:cNvPr id="2" name="">
            <a:extLst>
              <a:ext uri="{FF2B5EF4-FFF2-40B4-BE49-F238E27FC236}">
                <ns2:creationId id="{28024729-F061-4024-8896-4FCD5442E37E}"/>
              </a:ext>
            </a:extLst>
          </p:cNvPr>
          <p:cNvSpPr>
            <a:spLocks noGrp="1"/>
          </p:cNvSpPr>
          <p:nvPr/>
        </p:nvSpPr>
        <p:spPr>
          <a:xfrm>
            <a:off x="590550" y="180975"/>
            <a:ext cx="11049000" cy="285750"/>
          </a:xfrm>
          <a:prstGeom prst="rect">
            <a:avLst/>
          </a:prstGeom>
          <a:noFill/>
          <a:ln w="0">
            <a:noFill/>
          </a:ln>
        </p:spPr>
        <p:txBody>
          <a:bodyPr>
            <a:noAutofit/>
          </a:bodyPr>
          <a:lstStyle/>
          <a:p>
            <a:pPr>
              <a:defRPr sz="1500" b="1">
                <a:solidFill>
                  <a:srgbClr val="E4572E"/>
                </a:solidFill>
                <a:latin typeface="Calibri"/>
                <a:ea typeface="Calibri"/>
                <a:cs typeface="Calibri"/>
              </a:defRPr>
            </a:pPr>
            <a:r>
              <a:rPr sz="1500" b="1">
                <a:solidFill>
                  <a:srgbClr val="E4572E"/>
                </a:solidFill>
                <a:latin typeface="Calibri"/>
                <a:ea typeface="Calibri"/>
                <a:cs typeface="Calibri"/>
              </a:rPr>
              <a:t>QUIZ ACCESS</a:t>
            </a:r>
          </a:p>
        </p:txBody>
      </p:sp>
      <p:sp>
        <p:nvSpPr>
          <p:cNvPr id="3" name="">
            <a:extLst>
              <a:ext uri="{FF2B5EF4-FFF2-40B4-BE49-F238E27FC236}">
                <ns2:creationId id="{2E1BA649-F6CF-46BE-BE3E-648A5623832E}"/>
              </a:ext>
            </a:extLst>
          </p:cNvPr>
          <p:cNvSpPr>
            <a:spLocks noGrp="1"/>
          </p:cNvSpPr>
          <p:nvPr/>
        </p:nvSpPr>
        <p:spPr>
          <a:xfrm>
            <a:off x="590550" y="523875"/>
            <a:ext cx="11049000" cy="809625"/>
          </a:xfrm>
          <a:prstGeom prst="rect">
            <a:avLst/>
          </a:prstGeom>
          <a:noFill/>
          <a:ln w="0">
            <a:noFill/>
          </a:ln>
        </p:spPr>
        <p:txBody>
          <a:bodyPr>
            <a:noAutofit/>
          </a:bodyPr>
          <a:lstStyle/>
          <a:p>
            <a:pPr>
              <a:defRPr sz="3150" b="1">
                <a:solidFill>
                  <a:srgbClr val="FFFFFF"/>
                </a:solidFill>
                <a:latin typeface="Calibri"/>
                <a:ea typeface="Calibri"/>
                <a:cs typeface="Calibri"/>
              </a:defRPr>
            </a:pPr>
            <a:r>
              <a:rPr sz="3150" b="1">
                <a:solidFill>
                  <a:srgbClr val="FFFFFF"/>
                </a:solidFill>
                <a:latin typeface="Calibri"/>
                <a:ea typeface="Calibri"/>
                <a:cs typeface="Calibri"/>
              </a:rPr>
              <a:t>Week 5 quiz</a:t>
            </a:r>
          </a:p>
        </p:txBody>
      </p:sp>
      <p:sp>
        <p:nvSpPr>
          <p:cNvPr id="4" name="">
            <a:extLst>
              <a:ext uri="{FF2B5EF4-FFF2-40B4-BE49-F238E27FC236}">
                <ns2:creationId id="{A8BE0EAF-C2CD-4A85-83F3-E6457D9DC228}"/>
              </a:ext>
            </a:extLst>
          </p:cNvPr>
          <p:cNvSpPr>
            <a:spLocks noGrp="1"/>
          </p:cNvSpPr>
          <p:nvPr/>
        </p:nvSpPr>
        <p:spPr>
          <a:xfrm>
            <a:off x="590550" y="1724025"/>
            <a:ext cx="619125" cy="571500"/>
          </a:xfrm>
          <a:prstGeom prst="rect">
            <a:avLst/>
          </a:prstGeom>
          <a:noFill/>
          <a:ln w="0">
            <a:noFill/>
          </a:ln>
        </p:spPr>
        <p:txBody>
          <a:bodyPr>
            <a:noAutofit/>
          </a:bodyPr>
          <a:lstStyle/>
          <a:p>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a:ext uri="{FF2B5EF4-FFF2-40B4-BE49-F238E27FC236}">
                <ns2:creationId id="{9C86ADA4-A612-472F-8B47-6A0768DAECB1}"/>
              </a:ext>
            </a:extLst>
          </p:cNvPr>
          <p:cNvSpPr>
            <a:spLocks noGrp="1"/>
          </p:cNvSpPr>
          <p:nvPr/>
        </p:nvSpPr>
        <p:spPr>
          <a:xfrm>
            <a:off x="1381125" y="1724025"/>
            <a:ext cx="7143750" cy="721519"/>
          </a:xfrm>
          <a:prstGeom prst="rect">
            <a:avLst/>
          </a:prstGeom>
          <a:noFill/>
          <a:ln w="0">
            <a:noFill/>
          </a:ln>
        </p:spPr>
        <p:txBody>
          <a:bodyPr>
            <a:noAutofit/>
          </a:bodyPr>
          <a:lstStyle/>
          <a:p>
            <a:pPr>
              <a:defRPr sz="2250" b="0">
                <a:solidFill>
                  <a:srgbClr val="1C3144"/>
                </a:solidFill>
                <a:latin typeface="Calibri"/>
                <a:ea typeface="Calibri"/>
                <a:cs typeface="Calibri"/>
              </a:defRPr>
            </a:pPr>
            <a:r>
              <a:rPr sz="2250" b="0">
                <a:solidFill>
                  <a:srgbClr val="1C3144"/>
                </a:solidFill>
                <a:latin typeface="Calibri"/>
                <a:ea typeface="Calibri"/>
                <a:cs typeface="Calibri"/>
              </a:rPr>
              <a:t>Answer individually after the lecturer activates the quiz.</a:t>
            </a:r>
          </a:p>
        </p:txBody>
      </p:sp>
      <p:sp>
        <p:nvSpPr>
          <p:cNvPr id="6" name="">
            <a:extLst>
              <a:ext uri="{FF2B5EF4-FFF2-40B4-BE49-F238E27FC236}">
                <ns2:creationId id="{14D6B470-F8BA-4097-B05D-F5D3210B786B}"/>
              </a:ext>
            </a:extLst>
          </p:cNvPr>
          <p:cNvSpPr>
            <a:spLocks noGrp="1"/>
          </p:cNvSpPr>
          <p:nvPr/>
        </p:nvSpPr>
        <p:spPr>
          <a:xfrm>
            <a:off x="590550" y="2521744"/>
            <a:ext cx="619125" cy="571500"/>
          </a:xfrm>
          <a:prstGeom prst="rect">
            <a:avLst/>
          </a:prstGeom>
          <a:noFill/>
          <a:ln w="0">
            <a:noFill/>
          </a:ln>
        </p:spPr>
        <p:txBody>
          <a:bodyPr>
            <a:noAutofit/>
          </a:bodyPr>
          <a:lstStyle/>
          <a:p>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a:ext uri="{FF2B5EF4-FFF2-40B4-BE49-F238E27FC236}">
                <ns2:creationId id="{36687214-740E-4D08-B6ED-C638962C47F4}"/>
              </a:ext>
            </a:extLst>
          </p:cNvPr>
          <p:cNvSpPr>
            <a:spLocks noGrp="1"/>
          </p:cNvSpPr>
          <p:nvPr/>
        </p:nvSpPr>
        <p:spPr>
          <a:xfrm>
            <a:off x="1381125" y="2521744"/>
            <a:ext cx="7143750" cy="721519"/>
          </a:xfrm>
          <a:prstGeom prst="rect">
            <a:avLst/>
          </a:prstGeom>
          <a:noFill/>
          <a:ln w="0">
            <a:noFill/>
          </a:ln>
        </p:spPr>
        <p:txBody>
          <a:bodyPr>
            <a:noAutofit/>
          </a:bodyPr>
          <a:lstStyle/>
          <a:p>
            <a:pPr>
              <a:defRPr sz="2250" b="0">
                <a:solidFill>
                  <a:srgbClr val="1C3144"/>
                </a:solidFill>
                <a:latin typeface="Calibri"/>
                <a:ea typeface="Calibri"/>
                <a:cs typeface="Calibri"/>
              </a:defRPr>
            </a:pPr>
            <a:r>
              <a:rPr sz="2250" b="0">
                <a:solidFill>
                  <a:srgbClr val="1C3144"/>
                </a:solidFill>
                <a:latin typeface="Calibri"/>
                <a:ea typeface="Calibri"/>
                <a:cs typeface="Calibri"/>
              </a:rPr>
              <a:t>Available for 24 hours from activation.</a:t>
            </a:r>
          </a:p>
        </p:txBody>
      </p:sp>
      <p:sp>
        <p:nvSpPr>
          <p:cNvPr id="8" name="">
            <a:extLst>
              <a:ext uri="{FF2B5EF4-FFF2-40B4-BE49-F238E27FC236}">
                <ns2:creationId id="{F01A9876-9F60-495F-879A-9346D7313B3C}"/>
              </a:ext>
            </a:extLst>
          </p:cNvPr>
          <p:cNvSpPr>
            <a:spLocks noGrp="1"/>
          </p:cNvSpPr>
          <p:nvPr/>
        </p:nvSpPr>
        <p:spPr>
          <a:xfrm>
            <a:off x="590550" y="3319463"/>
            <a:ext cx="619125" cy="571500"/>
          </a:xfrm>
          <a:prstGeom prst="rect">
            <a:avLst/>
          </a:prstGeom>
          <a:noFill/>
          <a:ln w="0">
            <a:noFill/>
          </a:ln>
        </p:spPr>
        <p:txBody>
          <a:bodyPr>
            <a:noAutofit/>
          </a:bodyPr>
          <a:lstStyle/>
          <a:p>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a:ext uri="{FF2B5EF4-FFF2-40B4-BE49-F238E27FC236}">
                <ns2:creationId id="{E974E269-2ED8-4504-9377-F0DE015ED5FB}"/>
              </a:ext>
            </a:extLst>
          </p:cNvPr>
          <p:cNvSpPr>
            <a:spLocks noGrp="1"/>
          </p:cNvSpPr>
          <p:nvPr/>
        </p:nvSpPr>
        <p:spPr>
          <a:xfrm>
            <a:off x="1381125" y="3319463"/>
            <a:ext cx="7143750" cy="721519"/>
          </a:xfrm>
          <a:prstGeom prst="rect">
            <a:avLst/>
          </a:prstGeom>
          <a:noFill/>
          <a:ln w="0">
            <a:noFill/>
          </a:ln>
        </p:spPr>
        <p:txBody>
          <a:bodyPr>
            <a:noAutofit/>
          </a:bodyPr>
          <a:lstStyle/>
          <a:p>
            <a:pPr>
              <a:defRPr sz="2250" b="0">
                <a:solidFill>
                  <a:srgbClr val="1C3144"/>
                </a:solidFill>
                <a:latin typeface="Calibri"/>
                <a:ea typeface="Calibri"/>
                <a:cs typeface="Calibri"/>
              </a:defRPr>
            </a:pPr>
            <a:r>
              <a:rPr sz="2250" b="0">
                <a:solidFill>
                  <a:srgbClr val="1C3144"/>
                </a:solidFill>
                <a:latin typeface="Calibri"/>
                <a:ea typeface="Calibri"/>
                <a:cs typeface="Calibri"/>
              </a:rPr>
              <a:t>Use your Student Registration Number and registered account.</a:t>
            </a:r>
          </a:p>
        </p:txBody>
      </p:sp>
      <p:sp>
        <p:nvSpPr>
          <p:cNvPr id="10" name="">
            <a:extLst>
              <a:ext uri="{FF2B5EF4-FFF2-40B4-BE49-F238E27FC236}">
                <ns2:creationId id="{FFD444B7-2D3E-4885-B9F3-62EB71632295}"/>
              </a:ext>
            </a:extLst>
          </p:cNvPr>
          <p:cNvSpPr>
            <a:spLocks noGrp="1"/>
          </p:cNvSpPr>
          <p:nvPr/>
        </p:nvSpPr>
        <p:spPr>
          <a:xfrm>
            <a:off x="590550" y="4117181"/>
            <a:ext cx="619125" cy="571500"/>
          </a:xfrm>
          <a:prstGeom prst="rect">
            <a:avLst/>
          </a:prstGeom>
          <a:noFill/>
          <a:ln w="0">
            <a:noFill/>
          </a:ln>
        </p:spPr>
        <p:txBody>
          <a:bodyPr>
            <a:noAutofit/>
          </a:bodyPr>
          <a:lstStyle/>
          <a:p>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a:ext uri="{FF2B5EF4-FFF2-40B4-BE49-F238E27FC236}">
                <ns2:creationId id="{520FDC8E-9FEB-40FB-8851-43FD1AC1F894}"/>
              </a:ext>
            </a:extLst>
          </p:cNvPr>
          <p:cNvSpPr>
            <a:spLocks noGrp="1"/>
          </p:cNvSpPr>
          <p:nvPr/>
        </p:nvSpPr>
        <p:spPr>
          <a:xfrm>
            <a:off x="1381125" y="4117181"/>
            <a:ext cx="7143750" cy="721519"/>
          </a:xfrm>
          <a:prstGeom prst="rect">
            <a:avLst/>
          </a:prstGeom>
          <a:noFill/>
          <a:ln w="0">
            <a:noFill/>
          </a:ln>
        </p:spPr>
        <p:txBody>
          <a:bodyPr>
            <a:noAutofit/>
          </a:bodyPr>
          <a:lstStyle/>
          <a:p>
            <a:pPr>
              <a:defRPr sz="2250" b="0">
                <a:solidFill>
                  <a:srgbClr val="1C3144"/>
                </a:solidFill>
                <a:latin typeface="Calibri"/>
                <a:ea typeface="Calibri"/>
                <a:cs typeface="Calibri"/>
              </a:defRPr>
            </a:pPr>
            <a:r>
              <a:rPr sz="2250" b="0">
                <a:solidFill>
                  <a:srgbClr val="1C3144"/>
                </a:solidFill>
                <a:latin typeface="Calibri"/>
                <a:ea typeface="Calibri"/>
                <a:cs typeface="Calibri"/>
              </a:rPr>
              <a:t>Check the announced quiz closing time.</a:t>
            </a:r>
          </a:p>
        </p:txBody>
      </p:sp>
      <p:pic>
        <p:nvPicPr>
          <p:cNvPr id="29" name=""/>
          <p:cNvPicPr>
            <a:picLocks noChangeAspect="1"/>
          </p:cNvPicPr>
          <p:nvPr/>
        </p:nvPicPr>
        <p:blipFill>
          <a:blip r:embed="R7c0f3082c05c4e13"/>
          <a:stretch/>
        </p:blipFill>
        <p:spPr>
          <a:xfrm>
            <a:off x="9134475" y="2095500"/>
            <a:ext cx="2190750" cy="2190750"/>
          </a:xfrm>
          <a:prstGeom prst="rect">
            <a:avLst/>
          </a:prstGeom>
        </p:spPr>
      </p:pic>
      <p:sp>
        <p:nvSpPr>
          <p:cNvPr id="13" name="">
            <a:extLst>
              <a:ext uri="{FF2B5EF4-FFF2-40B4-BE49-F238E27FC236}">
                <ns2:creationId id="{E954641C-51BB-4C88-A2DB-ADC79D8AF9A2}"/>
              </a:ext>
            </a:extLst>
          </p:cNvPr>
          <p:cNvSpPr>
            <a:spLocks noGrp="1"/>
          </p:cNvSpPr>
          <p:nvPr/>
        </p:nvSpPr>
        <p:spPr>
          <a:xfrm>
            <a:off x="9239250" y="4400550"/>
            <a:ext cx="2190750" cy="381000"/>
          </a:xfrm>
          <a:prstGeom prst="rect">
            <a:avLst/>
          </a:prstGeom>
          <a:noFill/>
          <a:ln w="0">
            <a:noFill/>
          </a:ln>
        </p:spPr>
        <p:txBody>
          <a:bodyPr>
            <a:noAutofit/>
          </a:bodyPr>
          <a:lstStyle/>
          <a:p>
            <a:pPr>
              <a:defRPr sz="2100" b="1">
                <a:solidFill>
                  <a:srgbClr val="E4572E"/>
                </a:solidFill>
                <a:latin typeface="Calibri"/>
                <a:ea typeface="Calibri"/>
                <a:cs typeface="Calibri"/>
              </a:defRPr>
            </a:pPr>
            <a:r>
              <a:rPr sz="2100" b="1">
                <a:solidFill>
                  <a:srgbClr val="E4572E"/>
                </a:solidFill>
                <a:latin typeface="Calibri"/>
                <a:ea typeface="Calibri"/>
                <a:cs typeface="Calibri"/>
              </a:rPr>
              <a:t>24 HOURS</a:t>
            </a:r>
          </a:p>
        </p:txBody>
      </p:sp>
      <p:sp>
        <p:nvSpPr>
          <p:cNvPr id="14" name="">
            <a:extLst>
              <a:ext uri="{FF2B5EF4-FFF2-40B4-BE49-F238E27FC236}">
                <ns2:creationId id="{E96A2A75-4889-4878-ACFD-79FFD6196C77}"/>
              </a:ext>
            </a:extLst>
          </p:cNvPr>
          <p:cNvSpPr>
            <a:spLocks noGrp="1"/>
          </p:cNvSpPr>
          <p:nvPr/>
        </p:nvSpPr>
        <p:spPr>
          <a:xfrm>
            <a:off x="590550" y="5143500"/>
            <a:ext cx="11010900" cy="657225"/>
          </a:xfrm>
          <a:prstGeom prst="rect">
            <a:avLst/>
          </a:prstGeom>
          <a:solidFill>
            <a:srgbClr val="E5F1EE"/>
          </a:solidFill>
          <a:ln w="0">
            <a:noFill/>
          </a:ln>
        </p:spPr>
      </p:sp>
      <p:sp>
        <p:nvSpPr>
          <p:cNvPr id="15" name="">
            <a:extLst>
              <a:ext uri="{FF2B5EF4-FFF2-40B4-BE49-F238E27FC236}">
                <ns2:creationId id="{7C677F04-1FAE-4242-ADA4-EFEF45F445B9}"/>
              </a:ext>
            </a:extLst>
          </p:cNvPr>
          <p:cNvSpPr>
            <a:spLocks noGrp="1"/>
          </p:cNvSpPr>
          <p:nvPr/>
        </p:nvSpPr>
        <p:spPr>
          <a:xfrm>
            <a:off x="800100" y="5267325"/>
            <a:ext cx="10572750" cy="457200"/>
          </a:xfrm>
          <a:prstGeom prst="rect">
            <a:avLst/>
          </a:prstGeom>
          <a:noFill/>
          <a:ln w="0">
            <a:noFill/>
          </a:ln>
        </p:spPr>
        <p:txBody>
          <a:bodyPr>
            <a:noAutofit/>
          </a:bodyPr>
          <a:lstStyle/>
          <a:p>
            <a:pPr>
              <a:defRPr sz="2250" b="1">
                <a:solidFill>
                  <a:srgbClr val="2E7D6F"/>
                </a:solidFill>
                <a:latin typeface="Calibri"/>
                <a:ea typeface="Calibri"/>
                <a:cs typeface="Calibri"/>
              </a:defRPr>
            </a:pPr>
            <a:r>
              <a:rPr sz="2250" b="1">
                <a:solidFill>
                  <a:srgbClr val="2E7D6F"/>
                </a:solidFill>
                <a:latin typeface="Calibri"/>
                <a:ea typeface="Calibri"/>
                <a:cs typeface="Calibri"/>
                <a:hlinkClick r:id="R3b32fd13ac1e43bd"/>
              </a:rPr>
              <a:t>Open this week’s quiz</a:t>
            </a:r>
          </a:p>
        </p:txBody>
      </p:sp>
      <p:sp>
        <p:nvSpPr>
          <p:cNvPr id="16" name="">
            <a:extLst>
              <a:ext uri="{FF2B5EF4-FFF2-40B4-BE49-F238E27FC236}">
                <ns2:creationId id="{2F5A488F-8371-46EE-B53A-30CFAC18B403}"/>
              </a:ext>
            </a:extLst>
          </p:cNvPr>
          <p:cNvSpPr>
            <a:spLocks noGrp="1"/>
          </p:cNvSpPr>
          <p:nvPr/>
        </p:nvSpPr>
        <p:spPr>
          <a:xfrm>
            <a:off x="685800" y="5972175"/>
            <a:ext cx="10668000" cy="304800"/>
          </a:xfrm>
          <a:prstGeom prst="rect">
            <a:avLst/>
          </a:prstGeom>
          <a:noFill/>
          <a:ln w="0">
            <a:noFill/>
          </a:ln>
        </p:spPr>
        <p:txBody>
          <a:bodyPr>
            <a:noAutofit/>
          </a:bodyPr>
          <a:lstStyle/>
          <a:p>
            <a:pPr>
              <a:defRPr sz="1275" b="0">
                <a:solidFill>
                  <a:srgbClr val="6B7A8A"/>
                </a:solidFill>
                <a:latin typeface="Calibri"/>
                <a:ea typeface="Calibri"/>
                <a:cs typeface="Calibri"/>
              </a:defRPr>
            </a:pPr>
            <a:r>
              <a:rPr sz="1275" b="0">
                <a:solidFill>
                  <a:srgbClr val="6B7A8A"/>
                </a:solidFill>
                <a:latin typeface="Calibri"/>
                <a:ea typeface="Calibri"/>
                <a:cs typeface="Calibri"/>
              </a:rPr>
              <a:t>https://forms.gle/Ykncf1mmEbvghZgJ6</a:t>
            </a:r>
          </a:p>
        </p:txBody>
      </p:sp>
      <p:sp>
        <p:nvSpPr>
          <p:cNvPr id="17" name="">
            <a:extLst>
              <a:ext uri="{FF2B5EF4-FFF2-40B4-BE49-F238E27FC236}">
                <ns2:creationId id="{12C0F8F8-A7F0-4E78-B843-F16A2E691151}"/>
              </a:ext>
            </a:extLst>
          </p:cNvPr>
          <p:cNvSpPr>
            <a:spLocks noGrp="1"/>
          </p:cNvSpPr>
          <p:nvPr/>
        </p:nvSpPr>
        <p:spPr>
          <a:xfrm>
            <a:off x="590550" y="6524625"/>
            <a:ext cx="10810875" cy="219075"/>
          </a:xfrm>
          <a:prstGeom prst="rect">
            <a:avLst/>
          </a:prstGeom>
          <a:noFill/>
          <a:ln w="0">
            <a:noFill/>
          </a:ln>
        </p:spPr>
        <p:txBody>
          <a:bodyPr>
            <a:noAutofit/>
          </a:bodyPr>
          <a:lstStyle/>
          <a:p>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5   43</a:t>
            </a:r>
          </a:p>
        </p:txBody>
      </p:sp>
    </p:spTree>
    <p:extLst>
      <p:ext uri="{BB962C8B-B14F-4D97-AF65-F5344CB8AC3E}">
        <ns4:creationId val="139083833"/>
      </p:ext>
    </p:extLst>
  </p:cSld>
</p:sld>
</file>

<file path=ppt/slides/slide44.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1C3144"/>
        </a:solidFill>
      </p:bgPr>
    </p:bg>
    <p:spTree>
      <p:nvGrpSpPr>
        <p:cNvPr id="1" name=""/>
        <p:cNvGrpSpPr/>
        <p:nvPr/>
      </p:nvGrpSpPr>
      <p:grpSpPr>
        <a:xfrm/>
      </p:grpSpPr>
      <p:sp>
        <p:nvSpPr>
          <p:cNvPr id="7" name="">
            <a:extLst>
              <a:ext uri="{FF2B5EF4-FFF2-40B4-BE49-F238E27FC236}">
                <ns2:creationId id="{169CD855-DEA0-43E4-B9E2-273E3E15E02D}"/>
              </a:ext>
            </a:extLst>
          </p:cNvPr>
          <p:cNvSpPr>
            <a:spLocks noGrp="1"/>
          </p:cNvSpPr>
          <p:nvPr/>
        </p:nvSpPr>
        <p:spPr>
          <a:xfrm>
            <a:off x="590550" y="180975"/>
            <a:ext cx="11049000" cy="285750"/>
          </a:xfrm>
          <a:prstGeom prst="rect">
            <a:avLst/>
          </a:prstGeom>
          <a:noFill/>
          <a:ln w="0">
            <a:noFill/>
          </a:ln>
        </p:spPr>
        <p:txBody>
          <a:bodyPr>
            <a:noAutofit/>
          </a:bodyPr>
          <a:lstStyle/>
          <a:p>
            <a:pPr>
              <a:defRPr sz="1500" b="1">
                <a:solidFill>
                  <a:srgbClr val="E4572E"/>
                </a:solidFill>
                <a:latin typeface="Calibri"/>
                <a:ea typeface="Calibri"/>
                <a:cs typeface="Calibri"/>
              </a:defRPr>
            </a:pPr>
            <a:r>
              <a:rPr sz="1500" b="1">
                <a:solidFill>
                  <a:srgbClr val="E4572E"/>
                </a:solidFill>
                <a:latin typeface="Calibri"/>
                <a:ea typeface="Calibri"/>
                <a:cs typeface="Calibri"/>
              </a:rPr>
              <a:t>INDIVIDUAL EXIT CHECK</a:t>
            </a:r>
          </a:p>
        </p:txBody>
      </p:sp>
      <p:sp>
        <p:nvSpPr>
          <p:cNvPr id="2" name="">
            <a:extLst>
              <a:ext uri="{FF2B5EF4-FFF2-40B4-BE49-F238E27FC236}">
                <ns2:creationId id="{CC2C88DC-9A92-42F0-B605-AA4F9C365411}"/>
              </a:ext>
            </a:extLst>
          </p:cNvPr>
          <p:cNvSpPr>
            <a:spLocks noGrp="1"/>
          </p:cNvSpPr>
          <p:nvPr/>
        </p:nvSpPr>
        <p:spPr>
          <a:xfrm>
            <a:off x="590550" y="523875"/>
            <a:ext cx="11049000" cy="809625"/>
          </a:xfrm>
          <a:prstGeom prst="rect">
            <a:avLst/>
          </a:prstGeom>
          <a:noFill/>
          <a:ln w="0">
            <a:noFill/>
          </a:ln>
        </p:spPr>
        <p:txBody>
          <a:bodyPr>
            <a:noAutofit/>
          </a:bodyPr>
          <a:lstStyle/>
          <a:p>
            <a:pPr>
              <a:defRPr sz="3150" b="1">
                <a:solidFill>
                  <a:srgbClr val="FFFFFF"/>
                </a:solidFill>
                <a:latin typeface="Calibri"/>
                <a:ea typeface="Calibri"/>
                <a:cs typeface="Calibri"/>
              </a:defRPr>
            </a:pPr>
            <a:r>
              <a:rPr sz="3150" b="1">
                <a:solidFill>
                  <a:srgbClr val="FFFFFF"/>
                </a:solidFill>
                <a:latin typeface="Calibri"/>
                <a:ea typeface="Calibri"/>
                <a:cs typeface="Calibri"/>
              </a:rPr>
              <a:t>Revision and submission checklist</a:t>
            </a:r>
          </a:p>
        </p:txBody>
      </p:sp>
      <p:sp>
        <p:nvSpPr>
          <p:cNvPr id="3" name="">
            <a:extLst>
              <a:ext uri="{FF2B5EF4-FFF2-40B4-BE49-F238E27FC236}">
                <ns2:creationId id="{DB78DA67-2EE8-4B19-91E7-0A6653BD7364}"/>
              </a:ext>
            </a:extLst>
          </p:cNvPr>
          <p:cNvSpPr>
            <a:spLocks noGrp="1"/>
          </p:cNvSpPr>
          <p:nvPr/>
        </p:nvSpPr>
        <p:spPr>
          <a:xfrm>
            <a:off x="619125" y="1619250"/>
            <a:ext cx="2857500" cy="495300"/>
          </a:xfrm>
          <a:prstGeom prst="rect">
            <a:avLst/>
          </a:prstGeom>
          <a:noFill/>
          <a:ln w="0">
            <a:noFill/>
          </a:ln>
        </p:spPr>
        <p:txBody>
          <a:bodyPr>
            <a:noAutofit/>
          </a:bodyPr>
          <a:lstStyle/>
          <a:p>
            <a:pPr>
              <a:defRPr sz="1950" b="1">
                <a:solidFill>
                  <a:srgbClr val="E4572E"/>
                </a:solidFill>
                <a:latin typeface="Calibri"/>
                <a:ea typeface="Calibri"/>
                <a:cs typeface="Calibri"/>
              </a:defRPr>
            </a:pPr>
            <a:r>
              <a:rPr sz="1950" b="1">
                <a:solidFill>
                  <a:srgbClr val="E4572E"/>
                </a:solidFill>
                <a:latin typeface="Calibri"/>
                <a:ea typeface="Calibri"/>
                <a:cs typeface="Calibri"/>
              </a:rPr>
              <a:t>EXPLAIN IT</a:t>
            </a:r>
          </a:p>
        </p:txBody>
      </p:sp>
      <p:sp>
        <p:nvSpPr>
          <p:cNvPr id="4" name="">
            <a:extLst>
              <a:ext uri="{FF2B5EF4-FFF2-40B4-BE49-F238E27FC236}">
                <ns2:creationId id="{740AE671-36C3-4CDB-B088-3F3CF9CF9449}"/>
              </a:ext>
            </a:extLst>
          </p:cNvPr>
          <p:cNvSpPr>
            <a:spLocks noGrp="1"/>
          </p:cNvSpPr>
          <p:nvPr/>
        </p:nvSpPr>
        <p:spPr>
          <a:xfrm>
            <a:off x="619125" y="2295525"/>
            <a:ext cx="10810875" cy="3095625"/>
          </a:xfrm>
          <a:prstGeom prst="rect">
            <a:avLst/>
          </a:prstGeom>
          <a:noFill/>
          <a:ln w="0">
            <a:noFill/>
          </a:ln>
        </p:spPr>
        <p:txBody>
          <a:bodyPr>
            <a:noAutofit/>
          </a:bodyPr>
          <a:lstStyle/>
          <a:p>
            <a:pPr>
              <a:defRPr sz="2850" b="0">
                <a:solidFill>
                  <a:srgbClr val="FFFFFF"/>
                </a:solidFill>
                <a:latin typeface="Calibri"/>
                <a:ea typeface="Calibri"/>
                <a:cs typeface="Calibri"/>
              </a:defRPr>
            </a:pPr>
            <a:r>
              <a:rPr sz="2850" b="0">
                <a:solidFill>
                  <a:srgbClr val="FFFFFF"/>
                </a:solidFill>
                <a:latin typeface="Calibri"/>
                <a:ea typeface="Calibri"/>
                <a:cs typeface="Calibri"/>
              </a:rPr>
              <a:t>You can explain which observations a filter keeps and what a grouped total means.</a:t>
            </a:r>
          </a:p>
          <a:p>
            <a:r>
              <a:t/>
            </a:r>
          </a:p>
          <a:p>
            <a:pPr>
              <a:defRPr sz="2850" b="0">
                <a:solidFill>
                  <a:srgbClr val="FFFFFF"/>
                </a:solidFill>
                <a:latin typeface="Calibri"/>
                <a:ea typeface="Calibri"/>
                <a:cs typeface="Calibri"/>
              </a:defRPr>
            </a:pPr>
            <a:r>
              <a:rPr sz="2850" b="0">
                <a:solidFill>
                  <a:srgbClr val="FFFFFF"/>
                </a:solidFill>
                <a:latin typeface="Calibri"/>
                <a:ea typeface="Calibri"/>
                <a:cs typeface="Calibri"/>
              </a:rPr>
              <a:t>Save your work and check the required submission files.</a:t>
            </a:r>
          </a:p>
        </p:txBody>
      </p:sp>
      <p:sp>
        <p:nvSpPr>
          <p:cNvPr id="5" name="">
            <a:extLst>
              <a:ext uri="{FF2B5EF4-FFF2-40B4-BE49-F238E27FC236}">
                <ns2:creationId id="{BD5C14C7-207A-4357-8CDC-801CADD66DEE}"/>
              </a:ext>
            </a:extLst>
          </p:cNvPr>
          <p:cNvSpPr>
            <a:spLocks noGrp="1"/>
          </p:cNvSpPr>
          <p:nvPr/>
        </p:nvSpPr>
        <p:spPr>
          <a:xfrm>
            <a:off x="619125" y="5791200"/>
            <a:ext cx="10810875" cy="542925"/>
          </a:xfrm>
          <a:prstGeom prst="rect">
            <a:avLst/>
          </a:prstGeom>
          <a:noFill/>
          <a:ln w="0">
            <a:noFill/>
          </a:ln>
        </p:spPr>
        <p:txBody>
          <a:bodyPr>
            <a:noAutofit/>
          </a:bodyPr>
          <a:lstStyle/>
          <a:p>
            <a:pPr>
              <a:defRPr sz="1800" b="0">
                <a:solidFill>
                  <a:srgbClr val="BBCDD9"/>
                </a:solidFill>
                <a:latin typeface="Calibri"/>
                <a:ea typeface="Calibri"/>
                <a:cs typeface="Calibri"/>
              </a:defRPr>
            </a:pPr>
            <a:r>
              <a:rPr sz="1800" b="0">
                <a:solidFill>
                  <a:srgbClr val="BBCDD9"/>
                </a:solidFill>
                <a:latin typeface="Calibri"/>
                <a:ea typeface="Calibri"/>
                <a:cs typeface="Calibri"/>
              </a:rPr>
              <a:t>Check your answers against the example, then save your work.</a:t>
            </a:r>
          </a:p>
        </p:txBody>
      </p:sp>
      <p:sp>
        <p:nvSpPr>
          <p:cNvPr id="6" name="">
            <a:extLst>
              <a:ext uri="{FF2B5EF4-FFF2-40B4-BE49-F238E27FC236}">
                <ns2:creationId id="{117AAB5A-4B68-4B03-92D7-1E3C39A5B5FF}"/>
              </a:ext>
            </a:extLst>
          </p:cNvPr>
          <p:cNvSpPr>
            <a:spLocks noGrp="1"/>
          </p:cNvSpPr>
          <p:nvPr/>
        </p:nvSpPr>
        <p:spPr>
          <a:xfrm>
            <a:off x="590550" y="6524625"/>
            <a:ext cx="10810875" cy="219075"/>
          </a:xfrm>
          <a:prstGeom prst="rect">
            <a:avLst/>
          </a:prstGeom>
          <a:noFill/>
          <a:ln w="0">
            <a:noFill/>
          </a:ln>
        </p:spPr>
        <p:txBody>
          <a:bodyPr>
            <a:noAutofit/>
          </a:bodyPr>
          <a:lstStyle/>
          <a:p>
            <a:pPr>
              <a:defRPr sz="1200" b="0">
                <a:solidFill>
                  <a:srgbClr val="BBCDD9"/>
                </a:solidFill>
                <a:latin typeface="Calibri"/>
                <a:ea typeface="Calibri"/>
                <a:cs typeface="Calibri"/>
              </a:defRPr>
            </a:pPr>
            <a:r>
              <a:rPr sz="1200" b="0">
                <a:solidFill>
                  <a:srgbClr val="BBCDD9"/>
                </a:solidFill>
                <a:latin typeface="Calibri"/>
                <a:ea typeface="Calibri"/>
                <a:cs typeface="Calibri"/>
              </a:rPr>
              <a:t>CML3112   Week 5   44</a:t>
            </a:r>
          </a:p>
        </p:txBody>
      </p:sp>
    </p:spTree>
    <p:extLst>
      <p:ext uri="{BB962C8B-B14F-4D97-AF65-F5344CB8AC3E}">
        <ns3:creationId val="443521263"/>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2026-09-28T21:42:33.8540000Z</dcterms:created>
  <dcterms:modified xsi:type="dcterms:W3CDTF">2026-09-28T21:42:33.8540000Z</dcterms:modified>
</coreProperties>
</file>