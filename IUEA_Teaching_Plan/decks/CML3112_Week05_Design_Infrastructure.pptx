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5f1c277e3b64f36" /><Relationship Type="http://schemas.openxmlformats.org/officeDocument/2006/relationships/extended-properties" Target="/docProps/app.xml" Id="R7792f274c50a4895" /><Relationship Type="http://schemas.openxmlformats.org/officeDocument/2006/relationships/officeDocument" Target="/ppt/presentation.xml" Id="R4db7f04dca804690" /></Relationships>
</file>

<file path=ppt/presentation.xml><?xml version="1.0" encoding="utf-8"?>
<p:presentation xmlns:p="http://schemas.openxmlformats.org/presentationml/2006/main">
  <p:sldMasterIdLst>
    <p:sldMasterId xmlns:r="http://schemas.openxmlformats.org/officeDocument/2006/relationships" id="2147483648" r:id="R3bf76b999546408a"/>
  </p:sldMasterIdLst>
  <p:notesMasterIdLst>
    <p:notesMasterId xmlns:r="http://schemas.openxmlformats.org/officeDocument/2006/relationships" r:id="Rcd7a6068aec241da"/>
  </p:notesMasterIdLst>
  <p:sldIdLst>
    <p:sldId xmlns:r="http://schemas.openxmlformats.org/officeDocument/2006/relationships" id="256" r:id="R5b878bcf692948fa"/>
    <p:sldId xmlns:r="http://schemas.openxmlformats.org/officeDocument/2006/relationships" id="257" r:id="Raf16b230ac7c4af3"/>
    <p:sldId xmlns:r="http://schemas.openxmlformats.org/officeDocument/2006/relationships" id="258" r:id="R61ccf8c3981e4da8"/>
    <p:sldId xmlns:r="http://schemas.openxmlformats.org/officeDocument/2006/relationships" id="259" r:id="R68b009bdb4624d44"/>
    <p:sldId xmlns:r="http://schemas.openxmlformats.org/officeDocument/2006/relationships" id="260" r:id="R80638a2dac134fa9"/>
    <p:sldId xmlns:r="http://schemas.openxmlformats.org/officeDocument/2006/relationships" id="261" r:id="Rde7be80ee4014320"/>
    <p:sldId xmlns:r="http://schemas.openxmlformats.org/officeDocument/2006/relationships" id="262" r:id="R831cc9deb775406a"/>
    <p:sldId xmlns:r="http://schemas.openxmlformats.org/officeDocument/2006/relationships" id="263" r:id="R527c3b32ef634e78"/>
    <p:sldId xmlns:r="http://schemas.openxmlformats.org/officeDocument/2006/relationships" id="264" r:id="R09fb926bebaf4630"/>
    <p:sldId xmlns:r="http://schemas.openxmlformats.org/officeDocument/2006/relationships" id="265" r:id="R39d4a14b435b4953"/>
    <p:sldId xmlns:r="http://schemas.openxmlformats.org/officeDocument/2006/relationships" id="266" r:id="R296e9b3745f0432b"/>
    <p:sldId xmlns:r="http://schemas.openxmlformats.org/officeDocument/2006/relationships" id="267" r:id="R84009f8cff324929"/>
    <p:sldId xmlns:r="http://schemas.openxmlformats.org/officeDocument/2006/relationships" id="268" r:id="Recf61bfd4f9f4f8d"/>
    <p:sldId xmlns:r="http://schemas.openxmlformats.org/officeDocument/2006/relationships" id="269" r:id="Rdee0b88207824d5c"/>
    <p:sldId xmlns:r="http://schemas.openxmlformats.org/officeDocument/2006/relationships" id="270" r:id="Ree449cdc59b14fca"/>
    <p:sldId xmlns:r="http://schemas.openxmlformats.org/officeDocument/2006/relationships" id="271" r:id="R5084c0e013fb4771"/>
    <p:sldId xmlns:r="http://schemas.openxmlformats.org/officeDocument/2006/relationships" id="272" r:id="Rd53915030aeb4eee"/>
    <p:sldId xmlns:r="http://schemas.openxmlformats.org/officeDocument/2006/relationships" id="273" r:id="Rcbe6a5545a664475"/>
    <p:sldId xmlns:r="http://schemas.openxmlformats.org/officeDocument/2006/relationships" id="274" r:id="R377cba4fd1d74ff9"/>
    <p:sldId xmlns:r="http://schemas.openxmlformats.org/officeDocument/2006/relationships" id="275" r:id="R311f95864cb94435"/>
    <p:sldId xmlns:r="http://schemas.openxmlformats.org/officeDocument/2006/relationships" id="276" r:id="Rc04d5128aba2417c"/>
    <p:sldId xmlns:r="http://schemas.openxmlformats.org/officeDocument/2006/relationships" id="277" r:id="Rd9985a4091ca4332"/>
    <p:sldId xmlns:r="http://schemas.openxmlformats.org/officeDocument/2006/relationships" id="278" r:id="R277afa4bf4ed4932"/>
    <p:sldId xmlns:r="http://schemas.openxmlformats.org/officeDocument/2006/relationships" id="279" r:id="R08981686915b4f16"/>
    <p:sldId xmlns:r="http://schemas.openxmlformats.org/officeDocument/2006/relationships" id="280" r:id="R1e66453cd9e6495d"/>
    <p:sldId xmlns:r="http://schemas.openxmlformats.org/officeDocument/2006/relationships" id="281" r:id="R790d15cb3d864815"/>
    <p:sldId xmlns:r="http://schemas.openxmlformats.org/officeDocument/2006/relationships" id="282" r:id="R57754fa2be634b48"/>
    <p:sldId xmlns:r="http://schemas.openxmlformats.org/officeDocument/2006/relationships" id="283" r:id="Rea814dae09ec4f3b"/>
    <p:sldId xmlns:r="http://schemas.openxmlformats.org/officeDocument/2006/relationships" id="284" r:id="Rc676af32032641a2"/>
    <p:sldId xmlns:r="http://schemas.openxmlformats.org/officeDocument/2006/relationships" id="285" r:id="R7706a0fb8b934176"/>
    <p:sldId xmlns:r="http://schemas.openxmlformats.org/officeDocument/2006/relationships" id="286" r:id="R0e81fdaf756a4301"/>
    <p:sldId xmlns:r="http://schemas.openxmlformats.org/officeDocument/2006/relationships" id="287" r:id="R8b8126cfd58645a8"/>
    <p:sldId xmlns:r="http://schemas.openxmlformats.org/officeDocument/2006/relationships" id="288" r:id="R6b885be37df546a4"/>
    <p:sldId xmlns:r="http://schemas.openxmlformats.org/officeDocument/2006/relationships" id="289" r:id="R38905f84168a436a"/>
    <p:sldId xmlns:r="http://schemas.openxmlformats.org/officeDocument/2006/relationships" id="290" r:id="R37d19243d80e4787"/>
    <p:sldId xmlns:r="http://schemas.openxmlformats.org/officeDocument/2006/relationships" id="291" r:id="R0234b0d4e7384122"/>
    <p:sldId xmlns:r="http://schemas.openxmlformats.org/officeDocument/2006/relationships" id="292" r:id="R3bc032340eb940b8"/>
    <p:sldId xmlns:r="http://schemas.openxmlformats.org/officeDocument/2006/relationships" id="293" r:id="R3f5089bf5be54879"/>
    <p:sldId xmlns:r="http://schemas.openxmlformats.org/officeDocument/2006/relationships" id="294" r:id="Rb1e853295e9449ad"/>
    <p:sldId xmlns:r="http://schemas.openxmlformats.org/officeDocument/2006/relationships" id="295" r:id="R47777c43e2884cdd"/>
    <p:sldId xmlns:r="http://schemas.openxmlformats.org/officeDocument/2006/relationships" id="296" r:id="R6d77d8c6f60f48de"/>
    <p:sldId xmlns:r="http://schemas.openxmlformats.org/officeDocument/2006/relationships" id="297" r:id="Rc607b8427e694397"/>
    <p:sldId xmlns:r="http://schemas.openxmlformats.org/officeDocument/2006/relationships" id="298" r:id="Rc0306a12de7d47d3"/>
    <p:sldId xmlns:r="http://schemas.openxmlformats.org/officeDocument/2006/relationships" id="299" r:id="R4eda395b348841d6"/>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e3615aa09d6417b" /><Relationship Type="http://schemas.openxmlformats.org/officeDocument/2006/relationships/slideMaster" Target="/ppt/slideMasters/slideMaster1.xml" Id="R3bf76b999546408a" /><Relationship Type="http://schemas.openxmlformats.org/officeDocument/2006/relationships/notesMaster" Target="/ppt/notesMasters/notesMaster1.xml" Id="Rcd7a6068aec241da" /><Relationship Type="http://schemas.openxmlformats.org/officeDocument/2006/relationships/presProps" Target="/ppt/presProps.xml" Id="Rf24eed39ef9c484d" /><Relationship Type="http://schemas.openxmlformats.org/officeDocument/2006/relationships/tableStyles" Target="/ppt/tableStyles.xml" Id="R6779d66c3e4a40eb" /><Relationship Type="http://schemas.openxmlformats.org/officeDocument/2006/relationships/slide" Target="/ppt/slides/slide1.xml" Id="R5b878bcf692948fa" /><Relationship Type="http://schemas.openxmlformats.org/officeDocument/2006/relationships/slide" Target="/ppt/slides/slide2.xml" Id="Raf16b230ac7c4af3" /><Relationship Type="http://schemas.openxmlformats.org/officeDocument/2006/relationships/slide" Target="/ppt/slides/slide3.xml" Id="R61ccf8c3981e4da8" /><Relationship Type="http://schemas.openxmlformats.org/officeDocument/2006/relationships/slide" Target="/ppt/slides/slide4.xml" Id="R68b009bdb4624d44" /><Relationship Type="http://schemas.openxmlformats.org/officeDocument/2006/relationships/slide" Target="/ppt/slides/slide5.xml" Id="R80638a2dac134fa9" /><Relationship Type="http://schemas.openxmlformats.org/officeDocument/2006/relationships/slide" Target="/ppt/slides/slide6.xml" Id="Rde7be80ee4014320" /><Relationship Type="http://schemas.openxmlformats.org/officeDocument/2006/relationships/slide" Target="/ppt/slides/slide7.xml" Id="R831cc9deb775406a" /><Relationship Type="http://schemas.openxmlformats.org/officeDocument/2006/relationships/slide" Target="/ppt/slides/slide8.xml" Id="R527c3b32ef634e78" /><Relationship Type="http://schemas.openxmlformats.org/officeDocument/2006/relationships/slide" Target="/ppt/slides/slide9.xml" Id="R09fb926bebaf4630" /><Relationship Type="http://schemas.openxmlformats.org/officeDocument/2006/relationships/slide" Target="/ppt/slides/slide10.xml" Id="R39d4a14b435b4953" /><Relationship Type="http://schemas.openxmlformats.org/officeDocument/2006/relationships/slide" Target="/ppt/slides/slide11.xml" Id="R296e9b3745f0432b" /><Relationship Type="http://schemas.openxmlformats.org/officeDocument/2006/relationships/slide" Target="/ppt/slides/slide12.xml" Id="R84009f8cff324929" /><Relationship Type="http://schemas.openxmlformats.org/officeDocument/2006/relationships/slide" Target="/ppt/slides/slide13.xml" Id="Recf61bfd4f9f4f8d" /><Relationship Type="http://schemas.openxmlformats.org/officeDocument/2006/relationships/slide" Target="/ppt/slides/slide14.xml" Id="Rdee0b88207824d5c" /><Relationship Type="http://schemas.openxmlformats.org/officeDocument/2006/relationships/slide" Target="/ppt/slides/slide15.xml" Id="Ree449cdc59b14fca" /><Relationship Type="http://schemas.openxmlformats.org/officeDocument/2006/relationships/slide" Target="/ppt/slides/slide16.xml" Id="R5084c0e013fb4771" /><Relationship Type="http://schemas.openxmlformats.org/officeDocument/2006/relationships/slide" Target="/ppt/slides/slide17.xml" Id="Rd53915030aeb4eee" /><Relationship Type="http://schemas.openxmlformats.org/officeDocument/2006/relationships/slide" Target="/ppt/slides/slide18.xml" Id="Rcbe6a5545a664475" /><Relationship Type="http://schemas.openxmlformats.org/officeDocument/2006/relationships/slide" Target="/ppt/slides/slide19.xml" Id="R377cba4fd1d74ff9" /><Relationship Type="http://schemas.openxmlformats.org/officeDocument/2006/relationships/slide" Target="/ppt/slides/slide20.xml" Id="R311f95864cb94435" /><Relationship Type="http://schemas.openxmlformats.org/officeDocument/2006/relationships/slide" Target="/ppt/slides/slide21.xml" Id="Rc04d5128aba2417c" /><Relationship Type="http://schemas.openxmlformats.org/officeDocument/2006/relationships/slide" Target="/ppt/slides/slide22.xml" Id="Rd9985a4091ca4332" /><Relationship Type="http://schemas.openxmlformats.org/officeDocument/2006/relationships/slide" Target="/ppt/slides/slide23.xml" Id="R277afa4bf4ed4932" /><Relationship Type="http://schemas.openxmlformats.org/officeDocument/2006/relationships/slide" Target="/ppt/slides/slide24.xml" Id="R08981686915b4f16" /><Relationship Type="http://schemas.openxmlformats.org/officeDocument/2006/relationships/slide" Target="/ppt/slides/slide25.xml" Id="R1e66453cd9e6495d" /><Relationship Type="http://schemas.openxmlformats.org/officeDocument/2006/relationships/slide" Target="/ppt/slides/slide26.xml" Id="R790d15cb3d864815" /><Relationship Type="http://schemas.openxmlformats.org/officeDocument/2006/relationships/slide" Target="/ppt/slides/slide27.xml" Id="R57754fa2be634b48" /><Relationship Type="http://schemas.openxmlformats.org/officeDocument/2006/relationships/slide" Target="/ppt/slides/slide28.xml" Id="Rea814dae09ec4f3b" /><Relationship Type="http://schemas.openxmlformats.org/officeDocument/2006/relationships/slide" Target="/ppt/slides/slide29.xml" Id="Rc676af32032641a2" /><Relationship Type="http://schemas.openxmlformats.org/officeDocument/2006/relationships/slide" Target="/ppt/slides/slide30.xml" Id="R7706a0fb8b934176" /><Relationship Type="http://schemas.openxmlformats.org/officeDocument/2006/relationships/slide" Target="/ppt/slides/slide31.xml" Id="R0e81fdaf756a4301" /><Relationship Type="http://schemas.openxmlformats.org/officeDocument/2006/relationships/slide" Target="/ppt/slides/slide32.xml" Id="R8b8126cfd58645a8" /><Relationship Type="http://schemas.openxmlformats.org/officeDocument/2006/relationships/slide" Target="/ppt/slides/slide33.xml" Id="R6b885be37df546a4" /><Relationship Type="http://schemas.openxmlformats.org/officeDocument/2006/relationships/slide" Target="/ppt/slides/slide34.xml" Id="R38905f84168a436a" /><Relationship Type="http://schemas.openxmlformats.org/officeDocument/2006/relationships/slide" Target="/ppt/slides/slide35.xml" Id="R37d19243d80e4787" /><Relationship Type="http://schemas.openxmlformats.org/officeDocument/2006/relationships/slide" Target="/ppt/slides/slide36.xml" Id="R0234b0d4e7384122" /><Relationship Type="http://schemas.openxmlformats.org/officeDocument/2006/relationships/slide" Target="/ppt/slides/slide37.xml" Id="R3bc032340eb940b8" /><Relationship Type="http://schemas.openxmlformats.org/officeDocument/2006/relationships/slide" Target="/ppt/slides/slide38.xml" Id="R3f5089bf5be54879" /><Relationship Type="http://schemas.openxmlformats.org/officeDocument/2006/relationships/slide" Target="/ppt/slides/slide39.xml" Id="Rb1e853295e9449ad" /><Relationship Type="http://schemas.openxmlformats.org/officeDocument/2006/relationships/slide" Target="/ppt/slides/slide40.xml" Id="R47777c43e2884cdd" /><Relationship Type="http://schemas.openxmlformats.org/officeDocument/2006/relationships/slide" Target="/ppt/slides/slide41.xml" Id="R6d77d8c6f60f48de" /><Relationship Type="http://schemas.openxmlformats.org/officeDocument/2006/relationships/slide" Target="/ppt/slides/slide42.xml" Id="Rc607b8427e694397" /><Relationship Type="http://schemas.openxmlformats.org/officeDocument/2006/relationships/slide" Target="/ppt/slides/slide43.xml" Id="Rc0306a12de7d47d3" /><Relationship Type="http://schemas.openxmlformats.org/officeDocument/2006/relationships/slide" Target="/ppt/slides/slide44.xml" Id="R4eda395b348841d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ac5442d19f847c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a0c412a78e04634" /><Relationship Type="http://schemas.openxmlformats.org/officeDocument/2006/relationships/notesMaster" Target="/ppt/notesMasters/notesMaster1.xml" Id="R7b2c9c5f606d4f3b" /></Relationships>
</file>

<file path=ppt/notesSlides/_rels/notesSlide2.xml.rels>&#65279;<?xml version="1.0" encoding="utf-8"?><Relationships xmlns="http://schemas.openxmlformats.org/package/2006/relationships"><Relationship Type="http://schemas.openxmlformats.org/officeDocument/2006/relationships/slide" Target="/ppt/slides/slide2.xml" Id="Rbd7af735b5b74df4" /><Relationship Type="http://schemas.openxmlformats.org/officeDocument/2006/relationships/notesMaster" Target="/ppt/notesMasters/notesMaster1.xml" Id="R572fef4548f844ac" /></Relationships>
</file>

<file path=ppt/notesSlides/_rels/notesSlide3.xml.rels>&#65279;<?xml version="1.0" encoding="utf-8"?><Relationships xmlns="http://schemas.openxmlformats.org/package/2006/relationships"><Relationship Type="http://schemas.openxmlformats.org/officeDocument/2006/relationships/slide" Target="/ppt/slides/slide3.xml" Id="Rc197c6c7b8294342" /><Relationship Type="http://schemas.openxmlformats.org/officeDocument/2006/relationships/notesMaster" Target="/ppt/notesMasters/notesMaster1.xml" Id="R5e881c63b942452d" /></Relationships>
</file>

<file path=ppt/notesSlides/_rels/notesSlide4.xml.rels>&#65279;<?xml version="1.0" encoding="utf-8"?><Relationships xmlns="http://schemas.openxmlformats.org/package/2006/relationships"><Relationship Type="http://schemas.openxmlformats.org/officeDocument/2006/relationships/slide" Target="/ppt/slides/slide4.xml" Id="Re23cbd67926b4514" /><Relationship Type="http://schemas.openxmlformats.org/officeDocument/2006/relationships/notesMaster" Target="/ppt/notesMasters/notesMaster1.xml" Id="R9784369f4312439f" /></Relationships>
</file>

<file path=ppt/notesSlides/_rels/notesSlide5.xml.rels>&#65279;<?xml version="1.0" encoding="utf-8"?><Relationships xmlns="http://schemas.openxmlformats.org/package/2006/relationships"><Relationship Type="http://schemas.openxmlformats.org/officeDocument/2006/relationships/slide" Target="/ppt/slides/slide5.xml" Id="Rd389601b4faa41e2" /><Relationship Type="http://schemas.openxmlformats.org/officeDocument/2006/relationships/notesMaster" Target="/ppt/notesMasters/notesMaster1.xml" Id="R9d7514c7c4024254" /></Relationships>
</file>

<file path=ppt/notesSlides/_rels/notesSlide6.xml.rels>&#65279;<?xml version="1.0" encoding="utf-8"?><Relationships xmlns="http://schemas.openxmlformats.org/package/2006/relationships"><Relationship Type="http://schemas.openxmlformats.org/officeDocument/2006/relationships/slide" Target="/ppt/slides/slide6.xml" Id="Rd2d11db1ee6e4bc5" /><Relationship Type="http://schemas.openxmlformats.org/officeDocument/2006/relationships/notesMaster" Target="/ppt/notesMasters/notesMaster1.xml" Id="Ra26d8efcb30a4c01" /></Relationships>
</file>

<file path=ppt/notesSlides/_rels/notesSlide7.xml.rels>&#65279;<?xml version="1.0" encoding="utf-8"?><Relationships xmlns="http://schemas.openxmlformats.org/package/2006/relationships"><Relationship Type="http://schemas.openxmlformats.org/officeDocument/2006/relationships/slide" Target="/ppt/slides/slide7.xml" Id="R09131053bac54fca" /><Relationship Type="http://schemas.openxmlformats.org/officeDocument/2006/relationships/notesMaster" Target="/ppt/notesMasters/notesMaster1.xml" Id="Rad2ab20019bc4788" /></Relationships>
</file>

<file path=ppt/notesSlides/_rels/notesSlide8.xml.rels>&#65279;<?xml version="1.0" encoding="utf-8"?><Relationships xmlns="http://schemas.openxmlformats.org/package/2006/relationships"><Relationship Type="http://schemas.openxmlformats.org/officeDocument/2006/relationships/slide" Target="/ppt/slides/slide8.xml" Id="R05af7282618c45dd" /><Relationship Type="http://schemas.openxmlformats.org/officeDocument/2006/relationships/notesMaster" Target="/ppt/notesMasters/notesMaster1.xml" Id="Raf590f5841d54ff7" /></Relationships>
</file>

<file path=ppt/notesSlides/_rels/notesSlide9.xml.rels>&#65279;<?xml version="1.0" encoding="utf-8"?><Relationships xmlns="http://schemas.openxmlformats.org/package/2006/relationships"><Relationship Type="http://schemas.openxmlformats.org/officeDocument/2006/relationships/slide" Target="/ppt/slides/slide9.xml" Id="Rd7cb9e5a21f543a9" /><Relationship Type="http://schemas.openxmlformats.org/officeDocument/2006/relationships/notesMaster" Target="/ppt/notesMasters/notesMaster1.xml" Id="Rc1cfed4f2d0741f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a7d43cdf2fa4258" /><Relationship Type="http://schemas.openxmlformats.org/officeDocument/2006/relationships/notesMaster" Target="/ppt/notesMasters/notesMaster1.xml" Id="Rf1e5972c324940c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9a315cfdfc54406" /><Relationship Type="http://schemas.openxmlformats.org/officeDocument/2006/relationships/notesMaster" Target="/ppt/notesMasters/notesMaster1.xml" Id="Rc44544e209c441c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14cab331f19461a" /><Relationship Type="http://schemas.openxmlformats.org/officeDocument/2006/relationships/notesMaster" Target="/ppt/notesMasters/notesMaster1.xml" Id="R93d09c99e5464cc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291944770954c6e" /><Relationship Type="http://schemas.openxmlformats.org/officeDocument/2006/relationships/notesMaster" Target="/ppt/notesMasters/notesMaster1.xml" Id="R6c3ccfa58ec4473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16538b21edc4155" /><Relationship Type="http://schemas.openxmlformats.org/officeDocument/2006/relationships/notesMaster" Target="/ppt/notesMasters/notesMaster1.xml" Id="R5d9af247e18243f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b0ecaed119342bf" /><Relationship Type="http://schemas.openxmlformats.org/officeDocument/2006/relationships/notesMaster" Target="/ppt/notesMasters/notesMaster1.xml" Id="R6098cf56fe78480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a416bdf3cb6481c" /><Relationship Type="http://schemas.openxmlformats.org/officeDocument/2006/relationships/notesMaster" Target="/ppt/notesMasters/notesMaster1.xml" Id="Reca94357e5e044e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b516661fd9b45ab" /><Relationship Type="http://schemas.openxmlformats.org/officeDocument/2006/relationships/notesMaster" Target="/ppt/notesMasters/notesMaster1.xml" Id="Re2818974f3c44e4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7383e1c9bf141e8" /><Relationship Type="http://schemas.openxmlformats.org/officeDocument/2006/relationships/notesMaster" Target="/ppt/notesMasters/notesMaster1.xml" Id="Rf4f6f714c8b249a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c4c4d999cef4440" /><Relationship Type="http://schemas.openxmlformats.org/officeDocument/2006/relationships/notesMaster" Target="/ppt/notesMasters/notesMaster1.xml" Id="Ref335a68d3de4ec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cb100a0e7f44903" /><Relationship Type="http://schemas.openxmlformats.org/officeDocument/2006/relationships/notesMaster" Target="/ppt/notesMasters/notesMaster1.xml" Id="R324d6b4947cc482e"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71f79c5593740e8" /><Relationship Type="http://schemas.openxmlformats.org/officeDocument/2006/relationships/notesMaster" Target="/ppt/notesMasters/notesMaster1.xml" Id="Rf17cb94359634d5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2392f697743645d5" /><Relationship Type="http://schemas.openxmlformats.org/officeDocument/2006/relationships/notesMaster" Target="/ppt/notesMasters/notesMaster1.xml" Id="R74bc355203204fe6"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8292d38e1fa84f01" /><Relationship Type="http://schemas.openxmlformats.org/officeDocument/2006/relationships/notesMaster" Target="/ppt/notesMasters/notesMaster1.xml" Id="R4fcfc65ee6f9428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5b207f1491ea4805" /><Relationship Type="http://schemas.openxmlformats.org/officeDocument/2006/relationships/notesMaster" Target="/ppt/notesMasters/notesMaster1.xml" Id="R0dbf1f88ccf342c6"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c9137b8727b54f66" /><Relationship Type="http://schemas.openxmlformats.org/officeDocument/2006/relationships/notesMaster" Target="/ppt/notesMasters/notesMaster1.xml" Id="Re07d1cd404d84aae"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3bcfaa8fe1e54745" /><Relationship Type="http://schemas.openxmlformats.org/officeDocument/2006/relationships/notesMaster" Target="/ppt/notesMasters/notesMaster1.xml" Id="R722af8435e6a4c60"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2126e791ac1d443f" /><Relationship Type="http://schemas.openxmlformats.org/officeDocument/2006/relationships/notesMaster" Target="/ppt/notesMasters/notesMaster1.xml" Id="R4f37e7afeb8944ae"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955c17f99960456d" /><Relationship Type="http://schemas.openxmlformats.org/officeDocument/2006/relationships/notesMaster" Target="/ppt/notesMasters/notesMaster1.xml" Id="R0654871dfa6d4e78"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7a9021ed2e3e47ee" /><Relationship Type="http://schemas.openxmlformats.org/officeDocument/2006/relationships/notesMaster" Target="/ppt/notesMasters/notesMaster1.xml" Id="R9e30c94dd01449ba"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b77591637ae4c6e" /><Relationship Type="http://schemas.openxmlformats.org/officeDocument/2006/relationships/notesMaster" Target="/ppt/notesMasters/notesMaster1.xml" Id="R99b002794ace4fab"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ff2d6fb1dc7b4667" /><Relationship Type="http://schemas.openxmlformats.org/officeDocument/2006/relationships/notesMaster" Target="/ppt/notesMasters/notesMaster1.xml" Id="R612e79bdf79648ba"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9a0e7444bb0b4a0f" /><Relationship Type="http://schemas.openxmlformats.org/officeDocument/2006/relationships/notesMaster" Target="/ppt/notesMasters/notesMaster1.xml" Id="R5a7a3859a3a4450a"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722cb385313e414c" /><Relationship Type="http://schemas.openxmlformats.org/officeDocument/2006/relationships/notesMaster" Target="/ppt/notesMasters/notesMaster1.xml" Id="Rb6aadc6a35984b03"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262dd9a45014495f" /><Relationship Type="http://schemas.openxmlformats.org/officeDocument/2006/relationships/notesMaster" Target="/ppt/notesMasters/notesMaster1.xml" Id="R3c06dad8698244e7"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083f4c5d122147a9" /><Relationship Type="http://schemas.openxmlformats.org/officeDocument/2006/relationships/notesMaster" Target="/ppt/notesMasters/notesMaster1.xml" Id="R7315d4ce3ef347fa"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3d38a21d74e54dee" /><Relationship Type="http://schemas.openxmlformats.org/officeDocument/2006/relationships/notesMaster" Target="/ppt/notesMasters/notesMaster1.xml" Id="R622831f4d35a43c2"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cd2fb9c992ae483a" /><Relationship Type="http://schemas.openxmlformats.org/officeDocument/2006/relationships/notesMaster" Target="/ppt/notesMasters/notesMaster1.xml" Id="R8fdbb1fef23c4390"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585525caa0d24c34" /><Relationship Type="http://schemas.openxmlformats.org/officeDocument/2006/relationships/notesMaster" Target="/ppt/notesMasters/notesMaster1.xml" Id="R32dbd6bf5c054a61"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7b59466855984435" /><Relationship Type="http://schemas.openxmlformats.org/officeDocument/2006/relationships/notesMaster" Target="/ppt/notesMasters/notesMaster1.xml" Id="R4abae39c54224dc0"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1a98c2090b774123" /><Relationship Type="http://schemas.openxmlformats.org/officeDocument/2006/relationships/notesMaster" Target="/ppt/notesMasters/notesMaster1.xml" Id="Rde0811c6aad0457e"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205f072da5774b1e" /><Relationship Type="http://schemas.openxmlformats.org/officeDocument/2006/relationships/notesMaster" Target="/ppt/notesMasters/notesMaster1.xml" Id="R566c7de9ddfa499b"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dcd26b68d6424d00" /><Relationship Type="http://schemas.openxmlformats.org/officeDocument/2006/relationships/notesMaster" Target="/ppt/notesMasters/notesMaster1.xml" Id="R2df1686e8ac4442e"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17870267e78242e2" /><Relationship Type="http://schemas.openxmlformats.org/officeDocument/2006/relationships/notesMaster" Target="/ppt/notesMasters/notesMaster1.xml" Id="R77b75aeacabf4e59"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1343092dceae4df4" /><Relationship Type="http://schemas.openxmlformats.org/officeDocument/2006/relationships/notesMaster" Target="/ppt/notesMasters/notesMaster1.xml" Id="R35dd370d24a742e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Using pandas to answer table questions</a:t>
            </a:r>
          </a:p>
          <a:p xmlns:a="http://schemas.openxmlformats.org/drawingml/2006/main">
            <a:r>
              <a:t/>
            </a:r>
          </a:p>
          <a:p xmlns:a="http://schemas.openxmlformats.org/drawingml/2006/main">
            <a:r>
              <a:t>CONNECT</a:t>
            </a:r>
          </a:p>
          <a:p xmlns:a="http://schemas.openxmlformats.org/drawingml/2006/main">
            <a:r>
              <a:t>Previous slide: the preceding week.</a:t>
            </a:r>
          </a:p>
          <a:p xmlns:a="http://schemas.openxmlformats.org/drawingml/2006/main">
            <a:r>
              <a:t/>
            </a:r>
          </a:p>
          <a:p xmlns:a="http://schemas.openxmlformats.org/drawingml/2006/main">
            <a:r>
              <a:t>EXPLAIN</a:t>
            </a:r>
          </a:p>
          <a:p xmlns:a="http://schemas.openxmlformats.org/drawingml/2006/main">
            <a:r>
              <a:t>Civil Engineering and Architecture</a:t>
            </a:r>
          </a:p>
          <a:p xmlns:a="http://schemas.openxmlformats.org/drawingml/2006/main">
            <a:r>
              <a:t/>
            </a:r>
          </a:p>
          <a:p xmlns:a="http://schemas.openxmlformats.org/drawingml/2006/main">
            <a:r>
              <a:t>LECTURER CUE</a:t>
            </a:r>
          </a:p>
          <a:p xmlns:a="http://schemas.openxmlformats.org/drawingml/2006/main">
            <a:r>
              <a:t>Use PowerPoint Presenter View for these notes. Teach one example, pause for every learner to predict, then work an analogous example together. The practice notebook is a learning aid, not an extra graded upload.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Today’s learning.</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Previous slide: Using pandas to answer table questions.</a:t>
            </a:r>
          </a:p>
          <a:p xmlns:a="http://schemas.openxmlformats.org/drawingml/2006/main">
            <a:r>
              <a:t/>
            </a:r>
          </a:p>
          <a:p xmlns:a="http://schemas.openxmlformats.org/drawingml/2006/main">
            <a:r>
              <a:t>EXPLAIN</a:t>
            </a:r>
          </a:p>
          <a:p xmlns:a="http://schemas.openxmlformats.org/drawingml/2006/main">
            <a:r>
              <a:t>Read a labelled table and select rows.</a:t>
            </a:r>
          </a:p>
          <a:p xmlns:a="http://schemas.openxmlformats.org/drawingml/2006/main">
            <a:r>
              <a:t/>
            </a:r>
          </a:p>
          <a:p xmlns:a="http://schemas.openxmlformats.org/drawingml/2006/main">
            <a:r>
              <a:t>Calculate column summaries and grouped totals.</a:t>
            </a:r>
          </a:p>
          <a:p xmlns:a="http://schemas.openxmlformats.org/drawingml/2006/main">
            <a:r>
              <a:t/>
            </a:r>
          </a:p>
          <a:p xmlns:a="http://schemas.openxmlformats.org/drawingml/2006/main">
            <a:r>
              <a:t>LECTURER CUE</a:t>
            </a:r>
          </a:p>
          <a:p xmlns:a="http://schemas.openxmlformats.org/drawingml/2006/main">
            <a:r>
              <a:t>Ask learners to explain this goal in ordinary language. The first successful attempt matters more than covering optional extensions. Defer: NumPy broadcasting, broad Kaggle searches and twelve-plus-ten independent questions are optional extension. No change of editor is needed.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Connection to the previous lesson.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Connection to the previous lesson</a:t>
            </a:r>
          </a:p>
          <a:p xmlns:a="http://schemas.openxmlformats.org/drawingml/2006/main">
            <a:r>
              <a:t/>
            </a:r>
          </a:p>
          <a:p xmlns:a="http://schemas.openxmlformats.org/drawingml/2006/main">
            <a:r>
              <a:t>CONNECT</a:t>
            </a:r>
          </a:p>
          <a:p xmlns:a="http://schemas.openxmlformats.org/drawingml/2006/main">
            <a:r>
              <a:t>Previous slide: Today’s learning.</a:t>
            </a:r>
          </a:p>
          <a:p xmlns:a="http://schemas.openxmlformats.org/drawingml/2006/main">
            <a:r>
              <a:t/>
            </a:r>
          </a:p>
          <a:p xmlns:a="http://schemas.openxmlformats.org/drawingml/2006/main">
            <a:r>
              <a:t>EXPLAIN</a:t>
            </a:r>
          </a:p>
          <a:p xmlns:a="http://schemas.openxmlformats.org/drawingml/2006/main">
            <a:r>
              <a:t>Week 4 used lists, dictionaries, loops and CSV rows. pandas keeps these same records in a labelled table and provides operations that work across its columns.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Why this week’s tools are needed.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Why this week’s tools are needed</a:t>
            </a:r>
          </a:p>
          <a:p xmlns:a="http://schemas.openxmlformats.org/drawingml/2006/main">
            <a:r>
              <a:t/>
            </a:r>
          </a:p>
          <a:p xmlns:a="http://schemas.openxmlformats.org/drawingml/2006/main">
            <a:r>
              <a:t>CONNECT</a:t>
            </a:r>
          </a:p>
          <a:p xmlns:a="http://schemas.openxmlformats.org/drawingml/2006/main">
            <a:r>
              <a:t>Previous slide: Connection to the previous lesson.</a:t>
            </a:r>
          </a:p>
          <a:p xmlns:a="http://schemas.openxmlformats.org/drawingml/2006/main">
            <a:r>
              <a:t/>
            </a:r>
          </a:p>
          <a:p xmlns:a="http://schemas.openxmlformats.org/drawingml/2006/main">
            <a:r>
              <a:t>EXPLAIN</a:t>
            </a:r>
          </a:p>
          <a:p xmlns:a="http://schemas.openxmlformats.org/drawingml/2006/main">
            <a:r>
              <a:t>The supplied campus_energy.csv records campus electricity use. We practise pandas on four invented rows first, then inspect the supplied file and its units.</a:t>
            </a:r>
          </a:p>
          <a:p xmlns:a="http://schemas.openxmlformats.org/drawingml/2006/main">
            <a:r>
              <a:t/>
            </a:r>
          </a:p>
          <a:p xmlns:a="http://schemas.openxmlformats.org/drawingml/2006/main">
            <a:r>
              <a:t>LECTURER CUE</a:t>
            </a:r>
          </a:p>
          <a:p xmlns:a="http://schemas.openxmlformats.org/drawingml/2006/main">
            <a:r>
              <a:t>A building team records indoor temperature to investigate comfort. Civil students can discuss construction and inspection; architecture students can discuss shading and ventilation. Explain the quantities before using them.</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Rows columns and units.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Rows columns and units</a:t>
            </a:r>
          </a:p>
          <a:p xmlns:a="http://schemas.openxmlformats.org/drawingml/2006/main">
            <a:r>
              <a:t/>
            </a:r>
          </a:p>
          <a:p xmlns:a="http://schemas.openxmlformats.org/drawingml/2006/main">
            <a:r>
              <a:t>CONNECT</a:t>
            </a:r>
          </a:p>
          <a:p xmlns:a="http://schemas.openxmlformats.org/drawingml/2006/main">
            <a:r>
              <a:t>Previous slide: Why this week’s tools are needed.</a:t>
            </a:r>
          </a:p>
          <a:p xmlns:a="http://schemas.openxmlformats.org/drawingml/2006/main">
            <a:r>
              <a:t/>
            </a:r>
          </a:p>
          <a:p xmlns:a="http://schemas.openxmlformats.org/drawingml/2006/main">
            <a:r>
              <a:t>EXPLAIN</a:t>
            </a:r>
          </a:p>
          <a:p xmlns:a="http://schemas.openxmlformats.org/drawingml/2006/main">
            <a:r>
              <a:t>A row describes one observation. A column describes one field.</a:t>
            </a:r>
          </a:p>
          <a:p xmlns:a="http://schemas.openxmlformats.org/drawingml/2006/main">
            <a:r>
              <a:t/>
            </a:r>
          </a:p>
          <a:p xmlns:a="http://schemas.openxmlformats.org/drawingml/2006/main">
            <a:r>
              <a:t>A DataFrame is pandas’ labelled table.</a:t>
            </a:r>
          </a:p>
          <a:p xmlns:a="http://schemas.openxmlformats.org/drawingml/2006/main">
            <a:r>
              <a:t/>
            </a:r>
          </a:p>
          <a:p xmlns:a="http://schemas.openxmlformats.org/drawingml/2006/main">
            <a:r>
              <a:t>A Series is one labelled column.</a:t>
            </a:r>
          </a:p>
          <a:p xmlns:a="http://schemas.openxmlformats.org/drawingml/2006/main">
            <a:r>
              <a:t/>
            </a:r>
          </a:p>
          <a:p xmlns:a="http://schemas.openxmlformats.org/drawingml/2006/main">
            <a:r>
              <a:t>kWh measures energy. kW measures power.</a:t>
            </a:r>
          </a:p>
          <a:p xmlns:a="http://schemas.openxmlformats.org/drawingml/2006/main">
            <a:r>
              <a:t/>
            </a:r>
          </a:p>
          <a:p xmlns:a="http://schemas.openxmlformats.org/drawingml/2006/main">
            <a:r>
              <a:t>A data type (dtype) describes the kind of values in a column, such as whole numbers, decimals or text.</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table keeps related observations together.</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table keeps related observations together</a:t>
            </a:r>
          </a:p>
          <a:p xmlns:a="http://schemas.openxmlformats.org/drawingml/2006/main">
            <a:r>
              <a:t/>
            </a:r>
          </a:p>
          <a:p xmlns:a="http://schemas.openxmlformats.org/drawingml/2006/main">
            <a:r>
              <a:t>CONNECT</a:t>
            </a:r>
          </a:p>
          <a:p xmlns:a="http://schemas.openxmlformats.org/drawingml/2006/main">
            <a:r>
              <a:t>Previous slide: Rows columns and units.</a:t>
            </a:r>
          </a:p>
          <a:p xmlns:a="http://schemas.openxmlformats.org/drawingml/2006/main">
            <a:r>
              <a:t/>
            </a:r>
          </a:p>
          <a:p xmlns:a="http://schemas.openxmlformats.org/drawingml/2006/main">
            <a:r>
              <a:t>EXPLAIN</a:t>
            </a:r>
          </a:p>
          <a:p xmlns:a="http://schemas.openxmlformats.org/drawingml/2006/main">
            <a:r>
              <a:t>Our four rows record building A twice and building B twice.</a:t>
            </a:r>
          </a:p>
          <a:p xmlns:a="http://schemas.openxmlformats.org/drawingml/2006/main">
            <a:r>
              <a:t/>
            </a:r>
          </a:p>
          <a:p xmlns:a="http://schemas.openxmlformats.org/drawingml/2006/main">
            <a:r>
              <a:t>Each row contains the building label and an energy reading.</a:t>
            </a:r>
          </a:p>
          <a:p xmlns:a="http://schemas.openxmlformats.org/drawingml/2006/main">
            <a:r>
              <a:t/>
            </a:r>
          </a:p>
          <a:p xmlns:a="http://schemas.openxmlformats.org/drawingml/2006/main">
            <a:r>
              <a:t>kWh is energy. kW is power. The units describe different quantities.</a:t>
            </a:r>
          </a:p>
          <a:p xmlns:a="http://schemas.openxmlformats.org/drawingml/2006/main">
            <a:r>
              <a:t/>
            </a:r>
          </a:p>
          <a:p xmlns:a="http://schemas.openxmlformats.org/drawingml/2006/main">
            <a:r>
              <a:t>LECTURER CUE</a:t>
            </a:r>
          </a:p>
          <a:p xmlns:a="http://schemas.openxmlformats.org/drawingml/2006/main">
            <a:r>
              <a:t>Draw a four-row table before running the example. Describe a reading of kWh as energy, and kW as power; the units are different.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Our small energy table.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Our small energy table</a:t>
            </a:r>
          </a:p>
          <a:p xmlns:a="http://schemas.openxmlformats.org/drawingml/2006/main">
            <a:r>
              <a:t/>
            </a:r>
          </a:p>
          <a:p xmlns:a="http://schemas.openxmlformats.org/drawingml/2006/main">
            <a:r>
              <a:t>CONNECT</a:t>
            </a:r>
          </a:p>
          <a:p xmlns:a="http://schemas.openxmlformats.org/drawingml/2006/main">
            <a:r>
              <a:t>Previous slide: A table keeps related observations together.</a:t>
            </a:r>
          </a:p>
          <a:p xmlns:a="http://schemas.openxmlformats.org/drawingml/2006/main">
            <a:r>
              <a:t/>
            </a:r>
          </a:p>
          <a:p xmlns:a="http://schemas.openxmlformats.org/drawingml/2006/main">
            <a:r>
              <a:t>EXPLAIN</a:t>
            </a:r>
          </a:p>
          <a:p xmlns:a="http://schemas.openxmlformats.org/drawingml/2006/main">
            <a:r>
              <a:t>building | kwh</a:t>
            </a:r>
          </a:p>
          <a:p xmlns:a="http://schemas.openxmlformats.org/drawingml/2006/main">
            <a:r>
              <a:t/>
            </a:r>
          </a:p>
          <a:p xmlns:a="http://schemas.openxmlformats.org/drawingml/2006/main">
            <a:r>
              <a:t>A | 2</a:t>
            </a:r>
          </a:p>
          <a:p xmlns:a="http://schemas.openxmlformats.org/drawingml/2006/main">
            <a:r>
              <a:t/>
            </a:r>
          </a:p>
          <a:p xmlns:a="http://schemas.openxmlformats.org/drawingml/2006/main">
            <a:r>
              <a:t>A | 4</a:t>
            </a:r>
          </a:p>
          <a:p xmlns:a="http://schemas.openxmlformats.org/drawingml/2006/main">
            <a:r>
              <a:t/>
            </a:r>
          </a:p>
          <a:p xmlns:a="http://schemas.openxmlformats.org/drawingml/2006/main">
            <a:r>
              <a:t>B | 5</a:t>
            </a:r>
          </a:p>
          <a:p xmlns:a="http://schemas.openxmlformats.org/drawingml/2006/main">
            <a:r>
              <a:t/>
            </a:r>
          </a:p>
          <a:p xmlns:a="http://schemas.openxmlformats.org/drawingml/2006/main">
            <a:r>
              <a:t>B | 7</a:t>
            </a:r>
          </a:p>
          <a:p xmlns:a="http://schemas.openxmlformats.org/drawingml/2006/main">
            <a:r>
              <a:t/>
            </a:r>
          </a:p>
          <a:p xmlns:a="http://schemas.openxmlformats.org/drawingml/2006/main">
            <a:r>
              <a:t>The four observations total 18 kWh.</a:t>
            </a:r>
          </a:p>
          <a:p xmlns:a="http://schemas.openxmlformats.org/drawingml/2006/main">
            <a:r>
              <a:t/>
            </a:r>
          </a:p>
          <a:p xmlns:a="http://schemas.openxmlformats.org/drawingml/2006/main">
            <a:r>
              <a:t>LECTURER CUE</a:t>
            </a:r>
          </a:p>
          <a:p xmlns:a="http://schemas.openxmlformats.org/drawingml/2006/main">
            <a:r>
              <a:t>The four observations total 18 kWh. Their mean is 4.5 kWh. Building totals are A: 6 and B: 12.</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Library and pandas and DataFrame.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Library and pandas and DataFrame</a:t>
            </a:r>
          </a:p>
          <a:p xmlns:a="http://schemas.openxmlformats.org/drawingml/2006/main">
            <a:r>
              <a:t/>
            </a:r>
          </a:p>
          <a:p xmlns:a="http://schemas.openxmlformats.org/drawingml/2006/main">
            <a:r>
              <a:t>CONNECT</a:t>
            </a:r>
          </a:p>
          <a:p xmlns:a="http://schemas.openxmlformats.org/drawingml/2006/main">
            <a:r>
              <a:t>Previous slide: Our small energy table.</a:t>
            </a:r>
          </a:p>
          <a:p xmlns:a="http://schemas.openxmlformats.org/drawingml/2006/main">
            <a:r>
              <a:t/>
            </a:r>
          </a:p>
          <a:p xmlns:a="http://schemas.openxmlformats.org/drawingml/2006/main">
            <a:r>
              <a:t>EXPLAIN</a:t>
            </a:r>
          </a:p>
          <a:p xmlns:a="http://schemas.openxmlformats.org/drawingml/2006/main">
            <a:r>
              <a:t>Library and pandas: A library is reusable code. pandas provides tools for data tables. import pandas as pd makes pd a short name for that library.</a:t>
            </a:r>
          </a:p>
          <a:p xmlns:a="http://schemas.openxmlformats.org/drawingml/2006/main">
            <a:r>
              <a:t/>
            </a:r>
          </a:p>
          <a:p xmlns:a="http://schemas.openxmlformats.org/drawingml/2006/main">
            <a:r>
              <a:t>DataFrame: A table with named columns and indexed rows. df is just the variable name we choose for this table.</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labelled table in Python.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labelled table in Python</a:t>
            </a:r>
          </a:p>
          <a:p xmlns:a="http://schemas.openxmlformats.org/drawingml/2006/main">
            <a:r>
              <a:t/>
            </a:r>
          </a:p>
          <a:p xmlns:a="http://schemas.openxmlformats.org/drawingml/2006/main">
            <a:r>
              <a:t>CONNECT</a:t>
            </a:r>
          </a:p>
          <a:p xmlns:a="http://schemas.openxmlformats.org/drawingml/2006/main">
            <a:r>
              <a:t>Previous slide: Library and pandas and DataFrame.</a:t>
            </a:r>
          </a:p>
          <a:p xmlns:a="http://schemas.openxmlformats.org/drawingml/2006/main">
            <a:r>
              <a:t/>
            </a:r>
          </a:p>
          <a:p xmlns:a="http://schemas.openxmlformats.org/drawingml/2006/main">
            <a:r>
              <a:t>EXPLAIN</a:t>
            </a:r>
          </a:p>
          <a:p xmlns:a="http://schemas.openxmlformats.org/drawingml/2006/main">
            <a:r>
              <a:t>The illustration uses machinery records. The same row, column and index structure applies to our building-energy table.</a:t>
            </a:r>
          </a:p>
          <a:p xmlns:a="http://schemas.openxmlformats.org/drawingml/2006/main">
            <a:r>
              <a:t/>
            </a:r>
          </a:p>
          <a:p xmlns:a="http://schemas.openxmlformats.org/drawingml/2006/main">
            <a:r>
              <a:t>LECTURER CUE</a:t>
            </a:r>
          </a:p>
          <a:p xmlns:a="http://schemas.openxmlformats.org/drawingml/2006/main">
            <a:r>
              <a:t>Point to one row, column, index and dtype. This maintenance table is illustrative. Work with the issued cohort table next.</a:t>
            </a:r>
          </a:p>
          <a:p xmlns:a="http://schemas.openxmlformats.org/drawingml/2006/main">
            <a:r>
              <a:t>Source: existing course illustration figs/dataframe_anatomy.png. These are illustrative examples, not this cohort’s assessed results.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Series and Method and attribute.</a:t>
            </a:r>
          </a:p>
          <a:p xmlns:a="http://schemas.openxmlformats.org/drawingml/2006/main">
            <a:r>
              <a:t/>
            </a:r>
          </a:p>
          <a:p xmlns:a="http://schemas.openxmlformats.org/drawingml/2006/main">
            <a:r>
              <a:t>REFERENCES</a:t>
            </a:r>
          </a:p>
          <a:p xmlns:a="http://schemas.openxmlformats.org/drawingml/2006/main">
            <a:r>
              <a:t>Source: existing course illustration figs/dataframe_anatomy.png. These are illustrative examples, not this cohort’s assessed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Series and Method and attribute</a:t>
            </a:r>
          </a:p>
          <a:p xmlns:a="http://schemas.openxmlformats.org/drawingml/2006/main">
            <a:r>
              <a:t/>
            </a:r>
          </a:p>
          <a:p xmlns:a="http://schemas.openxmlformats.org/drawingml/2006/main">
            <a:r>
              <a:t>CONNECT</a:t>
            </a:r>
          </a:p>
          <a:p xmlns:a="http://schemas.openxmlformats.org/drawingml/2006/main">
            <a:r>
              <a:t>Previous slide: A labelled table in Python.</a:t>
            </a:r>
          </a:p>
          <a:p xmlns:a="http://schemas.openxmlformats.org/drawingml/2006/main">
            <a:r>
              <a:t/>
            </a:r>
          </a:p>
          <a:p xmlns:a="http://schemas.openxmlformats.org/drawingml/2006/main">
            <a:r>
              <a:t>EXPLAIN</a:t>
            </a:r>
          </a:p>
          <a:p xmlns:a="http://schemas.openxmlformats.org/drawingml/2006/main">
            <a:r>
              <a:t>Series: One labelled column. df["kwh"] selects the column named kwh.</a:t>
            </a:r>
          </a:p>
          <a:p xmlns:a="http://schemas.openxmlformats.org/drawingml/2006/main">
            <a:r>
              <a:t/>
            </a:r>
          </a:p>
          <a:p xmlns:a="http://schemas.openxmlformats.org/drawingml/2006/main">
            <a:r>
              <a:t>Method and attribute: A method performs an operation, as in df.head(). An attribute provides a stored property, as in df.shape. Parentheses call an operation.</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Reading pandas syntax.</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pandas syntax</a:t>
            </a:r>
          </a:p>
          <a:p xmlns:a="http://schemas.openxmlformats.org/drawingml/2006/main">
            <a:r>
              <a:t/>
            </a:r>
          </a:p>
          <a:p xmlns:a="http://schemas.openxmlformats.org/drawingml/2006/main">
            <a:r>
              <a:t>CONNECT</a:t>
            </a:r>
          </a:p>
          <a:p xmlns:a="http://schemas.openxmlformats.org/drawingml/2006/main">
            <a:r>
              <a:t>Previous slide: Series and Method and attribute.</a:t>
            </a:r>
          </a:p>
          <a:p xmlns:a="http://schemas.openxmlformats.org/drawingml/2006/main">
            <a:r>
              <a:t/>
            </a:r>
          </a:p>
          <a:p xmlns:a="http://schemas.openxmlformats.org/drawingml/2006/main">
            <a:r>
              <a:t>EXPLAIN</a:t>
            </a:r>
          </a:p>
          <a:p xmlns:a="http://schemas.openxmlformats.org/drawingml/2006/main">
            <a:r>
              <a:t>import pandas as pd loads the library and gives it a short name.</a:t>
            </a:r>
          </a:p>
          <a:p xmlns:a="http://schemas.openxmlformats.org/drawingml/2006/main">
            <a:r>
              <a:t/>
            </a:r>
          </a:p>
          <a:p xmlns:a="http://schemas.openxmlformats.org/drawingml/2006/main">
            <a:r>
              <a:t>pd.read_csv("file.csv") calls a function. The quoted text is the file path.</a:t>
            </a:r>
          </a:p>
          <a:p xmlns:a="http://schemas.openxmlformats.org/drawingml/2006/main">
            <a:r>
              <a:t/>
            </a:r>
          </a:p>
          <a:p xmlns:a="http://schemas.openxmlformats.org/drawingml/2006/main">
            <a:r>
              <a:t>df["kwh"] selects a column. df["kwh"].mean() calls a method on that column.</a:t>
            </a:r>
          </a:p>
          <a:p xmlns:a="http://schemas.openxmlformats.org/drawingml/2006/main">
            <a:r>
              <a:t/>
            </a:r>
          </a:p>
          <a:p xmlns:a="http://schemas.openxmlformats.org/drawingml/2006/main">
            <a:r>
              <a:t>LECTURER CUE</a:t>
            </a:r>
          </a:p>
          <a:p xmlns:a="http://schemas.openxmlformats.org/drawingml/2006/main">
            <a:r>
              <a:t>Replace file.csv with the actual issued filename. Explain library, alias, function and method before running the worked example.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 the table constructor in stages.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 the table constructor in stages</a:t>
            </a:r>
          </a:p>
          <a:p xmlns:a="http://schemas.openxmlformats.org/drawingml/2006/main">
            <a:r>
              <a:t/>
            </a:r>
          </a:p>
          <a:p xmlns:a="http://schemas.openxmlformats.org/drawingml/2006/main">
            <a:r>
              <a:t>CONNECT</a:t>
            </a:r>
          </a:p>
          <a:p xmlns:a="http://schemas.openxmlformats.org/drawingml/2006/main">
            <a:r>
              <a:t>Previous slide: Reading pandas syntax.</a:t>
            </a:r>
          </a:p>
          <a:p xmlns:a="http://schemas.openxmlformats.org/drawingml/2006/main">
            <a:r>
              <a:t/>
            </a:r>
          </a:p>
          <a:p xmlns:a="http://schemas.openxmlformats.org/drawingml/2006/main">
            <a:r>
              <a:t>EXPLAIN</a:t>
            </a:r>
          </a:p>
          <a:p xmlns:a="http://schemas.openxmlformats.org/drawingml/2006/main">
            <a:r>
              <a:t>import pandas as pd loads pandas and gives it the shorter name pd. This is an alias; you could use another name consistently.</a:t>
            </a:r>
          </a:p>
          <a:p xmlns:a="http://schemas.openxmlformats.org/drawingml/2006/main">
            <a:r>
              <a:t/>
            </a:r>
          </a:p>
          <a:p xmlns:a="http://schemas.openxmlformats.org/drawingml/2006/main">
            <a:r>
              <a:t>Inside pd.DataFrame(...), the dictionary keys become column names. Each list supplies that column’s values in row order.</a:t>
            </a:r>
          </a:p>
          <a:p xmlns:a="http://schemas.openxmlformats.org/drawingml/2006/main">
            <a:r>
              <a:t/>
            </a:r>
          </a:p>
          <a:p xmlns:a="http://schemas.openxmlformats.org/drawingml/2006/main">
            <a:r>
              <a:t>All these column lists have the same length. At position 0, building is "A" and kwh is 2; together they form the first row.</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Build the table before asking questions.</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Build the table before asking questions</a:t>
            </a:r>
          </a:p>
          <a:p xmlns:a="http://schemas.openxmlformats.org/drawingml/2006/main">
            <a:r>
              <a:t/>
            </a:r>
          </a:p>
          <a:p xmlns:a="http://schemas.openxmlformats.org/drawingml/2006/main">
            <a:r>
              <a:t>CONNECT</a:t>
            </a:r>
          </a:p>
          <a:p xmlns:a="http://schemas.openxmlformats.org/drawingml/2006/main">
            <a:r>
              <a:t>Previous slide: Read the table constructor in stages.</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import pandas as pd</a:t>
            </a:r>
          </a:p>
          <a:p xmlns:a="http://schemas.openxmlformats.org/drawingml/2006/main">
            <a:r>
              <a:t>df = pd.DataFrame({"building": ["A", "A", "B", "B"],</a:t>
            </a:r>
          </a:p>
          <a:p xmlns:a="http://schemas.openxmlformats.org/drawingml/2006/main">
            <a:r>
              <a:t>                   "kwh": [2, 4, 5, 7]})</a:t>
            </a:r>
          </a:p>
          <a:p xmlns:a="http://schemas.openxmlformats.org/drawingml/2006/main">
            <a:r>
              <a:t>print(df)</a:t>
            </a:r>
          </a:p>
          <a:p xmlns:a="http://schemas.openxmlformats.org/drawingml/2006/main">
            <a:r>
              <a:t/>
            </a:r>
          </a:p>
          <a:p xmlns:a="http://schemas.openxmlformats.org/drawingml/2006/main">
            <a:r>
              <a:t>import loads a library. from selects a tool from it.</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Square brackets create a list or select an item.</a:t>
            </a:r>
          </a:p>
          <a:p xmlns:a="http://schemas.openxmlformats.org/drawingml/2006/main">
            <a:r>
              <a:t/>
            </a:r>
          </a:p>
          <a:p xmlns:a="http://schemas.openxmlformats.org/drawingml/2006/main">
            <a:r>
              <a:t>Each dictionary key becomes a column name. Equal-length lists supply its rows.</a:t>
            </a:r>
          </a:p>
          <a:p xmlns:a="http://schemas.openxmlformats.org/drawingml/2006/main">
            <a:r>
              <a:t/>
            </a:r>
          </a:p>
          <a:p xmlns:a="http://schemas.openxmlformats.org/drawingml/2006/main">
            <a:r>
              <a:t>LECTURER CUE</a:t>
            </a:r>
          </a:p>
          <a:p xmlns:a="http://schemas.openxmlformats.org/drawingml/2006/main">
            <a:r>
              <a:t>Each dictionary key becomes a column name. Equal-length lists supply its rows.</a:t>
            </a:r>
          </a:p>
          <a:p xmlns:a="http://schemas.openxmlformats.org/drawingml/2006/main">
            <a:r>
              <a:t/>
            </a:r>
          </a:p>
          <a:p xmlns:a="http://schemas.openxmlformats.org/drawingml/2006/main">
            <a:r>
              <a:t>Complete practice code:</a:t>
            </a:r>
          </a:p>
          <a:p xmlns:a="http://schemas.openxmlformats.org/drawingml/2006/main">
            <a:r>
              <a:t>import pandas as pd</a:t>
            </a:r>
          </a:p>
          <a:p xmlns:a="http://schemas.openxmlformats.org/drawingml/2006/main">
            <a:r>
              <a:t>df = pd.DataFrame({"building": ["A", "A", "B", "B"],</a:t>
            </a:r>
          </a:p>
          <a:p xmlns:a="http://schemas.openxmlformats.org/drawingml/2006/main">
            <a:r>
              <a:t>                   "kwh": [2, 4, 5, 7]})</a:t>
            </a:r>
          </a:p>
          <a:p xmlns:a="http://schemas.openxmlformats.org/drawingml/2006/main">
            <a:r>
              <a:t>print(df)</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Select first then summarise.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Select first then summarise</a:t>
            </a:r>
          </a:p>
          <a:p xmlns:a="http://schemas.openxmlformats.org/drawingml/2006/main">
            <a:r>
              <a:t/>
            </a:r>
          </a:p>
          <a:p xmlns:a="http://schemas.openxmlformats.org/drawingml/2006/main">
            <a:r>
              <a:t>CONNECT</a:t>
            </a:r>
          </a:p>
          <a:p xmlns:a="http://schemas.openxmlformats.org/drawingml/2006/main">
            <a:r>
              <a:t>Previous slide: Build the table before asking questions.</a:t>
            </a:r>
          </a:p>
          <a:p xmlns:a="http://schemas.openxmlformats.org/drawingml/2006/main">
            <a:r>
              <a:t/>
            </a:r>
          </a:p>
          <a:p xmlns:a="http://schemas.openxmlformats.org/drawingml/2006/main">
            <a:r>
              <a:t>EXPLAIN</a:t>
            </a:r>
          </a:p>
          <a:p xmlns:a="http://schemas.openxmlformats.org/drawingml/2006/main">
            <a:r>
              <a:t>df["kwh"] selects the energy column as a Series, which is a labelled sequence of values. Its entries are 2, 4, 5 and 7.</a:t>
            </a:r>
          </a:p>
          <a:p xmlns:a="http://schemas.openxmlformats.org/drawingml/2006/main">
            <a:r>
              <a:t/>
            </a:r>
          </a:p>
          <a:p xmlns:a="http://schemas.openxmlformats.org/drawingml/2006/main">
            <a:r>
              <a:t>Store it as energy = df["kwh"]. energy.mean() adds those four values and divides by four: 18 / 4 = 4.5.</a:t>
            </a:r>
          </a:p>
          <a:p xmlns:a="http://schemas.openxmlformats.org/drawingml/2006/main">
            <a:r>
              <a:t/>
            </a:r>
          </a:p>
          <a:p xmlns:a="http://schemas.openxmlformats.org/drawingml/2006/main">
            <a:r>
              <a:t>df["kwh"].mean() combines those same two steps. A dot chooses a method; parentheses call it.</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Select a column and calculate its mean.</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Select a column and calculate its mean</a:t>
            </a:r>
          </a:p>
          <a:p xmlns:a="http://schemas.openxmlformats.org/drawingml/2006/main">
            <a:r>
              <a:t/>
            </a:r>
          </a:p>
          <a:p xmlns:a="http://schemas.openxmlformats.org/drawingml/2006/main">
            <a:r>
              <a:t>CONNECT</a:t>
            </a:r>
          </a:p>
          <a:p xmlns:a="http://schemas.openxmlformats.org/drawingml/2006/main">
            <a:r>
              <a:t>Previous slide: Select first then summarise.</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print(df["kwh"])</a:t>
            </a:r>
          </a:p>
          <a:p xmlns:a="http://schemas.openxmlformats.org/drawingml/2006/main">
            <a:r>
              <a:t>print(df["kwh"].mean())</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Square brackets create a list or select an item.</a:t>
            </a:r>
          </a:p>
          <a:p xmlns:a="http://schemas.openxmlformats.org/drawingml/2006/main">
            <a:r>
              <a:t/>
            </a:r>
          </a:p>
          <a:p xmlns:a="http://schemas.openxmlformats.org/drawingml/2006/main">
            <a:r>
              <a:t>The four numbers are 2, 4, 5 and 7. Their mean is 18 / 4 = 4.5 kWh.</a:t>
            </a:r>
          </a:p>
          <a:p xmlns:a="http://schemas.openxmlformats.org/drawingml/2006/main">
            <a:r>
              <a:t/>
            </a:r>
          </a:p>
          <a:p xmlns:a="http://schemas.openxmlformats.org/drawingml/2006/main">
            <a:r>
              <a:t>LECTURER CUE</a:t>
            </a:r>
          </a:p>
          <a:p xmlns:a="http://schemas.openxmlformats.org/drawingml/2006/main">
            <a:r>
              <a:t>The four numbers are 2, 4, 5 and 7. Their mean is 18 / 4 = 4.5 kWh.</a:t>
            </a:r>
          </a:p>
          <a:p xmlns:a="http://schemas.openxmlformats.org/drawingml/2006/main">
            <a:r>
              <a:t/>
            </a:r>
          </a:p>
          <a:p xmlns:a="http://schemas.openxmlformats.org/drawingml/2006/main">
            <a:r>
              <a:t>Complete practice code:</a:t>
            </a:r>
          </a:p>
          <a:p xmlns:a="http://schemas.openxmlformats.org/drawingml/2006/main">
            <a:r>
              <a:t>print(df["kwh"])</a:t>
            </a:r>
          </a:p>
          <a:p xmlns:a="http://schemas.openxmlformats.org/drawingml/2006/main">
            <a:r>
              <a:t>print(df["kwh"].mean())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Mask and filter.</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Mask and filter</a:t>
            </a:r>
          </a:p>
          <a:p xmlns:a="http://schemas.openxmlformats.org/drawingml/2006/main">
            <a:r>
              <a:t/>
            </a:r>
          </a:p>
          <a:p xmlns:a="http://schemas.openxmlformats.org/drawingml/2006/main">
            <a:r>
              <a:t>CONNECT</a:t>
            </a:r>
          </a:p>
          <a:p xmlns:a="http://schemas.openxmlformats.org/drawingml/2006/main">
            <a:r>
              <a:t>Previous slide: Select a column and calculate its mean.</a:t>
            </a:r>
          </a:p>
          <a:p xmlns:a="http://schemas.openxmlformats.org/drawingml/2006/main">
            <a:r>
              <a:t/>
            </a:r>
          </a:p>
          <a:p xmlns:a="http://schemas.openxmlformats.org/drawingml/2006/main">
            <a:r>
              <a:t>EXPLAIN</a:t>
            </a:r>
          </a:p>
          <a:p xmlns:a="http://schemas.openxmlformats.org/drawingml/2006/main">
            <a:r>
              <a:t>Mask and filter: A comparison produces True/False for each row. df[mask] keeps the True rows.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comparison creates a Boolean mask.</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comparison creates a Boolean mask</a:t>
            </a:r>
          </a:p>
          <a:p xmlns:a="http://schemas.openxmlformats.org/drawingml/2006/main">
            <a:r>
              <a:t/>
            </a:r>
          </a:p>
          <a:p xmlns:a="http://schemas.openxmlformats.org/drawingml/2006/main">
            <a:r>
              <a:t>CONNECT</a:t>
            </a:r>
          </a:p>
          <a:p xmlns:a="http://schemas.openxmlformats.org/drawingml/2006/main">
            <a:r>
              <a:t>Previous slide: Mask and filter.</a:t>
            </a:r>
          </a:p>
          <a:p xmlns:a="http://schemas.openxmlformats.org/drawingml/2006/main">
            <a:r>
              <a:t/>
            </a:r>
          </a:p>
          <a:p xmlns:a="http://schemas.openxmlformats.org/drawingml/2006/main">
            <a:r>
              <a:t>EXPLAIN</a:t>
            </a:r>
          </a:p>
          <a:p xmlns:a="http://schemas.openxmlformats.org/drawingml/2006/main">
            <a:r>
              <a:t>The illustration filters torque readings. Our next example applies the same True/False selection to kWh values.</a:t>
            </a:r>
          </a:p>
          <a:p xmlns:a="http://schemas.openxmlformats.org/drawingml/2006/main">
            <a:r>
              <a:t/>
            </a:r>
          </a:p>
          <a:p xmlns:a="http://schemas.openxmlformats.org/drawingml/2006/main">
            <a:r>
              <a:t>LECTURER CUE</a:t>
            </a:r>
          </a:p>
          <a:p xmlns:a="http://schemas.openxmlformats.org/drawingml/2006/main">
            <a:r>
              <a:t>Read &gt; as greater than, then trace one row through the mask. Selection does not delete the source rows. 40 is a practice threshold, not a safety standard.</a:t>
            </a:r>
          </a:p>
          <a:p xmlns:a="http://schemas.openxmlformats.org/drawingml/2006/main">
            <a:r>
              <a:t>Source: existing course illustration figs/boolean_mask.png. These are illustrative examples, not this cohort’s assessed results.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Keep rows where the comparison is true.</a:t>
            </a:r>
          </a:p>
          <a:p xmlns:a="http://schemas.openxmlformats.org/drawingml/2006/main">
            <a:r>
              <a:t/>
            </a:r>
          </a:p>
          <a:p xmlns:a="http://schemas.openxmlformats.org/drawingml/2006/main">
            <a:r>
              <a:t>REFERENCES</a:t>
            </a:r>
          </a:p>
          <a:p xmlns:a="http://schemas.openxmlformats.org/drawingml/2006/main">
            <a:r>
              <a:t>Source: existing course illustration figs/boolean_mask.png. These are illustrative examples, not this cohort’s assessed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Keep rows where the comparison is true</a:t>
            </a:r>
          </a:p>
          <a:p xmlns:a="http://schemas.openxmlformats.org/drawingml/2006/main">
            <a:r>
              <a:t/>
            </a:r>
          </a:p>
          <a:p xmlns:a="http://schemas.openxmlformats.org/drawingml/2006/main">
            <a:r>
              <a:t>CONNECT</a:t>
            </a:r>
          </a:p>
          <a:p xmlns:a="http://schemas.openxmlformats.org/drawingml/2006/main">
            <a:r>
              <a:t>Previous slide: A comparison creates a Boolean mask.</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mask = df["kwh"] &gt; 4</a:t>
            </a:r>
          </a:p>
          <a:p xmlns:a="http://schemas.openxmlformats.org/drawingml/2006/main">
            <a:r>
              <a:t>print(mask)</a:t>
            </a:r>
          </a:p>
          <a:p xmlns:a="http://schemas.openxmlformats.org/drawingml/2006/main">
            <a:r>
              <a:t>print(df[mask])</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Square brackets create a list or select an item.</a:t>
            </a:r>
          </a:p>
          <a:p xmlns:a="http://schemas.openxmlformats.org/drawingml/2006/main">
            <a:r>
              <a:t/>
            </a:r>
          </a:p>
          <a:p xmlns:a="http://schemas.openxmlformats.org/drawingml/2006/main">
            <a:r>
              <a:t>= assigns the value on the right to the name on the left.</a:t>
            </a:r>
          </a:p>
          <a:p xmlns:a="http://schemas.openxmlformats.org/drawingml/2006/main">
            <a:r>
              <a:t/>
            </a:r>
          </a:p>
          <a:p xmlns:a="http://schemas.openxmlformats.org/drawingml/2006/main">
            <a:r>
              <a:t>The mask is False, False, True, True. The selected rows contain 5 and 7 kWh.</a:t>
            </a:r>
          </a:p>
          <a:p xmlns:a="http://schemas.openxmlformats.org/drawingml/2006/main">
            <a:r>
              <a:t/>
            </a:r>
          </a:p>
          <a:p xmlns:a="http://schemas.openxmlformats.org/drawingml/2006/main">
            <a:r>
              <a:t>LECTURER CUE</a:t>
            </a:r>
          </a:p>
          <a:p xmlns:a="http://schemas.openxmlformats.org/drawingml/2006/main">
            <a:r>
              <a:t>The mask is False, False, True, True. The selected rows contain 5 and 7 kWh.</a:t>
            </a:r>
          </a:p>
          <a:p xmlns:a="http://schemas.openxmlformats.org/drawingml/2006/main">
            <a:r>
              <a:t/>
            </a:r>
          </a:p>
          <a:p xmlns:a="http://schemas.openxmlformats.org/drawingml/2006/main">
            <a:r>
              <a:t>Complete practice code:</a:t>
            </a:r>
          </a:p>
          <a:p xmlns:a="http://schemas.openxmlformats.org/drawingml/2006/main">
            <a:r>
              <a:t>mask = df["kwh"] &gt; 4</a:t>
            </a:r>
          </a:p>
          <a:p xmlns:a="http://schemas.openxmlformats.org/drawingml/2006/main">
            <a:r>
              <a:t>print(mask)</a:t>
            </a:r>
          </a:p>
          <a:p xmlns:a="http://schemas.openxmlformats.org/drawingml/2006/main">
            <a:r>
              <a:t>print(df[mask])</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groupby and aggregation.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groupby and aggregation</a:t>
            </a:r>
          </a:p>
          <a:p xmlns:a="http://schemas.openxmlformats.org/drawingml/2006/main">
            <a:r>
              <a:t/>
            </a:r>
          </a:p>
          <a:p xmlns:a="http://schemas.openxmlformats.org/drawingml/2006/main">
            <a:r>
              <a:t>CONNECT</a:t>
            </a:r>
          </a:p>
          <a:p xmlns:a="http://schemas.openxmlformats.org/drawingml/2006/main">
            <a:r>
              <a:t>Previous slide: Keep rows where the comparison is true.</a:t>
            </a:r>
          </a:p>
          <a:p xmlns:a="http://schemas.openxmlformats.org/drawingml/2006/main">
            <a:r>
              <a:t/>
            </a:r>
          </a:p>
          <a:p xmlns:a="http://schemas.openxmlformats.org/drawingml/2006/main">
            <a:r>
              <a:t>EXPLAIN</a:t>
            </a:r>
          </a:p>
          <a:p xmlns:a="http://schemas.openxmlformats.org/drawingml/2006/main">
            <a:r>
              <a:t>groupby and aggregation: groupby collects rows with the same label. An aggregation such as sum or mean returns a summary for each group.</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Trace a group total before using groupby.</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Trace a group total before using groupby</a:t>
            </a:r>
          </a:p>
          <a:p xmlns:a="http://schemas.openxmlformats.org/drawingml/2006/main">
            <a:r>
              <a:t/>
            </a:r>
          </a:p>
          <a:p xmlns:a="http://schemas.openxmlformats.org/drawingml/2006/main">
            <a:r>
              <a:t>CONNECT</a:t>
            </a:r>
          </a:p>
          <a:p xmlns:a="http://schemas.openxmlformats.org/drawingml/2006/main">
            <a:r>
              <a:t>Previous slide: groupby and aggregation.</a:t>
            </a:r>
          </a:p>
          <a:p xmlns:a="http://schemas.openxmlformats.org/drawingml/2006/main">
            <a:r>
              <a:t/>
            </a:r>
          </a:p>
          <a:p xmlns:a="http://schemas.openxmlformats.org/drawingml/2006/main">
            <a:r>
              <a:t>EXPLAIN</a:t>
            </a:r>
          </a:p>
          <a:p xmlns:a="http://schemas.openxmlformats.org/drawingml/2006/main">
            <a:r>
              <a:t>Group | Values assigned to it | Total</a:t>
            </a:r>
          </a:p>
          <a:p xmlns:a="http://schemas.openxmlformats.org/drawingml/2006/main">
            <a:r>
              <a:t/>
            </a:r>
          </a:p>
          <a:p xmlns:a="http://schemas.openxmlformats.org/drawingml/2006/main">
            <a:r>
              <a:t>A | 2 and 4 | 6</a:t>
            </a:r>
          </a:p>
          <a:p xmlns:a="http://schemas.openxmlformats.org/drawingml/2006/main">
            <a:r>
              <a:t/>
            </a:r>
          </a:p>
          <a:p xmlns:a="http://schemas.openxmlformats.org/drawingml/2006/main">
            <a:r>
              <a:t>B | 5 and 7 | 12</a:t>
            </a:r>
          </a:p>
          <a:p xmlns:a="http://schemas.openxmlformats.org/drawingml/2006/main">
            <a:r>
              <a:t/>
            </a:r>
          </a:p>
          <a:p xmlns:a="http://schemas.openxmlformats.org/drawingml/2006/main">
            <a:r>
              <a:t>groupby separates rows by the building label. sum adds the kWh values inside each group.</a:t>
            </a:r>
          </a:p>
          <a:p xmlns:a="http://schemas.openxmlformats.org/drawingml/2006/main">
            <a:r>
              <a:t/>
            </a:r>
          </a:p>
          <a:p xmlns:a="http://schemas.openxmlformats.org/drawingml/2006/main">
            <a:r>
              <a:t>Read the rows in order. groupby separates rows by the building label. sum adds the kWh values inside each group.</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 each step of a pandas chain.</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 each step of a pandas chain</a:t>
            </a:r>
          </a:p>
          <a:p xmlns:a="http://schemas.openxmlformats.org/drawingml/2006/main">
            <a:r>
              <a:t/>
            </a:r>
          </a:p>
          <a:p xmlns:a="http://schemas.openxmlformats.org/drawingml/2006/main">
            <a:r>
              <a:t>CONNECT</a:t>
            </a:r>
          </a:p>
          <a:p xmlns:a="http://schemas.openxmlformats.org/drawingml/2006/main">
            <a:r>
              <a:t>Previous slide: Trace a group total before using groupby.</a:t>
            </a:r>
          </a:p>
          <a:p xmlns:a="http://schemas.openxmlformats.org/drawingml/2006/main">
            <a:r>
              <a:t/>
            </a:r>
          </a:p>
          <a:p xmlns:a="http://schemas.openxmlformats.org/drawingml/2006/main">
            <a:r>
              <a:t>EXPLAIN</a:t>
            </a:r>
          </a:p>
          <a:p xmlns:a="http://schemas.openxmlformats.org/drawingml/2006/main">
            <a:r>
              <a:t>groups = df.groupby("building") describes groups of rows with matching building labels.</a:t>
            </a:r>
          </a:p>
          <a:p xmlns:a="http://schemas.openxmlformats.org/drawingml/2006/main">
            <a:r>
              <a:t/>
            </a:r>
          </a:p>
          <a:p xmlns:a="http://schemas.openxmlformats.org/drawingml/2006/main">
            <a:r>
              <a:t>energy_groups = groups["kwh"] selects the energy values within those groups. totals = energy_groups.sum() calculates one total per group.</a:t>
            </a:r>
          </a:p>
          <a:p xmlns:a="http://schemas.openxmlformats.org/drawingml/2006/main">
            <a:r>
              <a:t/>
            </a:r>
          </a:p>
          <a:p xmlns:a="http://schemas.openxmlformats.org/drawingml/2006/main">
            <a:r>
              <a:t>df.groupby("building")["kwh"].sum() is the same sequence written on one line. Read it from left to right.</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Calculate one total for each building.</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Calculate one total for each building</a:t>
            </a:r>
          </a:p>
          <a:p xmlns:a="http://schemas.openxmlformats.org/drawingml/2006/main">
            <a:r>
              <a:t/>
            </a:r>
          </a:p>
          <a:p xmlns:a="http://schemas.openxmlformats.org/drawingml/2006/main">
            <a:r>
              <a:t>CONNECT</a:t>
            </a:r>
          </a:p>
          <a:p xmlns:a="http://schemas.openxmlformats.org/drawingml/2006/main">
            <a:r>
              <a:t>Previous slide: Read each step of a pandas chain.</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print(df.groupby("building")["kwh"].sum())</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Square brackets create a list or select an item.</a:t>
            </a:r>
          </a:p>
          <a:p xmlns:a="http://schemas.openxmlformats.org/drawingml/2006/main">
            <a:r>
              <a:t/>
            </a:r>
          </a:p>
          <a:p xmlns:a="http://schemas.openxmlformats.org/drawingml/2006/main">
            <a:r>
              <a:t>Expected: A totals 6 kWh; B totals 12 kWh.</a:t>
            </a:r>
          </a:p>
          <a:p xmlns:a="http://schemas.openxmlformats.org/drawingml/2006/main">
            <a:r>
              <a:t/>
            </a:r>
          </a:p>
          <a:p xmlns:a="http://schemas.openxmlformats.org/drawingml/2006/main">
            <a:r>
              <a:t>LECTURER CUE</a:t>
            </a:r>
          </a:p>
          <a:p xmlns:a="http://schemas.openxmlformats.org/drawingml/2006/main">
            <a:r>
              <a:t>Expected: A totals 6 kWh; B totals 12 kWh.</a:t>
            </a:r>
          </a:p>
          <a:p xmlns:a="http://schemas.openxmlformats.org/drawingml/2006/main">
            <a:r>
              <a:t/>
            </a:r>
          </a:p>
          <a:p xmlns:a="http://schemas.openxmlformats.org/drawingml/2006/main">
            <a:r>
              <a:t>Complete practice code:</a:t>
            </a:r>
          </a:p>
          <a:p xmlns:a="http://schemas.openxmlformats.org/drawingml/2006/main">
            <a:r>
              <a:t>print(df.groupby("building")["kwh"].sum())</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Expected output.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pandas tables and summaries results</a:t>
            </a:r>
          </a:p>
          <a:p xmlns:a="http://schemas.openxmlformats.org/drawingml/2006/main">
            <a:r>
              <a:t/>
            </a:r>
          </a:p>
          <a:p xmlns:a="http://schemas.openxmlformats.org/drawingml/2006/main">
            <a:r>
              <a:t>CONNECT</a:t>
            </a:r>
          </a:p>
          <a:p xmlns:a="http://schemas.openxmlformats.org/drawingml/2006/main">
            <a:r>
              <a:t>Previous slide: Calculate one total for each building.</a:t>
            </a:r>
          </a:p>
          <a:p xmlns:a="http://schemas.openxmlformats.org/drawingml/2006/main">
            <a:r>
              <a:t/>
            </a:r>
          </a:p>
          <a:p xmlns:a="http://schemas.openxmlformats.org/drawingml/2006/main">
            <a:r>
              <a:t>EXPLAIN</a:t>
            </a:r>
          </a:p>
          <a:p xmlns:a="http://schemas.openxmlformats.org/drawingml/2006/main">
            <a:r>
              <a:t>Mean 4.5. The filter keeps B rows with 5 and 7. Group totals: A = 6, B = 12 kWh.</a:t>
            </a:r>
          </a:p>
          <a:p xmlns:a="http://schemas.openxmlformats.org/drawingml/2006/main">
            <a:r>
              <a:t/>
            </a:r>
          </a:p>
          <a:p xmlns:a="http://schemas.openxmlformats.org/drawingml/2006/main">
            <a:r>
              <a:t>LECTURER CUE</a:t>
            </a:r>
          </a:p>
          <a:p xmlns:a="http://schemas.openxmlformats.org/drawingml/2006/main">
            <a:r>
              <a:t>Compare the actual output character by character with this practice result. If it differs, read the first error and check the input, units, names and execution order. Do not copy this practice output into a graded answer.</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Unique labels and the largest group.</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Unique labels and the largest group</a:t>
            </a:r>
          </a:p>
          <a:p xmlns:a="http://schemas.openxmlformats.org/drawingml/2006/main">
            <a:r>
              <a:t/>
            </a:r>
          </a:p>
          <a:p xmlns:a="http://schemas.openxmlformats.org/drawingml/2006/main">
            <a:r>
              <a:t>CONNECT</a:t>
            </a:r>
          </a:p>
          <a:p xmlns:a="http://schemas.openxmlformats.org/drawingml/2006/main">
            <a:r>
              <a:t>Previous slide: pandas tables and summaries results.</a:t>
            </a:r>
          </a:p>
          <a:p xmlns:a="http://schemas.openxmlformats.org/drawingml/2006/main">
            <a:r>
              <a:t/>
            </a:r>
          </a:p>
          <a:p xmlns:a="http://schemas.openxmlformats.org/drawingml/2006/main">
            <a:r>
              <a:t>EXPLAIN</a:t>
            </a:r>
          </a:p>
          <a:p xmlns:a="http://schemas.openxmlformats.org/drawingml/2006/main">
            <a:r>
              <a:t>nunique counts distinct labels, not rows. idxmax returns the label of the largest total.</a:t>
            </a:r>
          </a:p>
          <a:p xmlns:a="http://schemas.openxmlformats.org/drawingml/2006/main">
            <a:r>
              <a:t/>
            </a:r>
          </a:p>
          <a:p xmlns:a="http://schemas.openxmlformats.org/drawingml/2006/main">
            <a:r>
              <a:t>Here there is no tie.</a:t>
            </a:r>
          </a:p>
          <a:p xmlns:a="http://schemas.openxmlformats.org/drawingml/2006/main">
            <a:r>
              <a:t/>
            </a:r>
          </a:p>
          <a:p xmlns:a="http://schemas.openxmlformats.org/drawingml/2006/main">
            <a:r>
              <a:t>LECTURER CUE</a:t>
            </a:r>
          </a:p>
          <a:p xmlns:a="http://schemas.openxmlformats.org/drawingml/2006/main">
            <a:r>
              <a:t>nunique counts distinct labels, not rows. idxmax returns the label of the largest total. Here there is no tie.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Unique labels and the largest group in Python.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Unique labels and the largest group in Python</a:t>
            </a:r>
          </a:p>
          <a:p xmlns:a="http://schemas.openxmlformats.org/drawingml/2006/main">
            <a:r>
              <a:t/>
            </a:r>
          </a:p>
          <a:p xmlns:a="http://schemas.openxmlformats.org/drawingml/2006/main">
            <a:r>
              <a:t>CONNECT</a:t>
            </a:r>
          </a:p>
          <a:p xmlns:a="http://schemas.openxmlformats.org/drawingml/2006/main">
            <a:r>
              <a:t>Previous slide: Unique labels and the largest group.</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print(df["building"].nunique())</a:t>
            </a:r>
          </a:p>
          <a:p xmlns:a="http://schemas.openxmlformats.org/drawingml/2006/main">
            <a:r>
              <a:t>totals = df.groupby("building")["kwh"].sum()</a:t>
            </a:r>
          </a:p>
          <a:p xmlns:a="http://schemas.openxmlformats.org/drawingml/2006/main">
            <a:r>
              <a:t>print(totals.idxmax())</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Square brackets create a list or select an item.</a:t>
            </a:r>
          </a:p>
          <a:p xmlns:a="http://schemas.openxmlformats.org/drawingml/2006/main">
            <a:r>
              <a:t/>
            </a:r>
          </a:p>
          <a:p xmlns:a="http://schemas.openxmlformats.org/drawingml/2006/main">
            <a:r>
              <a:t>= assigns the value on the right to the name on the left.</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nunique counts distinct labels, not rows. idxmax returns the label of the largest total. Here there is no tie.</a:t>
            </a:r>
          </a:p>
          <a:p xmlns:a="http://schemas.openxmlformats.org/drawingml/2006/main">
            <a:r>
              <a:t/>
            </a:r>
          </a:p>
          <a:p xmlns:a="http://schemas.openxmlformats.org/drawingml/2006/main">
            <a:r>
              <a:t>Complete practice code:</a:t>
            </a:r>
          </a:p>
          <a:p xmlns:a="http://schemas.openxmlformats.org/drawingml/2006/main">
            <a:r>
              <a:t>print(df["building"].nunique())</a:t>
            </a:r>
          </a:p>
          <a:p xmlns:a="http://schemas.openxmlformats.org/drawingml/2006/main">
            <a:r>
              <a:t>totals = df.groupby("building")["kwh"].sum()</a:t>
            </a:r>
          </a:p>
          <a:p xmlns:a="http://schemas.openxmlformats.org/drawingml/2006/main">
            <a:r>
              <a:t>print(totals.idxmax())</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Create a column from two existing columns.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Create a column from two existing columns</a:t>
            </a:r>
          </a:p>
          <a:p xmlns:a="http://schemas.openxmlformats.org/drawingml/2006/main">
            <a:r>
              <a:t/>
            </a:r>
          </a:p>
          <a:p xmlns:a="http://schemas.openxmlformats.org/drawingml/2006/main">
            <a:r>
              <a:t>CONNECT</a:t>
            </a:r>
          </a:p>
          <a:p xmlns:a="http://schemas.openxmlformats.org/drawingml/2006/main">
            <a:r>
              <a:t>Previous slide: Unique labels and the largest group in Python.</a:t>
            </a:r>
          </a:p>
          <a:p xmlns:a="http://schemas.openxmlformats.org/drawingml/2006/main">
            <a:r>
              <a:t/>
            </a:r>
          </a:p>
          <a:p xmlns:a="http://schemas.openxmlformats.org/drawingml/2006/main">
            <a:r>
              <a:t>EXPLAIN</a:t>
            </a:r>
          </a:p>
          <a:p xmlns:a="http://schemas.openxmlformats.org/drawingml/2006/main">
            <a:r>
              <a:t>A new column can store a calculation for every row. Division pairs the values in matching rows.</a:t>
            </a:r>
          </a:p>
          <a:p xmlns:a="http://schemas.openxmlformats.org/drawingml/2006/main">
            <a:r>
              <a:t/>
            </a:r>
          </a:p>
          <a:p xmlns:a="http://schemas.openxmlformats.org/drawingml/2006/main">
            <a:r>
              <a:t>For this invented table all energy values are positive. UGX is Uganda shillings. Cost divided by energy has units UGX/kWh.</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An energy rate is cost divided by energy.</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An energy rate is cost divided by energy</a:t>
            </a:r>
          </a:p>
          <a:p xmlns:a="http://schemas.openxmlformats.org/drawingml/2006/main">
            <a:r>
              <a:t/>
            </a:r>
          </a:p>
          <a:p xmlns:a="http://schemas.openxmlformats.org/drawingml/2006/main">
            <a:r>
              <a:t>CONNECT</a:t>
            </a:r>
          </a:p>
          <a:p xmlns:a="http://schemas.openxmlformats.org/drawingml/2006/main">
            <a:r>
              <a:t>Previous slide: Create a column from two existing columns.</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df["cost_ugx"] = [1000, 2400, 3500, 5600]</a:t>
            </a:r>
          </a:p>
          <a:p xmlns:a="http://schemas.openxmlformats.org/drawingml/2006/main">
            <a:r>
              <a:t>df["rate_ugx_per_kwh"] = df["cost_ugx"] / df["kwh"]</a:t>
            </a:r>
          </a:p>
          <a:p xmlns:a="http://schemas.openxmlformats.org/drawingml/2006/main">
            <a:r>
              <a:t>print(df["rate_ugx_per_kwh"])</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Square brackets create a list or select an item.</a:t>
            </a:r>
          </a:p>
          <a:p xmlns:a="http://schemas.openxmlformats.org/drawingml/2006/main">
            <a:r>
              <a:t/>
            </a:r>
          </a:p>
          <a:p xmlns:a="http://schemas.openxmlformats.org/drawingml/2006/main">
            <a:r>
              <a:t>= assigns the value on the right to the name on the left.</a:t>
            </a:r>
          </a:p>
          <a:p xmlns:a="http://schemas.openxmlformats.org/drawingml/2006/main">
            <a:r>
              <a:t/>
            </a:r>
          </a:p>
          <a:p xmlns:a="http://schemas.openxmlformats.org/drawingml/2006/main">
            <a:r>
              <a:t>Expected rates: 500, 600, 700 and 800 UGX/kWh. Keep units in column names.</a:t>
            </a:r>
          </a:p>
          <a:p xmlns:a="http://schemas.openxmlformats.org/drawingml/2006/main">
            <a:r>
              <a:t/>
            </a:r>
          </a:p>
          <a:p xmlns:a="http://schemas.openxmlformats.org/drawingml/2006/main">
            <a:r>
              <a:t>LECTURER CUE</a:t>
            </a:r>
          </a:p>
          <a:p xmlns:a="http://schemas.openxmlformats.org/drawingml/2006/main">
            <a:r>
              <a:t>Expected rates: 500, 600, 700 and 800 UGX/kWh. Keep units in column names.</a:t>
            </a:r>
          </a:p>
          <a:p xmlns:a="http://schemas.openxmlformats.org/drawingml/2006/main">
            <a:r>
              <a:t/>
            </a:r>
          </a:p>
          <a:p xmlns:a="http://schemas.openxmlformats.org/drawingml/2006/main">
            <a:r>
              <a:t>Complete practice code:</a:t>
            </a:r>
          </a:p>
          <a:p xmlns:a="http://schemas.openxmlformats.org/drawingml/2006/main">
            <a:r>
              <a:t>df["cost_ugx"] = [1000, 2400, 3500, 5600]</a:t>
            </a:r>
          </a:p>
          <a:p xmlns:a="http://schemas.openxmlformats.org/drawingml/2006/main">
            <a:r>
              <a:t>df["rate_ugx_per_kwh"] = df["cost_ugx"] / df["kwh"]</a:t>
            </a:r>
          </a:p>
          <a:p xmlns:a="http://schemas.openxmlformats.org/drawingml/2006/main">
            <a:r>
              <a:t>print(df["rate_ugx_per_kwh"])</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Load the assignment table before analysing it.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Load the assignment table before analysing it</a:t>
            </a:r>
          </a:p>
          <a:p xmlns:a="http://schemas.openxmlformats.org/drawingml/2006/main">
            <a:r>
              <a:t/>
            </a:r>
          </a:p>
          <a:p xmlns:a="http://schemas.openxmlformats.org/drawingml/2006/main">
            <a:r>
              <a:t>CONNECT</a:t>
            </a:r>
          </a:p>
          <a:p xmlns:a="http://schemas.openxmlformats.org/drawingml/2006/main">
            <a:r>
              <a:t>Previous slide: An energy rate is cost divided by energy.</a:t>
            </a:r>
          </a:p>
          <a:p xmlns:a="http://schemas.openxmlformats.org/drawingml/2006/main">
            <a:r>
              <a:t/>
            </a:r>
          </a:p>
          <a:p xmlns:a="http://schemas.openxmlformats.org/drawingml/2006/main">
            <a:r>
              <a:t>EXPLAIN</a:t>
            </a:r>
          </a:p>
          <a:p xmlns:a="http://schemas.openxmlformats.org/drawingml/2006/main">
            <a:r>
              <a:t>Upload campus_energy.csv to the current runtime first. read_csv reads it into a new DataFrame.</a:t>
            </a:r>
          </a:p>
          <a:p xmlns:a="http://schemas.openxmlformats.org/drawingml/2006/main">
            <a:r>
              <a:t/>
            </a:r>
          </a:p>
          <a:p xmlns:a="http://schemas.openxmlformats.org/drawingml/2006/main">
            <a:r>
              <a:t>head() displays the first five rows; shape gives row and column counts; dtypes shows column data types.</a:t>
            </a:r>
          </a:p>
          <a:p xmlns:a="http://schemas.openxmlformats.org/drawingml/2006/main">
            <a:r>
              <a:t/>
            </a:r>
          </a:p>
          <a:p xmlns:a="http://schemas.openxmlformats.org/drawingml/2006/main">
            <a:r>
              <a:t>We call this issued_table to keep it separate from the invented four-row df used above.</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Inspect the supplied energy file.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Inspect the supplied energy file</a:t>
            </a:r>
          </a:p>
          <a:p xmlns:a="http://schemas.openxmlformats.org/drawingml/2006/main">
            <a:r>
              <a:t/>
            </a:r>
          </a:p>
          <a:p xmlns:a="http://schemas.openxmlformats.org/drawingml/2006/main">
            <a:r>
              <a:t>CONNECT</a:t>
            </a:r>
          </a:p>
          <a:p xmlns:a="http://schemas.openxmlformats.org/drawingml/2006/main">
            <a:r>
              <a:t>Previous slide: Load the assignment table before analysing it.</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issued_table = pd.read_csv("campus_energy.csv")</a:t>
            </a:r>
          </a:p>
          <a:p xmlns:a="http://schemas.openxmlformats.org/drawingml/2006/main">
            <a:r>
              <a:t>print(issued_table.head())</a:t>
            </a:r>
          </a:p>
          <a:p xmlns:a="http://schemas.openxmlformats.org/drawingml/2006/main">
            <a:r>
              <a:t>print(issued_table.shape)</a:t>
            </a:r>
          </a:p>
          <a:p xmlns:a="http://schemas.openxmlformats.org/drawingml/2006/main">
            <a:r>
              <a:t>print(issued_table.dtypes)</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 assigns the value on the right to the name on the left.</a:t>
            </a:r>
          </a:p>
          <a:p xmlns:a="http://schemas.openxmlformats.org/drawingml/2006/main">
            <a:r>
              <a:t/>
            </a:r>
          </a:p>
          <a:p xmlns:a="http://schemas.openxmlformats.org/drawingml/2006/main">
            <a:r>
              <a:t>Check column names, data types and units before attempting the six issued tasks.</a:t>
            </a:r>
          </a:p>
          <a:p xmlns:a="http://schemas.openxmlformats.org/drawingml/2006/main">
            <a:r>
              <a:t/>
            </a:r>
          </a:p>
          <a:p xmlns:a="http://schemas.openxmlformats.org/drawingml/2006/main">
            <a:r>
              <a:t>LECTURER CUE</a:t>
            </a:r>
          </a:p>
          <a:p xmlns:a="http://schemas.openxmlformats.org/drawingml/2006/main">
            <a:r>
              <a:t>Check column names, data types and units before attempting the six issued tasks.</a:t>
            </a:r>
          </a:p>
          <a:p xmlns:a="http://schemas.openxmlformats.org/drawingml/2006/main">
            <a:r>
              <a:t/>
            </a:r>
          </a:p>
          <a:p xmlns:a="http://schemas.openxmlformats.org/drawingml/2006/main">
            <a:r>
              <a:t>Complete practice code:</a:t>
            </a:r>
          </a:p>
          <a:p xmlns:a="http://schemas.openxmlformats.org/drawingml/2006/main">
            <a:r>
              <a:t>issued_table = pd.read_csv("campus_energy.csv")</a:t>
            </a:r>
          </a:p>
          <a:p xmlns:a="http://schemas.openxmlformats.org/drawingml/2006/main">
            <a:r>
              <a:t>print(issued_table.head())</a:t>
            </a:r>
          </a:p>
          <a:p xmlns:a="http://schemas.openxmlformats.org/drawingml/2006/main">
            <a:r>
              <a:t>print(issued_table.shape)</a:t>
            </a:r>
          </a:p>
          <a:p xmlns:a="http://schemas.openxmlformats.org/drawingml/2006/main">
            <a:r>
              <a:t>print(issued_table.dtypes)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Revision example and answer.</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example and answer</a:t>
            </a:r>
          </a:p>
          <a:p xmlns:a="http://schemas.openxmlformats.org/drawingml/2006/main">
            <a:r>
              <a:t/>
            </a:r>
          </a:p>
          <a:p xmlns:a="http://schemas.openxmlformats.org/drawingml/2006/main">
            <a:r>
              <a:t>CONNECT</a:t>
            </a:r>
          </a:p>
          <a:p xmlns:a="http://schemas.openxmlformats.org/drawingml/2006/main">
            <a:r>
              <a:t>Previous slide: Inspect the supplied energy file.</a:t>
            </a:r>
          </a:p>
          <a:p xmlns:a="http://schemas.openxmlformats.org/drawingml/2006/main">
            <a:r>
              <a:t/>
            </a:r>
          </a:p>
          <a:p xmlns:a="http://schemas.openxmlformats.org/drawingml/2006/main">
            <a:r>
              <a:t>EXPLAIN</a:t>
            </a:r>
          </a:p>
          <a:p xmlns:a="http://schemas.openxmlformats.org/drawingml/2006/main">
            <a:r>
              <a:t>Example: Use &gt; 5 instead. Predict the surviving rows. Which building has the largest total?</a:t>
            </a:r>
          </a:p>
          <a:p xmlns:a="http://schemas.openxmlformats.org/drawingml/2006/main">
            <a:r>
              <a:t/>
            </a:r>
          </a:p>
          <a:p xmlns:a="http://schemas.openxmlformats.org/drawingml/2006/main">
            <a:r>
              <a:t>Answer: Only the row with 7 survives. Building B has the larger total, 12 kWh.</a:t>
            </a:r>
          </a:p>
          <a:p xmlns:a="http://schemas.openxmlformats.org/drawingml/2006/main">
            <a:r>
              <a:t/>
            </a:r>
          </a:p>
          <a:p xmlns:a="http://schemas.openxmlformats.org/drawingml/2006/main">
            <a:r>
              <a:t>LECTURER CUE</a:t>
            </a:r>
          </a:p>
          <a:p xmlns:a="http://schemas.openxmlformats.org/drawingml/2006/main">
            <a:r>
              <a:t>Give silent thinking time, then let pairs discuss. Rotate who types. This is practice, not a graded quiz. Expected response: Only the row with 7 survives. Building B has the larger total, 12 kWh.</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Preparing for the assignment.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Previous slide: Revision example and answer.</a:t>
            </a:r>
          </a:p>
          <a:p xmlns:a="http://schemas.openxmlformats.org/drawingml/2006/main">
            <a:r>
              <a:t/>
            </a:r>
          </a:p>
          <a:p xmlns:a="http://schemas.openxmlformats.org/drawingml/2006/main">
            <a:r>
              <a:t>EXPLAIN</a:t>
            </a:r>
          </a:p>
          <a:p xmlns:a="http://schemas.openxmlformats.org/drawingml/2006/main">
            <a:r>
              <a:t>A5 uses the supplied fictional campus_energy.csv, not a live Kaggle download.</a:t>
            </a:r>
          </a:p>
          <a:p xmlns:a="http://schemas.openxmlformats.org/drawingml/2006/main">
            <a:r>
              <a:t/>
            </a:r>
          </a:p>
          <a:p xmlns:a="http://schemas.openxmlformats.org/drawingml/2006/main">
            <a:r>
              <a:t>The six tasks use read_csv, nunique, division of columns, a &gt; filter, mean and grouped totals. idxmax returns the label of the largest value.</a:t>
            </a:r>
          </a:p>
          <a:p xmlns:a="http://schemas.openxmlformats.org/drawingml/2006/main">
            <a:r>
              <a:t/>
            </a:r>
          </a:p>
          <a:p xmlns:a="http://schemas.openxmlformats.org/drawingml/2006/main">
            <a:r>
              <a:t>A mean of individual rates gives each observation equal weight.</a:t>
            </a:r>
          </a:p>
          <a:p xmlns:a="http://schemas.openxmlformats.org/drawingml/2006/main">
            <a:r>
              <a:t/>
            </a:r>
          </a:p>
          <a:p xmlns:a="http://schemas.openxmlformats.org/drawingml/2006/main">
            <a:r>
              <a:t>Total cost divided by total energy weights by energy.</a:t>
            </a:r>
          </a:p>
          <a:p xmlns:a="http://schemas.openxmlformats.org/drawingml/2006/main">
            <a:r>
              <a:t/>
            </a:r>
          </a:p>
          <a:p xmlns:a="http://schemas.openxmlformats.org/drawingml/2006/main">
            <a:r>
              <a:t>LECTURER CUE</a:t>
            </a:r>
          </a:p>
          <a:p xmlns:a="http://schemas.openxmlformats.org/drawingml/2006/main">
            <a:r>
              <a:t>A5 uses the supplied fictional campus_energy.csv, not a live Kaggle download. Teach read_csv, nunique, division of columns, &gt; filtering, mean and groupby(...).sum().idxmax() before the six public tasks. idxmax returns the label of the largest value. Explain how a rate differs from a total and how a mean of rates differs from a total-cost/total-energy ratio.</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Data types and filters.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Data types and filters</a:t>
            </a:r>
          </a:p>
          <a:p xmlns:a="http://schemas.openxmlformats.org/drawingml/2006/main">
            <a:r>
              <a:t/>
            </a:r>
          </a:p>
          <a:p xmlns:a="http://schemas.openxmlformats.org/drawingml/2006/main">
            <a:r>
              <a:t>CONNECT</a:t>
            </a:r>
          </a:p>
          <a:p xmlns:a="http://schemas.openxmlformats.org/drawingml/2006/main">
            <a:r>
              <a:t>Previous slide: Preparing for the assignment.</a:t>
            </a:r>
          </a:p>
          <a:p xmlns:a="http://schemas.openxmlformats.org/drawingml/2006/main">
            <a:r>
              <a:t/>
            </a:r>
          </a:p>
          <a:p xmlns:a="http://schemas.openxmlformats.org/drawingml/2006/main">
            <a:r>
              <a:t>EXPLAIN</a:t>
            </a:r>
          </a:p>
          <a:p xmlns:a="http://schemas.openxmlformats.org/drawingml/2006/main">
            <a:r>
              <a:t>A Boolean mask is a list-like column of True/False values. len(mask) counts all rows; mask.sum() counts True entries.</a:t>
            </a:r>
          </a:p>
          <a:p xmlns:a="http://schemas.openxmlformats.org/drawingml/2006/main">
            <a:r>
              <a:t/>
            </a:r>
          </a:p>
          <a:p xmlns:a="http://schemas.openxmlformats.org/drawingml/2006/main">
            <a:r>
              <a:t>Strings sort as text, so "9" can rank above "100".</a:t>
            </a:r>
          </a:p>
          <a:p xmlns:a="http://schemas.openxmlformats.org/drawingml/2006/main">
            <a:r>
              <a:t/>
            </a:r>
          </a:p>
          <a:p xmlns:a="http://schemas.openxmlformats.org/drawingml/2006/main">
            <a:r>
              <a:t>Inspect numeric types before taking maxima.</a:t>
            </a:r>
          </a:p>
          <a:p xmlns:a="http://schemas.openxmlformats.org/drawingml/2006/main">
            <a:r>
              <a:t/>
            </a:r>
          </a:p>
          <a:p xmlns:a="http://schemas.openxmlformats.org/drawingml/2006/main">
            <a:r>
              <a:t>KeyError often means the column name does not match; check spelling, case and spaces. shape is (rows, columns).</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Data types and filters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Data types and filters continued</a:t>
            </a:r>
          </a:p>
          <a:p xmlns:a="http://schemas.openxmlformats.org/drawingml/2006/main">
            <a:r>
              <a:t/>
            </a:r>
          </a:p>
          <a:p xmlns:a="http://schemas.openxmlformats.org/drawingml/2006/main">
            <a:r>
              <a:t>CONNECT</a:t>
            </a:r>
          </a:p>
          <a:p xmlns:a="http://schemas.openxmlformats.org/drawingml/2006/main">
            <a:r>
              <a:t>Previous slide: Data types and filters.</a:t>
            </a:r>
          </a:p>
          <a:p xmlns:a="http://schemas.openxmlformats.org/drawingml/2006/main">
            <a:r>
              <a:t/>
            </a:r>
          </a:p>
          <a:p xmlns:a="http://schemas.openxmlformats.org/drawingml/2006/main">
            <a:r>
              <a:t>EXPLAIN</a:t>
            </a:r>
          </a:p>
          <a:p xmlns:a="http://schemas.openxmlformats.org/drawingml/2006/main">
            <a:r>
              <a:t>Read provenance and units before trusting a dataset.</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Your issued assignment.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issued assignment</a:t>
            </a:r>
          </a:p>
          <a:p xmlns:a="http://schemas.openxmlformats.org/drawingml/2006/main">
            <a:r>
              <a:t/>
            </a:r>
          </a:p>
          <a:p xmlns:a="http://schemas.openxmlformats.org/drawingml/2006/main">
            <a:r>
              <a:t>CONNECT</a:t>
            </a:r>
          </a:p>
          <a:p xmlns:a="http://schemas.openxmlformats.org/drawingml/2006/main">
            <a:r>
              <a:t>Previous slide: Data types and filters continued.</a:t>
            </a:r>
          </a:p>
          <a:p xmlns:a="http://schemas.openxmlformats.org/drawingml/2006/main">
            <a:r>
              <a:t/>
            </a:r>
          </a:p>
          <a:p xmlns:a="http://schemas.openxmlformats.org/drawingml/2006/main">
            <a:r>
              <a:t>EXPLAIN</a:t>
            </a:r>
          </a:p>
          <a:p xmlns:a="http://schemas.openxmlformats.org/drawingml/2006/main">
            <a:r>
              <a:t>Open W05_student.ipynb.</a:t>
            </a:r>
          </a:p>
          <a:p xmlns:a="http://schemas.openxmlformats.org/drawingml/2006/main">
            <a:r>
              <a:t/>
            </a:r>
          </a:p>
          <a:p xmlns:a="http://schemas.openxmlformats.org/drawingml/2006/main">
            <a:r>
              <a:t>Read every task and its input units before coding.</a:t>
            </a:r>
          </a:p>
          <a:p xmlns:a="http://schemas.openxmlformats.org/drawingml/2006/main">
            <a:r>
              <a:t/>
            </a:r>
          </a:p>
          <a:p xmlns:a="http://schemas.openxmlformats.org/drawingml/2006/main">
            <a:r>
              <a:t>Keep the required function names and returned outputs.</a:t>
            </a:r>
          </a:p>
          <a:p xmlns:a="http://schemas.openxmlformats.org/drawingml/2006/main">
            <a:r>
              <a:t/>
            </a:r>
          </a:p>
          <a:p xmlns:a="http://schemas.openxmlformats.org/drawingml/2006/main">
            <a:r>
              <a:t>Run the supplied visible checks, then restart and run all.</a:t>
            </a:r>
          </a:p>
          <a:p xmlns:a="http://schemas.openxmlformats.org/drawingml/2006/main">
            <a:r>
              <a:t/>
            </a:r>
          </a:p>
          <a:p xmlns:a="http://schemas.openxmlformats.org/drawingml/2006/main">
            <a:r>
              <a:t>LECTURER CUE</a:t>
            </a:r>
          </a:p>
          <a:p xmlns:a="http://schemas.openxmlformats.org/drawingml/2006/main">
            <a:r>
              <a:t># W05: pandas: load, filter, group</a:t>
            </a:r>
          </a:p>
          <a:p xmlns:a="http://schemas.openxmlformats.org/drawingml/2006/main">
            <a:r>
              <a:t>CML3112. Complete each named output. Save as STUDENT_ID_W05.ipynb.</a:t>
            </a:r>
          </a:p>
          <a:p xmlns:a="http://schemas.openxmlformats.org/drawingml/2006/main">
            <a:r>
              <a:t>## q1: 3 marks</a:t>
            </a:r>
          </a:p>
          <a:p xmlns:a="http://schemas.openxmlformats.org/drawingml/2006/main">
            <a:r>
              <a:t>Load campus_energy.csv into a DataFrame called df.</a:t>
            </a:r>
          </a:p>
          <a:p xmlns:a="http://schemas.openxmlformats.org/drawingml/2006/main">
            <a:r>
              <a:t>## q2: 3 marks</a:t>
            </a:r>
          </a:p>
          <a:p xmlns:a="http://schemas.openxmlformats.org/drawingml/2006/main">
            <a:r>
              <a:t>Set n_meters to the number of distinct meters in the file.</a:t>
            </a:r>
          </a:p>
          <a:p xmlns:a="http://schemas.openxmlformats.org/drawingml/2006/main">
            <a:r>
              <a:t>## q3: 4 marks</a:t>
            </a:r>
          </a:p>
          <a:p xmlns:a="http://schemas.openxmlformats.org/drawingml/2006/main">
            <a:r>
              <a:t>Add a column cost_per_kwh to df, equal to cost_ugx / kwh.</a:t>
            </a:r>
          </a:p>
          <a:p xmlns:a="http://schemas.openxmlformats.org/drawingml/2006/main">
            <a:r>
              <a:t>## q4: 4 marks</a:t>
            </a:r>
          </a:p>
          <a:p xmlns:a="http://schemas.openxmlformats.org/drawingml/2006/main">
            <a:r>
              <a:t>Set high_use to the rows of df where kwh is greater than 5000. Do this after q3 so the derived column comes along.</a:t>
            </a:r>
          </a:p>
          <a:p xmlns:a="http://schemas.openxmlformats.org/drawingml/2006/main">
            <a:r>
              <a:t>## q5: 3 marks</a:t>
            </a:r>
          </a:p>
          <a:p xmlns:a="http://schemas.openxmlformats.org/drawingml/2006/main">
            <a:r>
              <a:t>Set mean_cost_per_kwh to the mean of the cost_per_kwh column.</a:t>
            </a:r>
          </a:p>
          <a:p xmlns:a="http://schemas.openxmlformats.org/drawingml/2006/main">
            <a:r>
              <a:t>## q6: 3 marks</a:t>
            </a:r>
          </a:p>
          <a:p xmlns:a="http://schemas.openxmlformats.org/drawingml/2006/main">
            <a:r>
              <a:t>Set peak_building to the name of the building with the highest total kwh.</a:t>
            </a:r>
          </a:p>
          <a:p xmlns:a="http://schemas.openxmlformats.org/drawingml/2006/main">
            <a:r>
              <a:t>Restart and Run All, then save your named notebook. Practice check results are feedback; the submitted notebook is graded independently.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q1: 3 marks.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q1: 3 marks</a:t>
            </a:r>
          </a:p>
          <a:p xmlns:a="http://schemas.openxmlformats.org/drawingml/2006/main">
            <a:r>
              <a:t/>
            </a:r>
          </a:p>
          <a:p xmlns:a="http://schemas.openxmlformats.org/drawingml/2006/main">
            <a:r>
              <a:t>CONNECT</a:t>
            </a:r>
          </a:p>
          <a:p xmlns:a="http://schemas.openxmlformats.org/drawingml/2006/main">
            <a:r>
              <a:t>Previous slide: Your issued assignment.</a:t>
            </a:r>
          </a:p>
          <a:p xmlns:a="http://schemas.openxmlformats.org/drawingml/2006/main">
            <a:r>
              <a:t/>
            </a:r>
          </a:p>
          <a:p xmlns:a="http://schemas.openxmlformats.org/drawingml/2006/main">
            <a:r>
              <a:t>EXPLAIN</a:t>
            </a:r>
          </a:p>
          <a:p xmlns:a="http://schemas.openxmlformats.org/drawingml/2006/main">
            <a:r>
              <a:t>Load campus_energy.csv into a DataFrame called df.</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q2: 3 marks.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q2: 3 marks</a:t>
            </a:r>
          </a:p>
          <a:p xmlns:a="http://schemas.openxmlformats.org/drawingml/2006/main">
            <a:r>
              <a:t/>
            </a:r>
          </a:p>
          <a:p xmlns:a="http://schemas.openxmlformats.org/drawingml/2006/main">
            <a:r>
              <a:t>CONNECT</a:t>
            </a:r>
          </a:p>
          <a:p xmlns:a="http://schemas.openxmlformats.org/drawingml/2006/main">
            <a:r>
              <a:t>Previous slide: q1: 3 marks.</a:t>
            </a:r>
          </a:p>
          <a:p xmlns:a="http://schemas.openxmlformats.org/drawingml/2006/main">
            <a:r>
              <a:t/>
            </a:r>
          </a:p>
          <a:p xmlns:a="http://schemas.openxmlformats.org/drawingml/2006/main">
            <a:r>
              <a:t>EXPLAIN</a:t>
            </a:r>
          </a:p>
          <a:p xmlns:a="http://schemas.openxmlformats.org/drawingml/2006/main">
            <a:r>
              <a:t>Set n_meters to the number of distinct meters in the file.</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q3: 4 marks.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q3: 4 marks</a:t>
            </a:r>
          </a:p>
          <a:p xmlns:a="http://schemas.openxmlformats.org/drawingml/2006/main">
            <a:r>
              <a:t/>
            </a:r>
          </a:p>
          <a:p xmlns:a="http://schemas.openxmlformats.org/drawingml/2006/main">
            <a:r>
              <a:t>CONNECT</a:t>
            </a:r>
          </a:p>
          <a:p xmlns:a="http://schemas.openxmlformats.org/drawingml/2006/main">
            <a:r>
              <a:t>Previous slide: q2: 3 marks.</a:t>
            </a:r>
          </a:p>
          <a:p xmlns:a="http://schemas.openxmlformats.org/drawingml/2006/main">
            <a:r>
              <a:t/>
            </a:r>
          </a:p>
          <a:p xmlns:a="http://schemas.openxmlformats.org/drawingml/2006/main">
            <a:r>
              <a:t>EXPLAIN</a:t>
            </a:r>
          </a:p>
          <a:p xmlns:a="http://schemas.openxmlformats.org/drawingml/2006/main">
            <a:r>
              <a:t>Add a column cost_per_kwh to df, equal to cost_ugx / kwh.</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q4: 4 marks.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q4: 4 marks</a:t>
            </a:r>
          </a:p>
          <a:p xmlns:a="http://schemas.openxmlformats.org/drawingml/2006/main">
            <a:r>
              <a:t/>
            </a:r>
          </a:p>
          <a:p xmlns:a="http://schemas.openxmlformats.org/drawingml/2006/main">
            <a:r>
              <a:t>CONNECT</a:t>
            </a:r>
          </a:p>
          <a:p xmlns:a="http://schemas.openxmlformats.org/drawingml/2006/main">
            <a:r>
              <a:t>Previous slide: q3: 4 marks.</a:t>
            </a:r>
          </a:p>
          <a:p xmlns:a="http://schemas.openxmlformats.org/drawingml/2006/main">
            <a:r>
              <a:t/>
            </a:r>
          </a:p>
          <a:p xmlns:a="http://schemas.openxmlformats.org/drawingml/2006/main">
            <a:r>
              <a:t>EXPLAIN</a:t>
            </a:r>
          </a:p>
          <a:p xmlns:a="http://schemas.openxmlformats.org/drawingml/2006/main">
            <a:r>
              <a:t>Set high_use to the rows of df where kwh is greater than 5000.</a:t>
            </a:r>
          </a:p>
          <a:p xmlns:a="http://schemas.openxmlformats.org/drawingml/2006/main">
            <a:r>
              <a:t/>
            </a:r>
          </a:p>
          <a:p xmlns:a="http://schemas.openxmlformats.org/drawingml/2006/main">
            <a:r>
              <a:t>Do this after q3 so the derived column comes along.</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q5: 3 marks.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q5: 3 marks</a:t>
            </a:r>
          </a:p>
          <a:p xmlns:a="http://schemas.openxmlformats.org/drawingml/2006/main">
            <a:r>
              <a:t/>
            </a:r>
          </a:p>
          <a:p xmlns:a="http://schemas.openxmlformats.org/drawingml/2006/main">
            <a:r>
              <a:t>CONNECT</a:t>
            </a:r>
          </a:p>
          <a:p xmlns:a="http://schemas.openxmlformats.org/drawingml/2006/main">
            <a:r>
              <a:t>Previous slide: q4: 4 marks.</a:t>
            </a:r>
          </a:p>
          <a:p xmlns:a="http://schemas.openxmlformats.org/drawingml/2006/main">
            <a:r>
              <a:t/>
            </a:r>
          </a:p>
          <a:p xmlns:a="http://schemas.openxmlformats.org/drawingml/2006/main">
            <a:r>
              <a:t>EXPLAIN</a:t>
            </a:r>
          </a:p>
          <a:p xmlns:a="http://schemas.openxmlformats.org/drawingml/2006/main">
            <a:r>
              <a:t>Set mean_cost_per_kwh to the mean of the cost_per_kwh column.</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q6: 3 marks.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q6: 3 marks</a:t>
            </a:r>
          </a:p>
          <a:p xmlns:a="http://schemas.openxmlformats.org/drawingml/2006/main">
            <a:r>
              <a:t/>
            </a:r>
          </a:p>
          <a:p xmlns:a="http://schemas.openxmlformats.org/drawingml/2006/main">
            <a:r>
              <a:t>CONNECT</a:t>
            </a:r>
          </a:p>
          <a:p xmlns:a="http://schemas.openxmlformats.org/drawingml/2006/main">
            <a:r>
              <a:t>Previous slide: q5: 3 marks.</a:t>
            </a:r>
          </a:p>
          <a:p xmlns:a="http://schemas.openxmlformats.org/drawingml/2006/main">
            <a:r>
              <a:t/>
            </a:r>
          </a:p>
          <a:p xmlns:a="http://schemas.openxmlformats.org/drawingml/2006/main">
            <a:r>
              <a:t>EXPLAIN</a:t>
            </a:r>
          </a:p>
          <a:p xmlns:a="http://schemas.openxmlformats.org/drawingml/2006/main">
            <a:r>
              <a:t>Set peak_building to the name of the building with the highest total kwh.</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Pandas investigation submission.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Pandas investigation submission</a:t>
            </a:r>
          </a:p>
          <a:p xmlns:a="http://schemas.openxmlformats.org/drawingml/2006/main">
            <a:r>
              <a:t/>
            </a:r>
          </a:p>
          <a:p xmlns:a="http://schemas.openxmlformats.org/drawingml/2006/main">
            <a:r>
              <a:t>CONNECT</a:t>
            </a:r>
          </a:p>
          <a:p xmlns:a="http://schemas.openxmlformats.org/drawingml/2006/main">
            <a:r>
              <a:t>Previous slide: q6: 3 marks.</a:t>
            </a:r>
          </a:p>
          <a:p xmlns:a="http://schemas.openxmlformats.org/drawingml/2006/main">
            <a:r>
              <a:t/>
            </a:r>
          </a:p>
          <a:p xmlns:a="http://schemas.openxmlformats.org/drawingml/2006/main">
            <a:r>
              <a:t>EXPLAIN</a:t>
            </a:r>
          </a:p>
          <a:p xmlns:a="http://schemas.openxmlformats.org/drawingml/2006/main">
            <a:r>
              <a:t>Opens: 06 Oct 2026, 11:00 Kampala</a:t>
            </a:r>
          </a:p>
          <a:p xmlns:a="http://schemas.openxmlformats.org/drawingml/2006/main">
            <a:r>
              <a:t/>
            </a:r>
          </a:p>
          <a:p xmlns:a="http://schemas.openxmlformats.org/drawingml/2006/main">
            <a:r>
              <a:t>Deadline: 13 Oct 2026, 11:00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Project preparation.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Project preparation</a:t>
            </a:r>
          </a:p>
          <a:p xmlns:a="http://schemas.openxmlformats.org/drawingml/2006/main">
            <a:r>
              <a:t/>
            </a:r>
          </a:p>
          <a:p xmlns:a="http://schemas.openxmlformats.org/drawingml/2006/main">
            <a:r>
              <a:t>CONNECT</a:t>
            </a:r>
          </a:p>
          <a:p xmlns:a="http://schemas.openxmlformats.org/drawingml/2006/main">
            <a:r>
              <a:t>Previous slide: Pandas investigation submission.</a:t>
            </a:r>
          </a:p>
          <a:p xmlns:a="http://schemas.openxmlformats.org/drawingml/2006/main">
            <a:r>
              <a:t/>
            </a:r>
          </a:p>
          <a:p xmlns:a="http://schemas.openxmlformats.org/drawingml/2006/main">
            <a:r>
              <a:t>EXPLAIN</a:t>
            </a:r>
          </a:p>
          <a:p xmlns:a="http://schemas.openxmlformats.org/drawingml/2006/main">
            <a:r>
              <a:t>Use the published data analysis project brief.</a:t>
            </a:r>
          </a:p>
          <a:p xmlns:a="http://schemas.openxmlformats.org/drawingml/2006/main">
            <a:r>
              <a:t/>
            </a:r>
          </a:p>
          <a:p xmlns:a="http://schemas.openxmlformats.org/drawingml/2006/main">
            <a:r>
              <a:t>Build the evidence gradually in your project notebook.</a:t>
            </a:r>
          </a:p>
          <a:p xmlns:a="http://schemas.openxmlformats.org/drawingml/2006/main">
            <a:r>
              <a:t/>
            </a:r>
          </a:p>
          <a:p xmlns:a="http://schemas.openxmlformats.org/drawingml/2006/main">
            <a:r>
              <a:t>Keep raw data, labelled charts, run instructions and individual contributions.</a:t>
            </a:r>
          </a:p>
          <a:p xmlns:a="http://schemas.openxmlformats.org/drawingml/2006/main">
            <a:r>
              <a:t/>
            </a:r>
          </a:p>
          <a:p xmlns:a="http://schemas.openxmlformats.org/drawingml/2006/main">
            <a:r>
              <a:t>Published deadline: 27 Oct 2026, 11:00 Kampala</a:t>
            </a:r>
          </a:p>
          <a:p xmlns:a="http://schemas.openxmlformats.org/drawingml/2006/main">
            <a:r>
              <a:t/>
            </a:r>
          </a:p>
          <a:p xmlns:a="http://schemas.openxmlformats.org/drawingml/2006/main">
            <a:r>
              <a:t>LECTURER CUE</a:t>
            </a:r>
          </a:p>
          <a:p xmlns:a="http://schemas.openxmlformats.org/drawingml/2006/main">
            <a:r>
              <a:t>Explain the released brief now. Confirm its grading-release checks before assigning it. Avoid treating weekly practice as a substitute for the project evidence. The project brief remains authoritative.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Week 5 quiz.</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5 quiz</a:t>
            </a:r>
          </a:p>
          <a:p xmlns:a="http://schemas.openxmlformats.org/drawingml/2006/main">
            <a:r>
              <a:t/>
            </a:r>
          </a:p>
          <a:p xmlns:a="http://schemas.openxmlformats.org/drawingml/2006/main">
            <a:r>
              <a:t>CONNECT</a:t>
            </a:r>
          </a:p>
          <a:p xmlns:a="http://schemas.openxmlformats.org/drawingml/2006/main">
            <a:r>
              <a:t>Previous slide: Project preparation.</a:t>
            </a:r>
          </a:p>
          <a:p xmlns:a="http://schemas.openxmlformats.org/drawingml/2006/main">
            <a:r>
              <a:t/>
            </a:r>
          </a:p>
          <a:p xmlns:a="http://schemas.openxmlformats.org/drawingml/2006/main">
            <a:r>
              <a:t>EXPLAIN</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The lecturer will confirm the exact closing time.</a:t>
            </a:r>
          </a:p>
          <a:p xmlns:a="http://schemas.openxmlformats.org/drawingml/2006/main">
            <a:r>
              <a:t/>
            </a:r>
          </a:p>
          <a:p xmlns:a="http://schemas.openxmlformats.org/drawingml/2006/main">
            <a:r>
              <a:t>LECTURER CUE</a:t>
            </a:r>
          </a:p>
          <a:p xmlns:a="http://schemas.openxmlformats.org/drawingml/2006/main">
            <a:r>
              <a:t>Activate the matching open_W5_CML3112 function in Quiz Controls, then confirm the 24-hour close time. Opening this slide or clicking its link does not activate the form. The 24 hours is the availability window. Keep existing quiz scoring and form rules. Do not show private answer keys.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Before you leave.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Previous slide: Week 5 quiz.</a:t>
            </a:r>
          </a:p>
          <a:p xmlns:a="http://schemas.openxmlformats.org/drawingml/2006/main">
            <a:r>
              <a:t/>
            </a:r>
          </a:p>
          <a:p xmlns:a="http://schemas.openxmlformats.org/drawingml/2006/main">
            <a:r>
              <a:t>EXPLAIN</a:t>
            </a:r>
          </a:p>
          <a:p xmlns:a="http://schemas.openxmlformats.org/drawingml/2006/main">
            <a:r>
              <a:t>You can explain which observations a filter keeps and what a grouped total means.</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CUE</a:t>
            </a:r>
          </a:p>
          <a:p xmlns:a="http://schemas.openxmlformats.org/drawingml/2006/main">
            <a:r>
              <a:t>Ask every learner for an individual response. Record one misconception to revisit at the start of the next class. If a deadline changed, announce the exact Kampala date and update the source registry before rebuilding slides.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independent revision and the issued task.</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32a858d7a334f9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21c11e21a2641f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64a059c72ba42a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a654ec21e5643c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f66a230d329457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972ade4fcd1434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1E897F97-DB9A-4FB0-8C76-0F44CC705E87}"/>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6823F81-A89A-44D7-B8D2-B9A5B0D76D30}"/>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BEADD6A2-E560-48AD-BC30-DF7837960875}"/>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C2C4816B-90D1-4ED9-A8FC-AA14B83895A0}"/>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E0BD61B5-7AC1-4B38-892F-36F8D6E7CC77}"/>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900E898A-1A4F-4616-BF9D-C65BB58B6161}"/>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198CCCD5-5C43-4022-B6EC-7B870761F6BF}"/>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55CCF524-C555-4EEA-9090-D148B09EDA46}"/>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64363342-F0F7-4169-81CC-36C2449BFCC0}"/>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1BD0B37-54B3-4C49-975F-E05F75E77C58}"/>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693A7EFE-77FF-4D6E-BB6E-E19C5CECB7DD}"/>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BE7E039A-12D8-44D4-BC1C-9787C4B09D43}"/>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645512D2-481B-4698-A1E5-EFA021D8D0FB}"/>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E40D3EB0-77FA-450B-A6C0-D314AD594CA5}"/>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F9FCD61D-9980-40CB-BF0B-D5B15D72E238}"/>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243be821b6e474a" /><Relationship Type="http://schemas.openxmlformats.org/officeDocument/2006/relationships/slideLayout" Target="/ppt/slideLayouts/slideLayout1.xml" Id="Raf3e5686af584fe7" /><Relationship Type="http://schemas.openxmlformats.org/officeDocument/2006/relationships/slideLayout" Target="/ppt/slideLayouts/slideLayout2.xml" Id="Rd1cd2d346c3a4e33" /><Relationship Type="http://schemas.openxmlformats.org/officeDocument/2006/relationships/slideLayout" Target="/ppt/slideLayouts/slideLayout3.xml" Id="R4bee6adc9deb469d" /><Relationship Type="http://schemas.openxmlformats.org/officeDocument/2006/relationships/slideLayout" Target="/ppt/slideLayouts/slideLayout4.xml" Id="Rd2407881de684880" /><Relationship Type="http://schemas.openxmlformats.org/officeDocument/2006/relationships/slideLayout" Target="/ppt/slideLayouts/slideLayout5.xml" Id="Rf94ee863f2494e20" /><Relationship Type="http://schemas.openxmlformats.org/officeDocument/2006/relationships/slideLayout" Target="/ppt/slideLayouts/slideLayout6.xml" Id="Rd04a4860ae10463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f3e5686af584fe7"/>
    <p:sldLayoutId xmlns:r="http://schemas.openxmlformats.org/officeDocument/2006/relationships" id="2147483650" r:id="Rd1cd2d346c3a4e33"/>
    <p:sldLayoutId xmlns:r="http://schemas.openxmlformats.org/officeDocument/2006/relationships" id="2147483651" r:id="R4bee6adc9deb469d"/>
    <p:sldLayoutId xmlns:r="http://schemas.openxmlformats.org/officeDocument/2006/relationships" id="2147483652" r:id="Rd2407881de684880"/>
    <p:sldLayoutId xmlns:r="http://schemas.openxmlformats.org/officeDocument/2006/relationships" id="2147483653" r:id="Rf94ee863f2494e20"/>
    <p:sldLayoutId xmlns:r="http://schemas.openxmlformats.org/officeDocument/2006/relationships" id="2147483654" r:id="Rd04a4860ae10463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763773f66b64233" /><Relationship Type="http://schemas.openxmlformats.org/officeDocument/2006/relationships/image" Target="/ppt/media/image.png" Id="Rd27c1f68db9c459d" /><Relationship Type="http://schemas.openxmlformats.org/officeDocument/2006/relationships/notesSlide" Target="/ppt/notesSlides/notesSlide1.xml" Id="R6b589876be3a469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5398d5083da438b" /><Relationship Type="http://schemas.openxmlformats.org/officeDocument/2006/relationships/notesSlide" Target="/ppt/notesSlides/notesSlide2.xml" Id="Rfd092790e2dd47c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6b0908ed31946ad" /><Relationship Type="http://schemas.openxmlformats.org/officeDocument/2006/relationships/notesSlide" Target="/ppt/notesSlides/notesSlide3.xml" Id="R0cc6372bad7d446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bb53d9489bbe4d56" /><Relationship Type="http://schemas.openxmlformats.org/officeDocument/2006/relationships/notesSlide" Target="/ppt/notesSlides/notesSlide4.xml" Id="Rd941e800c2014263"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ee033324cb740a2" /><Relationship Type="http://schemas.openxmlformats.org/officeDocument/2006/relationships/notesSlide" Target="/ppt/notesSlides/notesSlide5.xml" Id="R2de336dd2efc48ca"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e67031385574db0" /><Relationship Type="http://schemas.openxmlformats.org/officeDocument/2006/relationships/notesSlide" Target="/ppt/notesSlides/notesSlide6.xml" Id="R67c91b05f4dc45a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a64004cfbbc4c82" /><Relationship Type="http://schemas.openxmlformats.org/officeDocument/2006/relationships/notesSlide" Target="/ppt/notesSlides/notesSlide7.xml" Id="R686f2fc6a45d45f7"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f55b34a3be546d5" /><Relationship Type="http://schemas.openxmlformats.org/officeDocument/2006/relationships/notesSlide" Target="/ppt/notesSlides/notesSlide8.xml" Id="R6fed6f2ec0fa41f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c65edaff1424ae7" /><Relationship Type="http://schemas.openxmlformats.org/officeDocument/2006/relationships/image" Target="/ppt/media/image2.png" Id="Ra8217965afba439f" /><Relationship Type="http://schemas.openxmlformats.org/officeDocument/2006/relationships/notesSlide" Target="/ppt/notesSlides/notesSlide9.xml" Id="R5721e2c2604e471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f01611127fcc4462" /><Relationship Type="http://schemas.openxmlformats.org/officeDocument/2006/relationships/notesSlide" Target="/ppt/notesSlides/notesSlide10.xml" Id="R21f574fe0fe742c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345b596cc8444931" /><Relationship Type="http://schemas.openxmlformats.org/officeDocument/2006/relationships/notesSlide" Target="/ppt/notesSlides/notesSlide11.xml" Id="R0155d66ce3724a7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bdabcf0d49ea485a" /><Relationship Type="http://schemas.openxmlformats.org/officeDocument/2006/relationships/notesSlide" Target="/ppt/notesSlides/notesSlide12.xml" Id="R8d77b1251381450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3f1ffb02713040d0" /><Relationship Type="http://schemas.openxmlformats.org/officeDocument/2006/relationships/notesSlide" Target="/ppt/notesSlides/notesSlide13.xml" Id="R205a2691f86d42e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9253c848a7134a9c" /><Relationship Type="http://schemas.openxmlformats.org/officeDocument/2006/relationships/notesSlide" Target="/ppt/notesSlides/notesSlide14.xml" Id="R41fed16006e9422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5811fe2c7a294639" /><Relationship Type="http://schemas.openxmlformats.org/officeDocument/2006/relationships/notesSlide" Target="/ppt/notesSlides/notesSlide15.xml" Id="Rad5e808ab176476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7953d6d853614448" /><Relationship Type="http://schemas.openxmlformats.org/officeDocument/2006/relationships/notesSlide" Target="/ppt/notesSlides/notesSlide16.xml" Id="Rc6253a0303fc4a83"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f396563527a9417d" /><Relationship Type="http://schemas.openxmlformats.org/officeDocument/2006/relationships/image" Target="/ppt/media/image3.png" Id="R8fb49a0f817c487d" /><Relationship Type="http://schemas.openxmlformats.org/officeDocument/2006/relationships/notesSlide" Target="/ppt/notesSlides/notesSlide17.xml" Id="R6e8b7cc983994e8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bcefd538cc394bba" /><Relationship Type="http://schemas.openxmlformats.org/officeDocument/2006/relationships/notesSlide" Target="/ppt/notesSlides/notesSlide18.xml" Id="R4648d30cc9ae470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6d139f41816945c0" /><Relationship Type="http://schemas.openxmlformats.org/officeDocument/2006/relationships/notesSlide" Target="/ppt/notesSlides/notesSlide19.xml" Id="Rca29c55ce1a241c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81bd0249454f40a4" /><Relationship Type="http://schemas.openxmlformats.org/officeDocument/2006/relationships/notesSlide" Target="/ppt/notesSlides/notesSlide20.xml" Id="Re9e295185e794669"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441ec47de79f4857" /><Relationship Type="http://schemas.openxmlformats.org/officeDocument/2006/relationships/notesSlide" Target="/ppt/notesSlides/notesSlide21.xml" Id="Rd40acdecdc9242af"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1ec66a1a933a4c80" /><Relationship Type="http://schemas.openxmlformats.org/officeDocument/2006/relationships/notesSlide" Target="/ppt/notesSlides/notesSlide22.xml" Id="R99117bcb76704b47"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5c6d3f4fb08b4fb1" /><Relationship Type="http://schemas.openxmlformats.org/officeDocument/2006/relationships/notesSlide" Target="/ppt/notesSlides/notesSlide23.xml" Id="R42704032a1eb4e80"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07935b25d2444887" /><Relationship Type="http://schemas.openxmlformats.org/officeDocument/2006/relationships/notesSlide" Target="/ppt/notesSlides/notesSlide24.xml" Id="Rf370be9b2651457e"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d0278dd9f03742d9" /><Relationship Type="http://schemas.openxmlformats.org/officeDocument/2006/relationships/notesSlide" Target="/ppt/notesSlides/notesSlide25.xml" Id="Rd87a6dada3514568"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7b83223aabcb4b41" /><Relationship Type="http://schemas.openxmlformats.org/officeDocument/2006/relationships/notesSlide" Target="/ppt/notesSlides/notesSlide26.xml" Id="Rdcaecee6eb554fd4"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e436378613544b9c" /><Relationship Type="http://schemas.openxmlformats.org/officeDocument/2006/relationships/notesSlide" Target="/ppt/notesSlides/notesSlide27.xml" Id="R6324dc55385249ec"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f3ac8e966352409a" /><Relationship Type="http://schemas.openxmlformats.org/officeDocument/2006/relationships/notesSlide" Target="/ppt/notesSlides/notesSlide28.xml" Id="R1a54bc92816b4dc2"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9ef9bdf56bf54145" /><Relationship Type="http://schemas.openxmlformats.org/officeDocument/2006/relationships/notesSlide" Target="/ppt/notesSlides/notesSlide29.xml" Id="Rbbcaf2057b7e4d29"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57a8795a9edb4ed7" /><Relationship Type="http://schemas.openxmlformats.org/officeDocument/2006/relationships/notesSlide" Target="/ppt/notesSlides/notesSlide30.xml" Id="R35f290725b344b9b"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a44f9579d2764e60" /><Relationship Type="http://schemas.openxmlformats.org/officeDocument/2006/relationships/notesSlide" Target="/ppt/notesSlides/notesSlide31.xml" Id="R88fa77e815274ebb"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7c81d581f8d9474e" /><Relationship Type="http://schemas.openxmlformats.org/officeDocument/2006/relationships/notesSlide" Target="/ppt/notesSlides/notesSlide32.xml" Id="R652c54a2b0b34bd0"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f0024d572aa04323" /><Relationship Type="http://schemas.openxmlformats.org/officeDocument/2006/relationships/notesSlide" Target="/ppt/notesSlides/notesSlide33.xml" Id="R6caba165a9d84ac0"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94bed4cd7b3f4d2b" /><Relationship Type="http://schemas.openxmlformats.org/officeDocument/2006/relationships/notesSlide" Target="/ppt/notesSlides/notesSlide34.xml" Id="R9d32b76cb78340e4"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21be9ea5adab458b" /><Relationship Type="http://schemas.openxmlformats.org/officeDocument/2006/relationships/notesSlide" Target="/ppt/notesSlides/notesSlide35.xml" Id="R409f989de0e74373"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5f2b23ebc6614a4d" /><Relationship Type="http://schemas.openxmlformats.org/officeDocument/2006/relationships/notesSlide" Target="/ppt/notesSlides/notesSlide36.xml" Id="R8377f5d6b2334ec8"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56f720209ce44eb8" /><Relationship Type="http://schemas.openxmlformats.org/officeDocument/2006/relationships/notesSlide" Target="/ppt/notesSlides/notesSlide37.xml" Id="Ra4ab6d5087af4eb3"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36316548858c4e58" /><Relationship Type="http://schemas.openxmlformats.org/officeDocument/2006/relationships/notesSlide" Target="/ppt/notesSlides/notesSlide38.xml" Id="Re4f90c07894e494d"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2e8688cc7f4d4372" /><Relationship Type="http://schemas.openxmlformats.org/officeDocument/2006/relationships/notesSlide" Target="/ppt/notesSlides/notesSlide39.xml" Id="R689550540a4a4bd0"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e1a73df19da84a4f" /><Relationship Type="http://schemas.openxmlformats.org/officeDocument/2006/relationships/notesSlide" Target="/ppt/notesSlides/notesSlide40.xml" Id="Ra9bf4b2f3dcf470b"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780bae7d9bc14560" /><Relationship Type="http://schemas.openxmlformats.org/officeDocument/2006/relationships/hyperlink" Target="https://docs.google.com/forms/d/e/1FAIpQLSeP_Eykf3YDYN_6sbB5to0B3LX14fsujEVPhsp8UezRZXTNGw/viewform" TargetMode="External" Id="R079c9fe10a474562" /><Relationship Type="http://schemas.openxmlformats.org/officeDocument/2006/relationships/notesSlide" Target="/ppt/notesSlides/notesSlide41.xml" Id="R801ee97ecd00499c"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bf8b33ac8b114603" /><Relationship Type="http://schemas.openxmlformats.org/officeDocument/2006/relationships/notesSlide" Target="/ppt/notesSlides/notesSlide42.xml" Id="R05a392b425584d6a"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fd6c091d46d54c8e" /><Relationship Type="http://schemas.openxmlformats.org/officeDocument/2006/relationships/image" Target="/ppt/media/image4.png" Id="R7c0f3082c05c4e13" /><Relationship Type="http://schemas.openxmlformats.org/officeDocument/2006/relationships/hyperlink" Target="https://forms.gle/Ykncf1mmEbvghZgJ6" TargetMode="External" Id="R3b32fd13ac1e43bd" /><Relationship Type="http://schemas.openxmlformats.org/officeDocument/2006/relationships/notesSlide" Target="/ppt/notesSlides/notesSlide43.xml" Id="R3f0beedda04c45f5"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e270df90197b4c47" /><Relationship Type="http://schemas.openxmlformats.org/officeDocument/2006/relationships/notesSlide" Target="/ppt/notesSlides/notesSlide44.xml" Id="Rcba27433e3794f2c"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d27c1f68db9c459d"/>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7A05359-5AAA-44FC-BBC7-A0B86D216335}"/>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D209064-EEFF-4151-BDDC-65AE0FE333B3}"/>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5</a:t>
            </a:r>
          </a:p>
        </p:txBody>
      </p:sp>
      <p:sp>
        <p:nvSpPr>
          <p:cNvPr id="4" name="">
            <a:extLst xmlns:a="http://schemas.openxmlformats.org/drawingml/2006/main">
              <a:ext uri="{FF2B5EF4-FFF2-40B4-BE49-F238E27FC236}">
                <a16:creationId xmlns:a16="http://schemas.microsoft.com/office/drawing/2014/main" id="{A4E87C56-16DB-4277-AF33-838200A078BA}"/>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Using pandas to answer table questions</a:t>
            </a:r>
          </a:p>
        </p:txBody>
      </p:sp>
      <p:sp>
        <p:nvSpPr>
          <p:cNvPr id="5" name="">
            <a:extLst xmlns:a="http://schemas.openxmlformats.org/drawingml/2006/main">
              <a:ext uri="{FF2B5EF4-FFF2-40B4-BE49-F238E27FC236}">
                <a16:creationId xmlns:a16="http://schemas.microsoft.com/office/drawing/2014/main" id="{E3429D97-75B3-4629-9B44-7704BC48A675}"/>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328C4E94-D949-4966-B479-6D77BC8045E9}"/>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06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139309315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2C56D4D-D292-4540-A8F5-71F7E1DF217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14AE1A4-A012-4221-901E-B833FBCC4A3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BEF67B5D-6394-49AD-A73F-F939234A818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81AD2221-665E-4951-B01A-3788B5C92EC0}"/>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A1B72D5-3D68-4311-AE3F-2771AA96C013}"/>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AAD7B3C9-8164-4205-9BBE-EA2F54861C02}"/>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a labelled table and select rows.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Calculate column summaries and grouped totals.</a:t>
            </a:r>
          </a:p>
        </p:txBody>
      </p:sp>
      <p:sp>
        <p:nvSpPr>
          <p:cNvPr id="7" name="">
            <a:extLst xmlns:a="http://schemas.openxmlformats.org/drawingml/2006/main">
              <a:ext uri="{FF2B5EF4-FFF2-40B4-BE49-F238E27FC236}">
                <a16:creationId xmlns:a16="http://schemas.microsoft.com/office/drawing/2014/main" id="{94BD5D5F-D6A6-4914-932F-C81D98887E9B}"/>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C850817D-716F-4A5F-B240-78E19A31E8E6}"/>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explain which observations a filter keeps and what a grouped total means.</a:t>
            </a:r>
          </a:p>
        </p:txBody>
      </p:sp>
      <p:sp>
        <p:nvSpPr>
          <p:cNvPr id="9" name="">
            <a:extLst xmlns:a="http://schemas.openxmlformats.org/drawingml/2006/main">
              <a:ext uri="{FF2B5EF4-FFF2-40B4-BE49-F238E27FC236}">
                <a16:creationId xmlns:a16="http://schemas.microsoft.com/office/drawing/2014/main" id="{15F515E2-5265-4850-AF40-A6DA65FF5ED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a:t>
            </a:r>
          </a:p>
        </p:txBody>
      </p:sp>
    </p:spTree>
    <p:extLst>
      <p:ext uri="{BB962C8B-B14F-4D97-AF65-F5344CB8AC3E}">
        <p14:creationId xmlns:p14="http://schemas.microsoft.com/office/powerpoint/2010/main" val="102244339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0298895-C30A-42E3-84A8-E68E59B62CB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84C74DF-5F44-49CB-9EB0-86EC24DCF6F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146AB7A-A6A9-485E-AC5A-56A1EFCB467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AA6B4965-3909-4E49-A459-FCA66B468E2F}"/>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802690E-993A-4C27-95C6-A57209F3C024}"/>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Week 4 used lists, dictionaries, loops and CSV rows. pandas keeps these same records in a labelled table and provides operations that work across its columns.</a:t>
            </a:r>
          </a:p>
        </p:txBody>
      </p:sp>
      <p:sp>
        <p:nvSpPr>
          <p:cNvPr id="6" name="">
            <a:extLst xmlns:a="http://schemas.openxmlformats.org/drawingml/2006/main">
              <a:ext uri="{FF2B5EF4-FFF2-40B4-BE49-F238E27FC236}">
                <a16:creationId xmlns:a16="http://schemas.microsoft.com/office/drawing/2014/main" id="{8A2321D3-D7E9-4533-819E-04440973203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3</a:t>
            </a:r>
          </a:p>
        </p:txBody>
      </p:sp>
    </p:spTree>
    <p:extLst>
      <p:ext uri="{BB962C8B-B14F-4D97-AF65-F5344CB8AC3E}">
        <p14:creationId xmlns:p14="http://schemas.microsoft.com/office/powerpoint/2010/main" val="189528889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2CD3647-435D-42D1-9F2D-14FA6CFFB80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A827F4F-88E7-4937-A902-7228C8D0161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768843D-4F61-474C-99F2-2133F22E0A8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2EF7C33D-B006-4272-AB86-0E9F09E037F1}"/>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C9530A1-71BF-4894-8AFA-69B1860B2D18}"/>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The supplied campus_energy.csv records campus electricity use.</a:t>
            </a:r>
          </a:p>
        </p:txBody>
      </p:sp>
      <p:sp>
        <p:nvSpPr>
          <p:cNvPr id="6" name="">
            <a:extLst xmlns:a="http://schemas.openxmlformats.org/drawingml/2006/main">
              <a:ext uri="{FF2B5EF4-FFF2-40B4-BE49-F238E27FC236}">
                <a16:creationId xmlns:a16="http://schemas.microsoft.com/office/drawing/2014/main" id="{714587CF-DC22-4EFE-B934-8AF2B9BAFEA0}"/>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practise pandas on four invented rows first, then inspect the supplied file and its units.</a:t>
            </a:r>
          </a:p>
        </p:txBody>
      </p:sp>
      <p:sp>
        <p:nvSpPr>
          <p:cNvPr id="7" name="">
            <a:extLst xmlns:a="http://schemas.openxmlformats.org/drawingml/2006/main">
              <a:ext uri="{FF2B5EF4-FFF2-40B4-BE49-F238E27FC236}">
                <a16:creationId xmlns:a16="http://schemas.microsoft.com/office/drawing/2014/main" id="{D4DB2733-2B13-4F9B-870D-F30A9636B4C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4</a:t>
            </a:r>
          </a:p>
        </p:txBody>
      </p:sp>
    </p:spTree>
    <p:extLst>
      <p:ext uri="{BB962C8B-B14F-4D97-AF65-F5344CB8AC3E}">
        <p14:creationId xmlns:p14="http://schemas.microsoft.com/office/powerpoint/2010/main" val="90949323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7A241699-FFB6-471A-ABB4-C35BAF57DF4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0D546B4-BCDB-47B4-88CE-8B4C7B54D2B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4BA76FE-F0A5-4E6B-ACEC-00E6626459E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columns and units</a:t>
            </a:r>
          </a:p>
        </p:txBody>
      </p:sp>
      <p:sp>
        <p:nvSpPr>
          <p:cNvPr id="4" name="">
            <a:extLst xmlns:a="http://schemas.openxmlformats.org/drawingml/2006/main">
              <a:ext uri="{FF2B5EF4-FFF2-40B4-BE49-F238E27FC236}">
                <a16:creationId xmlns:a16="http://schemas.microsoft.com/office/drawing/2014/main" id="{9595AE6F-90BB-4AB4-A637-9748526374A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1ECEA21-F604-4290-9927-33994CB347CA}"/>
              </a:ext>
            </a:extLst>
          </p:cNvPr>
          <p:cNvSpPr>
            <a:spLocks xmlns:a="http://schemas.openxmlformats.org/drawingml/2006/main" noGrp="1"/>
          </p:cNvSpPr>
          <p:nvPr/>
        </p:nvSpPr>
        <p:spPr>
          <a:xfrm xmlns:a="http://schemas.openxmlformats.org/drawingml/2006/main">
            <a:off x="1381125" y="1781175"/>
            <a:ext cx="1009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row describes one observation. A column describes one field.</a:t>
            </a:r>
          </a:p>
        </p:txBody>
      </p:sp>
      <p:sp>
        <p:nvSpPr>
          <p:cNvPr id="6" name="">
            <a:extLst xmlns:a="http://schemas.openxmlformats.org/drawingml/2006/main">
              <a:ext uri="{FF2B5EF4-FFF2-40B4-BE49-F238E27FC236}">
                <a16:creationId xmlns:a16="http://schemas.microsoft.com/office/drawing/2014/main" id="{5A91E244-35AA-4F17-8032-5302013E7B2F}"/>
              </a:ext>
            </a:extLst>
          </p:cNvPr>
          <p:cNvSpPr>
            <a:spLocks xmlns:a="http://schemas.openxmlformats.org/drawingml/2006/main" noGrp="1"/>
          </p:cNvSpPr>
          <p:nvPr/>
        </p:nvSpPr>
        <p:spPr>
          <a:xfrm xmlns:a="http://schemas.openxmlformats.org/drawingml/2006/main">
            <a:off x="590550" y="26384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AB0C5D4-523D-4FDD-AD62-6435E0FC4B03}"/>
              </a:ext>
            </a:extLst>
          </p:cNvPr>
          <p:cNvSpPr>
            <a:spLocks xmlns:a="http://schemas.openxmlformats.org/drawingml/2006/main" noGrp="1"/>
          </p:cNvSpPr>
          <p:nvPr/>
        </p:nvSpPr>
        <p:spPr>
          <a:xfrm xmlns:a="http://schemas.openxmlformats.org/drawingml/2006/main">
            <a:off x="1381125" y="2638425"/>
            <a:ext cx="1009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DataFrame is pandas’ labelled table.</a:t>
            </a:r>
          </a:p>
        </p:txBody>
      </p:sp>
      <p:sp>
        <p:nvSpPr>
          <p:cNvPr id="8" name="">
            <a:extLst xmlns:a="http://schemas.openxmlformats.org/drawingml/2006/main">
              <a:ext uri="{FF2B5EF4-FFF2-40B4-BE49-F238E27FC236}">
                <a16:creationId xmlns:a16="http://schemas.microsoft.com/office/drawing/2014/main" id="{F0C07229-8D7D-42DD-B192-B17C7427F65C}"/>
              </a:ext>
            </a:extLst>
          </p:cNvPr>
          <p:cNvSpPr>
            <a:spLocks xmlns:a="http://schemas.openxmlformats.org/drawingml/2006/main" noGrp="1"/>
          </p:cNvSpPr>
          <p:nvPr/>
        </p:nvSpPr>
        <p:spPr>
          <a:xfrm xmlns:a="http://schemas.openxmlformats.org/drawingml/2006/main">
            <a:off x="590550" y="3495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E75A861-1152-4E78-B4D8-32C7E2044F68}"/>
              </a:ext>
            </a:extLst>
          </p:cNvPr>
          <p:cNvSpPr>
            <a:spLocks xmlns:a="http://schemas.openxmlformats.org/drawingml/2006/main" noGrp="1"/>
          </p:cNvSpPr>
          <p:nvPr/>
        </p:nvSpPr>
        <p:spPr>
          <a:xfrm xmlns:a="http://schemas.openxmlformats.org/drawingml/2006/main">
            <a:off x="1381125" y="3495675"/>
            <a:ext cx="1009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Series is one labelled column.</a:t>
            </a:r>
          </a:p>
        </p:txBody>
      </p:sp>
      <p:sp>
        <p:nvSpPr>
          <p:cNvPr id="10" name="">
            <a:extLst xmlns:a="http://schemas.openxmlformats.org/drawingml/2006/main">
              <a:ext uri="{FF2B5EF4-FFF2-40B4-BE49-F238E27FC236}">
                <a16:creationId xmlns:a16="http://schemas.microsoft.com/office/drawing/2014/main" id="{7855FC8C-F912-4C75-BD64-9EB6D8801BB7}"/>
              </a:ext>
            </a:extLst>
          </p:cNvPr>
          <p:cNvSpPr>
            <a:spLocks xmlns:a="http://schemas.openxmlformats.org/drawingml/2006/main" noGrp="1"/>
          </p:cNvSpPr>
          <p:nvPr/>
        </p:nvSpPr>
        <p:spPr>
          <a:xfrm xmlns:a="http://schemas.openxmlformats.org/drawingml/2006/main">
            <a:off x="590550" y="4352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0F86884-DE46-4EF0-A4CD-7E64F558EF09}"/>
              </a:ext>
            </a:extLst>
          </p:cNvPr>
          <p:cNvSpPr>
            <a:spLocks xmlns:a="http://schemas.openxmlformats.org/drawingml/2006/main" noGrp="1"/>
          </p:cNvSpPr>
          <p:nvPr/>
        </p:nvSpPr>
        <p:spPr>
          <a:xfrm xmlns:a="http://schemas.openxmlformats.org/drawingml/2006/main">
            <a:off x="1381125" y="4352925"/>
            <a:ext cx="1009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kWh measures energy. kW measures power.</a:t>
            </a:r>
          </a:p>
        </p:txBody>
      </p:sp>
      <p:sp>
        <p:nvSpPr>
          <p:cNvPr id="12" name="">
            <a:extLst xmlns:a="http://schemas.openxmlformats.org/drawingml/2006/main">
              <a:ext uri="{FF2B5EF4-FFF2-40B4-BE49-F238E27FC236}">
                <a16:creationId xmlns:a16="http://schemas.microsoft.com/office/drawing/2014/main" id="{0E422875-983C-4315-AD41-7C92D23AF265}"/>
              </a:ext>
            </a:extLst>
          </p:cNvPr>
          <p:cNvSpPr>
            <a:spLocks xmlns:a="http://schemas.openxmlformats.org/drawingml/2006/main" noGrp="1"/>
          </p:cNvSpPr>
          <p:nvPr/>
        </p:nvSpPr>
        <p:spPr>
          <a:xfrm xmlns:a="http://schemas.openxmlformats.org/drawingml/2006/main">
            <a:off x="590550" y="5210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05</a:t>
            </a:r>
          </a:p>
        </p:txBody>
      </p:sp>
      <p:sp>
        <p:nvSpPr>
          <p:cNvPr id="13" name="">
            <a:extLst xmlns:a="http://schemas.openxmlformats.org/drawingml/2006/main">
              <a:ext uri="{FF2B5EF4-FFF2-40B4-BE49-F238E27FC236}">
                <a16:creationId xmlns:a16="http://schemas.microsoft.com/office/drawing/2014/main" id="{18FB0F19-AF72-4051-B9DE-1798A86EFB5C}"/>
              </a:ext>
            </a:extLst>
          </p:cNvPr>
          <p:cNvSpPr>
            <a:spLocks xmlns:a="http://schemas.openxmlformats.org/drawingml/2006/main" noGrp="1"/>
          </p:cNvSpPr>
          <p:nvPr/>
        </p:nvSpPr>
        <p:spPr>
          <a:xfrm xmlns:a="http://schemas.openxmlformats.org/drawingml/2006/main">
            <a:off x="1381125" y="5210175"/>
            <a:ext cx="1009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data type (dtype) describes the kind of values in a column, such as whole numbers, decimals or text.</a:t>
            </a:r>
          </a:p>
        </p:txBody>
      </p:sp>
      <p:sp>
        <p:nvSpPr>
          <p:cNvPr id="14" name="">
            <a:extLst xmlns:a="http://schemas.openxmlformats.org/drawingml/2006/main">
              <a:ext uri="{FF2B5EF4-FFF2-40B4-BE49-F238E27FC236}">
                <a16:creationId xmlns:a16="http://schemas.microsoft.com/office/drawing/2014/main" id="{1E9C3B3E-DB05-4893-B1FE-EC021EE9660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5</a:t>
            </a:r>
          </a:p>
        </p:txBody>
      </p:sp>
    </p:spTree>
    <p:extLst>
      <p:ext uri="{BB962C8B-B14F-4D97-AF65-F5344CB8AC3E}">
        <p14:creationId xmlns:p14="http://schemas.microsoft.com/office/powerpoint/2010/main" val="175338940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0BD7A11-258B-44E1-BD40-70E0210F22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F62D35F-F7D4-4173-9572-7A51E93E94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20914D1-D393-4DB9-88C5-4CA91FDA48A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table keeps related observations together</a:t>
            </a:r>
          </a:p>
        </p:txBody>
      </p:sp>
      <p:sp>
        <p:nvSpPr>
          <p:cNvPr id="4" name="">
            <a:extLst xmlns:a="http://schemas.openxmlformats.org/drawingml/2006/main">
              <a:ext uri="{FF2B5EF4-FFF2-40B4-BE49-F238E27FC236}">
                <a16:creationId xmlns:a16="http://schemas.microsoft.com/office/drawing/2014/main" id="{FF5E700A-6CB2-4CB2-9F24-2F1A8C8396A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E4B2CDD-AC27-4B33-A0D9-C64396B312F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Our four rows record building A twice and building B twice.</a:t>
            </a:r>
          </a:p>
        </p:txBody>
      </p:sp>
      <p:sp>
        <p:nvSpPr>
          <p:cNvPr id="6" name="">
            <a:extLst xmlns:a="http://schemas.openxmlformats.org/drawingml/2006/main">
              <a:ext uri="{FF2B5EF4-FFF2-40B4-BE49-F238E27FC236}">
                <a16:creationId xmlns:a16="http://schemas.microsoft.com/office/drawing/2014/main" id="{3953ACCF-1C04-4316-AD6A-33A54541E5B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51183EA-111F-4054-AB1D-9F08E37065C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row contains the building label and an energy reading.</a:t>
            </a:r>
          </a:p>
        </p:txBody>
      </p:sp>
      <p:sp>
        <p:nvSpPr>
          <p:cNvPr id="8" name="">
            <a:extLst xmlns:a="http://schemas.openxmlformats.org/drawingml/2006/main">
              <a:ext uri="{FF2B5EF4-FFF2-40B4-BE49-F238E27FC236}">
                <a16:creationId xmlns:a16="http://schemas.microsoft.com/office/drawing/2014/main" id="{829CAF83-FA15-4F2B-AEAE-80630791A05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A8C62AE-04C4-4158-BA37-92B83F7882F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kWh is energy. kW is power. The units describe different quantities.</a:t>
            </a:r>
          </a:p>
        </p:txBody>
      </p:sp>
      <p:sp>
        <p:nvSpPr>
          <p:cNvPr id="10" name="">
            <a:extLst xmlns:a="http://schemas.openxmlformats.org/drawingml/2006/main">
              <a:ext uri="{FF2B5EF4-FFF2-40B4-BE49-F238E27FC236}">
                <a16:creationId xmlns:a16="http://schemas.microsoft.com/office/drawing/2014/main" id="{F6809B86-5BA0-499F-9021-5BBDBA489C2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6</a:t>
            </a:r>
          </a:p>
        </p:txBody>
      </p:sp>
    </p:spTree>
    <p:extLst>
      <p:ext uri="{BB962C8B-B14F-4D97-AF65-F5344CB8AC3E}">
        <p14:creationId xmlns:p14="http://schemas.microsoft.com/office/powerpoint/2010/main" val="115449835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BA2E04A-C5DF-4416-9BC9-4C2E6E0F41C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49F47F2-D9B4-42B3-A63B-E4AF801A3F9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FEC54580-D2DD-410B-AEE1-976B97DA483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Our small energy table</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building</a:t>
                      </a:r>
                    </a:p>
                  </a:txBody>
                  <a:tcPr marL="91440" marR="91440" marT="45720" marB="45720">
                    <a:solidFill>
                      <a:srgbClr val="2E7D6F"/>
                    </a:solidFill>
                  </a:tcPr>
                </a:tc>
                <a:tc>
                  <a:txBody>
                    <a:bodyPr/>
                    <a:lstStyle/>
                    <a:p>
                      <a:r>
                        <a:rPr sz="2025" b="1">
                          <a:solidFill>
                            <a:srgbClr val="FFFFFF"/>
                          </a:solidFill>
                          <a:latin typeface="Calibri"/>
                          <a:ea typeface="Calibri"/>
                          <a:cs typeface="Calibri"/>
                        </a:rPr>
                        <a:t>kwh</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A</a:t>
                      </a:r>
                    </a:p>
                  </a:txBody>
                  <a:tcPr marL="91440" marR="91440" marT="45720" marB="45720">
                    <a:solidFill>
                      <a:srgbClr val="EEF3F6"/>
                    </a:solidFill>
                  </a:tcPr>
                </a:tc>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A</a:t>
                      </a:r>
                    </a:p>
                  </a:txBody>
                  <a:tcPr marL="91440" marR="91440" marT="45720" marB="45720">
                    <a:solidFill>
                      <a:srgbClr val="FFFFFF"/>
                    </a:solidFill>
                  </a:tcPr>
                </a:tc>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B</a:t>
                      </a:r>
                    </a:p>
                  </a:txBody>
                  <a:tcPr marL="91440" marR="91440" marT="45720" marB="45720">
                    <a:solidFill>
                      <a:srgbClr val="EEF3F6"/>
                    </a:solidFill>
                  </a:tcPr>
                </a:tc>
                <a:tc>
                  <a:txBody>
                    <a:bodyPr/>
                    <a:lstStyle/>
                    <a:p>
                      <a:r>
                        <a:rPr sz="2025" b="0">
                          <a:solidFill>
                            <a:srgbClr val="1C3144"/>
                          </a:solidFill>
                          <a:latin typeface="Calibri"/>
                          <a:ea typeface="Calibri"/>
                          <a:cs typeface="Calibri"/>
                        </a:rPr>
                        <a:t>5</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B</a:t>
                      </a:r>
                    </a:p>
                  </a:txBody>
                  <a:tcPr marL="91440" marR="91440" marT="45720" marB="45720">
                    <a:solidFill>
                      <a:srgbClr val="FFFFFF"/>
                    </a:solidFill>
                  </a:tcPr>
                </a:tc>
                <a:tc>
                  <a:txBody>
                    <a:bodyPr/>
                    <a:lstStyle/>
                    <a:p>
                      <a:r>
                        <a:rPr sz="2025" b="0">
                          <a:solidFill>
                            <a:srgbClr val="1C3144"/>
                          </a:solidFill>
                          <a:latin typeface="Calibri"/>
                          <a:ea typeface="Calibri"/>
                          <a:cs typeface="Calibri"/>
                        </a:rPr>
                        <a:t>7</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608D1D78-5E91-4CD0-86FE-D1E94F2EF160}"/>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 four observations total 18 kWh.</a:t>
            </a:r>
          </a:p>
        </p:txBody>
      </p:sp>
      <p:sp>
        <p:nvSpPr>
          <p:cNvPr id="6" name="">
            <a:extLst xmlns:a="http://schemas.openxmlformats.org/drawingml/2006/main">
              <a:ext uri="{FF2B5EF4-FFF2-40B4-BE49-F238E27FC236}">
                <a16:creationId xmlns:a16="http://schemas.microsoft.com/office/drawing/2014/main" id="{09D2ABEA-75F1-4C1E-8F6E-E6FFF11F17B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7</a:t>
            </a:r>
          </a:p>
        </p:txBody>
      </p:sp>
    </p:spTree>
    <p:extLst>
      <p:ext uri="{BB962C8B-B14F-4D97-AF65-F5344CB8AC3E}">
        <p14:creationId xmlns:p14="http://schemas.microsoft.com/office/powerpoint/2010/main" val="162091842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A463E2D-69C2-41C6-A6B2-D5D7E8E53DC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B22FA47-7ED0-4900-9779-EB565105236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1484B971-853D-473E-B8A3-BD34C9BB937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Library and pandas and DataFrame</a:t>
            </a:r>
          </a:p>
        </p:txBody>
      </p:sp>
      <p:sp>
        <p:nvSpPr>
          <p:cNvPr id="4" name="">
            <a:extLst xmlns:a="http://schemas.openxmlformats.org/drawingml/2006/main">
              <a:ext uri="{FF2B5EF4-FFF2-40B4-BE49-F238E27FC236}">
                <a16:creationId xmlns:a16="http://schemas.microsoft.com/office/drawing/2014/main" id="{64E8F443-3309-4457-BDA8-2F2C41B2CFD7}"/>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6666103-2BB1-452D-AA58-55C34F6AC3D4}"/>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Library and pandas</a:t>
            </a:r>
          </a:p>
        </p:txBody>
      </p:sp>
      <p:sp>
        <p:nvSpPr>
          <p:cNvPr id="6" name="">
            <a:extLst xmlns:a="http://schemas.openxmlformats.org/drawingml/2006/main">
              <a:ext uri="{FF2B5EF4-FFF2-40B4-BE49-F238E27FC236}">
                <a16:creationId xmlns:a16="http://schemas.microsoft.com/office/drawing/2014/main" id="{ACBEFA15-26B8-46CA-A2BA-357242266494}"/>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library is reusable code. pandas provides tools for data tables. import pandas as pd makes pd a short name for that library.</a:t>
            </a:r>
          </a:p>
        </p:txBody>
      </p:sp>
      <p:sp>
        <p:nvSpPr>
          <p:cNvPr id="7" name="">
            <a:extLst xmlns:a="http://schemas.openxmlformats.org/drawingml/2006/main">
              <a:ext uri="{FF2B5EF4-FFF2-40B4-BE49-F238E27FC236}">
                <a16:creationId xmlns:a16="http://schemas.microsoft.com/office/drawing/2014/main" id="{4536A94E-3B71-452D-9BDE-2150E441D9DA}"/>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7FF20B2-AB35-4B02-9893-2B8CCD9853DD}"/>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DataFrame</a:t>
            </a:r>
          </a:p>
        </p:txBody>
      </p:sp>
      <p:sp>
        <p:nvSpPr>
          <p:cNvPr id="9" name="">
            <a:extLst xmlns:a="http://schemas.openxmlformats.org/drawingml/2006/main">
              <a:ext uri="{FF2B5EF4-FFF2-40B4-BE49-F238E27FC236}">
                <a16:creationId xmlns:a16="http://schemas.microsoft.com/office/drawing/2014/main" id="{86696881-4876-4ED6-AF98-FE366F3559EA}"/>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table with named columns and indexed rows. df is just the variable name we choose for this table.</a:t>
            </a:r>
          </a:p>
        </p:txBody>
      </p:sp>
      <p:sp>
        <p:nvSpPr>
          <p:cNvPr id="10" name="">
            <a:extLst xmlns:a="http://schemas.openxmlformats.org/drawingml/2006/main">
              <a:ext uri="{FF2B5EF4-FFF2-40B4-BE49-F238E27FC236}">
                <a16:creationId xmlns:a16="http://schemas.microsoft.com/office/drawing/2014/main" id="{136ED97F-6C64-4370-9A65-62C3922AC6B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8</a:t>
            </a:r>
          </a:p>
        </p:txBody>
      </p:sp>
    </p:spTree>
    <p:extLst>
      <p:ext uri="{BB962C8B-B14F-4D97-AF65-F5344CB8AC3E}">
        <p14:creationId xmlns:p14="http://schemas.microsoft.com/office/powerpoint/2010/main" val="37215318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D86AB21-04C8-4EDF-B8EE-B06BEDFFF9AE}"/>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C5B3D1F-BFD8-44FB-B2F0-C92C98843F26}"/>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labelled table in Python</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a8217965afba439f"/>
          <a:stretch xmlns:a="http://schemas.openxmlformats.org/drawingml/2006/main"/>
        </p:blipFill>
        <p:spPr>
          <a:xfrm xmlns:a="http://schemas.openxmlformats.org/drawingml/2006/main">
            <a:off x="509073" y="1057275"/>
            <a:ext cx="11173854"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14DA2428-1F46-4F4A-A1EC-43A919C27FBB}"/>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FAFDF15-D588-470E-A95F-10B0EABE4DC2}"/>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illustration uses machinery records. The same row, column and index structure applies to our building-energy table.</a:t>
            </a:r>
          </a:p>
        </p:txBody>
      </p:sp>
      <p:sp>
        <p:nvSpPr>
          <p:cNvPr id="6" name="">
            <a:extLst xmlns:a="http://schemas.openxmlformats.org/drawingml/2006/main">
              <a:ext uri="{FF2B5EF4-FFF2-40B4-BE49-F238E27FC236}">
                <a16:creationId xmlns:a16="http://schemas.microsoft.com/office/drawing/2014/main" id="{1D957AFC-3865-4C76-A111-64CFA335BC7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9</a:t>
            </a:r>
          </a:p>
        </p:txBody>
      </p:sp>
    </p:spTree>
    <p:extLst>
      <p:ext uri="{BB962C8B-B14F-4D97-AF65-F5344CB8AC3E}">
        <p14:creationId xmlns:p14="http://schemas.microsoft.com/office/powerpoint/2010/main" val="72644959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B2FAC6C-527F-40A7-8FBD-60BEB235114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979EBDB-7844-4DF0-BE00-4B6C5C98F40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616A5B2-C907-4A38-A503-C87EB6D31E6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Series and Method and attribute</a:t>
            </a:r>
          </a:p>
        </p:txBody>
      </p:sp>
      <p:sp>
        <p:nvSpPr>
          <p:cNvPr id="4" name="">
            <a:extLst xmlns:a="http://schemas.openxmlformats.org/drawingml/2006/main">
              <a:ext uri="{FF2B5EF4-FFF2-40B4-BE49-F238E27FC236}">
                <a16:creationId xmlns:a16="http://schemas.microsoft.com/office/drawing/2014/main" id="{A11E7D33-4312-4679-9833-5A2B43ADDD4B}"/>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010E947-5E47-43D5-842D-8C446CC6F002}"/>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Series</a:t>
            </a:r>
          </a:p>
        </p:txBody>
      </p:sp>
      <p:sp>
        <p:nvSpPr>
          <p:cNvPr id="6" name="">
            <a:extLst xmlns:a="http://schemas.openxmlformats.org/drawingml/2006/main">
              <a:ext uri="{FF2B5EF4-FFF2-40B4-BE49-F238E27FC236}">
                <a16:creationId xmlns:a16="http://schemas.microsoft.com/office/drawing/2014/main" id="{F1332BAD-5530-4858-9518-BB7EFC94C674}"/>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One labelled column. df["kwh"] selects the column named kwh.</a:t>
            </a:r>
          </a:p>
        </p:txBody>
      </p:sp>
      <p:sp>
        <p:nvSpPr>
          <p:cNvPr id="7" name="">
            <a:extLst xmlns:a="http://schemas.openxmlformats.org/drawingml/2006/main">
              <a:ext uri="{FF2B5EF4-FFF2-40B4-BE49-F238E27FC236}">
                <a16:creationId xmlns:a16="http://schemas.microsoft.com/office/drawing/2014/main" id="{ED7488F2-FFE7-4248-8F2C-D0960A309BD0}"/>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E1E2926-E336-462D-A10A-3C1FB3BB2711}"/>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Method and attribute</a:t>
            </a:r>
          </a:p>
        </p:txBody>
      </p:sp>
      <p:sp>
        <p:nvSpPr>
          <p:cNvPr id="9" name="">
            <a:extLst xmlns:a="http://schemas.openxmlformats.org/drawingml/2006/main">
              <a:ext uri="{FF2B5EF4-FFF2-40B4-BE49-F238E27FC236}">
                <a16:creationId xmlns:a16="http://schemas.microsoft.com/office/drawing/2014/main" id="{03259AF9-1B43-4063-AD5A-FB194F483AED}"/>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method performs an operation, as in df.head(). An attribute provides a stored property, as in df.shape. Parentheses call an operation.</a:t>
            </a:r>
          </a:p>
        </p:txBody>
      </p:sp>
      <p:sp>
        <p:nvSpPr>
          <p:cNvPr id="10" name="">
            <a:extLst xmlns:a="http://schemas.openxmlformats.org/drawingml/2006/main">
              <a:ext uri="{FF2B5EF4-FFF2-40B4-BE49-F238E27FC236}">
                <a16:creationId xmlns:a16="http://schemas.microsoft.com/office/drawing/2014/main" id="{E24CD91B-9242-4A22-9E65-CAE80AA8755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10</a:t>
            </a:r>
          </a:p>
        </p:txBody>
      </p:sp>
    </p:spTree>
    <p:extLst>
      <p:ext uri="{BB962C8B-B14F-4D97-AF65-F5344CB8AC3E}">
        <p14:creationId xmlns:p14="http://schemas.microsoft.com/office/powerpoint/2010/main" val="101519283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8541B22-D887-40F4-B4D5-C6624821019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1109EC1-3603-4DC8-8E85-5575FEE26C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91125EF-3A9F-483D-A16C-292FA304531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pandas syntax</a:t>
            </a:r>
          </a:p>
        </p:txBody>
      </p:sp>
      <p:sp>
        <p:nvSpPr>
          <p:cNvPr id="4" name="">
            <a:extLst xmlns:a="http://schemas.openxmlformats.org/drawingml/2006/main">
              <a:ext uri="{FF2B5EF4-FFF2-40B4-BE49-F238E27FC236}">
                <a16:creationId xmlns:a16="http://schemas.microsoft.com/office/drawing/2014/main" id="{6A298D69-8A27-4C37-84A4-41CE37ECD0E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B36E085-BB34-4AAB-95BB-A9169511E97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pandas as pd loads the library and gives it a short name.</a:t>
            </a:r>
          </a:p>
        </p:txBody>
      </p:sp>
      <p:sp>
        <p:nvSpPr>
          <p:cNvPr id="6" name="">
            <a:extLst xmlns:a="http://schemas.openxmlformats.org/drawingml/2006/main">
              <a:ext uri="{FF2B5EF4-FFF2-40B4-BE49-F238E27FC236}">
                <a16:creationId xmlns:a16="http://schemas.microsoft.com/office/drawing/2014/main" id="{64F4CA60-70F0-49C6-9982-540603D78FA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709BFEC-29D0-47A1-9068-05E03D7E794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pd.read_csv("file.csv") calls a function. The quoted text is the file path.</a:t>
            </a:r>
          </a:p>
        </p:txBody>
      </p:sp>
      <p:sp>
        <p:nvSpPr>
          <p:cNvPr id="8" name="">
            <a:extLst xmlns:a="http://schemas.openxmlformats.org/drawingml/2006/main">
              <a:ext uri="{FF2B5EF4-FFF2-40B4-BE49-F238E27FC236}">
                <a16:creationId xmlns:a16="http://schemas.microsoft.com/office/drawing/2014/main" id="{BCC49259-61C8-499D-B651-C6E551D56DC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F2353F9-021E-4CC8-917E-213014AF0C9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df["kwh"] selects a column. df["kwh"].mean() calls a method on that column.</a:t>
            </a:r>
          </a:p>
        </p:txBody>
      </p:sp>
      <p:sp>
        <p:nvSpPr>
          <p:cNvPr id="10" name="">
            <a:extLst xmlns:a="http://schemas.openxmlformats.org/drawingml/2006/main">
              <a:ext uri="{FF2B5EF4-FFF2-40B4-BE49-F238E27FC236}">
                <a16:creationId xmlns:a16="http://schemas.microsoft.com/office/drawing/2014/main" id="{CB935060-AF5A-43FA-B7FC-DFF7EA02FCD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11</a:t>
            </a:r>
          </a:p>
        </p:txBody>
      </p:sp>
    </p:spTree>
    <p:extLst>
      <p:ext uri="{BB962C8B-B14F-4D97-AF65-F5344CB8AC3E}">
        <p14:creationId xmlns:p14="http://schemas.microsoft.com/office/powerpoint/2010/main" val="1348310158"/>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5C262D4-8310-4729-817C-71D23B642E5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F8A6B71-EA81-4711-8C0C-97D651A0EE6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A460D99-FF0A-4093-9EFC-D3CF2F57A09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table constructor in stages</a:t>
            </a:r>
          </a:p>
        </p:txBody>
      </p:sp>
      <p:sp>
        <p:nvSpPr>
          <p:cNvPr id="4" name="">
            <a:extLst xmlns:a="http://schemas.openxmlformats.org/drawingml/2006/main">
              <a:ext uri="{FF2B5EF4-FFF2-40B4-BE49-F238E27FC236}">
                <a16:creationId xmlns:a16="http://schemas.microsoft.com/office/drawing/2014/main" id="{AEDC6085-0F0E-4BF6-BA8F-3EBC5E94FC2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AC1F3FF-A5B2-42BF-A8D4-B1870670BCC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pandas as pd loads pandas and gives it the shorter name pd. This is an alias; you could use another name consistently.</a:t>
            </a:r>
          </a:p>
        </p:txBody>
      </p:sp>
      <p:sp>
        <p:nvSpPr>
          <p:cNvPr id="6" name="">
            <a:extLst xmlns:a="http://schemas.openxmlformats.org/drawingml/2006/main">
              <a:ext uri="{FF2B5EF4-FFF2-40B4-BE49-F238E27FC236}">
                <a16:creationId xmlns:a16="http://schemas.microsoft.com/office/drawing/2014/main" id="{2B603AA4-4195-491F-9F24-F2CF2E9485B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43F3CEE-0A30-40D4-804F-9F458DA75CA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Inside pd.DataFrame(...), the dictionary keys become column names. Each list supplies that column’s values in row order.</a:t>
            </a:r>
          </a:p>
        </p:txBody>
      </p:sp>
      <p:sp>
        <p:nvSpPr>
          <p:cNvPr id="8" name="">
            <a:extLst xmlns:a="http://schemas.openxmlformats.org/drawingml/2006/main">
              <a:ext uri="{FF2B5EF4-FFF2-40B4-BE49-F238E27FC236}">
                <a16:creationId xmlns:a16="http://schemas.microsoft.com/office/drawing/2014/main" id="{4305CE88-1723-4066-931B-6592C1D3AC7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AA203BD-CD23-4042-9138-5CE1B024D5C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All these column lists have the same length. At position 0, building is "A" and kwh is 2; together they form the first row.</a:t>
            </a:r>
          </a:p>
        </p:txBody>
      </p:sp>
      <p:sp>
        <p:nvSpPr>
          <p:cNvPr id="10" name="">
            <a:extLst xmlns:a="http://schemas.openxmlformats.org/drawingml/2006/main">
              <a:ext uri="{FF2B5EF4-FFF2-40B4-BE49-F238E27FC236}">
                <a16:creationId xmlns:a16="http://schemas.microsoft.com/office/drawing/2014/main" id="{76B5EF09-9E0C-4169-BF3A-C185181C639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12</a:t>
            </a:r>
          </a:p>
        </p:txBody>
      </p:sp>
    </p:spTree>
    <p:extLst>
      <p:ext uri="{BB962C8B-B14F-4D97-AF65-F5344CB8AC3E}">
        <p14:creationId xmlns:p14="http://schemas.microsoft.com/office/powerpoint/2010/main" val="184982989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029ED15-3F14-4EFF-BC56-9210FFB3B3B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90CE1CE-617F-4602-82FD-7C8E4A3D571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BD6CD13-FF9C-4C13-BD73-2CBB2B4F2CD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Build the table before asking questions</a:t>
            </a:r>
          </a:p>
        </p:txBody>
      </p:sp>
      <p:sp>
        <p:nvSpPr>
          <p:cNvPr id="4" name="">
            <a:extLst xmlns:a="http://schemas.openxmlformats.org/drawingml/2006/main">
              <a:ext uri="{FF2B5EF4-FFF2-40B4-BE49-F238E27FC236}">
                <a16:creationId xmlns:a16="http://schemas.microsoft.com/office/drawing/2014/main" id="{BCD22FA2-7B97-4DC0-9237-FD54A1CF623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16FC347-E6FA-4740-BA76-35AA19E4294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pandas as pd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df = pd.DataFrame({"building": ["A", "A", "B", "B"],</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"kwh": [2, 4, 5, 7]})</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print(df)</a:t>
            </a:r>
          </a:p>
        </p:txBody>
      </p:sp>
      <p:sp>
        <p:nvSpPr>
          <p:cNvPr id="6" name="">
            <a:extLst xmlns:a="http://schemas.openxmlformats.org/drawingml/2006/main">
              <a:ext uri="{FF2B5EF4-FFF2-40B4-BE49-F238E27FC236}">
                <a16:creationId xmlns:a16="http://schemas.microsoft.com/office/drawing/2014/main" id="{601C53CC-993D-4745-B2B3-DD509C4A6FC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D30DCB8A-7C8D-4D30-816D-9CFF8C74ADA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Each dictionary key becomes a column name. Equal-length lists supply its rows.</a:t>
            </a:r>
          </a:p>
        </p:txBody>
      </p:sp>
      <p:sp>
        <p:nvSpPr>
          <p:cNvPr id="8" name="">
            <a:extLst xmlns:a="http://schemas.openxmlformats.org/drawingml/2006/main">
              <a:ext uri="{FF2B5EF4-FFF2-40B4-BE49-F238E27FC236}">
                <a16:creationId xmlns:a16="http://schemas.microsoft.com/office/drawing/2014/main" id="{D33611FF-2BF6-40D6-A927-133E8BDA592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13</a:t>
            </a:r>
          </a:p>
        </p:txBody>
      </p:sp>
    </p:spTree>
    <p:extLst>
      <p:ext uri="{BB962C8B-B14F-4D97-AF65-F5344CB8AC3E}">
        <p14:creationId xmlns:p14="http://schemas.microsoft.com/office/powerpoint/2010/main" val="209463652"/>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40DED13-F86B-4DD0-AABD-41600A88EA3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2C0ADC8-292F-41CF-9ACB-A2D2C0474FD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BB96A4C-EDC2-4160-A90C-6BDFE923CF9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 first then summarise</a:t>
            </a:r>
          </a:p>
        </p:txBody>
      </p:sp>
      <p:sp>
        <p:nvSpPr>
          <p:cNvPr id="4" name="">
            <a:extLst xmlns:a="http://schemas.openxmlformats.org/drawingml/2006/main">
              <a:ext uri="{FF2B5EF4-FFF2-40B4-BE49-F238E27FC236}">
                <a16:creationId xmlns:a16="http://schemas.microsoft.com/office/drawing/2014/main" id="{C1C91462-0E93-4913-9C75-A416EE53347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2E8731E-9418-43C3-9E84-61AAC05D18D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df["kwh"] selects the energy column as a Series, which is a labelled sequence of values. Its entries are 2, 4, 5 and 7.</a:t>
            </a:r>
          </a:p>
        </p:txBody>
      </p:sp>
      <p:sp>
        <p:nvSpPr>
          <p:cNvPr id="6" name="">
            <a:extLst xmlns:a="http://schemas.openxmlformats.org/drawingml/2006/main">
              <a:ext uri="{FF2B5EF4-FFF2-40B4-BE49-F238E27FC236}">
                <a16:creationId xmlns:a16="http://schemas.microsoft.com/office/drawing/2014/main" id="{F4B76543-3FFD-4847-B514-715FEC145D1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DDEE19F-1D20-46C1-9581-F46D3E9AACB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Store it as energy = df["kwh"]. energy.mean() adds those four values and divides by four: 18 / 4 = 4.5.</a:t>
            </a:r>
          </a:p>
        </p:txBody>
      </p:sp>
      <p:sp>
        <p:nvSpPr>
          <p:cNvPr id="8" name="">
            <a:extLst xmlns:a="http://schemas.openxmlformats.org/drawingml/2006/main">
              <a:ext uri="{FF2B5EF4-FFF2-40B4-BE49-F238E27FC236}">
                <a16:creationId xmlns:a16="http://schemas.microsoft.com/office/drawing/2014/main" id="{325CC8E5-3D40-41A1-9F41-BBE4F685614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227FFD2-83BC-4A28-98E5-11395AF2B02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df["kwh"].mean() combines those same two steps. A dot chooses a method; parentheses call it.</a:t>
            </a:r>
          </a:p>
        </p:txBody>
      </p:sp>
      <p:sp>
        <p:nvSpPr>
          <p:cNvPr id="10" name="">
            <a:extLst xmlns:a="http://schemas.openxmlformats.org/drawingml/2006/main">
              <a:ext uri="{FF2B5EF4-FFF2-40B4-BE49-F238E27FC236}">
                <a16:creationId xmlns:a16="http://schemas.microsoft.com/office/drawing/2014/main" id="{D5BF3DDD-2B8D-44A4-AED2-EEA61030D05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14</a:t>
            </a:r>
          </a:p>
        </p:txBody>
      </p:sp>
    </p:spTree>
    <p:extLst>
      <p:ext uri="{BB962C8B-B14F-4D97-AF65-F5344CB8AC3E}">
        <p14:creationId xmlns:p14="http://schemas.microsoft.com/office/powerpoint/2010/main" val="190482563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27128E6-1958-48BD-B033-D60CA5C3F3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68ACFD4-2041-4A6A-A124-F10DA21444B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D09F037-9D70-4BC0-8ABB-64D997C6902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 a column and calculate its mean</a:t>
            </a:r>
          </a:p>
        </p:txBody>
      </p:sp>
      <p:sp>
        <p:nvSpPr>
          <p:cNvPr id="4" name="">
            <a:extLst xmlns:a="http://schemas.openxmlformats.org/drawingml/2006/main">
              <a:ext uri="{FF2B5EF4-FFF2-40B4-BE49-F238E27FC236}">
                <a16:creationId xmlns:a16="http://schemas.microsoft.com/office/drawing/2014/main" id="{349D9C67-8B5E-4E35-B025-485098A23577}"/>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F9CC956-4FAD-487A-A8FE-7A059E2C9D26}"/>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print(df["kwh"])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print(df["kwh"].mean())</a:t>
            </a:r>
          </a:p>
        </p:txBody>
      </p:sp>
      <p:sp>
        <p:nvSpPr>
          <p:cNvPr id="6" name="">
            <a:extLst xmlns:a="http://schemas.openxmlformats.org/drawingml/2006/main">
              <a:ext uri="{FF2B5EF4-FFF2-40B4-BE49-F238E27FC236}">
                <a16:creationId xmlns:a16="http://schemas.microsoft.com/office/drawing/2014/main" id="{9F829EE2-4F0E-4A88-A9DE-FB66B4B77E2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F4229F4-33A8-4EB3-A46D-AE64BBDFFBC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F2A6B900-4719-4F04-9090-C6B022B855D8}"/>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AB0C8B36-49C9-4259-A9CD-2E5AADA59F0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The four numbers are 2, 4, 5 and 7. Their mean is 18 / 4 = 4.5 kWh.</a:t>
            </a:r>
          </a:p>
        </p:txBody>
      </p:sp>
      <p:sp>
        <p:nvSpPr>
          <p:cNvPr id="10" name="">
            <a:extLst xmlns:a="http://schemas.openxmlformats.org/drawingml/2006/main">
              <a:ext uri="{FF2B5EF4-FFF2-40B4-BE49-F238E27FC236}">
                <a16:creationId xmlns:a16="http://schemas.microsoft.com/office/drawing/2014/main" id="{2FB5FA07-442C-48F1-B108-96769067F43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15</a:t>
            </a:r>
          </a:p>
        </p:txBody>
      </p:sp>
    </p:spTree>
    <p:extLst>
      <p:ext uri="{BB962C8B-B14F-4D97-AF65-F5344CB8AC3E}">
        <p14:creationId xmlns:p14="http://schemas.microsoft.com/office/powerpoint/2010/main" val="6958843"/>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1866D49-7BE6-43FB-9CDE-5EB69FEF82C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5ECBB33-45F3-46D8-85BC-1F7F834F77C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CCABE0B-EAB7-4F33-84EF-A614146114E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Mask and filter</a:t>
            </a:r>
          </a:p>
        </p:txBody>
      </p:sp>
      <p:sp>
        <p:nvSpPr>
          <p:cNvPr id="4" name="">
            <a:extLst xmlns:a="http://schemas.openxmlformats.org/drawingml/2006/main">
              <a:ext uri="{FF2B5EF4-FFF2-40B4-BE49-F238E27FC236}">
                <a16:creationId xmlns:a16="http://schemas.microsoft.com/office/drawing/2014/main" id="{05F2D67D-CE45-43C1-A561-79D87A7BF686}"/>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1F088B2-1B65-49B1-8B5B-A5CB43E4C11E}"/>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Mask and filter</a:t>
            </a:r>
          </a:p>
        </p:txBody>
      </p:sp>
      <p:sp>
        <p:nvSpPr>
          <p:cNvPr id="6" name="">
            <a:extLst xmlns:a="http://schemas.openxmlformats.org/drawingml/2006/main">
              <a:ext uri="{FF2B5EF4-FFF2-40B4-BE49-F238E27FC236}">
                <a16:creationId xmlns:a16="http://schemas.microsoft.com/office/drawing/2014/main" id="{8A329F0A-40FF-40C7-98AF-9D9AC2C533DE}"/>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comparison produces True/False for each row. df[mask] keeps the True rows.</a:t>
            </a:r>
          </a:p>
        </p:txBody>
      </p:sp>
      <p:sp>
        <p:nvSpPr>
          <p:cNvPr id="7" name="">
            <a:extLst xmlns:a="http://schemas.openxmlformats.org/drawingml/2006/main">
              <a:ext uri="{FF2B5EF4-FFF2-40B4-BE49-F238E27FC236}">
                <a16:creationId xmlns:a16="http://schemas.microsoft.com/office/drawing/2014/main" id="{BEA8342D-4DC8-49EB-B6B1-FF5E3EA00FE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16</a:t>
            </a:r>
          </a:p>
        </p:txBody>
      </p:sp>
    </p:spTree>
    <p:extLst>
      <p:ext uri="{BB962C8B-B14F-4D97-AF65-F5344CB8AC3E}">
        <p14:creationId xmlns:p14="http://schemas.microsoft.com/office/powerpoint/2010/main" val="933537420"/>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1A0C266-9317-4E24-B100-5946FC23D2CA}"/>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B390385-6204-46B4-A8FF-2CEEBB4140D2}"/>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comparison creates a Boolean mask</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8fb49a0f817c487d"/>
          <a:stretch xmlns:a="http://schemas.openxmlformats.org/drawingml/2006/main"/>
        </p:blipFill>
        <p:spPr>
          <a:xfrm xmlns:a="http://schemas.openxmlformats.org/drawingml/2006/main">
            <a:off x="717043" y="1057275"/>
            <a:ext cx="10757915"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D001D03E-28AE-4BE4-9058-F50F5299627C}"/>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4518D1A-5410-432B-A5FB-AAB916E1EE9D}"/>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illustration filters torque readings. Our next example applies the same True/False selection to kWh values.</a:t>
            </a:r>
          </a:p>
        </p:txBody>
      </p:sp>
      <p:sp>
        <p:nvSpPr>
          <p:cNvPr id="6" name="">
            <a:extLst xmlns:a="http://schemas.openxmlformats.org/drawingml/2006/main">
              <a:ext uri="{FF2B5EF4-FFF2-40B4-BE49-F238E27FC236}">
                <a16:creationId xmlns:a16="http://schemas.microsoft.com/office/drawing/2014/main" id="{53B9BF3F-EF93-4A76-9A8D-62680F29982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17</a:t>
            </a:r>
          </a:p>
        </p:txBody>
      </p:sp>
    </p:spTree>
    <p:extLst>
      <p:ext uri="{BB962C8B-B14F-4D97-AF65-F5344CB8AC3E}">
        <p14:creationId xmlns:p14="http://schemas.microsoft.com/office/powerpoint/2010/main" val="1277716983"/>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20E35E5-3872-4B52-82E6-49CF88C3024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7CE0698-0C4D-4AC5-A086-416CE8D71A8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C762D1A-050F-49FC-88BF-61B67CB6BCE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 rows where the comparison is true</a:t>
            </a:r>
          </a:p>
        </p:txBody>
      </p:sp>
      <p:sp>
        <p:nvSpPr>
          <p:cNvPr id="4" name="">
            <a:extLst xmlns:a="http://schemas.openxmlformats.org/drawingml/2006/main">
              <a:ext uri="{FF2B5EF4-FFF2-40B4-BE49-F238E27FC236}">
                <a16:creationId xmlns:a16="http://schemas.microsoft.com/office/drawing/2014/main" id="{8DD68F92-6462-45F0-8AA9-792201C378A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1D0E8EA-9084-4F50-98B6-7CBC78694CD7}"/>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mask = df["kwh"] &gt;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print(mask)</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print(df[mask])</a:t>
            </a:r>
          </a:p>
        </p:txBody>
      </p:sp>
      <p:sp>
        <p:nvSpPr>
          <p:cNvPr id="6" name="">
            <a:extLst xmlns:a="http://schemas.openxmlformats.org/drawingml/2006/main">
              <a:ext uri="{FF2B5EF4-FFF2-40B4-BE49-F238E27FC236}">
                <a16:creationId xmlns:a16="http://schemas.microsoft.com/office/drawing/2014/main" id="{BFB27B71-9FDC-462F-B157-0644AAADB5A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0F85868-8A5C-4B18-BDD5-8B432A9A7DD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1A05D00D-2F3B-4FF3-A7E0-467504E95C80}"/>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21E17D8F-897B-489D-A113-8E16DC4DE86B}"/>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C5903C22-ABDC-4C20-98CD-090DA50F1F7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The mask is False, False, True, True. The selected rows contain 5 and 7 kWh.</a:t>
            </a:r>
          </a:p>
        </p:txBody>
      </p:sp>
      <p:sp>
        <p:nvSpPr>
          <p:cNvPr id="11" name="">
            <a:extLst xmlns:a="http://schemas.openxmlformats.org/drawingml/2006/main">
              <a:ext uri="{FF2B5EF4-FFF2-40B4-BE49-F238E27FC236}">
                <a16:creationId xmlns:a16="http://schemas.microsoft.com/office/drawing/2014/main" id="{81928F7E-F626-4996-AD6E-33E38339E62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18</a:t>
            </a:r>
          </a:p>
        </p:txBody>
      </p:sp>
    </p:spTree>
    <p:extLst>
      <p:ext uri="{BB962C8B-B14F-4D97-AF65-F5344CB8AC3E}">
        <p14:creationId xmlns:p14="http://schemas.microsoft.com/office/powerpoint/2010/main" val="270183383"/>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866A04E-E310-4ECB-88EB-0177E0E9737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0BE8656-56A4-4FBB-B7A4-3A53900F71D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51F10D23-C000-4793-BC11-6D89244A884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groupby and aggregation</a:t>
            </a:r>
          </a:p>
        </p:txBody>
      </p:sp>
      <p:sp>
        <p:nvSpPr>
          <p:cNvPr id="4" name="">
            <a:extLst xmlns:a="http://schemas.openxmlformats.org/drawingml/2006/main">
              <a:ext uri="{FF2B5EF4-FFF2-40B4-BE49-F238E27FC236}">
                <a16:creationId xmlns:a16="http://schemas.microsoft.com/office/drawing/2014/main" id="{2D174D61-E377-407F-AB54-32ECA26BCCB9}"/>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DC53754-2776-4558-B438-E3DC77551FAA}"/>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groupby and aggregation</a:t>
            </a:r>
          </a:p>
        </p:txBody>
      </p:sp>
      <p:sp>
        <p:nvSpPr>
          <p:cNvPr id="6" name="">
            <a:extLst xmlns:a="http://schemas.openxmlformats.org/drawingml/2006/main">
              <a:ext uri="{FF2B5EF4-FFF2-40B4-BE49-F238E27FC236}">
                <a16:creationId xmlns:a16="http://schemas.microsoft.com/office/drawing/2014/main" id="{F4455FF0-CE3B-4FDA-BBB9-08047DC964D7}"/>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groupby collects rows with the same label. An aggregation such as sum or mean returns a summary for each group.</a:t>
            </a:r>
          </a:p>
        </p:txBody>
      </p:sp>
      <p:sp>
        <p:nvSpPr>
          <p:cNvPr id="7" name="">
            <a:extLst xmlns:a="http://schemas.openxmlformats.org/drawingml/2006/main">
              <a:ext uri="{FF2B5EF4-FFF2-40B4-BE49-F238E27FC236}">
                <a16:creationId xmlns:a16="http://schemas.microsoft.com/office/drawing/2014/main" id="{0E7FD8D3-2E67-46ED-8E38-342F21E7407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19</a:t>
            </a:r>
          </a:p>
        </p:txBody>
      </p:sp>
    </p:spTree>
    <p:extLst>
      <p:ext uri="{BB962C8B-B14F-4D97-AF65-F5344CB8AC3E}">
        <p14:creationId xmlns:p14="http://schemas.microsoft.com/office/powerpoint/2010/main" val="1146516784"/>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9572AC6-D552-4D15-BC6E-9911A57CBD7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9D8BE80-D137-489C-941D-BA939CFBFA7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C49041C3-ED7B-48E7-B704-80B8DC5B631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a group total before using groupby</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Group</a:t>
                      </a:r>
                    </a:p>
                  </a:txBody>
                  <a:tcPr marL="91440" marR="91440" marT="45720" marB="45720">
                    <a:solidFill>
                      <a:srgbClr val="2E7D6F"/>
                    </a:solidFill>
                  </a:tcPr>
                </a:tc>
                <a:tc>
                  <a:txBody>
                    <a:bodyPr/>
                    <a:lstStyle/>
                    <a:p>
                      <a:r>
                        <a:rPr sz="2025" b="1">
                          <a:solidFill>
                            <a:srgbClr val="FFFFFF"/>
                          </a:solidFill>
                          <a:latin typeface="Calibri"/>
                          <a:ea typeface="Calibri"/>
                          <a:cs typeface="Calibri"/>
                        </a:rPr>
                        <a:t>Values assigned to it</a:t>
                      </a:r>
                    </a:p>
                  </a:txBody>
                  <a:tcPr marL="91440" marR="91440" marT="45720" marB="45720">
                    <a:solidFill>
                      <a:srgbClr val="2E7D6F"/>
                    </a:solidFill>
                  </a:tcPr>
                </a:tc>
                <a:tc>
                  <a:txBody>
                    <a:bodyPr/>
                    <a:lstStyle/>
                    <a:p>
                      <a:r>
                        <a:rPr sz="2025" b="1">
                          <a:solidFill>
                            <a:srgbClr val="FFFFFF"/>
                          </a:solidFill>
                          <a:latin typeface="Calibri"/>
                          <a:ea typeface="Calibri"/>
                          <a:cs typeface="Calibri"/>
                        </a:rPr>
                        <a:t>Total</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A</a:t>
                      </a:r>
                    </a:p>
                  </a:txBody>
                  <a:tcPr marL="91440" marR="91440" marT="45720" marB="45720">
                    <a:solidFill>
                      <a:srgbClr val="EEF3F6"/>
                    </a:solidFill>
                  </a:tcPr>
                </a:tc>
                <a:tc>
                  <a:txBody>
                    <a:bodyPr/>
                    <a:lstStyle/>
                    <a:p>
                      <a:r>
                        <a:rPr sz="2025" b="0">
                          <a:solidFill>
                            <a:srgbClr val="1C3144"/>
                          </a:solidFill>
                          <a:latin typeface="Calibri"/>
                          <a:ea typeface="Calibri"/>
                          <a:cs typeface="Calibri"/>
                        </a:rPr>
                        <a:t>2 and 4</a:t>
                      </a:r>
                    </a:p>
                  </a:txBody>
                  <a:tcPr marL="91440" marR="91440" marT="45720" marB="45720">
                    <a:solidFill>
                      <a:srgbClr val="EEF3F6"/>
                    </a:solidFill>
                  </a:tcPr>
                </a:tc>
                <a:tc>
                  <a:txBody>
                    <a:bodyPr/>
                    <a:lstStyle/>
                    <a:p>
                      <a:r>
                        <a:rPr sz="2025" b="0">
                          <a:solidFill>
                            <a:srgbClr val="1C3144"/>
                          </a:solidFill>
                          <a:latin typeface="Calibri"/>
                          <a:ea typeface="Calibri"/>
                          <a:cs typeface="Calibri"/>
                        </a:rPr>
                        <a:t>6</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B</a:t>
                      </a:r>
                    </a:p>
                  </a:txBody>
                  <a:tcPr marL="91440" marR="91440" marT="45720" marB="45720">
                    <a:solidFill>
                      <a:srgbClr val="FFFFFF"/>
                    </a:solidFill>
                  </a:tcPr>
                </a:tc>
                <a:tc>
                  <a:txBody>
                    <a:bodyPr/>
                    <a:lstStyle/>
                    <a:p>
                      <a:r>
                        <a:rPr sz="2025" b="0">
                          <a:solidFill>
                            <a:srgbClr val="1C3144"/>
                          </a:solidFill>
                          <a:latin typeface="Calibri"/>
                          <a:ea typeface="Calibri"/>
                          <a:cs typeface="Calibri"/>
                        </a:rPr>
                        <a:t>5 and 7</a:t>
                      </a:r>
                    </a:p>
                  </a:txBody>
                  <a:tcPr marL="91440" marR="91440" marT="45720" marB="45720">
                    <a:solidFill>
                      <a:srgbClr val="FFFFFF"/>
                    </a:solidFill>
                  </a:tcPr>
                </a:tc>
                <a:tc>
                  <a:txBody>
                    <a:bodyPr/>
                    <a:lstStyle/>
                    <a:p>
                      <a:r>
                        <a:rPr sz="2025" b="0">
                          <a:solidFill>
                            <a:srgbClr val="1C3144"/>
                          </a:solidFill>
                          <a:latin typeface="Calibri"/>
                          <a:ea typeface="Calibri"/>
                          <a:cs typeface="Calibri"/>
                        </a:rPr>
                        <a:t>12</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F3A259D6-61E1-41AE-B0AB-28E0B15051E8}"/>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groupby separates rows by the building label. sum adds the kWh values inside each group.</a:t>
            </a:r>
          </a:p>
        </p:txBody>
      </p:sp>
      <p:sp>
        <p:nvSpPr>
          <p:cNvPr id="6" name="">
            <a:extLst xmlns:a="http://schemas.openxmlformats.org/drawingml/2006/main">
              <a:ext uri="{FF2B5EF4-FFF2-40B4-BE49-F238E27FC236}">
                <a16:creationId xmlns:a16="http://schemas.microsoft.com/office/drawing/2014/main" id="{3C70E0A0-7F44-4A17-BE0F-4F34C35C419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20</a:t>
            </a:r>
          </a:p>
        </p:txBody>
      </p:sp>
    </p:spTree>
    <p:extLst>
      <p:ext uri="{BB962C8B-B14F-4D97-AF65-F5344CB8AC3E}">
        <p14:creationId xmlns:p14="http://schemas.microsoft.com/office/powerpoint/2010/main" val="1147760159"/>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8AC11F5-2AD1-4095-8B21-9AFDFCE4909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9FF6B9C-397C-4AAB-8B9F-9D27027844C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3A255C9-4CC4-4606-BF2B-F58BF3FC6C5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each step of a pandas chain</a:t>
            </a:r>
          </a:p>
        </p:txBody>
      </p:sp>
      <p:sp>
        <p:nvSpPr>
          <p:cNvPr id="4" name="">
            <a:extLst xmlns:a="http://schemas.openxmlformats.org/drawingml/2006/main">
              <a:ext uri="{FF2B5EF4-FFF2-40B4-BE49-F238E27FC236}">
                <a16:creationId xmlns:a16="http://schemas.microsoft.com/office/drawing/2014/main" id="{D233A130-B8F4-4467-B99A-6ADC17B5F55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02F8DDC-BD48-4FB9-867C-9003F4CDD9F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groups = df.groupby("building") describes groups of rows with matching building labels.</a:t>
            </a:r>
          </a:p>
        </p:txBody>
      </p:sp>
      <p:sp>
        <p:nvSpPr>
          <p:cNvPr id="6" name="">
            <a:extLst xmlns:a="http://schemas.openxmlformats.org/drawingml/2006/main">
              <a:ext uri="{FF2B5EF4-FFF2-40B4-BE49-F238E27FC236}">
                <a16:creationId xmlns:a16="http://schemas.microsoft.com/office/drawing/2014/main" id="{A4E2FF99-5BAD-4CEB-B001-90B2B15D85B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C8C8A83-F204-47C2-9939-D48FF05342D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energy_groups = groups["kwh"] selects the energy values within those groups. totals = energy_groups.sum() calculates one total per group.</a:t>
            </a:r>
          </a:p>
        </p:txBody>
      </p:sp>
      <p:sp>
        <p:nvSpPr>
          <p:cNvPr id="8" name="">
            <a:extLst xmlns:a="http://schemas.openxmlformats.org/drawingml/2006/main">
              <a:ext uri="{FF2B5EF4-FFF2-40B4-BE49-F238E27FC236}">
                <a16:creationId xmlns:a16="http://schemas.microsoft.com/office/drawing/2014/main" id="{988AB6C5-6B9F-4CF2-A6C3-52C0FC6B628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6BAA765-B95B-4F2C-9534-48E3AE27358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df.groupby("building")["kwh"].sum() is the same sequence written on one line. Read it from left to right.</a:t>
            </a:r>
          </a:p>
        </p:txBody>
      </p:sp>
      <p:sp>
        <p:nvSpPr>
          <p:cNvPr id="10" name="">
            <a:extLst xmlns:a="http://schemas.openxmlformats.org/drawingml/2006/main">
              <a:ext uri="{FF2B5EF4-FFF2-40B4-BE49-F238E27FC236}">
                <a16:creationId xmlns:a16="http://schemas.microsoft.com/office/drawing/2014/main" id="{4ECD60A8-D1AD-4973-82AA-4421D5B8A87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21</a:t>
            </a:r>
          </a:p>
        </p:txBody>
      </p:sp>
    </p:spTree>
    <p:extLst>
      <p:ext uri="{BB962C8B-B14F-4D97-AF65-F5344CB8AC3E}">
        <p14:creationId xmlns:p14="http://schemas.microsoft.com/office/powerpoint/2010/main" val="1363669666"/>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55982A6-2A76-49C0-9C9B-54D6A273828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D634AD7-E343-4F9E-B98D-490CA9984CE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25FB069-BFFE-46B2-B662-F46B5DD0A52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Calculate one total for each building</a:t>
            </a:r>
          </a:p>
        </p:txBody>
      </p:sp>
      <p:sp>
        <p:nvSpPr>
          <p:cNvPr id="4" name="">
            <a:extLst xmlns:a="http://schemas.openxmlformats.org/drawingml/2006/main">
              <a:ext uri="{FF2B5EF4-FFF2-40B4-BE49-F238E27FC236}">
                <a16:creationId xmlns:a16="http://schemas.microsoft.com/office/drawing/2014/main" id="{F8B00CD5-CC6D-4453-AA3D-38BA3779FC6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20C0A5B-8C60-4E82-85CB-213156BB16E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print(df.groupby("building")["kwh"].sum())</a:t>
            </a:r>
          </a:p>
        </p:txBody>
      </p:sp>
      <p:sp>
        <p:nvSpPr>
          <p:cNvPr id="6" name="">
            <a:extLst xmlns:a="http://schemas.openxmlformats.org/drawingml/2006/main">
              <a:ext uri="{FF2B5EF4-FFF2-40B4-BE49-F238E27FC236}">
                <a16:creationId xmlns:a16="http://schemas.microsoft.com/office/drawing/2014/main" id="{A5D8B9D9-1C73-4382-99BA-3F6D423163B8}"/>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FAB220E-1E67-4922-90A3-A4E6138202C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2CD29C1C-F9BD-4D9B-A366-1F0732563E2B}"/>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7C3992D3-925C-4F8D-8C1D-82BD2709693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A totals 6 kWh; B totals 12 kWh.</a:t>
            </a:r>
          </a:p>
        </p:txBody>
      </p:sp>
      <p:sp>
        <p:nvSpPr>
          <p:cNvPr id="10" name="">
            <a:extLst xmlns:a="http://schemas.openxmlformats.org/drawingml/2006/main">
              <a:ext uri="{FF2B5EF4-FFF2-40B4-BE49-F238E27FC236}">
                <a16:creationId xmlns:a16="http://schemas.microsoft.com/office/drawing/2014/main" id="{B5806146-B39C-4907-A119-8E7434AA940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22</a:t>
            </a:r>
          </a:p>
        </p:txBody>
      </p:sp>
    </p:spTree>
    <p:extLst>
      <p:ext uri="{BB962C8B-B14F-4D97-AF65-F5344CB8AC3E}">
        <p14:creationId xmlns:p14="http://schemas.microsoft.com/office/powerpoint/2010/main" val="767589233"/>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E3DB5B3-D072-4ADA-9FCA-FE9D932CE7E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80A5A4D-A18B-44B1-8EE0-1F2DD557F8E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366B2792-BFEE-44CD-A0F0-BEE2ED16C72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pandas tables and summaries results</a:t>
            </a:r>
          </a:p>
        </p:txBody>
      </p:sp>
      <p:sp>
        <p:nvSpPr>
          <p:cNvPr id="4" name="">
            <a:extLst xmlns:a="http://schemas.openxmlformats.org/drawingml/2006/main">
              <a:ext uri="{FF2B5EF4-FFF2-40B4-BE49-F238E27FC236}">
                <a16:creationId xmlns:a16="http://schemas.microsoft.com/office/drawing/2014/main" id="{902A9132-45B2-4972-8CF7-E728D182BFCD}"/>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15314EE-4887-4EFD-AF78-739D1BAC9C2B}"/>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Mean 4.5. The filter keeps B rows with 5 and 7. Group totals: A = 6, B = 12 kWh.</a:t>
            </a:r>
          </a:p>
        </p:txBody>
      </p:sp>
      <p:sp>
        <p:nvSpPr>
          <p:cNvPr id="6" name="">
            <a:extLst xmlns:a="http://schemas.openxmlformats.org/drawingml/2006/main">
              <a:ext uri="{FF2B5EF4-FFF2-40B4-BE49-F238E27FC236}">
                <a16:creationId xmlns:a16="http://schemas.microsoft.com/office/drawing/2014/main" id="{03FEBFAC-5D2A-4D6D-BAB1-623FE0614834}"/>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D4B2C049-F20C-471E-A737-4B46A71AEAE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23</a:t>
            </a:r>
          </a:p>
        </p:txBody>
      </p:sp>
    </p:spTree>
    <p:extLst>
      <p:ext uri="{BB962C8B-B14F-4D97-AF65-F5344CB8AC3E}">
        <p14:creationId xmlns:p14="http://schemas.microsoft.com/office/powerpoint/2010/main" val="284048088"/>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D5F5DF6-C4B1-4B7B-A664-91751B0C45E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E659828-37DB-45F1-A0E6-9754B4546E2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923F916-E8F3-4D1A-8C3A-A81D5FF99A9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Unique labels and the largest group</a:t>
            </a:r>
          </a:p>
        </p:txBody>
      </p:sp>
      <p:sp>
        <p:nvSpPr>
          <p:cNvPr id="4" name="">
            <a:extLst xmlns:a="http://schemas.openxmlformats.org/drawingml/2006/main">
              <a:ext uri="{FF2B5EF4-FFF2-40B4-BE49-F238E27FC236}">
                <a16:creationId xmlns:a16="http://schemas.microsoft.com/office/drawing/2014/main" id="{1A38BF0B-E84F-40B1-B68E-5AC3F3FB812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1BD6701-CD01-4969-B658-B12ADE000F8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5DD3F3F-7E1E-4DE1-B04C-04DCDE556FE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nunique counts distinct labels, not rows. idxmax returns the label of the largest total.</a:t>
            </a:r>
          </a:p>
        </p:txBody>
      </p:sp>
      <p:sp>
        <p:nvSpPr>
          <p:cNvPr id="7" name="">
            <a:extLst xmlns:a="http://schemas.openxmlformats.org/drawingml/2006/main">
              <a:ext uri="{FF2B5EF4-FFF2-40B4-BE49-F238E27FC236}">
                <a16:creationId xmlns:a16="http://schemas.microsoft.com/office/drawing/2014/main" id="{DF3C92CF-AB8B-4C30-97CF-F6AC1E35B7F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Here there is no tie.</a:t>
            </a:r>
          </a:p>
        </p:txBody>
      </p:sp>
      <p:sp>
        <p:nvSpPr>
          <p:cNvPr id="8" name="">
            <a:extLst xmlns:a="http://schemas.openxmlformats.org/drawingml/2006/main">
              <a:ext uri="{FF2B5EF4-FFF2-40B4-BE49-F238E27FC236}">
                <a16:creationId xmlns:a16="http://schemas.microsoft.com/office/drawing/2014/main" id="{9A0FE613-57EB-40B2-85A3-9606FA79124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24</a:t>
            </a:r>
          </a:p>
        </p:txBody>
      </p:sp>
    </p:spTree>
    <p:extLst>
      <p:ext uri="{BB962C8B-B14F-4D97-AF65-F5344CB8AC3E}">
        <p14:creationId xmlns:p14="http://schemas.microsoft.com/office/powerpoint/2010/main" val="1465972435"/>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72DE5B2-128D-480A-BF34-8000AF89D3E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4171F25-130E-48F1-B9AF-5844D0DFFC5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8026D49-F3A3-45A4-88AA-64DB6263004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Unique labels and the largest group in Python</a:t>
            </a:r>
          </a:p>
        </p:txBody>
      </p:sp>
      <p:sp>
        <p:nvSpPr>
          <p:cNvPr id="4" name="">
            <a:extLst xmlns:a="http://schemas.openxmlformats.org/drawingml/2006/main">
              <a:ext uri="{FF2B5EF4-FFF2-40B4-BE49-F238E27FC236}">
                <a16:creationId xmlns:a16="http://schemas.microsoft.com/office/drawing/2014/main" id="{77504696-D52A-45B8-8F56-AF7AB2187CE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FB3917C-11CA-47D5-AC43-BE0E9BE174F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print(df["building"].nunique())</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totals = df.groupby("building")["kwh"].sum()</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print(totals.idxmax())</a:t>
            </a:r>
          </a:p>
        </p:txBody>
      </p:sp>
      <p:sp>
        <p:nvSpPr>
          <p:cNvPr id="6" name="">
            <a:extLst xmlns:a="http://schemas.openxmlformats.org/drawingml/2006/main">
              <a:ext uri="{FF2B5EF4-FFF2-40B4-BE49-F238E27FC236}">
                <a16:creationId xmlns:a16="http://schemas.microsoft.com/office/drawing/2014/main" id="{AABC6121-FF7F-4ED9-8D49-6E486D7C675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21208E3-32AA-41B2-BD92-DED00B644E4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53BCF6BD-474E-43F1-9174-790B14539DA0}"/>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E7D5D704-212E-4F3E-86F3-1C82772CED48}"/>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6D16AB18-B00E-4EE4-9529-C0E514A8815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F7310210-BA4C-4498-9599-A339D02B48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25</a:t>
            </a:r>
          </a:p>
        </p:txBody>
      </p:sp>
    </p:spTree>
    <p:extLst>
      <p:ext uri="{BB962C8B-B14F-4D97-AF65-F5344CB8AC3E}">
        <p14:creationId xmlns:p14="http://schemas.microsoft.com/office/powerpoint/2010/main" val="1332552209"/>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FFA0C6A-ED0F-4326-B379-5ADB87BAE93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DF31D83-A85B-438A-8861-CDB1E3FFDCC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E6999EA-5DEF-463B-9974-52A14294387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Create a column from two existing columns</a:t>
            </a:r>
          </a:p>
        </p:txBody>
      </p:sp>
      <p:sp>
        <p:nvSpPr>
          <p:cNvPr id="4" name="">
            <a:extLst xmlns:a="http://schemas.openxmlformats.org/drawingml/2006/main">
              <a:ext uri="{FF2B5EF4-FFF2-40B4-BE49-F238E27FC236}">
                <a16:creationId xmlns:a16="http://schemas.microsoft.com/office/drawing/2014/main" id="{C14C564D-7B7F-40B9-9C9A-9E210A2A698A}"/>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59CEEBD-6838-4C07-88CA-E190B009A53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5AA6601-2962-4AEA-BBAD-9DEE6D1D509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new column can store a calculation for every row. Division pairs the values in matching rows.</a:t>
            </a:r>
          </a:p>
        </p:txBody>
      </p:sp>
      <p:sp>
        <p:nvSpPr>
          <p:cNvPr id="7" name="">
            <a:extLst xmlns:a="http://schemas.openxmlformats.org/drawingml/2006/main">
              <a:ext uri="{FF2B5EF4-FFF2-40B4-BE49-F238E27FC236}">
                <a16:creationId xmlns:a16="http://schemas.microsoft.com/office/drawing/2014/main" id="{E177785A-45D5-4833-920F-924DBCE3C2C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For this invented table all energy values are positive. UGX is Uganda shillings. Cost divided by energy has units UGX/kWh.</a:t>
            </a:r>
          </a:p>
        </p:txBody>
      </p:sp>
      <p:sp>
        <p:nvSpPr>
          <p:cNvPr id="8" name="">
            <a:extLst xmlns:a="http://schemas.openxmlformats.org/drawingml/2006/main">
              <a:ext uri="{FF2B5EF4-FFF2-40B4-BE49-F238E27FC236}">
                <a16:creationId xmlns:a16="http://schemas.microsoft.com/office/drawing/2014/main" id="{E2868ECC-1163-41AA-872D-E57A6BD907D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26</a:t>
            </a:r>
          </a:p>
        </p:txBody>
      </p:sp>
    </p:spTree>
    <p:extLst>
      <p:ext uri="{BB962C8B-B14F-4D97-AF65-F5344CB8AC3E}">
        <p14:creationId xmlns:p14="http://schemas.microsoft.com/office/powerpoint/2010/main" val="1279954087"/>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B3D04D9-5667-429A-B43A-3D0A3186861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EF51E6B-0373-4831-AF3A-DF8DEDFAA64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C51333B-3807-4D9A-B19B-6780F71FAC4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energy rate is cost divided by energy</a:t>
            </a:r>
          </a:p>
        </p:txBody>
      </p:sp>
      <p:sp>
        <p:nvSpPr>
          <p:cNvPr id="4" name="">
            <a:extLst xmlns:a="http://schemas.openxmlformats.org/drawingml/2006/main">
              <a:ext uri="{FF2B5EF4-FFF2-40B4-BE49-F238E27FC236}">
                <a16:creationId xmlns:a16="http://schemas.microsoft.com/office/drawing/2014/main" id="{8966BACB-C015-44FF-8B7A-98D9D5428BC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6A4425A-030A-48C5-A350-D7BFA123F87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df["cost_ugx"] = [1000, 2400, 3500, 5600]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df["rate_ugx_per_kwh"] = df["cost_ugx"] / df["kwh"]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print(df["rate_ugx_per_kwh"])</a:t>
            </a:r>
          </a:p>
        </p:txBody>
      </p:sp>
      <p:sp>
        <p:nvSpPr>
          <p:cNvPr id="6" name="">
            <a:extLst xmlns:a="http://schemas.openxmlformats.org/drawingml/2006/main">
              <a:ext uri="{FF2B5EF4-FFF2-40B4-BE49-F238E27FC236}">
                <a16:creationId xmlns:a16="http://schemas.microsoft.com/office/drawing/2014/main" id="{EDAF2E4F-07D2-459D-9A06-B1606F353499}"/>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print displays a value below the cell.</a:t>
            </a:r>
          </a:p>
        </p:txBody>
      </p:sp>
      <p:sp>
        <p:nvSpPr>
          <p:cNvPr id="7" name="">
            <a:extLst xmlns:a="http://schemas.openxmlformats.org/drawingml/2006/main">
              <a:ext uri="{FF2B5EF4-FFF2-40B4-BE49-F238E27FC236}">
                <a16:creationId xmlns:a16="http://schemas.microsoft.com/office/drawing/2014/main" id="{A6580895-3C0B-4078-8037-4CECE4BEB2D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rates: 500, 600, 700 and 800 UGX/kWh. Keep units in column names.</a:t>
            </a:r>
          </a:p>
        </p:txBody>
      </p:sp>
      <p:sp>
        <p:nvSpPr>
          <p:cNvPr id="8" name="">
            <a:extLst xmlns:a="http://schemas.openxmlformats.org/drawingml/2006/main">
              <a:ext uri="{FF2B5EF4-FFF2-40B4-BE49-F238E27FC236}">
                <a16:creationId xmlns:a16="http://schemas.microsoft.com/office/drawing/2014/main" id="{CE1BCC42-0909-416D-BBA7-AA7B6AD6F83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27</a:t>
            </a:r>
          </a:p>
        </p:txBody>
      </p:sp>
    </p:spTree>
    <p:extLst>
      <p:ext uri="{BB962C8B-B14F-4D97-AF65-F5344CB8AC3E}">
        <p14:creationId xmlns:p14="http://schemas.microsoft.com/office/powerpoint/2010/main" val="1057646967"/>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8AB8834-6947-4D0B-AF96-6E9F9F53253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804155B-BCBF-4C3E-94A9-A82B7004661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EC69B3D-E489-4D3E-A6C2-9D716D93ECD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 the assignment table before analysing it</a:t>
            </a:r>
          </a:p>
        </p:txBody>
      </p:sp>
      <p:sp>
        <p:nvSpPr>
          <p:cNvPr id="4" name="">
            <a:extLst xmlns:a="http://schemas.openxmlformats.org/drawingml/2006/main">
              <a:ext uri="{FF2B5EF4-FFF2-40B4-BE49-F238E27FC236}">
                <a16:creationId xmlns:a16="http://schemas.microsoft.com/office/drawing/2014/main" id="{DA894FA0-124C-4A40-BF19-B2074756BEF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C384F5D-94D7-422A-B829-0D3F24BD968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Upload campus_energy.csv to the current runtime first. read_csv reads it into a new DataFrame.</a:t>
            </a:r>
          </a:p>
        </p:txBody>
      </p:sp>
      <p:sp>
        <p:nvSpPr>
          <p:cNvPr id="6" name="">
            <a:extLst xmlns:a="http://schemas.openxmlformats.org/drawingml/2006/main">
              <a:ext uri="{FF2B5EF4-FFF2-40B4-BE49-F238E27FC236}">
                <a16:creationId xmlns:a16="http://schemas.microsoft.com/office/drawing/2014/main" id="{2049105B-81B4-4002-969E-7B0380AD918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E960871-0CA6-4069-A7DB-034CD32EBB7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head() displays the first five rows; shape gives row and column counts; dtypes shows column data types.</a:t>
            </a:r>
          </a:p>
        </p:txBody>
      </p:sp>
      <p:sp>
        <p:nvSpPr>
          <p:cNvPr id="8" name="">
            <a:extLst xmlns:a="http://schemas.openxmlformats.org/drawingml/2006/main">
              <a:ext uri="{FF2B5EF4-FFF2-40B4-BE49-F238E27FC236}">
                <a16:creationId xmlns:a16="http://schemas.microsoft.com/office/drawing/2014/main" id="{B7DEE567-EE21-4CC3-BACB-64AD83F9D76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3E4483F-463D-4A58-92FD-FCA9FC48290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call this issued_table to keep it separate from the invented four-row df used above.</a:t>
            </a:r>
          </a:p>
        </p:txBody>
      </p:sp>
      <p:sp>
        <p:nvSpPr>
          <p:cNvPr id="10" name="">
            <a:extLst xmlns:a="http://schemas.openxmlformats.org/drawingml/2006/main">
              <a:ext uri="{FF2B5EF4-FFF2-40B4-BE49-F238E27FC236}">
                <a16:creationId xmlns:a16="http://schemas.microsoft.com/office/drawing/2014/main" id="{83F6C7F8-5D3F-4E4D-8D63-A0AAB96B0F7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28</a:t>
            </a:r>
          </a:p>
        </p:txBody>
      </p:sp>
    </p:spTree>
    <p:extLst>
      <p:ext uri="{BB962C8B-B14F-4D97-AF65-F5344CB8AC3E}">
        <p14:creationId xmlns:p14="http://schemas.microsoft.com/office/powerpoint/2010/main" val="684981430"/>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534AAD6-0901-462F-A570-37F7F8E777B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5243130-8BE4-4E6A-9137-E5D80016D34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9850931-B4B4-4C32-8C93-E2D5D329DD7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Inspect the supplied energy file</a:t>
            </a:r>
          </a:p>
        </p:txBody>
      </p:sp>
      <p:sp>
        <p:nvSpPr>
          <p:cNvPr id="4" name="">
            <a:extLst xmlns:a="http://schemas.openxmlformats.org/drawingml/2006/main">
              <a:ext uri="{FF2B5EF4-FFF2-40B4-BE49-F238E27FC236}">
                <a16:creationId xmlns:a16="http://schemas.microsoft.com/office/drawing/2014/main" id="{D2651956-1149-4B62-9D11-D8FDC6302BA0}"/>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80810D0-FF9F-4039-8324-A6A4C5D8899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issued_table = pd.read_csv("campus_energy.csv")</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print(issued_table.head())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print(issued_table.shape)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print(issued_table.dtypes)</a:t>
            </a:r>
          </a:p>
        </p:txBody>
      </p:sp>
      <p:sp>
        <p:nvSpPr>
          <p:cNvPr id="6" name="">
            <a:extLst xmlns:a="http://schemas.openxmlformats.org/drawingml/2006/main">
              <a:ext uri="{FF2B5EF4-FFF2-40B4-BE49-F238E27FC236}">
                <a16:creationId xmlns:a16="http://schemas.microsoft.com/office/drawing/2014/main" id="{4EFE8582-3624-4184-A69D-982548AACAD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print displays a value below the cell.</a:t>
            </a:r>
          </a:p>
        </p:txBody>
      </p:sp>
      <p:sp>
        <p:nvSpPr>
          <p:cNvPr id="7" name="">
            <a:extLst xmlns:a="http://schemas.openxmlformats.org/drawingml/2006/main">
              <a:ext uri="{FF2B5EF4-FFF2-40B4-BE49-F238E27FC236}">
                <a16:creationId xmlns:a16="http://schemas.microsoft.com/office/drawing/2014/main" id="{1A149D26-1088-4F71-90A0-BB69CA40A43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Check column names, data types and units before attempting the six issued tasks.</a:t>
            </a:r>
          </a:p>
        </p:txBody>
      </p:sp>
      <p:sp>
        <p:nvSpPr>
          <p:cNvPr id="8" name="">
            <a:extLst xmlns:a="http://schemas.openxmlformats.org/drawingml/2006/main">
              <a:ext uri="{FF2B5EF4-FFF2-40B4-BE49-F238E27FC236}">
                <a16:creationId xmlns:a16="http://schemas.microsoft.com/office/drawing/2014/main" id="{733A7AAE-31EE-48C4-87B4-BAFC7D2C7AE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29</a:t>
            </a:r>
          </a:p>
        </p:txBody>
      </p:sp>
    </p:spTree>
    <p:extLst>
      <p:ext uri="{BB962C8B-B14F-4D97-AF65-F5344CB8AC3E}">
        <p14:creationId xmlns:p14="http://schemas.microsoft.com/office/powerpoint/2010/main" val="1013452118"/>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20FE4FE-8699-4C11-BEE1-4060F71F8A0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3987E44-D528-4757-92FB-3344F4B8537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2F9F3AF-DCDB-480B-8281-5DFEC8124EE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3692B521-B7D8-40CB-9F16-03C24D606461}"/>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1727ED8-8128-47B6-A271-A69D6684D45C}"/>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51334B7-249F-41B1-AD84-47919BB7416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Use &gt; 5 instead. Predict the surviving rows. Which building has the largest total?</a:t>
            </a:r>
          </a:p>
        </p:txBody>
      </p:sp>
      <p:sp>
        <p:nvSpPr>
          <p:cNvPr id="7" name="">
            <a:extLst xmlns:a="http://schemas.openxmlformats.org/drawingml/2006/main">
              <a:ext uri="{FF2B5EF4-FFF2-40B4-BE49-F238E27FC236}">
                <a16:creationId xmlns:a16="http://schemas.microsoft.com/office/drawing/2014/main" id="{F333EC8B-35E3-4530-AFBD-6B172A9860D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Only the row with 7 survives. Building B has the larger total, 12 kWh.</a:t>
            </a:r>
          </a:p>
        </p:txBody>
      </p:sp>
      <p:sp>
        <p:nvSpPr>
          <p:cNvPr id="8" name="">
            <a:extLst xmlns:a="http://schemas.openxmlformats.org/drawingml/2006/main">
              <a:ext uri="{FF2B5EF4-FFF2-40B4-BE49-F238E27FC236}">
                <a16:creationId xmlns:a16="http://schemas.microsoft.com/office/drawing/2014/main" id="{4250E11F-0293-4B53-ADA2-0D9A43A3B43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30</a:t>
            </a:r>
          </a:p>
        </p:txBody>
      </p:sp>
    </p:spTree>
    <p:extLst>
      <p:ext uri="{BB962C8B-B14F-4D97-AF65-F5344CB8AC3E}">
        <p14:creationId xmlns:p14="http://schemas.microsoft.com/office/powerpoint/2010/main" val="395724038"/>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B360CF4-C77B-4268-BED6-C386B73FC99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3129378-0235-4C74-9273-02A50513D41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F6AD406-EB31-4E83-9447-6A46ADCADA0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5FA767B3-70D0-4169-8349-D79B80050AA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DEFFD3E-F6BF-483E-8B48-104864AC0CC8}"/>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A5 uses the supplied fictional campus_energy.csv, not a live Kaggle download.</a:t>
            </a:r>
          </a:p>
        </p:txBody>
      </p:sp>
      <p:sp>
        <p:nvSpPr>
          <p:cNvPr id="6" name="">
            <a:extLst xmlns:a="http://schemas.openxmlformats.org/drawingml/2006/main">
              <a:ext uri="{FF2B5EF4-FFF2-40B4-BE49-F238E27FC236}">
                <a16:creationId xmlns:a16="http://schemas.microsoft.com/office/drawing/2014/main" id="{5ACFB8A5-B937-4CD2-8EBE-0290B0672EEC}"/>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32F9D73-492E-4604-A82F-C2DC50CCA38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six tasks use read_csv, nunique, division of columns, a &gt; filter, mean and grouped totals. idxmax returns the label of the largest value.</a:t>
            </a:r>
          </a:p>
        </p:txBody>
      </p:sp>
      <p:sp>
        <p:nvSpPr>
          <p:cNvPr id="8" name="">
            <a:extLst xmlns:a="http://schemas.openxmlformats.org/drawingml/2006/main">
              <a:ext uri="{FF2B5EF4-FFF2-40B4-BE49-F238E27FC236}">
                <a16:creationId xmlns:a16="http://schemas.microsoft.com/office/drawing/2014/main" id="{F05219C6-B743-4771-B758-267EC021B476}"/>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90172A5-E749-4661-99F0-0A6A73075CF4}"/>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mean of individual rates gives each observation equal weight.</a:t>
            </a:r>
          </a:p>
        </p:txBody>
      </p:sp>
      <p:sp>
        <p:nvSpPr>
          <p:cNvPr id="10" name="">
            <a:extLst xmlns:a="http://schemas.openxmlformats.org/drawingml/2006/main">
              <a:ext uri="{FF2B5EF4-FFF2-40B4-BE49-F238E27FC236}">
                <a16:creationId xmlns:a16="http://schemas.microsoft.com/office/drawing/2014/main" id="{36594E8A-8A50-40F7-AC92-EC2632CBB2E6}"/>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18622C0-63C3-440E-AD8D-A7FDC3B2CB64}"/>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Total cost divided by total energy weights by energy.</a:t>
            </a:r>
          </a:p>
        </p:txBody>
      </p:sp>
      <p:sp>
        <p:nvSpPr>
          <p:cNvPr id="12" name="">
            <a:extLst xmlns:a="http://schemas.openxmlformats.org/drawingml/2006/main">
              <a:ext uri="{FF2B5EF4-FFF2-40B4-BE49-F238E27FC236}">
                <a16:creationId xmlns:a16="http://schemas.microsoft.com/office/drawing/2014/main" id="{EAA1CEA8-6E65-48C3-93D4-8B03ACC2AF6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31</a:t>
            </a:r>
          </a:p>
        </p:txBody>
      </p:sp>
    </p:spTree>
    <p:extLst>
      <p:ext uri="{BB962C8B-B14F-4D97-AF65-F5344CB8AC3E}">
        <p14:creationId xmlns:p14="http://schemas.microsoft.com/office/powerpoint/2010/main" val="890237501"/>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0459B33-0E0B-4AF2-8C1C-0B7F2D10A26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71A224C-F176-46CB-A4BB-F32C7C3C451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31F27F6-233A-4333-BDF9-4CA881077AD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types and filters</a:t>
            </a:r>
          </a:p>
        </p:txBody>
      </p:sp>
      <p:sp>
        <p:nvSpPr>
          <p:cNvPr id="4" name="">
            <a:extLst xmlns:a="http://schemas.openxmlformats.org/drawingml/2006/main">
              <a:ext uri="{FF2B5EF4-FFF2-40B4-BE49-F238E27FC236}">
                <a16:creationId xmlns:a16="http://schemas.microsoft.com/office/drawing/2014/main" id="{EEE37B2C-DF8E-44CB-A205-6220E5C7986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95071F9-9C06-437D-85C8-20FDED2504D5}"/>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Boolean mask is a list-like column of True/False values. len(mask) counts all rows; mask.sum() counts True entries.</a:t>
            </a:r>
          </a:p>
        </p:txBody>
      </p:sp>
      <p:sp>
        <p:nvSpPr>
          <p:cNvPr id="6" name="">
            <a:extLst xmlns:a="http://schemas.openxmlformats.org/drawingml/2006/main">
              <a:ext uri="{FF2B5EF4-FFF2-40B4-BE49-F238E27FC236}">
                <a16:creationId xmlns:a16="http://schemas.microsoft.com/office/drawing/2014/main" id="{7A298D5A-DEFB-4FCF-84B7-F4BF4C5A5943}"/>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1D41DD5-29D8-4BDB-80CD-8B9A594A7E05}"/>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Strings sort as text, so "9" can rank above "100".</a:t>
            </a:r>
          </a:p>
        </p:txBody>
      </p:sp>
      <p:sp>
        <p:nvSpPr>
          <p:cNvPr id="8" name="">
            <a:extLst xmlns:a="http://schemas.openxmlformats.org/drawingml/2006/main">
              <a:ext uri="{FF2B5EF4-FFF2-40B4-BE49-F238E27FC236}">
                <a16:creationId xmlns:a16="http://schemas.microsoft.com/office/drawing/2014/main" id="{6C405B3C-FEDA-42A6-8F90-9903ACE5471A}"/>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CE0D178-7254-4144-9813-2A1922EBD71F}"/>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Inspect numeric types before taking maxima.</a:t>
            </a:r>
          </a:p>
        </p:txBody>
      </p:sp>
      <p:sp>
        <p:nvSpPr>
          <p:cNvPr id="10" name="">
            <a:extLst xmlns:a="http://schemas.openxmlformats.org/drawingml/2006/main">
              <a:ext uri="{FF2B5EF4-FFF2-40B4-BE49-F238E27FC236}">
                <a16:creationId xmlns:a16="http://schemas.microsoft.com/office/drawing/2014/main" id="{7E4C3B98-F14C-4C3B-8C7B-38D357B3A89F}"/>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C90E6A8-A1F9-4B64-AB55-5C136FC4603D}"/>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KeyError often means the column name does not match; check spelling, case and spaces. shape is (rows, columns).</a:t>
            </a:r>
          </a:p>
        </p:txBody>
      </p:sp>
      <p:sp>
        <p:nvSpPr>
          <p:cNvPr id="12" name="">
            <a:extLst xmlns:a="http://schemas.openxmlformats.org/drawingml/2006/main">
              <a:ext uri="{FF2B5EF4-FFF2-40B4-BE49-F238E27FC236}">
                <a16:creationId xmlns:a16="http://schemas.microsoft.com/office/drawing/2014/main" id="{4A14AB1C-59FC-48AE-971F-B140B4AE70C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32</a:t>
            </a:r>
          </a:p>
        </p:txBody>
      </p:sp>
    </p:spTree>
    <p:extLst>
      <p:ext uri="{BB962C8B-B14F-4D97-AF65-F5344CB8AC3E}">
        <p14:creationId xmlns:p14="http://schemas.microsoft.com/office/powerpoint/2010/main" val="1748719508"/>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10D6321-9F67-4C48-BC9F-9859A9531EF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D06F88F-6DB9-4533-B295-D425B772848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667E5C1-2049-41C9-A229-5ABC82172D9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types and filters continued</a:t>
            </a:r>
          </a:p>
        </p:txBody>
      </p:sp>
      <p:sp>
        <p:nvSpPr>
          <p:cNvPr id="4" name="">
            <a:extLst xmlns:a="http://schemas.openxmlformats.org/drawingml/2006/main">
              <a:ext uri="{FF2B5EF4-FFF2-40B4-BE49-F238E27FC236}">
                <a16:creationId xmlns:a16="http://schemas.microsoft.com/office/drawing/2014/main" id="{460409ED-4EF6-49A8-ADB0-C0CF301F3C8B}"/>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EAFD432-8D6E-4350-B0FE-E30870856D36}"/>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Read provenance and units before trusting a dataset.</a:t>
            </a:r>
          </a:p>
        </p:txBody>
      </p:sp>
      <p:sp>
        <p:nvSpPr>
          <p:cNvPr id="6" name="">
            <a:extLst xmlns:a="http://schemas.openxmlformats.org/drawingml/2006/main">
              <a:ext uri="{FF2B5EF4-FFF2-40B4-BE49-F238E27FC236}">
                <a16:creationId xmlns:a16="http://schemas.microsoft.com/office/drawing/2014/main" id="{881E0654-A1FD-454D-8AAA-25E7798DF8D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33</a:t>
            </a:r>
          </a:p>
        </p:txBody>
      </p:sp>
    </p:spTree>
    <p:extLst>
      <p:ext uri="{BB962C8B-B14F-4D97-AF65-F5344CB8AC3E}">
        <p14:creationId xmlns:p14="http://schemas.microsoft.com/office/powerpoint/2010/main" val="286733720"/>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A588230-7F7F-4BC7-A7B4-5D98CB715F8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5504047-6848-4A41-8043-E7B0C17897B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87C04E1-7B84-4534-A8B2-7F52E82AC4C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assignment</a:t>
            </a:r>
          </a:p>
        </p:txBody>
      </p:sp>
      <p:sp>
        <p:nvSpPr>
          <p:cNvPr id="4" name="">
            <a:extLst xmlns:a="http://schemas.openxmlformats.org/drawingml/2006/main">
              <a:ext uri="{FF2B5EF4-FFF2-40B4-BE49-F238E27FC236}">
                <a16:creationId xmlns:a16="http://schemas.microsoft.com/office/drawing/2014/main" id="{28447D47-2AB8-457A-9E8D-D8EC3C1D172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E51FCFA-F389-43CE-B1BD-3512E4F36D1C}"/>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W05_student.ipynb.</a:t>
            </a:r>
          </a:p>
        </p:txBody>
      </p:sp>
      <p:sp>
        <p:nvSpPr>
          <p:cNvPr id="6" name="">
            <a:extLst xmlns:a="http://schemas.openxmlformats.org/drawingml/2006/main">
              <a:ext uri="{FF2B5EF4-FFF2-40B4-BE49-F238E27FC236}">
                <a16:creationId xmlns:a16="http://schemas.microsoft.com/office/drawing/2014/main" id="{CFCA125F-5C23-4124-8909-4932CA2A2B46}"/>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63EDE62-D33E-4EDF-AD86-C3C83BAAC986}"/>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task and its input units before coding.</a:t>
            </a:r>
          </a:p>
        </p:txBody>
      </p:sp>
      <p:sp>
        <p:nvSpPr>
          <p:cNvPr id="8" name="">
            <a:extLst xmlns:a="http://schemas.openxmlformats.org/drawingml/2006/main">
              <a:ext uri="{FF2B5EF4-FFF2-40B4-BE49-F238E27FC236}">
                <a16:creationId xmlns:a16="http://schemas.microsoft.com/office/drawing/2014/main" id="{13645C1F-6DE1-4D8C-9E32-A21B60FF5475}"/>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BED7A7D-D9AC-411C-A226-15E719AEBFBA}"/>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required function names and returned outputs.</a:t>
            </a:r>
          </a:p>
        </p:txBody>
      </p:sp>
      <p:sp>
        <p:nvSpPr>
          <p:cNvPr id="10" name="">
            <a:extLst xmlns:a="http://schemas.openxmlformats.org/drawingml/2006/main">
              <a:ext uri="{FF2B5EF4-FFF2-40B4-BE49-F238E27FC236}">
                <a16:creationId xmlns:a16="http://schemas.microsoft.com/office/drawing/2014/main" id="{B5BC72C8-1F86-44CA-8025-588563C433F2}"/>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3A1F384-569B-4D04-9814-88F7064D0FCF}"/>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the supplied visible checks, then restart and run all.</a:t>
            </a:r>
          </a:p>
        </p:txBody>
      </p:sp>
      <p:sp>
        <p:nvSpPr>
          <p:cNvPr id="12" name="">
            <a:extLst xmlns:a="http://schemas.openxmlformats.org/drawingml/2006/main">
              <a:ext uri="{FF2B5EF4-FFF2-40B4-BE49-F238E27FC236}">
                <a16:creationId xmlns:a16="http://schemas.microsoft.com/office/drawing/2014/main" id="{9D235C56-F4B5-485D-A9C5-EAFFEC24733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34</a:t>
            </a:r>
          </a:p>
        </p:txBody>
      </p:sp>
    </p:spTree>
    <p:extLst>
      <p:ext uri="{BB962C8B-B14F-4D97-AF65-F5344CB8AC3E}">
        <p14:creationId xmlns:p14="http://schemas.microsoft.com/office/powerpoint/2010/main" val="771518633"/>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F829E83-2E7E-4DC2-AA6F-E4A546A6853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98AE567-B304-46B9-B7B1-544BD2324F1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3360FF2F-C141-47FC-A60A-E324414FA1E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q1: 3 marks</a:t>
            </a:r>
          </a:p>
        </p:txBody>
      </p:sp>
      <p:sp>
        <p:nvSpPr>
          <p:cNvPr id="4" name="">
            <a:extLst xmlns:a="http://schemas.openxmlformats.org/drawingml/2006/main">
              <a:ext uri="{FF2B5EF4-FFF2-40B4-BE49-F238E27FC236}">
                <a16:creationId xmlns:a16="http://schemas.microsoft.com/office/drawing/2014/main" id="{7A780723-5F26-45BE-82A3-873885CA0E19}"/>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2975E2C-C354-44E0-88C6-AF618581B721}"/>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Load campus_energy.csv into a DataFrame called df.</a:t>
            </a:r>
          </a:p>
        </p:txBody>
      </p:sp>
      <p:sp>
        <p:nvSpPr>
          <p:cNvPr id="6" name="">
            <a:extLst xmlns:a="http://schemas.openxmlformats.org/drawingml/2006/main">
              <a:ext uri="{FF2B5EF4-FFF2-40B4-BE49-F238E27FC236}">
                <a16:creationId xmlns:a16="http://schemas.microsoft.com/office/drawing/2014/main" id="{C1A7D2A9-B480-4238-BBD4-770CFC56055F}"/>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91AF3D8-9FED-4918-8501-4CE1708F4831}"/>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45947CB2-FAD2-4575-878E-6DD4C151E37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35</a:t>
            </a:r>
          </a:p>
        </p:txBody>
      </p:sp>
    </p:spTree>
    <p:extLst>
      <p:ext uri="{BB962C8B-B14F-4D97-AF65-F5344CB8AC3E}">
        <p14:creationId xmlns:p14="http://schemas.microsoft.com/office/powerpoint/2010/main" val="879343120"/>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ABF057E-4F0C-4E02-86B4-874DB6879B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E40409D-3CBD-4217-9F7E-62E9CC83567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7CEE7C0D-598D-482A-9882-15153586E13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q2: 3 marks</a:t>
            </a:r>
          </a:p>
        </p:txBody>
      </p:sp>
      <p:sp>
        <p:nvSpPr>
          <p:cNvPr id="4" name="">
            <a:extLst xmlns:a="http://schemas.openxmlformats.org/drawingml/2006/main">
              <a:ext uri="{FF2B5EF4-FFF2-40B4-BE49-F238E27FC236}">
                <a16:creationId xmlns:a16="http://schemas.microsoft.com/office/drawing/2014/main" id="{7A770660-A9B1-4D13-A9DD-267CC6B8CF2F}"/>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A987156-2D02-437D-A09E-0C1D30C274EA}"/>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n_meters to the number of distinct meters in the file.</a:t>
            </a:r>
          </a:p>
        </p:txBody>
      </p:sp>
      <p:sp>
        <p:nvSpPr>
          <p:cNvPr id="6" name="">
            <a:extLst xmlns:a="http://schemas.openxmlformats.org/drawingml/2006/main">
              <a:ext uri="{FF2B5EF4-FFF2-40B4-BE49-F238E27FC236}">
                <a16:creationId xmlns:a16="http://schemas.microsoft.com/office/drawing/2014/main" id="{B249A707-87F4-4258-9E6C-199CC28DBA19}"/>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F674D09-9BAD-4634-A1E0-B78C9DC5A2C1}"/>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F86A158E-13F4-4861-B0E3-EEBE546720D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36</a:t>
            </a:r>
          </a:p>
        </p:txBody>
      </p:sp>
    </p:spTree>
    <p:extLst>
      <p:ext uri="{BB962C8B-B14F-4D97-AF65-F5344CB8AC3E}">
        <p14:creationId xmlns:p14="http://schemas.microsoft.com/office/powerpoint/2010/main" val="1615480538"/>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3398C23-E055-4C20-9EE6-0CBB998616C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BD44788-B7A7-4B7C-B17D-CC26071AB3B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54705997-4B0D-41E4-A0C7-9AD68499754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q3: 4 marks</a:t>
            </a:r>
          </a:p>
        </p:txBody>
      </p:sp>
      <p:sp>
        <p:nvSpPr>
          <p:cNvPr id="4" name="">
            <a:extLst xmlns:a="http://schemas.openxmlformats.org/drawingml/2006/main">
              <a:ext uri="{FF2B5EF4-FFF2-40B4-BE49-F238E27FC236}">
                <a16:creationId xmlns:a16="http://schemas.microsoft.com/office/drawing/2014/main" id="{531FE395-D302-4A9F-AB1D-A84DB17BA086}"/>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94E360F-3B35-4A71-A8CE-3119475FC9B7}"/>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Add a column cost_per_kwh to df, equal to cost_ugx / kwh.</a:t>
            </a:r>
          </a:p>
        </p:txBody>
      </p:sp>
      <p:sp>
        <p:nvSpPr>
          <p:cNvPr id="6" name="">
            <a:extLst xmlns:a="http://schemas.openxmlformats.org/drawingml/2006/main">
              <a:ext uri="{FF2B5EF4-FFF2-40B4-BE49-F238E27FC236}">
                <a16:creationId xmlns:a16="http://schemas.microsoft.com/office/drawing/2014/main" id="{641C8664-F83A-472D-816F-C0A770E6166A}"/>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4ED6CFF-0369-4710-B158-4CE441484D48}"/>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3AC53D22-58C7-43D2-88C2-01E9F8277B5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37</a:t>
            </a:r>
          </a:p>
        </p:txBody>
      </p:sp>
    </p:spTree>
    <p:extLst>
      <p:ext uri="{BB962C8B-B14F-4D97-AF65-F5344CB8AC3E}">
        <p14:creationId xmlns:p14="http://schemas.microsoft.com/office/powerpoint/2010/main" val="863889625"/>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60D430E-3429-4DEC-B1B8-0D0D41643A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C99EAEC-ED7D-4E36-A09A-57F1072371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9E330784-C2D1-4BAA-8F01-5E19B264159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q4: 4 marks</a:t>
            </a:r>
          </a:p>
        </p:txBody>
      </p:sp>
      <p:sp>
        <p:nvSpPr>
          <p:cNvPr id="4" name="">
            <a:extLst xmlns:a="http://schemas.openxmlformats.org/drawingml/2006/main">
              <a:ext uri="{FF2B5EF4-FFF2-40B4-BE49-F238E27FC236}">
                <a16:creationId xmlns:a16="http://schemas.microsoft.com/office/drawing/2014/main" id="{2D394C32-D0FB-4A5E-B482-78F754C4F9FA}"/>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EB5E536-85B6-415C-88C5-BD723B8BEFDA}"/>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high_use to the rows of df where kwh is greater than 5000.</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Do this after q3 so the derived column comes along.</a:t>
            </a:r>
          </a:p>
        </p:txBody>
      </p:sp>
      <p:sp>
        <p:nvSpPr>
          <p:cNvPr id="6" name="">
            <a:extLst xmlns:a="http://schemas.openxmlformats.org/drawingml/2006/main">
              <a:ext uri="{FF2B5EF4-FFF2-40B4-BE49-F238E27FC236}">
                <a16:creationId xmlns:a16="http://schemas.microsoft.com/office/drawing/2014/main" id="{39FEA75D-1F1F-4955-8F38-094C6884B1D3}"/>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B89477C-7646-4612-901E-5C86EEF52FA6}"/>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64945FFA-0142-4401-A9E4-0A0DEDEE8ED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38</a:t>
            </a:r>
          </a:p>
        </p:txBody>
      </p:sp>
    </p:spTree>
    <p:extLst>
      <p:ext uri="{BB962C8B-B14F-4D97-AF65-F5344CB8AC3E}">
        <p14:creationId xmlns:p14="http://schemas.microsoft.com/office/powerpoint/2010/main" val="1821211518"/>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4D400AC-029F-4569-A841-06603F6D5F3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8003E70-C93F-4421-828F-6E6E2FC8D5E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F4D15928-2595-40B6-894E-C4EA298AC01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q5: 3 marks</a:t>
            </a:r>
          </a:p>
        </p:txBody>
      </p:sp>
      <p:sp>
        <p:nvSpPr>
          <p:cNvPr id="4" name="">
            <a:extLst xmlns:a="http://schemas.openxmlformats.org/drawingml/2006/main">
              <a:ext uri="{FF2B5EF4-FFF2-40B4-BE49-F238E27FC236}">
                <a16:creationId xmlns:a16="http://schemas.microsoft.com/office/drawing/2014/main" id="{F2D89620-D5C7-4596-911B-6723BB73FD9D}"/>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9040B37-A472-48F2-8935-0DAD3B278239}"/>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mean_cost_per_kwh to the mean of the cost_per_kwh column.</a:t>
            </a:r>
          </a:p>
        </p:txBody>
      </p:sp>
      <p:sp>
        <p:nvSpPr>
          <p:cNvPr id="6" name="">
            <a:extLst xmlns:a="http://schemas.openxmlformats.org/drawingml/2006/main">
              <a:ext uri="{FF2B5EF4-FFF2-40B4-BE49-F238E27FC236}">
                <a16:creationId xmlns:a16="http://schemas.microsoft.com/office/drawing/2014/main" id="{24FA233D-F6CA-4884-99EB-F978FA59DFF5}"/>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A45A108-8C00-42ED-8661-21693BA1E086}"/>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D46ED2B8-27CD-47AC-A19E-CFAAD5924BA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39</a:t>
            </a:r>
          </a:p>
        </p:txBody>
      </p:sp>
    </p:spTree>
    <p:extLst>
      <p:ext uri="{BB962C8B-B14F-4D97-AF65-F5344CB8AC3E}">
        <p14:creationId xmlns:p14="http://schemas.microsoft.com/office/powerpoint/2010/main" val="102046643"/>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6804297-3780-477C-B22F-DE80F1040BA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C51F14C-82E4-44F4-91C6-9E8C5856342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65357CD4-3674-400A-969B-58B4CA14B3A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q6: 3 marks</a:t>
            </a:r>
          </a:p>
        </p:txBody>
      </p:sp>
      <p:sp>
        <p:nvSpPr>
          <p:cNvPr id="4" name="">
            <a:extLst xmlns:a="http://schemas.openxmlformats.org/drawingml/2006/main">
              <a:ext uri="{FF2B5EF4-FFF2-40B4-BE49-F238E27FC236}">
                <a16:creationId xmlns:a16="http://schemas.microsoft.com/office/drawing/2014/main" id="{142D5A79-4CCF-4FB8-BEB4-A173C9C505E4}"/>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E39FEA4-D567-4B7B-BB94-F8E860C1F3E1}"/>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peak_building to the name of the building with the highest total kwh.</a:t>
            </a:r>
          </a:p>
        </p:txBody>
      </p:sp>
      <p:sp>
        <p:nvSpPr>
          <p:cNvPr id="6" name="">
            <a:extLst xmlns:a="http://schemas.openxmlformats.org/drawingml/2006/main">
              <a:ext uri="{FF2B5EF4-FFF2-40B4-BE49-F238E27FC236}">
                <a16:creationId xmlns:a16="http://schemas.microsoft.com/office/drawing/2014/main" id="{903927FA-DDF0-46A1-AC80-7137E7A55DA6}"/>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4AF3929-1CE9-4CD2-A46B-F63CE33EC263}"/>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4AB675F3-84EA-4A06-B0EE-6A4B194F719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40</a:t>
            </a:r>
          </a:p>
        </p:txBody>
      </p:sp>
    </p:spTree>
    <p:extLst>
      <p:ext uri="{BB962C8B-B14F-4D97-AF65-F5344CB8AC3E}">
        <p14:creationId xmlns:p14="http://schemas.microsoft.com/office/powerpoint/2010/main" val="1030835631"/>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4BA0690-1944-4E2A-A928-CAF419EE710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6CF6360-CD09-460E-B8DC-42208E9A4C2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43C5D256-6F8D-4C8E-8053-D06ECBBAF6C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Pandas investigation submission</a:t>
            </a:r>
          </a:p>
        </p:txBody>
      </p:sp>
      <p:sp>
        <p:nvSpPr>
          <p:cNvPr id="4" name="">
            <a:extLst xmlns:a="http://schemas.openxmlformats.org/drawingml/2006/main">
              <a:ext uri="{FF2B5EF4-FFF2-40B4-BE49-F238E27FC236}">
                <a16:creationId xmlns:a16="http://schemas.microsoft.com/office/drawing/2014/main" id="{603FABB8-D2EC-4861-8F21-1F2CFA39E69A}"/>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AC2B06F-7A40-4CAE-B88F-7509BAC8DD87}"/>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06 Oct 2026, 11:00 Kampala</a:t>
            </a:r>
          </a:p>
        </p:txBody>
      </p:sp>
      <p:sp>
        <p:nvSpPr>
          <p:cNvPr id="6" name="">
            <a:extLst xmlns:a="http://schemas.openxmlformats.org/drawingml/2006/main">
              <a:ext uri="{FF2B5EF4-FFF2-40B4-BE49-F238E27FC236}">
                <a16:creationId xmlns:a16="http://schemas.microsoft.com/office/drawing/2014/main" id="{4FB62764-740E-4254-B98A-9EEE33867F7B}"/>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7C18BBC-E364-437A-8C2A-7CE3B3EEB91B}"/>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13 Oct 2026, 11:00 Kampala</a:t>
            </a:r>
          </a:p>
        </p:txBody>
      </p:sp>
      <p:sp>
        <p:nvSpPr>
          <p:cNvPr id="8" name="">
            <a:extLst xmlns:a="http://schemas.openxmlformats.org/drawingml/2006/main">
              <a:ext uri="{FF2B5EF4-FFF2-40B4-BE49-F238E27FC236}">
                <a16:creationId xmlns:a16="http://schemas.microsoft.com/office/drawing/2014/main" id="{3CD815DE-80BE-4E1B-AC7D-1AAE9B602A0C}"/>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29B80D5-0D20-48AE-9555-6F39C89F9631}"/>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EEBD24B9-E65C-4867-869A-5023F3F5DAB7}"/>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E674375-6E55-4280-BF31-035A8B53FABF}"/>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C17AC10F-9412-4D46-A9BB-38D31DB5FA68}"/>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AEB06A1-A520-4724-96AA-F29D1BBE1B06}"/>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079c9fe10a474562"/>
              </a:rPr>
              <a:t>Open W05 assignment form</a:t>
            </a:r>
          </a:p>
        </p:txBody>
      </p:sp>
      <p:sp>
        <p:nvSpPr>
          <p:cNvPr id="14" name="">
            <a:extLst xmlns:a="http://schemas.openxmlformats.org/drawingml/2006/main">
              <a:ext uri="{FF2B5EF4-FFF2-40B4-BE49-F238E27FC236}">
                <a16:creationId xmlns:a16="http://schemas.microsoft.com/office/drawing/2014/main" id="{C84C7215-2D83-49E0-96F0-2E01D2AE165B}"/>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https://docs.google.com/forms/d/e/1FAIpQLSeP_Eykf3YDYN_6sbB5to0B3LX14fsujEVPhsp8UezRZXTNGw/viewform</a:t>
            </a:r>
          </a:p>
        </p:txBody>
      </p:sp>
      <p:sp>
        <p:nvSpPr>
          <p:cNvPr id="15" name="">
            <a:extLst xmlns:a="http://schemas.openxmlformats.org/drawingml/2006/main">
              <a:ext uri="{FF2B5EF4-FFF2-40B4-BE49-F238E27FC236}">
                <a16:creationId xmlns:a16="http://schemas.microsoft.com/office/drawing/2014/main" id="{B1E37845-4317-4843-A08D-8FE3B3EF8F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41</a:t>
            </a:r>
          </a:p>
        </p:txBody>
      </p:sp>
    </p:spTree>
    <p:extLst>
      <p:ext uri="{BB962C8B-B14F-4D97-AF65-F5344CB8AC3E}">
        <p14:creationId xmlns:p14="http://schemas.microsoft.com/office/powerpoint/2010/main" val="1900598675"/>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6E7C3DC-A6A3-4C03-A210-E253839DBB1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1B2CF66-18CC-46D0-9BC8-9734E42FEB9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BFECD29-8F1C-4B63-B8A8-25A7A54B18B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B0510114-12CE-40DD-8477-2098DA5F111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A10527D-8DBA-445C-B141-60B5D89893A1}"/>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data analysis project brief.</a:t>
            </a:r>
          </a:p>
        </p:txBody>
      </p:sp>
      <p:sp>
        <p:nvSpPr>
          <p:cNvPr id="6" name="">
            <a:extLst xmlns:a="http://schemas.openxmlformats.org/drawingml/2006/main">
              <a:ext uri="{FF2B5EF4-FFF2-40B4-BE49-F238E27FC236}">
                <a16:creationId xmlns:a16="http://schemas.microsoft.com/office/drawing/2014/main" id="{43AC6BB6-E2D2-460D-A4B5-4B890A28F1C4}"/>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F1E25FC-587E-4F67-8179-8083D9F07BFC}"/>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8A21B299-EA30-4C5E-A5AC-837797D2A5D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1032829-2C48-4138-AFD2-8C6E7B19D38F}"/>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08338CEC-084D-4BC2-8235-8E16F872C0BE}"/>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106C0B1-A1A7-481C-AD76-6D2DBAC82855}"/>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27 Oct 2026, 11:00 Kampala</a:t>
            </a:r>
          </a:p>
        </p:txBody>
      </p:sp>
      <p:sp>
        <p:nvSpPr>
          <p:cNvPr id="12" name="">
            <a:extLst xmlns:a="http://schemas.openxmlformats.org/drawingml/2006/main">
              <a:ext uri="{FF2B5EF4-FFF2-40B4-BE49-F238E27FC236}">
                <a16:creationId xmlns:a16="http://schemas.microsoft.com/office/drawing/2014/main" id="{C624B4F4-4838-4924-A12D-222E653BEE9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42</a:t>
            </a:r>
          </a:p>
        </p:txBody>
      </p:sp>
    </p:spTree>
    <p:extLst>
      <p:ext uri="{BB962C8B-B14F-4D97-AF65-F5344CB8AC3E}">
        <p14:creationId xmlns:p14="http://schemas.microsoft.com/office/powerpoint/2010/main" val="1707527251"/>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D5BAF810-A0F0-4C2B-AB18-DBFEAECE9C8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8024729-F061-4024-8896-4FCD5442E37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2E1BA649-F6CF-46BE-BE3E-648A5623832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5 quiz</a:t>
            </a:r>
          </a:p>
        </p:txBody>
      </p:sp>
      <p:sp>
        <p:nvSpPr>
          <p:cNvPr id="4" name="">
            <a:extLst xmlns:a="http://schemas.openxmlformats.org/drawingml/2006/main">
              <a:ext uri="{FF2B5EF4-FFF2-40B4-BE49-F238E27FC236}">
                <a16:creationId xmlns:a16="http://schemas.microsoft.com/office/drawing/2014/main" id="{A8BE0EAF-C2CD-4A85-83F3-E6457D9DC228}"/>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C86ADA4-A612-472F-8B47-6A0768DAECB1}"/>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14D6B470-F8BA-4097-B05D-F5D3210B786B}"/>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6687214-740E-4D08-B6ED-C638962C47F4}"/>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F01A9876-9F60-495F-879A-9346D7313B3C}"/>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974E269-2ED8-4504-9377-F0DE015ED5FB}"/>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FFD444B7-2D3E-4885-B9F3-62EB71632295}"/>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20FDC8E-9FEB-40FB-8851-43FD1AC1F894}"/>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7c0f3082c05c4e13"/>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E954641C-51BB-4C88-A2DB-ADC79D8AF9A2}"/>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E96A2A75-4889-4878-ACFD-79FFD6196C77}"/>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7C677F04-1FAE-4242-ADA4-EFEF45F445B9}"/>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3b32fd13ac1e43bd"/>
              </a:rPr>
              <a:t>Open this week’s quiz</a:t>
            </a:r>
          </a:p>
        </p:txBody>
      </p:sp>
      <p:sp>
        <p:nvSpPr>
          <p:cNvPr id="16" name="">
            <a:extLst xmlns:a="http://schemas.openxmlformats.org/drawingml/2006/main">
              <a:ext uri="{FF2B5EF4-FFF2-40B4-BE49-F238E27FC236}">
                <a16:creationId xmlns:a16="http://schemas.microsoft.com/office/drawing/2014/main" id="{2F5A488F-8371-46EE-B53A-30CFAC18B403}"/>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https://forms.gle/Ykncf1mmEbvghZgJ6</a:t>
            </a:r>
          </a:p>
        </p:txBody>
      </p:sp>
      <p:sp>
        <p:nvSpPr>
          <p:cNvPr id="17" name="">
            <a:extLst xmlns:a="http://schemas.openxmlformats.org/drawingml/2006/main">
              <a:ext uri="{FF2B5EF4-FFF2-40B4-BE49-F238E27FC236}">
                <a16:creationId xmlns:a16="http://schemas.microsoft.com/office/drawing/2014/main" id="{12C0F8F8-A7F0-4E78-B843-F16A2E69115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43</a:t>
            </a:r>
          </a:p>
        </p:txBody>
      </p:sp>
    </p:spTree>
    <p:extLst>
      <p:ext uri="{BB962C8B-B14F-4D97-AF65-F5344CB8AC3E}">
        <p14:creationId xmlns:p14="http://schemas.microsoft.com/office/powerpoint/2010/main" val="139083833"/>
      </p:ext>
    </p:extLst>
  </p:cSld>
</p:sld>
</file>

<file path=ppt/slides/slide4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69CD855-DEA0-43E4-B9E2-273E3E15E02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CC2C88DC-9A92-42F0-B605-AA4F9C36541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DB78DA67-2EE8-4B19-91E7-0A6653BD7364}"/>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740AE671-36C3-4CDB-B088-3F3CF9CF9449}"/>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explain which observations a filter keeps and what a grouped total means.</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BD5C14C7-207A-4357-8CDC-801CADD66DEE}"/>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117AAB5A-4B68-4B03-92D7-1E3C39A5B5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5   44</a:t>
            </a:r>
          </a:p>
        </p:txBody>
      </p:sp>
    </p:spTree>
    <p:extLst>
      <p:ext uri="{BB962C8B-B14F-4D97-AF65-F5344CB8AC3E}">
        <p14:creationId xmlns:p14="http://schemas.microsoft.com/office/powerpoint/2010/main" val="44352126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2026-09-28T21:42:33.8540000Z</dcterms:created>
  <dcterms:modified xsi:type="dcterms:W3CDTF">2026-09-28T21:42:33.8540000Z</dcterms:modified>
</coreProperties>
</file>