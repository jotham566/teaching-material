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68ef984bb9045d8" /><Relationship Type="http://schemas.openxmlformats.org/officeDocument/2006/relationships/extended-properties" Target="/docProps/app.xml" Id="R90524134e5b146c9" /><Relationship Type="http://schemas.openxmlformats.org/officeDocument/2006/relationships/officeDocument" Target="/ppt/presentation.xml" Id="R9c39ce357b1c40fb" /></Relationships>
</file>

<file path=ppt/presentation.xml><?xml version="1.0" encoding="utf-8"?>
<p:presentation xmlns:p="http://schemas.openxmlformats.org/presentationml/2006/main">
  <p:sldMasterIdLst>
    <p:sldMasterId xmlns:r="http://schemas.openxmlformats.org/officeDocument/2006/relationships" id="2147483648" r:id="Rcbc4c27c561a4abd"/>
  </p:sldMasterIdLst>
  <p:notesMasterIdLst>
    <p:notesMasterId xmlns:r="http://schemas.openxmlformats.org/officeDocument/2006/relationships" r:id="Rfee844919c064340"/>
  </p:notesMasterIdLst>
  <p:sldIdLst>
    <p:sldId xmlns:r="http://schemas.openxmlformats.org/officeDocument/2006/relationships" id="256" r:id="Rabd731ab97b846bf"/>
    <p:sldId xmlns:r="http://schemas.openxmlformats.org/officeDocument/2006/relationships" id="257" r:id="R17c5c029b5ae428d"/>
    <p:sldId xmlns:r="http://schemas.openxmlformats.org/officeDocument/2006/relationships" id="258" r:id="R7bef6278b8d9412b"/>
    <p:sldId xmlns:r="http://schemas.openxmlformats.org/officeDocument/2006/relationships" id="259" r:id="R0b8ce249abf54c15"/>
    <p:sldId xmlns:r="http://schemas.openxmlformats.org/officeDocument/2006/relationships" id="260" r:id="Rf38d5307e8704776"/>
    <p:sldId xmlns:r="http://schemas.openxmlformats.org/officeDocument/2006/relationships" id="261" r:id="R79ef18aaa9d8432a"/>
    <p:sldId xmlns:r="http://schemas.openxmlformats.org/officeDocument/2006/relationships" id="262" r:id="R23749393fe7b4d88"/>
    <p:sldId xmlns:r="http://schemas.openxmlformats.org/officeDocument/2006/relationships" id="263" r:id="R5de33689217f4ca6"/>
    <p:sldId xmlns:r="http://schemas.openxmlformats.org/officeDocument/2006/relationships" id="264" r:id="Rfe46718432904fcd"/>
    <p:sldId xmlns:r="http://schemas.openxmlformats.org/officeDocument/2006/relationships" id="265" r:id="Rc32f125116354013"/>
    <p:sldId xmlns:r="http://schemas.openxmlformats.org/officeDocument/2006/relationships" id="266" r:id="R34fea31943a847bb"/>
    <p:sldId xmlns:r="http://schemas.openxmlformats.org/officeDocument/2006/relationships" id="267" r:id="R1afe0bead27a4457"/>
    <p:sldId xmlns:r="http://schemas.openxmlformats.org/officeDocument/2006/relationships" id="268" r:id="R85b306a8c3fb4511"/>
    <p:sldId xmlns:r="http://schemas.openxmlformats.org/officeDocument/2006/relationships" id="269" r:id="Ra3f8067e197348cc"/>
    <p:sldId xmlns:r="http://schemas.openxmlformats.org/officeDocument/2006/relationships" id="270" r:id="R911bbc15aece404d"/>
    <p:sldId xmlns:r="http://schemas.openxmlformats.org/officeDocument/2006/relationships" id="271" r:id="Ra2f1a936e7344320"/>
    <p:sldId xmlns:r="http://schemas.openxmlformats.org/officeDocument/2006/relationships" id="272" r:id="R6fa60ac4537d46a8"/>
    <p:sldId xmlns:r="http://schemas.openxmlformats.org/officeDocument/2006/relationships" id="273" r:id="R480fbdc3ff0f472a"/>
    <p:sldId xmlns:r="http://schemas.openxmlformats.org/officeDocument/2006/relationships" id="274" r:id="R148925aaee06479c"/>
    <p:sldId xmlns:r="http://schemas.openxmlformats.org/officeDocument/2006/relationships" id="275" r:id="Rfdb5a6cfc8c148b1"/>
    <p:sldId xmlns:r="http://schemas.openxmlformats.org/officeDocument/2006/relationships" id="276" r:id="Rded66535ad3c4895"/>
    <p:sldId xmlns:r="http://schemas.openxmlformats.org/officeDocument/2006/relationships" id="277" r:id="Rf047751d83694724"/>
    <p:sldId xmlns:r="http://schemas.openxmlformats.org/officeDocument/2006/relationships" id="278" r:id="Rffe0558d08774851"/>
    <p:sldId xmlns:r="http://schemas.openxmlformats.org/officeDocument/2006/relationships" id="279" r:id="R1f57b228d8c24f18"/>
    <p:sldId xmlns:r="http://schemas.openxmlformats.org/officeDocument/2006/relationships" id="280" r:id="R95779f6f2aad4e94"/>
    <p:sldId xmlns:r="http://schemas.openxmlformats.org/officeDocument/2006/relationships" id="281" r:id="Rd1b759969dfc4469"/>
    <p:sldId xmlns:r="http://schemas.openxmlformats.org/officeDocument/2006/relationships" id="282" r:id="R7431c134f44e4e34"/>
    <p:sldId xmlns:r="http://schemas.openxmlformats.org/officeDocument/2006/relationships" id="283" r:id="Re0fac11c9d9045c5"/>
    <p:sldId xmlns:r="http://schemas.openxmlformats.org/officeDocument/2006/relationships" id="284" r:id="Rf8b73374892048ed"/>
    <p:sldId xmlns:r="http://schemas.openxmlformats.org/officeDocument/2006/relationships" id="285" r:id="R669ccca4be3e4a39"/>
    <p:sldId xmlns:r="http://schemas.openxmlformats.org/officeDocument/2006/relationships" id="286" r:id="R97c02031b4df4282"/>
    <p:sldId xmlns:r="http://schemas.openxmlformats.org/officeDocument/2006/relationships" id="287" r:id="R18c2425687d3430f"/>
    <p:sldId xmlns:r="http://schemas.openxmlformats.org/officeDocument/2006/relationships" id="288" r:id="R3aec9531795840e0"/>
    <p:sldId xmlns:r="http://schemas.openxmlformats.org/officeDocument/2006/relationships" id="289" r:id="Ree3fa32a2a564c55"/>
    <p:sldId xmlns:r="http://schemas.openxmlformats.org/officeDocument/2006/relationships" id="290" r:id="Rce773bb3810a4bcd"/>
    <p:sldId xmlns:r="http://schemas.openxmlformats.org/officeDocument/2006/relationships" id="291" r:id="R30b3a8b13d494763"/>
    <p:sldId xmlns:r="http://schemas.openxmlformats.org/officeDocument/2006/relationships" id="292" r:id="R2db242f74ba64f29"/>
    <p:sldId xmlns:r="http://schemas.openxmlformats.org/officeDocument/2006/relationships" id="293" r:id="R4176746181004c9e"/>
    <p:sldId xmlns:r="http://schemas.openxmlformats.org/officeDocument/2006/relationships" id="294" r:id="R4df73f1475b440f4"/>
    <p:sldId xmlns:r="http://schemas.openxmlformats.org/officeDocument/2006/relationships" id="295" r:id="Rf1684bffef51468a"/>
    <p:sldId xmlns:r="http://schemas.openxmlformats.org/officeDocument/2006/relationships" id="296" r:id="R022270e52a434870"/>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ac2c2e7dbeb4d8b" /><Relationship Type="http://schemas.openxmlformats.org/officeDocument/2006/relationships/slideMaster" Target="/ppt/slideMasters/slideMaster1.xml" Id="Rcbc4c27c561a4abd" /><Relationship Type="http://schemas.openxmlformats.org/officeDocument/2006/relationships/notesMaster" Target="/ppt/notesMasters/notesMaster1.xml" Id="Rfee844919c064340" /><Relationship Type="http://schemas.openxmlformats.org/officeDocument/2006/relationships/presProps" Target="/ppt/presProps.xml" Id="R0c08a2f38ddc4cc7" /><Relationship Type="http://schemas.openxmlformats.org/officeDocument/2006/relationships/tableStyles" Target="/ppt/tableStyles.xml" Id="R4e59c225b6f54c6d" /><Relationship Type="http://schemas.openxmlformats.org/officeDocument/2006/relationships/slide" Target="/ppt/slides/slide1.xml" Id="Rabd731ab97b846bf" /><Relationship Type="http://schemas.openxmlformats.org/officeDocument/2006/relationships/slide" Target="/ppt/slides/slide2.xml" Id="R17c5c029b5ae428d" /><Relationship Type="http://schemas.openxmlformats.org/officeDocument/2006/relationships/slide" Target="/ppt/slides/slide3.xml" Id="R7bef6278b8d9412b" /><Relationship Type="http://schemas.openxmlformats.org/officeDocument/2006/relationships/slide" Target="/ppt/slides/slide4.xml" Id="R0b8ce249abf54c15" /><Relationship Type="http://schemas.openxmlformats.org/officeDocument/2006/relationships/slide" Target="/ppt/slides/slide5.xml" Id="Rf38d5307e8704776" /><Relationship Type="http://schemas.openxmlformats.org/officeDocument/2006/relationships/slide" Target="/ppt/slides/slide6.xml" Id="R79ef18aaa9d8432a" /><Relationship Type="http://schemas.openxmlformats.org/officeDocument/2006/relationships/slide" Target="/ppt/slides/slide7.xml" Id="R23749393fe7b4d88" /><Relationship Type="http://schemas.openxmlformats.org/officeDocument/2006/relationships/slide" Target="/ppt/slides/slide8.xml" Id="R5de33689217f4ca6" /><Relationship Type="http://schemas.openxmlformats.org/officeDocument/2006/relationships/slide" Target="/ppt/slides/slide9.xml" Id="Rfe46718432904fcd" /><Relationship Type="http://schemas.openxmlformats.org/officeDocument/2006/relationships/slide" Target="/ppt/slides/slide10.xml" Id="Rc32f125116354013" /><Relationship Type="http://schemas.openxmlformats.org/officeDocument/2006/relationships/slide" Target="/ppt/slides/slide11.xml" Id="R34fea31943a847bb" /><Relationship Type="http://schemas.openxmlformats.org/officeDocument/2006/relationships/slide" Target="/ppt/slides/slide12.xml" Id="R1afe0bead27a4457" /><Relationship Type="http://schemas.openxmlformats.org/officeDocument/2006/relationships/slide" Target="/ppt/slides/slide13.xml" Id="R85b306a8c3fb4511" /><Relationship Type="http://schemas.openxmlformats.org/officeDocument/2006/relationships/slide" Target="/ppt/slides/slide14.xml" Id="Ra3f8067e197348cc" /><Relationship Type="http://schemas.openxmlformats.org/officeDocument/2006/relationships/slide" Target="/ppt/slides/slide15.xml" Id="R911bbc15aece404d" /><Relationship Type="http://schemas.openxmlformats.org/officeDocument/2006/relationships/slide" Target="/ppt/slides/slide16.xml" Id="Ra2f1a936e7344320" /><Relationship Type="http://schemas.openxmlformats.org/officeDocument/2006/relationships/slide" Target="/ppt/slides/slide17.xml" Id="R6fa60ac4537d46a8" /><Relationship Type="http://schemas.openxmlformats.org/officeDocument/2006/relationships/slide" Target="/ppt/slides/slide18.xml" Id="R480fbdc3ff0f472a" /><Relationship Type="http://schemas.openxmlformats.org/officeDocument/2006/relationships/slide" Target="/ppt/slides/slide19.xml" Id="R148925aaee06479c" /><Relationship Type="http://schemas.openxmlformats.org/officeDocument/2006/relationships/slide" Target="/ppt/slides/slide20.xml" Id="Rfdb5a6cfc8c148b1" /><Relationship Type="http://schemas.openxmlformats.org/officeDocument/2006/relationships/slide" Target="/ppt/slides/slide21.xml" Id="Rded66535ad3c4895" /><Relationship Type="http://schemas.openxmlformats.org/officeDocument/2006/relationships/slide" Target="/ppt/slides/slide22.xml" Id="Rf047751d83694724" /><Relationship Type="http://schemas.openxmlformats.org/officeDocument/2006/relationships/slide" Target="/ppt/slides/slide23.xml" Id="Rffe0558d08774851" /><Relationship Type="http://schemas.openxmlformats.org/officeDocument/2006/relationships/slide" Target="/ppt/slides/slide24.xml" Id="R1f57b228d8c24f18" /><Relationship Type="http://schemas.openxmlformats.org/officeDocument/2006/relationships/slide" Target="/ppt/slides/slide25.xml" Id="R95779f6f2aad4e94" /><Relationship Type="http://schemas.openxmlformats.org/officeDocument/2006/relationships/slide" Target="/ppt/slides/slide26.xml" Id="Rd1b759969dfc4469" /><Relationship Type="http://schemas.openxmlformats.org/officeDocument/2006/relationships/slide" Target="/ppt/slides/slide27.xml" Id="R7431c134f44e4e34" /><Relationship Type="http://schemas.openxmlformats.org/officeDocument/2006/relationships/slide" Target="/ppt/slides/slide28.xml" Id="Re0fac11c9d9045c5" /><Relationship Type="http://schemas.openxmlformats.org/officeDocument/2006/relationships/slide" Target="/ppt/slides/slide29.xml" Id="Rf8b73374892048ed" /><Relationship Type="http://schemas.openxmlformats.org/officeDocument/2006/relationships/slide" Target="/ppt/slides/slide30.xml" Id="R669ccca4be3e4a39" /><Relationship Type="http://schemas.openxmlformats.org/officeDocument/2006/relationships/slide" Target="/ppt/slides/slide31.xml" Id="R97c02031b4df4282" /><Relationship Type="http://schemas.openxmlformats.org/officeDocument/2006/relationships/slide" Target="/ppt/slides/slide32.xml" Id="R18c2425687d3430f" /><Relationship Type="http://schemas.openxmlformats.org/officeDocument/2006/relationships/slide" Target="/ppt/slides/slide33.xml" Id="R3aec9531795840e0" /><Relationship Type="http://schemas.openxmlformats.org/officeDocument/2006/relationships/slide" Target="/ppt/slides/slide34.xml" Id="Ree3fa32a2a564c55" /><Relationship Type="http://schemas.openxmlformats.org/officeDocument/2006/relationships/slide" Target="/ppt/slides/slide35.xml" Id="Rce773bb3810a4bcd" /><Relationship Type="http://schemas.openxmlformats.org/officeDocument/2006/relationships/slide" Target="/ppt/slides/slide36.xml" Id="R30b3a8b13d494763" /><Relationship Type="http://schemas.openxmlformats.org/officeDocument/2006/relationships/slide" Target="/ppt/slides/slide37.xml" Id="R2db242f74ba64f29" /><Relationship Type="http://schemas.openxmlformats.org/officeDocument/2006/relationships/slide" Target="/ppt/slides/slide38.xml" Id="R4176746181004c9e" /><Relationship Type="http://schemas.openxmlformats.org/officeDocument/2006/relationships/slide" Target="/ppt/slides/slide39.xml" Id="R4df73f1475b440f4" /><Relationship Type="http://schemas.openxmlformats.org/officeDocument/2006/relationships/slide" Target="/ppt/slides/slide40.xml" Id="Rf1684bffef51468a" /><Relationship Type="http://schemas.openxmlformats.org/officeDocument/2006/relationships/slide" Target="/ppt/slides/slide41.xml" Id="R022270e52a43487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f246ac28912487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19bfb1ae45d4a67" /><Relationship Type="http://schemas.openxmlformats.org/officeDocument/2006/relationships/notesMaster" Target="/ppt/notesMasters/notesMaster1.xml" Id="R65368c30657f4ed0" /></Relationships>
</file>

<file path=ppt/notesSlides/_rels/notesSlide2.xml.rels>&#65279;<?xml version="1.0" encoding="utf-8"?><Relationships xmlns="http://schemas.openxmlformats.org/package/2006/relationships"><Relationship Type="http://schemas.openxmlformats.org/officeDocument/2006/relationships/slide" Target="/ppt/slides/slide2.xml" Id="Rfd801c163dda47d8" /><Relationship Type="http://schemas.openxmlformats.org/officeDocument/2006/relationships/notesMaster" Target="/ppt/notesMasters/notesMaster1.xml" Id="R5b246eb3f6594870" /></Relationships>
</file>

<file path=ppt/notesSlides/_rels/notesSlide3.xml.rels>&#65279;<?xml version="1.0" encoding="utf-8"?><Relationships xmlns="http://schemas.openxmlformats.org/package/2006/relationships"><Relationship Type="http://schemas.openxmlformats.org/officeDocument/2006/relationships/slide" Target="/ppt/slides/slide3.xml" Id="R65a9a812e34340b2" /><Relationship Type="http://schemas.openxmlformats.org/officeDocument/2006/relationships/notesMaster" Target="/ppt/notesMasters/notesMaster1.xml" Id="R32f1e15b907748ad"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1d8923a3b34505" /><Relationship Type="http://schemas.openxmlformats.org/officeDocument/2006/relationships/notesMaster" Target="/ppt/notesMasters/notesMaster1.xml" Id="R3bf2b4fa4ae94b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171ac02a315243cf" /><Relationship Type="http://schemas.openxmlformats.org/officeDocument/2006/relationships/notesMaster" Target="/ppt/notesMasters/notesMaster1.xml" Id="Rdfe0ac6eefc0494e" /></Relationships>
</file>

<file path=ppt/notesSlides/_rels/notesSlide6.xml.rels>&#65279;<?xml version="1.0" encoding="utf-8"?><Relationships xmlns="http://schemas.openxmlformats.org/package/2006/relationships"><Relationship Type="http://schemas.openxmlformats.org/officeDocument/2006/relationships/slide" Target="/ppt/slides/slide6.xml" Id="Rafd7839fe6a641a2" /><Relationship Type="http://schemas.openxmlformats.org/officeDocument/2006/relationships/notesMaster" Target="/ppt/notesMasters/notesMaster1.xml" Id="Rbe0df2c898134d9e" /></Relationships>
</file>

<file path=ppt/notesSlides/_rels/notesSlide7.xml.rels>&#65279;<?xml version="1.0" encoding="utf-8"?><Relationships xmlns="http://schemas.openxmlformats.org/package/2006/relationships"><Relationship Type="http://schemas.openxmlformats.org/officeDocument/2006/relationships/slide" Target="/ppt/slides/slide7.xml" Id="R19973f5674a443c4" /><Relationship Type="http://schemas.openxmlformats.org/officeDocument/2006/relationships/notesMaster" Target="/ppt/notesMasters/notesMaster1.xml" Id="Ra12f84088e07427b"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175e13327d4188" /><Relationship Type="http://schemas.openxmlformats.org/officeDocument/2006/relationships/notesMaster" Target="/ppt/notesMasters/notesMaster1.xml" Id="R63abfa85be8942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3bd196fd81624c30" /><Relationship Type="http://schemas.openxmlformats.org/officeDocument/2006/relationships/notesMaster" Target="/ppt/notesMasters/notesMaster1.xml" Id="Rdb1f1d30f16d4d3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aa2100e94d942e7" /><Relationship Type="http://schemas.openxmlformats.org/officeDocument/2006/relationships/notesMaster" Target="/ppt/notesMasters/notesMaster1.xml" Id="Rba10af91e97d432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61c7bb339de4008" /><Relationship Type="http://schemas.openxmlformats.org/officeDocument/2006/relationships/notesMaster" Target="/ppt/notesMasters/notesMaster1.xml" Id="R9eac5ba905c448e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22042bd20434da3" /><Relationship Type="http://schemas.openxmlformats.org/officeDocument/2006/relationships/notesMaster" Target="/ppt/notesMasters/notesMaster1.xml" Id="Re78409eb8c2c4c8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6fb0453abc14733" /><Relationship Type="http://schemas.openxmlformats.org/officeDocument/2006/relationships/notesMaster" Target="/ppt/notesMasters/notesMaster1.xml" Id="R18dd3dd918f1457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474983e77ba4c45" /><Relationship Type="http://schemas.openxmlformats.org/officeDocument/2006/relationships/notesMaster" Target="/ppt/notesMasters/notesMaster1.xml" Id="R360e1429f291408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bb2332c1ea3418d" /><Relationship Type="http://schemas.openxmlformats.org/officeDocument/2006/relationships/notesMaster" Target="/ppt/notesMasters/notesMaster1.xml" Id="Rdfe5c69000a646f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07e74439a7b4e7c" /><Relationship Type="http://schemas.openxmlformats.org/officeDocument/2006/relationships/notesMaster" Target="/ppt/notesMasters/notesMaster1.xml" Id="Rc3abf09d2e094f3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4754b550ce4431" /><Relationship Type="http://schemas.openxmlformats.org/officeDocument/2006/relationships/notesMaster" Target="/ppt/notesMasters/notesMaster1.xml" Id="R269c67f2663a494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1f470d393f8402a" /><Relationship Type="http://schemas.openxmlformats.org/officeDocument/2006/relationships/notesMaster" Target="/ppt/notesMasters/notesMaster1.xml" Id="Rca698b3c9ef44a1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7bb00ea457f4b6e" /><Relationship Type="http://schemas.openxmlformats.org/officeDocument/2006/relationships/notesMaster" Target="/ppt/notesMasters/notesMaster1.xml" Id="R3c7aca0175ac454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eb530d901b54808" /><Relationship Type="http://schemas.openxmlformats.org/officeDocument/2006/relationships/notesMaster" Target="/ppt/notesMasters/notesMaster1.xml" Id="Rdda91b339cb9442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29e9f04420c4f52" /><Relationship Type="http://schemas.openxmlformats.org/officeDocument/2006/relationships/notesMaster" Target="/ppt/notesMasters/notesMaster1.xml" Id="R21b1e72372d84ec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2be5fe23b614138" /><Relationship Type="http://schemas.openxmlformats.org/officeDocument/2006/relationships/notesMaster" Target="/ppt/notesMasters/notesMaster1.xml" Id="R6144dfa6e50d436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bb17dce0dd24d7f" /><Relationship Type="http://schemas.openxmlformats.org/officeDocument/2006/relationships/notesMaster" Target="/ppt/notesMasters/notesMaster1.xml" Id="Rf5d3f4e31a7a41b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94a2f7f5cc9477c" /><Relationship Type="http://schemas.openxmlformats.org/officeDocument/2006/relationships/notesMaster" Target="/ppt/notesMasters/notesMaster1.xml" Id="R5719dc451b514e5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1905bfb43b64b9b" /><Relationship Type="http://schemas.openxmlformats.org/officeDocument/2006/relationships/notesMaster" Target="/ppt/notesMasters/notesMaster1.xml" Id="R8eb7e4fea68c487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ce1044e7c47457c" /><Relationship Type="http://schemas.openxmlformats.org/officeDocument/2006/relationships/notesMaster" Target="/ppt/notesMasters/notesMaster1.xml" Id="R488ed7f4e9ea47e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5f63243870e403d" /><Relationship Type="http://schemas.openxmlformats.org/officeDocument/2006/relationships/notesMaster" Target="/ppt/notesMasters/notesMaster1.xml" Id="R0a0f6521df65464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01205ff2dc44626" /><Relationship Type="http://schemas.openxmlformats.org/officeDocument/2006/relationships/notesMaster" Target="/ppt/notesMasters/notesMaster1.xml" Id="Rbb456848a4bb438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07e26ce9d87401c" /><Relationship Type="http://schemas.openxmlformats.org/officeDocument/2006/relationships/notesMaster" Target="/ppt/notesMasters/notesMaster1.xml" Id="R286b765efa364bb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0dc45aa5f564268" /><Relationship Type="http://schemas.openxmlformats.org/officeDocument/2006/relationships/notesMaster" Target="/ppt/notesMasters/notesMaster1.xml" Id="R2aa64df22a5c4f8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d4293d41c784f37" /><Relationship Type="http://schemas.openxmlformats.org/officeDocument/2006/relationships/notesMaster" Target="/ppt/notesMasters/notesMaster1.xml" Id="Rbd763fe1009e401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35a9adbb2244e5b" /><Relationship Type="http://schemas.openxmlformats.org/officeDocument/2006/relationships/notesMaster" Target="/ppt/notesMasters/notesMaster1.xml" Id="Re9a38bf0979d4e3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0a7e5717f9c4f56" /><Relationship Type="http://schemas.openxmlformats.org/officeDocument/2006/relationships/notesMaster" Target="/ppt/notesMasters/notesMaster1.xml" Id="Rc1ce49fa500b4a9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a879dff3dec4f58" /><Relationship Type="http://schemas.openxmlformats.org/officeDocument/2006/relationships/notesMaster" Target="/ppt/notesMasters/notesMaster1.xml" Id="R6762c2012993407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072476b626543fd" /><Relationship Type="http://schemas.openxmlformats.org/officeDocument/2006/relationships/notesMaster" Target="/ppt/notesMasters/notesMaster1.xml" Id="R5885394f9200475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aac70bf7f63407a" /><Relationship Type="http://schemas.openxmlformats.org/officeDocument/2006/relationships/notesMaster" Target="/ppt/notesMasters/notesMaster1.xml" Id="Ra0048a40626b4c3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e26260bc8ee4f61" /><Relationship Type="http://schemas.openxmlformats.org/officeDocument/2006/relationships/notesMaster" Target="/ppt/notesMasters/notesMaster1.xml" Id="R8d9014b04d604094"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518eb0311c04f5a" /><Relationship Type="http://schemas.openxmlformats.org/officeDocument/2006/relationships/notesMaster" Target="/ppt/notesMasters/notesMaster1.xml" Id="Ra0ed2d476bc442d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0b3d49ce3f74ec1" /><Relationship Type="http://schemas.openxmlformats.org/officeDocument/2006/relationships/notesMaster" Target="/ppt/notesMasters/notesMaster1.xml" Id="R8829dc2d3d70465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8e35b81f91d4fee" /><Relationship Type="http://schemas.openxmlformats.org/officeDocument/2006/relationships/notesMaster" Target="/ppt/notesMasters/notesMaster1.xml" Id="Rcc152b27994842a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1994354ca3840aa" /><Relationship Type="http://schemas.openxmlformats.org/officeDocument/2006/relationships/notesMaster" Target="/ppt/notesMasters/notesMaster1.xml" Id="R671bb81d28f8466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Using pandas to answer table questions</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Using pandas to answer table questions</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Using pandas to answer table questions. Explain why this example is needed before running it.</a:t>
            </a:r>
          </a:p>
          <a:p xmlns:a="http://schemas.openxmlformats.org/drawingml/2006/main">
            <a:r>
              <a:t/>
            </a:r>
          </a:p>
          <a:p xmlns:a="http://schemas.openxmlformats.org/drawingml/2006/main">
            <a:r>
              <a:t>EXPLAIN</a:t>
            </a:r>
          </a:p>
          <a:p xmlns:a="http://schemas.openxmlformats.org/drawingml/2006/main">
            <a:r>
              <a:t>Read a labelled table and select rows.</a:t>
            </a:r>
          </a:p>
          <a:p xmlns:a="http://schemas.openxmlformats.org/drawingml/2006/main">
            <a:r>
              <a:t/>
            </a:r>
          </a:p>
          <a:p xmlns:a="http://schemas.openxmlformats.org/drawingml/2006/main">
            <a:r>
              <a:t>Calculate column summaries and grouped totals.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Using pandas to answer table questions.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NumPy broadcasting, broad Kaggle searches and twelve-plus-ten independent questions are optional extension. No change of editor is needed.</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Week 4 used lists, dictionaries, loops and CSV rows. pandas keeps these same records in a labelled table and provides operations that work across its columns.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The supplied campus_energy.csv records campus electricity use. We practise pandas on four invented rows first, then inspect the supplied file and its units.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Rows columns and units.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Rows columns and units.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columns and units</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A row describes one observation. A column describes one field.</a:t>
            </a:r>
          </a:p>
          <a:p xmlns:a="http://schemas.openxmlformats.org/drawingml/2006/main">
            <a:r>
              <a:t/>
            </a:r>
          </a:p>
          <a:p xmlns:a="http://schemas.openxmlformats.org/drawingml/2006/main">
            <a:r>
              <a:t>A DataFrame is pandas’ labelled table.</a:t>
            </a:r>
          </a:p>
          <a:p xmlns:a="http://schemas.openxmlformats.org/drawingml/2006/main">
            <a:r>
              <a:t/>
            </a:r>
          </a:p>
          <a:p xmlns:a="http://schemas.openxmlformats.org/drawingml/2006/main">
            <a:r>
              <a:t>A Series is one labelled column.</a:t>
            </a:r>
          </a:p>
          <a:p xmlns:a="http://schemas.openxmlformats.org/drawingml/2006/main">
            <a:r>
              <a:t/>
            </a:r>
          </a:p>
          <a:p xmlns:a="http://schemas.openxmlformats.org/drawingml/2006/main">
            <a:r>
              <a:t>kWh measures energy. kW measures power.</a:t>
            </a:r>
          </a:p>
          <a:p xmlns:a="http://schemas.openxmlformats.org/drawingml/2006/main">
            <a:r>
              <a:t/>
            </a:r>
          </a:p>
          <a:p xmlns:a="http://schemas.openxmlformats.org/drawingml/2006/main">
            <a:r>
              <a:t>A data type (dtype) describes the kind of values in a column, such as whole numbers, decimals or text.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Rows columns and units</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TYPE NUANCE</a:t>
            </a:r>
          </a:p>
          <a:p xmlns:a="http://schemas.openxmlformats.org/drawingml/2006/main">
            <a:r>
              <a:t>An object dtype alone does not prove that a column contains bad numeric values; it can hold Python objects, including numbers. Inspect values and conversion results. Missing values may display as NaN, None, NaT or pandas NA depending on dtype.</a:t>
            </a:r>
          </a:p>
          <a:p xmlns:a="http://schemas.openxmlformats.org/drawingml/2006/main">
            <a:r>
              <a:t/>
            </a:r>
          </a:p>
          <a:p xmlns:a="http://schemas.openxmlformats.org/drawingml/2006/main">
            <a:r>
              <a:t>NEXT</a:t>
            </a:r>
          </a:p>
          <a:p xmlns:a="http://schemas.openxmlformats.org/drawingml/2006/main">
            <a:r>
              <a:t>A table keeps related observations together.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table keeps related observations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table keeps related observations together</a:t>
            </a:r>
          </a:p>
          <a:p xmlns:a="http://schemas.openxmlformats.org/drawingml/2006/main">
            <a:r>
              <a:t/>
            </a:r>
          </a:p>
          <a:p xmlns:a="http://schemas.openxmlformats.org/drawingml/2006/main">
            <a:r>
              <a:t>CONNECT</a:t>
            </a:r>
          </a:p>
          <a:p xmlns:a="http://schemas.openxmlformats.org/drawingml/2006/main">
            <a:r>
              <a:t>Build on Rows columns and units. Explain why this example is needed before running it.</a:t>
            </a:r>
          </a:p>
          <a:p xmlns:a="http://schemas.openxmlformats.org/drawingml/2006/main">
            <a:r>
              <a:t/>
            </a:r>
          </a:p>
          <a:p xmlns:a="http://schemas.openxmlformats.org/drawingml/2006/main">
            <a:r>
              <a:t>EXPLAIN</a:t>
            </a:r>
          </a:p>
          <a:p xmlns:a="http://schemas.openxmlformats.org/drawingml/2006/main">
            <a:r>
              <a:t>Our four rows record building A twice and building B twice.</a:t>
            </a:r>
          </a:p>
          <a:p xmlns:a="http://schemas.openxmlformats.org/drawingml/2006/main">
            <a:r>
              <a:t/>
            </a:r>
          </a:p>
          <a:p xmlns:a="http://schemas.openxmlformats.org/drawingml/2006/main">
            <a:r>
              <a:t>Each row contains the building label and an energy reading.</a:t>
            </a:r>
          </a:p>
          <a:p xmlns:a="http://schemas.openxmlformats.org/drawingml/2006/main">
            <a:r>
              <a:t/>
            </a:r>
          </a:p>
          <a:p xmlns:a="http://schemas.openxmlformats.org/drawingml/2006/main">
            <a:r>
              <a:t>kWh is energy. kW is power. The units describe different quantities.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table keeps related observations together</a:t>
            </a:r>
          </a:p>
          <a:p xmlns:a="http://schemas.openxmlformats.org/drawingml/2006/main">
            <a:r>
              <a:t/>
            </a:r>
          </a:p>
          <a:p xmlns:a="http://schemas.openxmlformats.org/drawingml/2006/main">
            <a:r>
              <a:t>CONNECT</a:t>
            </a:r>
          </a:p>
          <a:p xmlns:a="http://schemas.openxmlformats.org/drawingml/2006/main">
            <a:r>
              <a:t>Build on the preceding slide: Rows columns and units.</a:t>
            </a:r>
          </a:p>
          <a:p xmlns:a="http://schemas.openxmlformats.org/drawingml/2006/main">
            <a:r>
              <a:t/>
            </a:r>
          </a:p>
          <a:p xmlns:a="http://schemas.openxmlformats.org/drawingml/2006/main">
            <a:r>
              <a:t>LECTURER CUE</a:t>
            </a:r>
          </a:p>
          <a:p xmlns:a="http://schemas.openxmlformats.org/drawingml/2006/main">
            <a:r>
              <a:t>Draw a four-row table before running the example. Describe a reading of kWh as energy, and kW as power; the units are different.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Our small energy table.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Our small energy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Our small energy table</a:t>
            </a:r>
          </a:p>
          <a:p xmlns:a="http://schemas.openxmlformats.org/drawingml/2006/main">
            <a:r>
              <a:t/>
            </a:r>
          </a:p>
          <a:p xmlns:a="http://schemas.openxmlformats.org/drawingml/2006/main">
            <a:r>
              <a:t>CONNECT</a:t>
            </a:r>
          </a:p>
          <a:p xmlns:a="http://schemas.openxmlformats.org/drawingml/2006/main">
            <a:r>
              <a:t>Build on A table keeps related observations together. Explain why this example is needed before running it.</a:t>
            </a:r>
          </a:p>
          <a:p xmlns:a="http://schemas.openxmlformats.org/drawingml/2006/main">
            <a:r>
              <a:t/>
            </a:r>
          </a:p>
          <a:p xmlns:a="http://schemas.openxmlformats.org/drawingml/2006/main">
            <a:r>
              <a:t>EXPLAIN</a:t>
            </a:r>
          </a:p>
          <a:p xmlns:a="http://schemas.openxmlformats.org/drawingml/2006/main">
            <a:r>
              <a:t>The four observations total 18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Our small energy table</a:t>
            </a:r>
          </a:p>
          <a:p xmlns:a="http://schemas.openxmlformats.org/drawingml/2006/main">
            <a:r>
              <a:t/>
            </a:r>
          </a:p>
          <a:p xmlns:a="http://schemas.openxmlformats.org/drawingml/2006/main">
            <a:r>
              <a:t>CONNECT</a:t>
            </a:r>
          </a:p>
          <a:p xmlns:a="http://schemas.openxmlformats.org/drawingml/2006/main">
            <a:r>
              <a:t>Build on the preceding slide: A table keeps related observations together.</a:t>
            </a:r>
          </a:p>
          <a:p xmlns:a="http://schemas.openxmlformats.org/drawingml/2006/main">
            <a:r>
              <a:t/>
            </a:r>
          </a:p>
          <a:p xmlns:a="http://schemas.openxmlformats.org/drawingml/2006/main">
            <a:r>
              <a:t>LECTURER CUE</a:t>
            </a:r>
          </a:p>
          <a:p xmlns:a="http://schemas.openxmlformats.org/drawingml/2006/main">
            <a:r>
              <a:t>The four observations total 18 kWh. Their mean is 4.5 kWh. Building totals are A: 6 and B: 12.</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Library and pandas and DataFrame.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Library and pandas and DataFrame</a:t>
            </a:r>
          </a:p>
          <a:p xmlns:a="http://schemas.openxmlformats.org/drawingml/2006/main">
            <a:r>
              <a:t/>
            </a:r>
          </a:p>
          <a:p xmlns:a="http://schemas.openxmlformats.org/drawingml/2006/main">
            <a:r>
              <a:t>CONNECT</a:t>
            </a:r>
          </a:p>
          <a:p xmlns:a="http://schemas.openxmlformats.org/drawingml/2006/main">
            <a:r>
              <a:t>Build on Our small energy table. Explain why this example is needed before running it.</a:t>
            </a:r>
          </a:p>
          <a:p xmlns:a="http://schemas.openxmlformats.org/drawingml/2006/main">
            <a:r>
              <a:t/>
            </a:r>
          </a:p>
          <a:p xmlns:a="http://schemas.openxmlformats.org/drawingml/2006/main">
            <a:r>
              <a:t>EXPLAIN</a:t>
            </a:r>
          </a:p>
          <a:p xmlns:a="http://schemas.openxmlformats.org/drawingml/2006/main">
            <a:r>
              <a:t>Library and pandas: A library is reusable code. pandas provides tools for data tables. import pandas as pd makes pd a short name for that library.</a:t>
            </a:r>
          </a:p>
          <a:p xmlns:a="http://schemas.openxmlformats.org/drawingml/2006/main">
            <a:r>
              <a:t>DataFrame: A table with named columns and indexed rows. df is just the variable name we choose for this table.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Our small energy table.</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POINT TO THE DEFINITION</a:t>
            </a:r>
          </a:p>
          <a:p xmlns:a="http://schemas.openxmlformats.org/drawingml/2006/main">
            <a:r>
              <a:t>Library and pandas: A library is reusable code. pandas provides tools for data tables. import pandas as pd makes pd a short name for that library.</a:t>
            </a:r>
          </a:p>
          <a:p xmlns:a="http://schemas.openxmlformats.org/drawingml/2006/main">
            <a:r>
              <a:t>DataFrame: A table with named columns and indexed rows. df is just the variable name we choose for this table.</a:t>
            </a:r>
          </a:p>
          <a:p xmlns:a="http://schemas.openxmlformats.org/drawingml/2006/main">
            <a:r>
              <a:t/>
            </a:r>
          </a:p>
          <a:p xmlns:a="http://schemas.openxmlformats.org/drawingml/2006/main">
            <a:r>
              <a:t>NEXT</a:t>
            </a:r>
          </a:p>
          <a:p xmlns:a="http://schemas.openxmlformats.org/drawingml/2006/main">
            <a:r>
              <a:t>A DataFrame is a labelled table.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labelled table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labelled table in Python</a:t>
            </a:r>
          </a:p>
          <a:p xmlns:a="http://schemas.openxmlformats.org/drawingml/2006/main">
            <a:r>
              <a:t/>
            </a:r>
          </a:p>
          <a:p xmlns:a="http://schemas.openxmlformats.org/drawingml/2006/main">
            <a:r>
              <a:t>CONNECT</a:t>
            </a:r>
          </a:p>
          <a:p xmlns:a="http://schemas.openxmlformats.org/drawingml/2006/main">
            <a:r>
              <a:t>Build on Library and pandas and DataFrame. Explain why this example is needed before running it.</a:t>
            </a:r>
          </a:p>
          <a:p xmlns:a="http://schemas.openxmlformats.org/drawingml/2006/main">
            <a:r>
              <a:t/>
            </a:r>
          </a:p>
          <a:p xmlns:a="http://schemas.openxmlformats.org/drawingml/2006/main">
            <a:r>
              <a:t>EXPLAIN</a:t>
            </a:r>
          </a:p>
          <a:p xmlns:a="http://schemas.openxmlformats.org/drawingml/2006/main">
            <a:r>
              <a:t>The illustration uses machinery records. The same row, column and index structure applies to our building-energy table.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labelled table in Python</a:t>
            </a:r>
          </a:p>
          <a:p xmlns:a="http://schemas.openxmlformats.org/drawingml/2006/main">
            <a:r>
              <a:t/>
            </a:r>
          </a:p>
          <a:p xmlns:a="http://schemas.openxmlformats.org/drawingml/2006/main">
            <a:r>
              <a:t>CONNECT</a:t>
            </a:r>
          </a:p>
          <a:p xmlns:a="http://schemas.openxmlformats.org/drawingml/2006/main">
            <a:r>
              <a:t>Build on the preceding slide: A DataFrame is a labelled table.</a:t>
            </a:r>
          </a:p>
          <a:p xmlns:a="http://schemas.openxmlformats.org/drawingml/2006/main">
            <a:r>
              <a:t/>
            </a:r>
          </a:p>
          <a:p xmlns:a="http://schemas.openxmlformats.org/drawingml/2006/main">
            <a:r>
              <a:t>LECTURER CUE</a:t>
            </a:r>
          </a:p>
          <a:p xmlns:a="http://schemas.openxmlformats.org/drawingml/2006/main">
            <a:r>
              <a:t>Point to one row, column, index and dtype. This maintenance table is illustrative. Work with the issued cohort table next.</a:t>
            </a:r>
          </a:p>
          <a:p xmlns:a="http://schemas.openxmlformats.org/drawingml/2006/main">
            <a:r>
              <a:t>Source: existing course illustration figs/dataframe_anatomy.png.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Series and Method and attribute.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Series and Method and attribute</a:t>
            </a:r>
          </a:p>
          <a:p xmlns:a="http://schemas.openxmlformats.org/drawingml/2006/main">
            <a:r>
              <a:t/>
            </a:r>
          </a:p>
          <a:p xmlns:a="http://schemas.openxmlformats.org/drawingml/2006/main">
            <a:r>
              <a:t>CONNECT</a:t>
            </a:r>
          </a:p>
          <a:p xmlns:a="http://schemas.openxmlformats.org/drawingml/2006/main">
            <a:r>
              <a:t>Build on A labelled table in Python. Explain why this example is needed before running it.</a:t>
            </a:r>
          </a:p>
          <a:p xmlns:a="http://schemas.openxmlformats.org/drawingml/2006/main">
            <a:r>
              <a:t/>
            </a:r>
          </a:p>
          <a:p xmlns:a="http://schemas.openxmlformats.org/drawingml/2006/main">
            <a:r>
              <a:t>EXPLAIN</a:t>
            </a:r>
          </a:p>
          <a:p xmlns:a="http://schemas.openxmlformats.org/drawingml/2006/main">
            <a:r>
              <a:t>Series: One labelled column. df["kwh"] selects the column named kwh.</a:t>
            </a:r>
          </a:p>
          <a:p xmlns:a="http://schemas.openxmlformats.org/drawingml/2006/main">
            <a:r>
              <a:t>Method and attribute: A method performs an operation, as in df.head(). An attribute provides a stored property, as in df.shape. Parentheses call an operation.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A labelled table in Python.</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POINT TO THE DEFINITION</a:t>
            </a:r>
          </a:p>
          <a:p xmlns:a="http://schemas.openxmlformats.org/drawingml/2006/main">
            <a:r>
              <a:t>Series: One labelled column. df["kwh"] selects the column named kwh.</a:t>
            </a:r>
          </a:p>
          <a:p xmlns:a="http://schemas.openxmlformats.org/drawingml/2006/main">
            <a:r>
              <a:t>Method and attribute: A method performs an operation, as in df.head(). An attribute provides a stored property, as in df.shape. Parentheses call an operation.</a:t>
            </a:r>
          </a:p>
          <a:p xmlns:a="http://schemas.openxmlformats.org/drawingml/2006/main">
            <a:r>
              <a:t/>
            </a:r>
          </a:p>
          <a:p xmlns:a="http://schemas.openxmlformats.org/drawingml/2006/main">
            <a:r>
              <a:t>NEXT</a:t>
            </a:r>
          </a:p>
          <a:p xmlns:a="http://schemas.openxmlformats.org/drawingml/2006/main">
            <a:r>
              <a:t>Reading pandas syntax.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pandas syntax.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pandas syntax</a:t>
            </a:r>
          </a:p>
          <a:p xmlns:a="http://schemas.openxmlformats.org/drawingml/2006/main">
            <a:r>
              <a:t/>
            </a:r>
          </a:p>
          <a:p xmlns:a="http://schemas.openxmlformats.org/drawingml/2006/main">
            <a:r>
              <a:t>CONNECT</a:t>
            </a:r>
          </a:p>
          <a:p xmlns:a="http://schemas.openxmlformats.org/drawingml/2006/main">
            <a:r>
              <a:t>Build on Series and Method and attribute. Explain why this example is needed before running it.</a:t>
            </a:r>
          </a:p>
          <a:p xmlns:a="http://schemas.openxmlformats.org/drawingml/2006/main">
            <a:r>
              <a:t/>
            </a:r>
          </a:p>
          <a:p xmlns:a="http://schemas.openxmlformats.org/drawingml/2006/main">
            <a:r>
              <a:t>EXPLAIN</a:t>
            </a:r>
          </a:p>
          <a:p xmlns:a="http://schemas.openxmlformats.org/drawingml/2006/main">
            <a:r>
              <a:t>import pandas as pd loads the library and gives it a short name.</a:t>
            </a:r>
          </a:p>
          <a:p xmlns:a="http://schemas.openxmlformats.org/drawingml/2006/main">
            <a:r>
              <a:t/>
            </a:r>
          </a:p>
          <a:p xmlns:a="http://schemas.openxmlformats.org/drawingml/2006/main">
            <a:r>
              <a:t>pd.read_csv("file.csv") calls a function. The quoted text is the file path.</a:t>
            </a:r>
          </a:p>
          <a:p xmlns:a="http://schemas.openxmlformats.org/drawingml/2006/main">
            <a:r>
              <a:t/>
            </a:r>
          </a:p>
          <a:p xmlns:a="http://schemas.openxmlformats.org/drawingml/2006/main">
            <a:r>
              <a:t>df["kwh"] selects a column. df["kwh"].mean() calls a method on that column.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pandas syntax</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Replace file.csv with the actual issued filename. Explain library, alias, function and method before running the worked example.</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NEXT</a:t>
            </a:r>
          </a:p>
          <a:p xmlns:a="http://schemas.openxmlformats.org/drawingml/2006/main">
            <a:r>
              <a:t>Build the table before asking questions.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Build the table before asking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Build the table before asking questions</a:t>
            </a:r>
          </a:p>
          <a:p xmlns:a="http://schemas.openxmlformats.org/drawingml/2006/main">
            <a:r>
              <a:t/>
            </a:r>
          </a:p>
          <a:p xmlns:a="http://schemas.openxmlformats.org/drawingml/2006/main">
            <a:r>
              <a:t>CONNECT</a:t>
            </a:r>
          </a:p>
          <a:p xmlns:a="http://schemas.openxmlformats.org/drawingml/2006/main">
            <a:r>
              <a:t>Build on Reading pandas syntax. Explain why this example is needed before running it.</a:t>
            </a:r>
          </a:p>
          <a:p xmlns:a="http://schemas.openxmlformats.org/drawingml/2006/main">
            <a:r>
              <a:t/>
            </a:r>
          </a:p>
          <a:p xmlns:a="http://schemas.openxmlformats.org/drawingml/2006/main">
            <a:r>
              <a:t>EXPLAIN</a:t>
            </a:r>
          </a:p>
          <a:p xmlns:a="http://schemas.openxmlformats.org/drawingml/2006/main">
            <a:r>
              <a:t>Each dictionary key becomes a column name. Equal-length lists supply its rows.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Build the table before asking questions</a:t>
            </a:r>
          </a:p>
          <a:p xmlns:a="http://schemas.openxmlformats.org/drawingml/2006/main">
            <a:r>
              <a:t/>
            </a:r>
          </a:p>
          <a:p xmlns:a="http://schemas.openxmlformats.org/drawingml/2006/main">
            <a:r>
              <a:t>CONNECT</a:t>
            </a:r>
          </a:p>
          <a:p xmlns:a="http://schemas.openxmlformats.org/drawingml/2006/main">
            <a:r>
              <a:t>Build on the preceding slide: Reading pandas syntax.</a:t>
            </a:r>
          </a:p>
          <a:p xmlns:a="http://schemas.openxmlformats.org/drawingml/2006/main">
            <a:r>
              <a:t/>
            </a:r>
          </a:p>
          <a:p xmlns:a="http://schemas.openxmlformats.org/drawingml/2006/main">
            <a:r>
              <a:t>LECTURER CUE</a:t>
            </a:r>
          </a:p>
          <a:p xmlns:a="http://schemas.openxmlformats.org/drawingml/2006/main">
            <a:r>
              <a:t>Each dictionary key becomes a column name. Equal-length lists supply its rows.</a:t>
            </a:r>
          </a:p>
          <a:p xmlns:a="http://schemas.openxmlformats.org/drawingml/2006/main">
            <a:r>
              <a:t/>
            </a:r>
          </a:p>
          <a:p xmlns:a="http://schemas.openxmlformats.org/drawingml/2006/main">
            <a:r>
              <a:t>Complete practice code:</a:t>
            </a:r>
          </a:p>
          <a:p xmlns:a="http://schemas.openxmlformats.org/drawingml/2006/main">
            <a:r>
              <a:t>import pandas as pd</a:t>
            </a:r>
          </a:p>
          <a:p xmlns:a="http://schemas.openxmlformats.org/drawingml/2006/main">
            <a:r>
              <a:t>df = pd.DataFrame({"building": ["A", "A", "B", "B"],</a:t>
            </a:r>
          </a:p>
          <a:p xmlns:a="http://schemas.openxmlformats.org/drawingml/2006/main">
            <a:r>
              <a:t>                   "kwh": [2, 4, 5, 7]})</a:t>
            </a:r>
          </a:p>
          <a:p xmlns:a="http://schemas.openxmlformats.org/drawingml/2006/main">
            <a:r>
              <a:t>print(df)</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Select a column and calculate its mean.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Select a column and calculate its mean.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 a column and calculate its mean</a:t>
            </a:r>
          </a:p>
          <a:p xmlns:a="http://schemas.openxmlformats.org/drawingml/2006/main">
            <a:r>
              <a:t/>
            </a:r>
          </a:p>
          <a:p xmlns:a="http://schemas.openxmlformats.org/drawingml/2006/main">
            <a:r>
              <a:t>CONNECT</a:t>
            </a:r>
          </a:p>
          <a:p xmlns:a="http://schemas.openxmlformats.org/drawingml/2006/main">
            <a:r>
              <a:t>Build on Build the table before asking questions. Explain why this example is needed before running it.</a:t>
            </a:r>
          </a:p>
          <a:p xmlns:a="http://schemas.openxmlformats.org/drawingml/2006/main">
            <a:r>
              <a:t/>
            </a:r>
          </a:p>
          <a:p xmlns:a="http://schemas.openxmlformats.org/drawingml/2006/main">
            <a:r>
              <a:t>EXPLAIN</a:t>
            </a:r>
          </a:p>
          <a:p xmlns:a="http://schemas.openxmlformats.org/drawingml/2006/main">
            <a:r>
              <a:t>The four numbers are 2, 4, 5 and 7. Their mean is 18 / 4 = 4.5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Select a column and calculate its mean</a:t>
            </a:r>
          </a:p>
          <a:p xmlns:a="http://schemas.openxmlformats.org/drawingml/2006/main">
            <a:r>
              <a:t/>
            </a:r>
          </a:p>
          <a:p xmlns:a="http://schemas.openxmlformats.org/drawingml/2006/main">
            <a:r>
              <a:t>CONNECT</a:t>
            </a:r>
          </a:p>
          <a:p xmlns:a="http://schemas.openxmlformats.org/drawingml/2006/main">
            <a:r>
              <a:t>Build on the preceding slide: Build the table before asking questions.</a:t>
            </a:r>
          </a:p>
          <a:p xmlns:a="http://schemas.openxmlformats.org/drawingml/2006/main">
            <a:r>
              <a:t/>
            </a:r>
          </a:p>
          <a:p xmlns:a="http://schemas.openxmlformats.org/drawingml/2006/main">
            <a:r>
              <a:t>LECTURER CUE</a:t>
            </a:r>
          </a:p>
          <a:p xmlns:a="http://schemas.openxmlformats.org/drawingml/2006/main">
            <a:r>
              <a:t>The four numbers are 2, 4, 5 and 7. Their mean is 18 / 4 = 4.5 kWh.</a:t>
            </a:r>
          </a:p>
          <a:p xmlns:a="http://schemas.openxmlformats.org/drawingml/2006/main">
            <a:r>
              <a:t/>
            </a:r>
          </a:p>
          <a:p xmlns:a="http://schemas.openxmlformats.org/drawingml/2006/main">
            <a:r>
              <a:t>Complete practice code:</a:t>
            </a:r>
          </a:p>
          <a:p xmlns:a="http://schemas.openxmlformats.org/drawingml/2006/main">
            <a:r>
              <a:t>print(df["kwh"])</a:t>
            </a:r>
          </a:p>
          <a:p xmlns:a="http://schemas.openxmlformats.org/drawingml/2006/main">
            <a:r>
              <a:t>print(df["kwh"].mean())</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Mask and filter.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Mask and filter.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Mask and filter</a:t>
            </a:r>
          </a:p>
          <a:p xmlns:a="http://schemas.openxmlformats.org/drawingml/2006/main">
            <a:r>
              <a:t/>
            </a:r>
          </a:p>
          <a:p xmlns:a="http://schemas.openxmlformats.org/drawingml/2006/main">
            <a:r>
              <a:t>CONNECT</a:t>
            </a:r>
          </a:p>
          <a:p xmlns:a="http://schemas.openxmlformats.org/drawingml/2006/main">
            <a:r>
              <a:t>Build on Select a column and calculate its mean. Explain why this example is needed before running it.</a:t>
            </a:r>
          </a:p>
          <a:p xmlns:a="http://schemas.openxmlformats.org/drawingml/2006/main">
            <a:r>
              <a:t/>
            </a:r>
          </a:p>
          <a:p xmlns:a="http://schemas.openxmlformats.org/drawingml/2006/main">
            <a:r>
              <a:t>EXPLAIN</a:t>
            </a:r>
          </a:p>
          <a:p xmlns:a="http://schemas.openxmlformats.org/drawingml/2006/main">
            <a:r>
              <a:t>Mask and filter: A comparison produces True/False for each row. df[mask] keeps the True rows.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Mask and filter</a:t>
            </a:r>
          </a:p>
          <a:p xmlns:a="http://schemas.openxmlformats.org/drawingml/2006/main">
            <a:r>
              <a:t/>
            </a:r>
          </a:p>
          <a:p xmlns:a="http://schemas.openxmlformats.org/drawingml/2006/main">
            <a:r>
              <a:t>CONNECT</a:t>
            </a:r>
          </a:p>
          <a:p xmlns:a="http://schemas.openxmlformats.org/drawingml/2006/main">
            <a:r>
              <a:t>Build on the preceding slide: Select a column and calculate its mean.</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POINT TO THE DEFINITION</a:t>
            </a:r>
          </a:p>
          <a:p xmlns:a="http://schemas.openxmlformats.org/drawingml/2006/main">
            <a:r>
              <a:t>Mask and filter: A comparison produces True/False for each row. df[mask] keeps the True rows.</a:t>
            </a:r>
          </a:p>
          <a:p xmlns:a="http://schemas.openxmlformats.org/drawingml/2006/main">
            <a:r>
              <a:t/>
            </a:r>
          </a:p>
          <a:p xmlns:a="http://schemas.openxmlformats.org/drawingml/2006/main">
            <a:r>
              <a:t>NEXT</a:t>
            </a:r>
          </a:p>
          <a:p xmlns:a="http://schemas.openxmlformats.org/drawingml/2006/main">
            <a:r>
              <a:t>A comparison creates a Boolean mask.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comparison creates a Boolean mask.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comparison creates a Boolean mask</a:t>
            </a:r>
          </a:p>
          <a:p xmlns:a="http://schemas.openxmlformats.org/drawingml/2006/main">
            <a:r>
              <a:t/>
            </a:r>
          </a:p>
          <a:p xmlns:a="http://schemas.openxmlformats.org/drawingml/2006/main">
            <a:r>
              <a:t>CONNECT</a:t>
            </a:r>
          </a:p>
          <a:p xmlns:a="http://schemas.openxmlformats.org/drawingml/2006/main">
            <a:r>
              <a:t>Build on Mask and filter. Explain why this example is needed before running it.</a:t>
            </a:r>
          </a:p>
          <a:p xmlns:a="http://schemas.openxmlformats.org/drawingml/2006/main">
            <a:r>
              <a:t/>
            </a:r>
          </a:p>
          <a:p xmlns:a="http://schemas.openxmlformats.org/drawingml/2006/main">
            <a:r>
              <a:t>EXPLAIN</a:t>
            </a:r>
          </a:p>
          <a:p xmlns:a="http://schemas.openxmlformats.org/drawingml/2006/main">
            <a:r>
              <a:t>The illustration filters torque readings. Our next example applies the same True/False selection to kWh values.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comparison creates a Boolean mask</a:t>
            </a:r>
          </a:p>
          <a:p xmlns:a="http://schemas.openxmlformats.org/drawingml/2006/main">
            <a:r>
              <a:t/>
            </a:r>
          </a:p>
          <a:p xmlns:a="http://schemas.openxmlformats.org/drawingml/2006/main">
            <a:r>
              <a:t>CONNECT</a:t>
            </a:r>
          </a:p>
          <a:p xmlns:a="http://schemas.openxmlformats.org/drawingml/2006/main">
            <a:r>
              <a:t>Build on the preceding slide: Mask and filter.</a:t>
            </a:r>
          </a:p>
          <a:p xmlns:a="http://schemas.openxmlformats.org/drawingml/2006/main">
            <a:r>
              <a:t/>
            </a:r>
          </a:p>
          <a:p xmlns:a="http://schemas.openxmlformats.org/drawingml/2006/main">
            <a:r>
              <a:t>LECTURER CUE</a:t>
            </a:r>
          </a:p>
          <a:p xmlns:a="http://schemas.openxmlformats.org/drawingml/2006/main">
            <a:r>
              <a:t>Read &gt; as greater than, then trace one row through the mask. Selection does not delete the source rows. 40 is a practice threshold, not a safety standard.</a:t>
            </a:r>
          </a:p>
          <a:p xmlns:a="http://schemas.openxmlformats.org/drawingml/2006/main">
            <a:r>
              <a:t>Source: existing course illustration figs/boolean_mask.png.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Keep rows where the comparison is true.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Keep rows where the comparison is true.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 rows where the comparison is true</a:t>
            </a:r>
          </a:p>
          <a:p xmlns:a="http://schemas.openxmlformats.org/drawingml/2006/main">
            <a:r>
              <a:t/>
            </a:r>
          </a:p>
          <a:p xmlns:a="http://schemas.openxmlformats.org/drawingml/2006/main">
            <a:r>
              <a:t>CONNECT</a:t>
            </a:r>
          </a:p>
          <a:p xmlns:a="http://schemas.openxmlformats.org/drawingml/2006/main">
            <a:r>
              <a:t>Build on A comparison creates a Boolean mask. Explain why this example is needed before running it.</a:t>
            </a:r>
          </a:p>
          <a:p xmlns:a="http://schemas.openxmlformats.org/drawingml/2006/main">
            <a:r>
              <a:t/>
            </a:r>
          </a:p>
          <a:p xmlns:a="http://schemas.openxmlformats.org/drawingml/2006/main">
            <a:r>
              <a:t>EXPLAIN</a:t>
            </a:r>
          </a:p>
          <a:p xmlns:a="http://schemas.openxmlformats.org/drawingml/2006/main">
            <a:r>
              <a:t>The mask is False, False, True, True. The selected rows contain 5 and 7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Keep rows where the comparison is true</a:t>
            </a:r>
          </a:p>
          <a:p xmlns:a="http://schemas.openxmlformats.org/drawingml/2006/main">
            <a:r>
              <a:t/>
            </a:r>
          </a:p>
          <a:p xmlns:a="http://schemas.openxmlformats.org/drawingml/2006/main">
            <a:r>
              <a:t>CONNECT</a:t>
            </a:r>
          </a:p>
          <a:p xmlns:a="http://schemas.openxmlformats.org/drawingml/2006/main">
            <a:r>
              <a:t>Build on the preceding slide: A comparison creates a Boolean mask.</a:t>
            </a:r>
          </a:p>
          <a:p xmlns:a="http://schemas.openxmlformats.org/drawingml/2006/main">
            <a:r>
              <a:t/>
            </a:r>
          </a:p>
          <a:p xmlns:a="http://schemas.openxmlformats.org/drawingml/2006/main">
            <a:r>
              <a:t>LECTURER CUE</a:t>
            </a:r>
          </a:p>
          <a:p xmlns:a="http://schemas.openxmlformats.org/drawingml/2006/main">
            <a:r>
              <a:t>The mask is False, False, True, True. The selected rows contain 5 and 7 kWh.</a:t>
            </a:r>
          </a:p>
          <a:p xmlns:a="http://schemas.openxmlformats.org/drawingml/2006/main">
            <a:r>
              <a:t/>
            </a:r>
          </a:p>
          <a:p xmlns:a="http://schemas.openxmlformats.org/drawingml/2006/main">
            <a:r>
              <a:t>Complete practice code:</a:t>
            </a:r>
          </a:p>
          <a:p xmlns:a="http://schemas.openxmlformats.org/drawingml/2006/main">
            <a:r>
              <a:t>mask = df["kwh"] &gt; 4</a:t>
            </a:r>
          </a:p>
          <a:p xmlns:a="http://schemas.openxmlformats.org/drawingml/2006/main">
            <a:r>
              <a:t>print(mask)</a:t>
            </a:r>
          </a:p>
          <a:p xmlns:a="http://schemas.openxmlformats.org/drawingml/2006/main">
            <a:r>
              <a:t>print(df[mask])</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groupby and aggregation.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groupby and aggregation.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groupby and aggregation</a:t>
            </a:r>
          </a:p>
          <a:p xmlns:a="http://schemas.openxmlformats.org/drawingml/2006/main">
            <a:r>
              <a:t/>
            </a:r>
          </a:p>
          <a:p xmlns:a="http://schemas.openxmlformats.org/drawingml/2006/main">
            <a:r>
              <a:t>CONNECT</a:t>
            </a:r>
          </a:p>
          <a:p xmlns:a="http://schemas.openxmlformats.org/drawingml/2006/main">
            <a:r>
              <a:t>Build on Keep rows where the comparison is true. Explain why this example is needed before running it.</a:t>
            </a:r>
          </a:p>
          <a:p xmlns:a="http://schemas.openxmlformats.org/drawingml/2006/main">
            <a:r>
              <a:t/>
            </a:r>
          </a:p>
          <a:p xmlns:a="http://schemas.openxmlformats.org/drawingml/2006/main">
            <a:r>
              <a:t>EXPLAIN</a:t>
            </a:r>
          </a:p>
          <a:p xmlns:a="http://schemas.openxmlformats.org/drawingml/2006/main">
            <a:r>
              <a:t>groupby and aggregation: groupby collects rows with the same label. An aggregation such as sum or mean returns a summary for each group.</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groupby and aggregation</a:t>
            </a:r>
          </a:p>
          <a:p xmlns:a="http://schemas.openxmlformats.org/drawingml/2006/main">
            <a:r>
              <a:t/>
            </a:r>
          </a:p>
          <a:p xmlns:a="http://schemas.openxmlformats.org/drawingml/2006/main">
            <a:r>
              <a:t>CONNECT</a:t>
            </a:r>
          </a:p>
          <a:p xmlns:a="http://schemas.openxmlformats.org/drawingml/2006/main">
            <a:r>
              <a:t>Build on the preceding slide: Keep rows where the comparison is true.</a:t>
            </a:r>
          </a:p>
          <a:p xmlns:a="http://schemas.openxmlformats.org/drawingml/2006/main">
            <a:r>
              <a:t/>
            </a:r>
          </a:p>
          <a:p xmlns:a="http://schemas.openxmlformats.org/drawingml/2006/main">
            <a:r>
              <a:t>EXPLAIN IN ORDINARY WORDS</a:t>
            </a:r>
          </a:p>
          <a:p xmlns:a="http://schemas.openxmlformats.org/drawingml/2006/main">
            <a:r>
              <a:t>Grouping puts rows sharing a key into buckets, then computes a result for each bucket. WHERE filters rows before SQL grouping; HAVING filters grouped results.</a:t>
            </a:r>
          </a:p>
          <a:p xmlns:a="http://schemas.openxmlformats.org/drawingml/2006/main">
            <a:r>
              <a:t/>
            </a:r>
          </a:p>
          <a:p xmlns:a="http://schemas.openxmlformats.org/drawingml/2006/main">
            <a:r>
              <a:t>CHECK AND EXPECTED ANSWER</a:t>
            </a:r>
          </a:p>
          <a:p xmlns:a="http://schemas.openxmlformats.org/drawingml/2006/main">
            <a:r>
              <a:t>Which condition keeps only groups with more than five rows? HAVING COUNT(*) &gt; 5.</a:t>
            </a:r>
          </a:p>
          <a:p xmlns:a="http://schemas.openxmlformats.org/drawingml/2006/main">
            <a:r>
              <a:t/>
            </a:r>
          </a:p>
          <a:p xmlns:a="http://schemas.openxmlformats.org/drawingml/2006/main">
            <a:r>
              <a:t>IF LEARNERS ARE STUCK</a:t>
            </a:r>
          </a:p>
          <a:p xmlns:a="http://schemas.openxmlformats.org/drawingml/2006/main">
            <a:r>
              <a:t>Draw two buckets and count by hand. Name the intended output grain before writing the aggregation.</a:t>
            </a:r>
          </a:p>
          <a:p xmlns:a="http://schemas.openxmlformats.org/drawingml/2006/main">
            <a:r>
              <a:t/>
            </a:r>
          </a:p>
          <a:p xmlns:a="http://schemas.openxmlformats.org/drawingml/2006/main">
            <a:r>
              <a:t>POINT TO THE DEFINITION</a:t>
            </a:r>
          </a:p>
          <a:p xmlns:a="http://schemas.openxmlformats.org/drawingml/2006/main">
            <a:r>
              <a:t>groupby and aggregation: groupby collects rows with the same label. An aggregation such as sum or mean returns a summary for each group.</a:t>
            </a:r>
          </a:p>
          <a:p xmlns:a="http://schemas.openxmlformats.org/drawingml/2006/main">
            <a:r>
              <a:t/>
            </a:r>
          </a:p>
          <a:p xmlns:a="http://schemas.openxmlformats.org/drawingml/2006/main">
            <a:r>
              <a:t>NEXT</a:t>
            </a:r>
          </a:p>
          <a:p xmlns:a="http://schemas.openxmlformats.org/drawingml/2006/main">
            <a:r>
              <a:t>Selection and grouping answer different questions.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Calculate one total for each building.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Calculate one total for each building</a:t>
            </a:r>
          </a:p>
          <a:p xmlns:a="http://schemas.openxmlformats.org/drawingml/2006/main">
            <a:r>
              <a:t/>
            </a:r>
          </a:p>
          <a:p xmlns:a="http://schemas.openxmlformats.org/drawingml/2006/main">
            <a:r>
              <a:t>CONNECT</a:t>
            </a:r>
          </a:p>
          <a:p xmlns:a="http://schemas.openxmlformats.org/drawingml/2006/main">
            <a:r>
              <a:t>Build on groupby and aggregation. Explain why this example is needed before running it.</a:t>
            </a:r>
          </a:p>
          <a:p xmlns:a="http://schemas.openxmlformats.org/drawingml/2006/main">
            <a:r>
              <a:t/>
            </a:r>
          </a:p>
          <a:p xmlns:a="http://schemas.openxmlformats.org/drawingml/2006/main">
            <a:r>
              <a:t>EXPLAIN</a:t>
            </a:r>
          </a:p>
          <a:p xmlns:a="http://schemas.openxmlformats.org/drawingml/2006/main">
            <a:r>
              <a:t>Expected: A totals 6 kWh; B totals 12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Calculate one total for each building</a:t>
            </a:r>
          </a:p>
          <a:p xmlns:a="http://schemas.openxmlformats.org/drawingml/2006/main">
            <a:r>
              <a:t/>
            </a:r>
          </a:p>
          <a:p xmlns:a="http://schemas.openxmlformats.org/drawingml/2006/main">
            <a:r>
              <a:t>CONNECT</a:t>
            </a:r>
          </a:p>
          <a:p xmlns:a="http://schemas.openxmlformats.org/drawingml/2006/main">
            <a:r>
              <a:t>Build on the preceding slide: A chained expression is several small steps.</a:t>
            </a:r>
          </a:p>
          <a:p xmlns:a="http://schemas.openxmlformats.org/drawingml/2006/main">
            <a:r>
              <a:t/>
            </a:r>
          </a:p>
          <a:p xmlns:a="http://schemas.openxmlformats.org/drawingml/2006/main">
            <a:r>
              <a:t>LECTURER CUE</a:t>
            </a:r>
          </a:p>
          <a:p xmlns:a="http://schemas.openxmlformats.org/drawingml/2006/main">
            <a:r>
              <a:t>Expected: A totals 6 kWh; B totals 12 kWh.</a:t>
            </a:r>
          </a:p>
          <a:p xmlns:a="http://schemas.openxmlformats.org/drawingml/2006/main">
            <a:r>
              <a:t/>
            </a:r>
          </a:p>
          <a:p xmlns:a="http://schemas.openxmlformats.org/drawingml/2006/main">
            <a:r>
              <a:t>Complete practice code:</a:t>
            </a:r>
          </a:p>
          <a:p xmlns:a="http://schemas.openxmlformats.org/drawingml/2006/main">
            <a:r>
              <a:t>print(df.groupby("building")["kwh"].sum())</a:t>
            </a:r>
          </a:p>
          <a:p xmlns:a="http://schemas.openxmlformats.org/drawingml/2006/main">
            <a:r>
              <a:t/>
            </a:r>
          </a:p>
          <a:p xmlns:a="http://schemas.openxmlformats.org/drawingml/2006/main">
            <a:r>
              <a:t>EXPLAIN IN ORDINARY WORDS</a:t>
            </a:r>
          </a:p>
          <a:p xmlns:a="http://schemas.openxmlformats.org/drawingml/2006/main">
            <a:r>
              <a:t>Grouping puts rows sharing a key into buckets, then computes a result for each bucket. WHERE filters rows before SQL grouping; HAVING filters grouped results.</a:t>
            </a:r>
          </a:p>
          <a:p xmlns:a="http://schemas.openxmlformats.org/drawingml/2006/main">
            <a:r>
              <a:t/>
            </a:r>
          </a:p>
          <a:p xmlns:a="http://schemas.openxmlformats.org/drawingml/2006/main">
            <a:r>
              <a:t>CHECK AND EXPECTED ANSWER</a:t>
            </a:r>
          </a:p>
          <a:p xmlns:a="http://schemas.openxmlformats.org/drawingml/2006/main">
            <a:r>
              <a:t>Which condition keeps only groups with more than five rows? HAVING COUNT(*) &gt; 5.</a:t>
            </a:r>
          </a:p>
          <a:p xmlns:a="http://schemas.openxmlformats.org/drawingml/2006/main">
            <a:r>
              <a:t/>
            </a:r>
          </a:p>
          <a:p xmlns:a="http://schemas.openxmlformats.org/drawingml/2006/main">
            <a:r>
              <a:t>IF LEARNERS ARE STUCK</a:t>
            </a:r>
          </a:p>
          <a:p xmlns:a="http://schemas.openxmlformats.org/drawingml/2006/main">
            <a:r>
              <a:t>Draw two buckets and count by hand. Name the intended output grain before writing the aggregation.</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pandas tables and summaries results</a:t>
            </a:r>
          </a:p>
          <a:p xmlns:a="http://schemas.openxmlformats.org/drawingml/2006/main">
            <a:r>
              <a:t/>
            </a:r>
          </a:p>
          <a:p xmlns:a="http://schemas.openxmlformats.org/drawingml/2006/main">
            <a:r>
              <a:t>CONNECT</a:t>
            </a:r>
          </a:p>
          <a:p xmlns:a="http://schemas.openxmlformats.org/drawingml/2006/main">
            <a:r>
              <a:t>Build on Calculate one total for each building. Explain why this example is needed before running it.</a:t>
            </a:r>
          </a:p>
          <a:p xmlns:a="http://schemas.openxmlformats.org/drawingml/2006/main">
            <a:r>
              <a:t/>
            </a:r>
          </a:p>
          <a:p xmlns:a="http://schemas.openxmlformats.org/drawingml/2006/main">
            <a:r>
              <a:t>EXPLAIN</a:t>
            </a:r>
          </a:p>
          <a:p xmlns:a="http://schemas.openxmlformats.org/drawingml/2006/main">
            <a:r>
              <a:t>Mean 4.5. The filter keeps B rows with 5 and 7. Group totals: A = 6, B = 12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Calculate one total for each building.</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Unique labels and the largest group.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a chain one operation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chain one operation at a time</a:t>
            </a:r>
          </a:p>
          <a:p xmlns:a="http://schemas.openxmlformats.org/drawingml/2006/main">
            <a:r>
              <a:t/>
            </a:r>
          </a:p>
          <a:p xmlns:a="http://schemas.openxmlformats.org/drawingml/2006/main">
            <a:r>
              <a:t>CONNECT</a:t>
            </a:r>
          </a:p>
          <a:p xmlns:a="http://schemas.openxmlformats.org/drawingml/2006/main">
            <a:r>
              <a:t>Build on pandas tables and summaries results. Explain why this example is needed before running it.</a:t>
            </a:r>
          </a:p>
          <a:p xmlns:a="http://schemas.openxmlformats.org/drawingml/2006/main">
            <a:r>
              <a:t/>
            </a:r>
          </a:p>
          <a:p xmlns:a="http://schemas.openxmlformats.org/drawingml/2006/main">
            <a:r>
              <a:t>EXPLAIN</a:t>
            </a:r>
          </a:p>
          <a:p xmlns:a="http://schemas.openxmlformats.org/drawingml/2006/main">
            <a:r>
              <a:t>df.groupby("building") groups rows by their building labels. ["kwh"] selects the energy values within each group. .sum() totals them.</a:t>
            </a:r>
          </a:p>
          <a:p xmlns:a="http://schemas.openxmlformats.org/drawingml/2006/main">
            <a:r>
              <a:t/>
            </a:r>
          </a:p>
          <a:p xmlns:a="http://schemas.openxmlformats.org/drawingml/2006/main">
            <a:r>
              <a:t>Store this result in totals. totals.idxmax() returns the label with the largest total. These are consecutive operations on the result of the previous step.</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Unique labels and the largest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Unique labels and the largest group</a:t>
            </a:r>
          </a:p>
          <a:p xmlns:a="http://schemas.openxmlformats.org/drawingml/2006/main">
            <a:r>
              <a:t/>
            </a:r>
          </a:p>
          <a:p xmlns:a="http://schemas.openxmlformats.org/drawingml/2006/main">
            <a:r>
              <a:t>CONNECT</a:t>
            </a:r>
          </a:p>
          <a:p xmlns:a="http://schemas.openxmlformats.org/drawingml/2006/main">
            <a:r>
              <a:t>Build on Reading a chain one operation at a time. Explain why this example is needed before running it.</a:t>
            </a:r>
          </a:p>
          <a:p xmlns:a="http://schemas.openxmlformats.org/drawingml/2006/main">
            <a:r>
              <a:t/>
            </a:r>
          </a:p>
          <a:p xmlns:a="http://schemas.openxmlformats.org/drawingml/2006/main">
            <a:r>
              <a:t>EXPLAIN</a:t>
            </a:r>
          </a:p>
          <a:p xmlns:a="http://schemas.openxmlformats.org/drawingml/2006/main">
            <a:r>
              <a:t>nunique counts distinct labels, not rows. idxmax returns the label of the largest total.</a:t>
            </a:r>
          </a:p>
          <a:p xmlns:a="http://schemas.openxmlformats.org/drawingml/2006/main">
            <a:r>
              <a:t/>
            </a:r>
          </a:p>
          <a:p xmlns:a="http://schemas.openxmlformats.org/drawingml/2006/main">
            <a:r>
              <a:t>Here there is no tie.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Unique labels and the largest group</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LECTURER CUE</a:t>
            </a:r>
          </a:p>
          <a:p xmlns:a="http://schemas.openxmlformats.org/drawingml/2006/main">
            <a:r>
              <a:t>nunique counts distinct labels, not rows. idxmax returns the label of the largest total. Here there is no tie.</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Unique labels and the largest group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Unique labels and the largest group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Unique labels and the largest group in Python</a:t>
            </a:r>
          </a:p>
          <a:p xmlns:a="http://schemas.openxmlformats.org/drawingml/2006/main">
            <a:r>
              <a:t/>
            </a:r>
          </a:p>
          <a:p xmlns:a="http://schemas.openxmlformats.org/drawingml/2006/main">
            <a:r>
              <a:t>CONNECT</a:t>
            </a:r>
          </a:p>
          <a:p xmlns:a="http://schemas.openxmlformats.org/drawingml/2006/main">
            <a:r>
              <a:t>Build on Unique labels and the largest group.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Unique labels and the largest group in Python</a:t>
            </a:r>
          </a:p>
          <a:p xmlns:a="http://schemas.openxmlformats.org/drawingml/2006/main">
            <a:r>
              <a:t/>
            </a:r>
          </a:p>
          <a:p xmlns:a="http://schemas.openxmlformats.org/drawingml/2006/main">
            <a:r>
              <a:t>CONNECT</a:t>
            </a:r>
          </a:p>
          <a:p xmlns:a="http://schemas.openxmlformats.org/drawingml/2006/main">
            <a:r>
              <a:t>Build on the preceding slide: Unique labels and the largest group.</a:t>
            </a:r>
          </a:p>
          <a:p xmlns:a="http://schemas.openxmlformats.org/drawingml/2006/main">
            <a:r>
              <a:t/>
            </a:r>
          </a:p>
          <a:p xmlns:a="http://schemas.openxmlformats.org/drawingml/2006/main">
            <a:r>
              <a:t>LECTURER CUE</a:t>
            </a:r>
          </a:p>
          <a:p xmlns:a="http://schemas.openxmlformats.org/drawingml/2006/main">
            <a:r>
              <a:t>nunique counts distinct labels, not rows. idxmax returns the label of the largest total. Here there is no tie.</a:t>
            </a:r>
          </a:p>
          <a:p xmlns:a="http://schemas.openxmlformats.org/drawingml/2006/main">
            <a:r>
              <a:t/>
            </a:r>
          </a:p>
          <a:p xmlns:a="http://schemas.openxmlformats.org/drawingml/2006/main">
            <a:r>
              <a:t>Complete practice code:</a:t>
            </a:r>
          </a:p>
          <a:p xmlns:a="http://schemas.openxmlformats.org/drawingml/2006/main">
            <a:r>
              <a:t>print(df["building"].nunique())</a:t>
            </a:r>
          </a:p>
          <a:p xmlns:a="http://schemas.openxmlformats.org/drawingml/2006/main">
            <a:r>
              <a:t>totals = df.groupby("building")["kwh"].sum()</a:t>
            </a:r>
          </a:p>
          <a:p xmlns:a="http://schemas.openxmlformats.org/drawingml/2006/main">
            <a:r>
              <a:t>print(totals.idxmax())</a:t>
            </a:r>
          </a:p>
          <a:p xmlns:a="http://schemas.openxmlformats.org/drawingml/2006/main">
            <a:r>
              <a:t/>
            </a:r>
          </a:p>
          <a:p xmlns:a="http://schemas.openxmlformats.org/drawingml/2006/main">
            <a:r>
              <a:t>EXPLAIN IN ORDINARY WORDS</a:t>
            </a:r>
          </a:p>
          <a:p xmlns:a="http://schemas.openxmlformats.org/drawingml/2006/main">
            <a:r>
              <a:t>Grouping puts rows sharing a key into buckets, then computes a result for each bucket. WHERE filters rows before SQL grouping; HAVING filters grouped results.</a:t>
            </a:r>
          </a:p>
          <a:p xmlns:a="http://schemas.openxmlformats.org/drawingml/2006/main">
            <a:r>
              <a:t/>
            </a:r>
          </a:p>
          <a:p xmlns:a="http://schemas.openxmlformats.org/drawingml/2006/main">
            <a:r>
              <a:t>CHECK AND EXPECTED ANSWER</a:t>
            </a:r>
          </a:p>
          <a:p xmlns:a="http://schemas.openxmlformats.org/drawingml/2006/main">
            <a:r>
              <a:t>Which condition keeps only groups with more than five rows? HAVING COUNT(*) &gt; 5.</a:t>
            </a:r>
          </a:p>
          <a:p xmlns:a="http://schemas.openxmlformats.org/drawingml/2006/main">
            <a:r>
              <a:t/>
            </a:r>
          </a:p>
          <a:p xmlns:a="http://schemas.openxmlformats.org/drawingml/2006/main">
            <a:r>
              <a:t>IF LEARNERS ARE STUCK</a:t>
            </a:r>
          </a:p>
          <a:p xmlns:a="http://schemas.openxmlformats.org/drawingml/2006/main">
            <a:r>
              <a:t>Draw two buckets and count by hand. Name the intended output grain before writing the aggregation.</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Create a column from two existing columns.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Create a column from two existing columns.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Create a column from two existing columns</a:t>
            </a:r>
          </a:p>
          <a:p xmlns:a="http://schemas.openxmlformats.org/drawingml/2006/main">
            <a:r>
              <a:t/>
            </a:r>
          </a:p>
          <a:p xmlns:a="http://schemas.openxmlformats.org/drawingml/2006/main">
            <a:r>
              <a:t>CONNECT</a:t>
            </a:r>
          </a:p>
          <a:p xmlns:a="http://schemas.openxmlformats.org/drawingml/2006/main">
            <a:r>
              <a:t>Build on Unique labels and the largest group in Python. Explain why this example is needed before running it.</a:t>
            </a:r>
          </a:p>
          <a:p xmlns:a="http://schemas.openxmlformats.org/drawingml/2006/main">
            <a:r>
              <a:t/>
            </a:r>
          </a:p>
          <a:p xmlns:a="http://schemas.openxmlformats.org/drawingml/2006/main">
            <a:r>
              <a:t>EXPLAIN</a:t>
            </a:r>
          </a:p>
          <a:p xmlns:a="http://schemas.openxmlformats.org/drawingml/2006/main">
            <a:r>
              <a:t>A new column can store a calculation for every row. Division pairs the values in matching rows.</a:t>
            </a:r>
          </a:p>
          <a:p xmlns:a="http://schemas.openxmlformats.org/drawingml/2006/main">
            <a:r>
              <a:t/>
            </a:r>
          </a:p>
          <a:p xmlns:a="http://schemas.openxmlformats.org/drawingml/2006/main">
            <a:r>
              <a:t>For this invented table all energy values are positive. UGX is Uganda shillings. Cost divided by energy has units UGX/kWh.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Create a column from two existing columns</a:t>
            </a:r>
          </a:p>
          <a:p xmlns:a="http://schemas.openxmlformats.org/drawingml/2006/main">
            <a:r>
              <a:t/>
            </a:r>
          </a:p>
          <a:p xmlns:a="http://schemas.openxmlformats.org/drawingml/2006/main">
            <a:r>
              <a:t>CONNECT</a:t>
            </a:r>
          </a:p>
          <a:p xmlns:a="http://schemas.openxmlformats.org/drawingml/2006/main">
            <a:r>
              <a:t>Build on the preceding slide: Unique labels and the largest group in Python.</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An energy rate is cost divided by energy.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An energy rate is cost divided by energy.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energy rate is cost divided by energy</a:t>
            </a:r>
          </a:p>
          <a:p xmlns:a="http://schemas.openxmlformats.org/drawingml/2006/main">
            <a:r>
              <a:t/>
            </a:r>
          </a:p>
          <a:p xmlns:a="http://schemas.openxmlformats.org/drawingml/2006/main">
            <a:r>
              <a:t>CONNECT</a:t>
            </a:r>
          </a:p>
          <a:p xmlns:a="http://schemas.openxmlformats.org/drawingml/2006/main">
            <a:r>
              <a:t>Build on Create a column from two existing columns. Explain why this example is needed before running it.</a:t>
            </a:r>
          </a:p>
          <a:p xmlns:a="http://schemas.openxmlformats.org/drawingml/2006/main">
            <a:r>
              <a:t/>
            </a:r>
          </a:p>
          <a:p xmlns:a="http://schemas.openxmlformats.org/drawingml/2006/main">
            <a:r>
              <a:t>EXPLAIN</a:t>
            </a:r>
          </a:p>
          <a:p xmlns:a="http://schemas.openxmlformats.org/drawingml/2006/main">
            <a:r>
              <a:t>Expected rates: 500, 600, 700 and 800 UGX/kWh. Keep units in column names.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An energy rate is cost divided by energy</a:t>
            </a:r>
          </a:p>
          <a:p xmlns:a="http://schemas.openxmlformats.org/drawingml/2006/main">
            <a:r>
              <a:t/>
            </a:r>
          </a:p>
          <a:p xmlns:a="http://schemas.openxmlformats.org/drawingml/2006/main">
            <a:r>
              <a:t>CONNECT</a:t>
            </a:r>
          </a:p>
          <a:p xmlns:a="http://schemas.openxmlformats.org/drawingml/2006/main">
            <a:r>
              <a:t>Build on the preceding slide: Create a column from two existing columns.</a:t>
            </a:r>
          </a:p>
          <a:p xmlns:a="http://schemas.openxmlformats.org/drawingml/2006/main">
            <a:r>
              <a:t/>
            </a:r>
          </a:p>
          <a:p xmlns:a="http://schemas.openxmlformats.org/drawingml/2006/main">
            <a:r>
              <a:t>LECTURER CUE</a:t>
            </a:r>
          </a:p>
          <a:p xmlns:a="http://schemas.openxmlformats.org/drawingml/2006/main">
            <a:r>
              <a:t>Expected rates: 500, 600, 700 and 800 UGX/kWh. Keep units in column names.</a:t>
            </a:r>
          </a:p>
          <a:p xmlns:a="http://schemas.openxmlformats.org/drawingml/2006/main">
            <a:r>
              <a:t/>
            </a:r>
          </a:p>
          <a:p xmlns:a="http://schemas.openxmlformats.org/drawingml/2006/main">
            <a:r>
              <a:t>Complete practice code:</a:t>
            </a:r>
          </a:p>
          <a:p xmlns:a="http://schemas.openxmlformats.org/drawingml/2006/main">
            <a:r>
              <a:t>df["cost_ugx"] = [1000, 2400, 3500, 5600]</a:t>
            </a:r>
          </a:p>
          <a:p xmlns:a="http://schemas.openxmlformats.org/drawingml/2006/main">
            <a:r>
              <a:t>df["rate_ugx_per_kwh"] = df["cost_ugx"] / df["kwh"]</a:t>
            </a:r>
          </a:p>
          <a:p xmlns:a="http://schemas.openxmlformats.org/drawingml/2006/main">
            <a:r>
              <a:t>print(df["rate_ugx_per_kwh"])</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Load the assignment table before analysing it.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Load the assignment table before analysing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Load the assignment table before analysing it</a:t>
            </a:r>
          </a:p>
          <a:p xmlns:a="http://schemas.openxmlformats.org/drawingml/2006/main">
            <a:r>
              <a:t/>
            </a:r>
          </a:p>
          <a:p xmlns:a="http://schemas.openxmlformats.org/drawingml/2006/main">
            <a:r>
              <a:t>CONNECT</a:t>
            </a:r>
          </a:p>
          <a:p xmlns:a="http://schemas.openxmlformats.org/drawingml/2006/main">
            <a:r>
              <a:t>Build on An energy rate is cost divided by energy. Explain why this example is needed before running it.</a:t>
            </a:r>
          </a:p>
          <a:p xmlns:a="http://schemas.openxmlformats.org/drawingml/2006/main">
            <a:r>
              <a:t/>
            </a:r>
          </a:p>
          <a:p xmlns:a="http://schemas.openxmlformats.org/drawingml/2006/main">
            <a:r>
              <a:t>EXPLAIN</a:t>
            </a:r>
          </a:p>
          <a:p xmlns:a="http://schemas.openxmlformats.org/drawingml/2006/main">
            <a:r>
              <a:t>Upload campus_energy.csv to the current runtime first. read_csv reads it into a new DataFrame.</a:t>
            </a:r>
          </a:p>
          <a:p xmlns:a="http://schemas.openxmlformats.org/drawingml/2006/main">
            <a:r>
              <a:t/>
            </a:r>
          </a:p>
          <a:p xmlns:a="http://schemas.openxmlformats.org/drawingml/2006/main">
            <a:r>
              <a:t>head() displays the first five rows; shape gives row and column counts; dtypes shows column data types.</a:t>
            </a:r>
          </a:p>
          <a:p xmlns:a="http://schemas.openxmlformats.org/drawingml/2006/main">
            <a:r>
              <a:t/>
            </a:r>
          </a:p>
          <a:p xmlns:a="http://schemas.openxmlformats.org/drawingml/2006/main">
            <a:r>
              <a:t>We call this issued_table to keep it separate from the invented four-row df used above.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Load the assignment table before analysing it</a:t>
            </a:r>
          </a:p>
          <a:p xmlns:a="http://schemas.openxmlformats.org/drawingml/2006/main">
            <a:r>
              <a:t/>
            </a:r>
          </a:p>
          <a:p xmlns:a="http://schemas.openxmlformats.org/drawingml/2006/main">
            <a:r>
              <a:t>CONNECT</a:t>
            </a:r>
          </a:p>
          <a:p xmlns:a="http://schemas.openxmlformats.org/drawingml/2006/main">
            <a:r>
              <a:t>Build on the preceding slide: An energy rate is cost divided by energy.</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TYPE NUANCE</a:t>
            </a:r>
          </a:p>
          <a:p xmlns:a="http://schemas.openxmlformats.org/drawingml/2006/main">
            <a:r>
              <a:t>An object dtype alone does not prove that a column contains bad numeric values; it can hold Python objects, including numbers. Inspect values and conversion results. Missing values may display as NaN, None, NaT or pandas NA depending on dtype.</a:t>
            </a:r>
          </a:p>
          <a:p xmlns:a="http://schemas.openxmlformats.org/drawingml/2006/main">
            <a:r>
              <a:t/>
            </a:r>
          </a:p>
          <a:p xmlns:a="http://schemas.openxmlformats.org/drawingml/2006/main">
            <a:r>
              <a:t>NEXT</a:t>
            </a:r>
          </a:p>
          <a:p xmlns:a="http://schemas.openxmlformats.org/drawingml/2006/main">
            <a:r>
              <a:t>Inspect the supplied energy file.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Inspect the supplied energy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Inspect the supplied energy file</a:t>
            </a:r>
          </a:p>
          <a:p xmlns:a="http://schemas.openxmlformats.org/drawingml/2006/main">
            <a:r>
              <a:t/>
            </a:r>
          </a:p>
          <a:p xmlns:a="http://schemas.openxmlformats.org/drawingml/2006/main">
            <a:r>
              <a:t>CONNECT</a:t>
            </a:r>
          </a:p>
          <a:p xmlns:a="http://schemas.openxmlformats.org/drawingml/2006/main">
            <a:r>
              <a:t>Build on Load the assignment table before analysing it. Explain why this example is needed before running it.</a:t>
            </a:r>
          </a:p>
          <a:p xmlns:a="http://schemas.openxmlformats.org/drawingml/2006/main">
            <a:r>
              <a:t/>
            </a:r>
          </a:p>
          <a:p xmlns:a="http://schemas.openxmlformats.org/drawingml/2006/main">
            <a:r>
              <a:t>EXPLAIN</a:t>
            </a:r>
          </a:p>
          <a:p xmlns:a="http://schemas.openxmlformats.org/drawingml/2006/main">
            <a:r>
              <a:t>Check column names, data types and units before attempting the six issued tasks.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Inspect the supplied energy file</a:t>
            </a:r>
          </a:p>
          <a:p xmlns:a="http://schemas.openxmlformats.org/drawingml/2006/main">
            <a:r>
              <a:t/>
            </a:r>
          </a:p>
          <a:p xmlns:a="http://schemas.openxmlformats.org/drawingml/2006/main">
            <a:r>
              <a:t>CONNECT</a:t>
            </a:r>
          </a:p>
          <a:p xmlns:a="http://schemas.openxmlformats.org/drawingml/2006/main">
            <a:r>
              <a:t>Build on the preceding slide: Load the assignment table before analysing it.</a:t>
            </a:r>
          </a:p>
          <a:p xmlns:a="http://schemas.openxmlformats.org/drawingml/2006/main">
            <a:r>
              <a:t/>
            </a:r>
          </a:p>
          <a:p xmlns:a="http://schemas.openxmlformats.org/drawingml/2006/main">
            <a:r>
              <a:t>LECTURER CUE</a:t>
            </a:r>
          </a:p>
          <a:p xmlns:a="http://schemas.openxmlformats.org/drawingml/2006/main">
            <a:r>
              <a:t>Check column names, data types and units before attempting the six issued tasks.</a:t>
            </a:r>
          </a:p>
          <a:p xmlns:a="http://schemas.openxmlformats.org/drawingml/2006/main">
            <a:r>
              <a:t/>
            </a:r>
          </a:p>
          <a:p xmlns:a="http://schemas.openxmlformats.org/drawingml/2006/main">
            <a:r>
              <a:t>Complete practice code:</a:t>
            </a:r>
          </a:p>
          <a:p xmlns:a="http://schemas.openxmlformats.org/drawingml/2006/main">
            <a:r>
              <a:t>issued_table = pd.read_csv("campus_energy.csv")</a:t>
            </a:r>
          </a:p>
          <a:p xmlns:a="http://schemas.openxmlformats.org/drawingml/2006/main">
            <a:r>
              <a:t>print(issued_table.head())</a:t>
            </a:r>
          </a:p>
          <a:p xmlns:a="http://schemas.openxmlformats.org/drawingml/2006/main">
            <a:r>
              <a:t>print(issued_table.shape)</a:t>
            </a:r>
          </a:p>
          <a:p xmlns:a="http://schemas.openxmlformats.org/drawingml/2006/main">
            <a:r>
              <a:t>print(issued_table.dtypes)</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TYPE NUANCE</a:t>
            </a:r>
          </a:p>
          <a:p xmlns:a="http://schemas.openxmlformats.org/drawingml/2006/main">
            <a:r>
              <a:t>An object dtype alone does not prove that a column contains bad numeric values; it can hold Python objects, including numbers. Inspect values and conversion results. Missing values may display as NaN, None, NaT or pandas NA depending on dtype.</a:t>
            </a:r>
          </a:p>
          <a:p xmlns:a="http://schemas.openxmlformats.org/drawingml/2006/main">
            <a:r>
              <a:t/>
            </a:r>
          </a:p>
          <a:p xmlns:a="http://schemas.openxmlformats.org/drawingml/2006/main">
            <a:r>
              <a:t>NEXT</a:t>
            </a:r>
          </a:p>
          <a:p xmlns:a="http://schemas.openxmlformats.org/drawingml/2006/main">
            <a:r>
              <a:t>You are groupby.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Inspect the supplied energy file. Explain why this example is needed before running it.</a:t>
            </a:r>
          </a:p>
          <a:p xmlns:a="http://schemas.openxmlformats.org/drawingml/2006/main">
            <a:r>
              <a:t/>
            </a:r>
          </a:p>
          <a:p xmlns:a="http://schemas.openxmlformats.org/drawingml/2006/main">
            <a:r>
              <a:t>EXPLAIN</a:t>
            </a:r>
          </a:p>
          <a:p xmlns:a="http://schemas.openxmlformats.org/drawingml/2006/main">
            <a:r>
              <a:t>Example: Use &gt; 5 instead. Predict the surviving rows. Which building has the largest total?</a:t>
            </a:r>
          </a:p>
          <a:p xmlns:a="http://schemas.openxmlformats.org/drawingml/2006/main">
            <a:r>
              <a:t/>
            </a:r>
          </a:p>
          <a:p xmlns:a="http://schemas.openxmlformats.org/drawingml/2006/main">
            <a:r>
              <a:t>Answer: Only the row with 7 survives. Building B has the larger total, 12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Only the row with 7 survives. Building B has the larger total, 12 kWh.</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Only the row with 7 survives. Building B has the larger total, 12 kWh.</a:t>
            </a:r>
          </a:p>
          <a:p xmlns:a="http://schemas.openxmlformats.org/drawingml/2006/main">
            <a:r>
              <a:t>Which step produced this result? What changes if one input changes?</a:t>
            </a:r>
          </a:p>
          <a:p xmlns:a="http://schemas.openxmlformats.org/drawingml/2006/main">
            <a:r>
              <a:t>CML3112   Week 5   32</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A5 uses the supplied fictional campus_energy.csv, not a live Kaggle download.</a:t>
            </a:r>
          </a:p>
          <a:p xmlns:a="http://schemas.openxmlformats.org/drawingml/2006/main">
            <a:r>
              <a:t/>
            </a:r>
          </a:p>
          <a:p xmlns:a="http://schemas.openxmlformats.org/drawingml/2006/main">
            <a:r>
              <a:t>The six tasks use read_csv, nunique, division of columns, a &gt; filter, mean and grouped totals. idxmax returns the label of the largest value.</a:t>
            </a:r>
          </a:p>
          <a:p xmlns:a="http://schemas.openxmlformats.org/drawingml/2006/main">
            <a:r>
              <a:t/>
            </a:r>
          </a:p>
          <a:p xmlns:a="http://schemas.openxmlformats.org/drawingml/2006/main">
            <a:r>
              <a:t>A mean of individual rates gives each observation equal weight.</a:t>
            </a:r>
          </a:p>
          <a:p xmlns:a="http://schemas.openxmlformats.org/drawingml/2006/main">
            <a:r>
              <a:t/>
            </a:r>
          </a:p>
          <a:p xmlns:a="http://schemas.openxmlformats.org/drawingml/2006/main">
            <a:r>
              <a:t>Total cost divided by total energy weights by energy.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A5 uses the supplied fictional campus_energy.csv, not a live Kaggle download. Teach read_csv, nunique, division of columns, &gt; filtering, mean and groupby(...).sum().idxmax() before the six public tasks. idxmax returns the label of the largest value. Explain how a rate differs from a total and how a mean of rates differs from a total-cost/total-energy ratio.</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Data types and filters.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types and filters.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types and filters</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A Boolean mask is a list-like column of True/False values. len(mask) counts all rows; mask.sum() counts True entries.</a:t>
            </a:r>
          </a:p>
          <a:p xmlns:a="http://schemas.openxmlformats.org/drawingml/2006/main">
            <a:r>
              <a:t/>
            </a:r>
          </a:p>
          <a:p xmlns:a="http://schemas.openxmlformats.org/drawingml/2006/main">
            <a:r>
              <a:t>Strings sort as text, so "9" can rank above "100".</a:t>
            </a:r>
          </a:p>
          <a:p xmlns:a="http://schemas.openxmlformats.org/drawingml/2006/main">
            <a:r>
              <a:t/>
            </a:r>
          </a:p>
          <a:p xmlns:a="http://schemas.openxmlformats.org/drawingml/2006/main">
            <a:r>
              <a:t>Inspect numeric types before taking maxima.</a:t>
            </a:r>
          </a:p>
          <a:p xmlns:a="http://schemas.openxmlformats.org/drawingml/2006/main">
            <a:r>
              <a:t/>
            </a:r>
          </a:p>
          <a:p xmlns:a="http://schemas.openxmlformats.org/drawingml/2006/main">
            <a:r>
              <a:t>KeyError often means the column name does not match; check spelling, case and spaces. shape is (rows, columns).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types and filters</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Data types and filters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types and filters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types and filters continued</a:t>
            </a:r>
          </a:p>
          <a:p xmlns:a="http://schemas.openxmlformats.org/drawingml/2006/main">
            <a:r>
              <a:t/>
            </a:r>
          </a:p>
          <a:p xmlns:a="http://schemas.openxmlformats.org/drawingml/2006/main">
            <a:r>
              <a:t>CONNECT</a:t>
            </a:r>
          </a:p>
          <a:p xmlns:a="http://schemas.openxmlformats.org/drawingml/2006/main">
            <a:r>
              <a:t>Build on Data types and filters. Explain why this example is needed before running it.</a:t>
            </a:r>
          </a:p>
          <a:p xmlns:a="http://schemas.openxmlformats.org/drawingml/2006/main">
            <a:r>
              <a:t/>
            </a:r>
          </a:p>
          <a:p xmlns:a="http://schemas.openxmlformats.org/drawingml/2006/main">
            <a:r>
              <a:t>EXPLAIN</a:t>
            </a:r>
          </a:p>
          <a:p xmlns:a="http://schemas.openxmlformats.org/drawingml/2006/main">
            <a:r>
              <a:t>Read provenance and units before trusting a dataset.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types and filters continued</a:t>
            </a:r>
          </a:p>
          <a:p xmlns:a="http://schemas.openxmlformats.org/drawingml/2006/main">
            <a:r>
              <a:t/>
            </a:r>
          </a:p>
          <a:p xmlns:a="http://schemas.openxmlformats.org/drawingml/2006/main">
            <a:r>
              <a:t>CONNECT</a:t>
            </a:r>
          </a:p>
          <a:p xmlns:a="http://schemas.openxmlformats.org/drawingml/2006/main">
            <a:r>
              <a:t>Build on the preceding slide: Data types and filters.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Your issued assignment.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Data types and filters continued. Explain why this example is needed before running it.</a:t>
            </a:r>
          </a:p>
          <a:p xmlns:a="http://schemas.openxmlformats.org/drawingml/2006/main">
            <a:r>
              <a:t/>
            </a:r>
          </a:p>
          <a:p xmlns:a="http://schemas.openxmlformats.org/drawingml/2006/main">
            <a:r>
              <a:t>EXPLAIN</a:t>
            </a:r>
          </a:p>
          <a:p xmlns:a="http://schemas.openxmlformats.org/drawingml/2006/main">
            <a:r>
              <a:t>Open W05_student.ipynb.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the preceding slide: Data types and filters continued.</a:t>
            </a:r>
          </a:p>
          <a:p xmlns:a="http://schemas.openxmlformats.org/drawingml/2006/main">
            <a:r>
              <a:t/>
            </a:r>
          </a:p>
          <a:p xmlns:a="http://schemas.openxmlformats.org/drawingml/2006/main">
            <a:r>
              <a:t>LECTURER CUE</a:t>
            </a:r>
          </a:p>
          <a:p xmlns:a="http://schemas.openxmlformats.org/drawingml/2006/main">
            <a:r>
              <a:t># W05: pandas: load, filter, group</a:t>
            </a:r>
          </a:p>
          <a:p xmlns:a="http://schemas.openxmlformats.org/drawingml/2006/main">
            <a:r>
              <a:t>CML3112. Complete each named output. Save as STUDENT_ID_W05.ipynb.</a:t>
            </a:r>
          </a:p>
          <a:p xmlns:a="http://schemas.openxmlformats.org/drawingml/2006/main">
            <a:r>
              <a:t>## q1: 3 marks</a:t>
            </a:r>
          </a:p>
          <a:p xmlns:a="http://schemas.openxmlformats.org/drawingml/2006/main">
            <a:r>
              <a:t>Load campus_energy.csv into a DataFrame called df.</a:t>
            </a:r>
          </a:p>
          <a:p xmlns:a="http://schemas.openxmlformats.org/drawingml/2006/main">
            <a:r>
              <a:t>## q2: 3 marks</a:t>
            </a:r>
          </a:p>
          <a:p xmlns:a="http://schemas.openxmlformats.org/drawingml/2006/main">
            <a:r>
              <a:t>Set n_meters to the number of distinct meters in the file.</a:t>
            </a:r>
          </a:p>
          <a:p xmlns:a="http://schemas.openxmlformats.org/drawingml/2006/main">
            <a:r>
              <a:t>## q3: 4 marks</a:t>
            </a:r>
          </a:p>
          <a:p xmlns:a="http://schemas.openxmlformats.org/drawingml/2006/main">
            <a:r>
              <a:t>Add a column cost_per_kwh to df, equal to cost_ugx / kwh.</a:t>
            </a:r>
          </a:p>
          <a:p xmlns:a="http://schemas.openxmlformats.org/drawingml/2006/main">
            <a:r>
              <a:t>## q4: 4 marks</a:t>
            </a:r>
          </a:p>
          <a:p xmlns:a="http://schemas.openxmlformats.org/drawingml/2006/main">
            <a:r>
              <a:t>Set high_use to the rows of df where kwh is greater than 5000. Do this after q3 so the derived column comes along.</a:t>
            </a:r>
          </a:p>
          <a:p xmlns:a="http://schemas.openxmlformats.org/drawingml/2006/main">
            <a:r>
              <a:t>## q5: 3 marks</a:t>
            </a:r>
          </a:p>
          <a:p xmlns:a="http://schemas.openxmlformats.org/drawingml/2006/main">
            <a:r>
              <a:t>Set mean_cost_per_kwh to the mean of the cost_per_kwh column.</a:t>
            </a:r>
          </a:p>
          <a:p xmlns:a="http://schemas.openxmlformats.org/drawingml/2006/main">
            <a:r>
              <a:t>## q6: 3 marks</a:t>
            </a:r>
          </a:p>
          <a:p xmlns:a="http://schemas.openxmlformats.org/drawingml/2006/main">
            <a:r>
              <a:t>Set peak_building to the name of the building with the highest total kwh.</a:t>
            </a:r>
          </a:p>
          <a:p xmlns:a="http://schemas.openxmlformats.org/drawingml/2006/main">
            <a:r>
              <a:t>Restart and Run All, then save your named notebook. Practice check results are feedback; the submitted notebook is graded independently.</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q1: 3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q1: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Build on Your issued assignment. Explain why this example is needed before running it.</a:t>
            </a:r>
          </a:p>
          <a:p xmlns:a="http://schemas.openxmlformats.org/drawingml/2006/main">
            <a:r>
              <a:t/>
            </a:r>
          </a:p>
          <a:p xmlns:a="http://schemas.openxmlformats.org/drawingml/2006/main">
            <a:r>
              <a:t>EXPLAIN</a:t>
            </a:r>
          </a:p>
          <a:p xmlns:a="http://schemas.openxmlformats.org/drawingml/2006/main">
            <a:r>
              <a:t>Load campus_energy.csv into a DataFrame called df.</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Build on the preceding slide: Your issued assignment.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NEXT</a:t>
            </a:r>
          </a:p>
          <a:p xmlns:a="http://schemas.openxmlformats.org/drawingml/2006/main">
            <a:r>
              <a:t>q2: 3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q2: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q2: 3 marks</a:t>
            </a:r>
          </a:p>
          <a:p xmlns:a="http://schemas.openxmlformats.org/drawingml/2006/main">
            <a:r>
              <a:t/>
            </a:r>
          </a:p>
          <a:p xmlns:a="http://schemas.openxmlformats.org/drawingml/2006/main">
            <a:r>
              <a:t>CONNECT</a:t>
            </a:r>
          </a:p>
          <a:p xmlns:a="http://schemas.openxmlformats.org/drawingml/2006/main">
            <a:r>
              <a:t>Build on q1: 3 marks. Explain why this example is needed before running it.</a:t>
            </a:r>
          </a:p>
          <a:p xmlns:a="http://schemas.openxmlformats.org/drawingml/2006/main">
            <a:r>
              <a:t/>
            </a:r>
          </a:p>
          <a:p xmlns:a="http://schemas.openxmlformats.org/drawingml/2006/main">
            <a:r>
              <a:t>EXPLAIN</a:t>
            </a:r>
          </a:p>
          <a:p xmlns:a="http://schemas.openxmlformats.org/drawingml/2006/main">
            <a:r>
              <a:t>Set n_meters to the number of distinct meters in the file.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q2: 3 marks</a:t>
            </a:r>
          </a:p>
          <a:p xmlns:a="http://schemas.openxmlformats.org/drawingml/2006/main">
            <a:r>
              <a:t/>
            </a:r>
          </a:p>
          <a:p xmlns:a="http://schemas.openxmlformats.org/drawingml/2006/main">
            <a:r>
              <a:t>CONNECT</a:t>
            </a:r>
          </a:p>
          <a:p xmlns:a="http://schemas.openxmlformats.org/drawingml/2006/main">
            <a:r>
              <a:t>Build on the preceding slide: q1: 3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q3: 4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q3: 4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q3: 4 marks</a:t>
            </a:r>
          </a:p>
          <a:p xmlns:a="http://schemas.openxmlformats.org/drawingml/2006/main">
            <a:r>
              <a:t/>
            </a:r>
          </a:p>
          <a:p xmlns:a="http://schemas.openxmlformats.org/drawingml/2006/main">
            <a:r>
              <a:t>CONNECT</a:t>
            </a:r>
          </a:p>
          <a:p xmlns:a="http://schemas.openxmlformats.org/drawingml/2006/main">
            <a:r>
              <a:t>Build on q2: 3 marks. Explain why this example is needed before running it.</a:t>
            </a:r>
          </a:p>
          <a:p xmlns:a="http://schemas.openxmlformats.org/drawingml/2006/main">
            <a:r>
              <a:t/>
            </a:r>
          </a:p>
          <a:p xmlns:a="http://schemas.openxmlformats.org/drawingml/2006/main">
            <a:r>
              <a:t>EXPLAIN</a:t>
            </a:r>
          </a:p>
          <a:p xmlns:a="http://schemas.openxmlformats.org/drawingml/2006/main">
            <a:r>
              <a:t>Add a column cost_per_kwh to df, equal to cost_ugx /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q3: 4 marks</a:t>
            </a:r>
          </a:p>
          <a:p xmlns:a="http://schemas.openxmlformats.org/drawingml/2006/main">
            <a:r>
              <a:t/>
            </a:r>
          </a:p>
          <a:p xmlns:a="http://schemas.openxmlformats.org/drawingml/2006/main">
            <a:r>
              <a:t>CONNECT</a:t>
            </a:r>
          </a:p>
          <a:p xmlns:a="http://schemas.openxmlformats.org/drawingml/2006/main">
            <a:r>
              <a:t>Build on the preceding slide: q2: 3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q4: 4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q4: 4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q4: 4 marks</a:t>
            </a:r>
          </a:p>
          <a:p xmlns:a="http://schemas.openxmlformats.org/drawingml/2006/main">
            <a:r>
              <a:t/>
            </a:r>
          </a:p>
          <a:p xmlns:a="http://schemas.openxmlformats.org/drawingml/2006/main">
            <a:r>
              <a:t>CONNECT</a:t>
            </a:r>
          </a:p>
          <a:p xmlns:a="http://schemas.openxmlformats.org/drawingml/2006/main">
            <a:r>
              <a:t>Build on q3: 4 marks. Explain why this example is needed before running it.</a:t>
            </a:r>
          </a:p>
          <a:p xmlns:a="http://schemas.openxmlformats.org/drawingml/2006/main">
            <a:r>
              <a:t/>
            </a:r>
          </a:p>
          <a:p xmlns:a="http://schemas.openxmlformats.org/drawingml/2006/main">
            <a:r>
              <a:t>EXPLAIN</a:t>
            </a:r>
          </a:p>
          <a:p xmlns:a="http://schemas.openxmlformats.org/drawingml/2006/main">
            <a:r>
              <a:t>Set high_use to the rows of df where kwh is greater than 5000.</a:t>
            </a:r>
          </a:p>
          <a:p xmlns:a="http://schemas.openxmlformats.org/drawingml/2006/main">
            <a:r>
              <a:t/>
            </a:r>
          </a:p>
          <a:p xmlns:a="http://schemas.openxmlformats.org/drawingml/2006/main">
            <a:r>
              <a:t>Do this after q3 so the derived column comes along.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q4: 4 marks</a:t>
            </a:r>
          </a:p>
          <a:p xmlns:a="http://schemas.openxmlformats.org/drawingml/2006/main">
            <a:r>
              <a:t/>
            </a:r>
          </a:p>
          <a:p xmlns:a="http://schemas.openxmlformats.org/drawingml/2006/main">
            <a:r>
              <a:t>CONNECT</a:t>
            </a:r>
          </a:p>
          <a:p xmlns:a="http://schemas.openxmlformats.org/drawingml/2006/main">
            <a:r>
              <a:t>Build on the preceding slide: q3: 4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q5: 3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q5: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q5: 3 marks</a:t>
            </a:r>
          </a:p>
          <a:p xmlns:a="http://schemas.openxmlformats.org/drawingml/2006/main">
            <a:r>
              <a:t/>
            </a:r>
          </a:p>
          <a:p xmlns:a="http://schemas.openxmlformats.org/drawingml/2006/main">
            <a:r>
              <a:t>CONNECT</a:t>
            </a:r>
          </a:p>
          <a:p xmlns:a="http://schemas.openxmlformats.org/drawingml/2006/main">
            <a:r>
              <a:t>Build on q4: 4 marks. Explain why this example is needed before running it.</a:t>
            </a:r>
          </a:p>
          <a:p xmlns:a="http://schemas.openxmlformats.org/drawingml/2006/main">
            <a:r>
              <a:t/>
            </a:r>
          </a:p>
          <a:p xmlns:a="http://schemas.openxmlformats.org/drawingml/2006/main">
            <a:r>
              <a:t>EXPLAIN</a:t>
            </a:r>
          </a:p>
          <a:p xmlns:a="http://schemas.openxmlformats.org/drawingml/2006/main">
            <a:r>
              <a:t>Set mean_cost_per_kwh to the mean of the cost_per_kwh column.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q5: 3 marks</a:t>
            </a:r>
          </a:p>
          <a:p xmlns:a="http://schemas.openxmlformats.org/drawingml/2006/main">
            <a:r>
              <a:t/>
            </a:r>
          </a:p>
          <a:p xmlns:a="http://schemas.openxmlformats.org/drawingml/2006/main">
            <a:r>
              <a:t>CONNECT</a:t>
            </a:r>
          </a:p>
          <a:p xmlns:a="http://schemas.openxmlformats.org/drawingml/2006/main">
            <a:r>
              <a:t>Build on the preceding slide: q4: 4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q6: 3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q6: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q6: 3 marks</a:t>
            </a:r>
          </a:p>
          <a:p xmlns:a="http://schemas.openxmlformats.org/drawingml/2006/main">
            <a:r>
              <a:t/>
            </a:r>
          </a:p>
          <a:p xmlns:a="http://schemas.openxmlformats.org/drawingml/2006/main">
            <a:r>
              <a:t>CONNECT</a:t>
            </a:r>
          </a:p>
          <a:p xmlns:a="http://schemas.openxmlformats.org/drawingml/2006/main">
            <a:r>
              <a:t>Build on q5: 3 marks. Explain why this example is needed before running it.</a:t>
            </a:r>
          </a:p>
          <a:p xmlns:a="http://schemas.openxmlformats.org/drawingml/2006/main">
            <a:r>
              <a:t/>
            </a:r>
          </a:p>
          <a:p xmlns:a="http://schemas.openxmlformats.org/drawingml/2006/main">
            <a:r>
              <a:t>EXPLAIN</a:t>
            </a:r>
          </a:p>
          <a:p xmlns:a="http://schemas.openxmlformats.org/drawingml/2006/main">
            <a:r>
              <a:t>Set peak_building to the name of the building with the highest total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q6: 3 marks</a:t>
            </a:r>
          </a:p>
          <a:p xmlns:a="http://schemas.openxmlformats.org/drawingml/2006/main">
            <a:r>
              <a:t/>
            </a:r>
          </a:p>
          <a:p xmlns:a="http://schemas.openxmlformats.org/drawingml/2006/main">
            <a:r>
              <a:t>CONNECT</a:t>
            </a:r>
          </a:p>
          <a:p xmlns:a="http://schemas.openxmlformats.org/drawingml/2006/main">
            <a:r>
              <a:t>Build on the preceding slide: q5: 3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Pandas investigation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Pandas investigation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Pandas investigation submission</a:t>
            </a:r>
          </a:p>
          <a:p xmlns:a="http://schemas.openxmlformats.org/drawingml/2006/main">
            <a:r>
              <a:t/>
            </a:r>
          </a:p>
          <a:p xmlns:a="http://schemas.openxmlformats.org/drawingml/2006/main">
            <a:r>
              <a:t>CONNECT</a:t>
            </a:r>
          </a:p>
          <a:p xmlns:a="http://schemas.openxmlformats.org/drawingml/2006/main">
            <a:r>
              <a:t>Build on q6: 3 marks. Explain why this example is needed before running it.</a:t>
            </a:r>
          </a:p>
          <a:p xmlns:a="http://schemas.openxmlformats.org/drawingml/2006/main">
            <a:r>
              <a:t/>
            </a:r>
          </a:p>
          <a:p xmlns:a="http://schemas.openxmlformats.org/drawingml/2006/main">
            <a:r>
              <a:t>EXPLAIN</a:t>
            </a:r>
          </a:p>
          <a:p xmlns:a="http://schemas.openxmlformats.org/drawingml/2006/main">
            <a:r>
              <a:t>Opens: 06 Oct 2026, 11:00 Kampala</a:t>
            </a:r>
          </a:p>
          <a:p xmlns:a="http://schemas.openxmlformats.org/drawingml/2006/main">
            <a:r>
              <a:t/>
            </a:r>
          </a:p>
          <a:p xmlns:a="http://schemas.openxmlformats.org/drawingml/2006/main">
            <a:r>
              <a:t>Deadline: 13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Pandas investigation submission</a:t>
            </a:r>
          </a:p>
          <a:p xmlns:a="http://schemas.openxmlformats.org/drawingml/2006/main">
            <a:r>
              <a:t/>
            </a:r>
          </a:p>
          <a:p xmlns:a="http://schemas.openxmlformats.org/drawingml/2006/main">
            <a:r>
              <a:t>CONNECT</a:t>
            </a:r>
          </a:p>
          <a:p xmlns:a="http://schemas.openxmlformats.org/drawingml/2006/main">
            <a:r>
              <a:t>Build on the preceding slide: q6: 3 marks.</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Project preparation.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Project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Pandas investigation submission.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data analysis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27 Oct 2026, 11:00 Kampala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the preceding slide: Pandas investigation submission.</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5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5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5 quiz</a:t>
            </a:r>
          </a:p>
          <a:p xmlns:a="http://schemas.openxmlformats.org/drawingml/2006/main">
            <a:r>
              <a:t/>
            </a:r>
          </a:p>
          <a:p xmlns:a="http://schemas.openxmlformats.org/drawingml/2006/main">
            <a:r>
              <a:t>CONNECT</a:t>
            </a:r>
          </a:p>
          <a:p xmlns:a="http://schemas.openxmlformats.org/drawingml/2006/main">
            <a:r>
              <a:t>Build on Project preparation.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5 quiz</a:t>
            </a:r>
          </a:p>
          <a:p xmlns:a="http://schemas.openxmlformats.org/drawingml/2006/main">
            <a:r>
              <a:t/>
            </a:r>
          </a:p>
          <a:p xmlns:a="http://schemas.openxmlformats.org/drawingml/2006/main">
            <a:r>
              <a:t>CONNECT</a:t>
            </a:r>
          </a:p>
          <a:p xmlns:a="http://schemas.openxmlformats.org/drawingml/2006/main">
            <a:r>
              <a:t>Build on the preceding slide: Project preparation.</a:t>
            </a:r>
          </a:p>
          <a:p xmlns:a="http://schemas.openxmlformats.org/drawingml/2006/main">
            <a:r>
              <a:t/>
            </a:r>
          </a:p>
          <a:p xmlns:a="http://schemas.openxmlformats.org/drawingml/2006/main">
            <a:r>
              <a:t>LECTURER CUE</a:t>
            </a:r>
          </a:p>
          <a:p xmlns:a="http://schemas.openxmlformats.org/drawingml/2006/main">
            <a:r>
              <a:t>Activate the matching open_W5_CML3112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5 quiz. Explain why this example is needed before running it.</a:t>
            </a:r>
          </a:p>
          <a:p xmlns:a="http://schemas.openxmlformats.org/drawingml/2006/main">
            <a:r>
              <a:t/>
            </a:r>
          </a:p>
          <a:p xmlns:a="http://schemas.openxmlformats.org/drawingml/2006/main">
            <a:r>
              <a:t>EXPLAIN</a:t>
            </a:r>
          </a:p>
          <a:p xmlns:a="http://schemas.openxmlformats.org/drawingml/2006/main">
            <a:r>
              <a:t>You can explain which observations a filter keeps and what a grouped total means.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5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911ba20c5a842e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6d07a2a0c58432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63ca8a2e15c40a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b94f69e84784e9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25e42ea3ada482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68b14c8eed64a1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7E3ACB7-437B-4E51-BE55-170C2880AB2C}"/>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59ACCE4-BE0F-44E0-9607-09598FD1F4AF}"/>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69E31FCD-6944-413C-B64D-4BB4F840B5E3}"/>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5E8CDD0D-B3D9-490D-BF7F-7DCFFA8D9351}"/>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1D28F5CB-4D54-4FF6-864D-EB0B663819B4}"/>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E28CE8B-FB63-489C-A443-7E994FAFE8E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C77834B-57AB-4BC4-AE43-A1BE094EF77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91480A90-1512-4097-A7DA-6368F8B3B74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653E659-AA6D-42C3-8667-E3AD524339F3}"/>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3E61080-4BFD-4990-AF3F-65A1E988FA0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A1E2A64-2361-4DB0-99C9-6919ED0B3E0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BAF8B9C6-ECC8-46E3-B96B-F345A02D56B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F76146F-0957-40D2-A3F1-7A5E18231A3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03F464E-2643-4592-8471-DAA89CE6A6C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25893D7-2BC1-4E59-B51E-8E41EE96C43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abde6ddcffb4c45" /><Relationship Type="http://schemas.openxmlformats.org/officeDocument/2006/relationships/slideLayout" Target="/ppt/slideLayouts/slideLayout1.xml" Id="R4868ae4d73f5406e" /><Relationship Type="http://schemas.openxmlformats.org/officeDocument/2006/relationships/slideLayout" Target="/ppt/slideLayouts/slideLayout2.xml" Id="R4f558100aa4041bd" /><Relationship Type="http://schemas.openxmlformats.org/officeDocument/2006/relationships/slideLayout" Target="/ppt/slideLayouts/slideLayout3.xml" Id="R1194f1a0a590466f" /><Relationship Type="http://schemas.openxmlformats.org/officeDocument/2006/relationships/slideLayout" Target="/ppt/slideLayouts/slideLayout4.xml" Id="R0ef6230751054f8c" /><Relationship Type="http://schemas.openxmlformats.org/officeDocument/2006/relationships/slideLayout" Target="/ppt/slideLayouts/slideLayout5.xml" Id="Rb746f9d04bac4a36" /><Relationship Type="http://schemas.openxmlformats.org/officeDocument/2006/relationships/slideLayout" Target="/ppt/slideLayouts/slideLayout6.xml" Id="R963e1e10ba6d402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868ae4d73f5406e"/>
    <p:sldLayoutId xmlns:r="http://schemas.openxmlformats.org/officeDocument/2006/relationships" id="2147483650" r:id="R4f558100aa4041bd"/>
    <p:sldLayoutId xmlns:r="http://schemas.openxmlformats.org/officeDocument/2006/relationships" id="2147483651" r:id="R1194f1a0a590466f"/>
    <p:sldLayoutId xmlns:r="http://schemas.openxmlformats.org/officeDocument/2006/relationships" id="2147483652" r:id="R0ef6230751054f8c"/>
    <p:sldLayoutId xmlns:r="http://schemas.openxmlformats.org/officeDocument/2006/relationships" id="2147483653" r:id="Rb746f9d04bac4a36"/>
    <p:sldLayoutId xmlns:r="http://schemas.openxmlformats.org/officeDocument/2006/relationships" id="2147483654" r:id="R963e1e10ba6d402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700eee7957d4c18" /><Relationship Type="http://schemas.openxmlformats.org/officeDocument/2006/relationships/image" Target="/ppt/media/image.png" Id="R9f46973ac40740b8" /><Relationship Type="http://schemas.openxmlformats.org/officeDocument/2006/relationships/notesSlide" Target="/ppt/notesSlides/notesSlide1.xml" Id="R14cf777e68884d5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cddb395ea424b24" /><Relationship Type="http://schemas.openxmlformats.org/officeDocument/2006/relationships/notesSlide" Target="/ppt/notesSlides/notesSlide2.xml" Id="Re41e96a15cb04be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429626b1c774ea5" /><Relationship Type="http://schemas.openxmlformats.org/officeDocument/2006/relationships/notesSlide" Target="/ppt/notesSlides/notesSlide3.xml" Id="R2321bcd8188e47b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b8941ea47124aec" /><Relationship Type="http://schemas.openxmlformats.org/officeDocument/2006/relationships/notesSlide" Target="/ppt/notesSlides/notesSlide4.xml" Id="Rbe946529a93d491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ef8de52e0ed4046" /><Relationship Type="http://schemas.openxmlformats.org/officeDocument/2006/relationships/notesSlide" Target="/ppt/notesSlides/notesSlide5.xml" Id="R8e7a2705eb754b0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6095318b3dd4cab" /><Relationship Type="http://schemas.openxmlformats.org/officeDocument/2006/relationships/notesSlide" Target="/ppt/notesSlides/notesSlide6.xml" Id="R5d1eb717f9f34be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09891a61a1e480a" /><Relationship Type="http://schemas.openxmlformats.org/officeDocument/2006/relationships/notesSlide" Target="/ppt/notesSlides/notesSlide7.xml" Id="R72c957ff07f6430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ef8867d4dd64f45" /><Relationship Type="http://schemas.openxmlformats.org/officeDocument/2006/relationships/notesSlide" Target="/ppt/notesSlides/notesSlide8.xml" Id="R39d24c13ce5a4c9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bbd60971df941f2" /><Relationship Type="http://schemas.openxmlformats.org/officeDocument/2006/relationships/image" Target="/ppt/media/image2.png" Id="R273502bf2b9f4664" /><Relationship Type="http://schemas.openxmlformats.org/officeDocument/2006/relationships/notesSlide" Target="/ppt/notesSlides/notesSlide9.xml" Id="R2de587bb1cce4bc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62d48e381524ec7" /><Relationship Type="http://schemas.openxmlformats.org/officeDocument/2006/relationships/notesSlide" Target="/ppt/notesSlides/notesSlide10.xml" Id="R69546a0e1dfe42a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4a8819c5f20477c" /><Relationship Type="http://schemas.openxmlformats.org/officeDocument/2006/relationships/notesSlide" Target="/ppt/notesSlides/notesSlide11.xml" Id="R5dd92d7050bb449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6d4235577ea4484" /><Relationship Type="http://schemas.openxmlformats.org/officeDocument/2006/relationships/notesSlide" Target="/ppt/notesSlides/notesSlide12.xml" Id="R8988db285acf438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eef40ff2de84aa3" /><Relationship Type="http://schemas.openxmlformats.org/officeDocument/2006/relationships/notesSlide" Target="/ppt/notesSlides/notesSlide13.xml" Id="R38bc0a8a2250411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f8968d924714c2f" /><Relationship Type="http://schemas.openxmlformats.org/officeDocument/2006/relationships/notesSlide" Target="/ppt/notesSlides/notesSlide14.xml" Id="R051a774ccd22469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fe51c8a9a6a47a5" /><Relationship Type="http://schemas.openxmlformats.org/officeDocument/2006/relationships/image" Target="/ppt/media/image3.png" Id="R57a59c213cf14dd1" /><Relationship Type="http://schemas.openxmlformats.org/officeDocument/2006/relationships/notesSlide" Target="/ppt/notesSlides/notesSlide15.xml" Id="R4ac8164e1e75458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3adb635334b41df" /><Relationship Type="http://schemas.openxmlformats.org/officeDocument/2006/relationships/notesSlide" Target="/ppt/notesSlides/notesSlide16.xml" Id="R6971e34012a74f0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39d7c515b5a42e6" /><Relationship Type="http://schemas.openxmlformats.org/officeDocument/2006/relationships/notesSlide" Target="/ppt/notesSlides/notesSlide17.xml" Id="R22b118bc6ac8461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ee6952b6d554fa6" /><Relationship Type="http://schemas.openxmlformats.org/officeDocument/2006/relationships/notesSlide" Target="/ppt/notesSlides/notesSlide18.xml" Id="R17345b21d360475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2f283f0a55748f0" /><Relationship Type="http://schemas.openxmlformats.org/officeDocument/2006/relationships/notesSlide" Target="/ppt/notesSlides/notesSlide19.xml" Id="Ra0d164de5f9c4b5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399664322e74232" /><Relationship Type="http://schemas.openxmlformats.org/officeDocument/2006/relationships/notesSlide" Target="/ppt/notesSlides/notesSlide20.xml" Id="R290cdad2a5654c0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07e26124969483c" /><Relationship Type="http://schemas.openxmlformats.org/officeDocument/2006/relationships/notesSlide" Target="/ppt/notesSlides/notesSlide21.xml" Id="Rdf8704b4e34349b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62936f57b6649d1" /><Relationship Type="http://schemas.openxmlformats.org/officeDocument/2006/relationships/notesSlide" Target="/ppt/notesSlides/notesSlide22.xml" Id="R5f98e582e4434e1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ffd5ad037824bb7" /><Relationship Type="http://schemas.openxmlformats.org/officeDocument/2006/relationships/notesSlide" Target="/ppt/notesSlides/notesSlide23.xml" Id="Rd5d45091fea2490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dff2c57f8874ae5" /><Relationship Type="http://schemas.openxmlformats.org/officeDocument/2006/relationships/notesSlide" Target="/ppt/notesSlides/notesSlide24.xml" Id="Rb3a157ed499144d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4706b488fd74f2b" /><Relationship Type="http://schemas.openxmlformats.org/officeDocument/2006/relationships/notesSlide" Target="/ppt/notesSlides/notesSlide25.xml" Id="R30874212e6e74fa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f1f49318d0f444c8" /><Relationship Type="http://schemas.openxmlformats.org/officeDocument/2006/relationships/notesSlide" Target="/ppt/notesSlides/notesSlide26.xml" Id="Rad9e0f277d6b4b7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8487c9edcb04c4e" /><Relationship Type="http://schemas.openxmlformats.org/officeDocument/2006/relationships/notesSlide" Target="/ppt/notesSlides/notesSlide27.xml" Id="R6065560d1b87488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2cc887adf98462e" /><Relationship Type="http://schemas.openxmlformats.org/officeDocument/2006/relationships/notesSlide" Target="/ppt/notesSlides/notesSlide28.xml" Id="R33cfd7ecfd704d5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dae0dd9877f44da" /><Relationship Type="http://schemas.openxmlformats.org/officeDocument/2006/relationships/notesSlide" Target="/ppt/notesSlides/notesSlide29.xml" Id="R32dfc2a807d94ef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173f3bfea2e47c3" /><Relationship Type="http://schemas.openxmlformats.org/officeDocument/2006/relationships/notesSlide" Target="/ppt/notesSlides/notesSlide30.xml" Id="R31a0a5324c624aa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0a8d8f8891e469f" /><Relationship Type="http://schemas.openxmlformats.org/officeDocument/2006/relationships/notesSlide" Target="/ppt/notesSlides/notesSlide31.xml" Id="Rc1228d3389374ae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a821fb4994814ef1" /><Relationship Type="http://schemas.openxmlformats.org/officeDocument/2006/relationships/notesSlide" Target="/ppt/notesSlides/notesSlide32.xml" Id="R1135fc923ae142e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2e5c8d8583249cf" /><Relationship Type="http://schemas.openxmlformats.org/officeDocument/2006/relationships/notesSlide" Target="/ppt/notesSlides/notesSlide33.xml" Id="R904669f71de242b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f96f48d0a4e45a1" /><Relationship Type="http://schemas.openxmlformats.org/officeDocument/2006/relationships/notesSlide" Target="/ppt/notesSlides/notesSlide34.xml" Id="Rbf32ba4b01c24e3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c38769d91c184fde" /><Relationship Type="http://schemas.openxmlformats.org/officeDocument/2006/relationships/notesSlide" Target="/ppt/notesSlides/notesSlide35.xml" Id="Rbb412e30f379453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6ed18e7ccad4f9d" /><Relationship Type="http://schemas.openxmlformats.org/officeDocument/2006/relationships/notesSlide" Target="/ppt/notesSlides/notesSlide36.xml" Id="R7436f6a8248a48e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ffe4ada863e54757" /><Relationship Type="http://schemas.openxmlformats.org/officeDocument/2006/relationships/notesSlide" Target="/ppt/notesSlides/notesSlide37.xml" Id="R312cf71cfb2e4fe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19eb3d9cd6ba4dc2" /><Relationship Type="http://schemas.openxmlformats.org/officeDocument/2006/relationships/hyperlink" Target="https://docs.google.com/forms/d/e/1FAIpQLSeP_Eykf3YDYN_6sbB5to0B3LX14fsujEVPhsp8UezRZXTNGw/viewform" TargetMode="External" Id="R3652029fa7e9436b" /><Relationship Type="http://schemas.openxmlformats.org/officeDocument/2006/relationships/notesSlide" Target="/ppt/notesSlides/notesSlide38.xml" Id="R7c3b69e6e89f408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766f3056897a43ed" /><Relationship Type="http://schemas.openxmlformats.org/officeDocument/2006/relationships/notesSlide" Target="/ppt/notesSlides/notesSlide39.xml" Id="R59a14ba6209c476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627955b4da2940e2" /><Relationship Type="http://schemas.openxmlformats.org/officeDocument/2006/relationships/image" Target="/ppt/media/image4.png" Id="Re7a11050effc4b3a" /><Relationship Type="http://schemas.openxmlformats.org/officeDocument/2006/relationships/hyperlink" Target="https://forms.gle/Ykncf1mmEbvghZgJ6" TargetMode="External" Id="R5e938d90978043fd" /><Relationship Type="http://schemas.openxmlformats.org/officeDocument/2006/relationships/notesSlide" Target="/ppt/notesSlides/notesSlide40.xml" Id="R8a1688a3bb6b4e0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3de1dffee08845e7" /><Relationship Type="http://schemas.openxmlformats.org/officeDocument/2006/relationships/notesSlide" Target="/ppt/notesSlides/notesSlide41.xml" Id="R939957b0bd5b493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f46973ac40740b8"/>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DF45A60-90A7-4CAE-9F1C-FAD64D791B0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9389DBE-8BEF-4A1A-A9AE-5BB6D9C53B1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5</a:t>
            </a:r>
          </a:p>
        </p:txBody>
      </p:sp>
      <p:sp>
        <p:nvSpPr>
          <p:cNvPr id="4" name="">
            <a:extLst xmlns:a="http://schemas.openxmlformats.org/drawingml/2006/main">
              <a:ext uri="{FF2B5EF4-FFF2-40B4-BE49-F238E27FC236}">
                <a16:creationId xmlns:a16="http://schemas.microsoft.com/office/drawing/2014/main" id="{4887F491-3FDA-479E-93A5-8BE6D0F5EFE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8ACFD6E5-9965-46CD-BAD4-CB114B56DD73}"/>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7B38127B-FCDF-49DC-B3CF-E234F85C3A42}"/>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27942736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AC4717B-8EA9-4D60-88E5-DDAF766F8E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B2B7CF-E5C2-49F9-BF1B-F888D1E9D2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DA2CD9AF-7580-437B-AB70-F144A85605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F127C9C-B30A-4DE3-9E63-173884759F04}"/>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A962D0-28DB-430C-9409-D3FCDCFDD83B}"/>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F707678-3597-415F-A163-D4882CE1F880}"/>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9D6EEDED-6F8B-4AC8-B145-66D59F46AEC1}"/>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9ACBCDD-09CA-4BD2-BF81-106898D833F0}"/>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33205B00-8626-4045-8C64-6E73239AAA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a:t>
            </a:r>
          </a:p>
        </p:txBody>
      </p:sp>
    </p:spTree>
    <p:extLst>
      <p:ext uri="{BB962C8B-B14F-4D97-AF65-F5344CB8AC3E}">
        <p14:creationId xmlns:p14="http://schemas.microsoft.com/office/powerpoint/2010/main" val="4808080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FC6F485-284F-4C12-A8DB-58F987A641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3372B2-FBAE-4446-AA20-5DAFFA9AD9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CF59D0-2211-4130-95C3-22E827C156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8462FDEF-3479-4ED0-9D54-57EEE9F9745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94D8F1-4CF0-48D0-9BEA-09B95275B22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Week 4 used lists, dictionaries, loops and CSV rows. pandas keeps these same records in a labelled table and provides operations that work across its columns.</a:t>
            </a:r>
          </a:p>
        </p:txBody>
      </p:sp>
      <p:sp>
        <p:nvSpPr>
          <p:cNvPr id="6" name="">
            <a:extLst xmlns:a="http://schemas.openxmlformats.org/drawingml/2006/main">
              <a:ext uri="{FF2B5EF4-FFF2-40B4-BE49-F238E27FC236}">
                <a16:creationId xmlns:a16="http://schemas.microsoft.com/office/drawing/2014/main" id="{E61F1AA8-4B35-4F13-AE7B-92CEA2C2B6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a:t>
            </a:r>
          </a:p>
        </p:txBody>
      </p:sp>
    </p:spTree>
    <p:extLst>
      <p:ext uri="{BB962C8B-B14F-4D97-AF65-F5344CB8AC3E}">
        <p14:creationId xmlns:p14="http://schemas.microsoft.com/office/powerpoint/2010/main" val="209905519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E02B712-2FC0-488D-B8A5-47D3C885C3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FAA316-300C-46C2-A971-0FAAAAE270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F56EB7-A9B4-4274-BCCB-8F355CFC47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C2B0BF36-CEF6-44BA-BCC8-0B9647DA9C1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16C077-FB4E-4372-93DC-91BE4E4BC8D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supplied campus_energy.csv records campus electricity use.</a:t>
            </a:r>
          </a:p>
        </p:txBody>
      </p:sp>
      <p:sp>
        <p:nvSpPr>
          <p:cNvPr id="6" name="">
            <a:extLst xmlns:a="http://schemas.openxmlformats.org/drawingml/2006/main">
              <a:ext uri="{FF2B5EF4-FFF2-40B4-BE49-F238E27FC236}">
                <a16:creationId xmlns:a16="http://schemas.microsoft.com/office/drawing/2014/main" id="{7C94123A-C27E-4875-BCD7-A212D980FF91}"/>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practise pandas on four invented rows first, then inspect the supplied file and its units.</a:t>
            </a:r>
          </a:p>
        </p:txBody>
      </p:sp>
      <p:sp>
        <p:nvSpPr>
          <p:cNvPr id="7" name="">
            <a:extLst xmlns:a="http://schemas.openxmlformats.org/drawingml/2006/main">
              <a:ext uri="{FF2B5EF4-FFF2-40B4-BE49-F238E27FC236}">
                <a16:creationId xmlns:a16="http://schemas.microsoft.com/office/drawing/2014/main" id="{F1D3CEC9-C9AD-4E4E-B881-B2C4966381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a:t>
            </a:r>
          </a:p>
        </p:txBody>
      </p:sp>
    </p:spTree>
    <p:extLst>
      <p:ext uri="{BB962C8B-B14F-4D97-AF65-F5344CB8AC3E}">
        <p14:creationId xmlns:p14="http://schemas.microsoft.com/office/powerpoint/2010/main" val="40584779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DF271AD-6D85-47E2-AA8F-62076ED5A0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68E462-5355-461A-8CAD-45E2FBE938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78915A1-22BD-4FB2-95F8-B1C3057502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units</a:t>
            </a:r>
          </a:p>
        </p:txBody>
      </p:sp>
      <p:sp>
        <p:nvSpPr>
          <p:cNvPr id="4" name="">
            <a:extLst xmlns:a="http://schemas.openxmlformats.org/drawingml/2006/main">
              <a:ext uri="{FF2B5EF4-FFF2-40B4-BE49-F238E27FC236}">
                <a16:creationId xmlns:a16="http://schemas.microsoft.com/office/drawing/2014/main" id="{86523C68-00AB-4747-B81E-CD1ADEACE4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60166A-62D6-42D7-9828-CB72FE349EC7}"/>
              </a:ext>
            </a:extLst>
          </p:cNvPr>
          <p:cNvSpPr>
            <a:spLocks xmlns:a="http://schemas.openxmlformats.org/drawingml/2006/main" noGrp="1"/>
          </p:cNvSpPr>
          <p:nvPr/>
        </p:nvSpPr>
        <p:spPr>
          <a:xfrm xmlns:a="http://schemas.openxmlformats.org/drawingml/2006/main">
            <a:off x="1381125" y="1781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row describes one observation. A column describes one field.</a:t>
            </a:r>
          </a:p>
        </p:txBody>
      </p:sp>
      <p:sp>
        <p:nvSpPr>
          <p:cNvPr id="6" name="">
            <a:extLst xmlns:a="http://schemas.openxmlformats.org/drawingml/2006/main">
              <a:ext uri="{FF2B5EF4-FFF2-40B4-BE49-F238E27FC236}">
                <a16:creationId xmlns:a16="http://schemas.microsoft.com/office/drawing/2014/main" id="{EDF899FA-F5C0-499A-82C5-A0197AF3AF51}"/>
              </a:ext>
            </a:extLst>
          </p:cNvPr>
          <p:cNvSpPr>
            <a:spLocks xmlns:a="http://schemas.openxmlformats.org/drawingml/2006/main" noGrp="1"/>
          </p:cNvSpPr>
          <p:nvPr/>
        </p:nvSpPr>
        <p:spPr>
          <a:xfrm xmlns:a="http://schemas.openxmlformats.org/drawingml/2006/main">
            <a:off x="590550" y="26384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484A54-B063-4DD6-95B3-1AD6E3D72EA7}"/>
              </a:ext>
            </a:extLst>
          </p:cNvPr>
          <p:cNvSpPr>
            <a:spLocks xmlns:a="http://schemas.openxmlformats.org/drawingml/2006/main" noGrp="1"/>
          </p:cNvSpPr>
          <p:nvPr/>
        </p:nvSpPr>
        <p:spPr>
          <a:xfrm xmlns:a="http://schemas.openxmlformats.org/drawingml/2006/main">
            <a:off x="1381125" y="26384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pandas’ labelled table.</a:t>
            </a:r>
          </a:p>
        </p:txBody>
      </p:sp>
      <p:sp>
        <p:nvSpPr>
          <p:cNvPr id="8" name="">
            <a:extLst xmlns:a="http://schemas.openxmlformats.org/drawingml/2006/main">
              <a:ext uri="{FF2B5EF4-FFF2-40B4-BE49-F238E27FC236}">
                <a16:creationId xmlns:a16="http://schemas.microsoft.com/office/drawing/2014/main" id="{1D841A36-7BF6-4C95-A00D-2B92513306CA}"/>
              </a:ext>
            </a:extLst>
          </p:cNvPr>
          <p:cNvSpPr>
            <a:spLocks xmlns:a="http://schemas.openxmlformats.org/drawingml/2006/main" noGrp="1"/>
          </p:cNvSpPr>
          <p:nvPr/>
        </p:nvSpPr>
        <p:spPr>
          <a:xfrm xmlns:a="http://schemas.openxmlformats.org/drawingml/2006/main">
            <a:off x="590550" y="3495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1839490-9FB6-42D5-9D7C-333A4C927E6B}"/>
              </a:ext>
            </a:extLst>
          </p:cNvPr>
          <p:cNvSpPr>
            <a:spLocks xmlns:a="http://schemas.openxmlformats.org/drawingml/2006/main" noGrp="1"/>
          </p:cNvSpPr>
          <p:nvPr/>
        </p:nvSpPr>
        <p:spPr>
          <a:xfrm xmlns:a="http://schemas.openxmlformats.org/drawingml/2006/main">
            <a:off x="1381125" y="34956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Series is one labelled column.</a:t>
            </a:r>
          </a:p>
        </p:txBody>
      </p:sp>
      <p:sp>
        <p:nvSpPr>
          <p:cNvPr id="10" name="">
            <a:extLst xmlns:a="http://schemas.openxmlformats.org/drawingml/2006/main">
              <a:ext uri="{FF2B5EF4-FFF2-40B4-BE49-F238E27FC236}">
                <a16:creationId xmlns:a16="http://schemas.microsoft.com/office/drawing/2014/main" id="{76B925EA-5EB3-47F2-BBC8-09537CDC5165}"/>
              </a:ext>
            </a:extLst>
          </p:cNvPr>
          <p:cNvSpPr>
            <a:spLocks xmlns:a="http://schemas.openxmlformats.org/drawingml/2006/main" noGrp="1"/>
          </p:cNvSpPr>
          <p:nvPr/>
        </p:nvSpPr>
        <p:spPr>
          <a:xfrm xmlns:a="http://schemas.openxmlformats.org/drawingml/2006/main">
            <a:off x="590550" y="4352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BCBEF5C-7C6E-474C-AB58-DCE36EB7C419}"/>
              </a:ext>
            </a:extLst>
          </p:cNvPr>
          <p:cNvSpPr>
            <a:spLocks xmlns:a="http://schemas.openxmlformats.org/drawingml/2006/main" noGrp="1"/>
          </p:cNvSpPr>
          <p:nvPr/>
        </p:nvSpPr>
        <p:spPr>
          <a:xfrm xmlns:a="http://schemas.openxmlformats.org/drawingml/2006/main">
            <a:off x="1381125" y="43529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measures energy. kW measures power.</a:t>
            </a:r>
          </a:p>
        </p:txBody>
      </p:sp>
      <p:sp>
        <p:nvSpPr>
          <p:cNvPr id="12" name="">
            <a:extLst xmlns:a="http://schemas.openxmlformats.org/drawingml/2006/main">
              <a:ext uri="{FF2B5EF4-FFF2-40B4-BE49-F238E27FC236}">
                <a16:creationId xmlns:a16="http://schemas.microsoft.com/office/drawing/2014/main" id="{801B1B85-3329-4BD2-9B77-B5764CB1A649}"/>
              </a:ext>
            </a:extLst>
          </p:cNvPr>
          <p:cNvSpPr>
            <a:spLocks xmlns:a="http://schemas.openxmlformats.org/drawingml/2006/main" noGrp="1"/>
          </p:cNvSpPr>
          <p:nvPr/>
        </p:nvSpPr>
        <p:spPr>
          <a:xfrm xmlns:a="http://schemas.openxmlformats.org/drawingml/2006/main">
            <a:off x="590550" y="5210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05</a:t>
            </a:r>
          </a:p>
        </p:txBody>
      </p:sp>
      <p:sp>
        <p:nvSpPr>
          <p:cNvPr id="13" name="">
            <a:extLst xmlns:a="http://schemas.openxmlformats.org/drawingml/2006/main">
              <a:ext uri="{FF2B5EF4-FFF2-40B4-BE49-F238E27FC236}">
                <a16:creationId xmlns:a16="http://schemas.microsoft.com/office/drawing/2014/main" id="{7CD05852-90C0-43AD-8AEA-98D7ADC58F3B}"/>
              </a:ext>
            </a:extLst>
          </p:cNvPr>
          <p:cNvSpPr>
            <a:spLocks xmlns:a="http://schemas.openxmlformats.org/drawingml/2006/main" noGrp="1"/>
          </p:cNvSpPr>
          <p:nvPr/>
        </p:nvSpPr>
        <p:spPr>
          <a:xfrm xmlns:a="http://schemas.openxmlformats.org/drawingml/2006/main">
            <a:off x="1381125" y="5210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type (dtype) describes the kind of values in a column, such as whole numbers, decimals or text.</a:t>
            </a:r>
          </a:p>
        </p:txBody>
      </p:sp>
      <p:sp>
        <p:nvSpPr>
          <p:cNvPr id="14" name="">
            <a:extLst xmlns:a="http://schemas.openxmlformats.org/drawingml/2006/main">
              <a:ext uri="{FF2B5EF4-FFF2-40B4-BE49-F238E27FC236}">
                <a16:creationId xmlns:a16="http://schemas.microsoft.com/office/drawing/2014/main" id="{B8F590E0-9E34-48FA-9348-2D80516D61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5</a:t>
            </a:r>
          </a:p>
        </p:txBody>
      </p:sp>
    </p:spTree>
    <p:extLst>
      <p:ext uri="{BB962C8B-B14F-4D97-AF65-F5344CB8AC3E}">
        <p14:creationId xmlns:p14="http://schemas.microsoft.com/office/powerpoint/2010/main" val="56269069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2AF779-5F0A-4E05-BD8B-206AFA9A30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021938-DB50-49DD-814C-E6B1FBDF6B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6DD399-EE9C-44AC-8C29-F9119FA52D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table keeps related observations together</a:t>
            </a:r>
          </a:p>
        </p:txBody>
      </p:sp>
      <p:sp>
        <p:nvSpPr>
          <p:cNvPr id="4" name="">
            <a:extLst xmlns:a="http://schemas.openxmlformats.org/drawingml/2006/main">
              <a:ext uri="{FF2B5EF4-FFF2-40B4-BE49-F238E27FC236}">
                <a16:creationId xmlns:a16="http://schemas.microsoft.com/office/drawing/2014/main" id="{3E85B628-4FCD-46CC-8AD6-A308804370E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24CA79-E44B-4745-B821-136041A8D32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four rows record building A twice and building B twice.</a:t>
            </a:r>
          </a:p>
        </p:txBody>
      </p:sp>
      <p:sp>
        <p:nvSpPr>
          <p:cNvPr id="6" name="">
            <a:extLst xmlns:a="http://schemas.openxmlformats.org/drawingml/2006/main">
              <a:ext uri="{FF2B5EF4-FFF2-40B4-BE49-F238E27FC236}">
                <a16:creationId xmlns:a16="http://schemas.microsoft.com/office/drawing/2014/main" id="{ED35BE3C-1D4C-4082-9F5D-A1266E1D32D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3FB8C83-50FD-4E14-838B-31E7823912C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the building label and an energy reading.</a:t>
            </a:r>
          </a:p>
        </p:txBody>
      </p:sp>
      <p:sp>
        <p:nvSpPr>
          <p:cNvPr id="8" name="">
            <a:extLst xmlns:a="http://schemas.openxmlformats.org/drawingml/2006/main">
              <a:ext uri="{FF2B5EF4-FFF2-40B4-BE49-F238E27FC236}">
                <a16:creationId xmlns:a16="http://schemas.microsoft.com/office/drawing/2014/main" id="{E52CCB54-E4DA-49E1-B6ED-CC011F9378B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5C3A9D-D9A8-4A84-901D-37F81C067A3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is energy. kW is power. The units describe different quantities.</a:t>
            </a:r>
          </a:p>
        </p:txBody>
      </p:sp>
      <p:sp>
        <p:nvSpPr>
          <p:cNvPr id="10" name="">
            <a:extLst xmlns:a="http://schemas.openxmlformats.org/drawingml/2006/main">
              <a:ext uri="{FF2B5EF4-FFF2-40B4-BE49-F238E27FC236}">
                <a16:creationId xmlns:a16="http://schemas.microsoft.com/office/drawing/2014/main" id="{9598CE57-E742-4E70-8AB9-E2E7CD561C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6</a:t>
            </a:r>
          </a:p>
        </p:txBody>
      </p:sp>
    </p:spTree>
    <p:extLst>
      <p:ext uri="{BB962C8B-B14F-4D97-AF65-F5344CB8AC3E}">
        <p14:creationId xmlns:p14="http://schemas.microsoft.com/office/powerpoint/2010/main" val="83904719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14EFB4C-C63F-4BC4-926C-E330B45506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A53DAE-99F7-4A97-A534-F98EA0008B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A105733-F439-41B5-9BC7-338B55762A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Our small energy table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building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kwh</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5</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7</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2DFFCA6-6297-4267-A9EE-A42491F6905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four observations total 18 kWh.</a:t>
            </a:r>
          </a:p>
        </p:txBody>
      </p:sp>
      <p:sp>
        <p:nvSpPr>
          <p:cNvPr id="6" name="">
            <a:extLst xmlns:a="http://schemas.openxmlformats.org/drawingml/2006/main">
              <a:ext uri="{FF2B5EF4-FFF2-40B4-BE49-F238E27FC236}">
                <a16:creationId xmlns:a16="http://schemas.microsoft.com/office/drawing/2014/main" id="{959A2D9F-F654-4D15-8916-7BFD435806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7</a:t>
            </a:r>
          </a:p>
        </p:txBody>
      </p:sp>
    </p:spTree>
    <p:extLst>
      <p:ext uri="{BB962C8B-B14F-4D97-AF65-F5344CB8AC3E}">
        <p14:creationId xmlns:p14="http://schemas.microsoft.com/office/powerpoint/2010/main" val="14843723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B290D8-2DBD-4213-A01F-BC560F8B07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FE257D-8624-4D57-89B9-027DE95F19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DFDB823-482A-44C5-A25C-A5CAEA58D2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Library and pandas and DataFrame</a:t>
            </a:r>
          </a:p>
        </p:txBody>
      </p:sp>
      <p:sp>
        <p:nvSpPr>
          <p:cNvPr id="4" name="">
            <a:extLst xmlns:a="http://schemas.openxmlformats.org/drawingml/2006/main">
              <a:ext uri="{FF2B5EF4-FFF2-40B4-BE49-F238E27FC236}">
                <a16:creationId xmlns:a16="http://schemas.microsoft.com/office/drawing/2014/main" id="{50CCF54B-5EE9-4808-A273-C30F89B8A0A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3A19D3-1E62-479A-9EAE-62B86AA5A07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Library and pandas</a:t>
            </a:r>
          </a:p>
        </p:txBody>
      </p:sp>
      <p:sp>
        <p:nvSpPr>
          <p:cNvPr id="6" name="">
            <a:extLst xmlns:a="http://schemas.openxmlformats.org/drawingml/2006/main">
              <a:ext uri="{FF2B5EF4-FFF2-40B4-BE49-F238E27FC236}">
                <a16:creationId xmlns:a16="http://schemas.microsoft.com/office/drawing/2014/main" id="{91052EA9-2B6E-4F7D-8574-25FB3912551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library is reusable code. pandas provides tools for data tables. import pandas as pd makes pd a short name for that library.</a:t>
            </a:r>
          </a:p>
        </p:txBody>
      </p:sp>
      <p:sp>
        <p:nvSpPr>
          <p:cNvPr id="7" name="">
            <a:extLst xmlns:a="http://schemas.openxmlformats.org/drawingml/2006/main">
              <a:ext uri="{FF2B5EF4-FFF2-40B4-BE49-F238E27FC236}">
                <a16:creationId xmlns:a16="http://schemas.microsoft.com/office/drawing/2014/main" id="{3CBDC467-F7A2-4BA5-8E64-4CD16DC479C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DF6FDCB-1D50-40A8-AADA-F404400964F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DataFrame</a:t>
            </a:r>
          </a:p>
        </p:txBody>
      </p:sp>
      <p:sp>
        <p:nvSpPr>
          <p:cNvPr id="9" name="">
            <a:extLst xmlns:a="http://schemas.openxmlformats.org/drawingml/2006/main">
              <a:ext uri="{FF2B5EF4-FFF2-40B4-BE49-F238E27FC236}">
                <a16:creationId xmlns:a16="http://schemas.microsoft.com/office/drawing/2014/main" id="{1B3148AB-1ADE-4AAA-A257-BC8856547D9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table with named columns and indexed rows. df is just the variable name we choose for this table.</a:t>
            </a:r>
          </a:p>
        </p:txBody>
      </p:sp>
      <p:sp>
        <p:nvSpPr>
          <p:cNvPr id="10" name="">
            <a:extLst xmlns:a="http://schemas.openxmlformats.org/drawingml/2006/main">
              <a:ext uri="{FF2B5EF4-FFF2-40B4-BE49-F238E27FC236}">
                <a16:creationId xmlns:a16="http://schemas.microsoft.com/office/drawing/2014/main" id="{F4E3E5E0-5830-4690-BD68-E4D683F01D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8</a:t>
            </a:r>
          </a:p>
        </p:txBody>
      </p:sp>
    </p:spTree>
    <p:extLst>
      <p:ext uri="{BB962C8B-B14F-4D97-AF65-F5344CB8AC3E}">
        <p14:creationId xmlns:p14="http://schemas.microsoft.com/office/powerpoint/2010/main" val="212755946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2667030-DEAD-426E-A22C-F2B3C3844BC4}"/>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2C2E8C-8DF6-4B1C-8F8C-B0F1FE7892E8}"/>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labelled table in Python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273502bf2b9f4664"/>
          <a:stretch xmlns:a="http://schemas.openxmlformats.org/drawingml/2006/main"/>
        </p:blipFill>
        <p:spPr>
          <a:xfrm xmlns:a="http://schemas.openxmlformats.org/drawingml/2006/main">
            <a:off x="509073" y="1057275"/>
            <a:ext cx="1117385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0A6C79D-BB8B-47B0-BCA5-E9F5A134D72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F7B21F-74E3-4E45-81CB-4DC546C7AEC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machinery records. The same row, column and index structure applies to our building-energy table.</a:t>
            </a:r>
          </a:p>
        </p:txBody>
      </p:sp>
      <p:sp>
        <p:nvSpPr>
          <p:cNvPr id="6" name="">
            <a:extLst xmlns:a="http://schemas.openxmlformats.org/drawingml/2006/main">
              <a:ext uri="{FF2B5EF4-FFF2-40B4-BE49-F238E27FC236}">
                <a16:creationId xmlns:a16="http://schemas.microsoft.com/office/drawing/2014/main" id="{1EF9CD8C-FA18-475D-BB98-D3235B9B2B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9</a:t>
            </a:r>
          </a:p>
        </p:txBody>
      </p:sp>
    </p:spTree>
    <p:extLst>
      <p:ext uri="{BB962C8B-B14F-4D97-AF65-F5344CB8AC3E}">
        <p14:creationId xmlns:p14="http://schemas.microsoft.com/office/powerpoint/2010/main" val="17642632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5968A2-F3B5-4E33-8E67-8ACD592C57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EFCB11-28E7-4855-B39A-35CFE6CA54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4E35B23-DED9-4066-98BD-F72A859C85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Series and Method and attribute</a:t>
            </a:r>
          </a:p>
        </p:txBody>
      </p:sp>
      <p:sp>
        <p:nvSpPr>
          <p:cNvPr id="4" name="">
            <a:extLst xmlns:a="http://schemas.openxmlformats.org/drawingml/2006/main">
              <a:ext uri="{FF2B5EF4-FFF2-40B4-BE49-F238E27FC236}">
                <a16:creationId xmlns:a16="http://schemas.microsoft.com/office/drawing/2014/main" id="{8630924C-E4A1-4AC9-963E-35BD7B1DA13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CE2F90-AB52-4C76-B0D2-063AEC65A1B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Series</a:t>
            </a:r>
          </a:p>
        </p:txBody>
      </p:sp>
      <p:sp>
        <p:nvSpPr>
          <p:cNvPr id="6" name="">
            <a:extLst xmlns:a="http://schemas.openxmlformats.org/drawingml/2006/main">
              <a:ext uri="{FF2B5EF4-FFF2-40B4-BE49-F238E27FC236}">
                <a16:creationId xmlns:a16="http://schemas.microsoft.com/office/drawing/2014/main" id="{15D060CA-C1DE-4198-B6BF-971C022B18D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One labelled column. df["kwh"] selects the column named kwh.</a:t>
            </a:r>
          </a:p>
        </p:txBody>
      </p:sp>
      <p:sp>
        <p:nvSpPr>
          <p:cNvPr id="7" name="">
            <a:extLst xmlns:a="http://schemas.openxmlformats.org/drawingml/2006/main">
              <a:ext uri="{FF2B5EF4-FFF2-40B4-BE49-F238E27FC236}">
                <a16:creationId xmlns:a16="http://schemas.microsoft.com/office/drawing/2014/main" id="{1EDB02D3-5080-4E13-93FF-F47C6BE5AAE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BCAF5DB-766C-4E67-8C18-DD4228209AE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Method and attribute</a:t>
            </a:r>
          </a:p>
        </p:txBody>
      </p:sp>
      <p:sp>
        <p:nvSpPr>
          <p:cNvPr id="9" name="">
            <a:extLst xmlns:a="http://schemas.openxmlformats.org/drawingml/2006/main">
              <a:ext uri="{FF2B5EF4-FFF2-40B4-BE49-F238E27FC236}">
                <a16:creationId xmlns:a16="http://schemas.microsoft.com/office/drawing/2014/main" id="{CCE46701-A0E5-4FBC-AEF4-B5009EC8EBE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method performs an operation, as in df.head(). An attribute provides a stored property, as in df.shape. Parentheses call an operation.</a:t>
            </a:r>
          </a:p>
        </p:txBody>
      </p:sp>
      <p:sp>
        <p:nvSpPr>
          <p:cNvPr id="10" name="">
            <a:extLst xmlns:a="http://schemas.openxmlformats.org/drawingml/2006/main">
              <a:ext uri="{FF2B5EF4-FFF2-40B4-BE49-F238E27FC236}">
                <a16:creationId xmlns:a16="http://schemas.microsoft.com/office/drawing/2014/main" id="{EF5B4F32-FA5D-4E85-8CF7-78895F1D90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10</a:t>
            </a:r>
          </a:p>
        </p:txBody>
      </p:sp>
    </p:spTree>
    <p:extLst>
      <p:ext uri="{BB962C8B-B14F-4D97-AF65-F5344CB8AC3E}">
        <p14:creationId xmlns:p14="http://schemas.microsoft.com/office/powerpoint/2010/main" val="140400519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0062FB0-E660-4F6D-A13F-E812D43738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0F222F-DFAA-4420-A36E-B8826A94A3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539835F-C5A5-4075-99CF-E564E89828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pandas syntax</a:t>
            </a:r>
          </a:p>
        </p:txBody>
      </p:sp>
      <p:sp>
        <p:nvSpPr>
          <p:cNvPr id="4" name="">
            <a:extLst xmlns:a="http://schemas.openxmlformats.org/drawingml/2006/main">
              <a:ext uri="{FF2B5EF4-FFF2-40B4-BE49-F238E27FC236}">
                <a16:creationId xmlns:a16="http://schemas.microsoft.com/office/drawing/2014/main" id="{E33CF650-7AE8-4FD6-8BB5-C332BB3800E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2750E8-7103-477D-85F5-C565E7A95E3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the library and gives it a short name.</a:t>
            </a:r>
          </a:p>
        </p:txBody>
      </p:sp>
      <p:sp>
        <p:nvSpPr>
          <p:cNvPr id="6" name="">
            <a:extLst xmlns:a="http://schemas.openxmlformats.org/drawingml/2006/main">
              <a:ext uri="{FF2B5EF4-FFF2-40B4-BE49-F238E27FC236}">
                <a16:creationId xmlns:a16="http://schemas.microsoft.com/office/drawing/2014/main" id="{0F476903-FE28-42BB-9850-BC027E11EF5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A86E4A-D817-4762-B58A-1275ECFE9DF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pd.read_csv("file.csv") calls a function. The quoted text is the file path.</a:t>
            </a:r>
          </a:p>
        </p:txBody>
      </p:sp>
      <p:sp>
        <p:nvSpPr>
          <p:cNvPr id="8" name="">
            <a:extLst xmlns:a="http://schemas.openxmlformats.org/drawingml/2006/main">
              <a:ext uri="{FF2B5EF4-FFF2-40B4-BE49-F238E27FC236}">
                <a16:creationId xmlns:a16="http://schemas.microsoft.com/office/drawing/2014/main" id="{A92FF2FB-896E-48FB-A14B-78FED9196E9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BF112AF-4ECA-426E-A55C-25BBF6B5041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a column. df["kwh"].mean() calls a method on that column.</a:t>
            </a:r>
          </a:p>
        </p:txBody>
      </p:sp>
      <p:sp>
        <p:nvSpPr>
          <p:cNvPr id="10" name="">
            <a:extLst xmlns:a="http://schemas.openxmlformats.org/drawingml/2006/main">
              <a:ext uri="{FF2B5EF4-FFF2-40B4-BE49-F238E27FC236}">
                <a16:creationId xmlns:a16="http://schemas.microsoft.com/office/drawing/2014/main" id="{008CC357-D822-4754-8DB1-BD29005C2C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11</a:t>
            </a:r>
          </a:p>
        </p:txBody>
      </p:sp>
    </p:spTree>
    <p:extLst>
      <p:ext uri="{BB962C8B-B14F-4D97-AF65-F5344CB8AC3E}">
        <p14:creationId xmlns:p14="http://schemas.microsoft.com/office/powerpoint/2010/main" val="65762764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7CB63E-6FE8-44D6-AF5C-C1EFE84038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06E66C-658A-4139-827E-AEF3F652E6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00D3F59-427B-44F7-BCFC-05EE9117C2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 the table before asking questions</a:t>
            </a:r>
          </a:p>
        </p:txBody>
      </p:sp>
      <p:sp>
        <p:nvSpPr>
          <p:cNvPr id="4" name="">
            <a:extLst xmlns:a="http://schemas.openxmlformats.org/drawingml/2006/main">
              <a:ext uri="{FF2B5EF4-FFF2-40B4-BE49-F238E27FC236}">
                <a16:creationId xmlns:a16="http://schemas.microsoft.com/office/drawing/2014/main" id="{90760849-8843-4444-91D8-B044877BD6E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85382E-48D4-4E8D-932D-05640444F59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 = pd.DataFrame({"building": ["A", "A", "B",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"kwh": [2, 4,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a:t>
            </a:r>
          </a:p>
        </p:txBody>
      </p:sp>
      <p:sp>
        <p:nvSpPr>
          <p:cNvPr id="6" name="">
            <a:extLst xmlns:a="http://schemas.openxmlformats.org/drawingml/2006/main">
              <a:ext uri="{FF2B5EF4-FFF2-40B4-BE49-F238E27FC236}">
                <a16:creationId xmlns:a16="http://schemas.microsoft.com/office/drawing/2014/main" id="{C477E56D-4B97-43A8-A485-39775CE16F7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E42D0CC7-BD85-4E5D-8ABA-FABFAC809BA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Each dictionary key becomes a column name. Equal-length lists supply its rows.</a:t>
            </a:r>
          </a:p>
        </p:txBody>
      </p:sp>
      <p:sp>
        <p:nvSpPr>
          <p:cNvPr id="8" name="">
            <a:extLst xmlns:a="http://schemas.openxmlformats.org/drawingml/2006/main">
              <a:ext uri="{FF2B5EF4-FFF2-40B4-BE49-F238E27FC236}">
                <a16:creationId xmlns:a16="http://schemas.microsoft.com/office/drawing/2014/main" id="{BB50B53E-7F1B-4FC1-B9F6-A82A343E39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12</a:t>
            </a:r>
          </a:p>
        </p:txBody>
      </p:sp>
    </p:spTree>
    <p:extLst>
      <p:ext uri="{BB962C8B-B14F-4D97-AF65-F5344CB8AC3E}">
        <p14:creationId xmlns:p14="http://schemas.microsoft.com/office/powerpoint/2010/main" val="85307047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7E20A4A-BE2B-4424-B91D-03ACC9A213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08E6B7-67C6-40C3-8588-04A52BC6E4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EEEC62-C308-437F-A8EC-B9BFA31C5B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a column and calculate its mean</a:t>
            </a:r>
          </a:p>
        </p:txBody>
      </p:sp>
      <p:sp>
        <p:nvSpPr>
          <p:cNvPr id="4" name="">
            <a:extLst xmlns:a="http://schemas.openxmlformats.org/drawingml/2006/main">
              <a:ext uri="{FF2B5EF4-FFF2-40B4-BE49-F238E27FC236}">
                <a16:creationId xmlns:a16="http://schemas.microsoft.com/office/drawing/2014/main" id="{EAD722B2-FC69-4D04-B61C-6E130428F8D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568D60-1917-4B2C-B598-E15AABFD6CC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print(df["kwh"].mean())</a:t>
            </a:r>
          </a:p>
        </p:txBody>
      </p:sp>
      <p:sp>
        <p:nvSpPr>
          <p:cNvPr id="6" name="">
            <a:extLst xmlns:a="http://schemas.openxmlformats.org/drawingml/2006/main">
              <a:ext uri="{FF2B5EF4-FFF2-40B4-BE49-F238E27FC236}">
                <a16:creationId xmlns:a16="http://schemas.microsoft.com/office/drawing/2014/main" id="{04F26939-8374-40C7-8EAA-BB7DF8C3528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A5BD5FA-02C0-420A-87AD-5ECE8C67CD9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B0E6765-BF6B-4445-A643-F908E60181B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72881767-92A3-4D89-9EF6-CC37D1B77F3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four numbers are 2, 4, 5 and 7. Their mean is 18 / 4 = 4.5 kWh.</a:t>
            </a:r>
          </a:p>
        </p:txBody>
      </p:sp>
      <p:sp>
        <p:nvSpPr>
          <p:cNvPr id="10" name="">
            <a:extLst xmlns:a="http://schemas.openxmlformats.org/drawingml/2006/main">
              <a:ext uri="{FF2B5EF4-FFF2-40B4-BE49-F238E27FC236}">
                <a16:creationId xmlns:a16="http://schemas.microsoft.com/office/drawing/2014/main" id="{4C08E341-EB5B-4369-87D1-9ECEB86E89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13</a:t>
            </a:r>
          </a:p>
        </p:txBody>
      </p:sp>
    </p:spTree>
    <p:extLst>
      <p:ext uri="{BB962C8B-B14F-4D97-AF65-F5344CB8AC3E}">
        <p14:creationId xmlns:p14="http://schemas.microsoft.com/office/powerpoint/2010/main" val="142799270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4500175-C99D-469D-B9B6-19EDD34CD9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ED4CA1-1DC4-4A41-8796-2C0F1E4E14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F5853A2-9403-4F9D-A284-737E8EC8F5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Mask and filter</a:t>
            </a:r>
          </a:p>
        </p:txBody>
      </p:sp>
      <p:sp>
        <p:nvSpPr>
          <p:cNvPr id="4" name="">
            <a:extLst xmlns:a="http://schemas.openxmlformats.org/drawingml/2006/main">
              <a:ext uri="{FF2B5EF4-FFF2-40B4-BE49-F238E27FC236}">
                <a16:creationId xmlns:a16="http://schemas.microsoft.com/office/drawing/2014/main" id="{A474EB54-4BF6-42B8-B531-49DBDA3C50B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8E0EBC-BEE3-4DA6-BC5E-203AC0DF15A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Mask and filter</a:t>
            </a:r>
          </a:p>
        </p:txBody>
      </p:sp>
      <p:sp>
        <p:nvSpPr>
          <p:cNvPr id="6" name="">
            <a:extLst xmlns:a="http://schemas.openxmlformats.org/drawingml/2006/main">
              <a:ext uri="{FF2B5EF4-FFF2-40B4-BE49-F238E27FC236}">
                <a16:creationId xmlns:a16="http://schemas.microsoft.com/office/drawing/2014/main" id="{8EDC54B1-3EA8-44BC-B723-9CB4626EFA9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comparison produces True/False for each row. df[mask] keeps the True rows.</a:t>
            </a:r>
          </a:p>
        </p:txBody>
      </p:sp>
      <p:sp>
        <p:nvSpPr>
          <p:cNvPr id="7" name="">
            <a:extLst xmlns:a="http://schemas.openxmlformats.org/drawingml/2006/main">
              <a:ext uri="{FF2B5EF4-FFF2-40B4-BE49-F238E27FC236}">
                <a16:creationId xmlns:a16="http://schemas.microsoft.com/office/drawing/2014/main" id="{8F4A43DA-495A-46D3-9090-DD5CBC2E8B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14</a:t>
            </a:r>
          </a:p>
        </p:txBody>
      </p:sp>
    </p:spTree>
    <p:extLst>
      <p:ext uri="{BB962C8B-B14F-4D97-AF65-F5344CB8AC3E}">
        <p14:creationId xmlns:p14="http://schemas.microsoft.com/office/powerpoint/2010/main" val="200677225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8487BB4-EBEF-4ED9-9FE5-7F2CB00A09A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8777AD-2CDF-43A5-A9C2-57E3DD741A0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comparison creates a Boolean mask</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7a59c213cf14dd1"/>
          <a:stretch xmlns:a="http://schemas.openxmlformats.org/drawingml/2006/main"/>
        </p:blipFill>
        <p:spPr>
          <a:xfrm xmlns:a="http://schemas.openxmlformats.org/drawingml/2006/main">
            <a:off x="717043" y="1057275"/>
            <a:ext cx="1075791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9179ADF-86E3-4186-9C2C-D312FC4642B1}"/>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EC0289-AF72-4A3A-B8BC-42BD7F9D671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filters torque readings. Our next example applies the same True/False selection to kWh values.</a:t>
            </a:r>
          </a:p>
        </p:txBody>
      </p:sp>
      <p:sp>
        <p:nvSpPr>
          <p:cNvPr id="6" name="">
            <a:extLst xmlns:a="http://schemas.openxmlformats.org/drawingml/2006/main">
              <a:ext uri="{FF2B5EF4-FFF2-40B4-BE49-F238E27FC236}">
                <a16:creationId xmlns:a16="http://schemas.microsoft.com/office/drawing/2014/main" id="{DC9DC3E7-4A49-44DB-875A-CA57174B2E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15</a:t>
            </a:r>
          </a:p>
        </p:txBody>
      </p:sp>
    </p:spTree>
    <p:extLst>
      <p:ext uri="{BB962C8B-B14F-4D97-AF65-F5344CB8AC3E}">
        <p14:creationId xmlns:p14="http://schemas.microsoft.com/office/powerpoint/2010/main" val="40603736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B65C0D4-CE4F-4A5D-92B0-85551DE364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B9C21D-8AB6-42DA-87AD-01AA8A3045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1A9629A-F274-44F8-B7D2-B7FED23349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rows where the comparison is true</a:t>
            </a:r>
          </a:p>
        </p:txBody>
      </p:sp>
      <p:sp>
        <p:nvSpPr>
          <p:cNvPr id="4" name="">
            <a:extLst xmlns:a="http://schemas.openxmlformats.org/drawingml/2006/main">
              <a:ext uri="{FF2B5EF4-FFF2-40B4-BE49-F238E27FC236}">
                <a16:creationId xmlns:a16="http://schemas.microsoft.com/office/drawing/2014/main" id="{3BE17E95-9D3E-4DCE-9ECC-01966FC516F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6E5AF2-A787-4EF3-871D-F32CD5F7BBC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df["kwh"] &gt;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print(mask)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print(df[mask])</a:t>
            </a:r>
          </a:p>
        </p:txBody>
      </p:sp>
      <p:sp>
        <p:nvSpPr>
          <p:cNvPr id="6" name="">
            <a:extLst xmlns:a="http://schemas.openxmlformats.org/drawingml/2006/main">
              <a:ext uri="{FF2B5EF4-FFF2-40B4-BE49-F238E27FC236}">
                <a16:creationId xmlns:a16="http://schemas.microsoft.com/office/drawing/2014/main" id="{9DA5EBE0-4466-451D-8F6E-82A1D1FB64D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A5C3B2C-AD12-4AFC-9BA2-AD6E7BE8191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B46E23BF-7DEF-43FA-9247-28FD8B55767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81616755-C1C5-4272-B7C3-56F181CD6C5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3FF8815D-284A-45D0-968E-7C8611FE0F2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mask is False, False, True, True. The selected rows contain 5 and 7 kWh.</a:t>
            </a:r>
          </a:p>
        </p:txBody>
      </p:sp>
      <p:sp>
        <p:nvSpPr>
          <p:cNvPr id="11" name="">
            <a:extLst xmlns:a="http://schemas.openxmlformats.org/drawingml/2006/main">
              <a:ext uri="{FF2B5EF4-FFF2-40B4-BE49-F238E27FC236}">
                <a16:creationId xmlns:a16="http://schemas.microsoft.com/office/drawing/2014/main" id="{67B076E2-1A4F-4631-A36C-2516DBB463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16</a:t>
            </a:r>
          </a:p>
        </p:txBody>
      </p:sp>
    </p:spTree>
    <p:extLst>
      <p:ext uri="{BB962C8B-B14F-4D97-AF65-F5344CB8AC3E}">
        <p14:creationId xmlns:p14="http://schemas.microsoft.com/office/powerpoint/2010/main" val="107031568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861B3C-D2A5-45C8-AA4C-A19E3CF2CA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CF3B85-4541-4B91-BB73-2900F5680C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C65E75A-5C94-44A8-8B7E-294EFE85D4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groupby and aggregation</a:t>
            </a:r>
          </a:p>
        </p:txBody>
      </p:sp>
      <p:sp>
        <p:nvSpPr>
          <p:cNvPr id="4" name="">
            <a:extLst xmlns:a="http://schemas.openxmlformats.org/drawingml/2006/main">
              <a:ext uri="{FF2B5EF4-FFF2-40B4-BE49-F238E27FC236}">
                <a16:creationId xmlns:a16="http://schemas.microsoft.com/office/drawing/2014/main" id="{A1554E50-18C6-4003-920E-6E60D4E1148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953D44-8AB5-4D27-8D3F-7F61F48972AF}"/>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groupby and aggregation</a:t>
            </a:r>
          </a:p>
        </p:txBody>
      </p:sp>
      <p:sp>
        <p:nvSpPr>
          <p:cNvPr id="6" name="">
            <a:extLst xmlns:a="http://schemas.openxmlformats.org/drawingml/2006/main">
              <a:ext uri="{FF2B5EF4-FFF2-40B4-BE49-F238E27FC236}">
                <a16:creationId xmlns:a16="http://schemas.microsoft.com/office/drawing/2014/main" id="{1F333E00-72EC-46A9-8F30-1B557A8AF21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groupby collects rows with the same label. An aggregation such as sum or mean returns a summary for each group.</a:t>
            </a:r>
          </a:p>
        </p:txBody>
      </p:sp>
      <p:sp>
        <p:nvSpPr>
          <p:cNvPr id="7" name="">
            <a:extLst xmlns:a="http://schemas.openxmlformats.org/drawingml/2006/main">
              <a:ext uri="{FF2B5EF4-FFF2-40B4-BE49-F238E27FC236}">
                <a16:creationId xmlns:a16="http://schemas.microsoft.com/office/drawing/2014/main" id="{7155F417-C15F-42B4-BB94-934AEC96BB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17</a:t>
            </a:r>
          </a:p>
        </p:txBody>
      </p:sp>
    </p:spTree>
    <p:extLst>
      <p:ext uri="{BB962C8B-B14F-4D97-AF65-F5344CB8AC3E}">
        <p14:creationId xmlns:p14="http://schemas.microsoft.com/office/powerpoint/2010/main" val="59390976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B9C773-D498-48DB-81D3-B4888F0C98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98D962-2080-447C-AE81-BFC869295A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DC1CA37-8043-4567-9A4D-DC9CED9426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Calculate one total for each building</a:t>
            </a:r>
          </a:p>
        </p:txBody>
      </p:sp>
      <p:sp>
        <p:nvSpPr>
          <p:cNvPr id="4" name="">
            <a:extLst xmlns:a="http://schemas.openxmlformats.org/drawingml/2006/main">
              <a:ext uri="{FF2B5EF4-FFF2-40B4-BE49-F238E27FC236}">
                <a16:creationId xmlns:a16="http://schemas.microsoft.com/office/drawing/2014/main" id="{E8F967B5-3B1A-42C9-94DD-C27B91F15D0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8EF663-EA36-4CA8-89BD-72AE3150645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print(df.groupby("building")["kwh"].sum())</a:t>
            </a:r>
          </a:p>
        </p:txBody>
      </p:sp>
      <p:sp>
        <p:nvSpPr>
          <p:cNvPr id="6" name="">
            <a:extLst xmlns:a="http://schemas.openxmlformats.org/drawingml/2006/main">
              <a:ext uri="{FF2B5EF4-FFF2-40B4-BE49-F238E27FC236}">
                <a16:creationId xmlns:a16="http://schemas.microsoft.com/office/drawing/2014/main" id="{DDF3DED8-7B1E-4C17-B13E-7AB2E5E1F13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3C163D0-C64A-4601-A972-0D3ABDBC4B1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9FBFCCE0-7A6F-4216-8C06-D8A80858D0D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5057B777-ECB2-4CA2-9B9D-2CA05D62C7D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totals 6 kWh; B totals 12 kWh.</a:t>
            </a:r>
          </a:p>
        </p:txBody>
      </p:sp>
      <p:sp>
        <p:nvSpPr>
          <p:cNvPr id="10" name="">
            <a:extLst xmlns:a="http://schemas.openxmlformats.org/drawingml/2006/main">
              <a:ext uri="{FF2B5EF4-FFF2-40B4-BE49-F238E27FC236}">
                <a16:creationId xmlns:a16="http://schemas.microsoft.com/office/drawing/2014/main" id="{BFFE1D23-B41C-4B43-9EB2-2A3259BDFB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18</a:t>
            </a:r>
          </a:p>
        </p:txBody>
      </p:sp>
    </p:spTree>
    <p:extLst>
      <p:ext uri="{BB962C8B-B14F-4D97-AF65-F5344CB8AC3E}">
        <p14:creationId xmlns:p14="http://schemas.microsoft.com/office/powerpoint/2010/main" val="42457037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303E14B-FFAE-4A04-8652-EF5D1704AD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755AC3-9A49-42B3-A74A-6218BD76BD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8AECF8CF-84E4-480C-B3DD-4C5001F9FC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tables and summaries results</a:t>
            </a:r>
          </a:p>
        </p:txBody>
      </p:sp>
      <p:sp>
        <p:nvSpPr>
          <p:cNvPr id="4" name="">
            <a:extLst xmlns:a="http://schemas.openxmlformats.org/drawingml/2006/main">
              <a:ext uri="{FF2B5EF4-FFF2-40B4-BE49-F238E27FC236}">
                <a16:creationId xmlns:a16="http://schemas.microsoft.com/office/drawing/2014/main" id="{DCF756E5-088A-43D7-B3D9-222CF04339FF}"/>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9ACD07-9CEA-4E82-9115-89830B58418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Mean 4.5. The filter keeps B rows with 5 and 7. Group totals: A = 6, B = 12 kWh.</a:t>
            </a:r>
          </a:p>
        </p:txBody>
      </p:sp>
      <p:sp>
        <p:nvSpPr>
          <p:cNvPr id="6" name="">
            <a:extLst xmlns:a="http://schemas.openxmlformats.org/drawingml/2006/main">
              <a:ext uri="{FF2B5EF4-FFF2-40B4-BE49-F238E27FC236}">
                <a16:creationId xmlns:a16="http://schemas.microsoft.com/office/drawing/2014/main" id="{9B55C059-F0E8-42FD-AAEE-AB8C98784EDC}"/>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6ED6F1BE-BE0B-4980-A446-621F695926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19</a:t>
            </a:r>
          </a:p>
        </p:txBody>
      </p:sp>
    </p:spTree>
    <p:extLst>
      <p:ext uri="{BB962C8B-B14F-4D97-AF65-F5344CB8AC3E}">
        <p14:creationId xmlns:p14="http://schemas.microsoft.com/office/powerpoint/2010/main" val="75087518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BA2341-BA1E-4F7C-AE8B-D21CD3520D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ADBBA1-ACF2-41EA-8591-7F314DF85A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A8F550-182C-4A73-8585-E625D5BABB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chain one operation at a time</a:t>
            </a:r>
          </a:p>
        </p:txBody>
      </p:sp>
      <p:sp>
        <p:nvSpPr>
          <p:cNvPr id="4" name="">
            <a:extLst xmlns:a="http://schemas.openxmlformats.org/drawingml/2006/main">
              <a:ext uri="{FF2B5EF4-FFF2-40B4-BE49-F238E27FC236}">
                <a16:creationId xmlns:a16="http://schemas.microsoft.com/office/drawing/2014/main" id="{B86DE0BA-F1F3-4AD1-8657-72A085CDBC0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6AACC1-7D05-4AC9-94CF-8C10D1C9975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29060AC-3A67-4A52-A403-9889FA04919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df.groupby("building") groups rows by their building labels. ["kwh"] selects the energy values within each group. .sum() totals them.</a:t>
            </a:r>
          </a:p>
        </p:txBody>
      </p:sp>
      <p:sp>
        <p:nvSpPr>
          <p:cNvPr id="7" name="">
            <a:extLst xmlns:a="http://schemas.openxmlformats.org/drawingml/2006/main">
              <a:ext uri="{FF2B5EF4-FFF2-40B4-BE49-F238E27FC236}">
                <a16:creationId xmlns:a16="http://schemas.microsoft.com/office/drawing/2014/main" id="{73886B0E-F0DE-407C-B16A-DEE9E6B8EA8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this result in totals. totals.idxmax() returns the label with the largest total. These are consecutive operations on the result of the previous step.</a:t>
            </a:r>
          </a:p>
        </p:txBody>
      </p:sp>
      <p:sp>
        <p:nvSpPr>
          <p:cNvPr id="8" name="">
            <a:extLst xmlns:a="http://schemas.openxmlformats.org/drawingml/2006/main">
              <a:ext uri="{FF2B5EF4-FFF2-40B4-BE49-F238E27FC236}">
                <a16:creationId xmlns:a16="http://schemas.microsoft.com/office/drawing/2014/main" id="{127A94EE-0E5D-415A-A5C2-DDFFF38675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20</a:t>
            </a:r>
          </a:p>
        </p:txBody>
      </p:sp>
    </p:spTree>
    <p:extLst>
      <p:ext uri="{BB962C8B-B14F-4D97-AF65-F5344CB8AC3E}">
        <p14:creationId xmlns:p14="http://schemas.microsoft.com/office/powerpoint/2010/main" val="144990509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E29DC2-3C69-44B3-84DA-45C2A36D1C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8BFE7F-55E7-4084-B4B6-645C5CAD40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878D7B1-FBC9-4F5C-A49D-E299E2AF06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a:t>
            </a:r>
          </a:p>
        </p:txBody>
      </p:sp>
      <p:sp>
        <p:nvSpPr>
          <p:cNvPr id="4" name="">
            <a:extLst xmlns:a="http://schemas.openxmlformats.org/drawingml/2006/main">
              <a:ext uri="{FF2B5EF4-FFF2-40B4-BE49-F238E27FC236}">
                <a16:creationId xmlns:a16="http://schemas.microsoft.com/office/drawing/2014/main" id="{80557F17-7010-4CFF-BF37-EE49A680622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186B5A-4607-40B3-827E-FDE72AC6440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93BF7B4-A5CF-48AF-A35A-637250CB9B6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labels, not rows. idxmax returns the label of the largest total.</a:t>
            </a:r>
          </a:p>
        </p:txBody>
      </p:sp>
      <p:sp>
        <p:nvSpPr>
          <p:cNvPr id="7" name="">
            <a:extLst xmlns:a="http://schemas.openxmlformats.org/drawingml/2006/main">
              <a:ext uri="{FF2B5EF4-FFF2-40B4-BE49-F238E27FC236}">
                <a16:creationId xmlns:a16="http://schemas.microsoft.com/office/drawing/2014/main" id="{7A3E94FB-4C24-4570-A366-95B1149F5B9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Here there is no tie.</a:t>
            </a:r>
          </a:p>
        </p:txBody>
      </p:sp>
      <p:sp>
        <p:nvSpPr>
          <p:cNvPr id="8" name="">
            <a:extLst xmlns:a="http://schemas.openxmlformats.org/drawingml/2006/main">
              <a:ext uri="{FF2B5EF4-FFF2-40B4-BE49-F238E27FC236}">
                <a16:creationId xmlns:a16="http://schemas.microsoft.com/office/drawing/2014/main" id="{E7EF679A-A9AE-4DCE-A4DA-28FE026247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21</a:t>
            </a:r>
          </a:p>
        </p:txBody>
      </p:sp>
    </p:spTree>
    <p:extLst>
      <p:ext uri="{BB962C8B-B14F-4D97-AF65-F5344CB8AC3E}">
        <p14:creationId xmlns:p14="http://schemas.microsoft.com/office/powerpoint/2010/main" val="113705867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0463526-FEA4-4251-9348-4179D2C7BF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887E47-4224-452E-BF2A-699568E091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F3FF282-5E20-4A2A-AC5B-9CB35836B6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 in Python</a:t>
            </a:r>
          </a:p>
        </p:txBody>
      </p:sp>
      <p:sp>
        <p:nvSpPr>
          <p:cNvPr id="4" name="">
            <a:extLst xmlns:a="http://schemas.openxmlformats.org/drawingml/2006/main">
              <a:ext uri="{FF2B5EF4-FFF2-40B4-BE49-F238E27FC236}">
                <a16:creationId xmlns:a16="http://schemas.microsoft.com/office/drawing/2014/main" id="{AADEBE95-E13A-4422-AA85-397013F029A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7293E7-3CAA-401E-AE0D-DEAE719960E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print(df["building"].nunique())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totals = df.groupby("building")["kwh"].sum()</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A5AFEA6C-FAD0-4513-8659-DF16FC647F0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10818A3-E15D-4206-9977-F037FDE7173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6E972A5B-ED1D-41D6-9B87-28F57008D43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C1F0F40E-A140-44A6-821F-04A7F059E6A4}"/>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9284BF01-5D05-4F2D-8AC7-D2A43393722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71ACCD29-FA9A-4699-BC9E-6A2A856787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22</a:t>
            </a:r>
          </a:p>
        </p:txBody>
      </p:sp>
    </p:spTree>
    <p:extLst>
      <p:ext uri="{BB962C8B-B14F-4D97-AF65-F5344CB8AC3E}">
        <p14:creationId xmlns:p14="http://schemas.microsoft.com/office/powerpoint/2010/main" val="165153330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43F64B-711C-4711-8538-2508330A1F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E8D1B8-95BF-4A4C-9B6B-9B233D53B7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0DF8E05-70C3-41FE-932D-591CA4EE56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 column from two existing columns</a:t>
            </a:r>
          </a:p>
        </p:txBody>
      </p:sp>
      <p:sp>
        <p:nvSpPr>
          <p:cNvPr id="4" name="">
            <a:extLst xmlns:a="http://schemas.openxmlformats.org/drawingml/2006/main">
              <a:ext uri="{FF2B5EF4-FFF2-40B4-BE49-F238E27FC236}">
                <a16:creationId xmlns:a16="http://schemas.microsoft.com/office/drawing/2014/main" id="{599A6B82-2AD2-4AD3-BB25-4D128E196AF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CE5A5B-55B9-4148-B765-52780D956BD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9743782-42DB-49C8-9FF2-C31BC0D7CAB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new column can store a calculation for every row. Division pairs the values in matching rows.</a:t>
            </a:r>
          </a:p>
        </p:txBody>
      </p:sp>
      <p:sp>
        <p:nvSpPr>
          <p:cNvPr id="7" name="">
            <a:extLst xmlns:a="http://schemas.openxmlformats.org/drawingml/2006/main">
              <a:ext uri="{FF2B5EF4-FFF2-40B4-BE49-F238E27FC236}">
                <a16:creationId xmlns:a16="http://schemas.microsoft.com/office/drawing/2014/main" id="{2AE06679-00BC-4770-9D36-FB28B9B7768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invented table all energy values are positive. UGX is Uganda shillings. Cost divided by energy has units UGX/kWh.</a:t>
            </a:r>
          </a:p>
        </p:txBody>
      </p:sp>
      <p:sp>
        <p:nvSpPr>
          <p:cNvPr id="8" name="">
            <a:extLst xmlns:a="http://schemas.openxmlformats.org/drawingml/2006/main">
              <a:ext uri="{FF2B5EF4-FFF2-40B4-BE49-F238E27FC236}">
                <a16:creationId xmlns:a16="http://schemas.microsoft.com/office/drawing/2014/main" id="{9DCC7AF9-17F5-4448-8218-D530A3F606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23</a:t>
            </a:r>
          </a:p>
        </p:txBody>
      </p:sp>
    </p:spTree>
    <p:extLst>
      <p:ext uri="{BB962C8B-B14F-4D97-AF65-F5344CB8AC3E}">
        <p14:creationId xmlns:p14="http://schemas.microsoft.com/office/powerpoint/2010/main" val="810152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EE7EC3-F471-46AC-B4F5-C5A614AC22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2DD1DD-16DE-4EBB-9596-B8F9546E42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19C319D-6609-459B-BCF3-B2162C9873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energy rate is cost divided by energy</a:t>
            </a:r>
          </a:p>
        </p:txBody>
      </p:sp>
      <p:sp>
        <p:nvSpPr>
          <p:cNvPr id="4" name="">
            <a:extLst xmlns:a="http://schemas.openxmlformats.org/drawingml/2006/main">
              <a:ext uri="{FF2B5EF4-FFF2-40B4-BE49-F238E27FC236}">
                <a16:creationId xmlns:a16="http://schemas.microsoft.com/office/drawing/2014/main" id="{957F0E71-9E59-4A36-A8A4-D54B24999C4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36BCC3-7645-4E8B-97EF-BEC0F3821C3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df["cost_ugx"] = [1000, 2400, 3500, 5600]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df["rate_ugx_per_kwh"] = df["cost_ugx"] / 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print(df["rate_ugx_per_kwh"])</a:t>
            </a:r>
          </a:p>
        </p:txBody>
      </p:sp>
      <p:sp>
        <p:nvSpPr>
          <p:cNvPr id="6" name="">
            <a:extLst xmlns:a="http://schemas.openxmlformats.org/drawingml/2006/main">
              <a:ext uri="{FF2B5EF4-FFF2-40B4-BE49-F238E27FC236}">
                <a16:creationId xmlns:a16="http://schemas.microsoft.com/office/drawing/2014/main" id="{7CA32A62-93D2-45E8-847D-4C659EBC2D1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833D4922-C92E-478A-AF41-EB2382D5308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rates: 500, 600, 700 and 800 UGX/kWh. Keep units in column names.</a:t>
            </a:r>
          </a:p>
        </p:txBody>
      </p:sp>
      <p:sp>
        <p:nvSpPr>
          <p:cNvPr id="8" name="">
            <a:extLst xmlns:a="http://schemas.openxmlformats.org/drawingml/2006/main">
              <a:ext uri="{FF2B5EF4-FFF2-40B4-BE49-F238E27FC236}">
                <a16:creationId xmlns:a16="http://schemas.microsoft.com/office/drawing/2014/main" id="{4381CFAC-32F2-4D89-9DC7-28E5B39EBC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24</a:t>
            </a:r>
          </a:p>
        </p:txBody>
      </p:sp>
    </p:spTree>
    <p:extLst>
      <p:ext uri="{BB962C8B-B14F-4D97-AF65-F5344CB8AC3E}">
        <p14:creationId xmlns:p14="http://schemas.microsoft.com/office/powerpoint/2010/main" val="137650903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DA2C64-9C6E-4D42-8813-ABD87EB144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C55DD2-D337-4480-B75A-D83FB11C9A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EB0CBDE-655A-4E51-B031-64F70A333F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 the assignment table before analysing it</a:t>
            </a:r>
          </a:p>
        </p:txBody>
      </p:sp>
      <p:sp>
        <p:nvSpPr>
          <p:cNvPr id="4" name="">
            <a:extLst xmlns:a="http://schemas.openxmlformats.org/drawingml/2006/main">
              <a:ext uri="{FF2B5EF4-FFF2-40B4-BE49-F238E27FC236}">
                <a16:creationId xmlns:a16="http://schemas.microsoft.com/office/drawing/2014/main" id="{D8080115-7365-421F-9511-C6C3C2FEB7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51FC4D-4988-4E63-853E-08B110C34F7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campus_energy.csv to the current runtime first. read_csv reads it into a new DataFrame.</a:t>
            </a:r>
          </a:p>
        </p:txBody>
      </p:sp>
      <p:sp>
        <p:nvSpPr>
          <p:cNvPr id="6" name="">
            <a:extLst xmlns:a="http://schemas.openxmlformats.org/drawingml/2006/main">
              <a:ext uri="{FF2B5EF4-FFF2-40B4-BE49-F238E27FC236}">
                <a16:creationId xmlns:a16="http://schemas.microsoft.com/office/drawing/2014/main" id="{2EA934FE-A3D2-48DC-8C7D-8723740C087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30D702B-EA20-494F-8AD3-5DA279FD4BF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head() displays the first five rows; shape gives row and column counts; dtypes shows column data types.</a:t>
            </a:r>
          </a:p>
        </p:txBody>
      </p:sp>
      <p:sp>
        <p:nvSpPr>
          <p:cNvPr id="8" name="">
            <a:extLst xmlns:a="http://schemas.openxmlformats.org/drawingml/2006/main">
              <a:ext uri="{FF2B5EF4-FFF2-40B4-BE49-F238E27FC236}">
                <a16:creationId xmlns:a16="http://schemas.microsoft.com/office/drawing/2014/main" id="{D0340A4B-2119-4406-996A-CCF6C275E56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BC352C-1106-4D6E-AEEB-F15CC34DE89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call this issued_table to keep it separate from the invented four-row df used above.</a:t>
            </a:r>
          </a:p>
        </p:txBody>
      </p:sp>
      <p:sp>
        <p:nvSpPr>
          <p:cNvPr id="10" name="">
            <a:extLst xmlns:a="http://schemas.openxmlformats.org/drawingml/2006/main">
              <a:ext uri="{FF2B5EF4-FFF2-40B4-BE49-F238E27FC236}">
                <a16:creationId xmlns:a16="http://schemas.microsoft.com/office/drawing/2014/main" id="{5624FC56-5F56-4D7D-ABFC-A16530EE4F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25</a:t>
            </a:r>
          </a:p>
        </p:txBody>
      </p:sp>
    </p:spTree>
    <p:extLst>
      <p:ext uri="{BB962C8B-B14F-4D97-AF65-F5344CB8AC3E}">
        <p14:creationId xmlns:p14="http://schemas.microsoft.com/office/powerpoint/2010/main" val="98939106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037CCA-A75E-4FE8-9F8D-2826BC969E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AAB75E-5DC8-4AAF-98A6-113BDCC738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821D75E-49B9-4E5C-8BEB-F16AF635A6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supplied energy file</a:t>
            </a:r>
          </a:p>
        </p:txBody>
      </p:sp>
      <p:sp>
        <p:nvSpPr>
          <p:cNvPr id="4" name="">
            <a:extLst xmlns:a="http://schemas.openxmlformats.org/drawingml/2006/main">
              <a:ext uri="{FF2B5EF4-FFF2-40B4-BE49-F238E27FC236}">
                <a16:creationId xmlns:a16="http://schemas.microsoft.com/office/drawing/2014/main" id="{891EB5C1-DBA5-4704-B72A-5F5B7E9B796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737114-E65E-4BED-89D1-38859A044CE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issued_table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print(issued_table.dtypes)</a:t>
            </a:r>
          </a:p>
        </p:txBody>
      </p:sp>
      <p:sp>
        <p:nvSpPr>
          <p:cNvPr id="6" name="">
            <a:extLst xmlns:a="http://schemas.openxmlformats.org/drawingml/2006/main">
              <a:ext uri="{FF2B5EF4-FFF2-40B4-BE49-F238E27FC236}">
                <a16:creationId xmlns:a16="http://schemas.microsoft.com/office/drawing/2014/main" id="{AC4D97ED-9799-4F7D-8B89-FF543D9AA57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25D6E6EC-8ADA-4031-B435-D8D0627209A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Check column names, data types and units before attempting the six issued tasks.</a:t>
            </a:r>
          </a:p>
        </p:txBody>
      </p:sp>
      <p:sp>
        <p:nvSpPr>
          <p:cNvPr id="8" name="">
            <a:extLst xmlns:a="http://schemas.openxmlformats.org/drawingml/2006/main">
              <a:ext uri="{FF2B5EF4-FFF2-40B4-BE49-F238E27FC236}">
                <a16:creationId xmlns:a16="http://schemas.microsoft.com/office/drawing/2014/main" id="{DF2BEAEB-C605-401A-A06C-6222BBD8CA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26</a:t>
            </a:r>
          </a:p>
        </p:txBody>
      </p:sp>
    </p:spTree>
    <p:extLst>
      <p:ext uri="{BB962C8B-B14F-4D97-AF65-F5344CB8AC3E}">
        <p14:creationId xmlns:p14="http://schemas.microsoft.com/office/powerpoint/2010/main" val="119336790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D529108-333A-408E-ABBC-7C5AD031F9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18110D-7691-4C75-BB6E-1405623FC2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82C9263-0E11-4CE2-A805-6298565903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E634931-F584-4774-B1AB-802CC6FE016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71AAD3-406D-42A5-ACF3-7CA8D3BBF72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562F351-169A-4A93-980A-6A6CDABEAB1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Use &gt; 5 instead. Predict the surviving rows. Which building has the largest total?</a:t>
            </a:r>
          </a:p>
        </p:txBody>
      </p:sp>
      <p:sp>
        <p:nvSpPr>
          <p:cNvPr id="7" name="">
            <a:extLst xmlns:a="http://schemas.openxmlformats.org/drawingml/2006/main">
              <a:ext uri="{FF2B5EF4-FFF2-40B4-BE49-F238E27FC236}">
                <a16:creationId xmlns:a16="http://schemas.microsoft.com/office/drawing/2014/main" id="{88127D4D-2806-4CC3-94B0-8D3C6238BC2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Only the row with 7 survives. Building B has the larger total, 12 kWh.</a:t>
            </a:r>
          </a:p>
        </p:txBody>
      </p:sp>
      <p:sp>
        <p:nvSpPr>
          <p:cNvPr id="8" name="">
            <a:extLst xmlns:a="http://schemas.openxmlformats.org/drawingml/2006/main">
              <a:ext uri="{FF2B5EF4-FFF2-40B4-BE49-F238E27FC236}">
                <a16:creationId xmlns:a16="http://schemas.microsoft.com/office/drawing/2014/main" id="{D5C66FA4-3552-4322-A09B-6F2BFE83D6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27</a:t>
            </a:r>
          </a:p>
        </p:txBody>
      </p:sp>
    </p:spTree>
    <p:extLst>
      <p:ext uri="{BB962C8B-B14F-4D97-AF65-F5344CB8AC3E}">
        <p14:creationId xmlns:p14="http://schemas.microsoft.com/office/powerpoint/2010/main" val="126160420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9BEAFC9-2672-4025-B604-29B96F5E0A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609529-9008-4502-A19A-75D8AC2D3E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E689953-6CB6-4964-AD02-8A76A72A25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584D0969-BC65-40D7-B310-83F8C1E7CB6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E542666-A9AF-475D-A85B-22158B863A4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A5 uses the supplied fictional campus_energy.csv, not a live Kaggle download.</a:t>
            </a:r>
          </a:p>
        </p:txBody>
      </p:sp>
      <p:sp>
        <p:nvSpPr>
          <p:cNvPr id="6" name="">
            <a:extLst xmlns:a="http://schemas.openxmlformats.org/drawingml/2006/main">
              <a:ext uri="{FF2B5EF4-FFF2-40B4-BE49-F238E27FC236}">
                <a16:creationId xmlns:a16="http://schemas.microsoft.com/office/drawing/2014/main" id="{135CA3F8-E382-4FF9-998C-F5C79D04EDF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A08C306-875E-4F58-94EA-8ECADA80E61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six tasks use read_csv, nunique, division of columns, a &gt; filter, mean and grouped totals. idxmax returns the label of the largest value.</a:t>
            </a:r>
          </a:p>
        </p:txBody>
      </p:sp>
      <p:sp>
        <p:nvSpPr>
          <p:cNvPr id="8" name="">
            <a:extLst xmlns:a="http://schemas.openxmlformats.org/drawingml/2006/main">
              <a:ext uri="{FF2B5EF4-FFF2-40B4-BE49-F238E27FC236}">
                <a16:creationId xmlns:a16="http://schemas.microsoft.com/office/drawing/2014/main" id="{8E650934-D1A2-4406-B239-F28E98368C4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EB2BA3-34A4-4BCC-A700-78473E7365F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of individual rates gives each observation equal weight.</a:t>
            </a:r>
          </a:p>
        </p:txBody>
      </p:sp>
      <p:sp>
        <p:nvSpPr>
          <p:cNvPr id="10" name="">
            <a:extLst xmlns:a="http://schemas.openxmlformats.org/drawingml/2006/main">
              <a:ext uri="{FF2B5EF4-FFF2-40B4-BE49-F238E27FC236}">
                <a16:creationId xmlns:a16="http://schemas.microsoft.com/office/drawing/2014/main" id="{32F0FE60-C22D-4949-8303-6D28D731D7B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B9DD7B1-EA87-464E-B6D3-4496928A3CA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divided by total energy weights by energy.</a:t>
            </a:r>
          </a:p>
        </p:txBody>
      </p:sp>
      <p:sp>
        <p:nvSpPr>
          <p:cNvPr id="12" name="">
            <a:extLst xmlns:a="http://schemas.openxmlformats.org/drawingml/2006/main">
              <a:ext uri="{FF2B5EF4-FFF2-40B4-BE49-F238E27FC236}">
                <a16:creationId xmlns:a16="http://schemas.microsoft.com/office/drawing/2014/main" id="{0A373417-B2F3-4492-961C-64A43021AD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28</a:t>
            </a:r>
          </a:p>
        </p:txBody>
      </p:sp>
    </p:spTree>
    <p:extLst>
      <p:ext uri="{BB962C8B-B14F-4D97-AF65-F5344CB8AC3E}">
        <p14:creationId xmlns:p14="http://schemas.microsoft.com/office/powerpoint/2010/main" val="60144495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F729537-88D8-4BFE-905A-7CFBA6CEFF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81B477-56EC-4888-A15D-4C2A4ACF06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E1A2CDA-C065-419C-BD44-5FD690CDB4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a:t>
            </a:r>
          </a:p>
        </p:txBody>
      </p:sp>
      <p:sp>
        <p:nvSpPr>
          <p:cNvPr id="4" name="">
            <a:extLst xmlns:a="http://schemas.openxmlformats.org/drawingml/2006/main">
              <a:ext uri="{FF2B5EF4-FFF2-40B4-BE49-F238E27FC236}">
                <a16:creationId xmlns:a16="http://schemas.microsoft.com/office/drawing/2014/main" id="{68BF45DF-0ACA-4AED-B40F-5304BF683D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C5512B-625A-4645-8974-E43EF7BB06F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Boolean mask is a list-like column of True/False values. len(mask) counts all rows; mask.sum() counts True entries.</a:t>
            </a:r>
          </a:p>
        </p:txBody>
      </p:sp>
      <p:sp>
        <p:nvSpPr>
          <p:cNvPr id="6" name="">
            <a:extLst xmlns:a="http://schemas.openxmlformats.org/drawingml/2006/main">
              <a:ext uri="{FF2B5EF4-FFF2-40B4-BE49-F238E27FC236}">
                <a16:creationId xmlns:a16="http://schemas.microsoft.com/office/drawing/2014/main" id="{B0DF88D3-8EED-4EDB-81E2-28401826A14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356EF8-A899-41F4-B0BF-00DED2E54EE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Strings sort as text, so "9" can rank above "100".</a:t>
            </a:r>
          </a:p>
        </p:txBody>
      </p:sp>
      <p:sp>
        <p:nvSpPr>
          <p:cNvPr id="8" name="">
            <a:extLst xmlns:a="http://schemas.openxmlformats.org/drawingml/2006/main">
              <a:ext uri="{FF2B5EF4-FFF2-40B4-BE49-F238E27FC236}">
                <a16:creationId xmlns:a16="http://schemas.microsoft.com/office/drawing/2014/main" id="{DE01B48F-F0E6-4A18-A8AA-A3CB4B53298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C66B817-583F-4F55-A3E2-4B4528C1553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numeric types before taking maxima.</a:t>
            </a:r>
          </a:p>
        </p:txBody>
      </p:sp>
      <p:sp>
        <p:nvSpPr>
          <p:cNvPr id="10" name="">
            <a:extLst xmlns:a="http://schemas.openxmlformats.org/drawingml/2006/main">
              <a:ext uri="{FF2B5EF4-FFF2-40B4-BE49-F238E27FC236}">
                <a16:creationId xmlns:a16="http://schemas.microsoft.com/office/drawing/2014/main" id="{6BE49378-B95C-4C69-BF92-643AF7C7BAA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31D53D8-E709-4303-9F9D-8A10B3FF98B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KeyError often means the column name does not match; check spelling, case and spaces. shape is (rows, columns).</a:t>
            </a:r>
          </a:p>
        </p:txBody>
      </p:sp>
      <p:sp>
        <p:nvSpPr>
          <p:cNvPr id="12" name="">
            <a:extLst xmlns:a="http://schemas.openxmlformats.org/drawingml/2006/main">
              <a:ext uri="{FF2B5EF4-FFF2-40B4-BE49-F238E27FC236}">
                <a16:creationId xmlns:a16="http://schemas.microsoft.com/office/drawing/2014/main" id="{BF1F0704-22D7-4EE9-91AF-2AF276C39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29</a:t>
            </a:r>
          </a:p>
        </p:txBody>
      </p:sp>
    </p:spTree>
    <p:extLst>
      <p:ext uri="{BB962C8B-B14F-4D97-AF65-F5344CB8AC3E}">
        <p14:creationId xmlns:p14="http://schemas.microsoft.com/office/powerpoint/2010/main" val="84441106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118E215-9F9E-4C1A-9514-A0A096CBA7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8525A3-FB46-4244-9858-A32BA0300B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00A56B-BA46-48E7-8B4B-FB4700F90E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 continued</a:t>
            </a:r>
          </a:p>
        </p:txBody>
      </p:sp>
      <p:sp>
        <p:nvSpPr>
          <p:cNvPr id="4" name="">
            <a:extLst xmlns:a="http://schemas.openxmlformats.org/drawingml/2006/main">
              <a:ext uri="{FF2B5EF4-FFF2-40B4-BE49-F238E27FC236}">
                <a16:creationId xmlns:a16="http://schemas.microsoft.com/office/drawing/2014/main" id="{9B8757BE-385A-44D5-916A-E5E3114BE0E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827A99-0C05-4895-9C03-2173A13AB84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provenance and units before trusting a dataset.</a:t>
            </a:r>
          </a:p>
        </p:txBody>
      </p:sp>
      <p:sp>
        <p:nvSpPr>
          <p:cNvPr id="6" name="">
            <a:extLst xmlns:a="http://schemas.openxmlformats.org/drawingml/2006/main">
              <a:ext uri="{FF2B5EF4-FFF2-40B4-BE49-F238E27FC236}">
                <a16:creationId xmlns:a16="http://schemas.microsoft.com/office/drawing/2014/main" id="{AFC0ACE2-B226-441E-8DE0-50BB813B00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30</a:t>
            </a:r>
          </a:p>
        </p:txBody>
      </p:sp>
    </p:spTree>
    <p:extLst>
      <p:ext uri="{BB962C8B-B14F-4D97-AF65-F5344CB8AC3E}">
        <p14:creationId xmlns:p14="http://schemas.microsoft.com/office/powerpoint/2010/main" val="156975503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7C3694C-E535-41C5-A619-B44E3A0AFD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D93B3F-E70B-4850-8661-8EB0E8CB36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2889B56-E924-4607-A655-3EDF55B91B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32D47F30-A949-4DB3-8E92-4624070F66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79CA1C-5FB6-48D9-A142-D4A8A44D93A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xmlns:a="http://schemas.openxmlformats.org/drawingml/2006/main">
              <a:ext uri="{FF2B5EF4-FFF2-40B4-BE49-F238E27FC236}">
                <a16:creationId xmlns:a16="http://schemas.microsoft.com/office/drawing/2014/main" id="{4B8F0D93-B634-4A9E-91BA-E538A23783A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75834E5-3F40-4830-90CF-9FE208F6A8A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9FA953BA-275A-4625-BD8A-48BBA189574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3119D21-F8F8-472D-BD9D-A70176791E3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6F8D164D-6C92-43FF-85AB-3B5783407C5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10F9EF6-DC1E-4356-81FB-612AF77D517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4F290D1E-AE45-4645-A5C5-7DF258848B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31</a:t>
            </a:r>
          </a:p>
        </p:txBody>
      </p:sp>
    </p:spTree>
    <p:extLst>
      <p:ext uri="{BB962C8B-B14F-4D97-AF65-F5344CB8AC3E}">
        <p14:creationId xmlns:p14="http://schemas.microsoft.com/office/powerpoint/2010/main" val="160355567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3F554B-DA6F-4C46-ADEB-29011D97C7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DAD287-BE12-4C53-8A8A-EC515485ED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915811F-D655-406F-8B02-126B8328A1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F1962665-7D84-47E4-B18A-15BCABDACFC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04187F-BF1E-4D57-825F-180FB7DCBB1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172FB6DC-4BD3-4925-9914-4EC4C55FD72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26B8806-2A2E-46FC-85E5-ECE705FCB12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7E04EA4-4939-460C-A499-98C1BC6DCC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32</a:t>
            </a:r>
          </a:p>
        </p:txBody>
      </p:sp>
    </p:spTree>
    <p:extLst>
      <p:ext uri="{BB962C8B-B14F-4D97-AF65-F5344CB8AC3E}">
        <p14:creationId xmlns:p14="http://schemas.microsoft.com/office/powerpoint/2010/main" val="108312640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B49DB8E-59BE-4F48-951C-2141BD9D74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8333F7-B338-4E50-987D-FB10CCC5FD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30EBB90-06E1-4881-A2C7-D70493ABC8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AEC7115F-018B-45A2-AFE5-62527FB9505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4452E8-37E3-4A9C-8D36-7150AF343B4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60FA4024-A021-4602-89F4-63FCB96D8C3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3C8FFBC-6C0E-4D73-ADDB-3281CAD52EB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93CB16D-E9A6-4BD1-80DC-D09E3826FA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33</a:t>
            </a:r>
          </a:p>
        </p:txBody>
      </p:sp>
    </p:spTree>
    <p:extLst>
      <p:ext uri="{BB962C8B-B14F-4D97-AF65-F5344CB8AC3E}">
        <p14:creationId xmlns:p14="http://schemas.microsoft.com/office/powerpoint/2010/main" val="173287038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2E57548-332B-4047-9A23-AE94BB203D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A329E5-E910-4F7E-95B6-6A816EDCE9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945F28B-3FE8-41BB-AC8B-11B145744A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1421D3E8-670D-405D-A4C9-A95CBACCC12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89DBDA-9901-4638-9A7C-18BEA3FE972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C02F46B4-B990-4260-BB81-CE76C4FC2F7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65451FC-B349-484B-BE0C-65FA2679678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BBE9210-D394-402E-9420-A67284F120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34</a:t>
            </a:r>
          </a:p>
        </p:txBody>
      </p:sp>
    </p:spTree>
    <p:extLst>
      <p:ext uri="{BB962C8B-B14F-4D97-AF65-F5344CB8AC3E}">
        <p14:creationId xmlns:p14="http://schemas.microsoft.com/office/powerpoint/2010/main" val="203005638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2A7A4C-A74B-4BDA-89C0-FEDFB9EA35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630694-F7DC-4CFE-9BD5-11D1BF2894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0C090E8-20A0-4CE4-8375-47971C2B70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DE085A26-2BC5-4414-8F66-EB288FC5FD1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1A5A21-CF71-41F7-BC3B-19D21A2FC0D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F9421087-E917-495C-9513-78E1C837EE7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8218A94-8204-44D5-AC2D-4812B007C1A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5F9EAC0-1ED9-4CF4-891C-E60691687E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35</a:t>
            </a:r>
          </a:p>
        </p:txBody>
      </p:sp>
    </p:spTree>
    <p:extLst>
      <p:ext uri="{BB962C8B-B14F-4D97-AF65-F5344CB8AC3E}">
        <p14:creationId xmlns:p14="http://schemas.microsoft.com/office/powerpoint/2010/main" val="89851323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662494-F680-421D-86CA-A3ECB468F8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424F2B-4C98-4D92-A2C7-DC35D6C781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62F974F-5EB5-4A5C-83D4-1336B72194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6ADB6A7B-BCC6-4AF5-81DC-F3074128C58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F3D743-C9E3-4F41-BE0C-961F2CC707D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1BA2B760-E3AD-493C-B071-8D08FE3C55E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8A80747-35A3-499A-BFC8-D1E79C58344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AE13CA7-E9FC-4285-8695-1DCC631994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36</a:t>
            </a:r>
          </a:p>
        </p:txBody>
      </p:sp>
    </p:spTree>
    <p:extLst>
      <p:ext uri="{BB962C8B-B14F-4D97-AF65-F5344CB8AC3E}">
        <p14:creationId xmlns:p14="http://schemas.microsoft.com/office/powerpoint/2010/main" val="24229184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462D6E0-1C51-4B27-811B-52A1E9A600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AE9662-BF82-4BA4-9D79-655D3165E5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E25B86E-A84C-4859-9F62-CB6D5F737C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A8CAA20B-3126-4D77-A28F-CF56BBE5E6A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707E37-0174-46CF-9EDA-9BE7A25D017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54C282FE-98EE-4B87-AEBF-3BBA2C993C6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5935373-1930-40D5-80B0-A28E43AC43E9}"/>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7B32185-0048-41D6-8841-7C68A64CC8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37</a:t>
            </a:r>
          </a:p>
        </p:txBody>
      </p:sp>
    </p:spTree>
    <p:extLst>
      <p:ext uri="{BB962C8B-B14F-4D97-AF65-F5344CB8AC3E}">
        <p14:creationId xmlns:p14="http://schemas.microsoft.com/office/powerpoint/2010/main" val="68625309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DC7CF3D-57EA-4BED-9662-ACE8BAF481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F50EC0-5899-4264-BE51-0913925A9A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1D58D08-C4FF-4EF2-9748-AFC022B302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DA3DA827-B88F-486F-99FF-061E3C9A9E5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2A202A-BB0A-4F69-B2E8-E2A5AB04792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Oct 2026, 11:00 Kampala</a:t>
            </a:r>
          </a:p>
        </p:txBody>
      </p:sp>
      <p:sp>
        <p:nvSpPr>
          <p:cNvPr id="6" name="">
            <a:extLst xmlns:a="http://schemas.openxmlformats.org/drawingml/2006/main">
              <a:ext uri="{FF2B5EF4-FFF2-40B4-BE49-F238E27FC236}">
                <a16:creationId xmlns:a16="http://schemas.microsoft.com/office/drawing/2014/main" id="{946C3C82-707C-41E5-9F75-E94E14FD765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684FE4-FDA2-48A9-88C7-B31EAD6A5F2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Oct 2026, 11:00 Kampala</a:t>
            </a:r>
          </a:p>
        </p:txBody>
      </p:sp>
      <p:sp>
        <p:nvSpPr>
          <p:cNvPr id="8" name="">
            <a:extLst xmlns:a="http://schemas.openxmlformats.org/drawingml/2006/main">
              <a:ext uri="{FF2B5EF4-FFF2-40B4-BE49-F238E27FC236}">
                <a16:creationId xmlns:a16="http://schemas.microsoft.com/office/drawing/2014/main" id="{AD599E8E-D726-4D55-9A6A-47C2EB1AFE7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7542BB-672E-4966-9A5E-E8A6C6B3677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8C87F751-1A14-404A-BE62-CB8D832B285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C050236-8C64-4A6B-BB39-5BC2652540D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FC360007-6794-480F-93B8-46580C5364C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57DAA4E-5BCC-4821-A638-55B41993F86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652029fa7e9436b"/>
              </a:rPr>
              <a:t>Open W05 assignment form</a:t>
            </a:r>
          </a:p>
        </p:txBody>
      </p:sp>
      <p:sp>
        <p:nvSpPr>
          <p:cNvPr id="14" name="">
            <a:extLst xmlns:a="http://schemas.openxmlformats.org/drawingml/2006/main">
              <a:ext uri="{FF2B5EF4-FFF2-40B4-BE49-F238E27FC236}">
                <a16:creationId xmlns:a16="http://schemas.microsoft.com/office/drawing/2014/main" id="{C58148C6-3575-4D6D-93CC-3B053366A5A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https://docs.google.com/forms/d/e/1FAIpQLSeP_Eykf3YDYN_6sbB5to0B3LX14fsujEVPhsp8UezRZXTNGw/viewform</a:t>
            </a:r>
          </a:p>
        </p:txBody>
      </p:sp>
      <p:sp>
        <p:nvSpPr>
          <p:cNvPr id="15" name="">
            <a:extLst xmlns:a="http://schemas.openxmlformats.org/drawingml/2006/main">
              <a:ext uri="{FF2B5EF4-FFF2-40B4-BE49-F238E27FC236}">
                <a16:creationId xmlns:a16="http://schemas.microsoft.com/office/drawing/2014/main" id="{E8387803-AEA5-4658-BD83-C3FABA7DC5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38</a:t>
            </a:r>
          </a:p>
        </p:txBody>
      </p:sp>
    </p:spTree>
    <p:extLst>
      <p:ext uri="{BB962C8B-B14F-4D97-AF65-F5344CB8AC3E}">
        <p14:creationId xmlns:p14="http://schemas.microsoft.com/office/powerpoint/2010/main" val="153813708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61F2FF3-2931-41B6-8C74-FC22CE8DEB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0838C9-1696-4C07-AAE9-5E34DEDE22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AC09C16-0019-4A22-B95F-2AB5DEEB33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CBD41636-9068-45D6-813A-26987A79A2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58E87C-9F56-4DD4-93F1-8A7B03763B7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46EA1CDB-B912-41F5-B8EB-085B577C525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155271-FDEB-477A-BC93-A927F0E45D9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DEE982D0-8C28-405C-A503-30C95CA6236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424AA2-48F0-4DD7-BEE3-9D0CFE838A8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C63C802C-9D76-4494-89D2-63330FF15D0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A33F226-FDB1-4EFE-B002-470ED027582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27 Oct 2026, 11:00 Kampala</a:t>
            </a:r>
          </a:p>
        </p:txBody>
      </p:sp>
      <p:sp>
        <p:nvSpPr>
          <p:cNvPr id="12" name="">
            <a:extLst xmlns:a="http://schemas.openxmlformats.org/drawingml/2006/main">
              <a:ext uri="{FF2B5EF4-FFF2-40B4-BE49-F238E27FC236}">
                <a16:creationId xmlns:a16="http://schemas.microsoft.com/office/drawing/2014/main" id="{C4F26201-3A62-4FCC-84BE-1BAD412761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39</a:t>
            </a:r>
          </a:p>
        </p:txBody>
      </p:sp>
    </p:spTree>
    <p:extLst>
      <p:ext uri="{BB962C8B-B14F-4D97-AF65-F5344CB8AC3E}">
        <p14:creationId xmlns:p14="http://schemas.microsoft.com/office/powerpoint/2010/main" val="84822080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5396AB1-3EC0-4AFF-86C8-BBB55986B9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32D7F1-E94F-42A8-88B6-91E971E655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EC33E9F5-6088-4E59-96CF-932F0EA118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xmlns:a="http://schemas.openxmlformats.org/drawingml/2006/main">
              <a:ext uri="{FF2B5EF4-FFF2-40B4-BE49-F238E27FC236}">
                <a16:creationId xmlns:a16="http://schemas.microsoft.com/office/drawing/2014/main" id="{43BACE55-AF1D-4FAC-AD8C-67CA0EF740C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ACBABD-E6E0-4137-9676-E7C419164412}"/>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1D0F5630-44E4-4861-A92E-B6C4535B74A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8C0024-586E-40A2-8DF4-85DFDF524C31}"/>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A4F65E77-8839-4CBE-8E9C-7543113B937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4A5C7A-3EDF-422E-9589-52A3CC556B08}"/>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9101C5C8-E804-4D9A-BB93-CDF505D487A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74A420E-79A6-4298-A72E-7F80B9B22C1C}"/>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e7a11050effc4b3a"/>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32904686-7E9A-43F1-8C72-E079793270E9}"/>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F098559F-618F-4F43-BEB5-0ABDA48FD8C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FB649A6-A8C3-4698-9C6C-0EDAA8E756E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e938d90978043fd"/>
              </a:rPr>
              <a:t>Open this week’s quiz</a:t>
            </a:r>
          </a:p>
        </p:txBody>
      </p:sp>
      <p:sp>
        <p:nvSpPr>
          <p:cNvPr id="16" name="">
            <a:extLst xmlns:a="http://schemas.openxmlformats.org/drawingml/2006/main">
              <a:ext uri="{FF2B5EF4-FFF2-40B4-BE49-F238E27FC236}">
                <a16:creationId xmlns:a16="http://schemas.microsoft.com/office/drawing/2014/main" id="{67EBD52A-9FB7-4FBF-8E97-3AC41B05388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https://forms.gle/Ykncf1mmEbvghZgJ6</a:t>
            </a:r>
          </a:p>
        </p:txBody>
      </p:sp>
      <p:sp>
        <p:nvSpPr>
          <p:cNvPr id="17" name="">
            <a:extLst xmlns:a="http://schemas.openxmlformats.org/drawingml/2006/main">
              <a:ext uri="{FF2B5EF4-FFF2-40B4-BE49-F238E27FC236}">
                <a16:creationId xmlns:a16="http://schemas.microsoft.com/office/drawing/2014/main" id="{881BED6C-FA56-4529-84A6-56DADF833C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40</a:t>
            </a:r>
          </a:p>
        </p:txBody>
      </p:sp>
    </p:spTree>
    <p:extLst>
      <p:ext uri="{BB962C8B-B14F-4D97-AF65-F5344CB8AC3E}">
        <p14:creationId xmlns:p14="http://schemas.microsoft.com/office/powerpoint/2010/main" val="1833062919"/>
      </p:ext>
    </p:extLst>
  </p:cSld>
</p:sld>
</file>

<file path=ppt/slides/slide4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AA1593B-0688-431C-9762-A5833FEF07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218980B7-F2B3-4809-9D44-97C408AB00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C20506C-D5E6-46E6-9D37-F25DA11BFF6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A2BA7C34-0B8D-4E3A-824E-8A3764CEB32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64ECD9DE-51CC-48F1-8A2D-BFD8739EB65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744A308-DA7D-4E43-B0B8-B06AA42BDA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5   41</a:t>
            </a:r>
          </a:p>
        </p:txBody>
      </p:sp>
    </p:spTree>
    <p:extLst>
      <p:ext uri="{BB962C8B-B14F-4D97-AF65-F5344CB8AC3E}">
        <p14:creationId xmlns:p14="http://schemas.microsoft.com/office/powerpoint/2010/main" val="2347099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2026-09-28T21:14:46.0190000Z</dcterms:created>
  <dcterms:modified xsi:type="dcterms:W3CDTF">2026-09-28T21:14:46.0190000Z</dcterms:modified>
</coreProperties>
</file>