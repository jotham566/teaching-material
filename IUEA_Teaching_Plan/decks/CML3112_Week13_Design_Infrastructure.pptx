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aa8a1bcac64bb9" /><Relationship Type="http://schemas.openxmlformats.org/officeDocument/2006/relationships/extended-properties" Target="/docProps/app.xml" Id="Rb33509da2d8442ad" /><Relationship Type="http://schemas.openxmlformats.org/officeDocument/2006/relationships/officeDocument" Target="/ppt/presentation.xml" Id="R1c6b6ac381544fb3" /></Relationships>
</file>

<file path=ppt/presentation.xml><?xml version="1.0" encoding="utf-8"?>
<p:presentation xmlns:p="http://schemas.openxmlformats.org/presentationml/2006/main">
  <p:sldMasterIdLst>
    <p:sldMasterId xmlns:r="http://schemas.openxmlformats.org/officeDocument/2006/relationships" id="2147483648" r:id="Rec77f218bdf0444c"/>
  </p:sldMasterIdLst>
  <p:notesMasterIdLst>
    <p:notesMasterId xmlns:r="http://schemas.openxmlformats.org/officeDocument/2006/relationships" r:id="R0c81f3fa46b347ae"/>
  </p:notesMasterIdLst>
  <p:sldIdLst>
    <p:sldId xmlns:r="http://schemas.openxmlformats.org/officeDocument/2006/relationships" id="256" r:id="R8bfc2ec907b24c2f"/>
    <p:sldId xmlns:r="http://schemas.openxmlformats.org/officeDocument/2006/relationships" id="257" r:id="R09fcc22fa47648bc"/>
    <p:sldId xmlns:r="http://schemas.openxmlformats.org/officeDocument/2006/relationships" id="258" r:id="R94d8ce21a56b4af1"/>
    <p:sldId xmlns:r="http://schemas.openxmlformats.org/officeDocument/2006/relationships" id="259" r:id="R0c9c08bf9fd944d8"/>
    <p:sldId xmlns:r="http://schemas.openxmlformats.org/officeDocument/2006/relationships" id="260" r:id="Rc15e9b2445694a0d"/>
    <p:sldId xmlns:r="http://schemas.openxmlformats.org/officeDocument/2006/relationships" id="261" r:id="Rde74898859be4e9e"/>
    <p:sldId xmlns:r="http://schemas.openxmlformats.org/officeDocument/2006/relationships" id="262" r:id="Rfbbab54c9c1a490d"/>
    <p:sldId xmlns:r="http://schemas.openxmlformats.org/officeDocument/2006/relationships" id="263" r:id="Rf5e5bf1ab73543eb"/>
    <p:sldId xmlns:r="http://schemas.openxmlformats.org/officeDocument/2006/relationships" id="264" r:id="Rb03708e74d174e52"/>
    <p:sldId xmlns:r="http://schemas.openxmlformats.org/officeDocument/2006/relationships" id="265" r:id="R111c6cc7efe14cd7"/>
    <p:sldId xmlns:r="http://schemas.openxmlformats.org/officeDocument/2006/relationships" id="266" r:id="Rb9667aa9566e40ca"/>
    <p:sldId xmlns:r="http://schemas.openxmlformats.org/officeDocument/2006/relationships" id="267" r:id="R859806dd84984f06"/>
    <p:sldId xmlns:r="http://schemas.openxmlformats.org/officeDocument/2006/relationships" id="268" r:id="R5d2226c6751d4b1b"/>
    <p:sldId xmlns:r="http://schemas.openxmlformats.org/officeDocument/2006/relationships" id="269" r:id="R22c31c3b79534e93"/>
    <p:sldId xmlns:r="http://schemas.openxmlformats.org/officeDocument/2006/relationships" id="270" r:id="R15a00c1ff81244e9"/>
    <p:sldId xmlns:r="http://schemas.openxmlformats.org/officeDocument/2006/relationships" id="271" r:id="R34cbbe7b7ccd4c6c"/>
    <p:sldId xmlns:r="http://schemas.openxmlformats.org/officeDocument/2006/relationships" id="272" r:id="Ra27e1b028e9a4199"/>
    <p:sldId xmlns:r="http://schemas.openxmlformats.org/officeDocument/2006/relationships" id="273" r:id="R202496cb979b4f52"/>
    <p:sldId xmlns:r="http://schemas.openxmlformats.org/officeDocument/2006/relationships" id="274" r:id="Rb0fb31df72f7497b"/>
    <p:sldId xmlns:r="http://schemas.openxmlformats.org/officeDocument/2006/relationships" id="275" r:id="Re92f0ceb97584ec0"/>
    <p:sldId xmlns:r="http://schemas.openxmlformats.org/officeDocument/2006/relationships" id="276" r:id="R4a54a964634548c0"/>
    <p:sldId xmlns:r="http://schemas.openxmlformats.org/officeDocument/2006/relationships" id="277" r:id="R9c72958e4e9e4a15"/>
    <p:sldId xmlns:r="http://schemas.openxmlformats.org/officeDocument/2006/relationships" id="278" r:id="Ra741ceb981b54509"/>
    <p:sldId xmlns:r="http://schemas.openxmlformats.org/officeDocument/2006/relationships" id="279" r:id="R23b101d855b8469b"/>
    <p:sldId xmlns:r="http://schemas.openxmlformats.org/officeDocument/2006/relationships" id="280" r:id="R1bcebadd973b41b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42091c0e284130" /><Relationship Type="http://schemas.openxmlformats.org/officeDocument/2006/relationships/slideMaster" Target="/ppt/slideMasters/slideMaster1.xml" Id="Rec77f218bdf0444c" /><Relationship Type="http://schemas.openxmlformats.org/officeDocument/2006/relationships/notesMaster" Target="/ppt/notesMasters/notesMaster1.xml" Id="R0c81f3fa46b347ae" /><Relationship Type="http://schemas.openxmlformats.org/officeDocument/2006/relationships/presProps" Target="/ppt/presProps.xml" Id="Rfc2ac45993b04df3" /><Relationship Type="http://schemas.openxmlformats.org/officeDocument/2006/relationships/tableStyles" Target="/ppt/tableStyles.xml" Id="R1208d79b96794ef7" /><Relationship Type="http://schemas.openxmlformats.org/officeDocument/2006/relationships/slide" Target="/ppt/slides/slide1.xml" Id="R8bfc2ec907b24c2f" /><Relationship Type="http://schemas.openxmlformats.org/officeDocument/2006/relationships/slide" Target="/ppt/slides/slide2.xml" Id="R09fcc22fa47648bc" /><Relationship Type="http://schemas.openxmlformats.org/officeDocument/2006/relationships/slide" Target="/ppt/slides/slide3.xml" Id="R94d8ce21a56b4af1" /><Relationship Type="http://schemas.openxmlformats.org/officeDocument/2006/relationships/slide" Target="/ppt/slides/slide4.xml" Id="R0c9c08bf9fd944d8" /><Relationship Type="http://schemas.openxmlformats.org/officeDocument/2006/relationships/slide" Target="/ppt/slides/slide5.xml" Id="Rc15e9b2445694a0d" /><Relationship Type="http://schemas.openxmlformats.org/officeDocument/2006/relationships/slide" Target="/ppt/slides/slide6.xml" Id="Rde74898859be4e9e" /><Relationship Type="http://schemas.openxmlformats.org/officeDocument/2006/relationships/slide" Target="/ppt/slides/slide7.xml" Id="Rfbbab54c9c1a490d" /><Relationship Type="http://schemas.openxmlformats.org/officeDocument/2006/relationships/slide" Target="/ppt/slides/slide8.xml" Id="Rf5e5bf1ab73543eb" /><Relationship Type="http://schemas.openxmlformats.org/officeDocument/2006/relationships/slide" Target="/ppt/slides/slide9.xml" Id="Rb03708e74d174e52" /><Relationship Type="http://schemas.openxmlformats.org/officeDocument/2006/relationships/slide" Target="/ppt/slides/slide10.xml" Id="R111c6cc7efe14cd7" /><Relationship Type="http://schemas.openxmlformats.org/officeDocument/2006/relationships/slide" Target="/ppt/slides/slide11.xml" Id="Rb9667aa9566e40ca" /><Relationship Type="http://schemas.openxmlformats.org/officeDocument/2006/relationships/slide" Target="/ppt/slides/slide12.xml" Id="R859806dd84984f06" /><Relationship Type="http://schemas.openxmlformats.org/officeDocument/2006/relationships/slide" Target="/ppt/slides/slide13.xml" Id="R5d2226c6751d4b1b" /><Relationship Type="http://schemas.openxmlformats.org/officeDocument/2006/relationships/slide" Target="/ppt/slides/slide14.xml" Id="R22c31c3b79534e93" /><Relationship Type="http://schemas.openxmlformats.org/officeDocument/2006/relationships/slide" Target="/ppt/slides/slide15.xml" Id="R15a00c1ff81244e9" /><Relationship Type="http://schemas.openxmlformats.org/officeDocument/2006/relationships/slide" Target="/ppt/slides/slide16.xml" Id="R34cbbe7b7ccd4c6c" /><Relationship Type="http://schemas.openxmlformats.org/officeDocument/2006/relationships/slide" Target="/ppt/slides/slide17.xml" Id="Ra27e1b028e9a4199" /><Relationship Type="http://schemas.openxmlformats.org/officeDocument/2006/relationships/slide" Target="/ppt/slides/slide18.xml" Id="R202496cb979b4f52" /><Relationship Type="http://schemas.openxmlformats.org/officeDocument/2006/relationships/slide" Target="/ppt/slides/slide19.xml" Id="Rb0fb31df72f7497b" /><Relationship Type="http://schemas.openxmlformats.org/officeDocument/2006/relationships/slide" Target="/ppt/slides/slide20.xml" Id="Re92f0ceb97584ec0" /><Relationship Type="http://schemas.openxmlformats.org/officeDocument/2006/relationships/slide" Target="/ppt/slides/slide21.xml" Id="R4a54a964634548c0" /><Relationship Type="http://schemas.openxmlformats.org/officeDocument/2006/relationships/slide" Target="/ppt/slides/slide22.xml" Id="R9c72958e4e9e4a15" /><Relationship Type="http://schemas.openxmlformats.org/officeDocument/2006/relationships/slide" Target="/ppt/slides/slide23.xml" Id="Ra741ceb981b54509" /><Relationship Type="http://schemas.openxmlformats.org/officeDocument/2006/relationships/slide" Target="/ppt/slides/slide24.xml" Id="R23b101d855b8469b" /><Relationship Type="http://schemas.openxmlformats.org/officeDocument/2006/relationships/slide" Target="/ppt/slides/slide25.xml" Id="R1bcebadd973b41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dc2da3e6614c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587cff0258f4e74" /><Relationship Type="http://schemas.openxmlformats.org/officeDocument/2006/relationships/notesMaster" Target="/ppt/notesMasters/notesMaster1.xml" Id="R1ddea491e6a34b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722119859604d80" /><Relationship Type="http://schemas.openxmlformats.org/officeDocument/2006/relationships/notesMaster" Target="/ppt/notesMasters/notesMaster1.xml" Id="Rb8e779fd22ff4b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8439628bf7d54b45" /><Relationship Type="http://schemas.openxmlformats.org/officeDocument/2006/relationships/notesMaster" Target="/ppt/notesMasters/notesMaster1.xml" Id="R2676252b1ca94af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047abfa19b74bc6" /><Relationship Type="http://schemas.openxmlformats.org/officeDocument/2006/relationships/notesMaster" Target="/ppt/notesMasters/notesMaster1.xml" Id="Rf787d80c417c48c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fec18c9ae7c4775" /><Relationship Type="http://schemas.openxmlformats.org/officeDocument/2006/relationships/notesMaster" Target="/ppt/notesMasters/notesMaster1.xml" Id="R502cf2c905674657"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286637db8940fc" /><Relationship Type="http://schemas.openxmlformats.org/officeDocument/2006/relationships/notesMaster" Target="/ppt/notesMasters/notesMaster1.xml" Id="Re5bd6b36c5d24c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5a92bf0883494a1c" /><Relationship Type="http://schemas.openxmlformats.org/officeDocument/2006/relationships/notesMaster" Target="/ppt/notesMasters/notesMaster1.xml" Id="Rf7222bb746f840ab" /></Relationships>
</file>

<file path=ppt/notesSlides/_rels/notesSlide8.xml.rels>&#65279;<?xml version="1.0" encoding="utf-8"?><Relationships xmlns="http://schemas.openxmlformats.org/package/2006/relationships"><Relationship Type="http://schemas.openxmlformats.org/officeDocument/2006/relationships/slide" Target="/ppt/slides/slide8.xml" Id="R6681c7335661415a" /><Relationship Type="http://schemas.openxmlformats.org/officeDocument/2006/relationships/notesMaster" Target="/ppt/notesMasters/notesMaster1.xml" Id="Rc19b303ac8fd42e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5b046f7400436f" /><Relationship Type="http://schemas.openxmlformats.org/officeDocument/2006/relationships/notesMaster" Target="/ppt/notesMasters/notesMaster1.xml" Id="R7c45cdef4b10441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ec7980a5ac649a8" /><Relationship Type="http://schemas.openxmlformats.org/officeDocument/2006/relationships/notesMaster" Target="/ppt/notesMasters/notesMaster1.xml" Id="R481aaf6e59ae4d8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3318250fa0f41ab" /><Relationship Type="http://schemas.openxmlformats.org/officeDocument/2006/relationships/notesMaster" Target="/ppt/notesMasters/notesMaster1.xml" Id="R350907c3d9bb4fb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81faebd6c634383" /><Relationship Type="http://schemas.openxmlformats.org/officeDocument/2006/relationships/notesMaster" Target="/ppt/notesMasters/notesMaster1.xml" Id="Rd45cf1075d04499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600b216c22d42f4" /><Relationship Type="http://schemas.openxmlformats.org/officeDocument/2006/relationships/notesMaster" Target="/ppt/notesMasters/notesMaster1.xml" Id="Red8f3cb0fc1e433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7f98a931a8442b6" /><Relationship Type="http://schemas.openxmlformats.org/officeDocument/2006/relationships/notesMaster" Target="/ppt/notesMasters/notesMaster1.xml" Id="R7301f6f7b24946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141df7f3adc485b" /><Relationship Type="http://schemas.openxmlformats.org/officeDocument/2006/relationships/notesMaster" Target="/ppt/notesMasters/notesMaster1.xml" Id="Re684812d445b416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a131fd23c1c46a2" /><Relationship Type="http://schemas.openxmlformats.org/officeDocument/2006/relationships/notesMaster" Target="/ppt/notesMasters/notesMaster1.xml" Id="R34955bf225bf48c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9c86d1f168e42d3" /><Relationship Type="http://schemas.openxmlformats.org/officeDocument/2006/relationships/notesMaster" Target="/ppt/notesMasters/notesMaster1.xml" Id="R74b398a94e474c7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7b1054f8ead4f06" /><Relationship Type="http://schemas.openxmlformats.org/officeDocument/2006/relationships/notesMaster" Target="/ppt/notesMasters/notesMaster1.xml" Id="R4ec192acc9b7466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5f8ee89120449e0" /><Relationship Type="http://schemas.openxmlformats.org/officeDocument/2006/relationships/notesMaster" Target="/ppt/notesMasters/notesMaster1.xml" Id="R020806ae9edc4aa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c201fcdb9c64404" /><Relationship Type="http://schemas.openxmlformats.org/officeDocument/2006/relationships/notesMaster" Target="/ppt/notesMasters/notesMaster1.xml" Id="Ra0514cba9bfb45a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5321f29c5064d6c" /><Relationship Type="http://schemas.openxmlformats.org/officeDocument/2006/relationships/notesMaster" Target="/ppt/notesMasters/notesMaster1.xml" Id="Ra99ad5ece076408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8e754655625412b" /><Relationship Type="http://schemas.openxmlformats.org/officeDocument/2006/relationships/notesMaster" Target="/ppt/notesMasters/notesMaster1.xml" Id="R917ed573f7cd413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f2a63e089a44291" /><Relationship Type="http://schemas.openxmlformats.org/officeDocument/2006/relationships/notesMaster" Target="/ppt/notesMasters/notesMaster1.xml" Id="R30779086614d4a5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ad13829adbf424f" /><Relationship Type="http://schemas.openxmlformats.org/officeDocument/2006/relationships/notesMaster" Target="/ppt/notesMasters/notesMaster1.xml" Id="R853950aa394d409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331aaba1f2a4c77" /><Relationship Type="http://schemas.openxmlformats.org/officeDocument/2006/relationships/notesMaster" Target="/ppt/notesMasters/notesMaster1.xml" Id="Rc5fe124f62e343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project understandable and runnable</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Civil Engineering and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learning</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At the end, check the specific outcome shown here using a small previously demonstrated example. A completed file without an explanation is not evidence of understanding.</a:t>
            </a:r>
          </a:p>
          <a:p xmlns:a="http://schemas.openxmlformats.org/drawingml/2006/main">
            <a:r>
              <a:t/>
            </a:r>
          </a:p>
          <a:p xmlns:a="http://schemas.openxmlformats.org/drawingml/2006/main">
            <a:r>
              <a:t>On this slide</a:t>
            </a:r>
          </a:p>
          <a:p xmlns:a="http://schemas.openxmlformats.org/drawingml/2006/main">
            <a:r>
              <a:t>Run the project from a fresh session.</a:t>
            </a:r>
          </a:p>
          <a:p xmlns:a="http://schemas.openxmlformats.org/drawingml/2006/main">
            <a:r>
              <a:t/>
            </a:r>
          </a:p>
          <a:p xmlns:a="http://schemas.openxmlformats.org/drawingml/2006/main">
            <a:r>
              <a:t>Repair unclear run instructions using a fresh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Connection to the previous lesson</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The models and charts already exist. The remaining task is to make the evidence understandable and runnable from the supplied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revision, not a new test requirement. Lists can name columns or hold returned predictions, but students do not need to rebuild table operations with manual CSV loops. Existing function signatures, marks and allowed-resource rules stay unchanged.</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data/raw as folders inside the project. A path starting with a private machine username will fail elsewhere. Keep raw data separate and never overwrite it with cleaned data.</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this week’s tools are needed</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A project is ready for handover when its files and written instructions reproduce its results in a fresh session. Check each claim against the results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Reproducibility and Dependency</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Reproducibility: Another person can use the stated data, environment and steps to check the result. Terminology varies; state the operational test_data.</a:t>
            </a:r>
          </a:p>
          <a:p xmlns:a="http://schemas.openxmlformats.org/drawingml/2006/main">
            <a:r>
              <a:t>Dependency: A package your code needs. Record versions actually used, rather than guessing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Relative path and README</a:t>
            </a:r>
          </a:p>
          <a:p xmlns:a="http://schemas.openxmlformats.org/drawingml/2006/main">
            <a:r>
              <a:t>Explanation to give</a:t>
            </a:r>
          </a:p>
          <a:p xmlns:a="http://schemas.openxmlformats.org/drawingml/2006/main">
            <a:r>
              <a:t>A path identifies where a file is found. A relative path starts from the current working directory. Explain each folder component and the final practice_filename.</a:t>
            </a:r>
          </a:p>
          <a:p xmlns:a="http://schemas.openxmlformats.org/drawingml/2006/main">
            <a:r>
              <a:t/>
            </a:r>
          </a:p>
          <a:p xmlns:a="http://schemas.openxmlformats.org/drawingml/2006/main">
            <a:r>
              <a:t>Worked illustration / lecturer answer</a:t>
            </a:r>
          </a:p>
          <a:p xmlns:a="http://schemas.openxmlformats.org/drawingml/2006/main">
            <a:r>
              <a:t>data/readings.csv means the readings.csv file inside a data folder under the current working directory. A path from your own Downloads folder will usually fail on another person's machine.</a:t>
            </a:r>
          </a:p>
          <a:p xmlns:a="http://schemas.openxmlformats.org/drawingml/2006/main">
            <a:r>
              <a:t/>
            </a:r>
          </a:p>
          <a:p xmlns:a="http://schemas.openxmlformats.org/drawingml/2006/main">
            <a:r>
              <a:t>Misconception to address</a:t>
            </a:r>
          </a:p>
          <a:p xmlns:a="http://schemas.openxmlformats.org/drawingml/2006/main">
            <a:r>
              <a:t>The working directory is not automatically the notebook's own folder in every tool. Check it and organise the project rather than hard-coding a personal absolute path.</a:t>
            </a:r>
          </a:p>
          <a:p xmlns:a="http://schemas.openxmlformats.org/drawingml/2006/main">
            <a:r>
              <a:t/>
            </a:r>
          </a:p>
          <a:p xmlns:a="http://schemas.openxmlformats.org/drawingml/2006/main">
            <a:r>
              <a:t>On this slide</a:t>
            </a:r>
          </a:p>
          <a:p xmlns:a="http://schemas.openxmlformats.org/drawingml/2006/main">
            <a:r>
              <a:t>Relative path: A location interpreted from the current working folder. It is not always relative to the notebook file itself.</a:t>
            </a:r>
          </a:p>
          <a:p xmlns:a="http://schemas.openxmlformats.org/drawingml/2006/main">
            <a:r>
              <a:t>README: The project’s instructions: question, files, data source, environment, run order, results and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README</a:t>
            </a:r>
          </a:p>
          <a:p xmlns:a="http://schemas.openxmlformats.org/drawingml/2006/main">
            <a:r>
              <a:t>Explanation to give</a:t>
            </a:r>
          </a:p>
          <a:p xmlns:a="http://schemas.openxmlformats.org/drawingml/2006/main">
            <a:r>
              <a:t>Treat the README as instructions for someone opening the project for the first time. Name the files, setup requirements, entry notebook and exact order needed to reproduce the result.</a:t>
            </a:r>
          </a:p>
          <a:p xmlns:a="http://schemas.openxmlformats.org/drawingml/2006/main">
            <a:r>
              <a:t/>
            </a:r>
          </a:p>
          <a:p xmlns:a="http://schemas.openxmlformats.org/drawingml/2006/main">
            <a:r>
              <a:t>Worked illustration / lecturer answer</a:t>
            </a:r>
          </a:p>
          <a:p xmlns:a="http://schemas.openxmlformats.org/drawingml/2006/main">
            <a:r>
              <a:t>Replace “run the analysis” with “Open analysis.ipynb, place readings.csv in data/, restart the runtime and run all cells.” A useful repair comment names the failed step and the corrected practice_filename.</a:t>
            </a:r>
          </a:p>
          <a:p xmlns:a="http://schemas.openxmlformats.org/drawingml/2006/main">
            <a:r>
              <a:t/>
            </a:r>
          </a:p>
          <a:p xmlns:a="http://schemas.openxmlformats.org/drawingml/2006/main">
            <a:r>
              <a:t>Misconception to address</a:t>
            </a:r>
          </a:p>
          <a:p xmlns:a="http://schemas.openxmlformats.org/drawingml/2006/main">
            <a:r>
              <a:t>A repository URL proves a location exists, not that the work runs or was submitted. Contribution claims should point to specific work, not only a count of commits.</a:t>
            </a:r>
          </a:p>
          <a:p xmlns:a="http://schemas.openxmlformats.org/drawingml/2006/main">
            <a:r>
              <a:t/>
            </a:r>
          </a:p>
          <a:p xmlns:a="http://schemas.openxmlformats.org/drawingml/2006/main">
            <a:r>
              <a:t>On this slide</a:t>
            </a:r>
          </a:p>
          <a:p xmlns:a="http://schemas.openxmlformats.org/drawingml/2006/main">
            <a:r>
              <a:t>State the engineering question and target unit.</a:t>
            </a:r>
          </a:p>
          <a:p xmlns:a="http://schemas.openxmlformats.org/drawingml/2006/main">
            <a:r>
              <a:t/>
            </a:r>
          </a:p>
          <a:p xmlns:a="http://schemas.openxmlformats.org/drawingml/2006/main">
            <a:r>
              <a:t>List the supplied data and required software versions.</a:t>
            </a:r>
          </a:p>
          <a:p xmlns:a="http://schemas.openxmlformats.org/drawingml/2006/main">
            <a:r>
              <a:t/>
            </a:r>
          </a:p>
          <a:p xmlns:a="http://schemas.openxmlformats.org/drawingml/2006/main">
            <a:r>
              <a:t>Give the order for running the notebook from a fresh session.</a:t>
            </a:r>
          </a:p>
          <a:p xmlns:a="http://schemas.openxmlformats.org/drawingml/2006/main">
            <a:r>
              <a:t/>
            </a:r>
          </a:p>
          <a:p xmlns:a="http://schemas.openxmlformats.org/drawingml/2006/main">
            <a:r>
              <a:t>State limitations and each member’s contribution.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Someone else needs to reproduce the result</a:t>
            </a:r>
          </a:p>
          <a:p xmlns:a="http://schemas.openxmlformats.org/drawingml/2006/main">
            <a:r>
              <a:t>Explanation to give</a:t>
            </a:r>
          </a:p>
          <a:p xmlns:a="http://schemas.openxmlformats.org/drawingml/2006/main">
            <a:r>
              <a:t>Describe a handover as a reproducibility test carried out with only the delivered files and written directions. The person checking it should not need your memory of previous actions.</a:t>
            </a:r>
          </a:p>
          <a:p xmlns:a="http://schemas.openxmlformats.org/drawingml/2006/main">
            <a:r>
              <a:t/>
            </a:r>
          </a:p>
          <a:p xmlns:a="http://schemas.openxmlformats.org/drawingml/2006/main">
            <a:r>
              <a:t>Worked illustration / lecturer answer</a:t>
            </a:r>
          </a:p>
          <a:p xmlns:a="http://schemas.openxmlformats.org/drawingml/2006/main">
            <a:r>
              <a:t>Close the runtime, start fresh and follow the README literally. If it names data.csv while the folder contains readings.csv, repair the instructions and repeat the check.</a:t>
            </a:r>
          </a:p>
          <a:p xmlns:a="http://schemas.openxmlformats.org/drawingml/2006/main">
            <a:r>
              <a:t/>
            </a:r>
          </a:p>
          <a:p xmlns:a="http://schemas.openxmlformats.org/drawingml/2006/main">
            <a:r>
              <a:t>Misconception to address</a:t>
            </a:r>
          </a:p>
          <a:p xmlns:a="http://schemas.openxmlformats.org/drawingml/2006/main">
            <a:r>
              <a:t>A screenshot of a successful old output is not proof that today's package works from a clean prediction_start_time.</a:t>
            </a:r>
          </a:p>
          <a:p xmlns:a="http://schemas.openxmlformats.org/drawingml/2006/main">
            <a:r>
              <a:t/>
            </a:r>
          </a:p>
          <a:p xmlns:a="http://schemas.openxmlformats.org/drawingml/2006/main">
            <a:r>
              <a:t>On this slide</a:t>
            </a:r>
          </a:p>
          <a:p xmlns:a="http://schemas.openxmlformats.org/drawingml/2006/main">
            <a:r>
              <a:t>Which instructions would a new user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notebook starts fresh</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The saved outputs must agree with a fresh run in the stated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Saved outputs can hide missing steps</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A notebook can display an old answer after its inputs have changed.</a:t>
            </a:r>
          </a:p>
          <a:p xmlns:a="http://schemas.openxmlformats.org/drawingml/2006/main">
            <a:r>
              <a:t/>
            </a:r>
          </a:p>
          <a:p xmlns:a="http://schemas.openxmlformats.org/drawingml/2006/main">
            <a:r>
              <a:t>A fresh session begins without the old variables.</a:t>
            </a:r>
          </a:p>
          <a:p xmlns:a="http://schemas.openxmlformats.org/drawingml/2006/main">
            <a:r>
              <a:t/>
            </a:r>
          </a:p>
          <a:p xmlns:a="http://schemas.openxmlformats.org/drawingml/2006/main">
            <a:r>
              <a:t>Restarting and running all tests whether the stated order creates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path names where a file is found</a:t>
            </a:r>
          </a:p>
          <a:p xmlns:a="http://schemas.openxmlformats.org/drawingml/2006/main">
            <a:r>
              <a:t>Explanation to give</a:t>
            </a:r>
          </a:p>
          <a:p xmlns:a="http://schemas.openxmlformats.org/drawingml/2006/main">
            <a:r>
              <a:t>A path identifies where a file is found. A relative path starts from the current working directory. Explain each folder component and the final practice_filename.</a:t>
            </a:r>
          </a:p>
          <a:p xmlns:a="http://schemas.openxmlformats.org/drawingml/2006/main">
            <a:r>
              <a:t/>
            </a:r>
          </a:p>
          <a:p xmlns:a="http://schemas.openxmlformats.org/drawingml/2006/main">
            <a:r>
              <a:t>Worked illustration / lecturer answer</a:t>
            </a:r>
          </a:p>
          <a:p xmlns:a="http://schemas.openxmlformats.org/drawingml/2006/main">
            <a:r>
              <a:t>data/readings.csv means the readings.csv file inside a data folder under the current working directory. A path from your own Downloads folder will usually fail on another person's machine.</a:t>
            </a:r>
          </a:p>
          <a:p xmlns:a="http://schemas.openxmlformats.org/drawingml/2006/main">
            <a:r>
              <a:t/>
            </a:r>
          </a:p>
          <a:p xmlns:a="http://schemas.openxmlformats.org/drawingml/2006/main">
            <a:r>
              <a:t>Misconception to address</a:t>
            </a:r>
          </a:p>
          <a:p xmlns:a="http://schemas.openxmlformats.org/drawingml/2006/main">
            <a:r>
              <a:t>The working directory is not automatically the notebook's own folder in every tool. Check it and organise the project rather than hard-coding a personal absolute path.</a:t>
            </a:r>
          </a:p>
          <a:p xmlns:a="http://schemas.openxmlformats.org/drawingml/2006/main">
            <a:r>
              <a:t/>
            </a:r>
          </a:p>
          <a:p xmlns:a="http://schemas.openxmlformats.org/drawingml/2006/main">
            <a:r>
              <a:t>On this slide</a:t>
            </a:r>
          </a:p>
          <a:p xmlns:a="http://schemas.openxmlformats.org/drawingml/2006/main">
            <a:r>
              <a:t>A relative path is interpreted from the current working folder.</a:t>
            </a:r>
          </a:p>
          <a:p xmlns:a="http://schemas.openxmlformats.org/drawingml/2006/main">
            <a:r>
              <a:t/>
            </a:r>
          </a:p>
          <a:p xmlns:a="http://schemas.openxmlformats.org/drawingml/2006/main">
            <a:r>
              <a:t>Package versions describe the software used to run the code.</a:t>
            </a:r>
          </a:p>
          <a:p xmlns:a="http://schemas.openxmlformats.org/drawingml/2006/main">
            <a:r>
              <a:t/>
            </a:r>
          </a:p>
          <a:p xmlns:a="http://schemas.openxmlformats.org/drawingml/2006/main">
            <a:r>
              <a:t>The README must give both run instructions and data-access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path example</a:t>
            </a:r>
          </a:p>
          <a:p xmlns:a="http://schemas.openxmlformats.org/drawingml/2006/main">
            <a:r>
              <a:t>Explanation to give</a:t>
            </a:r>
          </a:p>
          <a:p xmlns:a="http://schemas.openxmlformats.org/drawingml/2006/main">
            <a:r>
              <a:t>A path identifies where a file is found. A relative path starts from the current working directory. Explain each folder component and the final practice_filename.</a:t>
            </a:r>
          </a:p>
          <a:p xmlns:a="http://schemas.openxmlformats.org/drawingml/2006/main">
            <a:r>
              <a:t/>
            </a:r>
          </a:p>
          <a:p xmlns:a="http://schemas.openxmlformats.org/drawingml/2006/main">
            <a:r>
              <a:t>Worked illustration / lecturer answer</a:t>
            </a:r>
          </a:p>
          <a:p xmlns:a="http://schemas.openxmlformats.org/drawingml/2006/main">
            <a:r>
              <a:t>data/readings.csv means the readings.csv file inside a data folder under the current working directory. A path from your own Downloads folder will usually fail on another person's machine.</a:t>
            </a:r>
          </a:p>
          <a:p xmlns:a="http://schemas.openxmlformats.org/drawingml/2006/main">
            <a:r>
              <a:t/>
            </a:r>
          </a:p>
          <a:p xmlns:a="http://schemas.openxmlformats.org/drawingml/2006/main">
            <a:r>
              <a:t>Misconception to address</a:t>
            </a:r>
          </a:p>
          <a:p xmlns:a="http://schemas.openxmlformats.org/drawingml/2006/main">
            <a:r>
              <a:t>The working directory is not automatically the notebook's own folder in every tool. Check it and organise the project rather than hard-coding a personal absolute path.</a:t>
            </a:r>
          </a:p>
          <a:p xmlns:a="http://schemas.openxmlformats.org/drawingml/2006/main">
            <a:r>
              <a:t/>
            </a:r>
          </a:p>
          <a:p xmlns:a="http://schemas.openxmlformats.org/drawingml/2006/main">
            <a:r>
              <a:t>On this slide</a:t>
            </a:r>
          </a:p>
          <a:p xmlns:a="http://schemas.openxmlformats.org/drawingml/2006/main">
            <a:r>
              <a:t>Path and cwd: Path is a tool imported from Python’s pathlib module. Path.cwd() returns the folder where Python is currently running.</a:t>
            </a:r>
          </a:p>
          <a:p xmlns:a="http://schemas.openxmlformats.org/drawingml/2006/main">
            <a:r>
              <a:t>name: The .name property gives the last folder component as text. It depends on your runtime. A different folder name is expected on another computer.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Tell another person what the project needs</a:t>
            </a:r>
          </a:p>
          <a:p xmlns:a="http://schemas.openxmlformats.org/drawingml/2006/main">
            <a:r>
              <a:t>Explanation to give</a:t>
            </a:r>
          </a:p>
          <a:p xmlns:a="http://schemas.openxmlformats.org/drawingml/2006/main">
            <a:r>
              <a:t>Treat the README as instructions for someone opening the project for the first time. Name the files, setup requirements, entry notebook and exact order needed to reproduce the result.</a:t>
            </a:r>
          </a:p>
          <a:p xmlns:a="http://schemas.openxmlformats.org/drawingml/2006/main">
            <a:r>
              <a:t/>
            </a:r>
          </a:p>
          <a:p xmlns:a="http://schemas.openxmlformats.org/drawingml/2006/main">
            <a:r>
              <a:t>Worked illustration / lecturer answer</a:t>
            </a:r>
          </a:p>
          <a:p xmlns:a="http://schemas.openxmlformats.org/drawingml/2006/main">
            <a:r>
              <a:t>Replace “run the analysis” with “Open analysis.ipynb, place readings.csv in data/, restart the runtime and run all cells.” A useful repair comment names the failed step and the corrected practice_filename.</a:t>
            </a:r>
          </a:p>
          <a:p xmlns:a="http://schemas.openxmlformats.org/drawingml/2006/main">
            <a:r>
              <a:t/>
            </a:r>
          </a:p>
          <a:p xmlns:a="http://schemas.openxmlformats.org/drawingml/2006/main">
            <a:r>
              <a:t>Misconception to address</a:t>
            </a:r>
          </a:p>
          <a:p xmlns:a="http://schemas.openxmlformats.org/drawingml/2006/main">
            <a:r>
              <a:t>A repository URL proves a location exists, not that the work runs or was submitted. Contribution claims should point to specific work, not only a count of commits.</a:t>
            </a:r>
          </a:p>
          <a:p xmlns:a="http://schemas.openxmlformats.org/drawingml/2006/main">
            <a:r>
              <a:t/>
            </a:r>
          </a:p>
          <a:p xmlns:a="http://schemas.openxmlformats.org/drawingml/2006/main">
            <a:r>
              <a:t>On this slide</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Data source, permission and seed: Name the data source and any licence or permission for reuse. Record random seeds used in modelling. A seed supports repeatability; it does not repair data leakage.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checks and contribution evidence</a:t>
            </a:r>
          </a:p>
          <a:p xmlns:a="http://schemas.openxmlformats.org/drawingml/2006/main">
            <a:r>
              <a:t>Explanation to give</a:t>
            </a:r>
          </a:p>
          <a:p xmlns:a="http://schemas.openxmlformats.org/drawingml/2006/main">
            <a:r>
              <a:t>Treat the README as instructions for someone opening the project for the first time. Name the files, setup requirements, entry notebook and exact order needed to reproduce the result.</a:t>
            </a:r>
          </a:p>
          <a:p xmlns:a="http://schemas.openxmlformats.org/drawingml/2006/main">
            <a:r>
              <a:t/>
            </a:r>
          </a:p>
          <a:p xmlns:a="http://schemas.openxmlformats.org/drawingml/2006/main">
            <a:r>
              <a:t>Worked illustration / lecturer answer</a:t>
            </a:r>
          </a:p>
          <a:p xmlns:a="http://schemas.openxmlformats.org/drawingml/2006/main">
            <a:r>
              <a:t>Replace “run the analysis” with “Open analysis.ipynb, place readings.csv in data/, restart the runtime and run all cells.” A useful repair comment names the failed step and the corrected practice_filename.</a:t>
            </a:r>
          </a:p>
          <a:p xmlns:a="http://schemas.openxmlformats.org/drawingml/2006/main">
            <a:r>
              <a:t/>
            </a:r>
          </a:p>
          <a:p xmlns:a="http://schemas.openxmlformats.org/drawingml/2006/main">
            <a:r>
              <a:t>Misconception to address</a:t>
            </a:r>
          </a:p>
          <a:p xmlns:a="http://schemas.openxmlformats.org/drawingml/2006/main">
            <a:r>
              <a:t>A repository URL proves a location exists, not that the work runs or was submitted. Contribution claims should point to specific work, not only a count of commits.</a:t>
            </a:r>
          </a:p>
          <a:p xmlns:a="http://schemas.openxmlformats.org/drawingml/2006/main">
            <a:r>
              <a:t/>
            </a:r>
          </a:p>
          <a:p xmlns:a="http://schemas.openxmlformats.org/drawingml/2006/main">
            <a:r>
              <a:t>On this slide</a:t>
            </a:r>
          </a:p>
          <a:p xmlns:a="http://schemas.openxmlformats.org/drawingml/2006/main">
            <a:r>
              <a:t>Independent run check: Restart the session and follow your written instructions without relying on earlier variables. Record the first failure and its repair.</a:t>
            </a:r>
          </a:p>
          <a:p xmlns:a="http://schemas.openxmlformats.org/drawingml/2006/main">
            <a:r>
              <a:t>Contribution evidence: A record of each person’s work, tied to files, commits or explanations. It does not require making a private repository 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feedback identifies an exact repair</a:t>
            </a:r>
          </a:p>
          <a:p xmlns:a="http://schemas.openxmlformats.org/drawingml/2006/main">
            <a:r>
              <a:t>Explanation to give</a:t>
            </a:r>
          </a:p>
          <a:p xmlns:a="http://schemas.openxmlformats.org/drawingml/2006/main">
            <a:r>
              <a:t>Treat the README as instructions for someone opening the project for the first time. Name the files, setup requirements, entry notebook and exact order needed to reproduce the result.</a:t>
            </a:r>
          </a:p>
          <a:p xmlns:a="http://schemas.openxmlformats.org/drawingml/2006/main">
            <a:r>
              <a:t/>
            </a:r>
          </a:p>
          <a:p xmlns:a="http://schemas.openxmlformats.org/drawingml/2006/main">
            <a:r>
              <a:t>Worked illustration / lecturer answer</a:t>
            </a:r>
          </a:p>
          <a:p xmlns:a="http://schemas.openxmlformats.org/drawingml/2006/main">
            <a:r>
              <a:t>Replace “run the analysis” with “Open analysis.ipynb, place readings.csv in data/, restart the runtime and run all cells.” A useful repair comment names the failed step and the corrected practice_filename.</a:t>
            </a:r>
          </a:p>
          <a:p xmlns:a="http://schemas.openxmlformats.org/drawingml/2006/main">
            <a:r>
              <a:t/>
            </a:r>
          </a:p>
          <a:p xmlns:a="http://schemas.openxmlformats.org/drawingml/2006/main">
            <a:r>
              <a:t>Misconception to address</a:t>
            </a:r>
          </a:p>
          <a:p xmlns:a="http://schemas.openxmlformats.org/drawingml/2006/main">
            <a:r>
              <a:t>A repository URL proves a location exists, not that the work runs or was submitted. Contribution claims should point to specific work, not only a count of commits.</a:t>
            </a:r>
          </a:p>
          <a:p xmlns:a="http://schemas.openxmlformats.org/drawingml/2006/main">
            <a:r>
              <a:t/>
            </a:r>
          </a:p>
          <a:p xmlns:a="http://schemas.openxmlformats.org/drawingml/2006/main">
            <a:r>
              <a:t>On this slide</a:t>
            </a:r>
          </a:p>
          <a:p xmlns:a="http://schemas.openxmlformats.org/drawingml/2006/main">
            <a:r>
              <a:t>Vague feedback: "It does not work."</a:t>
            </a:r>
          </a:p>
          <a:p xmlns:a="http://schemas.openxmlformats.org/drawingml/2006/main">
            <a:r>
              <a:t/>
            </a:r>
          </a:p>
          <a:p xmlns:a="http://schemas.openxmlformats.org/drawingml/2006/main">
            <a:r>
              <a:t>Useful feedback: "Step 2 names data.csv, but the supplied file is readings.csv."</a:t>
            </a:r>
          </a:p>
          <a:p xmlns:a="http://schemas.openxmlformats.org/drawingml/2006/main">
            <a:r>
              <a:t/>
            </a:r>
          </a:p>
          <a:p xmlns:a="http://schemas.openxmlformats.org/drawingml/2006/main">
            <a:r>
              <a:t>The repair is to make the instructions and actual filename 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example and answer</a:t>
            </a:r>
          </a:p>
          <a:p xmlns:a="http://schemas.openxmlformats.org/drawingml/2006/main">
            <a:r>
              <a:t>Explanation to give</a:t>
            </a:r>
          </a:p>
          <a:p xmlns:a="http://schemas.openxmlformats.org/drawingml/2006/main">
            <a:r>
              <a:t>Use the displayed example as a short individual revision question, then explain the reasoning behind its answer.</a:t>
            </a:r>
          </a:p>
          <a:p xmlns:a="http://schemas.openxmlformats.org/drawingml/2006/main">
            <a:r>
              <a:t/>
            </a:r>
          </a:p>
          <a:p xmlns:a="http://schemas.openxmlformats.org/drawingml/2006/main">
            <a:r>
              <a:t>Worked illustration / lecturer answer</a:t>
            </a:r>
          </a:p>
          <a:p xmlns:a="http://schemas.openxmlformats.org/drawingml/2006/main">
            <a:r>
              <a:t>Check: restart the notebook runtime and follow your README exactly, without using remembered variables.</a:t>
            </a:r>
          </a:p>
          <a:p xmlns:a="http://schemas.openxmlformats.org/drawingml/2006/main">
            <a:r>
              <a:t/>
            </a:r>
          </a:p>
          <a:p xmlns:a="http://schemas.openxmlformats.org/drawingml/2006/main">
            <a:r>
              <a:t>If Step 2 names data.csv but the file is readings.csv, correct the filename in the instructions. Run again from the beginning and record the successful result.</a:t>
            </a:r>
          </a:p>
          <a:p xmlns:a="http://schemas.openxmlformats.org/drawingml/2006/main">
            <a:r>
              <a:t/>
            </a:r>
          </a:p>
          <a:p xmlns:a="http://schemas.openxmlformats.org/drawingml/2006/main">
            <a:r>
              <a:t>Misconception to address</a:t>
            </a:r>
          </a:p>
          <a:p xmlns:a="http://schemas.openxmlformats.org/drawingml/2006/main">
            <a:r>
              <a:t>Trace the operation that changes the value rather than accepting a memorised output. For notebook-state examples, specify which cell is repeated and whether the initialisation ran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Preparing for the assignment</a:t>
            </a:r>
          </a:p>
          <a:p xmlns:a="http://schemas.openxmlformats.org/drawingml/2006/main">
            <a:r>
              <a:t>Explanation to give</a:t>
            </a:r>
          </a:p>
          <a:p xmlns:a="http://schemas.openxmlformats.org/drawingml/2006/main">
            <a:r>
              <a:t>Week 13 adds no new weekly assignment notebook. Use the time to make the existing project reproducible and prepare for the offline test_data.</a:t>
            </a:r>
          </a:p>
          <a:p xmlns:a="http://schemas.openxmlformats.org/drawingml/2006/main">
            <a:r>
              <a:t/>
            </a:r>
          </a:p>
          <a:p xmlns:a="http://schemas.openxmlformats.org/drawingml/2006/main">
            <a:r>
              <a:t>Worked illustration / lecturer answer</a:t>
            </a:r>
          </a:p>
          <a:p xmlns:a="http://schemas.openxmlformats.org/drawingml/2006/main">
            <a:r>
              <a:t>Open the project README, restart and follow its steps. Then rehearse locating and reopening the complete test notebook on the prepared offline computer.</a:t>
            </a:r>
          </a:p>
          <a:p xmlns:a="http://schemas.openxmlformats.org/drawingml/2006/main">
            <a:r>
              <a:t/>
            </a:r>
          </a:p>
          <a:p xmlns:a="http://schemas.openxmlformats.org/drawingml/2006/main">
            <a:r>
              <a:t>Misconception to address</a:t>
            </a:r>
          </a:p>
          <a:p xmlns:a="http://schemas.openxmlformats.org/drawingml/2006/main">
            <a:r>
              <a:t>Quiz 13 is a separate activity when activated. Do not invent an A13 upload or require students to submit an extra weekly report.</a:t>
            </a:r>
          </a:p>
          <a:p xmlns:a="http://schemas.openxmlformats.org/drawingml/2006/main">
            <a:r>
              <a:t/>
            </a:r>
          </a:p>
          <a:p xmlns:a="http://schemas.openxmlformats.org/drawingml/2006/main">
            <a:r>
              <a:t>On this slide</a:t>
            </a:r>
          </a:p>
          <a:p xmlns:a="http://schemas.openxmlformats.org/drawingml/2006/main">
            <a:r>
              <a:t>No new weekly assignment.</a:t>
            </a:r>
          </a:p>
          <a:p xmlns:a="http://schemas.openxmlformats.org/drawingml/2006/main">
            <a:r>
              <a:t/>
            </a:r>
          </a:p>
          <a:p xmlns:a="http://schemas.openxmlformats.org/drawingml/2006/main">
            <a:r>
              <a:t>Continue the official project deliverables and Week 13 quiz.</a:t>
            </a:r>
          </a:p>
          <a:p xmlns:a="http://schemas.openxmlformats.org/drawingml/2006/main">
            <a:r>
              <a:t/>
            </a:r>
          </a:p>
          <a:p xmlns:a="http://schemas.openxmlformats.org/drawingml/2006/main">
            <a:r>
              <a:t>Rehearse Colab Test 2 saving and submission and the published function interfaces before Week 14.</a:t>
            </a:r>
          </a:p>
          <a:p xmlns:a="http://schemas.openxmlformats.org/drawingml/2006/main">
            <a:r>
              <a:t/>
            </a:r>
          </a:p>
          <a:p xmlns:a="http://schemas.openxmlformats.org/drawingml/2006/main">
            <a:r>
              <a:t>Do not add an extra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handover</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An absolute path from your own computer will usually fail elsewhere.</a:t>
            </a:r>
          </a:p>
          <a:p xmlns:a="http://schemas.openxmlformats.org/drawingml/2006/main">
            <a:r>
              <a:t/>
            </a:r>
          </a:p>
          <a:p xmlns:a="http://schemas.openxmlformats.org/drawingml/2006/main">
            <a:r>
              <a:t>A relative path starts from the current working folder.</a:t>
            </a:r>
          </a:p>
          <a:p xmlns:a="http://schemas.openxmlformats.org/drawingml/2006/main">
            <a:r>
              <a:t/>
            </a:r>
          </a:p>
          <a:p xmlns:a="http://schemas.openxmlformats.org/drawingml/2006/main">
            <a:r>
              <a:t>Record dependencies and actual versions, and fix randomness where appropriate; identical results across all machines are not guaranteed by a seed alone.</a:t>
            </a:r>
          </a:p>
          <a:p xmlns:a="http://schemas.openxmlformats.org/drawingml/2006/main">
            <a:r>
              <a:t/>
            </a:r>
          </a:p>
          <a:p xmlns:a="http://schemas.openxmlformats.org/drawingml/2006/main">
            <a:r>
              <a:t>Captions should state a supported finding and its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handover continued</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Remove conflicting cell assignments and verify a fresh run before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preparation</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15 Dec 2026, 11:00 Kampala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quiz</a:t>
            </a:r>
          </a:p>
          <a:p xmlns:a="http://schemas.openxmlformats.org/drawingml/2006/main">
            <a:r>
              <a:t>Explanation to give</a:t>
            </a:r>
          </a:p>
          <a:p xmlns:a="http://schemas.openxmlformats.org/drawingml/2006/main">
            <a:r>
              <a:t>This is the CML3112 Week 1 quiz. The student link opens the response form; it does not activate its window. In Quiz Controls use open_W1_CML3112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Another learner can follow your README and reproduce the stated result.</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Why keep history, and what is a repository?</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Reference / existing resource</a:t>
            </a:r>
          </a:p>
          <a:p xmlns:a="http://schemas.openxmlformats.org/drawingml/2006/main">
            <a:r>
              <a:t>https://www.youtube.com/watch?v=v5gnvDUWqFM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218865ff13464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ded9ea624714f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6e4c070c4bb410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b9b2beaa88b438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31e2449aee44a7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f8a5637229b407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FDA4C6-3BE4-4EF0-8534-4EEEA62E7C0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F583E49-8F7F-4033-BEA4-DF280865AA1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DBD620-B8CA-4F1C-9469-82A1F894AFE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23EBDC-90EB-47DD-BFE8-82C26886CC4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66554BC-73A0-4018-A5D7-A25940A4751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DFFBCD1-7ABE-4948-ADE6-E39B44E93FD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833445-A433-46D6-821B-1BB00B27C92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42FF5FB-EDAE-4DD2-ADF2-3D450FDA97F1}"/>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9F0C4F-4B3C-4E93-A56D-887CA94A347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D3A24A-78C5-46ED-A759-EAF5DB4C1C8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74a7b1b08d4c6c" /><Relationship Type="http://schemas.openxmlformats.org/officeDocument/2006/relationships/slideLayout" Target="/ppt/slideLayouts/slideLayout1.xml" Id="R62acdc7fb4d34c73" /><Relationship Type="http://schemas.openxmlformats.org/officeDocument/2006/relationships/slideLayout" Target="/ppt/slideLayouts/slideLayout2.xml" Id="Ra5c48f82fef44312" /><Relationship Type="http://schemas.openxmlformats.org/officeDocument/2006/relationships/slideLayout" Target="/ppt/slideLayouts/slideLayout3.xml" Id="R79d0cbb0aef64351" /><Relationship Type="http://schemas.openxmlformats.org/officeDocument/2006/relationships/slideLayout" Target="/ppt/slideLayouts/slideLayout4.xml" Id="R7f7542ac388149d7" /><Relationship Type="http://schemas.openxmlformats.org/officeDocument/2006/relationships/slideLayout" Target="/ppt/slideLayouts/slideLayout5.xml" Id="R759d4b85247344fe" /><Relationship Type="http://schemas.openxmlformats.org/officeDocument/2006/relationships/slideLayout" Target="/ppt/slideLayouts/slideLayout6.xml" Id="Re8320b9f37ce4e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2acdc7fb4d34c73"/>
    <p:sldLayoutId xmlns:r="http://schemas.openxmlformats.org/officeDocument/2006/relationships" id="2147483650" r:id="Ra5c48f82fef44312"/>
    <p:sldLayoutId xmlns:r="http://schemas.openxmlformats.org/officeDocument/2006/relationships" id="2147483651" r:id="R79d0cbb0aef64351"/>
    <p:sldLayoutId xmlns:r="http://schemas.openxmlformats.org/officeDocument/2006/relationships" id="2147483652" r:id="R7f7542ac388149d7"/>
    <p:sldLayoutId xmlns:r="http://schemas.openxmlformats.org/officeDocument/2006/relationships" id="2147483653" r:id="R759d4b85247344fe"/>
    <p:sldLayoutId xmlns:r="http://schemas.openxmlformats.org/officeDocument/2006/relationships" id="2147483654" r:id="Re8320b9f37ce4e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8d655cf2ff4cb2" /><Relationship Type="http://schemas.openxmlformats.org/officeDocument/2006/relationships/image" Target="/ppt/media/image.png" Id="R2c713c3e00e04b2a" /><Relationship Type="http://schemas.openxmlformats.org/officeDocument/2006/relationships/notesSlide" Target="/ppt/notesSlides/notesSlide1.xml" Id="R62bc288f21604c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5e53270d6704984" /><Relationship Type="http://schemas.openxmlformats.org/officeDocument/2006/relationships/notesSlide" Target="/ppt/notesSlides/notesSlide2.xml" Id="Rcd97133195cb4a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b681349e000426d" /><Relationship Type="http://schemas.openxmlformats.org/officeDocument/2006/relationships/notesSlide" Target="/ppt/notesSlides/notesSlide3.xml" Id="R59e52bf5039d4f6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34a651828e54de1" /><Relationship Type="http://schemas.openxmlformats.org/officeDocument/2006/relationships/notesSlide" Target="/ppt/notesSlides/notesSlide4.xml" Id="R9db942acebee42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e394019621a4a45" /><Relationship Type="http://schemas.openxmlformats.org/officeDocument/2006/relationships/notesSlide" Target="/ppt/notesSlides/notesSlide5.xml" Id="Rb4d0391c9ae34f8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0826c3cfc5945fd" /><Relationship Type="http://schemas.openxmlformats.org/officeDocument/2006/relationships/notesSlide" Target="/ppt/notesSlides/notesSlide6.xml" Id="R69cf871ec3db4a3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4a3ec7dcf64469" /><Relationship Type="http://schemas.openxmlformats.org/officeDocument/2006/relationships/notesSlide" Target="/ppt/notesSlides/notesSlide7.xml" Id="R7340551d88fc40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1cc39c40f98409c" /><Relationship Type="http://schemas.openxmlformats.org/officeDocument/2006/relationships/notesSlide" Target="/ppt/notesSlides/notesSlide8.xml" Id="R6751f1b51ce14e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25d60f203c34ad5" /><Relationship Type="http://schemas.openxmlformats.org/officeDocument/2006/relationships/notesSlide" Target="/ppt/notesSlides/notesSlide9.xml" Id="Re7f700db2143440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95d11f024cf4533" /><Relationship Type="http://schemas.openxmlformats.org/officeDocument/2006/relationships/image" Target="/ppt/media/image2.png" Id="Rbdce89a4f7ad4b89" /><Relationship Type="http://schemas.openxmlformats.org/officeDocument/2006/relationships/notesSlide" Target="/ppt/notesSlides/notesSlide10.xml" Id="Rbaa6d6f1a7654c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2e8a9f71b734d60" /><Relationship Type="http://schemas.openxmlformats.org/officeDocument/2006/relationships/image" Target="/ppt/media/image3.png" Id="R376389cf5fd34d55" /><Relationship Type="http://schemas.openxmlformats.org/officeDocument/2006/relationships/notesSlide" Target="/ppt/notesSlides/notesSlide11.xml" Id="Rfda026d6b47848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1d954e97e164b02" /><Relationship Type="http://schemas.openxmlformats.org/officeDocument/2006/relationships/notesSlide" Target="/ppt/notesSlides/notesSlide12.xml" Id="Rb0ac0f90849445a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9e1c6a531b44762" /><Relationship Type="http://schemas.openxmlformats.org/officeDocument/2006/relationships/notesSlide" Target="/ppt/notesSlides/notesSlide13.xml" Id="Rbdcb75aa291740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9f61230a2fb43bb" /><Relationship Type="http://schemas.openxmlformats.org/officeDocument/2006/relationships/notesSlide" Target="/ppt/notesSlides/notesSlide14.xml" Id="R9f3e0e6a49bb4b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1c514e832254c50" /><Relationship Type="http://schemas.openxmlformats.org/officeDocument/2006/relationships/notesSlide" Target="/ppt/notesSlides/notesSlide15.xml" Id="Re118bd3d032c4b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9fe270d3dd7424a" /><Relationship Type="http://schemas.openxmlformats.org/officeDocument/2006/relationships/notesSlide" Target="/ppt/notesSlides/notesSlide16.xml" Id="R900731951f284bc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332b464cd3249dd" /><Relationship Type="http://schemas.openxmlformats.org/officeDocument/2006/relationships/notesSlide" Target="/ppt/notesSlides/notesSlide17.xml" Id="Re0643a983e094e6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04297b121b24480" /><Relationship Type="http://schemas.openxmlformats.org/officeDocument/2006/relationships/notesSlide" Target="/ppt/notesSlides/notesSlide18.xml" Id="R703cd1690d9f4ab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ebf3c2feec647df" /><Relationship Type="http://schemas.openxmlformats.org/officeDocument/2006/relationships/notesSlide" Target="/ppt/notesSlides/notesSlide19.xml" Id="Rbba812cce35d4d5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2e73ded99f94795" /><Relationship Type="http://schemas.openxmlformats.org/officeDocument/2006/relationships/notesSlide" Target="/ppt/notesSlides/notesSlide20.xml" Id="Rc2b910c09926405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1acd8615c604246" /><Relationship Type="http://schemas.openxmlformats.org/officeDocument/2006/relationships/notesSlide" Target="/ppt/notesSlides/notesSlide21.xml" Id="R0b3ccba8d48d442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ea63fcd682047a1" /><Relationship Type="http://schemas.openxmlformats.org/officeDocument/2006/relationships/notesSlide" Target="/ppt/notesSlides/notesSlide22.xml" Id="Rad5181dbc51a4b9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2caf8da63de4198" /><Relationship Type="http://schemas.openxmlformats.org/officeDocument/2006/relationships/image" Target="/ppt/media/image4.png" Id="R1b63554f02df4103" /><Relationship Type="http://schemas.openxmlformats.org/officeDocument/2006/relationships/hyperlink" Target="https://forms.gle/SBN8HWXnKnXX34qw9" TargetMode="External" Id="R14a6075be8054072" /><Relationship Type="http://schemas.openxmlformats.org/officeDocument/2006/relationships/notesSlide" Target="/ppt/notesSlides/notesSlide23.xml" Id="Rd14b01bb1b724cd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70bfe2d74d7493a" /><Relationship Type="http://schemas.openxmlformats.org/officeDocument/2006/relationships/notesSlide" Target="/ppt/notesSlides/notesSlide24.xml" Id="R217de127bf114ad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d5da6f9fed54103" /><Relationship Type="http://schemas.openxmlformats.org/officeDocument/2006/relationships/hyperlink" Target="https://www.youtube.com/watch?v=v5gnvDUWqFM" TargetMode="External" Id="Refe749de7a284f80" /><Relationship Type="http://schemas.openxmlformats.org/officeDocument/2006/relationships/notesSlide" Target="/ppt/notesSlides/notesSlide25.xml" Id="R7b8454b9e810406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D69FAB1-5E23-4CA2-9E35-E456F1628E33}"/>
              </a:ext>
            </a:extLst>
          </p:cNvPr>
          <p:cNvPicPr>
            <a:picLocks xmlns:a="http://schemas.openxmlformats.org/drawingml/2006/main" noChangeAspect="1"/>
          </p:cNvPicPr>
          <p:nvPr/>
        </p:nvPicPr>
        <p:blipFill>
          <a:blip xmlns:r="http://schemas.openxmlformats.org/officeDocument/2006/relationships" xmlns:a="http://schemas.openxmlformats.org/drawingml/2006/main" r:embed="R2c713c3e00e04b2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C74C6F-FF2C-4224-AB1B-132D0E156E9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4011C6F-A815-46A7-BB72-810AB20BFA2A}"/>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13</a:t>
            </a:r>
          </a:p>
        </p:txBody>
      </p:sp>
      <p:sp>
        <p:nvSpPr>
          <p:cNvPr id="4" name="">
            <a:extLst xmlns:a="http://schemas.openxmlformats.org/drawingml/2006/main">
              <a:ext uri="{FF2B5EF4-FFF2-40B4-BE49-F238E27FC236}">
                <a16:creationId xmlns:a16="http://schemas.microsoft.com/office/drawing/2014/main" id="{B93F9463-78D5-49DA-9898-96B36035847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9B49D238-FE98-41DD-9E2E-7D63363BEF8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95A70F8-AA7C-498C-BA0E-8F973B0DC3A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7435528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2A384B9-E5DA-4933-B12A-8FF2FCE115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98E913-C9BD-4F25-9AD8-5F17D6C350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B08863A-0CB2-47FF-85B8-133036E7A1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0EBEA75-41C8-42DB-B1F0-66D68FAFB2DA}"/>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14CD8A-E5F4-4970-A189-A1F2F33A17B9}"/>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D19E7BB-6002-4214-8EE3-AEE73307EB7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86F5EF90-360A-4F74-BADB-A04CCFE086E0}"/>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51F140A-1C81-4013-B296-FA08D052A83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B58E6DAB-4328-4A83-BAD7-DCB09C20BF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a:t>
            </a:r>
          </a:p>
        </p:txBody>
      </p:sp>
    </p:spTree>
    <p:extLst>
      <p:ext uri="{BB962C8B-B14F-4D97-AF65-F5344CB8AC3E}">
        <p14:creationId xmlns:p14="http://schemas.microsoft.com/office/powerpoint/2010/main" val="58823449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EEA1CE-549A-4BE5-9F19-F9553D6E22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758620-6DE8-4DF4-8221-1BE340286B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1717BA-C876-41B8-8EB8-6FEE64CBA9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F609ACD-AC8B-4C0E-9C60-BC7897FEA2B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FFE9A6-9456-4F1D-ACB8-98A251C138E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B8A67F90-09C3-4F8A-BD68-249027795C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0E4A71FB-ADBD-494F-A966-CE53E91FC6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a:t>
            </a:r>
          </a:p>
        </p:txBody>
      </p:sp>
    </p:spTree>
    <p:extLst>
      <p:ext uri="{BB962C8B-B14F-4D97-AF65-F5344CB8AC3E}">
        <p14:creationId xmlns:p14="http://schemas.microsoft.com/office/powerpoint/2010/main" val="15582333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040403-F1B5-4C74-8F24-EDFF82810C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A0A0B8-ABF6-429A-919D-57187755D9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9C8B39C-0ADD-4255-A900-22EBAB5855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CAF9BED8-C794-4E99-98DE-14F6EDC137C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5340E-0A53-4443-865B-F0573E07803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7605165-5B2E-4318-AB76-7C518975D99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A73F3A38-CEA8-4847-BEF2-6ACED584B77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E538F6C7-777E-4D1A-B32D-91CDF6FF28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4</a:t>
            </a:r>
          </a:p>
        </p:txBody>
      </p:sp>
    </p:spTree>
    <p:extLst>
      <p:ext uri="{BB962C8B-B14F-4D97-AF65-F5344CB8AC3E}">
        <p14:creationId xmlns:p14="http://schemas.microsoft.com/office/powerpoint/2010/main" val="48563859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F88034-3212-4033-8CC1-E4A2BCB8BB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5D45F0-80BA-4E7B-A58C-AA65239125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93303C-542B-4D43-BDDA-0C65611FF6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data paths and saved outputs</a:t>
            </a:r>
          </a:p>
        </p:txBody>
      </p:sp>
      <p:sp>
        <p:nvSpPr>
          <p:cNvPr id="4" name="">
            <a:extLst xmlns:a="http://schemas.openxmlformats.org/drawingml/2006/main">
              <a:ext uri="{FF2B5EF4-FFF2-40B4-BE49-F238E27FC236}">
                <a16:creationId xmlns:a16="http://schemas.microsoft.com/office/drawing/2014/main" id="{464AACB9-EAFC-4F12-8012-16DD03D3C7A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C64297-8DBF-46E2-9410-54B83A88054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165357-22C4-4874-BEE7-14353562EF1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pd.read_csv("data/raw/engineering_data.csv") reads a file relative to the notebook’s working folder. State that folder in the README.</a:t>
            </a:r>
          </a:p>
        </p:txBody>
      </p:sp>
      <p:sp>
        <p:nvSpPr>
          <p:cNvPr id="7" name="">
            <a:extLst xmlns:a="http://schemas.openxmlformats.org/drawingml/2006/main">
              <a:ext uri="{FF2B5EF4-FFF2-40B4-BE49-F238E27FC236}">
                <a16:creationId xmlns:a16="http://schemas.microsoft.com/office/drawing/2014/main" id="{B0A34B4C-AF8C-4FA8-91F1-27C5999E12C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clean.to_csv("cleaned_data.csv", index=False) exports a table without adding pandas row labels as a new column.</a:t>
            </a:r>
          </a:p>
        </p:txBody>
      </p:sp>
      <p:sp>
        <p:nvSpPr>
          <p:cNvPr id="8" name="">
            <a:extLst xmlns:a="http://schemas.openxmlformats.org/drawingml/2006/main">
              <a:ext uri="{FF2B5EF4-FFF2-40B4-BE49-F238E27FC236}">
                <a16:creationId xmlns:a16="http://schemas.microsoft.com/office/drawing/2014/main" id="{1E9C9400-51AD-4770-BCC0-D28382436E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5</a:t>
            </a:r>
          </a:p>
        </p:txBody>
      </p:sp>
    </p:spTree>
    <p:extLst>
      <p:ext uri="{BB962C8B-B14F-4D97-AF65-F5344CB8AC3E}">
        <p14:creationId xmlns:p14="http://schemas.microsoft.com/office/powerpoint/2010/main" val="13396114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08E222-1EA6-4968-B12E-66FAD6473B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58520A-2C65-4854-A0F5-403ADB9986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0BF122-9C37-46E6-AEDC-7910A3692D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E38B110F-2073-493C-A3E0-03CC88AC5C3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7E2647-EF3B-4AC3-B34E-E4A1E39ECD2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83864003-B7EC-43ED-88B3-A57CCAB6754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xmlns:a="http://schemas.openxmlformats.org/drawingml/2006/main">
              <a:ext uri="{FF2B5EF4-FFF2-40B4-BE49-F238E27FC236}">
                <a16:creationId xmlns:a16="http://schemas.microsoft.com/office/drawing/2014/main" id="{3DB064B2-A861-4BB0-B415-DAEB013CB7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6</a:t>
            </a:r>
          </a:p>
        </p:txBody>
      </p:sp>
    </p:spTree>
    <p:extLst>
      <p:ext uri="{BB962C8B-B14F-4D97-AF65-F5344CB8AC3E}">
        <p14:creationId xmlns:p14="http://schemas.microsoft.com/office/powerpoint/2010/main" val="39220281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B6E9B5-FA78-420A-B603-8A29FF6D3F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20A18B-1B43-4324-B4C2-32C32A731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5D703C4-A1DA-4E86-A33F-14FF2DF560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7ADC5F1E-5FF8-4BEA-BEC3-4233502CC04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05C3B6-6E89-45F4-AE15-78C9A6A0F5B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8678E517-1884-47D2-8A33-E845FCAD0CC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mean_load_by_equipment_group. Terminology varies; state the operational test_data.</a:t>
            </a:r>
          </a:p>
        </p:txBody>
      </p:sp>
      <p:sp>
        <p:nvSpPr>
          <p:cNvPr id="7" name="">
            <a:extLst xmlns:a="http://schemas.openxmlformats.org/drawingml/2006/main">
              <a:ext uri="{FF2B5EF4-FFF2-40B4-BE49-F238E27FC236}">
                <a16:creationId xmlns:a16="http://schemas.microsoft.com/office/drawing/2014/main" id="{70E437F5-EB80-4F4E-A134-A9F1A569779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C9CB5B6-B2CE-475C-962B-CD095AF40A8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4D3A691E-C9E7-43DB-B5C8-D4F6A0C18AE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C6F8B859-75F9-4FA5-AC7D-DD2A31CFB8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7</a:t>
            </a:r>
          </a:p>
        </p:txBody>
      </p:sp>
    </p:spTree>
    <p:extLst>
      <p:ext uri="{BB962C8B-B14F-4D97-AF65-F5344CB8AC3E}">
        <p14:creationId xmlns:p14="http://schemas.microsoft.com/office/powerpoint/2010/main" val="133603537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FE91AD-5D25-4769-A314-2DC655B8C5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7A5F85-F1B4-40F0-89D4-9FF594BC73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43EB9B7-420E-40DA-BD78-C9191DF9AB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627CE6DF-217B-40DB-94E0-5939FE50D38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038D9B-BD72-40E8-91D5-8BA4F6376C2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4A11CB1E-4C3C-4D23-B381-8784B334EB9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882E91D5-1EA7-4AFD-A1F6-394D0954471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247EB0A-D848-4310-82CC-08544973616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439CF1C5-0DD4-4A61-815D-291E7CABE49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4A0492A2-0EAD-4FB2-8CEE-905D4F125E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8</a:t>
            </a:r>
          </a:p>
        </p:txBody>
      </p:sp>
    </p:spTree>
    <p:extLst>
      <p:ext uri="{BB962C8B-B14F-4D97-AF65-F5344CB8AC3E}">
        <p14:creationId xmlns:p14="http://schemas.microsoft.com/office/powerpoint/2010/main" val="10091701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4FA878B-2625-4301-A8A0-907F834C0A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1CCD15-2BDA-4FEC-A187-F04CA6AD81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178C75-20D9-4F15-8D84-31C3788217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4E126DDF-9732-45B4-8946-2CC43E557B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460DE-0167-4777-A84D-BD6EE6D7B91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2B8998D4-45A0-49F5-985A-66F7C90D49A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82E54F-4F96-49E3-B9B8-0459FE1F7BB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A64DA4FE-BF64-4ABA-9320-7FA1BE86549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F9EAA8-04D9-4568-B992-AD3F4D09E96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DB7382D5-F833-4A36-9BA2-54203CA0C2D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9261B9A-C840-446B-9DF9-2FD4977FE9D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4D01D53D-4391-4409-840E-3EF97066DA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9</a:t>
            </a:r>
          </a:p>
        </p:txBody>
      </p:sp>
    </p:spTree>
    <p:extLst>
      <p:ext uri="{BB962C8B-B14F-4D97-AF65-F5344CB8AC3E}">
        <p14:creationId xmlns:p14="http://schemas.microsoft.com/office/powerpoint/2010/main" val="7742312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E1D4CB-D4D6-4855-8D04-FC911578CE52}"/>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0516DD-B684-4102-BF4F-1923CE3460A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3" name="">
            <a:extLst xmlns:a="http://schemas.openxmlformats.org/drawingml/2006/main">
              <a:ext uri="{FF2B5EF4-FFF2-40B4-BE49-F238E27FC236}">
                <a16:creationId xmlns:a16="http://schemas.microsoft.com/office/drawing/2014/main" id="{1CA6D7C7-E2C5-4CD2-ACC5-A11FBD10C40F}"/>
              </a:ext>
            </a:extLst>
          </p:cNvPr>
          <p:cNvPicPr>
            <a:picLocks xmlns:a="http://schemas.openxmlformats.org/drawingml/2006/main" noChangeAspect="1"/>
          </p:cNvPicPr>
          <p:nvPr/>
        </p:nvPicPr>
        <p:blipFill>
          <a:blip xmlns:r="http://schemas.openxmlformats.org/officeDocument/2006/relationships" xmlns:a="http://schemas.openxmlformats.org/drawingml/2006/main" r:embed="Rbdce89a4f7ad4b89"/>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2C17729-8855-48F1-A4E3-2F4B82498C8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674E40-E332-4872-A3F4-CE19E7C186B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C061C79E-BCFA-4869-BF90-C649B7CB0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10</a:t>
            </a:r>
          </a:p>
        </p:txBody>
      </p:sp>
    </p:spTree>
    <p:extLst>
      <p:ext uri="{BB962C8B-B14F-4D97-AF65-F5344CB8AC3E}">
        <p14:creationId xmlns:p14="http://schemas.microsoft.com/office/powerpoint/2010/main" val="182269670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A9F215-8769-4761-8CE9-1097898282C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CC720D-29EA-47D7-A44A-220E00FFA05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3" name="">
            <a:extLst xmlns:a="http://schemas.openxmlformats.org/drawingml/2006/main">
              <a:ext uri="{FF2B5EF4-FFF2-40B4-BE49-F238E27FC236}">
                <a16:creationId xmlns:a16="http://schemas.microsoft.com/office/drawing/2014/main" id="{F9E7BA28-6358-40A7-941F-F6B123FEB926}"/>
              </a:ext>
            </a:extLst>
          </p:cNvPr>
          <p:cNvPicPr>
            <a:picLocks xmlns:a="http://schemas.openxmlformats.org/drawingml/2006/main" noChangeAspect="1"/>
          </p:cNvPicPr>
          <p:nvPr/>
        </p:nvPicPr>
        <p:blipFill>
          <a:blip xmlns:r="http://schemas.openxmlformats.org/officeDocument/2006/relationships" xmlns:a="http://schemas.openxmlformats.org/drawingml/2006/main" r:embed="R376389cf5fd34d55"/>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8E3ED3A-6E47-45D9-AC9D-B4098BA3D61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0DD5A3-5D7D-44EF-8130-57EB23949ED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F94DBB52-AA67-42D0-8E4B-0B05BF9279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11</a:t>
            </a:r>
          </a:p>
        </p:txBody>
      </p:sp>
    </p:spTree>
    <p:extLst>
      <p:ext uri="{BB962C8B-B14F-4D97-AF65-F5344CB8AC3E}">
        <p14:creationId xmlns:p14="http://schemas.microsoft.com/office/powerpoint/2010/main" val="80545763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FDB0D5-E8B4-41C6-B82C-99B59387F1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0B5F71-9D6E-4FEB-B0F9-78F7861BBD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94F3DC-08E9-40F2-A46E-061A89F84B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EF5F169B-63EC-4088-AE8D-EB5EA575FA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5178D6-5341-4E13-91A7-B6110901EFC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1612F093-6CC6-4460-BC8C-DC2422FBC40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EAD833-4081-4240-98C5-FEC270B35D7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BB9FF2C1-C064-4C1F-B112-FF1C120EAE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74A1B4-42D9-40CF-A38A-3EC6AEBA93E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FC0D17FB-5008-4E0E-8F40-17D088AB3F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12</a:t>
            </a:r>
          </a:p>
        </p:txBody>
      </p:sp>
    </p:spTree>
    <p:extLst>
      <p:ext uri="{BB962C8B-B14F-4D97-AF65-F5344CB8AC3E}">
        <p14:creationId xmlns:p14="http://schemas.microsoft.com/office/powerpoint/2010/main" val="111940716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004D3D-DE00-4FA9-89B8-0D20CCEDBE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F3E1BC-6225-4626-AC72-FF98AE2E19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2DB01D-FC5F-4A4B-B7D2-02F17AA3FE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0C6A2982-F3CB-4080-97B1-978F991CC9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0E43AF-04D2-41F4-9827-AECB0EDF9DA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6A38E55C-91C5-46EE-AF98-DEC2E24FC4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E0B6BF-3799-43E6-93B7-EEC98E3BC27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5A0721F2-6342-4C9A-A7F8-C5526A73F99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306E57-FC06-4AA4-8B51-CDF584F343C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EEB9E47D-15FD-4B3A-ABB1-3F6C367659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13</a:t>
            </a:r>
          </a:p>
        </p:txBody>
      </p:sp>
    </p:spTree>
    <p:extLst>
      <p:ext uri="{BB962C8B-B14F-4D97-AF65-F5344CB8AC3E}">
        <p14:creationId xmlns:p14="http://schemas.microsoft.com/office/powerpoint/2010/main" val="60249309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6EAF1B-23AD-445B-8711-00F21EBDC0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0C9D97-DD75-4B68-BEC3-BC2E545702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FBDD376-FCA8-4421-BBA9-7790745457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A473D991-8501-4097-A7D2-4E87725FCD9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4F8573-83AD-42D5-B663-4B3ACF914B8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79D2D0A7-FC48-4706-8C19-54C9C752C1D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D5C4426C-3C30-4AEF-B1C4-A2B3C82DF0F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0A8043E-F1F9-4A62-9517-CB0CE9D08DD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132ECA38-A95A-4768-9E67-97AD6C7564E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FC70CFEE-B144-458E-BCA6-EF0274F90D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14</a:t>
            </a:r>
          </a:p>
        </p:txBody>
      </p:sp>
    </p:spTree>
    <p:extLst>
      <p:ext uri="{BB962C8B-B14F-4D97-AF65-F5344CB8AC3E}">
        <p14:creationId xmlns:p14="http://schemas.microsoft.com/office/powerpoint/2010/main" val="7426324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2F3E1E-4055-4A82-93D9-C0B205064A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19194A-2FFF-46D7-8275-9A59C0ECE3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2B9B31C-5F09-45FD-A362-ED9552BD9E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F5E94045-09B1-4237-86C9-6CB11FC219C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A3976E-F7E2-4F0F-A294-4A5137920DA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BCA2F01C-261F-4498-B34D-6757145C94E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AE2B1951-3D85-45F9-BF17-C6EEAE753B0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27B4F07-7F25-485A-812A-9F89C2872D6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A9922FD3-6CF4-4F4B-A58D-83F41551736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864190D4-B721-4F67-975F-5E7318E190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15</a:t>
            </a:r>
          </a:p>
        </p:txBody>
      </p:sp>
    </p:spTree>
    <p:extLst>
      <p:ext uri="{BB962C8B-B14F-4D97-AF65-F5344CB8AC3E}">
        <p14:creationId xmlns:p14="http://schemas.microsoft.com/office/powerpoint/2010/main" val="110120442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00B0F8-63CF-4B0A-BFCC-FCFB9F53FD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BDF956-861B-471D-B577-F30397D04C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A3D4802-73DA-441F-A557-FF34319F18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7B86D78A-FD64-4808-B29F-EF98B7D0E59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AC0533-E2C3-4945-A555-0AE5F6640F9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2AD1B110-8767-46EF-BD31-26488379BD9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EE889536-1B7F-4ADA-B08A-39E4CCF791F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027E4AC-6526-43D2-9B0B-15C1941BC32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707DBC19-DA8C-4F5F-A959-A4720A274CA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31F70273-32F8-4FBD-AED3-5D59A256B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16</a:t>
            </a:r>
          </a:p>
        </p:txBody>
      </p:sp>
    </p:spTree>
    <p:extLst>
      <p:ext uri="{BB962C8B-B14F-4D97-AF65-F5344CB8AC3E}">
        <p14:creationId xmlns:p14="http://schemas.microsoft.com/office/powerpoint/2010/main" val="167378797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58E117-18AC-429E-8BAC-ED8C596332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313899-B9D0-48AF-8D02-6CCCF5F55B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7D662A-3A44-4539-8789-727E35916A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6CD711DB-4A89-4534-8AA0-3A186E11C5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6586E8-E04C-4F8C-AB63-3F0E7AB53AA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43FF4D9A-71F1-460C-BC9D-6879F463A6D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D94D67-2F11-4FE7-AE01-F67428A483E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FA5EF622-E321-4563-9233-8721E0D04DF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8D6FA1-36B4-4D9E-BDFE-0211ADEBAAA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4D0EAB78-059B-4822-A48A-0C36918B3E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17</a:t>
            </a:r>
          </a:p>
        </p:txBody>
      </p:sp>
    </p:spTree>
    <p:extLst>
      <p:ext uri="{BB962C8B-B14F-4D97-AF65-F5344CB8AC3E}">
        <p14:creationId xmlns:p14="http://schemas.microsoft.com/office/powerpoint/2010/main" val="6211128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356D2F-B993-411E-9092-65E685F82A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EC7DCF-B5FB-4E5B-B665-3F691C22DE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34B553-349D-4B8D-B865-53AA8A0C55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F22769D1-E6A4-4C24-91A9-C92FC186FD6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930098-D62D-49E9-B8F2-D74DF990439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17FDA8-468E-424E-9603-FED5899938E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A1B50E0E-6302-4392-8072-3A44182D10B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61A16A47-C299-419A-A223-88AAF0AC52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18</a:t>
            </a:r>
          </a:p>
        </p:txBody>
      </p:sp>
    </p:spTree>
    <p:extLst>
      <p:ext uri="{BB962C8B-B14F-4D97-AF65-F5344CB8AC3E}">
        <p14:creationId xmlns:p14="http://schemas.microsoft.com/office/powerpoint/2010/main" val="64847251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0ED0D34-31B2-4F5E-A89E-A63823609F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B913EB-5E3D-44D1-8ED9-1B60743547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710C6C3-A318-4328-AE4B-8498CF4CCF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1E72BEF-CACB-4BA2-9E48-949FD0DBDD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31EC6A-DD9C-49F0-AA07-2F49E00E0B1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3DEE033D-B877-4121-AB0B-532910C425A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56EA73-97D6-4ADC-AC48-7CB3ADF44C8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F56AE526-C4A4-405B-8096-4244C2D61F8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E2EF02D-A70E-4A3C-A177-B8B223B9E0F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Colab Test 2 saving and submission and the published function interfaces before Week 14.</a:t>
            </a:r>
          </a:p>
        </p:txBody>
      </p:sp>
      <p:sp>
        <p:nvSpPr>
          <p:cNvPr id="10" name="">
            <a:extLst xmlns:a="http://schemas.openxmlformats.org/drawingml/2006/main">
              <a:ext uri="{FF2B5EF4-FFF2-40B4-BE49-F238E27FC236}">
                <a16:creationId xmlns:a16="http://schemas.microsoft.com/office/drawing/2014/main" id="{1783B367-BD40-4036-8FE2-73245DC8E48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F7EB1D2-9878-465B-B093-B6E99E037C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786B6755-6E50-44B4-A9D2-1A0114FA23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19</a:t>
            </a:r>
          </a:p>
        </p:txBody>
      </p:sp>
    </p:spTree>
    <p:extLst>
      <p:ext uri="{BB962C8B-B14F-4D97-AF65-F5344CB8AC3E}">
        <p14:creationId xmlns:p14="http://schemas.microsoft.com/office/powerpoint/2010/main" val="5258156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6BDADB0-9326-4E98-965F-F67BA3AB83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A914E6-192D-4506-8E3F-E37D14685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470282-9100-4C94-AC11-B52F4B2C8F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E1C070A4-42CB-400D-BA97-C67B96715F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1A0764-E00E-433B-A494-D31731E4807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1822CD01-86DD-4CFA-9A5E-D5F821DFD1F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641689-AC29-4783-81F3-E3577375FA4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FFDCEFD7-1258-4AB9-A00E-8931DDE267A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DD11C5-EDF1-45F3-81AF-02FC8895F38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9210D46A-73BE-4DDD-9DB7-A6E1D8FBA76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DE332E-5E05-49D2-A9FE-CC63E8A46D6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AEA45D6F-BCF2-499C-8469-F373723F41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20</a:t>
            </a:r>
          </a:p>
        </p:txBody>
      </p:sp>
    </p:spTree>
    <p:extLst>
      <p:ext uri="{BB962C8B-B14F-4D97-AF65-F5344CB8AC3E}">
        <p14:creationId xmlns:p14="http://schemas.microsoft.com/office/powerpoint/2010/main" val="185186193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CF7DD7-7614-4F51-88FA-3A30032485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35D863-A41E-4850-AB11-F5858EBDCD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8850CC-EAA1-42EC-A744-43A1515266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A7EA4190-5886-490B-9B54-5290C4D90B7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F2F480-2396-46BA-B040-D4DEFBAB8E78}"/>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E2C4A1C4-C99A-41B9-8D76-45E415225A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21</a:t>
            </a:r>
          </a:p>
        </p:txBody>
      </p:sp>
    </p:spTree>
    <p:extLst>
      <p:ext uri="{BB962C8B-B14F-4D97-AF65-F5344CB8AC3E}">
        <p14:creationId xmlns:p14="http://schemas.microsoft.com/office/powerpoint/2010/main" val="12814265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F715FF-7D2E-4C30-8452-58C7CCFE74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6898D4-0308-48B5-9756-A2725DC357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EA57DB-1100-4453-A377-B1A180550A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691DC32B-D476-413D-82E4-4A25433A2C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4883B4-1BCF-4F7E-B9F7-7C3D3C24C57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160E9DDE-F608-4BFA-8505-D0EEA7FFD2C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A489E5-2924-4F04-A759-F08FB8FB882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876A3B80-9C31-40B1-97FD-C5881A4A5A4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631DBB-D79A-4C44-A4A0-BDFB184E234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958C97E8-6DBA-4FA5-97B8-E405EEE3D57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7DE152-E643-49A0-9B3B-2D64C96B64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78A48C75-33E0-4C07-A7CF-C32E7624DA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22</a:t>
            </a:r>
          </a:p>
        </p:txBody>
      </p:sp>
    </p:spTree>
    <p:extLst>
      <p:ext uri="{BB962C8B-B14F-4D97-AF65-F5344CB8AC3E}">
        <p14:creationId xmlns:p14="http://schemas.microsoft.com/office/powerpoint/2010/main" val="89030046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1B6DC75-5BED-420F-85B2-7F3BDFA119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1B729B-312A-49C2-867C-BF37E2506B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BFA00BB4-FB3A-4907-BE06-46BAC08C7A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5E6C41FA-E78D-4E50-A339-6B7E4C20A67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9C042B-164B-4D2D-80DE-08AF09A8C6CE}"/>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091EFF8-3A27-4DDE-AC32-F18D2F1DD9B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0FBFE6-5BA0-46E2-BADB-D19001DB1AC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55AD0AC-6989-4F76-9574-4C6BD27EF0D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FF0028-D19E-4E1B-8149-247630A8745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E606DF3-07DC-4282-BCE2-46B53ECAAA8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166936-C41B-447D-BA02-7C9ED72D8130}"/>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204612D1-0AEF-4D00-B662-D6B63D26E240}"/>
              </a:ext>
            </a:extLst>
          </p:cNvPr>
          <p:cNvPicPr>
            <a:picLocks xmlns:a="http://schemas.openxmlformats.org/drawingml/2006/main" noChangeAspect="1"/>
          </p:cNvPicPr>
          <p:nvPr/>
        </p:nvPicPr>
        <p:blipFill>
          <a:blip xmlns:r="http://schemas.openxmlformats.org/officeDocument/2006/relationships" xmlns:a="http://schemas.openxmlformats.org/drawingml/2006/main" r:embed="R1b63554f02df410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2A6A6985-E4A3-440C-9473-966DE0FDE66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30C1175B-68EF-40C5-8BF5-B24B68CF856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781C475-B4FB-41AA-9E08-271C81544C9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4a6075be8054072"/>
              </a:rPr>
              <a:t>Open this week’s quiz</a:t>
            </a:r>
          </a:p>
        </p:txBody>
      </p:sp>
      <p:sp>
        <p:nvSpPr>
          <p:cNvPr id="16" name="">
            <a:extLst xmlns:a="http://schemas.openxmlformats.org/drawingml/2006/main">
              <a:ext uri="{FF2B5EF4-FFF2-40B4-BE49-F238E27FC236}">
                <a16:creationId xmlns:a16="http://schemas.microsoft.com/office/drawing/2014/main" id="{35E8732B-C652-4546-BCE9-905C46C3E1A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https://forms.gle/SBN8HWXnKnXX34qw9</a:t>
            </a:r>
          </a:p>
        </p:txBody>
      </p:sp>
      <p:sp>
        <p:nvSpPr>
          <p:cNvPr id="17" name="">
            <a:extLst xmlns:a="http://schemas.openxmlformats.org/drawingml/2006/main">
              <a:ext uri="{FF2B5EF4-FFF2-40B4-BE49-F238E27FC236}">
                <a16:creationId xmlns:a16="http://schemas.microsoft.com/office/drawing/2014/main" id="{6FDF2739-758C-4597-A8C6-127ED34807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23</a:t>
            </a:r>
          </a:p>
        </p:txBody>
      </p:sp>
    </p:spTree>
    <p:extLst>
      <p:ext uri="{BB962C8B-B14F-4D97-AF65-F5344CB8AC3E}">
        <p14:creationId xmlns:p14="http://schemas.microsoft.com/office/powerpoint/2010/main" val="1834236711"/>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422CDD-ED12-47E6-ACB5-BEB117895C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9F307BA-76A9-416E-8ABF-C053239DEB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99488297-5287-4012-90DD-F59B914F174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C7130A0-886E-4946-9FA3-504732BE2ED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EA04CE3-9D07-4E0F-B379-6F722F6DFBB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8C7A917-5405-4C44-BFAA-8C307A0F07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13   24</a:t>
            </a:r>
          </a:p>
        </p:txBody>
      </p:sp>
    </p:spTree>
    <p:extLst>
      <p:ext uri="{BB962C8B-B14F-4D97-AF65-F5344CB8AC3E}">
        <p14:creationId xmlns:p14="http://schemas.microsoft.com/office/powerpoint/2010/main" val="22842845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C8FE105-A41C-4718-B11D-70E9E2A9FD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D27082-5CE5-4DE8-9225-A81A09F583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8F0E84D-B17A-4C47-B87B-77BF4298D0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0BF14B4-D8CC-4719-A7D9-BB2C6A055D9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39DA3C-AC35-4BAC-9BAE-0607CE0F71C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1A0203-14E7-4862-9A9D-6CEB244F31A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330D73-7B26-4B30-B494-B2DD43D44D2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C49F5E88-FE3C-45A0-A9B8-7220A1F30C4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FF6E57-8C8B-4068-953C-43AABBE1937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E987E35A-69FD-4227-B297-EA1C03C4EE8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210E287-D5C2-40D4-BB00-CDF0A09403D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5094E9FA-F81F-42EE-9905-9BD39976ABF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3FA8845-E7A9-40F1-AEC8-0901F8BDCEC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fe749de7a284f80"/>
              </a:rPr>
              <a:t>Open explainer video</a:t>
            </a:r>
          </a:p>
        </p:txBody>
      </p:sp>
      <p:sp>
        <p:nvSpPr>
          <p:cNvPr id="14" name="">
            <a:extLst xmlns:a="http://schemas.openxmlformats.org/drawingml/2006/main">
              <a:ext uri="{FF2B5EF4-FFF2-40B4-BE49-F238E27FC236}">
                <a16:creationId xmlns:a16="http://schemas.microsoft.com/office/drawing/2014/main" id="{A0480F07-149E-4D5A-A061-CA4E420580F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E5FD141F-1B5B-46A2-A677-04C9E6D7C0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25</a:t>
            </a:r>
          </a:p>
        </p:txBody>
      </p:sp>
    </p:spTree>
    <p:extLst>
      <p:ext uri="{BB962C8B-B14F-4D97-AF65-F5344CB8AC3E}">
        <p14:creationId xmlns:p14="http://schemas.microsoft.com/office/powerpoint/2010/main" val="4910755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2026-10-20T18:00:17.9220000Z</dcterms:created>
  <dcterms:modified xsi:type="dcterms:W3CDTF">2026-10-20T18:00:17.9220000Z</dcterms:modified>
</coreProperties>
</file>