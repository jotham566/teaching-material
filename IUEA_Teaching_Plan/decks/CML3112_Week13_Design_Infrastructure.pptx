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studio session. Forty minutes of teaching on what makes work reproducible, then one hundred minutes in which you build while I run clinic slots, then a peer review round in which you review another team's repository against the project rubric. Practical Test 2 is briefed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6 is the one students find hardest, and it is the one that most improves their own work. Reviewing somebody else's repository is where you discover the defects in your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studio runs for eighty-five minutes and your clinic slot is about 4 minutes of it. Teams not in a slot are building or peer-reviewing, so nobody is waiting.</a:t>
            </a:r>
          </a:p>
          <a:p/>
          <a:p>
            <a:r>
              <a:t>Come to your slot with the repository checklist already filled in. A slot spent finding out what is missing is a slot wasted; a slot spent on the two things you could not fix yourself is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of recall. You have a model you can defend. What you may not have is work anybody else could run.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questions are about the gap between 'it works for me' and 'it works'. Question C is today's subject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is the Week 2 execution trap arriving at the moment it costs you marks. A notebook that works only because of variables left in memory from deleted cells will fail on a reviewer's machine, and Restart and Run All is a ten-second check that finds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on why this matters beyond the marks. If a result of yours is questioned in a review, in a viva or in practice, the repository is what defends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question arrives in every engineering career, usually at the least convenient moment. Memory is not evidence and a notebook on your laptop is not evidence either, because you cannot show that the version you have now is the version that produced the number.</a:t>
            </a:r>
          </a:p>
          <a:p/>
          <a:p>
            <a:r>
              <a:t>What works is a repository with a fixed environment, fixed seeds and a commit history, because it lets you rerun the exact analysis and get the exact number.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in the figure is the real one. A reviewer reads the README first to find out what the project is, then requirements.txt to find out whether they can run it, then src/ to see the code you would defend. The notebooks come after all three.</a:t>
            </a:r>
          </a:p>
          <a:p/>
          <a:p>
            <a:r>
              <a:t>The data/raw and data/processed split is the part students most often skip and most often regret. A raw folder that is never edited is what lets you answer 'where did this number come from?' a month later. It is also the only defence against cleaning the same file twice in two different ways, which produces two different answers and no way to tell which is yours.</a:t>
            </a:r>
          </a:p>
          <a:p/>
          <a:p>
            <a:r>
              <a:t>Your project folder for this cohort is concrete-strength/ and your raw file is concrete_strength.csv.</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Repeatable is the easy half and it still catches most students, because a notebook depending on variables from deleted cells is not even repeatable.</a:t>
            </a:r>
          </a:p>
          <a:p/>
          <a:p>
            <a:r>
              <a:t>Reproducible is the standard the project rubric uses, and it is worth 5 of the 100 marks directly plus a great deal indirectly, because a marker who cannot run your work cannot award marks for what it does.</a:t>
            </a:r>
          </a:p>
          <a:p/>
          <a:p>
            <a:r>
              <a:t>A practical note on seeds: a fixed seed makes the run repeatable and it does not make the result correct. If your conclusion changes when the seed changes, the honest report says so and gives the spread.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pinning point is the one that bites later. A requirements.txt listing bare package names is a list of what you happened to have, and it will install something different next year. Pin the versions with double equals.</a:t>
            </a:r>
          </a:p>
          <a:p/>
          <a:p>
            <a:r>
              <a:t>One practical caution about pip freeze: run it in a clean virtual environment if you can, because in Colab it will list several hundred packages that have nothing to do with your project. Listing the six you actually import, with versions, is better than listing four hundred.</a:t>
            </a:r>
          </a:p>
          <a:p/>
          <a:p>
            <a:r>
              <a:t>On seeds: put the seed in one variable at the top of the notebook and pass that variable everywhere, so there is one place to change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of live refactoring. The starting notebook is a real one, used with permission, and it looks like the work most of you have on your machines right now.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one is the most damaging. Cleaning a file by hand outside the code means the cleaned file cannot be rebuilt, so nobody can check what you removed and nobody can redo the analysis with a different cleaning decision. Every cleaning step belongs in code.</a:t>
            </a:r>
          </a:p>
          <a:p/>
          <a:p>
            <a:r>
              <a:t>The fifth is the one that quietly undermines a report. If your headline number moves between runs, the number you wrote in the brief was one draw from a distribution you never described. Fix the seed, then report the spread across folds as well.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Restart and Run All is the acceptance test for this week and for the project. It clears every variable from memory and runs the notebook as written, which is the only way to find out whether the notebook you have on screen is the one that produced your numbers.</a:t>
            </a:r>
          </a:p>
          <a:p/>
          <a:p>
            <a:r>
              <a:t>The SEED variable in one place is a small habit with a large payoff. When a reviewer asks how much your result moves with the seed, you change one line and rerun.</a:t>
            </a:r>
          </a:p>
          <a:p/>
          <a:p>
            <a:r>
              <a:t>On pip freeze in Colab: it will list several hundred packages. Open the file and keep the ones you import, with their versions.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Half a page answering five questions. A reviewer who reads this knows whether to keep reading, which is the whole job of a README.</a:t>
            </a:r>
          </a:p>
          <a:p/>
          <a:p>
            <a:r>
              <a:t>Question 5 is the one that earns the most and gets written the least. Stating what your model cannot do, and under what conditions it should not be used, reads as competence rather than weakness, and the project rubric rewards it directly.</a:t>
            </a:r>
          </a:p>
          <a:p/>
          <a:p>
            <a:r>
              <a:t>The two-page engineering brief due in Week 15 is a different document. The README tells a reviewer how to run your work; the brief tells an engineer what you found and what to do about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test is worth doing on every report you ever write. Read the captions in order and nothing else. If that sequence tells the story, your figures are doing work; if it does not, you have charts a reader has to interpret for themselves.</a:t>
            </a:r>
          </a:p>
          <a:p/>
          <a:p>
            <a:r>
              <a:t>Communication carries 10 of the 100 project marks, and captions are the cheapest place to earn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is the one that teaches you something. A function that fails after a restart was reading a variable from the global state instead of taking it as an argument, and it would have failed on anyone else's machine.</a:t>
            </a:r>
          </a:p>
          <a:p/>
          <a:p>
            <a:r>
              <a:t>Step 6 matters for the contribution log. Commit messages are what your log gets checked against, so 'move duplicate removal into src/prepare.py so it can be tested' is worth writing and 'update' is not.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confusion warning is worth taking seriously, because a fixed seed can hide instability. Try three or four seeds while you are developing. If your headline number moves by more than you would be comfortable reporting, that movement is the real result and it belongs in the brief.</a:t>
            </a:r>
          </a:p>
          <a:p/>
          <a:p>
            <a:r>
              <a:t>One more path habit: keep the notebook in notebooks/ and write paths as "../data/raw/..." from there, or set the working directory once at the top. Pick one and be consistent, because half a repository using each is worse than either.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studio afterwards runs for eighty-five minutes, so check your clinic slot time before you go.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Eighty-five minutes of build time with clinic slots running alongside. Your slot is about 4 minutes, so come with the checklist filled in and two specific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Milestone 4 is a repository freeze candidate rather than a final submission. What is checked is that it runs, that the README answers the five questions, and that the contribution log matches the commit history.</a:t>
            </a:r>
          </a:p>
          <a:p/>
          <a:p>
            <a:r>
              <a:t>The last item on the right is worth reading. If your repository already passes, the highest-value use of your slot is the two-page brief and the poster, because those are what Week 15 is assessed on and they are the least practised things you will hand 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down this list before your clinic slot and fix everything you can fix yourself. Then bring the two things you could not.</a:t>
            </a:r>
          </a:p>
          <a:p/>
          <a:p>
            <a:r>
              <a:t>The third group is the one teams leave to the last day and it is worth 5 of the 100 marks on its own, plus it is what makes your individual mark defensible in the Week 15 viva.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and fourth points are the whole difference. A good entry says what you asked, what came back and what you did to verify it, and the verification is what is marked.</a:t>
            </a:r>
          </a:p>
          <a:p/>
          <a:p>
            <a:r>
              <a:t>AI tools are permitted and taught in the coursework of this course, and they are excluded from both practical tests by running those offline. The rule is consistent: you are marked on what you can explain.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You review another team's repository against the published project rubric and return a written review naming two strengths and two specific fixes. Reviewing is harder than building, and you will find defects in your own work while looking at theirs.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 against the rubric' point is where inexperienced reviewers go wrong. There is often more than one defensible choice, and a team that scaled with MinMaxScaler where you used StandardScaler has not made a mistake. Review against the published criteria.</a:t>
            </a:r>
          </a:p>
          <a:p/>
          <a:p>
            <a:r>
              <a:t>The third point is the highest-value ten minutes you can spend. Tracing one headline number back to the raw file tests the whole chain at once, and when it cannot be done, the reason is always something worth reporting.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is the one that changes how a comment is received. Saying what the defect meant for you as a reader turns a criticism into information, and it also tells the author how much it matters.</a:t>
            </a:r>
          </a:p>
          <a:p/>
          <a:p>
            <a:r>
              <a:t>The last step matters more than it looks. Specific praise tells a team which of their choices to keep, and it is the part of a review most likely to be acted 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restating the Test 2 format you were given in Week 11. The last quiz of the semester closes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useful preparation for Test 2 next week is the studio you just ran. Practise Restart and Run All, practise writing a five-question README quickly, and practise filling in a structured answers cell, because 45 of the 100 marks come from one.</a:t>
            </a:r>
          </a:p>
          <a:p/>
          <a:p>
            <a:r>
              <a:t>On Week 15: the two-page brief and the one-page poster are the least practised things you will hand in all semester, and there is no session between the test and Demo Day. Draft both this week.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statements. The second is the one to act on before you leave the room, and the fourth is the one that will come up in your viva.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D is the one that ends projects. Overwriting your raw file removes the only record of what you started with, and no amount of care afterwards gets it back.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is the standard your project brief is held to. A result reported without a spread gives a reader no way to judge how much of it is signal, and adding the spread costs you one line.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terms, and the practical five are Restart and Run All, relative path, pinned version, seed and data/raw. Between them they cover most of what makes work checkable.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Photograph this slide. Reproducibility and documentation carries 5 of the 100 project marks directly, and it gates the rest, because a marker who cannot run your work cannot award marks for what it does.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peer review round is what makes today stick. Trying to run somebody else's repository teaches you more about your own than any checklist, and most teams find one of their own defects while looking at another team's.</a:t>
            </a:r>
          </a:p>
          <a:p/>
          <a:p>
            <a:r>
              <a:t>Practical Test 2 is next week. The best preparation is redoing today's studio work on a different dataset, and practising the structured answers cell.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Work somebody else</a:t>
            </a:r>
          </a:p>
          <a:p>
            <a:pPr algn="l">
              <a:lnSpc>
                <a:spcPct val="105000"/>
              </a:lnSpc>
              <a:spcAft>
                <a:spcPts val="600"/>
              </a:spcAft>
            </a:pPr>
            <a:r>
              <a:rPr sz="4400" b="1" i="0">
                <a:solidFill>
                  <a:srgbClr val="FFFFFF"/>
                </a:solidFill>
                <a:latin typeface="Cambria"/>
              </a:rPr>
              <a:t>can actually run</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Repository structure, README, environment capture and peer review</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13  ·  Tue 1 December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Structure a repository a stranger could clone and run without asking you anything.</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Write a README that states the problem, the data, the method, the result and the limitations.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Capture the environment so the analysis can be rebuilt in a year.</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Use relative paths and fixed seeds, and say what each of them prevents.</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Report a result with its uncertainty and its conditions of use.</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Review another team's repository against the published rubric and give feedback they can act on.</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Declare and account for your use of AI assistance.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13 · Reproducibility, communication and peer review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13.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Eight blocks. The studio is eighty-five minutes of your own build with clinic slots running alongside, so check when your slot is before the break.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choose a model and defend the choice. Today: making the work checkable.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what stuck from Week 12?</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send your notebook to a colleague and it fails on the first cell. Name the two most likely causes.</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report an MAE of 3.6 and your colleague reruns your notebook and gets 4.1. What single line would have prevented that?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notebook runs perfectly for you and you have restarted the kernel twice this month. Why is that not evidence that it works?</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Fails on the first cell?</a:t>
            </a:r>
          </a:p>
        </p:txBody>
      </p:sp>
      <p:sp>
        <p:nvSpPr>
          <p:cNvPr id="6" name="TextBox 5"/>
          <p:cNvSpPr txBox="1"/>
          <p:nvPr/>
        </p:nvSpPr>
        <p:spPr>
          <a:xfrm>
            <a:off x="1216152" y="220370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An absolute path that only exists on your machine, or a package your colleague does not have installed. A relative path and a requirements.txt fix both, and between them they account for most first-cell failures.</a:t>
            </a:r>
          </a:p>
        </p:txBody>
      </p:sp>
      <p:sp>
        <p:nvSpPr>
          <p:cNvPr id="7" name="Oval 6"/>
          <p:cNvSpPr/>
          <p:nvPr/>
        </p:nvSpPr>
        <p:spPr>
          <a:xfrm>
            <a:off x="685800" y="344286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0628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3.6 against 4.1?</a:t>
            </a:r>
          </a:p>
        </p:txBody>
      </p:sp>
      <p:sp>
        <p:nvSpPr>
          <p:cNvPr id="9" name="TextBox 8"/>
          <p:cNvSpPr txBox="1"/>
          <p:nvPr/>
        </p:nvSpPr>
        <p:spPr>
          <a:xfrm>
            <a:off x="1216152" y="369889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random_state=42, or any fixed seed, on the split and on the model. Without it, every run draws different rows into the test set and the number you reported was one sample from a distribution you never described.</a:t>
            </a:r>
          </a:p>
        </p:txBody>
      </p:sp>
      <p:sp>
        <p:nvSpPr>
          <p:cNvPr id="10" name="Oval 9"/>
          <p:cNvSpPr/>
          <p:nvPr/>
        </p:nvSpPr>
        <p:spPr>
          <a:xfrm>
            <a:off x="685800" y="493805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0147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It works for you?</a:t>
            </a:r>
          </a:p>
        </p:txBody>
      </p:sp>
      <p:sp>
        <p:nvSpPr>
          <p:cNvPr id="12" name="TextBox 11"/>
          <p:cNvSpPr txBox="1"/>
          <p:nvPr/>
        </p:nvSpPr>
        <p:spPr>
          <a:xfrm>
            <a:off x="1216152" y="519408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Because your kernel holds variables from cells you have since edited or deleted, so the notebook you have on screen and the state it is running in are two different things. Restart and Run All is the only test that settles it, and it is the acceptance test for today.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Reproducibility as an obligation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result nobody else can reproduce is a claim, and a claim is not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SOMEBODY WILL ASK YOU</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"You reported this number eight months ago. Where did it come from, and would you get it again today?"</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You will be asked this in the Week 15 viva, and you will be asked it again in practice. The only answer that works is a repository somebody can clone and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REPOSITORY ANATOMY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a reviewer opens, and in what order</a:t>
            </a:r>
          </a:p>
        </p:txBody>
      </p:sp>
      <p:pic>
        <p:nvPicPr>
          <p:cNvPr id="4" name="Picture 3" descr="repo_structure.png"/>
          <p:cNvPicPr>
            <a:picLocks noChangeAspect="1"/>
          </p:cNvPicPr>
          <p:nvPr/>
        </p:nvPicPr>
        <p:blipFill>
          <a:blip r:embed="rId2"/>
          <a:stretch>
            <a:fillRect/>
          </a:stretch>
        </p:blipFill>
        <p:spPr>
          <a:xfrm>
            <a:off x="1914104" y="1911095"/>
            <a:ext cx="8363487"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Five things at the top level and two folders inside data/. The numbered items are the order a marker actually reads in, and none of them is your model.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Reproducible, and repeatable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Work is REPEATABLE when you can run it again yourself and get the same numbers. It is REPRODUCIBLE when somebody else can, on a different machine, from what you gave them.</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Restart and Run All on your own machine tests repeatability. Cloning onto a machine that has never seen the project, installing requirements.txt and running the notebooks in order tests reproducibility.</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Getting the same answer as somebody else who did their own analysis. That is replication, and it is a much stronger and much rarer thing.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ENVIRONMENT AND SEEDS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Capturing the environment, and pinning the randomness</a:t>
            </a:r>
          </a:p>
        </p:txBody>
      </p:sp>
      <p:sp>
        <p:nvSpPr>
          <p:cNvPr id="4" name="TextBox 3"/>
          <p:cNvSpPr txBox="1"/>
          <p:nvPr/>
        </p:nvSpPr>
        <p:spPr>
          <a:xfrm>
            <a:off x="685800" y="1911095"/>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requirements.txt is the list of packages and their versions</a:t>
            </a:r>
          </a:p>
        </p:txBody>
      </p:sp>
      <p:sp>
        <p:nvSpPr>
          <p:cNvPr id="5" name="TextBox 4"/>
          <p:cNvSpPr txBox="1"/>
          <p:nvPr/>
        </p:nvSpPr>
        <p:spPr>
          <a:xfrm>
            <a:off x="685800" y="2669613"/>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pip freeze &gt; requirements.txt writes it. Then pip install -r requirements.txt rebuilds it on any machine.</a:t>
            </a:r>
          </a:p>
        </p:txBody>
      </p:sp>
      <p:sp>
        <p:nvSpPr>
          <p:cNvPr id="6" name="TextBox 5"/>
          <p:cNvSpPr txBox="1"/>
          <p:nvPr/>
        </p:nvSpPr>
        <p:spPr>
          <a:xfrm>
            <a:off x="685800" y="354894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Pin every version with a double equals</a:t>
            </a:r>
          </a:p>
        </p:txBody>
      </p:sp>
      <p:sp>
        <p:nvSpPr>
          <p:cNvPr id="7" name="TextBox 6"/>
          <p:cNvSpPr txBox="1"/>
          <p:nvPr/>
        </p:nvSpPr>
        <p:spPr>
          <a:xfrm>
            <a:off x="685800" y="3960207"/>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pandas==2.2.1 will still install in two years. 'pandas' installs whatever is current, and an API that changed in between will break your notebook.</a:t>
            </a:r>
          </a:p>
        </p:txBody>
      </p:sp>
      <p:sp>
        <p:nvSpPr>
          <p:cNvPr id="8" name="TextBox 7"/>
          <p:cNvSpPr txBox="1"/>
          <p:nvPr/>
        </p:nvSpPr>
        <p:spPr>
          <a:xfrm>
            <a:off x="685800" y="513747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Set a seed everywhere randomness enters</a:t>
            </a:r>
          </a:p>
        </p:txBody>
      </p:sp>
      <p:sp>
        <p:nvSpPr>
          <p:cNvPr id="9" name="TextBox 8"/>
          <p:cNvSpPr txBox="1"/>
          <p:nvPr/>
        </p:nvSpPr>
        <p:spPr>
          <a:xfrm>
            <a:off x="685800" y="5548735"/>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train/test split, the cross-validation folds, and any model with a random component. random_state=42 in all of them.</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Use relative paths only</a:t>
            </a:r>
          </a:p>
        </p:txBody>
      </p:sp>
      <p:sp>
        <p:nvSpPr>
          <p:cNvPr id="11" name="TextBox 10"/>
          <p:cNvSpPr txBox="1"/>
          <p:nvPr/>
        </p:nvSpPr>
        <p:spPr>
          <a:xfrm>
            <a:off x="6347307"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pd.read_csv("data/raw/concrete_strength.csv") works on any machine. A path starting C:/Users/ works on exactly one.</a:t>
            </a:r>
          </a:p>
        </p:txBody>
      </p:sp>
      <p:sp>
        <p:nvSpPr>
          <p:cNvPr id="12" name="TextBox 11"/>
          <p:cNvSpPr txBox="1"/>
          <p:nvPr/>
        </p:nvSpPr>
        <p:spPr>
          <a:xfrm>
            <a:off x="6347307"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Never edit data/raw</a:t>
            </a:r>
          </a:p>
        </p:txBody>
      </p:sp>
      <p:sp>
        <p:nvSpPr>
          <p:cNvPr id="13" name="TextBox 12"/>
          <p:cNvSpPr txBox="1"/>
          <p:nvPr/>
        </p:nvSpPr>
        <p:spPr>
          <a:xfrm>
            <a:off x="6347307"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Everything in data/processed is rebuilt from raw by code in src/, so it can be deleted and remade at any time.</a:t>
            </a:r>
          </a:p>
        </p:txBody>
      </p:sp>
      <p:sp>
        <p:nvSpPr>
          <p:cNvPr id="14" name="TextBox 13"/>
          <p:cNvSpPr txBox="1"/>
          <p:nvPr/>
        </p:nvSpPr>
        <p:spPr>
          <a:xfrm>
            <a:off x="6347307" y="449228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record the versions of what you cannot pin</a:t>
            </a:r>
          </a:p>
        </p:txBody>
      </p:sp>
      <p:sp>
        <p:nvSpPr>
          <p:cNvPr id="15" name="TextBox 14"/>
          <p:cNvSpPr txBox="1"/>
          <p:nvPr/>
        </p:nvSpPr>
        <p:spPr>
          <a:xfrm>
            <a:off x="6347307" y="4903547"/>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Python version, and the date you ran it. A line at the top of the README is enough.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From a messy notebook to a clean repository</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real exploratory notebook, refactored live into something a stranger could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TO FIX FIRST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Six things a reviewer sees immediately</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And every one of them costs marks</a:t>
            </a:r>
          </a:p>
        </p:txBody>
      </p:sp>
      <p:sp>
        <p:nvSpPr>
          <p:cNvPr id="5" name="TextBox 4"/>
          <p:cNvSpPr txBox="1"/>
          <p:nvPr/>
        </p:nvSpPr>
        <p:spPr>
          <a:xfrm>
            <a:off x="685800" y="2489028"/>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1 ·</a:t>
            </a:r>
          </a:p>
        </p:txBody>
      </p:sp>
      <p:sp>
        <p:nvSpPr>
          <p:cNvPr id="6" name="TextBox 5"/>
          <p:cNvSpPr txBox="1"/>
          <p:nvPr/>
        </p:nvSpPr>
        <p:spPr>
          <a:xfrm>
            <a:off x="685800" y="2920656"/>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 path that reads C:/Users/.../Desktop/concrete_final_v3.csv, so the notebook runs on one laptop in the world.</a:t>
            </a:r>
          </a:p>
        </p:txBody>
      </p:sp>
      <p:sp>
        <p:nvSpPr>
          <p:cNvPr id="7" name="TextBox 6"/>
          <p:cNvSpPr txBox="1"/>
          <p:nvPr/>
        </p:nvSpPr>
        <p:spPr>
          <a:xfrm>
            <a:off x="685800" y="3851802"/>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2 ·</a:t>
            </a:r>
          </a:p>
        </p:txBody>
      </p:sp>
      <p:sp>
        <p:nvSpPr>
          <p:cNvPr id="8" name="TextBox 7"/>
          <p:cNvSpPr txBox="1"/>
          <p:nvPr/>
        </p:nvSpPr>
        <p:spPr>
          <a:xfrm>
            <a:off x="685800" y="4283430"/>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Three separate cells that all assign df, run in an order nobody wrote down.</a:t>
            </a:r>
          </a:p>
        </p:txBody>
      </p:sp>
      <p:sp>
        <p:nvSpPr>
          <p:cNvPr id="9" name="TextBox 8"/>
          <p:cNvSpPr txBox="1"/>
          <p:nvPr/>
        </p:nvSpPr>
        <p:spPr>
          <a:xfrm>
            <a:off x="685800" y="5214577"/>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3 ·</a:t>
            </a:r>
          </a:p>
        </p:txBody>
      </p:sp>
      <p:sp>
        <p:nvSpPr>
          <p:cNvPr id="10" name="TextBox 9"/>
          <p:cNvSpPr txBox="1"/>
          <p:nvPr/>
        </p:nvSpPr>
        <p:spPr>
          <a:xfrm>
            <a:off x="685800" y="5646205"/>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duplicate rows removed by hand in Excel before loading, with no record of which rows went.</a:t>
            </a:r>
          </a:p>
        </p:txBody>
      </p:sp>
      <p:sp>
        <p:nvSpPr>
          <p:cNvPr id="11" name="TextBox 10"/>
          <p:cNvSpPr txBox="1"/>
          <p:nvPr/>
        </p:nvSpPr>
        <p:spPr>
          <a:xfrm>
            <a:off x="6347307"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4 ·</a:t>
            </a:r>
          </a:p>
        </p:txBody>
      </p:sp>
      <p:sp>
        <p:nvSpPr>
          <p:cNvPr id="12" name="TextBox 11"/>
          <p:cNvSpPr txBox="1"/>
          <p:nvPr/>
        </p:nvSpPr>
        <p:spPr>
          <a:xfrm>
            <a:off x="6347307" y="2342724"/>
            <a:ext cx="5158587" cy="378705"/>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 chart titled 'output' with no units on either axis.</a:t>
            </a:r>
          </a:p>
        </p:txBody>
      </p:sp>
      <p:sp>
        <p:nvSpPr>
          <p:cNvPr id="13" name="TextBox 12"/>
          <p:cNvSpPr txBox="1"/>
          <p:nvPr/>
        </p:nvSpPr>
        <p:spPr>
          <a:xfrm>
            <a:off x="6347307" y="2950029"/>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5 ·</a:t>
            </a:r>
          </a:p>
        </p:txBody>
      </p:sp>
      <p:sp>
        <p:nvSpPr>
          <p:cNvPr id="14" name="TextBox 13"/>
          <p:cNvSpPr txBox="1"/>
          <p:nvPr/>
        </p:nvSpPr>
        <p:spPr>
          <a:xfrm>
            <a:off x="6347307" y="3381657"/>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random_state left unset, so the reported MAE moves by 0.4 MPa between runs.</a:t>
            </a:r>
          </a:p>
        </p:txBody>
      </p:sp>
      <p:sp>
        <p:nvSpPr>
          <p:cNvPr id="15" name="TextBox 14"/>
          <p:cNvSpPr txBox="1"/>
          <p:nvPr/>
        </p:nvSpPr>
        <p:spPr>
          <a:xfrm>
            <a:off x="6347307" y="4312803"/>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6 ·</a:t>
            </a:r>
          </a:p>
        </p:txBody>
      </p:sp>
      <p:sp>
        <p:nvSpPr>
          <p:cNvPr id="16" name="TextBox 15"/>
          <p:cNvSpPr txBox="1"/>
          <p:nvPr/>
        </p:nvSpPr>
        <p:spPr>
          <a:xfrm>
            <a:off x="6347307" y="4744431"/>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Forty commented-out lines kept in case they are needed again.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acceptance test, and the environment file</a:t>
            </a:r>
          </a:p>
        </p:txBody>
      </p:sp>
      <p:sp>
        <p:nvSpPr>
          <p:cNvPr id="4" name="Rounded Rectangle 3"/>
          <p:cNvSpPr/>
          <p:nvPr/>
        </p:nvSpPr>
        <p:spPr>
          <a:xfrm>
            <a:off x="7084588" y="512064"/>
            <a:ext cx="4421306"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RUN THIS ON YOUR OWN REPOSITORY NOW</a:t>
            </a:r>
          </a:p>
        </p:txBody>
      </p:sp>
      <p:sp>
        <p:nvSpPr>
          <p:cNvPr id="5" name="Rectangle 4"/>
          <p:cNvSpPr/>
          <p:nvPr/>
        </p:nvSpPr>
        <p:spPr>
          <a:xfrm>
            <a:off x="685800" y="1911095"/>
            <a:ext cx="10820095" cy="356478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7217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 1 · the acceptance test, in the notebook menu:</a:t>
            </a:r>
          </a:p>
          <a:p>
            <a:pPr algn="l">
              <a:lnSpc>
                <a:spcPts val="1795"/>
              </a:lnSpc>
              <a:spcAft>
                <a:spcPts val="0"/>
              </a:spcAft>
            </a:pPr>
            <a:r>
              <a:rPr sz="1320" b="0" i="0">
                <a:solidFill>
                  <a:srgbClr val="D8E3EC"/>
                </a:solidFill>
                <a:latin typeface="Courier New"/>
              </a:rPr>
              <a:t>#      Kernel  -&gt;  Restart and Run All</a:t>
            </a:r>
          </a:p>
          <a:p>
            <a:pPr algn="l">
              <a:lnSpc>
                <a:spcPts val="1795"/>
              </a:lnSpc>
              <a:spcAft>
                <a:spcPts val="0"/>
              </a:spcAft>
            </a:pPr>
            <a:r>
              <a:rPr sz="1320" b="0" i="0">
                <a:solidFill>
                  <a:srgbClr val="D8E3EC"/>
                </a:solidFill>
                <a:latin typeface="Courier New"/>
              </a:rPr>
              <a:t>#    It either runs top to bottom, or it does not. Nothing in between.</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2 · one seed, one place, passed everywhere</a:t>
            </a:r>
          </a:p>
          <a:p>
            <a:pPr algn="l">
              <a:lnSpc>
                <a:spcPts val="1795"/>
              </a:lnSpc>
              <a:spcAft>
                <a:spcPts val="0"/>
              </a:spcAft>
            </a:pPr>
            <a:r>
              <a:rPr sz="1320" b="0" i="0">
                <a:solidFill>
                  <a:srgbClr val="D8E3EC"/>
                </a:solidFill>
                <a:latin typeface="Courier New"/>
              </a:rPr>
              <a:t>SEED = 42</a:t>
            </a:r>
          </a:p>
          <a:p>
            <a:pPr algn="l">
              <a:lnSpc>
                <a:spcPts val="1795"/>
              </a:lnSpc>
              <a:spcAft>
                <a:spcPts val="0"/>
              </a:spcAft>
            </a:pPr>
            <a:r>
              <a:rPr sz="1320" b="0" i="0">
                <a:solidFill>
                  <a:srgbClr val="D8E3EC"/>
                </a:solidFill>
                <a:latin typeface="Courier New"/>
              </a:rPr>
              <a:t>X_tr, X_te, y_tr, y_te = train_test_split(X, y, test_size=0.2,</a:t>
            </a:r>
          </a:p>
          <a:p>
            <a:pPr algn="l">
              <a:lnSpc>
                <a:spcPts val="1795"/>
              </a:lnSpc>
              <a:spcAft>
                <a:spcPts val="0"/>
              </a:spcAft>
            </a:pPr>
            <a:r>
              <a:rPr sz="1320" b="0" i="0">
                <a:solidFill>
                  <a:srgbClr val="D8E3EC"/>
                </a:solidFill>
                <a:latin typeface="Courier New"/>
              </a:rPr>
              <a:t>                                          random_state=SEED)</a:t>
            </a:r>
          </a:p>
          <a:p>
            <a:pPr algn="l">
              <a:lnSpc>
                <a:spcPts val="1795"/>
              </a:lnSpc>
              <a:spcAft>
                <a:spcPts val="0"/>
              </a:spcAft>
            </a:pPr>
            <a:r>
              <a:rPr sz="1320" b="0" i="0">
                <a:solidFill>
                  <a:srgbClr val="D8E3EC"/>
                </a:solidFill>
                <a:latin typeface="Courier New"/>
              </a:rPr>
              <a:t>model = RandomForestRegressor(n_estimators=300, random_state=SEED)</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3 · relative paths only</a:t>
            </a:r>
          </a:p>
          <a:p>
            <a:pPr algn="l">
              <a:lnSpc>
                <a:spcPts val="1795"/>
              </a:lnSpc>
              <a:spcAft>
                <a:spcPts val="0"/>
              </a:spcAft>
            </a:pPr>
            <a:r>
              <a:rPr sz="1320" b="0" i="0">
                <a:solidFill>
                  <a:srgbClr val="D8E3EC"/>
                </a:solidFill>
                <a:latin typeface="Courier New"/>
              </a:rPr>
              <a:t>df = pd.read_csv("data/raw/concrete_strength.csv")</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4 · capture the environment, then read the file and cut it down</a:t>
            </a:r>
          </a:p>
          <a:p>
            <a:pPr algn="l">
              <a:lnSpc>
                <a:spcPts val="1795"/>
              </a:lnSpc>
              <a:spcAft>
                <a:spcPts val="0"/>
              </a:spcAft>
            </a:pPr>
            <a:r>
              <a:rPr sz="1320" b="0" i="0">
                <a:solidFill>
                  <a:srgbClr val="D8E3EC"/>
                </a:solidFill>
                <a:latin typeface="Courier New"/>
              </a:rPr>
              <a:t>#      to the packages you actually import</a:t>
            </a:r>
          </a:p>
          <a:p>
            <a:pPr algn="l">
              <a:lnSpc>
                <a:spcPts val="1795"/>
              </a:lnSpc>
              <a:spcAft>
                <a:spcPts val="0"/>
              </a:spcAft>
            </a:pPr>
            <a:r>
              <a:rPr sz="1320" b="0" i="0">
                <a:solidFill>
                  <a:srgbClr val="D8E3EC"/>
                </a:solidFill>
                <a:latin typeface="Courier New"/>
              </a:rPr>
              <a:t>!pip freeze &gt; requirements.txt</a:t>
            </a:r>
          </a:p>
        </p:txBody>
      </p:sp>
      <p:sp>
        <p:nvSpPr>
          <p:cNvPr id="7" name="Rounded Rectangle 6"/>
          <p:cNvSpPr/>
          <p:nvPr/>
        </p:nvSpPr>
        <p:spPr>
          <a:xfrm>
            <a:off x="685800" y="5695337"/>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704481"/>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Run Restart and Run All right now and watch which cell fails first. Nearly every repository in this room will fail on a name that was defined in a cell somebody has since deleted.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README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README anatomy — five questions, half a page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What problem is this, and who has it?</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precast yard wants 28-day strength estimated on the day a mix is batched.</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What data, from where, under what licence?</a:t>
            </a:r>
          </a:p>
        </p:txBody>
      </p:sp>
      <p:sp>
        <p:nvSpPr>
          <p:cNvPr id="7" name="TextBox 6"/>
          <p:cNvSpPr txBox="1"/>
          <p:nvPr/>
        </p:nvSpPr>
        <p:spPr>
          <a:xfrm>
            <a:off x="685800"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1,030 mixes from the UCI Concrete Compressive Strength dataset, CC BY 4.0.</a:t>
            </a:r>
          </a:p>
        </p:txBody>
      </p:sp>
      <p:sp>
        <p:nvSpPr>
          <p:cNvPr id="8" name="TextBox 7"/>
          <p:cNvSpPr txBox="1"/>
          <p:nvPr/>
        </p:nvSpPr>
        <p:spPr>
          <a:xfrm>
            <a:off x="685800" y="449228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What method, in three lines?</a:t>
            </a:r>
          </a:p>
        </p:txBody>
      </p:sp>
      <p:sp>
        <p:nvSpPr>
          <p:cNvPr id="9" name="TextBox 8"/>
          <p:cNvSpPr txBox="1"/>
          <p:nvPr/>
        </p:nvSpPr>
        <p:spPr>
          <a:xfrm>
            <a:off x="685800" y="4903547"/>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file of nine columns, five engineered features, and a Pipeline with a scaler and a linear model.</a:t>
            </a:r>
          </a:p>
        </p:txBody>
      </p:sp>
      <p:sp>
        <p:nvSpPr>
          <p:cNvPr id="10" name="TextBox 9"/>
          <p:cNvSpPr txBox="1"/>
          <p:nvPr/>
        </p:nvSpPr>
        <p:spPr>
          <a:xfrm>
            <a:off x="6347307" y="1911095"/>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What is the result, with its unit and its spread?</a:t>
            </a:r>
          </a:p>
        </p:txBody>
      </p:sp>
      <p:sp>
        <p:nvSpPr>
          <p:cNvPr id="11" name="TextBox 10"/>
          <p:cNvSpPr txBox="1"/>
          <p:nvPr/>
        </p:nvSpPr>
        <p:spPr>
          <a:xfrm>
            <a:off x="6347307" y="2669613"/>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MAE 3.6 MPa on held-out mixes, 5-fold cross-validated at 3.8 plus or minus 0.4 MPa.</a:t>
            </a:r>
          </a:p>
        </p:txBody>
      </p:sp>
      <p:sp>
        <p:nvSpPr>
          <p:cNvPr id="12" name="TextBox 11"/>
          <p:cNvSpPr txBox="1"/>
          <p:nvPr/>
        </p:nvSpPr>
        <p:spPr>
          <a:xfrm>
            <a:off x="6347307" y="3548944"/>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5 · What are the limitations and the conditions of use?</a:t>
            </a:r>
          </a:p>
        </p:txBody>
      </p:sp>
      <p:sp>
        <p:nvSpPr>
          <p:cNvPr id="13" name="TextBox 12"/>
          <p:cNvSpPr txBox="1"/>
          <p:nvPr/>
        </p:nvSpPr>
        <p:spPr>
          <a:xfrm>
            <a:off x="6347307" y="430746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data is laboratory cylinders. Site-cured concrete is weaker and this model has never seen any.</a:t>
            </a:r>
          </a:p>
        </p:txBody>
      </p:sp>
      <p:sp>
        <p:nvSpPr>
          <p:cNvPr id="14" name="TextBox 13"/>
          <p:cNvSpPr txBox="1"/>
          <p:nvPr/>
        </p:nvSpPr>
        <p:spPr>
          <a:xfrm>
            <a:off x="6347307" y="5186793"/>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Then how to run it</a:t>
            </a:r>
          </a:p>
        </p:txBody>
      </p:sp>
      <p:sp>
        <p:nvSpPr>
          <p:cNvPr id="15" name="TextBox 14"/>
          <p:cNvSpPr txBox="1"/>
          <p:nvPr/>
        </p:nvSpPr>
        <p:spPr>
          <a:xfrm>
            <a:off x="6347307" y="559805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Clone, pip install -r requirements.txt, run the notebooks in numbered order. Four lines, and the reviewer stops guessing.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COMMUNICATION</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Captions that state a finding</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 caption that describes the axes</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Figure 3: strength against cement content. A reader learns nothing they could not get from the axis labels.</a:t>
            </a:r>
          </a:p>
        </p:txBody>
      </p:sp>
      <p:sp>
        <p:nvSpPr>
          <p:cNvPr id="6" name="TextBox 5"/>
          <p:cNvSpPr txBox="1"/>
          <p:nvPr/>
        </p:nvSpPr>
        <p:spPr>
          <a:xfrm>
            <a:off x="685800"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 caption that states the finding</a:t>
            </a:r>
          </a:p>
        </p:txBody>
      </p:sp>
      <p:sp>
        <p:nvSpPr>
          <p:cNvPr id="7" name="TextBox 6"/>
          <p:cNvSpPr txBox="1"/>
          <p:nvPr/>
        </p:nvSpPr>
        <p:spPr>
          <a:xfrm>
            <a:off x="685800" y="3751217"/>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Figure 3: strength rises with cement content and flattens above 400 kg/m3, so the last 50 kg/m3 buys about 1 MPa.</a:t>
            </a:r>
          </a:p>
        </p:txBody>
      </p:sp>
      <p:sp>
        <p:nvSpPr>
          <p:cNvPr id="8" name="TextBox 7"/>
          <p:cNvSpPr txBox="1"/>
          <p:nvPr/>
        </p:nvSpPr>
        <p:spPr>
          <a:xfrm>
            <a:off x="685800" y="504506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Why the second one earns marks</a:t>
            </a:r>
          </a:p>
        </p:txBody>
      </p:sp>
      <p:sp>
        <p:nvSpPr>
          <p:cNvPr id="9" name="TextBox 8"/>
          <p:cNvSpPr txBox="1"/>
          <p:nvPr/>
        </p:nvSpPr>
        <p:spPr>
          <a:xfrm>
            <a:off x="685800" y="548659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Because it commits to a claim with a number attached, which a reader can check against the chart and argue with.</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The rule from Week 6, still standing</a:t>
            </a:r>
          </a:p>
        </p:txBody>
      </p:sp>
      <p:sp>
        <p:nvSpPr>
          <p:cNvPr id="11" name="TextBox 10"/>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Every chart answers a stated question, and the caption says what the answer was.</a:t>
            </a:r>
          </a:p>
        </p:txBody>
      </p:sp>
      <p:sp>
        <p:nvSpPr>
          <p:cNvPr id="12" name="TextBox 11"/>
          <p:cNvSpPr txBox="1"/>
          <p:nvPr/>
        </p:nvSpPr>
        <p:spPr>
          <a:xfrm>
            <a:off x="6347307"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In the two-page brief this matters most</a:t>
            </a:r>
          </a:p>
        </p:txBody>
      </p:sp>
      <p:sp>
        <p:nvSpPr>
          <p:cNvPr id="13" name="TextBox 12"/>
          <p:cNvSpPr txBox="1"/>
          <p:nvPr/>
        </p:nvSpPr>
        <p:spPr>
          <a:xfrm>
            <a:off x="6347307" y="3751217"/>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Two pages will hold four or five charts. If each caption states a finding, the brief can be read from the captions alone.</a:t>
            </a:r>
          </a:p>
        </p:txBody>
      </p:sp>
      <p:sp>
        <p:nvSpPr>
          <p:cNvPr id="14" name="TextBox 13"/>
          <p:cNvSpPr txBox="1"/>
          <p:nvPr/>
        </p:nvSpPr>
        <p:spPr>
          <a:xfrm>
            <a:off x="6347307" y="504506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One test before you submit</a:t>
            </a:r>
          </a:p>
        </p:txBody>
      </p:sp>
      <p:sp>
        <p:nvSpPr>
          <p:cNvPr id="15" name="TextBox 14"/>
          <p:cNvSpPr txBox="1"/>
          <p:nvPr/>
        </p:nvSpPr>
        <p:spPr>
          <a:xfrm>
            <a:off x="6347307" y="548659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Read only your captions, in order. Do they tell the story? If they do not, the charts are decoration.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Moving one cell out of the notebook and into src/</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 refactor that makes a notebook readable. Do this to your cleaning code first, because it is the code a reviewer most wants to check.</a:t>
            </a:r>
          </a:p>
        </p:txBody>
      </p:sp>
      <p:sp>
        <p:nvSpPr>
          <p:cNvPr id="5" name="Rounded Rectangle 4"/>
          <p:cNvSpPr/>
          <p:nvPr/>
        </p:nvSpPr>
        <p:spPr>
          <a:xfrm>
            <a:off x="685800" y="27323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Find a cell that does one job and does it in more than five lines. Cleaning code is almost always the first candidate.</a:t>
            </a:r>
          </a:p>
        </p:txBody>
      </p:sp>
      <p:sp>
        <p:nvSpPr>
          <p:cNvPr id="8" name="Rounded Rectangle 7"/>
          <p:cNvSpPr/>
          <p:nvPr/>
        </p:nvSpPr>
        <p:spPr>
          <a:xfrm>
            <a:off x="685800" y="31895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2444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2352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Give the job a name, and write it as a function with named arguments and a docstring saying what goes in, what comes out, and in what units.</a:t>
            </a:r>
          </a:p>
        </p:txBody>
      </p:sp>
      <p:sp>
        <p:nvSpPr>
          <p:cNvPr id="11" name="Rounded Rectangle 10"/>
          <p:cNvSpPr/>
          <p:nvPr/>
        </p:nvSpPr>
        <p:spPr>
          <a:xfrm>
            <a:off x="685800" y="36467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7016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6924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Move the function into src/prepare.py. Nothing else moves with it.</a:t>
            </a:r>
          </a:p>
        </p:txBody>
      </p:sp>
      <p:sp>
        <p:nvSpPr>
          <p:cNvPr id="14" name="Rounded Rectangle 13"/>
          <p:cNvSpPr/>
          <p:nvPr/>
        </p:nvSpPr>
        <p:spPr>
          <a:xfrm>
            <a:off x="685800" y="41039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1588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1496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In the notebook, replace the cell with two lines: an import, and one call. The notebook now reads as the sequence of steps you took.</a:t>
            </a:r>
          </a:p>
        </p:txBody>
      </p:sp>
      <p:sp>
        <p:nvSpPr>
          <p:cNvPr id="17" name="Rounded Rectangle 16"/>
          <p:cNvSpPr/>
          <p:nvPr/>
        </p:nvSpPr>
        <p:spPr>
          <a:xfrm>
            <a:off x="685800" y="4561147"/>
            <a:ext cx="10820095" cy="60678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6160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606867"/>
            <a:ext cx="9814255" cy="515345"/>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Restart and Run All. If it fails, the function was depending on a variable that was sitting in memory, which is exactly the defect you were removing.</a:t>
            </a:r>
          </a:p>
        </p:txBody>
      </p:sp>
      <p:sp>
        <p:nvSpPr>
          <p:cNvPr id="20" name="Rounded Rectangle 19"/>
          <p:cNvSpPr/>
          <p:nvPr/>
        </p:nvSpPr>
        <p:spPr>
          <a:xfrm>
            <a:off x="685800" y="522279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27766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268516"/>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Commit with a message that says what changed and why: 'move duplicate removal into src/prepare.py so it can be tested and rerun'.</a:t>
            </a:r>
          </a:p>
        </p:txBody>
      </p:sp>
      <p:sp>
        <p:nvSpPr>
          <p:cNvPr id="23" name="Rounded Rectangle 22"/>
          <p:cNvSpPr/>
          <p:nvPr/>
        </p:nvSpPr>
        <p:spPr>
          <a:xfrm>
            <a:off x="685800" y="5734860"/>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872020"/>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A notebook that reads as a sequence of named steps is one a reviewer can follow in two minutes. A notebook of forty anonymous cells takes twenty.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Relative path, and a fixed seed</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RELATIVE PATH is written from the repository folder rather than from the root of a disk, so it resolves on any machine. A FIXED SEED sets the starting point of every random operation, so the same code produces the same numbers every time it runs.</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pd.read_csv("data/raw/concrete_strength.csv") is relative and it works everywhere. random_state=SEED on the split, the folds and the model pins the randomness.</a:t>
            </a:r>
          </a:p>
        </p:txBody>
      </p:sp>
      <p:sp>
        <p:nvSpPr>
          <p:cNvPr id="8" name="Rounded Rectangle 7"/>
          <p:cNvSpPr/>
          <p:nvPr/>
        </p:nvSpPr>
        <p:spPr>
          <a:xfrm>
            <a:off x="685800" y="468752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69234"/>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seed making your result correct. A seed makes it repeatable. If the conclusion changes when you change the seed, the honest report gives the spread across several seeds.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Studio time is next: have your repository open.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Studio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build. I run clinic slots. Nobody waits, because teams outside a slot are building or reviewing.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STUDIO — 85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Studio: what to build in the next hundred minutes</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 target</a:t>
            </a:r>
          </a:p>
        </p:txBody>
      </p:sp>
      <p:sp>
        <p:nvSpPr>
          <p:cNvPr id="5" name="TextBox 4"/>
          <p:cNvSpPr txBox="1"/>
          <p:nvPr/>
        </p:nvSpPr>
        <p:spPr>
          <a:xfrm>
            <a:off x="685800" y="2409332"/>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A repository at concrete-strength/ that passes Restart and Run All on a machine that has never seen it.</a:t>
            </a:r>
          </a:p>
        </p:txBody>
      </p:sp>
      <p:sp>
        <p:nvSpPr>
          <p:cNvPr id="6" name="TextBox 5"/>
          <p:cNvSpPr txBox="1"/>
          <p:nvPr/>
        </p:nvSpPr>
        <p:spPr>
          <a:xfrm>
            <a:off x="685800" y="3162821"/>
            <a:ext cx="5204307" cy="372172"/>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A README answering the five questions, in half a page.</a:t>
            </a:r>
          </a:p>
        </p:txBody>
      </p:sp>
      <p:sp>
        <p:nvSpPr>
          <p:cNvPr id="7" name="TextBox 6"/>
          <p:cNvSpPr txBox="1"/>
          <p:nvPr/>
        </p:nvSpPr>
        <p:spPr>
          <a:xfrm>
            <a:off x="685800" y="3589858"/>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A requirements.txt with pinned versions of the packages you actually import.</a:t>
            </a:r>
          </a:p>
        </p:txBody>
      </p:sp>
      <p:sp>
        <p:nvSpPr>
          <p:cNvPr id="8" name="TextBox 7"/>
          <p:cNvSpPr txBox="1"/>
          <p:nvPr/>
        </p:nvSpPr>
        <p:spPr>
          <a:xfrm>
            <a:off x="685800" y="4343347"/>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A contribution log per member, checkable against the commit history.</a:t>
            </a:r>
          </a:p>
        </p:txBody>
      </p:sp>
      <p:sp>
        <p:nvSpPr>
          <p:cNvPr id="9" name="TextBox 8"/>
          <p:cNvSpPr txBox="1"/>
          <p:nvPr/>
        </p:nvSpPr>
        <p:spPr>
          <a:xfrm>
            <a:off x="685800" y="5096836"/>
            <a:ext cx="5204307" cy="372172"/>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An AI-use declaration.</a:t>
            </a:r>
          </a:p>
        </p:txBody>
      </p:sp>
      <p:sp>
        <p:nvSpPr>
          <p:cNvPr id="10" name="TextBox 9"/>
          <p:cNvSpPr txBox="1"/>
          <p:nvPr/>
        </p:nvSpPr>
        <p:spPr>
          <a:xfrm>
            <a:off x="685800" y="5523873"/>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This is Project Milestone 4: the repository freeze candidate.</a:t>
            </a:r>
          </a:p>
        </p:txBody>
      </p:sp>
      <p:sp>
        <p:nvSpPr>
          <p:cNvPr id="11" name="Rounded Rectangle 10"/>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Your clinic slot</a:t>
            </a:r>
          </a:p>
        </p:txBody>
      </p:sp>
      <p:sp>
        <p:nvSpPr>
          <p:cNvPr id="13" name="TextBox 12"/>
          <p:cNvSpPr txBox="1"/>
          <p:nvPr/>
        </p:nvSpPr>
        <p:spPr>
          <a:xfrm>
            <a:off x="6575907" y="2496312"/>
            <a:ext cx="4655667" cy="331535"/>
          </a:xfrm>
          <a:prstGeom prst="rect">
            <a:avLst/>
          </a:prstGeom>
          <a:noFill/>
        </p:spPr>
        <p:txBody>
          <a:bodyPr wrap="square" lIns="0" rIns="0" tIns="0" bIns="0" anchor="t">
            <a:spAutoFit/>
          </a:bodyPr>
          <a:lstStyle/>
          <a:p>
            <a:pPr algn="l">
              <a:lnSpc>
                <a:spcPct val="114000"/>
              </a:lnSpc>
              <a:spcAft>
                <a:spcPts val="600"/>
              </a:spcAft>
            </a:pPr>
            <a:r>
              <a:rPr sz="1584" b="0" i="0">
                <a:solidFill>
                  <a:srgbClr val="334657"/>
                </a:solidFill>
                <a:latin typeface="Calibri"/>
              </a:rPr>
              <a:t>About 4 minutes per team.</a:t>
            </a:r>
          </a:p>
        </p:txBody>
      </p:sp>
      <p:sp>
        <p:nvSpPr>
          <p:cNvPr id="14" name="TextBox 13"/>
          <p:cNvSpPr txBox="1"/>
          <p:nvPr/>
        </p:nvSpPr>
        <p:spPr>
          <a:xfrm>
            <a:off x="6575907" y="3001583"/>
            <a:ext cx="4655667" cy="617351"/>
          </a:xfrm>
          <a:prstGeom prst="rect">
            <a:avLst/>
          </a:prstGeom>
          <a:noFill/>
        </p:spPr>
        <p:txBody>
          <a:bodyPr wrap="square" lIns="0" rIns="0" tIns="0" bIns="0" anchor="t">
            <a:spAutoFit/>
          </a:bodyPr>
          <a:lstStyle/>
          <a:p>
            <a:pPr algn="l">
              <a:lnSpc>
                <a:spcPct val="114000"/>
              </a:lnSpc>
              <a:spcAft>
                <a:spcPts val="600"/>
              </a:spcAft>
            </a:pPr>
            <a:r>
              <a:rPr sz="1584" b="0" i="0">
                <a:solidFill>
                  <a:srgbClr val="334657"/>
                </a:solidFill>
                <a:latin typeface="Calibri"/>
              </a:rPr>
              <a:t>Bring the checklist already filled in, and two specific questions.</a:t>
            </a:r>
          </a:p>
        </p:txBody>
      </p:sp>
      <p:sp>
        <p:nvSpPr>
          <p:cNvPr id="15" name="TextBox 14"/>
          <p:cNvSpPr txBox="1"/>
          <p:nvPr/>
        </p:nvSpPr>
        <p:spPr>
          <a:xfrm>
            <a:off x="6575907" y="3792671"/>
            <a:ext cx="4655667" cy="331535"/>
          </a:xfrm>
          <a:prstGeom prst="rect">
            <a:avLst/>
          </a:prstGeom>
          <a:noFill/>
        </p:spPr>
        <p:txBody>
          <a:bodyPr wrap="square" lIns="0" rIns="0" tIns="0" bIns="0" anchor="t">
            <a:spAutoFit/>
          </a:bodyPr>
          <a:lstStyle/>
          <a:p>
            <a:pPr algn="l">
              <a:lnSpc>
                <a:spcPct val="114000"/>
              </a:lnSpc>
              <a:spcAft>
                <a:spcPts val="600"/>
              </a:spcAft>
            </a:pPr>
            <a:r>
              <a:rPr sz="1584" b="0" i="0">
                <a:solidFill>
                  <a:srgbClr val="334657"/>
                </a:solidFill>
                <a:latin typeface="Calibri"/>
              </a:rPr>
              <a:t>Slots are on the wall.</a:t>
            </a:r>
          </a:p>
        </p:txBody>
      </p:sp>
      <p:sp>
        <p:nvSpPr>
          <p:cNvPr id="16" name="TextBox 15"/>
          <p:cNvSpPr txBox="1"/>
          <p:nvPr/>
        </p:nvSpPr>
        <p:spPr>
          <a:xfrm>
            <a:off x="6575907" y="4297943"/>
            <a:ext cx="4655667" cy="331535"/>
          </a:xfrm>
          <a:prstGeom prst="rect">
            <a:avLst/>
          </a:prstGeom>
          <a:noFill/>
        </p:spPr>
        <p:txBody>
          <a:bodyPr wrap="square" lIns="0" rIns="0" tIns="0" bIns="0" anchor="t">
            <a:spAutoFit/>
          </a:bodyPr>
          <a:lstStyle/>
          <a:p>
            <a:pPr algn="l">
              <a:lnSpc>
                <a:spcPct val="114000"/>
              </a:lnSpc>
              <a:spcAft>
                <a:spcPts val="600"/>
              </a:spcAft>
            </a:pPr>
            <a:r>
              <a:rPr sz="1584" b="0" i="0">
                <a:solidFill>
                  <a:srgbClr val="334657"/>
                </a:solidFill>
                <a:latin typeface="Calibri"/>
              </a:rPr>
              <a:t>Outside your slot: build, or start your peer review.</a:t>
            </a:r>
          </a:p>
        </p:txBody>
      </p:sp>
      <p:sp>
        <p:nvSpPr>
          <p:cNvPr id="17" name="TextBox 16"/>
          <p:cNvSpPr txBox="1"/>
          <p:nvPr/>
        </p:nvSpPr>
        <p:spPr>
          <a:xfrm>
            <a:off x="6575907" y="4803215"/>
            <a:ext cx="4655667" cy="903167"/>
          </a:xfrm>
          <a:prstGeom prst="rect">
            <a:avLst/>
          </a:prstGeom>
          <a:noFill/>
        </p:spPr>
        <p:txBody>
          <a:bodyPr wrap="square" lIns="0" rIns="0" tIns="0" bIns="0" anchor="t">
            <a:spAutoFit/>
          </a:bodyPr>
          <a:lstStyle/>
          <a:p>
            <a:pPr algn="l">
              <a:lnSpc>
                <a:spcPct val="114000"/>
              </a:lnSpc>
              <a:spcAft>
                <a:spcPts val="600"/>
              </a:spcAft>
            </a:pPr>
            <a:r>
              <a:rPr sz="1584" b="0" i="0">
                <a:solidFill>
                  <a:srgbClr val="334657"/>
                </a:solidFill>
                <a:latin typeface="Calibri"/>
              </a:rPr>
              <a:t>Teams whose repository already passes Restart and Run All should use the slot on the brief and the poster instead.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SELF-ASSESS FIRST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repository checklist — fill this in before your slot</a:t>
            </a:r>
          </a:p>
        </p:txBody>
      </p:sp>
      <p:sp>
        <p:nvSpPr>
          <p:cNvPr id="4" name="Rounded Rectangle 3"/>
          <p:cNvSpPr/>
          <p:nvPr/>
        </p:nvSpPr>
        <p:spPr>
          <a:xfrm>
            <a:off x="685800" y="1911095"/>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47040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It runs</a:t>
            </a:r>
          </a:p>
        </p:txBody>
      </p:sp>
      <p:sp>
        <p:nvSpPr>
          <p:cNvPr id="7" name="TextBox 6"/>
          <p:cNvSpPr txBox="1"/>
          <p:nvPr/>
        </p:nvSpPr>
        <p:spPr>
          <a:xfrm>
            <a:off x="1554480" y="2423159"/>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Restart and Run All passes from a clean kernel. Every path is relative. requirements.txt pins versions of the packages you import. One SEED variable, passed to the split, the folds and the model.</a:t>
            </a:r>
          </a:p>
        </p:txBody>
      </p:sp>
      <p:sp>
        <p:nvSpPr>
          <p:cNvPr id="8" name="Rounded Rectangle 7"/>
          <p:cNvSpPr/>
          <p:nvPr/>
        </p:nvSpPr>
        <p:spPr>
          <a:xfrm>
            <a:off x="685800" y="3450336"/>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0096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569208"/>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It explains itself</a:t>
            </a:r>
          </a:p>
        </p:txBody>
      </p:sp>
      <p:sp>
        <p:nvSpPr>
          <p:cNvPr id="11" name="TextBox 10"/>
          <p:cNvSpPr txBox="1"/>
          <p:nvPr/>
        </p:nvSpPr>
        <p:spPr>
          <a:xfrm>
            <a:off x="1554480" y="3962399"/>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README answers the five questions in half a page. data/raw is untouched and data/processed is rebuilt by code. Notebooks numbered in reading order. Every chart captioned with its finding.</a:t>
            </a:r>
          </a:p>
        </p:txBody>
      </p:sp>
      <p:sp>
        <p:nvSpPr>
          <p:cNvPr id="12" name="Rounded Rectangle 11"/>
          <p:cNvSpPr/>
          <p:nvPr/>
        </p:nvSpPr>
        <p:spPr>
          <a:xfrm>
            <a:off x="685800" y="4989576"/>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54888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5108448"/>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It accounts for itself</a:t>
            </a:r>
          </a:p>
        </p:txBody>
      </p:sp>
      <p:sp>
        <p:nvSpPr>
          <p:cNvPr id="15" name="TextBox 14"/>
          <p:cNvSpPr txBox="1"/>
          <p:nvPr/>
        </p:nvSpPr>
        <p:spPr>
          <a:xfrm>
            <a:off x="1554480" y="5501640"/>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A contribution log per member that matches the commit history. An AI-use declaration naming what you asked, what came back and what you checked. A conditions-of-use paragraph for your model.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DECLARING YOUR TOOLS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AI-use declaration</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it is</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short section in the README listing where you used an AI assistant, what you asked it, and what you did to check the answer.</a:t>
            </a:r>
          </a:p>
        </p:txBody>
      </p:sp>
      <p:sp>
        <p:nvSpPr>
          <p:cNvPr id="6" name="TextBox 5"/>
          <p:cNvSpPr txBox="1"/>
          <p:nvPr/>
        </p:nvSpPr>
        <p:spPr>
          <a:xfrm>
            <a:off x="685800"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course requires it</a:t>
            </a:r>
          </a:p>
        </p:txBody>
      </p:sp>
      <p:sp>
        <p:nvSpPr>
          <p:cNvPr id="7" name="TextBox 6"/>
          <p:cNvSpPr txBox="1"/>
          <p:nvPr/>
        </p:nvSpPr>
        <p:spPr>
          <a:xfrm>
            <a:off x="685800"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Because you are marked on what you can explain. A declaration makes that rule enforceable without anybody policing your keyboard.</a:t>
            </a:r>
          </a:p>
        </p:txBody>
      </p:sp>
      <p:sp>
        <p:nvSpPr>
          <p:cNvPr id="8" name="TextBox 7"/>
          <p:cNvSpPr txBox="1"/>
          <p:nvPr/>
        </p:nvSpPr>
        <p:spPr>
          <a:xfrm>
            <a:off x="685800"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a good entry looks like</a:t>
            </a:r>
          </a:p>
        </p:txBody>
      </p:sp>
      <p:sp>
        <p:nvSpPr>
          <p:cNvPr id="9" name="TextBox 8"/>
          <p:cNvSpPr txBox="1"/>
          <p:nvPr/>
        </p:nvSpPr>
        <p:spPr>
          <a:xfrm>
            <a:off x="685800"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'Asked Claude to review our pipeline for leakage. It flagged the scaler outside the split, which we confirmed by comparing scores before and after the fix.'</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a weak entry looks like</a:t>
            </a:r>
          </a:p>
        </p:txBody>
      </p:sp>
      <p:sp>
        <p:nvSpPr>
          <p:cNvPr id="11" name="TextBox 10"/>
          <p:cNvSpPr txBox="1"/>
          <p:nvPr/>
        </p:nvSpPr>
        <p:spPr>
          <a:xfrm>
            <a:off x="6347307"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'Used AI for help with code.' It says nothing a marker can check and it earns nothing.</a:t>
            </a:r>
          </a:p>
        </p:txBody>
      </p:sp>
      <p:sp>
        <p:nvSpPr>
          <p:cNvPr id="12" name="TextBox 11"/>
          <p:cNvSpPr txBox="1"/>
          <p:nvPr/>
        </p:nvSpPr>
        <p:spPr>
          <a:xfrm>
            <a:off x="6347307"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Where it is checked</a:t>
            </a:r>
          </a:p>
        </p:txBody>
      </p:sp>
      <p:sp>
        <p:nvSpPr>
          <p:cNvPr id="13" name="TextBox 12"/>
          <p:cNvSpPr txBox="1"/>
          <p:nvPr/>
        </p:nvSpPr>
        <p:spPr>
          <a:xfrm>
            <a:off x="6347307" y="3612952"/>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Week 15 viva asks two unseen questions about your own repository. Anything in your repository that nobody on the team can explain is where the marks go.</a:t>
            </a:r>
          </a:p>
        </p:txBody>
      </p:sp>
      <p:sp>
        <p:nvSpPr>
          <p:cNvPr id="14" name="TextBox 13"/>
          <p:cNvSpPr txBox="1"/>
          <p:nvPr/>
        </p:nvSpPr>
        <p:spPr>
          <a:xfrm>
            <a:off x="6347307"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The professional point</a:t>
            </a:r>
          </a:p>
        </p:txBody>
      </p:sp>
      <p:sp>
        <p:nvSpPr>
          <p:cNvPr id="15" name="TextBox 14"/>
          <p:cNvSpPr txBox="1"/>
          <p:nvPr/>
        </p:nvSpPr>
        <p:spPr>
          <a:xfrm>
            <a:off x="6347307" y="5201480"/>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Declaring your tools is normal engineering practice. You cite a standard, a datasheet and a reference; an assistant belongs in the same list.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Peer review round</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review another team's repository against the rubric, in writing.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PEER REVIEW</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Reviewing another team's repository</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Start by trying to run it</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Clone it, install requirements.txt, Restart and Run All. Ten minutes of your fifteen, and it finds more than reading ever will.</a:t>
            </a:r>
          </a:p>
        </p:txBody>
      </p:sp>
      <p:sp>
        <p:nvSpPr>
          <p:cNvPr id="6" name="TextBox 5"/>
          <p:cNvSpPr txBox="1"/>
          <p:nvPr/>
        </p:nvSpPr>
        <p:spPr>
          <a:xfrm>
            <a:off x="685800"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Then read the README against the five questions</a:t>
            </a:r>
          </a:p>
        </p:txBody>
      </p:sp>
      <p:sp>
        <p:nvSpPr>
          <p:cNvPr id="7" name="TextBox 6"/>
          <p:cNvSpPr txBox="1"/>
          <p:nvPr/>
        </p:nvSpPr>
        <p:spPr>
          <a:xfrm>
            <a:off x="685800" y="391088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Problem, data and licence, method, result with its unit, limitations. Note which are missing rather than rewriting them.</a:t>
            </a:r>
          </a:p>
        </p:txBody>
      </p:sp>
      <p:sp>
        <p:nvSpPr>
          <p:cNvPr id="8" name="TextBox 7"/>
          <p:cNvSpPr txBox="1"/>
          <p:nvPr/>
        </p:nvSpPr>
        <p:spPr>
          <a:xfrm>
            <a:off x="685800"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Check one number end to end</a:t>
            </a:r>
          </a:p>
        </p:txBody>
      </p:sp>
      <p:sp>
        <p:nvSpPr>
          <p:cNvPr id="9" name="TextBox 8"/>
          <p:cNvSpPr txBox="1"/>
          <p:nvPr/>
        </p:nvSpPr>
        <p:spPr>
          <a:xfrm>
            <a:off x="685800" y="5201480"/>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Pick the headline result and trace it back through the notebook to the raw file. If you cannot, that is your most useful finding.</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Mark against the rubric they were given</a:t>
            </a:r>
          </a:p>
        </p:txBody>
      </p:sp>
      <p:sp>
        <p:nvSpPr>
          <p:cNvPr id="11" name="TextBox 10"/>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team that made a different defensible choice has not made an error. Say what the rubric asks and where their work sits against it.</a:t>
            </a:r>
          </a:p>
        </p:txBody>
      </p:sp>
      <p:sp>
        <p:nvSpPr>
          <p:cNvPr id="12" name="TextBox 11"/>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Name two strengths and two specific fixes</a:t>
            </a:r>
          </a:p>
        </p:txBody>
      </p:sp>
      <p:sp>
        <p:nvSpPr>
          <p:cNvPr id="13" name="TextBox 12"/>
          <p:cNvSpPr txBox="1"/>
          <p:nvPr/>
        </p:nvSpPr>
        <p:spPr>
          <a:xfrm>
            <a:off x="6347307"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Specific means a file and a line. 'Improve the documentation' is unusable; 'README has no licence for the dataset' can be fixed in a minute.</a:t>
            </a:r>
          </a:p>
        </p:txBody>
      </p:sp>
      <p:sp>
        <p:nvSpPr>
          <p:cNvPr id="14" name="TextBox 13"/>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expect to fix your own repository afterwards</a:t>
            </a:r>
          </a:p>
        </p:txBody>
      </p:sp>
      <p:sp>
        <p:nvSpPr>
          <p:cNvPr id="15" name="TextBox 14"/>
          <p:cNvSpPr txBox="1"/>
          <p:nvPr/>
        </p:nvSpPr>
        <p:spPr>
          <a:xfrm>
            <a:off x="6347307" y="5499414"/>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Most teams find one of their own defects while reviewing somebody else's. That is the intended outcome of the round.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 review comment somebody can act on</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Four parts, and then two rules for the set. A comment missing any of the four wastes the reviewer's time and the author's.</a:t>
            </a:r>
          </a:p>
        </p:txBody>
      </p:sp>
      <p:sp>
        <p:nvSpPr>
          <p:cNvPr id="5" name="Rounded Rectangle 4"/>
          <p:cNvSpPr/>
          <p:nvPr/>
        </p:nvSpPr>
        <p:spPr>
          <a:xfrm>
            <a:off x="685800" y="27323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Where it is. The file and, where you can, the line or the cell number.</a:t>
            </a:r>
          </a:p>
        </p:txBody>
      </p:sp>
      <p:sp>
        <p:nvSpPr>
          <p:cNvPr id="8" name="Rounded Rectangle 7"/>
          <p:cNvSpPr/>
          <p:nvPr/>
        </p:nvSpPr>
        <p:spPr>
          <a:xfrm>
            <a:off x="685800" y="31895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2444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2352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What you observed. Something checkable: 'cell 12 reads C:/Users/amina/Desktop/data.csv'.</a:t>
            </a:r>
          </a:p>
        </p:txBody>
      </p:sp>
      <p:sp>
        <p:nvSpPr>
          <p:cNvPr id="11" name="Rounded Rectangle 10"/>
          <p:cNvSpPr/>
          <p:nvPr/>
        </p:nvSpPr>
        <p:spPr>
          <a:xfrm>
            <a:off x="685800" y="36467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7016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6924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What it means for the reader. 'The notebook cannot run on any other machine, so I could not verify any of your numbers.'</a:t>
            </a:r>
          </a:p>
        </p:txBody>
      </p:sp>
      <p:sp>
        <p:nvSpPr>
          <p:cNvPr id="14" name="Rounded Rectangle 13"/>
          <p:cNvSpPr/>
          <p:nvPr/>
        </p:nvSpPr>
        <p:spPr>
          <a:xfrm>
            <a:off x="685800" y="41039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1588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1496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What would fix it. 'Move the file into data/raw/ and read it with a relative path.'</a:t>
            </a:r>
          </a:p>
        </p:txBody>
      </p:sp>
      <p:sp>
        <p:nvSpPr>
          <p:cNvPr id="17" name="Rounded Rectangle 16"/>
          <p:cNvSpPr/>
          <p:nvPr/>
        </p:nvSpPr>
        <p:spPr>
          <a:xfrm>
            <a:off x="685800" y="45611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6160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6068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Then rank your findings, and lead with the one that blocked you. A reviewer who lists nine small things and buries the blocker has not helped.</a:t>
            </a:r>
          </a:p>
        </p:txBody>
      </p:sp>
      <p:sp>
        <p:nvSpPr>
          <p:cNvPr id="20" name="Rounded Rectangle 19"/>
          <p:cNvSpPr/>
          <p:nvPr/>
        </p:nvSpPr>
        <p:spPr>
          <a:xfrm>
            <a:off x="685800" y="5018347"/>
            <a:ext cx="10820095" cy="60678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073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064067"/>
            <a:ext cx="9814255" cy="515345"/>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And write one genuine strength with the same specificity. 'Your ablation table reports two features that did nothing, with the numbers' is a real compliment; 'good work' is not.</a:t>
            </a:r>
          </a:p>
        </p:txBody>
      </p:sp>
      <p:sp>
        <p:nvSpPr>
          <p:cNvPr id="23" name="Rounded Rectangle 22"/>
          <p:cNvSpPr/>
          <p:nvPr/>
        </p:nvSpPr>
        <p:spPr>
          <a:xfrm>
            <a:off x="685800" y="5734860"/>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872020"/>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A comment with all four parts takes ninety seconds to write and saves the other team an hour of guessing.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Practical Test 2 briefing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format, the rules and the rubric, restated with a week to go.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TEST 2, THE LAST QUIZ AND WEEK 15</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you leave the room</a:t>
            </a:r>
          </a:p>
        </p:txBody>
      </p:sp>
      <p:sp>
        <p:nvSpPr>
          <p:cNvPr id="4" name="Rounded Rectangle 3"/>
          <p:cNvSpPr/>
          <p:nvPr/>
        </p:nvSpPr>
        <p:spPr>
          <a:xfrm>
            <a:off x="685800" y="1911095"/>
            <a:ext cx="10820095" cy="151632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57781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Practical Test 2 is next week</a:t>
            </a:r>
          </a:p>
        </p:txBody>
      </p:sp>
      <p:sp>
        <p:nvSpPr>
          <p:cNvPr id="7" name="TextBox 6"/>
          <p:cNvSpPr txBox="1"/>
          <p:nvPr/>
        </p:nvSpPr>
        <p:spPr>
          <a:xfrm>
            <a:off x="1554480" y="2423159"/>
            <a:ext cx="9631375" cy="912816"/>
          </a:xfrm>
          <a:prstGeom prst="rect">
            <a:avLst/>
          </a:prstGeom>
          <a:noFill/>
        </p:spPr>
        <p:txBody>
          <a:bodyPr wrap="square" lIns="0" rIns="0" tIns="0" bIns="0" anchor="t">
            <a:spAutoFit/>
          </a:bodyPr>
          <a:lstStyle/>
          <a:p>
            <a:pPr algn="l">
              <a:lnSpc>
                <a:spcPct val="116000"/>
              </a:lnSpc>
              <a:spcAft>
                <a:spcPts val="600"/>
              </a:spcAft>
            </a:pPr>
            <a:r>
              <a:rPr sz="1518" b="0" i="0">
                <a:solidFill>
                  <a:srgbClr val="3C4E5E"/>
                </a:solidFill>
                <a:latin typeface="Calibri"/>
              </a:rPr>
              <a:t>Individual and offline, on a laboratory machine with no internet and no AI assistants. Two hours of practical plus twenty-five minutes of written reasoning, worth 20 per cent. You get an unfamiliar dataset from your own discipline. The full briefing deck is issued with this one, and 45 of the 100 marks come from a structured answers cell.</a:t>
            </a:r>
          </a:p>
        </p:txBody>
      </p:sp>
      <p:sp>
        <p:nvSpPr>
          <p:cNvPr id="8" name="Rounded Rectangle 7"/>
          <p:cNvSpPr/>
          <p:nvPr/>
        </p:nvSpPr>
        <p:spPr>
          <a:xfrm>
            <a:off x="685800" y="3482280"/>
            <a:ext cx="10820095" cy="1237607"/>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0096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601152"/>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 last quiz of the semester — five minutes, and it closes today</a:t>
            </a:r>
          </a:p>
        </p:txBody>
      </p:sp>
      <p:sp>
        <p:nvSpPr>
          <p:cNvPr id="11" name="TextBox 10"/>
          <p:cNvSpPr txBox="1"/>
          <p:nvPr/>
        </p:nvSpPr>
        <p:spPr>
          <a:xfrm>
            <a:off x="1554480" y="3994344"/>
            <a:ext cx="9631375" cy="634103"/>
          </a:xfrm>
          <a:prstGeom prst="rect">
            <a:avLst/>
          </a:prstGeom>
          <a:noFill/>
        </p:spPr>
        <p:txBody>
          <a:bodyPr wrap="square" lIns="0" rIns="0" tIns="0" bIns="0" anchor="t">
            <a:spAutoFit/>
          </a:bodyPr>
          <a:lstStyle/>
          <a:p>
            <a:pPr algn="l">
              <a:lnSpc>
                <a:spcPct val="116000"/>
              </a:lnSpc>
              <a:spcAft>
                <a:spcPts val="600"/>
              </a:spcAft>
            </a:pPr>
            <a:r>
              <a:rPr sz="1518" b="0" i="0">
                <a:solidFill>
                  <a:srgbClr val="3C4E5E"/>
                </a:solidFill>
                <a:latin typeface="Calibri"/>
              </a:rPr>
              <a:t>Reproducibility, with two of the five drawn from earlier weeks. Worth one per cent, and your best ten of twelve count, so this is the last score you can bank.</a:t>
            </a:r>
          </a:p>
        </p:txBody>
      </p:sp>
      <p:sp>
        <p:nvSpPr>
          <p:cNvPr id="12" name="Rounded Rectangle 11"/>
          <p:cNvSpPr/>
          <p:nvPr/>
        </p:nvSpPr>
        <p:spPr>
          <a:xfrm>
            <a:off x="685800" y="4774751"/>
            <a:ext cx="10820095" cy="151632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44147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4893623"/>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Project Milestone 4 and Week 15</a:t>
            </a:r>
          </a:p>
        </p:txBody>
      </p:sp>
      <p:sp>
        <p:nvSpPr>
          <p:cNvPr id="15" name="TextBox 14"/>
          <p:cNvSpPr txBox="1"/>
          <p:nvPr/>
        </p:nvSpPr>
        <p:spPr>
          <a:xfrm>
            <a:off x="1554480" y="5286815"/>
            <a:ext cx="9631375" cy="912816"/>
          </a:xfrm>
          <a:prstGeom prst="rect">
            <a:avLst/>
          </a:prstGeom>
          <a:noFill/>
        </p:spPr>
        <p:txBody>
          <a:bodyPr wrap="square" lIns="0" rIns="0" tIns="0" bIns="0" anchor="t">
            <a:spAutoFit/>
          </a:bodyPr>
          <a:lstStyle/>
          <a:p>
            <a:pPr algn="l">
              <a:lnSpc>
                <a:spcPct val="116000"/>
              </a:lnSpc>
              <a:spcAft>
                <a:spcPts val="600"/>
              </a:spcAft>
            </a:pPr>
            <a:r>
              <a:rPr sz="1518" b="0" i="0">
                <a:solidFill>
                  <a:srgbClr val="3C4E5E"/>
                </a:solidFill>
                <a:latin typeface="Calibri"/>
              </a:rPr>
              <a:t>PM4 is today's repository freeze candidate plus the peer review you received and your written response to it. Due at the Week 15 session: the repository, a two-page engineering brief, a one-page poster, the AI-use declaration, your individual contribution log and a 500-word reflection.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363835"/>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Work is repeatable when you can rerun it. It is reproducible when somebody else can, on another machine, from what you gave them.</a:t>
            </a:r>
          </a:p>
        </p:txBody>
      </p:sp>
      <p:sp>
        <p:nvSpPr>
          <p:cNvPr id="6" name="Oval 5"/>
          <p:cNvSpPr/>
          <p:nvPr/>
        </p:nvSpPr>
        <p:spPr>
          <a:xfrm>
            <a:off x="685800" y="237551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320651"/>
            <a:ext cx="10271455" cy="627086"/>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Restart and Run All from a clean kernel is the acceptance test. A notebook that only works because of variables in memory will fail on a reviewer's machine.</a:t>
            </a:r>
          </a:p>
        </p:txBody>
      </p:sp>
      <p:sp>
        <p:nvSpPr>
          <p:cNvPr id="8" name="Oval 7"/>
          <p:cNvSpPr/>
          <p:nvPr/>
        </p:nvSpPr>
        <p:spPr>
          <a:xfrm>
            <a:off x="685800" y="304832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993458"/>
            <a:ext cx="10271455" cy="363835"/>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Relative paths and pinned package versions between them prevent most first-cell failures.</a:t>
            </a:r>
          </a:p>
        </p:txBody>
      </p:sp>
      <p:sp>
        <p:nvSpPr>
          <p:cNvPr id="10" name="Oval 9"/>
          <p:cNvSpPr/>
          <p:nvPr/>
        </p:nvSpPr>
        <p:spPr>
          <a:xfrm>
            <a:off x="685800" y="345787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403013"/>
            <a:ext cx="10271455" cy="627086"/>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One SEED variable, passed to the split, the folds and the model. A seed makes a run repeatable and says nothing about whether the result is right.</a:t>
            </a:r>
          </a:p>
        </p:txBody>
      </p:sp>
      <p:sp>
        <p:nvSpPr>
          <p:cNvPr id="12" name="Oval 11"/>
          <p:cNvSpPr/>
          <p:nvPr/>
        </p:nvSpPr>
        <p:spPr>
          <a:xfrm>
            <a:off x="685800" y="413068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075820"/>
            <a:ext cx="10271455" cy="363835"/>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data/raw is never edited. Everything in data/processed is rebuilt from raw by code, so it can be deleted and remade.</a:t>
            </a:r>
          </a:p>
        </p:txBody>
      </p:sp>
      <p:sp>
        <p:nvSpPr>
          <p:cNvPr id="14" name="Oval 13"/>
          <p:cNvSpPr/>
          <p:nvPr/>
        </p:nvSpPr>
        <p:spPr>
          <a:xfrm>
            <a:off x="685800" y="454024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485376"/>
            <a:ext cx="10271455" cy="627086"/>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A README answers five questions in half a page: problem, data and licence, method, result with its unit, limitations and conditions of use.</a:t>
            </a:r>
          </a:p>
        </p:txBody>
      </p:sp>
      <p:sp>
        <p:nvSpPr>
          <p:cNvPr id="16" name="Oval 15"/>
          <p:cNvSpPr/>
          <p:nvPr/>
        </p:nvSpPr>
        <p:spPr>
          <a:xfrm>
            <a:off x="685800" y="521304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158183"/>
            <a:ext cx="10271455" cy="363835"/>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Every caption states a finding with a number in it. Read your captions in order and they should tell the story.</a:t>
            </a:r>
          </a:p>
        </p:txBody>
      </p:sp>
      <p:sp>
        <p:nvSpPr>
          <p:cNvPr id="18" name="Oval 17"/>
          <p:cNvSpPr/>
          <p:nvPr/>
        </p:nvSpPr>
        <p:spPr>
          <a:xfrm>
            <a:off x="685800" y="562260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567738"/>
            <a:ext cx="10271455" cy="363835"/>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A review comment names the file, what you observed, what it meant for the reader, and what would fix it.</a:t>
            </a:r>
          </a:p>
        </p:txBody>
      </p:sp>
      <p:sp>
        <p:nvSpPr>
          <p:cNvPr id="20" name="Oval 19"/>
          <p:cNvSpPr/>
          <p:nvPr/>
        </p:nvSpPr>
        <p:spPr>
          <a:xfrm>
            <a:off x="685800" y="603215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5977294"/>
            <a:ext cx="10271455" cy="363835"/>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An AI-use declaration says what you asked, what came back, and what you did to check it. The checking is what is marked.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 reviewer clones your repository and the first cell fails. Name the two most likely causes and the fix for each.</a:t>
            </a:r>
          </a:p>
        </p:txBody>
      </p:sp>
      <p:sp>
        <p:nvSpPr>
          <p:cNvPr id="6" name="Oval 5"/>
          <p:cNvSpPr/>
          <p:nvPr/>
        </p:nvSpPr>
        <p:spPr>
          <a:xfrm>
            <a:off x="685800" y="282254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785969"/>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Your requirements.txt lists 'pandas' and 'scikit-learn' with no versions. What will go wrong, and when?</a:t>
            </a:r>
          </a:p>
        </p:txBody>
      </p:sp>
      <p:sp>
        <p:nvSpPr>
          <p:cNvPr id="8" name="Oval 7"/>
          <p:cNvSpPr/>
          <p:nvPr/>
        </p:nvSpPr>
        <p:spPr>
          <a:xfrm>
            <a:off x="685800" y="369741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60842"/>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fixed the seed and your reported MAE is now stable. A reviewer asks how much it moves with the seed. What should you have measured?</a:t>
            </a:r>
          </a:p>
        </p:txBody>
      </p:sp>
      <p:sp>
        <p:nvSpPr>
          <p:cNvPr id="10" name="Oval 9"/>
          <p:cNvSpPr/>
          <p:nvPr/>
        </p:nvSpPr>
        <p:spPr>
          <a:xfrm>
            <a:off x="685800" y="457229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535715"/>
            <a:ext cx="10134295"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Your notebook cleans the raw file in place and overwrites it. Name two things you can no longer do.</a:t>
            </a:r>
          </a:p>
        </p:txBody>
      </p:sp>
      <p:sp>
        <p:nvSpPr>
          <p:cNvPr id="12" name="Oval 11"/>
          <p:cNvSpPr/>
          <p:nvPr/>
        </p:nvSpPr>
        <p:spPr>
          <a:xfrm>
            <a:off x="685800" y="510116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5064592"/>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are reviewing a team that made a different but defensible modelling choice from yours. What do you write?</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First cell fails on a clone?</a:t>
            </a:r>
          </a:p>
        </p:txBody>
      </p:sp>
      <p:sp>
        <p:nvSpPr>
          <p:cNvPr id="6" name="TextBox 5"/>
          <p:cNvSpPr txBox="1"/>
          <p:nvPr/>
        </p:nvSpPr>
        <p:spPr>
          <a:xfrm>
            <a:off x="1216152" y="2203703"/>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An absolute path, fixed by moving the file into data/raw and reading it with a relative path. Or a missing package, fixed by a requirements.txt with pinned versions. Those two account for most first-cell failures.</a:t>
            </a:r>
          </a:p>
        </p:txBody>
      </p:sp>
      <p:sp>
        <p:nvSpPr>
          <p:cNvPr id="7" name="Oval 6"/>
          <p:cNvSpPr/>
          <p:nvPr/>
        </p:nvSpPr>
        <p:spPr>
          <a:xfrm>
            <a:off x="685800" y="3407734"/>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71158"/>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Unpinned versions?</a:t>
            </a:r>
          </a:p>
        </p:txBody>
      </p:sp>
      <p:sp>
        <p:nvSpPr>
          <p:cNvPr id="9" name="TextBox 8"/>
          <p:cNvSpPr txBox="1"/>
          <p:nvPr/>
        </p:nvSpPr>
        <p:spPr>
          <a:xfrm>
            <a:off x="1216152" y="3663766"/>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You have recorded which packages you used and not which versions, so a later install gets whatever is current. It will break when an API changes, which usually happens months later when you have forgotten the analysis. Write pandas==2.2.1.</a:t>
            </a:r>
          </a:p>
        </p:txBody>
      </p:sp>
      <p:sp>
        <p:nvSpPr>
          <p:cNvPr id="10" name="Oval 9"/>
          <p:cNvSpPr/>
          <p:nvPr/>
        </p:nvSpPr>
        <p:spPr>
          <a:xfrm>
            <a:off x="685800" y="4867797"/>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831221"/>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How much does it move with the seed?</a:t>
            </a:r>
          </a:p>
        </p:txBody>
      </p:sp>
      <p:sp>
        <p:nvSpPr>
          <p:cNvPr id="12" name="TextBox 11"/>
          <p:cNvSpPr txBox="1"/>
          <p:nvPr/>
        </p:nvSpPr>
        <p:spPr>
          <a:xfrm>
            <a:off x="1216152" y="5123829"/>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Run three or four seeds and report the spread, or report the cross-validated mean with its standard deviation across folds. A single number from a fixed seed describes one draw, and the spread is what tells a reader how much confidence it deserves.</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Cleaning the raw file in place?</a:t>
            </a:r>
          </a:p>
        </p:txBody>
      </p:sp>
      <p:sp>
        <p:nvSpPr>
          <p:cNvPr id="15" name="TextBox 14"/>
          <p:cNvSpPr txBox="1"/>
          <p:nvPr/>
        </p:nvSpPr>
        <p:spPr>
          <a:xfrm>
            <a:off x="6854799" y="2203703"/>
            <a:ext cx="4614519" cy="1381594"/>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You can no longer say what the data looked like when it arrived, and you can no longer redo the analysis with a different cleaning decision. You have also made a second run of the same notebook clean an already-cleaned file, which may quietly change the numbers again.</a:t>
            </a:r>
          </a:p>
        </p:txBody>
      </p:sp>
      <p:sp>
        <p:nvSpPr>
          <p:cNvPr id="16" name="Oval 15"/>
          <p:cNvSpPr/>
          <p:nvPr/>
        </p:nvSpPr>
        <p:spPr>
          <a:xfrm>
            <a:off x="6324447" y="365845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621874"/>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A different defensible choice?</a:t>
            </a:r>
          </a:p>
        </p:txBody>
      </p:sp>
      <p:sp>
        <p:nvSpPr>
          <p:cNvPr id="18" name="TextBox 17"/>
          <p:cNvSpPr txBox="1"/>
          <p:nvPr/>
        </p:nvSpPr>
        <p:spPr>
          <a:xfrm>
            <a:off x="6854799" y="3914482"/>
            <a:ext cx="4614519" cy="1381594"/>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Say that it is defensible, and review it against the rubric instead of against your approach. Then ask the question that tests it: what did that choice cost, and did they measure it? A reviewer's job is to check the reasoning rather than to impose their own method.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Repeatable</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You can run it again yourself and get the same numbers.</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Reproducible</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Somebody else can, on another machine, from what you gave them.</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Repository</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project folder, with its history. The unit of work you hand in.</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README.md</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Half a page answering five questions. The first thing a reviewer opens.</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requirements.txt</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packages and their pinned versions. pip install -r rebuilds them.</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pip freeze</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Writes the installed packages and versions. In Colab, cut the output down.</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Pinned version</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pandas==2.2.1 rather than pandas. What makes an install reproducible.</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Relative path</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Written from the repository folder, so it resolves on any machine.</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Absolute path</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Written from the root of a disk. Works on exactly one machine.</a:t>
            </a:r>
          </a:p>
        </p:txBody>
      </p:sp>
      <p:sp>
        <p:nvSpPr>
          <p:cNvPr id="22" name="TextBox 21"/>
          <p:cNvSpPr txBox="1"/>
          <p:nvPr/>
        </p:nvSpPr>
        <p:spPr>
          <a:xfrm>
            <a:off x="685800"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Seed (random_state)</a:t>
            </a:r>
          </a:p>
        </p:txBody>
      </p:sp>
      <p:sp>
        <p:nvSpPr>
          <p:cNvPr id="23" name="TextBox 22"/>
          <p:cNvSpPr txBox="1"/>
          <p:nvPr/>
        </p:nvSpPr>
        <p:spPr>
          <a:xfrm>
            <a:off x="685800"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Pins every random operation so a run is repeatable.</a:t>
            </a:r>
          </a:p>
        </p:txBody>
      </p:sp>
      <p:sp>
        <p:nvSpPr>
          <p:cNvPr id="24" name="TextBox 23"/>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Restart and Run All</a:t>
            </a:r>
          </a:p>
        </p:txBody>
      </p:sp>
      <p:sp>
        <p:nvSpPr>
          <p:cNvPr id="25" name="TextBox 24"/>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Clears memory and runs the notebook as written. The acceptance test.</a:t>
            </a:r>
          </a:p>
        </p:txBody>
      </p:sp>
      <p:sp>
        <p:nvSpPr>
          <p:cNvPr id="26" name="TextBox 25"/>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data/raw</a:t>
            </a:r>
          </a:p>
        </p:txBody>
      </p:sp>
      <p:sp>
        <p:nvSpPr>
          <p:cNvPr id="27" name="TextBox 26"/>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Exactly as it arrived. Never edited, never overwritten.</a:t>
            </a:r>
          </a:p>
        </p:txBody>
      </p:sp>
      <p:sp>
        <p:nvSpPr>
          <p:cNvPr id="28" name="TextBox 27"/>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data/processed</a:t>
            </a:r>
          </a:p>
        </p:txBody>
      </p:sp>
      <p:sp>
        <p:nvSpPr>
          <p:cNvPr id="29" name="TextBox 28"/>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Rebuilt from raw by code in src/, so it can be deleted and remade.</a:t>
            </a:r>
          </a:p>
        </p:txBody>
      </p:sp>
      <p:sp>
        <p:nvSpPr>
          <p:cNvPr id="30" name="TextBox 29"/>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.gitignore</a:t>
            </a:r>
          </a:p>
        </p:txBody>
      </p:sp>
      <p:sp>
        <p:nvSpPr>
          <p:cNvPr id="31" name="TextBox 30"/>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Keeps large data files and secrets out of the commit history.</a:t>
            </a:r>
          </a:p>
        </p:txBody>
      </p:sp>
      <p:sp>
        <p:nvSpPr>
          <p:cNvPr id="32" name="TextBox 31"/>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src/</a:t>
            </a:r>
          </a:p>
        </p:txBody>
      </p:sp>
      <p:sp>
        <p:nvSpPr>
          <p:cNvPr id="33" name="TextBox 32"/>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functions the notebooks call. Code you would defend lives here.</a:t>
            </a:r>
          </a:p>
        </p:txBody>
      </p:sp>
      <p:sp>
        <p:nvSpPr>
          <p:cNvPr id="34" name="TextBox 33"/>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Commit message</a:t>
            </a:r>
          </a:p>
        </p:txBody>
      </p:sp>
      <p:sp>
        <p:nvSpPr>
          <p:cNvPr id="35" name="TextBox 34"/>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What changed and why. This is what your contribution log is checked against.</a:t>
            </a:r>
          </a:p>
        </p:txBody>
      </p:sp>
      <p:sp>
        <p:nvSpPr>
          <p:cNvPr id="36" name="TextBox 35"/>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Contribution log</a:t>
            </a:r>
          </a:p>
        </p:txBody>
      </p:sp>
      <p:sp>
        <p:nvSpPr>
          <p:cNvPr id="37" name="TextBox 36"/>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Who did what, with commit evidence. Required per member.</a:t>
            </a:r>
          </a:p>
        </p:txBody>
      </p:sp>
      <p:sp>
        <p:nvSpPr>
          <p:cNvPr id="38" name="TextBox 37"/>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AI-use declaration</a:t>
            </a:r>
          </a:p>
        </p:txBody>
      </p:sp>
      <p:sp>
        <p:nvSpPr>
          <p:cNvPr id="39" name="TextBox 38"/>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What you asked, what came back, what you checked. The checking is marked.</a:t>
            </a:r>
          </a:p>
        </p:txBody>
      </p:sp>
      <p:sp>
        <p:nvSpPr>
          <p:cNvPr id="40" name="TextBox 39"/>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Conditions of use</a:t>
            </a:r>
          </a:p>
        </p:txBody>
      </p:sp>
      <p:sp>
        <p:nvSpPr>
          <p:cNvPr id="41" name="TextBox 40"/>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input range and plant conditions under which your model holds.</a:t>
            </a:r>
          </a:p>
        </p:txBody>
      </p:sp>
      <p:sp>
        <p:nvSpPr>
          <p:cNvPr id="42" name="TextBox 41"/>
          <p:cNvSpPr txBox="1"/>
          <p:nvPr/>
        </p:nvSpPr>
        <p:spPr>
          <a:xfrm>
            <a:off x="6324447"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Peer review</a:t>
            </a:r>
          </a:p>
        </p:txBody>
      </p:sp>
      <p:sp>
        <p:nvSpPr>
          <p:cNvPr id="43" name="TextBox 42"/>
          <p:cNvSpPr txBox="1"/>
          <p:nvPr/>
        </p:nvSpPr>
        <p:spPr>
          <a:xfrm>
            <a:off x="6324447"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Reviewing another team's work against the published rubric, in writing.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a repository somebody can run</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folder</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concrete-strength/ with README.md · requirements.txt · data/raw · data/processed · notebooks/ · src/ · .gitignore</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acceptance test</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Restart and Run All from a clean kernel. Then clone onto another machine, install, and run it again.</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Paths</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pd.read_csv("data/raw/concrete_strength.csv") — relative, always. Never C:/Users/.</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Randomness</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SEED = 42 at the top, passed to the split, the folds and the model. Then report the spread as well.</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Environment</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pip freeze &gt; requirements.txt, then cut it down to what you import and pin every version with ==.</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README, five questions, half a page</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Problem · data and licence · method · result with its unit and spread · limitations and conditions of use.</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Captions</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State the finding with a number. Read your captions in order and they should tell the story.</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Review comment</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File and line · what you observed · what it meant for the reader · what would fix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13</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 notebook that will not run elsewhere, a hard-coded path, and a seed that was never set.</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Scan the code. First box is your registration number, off your card.</a:t>
            </a:r>
          </a:p>
        </p:txBody>
      </p:sp>
      <p:sp>
        <p:nvSpPr>
          <p:cNvPr id="8" name="Oval 7"/>
          <p:cNvSpPr/>
          <p:nvPr/>
        </p:nvSpPr>
        <p:spPr>
          <a:xfrm>
            <a:off x="704088" y="445389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380742"/>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Two of the five come from earlier weeks.</a:t>
            </a:r>
          </a:p>
        </p:txBody>
      </p:sp>
      <p:sp>
        <p:nvSpPr>
          <p:cNvPr id="10" name="Oval 9"/>
          <p:cNvSpPr/>
          <p:nvPr/>
        </p:nvSpPr>
        <p:spPr>
          <a:xfrm>
            <a:off x="704088" y="4882240"/>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809088"/>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One attempt, from the Google account you are signed in to.</a:t>
            </a:r>
          </a:p>
        </p:txBody>
      </p:sp>
      <p:sp>
        <p:nvSpPr>
          <p:cNvPr id="12" name="Oval 11"/>
          <p:cNvSpPr/>
          <p:nvPr/>
        </p:nvSpPr>
        <p:spPr>
          <a:xfrm>
            <a:off x="704088" y="531058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237434"/>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Open for 48 hours if the network fails, then it closes itself.</a:t>
            </a:r>
          </a:p>
        </p:txBody>
      </p:sp>
      <p:sp>
        <p:nvSpPr>
          <p:cNvPr id="14" name="Oval 13"/>
          <p:cNvSpPr/>
          <p:nvPr/>
        </p:nvSpPr>
        <p:spPr>
          <a:xfrm>
            <a:off x="704088" y="5738932"/>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5665780"/>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One per cent each. Tap View score and read the feedback.</a:t>
            </a:r>
          </a:p>
        </p:txBody>
      </p:sp>
      <p:sp>
        <p:nvSpPr>
          <p:cNvPr id="16" name="Oval 15"/>
          <p:cNvSpPr/>
          <p:nvPr/>
        </p:nvSpPr>
        <p:spPr>
          <a:xfrm>
            <a:off x="704088" y="616727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6094126"/>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Twelve this semester, best ten count. No resits.</a:t>
            </a:r>
          </a:p>
        </p:txBody>
      </p:sp>
      <p:sp>
        <p:nvSpPr>
          <p:cNvPr id="18" name="Rectangle 17"/>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quiz_CML3112_W13.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Your repository now runs on a machine</a:t>
            </a:r>
          </a:p>
          <a:p>
            <a:pPr algn="l">
              <a:lnSpc>
                <a:spcPct val="110000"/>
              </a:lnSpc>
              <a:spcAft>
                <a:spcPts val="600"/>
              </a:spcAft>
            </a:pPr>
            <a:r>
              <a:rPr sz="3400" b="1" i="0">
                <a:solidFill>
                  <a:srgbClr val="FFFFFF"/>
                </a:solidFill>
                <a:latin typeface="Cambria"/>
              </a:rPr>
              <a:t>that has never seen it.</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cloned somebody else's work, tried to run it, and found out what was missing. Then somebody did the same to yours. Everything you hand in from here on can be checked by a stranger, which is what makes your numbers defensible.</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Practical Test 2. Two hours, offline, an unfamiliar dataset from your own discipline.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