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2496858363740a2" /><Relationship Type="http://schemas.openxmlformats.org/officeDocument/2006/relationships/extended-properties" Target="/docProps/app.xml" Id="R02616558c93743d1" /><Relationship Type="http://schemas.openxmlformats.org/officeDocument/2006/relationships/officeDocument" Target="/ppt/presentation.xml" Id="R9e20531c613f45f4" /></Relationships>
</file>

<file path=ppt/presentation.xml><?xml version="1.0" encoding="utf-8"?>
<p:presentation xmlns:p="http://schemas.openxmlformats.org/presentationml/2006/main">
  <p:sldMasterIdLst>
    <p:sldMasterId xmlns:r="http://schemas.openxmlformats.org/officeDocument/2006/relationships" id="2147483648" r:id="R7491112d9a464865"/>
  </p:sldMasterIdLst>
  <p:notesMasterIdLst>
    <p:notesMasterId xmlns:r="http://schemas.openxmlformats.org/officeDocument/2006/relationships" r:id="Re82236b8ed834ed1"/>
  </p:notesMasterIdLst>
  <p:sldIdLst>
    <p:sldId xmlns:r="http://schemas.openxmlformats.org/officeDocument/2006/relationships" id="256" r:id="R5276b9d162d04ca6"/>
    <p:sldId xmlns:r="http://schemas.openxmlformats.org/officeDocument/2006/relationships" id="257" r:id="R774a6590f9254493"/>
    <p:sldId xmlns:r="http://schemas.openxmlformats.org/officeDocument/2006/relationships" id="258" r:id="R365449cdf4654b87"/>
    <p:sldId xmlns:r="http://schemas.openxmlformats.org/officeDocument/2006/relationships" id="259" r:id="R09e0e8a0f63c437e"/>
    <p:sldId xmlns:r="http://schemas.openxmlformats.org/officeDocument/2006/relationships" id="260" r:id="R5385457f60694aff"/>
    <p:sldId xmlns:r="http://schemas.openxmlformats.org/officeDocument/2006/relationships" id="261" r:id="R2ec1230aceb94778"/>
    <p:sldId xmlns:r="http://schemas.openxmlformats.org/officeDocument/2006/relationships" id="262" r:id="Re55aacb698c144d1"/>
    <p:sldId xmlns:r="http://schemas.openxmlformats.org/officeDocument/2006/relationships" id="263" r:id="R84c6d99bda724a0d"/>
    <p:sldId xmlns:r="http://schemas.openxmlformats.org/officeDocument/2006/relationships" id="264" r:id="R71fac5981d9e4bd1"/>
    <p:sldId xmlns:r="http://schemas.openxmlformats.org/officeDocument/2006/relationships" id="265" r:id="R4926bdb08bf545df"/>
    <p:sldId xmlns:r="http://schemas.openxmlformats.org/officeDocument/2006/relationships" id="266" r:id="R6c4842e2f70f4c23"/>
    <p:sldId xmlns:r="http://schemas.openxmlformats.org/officeDocument/2006/relationships" id="267" r:id="R49c91551dbe24937"/>
    <p:sldId xmlns:r="http://schemas.openxmlformats.org/officeDocument/2006/relationships" id="268" r:id="R5f6b625300384914"/>
    <p:sldId xmlns:r="http://schemas.openxmlformats.org/officeDocument/2006/relationships" id="269" r:id="Rc94a6a8c7ff34703"/>
    <p:sldId xmlns:r="http://schemas.openxmlformats.org/officeDocument/2006/relationships" id="270" r:id="Rb8ec1937a58848e8"/>
    <p:sldId xmlns:r="http://schemas.openxmlformats.org/officeDocument/2006/relationships" id="271" r:id="Radb01f5d54d04d23"/>
    <p:sldId xmlns:r="http://schemas.openxmlformats.org/officeDocument/2006/relationships" id="272" r:id="R3815f1ce72364bfa"/>
    <p:sldId xmlns:r="http://schemas.openxmlformats.org/officeDocument/2006/relationships" id="273" r:id="R8932f7ae841b4758"/>
    <p:sldId xmlns:r="http://schemas.openxmlformats.org/officeDocument/2006/relationships" id="274" r:id="Re9c100690d844e26"/>
    <p:sldId xmlns:r="http://schemas.openxmlformats.org/officeDocument/2006/relationships" id="275" r:id="Ra5e9e9ba338b477d"/>
    <p:sldId xmlns:r="http://schemas.openxmlformats.org/officeDocument/2006/relationships" id="276" r:id="Rd3cec595a1c24d08"/>
    <p:sldId xmlns:r="http://schemas.openxmlformats.org/officeDocument/2006/relationships" id="277" r:id="R5b20bf3a3d00493c"/>
    <p:sldId xmlns:r="http://schemas.openxmlformats.org/officeDocument/2006/relationships" id="278" r:id="R2a597231f5d945ff"/>
    <p:sldId xmlns:r="http://schemas.openxmlformats.org/officeDocument/2006/relationships" id="279" r:id="R7aaaa51f5caf4aa7"/>
    <p:sldId xmlns:r="http://schemas.openxmlformats.org/officeDocument/2006/relationships" id="280" r:id="Re7b3a6e6af26401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4ef4f3e4ae4e99" /><Relationship Type="http://schemas.openxmlformats.org/officeDocument/2006/relationships/slideMaster" Target="/ppt/slideMasters/slideMaster1.xml" Id="R7491112d9a464865" /><Relationship Type="http://schemas.openxmlformats.org/officeDocument/2006/relationships/notesMaster" Target="/ppt/notesMasters/notesMaster1.xml" Id="Re82236b8ed834ed1" /><Relationship Type="http://schemas.openxmlformats.org/officeDocument/2006/relationships/presProps" Target="/ppt/presProps.xml" Id="Ra2b9c2e981824b78" /><Relationship Type="http://schemas.openxmlformats.org/officeDocument/2006/relationships/tableStyles" Target="/ppt/tableStyles.xml" Id="Rdf05192db25a4f4e" /><Relationship Type="http://schemas.openxmlformats.org/officeDocument/2006/relationships/slide" Target="/ppt/slides/slide1.xml" Id="R5276b9d162d04ca6" /><Relationship Type="http://schemas.openxmlformats.org/officeDocument/2006/relationships/slide" Target="/ppt/slides/slide2.xml" Id="R774a6590f9254493" /><Relationship Type="http://schemas.openxmlformats.org/officeDocument/2006/relationships/slide" Target="/ppt/slides/slide3.xml" Id="R365449cdf4654b87" /><Relationship Type="http://schemas.openxmlformats.org/officeDocument/2006/relationships/slide" Target="/ppt/slides/slide4.xml" Id="R09e0e8a0f63c437e" /><Relationship Type="http://schemas.openxmlformats.org/officeDocument/2006/relationships/slide" Target="/ppt/slides/slide5.xml" Id="R5385457f60694aff" /><Relationship Type="http://schemas.openxmlformats.org/officeDocument/2006/relationships/slide" Target="/ppt/slides/slide6.xml" Id="R2ec1230aceb94778" /><Relationship Type="http://schemas.openxmlformats.org/officeDocument/2006/relationships/slide" Target="/ppt/slides/slide7.xml" Id="Re55aacb698c144d1" /><Relationship Type="http://schemas.openxmlformats.org/officeDocument/2006/relationships/slide" Target="/ppt/slides/slide8.xml" Id="R84c6d99bda724a0d" /><Relationship Type="http://schemas.openxmlformats.org/officeDocument/2006/relationships/slide" Target="/ppt/slides/slide9.xml" Id="R71fac5981d9e4bd1" /><Relationship Type="http://schemas.openxmlformats.org/officeDocument/2006/relationships/slide" Target="/ppt/slides/slide10.xml" Id="R4926bdb08bf545df" /><Relationship Type="http://schemas.openxmlformats.org/officeDocument/2006/relationships/slide" Target="/ppt/slides/slide11.xml" Id="R6c4842e2f70f4c23" /><Relationship Type="http://schemas.openxmlformats.org/officeDocument/2006/relationships/slide" Target="/ppt/slides/slide12.xml" Id="R49c91551dbe24937" /><Relationship Type="http://schemas.openxmlformats.org/officeDocument/2006/relationships/slide" Target="/ppt/slides/slide13.xml" Id="R5f6b625300384914" /><Relationship Type="http://schemas.openxmlformats.org/officeDocument/2006/relationships/slide" Target="/ppt/slides/slide14.xml" Id="Rc94a6a8c7ff34703" /><Relationship Type="http://schemas.openxmlformats.org/officeDocument/2006/relationships/slide" Target="/ppt/slides/slide15.xml" Id="Rb8ec1937a58848e8" /><Relationship Type="http://schemas.openxmlformats.org/officeDocument/2006/relationships/slide" Target="/ppt/slides/slide16.xml" Id="Radb01f5d54d04d23" /><Relationship Type="http://schemas.openxmlformats.org/officeDocument/2006/relationships/slide" Target="/ppt/slides/slide17.xml" Id="R3815f1ce72364bfa" /><Relationship Type="http://schemas.openxmlformats.org/officeDocument/2006/relationships/slide" Target="/ppt/slides/slide18.xml" Id="R8932f7ae841b4758" /><Relationship Type="http://schemas.openxmlformats.org/officeDocument/2006/relationships/slide" Target="/ppt/slides/slide19.xml" Id="Re9c100690d844e26" /><Relationship Type="http://schemas.openxmlformats.org/officeDocument/2006/relationships/slide" Target="/ppt/slides/slide20.xml" Id="Ra5e9e9ba338b477d" /><Relationship Type="http://schemas.openxmlformats.org/officeDocument/2006/relationships/slide" Target="/ppt/slides/slide21.xml" Id="Rd3cec595a1c24d08" /><Relationship Type="http://schemas.openxmlformats.org/officeDocument/2006/relationships/slide" Target="/ppt/slides/slide22.xml" Id="R5b20bf3a3d00493c" /><Relationship Type="http://schemas.openxmlformats.org/officeDocument/2006/relationships/slide" Target="/ppt/slides/slide23.xml" Id="R2a597231f5d945ff" /><Relationship Type="http://schemas.openxmlformats.org/officeDocument/2006/relationships/slide" Target="/ppt/slides/slide24.xml" Id="R7aaaa51f5caf4aa7" /><Relationship Type="http://schemas.openxmlformats.org/officeDocument/2006/relationships/slide" Target="/ppt/slides/slide25.xml" Id="Re7b3a6e6af2640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5fe8fd7fe14e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62dbcf95097485a" /><Relationship Type="http://schemas.openxmlformats.org/officeDocument/2006/relationships/notesMaster" Target="/ppt/notesMasters/notesMaster1.xml" Id="R1ee5744a1f5d4e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7a2265f9ec4ffd" /><Relationship Type="http://schemas.openxmlformats.org/officeDocument/2006/relationships/notesMaster" Target="/ppt/notesMasters/notesMaster1.xml" Id="R09c3483d157b4e5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254239ca3cf41f7" /><Relationship Type="http://schemas.openxmlformats.org/officeDocument/2006/relationships/notesMaster" Target="/ppt/notesMasters/notesMaster1.xml" Id="Rbd4beca1689644f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a20d3ace4c4e22" /><Relationship Type="http://schemas.openxmlformats.org/officeDocument/2006/relationships/notesMaster" Target="/ppt/notesMasters/notesMaster1.xml" Id="R9e1543bba9f946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abf19bcc83a2460e" /><Relationship Type="http://schemas.openxmlformats.org/officeDocument/2006/relationships/notesMaster" Target="/ppt/notesMasters/notesMaster1.xml" Id="Rc439ce3fd33d43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0aa20be475b04ee6" /><Relationship Type="http://schemas.openxmlformats.org/officeDocument/2006/relationships/notesMaster" Target="/ppt/notesMasters/notesMaster1.xml" Id="R95c18c0a04f4406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540674bfb04af6" /><Relationship Type="http://schemas.openxmlformats.org/officeDocument/2006/relationships/notesMaster" Target="/ppt/notesMasters/notesMaster1.xml" Id="R1e4aba4689bb40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d312682b86e34176" /><Relationship Type="http://schemas.openxmlformats.org/officeDocument/2006/relationships/notesMaster" Target="/ppt/notesMasters/notesMaster1.xml" Id="R5d446bdf61654961" /></Relationships>
</file>

<file path=ppt/notesSlides/_rels/notesSlide9.xml.rels>&#65279;<?xml version="1.0" encoding="utf-8"?><Relationships xmlns="http://schemas.openxmlformats.org/package/2006/relationships"><Relationship Type="http://schemas.openxmlformats.org/officeDocument/2006/relationships/slide" Target="/ppt/slides/slide9.xml" Id="R8a91e291927045ab" /><Relationship Type="http://schemas.openxmlformats.org/officeDocument/2006/relationships/notesMaster" Target="/ppt/notesMasters/notesMaster1.xml" Id="R972d1ea49983430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e68b4d717c24119" /><Relationship Type="http://schemas.openxmlformats.org/officeDocument/2006/relationships/notesMaster" Target="/ppt/notesMasters/notesMaster1.xml" Id="R48cc287abb364fa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e760ed74b914ef9" /><Relationship Type="http://schemas.openxmlformats.org/officeDocument/2006/relationships/notesMaster" Target="/ppt/notesMasters/notesMaster1.xml" Id="Rfb7c05ec5982438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e6dfc4214a64da4" /><Relationship Type="http://schemas.openxmlformats.org/officeDocument/2006/relationships/notesMaster" Target="/ppt/notesMasters/notesMaster1.xml" Id="Raeaac52dc8d148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5983769fe6549ea" /><Relationship Type="http://schemas.openxmlformats.org/officeDocument/2006/relationships/notesMaster" Target="/ppt/notesMasters/notesMaster1.xml" Id="Raf4f2cc95d1c431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2302ed04a204060" /><Relationship Type="http://schemas.openxmlformats.org/officeDocument/2006/relationships/notesMaster" Target="/ppt/notesMasters/notesMaster1.xml" Id="R16d0763bb602441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b1e4c15bc744c9a" /><Relationship Type="http://schemas.openxmlformats.org/officeDocument/2006/relationships/notesMaster" Target="/ppt/notesMasters/notesMaster1.xml" Id="Rbbe8f29170f3445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9d3931727b4a09" /><Relationship Type="http://schemas.openxmlformats.org/officeDocument/2006/relationships/notesMaster" Target="/ppt/notesMasters/notesMaster1.xml" Id="R7cd9e6a5e001415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e063234e36447fb" /><Relationship Type="http://schemas.openxmlformats.org/officeDocument/2006/relationships/notesMaster" Target="/ppt/notesMasters/notesMaster1.xml" Id="Ra13f0d14b092492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a2ff47b19d14ecf" /><Relationship Type="http://schemas.openxmlformats.org/officeDocument/2006/relationships/notesMaster" Target="/ppt/notesMasters/notesMaster1.xml" Id="Raa82dc139a9c43e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ba4e840027847a1" /><Relationship Type="http://schemas.openxmlformats.org/officeDocument/2006/relationships/notesMaster" Target="/ppt/notesMasters/notesMaster1.xml" Id="R5f5638a54ee6469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3bdfcee7d1f4e19" /><Relationship Type="http://schemas.openxmlformats.org/officeDocument/2006/relationships/notesMaster" Target="/ppt/notesMasters/notesMaster1.xml" Id="Rb605e7373bfd4ec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f36701225e04766" /><Relationship Type="http://schemas.openxmlformats.org/officeDocument/2006/relationships/notesMaster" Target="/ppt/notesMasters/notesMaster1.xml" Id="R3c0a9a683fe24b7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be59c0719b74022" /><Relationship Type="http://schemas.openxmlformats.org/officeDocument/2006/relationships/notesMaster" Target="/ppt/notesMasters/notesMaster1.xml" Id="R213bc3d1b19b4ce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e0c474e6dd64f14" /><Relationship Type="http://schemas.openxmlformats.org/officeDocument/2006/relationships/notesMaster" Target="/ppt/notesMasters/notesMaster1.xml" Id="R42b4ed684f524bb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6bbcb9509ae465a" /><Relationship Type="http://schemas.openxmlformats.org/officeDocument/2006/relationships/notesMaster" Target="/ppt/notesMasters/notesMaster1.xml" Id="R0690238122e54e7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7f8c40a8f2b4620" /><Relationship Type="http://schemas.openxmlformats.org/officeDocument/2006/relationships/notesMaster" Target="/ppt/notesMasters/notesMaster1.xml" Id="R5ac52b2f6b7041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Making the project understandable and runnable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Making the project understandable and runnable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Making the project understandable and runnable. Explain why this example is needed before running it.</a:t>
            </a:r>
          </a:p>
          <a:p xmlns:a="http://schemas.openxmlformats.org/drawingml/2006/main">
            <a:r>
              <a:t/>
            </a:r>
          </a:p>
          <a:p xmlns:a="http://schemas.openxmlformats.org/drawingml/2006/main">
            <a:r>
              <a:t>EXPLAIN</a:t>
            </a:r>
          </a:p>
          <a:p xmlns:a="http://schemas.openxmlformats.org/drawingml/2006/main">
            <a:r>
              <a:t>Run the project from a fresh session.</a:t>
            </a:r>
          </a:p>
          <a:p xmlns:a="http://schemas.openxmlformats.org/drawingml/2006/main">
            <a:r>
              <a:t/>
            </a:r>
          </a:p>
          <a:p xmlns:a="http://schemas.openxmlformats.org/drawingml/2006/main">
            <a:r>
              <a:t>Repair unclear run instructions using a fresh run.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Making the project understandable and runnable.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Package refactoring, complex repository layout and extra tooling are optional. Keep a working simple notebook.</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The models and charts already exist. The remaining task is to make the evidence understandable and runnable from the supplied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project is ready for handover when its files and written instructions reproduce its results in a fresh session. Today we check that evidence ourselves.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Reproducibility and Dependency.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Reproducibility and Dependency</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Reproducibility: Another person can use the stated data, environment and steps to check the result. Terminology varies; state the operational test.</a:t>
            </a:r>
          </a:p>
          <a:p xmlns:a="http://schemas.openxmlformats.org/drawingml/2006/main">
            <a:r>
              <a:t>Dependency: A package your code needs. Record versions actually used, rather than guessing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POINT TO THE DEFINITION</a:t>
            </a:r>
          </a:p>
          <a:p xmlns:a="http://schemas.openxmlformats.org/drawingml/2006/main">
            <a:r>
              <a:t>Reproducibility: Another person can use the stated data, environment and steps to check the result. Terminology varies; state the operational test.</a:t>
            </a:r>
          </a:p>
          <a:p xmlns:a="http://schemas.openxmlformats.org/drawingml/2006/main">
            <a:r>
              <a:t>Dependency: A package your code needs. Record versions actually used, rather than guessing them.</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Relative path and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Relative path and README</a:t>
            </a:r>
          </a:p>
          <a:p xmlns:a="http://schemas.openxmlformats.org/drawingml/2006/main">
            <a:r>
              <a:t/>
            </a:r>
          </a:p>
          <a:p xmlns:a="http://schemas.openxmlformats.org/drawingml/2006/main">
            <a:r>
              <a:t>CONNECT</a:t>
            </a:r>
          </a:p>
          <a:p xmlns:a="http://schemas.openxmlformats.org/drawingml/2006/main">
            <a:r>
              <a:t>Build on Reproducibility and Dependency. Explain why this example is needed before running it.</a:t>
            </a:r>
          </a:p>
          <a:p xmlns:a="http://schemas.openxmlformats.org/drawingml/2006/main">
            <a:r>
              <a:t/>
            </a:r>
          </a:p>
          <a:p xmlns:a="http://schemas.openxmlformats.org/drawingml/2006/main">
            <a:r>
              <a:t>EXPLAIN</a:t>
            </a:r>
          </a:p>
          <a:p xmlns:a="http://schemas.openxmlformats.org/drawingml/2006/main">
            <a:r>
              <a:t>Relative path: A location interpreted from the current working folder. It is not always relative to the notebook file itself.</a:t>
            </a:r>
          </a:p>
          <a:p xmlns:a="http://schemas.openxmlformats.org/drawingml/2006/main">
            <a:r>
              <a:t>README: The project’s instructions: question, files, data source, environment, run order, results and limitations.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POINT TO THE DEFINITION</a:t>
            </a:r>
          </a:p>
          <a:p xmlns:a="http://schemas.openxmlformats.org/drawingml/2006/main">
            <a:r>
              <a:t>Relative path: A location interpreted from the current working folder. It is not always relative to the notebook file itself.</a:t>
            </a:r>
          </a:p>
          <a:p xmlns:a="http://schemas.openxmlformats.org/drawingml/2006/main">
            <a:r>
              <a:t>README: The project’s instructions: question, files, data source, environment, run order, results and limitations.</a:t>
            </a:r>
          </a:p>
          <a:p xmlns:a="http://schemas.openxmlformats.org/drawingml/2006/main">
            <a:r>
              <a:t/>
            </a:r>
          </a:p>
          <a:p xmlns:a="http://schemas.openxmlformats.org/drawingml/2006/main">
            <a:r>
              <a:t>NEXT</a:t>
            </a:r>
          </a:p>
          <a:p xmlns:a="http://schemas.openxmlformats.org/drawingml/2006/main">
            <a:r>
              <a:t>A useful README.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useful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useful README</a:t>
            </a:r>
          </a:p>
          <a:p xmlns:a="http://schemas.openxmlformats.org/drawingml/2006/main">
            <a:r>
              <a:t/>
            </a:r>
          </a:p>
          <a:p xmlns:a="http://schemas.openxmlformats.org/drawingml/2006/main">
            <a:r>
              <a:t>CONNECT</a:t>
            </a:r>
          </a:p>
          <a:p xmlns:a="http://schemas.openxmlformats.org/drawingml/2006/main">
            <a:r>
              <a:t>Build on Relative path and README. Explain why this example is needed before running it.</a:t>
            </a:r>
          </a:p>
          <a:p xmlns:a="http://schemas.openxmlformats.org/drawingml/2006/main">
            <a:r>
              <a:t/>
            </a:r>
          </a:p>
          <a:p xmlns:a="http://schemas.openxmlformats.org/drawingml/2006/main">
            <a:r>
              <a:t>EXPLAIN</a:t>
            </a:r>
          </a:p>
          <a:p xmlns:a="http://schemas.openxmlformats.org/drawingml/2006/main">
            <a:r>
              <a:t>State the engineering question and target unit.</a:t>
            </a:r>
          </a:p>
          <a:p xmlns:a="http://schemas.openxmlformats.org/drawingml/2006/main">
            <a:r>
              <a:t/>
            </a:r>
          </a:p>
          <a:p xmlns:a="http://schemas.openxmlformats.org/drawingml/2006/main">
            <a:r>
              <a:t>List the supplied data and required software versions.</a:t>
            </a:r>
          </a:p>
          <a:p xmlns:a="http://schemas.openxmlformats.org/drawingml/2006/main">
            <a:r>
              <a:t/>
            </a:r>
          </a:p>
          <a:p xmlns:a="http://schemas.openxmlformats.org/drawingml/2006/main">
            <a:r>
              <a:t>Give the order for running the notebook from a fresh session.</a:t>
            </a:r>
          </a:p>
          <a:p xmlns:a="http://schemas.openxmlformats.org/drawingml/2006/main">
            <a:r>
              <a:t/>
            </a:r>
          </a:p>
          <a:p xmlns:a="http://schemas.openxmlformats.org/drawingml/2006/main">
            <a:r>
              <a:t>State limitations and each member’s contribution.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useful README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Someone else needs to reproduce the result.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Someone else needs to reproduce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Someone else needs to reproduce the result</a:t>
            </a:r>
          </a:p>
          <a:p xmlns:a="http://schemas.openxmlformats.org/drawingml/2006/main">
            <a:r>
              <a:t/>
            </a:r>
          </a:p>
          <a:p xmlns:a="http://schemas.openxmlformats.org/drawingml/2006/main">
            <a:r>
              <a:t>CONNECT</a:t>
            </a:r>
          </a:p>
          <a:p xmlns:a="http://schemas.openxmlformats.org/drawingml/2006/main">
            <a:r>
              <a:t>Build on A useful README. Explain why this example is needed before running it.</a:t>
            </a:r>
          </a:p>
          <a:p xmlns:a="http://schemas.openxmlformats.org/drawingml/2006/main">
            <a:r>
              <a:t/>
            </a:r>
          </a:p>
          <a:p xmlns:a="http://schemas.openxmlformats.org/drawingml/2006/main">
            <a:r>
              <a:t>EXPLAIN</a:t>
            </a:r>
          </a:p>
          <a:p xmlns:a="http://schemas.openxmlformats.org/drawingml/2006/main">
            <a:r>
              <a:t>Which instructions would a new user need?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Someone else needs to reproduce the result</a:t>
            </a:r>
          </a:p>
          <a:p xmlns:a="http://schemas.openxmlformats.org/drawingml/2006/main">
            <a:r>
              <a:t/>
            </a:r>
          </a:p>
          <a:p xmlns:a="http://schemas.openxmlformats.org/drawingml/2006/main">
            <a:r>
              <a:t>CONNECT</a:t>
            </a:r>
          </a:p>
          <a:p xmlns:a="http://schemas.openxmlformats.org/drawingml/2006/main">
            <a:r>
              <a:t>Build on the preceding slide: A useful README.</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NEXT</a:t>
            </a:r>
          </a:p>
          <a:p xmlns:a="http://schemas.openxmlformats.org/drawingml/2006/main">
            <a:r>
              <a:t>A reproducible notebook starts fresh.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reproducible notebook starts fresh.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notebook starts fresh</a:t>
            </a:r>
          </a:p>
          <a:p xmlns:a="http://schemas.openxmlformats.org/drawingml/2006/main">
            <a:r>
              <a:t/>
            </a:r>
          </a:p>
          <a:p xmlns:a="http://schemas.openxmlformats.org/drawingml/2006/main">
            <a:r>
              <a:t>CONNECT</a:t>
            </a:r>
          </a:p>
          <a:p xmlns:a="http://schemas.openxmlformats.org/drawingml/2006/main">
            <a:r>
              <a:t>Build on Someone else needs to reproduce the result. Explain why this example is needed before running it.</a:t>
            </a:r>
          </a:p>
          <a:p xmlns:a="http://schemas.openxmlformats.org/drawingml/2006/main">
            <a:r>
              <a:t/>
            </a:r>
          </a:p>
          <a:p xmlns:a="http://schemas.openxmlformats.org/drawingml/2006/main">
            <a:r>
              <a:t>EXPLAIN</a:t>
            </a:r>
          </a:p>
          <a:p xmlns:a="http://schemas.openxmlformats.org/drawingml/2006/main">
            <a:r>
              <a:t>The saved outputs must agree with a fresh run in the stated order.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reproducible notebook starts fresh</a:t>
            </a:r>
          </a:p>
          <a:p xmlns:a="http://schemas.openxmlformats.org/drawingml/2006/main">
            <a:r>
              <a:t/>
            </a:r>
          </a:p>
          <a:p xmlns:a="http://schemas.openxmlformats.org/drawingml/2006/main">
            <a:r>
              <a:t>CONNECT</a:t>
            </a:r>
          </a:p>
          <a:p xmlns:a="http://schemas.openxmlformats.org/drawingml/2006/main">
            <a:r>
              <a:t>Build on the preceding slide: Someone else needs to reproduce the result.</a:t>
            </a:r>
          </a:p>
          <a:p xmlns:a="http://schemas.openxmlformats.org/drawingml/2006/main">
            <a:r>
              <a:t/>
            </a:r>
          </a:p>
          <a:p xmlns:a="http://schemas.openxmlformats.org/drawingml/2006/main">
            <a:r>
              <a:t>LECTURER CUE</a:t>
            </a:r>
          </a:p>
          <a:p xmlns:a="http://schemas.openxmlformats.org/drawingml/2006/main">
            <a:r>
              <a:t>Demonstrate restarting, uploading the issued data, and running all. The same result also depends on data, package versions and any random seeds.</a:t>
            </a:r>
          </a:p>
          <a:p xmlns:a="http://schemas.openxmlformats.org/drawingml/2006/main">
            <a:r>
              <a:t>Source: existing course illustration figs/execution_trap.png.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Saved outputs can hide missing steps.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Saved outputs can hide missing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Saved outputs can hide missing steps</a:t>
            </a:r>
          </a:p>
          <a:p xmlns:a="http://schemas.openxmlformats.org/drawingml/2006/main">
            <a:r>
              <a:t/>
            </a:r>
          </a:p>
          <a:p xmlns:a="http://schemas.openxmlformats.org/drawingml/2006/main">
            <a:r>
              <a:t>CONNECT</a:t>
            </a:r>
          </a:p>
          <a:p xmlns:a="http://schemas.openxmlformats.org/drawingml/2006/main">
            <a:r>
              <a:t>Build on A reproducible notebook starts fresh. Explain why this example is needed before running it.</a:t>
            </a:r>
          </a:p>
          <a:p xmlns:a="http://schemas.openxmlformats.org/drawingml/2006/main">
            <a:r>
              <a:t/>
            </a:r>
          </a:p>
          <a:p xmlns:a="http://schemas.openxmlformats.org/drawingml/2006/main">
            <a:r>
              <a:t>EXPLAIN</a:t>
            </a:r>
          </a:p>
          <a:p xmlns:a="http://schemas.openxmlformats.org/drawingml/2006/main">
            <a:r>
              <a:t>A notebook can display an old answer after its inputs have changed.</a:t>
            </a:r>
          </a:p>
          <a:p xmlns:a="http://schemas.openxmlformats.org/drawingml/2006/main">
            <a:r>
              <a:t/>
            </a:r>
          </a:p>
          <a:p xmlns:a="http://schemas.openxmlformats.org/drawingml/2006/main">
            <a:r>
              <a:t>A fresh session begins without the old variables.</a:t>
            </a:r>
          </a:p>
          <a:p xmlns:a="http://schemas.openxmlformats.org/drawingml/2006/main">
            <a:r>
              <a:t/>
            </a:r>
          </a:p>
          <a:p xmlns:a="http://schemas.openxmlformats.org/drawingml/2006/main">
            <a:r>
              <a:t>Restarting and running all tests whether the stated order creates the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Saved outputs can hide missing steps</a:t>
            </a:r>
          </a:p>
          <a:p xmlns:a="http://schemas.openxmlformats.org/drawingml/2006/main">
            <a:r>
              <a:t/>
            </a:r>
          </a:p>
          <a:p xmlns:a="http://schemas.openxmlformats.org/drawingml/2006/main">
            <a:r>
              <a:t>CONNECT</a:t>
            </a:r>
          </a:p>
          <a:p xmlns:a="http://schemas.openxmlformats.org/drawingml/2006/main">
            <a:r>
              <a:t>Build on the preceding slide: A reproducible notebook starts fresh.</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A path names where a file is found.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path names where a file is found.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path names where a file is found</a:t>
            </a:r>
          </a:p>
          <a:p xmlns:a="http://schemas.openxmlformats.org/drawingml/2006/main">
            <a:r>
              <a:t/>
            </a:r>
          </a:p>
          <a:p xmlns:a="http://schemas.openxmlformats.org/drawingml/2006/main">
            <a:r>
              <a:t>CONNECT</a:t>
            </a:r>
          </a:p>
          <a:p xmlns:a="http://schemas.openxmlformats.org/drawingml/2006/main">
            <a:r>
              <a:t>Build on Saved outputs can hide missing steps. Explain why this example is needed before running it.</a:t>
            </a:r>
          </a:p>
          <a:p xmlns:a="http://schemas.openxmlformats.org/drawingml/2006/main">
            <a:r>
              <a:t/>
            </a:r>
          </a:p>
          <a:p xmlns:a="http://schemas.openxmlformats.org/drawingml/2006/main">
            <a:r>
              <a:t>EXPLAIN</a:t>
            </a:r>
          </a:p>
          <a:p xmlns:a="http://schemas.openxmlformats.org/drawingml/2006/main">
            <a:r>
              <a:t>A relative path is interpreted from the current working folder.</a:t>
            </a:r>
          </a:p>
          <a:p xmlns:a="http://schemas.openxmlformats.org/drawingml/2006/main">
            <a:r>
              <a:t/>
            </a:r>
          </a:p>
          <a:p xmlns:a="http://schemas.openxmlformats.org/drawingml/2006/main">
            <a:r>
              <a:t>Package versions describe the software used to run the code.</a:t>
            </a:r>
          </a:p>
          <a:p xmlns:a="http://schemas.openxmlformats.org/drawingml/2006/main">
            <a:r>
              <a:t/>
            </a:r>
          </a:p>
          <a:p xmlns:a="http://schemas.openxmlformats.org/drawingml/2006/main">
            <a:r>
              <a:t>The README must give both run instructions and data-access instructions.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path names where a file is found</a:t>
            </a:r>
          </a:p>
          <a:p xmlns:a="http://schemas.openxmlformats.org/drawingml/2006/main">
            <a:r>
              <a:t/>
            </a:r>
          </a:p>
          <a:p xmlns:a="http://schemas.openxmlformats.org/drawingml/2006/main">
            <a:r>
              <a:t>CONNECT</a:t>
            </a:r>
          </a:p>
          <a:p xmlns:a="http://schemas.openxmlformats.org/drawingml/2006/main">
            <a:r>
              <a:t>Build on the preceding slide: Saved outputs can hide missing steps.</a:t>
            </a:r>
          </a:p>
          <a:p xmlns:a="http://schemas.openxmlformats.org/drawingml/2006/main">
            <a:r>
              <a:t/>
            </a:r>
          </a:p>
          <a:p xmlns:a="http://schemas.openxmlformats.org/drawingml/2006/main">
            <a:r>
              <a:t>LECTURER CUE</a:t>
            </a:r>
          </a:p>
          <a:p xmlns:a="http://schemas.openxmlformats.org/drawingml/2006/main">
            <a:r>
              <a:t>Explain every dependency and test a relative path. Include data-access instructions if the data cannot be redistributed.</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Read the path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path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path example</a:t>
            </a:r>
          </a:p>
          <a:p xmlns:a="http://schemas.openxmlformats.org/drawingml/2006/main">
            <a:r>
              <a:t/>
            </a:r>
          </a:p>
          <a:p xmlns:a="http://schemas.openxmlformats.org/drawingml/2006/main">
            <a:r>
              <a:t>CONNECT</a:t>
            </a:r>
          </a:p>
          <a:p xmlns:a="http://schemas.openxmlformats.org/drawingml/2006/main">
            <a:r>
              <a:t>Build on A path names where a file is found. Explain why this example is needed before running it.</a:t>
            </a:r>
          </a:p>
          <a:p xmlns:a="http://schemas.openxmlformats.org/drawingml/2006/main">
            <a:r>
              <a:t/>
            </a:r>
          </a:p>
          <a:p xmlns:a="http://schemas.openxmlformats.org/drawingml/2006/main">
            <a:r>
              <a:t>EXPLAIN</a:t>
            </a:r>
          </a:p>
          <a:p xmlns:a="http://schemas.openxmlformats.org/drawingml/2006/main">
            <a:r>
              <a:t>Path and cwd: Path is a tool imported from Python’s pathlib module. Path.cwd() returns the folder where Python is currently running.</a:t>
            </a:r>
          </a:p>
          <a:p xmlns:a="http://schemas.openxmlformats.org/drawingml/2006/main">
            <a:r>
              <a:t>name: The .name property gives the last folder component as text. It depends on your runtime. A different folder name is expected on another computer.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path example</a:t>
            </a:r>
          </a:p>
          <a:p xmlns:a="http://schemas.openxmlformats.org/drawingml/2006/main">
            <a:r>
              <a:t/>
            </a:r>
          </a:p>
          <a:p xmlns:a="http://schemas.openxmlformats.org/drawingml/2006/main">
            <a:r>
              <a:t>CONNECT</a:t>
            </a:r>
          </a:p>
          <a:p xmlns:a="http://schemas.openxmlformats.org/drawingml/2006/main">
            <a:r>
              <a:t>Build on the preceding slide: A path names where a file is found.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Path and cwd: Path is a tool imported from Python’s pathlib module. Path.cwd() returns the folder where Python is currently running.</a:t>
            </a:r>
          </a:p>
          <a:p xmlns:a="http://schemas.openxmlformats.org/drawingml/2006/main">
            <a:r>
              <a:t>name: The .name property gives the last folder component as text. It depends on your runtime. A different folder name is expected on another computer.</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in Python</a:t>
            </a:r>
          </a:p>
          <a:p xmlns:a="http://schemas.openxmlformats.org/drawingml/2006/main">
            <a:r>
              <a:t/>
            </a:r>
          </a:p>
          <a:p xmlns:a="http://schemas.openxmlformats.org/drawingml/2006/main">
            <a:r>
              <a:t>CONNECT</a:t>
            </a:r>
          </a:p>
          <a:p xmlns:a="http://schemas.openxmlformats.org/drawingml/2006/main">
            <a:r>
              <a:t>Build on Read the path example.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Read the path example.</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 Explain every dependency and test a relative path. Include data-access instructions if the data cannot be redistributed. Model actionable feedback: “Step 2 names data.csv, but the supplied file is readings.csv; please make them match.”</a:t>
            </a:r>
          </a:p>
          <a:p xmlns:a="http://schemas.openxmlformats.org/drawingml/2006/main">
            <a:r>
              <a:t/>
            </a:r>
          </a:p>
          <a:p xmlns:a="http://schemas.openxmlformats.org/drawingml/2006/main">
            <a:r>
              <a:t>Complete practice code:</a:t>
            </a:r>
          </a:p>
          <a:p xmlns:a="http://schemas.openxmlformats.org/drawingml/2006/main">
            <a:r>
              <a:t>from pathlib import Path</a:t>
            </a:r>
          </a:p>
          <a:p xmlns:a="http://schemas.openxmlformats.org/drawingml/2006/main">
            <a:r>
              <a:t>print(Path.cwd().name)</a:t>
            </a:r>
          </a:p>
          <a:p xmlns:a="http://schemas.openxmlformats.org/drawingml/2006/main">
            <a:r>
              <a:t># The name depends on the folder where Python is running.</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results</a:t>
            </a:r>
          </a:p>
          <a:p xmlns:a="http://schemas.openxmlformats.org/drawingml/2006/main">
            <a:r>
              <a:t/>
            </a:r>
          </a:p>
          <a:p xmlns:a="http://schemas.openxmlformats.org/drawingml/2006/main">
            <a:r>
              <a:t>CONNECT</a:t>
            </a:r>
          </a:p>
          <a:p xmlns:a="http://schemas.openxmlformats.org/drawingml/2006/main">
            <a:r>
              <a:t>Build on Project handover in Python. Explain why this example is needed before running it.</a:t>
            </a:r>
          </a:p>
          <a:p xmlns:a="http://schemas.openxmlformats.org/drawingml/2006/main">
            <a:r>
              <a:t/>
            </a:r>
          </a:p>
          <a:p xmlns:a="http://schemas.openxmlformats.org/drawingml/2006/main">
            <a:r>
              <a:t>EXPLAIN</a:t>
            </a:r>
          </a:p>
          <a:p xmlns:a="http://schemas.openxmlformats.org/drawingml/2006/main">
            <a:r>
              <a:t>Your current working folder name; it is environment-dependent.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Tell another person what the project needs.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Tell another person what the project needs.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Tell another person what the project needs</a:t>
            </a:r>
          </a:p>
          <a:p xmlns:a="http://schemas.openxmlformats.org/drawingml/2006/main">
            <a:r>
              <a:t/>
            </a:r>
          </a:p>
          <a:p xmlns:a="http://schemas.openxmlformats.org/drawingml/2006/main">
            <a:r>
              <a:t>CONNECT</a:t>
            </a:r>
          </a:p>
          <a:p xmlns:a="http://schemas.openxmlformats.org/drawingml/2006/main">
            <a:r>
              <a:t>Build on Project handover results. Explain why this example is needed before running it.</a:t>
            </a:r>
          </a:p>
          <a:p xmlns:a="http://schemas.openxmlformats.org/drawingml/2006/main">
            <a:r>
              <a:t/>
            </a:r>
          </a:p>
          <a:p xmlns:a="http://schemas.openxmlformats.org/drawingml/2006/main">
            <a:r>
              <a:t>EXPLAIN</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Data source, permission and seed: Name the data source and any licence or permission for reuse. Record random seeds used in modelling. A seed supports repeatability; it does not repair data leakage.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Tell another person what the project needs</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POINT TO THE DEFINITION</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Data source, permission and seed: Name the data source and any licence or permission for reuse. Record random seeds used in modelling. A seed supports repeatability; it does not repair data leakage.</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Run checks and contribution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checks and contribution evidence</a:t>
            </a:r>
          </a:p>
          <a:p xmlns:a="http://schemas.openxmlformats.org/drawingml/2006/main">
            <a:r>
              <a:t/>
            </a:r>
          </a:p>
          <a:p xmlns:a="http://schemas.openxmlformats.org/drawingml/2006/main">
            <a:r>
              <a:t>CONNECT</a:t>
            </a:r>
          </a:p>
          <a:p xmlns:a="http://schemas.openxmlformats.org/drawingml/2006/main">
            <a:r>
              <a:t>Build on Tell another person what the project needs. Explain why this example is needed before running it.</a:t>
            </a:r>
          </a:p>
          <a:p xmlns:a="http://schemas.openxmlformats.org/drawingml/2006/main">
            <a:r>
              <a:t/>
            </a:r>
          </a:p>
          <a:p xmlns:a="http://schemas.openxmlformats.org/drawingml/2006/main">
            <a:r>
              <a:t>EXPLAIN</a:t>
            </a:r>
          </a:p>
          <a:p xmlns:a="http://schemas.openxmlformats.org/drawingml/2006/main">
            <a:r>
              <a:t>Independent run check: Restart the session and follow your written instructions without relying on earlier variables. Record the first failure and its repair.</a:t>
            </a:r>
          </a:p>
          <a:p xmlns:a="http://schemas.openxmlformats.org/drawingml/2006/main">
            <a:r>
              <a:t>Contribution evidence: A record of each person’s work, tied to files, commits or explanations. It does not require making a private repository public.</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Tell another person what the project needs.</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POINT TO THE DEFINITION</a:t>
            </a:r>
          </a:p>
          <a:p xmlns:a="http://schemas.openxmlformats.org/drawingml/2006/main">
            <a:r>
              <a:t>Peer review: Someone else tests the instructions and reports a specific observation and suggested improvement.</a:t>
            </a:r>
          </a:p>
          <a:p xmlns:a="http://schemas.openxmlformats.org/drawingml/2006/main">
            <a:r>
              <a:t>Contribution evidence: A record of each person’s work, tied to files, commits or explanations. It does not require making a private repository public.</a:t>
            </a:r>
          </a:p>
          <a:p xmlns:a="http://schemas.openxmlformats.org/drawingml/2006/main">
            <a:r>
              <a:t/>
            </a:r>
          </a:p>
          <a:p xmlns:a="http://schemas.openxmlformats.org/drawingml/2006/main">
            <a:r>
              <a:t>NEXT</a:t>
            </a:r>
          </a:p>
          <a:p xmlns:a="http://schemas.openxmlformats.org/drawingml/2006/main">
            <a:r>
              <a:t>Useful feedback identifies an exact repair.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Useful feedback identifies an exact repair.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Useful feedback identifies an exact repair</a:t>
            </a:r>
          </a:p>
          <a:p xmlns:a="http://schemas.openxmlformats.org/drawingml/2006/main">
            <a:r>
              <a:t/>
            </a:r>
          </a:p>
          <a:p xmlns:a="http://schemas.openxmlformats.org/drawingml/2006/main">
            <a:r>
              <a:t>CONNECT</a:t>
            </a:r>
          </a:p>
          <a:p xmlns:a="http://schemas.openxmlformats.org/drawingml/2006/main">
            <a:r>
              <a:t>Build on Run checks and contribution evidence. Explain why this example is needed before running it.</a:t>
            </a:r>
          </a:p>
          <a:p xmlns:a="http://schemas.openxmlformats.org/drawingml/2006/main">
            <a:r>
              <a:t/>
            </a:r>
          </a:p>
          <a:p xmlns:a="http://schemas.openxmlformats.org/drawingml/2006/main">
            <a:r>
              <a:t>EXPLAIN</a:t>
            </a:r>
          </a:p>
          <a:p xmlns:a="http://schemas.openxmlformats.org/drawingml/2006/main">
            <a:r>
              <a:t>Vague feedback: "It does not work."</a:t>
            </a:r>
          </a:p>
          <a:p xmlns:a="http://schemas.openxmlformats.org/drawingml/2006/main">
            <a:r>
              <a:t/>
            </a:r>
          </a:p>
          <a:p xmlns:a="http://schemas.openxmlformats.org/drawingml/2006/main">
            <a:r>
              <a:t>Useful feedback: "Step 2 names data.csv, but the supplied file is readings.csv."</a:t>
            </a:r>
          </a:p>
          <a:p xmlns:a="http://schemas.openxmlformats.org/drawingml/2006/main">
            <a:r>
              <a:t/>
            </a:r>
          </a:p>
          <a:p xmlns:a="http://schemas.openxmlformats.org/drawingml/2006/main">
            <a:r>
              <a:t>The repair is to make the instructions and actual filename agree.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Useful feedback identifies an exact repair</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Model actionable feedback: “Step 2 names data.csv, but the supplied file is readings.csv; please make them match.”</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You are a new project user.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Useful feedback identifies an exact repair. Explain why this example is needed before running it.</a:t>
            </a:r>
          </a:p>
          <a:p xmlns:a="http://schemas.openxmlformats.org/drawingml/2006/main">
            <a:r>
              <a:t/>
            </a:r>
          </a:p>
          <a:p xmlns:a="http://schemas.openxmlformats.org/drawingml/2006/main">
            <a:r>
              <a:t>EXPLAIN</a:t>
            </a:r>
          </a:p>
          <a:p xmlns:a="http://schemas.openxmlformats.org/drawingml/2006/main">
            <a:r>
              <a:t>Check: restart the notebook runtime and follow your README exactly, without using remembered variables.</a:t>
            </a:r>
          </a:p>
          <a:p xmlns:a="http://schemas.openxmlformats.org/drawingml/2006/main">
            <a:r>
              <a:t/>
            </a:r>
          </a:p>
          <a:p xmlns:a="http://schemas.openxmlformats.org/drawingml/2006/main">
            <a:r>
              <a:t>If Step 2 names data.csv but the file is readings.csv, correct the filename in the instructions. Run again from the beginning and record the successful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Revise that step and repeat. A claim that the notebook runs is supported by a fresh run, not by saved outputs alone.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Revise that step and repeat. A claim that the notebook runs is supported by a fresh run, not by saved outputs alone.</a:t>
            </a:r>
          </a:p>
          <a:p xmlns:a="http://schemas.openxmlformats.org/drawingml/2006/main">
            <a:r>
              <a:t>Which step produced this result? What changes if one input changes?</a:t>
            </a:r>
          </a:p>
          <a:p xmlns:a="http://schemas.openxmlformats.org/drawingml/2006/main">
            <a:r>
              <a:t>CML3112   Week 13   21</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No new weekly assignment.</a:t>
            </a:r>
          </a:p>
          <a:p xmlns:a="http://schemas.openxmlformats.org/drawingml/2006/main">
            <a:r>
              <a:t/>
            </a:r>
          </a:p>
          <a:p xmlns:a="http://schemas.openxmlformats.org/drawingml/2006/main">
            <a:r>
              <a:t>Continue the official project deliverables and Week 13 quiz.</a:t>
            </a:r>
          </a:p>
          <a:p xmlns:a="http://schemas.openxmlformats.org/drawingml/2006/main">
            <a:r>
              <a:t/>
            </a:r>
          </a:p>
          <a:p xmlns:a="http://schemas.openxmlformats.org/drawingml/2006/main">
            <a:r>
              <a:t>Rehearse offline TEST2 saving and the published function interfaces before Week 14.</a:t>
            </a:r>
          </a:p>
          <a:p xmlns:a="http://schemas.openxmlformats.org/drawingml/2006/main">
            <a:r>
              <a:t/>
            </a:r>
          </a:p>
          <a:p xmlns:a="http://schemas.openxmlformats.org/drawingml/2006/main">
            <a:r>
              <a:t>Do not add an extra upload.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No new weekly assignment. Continue the official project deliverables and Week 13 quiz. Rehearse offline TEST2 saving and the published function interfaces before Week 14. Do not add an extra upload.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A reproducible handover.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reproducible handover.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An absolute path from your own computer will usually fail elsewhere.</a:t>
            </a:r>
          </a:p>
          <a:p xmlns:a="http://schemas.openxmlformats.org/drawingml/2006/main">
            <a:r>
              <a:t/>
            </a:r>
          </a:p>
          <a:p xmlns:a="http://schemas.openxmlformats.org/drawingml/2006/main">
            <a:r>
              <a:t>A relative path starts from the current working folder.</a:t>
            </a:r>
          </a:p>
          <a:p xmlns:a="http://schemas.openxmlformats.org/drawingml/2006/main">
            <a:r>
              <a:t/>
            </a:r>
          </a:p>
          <a:p xmlns:a="http://schemas.openxmlformats.org/drawingml/2006/main">
            <a:r>
              <a:t>Record dependencies and actual versions, and fix randomness where appropriate; identical results across all machines are not guaranteed by a seed alone.</a:t>
            </a:r>
          </a:p>
          <a:p xmlns:a="http://schemas.openxmlformats.org/drawingml/2006/main">
            <a:r>
              <a:t/>
            </a:r>
          </a:p>
          <a:p xmlns:a="http://schemas.openxmlformats.org/drawingml/2006/main">
            <a:r>
              <a:t>Captions should state a supported finding and its scope.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reproducible handover</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A reproducible handover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reproducible handover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 continued</a:t>
            </a:r>
          </a:p>
          <a:p xmlns:a="http://schemas.openxmlformats.org/drawingml/2006/main">
            <a:r>
              <a:t/>
            </a:r>
          </a:p>
          <a:p xmlns:a="http://schemas.openxmlformats.org/drawingml/2006/main">
            <a:r>
              <a:t>CONNECT</a:t>
            </a:r>
          </a:p>
          <a:p xmlns:a="http://schemas.openxmlformats.org/drawingml/2006/main">
            <a:r>
              <a:t>Build on A reproducible handover. Explain why this example is needed before running it.</a:t>
            </a:r>
          </a:p>
          <a:p xmlns:a="http://schemas.openxmlformats.org/drawingml/2006/main">
            <a:r>
              <a:t/>
            </a:r>
          </a:p>
          <a:p xmlns:a="http://schemas.openxmlformats.org/drawingml/2006/main">
            <a:r>
              <a:t>EXPLAIN</a:t>
            </a:r>
          </a:p>
          <a:p xmlns:a="http://schemas.openxmlformats.org/drawingml/2006/main">
            <a:r>
              <a:t>Remove conflicting cell assignments and verify a fresh run before submission.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reproducible handover continued</a:t>
            </a:r>
          </a:p>
          <a:p xmlns:a="http://schemas.openxmlformats.org/drawingml/2006/main">
            <a:r>
              <a:t/>
            </a:r>
          </a:p>
          <a:p xmlns:a="http://schemas.openxmlformats.org/drawingml/2006/main">
            <a:r>
              <a:t>CONNECT</a:t>
            </a:r>
          </a:p>
          <a:p xmlns:a="http://schemas.openxmlformats.org/drawingml/2006/main">
            <a:r>
              <a:t>Build on the preceding slide: A reproducible handover.</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A reproducible handover continued.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15 Dec 2026, 11:00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A reproducible handover continued.</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13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13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13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13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open_W13_CML3112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13 quiz. Explain why this example is needed before running it.</a:t>
            </a:r>
          </a:p>
          <a:p xmlns:a="http://schemas.openxmlformats.org/drawingml/2006/main">
            <a:r>
              <a:t/>
            </a:r>
          </a:p>
          <a:p xmlns:a="http://schemas.openxmlformats.org/drawingml/2006/main">
            <a:r>
              <a:t>EXPLAIN</a:t>
            </a:r>
          </a:p>
          <a:p xmlns:a="http://schemas.openxmlformats.org/drawingml/2006/main">
            <a:r>
              <a:t>Another learner can follow your README and reproduce the stated result.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13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CodeWithChris</a:t>
            </a:r>
          </a:p>
          <a:p xmlns:a="http://schemas.openxmlformats.org/drawingml/2006/main">
            <a:r>
              <a:t>GitHub Tutorial for Beginners (2025)</a:t>
            </a:r>
          </a:p>
          <a:p xmlns:a="http://schemas.openxmlformats.org/drawingml/2006/main">
            <a:r>
              <a:t/>
            </a:r>
          </a:p>
          <a:p xmlns:a="http://schemas.openxmlformats.org/drawingml/2006/main">
            <a:r>
              <a:t>00:00–02:10, then 03:35–06:08 (4 min 43 sec total)</a:t>
            </a:r>
          </a:p>
          <a:p xmlns:a="http://schemas.openxmlformats.org/drawingml/2006/main">
            <a:r>
              <a:t/>
            </a:r>
          </a:p>
          <a:p xmlns:a="http://schemas.openxmlformats.org/drawingml/2006/main">
            <a:r>
              <a:t>Listening question: Why keep history, and what is a repository?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Title, channel, 19:53 runtime and chapter boundaries checked on the video page on 15 September 2026. Desktop installation is optional. The originally shared t=167 link starts at installation.</a:t>
            </a:r>
          </a:p>
          <a:p xmlns:a="http://schemas.openxmlformats.org/drawingml/2006/main">
            <a:r>
              <a:t>After viewing: Explain the difference between saving a file and recording a commit. Then make one browser-based commit.</a:t>
            </a:r>
          </a:p>
          <a:p xmlns:a="http://schemas.openxmlformats.org/drawingml/2006/main">
            <a:r>
              <a:t>Preview before class and stop after the selected short excerpt. If playback fails, teach the worked example. Video is optional. Source: https://www.youtube.com/watch?v=v5gnvDUWqFM</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7df06d84c5744a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48b7ea9c45c466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1832b527d144be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4f9db54bac6490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a207e5c213f458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294ee82db1049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7272A57-B0D7-4A06-8F9E-CA6DCF87DDA4}"/>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CDA6ED2-1794-43A5-A260-1D8A4021E2AA}"/>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50D5DEF-3ACD-4ACC-ADC9-30D1E10C07DE}"/>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0E6F42D3-42D5-4E00-BAFE-643B44038E10}"/>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E9B6BB82-5691-4A13-BDDF-93AC3CA8224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B66DBB9-509C-4F9F-A1FE-36CA25CD90D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F3F59E0-5EAF-4A25-841E-13EDAC9EE30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D2CCB8CE-250B-465B-94B8-4F6E1252A74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DB39669-81F5-4E48-9518-E98E0D516A8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FA75AB0-7391-48FD-AC55-25EE7ECF139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21767FD-C08A-4A58-AF08-9AAC10502EF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C4D466FD-1B51-493F-A56D-4DF91854908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174932E-7B5F-459D-A8DD-9D4B46D2160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756575B-F1F9-4A55-8ED0-A6413DE47A8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523F844-FEAD-417C-953E-3731843CE29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ba68ac816d64a14" /><Relationship Type="http://schemas.openxmlformats.org/officeDocument/2006/relationships/slideLayout" Target="/ppt/slideLayouts/slideLayout1.xml" Id="R6a84fed50a774d47" /><Relationship Type="http://schemas.openxmlformats.org/officeDocument/2006/relationships/slideLayout" Target="/ppt/slideLayouts/slideLayout2.xml" Id="R85ad7cff576f4b63" /><Relationship Type="http://schemas.openxmlformats.org/officeDocument/2006/relationships/slideLayout" Target="/ppt/slideLayouts/slideLayout3.xml" Id="Re582d932cc2445c6" /><Relationship Type="http://schemas.openxmlformats.org/officeDocument/2006/relationships/slideLayout" Target="/ppt/slideLayouts/slideLayout4.xml" Id="Re9615388d12d4889" /><Relationship Type="http://schemas.openxmlformats.org/officeDocument/2006/relationships/slideLayout" Target="/ppt/slideLayouts/slideLayout5.xml" Id="R5b5a52dd0cfd408d" /><Relationship Type="http://schemas.openxmlformats.org/officeDocument/2006/relationships/slideLayout" Target="/ppt/slideLayouts/slideLayout6.xml" Id="R76259b65fa8a40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84fed50a774d47"/>
    <p:sldLayoutId xmlns:r="http://schemas.openxmlformats.org/officeDocument/2006/relationships" id="2147483650" r:id="R85ad7cff576f4b63"/>
    <p:sldLayoutId xmlns:r="http://schemas.openxmlformats.org/officeDocument/2006/relationships" id="2147483651" r:id="Re582d932cc2445c6"/>
    <p:sldLayoutId xmlns:r="http://schemas.openxmlformats.org/officeDocument/2006/relationships" id="2147483652" r:id="Re9615388d12d4889"/>
    <p:sldLayoutId xmlns:r="http://schemas.openxmlformats.org/officeDocument/2006/relationships" id="2147483653" r:id="R5b5a52dd0cfd408d"/>
    <p:sldLayoutId xmlns:r="http://schemas.openxmlformats.org/officeDocument/2006/relationships" id="2147483654" r:id="R76259b65fa8a40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d534f6dd5954561" /><Relationship Type="http://schemas.openxmlformats.org/officeDocument/2006/relationships/image" Target="/ppt/media/image.png" Id="Rbaaa82c7fbdd4305" /><Relationship Type="http://schemas.openxmlformats.org/officeDocument/2006/relationships/notesSlide" Target="/ppt/notesSlides/notesSlide1.xml" Id="R5a6b319003f8469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2d861e0bdfd473b" /><Relationship Type="http://schemas.openxmlformats.org/officeDocument/2006/relationships/notesSlide" Target="/ppt/notesSlides/notesSlide2.xml" Id="Rcabf8e8045c74b3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e8e25d2f7624979" /><Relationship Type="http://schemas.openxmlformats.org/officeDocument/2006/relationships/notesSlide" Target="/ppt/notesSlides/notesSlide3.xml" Id="Re56aee4ac415488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af4ba62053c4110" /><Relationship Type="http://schemas.openxmlformats.org/officeDocument/2006/relationships/notesSlide" Target="/ppt/notesSlides/notesSlide4.xml" Id="Rcc1584dd16c148a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6ce2eb96cd04198" /><Relationship Type="http://schemas.openxmlformats.org/officeDocument/2006/relationships/notesSlide" Target="/ppt/notesSlides/notesSlide5.xml" Id="Re740bb7d679543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d77c33ed62c460e" /><Relationship Type="http://schemas.openxmlformats.org/officeDocument/2006/relationships/notesSlide" Target="/ppt/notesSlides/notesSlide6.xml" Id="Rea03dcef7c124e3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881caa7bae440b0" /><Relationship Type="http://schemas.openxmlformats.org/officeDocument/2006/relationships/notesSlide" Target="/ppt/notesSlides/notesSlide7.xml" Id="R8f507bb9fa6a46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af246b8abe4493b" /><Relationship Type="http://schemas.openxmlformats.org/officeDocument/2006/relationships/image" Target="/ppt/media/image2.png" Id="Rfbe976fd28174d08" /><Relationship Type="http://schemas.openxmlformats.org/officeDocument/2006/relationships/notesSlide" Target="/ppt/notesSlides/notesSlide8.xml" Id="Rf6390d58908347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2e82ef6f6f24f50" /><Relationship Type="http://schemas.openxmlformats.org/officeDocument/2006/relationships/image" Target="/ppt/media/image3.png" Id="Rfa925bdd6e7c458f" /><Relationship Type="http://schemas.openxmlformats.org/officeDocument/2006/relationships/notesSlide" Target="/ppt/notesSlides/notesSlide9.xml" Id="Rb2bc440f7d5a4ef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9584b8b7fd44075" /><Relationship Type="http://schemas.openxmlformats.org/officeDocument/2006/relationships/notesSlide" Target="/ppt/notesSlides/notesSlide10.xml" Id="R551d2366f043497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1dbca8cdb8b44f9" /><Relationship Type="http://schemas.openxmlformats.org/officeDocument/2006/relationships/notesSlide" Target="/ppt/notesSlides/notesSlide11.xml" Id="R50a35df177e0469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65a232defbc4002" /><Relationship Type="http://schemas.openxmlformats.org/officeDocument/2006/relationships/notesSlide" Target="/ppt/notesSlides/notesSlide12.xml" Id="Ra892f539889e459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2e87b1c23414e4d" /><Relationship Type="http://schemas.openxmlformats.org/officeDocument/2006/relationships/notesSlide" Target="/ppt/notesSlides/notesSlide13.xml" Id="R7ffebb116b0b401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c0509143bd646c6" /><Relationship Type="http://schemas.openxmlformats.org/officeDocument/2006/relationships/notesSlide" Target="/ppt/notesSlides/notesSlide14.xml" Id="R9a1ed6596f7347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55a642269ac441d" /><Relationship Type="http://schemas.openxmlformats.org/officeDocument/2006/relationships/notesSlide" Target="/ppt/notesSlides/notesSlide15.xml" Id="R45bca90be9404cc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a4197afe826488e" /><Relationship Type="http://schemas.openxmlformats.org/officeDocument/2006/relationships/notesSlide" Target="/ppt/notesSlides/notesSlide16.xml" Id="R9881a38c09824e4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9440c855aa74309" /><Relationship Type="http://schemas.openxmlformats.org/officeDocument/2006/relationships/notesSlide" Target="/ppt/notesSlides/notesSlide17.xml" Id="Ra82d295a194249e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b8a393b2045417f" /><Relationship Type="http://schemas.openxmlformats.org/officeDocument/2006/relationships/notesSlide" Target="/ppt/notesSlides/notesSlide18.xml" Id="Re428c7764428452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32b3320d413491f" /><Relationship Type="http://schemas.openxmlformats.org/officeDocument/2006/relationships/notesSlide" Target="/ppt/notesSlides/notesSlide19.xml" Id="R990805f367634b9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96ce0edb8cd4aa4" /><Relationship Type="http://schemas.openxmlformats.org/officeDocument/2006/relationships/notesSlide" Target="/ppt/notesSlides/notesSlide20.xml" Id="Ra7af16106a97427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9ef2da9d460410a" /><Relationship Type="http://schemas.openxmlformats.org/officeDocument/2006/relationships/notesSlide" Target="/ppt/notesSlides/notesSlide21.xml" Id="R75d5dc51907b417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357e30d97b84653" /><Relationship Type="http://schemas.openxmlformats.org/officeDocument/2006/relationships/notesSlide" Target="/ppt/notesSlides/notesSlide22.xml" Id="R9e8725f2e6864e8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3d216db107241b6" /><Relationship Type="http://schemas.openxmlformats.org/officeDocument/2006/relationships/image" Target="/ppt/media/image4.png" Id="R09324dd85b2c474c" /><Relationship Type="http://schemas.openxmlformats.org/officeDocument/2006/relationships/hyperlink" Target="https://forms.gle/SBN8HWXnKnXX34qw9" TargetMode="External" Id="R8af61c322d634422" /><Relationship Type="http://schemas.openxmlformats.org/officeDocument/2006/relationships/notesSlide" Target="/ppt/notesSlides/notesSlide23.xml" Id="R3c7019a94d5244e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168dca3d17447b5" /><Relationship Type="http://schemas.openxmlformats.org/officeDocument/2006/relationships/notesSlide" Target="/ppt/notesSlides/notesSlide24.xml" Id="R09f627637fcb43a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7ce461131304a9d" /><Relationship Type="http://schemas.openxmlformats.org/officeDocument/2006/relationships/hyperlink" Target="https://www.youtube.com/watch?v=v5gnvDUWqFM" TargetMode="External" Id="R66de19158e164ff1" /><Relationship Type="http://schemas.openxmlformats.org/officeDocument/2006/relationships/notesSlide" Target="/ppt/notesSlides/notesSlide25.xml" Id="Rdf1eed38c4ad4dd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aaa82c7fbdd430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85F26BA-5B07-4F77-98A5-CFA78679EE6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C19AB93-BF7E-4CD9-93DC-C74031A95A8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13</a:t>
            </a:r>
          </a:p>
        </p:txBody>
      </p:sp>
      <p:sp>
        <p:nvSpPr>
          <p:cNvPr id="4" name="">
            <a:extLst xmlns:a="http://schemas.openxmlformats.org/drawingml/2006/main">
              <a:ext uri="{FF2B5EF4-FFF2-40B4-BE49-F238E27FC236}">
                <a16:creationId xmlns:a16="http://schemas.microsoft.com/office/drawing/2014/main" id="{46685675-87F3-4FD0-9B52-C46A2F9715F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4AC8AA2F-6651-4D3D-8B8B-108ED1A9DDD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1BE595B8-6974-4E0C-A5D4-1C5ABDA0278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43356799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7C57987-19E7-410A-8F1F-3AF2BF0C33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3E6E8E-3C9F-474F-B4F2-4D78B01457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3D040E41-68EF-499E-8AE2-14D3A3C484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40DD3B3-1661-4D15-BD29-D5A872C9081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6664D3-8991-4A48-8255-B13B48A35A90}"/>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94A3900-5EA9-4B62-94D8-9FAD71E26674}"/>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B11D60A7-0E98-4B5D-91E1-8210F1F3FAD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6CD848FE-1DCB-4070-A0A1-A4624573330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0F32FDC7-3C73-4F59-90AB-92D9D5809C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a:t>
            </a:r>
          </a:p>
        </p:txBody>
      </p:sp>
    </p:spTree>
    <p:extLst>
      <p:ext uri="{BB962C8B-B14F-4D97-AF65-F5344CB8AC3E}">
        <p14:creationId xmlns:p14="http://schemas.microsoft.com/office/powerpoint/2010/main" val="70932767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39C9207-13A3-417F-9FB0-AA0E4ABF29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3AF8A7-BA88-493D-96D3-8BD591E8E5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ED4DC8D-2FCB-4A9B-AF8C-690B323DD8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5B02A14-8D80-4E5A-9688-E2A57F883B4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A39528-4BD6-466B-9106-8DD51376E9D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099D3886-6AC8-4351-AC57-985EBE942BF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2D8ADB75-4260-43D0-A32B-6B84F23350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a:t>
            </a:r>
          </a:p>
        </p:txBody>
      </p:sp>
    </p:spTree>
    <p:extLst>
      <p:ext uri="{BB962C8B-B14F-4D97-AF65-F5344CB8AC3E}">
        <p14:creationId xmlns:p14="http://schemas.microsoft.com/office/powerpoint/2010/main" val="167772331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72CE65-DD4C-42E1-B09E-C52B590512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67D00F-084F-452E-8BE3-E78AB5917E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F32A16-1727-4A84-B01F-F2ED163EF3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FB6A6DDF-7EAE-45AD-921C-8C169005391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B73BB2-6B78-4777-BD41-DAF7B12D110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3C65DCC2-CEF1-4680-A9DE-EBDBCB61811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Today we check that evidence ourselves.</a:t>
            </a:r>
          </a:p>
        </p:txBody>
      </p:sp>
      <p:sp>
        <p:nvSpPr>
          <p:cNvPr id="7" name="">
            <a:extLst xmlns:a="http://schemas.openxmlformats.org/drawingml/2006/main">
              <a:ext uri="{FF2B5EF4-FFF2-40B4-BE49-F238E27FC236}">
                <a16:creationId xmlns:a16="http://schemas.microsoft.com/office/drawing/2014/main" id="{84CB4D6C-A3E1-4184-9953-EE4BF61AC5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4</a:t>
            </a:r>
          </a:p>
        </p:txBody>
      </p:sp>
    </p:spTree>
    <p:extLst>
      <p:ext uri="{BB962C8B-B14F-4D97-AF65-F5344CB8AC3E}">
        <p14:creationId xmlns:p14="http://schemas.microsoft.com/office/powerpoint/2010/main" val="73647789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B653CF-BED2-4E0C-81F7-E9E5A35D1B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B1C334-6997-4508-A17C-33E347D68B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7A543ED-1338-4E36-99F2-9343C7081F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972D26C8-D169-4CAC-A94C-F9449D7BCB9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DB1628-40FB-419B-A32B-F9EC87D467E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4F0E4E92-DACA-4D21-955C-709926A5EF4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F94EF41F-E143-4CDB-BFBC-F2C6C3EE63E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4EF691F-84F6-4CE2-BD40-63C8E1EAD8B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0B816A76-8AF7-418D-8410-08FDDC0D80F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C8A60CF1-7CB0-433F-9AE5-51C7E0550F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5</a:t>
            </a:r>
          </a:p>
        </p:txBody>
      </p:sp>
    </p:spTree>
    <p:extLst>
      <p:ext uri="{BB962C8B-B14F-4D97-AF65-F5344CB8AC3E}">
        <p14:creationId xmlns:p14="http://schemas.microsoft.com/office/powerpoint/2010/main" val="11669483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253F92-31BA-41FA-9562-3BFF8F2F35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C031AF-5A76-4EE1-ABCB-7E39E01F52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6BEFE1C-FCC9-45F9-B9EF-9EBD3E87BB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E346BB52-93EF-4EF4-ACA7-C9BF52EB344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1E6AA2-63B7-4861-BE47-AEC6E6ECF70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A48F6321-1DF2-4F1F-A65A-D2BFAA58A5E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8237119A-1F01-4CEC-9378-BD19DE79C9D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F281CF7-DE26-4A7F-896E-C741146EDFB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5CD9EB83-AA44-49A0-900E-F2E59FDD0B3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6EF513F5-2321-4D82-B235-8DBC6B8E17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6</a:t>
            </a:r>
          </a:p>
        </p:txBody>
      </p:sp>
    </p:spTree>
    <p:extLst>
      <p:ext uri="{BB962C8B-B14F-4D97-AF65-F5344CB8AC3E}">
        <p14:creationId xmlns:p14="http://schemas.microsoft.com/office/powerpoint/2010/main" val="6806523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48EB4E-E2F5-4219-BDD4-F0E9B65B49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10D233-E2DB-4B72-A583-6711CD3AF9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C0A381-79C5-48DC-B319-B44837DB38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DF8E0760-A719-40A1-895F-C59EA9ACBA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FFAC9D-E239-4F39-BE9A-E784A396421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22CBFC15-3B96-44E1-AECE-742B7E4EF1F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390E07-FE18-43C9-A545-C20C722E30F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EBF5FA35-0D55-46B4-B926-86B66207618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E374BC-0093-4B4C-8393-D68C92DAB6B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E4680187-A3C1-4FEC-BD69-7C9CB5BB532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69C6022-6389-4B81-8E1C-08B7C1BADD7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154F0E56-9D94-4391-97D4-FED09171B3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7</a:t>
            </a:r>
          </a:p>
        </p:txBody>
      </p:sp>
    </p:spTree>
    <p:extLst>
      <p:ext uri="{BB962C8B-B14F-4D97-AF65-F5344CB8AC3E}">
        <p14:creationId xmlns:p14="http://schemas.microsoft.com/office/powerpoint/2010/main" val="115704525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B1D0500-CC2A-46C8-AE47-39B9938F524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B9C962-FA0E-424E-9D17-935A41487E3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be976fd28174d08"/>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0EB601B-2344-4C3B-9A20-51D0F50ECF1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7E69B3-98DB-4AC4-932F-FCA30B86A86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E0FAB365-B2C5-4BEA-B67D-F28892F514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8</a:t>
            </a:r>
          </a:p>
        </p:txBody>
      </p:sp>
    </p:spTree>
    <p:extLst>
      <p:ext uri="{BB962C8B-B14F-4D97-AF65-F5344CB8AC3E}">
        <p14:creationId xmlns:p14="http://schemas.microsoft.com/office/powerpoint/2010/main" val="84237872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A446D7-115B-4A98-8E26-9651734B177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5EBE43-ED43-41C3-AC45-0712D547F42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a925bdd6e7c458f"/>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F37B9CE-EC2D-4D45-BC65-7E2E6A11FB2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3FDACA-A71C-4FE8-99B6-82F0DFA4C3D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C6C33A39-4E1B-4811-8B3B-3AFF3711C0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9</a:t>
            </a:r>
          </a:p>
        </p:txBody>
      </p:sp>
    </p:spTree>
    <p:extLst>
      <p:ext uri="{BB962C8B-B14F-4D97-AF65-F5344CB8AC3E}">
        <p14:creationId xmlns:p14="http://schemas.microsoft.com/office/powerpoint/2010/main" val="28241377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663E98-1C34-4BF6-B77B-27B16EBC79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39B625-53F8-4735-83A0-B12CF84BE0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A5D66A8-2A54-496C-AC18-6853D703F8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D0A15E96-0564-4500-A5EE-0298C7648B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90ADB1-5C34-4318-8A3C-6946E9689C7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7E470410-6840-455F-AF4B-0C11C3163A9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5A7A58-7039-4CFC-81F7-9E8E36E299F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997C622A-166E-4A83-B73D-08EAB0559BF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45C27A-B874-45F9-BFAD-8456119744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E7CE2981-6F1D-4F97-8D42-92092842BC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10</a:t>
            </a:r>
          </a:p>
        </p:txBody>
      </p:sp>
    </p:spTree>
    <p:extLst>
      <p:ext uri="{BB962C8B-B14F-4D97-AF65-F5344CB8AC3E}">
        <p14:creationId xmlns:p14="http://schemas.microsoft.com/office/powerpoint/2010/main" val="32731504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09B2A8-1A09-4D46-8BCF-495251EF3B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916E18-3909-4D35-87C4-82FC655493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818E75-7497-4079-88D4-00B6728FEE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DAE204B2-33AE-42C4-B082-ED65D40330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2FEEA6-8EBC-4768-A4E7-69091DFD36F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73A788AD-D54F-49AB-9ED1-24E791EA9D1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B42800-4896-49B3-962C-E2D4044BB65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BB0BA6EE-6C15-4548-8177-0C6ED6DB8E6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56978E-D688-413F-B9E8-53910F96A7A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B52A2D4D-B9D4-43E3-8DE0-B7AC6E7CD9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11</a:t>
            </a:r>
          </a:p>
        </p:txBody>
      </p:sp>
    </p:spTree>
    <p:extLst>
      <p:ext uri="{BB962C8B-B14F-4D97-AF65-F5344CB8AC3E}">
        <p14:creationId xmlns:p14="http://schemas.microsoft.com/office/powerpoint/2010/main" val="185312482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88913D-E53B-469C-B028-D27790B721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D45ACA-93FC-490F-866C-F12657A554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31D040E-1FD4-437C-8537-0A5226A807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D0A882DC-68B1-4454-B304-3C23A8F71EB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53ECBB-0F0E-4128-93BB-F9CEC531E9F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AD84BB94-5601-4894-99C0-A6FD6E125DF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20B116DF-69B1-472A-B977-7109867D9EC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16181B9-DA2E-4FDA-9293-0178EE93787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684B0393-7558-4F3C-9C8E-52C6833741A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DE71E5B3-134B-487D-8BAB-ACE054B793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12</a:t>
            </a:r>
          </a:p>
        </p:txBody>
      </p:sp>
    </p:spTree>
    <p:extLst>
      <p:ext uri="{BB962C8B-B14F-4D97-AF65-F5344CB8AC3E}">
        <p14:creationId xmlns:p14="http://schemas.microsoft.com/office/powerpoint/2010/main" val="8043288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988A43-5CCD-4000-8913-7E0CF365AD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BB3024-36B0-46BF-B599-64C9661082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2430FF-8D26-496F-8F10-C416A3D061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in Python</a:t>
            </a:r>
          </a:p>
        </p:txBody>
      </p:sp>
      <p:sp>
        <p:nvSpPr>
          <p:cNvPr id="4" name="">
            <a:extLst xmlns:a="http://schemas.openxmlformats.org/drawingml/2006/main">
              <a:ext uri="{FF2B5EF4-FFF2-40B4-BE49-F238E27FC236}">
                <a16:creationId xmlns:a16="http://schemas.microsoft.com/office/drawing/2014/main" id="{A228EF49-2645-47B6-B3A5-263E44EBC44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90EF33-F00B-49D6-AE6E-BAD458182FC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B03FEFBC-1946-40EE-9660-33EA71323A8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8ED13952-0384-40AB-B362-3C2EEC76AF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588BE4D5-FB98-4B11-BF98-F15EAB3B11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13</a:t>
            </a:r>
          </a:p>
        </p:txBody>
      </p:sp>
    </p:spTree>
    <p:extLst>
      <p:ext uri="{BB962C8B-B14F-4D97-AF65-F5344CB8AC3E}">
        <p14:creationId xmlns:p14="http://schemas.microsoft.com/office/powerpoint/2010/main" val="82904137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CEF4B8-C939-45AF-B843-286AEFB13A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89D0C8-6557-440A-8ABF-AA6517F929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7779F231-E41F-4598-925B-8F6A331062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results</a:t>
            </a:r>
          </a:p>
        </p:txBody>
      </p:sp>
      <p:sp>
        <p:nvSpPr>
          <p:cNvPr id="4" name="">
            <a:extLst xmlns:a="http://schemas.openxmlformats.org/drawingml/2006/main">
              <a:ext uri="{FF2B5EF4-FFF2-40B4-BE49-F238E27FC236}">
                <a16:creationId xmlns:a16="http://schemas.microsoft.com/office/drawing/2014/main" id="{7BF6A6A5-520D-409D-B49A-5CE572F368E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3DE39A-EC87-4440-84C8-7B5126B3638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B754FF2F-CE78-4082-8C6A-57D1A5C32BC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41924BC-7811-4AC7-823C-7F7608E49B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14</a:t>
            </a:r>
          </a:p>
        </p:txBody>
      </p:sp>
    </p:spTree>
    <p:extLst>
      <p:ext uri="{BB962C8B-B14F-4D97-AF65-F5344CB8AC3E}">
        <p14:creationId xmlns:p14="http://schemas.microsoft.com/office/powerpoint/2010/main" val="170579122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57E080-7CA1-4459-9608-F3D25A1E8B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D7E282-EC91-477C-96A6-0A295D84F6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697875D-97F5-4841-A126-56F1912A03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BCF59A5F-BBD7-4371-88DC-76ACDEF712F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F74F4D-3990-49A7-A298-82049FCAF63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31A95E88-F594-4999-A26A-ECB998C0E45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16C5C53A-9C18-409C-961D-62F71D49A95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C7A398F-D97E-4238-BC98-EDC73E9108C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919C8605-DF6C-4D84-B842-36484A22327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A0AB6ABF-88B9-4B9B-955E-8B68821B2D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15</a:t>
            </a:r>
          </a:p>
        </p:txBody>
      </p:sp>
    </p:spTree>
    <p:extLst>
      <p:ext uri="{BB962C8B-B14F-4D97-AF65-F5344CB8AC3E}">
        <p14:creationId xmlns:p14="http://schemas.microsoft.com/office/powerpoint/2010/main" val="161928330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22E5D0-34AE-4546-9679-E45A5F05FB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DA8BFC-E655-4A4B-BB83-F3A27E9F86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4F94333-C6F3-4279-B113-EB5126F513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15BD8147-6312-4587-A9F2-F4E1BD69F3B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3786C3-BAF3-4C78-B081-45EB462FA25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ED6382DB-0F36-440B-93BE-9BBA3FE1D2F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ADC5236D-4394-458F-8593-3439975C885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5674C84-266B-4711-A220-FEF0DB7583D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CEF37150-568E-403B-92CB-EAAAE3213D5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E2319E9E-D34E-42AB-BDC0-B0D0DDB2F2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16</a:t>
            </a:r>
          </a:p>
        </p:txBody>
      </p:sp>
    </p:spTree>
    <p:extLst>
      <p:ext uri="{BB962C8B-B14F-4D97-AF65-F5344CB8AC3E}">
        <p14:creationId xmlns:p14="http://schemas.microsoft.com/office/powerpoint/2010/main" val="5156491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5BA40B-6837-437C-973B-CAB60A356B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249ACD-36F8-4061-803F-548EB881AD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A7C9BDE-52A4-4754-8076-243B96418E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E70EA301-E9F3-4F53-B8EF-E851C46100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DA37F4-4E9A-4684-AB4C-6AF644EC509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1A3C226D-5EE5-402B-AC35-F7981150F41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7D47C4-1663-42BB-A61F-55FD5764864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1F78A649-0288-495D-8641-4DA426584B3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13E5EA-9CE0-48E9-801D-87C0B8C5214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D12C3D5B-1D3C-407C-BC55-B8CE0D4D87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17</a:t>
            </a:r>
          </a:p>
        </p:txBody>
      </p:sp>
    </p:spTree>
    <p:extLst>
      <p:ext uri="{BB962C8B-B14F-4D97-AF65-F5344CB8AC3E}">
        <p14:creationId xmlns:p14="http://schemas.microsoft.com/office/powerpoint/2010/main" val="51605934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F82197-5747-48CA-AB30-834FE66371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FC35F7-0975-48C9-9DA2-62EE634BF6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C49EBA-74DB-4BF4-A532-D4B288D182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3A998CA-CF00-4384-B1AF-EBBFD7047F0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1E265E-C4FC-4F7B-B7B0-36DE4D985BD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6148E58-FABB-4327-B63C-232A534410F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04BC627B-842B-4F82-B708-3EECD5E3610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8D04F49A-C8C6-4D45-B54D-C70C54D4D8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18</a:t>
            </a:r>
          </a:p>
        </p:txBody>
      </p:sp>
    </p:spTree>
    <p:extLst>
      <p:ext uri="{BB962C8B-B14F-4D97-AF65-F5344CB8AC3E}">
        <p14:creationId xmlns:p14="http://schemas.microsoft.com/office/powerpoint/2010/main" val="41162142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E1C2B7-E624-448C-8C85-98A8AF7EC5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FD097E-247A-4A49-8C13-95E63B2F9C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B87BD1-6DED-4F7B-B758-424D79117F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97CE8BFB-5544-44FA-BDB0-D138EDF6B7E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4527B3-00B9-4D10-B7F5-3BE696528C8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21379D41-8ED8-44CB-87BC-D9346968F4C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6F2850-0799-46BC-A5B5-4F49ECD51E5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F6FFDC9B-D902-4882-BAE2-5365D4B3A12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F975AD-D04A-4C4D-8670-6DD7DD0BE45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A3BB0C6D-E973-448B-AEE1-63C3CF288AB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C7E6042-4E7E-46A3-9C74-60CEF47BD26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6F9D0FB7-C87C-4556-8A03-2149A4A733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19</a:t>
            </a:r>
          </a:p>
        </p:txBody>
      </p:sp>
    </p:spTree>
    <p:extLst>
      <p:ext uri="{BB962C8B-B14F-4D97-AF65-F5344CB8AC3E}">
        <p14:creationId xmlns:p14="http://schemas.microsoft.com/office/powerpoint/2010/main" val="177880648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6E14921-B675-4153-A9DE-9CAF3A938B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1B16D9-06FE-4FB6-B5B0-DF80B64AA1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BCF4AF-AB34-4D13-8A27-54AF8660A7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4443361C-76BE-46BC-8ED6-47FF0BE5699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28CCD8-A5CE-4246-9C78-AF6BAC0CD04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7322D551-9CF0-4559-A711-381144E3F8D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641D87-07A6-45D0-BE11-2C8E25E575E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C87F5C56-6976-4CE3-A8F4-235BC2D3AA0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56712E-CC4C-43DD-A322-FC72B429073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ED70380D-0B0E-4E26-9D8F-A3CA6F9355A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A878CA7-DB08-45E5-89AE-1B0764B7A5C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07970EF2-6551-4D48-8C41-4B8677A594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20</a:t>
            </a:r>
          </a:p>
        </p:txBody>
      </p:sp>
    </p:spTree>
    <p:extLst>
      <p:ext uri="{BB962C8B-B14F-4D97-AF65-F5344CB8AC3E}">
        <p14:creationId xmlns:p14="http://schemas.microsoft.com/office/powerpoint/2010/main" val="4326524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DBE2A75-AD04-4406-A32F-1DDA1051C2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CC3442-4967-4CAD-B524-72A88BAE0E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06D754-C31C-49B9-8AA9-D0BA128A56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3CF3360D-D9D5-44B8-A4DE-7722B5F7D47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67B6BB-F8A9-49C2-BBAC-9D492C2FE67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06C8AAAA-ED8E-4C06-AAB7-1FEEA3ADC5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21</a:t>
            </a:r>
          </a:p>
        </p:txBody>
      </p:sp>
    </p:spTree>
    <p:extLst>
      <p:ext uri="{BB962C8B-B14F-4D97-AF65-F5344CB8AC3E}">
        <p14:creationId xmlns:p14="http://schemas.microsoft.com/office/powerpoint/2010/main" val="49517616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C65B6C-BB27-4400-8410-080EE476AC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74FC03-C588-4225-98DD-71D55F5E5C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8F45689-2BDC-4327-835E-3924EA201C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2FE5054F-5272-405E-A148-46A34A0A31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4AD8E1-9FA0-49A0-A734-9929A606ED1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91B02065-EE87-4364-9F00-AFCE0A1664D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3933C4-4D1A-45A7-A6BC-437A0ADE27B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7AA3B8E6-C7EA-4E0D-8823-FACA8AE8884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1A0FEF-F6B6-46F0-819A-4C4CDF62C76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2CCCF2BA-CEC0-4D47-A55D-58BC5A62C36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D4DC502-7A84-4D85-B8D9-00871E72C01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5F651401-EED9-45A3-9D3E-9455C5A67C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22</a:t>
            </a:r>
          </a:p>
        </p:txBody>
      </p:sp>
    </p:spTree>
    <p:extLst>
      <p:ext uri="{BB962C8B-B14F-4D97-AF65-F5344CB8AC3E}">
        <p14:creationId xmlns:p14="http://schemas.microsoft.com/office/powerpoint/2010/main" val="196804987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4F93091-DD5E-4419-BF6B-26592C90F4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1271ED-DB5E-431E-8A71-9B19B21BFD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85FCEC33-0787-48CF-A11F-1B973F31C8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6DBD1C31-51E4-4E28-9CF2-1B8E0B5B6F5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E5FCCA-0CA1-44D8-AA4D-2F08CFD111B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564DFCC3-0BDB-42E1-B73D-6E426D869A6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D45ADAD-0605-47D6-A55F-F8CE519A8710}"/>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3080BF9-59E4-414A-AFF1-670C26C798E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10964E-C59E-41E9-A6C6-2384B8783471}"/>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083DAB8D-DB5C-4C3C-8A9D-178E1C9BE79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F4996A3-6BEC-46F2-B97B-461CFF076B6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9324dd85b2c474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BF22453-45CD-4EC6-9831-6DB048990E70}"/>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AE56B11-24FA-42DB-8546-42C88FB05E6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6424C46-FE58-4D93-8F86-1A06DDBD640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af61c322d634422"/>
              </a:rPr>
              <a:t>Open this week’s quiz</a:t>
            </a:r>
          </a:p>
        </p:txBody>
      </p:sp>
      <p:sp>
        <p:nvSpPr>
          <p:cNvPr id="16" name="">
            <a:extLst xmlns:a="http://schemas.openxmlformats.org/drawingml/2006/main">
              <a:ext uri="{FF2B5EF4-FFF2-40B4-BE49-F238E27FC236}">
                <a16:creationId xmlns:a16="http://schemas.microsoft.com/office/drawing/2014/main" id="{B312E27F-6C6A-4A57-A80E-340A6658BBE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https://forms.gle/SBN8HWXnKnXX34qw9</a:t>
            </a:r>
          </a:p>
        </p:txBody>
      </p:sp>
      <p:sp>
        <p:nvSpPr>
          <p:cNvPr id="17" name="">
            <a:extLst xmlns:a="http://schemas.openxmlformats.org/drawingml/2006/main">
              <a:ext uri="{FF2B5EF4-FFF2-40B4-BE49-F238E27FC236}">
                <a16:creationId xmlns:a16="http://schemas.microsoft.com/office/drawing/2014/main" id="{A28DBC15-C31A-4DE2-BE49-CB0743CBC0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23</a:t>
            </a:r>
          </a:p>
        </p:txBody>
      </p:sp>
    </p:spTree>
    <p:extLst>
      <p:ext uri="{BB962C8B-B14F-4D97-AF65-F5344CB8AC3E}">
        <p14:creationId xmlns:p14="http://schemas.microsoft.com/office/powerpoint/2010/main" val="1691990039"/>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023EA60-1357-4A73-B357-6A34AF2C7F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33BBEE2-48EB-420A-8318-95AB2CFEC8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7FAC765-7A76-47BD-9686-6BBB5014156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26E37D5A-3CE0-44A0-A1EA-179BE64A922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C84ED7F5-6F04-4C73-8386-C9F5D3A33C82}"/>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B8DC22D5-CB5A-44AB-81A4-C6C6DF3EE0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13   24</a:t>
            </a:r>
          </a:p>
        </p:txBody>
      </p:sp>
    </p:spTree>
    <p:extLst>
      <p:ext uri="{BB962C8B-B14F-4D97-AF65-F5344CB8AC3E}">
        <p14:creationId xmlns:p14="http://schemas.microsoft.com/office/powerpoint/2010/main" val="145928231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830E9A8-4876-46C3-BB8C-FA7A5FC586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025546-3405-4A3D-BD5F-89847D67CF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A5C3DC2-7B4D-411E-BB11-D710359AC8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9DA0CA4F-F9B0-4B0D-A393-68DDC0FB4BB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453659-4923-4AD2-BEF4-A447A60437D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09E22190-A9E5-41EF-BDDE-F30FDA6D676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ECF44A-8444-4996-BA8C-43CC740112B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A4F1602E-C20E-49EA-8859-CF533B31EBB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25864A-C498-4786-98D2-F3C49FBDD3A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58C5ECD4-0FAA-4D2F-A14D-A36B9073853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A172DA5-A4AA-4729-9835-30ADFA21059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C0A4C24B-3CA1-45B3-8E32-B6EC4A6D8F8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6F566B3-6515-48C2-A035-1F094009CB0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6de19158e164ff1"/>
              </a:rPr>
              <a:t>Open explainer video</a:t>
            </a:r>
          </a:p>
        </p:txBody>
      </p:sp>
      <p:sp>
        <p:nvSpPr>
          <p:cNvPr id="14" name="">
            <a:extLst xmlns:a="http://schemas.openxmlformats.org/drawingml/2006/main">
              <a:ext uri="{FF2B5EF4-FFF2-40B4-BE49-F238E27FC236}">
                <a16:creationId xmlns:a16="http://schemas.microsoft.com/office/drawing/2014/main" id="{60257D3A-64D8-4118-989E-9A59F26DD73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B9056071-AB21-4C42-8257-4823A75D16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25</a:t>
            </a:r>
          </a:p>
        </p:txBody>
      </p:sp>
    </p:spTree>
    <p:extLst>
      <p:ext uri="{BB962C8B-B14F-4D97-AF65-F5344CB8AC3E}">
        <p14:creationId xmlns:p14="http://schemas.microsoft.com/office/powerpoint/2010/main" val="14930935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2026-09-28T21:25:17.2430000Z</dcterms:created>
  <dcterms:modified xsi:type="dcterms:W3CDTF">2026-09-28T21:25:17.2430000Z</dcterms:modified>
</coreProperties>
</file>