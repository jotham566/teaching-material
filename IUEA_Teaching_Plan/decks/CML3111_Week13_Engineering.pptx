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17040cf085434169" Type="http://schemas.openxmlformats.org/package/2006/relationships/metadata/core-properties" Target="docProps/core.xml"/><Relationship Id="R3413b394d9ed484f" Type="http://schemas.openxmlformats.org/officeDocument/2006/relationships/officeDocument" Target="ppt/presentation.xml"/><Relationship Id="R3fdc60c971c04978"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692b7da831a94cbf"/>
  </p:sldMasterIdLst>
  <p:notesMasterIdLst>
    <p:notesMasterId xmlns:r="http://schemas.openxmlformats.org/officeDocument/2006/relationships" r:id="Rf291da8697894b5d"/>
  </p:notesMasterIdLst>
  <p:sldIdLst>
    <p:sldId xmlns:r="http://schemas.openxmlformats.org/officeDocument/2006/relationships" id="256" r:id="R4e17a8b69be44d37"/>
    <p:sldId xmlns:r="http://schemas.openxmlformats.org/officeDocument/2006/relationships" id="257" r:id="R39e9dbda7b57492a"/>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 xmlns:ns0="http://schemas.openxmlformats.org/officeDocument/2006/relationships" id="290" ns0:id="rId40"/>
    <p:sldId xmlns:ns0="http://schemas.openxmlformats.org/officeDocument/2006/relationships" id="291" ns0:id="rId41"/>
    <p:sldId xmlns:ns0="http://schemas.openxmlformats.org/officeDocument/2006/relationships" id="292" ns0:id="rId42"/>
    <p:sldId xmlns:ns0="http://schemas.openxmlformats.org/officeDocument/2006/relationships" id="293" ns0:id="rId43"/>
    <p:sldId xmlns:ns0="http://schemas.openxmlformats.org/officeDocument/2006/relationships" id="296" ns0:id="rId46"/>
    <p:sldId xmlns:r="http://schemas.openxmlformats.org/officeDocument/2006/relationships" id="258" r:id="Rc40ea7137be84e17"/>
    <p:sldId xmlns:r="http://schemas.openxmlformats.org/officeDocument/2006/relationships" id="259" r:id="R8c11679fe3584870"/>
    <p:sldId xmlns:r="http://schemas.openxmlformats.org/officeDocument/2006/relationships" id="260" r:id="Re041f620aabd4707"/>
    <p:sldId xmlns:r="http://schemas.openxmlformats.org/officeDocument/2006/relationships" id="261" r:id="R6ffb7a39e5cb44f0"/>
    <p:sldId xmlns:r="http://schemas.openxmlformats.org/officeDocument/2006/relationships" id="262" r:id="Rb296b5a70976443c"/>
    <p:sldId xmlns:r="http://schemas.openxmlformats.org/officeDocument/2006/relationships" id="263" r:id="Rd1c10a8916df4d66"/>
    <p:sldId xmlns:r="http://schemas.openxmlformats.org/officeDocument/2006/relationships" id="264" r:id="R25c3258e4da54f53"/>
    <p:sldId xmlns:r="http://schemas.openxmlformats.org/officeDocument/2006/relationships" id="265" r:id="R70d04182d72a4c3d"/>
    <p:sldId xmlns:r="http://schemas.openxmlformats.org/officeDocument/2006/relationships" id="266" r:id="Rb29210b5b0474757"/>
    <p:sldId xmlns:r="http://schemas.openxmlformats.org/officeDocument/2006/relationships" id="267" r:id="Rddb29dda9c534883"/>
    <p:sldId xmlns:r="http://schemas.openxmlformats.org/officeDocument/2006/relationships" id="268" r:id="Re7f67ef6fbe8403d"/>
    <p:sldId xmlns:r="http://schemas.openxmlformats.org/officeDocument/2006/relationships" id="269" r:id="R16d4ea7da45f478f"/>
    <p:sldId xmlns:r="http://schemas.openxmlformats.org/officeDocument/2006/relationships" id="270" r:id="R63d1f3c4c9d44211"/>
    <p:sldId xmlns:ns0="http://schemas.openxmlformats.org/officeDocument/2006/relationships" id="295" ns0:id="rId45"/>
    <p:sldId xmlns:ns0="http://schemas.openxmlformats.org/officeDocument/2006/relationships" id="294" ns0:id="rId44"/>
    <p:sldId xmlns:r="http://schemas.openxmlformats.org/officeDocument/2006/relationships" id="271" r:id="R5d1d415480e94c10"/>
    <p:sldId xmlns:r="http://schemas.openxmlformats.org/officeDocument/2006/relationships" id="272" r:id="R46f20b4fa7e34e5c"/>
    <p:sldId xmlns:r="http://schemas.openxmlformats.org/officeDocument/2006/relationships" id="273" r:id="Rffe03acdd9b24b83"/>
    <p:sldId xmlns:r="http://schemas.openxmlformats.org/officeDocument/2006/relationships" id="274" r:id="Rb820e244d0f64f96"/>
    <p:sldId xmlns:r="http://schemas.openxmlformats.org/officeDocument/2006/relationships" id="275" r:id="R2806175cf4ed43fc"/>
    <p:sldId xmlns:r="http://schemas.openxmlformats.org/officeDocument/2006/relationships" id="276" r:id="R65c8dcd3e70e4660"/>
    <p:sldId xmlns:r="http://schemas.openxmlformats.org/officeDocument/2006/relationships" id="277" r:id="R646fb881d06f4bc4"/>
    <p:sldId xmlns:r="http://schemas.openxmlformats.org/officeDocument/2006/relationships" id="278" r:id="Rf9e2d20a800c494f"/>
    <p:sldId xmlns:r="http://schemas.openxmlformats.org/officeDocument/2006/relationships" id="279" r:id="R3ecb72e246184aa5"/>
    <p:sldId xmlns:r="http://schemas.openxmlformats.org/officeDocument/2006/relationships" id="280" r:id="R3fe32a97834347ce"/>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dbbe1f2cc384828" Type="http://schemas.openxmlformats.org/officeDocument/2006/relationships/tableStyles" Target="tableStyles.xml"/><Relationship Id="R16d4ea7da45f478f" Type="http://schemas.openxmlformats.org/officeDocument/2006/relationships/slide" Target="slides/slide28.xml"/><Relationship Id="R25c3258e4da54f53" Type="http://schemas.openxmlformats.org/officeDocument/2006/relationships/slide" Target="slides/slide23.xml"/><Relationship Id="R2806175cf4ed43fc" Type="http://schemas.openxmlformats.org/officeDocument/2006/relationships/slide" Target="slides/slide36.xml"/><Relationship Id="R39e9dbda7b57492a" Type="http://schemas.openxmlformats.org/officeDocument/2006/relationships/slide" Target="slides/slide2.xml"/><Relationship Id="R3ecb72e246184aa5" Type="http://schemas.openxmlformats.org/officeDocument/2006/relationships/slide" Target="slides/slide40.xml"/><Relationship Id="R3fe32a97834347ce" Type="http://schemas.openxmlformats.org/officeDocument/2006/relationships/slide" Target="slides/slide41.xml"/><Relationship Id="R40ff67dc740e4910" Type="http://schemas.openxmlformats.org/officeDocument/2006/relationships/theme" Target="theme/theme1.xml"/><Relationship Id="R46f20b4fa7e34e5c" Type="http://schemas.openxmlformats.org/officeDocument/2006/relationships/slide" Target="slides/slide33.xml"/><Relationship Id="R4e17a8b69be44d37" Type="http://schemas.openxmlformats.org/officeDocument/2006/relationships/slide" Target="slides/slide1.xml"/><Relationship Id="R5a4782975f2040a9" Type="http://schemas.openxmlformats.org/officeDocument/2006/relationships/presProps" Target="presProps.xml"/><Relationship Id="R5d1d415480e94c10" Type="http://schemas.openxmlformats.org/officeDocument/2006/relationships/slide" Target="slides/slide32.xml"/><Relationship Id="R63d1f3c4c9d44211" Type="http://schemas.openxmlformats.org/officeDocument/2006/relationships/slide" Target="slides/slide29.xml"/><Relationship Id="R646fb881d06f4bc4" Type="http://schemas.openxmlformats.org/officeDocument/2006/relationships/slide" Target="slides/slide38.xml"/><Relationship Id="R65c8dcd3e70e4660" Type="http://schemas.openxmlformats.org/officeDocument/2006/relationships/slide" Target="slides/slide37.xml"/><Relationship Id="R692b7da831a94cbf" Type="http://schemas.openxmlformats.org/officeDocument/2006/relationships/slideMaster" Target="slideMasters/slideMaster1.xml"/><Relationship Id="R6ffb7a39e5cb44f0" Type="http://schemas.openxmlformats.org/officeDocument/2006/relationships/slide" Target="slides/slide20.xml"/><Relationship Id="R70d04182d72a4c3d" Type="http://schemas.openxmlformats.org/officeDocument/2006/relationships/slide" Target="slides/slide24.xml"/><Relationship Id="R8c11679fe3584870" Type="http://schemas.openxmlformats.org/officeDocument/2006/relationships/slide" Target="slides/slide18.xml"/><Relationship Id="Rb29210b5b0474757" Type="http://schemas.openxmlformats.org/officeDocument/2006/relationships/slide" Target="slides/slide25.xml"/><Relationship Id="Rb296b5a70976443c" Type="http://schemas.openxmlformats.org/officeDocument/2006/relationships/slide" Target="slides/slide21.xml"/><Relationship Id="Rb820e244d0f64f96" Type="http://schemas.openxmlformats.org/officeDocument/2006/relationships/slide" Target="slides/slide35.xml"/><Relationship Id="Rc40ea7137be84e17" Type="http://schemas.openxmlformats.org/officeDocument/2006/relationships/slide" Target="slides/slide17.xml"/><Relationship Id="Rd1c10a8916df4d66" Type="http://schemas.openxmlformats.org/officeDocument/2006/relationships/slide" Target="slides/slide22.xml"/><Relationship Id="Rddb29dda9c534883" Type="http://schemas.openxmlformats.org/officeDocument/2006/relationships/slide" Target="slides/slide26.xml"/><Relationship Id="Re041f620aabd4707" Type="http://schemas.openxmlformats.org/officeDocument/2006/relationships/slide" Target="slides/slide19.xml"/><Relationship Id="Re7f67ef6fbe8403d" Type="http://schemas.openxmlformats.org/officeDocument/2006/relationships/slide" Target="slides/slide27.xml"/><Relationship Id="Rf291da8697894b5d" Type="http://schemas.openxmlformats.org/officeDocument/2006/relationships/notesMaster" Target="notesMasters/notesMaster1.xml"/><Relationship Id="Rf9e2d20a800c494f" Type="http://schemas.openxmlformats.org/officeDocument/2006/relationships/slide" Target="slides/slide39.xml"/><Relationship Id="Rffe03acdd9b24b83" Type="http://schemas.openxmlformats.org/officeDocument/2006/relationships/slide" Target="slides/slide34.xml"/><Relationship Id="rId31" Type="http://schemas.openxmlformats.org/officeDocument/2006/relationships/slide" Target="slides/slide3.xml"/><Relationship Id="rId32" Type="http://schemas.openxmlformats.org/officeDocument/2006/relationships/slide" Target="slides/slide4.xml"/><Relationship Id="rId33" Type="http://schemas.openxmlformats.org/officeDocument/2006/relationships/slide" Target="slides/slide5.xml"/><Relationship Id="rId34" Type="http://schemas.openxmlformats.org/officeDocument/2006/relationships/slide" Target="slides/slide6.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slide" Target="slides/slide15.xml"/><Relationship Id="rId44"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fc509e71abf04c5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94b496075034444" Type="http://schemas.openxmlformats.org/officeDocument/2006/relationships/slide" Target="../slides/slide1.xml"/><Relationship Id="R49dce7ec92ed44cf"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570e4067be3a47bd" Type="http://schemas.openxmlformats.org/officeDocument/2006/relationships/notesMaster" Target="../notesMasters/notesMaster1.xml"/><Relationship Id="Rbbee7ab7134c49cb"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1f8c7d1796ae4044" Type="http://schemas.openxmlformats.org/officeDocument/2006/relationships/slide" Target="../slides/slide17.xml"/><Relationship Id="R2bde0360b61d421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2f8cb03e79b44c4f" Type="http://schemas.openxmlformats.org/officeDocument/2006/relationships/slide" Target="../slides/slide18.xml"/><Relationship Id="R3efa302f53d54aeb"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e2cb4158d9c343a5" Type="http://schemas.openxmlformats.org/officeDocument/2006/relationships/slide" Target="../slides/slide19.xml"/><Relationship Id="Re5b0e6e627a84d64"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1b07b06c9f2a4c30" Type="http://schemas.openxmlformats.org/officeDocument/2006/relationships/slide" Target="../slides/slide20.xml"/><Relationship Id="R3a518ad40a244a23"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0472f5ea7c474fa3" Type="http://schemas.openxmlformats.org/officeDocument/2006/relationships/notesMaster" Target="../notesMasters/notesMaster1.xml"/><Relationship Id="Rcdd06d034a82410b"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046f27bd8ce94ca9" Type="http://schemas.openxmlformats.org/officeDocument/2006/relationships/notesMaster" Target="../notesMasters/notesMaster1.xml"/><Relationship Id="Rb94a7b7cfc984f64"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8321ca8ccc1f48e0" Type="http://schemas.openxmlformats.org/officeDocument/2006/relationships/slide" Target="../slides/slide23.xml"/><Relationship Id="Ra2e14e2e0f8d458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30bb9fdf357b4585" Type="http://schemas.openxmlformats.org/officeDocument/2006/relationships/slide" Target="../slides/slide24.xml"/><Relationship Id="Ra9a37eff384b43ba"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0644ab5212f940fa" Type="http://schemas.openxmlformats.org/officeDocument/2006/relationships/notesMaster" Target="../notesMasters/notesMaster1.xml"/><Relationship Id="Rde26c0cda41b410d"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4b51191ab9b04eda" Type="http://schemas.openxmlformats.org/officeDocument/2006/relationships/slide" Target="../slides/slide26.xml"/><Relationship Id="R4bc025b2411e41ee"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b80d99d2a92344ce" Type="http://schemas.openxmlformats.org/officeDocument/2006/relationships/slide" Target="../slides/slide27.xml"/><Relationship Id="Rce9fa284270e4084"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6e09e490cf6d4fec" Type="http://schemas.openxmlformats.org/officeDocument/2006/relationships/slide" Target="../slides/slide28.xml"/><Relationship Id="Ra5ee96b28e904aa6"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a57ae0b2685943cb" Type="http://schemas.openxmlformats.org/officeDocument/2006/relationships/slide" Target="../slides/slide29.xml"/><Relationship Id="Rd81a1a3e1a224467"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92428e4cbdeb4a08" Type="http://schemas.openxmlformats.org/officeDocument/2006/relationships/slide" Target="../slides/slide32.xml"/><Relationship Id="Reaf7c266900043e5"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700d6a4bb93b471a" Type="http://schemas.openxmlformats.org/officeDocument/2006/relationships/slide" Target="../slides/slide33.xml"/><Relationship Id="Rbb7177e51e67431c"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8d9bc913dd9046ab" Type="http://schemas.openxmlformats.org/officeDocument/2006/relationships/notesMaster" Target="../notesMasters/notesMaster1.xml"/><Relationship Id="Rac63f285e3da4480"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051bb5ea2a2d43fe" Type="http://schemas.openxmlformats.org/officeDocument/2006/relationships/notesMaster" Target="../notesMasters/notesMaster1.xml"/><Relationship Id="R6d60c27b79634ca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1ea06d77fd304440" Type="http://schemas.openxmlformats.org/officeDocument/2006/relationships/notesMaster" Target="../notesMasters/notesMaster1.xml"/><Relationship Id="R7026bd80c8d5408c"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94dbe442e3df45b6" Type="http://schemas.openxmlformats.org/officeDocument/2006/relationships/notesMaster" Target="../notesMasters/notesMaster1.xml"/><Relationship Id="Ra2660afd96b741c4"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775fedbef990462f" Type="http://schemas.openxmlformats.org/officeDocument/2006/relationships/notesMaster" Target="../notesMasters/notesMaster1.xml"/><Relationship Id="Rc747666048db4ca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0e9b3d11758545a5" Type="http://schemas.openxmlformats.org/officeDocument/2006/relationships/slide" Target="../slides/slide39.xml"/><Relationship Id="Raa4d3f7cc792408b"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3583a57d51114c7b" Type="http://schemas.openxmlformats.org/officeDocument/2006/relationships/notesMaster" Target="../notesMasters/notesMaster1.xml"/><Relationship Id="Re9be284ca8524f78"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0c68f74d754f43e6" Type="http://schemas.openxmlformats.org/officeDocument/2006/relationships/slide" Target="../slides/slide41.xml"/><Relationship Id="R6300072dc71747e0"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13 for CML3111, Communications, Electrical, Mechatronics and Robotics Engineering.</a:t>
            </a:r>
          </a:p>
          <a:p xmlns:a="http://schemas.openxmlformats.org/drawingml/2006/main"/>
          <a:p xmlns:a="http://schemas.openxmlformats.org/drawingml/2006/main">
            <a:r>
              <a:t>By now we have built models and charts for our project. This week we make that work something another person can open and run. We will learn how to describe our project so a stranger can follow it, and how to check for ourselves that it really runs from the start. The day, time and room are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has two halves. In the first half we finish our tour of modelling. We learn to hold a flexible model back with a penalty, which is called regularisation, and we meet a model that predicts from the nearest neighbours. Then we compare five candidates fairly. In the second half we turn to the project. We make it runnable by someone else from a clean start, because a result that nobody else can reproduce is hard to trust. By the end you can say what regularisation, alpha and k mean, read a table of candidates, and follow your own written instructions to reproduce your results from a clean 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the first half of today. Regularisation means holding a model back, so that it cannot chase every wobble in the training rows. The usual way is a penalty, an extra cost added to the loss whenever the coefficients get large. Ridge regression is a line or a curve fitted with exactly that kind of penalty. The setting alpha says how strong the penalty is, and, like the depth of a tree, it is a hyperparameter that we choose before training.</a:t>
            </a:r>
          </a:p>
          <a:p/>
          <a:p>
            <a:r>
              <a:t>A polynomial feature is a power of an input, such as load squared or load cubed. Adding powers gives a straight-line method room to bend, and a flexible curve often needs holding back. Lasso is a cousin of ridge that can push some coefficients all the way to zero. We only name it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experiments, we set up the same tables as in the last weeks. We read the file, drop repeated record IDs, and keep the rows that have a target and a valid load. Then we pick out the training rows, the equipment groups E1 to E4, and the validation rows, which are E5. The last group, E6, stays sealed.</a:t>
            </a:r>
          </a:p>
          <a:p/>
          <a:p>
            <a:r>
              <a:t>X holds the two inputs, load and ambient temperature. Y holds the target, which here is motor temperature. The last line prints the sizes: 58 training rows and 15 validation rows. Every experiment today uses these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curve built from the powers of load, up to load to the power of 6. That gives a straight-line method a lot of room to bend. On the left there is no penalty, so the curve is free to chase the training rows, the dark dots. On the right we add a penalty with alpha equal to one, and the curve calms down.</a:t>
            </a:r>
          </a:p>
          <a:p/>
          <a:p>
            <a:r>
              <a:t>The orange diamonds are the validation rows. They are the honest test of each curve, because neither curve has seen them. Notice that the penalised curve is smoother, and that its error on the training rows is slightly larger than the free curve's error. We accept a slightly worse fit to the training rows in exchange for a more stable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idea in one line. Training lowers a loss, and the loss we know is built from the squared misses. In scikit-learn's Ridge we add up the squared misses over all the training rows. Ridge then adds a second part: alpha times the sum of the squared coefficients. A model can now lower its loss in two ways, by fitting the data better, or by making its coefficients smaller. The starting level of the line, the intercept, is left out of the penalty.</a:t>
            </a:r>
          </a:p>
          <a:p/>
          <a:p>
            <a:r>
              <a:t>When alpha is zero there is no penalty, and we are back to ordinary least squares. A larger alpha pushes the coefficients toward zero and calms the curve. We choose alpha the same way we chose the depth of a tree, by looking at the validation rows.</a:t>
            </a:r>
          </a:p>
          <a:p/>
          <a:p>
            <a:r>
              <a:t>One practical detail. The penalty adds up the squares of all coefficients and treats them alike, so the inputs must be on a common ruler first. That is the reason StandardScaler appears in the pipeline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code. The function curve model builds one pipeline from three steps. The first step, PolynomialFeatures with six, adds the powers of the input: load, load squared, up to load to the power of six. The second step, StandardScaler, puts those columns on a common ruler. The third step is the estimator we pass in.</a:t>
            </a:r>
          </a:p>
          <a:p/>
          <a:p>
            <a:r>
              <a:t>The dictionary below keeps three versions side by side. The first uses LinearRegression, which has no penalty. The second uses Ridge with alpha equal to one. The third uses Ridge with alpha equal to one hundred. Nothing is fitted yet. The pipelines are recipes.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the three models and score each one twice, on the training rows it learned from and on the validation rows it has never seen. We keep only the load column, because the curve is built from powers of load alone.</a:t>
            </a:r>
          </a:p>
          <a:p/>
          <a:p>
            <a:r>
              <a:t>Read the three printed lines. With no penalty the training error is 4.02 and the validation error is 4.60. With alpha equal to one they are 4.16 and 4.20. With alpha equal to one hundred they are 5.82 and 6.87.</a:t>
            </a:r>
          </a:p>
          <a:p/>
          <a:p>
            <a:r>
              <a:t>The penalty of one improved the validation error, which suggests that holding the curve back helped. A penalty of one hundred is too strong, and both errors rise, because the curve is held so tightly that it can no longer follow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second column. Without a penalty, the largest coefficient on the scaled columns is over 10,000. These huge coefficients cancel each other out to draw a wiggly curve. With alpha equal to one the largest coefficient shrinks to 10.8, and with alpha equal to one hundred to 2.6.</a:t>
            </a:r>
          </a:p>
          <a:p/>
          <a:p>
            <a:r>
              <a:t>That is shrinkage. The penalty keeps all coefficients small, and a model with small coefficients is much less able to swing between training rows. For comparison, a plain straight line on load alone scores 4.30 deg C on the validation rows. The best curve here scores 4.20, so with only fifteen validation rows the two are too close to separate. The big gain comes from a better input: the Week 8 line with both load and ambient temperature scores 0.78.</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A neighbour is a training row whose inputs are close to the inputs of a new row. Distance says how close, measured over all the inputs, and for this to be fair the inputs must be scaled first. The number k says how many neighbours we use. K nearest neighbours, written KNN, predicts by averaging the targets of the k closest training rows. People call it a lazy learner, because it stores the training rows and does its work only when a prediction is asked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KNN at work. The star is one validation row, the one with record_id 5. The grey dots are the training rows. To predict, we find the three training rows closest to the star, which are the green dots. Their targets are 65.441, 70.592 and 74.039, all in deg C.</a:t>
            </a:r>
          </a:p>
          <a:p/>
          <a:p>
            <a:r>
              <a:t>The prediction is their average, 70.0 deg C. The true value for this row is 67.034, so the miss is 3.0. Distances are measured after scaling both inputs, so a step of one typical swing in load counts the same as a step of one typical swing in ambient temperature. The picture uses the scaled columns, so the nearest rows really are the nearest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steps. The imputer fills the one blank ambient temperature in the training rows, using the median, which is the middle value. The scaler puts load and ambient temperature on a common ruler, because KNN measures distance and an unscaled input with big numbers would dominate. The last step is the KNN regressor, and n neighbors is the number we called k.</a:t>
            </a:r>
          </a:p>
          <a:p/>
          <a:p>
            <a:r>
              <a:t>The loop tries three values of k and prints the validation error for each. Read the three lines. With k equal to 3 the error is 1.58 deg C, the lowest of the three. With k equal to one the model copies a single neighbour, noise included. With k equal to twenty it averages so many rows that the prediction becomes blurry. As with tree depth, a small value chases noise and a very large value misses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choose k? We do what we did for tree depth and for alpha: try several values and compare the validation error. A very small k chases noise. A very large k averages too much and blurs the pattern. In our rows k equal to 3 gave the lowest error of the three values we tried.</a:t>
            </a:r>
          </a:p>
          <a:p/>
          <a:p>
            <a:r>
              <a:t>There is a price to remember. KNN keeps every training row. For each prediction it measures the distance to all of them, so it gets slower as the training table grows. A line or a tree is quick to answer once trained. For a small engineering table the difference is invisible, and for a million rows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candidates scored on the same validation rows, with the baseline at the top. The average guess is the reference. The straight line using both inputs scores 0.78. The depth four tree scores 4.79. The ridge curve on load alone scores 4.20. KNN with k equal to three scores 1.58.</a:t>
            </a:r>
          </a:p>
          <a:p/>
          <a:p>
            <a:r>
              <a:t>The straight line on both inputs fits these rows best, and KNN on the same two inputs comes second. The ridge curve sees only the load, so its row is not a like-for-like comparison. A flexible model earns its place only when the pattern needs it. When two models score about the same, we choose the simpler one, because it is easier to explain and to maintain. One caution: we picked alpha and k by looking at these same validation rows, so these scores are slightly optimistic. The sealed test group gives the final check later. We will use this reasoning in the project write-up.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modelling block, here is a quick guide to which model for which job. A straight line works well when the pattern is close to a straight path, and it fails on curves. Ridge suits flexible or crowded inputs where overfitting is a risk, and it needs scaling and a sensible alpha. A decision tree handles inputs that interact, and its answers can be jumpy. A random forest smooths a jumpy tree and gives up some clarity. KNN works when nearby rows really are similar, and it needs scaling and gets slow on big tables.</a:t>
            </a:r>
          </a:p>
          <a:p/>
          <a:p>
            <a:r>
              <a:t>No row in this table is the best everywhere. We choose with evidence from validation rows, and we explain the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from the modelling half. Regularisation holds a model back with a penalty. Alpha is the strength of that penalty. Shrinkage is what the penalty does to the coefficients. A neighbour is a close training row and k is how many we use. KNN averages the targets of the k closest rows. Alpha and k are both hyperparameters, settings we choose before training. Shrinkage and neighbours lead into the second half of today, where we make the project runnable by someone else.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where we stopped last time.</a:t>
            </a:r>
          </a:p>
          <a:p xmlns:a="http://schemas.openxmlformats.org/drawingml/2006/main"/>
          <a:p xmlns:a="http://schemas.openxmlformats.org/drawingml/2006/main">
            <a:r>
              <a:t>Our models already exist, and so do our charts. The hard modelling work is done. What remains is a different kind of job. We must make the evidence understandable to someone who was not sitting next to us, and we must make it runnable from the files we hand over.</a:t>
            </a:r>
          </a:p>
          <a:p xmlns:a="http://schemas.openxmlformats.org/drawingml/2006/main"/>
          <a:p xmlns:a="http://schemas.openxmlformats.org/drawingml/2006/main">
            <a:r>
              <a:t>Think of it as packing a toolbox for a colleague. The tools are made. Now we label them and check the colleague can open the box and use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a quick revision of the pandas habits we already have.</a:t>
            </a:r>
          </a:p>
          <a:p xmlns:a="http://schemas.openxmlformats.org/drawingml/2006/main"/>
          <a:p xmlns:a="http://schemas.openxmlformats.org/drawingml/2006/main">
            <a:r>
              <a:t>We load a CSV file with pd dot read underscore csv. We keep the raw data exactly as it arrived and never edit that original. Throughout the investigation we refer to columns by their names, so the code reads clearly.</a:t>
            </a:r>
          </a:p>
          <a:p xmlns:a="http://schemas.openxmlformats.org/drawingml/2006/main"/>
          <a:p xmlns:a="http://schemas.openxmlformats.org/drawingml/2006/main">
            <a:r>
              <a:t>We use pandas for cleaning the data, for making summaries and for preparing the inputs to our models. When we write a function for an assessment, we return the Python types that the published instructions ask for. This is revision only. Nothing new is being added to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lines of code matter for handover, so we read them slowly.</a:t>
            </a:r>
          </a:p>
          <a:p xmlns:a="http://schemas.openxmlformats.org/drawingml/2006/main"/>
          <a:p xmlns:a="http://schemas.openxmlformats.org/drawingml/2006/main">
            <a:r>
              <a:t>The first is pd dot read underscore csv, with the text data slash raw slash engineering underscore data dot csv. A path is the address of a file. This one says to look in a folder called data, then a folder inside it called raw, and find the file there. The address starts from the working folder of the notebook, which is the folder where the notebook is currently running. So the README must say which folder that is.</a:t>
            </a:r>
          </a:p>
          <a:p xmlns:a="http://schemas.openxmlformats.org/drawingml/2006/main"/>
          <a:p xmlns:a="http://schemas.openxmlformats.org/drawingml/2006/main">
            <a:r>
              <a:t>The second is clean dot to underscore csv, with the name cleaned underscore data dot csv, and index equals False. It saves our table as a file. Setting index to False stops pandas from adding its row numbers as an extra column in the saved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do we need these tools this week?</a:t>
            </a:r>
          </a:p>
          <a:p xmlns:a="http://schemas.openxmlformats.org/drawingml/2006/main"/>
          <a:p xmlns:a="http://schemas.openxmlformats.org/drawingml/2006/main">
            <a:r>
              <a:t>We say a project is ready for handover when its files and its written instructions reproduce its results in a fresh session. That is a clear test. We hand the work over, someone starts from nothing, follows our words, and gets our results.</a:t>
            </a:r>
          </a:p>
          <a:p xmlns:a="http://schemas.openxmlformats.org/drawingml/2006/main"/>
          <a:p xmlns:a="http://schemas.openxmlformats.org/drawingml/2006/main">
            <a:r>
              <a:t>While we prepare, we check each claim we make against the results in our notebook. If we write that a model reached a certain score, the notebook must show that score when it runs. A claim with nothing behind it weakens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to define before we go further.</a:t>
            </a:r>
          </a:p>
          <a:p xmlns:a="http://schemas.openxmlformats.org/drawingml/2006/main"/>
          <a:p xmlns:a="http://schemas.openxmlformats.org/drawingml/2006/main">
            <a:r>
              <a:t>Reproducibility means another person can take our stated data, our stated software setup and our stated steps, and get the same result we reported. People use this word in slightly different ways, so in our README we say exactly what we mean by getting the same result.</a:t>
            </a:r>
          </a:p>
          <a:p xmlns:a="http://schemas.openxmlformats.org/drawingml/2006/main"/>
          <a:p xmlns:a="http://schemas.openxmlformats.org/drawingml/2006/main">
            <a:r>
              <a:t>A dependency is a package our code needs in order to run. Pandas is a dependency. Scikit-learn is another. When we record dependencies, we write down the versions we actually used. We look them up, because a guess might be wrong, and a wrong version can make the code behave differently on someone else's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terms.</a:t>
            </a:r>
          </a:p>
          <a:p xmlns:a="http://schemas.openxmlformats.org/drawingml/2006/main"/>
          <a:p xmlns:a="http://schemas.openxmlformats.org/drawingml/2006/main">
            <a:r>
              <a:t>A relative path is a file location that is read from the current working folder. If our working folder holds a folder called data, the relative path data slash readings dot csv leads to the readings file inside it. In some tools the working folder is a different place from the folder that holds the notebook, so we always check where we are running.</a:t>
            </a:r>
          </a:p>
          <a:p xmlns:a="http://schemas.openxmlformats.org/drawingml/2006/main"/>
          <a:p xmlns:a="http://schemas.openxmlformats.org/drawingml/2006/main">
            <a:r>
              <a:t>A README is the instruction page for the project. It tells a newcomer the question we are answering, the files included, where the data came from, the software needed, the order to run things, the results, and the limitations. If someone can read only one file, this is the one we want them to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a useful README holds, in four parts.</a:t>
            </a:r>
          </a:p>
          <a:p xmlns:a="http://schemas.openxmlformats.org/drawingml/2006/main"/>
          <a:p xmlns:a="http://schemas.openxmlformats.org/drawingml/2006/main">
            <a:r>
              <a:t>First, we state the engineering question and the unit of the target. For example, we write that we predict motor temperature in deg C, and we write which one.</a:t>
            </a:r>
          </a:p>
          <a:p xmlns:a="http://schemas.openxmlformats.org/drawingml/2006/main"/>
          <a:p xmlns:a="http://schemas.openxmlformats.org/drawingml/2006/main">
            <a:r>
              <a:t>Second, we list the data supplied and the software versions needed.</a:t>
            </a:r>
          </a:p>
          <a:p xmlns:a="http://schemas.openxmlformats.org/drawingml/2006/main"/>
          <a:p xmlns:a="http://schemas.openxmlformats.org/drawingml/2006/main">
            <a:r>
              <a:t>Third, we give the order for running the notebook from a fresh session. Open this file, load this data, run the cells from top to bottom.</a:t>
            </a:r>
          </a:p>
          <a:p xmlns:a="http://schemas.openxmlformats.org/drawingml/2006/main"/>
          <a:p xmlns:a="http://schemas.openxmlformats.org/drawingml/2006/main">
            <a:r>
              <a:t>Fourth, we state the limitations of our work and what each team member contributed. The README is written for someone opening the project for the first time, so we choose specific words. Instead of saying run the analysis, we name the notebook and the data file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picture a real situation. Someone else has our project folder, and they must reproduce our result. We will not be there to answer questions.</a:t>
            </a:r>
          </a:p>
          <a:p xmlns:a="http://schemas.openxmlformats.org/drawingml/2006/main"/>
          <a:p xmlns:a="http://schemas.openxmlformats.org/drawingml/2006/main">
            <a:r>
              <a:t>Take a minute and think about what that person needs from us. What do they need to know to open the files, put the data in the right place and run the notebook in the right order?</a:t>
            </a:r>
          </a:p>
          <a:p xmlns:a="http://schemas.openxmlformats.org/drawingml/2006/main"/>
          <a:p xmlns:a="http://schemas.openxmlformats.org/drawingml/2006/main">
            <a:r>
              <a:t>Keep your list, because the next slides show how a clean restart tests whether our instructions are good enough.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notebook can start from a fresh session and still give the answers it shows.</a:t>
            </a:r>
          </a:p>
          <a:p xmlns:a="http://schemas.openxmlformats.org/drawingml/2006/main"/>
          <a:p xmlns:a="http://schemas.openxmlformats.org/drawingml/2006/main">
            <a:r>
              <a:t>When we work, our notebook builds up variables in memory. Cells that we ran earlier, or even deleted, may still leave their effects behind. The saved outputs on the page can then look right while the code underneath could no longer produce them.</a:t>
            </a:r>
          </a:p>
          <a:p xmlns:a="http://schemas.openxmlformats.org/drawingml/2006/main"/>
          <a:p xmlns:a="http://schemas.openxmlformats.org/drawingml/2006/main">
            <a:r>
              <a:t>So the test is simple. We restart the session, run the cells in the order the README states, and compare what appears with the saved outputs. If they agree, the notebook passes our fresh-start check. If they differ, we have found something to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are saved outputs risky? Three points.</a:t>
            </a:r>
          </a:p>
          <a:p xmlns:a="http://schemas.openxmlformats.org/drawingml/2006/main"/>
          <a:p xmlns:a="http://schemas.openxmlformats.org/drawingml/2006/main">
            <a:r>
              <a:t>One. A notebook can display an old answer even after its inputs have changed. The number on the screen was produced earlier and nothing refreshed it.</a:t>
            </a:r>
          </a:p>
          <a:p xmlns:a="http://schemas.openxmlformats.org/drawingml/2006/main"/>
          <a:p xmlns:a="http://schemas.openxmlformats.org/drawingml/2006/main">
            <a:r>
              <a:t>Two. A fresh session starts without any of the old variables. Anything the code relied on, but which we forgot to create in a cell, will be missing.</a:t>
            </a:r>
          </a:p>
          <a:p xmlns:a="http://schemas.openxmlformats.org/drawingml/2006/main"/>
          <a:p xmlns:a="http://schemas.openxmlformats.org/drawingml/2006/main">
            <a:r>
              <a:t>Three. Restarting and running all the cells tests whether the stated order really creates the result. If a cell fails with a name error, we have found a missing step. That is a useful discovery, because we can fix it before anyone else meets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about paths and versions.</a:t>
            </a:r>
          </a:p>
          <a:p xmlns:a="http://schemas.openxmlformats.org/drawingml/2006/main"/>
          <a:p xmlns:a="http://schemas.openxmlformats.org/drawingml/2006/main">
            <a:r>
              <a:t>One. A relative path is read from the current working folder. So a path like data slash readings dot csv works on any computer, on any computer, as long as the person is running from the right folder.</a:t>
            </a:r>
          </a:p>
          <a:p xmlns:a="http://schemas.openxmlformats.org/drawingml/2006/main"/>
          <a:p xmlns:a="http://schemas.openxmlformats.org/drawingml/2006/main">
            <a:r>
              <a:t>Two. Package versions describe the software we used to run the code. Different versions can give different behaviour, so we record them.</a:t>
            </a:r>
          </a:p>
          <a:p xmlns:a="http://schemas.openxmlformats.org/drawingml/2006/main"/>
          <a:p xmlns:a="http://schemas.openxmlformats.org/drawingml/2006/main">
            <a:r>
              <a:t>Three. The README must give two kinds of instruction. It must say how to run the project, and it must say how to get the data. If the data is large or private, the README tells the reader where to obtain it and where to place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a small piece of code that tells us where we are running.</a:t>
            </a:r>
          </a:p>
          <a:p xmlns:a="http://schemas.openxmlformats.org/drawingml/2006/main"/>
          <a:p xmlns:a="http://schemas.openxmlformats.org/drawingml/2006/main">
            <a:r>
              <a:t>The word Path is a tool we import from a Python module called pathlib. It helps us work with file locations. The call Path dot cwd, with brackets, gives us the folder where Python is running right now. The letters cwd stand for current working directory, which is another name for the working folder.</a:t>
            </a:r>
          </a:p>
          <a:p xmlns:a="http://schemas.openxmlformats.org/drawingml/2006/main"/>
          <a:p xmlns:a="http://schemas.openxmlformats.org/drawingml/2006/main">
            <a:r>
              <a:t>Then dot name gives only the last folder in that location, as plain text. This depends on the computer and runtime. On your laptop the answer may be one folder name, and on a classmate's computer it will be another. That difference is expected. What matters is that the README states which folder the project should run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items go in the handover.</a:t>
            </a:r>
          </a:p>
          <a:p xmlns:a="http://schemas.openxmlformats.org/drawingml/2006/main"/>
          <a:p xmlns:a="http://schemas.openxmlformats.org/drawingml/2006/main">
            <a:r>
              <a:t>The first is a file called requirements dot txt. It is a plain text file that lists the Python packages our project needs, with their versions. We record the versions from the environment where our project works. Then we test them by following our own run instructions.</a:t>
            </a:r>
          </a:p>
          <a:p xmlns:a="http://schemas.openxmlformats.org/drawingml/2006/main"/>
          <a:p xmlns:a="http://schemas.openxmlformats.org/drawingml/2006/main">
            <a:r>
              <a:t>The second item is information about the data and about randomness. We name where the data came from, and any licence or permission that allows us to reuse it. We also record the random seeds we used in modelling. A seed makes random choices repeat, so the split of data comes out the same each time. It helps repeatability. If the test data leaked into training, though, the seed leaves that problem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reader needs to know which versions of the tools you used, because a newer version can behave differently. This short cell asks Python for them. The first line imports the tools and the system module. The next lines print the Python version and the version of pandas, NumPy and scikit-learn.</a:t>
            </a:r>
          </a:p>
          <a:p/>
          <a:p>
            <a:r>
              <a:t>Your own run prints the numbers. We copy them into a small text file called requirements dot txt, one tool on each line, written as the tool name, two equals signs and the version. Someone else can then install the same versions with one command, pip install dash r requirements dot txt, and mention the Python version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Colab, a fresh start has a few specific steps. Uploaded files live only as long as the runtime. So before the check, upload your data file to the Files panel, or mount Drive, and put it exactly where your README says it goes.</a:t>
            </a:r>
          </a:p>
          <a:p/>
          <a:p>
            <a:r>
              <a:t>Then choose Runtime, Restart session, and Run all. A restart clears every variable from memory but keeps uploaded files. The other choice, Disconnect and delete runtime, wipes the uploaded files as well, so after that we upload them again before we run. If every cell runs from top to bottom with no error and the results match what we saved, the notebook passes our fresh-start check.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final items for the handover.</a:t>
            </a:r>
          </a:p>
          <a:p xmlns:a="http://schemas.openxmlformats.org/drawingml/2006/main"/>
          <a:p xmlns:a="http://schemas.openxmlformats.org/drawingml/2006/main">
            <a:r>
              <a:t>An independent run check means we restart the session and follow our own written instructions, without relying on any variable we made earlier. We keep a record of the first place where it failed and how we repaired it. That record shows we really tested the instructions.</a:t>
            </a:r>
          </a:p>
          <a:p xmlns:a="http://schemas.openxmlformats.org/drawingml/2006/main"/>
          <a:p xmlns:a="http://schemas.openxmlformats.org/drawingml/2006/main">
            <a:r>
              <a:t>Contribution evidence is a record of what each person did. It points to files, commits or explanations. A commit is a saved step in the project history. For example, one member may say they wrote the cleaning function and can explain it. Making a private repository public is not required for this. We can show the evidence in the way the project brief allows.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test a classmate's project, how should we report problems?</a:t>
            </a:r>
          </a:p>
          <a:p xmlns:a="http://schemas.openxmlformats.org/drawingml/2006/main"/>
          <a:p xmlns:a="http://schemas.openxmlformats.org/drawingml/2006/main">
            <a:r>
              <a:t>Vague feedback says, it does not work. That tells the author nothing about where to look.</a:t>
            </a:r>
          </a:p>
          <a:p xmlns:a="http://schemas.openxmlformats.org/drawingml/2006/main"/>
          <a:p xmlns:a="http://schemas.openxmlformats.org/drawingml/2006/main">
            <a:r>
              <a:t>Useful feedback is exact. For example, Step 2 names data dot csv, but the supplied file is readings dot csv. Now the author knows the step, the problem, and what to change.</a:t>
            </a:r>
          </a:p>
          <a:p xmlns:a="http://schemas.openxmlformats.org/drawingml/2006/main"/>
          <a:p xmlns:a="http://schemas.openxmlformats.org/drawingml/2006/main">
            <a:r>
              <a:t>The repair is to make the instructions and the actual filename agree. Either we correct the text in the README, or we rename the file, and then we run the project again from the start. Good feedback names the failed step and the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short revision example for you to try alone, and then we check the answer.</a:t>
            </a:r>
          </a:p>
          <a:p xmlns:a="http://schemas.openxmlformats.org/drawingml/2006/main"/>
          <a:p xmlns:a="http://schemas.openxmlformats.org/drawingml/2006/main">
            <a:r>
              <a:t>The check is this. We restart the notebook runtime, then we follow our README exactly, without using any variable we remember from earlier.</a:t>
            </a:r>
          </a:p>
          <a:p xmlns:a="http://schemas.openxmlformats.org/drawingml/2006/main"/>
          <a:p xmlns:a="http://schemas.openxmlformats.org/drawingml/2006/main">
            <a:r>
              <a:t>Suppose Step 2 says to load data dot csv, but the file in the folder is called readings dot csv. The run fails at that step. The fix is to correct the filename in the instructions. Then we run again from the beginning, and when it works, we record the successful result. Notice that we start over each time, because a repair near the end is only proven when the whole run passes.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be clear about what to do after class.</a:t>
            </a:r>
          </a:p>
          <a:p xmlns:a="http://schemas.openxmlformats.org/drawingml/2006/main"/>
          <a:p xmlns:a="http://schemas.openxmlformats.org/drawingml/2006/main">
            <a:r>
              <a:t>There is no new weekly assignment this week. We continue with the official project deliverables, and we complete the Week 13 quiz.</a:t>
            </a:r>
          </a:p>
          <a:p xmlns:a="http://schemas.openxmlformats.org/drawingml/2006/main"/>
          <a:p xmlns:a="http://schemas.openxmlformats.org/drawingml/2006/main">
            <a:r>
              <a:t>We also prepare for Colab Test 2 in Week 14. Practise saving your test notebook and submitting it, and revise the published function interfaces. An interface is the function name, its inputs and what it returns, and the test expects them exactly as published.</a:t>
            </a:r>
          </a:p>
          <a:p xmlns:a="http://schemas.openxmlformats.org/drawingml/2006/main"/>
          <a:p xmlns:a="http://schemas.openxmlformats.org/drawingml/2006/main">
            <a:r>
              <a:t>Please do not add an extra upload. Nothing beyond the official deliverables is being asked for.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gather what makes a handover reproducible, in four points.</a:t>
            </a:r>
          </a:p>
          <a:p xmlns:a="http://schemas.openxmlformats.org/drawingml/2006/main"/>
          <a:p xmlns:a="http://schemas.openxmlformats.org/drawingml/2006/main">
            <a:r>
              <a:t>One. An absolute path from our own computer, such as one that includes our username, will usually fail on someone else's machine.</a:t>
            </a:r>
          </a:p>
          <a:p xmlns:a="http://schemas.openxmlformats.org/drawingml/2006/main"/>
          <a:p xmlns:a="http://schemas.openxmlformats.org/drawingml/2006/main">
            <a:r>
              <a:t>Two. A relative path starts from the current working folder, so it travels with the project.</a:t>
            </a:r>
          </a:p>
          <a:p xmlns:a="http://schemas.openxmlformats.org/drawingml/2006/main"/>
          <a:p xmlns:a="http://schemas.openxmlformats.org/drawingml/2006/main">
            <a:r>
              <a:t>Three. We record the dependencies and the actual versions, and we fix randomness where appropriate by setting seeds. A seed alone does not guarantee identical results on every machine, so we describe our setup too.</a:t>
            </a:r>
          </a:p>
          <a:p xmlns:a="http://schemas.openxmlformats.org/drawingml/2006/main"/>
          <a:p xmlns:a="http://schemas.openxmlformats.org/drawingml/2006/main">
            <a:r>
              <a:t>Four. Our chart captions should state a finding that the evidence supports, and say how far it applies.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last handover habit.</a:t>
            </a:r>
          </a:p>
          <a:p xmlns:a="http://schemas.openxmlformats.org/drawingml/2006/main"/>
          <a:p xmlns:a="http://schemas.openxmlformats.org/drawingml/2006/main">
            <a:r>
              <a:t>Before we submit, we remove conflicting cell assignments. That means we search the notebook for places where the same variable is given different values in different cells, because the final answer then depends on which cell was run last.</a:t>
            </a:r>
          </a:p>
          <a:p xmlns:a="http://schemas.openxmlformats.org/drawingml/2006/main"/>
          <a:p xmlns:a="http://schemas.openxmlformats.org/drawingml/2006/main">
            <a:r>
              <a:t>After that cleanup, we verify a fresh run. We restart the session, run everything from the top, and check that the results match what we report. Only then do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to our project preparation. There are four steps.</a:t>
            </a:r>
          </a:p>
          <a:p xmlns:a="http://schemas.openxmlformats.org/drawingml/2006/main"/>
          <a:p xmlns:a="http://schemas.openxmlformats.org/drawingml/2006/main">
            <a:r>
              <a:t>First, use the published machine learning project brief. It is the official statement of what we must deliver.</a:t>
            </a:r>
          </a:p>
          <a:p xmlns:a="http://schemas.openxmlformats.org/drawingml/2006/main"/>
          <a:p xmlns:a="http://schemas.openxmlformats.org/drawingml/2006/main">
            <a:r>
              <a:t>Second, build the evidence gradually in the project notebook. We add to it a little each week, so the work does not pile up at the end.</a:t>
            </a:r>
          </a:p>
          <a:p xmlns:a="http://schemas.openxmlformats.org/drawingml/2006/main"/>
          <a:p xmlns:a="http://schemas.openxmlformats.org/drawingml/2006/main">
            <a:r>
              <a:t>Third, keep the raw data, labelled charts, run instructions and each person's contribution.</a:t>
            </a:r>
          </a:p>
          <a:p xmlns:a="http://schemas.openxmlformats.org/drawingml/2006/main"/>
          <a:p xmlns:a="http://schemas.openxmlformats.org/drawingml/2006/main">
            <a:r>
              <a:t>Fourth, check the published deadline on the slide, and plan backward from it so the independent run check is finished with time to spare.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13 quiz is next.</a:t>
            </a:r>
          </a:p>
          <a:p xmlns:a="http://schemas.openxmlformats.org/drawingml/2006/main"/>
          <a:p xmlns:a="http://schemas.openxmlformats.org/drawingml/2006/main">
            <a:r>
              <a:t>Answer it individually. It opens when we activate it, and it then stays open for 24 hours. Use your Student Registration Number and your registered account when you sign in. The quiz link is on the slide.</a:t>
            </a:r>
          </a:p>
          <a:p xmlns:a="http://schemas.openxmlformats.org/drawingml/2006/main"/>
          <a:p xmlns:a="http://schemas.openxmlformats.org/drawingml/2006/main">
            <a:r>
              <a:t>Check the announced closing time, and do not leave it until the last minutes. Once the quiz is active, answer it on your own.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individual exit check.</a:t>
            </a:r>
          </a:p>
          <a:p xmlns:a="http://schemas.openxmlformats.org/drawingml/2006/main"/>
          <a:p xmlns:a="http://schemas.openxmlformats.org/drawingml/2006/main">
            <a:r>
              <a:t>Explain it to yourself first. Another learner should be able to follow your README and reproduce the stated result. Ask whether that is true of your project today.</a:t>
            </a:r>
          </a:p>
          <a:p xmlns:a="http://schemas.openxmlformats.org/drawingml/2006/main"/>
          <a:p xmlns:a="http://schemas.openxmlformats.org/drawingml/2006/main">
            <a:r>
              <a:t>Then point to your evidence. Find the file, the chart or the run record that shows it. Save your work, and check which files are required for submission, so that what you submit is the file you intended.</a:t>
            </a:r>
          </a:p>
          <a:p xmlns:a="http://schemas.openxmlformats.org/drawingml/2006/main"/>
          <a:p xmlns:a="http://schemas.openxmlformats.org/drawingml/2006/main">
            <a:r>
              <a:t>If something is missing, note it now and fix it 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it is meant for revision after class.</a:t>
            </a:r>
          </a:p>
          <a:p xmlns:a="http://schemas.openxmlformats.org/drawingml/2006/main"/>
          <a:p xmlns:a="http://schemas.openxmlformats.org/drawingml/2006/main">
            <a:r>
              <a:t>It is a GitHub tutorial for beginners from CodeWithChris. Watch the parts shown on the slide, from the start to two minutes ten seconds, and then from three thirty-five to six oh eight. Together that is about four minutes forty-three seconds.</a:t>
            </a:r>
          </a:p>
          <a:p xmlns:a="http://schemas.openxmlformats.org/drawingml/2006/main"/>
          <a:p xmlns:a="http://schemas.openxmlformats.org/drawingml/2006/main">
            <a:r>
              <a:t>As you watch, keep this question in mind. Why do we keep history, and what is a repository? Try to answer it in your own words afterwards.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ff85cc126244153"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bda0a6f26f5a44b8"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28042434fac4f3f"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da7a63aee9f1400a"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0231190379fa401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8d5b96a602a24314"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2EA5A20-0C44-4C56-91E2-2672D4D7C9E5}"/>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0BC07C-07B3-4A37-A9C2-07ABA75EFAE7}"/>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69FA4DB3-B166-4BCF-9612-8A31C185627D}"/>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1C7B96B-7BAD-4E80-AD6F-F8A1BB0F15A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041059C-052F-456B-9557-3DD7581C6D9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E60FD1E-575B-4048-BF9D-5818DABD64DF}"/>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7C8E1029-AAF8-4C05-A714-5CF50FE644F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D4079A-750A-48A4-9463-BAF8B9581987}"/>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2C1096C-6EAF-45C8-87B4-964A0E90EC3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75E9DB9-48C6-4A20-9DEE-C4D52DBADC9C}"/>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273727b7b634cb5" Type="http://schemas.openxmlformats.org/officeDocument/2006/relationships/slideLayout" Target="../slideLayouts/slideLayout4.xml"/><Relationship Id="R493ac164950f490e" Type="http://schemas.openxmlformats.org/officeDocument/2006/relationships/slideLayout" Target="../slideLayouts/slideLayout3.xml"/><Relationship Id="R8fab35b453304dba" Type="http://schemas.openxmlformats.org/officeDocument/2006/relationships/slideLayout" Target="../slideLayouts/slideLayout6.xml"/><Relationship Id="R9677a042a8da4938" Type="http://schemas.openxmlformats.org/officeDocument/2006/relationships/theme" Target="theme/theme2.xml"/><Relationship Id="Ra85919f403404649" Type="http://schemas.openxmlformats.org/officeDocument/2006/relationships/slideLayout" Target="../slideLayouts/slideLayout1.xml"/><Relationship Id="Rcbc00dfee6cd4d2f" Type="http://schemas.openxmlformats.org/officeDocument/2006/relationships/slideLayout" Target="../slideLayouts/slideLayout5.xml"/><Relationship Id="Re6686bee015b4720"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85919f403404649"/>
    <p:sldLayoutId xmlns:r="http://schemas.openxmlformats.org/officeDocument/2006/relationships" id="2147483650" r:id="Re6686bee015b4720"/>
    <p:sldLayoutId xmlns:r="http://schemas.openxmlformats.org/officeDocument/2006/relationships" id="2147483651" r:id="R493ac164950f490e"/>
    <p:sldLayoutId xmlns:r="http://schemas.openxmlformats.org/officeDocument/2006/relationships" id="2147483652" r:id="R4273727b7b634cb5"/>
    <p:sldLayoutId xmlns:r="http://schemas.openxmlformats.org/officeDocument/2006/relationships" id="2147483653" r:id="Rcbc00dfee6cd4d2f"/>
    <p:sldLayoutId xmlns:r="http://schemas.openxmlformats.org/officeDocument/2006/relationships" id="2147483654" r:id="R8fab35b453304db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57a1965919ce4cbf" Type="http://schemas.openxmlformats.org/officeDocument/2006/relationships/image" Target="../media/image.png"/><Relationship Id="Ra37032a7cf354ff7" Type="http://schemas.openxmlformats.org/officeDocument/2006/relationships/notesSlide" Target="../notesSlides/notesSlide1.xml"/><Relationship Id="Rb1fb891d56a84b4f"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059a59e4f6504977" Type="http://schemas.openxmlformats.org/officeDocument/2006/relationships/notesSlide" Target="../notesSlides/notesSlide2.xml"/><Relationship Id="Ra4e790f90991446e"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7c58ba38279c42f7" Type="http://schemas.openxmlformats.org/officeDocument/2006/relationships/notesSlide" Target="../notesSlides/notesSlide17.xml"/><Relationship Id="R8773527906b449ea"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36b798cba6d1437d" Type="http://schemas.openxmlformats.org/officeDocument/2006/relationships/notesSlide" Target="../notesSlides/notesSlide18.xml"/><Relationship Id="R82a5af0ff40e4eda"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a4a6b42c68d541dd" Type="http://schemas.openxmlformats.org/officeDocument/2006/relationships/notesSlide" Target="../notesSlides/notesSlide19.xml"/><Relationship Id="Rd41c3b0f948844d6"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752c83b461b74100" Type="http://schemas.openxmlformats.org/officeDocument/2006/relationships/notesSlide" Target="../notesSlides/notesSlide20.xml"/><Relationship Id="Rcdea84c8430c403a"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915e9060f9364fcf" Type="http://schemas.openxmlformats.org/officeDocument/2006/relationships/notesSlide" Target="../notesSlides/notesSlide21.xml"/><Relationship Id="Re68300d649fd49ac"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79f31d47a62e4bca" Type="http://schemas.openxmlformats.org/officeDocument/2006/relationships/notesSlide" Target="../notesSlides/notesSlide22.xml"/><Relationship Id="Rb7704ca511be4b4d"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b2ee8781a5f04e73" Type="http://schemas.openxmlformats.org/officeDocument/2006/relationships/slideLayout" Target="../slideLayouts/slideLayout6.xml"/><Relationship Id="Rd9551fa9027d466f"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69d06fba4d7347f6" Type="http://schemas.openxmlformats.org/officeDocument/2006/relationships/notesSlide" Target="../notesSlides/notesSlide24.xml"/><Relationship Id="Ra0e5cf0694b64a9a" Type="http://schemas.openxmlformats.org/officeDocument/2006/relationships/slideLayout" Target="../slideLayouts/slideLayout6.xml"/><Relationship Id="Rd27d63ec9d6f4ed0" Type="http://schemas.openxmlformats.org/officeDocument/2006/relationships/image" Target="../media/image2.png"/></Relationships>
</file>

<file path=ppt/slides/_rels/slide25.xml.rels><?xml version='1.0' encoding='UTF-8' standalone='yes'?>
<Relationships xmlns="http://schemas.openxmlformats.org/package/2006/relationships"><Relationship Id="R5b1ee5c80c0c4e17" Type="http://schemas.openxmlformats.org/officeDocument/2006/relationships/slideLayout" Target="../slideLayouts/slideLayout6.xml"/><Relationship Id="R6d8dc42ecf424e8f" Type="http://schemas.openxmlformats.org/officeDocument/2006/relationships/image" Target="../media/image3.png"/><Relationship Id="Reb177152847b434b"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5c20a878c4ff411d" Type="http://schemas.openxmlformats.org/officeDocument/2006/relationships/slideLayout" Target="../slideLayouts/slideLayout6.xml"/><Relationship Id="R5dd0dfad7fdd434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1ebfe4ffeb2846ac" Type="http://schemas.openxmlformats.org/officeDocument/2006/relationships/notesSlide" Target="../notesSlides/notesSlide27.xml"/><Relationship Id="R5ab88e6d99c44440"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3bd7f7e6347a4006" Type="http://schemas.openxmlformats.org/officeDocument/2006/relationships/notesSlide" Target="../notesSlides/notesSlide28.xml"/><Relationship Id="Rfd61e859097e4922"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75ab45ce1a544818" Type="http://schemas.openxmlformats.org/officeDocument/2006/relationships/slideLayout" Target="../slideLayouts/slideLayout6.xml"/><Relationship Id="Rc8a24360f98a4f4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70e285c03ab2492a" Type="http://schemas.openxmlformats.org/officeDocument/2006/relationships/notesSlide" Target="../notesSlides/notesSlide32.xml"/><Relationship Id="Rcf5a2868c899423d"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35b7827cfdc3437c" Type="http://schemas.openxmlformats.org/officeDocument/2006/relationships/notesSlide" Target="../notesSlides/notesSlide33.xml"/><Relationship Id="R41f631073dc44f3f"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79c1cdabedcf4435" Type="http://schemas.openxmlformats.org/officeDocument/2006/relationships/slideLayout" Target="../slideLayouts/slideLayout6.xml"/><Relationship Id="Rc72b6e6114414e8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9c4d5ec3f5b5406f" Type="http://schemas.openxmlformats.org/officeDocument/2006/relationships/notesSlide" Target="../notesSlides/notesSlide35.xml"/><Relationship Id="Rcf57add562c84744"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ab0644fa8a464ed8" Type="http://schemas.openxmlformats.org/officeDocument/2006/relationships/slideLayout" Target="../slideLayouts/slideLayout6.xml"/><Relationship Id="Rc0f4f237d8404bee"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0436f45e868a4f8e" Type="http://schemas.openxmlformats.org/officeDocument/2006/relationships/notesSlide" Target="../notesSlides/notesSlide37.xml"/><Relationship Id="R20ffd4ab441f46e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a56f9a1da9764330" Type="http://schemas.openxmlformats.org/officeDocument/2006/relationships/slideLayout" Target="../slideLayouts/slideLayout6.xml"/><Relationship Id="Ra7e75e63b1d249ba"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51eb656b23d244d1" Type="http://schemas.openxmlformats.org/officeDocument/2006/relationships/slideLayout" Target="../slideLayouts/slideLayout6.xml"/><Relationship Id="Ra938ebf5cb3e4a2a" Type="http://schemas.openxmlformats.org/officeDocument/2006/relationships/image" Target="../media/image4.png"/><Relationship Id="Rae3dae50c5c74b5e" Type="http://schemas.openxmlformats.org/officeDocument/2006/relationships/hyperlink" Target="https://forms.gle/ameQRYSJ5kfrpcKWA" TargetMode="External"/><Relationship Id="Re2c8ba96537e41b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ba479aff971f4912" Type="http://schemas.openxmlformats.org/officeDocument/2006/relationships/slideLayout" Target="../slideLayouts/slideLayout6.xml"/><Relationship Id="Rfcc0d8699e8d4f1a"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8892988f18034790" Type="http://schemas.openxmlformats.org/officeDocument/2006/relationships/hyperlink" Target="https://www.youtube.com/watch?v=v5gnvDUWqFM" TargetMode="External"/><Relationship Id="R900963d7603449fa" Type="http://schemas.openxmlformats.org/officeDocument/2006/relationships/slideLayout" Target="../slideLayouts/slideLayout6.xml"/><Relationship Id="Re1ddb6763f7b4b10" Type="http://schemas.openxmlformats.org/officeDocument/2006/relationships/notesSlide" Target="../notesSlides/notesSlide4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CB703069-1023-4A83-9634-8E6BCEA49FDF}"/>
              </a:ext>
            </a:extLst>
          </p:cNvPr>
          <p:cNvPicPr>
            <a:picLocks xmlns:a="http://schemas.openxmlformats.org/drawingml/2006/main" noChangeAspect="1"/>
          </p:cNvPicPr>
          <p:nvPr/>
        </p:nvPicPr>
        <p:blipFill>
          <a:blip xmlns:r="http://schemas.openxmlformats.org/officeDocument/2006/relationships" xmlns:a="http://schemas.openxmlformats.org/drawingml/2006/main" r:embed="R57a1965919ce4cb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9F0D082-B493-4F65-AA8C-10414F83570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27412A91-2689-49AE-BE77-1C3B8B399D58}"/>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CML3111   WEEK 13</a:t>
            </a:r>
          </a:p>
        </p:txBody>
      </p:sp>
      <p:sp>
        <p:nvSpPr>
          <p:cNvPr id="4" name="">
            <a:extLst xmlns:a="http://schemas.openxmlformats.org/drawingml/2006/main">
              <a:ext uri="{FF2B5EF4-FFF2-40B4-BE49-F238E27FC236}">
                <a16:creationId xmlns:a16="http://schemas.microsoft.com/office/drawing/2014/main" id="{7B7BFE40-38BC-4A52-84DB-1D20A198C4C7}"/>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381E6834-0AFC-4BA8-B924-ED6DD919A178}"/>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Communications, Electrical, Mechatronics and Robotics Engineering</a:t>
            </a:r>
          </a:p>
        </p:txBody>
      </p:sp>
      <p:sp>
        <p:nvSpPr>
          <p:cNvPr id="6" name="">
            <a:extLst xmlns:a="http://schemas.openxmlformats.org/drawingml/2006/main">
              <a:ext uri="{FF2B5EF4-FFF2-40B4-BE49-F238E27FC236}">
                <a16:creationId xmlns:a16="http://schemas.microsoft.com/office/drawing/2014/main" id="{297F5133-BD51-4CE5-A30B-18FEF3B19CA3}"/>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11:00–14:00, Room 115</a:t>
            </a:r>
          </a:p>
        </p:txBody>
      </p:sp>
    </p:spTree>
    <p:extLst>
      <p:ext uri="{BB962C8B-B14F-4D97-AF65-F5344CB8AC3E}">
        <p14:creationId xmlns:p14="http://schemas.microsoft.com/office/powerpoint/2010/main" val="104419337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B99C09-E2EF-43BC-A66C-9EBE292325D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E935EEB-47E2-4163-860C-1764637957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5A8E6A8D-C62B-4590-827C-D0302BAF0F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77CDB4B1-8CF8-4F9A-A466-617C9FC98D6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42C027F-7C49-4701-855B-19E1611FC936}"/>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7D0DABA5-0B72-4A13-BB42-A8F66B105FCE}"/>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Hold a flexible model back with a penalty and predict from the nearest neighbours.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five candidates fairly.</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the project run for someone else, from a clean start.</a:t>
            </a:r>
          </a:p>
        </p:txBody>
      </p:sp>
      <p:sp>
        <p:nvSpPr>
          <p:cNvPr id="7" name="">
            <a:extLst xmlns:a="http://schemas.openxmlformats.org/drawingml/2006/main">
              <a:ext uri="{FF2B5EF4-FFF2-40B4-BE49-F238E27FC236}">
                <a16:creationId xmlns:a16="http://schemas.microsoft.com/office/drawing/2014/main" id="{731F570B-88CC-431B-ABC7-8785DB6C6DA3}"/>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013E0489-E45B-452C-8068-DE9DF7936754}"/>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say what regularisation, alpha and k mean, and read a table of candidates.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written instructions and reproduce your stated result.</a:t>
            </a:r>
          </a:p>
        </p:txBody>
      </p:sp>
      <p:sp>
        <p:nvSpPr>
          <p:cNvPr id="9" name="">
            <a:extLst xmlns:a="http://schemas.openxmlformats.org/drawingml/2006/main">
              <a:ext uri="{FF2B5EF4-FFF2-40B4-BE49-F238E27FC236}">
                <a16:creationId xmlns:a16="http://schemas.microsoft.com/office/drawing/2014/main" id="{E3E9E88A-135B-4C53-8B3F-5419D21B2F6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a:t>
            </a:r>
          </a:p>
        </p:txBody>
      </p:sp>
    </p:spTree>
    <p:extLst>
      <p:ext uri="{BB962C8B-B14F-4D97-AF65-F5344CB8AC3E}">
        <p14:creationId xmlns:p14="http://schemas.microsoft.com/office/powerpoint/2010/main" val="182912998"/>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holding a model back</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so that it cannot chase noise.</a:t>
                      </a:r>
                    </a:p>
                  </a:txBody>
                  <a:tcPr marL="101600" marR="101600" marT="38100" marB="38100" anchor="ctr">
                    <a:solidFill>
                      <a:srgbClr val="EEF3F6"/>
                    </a:solidFill>
                  </a:tcPr>
                </a:tc>
                <a:tc>
                  <a:txBody>
                    <a:bodyPr wrap="square"/>
                    <a:lstStyle/>
                    <a:p>
                      <a:r>
                        <a:rPr sz="1700" b="0">
                          <a:solidFill>
                            <a:srgbClr val="1C3144"/>
                          </a:solidFill>
                          <a:latin typeface="Calibri"/>
                        </a:rPr>
                        <a:t>Ridge regression</a:t>
                      </a:r>
                    </a:p>
                  </a:txBody>
                  <a:tcPr marL="101600" marR="101600" marT="38100" marB="38100" anchor="ctr">
                    <a:solidFill>
                      <a:srgbClr val="EEF3F6"/>
                    </a:solidFill>
                  </a:tcPr>
                </a:tc>
              </a:tr>
              <a:tr h="660400">
                <a:tc>
                  <a:txBody>
                    <a:bodyPr wrap="square"/>
                    <a:lstStyle/>
                    <a:p>
                      <a:r>
                        <a:rPr sz="1700" b="1">
                          <a:solidFill>
                            <a:srgbClr val="1C3144"/>
                          </a:solidFill>
                          <a:latin typeface="Calibri"/>
                        </a:rPr>
                        <a:t>Penalty</a:t>
                      </a:r>
                    </a:p>
                  </a:txBody>
                  <a:tcPr marL="101600" marR="101600" marT="38100" marB="38100" anchor="ctr">
                    <a:solidFill>
                      <a:srgbClr val="FFFFFF"/>
                    </a:solidFill>
                  </a:tcPr>
                </a:tc>
                <a:tc>
                  <a:txBody>
                    <a:bodyPr wrap="square"/>
                    <a:lstStyle/>
                    <a:p>
                      <a:r>
                        <a:rPr sz="1700" b="0">
                          <a:solidFill>
                            <a:srgbClr val="1C3144"/>
                          </a:solidFill>
                          <a:latin typeface="Calibri"/>
                        </a:rPr>
                        <a:t>An extra cost added to the loss for large coefficients.</a:t>
                      </a:r>
                    </a:p>
                  </a:txBody>
                  <a:tcPr marL="101600" marR="101600" marT="38100" marB="38100" anchor="ctr">
                    <a:solidFill>
                      <a:srgbClr val="FFFFFF"/>
                    </a:solidFill>
                  </a:tcPr>
                </a:tc>
                <a:tc>
                  <a:txBody>
                    <a:bodyPr wrap="square"/>
                    <a:lstStyle/>
                    <a:p>
                      <a:r>
                        <a:rPr sz="1700" b="0">
                          <a:solidFill>
                            <a:srgbClr val="1C3144"/>
                          </a:solidFill>
                          <a:latin typeface="Calibri"/>
                        </a:rPr>
                        <a:t>alpha × sum of squared coefficients</a:t>
                      </a:r>
                    </a:p>
                  </a:txBody>
                  <a:tcPr marL="101600" marR="101600" marT="38100" marB="38100" anchor="ctr">
                    <a:solidFill>
                      <a:srgbClr val="FFFFFF"/>
                    </a:solidFill>
                  </a:tcPr>
                </a:tc>
              </a:tr>
              <a:tr h="660400">
                <a:tc>
                  <a:txBody>
                    <a:bodyPr wrap="square"/>
                    <a:lstStyle/>
                    <a:p>
                      <a:r>
                        <a:rPr sz="1700" b="1">
                          <a:solidFill>
                            <a:srgbClr val="1C3144"/>
                          </a:solidFill>
                          <a:latin typeface="Calibri"/>
                        </a:rPr>
                        <a:t>Ridge regression</a:t>
                      </a:r>
                    </a:p>
                  </a:txBody>
                  <a:tcPr marL="101600" marR="101600" marT="38100" marB="38100" anchor="ctr">
                    <a:solidFill>
                      <a:srgbClr val="EEF3F6"/>
                    </a:solidFill>
                  </a:tcPr>
                </a:tc>
                <a:tc>
                  <a:txBody>
                    <a:bodyPr wrap="square"/>
                    <a:lstStyle/>
                    <a:p>
                      <a:r>
                        <a:rPr sz="1700" b="0">
                          <a:solidFill>
                            <a:srgbClr val="1C3144"/>
                          </a:solidFill>
                          <a:latin typeface="Calibri"/>
                        </a:rPr>
                        <a:t>A line or curve fitted with a penalty on its coefficients.</a:t>
                      </a:r>
                    </a:p>
                  </a:txBody>
                  <a:tcPr marL="101600" marR="101600" marT="38100" marB="38100" anchor="ctr">
                    <a:solidFill>
                      <a:srgbClr val="EEF3F6"/>
                    </a:solidFill>
                  </a:tcPr>
                </a:tc>
                <a:tc>
                  <a:txBody>
                    <a:bodyPr wrap="square"/>
                    <a:lstStyle/>
                    <a:p>
                      <a:r>
                        <a:rPr sz="1700" b="0">
                          <a:solidFill>
                            <a:srgbClr val="1C3144"/>
                          </a:solidFill>
                          <a:latin typeface="Calibri"/>
                        </a:rPr>
                        <a:t>Ridge(alpha=1)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How strong the penalty is. A larger alpha shrinks the coefficients toward zero.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or 100</a:t>
                      </a:r>
                    </a:p>
                  </a:txBody>
                  <a:tcPr marL="101600" marR="101600" marT="38100" marB="38100" anchor="ctr">
                    <a:solidFill>
                      <a:srgbClr val="FFFFFF"/>
                    </a:solidFill>
                  </a:tcPr>
                </a:tc>
              </a:tr>
              <a:tr h="660400">
                <a:tc>
                  <a:txBody>
                    <a:bodyPr wrap="square"/>
                    <a:lstStyle/>
                    <a:p>
                      <a:r>
                        <a:rPr sz="1700" b="1">
                          <a:solidFill>
                            <a:srgbClr val="1C3144"/>
                          </a:solidFill>
                          <a:latin typeface="Calibri"/>
                        </a:rPr>
                        <a:t>Polynomial feature</a:t>
                      </a:r>
                    </a:p>
                  </a:txBody>
                  <a:tcPr marL="101600" marR="101600" marT="38100" marB="38100" anchor="ctr">
                    <a:solidFill>
                      <a:srgbClr val="EEF3F6"/>
                    </a:solidFill>
                  </a:tcPr>
                </a:tc>
                <a:tc>
                  <a:txBody>
                    <a:bodyPr wrap="square"/>
                    <a:lstStyle/>
                    <a:p>
                      <a:r>
                        <a:rPr sz="1700" b="0">
                          <a:solidFill>
                            <a:srgbClr val="1C3144"/>
                          </a:solidFill>
                          <a:latin typeface="Calibri"/>
                        </a:rPr>
                        <a:t>A power of an input, such as load squared.</a:t>
                      </a:r>
                    </a:p>
                  </a:txBody>
                  <a:tcPr marL="101600" marR="101600" marT="38100" marB="38100" anchor="ctr">
                    <a:solidFill>
                      <a:srgbClr val="EEF3F6"/>
                    </a:solidFill>
                  </a:tcPr>
                </a:tc>
                <a:tc>
                  <a:txBody>
                    <a:bodyPr wrap="square"/>
                    <a:lstStyle/>
                    <a:p>
                      <a:r>
                        <a:rPr sz="1700" b="0">
                          <a:solidFill>
                            <a:srgbClr val="1C3144"/>
                          </a:solidFill>
                          <a:latin typeface="Calibri"/>
                        </a:rPr>
                        <a:t>load, load², load³ and so on</a:t>
                      </a:r>
                    </a:p>
                  </a:txBody>
                  <a:tcPr marL="101600" marR="101600" marT="38100" marB="38100" anchor="ctr">
                    <a:solidFill>
                      <a:srgbClr val="EEF3F6"/>
                    </a:solidFill>
                  </a:tcPr>
                </a:tc>
              </a:tr>
              <a:tr h="660400">
                <a:tc>
                  <a:txBody>
                    <a:bodyPr wrap="square"/>
                    <a:lstStyle/>
                    <a:p>
                      <a:r>
                        <a:rPr sz="1700" b="1">
                          <a:solidFill>
                            <a:srgbClr val="1C3144"/>
                          </a:solidFill>
                          <a:latin typeface="Calibri"/>
                        </a:rPr>
                        <a:t>Lasso</a:t>
                      </a:r>
                    </a:p>
                  </a:txBody>
                  <a:tcPr marL="101600" marR="101600" marT="38100" marB="38100" anchor="ctr">
                    <a:solidFill>
                      <a:srgbClr val="FFFFFF"/>
                    </a:solidFill>
                  </a:tcPr>
                </a:tc>
                <a:tc>
                  <a:txBody>
                    <a:bodyPr wrap="square"/>
                    <a:lstStyle/>
                    <a:p>
                      <a:r>
                        <a:rPr sz="1700" b="0">
                          <a:solidFill>
                            <a:srgbClr val="1C3144"/>
                          </a:solidFill>
                          <a:latin typeface="Calibri"/>
                        </a:rPr>
                        <a:t>A cousin of ridge that can set some coefficients to exactly zero.</a:t>
                      </a:r>
                    </a:p>
                  </a:txBody>
                  <a:tcPr marL="101600" marR="101600" marT="38100" marB="38100" anchor="ctr">
                    <a:solidFill>
                      <a:srgbClr val="FFFFFF"/>
                    </a:solidFill>
                  </a:tcPr>
                </a:tc>
                <a:tc>
                  <a:txBody>
                    <a:bodyPr wrap="square"/>
                    <a:lstStyle/>
                    <a:p>
                      <a:r>
                        <a:rPr sz="1700" b="0">
                          <a:solidFill>
                            <a:srgbClr val="1C3144"/>
                          </a:solidFill>
                          <a:latin typeface="Calibri"/>
                        </a:rPr>
                        <a:t>Named only</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the rows once more</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pandas</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pd</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raw</a:t>
            </a:r>
            <a:r>
              <a:rPr sz="1300">
                <a:solidFill>
                  <a:srgbClr val="F4F7FA"/>
                </a:solidFill>
                <a:latin typeface="Courier New"/>
              </a:rPr>
              <a:t> = </a:t>
            </a:r>
            <a:r>
              <a:rPr sz="1300">
                <a:solidFill>
                  <a:srgbClr val="F4F7FA"/>
                </a:solidFill>
                <a:latin typeface="Courier New"/>
              </a:rPr>
              <a:t>pd</a:t>
            </a:r>
            <a:r>
              <a:rPr sz="1300">
                <a:solidFill>
                  <a:srgbClr val="F4F7FA"/>
                </a:solidFill>
                <a:latin typeface="Courier New"/>
              </a:rPr>
              <a:t>.</a:t>
            </a:r>
            <a:r>
              <a:rPr sz="1300">
                <a:solidFill>
                  <a:srgbClr val="F4F7FA"/>
                </a:solidFill>
                <a:latin typeface="Courier New"/>
              </a:rPr>
              <a:t>read_csv</a:t>
            </a:r>
            <a:r>
              <a:rPr sz="1300">
                <a:solidFill>
                  <a:srgbClr val="F4F7FA"/>
                </a:solidFill>
                <a:latin typeface="Courier New"/>
              </a:rPr>
              <a:t>("</a:t>
            </a:r>
            <a:r>
              <a:rPr sz="1300">
                <a:solidFill>
                  <a:srgbClr val="F4F7FA"/>
                </a:solidFill>
                <a:latin typeface="Courier New"/>
              </a:rPr>
              <a:t>engineering_data</a:t>
            </a:r>
            <a:r>
              <a:rPr sz="1300">
                <a:solidFill>
                  <a:srgbClr val="F4F7FA"/>
                </a:solidFill>
                <a:latin typeface="Courier New"/>
              </a:rPr>
              <a:t>.</a:t>
            </a:r>
            <a:r>
              <a:rPr sz="1300">
                <a:solidFill>
                  <a:srgbClr val="F4F7FA"/>
                </a:solidFill>
                <a:latin typeface="Courier New"/>
              </a:rPr>
              <a:t>csv</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raw</a:t>
            </a:r>
            <a:r>
              <a:rPr sz="1300">
                <a:solidFill>
                  <a:srgbClr val="F4F7FA"/>
                </a:solidFill>
                <a:latin typeface="Courier New"/>
              </a:rPr>
              <a:t>.</a:t>
            </a:r>
            <a:r>
              <a:rPr sz="1300">
                <a:solidFill>
                  <a:srgbClr val="F4F7FA"/>
                </a:solidFill>
                <a:latin typeface="Courier New"/>
              </a:rPr>
              <a:t>drop_duplicates</a:t>
            </a:r>
            <a:r>
              <a:rPr sz="1300">
                <a:solidFill>
                  <a:srgbClr val="F4F7FA"/>
                </a:solidFill>
                <a:latin typeface="Courier New"/>
              </a:rPr>
              <a:t>("</a:t>
            </a:r>
            <a:r>
              <a:rPr sz="1300">
                <a:solidFill>
                  <a:srgbClr val="F4F7FA"/>
                </a:solidFill>
                <a:latin typeface="Courier New"/>
              </a:rPr>
              <a:t>record_id</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r>
              <a:rPr sz="1300">
                <a:solidFill>
                  <a:srgbClr val="F4F7FA"/>
                </a:solidFill>
                <a:latin typeface="Courier New"/>
              </a:rPr>
              <a:t>notna</a:t>
            </a:r>
            <a:r>
              <a:rPr sz="1300">
                <a:solidFill>
                  <a:srgbClr val="F4F7FA"/>
                </a:solidFill>
                <a:latin typeface="Courier New"/>
              </a:rPr>
              <a:t>()</a:t>
            </a:r>
          </a:p>
          <a:p>
            <a:pPr>
              <a:lnSpc>
                <a:spcPts val="1625"/>
              </a:lnSpc>
            </a:pPr>
            <a:r>
              <a:rPr sz="1300">
                <a:solidFill>
                  <a:srgbClr val="F4F7FA"/>
                </a:solidFill>
                <a:latin typeface="Courier New"/>
              </a:rPr>
              <a:t>            &amp;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r>
              <a:rPr sz="1300">
                <a:solidFill>
                  <a:srgbClr val="F4F7FA"/>
                </a:solidFill>
                <a:latin typeface="Courier New"/>
              </a:rPr>
              <a:t>between</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100</a:t>
            </a:r>
            <a:r>
              <a:rPr sz="1300">
                <a:solidFill>
                  <a:srgbClr val="F4F7FA"/>
                </a:solidFill>
                <a:latin typeface="Courier New"/>
              </a:rPr>
              <a:t>)].</a:t>
            </a:r>
            <a:r>
              <a:rPr sz="1300">
                <a:solidFill>
                  <a:srgbClr val="F4F7FA"/>
                </a:solidFill>
                <a:latin typeface="Courier New"/>
              </a:rPr>
              <a:t>copy</a:t>
            </a:r>
            <a:r>
              <a:rPr sz="1300">
                <a:solidFill>
                  <a:srgbClr val="F4F7FA"/>
                </a:solidFill>
                <a:latin typeface="Courier New"/>
              </a:rPr>
              <a:t>()</a:t>
            </a:r>
          </a:p>
          <a:p>
            <a:pPr>
              <a:lnSpc>
                <a:spcPts val="1625"/>
              </a:lnSpc>
            </a:pPr>
            <a:r>
              <a:rPr sz="1300">
                <a:solidFill>
                  <a:srgbClr val="F4F7FA"/>
                </a:solidFill>
                <a:latin typeface="Courier New"/>
              </a:rPr>
              <a:t>groups</a:t>
            </a:r>
            <a:r>
              <a:rPr sz="1300">
                <a:solidFill>
                  <a:srgbClr val="F4F7FA"/>
                </a:solidFill>
                <a:latin typeface="Courier New"/>
              </a:rPr>
              <a:t> = ["</a:t>
            </a:r>
            <a:r>
              <a:rPr sz="1300">
                <a:solidFill>
                  <a:srgbClr val="F4F7FA"/>
                </a:solidFill>
                <a:latin typeface="Courier New"/>
              </a:rPr>
              <a:t>E1</a:t>
            </a:r>
            <a:r>
              <a:rPr sz="1300">
                <a:solidFill>
                  <a:srgbClr val="F4F7FA"/>
                </a:solidFill>
                <a:latin typeface="Courier New"/>
              </a:rPr>
              <a:t>", "</a:t>
            </a:r>
            <a:r>
              <a:rPr sz="1300">
                <a:solidFill>
                  <a:srgbClr val="F4F7FA"/>
                </a:solidFill>
                <a:latin typeface="Courier New"/>
              </a:rPr>
              <a:t>E2</a:t>
            </a:r>
            <a:r>
              <a:rPr sz="1300">
                <a:solidFill>
                  <a:srgbClr val="F4F7FA"/>
                </a:solidFill>
                <a:latin typeface="Courier New"/>
              </a:rPr>
              <a:t>", "</a:t>
            </a:r>
            <a:r>
              <a:rPr sz="1300">
                <a:solidFill>
                  <a:srgbClr val="F4F7FA"/>
                </a:solidFill>
                <a:latin typeface="Courier New"/>
              </a:rPr>
              <a:t>E3</a:t>
            </a:r>
            <a:r>
              <a:rPr sz="1300">
                <a:solidFill>
                  <a:srgbClr val="F4F7FA"/>
                </a:solidFill>
                <a:latin typeface="Courier New"/>
              </a:rPr>
              <a:t>", "</a:t>
            </a:r>
            <a:r>
              <a:rPr sz="1300">
                <a:solidFill>
                  <a:srgbClr val="F4F7FA"/>
                </a:solidFill>
                <a:latin typeface="Courier New"/>
              </a:rPr>
              <a:t>E4</a:t>
            </a:r>
            <a:r>
              <a:rPr sz="1300">
                <a:solidFill>
                  <a:srgbClr val="F4F7FA"/>
                </a:solidFill>
                <a:latin typeface="Courier New"/>
              </a:rPr>
              <a:t>"]</a:t>
            </a:r>
          </a:p>
          <a:p>
            <a:pPr>
              <a:lnSpc>
                <a:spcPts val="1625"/>
              </a:lnSpc>
            </a:pPr>
            <a:r>
              <a:rPr sz="1300">
                <a:solidFill>
                  <a:srgbClr val="F4F7FA"/>
                </a:solidFill>
                <a:latin typeface="Courier New"/>
              </a:rPr>
              <a:t>train</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a:t>
            </a:r>
            <a:r>
              <a:rPr sz="1300">
                <a:solidFill>
                  <a:srgbClr val="F4F7FA"/>
                </a:solidFill>
                <a:latin typeface="Courier New"/>
              </a:rPr>
              <a:t>isin</a:t>
            </a:r>
            <a:r>
              <a:rPr sz="1300">
                <a:solidFill>
                  <a:srgbClr val="F4F7FA"/>
                </a:solidFill>
                <a:latin typeface="Courier New"/>
              </a:rPr>
              <a:t>(</a:t>
            </a:r>
            <a:r>
              <a:rPr sz="1300">
                <a:solidFill>
                  <a:srgbClr val="F4F7FA"/>
                </a:solidFill>
                <a:latin typeface="Courier New"/>
              </a:rPr>
              <a:t>groups</a:t>
            </a:r>
            <a:r>
              <a:rPr sz="1300">
                <a:solidFill>
                  <a:srgbClr val="F4F7FA"/>
                </a:solidFill>
                <a:latin typeface="Courier New"/>
              </a:rPr>
              <a:t>)]</a:t>
            </a:r>
          </a:p>
          <a:p>
            <a:pPr>
              <a:lnSpc>
                <a:spcPts val="1625"/>
              </a:lnSpc>
            </a:pPr>
            <a:r>
              <a:rPr sz="1300">
                <a:solidFill>
                  <a:srgbClr val="F4F7FA"/>
                </a:solidFill>
                <a:latin typeface="Courier New"/>
              </a:rPr>
              <a:t>valid</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 == "</a:t>
            </a:r>
            <a:r>
              <a:rPr sz="1300">
                <a:solidFill>
                  <a:srgbClr val="F4F7FA"/>
                </a:solidFill>
                <a:latin typeface="Courier New"/>
              </a:rPr>
              <a:t>E5</a:t>
            </a:r>
            <a:r>
              <a:rPr sz="1300">
                <a:solidFill>
                  <a:srgbClr val="F4F7FA"/>
                </a:solidFill>
                <a:latin typeface="Courier New"/>
              </a:rPr>
              <a:t>"]</a:t>
            </a:r>
          </a:p>
          <a:p>
            <a:pPr>
              <a:lnSpc>
                <a:spcPts val="1625"/>
              </a:lnSpc>
            </a:pPr>
            <a:r>
              <a:rPr sz="1300">
                <a:solidFill>
                  <a:srgbClr val="F4F7FA"/>
                </a:solidFill>
                <a:latin typeface="Courier New"/>
              </a:rPr>
              <a:t>features</a:t>
            </a:r>
            <a:r>
              <a:rPr sz="1300">
                <a:solidFill>
                  <a:srgbClr val="F4F7FA"/>
                </a:solidFill>
                <a:latin typeface="Courier New"/>
              </a:rPr>
              <a:t> = ["</a:t>
            </a:r>
            <a:r>
              <a:rPr sz="1300">
                <a:solidFill>
                  <a:srgbClr val="F4F7FA"/>
                </a:solidFill>
                <a:latin typeface="Courier New"/>
              </a:rPr>
              <a:t>load_pct</a:t>
            </a:r>
            <a:r>
              <a:rPr sz="1300">
                <a:solidFill>
                  <a:srgbClr val="F4F7FA"/>
                </a:solidFill>
                <a:latin typeface="Courier New"/>
              </a:rPr>
              <a:t>", "</a:t>
            </a:r>
            <a:r>
              <a:rPr sz="1300">
                <a:solidFill>
                  <a:srgbClr val="F4F7FA"/>
                </a:solidFill>
                <a:latin typeface="Courier New"/>
              </a:rPr>
              <a:t>ambient_c</a:t>
            </a:r>
            <a:r>
              <a:rPr sz="1300">
                <a:solidFill>
                  <a:srgbClr val="F4F7FA"/>
                </a:solidFill>
                <a:latin typeface="Courier New"/>
              </a:rPr>
              <a:t>"]</a:t>
            </a:r>
          </a:p>
          <a:p>
            <a:pPr>
              <a:lnSpc>
                <a:spcPts val="1625"/>
              </a:lnSpc>
            </a:pP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y_valid</a:t>
            </a:r>
            <a:r>
              <a:rPr sz="1300">
                <a:solidFill>
                  <a:srgbClr val="F4F7FA"/>
                </a:solidFill>
                <a:latin typeface="Courier New"/>
              </a:rPr>
              <a:t> =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valid</a:t>
            </a:r>
            <a:r>
              <a:rPr sz="1300">
                <a:solidFill>
                  <a:srgbClr val="F4F7FA"/>
                </a:solidFill>
                <a:latin typeface="Courier New"/>
              </a:rPr>
              <a:t>))</a:t>
            </a:r>
          </a:p>
        </p:txBody>
      </p:sp>
      <p:sp>
        <p:nvSpPr>
          <p:cNvPr id="7" name="Rectangle 6"/>
          <p:cNvSpPr/>
          <p:nvPr/>
        </p:nvSpPr>
        <p:spPr>
          <a:xfrm>
            <a:off x="520700" y="497205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same cleaning as Weeks 8 to 12: drop copies, keep valid rows.</a:t>
            </a:r>
          </a:p>
          <a:p>
            <a:pPr>
              <a:spcAft>
                <a:spcPts val="900"/>
              </a:spcAft>
            </a:pPr>
            <a:r>
              <a:rPr sz="1750" b="0">
                <a:solidFill>
                  <a:srgbClr val="1C3144"/>
                </a:solidFill>
                <a:latin typeface="Calibri"/>
              </a:rPr>
              <a:t>E1 to E4 train, E5 validates, E6 stays sealed.</a:t>
            </a:r>
          </a:p>
          <a:p>
            <a:pPr>
              <a:spcAft>
                <a:spcPts val="900"/>
              </a:spcAft>
            </a:pPr>
            <a:r>
              <a:rPr sz="1750" b="0">
                <a:solidFill>
                  <a:srgbClr val="1C3144"/>
                </a:solidFill>
                <a:latin typeface="Calibri"/>
              </a:rPr>
              <a:t>X holds the two inputs. y holds the target.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Every experiment today uses these four tables.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curve can chase the training rows, and a penalty calms it</a:t>
            </a:r>
          </a:p>
        </p:txBody>
      </p:sp>
      <p:pic>
        <p:nvPicPr>
          <p:cNvPr id="4" name="Picture 3" descr="poly_ridge.png"/>
          <p:cNvPicPr>
            <a:picLocks noChangeAspect="1"/>
          </p:cNvPicPr>
          <p:nvPr/>
        </p:nvPicPr>
        <p:blipFill>
          <a:blip r:embed="rId2"/>
          <a:stretch>
            <a:fillRect/>
          </a:stretch>
        </p:blipFill>
        <p:spPr>
          <a:xfrm>
            <a:off x="381000" y="1409595"/>
            <a:ext cx="11430000" cy="401340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degree-6 curve on load alone. Left: no penalty. Right: penalty alpha = 1.</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adds a price for large coefficients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loss = sum of squared misses</a:t>
            </a:r>
          </a:p>
          <a:p>
            <a:pPr>
              <a:spcAft>
                <a:spcPts val="0"/>
              </a:spcAft>
            </a:pPr>
            <a:r>
              <a:rPr sz="2600" b="1">
                <a:solidFill>
                  <a:srgbClr val="FFFFFF"/>
                </a:solidFill>
                <a:latin typeface="Calibri"/>
              </a:rPr>
              <a:t>+ alpha × (sum of squared coefficients)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alpha = 0 means no penalty. The method is ordinary least squares.</a:t>
            </a:r>
          </a:p>
          <a:p>
            <a:pPr>
              <a:spcAft>
                <a:spcPts val="900"/>
              </a:spcAft>
            </a:pPr>
            <a:r>
              <a:rPr sz="2200" b="0">
                <a:solidFill>
                  <a:srgbClr val="1C3144"/>
                </a:solidFill>
                <a:latin typeface="Calibri"/>
              </a:rPr>
              <a:t>A larger alpha shrinks the coefficients toward zero and calms the curve.</a:t>
            </a:r>
          </a:p>
          <a:p>
            <a:pPr>
              <a:spcAft>
                <a:spcPts val="900"/>
              </a:spcAft>
            </a:pPr>
            <a:r>
              <a:rPr sz="2200" b="0">
                <a:solidFill>
                  <a:srgbClr val="1C3144"/>
                </a:solidFill>
                <a:latin typeface="Calibri"/>
              </a:rPr>
              <a:t>We choose alpha with the validation rows, in the way that we chose tree depth.</a:t>
            </a:r>
          </a:p>
          <a:p>
            <a:pPr>
              <a:spcAft>
                <a:spcPts val="900"/>
              </a:spcAft>
            </a:pPr>
            <a:r>
              <a:rPr sz="2200" b="0">
                <a:solidFill>
                  <a:srgbClr val="1C3144"/>
                </a:solidFill>
                <a:latin typeface="Calibri"/>
              </a:rPr>
              <a:t>The penalty treats all coefficients alike, so the inputs are scaled first. That is why StandardScaler sits in the pipeline.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curve models that differ only in the penalty</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LinearRegression</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FB080"/>
                </a:solidFill>
                <a:latin typeface="Courier New"/>
              </a:rPr>
              <a:t>def</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return</a:t>
            </a:r>
            <a:r>
              <a:rPr sz="1400">
                <a:solidFill>
                  <a:srgbClr val="F4F7FA"/>
                </a:solidFill>
                <a:latin typeface="Courier New"/>
              </a:rPr>
              <a:t>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6</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none</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LinearRegression</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a:t>
            </a:r>
          </a:p>
        </p:txBody>
      </p:sp>
      <p:sp>
        <p:nvSpPr>
          <p:cNvPr id="7" name="Rectangle 6"/>
          <p:cNvSpPr/>
          <p:nvPr/>
        </p:nvSpPr>
        <p:spPr>
          <a:xfrm>
            <a:off x="520700" y="4749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PolynomialFeatures(6) adds load squared up to load to the power of 6.</a:t>
            </a:r>
          </a:p>
          <a:p>
            <a:pPr>
              <a:spcAft>
                <a:spcPts val="900"/>
              </a:spcAft>
            </a:pPr>
            <a:r>
              <a:rPr sz="1750" b="0">
                <a:solidFill>
                  <a:srgbClr val="1C3144"/>
                </a:solidFill>
                <a:latin typeface="Calibri"/>
              </a:rPr>
              <a:t>StandardScaler puts those columns on a common ruler.</a:t>
            </a:r>
          </a:p>
          <a:p>
            <a:pPr>
              <a:spcAft>
                <a:spcPts val="900"/>
              </a:spcAft>
            </a:pPr>
            <a:r>
              <a:rPr sz="1750" b="0">
                <a:solidFill>
                  <a:srgbClr val="1C3144"/>
                </a:solidFill>
                <a:latin typeface="Calibri"/>
              </a:rPr>
              <a:t>The last step is the estimator: no penalty, alpha 1 or alpha 100.</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dictionary keeps the three models side by side. Nothing is fitted yet.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the three curves and scoring them</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4F7FA"/>
                </a:solidFill>
                <a:latin typeface="Courier New"/>
              </a:rPr>
              <a:t>load_train</a:t>
            </a:r>
            <a:r>
              <a:rPr sz="1300">
                <a:solidFill>
                  <a:srgbClr val="F4F7FA"/>
                </a:solidFill>
                <a:latin typeface="Courier New"/>
              </a:rPr>
              <a:t> = </a:t>
            </a:r>
            <a:r>
              <a:rPr sz="1300">
                <a:solidFill>
                  <a:srgbClr val="F4F7FA"/>
                </a:solidFill>
                <a:latin typeface="Courier New"/>
              </a:rPr>
              <a:t>X_train</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4F7FA"/>
                </a:solidFill>
                <a:latin typeface="Courier New"/>
              </a:rPr>
              <a:t>load_valid</a:t>
            </a:r>
            <a:r>
              <a:rPr sz="1300">
                <a:solidFill>
                  <a:srgbClr val="F4F7FA"/>
                </a:solidFill>
                <a:latin typeface="Courier New"/>
              </a:rPr>
              <a:t> = </a:t>
            </a:r>
            <a:r>
              <a:rPr sz="1300">
                <a:solidFill>
                  <a:srgbClr val="F4F7FA"/>
                </a:solidFill>
                <a:latin typeface="Courier New"/>
              </a:rPr>
              <a:t>X_valid</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model</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models</a:t>
            </a:r>
            <a:r>
              <a:rPr sz="1300">
                <a:solidFill>
                  <a:srgbClr val="F4F7FA"/>
                </a:solidFill>
                <a:latin typeface="Courier New"/>
              </a:rPr>
              <a:t>.</a:t>
            </a:r>
            <a:r>
              <a:rPr sz="1300">
                <a:solidFill>
                  <a:srgbClr val="F4F7FA"/>
                </a:solidFill>
                <a:latin typeface="Courier New"/>
              </a:rPr>
              <a:t>items</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146550"/>
            <a:ext cx="7112000" cy="12319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079500"/>
          </a:xfrm>
          <a:prstGeom prst="rect">
            <a:avLst/>
          </a:prstGeom>
          <a:noFill/>
        </p:spPr>
        <p:txBody>
          <a:bodyPr wrap="square">
            <a:spAutoFit/>
          </a:bodyPr>
          <a:lstStyle/>
          <a:p>
            <a:r>
              <a:rPr sz="1500">
                <a:solidFill>
                  <a:srgbClr val="1C3144"/>
                </a:solidFill>
                <a:latin typeface="Courier New"/>
              </a:rPr>
              <a:t>model train valid</a:t>
            </a:r>
          </a:p>
          <a:p>
            <a:r>
              <a:rPr sz="1500">
                <a:solidFill>
                  <a:srgbClr val="1C3144"/>
                </a:solidFill>
                <a:latin typeface="Courier New"/>
              </a:rPr>
              <a:t>none 4.02 4.6</a:t>
            </a:r>
          </a:p>
          <a:p>
            <a:r>
              <a:rPr sz="1500">
                <a:solidFill>
                  <a:srgbClr val="1C3144"/>
                </a:solidFill>
                <a:latin typeface="Courier New"/>
              </a:rPr>
              <a:t>alpha 1 4.16 4.2</a:t>
            </a:r>
          </a:p>
          <a:p>
            <a:r>
              <a:rPr sz="1500">
                <a:solidFill>
                  <a:srgbClr val="1C3144"/>
                </a:solidFill>
                <a:latin typeface="Courier New"/>
              </a:rPr>
              <a:t>alpha 100 5.82 6.87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X_train[["load_pct"]] keeps the load column only, as a table.</a:t>
            </a:r>
          </a:p>
          <a:p>
            <a:pPr>
              <a:spcAft>
                <a:spcPts val="900"/>
              </a:spcAft>
            </a:pPr>
            <a:r>
              <a:rPr sz="1750" b="0">
                <a:solidFill>
                  <a:srgbClr val="1C3144"/>
                </a:solidFill>
                <a:latin typeface="Calibri"/>
              </a:rPr>
              <a:t>Each model is fitted on the training rows and scored on both sets.</a:t>
            </a:r>
          </a:p>
          <a:p>
            <a:pPr>
              <a:spcAft>
                <a:spcPts val="900"/>
              </a:spcAft>
            </a:pPr>
            <a:r>
              <a:rPr sz="1750" b="0">
                <a:solidFill>
                  <a:srgbClr val="1C3144"/>
                </a:solidFill>
                <a:latin typeface="Calibri"/>
              </a:rPr>
              <a:t>Errors are in deg C.</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stronger penalty lowers the fit to the training rows. The validation rows say whether that helps.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What the penalty does to the coefficients and the errors</a:t>
            </a:r>
          </a:p>
        </p:txBody>
      </p:sp>
      <p:graphicFrame>
        <p:nvGraphicFramePr>
          <p:cNvPr id="5" name="Table 4"/>
          <p:cNvGraphicFramePr>
            <a:graphicFrameLocks noGrp="1"/>
          </p:cNvGraphicFramePr>
          <p:nvPr/>
        </p:nvGraphicFramePr>
        <p:xfrm>
          <a:off x="584200" y="1625600"/>
          <a:ext cx="11023600" cy="2743200"/>
        </p:xfrm>
        <a:graphic>
          <a:graphicData uri="http://schemas.openxmlformats.org/drawingml/2006/table">
            <a:tbl>
              <a:tblPr firstRow="0" bandRow="0">
                <a:tableStyleId>{5C22544A-7EE6-4342-B048-85BDC9FD1C3A}</a:tableStyleId>
              </a:tblPr>
              <a:tblGrid>
                <a:gridCol w="1905000"/>
                <a:gridCol w="4394200"/>
                <a:gridCol w="2362200"/>
                <a:gridCol w="2362200"/>
              </a:tblGrid>
              <a:tr h="685800">
                <a:tc>
                  <a:txBody>
                    <a:bodyPr wrap="square"/>
                    <a:lstStyle/>
                    <a:p>
                      <a:r>
                        <a:rPr sz="2000" b="1">
                          <a:solidFill>
                            <a:srgbClr val="FFFFFF"/>
                          </a:solidFill>
                          <a:latin typeface="Calibri"/>
                        </a:rPr>
                        <a:t>Model</a:t>
                      </a:r>
                    </a:p>
                  </a:txBody>
                  <a:tcPr marL="101600" marR="101600" marT="38100" marB="38100" anchor="ctr">
                    <a:solidFill>
                      <a:srgbClr val="2E7D6F"/>
                    </a:solidFill>
                  </a:tcPr>
                </a:tc>
                <a:tc>
                  <a:txBody>
                    <a:bodyPr wrap="square"/>
                    <a:lstStyle/>
                    <a:p>
                      <a:r>
                        <a:rPr sz="2000" b="1">
                          <a:solidFill>
                            <a:srgbClr val="FFFFFF"/>
                          </a:solidFill>
                          <a:latin typeface="Calibri"/>
                        </a:rPr>
                        <a:t>Largest coefficient (scaled columns)</a:t>
                      </a:r>
                    </a:p>
                  </a:txBody>
                  <a:tcPr marL="101600" marR="101600" marT="38100" marB="38100" anchor="ctr">
                    <a:solidFill>
                      <a:srgbClr val="2E7D6F"/>
                    </a:solidFill>
                  </a:tcPr>
                </a:tc>
                <a:tc>
                  <a:txBody>
                    <a:bodyPr wrap="square"/>
                    <a:lstStyle/>
                    <a:p>
                      <a:r>
                        <a:rPr sz="2000" b="1">
                          <a:solidFill>
                            <a:srgbClr val="FFFFFF"/>
                          </a:solidFill>
                          <a:latin typeface="Calibri"/>
                        </a:rPr>
                        <a:t>Train MAE (deg C)</a:t>
                      </a:r>
                    </a:p>
                  </a:txBody>
                  <a:tcPr marL="101600" marR="101600" marT="38100" marB="38100" anchor="ctr">
                    <a:solidFill>
                      <a:srgbClr val="2E7D6F"/>
                    </a:solidFill>
                  </a:tcPr>
                </a:tc>
                <a:tc>
                  <a:txBody>
                    <a:bodyPr wrap="square"/>
                    <a:lstStyle/>
                    <a:p>
                      <a:r>
                        <a:rPr sz="2000" b="1">
                          <a:solidFill>
                            <a:srgbClr val="FFFFFF"/>
                          </a:solidFill>
                          <a:latin typeface="Calibri"/>
                        </a:rPr>
                        <a:t>Valid MAE (deg C)</a:t>
                      </a:r>
                    </a:p>
                  </a:txBody>
                  <a:tcPr marL="101600" marR="101600" marT="38100" marB="38100" anchor="ctr">
                    <a:solidFill>
                      <a:srgbClr val="2E7D6F"/>
                    </a:solidFill>
                  </a:tcPr>
                </a:tc>
              </a:tr>
              <a:tr h="685800">
                <a:tc>
                  <a:txBody>
                    <a:bodyPr wrap="square"/>
                    <a:lstStyle/>
                    <a:p>
                      <a:r>
                        <a:rPr sz="2000" b="1">
                          <a:solidFill>
                            <a:srgbClr val="1C3144"/>
                          </a:solidFill>
                          <a:latin typeface="Calibri"/>
                        </a:rPr>
                        <a:t>none</a:t>
                      </a:r>
                    </a:p>
                  </a:txBody>
                  <a:tcPr marL="101600" marR="101600" marT="38100" marB="38100" anchor="ctr">
                    <a:solidFill>
                      <a:srgbClr val="EEF3F6"/>
                    </a:solidFill>
                  </a:tcPr>
                </a:tc>
                <a:tc>
                  <a:txBody>
                    <a:bodyPr wrap="square"/>
                    <a:lstStyle/>
                    <a:p>
                      <a:r>
                        <a:rPr sz="2000" b="0">
                          <a:solidFill>
                            <a:srgbClr val="1C3144"/>
                          </a:solidFill>
                          <a:latin typeface="Calibri"/>
                        </a:rPr>
                        <a:t>over 10,000</a:t>
                      </a:r>
                    </a:p>
                  </a:txBody>
                  <a:tcPr marL="101600" marR="101600" marT="38100" marB="38100" anchor="ctr">
                    <a:solidFill>
                      <a:srgbClr val="EEF3F6"/>
                    </a:solidFill>
                  </a:tcPr>
                </a:tc>
                <a:tc>
                  <a:txBody>
                    <a:bodyPr wrap="square"/>
                    <a:lstStyle/>
                    <a:p>
                      <a:r>
                        <a:rPr sz="2000" b="0">
                          <a:solidFill>
                            <a:srgbClr val="1C3144"/>
                          </a:solidFill>
                          <a:latin typeface="Calibri"/>
                        </a:rPr>
                        <a:t>4.02</a:t>
                      </a:r>
                    </a:p>
                  </a:txBody>
                  <a:tcPr marL="101600" marR="101600" marT="38100" marB="38100" anchor="ctr">
                    <a:solidFill>
                      <a:srgbClr val="EEF3F6"/>
                    </a:solidFill>
                  </a:tcPr>
                </a:tc>
                <a:tc>
                  <a:txBody>
                    <a:bodyPr wrap="square"/>
                    <a:lstStyle/>
                    <a:p>
                      <a:r>
                        <a:rPr sz="2000" b="0">
                          <a:solidFill>
                            <a:srgbClr val="1C3144"/>
                          </a:solidFill>
                          <a:latin typeface="Calibri"/>
                        </a:rPr>
                        <a:t>4.60</a:t>
                      </a:r>
                    </a:p>
                  </a:txBody>
                  <a:tcPr marL="101600" marR="101600" marT="38100" marB="38100" anchor="ctr">
                    <a:solidFill>
                      <a:srgbClr val="EEF3F6"/>
                    </a:solidFill>
                  </a:tcPr>
                </a:tc>
              </a:tr>
              <a:tr h="685800">
                <a:tc>
                  <a:txBody>
                    <a:bodyPr wrap="square"/>
                    <a:lstStyle/>
                    <a:p>
                      <a:r>
                        <a:rPr sz="2000" b="1">
                          <a:solidFill>
                            <a:srgbClr val="1C3144"/>
                          </a:solidFill>
                          <a:latin typeface="Calibri"/>
                        </a:rPr>
                        <a:t>alpha 1</a:t>
                      </a:r>
                    </a:p>
                  </a:txBody>
                  <a:tcPr marL="101600" marR="101600" marT="38100" marB="38100" anchor="ctr">
                    <a:solidFill>
                      <a:srgbClr val="FFFFFF"/>
                    </a:solidFill>
                  </a:tcPr>
                </a:tc>
                <a:tc>
                  <a:txBody>
                    <a:bodyPr wrap="square"/>
                    <a:lstStyle/>
                    <a:p>
                      <a:r>
                        <a:rPr sz="2000" b="0">
                          <a:solidFill>
                            <a:srgbClr val="1C3144"/>
                          </a:solidFill>
                          <a:latin typeface="Calibri"/>
                        </a:rPr>
                        <a:t>10.8</a:t>
                      </a:r>
                    </a:p>
                  </a:txBody>
                  <a:tcPr marL="101600" marR="101600" marT="38100" marB="38100" anchor="ctr">
                    <a:solidFill>
                      <a:srgbClr val="FFFFFF"/>
                    </a:solidFill>
                  </a:tcPr>
                </a:tc>
                <a:tc>
                  <a:txBody>
                    <a:bodyPr wrap="square"/>
                    <a:lstStyle/>
                    <a:p>
                      <a:r>
                        <a:rPr sz="2000" b="0">
                          <a:solidFill>
                            <a:srgbClr val="1C3144"/>
                          </a:solidFill>
                          <a:latin typeface="Calibri"/>
                        </a:rPr>
                        <a:t>4.16</a:t>
                      </a:r>
                    </a:p>
                  </a:txBody>
                  <a:tcPr marL="101600" marR="101600" marT="38100" marB="38100" anchor="ctr">
                    <a:solidFill>
                      <a:srgbClr val="FFFFFF"/>
                    </a:solidFill>
                  </a:tcPr>
                </a:tc>
                <a:tc>
                  <a:txBody>
                    <a:bodyPr wrap="square"/>
                    <a:lstStyle/>
                    <a:p>
                      <a:r>
                        <a:rPr sz="2000" b="0">
                          <a:solidFill>
                            <a:srgbClr val="1C3144"/>
                          </a:solidFill>
                          <a:latin typeface="Calibri"/>
                        </a:rPr>
                        <a:t>4.20</a:t>
                      </a:r>
                    </a:p>
                  </a:txBody>
                  <a:tcPr marL="101600" marR="101600" marT="38100" marB="38100" anchor="ctr">
                    <a:solidFill>
                      <a:srgbClr val="FFFFFF"/>
                    </a:solidFill>
                  </a:tcPr>
                </a:tc>
              </a:tr>
              <a:tr h="685800">
                <a:tc>
                  <a:txBody>
                    <a:bodyPr wrap="square"/>
                    <a:lstStyle/>
                    <a:p>
                      <a:r>
                        <a:rPr sz="2000" b="1">
                          <a:solidFill>
                            <a:srgbClr val="1C3144"/>
                          </a:solidFill>
                          <a:latin typeface="Calibri"/>
                        </a:rPr>
                        <a:t>alpha 100</a:t>
                      </a:r>
                    </a:p>
                  </a:txBody>
                  <a:tcPr marL="101600" marR="101600" marT="38100" marB="38100" anchor="ctr">
                    <a:solidFill>
                      <a:srgbClr val="EEF3F6"/>
                    </a:solidFill>
                  </a:tcPr>
                </a:tc>
                <a:tc>
                  <a:txBody>
                    <a:bodyPr wrap="square"/>
                    <a:lstStyle/>
                    <a:p>
                      <a:r>
                        <a:rPr sz="2000" b="0">
                          <a:solidFill>
                            <a:srgbClr val="1C3144"/>
                          </a:solidFill>
                          <a:latin typeface="Calibri"/>
                        </a:rPr>
                        <a:t>2.6</a:t>
                      </a:r>
                    </a:p>
                  </a:txBody>
                  <a:tcPr marL="101600" marR="101600" marT="38100" marB="38100" anchor="ctr">
                    <a:solidFill>
                      <a:srgbClr val="EEF3F6"/>
                    </a:solidFill>
                  </a:tcPr>
                </a:tc>
                <a:tc>
                  <a:txBody>
                    <a:bodyPr wrap="square"/>
                    <a:lstStyle/>
                    <a:p>
                      <a:r>
                        <a:rPr sz="2000" b="0">
                          <a:solidFill>
                            <a:srgbClr val="1C3144"/>
                          </a:solidFill>
                          <a:latin typeface="Calibri"/>
                        </a:rPr>
                        <a:t>5.82</a:t>
                      </a:r>
                    </a:p>
                  </a:txBody>
                  <a:tcPr marL="101600" marR="101600" marT="38100" marB="38100" anchor="ctr">
                    <a:solidFill>
                      <a:srgbClr val="EEF3F6"/>
                    </a:solidFill>
                  </a:tcPr>
                </a:tc>
                <a:tc>
                  <a:txBody>
                    <a:bodyPr wrap="square"/>
                    <a:lstStyle/>
                    <a:p>
                      <a:r>
                        <a:rPr sz="2000" b="0">
                          <a:solidFill>
                            <a:srgbClr val="1C3144"/>
                          </a:solidFill>
                          <a:latin typeface="Calibri"/>
                        </a:rPr>
                        <a:t>6.87</a:t>
                      </a:r>
                    </a:p>
                  </a:txBody>
                  <a:tcPr marL="101600" marR="101600" marT="38100" marB="38100" anchor="ctr">
                    <a:solidFill>
                      <a:srgbClr val="EEF3F6"/>
                    </a:solidFill>
                  </a:tcPr>
                </a:tc>
              </a:tr>
            </a:tbl>
          </a:graphicData>
        </a:graphic>
      </p:graphicFrame>
      <p:sp>
        <p:nvSpPr>
          <p:cNvPr id="6" name="TextBox 5"/>
          <p:cNvSpPr txBox="1"/>
          <p:nvPr/>
        </p:nvSpPr>
        <p:spPr>
          <a:xfrm>
            <a:off x="584200" y="4546600"/>
            <a:ext cx="11023600" cy="1879600"/>
          </a:xfrm>
          <a:prstGeom prst="rect">
            <a:avLst/>
          </a:prstGeom>
          <a:noFill/>
        </p:spPr>
        <p:txBody>
          <a:bodyPr wrap="square">
            <a:spAutoFit/>
          </a:bodyPr>
          <a:lstStyle/>
          <a:p>
            <a:pPr>
              <a:spcAft>
                <a:spcPts val="400"/>
              </a:spcAft>
            </a:pPr>
            <a:r>
              <a:rPr sz="1800" b="0">
                <a:solidFill>
                  <a:srgbClr val="1C3144"/>
                </a:solidFill>
                <a:latin typeface="Calibri"/>
              </a:rPr>
              <a:t>A plain straight line on load alone: validation MAE 4.30 deg C.</a:t>
            </a:r>
          </a:p>
          <a:p>
            <a:pPr>
              <a:spcAft>
                <a:spcPts val="400"/>
              </a:spcAft>
            </a:pPr>
            <a:r>
              <a:rPr sz="1800" b="0">
                <a:solidFill>
                  <a:srgbClr val="1C3144"/>
                </a:solidFill>
                <a:latin typeface="Calibri"/>
              </a:rPr>
              <a:t>The Week 8 line on load and ambient temperature: 0.78 deg C.</a:t>
            </a:r>
          </a:p>
          <a:p>
            <a:pPr>
              <a:spcAft>
                <a:spcPts val="400"/>
              </a:spcAft>
            </a:pPr>
            <a:r>
              <a:rPr sz="1800" b="0">
                <a:solidFill>
                  <a:srgbClr val="1C3144"/>
                </a:solidFill>
                <a:latin typeface="Calibri"/>
              </a:rPr>
              <a:t>In scikit-learn the coefficients are in model[-1].coef_, the last step of the pipeline.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predicting from neighbours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921000"/>
                <a:gridCol w="5080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Neighbour</a:t>
                      </a:r>
                    </a:p>
                  </a:txBody>
                  <a:tcPr marL="101600" marR="101600" marT="38100" marB="38100" anchor="ctr">
                    <a:solidFill>
                      <a:srgbClr val="EEF3F6"/>
                    </a:solidFill>
                  </a:tcPr>
                </a:tc>
                <a:tc>
                  <a:txBody>
                    <a:bodyPr wrap="square"/>
                    <a:lstStyle/>
                    <a:p>
                      <a:r>
                        <a:rPr sz="1700" b="0">
                          <a:solidFill>
                            <a:srgbClr val="1C3144"/>
                          </a:solidFill>
                          <a:latin typeface="Calibri"/>
                        </a:rPr>
                        <a:t>A training row whose inputs are close to the new row's inputs.</a:t>
                      </a:r>
                    </a:p>
                  </a:txBody>
                  <a:tcPr marL="101600" marR="101600" marT="38100" marB="38100" anchor="ctr">
                    <a:solidFill>
                      <a:srgbClr val="EEF3F6"/>
                    </a:solidFill>
                  </a:tcPr>
                </a:tc>
                <a:tc>
                  <a:txBody>
                    <a:bodyPr wrap="square"/>
                    <a:lstStyle/>
                    <a:p>
                      <a:r>
                        <a:rPr sz="1700" b="0">
                          <a:solidFill>
                            <a:srgbClr val="1C3144"/>
                          </a:solidFill>
                          <a:latin typeface="Calibri"/>
                        </a:rPr>
                        <a:t>The 3 closest rows</a:t>
                      </a:r>
                    </a:p>
                  </a:txBody>
                  <a:tcPr marL="101600" marR="101600" marT="38100" marB="38100" anchor="ctr">
                    <a:solidFill>
                      <a:srgbClr val="EEF3F6"/>
                    </a:solidFill>
                  </a:tcPr>
                </a:tc>
              </a:tr>
              <a:tr h="787400">
                <a:tc>
                  <a:txBody>
                    <a:bodyPr wrap="square"/>
                    <a:lstStyle/>
                    <a:p>
                      <a:r>
                        <a:rPr sz="1700" b="1">
                          <a:solidFill>
                            <a:srgbClr val="1C3144"/>
                          </a:solidFill>
                          <a:latin typeface="Calibri"/>
                        </a:rPr>
                        <a:t>Distance</a:t>
                      </a:r>
                    </a:p>
                  </a:txBody>
                  <a:tcPr marL="101600" marR="101600" marT="38100" marB="38100" anchor="ctr">
                    <a:solidFill>
                      <a:srgbClr val="FFFFFF"/>
                    </a:solidFill>
                  </a:tcPr>
                </a:tc>
                <a:tc>
                  <a:txBody>
                    <a:bodyPr wrap="square"/>
                    <a:lstStyle/>
                    <a:p>
                      <a:r>
                        <a:rPr sz="1700" b="0">
                          <a:solidFill>
                            <a:srgbClr val="1C3144"/>
                          </a:solidFill>
                          <a:latin typeface="Calibri"/>
                        </a:rPr>
                        <a:t>How far apart two rows are, measured over all inputs.</a:t>
                      </a:r>
                    </a:p>
                  </a:txBody>
                  <a:tcPr marL="101600" marR="101600" marT="38100" marB="38100" anchor="ctr">
                    <a:solidFill>
                      <a:srgbClr val="FFFFFF"/>
                    </a:solidFill>
                  </a:tcPr>
                </a:tc>
                <a:tc>
                  <a:txBody>
                    <a:bodyPr wrap="square"/>
                    <a:lstStyle/>
                    <a:p>
                      <a:r>
                        <a:rPr sz="1700" b="0">
                          <a:solidFill>
                            <a:srgbClr val="1C3144"/>
                          </a:solidFill>
                          <a:latin typeface="Calibri"/>
                        </a:rPr>
                        <a:t>Straight-line distance, after scaling</a:t>
                      </a:r>
                    </a:p>
                  </a:txBody>
                  <a:tcPr marL="101600" marR="101600" marT="38100" marB="38100" anchor="ctr">
                    <a:solidFill>
                      <a:srgbClr val="FFFFFF"/>
                    </a:solidFill>
                  </a:tcPr>
                </a:tc>
              </a:tr>
              <a:tr h="787400">
                <a:tc>
                  <a:txBody>
                    <a:bodyPr wrap="square"/>
                    <a:lstStyle/>
                    <a:p>
                      <a:r>
                        <a:rPr sz="1700" b="1">
                          <a:solidFill>
                            <a:srgbClr val="1C3144"/>
                          </a:solidFill>
                          <a:latin typeface="Calibri"/>
                        </a:rPr>
                        <a:t>k</a:t>
                      </a:r>
                    </a:p>
                  </a:txBody>
                  <a:tcPr marL="101600" marR="101600" marT="38100" marB="38100" anchor="ctr">
                    <a:solidFill>
                      <a:srgbClr val="EEF3F6"/>
                    </a:solidFill>
                  </a:tcPr>
                </a:tc>
                <a:tc>
                  <a:txBody>
                    <a:bodyPr wrap="square"/>
                    <a:lstStyle/>
                    <a:p>
                      <a:r>
                        <a:rPr sz="1700" b="0">
                          <a:solidFill>
                            <a:srgbClr val="1C3144"/>
                          </a:solidFill>
                          <a:latin typeface="Calibri"/>
                        </a:rPr>
                        <a:t>How many neighbours vote. A hyperparameter.</a:t>
                      </a:r>
                    </a:p>
                  </a:txBody>
                  <a:tcPr marL="101600" marR="101600" marT="38100" marB="38100" anchor="ctr">
                    <a:solidFill>
                      <a:srgbClr val="EEF3F6"/>
                    </a:solidFill>
                  </a:tcPr>
                </a:tc>
                <a:tc>
                  <a:txBody>
                    <a:bodyPr wrap="square"/>
                    <a:lstStyle/>
                    <a:p>
                      <a:r>
                        <a:rPr sz="1700" b="0">
                          <a:solidFill>
                            <a:srgbClr val="1C3144"/>
                          </a:solidFill>
                          <a:latin typeface="Calibri"/>
                        </a:rPr>
                        <a:t>k = 3</a:t>
                      </a:r>
                    </a:p>
                  </a:txBody>
                  <a:tcPr marL="101600" marR="101600" marT="38100" marB="38100" anchor="ctr">
                    <a:solidFill>
                      <a:srgbClr val="EEF3F6"/>
                    </a:solidFill>
                  </a:tcPr>
                </a:tc>
              </a:tr>
              <a:tr h="787400">
                <a:tc>
                  <a:txBody>
                    <a:bodyPr wrap="square"/>
                    <a:lstStyle/>
                    <a:p>
                      <a:r>
                        <a:rPr sz="1700" b="1">
                          <a:solidFill>
                            <a:srgbClr val="1C3144"/>
                          </a:solidFill>
                          <a:latin typeface="Calibri"/>
                        </a:rPr>
                        <a:t>k-nearest neighbours (KNN)</a:t>
                      </a:r>
                    </a:p>
                  </a:txBody>
                  <a:tcPr marL="101600" marR="101600" marT="38100" marB="38100" anchor="ctr">
                    <a:solidFill>
                      <a:srgbClr val="FFFFFF"/>
                    </a:solidFill>
                  </a:tcPr>
                </a:tc>
                <a:tc>
                  <a:txBody>
                    <a:bodyPr wrap="square"/>
                    <a:lstStyle/>
                    <a:p>
                      <a:r>
                        <a:rPr sz="1700" b="0">
                          <a:solidFill>
                            <a:srgbClr val="1C3144"/>
                          </a:solidFill>
                          <a:latin typeface="Calibri"/>
                        </a:rPr>
                        <a:t>Predict by averaging the targets of the k closest training rows.</a:t>
                      </a:r>
                    </a:p>
                  </a:txBody>
                  <a:tcPr marL="101600" marR="101600" marT="38100" marB="38100" anchor="ctr">
                    <a:solidFill>
                      <a:srgbClr val="FFFFFF"/>
                    </a:solidFill>
                  </a:tcPr>
                </a:tc>
                <a:tc>
                  <a:txBody>
                    <a:bodyPr wrap="square"/>
                    <a:lstStyle/>
                    <a:p>
                      <a:r>
                        <a:rPr sz="1700" b="0">
                          <a:solidFill>
                            <a:srgbClr val="1C3144"/>
                          </a:solidFill>
                          <a:latin typeface="Calibri"/>
                        </a:rPr>
                        <a:t>KNeighborsRegressor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Lazy learner</a:t>
                      </a:r>
                    </a:p>
                  </a:txBody>
                  <a:tcPr marL="101600" marR="101600" marT="38100" marB="38100" anchor="ctr">
                    <a:solidFill>
                      <a:srgbClr val="EEF3F6"/>
                    </a:solidFill>
                  </a:tcPr>
                </a:tc>
                <a:tc>
                  <a:txBody>
                    <a:bodyPr wrap="square"/>
                    <a:lstStyle/>
                    <a:p>
                      <a:r>
                        <a:rPr sz="1700" b="0">
                          <a:solidFill>
                            <a:srgbClr val="1C3144"/>
                          </a:solidFill>
                          <a:latin typeface="Calibri"/>
                        </a:rPr>
                        <a:t>A model that stores the training rows and does its work at prediction time.</a:t>
                      </a:r>
                    </a:p>
                  </a:txBody>
                  <a:tcPr marL="101600" marR="101600" marT="38100" marB="38100" anchor="ctr">
                    <a:solidFill>
                      <a:srgbClr val="EEF3F6"/>
                    </a:solidFill>
                  </a:tcPr>
                </a:tc>
                <a:tc>
                  <a:txBody>
                    <a:bodyPr wrap="square"/>
                    <a:lstStyle/>
                    <a:p>
                      <a:r>
                        <a:rPr sz="1700" b="0">
                          <a:solidFill>
                            <a:srgbClr val="1C3144"/>
                          </a:solidFill>
                          <a:latin typeface="Calibri"/>
                        </a:rPr>
                        <a:t>KNN has no training step to speak of</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prediction from the three nearest training rows</a:t>
            </a:r>
          </a:p>
        </p:txBody>
      </p:sp>
      <p:pic>
        <p:nvPicPr>
          <p:cNvPr id="4" name="Picture 3" descr="knn.png"/>
          <p:cNvPicPr>
            <a:picLocks noChangeAspect="1"/>
          </p:cNvPicPr>
          <p:nvPr/>
        </p:nvPicPr>
        <p:blipFill>
          <a:blip r:embed="rId2"/>
          <a:stretch>
            <a:fillRect/>
          </a:stretch>
        </p:blipFill>
        <p:spPr>
          <a:xfrm>
            <a:off x="381000" y="1170339"/>
            <a:ext cx="11430000" cy="449192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star is the validation row with record_id 5. Its 3 nearest training rows (scaled inputs) have targets 65.441, 70.592 and 74.039.</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Trying three values of k</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neighbors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KNeighborsRegressor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k</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20</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KNeighborsRegressor</a:t>
            </a:r>
            <a:r>
              <a:rPr sz="1300">
                <a:solidFill>
                  <a:srgbClr val="F4F7FA"/>
                </a:solidFill>
                <a:latin typeface="Courier New"/>
              </a:rPr>
              <a:t>(</a:t>
            </a:r>
            <a:r>
              <a:rPr sz="1300">
                <a:solidFill>
                  <a:srgbClr val="F4F7FA"/>
                </a:solidFill>
                <a:latin typeface="Courier New"/>
              </a:rPr>
              <a:t>n_neighbors</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765675"/>
            <a:ext cx="7112000" cy="10947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942340"/>
          </a:xfrm>
          <a:prstGeom prst="rect">
            <a:avLst/>
          </a:prstGeom>
          <a:noFill/>
        </p:spPr>
        <p:txBody>
          <a:bodyPr wrap="square">
            <a:spAutoFit/>
          </a:bodyPr>
          <a:lstStyle/>
          <a:p>
            <a:r>
              <a:rPr sz="1300">
                <a:solidFill>
                  <a:srgbClr val="1C3144"/>
                </a:solidFill>
                <a:latin typeface="Courier New"/>
              </a:rPr>
              <a:t>k valid</a:t>
            </a:r>
          </a:p>
          <a:p>
            <a:r>
              <a:rPr sz="1300">
                <a:solidFill>
                  <a:srgbClr val="1C3144"/>
                </a:solidFill>
                <a:latin typeface="Courier New"/>
              </a:rPr>
              <a:t>1 2.42</a:t>
            </a:r>
          </a:p>
          <a:p>
            <a:r>
              <a:rPr sz="1300">
                <a:solidFill>
                  <a:srgbClr val="1C3144"/>
                </a:solidFill>
                <a:latin typeface="Courier New"/>
              </a:rPr>
              <a:t>3 1.58</a:t>
            </a:r>
          </a:p>
          <a:p>
            <a:r>
              <a:rPr sz="1300">
                <a:solidFill>
                  <a:srgbClr val="1C3144"/>
                </a:solidFill>
                <a:latin typeface="Courier New"/>
              </a:rPr>
              <a:t>20 5.55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n_neighbors is k, the number of neighbours that vote.</a:t>
            </a:r>
          </a:p>
          <a:p>
            <a:pPr>
              <a:spcAft>
                <a:spcPts val="900"/>
              </a:spcAft>
            </a:pPr>
            <a:r>
              <a:rPr sz="1750" b="0">
                <a:solidFill>
                  <a:srgbClr val="1C3144"/>
                </a:solidFill>
                <a:latin typeface="Calibri"/>
              </a:rPr>
              <a:t>The imputer fills blanks and the scaler puts inputs on a common ruler before distances are measured.</a:t>
            </a:r>
          </a:p>
          <a:p>
            <a:pPr>
              <a:spcAft>
                <a:spcPts val="900"/>
              </a:spcAft>
            </a:pPr>
            <a:r>
              <a:rPr sz="1750" b="0">
                <a:solidFill>
                  <a:srgbClr val="1C3144"/>
                </a:solidFill>
                <a:latin typeface="Calibri"/>
              </a:rPr>
              <a:t>Errors are in deg C, on the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stores the training rows. predict does the neighbour search.</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k, and the price of waiting until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CHOOSING k</a:t>
            </a:r>
          </a:p>
          <a:p>
            <a:pPr>
              <a:spcAft>
                <a:spcPts val="800"/>
              </a:spcAft>
            </a:pPr>
            <a:r>
              <a:rPr sz="2200" b="0">
                <a:solidFill>
                  <a:srgbClr val="1C3144"/>
                </a:solidFill>
                <a:latin typeface="Calibri"/>
              </a:rPr>
              <a:t>Try several values and compare the validation error. Very small k chases noise. Very large k averages too much.</a:t>
            </a:r>
          </a:p>
          <a:p>
            <a:pPr>
              <a:spcAft>
                <a:spcPts val="800"/>
              </a:spcAft>
            </a:pPr>
            <a:r>
              <a:rPr sz="2200" b="0">
                <a:solidFill>
                  <a:srgbClr val="1C3144"/>
                </a:solidFill>
                <a:latin typeface="Calibri"/>
              </a:rPr>
              <a:t>Here k = 3 gives the lowest error of the three we tried.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PRICE</a:t>
            </a:r>
          </a:p>
          <a:p>
            <a:pPr>
              <a:spcAft>
                <a:spcPts val="800"/>
              </a:spcAft>
            </a:pPr>
            <a:r>
              <a:rPr sz="2200" b="0">
                <a:solidFill>
                  <a:srgbClr val="1C3144"/>
                </a:solidFill>
                <a:latin typeface="Calibri"/>
              </a:rPr>
              <a:t>KNN keeps every training row. Each prediction measures the distance to all of them, so it slows down as the training table grows.</a:t>
            </a:r>
          </a:p>
          <a:p>
            <a:pPr>
              <a:spcAft>
                <a:spcPts val="800"/>
              </a:spcAft>
            </a:pPr>
            <a:r>
              <a:rPr sz="2200" b="0">
                <a:solidFill>
                  <a:srgbClr val="1C3144"/>
                </a:solidFill>
                <a:latin typeface="Calibri"/>
              </a:rPr>
              <a:t>A line or a tree answers in an instant once it is trained.</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Five candidates on the same validation rows</a:t>
            </a:r>
          </a:p>
        </p:txBody>
      </p:sp>
      <p:graphicFrame>
        <p:nvGraphicFramePr>
          <p:cNvPr id="5" name="Table 4"/>
          <p:cNvGraphicFramePr>
            <a:graphicFrameLocks noGrp="1"/>
          </p:cNvGraphicFramePr>
          <p:nvPr/>
        </p:nvGraphicFramePr>
        <p:xfrm>
          <a:off x="584200" y="1625600"/>
          <a:ext cx="11023600" cy="3962400"/>
        </p:xfrm>
        <a:graphic>
          <a:graphicData uri="http://schemas.openxmlformats.org/drawingml/2006/table">
            <a:tbl>
              <a:tblPr firstRow="0" bandRow="0">
                <a:tableStyleId>{5C22544A-7EE6-4342-B048-85BDC9FD1C3A}</a:tableStyleId>
              </a:tblPr>
              <a:tblGrid>
                <a:gridCol w="7112000"/>
                <a:gridCol w="3911600"/>
              </a:tblGrid>
              <a:tr h="660400">
                <a:tc>
                  <a:txBody>
                    <a:bodyPr wrap="square"/>
                    <a:lstStyle/>
                    <a:p>
                      <a:r>
                        <a:rPr sz="2000" b="1">
                          <a:solidFill>
                            <a:srgbClr val="FFFFFF"/>
                          </a:solidFill>
                          <a:latin typeface="Calibri"/>
                        </a:rPr>
                        <a:t>Candidate</a:t>
                      </a:r>
                    </a:p>
                  </a:txBody>
                  <a:tcPr marL="101600" marR="101600" marT="38100" marB="38100" anchor="ctr">
                    <a:solidFill>
                      <a:srgbClr val="2E7D6F"/>
                    </a:solidFill>
                  </a:tcPr>
                </a:tc>
                <a:tc>
                  <a:txBody>
                    <a:bodyPr wrap="square"/>
                    <a:lstStyle/>
                    <a:p>
                      <a:r>
                        <a:rPr sz="2000" b="1">
                          <a:solidFill>
                            <a:srgbClr val="FFFFFF"/>
                          </a:solidFill>
                          <a:latin typeface="Calibri"/>
                        </a:rPr>
                        <a:t>Validation MAE (deg C)</a:t>
                      </a:r>
                    </a:p>
                  </a:txBody>
                  <a:tcPr marL="101600" marR="101600" marT="38100" marB="38100" anchor="ctr">
                    <a:solidFill>
                      <a:srgbClr val="2E7D6F"/>
                    </a:solidFill>
                  </a:tcPr>
                </a:tc>
              </a:tr>
              <a:tr h="6604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14.85</a:t>
                      </a:r>
                    </a:p>
                  </a:txBody>
                  <a:tcPr marL="101600" marR="101600" marT="38100" marB="38100" anchor="ctr">
                    <a:solidFill>
                      <a:srgbClr val="EEF3F6"/>
                    </a:solidFill>
                  </a:tcPr>
                </a:tc>
              </a:tr>
              <a:tr h="660400">
                <a:tc>
                  <a:txBody>
                    <a:bodyPr wrap="square"/>
                    <a:lstStyle/>
                    <a:p>
                      <a:r>
                        <a:rPr sz="2000" b="1">
                          <a:solidFill>
                            <a:srgbClr val="1C3144"/>
                          </a:solidFill>
                          <a:latin typeface="Calibri"/>
                        </a:rPr>
                        <a:t>straight line, two inputs</a:t>
                      </a:r>
                    </a:p>
                  </a:txBody>
                  <a:tcPr marL="101600" marR="101600" marT="38100" marB="38100" anchor="ctr">
                    <a:solidFill>
                      <a:srgbClr val="FFFFFF"/>
                    </a:solidFill>
                  </a:tcPr>
                </a:tc>
                <a:tc>
                  <a:txBody>
                    <a:bodyPr wrap="square"/>
                    <a:lstStyle/>
                    <a:p>
                      <a:r>
                        <a:rPr sz="2000" b="0">
                          <a:solidFill>
                            <a:srgbClr val="1C3144"/>
                          </a:solidFill>
                          <a:latin typeface="Calibri"/>
                        </a:rPr>
                        <a:t>0.78</a:t>
                      </a:r>
                    </a:p>
                  </a:txBody>
                  <a:tcPr marL="101600" marR="101600" marT="38100" marB="38100" anchor="ctr">
                    <a:solidFill>
                      <a:srgbClr val="FFFFFF"/>
                    </a:solidFill>
                  </a:tcPr>
                </a:tc>
              </a:tr>
              <a:tr h="660400">
                <a:tc>
                  <a:txBody>
                    <a:bodyPr wrap="square"/>
                    <a:lstStyle/>
                    <a:p>
                      <a:r>
                        <a:rPr sz="2000" b="1">
                          <a:solidFill>
                            <a:srgbClr val="1C3144"/>
                          </a:solidFill>
                          <a:latin typeface="Calibri"/>
                        </a:rPr>
                        <a:t>decision tree, depth 4</a:t>
                      </a:r>
                    </a:p>
                  </a:txBody>
                  <a:tcPr marL="101600" marR="101600" marT="38100" marB="38100" anchor="ctr">
                    <a:solidFill>
                      <a:srgbClr val="EEF3F6"/>
                    </a:solidFill>
                  </a:tcPr>
                </a:tc>
                <a:tc>
                  <a:txBody>
                    <a:bodyPr wrap="square"/>
                    <a:lstStyle/>
                    <a:p>
                      <a:r>
                        <a:rPr sz="2000" b="0">
                          <a:solidFill>
                            <a:srgbClr val="1C3144"/>
                          </a:solidFill>
                          <a:latin typeface="Calibri"/>
                        </a:rPr>
                        <a:t>4.79</a:t>
                      </a:r>
                    </a:p>
                  </a:txBody>
                  <a:tcPr marL="101600" marR="101600" marT="38100" marB="38100" anchor="ctr">
                    <a:solidFill>
                      <a:srgbClr val="EEF3F6"/>
                    </a:solidFill>
                  </a:tcPr>
                </a:tc>
              </a:tr>
              <a:tr h="660400">
                <a:tc>
                  <a:txBody>
                    <a:bodyPr wrap="square"/>
                    <a:lstStyle/>
                    <a:p>
                      <a:r>
                        <a:rPr sz="2000" b="1">
                          <a:solidFill>
                            <a:srgbClr val="1C3144"/>
                          </a:solidFill>
                          <a:latin typeface="Calibri"/>
                        </a:rPr>
                        <a:t>ridge, degree 6, alpha 1</a:t>
                      </a:r>
                    </a:p>
                  </a:txBody>
                  <a:tcPr marL="101600" marR="101600" marT="38100" marB="38100" anchor="ctr">
                    <a:solidFill>
                      <a:srgbClr val="FFFFFF"/>
                    </a:solidFill>
                  </a:tcPr>
                </a:tc>
                <a:tc>
                  <a:txBody>
                    <a:bodyPr wrap="square"/>
                    <a:lstStyle/>
                    <a:p>
                      <a:r>
                        <a:rPr sz="2000" b="0">
                          <a:solidFill>
                            <a:srgbClr val="1C3144"/>
                          </a:solidFill>
                          <a:latin typeface="Calibri"/>
                        </a:rPr>
                        <a:t>4.20</a:t>
                      </a:r>
                    </a:p>
                  </a:txBody>
                  <a:tcPr marL="101600" marR="101600" marT="38100" marB="38100" anchor="ctr">
                    <a:solidFill>
                      <a:srgbClr val="FFFFFF"/>
                    </a:solidFill>
                  </a:tcPr>
                </a:tc>
              </a:tr>
              <a:tr h="660400">
                <a:tc>
                  <a:txBody>
                    <a:bodyPr wrap="square"/>
                    <a:lstStyle/>
                    <a:p>
                      <a:r>
                        <a:rPr sz="2000" b="1">
                          <a:solidFill>
                            <a:srgbClr val="1C3144"/>
                          </a:solidFill>
                          <a:latin typeface="Calibri"/>
                        </a:rPr>
                        <a:t>nearest neighbours, k = 3</a:t>
                      </a:r>
                    </a:p>
                  </a:txBody>
                  <a:tcPr marL="101600" marR="101600" marT="38100" marB="38100" anchor="ctr">
                    <a:solidFill>
                      <a:srgbClr val="EEF3F6"/>
                    </a:solidFill>
                  </a:tcPr>
                </a:tc>
                <a:tc>
                  <a:txBody>
                    <a:bodyPr wrap="square"/>
                    <a:lstStyle/>
                    <a:p>
                      <a:r>
                        <a:rPr sz="2000" b="0">
                          <a:solidFill>
                            <a:srgbClr val="1C3144"/>
                          </a:solidFill>
                          <a:latin typeface="Calibri"/>
                        </a:rPr>
                        <a:t>1.58</a:t>
                      </a:r>
                    </a:p>
                  </a:txBody>
                  <a:tcPr marL="101600" marR="101600" marT="38100" marB="38100" anchor="ctr">
                    <a:solidFill>
                      <a:srgbClr val="EEF3F6"/>
                    </a:solidFill>
                  </a:tcPr>
                </a:tc>
              </a:tr>
            </a:tbl>
          </a:graphicData>
        </a:graphic>
      </p:graphicFrame>
      <p:sp>
        <p:nvSpPr>
          <p:cNvPr id="6" name="TextBox 5"/>
          <p:cNvSpPr txBox="1"/>
          <p:nvPr/>
        </p:nvSpPr>
        <p:spPr>
          <a:xfrm>
            <a:off x="584200" y="5765800"/>
            <a:ext cx="11023600" cy="660400"/>
          </a:xfrm>
          <a:prstGeom prst="rect">
            <a:avLst/>
          </a:prstGeom>
          <a:noFill/>
        </p:spPr>
        <p:txBody>
          <a:bodyPr wrap="square">
            <a:spAutoFit/>
          </a:bodyPr>
          <a:lstStyle/>
          <a:p>
            <a:pPr>
              <a:spcAft>
                <a:spcPts val="400"/>
              </a:spcAft>
            </a:pPr>
            <a:r>
              <a:rPr sz="1800" b="0">
                <a:solidFill>
                  <a:srgbClr val="1C3144"/>
                </a:solidFill>
                <a:latin typeface="Calibri"/>
              </a:rPr>
              <a:t>All five were scored on the same validation rows.</a:t>
            </a:r>
          </a:p>
          <a:p>
            <a:pPr>
              <a:spcAft>
                <a:spcPts val="400"/>
              </a:spcAft>
            </a:pPr>
            <a:r>
              <a:rPr sz="1800" b="0">
                <a:solidFill>
                  <a:srgbClr val="1C3144"/>
                </a:solidFill>
                <a:latin typeface="Calibri"/>
              </a:rPr>
              <a:t>The ridge row sees load only, so it is not a like-for-like comparison.</a:t>
            </a:r>
          </a:p>
          <a:p>
            <a:pPr>
              <a:spcAft>
                <a:spcPts val="400"/>
              </a:spcAft>
            </a:pPr>
            <a:r>
              <a:rPr sz="1800" b="0">
                <a:solidFill>
                  <a:srgbClr val="1C3144"/>
                </a:solidFill>
                <a:latin typeface="Calibri"/>
              </a:rPr>
              <a:t>alpha and k were chosen on these rows, so the scores are slightly optimistic.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model for which job</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540000"/>
                <a:gridCol w="4572000"/>
                <a:gridCol w="3911600"/>
              </a:tblGrid>
              <a:tr h="787400">
                <a:tc>
                  <a:txBody>
                    <a:bodyPr wrap="square"/>
                    <a:lstStyle/>
                    <a:p>
                      <a:r>
                        <a:rPr sz="1700" b="1">
                          <a:solidFill>
                            <a:srgbClr val="FFFFFF"/>
                          </a:solidFill>
                          <a:latin typeface="Calibri"/>
                        </a:rPr>
                        <a:t>Model</a:t>
                      </a:r>
                    </a:p>
                  </a:txBody>
                  <a:tcPr marL="101600" marR="101600" marT="38100" marB="38100" anchor="ctr">
                    <a:solidFill>
                      <a:srgbClr val="2E7D6F"/>
                    </a:solidFill>
                  </a:tcPr>
                </a:tc>
                <a:tc>
                  <a:txBody>
                    <a:bodyPr wrap="square"/>
                    <a:lstStyle/>
                    <a:p>
                      <a:r>
                        <a:rPr sz="1700" b="1">
                          <a:solidFill>
                            <a:srgbClr val="FFFFFF"/>
                          </a:solidFill>
                          <a:latin typeface="Calibri"/>
                        </a:rPr>
                        <a:t>Works well when</a:t>
                      </a:r>
                    </a:p>
                  </a:txBody>
                  <a:tcPr marL="101600" marR="101600" marT="38100" marB="38100" anchor="ctr">
                    <a:solidFill>
                      <a:srgbClr val="2E7D6F"/>
                    </a:solidFill>
                  </a:tcPr>
                </a:tc>
                <a:tc>
                  <a:txBody>
                    <a:bodyPr wrap="square"/>
                    <a:lstStyle/>
                    <a:p>
                      <a:r>
                        <a:rPr sz="1700" b="1">
                          <a:solidFill>
                            <a:srgbClr val="FFFFFF"/>
                          </a:solidFill>
                          <a:latin typeface="Calibri"/>
                        </a:rPr>
                        <a:t>Watch out for</a:t>
                      </a:r>
                    </a:p>
                  </a:txBody>
                  <a:tcPr marL="101600" marR="101600" marT="38100" marB="38100" anchor="ctr">
                    <a:solidFill>
                      <a:srgbClr val="2E7D6F"/>
                    </a:solidFill>
                  </a:tcPr>
                </a:tc>
              </a:tr>
              <a:tr h="787400">
                <a:tc>
                  <a:txBody>
                    <a:bodyPr wrap="square"/>
                    <a:lstStyle/>
                    <a:p>
                      <a:r>
                        <a:rPr sz="1700" b="1">
                          <a:solidFill>
                            <a:srgbClr val="1C3144"/>
                          </a:solidFill>
                          <a:latin typeface="Calibri"/>
                        </a:rPr>
                        <a:t>Straight line</a:t>
                      </a:r>
                    </a:p>
                  </a:txBody>
                  <a:tcPr marL="101600" marR="101600" marT="38100" marB="38100" anchor="ctr">
                    <a:solidFill>
                      <a:srgbClr val="EEF3F6"/>
                    </a:solidFill>
                  </a:tcPr>
                </a:tc>
                <a:tc>
                  <a:txBody>
                    <a:bodyPr wrap="square"/>
                    <a:lstStyle/>
                    <a:p>
                      <a:r>
                        <a:rPr sz="1700" b="0">
                          <a:solidFill>
                            <a:srgbClr val="1C3144"/>
                          </a:solidFill>
                          <a:latin typeface="Calibri"/>
                        </a:rPr>
                        <a:t>The pattern is close to a straight path</a:t>
                      </a:r>
                    </a:p>
                  </a:txBody>
                  <a:tcPr marL="101600" marR="101600" marT="38100" marB="38100" anchor="ctr">
                    <a:solidFill>
                      <a:srgbClr val="EEF3F6"/>
                    </a:solidFill>
                  </a:tcPr>
                </a:tc>
                <a:tc>
                  <a:txBody>
                    <a:bodyPr wrap="square"/>
                    <a:lstStyle/>
                    <a:p>
                      <a:r>
                        <a:rPr sz="1700" b="0">
                          <a:solidFill>
                            <a:srgbClr val="1C3144"/>
                          </a:solidFill>
                          <a:latin typeface="Calibri"/>
                        </a:rPr>
                        <a:t>A curved pattern</a:t>
                      </a:r>
                    </a:p>
                  </a:txBody>
                  <a:tcPr marL="101600" marR="101600" marT="38100" marB="38100" anchor="ctr">
                    <a:solidFill>
                      <a:srgbClr val="EEF3F6"/>
                    </a:solidFill>
                  </a:tcPr>
                </a:tc>
              </a:tr>
              <a:tr h="787400">
                <a:tc>
                  <a:txBody>
                    <a:bodyPr wrap="square"/>
                    <a:lstStyle/>
                    <a:p>
                      <a:r>
                        <a:rPr sz="1700" b="1">
                          <a:solidFill>
                            <a:srgbClr val="1C3144"/>
                          </a:solidFill>
                          <a:latin typeface="Calibri"/>
                        </a:rPr>
                        <a:t>Ridge</a:t>
                      </a:r>
                    </a:p>
                  </a:txBody>
                  <a:tcPr marL="101600" marR="101600" marT="38100" marB="38100" anchor="ctr">
                    <a:solidFill>
                      <a:srgbClr val="FFFFFF"/>
                    </a:solidFill>
                  </a:tcPr>
                </a:tc>
                <a:tc>
                  <a:txBody>
                    <a:bodyPr wrap="square"/>
                    <a:lstStyle/>
                    <a:p>
                      <a:r>
                        <a:rPr sz="1700" b="0">
                          <a:solidFill>
                            <a:srgbClr val="1C3144"/>
                          </a:solidFill>
                          <a:latin typeface="Calibri"/>
                        </a:rPr>
                        <a:t>Many or flexible inputs, and overfitting is a risk</a:t>
                      </a:r>
                    </a:p>
                  </a:txBody>
                  <a:tcPr marL="101600" marR="101600" marT="38100" marB="38100" anchor="ctr">
                    <a:solidFill>
                      <a:srgbClr val="FFFFFF"/>
                    </a:solidFill>
                  </a:tcPr>
                </a:tc>
                <a:tc>
                  <a:txBody>
                    <a:bodyPr wrap="square"/>
                    <a:lstStyle/>
                    <a:p>
                      <a:r>
                        <a:rPr sz="1700" b="0">
                          <a:solidFill>
                            <a:srgbClr val="1C3144"/>
                          </a:solidFill>
                          <a:latin typeface="Calibri"/>
                        </a:rPr>
                        <a:t>Choosing alpha, and scaling first</a:t>
                      </a:r>
                    </a:p>
                  </a:txBody>
                  <a:tcPr marL="101600" marR="101600" marT="38100" marB="38100" anchor="ctr">
                    <a:solidFill>
                      <a:srgbClr val="FFFFFF"/>
                    </a:solidFill>
                  </a:tcPr>
                </a:tc>
              </a:tr>
              <a:tr h="787400">
                <a:tc>
                  <a:txBody>
                    <a:bodyPr wrap="square"/>
                    <a:lstStyle/>
                    <a:p>
                      <a:r>
                        <a:rPr sz="1700" b="1">
                          <a:solidFill>
                            <a:srgbClr val="1C3144"/>
                          </a:solidFill>
                          <a:latin typeface="Calibri"/>
                        </a:rPr>
                        <a:t>Decision tree</a:t>
                      </a:r>
                    </a:p>
                  </a:txBody>
                  <a:tcPr marL="101600" marR="101600" marT="38100" marB="38100" anchor="ctr">
                    <a:solidFill>
                      <a:srgbClr val="EEF3F6"/>
                    </a:solidFill>
                  </a:tcPr>
                </a:tc>
                <a:tc>
                  <a:txBody>
                    <a:bodyPr wrap="square"/>
                    <a:lstStyle/>
                    <a:p>
                      <a:r>
                        <a:rPr sz="1700" b="0">
                          <a:solidFill>
                            <a:srgbClr val="1C3144"/>
                          </a:solidFill>
                          <a:latin typeface="Calibri"/>
                        </a:rPr>
                        <a:t>Inputs interact and steps are natural</a:t>
                      </a:r>
                    </a:p>
                  </a:txBody>
                  <a:tcPr marL="101600" marR="101600" marT="38100" marB="38100" anchor="ctr">
                    <a:solidFill>
                      <a:srgbClr val="EEF3F6"/>
                    </a:solidFill>
                  </a:tcPr>
                </a:tc>
                <a:tc>
                  <a:txBody>
                    <a:bodyPr wrap="square"/>
                    <a:lstStyle/>
                    <a:p>
                      <a:r>
                        <a:rPr sz="1700" b="0">
                          <a:solidFill>
                            <a:srgbClr val="1C3144"/>
                          </a:solidFill>
                          <a:latin typeface="Calibri"/>
                        </a:rPr>
                        <a:t>Jumpy answers, overfitting with depth</a:t>
                      </a:r>
                    </a:p>
                  </a:txBody>
                  <a:tcPr marL="101600" marR="101600" marT="38100" marB="38100" anchor="ctr">
                    <a:solidFill>
                      <a:srgbClr val="EEF3F6"/>
                    </a:solidFill>
                  </a:tcPr>
                </a:tc>
              </a:tr>
              <a:tr h="787400">
                <a:tc>
                  <a:txBody>
                    <a:bodyPr wrap="square"/>
                    <a:lstStyle/>
                    <a:p>
                      <a:r>
                        <a:rPr sz="1700" b="1">
                          <a:solidFill>
                            <a:srgbClr val="1C3144"/>
                          </a:solidFill>
                          <a:latin typeface="Calibri"/>
                        </a:rPr>
                        <a:t>Random forest</a:t>
                      </a:r>
                    </a:p>
                  </a:txBody>
                  <a:tcPr marL="101600" marR="101600" marT="38100" marB="38100" anchor="ctr">
                    <a:solidFill>
                      <a:srgbClr val="FFFFFF"/>
                    </a:solidFill>
                  </a:tcPr>
                </a:tc>
                <a:tc>
                  <a:txBody>
                    <a:bodyPr wrap="square"/>
                    <a:lstStyle/>
                    <a:p>
                      <a:r>
                        <a:rPr sz="1700" b="0">
                          <a:solidFill>
                            <a:srgbClr val="1C3144"/>
                          </a:solidFill>
                          <a:latin typeface="Calibri"/>
                        </a:rPr>
                        <a:t>A tree is too jumpy</a:t>
                      </a:r>
                    </a:p>
                  </a:txBody>
                  <a:tcPr marL="101600" marR="101600" marT="38100" marB="38100" anchor="ctr">
                    <a:solidFill>
                      <a:srgbClr val="FFFFFF"/>
                    </a:solidFill>
                  </a:tcPr>
                </a:tc>
                <a:tc>
                  <a:txBody>
                    <a:bodyPr wrap="square"/>
                    <a:lstStyle/>
                    <a:p>
                      <a:r>
                        <a:rPr sz="1700" b="0">
                          <a:solidFill>
                            <a:srgbClr val="1C3144"/>
                          </a:solidFill>
                          <a:latin typeface="Calibri"/>
                        </a:rPr>
                        <a:t>Harder to explain, slower</a:t>
                      </a:r>
                    </a:p>
                  </a:txBody>
                  <a:tcPr marL="101600" marR="101600" marT="38100" marB="38100" anchor="ctr">
                    <a:solidFill>
                      <a:srgbClr val="FFFFFF"/>
                    </a:solidFill>
                  </a:tcPr>
                </a:tc>
              </a:tr>
              <a:tr h="787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Nearby rows really are similar</a:t>
                      </a:r>
                    </a:p>
                  </a:txBody>
                  <a:tcPr marL="101600" marR="101600" marT="38100" marB="38100" anchor="ctr">
                    <a:solidFill>
                      <a:srgbClr val="EEF3F6"/>
                    </a:solidFill>
                  </a:tcPr>
                </a:tc>
                <a:tc>
                  <a:txBody>
                    <a:bodyPr wrap="square"/>
                    <a:lstStyle/>
                    <a:p>
                      <a:r>
                        <a:rPr sz="1700" b="0">
                          <a:solidFill>
                            <a:srgbClr val="1C3144"/>
                          </a:solidFill>
                          <a:latin typeface="Calibri"/>
                        </a:rPr>
                        <a:t>Scaling, slow prediction on big tables</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with a penalty.</a:t>
                      </a:r>
                    </a:p>
                  </a:txBody>
                  <a:tcPr marL="101600" marR="101600" marT="38100" marB="38100" anchor="ctr">
                    <a:solidFill>
                      <a:srgbClr val="EEF3F6"/>
                    </a:solidFill>
                  </a:tcPr>
                </a:tc>
                <a:tc>
                  <a:txBody>
                    <a:bodyPr wrap="square"/>
                    <a:lstStyle/>
                    <a:p>
                      <a:r>
                        <a:rPr sz="1700" b="0">
                          <a:solidFill>
                            <a:srgbClr val="1C3144"/>
                          </a:solidFill>
                          <a:latin typeface="Calibri"/>
                        </a:rPr>
                        <a:t>Ridge with alpha 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The strength of the penalty.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and 100</a:t>
                      </a:r>
                    </a:p>
                  </a:txBody>
                  <a:tcPr marL="101600" marR="101600" marT="38100" marB="38100" anchor="ctr">
                    <a:solidFill>
                      <a:srgbClr val="FFFFFF"/>
                    </a:solidFill>
                  </a:tcPr>
                </a:tc>
              </a:tr>
              <a:tr h="660400">
                <a:tc>
                  <a:txBody>
                    <a:bodyPr wrap="square"/>
                    <a:lstStyle/>
                    <a:p>
                      <a:r>
                        <a:rPr sz="1700" b="1">
                          <a:solidFill>
                            <a:srgbClr val="1C3144"/>
                          </a:solidFill>
                          <a:latin typeface="Calibri"/>
                        </a:rPr>
                        <a:t>Shrinkage</a:t>
                      </a:r>
                    </a:p>
                  </a:txBody>
                  <a:tcPr marL="101600" marR="101600" marT="38100" marB="38100" anchor="ctr">
                    <a:solidFill>
                      <a:srgbClr val="EEF3F6"/>
                    </a:solidFill>
                  </a:tcPr>
                </a:tc>
                <a:tc>
                  <a:txBody>
                    <a:bodyPr wrap="square"/>
                    <a:lstStyle/>
                    <a:p>
                      <a:r>
                        <a:rPr sz="1700" b="0">
                          <a:solidFill>
                            <a:srgbClr val="1C3144"/>
                          </a:solidFill>
                          <a:latin typeface="Calibri"/>
                        </a:rPr>
                        <a:t>Coefficients pulled toward zero by the penalty.</a:t>
                      </a:r>
                    </a:p>
                  </a:txBody>
                  <a:tcPr marL="101600" marR="101600" marT="38100" marB="38100" anchor="ctr">
                    <a:solidFill>
                      <a:srgbClr val="EEF3F6"/>
                    </a:solidFill>
                  </a:tcPr>
                </a:tc>
                <a:tc>
                  <a:txBody>
                    <a:bodyPr wrap="square"/>
                    <a:lstStyle/>
                    <a:p>
                      <a:r>
                        <a:rPr sz="1700" b="0">
                          <a:solidFill>
                            <a:srgbClr val="1C3144"/>
                          </a:solidFill>
                          <a:latin typeface="Calibri"/>
                        </a:rPr>
                        <a:t>A huge coefficient became a small one</a:t>
                      </a:r>
                    </a:p>
                  </a:txBody>
                  <a:tcPr marL="101600" marR="101600" marT="38100" marB="38100" anchor="ctr">
                    <a:solidFill>
                      <a:srgbClr val="EEF3F6"/>
                    </a:solidFill>
                  </a:tcPr>
                </a:tc>
              </a:tr>
              <a:tr h="660400">
                <a:tc>
                  <a:txBody>
                    <a:bodyPr wrap="square"/>
                    <a:lstStyle/>
                    <a:p>
                      <a:r>
                        <a:rPr sz="1700" b="1">
                          <a:solidFill>
                            <a:srgbClr val="1C3144"/>
                          </a:solidFill>
                          <a:latin typeface="Calibri"/>
                        </a:rPr>
                        <a:t>Neighbour and k</a:t>
                      </a:r>
                    </a:p>
                  </a:txBody>
                  <a:tcPr marL="101600" marR="101600" marT="38100" marB="38100" anchor="ctr">
                    <a:solidFill>
                      <a:srgbClr val="FFFFFF"/>
                    </a:solidFill>
                  </a:tcPr>
                </a:tc>
                <a:tc>
                  <a:txBody>
                    <a:bodyPr wrap="square"/>
                    <a:lstStyle/>
                    <a:p>
                      <a:r>
                        <a:rPr sz="1700" b="0">
                          <a:solidFill>
                            <a:srgbClr val="1C3144"/>
                          </a:solidFill>
                          <a:latin typeface="Calibri"/>
                        </a:rPr>
                        <a:t>The closest training rows, and how many we use.</a:t>
                      </a:r>
                    </a:p>
                  </a:txBody>
                  <a:tcPr marL="101600" marR="101600" marT="38100" marB="38100" anchor="ctr">
                    <a:solidFill>
                      <a:srgbClr val="FFFFFF"/>
                    </a:solidFill>
                  </a:tcPr>
                </a:tc>
                <a:tc>
                  <a:txBody>
                    <a:bodyPr wrap="square"/>
                    <a:lstStyle/>
                    <a:p>
                      <a:r>
                        <a:rPr sz="1700" b="0">
                          <a:solidFill>
                            <a:srgbClr val="1C3144"/>
                          </a:solidFill>
                          <a:latin typeface="Calibri"/>
                        </a:rPr>
                        <a:t>k = 3</a:t>
                      </a:r>
                    </a:p>
                  </a:txBody>
                  <a:tcPr marL="101600" marR="101600" marT="38100" marB="38100" anchor="ctr">
                    <a:solidFill>
                      <a:srgbClr val="FFFFFF"/>
                    </a:solidFill>
                  </a:tcPr>
                </a:tc>
              </a:tr>
              <a:tr h="660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Average the targets of the k closest rows.</a:t>
                      </a:r>
                    </a:p>
                  </a:txBody>
                  <a:tcPr marL="101600" marR="101600" marT="38100" marB="38100" anchor="ctr">
                    <a:solidFill>
                      <a:srgbClr val="EEF3F6"/>
                    </a:solidFill>
                  </a:tcPr>
                </a:tc>
                <a:tc>
                  <a:txBody>
                    <a:bodyPr wrap="square"/>
                    <a:lstStyle/>
                    <a:p>
                      <a:r>
                        <a:rPr sz="1700" b="0">
                          <a:solidFill>
                            <a:srgbClr val="1C3144"/>
                          </a:solidFill>
                          <a:latin typeface="Calibri"/>
                        </a:rPr>
                        <a:t>Validation MAE 1.58 deg C</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alpha and k</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16</a:t>
            </a:r>
          </a:p>
        </p:txBody>
      </p:sp>
    </p:spTree>
  </p:cSld>
  <p:clrMapOvr>
    <a:masterClrMapping/>
  </p:clrMapOvr>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F2AC4B-9231-4A79-9B4D-B24CBB8872C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9CADE41-E09A-4FE1-A093-EE9648A1C76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C72EA60-89C7-4704-8357-66462DA172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F81F7F8-1953-4DF7-8CE4-49AC32A3D83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E4783D4-88C2-4CBD-8AEB-BC169F7CAB9A}"/>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DC86DB19-2261-45E3-9A75-25CE2CD5D52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9E1F187F-5FC1-4040-83FC-D8B8E05D66E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17</a:t>
            </a:r>
          </a:p>
        </p:txBody>
      </p:sp>
    </p:spTree>
    <p:extLst>
      <p:ext uri="{BB962C8B-B14F-4D97-AF65-F5344CB8AC3E}">
        <p14:creationId xmlns:p14="http://schemas.microsoft.com/office/powerpoint/2010/main" val="75342033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F5B7D7A-9A98-4931-B2E4-863AA02E96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E726D45-A14C-476C-ABE4-6AD8E3C89E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020FA40-DA0A-4BBC-9622-0CB8863EE0E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3F579B2F-3AC7-44C1-9F78-E6E8B31576F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F119186-00B3-4C83-97DD-8455D5005D1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074C4537-0B45-491D-BCBF-FE78FF05347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EEC1CDE4-3013-469C-B9DD-DAEE17387FB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FE45BF7F-1B24-4762-8DED-E6F0677312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18</a:t>
            </a:r>
          </a:p>
        </p:txBody>
      </p:sp>
    </p:spTree>
    <p:extLst>
      <p:ext uri="{BB962C8B-B14F-4D97-AF65-F5344CB8AC3E}">
        <p14:creationId xmlns:p14="http://schemas.microsoft.com/office/powerpoint/2010/main" val="189878878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0678C20-7972-4A33-86D7-23B1C0BFE2C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008C3E-3296-434F-A836-AA5FA34A92A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050B7C4-8771-440C-99DE-C1FF1099124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data paths and saved outputs</a:t>
            </a:r>
          </a:p>
        </p:txBody>
      </p:sp>
      <p:sp>
        <p:nvSpPr>
          <p:cNvPr id="4" name="">
            <a:extLst xmlns:a="http://schemas.openxmlformats.org/drawingml/2006/main">
              <a:ext uri="{FF2B5EF4-FFF2-40B4-BE49-F238E27FC236}">
                <a16:creationId xmlns:a16="http://schemas.microsoft.com/office/drawing/2014/main" id="{69C64524-A84C-466F-9DFB-D75088F7CB1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6877C0E-2537-4CDD-BF66-3517ACC0597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D30F7E2-764F-4F90-A70D-36648F0B0F1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pd.read_csv("data/raw/engineering_data.csv") reads a file relative to the notebook’s working folder. State that folder in the README.</a:t>
            </a:r>
          </a:p>
        </p:txBody>
      </p:sp>
      <p:sp>
        <p:nvSpPr>
          <p:cNvPr id="7" name="">
            <a:extLst xmlns:a="http://schemas.openxmlformats.org/drawingml/2006/main">
              <a:ext uri="{FF2B5EF4-FFF2-40B4-BE49-F238E27FC236}">
                <a16:creationId xmlns:a16="http://schemas.microsoft.com/office/drawing/2014/main" id="{3F461217-8702-4A7C-BF7A-CE9E7E520E4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clean.to_csv("cleaned_data.csv", index=False) exports a table without adding pandas row labels as a new column.</a:t>
            </a:r>
          </a:p>
        </p:txBody>
      </p:sp>
      <p:sp>
        <p:nvSpPr>
          <p:cNvPr id="8" name="">
            <a:extLst xmlns:a="http://schemas.openxmlformats.org/drawingml/2006/main">
              <a:ext uri="{FF2B5EF4-FFF2-40B4-BE49-F238E27FC236}">
                <a16:creationId xmlns:a16="http://schemas.microsoft.com/office/drawing/2014/main" id="{53FDA7D9-5768-4576-B0C0-DF8994F0A2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19</a:t>
            </a:r>
          </a:p>
        </p:txBody>
      </p:sp>
    </p:spTree>
    <p:extLst>
      <p:ext uri="{BB962C8B-B14F-4D97-AF65-F5344CB8AC3E}">
        <p14:creationId xmlns:p14="http://schemas.microsoft.com/office/powerpoint/2010/main" val="118684498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76A03F-1169-451C-A174-565786D7B9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D5AB451-F7AC-42E2-80E3-C4789DF63F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BDDC8A-3014-4BB2-8D33-9366DD9926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CBF27E46-D9CC-4E85-934D-DA9B5CC4265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042FAA2-135E-416B-857E-DF98CB2AE0C8}"/>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28DFCC80-404E-436F-9D37-A3AD0C5C7648}"/>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xmlns:a="http://schemas.openxmlformats.org/drawingml/2006/main">
              <a:ext uri="{FF2B5EF4-FFF2-40B4-BE49-F238E27FC236}">
                <a16:creationId xmlns:a16="http://schemas.microsoft.com/office/drawing/2014/main" id="{9BD3D621-B4E0-465A-BF11-D1BAB6E06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20</a:t>
            </a:r>
          </a:p>
        </p:txBody>
      </p:sp>
    </p:spTree>
    <p:extLst>
      <p:ext uri="{BB962C8B-B14F-4D97-AF65-F5344CB8AC3E}">
        <p14:creationId xmlns:p14="http://schemas.microsoft.com/office/powerpoint/2010/main" val="96939113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B09073A-DF98-4629-803D-3EDF93581D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940746C-913A-4EA2-8BAE-C60BA3B920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6345755-1E3E-4816-A50C-41EC8E5752F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C6D41A14-B580-44AA-9AB1-51D486F55B6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F5C1FE7-FF32-4416-9A45-DF434CEBDD1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D52F47CB-6920-4A6B-A0DB-13DA1A43CFDF}"/>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test you used.</a:t>
            </a:r>
          </a:p>
        </p:txBody>
      </p:sp>
      <p:sp>
        <p:nvSpPr>
          <p:cNvPr id="7" name="">
            <a:extLst xmlns:a="http://schemas.openxmlformats.org/drawingml/2006/main">
              <a:ext uri="{FF2B5EF4-FFF2-40B4-BE49-F238E27FC236}">
                <a16:creationId xmlns:a16="http://schemas.microsoft.com/office/drawing/2014/main" id="{3CEC7DB6-E99A-4F4D-AFA5-BA84807C9BCA}"/>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F85D5B20-48EC-4C8D-B90B-7F8BEB5C1BE8}"/>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F71BAE5C-6A96-4DCF-91F2-0D6104DEBE1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E440E6A2-3EE9-485A-8670-039D3AFA7E8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21</a:t>
            </a:r>
          </a:p>
        </p:txBody>
      </p:sp>
    </p:spTree>
    <p:extLst>
      <p:ext uri="{BB962C8B-B14F-4D97-AF65-F5344CB8AC3E}">
        <p14:creationId xmlns:p14="http://schemas.microsoft.com/office/powerpoint/2010/main" val="146244462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6407B6F-9A91-47F5-B892-64BB78B52A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330F77-1675-4B99-9F79-5E2F6754FF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B6960779-C526-458D-9556-648149E7DDE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B3C9D6F8-740D-49D8-B2A5-F5FAB2C2FA1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105686E-7787-4BA0-9C88-990EBA277FB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AE69E9A0-0EDD-4E40-BD71-ECCEDCB3F507}"/>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8320DCA8-8396-4B0B-BD4C-9D9BF582D7EE}"/>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22F1743A-AEC1-4C63-955E-9E1559BE7FB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C7123065-DBF2-47E9-B9E9-0D17D232BAF4}"/>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D0F7469C-1CE1-4D51-A4CD-343A5C661EA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22</a:t>
            </a:r>
          </a:p>
        </p:txBody>
      </p:sp>
    </p:spTree>
    <p:extLst>
      <p:ext uri="{BB962C8B-B14F-4D97-AF65-F5344CB8AC3E}">
        <p14:creationId xmlns:p14="http://schemas.microsoft.com/office/powerpoint/2010/main" val="1683994388"/>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7902F73-6701-481F-9BF4-6787A479C4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FE17A3-116F-47D4-A090-283B86FDBB3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FFC36A6-D162-40B3-B79A-150662532D6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B6730982-B2BD-43BD-BA9F-8F8A32D7D2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50D165-D51B-4DAC-BF8E-715857E14535}"/>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6C6556B8-39BB-4C72-A1F8-5DAEA3706B9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8CE403-008D-474F-9D79-A051636827BB}"/>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BF43AED1-9B3D-468F-9A3C-797CBB898FF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34877F-2EEC-4297-832C-5A5B40AF3260}"/>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EFDEB1F7-94DE-4577-91A1-EFC25393EBE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CBA54D2-B11A-4A71-BB6B-82B667672401}"/>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D29EB785-5CD8-41DA-A5D3-A6F46FEF5F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23</a:t>
            </a:r>
          </a:p>
        </p:txBody>
      </p:sp>
    </p:spTree>
    <p:extLst>
      <p:ext uri="{BB962C8B-B14F-4D97-AF65-F5344CB8AC3E}">
        <p14:creationId xmlns:p14="http://schemas.microsoft.com/office/powerpoint/2010/main" val="44307592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ADA76EA-9444-4013-B08F-FD1D35B346C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0A279FF-3C64-462D-91D4-1A1D559EA7F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3" name="">
            <a:extLst xmlns:a="http://schemas.openxmlformats.org/drawingml/2006/main">
              <a:ext uri="{FF2B5EF4-FFF2-40B4-BE49-F238E27FC236}">
                <a16:creationId xmlns:a16="http://schemas.microsoft.com/office/drawing/2014/main" id="{02B5AAE1-DD00-4D66-9BC6-89180C853640}"/>
              </a:ext>
            </a:extLst>
          </p:cNvPr>
          <p:cNvPicPr>
            <a:picLocks xmlns:a="http://schemas.openxmlformats.org/drawingml/2006/main" noChangeAspect="1"/>
          </p:cNvPicPr>
          <p:nvPr/>
        </p:nvPicPr>
        <p:blipFill>
          <a:blip xmlns:r="http://schemas.openxmlformats.org/officeDocument/2006/relationships" xmlns:a="http://schemas.openxmlformats.org/drawingml/2006/main" r:embed="Rd27d63ec9d6f4ed0"/>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11F53FFF-E340-4A84-A2A3-9005D960A8A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5F2589-5896-4A38-8435-9D981A4E09A6}"/>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FACBC540-E2FD-49B5-82A1-660563D377F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24</a:t>
            </a:r>
          </a:p>
        </p:txBody>
      </p:sp>
    </p:spTree>
    <p:extLst>
      <p:ext uri="{BB962C8B-B14F-4D97-AF65-F5344CB8AC3E}">
        <p14:creationId xmlns:p14="http://schemas.microsoft.com/office/powerpoint/2010/main" val="23167536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53DBD04-7E3E-4B63-82B6-DBC7033B56C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8718C2A-6144-453E-9622-CAD95D9FA7CC}"/>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3" name="">
            <a:extLst xmlns:a="http://schemas.openxmlformats.org/drawingml/2006/main">
              <a:ext uri="{FF2B5EF4-FFF2-40B4-BE49-F238E27FC236}">
                <a16:creationId xmlns:a16="http://schemas.microsoft.com/office/drawing/2014/main" id="{24BFEB2F-A824-410B-9F1C-04369E9AD0B9}"/>
              </a:ext>
            </a:extLst>
          </p:cNvPr>
          <p:cNvPicPr>
            <a:picLocks xmlns:a="http://schemas.openxmlformats.org/drawingml/2006/main" noChangeAspect="1"/>
          </p:cNvPicPr>
          <p:nvPr/>
        </p:nvPicPr>
        <p:blipFill>
          <a:blip xmlns:r="http://schemas.openxmlformats.org/officeDocument/2006/relationships" xmlns:a="http://schemas.openxmlformats.org/drawingml/2006/main" r:embed="R6d8dc42ecf424e8f"/>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14EB5FB-3572-4D91-BA00-44A301D5A65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1FBAC47-2230-40C5-86CA-6DABB680E21E}"/>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31025E89-D555-4417-A821-B36AEF7910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25</a:t>
            </a:r>
          </a:p>
        </p:txBody>
      </p:sp>
    </p:spTree>
    <p:extLst>
      <p:ext uri="{BB962C8B-B14F-4D97-AF65-F5344CB8AC3E}">
        <p14:creationId xmlns:p14="http://schemas.microsoft.com/office/powerpoint/2010/main" val="1437006211"/>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3F43EA-F8E5-4056-A836-8535BD8C10C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F78560-53EB-4120-9980-80A6542389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334393C-8BD0-4818-BDED-61747722C69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B33C811A-D0DA-44AD-93B6-2A6D4D9E1A7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98E73A-2026-40C0-8EBB-C259FC5BB6DD}"/>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5DD76886-5E86-4316-A0FC-15354809CF7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EAC2B53-CC45-4DCA-A812-6027F421A98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47C5255D-95AE-4E7D-97AF-F948D18CB1D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1B00582-859E-43B2-8C31-D1C507A241B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1F9FD36F-0DE4-470D-BC55-A003E49F2B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26</a:t>
            </a:r>
          </a:p>
        </p:txBody>
      </p:sp>
    </p:spTree>
    <p:extLst>
      <p:ext uri="{BB962C8B-B14F-4D97-AF65-F5344CB8AC3E}">
        <p14:creationId xmlns:p14="http://schemas.microsoft.com/office/powerpoint/2010/main" val="1734064"/>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E58DE68-2B57-4A64-B7C1-03591EEC70A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4779D44-84E7-4A97-B3C3-308819FEB6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C26A243-1A2A-4A7C-9F24-324E0BF10F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E6740459-5AD7-4B2C-9D35-8F91A8B2B63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1243F20-C4DE-4DAD-AE5D-55A3A06BF3B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92C5F052-1C0C-45C1-A503-C9BB19F8DB41}"/>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A47207-4AAA-42AF-9DE5-155AA115CF9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E9CADEF1-DDDC-4613-8A66-DD6CC5A8532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1AD5C5B-0C81-4EEC-B575-FB6E3504153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B1FBE502-D49B-4CEC-BE94-6FCDD68C568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27</a:t>
            </a:r>
          </a:p>
        </p:txBody>
      </p:sp>
    </p:spTree>
    <p:extLst>
      <p:ext uri="{BB962C8B-B14F-4D97-AF65-F5344CB8AC3E}">
        <p14:creationId xmlns:p14="http://schemas.microsoft.com/office/powerpoint/2010/main" val="605449699"/>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D9AD4D5-C360-4272-8AD8-67298A68D4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9A583F7-1042-48B4-B4A0-06B827724FD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7B9C51-279B-47C0-B338-FFDF9C37402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D8AF6034-D688-4580-B398-F9A57E78708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4101BD0-4F9A-43B0-AA80-10ADEF6ED8F2}"/>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ECFE5C07-2761-4F14-A090-C22B22B1E9D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7D060F00-9858-49B0-914A-0862DD74181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1F2F1436-3DEF-48C7-8E91-1711968D9E3C}"/>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87B344F2-B2D0-4F77-8D9C-561A8737527A}"/>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709136DA-5456-4AFA-A54F-8B6ACC4031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28</a:t>
            </a:r>
          </a:p>
        </p:txBody>
      </p:sp>
    </p:spTree>
    <p:extLst>
      <p:ext uri="{BB962C8B-B14F-4D97-AF65-F5344CB8AC3E}">
        <p14:creationId xmlns:p14="http://schemas.microsoft.com/office/powerpoint/2010/main" val="106678226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2680D41-2651-41C6-BE6F-7845D20DF0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B76E86F-53DD-4BC7-9566-3C186AA495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708BD0DB-7356-4914-B38A-A757E72073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E3F95E80-0D23-4C01-A2AB-830867F1ECC3}"/>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3221DF-1E8F-460F-A5A9-DD2AA6D8B049}"/>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AA05106F-8B53-473E-9D1F-12CCAD76826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87E405FF-789C-4943-B0C7-0A77F862375C}"/>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D0C643C6-7DE5-4DBC-87C7-0F2120F2094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D45B4AE3-273C-47C7-92E6-432398A48C85}"/>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3A1900F7-E7CC-4035-862D-C2E2924EE0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29</a:t>
            </a:r>
          </a:p>
        </p:txBody>
      </p:sp>
    </p:spTree>
    <p:extLst>
      <p:ext uri="{BB962C8B-B14F-4D97-AF65-F5344CB8AC3E}">
        <p14:creationId xmlns:p14="http://schemas.microsoft.com/office/powerpoint/2010/main" val="241499691"/>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Recording the versions you used</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sys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sklearn</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sys</a:t>
            </a:r>
            <a:r>
              <a:rPr sz="1500">
                <a:solidFill>
                  <a:srgbClr val="F4F7FA"/>
                </a:solidFill>
                <a:latin typeface="Courier New"/>
              </a:rPr>
              <a:t>.</a:t>
            </a:r>
            <a:r>
              <a:rPr sz="1500">
                <a:solidFill>
                  <a:srgbClr val="F4F7FA"/>
                </a:solidFill>
                <a:latin typeface="Courier New"/>
              </a:rPr>
              <a:t>version</a:t>
            </a:r>
            <a:r>
              <a:rPr sz="1500">
                <a:solidFill>
                  <a:srgbClr val="F4F7FA"/>
                </a:solidFill>
                <a:latin typeface="Courier New"/>
              </a:rPr>
              <a:t>.</a:t>
            </a:r>
            <a:r>
              <a:rPr sz="1500">
                <a:solidFill>
                  <a:srgbClr val="F4F7FA"/>
                </a:solidFill>
                <a:latin typeface="Courier New"/>
              </a:rPr>
              <a:t>split</a:t>
            </a:r>
            <a:r>
              <a:rPr sz="1500">
                <a:solidFill>
                  <a:srgbClr val="F4F7FA"/>
                </a:solidFill>
                <a:latin typeface="Courier New"/>
              </a:rPr>
              <a:t>()[</a:t>
            </a:r>
            <a:r>
              <a:rPr sz="1500">
                <a:solidFill>
                  <a:srgbClr val="F4F7FA"/>
                </a:solidFill>
                <a:latin typeface="Courier New"/>
              </a:rPr>
              <a:t>0</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scikit</a:t>
            </a:r>
            <a:r>
              <a:rPr sz="1500">
                <a:solidFill>
                  <a:srgbClr val="F4F7FA"/>
                </a:solidFill>
                <a:latin typeface="Courier New"/>
              </a:rPr>
              <a:t>-</a:t>
            </a:r>
            <a:r>
              <a:rPr sz="1500">
                <a:solidFill>
                  <a:srgbClr val="F4F7FA"/>
                </a:solidFill>
                <a:latin typeface="Courier New"/>
              </a:rPr>
              <a:t>learn</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(your versions print here)</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line prints the version of one tool.</a:t>
            </a:r>
          </a:p>
          <a:p>
            <a:pPr>
              <a:spcAft>
                <a:spcPts val="900"/>
              </a:spcAft>
            </a:pPr>
            <a:r>
              <a:rPr sz="1750" b="0">
                <a:solidFill>
                  <a:srgbClr val="1C3144"/>
                </a:solidFill>
                <a:latin typeface="Calibri"/>
              </a:rPr>
              <a:t>Copy the four results into requirements.txt and the README.</a:t>
            </a:r>
          </a:p>
          <a:p>
            <a:pPr>
              <a:spcAft>
                <a:spcPts val="900"/>
              </a:spcAft>
            </a:pPr>
            <a:r>
              <a:rPr sz="1750" b="0">
                <a:solidFill>
                  <a:srgbClr val="1C3144"/>
                </a:solidFill>
                <a:latin typeface="Calibri"/>
              </a:rPr>
              <a:t>Write them as pandas==X.Y.Z, one tool on each line, with the numbers your own run printed.</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Install later with: pip install -r requirements.txt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fresh start in Colab</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BEFORE THE CHECK</a:t>
            </a:r>
          </a:p>
          <a:p>
            <a:pPr>
              <a:spcAft>
                <a:spcPts val="800"/>
              </a:spcAft>
            </a:pPr>
            <a:r>
              <a:rPr sz="2200" b="0">
                <a:solidFill>
                  <a:srgbClr val="1C3144"/>
                </a:solidFill>
                <a:latin typeface="Calibri"/>
              </a:rPr>
              <a:t>Upload your data file to the Colab Files panel, or mount Drive.</a:t>
            </a:r>
          </a:p>
          <a:p>
            <a:pPr>
              <a:spcAft>
                <a:spcPts val="800"/>
              </a:spcAft>
            </a:pPr>
            <a:r>
              <a:rPr sz="2200" b="0">
                <a:solidFill>
                  <a:srgbClr val="1C3144"/>
                </a:solidFill>
                <a:latin typeface="Calibri"/>
              </a:rPr>
              <a:t>Put the file where the README says, for example data/raw/engineering_data.csv.</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CHECK</a:t>
            </a:r>
          </a:p>
          <a:p>
            <a:pPr>
              <a:spcAft>
                <a:spcPts val="800"/>
              </a:spcAft>
            </a:pPr>
            <a:r>
              <a:rPr sz="2200" b="0">
                <a:solidFill>
                  <a:srgbClr val="1C3144"/>
                </a:solidFill>
                <a:latin typeface="Calibri"/>
              </a:rPr>
              <a:t>Choose Runtime, then Restart session, then Run all.</a:t>
            </a:r>
          </a:p>
          <a:p>
            <a:pPr>
              <a:spcAft>
                <a:spcPts val="800"/>
              </a:spcAft>
            </a:pPr>
            <a:r>
              <a:rPr sz="2200" b="0">
                <a:solidFill>
                  <a:srgbClr val="1C3144"/>
                </a:solidFill>
                <a:latin typeface="Calibri"/>
              </a:rPr>
              <a:t>Disconnect and delete runtime wipes uploaded files, so you upload them again before the check.</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CML3111   Week 13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4BF6AA1-56CA-49ED-AA05-0D743D5A79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6887F2E-9681-4054-9BF3-34F48220570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8373E8DC-1BA9-43E6-8362-124389826A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DB7102EA-9E9E-4B41-B7A0-C7F20DB4648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C15E4F1-FD39-49A5-B662-7F87DFF50794}"/>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241752B8-58AE-46F3-8F28-B321599E3792}"/>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7938B48D-2954-4AA8-B691-3144A5E66030}"/>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05F33E3-2715-4CE3-824D-F11FA3E7C2C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2F8E2FE5-29E9-4DCA-A680-81418009EE9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14872F66-97D4-4C42-8C85-9E53AE5AB6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32</a:t>
            </a:r>
          </a:p>
        </p:txBody>
      </p:sp>
    </p:spTree>
    <p:extLst>
      <p:ext uri="{BB962C8B-B14F-4D97-AF65-F5344CB8AC3E}">
        <p14:creationId xmlns:p14="http://schemas.microsoft.com/office/powerpoint/2010/main" val="194124045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2860EE-2F01-415D-80B2-F13C717C705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1962392-4EAB-406E-8CC5-991D0502231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3B76CE4-F917-4CCE-89C9-B7677DFB25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A5BF300C-E2EF-453A-967F-F3865D41F91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7CAA52B-17FB-48B7-B829-546B3F7FF08B}"/>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78E4219C-9B4B-4B99-B8E2-D2DE04A77B2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16C98F-EF16-48C0-95AA-73388C57FA8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1BCEA1CF-3C91-4BDE-834B-DE38450C8F8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CDC17AA-74E8-40CA-8F4C-A81CF8FEB2F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98EA31E0-0CEC-4968-816B-ED7CC6726B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33</a:t>
            </a:r>
          </a:p>
        </p:txBody>
      </p:sp>
    </p:spTree>
    <p:extLst>
      <p:ext uri="{BB962C8B-B14F-4D97-AF65-F5344CB8AC3E}">
        <p14:creationId xmlns:p14="http://schemas.microsoft.com/office/powerpoint/2010/main" val="66377771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58B7CE-65D3-41E8-873E-301A30380F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C584EA9-3D00-4021-B2D8-344B079A7D4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813E9BC-E204-4582-9ACB-D0D7C9266C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A525EFC4-CD9B-4131-BA75-70B8EC01DE3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0262473-7CBF-4D6A-A35A-992BE70E354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440113D-96D0-48F1-A927-BBB02968EDA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FB0B145B-0A91-4E68-AC6B-F55EDF6E3F7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FFCAA888-619C-4135-A5D7-82038F6698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34</a:t>
            </a:r>
          </a:p>
        </p:txBody>
      </p:sp>
    </p:spTree>
    <p:extLst>
      <p:ext uri="{BB962C8B-B14F-4D97-AF65-F5344CB8AC3E}">
        <p14:creationId xmlns:p14="http://schemas.microsoft.com/office/powerpoint/2010/main" val="1801657469"/>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21AA4B5-C47D-4A2C-8E1E-DDEE7CFFE07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FF5386A-3293-4008-9778-74D4F00225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CD5D7C4-90AA-4C88-AF26-0E243598DD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AE46998E-1B1D-44AF-B22E-DCA20F04DAE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5F3ADE-DEA8-4440-A126-3D311C467A48}"/>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40C39BA2-97C3-440C-885E-E1350A4F64A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4C0DAE-9B21-473C-9BFC-603A1B2C9762}"/>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EE4811CA-9B6A-47BA-9C92-32ACD44CA2C4}"/>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8C769D5-7F60-4EBD-AD6A-D5B55B640B13}"/>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Colab Test 2 saving and submission and the published function interfaces before Week 14.</a:t>
            </a:r>
          </a:p>
        </p:txBody>
      </p:sp>
      <p:sp>
        <p:nvSpPr>
          <p:cNvPr id="10" name="">
            <a:extLst xmlns:a="http://schemas.openxmlformats.org/drawingml/2006/main">
              <a:ext uri="{FF2B5EF4-FFF2-40B4-BE49-F238E27FC236}">
                <a16:creationId xmlns:a16="http://schemas.microsoft.com/office/drawing/2014/main" id="{AC577E6A-B742-4F3C-BDD0-69C9C9552C52}"/>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615769F-F966-41DE-836A-EF503010E058}"/>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D5618FEE-56D2-4DA2-BBF5-9AE50C5562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35</a:t>
            </a:r>
          </a:p>
        </p:txBody>
      </p:sp>
    </p:spTree>
    <p:extLst>
      <p:ext uri="{BB962C8B-B14F-4D97-AF65-F5344CB8AC3E}">
        <p14:creationId xmlns:p14="http://schemas.microsoft.com/office/powerpoint/2010/main" val="75495545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4D5CB18-BCA1-44CC-BC5D-1E2196F28C1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07441F2-3B0D-4158-8361-F856D1B472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3E05DE7-91BD-4596-9911-EE23C97CCF3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E4565883-1C99-4CBA-9D29-169641A78C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D53C3540-0D04-45B1-8AA5-C572C79997A7}"/>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D6503CBA-1390-41CC-BD9E-141BD705C96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9E7B650-431A-4C81-A99E-9C19DDDDD9E4}"/>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16748CD3-95B8-4AB4-A251-F18BB3FD353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6CD72DD1-A237-4B73-8ACB-188F8B6BEB9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82E7C752-F9FC-4CD8-BDA5-781F73ABF50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CE1E229-C462-4C2C-9019-C48FF0018FB0}"/>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053A8897-D0FB-447C-B497-AC89A479CC4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36</a:t>
            </a:r>
          </a:p>
        </p:txBody>
      </p:sp>
    </p:spTree>
    <p:extLst>
      <p:ext uri="{BB962C8B-B14F-4D97-AF65-F5344CB8AC3E}">
        <p14:creationId xmlns:p14="http://schemas.microsoft.com/office/powerpoint/2010/main" val="144048157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656E71C-4D88-4280-8798-D56D6426EB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01E84C-9190-4908-B778-F0336C6F0CF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129B2A0-2989-4885-98CB-CBDE6128F9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9D3FD52B-912D-4CA8-B8FC-59CBC26A8D9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650B00-D213-483B-AABA-BE7EEF66142F}"/>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C8321480-7ABC-4233-BE77-0725AD41437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37</a:t>
            </a:r>
          </a:p>
        </p:txBody>
      </p:sp>
    </p:spTree>
    <p:extLst>
      <p:ext uri="{BB962C8B-B14F-4D97-AF65-F5344CB8AC3E}">
        <p14:creationId xmlns:p14="http://schemas.microsoft.com/office/powerpoint/2010/main" val="1159070839"/>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AE417DB-41A2-4A8E-A46F-70B1B6FFC0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6ACB4D1-014C-4125-BBBF-CE068EEC8C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8BF46D3-F392-4B4E-8A8C-BF1B86E7454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EB5DDADC-F54C-4558-8541-0A30805681A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1E3C668-E0D8-4841-9D6E-883448B010E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287E9D46-6D03-4334-BFC5-7A85B8C2D257}"/>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1396A7D-CB4B-404F-A36B-36CB7F99352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47FFF78E-CF31-4BA2-91D1-2E39285A0EFF}"/>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188F76F-AC98-430D-A694-85AC1B850C07}"/>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9617F117-0B65-4B76-B459-1854BA71655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5F1B39-7116-49F7-B1D8-4055FC548BF4}"/>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11:00 Kampala</a:t>
            </a:r>
          </a:p>
        </p:txBody>
      </p:sp>
      <p:sp>
        <p:nvSpPr>
          <p:cNvPr id="12" name="">
            <a:extLst xmlns:a="http://schemas.openxmlformats.org/drawingml/2006/main">
              <a:ext uri="{FF2B5EF4-FFF2-40B4-BE49-F238E27FC236}">
                <a16:creationId xmlns:a16="http://schemas.microsoft.com/office/drawing/2014/main" id="{E55EAEFA-892D-475F-A707-6BF307E896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38</a:t>
            </a:r>
          </a:p>
        </p:txBody>
      </p:sp>
    </p:spTree>
    <p:extLst>
      <p:ext uri="{BB962C8B-B14F-4D97-AF65-F5344CB8AC3E}">
        <p14:creationId xmlns:p14="http://schemas.microsoft.com/office/powerpoint/2010/main" val="197430496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94AA6C7C-1BF9-41E8-B4D0-44A3952CB8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B22A91F-7CBF-485A-96C9-25EF0780DDD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C7A8977D-73EA-43D4-99AF-57CAA55C27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xmlns:a="http://schemas.openxmlformats.org/drawingml/2006/main">
              <a:ext uri="{FF2B5EF4-FFF2-40B4-BE49-F238E27FC236}">
                <a16:creationId xmlns:a16="http://schemas.microsoft.com/office/drawing/2014/main" id="{D0C63059-3ED1-4704-8F73-7A6161D47B4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54080B6-94C3-4173-BD25-7639F48EEED1}"/>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A2E7EE12-E08A-4A25-AAD6-48412B30CC5D}"/>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2161DEE-C350-40C6-A541-F706B0CCAF72}"/>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4D30140A-F824-46D4-8DCE-3385D1131EE2}"/>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FBC36B-4BB9-45EB-97D1-51705E86439E}"/>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5BB18600-D585-48C0-A784-B6DB3D4794B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65A42A0-AB3D-4BA1-8E0F-3C7692BA4398}"/>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DC22F067-0E24-42B3-9F5B-840C431D5110}"/>
              </a:ext>
            </a:extLst>
          </p:cNvPr>
          <p:cNvPicPr>
            <a:picLocks xmlns:a="http://schemas.openxmlformats.org/drawingml/2006/main" noChangeAspect="1"/>
          </p:cNvPicPr>
          <p:nvPr/>
        </p:nvPicPr>
        <p:blipFill>
          <a:blip xmlns:r="http://schemas.openxmlformats.org/officeDocument/2006/relationships" xmlns:a="http://schemas.openxmlformats.org/drawingml/2006/main" r:embed="Ra938ebf5cb3e4a2a"/>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0272E643-2B5A-4AAC-81EA-629746B84E43}"/>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B6236BE9-09B6-44C0-95D5-5D4831C74A4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74ABEE81-6780-476D-A8F7-9147CCCDF4C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e3dae50c5c74b5e"/>
              </a:rPr>
              <a:t>Open this week’s quiz</a:t>
            </a:r>
          </a:p>
        </p:txBody>
      </p:sp>
      <p:sp>
        <p:nvSpPr>
          <p:cNvPr id="16" name="">
            <a:extLst xmlns:a="http://schemas.openxmlformats.org/drawingml/2006/main">
              <a:ext uri="{FF2B5EF4-FFF2-40B4-BE49-F238E27FC236}">
                <a16:creationId xmlns:a16="http://schemas.microsoft.com/office/drawing/2014/main" id="{2C41434F-B669-47DB-BA7D-1AFA33E2549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https://forms.gle/ameQRYSJ5kfrpcKWA</a:t>
            </a:r>
          </a:p>
        </p:txBody>
      </p:sp>
      <p:sp>
        <p:nvSpPr>
          <p:cNvPr id="17" name="">
            <a:extLst xmlns:a="http://schemas.openxmlformats.org/drawingml/2006/main">
              <a:ext uri="{FF2B5EF4-FFF2-40B4-BE49-F238E27FC236}">
                <a16:creationId xmlns:a16="http://schemas.microsoft.com/office/drawing/2014/main" id="{53424EB8-7434-4BC2-9AFD-ACDDBA57312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39</a:t>
            </a:r>
          </a:p>
        </p:txBody>
      </p:sp>
    </p:spTree>
    <p:extLst>
      <p:ext uri="{BB962C8B-B14F-4D97-AF65-F5344CB8AC3E}">
        <p14:creationId xmlns:p14="http://schemas.microsoft.com/office/powerpoint/2010/main" val="2015875216"/>
      </p:ext>
    </p:extLst>
  </p:cSld>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6F7BB3-CCB0-4050-9955-68674791B78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CBEA4C8A-0211-4837-B984-11074B510BA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099CF0BF-D066-479D-9DB0-53050CEA7E1F}"/>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A97FE817-9B30-42CE-8BDA-45A43D8FD61A}"/>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45AF9F6A-A694-4ACD-9DA0-86126404E49A}"/>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4DF6DE3-8F49-46E7-9915-FFEAFC7832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CML3111   Week 13   40</a:t>
            </a:r>
          </a:p>
        </p:txBody>
      </p:sp>
    </p:spTree>
    <p:extLst>
      <p:ext uri="{BB962C8B-B14F-4D97-AF65-F5344CB8AC3E}">
        <p14:creationId xmlns:p14="http://schemas.microsoft.com/office/powerpoint/2010/main" val="51972842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5578B09-39E6-4C31-B49A-5083623CC1A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90547D-8FDB-468F-87CC-E130EF7790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21F2727-3248-4ED7-AF44-1BE5E06BEF5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301F4C08-98EB-49C2-8DB5-4259D8627DC3}"/>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4D647D8-EB93-4A2C-87DA-77319939581A}"/>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F314CB32-6EFE-4F15-A272-D1992EADA56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A5752F0-B929-4468-9706-CDB0A8A2DA18}"/>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193DC913-5B30-4F51-9A19-375215ADC9D5}"/>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BE2824-CB18-4A36-8A5F-830A308479A7}"/>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FAA5D756-4678-4A52-A238-424CAA3B081E}"/>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797541D-24E2-4C49-AED6-A439DEA91DF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DC216BC0-30B7-44FC-9D9E-BA04F212AE98}"/>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0C3E912F-FAA7-43C5-A41E-6D84EF6EF10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8892988f18034790"/>
              </a:rPr>
              <a:t>Open explainer video</a:t>
            </a:r>
          </a:p>
        </p:txBody>
      </p:sp>
      <p:sp>
        <p:nvSpPr>
          <p:cNvPr id="14" name="">
            <a:extLst xmlns:a="http://schemas.openxmlformats.org/drawingml/2006/main">
              <a:ext uri="{FF2B5EF4-FFF2-40B4-BE49-F238E27FC236}">
                <a16:creationId xmlns:a16="http://schemas.microsoft.com/office/drawing/2014/main" id="{0295E059-9CBD-4937-B99D-79390EF9929C}"/>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0AC9F18F-D963-499F-A968-2BDF047D2BB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CML3111   Week 13   41</a:t>
            </a:r>
          </a:p>
        </p:txBody>
      </p:sp>
    </p:spTree>
    <p:extLst>
      <p:ext uri="{BB962C8B-B14F-4D97-AF65-F5344CB8AC3E}">
        <p14:creationId xmlns:p14="http://schemas.microsoft.com/office/powerpoint/2010/main" val="18333048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2026-10-20T18:02:29.5910000Z</dcterms:created>
  <dcterms:modified xsi:type="dcterms:W3CDTF">2026-10-20T18:02:29.5910000Z</dcterms:modified>
</coreProperties>
</file>