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3edc84a90654100" /><Relationship Type="http://schemas.openxmlformats.org/officeDocument/2006/relationships/extended-properties" Target="/docProps/app.xml" Id="Rd6f07a1f4d1b4a1a" /><Relationship Type="http://schemas.openxmlformats.org/officeDocument/2006/relationships/officeDocument" Target="/ppt/presentation.xml" Id="Rc55023d75fc34bd9" /></Relationships>
</file>

<file path=ppt/presentation.xml><?xml version="1.0" encoding="utf-8"?>
<p:presentation xmlns:p="http://schemas.openxmlformats.org/presentationml/2006/main">
  <p:sldMasterIdLst>
    <p:sldMasterId xmlns:r="http://schemas.openxmlformats.org/officeDocument/2006/relationships" id="2147483648" r:id="R4dad834f9fef4483"/>
  </p:sldMasterIdLst>
  <p:notesMasterIdLst>
    <p:notesMasterId xmlns:r="http://schemas.openxmlformats.org/officeDocument/2006/relationships" r:id="R05b9935483c747fd"/>
  </p:notesMasterIdLst>
  <p:sldIdLst>
    <p:sldId xmlns:r="http://schemas.openxmlformats.org/officeDocument/2006/relationships" id="256" r:id="R6ca0822db9a243bf"/>
    <p:sldId xmlns:r="http://schemas.openxmlformats.org/officeDocument/2006/relationships" id="257" r:id="R75700c967ea64d09"/>
    <p:sldId xmlns:r="http://schemas.openxmlformats.org/officeDocument/2006/relationships" id="258" r:id="Rfaa9f98676e14ce8"/>
    <p:sldId xmlns:r="http://schemas.openxmlformats.org/officeDocument/2006/relationships" id="259" r:id="R3d53db59b0f643b2"/>
    <p:sldId xmlns:r="http://schemas.openxmlformats.org/officeDocument/2006/relationships" id="260" r:id="R9c09615518ca4f23"/>
    <p:sldId xmlns:r="http://schemas.openxmlformats.org/officeDocument/2006/relationships" id="261" r:id="R7f44e77c76014f7f"/>
    <p:sldId xmlns:r="http://schemas.openxmlformats.org/officeDocument/2006/relationships" id="262" r:id="Rc65b60988cc34f40"/>
    <p:sldId xmlns:r="http://schemas.openxmlformats.org/officeDocument/2006/relationships" id="263" r:id="Rf0700015d769400a"/>
    <p:sldId xmlns:r="http://schemas.openxmlformats.org/officeDocument/2006/relationships" id="264" r:id="R9aac6b77479c41c6"/>
    <p:sldId xmlns:r="http://schemas.openxmlformats.org/officeDocument/2006/relationships" id="265" r:id="Raf393b2d221e4aa7"/>
    <p:sldId xmlns:r="http://schemas.openxmlformats.org/officeDocument/2006/relationships" id="266" r:id="Rf30e5b7d46cb4013"/>
    <p:sldId xmlns:r="http://schemas.openxmlformats.org/officeDocument/2006/relationships" id="267" r:id="Refb5b768a00d42f2"/>
    <p:sldId xmlns:r="http://schemas.openxmlformats.org/officeDocument/2006/relationships" id="268" r:id="Rb56b94b84ed04e38"/>
    <p:sldId xmlns:r="http://schemas.openxmlformats.org/officeDocument/2006/relationships" id="269" r:id="R65f52612709e428c"/>
    <p:sldId xmlns:r="http://schemas.openxmlformats.org/officeDocument/2006/relationships" id="270" r:id="R222a1de13d9f420a"/>
    <p:sldId xmlns:r="http://schemas.openxmlformats.org/officeDocument/2006/relationships" id="271" r:id="R535b0ce029084d38"/>
    <p:sldId xmlns:r="http://schemas.openxmlformats.org/officeDocument/2006/relationships" id="272" r:id="R729db1e8dfa54080"/>
    <p:sldId xmlns:r="http://schemas.openxmlformats.org/officeDocument/2006/relationships" id="273" r:id="Re0651aafa0164a9a"/>
    <p:sldId xmlns:r="http://schemas.openxmlformats.org/officeDocument/2006/relationships" id="274" r:id="R3d74bfed22d54f3d"/>
    <p:sldId xmlns:r="http://schemas.openxmlformats.org/officeDocument/2006/relationships" id="275" r:id="R2565041f00bc4c83"/>
    <p:sldId xmlns:r="http://schemas.openxmlformats.org/officeDocument/2006/relationships" id="276" r:id="Rb52512417fd54a7c"/>
    <p:sldId xmlns:r="http://schemas.openxmlformats.org/officeDocument/2006/relationships" id="277" r:id="Rf8bb29375a7c49ea"/>
    <p:sldId xmlns:r="http://schemas.openxmlformats.org/officeDocument/2006/relationships" id="278" r:id="Ra1cc965436834dd1"/>
    <p:sldId xmlns:r="http://schemas.openxmlformats.org/officeDocument/2006/relationships" id="279" r:id="R5cbe1d0d262342c6"/>
    <p:sldId xmlns:r="http://schemas.openxmlformats.org/officeDocument/2006/relationships" id="280" r:id="Rdd1e2ba324f942b9"/>
    <p:sldId xmlns:r="http://schemas.openxmlformats.org/officeDocument/2006/relationships" id="281" r:id="Rf1b74f6a77074984"/>
    <p:sldId xmlns:r="http://schemas.openxmlformats.org/officeDocument/2006/relationships" id="282" r:id="R00b9a3be72f141e4"/>
    <p:sldId xmlns:r="http://schemas.openxmlformats.org/officeDocument/2006/relationships" id="283" r:id="R24669767db50419d"/>
    <p:sldId xmlns:r="http://schemas.openxmlformats.org/officeDocument/2006/relationships" id="284" r:id="R521bb9b2849b41b5"/>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d16039e9408424c" /><Relationship Type="http://schemas.openxmlformats.org/officeDocument/2006/relationships/slideMaster" Target="/ppt/slideMasters/slideMaster1.xml" Id="R4dad834f9fef4483" /><Relationship Type="http://schemas.openxmlformats.org/officeDocument/2006/relationships/notesMaster" Target="/ppt/notesMasters/notesMaster1.xml" Id="R05b9935483c747fd" /><Relationship Type="http://schemas.openxmlformats.org/officeDocument/2006/relationships/presProps" Target="/ppt/presProps.xml" Id="R26cfa5fd86c6429e" /><Relationship Type="http://schemas.openxmlformats.org/officeDocument/2006/relationships/tableStyles" Target="/ppt/tableStyles.xml" Id="R10fadacc608d4eb9" /><Relationship Type="http://schemas.openxmlformats.org/officeDocument/2006/relationships/slide" Target="/ppt/slides/slide1.xml" Id="R6ca0822db9a243bf" /><Relationship Type="http://schemas.openxmlformats.org/officeDocument/2006/relationships/slide" Target="/ppt/slides/slide2.xml" Id="R75700c967ea64d09" /><Relationship Type="http://schemas.openxmlformats.org/officeDocument/2006/relationships/slide" Target="/ppt/slides/slide3.xml" Id="Rfaa9f98676e14ce8" /><Relationship Type="http://schemas.openxmlformats.org/officeDocument/2006/relationships/slide" Target="/ppt/slides/slide4.xml" Id="R3d53db59b0f643b2" /><Relationship Type="http://schemas.openxmlformats.org/officeDocument/2006/relationships/slide" Target="/ppt/slides/slide5.xml" Id="R9c09615518ca4f23" /><Relationship Type="http://schemas.openxmlformats.org/officeDocument/2006/relationships/slide" Target="/ppt/slides/slide6.xml" Id="R7f44e77c76014f7f" /><Relationship Type="http://schemas.openxmlformats.org/officeDocument/2006/relationships/slide" Target="/ppt/slides/slide7.xml" Id="Rc65b60988cc34f40" /><Relationship Type="http://schemas.openxmlformats.org/officeDocument/2006/relationships/slide" Target="/ppt/slides/slide8.xml" Id="Rf0700015d769400a" /><Relationship Type="http://schemas.openxmlformats.org/officeDocument/2006/relationships/slide" Target="/ppt/slides/slide9.xml" Id="R9aac6b77479c41c6" /><Relationship Type="http://schemas.openxmlformats.org/officeDocument/2006/relationships/slide" Target="/ppt/slides/slide10.xml" Id="Raf393b2d221e4aa7" /><Relationship Type="http://schemas.openxmlformats.org/officeDocument/2006/relationships/slide" Target="/ppt/slides/slide11.xml" Id="Rf30e5b7d46cb4013" /><Relationship Type="http://schemas.openxmlformats.org/officeDocument/2006/relationships/slide" Target="/ppt/slides/slide12.xml" Id="Refb5b768a00d42f2" /><Relationship Type="http://schemas.openxmlformats.org/officeDocument/2006/relationships/slide" Target="/ppt/slides/slide13.xml" Id="Rb56b94b84ed04e38" /><Relationship Type="http://schemas.openxmlformats.org/officeDocument/2006/relationships/slide" Target="/ppt/slides/slide14.xml" Id="R65f52612709e428c" /><Relationship Type="http://schemas.openxmlformats.org/officeDocument/2006/relationships/slide" Target="/ppt/slides/slide15.xml" Id="R222a1de13d9f420a" /><Relationship Type="http://schemas.openxmlformats.org/officeDocument/2006/relationships/slide" Target="/ppt/slides/slide16.xml" Id="R535b0ce029084d38" /><Relationship Type="http://schemas.openxmlformats.org/officeDocument/2006/relationships/slide" Target="/ppt/slides/slide17.xml" Id="R729db1e8dfa54080" /><Relationship Type="http://schemas.openxmlformats.org/officeDocument/2006/relationships/slide" Target="/ppt/slides/slide18.xml" Id="Re0651aafa0164a9a" /><Relationship Type="http://schemas.openxmlformats.org/officeDocument/2006/relationships/slide" Target="/ppt/slides/slide19.xml" Id="R3d74bfed22d54f3d" /><Relationship Type="http://schemas.openxmlformats.org/officeDocument/2006/relationships/slide" Target="/ppt/slides/slide20.xml" Id="R2565041f00bc4c83" /><Relationship Type="http://schemas.openxmlformats.org/officeDocument/2006/relationships/slide" Target="/ppt/slides/slide21.xml" Id="Rb52512417fd54a7c" /><Relationship Type="http://schemas.openxmlformats.org/officeDocument/2006/relationships/slide" Target="/ppt/slides/slide22.xml" Id="Rf8bb29375a7c49ea" /><Relationship Type="http://schemas.openxmlformats.org/officeDocument/2006/relationships/slide" Target="/ppt/slides/slide23.xml" Id="Ra1cc965436834dd1" /><Relationship Type="http://schemas.openxmlformats.org/officeDocument/2006/relationships/slide" Target="/ppt/slides/slide24.xml" Id="R5cbe1d0d262342c6" /><Relationship Type="http://schemas.openxmlformats.org/officeDocument/2006/relationships/slide" Target="/ppt/slides/slide25.xml" Id="Rdd1e2ba324f942b9" /><Relationship Type="http://schemas.openxmlformats.org/officeDocument/2006/relationships/slide" Target="/ppt/slides/slide26.xml" Id="Rf1b74f6a77074984" /><Relationship Type="http://schemas.openxmlformats.org/officeDocument/2006/relationships/slide" Target="/ppt/slides/slide27.xml" Id="R00b9a3be72f141e4" /><Relationship Type="http://schemas.openxmlformats.org/officeDocument/2006/relationships/slide" Target="/ppt/slides/slide28.xml" Id="R24669767db50419d" /><Relationship Type="http://schemas.openxmlformats.org/officeDocument/2006/relationships/slide" Target="/ppt/slides/slide29.xml" Id="R521bb9b2849b41b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7fc168f98284d7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9c815cb303441f9" /><Relationship Type="http://schemas.openxmlformats.org/officeDocument/2006/relationships/notesMaster" Target="/ppt/notesMasters/notesMaster1.xml" Id="R5057fd9e6b864adb" /></Relationships>
</file>

<file path=ppt/notesSlides/_rels/notesSlide2.xml.rels>&#65279;<?xml version="1.0" encoding="utf-8"?><Relationships xmlns="http://schemas.openxmlformats.org/package/2006/relationships"><Relationship Type="http://schemas.openxmlformats.org/officeDocument/2006/relationships/slide" Target="/ppt/slides/slide2.xml" Id="R147dc4ac65e14e8c" /><Relationship Type="http://schemas.openxmlformats.org/officeDocument/2006/relationships/notesMaster" Target="/ppt/notesMasters/notesMaster1.xml" Id="Rc32efda853c24cd7" /></Relationships>
</file>

<file path=ppt/notesSlides/_rels/notesSlide3.xml.rels>&#65279;<?xml version="1.0" encoding="utf-8"?><Relationships xmlns="http://schemas.openxmlformats.org/package/2006/relationships"><Relationship Type="http://schemas.openxmlformats.org/officeDocument/2006/relationships/slide" Target="/ppt/slides/slide3.xml" Id="R6ce01b81b8f14381" /><Relationship Type="http://schemas.openxmlformats.org/officeDocument/2006/relationships/notesMaster" Target="/ppt/notesMasters/notesMaster1.xml" Id="R52763fef09ec411a" /></Relationships>
</file>

<file path=ppt/notesSlides/_rels/notesSlide4.xml.rels>&#65279;<?xml version="1.0" encoding="utf-8"?><Relationships xmlns="http://schemas.openxmlformats.org/package/2006/relationships"><Relationship Type="http://schemas.openxmlformats.org/officeDocument/2006/relationships/slide" Target="/ppt/slides/slide4.xml" Id="R37d442710724422f" /><Relationship Type="http://schemas.openxmlformats.org/officeDocument/2006/relationships/notesMaster" Target="/ppt/notesMasters/notesMaster1.xml" Id="R624040f520ee4fcd" /></Relationships>
</file>

<file path=ppt/notesSlides/_rels/notesSlide5.xml.rels>&#65279;<?xml version="1.0" encoding="utf-8"?><Relationships xmlns="http://schemas.openxmlformats.org/package/2006/relationships"><Relationship Type="http://schemas.openxmlformats.org/officeDocument/2006/relationships/slide" Target="/ppt/slides/slide5.xml" Id="Red3152d6415e4ff6" /><Relationship Type="http://schemas.openxmlformats.org/officeDocument/2006/relationships/notesMaster" Target="/ppt/notesMasters/notesMaster1.xml" Id="R64512799250448e5" /></Relationships>
</file>

<file path=ppt/notesSlides/_rels/notesSlide6.xml.rels>&#65279;<?xml version="1.0" encoding="utf-8"?><Relationships xmlns="http://schemas.openxmlformats.org/package/2006/relationships"><Relationship Type="http://schemas.openxmlformats.org/officeDocument/2006/relationships/slide" Target="/ppt/slides/slide6.xml" Id="R06e7960aa30e481d" /><Relationship Type="http://schemas.openxmlformats.org/officeDocument/2006/relationships/notesMaster" Target="/ppt/notesMasters/notesMaster1.xml" Id="Raf626e6fe3414652" /></Relationships>
</file>

<file path=ppt/notesSlides/_rels/notesSlide7.xml.rels>&#65279;<?xml version="1.0" encoding="utf-8"?><Relationships xmlns="http://schemas.openxmlformats.org/package/2006/relationships"><Relationship Type="http://schemas.openxmlformats.org/officeDocument/2006/relationships/slide" Target="/ppt/slides/slide7.xml" Id="R3442b669dda24b08" /><Relationship Type="http://schemas.openxmlformats.org/officeDocument/2006/relationships/notesMaster" Target="/ppt/notesMasters/notesMaster1.xml" Id="R26cf3a1c3d9d4e76" /></Relationships>
</file>

<file path=ppt/notesSlides/_rels/notesSlide8.xml.rels>&#65279;<?xml version="1.0" encoding="utf-8"?><Relationships xmlns="http://schemas.openxmlformats.org/package/2006/relationships"><Relationship Type="http://schemas.openxmlformats.org/officeDocument/2006/relationships/slide" Target="/ppt/slides/slide8.xml" Id="R1864d684ae464912" /><Relationship Type="http://schemas.openxmlformats.org/officeDocument/2006/relationships/notesMaster" Target="/ppt/notesMasters/notesMaster1.xml" Id="R2a69c293c57b4466" /></Relationships>
</file>

<file path=ppt/notesSlides/_rels/notesSlide9.xml.rels>&#65279;<?xml version="1.0" encoding="utf-8"?><Relationships xmlns="http://schemas.openxmlformats.org/package/2006/relationships"><Relationship Type="http://schemas.openxmlformats.org/officeDocument/2006/relationships/slide" Target="/ppt/slides/slide9.xml" Id="Rdee9d05023e1409d" /><Relationship Type="http://schemas.openxmlformats.org/officeDocument/2006/relationships/notesMaster" Target="/ppt/notesMasters/notesMaster1.xml" Id="Rf9a15240d4c5459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4a47f40f6094efb" /><Relationship Type="http://schemas.openxmlformats.org/officeDocument/2006/relationships/notesMaster" Target="/ppt/notesMasters/notesMaster1.xml" Id="Rae9ebd8b0bf34eb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33eb2dfbca14339" /><Relationship Type="http://schemas.openxmlformats.org/officeDocument/2006/relationships/notesMaster" Target="/ppt/notesMasters/notesMaster1.xml" Id="R79a016f1c44d492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a61b45b921348ea" /><Relationship Type="http://schemas.openxmlformats.org/officeDocument/2006/relationships/notesMaster" Target="/ppt/notesMasters/notesMaster1.xml" Id="Rc88a6ffdc405467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38db405e6b2483e" /><Relationship Type="http://schemas.openxmlformats.org/officeDocument/2006/relationships/notesMaster" Target="/ppt/notesMasters/notesMaster1.xml" Id="R328760903edf46a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223f37157724c05" /><Relationship Type="http://schemas.openxmlformats.org/officeDocument/2006/relationships/notesMaster" Target="/ppt/notesMasters/notesMaster1.xml" Id="R3c6a5a45c9d2453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d967407bbc246e6" /><Relationship Type="http://schemas.openxmlformats.org/officeDocument/2006/relationships/notesMaster" Target="/ppt/notesMasters/notesMaster1.xml" Id="Rc28b311464094fb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706fcc128474390" /><Relationship Type="http://schemas.openxmlformats.org/officeDocument/2006/relationships/notesMaster" Target="/ppt/notesMasters/notesMaster1.xml" Id="Ree2582a9d9ec400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934e7f75ac344a4" /><Relationship Type="http://schemas.openxmlformats.org/officeDocument/2006/relationships/notesMaster" Target="/ppt/notesMasters/notesMaster1.xml" Id="R1b4af11f9c6e40f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4f3e8a65ac343a3" /><Relationship Type="http://schemas.openxmlformats.org/officeDocument/2006/relationships/notesMaster" Target="/ppt/notesMasters/notesMaster1.xml" Id="R8c097b4e8c174ba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81c8820e3af49d7" /><Relationship Type="http://schemas.openxmlformats.org/officeDocument/2006/relationships/notesMaster" Target="/ppt/notesMasters/notesMaster1.xml" Id="Ra1a62925fa7849a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06b91cecf974654" /><Relationship Type="http://schemas.openxmlformats.org/officeDocument/2006/relationships/notesMaster" Target="/ppt/notesMasters/notesMaster1.xml" Id="R10423358dd7e449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de1f1c1cf1a4079" /><Relationship Type="http://schemas.openxmlformats.org/officeDocument/2006/relationships/notesMaster" Target="/ppt/notesMasters/notesMaster1.xml" Id="R5481b4fbaeb6433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049e70866844b6e" /><Relationship Type="http://schemas.openxmlformats.org/officeDocument/2006/relationships/notesMaster" Target="/ppt/notesMasters/notesMaster1.xml" Id="R6e7ecffbbf364d1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f2050677fa14f67" /><Relationship Type="http://schemas.openxmlformats.org/officeDocument/2006/relationships/notesMaster" Target="/ppt/notesMasters/notesMaster1.xml" Id="R0c730fff9ea5492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99459138c6847b0" /><Relationship Type="http://schemas.openxmlformats.org/officeDocument/2006/relationships/notesMaster" Target="/ppt/notesMasters/notesMaster1.xml" Id="R91ed97baee7f4fb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9fdba1a99df4949" /><Relationship Type="http://schemas.openxmlformats.org/officeDocument/2006/relationships/notesMaster" Target="/ppt/notesMasters/notesMaster1.xml" Id="Rc758623b25cf44a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7d7ef1800cf4f62" /><Relationship Type="http://schemas.openxmlformats.org/officeDocument/2006/relationships/notesMaster" Target="/ppt/notesMasters/notesMaster1.xml" Id="Re036e7751f004a4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8a326889b234927" /><Relationship Type="http://schemas.openxmlformats.org/officeDocument/2006/relationships/notesMaster" Target="/ppt/notesMasters/notesMaster1.xml" Id="R2fe60d90462e452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65f214c85c7483c" /><Relationship Type="http://schemas.openxmlformats.org/officeDocument/2006/relationships/notesMaster" Target="/ppt/notesMasters/notesMaster1.xml" Id="Ra284933c8d954a3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da11f64159f4eea" /><Relationship Type="http://schemas.openxmlformats.org/officeDocument/2006/relationships/notesMaster" Target="/ppt/notesMasters/notesMaster1.xml" Id="R5622599c03e54f70"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Making the project understandable and runnable</a:t>
            </a:r>
          </a:p>
          <a:p>
            <a:r>
              <a:t/>
            </a:r>
          </a:p>
          <a:p>
            <a:r>
              <a:t>LECTURER CUE</a:t>
            </a:r>
          </a:p>
          <a:p>
            <a:r>
              <a:t>Use PowerPoint Presenter View for these notes. Teach one example, pause for every learner to predict, then work an analogous example together. The practice notebook is a learning aid, not an extra graded upload.</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Making the project understandable and runnable.</a:t>
            </a:r>
          </a:p>
          <a:p>
            <a:r>
              <a:t/>
            </a:r>
          </a:p>
          <a:p>
            <a:r>
              <a:t>LECTURER CUE</a:t>
            </a:r>
          </a:p>
          <a:p>
            <a:r>
              <a:t>Ask learners to explain this goal in ordinary language. The first successful attempt matters more than covering optional extensions. Defer: Package refactoring, complex repository layout and extra tooling are optional. Keep a working simple notebook.</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Allow two minutes for everyone to try. Ask pairs to compare. If many cannot begin, show the first step and repeat with changed values. Checkpoint for today: A partner can locate the input data and follow the run order without hints.</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The engineering context.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engineering context</a:t>
            </a:r>
          </a:p>
          <a:p>
            <a:r>
              <a:t/>
            </a:r>
          </a:p>
          <a:p>
            <a:r>
              <a:t>CONNECT</a:t>
            </a:r>
          </a:p>
          <a:p>
            <a:r>
              <a:t>Build on the preceding slide: Recall and a first attempt.</a:t>
            </a:r>
          </a:p>
          <a:p>
            <a:r>
              <a:t/>
            </a:r>
          </a:p>
          <a:p>
            <a:r>
              <a:t>LECTURER CUE</a:t>
            </a:r>
          </a:p>
          <a:p>
            <a:r>
              <a:t>A team records device temperature to investigate cooling. Use a communications cabinet, an electrical enclosure or a robot controller as the physical example. No specialist hardware knowledge is assumed.</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The engineering context.</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POINT TO THE DEFINITION</a:t>
            </a:r>
          </a:p>
          <a:p>
            <a:r>
              <a:t>Reproducibility: Another person can use the stated data, environment and steps to check the result. Terminology varies; state the operational test.</a:t>
            </a:r>
          </a:p>
          <a:p>
            <a:r>
              <a:t>Dependency: A package your code needs. Record versions actually used, rather than guessing them.</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Words we will use.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POINT TO THE DEFINITION</a:t>
            </a:r>
          </a:p>
          <a:p>
            <a:r>
              <a:t>Relative path: A location interpreted from the current working folder. It is not always relative to the notebook file itself.</a:t>
            </a:r>
          </a:p>
          <a:p>
            <a:r>
              <a:t>README: The project’s instructions: question, files, data source, environment, run order, results and limitations.</a:t>
            </a:r>
          </a:p>
          <a:p>
            <a:r>
              <a:t/>
            </a:r>
          </a:p>
          <a:p>
            <a:r>
              <a:t>NEXT</a:t>
            </a:r>
          </a:p>
          <a:p>
            <a:r>
              <a:t>A useful README.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useful README</a:t>
            </a:r>
          </a:p>
          <a:p>
            <a:r>
              <a:t/>
            </a:r>
          </a:p>
          <a:p>
            <a:r>
              <a:t>CONNECT</a:t>
            </a:r>
          </a:p>
          <a:p>
            <a:r>
              <a:t>Build on the preceding slide: Words we will use.</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NEXT</a:t>
            </a:r>
          </a:p>
          <a:p>
            <a:r>
              <a:t>Someone else needs to reproduce the result.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Someone else needs to reproduce the result</a:t>
            </a:r>
          </a:p>
          <a:p>
            <a:r>
              <a:t/>
            </a:r>
          </a:p>
          <a:p>
            <a:r>
              <a:t>CONNECT</a:t>
            </a:r>
          </a:p>
          <a:p>
            <a:r>
              <a:t>Build on the preceding slide: A useful README.</a:t>
            </a:r>
          </a:p>
          <a:p>
            <a:r>
              <a:t/>
            </a:r>
          </a:p>
          <a:p>
            <a:r>
              <a:t>LECTURER CUE</a:t>
            </a:r>
          </a:p>
          <a:p>
            <a:r>
              <a:t>Ask students to describe what they see before introducing terminology. Generated conceptual teaching illustration.  Source: figs/experiential/ASSET_SOURCES.md.</a:t>
            </a:r>
          </a:p>
          <a:p>
            <a:r>
              <a:t/>
            </a:r>
          </a:p>
          <a:p>
            <a:r>
              <a:t>NEXT</a:t>
            </a:r>
          </a:p>
          <a:p>
            <a:r>
              <a:t>A reproducible notebook starts fresh.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reproducible notebook starts fresh</a:t>
            </a:r>
          </a:p>
          <a:p>
            <a:r>
              <a:t/>
            </a:r>
          </a:p>
          <a:p>
            <a:r>
              <a:t>CONNECT</a:t>
            </a:r>
          </a:p>
          <a:p>
            <a:r>
              <a:t>Build on the preceding slide: Someone else needs to reproduce the result.</a:t>
            </a:r>
          </a:p>
          <a:p>
            <a:r>
              <a:t/>
            </a:r>
          </a:p>
          <a:p>
            <a:r>
              <a:t>LECTURER CUE</a:t>
            </a:r>
          </a:p>
          <a:p>
            <a:r>
              <a:t>Demonstrate restarting, uploading the issued data, and running all. The same result also depends on data, package versions and any random seeds.</a:t>
            </a:r>
          </a:p>
          <a:p>
            <a:r>
              <a:t>Source: existing course illustration figs/execution_trap.png. These are illustrative examples, not this cohort’s assessed results.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Saved outputs can hide missing steps.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Saved outputs can hide missing steps</a:t>
            </a:r>
          </a:p>
          <a:p>
            <a:r>
              <a:t/>
            </a:r>
          </a:p>
          <a:p>
            <a:r>
              <a:t>CONNECT</a:t>
            </a:r>
          </a:p>
          <a:p>
            <a:r>
              <a:t>Build on the preceding slide: A reproducible notebook starts fresh.</a:t>
            </a:r>
          </a:p>
          <a:p>
            <a:r>
              <a:t/>
            </a:r>
          </a:p>
          <a:p>
            <a:r>
              <a:t>LECTURER CUE</a:t>
            </a:r>
          </a:p>
          <a:p>
            <a:r>
              <a:t>Demonstrate a clean run from a fresh session with the actual files. If a variable exists only from an earlier manual cell run, fix the run order.</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A path names where a file is found.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path names where a file is found</a:t>
            </a:r>
          </a:p>
          <a:p>
            <a:r>
              <a:t/>
            </a:r>
          </a:p>
          <a:p>
            <a:r>
              <a:t>CONNECT</a:t>
            </a:r>
          </a:p>
          <a:p>
            <a:r>
              <a:t>Build on the preceding slide: Saved outputs can hide missing steps.</a:t>
            </a:r>
          </a:p>
          <a:p>
            <a:r>
              <a:t/>
            </a:r>
          </a:p>
          <a:p>
            <a:r>
              <a:t>LECTURER CUE</a:t>
            </a:r>
          </a:p>
          <a:p>
            <a:r>
              <a:t>Explain every dependency and test a relative path. Include data-access instructions if the data cannot be redistributed.</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NEXT</a:t>
            </a:r>
          </a:p>
          <a:p>
            <a:r>
              <a:t>Read the path example.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 the path example</a:t>
            </a:r>
          </a:p>
          <a:p>
            <a:r>
              <a:t/>
            </a:r>
          </a:p>
          <a:p>
            <a:r>
              <a:t>CONNECT</a:t>
            </a:r>
          </a:p>
          <a:p>
            <a:r>
              <a:t>Build on the preceding slide: A path names where a file is found.</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POINT TO THE DEFINITION</a:t>
            </a:r>
          </a:p>
          <a:p>
            <a:r>
              <a:t>Path and cwd: Path is a tool imported from Python’s pathlib module. Path.cwd() returns the folder where Python is currently running.</a:t>
            </a:r>
          </a:p>
          <a:p>
            <a:r>
              <a:t>name: The .name property gives the last folder component as text. It depends on your runtime. A different folder name is expected on another computer.</a:t>
            </a:r>
          </a:p>
          <a:p>
            <a:r>
              <a:t/>
            </a:r>
          </a:p>
          <a:p>
            <a:r>
              <a:t>NEXT</a:t>
            </a:r>
          </a:p>
          <a:p>
            <a:r>
              <a:t>Worked example.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a:t>
            </a:r>
          </a:p>
          <a:p>
            <a:r>
              <a:t/>
            </a:r>
          </a:p>
          <a:p>
            <a:r>
              <a:t>CONNECT</a:t>
            </a:r>
          </a:p>
          <a:p>
            <a:r>
              <a:t>Build on the preceding slide: Read the path example.</a:t>
            </a:r>
          </a:p>
          <a:p>
            <a:r>
              <a:t/>
            </a:r>
          </a:p>
          <a:p>
            <a:r>
              <a:t>LECTURER CUE</a:t>
            </a:r>
          </a:p>
          <a:p>
            <a:r>
              <a:t>Demonstrate a clean run from a fresh session with the actual files. If a variable exists only from an earlier manual cell run, fix the run order. Explain every dependency and test a relative path. Include data-access instructions if the data cannot be redistributed. Model actionable feedback: “Step 2 names data.csv, but the supplied file is readings.csv; please make them match.”</a:t>
            </a:r>
          </a:p>
          <a:p>
            <a:r>
              <a:t/>
            </a:r>
          </a:p>
          <a:p>
            <a:r>
              <a:t>Complete practice code:</a:t>
            </a:r>
          </a:p>
          <a:p>
            <a:r>
              <a:t>from pathlib import Path</a:t>
            </a:r>
          </a:p>
          <a:p>
            <a:r>
              <a:t>print(Path.cwd().name)</a:t>
            </a:r>
          </a:p>
          <a:p>
            <a:r>
              <a:t># The name depends on the folder where Python is running.</a:t>
            </a:r>
          </a:p>
          <a:p>
            <a:r>
              <a:t/>
            </a:r>
          </a:p>
          <a:p>
            <a:r>
              <a:t>WALK THROUGH THIS CODE</a:t>
            </a:r>
          </a:p>
          <a:p>
            <a:r>
              <a:t>import loads a library. from selects a tool from it.</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Expected output.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Expected output</a:t>
            </a:r>
          </a:p>
          <a:p>
            <a:r>
              <a:t/>
            </a:r>
          </a:p>
          <a:p>
            <a:r>
              <a:t>CONNECT</a:t>
            </a:r>
          </a:p>
          <a:p>
            <a:r>
              <a:t>Build on the preceding slide: Worked example.</a:t>
            </a:r>
          </a:p>
          <a:p>
            <a:r>
              <a:t/>
            </a:r>
          </a:p>
          <a:p>
            <a:r>
              <a:t>LECTURER CUE</a:t>
            </a:r>
          </a:p>
          <a:p>
            <a:r>
              <a:t>Compare the actual output character by character with this practice result. If it differs, read the first error and check the input, units, names and execution order. Do not copy this practice output into a graded answer.</a:t>
            </a:r>
          </a:p>
          <a:p>
            <a:r>
              <a:t/>
            </a:r>
          </a:p>
          <a:p>
            <a:r>
              <a:t>NEXT</a:t>
            </a:r>
          </a:p>
          <a:p>
            <a:r>
              <a:t>Tell another person what the project needs.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Tell another person what the project needs</a:t>
            </a:r>
          </a:p>
          <a:p>
            <a:r>
              <a:t/>
            </a:r>
          </a:p>
          <a:p>
            <a:r>
              <a:t>CONNECT</a:t>
            </a:r>
          </a:p>
          <a:p>
            <a:r>
              <a:t>Build on the preceding slide: Expected output.</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POINT TO THE DEFINITION</a:t>
            </a:r>
          </a:p>
          <a:p>
            <a:r>
              <a:t>requirements.txt and versions: This text file lists required Python packages and their versions. Record the versions used in the working environment; test them with the supplied run instructions.</a:t>
            </a:r>
          </a:p>
          <a:p>
            <a:r>
              <a:t>Data source, permission and seed: Name the data source and any licence or permission for reuse. Record random seeds used in modelling. A seed supports repeatability; it does not repair data leakage.</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Tell another person what the project needs.</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POINT TO THE DEFINITION</a:t>
            </a:r>
          </a:p>
          <a:p>
            <a:r>
              <a:t>Peer review: Someone else tests the instructions and reports a specific observation and suggested improvement.</a:t>
            </a:r>
          </a:p>
          <a:p>
            <a:r>
              <a:t>Contribution evidence: A record of each person’s work, tied to files, commits or explanations. It does not require making a private repository public.</a:t>
            </a:r>
          </a:p>
          <a:p>
            <a:r>
              <a:t/>
            </a:r>
          </a:p>
          <a:p>
            <a:r>
              <a:t>NEXT</a:t>
            </a:r>
          </a:p>
          <a:p>
            <a:r>
              <a:t>Useful feedback identifies an exact repair.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Useful feedback identifies an exact repair</a:t>
            </a:r>
          </a:p>
          <a:p>
            <a:r>
              <a:t/>
            </a:r>
          </a:p>
          <a:p>
            <a:r>
              <a:t>CONNECT</a:t>
            </a:r>
          </a:p>
          <a:p>
            <a:r>
              <a:t>Build on the preceding slide: Words we will use.</a:t>
            </a:r>
          </a:p>
          <a:p>
            <a:r>
              <a:t/>
            </a:r>
          </a:p>
          <a:p>
            <a:r>
              <a:t>LECTURER CUE</a:t>
            </a:r>
          </a:p>
          <a:p>
            <a:r>
              <a:t>Model actionable feedback: “Step 2 names data.csv, but the supplied file is readings.csv; please make them match.”</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You are a new project user.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 are a new project user</a:t>
            </a:r>
          </a:p>
          <a:p>
            <a:r>
              <a:t/>
            </a:r>
          </a:p>
          <a:p>
            <a:r>
              <a:t>CONNECT</a:t>
            </a:r>
          </a:p>
          <a:p>
            <a:r>
              <a:t>Build on the preceding slide: Useful feedback identifies an exact repair.</a:t>
            </a:r>
          </a:p>
          <a:p>
            <a:r>
              <a:t/>
            </a:r>
          </a:p>
          <a:p>
            <a:r>
              <a:t>LECTURER CUE</a:t>
            </a:r>
          </a:p>
          <a:p>
            <a:r>
              <a:t>Do this before revealing the discussion slide. One learner moves or writes the items, the other checks. Swap roles. Every student explains one step. Expected: Success means the instructions produce the stated result. Record the observed issue rather than simply writing "works".</a:t>
            </a:r>
          </a:p>
          <a:p>
            <a:r>
              <a:t>Wait for an individual prediction before inviting pair discussion. Give a first-step hint if needed.</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You are a new project user.</a:t>
            </a:r>
          </a:p>
          <a:p>
            <a:r>
              <a:t/>
            </a:r>
          </a:p>
          <a:p>
            <a:r>
              <a:t>LECTURER CUE</a:t>
            </a:r>
          </a:p>
          <a:p>
            <a:r>
              <a:t>Ask which step produced this answer. Return to the concrete action if a learner cannot explain it. This is practice feedback, never a quiz key.</a:t>
            </a:r>
          </a:p>
          <a:p>
            <a:r>
              <a:t/>
            </a:r>
          </a:p>
          <a:p>
            <a:r>
              <a:t>NEXT</a:t>
            </a:r>
          </a:p>
          <a:p>
            <a:r>
              <a:t>Your turn.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turn</a:t>
            </a:r>
          </a:p>
          <a:p>
            <a:r>
              <a:t/>
            </a:r>
          </a:p>
          <a:p>
            <a:r>
              <a:t>CONNECT</a:t>
            </a:r>
          </a:p>
          <a:p>
            <a:r>
              <a:t>Build on the preceding slide: What the activity shows.</a:t>
            </a:r>
          </a:p>
          <a:p>
            <a:r>
              <a:t/>
            </a:r>
          </a:p>
          <a:p>
            <a:r>
              <a:t>LECTURER CUE</a:t>
            </a:r>
          </a:p>
          <a:p>
            <a:r>
              <a:t>Give silent thinking time, then let pairs discuss. Rotate who types. This is practice, not a graded quiz. Expected response: Revise that step and repeat. A claim that the notebook runs is supported by a fresh run, not by saved outputs alone.</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DISCUSSION KEY FOR THIS SLIDE</a:t>
            </a:r>
          </a:p>
          <a:p>
            <a:r>
              <a:t>DISCUSS THE REASONING</a:t>
            </a:r>
          </a:p>
          <a:p>
            <a:r>
              <a:t>Practice discussion</a:t>
            </a:r>
          </a:p>
          <a:p>
            <a:r>
              <a:t>Revise that step and repeat. A claim that the notebook runs is supported by a fresh run, not by saved outputs alone.</a:t>
            </a:r>
          </a:p>
          <a:p>
            <a:r>
              <a:t>Which step produced this result? What changes if one input changes?</a:t>
            </a:r>
          </a:p>
          <a:p>
            <a:r>
              <a:t>CML3111   Week 13   21</a:t>
            </a:r>
          </a:p>
          <a:p>
            <a:r>
              <a:t>Let learners attempt first; use this to explain the reasoning, not just reveal the answer.</a:t>
            </a:r>
          </a:p>
          <a:p>
            <a:r>
              <a:t/>
            </a:r>
          </a:p>
          <a:p>
            <a:r>
              <a:t>NEXT</a:t>
            </a:r>
          </a:p>
          <a:p>
            <a:r>
              <a:t>Practice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discussion</a:t>
            </a:r>
          </a:p>
          <a:p>
            <a:r>
              <a:t/>
            </a:r>
          </a:p>
          <a:p>
            <a:r>
              <a:t>CONNECT</a:t>
            </a:r>
          </a:p>
          <a:p>
            <a:r>
              <a:t>Build on the preceding slide: Your turn.</a:t>
            </a:r>
          </a:p>
          <a:p>
            <a:r>
              <a:t/>
            </a:r>
          </a:p>
          <a:p>
            <a:r>
              <a:t>LECTURER CUE</a:t>
            </a:r>
          </a:p>
          <a:p>
            <a:r>
              <a:t>Ask how the result was obtained. Reteach the smallest missing step instead of giving a longer lecture.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Short explainer and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Short explainer and discussion</a:t>
            </a:r>
          </a:p>
          <a:p>
            <a:r>
              <a:t/>
            </a:r>
          </a:p>
          <a:p>
            <a:r>
              <a:t>CONNECT</a:t>
            </a:r>
          </a:p>
          <a:p>
            <a:r>
              <a:t>Build on the preceding slide: Practice discussion.</a:t>
            </a:r>
          </a:p>
          <a:p>
            <a:r>
              <a:t/>
            </a:r>
          </a:p>
          <a:p>
            <a:r>
              <a:t>LECTURER CUE</a:t>
            </a:r>
          </a:p>
          <a:p>
            <a:r>
              <a:t>Title, channel, 19:53 runtime and chapter boundaries checked on the video page on 15 September 2026. Desktop installation is optional. The originally shared t=167 link starts at installation.</a:t>
            </a:r>
          </a:p>
          <a:p>
            <a:r>
              <a:t>After viewing: Explain the difference between saving a file and recording a commit. Then make one browser-based commit.</a:t>
            </a:r>
          </a:p>
          <a:p>
            <a:r>
              <a:t>Preview before class and stop after the selected short excerpt. If playback fails, teach the worked example. Video is optional. Source: https://www.youtube.com/watch?v=v5gnvDUWqFM</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VIDEO ROUTINE</a:t>
            </a:r>
          </a:p>
          <a:p>
            <a:r>
              <a:t>Preview the exact link and stated excerpt before class. State the viewing question first, pause after the example, and ask a learner to explain it. If access fails, use the adjacent worked example and discussion rather than spend class time troubleshooting streaming.</a:t>
            </a:r>
          </a:p>
          <a:p>
            <a:r>
              <a:t/>
            </a:r>
          </a:p>
          <a:p>
            <a:r>
              <a:t>NEXT</a:t>
            </a:r>
          </a:p>
          <a:p>
            <a:r>
              <a:t>After the video.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After the video</a:t>
            </a:r>
          </a:p>
          <a:p>
            <a:r>
              <a:t/>
            </a:r>
          </a:p>
          <a:p>
            <a:r>
              <a:t>CONNECT</a:t>
            </a:r>
          </a:p>
          <a:p>
            <a:r>
              <a:t>Build on the preceding slide: Short explainer and discussion.</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NEXT</a:t>
            </a:r>
          </a:p>
          <a:p>
            <a:r>
              <a:t>Preparing for the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a:t>
            </a:r>
          </a:p>
          <a:p>
            <a:r>
              <a:t/>
            </a:r>
          </a:p>
          <a:p>
            <a:r>
              <a:t>CONNECT</a:t>
            </a:r>
          </a:p>
          <a:p>
            <a:r>
              <a:t>Build on the preceding slide: After the video.</a:t>
            </a:r>
          </a:p>
          <a:p>
            <a:r>
              <a:t/>
            </a:r>
          </a:p>
          <a:p>
            <a:r>
              <a:t>LECTURER CUE</a:t>
            </a:r>
          </a:p>
          <a:p>
            <a:r>
              <a:t>No new weekly assignment. Continue the official project deliverables and Week 13 quiz. Rehearse offline TEST2 saving and the published function interfaces before Week 14. Do not add an extra upload.</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A reproducible handover.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reproducible handover</a:t>
            </a:r>
          </a:p>
          <a:p>
            <a:r>
              <a:t/>
            </a:r>
          </a:p>
          <a:p>
            <a:r>
              <a:t>CONNECT</a:t>
            </a:r>
          </a:p>
          <a:p>
            <a:r>
              <a:t>Build on the preceding slide: Preparing for the assignment.</a:t>
            </a:r>
          </a:p>
          <a:p>
            <a:r>
              <a:t/>
            </a:r>
          </a:p>
          <a:p>
            <a:r>
              <a:t>LECTURER CUE</a:t>
            </a:r>
          </a:p>
          <a:p>
            <a:r>
              <a:t>Teach these concepts before the weekly quiz. Use changed numbers for practice. This slide supplies concepts, not the quiz key.</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NEXT</a:t>
            </a:r>
          </a:p>
          <a:p>
            <a:r>
              <a:t>A reproducible handover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reproducible handover continued</a:t>
            </a:r>
          </a:p>
          <a:p>
            <a:r>
              <a:t/>
            </a:r>
          </a:p>
          <a:p>
            <a:r>
              <a:t>CONNECT</a:t>
            </a:r>
          </a:p>
          <a:p>
            <a:r>
              <a:t>Build on the preceding slide: A reproducible handover.</a:t>
            </a:r>
          </a:p>
          <a:p>
            <a:r>
              <a:t/>
            </a:r>
          </a:p>
          <a:p>
            <a:r>
              <a:t>LECTURER CUE</a:t>
            </a:r>
          </a:p>
          <a:p>
            <a:r>
              <a:t>Teach these concepts before the weekly quiz. Use changed numbers for practice. This slide supplies concepts, not the quiz key.</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NEXT</a:t>
            </a:r>
          </a:p>
          <a:p>
            <a:r>
              <a:t>Project preparation.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Project preparation</a:t>
            </a:r>
          </a:p>
          <a:p>
            <a:r>
              <a:t/>
            </a:r>
          </a:p>
          <a:p>
            <a:r>
              <a:t>CONNECT</a:t>
            </a:r>
          </a:p>
          <a:p>
            <a:r>
              <a:t>Build on the preceding slide: A reproducible handover continued.</a:t>
            </a:r>
          </a:p>
          <a:p>
            <a:r>
              <a:t/>
            </a:r>
          </a:p>
          <a:p>
            <a:r>
              <a:t>LECTURER CUE</a:t>
            </a:r>
          </a:p>
          <a:p>
            <a:r>
              <a:t>Explain the released brief now. Confirm its grading-release checks before assigning it. Avoid treating weekly practice as a substitute for the project evidence. The project brief remains authoritative.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Week 13 quiz.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13 quiz</a:t>
            </a:r>
          </a:p>
          <a:p>
            <a:r>
              <a:t/>
            </a:r>
          </a:p>
          <a:p>
            <a:r>
              <a:t>CONNECT</a:t>
            </a:r>
          </a:p>
          <a:p>
            <a:r>
              <a:t>Build on the preceding slide: Project preparation.</a:t>
            </a:r>
          </a:p>
          <a:p>
            <a:r>
              <a:t/>
            </a:r>
          </a:p>
          <a:p>
            <a:r>
              <a:t>LECTURER CUE</a:t>
            </a:r>
          </a:p>
          <a:p>
            <a:r>
              <a:t>Activate the matching open_W13_CML3111 function in Quiz Controls, then confirm the 24-hour close time. Opening this slide or clicking its link does not activate the form. The 24 hours is the availability window. Keep existing quiz scoring and form rules. Do not show private answer keys.</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Week 13 quiz.</a:t>
            </a:r>
          </a:p>
          <a:p>
            <a:r>
              <a:t/>
            </a:r>
          </a:p>
          <a:p>
            <a:r>
              <a:t>LECTURER CUE</a:t>
            </a:r>
          </a:p>
          <a:p>
            <a:r>
              <a:t>Ask every learner for an individual response. Record one misconception to revisit at the start of the next class. If a deadline changed, announce the exact Kampala date and update the source registry before rebuilding slides.</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f70cb177dc64b9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436c42e990a4b96" /><Relationship Type="http://schemas.openxmlformats.org/officeDocument/2006/relationships/slideLayout" Target="/ppt/slideLayouts/slideLayout1.xml" Id="R50a3e4169f854e8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0a3e4169f854e8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6aa421cfdad4d36" /><Relationship Type="http://schemas.openxmlformats.org/officeDocument/2006/relationships/image" Target="/ppt/media/image.png" Id="R17ed89d8ef9d4478" /><Relationship Type="http://schemas.openxmlformats.org/officeDocument/2006/relationships/notesSlide" Target="/ppt/notesSlides/notesSlide1.xml" Id="R20eb634446e0473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122c9f76efe483a" /><Relationship Type="http://schemas.openxmlformats.org/officeDocument/2006/relationships/notesSlide" Target="/ppt/notesSlides/notesSlide2.xml" Id="R5299b7328f47420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5163b671a9f4868" /><Relationship Type="http://schemas.openxmlformats.org/officeDocument/2006/relationships/notesSlide" Target="/ppt/notesSlides/notesSlide3.xml" Id="R9a10cfb20aa34de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e310b6453b348e8" /><Relationship Type="http://schemas.openxmlformats.org/officeDocument/2006/relationships/notesSlide" Target="/ppt/notesSlides/notesSlide4.xml" Id="R292e841204d8458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585ac2506bd4739" /><Relationship Type="http://schemas.openxmlformats.org/officeDocument/2006/relationships/notesSlide" Target="/ppt/notesSlides/notesSlide5.xml" Id="Rf75902af9c4f4bb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ab86cb4230b4d70" /><Relationship Type="http://schemas.openxmlformats.org/officeDocument/2006/relationships/notesSlide" Target="/ppt/notesSlides/notesSlide6.xml" Id="R88ea774e00e94c8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f2605318af54703" /><Relationship Type="http://schemas.openxmlformats.org/officeDocument/2006/relationships/notesSlide" Target="/ppt/notesSlides/notesSlide7.xml" Id="R54dd6e1ff461461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e1ed777a1664aae" /><Relationship Type="http://schemas.openxmlformats.org/officeDocument/2006/relationships/image" Target="/ppt/media/image2.png" Id="Racdf2e3749f14de9" /><Relationship Type="http://schemas.openxmlformats.org/officeDocument/2006/relationships/notesSlide" Target="/ppt/notesSlides/notesSlide8.xml" Id="R9346a09b03bc4f9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0207f8aecb24082" /><Relationship Type="http://schemas.openxmlformats.org/officeDocument/2006/relationships/image" Target="/ppt/media/image3.png" Id="Ra2b4ec6f04fd4b98" /><Relationship Type="http://schemas.openxmlformats.org/officeDocument/2006/relationships/notesSlide" Target="/ppt/notesSlides/notesSlide9.xml" Id="R10ed7e9fa540410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1643f0be17d467e" /><Relationship Type="http://schemas.openxmlformats.org/officeDocument/2006/relationships/notesSlide" Target="/ppt/notesSlides/notesSlide10.xml" Id="R8c804205142b442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3fa40b740d64138" /><Relationship Type="http://schemas.openxmlformats.org/officeDocument/2006/relationships/notesSlide" Target="/ppt/notesSlides/notesSlide11.xml" Id="R6c1dcad0434b4f6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0c9fccc725c4d4e" /><Relationship Type="http://schemas.openxmlformats.org/officeDocument/2006/relationships/notesSlide" Target="/ppt/notesSlides/notesSlide12.xml" Id="R384acf38438d433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a3ce3a6fd154727" /><Relationship Type="http://schemas.openxmlformats.org/officeDocument/2006/relationships/notesSlide" Target="/ppt/notesSlides/notesSlide13.xml" Id="Re45df715574a47d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b55ccd29f66426f" /><Relationship Type="http://schemas.openxmlformats.org/officeDocument/2006/relationships/notesSlide" Target="/ppt/notesSlides/notesSlide14.xml" Id="R94d6e63f2ed24d5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df7d32c0f004b52" /><Relationship Type="http://schemas.openxmlformats.org/officeDocument/2006/relationships/notesSlide" Target="/ppt/notesSlides/notesSlide15.xml" Id="R77b8840b3aec43b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f10da4e5e0f4887" /><Relationship Type="http://schemas.openxmlformats.org/officeDocument/2006/relationships/notesSlide" Target="/ppt/notesSlides/notesSlide16.xml" Id="Re8961ce693bf47d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6faa437ddf014c87" /><Relationship Type="http://schemas.openxmlformats.org/officeDocument/2006/relationships/notesSlide" Target="/ppt/notesSlides/notesSlide17.xml" Id="Re6092955f3734e5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4f9848f5dc81458c" /><Relationship Type="http://schemas.openxmlformats.org/officeDocument/2006/relationships/notesSlide" Target="/ppt/notesSlides/notesSlide18.xml" Id="R0ca6dcb1066c489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8123ccf576049a2" /><Relationship Type="http://schemas.openxmlformats.org/officeDocument/2006/relationships/notesSlide" Target="/ppt/notesSlides/notesSlide19.xml" Id="Rfbbd8276585f476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726ddebf77d4aea" /><Relationship Type="http://schemas.openxmlformats.org/officeDocument/2006/relationships/notesSlide" Target="/ppt/notesSlides/notesSlide20.xml" Id="R81c8cf923add4aa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aa4b361fe464054" /><Relationship Type="http://schemas.openxmlformats.org/officeDocument/2006/relationships/notesSlide" Target="/ppt/notesSlides/notesSlide21.xml" Id="R72a8028072994a9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2bbb33491d34731" /><Relationship Type="http://schemas.openxmlformats.org/officeDocument/2006/relationships/hyperlink" Target="https://www.youtube.com/watch?v=v5gnvDUWqFM" TargetMode="External" Id="Rc8cfdfd585cc4686" /><Relationship Type="http://schemas.openxmlformats.org/officeDocument/2006/relationships/notesSlide" Target="/ppt/notesSlides/notesSlide22.xml" Id="R209952e4b55b4e9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fcd0aee78c704aa9" /><Relationship Type="http://schemas.openxmlformats.org/officeDocument/2006/relationships/notesSlide" Target="/ppt/notesSlides/notesSlide23.xml" Id="R4906154ed4884f5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08b4032d5f004de5" /><Relationship Type="http://schemas.openxmlformats.org/officeDocument/2006/relationships/notesSlide" Target="/ppt/notesSlides/notesSlide24.xml" Id="R96629f944d1645c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29c72c2b85e54db4" /><Relationship Type="http://schemas.openxmlformats.org/officeDocument/2006/relationships/notesSlide" Target="/ppt/notesSlides/notesSlide25.xml" Id="R94034ab076f94b9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8960714c17814a13" /><Relationship Type="http://schemas.openxmlformats.org/officeDocument/2006/relationships/notesSlide" Target="/ppt/notesSlides/notesSlide26.xml" Id="Rb04142cefd9c467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47dd07442e5747cd" /><Relationship Type="http://schemas.openxmlformats.org/officeDocument/2006/relationships/notesSlide" Target="/ppt/notesSlides/notesSlide27.xml" Id="R6e904d2ad794427b"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e8ab7d2f46e94bcd" /><Relationship Type="http://schemas.openxmlformats.org/officeDocument/2006/relationships/image" Target="/ppt/media/image4.png" Id="Rda9a8026008e466e" /><Relationship Type="http://schemas.openxmlformats.org/officeDocument/2006/relationships/hyperlink" Target="https://forms.gle/ameQRYSJ5kfrpcKWA" TargetMode="External" Id="R84b759bb82ad49d6" /><Relationship Type="http://schemas.openxmlformats.org/officeDocument/2006/relationships/notesSlide" Target="/ppt/notesSlides/notesSlide28.xml" Id="R20936ff5ab2f4a7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b364bb444f7045b9" /><Relationship Type="http://schemas.openxmlformats.org/officeDocument/2006/relationships/notesSlide" Target="/ppt/notesSlides/notesSlide29.xml" Id="R6985fac1c5e047c6"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17ed89d8ef9d4478"/>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1C5BA92-A6EB-4DC1-BDDC-575E30398E40}"/>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0ECD925-F805-4BF9-9418-3AF5A9D389CF}"/>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13</a:t>
            </a:r>
          </a:p>
        </p:txBody>
      </p:sp>
      <p:sp>
        <p:nvSpPr>
          <p:cNvPr id="4" name="">
            <a:extLst xmlns:a="http://schemas.openxmlformats.org/drawingml/2006/main">
              <a:ext uri="{FF2B5EF4-FFF2-40B4-BE49-F238E27FC236}">
                <a16:creationId xmlns:a16="http://schemas.microsoft.com/office/drawing/2014/main" id="{0E0661EE-A87D-4B81-B6DC-03E074090896}"/>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Making the project understandable and runnable</a:t>
            </a:r>
          </a:p>
        </p:txBody>
      </p:sp>
      <p:sp>
        <p:nvSpPr>
          <p:cNvPr id="5" name="">
            <a:extLst xmlns:a="http://schemas.openxmlformats.org/drawingml/2006/main">
              <a:ext uri="{FF2B5EF4-FFF2-40B4-BE49-F238E27FC236}">
                <a16:creationId xmlns:a16="http://schemas.microsoft.com/office/drawing/2014/main" id="{2B5FD311-4729-456E-B728-159C226E3C14}"/>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FB4302BD-E0DE-4671-A908-3A9A0CBCB80B}"/>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04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62235848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71CB0FE-0362-4019-A94A-DC8EE59FBE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088ECC-FBE5-442B-828D-2081F66066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25470781-DD72-476A-9D65-5A3F8BF416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2C4ADC35-36EF-4687-BCB7-CDF7068855E5}"/>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525A873-41AA-4BBE-BDE7-82DC0ABC7B5A}"/>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54BEEA60-EFB8-429E-8170-C299B36BFE4A}"/>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project from a fresh session.</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Repair unclear run instructions using peer feedback.</a:t>
            </a:r>
          </a:p>
        </p:txBody>
      </p:sp>
      <p:sp>
        <p:nvSpPr>
          <p:cNvPr id="7" name="">
            <a:extLst xmlns:a="http://schemas.openxmlformats.org/drawingml/2006/main">
              <a:ext uri="{FF2B5EF4-FFF2-40B4-BE49-F238E27FC236}">
                <a16:creationId xmlns:a16="http://schemas.microsoft.com/office/drawing/2014/main" id="{A58E6AA5-C84F-4E50-83AA-D10F11CE1017}"/>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BE1B3D09-254B-44E6-AFB3-78995ACDE126}"/>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Another learner can follow your README and reproduce the stated result.</a:t>
            </a:r>
          </a:p>
        </p:txBody>
      </p:sp>
      <p:sp>
        <p:nvSpPr>
          <p:cNvPr id="9" name="">
            <a:extLst xmlns:a="http://schemas.openxmlformats.org/drawingml/2006/main">
              <a:ext uri="{FF2B5EF4-FFF2-40B4-BE49-F238E27FC236}">
                <a16:creationId xmlns:a16="http://schemas.microsoft.com/office/drawing/2014/main" id="{5E898075-9CFB-488F-AD3F-4C5CB0C6DC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a:t>
            </a:r>
          </a:p>
        </p:txBody>
      </p:sp>
    </p:spTree>
    <p:extLst>
      <p:ext uri="{BB962C8B-B14F-4D97-AF65-F5344CB8AC3E}">
        <p14:creationId xmlns:p14="http://schemas.microsoft.com/office/powerpoint/2010/main" val="883227428"/>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AB8428B-69B3-4B15-9BB5-A66E6AFB48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1621E2DD-C11D-49B3-A65E-3614C93386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F46D1AB6-812A-4CAF-9FBB-175866D936B1}"/>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2F42D633-6E0F-4022-A521-C6ACD8796DFA}"/>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Can you explain what your project predicts, its unit or class, and the validation rule in one minute?</a:t>
            </a:r>
          </a:p>
        </p:txBody>
      </p:sp>
      <p:sp>
        <p:nvSpPr>
          <p:cNvPr id="5" name="">
            <a:extLst xmlns:a="http://schemas.openxmlformats.org/drawingml/2006/main">
              <a:ext uri="{FF2B5EF4-FFF2-40B4-BE49-F238E27FC236}">
                <a16:creationId xmlns:a16="http://schemas.microsoft.com/office/drawing/2014/main" id="{CE4E74C5-1E30-472B-844E-1BFBD07ECDA3}"/>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574AB6E1-CC24-4255-B067-E50C02040A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13   3</a:t>
            </a:r>
          </a:p>
        </p:txBody>
      </p:sp>
    </p:spTree>
    <p:extLst>
      <p:ext uri="{BB962C8B-B14F-4D97-AF65-F5344CB8AC3E}">
        <p14:creationId xmlns:p14="http://schemas.microsoft.com/office/powerpoint/2010/main" val="195284870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707F85E-E281-442A-A91B-901F733278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79C0474-9CDA-4C0A-8FE2-A508E501E4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4862EF47-5BE9-4A39-93B7-DF948C8C4E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D4687B19-9A9F-459F-943F-E2FBBC61795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69B1CD3-16DB-4B9E-A704-30BB135B3F2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team records device temperature to investigate cooling.</a:t>
            </a:r>
          </a:p>
        </p:txBody>
      </p:sp>
      <p:sp>
        <p:nvSpPr>
          <p:cNvPr id="6" name="">
            <a:extLst xmlns:a="http://schemas.openxmlformats.org/drawingml/2006/main">
              <a:ext uri="{FF2B5EF4-FFF2-40B4-BE49-F238E27FC236}">
                <a16:creationId xmlns:a16="http://schemas.microsoft.com/office/drawing/2014/main" id="{974A27AB-80EB-47AD-8A0A-76905DE7E35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E0C0322-9CA2-4261-B653-989871FC5B3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communications cabinet, an electrical enclosure or a robot controller as the physical example.</a:t>
            </a:r>
          </a:p>
        </p:txBody>
      </p:sp>
      <p:sp>
        <p:nvSpPr>
          <p:cNvPr id="8" name="">
            <a:extLst xmlns:a="http://schemas.openxmlformats.org/drawingml/2006/main">
              <a:ext uri="{FF2B5EF4-FFF2-40B4-BE49-F238E27FC236}">
                <a16:creationId xmlns:a16="http://schemas.microsoft.com/office/drawing/2014/main" id="{166ED21B-6F52-40C4-9F2C-3AAC5DAF74A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C7F0AA7-76BB-48D9-83B4-6ECE6DBB2FA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specialist hardware knowledge is assumed.</a:t>
            </a:r>
          </a:p>
        </p:txBody>
      </p:sp>
      <p:sp>
        <p:nvSpPr>
          <p:cNvPr id="10" name="">
            <a:extLst xmlns:a="http://schemas.openxmlformats.org/drawingml/2006/main">
              <a:ext uri="{FF2B5EF4-FFF2-40B4-BE49-F238E27FC236}">
                <a16:creationId xmlns:a16="http://schemas.microsoft.com/office/drawing/2014/main" id="{9D44D882-FCA1-4A17-82A6-B2F7503AF6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4</a:t>
            </a:r>
          </a:p>
        </p:txBody>
      </p:sp>
    </p:spTree>
    <p:extLst>
      <p:ext uri="{BB962C8B-B14F-4D97-AF65-F5344CB8AC3E}">
        <p14:creationId xmlns:p14="http://schemas.microsoft.com/office/powerpoint/2010/main" val="113230618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8BB452D-B0E9-4F8A-8064-6E84250F9E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487E633-09C8-4E49-A45E-46565D5B26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959D171-DBEF-48A5-B2BA-E0EEA5B862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8369BF25-296A-4ABA-B087-98446CAF4C49}"/>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74ED2D-103D-4DEE-99CA-023EC49145D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Reproducibility</a:t>
            </a:r>
          </a:p>
        </p:txBody>
      </p:sp>
      <p:sp>
        <p:nvSpPr>
          <p:cNvPr id="6" name="">
            <a:extLst xmlns:a="http://schemas.openxmlformats.org/drawingml/2006/main">
              <a:ext uri="{FF2B5EF4-FFF2-40B4-BE49-F238E27FC236}">
                <a16:creationId xmlns:a16="http://schemas.microsoft.com/office/drawing/2014/main" id="{CA867397-E31D-476D-8BEC-EEA45661A672}"/>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Another person can use the stated data, environment and steps to check the result. Terminology varies; state the operational test.</a:t>
            </a:r>
          </a:p>
        </p:txBody>
      </p:sp>
      <p:sp>
        <p:nvSpPr>
          <p:cNvPr id="7" name="">
            <a:extLst xmlns:a="http://schemas.openxmlformats.org/drawingml/2006/main">
              <a:ext uri="{FF2B5EF4-FFF2-40B4-BE49-F238E27FC236}">
                <a16:creationId xmlns:a16="http://schemas.microsoft.com/office/drawing/2014/main" id="{A9592C23-0FFE-445F-9442-E92A3CD3DA9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A0876D4-EE24-4CAD-BC09-95E14C41AEA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Dependency</a:t>
            </a:r>
          </a:p>
        </p:txBody>
      </p:sp>
      <p:sp>
        <p:nvSpPr>
          <p:cNvPr id="9" name="">
            <a:extLst xmlns:a="http://schemas.openxmlformats.org/drawingml/2006/main">
              <a:ext uri="{FF2B5EF4-FFF2-40B4-BE49-F238E27FC236}">
                <a16:creationId xmlns:a16="http://schemas.microsoft.com/office/drawing/2014/main" id="{80D05807-9573-4BE7-BAF3-BBA33271ECE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package your code needs. Record versions actually used, rather than guessing them.</a:t>
            </a:r>
          </a:p>
        </p:txBody>
      </p:sp>
      <p:sp>
        <p:nvSpPr>
          <p:cNvPr id="10" name="">
            <a:extLst xmlns:a="http://schemas.openxmlformats.org/drawingml/2006/main">
              <a:ext uri="{FF2B5EF4-FFF2-40B4-BE49-F238E27FC236}">
                <a16:creationId xmlns:a16="http://schemas.microsoft.com/office/drawing/2014/main" id="{A606EC68-D68D-4710-8817-FE97A07BAB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5</a:t>
            </a:r>
          </a:p>
        </p:txBody>
      </p:sp>
    </p:spTree>
    <p:extLst>
      <p:ext uri="{BB962C8B-B14F-4D97-AF65-F5344CB8AC3E}">
        <p14:creationId xmlns:p14="http://schemas.microsoft.com/office/powerpoint/2010/main" val="69145964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A70B15D-9463-496C-9194-82406A3656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A568B9F-C309-4716-9389-F744D5FB84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37FE8EC-A84D-475C-BFA3-1BDAF92ACC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8EEC79C5-E336-4079-82A7-E66B4A0BC16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C31DE1D-F5D1-4FB4-9D8F-EFA962E6BC4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Relative path</a:t>
            </a:r>
          </a:p>
        </p:txBody>
      </p:sp>
      <p:sp>
        <p:nvSpPr>
          <p:cNvPr id="6" name="">
            <a:extLst xmlns:a="http://schemas.openxmlformats.org/drawingml/2006/main">
              <a:ext uri="{FF2B5EF4-FFF2-40B4-BE49-F238E27FC236}">
                <a16:creationId xmlns:a16="http://schemas.microsoft.com/office/drawing/2014/main" id="{7190702E-630D-4023-8975-ED97DBE2F8EE}"/>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location interpreted from the current working folder. It is not always relative to the notebook file itself.</a:t>
            </a:r>
          </a:p>
        </p:txBody>
      </p:sp>
      <p:sp>
        <p:nvSpPr>
          <p:cNvPr id="7" name="">
            <a:extLst xmlns:a="http://schemas.openxmlformats.org/drawingml/2006/main">
              <a:ext uri="{FF2B5EF4-FFF2-40B4-BE49-F238E27FC236}">
                <a16:creationId xmlns:a16="http://schemas.microsoft.com/office/drawing/2014/main" id="{701FC5D9-2E0B-4D9A-867E-58F2F60EB34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7327640-EAE6-4CA6-BF1A-0D2D180C045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README</a:t>
            </a:r>
          </a:p>
        </p:txBody>
      </p:sp>
      <p:sp>
        <p:nvSpPr>
          <p:cNvPr id="9" name="">
            <a:extLst xmlns:a="http://schemas.openxmlformats.org/drawingml/2006/main">
              <a:ext uri="{FF2B5EF4-FFF2-40B4-BE49-F238E27FC236}">
                <a16:creationId xmlns:a16="http://schemas.microsoft.com/office/drawing/2014/main" id="{9BD0DC86-B45D-481C-81B3-5C37ACD25E3D}"/>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project’s instructions: question, files, data source, environment, run order, results and limitations.</a:t>
            </a:r>
          </a:p>
        </p:txBody>
      </p:sp>
      <p:sp>
        <p:nvSpPr>
          <p:cNvPr id="10" name="">
            <a:extLst xmlns:a="http://schemas.openxmlformats.org/drawingml/2006/main">
              <a:ext uri="{FF2B5EF4-FFF2-40B4-BE49-F238E27FC236}">
                <a16:creationId xmlns:a16="http://schemas.microsoft.com/office/drawing/2014/main" id="{5D203E25-2BD1-4B70-9B2C-DF2D07EAACF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6</a:t>
            </a:r>
          </a:p>
        </p:txBody>
      </p:sp>
    </p:spTree>
    <p:extLst>
      <p:ext uri="{BB962C8B-B14F-4D97-AF65-F5344CB8AC3E}">
        <p14:creationId xmlns:p14="http://schemas.microsoft.com/office/powerpoint/2010/main" val="169659318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4F51652-830E-471B-950B-657CEB40D0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A2332E5-50E7-4A28-851F-0C6DAF4B3E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D645D5E-90B4-48B6-9E24-BBEB3945D3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useful README</a:t>
            </a:r>
          </a:p>
        </p:txBody>
      </p:sp>
      <p:sp>
        <p:nvSpPr>
          <p:cNvPr id="4" name="">
            <a:extLst xmlns:a="http://schemas.openxmlformats.org/drawingml/2006/main">
              <a:ext uri="{FF2B5EF4-FFF2-40B4-BE49-F238E27FC236}">
                <a16:creationId xmlns:a16="http://schemas.microsoft.com/office/drawing/2014/main" id="{C3698B14-9539-44AA-95E3-4B4D24046E0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E97CC41-7CE6-42C5-8F24-4AD72760DAC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engineering question and target unit.</a:t>
            </a:r>
          </a:p>
        </p:txBody>
      </p:sp>
      <p:sp>
        <p:nvSpPr>
          <p:cNvPr id="6" name="">
            <a:extLst xmlns:a="http://schemas.openxmlformats.org/drawingml/2006/main">
              <a:ext uri="{FF2B5EF4-FFF2-40B4-BE49-F238E27FC236}">
                <a16:creationId xmlns:a16="http://schemas.microsoft.com/office/drawing/2014/main" id="{90D0E486-3B5B-4578-A59A-E16A8BD26AEC}"/>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B85E8E7-BC49-46A0-997B-DC99FED170D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the supplied data and required software versions.</a:t>
            </a:r>
          </a:p>
        </p:txBody>
      </p:sp>
      <p:sp>
        <p:nvSpPr>
          <p:cNvPr id="8" name="">
            <a:extLst xmlns:a="http://schemas.openxmlformats.org/drawingml/2006/main">
              <a:ext uri="{FF2B5EF4-FFF2-40B4-BE49-F238E27FC236}">
                <a16:creationId xmlns:a16="http://schemas.microsoft.com/office/drawing/2014/main" id="{CA67A790-ADE0-40CA-A696-3B44F92479A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DACC0A0-3913-46F0-8A1D-D33851863B6F}"/>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Give the order for running the notebook from a fresh session.</a:t>
            </a:r>
          </a:p>
        </p:txBody>
      </p:sp>
      <p:sp>
        <p:nvSpPr>
          <p:cNvPr id="10" name="">
            <a:extLst xmlns:a="http://schemas.openxmlformats.org/drawingml/2006/main">
              <a:ext uri="{FF2B5EF4-FFF2-40B4-BE49-F238E27FC236}">
                <a16:creationId xmlns:a16="http://schemas.microsoft.com/office/drawing/2014/main" id="{72EEAD04-5511-4A51-919A-A31DB215E39E}"/>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3D18444-BEB0-4179-BC87-1875D0A85FF1}"/>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limitations and each member’s contribution.</a:t>
            </a:r>
          </a:p>
        </p:txBody>
      </p:sp>
      <p:sp>
        <p:nvSpPr>
          <p:cNvPr id="12" name="">
            <a:extLst xmlns:a="http://schemas.openxmlformats.org/drawingml/2006/main">
              <a:ext uri="{FF2B5EF4-FFF2-40B4-BE49-F238E27FC236}">
                <a16:creationId xmlns:a16="http://schemas.microsoft.com/office/drawing/2014/main" id="{DC2591E9-B341-409F-A695-8E20897944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7</a:t>
            </a:r>
          </a:p>
        </p:txBody>
      </p:sp>
    </p:spTree>
    <p:extLst>
      <p:ext uri="{BB962C8B-B14F-4D97-AF65-F5344CB8AC3E}">
        <p14:creationId xmlns:p14="http://schemas.microsoft.com/office/powerpoint/2010/main" val="44993348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05BE849-1B93-4957-99DB-342EF2EE1549}"/>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6DBFDFE-BCF1-40D0-9344-4AD842F0124C}"/>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Someone else needs to reproduce the result</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acdf2e3749f14de9"/>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5706259-6018-4DAC-AA7C-D4465FE2E823}"/>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0215AB0-B310-46CB-A3BD-11D76EC2A90C}"/>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instructions would a new user need?</a:t>
            </a:r>
          </a:p>
        </p:txBody>
      </p:sp>
      <p:sp>
        <p:nvSpPr>
          <p:cNvPr id="6" name="">
            <a:extLst xmlns:a="http://schemas.openxmlformats.org/drawingml/2006/main">
              <a:ext uri="{FF2B5EF4-FFF2-40B4-BE49-F238E27FC236}">
                <a16:creationId xmlns:a16="http://schemas.microsoft.com/office/drawing/2014/main" id="{9F8EE79C-A916-4744-81DF-6259B7B16F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8</a:t>
            </a:r>
          </a:p>
        </p:txBody>
      </p:sp>
    </p:spTree>
    <p:extLst>
      <p:ext uri="{BB962C8B-B14F-4D97-AF65-F5344CB8AC3E}">
        <p14:creationId xmlns:p14="http://schemas.microsoft.com/office/powerpoint/2010/main" val="130890045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3506799-6E0B-4FEA-B610-42BFCD897E1F}"/>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2D675A8-DE0A-4BEB-A89D-C07163CC9D83}"/>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reproducible notebook starts fresh</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a2b4ec6f04fd4b98"/>
          <a:stretch xmlns:a="http://schemas.openxmlformats.org/drawingml/2006/main"/>
        </p:blipFill>
        <p:spPr>
          <a:xfrm xmlns:a="http://schemas.openxmlformats.org/drawingml/2006/main">
            <a:off x="333375" y="1132281"/>
            <a:ext cx="11525250" cy="446961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EABACE9-D129-4196-92DC-DDE637D6455A}"/>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EDF08E1-3725-4356-88E9-28C1BFD447B0}"/>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saved outputs must agree with a fresh run in the stated order.</a:t>
            </a:r>
          </a:p>
        </p:txBody>
      </p:sp>
      <p:sp>
        <p:nvSpPr>
          <p:cNvPr id="6" name="">
            <a:extLst xmlns:a="http://schemas.openxmlformats.org/drawingml/2006/main">
              <a:ext uri="{FF2B5EF4-FFF2-40B4-BE49-F238E27FC236}">
                <a16:creationId xmlns:a16="http://schemas.microsoft.com/office/drawing/2014/main" id="{5B5FE0C7-A86D-4A41-B0CB-C5BFB5FBD0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9</a:t>
            </a:r>
          </a:p>
        </p:txBody>
      </p:sp>
    </p:spTree>
    <p:extLst>
      <p:ext uri="{BB962C8B-B14F-4D97-AF65-F5344CB8AC3E}">
        <p14:creationId xmlns:p14="http://schemas.microsoft.com/office/powerpoint/2010/main" val="205103906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5AE922A-7E37-4C34-BC8B-EB1EFF280D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74F617E-B97D-49B6-9916-B005F8B95C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3ED92E8-8CEF-412E-94FA-AB7BA46221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Saved outputs can hide missing steps</a:t>
            </a:r>
          </a:p>
        </p:txBody>
      </p:sp>
      <p:sp>
        <p:nvSpPr>
          <p:cNvPr id="4" name="">
            <a:extLst xmlns:a="http://schemas.openxmlformats.org/drawingml/2006/main">
              <a:ext uri="{FF2B5EF4-FFF2-40B4-BE49-F238E27FC236}">
                <a16:creationId xmlns:a16="http://schemas.microsoft.com/office/drawing/2014/main" id="{AFA05F86-C97B-4308-9DDE-9E5A5622FA6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F2FDC23-3FD0-4E7F-A2B3-B643137859B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notebook can display an old answer after its inputs have changed.</a:t>
            </a:r>
          </a:p>
        </p:txBody>
      </p:sp>
      <p:sp>
        <p:nvSpPr>
          <p:cNvPr id="6" name="">
            <a:extLst xmlns:a="http://schemas.openxmlformats.org/drawingml/2006/main">
              <a:ext uri="{FF2B5EF4-FFF2-40B4-BE49-F238E27FC236}">
                <a16:creationId xmlns:a16="http://schemas.microsoft.com/office/drawing/2014/main" id="{3ADF18D9-203A-41B8-BD56-0C613E65273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2E7C9A8-F136-4CC6-A144-BDD8F322C86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session begins without the old variables.</a:t>
            </a:r>
          </a:p>
        </p:txBody>
      </p:sp>
      <p:sp>
        <p:nvSpPr>
          <p:cNvPr id="8" name="">
            <a:extLst xmlns:a="http://schemas.openxmlformats.org/drawingml/2006/main">
              <a:ext uri="{FF2B5EF4-FFF2-40B4-BE49-F238E27FC236}">
                <a16:creationId xmlns:a16="http://schemas.microsoft.com/office/drawing/2014/main" id="{829E456C-3838-4CFB-B67C-753F2D7928D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90A0E55-2B40-4B9D-90F2-7FE728B8FD0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Restarting and running all tests whether the stated order creates the result.</a:t>
            </a:r>
          </a:p>
        </p:txBody>
      </p:sp>
      <p:sp>
        <p:nvSpPr>
          <p:cNvPr id="10" name="">
            <a:extLst xmlns:a="http://schemas.openxmlformats.org/drawingml/2006/main">
              <a:ext uri="{FF2B5EF4-FFF2-40B4-BE49-F238E27FC236}">
                <a16:creationId xmlns:a16="http://schemas.microsoft.com/office/drawing/2014/main" id="{2323B95C-372F-444A-8CD6-0C8C22823F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10</a:t>
            </a:r>
          </a:p>
        </p:txBody>
      </p:sp>
    </p:spTree>
    <p:extLst>
      <p:ext uri="{BB962C8B-B14F-4D97-AF65-F5344CB8AC3E}">
        <p14:creationId xmlns:p14="http://schemas.microsoft.com/office/powerpoint/2010/main" val="186739448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B642981-46C2-40F0-A8FA-EA7A4442F0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8C93C15-4F80-4A31-9B7E-A78579980B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6976AC7-780C-49A7-ABF1-9835DE10BE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path names where a file is found</a:t>
            </a:r>
          </a:p>
        </p:txBody>
      </p:sp>
      <p:sp>
        <p:nvSpPr>
          <p:cNvPr id="4" name="">
            <a:extLst xmlns:a="http://schemas.openxmlformats.org/drawingml/2006/main">
              <a:ext uri="{FF2B5EF4-FFF2-40B4-BE49-F238E27FC236}">
                <a16:creationId xmlns:a16="http://schemas.microsoft.com/office/drawing/2014/main" id="{5698CB28-C9D1-4E0A-BFCC-A711F91A955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1141793-DDB4-4C28-A7A1-0CFD9C2963D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is interpreted from the current working folder.</a:t>
            </a:r>
          </a:p>
        </p:txBody>
      </p:sp>
      <p:sp>
        <p:nvSpPr>
          <p:cNvPr id="6" name="">
            <a:extLst xmlns:a="http://schemas.openxmlformats.org/drawingml/2006/main">
              <a:ext uri="{FF2B5EF4-FFF2-40B4-BE49-F238E27FC236}">
                <a16:creationId xmlns:a16="http://schemas.microsoft.com/office/drawing/2014/main" id="{A5852939-039C-4F7B-B88C-6A5B4CD2BF2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405F7A8-14CB-4DEB-B4C3-3CCE21CFCED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Package versions describe the software used to run the code.</a:t>
            </a:r>
          </a:p>
        </p:txBody>
      </p:sp>
      <p:sp>
        <p:nvSpPr>
          <p:cNvPr id="8" name="">
            <a:extLst xmlns:a="http://schemas.openxmlformats.org/drawingml/2006/main">
              <a:ext uri="{FF2B5EF4-FFF2-40B4-BE49-F238E27FC236}">
                <a16:creationId xmlns:a16="http://schemas.microsoft.com/office/drawing/2014/main" id="{8FE0F336-DCEA-4AD6-8757-08595E5C0E5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40B0AA9-6533-454B-9837-53E812E292F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README must give both run instructions and data-access instructions.</a:t>
            </a:r>
          </a:p>
        </p:txBody>
      </p:sp>
      <p:sp>
        <p:nvSpPr>
          <p:cNvPr id="10" name="">
            <a:extLst xmlns:a="http://schemas.openxmlformats.org/drawingml/2006/main">
              <a:ext uri="{FF2B5EF4-FFF2-40B4-BE49-F238E27FC236}">
                <a16:creationId xmlns:a16="http://schemas.microsoft.com/office/drawing/2014/main" id="{77BB211B-07DF-46AE-9E22-D6D9A39BF1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11</a:t>
            </a:r>
          </a:p>
        </p:txBody>
      </p:sp>
    </p:spTree>
    <p:extLst>
      <p:ext uri="{BB962C8B-B14F-4D97-AF65-F5344CB8AC3E}">
        <p14:creationId xmlns:p14="http://schemas.microsoft.com/office/powerpoint/2010/main" val="54680305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7044586-7D37-471B-B61B-16B6E1AF09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E8EB3C-22F1-4D8C-9A93-7AAD87EB47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5B95F51-CBD2-402D-8B43-848E270B037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path example</a:t>
            </a:r>
          </a:p>
        </p:txBody>
      </p:sp>
      <p:sp>
        <p:nvSpPr>
          <p:cNvPr id="4" name="">
            <a:extLst xmlns:a="http://schemas.openxmlformats.org/drawingml/2006/main">
              <a:ext uri="{FF2B5EF4-FFF2-40B4-BE49-F238E27FC236}">
                <a16:creationId xmlns:a16="http://schemas.microsoft.com/office/drawing/2014/main" id="{64BD1136-DABD-491C-9ECB-2FF4FC34AA5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77C1A80-01C1-4F13-BCF6-3B0FBD46CD9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Path and cwd</a:t>
            </a:r>
          </a:p>
        </p:txBody>
      </p:sp>
      <p:sp>
        <p:nvSpPr>
          <p:cNvPr id="6" name="">
            <a:extLst xmlns:a="http://schemas.openxmlformats.org/drawingml/2006/main">
              <a:ext uri="{FF2B5EF4-FFF2-40B4-BE49-F238E27FC236}">
                <a16:creationId xmlns:a16="http://schemas.microsoft.com/office/drawing/2014/main" id="{3CBEC157-C1F1-40AE-A616-1CF04E913DE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Path is a tool imported from Python’s pathlib module. Path.cwd() returns the folder where Python is currently running.</a:t>
            </a:r>
          </a:p>
        </p:txBody>
      </p:sp>
      <p:sp>
        <p:nvSpPr>
          <p:cNvPr id="7" name="">
            <a:extLst xmlns:a="http://schemas.openxmlformats.org/drawingml/2006/main">
              <a:ext uri="{FF2B5EF4-FFF2-40B4-BE49-F238E27FC236}">
                <a16:creationId xmlns:a16="http://schemas.microsoft.com/office/drawing/2014/main" id="{987C8250-CBA5-40FE-A1C0-4829A554355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BFB6621-5A00-4900-9735-32FFBEC9297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name</a:t>
            </a:r>
          </a:p>
        </p:txBody>
      </p:sp>
      <p:sp>
        <p:nvSpPr>
          <p:cNvPr id="9" name="">
            <a:extLst xmlns:a="http://schemas.openxmlformats.org/drawingml/2006/main">
              <a:ext uri="{FF2B5EF4-FFF2-40B4-BE49-F238E27FC236}">
                <a16:creationId xmlns:a16="http://schemas.microsoft.com/office/drawing/2014/main" id="{5453FCE5-02E8-4952-A0C8-1A548A1E495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.name property gives the last folder component as text. It depends on your runtime. A different folder name is expected on another computer.</a:t>
            </a:r>
          </a:p>
        </p:txBody>
      </p:sp>
      <p:sp>
        <p:nvSpPr>
          <p:cNvPr id="10" name="">
            <a:extLst xmlns:a="http://schemas.openxmlformats.org/drawingml/2006/main">
              <a:ext uri="{FF2B5EF4-FFF2-40B4-BE49-F238E27FC236}">
                <a16:creationId xmlns:a16="http://schemas.microsoft.com/office/drawing/2014/main" id="{86B06306-6956-4A06-8EB2-5195AF70E5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12</a:t>
            </a:r>
          </a:p>
        </p:txBody>
      </p:sp>
    </p:spTree>
    <p:extLst>
      <p:ext uri="{BB962C8B-B14F-4D97-AF65-F5344CB8AC3E}">
        <p14:creationId xmlns:p14="http://schemas.microsoft.com/office/powerpoint/2010/main" val="177624506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8503CF7-545F-4893-BE43-9D89674136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192E74-8A51-4282-8E7E-16FCA66708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5B79A1C-238C-4131-935A-97F4085D85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a:t>
            </a:r>
          </a:p>
        </p:txBody>
      </p:sp>
      <p:sp>
        <p:nvSpPr>
          <p:cNvPr id="4" name="">
            <a:extLst xmlns:a="http://schemas.openxmlformats.org/drawingml/2006/main">
              <a:ext uri="{FF2B5EF4-FFF2-40B4-BE49-F238E27FC236}">
                <a16:creationId xmlns:a16="http://schemas.microsoft.com/office/drawing/2014/main" id="{569BC223-292A-4CD5-8268-BDBFEAF957E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183FAD3-B01D-4D0C-92EA-6E78C547B21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pathlib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Path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print(Path.cwd().name)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The name depends on the folder where Python is running.</a:t>
            </a:r>
          </a:p>
        </p:txBody>
      </p:sp>
      <p:sp>
        <p:nvSpPr>
          <p:cNvPr id="6" name="">
            <a:extLst xmlns:a="http://schemas.openxmlformats.org/drawingml/2006/main">
              <a:ext uri="{FF2B5EF4-FFF2-40B4-BE49-F238E27FC236}">
                <a16:creationId xmlns:a16="http://schemas.microsoft.com/office/drawing/2014/main" id="{38887B3C-AC8E-4CAA-9554-B7C9E7DEF76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E60CC454-F324-448E-A0FB-C59ED14ED38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399E0E09-06B7-48BC-9EBF-CD3FED3375D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13</a:t>
            </a:r>
          </a:p>
        </p:txBody>
      </p:sp>
    </p:spTree>
    <p:extLst>
      <p:ext uri="{BB962C8B-B14F-4D97-AF65-F5344CB8AC3E}">
        <p14:creationId xmlns:p14="http://schemas.microsoft.com/office/powerpoint/2010/main" val="6280565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670DC62-E2EB-428A-BB10-F31FA8F521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8182D62-38E2-4893-B4CA-CDE9388AB0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D043D25F-02F6-464F-8681-CA2C1FD7C1B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77935901-5896-49C3-9D41-0796DC6BF78D}"/>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194A815-F93D-4EF6-9D81-205611D57C9D}"/>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Your current working folder name; it is environment-dependent.</a:t>
            </a:r>
          </a:p>
        </p:txBody>
      </p:sp>
      <p:sp>
        <p:nvSpPr>
          <p:cNvPr id="6" name="">
            <a:extLst xmlns:a="http://schemas.openxmlformats.org/drawingml/2006/main">
              <a:ext uri="{FF2B5EF4-FFF2-40B4-BE49-F238E27FC236}">
                <a16:creationId xmlns:a16="http://schemas.microsoft.com/office/drawing/2014/main" id="{6006DD1B-DE0A-490B-A2DC-CB291291912A}"/>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D2CB8EAC-EC80-495A-886F-1EDAB338F1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14</a:t>
            </a:r>
          </a:p>
        </p:txBody>
      </p:sp>
    </p:spTree>
    <p:extLst>
      <p:ext uri="{BB962C8B-B14F-4D97-AF65-F5344CB8AC3E}">
        <p14:creationId xmlns:p14="http://schemas.microsoft.com/office/powerpoint/2010/main" val="203402909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B4A74F7-3E71-46B9-9986-A2B78370ED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E64658-80F2-4AD3-BCEA-91D4BDB689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05D5063-A864-47DC-AFC0-40AF2D34D4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Tell another person what the project needs</a:t>
            </a:r>
          </a:p>
        </p:txBody>
      </p:sp>
      <p:sp>
        <p:nvSpPr>
          <p:cNvPr id="4" name="">
            <a:extLst xmlns:a="http://schemas.openxmlformats.org/drawingml/2006/main">
              <a:ext uri="{FF2B5EF4-FFF2-40B4-BE49-F238E27FC236}">
                <a16:creationId xmlns:a16="http://schemas.microsoft.com/office/drawing/2014/main" id="{0AD06006-ABA9-41C0-91A2-A0BDAF1082A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E441064-E65E-4BFD-99B3-279EE394A78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requirements.txt and versions</a:t>
            </a:r>
          </a:p>
        </p:txBody>
      </p:sp>
      <p:sp>
        <p:nvSpPr>
          <p:cNvPr id="6" name="">
            <a:extLst xmlns:a="http://schemas.openxmlformats.org/drawingml/2006/main">
              <a:ext uri="{FF2B5EF4-FFF2-40B4-BE49-F238E27FC236}">
                <a16:creationId xmlns:a16="http://schemas.microsoft.com/office/drawing/2014/main" id="{EADB277F-C518-4828-BD27-3F86AC391A5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This text file lists required Python packages and their versions. Record the versions used in the working environment; test them with the supplied run instructions.</a:t>
            </a:r>
          </a:p>
        </p:txBody>
      </p:sp>
      <p:sp>
        <p:nvSpPr>
          <p:cNvPr id="7" name="">
            <a:extLst xmlns:a="http://schemas.openxmlformats.org/drawingml/2006/main">
              <a:ext uri="{FF2B5EF4-FFF2-40B4-BE49-F238E27FC236}">
                <a16:creationId xmlns:a16="http://schemas.microsoft.com/office/drawing/2014/main" id="{35BDA275-5CFA-4996-B203-57324BFE291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B44CC86-4493-4213-9DA8-26FA26077BE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Data source, permission and seed</a:t>
            </a:r>
          </a:p>
        </p:txBody>
      </p:sp>
      <p:sp>
        <p:nvSpPr>
          <p:cNvPr id="9" name="">
            <a:extLst xmlns:a="http://schemas.openxmlformats.org/drawingml/2006/main">
              <a:ext uri="{FF2B5EF4-FFF2-40B4-BE49-F238E27FC236}">
                <a16:creationId xmlns:a16="http://schemas.microsoft.com/office/drawing/2014/main" id="{F6D74B01-0201-4BD3-86CA-5E853041C06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Name the data source and any licence or permission for reuse. Record random seeds used in modelling. A seed supports repeatability; it does not repair data leakage.</a:t>
            </a:r>
          </a:p>
        </p:txBody>
      </p:sp>
      <p:sp>
        <p:nvSpPr>
          <p:cNvPr id="10" name="">
            <a:extLst xmlns:a="http://schemas.openxmlformats.org/drawingml/2006/main">
              <a:ext uri="{FF2B5EF4-FFF2-40B4-BE49-F238E27FC236}">
                <a16:creationId xmlns:a16="http://schemas.microsoft.com/office/drawing/2014/main" id="{416B48DE-328E-46C4-9A2B-629266F6F1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15</a:t>
            </a:r>
          </a:p>
        </p:txBody>
      </p:sp>
    </p:spTree>
    <p:extLst>
      <p:ext uri="{BB962C8B-B14F-4D97-AF65-F5344CB8AC3E}">
        <p14:creationId xmlns:p14="http://schemas.microsoft.com/office/powerpoint/2010/main" val="120133797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A4D85EB-E3E9-4DB4-AF70-061B0E92D1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1DAF46-5EFE-4595-ABC8-E692413739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F37AB3F-D87E-44B0-AB31-6F7235C7FA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FCDAB531-1B1B-48A8-B0DE-BDF39E2F595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8C05AB-E7C8-4926-A069-2FF51F42658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Peer review</a:t>
            </a:r>
          </a:p>
        </p:txBody>
      </p:sp>
      <p:sp>
        <p:nvSpPr>
          <p:cNvPr id="6" name="">
            <a:extLst xmlns:a="http://schemas.openxmlformats.org/drawingml/2006/main">
              <a:ext uri="{FF2B5EF4-FFF2-40B4-BE49-F238E27FC236}">
                <a16:creationId xmlns:a16="http://schemas.microsoft.com/office/drawing/2014/main" id="{3CE782A0-92AF-4F01-9E0C-CCDA435E3B7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Someone else tests the instructions and reports a specific observation and suggested improvement.</a:t>
            </a:r>
          </a:p>
        </p:txBody>
      </p:sp>
      <p:sp>
        <p:nvSpPr>
          <p:cNvPr id="7" name="">
            <a:extLst xmlns:a="http://schemas.openxmlformats.org/drawingml/2006/main">
              <a:ext uri="{FF2B5EF4-FFF2-40B4-BE49-F238E27FC236}">
                <a16:creationId xmlns:a16="http://schemas.microsoft.com/office/drawing/2014/main" id="{CF0DFD28-AD8B-4A4E-8A1B-7BA7F09FDC20}"/>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63B000A-6A72-4736-929A-3B1D004A9186}"/>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Contribution evidence</a:t>
            </a:r>
          </a:p>
        </p:txBody>
      </p:sp>
      <p:sp>
        <p:nvSpPr>
          <p:cNvPr id="9" name="">
            <a:extLst xmlns:a="http://schemas.openxmlformats.org/drawingml/2006/main">
              <a:ext uri="{FF2B5EF4-FFF2-40B4-BE49-F238E27FC236}">
                <a16:creationId xmlns:a16="http://schemas.microsoft.com/office/drawing/2014/main" id="{945CE1AA-C28B-40CB-BE45-5E89A247AFE5}"/>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record of each person’s work, tied to files, commits or explanations. It does not require making a private repository public.</a:t>
            </a:r>
          </a:p>
        </p:txBody>
      </p:sp>
      <p:sp>
        <p:nvSpPr>
          <p:cNvPr id="10" name="">
            <a:extLst xmlns:a="http://schemas.openxmlformats.org/drawingml/2006/main">
              <a:ext uri="{FF2B5EF4-FFF2-40B4-BE49-F238E27FC236}">
                <a16:creationId xmlns:a16="http://schemas.microsoft.com/office/drawing/2014/main" id="{A3B5977D-72BF-47F6-977F-52AA4C8EEA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16</a:t>
            </a:r>
          </a:p>
        </p:txBody>
      </p:sp>
    </p:spTree>
    <p:extLst>
      <p:ext uri="{BB962C8B-B14F-4D97-AF65-F5344CB8AC3E}">
        <p14:creationId xmlns:p14="http://schemas.microsoft.com/office/powerpoint/2010/main" val="88267291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67DB121-BCB3-4F2A-A69E-C60677747F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D571397-A3FB-41CF-AC17-F43FDC12E8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6F11C42-03C3-41AD-A33D-FF2029ED8B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Useful feedback identifies an exact repair</a:t>
            </a:r>
          </a:p>
        </p:txBody>
      </p:sp>
      <p:sp>
        <p:nvSpPr>
          <p:cNvPr id="4" name="">
            <a:extLst xmlns:a="http://schemas.openxmlformats.org/drawingml/2006/main">
              <a:ext uri="{FF2B5EF4-FFF2-40B4-BE49-F238E27FC236}">
                <a16:creationId xmlns:a16="http://schemas.microsoft.com/office/drawing/2014/main" id="{33CE52C6-DAFA-415E-B34C-0B4254423F3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A817304-CB1E-4562-A181-C66B37797F7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Vague feedback: "It does not work."</a:t>
            </a:r>
          </a:p>
        </p:txBody>
      </p:sp>
      <p:sp>
        <p:nvSpPr>
          <p:cNvPr id="6" name="">
            <a:extLst xmlns:a="http://schemas.openxmlformats.org/drawingml/2006/main">
              <a:ext uri="{FF2B5EF4-FFF2-40B4-BE49-F238E27FC236}">
                <a16:creationId xmlns:a16="http://schemas.microsoft.com/office/drawing/2014/main" id="{F154DB90-E175-472C-93C6-0E87DDE6A9E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58ACD09-DE4A-4309-910A-90A98138328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Useful feedback: "Step 2 names data.csv, but the supplied file is readings.csv."</a:t>
            </a:r>
          </a:p>
        </p:txBody>
      </p:sp>
      <p:sp>
        <p:nvSpPr>
          <p:cNvPr id="8" name="">
            <a:extLst xmlns:a="http://schemas.openxmlformats.org/drawingml/2006/main">
              <a:ext uri="{FF2B5EF4-FFF2-40B4-BE49-F238E27FC236}">
                <a16:creationId xmlns:a16="http://schemas.microsoft.com/office/drawing/2014/main" id="{9E653F7F-FA53-4EB0-A00B-F7501489FB6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D45505F-6D70-4918-87ED-68DB19F5D707}"/>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repair is to make the instructions and actual filename agree.</a:t>
            </a:r>
          </a:p>
        </p:txBody>
      </p:sp>
      <p:sp>
        <p:nvSpPr>
          <p:cNvPr id="10" name="">
            <a:extLst xmlns:a="http://schemas.openxmlformats.org/drawingml/2006/main">
              <a:ext uri="{FF2B5EF4-FFF2-40B4-BE49-F238E27FC236}">
                <a16:creationId xmlns:a16="http://schemas.microsoft.com/office/drawing/2014/main" id="{52DF1DEF-9BCD-4854-A98B-F9CC4D3A2C2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17</a:t>
            </a:r>
          </a:p>
        </p:txBody>
      </p:sp>
    </p:spTree>
    <p:extLst>
      <p:ext uri="{BB962C8B-B14F-4D97-AF65-F5344CB8AC3E}">
        <p14:creationId xmlns:p14="http://schemas.microsoft.com/office/powerpoint/2010/main" val="36011322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E30F8CE-8047-4AA8-B689-830A26FD46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4838BE-19FF-4022-B65B-A7A27AA60B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32F6842C-F5C4-4E55-B469-A9051E5FE6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 are a new project user</a:t>
            </a:r>
          </a:p>
        </p:txBody>
      </p:sp>
      <p:sp>
        <p:nvSpPr>
          <p:cNvPr id="4" name="">
            <a:extLst xmlns:a="http://schemas.openxmlformats.org/drawingml/2006/main">
              <a:ext uri="{FF2B5EF4-FFF2-40B4-BE49-F238E27FC236}">
                <a16:creationId xmlns:a16="http://schemas.microsoft.com/office/drawing/2014/main" id="{F15B3278-DCC0-4611-B611-83E700E94DCB}"/>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B3D4431-7D85-498F-9BA0-022B57BE31F4}"/>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Exchange your README and files with a partner.</a:t>
            </a:r>
          </a:p>
        </p:txBody>
      </p:sp>
      <p:sp>
        <p:nvSpPr>
          <p:cNvPr id="6" name="">
            <a:extLst xmlns:a="http://schemas.openxmlformats.org/drawingml/2006/main">
              <a:ext uri="{FF2B5EF4-FFF2-40B4-BE49-F238E27FC236}">
                <a16:creationId xmlns:a16="http://schemas.microsoft.com/office/drawing/2014/main" id="{C8A461D9-FDA6-4682-A698-CEC8A2FA28AA}"/>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B259236-91E6-42F8-A890-9101229EDF1B}"/>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partner follows the instructions in a fresh session without verbal hints.</a:t>
            </a:r>
          </a:p>
        </p:txBody>
      </p:sp>
      <p:sp>
        <p:nvSpPr>
          <p:cNvPr id="8" name="">
            <a:extLst xmlns:a="http://schemas.openxmlformats.org/drawingml/2006/main">
              <a:ext uri="{FF2B5EF4-FFF2-40B4-BE49-F238E27FC236}">
                <a16:creationId xmlns:a16="http://schemas.microsoft.com/office/drawing/2014/main" id="{687A89D9-921E-4CC8-8E75-C032D383F63E}"/>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D21D41-2C0D-4A35-9D0B-F0B39A905CC4}"/>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the first missing or ambiguous step, repair it and retry.</a:t>
            </a:r>
          </a:p>
        </p:txBody>
      </p:sp>
      <p:sp>
        <p:nvSpPr>
          <p:cNvPr id="10" name="">
            <a:extLst xmlns:a="http://schemas.openxmlformats.org/drawingml/2006/main">
              <a:ext uri="{FF2B5EF4-FFF2-40B4-BE49-F238E27FC236}">
                <a16:creationId xmlns:a16="http://schemas.microsoft.com/office/drawing/2014/main" id="{2B5FA62D-1671-4C8B-BBC5-CA0E589E0D59}"/>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57C0653-A22E-4C8A-995C-93EBA52A78C1}"/>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xmlns:a="http://schemas.openxmlformats.org/drawingml/2006/main">
              <a:ext uri="{FF2B5EF4-FFF2-40B4-BE49-F238E27FC236}">
                <a16:creationId xmlns:a16="http://schemas.microsoft.com/office/drawing/2014/main" id="{5F540257-8586-47F2-8964-780D817885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18</a:t>
            </a:r>
          </a:p>
        </p:txBody>
      </p:sp>
    </p:spTree>
    <p:extLst>
      <p:ext uri="{BB962C8B-B14F-4D97-AF65-F5344CB8AC3E}">
        <p14:creationId xmlns:p14="http://schemas.microsoft.com/office/powerpoint/2010/main" val="22869615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38522C8-2697-452E-83FC-7628E02241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E919F57-B61D-4284-AE21-513ABCA2B42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207A7B6E-002A-464E-9723-57B43B7EAD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3B799E88-A69A-418E-8F64-17A223EFDBE3}"/>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77B71F9-DB6C-43B3-8D52-ECCC9F0B7EC7}"/>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Success means the instructions produce the stated result. Record the observed issue rather than simply writing "works".</a:t>
            </a:r>
          </a:p>
        </p:txBody>
      </p:sp>
      <p:sp>
        <p:nvSpPr>
          <p:cNvPr id="6" name="">
            <a:extLst xmlns:a="http://schemas.openxmlformats.org/drawingml/2006/main">
              <a:ext uri="{FF2B5EF4-FFF2-40B4-BE49-F238E27FC236}">
                <a16:creationId xmlns:a16="http://schemas.microsoft.com/office/drawing/2014/main" id="{4906E53C-8B3B-455F-A3D5-F07DB8AEEDEC}"/>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89B39358-7A95-46A4-A851-681B198451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19</a:t>
            </a:r>
          </a:p>
        </p:txBody>
      </p:sp>
    </p:spTree>
    <p:extLst>
      <p:ext uri="{BB962C8B-B14F-4D97-AF65-F5344CB8AC3E}">
        <p14:creationId xmlns:p14="http://schemas.microsoft.com/office/powerpoint/2010/main" val="777353068"/>
      </p:ext>
    </p:extLst>
  </p:cSld>
</p:sld>
</file>

<file path=ppt/slides/slide20.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A79F8D2-0181-4599-A906-BD95765FD6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407015F7-4FF5-4078-A5D6-2CB952F088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A175F067-EFCD-4E82-B762-DD0439D8A205}"/>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3C2ED3A5-48FB-414C-B28C-FBBFD9A8B255}"/>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Ask a partner to follow your README without verbal help. Record the first step that fails.</a:t>
            </a:r>
          </a:p>
        </p:txBody>
      </p:sp>
      <p:sp>
        <p:nvSpPr>
          <p:cNvPr id="5" name="">
            <a:extLst xmlns:a="http://schemas.openxmlformats.org/drawingml/2006/main">
              <a:ext uri="{FF2B5EF4-FFF2-40B4-BE49-F238E27FC236}">
                <a16:creationId xmlns:a16="http://schemas.microsoft.com/office/drawing/2014/main" id="{356BBC78-D26D-4DC2-8D6B-4CFFC54C8135}"/>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F4E4954A-8EBA-4F68-8A62-F90C5ABD38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13   20</a:t>
            </a:r>
          </a:p>
        </p:txBody>
      </p:sp>
    </p:spTree>
    <p:extLst>
      <p:ext uri="{BB962C8B-B14F-4D97-AF65-F5344CB8AC3E}">
        <p14:creationId xmlns:p14="http://schemas.microsoft.com/office/powerpoint/2010/main" val="2221344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941C33F-D0D2-4538-8688-33E93C9E1A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35202F8-37F3-4CE3-97CF-316E25134F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5473B810-DE10-4CF2-9876-D68314BDCC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BDABEB4B-FBE6-45F4-A4CA-8738453EF71C}"/>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DDB806-1212-4213-BA62-2B7D13E0CECE}"/>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Revise that step and repeat. A claim that the notebook runs is supported by a fresh run, not by saved outputs alone.</a:t>
            </a:r>
          </a:p>
        </p:txBody>
      </p:sp>
      <p:sp>
        <p:nvSpPr>
          <p:cNvPr id="6" name="">
            <a:extLst xmlns:a="http://schemas.openxmlformats.org/drawingml/2006/main">
              <a:ext uri="{FF2B5EF4-FFF2-40B4-BE49-F238E27FC236}">
                <a16:creationId xmlns:a16="http://schemas.microsoft.com/office/drawing/2014/main" id="{AC35D624-6D6B-4B29-A761-68A4EB902D66}"/>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0DDB6836-A233-4166-A1A7-8BF7E7446D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21</a:t>
            </a:r>
          </a:p>
        </p:txBody>
      </p:sp>
    </p:spTree>
    <p:extLst>
      <p:ext uri="{BB962C8B-B14F-4D97-AF65-F5344CB8AC3E}">
        <p14:creationId xmlns:p14="http://schemas.microsoft.com/office/powerpoint/2010/main" val="202260011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D70A07B-F72B-4909-B331-623219F285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4466601-E3AF-49C1-9E68-FCE7130088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1A23B82E-BF4A-4BE5-8796-02BF6B4D3DF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Short explainer and discussion</a:t>
            </a:r>
          </a:p>
        </p:txBody>
      </p:sp>
      <p:sp>
        <p:nvSpPr>
          <p:cNvPr id="4" name="">
            <a:extLst xmlns:a="http://schemas.openxmlformats.org/drawingml/2006/main">
              <a:ext uri="{FF2B5EF4-FFF2-40B4-BE49-F238E27FC236}">
                <a16:creationId xmlns:a16="http://schemas.microsoft.com/office/drawing/2014/main" id="{36A032CA-7D73-4926-BE3F-5AE89118B8C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C123774-0CB2-4DE5-8DAF-C9F259062C21}"/>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CodeWithChris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GitHub Tutorial for Beginners (2025)</a:t>
            </a:r>
          </a:p>
        </p:txBody>
      </p:sp>
      <p:sp>
        <p:nvSpPr>
          <p:cNvPr id="6" name="">
            <a:extLst xmlns:a="http://schemas.openxmlformats.org/drawingml/2006/main">
              <a:ext uri="{FF2B5EF4-FFF2-40B4-BE49-F238E27FC236}">
                <a16:creationId xmlns:a16="http://schemas.microsoft.com/office/drawing/2014/main" id="{1539032A-98A2-4649-B344-348F0A6A1309}"/>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E2AB78A-6D78-47EF-8672-37BC783434A6}"/>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00:00–02:10, then 03:35–06:08 (4 min 43 sec total)</a:t>
            </a:r>
          </a:p>
        </p:txBody>
      </p:sp>
      <p:sp>
        <p:nvSpPr>
          <p:cNvPr id="8" name="">
            <a:extLst xmlns:a="http://schemas.openxmlformats.org/drawingml/2006/main">
              <a:ext uri="{FF2B5EF4-FFF2-40B4-BE49-F238E27FC236}">
                <a16:creationId xmlns:a16="http://schemas.microsoft.com/office/drawing/2014/main" id="{1CB2EF07-2785-4E0B-8D02-CCB885935846}"/>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5D224F7-728B-40AA-AD95-8A82E74FD979}"/>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keep history, and what is a repository?</a:t>
            </a:r>
          </a:p>
        </p:txBody>
      </p:sp>
      <p:sp>
        <p:nvSpPr>
          <p:cNvPr id="10" name="">
            <a:extLst xmlns:a="http://schemas.openxmlformats.org/drawingml/2006/main">
              <a:ext uri="{FF2B5EF4-FFF2-40B4-BE49-F238E27FC236}">
                <a16:creationId xmlns:a16="http://schemas.microsoft.com/office/drawing/2014/main" id="{9DCD7D46-81F5-45E3-A639-29F687B7D20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1C6130E-C275-491F-A460-5DB05FC8163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c8cfdfd585cc4686"/>
              </a:rPr>
              <a:t>Open explainer video</a:t>
            </a:r>
          </a:p>
        </p:txBody>
      </p:sp>
      <p:sp>
        <p:nvSpPr>
          <p:cNvPr id="12" name="">
            <a:extLst xmlns:a="http://schemas.openxmlformats.org/drawingml/2006/main">
              <a:ext uri="{FF2B5EF4-FFF2-40B4-BE49-F238E27FC236}">
                <a16:creationId xmlns:a16="http://schemas.microsoft.com/office/drawing/2014/main" id="{7C0AE499-91F8-4F44-9995-756436040A8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https://www.youtube.com/watch?v=v5gnvDUWqFM</a:t>
            </a:r>
          </a:p>
        </p:txBody>
      </p:sp>
      <p:sp>
        <p:nvSpPr>
          <p:cNvPr id="13" name="">
            <a:extLst xmlns:a="http://schemas.openxmlformats.org/drawingml/2006/main">
              <a:ext uri="{FF2B5EF4-FFF2-40B4-BE49-F238E27FC236}">
                <a16:creationId xmlns:a16="http://schemas.microsoft.com/office/drawing/2014/main" id="{B6D5BD8E-D81D-416C-9EB8-F5B161C6FF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22</a:t>
            </a:r>
          </a:p>
        </p:txBody>
      </p:sp>
    </p:spTree>
    <p:extLst>
      <p:ext uri="{BB962C8B-B14F-4D97-AF65-F5344CB8AC3E}">
        <p14:creationId xmlns:p14="http://schemas.microsoft.com/office/powerpoint/2010/main" val="726278820"/>
      </p:ext>
    </p:extLst>
  </p:cSld>
</p:sld>
</file>

<file path=ppt/slides/slide2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B0906AB-1A52-4ECB-AF3A-3EE57F35AF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DCAC9B92-AC3A-4688-A86F-B0B30A46B5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After the video</a:t>
            </a:r>
          </a:p>
        </p:txBody>
      </p:sp>
      <p:sp>
        <p:nvSpPr>
          <p:cNvPr id="3" name="">
            <a:extLst xmlns:a="http://schemas.openxmlformats.org/drawingml/2006/main">
              <a:ext uri="{FF2B5EF4-FFF2-40B4-BE49-F238E27FC236}">
                <a16:creationId xmlns:a16="http://schemas.microsoft.com/office/drawing/2014/main" id="{66673077-9F68-4581-8BC2-5A5C9BA14B55}"/>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473ECA95-4B14-43D7-8844-1AA0F90B4673}"/>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the difference between saving a file and recording a commit. Then make one browser-based commit.</a:t>
            </a:r>
          </a:p>
        </p:txBody>
      </p:sp>
      <p:sp>
        <p:nvSpPr>
          <p:cNvPr id="5" name="">
            <a:extLst xmlns:a="http://schemas.openxmlformats.org/drawingml/2006/main">
              <a:ext uri="{FF2B5EF4-FFF2-40B4-BE49-F238E27FC236}">
                <a16:creationId xmlns:a16="http://schemas.microsoft.com/office/drawing/2014/main" id="{A157F94A-B02C-48BC-85AE-B10D3D643813}"/>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7943E040-B976-4D54-9C19-D9B722CF12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13   23</a:t>
            </a:r>
          </a:p>
        </p:txBody>
      </p:sp>
    </p:spTree>
    <p:extLst>
      <p:ext uri="{BB962C8B-B14F-4D97-AF65-F5344CB8AC3E}">
        <p14:creationId xmlns:p14="http://schemas.microsoft.com/office/powerpoint/2010/main" val="25132357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F8C7DE9-749C-407D-91C7-ACA5E1D715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80F8ADA-7F2B-4F73-A47E-72A88F7C6A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E64FC83-657D-42C6-815D-CAD46095ED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E13E27DF-21D7-4BD6-90D9-B5ECDD1D67B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2C86B2D-8DEB-4F99-B505-57BA5144607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new weekly assignment.</a:t>
            </a:r>
          </a:p>
        </p:txBody>
      </p:sp>
      <p:sp>
        <p:nvSpPr>
          <p:cNvPr id="6" name="">
            <a:extLst xmlns:a="http://schemas.openxmlformats.org/drawingml/2006/main">
              <a:ext uri="{FF2B5EF4-FFF2-40B4-BE49-F238E27FC236}">
                <a16:creationId xmlns:a16="http://schemas.microsoft.com/office/drawing/2014/main" id="{2F27D8A7-E039-4D4A-A09B-F08E6A83527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93338F6-681A-47D6-A097-99D41329012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Continue the official project deliverables and Week 13 quiz.</a:t>
            </a:r>
          </a:p>
        </p:txBody>
      </p:sp>
      <p:sp>
        <p:nvSpPr>
          <p:cNvPr id="8" name="">
            <a:extLst xmlns:a="http://schemas.openxmlformats.org/drawingml/2006/main">
              <a:ext uri="{FF2B5EF4-FFF2-40B4-BE49-F238E27FC236}">
                <a16:creationId xmlns:a16="http://schemas.microsoft.com/office/drawing/2014/main" id="{17F71632-172D-4C23-93FF-7FDBE61CC2E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3FC6CAE-32D4-4C05-952E-606B2E3D878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Rehearse offline TEST2 saving and the published function interfaces before Week 14.</a:t>
            </a:r>
          </a:p>
        </p:txBody>
      </p:sp>
      <p:sp>
        <p:nvSpPr>
          <p:cNvPr id="10" name="">
            <a:extLst xmlns:a="http://schemas.openxmlformats.org/drawingml/2006/main">
              <a:ext uri="{FF2B5EF4-FFF2-40B4-BE49-F238E27FC236}">
                <a16:creationId xmlns:a16="http://schemas.microsoft.com/office/drawing/2014/main" id="{92E0E205-B83D-4813-8AC1-32B377C5BED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1F9B43E-5E20-4CA8-8E5D-6785FD1B9F3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add an extra upload.</a:t>
            </a:r>
          </a:p>
        </p:txBody>
      </p:sp>
      <p:sp>
        <p:nvSpPr>
          <p:cNvPr id="12" name="">
            <a:extLst xmlns:a="http://schemas.openxmlformats.org/drawingml/2006/main">
              <a:ext uri="{FF2B5EF4-FFF2-40B4-BE49-F238E27FC236}">
                <a16:creationId xmlns:a16="http://schemas.microsoft.com/office/drawing/2014/main" id="{D78A8B92-EE6B-4D64-9A05-5E2FCC7551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24</a:t>
            </a:r>
          </a:p>
        </p:txBody>
      </p:sp>
    </p:spTree>
    <p:extLst>
      <p:ext uri="{BB962C8B-B14F-4D97-AF65-F5344CB8AC3E}">
        <p14:creationId xmlns:p14="http://schemas.microsoft.com/office/powerpoint/2010/main" val="186435061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78AEF7D-497F-4B6F-A655-A9C2624F00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AB4F5AB-018B-4254-83C2-D40D968BC2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CBAE045-BA1C-42EB-B4F5-0EE433F28E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a:t>
            </a:r>
          </a:p>
        </p:txBody>
      </p:sp>
      <p:sp>
        <p:nvSpPr>
          <p:cNvPr id="4" name="">
            <a:extLst xmlns:a="http://schemas.openxmlformats.org/drawingml/2006/main">
              <a:ext uri="{FF2B5EF4-FFF2-40B4-BE49-F238E27FC236}">
                <a16:creationId xmlns:a16="http://schemas.microsoft.com/office/drawing/2014/main" id="{528781F4-9B47-4D13-8895-964DE2C1CA3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B7D5854-84D1-4549-BB3D-101E1848BA6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absolute path from your own computer will usually fail elsewhere.</a:t>
            </a:r>
          </a:p>
        </p:txBody>
      </p:sp>
      <p:sp>
        <p:nvSpPr>
          <p:cNvPr id="6" name="">
            <a:extLst xmlns:a="http://schemas.openxmlformats.org/drawingml/2006/main">
              <a:ext uri="{FF2B5EF4-FFF2-40B4-BE49-F238E27FC236}">
                <a16:creationId xmlns:a16="http://schemas.microsoft.com/office/drawing/2014/main" id="{0059C136-D341-41B9-AE21-17705AFDD43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7CAF929-AF28-4B1F-A1C2-FF9E1AC1F08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starts from the current working folder.</a:t>
            </a:r>
          </a:p>
        </p:txBody>
      </p:sp>
      <p:sp>
        <p:nvSpPr>
          <p:cNvPr id="8" name="">
            <a:extLst xmlns:a="http://schemas.openxmlformats.org/drawingml/2006/main">
              <a:ext uri="{FF2B5EF4-FFF2-40B4-BE49-F238E27FC236}">
                <a16:creationId xmlns:a16="http://schemas.microsoft.com/office/drawing/2014/main" id="{D9CB81D6-0000-4270-91AA-F9D446AB086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C780828-13BD-44C9-AA55-1F20B4AF931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dependencies and actual versions, and fix randomness where appropriate; identical results across all machines are not guaranteed by a seed alone.</a:t>
            </a:r>
          </a:p>
        </p:txBody>
      </p:sp>
      <p:sp>
        <p:nvSpPr>
          <p:cNvPr id="10" name="">
            <a:extLst xmlns:a="http://schemas.openxmlformats.org/drawingml/2006/main">
              <a:ext uri="{FF2B5EF4-FFF2-40B4-BE49-F238E27FC236}">
                <a16:creationId xmlns:a16="http://schemas.microsoft.com/office/drawing/2014/main" id="{8DCFB9E0-3FC8-4ABC-9A5E-70762242729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7C98217-2056-44A8-AE9F-D89B128C15B0}"/>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Captions should state a supported finding and its scope.</a:t>
            </a:r>
          </a:p>
        </p:txBody>
      </p:sp>
      <p:sp>
        <p:nvSpPr>
          <p:cNvPr id="12" name="">
            <a:extLst xmlns:a="http://schemas.openxmlformats.org/drawingml/2006/main">
              <a:ext uri="{FF2B5EF4-FFF2-40B4-BE49-F238E27FC236}">
                <a16:creationId xmlns:a16="http://schemas.microsoft.com/office/drawing/2014/main" id="{2E330EF5-7646-445B-B37E-B5950669DD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25</a:t>
            </a:r>
          </a:p>
        </p:txBody>
      </p:sp>
    </p:spTree>
    <p:extLst>
      <p:ext uri="{BB962C8B-B14F-4D97-AF65-F5344CB8AC3E}">
        <p14:creationId xmlns:p14="http://schemas.microsoft.com/office/powerpoint/2010/main" val="1969194024"/>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A4EF3DC-9541-4C41-BFBF-DB73D198D26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0DFEACE-C097-44F4-8161-BF9A419674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696D46B-9DE4-4469-8B74-4A2F589C0A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 continued</a:t>
            </a:r>
          </a:p>
        </p:txBody>
      </p:sp>
      <p:sp>
        <p:nvSpPr>
          <p:cNvPr id="4" name="">
            <a:extLst xmlns:a="http://schemas.openxmlformats.org/drawingml/2006/main">
              <a:ext uri="{FF2B5EF4-FFF2-40B4-BE49-F238E27FC236}">
                <a16:creationId xmlns:a16="http://schemas.microsoft.com/office/drawing/2014/main" id="{5BC8DBB2-B3D9-4B6D-8B44-CF206EF75893}"/>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BB53811-D19F-497D-9E9F-BAF0E0FBF0F1}"/>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Remove conflicting cell assignments and verify a fresh run before submission.</a:t>
            </a:r>
          </a:p>
        </p:txBody>
      </p:sp>
      <p:sp>
        <p:nvSpPr>
          <p:cNvPr id="6" name="">
            <a:extLst xmlns:a="http://schemas.openxmlformats.org/drawingml/2006/main">
              <a:ext uri="{FF2B5EF4-FFF2-40B4-BE49-F238E27FC236}">
                <a16:creationId xmlns:a16="http://schemas.microsoft.com/office/drawing/2014/main" id="{5E318AFA-E103-49B9-BD48-D398D799E9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26</a:t>
            </a:r>
          </a:p>
        </p:txBody>
      </p:sp>
    </p:spTree>
    <p:extLst>
      <p:ext uri="{BB962C8B-B14F-4D97-AF65-F5344CB8AC3E}">
        <p14:creationId xmlns:p14="http://schemas.microsoft.com/office/powerpoint/2010/main" val="180660809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1E50290-63E1-4245-8BEA-C838BF2A193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2DAD21A-1ABF-4050-828B-494FE97004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FB514DD-84F2-4DE8-AA50-F0F2E2824A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F5543B14-185B-412A-AABB-A7895FD9106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A882698-1A86-4D94-8DA8-F9F54AAAAE1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94610F34-6701-4316-A0C2-EB1AF2600CB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A875043-48AA-4C70-981F-AE199396F37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6C0CBDF9-690B-4712-83D9-87C3A56E839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9EB4225-0EF7-4FEE-90EA-E45614DB5B2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EA3DF581-3FC3-41CC-9876-2B3EA9BEDB5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482C858-0BC3-4672-A7EF-489A8EDF62D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11:00 Kampala</a:t>
            </a:r>
          </a:p>
        </p:txBody>
      </p:sp>
      <p:sp>
        <p:nvSpPr>
          <p:cNvPr id="12" name="">
            <a:extLst xmlns:a="http://schemas.openxmlformats.org/drawingml/2006/main">
              <a:ext uri="{FF2B5EF4-FFF2-40B4-BE49-F238E27FC236}">
                <a16:creationId xmlns:a16="http://schemas.microsoft.com/office/drawing/2014/main" id="{68AD2F12-5AF5-4C67-96A6-B367838612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27</a:t>
            </a:r>
          </a:p>
        </p:txBody>
      </p:sp>
    </p:spTree>
    <p:extLst>
      <p:ext uri="{BB962C8B-B14F-4D97-AF65-F5344CB8AC3E}">
        <p14:creationId xmlns:p14="http://schemas.microsoft.com/office/powerpoint/2010/main" val="202749869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0527D5F-A678-476B-9DAA-771CBC1DFC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7372965-C68E-4192-A103-4E4B3ED7E2E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A57984CC-11E1-4AAD-B490-3752067555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13 quiz</a:t>
            </a:r>
          </a:p>
        </p:txBody>
      </p:sp>
      <p:sp>
        <p:nvSpPr>
          <p:cNvPr id="4" name="">
            <a:extLst xmlns:a="http://schemas.openxmlformats.org/drawingml/2006/main">
              <a:ext uri="{FF2B5EF4-FFF2-40B4-BE49-F238E27FC236}">
                <a16:creationId xmlns:a16="http://schemas.microsoft.com/office/drawing/2014/main" id="{B8742E21-4711-401F-B058-ED4767FF36B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205E84E-44D8-4818-A0AD-9067C10372A6}"/>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478F3001-F03C-4E7F-8021-D0597738CB6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FC3B076-6228-456E-88AC-A55921CAA610}"/>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E0706A76-0F2F-4311-BF6E-8B8E1BB1716E}"/>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644460E-AEEC-4418-80DF-BB255969184D}"/>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7230E4F7-3FF0-422A-B231-6F1FBAB58DAB}"/>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1712E54-CF20-4EBA-84D2-A36C26F0686E}"/>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da9a8026008e466e"/>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C4A6A143-E993-4B5E-B9C4-1D0CEB3A8682}"/>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EC0F64C8-4150-43F8-AD88-40DA27E5B6B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4055807-F246-4E55-A13F-6B6BC5454BE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4b759bb82ad49d6"/>
              </a:rPr>
              <a:t>Open this week’s quiz</a:t>
            </a:r>
          </a:p>
        </p:txBody>
      </p:sp>
      <p:sp>
        <p:nvSpPr>
          <p:cNvPr id="16" name="">
            <a:extLst xmlns:a="http://schemas.openxmlformats.org/drawingml/2006/main">
              <a:ext uri="{FF2B5EF4-FFF2-40B4-BE49-F238E27FC236}">
                <a16:creationId xmlns:a16="http://schemas.microsoft.com/office/drawing/2014/main" id="{65C49C7C-81BB-450F-ADA3-E15481800854}"/>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https://forms.gle/ameQRYSJ5kfrpcKWA</a:t>
            </a:r>
          </a:p>
        </p:txBody>
      </p:sp>
      <p:sp>
        <p:nvSpPr>
          <p:cNvPr id="17" name="">
            <a:extLst xmlns:a="http://schemas.openxmlformats.org/drawingml/2006/main">
              <a:ext uri="{FF2B5EF4-FFF2-40B4-BE49-F238E27FC236}">
                <a16:creationId xmlns:a16="http://schemas.microsoft.com/office/drawing/2014/main" id="{324FA91C-5C51-400B-9137-8AA8E73D04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28</a:t>
            </a:r>
          </a:p>
        </p:txBody>
      </p:sp>
    </p:spTree>
    <p:extLst>
      <p:ext uri="{BB962C8B-B14F-4D97-AF65-F5344CB8AC3E}">
        <p14:creationId xmlns:p14="http://schemas.microsoft.com/office/powerpoint/2010/main" val="1455804810"/>
      </p:ext>
    </p:extLst>
  </p:cSld>
</p:sld>
</file>

<file path=ppt/slides/slide29.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F3E4C99-2B12-41A6-AAAD-C8ABD191BF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CF82FD1D-5F83-4690-A6DC-FA0ECA7C57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FA321C6E-0FA8-4030-8355-35F04EC6E2FB}"/>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B067D5F0-CB99-485B-BD73-B0A8517FEB09}"/>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Another learner can follow your README and reproduce the stated result.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949EC814-AA48-4EDC-A52F-7198D8C4168F}"/>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0B969C4F-738D-4C83-8B64-ED414391720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13   29</a:t>
            </a:r>
          </a:p>
        </p:txBody>
      </p:sp>
    </p:spTree>
    <p:extLst>
      <p:ext uri="{BB962C8B-B14F-4D97-AF65-F5344CB8AC3E}">
        <p14:creationId xmlns:p14="http://schemas.microsoft.com/office/powerpoint/2010/main" val="87245317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2026-09-16T11:11:06.5680000Z</dcterms:created>
  <dcterms:modified xsi:type="dcterms:W3CDTF">2026-09-16T11:11:06.5680000Z</dcterms:modified>
</coreProperties>
</file>