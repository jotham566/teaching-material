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c373727ca2c4a34" /><Relationship Type="http://schemas.openxmlformats.org/officeDocument/2006/relationships/extended-properties" Target="/docProps/app.xml" Id="R4fbdb8a78ad7413d" /><Relationship Type="http://schemas.openxmlformats.org/officeDocument/2006/relationships/officeDocument" Target="/ppt/presentation.xml" Id="Rb53f8f5d27874592" /></Relationships>
</file>

<file path=ppt/presentation.xml><?xml version="1.0" encoding="utf-8"?>
<p:presentation xmlns:p="http://schemas.openxmlformats.org/presentationml/2006/main">
  <p:sldMasterIdLst>
    <p:sldMasterId xmlns:r="http://schemas.openxmlformats.org/officeDocument/2006/relationships" id="2147483648" r:id="Rb635581764be4f4c"/>
  </p:sldMasterIdLst>
  <p:notesMasterIdLst>
    <p:notesMasterId xmlns:r="http://schemas.openxmlformats.org/officeDocument/2006/relationships" r:id="R6d6e7bd7472044a0"/>
  </p:notesMasterIdLst>
  <p:sldIdLst>
    <p:sldId xmlns:r="http://schemas.openxmlformats.org/officeDocument/2006/relationships" id="256" r:id="R1b413e00fdda4146"/>
    <p:sldId xmlns:r="http://schemas.openxmlformats.org/officeDocument/2006/relationships" id="257" r:id="Rae40ec2af74b49b7"/>
    <p:sldId xmlns:r="http://schemas.openxmlformats.org/officeDocument/2006/relationships" id="258" r:id="Rddb5cafc9bda4f89"/>
    <p:sldId xmlns:r="http://schemas.openxmlformats.org/officeDocument/2006/relationships" id="259" r:id="Raf7232a8e5ab4659"/>
    <p:sldId xmlns:r="http://schemas.openxmlformats.org/officeDocument/2006/relationships" id="260" r:id="R738482ac49a84eb7"/>
    <p:sldId xmlns:r="http://schemas.openxmlformats.org/officeDocument/2006/relationships" id="261" r:id="R32d6501a5f60490d"/>
    <p:sldId xmlns:r="http://schemas.openxmlformats.org/officeDocument/2006/relationships" id="262" r:id="R68c1e777194c4c3f"/>
    <p:sldId xmlns:r="http://schemas.openxmlformats.org/officeDocument/2006/relationships" id="263" r:id="Rd35ff388cbb04b5c"/>
    <p:sldId xmlns:r="http://schemas.openxmlformats.org/officeDocument/2006/relationships" id="264" r:id="Reaf2d4bf5abc4a68"/>
    <p:sldId xmlns:r="http://schemas.openxmlformats.org/officeDocument/2006/relationships" id="265" r:id="R9170d33c12884e0a"/>
    <p:sldId xmlns:r="http://schemas.openxmlformats.org/officeDocument/2006/relationships" id="266" r:id="R0d8b71f6285b42fd"/>
    <p:sldId xmlns:r="http://schemas.openxmlformats.org/officeDocument/2006/relationships" id="267" r:id="R22d9a1ca668e4b5c"/>
    <p:sldId xmlns:r="http://schemas.openxmlformats.org/officeDocument/2006/relationships" id="268" r:id="Rdd7bb1698263493e"/>
    <p:sldId xmlns:r="http://schemas.openxmlformats.org/officeDocument/2006/relationships" id="269" r:id="Rfe6741c9dbd44753"/>
    <p:sldId xmlns:r="http://schemas.openxmlformats.org/officeDocument/2006/relationships" id="270" r:id="Rd22752280bc6401d"/>
    <p:sldId xmlns:r="http://schemas.openxmlformats.org/officeDocument/2006/relationships" id="271" r:id="R6a6fb698b8cc4df1"/>
    <p:sldId xmlns:r="http://schemas.openxmlformats.org/officeDocument/2006/relationships" id="272" r:id="R0df197b66a6f428a"/>
    <p:sldId xmlns:r="http://schemas.openxmlformats.org/officeDocument/2006/relationships" id="273" r:id="R2db4bd282d104a70"/>
    <p:sldId xmlns:r="http://schemas.openxmlformats.org/officeDocument/2006/relationships" id="274" r:id="Rb2d89d522a704827"/>
    <p:sldId xmlns:r="http://schemas.openxmlformats.org/officeDocument/2006/relationships" id="275" r:id="Ree9b8d2df2db4138"/>
    <p:sldId xmlns:r="http://schemas.openxmlformats.org/officeDocument/2006/relationships" id="276" r:id="Refb8f0f699304a9d"/>
    <p:sldId xmlns:r="http://schemas.openxmlformats.org/officeDocument/2006/relationships" id="277" r:id="R759fdcb5fe354221"/>
    <p:sldId xmlns:r="http://schemas.openxmlformats.org/officeDocument/2006/relationships" id="278" r:id="R110d778b7b754b3e"/>
    <p:sldId xmlns:r="http://schemas.openxmlformats.org/officeDocument/2006/relationships" id="279" r:id="Rb2a6ca1b827e4906"/>
    <p:sldId xmlns:r="http://schemas.openxmlformats.org/officeDocument/2006/relationships" id="280" r:id="R8e97fd0ceebc440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cca591d176a4737" /><Relationship Type="http://schemas.openxmlformats.org/officeDocument/2006/relationships/slideMaster" Target="/ppt/slideMasters/slideMaster1.xml" Id="Rb635581764be4f4c" /><Relationship Type="http://schemas.openxmlformats.org/officeDocument/2006/relationships/notesMaster" Target="/ppt/notesMasters/notesMaster1.xml" Id="R6d6e7bd7472044a0" /><Relationship Type="http://schemas.openxmlformats.org/officeDocument/2006/relationships/presProps" Target="/ppt/presProps.xml" Id="Rbfc3b81c927b4edb" /><Relationship Type="http://schemas.openxmlformats.org/officeDocument/2006/relationships/tableStyles" Target="/ppt/tableStyles.xml" Id="R873745466d13481d" /><Relationship Type="http://schemas.openxmlformats.org/officeDocument/2006/relationships/slide" Target="/ppt/slides/slide1.xml" Id="R1b413e00fdda4146" /><Relationship Type="http://schemas.openxmlformats.org/officeDocument/2006/relationships/slide" Target="/ppt/slides/slide2.xml" Id="Rae40ec2af74b49b7" /><Relationship Type="http://schemas.openxmlformats.org/officeDocument/2006/relationships/slide" Target="/ppt/slides/slide3.xml" Id="Rddb5cafc9bda4f89" /><Relationship Type="http://schemas.openxmlformats.org/officeDocument/2006/relationships/slide" Target="/ppt/slides/slide4.xml" Id="Raf7232a8e5ab4659" /><Relationship Type="http://schemas.openxmlformats.org/officeDocument/2006/relationships/slide" Target="/ppt/slides/slide5.xml" Id="R738482ac49a84eb7" /><Relationship Type="http://schemas.openxmlformats.org/officeDocument/2006/relationships/slide" Target="/ppt/slides/slide6.xml" Id="R32d6501a5f60490d" /><Relationship Type="http://schemas.openxmlformats.org/officeDocument/2006/relationships/slide" Target="/ppt/slides/slide7.xml" Id="R68c1e777194c4c3f" /><Relationship Type="http://schemas.openxmlformats.org/officeDocument/2006/relationships/slide" Target="/ppt/slides/slide8.xml" Id="Rd35ff388cbb04b5c" /><Relationship Type="http://schemas.openxmlformats.org/officeDocument/2006/relationships/slide" Target="/ppt/slides/slide9.xml" Id="Reaf2d4bf5abc4a68" /><Relationship Type="http://schemas.openxmlformats.org/officeDocument/2006/relationships/slide" Target="/ppt/slides/slide10.xml" Id="R9170d33c12884e0a" /><Relationship Type="http://schemas.openxmlformats.org/officeDocument/2006/relationships/slide" Target="/ppt/slides/slide11.xml" Id="R0d8b71f6285b42fd" /><Relationship Type="http://schemas.openxmlformats.org/officeDocument/2006/relationships/slide" Target="/ppt/slides/slide12.xml" Id="R22d9a1ca668e4b5c" /><Relationship Type="http://schemas.openxmlformats.org/officeDocument/2006/relationships/slide" Target="/ppt/slides/slide13.xml" Id="Rdd7bb1698263493e" /><Relationship Type="http://schemas.openxmlformats.org/officeDocument/2006/relationships/slide" Target="/ppt/slides/slide14.xml" Id="Rfe6741c9dbd44753" /><Relationship Type="http://schemas.openxmlformats.org/officeDocument/2006/relationships/slide" Target="/ppt/slides/slide15.xml" Id="Rd22752280bc6401d" /><Relationship Type="http://schemas.openxmlformats.org/officeDocument/2006/relationships/slide" Target="/ppt/slides/slide16.xml" Id="R6a6fb698b8cc4df1" /><Relationship Type="http://schemas.openxmlformats.org/officeDocument/2006/relationships/slide" Target="/ppt/slides/slide17.xml" Id="R0df197b66a6f428a" /><Relationship Type="http://schemas.openxmlformats.org/officeDocument/2006/relationships/slide" Target="/ppt/slides/slide18.xml" Id="R2db4bd282d104a70" /><Relationship Type="http://schemas.openxmlformats.org/officeDocument/2006/relationships/slide" Target="/ppt/slides/slide19.xml" Id="Rb2d89d522a704827" /><Relationship Type="http://schemas.openxmlformats.org/officeDocument/2006/relationships/slide" Target="/ppt/slides/slide20.xml" Id="Ree9b8d2df2db4138" /><Relationship Type="http://schemas.openxmlformats.org/officeDocument/2006/relationships/slide" Target="/ppt/slides/slide21.xml" Id="Refb8f0f699304a9d" /><Relationship Type="http://schemas.openxmlformats.org/officeDocument/2006/relationships/slide" Target="/ppt/slides/slide22.xml" Id="R759fdcb5fe354221" /><Relationship Type="http://schemas.openxmlformats.org/officeDocument/2006/relationships/slide" Target="/ppt/slides/slide23.xml" Id="R110d778b7b754b3e" /><Relationship Type="http://schemas.openxmlformats.org/officeDocument/2006/relationships/slide" Target="/ppt/slides/slide24.xml" Id="Rb2a6ca1b827e4906" /><Relationship Type="http://schemas.openxmlformats.org/officeDocument/2006/relationships/slide" Target="/ppt/slides/slide25.xml" Id="R8e97fd0ceebc440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9be14c87a804c6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548310f4b45480e" /><Relationship Type="http://schemas.openxmlformats.org/officeDocument/2006/relationships/notesMaster" Target="/ppt/notesMasters/notesMaster1.xml" Id="R1a3221ed212b4ce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e785d1ee4b84061" /><Relationship Type="http://schemas.openxmlformats.org/officeDocument/2006/relationships/notesMaster" Target="/ppt/notesMasters/notesMaster1.xml" Id="R4eaa7d480dba4dc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9254ef70e44577" /><Relationship Type="http://schemas.openxmlformats.org/officeDocument/2006/relationships/notesMaster" Target="/ppt/notesMasters/notesMaster1.xml" Id="Rc17eaea6a0af449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ed84d7eef94089" /><Relationship Type="http://schemas.openxmlformats.org/officeDocument/2006/relationships/notesMaster" Target="/ppt/notesMasters/notesMaster1.xml" Id="R335ca072698944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485f7eb9b8d74826" /><Relationship Type="http://schemas.openxmlformats.org/officeDocument/2006/relationships/notesMaster" Target="/ppt/notesMasters/notesMaster1.xml" Id="R457383f395fb43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e75485778c4053" /><Relationship Type="http://schemas.openxmlformats.org/officeDocument/2006/relationships/notesMaster" Target="/ppt/notesMasters/notesMaster1.xml" Id="R1a09d2a211234a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a3935891de4b36" /><Relationship Type="http://schemas.openxmlformats.org/officeDocument/2006/relationships/notesMaster" Target="/ppt/notesMasters/notesMaster1.xml" Id="Rc3324888969c480c" /></Relationships>
</file>

<file path=ppt/notesSlides/_rels/notesSlide8.xml.rels>&#65279;<?xml version="1.0" encoding="utf-8"?><Relationships xmlns="http://schemas.openxmlformats.org/package/2006/relationships"><Relationship Type="http://schemas.openxmlformats.org/officeDocument/2006/relationships/slide" Target="/ppt/slides/slide8.xml" Id="R2a80a8d6986e4de7" /><Relationship Type="http://schemas.openxmlformats.org/officeDocument/2006/relationships/notesMaster" Target="/ppt/notesMasters/notesMaster1.xml" Id="Ra09bcd3e91b74a44" /></Relationships>
</file>

<file path=ppt/notesSlides/_rels/notesSlide9.xml.rels>&#65279;<?xml version="1.0" encoding="utf-8"?><Relationships xmlns="http://schemas.openxmlformats.org/package/2006/relationships"><Relationship Type="http://schemas.openxmlformats.org/officeDocument/2006/relationships/slide" Target="/ppt/slides/slide9.xml" Id="R015c83ec2e8e4f7d" /><Relationship Type="http://schemas.openxmlformats.org/officeDocument/2006/relationships/notesMaster" Target="/ppt/notesMasters/notesMaster1.xml" Id="R9e73e859fc6441a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284b2c9ca364dcc" /><Relationship Type="http://schemas.openxmlformats.org/officeDocument/2006/relationships/notesMaster" Target="/ppt/notesMasters/notesMaster1.xml" Id="R33cd40b0f54b431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e82efcbc74e493e" /><Relationship Type="http://schemas.openxmlformats.org/officeDocument/2006/relationships/notesMaster" Target="/ppt/notesMasters/notesMaster1.xml" Id="R4f6e21dc9670469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8db06396a114efc" /><Relationship Type="http://schemas.openxmlformats.org/officeDocument/2006/relationships/notesMaster" Target="/ppt/notesMasters/notesMaster1.xml" Id="R5b74dca7f0d844a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05d8cc264674e80" /><Relationship Type="http://schemas.openxmlformats.org/officeDocument/2006/relationships/notesMaster" Target="/ppt/notesMasters/notesMaster1.xml" Id="R010dae5089c341a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2d589b0e13243c9" /><Relationship Type="http://schemas.openxmlformats.org/officeDocument/2006/relationships/notesMaster" Target="/ppt/notesMasters/notesMaster1.xml" Id="Re255fb153c2f4da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6d004da62f34445" /><Relationship Type="http://schemas.openxmlformats.org/officeDocument/2006/relationships/notesMaster" Target="/ppt/notesMasters/notesMaster1.xml" Id="Rc792a9bf75964c4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05b869382de41ae" /><Relationship Type="http://schemas.openxmlformats.org/officeDocument/2006/relationships/notesMaster" Target="/ppt/notesMasters/notesMaster1.xml" Id="R77413f52355c451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5a0f8580ee44989" /><Relationship Type="http://schemas.openxmlformats.org/officeDocument/2006/relationships/notesMaster" Target="/ppt/notesMasters/notesMaster1.xml" Id="R368d8919bac9459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29c782b1ab349ec" /><Relationship Type="http://schemas.openxmlformats.org/officeDocument/2006/relationships/notesMaster" Target="/ppt/notesMasters/notesMaster1.xml" Id="R1ef817eac6dd493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410e2e8b70141c8" /><Relationship Type="http://schemas.openxmlformats.org/officeDocument/2006/relationships/notesMaster" Target="/ppt/notesMasters/notesMaster1.xml" Id="R708c0871ff2941d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21df9d59a7e47cf" /><Relationship Type="http://schemas.openxmlformats.org/officeDocument/2006/relationships/notesMaster" Target="/ppt/notesMasters/notesMaster1.xml" Id="Rabefa9522ee54a2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1fc12b14e62443b" /><Relationship Type="http://schemas.openxmlformats.org/officeDocument/2006/relationships/notesMaster" Target="/ppt/notesMasters/notesMaster1.xml" Id="R23437f44afac44c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898926af70c483d" /><Relationship Type="http://schemas.openxmlformats.org/officeDocument/2006/relationships/notesMaster" Target="/ppt/notesMasters/notesMaster1.xml" Id="Raa0dc47a91d24eb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a0ac36268394d98" /><Relationship Type="http://schemas.openxmlformats.org/officeDocument/2006/relationships/notesMaster" Target="/ppt/notesMasters/notesMaster1.xml" Id="R46519e6d0f93424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c87d418796849fa" /><Relationship Type="http://schemas.openxmlformats.org/officeDocument/2006/relationships/notesMaster" Target="/ppt/notesMasters/notesMaster1.xml" Id="R049e65ce2bf94d7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ffd8e5ed3b8469e" /><Relationship Type="http://schemas.openxmlformats.org/officeDocument/2006/relationships/notesMaster" Target="/ppt/notesMasters/notesMaster1.xml" Id="R351919ac5fe04a5f"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Making the project understandable and runnable</a:t>
            </a:r>
          </a:p>
          <a:p>
            <a:r>
              <a:t>CML3111, Week 13, slide 1</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Use this as an orientation to the lesson. Terms and syntax will be unpacked on their own slides; students do not need to know them in advance.</a:t>
            </a:r>
          </a:p>
          <a:p>
            <a:r>
              <a:t/>
            </a:r>
          </a:p>
          <a:p>
            <a:r>
              <a:t>On this slide</a:t>
            </a:r>
          </a:p>
          <a:p>
            <a:r>
              <a:t>Communications, Electrical, Mechatronics and Robotics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CML3111, Week 13, slide 2</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Run the project from a fresh session.</a:t>
            </a:r>
          </a:p>
          <a:p>
            <a:r>
              <a:t/>
            </a:r>
          </a:p>
          <a:p>
            <a:r>
              <a:t>Repair unclear run instructions using a fresh run.</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CML3111, Week 13, slide 3</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The models and charts already exist. The remaining task is to make the evidence understandable and runnable from the supplied files.</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CML3111, Week 13, slide 4</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project is ready for handover when its files and written instructions reproduce its results in a fresh session. Check each claim against the results in your notebook.</a:t>
            </a:r>
          </a:p>
          <a:p>
            <a:r>
              <a:t/>
            </a:r>
          </a:p>
          <a:p>
            <a:r>
              <a:t>Continue to</a:t>
            </a:r>
          </a:p>
          <a:p>
            <a:r>
              <a:t>Reproducibility and Dependency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Reproducibility and Dependency</a:t>
            </a:r>
          </a:p>
          <a:p>
            <a:r>
              <a:t>CML3111, Week 13, slide 5</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Reproducibility: Another person can use the stated data, environment and steps to check the result. Terminology varies; state the operational test.</a:t>
            </a:r>
          </a:p>
          <a:p>
            <a:r>
              <a:t>Dependency: A package your code needs. Record versions actually used, rather than guessing them.</a:t>
            </a:r>
          </a:p>
          <a:p>
            <a:r>
              <a:t/>
            </a:r>
          </a:p>
          <a:p>
            <a:r>
              <a:t>Continue to</a:t>
            </a:r>
          </a:p>
          <a:p>
            <a:r>
              <a:t>Relative path and README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Relative path and README</a:t>
            </a:r>
          </a:p>
          <a:p>
            <a:r>
              <a:t>CML3111, Week 13, slide 6</a:t>
            </a:r>
          </a:p>
          <a:p>
            <a:r>
              <a:t/>
            </a:r>
          </a:p>
          <a:p>
            <a:r>
              <a:t>Explanation to give</a:t>
            </a:r>
          </a:p>
          <a:p>
            <a:r>
              <a:t>A path identifies where a file is found. A relative path starts from the current working directory. Explain each folder component and the final filename.</a:t>
            </a:r>
          </a:p>
          <a:p>
            <a:r>
              <a:t/>
            </a:r>
          </a:p>
          <a:p>
            <a:r>
              <a:t>Worked illustration / lecturer answer</a:t>
            </a:r>
          </a:p>
          <a:p>
            <a:r>
              <a:t>data/readings.csv means the readings.csv file inside a data folder under the current working directory. A path from your own Downloads folder will usually fail on another person's machine.</a:t>
            </a:r>
          </a:p>
          <a:p>
            <a:r>
              <a:t/>
            </a:r>
          </a:p>
          <a:p>
            <a:r>
              <a:t>Misconception to address</a:t>
            </a:r>
          </a:p>
          <a:p>
            <a:r>
              <a:t>The working directory is not automatically the notebook's own folder in every tool. Check it and organise the project rather than hard-coding a personal absolute path.</a:t>
            </a:r>
          </a:p>
          <a:p>
            <a:r>
              <a:t/>
            </a:r>
          </a:p>
          <a:p>
            <a:r>
              <a:t>On this slide</a:t>
            </a:r>
          </a:p>
          <a:p>
            <a:r>
              <a:t>Relative path: A location interpreted from the current working folder. It is not always relative to the notebook file itself.</a:t>
            </a:r>
          </a:p>
          <a:p>
            <a:r>
              <a:t>README: The project’s instructions: question, files, data source, environment, run order, results and limitations.</a:t>
            </a:r>
          </a:p>
          <a:p>
            <a:r>
              <a:t/>
            </a:r>
          </a:p>
          <a:p>
            <a:r>
              <a:t>Continue to</a:t>
            </a:r>
          </a:p>
          <a:p>
            <a:r>
              <a:t>A useful README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useful README</a:t>
            </a:r>
          </a:p>
          <a:p>
            <a:r>
              <a:t>CML3111, Week 13, slide 7</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A repository URL proves a location exists, not that the work runs or was submitted. Contribution claims should point to specific work, not only a count of commits.</a:t>
            </a:r>
          </a:p>
          <a:p>
            <a:r>
              <a:t/>
            </a:r>
          </a:p>
          <a:p>
            <a:r>
              <a:t>On this slide</a:t>
            </a:r>
          </a:p>
          <a:p>
            <a:r>
              <a:t>State the engineering question and target unit.</a:t>
            </a:r>
          </a:p>
          <a:p>
            <a:r>
              <a:t/>
            </a:r>
          </a:p>
          <a:p>
            <a:r>
              <a:t>List the supplied data and required software versions.</a:t>
            </a:r>
          </a:p>
          <a:p>
            <a:r>
              <a:t/>
            </a:r>
          </a:p>
          <a:p>
            <a:r>
              <a:t>Give the order for running the notebook from a fresh session.</a:t>
            </a:r>
          </a:p>
          <a:p>
            <a:r>
              <a:t/>
            </a:r>
          </a:p>
          <a:p>
            <a:r>
              <a:t>State limitations and each member’s contribution.</a:t>
            </a:r>
          </a:p>
          <a:p>
            <a:r>
              <a:t/>
            </a:r>
          </a:p>
          <a:p>
            <a:r>
              <a:t>Continue to</a:t>
            </a:r>
          </a:p>
          <a:p>
            <a:r>
              <a:t>Someone else needs to reproduce the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Someone else needs to reproduce the result</a:t>
            </a:r>
          </a:p>
          <a:p>
            <a:r>
              <a:t>CML3111, Week 13, slide 8</a:t>
            </a:r>
          </a:p>
          <a:p>
            <a:r>
              <a:t/>
            </a:r>
          </a:p>
          <a:p>
            <a:r>
              <a:t>Explanation to give</a:t>
            </a:r>
          </a:p>
          <a:p>
            <a:r>
              <a:t>Describe a handover as a reproducibility test carried out with only the delivered files and written directions. The person checking it should not need your memory of previous actions.</a:t>
            </a:r>
          </a:p>
          <a:p>
            <a:r>
              <a:t/>
            </a:r>
          </a:p>
          <a:p>
            <a:r>
              <a:t>Worked illustration / lecturer answer</a:t>
            </a:r>
          </a:p>
          <a:p>
            <a:r>
              <a:t>Close the runtime, start fresh and follow the README literally. If it names data.csv while the folder contains readings.csv, repair the instructions and repeat the check.</a:t>
            </a:r>
          </a:p>
          <a:p>
            <a:r>
              <a:t/>
            </a:r>
          </a:p>
          <a:p>
            <a:r>
              <a:t>Misconception to address</a:t>
            </a:r>
          </a:p>
          <a:p>
            <a:r>
              <a:t>A screenshot of a successful old output is not proof that today's package works from a clean start.</a:t>
            </a:r>
          </a:p>
          <a:p>
            <a:r>
              <a:t/>
            </a:r>
          </a:p>
          <a:p>
            <a:r>
              <a:t>On this slide</a:t>
            </a:r>
          </a:p>
          <a:p>
            <a:r>
              <a:t>Which instructions would a new user need?</a:t>
            </a:r>
          </a:p>
          <a:p>
            <a:r>
              <a:t/>
            </a:r>
          </a:p>
          <a:p>
            <a:r>
              <a:t>Continue to</a:t>
            </a:r>
          </a:p>
          <a:p>
            <a:r>
              <a:t>A reproducible notebook starts fresh</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reproducible notebook starts fresh</a:t>
            </a:r>
          </a:p>
          <a:p>
            <a:r>
              <a:t>CML3111, Week 13, slide 9</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The saved outputs must agree with a fresh run in the stated order.</a:t>
            </a:r>
          </a:p>
          <a:p>
            <a:r>
              <a:t/>
            </a:r>
          </a:p>
          <a:p>
            <a:r>
              <a:t>Continue to</a:t>
            </a:r>
          </a:p>
          <a:p>
            <a:r>
              <a:t>Saved outputs can hide missing steps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Saved outputs can hide missing steps</a:t>
            </a:r>
          </a:p>
          <a:p>
            <a:r>
              <a:t>CML3111, Week 13, slide 10</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A notebook can display an old answer after its inputs have changed.</a:t>
            </a:r>
          </a:p>
          <a:p>
            <a:r>
              <a:t/>
            </a:r>
          </a:p>
          <a:p>
            <a:r>
              <a:t>A fresh session begins without the old variables.</a:t>
            </a:r>
          </a:p>
          <a:p>
            <a:r>
              <a:t/>
            </a:r>
          </a:p>
          <a:p>
            <a:r>
              <a:t>Restarting and running all tests whether the stated order creates the result.</a:t>
            </a:r>
          </a:p>
          <a:p>
            <a:r>
              <a:t/>
            </a:r>
          </a:p>
          <a:p>
            <a:r>
              <a:t>Continue to</a:t>
            </a:r>
          </a:p>
          <a:p>
            <a:r>
              <a:t>A path names where a file is found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path names where a file is found</a:t>
            </a:r>
          </a:p>
          <a:p>
            <a:r>
              <a:t>CML3111, Week 13, slide 11</a:t>
            </a:r>
          </a:p>
          <a:p>
            <a:r>
              <a:t/>
            </a:r>
          </a:p>
          <a:p>
            <a:r>
              <a:t>Explanation to give</a:t>
            </a:r>
          </a:p>
          <a:p>
            <a:r>
              <a:t>A path identifies where a file is found. A relative path starts from the current working directory. Explain each folder component and the final filename.</a:t>
            </a:r>
          </a:p>
          <a:p>
            <a:r>
              <a:t/>
            </a:r>
          </a:p>
          <a:p>
            <a:r>
              <a:t>Worked illustration / lecturer answer</a:t>
            </a:r>
          </a:p>
          <a:p>
            <a:r>
              <a:t>data/readings.csv means the readings.csv file inside a data folder under the current working directory. A path from your own Downloads folder will usually fail on another person's machine.</a:t>
            </a:r>
          </a:p>
          <a:p>
            <a:r>
              <a:t/>
            </a:r>
          </a:p>
          <a:p>
            <a:r>
              <a:t>Misconception to address</a:t>
            </a:r>
          </a:p>
          <a:p>
            <a:r>
              <a:t>The working directory is not automatically the notebook's own folder in every tool. Check it and organise the project rather than hard-coding a personal absolute path.</a:t>
            </a:r>
          </a:p>
          <a:p>
            <a:r>
              <a:t/>
            </a:r>
          </a:p>
          <a:p>
            <a:r>
              <a:t>On this slide</a:t>
            </a:r>
          </a:p>
          <a:p>
            <a:r>
              <a:t>A relative path is interpreted from the current working folder.</a:t>
            </a:r>
          </a:p>
          <a:p>
            <a:r>
              <a:t/>
            </a:r>
          </a:p>
          <a:p>
            <a:r>
              <a:t>Package versions describe the software used to run the code.</a:t>
            </a:r>
          </a:p>
          <a:p>
            <a:r>
              <a:t/>
            </a:r>
          </a:p>
          <a:p>
            <a:r>
              <a:t>The README must give both run instructions and data-access instructions.</a:t>
            </a:r>
          </a:p>
          <a:p>
            <a:r>
              <a:t/>
            </a:r>
          </a:p>
          <a:p>
            <a:r>
              <a:t>Continue to</a:t>
            </a:r>
          </a:p>
          <a:p>
            <a:r>
              <a:t>Read the path example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path example</a:t>
            </a:r>
          </a:p>
          <a:p>
            <a:r>
              <a:t>CML3111, Week 13, slide 12</a:t>
            </a:r>
          </a:p>
          <a:p>
            <a:r>
              <a:t/>
            </a:r>
          </a:p>
          <a:p>
            <a:r>
              <a:t>Explanation to give</a:t>
            </a:r>
          </a:p>
          <a:p>
            <a:r>
              <a:t>A path identifies where a file is found. A relative path starts from the current working directory. Explain each folder component and the final filename.</a:t>
            </a:r>
          </a:p>
          <a:p>
            <a:r>
              <a:t/>
            </a:r>
          </a:p>
          <a:p>
            <a:r>
              <a:t>Worked illustration / lecturer answer</a:t>
            </a:r>
          </a:p>
          <a:p>
            <a:r>
              <a:t>data/readings.csv means the readings.csv file inside a data folder under the current working directory. A path from your own Downloads folder will usually fail on another person's machine.</a:t>
            </a:r>
          </a:p>
          <a:p>
            <a:r>
              <a:t/>
            </a:r>
          </a:p>
          <a:p>
            <a:r>
              <a:t>Misconception to address</a:t>
            </a:r>
          </a:p>
          <a:p>
            <a:r>
              <a:t>The working directory is not automatically the notebook's own folder in every tool. Check it and organise the project rather than hard-coding a personal absolute path.</a:t>
            </a:r>
          </a:p>
          <a:p>
            <a:r>
              <a:t/>
            </a:r>
          </a:p>
          <a:p>
            <a:r>
              <a:t>On this slide</a:t>
            </a:r>
          </a:p>
          <a:p>
            <a:r>
              <a:t>Path and cwd: Path is a tool imported from Python’s pathlib module. Path.cwd() returns the folder where Python is currently running.</a:t>
            </a:r>
          </a:p>
          <a:p>
            <a:r>
              <a:t>name: The .name property gives the last folder component as text. It depends on your runtime. A different folder name is expected on another computer.</a:t>
            </a:r>
          </a:p>
          <a:p>
            <a:r>
              <a:t/>
            </a:r>
          </a:p>
          <a:p>
            <a:r>
              <a:t>Continue to</a:t>
            </a:r>
          </a:p>
          <a:p>
            <a:r>
              <a:t>Project handover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handover in Python</a:t>
            </a:r>
          </a:p>
          <a:p>
            <a:r>
              <a:t>CML3111, Week 13, slide 13</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Read the displayed code line by line</a:t>
            </a:r>
          </a:p>
          <a:p>
            <a:r>
              <a:t>from pathlib import Path</a:t>
            </a:r>
          </a:p>
          <a:p>
            <a:r>
              <a:t>Bring the named tool from this library into the current Python session.</a:t>
            </a:r>
          </a:p>
          <a:p>
            <a:r>
              <a:t/>
            </a:r>
          </a:p>
          <a:p>
            <a:r>
              <a:t>print(Path.cwd().name)</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Project handover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handover results</a:t>
            </a:r>
          </a:p>
          <a:p>
            <a:r>
              <a:t>CML3111, Week 13, slide 14</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Your current working folder name; it is environment-dependent.</a:t>
            </a:r>
          </a:p>
          <a:p>
            <a:r>
              <a:t/>
            </a:r>
          </a:p>
          <a:p>
            <a:r>
              <a:t>Continue to</a:t>
            </a:r>
          </a:p>
          <a:p>
            <a:r>
              <a:t>Tell another person what the project needs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Tell another person what the project needs</a:t>
            </a:r>
          </a:p>
          <a:p>
            <a:r>
              <a:t>CML3111, Week 13, slide 15</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A repository URL proves a location exists, not that the work runs or was submitted. Contribution claims should point to specific work, not only a count of commits.</a:t>
            </a:r>
          </a:p>
          <a:p>
            <a:r>
              <a:t/>
            </a:r>
          </a:p>
          <a:p>
            <a:r>
              <a:t>On this slide</a:t>
            </a:r>
          </a:p>
          <a:p>
            <a:r>
              <a:t>requirements.txt and versions: This text file lists required Python packages and their versions. Record the versions used in the working environment; test them with the supplied run instructions.</a:t>
            </a:r>
          </a:p>
          <a:p>
            <a:r>
              <a:t>Data source, permission and seed: Name the data source and any licence or permission for reuse. Record random seeds used in modelling. A seed supports repeatability; it does not repair data leakage.</a:t>
            </a:r>
          </a:p>
          <a:p>
            <a:r>
              <a:t/>
            </a:r>
          </a:p>
          <a:p>
            <a:r>
              <a:t>Continue to</a:t>
            </a:r>
          </a:p>
          <a:p>
            <a:r>
              <a:t>Run checks and contribution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Run checks and contribution evidence</a:t>
            </a:r>
          </a:p>
          <a:p>
            <a:r>
              <a:t>CML3111, Week 13, slide 16</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A repository URL proves a location exists, not that the work runs or was submitted. Contribution claims should point to specific work, not only a count of commits.</a:t>
            </a:r>
          </a:p>
          <a:p>
            <a:r>
              <a:t/>
            </a:r>
          </a:p>
          <a:p>
            <a:r>
              <a:t>On this slide</a:t>
            </a:r>
          </a:p>
          <a:p>
            <a:r>
              <a:t>Independent run check: Restart the session and follow your written instructions without relying on earlier variables. Record the first failure and its repair.</a:t>
            </a:r>
          </a:p>
          <a:p>
            <a:r>
              <a:t>Contribution evidence: A record of each person’s work, tied to files, commits or explanations. It does not require making a private repository public.</a:t>
            </a:r>
          </a:p>
          <a:p>
            <a:r>
              <a:t/>
            </a:r>
          </a:p>
          <a:p>
            <a:r>
              <a:t>Continue to</a:t>
            </a:r>
          </a:p>
          <a:p>
            <a:r>
              <a:t>Useful feedback identifies an exact repair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Useful feedback identifies an exact repair</a:t>
            </a:r>
          </a:p>
          <a:p>
            <a:r>
              <a:t>CML3111, Week 13, slide 17</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A repository URL proves a location exists, not that the work runs or was submitted. Contribution claims should point to specific work, not only a count of commits.</a:t>
            </a:r>
          </a:p>
          <a:p>
            <a:r>
              <a:t/>
            </a:r>
          </a:p>
          <a:p>
            <a:r>
              <a:t>On this slide</a:t>
            </a:r>
          </a:p>
          <a:p>
            <a:r>
              <a:t>Vague feedback: "It does not work."</a:t>
            </a:r>
          </a:p>
          <a:p>
            <a:r>
              <a:t/>
            </a:r>
          </a:p>
          <a:p>
            <a:r>
              <a:t>Useful feedback: "Step 2 names data.csv, but the supplied file is readings.csv."</a:t>
            </a:r>
          </a:p>
          <a:p>
            <a:r>
              <a:t/>
            </a:r>
          </a:p>
          <a:p>
            <a:r>
              <a:t>The repair is to make the instructions and actual filename agree.</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CML3111, Week 13, slide 18</a:t>
            </a:r>
          </a:p>
          <a:p>
            <a:r>
              <a:t/>
            </a:r>
          </a:p>
          <a:p>
            <a:r>
              <a:t>Explanation to give</a:t>
            </a:r>
          </a:p>
          <a:p>
            <a:r>
              <a:t>Use the displayed example as a short individual revision question, then explain the reasoning behind its answer.</a:t>
            </a:r>
          </a:p>
          <a:p>
            <a:r>
              <a:t/>
            </a:r>
          </a:p>
          <a:p>
            <a:r>
              <a:t>Worked illustration / lecturer answer</a:t>
            </a:r>
          </a:p>
          <a:p>
            <a:r>
              <a:t>Check: restart the notebook runtime and follow your README exactly, without using remembered variables.</a:t>
            </a:r>
          </a:p>
          <a:p>
            <a:r>
              <a:t/>
            </a:r>
          </a:p>
          <a:p>
            <a:r>
              <a:t>If Step 2 names data.csv but the file is readings.csv, correct the filename in the instructions. Run again from the beginning and record the successful result.</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CML3111, Week 13, slide 19</a:t>
            </a:r>
          </a:p>
          <a:p>
            <a:r>
              <a:t/>
            </a:r>
          </a:p>
          <a:p>
            <a:r>
              <a:t>Explanation to give</a:t>
            </a:r>
          </a:p>
          <a:p>
            <a:r>
              <a:t>Week 13 adds no new weekly assignment notebook. Use the time to make the existing project reproducible and prepare for the offline test.</a:t>
            </a:r>
          </a:p>
          <a:p>
            <a:r>
              <a:t/>
            </a:r>
          </a:p>
          <a:p>
            <a:r>
              <a:t>Worked illustration / lecturer answer</a:t>
            </a:r>
          </a:p>
          <a:p>
            <a:r>
              <a:t>Open the project README, restart and follow its steps. Then rehearse locating and reopening the complete test notebook on the prepared offline computer.</a:t>
            </a:r>
          </a:p>
          <a:p>
            <a:r>
              <a:t/>
            </a:r>
          </a:p>
          <a:p>
            <a:r>
              <a:t>Misconception to address</a:t>
            </a:r>
          </a:p>
          <a:p>
            <a:r>
              <a:t>Quiz 13 is a separate activity when activated. Do not invent an A13 upload or require students to submit an extra weekly report.</a:t>
            </a:r>
          </a:p>
          <a:p>
            <a:r>
              <a:t/>
            </a:r>
          </a:p>
          <a:p>
            <a:r>
              <a:t>On this slide</a:t>
            </a:r>
          </a:p>
          <a:p>
            <a:r>
              <a:t>No new weekly assignment.</a:t>
            </a:r>
          </a:p>
          <a:p>
            <a:r>
              <a:t/>
            </a:r>
          </a:p>
          <a:p>
            <a:r>
              <a:t>Continue the official project deliverables and Week 13 quiz.</a:t>
            </a:r>
          </a:p>
          <a:p>
            <a:r>
              <a:t/>
            </a:r>
          </a:p>
          <a:p>
            <a:r>
              <a:t>Rehearse offline TEST2 saving and the published function interfaces before Week 14.</a:t>
            </a:r>
          </a:p>
          <a:p>
            <a:r>
              <a:t/>
            </a:r>
          </a:p>
          <a:p>
            <a:r>
              <a:t>Do not add an extra upload.</a:t>
            </a:r>
          </a:p>
          <a:p>
            <a:r>
              <a:t/>
            </a:r>
          </a:p>
          <a:p>
            <a:r>
              <a:t>Continue to</a:t>
            </a:r>
          </a:p>
          <a:p>
            <a:r>
              <a:t>A reproducible handover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reproducible handover</a:t>
            </a:r>
          </a:p>
          <a:p>
            <a:r>
              <a:t>CML3111, Week 13, slide 20</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An absolute path from your own computer will usually fail elsewhere.</a:t>
            </a:r>
          </a:p>
          <a:p>
            <a:r>
              <a:t/>
            </a:r>
          </a:p>
          <a:p>
            <a:r>
              <a:t>A relative path starts from the current working folder.</a:t>
            </a:r>
          </a:p>
          <a:p>
            <a:r>
              <a:t/>
            </a:r>
          </a:p>
          <a:p>
            <a:r>
              <a:t>Record dependencies and actual versions, and fix randomness where appropriate; identical results across all machines are not guaranteed by a seed alone.</a:t>
            </a:r>
          </a:p>
          <a:p>
            <a:r>
              <a:t/>
            </a:r>
          </a:p>
          <a:p>
            <a:r>
              <a:t>Captions should state a supported finding and its scope.</a:t>
            </a:r>
          </a:p>
          <a:p>
            <a:r>
              <a:t/>
            </a:r>
          </a:p>
          <a:p>
            <a:r>
              <a:t>Continue to</a:t>
            </a:r>
          </a:p>
          <a:p>
            <a:r>
              <a:t>A reproducible handover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reproducible handover continued</a:t>
            </a:r>
          </a:p>
          <a:p>
            <a:r>
              <a:t>CML3111, Week 13, slide 21</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Remove conflicting cell assignments and verify a fresh run before submission.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CML3111, Week 13, slide 22</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machine learning project brief.</a:t>
            </a:r>
          </a:p>
          <a:p>
            <a:r>
              <a:t/>
            </a:r>
          </a:p>
          <a:p>
            <a:r>
              <a:t>Build the evidence gradually in your project notebook.</a:t>
            </a:r>
          </a:p>
          <a:p>
            <a:r>
              <a:t/>
            </a:r>
          </a:p>
          <a:p>
            <a:r>
              <a:t>Keep raw data, labelled charts, run instructions and individual contributions.</a:t>
            </a:r>
          </a:p>
          <a:p>
            <a:r>
              <a:t/>
            </a:r>
          </a:p>
          <a:p>
            <a:r>
              <a:t>Published deadline: 18 Dec 2026, 11:00 Kampala</a:t>
            </a:r>
          </a:p>
          <a:p>
            <a:r>
              <a:t/>
            </a:r>
          </a:p>
          <a:p>
            <a:r>
              <a:t>Continue to</a:t>
            </a:r>
          </a:p>
          <a:p>
            <a:r>
              <a:t>Week 13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13 quiz</a:t>
            </a:r>
          </a:p>
          <a:p>
            <a:r>
              <a:t>CML3111, Week 13, slide 23</a:t>
            </a:r>
          </a:p>
          <a:p>
            <a:r>
              <a:t/>
            </a:r>
          </a:p>
          <a:p>
            <a:r>
              <a:t>Explanation to give</a:t>
            </a:r>
          </a:p>
          <a:p>
            <a:r>
              <a:t>This is the CML3111 Week 1 quiz. The student link opens the response form; it does not activate its window. In Quiz Controls use open_W1_CML3111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CML3111, Week 13, slide 24</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Another learner can follow your README and reproduce the stated result.</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CML3111, Week 13, slide 25</a:t>
            </a:r>
          </a:p>
          <a:p>
            <a:r>
              <a:t/>
            </a:r>
          </a:p>
          <a:p>
            <a:r>
              <a:t>Explanation to give</a:t>
            </a:r>
          </a:p>
          <a:p>
            <a:r>
              <a:t>Give the viewing question before playing the excerpt: Why keep history, and what is a repository?</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CodeWithChris</a:t>
            </a:r>
          </a:p>
          <a:p>
            <a:r>
              <a:t>GitHub Tutorial for Beginners (2025)</a:t>
            </a:r>
          </a:p>
          <a:p>
            <a:r>
              <a:t/>
            </a:r>
          </a:p>
          <a:p>
            <a:r>
              <a:t>00:00–02:10, then 03:35–06:08 (4 min 43 sec total)</a:t>
            </a:r>
          </a:p>
          <a:p>
            <a:r>
              <a:t/>
            </a:r>
          </a:p>
          <a:p>
            <a:r>
              <a:t>Listening question: Why keep history, and what is a repository?</a:t>
            </a:r>
          </a:p>
          <a:p>
            <a:r>
              <a:t/>
            </a:r>
          </a:p>
          <a:p>
            <a:r>
              <a:t>Reference / existing resource</a:t>
            </a:r>
          </a:p>
          <a:p>
            <a:r>
              <a:t>https://www.youtube.com/watch?v=v5gnvDUWqFM</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101edcb3024e2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4499a9a94be4c3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ef0159aefbd495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a162533068847c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b7326ce6a2e43b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f7b186b4a85404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E3BCD4C-A69A-4DF0-9802-F881090E20D5}"/>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99DF53A-C363-4941-B8A8-70D1BCD4FC5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687EFE0-69D5-4224-8F81-31EF847A873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1E693AC5-BAB9-4279-8845-9AD7FC145D1D}"/>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2E2DF57-E997-41FD-82BC-28C9710745A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12CD3E6-5D88-4BEC-8305-D314E999815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56ABE29-66A0-4F49-A548-9F8C3D3C45B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671F0AAD-D922-4F51-97E7-D5866E2CB874}"/>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A94C6F7-2E97-4000-B0E5-3239FBD0C44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95C51FC-307F-4669-90AB-0A12AE5FF05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073EA7E-FE7D-41B9-A0CA-89AB5B09D0B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3D81246C-CE85-41EE-A4F6-ECB25B887BC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3675014-8D7D-4317-B515-6B13E3AB0EE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ED3BC07-F23C-4ACC-B977-E14A9060671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3404483-318D-49B6-8CC5-F14B477D6A89}"/>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ec860100a0847c1" /><Relationship Type="http://schemas.openxmlformats.org/officeDocument/2006/relationships/slideLayout" Target="/ppt/slideLayouts/slideLayout1.xml" Id="R65005c572edb43a0" /><Relationship Type="http://schemas.openxmlformats.org/officeDocument/2006/relationships/slideLayout" Target="/ppt/slideLayouts/slideLayout2.xml" Id="Rcfb30adc66b8441c" /><Relationship Type="http://schemas.openxmlformats.org/officeDocument/2006/relationships/slideLayout" Target="/ppt/slideLayouts/slideLayout3.xml" Id="Rda0d55cfffde47ea" /><Relationship Type="http://schemas.openxmlformats.org/officeDocument/2006/relationships/slideLayout" Target="/ppt/slideLayouts/slideLayout4.xml" Id="R00264ba818974fda" /><Relationship Type="http://schemas.openxmlformats.org/officeDocument/2006/relationships/slideLayout" Target="/ppt/slideLayouts/slideLayout5.xml" Id="Rd8902a8a15aa4876" /><Relationship Type="http://schemas.openxmlformats.org/officeDocument/2006/relationships/slideLayout" Target="/ppt/slideLayouts/slideLayout6.xml" Id="R052ccde3a80846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5005c572edb43a0"/>
    <p:sldLayoutId xmlns:r="http://schemas.openxmlformats.org/officeDocument/2006/relationships" id="2147483650" r:id="Rcfb30adc66b8441c"/>
    <p:sldLayoutId xmlns:r="http://schemas.openxmlformats.org/officeDocument/2006/relationships" id="2147483651" r:id="Rda0d55cfffde47ea"/>
    <p:sldLayoutId xmlns:r="http://schemas.openxmlformats.org/officeDocument/2006/relationships" id="2147483652" r:id="R00264ba818974fda"/>
    <p:sldLayoutId xmlns:r="http://schemas.openxmlformats.org/officeDocument/2006/relationships" id="2147483653" r:id="Rd8902a8a15aa4876"/>
    <p:sldLayoutId xmlns:r="http://schemas.openxmlformats.org/officeDocument/2006/relationships" id="2147483654" r:id="R052ccde3a80846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48da6c59bb64e65" /><Relationship Type="http://schemas.openxmlformats.org/officeDocument/2006/relationships/image" Target="/ppt/media/image.png" Id="R8d744c1a4b68427e" /><Relationship Type="http://schemas.openxmlformats.org/officeDocument/2006/relationships/notesSlide" Target="/ppt/notesSlides/notesSlide1.xml" Id="Rc632ee102ffd44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6ec78ddb9904b16" /><Relationship Type="http://schemas.openxmlformats.org/officeDocument/2006/relationships/notesSlide" Target="/ppt/notesSlides/notesSlide2.xml" Id="R9b9e04097abc4b6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0d37c8552cf4f26" /><Relationship Type="http://schemas.openxmlformats.org/officeDocument/2006/relationships/notesSlide" Target="/ppt/notesSlides/notesSlide3.xml" Id="R0205d7db111846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0d24379930b476a" /><Relationship Type="http://schemas.openxmlformats.org/officeDocument/2006/relationships/notesSlide" Target="/ppt/notesSlides/notesSlide4.xml" Id="Rf563e3f3a7504ca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f471cf72631455e" /><Relationship Type="http://schemas.openxmlformats.org/officeDocument/2006/relationships/notesSlide" Target="/ppt/notesSlides/notesSlide5.xml" Id="Ra938890decf24ae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df14c8422064f6c" /><Relationship Type="http://schemas.openxmlformats.org/officeDocument/2006/relationships/notesSlide" Target="/ppt/notesSlides/notesSlide6.xml" Id="R6c48ab0481d74b9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717001c543140c5" /><Relationship Type="http://schemas.openxmlformats.org/officeDocument/2006/relationships/notesSlide" Target="/ppt/notesSlides/notesSlide7.xml" Id="R86d952a803bd45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4f95f7ef5794748" /><Relationship Type="http://schemas.openxmlformats.org/officeDocument/2006/relationships/image" Target="/ppt/media/image2.png" Id="R815eca98b14f4a9d" /><Relationship Type="http://schemas.openxmlformats.org/officeDocument/2006/relationships/notesSlide" Target="/ppt/notesSlides/notesSlide8.xml" Id="Rb371d64cc7f145b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32759423a81462e" /><Relationship Type="http://schemas.openxmlformats.org/officeDocument/2006/relationships/image" Target="/ppt/media/image3.png" Id="R184eecb03bf04dcb" /><Relationship Type="http://schemas.openxmlformats.org/officeDocument/2006/relationships/notesSlide" Target="/ppt/notesSlides/notesSlide9.xml" Id="R863d18155c614d0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256ef1788354732" /><Relationship Type="http://schemas.openxmlformats.org/officeDocument/2006/relationships/notesSlide" Target="/ppt/notesSlides/notesSlide10.xml" Id="Rd6fb7812ae3d4c3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28fd407ebae4bf9" /><Relationship Type="http://schemas.openxmlformats.org/officeDocument/2006/relationships/notesSlide" Target="/ppt/notesSlides/notesSlide11.xml" Id="Rf14aaafb6b064d3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b9a6fb536f740f3" /><Relationship Type="http://schemas.openxmlformats.org/officeDocument/2006/relationships/notesSlide" Target="/ppt/notesSlides/notesSlide12.xml" Id="R805a5c12758d455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7cd5f37dd1f4b32" /><Relationship Type="http://schemas.openxmlformats.org/officeDocument/2006/relationships/notesSlide" Target="/ppt/notesSlides/notesSlide13.xml" Id="R95ac7aec56d3400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4805767e26c4a3e" /><Relationship Type="http://schemas.openxmlformats.org/officeDocument/2006/relationships/notesSlide" Target="/ppt/notesSlides/notesSlide14.xml" Id="R01b45c9787a449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990384a4a824ff2" /><Relationship Type="http://schemas.openxmlformats.org/officeDocument/2006/relationships/notesSlide" Target="/ppt/notesSlides/notesSlide15.xml" Id="Rf5ef202e4e4e492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508d8c910454bea" /><Relationship Type="http://schemas.openxmlformats.org/officeDocument/2006/relationships/notesSlide" Target="/ppt/notesSlides/notesSlide16.xml" Id="Re2ea445dbaba43a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8ab291e6e68455d" /><Relationship Type="http://schemas.openxmlformats.org/officeDocument/2006/relationships/notesSlide" Target="/ppt/notesSlides/notesSlide17.xml" Id="Rc8a862a45966447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61b61566aa84d04" /><Relationship Type="http://schemas.openxmlformats.org/officeDocument/2006/relationships/notesSlide" Target="/ppt/notesSlides/notesSlide18.xml" Id="R29324357554841a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9b70d4305744201" /><Relationship Type="http://schemas.openxmlformats.org/officeDocument/2006/relationships/notesSlide" Target="/ppt/notesSlides/notesSlide19.xml" Id="R61990be691ee49a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2c674de80934ebf" /><Relationship Type="http://schemas.openxmlformats.org/officeDocument/2006/relationships/notesSlide" Target="/ppt/notesSlides/notesSlide20.xml" Id="R16197cade7164b8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9b4a88091a5406c" /><Relationship Type="http://schemas.openxmlformats.org/officeDocument/2006/relationships/notesSlide" Target="/ppt/notesSlides/notesSlide21.xml" Id="R3c6c50f30c86499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4ff07eaff6345f9" /><Relationship Type="http://schemas.openxmlformats.org/officeDocument/2006/relationships/notesSlide" Target="/ppt/notesSlides/notesSlide22.xml" Id="R5b4ab0734ed84d9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2056fd3b6424e2a" /><Relationship Type="http://schemas.openxmlformats.org/officeDocument/2006/relationships/image" Target="/ppt/media/image4.png" Id="R53a4813126af40d8" /><Relationship Type="http://schemas.openxmlformats.org/officeDocument/2006/relationships/hyperlink" Target="https://forms.gle/ameQRYSJ5kfrpcKWA" TargetMode="External" Id="R5eece7e6f2a14034" /><Relationship Type="http://schemas.openxmlformats.org/officeDocument/2006/relationships/notesSlide" Target="/ppt/notesSlides/notesSlide23.xml" Id="R5afe43818fa847b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bbf39c9fd6248e6" /><Relationship Type="http://schemas.openxmlformats.org/officeDocument/2006/relationships/notesSlide" Target="/ppt/notesSlides/notesSlide24.xml" Id="Ra820387c32c64d2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64d317899dc438f" /><Relationship Type="http://schemas.openxmlformats.org/officeDocument/2006/relationships/hyperlink" Target="https://www.youtube.com/watch?v=v5gnvDUWqFM" TargetMode="External" Id="R2e96fe8f8f944fb5" /><Relationship Type="http://schemas.openxmlformats.org/officeDocument/2006/relationships/notesSlide" Target="/ppt/notesSlides/notesSlide25.xml" Id="R85f450a971d1402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d744c1a4b68427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4AFAA34-6DED-4F33-8A72-51C716B925A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D8EF181-9167-45B5-A0AE-92D79149F1A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13</a:t>
            </a:r>
          </a:p>
        </p:txBody>
      </p:sp>
      <p:sp>
        <p:nvSpPr>
          <p:cNvPr id="4" name="">
            <a:extLst xmlns:a="http://schemas.openxmlformats.org/drawingml/2006/main">
              <a:ext uri="{FF2B5EF4-FFF2-40B4-BE49-F238E27FC236}">
                <a16:creationId xmlns:a16="http://schemas.microsoft.com/office/drawing/2014/main" id="{BE1C0F84-9787-41F2-B3B6-CBB621D628A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5E11E1D3-58B7-4313-A67C-EC81075EA5C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E9C6A2A4-D2E4-4D40-A63F-DC5318179E5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04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51568152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F83E761-1DAE-4AFD-B2E5-1EC6C69692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15E804-DB17-43D8-B1D4-19638202DA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AF4D452-5981-48FD-B184-D84A0E7EA6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A9DC69A-F6FA-4050-90D6-36802E4F0196}"/>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DC3703-0CDE-4640-B43F-B301F4CA495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1DB1429-C2CC-485B-AB06-B3BDE127B8F4}"/>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project from a fresh session.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 unclear run instructions using a fresh run.</a:t>
            </a:r>
          </a:p>
        </p:txBody>
      </p:sp>
      <p:sp>
        <p:nvSpPr>
          <p:cNvPr id="7" name="">
            <a:extLst xmlns:a="http://schemas.openxmlformats.org/drawingml/2006/main">
              <a:ext uri="{FF2B5EF4-FFF2-40B4-BE49-F238E27FC236}">
                <a16:creationId xmlns:a16="http://schemas.microsoft.com/office/drawing/2014/main" id="{8E21E14F-0DCF-4815-A318-F56D9726995D}"/>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FD9A6B3E-BFA8-41C3-955F-4521058FA5CB}"/>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README and reproduce the stated result.</a:t>
            </a:r>
          </a:p>
        </p:txBody>
      </p:sp>
      <p:sp>
        <p:nvSpPr>
          <p:cNvPr id="9" name="">
            <a:extLst xmlns:a="http://schemas.openxmlformats.org/drawingml/2006/main">
              <a:ext uri="{FF2B5EF4-FFF2-40B4-BE49-F238E27FC236}">
                <a16:creationId xmlns:a16="http://schemas.microsoft.com/office/drawing/2014/main" id="{BF0A150C-E161-4060-8C87-8B887F95C7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a:t>
            </a:r>
          </a:p>
        </p:txBody>
      </p:sp>
    </p:spTree>
    <p:extLst>
      <p:ext uri="{BB962C8B-B14F-4D97-AF65-F5344CB8AC3E}">
        <p14:creationId xmlns:p14="http://schemas.microsoft.com/office/powerpoint/2010/main" val="107322353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0FC34C-58FA-45F4-B8FF-71F6DA32D4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FD0053-726B-49C8-868A-B72649D477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CF10105-94D0-4A8C-BBC2-3CBDFEEF8E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4B8E909C-2412-4CC3-9224-860863CAC13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3B785D-EEE7-4D24-AC75-A51234AF919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3788FFD2-E211-4896-8809-A0491E36BD5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40AD243E-3DD9-43E5-9F6B-EB7D97B3F4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a:t>
            </a:r>
          </a:p>
        </p:txBody>
      </p:sp>
    </p:spTree>
    <p:extLst>
      <p:ext uri="{BB962C8B-B14F-4D97-AF65-F5344CB8AC3E}">
        <p14:creationId xmlns:p14="http://schemas.microsoft.com/office/powerpoint/2010/main" val="981831223"/>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8" name="">
            <a:extLst>
              <a:ext uri="{FF2B5EF4-FFF2-40B4-BE49-F238E27FC236}">
                <ns2:creationId id="{CE4C4421-196D-4550-8501-110EBF6E6607}"/>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90BFE068-1CD3-4273-B7D4-5202D2421EE9}"/>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FABBF7A0-FC9B-4541-AF9E-9095344AB293}"/>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a:ext uri="{FF2B5EF4-FFF2-40B4-BE49-F238E27FC236}">
                <ns2:creationId id="{86EE892B-A9D8-49B4-A951-C7D95B613E15}"/>
              </a:ext>
            </a:extLst>
          </p:cNvPr>
          <p:cNvSpPr>
            <a:spLocks noGrp="1"/>
          </p:cNvSpPr>
          <p:nvPr/>
        </p:nvSpPr>
        <p:spPr>
          <a:xfrm>
            <a:off x="590550" y="1752600"/>
            <a:ext cx="4476750" cy="4200525"/>
          </a:xfrm>
          <a:prstGeom prst="rect">
            <a:avLst/>
          </a:prstGeom>
          <a:solidFill>
            <a:srgbClr val="2E7D6F"/>
          </a:solidFill>
          <a:ln w="0">
            <a:noFill/>
          </a:ln>
        </p:spPr>
      </p:sp>
      <p:sp>
        <p:nvSpPr>
          <p:cNvPr id="5" name="">
            <a:extLst>
              <a:ext uri="{FF2B5EF4-FFF2-40B4-BE49-F238E27FC236}">
                <ns2:creationId id="{AB62DE01-A842-42D0-85BC-D62117166558}"/>
              </a:ext>
            </a:extLst>
          </p:cNvPr>
          <p:cNvSpPr>
            <a:spLocks noGrp="1"/>
          </p:cNvSpPr>
          <p:nvPr/>
        </p:nvSpPr>
        <p:spPr>
          <a:xfrm>
            <a:off x="866775" y="2124075"/>
            <a:ext cx="3905250" cy="3419475"/>
          </a:xfrm>
          <a:prstGeom prst="rect">
            <a:avLst/>
          </a:prstGeom>
          <a:noFill/>
          <a:ln w="0">
            <a:noFill/>
          </a:ln>
        </p:spPr>
        <p:txBody>
          <a:bodyPr>
            <a:noAutofit/>
          </a:bodyPr>
          <a:lstStyle/>
          <a:p>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a:ext uri="{FF2B5EF4-FFF2-40B4-BE49-F238E27FC236}">
                <ns2:creationId id="{AB44D28B-7031-4A29-BB74-C9EC139492C9}"/>
              </a:ext>
            </a:extLst>
          </p:cNvPr>
          <p:cNvSpPr>
            <a:spLocks noGrp="1"/>
          </p:cNvSpPr>
          <p:nvPr/>
        </p:nvSpPr>
        <p:spPr>
          <a:xfrm>
            <a:off x="5534025" y="2000250"/>
            <a:ext cx="5905500" cy="38766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each claim against the results in your notebook.</a:t>
            </a:r>
          </a:p>
        </p:txBody>
      </p:sp>
      <p:sp>
        <p:nvSpPr>
          <p:cNvPr id="7" name="">
            <a:extLst>
              <a:ext uri="{FF2B5EF4-FFF2-40B4-BE49-F238E27FC236}">
                <ns2:creationId id="{F35A327F-F4BA-4138-B0BA-B7B439DD7FD2}"/>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4</a:t>
            </a:r>
          </a:p>
        </p:txBody>
      </p:sp>
    </p:spTree>
    <p:extLst>
      <p:ext uri="{BB962C8B-B14F-4D97-AF65-F5344CB8AC3E}">
        <ns3:creationId val="19165214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F2125C-BAD7-4DB7-8FAD-4A9D048EE1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CDB63E-5EB0-405B-A22B-7FB2B7D975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5EE97FB-8D7C-4C67-A690-C2E518B62E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014F1D6D-7AA1-4399-8523-54889FDA96A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E7659A-9093-48BA-A1A7-F8D45B95C3F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BBC0D282-0C37-4CC3-A66D-462F96BE179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operational test.</a:t>
            </a:r>
          </a:p>
        </p:txBody>
      </p:sp>
      <p:sp>
        <p:nvSpPr>
          <p:cNvPr id="7" name="">
            <a:extLst xmlns:a="http://schemas.openxmlformats.org/drawingml/2006/main">
              <a:ext uri="{FF2B5EF4-FFF2-40B4-BE49-F238E27FC236}">
                <a16:creationId xmlns:a16="http://schemas.microsoft.com/office/drawing/2014/main" id="{0CCE5DAB-C46D-41F2-819D-F6C8BFC488A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C30D79B-F059-4BBD-A7B1-99BB69B2BFE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F3804F5F-F25A-4A38-9233-77C157E300E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92C93CFF-184B-48F2-AF6A-416537F600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5</a:t>
            </a:r>
          </a:p>
        </p:txBody>
      </p:sp>
    </p:spTree>
    <p:extLst>
      <p:ext uri="{BB962C8B-B14F-4D97-AF65-F5344CB8AC3E}">
        <p14:creationId xmlns:p14="http://schemas.microsoft.com/office/powerpoint/2010/main" val="17516408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4BFB21-7E65-4DE9-8BCB-B33C997108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636876-700F-4771-8AE7-304FDCC35C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35A476A-24E4-47C4-9F49-7ED2361E0F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A8F100BB-2C2C-4D52-A96E-2DB6606971A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B90BCA-FC96-4AEC-9C79-1D667D230A5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A9A8A20C-D766-4AD8-8309-337AC314C43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2E0775C9-E94D-42F9-AA46-BC4EB561656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295A686-286C-4D8A-B034-577143D091E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7FBF14F1-CBDB-43C2-9B8C-C962C0C78BB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6F949A20-F41C-4E41-9058-0EDB8325EB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6</a:t>
            </a:r>
          </a:p>
        </p:txBody>
      </p:sp>
    </p:spTree>
    <p:extLst>
      <p:ext uri="{BB962C8B-B14F-4D97-AF65-F5344CB8AC3E}">
        <p14:creationId xmlns:p14="http://schemas.microsoft.com/office/powerpoint/2010/main" val="17894965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58B85F1-5F49-4F0E-82C2-E0307B2F15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0EC5B4-7418-404A-83E9-F86B9246A3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613001-1A8E-4A6B-A778-A46E690C76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C76D24EF-F96B-4DF5-8A58-DD3E9FA14C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01B7777-2926-4C5C-B77A-5CE1FF9B2FA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56DE762D-F066-4368-B69F-1D331EA8A3D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11A50E1-1C4C-456E-B17C-D0548A6F2C7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5F9752C4-7B5E-4BF9-B9A9-168CBA1A2BC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14B3F3-03A9-4C58-AADB-A3209891E32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5FDA3E9C-97CE-4FFF-AA10-59AD5309960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B4C0BAF-969A-44F9-84B2-077A1A33799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3DA9E2AC-86D8-4B68-994C-3F81959F70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7</a:t>
            </a:r>
          </a:p>
        </p:txBody>
      </p:sp>
    </p:spTree>
    <p:extLst>
      <p:ext uri="{BB962C8B-B14F-4D97-AF65-F5344CB8AC3E}">
        <p14:creationId xmlns:p14="http://schemas.microsoft.com/office/powerpoint/2010/main" val="12577125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638A8C-9CA8-4511-BF3C-A682244BE50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E5D396-BFF0-4C1A-8D6F-6344B47DF2C8}"/>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15eca98b14f4a9d"/>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A6D4963-D76D-4F49-91A3-B05F2CDA838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5AE168-8EA9-448C-BEB0-E50CB91387A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BC8F2D42-1006-4AF9-B463-FB8A83089D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8</a:t>
            </a:r>
          </a:p>
        </p:txBody>
      </p:sp>
    </p:spTree>
    <p:extLst>
      <p:ext uri="{BB962C8B-B14F-4D97-AF65-F5344CB8AC3E}">
        <p14:creationId xmlns:p14="http://schemas.microsoft.com/office/powerpoint/2010/main" val="72383208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C049EF-4390-42AC-960B-27DCC76BAD6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B44040-395F-47C8-BF35-F9C5B133C32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84eecb03bf04dcb"/>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2D5EC47-6124-4E93-8519-F1F51135A7C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9AE14D-8A74-416F-A385-C3DA96DA600A}"/>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51CAD733-FA75-487F-ACAF-B3EDBBF306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9</a:t>
            </a:r>
          </a:p>
        </p:txBody>
      </p:sp>
    </p:spTree>
    <p:extLst>
      <p:ext uri="{BB962C8B-B14F-4D97-AF65-F5344CB8AC3E}">
        <p14:creationId xmlns:p14="http://schemas.microsoft.com/office/powerpoint/2010/main" val="103173368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8AC56B-E518-49D8-BAA3-879CE7E8F3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67A8B1-3149-4E2F-9716-4ED997A888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CA060E-0783-4DC2-A61D-9C605B22E9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F632D96B-1CD4-46A8-B606-4D0786D740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9A8011-50CE-4E53-BE64-A035FA6B557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145629A1-5EAD-4132-A22F-1E13535569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1C84F2-A75A-471F-85A1-C9D6F215797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81AB375C-54D1-46FA-AFA7-8B3ED294033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8C71777-5C51-4837-B39C-4AC5C2097C7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C0CCB301-BE99-4868-ABBA-22737B3821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10</a:t>
            </a:r>
          </a:p>
        </p:txBody>
      </p:sp>
    </p:spTree>
    <p:extLst>
      <p:ext uri="{BB962C8B-B14F-4D97-AF65-F5344CB8AC3E}">
        <p14:creationId xmlns:p14="http://schemas.microsoft.com/office/powerpoint/2010/main" val="71028159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6D79EB-4F67-411C-B331-EB1579C8EB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19A3A2-26F6-467A-B14B-8209F32232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B0AC12-FD5A-4B9C-9101-06B8714D08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D159F084-5DC1-4CBC-BB51-AB3FA231C7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E3C96B-3571-4B84-B3A1-4E8B8D3D161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9580C2F3-71CF-4DC7-8541-341B4507441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CF4537-9F8C-4B1A-9A26-33EDB09BB3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59F6B1A3-07AC-44EC-810C-240C0199B33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C2CB472-0695-455A-AA6F-081CDBFC342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4064FF8B-174B-4A7C-A684-4002885294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11</a:t>
            </a:r>
          </a:p>
        </p:txBody>
      </p:sp>
    </p:spTree>
    <p:extLst>
      <p:ext uri="{BB962C8B-B14F-4D97-AF65-F5344CB8AC3E}">
        <p14:creationId xmlns:p14="http://schemas.microsoft.com/office/powerpoint/2010/main" val="136287348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D70B44-4FFE-4186-A9ED-6CBBB93AC6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192A63-D4DD-43DA-93AD-B277011945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00A2CF1-30D0-4013-B747-DF5BEC2D7E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F53F27AA-3B06-4D96-830E-1597B6EB835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932E9C-6201-4F2F-B86A-C757F6C46CB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36F922F2-6959-4F4D-A4B4-5FB4F0721D3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1659B43D-5A94-4D2D-979A-79BD59965C5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CB9D6BC-34A9-4FCB-813F-3E1B7CFD0C8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973CD0F9-3119-406E-9BAE-AA8F9E9A029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6BA5D6AC-8A22-4EC5-BB8D-5DEC9EE286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12</a:t>
            </a:r>
          </a:p>
        </p:txBody>
      </p:sp>
    </p:spTree>
    <p:extLst>
      <p:ext uri="{BB962C8B-B14F-4D97-AF65-F5344CB8AC3E}">
        <p14:creationId xmlns:p14="http://schemas.microsoft.com/office/powerpoint/2010/main" val="15150748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3471FB-F377-4FFF-B210-2F50C281D6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42F6DF-E30A-45FB-95B5-F4C9F24146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E9BAE65-8D1E-401D-91C2-81A0D3F501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in Python</a:t>
            </a:r>
          </a:p>
        </p:txBody>
      </p:sp>
      <p:sp>
        <p:nvSpPr>
          <p:cNvPr id="4" name="">
            <a:extLst xmlns:a="http://schemas.openxmlformats.org/drawingml/2006/main">
              <a:ext uri="{FF2B5EF4-FFF2-40B4-BE49-F238E27FC236}">
                <a16:creationId xmlns:a16="http://schemas.microsoft.com/office/drawing/2014/main" id="{117321FE-8630-4C11-92C2-1CFE168684A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D939EC-690A-44A0-B62D-E414DA43071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pathlib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print(Path.cwd().name)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The name depends on the folder where Python is running.</a:t>
            </a:r>
          </a:p>
        </p:txBody>
      </p:sp>
      <p:sp>
        <p:nvSpPr>
          <p:cNvPr id="6" name="">
            <a:extLst xmlns:a="http://schemas.openxmlformats.org/drawingml/2006/main">
              <a:ext uri="{FF2B5EF4-FFF2-40B4-BE49-F238E27FC236}">
                <a16:creationId xmlns:a16="http://schemas.microsoft.com/office/drawing/2014/main" id="{6A8ABF9C-9DFC-4A04-89FE-C14B03CDC45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754835AC-7EA4-4105-9035-545BE1919F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9A7F1681-6673-47EB-81E3-89DFE501DB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13</a:t>
            </a:r>
          </a:p>
        </p:txBody>
      </p:sp>
    </p:spTree>
    <p:extLst>
      <p:ext uri="{BB962C8B-B14F-4D97-AF65-F5344CB8AC3E}">
        <p14:creationId xmlns:p14="http://schemas.microsoft.com/office/powerpoint/2010/main" val="128326055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3F803A2-17D4-4567-9459-34E15DFEA4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5DE60C-9208-481D-9D6D-9D6DAB0E88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E3356B46-5D50-4698-9593-01380E1F3C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results</a:t>
            </a:r>
          </a:p>
        </p:txBody>
      </p:sp>
      <p:sp>
        <p:nvSpPr>
          <p:cNvPr id="4" name="">
            <a:extLst xmlns:a="http://schemas.openxmlformats.org/drawingml/2006/main">
              <a:ext uri="{FF2B5EF4-FFF2-40B4-BE49-F238E27FC236}">
                <a16:creationId xmlns:a16="http://schemas.microsoft.com/office/drawing/2014/main" id="{3F416892-B771-4C6C-9754-5F9748EFB50B}"/>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2874AD-748F-475E-BF52-93639DA1279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Your current working folder name; it is environment-dependent.</a:t>
            </a:r>
          </a:p>
        </p:txBody>
      </p:sp>
      <p:sp>
        <p:nvSpPr>
          <p:cNvPr id="6" name="">
            <a:extLst xmlns:a="http://schemas.openxmlformats.org/drawingml/2006/main">
              <a:ext uri="{FF2B5EF4-FFF2-40B4-BE49-F238E27FC236}">
                <a16:creationId xmlns:a16="http://schemas.microsoft.com/office/drawing/2014/main" id="{62AD13CD-F705-4832-9D4C-8E24DED73CA4}"/>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05756798-A70B-4763-B7E5-18CE5690A1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14</a:t>
            </a:r>
          </a:p>
        </p:txBody>
      </p:sp>
    </p:spTree>
    <p:extLst>
      <p:ext uri="{BB962C8B-B14F-4D97-AF65-F5344CB8AC3E}">
        <p14:creationId xmlns:p14="http://schemas.microsoft.com/office/powerpoint/2010/main" val="152853672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B8E417-B432-4E34-9E81-750BBC250A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755A1D-CEBE-41A7-AF0C-AAF1AB322C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95146BE-EDF1-496D-B6BC-D5DEC69BB5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FFBC0120-9929-4573-97B4-F107783D3A9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F31F22-7847-4A86-B032-D055B364388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1AC7B27A-89E2-47C4-84EC-54433006FA6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1AB97BC7-D308-4749-BEDA-E805263EB5A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1388FEE-9EA7-4744-8468-5C7FC210403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A32988DE-9716-4250-8FAE-4B14EA9E0A2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F82FC373-7C95-4CD5-8BD1-EFC21FDC80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15</a:t>
            </a:r>
          </a:p>
        </p:txBody>
      </p:sp>
    </p:spTree>
    <p:extLst>
      <p:ext uri="{BB962C8B-B14F-4D97-AF65-F5344CB8AC3E}">
        <p14:creationId xmlns:p14="http://schemas.microsoft.com/office/powerpoint/2010/main" val="120754755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3004EA-60C0-4B46-B54B-C626251AA5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BA0556-C29F-46B6-BE4A-AC0B0361E3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B5CC1C4-CF7E-48C2-9BDE-1A8DA51DF4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BA81BC65-EFDE-4C40-845F-E7D4E80EEA8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CEC46D-AFCA-4014-BD82-07E8E9BF776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151F3608-0426-4C50-83F9-4ED889F7426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6BE66DB8-8134-4AE3-B77F-93E131A7DEB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4167CEE-9ED7-4844-94B9-726D6B5C53F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B91E15A3-524C-4B2F-A6BC-88306B944DC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1C21F5C3-4B57-49D0-A8FD-3D9E2A0CAF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16</a:t>
            </a:r>
          </a:p>
        </p:txBody>
      </p:sp>
    </p:spTree>
    <p:extLst>
      <p:ext uri="{BB962C8B-B14F-4D97-AF65-F5344CB8AC3E}">
        <p14:creationId xmlns:p14="http://schemas.microsoft.com/office/powerpoint/2010/main" val="22247965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74EEF5-0424-41A0-9397-10A6CC7992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5479C8-B778-4BD1-BE79-57499674E2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57E5E17-73A5-49A9-B7FD-0C46933628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5734AE3E-9D2D-410D-84EA-A21A722887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3FE70E-CCCC-4BA5-A29F-59DDFB50DB1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2FCB3AFF-B9DC-4FC7-97A5-9E2694131A7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89F6EE-9CD9-4603-BDBF-D8FC0536FFB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669E1CE4-9D96-4C5E-B079-CFD9BE236A6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25324CB-668E-4655-9F99-0887A89BFDF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A963C765-4543-4335-B3E3-0822172B1D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17</a:t>
            </a:r>
          </a:p>
        </p:txBody>
      </p:sp>
    </p:spTree>
    <p:extLst>
      <p:ext uri="{BB962C8B-B14F-4D97-AF65-F5344CB8AC3E}">
        <p14:creationId xmlns:p14="http://schemas.microsoft.com/office/powerpoint/2010/main" val="138190673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1581AA-6977-47A7-BB47-CC336C1C57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7983CA-9DE4-4BB6-B9D7-5177C75B89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EA1915-4C1B-4B26-9708-DB54818809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1DF1679-3E83-459F-8234-317125980CD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8B26C6-D77B-43F3-8479-F0FFB2FD62E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51A19AC-8633-4A4B-B54E-BD00E95F045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DB908317-BAA8-45C4-8DB8-808E47D278B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4B0C8A88-B931-4AA4-B41A-C6E6749FDC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18</a:t>
            </a:r>
          </a:p>
        </p:txBody>
      </p:sp>
    </p:spTree>
    <p:extLst>
      <p:ext uri="{BB962C8B-B14F-4D97-AF65-F5344CB8AC3E}">
        <p14:creationId xmlns:p14="http://schemas.microsoft.com/office/powerpoint/2010/main" val="128071939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5933090-00E4-43D2-B67E-310BFC1D4A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FA8348-7567-4EA1-96DD-69E0343D29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B7FF534-69CF-4240-8E03-D686642376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187F2678-5D87-4015-959F-1948AC48F1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94BFBF-383E-49BB-989A-6D45694C1E7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F17121D1-5F7F-4570-8D91-9EC238D1677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5A80A45-AFF8-4679-B16A-9D84B02156B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EE57C665-4A16-4359-9AE8-9133950F2CD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306DF3E-1F31-4164-BE43-7B5951F2C04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offline TEST2 saving and the published function interfaces before Week 14.</a:t>
            </a:r>
          </a:p>
        </p:txBody>
      </p:sp>
      <p:sp>
        <p:nvSpPr>
          <p:cNvPr id="10" name="">
            <a:extLst xmlns:a="http://schemas.openxmlformats.org/drawingml/2006/main">
              <a:ext uri="{FF2B5EF4-FFF2-40B4-BE49-F238E27FC236}">
                <a16:creationId xmlns:a16="http://schemas.microsoft.com/office/drawing/2014/main" id="{F5DC7579-53DC-477E-996B-4E4A41C2E17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F8285E2-2F83-4FCE-AACE-DC84E3E3F97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30190B53-9C67-4438-B490-FBDCDED6C6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19</a:t>
            </a:r>
          </a:p>
        </p:txBody>
      </p:sp>
    </p:spTree>
    <p:extLst>
      <p:ext uri="{BB962C8B-B14F-4D97-AF65-F5344CB8AC3E}">
        <p14:creationId xmlns:p14="http://schemas.microsoft.com/office/powerpoint/2010/main" val="33556405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4658ED6-8429-43C3-9BA4-5EC8998AF2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4DF12C-2B83-42C7-8D5C-BA198F6E41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A94B05-66D9-4715-B5D2-EF7ED167B1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376F9196-DC79-4CB6-BAD1-E392F19CC44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4A021D-C576-43B5-914D-B84E9A413CC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61D09E86-B82E-4601-A97B-F92AEBDDE2C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893189-E4A7-4677-8D02-639FA04E9EA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4FFA231B-0F33-417D-981C-9912DC6751F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DB961F-C4FE-47AF-9299-219CAE59A7A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7657A043-012E-4C63-8EC4-70968DA0B4B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C5DB350-69A6-46DB-943C-1ABD450603F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084360A4-88DE-4AA2-BE3E-EDA321A080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20</a:t>
            </a:r>
          </a:p>
        </p:txBody>
      </p:sp>
    </p:spTree>
    <p:extLst>
      <p:ext uri="{BB962C8B-B14F-4D97-AF65-F5344CB8AC3E}">
        <p14:creationId xmlns:p14="http://schemas.microsoft.com/office/powerpoint/2010/main" val="132572702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94CB3DD-A38E-4A59-A91C-B66FE3E078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D1F0F8-835D-4319-8C2A-F2316910C6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7D4BF49-E0BF-4727-BC55-B3230541A2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62BAFE8F-EBEF-43F0-BDEC-2E27DCDD1D0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154F4B-BC82-4AAC-92E2-F9C0635EA585}"/>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FED29C8D-D239-4166-BD28-8831BB4F06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21</a:t>
            </a:r>
          </a:p>
        </p:txBody>
      </p:sp>
    </p:spTree>
    <p:extLst>
      <p:ext uri="{BB962C8B-B14F-4D97-AF65-F5344CB8AC3E}">
        <p14:creationId xmlns:p14="http://schemas.microsoft.com/office/powerpoint/2010/main" val="67315709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DA1077-E74B-4447-BCB9-B103BC4B02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8F8214-7C1F-49A8-9AA7-4FAF696840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628D537-A5C4-4316-970D-9B9A9998D5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C4CC1F12-5316-4C0C-A27D-B5EADA4601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B1E0F6-2FE6-41A3-9A3A-0BD5732F850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CC0F8507-BBE2-41FD-9258-A0BF5E1DEBB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5F94C9-6C86-47B6-B00F-58EC853190F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A4AD288D-9AED-4100-85F0-AAFF57E408C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A78E7D-4D37-43DF-8482-4A6926A3A35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168E84D7-6990-4CE0-87FA-2B8C4327F22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9BA0E45-873E-4858-A708-45A6AD8B01A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41BA0582-6BD7-47DB-A023-CA1D58B7C3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22</a:t>
            </a:r>
          </a:p>
        </p:txBody>
      </p:sp>
    </p:spTree>
    <p:extLst>
      <p:ext uri="{BB962C8B-B14F-4D97-AF65-F5344CB8AC3E}">
        <p14:creationId xmlns:p14="http://schemas.microsoft.com/office/powerpoint/2010/main" val="1743222529"/>
      </p:ext>
    </p:extLst>
  </p:cSld>
</p:sld>
</file>

<file path=ppt/slides/slide2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25626E77-9742-4F69-8F55-A065E170DDEE}"/>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A66E8A9C-0B93-4CC4-8B03-738DCE02CEBB}"/>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F073A042-704B-441B-8B03-566BACCAD32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a:ext uri="{FF2B5EF4-FFF2-40B4-BE49-F238E27FC236}">
                <ns2:creationId id="{65DD9237-9A05-4FC2-9EC0-6CE1833F1032}"/>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7F8C78EC-122A-46C6-A91F-404EC4860D97}"/>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57099616-7D35-4B16-BA46-1AAF8AE0522D}"/>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E2A034C5-4B37-49D1-9B94-EA28DA28FFF0}"/>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CDB49139-936D-4FC4-AB3F-B73322FC1A49}"/>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CA11C68E-1599-4E89-BC8E-0406247D3951}"/>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F85B05B8-36F9-4F76-A6D3-BEDD5BB9F862}"/>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70606CDB-A4A8-442D-A94A-B38961B00ABE}"/>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53a4813126af40d8"/>
          <a:stretch/>
        </p:blipFill>
        <p:spPr>
          <a:xfrm>
            <a:off x="9134475" y="2095500"/>
            <a:ext cx="2190750" cy="2190750"/>
          </a:xfrm>
          <a:prstGeom prst="rect">
            <a:avLst/>
          </a:prstGeom>
        </p:spPr>
      </p:pic>
      <p:sp>
        <p:nvSpPr>
          <p:cNvPr id="13" name="">
            <a:extLst>
              <a:ext uri="{FF2B5EF4-FFF2-40B4-BE49-F238E27FC236}">
                <ns2:creationId id="{88C7679A-FFB7-413B-95BB-9B6D9811300E}"/>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80D19892-8BD2-431F-82B0-0674ABE14817}"/>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E0840780-BF8A-4428-87B2-B47ECF3D6F46}"/>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5eece7e6f2a14034"/>
              </a:rPr>
              <a:t>Open this week’s quiz</a:t>
            </a:r>
          </a:p>
        </p:txBody>
      </p:sp>
      <p:sp>
        <p:nvSpPr>
          <p:cNvPr id="16" name="">
            <a:extLst>
              <a:ext uri="{FF2B5EF4-FFF2-40B4-BE49-F238E27FC236}">
                <ns2:creationId id="{B221A4B0-A6FE-4A02-8F2D-D4E938D7FD62}"/>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https://forms.gle/ameQRYSJ5kfrpcKWA</a:t>
            </a:r>
          </a:p>
        </p:txBody>
      </p:sp>
      <p:sp>
        <p:nvSpPr>
          <p:cNvPr id="17" name="">
            <a:extLst>
              <a:ext uri="{FF2B5EF4-FFF2-40B4-BE49-F238E27FC236}">
                <ns2:creationId id="{F432125A-207C-4681-AA50-EE09CEEDBD14}"/>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23</a:t>
            </a:r>
          </a:p>
        </p:txBody>
      </p:sp>
    </p:spTree>
    <p:extLst>
      <p:ext uri="{BB962C8B-B14F-4D97-AF65-F5344CB8AC3E}">
        <ns4:creationId val="1948906870"/>
      </p:ext>
    </p:extLst>
  </p:cSld>
</p:sld>
</file>

<file path=ppt/slides/slide2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7A73271F-B1FD-4530-87F7-CC0F0F775B8E}"/>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216BB215-60D6-43E3-99AB-90E2DF5BD80A}"/>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A3728443-F403-4369-AD9A-F4FE621DEC27}"/>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A4B3D454-CDA9-4283-BC25-4F0B4C496359}"/>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06124CC0-31BF-499C-82DA-753BD95B3684}"/>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5E100252-809B-4697-87EA-1B2FA138049E}"/>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13   24</a:t>
            </a:r>
          </a:p>
        </p:txBody>
      </p:sp>
    </p:spTree>
    <p:extLst>
      <p:ext uri="{BB962C8B-B14F-4D97-AF65-F5344CB8AC3E}">
        <ns3:creationId val="49630671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825D4E6-E7CE-4819-A202-0BDD6B352E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C5F44D-BF3B-4BDC-BCBE-EEBDD29FF9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F9A2734-D10D-46A7-B8C3-D8153818AB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44561A9B-C0F1-41F6-B41F-9B5197852A4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3A82FE-6FE3-4FB8-87D3-D0DF204D62D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D1D7704A-54D3-4A6E-AAEB-AAA7FBB2987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F2C7139-4BE6-44DA-B1E4-E9A9B3CE31B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2883B418-8278-442F-85C4-1C0F9F8FC61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04CC34-87F7-4A7C-BE0F-3DE065549AA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C0813D1E-8A4D-446B-87BA-80C355CD1AC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921EF8D-14F0-44AE-A51B-5C3C645F145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5E7ADF35-6CC6-429B-8EC3-00A939432FD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BE243E5-1C09-463B-B0EC-47EB7C6649A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e96fe8f8f944fb5"/>
              </a:rPr>
              <a:t>Open explainer video</a:t>
            </a:r>
          </a:p>
        </p:txBody>
      </p:sp>
      <p:sp>
        <p:nvSpPr>
          <p:cNvPr id="14" name="">
            <a:extLst xmlns:a="http://schemas.openxmlformats.org/drawingml/2006/main">
              <a:ext uri="{FF2B5EF4-FFF2-40B4-BE49-F238E27FC236}">
                <a16:creationId xmlns:a16="http://schemas.microsoft.com/office/drawing/2014/main" id="{6F65FB6E-7C4D-4BE3-93A1-8E44BCD8C2C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B9A67A9D-C6D8-46A9-A574-6A92DB963D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25</a:t>
            </a:r>
          </a:p>
        </p:txBody>
      </p:sp>
    </p:spTree>
    <p:extLst>
      <p:ext uri="{BB962C8B-B14F-4D97-AF65-F5344CB8AC3E}">
        <p14:creationId xmlns:p14="http://schemas.microsoft.com/office/powerpoint/2010/main" val="5605083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2026-09-28T21:45:34.6040000Z</dcterms:created>
  <dcterms:modified xsi:type="dcterms:W3CDTF">2026-09-28T21:45:34.6040000Z</dcterms:modified>
</coreProperties>
</file>