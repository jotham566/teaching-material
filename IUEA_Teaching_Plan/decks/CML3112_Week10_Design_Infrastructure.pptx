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503e7c1ce8c4520" /><Relationship Type="http://schemas.openxmlformats.org/officeDocument/2006/relationships/extended-properties" Target="/docProps/app.xml" Id="R78a7f0ad754e4e23" /><Relationship Type="http://schemas.openxmlformats.org/officeDocument/2006/relationships/officeDocument" Target="/ppt/presentation.xml" Id="Rac8a607b52fa494f" /></Relationships>
</file>

<file path=ppt/presentation.xml><?xml version="1.0" encoding="utf-8"?>
<p:presentation xmlns:p="http://schemas.openxmlformats.org/presentationml/2006/main">
  <p:sldMasterIdLst>
    <p:sldMasterId xmlns:r="http://schemas.openxmlformats.org/officeDocument/2006/relationships" id="2147483648" r:id="Rbd4c85eb7aea4137"/>
  </p:sldMasterIdLst>
  <p:notesMasterIdLst>
    <p:notesMasterId xmlns:r="http://schemas.openxmlformats.org/officeDocument/2006/relationships" r:id="R6244b52e28c949a4"/>
  </p:notesMasterIdLst>
  <p:sldIdLst>
    <p:sldId xmlns:r="http://schemas.openxmlformats.org/officeDocument/2006/relationships" id="256" r:id="R1a2e2ebf8e0e4e58"/>
    <p:sldId xmlns:r="http://schemas.openxmlformats.org/officeDocument/2006/relationships" id="257" r:id="R2a3aca5f58a742c7"/>
    <p:sldId xmlns:r="http://schemas.openxmlformats.org/officeDocument/2006/relationships" id="258" r:id="R5c5ff7fa20b24223"/>
    <p:sldId xmlns:r="http://schemas.openxmlformats.org/officeDocument/2006/relationships" id="259" r:id="R5f16f370ab9148b1"/>
    <p:sldId xmlns:r="http://schemas.openxmlformats.org/officeDocument/2006/relationships" id="260" r:id="R25a782c1a4094ec8"/>
    <p:sldId xmlns:r="http://schemas.openxmlformats.org/officeDocument/2006/relationships" id="261" r:id="Rdc888a66a5c140f3"/>
    <p:sldId xmlns:r="http://schemas.openxmlformats.org/officeDocument/2006/relationships" id="262" r:id="Rc575ddb1bf2340b1"/>
    <p:sldId xmlns:r="http://schemas.openxmlformats.org/officeDocument/2006/relationships" id="263" r:id="R0808850cb8874f20"/>
    <p:sldId xmlns:r="http://schemas.openxmlformats.org/officeDocument/2006/relationships" id="264" r:id="R22c1bae668704bc3"/>
    <p:sldId xmlns:r="http://schemas.openxmlformats.org/officeDocument/2006/relationships" id="265" r:id="Ra64ad9277cc64400"/>
    <p:sldId xmlns:r="http://schemas.openxmlformats.org/officeDocument/2006/relationships" id="266" r:id="R4ab0e24158e74283"/>
    <p:sldId xmlns:r="http://schemas.openxmlformats.org/officeDocument/2006/relationships" id="267" r:id="R8be6397071d7455c"/>
    <p:sldId xmlns:r="http://schemas.openxmlformats.org/officeDocument/2006/relationships" id="268" r:id="R49f334ed7ecd4e5b"/>
    <p:sldId xmlns:r="http://schemas.openxmlformats.org/officeDocument/2006/relationships" id="269" r:id="R2a57c22eb99c41ce"/>
    <p:sldId xmlns:r="http://schemas.openxmlformats.org/officeDocument/2006/relationships" id="270" r:id="Rd30ee1615bd940fc"/>
    <p:sldId xmlns:r="http://schemas.openxmlformats.org/officeDocument/2006/relationships" id="271" r:id="R996b043606684c26"/>
    <p:sldId xmlns:r="http://schemas.openxmlformats.org/officeDocument/2006/relationships" id="272" r:id="Rbef319ff97e4467f"/>
    <p:sldId xmlns:r="http://schemas.openxmlformats.org/officeDocument/2006/relationships" id="273" r:id="R7c5691512c184719"/>
    <p:sldId xmlns:r="http://schemas.openxmlformats.org/officeDocument/2006/relationships" id="274" r:id="R063449190a3342c9"/>
    <p:sldId xmlns:r="http://schemas.openxmlformats.org/officeDocument/2006/relationships" id="275" r:id="R7457483e392249ff"/>
    <p:sldId xmlns:r="http://schemas.openxmlformats.org/officeDocument/2006/relationships" id="276" r:id="R7823b2d246ba416b"/>
    <p:sldId xmlns:r="http://schemas.openxmlformats.org/officeDocument/2006/relationships" id="277" r:id="R3b22414f6eea4291"/>
    <p:sldId xmlns:r="http://schemas.openxmlformats.org/officeDocument/2006/relationships" id="278" r:id="R172b090183cb4370"/>
    <p:sldId xmlns:r="http://schemas.openxmlformats.org/officeDocument/2006/relationships" id="279" r:id="Rb3b4a89c1b3c4df1"/>
    <p:sldId xmlns:r="http://schemas.openxmlformats.org/officeDocument/2006/relationships" id="280" r:id="R98a439e1e89844d2"/>
    <p:sldId xmlns:r="http://schemas.openxmlformats.org/officeDocument/2006/relationships" id="281" r:id="R9ee8746ef6d84a7d"/>
    <p:sldId xmlns:r="http://schemas.openxmlformats.org/officeDocument/2006/relationships" id="282" r:id="R65fca7de6d9e40df"/>
    <p:sldId xmlns:r="http://schemas.openxmlformats.org/officeDocument/2006/relationships" id="283" r:id="R7d92a8190f6547e6"/>
    <p:sldId xmlns:r="http://schemas.openxmlformats.org/officeDocument/2006/relationships" id="284" r:id="Rfd87cd958b5349d3"/>
    <p:sldId xmlns:r="http://schemas.openxmlformats.org/officeDocument/2006/relationships" id="285" r:id="Rd2aa7a6669f0410b"/>
    <p:sldId xmlns:r="http://schemas.openxmlformats.org/officeDocument/2006/relationships" id="286" r:id="Ref749a24ffe049e6"/>
    <p:sldId xmlns:r="http://schemas.openxmlformats.org/officeDocument/2006/relationships" id="287" r:id="R753b6318cf434d8e"/>
    <p:sldId xmlns:r="http://schemas.openxmlformats.org/officeDocument/2006/relationships" id="288" r:id="R2a8916353ea4419c"/>
    <p:sldId xmlns:r="http://schemas.openxmlformats.org/officeDocument/2006/relationships" id="289" r:id="Rb4d5bef979984381"/>
    <p:sldId xmlns:r="http://schemas.openxmlformats.org/officeDocument/2006/relationships" id="290" r:id="Rfa22ee32e54d4b23"/>
    <p:sldId xmlns:r="http://schemas.openxmlformats.org/officeDocument/2006/relationships" id="291" r:id="R08070427a778467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fc98f084881465e" /><Relationship Type="http://schemas.openxmlformats.org/officeDocument/2006/relationships/slideMaster" Target="/ppt/slideMasters/slideMaster1.xml" Id="Rbd4c85eb7aea4137" /><Relationship Type="http://schemas.openxmlformats.org/officeDocument/2006/relationships/notesMaster" Target="/ppt/notesMasters/notesMaster1.xml" Id="R6244b52e28c949a4" /><Relationship Type="http://schemas.openxmlformats.org/officeDocument/2006/relationships/presProps" Target="/ppt/presProps.xml" Id="R26c4da2fecc94ab3" /><Relationship Type="http://schemas.openxmlformats.org/officeDocument/2006/relationships/tableStyles" Target="/ppt/tableStyles.xml" Id="R7a2eea1ef6434c07" /><Relationship Type="http://schemas.openxmlformats.org/officeDocument/2006/relationships/slide" Target="/ppt/slides/slide1.xml" Id="R1a2e2ebf8e0e4e58" /><Relationship Type="http://schemas.openxmlformats.org/officeDocument/2006/relationships/slide" Target="/ppt/slides/slide2.xml" Id="R2a3aca5f58a742c7" /><Relationship Type="http://schemas.openxmlformats.org/officeDocument/2006/relationships/slide" Target="/ppt/slides/slide3.xml" Id="R5c5ff7fa20b24223" /><Relationship Type="http://schemas.openxmlformats.org/officeDocument/2006/relationships/slide" Target="/ppt/slides/slide4.xml" Id="R5f16f370ab9148b1" /><Relationship Type="http://schemas.openxmlformats.org/officeDocument/2006/relationships/slide" Target="/ppt/slides/slide5.xml" Id="R25a782c1a4094ec8" /><Relationship Type="http://schemas.openxmlformats.org/officeDocument/2006/relationships/slide" Target="/ppt/slides/slide6.xml" Id="Rdc888a66a5c140f3" /><Relationship Type="http://schemas.openxmlformats.org/officeDocument/2006/relationships/slide" Target="/ppt/slides/slide7.xml" Id="Rc575ddb1bf2340b1" /><Relationship Type="http://schemas.openxmlformats.org/officeDocument/2006/relationships/slide" Target="/ppt/slides/slide8.xml" Id="R0808850cb8874f20" /><Relationship Type="http://schemas.openxmlformats.org/officeDocument/2006/relationships/slide" Target="/ppt/slides/slide9.xml" Id="R22c1bae668704bc3" /><Relationship Type="http://schemas.openxmlformats.org/officeDocument/2006/relationships/slide" Target="/ppt/slides/slide10.xml" Id="Ra64ad9277cc64400" /><Relationship Type="http://schemas.openxmlformats.org/officeDocument/2006/relationships/slide" Target="/ppt/slides/slide11.xml" Id="R4ab0e24158e74283" /><Relationship Type="http://schemas.openxmlformats.org/officeDocument/2006/relationships/slide" Target="/ppt/slides/slide12.xml" Id="R8be6397071d7455c" /><Relationship Type="http://schemas.openxmlformats.org/officeDocument/2006/relationships/slide" Target="/ppt/slides/slide13.xml" Id="R49f334ed7ecd4e5b" /><Relationship Type="http://schemas.openxmlformats.org/officeDocument/2006/relationships/slide" Target="/ppt/slides/slide14.xml" Id="R2a57c22eb99c41ce" /><Relationship Type="http://schemas.openxmlformats.org/officeDocument/2006/relationships/slide" Target="/ppt/slides/slide15.xml" Id="Rd30ee1615bd940fc" /><Relationship Type="http://schemas.openxmlformats.org/officeDocument/2006/relationships/slide" Target="/ppt/slides/slide16.xml" Id="R996b043606684c26" /><Relationship Type="http://schemas.openxmlformats.org/officeDocument/2006/relationships/slide" Target="/ppt/slides/slide17.xml" Id="Rbef319ff97e4467f" /><Relationship Type="http://schemas.openxmlformats.org/officeDocument/2006/relationships/slide" Target="/ppt/slides/slide18.xml" Id="R7c5691512c184719" /><Relationship Type="http://schemas.openxmlformats.org/officeDocument/2006/relationships/slide" Target="/ppt/slides/slide19.xml" Id="R063449190a3342c9" /><Relationship Type="http://schemas.openxmlformats.org/officeDocument/2006/relationships/slide" Target="/ppt/slides/slide20.xml" Id="R7457483e392249ff" /><Relationship Type="http://schemas.openxmlformats.org/officeDocument/2006/relationships/slide" Target="/ppt/slides/slide21.xml" Id="R7823b2d246ba416b" /><Relationship Type="http://schemas.openxmlformats.org/officeDocument/2006/relationships/slide" Target="/ppt/slides/slide22.xml" Id="R3b22414f6eea4291" /><Relationship Type="http://schemas.openxmlformats.org/officeDocument/2006/relationships/slide" Target="/ppt/slides/slide23.xml" Id="R172b090183cb4370" /><Relationship Type="http://schemas.openxmlformats.org/officeDocument/2006/relationships/slide" Target="/ppt/slides/slide24.xml" Id="Rb3b4a89c1b3c4df1" /><Relationship Type="http://schemas.openxmlformats.org/officeDocument/2006/relationships/slide" Target="/ppt/slides/slide25.xml" Id="R98a439e1e89844d2" /><Relationship Type="http://schemas.openxmlformats.org/officeDocument/2006/relationships/slide" Target="/ppt/slides/slide26.xml" Id="R9ee8746ef6d84a7d" /><Relationship Type="http://schemas.openxmlformats.org/officeDocument/2006/relationships/slide" Target="/ppt/slides/slide27.xml" Id="R65fca7de6d9e40df" /><Relationship Type="http://schemas.openxmlformats.org/officeDocument/2006/relationships/slide" Target="/ppt/slides/slide28.xml" Id="R7d92a8190f6547e6" /><Relationship Type="http://schemas.openxmlformats.org/officeDocument/2006/relationships/slide" Target="/ppt/slides/slide29.xml" Id="Rfd87cd958b5349d3" /><Relationship Type="http://schemas.openxmlformats.org/officeDocument/2006/relationships/slide" Target="/ppt/slides/slide30.xml" Id="Rd2aa7a6669f0410b" /><Relationship Type="http://schemas.openxmlformats.org/officeDocument/2006/relationships/slide" Target="/ppt/slides/slide31.xml" Id="Ref749a24ffe049e6" /><Relationship Type="http://schemas.openxmlformats.org/officeDocument/2006/relationships/slide" Target="/ppt/slides/slide32.xml" Id="R753b6318cf434d8e" /><Relationship Type="http://schemas.openxmlformats.org/officeDocument/2006/relationships/slide" Target="/ppt/slides/slide33.xml" Id="R2a8916353ea4419c" /><Relationship Type="http://schemas.openxmlformats.org/officeDocument/2006/relationships/slide" Target="/ppt/slides/slide34.xml" Id="Rb4d5bef979984381" /><Relationship Type="http://schemas.openxmlformats.org/officeDocument/2006/relationships/slide" Target="/ppt/slides/slide35.xml" Id="Rfa22ee32e54d4b23" /><Relationship Type="http://schemas.openxmlformats.org/officeDocument/2006/relationships/slide" Target="/ppt/slides/slide36.xml" Id="R08070427a77846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2384ebbe2d43b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1deed51cbd44f3" /><Relationship Type="http://schemas.openxmlformats.org/officeDocument/2006/relationships/notesMaster" Target="/ppt/notesMasters/notesMaster1.xml" Id="R07633e5d06a84cc6"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97c99fb5104f1d" /><Relationship Type="http://schemas.openxmlformats.org/officeDocument/2006/relationships/notesMaster" Target="/ppt/notesMasters/notesMaster1.xml" Id="Re48d269bae804c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61498b0137474c" /><Relationship Type="http://schemas.openxmlformats.org/officeDocument/2006/relationships/notesMaster" Target="/ppt/notesMasters/notesMaster1.xml" Id="R8128ed65e44d4a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1d6174d7234bd8" /><Relationship Type="http://schemas.openxmlformats.org/officeDocument/2006/relationships/notesMaster" Target="/ppt/notesMasters/notesMaster1.xml" Id="R8e12e9f9a6bf4e60" /></Relationships>
</file>

<file path=ppt/notesSlides/_rels/notesSlide5.xml.rels>&#65279;<?xml version="1.0" encoding="utf-8"?><Relationships xmlns="http://schemas.openxmlformats.org/package/2006/relationships"><Relationship Type="http://schemas.openxmlformats.org/officeDocument/2006/relationships/slide" Target="/ppt/slides/slide5.xml" Id="R4f0e46cfaacb42d0" /><Relationship Type="http://schemas.openxmlformats.org/officeDocument/2006/relationships/notesMaster" Target="/ppt/notesMasters/notesMaster1.xml" Id="Rbe726f0917e0490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34e61dbb134887" /><Relationship Type="http://schemas.openxmlformats.org/officeDocument/2006/relationships/notesMaster" Target="/ppt/notesMasters/notesMaster1.xml" Id="Re2758010a6cc48da" /></Relationships>
</file>

<file path=ppt/notesSlides/_rels/notesSlide7.xml.rels>&#65279;<?xml version="1.0" encoding="utf-8"?><Relationships xmlns="http://schemas.openxmlformats.org/package/2006/relationships"><Relationship Type="http://schemas.openxmlformats.org/officeDocument/2006/relationships/slide" Target="/ppt/slides/slide7.xml" Id="R4b09c33edd234343" /><Relationship Type="http://schemas.openxmlformats.org/officeDocument/2006/relationships/notesMaster" Target="/ppt/notesMasters/notesMaster1.xml" Id="R4114880cede64c5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b220953b56426a" /><Relationship Type="http://schemas.openxmlformats.org/officeDocument/2006/relationships/notesMaster" Target="/ppt/notesMasters/notesMaster1.xml" Id="Rc0c95a9a96db4c11" /></Relationships>
</file>

<file path=ppt/notesSlides/_rels/notesSlide9.xml.rels>&#65279;<?xml version="1.0" encoding="utf-8"?><Relationships xmlns="http://schemas.openxmlformats.org/package/2006/relationships"><Relationship Type="http://schemas.openxmlformats.org/officeDocument/2006/relationships/slide" Target="/ppt/slides/slide9.xml" Id="R32f93b8b36a54180" /><Relationship Type="http://schemas.openxmlformats.org/officeDocument/2006/relationships/notesMaster" Target="/ppt/notesMasters/notesMaster1.xml" Id="Rf26a5c041ead45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00cf26f6ba94731" /><Relationship Type="http://schemas.openxmlformats.org/officeDocument/2006/relationships/notesMaster" Target="/ppt/notesMasters/notesMaster1.xml" Id="R4ec8d5da2dff489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f092fcb232349af" /><Relationship Type="http://schemas.openxmlformats.org/officeDocument/2006/relationships/notesMaster" Target="/ppt/notesMasters/notesMaster1.xml" Id="Rbfee98ba80bd4e1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1908a80b364105" /><Relationship Type="http://schemas.openxmlformats.org/officeDocument/2006/relationships/notesMaster" Target="/ppt/notesMasters/notesMaster1.xml" Id="Rbda0173f008a4c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4896b7049d640ab" /><Relationship Type="http://schemas.openxmlformats.org/officeDocument/2006/relationships/notesMaster" Target="/ppt/notesMasters/notesMaster1.xml" Id="Raa881a28b86a447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9d0639e7b4c4d6f" /><Relationship Type="http://schemas.openxmlformats.org/officeDocument/2006/relationships/notesMaster" Target="/ppt/notesMasters/notesMaster1.xml" Id="R859ec278d2c7446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251246f5522471a" /><Relationship Type="http://schemas.openxmlformats.org/officeDocument/2006/relationships/notesMaster" Target="/ppt/notesMasters/notesMaster1.xml" Id="Rf4e3d4f9680d439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7fe020a8b314d76" /><Relationship Type="http://schemas.openxmlformats.org/officeDocument/2006/relationships/notesMaster" Target="/ppt/notesMasters/notesMaster1.xml" Id="Ra9a47e58ce09400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5a6f322e03f4ffb" /><Relationship Type="http://schemas.openxmlformats.org/officeDocument/2006/relationships/notesMaster" Target="/ppt/notesMasters/notesMaster1.xml" Id="R95284121d749493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8a78533860048b5" /><Relationship Type="http://schemas.openxmlformats.org/officeDocument/2006/relationships/notesMaster" Target="/ppt/notesMasters/notesMaster1.xml" Id="R505b3812268943f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a26594c7abb43fe" /><Relationship Type="http://schemas.openxmlformats.org/officeDocument/2006/relationships/notesMaster" Target="/ppt/notesMasters/notesMaster1.xml" Id="R1706196896544d0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8725ff1ed9646bc" /><Relationship Type="http://schemas.openxmlformats.org/officeDocument/2006/relationships/notesMaster" Target="/ppt/notesMasters/notesMaster1.xml" Id="Rb1c3a3121fb042f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1389c879f4f446a" /><Relationship Type="http://schemas.openxmlformats.org/officeDocument/2006/relationships/notesMaster" Target="/ppt/notesMasters/notesMaster1.xml" Id="R54e5e4dc5ac24fc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8efb9ba024e4320" /><Relationship Type="http://schemas.openxmlformats.org/officeDocument/2006/relationships/notesMaster" Target="/ppt/notesMasters/notesMaster1.xml" Id="Re7e58fcb3f7c4c9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f89691eb26f4e6e" /><Relationship Type="http://schemas.openxmlformats.org/officeDocument/2006/relationships/notesMaster" Target="/ppt/notesMasters/notesMaster1.xml" Id="R3995b8f2f9c2461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3f7da385c044262" /><Relationship Type="http://schemas.openxmlformats.org/officeDocument/2006/relationships/notesMaster" Target="/ppt/notesMasters/notesMaster1.xml" Id="R7a23244c9dcb43c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5493c6b4cd94730" /><Relationship Type="http://schemas.openxmlformats.org/officeDocument/2006/relationships/notesMaster" Target="/ppt/notesMasters/notesMaster1.xml" Id="Rf0fe96ddc9b241a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49ea937b45949dc" /><Relationship Type="http://schemas.openxmlformats.org/officeDocument/2006/relationships/notesMaster" Target="/ppt/notesMasters/notesMaster1.xml" Id="R0e06521d379748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c45a75eb99441e2" /><Relationship Type="http://schemas.openxmlformats.org/officeDocument/2006/relationships/notesMaster" Target="/ppt/notesMasters/notesMaster1.xml" Id="R696ddd91fdfe4ac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77cdab970e54ae0" /><Relationship Type="http://schemas.openxmlformats.org/officeDocument/2006/relationships/notesMaster" Target="/ppt/notesMasters/notesMaster1.xml" Id="R625f2da421aa442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148c36e55444745" /><Relationship Type="http://schemas.openxmlformats.org/officeDocument/2006/relationships/notesMaster" Target="/ppt/notesMasters/notesMaster1.xml" Id="R71fa7a97bd484cd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f22a492fdc441b0" /><Relationship Type="http://schemas.openxmlformats.org/officeDocument/2006/relationships/notesMaster" Target="/ppt/notesMasters/notesMaster1.xml" Id="Rf411caaa80c4423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c0ca5e3765a4797" /><Relationship Type="http://schemas.openxmlformats.org/officeDocument/2006/relationships/notesMaster" Target="/ppt/notesMasters/notesMaster1.xml" Id="R92df501fccb243a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042afbd414c47a5" /><Relationship Type="http://schemas.openxmlformats.org/officeDocument/2006/relationships/notesMaster" Target="/ppt/notesMasters/notesMaster1.xml" Id="Rbe6d914fe3634e9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98e1cff26404de3" /><Relationship Type="http://schemas.openxmlformats.org/officeDocument/2006/relationships/notesMaster" Target="/ppt/notesMasters/notesMaster1.xml" Id="R362d3a51a224454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a47e474189049cb" /><Relationship Type="http://schemas.openxmlformats.org/officeDocument/2006/relationships/notesMaster" Target="/ppt/notesMasters/notesMaster1.xml" Id="Rceb05e543fa844b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bac111378cd4c1d" /><Relationship Type="http://schemas.openxmlformats.org/officeDocument/2006/relationships/notesMaster" Target="/ppt/notesMasters/notesMaster1.xml" Id="R963561521dcd466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d40ddec10634b28" /><Relationship Type="http://schemas.openxmlformats.org/officeDocument/2006/relationships/notesMaster" Target="/ppt/notesMasters/notesMaster1.xml" Id="Rff63656fbeac408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Honest validation and leakage</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Honest validation and leakage.</a:t>
            </a:r>
          </a:p>
          <a:p xmlns:a="http://schemas.openxmlformats.org/drawingml/2006/main">
            <a:r>
              <a:t/>
            </a:r>
          </a:p>
          <a:p xmlns:a="http://schemas.openxmlformats.org/drawingml/2006/main">
            <a:r>
              <a:t>EXPLAIN</a:t>
            </a:r>
          </a:p>
          <a:p xmlns:a="http://schemas.openxmlformats.org/drawingml/2006/main">
            <a:r>
              <a:t>Keep related equipment records together.</a:t>
            </a:r>
          </a:p>
          <a:p xmlns:a="http://schemas.openxmlformats.org/drawingml/2006/main">
            <a:r>
              <a:t/>
            </a:r>
          </a:p>
          <a:p xmlns:a="http://schemas.openxmlformats.org/drawingml/2006/main">
            <a:r>
              <a:t>Separate training, validation and final testing.</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Multiple adversarial notebooks, elaborate validation curves and several cross-validation variants are extensions after the core split is understood.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 have compared predictions with known answers. Now we control which observations may influence training, choices and the final evaluation.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We want evidence about new equipment or future observations. The way we separate data must match that use before any model or preprocessing learns from it.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Training validation and final test.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validation and final test</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Training data fit the model and preprocessing.</a:t>
            </a:r>
          </a:p>
          <a:p xmlns:a="http://schemas.openxmlformats.org/drawingml/2006/main">
            <a:r>
              <a:t/>
            </a:r>
          </a:p>
          <a:p xmlns:a="http://schemas.openxmlformats.org/drawingml/2006/main">
            <a:r>
              <a:t>Validation data guide feature and model choices.</a:t>
            </a:r>
          </a:p>
          <a:p xmlns:a="http://schemas.openxmlformats.org/drawingml/2006/main">
            <a:r>
              <a:t/>
            </a:r>
          </a:p>
          <a:p xmlns:a="http://schemas.openxmlformats.org/drawingml/2006/main">
            <a:r>
              <a:t>The final test evaluates choices after they are fixed.</a:t>
            </a:r>
          </a:p>
          <a:p xmlns:a="http://schemas.openxmlformats.org/drawingml/2006/main">
            <a:r>
              <a:t/>
            </a:r>
          </a:p>
          <a:p xmlns:a="http://schemas.openxmlformats.org/drawingml/2006/main">
            <a:r>
              <a:t>A fresh test is needed if its answers influenced further choices.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Three sets have different jobs.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Three sets have different jobs</a:t>
            </a:r>
          </a:p>
          <a:p xmlns:a="http://schemas.openxmlformats.org/drawingml/2006/main">
            <a:r>
              <a:t/>
            </a:r>
          </a:p>
          <a:p xmlns:a="http://schemas.openxmlformats.org/drawingml/2006/main">
            <a:r>
              <a:t>CONNECT</a:t>
            </a:r>
          </a:p>
          <a:p xmlns:a="http://schemas.openxmlformats.org/drawingml/2006/main">
            <a:r>
              <a:t>Previous slide: Training validation and final test.</a:t>
            </a:r>
          </a:p>
          <a:p xmlns:a="http://schemas.openxmlformats.org/drawingml/2006/main">
            <a:r>
              <a:t/>
            </a:r>
          </a:p>
          <a:p xmlns:a="http://schemas.openxmlformats.org/drawingml/2006/main">
            <a:r>
              <a:t>EXPLAIN</a:t>
            </a:r>
          </a:p>
          <a:p xmlns:a="http://schemas.openxmlformats.org/drawingml/2006/main">
            <a:r>
              <a:t>Which set must stay sealed until choices are fixed?</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Generalisation and Overfitting and underfitting.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Generalisation and Overfitting and underfitting</a:t>
            </a:r>
          </a:p>
          <a:p xmlns:a="http://schemas.openxmlformats.org/drawingml/2006/main">
            <a:r>
              <a:t/>
            </a:r>
          </a:p>
          <a:p xmlns:a="http://schemas.openxmlformats.org/drawingml/2006/main">
            <a:r>
              <a:t>CONNECT</a:t>
            </a:r>
          </a:p>
          <a:p xmlns:a="http://schemas.openxmlformats.org/drawingml/2006/main">
            <a:r>
              <a:t>Previous slide: Three sets have different jobs.</a:t>
            </a:r>
          </a:p>
          <a:p xmlns:a="http://schemas.openxmlformats.org/drawingml/2006/main">
            <a:r>
              <a:t/>
            </a:r>
          </a:p>
          <a:p xmlns:a="http://schemas.openxmlformats.org/drawingml/2006/main">
            <a:r>
              <a:t>EXPLAIN</a:t>
            </a:r>
          </a:p>
          <a:p xmlns:a="http://schemas.openxmlformats.org/drawingml/2006/main">
            <a:r>
              <a:t>Generalisation: Performance on new cases from the intended setting, not merely on records already used.</a:t>
            </a:r>
          </a:p>
          <a:p xmlns:a="http://schemas.openxmlformats.org/drawingml/2006/main">
            <a:r>
              <a:t/>
            </a:r>
          </a:p>
          <a:p xmlns:a="http://schemas.openxmlformats.org/drawingml/2006/main">
            <a:r>
              <a:t>Overfitting and underfitting: Overfitting captures training-specific detail that fails to transfer. Underfitting misses useful patterns. Score gaps are clues, not a complete diagnosis.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Leakage and Group split.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Leakage and Group split</a:t>
            </a:r>
          </a:p>
          <a:p xmlns:a="http://schemas.openxmlformats.org/drawingml/2006/main">
            <a:r>
              <a:t/>
            </a:r>
          </a:p>
          <a:p xmlns:a="http://schemas.openxmlformats.org/drawingml/2006/main">
            <a:r>
              <a:t>CONNECT</a:t>
            </a:r>
          </a:p>
          <a:p xmlns:a="http://schemas.openxmlformats.org/drawingml/2006/main">
            <a:r>
              <a:t>Previous slide: Generalisation and Overfitting and underfitting.</a:t>
            </a:r>
          </a:p>
          <a:p xmlns:a="http://schemas.openxmlformats.org/drawingml/2006/main">
            <a:r>
              <a:t/>
            </a:r>
          </a:p>
          <a:p xmlns:a="http://schemas.openxmlformats.org/drawingml/2006/main">
            <a:r>
              <a:t>EXPLAIN</a:t>
            </a:r>
          </a:p>
          <a:p xmlns:a="http://schemas.openxmlformats.org/drawingml/2006/main">
            <a:r>
              <a:t>Leakage: Information enters model development that would not legitimately be available, such as the answer or information from evaluation rows.</a:t>
            </a:r>
          </a:p>
          <a:p xmlns:a="http://schemas.openxmlformats.org/drawingml/2006/main">
            <a:r>
              <a:t/>
            </a:r>
          </a:p>
          <a:p xmlns:a="http://schemas.openxmlformats.org/drawingml/2006/main">
            <a:r>
              <a:t>Group split: Keep all observations from the same equipment in one partition when the goal is prediction for unseen equipment.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Repeated equipment needs group separation.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Repeated equipment needs group separation</a:t>
            </a:r>
          </a:p>
          <a:p xmlns:a="http://schemas.openxmlformats.org/drawingml/2006/main">
            <a:r>
              <a:t/>
            </a:r>
          </a:p>
          <a:p xmlns:a="http://schemas.openxmlformats.org/drawingml/2006/main">
            <a:r>
              <a:t>CONNECT</a:t>
            </a:r>
          </a:p>
          <a:p xmlns:a="http://schemas.openxmlformats.org/drawingml/2006/main">
            <a:r>
              <a:t>Previous slide: Leakage and Group split.</a:t>
            </a:r>
          </a:p>
          <a:p xmlns:a="http://schemas.openxmlformats.org/drawingml/2006/main">
            <a:r>
              <a:t/>
            </a:r>
          </a:p>
          <a:p xmlns:a="http://schemas.openxmlformats.org/drawingml/2006/main">
            <a:r>
              <a:t>EXPLAIN</a:t>
            </a:r>
          </a:p>
          <a:p xmlns:a="http://schemas.openxmlformats.org/drawingml/2006/main">
            <a:r>
              <a:t>Readings from the same equipment can share patterns.</a:t>
            </a:r>
          </a:p>
          <a:p xmlns:a="http://schemas.openxmlformats.org/drawingml/2006/main">
            <a:r>
              <a:t/>
            </a:r>
          </a:p>
          <a:p xmlns:a="http://schemas.openxmlformats.org/drawingml/2006/main">
            <a:r>
              <a:t>Putting that equipment in both training and validation can make evaluation too easy.</a:t>
            </a:r>
          </a:p>
          <a:p xmlns:a="http://schemas.openxmlformats.org/drawingml/2006/main">
            <a:r>
              <a:t/>
            </a:r>
          </a:p>
          <a:p xmlns:a="http://schemas.openxmlformats.org/drawingml/2006/main">
            <a:r>
              <a:t>For a new-equipment question, keep every row for an equipment ID in one partition.</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Keeping equipment groups together.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Keeping equipment groups together</a:t>
            </a:r>
          </a:p>
          <a:p xmlns:a="http://schemas.openxmlformats.org/drawingml/2006/main">
            <a:r>
              <a:t/>
            </a:r>
          </a:p>
          <a:p xmlns:a="http://schemas.openxmlformats.org/drawingml/2006/main">
            <a:r>
              <a:t>CONNECT</a:t>
            </a:r>
          </a:p>
          <a:p xmlns:a="http://schemas.openxmlformats.org/drawingml/2006/main">
            <a:r>
              <a:t>Previous slide: Repeated equipment needs group separation.</a:t>
            </a:r>
          </a:p>
          <a:p xmlns:a="http://schemas.openxmlformats.org/drawingml/2006/main">
            <a:r>
              <a:t/>
            </a:r>
          </a:p>
          <a:p xmlns:a="http://schemas.openxmlformats.org/drawingml/2006/main">
            <a:r>
              <a:t>EXPLAIN</a:t>
            </a:r>
          </a:p>
          <a:p xmlns:a="http://schemas.openxmlformats.org/drawingml/2006/main">
            <a:r>
              <a:t>Observation | Equipment | Partition</a:t>
            </a:r>
          </a:p>
          <a:p xmlns:a="http://schemas.openxmlformats.org/drawingml/2006/main">
            <a:r>
              <a:t/>
            </a:r>
          </a:p>
          <a:p xmlns:a="http://schemas.openxmlformats.org/drawingml/2006/main">
            <a:r>
              <a:t>1 | A | Training</a:t>
            </a:r>
          </a:p>
          <a:p xmlns:a="http://schemas.openxmlformats.org/drawingml/2006/main">
            <a:r>
              <a:t/>
            </a:r>
          </a:p>
          <a:p xmlns:a="http://schemas.openxmlformats.org/drawingml/2006/main">
            <a:r>
              <a:t>2 | A | Training</a:t>
            </a:r>
          </a:p>
          <a:p xmlns:a="http://schemas.openxmlformats.org/drawingml/2006/main">
            <a:r>
              <a:t/>
            </a:r>
          </a:p>
          <a:p xmlns:a="http://schemas.openxmlformats.org/drawingml/2006/main">
            <a:r>
              <a:t>3 | B | Validation</a:t>
            </a:r>
          </a:p>
          <a:p xmlns:a="http://schemas.openxmlformats.org/drawingml/2006/main">
            <a:r>
              <a:t/>
            </a:r>
          </a:p>
          <a:p xmlns:a="http://schemas.openxmlformats.org/drawingml/2006/main">
            <a:r>
              <a:t>This toy split explains group separation.</a:t>
            </a:r>
          </a:p>
          <a:p xmlns:a="http://schemas.openxmlformats.org/drawingml/2006/main">
            <a:r>
              <a:t/>
            </a:r>
          </a:p>
          <a:p xmlns:a="http://schemas.openxmlformats.org/drawingml/2006/main">
            <a:r>
              <a:t>LECTURER CUE</a:t>
            </a:r>
          </a:p>
          <a:p xmlns:a="http://schemas.openxmlformats.org/drawingml/2006/main">
            <a:r>
              <a:t>This toy split explains group separation. It does not establish a representative evaluation with only two pieces of equipment.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in Python (1/2)</a:t>
            </a:r>
          </a:p>
          <a:p xmlns:a="http://schemas.openxmlformats.org/drawingml/2006/main">
            <a:r>
              <a:t/>
            </a:r>
          </a:p>
          <a:p xmlns:a="http://schemas.openxmlformats.org/drawingml/2006/main">
            <a:r>
              <a:t>CONNECT</a:t>
            </a:r>
          </a:p>
          <a:p xmlns:a="http://schemas.openxmlformats.org/drawingml/2006/main">
            <a:r>
              <a:t>Previous slide: Keeping equipment groups together.</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Braces hold dictionary key: value pairs here.</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Complete practice code:</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in Python (2/2)</a:t>
            </a:r>
          </a:p>
          <a:p xmlns:a="http://schemas.openxmlformats.org/drawingml/2006/main">
            <a:r>
              <a:t/>
            </a:r>
          </a:p>
          <a:p xmlns:a="http://schemas.openxmlformats.org/drawingml/2006/main">
            <a:r>
              <a:t>CONNECT</a:t>
            </a:r>
          </a:p>
          <a:p xmlns:a="http://schemas.openxmlformats.org/drawingml/2006/main">
            <a:r>
              <a:t>Previous slide: Validation and leakage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Complete practice code:</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results</a:t>
            </a:r>
          </a:p>
          <a:p xmlns:a="http://schemas.openxmlformats.org/drawingml/2006/main">
            <a:r>
              <a:t/>
            </a:r>
          </a:p>
          <a:p xmlns:a="http://schemas.openxmlformats.org/drawingml/2006/main">
            <a:r>
              <a:t>CONNECT</a:t>
            </a:r>
          </a:p>
          <a:p xmlns:a="http://schemas.openxmlformats.org/drawingml/2006/main">
            <a:r>
              <a:t>Previous slide: Validation and leakage in Python (2/2).</a:t>
            </a:r>
          </a:p>
          <a:p xmlns:a="http://schemas.openxmlformats.org/drawingml/2006/main">
            <a:r>
              <a:t/>
            </a:r>
          </a:p>
          <a:p xmlns:a="http://schemas.openxmlformats.org/drawingml/2006/main">
            <a:r>
              <a:t>EXPLAIN</a:t>
            </a:r>
          </a:p>
          <a:p xmlns:a="http://schemas.openxmlformats.org/drawingml/2006/main">
            <a:r>
              <a:t>[1, 2] [3]</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and pipeline.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and pipeline</a:t>
            </a:r>
          </a:p>
          <a:p xmlns:a="http://schemas.openxmlformats.org/drawingml/2006/main">
            <a:r>
              <a:t/>
            </a:r>
          </a:p>
          <a:p xmlns:a="http://schemas.openxmlformats.org/drawingml/2006/main">
            <a:r>
              <a:t>CONNECT</a:t>
            </a:r>
          </a:p>
          <a:p xmlns:a="http://schemas.openxmlformats.org/drawingml/2006/main">
            <a:r>
              <a:t>Previous slide: Validation and leakage results.</a:t>
            </a:r>
          </a:p>
          <a:p xmlns:a="http://schemas.openxmlformats.org/drawingml/2006/main">
            <a:r>
              <a:t/>
            </a:r>
          </a:p>
          <a:p xmlns:a="http://schemas.openxmlformats.org/drawingml/2006/main">
            <a:r>
              <a:t>EXPLAIN</a:t>
            </a:r>
          </a:p>
          <a:p xmlns:a="http://schemas.openxmlformats.org/drawingml/2006/main">
            <a:r>
              <a:t>Preprocessing and pipeline: Preprocessing changes inputs, for example filling missing values. A pipeline fits these steps on training data and applies the same fitted changes to new inputs.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learned cleaning value comes from training.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learned cleaning value comes from training</a:t>
            </a:r>
          </a:p>
          <a:p xmlns:a="http://schemas.openxmlformats.org/drawingml/2006/main">
            <a:r>
              <a:t/>
            </a:r>
          </a:p>
          <a:p xmlns:a="http://schemas.openxmlformats.org/drawingml/2006/main">
            <a:r>
              <a:t>CONNECT</a:t>
            </a:r>
          </a:p>
          <a:p xmlns:a="http://schemas.openxmlformats.org/drawingml/2006/main">
            <a:r>
              <a:t>Previous slide: Preprocessing and pipeline.</a:t>
            </a:r>
          </a:p>
          <a:p xmlns:a="http://schemas.openxmlformats.org/drawingml/2006/main">
            <a:r>
              <a:t/>
            </a:r>
          </a:p>
          <a:p xmlns:a="http://schemas.openxmlformats.org/drawingml/2006/main">
            <a:r>
              <a:t>EXPLAIN</a:t>
            </a:r>
          </a:p>
          <a:p xmlns:a="http://schemas.openxmlformats.org/drawingml/2006/main">
            <a:r>
              <a:t>The training readings are 20, 22 and 24. Their median is 22.</a:t>
            </a:r>
          </a:p>
          <a:p xmlns:a="http://schemas.openxmlformats.org/drawingml/2006/main">
            <a:r>
              <a:t/>
            </a:r>
          </a:p>
          <a:p xmlns:a="http://schemas.openxmlformats.org/drawingml/2006/main">
            <a:r>
              <a:t>A missing validation value receives the already learned 22.</a:t>
            </a:r>
          </a:p>
          <a:p xmlns:a="http://schemas.openxmlformats.org/drawingml/2006/main">
            <a:r>
              <a:t/>
            </a:r>
          </a:p>
          <a:p xmlns:a="http://schemas.openxmlformats.org/drawingml/2006/main">
            <a:r>
              <a:t>A new validation reading of 40 must not change the fitted median.</a:t>
            </a:r>
          </a:p>
          <a:p xmlns:a="http://schemas.openxmlformats.org/drawingml/2006/main">
            <a:r>
              <a:t/>
            </a:r>
          </a:p>
          <a:p xmlns:a="http://schemas.openxmlformats.org/drawingml/2006/main">
            <a:r>
              <a:t>LECTURER CUE</a:t>
            </a:r>
          </a:p>
          <a:p xmlns:a="http://schemas.openxmlformats.org/drawingml/2006/main">
            <a:r>
              <a:t>Fit a missing-value replacement on training values [20, 22, 24]: the median is 22. A new hotter observation must not change that fitted median.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training-only fill value in Python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training-only fill value in Python (1/2)</a:t>
            </a:r>
          </a:p>
          <a:p xmlns:a="http://schemas.openxmlformats.org/drawingml/2006/main">
            <a:r>
              <a:t/>
            </a:r>
          </a:p>
          <a:p xmlns:a="http://schemas.openxmlformats.org/drawingml/2006/main">
            <a:r>
              <a:t>CONNECT</a:t>
            </a:r>
          </a:p>
          <a:p xmlns:a="http://schemas.openxmlformats.org/drawingml/2006/main">
            <a:r>
              <a:t>Previous slide: A learned cleaning value comes from training.</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The median is learned from training observations. Adding a new validation observation must not change it. A real modelling pipeline follows this same rule for each learned step.</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training-only fill value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training-only fill value in Python (2/2)</a:t>
            </a:r>
          </a:p>
          <a:p xmlns:a="http://schemas.openxmlformats.org/drawingml/2006/main">
            <a:r>
              <a:t/>
            </a:r>
          </a:p>
          <a:p xmlns:a="http://schemas.openxmlformats.org/drawingml/2006/main">
            <a:r>
              <a:t>CONNECT</a:t>
            </a:r>
          </a:p>
          <a:p xmlns:a="http://schemas.openxmlformats.org/drawingml/2006/main">
            <a:r>
              <a:t>Previous slide: A training-only fill value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The median is learned from training observations. Adding a new validation observation must not change it. A real modelling pipeline follows this same rule for each learned step.</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Leakage gives away information from the future.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Leakage gives away information from the future</a:t>
            </a:r>
          </a:p>
          <a:p xmlns:a="http://schemas.openxmlformats.org/drawingml/2006/main">
            <a:r>
              <a:t/>
            </a:r>
          </a:p>
          <a:p xmlns:a="http://schemas.openxmlformats.org/drawingml/2006/main">
            <a:r>
              <a:t>CONNECT</a:t>
            </a:r>
          </a:p>
          <a:p xmlns:a="http://schemas.openxmlformats.org/drawingml/2006/main">
            <a:r>
              <a:t>Previous slide: A training-only fill value in Python (2/2).</a:t>
            </a:r>
          </a:p>
          <a:p xmlns:a="http://schemas.openxmlformats.org/drawingml/2006/main">
            <a:r>
              <a:t/>
            </a:r>
          </a:p>
          <a:p xmlns:a="http://schemas.openxmlformats.org/drawingml/2006/main">
            <a:r>
              <a:t>EXPLAIN</a:t>
            </a:r>
          </a:p>
          <a:p xmlns:a="http://schemas.openxmlformats.org/drawingml/2006/main">
            <a:r>
              <a:t>Suppose we predict a fault before an inspection.</a:t>
            </a:r>
          </a:p>
          <a:p xmlns:a="http://schemas.openxmlformats.org/drawingml/2006/main">
            <a:r>
              <a:t/>
            </a:r>
          </a:p>
          <a:p xmlns:a="http://schemas.openxmlformats.org/drawingml/2006/main">
            <a:r>
              <a:t>final_inspection_result exists only after the inspection.</a:t>
            </a:r>
          </a:p>
          <a:p xmlns:a="http://schemas.openxmlformats.org/drawingml/2006/main">
            <a:r>
              <a:t/>
            </a:r>
          </a:p>
          <a:p xmlns:a="http://schemas.openxmlformats.org/drawingml/2006/main">
            <a:r>
              <a:t>Using it as an input would answer a different, easier question than the one we intended.</a:t>
            </a:r>
          </a:p>
          <a:p xmlns:a="http://schemas.openxmlformats.org/drawingml/2006/main">
            <a:r>
              <a:t/>
            </a:r>
          </a:p>
          <a:p xmlns:a="http://schemas.openxmlformats.org/drawingml/2006/main">
            <a:r>
              <a:t>LECTURER CUE</a:t>
            </a:r>
          </a:p>
          <a:p xmlns:a="http://schemas.openxmlformats.org/drawingml/2006/main">
            <a:r>
              <a:t>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Parameters hyperparameters and a fold.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Parameters hyperparameters and a fold</a:t>
            </a:r>
          </a:p>
          <a:p xmlns:a="http://schemas.openxmlformats.org/drawingml/2006/main">
            <a:r>
              <a:t/>
            </a:r>
          </a:p>
          <a:p xmlns:a="http://schemas.openxmlformats.org/drawingml/2006/main">
            <a:r>
              <a:t>CONNECT</a:t>
            </a:r>
          </a:p>
          <a:p xmlns:a="http://schemas.openxmlformats.org/drawingml/2006/main">
            <a:r>
              <a:t>Previous slide: Leakage gives away information from the future.</a:t>
            </a:r>
          </a:p>
          <a:p xmlns:a="http://schemas.openxmlformats.org/drawingml/2006/main">
            <a:r>
              <a:t/>
            </a:r>
          </a:p>
          <a:p xmlns:a="http://schemas.openxmlformats.org/drawingml/2006/main">
            <a:r>
              <a:t>EXPLAIN</a:t>
            </a:r>
          </a:p>
          <a:p xmlns:a="http://schemas.openxmlformats.org/drawingml/2006/main">
            <a:r>
              <a:t>A parameter is learned during fitting, such as a line’s slope. A hyperparameter is a setting chosen around fitting, such as a tree’s max_depth.</a:t>
            </a:r>
          </a:p>
          <a:p xmlns:a="http://schemas.openxmlformats.org/drawingml/2006/main">
            <a:r>
              <a:t/>
            </a:r>
          </a:p>
          <a:p xmlns:a="http://schemas.openxmlformats.org/drawingml/2006/main">
            <a:r>
              <a:t>A fold is one part of the development data used for a validation turn. Refit the entire preprocessing and model on the other parts for that turn.</a:t>
            </a:r>
          </a:p>
          <a:p xmlns:a="http://schemas.openxmlformats.org/drawingml/2006/main">
            <a:r>
              <a:t/>
            </a:r>
          </a:p>
          <a:p xmlns:a="http://schemas.openxmlformats.org/drawingml/2006/main">
            <a:r>
              <a:t>Compare candidate settings using validation evidence. Keep the final test outside that selection process.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Cross-validation.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Cross-validation</a:t>
            </a:r>
          </a:p>
          <a:p xmlns:a="http://schemas.openxmlformats.org/drawingml/2006/main">
            <a:r>
              <a:t/>
            </a:r>
          </a:p>
          <a:p xmlns:a="http://schemas.openxmlformats.org/drawingml/2006/main">
            <a:r>
              <a:t>CONNECT</a:t>
            </a:r>
          </a:p>
          <a:p xmlns:a="http://schemas.openxmlformats.org/drawingml/2006/main">
            <a:r>
              <a:t>Previous slide: Parameters hyperparameters and a fold.</a:t>
            </a:r>
          </a:p>
          <a:p xmlns:a="http://schemas.openxmlformats.org/drawingml/2006/main">
            <a:r>
              <a:t/>
            </a:r>
          </a:p>
          <a:p xmlns:a="http://schemas.openxmlformats.org/drawingml/2006/main">
            <a:r>
              <a:t>EXPLAIN</a:t>
            </a:r>
          </a:p>
          <a:p xmlns:a="http://schemas.openxmlformats.org/drawingml/2006/main">
            <a:r>
              <a:t>Cross-validation: Repeat fitting and validation on several partitions of the training/development data. Respect groups or time order. Keep the final test outside tuning.</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What standard deviation tells us.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standard deviation tells us</a:t>
            </a:r>
          </a:p>
          <a:p xmlns:a="http://schemas.openxmlformats.org/drawingml/2006/main">
            <a:r>
              <a:t/>
            </a:r>
          </a:p>
          <a:p xmlns:a="http://schemas.openxmlformats.org/drawingml/2006/main">
            <a:r>
              <a:t>CONNECT</a:t>
            </a:r>
          </a:p>
          <a:p xmlns:a="http://schemas.openxmlformats.org/drawingml/2006/main">
            <a:r>
              <a:t>Previous slide: Cross-validation.</a:t>
            </a:r>
          </a:p>
          <a:p xmlns:a="http://schemas.openxmlformats.org/drawingml/2006/main">
            <a:r>
              <a:t/>
            </a:r>
          </a:p>
          <a:p xmlns:a="http://schemas.openxmlformats.org/drawingml/2006/main">
            <a:r>
              <a:t>EXPLAIN</a:t>
            </a:r>
          </a:p>
          <a:p xmlns:a="http://schemas.openxmlformats.org/drawingml/2006/main">
            <a:r>
              <a:t>Scores 3, 4 and 5 have mean 4. Their deviations are -1, 0 and 1.</a:t>
            </a:r>
          </a:p>
          <a:p xmlns:a="http://schemas.openxmlformats.org/drawingml/2006/main">
            <a:r>
              <a:t/>
            </a:r>
          </a:p>
          <a:p xmlns:a="http://schemas.openxmlformats.org/drawingml/2006/main">
            <a:r>
              <a:t>For these three fold scores, population SD = sqrt((1 + 0 + 1) / 3), about 0.82.</a:t>
            </a:r>
          </a:p>
          <a:p xmlns:a="http://schemas.openxmlformats.org/drawingml/2006/main">
            <a:r>
              <a:t/>
            </a:r>
          </a:p>
          <a:p xmlns:a="http://schemas.openxmlformats.org/drawingml/2006/main">
            <a:r>
              <a:t>SD describes spread around the mean in the score’s units. The next illustration uses this same population convention; it is not a confidence interval.</a:t>
            </a:r>
          </a:p>
          <a:p xmlns:a="http://schemas.openxmlformats.org/drawingml/2006/main">
            <a:r>
              <a:t/>
            </a:r>
          </a:p>
          <a:p xmlns:a="http://schemas.openxmlformats.org/drawingml/2006/main">
            <a:r>
              <a:t>LECTURER CUE</a:t>
            </a:r>
          </a:p>
          <a:p xmlns:a="http://schemas.openxmlformats.org/drawingml/2006/main">
            <a:r>
              <a:t>Square each deviation, average all three, then take the square root. Here we describe the full displayed set. A sample SD would instead divide by n - 1; do not mix conventions.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three validation turns.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three validation turns</a:t>
            </a:r>
          </a:p>
          <a:p xmlns:a="http://schemas.openxmlformats.org/drawingml/2006/main">
            <a:r>
              <a:t/>
            </a:r>
          </a:p>
          <a:p xmlns:a="http://schemas.openxmlformats.org/drawingml/2006/main">
            <a:r>
              <a:t>CONNECT</a:t>
            </a:r>
          </a:p>
          <a:p xmlns:a="http://schemas.openxmlformats.org/drawingml/2006/main">
            <a:r>
              <a:t>Previous slide: What standard deviation tells us.</a:t>
            </a:r>
          </a:p>
          <a:p xmlns:a="http://schemas.openxmlformats.org/drawingml/2006/main">
            <a:r>
              <a:t/>
            </a:r>
          </a:p>
          <a:p xmlns:a="http://schemas.openxmlformats.org/drawingml/2006/main">
            <a:r>
              <a:t>EXPLAIN</a:t>
            </a:r>
          </a:p>
          <a:p xmlns:a="http://schemas.openxmlformats.org/drawingml/2006/main">
            <a:r>
              <a:t>Turn | Fit using | Validate using</a:t>
            </a:r>
          </a:p>
          <a:p xmlns:a="http://schemas.openxmlformats.org/drawingml/2006/main">
            <a:r>
              <a:t/>
            </a:r>
          </a:p>
          <a:p xmlns:a="http://schemas.openxmlformats.org/drawingml/2006/main">
            <a:r>
              <a:t>1 | Parts B and C | Part A</a:t>
            </a:r>
          </a:p>
          <a:p xmlns:a="http://schemas.openxmlformats.org/drawingml/2006/main">
            <a:r>
              <a:t/>
            </a:r>
          </a:p>
          <a:p xmlns:a="http://schemas.openxmlformats.org/drawingml/2006/main">
            <a:r>
              <a:t>2 | Parts A and C | Part B</a:t>
            </a:r>
          </a:p>
          <a:p xmlns:a="http://schemas.openxmlformats.org/drawingml/2006/main">
            <a:r>
              <a:t/>
            </a:r>
          </a:p>
          <a:p xmlns:a="http://schemas.openxmlformats.org/drawingml/2006/main">
            <a:r>
              <a:t>3 | Parts A and B | Part C</a:t>
            </a:r>
          </a:p>
          <a:p xmlns:a="http://schemas.openxmlformats.org/drawingml/2006/main">
            <a:r>
              <a:t/>
            </a:r>
          </a:p>
          <a:p xmlns:a="http://schemas.openxmlformats.org/drawingml/2006/main">
            <a:r>
              <a:t>Refit preprocessing in every turn. The separate final test is not A, B or C.</a:t>
            </a:r>
          </a:p>
          <a:p xmlns:a="http://schemas.openxmlformats.org/drawingml/2006/main">
            <a:r>
              <a:t/>
            </a:r>
          </a:p>
          <a:p xmlns:a="http://schemas.openxmlformats.org/drawingml/2006/main">
            <a:r>
              <a:t>Read the rows in order. Refit preprocessing in every turn. The separate final test is not A, B or C.</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Each fold takes a turn at validation.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Each fold takes a turn at validation</a:t>
            </a:r>
          </a:p>
          <a:p xmlns:a="http://schemas.openxmlformats.org/drawingml/2006/main">
            <a:r>
              <a:t/>
            </a:r>
          </a:p>
          <a:p xmlns:a="http://schemas.openxmlformats.org/drawingml/2006/main">
            <a:r>
              <a:t>CONNECT</a:t>
            </a:r>
          </a:p>
          <a:p xmlns:a="http://schemas.openxmlformats.org/drawingml/2006/main">
            <a:r>
              <a:t>Previous slide: Trace three validation turns.</a:t>
            </a:r>
          </a:p>
          <a:p xmlns:a="http://schemas.openxmlformats.org/drawingml/2006/main">
            <a:r>
              <a:t/>
            </a:r>
          </a:p>
          <a:p xmlns:a="http://schemas.openxmlformats.org/drawingml/2006/main">
            <a:r>
              <a:t>EXPLAIN</a:t>
            </a:r>
          </a:p>
          <a:p xmlns:a="http://schemas.openxmlformats.org/drawingml/2006/main">
            <a:r>
              <a:t>Illustrated spread: population SD 0.39 MPa, not a confidence interval.</a:t>
            </a:r>
          </a:p>
          <a:p xmlns:a="http://schemas.openxmlformats.org/drawingml/2006/main">
            <a:r>
              <a:t/>
            </a:r>
          </a:p>
          <a:p xmlns:a="http://schemas.openxmlformats.org/drawingml/2006/main">
            <a:r>
              <a:t>LECTURER CUE</a:t>
            </a:r>
          </a:p>
          <a:p xmlns:a="http://schemas.openxmlformats.org/drawingml/2006/main">
            <a:r>
              <a:t>The illustrated mean is about 4.30 MPa and population standard deviation about 0.39 MPa. This is fold variation, not a confidence interval. Keep equipment groups together. Keep a separate final test outside model selection.</a:t>
            </a:r>
          </a:p>
          <a:p xmlns:a="http://schemas.openxmlformats.org/drawingml/2006/main">
            <a:r>
              <a:t>Source: existing course illustration figs/kfold.png.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Choose a split that matches future use.</a:t>
            </a:r>
          </a:p>
          <a:p xmlns:a="http://schemas.openxmlformats.org/drawingml/2006/main">
            <a:r>
              <a:t/>
            </a:r>
          </a:p>
          <a:p xmlns:a="http://schemas.openxmlformats.org/drawingml/2006/main">
            <a:r>
              <a:t>REFERENCES</a:t>
            </a:r>
          </a:p>
          <a:p xmlns:a="http://schemas.openxmlformats.org/drawingml/2006/main">
            <a:r>
              <a:t>Source: existing course illustration figs/kfold.png.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Choose a split that matches future use</a:t>
            </a:r>
          </a:p>
          <a:p xmlns:a="http://schemas.openxmlformats.org/drawingml/2006/main">
            <a:r>
              <a:t/>
            </a:r>
          </a:p>
          <a:p xmlns:a="http://schemas.openxmlformats.org/drawingml/2006/main">
            <a:r>
              <a:t>CONNECT</a:t>
            </a:r>
          </a:p>
          <a:p xmlns:a="http://schemas.openxmlformats.org/drawingml/2006/main">
            <a:r>
              <a:t>Previous slide: Each fold takes a turn at validation.</a:t>
            </a:r>
          </a:p>
          <a:p xmlns:a="http://schemas.openxmlformats.org/drawingml/2006/main">
            <a:r>
              <a:t/>
            </a:r>
          </a:p>
          <a:p xmlns:a="http://schemas.openxmlformats.org/drawingml/2006/main">
            <a:r>
              <a:t>EXPLAIN</a:t>
            </a:r>
          </a:p>
          <a:p xmlns:a="http://schemas.openxmlformats.org/drawingml/2006/main">
            <a:r>
              <a:t>Equipment or time: For unseen equipment, keep each equipment ID together. For future-time prediction, train on earlier observations and evaluate on later ones.</a:t>
            </a:r>
          </a:p>
          <a:p xmlns:a="http://schemas.openxmlformats.org/drawingml/2006/main">
            <a:r>
              <a:t/>
            </a:r>
          </a:p>
          <a:p xmlns:a="http://schemas.openxmlformats.org/drawingml/2006/main">
            <a:r>
              <a:t>Scaler and split tool: A scaler learns how to rescale features; fit it on training data. GroupShuffleSplit is a library tool for group separation. Our assignment instead uses its fixed published equipment lists.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Choose a split that matches future use.</a:t>
            </a:r>
          </a:p>
          <a:p xmlns:a="http://schemas.openxmlformats.org/drawingml/2006/main">
            <a:r>
              <a:t/>
            </a:r>
          </a:p>
          <a:p xmlns:a="http://schemas.openxmlformats.org/drawingml/2006/main">
            <a:r>
              <a:t>EXPLAIN</a:t>
            </a:r>
          </a:p>
          <a:p xmlns:a="http://schemas.openxmlformats.org/drawingml/2006/main">
            <a:r>
              <a:t>Example: A second observation from B arrives. Where does it go? Why not put it into training just to balance row counts?</a:t>
            </a:r>
          </a:p>
          <a:p xmlns:a="http://schemas.openxmlformats.org/drawingml/2006/main">
            <a:r>
              <a:t/>
            </a:r>
          </a:p>
          <a:p xmlns:a="http://schemas.openxmlformats.org/drawingml/2006/main">
            <a:r>
              <a:t>Answer: It stays with B in validation. Mixing a source across partitions can give an overly optimistic estimate for unseen equipment.</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It stays with B in validation. Mixing a source across partitions can give an overly optimistic estimate for unseen equipment.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W10 specifies E1–E4 train, E5 validation, E6 test and preserves input order.</a:t>
            </a:r>
          </a:p>
          <a:p xmlns:a="http://schemas.openxmlformats.org/drawingml/2006/main">
            <a:r>
              <a:t/>
            </a:r>
          </a:p>
          <a:p xmlns:a="http://schemas.openxmlformats.org/drawingml/2006/main">
            <a:r>
              <a:t>Use the assigned equipment_id field and record_id outputs.</a:t>
            </a:r>
          </a:p>
          <a:p xmlns:a="http://schemas.openxmlformats.org/drawingml/2006/main">
            <a:r>
              <a:t/>
            </a:r>
          </a:p>
          <a:p xmlns:a="http://schemas.openxmlformats.org/drawingml/2006/main">
            <a:r>
              <a:t>Reuse the W08 fitting pattern.</a:t>
            </a:r>
          </a:p>
          <a:p xmlns:a="http://schemas.openxmlformats.org/drawingml/2006/main">
            <a:r>
              <a:t/>
            </a:r>
          </a:p>
          <a:p xmlns:a="http://schemas.openxmlformats.org/drawingml/2006/main">
            <a:r>
              <a:t>Explain that GroupShuffleSplit and time-based splitting solve different deployment questions; use the rule in the issued task.</a:t>
            </a:r>
          </a:p>
          <a:p xmlns:a="http://schemas.openxmlformats.org/drawingml/2006/main">
            <a:r>
              <a:t/>
            </a:r>
          </a:p>
          <a:p xmlns:a="http://schemas.openxmlformats.org/drawingml/2006/main">
            <a:r>
              <a:t>LECTURER CUE</a:t>
            </a:r>
          </a:p>
          <a:p xmlns:a="http://schemas.openxmlformats.org/drawingml/2006/main">
            <a:r>
              <a:t>W10 specifies E1–E4 train, E5 validation, E6 test and preserves input order. Use the assigned equipment_id field and record_id outputs. Reuse the W08 fitting pattern. Explain that GroupShuffleSplit and time-based splitting solve different deployment questions; use the rule in the issued task.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Interpreting validation results.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Interpreting validation results</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Fit an imputer or scaler only on training data; putting it in a Pipeline helps enforce that during cross-validation.</a:t>
            </a:r>
          </a:p>
          <a:p xmlns:a="http://schemas.openxmlformats.org/drawingml/2006/main">
            <a:r>
              <a:t/>
            </a:r>
          </a:p>
          <a:p xmlns:a="http://schemas.openxmlformats.org/drawingml/2006/main">
            <a:r>
              <a:t>A low training error and high validation error suggest overfitting, but data shift or leakage can also matter.</a:t>
            </a:r>
          </a:p>
          <a:p xmlns:a="http://schemas.openxmlformats.org/drawingml/2006/main">
            <a:r>
              <a:t/>
            </a:r>
          </a:p>
          <a:p xmlns:a="http://schemas.openxmlformats.org/drawingml/2006/main">
            <a:r>
              <a:t>Missing predictor values need a stated treatment.</a:t>
            </a:r>
          </a:p>
          <a:p xmlns:a="http://schemas.openxmlformats.org/drawingml/2006/main">
            <a:r>
              <a:t/>
            </a:r>
          </a:p>
          <a:p xmlns:a="http://schemas.openxmlformats.org/drawingml/2006/main">
            <a:r>
              <a:t>Report fold scores and their variation, not just the best fold.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Interpreting validation results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Interpreting validation results continued</a:t>
            </a:r>
          </a:p>
          <a:p xmlns:a="http://schemas.openxmlformats.org/drawingml/2006/main">
            <a:r>
              <a:t/>
            </a:r>
          </a:p>
          <a:p xmlns:a="http://schemas.openxmlformats.org/drawingml/2006/main">
            <a:r>
              <a:t>CONNECT</a:t>
            </a:r>
          </a:p>
          <a:p xmlns:a="http://schemas.openxmlformats.org/drawingml/2006/main">
            <a:r>
              <a:t>Previous slide: Interpreting validation results.</a:t>
            </a:r>
          </a:p>
          <a:p xmlns:a="http://schemas.openxmlformats.org/drawingml/2006/main">
            <a:r>
              <a:t/>
            </a:r>
          </a:p>
          <a:p xmlns:a="http://schemas.openxmlformats.org/drawingml/2006/main">
            <a:r>
              <a:t>EXPLAIN</a:t>
            </a:r>
          </a:p>
          <a:p xmlns:a="http://schemas.openxmlformats.org/drawingml/2006/main">
            <a:r>
              <a:t>Group related observations together when the deployment goal is new equipment.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Interpreting validation results continued.</a:t>
            </a:r>
          </a:p>
          <a:p xmlns:a="http://schemas.openxmlformats.org/drawingml/2006/main">
            <a:r>
              <a:t/>
            </a:r>
          </a:p>
          <a:p xmlns:a="http://schemas.openxmlformats.org/drawingml/2006/main">
            <a:r>
              <a:t>EXPLAIN</a:t>
            </a:r>
          </a:p>
          <a:p xmlns:a="http://schemas.openxmlformats.org/drawingml/2006/main">
            <a:r>
              <a:t>Investigate building cooling load.</a:t>
            </a:r>
          </a:p>
          <a:p xmlns:a="http://schemas.openxmlformats.org/drawingml/2006/main">
            <a:r>
              <a:t/>
            </a:r>
          </a:p>
          <a:p xmlns:a="http://schemas.openxmlformats.org/drawingml/2006/main">
            <a:r>
              <a:t>Target units: kW.</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building cooling load. Target units: kW.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group_split(records).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group_split(records)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Assign whole equipment groups: E1–E4 to train, E5 to validation, E6 to test.</a:t>
            </a:r>
          </a:p>
          <a:p xmlns:a="http://schemas.openxmlformats.org/drawingml/2006/main">
            <a:r>
              <a:t/>
            </a:r>
          </a:p>
          <a:p xmlns:a="http://schemas.openxmlformats.org/drawingml/2006/main">
            <a:r>
              <a:t>Return train, validation and test lists of record_id in input order.</a:t>
            </a:r>
          </a:p>
          <a:p xmlns:a="http://schemas.openxmlformats.org/drawingml/2006/main">
            <a:r>
              <a:t/>
            </a:r>
          </a:p>
          <a:p xmlns:a="http://schemas.openxmlformats.org/drawingml/2006/main">
            <a:r>
              <a:t>Do not use target values to choose membership.</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IUEA_Teaching_Plan/assessment_banks/W10/CML3112/A/TASKS.md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predict_regression(training_records, feature_records).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Previous slide: group_split(records).</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IUEA_Teaching_Plan/assessment_banks/W10/CML3112/A/TASKS.md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predict_regression(training_records, feature_records).</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Validation and trust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trust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10 Nov 2026, 11:00 Kampala</a:t>
            </a:r>
          </a:p>
          <a:p xmlns:a="http://schemas.openxmlformats.org/drawingml/2006/main">
            <a:r>
              <a:t/>
            </a:r>
          </a:p>
          <a:p xmlns:a="http://schemas.openxmlformats.org/drawingml/2006/main">
            <a:r>
              <a:t>Deadline: 17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10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10 quiz</a:t>
            </a:r>
          </a:p>
          <a:p xmlns:a="http://schemas.openxmlformats.org/drawingml/2006/main">
            <a:r>
              <a:t/>
            </a:r>
          </a:p>
          <a:p xmlns:a="http://schemas.openxmlformats.org/drawingml/2006/main">
            <a:r>
              <a:t>CONNECT</a:t>
            </a:r>
          </a:p>
          <a:p xmlns:a="http://schemas.openxmlformats.org/drawingml/2006/main">
            <a:r>
              <a:t>Previous slide: Validation and trust submission.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open_W10_CML3112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10 quiz.</a:t>
            </a:r>
          </a:p>
          <a:p xmlns:a="http://schemas.openxmlformats.org/drawingml/2006/main">
            <a:r>
              <a:t/>
            </a:r>
          </a:p>
          <a:p xmlns:a="http://schemas.openxmlformats.org/drawingml/2006/main">
            <a:r>
              <a:t>EXPLAIN</a:t>
            </a:r>
          </a:p>
          <a:p xmlns:a="http://schemas.openxmlformats.org/drawingml/2006/main">
            <a:r>
              <a:t>You can identify which records may influence preprocessing and model selection.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Explain why our repeated equipment IDs require grouped partitions rather than ordinary random folds.</a:t>
            </a:r>
          </a:p>
          <a:p xmlns:a="http://schemas.openxmlformats.org/drawingml/2006/main">
            <a:r>
              <a:t>Preview before class and stop after the selected short excerpt. If playback fails, teach the worked example. Video is optional. Source: https://www.youtube.com/watch?v=fSytzGwwBVw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5b56a934a14d8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4584d6b965e403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e9a776e0d64dd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682078a6e274c0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2c527263884fc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02ac42f17934d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41BBEBF-673C-4D88-8FE3-D316F42BD26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C4DC69D-48D3-4B24-B1CD-3334D97A1C1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2DC187DF-0524-4267-9D75-86186DC9783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1F5E540-0BF8-4DD3-9A06-666B41F41D38}"/>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5B6501F-C0CD-43FE-8CA7-FBA76BC64C5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744EAFF-BA8B-4A07-AA5E-156DE3C4FBC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8FC29D0-EE12-45E8-986B-198E5EEC355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1AEE2BC-1D34-4FA4-8A70-B2E4284436A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F65897F-0841-4D44-8CA2-FAA676E021B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8B0C3DC-A6A9-4788-A4EC-FE3DA94E40F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E8E7A73-63FF-4D97-B60B-9E1C082A040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0FFFCD9-EB7F-47F8-A2EF-C7CA5214A82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413F871-6937-4C6F-A9EB-5992FA28CD1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7C8372B-BE28-495F-AF5A-EDF4FD62252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94EDD6C-9B11-4E67-B0A7-EE83AD1F6D2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0a7e8886f9448a" /><Relationship Type="http://schemas.openxmlformats.org/officeDocument/2006/relationships/slideLayout" Target="/ppt/slideLayouts/slideLayout1.xml" Id="R6a2c51480cf64eed" /><Relationship Type="http://schemas.openxmlformats.org/officeDocument/2006/relationships/slideLayout" Target="/ppt/slideLayouts/slideLayout2.xml" Id="Rc751f4f80c0d4e45" /><Relationship Type="http://schemas.openxmlformats.org/officeDocument/2006/relationships/slideLayout" Target="/ppt/slideLayouts/slideLayout3.xml" Id="R6343cbf270474838" /><Relationship Type="http://schemas.openxmlformats.org/officeDocument/2006/relationships/slideLayout" Target="/ppt/slideLayouts/slideLayout4.xml" Id="R737ee1523ee44938" /><Relationship Type="http://schemas.openxmlformats.org/officeDocument/2006/relationships/slideLayout" Target="/ppt/slideLayouts/slideLayout5.xml" Id="R3ea47a7b6d7a42e8" /><Relationship Type="http://schemas.openxmlformats.org/officeDocument/2006/relationships/slideLayout" Target="/ppt/slideLayouts/slideLayout6.xml" Id="R0bedf60fcc5840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2c51480cf64eed"/>
    <p:sldLayoutId xmlns:r="http://schemas.openxmlformats.org/officeDocument/2006/relationships" id="2147483650" r:id="Rc751f4f80c0d4e45"/>
    <p:sldLayoutId xmlns:r="http://schemas.openxmlformats.org/officeDocument/2006/relationships" id="2147483651" r:id="R6343cbf270474838"/>
    <p:sldLayoutId xmlns:r="http://schemas.openxmlformats.org/officeDocument/2006/relationships" id="2147483652" r:id="R737ee1523ee44938"/>
    <p:sldLayoutId xmlns:r="http://schemas.openxmlformats.org/officeDocument/2006/relationships" id="2147483653" r:id="R3ea47a7b6d7a42e8"/>
    <p:sldLayoutId xmlns:r="http://schemas.openxmlformats.org/officeDocument/2006/relationships" id="2147483654" r:id="R0bedf60fcc5840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0374db377604914" /><Relationship Type="http://schemas.openxmlformats.org/officeDocument/2006/relationships/image" Target="/ppt/media/image.png" Id="Rfae2e89d9d454f7b" /><Relationship Type="http://schemas.openxmlformats.org/officeDocument/2006/relationships/notesSlide" Target="/ppt/notesSlides/notesSlide1.xml" Id="R809bba4d12624a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9baab5525ae4ebb" /><Relationship Type="http://schemas.openxmlformats.org/officeDocument/2006/relationships/notesSlide" Target="/ppt/notesSlides/notesSlide2.xml" Id="R3deab4b8b7614c4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8529907932c4aaa" /><Relationship Type="http://schemas.openxmlformats.org/officeDocument/2006/relationships/notesSlide" Target="/ppt/notesSlides/notesSlide3.xml" Id="Rbd9759a3a2144c3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a3114d20b92416a" /><Relationship Type="http://schemas.openxmlformats.org/officeDocument/2006/relationships/notesSlide" Target="/ppt/notesSlides/notesSlide4.xml" Id="R5bbce9b54d7942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6508841db984399" /><Relationship Type="http://schemas.openxmlformats.org/officeDocument/2006/relationships/notesSlide" Target="/ppt/notesSlides/notesSlide5.xml" Id="R231e41ace93c4c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b6e95a6545347a9" /><Relationship Type="http://schemas.openxmlformats.org/officeDocument/2006/relationships/image" Target="/ppt/media/image2.png" Id="Rccbd74bee18e44d5" /><Relationship Type="http://schemas.openxmlformats.org/officeDocument/2006/relationships/notesSlide" Target="/ppt/notesSlides/notesSlide6.xml" Id="Rba47a5bbf2314a7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e0e1d0bb8f1471d" /><Relationship Type="http://schemas.openxmlformats.org/officeDocument/2006/relationships/notesSlide" Target="/ppt/notesSlides/notesSlide7.xml" Id="Re09aa2457a3e430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189142423c348c6" /><Relationship Type="http://schemas.openxmlformats.org/officeDocument/2006/relationships/notesSlide" Target="/ppt/notesSlides/notesSlide8.xml" Id="R4748bc7ee2864d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7ef51f8619f4794" /><Relationship Type="http://schemas.openxmlformats.org/officeDocument/2006/relationships/notesSlide" Target="/ppt/notesSlides/notesSlide9.xml" Id="R9840dc42cacc47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64ebbd3f0174856" /><Relationship Type="http://schemas.openxmlformats.org/officeDocument/2006/relationships/notesSlide" Target="/ppt/notesSlides/notesSlide10.xml" Id="Rc52a11e8a830498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ca7450045c84c9a" /><Relationship Type="http://schemas.openxmlformats.org/officeDocument/2006/relationships/notesSlide" Target="/ppt/notesSlides/notesSlide11.xml" Id="R088e325b5d1f4eb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b581184e54844ad" /><Relationship Type="http://schemas.openxmlformats.org/officeDocument/2006/relationships/notesSlide" Target="/ppt/notesSlides/notesSlide12.xml" Id="R8f79485472ae424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ab78c204b80495c" /><Relationship Type="http://schemas.openxmlformats.org/officeDocument/2006/relationships/notesSlide" Target="/ppt/notesSlides/notesSlide13.xml" Id="R415a85388f64453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1ddbf0852b14a61" /><Relationship Type="http://schemas.openxmlformats.org/officeDocument/2006/relationships/notesSlide" Target="/ppt/notesSlides/notesSlide14.xml" Id="Rcc997a449a3941e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aa3ca7f67db44e9" /><Relationship Type="http://schemas.openxmlformats.org/officeDocument/2006/relationships/notesSlide" Target="/ppt/notesSlides/notesSlide15.xml" Id="R8ed088ee90cc42f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ff516031ec44293" /><Relationship Type="http://schemas.openxmlformats.org/officeDocument/2006/relationships/notesSlide" Target="/ppt/notesSlides/notesSlide16.xml" Id="Rb31e746d286b44b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d8e9c92285f4d36" /><Relationship Type="http://schemas.openxmlformats.org/officeDocument/2006/relationships/notesSlide" Target="/ppt/notesSlides/notesSlide17.xml" Id="Reb9bb2eca37d473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5db699530f447a6" /><Relationship Type="http://schemas.openxmlformats.org/officeDocument/2006/relationships/notesSlide" Target="/ppt/notesSlides/notesSlide18.xml" Id="R4a92dfce73fe4dd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935a56cd57c46d0" /><Relationship Type="http://schemas.openxmlformats.org/officeDocument/2006/relationships/notesSlide" Target="/ppt/notesSlides/notesSlide19.xml" Id="R6d0dbdb66129441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18f6f610e5f4431" /><Relationship Type="http://schemas.openxmlformats.org/officeDocument/2006/relationships/notesSlide" Target="/ppt/notesSlides/notesSlide20.xml" Id="Rbf48ae50b38f49a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8ace893851c435f" /><Relationship Type="http://schemas.openxmlformats.org/officeDocument/2006/relationships/notesSlide" Target="/ppt/notesSlides/notesSlide21.xml" Id="R09200151933346b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8081d97def24211" /><Relationship Type="http://schemas.openxmlformats.org/officeDocument/2006/relationships/notesSlide" Target="/ppt/notesSlides/notesSlide22.xml" Id="Rcb48e5a5134f42d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e3661311eaf45dd" /><Relationship Type="http://schemas.openxmlformats.org/officeDocument/2006/relationships/image" Target="/ppt/media/image3.png" Id="R0d3e4e0c23d34a3f" /><Relationship Type="http://schemas.openxmlformats.org/officeDocument/2006/relationships/notesSlide" Target="/ppt/notesSlides/notesSlide23.xml" Id="R3e610496aa0f4ca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8c036eccd584f94" /><Relationship Type="http://schemas.openxmlformats.org/officeDocument/2006/relationships/notesSlide" Target="/ppt/notesSlides/notesSlide24.xml" Id="R1befaa12ffeb4cf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6285d6c3cc24ae0" /><Relationship Type="http://schemas.openxmlformats.org/officeDocument/2006/relationships/notesSlide" Target="/ppt/notesSlides/notesSlide25.xml" Id="R998ab9ebd6f6498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fc17a584452452b" /><Relationship Type="http://schemas.openxmlformats.org/officeDocument/2006/relationships/notesSlide" Target="/ppt/notesSlides/notesSlide26.xml" Id="R5f16784f9bc24e1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ac64041b8294408" /><Relationship Type="http://schemas.openxmlformats.org/officeDocument/2006/relationships/notesSlide" Target="/ppt/notesSlides/notesSlide27.xml" Id="R4d56eb9017e94bb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82bd573d67e413a" /><Relationship Type="http://schemas.openxmlformats.org/officeDocument/2006/relationships/notesSlide" Target="/ppt/notesSlides/notesSlide28.xml" Id="Rccb61d44761542c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7974014b8544aea" /><Relationship Type="http://schemas.openxmlformats.org/officeDocument/2006/relationships/notesSlide" Target="/ppt/notesSlides/notesSlide29.xml" Id="R83f2e8ebdd0340b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6501f15e81c4b18" /><Relationship Type="http://schemas.openxmlformats.org/officeDocument/2006/relationships/notesSlide" Target="/ppt/notesSlides/notesSlide30.xml" Id="Rbb971e3cd06f4b5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38aabcf3ca44e2e" /><Relationship Type="http://schemas.openxmlformats.org/officeDocument/2006/relationships/notesSlide" Target="/ppt/notesSlides/notesSlide31.xml" Id="R71a3cbbdfd464b8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4c7a12be82e4992" /><Relationship Type="http://schemas.openxmlformats.org/officeDocument/2006/relationships/notesSlide" Target="/ppt/notesSlides/notesSlide32.xml" Id="R1917e6736b6743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aba715fbaa34078" /><Relationship Type="http://schemas.openxmlformats.org/officeDocument/2006/relationships/hyperlink" Target="https://docs.google.com/forms/d/e/1FAIpQLSfHHR9NLI-zvGYZ2Xf7wgwxBjXO3bjfUZRIH9SX_g3JtGRLXQ/viewform" TargetMode="External" Id="R2d25035d257f4b3d" /><Relationship Type="http://schemas.openxmlformats.org/officeDocument/2006/relationships/notesSlide" Target="/ppt/notesSlides/notesSlide33.xml" Id="R2bec705024e0425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7dda1aca73e4707" /><Relationship Type="http://schemas.openxmlformats.org/officeDocument/2006/relationships/image" Target="/ppt/media/image4.png" Id="R044f86758fcb47c6" /><Relationship Type="http://schemas.openxmlformats.org/officeDocument/2006/relationships/hyperlink" Target="https://forms.gle/8BV6yg76yvUwbQGK9" TargetMode="External" Id="R1ad7080c13ee45aa" /><Relationship Type="http://schemas.openxmlformats.org/officeDocument/2006/relationships/notesSlide" Target="/ppt/notesSlides/notesSlide34.xml" Id="R8feff1de6d0a445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ad2c5ae08d54c10" /><Relationship Type="http://schemas.openxmlformats.org/officeDocument/2006/relationships/notesSlide" Target="/ppt/notesSlides/notesSlide35.xml" Id="R12cd50d2c10f49a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8d27a38f37524ad9" /><Relationship Type="http://schemas.openxmlformats.org/officeDocument/2006/relationships/hyperlink" Target="https://www.youtube.com/watch?v=fSytzGwwBVw" TargetMode="External" Id="R6f34674ab5a141d2" /><Relationship Type="http://schemas.openxmlformats.org/officeDocument/2006/relationships/notesSlide" Target="/ppt/notesSlides/notesSlide36.xml" Id="Rc1a2ab0075f341c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ae2e89d9d454f7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1772F74-283B-4D1D-8CC9-C889FE7B485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BED8D63-F244-47A0-B68B-E5A8FA805CF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10</a:t>
            </a:r>
          </a:p>
        </p:txBody>
      </p:sp>
      <p:sp>
        <p:nvSpPr>
          <p:cNvPr id="4" name="">
            <a:extLst xmlns:a="http://schemas.openxmlformats.org/drawingml/2006/main">
              <a:ext uri="{FF2B5EF4-FFF2-40B4-BE49-F238E27FC236}">
                <a16:creationId xmlns:a16="http://schemas.microsoft.com/office/drawing/2014/main" id="{55392A63-BD1F-4CFD-BAF5-81830B445301}"/>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0A8E97CF-9558-4E88-ADC4-46F752B6DE7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E70BDF99-04C4-437B-9D22-AC513625D6C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0042478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AF8F8A-EA57-4096-A016-177AFBD02A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EC9CD6-D6F6-4076-AE34-98192B453D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1A5AE54-DF89-41DB-9CD1-4E6903C295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C961566-E7CD-45F3-93C2-B37FF1CB10D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F147C1-4AFE-4408-9517-D3C6E4C79AFA}"/>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94E9A6BF-B3C8-4BAC-9829-90E315788270}"/>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0C22A1AB-1FBB-44DA-86D2-5379F9BFA609}"/>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C1FD71D-4D3A-4A35-95BE-B93AA96A3710}"/>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C4409608-C304-4DA9-A2DD-7FB7561184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a:t>
            </a:r>
          </a:p>
        </p:txBody>
      </p:sp>
    </p:spTree>
    <p:extLst>
      <p:ext uri="{BB962C8B-B14F-4D97-AF65-F5344CB8AC3E}">
        <p14:creationId xmlns:p14="http://schemas.microsoft.com/office/powerpoint/2010/main" val="1941459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5AF2D0-C37A-4C2A-905E-4A73CE390C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93C529-4204-440A-9C44-6739109FDB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C98634-ABA5-44D0-8B2A-89F4153090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7981EB4F-1CC2-48AA-9B58-989E4CC67C4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6E543B-23A9-4147-95D6-55DFA96E16E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have compared predictions with known answers.</a:t>
            </a:r>
          </a:p>
        </p:txBody>
      </p:sp>
      <p:sp>
        <p:nvSpPr>
          <p:cNvPr id="6" name="">
            <a:extLst xmlns:a="http://schemas.openxmlformats.org/drawingml/2006/main">
              <a:ext uri="{FF2B5EF4-FFF2-40B4-BE49-F238E27FC236}">
                <a16:creationId xmlns:a16="http://schemas.microsoft.com/office/drawing/2014/main" id="{D4519018-1830-4B9E-A11C-FCDC5D7EF6A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control which observations may influence training, choices and the final evaluation.</a:t>
            </a:r>
          </a:p>
        </p:txBody>
      </p:sp>
      <p:sp>
        <p:nvSpPr>
          <p:cNvPr id="7" name="">
            <a:extLst xmlns:a="http://schemas.openxmlformats.org/drawingml/2006/main">
              <a:ext uri="{FF2B5EF4-FFF2-40B4-BE49-F238E27FC236}">
                <a16:creationId xmlns:a16="http://schemas.microsoft.com/office/drawing/2014/main" id="{6D8AF248-0F0A-44FF-BB67-E00C8486C9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a:t>
            </a:r>
          </a:p>
        </p:txBody>
      </p:sp>
    </p:spTree>
    <p:extLst>
      <p:ext uri="{BB962C8B-B14F-4D97-AF65-F5344CB8AC3E}">
        <p14:creationId xmlns:p14="http://schemas.microsoft.com/office/powerpoint/2010/main" val="229307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2BE36DC-82FC-4395-965D-09561E88DB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06D84B-25EE-4995-97BE-4075747576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E32F66E-FD4F-4F65-BECF-C9CD511CE9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EC5BB745-FAE1-4F46-AC3D-997975897E9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8904CC-B3B6-4D83-8517-241C668FF55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want evidence about new equipment or future observations.</a:t>
            </a:r>
          </a:p>
        </p:txBody>
      </p:sp>
      <p:sp>
        <p:nvSpPr>
          <p:cNvPr id="6" name="">
            <a:extLst xmlns:a="http://schemas.openxmlformats.org/drawingml/2006/main">
              <a:ext uri="{FF2B5EF4-FFF2-40B4-BE49-F238E27FC236}">
                <a16:creationId xmlns:a16="http://schemas.microsoft.com/office/drawing/2014/main" id="{2F511F2B-8888-476A-ACA8-A21A803AFD7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way we separate data must match that use before any model or preprocessing learns from it.</a:t>
            </a:r>
          </a:p>
        </p:txBody>
      </p:sp>
      <p:sp>
        <p:nvSpPr>
          <p:cNvPr id="7" name="">
            <a:extLst xmlns:a="http://schemas.openxmlformats.org/drawingml/2006/main">
              <a:ext uri="{FF2B5EF4-FFF2-40B4-BE49-F238E27FC236}">
                <a16:creationId xmlns:a16="http://schemas.microsoft.com/office/drawing/2014/main" id="{706B02C8-1470-4E2B-9D75-1FC29DC947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a:t>
            </a:r>
          </a:p>
        </p:txBody>
      </p:sp>
    </p:spTree>
    <p:extLst>
      <p:ext uri="{BB962C8B-B14F-4D97-AF65-F5344CB8AC3E}">
        <p14:creationId xmlns:p14="http://schemas.microsoft.com/office/powerpoint/2010/main" val="14992031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CBA1CD5-D6D1-468C-821F-3FA240E2A1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84BB71-FE34-493A-A111-D8A3E77DA0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F0AA97-AF2B-4CE1-9930-516F80AF1B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A551ED61-0D11-4B31-BF6C-21B16E4DDDA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A73B62-53B8-48DB-9161-661E2470E42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8DC403C9-6AA3-41AA-B336-AE76CF10220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DACF17-CCAC-4302-9C3D-BF1D08179E7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6B55FE60-4124-4A11-9E78-02C5C676762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C54082-4114-474F-BF0A-5424D85B6BF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E389EFDB-5E36-4374-B28A-F884359D0E9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B15A6D3-4018-46D4-B35F-9BEC7232AF5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33D8A7DB-6681-4DD8-85A6-1646A61C67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5</a:t>
            </a:r>
          </a:p>
        </p:txBody>
      </p:sp>
    </p:spTree>
    <p:extLst>
      <p:ext uri="{BB962C8B-B14F-4D97-AF65-F5344CB8AC3E}">
        <p14:creationId xmlns:p14="http://schemas.microsoft.com/office/powerpoint/2010/main" val="149223095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695F643-AE98-4392-8504-223134DFDD3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C01FAE-9765-4EB4-9DFE-CF2A07262FB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cbd74bee18e44d5"/>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2C32BBB-9412-42CC-9C94-18DC76D1B79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26B129-CDBE-4194-8278-1E0EA23FFDB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420DA2DD-19FE-44C1-9002-169887D476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6</a:t>
            </a:r>
          </a:p>
        </p:txBody>
      </p:sp>
    </p:spTree>
    <p:extLst>
      <p:ext uri="{BB962C8B-B14F-4D97-AF65-F5344CB8AC3E}">
        <p14:creationId xmlns:p14="http://schemas.microsoft.com/office/powerpoint/2010/main" val="37055415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47B4B7-FAEB-4AD1-BDEB-0C84740F04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81B892-F110-4396-9124-0E67C05B31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292914D-E0E7-48FB-A457-6D7BEA399C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Generalisation and Overfitting and underfitting</a:t>
            </a:r>
          </a:p>
        </p:txBody>
      </p:sp>
      <p:sp>
        <p:nvSpPr>
          <p:cNvPr id="4" name="">
            <a:extLst xmlns:a="http://schemas.openxmlformats.org/drawingml/2006/main">
              <a:ext uri="{FF2B5EF4-FFF2-40B4-BE49-F238E27FC236}">
                <a16:creationId xmlns:a16="http://schemas.microsoft.com/office/drawing/2014/main" id="{404269E3-3CCC-4C82-9A57-161598CD50C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4205D5-7648-4DF0-A1E4-8E86A0E7A02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7A7ED57C-D1E3-46EF-8D34-F024A6D6BB3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825C60F7-159E-4B1B-AA45-1DF92529E78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5B5A7EC-A4F9-4DE3-B448-17DC3CA5354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DB4C7C43-D855-42F7-A84E-E6B094D6BED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301FC7C3-2F7D-4A61-8ABF-ECEBB1542C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7</a:t>
            </a:r>
          </a:p>
        </p:txBody>
      </p:sp>
    </p:spTree>
    <p:extLst>
      <p:ext uri="{BB962C8B-B14F-4D97-AF65-F5344CB8AC3E}">
        <p14:creationId xmlns:p14="http://schemas.microsoft.com/office/powerpoint/2010/main" val="153214621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432824-3AAA-42CE-83C0-BD04B0E0D1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0C726A-65B8-4D9A-A303-74CB0CF433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2565D80-7DB5-4A91-97B2-EA1C9200BE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and Group split</a:t>
            </a:r>
          </a:p>
        </p:txBody>
      </p:sp>
      <p:sp>
        <p:nvSpPr>
          <p:cNvPr id="4" name="">
            <a:extLst xmlns:a="http://schemas.openxmlformats.org/drawingml/2006/main">
              <a:ext uri="{FF2B5EF4-FFF2-40B4-BE49-F238E27FC236}">
                <a16:creationId xmlns:a16="http://schemas.microsoft.com/office/drawing/2014/main" id="{75B35614-52FB-4A81-8DBE-0CC9A0DE6DD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8FFC2F-739E-43B9-A185-0E434CBF686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C3926322-A680-4B79-B68F-82802C90329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163573F7-BB88-4AA8-8429-7A3395E1F67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362AB4F-9536-4967-92B8-274CBAC8030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1D9AEB9B-C685-4438-9303-36BCC7C99DF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743D6952-5005-4DF3-9B77-8AEA166591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8</a:t>
            </a:r>
          </a:p>
        </p:txBody>
      </p:sp>
    </p:spTree>
    <p:extLst>
      <p:ext uri="{BB962C8B-B14F-4D97-AF65-F5344CB8AC3E}">
        <p14:creationId xmlns:p14="http://schemas.microsoft.com/office/powerpoint/2010/main" val="11577200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69F897-033D-4AF6-8933-13CB9A1DF3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D4DDA1-095A-45A3-8C72-500E80D582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961CB8-61E9-49A6-8C32-1A1A442647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F6B0256C-A8F4-4909-B8C6-30D3DB9FFA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A23AAA-3175-479B-B224-C61B334437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30677194-D44D-44D1-B24D-703FF869668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C535A3-35C2-46B8-93E2-279397ABA05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9712810F-4936-45EF-8B3B-3BFA1BE035E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469E6E-AE35-492B-B3D4-F26B72960CC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9B6649D4-5D31-4CDD-B830-E6691AE41E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9</a:t>
            </a:r>
          </a:p>
        </p:txBody>
      </p:sp>
    </p:spTree>
    <p:extLst>
      <p:ext uri="{BB962C8B-B14F-4D97-AF65-F5344CB8AC3E}">
        <p14:creationId xmlns:p14="http://schemas.microsoft.com/office/powerpoint/2010/main" val="14268471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350BFF-E2A8-477F-8AA1-3287EEABB4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4D322D-5F94-4760-962F-29C132D9E3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04AE33F-0051-42D1-99D2-2235623982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BDB894F-CF8F-47EB-A684-BBA21F062EF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toy split explains group separation.</a:t>
            </a:r>
          </a:p>
        </p:txBody>
      </p:sp>
      <p:sp>
        <p:nvSpPr>
          <p:cNvPr id="6" name="">
            <a:extLst xmlns:a="http://schemas.openxmlformats.org/drawingml/2006/main">
              <a:ext uri="{FF2B5EF4-FFF2-40B4-BE49-F238E27FC236}">
                <a16:creationId xmlns:a16="http://schemas.microsoft.com/office/drawing/2014/main" id="{5E34F16A-15DC-45B3-AC8B-923B17811C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10</a:t>
            </a:r>
          </a:p>
        </p:txBody>
      </p:sp>
    </p:spTree>
    <p:extLst>
      <p:ext uri="{BB962C8B-B14F-4D97-AF65-F5344CB8AC3E}">
        <p14:creationId xmlns:p14="http://schemas.microsoft.com/office/powerpoint/2010/main" val="833743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9AF9AD4-EC01-47BB-9917-4B7CF6567D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D8FE2E-1BF9-472F-B208-5C0DD27AC6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D1C2CAB-45FA-46EE-BC9B-3BDCF8D057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(1/2)</a:t>
            </a:r>
          </a:p>
        </p:txBody>
      </p:sp>
      <p:sp>
        <p:nvSpPr>
          <p:cNvPr id="4" name="">
            <a:extLst xmlns:a="http://schemas.openxmlformats.org/drawingml/2006/main">
              <a:ext uri="{FF2B5EF4-FFF2-40B4-BE49-F238E27FC236}">
                <a16:creationId xmlns:a16="http://schemas.microsoft.com/office/drawing/2014/main" id="{A2B16404-87C9-4C27-BE13-E4E9ACB3363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74914E-DF50-4823-88E2-DD6FDD07ADF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F8DAB835-8059-4950-B0B9-C61B6CC27A7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088158A-81BE-4161-AF4B-A17FF6A801E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F45D87EB-C039-4F37-9507-9D9078DE1B9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40AEEE5E-88A6-4336-9C44-93B7FF7903A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253589E9-DEA3-43F5-9C55-1EC70F4AF36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30404525-92E4-49A5-A20C-054D6A9291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11</a:t>
            </a:r>
          </a:p>
        </p:txBody>
      </p:sp>
    </p:spTree>
    <p:extLst>
      <p:ext uri="{BB962C8B-B14F-4D97-AF65-F5344CB8AC3E}">
        <p14:creationId xmlns:p14="http://schemas.microsoft.com/office/powerpoint/2010/main" val="1936815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12D0675-D991-4810-80A9-2963449ABA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F62A01-7CE4-4833-889C-E6C06A1084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8B3862-5BDF-446A-9997-4E6D71BEAE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(2/2)</a:t>
            </a:r>
          </a:p>
        </p:txBody>
      </p:sp>
      <p:sp>
        <p:nvSpPr>
          <p:cNvPr id="4" name="">
            <a:extLst xmlns:a="http://schemas.openxmlformats.org/drawingml/2006/main">
              <a:ext uri="{FF2B5EF4-FFF2-40B4-BE49-F238E27FC236}">
                <a16:creationId xmlns:a16="http://schemas.microsoft.com/office/drawing/2014/main" id="{FD103504-804D-4EC5-BC52-CD71674094E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7BB70C-CE56-4383-8384-BDB20CD6052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ED58B3B5-5815-46D6-BBA3-015E02B77B5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07EA767-D8B4-4567-BDEC-B575366664A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71A1D29B-D59A-49DB-B6F0-D40B9674E3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EC989E0-19A2-4719-935C-D882D1C5F71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42E931F8-50A1-4760-B38D-DEC1CF9A9B0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E632E246-A465-4474-AE55-D8E5ABE0DE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12</a:t>
            </a:r>
          </a:p>
        </p:txBody>
      </p:sp>
    </p:spTree>
    <p:extLst>
      <p:ext uri="{BB962C8B-B14F-4D97-AF65-F5344CB8AC3E}">
        <p14:creationId xmlns:p14="http://schemas.microsoft.com/office/powerpoint/2010/main" val="95599386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985638-7C19-4FDB-BAB3-EC70687330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89D313-BDF2-4CBB-9B7F-178BEAA262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0C26CBB-8541-4AD3-8EDD-51DE7A44EB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results</a:t>
            </a:r>
          </a:p>
        </p:txBody>
      </p:sp>
      <p:sp>
        <p:nvSpPr>
          <p:cNvPr id="4" name="">
            <a:extLst xmlns:a="http://schemas.openxmlformats.org/drawingml/2006/main">
              <a:ext uri="{FF2B5EF4-FFF2-40B4-BE49-F238E27FC236}">
                <a16:creationId xmlns:a16="http://schemas.microsoft.com/office/drawing/2014/main" id="{6C9B1A47-EC9C-4ABF-95A2-8E4233AC5C7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BA1427-C668-4227-82AB-EBAEC141A01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FE049191-ACEB-4725-8ACF-FA931D5CADB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89D8EBE-D4D2-4473-8878-A122B833A3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13</a:t>
            </a:r>
          </a:p>
        </p:txBody>
      </p:sp>
    </p:spTree>
    <p:extLst>
      <p:ext uri="{BB962C8B-B14F-4D97-AF65-F5344CB8AC3E}">
        <p14:creationId xmlns:p14="http://schemas.microsoft.com/office/powerpoint/2010/main" val="53949597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ACEABF-282B-4566-86A5-E8806643FB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915453-43ED-44E9-9B6D-909FABE077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CD0452B-22D0-43C3-B145-947CA33449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6CB9BC1B-0342-47BA-836D-614FC7B67D6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95FE5E-19AD-40AE-8D57-BCE59B45C34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7097AD51-D725-4BE5-91BA-63AF9D8832B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CAD29CE5-1FEC-4E3F-869D-3FE1AFCD2A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14</a:t>
            </a:r>
          </a:p>
        </p:txBody>
      </p:sp>
    </p:spTree>
    <p:extLst>
      <p:ext uri="{BB962C8B-B14F-4D97-AF65-F5344CB8AC3E}">
        <p14:creationId xmlns:p14="http://schemas.microsoft.com/office/powerpoint/2010/main" val="86746658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38B3A5-82FF-46D2-AA79-1A30C8BEBE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72F2C3-5EEC-4B75-B599-880E9B0EA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C3D122-EB8D-4273-A241-57D7A8995B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80F611A9-BDD3-4896-9D66-A75FEE6C93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66336D-9CE8-49C3-A410-A2AE7B3CF5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75CC7716-11A3-4DB3-A8A3-30648874E10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2E1770-14DB-4CF2-A604-A80FEA7B5FF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AE07878A-5396-4525-B011-82079C7A4BE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954478-AE96-4DB7-9BEA-0069546F17D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0BC34F47-A149-41BB-8A32-6284D0B17A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15</a:t>
            </a:r>
          </a:p>
        </p:txBody>
      </p:sp>
    </p:spTree>
    <p:extLst>
      <p:ext uri="{BB962C8B-B14F-4D97-AF65-F5344CB8AC3E}">
        <p14:creationId xmlns:p14="http://schemas.microsoft.com/office/powerpoint/2010/main" val="9472105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C35DD5F-3765-4C51-8D01-6C5DE5EB26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D0D2A2-C215-42C6-B4DA-72C8543484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ADBA9A0-CC9E-4B8F-A0B4-5E30E77C85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827789F7-D878-4AD6-88EB-61289B79D6F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1DADE1E-9790-447E-8CE5-E918FD62ACF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EE801311-8F6D-48DF-84D4-422B6B7CEB4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60A43ED-B54F-4D08-AF78-9C61C72C4CF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9C5E70B3-A22D-4A8B-865F-29602737EE7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01F9344B-FC0E-4577-9D42-496508EF174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113147DB-6ACC-4E1D-B8BD-97D1B6D6A6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320F6D2-5E92-4083-924E-C6E376DAC5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16</a:t>
            </a:r>
          </a:p>
        </p:txBody>
      </p:sp>
    </p:spTree>
    <p:extLst>
      <p:ext uri="{BB962C8B-B14F-4D97-AF65-F5344CB8AC3E}">
        <p14:creationId xmlns:p14="http://schemas.microsoft.com/office/powerpoint/2010/main" val="165793812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790DC0-66BE-40C1-8B8E-542BC34C32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410752-749C-426D-BFB5-2332AE4235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463664-D5D1-40D0-8499-5ADB5B92DC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CC0AB789-6D12-4BA7-B01F-D0F795A0902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912FA2-CBEB-44A5-AAF0-6BBF662D0F6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2198A720-7170-40D6-91AE-56143307B78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4B8717EB-0C7F-42DF-8AD3-1049D2B01B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6F684579-EF84-4852-A33B-7678C6C742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17</a:t>
            </a:r>
          </a:p>
        </p:txBody>
      </p:sp>
    </p:spTree>
    <p:extLst>
      <p:ext uri="{BB962C8B-B14F-4D97-AF65-F5344CB8AC3E}">
        <p14:creationId xmlns:p14="http://schemas.microsoft.com/office/powerpoint/2010/main" val="1263659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C95A2A-063A-4B2D-AF88-4070125C25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233B79-C121-4206-86C6-FE62156E5C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960201-CFA4-48F3-8A96-74A0908F1C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493C2505-966C-4A55-92C7-80155CE000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97F689-ACDA-49CF-A3C6-E5ADF24DA80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CE6D1573-4AA6-4104-8554-2CA5538D27B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67D721-B3BD-4E1D-ABF4-9FD786B6C8B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97D92AE2-C7EE-480D-B573-149494687C8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C7FB0B5-C714-446D-B4F8-367F09B4D5A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DECAF346-15D4-4985-9CEE-C4F61AF06E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18</a:t>
            </a:r>
          </a:p>
        </p:txBody>
      </p:sp>
    </p:spTree>
    <p:extLst>
      <p:ext uri="{BB962C8B-B14F-4D97-AF65-F5344CB8AC3E}">
        <p14:creationId xmlns:p14="http://schemas.microsoft.com/office/powerpoint/2010/main" val="4432051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F400D6-0F2A-4E35-95DD-9C5CF18213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509BAA-9B9B-4A3A-866A-1A3B33BB09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627119-2A27-4B9E-B31A-F805304B5E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Parameters hyperparameters and a fold</a:t>
            </a:r>
          </a:p>
        </p:txBody>
      </p:sp>
      <p:sp>
        <p:nvSpPr>
          <p:cNvPr id="4" name="">
            <a:extLst xmlns:a="http://schemas.openxmlformats.org/drawingml/2006/main">
              <a:ext uri="{FF2B5EF4-FFF2-40B4-BE49-F238E27FC236}">
                <a16:creationId xmlns:a16="http://schemas.microsoft.com/office/drawing/2014/main" id="{C0FF226D-0B3D-4B45-8D88-D1C70E6547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9369EB0-444B-4C59-A449-0816B1183BD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parameter is learned during fitting, such as a line’s slope. A hyperparameter is a setting chosen around fitting, such as a tree’s max_depth.</a:t>
            </a:r>
          </a:p>
        </p:txBody>
      </p:sp>
      <p:sp>
        <p:nvSpPr>
          <p:cNvPr id="6" name="">
            <a:extLst xmlns:a="http://schemas.openxmlformats.org/drawingml/2006/main">
              <a:ext uri="{FF2B5EF4-FFF2-40B4-BE49-F238E27FC236}">
                <a16:creationId xmlns:a16="http://schemas.microsoft.com/office/drawing/2014/main" id="{17D8DD6C-E7E7-4C98-8AE3-F22AE23002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8B22812-8425-4E40-AF09-DB2281A86A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fold is one part of the development data used for a validation turn. Refit the entire preprocessing and model on the other parts for that turn.</a:t>
            </a:r>
          </a:p>
        </p:txBody>
      </p:sp>
      <p:sp>
        <p:nvSpPr>
          <p:cNvPr id="8" name="">
            <a:extLst xmlns:a="http://schemas.openxmlformats.org/drawingml/2006/main">
              <a:ext uri="{FF2B5EF4-FFF2-40B4-BE49-F238E27FC236}">
                <a16:creationId xmlns:a16="http://schemas.microsoft.com/office/drawing/2014/main" id="{7C328FBD-D79B-46E0-8D0F-A4031BC71DA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584C1F-BD01-4568-A5E1-5E44E7CBBA6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candidate settings using validation evidence. Keep the final test outside that selection process.</a:t>
            </a:r>
          </a:p>
        </p:txBody>
      </p:sp>
      <p:sp>
        <p:nvSpPr>
          <p:cNvPr id="10" name="">
            <a:extLst xmlns:a="http://schemas.openxmlformats.org/drawingml/2006/main">
              <a:ext uri="{FF2B5EF4-FFF2-40B4-BE49-F238E27FC236}">
                <a16:creationId xmlns:a16="http://schemas.microsoft.com/office/drawing/2014/main" id="{9C3BE7E6-5E42-4BF9-BF34-12B323350D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19</a:t>
            </a:r>
          </a:p>
        </p:txBody>
      </p:sp>
    </p:spTree>
    <p:extLst>
      <p:ext uri="{BB962C8B-B14F-4D97-AF65-F5344CB8AC3E}">
        <p14:creationId xmlns:p14="http://schemas.microsoft.com/office/powerpoint/2010/main" val="123946307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19A4A19-953D-4331-B4B1-72B587EC49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8A689E-D152-472E-BB19-9484A06535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3B40DCD-3F60-4F49-B5B6-B70B4BE637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9A2B4F44-E0E8-4BFB-A971-410FC38C8B0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B46733-EB35-4C68-AFE5-C6C6FDD614E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DF13B032-E8E1-4FB0-874E-64BDFA1A739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58B9F246-CEA9-45B4-B4F3-1E2DCDDBEB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20</a:t>
            </a:r>
          </a:p>
        </p:txBody>
      </p:sp>
    </p:spTree>
    <p:extLst>
      <p:ext uri="{BB962C8B-B14F-4D97-AF65-F5344CB8AC3E}">
        <p14:creationId xmlns:p14="http://schemas.microsoft.com/office/powerpoint/2010/main" val="175154955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136008-9B5E-44EA-AE03-1F2A1F31C1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82B1C5-B6B3-4AC6-8576-EDF93C4B54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D76803-7C59-429B-9AE5-8B135AFFA9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500D589C-B6C0-4AFA-A5B4-619ACB9EB1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25A5D6-EF62-4A6C-A04A-F9A9E71A2DE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A4F45D02-7E78-4772-A331-F41F6F70A3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FC6156-41CE-4DE0-9494-58FDD5790EF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B6417F2E-BF16-40E4-8AFA-31802B6E701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3144B7-B803-4D9D-BC60-9289BE67210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F526256E-C2A9-4638-89FA-CF0D01A59A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21</a:t>
            </a:r>
          </a:p>
        </p:txBody>
      </p:sp>
    </p:spTree>
    <p:extLst>
      <p:ext uri="{BB962C8B-B14F-4D97-AF65-F5344CB8AC3E}">
        <p14:creationId xmlns:p14="http://schemas.microsoft.com/office/powerpoint/2010/main" val="177389659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86DBC9-C5EE-4B14-8554-5F00DC2DE2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82B9F9-7E81-40FE-8965-816FE4C91B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F768620-0EC5-430A-8144-61DD56737C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three validation turns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Turn</a:t>
                      </a:r>
                    </a:p>
                  </a:txBody>
                  <a:tcPr marL="91440" marR="91440" marT="45720" marB="45720">
                    <a:solidFill>
                      <a:srgbClr val="2E7D6F"/>
                    </a:solidFill>
                  </a:tcPr>
                </a:tc>
                <a:tc>
                  <a:txBody>
                    <a:bodyPr/>
                    <a:lstStyle/>
                    <a:p>
                      <a:r>
                        <a:rPr sz="2025" b="1">
                          <a:solidFill>
                            <a:srgbClr val="FFFFFF"/>
                          </a:solidFill>
                          <a:latin typeface="Calibri"/>
                          <a:ea typeface="Calibri"/>
                          <a:cs typeface="Calibri"/>
                        </a:rPr>
                        <a:t>Fit using</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Validate using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Parts B and C</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 A</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Parts A and C</a:t>
                      </a:r>
                    </a:p>
                  </a:txBody>
                  <a:tcPr marL="91440" marR="91440" marT="45720" marB="45720">
                    <a:solidFill>
                      <a:srgbClr val="FFFFFF"/>
                    </a:solidFill>
                  </a:tcPr>
                </a:tc>
                <a:tc>
                  <a:txBody>
                    <a:bodyPr/>
                    <a:lstStyle/>
                    <a:p>
                      <a:r>
                        <a:rPr sz="2025" b="0">
                          <a:solidFill>
                            <a:srgbClr val="1C3144"/>
                          </a:solidFill>
                          <a:latin typeface="Calibri"/>
                          <a:ea typeface="Calibri"/>
                          <a:cs typeface="Calibri"/>
                        </a:rPr>
                        <a:t>Part B</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Parts A and B</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 C</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F6CD88A-4DCB-4A4F-9703-9BCECD1D82E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Refit preprocessing in every turn. The separate final test is not A, B or C.</a:t>
            </a:r>
          </a:p>
        </p:txBody>
      </p:sp>
      <p:sp>
        <p:nvSpPr>
          <p:cNvPr id="6" name="">
            <a:extLst xmlns:a="http://schemas.openxmlformats.org/drawingml/2006/main">
              <a:ext uri="{FF2B5EF4-FFF2-40B4-BE49-F238E27FC236}">
                <a16:creationId xmlns:a16="http://schemas.microsoft.com/office/drawing/2014/main" id="{9D518438-0D10-456D-8801-48854B0273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22</a:t>
            </a:r>
          </a:p>
        </p:txBody>
      </p:sp>
    </p:spTree>
    <p:extLst>
      <p:ext uri="{BB962C8B-B14F-4D97-AF65-F5344CB8AC3E}">
        <p14:creationId xmlns:p14="http://schemas.microsoft.com/office/powerpoint/2010/main" val="187516898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D8AC92-74C2-4AA1-B4C6-4E7DF9424D8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02D9E8-327D-43E5-9C49-69B6C525B0F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d3e4e0c23d34a3f"/>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12D3E61-C059-462A-9E2A-C2AAA76388C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135B681-29AC-4433-BB73-4E5AA6C9D12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98A5BCC8-2709-475A-A887-60ED0DE293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23</a:t>
            </a:r>
          </a:p>
        </p:txBody>
      </p:sp>
    </p:spTree>
    <p:extLst>
      <p:ext uri="{BB962C8B-B14F-4D97-AF65-F5344CB8AC3E}">
        <p14:creationId xmlns:p14="http://schemas.microsoft.com/office/powerpoint/2010/main" val="200962249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2EA4E4-ECAB-4C3C-8A37-E99346B30A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300C5B-17DA-4FEC-BE41-EF04BD95BB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233A45C-7B92-4425-8E6D-647BCFBB52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77AFF034-E38C-4A83-AA83-B48E5DB04FB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5361A9-F7C3-4863-9149-A543CF6108E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C40CF17A-85B3-41C5-8EBC-4B03AA13722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D689BB96-3F39-42F8-B008-148606D024E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F442841-8854-448A-92EC-6019D19BC8D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89C3891E-4EE7-4CDD-AE37-EFBA10579AB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07D3850D-785C-4389-8F04-D8D5E82BF7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24</a:t>
            </a:r>
          </a:p>
        </p:txBody>
      </p:sp>
    </p:spTree>
    <p:extLst>
      <p:ext uri="{BB962C8B-B14F-4D97-AF65-F5344CB8AC3E}">
        <p14:creationId xmlns:p14="http://schemas.microsoft.com/office/powerpoint/2010/main" val="124018755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446965-F535-4071-93AD-2010FDCE1B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3218F6-8F3C-44DA-BE29-F62121FD07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7BA8B5-D8F0-48E1-93BE-C57405D3FA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9B06582F-A3FD-4604-B110-8D26E810AA9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F81293-BA77-4D79-8559-0DC313378F1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52F8622-7927-40C1-8B15-5302A7B434B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second observation from B arrives. Where does it go? Why not put it into training just to balance row counts?</a:t>
            </a:r>
          </a:p>
        </p:txBody>
      </p:sp>
      <p:sp>
        <p:nvSpPr>
          <p:cNvPr id="7" name="">
            <a:extLst xmlns:a="http://schemas.openxmlformats.org/drawingml/2006/main">
              <a:ext uri="{FF2B5EF4-FFF2-40B4-BE49-F238E27FC236}">
                <a16:creationId xmlns:a16="http://schemas.microsoft.com/office/drawing/2014/main" id="{9F8BA59C-2AAF-4921-8336-CFD81BB2656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It stays with B in validation. Mixing a source across partitions can give an overly optimistic estimate for unseen equipment.</a:t>
            </a:r>
          </a:p>
        </p:txBody>
      </p:sp>
      <p:sp>
        <p:nvSpPr>
          <p:cNvPr id="8" name="">
            <a:extLst xmlns:a="http://schemas.openxmlformats.org/drawingml/2006/main">
              <a:ext uri="{FF2B5EF4-FFF2-40B4-BE49-F238E27FC236}">
                <a16:creationId xmlns:a16="http://schemas.microsoft.com/office/drawing/2014/main" id="{8846B129-F1F7-46C5-A50E-978387A5C4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25</a:t>
            </a:r>
          </a:p>
        </p:txBody>
      </p:sp>
    </p:spTree>
    <p:extLst>
      <p:ext uri="{BB962C8B-B14F-4D97-AF65-F5344CB8AC3E}">
        <p14:creationId xmlns:p14="http://schemas.microsoft.com/office/powerpoint/2010/main" val="139807049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BD89EF-B3DA-44A1-B01E-A3D5D6DAC3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28FED0-1BE4-44B0-B8C6-DA6FE8CF8F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DA8B903-16A0-40E6-9214-5C73A86DF7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60DD25F6-44CF-4C2D-8DF7-DC5614427F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476557F-3AA5-4795-9005-C1A561B4486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xmlns:a="http://schemas.openxmlformats.org/drawingml/2006/main">
              <a:ext uri="{FF2B5EF4-FFF2-40B4-BE49-F238E27FC236}">
                <a16:creationId xmlns:a16="http://schemas.microsoft.com/office/drawing/2014/main" id="{ACD8BD99-0231-4AC6-8267-3A559163D8A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9479816-5EDA-4102-9014-F4C714D633D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xmlns:a="http://schemas.openxmlformats.org/drawingml/2006/main">
              <a:ext uri="{FF2B5EF4-FFF2-40B4-BE49-F238E27FC236}">
                <a16:creationId xmlns:a16="http://schemas.microsoft.com/office/drawing/2014/main" id="{D1610614-5FFB-4640-8297-98FC13130EF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57ADD1-73E7-47FF-B233-1710BF318FF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xmlns:a="http://schemas.openxmlformats.org/drawingml/2006/main">
              <a:ext uri="{FF2B5EF4-FFF2-40B4-BE49-F238E27FC236}">
                <a16:creationId xmlns:a16="http://schemas.microsoft.com/office/drawing/2014/main" id="{410BA10F-1C83-4722-8DF9-B427813D0F0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6FA9DD-5E97-4594-A47C-F6A07517F31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GroupShuffleSplit and time-based splitting solve different deployment questions; use the rule in the issued task.</a:t>
            </a:r>
          </a:p>
        </p:txBody>
      </p:sp>
      <p:sp>
        <p:nvSpPr>
          <p:cNvPr id="12" name="">
            <a:extLst xmlns:a="http://schemas.openxmlformats.org/drawingml/2006/main">
              <a:ext uri="{FF2B5EF4-FFF2-40B4-BE49-F238E27FC236}">
                <a16:creationId xmlns:a16="http://schemas.microsoft.com/office/drawing/2014/main" id="{65DCCFB3-0AF9-4747-B62B-597A31FE36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26</a:t>
            </a:r>
          </a:p>
        </p:txBody>
      </p:sp>
    </p:spTree>
    <p:extLst>
      <p:ext uri="{BB962C8B-B14F-4D97-AF65-F5344CB8AC3E}">
        <p14:creationId xmlns:p14="http://schemas.microsoft.com/office/powerpoint/2010/main" val="24898077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75C057-1ACF-412D-BA00-AA42760384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674566-6733-4884-8C33-2DD9F1EB71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706F4E-3E17-4BE4-8AA4-83F64FFA4D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FF195C19-4C74-49CC-BD09-43C12E1C00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9D201D-24AB-44F0-8336-48B29A01D20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6B4E41EC-D27C-4800-8E02-5B0E4A2DBE8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17BA33-16AD-40B5-AAB1-AD116D023DC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FDECAFC1-0B81-4FBE-B72F-5E79BBD9481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4171B37-93D9-4BB6-9CB9-3EA31289818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B3C739AF-B336-43E7-8BDF-C5D82F72F3A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98C542D-6AE7-4D77-A5CC-6AAB31CB066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0C302A58-5FE9-406F-AE58-0D6F8F7BBF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27</a:t>
            </a:r>
          </a:p>
        </p:txBody>
      </p:sp>
    </p:spTree>
    <p:extLst>
      <p:ext uri="{BB962C8B-B14F-4D97-AF65-F5344CB8AC3E}">
        <p14:creationId xmlns:p14="http://schemas.microsoft.com/office/powerpoint/2010/main" val="151847297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2DB55B-AFB1-41E8-A8CA-30CD837A2B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19D47E-E2D9-4B7D-BC12-0EF4C6E9F4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210EAF-D421-4777-B9C7-7CB066585F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F8DD96A6-FC77-4E41-BBA4-A98CD05EA6A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287CE8-453E-4F7B-8EE3-F9403DE64AF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E454C327-D148-48F0-8B0B-2279A99ABF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28</a:t>
            </a:r>
          </a:p>
        </p:txBody>
      </p:sp>
    </p:spTree>
    <p:extLst>
      <p:ext uri="{BB962C8B-B14F-4D97-AF65-F5344CB8AC3E}">
        <p14:creationId xmlns:p14="http://schemas.microsoft.com/office/powerpoint/2010/main" val="170714966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E2838BC-C773-4158-8447-874EECBE52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7D0AD2-F276-482E-9A69-78B69B4956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E88794B-9543-4131-920B-721E59CCA6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D2164470-6E10-403C-B6AD-EDD0CECF4C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03F5EB-1409-4F28-B322-594A32F8120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7D2675F9-E9D5-4FA8-BB40-9504B3E89E7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34506E-9447-4D94-8233-5F75ECE06C9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6C5C7649-C4C0-4822-8ED5-F3365EA34D6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D24F15-389A-44A9-B84F-553D8DB8D92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F6E99061-A964-4713-8434-389921217BE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E296D09-96F2-463A-8D58-B652B1D4762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C2EF777-CE7F-4DE0-89CB-36150CB770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29</a:t>
            </a:r>
          </a:p>
        </p:txBody>
      </p:sp>
    </p:spTree>
    <p:extLst>
      <p:ext uri="{BB962C8B-B14F-4D97-AF65-F5344CB8AC3E}">
        <p14:creationId xmlns:p14="http://schemas.microsoft.com/office/powerpoint/2010/main" val="152091770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6DDBCCF-633C-4724-9BB5-C55E3B085E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63039C-1D4C-45B0-A4DC-67CF4C62A0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C863F9E-509D-42E6-9164-9DDF31C0D9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EA9C5985-77BE-4DE5-8767-C0B0003138E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A71CC5-06B6-4295-B100-0DDFDD28BF1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9E645C0F-9EC4-4324-B99B-34133275E3F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193797F-C263-4D4D-90C2-BBFB420FF07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4A8E8C4-4526-4AC9-B1DC-BB58BC234C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30</a:t>
            </a:r>
          </a:p>
        </p:txBody>
      </p:sp>
    </p:spTree>
    <p:extLst>
      <p:ext uri="{BB962C8B-B14F-4D97-AF65-F5344CB8AC3E}">
        <p14:creationId xmlns:p14="http://schemas.microsoft.com/office/powerpoint/2010/main" val="179566557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A70C48-3424-42BB-AE04-C8E0967D5C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CF8228-D022-4C12-A70A-380CA5DF77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DA7B000-A970-4A24-BB63-71A5F25F98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95716D04-7092-42CE-8DC5-79C3BEFC57F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8E6106-1570-40F4-8A11-544345BA4DF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8C78F78D-FA8E-4F26-8E01-4F7B3C33A10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BC96AE5-B6F4-4F0A-9E0D-8C5DC3E50B3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C5048CD-F706-4DFB-B5B0-DF34C36DA7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31</a:t>
            </a:r>
          </a:p>
        </p:txBody>
      </p:sp>
    </p:spTree>
    <p:extLst>
      <p:ext uri="{BB962C8B-B14F-4D97-AF65-F5344CB8AC3E}">
        <p14:creationId xmlns:p14="http://schemas.microsoft.com/office/powerpoint/2010/main" val="170843869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CCF30C9-602C-4C7B-AA08-5599F6508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809F7C-BBF0-4589-ABDD-8659B90E37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026C0B3-9C3D-4EB5-A2F9-E036CEC67D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6D37FEDA-3845-4DFA-80EF-13F8AEB373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50297C-0E36-408E-9A8A-8E4C55EEB32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F2E3AED-F3CD-47C3-8FFD-982926E3ACE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2BAF7DA-B822-4C80-B22E-507899183A8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D8318FAB-E60D-4923-963F-1636D2F0CA6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7EAF77-3BFE-4140-9A13-E2F58FC04B3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DFE7BD59-BA82-48A2-B970-41D783FD24F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3C5EF9E-2473-465D-BD25-3FE3957DA9A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0B7A78F-651B-4B7A-B1DE-307EA9C9FE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32</a:t>
            </a:r>
          </a:p>
        </p:txBody>
      </p:sp>
    </p:spTree>
    <p:extLst>
      <p:ext uri="{BB962C8B-B14F-4D97-AF65-F5344CB8AC3E}">
        <p14:creationId xmlns:p14="http://schemas.microsoft.com/office/powerpoint/2010/main" val="87802200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52D403E-F1EF-41BD-8F17-0BED2368DD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E3EBC6-4460-44EB-878D-D497C75927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EA8093A-9470-4CEF-8EDD-F3B9600B3D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1E1249A9-68D9-4EF4-B5E6-E512E92012B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81E3B2-720D-42DD-A761-A85D458876C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10 Nov 2026, 11:00 Kampala</a:t>
            </a:r>
          </a:p>
        </p:txBody>
      </p:sp>
      <p:sp>
        <p:nvSpPr>
          <p:cNvPr id="6" name="">
            <a:extLst xmlns:a="http://schemas.openxmlformats.org/drawingml/2006/main">
              <a:ext uri="{FF2B5EF4-FFF2-40B4-BE49-F238E27FC236}">
                <a16:creationId xmlns:a16="http://schemas.microsoft.com/office/drawing/2014/main" id="{DE7E54BA-B545-4C36-A1B6-CF78DB15675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C59E18-A944-4241-BBE7-302CFCBA58A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17 Nov 2026, 11:00 Kampala</a:t>
            </a:r>
          </a:p>
        </p:txBody>
      </p:sp>
      <p:sp>
        <p:nvSpPr>
          <p:cNvPr id="8" name="">
            <a:extLst xmlns:a="http://schemas.openxmlformats.org/drawingml/2006/main">
              <a:ext uri="{FF2B5EF4-FFF2-40B4-BE49-F238E27FC236}">
                <a16:creationId xmlns:a16="http://schemas.microsoft.com/office/drawing/2014/main" id="{6633748A-B32A-4C8E-994F-A70E7312B69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88BA36-9DA5-41A1-A8CC-5645E773A11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842B408-A20D-413C-B8B0-234CD77AF90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1B461C9-8AE1-4614-8072-B7D442000FD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9410D83-D260-4D66-A2EA-96E3183ED92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5DA3D30-1C9A-49A2-A349-8386652B4D7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d25035d257f4b3d"/>
              </a:rPr>
              <a:t>Open W10 assignment form</a:t>
            </a:r>
          </a:p>
        </p:txBody>
      </p:sp>
      <p:sp>
        <p:nvSpPr>
          <p:cNvPr id="14" name="">
            <a:extLst xmlns:a="http://schemas.openxmlformats.org/drawingml/2006/main">
              <a:ext uri="{FF2B5EF4-FFF2-40B4-BE49-F238E27FC236}">
                <a16:creationId xmlns:a16="http://schemas.microsoft.com/office/drawing/2014/main" id="{83484B6E-CEBF-44C2-BAA5-AF0F0326AC5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https://docs.google.com/forms/d/e/1FAIpQLSfHHR9NLI-zvGYZ2Xf7wgwxBjXO3bjfUZRIH9SX_g3JtGRLXQ/viewform</a:t>
            </a:r>
          </a:p>
        </p:txBody>
      </p:sp>
      <p:sp>
        <p:nvSpPr>
          <p:cNvPr id="15" name="">
            <a:extLst xmlns:a="http://schemas.openxmlformats.org/drawingml/2006/main">
              <a:ext uri="{FF2B5EF4-FFF2-40B4-BE49-F238E27FC236}">
                <a16:creationId xmlns:a16="http://schemas.microsoft.com/office/drawing/2014/main" id="{AD29AE7B-20EE-4A4E-9B30-7A0D272C02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33</a:t>
            </a:r>
          </a:p>
        </p:txBody>
      </p:sp>
    </p:spTree>
    <p:extLst>
      <p:ext uri="{BB962C8B-B14F-4D97-AF65-F5344CB8AC3E}">
        <p14:creationId xmlns:p14="http://schemas.microsoft.com/office/powerpoint/2010/main" val="6122973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3E59C9E-5D8F-41E4-AE47-8E16D7E098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491DEF-571A-4A48-913D-9037E0AA6E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19F9F26-0A57-4899-84DB-3E20AEF0EF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330F9912-3943-46A6-9D3D-18B741EBED8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C2A71B-DFA9-4BFE-B2C6-E06FB415739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6BB7DA6-ED4E-47E1-B495-023B6C8CD7E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62D9C1-F2A7-462C-8574-8D8617A23131}"/>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ACD21361-2792-4EA9-8786-ED3CDB133F6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FAA49B-06C5-44EA-9FA6-2AF7B9FA3C6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531C681-FA1A-441B-8AEA-8B5F50A2449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866A6A-A9EA-4591-8733-A125F88B1A53}"/>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44f86758fcb47c6"/>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22C8BD8C-1349-4158-908C-55554E7B986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11284681-A60B-41C9-8E77-1574E3A19BD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DA515D6-0CAD-475F-86FD-AD153A2CDD8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ad7080c13ee45aa"/>
              </a:rPr>
              <a:t>Open this week’s quiz</a:t>
            </a:r>
          </a:p>
        </p:txBody>
      </p:sp>
      <p:sp>
        <p:nvSpPr>
          <p:cNvPr id="16" name="">
            <a:extLst xmlns:a="http://schemas.openxmlformats.org/drawingml/2006/main">
              <a:ext uri="{FF2B5EF4-FFF2-40B4-BE49-F238E27FC236}">
                <a16:creationId xmlns:a16="http://schemas.microsoft.com/office/drawing/2014/main" id="{8B09ED45-3630-4852-85A7-2DC73072A98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https://forms.gle/8BV6yg76yvUwbQGK9</a:t>
            </a:r>
          </a:p>
        </p:txBody>
      </p:sp>
      <p:sp>
        <p:nvSpPr>
          <p:cNvPr id="17" name="">
            <a:extLst xmlns:a="http://schemas.openxmlformats.org/drawingml/2006/main">
              <a:ext uri="{FF2B5EF4-FFF2-40B4-BE49-F238E27FC236}">
                <a16:creationId xmlns:a16="http://schemas.microsoft.com/office/drawing/2014/main" id="{F3DA3054-DBDE-4389-AE4B-2D33BF74DC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34</a:t>
            </a:r>
          </a:p>
        </p:txBody>
      </p:sp>
    </p:spTree>
    <p:extLst>
      <p:ext uri="{BB962C8B-B14F-4D97-AF65-F5344CB8AC3E}">
        <p14:creationId xmlns:p14="http://schemas.microsoft.com/office/powerpoint/2010/main" val="1508021467"/>
      </p:ext>
    </p:extLst>
  </p:cSld>
</p:sld>
</file>

<file path=ppt/slides/slide3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05EFA8-123E-4263-ACA1-62444163F2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1D14CA5D-87ED-4C32-AC27-8105E0BE76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DC70A228-3097-42D4-99EC-EB91CEBD930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6F84A5D0-A0D5-4E03-BE4F-EB5799F9650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C5FE2CF8-DD0A-4166-80EF-25D2371DCE7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30A4BE9E-5F31-4DCB-8AA0-3DCE3EEA58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10   35</a:t>
            </a:r>
          </a:p>
        </p:txBody>
      </p:sp>
    </p:spTree>
    <p:extLst>
      <p:ext uri="{BB962C8B-B14F-4D97-AF65-F5344CB8AC3E}">
        <p14:creationId xmlns:p14="http://schemas.microsoft.com/office/powerpoint/2010/main" val="47374375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8FEF9BF-CA10-4E39-86C8-E9C4DC7048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540DB5-5417-47DD-BD8A-2E52587A35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5FE01E5-BC48-46A3-B7B2-06BF752602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B4380D12-A65C-49B6-A1DD-FA64A02856D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3D16B5-B08F-43CE-B7DD-524EB7D2AB5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CBB947B9-6DC1-40DF-B1B7-8F4CFAFC932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8905C6-F5D7-41B3-83DF-250EC915279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9BB222C9-3B94-474E-9BD5-25E597144AC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928B13-FBFC-4F6E-A517-DE81CA561A8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6E708F7-7844-430F-9288-CD8B14B128D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986BFD5-C808-467C-BC12-89C7E7162E1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F51EBEE9-D5C9-450F-A2FC-23ABBC62AA9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947629C-7BA9-4BDC-8F20-35C904509A0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f34674ab5a141d2"/>
              </a:rPr>
              <a:t>Open explainer video</a:t>
            </a:r>
          </a:p>
        </p:txBody>
      </p:sp>
      <p:sp>
        <p:nvSpPr>
          <p:cNvPr id="14" name="">
            <a:extLst xmlns:a="http://schemas.openxmlformats.org/drawingml/2006/main">
              <a:ext uri="{FF2B5EF4-FFF2-40B4-BE49-F238E27FC236}">
                <a16:creationId xmlns:a16="http://schemas.microsoft.com/office/drawing/2014/main" id="{F2E4BE7E-59D9-481B-A867-700EF201C3B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E879CF89-4F41-47BA-A939-9035595B7C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36</a:t>
            </a:r>
          </a:p>
        </p:txBody>
      </p:sp>
    </p:spTree>
    <p:extLst>
      <p:ext uri="{BB962C8B-B14F-4D97-AF65-F5344CB8AC3E}">
        <p14:creationId xmlns:p14="http://schemas.microsoft.com/office/powerpoint/2010/main" val="1318982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2026-09-28T21:43:00.8120000Z</dcterms:created>
  <dcterms:modified xsi:type="dcterms:W3CDTF">2026-09-28T21:43:00.8120000Z</dcterms:modified>
</coreProperties>
</file>