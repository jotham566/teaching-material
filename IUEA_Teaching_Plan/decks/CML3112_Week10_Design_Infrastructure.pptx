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5e473e1755743e3" /><Relationship Type="http://schemas.openxmlformats.org/officeDocument/2006/relationships/extended-properties" Target="/docProps/app.xml" Id="R96f1486797674368" /><Relationship Type="http://schemas.openxmlformats.org/officeDocument/2006/relationships/officeDocument" Target="/ppt/presentation.xml" Id="Rb2235340c9b94c51" /></Relationships>
</file>

<file path=ppt/presentation.xml><?xml version="1.0" encoding="utf-8"?>
<p:presentation xmlns:p="http://schemas.openxmlformats.org/presentationml/2006/main">
  <p:sldMasterIdLst>
    <p:sldMasterId xmlns:r="http://schemas.openxmlformats.org/officeDocument/2006/relationships" id="2147483648" r:id="R97e6400d79a94a04"/>
  </p:sldMasterIdLst>
  <p:notesMasterIdLst>
    <p:notesMasterId xmlns:r="http://schemas.openxmlformats.org/officeDocument/2006/relationships" r:id="Rf8c8bfaa3f3c4459"/>
  </p:notesMasterIdLst>
  <p:sldIdLst>
    <p:sldId xmlns:r="http://schemas.openxmlformats.org/officeDocument/2006/relationships" id="256" r:id="Rc68e4bc0a3b94fb8"/>
    <p:sldId xmlns:r="http://schemas.openxmlformats.org/officeDocument/2006/relationships" id="257" r:id="R09739a81dc5843c8"/>
    <p:sldId xmlns:r="http://schemas.openxmlformats.org/officeDocument/2006/relationships" id="258" r:id="Rfaceef51a3e545ef"/>
    <p:sldId xmlns:r="http://schemas.openxmlformats.org/officeDocument/2006/relationships" id="259" r:id="R4361f497171b470d"/>
    <p:sldId xmlns:r="http://schemas.openxmlformats.org/officeDocument/2006/relationships" id="260" r:id="Re07cf00b3e3547d3"/>
    <p:sldId xmlns:r="http://schemas.openxmlformats.org/officeDocument/2006/relationships" id="261" r:id="Rc3823fd4530a4642"/>
    <p:sldId xmlns:r="http://schemas.openxmlformats.org/officeDocument/2006/relationships" id="262" r:id="R6bf36f0414c846b7"/>
    <p:sldId xmlns:r="http://schemas.openxmlformats.org/officeDocument/2006/relationships" id="263" r:id="R7ffa129668724815"/>
    <p:sldId xmlns:r="http://schemas.openxmlformats.org/officeDocument/2006/relationships" id="264" r:id="Re6f3f2c6ae2f47f1"/>
    <p:sldId xmlns:r="http://schemas.openxmlformats.org/officeDocument/2006/relationships" id="265" r:id="R94a7e28e05fb4591"/>
    <p:sldId xmlns:r="http://schemas.openxmlformats.org/officeDocument/2006/relationships" id="266" r:id="Rcf78c97b7b334e1e"/>
    <p:sldId xmlns:r="http://schemas.openxmlformats.org/officeDocument/2006/relationships" id="267" r:id="R8d81b2ed44914c09"/>
    <p:sldId xmlns:r="http://schemas.openxmlformats.org/officeDocument/2006/relationships" id="268" r:id="R97ca1b7b713f460b"/>
    <p:sldId xmlns:r="http://schemas.openxmlformats.org/officeDocument/2006/relationships" id="269" r:id="R2d8eea9a17664c1f"/>
    <p:sldId xmlns:r="http://schemas.openxmlformats.org/officeDocument/2006/relationships" id="270" r:id="R62c157f88f6e45d8"/>
    <p:sldId xmlns:r="http://schemas.openxmlformats.org/officeDocument/2006/relationships" id="271" r:id="Rbd462b3368d84968"/>
    <p:sldId xmlns:r="http://schemas.openxmlformats.org/officeDocument/2006/relationships" id="272" r:id="Rd0d3393c7d9246f8"/>
    <p:sldId xmlns:r="http://schemas.openxmlformats.org/officeDocument/2006/relationships" id="273" r:id="R93645c5dcd264a58"/>
    <p:sldId xmlns:r="http://schemas.openxmlformats.org/officeDocument/2006/relationships" id="274" r:id="R37f0e7acc5f240a7"/>
    <p:sldId xmlns:r="http://schemas.openxmlformats.org/officeDocument/2006/relationships" id="275" r:id="R41b446292d5d4d97"/>
    <p:sldId xmlns:r="http://schemas.openxmlformats.org/officeDocument/2006/relationships" id="276" r:id="Rb4731624cf564e31"/>
    <p:sldId xmlns:r="http://schemas.openxmlformats.org/officeDocument/2006/relationships" id="277" r:id="R1142c9a8bb1840bc"/>
    <p:sldId xmlns:r="http://schemas.openxmlformats.org/officeDocument/2006/relationships" id="278" r:id="Rfcaa18fec4e24db4"/>
    <p:sldId xmlns:r="http://schemas.openxmlformats.org/officeDocument/2006/relationships" id="279" r:id="Re61ec16dba3b43c4"/>
    <p:sldId xmlns:r="http://schemas.openxmlformats.org/officeDocument/2006/relationships" id="280" r:id="Rc9551898b01241cd"/>
    <p:sldId xmlns:r="http://schemas.openxmlformats.org/officeDocument/2006/relationships" id="281" r:id="R4d383d401e834d73"/>
    <p:sldId xmlns:r="http://schemas.openxmlformats.org/officeDocument/2006/relationships" id="282" r:id="Rc6b650543aaf458f"/>
    <p:sldId xmlns:r="http://schemas.openxmlformats.org/officeDocument/2006/relationships" id="283" r:id="Rfe9aa415cd8d4cb9"/>
    <p:sldId xmlns:r="http://schemas.openxmlformats.org/officeDocument/2006/relationships" id="284" r:id="Rcbbdc40f11eb4db4"/>
    <p:sldId xmlns:r="http://schemas.openxmlformats.org/officeDocument/2006/relationships" id="285" r:id="Rdbdd6727836e43f7"/>
    <p:sldId xmlns:r="http://schemas.openxmlformats.org/officeDocument/2006/relationships" id="286" r:id="R0df3886db6894993"/>
    <p:sldId xmlns:r="http://schemas.openxmlformats.org/officeDocument/2006/relationships" id="287" r:id="Rf61132fb31014ff7"/>
    <p:sldId xmlns:r="http://schemas.openxmlformats.org/officeDocument/2006/relationships" id="288" r:id="R28bd2589f3eb4bd4"/>
    <p:sldId xmlns:r="http://schemas.openxmlformats.org/officeDocument/2006/relationships" id="289" r:id="R72b6ec0468c84148"/>
    <p:sldId xmlns:r="http://schemas.openxmlformats.org/officeDocument/2006/relationships" id="290" r:id="R7c798711a2c44615"/>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595c157c95e43dd" /><Relationship Type="http://schemas.openxmlformats.org/officeDocument/2006/relationships/slideMaster" Target="/ppt/slideMasters/slideMaster1.xml" Id="R97e6400d79a94a04" /><Relationship Type="http://schemas.openxmlformats.org/officeDocument/2006/relationships/notesMaster" Target="/ppt/notesMasters/notesMaster1.xml" Id="Rf8c8bfaa3f3c4459" /><Relationship Type="http://schemas.openxmlformats.org/officeDocument/2006/relationships/presProps" Target="/ppt/presProps.xml" Id="R1b4ff47c0a8f406c" /><Relationship Type="http://schemas.openxmlformats.org/officeDocument/2006/relationships/tableStyles" Target="/ppt/tableStyles.xml" Id="Rbe4f8579d4574cb6" /><Relationship Type="http://schemas.openxmlformats.org/officeDocument/2006/relationships/slide" Target="/ppt/slides/slide1.xml" Id="Rc68e4bc0a3b94fb8" /><Relationship Type="http://schemas.openxmlformats.org/officeDocument/2006/relationships/slide" Target="/ppt/slides/slide2.xml" Id="R09739a81dc5843c8" /><Relationship Type="http://schemas.openxmlformats.org/officeDocument/2006/relationships/slide" Target="/ppt/slides/slide3.xml" Id="Rfaceef51a3e545ef" /><Relationship Type="http://schemas.openxmlformats.org/officeDocument/2006/relationships/slide" Target="/ppt/slides/slide4.xml" Id="R4361f497171b470d" /><Relationship Type="http://schemas.openxmlformats.org/officeDocument/2006/relationships/slide" Target="/ppt/slides/slide5.xml" Id="Re07cf00b3e3547d3" /><Relationship Type="http://schemas.openxmlformats.org/officeDocument/2006/relationships/slide" Target="/ppt/slides/slide6.xml" Id="Rc3823fd4530a4642" /><Relationship Type="http://schemas.openxmlformats.org/officeDocument/2006/relationships/slide" Target="/ppt/slides/slide7.xml" Id="R6bf36f0414c846b7" /><Relationship Type="http://schemas.openxmlformats.org/officeDocument/2006/relationships/slide" Target="/ppt/slides/slide8.xml" Id="R7ffa129668724815" /><Relationship Type="http://schemas.openxmlformats.org/officeDocument/2006/relationships/slide" Target="/ppt/slides/slide9.xml" Id="Re6f3f2c6ae2f47f1" /><Relationship Type="http://schemas.openxmlformats.org/officeDocument/2006/relationships/slide" Target="/ppt/slides/slide10.xml" Id="R94a7e28e05fb4591" /><Relationship Type="http://schemas.openxmlformats.org/officeDocument/2006/relationships/slide" Target="/ppt/slides/slide11.xml" Id="Rcf78c97b7b334e1e" /><Relationship Type="http://schemas.openxmlformats.org/officeDocument/2006/relationships/slide" Target="/ppt/slides/slide12.xml" Id="R8d81b2ed44914c09" /><Relationship Type="http://schemas.openxmlformats.org/officeDocument/2006/relationships/slide" Target="/ppt/slides/slide13.xml" Id="R97ca1b7b713f460b" /><Relationship Type="http://schemas.openxmlformats.org/officeDocument/2006/relationships/slide" Target="/ppt/slides/slide14.xml" Id="R2d8eea9a17664c1f" /><Relationship Type="http://schemas.openxmlformats.org/officeDocument/2006/relationships/slide" Target="/ppt/slides/slide15.xml" Id="R62c157f88f6e45d8" /><Relationship Type="http://schemas.openxmlformats.org/officeDocument/2006/relationships/slide" Target="/ppt/slides/slide16.xml" Id="Rbd462b3368d84968" /><Relationship Type="http://schemas.openxmlformats.org/officeDocument/2006/relationships/slide" Target="/ppt/slides/slide17.xml" Id="Rd0d3393c7d9246f8" /><Relationship Type="http://schemas.openxmlformats.org/officeDocument/2006/relationships/slide" Target="/ppt/slides/slide18.xml" Id="R93645c5dcd264a58" /><Relationship Type="http://schemas.openxmlformats.org/officeDocument/2006/relationships/slide" Target="/ppt/slides/slide19.xml" Id="R37f0e7acc5f240a7" /><Relationship Type="http://schemas.openxmlformats.org/officeDocument/2006/relationships/slide" Target="/ppt/slides/slide20.xml" Id="R41b446292d5d4d97" /><Relationship Type="http://schemas.openxmlformats.org/officeDocument/2006/relationships/slide" Target="/ppt/slides/slide21.xml" Id="Rb4731624cf564e31" /><Relationship Type="http://schemas.openxmlformats.org/officeDocument/2006/relationships/slide" Target="/ppt/slides/slide22.xml" Id="R1142c9a8bb1840bc" /><Relationship Type="http://schemas.openxmlformats.org/officeDocument/2006/relationships/slide" Target="/ppt/slides/slide23.xml" Id="Rfcaa18fec4e24db4" /><Relationship Type="http://schemas.openxmlformats.org/officeDocument/2006/relationships/slide" Target="/ppt/slides/slide24.xml" Id="Re61ec16dba3b43c4" /><Relationship Type="http://schemas.openxmlformats.org/officeDocument/2006/relationships/slide" Target="/ppt/slides/slide25.xml" Id="Rc9551898b01241cd" /><Relationship Type="http://schemas.openxmlformats.org/officeDocument/2006/relationships/slide" Target="/ppt/slides/slide26.xml" Id="R4d383d401e834d73" /><Relationship Type="http://schemas.openxmlformats.org/officeDocument/2006/relationships/slide" Target="/ppt/slides/slide27.xml" Id="Rc6b650543aaf458f" /><Relationship Type="http://schemas.openxmlformats.org/officeDocument/2006/relationships/slide" Target="/ppt/slides/slide28.xml" Id="Rfe9aa415cd8d4cb9" /><Relationship Type="http://schemas.openxmlformats.org/officeDocument/2006/relationships/slide" Target="/ppt/slides/slide29.xml" Id="Rcbbdc40f11eb4db4" /><Relationship Type="http://schemas.openxmlformats.org/officeDocument/2006/relationships/slide" Target="/ppt/slides/slide30.xml" Id="Rdbdd6727836e43f7" /><Relationship Type="http://schemas.openxmlformats.org/officeDocument/2006/relationships/slide" Target="/ppt/slides/slide31.xml" Id="R0df3886db6894993" /><Relationship Type="http://schemas.openxmlformats.org/officeDocument/2006/relationships/slide" Target="/ppt/slides/slide32.xml" Id="Rf61132fb31014ff7" /><Relationship Type="http://schemas.openxmlformats.org/officeDocument/2006/relationships/slide" Target="/ppt/slides/slide33.xml" Id="R28bd2589f3eb4bd4" /><Relationship Type="http://schemas.openxmlformats.org/officeDocument/2006/relationships/slide" Target="/ppt/slides/slide34.xml" Id="R72b6ec0468c84148" /><Relationship Type="http://schemas.openxmlformats.org/officeDocument/2006/relationships/slide" Target="/ppt/slides/slide35.xml" Id="R7c798711a2c4461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48dabd697a9488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a6975c29ef64799" /><Relationship Type="http://schemas.openxmlformats.org/officeDocument/2006/relationships/notesMaster" Target="/ppt/notesMasters/notesMaster1.xml" Id="R909646b100d94ff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9c84feb5354194" /><Relationship Type="http://schemas.openxmlformats.org/officeDocument/2006/relationships/notesMaster" Target="/ppt/notesMasters/notesMaster1.xml" Id="R4c3019c15daa401a" /></Relationships>
</file>

<file path=ppt/notesSlides/_rels/notesSlide3.xml.rels>&#65279;<?xml version="1.0" encoding="utf-8"?><Relationships xmlns="http://schemas.openxmlformats.org/package/2006/relationships"><Relationship Type="http://schemas.openxmlformats.org/officeDocument/2006/relationships/slide" Target="/ppt/slides/slide3.xml" Id="R09751fce9ff340f7" /><Relationship Type="http://schemas.openxmlformats.org/officeDocument/2006/relationships/notesMaster" Target="/ppt/notesMasters/notesMaster1.xml" Id="Rce8948c85caf46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740ba535d34150" /><Relationship Type="http://schemas.openxmlformats.org/officeDocument/2006/relationships/notesMaster" Target="/ppt/notesMasters/notesMaster1.xml" Id="Rb98194bf8ee249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3c16b93f2b58464a" /><Relationship Type="http://schemas.openxmlformats.org/officeDocument/2006/relationships/notesMaster" Target="/ppt/notesMasters/notesMaster1.xml" Id="Rc47d97abbbd94300" /></Relationships>
</file>

<file path=ppt/notesSlides/_rels/notesSlide6.xml.rels>&#65279;<?xml version="1.0" encoding="utf-8"?><Relationships xmlns="http://schemas.openxmlformats.org/package/2006/relationships"><Relationship Type="http://schemas.openxmlformats.org/officeDocument/2006/relationships/slide" Target="/ppt/slides/slide6.xml" Id="Rd9e7ff679bd84d22" /><Relationship Type="http://schemas.openxmlformats.org/officeDocument/2006/relationships/notesMaster" Target="/ppt/notesMasters/notesMaster1.xml" Id="R94be4859fd7646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89c5f534dd5f4993" /><Relationship Type="http://schemas.openxmlformats.org/officeDocument/2006/relationships/notesMaster" Target="/ppt/notesMasters/notesMaster1.xml" Id="R32e1f074c8a2422e"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fe1b6f02244bdb" /><Relationship Type="http://schemas.openxmlformats.org/officeDocument/2006/relationships/notesMaster" Target="/ppt/notesMasters/notesMaster1.xml" Id="R63034e17c8d84531" /></Relationships>
</file>

<file path=ppt/notesSlides/_rels/notesSlide9.xml.rels>&#65279;<?xml version="1.0" encoding="utf-8"?><Relationships xmlns="http://schemas.openxmlformats.org/package/2006/relationships"><Relationship Type="http://schemas.openxmlformats.org/officeDocument/2006/relationships/slide" Target="/ppt/slides/slide9.xml" Id="R0815d5ea80b34f00" /><Relationship Type="http://schemas.openxmlformats.org/officeDocument/2006/relationships/notesMaster" Target="/ppt/notesMasters/notesMaster1.xml" Id="Rba4690e84e4f4a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529f25288a945a9" /><Relationship Type="http://schemas.openxmlformats.org/officeDocument/2006/relationships/notesMaster" Target="/ppt/notesMasters/notesMaster1.xml" Id="R7504f5b561a945c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7614087bfa4f66" /><Relationship Type="http://schemas.openxmlformats.org/officeDocument/2006/relationships/notesMaster" Target="/ppt/notesMasters/notesMaster1.xml" Id="Rc65793c27a9b400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7e49bcfc504bd3" /><Relationship Type="http://schemas.openxmlformats.org/officeDocument/2006/relationships/notesMaster" Target="/ppt/notesMasters/notesMaster1.xml" Id="R51cc79583f79417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ddd0fb76a004149" /><Relationship Type="http://schemas.openxmlformats.org/officeDocument/2006/relationships/notesMaster" Target="/ppt/notesMasters/notesMaster1.xml" Id="R05512a474e444ec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7d581cb2ef04f6e" /><Relationship Type="http://schemas.openxmlformats.org/officeDocument/2006/relationships/notesMaster" Target="/ppt/notesMasters/notesMaster1.xml" Id="R70d410fb7ad0473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edecbe31c0d4a8a" /><Relationship Type="http://schemas.openxmlformats.org/officeDocument/2006/relationships/notesMaster" Target="/ppt/notesMasters/notesMaster1.xml" Id="R06350b5945c443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cad622a5fc14540" /><Relationship Type="http://schemas.openxmlformats.org/officeDocument/2006/relationships/notesMaster" Target="/ppt/notesMasters/notesMaster1.xml" Id="R2684875062724be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d390d025e6d48a2" /><Relationship Type="http://schemas.openxmlformats.org/officeDocument/2006/relationships/notesMaster" Target="/ppt/notesMasters/notesMaster1.xml" Id="Rbc26cfac31044c1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0be73380fc74b9d" /><Relationship Type="http://schemas.openxmlformats.org/officeDocument/2006/relationships/notesMaster" Target="/ppt/notesMasters/notesMaster1.xml" Id="R44a0864d24f84f0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bd884b1b99e4de0" /><Relationship Type="http://schemas.openxmlformats.org/officeDocument/2006/relationships/notesMaster" Target="/ppt/notesMasters/notesMaster1.xml" Id="Ra19241e154884d0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a88bcf13c7e41fb" /><Relationship Type="http://schemas.openxmlformats.org/officeDocument/2006/relationships/notesMaster" Target="/ppt/notesMasters/notesMaster1.xml" Id="R8484e00ce8a64ed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54050aa77444bbc" /><Relationship Type="http://schemas.openxmlformats.org/officeDocument/2006/relationships/notesMaster" Target="/ppt/notesMasters/notesMaster1.xml" Id="R470c492c2b0f4ca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f6e3982dbe14ca7" /><Relationship Type="http://schemas.openxmlformats.org/officeDocument/2006/relationships/notesMaster" Target="/ppt/notesMasters/notesMaster1.xml" Id="R56a984cbfd27444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e903d7e1d9349b3" /><Relationship Type="http://schemas.openxmlformats.org/officeDocument/2006/relationships/notesMaster" Target="/ppt/notesMasters/notesMaster1.xml" Id="R8a9b6bd43d7341e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c4f94aad79744cb" /><Relationship Type="http://schemas.openxmlformats.org/officeDocument/2006/relationships/notesMaster" Target="/ppt/notesMasters/notesMaster1.xml" Id="R3e39fa1018ec458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eca065f85d046d5" /><Relationship Type="http://schemas.openxmlformats.org/officeDocument/2006/relationships/notesMaster" Target="/ppt/notesMasters/notesMaster1.xml" Id="R8c89f864df254d2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0a33ad5e9c846a3" /><Relationship Type="http://schemas.openxmlformats.org/officeDocument/2006/relationships/notesMaster" Target="/ppt/notesMasters/notesMaster1.xml" Id="R49f5c3f051614d4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38ced5b3eb1430c" /><Relationship Type="http://schemas.openxmlformats.org/officeDocument/2006/relationships/notesMaster" Target="/ppt/notesMasters/notesMaster1.xml" Id="R809afc9097434d0e"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b85e9f3b983495d" /><Relationship Type="http://schemas.openxmlformats.org/officeDocument/2006/relationships/notesMaster" Target="/ppt/notesMasters/notesMaster1.xml" Id="Re0a825fba8eb4025"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8b26d0490ba44d8" /><Relationship Type="http://schemas.openxmlformats.org/officeDocument/2006/relationships/notesMaster" Target="/ppt/notesMasters/notesMaster1.xml" Id="Rd5f6c0fd54de409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c7639795d1e24d9e" /><Relationship Type="http://schemas.openxmlformats.org/officeDocument/2006/relationships/notesMaster" Target="/ppt/notesMasters/notesMaster1.xml" Id="R8357be270d7f4b2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9b56458181f4480" /><Relationship Type="http://schemas.openxmlformats.org/officeDocument/2006/relationships/notesMaster" Target="/ppt/notesMasters/notesMaster1.xml" Id="Red41e9f305b34b6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2193f3e7e4c247b9" /><Relationship Type="http://schemas.openxmlformats.org/officeDocument/2006/relationships/notesMaster" Target="/ppt/notesMasters/notesMaster1.xml" Id="Ref4b40aa0d55469c"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10e5b5bc8fe4173" /><Relationship Type="http://schemas.openxmlformats.org/officeDocument/2006/relationships/notesMaster" Target="/ppt/notesMasters/notesMaster1.xml" Id="R706edc6f9e17487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7d2d07eb5cb4bb8" /><Relationship Type="http://schemas.openxmlformats.org/officeDocument/2006/relationships/notesMaster" Target="/ppt/notesMasters/notesMaster1.xml" Id="R634285b8afb4457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d20932a6a84d4ad2" /><Relationship Type="http://schemas.openxmlformats.org/officeDocument/2006/relationships/notesMaster" Target="/ppt/notesMasters/notesMaster1.xml" Id="R999dd23ffaae497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Honest validation and leakage</a:t>
            </a:r>
          </a:p>
          <a:p xmlns:a="http://schemas.openxmlformats.org/drawingml/2006/main">
            <a:r>
              <a:t/>
            </a:r>
          </a:p>
          <a:p xmlns:a="http://schemas.openxmlformats.org/drawingml/2006/main">
            <a:r>
              <a:t>CONNECT</a:t>
            </a:r>
          </a:p>
          <a:p xmlns:a="http://schemas.openxmlformats.org/drawingml/2006/main">
            <a:r>
              <a:t>Build on the preceding week. Explain why this example is needed before running it.</a:t>
            </a:r>
          </a:p>
          <a:p xmlns:a="http://schemas.openxmlformats.org/drawingml/2006/main">
            <a:r>
              <a:t/>
            </a:r>
          </a:p>
          <a:p xmlns:a="http://schemas.openxmlformats.org/drawingml/2006/main">
            <a:r>
              <a:t>EXPLAIN</a:t>
            </a:r>
          </a:p>
          <a:p xmlns:a="http://schemas.openxmlformats.org/drawingml/2006/main">
            <a:r>
              <a:t>Civil Engineering and Architecture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Honest validation and leakage</a:t>
            </a:r>
          </a:p>
          <a:p xmlns:a="http://schemas.openxmlformats.org/drawingml/2006/main">
            <a:r>
              <a:t/>
            </a:r>
          </a:p>
          <a:p xmlns:a="http://schemas.openxmlformats.org/drawingml/2006/main">
            <a:r>
              <a:t>LECTURER CUE</a:t>
            </a:r>
          </a:p>
          <a:p xmlns:a="http://schemas.openxmlformats.org/drawingml/2006/main">
            <a:r>
              <a:t>Use PowerPoint Presenter View for these notes. Teach one example, pause for every learner to predict, then work an analogous example together. The practice notebook is a learning aid, not an extra graded upload.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Today’s learning.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Today’s learning.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Honest validation and leakage. Explain why this example is needed before running it.</a:t>
            </a:r>
          </a:p>
          <a:p xmlns:a="http://schemas.openxmlformats.org/drawingml/2006/main">
            <a:r>
              <a:t/>
            </a:r>
          </a:p>
          <a:p xmlns:a="http://schemas.openxmlformats.org/drawingml/2006/main">
            <a:r>
              <a:t>EXPLAIN</a:t>
            </a:r>
          </a:p>
          <a:p xmlns:a="http://schemas.openxmlformats.org/drawingml/2006/main">
            <a:r>
              <a:t>Keep related equipment records together.</a:t>
            </a:r>
          </a:p>
          <a:p xmlns:a="http://schemas.openxmlformats.org/drawingml/2006/main">
            <a:r>
              <a:t/>
            </a:r>
          </a:p>
          <a:p xmlns:a="http://schemas.openxmlformats.org/drawingml/2006/main">
            <a:r>
              <a:t>Separate training, validation and final testing.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Today’s learning</a:t>
            </a:r>
          </a:p>
          <a:p xmlns:a="http://schemas.openxmlformats.org/drawingml/2006/main">
            <a:r>
              <a:t/>
            </a:r>
          </a:p>
          <a:p xmlns:a="http://schemas.openxmlformats.org/drawingml/2006/main">
            <a:r>
              <a:t>CONNECT</a:t>
            </a:r>
          </a:p>
          <a:p xmlns:a="http://schemas.openxmlformats.org/drawingml/2006/main">
            <a:r>
              <a:t>Build on the preceding slide: Honest validation and leakage.</a:t>
            </a:r>
          </a:p>
          <a:p xmlns:a="http://schemas.openxmlformats.org/drawingml/2006/main">
            <a:r>
              <a:t/>
            </a:r>
          </a:p>
          <a:p xmlns:a="http://schemas.openxmlformats.org/drawingml/2006/main">
            <a:r>
              <a:t>LECTURER CUE</a:t>
            </a:r>
          </a:p>
          <a:p xmlns:a="http://schemas.openxmlformats.org/drawingml/2006/main">
            <a:r>
              <a:t>Ask learners to explain this goal in ordinary language. The first successful attempt matters more than covering optional extensions. Defer: Multiple adversarial notebooks, elaborate validation curves and several cross-validation variants are extensions after the core split is understood.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Recall and a first attempt.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Connection to the previous 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Connection to the previous lesson</a:t>
            </a:r>
          </a:p>
          <a:p xmlns:a="http://schemas.openxmlformats.org/drawingml/2006/main">
            <a:r>
              <a:t/>
            </a:r>
          </a:p>
          <a:p xmlns:a="http://schemas.openxmlformats.org/drawingml/2006/main">
            <a:r>
              <a:t>CONNECT</a:t>
            </a:r>
          </a:p>
          <a:p xmlns:a="http://schemas.openxmlformats.org/drawingml/2006/main">
            <a:r>
              <a:t>Build on Today’s learning. Explain why this example is needed before running it.</a:t>
            </a:r>
          </a:p>
          <a:p xmlns:a="http://schemas.openxmlformats.org/drawingml/2006/main">
            <a:r>
              <a:t/>
            </a:r>
          </a:p>
          <a:p xmlns:a="http://schemas.openxmlformats.org/drawingml/2006/main">
            <a:r>
              <a:t>EXPLAIN</a:t>
            </a:r>
          </a:p>
          <a:p xmlns:a="http://schemas.openxmlformats.org/drawingml/2006/main">
            <a:r>
              <a:t>We have compared predictions with known answers. Now we control which observations may influence training, choices and the final evaluation.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Recall and a first attempt</a:t>
            </a:r>
          </a:p>
          <a:p xmlns:a="http://schemas.openxmlformats.org/drawingml/2006/main">
            <a:r>
              <a:t/>
            </a:r>
          </a:p>
          <a:p xmlns:a="http://schemas.openxmlformats.org/drawingml/2006/main">
            <a:r>
              <a:t>CONNECT</a:t>
            </a:r>
          </a:p>
          <a:p xmlns:a="http://schemas.openxmlformats.org/drawingml/2006/main">
            <a:r>
              <a:t>Build on the preceding slide: Today’s learning.</a:t>
            </a:r>
          </a:p>
          <a:p xmlns:a="http://schemas.openxmlformats.org/drawingml/2006/main">
            <a:r>
              <a:t/>
            </a:r>
          </a:p>
          <a:p xmlns:a="http://schemas.openxmlformats.org/drawingml/2006/main">
            <a:r>
              <a:t>LECTURER CUE</a:t>
            </a:r>
          </a:p>
          <a:p xmlns:a="http://schemas.openxmlformats.org/drawingml/2006/main">
            <a:r>
              <a:t/>
            </a:r>
          </a:p>
          <a:p xmlns:a="http://schemas.openxmlformats.org/drawingml/2006/main">
            <a:r>
              <a:t>EXPLAIN IN ORDINARY WORDS</a:t>
            </a:r>
          </a:p>
          <a:p xmlns:a="http://schemas.openxmlformats.org/drawingml/2006/main">
            <a:r>
              <a:t>Name the positive class first. Actual is what happened; predicted is the model decision. Precision asks how many predicted positives were right. Recall asks how many actual positives were found.</a:t>
            </a:r>
          </a:p>
          <a:p xmlns:a="http://schemas.openxmlformats.org/drawingml/2006/main">
            <a:r>
              <a:t/>
            </a:r>
          </a:p>
          <a:p xmlns:a="http://schemas.openxmlformats.org/drawingml/2006/main">
            <a:r>
              <a:t>CHECK AND EXPECTED ANSWER</a:t>
            </a:r>
          </a:p>
          <a:p xmlns:a="http://schemas.openxmlformats.org/drawingml/2006/main">
            <a:r>
              <a:t>With TP=2, FP=1, FN=2: precision=2/3 and recall=2/4. A missed actual positive is a false negative.</a:t>
            </a:r>
          </a:p>
          <a:p xmlns:a="http://schemas.openxmlformats.org/drawingml/2006/main">
            <a:r>
              <a:t/>
            </a:r>
          </a:p>
          <a:p xmlns:a="http://schemas.openxmlformats.org/drawingml/2006/main">
            <a:r>
              <a:t>IF LEARNERS ARE STUCK</a:t>
            </a:r>
          </a:p>
          <a:p xmlns:a="http://schemas.openxmlformats.org/drawingml/2006/main">
            <a:r>
              <a:t>Draw actual/predicted headings. Place one case at a time before calculating a fraction. Explain the task rule for a zero denominator.</a:t>
            </a:r>
          </a:p>
          <a:p xmlns:a="http://schemas.openxmlformats.org/drawingml/2006/main">
            <a:r>
              <a:t/>
            </a:r>
          </a:p>
          <a:p xmlns:a="http://schemas.openxmlformats.org/drawingml/2006/main">
            <a:r>
              <a:t>NEXT</a:t>
            </a:r>
          </a:p>
          <a:p xmlns:a="http://schemas.openxmlformats.org/drawingml/2006/main">
            <a:r>
              <a:t>The engineering context.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Why this week’s tools are needed.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Why this week’s tools are needed</a:t>
            </a:r>
          </a:p>
          <a:p xmlns:a="http://schemas.openxmlformats.org/drawingml/2006/main">
            <a:r>
              <a:t/>
            </a:r>
          </a:p>
          <a:p xmlns:a="http://schemas.openxmlformats.org/drawingml/2006/main">
            <a:r>
              <a:t>CONNECT</a:t>
            </a:r>
          </a:p>
          <a:p xmlns:a="http://schemas.openxmlformats.org/drawingml/2006/main">
            <a:r>
              <a:t>Build on Connection to the previous lesson. Explain why this example is needed before running it.</a:t>
            </a:r>
          </a:p>
          <a:p xmlns:a="http://schemas.openxmlformats.org/drawingml/2006/main">
            <a:r>
              <a:t/>
            </a:r>
          </a:p>
          <a:p xmlns:a="http://schemas.openxmlformats.org/drawingml/2006/main">
            <a:r>
              <a:t>EXPLAIN</a:t>
            </a:r>
          </a:p>
          <a:p xmlns:a="http://schemas.openxmlformats.org/drawingml/2006/main">
            <a:r>
              <a:t>We want evidence about new equipment or future observations. The way we separate data must match that use before any model or preprocessing learns from it.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The engineering context</a:t>
            </a:r>
          </a:p>
          <a:p xmlns:a="http://schemas.openxmlformats.org/drawingml/2006/main">
            <a:r>
              <a:t/>
            </a:r>
          </a:p>
          <a:p xmlns:a="http://schemas.openxmlformats.org/drawingml/2006/main">
            <a:r>
              <a:t>CONNECT</a:t>
            </a:r>
          </a:p>
          <a:p xmlns:a="http://schemas.openxmlformats.org/drawingml/2006/main">
            <a:r>
              <a:t>Build on the preceding slide: Recall and a first attempt.</a:t>
            </a:r>
          </a:p>
          <a:p xmlns:a="http://schemas.openxmlformats.org/drawingml/2006/main">
            <a:r>
              <a:t/>
            </a:r>
          </a:p>
          <a:p xmlns:a="http://schemas.openxmlformats.org/drawingml/2006/main">
            <a:r>
              <a:t>LECTURER CUE</a:t>
            </a:r>
          </a:p>
          <a:p xmlns:a="http://schemas.openxmlformats.org/drawingml/2006/main">
            <a:r>
              <a:t>A building team records indoor temperature to investigate comfort. Civil students can discuss construction and inspection; architecture students can discuss shading and ventilation. Explain the quantities before using them.</a:t>
            </a:r>
          </a:p>
          <a:p xmlns:a="http://schemas.openxmlformats.org/drawingml/2006/main">
            <a:r>
              <a:t/>
            </a:r>
          </a:p>
          <a:p xmlns:a="http://schemas.openxmlformats.org/drawingml/2006/main">
            <a:r>
              <a:t>EXPLAIN IN ORDINARY WORDS</a:t>
            </a:r>
          </a:p>
          <a:p xmlns:a="http://schemas.openxmlformats.org/drawingml/2006/main">
            <a:r>
              <a:t>A calculated column stores a result for each row at refresh. A measure is evaluated under the filters of the current visual. SUMX evaluates an expression for each row before adding it.</a:t>
            </a:r>
          </a:p>
          <a:p xmlns:a="http://schemas.openxmlformats.org/drawingml/2006/main">
            <a:r>
              <a:t/>
            </a:r>
          </a:p>
          <a:p xmlns:a="http://schemas.openxmlformats.org/drawingml/2006/main">
            <a:r>
              <a:t>CHECK AND EXPECTED ANSWER</a:t>
            </a:r>
          </a:p>
          <a:p xmlns:a="http://schemas.openxmlformats.org/drawingml/2006/main">
            <a:r>
              <a:t>Should revenue respond to a selected region? Yes; test the measure with that filter and reconcile it to known data.</a:t>
            </a:r>
          </a:p>
          <a:p xmlns:a="http://schemas.openxmlformats.org/drawingml/2006/main">
            <a:r>
              <a:t/>
            </a:r>
          </a:p>
          <a:p xmlns:a="http://schemas.openxmlformats.org/drawingml/2006/main">
            <a:r>
              <a:t>IF LEARNERS ARE STUCK</a:t>
            </a:r>
          </a:p>
          <a:p xmlns:a="http://schemas.openxmlformats.org/drawingml/2006/main">
            <a:r>
              <a:t>Work one order line by hand, then two lines. Name the numerator and denominator populations before an average-order-value measure.</a:t>
            </a:r>
          </a:p>
          <a:p xmlns:a="http://schemas.openxmlformats.org/drawingml/2006/main">
            <a:r>
              <a:t/>
            </a:r>
          </a:p>
          <a:p xmlns:a="http://schemas.openxmlformats.org/drawingml/2006/main">
            <a:r>
              <a:t>NEXT</a:t>
            </a:r>
          </a:p>
          <a:p xmlns:a="http://schemas.openxmlformats.org/drawingml/2006/main">
            <a:r>
              <a:t>Training validation and final test.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Training validation and final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Build on Why this week’s tools are needed. Explain why this example is needed before running it.</a:t>
            </a:r>
          </a:p>
          <a:p xmlns:a="http://schemas.openxmlformats.org/drawingml/2006/main">
            <a:r>
              <a:t/>
            </a:r>
          </a:p>
          <a:p xmlns:a="http://schemas.openxmlformats.org/drawingml/2006/main">
            <a:r>
              <a:t>EXPLAIN</a:t>
            </a:r>
          </a:p>
          <a:p xmlns:a="http://schemas.openxmlformats.org/drawingml/2006/main">
            <a:r>
              <a:t>Training data fit the model and preprocessing.</a:t>
            </a:r>
          </a:p>
          <a:p xmlns:a="http://schemas.openxmlformats.org/drawingml/2006/main">
            <a:r>
              <a:t/>
            </a:r>
          </a:p>
          <a:p xmlns:a="http://schemas.openxmlformats.org/drawingml/2006/main">
            <a:r>
              <a:t>Validation data guide feature and model choices.</a:t>
            </a:r>
          </a:p>
          <a:p xmlns:a="http://schemas.openxmlformats.org/drawingml/2006/main">
            <a:r>
              <a:t/>
            </a:r>
          </a:p>
          <a:p xmlns:a="http://schemas.openxmlformats.org/drawingml/2006/main">
            <a:r>
              <a:t>The final test evaluates choices after they are fixed.</a:t>
            </a:r>
          </a:p>
          <a:p xmlns:a="http://schemas.openxmlformats.org/drawingml/2006/main">
            <a:r>
              <a:t/>
            </a:r>
          </a:p>
          <a:p xmlns:a="http://schemas.openxmlformats.org/drawingml/2006/main">
            <a:r>
              <a:t>A fresh test is needed if its answers influenced further choices.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Training validation and final test</a:t>
            </a:r>
          </a:p>
          <a:p xmlns:a="http://schemas.openxmlformats.org/drawingml/2006/main">
            <a:r>
              <a:t/>
            </a:r>
          </a:p>
          <a:p xmlns:a="http://schemas.openxmlformats.org/drawingml/2006/main">
            <a:r>
              <a:t>CONNECT</a:t>
            </a:r>
          </a:p>
          <a:p xmlns:a="http://schemas.openxmlformats.org/drawingml/2006/main">
            <a:r>
              <a:t>Build on the preceding slide: The engineering context.</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Three sets have different jobs.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Three sets have different jobs.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Build on Training validation and final test. Explain why this example is needed before running it.</a:t>
            </a:r>
          </a:p>
          <a:p xmlns:a="http://schemas.openxmlformats.org/drawingml/2006/main">
            <a:r>
              <a:t/>
            </a:r>
          </a:p>
          <a:p xmlns:a="http://schemas.openxmlformats.org/drawingml/2006/main">
            <a:r>
              <a:t>EXPLAIN</a:t>
            </a:r>
          </a:p>
          <a:p xmlns:a="http://schemas.openxmlformats.org/drawingml/2006/main">
            <a:r>
              <a:t>Which set must stay sealed until choices are fixed?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Three sets have different jobs</a:t>
            </a:r>
          </a:p>
          <a:p xmlns:a="http://schemas.openxmlformats.org/drawingml/2006/main">
            <a:r>
              <a:t/>
            </a:r>
          </a:p>
          <a:p xmlns:a="http://schemas.openxmlformats.org/drawingml/2006/main">
            <a:r>
              <a:t>CONNECT</a:t>
            </a:r>
          </a:p>
          <a:p xmlns:a="http://schemas.openxmlformats.org/drawingml/2006/main">
            <a:r>
              <a:t>Build on the preceding slide: Training validation and final test.</a:t>
            </a:r>
          </a:p>
          <a:p xmlns:a="http://schemas.openxmlformats.org/drawingml/2006/main">
            <a:r>
              <a:t/>
            </a:r>
          </a:p>
          <a:p xmlns:a="http://schemas.openxmlformats.org/drawingml/2006/main">
            <a:r>
              <a:t>LECTURER CUE</a:t>
            </a:r>
          </a:p>
          <a:p xmlns:a="http://schemas.openxmlformats.org/drawingml/2006/main">
            <a:r>
              <a:t>Ask students to describe what they see before introducing terminology. Generated conceptual teaching illustration.  Source: figs/experiential/ASSET_SOURCES.md.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Generalisation and Overfitting and underfitting.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Generalisation and Overfitting and underfitting</a:t>
            </a:r>
          </a:p>
          <a:p xmlns:a="http://schemas.openxmlformats.org/drawingml/2006/main">
            <a:r>
              <a:t/>
            </a:r>
          </a:p>
          <a:p xmlns:a="http://schemas.openxmlformats.org/drawingml/2006/main">
            <a:r>
              <a:t>CONNECT</a:t>
            </a:r>
          </a:p>
          <a:p xmlns:a="http://schemas.openxmlformats.org/drawingml/2006/main">
            <a:r>
              <a:t>Build on Three sets have different jobs. Explain why this example is needed before running it.</a:t>
            </a:r>
          </a:p>
          <a:p xmlns:a="http://schemas.openxmlformats.org/drawingml/2006/main">
            <a:r>
              <a:t/>
            </a:r>
          </a:p>
          <a:p xmlns:a="http://schemas.openxmlformats.org/drawingml/2006/main">
            <a:r>
              <a:t>EXPLAIN</a:t>
            </a:r>
          </a:p>
          <a:p xmlns:a="http://schemas.openxmlformats.org/drawingml/2006/main">
            <a:r>
              <a:t>Generalisation: Performance on new cases from the intended setting, not merely on records already used.</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Three sets have different jobs.</a:t>
            </a:r>
          </a:p>
          <a:p xmlns:a="http://schemas.openxmlformats.org/drawingml/2006/main">
            <a:r>
              <a:t/>
            </a:r>
          </a:p>
          <a:p xmlns:a="http://schemas.openxmlformats.org/drawingml/2006/main">
            <a:r>
              <a:t>POINT TO THE DEFINITION</a:t>
            </a:r>
          </a:p>
          <a:p xmlns:a="http://schemas.openxmlformats.org/drawingml/2006/main">
            <a:r>
              <a:t>Generalisation: Performance on new cases from the intended setting, not merely on records already used.</a:t>
            </a:r>
          </a:p>
          <a:p xmlns:a="http://schemas.openxmlformats.org/drawingml/2006/main">
            <a:r>
              <a:t>Overfitting and underfitting: Overfitting captures training-specific detail that fails to transfer. Underfitting misses useful patterns. Score gaps are clues, not a complete diagnosis.</a:t>
            </a:r>
          </a:p>
          <a:p xmlns:a="http://schemas.openxmlformats.org/drawingml/2006/main">
            <a:r>
              <a:t/>
            </a:r>
          </a:p>
          <a:p xmlns:a="http://schemas.openxmlformats.org/drawingml/2006/main">
            <a:r>
              <a:t>NEXT</a:t>
            </a:r>
          </a:p>
          <a:p xmlns:a="http://schemas.openxmlformats.org/drawingml/2006/main">
            <a:r>
              <a:t>Words we will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Leakage and Group split.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and Group split</a:t>
            </a:r>
          </a:p>
          <a:p xmlns:a="http://schemas.openxmlformats.org/drawingml/2006/main">
            <a:r>
              <a:t/>
            </a:r>
          </a:p>
          <a:p xmlns:a="http://schemas.openxmlformats.org/drawingml/2006/main">
            <a:r>
              <a:t>CONNECT</a:t>
            </a:r>
          </a:p>
          <a:p xmlns:a="http://schemas.openxmlformats.org/drawingml/2006/main">
            <a:r>
              <a:t>Build on Generalisation and Overfitting and underfitting. Explain why this example is needed before running it.</a:t>
            </a:r>
          </a:p>
          <a:p xmlns:a="http://schemas.openxmlformats.org/drawingml/2006/main">
            <a:r>
              <a:t/>
            </a:r>
          </a:p>
          <a:p xmlns:a="http://schemas.openxmlformats.org/drawingml/2006/main">
            <a:r>
              <a:t>EXPLAIN</a:t>
            </a:r>
          </a:p>
          <a:p xmlns:a="http://schemas.openxmlformats.org/drawingml/2006/main">
            <a:r>
              <a:t>Leakage: Information enters model development that would not legitimately be available, such as the answer or information from evaluation rows.</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Words we will use</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POINT TO THE DEFINITION</a:t>
            </a:r>
          </a:p>
          <a:p xmlns:a="http://schemas.openxmlformats.org/drawingml/2006/main">
            <a:r>
              <a:t>Leakage: Information enters model development that would not legitimately be available, such as the answer or information from evaluation rows.</a:t>
            </a:r>
          </a:p>
          <a:p xmlns:a="http://schemas.openxmlformats.org/drawingml/2006/main">
            <a:r>
              <a:t>Group split: Keep all observations from the same equipment in one partition when the goal is prediction for unseen equipment.</a:t>
            </a:r>
          </a:p>
          <a:p xmlns:a="http://schemas.openxmlformats.org/drawingml/2006/main">
            <a:r>
              <a:t/>
            </a:r>
          </a:p>
          <a:p xmlns:a="http://schemas.openxmlformats.org/drawingml/2006/main">
            <a:r>
              <a:t>NEXT</a:t>
            </a:r>
          </a:p>
          <a:p xmlns:a="http://schemas.openxmlformats.org/drawingml/2006/main">
            <a:r>
              <a:t>Repeated equipment needs group separation.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Repeated equipment needs group separation.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Build on Leakage and Group split. Explain why this example is needed before running it.</a:t>
            </a:r>
          </a:p>
          <a:p xmlns:a="http://schemas.openxmlformats.org/drawingml/2006/main">
            <a:r>
              <a:t/>
            </a:r>
          </a:p>
          <a:p xmlns:a="http://schemas.openxmlformats.org/drawingml/2006/main">
            <a:r>
              <a:t>EXPLAIN</a:t>
            </a:r>
          </a:p>
          <a:p xmlns:a="http://schemas.openxmlformats.org/drawingml/2006/main">
            <a:r>
              <a:t>Readings from the same equipment can share patterns.</a:t>
            </a:r>
          </a:p>
          <a:p xmlns:a="http://schemas.openxmlformats.org/drawingml/2006/main">
            <a:r>
              <a:t/>
            </a:r>
          </a:p>
          <a:p xmlns:a="http://schemas.openxmlformats.org/drawingml/2006/main">
            <a:r>
              <a:t>Putting that equipment in both training and validation can make evaluation too easy.</a:t>
            </a:r>
          </a:p>
          <a:p xmlns:a="http://schemas.openxmlformats.org/drawingml/2006/main">
            <a:r>
              <a:t/>
            </a:r>
          </a:p>
          <a:p xmlns:a="http://schemas.openxmlformats.org/drawingml/2006/main">
            <a:r>
              <a:t>For a new-equipment question, keep every row for an equipment ID in one partition.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Repeated equipment needs group separation</a:t>
            </a:r>
          </a:p>
          <a:p xmlns:a="http://schemas.openxmlformats.org/drawingml/2006/main">
            <a:r>
              <a:t/>
            </a:r>
          </a:p>
          <a:p xmlns:a="http://schemas.openxmlformats.org/drawingml/2006/main">
            <a:r>
              <a:t>CONNECT</a:t>
            </a:r>
          </a:p>
          <a:p xmlns:a="http://schemas.openxmlformats.org/drawingml/2006/main">
            <a:r>
              <a:t>Build on the preceding slide: Words we will use.</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Keeping equipment groups together.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Keeping equipment groups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Build on Repeated equipment needs group separation. Explain why this example is needed before running it.</a:t>
            </a:r>
          </a:p>
          <a:p xmlns:a="http://schemas.openxmlformats.org/drawingml/2006/main">
            <a:r>
              <a:t/>
            </a:r>
          </a:p>
          <a:p xmlns:a="http://schemas.openxmlformats.org/drawingml/2006/main">
            <a:r>
              <a:t>EXPLAIN</a:t>
            </a:r>
          </a:p>
          <a:p xmlns:a="http://schemas.openxmlformats.org/drawingml/2006/main">
            <a:r>
              <a:t>This toy split explains group separation.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Keeping equipment groups together</a:t>
            </a:r>
          </a:p>
          <a:p xmlns:a="http://schemas.openxmlformats.org/drawingml/2006/main">
            <a:r>
              <a:t/>
            </a:r>
          </a:p>
          <a:p xmlns:a="http://schemas.openxmlformats.org/drawingml/2006/main">
            <a:r>
              <a:t>CONNECT</a:t>
            </a:r>
          </a:p>
          <a:p xmlns:a="http://schemas.openxmlformats.org/drawingml/2006/main">
            <a:r>
              <a:t>Build on the preceding slide: Repeated equipment needs group separation.</a:t>
            </a:r>
          </a:p>
          <a:p xmlns:a="http://schemas.openxmlformats.org/drawingml/2006/main">
            <a:r>
              <a:t/>
            </a:r>
          </a:p>
          <a:p xmlns:a="http://schemas.openxmlformats.org/drawingml/2006/main">
            <a:r>
              <a:t>LECTURER CUE</a:t>
            </a:r>
          </a:p>
          <a:p xmlns:a="http://schemas.openxmlformats.org/drawingml/2006/main">
            <a:r>
              <a:t>This toy split explains group separation. It does not establish a representative evaluation with only two pieces of equipment.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READ THE VISUAL</a:t>
            </a:r>
          </a:p>
          <a:p xmlns:a="http://schemas.openxmlformats.org/drawingml/2006/main">
            <a:r>
              <a:t>Start with the title and labels. Read one row or mark aloud, including its unit. Let a learner read a second one before discussing the pattern. Do not infer a numerical value from an unlabelled drawing.</a:t>
            </a:r>
          </a:p>
          <a:p xmlns:a="http://schemas.openxmlformats.org/drawingml/2006/main">
            <a:r>
              <a:t/>
            </a:r>
          </a:p>
          <a:p xmlns:a="http://schemas.openxmlformats.org/drawingml/2006/main">
            <a:r>
              <a:t>NEXT</a:t>
            </a:r>
          </a:p>
          <a:p xmlns:a="http://schemas.openxmlformats.org/drawingml/2006/main">
            <a:r>
              <a:t>Worked example (1/2).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(1/2)</a:t>
            </a:r>
          </a:p>
          <a:p xmlns:a="http://schemas.openxmlformats.org/drawingml/2006/main">
            <a:r>
              <a:t/>
            </a:r>
          </a:p>
          <a:p xmlns:a="http://schemas.openxmlformats.org/drawingml/2006/main">
            <a:r>
              <a:t>CONNECT</a:t>
            </a:r>
          </a:p>
          <a:p xmlns:a="http://schemas.openxmlformats.org/drawingml/2006/main">
            <a:r>
              <a:t>Build on Keeping equipment groups together.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(1/2)</a:t>
            </a:r>
          </a:p>
          <a:p xmlns:a="http://schemas.openxmlformats.org/drawingml/2006/main">
            <a:r>
              <a:t/>
            </a:r>
          </a:p>
          <a:p xmlns:a="http://schemas.openxmlformats.org/drawingml/2006/main">
            <a:r>
              <a:t>CONNECT</a:t>
            </a:r>
          </a:p>
          <a:p xmlns:a="http://schemas.openxmlformats.org/drawingml/2006/main">
            <a:r>
              <a:t>Build on the preceding slide: Keeping equipment groups together.</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EXPLAIN IN ORDINARY WORDS</a:t>
            </a:r>
          </a:p>
          <a:p xmlns:a="http://schemas.openxmlformats.org/drawingml/2006/main">
            <a:r>
              <a:t>A dictionary pairs a key with a value. For {"unit":"A", "reading":4}, record["reading"] looks up the key and gives 4. The key is not a list position.</a:t>
            </a:r>
          </a:p>
          <a:p xmlns:a="http://schemas.openxmlformats.org/drawingml/2006/main">
            <a:r>
              <a:t/>
            </a:r>
          </a:p>
          <a:p xmlns:a="http://schemas.openxmlformats.org/drawingml/2006/main">
            <a:r>
              <a:t>CHECK AND EXPECTED ANSWER</a:t>
            </a:r>
          </a:p>
          <a:p xmlns:a="http://schemas.openxmlformats.org/drawingml/2006/main">
            <a:r>
              <a:t>What happens if the key is spelled "Reading" instead? It is a different key; direct lookup can raise KeyError.</a:t>
            </a:r>
          </a:p>
          <a:p xmlns:a="http://schemas.openxmlformats.org/drawingml/2006/main">
            <a:r>
              <a:t/>
            </a:r>
          </a:p>
          <a:p xmlns:a="http://schemas.openxmlformats.org/drawingml/2006/main">
            <a:r>
              <a:t>IF LEARNERS ARE STUCK</a:t>
            </a:r>
          </a:p>
          <a:p xmlns:a="http://schemas.openxmlformats.org/drawingml/2006/main">
            <a:r>
              <a:t>Point to each key and its value. Read the colon as associates-with, then do one exact lookup.</a:t>
            </a:r>
          </a:p>
          <a:p xmlns:a="http://schemas.openxmlformats.org/drawingml/2006/main">
            <a:r>
              <a:t/>
            </a:r>
          </a:p>
          <a:p xmlns:a="http://schemas.openxmlformats.org/drawingml/2006/main">
            <a:r>
              <a:t>WALK THROUGH THIS CODE</a:t>
            </a:r>
          </a:p>
          <a:p xmlns:a="http://schemas.openxmlformats.org/drawingml/2006/main">
            <a:r>
              <a:t>Square brackets create a list or select an item.</a:t>
            </a:r>
          </a:p>
          <a:p xmlns:a="http://schemas.openxmlformats.org/drawingml/2006/main">
            <a:r>
              <a:t>Braces hold dictionary key: value pairs here.</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Worked example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Worked example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in Python (2/2)</a:t>
            </a:r>
          </a:p>
          <a:p xmlns:a="http://schemas.openxmlformats.org/drawingml/2006/main">
            <a:r>
              <a:t/>
            </a:r>
          </a:p>
          <a:p xmlns:a="http://schemas.openxmlformats.org/drawingml/2006/main">
            <a:r>
              <a:t>CONNECT</a:t>
            </a:r>
          </a:p>
          <a:p xmlns:a="http://schemas.openxmlformats.org/drawingml/2006/main">
            <a:r>
              <a:t>Build on Validation and leakage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Worked example (2/2)</a:t>
            </a:r>
          </a:p>
          <a:p xmlns:a="http://schemas.openxmlformats.org/drawingml/2006/main">
            <a:r>
              <a:t/>
            </a:r>
          </a:p>
          <a:p xmlns:a="http://schemas.openxmlformats.org/drawingml/2006/main">
            <a:r>
              <a:t>CONNECT</a:t>
            </a:r>
          </a:p>
          <a:p xmlns:a="http://schemas.openxmlformats.org/drawingml/2006/main">
            <a:r>
              <a:t>Build on the preceding slide: Worked example (1/2).</a:t>
            </a:r>
          </a:p>
          <a:p xmlns:a="http://schemas.openxmlformats.org/drawingml/2006/main">
            <a:r>
              <a:t/>
            </a:r>
          </a:p>
          <a:p xmlns:a="http://schemas.openxmlformats.org/drawingml/2006/main">
            <a:r>
              <a:t>LECTURER CUE</a:t>
            </a:r>
          </a:p>
          <a:p xmlns:a="http://schemas.openxmlformats.org/drawingml/2006/main">
            <a:r>
              <a:t>Write equipment letters on paper cards and distribute whole groups to train, validation and test. Explain why two observations of the same machine can share information. Fit a missing-value replacement on training values [20, 22, 24]: the median is 22. A new hotter observation must not change that fitted median. 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Complete practice code:</a:t>
            </a:r>
          </a:p>
          <a:p xmlns:a="http://schemas.openxmlformats.org/drawingml/2006/main">
            <a:r>
              <a:t>records = [{"id": 1, "equipment": "A"},</a:t>
            </a:r>
          </a:p>
          <a:p xmlns:a="http://schemas.openxmlformats.org/drawingml/2006/main">
            <a:r>
              <a:t>           {"id": 2, "equipment": "A"},</a:t>
            </a:r>
          </a:p>
          <a:p xmlns:a="http://schemas.openxmlformats.org/drawingml/2006/main">
            <a:r>
              <a:t>           {"id": 3, "equipment": "B"}]</a:t>
            </a:r>
          </a:p>
          <a:p xmlns:a="http://schemas.openxmlformats.org/drawingml/2006/main">
            <a:r>
              <a:t>train = []</a:t>
            </a:r>
          </a:p>
          <a:p xmlns:a="http://schemas.openxmlformats.org/drawingml/2006/main">
            <a:r>
              <a:t>validation = []</a:t>
            </a:r>
          </a:p>
          <a:p xmlns:a="http://schemas.openxmlformats.org/drawingml/2006/main">
            <a:r>
              <a:t>for row in records:</a:t>
            </a:r>
          </a:p>
          <a:p xmlns:a="http://schemas.openxmlformats.org/drawingml/2006/main">
            <a:r>
              <a:t>    if row["equipment"] == "A":</a:t>
            </a:r>
          </a:p>
          <a:p xmlns:a="http://schemas.openxmlformats.org/drawingml/2006/main">
            <a:r>
              <a:t>        train.append(row["id"])</a:t>
            </a:r>
          </a:p>
          <a:p xmlns:a="http://schemas.openxmlformats.org/drawingml/2006/main">
            <a:r>
              <a:t>    else:</a:t>
            </a:r>
          </a:p>
          <a:p xmlns:a="http://schemas.openxmlformats.org/drawingml/2006/main">
            <a:r>
              <a:t>        validation.append(row["id"])</a:t>
            </a:r>
          </a:p>
          <a:p xmlns:a="http://schemas.openxmlformats.org/drawingml/2006/main">
            <a:r>
              <a:t>print(train, validation)</a:t>
            </a:r>
          </a:p>
          <a:p xmlns:a="http://schemas.openxmlformats.org/drawingml/2006/main">
            <a:r>
              <a:t/>
            </a:r>
          </a:p>
          <a:p xmlns:a="http://schemas.openxmlformats.org/drawingml/2006/main">
            <a:r>
              <a:t>EXPLAIN IN ORDINARY WORDS</a:t>
            </a:r>
          </a:p>
          <a:p xmlns:a="http://schemas.openxmlformats.org/drawingml/2006/main">
            <a:r>
              <a:t>A condition is a True/False question. Python executes the matching indented branch. = assigns; == compares. &gt;= includes the boundary, while &gt; excludes it.</a:t>
            </a:r>
          </a:p>
          <a:p xmlns:a="http://schemas.openxmlformats.org/drawingml/2006/main">
            <a:r>
              <a:t/>
            </a:r>
          </a:p>
          <a:p xmlns:a="http://schemas.openxmlformats.org/drawingml/2006/main">
            <a:r>
              <a:t>CHECK AND EXPECTED ANSWER</a:t>
            </a:r>
          </a:p>
          <a:p xmlns:a="http://schemas.openxmlformats.org/drawingml/2006/main">
            <a:r>
              <a:t>With value 30, is value &gt;= 30 true? Yes. Is value &gt; 30 true? No.</a:t>
            </a:r>
          </a:p>
          <a:p xmlns:a="http://schemas.openxmlformats.org/drawingml/2006/main">
            <a:r>
              <a:t/>
            </a:r>
          </a:p>
          <a:p xmlns:a="http://schemas.openxmlformats.org/drawingml/2006/main">
            <a:r>
              <a:t>IF LEARNERS ARE STUCK</a:t>
            </a:r>
          </a:p>
          <a:p xmlns:a="http://schemas.openxmlformats.org/drawingml/2006/main">
            <a:r>
              <a:t>Try one value below, at and above the boundary before running the code.</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Expected output.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Expected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leakage results</a:t>
            </a:r>
          </a:p>
          <a:p xmlns:a="http://schemas.openxmlformats.org/drawingml/2006/main">
            <a:r>
              <a:t/>
            </a:r>
          </a:p>
          <a:p xmlns:a="http://schemas.openxmlformats.org/drawingml/2006/main">
            <a:r>
              <a:t>CONNECT</a:t>
            </a:r>
          </a:p>
          <a:p xmlns:a="http://schemas.openxmlformats.org/drawingml/2006/main">
            <a:r>
              <a:t>Build on Validation and leakage in Python (2/2). Explain why this example is needed before running it.</a:t>
            </a:r>
          </a:p>
          <a:p xmlns:a="http://schemas.openxmlformats.org/drawingml/2006/main">
            <a:r>
              <a:t/>
            </a:r>
          </a:p>
          <a:p xmlns:a="http://schemas.openxmlformats.org/drawingml/2006/main">
            <a:r>
              <a:t>EXPLAIN</a:t>
            </a:r>
          </a:p>
          <a:p xmlns:a="http://schemas.openxmlformats.org/drawingml/2006/main">
            <a:r>
              <a:t>[1, 2] [3]</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Expected output</a:t>
            </a:r>
          </a:p>
          <a:p xmlns:a="http://schemas.openxmlformats.org/drawingml/2006/main">
            <a:r>
              <a:t/>
            </a:r>
          </a:p>
          <a:p xmlns:a="http://schemas.openxmlformats.org/drawingml/2006/main">
            <a:r>
              <a:t>CONNECT</a:t>
            </a:r>
          </a:p>
          <a:p xmlns:a="http://schemas.openxmlformats.org/drawingml/2006/main">
            <a:r>
              <a:t>Build on the preceding slide: Worked example (2/2).</a:t>
            </a:r>
          </a:p>
          <a:p xmlns:a="http://schemas.openxmlformats.org/drawingml/2006/main">
            <a:r>
              <a:t/>
            </a:r>
          </a:p>
          <a:p xmlns:a="http://schemas.openxmlformats.org/drawingml/2006/main">
            <a:r>
              <a:t>LECTURER CUE</a:t>
            </a:r>
          </a:p>
          <a:p xmlns:a="http://schemas.openxmlformats.org/drawingml/2006/main">
            <a:r>
              <a:t>Compare the actual output character by character with this practice result. If it differs, read the first error and check the input, units, names and execution order. Do not copy this practice output into a graded answer.</a:t>
            </a:r>
          </a:p>
          <a:p xmlns:a="http://schemas.openxmlformats.org/drawingml/2006/main">
            <a:r>
              <a:t/>
            </a:r>
          </a:p>
          <a:p xmlns:a="http://schemas.openxmlformats.org/drawingml/2006/main">
            <a:r>
              <a:t>NEXT</a:t>
            </a:r>
          </a:p>
          <a:p xmlns:a="http://schemas.openxmlformats.org/drawingml/2006/main">
            <a:r>
              <a:t>Preprocessing and pipeline.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Preprocessing and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Build on Validation and leakage results. Explain why this example is needed before running it.</a:t>
            </a:r>
          </a:p>
          <a:p xmlns:a="http://schemas.openxmlformats.org/drawingml/2006/main">
            <a:r>
              <a:t/>
            </a:r>
          </a:p>
          <a:p xmlns:a="http://schemas.openxmlformats.org/drawingml/2006/main">
            <a:r>
              <a:t>EXPLAIN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Preprocessing and pipeline</a:t>
            </a:r>
          </a:p>
          <a:p xmlns:a="http://schemas.openxmlformats.org/drawingml/2006/main">
            <a:r>
              <a:t/>
            </a:r>
          </a:p>
          <a:p xmlns:a="http://schemas.openxmlformats.org/drawingml/2006/main">
            <a:r>
              <a:t>CONNECT</a:t>
            </a:r>
          </a:p>
          <a:p xmlns:a="http://schemas.openxmlformats.org/drawingml/2006/main">
            <a:r>
              <a:t>Build on the preceding slide: Expected output.</a:t>
            </a:r>
          </a:p>
          <a:p xmlns:a="http://schemas.openxmlformats.org/drawingml/2006/main">
            <a:r>
              <a:t/>
            </a:r>
          </a:p>
          <a:p xmlns:a="http://schemas.openxmlformats.org/drawingml/2006/main">
            <a:r>
              <a:t>EXPLAIN IN ORDINARY WORDS</a:t>
            </a:r>
          </a:p>
          <a:p xmlns:a="http://schemas.openxmlformats.org/drawingml/2006/main">
            <a:r>
              <a:t>Missing means not recorded, not automatically zero. Decide why it is missing and document the rule. Fitted fill values must come from training data when evaluating a model.</a:t>
            </a:r>
          </a:p>
          <a:p xmlns:a="http://schemas.openxmlformats.org/drawingml/2006/main">
            <a:r>
              <a:t/>
            </a:r>
          </a:p>
          <a:p xmlns:a="http://schemas.openxmlformats.org/drawingml/2006/main">
            <a:r>
              <a:t>CHECK AND EXPECTED ANSWER</a:t>
            </a:r>
          </a:p>
          <a:p xmlns:a="http://schemas.openxmlformats.org/drawingml/2006/main">
            <a:r>
              <a:t>Is an unrecorded energy reading evidence of zero consumption? No.</a:t>
            </a:r>
          </a:p>
          <a:p xmlns:a="http://schemas.openxmlformats.org/drawingml/2006/main">
            <a:r>
              <a:t/>
            </a:r>
          </a:p>
          <a:p xmlns:a="http://schemas.openxmlformats.org/drawingml/2006/main">
            <a:r>
              <a:t>IF LEARNERS ARE STUCK</a:t>
            </a:r>
          </a:p>
          <a:p xmlns:a="http://schemas.openxmlformats.org/drawingml/2006/main">
            <a:r>
              <a:t>Use three rows: a recorded zero, a recorded positive value and a blank. Explain their different meanings before cleaning.</a:t>
            </a:r>
          </a:p>
          <a:p xmlns:a="http://schemas.openxmlformats.org/drawingml/2006/main">
            <a:r>
              <a:t/>
            </a:r>
          </a:p>
          <a:p xmlns:a="http://schemas.openxmlformats.org/drawingml/2006/main">
            <a:r>
              <a:t>POINT TO THE DEFINITION</a:t>
            </a:r>
          </a:p>
          <a:p xmlns:a="http://schemas.openxmlformats.org/drawingml/2006/main">
            <a:r>
              <a:t>Preprocessing and pipeline: Preprocessing changes inputs, for example filling missing values. A pipeline fits these steps on training data and applies the same fitted changes to new inputs.</a:t>
            </a:r>
          </a:p>
          <a:p xmlns:a="http://schemas.openxmlformats.org/drawingml/2006/main">
            <a:r>
              <a:t/>
            </a:r>
          </a:p>
          <a:p xmlns:a="http://schemas.openxmlformats.org/drawingml/2006/main">
            <a:r>
              <a:t>NEXT</a:t>
            </a:r>
          </a:p>
          <a:p xmlns:a="http://schemas.openxmlformats.org/drawingml/2006/main">
            <a:r>
              <a:t>A learned cleaning value comes from training.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learned cleaning value comes from training.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Build on Preprocessing and pipeline. Explain why this example is needed before running it.</a:t>
            </a:r>
          </a:p>
          <a:p xmlns:a="http://schemas.openxmlformats.org/drawingml/2006/main">
            <a:r>
              <a:t/>
            </a:r>
          </a:p>
          <a:p xmlns:a="http://schemas.openxmlformats.org/drawingml/2006/main">
            <a:r>
              <a:t>EXPLAIN</a:t>
            </a:r>
          </a:p>
          <a:p xmlns:a="http://schemas.openxmlformats.org/drawingml/2006/main">
            <a:r>
              <a:t>The training readings are 20, 22 and 24. Their median is 22.</a:t>
            </a:r>
          </a:p>
          <a:p xmlns:a="http://schemas.openxmlformats.org/drawingml/2006/main">
            <a:r>
              <a:t/>
            </a:r>
          </a:p>
          <a:p xmlns:a="http://schemas.openxmlformats.org/drawingml/2006/main">
            <a:r>
              <a:t>A missing validation value receives the already learned 22.</a:t>
            </a:r>
          </a:p>
          <a:p xmlns:a="http://schemas.openxmlformats.org/drawingml/2006/main">
            <a:r>
              <a:t/>
            </a:r>
          </a:p>
          <a:p xmlns:a="http://schemas.openxmlformats.org/drawingml/2006/main">
            <a:r>
              <a:t>A new validation reading of 40 must not change the fitted median.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learned cleaning value comes from training</a:t>
            </a:r>
          </a:p>
          <a:p xmlns:a="http://schemas.openxmlformats.org/drawingml/2006/main">
            <a:r>
              <a:t/>
            </a:r>
          </a:p>
          <a:p xmlns:a="http://schemas.openxmlformats.org/drawingml/2006/main">
            <a:r>
              <a:t>CONNECT</a:t>
            </a:r>
          </a:p>
          <a:p xmlns:a="http://schemas.openxmlformats.org/drawingml/2006/main">
            <a:r>
              <a:t>Build on the preceding slide: Preprocessing and pipeline.</a:t>
            </a:r>
          </a:p>
          <a:p xmlns:a="http://schemas.openxmlformats.org/drawingml/2006/main">
            <a:r>
              <a:t/>
            </a:r>
          </a:p>
          <a:p xmlns:a="http://schemas.openxmlformats.org/drawingml/2006/main">
            <a:r>
              <a:t>LECTURER CUE</a:t>
            </a:r>
          </a:p>
          <a:p xmlns:a="http://schemas.openxmlformats.org/drawingml/2006/main">
            <a:r>
              <a:t>Fit a missing-value replacement on training values [20, 22, 24]: the median is 22. A new hotter observation must not change that fitted median.</a:t>
            </a:r>
          </a:p>
          <a:p xmlns:a="http://schemas.openxmlformats.org/drawingml/2006/main">
            <a:r>
              <a:t/>
            </a:r>
          </a:p>
          <a:p xmlns:a="http://schemas.openxmlformats.org/drawingml/2006/main">
            <a:r>
              <a:t>EXPLAIN IN ORDINARY WORDS</a:t>
            </a:r>
          </a:p>
          <a:p xmlns:a="http://schemas.openxmlformats.org/drawingml/2006/main">
            <a:r>
              <a:t>A cleaning decision needs evidence, a stated rule and a before/after check. Similar rows may be genuine repeated events. Reconciliation compares totals built under the same definitions.</a:t>
            </a:r>
          </a:p>
          <a:p xmlns:a="http://schemas.openxmlformats.org/drawingml/2006/main">
            <a:r>
              <a:t/>
            </a:r>
          </a:p>
          <a:p xmlns:a="http://schemas.openxmlformats.org/drawingml/2006/main">
            <a:r>
              <a:t>CHECK AND EXPECTED ANSWER</a:t>
            </a:r>
          </a:p>
          <a:p xmlns:a="http://schemas.openxmlformats.org/drawingml/2006/main">
            <a:r>
              <a:t>May we delete every repeated amount? No. Check the row identifier and the table grain first.</a:t>
            </a:r>
          </a:p>
          <a:p xmlns:a="http://schemas.openxmlformats.org/drawingml/2006/main">
            <a:r>
              <a:t/>
            </a:r>
          </a:p>
          <a:p xmlns:a="http://schemas.openxmlformats.org/drawingml/2006/main">
            <a:r>
              <a:t>IF LEARNERS ARE STUCK</a:t>
            </a:r>
          </a:p>
          <a:p xmlns:a="http://schemas.openxmlformats.org/drawingml/2006/main">
            <a:r>
              <a:t>Keep raw data, record counts before and after each action, then explain any remaining difference instead of forcing totals to agree.</a:t>
            </a:r>
          </a:p>
          <a:p xmlns:a="http://schemas.openxmlformats.org/drawingml/2006/main">
            <a:r>
              <a:t/>
            </a:r>
          </a:p>
          <a:p xmlns:a="http://schemas.openxmlformats.org/drawingml/2006/main">
            <a:r>
              <a:t>NEXT</a:t>
            </a:r>
          </a:p>
          <a:p xmlns:a="http://schemas.openxmlformats.org/drawingml/2006/main">
            <a:r>
              <a:t>A training-only fill value.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training-only fill value in Python (1/2).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Build on A learned cleaning value comes from training. Explain why this example is needed before running it.</a:t>
            </a:r>
          </a:p>
          <a:p xmlns:a="http://schemas.openxmlformats.org/drawingml/2006/main">
            <a:r>
              <a:t/>
            </a:r>
          </a:p>
          <a:p xmlns:a="http://schemas.openxmlformats.org/drawingml/2006/main">
            <a:r>
              <a:t>EXPLAIN</a:t>
            </a:r>
          </a:p>
          <a:p xmlns:a="http://schemas.openxmlformats.org/drawingml/2006/main">
            <a:r>
              <a:t>Read top to bottom. Run the complete example in the matching practice notebook.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training-only fill value in Python (1/2)</a:t>
            </a:r>
          </a:p>
          <a:p xmlns:a="http://schemas.openxmlformats.org/drawingml/2006/main">
            <a:r>
              <a:t/>
            </a:r>
          </a:p>
          <a:p xmlns:a="http://schemas.openxmlformats.org/drawingml/2006/main">
            <a:r>
              <a:t>CONNECT</a:t>
            </a:r>
          </a:p>
          <a:p xmlns:a="http://schemas.openxmlformats.org/drawingml/2006/main">
            <a:r>
              <a:t>Build on the preceding slide: A training-only fill value.</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import loads a library. from selects a tool from it.</a:t>
            </a:r>
          </a:p>
          <a:p xmlns:a="http://schemas.openxmlformats.org/drawingml/2006/main">
            <a:r>
              <a:t>Square brackets create a list or select an item.</a:t>
            </a:r>
          </a:p>
          <a:p xmlns:a="http://schemas.openxmlformats.org/drawingml/2006/main">
            <a:r>
              <a:t>= assigns the value on the right to the name on the left.</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A training-only fill value in Python (2/2).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A training-only fill value in Python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Build on A training-only fill value in Python (1/2). Explain why this example is needed before running it.</a:t>
            </a:r>
          </a:p>
          <a:p xmlns:a="http://schemas.openxmlformats.org/drawingml/2006/main">
            <a:r>
              <a:t/>
            </a:r>
          </a:p>
          <a:p xmlns:a="http://schemas.openxmlformats.org/drawingml/2006/main">
            <a:r>
              <a:t>EXPLAIN</a:t>
            </a:r>
          </a:p>
          <a:p xmlns:a="http://schemas.openxmlformats.org/drawingml/2006/main">
            <a:r>
              <a:t>Continue the SAME cell; keep indentation. Run after all parts are entered.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A training-only fill value in Python (2/2)</a:t>
            </a:r>
          </a:p>
          <a:p xmlns:a="http://schemas.openxmlformats.org/drawingml/2006/main">
            <a:r>
              <a:t/>
            </a:r>
          </a:p>
          <a:p xmlns:a="http://schemas.openxmlformats.org/drawingml/2006/main">
            <a:r>
              <a:t>CONNECT</a:t>
            </a:r>
          </a:p>
          <a:p xmlns:a="http://schemas.openxmlformats.org/drawingml/2006/main">
            <a:r>
              <a:t>Build on the preceding slide: A training-only fill value in Python (1/2).</a:t>
            </a:r>
          </a:p>
          <a:p xmlns:a="http://schemas.openxmlformats.org/drawingml/2006/main">
            <a:r>
              <a:t/>
            </a:r>
          </a:p>
          <a:p xmlns:a="http://schemas.openxmlformats.org/drawingml/2006/main">
            <a:r>
              <a:t>LECTURER CUE</a:t>
            </a:r>
          </a:p>
          <a:p xmlns:a="http://schemas.openxmlformats.org/drawingml/2006/main">
            <a:r>
              <a:t>The median is learned from training observations. Adding a new validation observation must not change it. A real modelling pipeline follows this same rule for each learned step.</a:t>
            </a:r>
          </a:p>
          <a:p xmlns:a="http://schemas.openxmlformats.org/drawingml/2006/main">
            <a:r>
              <a:t/>
            </a:r>
          </a:p>
          <a:p xmlns:a="http://schemas.openxmlformats.org/drawingml/2006/main">
            <a:r>
              <a:t>Complete practice code:</a:t>
            </a:r>
          </a:p>
          <a:p xmlns:a="http://schemas.openxmlformats.org/drawingml/2006/main">
            <a:r>
              <a:t>from statistics import median</a:t>
            </a:r>
          </a:p>
          <a:p xmlns:a="http://schemas.openxmlformats.org/drawingml/2006/main">
            <a:r>
              <a:t>training_values = [20, 22, 24]</a:t>
            </a:r>
          </a:p>
          <a:p xmlns:a="http://schemas.openxmlformats.org/drawingml/2006/main">
            <a:r>
              <a:t>validation_values = [None, 40]</a:t>
            </a:r>
          </a:p>
          <a:p xmlns:a="http://schemas.openxmlformats.org/drawingml/2006/main">
            <a:r>
              <a:t>training_median = median(training_values)</a:t>
            </a:r>
          </a:p>
          <a:p xmlns:a="http://schemas.openxmlformats.org/drawingml/2006/main">
            <a:r>
              <a:t>filled_validation = []</a:t>
            </a:r>
          </a:p>
          <a:p xmlns:a="http://schemas.openxmlformats.org/drawingml/2006/main">
            <a:r>
              <a:t>for value in validation_values:</a:t>
            </a:r>
          </a:p>
          <a:p xmlns:a="http://schemas.openxmlformats.org/drawingml/2006/main">
            <a:r>
              <a:t>    if value is None:</a:t>
            </a:r>
          </a:p>
          <a:p xmlns:a="http://schemas.openxmlformats.org/drawingml/2006/main">
            <a:r>
              <a:t>        filled_validation.append(training_median)</a:t>
            </a:r>
          </a:p>
          <a:p xmlns:a="http://schemas.openxmlformats.org/drawingml/2006/main">
            <a:r>
              <a:t>    else:</a:t>
            </a:r>
          </a:p>
          <a:p xmlns:a="http://schemas.openxmlformats.org/drawingml/2006/main">
            <a:r>
              <a:t>        filled_validation.append(value)</a:t>
            </a:r>
          </a:p>
          <a:p xmlns:a="http://schemas.openxmlformats.org/drawingml/2006/main">
            <a:r>
              <a:t>print(training_median, filled_validation)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WALK THROUGH THIS CODE</a:t>
            </a:r>
          </a:p>
          <a:p xmlns:a="http://schemas.openxmlformats.org/drawingml/2006/main">
            <a:r>
              <a:t>for takes the next item. The indented block repeats.</a:t>
            </a:r>
          </a:p>
          <a:p xmlns:a="http://schemas.openxmlformats.org/drawingml/2006/main">
            <a:r>
              <a:t>if tests a condition. The chosen indented block runs.</a:t>
            </a:r>
          </a:p>
          <a:p xmlns:a="http://schemas.openxmlformats.org/drawingml/2006/main">
            <a:r>
              <a:t>print displays a value below the cell.</a:t>
            </a:r>
          </a:p>
          <a:p xmlns:a="http://schemas.openxmlformats.org/drawingml/2006/main">
            <a:r>
              <a:t>Read the displayed lines in order, with the preceding code block if this example continues. Ask for the next value before running. The complete matching example is in guided_practice.ipynb; do not type a fragment into a new empty notebook.</a:t>
            </a:r>
          </a:p>
          <a:p xmlns:a="http://schemas.openxmlformats.org/drawingml/2006/main">
            <a:r>
              <a:t/>
            </a:r>
          </a:p>
          <a:p xmlns:a="http://schemas.openxmlformats.org/drawingml/2006/main">
            <a:r>
              <a:t>NEXT</a:t>
            </a:r>
          </a:p>
          <a:p xmlns:a="http://schemas.openxmlformats.org/drawingml/2006/main">
            <a:r>
              <a:t>Leakage gives away information from the future.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Leakage gives away information from the future.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Build on A training-only fill value in Python (2/2). Explain why this example is needed before running it.</a:t>
            </a:r>
          </a:p>
          <a:p xmlns:a="http://schemas.openxmlformats.org/drawingml/2006/main">
            <a:r>
              <a:t/>
            </a:r>
          </a:p>
          <a:p xmlns:a="http://schemas.openxmlformats.org/drawingml/2006/main">
            <a:r>
              <a:t>EXPLAIN</a:t>
            </a:r>
          </a:p>
          <a:p xmlns:a="http://schemas.openxmlformats.org/drawingml/2006/main">
            <a:r>
              <a:t>Suppose we predict a fault before an inspection.</a:t>
            </a:r>
          </a:p>
          <a:p xmlns:a="http://schemas.openxmlformats.org/drawingml/2006/main">
            <a:r>
              <a:t/>
            </a:r>
          </a:p>
          <a:p xmlns:a="http://schemas.openxmlformats.org/drawingml/2006/main">
            <a:r>
              <a:t>final_inspection_result exists only after the inspection.</a:t>
            </a:r>
          </a:p>
          <a:p xmlns:a="http://schemas.openxmlformats.org/drawingml/2006/main">
            <a:r>
              <a:t/>
            </a:r>
          </a:p>
          <a:p xmlns:a="http://schemas.openxmlformats.org/drawingml/2006/main">
            <a:r>
              <a:t>Using it as an input would answer a different, easier question than the one we intended.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Leakage gives away information from the future</a:t>
            </a:r>
          </a:p>
          <a:p xmlns:a="http://schemas.openxmlformats.org/drawingml/2006/main">
            <a:r>
              <a:t/>
            </a:r>
          </a:p>
          <a:p xmlns:a="http://schemas.openxmlformats.org/drawingml/2006/main">
            <a:r>
              <a:t>CONNECT</a:t>
            </a:r>
          </a:p>
          <a:p xmlns:a="http://schemas.openxmlformats.org/drawingml/2006/main">
            <a:r>
              <a:t>Build on the preceding slide: A training-only fill value in Python (2/2).</a:t>
            </a:r>
          </a:p>
          <a:p xmlns:a="http://schemas.openxmlformats.org/drawingml/2006/main">
            <a:r>
              <a:t/>
            </a:r>
          </a:p>
          <a:p xmlns:a="http://schemas.openxmlformats.org/drawingml/2006/main">
            <a:r>
              <a:t>LECTURER CUE</a:t>
            </a:r>
          </a:p>
          <a:p xmlns:a="http://schemas.openxmlformats.org/drawingml/2006/main">
            <a:r>
              <a:t>Show a counterexample: if every input contains a field called final_inspection_result recorded after the outcome, an excellent score can be meaningless for earlier prediction.</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Cross-validation.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Parameters hyperparameters and a fold.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Parameters hyperparameters and a fold</a:t>
            </a:r>
          </a:p>
          <a:p xmlns:a="http://schemas.openxmlformats.org/drawingml/2006/main">
            <a:r>
              <a:t/>
            </a:r>
          </a:p>
          <a:p xmlns:a="http://schemas.openxmlformats.org/drawingml/2006/main">
            <a:r>
              <a:t>CONNECT</a:t>
            </a:r>
          </a:p>
          <a:p xmlns:a="http://schemas.openxmlformats.org/drawingml/2006/main">
            <a:r>
              <a:t>Build on Leakage gives away information from the future. Explain why this example is needed before running it.</a:t>
            </a:r>
          </a:p>
          <a:p xmlns:a="http://schemas.openxmlformats.org/drawingml/2006/main">
            <a:r>
              <a:t/>
            </a:r>
          </a:p>
          <a:p xmlns:a="http://schemas.openxmlformats.org/drawingml/2006/main">
            <a:r>
              <a:t>EXPLAIN</a:t>
            </a:r>
          </a:p>
          <a:p xmlns:a="http://schemas.openxmlformats.org/drawingml/2006/main">
            <a:r>
              <a:t>A parameter is learned during fitting, such as a line’s slope. A hyperparameter is a setting chosen around fitting, such as a tree’s max_depth.</a:t>
            </a:r>
          </a:p>
          <a:p xmlns:a="http://schemas.openxmlformats.org/drawingml/2006/main">
            <a:r>
              <a:t/>
            </a:r>
          </a:p>
          <a:p xmlns:a="http://schemas.openxmlformats.org/drawingml/2006/main">
            <a:r>
              <a:t>A fold is one part of the development data used for a validation turn. Refit the entire preprocessing and model on the other parts for that turn.</a:t>
            </a:r>
          </a:p>
          <a:p xmlns:a="http://schemas.openxmlformats.org/drawingml/2006/main">
            <a:r>
              <a:t/>
            </a:r>
          </a:p>
          <a:p xmlns:a="http://schemas.openxmlformats.org/drawingml/2006/main">
            <a:r>
              <a:t>Compare candidate settings using validation evidence. Keep the final test outside that selection process.</a:t>
            </a:r>
          </a:p>
          <a:p xmlns:a="http://schemas.openxmlformats.org/drawingml/2006/main">
            <a:r>
              <a:t/>
            </a:r>
          </a:p>
          <a:p xmlns:a="http://schemas.openxmlformats.org/drawingml/2006/main">
            <a:r>
              <a:t>LECTURER DETAIL</a:t>
            </a:r>
          </a:p>
          <a:p xmlns:a="http://schemas.openxmlformats.org/drawingml/2006/main">
            <a:r>
              <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Cross-validation.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Build on Parameters hyperparameters and a fold. Explain why this example is needed before running it.</a:t>
            </a:r>
          </a:p>
          <a:p xmlns:a="http://schemas.openxmlformats.org/drawingml/2006/main">
            <a:r>
              <a:t/>
            </a:r>
          </a:p>
          <a:p xmlns:a="http://schemas.openxmlformats.org/drawingml/2006/main">
            <a:r>
              <a:t>EXPLAIN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Cross-validation</a:t>
            </a:r>
          </a:p>
          <a:p xmlns:a="http://schemas.openxmlformats.org/drawingml/2006/main">
            <a:r>
              <a:t/>
            </a:r>
          </a:p>
          <a:p xmlns:a="http://schemas.openxmlformats.org/drawingml/2006/main">
            <a:r>
              <a:t>CONNECT</a:t>
            </a:r>
          </a:p>
          <a:p xmlns:a="http://schemas.openxmlformats.org/drawingml/2006/main">
            <a:r>
              <a:t>Build on the preceding slide: Leakage gives away information from the future.</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POINT TO THE DEFINITION</a:t>
            </a:r>
          </a:p>
          <a:p xmlns:a="http://schemas.openxmlformats.org/drawingml/2006/main">
            <a:r>
              <a:t>Cross-validation: Repeat fitting and validation on several partitions of the training/development data. Respect groups or time order. Keep the final test outside tuning.</a:t>
            </a:r>
          </a:p>
          <a:p xmlns:a="http://schemas.openxmlformats.org/drawingml/2006/main">
            <a:r>
              <a:t/>
            </a:r>
          </a:p>
          <a:p xmlns:a="http://schemas.openxmlformats.org/drawingml/2006/main">
            <a:r>
              <a:t>NEXT</a:t>
            </a:r>
          </a:p>
          <a:p xmlns:a="http://schemas.openxmlformats.org/drawingml/2006/main">
            <a:r>
              <a:t>What standard deviation tells us.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What standard deviation tells 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Build on Cross-validation. Explain why this example is needed before running it.</a:t>
            </a:r>
          </a:p>
          <a:p xmlns:a="http://schemas.openxmlformats.org/drawingml/2006/main">
            <a:r>
              <a:t/>
            </a:r>
          </a:p>
          <a:p xmlns:a="http://schemas.openxmlformats.org/drawingml/2006/main">
            <a:r>
              <a:t>EXPLAIN</a:t>
            </a:r>
          </a:p>
          <a:p xmlns:a="http://schemas.openxmlformats.org/drawingml/2006/main">
            <a:r>
              <a:t>Scores 3, 4 and 5 have mean 4. Their deviations are -1, 0 and 1.</a:t>
            </a:r>
          </a:p>
          <a:p xmlns:a="http://schemas.openxmlformats.org/drawingml/2006/main">
            <a:r>
              <a:t/>
            </a:r>
          </a:p>
          <a:p xmlns:a="http://schemas.openxmlformats.org/drawingml/2006/main">
            <a:r>
              <a:t>For these three fold scores, population SD = sqrt((1 + 0 + 1) / 3), about 0.82.</a:t>
            </a:r>
          </a:p>
          <a:p xmlns:a="http://schemas.openxmlformats.org/drawingml/2006/main">
            <a:r>
              <a:t/>
            </a:r>
          </a:p>
          <a:p xmlns:a="http://schemas.openxmlformats.org/drawingml/2006/main">
            <a:r>
              <a:t>SD describes spread around the mean in the score’s units. The next illustration uses this same population convention; it is not a confidence interval.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What standard deviation tells us</a:t>
            </a:r>
          </a:p>
          <a:p xmlns:a="http://schemas.openxmlformats.org/drawingml/2006/main">
            <a:r>
              <a:t/>
            </a:r>
          </a:p>
          <a:p xmlns:a="http://schemas.openxmlformats.org/drawingml/2006/main">
            <a:r>
              <a:t>CONNECT</a:t>
            </a:r>
          </a:p>
          <a:p xmlns:a="http://schemas.openxmlformats.org/drawingml/2006/main">
            <a:r>
              <a:t>Build on the preceding slide: Cross-validation.</a:t>
            </a:r>
          </a:p>
          <a:p xmlns:a="http://schemas.openxmlformats.org/drawingml/2006/main">
            <a:r>
              <a:t/>
            </a:r>
          </a:p>
          <a:p xmlns:a="http://schemas.openxmlformats.org/drawingml/2006/main">
            <a:r>
              <a:t>LECTURER CUE</a:t>
            </a:r>
          </a:p>
          <a:p xmlns:a="http://schemas.openxmlformats.org/drawingml/2006/main">
            <a:r>
              <a:t>Square each deviation, average all three, then take the square root. Here we describe the full displayed set. A sample SD would instead divide by n - 1; do not mix conventions.</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NEXT</a:t>
            </a:r>
          </a:p>
          <a:p xmlns:a="http://schemas.openxmlformats.org/drawingml/2006/main">
            <a:r>
              <a:t>Each fold takes a turn at validation.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Each fold takes a turn at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Build on What standard deviation tells us. Explain why this example is needed before running it.</a:t>
            </a:r>
          </a:p>
          <a:p xmlns:a="http://schemas.openxmlformats.org/drawingml/2006/main">
            <a:r>
              <a:t/>
            </a:r>
          </a:p>
          <a:p xmlns:a="http://schemas.openxmlformats.org/drawingml/2006/main">
            <a:r>
              <a:t>EXPLAIN</a:t>
            </a:r>
          </a:p>
          <a:p xmlns:a="http://schemas.openxmlformats.org/drawingml/2006/main">
            <a:r>
              <a:t>Illustrated spread: population SD 0.39 MPa, not a confidence interval.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Each fold takes a turn at validation</a:t>
            </a:r>
          </a:p>
          <a:p xmlns:a="http://schemas.openxmlformats.org/drawingml/2006/main">
            <a:r>
              <a:t/>
            </a:r>
          </a:p>
          <a:p xmlns:a="http://schemas.openxmlformats.org/drawingml/2006/main">
            <a:r>
              <a:t>CONNECT</a:t>
            </a:r>
          </a:p>
          <a:p xmlns:a="http://schemas.openxmlformats.org/drawingml/2006/main">
            <a:r>
              <a:t>Build on the preceding slide: What standard deviation tells us.</a:t>
            </a:r>
          </a:p>
          <a:p xmlns:a="http://schemas.openxmlformats.org/drawingml/2006/main">
            <a:r>
              <a:t/>
            </a:r>
          </a:p>
          <a:p xmlns:a="http://schemas.openxmlformats.org/drawingml/2006/main">
            <a:r>
              <a:t>LECTURER CUE</a:t>
            </a:r>
          </a:p>
          <a:p xmlns:a="http://schemas.openxmlformats.org/drawingml/2006/main">
            <a:r>
              <a:t>The illustrated mean is about 4.30 MPa and population standard deviation about 0.39 MPa. This is fold variation, not a confidence interval. Keep equipment groups together. Keep a separate final test outside model selection.</a:t>
            </a:r>
          </a:p>
          <a:p xmlns:a="http://schemas.openxmlformats.org/drawingml/2006/main">
            <a:r>
              <a:t>Source: existing course illustration figs/kfold.png. These are illustrative examples, not this cohort’s assessed results.</a:t>
            </a:r>
          </a:p>
          <a:p xmlns:a="http://schemas.openxmlformats.org/drawingml/2006/main">
            <a:r>
              <a:t/>
            </a:r>
          </a:p>
          <a:p xmlns:a="http://schemas.openxmlformats.org/drawingml/2006/main">
            <a:r>
              <a:t>NEXT</a:t>
            </a:r>
          </a:p>
          <a:p xmlns:a="http://schemas.openxmlformats.org/drawingml/2006/main">
            <a:r>
              <a:t>Choose a split that matches future use.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Choose a split that matches future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Build on Each fold takes a turn at validation. Explain why this example is needed before running it.</a:t>
            </a:r>
          </a:p>
          <a:p xmlns:a="http://schemas.openxmlformats.org/drawingml/2006/main">
            <a:r>
              <a:t/>
            </a:r>
          </a:p>
          <a:p xmlns:a="http://schemas.openxmlformats.org/drawingml/2006/main">
            <a:r>
              <a:t>EXPLAIN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Choose a split that matches future use</a:t>
            </a:r>
          </a:p>
          <a:p xmlns:a="http://schemas.openxmlformats.org/drawingml/2006/main">
            <a:r>
              <a:t/>
            </a:r>
          </a:p>
          <a:p xmlns:a="http://schemas.openxmlformats.org/drawingml/2006/main">
            <a:r>
              <a:t>CONNECT</a:t>
            </a:r>
          </a:p>
          <a:p xmlns:a="http://schemas.openxmlformats.org/drawingml/2006/main">
            <a:r>
              <a:t>Build on the preceding slide: Each fold takes a turn at validation.</a:t>
            </a:r>
          </a:p>
          <a:p xmlns:a="http://schemas.openxmlformats.org/drawingml/2006/main">
            <a:r>
              <a:t/>
            </a:r>
          </a:p>
          <a:p xmlns:a="http://schemas.openxmlformats.org/drawingml/2006/main">
            <a:r>
              <a:t>EXPLAIN IN ORDINARY WORDS</a:t>
            </a:r>
          </a:p>
          <a:p xmlns:a="http://schemas.openxmlformats.org/drawingml/2006/main">
            <a:r>
              <a:t>A list keeps items in order. Python positions start at zero. In [2,4,6], position 0 contains 2 and position 2 contains 6. A slice excludes its stop position.</a:t>
            </a:r>
          </a:p>
          <a:p xmlns:a="http://schemas.openxmlformats.org/drawingml/2006/main">
            <a:r>
              <a:t/>
            </a:r>
          </a:p>
          <a:p xmlns:a="http://schemas.openxmlformats.org/drawingml/2006/main">
            <a:r>
              <a:t>CHECK AND EXPECTED ANSWER</a:t>
            </a:r>
          </a:p>
          <a:p xmlns:a="http://schemas.openxmlformats.org/drawingml/2006/main">
            <a:r>
              <a:t>What is [2,4,6][1]? 4. Is there a position 3? No.</a:t>
            </a:r>
          </a:p>
          <a:p xmlns:a="http://schemas.openxmlformats.org/drawingml/2006/main">
            <a:r>
              <a:t/>
            </a:r>
          </a:p>
          <a:p xmlns:a="http://schemas.openxmlformats.org/drawingml/2006/main">
            <a:r>
              <a:t>IF LEARNERS ARE STUCK</a:t>
            </a:r>
          </a:p>
          <a:p xmlns:a="http://schemas.openxmlformats.org/drawingml/2006/main">
            <a:r>
              <a:t>Draw three numbered boxes starting at zero. Keep the position separate from the value stored in it.</a:t>
            </a:r>
          </a:p>
          <a:p xmlns:a="http://schemas.openxmlformats.org/drawingml/2006/main">
            <a:r>
              <a:t/>
            </a:r>
          </a:p>
          <a:p xmlns:a="http://schemas.openxmlformats.org/drawingml/2006/main">
            <a:r>
              <a:t>POINT TO THE DEFINITION</a:t>
            </a:r>
          </a:p>
          <a:p xmlns:a="http://schemas.openxmlformats.org/drawingml/2006/main">
            <a:r>
              <a:t>Equipment or time: For unseen equipment, keep each equipment ID together. For future-time prediction, train on earlier observations and evaluate on later ones.</a:t>
            </a:r>
          </a:p>
          <a:p xmlns:a="http://schemas.openxmlformats.org/drawingml/2006/main">
            <a:r>
              <a:t>Scaler and split tool: A scaler learns how to rescale features; fit it on training data. GroupShuffleSplit is a library tool for group separation. Our assignment instead uses its fixed published equipment lists.</a:t>
            </a:r>
          </a:p>
          <a:p xmlns:a="http://schemas.openxmlformats.org/drawingml/2006/main">
            <a:r>
              <a:t/>
            </a:r>
          </a:p>
          <a:p xmlns:a="http://schemas.openxmlformats.org/drawingml/2006/main">
            <a:r>
              <a:t>NEXT</a:t>
            </a:r>
          </a:p>
          <a:p xmlns:a="http://schemas.openxmlformats.org/drawingml/2006/main">
            <a:r>
              <a:t>You are the data splitter.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Revision example and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example and answer</a:t>
            </a:r>
          </a:p>
          <a:p xmlns:a="http://schemas.openxmlformats.org/drawingml/2006/main">
            <a:r>
              <a:t/>
            </a:r>
          </a:p>
          <a:p xmlns:a="http://schemas.openxmlformats.org/drawingml/2006/main">
            <a:r>
              <a:t>CONNECT</a:t>
            </a:r>
          </a:p>
          <a:p xmlns:a="http://schemas.openxmlformats.org/drawingml/2006/main">
            <a:r>
              <a:t>Build on Choose a split that matches future use. Explain why this example is needed before running it.</a:t>
            </a:r>
          </a:p>
          <a:p xmlns:a="http://schemas.openxmlformats.org/drawingml/2006/main">
            <a:r>
              <a:t/>
            </a:r>
          </a:p>
          <a:p xmlns:a="http://schemas.openxmlformats.org/drawingml/2006/main">
            <a:r>
              <a:t>EXPLAIN</a:t>
            </a:r>
          </a:p>
          <a:p xmlns:a="http://schemas.openxmlformats.org/drawingml/2006/main">
            <a:r>
              <a:t>Example: A second observation from B arrives. Where does it go? Why not put it into training just to balance row counts?</a:t>
            </a:r>
          </a:p>
          <a:p xmlns:a="http://schemas.openxmlformats.org/drawingml/2006/main">
            <a:r>
              <a:t/>
            </a:r>
          </a:p>
          <a:p xmlns:a="http://schemas.openxmlformats.org/drawingml/2006/main">
            <a:r>
              <a:t>Answer: It stays with B in validation. Mixing a source across partitions can give an overly optimistic estimate for unseen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turn</a:t>
            </a:r>
          </a:p>
          <a:p xmlns:a="http://schemas.openxmlformats.org/drawingml/2006/main">
            <a:r>
              <a:t/>
            </a:r>
          </a:p>
          <a:p xmlns:a="http://schemas.openxmlformats.org/drawingml/2006/main">
            <a:r>
              <a:t>CONNECT</a:t>
            </a:r>
          </a:p>
          <a:p xmlns:a="http://schemas.openxmlformats.org/drawingml/2006/main">
            <a:r>
              <a:t>Build on the preceding slide: What the activity shows.</a:t>
            </a:r>
          </a:p>
          <a:p xmlns:a="http://schemas.openxmlformats.org/drawingml/2006/main">
            <a:r>
              <a:t/>
            </a:r>
          </a:p>
          <a:p xmlns:a="http://schemas.openxmlformats.org/drawingml/2006/main">
            <a:r>
              <a:t>LECTURER CUE</a:t>
            </a:r>
          </a:p>
          <a:p xmlns:a="http://schemas.openxmlformats.org/drawingml/2006/main">
            <a:r>
              <a:t>Give silent thinking time, then let pairs discuss. Rotate who types. This is practice, not a graded quiz. Expected response: It stays with B in validation. Mixing a source across partitions can give an overly optimistic estimate for unseen equipment.</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DISCUSSION KEY FOR THIS SLIDE</a:t>
            </a:r>
          </a:p>
          <a:p xmlns:a="http://schemas.openxmlformats.org/drawingml/2006/main">
            <a:r>
              <a:t>DISCUSS THE REASONING</a:t>
            </a:r>
          </a:p>
          <a:p xmlns:a="http://schemas.openxmlformats.org/drawingml/2006/main">
            <a:r>
              <a:t>Practice discussion</a:t>
            </a:r>
          </a:p>
          <a:p xmlns:a="http://schemas.openxmlformats.org/drawingml/2006/main">
            <a:r>
              <a:t>It stays with B in validation. Mixing a source across partitions can give an overly optimistic estimate for unseen equipment.</a:t>
            </a:r>
          </a:p>
          <a:p xmlns:a="http://schemas.openxmlformats.org/drawingml/2006/main">
            <a:r>
              <a:t>Which step produced this result? What changes if one input changes?</a:t>
            </a:r>
          </a:p>
          <a:p xmlns:a="http://schemas.openxmlformats.org/drawingml/2006/main">
            <a:r>
              <a:t>CML3112   Week 10   27</a:t>
            </a:r>
          </a:p>
          <a:p xmlns:a="http://schemas.openxmlformats.org/drawingml/2006/main">
            <a:r>
              <a:t>Let learners attempt first; use this to explain the reasoning, not just reveal the answer.</a:t>
            </a:r>
          </a:p>
          <a:p xmlns:a="http://schemas.openxmlformats.org/drawingml/2006/main">
            <a:r>
              <a:t/>
            </a:r>
          </a:p>
          <a:p xmlns:a="http://schemas.openxmlformats.org/drawingml/2006/main">
            <a:r>
              <a:t>NEXT</a:t>
            </a:r>
          </a:p>
          <a:p xmlns:a="http://schemas.openxmlformats.org/drawingml/2006/main">
            <a:r>
              <a:t>Practice discussion.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Preparing for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Revision example and answer. Explain why this example is needed before running it.</a:t>
            </a:r>
          </a:p>
          <a:p xmlns:a="http://schemas.openxmlformats.org/drawingml/2006/main">
            <a:r>
              <a:t/>
            </a:r>
          </a:p>
          <a:p xmlns:a="http://schemas.openxmlformats.org/drawingml/2006/main">
            <a:r>
              <a:t>EXPLAIN</a:t>
            </a:r>
          </a:p>
          <a:p xmlns:a="http://schemas.openxmlformats.org/drawingml/2006/main">
            <a:r>
              <a:t>W10 specifies E1–E4 train, E5 validation, E6 test and preserves input order.</a:t>
            </a:r>
          </a:p>
          <a:p xmlns:a="http://schemas.openxmlformats.org/drawingml/2006/main">
            <a:r>
              <a:t/>
            </a:r>
          </a:p>
          <a:p xmlns:a="http://schemas.openxmlformats.org/drawingml/2006/main">
            <a:r>
              <a:t>Use the assigned equipment_id field and record_id outputs.</a:t>
            </a:r>
          </a:p>
          <a:p xmlns:a="http://schemas.openxmlformats.org/drawingml/2006/main">
            <a:r>
              <a:t/>
            </a:r>
          </a:p>
          <a:p xmlns:a="http://schemas.openxmlformats.org/drawingml/2006/main">
            <a:r>
              <a:t>Reuse the W08 fitting pattern.</a:t>
            </a:r>
          </a:p>
          <a:p xmlns:a="http://schemas.openxmlformats.org/drawingml/2006/main">
            <a:r>
              <a:t/>
            </a:r>
          </a:p>
          <a:p xmlns:a="http://schemas.openxmlformats.org/drawingml/2006/main">
            <a:r>
              <a:t>Explain that GroupShuffleSplit and time-based splitting solve different deployment questions; use the rule in the issued task.</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Preparing for the assignment</a:t>
            </a:r>
          </a:p>
          <a:p xmlns:a="http://schemas.openxmlformats.org/drawingml/2006/main">
            <a:r>
              <a:t/>
            </a:r>
          </a:p>
          <a:p xmlns:a="http://schemas.openxmlformats.org/drawingml/2006/main">
            <a:r>
              <a:t>CONNECT</a:t>
            </a:r>
          </a:p>
          <a:p xmlns:a="http://schemas.openxmlformats.org/drawingml/2006/main">
            <a:r>
              <a:t>Build on the preceding slide: After the video.</a:t>
            </a:r>
          </a:p>
          <a:p xmlns:a="http://schemas.openxmlformats.org/drawingml/2006/main">
            <a:r>
              <a:t/>
            </a:r>
          </a:p>
          <a:p xmlns:a="http://schemas.openxmlformats.org/drawingml/2006/main">
            <a:r>
              <a:t>LECTURER CUE</a:t>
            </a:r>
          </a:p>
          <a:p xmlns:a="http://schemas.openxmlformats.org/drawingml/2006/main">
            <a:r>
              <a:t>W10 specifies E1–E4 train, E5 validation, E6 test and preserves input order. Use the assigned equipment_id field and record_id outputs. Reuse the W08 fitting pattern. Explain that GroupShuffleSplit and time-based splitting solve different deployment questions; use the rule in the issued task.</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Interpreting validation results.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Interpreting validation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Build on Preparing for the assignment. Explain why this example is needed before running it.</a:t>
            </a:r>
          </a:p>
          <a:p xmlns:a="http://schemas.openxmlformats.org/drawingml/2006/main">
            <a:r>
              <a:t/>
            </a:r>
          </a:p>
          <a:p xmlns:a="http://schemas.openxmlformats.org/drawingml/2006/main">
            <a:r>
              <a:t>EXPLAIN</a:t>
            </a:r>
          </a:p>
          <a:p xmlns:a="http://schemas.openxmlformats.org/drawingml/2006/main">
            <a:r>
              <a:t>Fit an imputer or scaler only on training data; putting it in a Pipeline helps enforce that during cross-validation.</a:t>
            </a:r>
          </a:p>
          <a:p xmlns:a="http://schemas.openxmlformats.org/drawingml/2006/main">
            <a:r>
              <a:t/>
            </a:r>
          </a:p>
          <a:p xmlns:a="http://schemas.openxmlformats.org/drawingml/2006/main">
            <a:r>
              <a:t>A low training error and high validation error suggest overfitting, but data shift or leakage can also matter.</a:t>
            </a:r>
          </a:p>
          <a:p xmlns:a="http://schemas.openxmlformats.org/drawingml/2006/main">
            <a:r>
              <a:t/>
            </a:r>
          </a:p>
          <a:p xmlns:a="http://schemas.openxmlformats.org/drawingml/2006/main">
            <a:r>
              <a:t>Missing predictor values need a stated treatment.</a:t>
            </a:r>
          </a:p>
          <a:p xmlns:a="http://schemas.openxmlformats.org/drawingml/2006/main">
            <a:r>
              <a:t/>
            </a:r>
          </a:p>
          <a:p xmlns:a="http://schemas.openxmlformats.org/drawingml/2006/main">
            <a:r>
              <a:t>Report fold scores and their variation, not just the best fold.</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Interpreting validation results</a:t>
            </a:r>
          </a:p>
          <a:p xmlns:a="http://schemas.openxmlformats.org/drawingml/2006/main">
            <a:r>
              <a:t/>
            </a:r>
          </a:p>
          <a:p xmlns:a="http://schemas.openxmlformats.org/drawingml/2006/main">
            <a:r>
              <a:t>CONNECT</a:t>
            </a:r>
          </a:p>
          <a:p xmlns:a="http://schemas.openxmlformats.org/drawingml/2006/main">
            <a:r>
              <a:t>Build on the preceding slide: Preparing for the assignment.</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NEXT</a:t>
            </a:r>
          </a:p>
          <a:p xmlns:a="http://schemas.openxmlformats.org/drawingml/2006/main">
            <a:r>
              <a:t>Interpreting validation results continued.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Interpreting validation results continued.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Build on Interpreting validation results. Explain why this example is needed before running it.</a:t>
            </a:r>
          </a:p>
          <a:p xmlns:a="http://schemas.openxmlformats.org/drawingml/2006/main">
            <a:r>
              <a:t/>
            </a:r>
          </a:p>
          <a:p xmlns:a="http://schemas.openxmlformats.org/drawingml/2006/main">
            <a:r>
              <a:t>EXPLAIN</a:t>
            </a:r>
          </a:p>
          <a:p xmlns:a="http://schemas.openxmlformats.org/drawingml/2006/main">
            <a:r>
              <a:t>Group related observations together when the deployment goal is new equipment.</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Interpreting validation results continued</a:t>
            </a:r>
          </a:p>
          <a:p xmlns:a="http://schemas.openxmlformats.org/drawingml/2006/main">
            <a:r>
              <a:t/>
            </a:r>
          </a:p>
          <a:p xmlns:a="http://schemas.openxmlformats.org/drawingml/2006/main">
            <a:r>
              <a:t>CONNECT</a:t>
            </a:r>
          </a:p>
          <a:p xmlns:a="http://schemas.openxmlformats.org/drawingml/2006/main">
            <a:r>
              <a:t>Build on the preceding slide: Interpreting validation results.</a:t>
            </a:r>
          </a:p>
          <a:p xmlns:a="http://schemas.openxmlformats.org/drawingml/2006/main">
            <a:r>
              <a:t/>
            </a:r>
          </a:p>
          <a:p xmlns:a="http://schemas.openxmlformats.org/drawingml/2006/main">
            <a:r>
              <a:t>LECTURER CUE</a:t>
            </a:r>
          </a:p>
          <a:p xmlns:a="http://schemas.openxmlformats.org/drawingml/2006/main">
            <a:r>
              <a:t>Teach these concepts before the weekly quiz. Use changed numbers for practice. This slide supplies concepts, not the quiz key.</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NEXT</a:t>
            </a:r>
          </a:p>
          <a:p xmlns:a="http://schemas.openxmlformats.org/drawingml/2006/main">
            <a:r>
              <a:t>Your issued task.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Your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Interpreting validation results continued. Explain why this example is needed before running it.</a:t>
            </a:r>
          </a:p>
          <a:p xmlns:a="http://schemas.openxmlformats.org/drawingml/2006/main">
            <a:r>
              <a:t/>
            </a:r>
          </a:p>
          <a:p xmlns:a="http://schemas.openxmlformats.org/drawingml/2006/main">
            <a:r>
              <a:t>EXPLAIN</a:t>
            </a:r>
          </a:p>
          <a:p xmlns:a="http://schemas.openxmlformats.org/drawingml/2006/main">
            <a:r>
              <a:t>Investigate building cooling load.</a:t>
            </a:r>
          </a:p>
          <a:p xmlns:a="http://schemas.openxmlformats.org/drawingml/2006/main">
            <a:r>
              <a:t/>
            </a:r>
          </a:p>
          <a:p xmlns:a="http://schemas.openxmlformats.org/drawingml/2006/main">
            <a:r>
              <a:t>Target units: kW.</a:t>
            </a:r>
          </a:p>
          <a:p xmlns:a="http://schemas.openxmlformats.org/drawingml/2006/main">
            <a:r>
              <a:t/>
            </a:r>
          </a:p>
          <a:p xmlns:a="http://schemas.openxmlformats.org/drawingml/2006/main">
            <a:r>
              <a:t>These are synthetic teaching records, not measurements suitable for deployment.</a:t>
            </a:r>
          </a:p>
          <a:p xmlns:a="http://schemas.openxmlformats.org/drawingml/2006/main">
            <a:r>
              <a:t/>
            </a:r>
          </a:p>
          <a:p xmlns:a="http://schemas.openxmlformats.org/drawingml/2006/main">
            <a:r>
              <a:t>Each record is one operating observation; equipment_id repeats across observations.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Your issued task</a:t>
            </a:r>
          </a:p>
          <a:p xmlns:a="http://schemas.openxmlformats.org/drawingml/2006/main">
            <a:r>
              <a:t/>
            </a:r>
          </a:p>
          <a:p xmlns:a="http://schemas.openxmlformats.org/drawingml/2006/main">
            <a:r>
              <a:t>CONNECT</a:t>
            </a:r>
          </a:p>
          <a:p xmlns:a="http://schemas.openxmlformats.org/drawingml/2006/main">
            <a:r>
              <a:t>Build on the preceding slide: Interpreting validation results continued.</a:t>
            </a:r>
          </a:p>
          <a:p xmlns:a="http://schemas.openxmlformats.org/drawingml/2006/main">
            <a:r>
              <a:t/>
            </a:r>
          </a:p>
          <a:p xmlns:a="http://schemas.openxmlformats.org/drawingml/2006/main">
            <a:r>
              <a:t>LECTURER CUE</a:t>
            </a:r>
          </a:p>
          <a:p xmlns:a="http://schemas.openxmlformats.org/drawingml/2006/main">
            <a:r>
              <a:t>Investigate building cooling load. Target units: kW. These are synthetic teaching records, not measurements suitable for deployment. Each record is one operating observation; equipment_id repeats across observations.</a:t>
            </a:r>
          </a:p>
          <a:p xmlns:a="http://schemas.openxmlformats.org/drawingml/2006/main">
            <a:r>
              <a:t/>
            </a:r>
          </a:p>
          <a:p xmlns:a="http://schemas.openxmlformats.org/drawingml/2006/main">
            <a:r>
              <a:t>EXPLAIN IN ORDINARY WORDS</a:t>
            </a:r>
          </a:p>
          <a:p xmlns:a="http://schemas.openxmlformats.org/drawingml/2006/main">
            <a:r>
              <a:t>Read each quantity and unit before using a formula. Python calculates numbers but does not enforce physical units. Parentheses specify which operation happens first.</a:t>
            </a:r>
          </a:p>
          <a:p xmlns:a="http://schemas.openxmlformats.org/drawingml/2006/main">
            <a:r>
              <a:t/>
            </a:r>
          </a:p>
          <a:p xmlns:a="http://schemas.openxmlformats.org/drawingml/2006/main">
            <a:r>
              <a:t>CHECK AND EXPECTED ANSWER</a:t>
            </a:r>
          </a:p>
          <a:p xmlns:a="http://schemas.openxmlformats.org/drawingml/2006/main">
            <a:r>
              <a:t>What is 5 m times 3 m? 15 square metres. What is 7/2 in Python? 3.5; 7//2 is 3.</a:t>
            </a:r>
          </a:p>
          <a:p xmlns:a="http://schemas.openxmlformats.org/drawingml/2006/main">
            <a:r>
              <a:t/>
            </a:r>
          </a:p>
          <a:p xmlns:a="http://schemas.openxmlformats.org/drawingml/2006/main">
            <a:r>
              <a:t>IF LEARNERS ARE STUCK</a:t>
            </a:r>
          </a:p>
          <a:p xmlns:a="http://schemas.openxmlformats.org/drawingml/2006/main">
            <a:r>
              <a:t>Write the formula and units on paper, substitute small values, then translate it to Python. Check zero denominators and the issued sign convention.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group_split(records).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group_split(records).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Build on Your issued task. Explain why this example is needed before running it.</a:t>
            </a:r>
          </a:p>
          <a:p xmlns:a="http://schemas.openxmlformats.org/drawingml/2006/main">
            <a:r>
              <a:t/>
            </a:r>
          </a:p>
          <a:p xmlns:a="http://schemas.openxmlformats.org/drawingml/2006/main">
            <a:r>
              <a:t>EXPLAIN</a:t>
            </a:r>
          </a:p>
          <a:p xmlns:a="http://schemas.openxmlformats.org/drawingml/2006/main">
            <a:r>
              <a:t>Assign whole equipment groups: E1–E4 to train, E5 to validation, E6 to test.</a:t>
            </a:r>
          </a:p>
          <a:p xmlns:a="http://schemas.openxmlformats.org/drawingml/2006/main">
            <a:r>
              <a:t/>
            </a:r>
          </a:p>
          <a:p xmlns:a="http://schemas.openxmlformats.org/drawingml/2006/main">
            <a:r>
              <a:t>Return train, validation and test lists of record_id in input order.</a:t>
            </a:r>
          </a:p>
          <a:p xmlns:a="http://schemas.openxmlformats.org/drawingml/2006/main">
            <a:r>
              <a:t/>
            </a:r>
          </a:p>
          <a:p xmlns:a="http://schemas.openxmlformats.org/drawingml/2006/main">
            <a:r>
              <a:t>Do not use target values to choose membership.</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group_split(records)</a:t>
            </a:r>
          </a:p>
          <a:p xmlns:a="http://schemas.openxmlformats.org/drawingml/2006/main">
            <a:r>
              <a:t/>
            </a:r>
          </a:p>
          <a:p xmlns:a="http://schemas.openxmlformats.org/drawingml/2006/main">
            <a:r>
              <a:t>CONNECT</a:t>
            </a:r>
          </a:p>
          <a:p xmlns:a="http://schemas.openxmlformats.org/drawingml/2006/main">
            <a:r>
              <a:t>Build on the preceding slide: Your issued task.</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IUEA_Teaching_Plan/assessment_banks/W10/CML3112/A/TASKS.md</a:t>
            </a:r>
          </a:p>
          <a:p xmlns:a="http://schemas.openxmlformats.org/drawingml/2006/main">
            <a:r>
              <a:t/>
            </a:r>
          </a:p>
          <a:p xmlns:a="http://schemas.openxmlformats.org/drawingml/2006/main">
            <a:r>
              <a:t>EXPLAIN IN ORDINARY WORDS</a:t>
            </a:r>
          </a:p>
          <a:p xmlns:a="http://schemas.openxmlformats.org/drawingml/2006/main">
            <a:r>
              <a:t>Training fits rules. Validation helps choose among rules. The final test estimates performance after choices are fixed. Information that would be unavailable at the real prediction time must stay out of the inputs.</a:t>
            </a:r>
          </a:p>
          <a:p xmlns:a="http://schemas.openxmlformats.org/drawingml/2006/main">
            <a:r>
              <a:t/>
            </a:r>
          </a:p>
          <a:p xmlns:a="http://schemas.openxmlformats.org/drawingml/2006/main">
            <a:r>
              <a:t>CHECK AND EXPECTED ANSWER</a:t>
            </a:r>
          </a:p>
          <a:p xmlns:a="http://schemas.openxmlformats.org/drawingml/2006/main">
            <a:r>
              <a:t>May two readings of the same machine appear on both sides when evaluating new machines? No; split by machine. For forecasting, train on the past and evaluate later time.</a:t>
            </a:r>
          </a:p>
          <a:p xmlns:a="http://schemas.openxmlformats.org/drawingml/2006/main">
            <a:r>
              <a:t/>
            </a:r>
          </a:p>
          <a:p xmlns:a="http://schemas.openxmlformats.org/drawingml/2006/main">
            <a:r>
              <a:t>IF LEARNERS ARE STUCK</a:t>
            </a:r>
          </a:p>
          <a:p xmlns:a="http://schemas.openxmlformats.org/drawingml/2006/main">
            <a:r>
              <a:t>Use three envelopes. Keep the final-test envelope closed while selecting features or settings.</a:t>
            </a:r>
          </a:p>
          <a:p xmlns:a="http://schemas.openxmlformats.org/drawingml/2006/main">
            <a:r>
              <a:t/>
            </a:r>
          </a:p>
          <a:p xmlns:a="http://schemas.openxmlformats.org/drawingml/2006/main">
            <a:r>
              <a:t>NEXT</a:t>
            </a:r>
          </a:p>
          <a:p xmlns:a="http://schemas.openxmlformats.org/drawingml/2006/main">
            <a:r>
              <a:t>predict_regression(training_records, feature_records).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predict_regression(training_records, feature_records).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group_split(records). Explain why this example is needed before running it.</a:t>
            </a:r>
          </a:p>
          <a:p xmlns:a="http://schemas.openxmlformats.org/drawingml/2006/main">
            <a:r>
              <a:t/>
            </a:r>
          </a:p>
          <a:p xmlns:a="http://schemas.openxmlformats.org/drawingml/2006/main">
            <a:r>
              <a:t>EXPLAIN</a:t>
            </a:r>
          </a:p>
          <a:p xmlns:a="http://schemas.openxmlformats.org/drawingml/2006/main">
            <a:r>
              <a:t>Fit a training-mean baseline, linear regression and a decision tree (max_depth=4, random_state=17) using load_pct and ambient_c only.</a:t>
            </a:r>
          </a:p>
          <a:p xmlns:a="http://schemas.openxmlformats.org/drawingml/2006/main">
            <a:r>
              <a:t/>
            </a:r>
          </a:p>
          <a:p xmlns:a="http://schemas.openxmlformats.org/drawingml/2006/main">
            <a:r>
              <a:t>Return three prediction lists under baseline, linear and tree.</a:t>
            </a:r>
          </a:p>
          <a:p xmlns:a="http://schemas.openxmlformats.org/drawingml/2006/main">
            <a:r>
              <a:t/>
            </a:r>
          </a:p>
          <a:p xmlns:a="http://schemas.openxmlformats.org/drawingml/2006/main">
            <a:r>
              <a:t>Feature records have no target.</a:t>
            </a:r>
          </a:p>
          <a:p xmlns:a="http://schemas.openxmlformats.org/drawingml/2006/main">
            <a:r>
              <a:t/>
            </a:r>
          </a:p>
          <a:p xmlns:a="http://schemas.openxmlformats.org/drawingml/2006/main">
            <a:r>
              <a:t>Fit preprocessing only on training data.</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predict_regression(training_records, feature_records)</a:t>
            </a:r>
          </a:p>
          <a:p xmlns:a="http://schemas.openxmlformats.org/drawingml/2006/main">
            <a:r>
              <a:t/>
            </a:r>
          </a:p>
          <a:p xmlns:a="http://schemas.openxmlformats.org/drawingml/2006/main">
            <a:r>
              <a:t>CONNECT</a:t>
            </a:r>
          </a:p>
          <a:p xmlns:a="http://schemas.openxmlformats.org/drawingml/2006/main">
            <a:r>
              <a:t>Build on the preceding slide: group_split(records).</a:t>
            </a:r>
          </a:p>
          <a:p xmlns:a="http://schemas.openxmlformats.org/drawingml/2006/main">
            <a:r>
              <a:t/>
            </a:r>
          </a:p>
          <a:p xmlns:a="http://schemas.openxmlformats.org/drawingml/2006/main">
            <a:r>
              <a:t>LECTURER CUE</a:t>
            </a:r>
          </a:p>
          <a:p xmlns:a="http://schemas.openxmlformats.org/drawingml/2006/main">
            <a:r>
              <a:t>Public task contract. Explain input and output types before independent work. Source: IUEA_Teaching_Plan/assessment_banks/W10/CML3112/A/TASKS.md</a:t>
            </a:r>
          </a:p>
          <a:p xmlns:a="http://schemas.openxmlformats.org/drawingml/2006/main">
            <a:r>
              <a:t/>
            </a:r>
          </a:p>
          <a:p xmlns:a="http://schemas.openxmlformats.org/drawingml/2006/main">
            <a:r>
              <a:t>EXPLAIN IN ORDINARY WORDS</a:t>
            </a:r>
          </a:p>
          <a:p xmlns:a="http://schemas.openxmlformats.org/drawingml/2006/main">
            <a:r>
              <a:t>A feature is an input available when predicting. The target is the answer to learn from. Regression predicts a number; classification predicts a category. Learning patterns does not by itself establish cause.</a:t>
            </a:r>
          </a:p>
          <a:p xmlns:a="http://schemas.openxmlformats.org/drawingml/2006/main">
            <a:r>
              <a:t/>
            </a:r>
          </a:p>
          <a:p xmlns:a="http://schemas.openxmlformats.org/drawingml/2006/main">
            <a:r>
              <a:t>CHECK AND EXPECTED ANSWER</a:t>
            </a:r>
          </a:p>
          <a:p xmlns:a="http://schemas.openxmlformats.org/drawingml/2006/main">
            <a:r>
              <a:t>Predicting concrete strength: regression. Predicting pass/fail: classification. Is a later test result available before that test? No.</a:t>
            </a:r>
          </a:p>
          <a:p xmlns:a="http://schemas.openxmlformats.org/drawingml/2006/main">
            <a:r>
              <a:t/>
            </a:r>
          </a:p>
          <a:p xmlns:a="http://schemas.openxmlformats.org/drawingml/2006/main">
            <a:r>
              <a:t>IF LEARNERS ARE STUCK</a:t>
            </a:r>
          </a:p>
          <a:p xmlns:a="http://schemas.openxmlformats.org/drawingml/2006/main">
            <a:r>
              <a:t>Describe the engineering decision in everyday language, then label one row, an input and its answer. Compare with a rule you could write directly.</a:t>
            </a:r>
          </a:p>
          <a:p xmlns:a="http://schemas.openxmlformats.org/drawingml/2006/main">
            <a:r>
              <a:t/>
            </a:r>
          </a:p>
          <a:p xmlns:a="http://schemas.openxmlformats.org/drawingml/2006/main">
            <a:r>
              <a:t>NEXT</a:t>
            </a:r>
          </a:p>
          <a:p xmlns:a="http://schemas.openxmlformats.org/drawingml/2006/main">
            <a:r>
              <a:t>Written evidence.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Written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predict_regression(training_records, feature_records). Explain why this example is needed before running it.</a:t>
            </a:r>
          </a:p>
          <a:p xmlns:a="http://schemas.openxmlformats.org/drawingml/2006/main">
            <a:r>
              <a:t/>
            </a:r>
          </a:p>
          <a:p xmlns:a="http://schemas.openxmlformats.org/drawingml/2006/main">
            <a:r>
              <a:t>EXPLAIN</a:t>
            </a:r>
          </a:p>
          <a:p xmlns:a="http://schemas.openxmlformats.org/drawingml/2006/main">
            <a:r>
              <a:t>Use the cell headed “My written evidence”.</a:t>
            </a:r>
          </a:p>
          <a:p xmlns:a="http://schemas.openxmlformats.org/drawingml/2006/main">
            <a:r>
              <a:t/>
            </a:r>
          </a:p>
          <a:p xmlns:a="http://schemas.openxmlformats.org/drawingml/2006/main">
            <a:r>
              <a:t>Explain the supplied scenario in your own words.</a:t>
            </a:r>
          </a:p>
          <a:p xmlns:a="http://schemas.openxmlformats.org/drawingml/2006/main">
            <a:r>
              <a:t/>
            </a:r>
          </a:p>
          <a:p xmlns:a="http://schemas.openxmlformats.org/drawingml/2006/main">
            <a:r>
              <a:t>State target units, reasons and limitations.</a:t>
            </a:r>
          </a:p>
          <a:p xmlns:a="http://schemas.openxmlformats.org/drawingml/2006/main">
            <a:r>
              <a:t/>
            </a:r>
          </a:p>
          <a:p xmlns:a="http://schemas.openxmlformats.org/drawingml/2006/main">
            <a:r>
              <a:t>Submit one complete notebook containing code and written evidence.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Written evidence</a:t>
            </a:r>
          </a:p>
          <a:p xmlns:a="http://schemas.openxmlformats.org/drawingml/2006/main">
            <a:r>
              <a:t/>
            </a:r>
          </a:p>
          <a:p xmlns:a="http://schemas.openxmlformats.org/drawingml/2006/main">
            <a:r>
              <a:t>CONNECT</a:t>
            </a:r>
          </a:p>
          <a:p xmlns:a="http://schemas.openxmlformats.org/drawingml/2006/main">
            <a:r>
              <a:t>Build on the preceding slide: predict_regression(training_records, feature_records).</a:t>
            </a:r>
          </a:p>
          <a:p xmlns:a="http://schemas.openxmlformats.org/drawingml/2006/main">
            <a:r>
              <a:t/>
            </a:r>
          </a:p>
          <a:p xmlns:a="http://schemas.openxmlformats.org/drawingml/2006/main">
            <a:r>
              <a:t>LECTURER CUE</a:t>
            </a:r>
          </a:p>
          <a:p xmlns:a="http://schemas.openxmlformats.org/drawingml/2006/main">
            <a:r>
              <a:t>Published criterion weights and exact requirements remain in TASKS.md. Broader project exercises are formative and do not add weekly marks. Local automated reasoning assessment remains subject to its release checks.</a:t>
            </a:r>
          </a:p>
          <a:p xmlns:a="http://schemas.openxmlformats.org/drawingml/2006/main">
            <a:r>
              <a:t/>
            </a:r>
          </a:p>
          <a:p xmlns:a="http://schemas.openxmlformats.org/drawingml/2006/main">
            <a:r>
              <a:t>EXPLAIN IN ORDINARY WORDS</a:t>
            </a:r>
          </a:p>
          <a:p xmlns:a="http://schemas.openxmlformats.org/drawingml/2006/main">
            <a:r>
              <a:t>An observation describes the data. A finding answers a defined question with evidence. A recommendation adds an action, its justification and limits.</a:t>
            </a:r>
          </a:p>
          <a:p xmlns:a="http://schemas.openxmlformats.org/drawingml/2006/main">
            <a:r>
              <a:t/>
            </a:r>
          </a:p>
          <a:p xmlns:a="http://schemas.openxmlformats.org/drawingml/2006/main">
            <a:r>
              <a:t>CHECK AND EXPECTED ANSWER</a:t>
            </a:r>
          </a:p>
          <a:p xmlns:a="http://schemas.openxmlformats.org/drawingml/2006/main">
            <a:r>
              <a:t>Does a difference between two groups prove one caused the other? No. Other differences or selection may explain it.</a:t>
            </a:r>
          </a:p>
          <a:p xmlns:a="http://schemas.openxmlformats.org/drawingml/2006/main">
            <a:r>
              <a:t/>
            </a:r>
          </a:p>
          <a:p xmlns:a="http://schemas.openxmlformats.org/drawingml/2006/main">
            <a:r>
              <a:t>IF LEARNERS ARE STUCK</a:t>
            </a:r>
          </a:p>
          <a:p xmlns:a="http://schemas.openxmlformats.org/drawingml/2006/main">
            <a:r>
              <a:t>Ask for the population, time period, number and comparison. Then ask what additional evidence could change the recommendation.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Validation and trust submission.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Validation and trust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Build on Written evidence. Explain why this example is needed before running it.</a:t>
            </a:r>
          </a:p>
          <a:p xmlns:a="http://schemas.openxmlformats.org/drawingml/2006/main">
            <a:r>
              <a:t/>
            </a:r>
          </a:p>
          <a:p xmlns:a="http://schemas.openxmlformats.org/drawingml/2006/main">
            <a:r>
              <a:t>EXPLAIN</a:t>
            </a:r>
          </a:p>
          <a:p xmlns:a="http://schemas.openxmlformats.org/drawingml/2006/main">
            <a:r>
              <a:t>Opens: 10 Nov 2026, 11:00 Kampala</a:t>
            </a:r>
          </a:p>
          <a:p xmlns:a="http://schemas.openxmlformats.org/drawingml/2006/main">
            <a:r>
              <a:t/>
            </a:r>
          </a:p>
          <a:p xmlns:a="http://schemas.openxmlformats.org/drawingml/2006/main">
            <a:r>
              <a:t>Deadline: 17 Nov 2026, 11:00 Kampala</a:t>
            </a:r>
          </a:p>
          <a:p xmlns:a="http://schemas.openxmlformats.org/drawingml/2006/main">
            <a:r>
              <a:t/>
            </a:r>
          </a:p>
          <a:p xmlns:a="http://schemas.openxmlformats.org/drawingml/2006/main">
            <a:r>
              <a:t>Use your full Student Registration Number in the form.</a:t>
            </a:r>
          </a:p>
          <a:p xmlns:a="http://schemas.openxmlformats.org/drawingml/2006/main">
            <a:r>
              <a:t/>
            </a:r>
          </a:p>
          <a:p xmlns:a="http://schemas.openxmlformats.org/drawingml/2006/main">
            <a:r>
              <a:t>Keep the submitted files and confirmation.</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Validation and trust submission</a:t>
            </a:r>
          </a:p>
          <a:p xmlns:a="http://schemas.openxmlformats.org/drawingml/2006/main">
            <a:r>
              <a:t/>
            </a:r>
          </a:p>
          <a:p xmlns:a="http://schemas.openxmlformats.org/drawingml/2006/main">
            <a:r>
              <a:t>CONNECT</a:t>
            </a:r>
          </a:p>
          <a:p xmlns:a="http://schemas.openxmlformats.org/drawingml/2006/main">
            <a:r>
              <a:t>Build on the preceding slide: Written evidence.</a:t>
            </a:r>
          </a:p>
          <a:p xmlns:a="http://schemas.openxmlformats.org/drawingml/2006/main">
            <a:r>
              <a:t/>
            </a:r>
          </a:p>
          <a:p xmlns:a="http://schemas.openxmlformats.org/drawingml/2006/main">
            <a:r>
              <a:t>LECTURER CUE</a:t>
            </a:r>
          </a:p>
          <a:p xmlns:a="http://schemas.openxmlformats.org/drawingml/2006/main">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xmlns:a="http://schemas.openxmlformats.org/drawingml/2006/main">
            <a:r>
              <a:t/>
            </a:r>
          </a:p>
          <a:p xmlns:a="http://schemas.openxmlformats.org/drawingml/2006/main">
            <a:r>
              <a:t>ASSIGNMENT HANDOVER</a:t>
            </a:r>
          </a:p>
          <a:p xmlns:a="http://schemas.openxmlformats.org/drawingml/2006/main">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xmlns:a="http://schemas.openxmlformats.org/drawingml/2006/main">
            <a:r>
              <a:t/>
            </a:r>
          </a:p>
          <a:p xmlns:a="http://schemas.openxmlformats.org/drawingml/2006/main">
            <a:r>
              <a:t>NEXT</a:t>
            </a:r>
          </a:p>
          <a:p xmlns:a="http://schemas.openxmlformats.org/drawingml/2006/main">
            <a:r>
              <a:t>Week 10 quiz.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Week 10 quiz.</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Build on Validation and trust submission. Explain why this example is needed before running it.</a:t>
            </a:r>
          </a:p>
          <a:p xmlns:a="http://schemas.openxmlformats.org/drawingml/2006/main">
            <a:r>
              <a:t/>
            </a:r>
          </a:p>
          <a:p xmlns:a="http://schemas.openxmlformats.org/drawingml/2006/main">
            <a:r>
              <a:t>EXPLAIN</a:t>
            </a:r>
          </a:p>
          <a:p xmlns:a="http://schemas.openxmlformats.org/drawingml/2006/main">
            <a:r>
              <a:t>Answer individually after the lecturer activates the quiz.</a:t>
            </a:r>
          </a:p>
          <a:p xmlns:a="http://schemas.openxmlformats.org/drawingml/2006/main">
            <a:r>
              <a:t/>
            </a:r>
          </a:p>
          <a:p xmlns:a="http://schemas.openxmlformats.org/drawingml/2006/main">
            <a:r>
              <a:t>Available for 24 hours from activation.</a:t>
            </a:r>
          </a:p>
          <a:p xmlns:a="http://schemas.openxmlformats.org/drawingml/2006/main">
            <a:r>
              <a:t/>
            </a:r>
          </a:p>
          <a:p xmlns:a="http://schemas.openxmlformats.org/drawingml/2006/main">
            <a:r>
              <a:t>Use your Student Registration Number and registered account.</a:t>
            </a:r>
          </a:p>
          <a:p xmlns:a="http://schemas.openxmlformats.org/drawingml/2006/main">
            <a:r>
              <a:t/>
            </a:r>
          </a:p>
          <a:p xmlns:a="http://schemas.openxmlformats.org/drawingml/2006/main">
            <a:r>
              <a:t>The lecturer will confirm the exact closing time.</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Week 10 quiz</a:t>
            </a:r>
          </a:p>
          <a:p xmlns:a="http://schemas.openxmlformats.org/drawingml/2006/main">
            <a:r>
              <a:t/>
            </a:r>
          </a:p>
          <a:p xmlns:a="http://schemas.openxmlformats.org/drawingml/2006/main">
            <a:r>
              <a:t>CONNECT</a:t>
            </a:r>
          </a:p>
          <a:p xmlns:a="http://schemas.openxmlformats.org/drawingml/2006/main">
            <a:r>
              <a:t>Build on the preceding slide: Validation and trust submission.</a:t>
            </a:r>
          </a:p>
          <a:p xmlns:a="http://schemas.openxmlformats.org/drawingml/2006/main">
            <a:r>
              <a:t/>
            </a:r>
          </a:p>
          <a:p xmlns:a="http://schemas.openxmlformats.org/drawingml/2006/main">
            <a:r>
              <a:t>LECTURER CUE</a:t>
            </a:r>
          </a:p>
          <a:p xmlns:a="http://schemas.openxmlformats.org/drawingml/2006/main">
            <a:r>
              <a:t>Activate the matching open_W10_CML3112 function in Quiz Controls, then confirm the 24-hour close time. Opening this slide or clicking its link does not activate the form. The 24 hours is the availability window. Keep existing quiz scoring and form rules. Do not show private answer keys.</a:t>
            </a:r>
          </a:p>
          <a:p xmlns:a="http://schemas.openxmlformats.org/drawingml/2006/main">
            <a:r>
              <a:t/>
            </a:r>
          </a:p>
          <a:p xmlns:a="http://schemas.openxmlformats.org/drawingml/2006/main">
            <a:r>
              <a:t>QUIZ OPERATION</a:t>
            </a:r>
          </a:p>
          <a:p xmlns:a="http://schemas.openxmlformats.org/drawingml/2006/main">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xmlns:a="http://schemas.openxmlformats.org/drawingml/2006/main">
            <a:r>
              <a:t/>
            </a:r>
          </a:p>
          <a:p xmlns:a="http://schemas.openxmlformats.org/drawingml/2006/main">
            <a:r>
              <a:t>NEXT</a:t>
            </a:r>
          </a:p>
          <a:p xmlns:a="http://schemas.openxmlformats.org/drawingml/2006/main">
            <a:r>
              <a:t>Before you leave.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Revision and submission checklist</a:t>
            </a:r>
          </a:p>
          <a:p xmlns:a="http://schemas.openxmlformats.org/drawingml/2006/main">
            <a:r>
              <a:t/>
            </a:r>
          </a:p>
          <a:p xmlns:a="http://schemas.openxmlformats.org/drawingml/2006/main">
            <a:r>
              <a:t>CONNECT</a:t>
            </a:r>
          </a:p>
          <a:p xmlns:a="http://schemas.openxmlformats.org/drawingml/2006/main">
            <a:r>
              <a:t>Build on Week 10 quiz. Explain why this example is needed before running it.</a:t>
            </a:r>
          </a:p>
          <a:p xmlns:a="http://schemas.openxmlformats.org/drawingml/2006/main">
            <a:r>
              <a:t/>
            </a:r>
          </a:p>
          <a:p xmlns:a="http://schemas.openxmlformats.org/drawingml/2006/main">
            <a:r>
              <a:t>EXPLAIN</a:t>
            </a:r>
          </a:p>
          <a:p xmlns:a="http://schemas.openxmlformats.org/drawingml/2006/main">
            <a:r>
              <a:t>You can identify which records may influence preprocessing and model selection.</a:t>
            </a:r>
          </a:p>
          <a:p xmlns:a="http://schemas.openxmlformats.org/drawingml/2006/main">
            <a:r>
              <a:t/>
            </a:r>
          </a:p>
          <a:p xmlns:a="http://schemas.openxmlformats.org/drawingml/2006/main">
            <a:r>
              <a:t>Save your work and check the required submission files.</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Before you leave</a:t>
            </a:r>
          </a:p>
          <a:p xmlns:a="http://schemas.openxmlformats.org/drawingml/2006/main">
            <a:r>
              <a:t/>
            </a:r>
          </a:p>
          <a:p xmlns:a="http://schemas.openxmlformats.org/drawingml/2006/main">
            <a:r>
              <a:t>CONNECT</a:t>
            </a:r>
          </a:p>
          <a:p xmlns:a="http://schemas.openxmlformats.org/drawingml/2006/main">
            <a:r>
              <a:t>Build on the preceding slide: Week 10 quiz.</a:t>
            </a:r>
          </a:p>
          <a:p xmlns:a="http://schemas.openxmlformats.org/drawingml/2006/main">
            <a:r>
              <a:t/>
            </a:r>
          </a:p>
          <a:p xmlns:a="http://schemas.openxmlformats.org/drawingml/2006/main">
            <a:r>
              <a:t>LECTURER CUE</a:t>
            </a:r>
          </a:p>
          <a:p xmlns:a="http://schemas.openxmlformats.org/drawingml/2006/main">
            <a:r>
              <a:t>Ask every learner for an individual response. Record one misconception to revisit at the start of the next class. If a deadline changed, announce the exact Kampala date and update the source registry before rebuilding slides.</a:t>
            </a:r>
          </a:p>
          <a:p xmlns:a="http://schemas.openxmlformats.org/drawingml/2006/main">
            <a:r>
              <a:t/>
            </a:r>
          </a:p>
          <a:p xmlns:a="http://schemas.openxmlformats.org/drawingml/2006/main">
            <a:r>
              <a:t>EXPLAIN IN ORDINARY WORDS</a:t>
            </a:r>
          </a:p>
          <a:p xmlns:a="http://schemas.openxmlformats.org/drawingml/2006/main">
            <a:r>
              <a:t>First remove models that fail the stated error or speed limits. Then apply the stated ranking and tie-break rules to eligible models. The smallest error alone need not decide.</a:t>
            </a:r>
          </a:p>
          <a:p xmlns:a="http://schemas.openxmlformats.org/drawingml/2006/main">
            <a:r>
              <a:t/>
            </a:r>
          </a:p>
          <a:p xmlns:a="http://schemas.openxmlformats.org/drawingml/2006/main">
            <a:r>
              <a:t>CHECK AND EXPECTED ANSWER</a:t>
            </a:r>
          </a:p>
          <a:p xmlns:a="http://schemas.openxmlformats.org/drawingml/2006/main">
            <a:r>
              <a:t>If a model has the lowest error but exceeds the maximum latency, is it eligible? No.</a:t>
            </a:r>
          </a:p>
          <a:p xmlns:a="http://schemas.openxmlformats.org/drawingml/2006/main">
            <a:r>
              <a:t/>
            </a:r>
          </a:p>
          <a:p xmlns:a="http://schemas.openxmlformats.org/drawingml/2006/main">
            <a:r>
              <a:t>IF LEARNERS ARE STUCK</a:t>
            </a:r>
          </a:p>
          <a:p xmlns:a="http://schemas.openxmlformats.org/drawingml/2006/main">
            <a:r>
              <a:t>Write an eligibility column and a separate ranking column. Check the exact boundary rule before sorting.</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Optional revision video.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PURPOSE</a:t>
            </a:r>
          </a:p>
          <a:p xmlns:a="http://schemas.openxmlformats.org/drawingml/2006/main">
            <a:r>
              <a:t>Optional revision video</a:t>
            </a:r>
          </a:p>
          <a:p xmlns:a="http://schemas.openxmlformats.org/drawingml/2006/main">
            <a:r>
              <a:t/>
            </a:r>
          </a:p>
          <a:p xmlns:a="http://schemas.openxmlformats.org/drawingml/2006/main">
            <a:r>
              <a:t>CONNECT</a:t>
            </a:r>
          </a:p>
          <a:p xmlns:a="http://schemas.openxmlformats.org/drawingml/2006/main">
            <a:r>
              <a:t>Build on Revision and submission checklist. Explain why this example is needed before running it.</a:t>
            </a:r>
          </a:p>
          <a:p xmlns:a="http://schemas.openxmlformats.org/drawingml/2006/main">
            <a:r>
              <a:t/>
            </a:r>
          </a:p>
          <a:p xmlns:a="http://schemas.openxmlformats.org/drawingml/2006/main">
            <a:r>
              <a:t>EXPLAIN</a:t>
            </a:r>
          </a:p>
          <a:p xmlns:a="http://schemas.openxmlformats.org/drawingml/2006/main">
            <a:r>
              <a:t>For revision after class.</a:t>
            </a:r>
          </a:p>
          <a:p xmlns:a="http://schemas.openxmlformats.org/drawingml/2006/main">
            <a:r>
              <a:t/>
            </a:r>
          </a:p>
          <a:p xmlns:a="http://schemas.openxmlformats.org/drawingml/2006/main">
            <a:r>
              <a:t>StatQuest with Josh Starmer</a:t>
            </a:r>
          </a:p>
          <a:p xmlns:a="http://schemas.openxmlformats.org/drawingml/2006/main">
            <a:r>
              <a:t>Machine Learning Fundamentals Cross Validation</a:t>
            </a:r>
          </a:p>
          <a:p xmlns:a="http://schemas.openxmlformats.org/drawingml/2006/main">
            <a:r>
              <a:t/>
            </a:r>
          </a:p>
          <a:p xmlns:a="http://schemas.openxmlformats.org/drawingml/2006/main">
            <a:r>
              <a:t>Opening up to 04:00, optional preview-selected excerpt</a:t>
            </a:r>
          </a:p>
          <a:p xmlns:a="http://schemas.openxmlformats.org/drawingml/2006/main">
            <a:r>
              <a:t/>
            </a:r>
          </a:p>
          <a:p xmlns:a="http://schemas.openxmlformats.org/drawingml/2006/main">
            <a:r>
              <a:t>Listening question: Why evaluate using observations not used to fit that particular model?</a:t>
            </a:r>
          </a:p>
          <a:p xmlns:a="http://schemas.openxmlformats.org/drawingml/2006/main">
            <a:r>
              <a:t/>
            </a:r>
          </a:p>
          <a:p xmlns:a="http://schemas.openxmlformats.org/drawingml/2006/main">
            <a:r>
              <a:t>LECTURER DETAIL</a:t>
            </a:r>
          </a:p>
          <a:p xmlns:a="http://schemas.openxmlformats.org/drawingml/2006/main">
            <a:r>
              <a:t>TEACHING PURPOSE</a:t>
            </a:r>
          </a:p>
          <a:p xmlns:a="http://schemas.openxmlformats.org/drawingml/2006/main">
            <a:r>
              <a:t>Short explainer and discussion</a:t>
            </a:r>
          </a:p>
          <a:p xmlns:a="http://schemas.openxmlformats.org/drawingml/2006/main">
            <a:r>
              <a:t/>
            </a:r>
          </a:p>
          <a:p xmlns:a="http://schemas.openxmlformats.org/drawingml/2006/main">
            <a:r>
              <a:t>CONNECT</a:t>
            </a:r>
          </a:p>
          <a:p xmlns:a="http://schemas.openxmlformats.org/drawingml/2006/main">
            <a:r>
              <a:t>Build on the preceding slide: Practice discussion.</a:t>
            </a:r>
          </a:p>
          <a:p xmlns:a="http://schemas.openxmlformats.org/drawingml/2006/main">
            <a:r>
              <a:t/>
            </a:r>
          </a:p>
          <a:p xmlns:a="http://schemas.openxmlformats.org/drawingml/2006/main">
            <a:r>
              <a:t>LECTURER CUE</a:t>
            </a:r>
          </a:p>
          <a:p xmlns:a="http://schemas.openxmlformats.org/drawingml/2006/main">
            <a:r>
              <a:t>Linked by the official StatQuest video index. Full audiovisual preview and excerpt timing still required.</a:t>
            </a:r>
          </a:p>
          <a:p xmlns:a="http://schemas.openxmlformats.org/drawingml/2006/main">
            <a:r>
              <a:t>After viewing: Explain why our repeated equipment IDs require grouped partitions rather than ordinary random folds.</a:t>
            </a:r>
          </a:p>
          <a:p xmlns:a="http://schemas.openxmlformats.org/drawingml/2006/main">
            <a:r>
              <a:t>Preview before class and stop after the selected short excerpt. If playback fails, teach the worked example. Video is optional. Source: https://www.youtube.com/watch?v=fSytzGwwBVw</a:t>
            </a:r>
          </a:p>
          <a:p xmlns:a="http://schemas.openxmlformats.org/drawingml/2006/main">
            <a:r>
              <a:t/>
            </a:r>
          </a:p>
          <a:p xmlns:a="http://schemas.openxmlformats.org/drawingml/2006/main">
            <a:r>
              <a:t>EXPLAIN IN ORDINARY WORDS</a:t>
            </a:r>
          </a:p>
          <a:p xmlns:a="http://schemas.openxmlformats.org/drawingml/2006/main">
            <a:r>
              <a:t>Cross-validation repeats training and validation on different partitions. Each fold gets a newly fitted model and preprocessing. Variation across fold scores shows sensitivity to the partition.</a:t>
            </a:r>
          </a:p>
          <a:p xmlns:a="http://schemas.openxmlformats.org/drawingml/2006/main">
            <a:r>
              <a:t/>
            </a:r>
          </a:p>
          <a:p xmlns:a="http://schemas.openxmlformats.org/drawingml/2006/main">
            <a:r>
              <a:t>CHECK AND EXPECTED ANSWER</a:t>
            </a:r>
          </a:p>
          <a:p xmlns:a="http://schemas.openxmlformats.org/drawingml/2006/main">
            <a:r>
              <a:t>May preprocessing learn from all rows before the folds? No, that would give each validation fold information from outside its training portion.</a:t>
            </a:r>
          </a:p>
          <a:p xmlns:a="http://schemas.openxmlformats.org/drawingml/2006/main">
            <a:r>
              <a:t/>
            </a:r>
          </a:p>
          <a:p xmlns:a="http://schemas.openxmlformats.org/drawingml/2006/main">
            <a:r>
              <a:t>IF LEARNERS ARE STUCK</a:t>
            </a:r>
          </a:p>
          <a:p xmlns:a="http://schemas.openxmlformats.org/drawingml/2006/main">
            <a:r>
              <a:t>Draw three small partitions and label who learns and who is evaluated. Fold spread is not automatically a confidence interval.</a:t>
            </a:r>
          </a:p>
          <a:p xmlns:a="http://schemas.openxmlformats.org/drawingml/2006/main">
            <a:r>
              <a:t/>
            </a:r>
          </a:p>
          <a:p xmlns:a="http://schemas.openxmlformats.org/drawingml/2006/main">
            <a:r>
              <a:t>VIDEO ROUTINE</a:t>
            </a:r>
          </a:p>
          <a:p xmlns:a="http://schemas.openxmlformats.org/drawingml/2006/main">
            <a:r>
              <a:t>Preview the exact link and stated excerpt before class. State the viewing question first, pause after the example, and ask a learner to explain it. If access fails, use the adjacent worked example and discussion rather than spend class time troubleshooting streaming.</a:t>
            </a:r>
          </a:p>
          <a:p xmlns:a="http://schemas.openxmlformats.org/drawingml/2006/main">
            <a:r>
              <a:t/>
            </a:r>
          </a:p>
          <a:p xmlns:a="http://schemas.openxmlformats.org/drawingml/2006/main">
            <a:r>
              <a:t>NEXT</a:t>
            </a:r>
          </a:p>
          <a:p xmlns:a="http://schemas.openxmlformats.org/drawingml/2006/main">
            <a:r>
              <a:t>After the video. Move on after a learner can explain the current example or required action.</a:t>
            </a:r>
          </a:p>
          <a:p xmlns:a="http://schemas.openxmlformats.org/drawingml/2006/main">
            <a:r>
              <a:t/>
            </a:r>
          </a:p>
          <a:p xmlns:a="http://schemas.openxmlformats.org/drawingml/2006/main">
            <a:r>
              <a:t>TEACHING MODE</a:t>
            </a:r>
          </a:p>
          <a:p xmlns:a="http://schemas.openxmlformats.org/drawingml/2006/main">
            <a:r>
              <a:t>Demonstrate the example directly. Explain each new name, symbol and output. Use the revision example for an individual check after class; no live partner activity is required.</a:t>
            </a:r>
          </a:p>
          <a:p xmlns:a="http://schemas.openxmlformats.org/drawingml/2006/main">
            <a:r>
              <a:t/>
            </a:r>
          </a:p>
          <a:p xmlns:a="http://schemas.openxmlformats.org/drawingml/2006/main">
            <a:r>
              <a:t>NEXT</a:t>
            </a:r>
          </a:p>
          <a:p xmlns:a="http://schemas.openxmlformats.org/drawingml/2006/main">
            <a:r>
              <a:t>independent revision and the issued task.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c4420cc9ef64b0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5d21645770b408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e531132e696414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0c762f762ef4ae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8de030029bd4cc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22455f637c24f7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14065316-BAE3-4DE7-B77A-7DAE8433AAD4}"/>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A35F795-6FE1-4541-B983-EF3B92EC8C3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F9B9C26-74A0-4880-8717-061ECA9B6B8A}"/>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C05F448-C253-4DD1-85C7-4E06CE262FC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8FA44E3-1150-4036-8F85-CE679863329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8D413FE-FE47-4490-84B5-E7D5571CA18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607822C-BCFB-4849-BEEF-C7CF60CAE8D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53D5F85A-D029-4E3F-B421-A49EE77CF65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E1947CC1-ABE9-44C1-BC7F-D990545134DA}"/>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8D76EBB-FA94-4265-973A-403432D6DA7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19AF426-98A3-48F2-B3EC-1BA0DE8F8911}"/>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472F5849-FB37-429F-957B-8F93405DE8A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5CE72871-874F-4AF2-81C7-E72180D3545B}"/>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EC99203-08CC-4E0D-83EC-381D127D133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A2A2472-CBD5-453D-B36A-F0A3EC5D9239}"/>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52d105bb2494d7d" /><Relationship Type="http://schemas.openxmlformats.org/officeDocument/2006/relationships/slideLayout" Target="/ppt/slideLayouts/slideLayout1.xml" Id="Rbaa42cfc92e444ae" /><Relationship Type="http://schemas.openxmlformats.org/officeDocument/2006/relationships/slideLayout" Target="/ppt/slideLayouts/slideLayout2.xml" Id="R08c703b1c8c84c2b" /><Relationship Type="http://schemas.openxmlformats.org/officeDocument/2006/relationships/slideLayout" Target="/ppt/slideLayouts/slideLayout3.xml" Id="R16764bc70f9c4f26" /><Relationship Type="http://schemas.openxmlformats.org/officeDocument/2006/relationships/slideLayout" Target="/ppt/slideLayouts/slideLayout4.xml" Id="R24513620223b4654" /><Relationship Type="http://schemas.openxmlformats.org/officeDocument/2006/relationships/slideLayout" Target="/ppt/slideLayouts/slideLayout5.xml" Id="Rb32dc2fc4c274e41" /><Relationship Type="http://schemas.openxmlformats.org/officeDocument/2006/relationships/slideLayout" Target="/ppt/slideLayouts/slideLayout6.xml" Id="Rf14265707726496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a42cfc92e444ae"/>
    <p:sldLayoutId xmlns:r="http://schemas.openxmlformats.org/officeDocument/2006/relationships" id="2147483650" r:id="R08c703b1c8c84c2b"/>
    <p:sldLayoutId xmlns:r="http://schemas.openxmlformats.org/officeDocument/2006/relationships" id="2147483651" r:id="R16764bc70f9c4f26"/>
    <p:sldLayoutId xmlns:r="http://schemas.openxmlformats.org/officeDocument/2006/relationships" id="2147483652" r:id="R24513620223b4654"/>
    <p:sldLayoutId xmlns:r="http://schemas.openxmlformats.org/officeDocument/2006/relationships" id="2147483653" r:id="Rb32dc2fc4c274e41"/>
    <p:sldLayoutId xmlns:r="http://schemas.openxmlformats.org/officeDocument/2006/relationships" id="2147483654" r:id="Rf14265707726496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cc9e0a61bae45d5" /><Relationship Type="http://schemas.openxmlformats.org/officeDocument/2006/relationships/image" Target="/ppt/media/image.png" Id="Ra6a56de6165446e6" /><Relationship Type="http://schemas.openxmlformats.org/officeDocument/2006/relationships/notesSlide" Target="/ppt/notesSlides/notesSlide1.xml" Id="R458e235dead2466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6f2d85de21348cf" /><Relationship Type="http://schemas.openxmlformats.org/officeDocument/2006/relationships/notesSlide" Target="/ppt/notesSlides/notesSlide2.xml" Id="R47eb689f474a47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9fb12f5927694f65" /><Relationship Type="http://schemas.openxmlformats.org/officeDocument/2006/relationships/notesSlide" Target="/ppt/notesSlides/notesSlide3.xml" Id="R305bd65b875e4d3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43e33877ece43bc" /><Relationship Type="http://schemas.openxmlformats.org/officeDocument/2006/relationships/notesSlide" Target="/ppt/notesSlides/notesSlide4.xml" Id="R9b28a671d198484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2c29aa692c749a7" /><Relationship Type="http://schemas.openxmlformats.org/officeDocument/2006/relationships/notesSlide" Target="/ppt/notesSlides/notesSlide5.xml" Id="Rb0c5621d4e71438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c2e54c8c3346dd" /><Relationship Type="http://schemas.openxmlformats.org/officeDocument/2006/relationships/image" Target="/ppt/media/image2.png" Id="R5f8530e6bcc2408d" /><Relationship Type="http://schemas.openxmlformats.org/officeDocument/2006/relationships/notesSlide" Target="/ppt/notesSlides/notesSlide6.xml" Id="R57734b176fd8401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4ab4e691bb0410c" /><Relationship Type="http://schemas.openxmlformats.org/officeDocument/2006/relationships/notesSlide" Target="/ppt/notesSlides/notesSlide7.xml" Id="R371f4407282940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53a549e9a6b447e1" /><Relationship Type="http://schemas.openxmlformats.org/officeDocument/2006/relationships/notesSlide" Target="/ppt/notesSlides/notesSlide8.xml" Id="R013fc9df632440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4280a51c56f4953" /><Relationship Type="http://schemas.openxmlformats.org/officeDocument/2006/relationships/notesSlide" Target="/ppt/notesSlides/notesSlide9.xml" Id="R524eacc9efbb48d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45a67ceac8a4e95" /><Relationship Type="http://schemas.openxmlformats.org/officeDocument/2006/relationships/notesSlide" Target="/ppt/notesSlides/notesSlide10.xml" Id="Rb3a1f6a5f4b3419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9e88ed61b8b4b2b" /><Relationship Type="http://schemas.openxmlformats.org/officeDocument/2006/relationships/notesSlide" Target="/ppt/notesSlides/notesSlide11.xml" Id="Rd042f915066d4fc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9ea2f4c19804e2f" /><Relationship Type="http://schemas.openxmlformats.org/officeDocument/2006/relationships/notesSlide" Target="/ppt/notesSlides/notesSlide12.xml" Id="R212cc5b6545e46c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5824e2747334011" /><Relationship Type="http://schemas.openxmlformats.org/officeDocument/2006/relationships/notesSlide" Target="/ppt/notesSlides/notesSlide13.xml" Id="R9062ddbc93e74ca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2208da95f86b4931" /><Relationship Type="http://schemas.openxmlformats.org/officeDocument/2006/relationships/notesSlide" Target="/ppt/notesSlides/notesSlide14.xml" Id="R052eed86bd6447a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914209f28d034086" /><Relationship Type="http://schemas.openxmlformats.org/officeDocument/2006/relationships/notesSlide" Target="/ppt/notesSlides/notesSlide15.xml" Id="Rde9baeb0a8334cf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df4d909630a4d50" /><Relationship Type="http://schemas.openxmlformats.org/officeDocument/2006/relationships/notesSlide" Target="/ppt/notesSlides/notesSlide16.xml" Id="Ra7c3ef66e83c4a7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f623f72de1b645f1" /><Relationship Type="http://schemas.openxmlformats.org/officeDocument/2006/relationships/notesSlide" Target="/ppt/notesSlides/notesSlide17.xml" Id="Rbb42621da4764fb4"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a8e8c60dacd4f6a" /><Relationship Type="http://schemas.openxmlformats.org/officeDocument/2006/relationships/notesSlide" Target="/ppt/notesSlides/notesSlide18.xml" Id="R57c5556ec82c449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8e1df35ca6045db" /><Relationship Type="http://schemas.openxmlformats.org/officeDocument/2006/relationships/notesSlide" Target="/ppt/notesSlides/notesSlide19.xml" Id="Rb55ebc7e84f9451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bd3a0e8abea140e0" /><Relationship Type="http://schemas.openxmlformats.org/officeDocument/2006/relationships/notesSlide" Target="/ppt/notesSlides/notesSlide20.xml" Id="R6425e0b8bd0a4dd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bfec3a67eb3e47c7" /><Relationship Type="http://schemas.openxmlformats.org/officeDocument/2006/relationships/notesSlide" Target="/ppt/notesSlides/notesSlide21.xml" Id="R82ba16600cf040c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d50a7d187af4f78" /><Relationship Type="http://schemas.openxmlformats.org/officeDocument/2006/relationships/image" Target="/ppt/media/image3.png" Id="R748ee8049e9346d7" /><Relationship Type="http://schemas.openxmlformats.org/officeDocument/2006/relationships/notesSlide" Target="/ppt/notesSlides/notesSlide22.xml" Id="Rb38313ec82fb468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663b9ab9454f4438" /><Relationship Type="http://schemas.openxmlformats.org/officeDocument/2006/relationships/notesSlide" Target="/ppt/notesSlides/notesSlide23.xml" Id="Rd954d2a92355462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3853f45f8ae44c0" /><Relationship Type="http://schemas.openxmlformats.org/officeDocument/2006/relationships/notesSlide" Target="/ppt/notesSlides/notesSlide24.xml" Id="R3b4caba37ec1474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746e4e63f1c496b" /><Relationship Type="http://schemas.openxmlformats.org/officeDocument/2006/relationships/notesSlide" Target="/ppt/notesSlides/notesSlide25.xml" Id="R11cf8d2a2aee480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6eca13e9260a4668" /><Relationship Type="http://schemas.openxmlformats.org/officeDocument/2006/relationships/notesSlide" Target="/ppt/notesSlides/notesSlide26.xml" Id="Rb9fab0020f364bda"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a604f63bea54d94" /><Relationship Type="http://schemas.openxmlformats.org/officeDocument/2006/relationships/notesSlide" Target="/ppt/notesSlides/notesSlide27.xml" Id="R48fb0d259195444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33710dd5690f4ad9" /><Relationship Type="http://schemas.openxmlformats.org/officeDocument/2006/relationships/notesSlide" Target="/ppt/notesSlides/notesSlide28.xml" Id="R8e3698d1db804375"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9660522e0b934307" /><Relationship Type="http://schemas.openxmlformats.org/officeDocument/2006/relationships/notesSlide" Target="/ppt/notesSlides/notesSlide29.xml" Id="R5748b3d6a87c4553"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f480a94aa9834212" /><Relationship Type="http://schemas.openxmlformats.org/officeDocument/2006/relationships/notesSlide" Target="/ppt/notesSlides/notesSlide30.xml" Id="R465be2d381144c4d"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8fe3389edd742cf" /><Relationship Type="http://schemas.openxmlformats.org/officeDocument/2006/relationships/notesSlide" Target="/ppt/notesSlides/notesSlide31.xml" Id="R924915396c98433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257b16c01d6b4099" /><Relationship Type="http://schemas.openxmlformats.org/officeDocument/2006/relationships/hyperlink" Target="https://docs.google.com/forms/d/e/1FAIpQLSfHHR9NLI-zvGYZ2Xf7wgwxBjXO3bjfUZRIH9SX_g3JtGRLXQ/viewform" TargetMode="External" Id="R33beae860cb5487b" /><Relationship Type="http://schemas.openxmlformats.org/officeDocument/2006/relationships/notesSlide" Target="/ppt/notesSlides/notesSlide32.xml" Id="R964a919c16a5400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d76865f57724457c" /><Relationship Type="http://schemas.openxmlformats.org/officeDocument/2006/relationships/image" Target="/ppt/media/image4.png" Id="R4ecf45ae34154e95" /><Relationship Type="http://schemas.openxmlformats.org/officeDocument/2006/relationships/hyperlink" Target="https://forms.gle/8BV6yg76yvUwbQGK9" TargetMode="External" Id="Rf3706a4a63704093" /><Relationship Type="http://schemas.openxmlformats.org/officeDocument/2006/relationships/notesSlide" Target="/ppt/notesSlides/notesSlide33.xml" Id="R3cbd5ca87fd64e2a"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d16e3a1a3f014bbc" /><Relationship Type="http://schemas.openxmlformats.org/officeDocument/2006/relationships/notesSlide" Target="/ppt/notesSlides/notesSlide34.xml" Id="Rb0397336ec9c461d"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ae43a779f05b4372" /><Relationship Type="http://schemas.openxmlformats.org/officeDocument/2006/relationships/hyperlink" Target="https://www.youtube.com/watch?v=fSytzGwwBVw" TargetMode="External" Id="Rba7a937b86804f81" /><Relationship Type="http://schemas.openxmlformats.org/officeDocument/2006/relationships/notesSlide" Target="/ppt/notesSlides/notesSlide35.xml" Id="Rd766a8aa16244c9f"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6a56de6165446e6"/>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6BCF4F8-AE69-4257-92D3-E55CD4411ED4}"/>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F02B371-DBA0-4293-82DC-F795794B5C4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10</a:t>
            </a:r>
          </a:p>
        </p:txBody>
      </p:sp>
      <p:sp>
        <p:nvSpPr>
          <p:cNvPr id="4" name="">
            <a:extLst xmlns:a="http://schemas.openxmlformats.org/drawingml/2006/main">
              <a:ext uri="{FF2B5EF4-FFF2-40B4-BE49-F238E27FC236}">
                <a16:creationId xmlns:a16="http://schemas.microsoft.com/office/drawing/2014/main" id="{E6490904-B274-4E5E-A7BD-3664706A0313}"/>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Honest validation and leakage</a:t>
            </a:r>
          </a:p>
        </p:txBody>
      </p:sp>
      <p:sp>
        <p:nvSpPr>
          <p:cNvPr id="5" name="">
            <a:extLst xmlns:a="http://schemas.openxmlformats.org/drawingml/2006/main">
              <a:ext uri="{FF2B5EF4-FFF2-40B4-BE49-F238E27FC236}">
                <a16:creationId xmlns:a16="http://schemas.microsoft.com/office/drawing/2014/main" id="{2779A375-CEF9-4835-A064-D1DECB6A693F}"/>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4C8840DB-A9F3-4016-A9F8-DAC48AF8CDB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10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99406145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7E70BDD-888B-481A-8D74-DB50DDD9F9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DC5267-9F26-429E-A886-0F3267A352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F65DB22-7372-425D-9246-3419C93C938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D60A788-E542-4D66-8092-F0BB73DEBD7F}"/>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F5A73B7-511B-4AFA-AF85-462CAD7E1B22}"/>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BD49D8A5-2DD5-47FC-BEB8-66D500B9ED3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related equipment records together.</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Separate training, validation and final testing.</a:t>
            </a:r>
          </a:p>
        </p:txBody>
      </p:sp>
      <p:sp>
        <p:nvSpPr>
          <p:cNvPr id="7" name="">
            <a:extLst xmlns:a="http://schemas.openxmlformats.org/drawingml/2006/main">
              <a:ext uri="{FF2B5EF4-FFF2-40B4-BE49-F238E27FC236}">
                <a16:creationId xmlns:a16="http://schemas.microsoft.com/office/drawing/2014/main" id="{6DA29C05-C3A7-4219-99F9-AB4DCE88B007}"/>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846C2EA8-9231-4F35-91DA-9AD33C2FA2F9}"/>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identify which records may influence preprocessing and model selection.</a:t>
            </a:r>
          </a:p>
        </p:txBody>
      </p:sp>
      <p:sp>
        <p:nvSpPr>
          <p:cNvPr id="9" name="">
            <a:extLst xmlns:a="http://schemas.openxmlformats.org/drawingml/2006/main">
              <a:ext uri="{FF2B5EF4-FFF2-40B4-BE49-F238E27FC236}">
                <a16:creationId xmlns:a16="http://schemas.microsoft.com/office/drawing/2014/main" id="{33603EEA-2525-430D-B9AE-C6C0CD8040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a:t>
            </a:r>
          </a:p>
        </p:txBody>
      </p:sp>
    </p:spTree>
    <p:extLst>
      <p:ext uri="{BB962C8B-B14F-4D97-AF65-F5344CB8AC3E}">
        <p14:creationId xmlns:p14="http://schemas.microsoft.com/office/powerpoint/2010/main" val="170297518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8A208D-DF03-427D-B35E-4889B9A9EE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365ED54-BB4F-4A62-BF90-8DDC4FBF5F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21B1077-5159-411A-9B0E-CF2E1C97C5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E05CFAA6-35BD-4256-978A-7DC3B0FB90C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5EEAB3-F19C-4B8A-ABAB-875230DFB00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have compared predictions with known answers.</a:t>
            </a:r>
          </a:p>
        </p:txBody>
      </p:sp>
      <p:sp>
        <p:nvSpPr>
          <p:cNvPr id="6" name="">
            <a:extLst xmlns:a="http://schemas.openxmlformats.org/drawingml/2006/main">
              <a:ext uri="{FF2B5EF4-FFF2-40B4-BE49-F238E27FC236}">
                <a16:creationId xmlns:a16="http://schemas.microsoft.com/office/drawing/2014/main" id="{98B9A2FB-D5AF-46B7-82FE-38B041CC52D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Now we control which observations may influence training, choices and the final evaluation.</a:t>
            </a:r>
          </a:p>
        </p:txBody>
      </p:sp>
      <p:sp>
        <p:nvSpPr>
          <p:cNvPr id="7" name="">
            <a:extLst xmlns:a="http://schemas.openxmlformats.org/drawingml/2006/main">
              <a:ext uri="{FF2B5EF4-FFF2-40B4-BE49-F238E27FC236}">
                <a16:creationId xmlns:a16="http://schemas.microsoft.com/office/drawing/2014/main" id="{C92A839A-8F2C-4FC4-B915-BFC966B63E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a:t>
            </a:r>
          </a:p>
        </p:txBody>
      </p:sp>
    </p:spTree>
    <p:extLst>
      <p:ext uri="{BB962C8B-B14F-4D97-AF65-F5344CB8AC3E}">
        <p14:creationId xmlns:p14="http://schemas.microsoft.com/office/powerpoint/2010/main" val="139832949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2532DF0-E947-46D8-B594-0E02683EF7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8882498-F71F-42F5-8272-0B7B5160A5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3540591-62A5-4ADE-9E95-FED4C6903D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84F32DA8-8801-40EC-A909-435393A10DE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17D1C8E-9EE3-4190-8A33-C35EBDC37E8C}"/>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We want evidence about new equipment or future observations.</a:t>
            </a:r>
          </a:p>
        </p:txBody>
      </p:sp>
      <p:sp>
        <p:nvSpPr>
          <p:cNvPr id="6" name="">
            <a:extLst xmlns:a="http://schemas.openxmlformats.org/drawingml/2006/main">
              <a:ext uri="{FF2B5EF4-FFF2-40B4-BE49-F238E27FC236}">
                <a16:creationId xmlns:a16="http://schemas.microsoft.com/office/drawing/2014/main" id="{559B9113-AC94-4635-A7F9-CC0F9C80C904}"/>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way we separate data must match that use before any model or preprocessing learns from it.</a:t>
            </a:r>
          </a:p>
        </p:txBody>
      </p:sp>
      <p:sp>
        <p:nvSpPr>
          <p:cNvPr id="7" name="">
            <a:extLst xmlns:a="http://schemas.openxmlformats.org/drawingml/2006/main">
              <a:ext uri="{FF2B5EF4-FFF2-40B4-BE49-F238E27FC236}">
                <a16:creationId xmlns:a16="http://schemas.microsoft.com/office/drawing/2014/main" id="{EAEE5E85-1CCF-4EB4-9077-0BD01B5DD9C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4</a:t>
            </a:r>
          </a:p>
        </p:txBody>
      </p:sp>
    </p:spTree>
    <p:extLst>
      <p:ext uri="{BB962C8B-B14F-4D97-AF65-F5344CB8AC3E}">
        <p14:creationId xmlns:p14="http://schemas.microsoft.com/office/powerpoint/2010/main" val="72709613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993C731-2012-48B6-9C42-AB12264A25F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FB359CB-6098-43C2-8E3F-C4B57FD28D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CBFD8F-9A6A-4C53-9B51-07C66FB98C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validation and final test</a:t>
            </a:r>
          </a:p>
        </p:txBody>
      </p:sp>
      <p:sp>
        <p:nvSpPr>
          <p:cNvPr id="4" name="">
            <a:extLst xmlns:a="http://schemas.openxmlformats.org/drawingml/2006/main">
              <a:ext uri="{FF2B5EF4-FFF2-40B4-BE49-F238E27FC236}">
                <a16:creationId xmlns:a16="http://schemas.microsoft.com/office/drawing/2014/main" id="{382B628D-3871-4EAE-911B-1F39AA78CF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E82908-E3F1-4B8D-A06F-BA389192C0A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data fit the model and preprocessing.</a:t>
            </a:r>
          </a:p>
        </p:txBody>
      </p:sp>
      <p:sp>
        <p:nvSpPr>
          <p:cNvPr id="6" name="">
            <a:extLst xmlns:a="http://schemas.openxmlformats.org/drawingml/2006/main">
              <a:ext uri="{FF2B5EF4-FFF2-40B4-BE49-F238E27FC236}">
                <a16:creationId xmlns:a16="http://schemas.microsoft.com/office/drawing/2014/main" id="{88286B1F-3EC6-4CC5-B993-B9CBF22FF1A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50A571C-8DE5-4870-9431-9B15ECF213E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data guide feature and model choices.</a:t>
            </a:r>
          </a:p>
        </p:txBody>
      </p:sp>
      <p:sp>
        <p:nvSpPr>
          <p:cNvPr id="8" name="">
            <a:extLst xmlns:a="http://schemas.openxmlformats.org/drawingml/2006/main">
              <a:ext uri="{FF2B5EF4-FFF2-40B4-BE49-F238E27FC236}">
                <a16:creationId xmlns:a16="http://schemas.microsoft.com/office/drawing/2014/main" id="{D4E64FEA-AB56-43EF-A76D-88C232B69D2A}"/>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EFA10F5-25F8-41A1-AB10-04E5D58001B9}"/>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final test evaluates choices after they are fixed.</a:t>
            </a:r>
          </a:p>
        </p:txBody>
      </p:sp>
      <p:sp>
        <p:nvSpPr>
          <p:cNvPr id="10" name="">
            <a:extLst xmlns:a="http://schemas.openxmlformats.org/drawingml/2006/main">
              <a:ext uri="{FF2B5EF4-FFF2-40B4-BE49-F238E27FC236}">
                <a16:creationId xmlns:a16="http://schemas.microsoft.com/office/drawing/2014/main" id="{5571929B-229B-4F95-9069-01A34F34C45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CE71F28-786C-4347-87EA-A2A31AFC62A4}"/>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test is needed if its answers influenced further choices.</a:t>
            </a:r>
          </a:p>
        </p:txBody>
      </p:sp>
      <p:sp>
        <p:nvSpPr>
          <p:cNvPr id="12" name="">
            <a:extLst xmlns:a="http://schemas.openxmlformats.org/drawingml/2006/main">
              <a:ext uri="{FF2B5EF4-FFF2-40B4-BE49-F238E27FC236}">
                <a16:creationId xmlns:a16="http://schemas.microsoft.com/office/drawing/2014/main" id="{51F0E189-5325-467C-BD3F-061478EA08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5</a:t>
            </a:r>
          </a:p>
        </p:txBody>
      </p:sp>
    </p:spTree>
    <p:extLst>
      <p:ext uri="{BB962C8B-B14F-4D97-AF65-F5344CB8AC3E}">
        <p14:creationId xmlns:p14="http://schemas.microsoft.com/office/powerpoint/2010/main" val="202103065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F219BEA-530C-4891-BD32-96C0BD487C1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7B0F63E-D8C9-4252-BF54-9F9EC0E612D7}"/>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Three sets have different jobs</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5f8530e6bcc2408d"/>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255FD64-4F10-43E5-A8E8-72854535C55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BC0ACC-DBEC-4244-B1AF-E432008215A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set must stay sealed until choices are fixed?</a:t>
            </a:r>
          </a:p>
        </p:txBody>
      </p:sp>
      <p:sp>
        <p:nvSpPr>
          <p:cNvPr id="6" name="">
            <a:extLst xmlns:a="http://schemas.openxmlformats.org/drawingml/2006/main">
              <a:ext uri="{FF2B5EF4-FFF2-40B4-BE49-F238E27FC236}">
                <a16:creationId xmlns:a16="http://schemas.microsoft.com/office/drawing/2014/main" id="{C3F33968-C61E-4FA6-8EAC-EAFF9C6C0B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6</a:t>
            </a:r>
          </a:p>
        </p:txBody>
      </p:sp>
    </p:spTree>
    <p:extLst>
      <p:ext uri="{BB962C8B-B14F-4D97-AF65-F5344CB8AC3E}">
        <p14:creationId xmlns:p14="http://schemas.microsoft.com/office/powerpoint/2010/main" val="164139120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5E4791-B631-494B-94D8-2CFB21378B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B011A3-2B56-4FFB-BA3C-ECC7455C04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D569FA5-A413-49B1-9C6E-334691EAA5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Generalisation and Overfitting and underfitting</a:t>
            </a:r>
          </a:p>
        </p:txBody>
      </p:sp>
      <p:sp>
        <p:nvSpPr>
          <p:cNvPr id="4" name="">
            <a:extLst xmlns:a="http://schemas.openxmlformats.org/drawingml/2006/main">
              <a:ext uri="{FF2B5EF4-FFF2-40B4-BE49-F238E27FC236}">
                <a16:creationId xmlns:a16="http://schemas.microsoft.com/office/drawing/2014/main" id="{D085EECC-D9F7-4902-85B6-609A9A1E3CA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B6E64D6-4E2A-4ABA-8B58-57B06497391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Generalisation</a:t>
            </a:r>
          </a:p>
        </p:txBody>
      </p:sp>
      <p:sp>
        <p:nvSpPr>
          <p:cNvPr id="6" name="">
            <a:extLst xmlns:a="http://schemas.openxmlformats.org/drawingml/2006/main">
              <a:ext uri="{FF2B5EF4-FFF2-40B4-BE49-F238E27FC236}">
                <a16:creationId xmlns:a16="http://schemas.microsoft.com/office/drawing/2014/main" id="{157F5A5B-5C4F-4B17-AE22-7A9A849333DC}"/>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Performance on new cases from the intended setting, not merely on records already used.</a:t>
            </a:r>
          </a:p>
        </p:txBody>
      </p:sp>
      <p:sp>
        <p:nvSpPr>
          <p:cNvPr id="7" name="">
            <a:extLst xmlns:a="http://schemas.openxmlformats.org/drawingml/2006/main">
              <a:ext uri="{FF2B5EF4-FFF2-40B4-BE49-F238E27FC236}">
                <a16:creationId xmlns:a16="http://schemas.microsoft.com/office/drawing/2014/main" id="{25F46192-CDA4-4F76-81F4-8EE7E0E1F26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4471B97-E576-4B5E-8CA1-07B9C258FEA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Overfitting and underfitting</a:t>
            </a:r>
          </a:p>
        </p:txBody>
      </p:sp>
      <p:sp>
        <p:nvSpPr>
          <p:cNvPr id="9" name="">
            <a:extLst xmlns:a="http://schemas.openxmlformats.org/drawingml/2006/main">
              <a:ext uri="{FF2B5EF4-FFF2-40B4-BE49-F238E27FC236}">
                <a16:creationId xmlns:a16="http://schemas.microsoft.com/office/drawing/2014/main" id="{2485B4CD-064B-467A-A83F-A7EBDD9B9BC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Overfitting captures training-specific detail that fails to transfer. Underfitting misses useful patterns. Score gaps are clues, not a complete diagnosis.</a:t>
            </a:r>
          </a:p>
        </p:txBody>
      </p:sp>
      <p:sp>
        <p:nvSpPr>
          <p:cNvPr id="10" name="">
            <a:extLst xmlns:a="http://schemas.openxmlformats.org/drawingml/2006/main">
              <a:ext uri="{FF2B5EF4-FFF2-40B4-BE49-F238E27FC236}">
                <a16:creationId xmlns:a16="http://schemas.microsoft.com/office/drawing/2014/main" id="{5F121808-3AE3-466C-9D60-07F6ADFCCA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7</a:t>
            </a:r>
          </a:p>
        </p:txBody>
      </p:sp>
    </p:spTree>
    <p:extLst>
      <p:ext uri="{BB962C8B-B14F-4D97-AF65-F5344CB8AC3E}">
        <p14:creationId xmlns:p14="http://schemas.microsoft.com/office/powerpoint/2010/main" val="56240881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E7B0D1-94E6-49DF-A8B4-0487A6F802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AEADD0C-873B-4321-ACD4-087729D733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203CDAC-65E2-426C-9D8F-F2070CE9AA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and Group split</a:t>
            </a:r>
          </a:p>
        </p:txBody>
      </p:sp>
      <p:sp>
        <p:nvSpPr>
          <p:cNvPr id="4" name="">
            <a:extLst xmlns:a="http://schemas.openxmlformats.org/drawingml/2006/main">
              <a:ext uri="{FF2B5EF4-FFF2-40B4-BE49-F238E27FC236}">
                <a16:creationId xmlns:a16="http://schemas.microsoft.com/office/drawing/2014/main" id="{91C15DB0-7294-43F6-99A7-ADEFFF3F6769}"/>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9595A5-4893-4EAE-97F6-C0CA752D02FF}"/>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Leakage</a:t>
            </a:r>
          </a:p>
        </p:txBody>
      </p:sp>
      <p:sp>
        <p:nvSpPr>
          <p:cNvPr id="6" name="">
            <a:extLst xmlns:a="http://schemas.openxmlformats.org/drawingml/2006/main">
              <a:ext uri="{FF2B5EF4-FFF2-40B4-BE49-F238E27FC236}">
                <a16:creationId xmlns:a16="http://schemas.microsoft.com/office/drawing/2014/main" id="{70B327AC-4229-4075-9FE9-22336632D49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Information enters model development that would not legitimately be available, such as the answer or information from evaluation rows.</a:t>
            </a:r>
          </a:p>
        </p:txBody>
      </p:sp>
      <p:sp>
        <p:nvSpPr>
          <p:cNvPr id="7" name="">
            <a:extLst xmlns:a="http://schemas.openxmlformats.org/drawingml/2006/main">
              <a:ext uri="{FF2B5EF4-FFF2-40B4-BE49-F238E27FC236}">
                <a16:creationId xmlns:a16="http://schemas.microsoft.com/office/drawing/2014/main" id="{060B7DBF-00A7-42AA-A3FC-5A16BAA68A8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A93DE0-9903-497E-845C-A8DA01CC07F4}"/>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Group split</a:t>
            </a:r>
          </a:p>
        </p:txBody>
      </p:sp>
      <p:sp>
        <p:nvSpPr>
          <p:cNvPr id="9" name="">
            <a:extLst xmlns:a="http://schemas.openxmlformats.org/drawingml/2006/main">
              <a:ext uri="{FF2B5EF4-FFF2-40B4-BE49-F238E27FC236}">
                <a16:creationId xmlns:a16="http://schemas.microsoft.com/office/drawing/2014/main" id="{0C5AE09E-96B3-4689-8AAF-083D4ECD0239}"/>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Keep all observations from the same equipment in one partition when the goal is prediction for unseen equipment.</a:t>
            </a:r>
          </a:p>
        </p:txBody>
      </p:sp>
      <p:sp>
        <p:nvSpPr>
          <p:cNvPr id="10" name="">
            <a:extLst xmlns:a="http://schemas.openxmlformats.org/drawingml/2006/main">
              <a:ext uri="{FF2B5EF4-FFF2-40B4-BE49-F238E27FC236}">
                <a16:creationId xmlns:a16="http://schemas.microsoft.com/office/drawing/2014/main" id="{FE7B01DE-B60A-495D-92C6-871706B8ED6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8</a:t>
            </a:r>
          </a:p>
        </p:txBody>
      </p:sp>
    </p:spTree>
    <p:extLst>
      <p:ext uri="{BB962C8B-B14F-4D97-AF65-F5344CB8AC3E}">
        <p14:creationId xmlns:p14="http://schemas.microsoft.com/office/powerpoint/2010/main" val="15576334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75CBB1-3D03-45F0-B795-EDDD97B844B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D3D3D61-21C0-4674-837B-AAC7158CEF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21A4F16-CF19-4295-B33F-4B88E1A104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Repeated equipment needs group separation</a:t>
            </a:r>
          </a:p>
        </p:txBody>
      </p:sp>
      <p:sp>
        <p:nvSpPr>
          <p:cNvPr id="4" name="">
            <a:extLst xmlns:a="http://schemas.openxmlformats.org/drawingml/2006/main">
              <a:ext uri="{FF2B5EF4-FFF2-40B4-BE49-F238E27FC236}">
                <a16:creationId xmlns:a16="http://schemas.microsoft.com/office/drawing/2014/main" id="{577A89C1-AA3A-4743-BD05-61E2AA627F5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D9CBC1-1AE7-48FB-8381-53C03502480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Readings from the same equipment can share patterns.</a:t>
            </a:r>
          </a:p>
        </p:txBody>
      </p:sp>
      <p:sp>
        <p:nvSpPr>
          <p:cNvPr id="6" name="">
            <a:extLst xmlns:a="http://schemas.openxmlformats.org/drawingml/2006/main">
              <a:ext uri="{FF2B5EF4-FFF2-40B4-BE49-F238E27FC236}">
                <a16:creationId xmlns:a16="http://schemas.microsoft.com/office/drawing/2014/main" id="{41A0DBE1-848E-47D7-A258-C1A69BC0B82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C38D06E-B3A4-4BFB-B216-E36BE709CF5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Putting that equipment in both training and validation can make evaluation too easy.</a:t>
            </a:r>
          </a:p>
        </p:txBody>
      </p:sp>
      <p:sp>
        <p:nvSpPr>
          <p:cNvPr id="8" name="">
            <a:extLst xmlns:a="http://schemas.openxmlformats.org/drawingml/2006/main">
              <a:ext uri="{FF2B5EF4-FFF2-40B4-BE49-F238E27FC236}">
                <a16:creationId xmlns:a16="http://schemas.microsoft.com/office/drawing/2014/main" id="{688357FA-A2BF-475F-ABDC-6FC06E2E95F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2E8BEA0-6ED8-402D-9B04-865C7E96D90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a new-equipment question, keep every row for an equipment ID in one partition.</a:t>
            </a:r>
          </a:p>
        </p:txBody>
      </p:sp>
      <p:sp>
        <p:nvSpPr>
          <p:cNvPr id="10" name="">
            <a:extLst xmlns:a="http://schemas.openxmlformats.org/drawingml/2006/main">
              <a:ext uri="{FF2B5EF4-FFF2-40B4-BE49-F238E27FC236}">
                <a16:creationId xmlns:a16="http://schemas.microsoft.com/office/drawing/2014/main" id="{618F9F7E-4541-44CD-AFDC-BD1DCB4504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9</a:t>
            </a:r>
          </a:p>
        </p:txBody>
      </p:sp>
    </p:spTree>
    <p:extLst>
      <p:ext uri="{BB962C8B-B14F-4D97-AF65-F5344CB8AC3E}">
        <p14:creationId xmlns:p14="http://schemas.microsoft.com/office/powerpoint/2010/main" val="76182093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4A141F-B4F7-4D79-88A0-3BB8B9A6DC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97F6CE6-5E5A-49EF-BAAE-34890C1A57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347A98C8-EE66-4078-9563-F8B9262BEB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equipment groups together</a:t>
            </a:r>
          </a:p>
        </p:txBody>
      </p:sp>
      <p:graphicFrame>
        <p:nvGraphicFramePr>
          <p:cNvPr id="10" name=""/>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3670300"/>
                <a:gridCol w="3670300"/>
                <a:gridCol w="3670300"/>
              </a:tblGrid>
              <a:tr h="833438">
                <a:tc>
                  <a:txBody>
                    <a:bodyPr/>
                    <a:lstStyle/>
                    <a:p>
                      <a:r>
                        <a:rPr sz="2025" b="1">
                          <a:solidFill>
                            <a:srgbClr val="FFFFFF"/>
                          </a:solidFill>
                          <a:latin typeface="Calibri"/>
                          <a:ea typeface="Calibri"/>
                          <a:cs typeface="Calibri"/>
                        </a:rPr>
                        <a:t>Observation</a:t>
                      </a:r>
                    </a:p>
                  </a:txBody>
                  <a:tcPr marL="91440" marR="91440" marT="45720" marB="45720">
                    <a:solidFill>
                      <a:srgbClr val="2E7D6F"/>
                    </a:solidFill>
                  </a:tcPr>
                </a:tc>
                <a:tc>
                  <a:txBody>
                    <a:bodyPr/>
                    <a:lstStyle/>
                    <a:p>
                      <a:r>
                        <a:rPr sz="2025" b="1">
                          <a:solidFill>
                            <a:srgbClr val="FFFFFF"/>
                          </a:solidFill>
                          <a:latin typeface="Calibri"/>
                          <a:ea typeface="Calibri"/>
                          <a:cs typeface="Calibri"/>
                        </a:rPr>
                        <a:t>Equipment</a:t>
                      </a:r>
                    </a:p>
                  </a:txBody>
                  <a:tcPr marL="91440" marR="91440" marT="45720" marB="45720">
                    <a:solidFill>
                      <a:srgbClr val="2E7D6F"/>
                    </a:solidFill>
                  </a:tcPr>
                </a:tc>
                <a:tc>
                  <a:txBody>
                    <a:bodyPr/>
                    <a:lstStyle/>
                    <a:p>
                      <a:r>
                        <a:rPr sz="2025" b="1">
                          <a:solidFill>
                            <a:srgbClr val="FFFFFF"/>
                          </a:solidFill>
                          <a:latin typeface="Calibri"/>
                          <a:ea typeface="Calibri"/>
                          <a:cs typeface="Calibri"/>
                        </a:rPr>
                        <a:t>Partition</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A</a:t>
                      </a:r>
                    </a:p>
                  </a:txBody>
                  <a:tcPr marL="91440" marR="91440" marT="45720" marB="45720">
                    <a:solidFill>
                      <a:srgbClr val="EEF3F6"/>
                    </a:solidFill>
                  </a:tcPr>
                </a:tc>
                <a:tc>
                  <a:txBody>
                    <a:bodyPr/>
                    <a:lstStyle/>
                    <a:p>
                      <a:r>
                        <a:rPr sz="2025" b="0">
                          <a:solidFill>
                            <a:srgbClr val="1C3144"/>
                          </a:solidFill>
                          <a:latin typeface="Calibri"/>
                          <a:ea typeface="Calibri"/>
                          <a:cs typeface="Calibri"/>
                        </a:rPr>
                        <a:t>Training</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2</a:t>
                      </a:r>
                    </a:p>
                  </a:txBody>
                  <a:tcPr marL="91440" marR="91440" marT="45720" marB="45720">
                    <a:solidFill>
                      <a:srgbClr val="FFFFFF"/>
                    </a:solidFill>
                  </a:tcPr>
                </a:tc>
                <a:tc>
                  <a:txBody>
                    <a:bodyPr/>
                    <a:lstStyle/>
                    <a:p>
                      <a:r>
                        <a:rPr sz="2025" b="0">
                          <a:solidFill>
                            <a:srgbClr val="1C3144"/>
                          </a:solidFill>
                          <a:latin typeface="Calibri"/>
                          <a:ea typeface="Calibri"/>
                          <a:cs typeface="Calibri"/>
                        </a:rPr>
                        <a:t>A</a:t>
                      </a:r>
                    </a:p>
                  </a:txBody>
                  <a:tcPr marL="91440" marR="91440" marT="45720" marB="45720">
                    <a:solidFill>
                      <a:srgbClr val="FFFFFF"/>
                    </a:solidFill>
                  </a:tcPr>
                </a:tc>
                <a:tc>
                  <a:txBody>
                    <a:bodyPr/>
                    <a:lstStyle/>
                    <a:p>
                      <a:r>
                        <a:rPr sz="2025" b="0">
                          <a:solidFill>
                            <a:srgbClr val="1C3144"/>
                          </a:solidFill>
                          <a:latin typeface="Calibri"/>
                          <a:ea typeface="Calibri"/>
                          <a:cs typeface="Calibri"/>
                        </a:rPr>
                        <a:t>Training</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3</a:t>
                      </a:r>
                    </a:p>
                  </a:txBody>
                  <a:tcPr marL="91440" marR="91440" marT="45720" marB="45720">
                    <a:solidFill>
                      <a:srgbClr val="EEF3F6"/>
                    </a:solidFill>
                  </a:tcPr>
                </a:tc>
                <a:tc>
                  <a:txBody>
                    <a:bodyPr/>
                    <a:lstStyle/>
                    <a:p>
                      <a:r>
                        <a:rPr sz="2025" b="0">
                          <a:solidFill>
                            <a:srgbClr val="1C3144"/>
                          </a:solidFill>
                          <a:latin typeface="Calibri"/>
                          <a:ea typeface="Calibri"/>
                          <a:cs typeface="Calibri"/>
                        </a:rPr>
                        <a:t>B</a:t>
                      </a:r>
                    </a:p>
                  </a:txBody>
                  <a:tcPr marL="91440" marR="91440" marT="45720" marB="45720">
                    <a:solidFill>
                      <a:srgbClr val="EEF3F6"/>
                    </a:solidFill>
                  </a:tcPr>
                </a:tc>
                <a:tc>
                  <a:txBody>
                    <a:bodyPr/>
                    <a:lstStyle/>
                    <a:p>
                      <a:r>
                        <a:rPr sz="2025" b="0">
                          <a:solidFill>
                            <a:srgbClr val="1C3144"/>
                          </a:solidFill>
                          <a:latin typeface="Calibri"/>
                          <a:ea typeface="Calibri"/>
                          <a:cs typeface="Calibri"/>
                        </a:rPr>
                        <a:t>Validation</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49F7CDD5-8A37-4B71-BF0B-140A1BD1B854}"/>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This toy split explains group separation.</a:t>
            </a:r>
          </a:p>
        </p:txBody>
      </p:sp>
      <p:sp>
        <p:nvSpPr>
          <p:cNvPr id="6" name="">
            <a:extLst xmlns:a="http://schemas.openxmlformats.org/drawingml/2006/main">
              <a:ext uri="{FF2B5EF4-FFF2-40B4-BE49-F238E27FC236}">
                <a16:creationId xmlns:a16="http://schemas.microsoft.com/office/drawing/2014/main" id="{DB2015F9-DEC4-47B6-ACBF-3A219EE42F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10</a:t>
            </a:r>
          </a:p>
        </p:txBody>
      </p:sp>
    </p:spTree>
    <p:extLst>
      <p:ext uri="{BB962C8B-B14F-4D97-AF65-F5344CB8AC3E}">
        <p14:creationId xmlns:p14="http://schemas.microsoft.com/office/powerpoint/2010/main" val="132449454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03194DB1-28D5-4B0C-9514-7E4A50F6A19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25D577F-2EB5-4EF5-9676-51E04E16D8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F6E3C66-65F3-48CA-9B5A-9F33170A1F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(1/2)</a:t>
            </a:r>
          </a:p>
        </p:txBody>
      </p:sp>
      <p:sp>
        <p:nvSpPr>
          <p:cNvPr id="4" name="">
            <a:extLst xmlns:a="http://schemas.openxmlformats.org/drawingml/2006/main">
              <a:ext uri="{FF2B5EF4-FFF2-40B4-BE49-F238E27FC236}">
                <a16:creationId xmlns:a16="http://schemas.microsoft.com/office/drawing/2014/main" id="{79E0DEB8-D63C-4459-8A62-4A3816C1E77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263374-DD5E-4350-BA55-A1C4512D3688}"/>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records = [{"id": 1,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2, "equipment": "A"},</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           {"id": 3, "equipment": "B"}]</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train = []</a:t>
            </a:r>
          </a:p>
          <a:p xmlns:a="http://schemas.openxmlformats.org/drawingml/2006/main">
            <a:pPr>
              <a:defRPr sz="2143" b="0">
                <a:solidFill>
                  <a:srgbClr val="F4F7FA"/>
                </a:solidFill>
                <a:latin typeface="Courier New"/>
                <a:ea typeface="Courier New"/>
                <a:cs typeface="Courier New"/>
              </a:defRPr>
            </a:pPr>
            <a:r>
              <a:rPr sz="2143" b="0">
                <a:solidFill>
                  <a:srgbClr val="F4F7FA"/>
                </a:solidFill>
                <a:latin typeface="Courier New"/>
                <a:ea typeface="Courier New"/>
                <a:cs typeface="Courier New"/>
              </a:rPr>
              <a:t>validation = []</a:t>
            </a:r>
          </a:p>
        </p:txBody>
      </p:sp>
      <p:sp>
        <p:nvSpPr>
          <p:cNvPr id="6" name="">
            <a:extLst xmlns:a="http://schemas.openxmlformats.org/drawingml/2006/main">
              <a:ext uri="{FF2B5EF4-FFF2-40B4-BE49-F238E27FC236}">
                <a16:creationId xmlns:a16="http://schemas.microsoft.com/office/drawing/2014/main" id="{CD9A07BE-761E-4DB9-8EE9-2A943C2558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9318C57-FE33-4BA5-BD81-2235048124CC}"/>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8" name="">
            <a:extLst xmlns:a="http://schemas.openxmlformats.org/drawingml/2006/main">
              <a:ext uri="{FF2B5EF4-FFF2-40B4-BE49-F238E27FC236}">
                <a16:creationId xmlns:a16="http://schemas.microsoft.com/office/drawing/2014/main" id="{120375FF-7A88-4C15-A3D5-D268589B7E7E}"/>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Braces hold dictionary key: value pairs here.</a:t>
            </a:r>
          </a:p>
        </p:txBody>
      </p:sp>
      <p:sp>
        <p:nvSpPr>
          <p:cNvPr id="9" name="">
            <a:extLst xmlns:a="http://schemas.openxmlformats.org/drawingml/2006/main">
              <a:ext uri="{FF2B5EF4-FFF2-40B4-BE49-F238E27FC236}">
                <a16:creationId xmlns:a16="http://schemas.microsoft.com/office/drawing/2014/main" id="{1DE72464-4231-4C51-A825-3FC53AA881D3}"/>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C3599D6-6C30-4BF1-A9FD-C303E6835DF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E35EC6EC-3018-4847-9FF5-CCBE27663E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11</a:t>
            </a:r>
          </a:p>
        </p:txBody>
      </p:sp>
    </p:spTree>
    <p:extLst>
      <p:ext uri="{BB962C8B-B14F-4D97-AF65-F5344CB8AC3E}">
        <p14:creationId xmlns:p14="http://schemas.microsoft.com/office/powerpoint/2010/main" val="186253519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2745E6B-9DB5-47B7-ACCC-102961FB2D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5DB4803-FC00-4A9F-9A42-5E9FAFB710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863F85A-C403-49EC-AD62-A215B303813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in Python (2/2)</a:t>
            </a:r>
          </a:p>
        </p:txBody>
      </p:sp>
      <p:sp>
        <p:nvSpPr>
          <p:cNvPr id="4" name="">
            <a:extLst xmlns:a="http://schemas.openxmlformats.org/drawingml/2006/main">
              <a:ext uri="{FF2B5EF4-FFF2-40B4-BE49-F238E27FC236}">
                <a16:creationId xmlns:a16="http://schemas.microsoft.com/office/drawing/2014/main" id="{5F0111E0-4D5F-4753-8A29-6FD75B5E307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B70C128-FEFE-4A2D-962F-CEB85165B82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row in records: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row["equipment"] == "A":</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train.append(row["id"])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validation.append(row["id"])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 validation)</a:t>
            </a:r>
          </a:p>
        </p:txBody>
      </p:sp>
      <p:sp>
        <p:nvSpPr>
          <p:cNvPr id="6" name="">
            <a:extLst xmlns:a="http://schemas.openxmlformats.org/drawingml/2006/main">
              <a:ext uri="{FF2B5EF4-FFF2-40B4-BE49-F238E27FC236}">
                <a16:creationId xmlns:a16="http://schemas.microsoft.com/office/drawing/2014/main" id="{3C1BFD74-14CF-4AB0-B23E-7CDC95F0C62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C85C96F0-BCD7-4E57-9087-37C6BF0B9935}"/>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for takes the next item. The indented block repeats.</a:t>
            </a:r>
          </a:p>
        </p:txBody>
      </p:sp>
      <p:sp>
        <p:nvSpPr>
          <p:cNvPr id="8" name="">
            <a:extLst xmlns:a="http://schemas.openxmlformats.org/drawingml/2006/main">
              <a:ext uri="{FF2B5EF4-FFF2-40B4-BE49-F238E27FC236}">
                <a16:creationId xmlns:a16="http://schemas.microsoft.com/office/drawing/2014/main" id="{A5745E24-9088-4558-B2ED-6180EA1BAC4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if tests a condition. The chosen indented block runs.</a:t>
            </a:r>
          </a:p>
        </p:txBody>
      </p:sp>
      <p:sp>
        <p:nvSpPr>
          <p:cNvPr id="9" name="">
            <a:extLst xmlns:a="http://schemas.openxmlformats.org/drawingml/2006/main">
              <a:ext uri="{FF2B5EF4-FFF2-40B4-BE49-F238E27FC236}">
                <a16:creationId xmlns:a16="http://schemas.microsoft.com/office/drawing/2014/main" id="{2F50F857-1388-40E2-A9A6-A7253746AE9E}"/>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10" name="">
            <a:extLst xmlns:a="http://schemas.openxmlformats.org/drawingml/2006/main">
              <a:ext uri="{FF2B5EF4-FFF2-40B4-BE49-F238E27FC236}">
                <a16:creationId xmlns:a16="http://schemas.microsoft.com/office/drawing/2014/main" id="{DD694CB9-5D13-4A73-9852-125F3172331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11" name="">
            <a:extLst xmlns:a="http://schemas.openxmlformats.org/drawingml/2006/main">
              <a:ext uri="{FF2B5EF4-FFF2-40B4-BE49-F238E27FC236}">
                <a16:creationId xmlns:a16="http://schemas.microsoft.com/office/drawing/2014/main" id="{8BE5F2AE-52C9-43F8-AF5C-9EBD73ABDF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12</a:t>
            </a:r>
          </a:p>
        </p:txBody>
      </p:sp>
    </p:spTree>
    <p:extLst>
      <p:ext uri="{BB962C8B-B14F-4D97-AF65-F5344CB8AC3E}">
        <p14:creationId xmlns:p14="http://schemas.microsoft.com/office/powerpoint/2010/main" val="42748862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775A6DB-D4BD-4BAA-9917-0B69EF54BD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C843C8-1E61-4B2E-90C9-789C5C5945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389FE714-61AE-4B37-BCE0-3BF6F65A5D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leakage results</a:t>
            </a:r>
          </a:p>
        </p:txBody>
      </p:sp>
      <p:sp>
        <p:nvSpPr>
          <p:cNvPr id="4" name="">
            <a:extLst xmlns:a="http://schemas.openxmlformats.org/drawingml/2006/main">
              <a:ext uri="{FF2B5EF4-FFF2-40B4-BE49-F238E27FC236}">
                <a16:creationId xmlns:a16="http://schemas.microsoft.com/office/drawing/2014/main" id="{430C3215-E549-42AA-A0E1-C94B156FFFCE}"/>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92920A3-31F2-40D0-9F85-7FD3A515CFE9}"/>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 2] [3]</a:t>
            </a:r>
          </a:p>
        </p:txBody>
      </p:sp>
      <p:sp>
        <p:nvSpPr>
          <p:cNvPr id="6" name="">
            <a:extLst xmlns:a="http://schemas.openxmlformats.org/drawingml/2006/main">
              <a:ext uri="{FF2B5EF4-FFF2-40B4-BE49-F238E27FC236}">
                <a16:creationId xmlns:a16="http://schemas.microsoft.com/office/drawing/2014/main" id="{EBCB9D79-DFB7-4C1C-B5E4-5085415E774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2E6D6FC-630F-4F51-B11B-D0DB2D89A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13</a:t>
            </a:r>
          </a:p>
        </p:txBody>
      </p:sp>
    </p:spTree>
    <p:extLst>
      <p:ext uri="{BB962C8B-B14F-4D97-AF65-F5344CB8AC3E}">
        <p14:creationId xmlns:p14="http://schemas.microsoft.com/office/powerpoint/2010/main" val="15058943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8D0194-7B7A-4D24-A448-013CAEDD6A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33FD4D2-C574-4EAA-9BD2-F845C5B155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07C0326-1FD1-4A2B-8614-2518FA1FC4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Preprocessing and pipeline</a:t>
            </a:r>
          </a:p>
        </p:txBody>
      </p:sp>
      <p:sp>
        <p:nvSpPr>
          <p:cNvPr id="4" name="">
            <a:extLst xmlns:a="http://schemas.openxmlformats.org/drawingml/2006/main">
              <a:ext uri="{FF2B5EF4-FFF2-40B4-BE49-F238E27FC236}">
                <a16:creationId xmlns:a16="http://schemas.microsoft.com/office/drawing/2014/main" id="{CC8B3D2C-3ABC-48BC-B831-085B2C432B3B}"/>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DABADF-03D0-461C-9C67-743FFF1504CC}"/>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Preprocessing and pipeline</a:t>
            </a:r>
          </a:p>
        </p:txBody>
      </p:sp>
      <p:sp>
        <p:nvSpPr>
          <p:cNvPr id="6" name="">
            <a:extLst xmlns:a="http://schemas.openxmlformats.org/drawingml/2006/main">
              <a:ext uri="{FF2B5EF4-FFF2-40B4-BE49-F238E27FC236}">
                <a16:creationId xmlns:a16="http://schemas.microsoft.com/office/drawing/2014/main" id="{D5C29E29-996E-43E1-A007-A1684127F61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Preprocessing changes inputs, for example filling missing values. A pipeline fits these steps on training data and applies the same fitted changes to new inputs.</a:t>
            </a:r>
          </a:p>
        </p:txBody>
      </p:sp>
      <p:sp>
        <p:nvSpPr>
          <p:cNvPr id="7" name="">
            <a:extLst xmlns:a="http://schemas.openxmlformats.org/drawingml/2006/main">
              <a:ext uri="{FF2B5EF4-FFF2-40B4-BE49-F238E27FC236}">
                <a16:creationId xmlns:a16="http://schemas.microsoft.com/office/drawing/2014/main" id="{58AEF846-CFA3-4C8E-87C4-2BE4C4B490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14</a:t>
            </a:r>
          </a:p>
        </p:txBody>
      </p:sp>
    </p:spTree>
    <p:extLst>
      <p:ext uri="{BB962C8B-B14F-4D97-AF65-F5344CB8AC3E}">
        <p14:creationId xmlns:p14="http://schemas.microsoft.com/office/powerpoint/2010/main" val="119470967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B334570-3CFF-4E67-82F9-FB2B4AD899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C03E245-0763-49F0-876C-8BC79D49B4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29A1C04-2326-4779-8373-B27B707E17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learned cleaning value comes from training</a:t>
            </a:r>
          </a:p>
        </p:txBody>
      </p:sp>
      <p:sp>
        <p:nvSpPr>
          <p:cNvPr id="4" name="">
            <a:extLst xmlns:a="http://schemas.openxmlformats.org/drawingml/2006/main">
              <a:ext uri="{FF2B5EF4-FFF2-40B4-BE49-F238E27FC236}">
                <a16:creationId xmlns:a16="http://schemas.microsoft.com/office/drawing/2014/main" id="{68694ADA-3C9A-463E-B0E0-DEF1B19B42E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32A003-FB15-40EC-B642-BDF27F0010E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readings are 20, 22 and 24. Their median is 22.</a:t>
            </a:r>
          </a:p>
        </p:txBody>
      </p:sp>
      <p:sp>
        <p:nvSpPr>
          <p:cNvPr id="6" name="">
            <a:extLst xmlns:a="http://schemas.openxmlformats.org/drawingml/2006/main">
              <a:ext uri="{FF2B5EF4-FFF2-40B4-BE49-F238E27FC236}">
                <a16:creationId xmlns:a16="http://schemas.microsoft.com/office/drawing/2014/main" id="{02938CC6-1D28-4D56-94CA-60C9AAB82DE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3FFAAE-48EB-4E31-AC8F-A95DA84414FE}"/>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missing validation value receives the already learned 22.</a:t>
            </a:r>
          </a:p>
        </p:txBody>
      </p:sp>
      <p:sp>
        <p:nvSpPr>
          <p:cNvPr id="8" name="">
            <a:extLst xmlns:a="http://schemas.openxmlformats.org/drawingml/2006/main">
              <a:ext uri="{FF2B5EF4-FFF2-40B4-BE49-F238E27FC236}">
                <a16:creationId xmlns:a16="http://schemas.microsoft.com/office/drawing/2014/main" id="{5C3334E7-CF65-4A28-A04B-52529176866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B6CBA98-2A2E-42A0-83F3-53B474464B4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new validation reading of 40 must not change the fitted median.</a:t>
            </a:r>
          </a:p>
        </p:txBody>
      </p:sp>
      <p:sp>
        <p:nvSpPr>
          <p:cNvPr id="10" name="">
            <a:extLst xmlns:a="http://schemas.openxmlformats.org/drawingml/2006/main">
              <a:ext uri="{FF2B5EF4-FFF2-40B4-BE49-F238E27FC236}">
                <a16:creationId xmlns:a16="http://schemas.microsoft.com/office/drawing/2014/main" id="{26B577D8-DA9B-49A7-B813-C69AE397FE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15</a:t>
            </a:r>
          </a:p>
        </p:txBody>
      </p:sp>
    </p:spTree>
    <p:extLst>
      <p:ext uri="{BB962C8B-B14F-4D97-AF65-F5344CB8AC3E}">
        <p14:creationId xmlns:p14="http://schemas.microsoft.com/office/powerpoint/2010/main" val="174222548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A93E75E-6BCB-45DD-A837-D7D13FFFB9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17ED882-22C7-47A9-AD3B-FA21E5A9742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53287FE-5C79-465B-8367-AC4B330FD8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(1/2)</a:t>
            </a:r>
          </a:p>
        </p:txBody>
      </p:sp>
      <p:sp>
        <p:nvSpPr>
          <p:cNvPr id="4" name="">
            <a:extLst xmlns:a="http://schemas.openxmlformats.org/drawingml/2006/main">
              <a:ext uri="{FF2B5EF4-FFF2-40B4-BE49-F238E27FC236}">
                <a16:creationId xmlns:a16="http://schemas.microsoft.com/office/drawing/2014/main" id="{CA0DA100-C1EB-464A-90FD-034C08FCEC6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F7F1F9C-598F-47BE-9D45-521A2123DD4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39" b="0">
                <a:solidFill>
                  <a:srgbClr val="F4F7FA"/>
                </a:solidFill>
                <a:latin typeface="Courier New"/>
                <a:ea typeface="Courier New"/>
                <a:cs typeface="Courier New"/>
              </a:defRPr>
            </a:pPr>
            <a:r>
              <a:rPr sz="2039" b="0">
                <a:solidFill>
                  <a:srgbClr val="FFB080"/>
                </a:solidFill>
                <a:latin typeface="Courier New"/>
                <a:ea typeface="Courier New"/>
                <a:cs typeface="Courier New"/>
              </a:rPr>
              <a:t>from</a:t>
            </a:r>
            <a:r>
              <a:rPr sz="2039" b="0">
                <a:solidFill>
                  <a:srgbClr val="F4F7FA"/>
                </a:solidFill>
                <a:latin typeface="Courier New"/>
                <a:ea typeface="Courier New"/>
                <a:cs typeface="Courier New"/>
              </a:rPr>
              <a:t> statistics </a:t>
            </a:r>
            <a:r>
              <a:rPr sz="2039" b="0">
                <a:solidFill>
                  <a:srgbClr val="FFB080"/>
                </a:solidFill>
                <a:latin typeface="Courier New"/>
                <a:ea typeface="Courier New"/>
                <a:cs typeface="Courier New"/>
              </a:rPr>
              <a:t>import</a:t>
            </a:r>
            <a:r>
              <a:rPr sz="2039" b="0">
                <a:solidFill>
                  <a:srgbClr val="F4F7FA"/>
                </a:solidFill>
                <a:latin typeface="Courier New"/>
                <a:ea typeface="Courier New"/>
                <a:cs typeface="Courier New"/>
              </a:rPr>
              <a:t> median</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training_values = [20, 22, 24]</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validation_values = [</a:t>
            </a:r>
            <a:r>
              <a:rPr sz="2039" b="0">
                <a:solidFill>
                  <a:srgbClr val="FFB080"/>
                </a:solidFill>
                <a:latin typeface="Courier New"/>
                <a:ea typeface="Courier New"/>
                <a:cs typeface="Courier New"/>
              </a:rPr>
              <a:t>None</a:t>
            </a:r>
            <a:r>
              <a:rPr sz="2039" b="0">
                <a:solidFill>
                  <a:srgbClr val="F4F7FA"/>
                </a:solidFill>
                <a:latin typeface="Courier New"/>
                <a:ea typeface="Courier New"/>
                <a:cs typeface="Courier New"/>
              </a:rPr>
              <a:t>, 40]</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training_median = median(training_values)</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filled_validation = []</a:t>
            </a:r>
          </a:p>
        </p:txBody>
      </p:sp>
      <p:sp>
        <p:nvSpPr>
          <p:cNvPr id="6" name="">
            <a:extLst xmlns:a="http://schemas.openxmlformats.org/drawingml/2006/main">
              <a:ext uri="{FF2B5EF4-FFF2-40B4-BE49-F238E27FC236}">
                <a16:creationId xmlns:a16="http://schemas.microsoft.com/office/drawing/2014/main" id="{7FF546C5-B331-4DE1-81E5-40909D9235C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1942544-AEF3-4A51-AF16-B6620055B817}"/>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import loads a library. from selects a tool from it.</a:t>
            </a:r>
          </a:p>
        </p:txBody>
      </p:sp>
      <p:sp>
        <p:nvSpPr>
          <p:cNvPr id="8" name="">
            <a:extLst xmlns:a="http://schemas.openxmlformats.org/drawingml/2006/main">
              <a:ext uri="{FF2B5EF4-FFF2-40B4-BE49-F238E27FC236}">
                <a16:creationId xmlns:a16="http://schemas.microsoft.com/office/drawing/2014/main" id="{D7BA345E-E161-4890-8B67-3C448A7BD149}"/>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B04315D9-F667-4389-98FA-D3C76B5AB0AA}"/>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C144C377-7AC6-440D-8F7E-F7D3AE98E06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11" name="">
            <a:extLst xmlns:a="http://schemas.openxmlformats.org/drawingml/2006/main">
              <a:ext uri="{FF2B5EF4-FFF2-40B4-BE49-F238E27FC236}">
                <a16:creationId xmlns:a16="http://schemas.microsoft.com/office/drawing/2014/main" id="{D5FB9B4F-075D-4E8A-A911-DDD7A303234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16</a:t>
            </a:r>
          </a:p>
        </p:txBody>
      </p:sp>
    </p:spTree>
    <p:extLst>
      <p:ext uri="{BB962C8B-B14F-4D97-AF65-F5344CB8AC3E}">
        <p14:creationId xmlns:p14="http://schemas.microsoft.com/office/powerpoint/2010/main" val="67479656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6A544B1-89C5-453A-8C42-42821AB33D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8F2508-A2B6-4C49-A35B-778FC6CADC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6E51BC7-8899-4420-94B4-FA071A8094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training-only fill value in Python (2/2)</a:t>
            </a:r>
          </a:p>
        </p:txBody>
      </p:sp>
      <p:sp>
        <p:nvSpPr>
          <p:cNvPr id="4" name="">
            <a:extLst xmlns:a="http://schemas.openxmlformats.org/drawingml/2006/main">
              <a:ext uri="{FF2B5EF4-FFF2-40B4-BE49-F238E27FC236}">
                <a16:creationId xmlns:a16="http://schemas.microsoft.com/office/drawing/2014/main" id="{E6EFEEE8-79FE-45EE-B413-D66EC9C5489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4DF076-68E3-40F8-9CA8-BFB34C6E40A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for</a:t>
            </a:r>
            <a:r>
              <a:rPr sz="2175" b="0">
                <a:solidFill>
                  <a:srgbClr val="F4F7FA"/>
                </a:solidFill>
                <a:latin typeface="Courier New"/>
                <a:ea typeface="Courier New"/>
                <a:cs typeface="Courier New"/>
              </a:rPr>
              <a:t> value in validation_values: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if</a:t>
            </a:r>
            <a:r>
              <a:rPr sz="2175" b="0">
                <a:solidFill>
                  <a:srgbClr val="F4F7FA"/>
                </a:solidFill>
                <a:latin typeface="Courier New"/>
                <a:ea typeface="Courier New"/>
                <a:cs typeface="Courier New"/>
              </a:rPr>
              <a:t> value is </a:t>
            </a:r>
            <a:r>
              <a:rPr sz="2175" b="0">
                <a:solidFill>
                  <a:srgbClr val="FFB080"/>
                </a:solidFill>
                <a:latin typeface="Courier New"/>
                <a:ea typeface="Courier New"/>
                <a:cs typeface="Courier New"/>
              </a:rPr>
              <a:t>None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filled_validation.append(training_median)</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a:t>
            </a:r>
            <a:r>
              <a:rPr sz="2175" b="0">
                <a:solidFill>
                  <a:srgbClr val="FFB080"/>
                </a:solidFill>
                <a:latin typeface="Courier New"/>
                <a:ea typeface="Courier New"/>
                <a:cs typeface="Courier New"/>
              </a:rPr>
              <a:t>else</a:t>
            </a:r>
            <a:r>
              <a:rPr sz="2175" b="0">
                <a:solidFill>
                  <a:srgbClr val="F4F7FA"/>
                </a:solidFill>
                <a:latin typeface="Courier New"/>
                <a:ea typeface="Courier New"/>
                <a:cs typeface="Courier New"/>
              </a:rPr>
              <a:t>:</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filled_validation.append(value)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print(training_median, filled_validation)</a:t>
            </a:r>
          </a:p>
        </p:txBody>
      </p:sp>
      <p:sp>
        <p:nvSpPr>
          <p:cNvPr id="6" name="">
            <a:extLst xmlns:a="http://schemas.openxmlformats.org/drawingml/2006/main">
              <a:ext uri="{FF2B5EF4-FFF2-40B4-BE49-F238E27FC236}">
                <a16:creationId xmlns:a16="http://schemas.microsoft.com/office/drawing/2014/main" id="{E4EC81B7-5C61-4CC8-B78A-C3F4DF5414C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for takes the next item. The indented block repeats.</a:t>
            </a:r>
          </a:p>
        </p:txBody>
      </p:sp>
      <p:sp>
        <p:nvSpPr>
          <p:cNvPr id="7" name="">
            <a:extLst xmlns:a="http://schemas.openxmlformats.org/drawingml/2006/main">
              <a:ext uri="{FF2B5EF4-FFF2-40B4-BE49-F238E27FC236}">
                <a16:creationId xmlns:a16="http://schemas.microsoft.com/office/drawing/2014/main" id="{A992950C-4404-495E-BF99-5E2D098D20C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Continue the SAME cell; keep indentation. Run after all parts are entered.</a:t>
            </a:r>
          </a:p>
        </p:txBody>
      </p:sp>
      <p:sp>
        <p:nvSpPr>
          <p:cNvPr id="8" name="">
            <a:extLst xmlns:a="http://schemas.openxmlformats.org/drawingml/2006/main">
              <a:ext uri="{FF2B5EF4-FFF2-40B4-BE49-F238E27FC236}">
                <a16:creationId xmlns:a16="http://schemas.microsoft.com/office/drawing/2014/main" id="{998D41C4-E55D-4CBE-BB49-58D7423ECA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17</a:t>
            </a:r>
          </a:p>
        </p:txBody>
      </p:sp>
    </p:spTree>
    <p:extLst>
      <p:ext uri="{BB962C8B-B14F-4D97-AF65-F5344CB8AC3E}">
        <p14:creationId xmlns:p14="http://schemas.microsoft.com/office/powerpoint/2010/main" val="39461777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E00564-BCED-44C2-A2C7-8656E07307B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95236E-AE26-4FFF-8FDF-FD3169FC9C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7E5BFB-12CA-40AD-A536-0BBEA62C364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Leakage gives away information from the future</a:t>
            </a:r>
          </a:p>
        </p:txBody>
      </p:sp>
      <p:sp>
        <p:nvSpPr>
          <p:cNvPr id="4" name="">
            <a:extLst xmlns:a="http://schemas.openxmlformats.org/drawingml/2006/main">
              <a:ext uri="{FF2B5EF4-FFF2-40B4-BE49-F238E27FC236}">
                <a16:creationId xmlns:a16="http://schemas.microsoft.com/office/drawing/2014/main" id="{5E1F37FD-CE80-4D07-91BE-5543E4ACBA6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F3D417-3559-423B-B74C-B01FBACCF00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Suppose we predict a fault before an inspection.</a:t>
            </a:r>
          </a:p>
        </p:txBody>
      </p:sp>
      <p:sp>
        <p:nvSpPr>
          <p:cNvPr id="6" name="">
            <a:extLst xmlns:a="http://schemas.openxmlformats.org/drawingml/2006/main">
              <a:ext uri="{FF2B5EF4-FFF2-40B4-BE49-F238E27FC236}">
                <a16:creationId xmlns:a16="http://schemas.microsoft.com/office/drawing/2014/main" id="{2EBBF661-DF96-4608-B15A-24CCFBAA27D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8FDEF53-C136-4862-B1BB-03F5D130FF8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final_inspection_result exists only after the inspection.</a:t>
            </a:r>
          </a:p>
        </p:txBody>
      </p:sp>
      <p:sp>
        <p:nvSpPr>
          <p:cNvPr id="8" name="">
            <a:extLst xmlns:a="http://schemas.openxmlformats.org/drawingml/2006/main">
              <a:ext uri="{FF2B5EF4-FFF2-40B4-BE49-F238E27FC236}">
                <a16:creationId xmlns:a16="http://schemas.microsoft.com/office/drawing/2014/main" id="{36B4D934-851C-4B09-95B2-A2B53548983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5EFE57-6777-4342-AC3A-C6240B94BF7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Using it as an input would answer a different, easier question than the one we intended.</a:t>
            </a:r>
          </a:p>
        </p:txBody>
      </p:sp>
      <p:sp>
        <p:nvSpPr>
          <p:cNvPr id="10" name="">
            <a:extLst xmlns:a="http://schemas.openxmlformats.org/drawingml/2006/main">
              <a:ext uri="{FF2B5EF4-FFF2-40B4-BE49-F238E27FC236}">
                <a16:creationId xmlns:a16="http://schemas.microsoft.com/office/drawing/2014/main" id="{97218729-884A-4904-B3DE-9D378B2870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18</a:t>
            </a:r>
          </a:p>
        </p:txBody>
      </p:sp>
    </p:spTree>
    <p:extLst>
      <p:ext uri="{BB962C8B-B14F-4D97-AF65-F5344CB8AC3E}">
        <p14:creationId xmlns:p14="http://schemas.microsoft.com/office/powerpoint/2010/main" val="863329305"/>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E492E30-0CA7-4718-B7F4-77D237F51D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9F85701-8B76-4FA9-B1A3-F34638EE1F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5E78182-367F-4F67-AB24-28660CA9F5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Parameters hyperparameters and a fold</a:t>
            </a:r>
          </a:p>
        </p:txBody>
      </p:sp>
      <p:sp>
        <p:nvSpPr>
          <p:cNvPr id="4" name="">
            <a:extLst xmlns:a="http://schemas.openxmlformats.org/drawingml/2006/main">
              <a:ext uri="{FF2B5EF4-FFF2-40B4-BE49-F238E27FC236}">
                <a16:creationId xmlns:a16="http://schemas.microsoft.com/office/drawing/2014/main" id="{2075944E-DD65-43D5-9D3C-5F9550968B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07D84E-9907-4CFC-951F-3980CAE545A1}"/>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parameter is learned during fitting, such as a line’s slope. A hyperparameter is a setting chosen around fitting, such as a tree’s max_depth.</a:t>
            </a:r>
          </a:p>
        </p:txBody>
      </p:sp>
      <p:sp>
        <p:nvSpPr>
          <p:cNvPr id="6" name="">
            <a:extLst xmlns:a="http://schemas.openxmlformats.org/drawingml/2006/main">
              <a:ext uri="{FF2B5EF4-FFF2-40B4-BE49-F238E27FC236}">
                <a16:creationId xmlns:a16="http://schemas.microsoft.com/office/drawing/2014/main" id="{B15D328F-18C3-49FA-83AE-67DFA0E7A2F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35F4D92-8352-466B-A1A9-C0EA7EE1ED8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fold is one part of the development data used for a validation turn. Refit the entire preprocessing and model on the other parts for that turn.</a:t>
            </a:r>
          </a:p>
        </p:txBody>
      </p:sp>
      <p:sp>
        <p:nvSpPr>
          <p:cNvPr id="8" name="">
            <a:extLst xmlns:a="http://schemas.openxmlformats.org/drawingml/2006/main">
              <a:ext uri="{FF2B5EF4-FFF2-40B4-BE49-F238E27FC236}">
                <a16:creationId xmlns:a16="http://schemas.microsoft.com/office/drawing/2014/main" id="{6D263104-4325-4AFE-B89B-483E2046E64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C6D7D75-7133-4913-AE59-E4C26D78D4B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candidate settings using validation evidence. Keep the final test outside that selection process.</a:t>
            </a:r>
          </a:p>
        </p:txBody>
      </p:sp>
      <p:sp>
        <p:nvSpPr>
          <p:cNvPr id="10" name="">
            <a:extLst xmlns:a="http://schemas.openxmlformats.org/drawingml/2006/main">
              <a:ext uri="{FF2B5EF4-FFF2-40B4-BE49-F238E27FC236}">
                <a16:creationId xmlns:a16="http://schemas.microsoft.com/office/drawing/2014/main" id="{11579337-199E-411B-9B6D-25762064E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19</a:t>
            </a:r>
          </a:p>
        </p:txBody>
      </p:sp>
    </p:spTree>
    <p:extLst>
      <p:ext uri="{BB962C8B-B14F-4D97-AF65-F5344CB8AC3E}">
        <p14:creationId xmlns:p14="http://schemas.microsoft.com/office/powerpoint/2010/main" val="23399355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DD99655-48D2-4AA3-A9AB-8CD1B55BE9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E9EFC7-783E-462B-8FD4-09B1F49F80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993A7DDD-63AE-4325-B4DE-30690F2BBC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Cross-validation</a:t>
            </a:r>
          </a:p>
        </p:txBody>
      </p:sp>
      <p:sp>
        <p:nvSpPr>
          <p:cNvPr id="4" name="">
            <a:extLst xmlns:a="http://schemas.openxmlformats.org/drawingml/2006/main">
              <a:ext uri="{FF2B5EF4-FFF2-40B4-BE49-F238E27FC236}">
                <a16:creationId xmlns:a16="http://schemas.microsoft.com/office/drawing/2014/main" id="{C5A0A971-F6C7-4D54-8D2B-94A018B95F6E}"/>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C8575A9-7B4C-4439-AFD9-DDF16E04821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Cross-validation</a:t>
            </a:r>
          </a:p>
        </p:txBody>
      </p:sp>
      <p:sp>
        <p:nvSpPr>
          <p:cNvPr id="6" name="">
            <a:extLst xmlns:a="http://schemas.openxmlformats.org/drawingml/2006/main">
              <a:ext uri="{FF2B5EF4-FFF2-40B4-BE49-F238E27FC236}">
                <a16:creationId xmlns:a16="http://schemas.microsoft.com/office/drawing/2014/main" id="{82DF40DE-7B36-4229-A713-93663519EB47}"/>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Repeat fitting and validation on several partitions of the training/development data. Respect groups or time order. Keep the final test outside tuning.</a:t>
            </a:r>
          </a:p>
        </p:txBody>
      </p:sp>
      <p:sp>
        <p:nvSpPr>
          <p:cNvPr id="7" name="">
            <a:extLst xmlns:a="http://schemas.openxmlformats.org/drawingml/2006/main">
              <a:ext uri="{FF2B5EF4-FFF2-40B4-BE49-F238E27FC236}">
                <a16:creationId xmlns:a16="http://schemas.microsoft.com/office/drawing/2014/main" id="{C3DC1EBD-2B22-46D5-AF41-40288DBCCEB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20</a:t>
            </a:r>
          </a:p>
        </p:txBody>
      </p:sp>
    </p:spTree>
    <p:extLst>
      <p:ext uri="{BB962C8B-B14F-4D97-AF65-F5344CB8AC3E}">
        <p14:creationId xmlns:p14="http://schemas.microsoft.com/office/powerpoint/2010/main" val="198694260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4E728C-B7B0-4125-A6B4-05021D6C2A7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1BB1D9C-9140-4BDC-B2BE-DE4EC93F03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BACD62-5BA1-4A96-BA50-14F9AE3960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standard deviation tells us</a:t>
            </a:r>
          </a:p>
        </p:txBody>
      </p:sp>
      <p:sp>
        <p:nvSpPr>
          <p:cNvPr id="4" name="">
            <a:extLst xmlns:a="http://schemas.openxmlformats.org/drawingml/2006/main">
              <a:ext uri="{FF2B5EF4-FFF2-40B4-BE49-F238E27FC236}">
                <a16:creationId xmlns:a16="http://schemas.microsoft.com/office/drawing/2014/main" id="{3DECD99C-F549-42BC-ABBC-1BAC445C45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31CC41-B3AC-4527-B595-95A3DBA1D9C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Scores 3, 4 and 5 have mean 4. Their deviations are -1, 0 and 1.</a:t>
            </a:r>
          </a:p>
        </p:txBody>
      </p:sp>
      <p:sp>
        <p:nvSpPr>
          <p:cNvPr id="6" name="">
            <a:extLst xmlns:a="http://schemas.openxmlformats.org/drawingml/2006/main">
              <a:ext uri="{FF2B5EF4-FFF2-40B4-BE49-F238E27FC236}">
                <a16:creationId xmlns:a16="http://schemas.microsoft.com/office/drawing/2014/main" id="{26F1A293-2042-4E6A-8DCE-8FAC8305396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A0DA3E6-EB74-4C1A-B52F-2F82F374B79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these three fold scores, population SD = sqrt((1 + 0 + 1) / 3), about 0.82.</a:t>
            </a:r>
          </a:p>
        </p:txBody>
      </p:sp>
      <p:sp>
        <p:nvSpPr>
          <p:cNvPr id="8" name="">
            <a:extLst xmlns:a="http://schemas.openxmlformats.org/drawingml/2006/main">
              <a:ext uri="{FF2B5EF4-FFF2-40B4-BE49-F238E27FC236}">
                <a16:creationId xmlns:a16="http://schemas.microsoft.com/office/drawing/2014/main" id="{42F9750A-E33E-4FE1-BBD6-D2900EF6D14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E97445-361A-4272-AFB3-E17AEA491CF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SD describes spread around the mean in the score’s units. The next illustration uses this same population convention; it is not a confidence interval.</a:t>
            </a:r>
          </a:p>
        </p:txBody>
      </p:sp>
      <p:sp>
        <p:nvSpPr>
          <p:cNvPr id="10" name="">
            <a:extLst xmlns:a="http://schemas.openxmlformats.org/drawingml/2006/main">
              <a:ext uri="{FF2B5EF4-FFF2-40B4-BE49-F238E27FC236}">
                <a16:creationId xmlns:a16="http://schemas.microsoft.com/office/drawing/2014/main" id="{D5C74AA9-4F9D-4E88-9466-FEEE81A870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21</a:t>
            </a:r>
          </a:p>
        </p:txBody>
      </p:sp>
    </p:spTree>
    <p:extLst>
      <p:ext uri="{BB962C8B-B14F-4D97-AF65-F5344CB8AC3E}">
        <p14:creationId xmlns:p14="http://schemas.microsoft.com/office/powerpoint/2010/main" val="40940563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46F885-0222-4093-8E21-69E21650530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D21CC5-F8CE-45D1-97AA-B0F3C283253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Each fold takes a turn at validation</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48ee8049e9346d7"/>
          <a:stretch xmlns:a="http://schemas.openxmlformats.org/drawingml/2006/main"/>
        </p:blipFill>
        <p:spPr>
          <a:xfrm xmlns:a="http://schemas.openxmlformats.org/drawingml/2006/main">
            <a:off x="984088" y="1057275"/>
            <a:ext cx="10223825"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5F31823-8313-4B0D-98FF-490883227D31}"/>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40A4252-53D2-4504-A4AA-C35AA7D1FAC1}"/>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Illustrated spread: population SD 0.39 MPa, not a confidence interval.</a:t>
            </a:r>
          </a:p>
        </p:txBody>
      </p:sp>
      <p:sp>
        <p:nvSpPr>
          <p:cNvPr id="6" name="">
            <a:extLst xmlns:a="http://schemas.openxmlformats.org/drawingml/2006/main">
              <a:ext uri="{FF2B5EF4-FFF2-40B4-BE49-F238E27FC236}">
                <a16:creationId xmlns:a16="http://schemas.microsoft.com/office/drawing/2014/main" id="{59DDF837-0AB1-4E7F-AF77-EB390E93F59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22</a:t>
            </a:r>
          </a:p>
        </p:txBody>
      </p:sp>
    </p:spTree>
    <p:extLst>
      <p:ext uri="{BB962C8B-B14F-4D97-AF65-F5344CB8AC3E}">
        <p14:creationId xmlns:p14="http://schemas.microsoft.com/office/powerpoint/2010/main" val="213964675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30D9737-B7EC-4B90-B472-573393AF9C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A2C0F9-5D55-42A3-A843-DD23472F04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AC2171E-B8D7-4A85-81DB-123A021ABA5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a split that matches future use</a:t>
            </a:r>
          </a:p>
        </p:txBody>
      </p:sp>
      <p:sp>
        <p:nvSpPr>
          <p:cNvPr id="4" name="">
            <a:extLst xmlns:a="http://schemas.openxmlformats.org/drawingml/2006/main">
              <a:ext uri="{FF2B5EF4-FFF2-40B4-BE49-F238E27FC236}">
                <a16:creationId xmlns:a16="http://schemas.microsoft.com/office/drawing/2014/main" id="{BEC720B2-E66F-4DBE-A818-EC95AC19DB2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5713CFA-737C-4186-940C-742F146A5E7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Equipment or time</a:t>
            </a:r>
          </a:p>
        </p:txBody>
      </p:sp>
      <p:sp>
        <p:nvSpPr>
          <p:cNvPr id="6" name="">
            <a:extLst xmlns:a="http://schemas.openxmlformats.org/drawingml/2006/main">
              <a:ext uri="{FF2B5EF4-FFF2-40B4-BE49-F238E27FC236}">
                <a16:creationId xmlns:a16="http://schemas.microsoft.com/office/drawing/2014/main" id="{E14E9F46-7722-4D17-92A3-A10A17ADE52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For unseen equipment, keep each equipment ID together. For future-time prediction, train on earlier observations and evaluate on later ones.</a:t>
            </a:r>
          </a:p>
        </p:txBody>
      </p:sp>
      <p:sp>
        <p:nvSpPr>
          <p:cNvPr id="7" name="">
            <a:extLst xmlns:a="http://schemas.openxmlformats.org/drawingml/2006/main">
              <a:ext uri="{FF2B5EF4-FFF2-40B4-BE49-F238E27FC236}">
                <a16:creationId xmlns:a16="http://schemas.microsoft.com/office/drawing/2014/main" id="{CBE24CD0-773F-4C69-ABC8-6186945B1782}"/>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90508C9-303C-4BEE-BA5B-2C8CE1DE2D4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Scaler and split tool</a:t>
            </a:r>
          </a:p>
        </p:txBody>
      </p:sp>
      <p:sp>
        <p:nvSpPr>
          <p:cNvPr id="9" name="">
            <a:extLst xmlns:a="http://schemas.openxmlformats.org/drawingml/2006/main">
              <a:ext uri="{FF2B5EF4-FFF2-40B4-BE49-F238E27FC236}">
                <a16:creationId xmlns:a16="http://schemas.microsoft.com/office/drawing/2014/main" id="{15BC9744-9ACB-4E6B-A374-C258E3C42A3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scaler learns how to rescale features; fit it on training data. GroupShuffleSplit is a library tool for group separation. Our assignment instead uses its fixed published equipment lists.</a:t>
            </a:r>
          </a:p>
        </p:txBody>
      </p:sp>
      <p:sp>
        <p:nvSpPr>
          <p:cNvPr id="10" name="">
            <a:extLst xmlns:a="http://schemas.openxmlformats.org/drawingml/2006/main">
              <a:ext uri="{FF2B5EF4-FFF2-40B4-BE49-F238E27FC236}">
                <a16:creationId xmlns:a16="http://schemas.microsoft.com/office/drawing/2014/main" id="{C6A46F58-C621-4B63-AEA2-FB0D762969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23</a:t>
            </a:r>
          </a:p>
        </p:txBody>
      </p:sp>
    </p:spTree>
    <p:extLst>
      <p:ext uri="{BB962C8B-B14F-4D97-AF65-F5344CB8AC3E}">
        <p14:creationId xmlns:p14="http://schemas.microsoft.com/office/powerpoint/2010/main" val="34140439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D965F82-576F-4EC3-923D-5EAC341989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90B0F1F-191B-43D4-8712-B1E4C0E7CB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8BE216F-3A52-4A75-8621-948DA5F315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FEF72FA3-BB03-453D-A877-0024D4C761D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CF030C-A414-4F66-A315-2C9C29FBA80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6B7F154-0662-4AFE-8AB7-F174B84E675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Example: A second observation from B arrives. Where does it go? Why not put it into training just to balance row counts?</a:t>
            </a:r>
          </a:p>
        </p:txBody>
      </p:sp>
      <p:sp>
        <p:nvSpPr>
          <p:cNvPr id="7" name="">
            <a:extLst xmlns:a="http://schemas.openxmlformats.org/drawingml/2006/main">
              <a:ext uri="{FF2B5EF4-FFF2-40B4-BE49-F238E27FC236}">
                <a16:creationId xmlns:a16="http://schemas.microsoft.com/office/drawing/2014/main" id="{19EA0471-B79C-4E41-A314-07DFD9B980E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Answer: It stays with B in validation. Mixing a source across partitions can give an overly optimistic estimate for unseen equipment.</a:t>
            </a:r>
          </a:p>
        </p:txBody>
      </p:sp>
      <p:sp>
        <p:nvSpPr>
          <p:cNvPr id="8" name="">
            <a:extLst xmlns:a="http://schemas.openxmlformats.org/drawingml/2006/main">
              <a:ext uri="{FF2B5EF4-FFF2-40B4-BE49-F238E27FC236}">
                <a16:creationId xmlns:a16="http://schemas.microsoft.com/office/drawing/2014/main" id="{20B4A854-0BD7-43D6-B823-675891A363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24</a:t>
            </a:r>
          </a:p>
        </p:txBody>
      </p:sp>
    </p:spTree>
    <p:extLst>
      <p:ext uri="{BB962C8B-B14F-4D97-AF65-F5344CB8AC3E}">
        <p14:creationId xmlns:p14="http://schemas.microsoft.com/office/powerpoint/2010/main" val="591260561"/>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6B0947C-1A78-4178-BF64-D9D42A5E2F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62DA2F-BB08-43F6-8CEA-D7F0360560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6DAC2EC-4E4E-40DA-9C59-B4B0454C31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CAAAAF72-F809-4F0E-9FFE-0A232772357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00D59E-6B67-415F-80F2-F8CC63DA0B4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W10 specifies E1–E4 train, E5 validation, E6 test and preserves input order.</a:t>
            </a:r>
          </a:p>
        </p:txBody>
      </p:sp>
      <p:sp>
        <p:nvSpPr>
          <p:cNvPr id="6" name="">
            <a:extLst xmlns:a="http://schemas.openxmlformats.org/drawingml/2006/main">
              <a:ext uri="{FF2B5EF4-FFF2-40B4-BE49-F238E27FC236}">
                <a16:creationId xmlns:a16="http://schemas.microsoft.com/office/drawing/2014/main" id="{BE770BE1-5C1A-49E1-985D-3ADAA284DBDC}"/>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0A5723-F4C1-463F-ABC3-03EF48E4CC6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assigned equipment_id field and record_id outputs.</a:t>
            </a:r>
          </a:p>
        </p:txBody>
      </p:sp>
      <p:sp>
        <p:nvSpPr>
          <p:cNvPr id="8" name="">
            <a:extLst xmlns:a="http://schemas.openxmlformats.org/drawingml/2006/main">
              <a:ext uri="{FF2B5EF4-FFF2-40B4-BE49-F238E27FC236}">
                <a16:creationId xmlns:a16="http://schemas.microsoft.com/office/drawing/2014/main" id="{BBB277DA-8CA2-4CB6-B296-5D59330C521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65F164-C65E-4E4F-9285-A98C65387FA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Reuse the W08 fitting pattern.</a:t>
            </a:r>
          </a:p>
        </p:txBody>
      </p:sp>
      <p:sp>
        <p:nvSpPr>
          <p:cNvPr id="10" name="">
            <a:extLst xmlns:a="http://schemas.openxmlformats.org/drawingml/2006/main">
              <a:ext uri="{FF2B5EF4-FFF2-40B4-BE49-F238E27FC236}">
                <a16:creationId xmlns:a16="http://schemas.microsoft.com/office/drawing/2014/main" id="{05BE15F6-BC36-4C97-AFAE-9B849B66886B}"/>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ADCB5C-2E4E-4C5C-A2D0-8258B1F8A147}"/>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that GroupShuffleSplit and time-based splitting solve different deployment questions; use the rule in the issued task.</a:t>
            </a:r>
          </a:p>
        </p:txBody>
      </p:sp>
      <p:sp>
        <p:nvSpPr>
          <p:cNvPr id="12" name="">
            <a:extLst xmlns:a="http://schemas.openxmlformats.org/drawingml/2006/main">
              <a:ext uri="{FF2B5EF4-FFF2-40B4-BE49-F238E27FC236}">
                <a16:creationId xmlns:a16="http://schemas.microsoft.com/office/drawing/2014/main" id="{D6CF3CC3-9B85-4E36-AB38-BB20CAFBD74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25</a:t>
            </a:r>
          </a:p>
        </p:txBody>
      </p:sp>
    </p:spTree>
    <p:extLst>
      <p:ext uri="{BB962C8B-B14F-4D97-AF65-F5344CB8AC3E}">
        <p14:creationId xmlns:p14="http://schemas.microsoft.com/office/powerpoint/2010/main" val="119831395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612350-B84C-4AC8-8C3B-20CFD2FB7F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CCD99A-3471-47B3-9E5A-3E90322494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16129E-AB6E-40F4-84F8-FAEBABD57B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a:t>
            </a:r>
          </a:p>
        </p:txBody>
      </p:sp>
      <p:sp>
        <p:nvSpPr>
          <p:cNvPr id="4" name="">
            <a:extLst xmlns:a="http://schemas.openxmlformats.org/drawingml/2006/main">
              <a:ext uri="{FF2B5EF4-FFF2-40B4-BE49-F238E27FC236}">
                <a16:creationId xmlns:a16="http://schemas.microsoft.com/office/drawing/2014/main" id="{DD9AC035-799B-40B9-9FBE-72705A5CC78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D2B4329-EDFC-49D4-9D89-F1B570829203}"/>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an imputer or scaler only on training data; putting it in a Pipeline helps enforce that during cross-validation.</a:t>
            </a:r>
          </a:p>
        </p:txBody>
      </p:sp>
      <p:sp>
        <p:nvSpPr>
          <p:cNvPr id="6" name="">
            <a:extLst xmlns:a="http://schemas.openxmlformats.org/drawingml/2006/main">
              <a:ext uri="{FF2B5EF4-FFF2-40B4-BE49-F238E27FC236}">
                <a16:creationId xmlns:a16="http://schemas.microsoft.com/office/drawing/2014/main" id="{B37360F4-4254-4695-A72A-54BAAE912A1D}"/>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170CC43-393E-4ABD-A54C-9A85715B496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low training error and high validation error suggest overfitting, but data shift or leakage can also matter.</a:t>
            </a:r>
          </a:p>
        </p:txBody>
      </p:sp>
      <p:sp>
        <p:nvSpPr>
          <p:cNvPr id="8" name="">
            <a:extLst xmlns:a="http://schemas.openxmlformats.org/drawingml/2006/main">
              <a:ext uri="{FF2B5EF4-FFF2-40B4-BE49-F238E27FC236}">
                <a16:creationId xmlns:a16="http://schemas.microsoft.com/office/drawing/2014/main" id="{228F183A-0D53-46CD-934D-16526C0D2A0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7EB49F9-E40A-4788-B94B-CE8083E4735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predictor values need a stated treatment.</a:t>
            </a:r>
          </a:p>
        </p:txBody>
      </p:sp>
      <p:sp>
        <p:nvSpPr>
          <p:cNvPr id="10" name="">
            <a:extLst xmlns:a="http://schemas.openxmlformats.org/drawingml/2006/main">
              <a:ext uri="{FF2B5EF4-FFF2-40B4-BE49-F238E27FC236}">
                <a16:creationId xmlns:a16="http://schemas.microsoft.com/office/drawing/2014/main" id="{1544E831-4E08-4E93-B5BF-9383714A122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FF39D80-5880-4806-B2A1-0B3FF0F15B5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fold scores and their variation, not just the best fold.</a:t>
            </a:r>
          </a:p>
        </p:txBody>
      </p:sp>
      <p:sp>
        <p:nvSpPr>
          <p:cNvPr id="12" name="">
            <a:extLst xmlns:a="http://schemas.openxmlformats.org/drawingml/2006/main">
              <a:ext uri="{FF2B5EF4-FFF2-40B4-BE49-F238E27FC236}">
                <a16:creationId xmlns:a16="http://schemas.microsoft.com/office/drawing/2014/main" id="{25247AE2-9BB3-4CAC-B18B-70C3E53A69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26</a:t>
            </a:r>
          </a:p>
        </p:txBody>
      </p:sp>
    </p:spTree>
    <p:extLst>
      <p:ext uri="{BB962C8B-B14F-4D97-AF65-F5344CB8AC3E}">
        <p14:creationId xmlns:p14="http://schemas.microsoft.com/office/powerpoint/2010/main" val="11444755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27B829-3FB0-41A8-8112-111B1E5DEC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6B6D1CC-2B68-4ADB-A5BE-EE6E82B4C2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A1C5BF8-5D9C-4998-9147-D1776DBD5E4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validation results continued</a:t>
            </a:r>
          </a:p>
        </p:txBody>
      </p:sp>
      <p:sp>
        <p:nvSpPr>
          <p:cNvPr id="4" name="">
            <a:extLst xmlns:a="http://schemas.openxmlformats.org/drawingml/2006/main">
              <a:ext uri="{FF2B5EF4-FFF2-40B4-BE49-F238E27FC236}">
                <a16:creationId xmlns:a16="http://schemas.microsoft.com/office/drawing/2014/main" id="{C22FC719-635E-453D-B037-DDB0CCB76CB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A79F520-02DC-4EBB-AA39-1842E31AEC9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Group related observations together when the deployment goal is new equipment.</a:t>
            </a:r>
          </a:p>
        </p:txBody>
      </p:sp>
      <p:sp>
        <p:nvSpPr>
          <p:cNvPr id="6" name="">
            <a:extLst xmlns:a="http://schemas.openxmlformats.org/drawingml/2006/main">
              <a:ext uri="{FF2B5EF4-FFF2-40B4-BE49-F238E27FC236}">
                <a16:creationId xmlns:a16="http://schemas.microsoft.com/office/drawing/2014/main" id="{1B75D662-8C1D-4DA3-A467-44A030A05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27</a:t>
            </a:r>
          </a:p>
        </p:txBody>
      </p:sp>
    </p:spTree>
    <p:extLst>
      <p:ext uri="{BB962C8B-B14F-4D97-AF65-F5344CB8AC3E}">
        <p14:creationId xmlns:p14="http://schemas.microsoft.com/office/powerpoint/2010/main" val="159002783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67D950-561F-404C-83F4-86C5474E95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0B4E094-7500-4E69-86A0-135C0BCAC6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4C54A94-2179-48B3-9AE7-2D1B93740F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8C9B9081-4C7C-4E2E-B3E9-73894A81065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A4A871D-2706-4DE8-B32B-F2AED6C554F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AF5E3A14-937D-42F3-93D7-4402B6CF96B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4231D5-3C9D-4CDB-A40D-EB467DDB479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EF6F7155-41E3-40A5-992C-D1FCF67F499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8C4292A-648B-4885-A7C3-82930970F79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not measurements suitable for deployment.</a:t>
            </a:r>
          </a:p>
        </p:txBody>
      </p:sp>
      <p:sp>
        <p:nvSpPr>
          <p:cNvPr id="10" name="">
            <a:extLst xmlns:a="http://schemas.openxmlformats.org/drawingml/2006/main">
              <a:ext uri="{FF2B5EF4-FFF2-40B4-BE49-F238E27FC236}">
                <a16:creationId xmlns:a16="http://schemas.microsoft.com/office/drawing/2014/main" id="{3A306ACD-5945-4C74-A2F5-7D35CDFF1BC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DECF6CC-E565-4BF6-BEC3-44DE14691C3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E05F8B94-DEBE-46F0-A82C-489A97795E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28</a:t>
            </a:r>
          </a:p>
        </p:txBody>
      </p:sp>
    </p:spTree>
    <p:extLst>
      <p:ext uri="{BB962C8B-B14F-4D97-AF65-F5344CB8AC3E}">
        <p14:creationId xmlns:p14="http://schemas.microsoft.com/office/powerpoint/2010/main" val="49822221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AFBB95-9909-4B68-B61A-D52B15FDDA5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F0E4890-D023-4681-84E1-08A6ADF7383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E0284A5-60C7-4D8B-9580-5D2AAADB03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group_split(records)</a:t>
            </a:r>
          </a:p>
        </p:txBody>
      </p:sp>
      <p:sp>
        <p:nvSpPr>
          <p:cNvPr id="4" name="">
            <a:extLst xmlns:a="http://schemas.openxmlformats.org/drawingml/2006/main">
              <a:ext uri="{FF2B5EF4-FFF2-40B4-BE49-F238E27FC236}">
                <a16:creationId xmlns:a16="http://schemas.microsoft.com/office/drawing/2014/main" id="{CD2C2449-4CDB-4635-8B02-73E567874F6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7C3E5ED-0244-4449-8428-66B5D45A94E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Assign whole equipment groups: E1–E4 to train, E5 to validation, E6 to test.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train, validation and test lists of record_id in input order.</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not use target values to choose membership.</a:t>
            </a:r>
          </a:p>
        </p:txBody>
      </p:sp>
      <p:sp>
        <p:nvSpPr>
          <p:cNvPr id="6" name="">
            <a:extLst xmlns:a="http://schemas.openxmlformats.org/drawingml/2006/main">
              <a:ext uri="{FF2B5EF4-FFF2-40B4-BE49-F238E27FC236}">
                <a16:creationId xmlns:a16="http://schemas.microsoft.com/office/drawing/2014/main" id="{E0C07517-0816-48EE-AEBC-424B0A93A36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225E51-EE4B-42E5-84AF-FB53CDB59A57}"/>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98FDE6AD-35F2-45E3-85F3-E58DCABD36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29</a:t>
            </a:r>
          </a:p>
        </p:txBody>
      </p:sp>
    </p:spTree>
    <p:extLst>
      <p:ext uri="{BB962C8B-B14F-4D97-AF65-F5344CB8AC3E}">
        <p14:creationId xmlns:p14="http://schemas.microsoft.com/office/powerpoint/2010/main" val="204146699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7E9CFE-9FB9-45BC-8F7D-6D7D775494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5D4A8B-C99F-47EB-A2E7-49F697E4C0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3EE75458-4F50-4B79-9521-286741A92DC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F0F748F1-180A-4617-8D06-3B557D6070EE}"/>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C09932-3763-4AD8-8837-A3B5B87DEA9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9C282F67-4D9C-4CC8-A4C6-3C197C963305}"/>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CECCBD7-22B5-4338-9951-757D84972A2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F2DDC46-DE03-4627-9C27-AF3A6BFD770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30</a:t>
            </a:r>
          </a:p>
        </p:txBody>
      </p:sp>
    </p:spTree>
    <p:extLst>
      <p:ext uri="{BB962C8B-B14F-4D97-AF65-F5344CB8AC3E}">
        <p14:creationId xmlns:p14="http://schemas.microsoft.com/office/powerpoint/2010/main" val="127784507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FC72A9F-E8AF-49FC-90CD-65F87C1B30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EDF7EF6-D918-480D-B776-20AAF1602C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651A4DA-3814-460E-8ABE-FCE456D2CE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00F7C63A-D90F-4AC5-B53F-780290A2A26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940CA21-4D4A-4FC8-868F-722EF67C996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6328E963-A130-41DB-8D74-CC3EABB69EB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97F6F2-C5A9-479A-8B29-B0FC960DE6C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3A04EB64-EF63-4896-8036-17817D06B24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2E162B-75A0-4A44-BA9E-84AE1D00C2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F0BC20C-F59B-4081-A588-8CF4B627C5F8}"/>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B4EB405-A917-4805-980C-FE08C374136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EF0A690-133B-433B-8CB0-D4B5B4FB17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31</a:t>
            </a:r>
          </a:p>
        </p:txBody>
      </p:sp>
    </p:spTree>
    <p:extLst>
      <p:ext uri="{BB962C8B-B14F-4D97-AF65-F5344CB8AC3E}">
        <p14:creationId xmlns:p14="http://schemas.microsoft.com/office/powerpoint/2010/main" val="134621025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B3B5027-9EF9-4399-9080-55CD910314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D4A2A6-14BB-4C6D-A86A-4C8DD7BE6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66AE6F5-0B04-4A56-B1D9-19B4050150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Validation and trust submission</a:t>
            </a:r>
          </a:p>
        </p:txBody>
      </p:sp>
      <p:sp>
        <p:nvSpPr>
          <p:cNvPr id="4" name="">
            <a:extLst xmlns:a="http://schemas.openxmlformats.org/drawingml/2006/main">
              <a:ext uri="{FF2B5EF4-FFF2-40B4-BE49-F238E27FC236}">
                <a16:creationId xmlns:a16="http://schemas.microsoft.com/office/drawing/2014/main" id="{777D45D7-713D-4735-8BA7-C7E24CF0D98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38184B-B992-4EF7-80EE-E2B7F48769E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10 Nov 2026, 11:00 Kampala</a:t>
            </a:r>
          </a:p>
        </p:txBody>
      </p:sp>
      <p:sp>
        <p:nvSpPr>
          <p:cNvPr id="6" name="">
            <a:extLst xmlns:a="http://schemas.openxmlformats.org/drawingml/2006/main">
              <a:ext uri="{FF2B5EF4-FFF2-40B4-BE49-F238E27FC236}">
                <a16:creationId xmlns:a16="http://schemas.microsoft.com/office/drawing/2014/main" id="{53F1780D-14B3-4E6D-9C99-89BCA7EB0A43}"/>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77A7251-10A3-4BBE-8384-5A4A810A927C}"/>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17 Nov 2026, 11:00 Kampala</a:t>
            </a:r>
          </a:p>
        </p:txBody>
      </p:sp>
      <p:sp>
        <p:nvSpPr>
          <p:cNvPr id="8" name="">
            <a:extLst xmlns:a="http://schemas.openxmlformats.org/drawingml/2006/main">
              <a:ext uri="{FF2B5EF4-FFF2-40B4-BE49-F238E27FC236}">
                <a16:creationId xmlns:a16="http://schemas.microsoft.com/office/drawing/2014/main" id="{34041246-C189-48D7-9FBD-7F3EB0393F4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FA5F248-5B3D-4347-BDD8-7DAEBE8288C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AA7B941-A10F-40B3-9910-298D1A22D87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E7A9AD-67EA-4A27-88A5-EA1B195EC648}"/>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C76112DE-A384-4E33-9E3E-BA16D01DDEC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1A7FF75-5173-42D0-BA32-1669E76CF6E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33beae860cb5487b"/>
              </a:rPr>
              <a:t>Open W10 assignment form</a:t>
            </a:r>
          </a:p>
        </p:txBody>
      </p:sp>
      <p:sp>
        <p:nvSpPr>
          <p:cNvPr id="14" name="">
            <a:extLst xmlns:a="http://schemas.openxmlformats.org/drawingml/2006/main">
              <a:ext uri="{FF2B5EF4-FFF2-40B4-BE49-F238E27FC236}">
                <a16:creationId xmlns:a16="http://schemas.microsoft.com/office/drawing/2014/main" id="{7EEB84A7-4F25-495F-8C33-92EAF31286C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https://docs.google.com/forms/d/e/1FAIpQLSfHHR9NLI-zvGYZ2Xf7wgwxBjXO3bjfUZRIH9SX_g3JtGRLXQ/viewform</a:t>
            </a:r>
          </a:p>
        </p:txBody>
      </p:sp>
      <p:sp>
        <p:nvSpPr>
          <p:cNvPr id="15" name="">
            <a:extLst xmlns:a="http://schemas.openxmlformats.org/drawingml/2006/main">
              <a:ext uri="{FF2B5EF4-FFF2-40B4-BE49-F238E27FC236}">
                <a16:creationId xmlns:a16="http://schemas.microsoft.com/office/drawing/2014/main" id="{6D16BBBF-0F59-486D-9B02-D21163EC47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32</a:t>
            </a:r>
          </a:p>
        </p:txBody>
      </p:sp>
    </p:spTree>
    <p:extLst>
      <p:ext uri="{BB962C8B-B14F-4D97-AF65-F5344CB8AC3E}">
        <p14:creationId xmlns:p14="http://schemas.microsoft.com/office/powerpoint/2010/main" val="50252493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E254248-C34C-4284-A656-59BADBB908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9E2670B-96F1-4202-B3F9-E0B5506F75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B70563CF-029A-4A11-BAD5-30974307E9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10 quiz</a:t>
            </a:r>
          </a:p>
        </p:txBody>
      </p:sp>
      <p:sp>
        <p:nvSpPr>
          <p:cNvPr id="4" name="">
            <a:extLst xmlns:a="http://schemas.openxmlformats.org/drawingml/2006/main">
              <a:ext uri="{FF2B5EF4-FFF2-40B4-BE49-F238E27FC236}">
                <a16:creationId xmlns:a16="http://schemas.microsoft.com/office/drawing/2014/main" id="{A885F1D8-C0B9-4E75-9BD6-35CE60B573D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EB3705B-299C-4727-A5FC-4E504B5A3E4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CC934A89-A929-46D7-9CCC-7759C614C6E2}"/>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AC9489-0910-4080-B637-00B011B7E4A9}"/>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AC2D2B1D-21B9-40ED-8AF1-C0DE3E5F61AD}"/>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52D149D-D6D0-43B2-9F6A-DF3FD625F78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914E984-995E-492E-B8EC-CDFB3A5D55C8}"/>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8EA5882-4BD0-4C98-87BD-3245C6F55666}"/>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confirm the exact closing time.</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4ecf45ae34154e95"/>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6AE25BAA-D2BF-4CE9-925F-FDEC2377D56B}"/>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1265D8E6-248B-488B-96EB-57D5B89F8F9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1B14FEC-FB74-49EF-82DF-78318234276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f3706a4a63704093"/>
              </a:rPr>
              <a:t>Open this week’s quiz</a:t>
            </a:r>
          </a:p>
        </p:txBody>
      </p:sp>
      <p:sp>
        <p:nvSpPr>
          <p:cNvPr id="16" name="">
            <a:extLst xmlns:a="http://schemas.openxmlformats.org/drawingml/2006/main">
              <a:ext uri="{FF2B5EF4-FFF2-40B4-BE49-F238E27FC236}">
                <a16:creationId xmlns:a16="http://schemas.microsoft.com/office/drawing/2014/main" id="{BCDD7A43-0548-4C5B-B129-40DF85A80F97}"/>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https://forms.gle/8BV6yg76yvUwbQGK9</a:t>
            </a:r>
          </a:p>
        </p:txBody>
      </p:sp>
      <p:sp>
        <p:nvSpPr>
          <p:cNvPr id="17" name="">
            <a:extLst xmlns:a="http://schemas.openxmlformats.org/drawingml/2006/main">
              <a:ext uri="{FF2B5EF4-FFF2-40B4-BE49-F238E27FC236}">
                <a16:creationId xmlns:a16="http://schemas.microsoft.com/office/drawing/2014/main" id="{D9D63F42-ADF4-4C7C-B8F5-9DBE54E79E5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33</a:t>
            </a:r>
          </a:p>
        </p:txBody>
      </p:sp>
    </p:spTree>
    <p:extLst>
      <p:ext uri="{BB962C8B-B14F-4D97-AF65-F5344CB8AC3E}">
        <p14:creationId xmlns:p14="http://schemas.microsoft.com/office/powerpoint/2010/main" val="1493851176"/>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AD6115-01D1-4DBC-AE88-3712384658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8F83E4A-9F87-4257-96ED-9AC1144B79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5B6D3B48-9755-4B5B-BBF9-5F183CA0814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D683C909-35F5-47E0-8B85-0E03DC9C0C12}"/>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identify which records may influence preprocessing and model selection.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3A341449-D063-405E-9219-0739635F7555}"/>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6A5BEF8D-31AE-47EE-9215-75BCFC52B2D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10   34</a:t>
            </a:r>
          </a:p>
        </p:txBody>
      </p:sp>
    </p:spTree>
    <p:extLst>
      <p:ext uri="{BB962C8B-B14F-4D97-AF65-F5344CB8AC3E}">
        <p14:creationId xmlns:p14="http://schemas.microsoft.com/office/powerpoint/2010/main" val="20859871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EFB442FD-B42B-422A-9591-7804643E69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AC7410-8F90-46C5-87BA-F8F9661DB1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467D0BB5-C5FE-4867-8C7D-777BFAF065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AC01008C-30F2-4DCB-8D6C-8F18C08FEFEF}"/>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D5AF77-AFAC-48D1-A297-5FC2ABE6F44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5ED47BF3-9101-481D-973E-8680F2B1BC1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AEB973A-A026-4A15-B852-B674CE9174BD}"/>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Cross Validation</a:t>
            </a:r>
          </a:p>
        </p:txBody>
      </p:sp>
      <p:sp>
        <p:nvSpPr>
          <p:cNvPr id="8" name="">
            <a:extLst xmlns:a="http://schemas.openxmlformats.org/drawingml/2006/main">
              <a:ext uri="{FF2B5EF4-FFF2-40B4-BE49-F238E27FC236}">
                <a16:creationId xmlns:a16="http://schemas.microsoft.com/office/drawing/2014/main" id="{2084EB3A-31D4-4F81-BE6B-A26A88BE113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099D0E-B83E-4BB9-8A20-7567979AFE1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6625C2DB-0B62-4CE1-A58C-97FB3AD79EA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B272DAC-B1DC-47F2-A4FA-52FAD430440F}"/>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evaluate using observations not used to fit that particular model?</a:t>
            </a:r>
          </a:p>
        </p:txBody>
      </p:sp>
      <p:sp>
        <p:nvSpPr>
          <p:cNvPr id="12" name="">
            <a:extLst xmlns:a="http://schemas.openxmlformats.org/drawingml/2006/main">
              <a:ext uri="{FF2B5EF4-FFF2-40B4-BE49-F238E27FC236}">
                <a16:creationId xmlns:a16="http://schemas.microsoft.com/office/drawing/2014/main" id="{BF98BF09-055C-4E29-A2EF-0FD5FA076BA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F89CF51-1C40-446B-AA19-CB8EB326B86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a7a937b86804f81"/>
              </a:rPr>
              <a:t>Open explainer video</a:t>
            </a:r>
          </a:p>
        </p:txBody>
      </p:sp>
      <p:sp>
        <p:nvSpPr>
          <p:cNvPr id="14" name="">
            <a:extLst xmlns:a="http://schemas.openxmlformats.org/drawingml/2006/main">
              <a:ext uri="{FF2B5EF4-FFF2-40B4-BE49-F238E27FC236}">
                <a16:creationId xmlns:a16="http://schemas.microsoft.com/office/drawing/2014/main" id="{5A6636FB-0326-48D2-83BD-114D64AB881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666A7D82-8DD0-4727-8336-7F952AC4FDF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10   35</a:t>
            </a:r>
          </a:p>
        </p:txBody>
      </p:sp>
    </p:spTree>
    <p:extLst>
      <p:ext uri="{BB962C8B-B14F-4D97-AF65-F5344CB8AC3E}">
        <p14:creationId xmlns:p14="http://schemas.microsoft.com/office/powerpoint/2010/main" val="20188563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2026-09-28T21:15:18.2910000Z</dcterms:created>
  <dcterms:modified xsi:type="dcterms:W3CDTF">2026-09-28T21:15:18.2910000Z</dcterms:modified>
</coreProperties>
</file>